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63" r:id="rId4"/>
    <p:sldId id="287" r:id="rId5"/>
    <p:sldId id="264" r:id="rId6"/>
    <p:sldId id="286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9" r:id="rId20"/>
    <p:sldId id="289" r:id="rId21"/>
    <p:sldId id="280" r:id="rId22"/>
    <p:sldId id="290" r:id="rId23"/>
    <p:sldId id="281" r:id="rId24"/>
    <p:sldId id="282" r:id="rId25"/>
    <p:sldId id="283" r:id="rId26"/>
    <p:sldId id="284" r:id="rId27"/>
    <p:sldId id="288" r:id="rId28"/>
    <p:sldId id="285" r:id="rId29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20" autoAdjust="0"/>
    <p:restoredTop sz="67768" autoAdjust="0"/>
  </p:normalViewPr>
  <p:slideViewPr>
    <p:cSldViewPr>
      <p:cViewPr varScale="1">
        <p:scale>
          <a:sx n="62" d="100"/>
          <a:sy n="62" d="100"/>
        </p:scale>
        <p:origin x="21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>
                <a:latin typeface="Helvetica" pitchFamily="34" charset="0"/>
              </a:rPr>
              <a:pPr/>
              <a:t>4/6/2015</a:t>
            </a:fld>
            <a:endParaRPr lang="en-GB" dirty="0">
              <a:latin typeface="Helvetic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>
                <a:latin typeface="Helvetica" pitchFamily="34" charset="0"/>
              </a:rPr>
              <a:pPr/>
              <a:t>‹#›</a:t>
            </a:fld>
            <a:endParaRPr lang="en-GB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20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BC34F173-2430-41D6-9CA5-C9CD3BDF7E96}" type="datetimeFigureOut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welcome trainees to </a:t>
            </a:r>
            <a:r>
              <a:rPr lang="en-US" baseline="0" dirty="0" smtClean="0"/>
              <a:t>class and informs that they will be learning how to “Prepare chocolate and produce chocolate products”.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7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b="1" dirty="0" smtClean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43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advises students this Unit comprises six elements, as listed on the slide explaining: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4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0" dirty="0" smtClean="0"/>
              <a:t>Trainer to relate performance criteria to element 1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Temper chocolate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Melt and temper 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couverture using correct techniques and temperatures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Maintain tempered couverture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for use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20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Cut into small pieces</a:t>
            </a:r>
          </a:p>
          <a:p>
            <a:r>
              <a:rPr lang="en-US" b="0" dirty="0" smtClean="0"/>
              <a:t>The faster the chocolate melts the better</a:t>
            </a:r>
          </a:p>
          <a:p>
            <a:r>
              <a:rPr lang="en-US" b="0" dirty="0" smtClean="0"/>
              <a:t>Small pieces will melt quicker than larger pieces</a:t>
            </a:r>
          </a:p>
          <a:p>
            <a:endParaRPr lang="en-US" b="0" dirty="0" smtClean="0"/>
          </a:p>
          <a:p>
            <a:r>
              <a:rPr lang="en-US" b="0" dirty="0" smtClean="0"/>
              <a:t>Place chocolate into clean DRY container</a:t>
            </a:r>
          </a:p>
          <a:p>
            <a:endParaRPr lang="en-US" b="0" dirty="0" smtClean="0"/>
          </a:p>
          <a:p>
            <a:r>
              <a:rPr lang="en-US" b="0" dirty="0" smtClean="0"/>
              <a:t>Allow steam to warm the container</a:t>
            </a:r>
            <a:r>
              <a:rPr lang="en-US" b="0" baseline="0" dirty="0" smtClean="0"/>
              <a:t> that holds the chocolate: DO NOT allow water to touch the container</a:t>
            </a:r>
          </a:p>
          <a:p>
            <a:endParaRPr lang="en-US" b="0" baseline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290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Temperature range to be measured when tempering chocolate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Use digital thermometer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Stir slowly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Working in colder climates like Europe and Southern Australia air temperature can be as low as 15ºC to 18ºC in workplaces.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It is important to keep the tempered chocolate at a working temperature of 28ºC to 30ºC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Static warmers; these are basically warm bain maries using dry electric elements inside a box to keep temperature at a constant temperature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These are available in various sizes: Contact specialist chocolate supplier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There are now machines that will temper for the confectioner but these take longer time than what can be achieved by hand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56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2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Prepare chocolate based fillings, coatings and decorations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Select required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commodities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according to recipe and production requirements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Use appropriate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equipment 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to prepare chocolate based fillings, coatings and decorations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Use correct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techniques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to produce chocolate based fillings, coatings and decorations to enterprise standards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Produce chocolate based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fillings/centres, coatings and decorations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to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enterprise requirements and standards</a:t>
            </a:r>
            <a:endParaRPr lang="en-AU" sz="12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02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Confectioners need to be able to identify quality products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Compound chocolates are similar to couverture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Remember: couverture is the better product with excellent mouth feel and longer flavour structures in the mouth after consumption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All product must have a standard recipe;	this keeps the consistency in the product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 customers want the same product as they purchased last time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 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39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Even the small equipment must be suitable for the job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Example: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Do not try to stir the chocolate with a small spoon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Use a good size spoon that is clean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It must not be a spoon that has been used to stir savoury foods and is embedded with taste of garlic and onions for example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45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 skills used by the confectioner is the same as the patissier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Blend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Whisk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Enrobe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Piping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Many skills are required but the most important is ‘patience’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All steps must be followed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If shortcuts are used then product quality will be compromised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6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Enterprises will have varying standards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What is the market place that is being supplied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High quality; the best ingredients and flavourings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Budget quality; good quality ingredients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It will vary…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36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3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Prepare chocolate moulds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Ensure moulds are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clean</a:t>
            </a:r>
            <a:endParaRPr lang="en-AU" sz="12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Polish moulds 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ready for use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Keep Moulds at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correct temperature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for production</a:t>
            </a:r>
            <a:endParaRPr lang="en-AU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70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Any imperfection on inside</a:t>
            </a:r>
            <a:r>
              <a:rPr lang="en-US" b="0" baseline="0" dirty="0" smtClean="0"/>
              <a:t> of mould will show as an imperfection on moulded chocolate when it is demoulded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Do not scrape or scratch cold chocolate from mould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Wash in hot water and mild detergent; rinse in hot water</a:t>
            </a:r>
          </a:p>
          <a:p>
            <a:r>
              <a:rPr lang="en-US" b="0" baseline="0" dirty="0" smtClean="0"/>
              <a:t>Use soft cloth to wipe chocolate from mould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Air dry</a:t>
            </a:r>
          </a:p>
          <a:p>
            <a:r>
              <a:rPr lang="en-US" b="0" baseline="0" dirty="0" smtClean="0"/>
              <a:t>Use hair dryer if required</a:t>
            </a:r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1" dirty="0" smtClean="0"/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50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Polish with clean soft cloth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If surface is clean the chocolate will release from the surface when it contracts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 product will then release from mould  more easily.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580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If the moulds are too cold the chocolate will thicken too quickly; 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especially when doing filled chocolates and when tipped over the shell will be too thick and not be able to hold enough filling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Keep moulds in secure storage to will minimise chance of damage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301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4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to: </a:t>
            </a:r>
            <a:r>
              <a:rPr lang="en-US" b="1" baseline="0" dirty="0" smtClean="0"/>
              <a:t>Make moulded chocolates</a:t>
            </a: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Select and prepare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combinations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to be produced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Use tempered couverture and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set in moulds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correctly 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Fill moulded chocolates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correctly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Set, release and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handle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moulded chocolates appropriately 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22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1" dirty="0" smtClean="0"/>
          </a:p>
          <a:p>
            <a:r>
              <a:rPr lang="en-US" b="0" dirty="0" smtClean="0"/>
              <a:t>Confectioners</a:t>
            </a:r>
            <a:r>
              <a:rPr lang="en-US" b="0" baseline="0" dirty="0" smtClean="0"/>
              <a:t> need to produce product that will sell</a:t>
            </a:r>
          </a:p>
          <a:p>
            <a:r>
              <a:rPr lang="en-US" b="0" baseline="0" dirty="0" smtClean="0"/>
              <a:t>Use combinations that are known to work and have been sold before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Be adventurous with some flavour combinations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Chilli  chocolate was not used 30 years ago but is now popular in Australia. </a:t>
            </a:r>
          </a:p>
          <a:p>
            <a:r>
              <a:rPr lang="en-US" b="0" baseline="0" dirty="0" smtClean="0"/>
              <a:t>Not a big market BUT the flavour combination is enjoyed by some people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Student Activity</a:t>
            </a:r>
          </a:p>
          <a:p>
            <a:r>
              <a:rPr lang="en-US" b="0" baseline="0" dirty="0" smtClean="0"/>
              <a:t>Ask the students to work on flavour combinations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Who has eaten chilli chocolate????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86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r>
              <a:rPr lang="en-US" b="0" dirty="0" smtClean="0"/>
              <a:t>Wit</a:t>
            </a:r>
            <a:r>
              <a:rPr lang="en-US" b="0" baseline="0" dirty="0" smtClean="0"/>
              <a:t>h properly prepared moulds and correctly tempered couverture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Fill moulds with couverture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Tap mould gently on bench to all any air bubbles to move away from edges of moulds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Tip moulds over to allow excess couverture to drain out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When majority of couverture has drained, turn mould back upright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Scrape with PLASTIC scraper the base of moulded shell to give straight edge to chocolate base</a:t>
            </a:r>
          </a:p>
          <a:p>
            <a:endParaRPr lang="en-US" b="0" baseline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856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1" dirty="0" smtClean="0"/>
          </a:p>
          <a:p>
            <a:r>
              <a:rPr lang="en-US" b="0" dirty="0" smtClean="0"/>
              <a:t>Filling of empty chocolate shell requires a fine tipped piping bag.</a:t>
            </a:r>
          </a:p>
          <a:p>
            <a:endParaRPr lang="en-US" b="0" dirty="0" smtClean="0"/>
          </a:p>
          <a:p>
            <a:r>
              <a:rPr lang="en-US" b="0" dirty="0" smtClean="0"/>
              <a:t>Do</a:t>
            </a:r>
            <a:r>
              <a:rPr lang="en-US" b="0" baseline="0" dirty="0" smtClean="0"/>
              <a:t> not fill the moulded chocolate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This is biggest mistake of beginners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Leave space for the remaining couverture base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The filling must be below the surface of the edge of the mould.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Pour couverture over the base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Smooth with flat plastic  scraper to remove all excess chocolate from base</a:t>
            </a:r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47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Set aside in cool space for chocolate to set and harden.</a:t>
            </a:r>
          </a:p>
          <a:p>
            <a:endParaRPr lang="en-US" b="0" dirty="0" smtClean="0"/>
          </a:p>
          <a:p>
            <a:r>
              <a:rPr lang="en-US" b="0" dirty="0" smtClean="0"/>
              <a:t>In</a:t>
            </a:r>
            <a:r>
              <a:rPr lang="en-US" b="0" baseline="0" dirty="0" smtClean="0"/>
              <a:t> warmer climates chocolate may need to be placed into coolroom for short period to set chocolate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When set , invert mould over papered bench and tap sharply on bench top to dislodge product from mould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Using a gloved hand place chocolate onto clean tray; place into covered storage space.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r>
              <a:rPr lang="en-US" b="0" baseline="0" dirty="0" smtClean="0"/>
              <a:t>When set , invert mould over papered bench and tap sharply on bench top to dislodge product from mould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Using a gloved hand place chocolate onto clean tray; place into covered storage space.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Any chocolates that show blemishes should be set aside and recycled.</a:t>
            </a:r>
            <a:endParaRPr lang="en-US" b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49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5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Coat and decorate chocolates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>
              <a:buFont typeface="Arial" pitchFamily="34" charset="0"/>
              <a:buNone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Prepare a variety of chocolate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coating, icing, glazes and decorations</a:t>
            </a:r>
            <a:r>
              <a:rPr lang="en-AU" dirty="0" smtClean="0">
                <a:effectLst/>
              </a:rPr>
              <a:t>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Decorate using coating, icing, glazes and decorations according to standard recipes and/or enterprise standards and/or customer requests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574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Many variations exist for decorating finished chocolates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Basic rules: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Decoration must be edible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Decorations must be long lasting and not be affected by air dehydration; examples to use are glace fruits, nut portions, crystallised fruits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Decorations must not lose appearance by being exposed to air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20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Chocolates standard will vary due to the</a:t>
            </a:r>
            <a:r>
              <a:rPr lang="en-US" b="0" baseline="0" dirty="0" smtClean="0"/>
              <a:t> role that they will be required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If the  are sold individually then they must all look the same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Sold by weight (by the kilo) then they may be slightly different in size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Maybe they are to be used as friandise with coffee.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Decoration will vary but should always compliment the flavour</a:t>
            </a:r>
            <a:endParaRPr lang="en-US" b="0" dirty="0" smtClean="0"/>
          </a:p>
          <a:p>
            <a:endParaRPr lang="en-US" b="0" dirty="0" smtClean="0"/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75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6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chocolate and produce chocolate products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Store chocolate at correct temperature and conditions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Store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at </a:t>
            </a:r>
            <a:r>
              <a:rPr lang="en-AU" sz="1200" i="1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correct temperature and conditions</a:t>
            </a: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 </a:t>
            </a:r>
            <a:endParaRPr lang="en-AU" sz="1400" kern="1200" dirty="0" smtClean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lvl="1"/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Maintain maximum eating quality, appearance and freshness</a:t>
            </a:r>
            <a:r>
              <a:rPr lang="en-AU" dirty="0" smtClean="0">
                <a:effectLst/>
              </a:rPr>
              <a:t> 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9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Chocolate products</a:t>
            </a:r>
            <a:r>
              <a:rPr lang="en-US" b="0" baseline="0" dirty="0" smtClean="0"/>
              <a:t> are susceptible to damage easily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They are a delicate product 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If humidity is too high water condensation will appear on surface and cause chocolate to go grey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Keep covered 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Keep cool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Low humidity environment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Less than 50% is preferred</a:t>
            </a:r>
          </a:p>
          <a:p>
            <a:endParaRPr lang="en-US" b="0" baseline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475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Trainer to advise:</a:t>
            </a:r>
          </a:p>
          <a:p>
            <a:endParaRPr lang="en-US" b="0" dirty="0" smtClean="0"/>
          </a:p>
          <a:p>
            <a:r>
              <a:rPr lang="en-US" b="0" dirty="0" smtClean="0"/>
              <a:t>Best way to maintain</a:t>
            </a:r>
            <a:r>
              <a:rPr lang="en-US" b="0" baseline="0" dirty="0" smtClean="0"/>
              <a:t> eating quality is to use best quality ingredients and to make in small batches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Make often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Appearance; to keep their gloss chocolates must be stored in low humidity environment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Handling; handle with gloved hands as oil in skin leaves residue mark in gloss on chocolates</a:t>
            </a:r>
          </a:p>
          <a:p>
            <a:endParaRPr lang="en-US" b="0" baseline="0" dirty="0" smtClean="0"/>
          </a:p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534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60B9F9CF-7D2C-460C-8F3E-F6213A54EF6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Helvetica" pitchFamily="34" charset="0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Helvetica" pitchFamily="34" charset="0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Helvetica" pitchFamily="34" charset="0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8" y="692696"/>
            <a:ext cx="8030594" cy="1285884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PREPARE CHOCOLATE AND PRODUCE CHOCOLATE PRODUCTS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2120" y="2635772"/>
            <a:ext cx="2685284" cy="721790"/>
          </a:xfrm>
        </p:spPr>
        <p:txBody>
          <a:bodyPr>
            <a:no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D1.HCC.CL2.13</a:t>
            </a:r>
            <a:br>
              <a:rPr lang="en-AU" sz="2400" b="1" dirty="0" smtClean="0">
                <a:latin typeface="Helvetica" pitchFamily="34" charset="0"/>
              </a:rPr>
            </a:br>
            <a:r>
              <a:rPr lang="en-AU" sz="2400" b="1" dirty="0" smtClean="0">
                <a:latin typeface="Helvetica" pitchFamily="34" charset="0"/>
              </a:rPr>
              <a:t>D1.HPA.CL4.05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2" descr="C:\Documents and Settings\danielc\Desktop\523600__rum_ball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3357562"/>
            <a:ext cx="2581559" cy="20050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Picture 3" descr="C:\Documents and Settings\danielc\Desktop\1372875_golden_chocolat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86380" y="3929066"/>
            <a:ext cx="2786083" cy="18573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C:\Documents and Settings\danielc\Desktop\1102043_chocolate.jpg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 b="19902"/>
          <a:stretch>
            <a:fillRect/>
          </a:stretch>
        </p:blipFill>
        <p:spPr bwMode="auto">
          <a:xfrm>
            <a:off x="3214678" y="3000372"/>
            <a:ext cx="2368961" cy="1682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>
                <a:latin typeface="Helvetica" pitchFamily="34" charset="0"/>
              </a:rPr>
              <a:t>Assessment for this Unit may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Oral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Written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Work projects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Workplace observation of practical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Practical exercises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Formal report from employer/supervisor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2" descr="C:\Documents and Settings\danielc\Local Settings\Temporary Internet Files\Content.IE5\XF6U4J0T\MC9004349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7950" y="1857364"/>
            <a:ext cx="1828572" cy="18285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>
                <a:latin typeface="Helvetica" pitchFamily="34" charset="0"/>
              </a:rPr>
              <a:t>This unit comprises </a:t>
            </a:r>
            <a:r>
              <a:rPr lang="en-US" sz="2200" b="1" dirty="0" smtClean="0">
                <a:latin typeface="Helvetica" pitchFamily="34" charset="0"/>
              </a:rPr>
              <a:t>six elements</a:t>
            </a:r>
            <a:r>
              <a:rPr lang="en-US" sz="2200" b="1" dirty="0">
                <a:latin typeface="Helvetica" pitchFamily="34" charset="0"/>
              </a:rPr>
              <a:t>: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Temper couverture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chocolate based fillings, coatings and decorations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chocolate moulds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Make moulded chocolates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Coat and decorate with chocolate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Store chocolate  and chocolate products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6386" name="Picture 2" descr="C:\Documents and Settings\danielc\Local Settings\Temporary Internet Files\Content.IE5\SIQ5KRQ3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64" y="2928934"/>
            <a:ext cx="1555750" cy="2054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01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1: Temper chocolate: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Melt and temper couverture using correct techniques and </a:t>
            </a:r>
            <a:r>
              <a:rPr lang="en-AU" sz="2200" dirty="0" smtClean="0"/>
              <a:t>temperatures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Maintain </a:t>
            </a:r>
            <a:r>
              <a:rPr lang="en-AU" sz="2200" dirty="0"/>
              <a:t>tempered couverture for use </a:t>
            </a:r>
            <a:endParaRPr lang="en-US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2" descr="C:\Documents and Settings\danielc\Local Settings\Temporary Internet Files\Content.IE5\UMECW9PM\MC90043266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24" y="2928934"/>
            <a:ext cx="1928826" cy="19288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532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Temper chocolate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Melt and temper couverture:</a:t>
            </a:r>
            <a:endParaRPr lang="en-US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Cut into small pieces or use chocolate pellets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Heat slowly over warm water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Stir with clean dry utensil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No more then 50°C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water away from chocolate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clean equipment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C:\Documents and Settings\danielc\Desktop\859304_chocolate_liquid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2786058"/>
            <a:ext cx="1742843" cy="173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9761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Temper couverture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Melt and Temper chocolate:</a:t>
            </a:r>
            <a:endParaRPr lang="en-US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Dark Chocolate	</a:t>
            </a:r>
            <a:r>
              <a:rPr lang="en-US" sz="2200" dirty="0" smtClean="0">
                <a:sym typeface="Wingdings"/>
              </a:rPr>
              <a:t></a:t>
            </a:r>
            <a:r>
              <a:rPr lang="en-US" sz="2200" dirty="0" smtClean="0"/>
              <a:t>45°	</a:t>
            </a:r>
            <a:r>
              <a:rPr lang="en-US" sz="2200" dirty="0" smtClean="0">
                <a:sym typeface="Wingdings"/>
              </a:rPr>
              <a:t></a:t>
            </a:r>
            <a:r>
              <a:rPr lang="en-US" sz="2200" dirty="0" smtClean="0"/>
              <a:t>28°	</a:t>
            </a:r>
            <a:r>
              <a:rPr lang="en-US" sz="2200" dirty="0" smtClean="0">
                <a:sym typeface="Wingdings"/>
              </a:rPr>
              <a:t></a:t>
            </a:r>
            <a:r>
              <a:rPr lang="en-US" sz="2200" dirty="0" smtClean="0"/>
              <a:t>32°</a:t>
            </a:r>
            <a:r>
              <a:rPr lang="en-US" sz="2200" dirty="0" smtClean="0">
                <a:sym typeface="Wingdings"/>
              </a:rPr>
              <a:t></a:t>
            </a:r>
            <a:endParaRPr lang="en-US" sz="2200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Milk Chocolate	</a:t>
            </a:r>
            <a:r>
              <a:rPr lang="en-US" sz="2200" dirty="0" smtClean="0">
                <a:sym typeface="Wingdings"/>
              </a:rPr>
              <a:t></a:t>
            </a:r>
            <a:r>
              <a:rPr lang="en-US" sz="2200" dirty="0" smtClean="0"/>
              <a:t>45°	</a:t>
            </a:r>
            <a:r>
              <a:rPr lang="en-US" sz="2200" dirty="0" smtClean="0">
                <a:sym typeface="Wingdings"/>
              </a:rPr>
              <a:t></a:t>
            </a:r>
            <a:r>
              <a:rPr lang="en-US" sz="2200" dirty="0" smtClean="0"/>
              <a:t>27°	</a:t>
            </a:r>
            <a:r>
              <a:rPr lang="en-US" sz="2200" dirty="0" smtClean="0">
                <a:sym typeface="Wingdings"/>
              </a:rPr>
              <a:t></a:t>
            </a:r>
            <a:r>
              <a:rPr lang="en-US" sz="2200" dirty="0" smtClean="0"/>
              <a:t>30°</a:t>
            </a:r>
            <a:r>
              <a:rPr lang="en-US" sz="2200" dirty="0" smtClean="0">
                <a:sym typeface="Wingdings"/>
              </a:rPr>
              <a:t></a:t>
            </a:r>
            <a:endParaRPr lang="en-US" sz="2200" dirty="0" smtClean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White chocolate	</a:t>
            </a:r>
            <a:r>
              <a:rPr lang="en-US" sz="2200" dirty="0" smtClean="0">
                <a:sym typeface="Wingdings"/>
              </a:rPr>
              <a:t></a:t>
            </a:r>
            <a:r>
              <a:rPr lang="en-US" sz="2200" dirty="0" smtClean="0"/>
              <a:t>45° 	</a:t>
            </a:r>
            <a:r>
              <a:rPr lang="en-US" sz="2200" dirty="0" smtClean="0">
                <a:sym typeface="Wingdings"/>
              </a:rPr>
              <a:t></a:t>
            </a:r>
            <a:r>
              <a:rPr lang="en-US" sz="2200" dirty="0" smtClean="0"/>
              <a:t>26°	</a:t>
            </a:r>
            <a:r>
              <a:rPr lang="en-US" sz="2200" dirty="0" smtClean="0">
                <a:sym typeface="Wingdings"/>
              </a:rPr>
              <a:t></a:t>
            </a:r>
            <a:r>
              <a:rPr lang="en-US" sz="2200" dirty="0" smtClean="0"/>
              <a:t>29°</a:t>
            </a:r>
            <a:r>
              <a:rPr lang="en-US" sz="2200" dirty="0" smtClean="0">
                <a:sym typeface="Wingdings"/>
              </a:rPr>
              <a:t></a:t>
            </a:r>
            <a:endParaRPr lang="en-US" sz="2200" dirty="0" smtClean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Compound chocolate no more than 40°</a:t>
            </a:r>
            <a:r>
              <a:rPr lang="en-US" sz="2200" dirty="0" smtClean="0">
                <a:sym typeface="Wingdings"/>
              </a:rPr>
              <a:t></a:t>
            </a:r>
            <a:endParaRPr lang="en-US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7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Temper couverture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Maintain tempered couverture for use:</a:t>
            </a:r>
            <a:endParaRPr lang="en-US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Insulate container to retain warmth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warmed cloth around bowl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Place into chocolate warming bain marie to hold at static 30°C or less</a:t>
            </a:r>
            <a:endParaRPr lang="en-US" sz="2200" dirty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 descr="\\Pm server\PMHOSPIT\PM Projects - Active\TTA Support Materials 2002\updated resources\adcc06-7low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4286256"/>
            <a:ext cx="2500330" cy="1672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3122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2: Prepare chocolate based fillings, coatings and decorations: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Select required commodities according to recipe and production requirements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Use appropriate equipment to prepare chocolate based fillings, coatings and decorations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Use correct techniques to produce chocolate based fillings, coatings and decorations to enterprise standards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Produce chocolate based fillings/</a:t>
            </a:r>
            <a:r>
              <a:rPr lang="en-AU" sz="2200" dirty="0" smtClean="0"/>
              <a:t>centres</a:t>
            </a:r>
            <a:r>
              <a:rPr lang="en-AU" sz="2200" dirty="0"/>
              <a:t>, coatings and decorations to enterprise requirements and standards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2" descr="C:\Documents and Settings\danielc\Local Settings\Temporary Internet Files\Content.IE5\UMECW9PM\MC90043266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72" y="3929066"/>
            <a:ext cx="1285872" cy="12858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179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based fillings, coatings and decorations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required commodities: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Compound chocolate looks very similar to couverture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labeling with all products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Follow standard recipe ingredients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Collect all ingredients before beginning the </a:t>
            </a:r>
            <a:br>
              <a:rPr lang="en-US" sz="2200" dirty="0" smtClean="0"/>
            </a:br>
            <a:r>
              <a:rPr lang="en-US" sz="2200" dirty="0" smtClean="0"/>
              <a:t>production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 descr="C:\Documents and Settings\danielc\Desktop\compund.jpg"/>
          <p:cNvPicPr/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6500826" y="2786058"/>
            <a:ext cx="1530969" cy="152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537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based fillings, coatings and decorations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appropriate equipment to prepare fillings: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Equipment must be clean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Stainless steel is recommended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Equipment must be dry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Equipment must be suitable to the job</a:t>
            </a:r>
            <a:endParaRPr lang="en-US" sz="2200" dirty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\\Pm server\PMHOSPIT\PM Projects - Active\TTA Support Materials 2002\updated resources\adcc06-9low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4643446"/>
            <a:ext cx="2857520" cy="142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095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based fillings, coatings and decorations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correct technique to produce fillings:</a:t>
            </a:r>
            <a:endParaRPr lang="en-US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Whisk</a:t>
            </a:r>
          </a:p>
          <a:p>
            <a:pPr marL="661752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Combining chocolate and cream for ganache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Blend slowly</a:t>
            </a:r>
          </a:p>
          <a:p>
            <a:pPr marL="661752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Stirring chocolate while it is melting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Pipe consistent sizes</a:t>
            </a:r>
          </a:p>
          <a:p>
            <a:pPr marL="661752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Piping truffles to be sold individually requires them to be same size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Enrobe </a:t>
            </a:r>
          </a:p>
          <a:p>
            <a:pPr marL="661752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Complete coverage of soft centers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 descr="C:\Documents and Settings\danielc\Desktop\tools.jpg"/>
          <p:cNvPicPr/>
          <p:nvPr/>
        </p:nvPicPr>
        <p:blipFill>
          <a:blip r:embed="rId3" cstate="print">
            <a:lum contrast="20000"/>
          </a:blip>
          <a:srcRect t="8451" b="7042"/>
          <a:stretch>
            <a:fillRect/>
          </a:stretch>
        </p:blipFill>
        <p:spPr bwMode="auto">
          <a:xfrm flipH="1">
            <a:off x="6786578" y="2928934"/>
            <a:ext cx="1586726" cy="1338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185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based fillings, coatings and decorations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Produce to enterprise standards: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Enterprise standards will vary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best quality ingredients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Follow standard recipe</a:t>
            </a: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5362" name="Picture 2" descr="C:\Documents and Settings\danielc\Desktop\1195768_swe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2" y="2143116"/>
            <a:ext cx="2857500" cy="1838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773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3: Prepare chocolate moulds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Ensure moulds are </a:t>
            </a:r>
            <a:r>
              <a:rPr lang="en-AU" sz="2200" dirty="0" smtClean="0"/>
              <a:t>clean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Polish </a:t>
            </a:r>
            <a:r>
              <a:rPr lang="en-AU" sz="2200" dirty="0"/>
              <a:t>moulds ready for </a:t>
            </a:r>
            <a:r>
              <a:rPr lang="en-AU" sz="2200" dirty="0" smtClean="0"/>
              <a:t>use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Moulds </a:t>
            </a:r>
            <a:r>
              <a:rPr lang="en-AU" sz="2200" dirty="0"/>
              <a:t>are kept at correct temperature for production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339" name="Picture 3" descr="C:\Documents and Settings\danielc\Local Settings\Temporary Internet Files\Content.IE5\3DV3UKH9\MC90043266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60" y="1500174"/>
            <a:ext cx="1714500" cy="1714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2660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moulds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28736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Ensure moulds are clean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Moulds need to be clean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Clean with soft cloth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Do not use knife or sharp object to rush job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Imperfection will cause chocolate to stick and show on moulded product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Wash: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Only use hot water and soft cloth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Dry thoroughly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3314" name="Picture 2" descr="C:\Documents and Settings\danielc\Desktop\442894_down_the_dra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4572008"/>
            <a:ext cx="2285996" cy="17144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1913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moulds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Polish moulds ready for use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soft cloth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Smooths the surface ready for tempered chocolate</a:t>
            </a:r>
            <a:endParaRPr lang="en-US" sz="2200" dirty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2290" name="Picture 2" descr="C:\Documents and Settings\danielc\Desktop\soft cloth.jpg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 r="36941" b="21053"/>
          <a:stretch>
            <a:fillRect/>
          </a:stretch>
        </p:blipFill>
        <p:spPr bwMode="auto">
          <a:xfrm flipH="1">
            <a:off x="3214678" y="3429000"/>
            <a:ext cx="2400316" cy="2000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674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moulds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Keep moulds at correct temperature for production</a:t>
            </a:r>
            <a:endParaRPr lang="en-US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Polycarbonate - 20ºC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Metal - 25ºC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Best kept in dry warmed storage box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Important in cooler climates; not in tropics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266" name="Picture 2" descr="C:\Documents and Settings\danielc\Desktop\metal choc mould.JP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6500826" y="3857628"/>
            <a:ext cx="1821099" cy="1214446"/>
          </a:xfrm>
          <a:prstGeom prst="rect">
            <a:avLst/>
          </a:prstGeom>
          <a:noFill/>
        </p:spPr>
      </p:pic>
      <p:pic>
        <p:nvPicPr>
          <p:cNvPr id="11267" name="Picture 3" descr="C:\Documents and Settings\danielc\Desktop\polycarbonate choc mold.jpg"/>
          <p:cNvPicPr>
            <a:picLocks noChangeAspect="1" noChangeArrowheads="1"/>
          </p:cNvPicPr>
          <p:nvPr/>
        </p:nvPicPr>
        <p:blipFill>
          <a:blip r:embed="rId4" cstate="print">
            <a:lum bright="20000" contrast="20000"/>
          </a:blip>
          <a:srcRect/>
          <a:stretch>
            <a:fillRect/>
          </a:stretch>
        </p:blipFill>
        <p:spPr bwMode="auto">
          <a:xfrm>
            <a:off x="6357950" y="2000240"/>
            <a:ext cx="1739907" cy="1739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7398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88953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4: Make moulded chocolates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Select and prepare combinations to </a:t>
            </a:r>
            <a:r>
              <a:rPr lang="en-AU" sz="2200" dirty="0" smtClean="0"/>
              <a:t>be produced</a:t>
            </a:r>
            <a:endParaRPr lang="en-AU" sz="2200" dirty="0"/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Use tempered couverture and set in moulds correctly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Fill </a:t>
            </a:r>
            <a:r>
              <a:rPr lang="en-AU" sz="2200" dirty="0" smtClean="0"/>
              <a:t>moulded </a:t>
            </a:r>
            <a:r>
              <a:rPr lang="en-AU" sz="2200" dirty="0"/>
              <a:t>chocolates correctly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Set, release and handle </a:t>
            </a:r>
            <a:r>
              <a:rPr lang="en-AU" sz="2200" dirty="0" smtClean="0"/>
              <a:t>moulded </a:t>
            </a:r>
            <a:r>
              <a:rPr lang="en-AU" sz="2200" dirty="0"/>
              <a:t>chocolates appropriately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42" name="Picture 2" descr="C:\Documents and Settings\danielc\Local Settings\Temporary Internet Files\Content.IE5\UMECW9PM\MC90043266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928670"/>
            <a:ext cx="1285872" cy="12858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752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Make moulded chocolates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and prepare combinations of choice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Personal  taste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What will customers like?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Select quality ingredients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Prepare with care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218" name="Picture 2" descr="C:\Documents and Settings\danielc\Desktop\Chocolate images\711841_chocolate_truffles_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2285992"/>
            <a:ext cx="28575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1025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Make moulded chocolates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Fill moulded chocolates correctly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warmed moulds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tempered couverture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Fill moulds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Tap gently to release air bubbles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Roll over to release excess chocolate and drain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Scrape mould level; allow to set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194" name="Picture 2" descr="C:\Documents and Settings\danielc\Desktop\Chocolate images\chocolate mol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1928802"/>
            <a:ext cx="2343144" cy="19061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9986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Make moulded chocolates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Fill moulded chocolates correctly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When set pipe filling into empty mould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DO NOT fill to top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Tap chocolate shell to settle filling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Top with tempered couverture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Smooth base level with bottom of mould</a:t>
            </a:r>
            <a:endParaRPr lang="en-US" sz="2200" dirty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170" name="Picture 2" descr="C:\Documents and Settings\danielc\Desktop\Silicone-Chocolate-Mould-RCX-NZ-SC-06-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143636" y="2000240"/>
            <a:ext cx="2028412" cy="23336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9557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Make moulded chocolates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Set release and handle moulded chocolates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Allow for chocolate to set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Place into cool room for short period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Release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Tap gently on bench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Careful: do not do this to close to bench edge</a:t>
            </a:r>
          </a:p>
          <a:p>
            <a:pPr marL="644652" lvl="1" indent="-3429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  (as they may fall onto the floor)</a:t>
            </a:r>
            <a:endParaRPr lang="en-US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8" name="Picture 4" descr="C:\Documents and Settings\Godaishu\Desktop\elephantchocmould.jpg"/>
          <p:cNvPicPr>
            <a:picLocks noChangeAspect="1" noChangeArrowheads="1"/>
          </p:cNvPicPr>
          <p:nvPr/>
        </p:nvPicPr>
        <p:blipFill>
          <a:blip r:embed="rId3">
            <a:lum contrast="20000"/>
          </a:blip>
          <a:srcRect/>
          <a:stretch>
            <a:fillRect/>
          </a:stretch>
        </p:blipFill>
        <p:spPr bwMode="auto">
          <a:xfrm flipH="1">
            <a:off x="6286512" y="2714620"/>
            <a:ext cx="1911323" cy="14334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3859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Make moulded chocolates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Set release and handle moulded chocolates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Handle de-moulded chocolates with gloved hands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Fingers leave oil mark on chocolate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Reject any chocolates that are dull in patches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146" name="Picture 2" descr="C:\Documents and Settings\danielc\Desktop\501786_chocolate.jpg"/>
          <p:cNvPicPr>
            <a:picLocks noChangeAspect="1" noChangeArrowheads="1"/>
          </p:cNvPicPr>
          <p:nvPr/>
        </p:nvPicPr>
        <p:blipFill>
          <a:blip r:embed="rId3" cstate="print">
            <a:lum bright="30000" contrast="40000"/>
          </a:blip>
          <a:srcRect t="25889" b="14110"/>
          <a:stretch>
            <a:fillRect/>
          </a:stretch>
        </p:blipFill>
        <p:spPr bwMode="auto">
          <a:xfrm>
            <a:off x="3357554" y="4000504"/>
            <a:ext cx="1895475" cy="1714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7611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5: Coat and decorate with chocolate: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Prepare a variety of chocolate coating, icing, glazes and </a:t>
            </a:r>
            <a:r>
              <a:rPr lang="en-AU" sz="2200" dirty="0" smtClean="0"/>
              <a:t>decorations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Decorate </a:t>
            </a:r>
            <a:r>
              <a:rPr lang="en-AU" sz="2200" dirty="0"/>
              <a:t>using coating, icing, glazes and decorations according to standard recipes </a:t>
            </a:r>
            <a:r>
              <a:rPr lang="en-AU" sz="2200" dirty="0" smtClean="0"/>
              <a:t>and or </a:t>
            </a:r>
            <a:r>
              <a:rPr lang="en-AU" sz="2200" dirty="0"/>
              <a:t>enterprise standards </a:t>
            </a:r>
            <a:r>
              <a:rPr lang="en-AU" sz="2200" dirty="0" smtClean="0"/>
              <a:t>and or </a:t>
            </a:r>
            <a:r>
              <a:rPr lang="en-AU" sz="2200" dirty="0"/>
              <a:t>customer requests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2" descr="C:\Documents and Settings\danielc\Local Settings\Temporary Internet Files\Content.IE5\UMECW9PM\MC900432663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4" y="3786190"/>
            <a:ext cx="1285872" cy="12858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9808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Coat and decorate with chocolate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variety of coatings, glazes and decorations: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Coloured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Flavoured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Roasted nut portions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Glace fruits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Crystallised fruits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 descr="C:\Documents and Settings\danielc\Desktop\RoastedNuts.jpg"/>
          <p:cNvPicPr/>
          <p:nvPr/>
        </p:nvPicPr>
        <p:blipFill>
          <a:blip r:embed="rId3" cstate="print"/>
          <a:srcRect l="30397" t="10435" b="13902"/>
          <a:stretch>
            <a:fillRect/>
          </a:stretch>
        </p:blipFill>
        <p:spPr bwMode="auto">
          <a:xfrm>
            <a:off x="6072198" y="2071678"/>
            <a:ext cx="1452911" cy="1193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Documents and Settings\danielc\Desktop\citrused peels and ginger.jpg"/>
          <p:cNvPicPr/>
          <p:nvPr/>
        </p:nvPicPr>
        <p:blipFill>
          <a:blip r:embed="rId4" cstate="print">
            <a:lum contrast="20000"/>
          </a:blip>
          <a:srcRect/>
          <a:stretch>
            <a:fillRect/>
          </a:stretch>
        </p:blipFill>
        <p:spPr bwMode="auto">
          <a:xfrm flipH="1">
            <a:off x="6072198" y="3351909"/>
            <a:ext cx="1452911" cy="1077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Documents and Settings\danielc\Desktop\Roasted Chilli powder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2198" y="4429132"/>
            <a:ext cx="1386003" cy="1003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933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Coat and decorate with chocolate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Decorate to standard required: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Standards vary in enterprises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What is the role of product?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To be sold as individual chocolates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To be sold by weight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To be served as Friandise with coffee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098" name="Picture 2" descr="C:\Documents and Settings\danielc\Desktop\1106019_teddy_bear_cak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500174"/>
            <a:ext cx="1704973" cy="2447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6538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Prepare chocolate and produce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776864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6: Store at correct temperature and conditions</a:t>
            </a:r>
            <a:endParaRPr lang="en-US" sz="2200" b="1" dirty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/>
              <a:t>Store at correct temperature and </a:t>
            </a:r>
            <a:r>
              <a:rPr lang="en-AU" sz="2200" dirty="0" smtClean="0"/>
              <a:t>conditions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Maintain </a:t>
            </a:r>
            <a:r>
              <a:rPr lang="en-AU" sz="2200" dirty="0"/>
              <a:t>maximum eating quality, appearance and freshness </a:t>
            </a:r>
            <a:endParaRPr lang="en-US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 descr="C:\Documents and Settings\danielc\Desktop\Storage of chocolate.jpg"/>
          <p:cNvPicPr/>
          <p:nvPr/>
        </p:nvPicPr>
        <p:blipFill>
          <a:blip r:embed="rId3" cstate="print">
            <a:grayscl/>
          </a:blip>
          <a:srcRect l="5324" t="3448" r="6052" b="4901"/>
          <a:stretch>
            <a:fillRect/>
          </a:stretch>
        </p:blipFill>
        <p:spPr bwMode="auto">
          <a:xfrm flipH="1">
            <a:off x="3500430" y="3429000"/>
            <a:ext cx="2311555" cy="2520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7250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Store chocolate and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Store at correct temperature and conditions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Closed environment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No air movement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Low humidity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Cool temperature 15°C to 18°C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Minimal handling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074" name="Picture 2" descr="C:\Documents and Settings\danielc\Local Settings\Temporary Internet Files\Content.IE5\3DV3UKH9\MP90040942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2428868"/>
            <a:ext cx="1757819" cy="26431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164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Store chocolate and chocolate products</a:t>
            </a: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Maintain eating quality, appearance and freshness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Make in small quantities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best quality ingredients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Store in low humidity environment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Handle with gloved hands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2050" name="Picture 2" descr="C:\Documents and Settings\danielc\Desktop\711841_chocolate_truffles_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2285992"/>
            <a:ext cx="2643186" cy="17621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4275500"/>
      </p:ext>
    </p:extLst>
  </p:cSld>
  <p:clrMapOvr>
    <a:masterClrMapping/>
  </p:clrMapOvr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1391</TotalTime>
  <Words>2929</Words>
  <Application>Microsoft Office PowerPoint</Application>
  <PresentationFormat>On-screen Show (4:3)</PresentationFormat>
  <Paragraphs>540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Helvetica</vt:lpstr>
      <vt:lpstr>Wingdings</vt:lpstr>
      <vt:lpstr>Wingdings 2</vt:lpstr>
      <vt:lpstr>ASEAN PPT Template 010611 MV</vt:lpstr>
      <vt:lpstr>PREPARE CHOCOLATE AND PRODUCE CHOCOLATE PRODUCTS</vt:lpstr>
      <vt:lpstr>Prepare chocolate and produce chocolate products</vt:lpstr>
      <vt:lpstr>Prepare chocolate and produce chocolate products</vt:lpstr>
      <vt:lpstr>Prepare chocolate and produce chocolate products</vt:lpstr>
      <vt:lpstr>Temper chocolate</vt:lpstr>
      <vt:lpstr>Temper couverture</vt:lpstr>
      <vt:lpstr>Temper couverture</vt:lpstr>
      <vt:lpstr>Prepare chocolate and produce chocolate products</vt:lpstr>
      <vt:lpstr>Prepare chocolate based fillings, coatings and decorations</vt:lpstr>
      <vt:lpstr>Prepare chocolate based fillings, coatings and decorations</vt:lpstr>
      <vt:lpstr>Prepare chocolate based fillings, coatings and decorations</vt:lpstr>
      <vt:lpstr>Prepare chocolate based fillings, coatings and decorations</vt:lpstr>
      <vt:lpstr>Prepare chocolate and produce chocolate products</vt:lpstr>
      <vt:lpstr>Prepare chocolate moulds</vt:lpstr>
      <vt:lpstr>Prepare chocolate moulds</vt:lpstr>
      <vt:lpstr>Prepare chocolate moulds</vt:lpstr>
      <vt:lpstr>Prepare chocolate and produce chocolate products</vt:lpstr>
      <vt:lpstr>Make moulded chocolates</vt:lpstr>
      <vt:lpstr>Make moulded chocolates</vt:lpstr>
      <vt:lpstr>Make moulded chocolates</vt:lpstr>
      <vt:lpstr>Make moulded chocolates</vt:lpstr>
      <vt:lpstr>Make moulded chocolates</vt:lpstr>
      <vt:lpstr>Prepare chocolate and produce chocolate products</vt:lpstr>
      <vt:lpstr>Coat and decorate with chocolate</vt:lpstr>
      <vt:lpstr>Coat and decorate with chocolate</vt:lpstr>
      <vt:lpstr>Prepare chocolate and produce chocolate products</vt:lpstr>
      <vt:lpstr>Store chocolate and chocolate products</vt:lpstr>
      <vt:lpstr>Store chocolate and chocolate products</vt:lpstr>
    </vt:vector>
  </TitlesOfParts>
  <Company>William Angliss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PREPARE CHOCOLATE AND PRODUCE CHOCOLATE PRODUCTS</dc:title>
  <dc:creator>Administrator</dc:creator>
  <cp:lastModifiedBy>Carla Angelica Co</cp:lastModifiedBy>
  <cp:revision>98</cp:revision>
  <dcterms:created xsi:type="dcterms:W3CDTF">2012-02-23T04:55:05Z</dcterms:created>
  <dcterms:modified xsi:type="dcterms:W3CDTF">2015-04-06T02:30:13Z</dcterms:modified>
</cp:coreProperties>
</file>