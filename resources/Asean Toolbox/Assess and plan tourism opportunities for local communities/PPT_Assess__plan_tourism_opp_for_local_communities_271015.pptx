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31"/>
  </p:notesMasterIdLst>
  <p:handoutMasterIdLst>
    <p:handoutMasterId r:id="rId132"/>
  </p:handoutMasterIdLst>
  <p:sldIdLst>
    <p:sldId id="256" r:id="rId2"/>
    <p:sldId id="257" r:id="rId3"/>
    <p:sldId id="325" r:id="rId4"/>
    <p:sldId id="296" r:id="rId5"/>
    <p:sldId id="297" r:id="rId6"/>
    <p:sldId id="298" r:id="rId7"/>
    <p:sldId id="326" r:id="rId8"/>
    <p:sldId id="327" r:id="rId9"/>
    <p:sldId id="328" r:id="rId10"/>
    <p:sldId id="329"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299" r:id="rId24"/>
    <p:sldId id="342" r:id="rId25"/>
    <p:sldId id="343" r:id="rId26"/>
    <p:sldId id="417" r:id="rId27"/>
    <p:sldId id="344" r:id="rId28"/>
    <p:sldId id="345" r:id="rId29"/>
    <p:sldId id="300" r:id="rId30"/>
    <p:sldId id="346" r:id="rId31"/>
    <p:sldId id="347" r:id="rId32"/>
    <p:sldId id="348" r:id="rId33"/>
    <p:sldId id="349" r:id="rId34"/>
    <p:sldId id="350" r:id="rId35"/>
    <p:sldId id="351" r:id="rId36"/>
    <p:sldId id="353" r:id="rId37"/>
    <p:sldId id="352" r:id="rId38"/>
    <p:sldId id="354" r:id="rId39"/>
    <p:sldId id="355" r:id="rId40"/>
    <p:sldId id="356" r:id="rId41"/>
    <p:sldId id="357" r:id="rId42"/>
    <p:sldId id="301" r:id="rId43"/>
    <p:sldId id="358" r:id="rId44"/>
    <p:sldId id="359" r:id="rId45"/>
    <p:sldId id="360" r:id="rId46"/>
    <p:sldId id="361" r:id="rId47"/>
    <p:sldId id="362" r:id="rId48"/>
    <p:sldId id="363" r:id="rId49"/>
    <p:sldId id="365" r:id="rId50"/>
    <p:sldId id="364" r:id="rId51"/>
    <p:sldId id="302" r:id="rId52"/>
    <p:sldId id="367" r:id="rId53"/>
    <p:sldId id="418" r:id="rId54"/>
    <p:sldId id="368" r:id="rId55"/>
    <p:sldId id="369" r:id="rId56"/>
    <p:sldId id="370" r:id="rId57"/>
    <p:sldId id="419" r:id="rId58"/>
    <p:sldId id="420" r:id="rId59"/>
    <p:sldId id="303" r:id="rId60"/>
    <p:sldId id="304" r:id="rId61"/>
    <p:sldId id="371" r:id="rId62"/>
    <p:sldId id="372" r:id="rId63"/>
    <p:sldId id="374" r:id="rId64"/>
    <p:sldId id="373" r:id="rId65"/>
    <p:sldId id="305" r:id="rId66"/>
    <p:sldId id="376" r:id="rId67"/>
    <p:sldId id="377" r:id="rId68"/>
    <p:sldId id="306" r:id="rId69"/>
    <p:sldId id="378" r:id="rId70"/>
    <p:sldId id="379" r:id="rId71"/>
    <p:sldId id="380" r:id="rId72"/>
    <p:sldId id="307" r:id="rId73"/>
    <p:sldId id="381" r:id="rId74"/>
    <p:sldId id="382" r:id="rId75"/>
    <p:sldId id="383" r:id="rId76"/>
    <p:sldId id="384" r:id="rId77"/>
    <p:sldId id="385" r:id="rId78"/>
    <p:sldId id="386" r:id="rId79"/>
    <p:sldId id="387" r:id="rId80"/>
    <p:sldId id="388" r:id="rId81"/>
    <p:sldId id="389" r:id="rId82"/>
    <p:sldId id="309" r:id="rId83"/>
    <p:sldId id="310" r:id="rId84"/>
    <p:sldId id="311" r:id="rId85"/>
    <p:sldId id="390" r:id="rId86"/>
    <p:sldId id="312" r:id="rId87"/>
    <p:sldId id="391" r:id="rId88"/>
    <p:sldId id="392" r:id="rId89"/>
    <p:sldId id="393" r:id="rId90"/>
    <p:sldId id="394" r:id="rId91"/>
    <p:sldId id="395" r:id="rId92"/>
    <p:sldId id="396" r:id="rId93"/>
    <p:sldId id="397" r:id="rId94"/>
    <p:sldId id="398" r:id="rId95"/>
    <p:sldId id="314" r:id="rId96"/>
    <p:sldId id="399" r:id="rId97"/>
    <p:sldId id="400" r:id="rId98"/>
    <p:sldId id="401" r:id="rId99"/>
    <p:sldId id="315" r:id="rId100"/>
    <p:sldId id="402" r:id="rId101"/>
    <p:sldId id="403" r:id="rId102"/>
    <p:sldId id="404" r:id="rId103"/>
    <p:sldId id="405" r:id="rId104"/>
    <p:sldId id="316" r:id="rId105"/>
    <p:sldId id="406" r:id="rId106"/>
    <p:sldId id="408" r:id="rId107"/>
    <p:sldId id="409" r:id="rId108"/>
    <p:sldId id="410" r:id="rId109"/>
    <p:sldId id="411" r:id="rId110"/>
    <p:sldId id="412" r:id="rId111"/>
    <p:sldId id="413" r:id="rId112"/>
    <p:sldId id="317" r:id="rId113"/>
    <p:sldId id="414" r:id="rId114"/>
    <p:sldId id="415" r:id="rId115"/>
    <p:sldId id="416" r:id="rId116"/>
    <p:sldId id="319" r:id="rId117"/>
    <p:sldId id="421" r:id="rId118"/>
    <p:sldId id="320" r:id="rId119"/>
    <p:sldId id="422" r:id="rId120"/>
    <p:sldId id="321" r:id="rId121"/>
    <p:sldId id="291" r:id="rId122"/>
    <p:sldId id="423" r:id="rId123"/>
    <p:sldId id="424" r:id="rId124"/>
    <p:sldId id="425" r:id="rId125"/>
    <p:sldId id="426" r:id="rId126"/>
    <p:sldId id="428" r:id="rId127"/>
    <p:sldId id="429" r:id="rId128"/>
    <p:sldId id="430" r:id="rId129"/>
    <p:sldId id="323" r:id="rId13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0919" autoAdjust="0"/>
  </p:normalViewPr>
  <p:slideViewPr>
    <p:cSldViewPr>
      <p:cViewPr varScale="1">
        <p:scale>
          <a:sx n="84" d="100"/>
          <a:sy n="84" d="100"/>
        </p:scale>
        <p:origin x="141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7/18/2016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to introduce the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144754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noProof="0" dirty="0" smtClean="0"/>
              <a:t>Session introduction</a:t>
            </a:r>
          </a:p>
          <a:p>
            <a:pPr>
              <a:buFont typeface="Arial" pitchFamily="34" charset="0"/>
              <a:buChar char="•"/>
            </a:pPr>
            <a:r>
              <a:rPr lang="en-US" noProof="0" dirty="0" smtClean="0"/>
              <a:t>Trainer to greet the trainees and introduce himself or herself</a:t>
            </a:r>
          </a:p>
          <a:p>
            <a:pPr>
              <a:buFont typeface="Arial" pitchFamily="34" charset="0"/>
              <a:buChar char="•"/>
            </a:pPr>
            <a:r>
              <a:rPr lang="en-US" noProof="0" dirty="0" smtClean="0"/>
              <a:t>Explain the unit is looking at the skills and knowledge required to consult with relevant stakeholders to determine and prepare plans that will provide tourism opportunities mutually acceptable to the local communities, authorities and the business operator</a:t>
            </a:r>
          </a:p>
          <a:p>
            <a:pPr>
              <a:buFont typeface="Arial" pitchFamily="34" charset="0"/>
              <a:buChar char="•"/>
            </a:pPr>
            <a:r>
              <a:rPr lang="en-US" noProof="0" dirty="0" smtClean="0"/>
              <a:t>Explain to the trainees they are expected to actively participate in the learning process : from giving examples to complete research and participate during class work and activities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341924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678774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list all elements, explain to the trainees some topics, contents will be common to a few elements. The trainer should also explain that the process involves on going communication and feedback solicitation from the local communities and all other identified stakeholders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098228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994551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the importance of following those steps in the correct order and explain that the communication process will be key to numerous steps to follow when assessing and planning tourism opportunities for local communities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989615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the importance of identifying all stakeholders, explain that some of the stakeholders will have more say in the process than others , some will have their lives changed by any tourism development</a:t>
            </a:r>
          </a:p>
          <a:p>
            <a:r>
              <a:rPr lang="en-US" baseline="0" dirty="0" smtClean="0"/>
              <a:t>Trainer to list stakeholders </a:t>
            </a:r>
          </a:p>
          <a:p>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212567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some of the stakeholders will have more say in the process than others , some will have their lives changed by any tourism development</a:t>
            </a:r>
          </a:p>
          <a:p>
            <a:r>
              <a:rPr lang="en-US" baseline="0" dirty="0" smtClean="0"/>
              <a:t>Trainer to list stakeholders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703758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some of the stakeholders will have more say in the process than others , some will have their lives changed by any tourism development</a:t>
            </a:r>
          </a:p>
          <a:p>
            <a:r>
              <a:rPr lang="en-US" baseline="0" dirty="0" smtClean="0"/>
              <a:t>Trainer to list stakeholders </a:t>
            </a:r>
          </a:p>
          <a:p>
            <a:r>
              <a:rPr lang="en-US" b="1" baseline="0" dirty="0" smtClean="0"/>
              <a:t>Class activity</a:t>
            </a:r>
          </a:p>
          <a:p>
            <a:r>
              <a:rPr lang="en-US" b="0" baseline="0" dirty="0" smtClean="0"/>
              <a:t>Trainer and trainees to brainstorm which stakeholders will have more importance than others and why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098279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some of the stakeholders will have more say in the process than others , some will have their lives changed by any tourism development</a:t>
            </a:r>
          </a:p>
          <a:p>
            <a:r>
              <a:rPr lang="en-US" baseline="0" dirty="0" smtClean="0"/>
              <a:t>Trainer to list stakeholders </a:t>
            </a:r>
          </a:p>
          <a:p>
            <a:r>
              <a:rPr lang="en-US" b="1" baseline="0" dirty="0" smtClean="0"/>
              <a:t>Class activity</a:t>
            </a:r>
          </a:p>
          <a:p>
            <a:r>
              <a:rPr lang="en-US" b="0" baseline="0" dirty="0" smtClean="0"/>
              <a:t>Trainer to ask trainees to give examples of local groups such as sports groups, salvation army etc..</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760345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some of the stakeholders will have more say in the process than others , some will have their lives changed by any tourism development</a:t>
            </a:r>
          </a:p>
          <a:p>
            <a:r>
              <a:rPr lang="en-US" baseline="0" dirty="0" smtClean="0"/>
              <a:t>Trainer to list stakeholders </a:t>
            </a:r>
          </a:p>
          <a:p>
            <a:r>
              <a:rPr lang="en-US" b="1" baseline="0" dirty="0" smtClean="0"/>
              <a:t>Class activity</a:t>
            </a:r>
          </a:p>
          <a:p>
            <a:r>
              <a:rPr lang="en-US" b="0" baseline="0" dirty="0" smtClean="0"/>
              <a:t>Trainer and trainees to identify stakeholders of local communities relevant to their region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127793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some of the stakeholders will have more say in the process than others , some will have their lives changed by any tourism development</a:t>
            </a:r>
          </a:p>
          <a:p>
            <a:r>
              <a:rPr lang="en-US" baseline="0" dirty="0" smtClean="0"/>
              <a:t>Trainer to list stakeholders </a:t>
            </a:r>
          </a:p>
          <a:p>
            <a:r>
              <a:rPr lang="en-US" b="1" baseline="0" dirty="0" smtClean="0"/>
              <a:t>Class activity</a:t>
            </a:r>
          </a:p>
          <a:p>
            <a:r>
              <a:rPr lang="en-US" b="0" baseline="0" dirty="0" smtClean="0"/>
              <a:t>Trainer and trainees to identify local examples of local authorities relevant to their region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659423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baseline="0" dirty="0" smtClean="0"/>
              <a:t>Class activity</a:t>
            </a:r>
          </a:p>
          <a:p>
            <a:r>
              <a:rPr lang="en-US" b="0" baseline="0" dirty="0" smtClean="0"/>
              <a:t>Referring to the 3 points on the slide, trainer to slip the trainees into 3 group. Each group to be allocated one of the 3 stakeholders and find out local (city, town, regional) information on such as </a:t>
            </a:r>
          </a:p>
          <a:p>
            <a:pPr marL="171450" indent="-171450">
              <a:buFont typeface="Arial" panose="020B0604020202020204" pitchFamily="34" charset="0"/>
              <a:buChar char="•"/>
            </a:pPr>
            <a:r>
              <a:rPr lang="en-US" b="0" baseline="0" dirty="0" smtClean="0"/>
              <a:t>Name</a:t>
            </a:r>
          </a:p>
          <a:p>
            <a:pPr marL="171450" indent="-171450">
              <a:buFont typeface="Arial" panose="020B0604020202020204" pitchFamily="34" charset="0"/>
              <a:buChar char="•"/>
            </a:pPr>
            <a:r>
              <a:rPr lang="en-US" b="0" baseline="0" dirty="0" smtClean="0"/>
              <a:t>Location</a:t>
            </a:r>
          </a:p>
          <a:p>
            <a:pPr marL="171450" indent="-171450">
              <a:buFont typeface="Arial" panose="020B0604020202020204" pitchFamily="34" charset="0"/>
              <a:buChar char="•"/>
            </a:pPr>
            <a:r>
              <a:rPr lang="en-US" b="0" baseline="0" dirty="0" smtClean="0"/>
              <a:t>Number of members</a:t>
            </a:r>
          </a:p>
          <a:p>
            <a:pPr marL="171450" indent="-171450">
              <a:buFont typeface="Arial" panose="020B0604020202020204" pitchFamily="34" charset="0"/>
              <a:buChar char="•"/>
            </a:pPr>
            <a:r>
              <a:rPr lang="en-US" b="0" baseline="0" dirty="0" smtClean="0"/>
              <a:t>Precise role and influence within the local communities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677797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clearly stress the importance of determining which communication medium will be effective for which type of stakeholders.</a:t>
            </a:r>
          </a:p>
          <a:p>
            <a:r>
              <a:rPr lang="en-US" baseline="0" dirty="0" smtClean="0"/>
              <a:t>For example : government authorities are familiar with electronic communication whether some local regional communities will respond better to face to face, more personalised dialogue   </a:t>
            </a:r>
          </a:p>
          <a:p>
            <a:r>
              <a:rPr lang="en-US" b="1" baseline="0" dirty="0" smtClean="0"/>
              <a:t>Class activity</a:t>
            </a:r>
          </a:p>
          <a:p>
            <a:r>
              <a:rPr lang="en-US" b="0" baseline="0" dirty="0" smtClean="0"/>
              <a:t>Trainer to organise groups of 3 or 4 trainees , allocate one of the stakeholders to each group and one of local regional communities</a:t>
            </a:r>
          </a:p>
          <a:p>
            <a:r>
              <a:rPr lang="en-US" b="0" baseline="0" dirty="0" smtClean="0"/>
              <a:t>Trainees to research which communication medium they think would be preferred, explained why and share findings with the class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570047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the importance of the points on the slide and remind the trainees about the importance of clear and honest communication to ensure the success of the plan.</a:t>
            </a:r>
          </a:p>
          <a:p>
            <a:r>
              <a:rPr lang="en-US" baseline="0" dirty="0" smtClean="0"/>
              <a:t>Trainer to contextualise the point to the country, region, city or town and give precise example of what is considered as timely manner and lead time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8773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After going through the 3 points, trainer to explain their importance : </a:t>
            </a:r>
          </a:p>
          <a:p>
            <a:r>
              <a:rPr lang="en-US" baseline="0" dirty="0" smtClean="0"/>
              <a:t>Neutral location : all stakeholders must feel safe to express their opinion (they might not if the meeting takes place at one of the stakeholders headquarters such as the office of the host organisation)</a:t>
            </a:r>
          </a:p>
          <a:p>
            <a:r>
              <a:rPr lang="en-US" baseline="0" dirty="0" smtClean="0"/>
              <a:t>Easy to access : if too far to go, some stakeholders might not want to make the effort to go</a:t>
            </a:r>
          </a:p>
          <a:p>
            <a:r>
              <a:rPr lang="en-US" baseline="0" dirty="0" smtClean="0"/>
              <a:t>Convenient time : this means a time when most stakeholders are available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087641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the 3 points are the stepping stones to the beginning of the consultation process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035127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go through the points and emphasize that they are </a:t>
            </a:r>
            <a:r>
              <a:rPr lang="en-US" b="1" baseline="0" dirty="0" smtClean="0"/>
              <a:t>potential</a:t>
            </a:r>
            <a:r>
              <a:rPr lang="en-US" baseline="0" dirty="0" smtClean="0"/>
              <a:t> advantages as we are at the very beginning of the process, that some of the points might apply, some might not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923300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stress the potential disadvantages in the same way as the potential advantages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570187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clarify the significance of seeking advice from the local communities as they have an inside knowledge and understanding of the present local ‘landscape’, how things are etc..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007109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explain that, as this is the first step, it is paramount to provide information about the potential tourism opportunities that is </a:t>
            </a:r>
          </a:p>
          <a:p>
            <a:pPr marL="171450" indent="-171450">
              <a:buFont typeface="Arial" panose="020B0604020202020204" pitchFamily="34" charset="0"/>
              <a:buChar char="•"/>
            </a:pPr>
            <a:r>
              <a:rPr lang="en-US" baseline="0" dirty="0" smtClean="0"/>
              <a:t>Recent</a:t>
            </a:r>
          </a:p>
          <a:p>
            <a:pPr marL="171450" indent="-171450">
              <a:buFont typeface="Arial" panose="020B0604020202020204" pitchFamily="34" charset="0"/>
              <a:buChar char="•"/>
            </a:pPr>
            <a:r>
              <a:rPr lang="en-US" baseline="0" dirty="0" smtClean="0"/>
              <a:t>Thorough</a:t>
            </a:r>
          </a:p>
          <a:p>
            <a:pPr marL="171450" indent="-171450">
              <a:buFont typeface="Arial" panose="020B0604020202020204" pitchFamily="34" charset="0"/>
              <a:buChar char="•"/>
            </a:pPr>
            <a:r>
              <a:rPr lang="en-US" baseline="0" dirty="0" smtClean="0"/>
              <a:t>Clear </a:t>
            </a:r>
          </a:p>
          <a:p>
            <a:pPr marL="171450" indent="-171450">
              <a:buFont typeface="Arial" panose="020B0604020202020204" pitchFamily="34" charset="0"/>
              <a:buChar char="•"/>
            </a:pPr>
            <a:r>
              <a:rPr lang="en-US" baseline="0" dirty="0" smtClean="0"/>
              <a:t>Factual</a:t>
            </a:r>
          </a:p>
          <a:p>
            <a:pPr marL="171450" indent="-171450">
              <a:buFont typeface="Arial" panose="020B0604020202020204" pitchFamily="34" charset="0"/>
              <a:buChar char="•"/>
            </a:pPr>
            <a:r>
              <a:rPr lang="en-US" baseline="0" dirty="0" smtClean="0"/>
              <a:t>Easy to understand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8154773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Trainer to go through the points on the slide, explaining the importance of recording all the information gathered from all contributors in order to move forward.</a:t>
            </a:r>
          </a:p>
          <a:p>
            <a:r>
              <a:rPr lang="en-US" b="1" baseline="0" dirty="0" smtClean="0"/>
              <a:t>Class activity</a:t>
            </a:r>
            <a:r>
              <a:rPr lang="en-US" b="0" baseline="0" dirty="0" smtClean="0"/>
              <a:t> : trainer and trainees to brainstorm all potential means of data recording available nowadays</a:t>
            </a: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285481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to introduce this next step and explain the variations possible as listed above</a:t>
            </a:r>
          </a:p>
          <a:p>
            <a:pPr>
              <a:buFont typeface="Arial" pitchFamily="34" charset="0"/>
              <a:buNone/>
            </a:pPr>
            <a:r>
              <a:rPr lang="en-AU" noProof="0" dirty="0" smtClean="0"/>
              <a:t>Trainer to contextualise examples according to the country, region the training is taking place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0192693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to explain the next point is about possible tourism opportunities and illustrate the retailing and tour operations chain with </a:t>
            </a:r>
          </a:p>
          <a:p>
            <a:pPr marL="171450" indent="-171450">
              <a:buFont typeface="Arial" pitchFamily="34" charset="0"/>
              <a:buChar char="•"/>
            </a:pPr>
            <a:r>
              <a:rPr lang="en-AU" noProof="0" dirty="0" smtClean="0"/>
              <a:t>the information on the slide</a:t>
            </a:r>
          </a:p>
          <a:p>
            <a:pPr marL="171450" indent="-171450">
              <a:buFont typeface="Arial" pitchFamily="34" charset="0"/>
              <a:buChar char="•"/>
            </a:pPr>
            <a:r>
              <a:rPr lang="en-AU" noProof="0" dirty="0" smtClean="0"/>
              <a:t>The local, regional information at hand : local travel agent, wholesaler site etc..</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084027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The next potential opportunity is about accommodation development</a:t>
            </a:r>
          </a:p>
          <a:p>
            <a:pPr>
              <a:buFont typeface="Arial" pitchFamily="34" charset="0"/>
              <a:buNone/>
            </a:pPr>
            <a:r>
              <a:rPr lang="en-AU" b="1" noProof="0" dirty="0" smtClean="0"/>
              <a:t>Class activity </a:t>
            </a:r>
            <a:r>
              <a:rPr lang="en-AU" noProof="0" dirty="0" smtClean="0"/>
              <a:t>: </a:t>
            </a:r>
            <a:r>
              <a:rPr lang="en-AU" b="1" noProof="0" dirty="0" smtClean="0"/>
              <a:t>internet research</a:t>
            </a:r>
          </a:p>
          <a:p>
            <a:pPr>
              <a:buFont typeface="Arial" pitchFamily="34" charset="0"/>
              <a:buNone/>
            </a:pPr>
            <a:r>
              <a:rPr lang="en-AU" noProof="0" dirty="0" smtClean="0"/>
              <a:t>After going through the points on the slide, trainer to ask the trainees to </a:t>
            </a:r>
          </a:p>
          <a:p>
            <a:pPr marL="171450" indent="-171450">
              <a:buFont typeface="Arial" pitchFamily="34" charset="0"/>
              <a:buChar char="•"/>
            </a:pPr>
            <a:r>
              <a:rPr lang="en-AU" noProof="0" dirty="0" smtClean="0"/>
              <a:t>Complete some internet research </a:t>
            </a:r>
          </a:p>
          <a:p>
            <a:pPr marL="171450" indent="-171450">
              <a:buFont typeface="Arial" pitchFamily="34" charset="0"/>
              <a:buChar char="•"/>
            </a:pPr>
            <a:r>
              <a:rPr lang="en-AU" noProof="0" dirty="0" smtClean="0"/>
              <a:t>Choose, in their opinion, which accommodation development would present a possible tourism opportunities for their local communities and explain why. Findings to be shared and discussed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716496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to explain this step need to be handled with tact and diplomacy with the local communities, so they do not perceive it as an outsider telling them what to do but as an opportunity to consult with an organisation with the latest market needs information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483376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to remind trainees people are the lifeblood of the tourism industry and tourism opportunities might include direct communities involvement such as  the points listed on the slide and the next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775442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noProof="0" dirty="0" smtClean="0"/>
              <a:t>Class activity </a:t>
            </a:r>
            <a:r>
              <a:rPr lang="en-AU" noProof="0" dirty="0" smtClean="0"/>
              <a:t>: after sharing the information and example on the slide with the trainees, trainer to brainstorm with the trainees training opportunities that may  apply to their own local communities in regards to tourism opportunities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538815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to introduce how to identify research needs by  starting with the present community tourism business</a:t>
            </a:r>
          </a:p>
          <a:p>
            <a:pPr>
              <a:buFont typeface="Arial" pitchFamily="34" charset="0"/>
              <a:buNone/>
            </a:pPr>
            <a:r>
              <a:rPr lang="en-AU" noProof="0" dirty="0" smtClean="0"/>
              <a:t>After going through the points on the slide, trainer to give trainees local examples relevant to their own city, town and or region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74395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cover the 7 points on the 2 slides and explain that the information gathered as a result of the research is crucial to inform the assessment and choice of tourism opportunities relevant to the chosen local communities,</a:t>
            </a:r>
          </a:p>
          <a:p>
            <a:pPr>
              <a:buFont typeface="Arial" pitchFamily="34" charset="0"/>
              <a:buNone/>
            </a:pPr>
            <a:r>
              <a:rPr lang="en-US" noProof="0" dirty="0" smtClean="0"/>
              <a:t>Trainer to clearly explain each point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6172856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noProof="0" dirty="0" smtClean="0"/>
              <a:t>Class activity: </a:t>
            </a:r>
          </a:p>
          <a:p>
            <a:pPr>
              <a:buFont typeface="Arial" pitchFamily="34" charset="0"/>
              <a:buNone/>
            </a:pPr>
            <a:r>
              <a:rPr lang="en-US" b="0" noProof="0" dirty="0" smtClean="0"/>
              <a:t>Trainer to </a:t>
            </a:r>
          </a:p>
          <a:p>
            <a:pPr>
              <a:buFont typeface="Arial" pitchFamily="34" charset="0"/>
              <a:buChar char="•"/>
            </a:pPr>
            <a:r>
              <a:rPr lang="en-US" b="0" noProof="0" dirty="0" smtClean="0"/>
              <a:t>Choose a couple of local communities relevant to the country, region, city where the training is taking place</a:t>
            </a:r>
          </a:p>
          <a:p>
            <a:pPr>
              <a:buFont typeface="Arial" pitchFamily="34" charset="0"/>
              <a:buChar char="•"/>
            </a:pPr>
            <a:r>
              <a:rPr lang="en-US" b="0" noProof="0" dirty="0" smtClean="0"/>
              <a:t>Divide the class in 7 groups, each group to be allocated one local community and research information to illustrate one of the 7 topics</a:t>
            </a:r>
          </a:p>
          <a:p>
            <a:pPr>
              <a:buFont typeface="Arial" pitchFamily="34" charset="0"/>
              <a:buChar char="•"/>
            </a:pPr>
            <a:r>
              <a:rPr lang="en-US" b="0" noProof="0" dirty="0" smtClean="0"/>
              <a:t>Findings to be shared with the rest of the class</a:t>
            </a:r>
          </a:p>
          <a:p>
            <a:pPr>
              <a:buFont typeface="Arial" pitchFamily="34" charset="0"/>
              <a:buChar char="•"/>
            </a:pPr>
            <a:r>
              <a:rPr lang="en-US" b="0" noProof="0" dirty="0" smtClean="0"/>
              <a:t>Benefits of the research findings to be discussed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6846576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the meaning of integration : incorporation of the existing framework. This will enable the host community to take advantage of any existing  tourism plan, and/or local government plan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688374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emphasize the importance of taking into account for the host organisation assessing and planning the tourism  opportunities  </a:t>
            </a:r>
          </a:p>
          <a:p>
            <a:pPr>
              <a:buFont typeface="Arial" pitchFamily="34" charset="0"/>
              <a:buNone/>
            </a:pPr>
            <a:r>
              <a:rPr lang="en-US" noProof="0" dirty="0" smtClean="0"/>
              <a:t>Own operation </a:t>
            </a:r>
          </a:p>
          <a:p>
            <a:pPr>
              <a:buFont typeface="Arial" pitchFamily="34" charset="0"/>
              <a:buNone/>
            </a:pPr>
            <a:r>
              <a:rPr lang="en-US" noProof="0" dirty="0" smtClean="0"/>
              <a:t>Own existing business plans </a:t>
            </a:r>
          </a:p>
          <a:p>
            <a:pPr>
              <a:buFont typeface="Arial" pitchFamily="34" charset="0"/>
              <a:buNone/>
            </a:pPr>
            <a:r>
              <a:rPr lang="en-US" noProof="0" dirty="0" smtClean="0"/>
              <a:t>Own existing other projects and research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1445913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The next step in the research needs identification stage is to work out project management considerations taking into account all concerned parties as illustrated in the next slides.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41942667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to trainees that an important consideration into drafting any plan is to get a consensus on which sources of research will be used and there are a range of option available such as </a:t>
            </a:r>
          </a:p>
          <a:p>
            <a:pPr>
              <a:buFont typeface="Arial" pitchFamily="34" charset="0"/>
              <a:buChar char="•"/>
            </a:pPr>
            <a:r>
              <a:rPr lang="en-US" noProof="0" dirty="0" smtClean="0"/>
              <a:t>Consultation and meetings (trainer can also refer to how to hold those meetings as previously covered)  </a:t>
            </a:r>
          </a:p>
          <a:p>
            <a:pPr>
              <a:buFont typeface="Arial" pitchFamily="34" charset="0"/>
              <a:buChar char="•"/>
            </a:pPr>
            <a:r>
              <a:rPr lang="en-US" noProof="0" dirty="0" smtClean="0"/>
              <a:t>Soliciting feedback : soliciting  feedback involves being proactive and putting in place strategies to approach stakeholders in order to gain the feedback  </a:t>
            </a:r>
          </a:p>
          <a:p>
            <a:pPr>
              <a:buFont typeface="Arial" pitchFamily="34" charset="0"/>
              <a:buChar char="•"/>
            </a:pPr>
            <a:r>
              <a:rPr lang="en-US" noProof="0" dirty="0" smtClean="0"/>
              <a:t>Depending on the average local community age and socio economic status, competition will be a valid research tool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6470958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In regards to generating public discussion, trainer to go through points listed on the slide and organise the following </a:t>
            </a:r>
          </a:p>
          <a:p>
            <a:pPr>
              <a:buFont typeface="Arial" pitchFamily="34" charset="0"/>
              <a:buNone/>
            </a:pPr>
            <a:r>
              <a:rPr lang="en-US" b="1" noProof="0" dirty="0" smtClean="0"/>
              <a:t>Class debate </a:t>
            </a:r>
          </a:p>
          <a:p>
            <a:pPr>
              <a:buFont typeface="Arial" pitchFamily="34" charset="0"/>
              <a:buNone/>
            </a:pPr>
            <a:r>
              <a:rPr lang="en-US" b="0" noProof="0" dirty="0" smtClean="0"/>
              <a:t>Trainer to divide the class into 4 groups and allocate one point to a group. </a:t>
            </a:r>
          </a:p>
          <a:p>
            <a:pPr>
              <a:buFont typeface="Arial" pitchFamily="34" charset="0"/>
              <a:buNone/>
            </a:pPr>
            <a:r>
              <a:rPr lang="en-US" b="0" noProof="0" dirty="0" smtClean="0"/>
              <a:t>Group to </a:t>
            </a:r>
          </a:p>
          <a:p>
            <a:pPr>
              <a:buFont typeface="Arial" pitchFamily="34" charset="0"/>
              <a:buNone/>
            </a:pPr>
            <a:r>
              <a:rPr lang="en-US" b="0" noProof="0" dirty="0" smtClean="0"/>
              <a:t>Present the allocated point</a:t>
            </a:r>
          </a:p>
          <a:p>
            <a:pPr>
              <a:buFont typeface="Arial" pitchFamily="34" charset="0"/>
              <a:buNone/>
            </a:pPr>
            <a:r>
              <a:rPr lang="en-US" b="0" noProof="0" dirty="0" smtClean="0"/>
              <a:t>Prepare a strong argument why it should be selected as a source of research</a:t>
            </a:r>
          </a:p>
          <a:p>
            <a:pPr>
              <a:buFont typeface="Arial" pitchFamily="34" charset="0"/>
              <a:buNone/>
            </a:pPr>
            <a:r>
              <a:rPr lang="en-US" b="0" noProof="0" dirty="0" smtClean="0"/>
              <a:t>Trainer and trainees to discuss the findings and the merits of each of the points, when and how they should be used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2821572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emphasis the importance of knowing and understanding the local people/community history in relation to all tourism matters such as their tourism development stage. This can be achieved by</a:t>
            </a:r>
          </a:p>
          <a:p>
            <a:pPr>
              <a:buFont typeface="Arial" pitchFamily="34" charset="0"/>
              <a:buChar char="•"/>
            </a:pPr>
            <a:r>
              <a:rPr lang="en-US" noProof="0" dirty="0" smtClean="0"/>
              <a:t>Internet research</a:t>
            </a:r>
          </a:p>
          <a:p>
            <a:pPr>
              <a:buFont typeface="Arial" pitchFamily="34" charset="0"/>
              <a:buChar char="•"/>
            </a:pPr>
            <a:r>
              <a:rPr lang="en-US" noProof="0" dirty="0" smtClean="0"/>
              <a:t>Face to face contact, meetings, consultation by talking to selected active community members </a:t>
            </a:r>
          </a:p>
          <a:p>
            <a:pPr>
              <a:buFont typeface="Arial" pitchFamily="34" charset="0"/>
              <a:buNone/>
            </a:pPr>
            <a:r>
              <a:rPr lang="en-US" b="1" noProof="0" dirty="0" smtClean="0"/>
              <a:t>Class activity  </a:t>
            </a:r>
          </a:p>
          <a:p>
            <a:pPr>
              <a:buFont typeface="Arial" pitchFamily="34" charset="0"/>
              <a:buNone/>
            </a:pPr>
            <a:r>
              <a:rPr lang="en-US" b="0" noProof="0" dirty="0" smtClean="0"/>
              <a:t>Trainees to come up with examples of local key personnel who, in their opinion, would be familiar with any previous and or ongoing tourism venture, initiative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2810923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trainees that any plan must follow some specific parameters and that </a:t>
            </a:r>
          </a:p>
          <a:p>
            <a:pPr>
              <a:buFont typeface="Arial" pitchFamily="34" charset="0"/>
              <a:buChar char="•"/>
            </a:pPr>
            <a:r>
              <a:rPr lang="en-US" noProof="0" dirty="0" smtClean="0"/>
              <a:t>Realistic timelines </a:t>
            </a:r>
          </a:p>
          <a:p>
            <a:pPr>
              <a:buFont typeface="Arial" pitchFamily="34" charset="0"/>
              <a:buChar char="•"/>
            </a:pPr>
            <a:r>
              <a:rPr lang="en-US" noProof="0" dirty="0" smtClean="0"/>
              <a:t>Professionally written plans are a must to ensure the success of the initiative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5236221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the points on the slide are part of effective project management and need to completed in the correct order and that realistic timelines ensure that there is enough time to </a:t>
            </a:r>
          </a:p>
          <a:p>
            <a:pPr>
              <a:buFont typeface="Arial" pitchFamily="34" charset="0"/>
              <a:buNone/>
            </a:pPr>
            <a:r>
              <a:rPr lang="en-US" noProof="0" dirty="0" smtClean="0"/>
              <a:t>Research and collect the information</a:t>
            </a:r>
          </a:p>
          <a:p>
            <a:pPr>
              <a:buFont typeface="Arial" pitchFamily="34" charset="0"/>
              <a:buNone/>
            </a:pPr>
            <a:r>
              <a:rPr lang="en-US" noProof="0" dirty="0" smtClean="0"/>
              <a:t>Interpret it in regards to the potential tourisms opportunities identified</a:t>
            </a:r>
          </a:p>
          <a:p>
            <a:pPr>
              <a:buFont typeface="Arial" pitchFamily="34" charset="0"/>
              <a:buNone/>
            </a:pPr>
            <a:r>
              <a:rPr lang="en-US" noProof="0" dirty="0" smtClean="0"/>
              <a:t>Prepare the draft plans</a:t>
            </a:r>
          </a:p>
          <a:p>
            <a:pPr>
              <a:buFont typeface="Arial" pitchFamily="34" charset="0"/>
              <a:buNone/>
            </a:pPr>
            <a:r>
              <a:rPr lang="en-US" noProof="0" dirty="0" smtClean="0"/>
              <a:t>Present the draft plans to all concerned stakeholders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8897932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Following onto to the previous slide, trainer to again emphasis the importance of clarity in the process and making sure all concerned parties know</a:t>
            </a:r>
          </a:p>
          <a:p>
            <a:pPr>
              <a:buFont typeface="Arial" pitchFamily="34" charset="0"/>
              <a:buChar char="•"/>
            </a:pPr>
            <a:r>
              <a:rPr lang="en-US" noProof="0" dirty="0" smtClean="0"/>
              <a:t>Who does what</a:t>
            </a:r>
          </a:p>
          <a:p>
            <a:pPr>
              <a:buFont typeface="Arial" pitchFamily="34" charset="0"/>
              <a:buChar char="•"/>
            </a:pPr>
            <a:r>
              <a:rPr lang="en-US" noProof="0" dirty="0" smtClean="0"/>
              <a:t>What resources (financial, human) are available to use</a:t>
            </a:r>
          </a:p>
          <a:p>
            <a:pPr>
              <a:buFont typeface="Arial" pitchFamily="34" charset="0"/>
              <a:buChar char="•"/>
            </a:pPr>
            <a:r>
              <a:rPr lang="en-US" noProof="0" dirty="0" smtClean="0"/>
              <a:t>The</a:t>
            </a:r>
            <a:r>
              <a:rPr lang="en-US" baseline="0" noProof="0" dirty="0" smtClean="0"/>
              <a:t> last point can be considered as instrumental to the success of the plan as it deals with the importance of the people involved in the research and how it is highly recommended they are experienced and trustworthy so the process, its findings are not distorted to suit specific interest/s</a:t>
            </a: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932203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To conclude this criteria, trainer to remind trainees that , all parties - the chosen local communities and stakeholders - need to agree on the aim of the research to ensure the success of the initiative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6720759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Research on general tourism data and trends need to be conducted to better inform all stakeholders and provide a broader ‘picture’ and various research mediums can be used such as listed on this slide and the next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6827213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noProof="0" dirty="0" smtClean="0"/>
              <a:t>Class activity:</a:t>
            </a:r>
            <a:r>
              <a:rPr lang="en-US" b="0" noProof="0" dirty="0" smtClean="0"/>
              <a:t> trainer and trainees to research and identify free to use data sources in the county, region, city where the training is taking place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8253873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through the points listed and explain that the researchers have all those sources at their disposal and need to be choose which ones will provide them with the most accurate, up to date and useful information  . This will depend on the type of opportunity considered : simple increase in the visitors numbers for a national park to developing a new tourism venture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7022456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after the collection of secondary data just covered, the next 5 slides cover generic, important information about </a:t>
            </a:r>
          </a:p>
          <a:p>
            <a:pPr>
              <a:buFont typeface="Arial" pitchFamily="34" charset="0"/>
              <a:buChar char="•"/>
            </a:pPr>
            <a:r>
              <a:rPr lang="en-US" noProof="0" dirty="0" smtClean="0"/>
              <a:t>Primary data </a:t>
            </a:r>
          </a:p>
          <a:p>
            <a:pPr>
              <a:buFont typeface="Arial" pitchFamily="34" charset="0"/>
              <a:buChar char="•"/>
            </a:pPr>
            <a:r>
              <a:rPr lang="en-US" noProof="0" dirty="0" smtClean="0"/>
              <a:t>Qualitative data</a:t>
            </a:r>
          </a:p>
          <a:p>
            <a:pPr>
              <a:buFont typeface="Arial" pitchFamily="34" charset="0"/>
              <a:buChar char="•"/>
            </a:pPr>
            <a:r>
              <a:rPr lang="en-US" noProof="0" dirty="0" smtClean="0"/>
              <a:t>Quantitative data</a:t>
            </a:r>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9997877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through points on slide and explain their importance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8609640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through points on slide and explain their importance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5061085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through points on slide and explain their importance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4027409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go through points on slide and explain their importance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6811317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noProof="0" dirty="0" smtClean="0"/>
              <a:t>Class discussion : </a:t>
            </a:r>
            <a:r>
              <a:rPr lang="en-US" b="0" noProof="0" dirty="0" smtClean="0"/>
              <a:t>trainer to provide trainees with various relevant tourism websites to country where the training is being delivered</a:t>
            </a:r>
          </a:p>
          <a:p>
            <a:pPr>
              <a:buFont typeface="Arial" pitchFamily="34" charset="0"/>
              <a:buNone/>
            </a:pPr>
            <a:r>
              <a:rPr lang="en-US" b="0" noProof="0" dirty="0" smtClean="0"/>
              <a:t>Trainees to indicate which type of  data the websites cover : primary, secondary, qualitative, quantitative </a:t>
            </a:r>
            <a:endParaRPr lang="en-US" b="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7016356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The final step in researching local tourism opportunities covers specific research on the local area and local communities.</a:t>
            </a:r>
          </a:p>
          <a:p>
            <a:pPr>
              <a:buFont typeface="Arial" pitchFamily="34" charset="0"/>
              <a:buNone/>
            </a:pPr>
            <a:r>
              <a:rPr lang="en-US" noProof="0" dirty="0" smtClean="0"/>
              <a:t>Trainer to point out the 3 steps to follow in the correct order to ensure the best outcome possible for all concerned stakeholders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0166466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expand on the importance of precise local data such as </a:t>
            </a:r>
          </a:p>
          <a:p>
            <a:pPr>
              <a:buFont typeface="Arial" pitchFamily="34" charset="0"/>
              <a:buChar char="•"/>
            </a:pPr>
            <a:r>
              <a:rPr lang="en-US" noProof="0" dirty="0" smtClean="0"/>
              <a:t>Visitors numbers</a:t>
            </a:r>
          </a:p>
          <a:p>
            <a:pPr>
              <a:buFont typeface="Arial" pitchFamily="34" charset="0"/>
              <a:buChar char="•"/>
            </a:pPr>
            <a:r>
              <a:rPr lang="en-US" noProof="0" dirty="0" smtClean="0"/>
              <a:t>Arrival numbers</a:t>
            </a:r>
          </a:p>
          <a:p>
            <a:pPr>
              <a:buFont typeface="Arial" pitchFamily="34" charset="0"/>
              <a:buChar char="•"/>
            </a:pPr>
            <a:r>
              <a:rPr lang="en-US" noProof="0" dirty="0" smtClean="0"/>
              <a:t>Spending patterns</a:t>
            </a:r>
          </a:p>
          <a:p>
            <a:pPr>
              <a:buFont typeface="Arial" pitchFamily="34" charset="0"/>
              <a:buNone/>
            </a:pPr>
            <a:r>
              <a:rPr lang="en-US" noProof="0" dirty="0" smtClean="0"/>
              <a:t>To help determining the scope of any tourism opportunity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7166626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either use the example from the workbook or his/her own to illustrate this point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8109662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The next point illustrates how to establish </a:t>
            </a:r>
          </a:p>
          <a:p>
            <a:pPr>
              <a:buFont typeface="Arial" pitchFamily="34" charset="0"/>
              <a:buChar char="•"/>
            </a:pPr>
            <a:r>
              <a:rPr lang="en-US" noProof="0" dirty="0" smtClean="0"/>
              <a:t>Which type of tourism the local community would prefer</a:t>
            </a:r>
          </a:p>
          <a:p>
            <a:pPr>
              <a:buFont typeface="Arial" pitchFamily="34" charset="0"/>
              <a:buChar char="•"/>
            </a:pPr>
            <a:r>
              <a:rPr lang="en-US" noProof="0" dirty="0" smtClean="0"/>
              <a:t>Why?</a:t>
            </a:r>
          </a:p>
          <a:p>
            <a:pPr>
              <a:buFont typeface="Arial" pitchFamily="34" charset="0"/>
              <a:buNone/>
            </a:pPr>
            <a:r>
              <a:rPr lang="en-US" b="1" noProof="0" dirty="0" smtClean="0"/>
              <a:t>Class activity : </a:t>
            </a:r>
            <a:r>
              <a:rPr lang="en-US" b="0" noProof="0" dirty="0" smtClean="0"/>
              <a:t>trainer to ask trainees to consider the town, village where they come from and consider, in their opinion, which type of tourism opportunity would be preferred and why. Trainees to share findings with rest of the class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4769157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this step is about auditing resources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6239763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clarify that this industry based audit covers all type of resources: from data bases to available financing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26794819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clarify that this community based audit covers all type of resources: from data bases to available financing to infrastructure and destination present market positioning and reputation   </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3735391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discuss the benefits of each of the 2 choices with the trainees and clarify that both method can be used depending on the how , where the research is being conducted, the availability of technology available where the research is taking place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explain that, in most cases, both methods will be used   </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867046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introduce the next element and list the criteria part of the element</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0879988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to clarify the slide and explain the importance of ‘manipulating data’ and what it involves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8730531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cover all listed aspects of data verification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0158876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trough list and explain that some points also apply to ‘manipulating data’ such as identifying trends, percentages, ratios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9455084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explain that the report production is the  research ‘final product’  and needs to</a:t>
            </a:r>
          </a:p>
          <a:p>
            <a:pPr>
              <a:buFont typeface="Arial" pitchFamily="34" charset="0"/>
              <a:buNone/>
            </a:pPr>
            <a:r>
              <a:rPr lang="en-US" noProof="0" dirty="0" smtClean="0"/>
              <a:t>Address the questions posed by the research </a:t>
            </a:r>
          </a:p>
          <a:p>
            <a:pPr>
              <a:buFont typeface="Arial" pitchFamily="34" charset="0"/>
              <a:buNone/>
            </a:pPr>
            <a:r>
              <a:rPr lang="en-US" noProof="0" dirty="0" smtClean="0"/>
              <a:t>Include a SWOT analysis</a:t>
            </a:r>
          </a:p>
          <a:p>
            <a:pPr>
              <a:buFont typeface="Arial" pitchFamily="34" charset="0"/>
              <a:buNone/>
            </a:pPr>
            <a:r>
              <a:rPr lang="en-US" noProof="0" dirty="0" smtClean="0"/>
              <a:t>include summaries of the research and recommendations for all ease of understanding for all stakeholders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1545978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In addition the report needs to also needs to include</a:t>
            </a:r>
          </a:p>
          <a:p>
            <a:pPr>
              <a:buFont typeface="Arial" pitchFamily="34" charset="0"/>
              <a:buNone/>
            </a:pPr>
            <a:r>
              <a:rPr lang="en-US" noProof="0" dirty="0" smtClean="0"/>
              <a:t>Sets of conclusions for discussion</a:t>
            </a:r>
          </a:p>
          <a:p>
            <a:pPr>
              <a:buFont typeface="Arial" pitchFamily="34" charset="0"/>
              <a:buNone/>
            </a:pPr>
            <a:r>
              <a:rPr lang="en-US" noProof="0" dirty="0" smtClean="0"/>
              <a:t>Be written in a way that is easy to understand for all stakeholders in order to move forward   </a:t>
            </a:r>
          </a:p>
          <a:p>
            <a:pPr>
              <a:buFont typeface="Arial" pitchFamily="34" charset="0"/>
              <a:buNone/>
            </a:pPr>
            <a:r>
              <a:rPr lang="en-US" b="1" noProof="0" dirty="0" smtClean="0"/>
              <a:t>Class activity : general discussion</a:t>
            </a:r>
          </a:p>
          <a:p>
            <a:pPr>
              <a:buFont typeface="Arial" pitchFamily="34" charset="0"/>
              <a:buNone/>
            </a:pPr>
            <a:r>
              <a:rPr lang="en-US" b="0" noProof="0" dirty="0" smtClean="0"/>
              <a:t>Trainer to lead a general discussion by asking questions such as :</a:t>
            </a:r>
          </a:p>
          <a:p>
            <a:pPr>
              <a:buFont typeface="Arial" pitchFamily="34" charset="0"/>
              <a:buNone/>
            </a:pPr>
            <a:r>
              <a:rPr lang="en-US" b="0" noProof="0" dirty="0" smtClean="0"/>
              <a:t>How do classify statistical data?</a:t>
            </a:r>
          </a:p>
          <a:p>
            <a:pPr>
              <a:buFont typeface="Arial" pitchFamily="34" charset="0"/>
              <a:buNone/>
            </a:pPr>
            <a:r>
              <a:rPr lang="en-US" b="0" noProof="0" dirty="0" smtClean="0"/>
              <a:t>How do you verify research data?</a:t>
            </a:r>
          </a:p>
          <a:p>
            <a:pPr>
              <a:buFont typeface="Arial" pitchFamily="34" charset="0"/>
              <a:buNone/>
            </a:pPr>
            <a:r>
              <a:rPr lang="en-US" b="0" noProof="0" dirty="0" smtClean="0"/>
              <a:t>How do you quantify research data? </a:t>
            </a:r>
          </a:p>
          <a:p>
            <a:pPr>
              <a:buFont typeface="Arial" pitchFamily="34" charset="0"/>
              <a:buNone/>
            </a:pPr>
            <a:r>
              <a:rPr lang="en-US" b="0" noProof="0" dirty="0" smtClean="0"/>
              <a:t>Why do you manipulate data?</a:t>
            </a:r>
          </a:p>
          <a:p>
            <a:pPr>
              <a:buFont typeface="Arial" pitchFamily="34" charset="0"/>
              <a:buNone/>
            </a:pPr>
            <a:r>
              <a:rPr lang="en-US" b="0" noProof="0" dirty="0" smtClean="0"/>
              <a:t>What should be included in a report on research findings?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0247435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The next step in the interpretation stage is to clearly identify the potential impacts of the research at various levels such as </a:t>
            </a:r>
          </a:p>
          <a:p>
            <a:pPr>
              <a:buFont typeface="Arial" pitchFamily="34" charset="0"/>
              <a:buNone/>
            </a:pPr>
            <a:r>
              <a:rPr lang="en-US" noProof="0" dirty="0" smtClean="0"/>
              <a:t>Economic and social impacts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899260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to the trainees that those environmental impacts are becoming more important than before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0711831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topic is very sensitive with the local communities and must be carefully examined and discussed</a:t>
            </a:r>
          </a:p>
          <a:p>
            <a:pPr>
              <a:buFont typeface="Arial" pitchFamily="34" charset="0"/>
              <a:buNone/>
            </a:pPr>
            <a:r>
              <a:rPr lang="en-US" b="1" noProof="0" dirty="0" smtClean="0"/>
              <a:t>Class activity</a:t>
            </a:r>
            <a:r>
              <a:rPr lang="en-US" b="0" noProof="0" dirty="0" smtClean="0"/>
              <a:t>: trainer to divide the class in 3 groups, each group is to identify a tourism project/development in any ASEAN country and </a:t>
            </a:r>
          </a:p>
          <a:p>
            <a:pPr>
              <a:buFont typeface="Arial" pitchFamily="34" charset="0"/>
              <a:buNone/>
            </a:pPr>
            <a:r>
              <a:rPr lang="en-US" b="0" noProof="0" dirty="0" smtClean="0"/>
              <a:t>research one positive and one negative potential </a:t>
            </a:r>
          </a:p>
          <a:p>
            <a:pPr>
              <a:buFont typeface="Arial" pitchFamily="34" charset="0"/>
              <a:buNone/>
            </a:pPr>
            <a:r>
              <a:rPr lang="en-US" b="0" noProof="0" dirty="0" smtClean="0"/>
              <a:t>Economic and social impact </a:t>
            </a:r>
          </a:p>
          <a:p>
            <a:pPr>
              <a:buFont typeface="Arial" pitchFamily="34" charset="0"/>
              <a:buNone/>
            </a:pPr>
            <a:r>
              <a:rPr lang="en-US" b="0" noProof="0" dirty="0" smtClean="0"/>
              <a:t>Environmental impact</a:t>
            </a:r>
          </a:p>
          <a:p>
            <a:pPr>
              <a:buFont typeface="Arial" pitchFamily="34" charset="0"/>
              <a:buNone/>
            </a:pPr>
            <a:r>
              <a:rPr lang="en-US" b="0" noProof="0" dirty="0" smtClean="0"/>
              <a:t>Cultural impact</a:t>
            </a:r>
          </a:p>
          <a:p>
            <a:pPr>
              <a:buFont typeface="Arial" pitchFamily="34" charset="0"/>
              <a:buNone/>
            </a:pPr>
            <a:endParaRPr lang="en-US" b="0" noProof="0" dirty="0" smtClean="0"/>
          </a:p>
          <a:p>
            <a:pPr>
              <a:buFont typeface="Arial" pitchFamily="34" charset="0"/>
              <a:buNone/>
            </a:pPr>
            <a:r>
              <a:rPr lang="en-US" b="0" noProof="0" dirty="0" smtClean="0"/>
              <a:t>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5553529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the trainees about the importance of clear communication and cover the points listed on the slide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1807553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point out to the trainees the topic of hard and soft data has been previously covered but explain the use of the 2 still applies to various situations to reach different stakeholders  </a:t>
            </a:r>
          </a:p>
          <a:p>
            <a:pPr>
              <a:buFont typeface="Arial" pitchFamily="34" charset="0"/>
              <a:buNone/>
            </a:pPr>
            <a:r>
              <a:rPr lang="en-US" b="1" noProof="0" dirty="0" smtClean="0"/>
              <a:t>Class activity</a:t>
            </a:r>
            <a:r>
              <a:rPr lang="en-US" noProof="0" dirty="0" smtClean="0"/>
              <a:t>: trainer to use industry contacts and obtain examples of hard and soft copy of initial research data and report related to the research interpretation stage when assessing and planning tourism opportunities for local communities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0659346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go over again the importance of how to present the research findings </a:t>
            </a:r>
          </a:p>
          <a:p>
            <a:pPr>
              <a:buFont typeface="Arial" pitchFamily="34" charset="0"/>
              <a:buChar char="•"/>
            </a:pPr>
            <a:r>
              <a:rPr lang="en-US" noProof="0" dirty="0" smtClean="0"/>
              <a:t>In a clear, easy to understand language</a:t>
            </a:r>
          </a:p>
          <a:p>
            <a:pPr>
              <a:buFont typeface="Arial" pitchFamily="34" charset="0"/>
              <a:buChar char="•"/>
            </a:pPr>
            <a:r>
              <a:rPr lang="en-US" noProof="0" dirty="0" smtClean="0"/>
              <a:t>With facts, figures, details, pictures to illustrate specific points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72982915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Seeking and recording feedback will service as a base to consolidate the plan and ensure the final version is endorsed by all concerned stakeholders. Trainer to explain to the trainees the difference between formal and informal feedback.</a:t>
            </a:r>
          </a:p>
          <a:p>
            <a:pPr>
              <a:buFont typeface="Arial" pitchFamily="34" charset="0"/>
              <a:buNone/>
            </a:pPr>
            <a:r>
              <a:rPr lang="en-US" b="1" noProof="0" dirty="0" smtClean="0"/>
              <a:t>Class activity : </a:t>
            </a:r>
            <a:r>
              <a:rPr lang="en-US" b="0" noProof="0" dirty="0" smtClean="0"/>
              <a:t>trainer to ask trainees to think back at a or various times they have been asked for feedback and determine which type of feedback it was. Findings to be shared with the class </a:t>
            </a:r>
            <a:r>
              <a:rPr lang="en-US" b="1" noProof="0" dirty="0" smtClean="0"/>
              <a:t>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7183101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through the various ways the research results and feedback can be incorporated to guide future actions.</a:t>
            </a:r>
          </a:p>
          <a:p>
            <a:pPr>
              <a:buFont typeface="Arial" pitchFamily="34" charset="0"/>
              <a:buNone/>
            </a:pPr>
            <a:r>
              <a:rPr lang="en-US" noProof="0" dirty="0" smtClean="0"/>
              <a:t>Trainer to stress that the information needs to integrated in the appropriate plan</a:t>
            </a:r>
          </a:p>
          <a:p>
            <a:pPr>
              <a:buFont typeface="Arial" pitchFamily="34" charset="0"/>
              <a:buChar char="•"/>
            </a:pPr>
            <a:r>
              <a:rPr lang="en-US" noProof="0" dirty="0" smtClean="0"/>
              <a:t>Initial or existing depending upon the circumstances  </a:t>
            </a:r>
          </a:p>
          <a:p>
            <a:pPr>
              <a:buFont typeface="Arial" pitchFamily="34" charset="0"/>
              <a:buChar char="•"/>
            </a:pPr>
            <a:r>
              <a:rPr lang="en-US" noProof="0" dirty="0" smtClean="0"/>
              <a:t>Under the relevant section for ease of understanding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49812041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to the trainees that all points listed need to be included in a draft tourism plan</a:t>
            </a:r>
          </a:p>
          <a:p>
            <a:pPr>
              <a:buFont typeface="Arial" pitchFamily="34" charset="0"/>
              <a:buNone/>
            </a:pPr>
            <a:r>
              <a:rPr lang="en-US" noProof="0" dirty="0" smtClean="0"/>
              <a:t>Trainer to go trough the points  and , when possible, give contextualised examples relevant to the country, region, town where the training is taking place </a:t>
            </a: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4773225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…continued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go trough the points  and , when possible, give contextualised examples relevant to the country, region, town where the training is taking place   </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8294985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trainees that draft plan are about on going consultation and research findings integration. A draft plan is a working, living, changing document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169058972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trainees that further consultation is about taking notes of all stakeholders suggestions, comments, respecting their values</a:t>
            </a:r>
          </a:p>
          <a:p>
            <a:pPr>
              <a:buFont typeface="Arial" pitchFamily="34" charset="0"/>
              <a:buNone/>
            </a:pPr>
            <a:r>
              <a:rPr lang="en-US" b="1" noProof="0" dirty="0" smtClean="0"/>
              <a:t>Class activity: Internet research</a:t>
            </a:r>
          </a:p>
          <a:p>
            <a:pPr>
              <a:buFont typeface="Arial" pitchFamily="34" charset="0"/>
              <a:buNone/>
            </a:pPr>
            <a:r>
              <a:rPr lang="en-US" noProof="0" dirty="0" smtClean="0"/>
              <a:t>Trainer to arrange, supervise and facilitate discussion on research on the following website in regards to what a tourism plan includes </a:t>
            </a:r>
          </a:p>
          <a:p>
            <a:pPr>
              <a:buFont typeface="Arial" pitchFamily="34" charset="0"/>
              <a:buNone/>
            </a:pPr>
            <a:r>
              <a:rPr lang="en-US" noProof="0" dirty="0" smtClean="0"/>
              <a:t>http://www.scribd.com/doc/111871570/ASEAN-Tourism-Strategic-Plan-2011-2015</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4967581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revisit the strategies covered in element 1 in regards to communication and explain the reasons why it is recommended to use them again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22042914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This last step of interpreting research results reinforces the importance of on going dialogue and clear communication </a:t>
            </a:r>
          </a:p>
          <a:p>
            <a:pPr>
              <a:buFont typeface="Arial" pitchFamily="34" charset="0"/>
              <a:buNone/>
            </a:pPr>
            <a:r>
              <a:rPr lang="en-US" noProof="0" dirty="0" smtClean="0"/>
              <a:t>Trainer to  share with the trainees the points listed on the slide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82206449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comment on the listed points and their importance in the success of the plan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35507674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students on the ongoing nature of this research stage as most of the listed points have already taken place at some point of the consultation process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94752720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how to integrate the latest information research collected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14070649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introduce the 10 specific criteria details of the preparation stage of the formal draft plans</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56628871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…continued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5419463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share with the trainees the importance and benefits of using the services of professional experts when preparing formal draft plans</a:t>
            </a:r>
          </a:p>
          <a:p>
            <a:pPr>
              <a:buFont typeface="Arial" pitchFamily="34" charset="0"/>
              <a:buNone/>
            </a:pPr>
            <a:r>
              <a:rPr lang="en-US" b="1" noProof="0" dirty="0" smtClean="0"/>
              <a:t>Class activity : </a:t>
            </a:r>
            <a:r>
              <a:rPr lang="en-US" b="0" noProof="0" dirty="0" smtClean="0"/>
              <a:t>using their manual, trainees to prepare 1 example for each category listed on the slide and share with the class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23939167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give government agencies and key people from local communities examples relevant to the country, region or and city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50560376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As stated from the beginning, community interests and concerns need to be included in the formal draft plans and might cover all the points listed on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390826014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the importance of including in the formal draft plans policies and procedures to be use as guidelines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5904691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clarify the importance of realistic deadlines, schedules and of including contingency plans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87542126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trainees of the importance of financial matters, considerations in any plan, project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79743310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through the human resources considerations for the host enterprise and the importance, again, of using the right staff for the right project, preferably with previous experience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63915163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Another point to take into account covers the physical resources involved with the proposed plans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8118362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Timing is another important consideration for the host enterprise. Preparing a formal draft plan is a significant commitment for any organisations on several levels, the time commitment being one of the crucial ones to consider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2633512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all the 3 questions listed on the slide must be asked answered</a:t>
            </a:r>
          </a:p>
          <a:p>
            <a:pPr>
              <a:buFont typeface="Arial" pitchFamily="34" charset="0"/>
              <a:buNone/>
            </a:pPr>
            <a:r>
              <a:rPr lang="en-US" noProof="0" dirty="0" smtClean="0"/>
              <a:t>The first one would result in a more efficient and quicker course of action </a:t>
            </a:r>
          </a:p>
          <a:p>
            <a:pPr>
              <a:buFont typeface="Arial" pitchFamily="34" charset="0"/>
              <a:buNone/>
            </a:pPr>
            <a:r>
              <a:rPr lang="en-US" noProof="0" dirty="0" smtClean="0"/>
              <a:t>The second and third questions one might result in either an amalgamation of the 2 researches or a conflict of interest depending on the circumstances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25252351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to the trainees that this consideration needs to be considered at a managerial level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257659794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introduce the trainees to the TNA concept if they are not familiar with it and explain how it will be conducted and the data used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12911007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introduce the trainees to the TNA concept if they are not familiar with it and explain how it will be conducted and the data used</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351600812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go over the various training delivery methodologies available and how to choose the most appropriate one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102014721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..continued </a:t>
            </a:r>
          </a:p>
          <a:p>
            <a:pPr>
              <a:buFont typeface="Arial" pitchFamily="34" charset="0"/>
              <a:buNone/>
            </a:pPr>
            <a:r>
              <a:rPr lang="en-US" noProof="0" dirty="0" smtClean="0"/>
              <a:t>Taking into account the nature of the training, its location, its length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413244221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Building from the audit conducted during the research stage, buildings and facilities essential to the formal draft plan development must be conducted and include </a:t>
            </a:r>
          </a:p>
          <a:p>
            <a:pPr>
              <a:buFont typeface="Arial" pitchFamily="34" charset="0"/>
              <a:buChar char="•"/>
            </a:pPr>
            <a:r>
              <a:rPr lang="en-US" noProof="0" dirty="0" smtClean="0"/>
              <a:t>Existing facilities</a:t>
            </a:r>
          </a:p>
          <a:p>
            <a:pPr>
              <a:buFont typeface="Arial" pitchFamily="34" charset="0"/>
              <a:buChar char="•"/>
            </a:pPr>
            <a:r>
              <a:rPr lang="en-US" noProof="0" dirty="0" smtClean="0"/>
              <a:t>Potential alterations and or additions of those facilities  </a:t>
            </a:r>
          </a:p>
          <a:p>
            <a:pPr>
              <a:buFont typeface="Arial" pitchFamily="34" charset="0"/>
              <a:buChar char="•"/>
            </a:pPr>
            <a:r>
              <a:rPr lang="en-US" noProof="0" dirty="0" smtClean="0"/>
              <a:t>New facilities required for the plan implementation</a:t>
            </a: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93532762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illustrate the point on the slide with an example from the country where the training is being delivered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82758510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noProof="0" dirty="0" smtClean="0"/>
              <a:t>Class activity</a:t>
            </a:r>
            <a:r>
              <a:rPr lang="en-US" noProof="0" dirty="0" smtClean="0"/>
              <a:t>: After going through the slide, trainer and trainees to match vehicle access with required infrastructure</a:t>
            </a:r>
          </a:p>
          <a:p>
            <a:pPr>
              <a:buFont typeface="Arial" pitchFamily="34" charset="0"/>
              <a:buNone/>
            </a:pPr>
            <a:r>
              <a:rPr lang="en-US" b="0" noProof="0" dirty="0" smtClean="0">
                <a:solidFill>
                  <a:schemeClr val="accent2"/>
                </a:solidFill>
                <a:effectLst>
                  <a:outerShdw blurRad="38100" dist="38100" dir="2700000" algn="tl">
                    <a:srgbClr val="000000">
                      <a:alpha val="43137"/>
                    </a:srgbClr>
                  </a:outerShdw>
                </a:effectLst>
              </a:rPr>
              <a:t>For example </a:t>
            </a:r>
          </a:p>
          <a:p>
            <a:pPr>
              <a:buFont typeface="Arial" pitchFamily="34" charset="0"/>
              <a:buChar char="•"/>
            </a:pPr>
            <a:r>
              <a:rPr lang="en-US" b="0" noProof="0" dirty="0" smtClean="0">
                <a:solidFill>
                  <a:schemeClr val="accent2"/>
                </a:solidFill>
                <a:effectLst>
                  <a:outerShdw blurRad="38100" dist="38100" dir="2700000" algn="tl">
                    <a:srgbClr val="000000">
                      <a:alpha val="43137"/>
                    </a:srgbClr>
                  </a:outerShdw>
                </a:effectLst>
              </a:rPr>
              <a:t>Car, buses need roads </a:t>
            </a:r>
          </a:p>
          <a:p>
            <a:pPr>
              <a:buFont typeface="Arial" pitchFamily="34" charset="0"/>
              <a:buChar char="•"/>
            </a:pPr>
            <a:r>
              <a:rPr lang="en-US" b="0" noProof="0" dirty="0" smtClean="0">
                <a:solidFill>
                  <a:schemeClr val="accent2"/>
                </a:solidFill>
                <a:effectLst>
                  <a:outerShdw blurRad="38100" dist="38100" dir="2700000" algn="tl">
                    <a:srgbClr val="000000">
                      <a:alpha val="43137"/>
                    </a:srgbClr>
                  </a:outerShdw>
                </a:effectLst>
              </a:rPr>
              <a:t>Boats need harbor etc.. </a:t>
            </a:r>
            <a:endParaRPr lang="en-AU" b="0" noProof="0" dirty="0">
              <a:solidFill>
                <a:schemeClr val="accent2"/>
              </a:solidFill>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2956401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noProof="0" dirty="0" smtClean="0"/>
              <a:t>Class activity: </a:t>
            </a:r>
            <a:r>
              <a:rPr lang="en-AU" b="0" noProof="0" dirty="0" smtClean="0"/>
              <a:t>after going through the various means of transport, trainer to discuss with trainees the infrastructure required for the various means of transport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202046709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the trainees that any plan must carefully consider the potential impacts of tourism development and ensure it benefits the local communities in a positive manner</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35428251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To ensure the success of any tourism development initiative, a plan must carefully examine the resources the local communities will require to facilitate the plan implementation</a:t>
            </a:r>
          </a:p>
          <a:p>
            <a:pPr>
              <a:buFont typeface="Arial" pitchFamily="34" charset="0"/>
              <a:buNone/>
            </a:pPr>
            <a:r>
              <a:rPr lang="en-US" noProof="0" dirty="0" smtClean="0"/>
              <a:t>The financial resources need to be considered and can come in various way as listed on the slide </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66243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the various ways funding can come from</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14402105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noProof="0" dirty="0" smtClean="0"/>
              <a:t>Class activity </a:t>
            </a:r>
            <a:r>
              <a:rPr lang="en-US" b="0" noProof="0" dirty="0" smtClean="0"/>
              <a:t>After going through the information on the slide, t</a:t>
            </a:r>
            <a:r>
              <a:rPr lang="en-US" noProof="0" dirty="0" smtClean="0"/>
              <a:t>rainer to organise the trainees in small groups and ask what the understand by using the ‘right people’. Trainer to remind the trainees to use information already covered and available in the manual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41530253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any service expansion need to be carefully considered and remind the trainees about the important of the research conducted and the figures, ratios and numbers forecasted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68284879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stress that this point needs to be handle in a sensitive manner in light of documented events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187225309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give some examples of potential equipment that might be required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78953626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different opportunities identified will require different facilities, goods and services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21789109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to explain to the trainees that the large majority of equipment, facilities, goods and services will go under the : common facilities and benefit most tourism developments, plans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309851475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to the trainees that awareness and importance of environmental, social and cultural interests are now considered as central to the success of any tourism as the economic interests of the local communities and to remind the trainees that those topics have been part of the dialogue, discussion since the start of the process.  </a:t>
            </a:r>
          </a:p>
          <a:p>
            <a:pPr>
              <a:buFont typeface="Arial" pitchFamily="34" charset="0"/>
              <a:buNone/>
            </a:pPr>
            <a:r>
              <a:rPr lang="en-US" noProof="0" dirty="0" smtClean="0"/>
              <a:t>Trainer to go through the points on the next few slides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14825861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 continued</a:t>
            </a:r>
          </a:p>
          <a:p>
            <a:pPr>
              <a:buFont typeface="Arial" pitchFamily="34" charset="0"/>
              <a:buNone/>
            </a:pPr>
            <a:r>
              <a:rPr lang="en-US" b="1" noProof="0" dirty="0" smtClean="0"/>
              <a:t>Class activity </a:t>
            </a:r>
            <a:r>
              <a:rPr lang="en-US" b="0" noProof="0" dirty="0" smtClean="0"/>
              <a:t>: trainer to ask trainees complete some research within their country, region, town on environmental issues </a:t>
            </a:r>
          </a:p>
          <a:p>
            <a:pPr>
              <a:buFont typeface="Arial" pitchFamily="34" charset="0"/>
              <a:buChar char="•"/>
            </a:pPr>
            <a:r>
              <a:rPr lang="en-US" b="0" noProof="0" dirty="0" smtClean="0"/>
              <a:t>Find if any animals, plants are protected</a:t>
            </a:r>
          </a:p>
          <a:p>
            <a:pPr>
              <a:buFont typeface="Arial" pitchFamily="34" charset="0"/>
              <a:buChar char="•"/>
            </a:pPr>
            <a:r>
              <a:rPr lang="en-US" b="0" noProof="0" dirty="0" smtClean="0"/>
              <a:t>Discuss the potential impact of their findings in regards to tourism opportunities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58731110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recap on social and economical factors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42267238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recap on social and economical factors and, if possible, provide the trainees with local examples of heritage listed buildings, sites </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15127687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recap the points covered under 3.9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75794793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recap the points covered under 3.9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56982202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the trainees about the importance of the SWOT analysis previously mentioned when analysing the information collected during the research stage</a:t>
            </a:r>
            <a:endParaRPr lang="en-US" b="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361742436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After covering the points from the slide, trainer to introduce the guest speaker to the trainees</a:t>
            </a:r>
          </a:p>
          <a:p>
            <a:pPr>
              <a:buFont typeface="Arial" pitchFamily="34" charset="0"/>
              <a:buNone/>
            </a:pPr>
            <a:r>
              <a:rPr lang="en-US" b="1" noProof="0" dirty="0" smtClean="0"/>
              <a:t>Classroom activity : Guest speaker</a:t>
            </a:r>
          </a:p>
          <a:p>
            <a:pPr>
              <a:buFont typeface="Arial" pitchFamily="34" charset="0"/>
              <a:buNone/>
            </a:pPr>
            <a:r>
              <a:rPr lang="en-US" b="0" noProof="0" dirty="0" smtClean="0"/>
              <a:t>Trainer to arrange for person involved in preparing formal draft tourism plans to attend and </a:t>
            </a:r>
          </a:p>
          <a:p>
            <a:pPr>
              <a:buFont typeface="Arial" pitchFamily="34" charset="0"/>
              <a:buChar char="•"/>
            </a:pPr>
            <a:r>
              <a:rPr lang="en-US" b="0" noProof="0" dirty="0" smtClean="0"/>
              <a:t>Provide sample of program</a:t>
            </a:r>
          </a:p>
          <a:p>
            <a:pPr>
              <a:buFont typeface="Arial" pitchFamily="34" charset="0"/>
              <a:buChar char="•"/>
            </a:pPr>
            <a:r>
              <a:rPr lang="en-US" b="0" noProof="0" dirty="0" smtClean="0"/>
              <a:t>Describe the writing process taking into account the steps mentioned in this element from ensuring draft reflect community interest ad concerns to ensuring plans reflect the business plans of host enterprise, identifies training needs and delivery methodologies, are sensitive to the local community economical, cultural, social and environmental interests, have a clear strategic and tactical focus </a:t>
            </a:r>
          </a:p>
          <a:p>
            <a:pPr>
              <a:buFont typeface="Arial" pitchFamily="34" charset="0"/>
              <a:buChar char="•"/>
            </a:pPr>
            <a:r>
              <a:rPr lang="en-US" b="0" noProof="0" dirty="0" smtClean="0"/>
              <a:t>Give tips on maintaining on going communication and consultation during the process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62778960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to introduce this last element and each of the 3 specific criteria details</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353763932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go through the points on the slide and remind the trainees of the importance of the ongoing clear communication and consultation process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95047342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go through those points and link them, if possible, to the guest speaker presentation from the previous element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07099205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work out each letter with the trainees (referring to the manual if required)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17293130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Trainer to work out each letter with the trainees (referring to the manual if required)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94102695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ask trainees to complete internet research and name local, regional and/or national associations in the country the training is taking place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76835334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stress the importance of presenting new issues identified as they have the potential to significantly change the direction of the proposed draft plans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57269292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insist one the importance of the 2 points on the slide </a:t>
            </a:r>
          </a:p>
          <a:p>
            <a:pPr>
              <a:buFont typeface="Arial" pitchFamily="34" charset="0"/>
              <a:buNone/>
            </a:pPr>
            <a:r>
              <a:rPr lang="en-US" dirty="0" smtClean="0"/>
              <a:t>1. The implementation phase is when the plan, project become ‘real’ for most stakeholders and they need to be </a:t>
            </a:r>
          </a:p>
          <a:p>
            <a:pPr>
              <a:buFont typeface="Arial" pitchFamily="34" charset="0"/>
              <a:buNone/>
            </a:pPr>
            <a:r>
              <a:rPr lang="en-US" dirty="0" smtClean="0"/>
              <a:t>Informed</a:t>
            </a:r>
          </a:p>
          <a:p>
            <a:pPr>
              <a:buFont typeface="Arial" pitchFamily="34" charset="0"/>
              <a:buNone/>
            </a:pPr>
            <a:r>
              <a:rPr lang="en-US" dirty="0" smtClean="0"/>
              <a:t>Ready</a:t>
            </a:r>
          </a:p>
          <a:p>
            <a:pPr>
              <a:buFont typeface="Arial" pitchFamily="34" charset="0"/>
              <a:buNone/>
            </a:pPr>
            <a:r>
              <a:rPr lang="en-US" dirty="0" smtClean="0"/>
              <a:t>Positive about it so that the plan, project become a complete success for all concerned</a:t>
            </a:r>
          </a:p>
          <a:p>
            <a:pPr>
              <a:buFont typeface="Arial" pitchFamily="34" charset="0"/>
              <a:buNone/>
            </a:pPr>
            <a:r>
              <a:rPr lang="en-US" dirty="0" smtClean="0"/>
              <a:t>2. Feedback is part of the ongoing communication process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25570285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go through the points on the slide, explain their importance</a:t>
            </a:r>
          </a:p>
          <a:p>
            <a:pPr>
              <a:buFont typeface="Arial" pitchFamily="34" charset="0"/>
              <a:buNone/>
            </a:pPr>
            <a:r>
              <a:rPr lang="en-US" b="1" dirty="0" smtClean="0"/>
              <a:t>Class activity </a:t>
            </a:r>
            <a:r>
              <a:rPr lang="en-US" b="0" dirty="0" smtClean="0"/>
              <a:t>: trainer to divide the class into 2 groups</a:t>
            </a:r>
          </a:p>
          <a:p>
            <a:pPr>
              <a:buFont typeface="Arial" pitchFamily="34" charset="0"/>
              <a:buNone/>
            </a:pPr>
            <a:r>
              <a:rPr lang="en-US" b="0" dirty="0" smtClean="0"/>
              <a:t>One group to identify at least 2 negative consequences of not addressing every issue raised as part of the latest feedback </a:t>
            </a:r>
          </a:p>
          <a:p>
            <a:pPr>
              <a:buFont typeface="Arial" pitchFamily="34" charset="0"/>
              <a:buNone/>
            </a:pPr>
            <a:r>
              <a:rPr lang="en-US" b="0" dirty="0" smtClean="0"/>
              <a:t>One group to identify at least 2 negative consequences of not taking positive action when revising the plans</a:t>
            </a:r>
          </a:p>
          <a:p>
            <a:pPr>
              <a:buFont typeface="Arial" pitchFamily="34" charset="0"/>
              <a:buNone/>
            </a:pPr>
            <a:r>
              <a:rPr lang="en-US" b="0" dirty="0" smtClean="0"/>
              <a:t>Groups to present their findings </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66813326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explain this is the last step of the process. </a:t>
            </a:r>
          </a:p>
          <a:p>
            <a:pPr>
              <a:buFont typeface="Arial" pitchFamily="34" charset="0"/>
              <a:buNone/>
            </a:pPr>
            <a:r>
              <a:rPr lang="en-US" b="1" dirty="0" smtClean="0"/>
              <a:t>Class activity : </a:t>
            </a:r>
            <a:r>
              <a:rPr lang="en-US" b="0" dirty="0" smtClean="0"/>
              <a:t>trainer to ask trainee to consult their manual and, from the information previously covered in regards to plans presentation, prepare a list of steps to follow to ensure full dissemination to all concerned stakeholders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590217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8152" cy="1676400"/>
          </a:xfrm>
        </p:spPr>
        <p:txBody>
          <a:bodyPr>
            <a:normAutofit fontScale="90000"/>
          </a:bodyPr>
          <a:lstStyle/>
          <a:p>
            <a:r>
              <a:rPr lang="en-US" sz="4000" dirty="0" smtClean="0">
                <a:ln w="5000" cmpd="sng">
                  <a:noFill/>
                  <a:prstDash val="solid"/>
                </a:ln>
                <a:solidFill>
                  <a:srgbClr val="FF6600"/>
                </a:solidFill>
                <a:latin typeface="Helvetica" pitchFamily="34" charset="0"/>
              </a:rPr>
              <a:t>ASSESS AND PLAN TOURISM OPPORTUNITIES FOR LOCAL COMMUNITIES</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85800" y="2258774"/>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0732" y="2362200"/>
            <a:ext cx="2541268" cy="289742"/>
          </a:xfrm>
        </p:spPr>
        <p:txBody>
          <a:bodyPr>
            <a:normAutofit lnSpcReduction="10000"/>
          </a:bodyPr>
          <a:lstStyle/>
          <a:p>
            <a:r>
              <a:rPr lang="en-AU" b="1" dirty="0" smtClean="0">
                <a:latin typeface="Helvetica" pitchFamily="34" charset="0"/>
              </a:rPr>
              <a:t>D2.TCS.CL5.02</a:t>
            </a:r>
            <a:endParaRPr lang="en-AU" b="1" dirty="0">
              <a:latin typeface="Helvetic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and plan tourism opportunities for local communities </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sp>
        <p:nvSpPr>
          <p:cNvPr id="8" name="Content Placeholder 2"/>
          <p:cNvSpPr>
            <a:spLocks noGrp="1"/>
          </p:cNvSpPr>
          <p:nvPr>
            <p:ph idx="1"/>
          </p:nvPr>
        </p:nvSpPr>
        <p:spPr>
          <a:xfrm>
            <a:off x="1115616" y="1844824"/>
            <a:ext cx="6963543" cy="4237931"/>
          </a:xfrm>
        </p:spPr>
        <p:txBody>
          <a:bodyPr>
            <a:normAutofit/>
          </a:bodyPr>
          <a:lstStyle/>
          <a:p>
            <a:pPr marL="457200" indent="-457200">
              <a:spcBef>
                <a:spcPts val="600"/>
              </a:spcBef>
              <a:spcAft>
                <a:spcPts val="1200"/>
              </a:spcAft>
              <a:buNone/>
            </a:pPr>
            <a:r>
              <a:rPr lang="en-US" sz="2200" b="1" dirty="0" smtClean="0">
                <a:latin typeface="Helvetica" pitchFamily="34" charset="0"/>
              </a:rPr>
              <a:t>Introduction:</a:t>
            </a:r>
            <a:endParaRPr lang="en-US" sz="2200" b="1" dirty="0">
              <a:latin typeface="Helvetica" pitchFamily="34" charset="0"/>
            </a:endParaRPr>
          </a:p>
          <a:p>
            <a:pPr marL="360000" indent="-360000">
              <a:spcBef>
                <a:spcPts val="600"/>
              </a:spcBef>
              <a:spcAft>
                <a:spcPts val="1200"/>
              </a:spcAft>
              <a:buNone/>
            </a:pPr>
            <a:endParaRPr lang="en-US" sz="2200" dirty="0">
              <a:latin typeface="Helvetica" pitchFamily="34" charset="0"/>
            </a:endParaRPr>
          </a:p>
        </p:txBody>
      </p:sp>
      <p:grpSp>
        <p:nvGrpSpPr>
          <p:cNvPr id="9" name="Group 8"/>
          <p:cNvGrpSpPr/>
          <p:nvPr/>
        </p:nvGrpSpPr>
        <p:grpSpPr>
          <a:xfrm>
            <a:off x="738769" y="2389448"/>
            <a:ext cx="5722496" cy="3870114"/>
            <a:chOff x="1069338" y="2445822"/>
            <a:chExt cx="5722496" cy="3870114"/>
          </a:xfrm>
        </p:grpSpPr>
        <p:sp>
          <p:nvSpPr>
            <p:cNvPr id="10" name="Oval 9"/>
            <p:cNvSpPr/>
            <p:nvPr/>
          </p:nvSpPr>
          <p:spPr>
            <a:xfrm>
              <a:off x="2664279" y="5282408"/>
              <a:ext cx="108388" cy="108388"/>
            </a:xfrm>
            <a:prstGeom prst="ellipse">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1" name="Oval 10"/>
            <p:cNvSpPr/>
            <p:nvPr/>
          </p:nvSpPr>
          <p:spPr>
            <a:xfrm>
              <a:off x="2459966" y="5380763"/>
              <a:ext cx="108388" cy="108388"/>
            </a:xfrm>
            <a:prstGeom prst="ellipse">
              <a:avLst/>
            </a:prstGeom>
          </p:spPr>
          <p:style>
            <a:lnRef idx="2">
              <a:schemeClr val="accent5">
                <a:hueOff val="-281502"/>
                <a:satOff val="2822"/>
                <a:lumOff val="-1961"/>
                <a:alphaOff val="0"/>
              </a:schemeClr>
            </a:lnRef>
            <a:fillRef idx="1">
              <a:schemeClr val="accent5">
                <a:hueOff val="-281502"/>
                <a:satOff val="2822"/>
                <a:lumOff val="-1961"/>
                <a:alphaOff val="0"/>
              </a:schemeClr>
            </a:fillRef>
            <a:effectRef idx="0">
              <a:schemeClr val="accent5">
                <a:hueOff val="-281502"/>
                <a:satOff val="2822"/>
                <a:lumOff val="-1961"/>
                <a:alphaOff val="0"/>
              </a:schemeClr>
            </a:effectRef>
            <a:fontRef idx="minor">
              <a:schemeClr val="lt1"/>
            </a:fontRef>
          </p:style>
        </p:sp>
        <p:sp>
          <p:nvSpPr>
            <p:cNvPr id="12" name="Oval 11"/>
            <p:cNvSpPr/>
            <p:nvPr/>
          </p:nvSpPr>
          <p:spPr>
            <a:xfrm>
              <a:off x="2245898" y="5458451"/>
              <a:ext cx="108388" cy="108388"/>
            </a:xfrm>
            <a:prstGeom prst="ellipse">
              <a:avLst/>
            </a:prstGeom>
          </p:spPr>
          <p:style>
            <a:lnRef idx="2">
              <a:schemeClr val="accent5">
                <a:hueOff val="-563003"/>
                <a:satOff val="5644"/>
                <a:lumOff val="-3922"/>
                <a:alphaOff val="0"/>
              </a:schemeClr>
            </a:lnRef>
            <a:fillRef idx="1">
              <a:schemeClr val="accent5">
                <a:hueOff val="-563003"/>
                <a:satOff val="5644"/>
                <a:lumOff val="-3922"/>
                <a:alphaOff val="0"/>
              </a:schemeClr>
            </a:fillRef>
            <a:effectRef idx="0">
              <a:schemeClr val="accent5">
                <a:hueOff val="-563003"/>
                <a:satOff val="5644"/>
                <a:lumOff val="-3922"/>
                <a:alphaOff val="0"/>
              </a:schemeClr>
            </a:effectRef>
            <a:fontRef idx="minor">
              <a:schemeClr val="lt1"/>
            </a:fontRef>
          </p:style>
        </p:sp>
        <p:sp>
          <p:nvSpPr>
            <p:cNvPr id="13" name="Oval 12"/>
            <p:cNvSpPr/>
            <p:nvPr/>
          </p:nvSpPr>
          <p:spPr>
            <a:xfrm>
              <a:off x="3645198" y="4143870"/>
              <a:ext cx="108388" cy="108388"/>
            </a:xfrm>
            <a:prstGeom prst="ellipse">
              <a:avLst/>
            </a:prstGeom>
          </p:spPr>
          <p:style>
            <a:lnRef idx="2">
              <a:schemeClr val="accent5">
                <a:hueOff val="-844505"/>
                <a:satOff val="8467"/>
                <a:lumOff val="-5882"/>
                <a:alphaOff val="0"/>
              </a:schemeClr>
            </a:lnRef>
            <a:fillRef idx="1">
              <a:schemeClr val="accent5">
                <a:hueOff val="-844505"/>
                <a:satOff val="8467"/>
                <a:lumOff val="-5882"/>
                <a:alphaOff val="0"/>
              </a:schemeClr>
            </a:fillRef>
            <a:effectRef idx="0">
              <a:schemeClr val="accent5">
                <a:hueOff val="-844505"/>
                <a:satOff val="8467"/>
                <a:lumOff val="-5882"/>
                <a:alphaOff val="0"/>
              </a:schemeClr>
            </a:effectRef>
            <a:fontRef idx="minor">
              <a:schemeClr val="lt1"/>
            </a:fontRef>
          </p:style>
        </p:sp>
        <p:sp>
          <p:nvSpPr>
            <p:cNvPr id="14" name="Oval 13"/>
            <p:cNvSpPr/>
            <p:nvPr/>
          </p:nvSpPr>
          <p:spPr>
            <a:xfrm>
              <a:off x="3562822" y="4344023"/>
              <a:ext cx="108388" cy="108388"/>
            </a:xfrm>
            <a:prstGeom prst="ellipse">
              <a:avLst/>
            </a:prstGeom>
          </p:spPr>
          <p:style>
            <a:lnRef idx="2">
              <a:schemeClr val="accent5">
                <a:hueOff val="-1126006"/>
                <a:satOff val="11289"/>
                <a:lumOff val="-7843"/>
                <a:alphaOff val="0"/>
              </a:schemeClr>
            </a:lnRef>
            <a:fillRef idx="1">
              <a:schemeClr val="accent5">
                <a:hueOff val="-1126006"/>
                <a:satOff val="11289"/>
                <a:lumOff val="-7843"/>
                <a:alphaOff val="0"/>
              </a:schemeClr>
            </a:fillRef>
            <a:effectRef idx="0">
              <a:schemeClr val="accent5">
                <a:hueOff val="-1126006"/>
                <a:satOff val="11289"/>
                <a:lumOff val="-7843"/>
                <a:alphaOff val="0"/>
              </a:schemeClr>
            </a:effectRef>
            <a:fontRef idx="minor">
              <a:schemeClr val="lt1"/>
            </a:fontRef>
          </p:style>
        </p:sp>
        <p:sp>
          <p:nvSpPr>
            <p:cNvPr id="15" name="Oval 14"/>
            <p:cNvSpPr/>
            <p:nvPr/>
          </p:nvSpPr>
          <p:spPr>
            <a:xfrm>
              <a:off x="3504293" y="2637173"/>
              <a:ext cx="108388" cy="108388"/>
            </a:xfrm>
            <a:prstGeom prst="ellipse">
              <a:avLst/>
            </a:prstGeom>
          </p:spPr>
          <p:style>
            <a:lnRef idx="2">
              <a:schemeClr val="accent5">
                <a:hueOff val="-1407508"/>
                <a:satOff val="14111"/>
                <a:lumOff val="-9804"/>
                <a:alphaOff val="0"/>
              </a:schemeClr>
            </a:lnRef>
            <a:fillRef idx="1">
              <a:schemeClr val="accent5">
                <a:hueOff val="-1407508"/>
                <a:satOff val="14111"/>
                <a:lumOff val="-9804"/>
                <a:alphaOff val="0"/>
              </a:schemeClr>
            </a:fillRef>
            <a:effectRef idx="0">
              <a:schemeClr val="accent5">
                <a:hueOff val="-1407508"/>
                <a:satOff val="14111"/>
                <a:lumOff val="-9804"/>
                <a:alphaOff val="0"/>
              </a:schemeClr>
            </a:effectRef>
            <a:fontRef idx="minor">
              <a:schemeClr val="lt1"/>
            </a:fontRef>
          </p:style>
        </p:sp>
        <p:sp>
          <p:nvSpPr>
            <p:cNvPr id="16" name="Oval 15"/>
            <p:cNvSpPr/>
            <p:nvPr/>
          </p:nvSpPr>
          <p:spPr>
            <a:xfrm>
              <a:off x="3654953" y="2541498"/>
              <a:ext cx="108388" cy="108388"/>
            </a:xfrm>
            <a:prstGeom prst="ellipse">
              <a:avLst/>
            </a:prstGeom>
          </p:spPr>
          <p:style>
            <a:lnRef idx="2">
              <a:schemeClr val="accent5">
                <a:hueOff val="-1689009"/>
                <a:satOff val="16933"/>
                <a:lumOff val="-11765"/>
                <a:alphaOff val="0"/>
              </a:schemeClr>
            </a:lnRef>
            <a:fillRef idx="1">
              <a:schemeClr val="accent5">
                <a:hueOff val="-1689009"/>
                <a:satOff val="16933"/>
                <a:lumOff val="-11765"/>
                <a:alphaOff val="0"/>
              </a:schemeClr>
            </a:fillRef>
            <a:effectRef idx="0">
              <a:schemeClr val="accent5">
                <a:hueOff val="-1689009"/>
                <a:satOff val="16933"/>
                <a:lumOff val="-11765"/>
                <a:alphaOff val="0"/>
              </a:schemeClr>
            </a:effectRef>
            <a:fontRef idx="minor">
              <a:schemeClr val="lt1"/>
            </a:fontRef>
          </p:style>
        </p:sp>
        <p:sp>
          <p:nvSpPr>
            <p:cNvPr id="17" name="Oval 16"/>
            <p:cNvSpPr/>
            <p:nvPr/>
          </p:nvSpPr>
          <p:spPr>
            <a:xfrm>
              <a:off x="3805613" y="2445822"/>
              <a:ext cx="108388" cy="108388"/>
            </a:xfrm>
            <a:prstGeom prst="ellipse">
              <a:avLst/>
            </a:prstGeom>
          </p:spPr>
          <p:style>
            <a:lnRef idx="2">
              <a:schemeClr val="accent5">
                <a:hueOff val="-1970511"/>
                <a:satOff val="19755"/>
                <a:lumOff val="-13726"/>
                <a:alphaOff val="0"/>
              </a:schemeClr>
            </a:lnRef>
            <a:fillRef idx="1">
              <a:schemeClr val="accent5">
                <a:hueOff val="-1970511"/>
                <a:satOff val="19755"/>
                <a:lumOff val="-13726"/>
                <a:alphaOff val="0"/>
              </a:schemeClr>
            </a:fillRef>
            <a:effectRef idx="0">
              <a:schemeClr val="accent5">
                <a:hueOff val="-1970511"/>
                <a:satOff val="19755"/>
                <a:lumOff val="-13726"/>
                <a:alphaOff val="0"/>
              </a:schemeClr>
            </a:effectRef>
            <a:fontRef idx="minor">
              <a:schemeClr val="lt1"/>
            </a:fontRef>
          </p:style>
        </p:sp>
        <p:sp>
          <p:nvSpPr>
            <p:cNvPr id="18" name="Oval 17"/>
            <p:cNvSpPr/>
            <p:nvPr/>
          </p:nvSpPr>
          <p:spPr>
            <a:xfrm>
              <a:off x="3956274" y="2541498"/>
              <a:ext cx="108388" cy="108388"/>
            </a:xfrm>
            <a:prstGeom prst="ellipse">
              <a:avLst/>
            </a:prstGeom>
          </p:spPr>
          <p:style>
            <a:lnRef idx="2">
              <a:schemeClr val="accent5">
                <a:hueOff val="-2252012"/>
                <a:satOff val="22577"/>
                <a:lumOff val="-15687"/>
                <a:alphaOff val="0"/>
              </a:schemeClr>
            </a:lnRef>
            <a:fillRef idx="1">
              <a:schemeClr val="accent5">
                <a:hueOff val="-2252012"/>
                <a:satOff val="22577"/>
                <a:lumOff val="-15687"/>
                <a:alphaOff val="0"/>
              </a:schemeClr>
            </a:fillRef>
            <a:effectRef idx="0">
              <a:schemeClr val="accent5">
                <a:hueOff val="-2252012"/>
                <a:satOff val="22577"/>
                <a:lumOff val="-15687"/>
                <a:alphaOff val="0"/>
              </a:schemeClr>
            </a:effectRef>
            <a:fontRef idx="minor">
              <a:schemeClr val="lt1"/>
            </a:fontRef>
          </p:style>
        </p:sp>
        <p:sp>
          <p:nvSpPr>
            <p:cNvPr id="19" name="Oval 18"/>
            <p:cNvSpPr/>
            <p:nvPr/>
          </p:nvSpPr>
          <p:spPr>
            <a:xfrm>
              <a:off x="4106934" y="2637173"/>
              <a:ext cx="108388" cy="108388"/>
            </a:xfrm>
            <a:prstGeom prst="ellipse">
              <a:avLst/>
            </a:prstGeom>
          </p:spPr>
          <p:style>
            <a:lnRef idx="2">
              <a:schemeClr val="accent5">
                <a:hueOff val="-2533514"/>
                <a:satOff val="25400"/>
                <a:lumOff val="-17647"/>
                <a:alphaOff val="0"/>
              </a:schemeClr>
            </a:lnRef>
            <a:fillRef idx="1">
              <a:schemeClr val="accent5">
                <a:hueOff val="-2533514"/>
                <a:satOff val="25400"/>
                <a:lumOff val="-17647"/>
                <a:alphaOff val="0"/>
              </a:schemeClr>
            </a:fillRef>
            <a:effectRef idx="0">
              <a:schemeClr val="accent5">
                <a:hueOff val="-2533514"/>
                <a:satOff val="25400"/>
                <a:lumOff val="-17647"/>
                <a:alphaOff val="0"/>
              </a:schemeClr>
            </a:effectRef>
            <a:fontRef idx="minor">
              <a:schemeClr val="lt1"/>
            </a:fontRef>
          </p:style>
        </p:sp>
        <p:sp>
          <p:nvSpPr>
            <p:cNvPr id="20" name="Oval 19"/>
            <p:cNvSpPr/>
            <p:nvPr/>
          </p:nvSpPr>
          <p:spPr>
            <a:xfrm>
              <a:off x="3805613" y="2647506"/>
              <a:ext cx="108388" cy="108388"/>
            </a:xfrm>
            <a:prstGeom prst="ellipse">
              <a:avLst/>
            </a:prstGeom>
          </p:spPr>
          <p:style>
            <a:lnRef idx="2">
              <a:schemeClr val="accent5">
                <a:hueOff val="-2815015"/>
                <a:satOff val="28222"/>
                <a:lumOff val="-19608"/>
                <a:alphaOff val="0"/>
              </a:schemeClr>
            </a:lnRef>
            <a:fillRef idx="1">
              <a:schemeClr val="accent5">
                <a:hueOff val="-2815015"/>
                <a:satOff val="28222"/>
                <a:lumOff val="-19608"/>
                <a:alphaOff val="0"/>
              </a:schemeClr>
            </a:fillRef>
            <a:effectRef idx="0">
              <a:schemeClr val="accent5">
                <a:hueOff val="-2815015"/>
                <a:satOff val="28222"/>
                <a:lumOff val="-19608"/>
                <a:alphaOff val="0"/>
              </a:schemeClr>
            </a:effectRef>
            <a:fontRef idx="minor">
              <a:schemeClr val="lt1"/>
            </a:fontRef>
          </p:style>
        </p:sp>
        <p:sp>
          <p:nvSpPr>
            <p:cNvPr id="21" name="Oval 20"/>
            <p:cNvSpPr/>
            <p:nvPr/>
          </p:nvSpPr>
          <p:spPr>
            <a:xfrm>
              <a:off x="3805613" y="2849573"/>
              <a:ext cx="108388" cy="108388"/>
            </a:xfrm>
            <a:prstGeom prst="ellipse">
              <a:avLst/>
            </a:prstGeom>
          </p:spPr>
          <p:style>
            <a:lnRef idx="2">
              <a:schemeClr val="accent5">
                <a:hueOff val="-3096517"/>
                <a:satOff val="31044"/>
                <a:lumOff val="-21569"/>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sp>
        <p:sp>
          <p:nvSpPr>
            <p:cNvPr id="22" name="Freeform 21"/>
            <p:cNvSpPr/>
            <p:nvPr/>
          </p:nvSpPr>
          <p:spPr>
            <a:xfrm>
              <a:off x="1717503" y="5689071"/>
              <a:ext cx="2880000" cy="626865"/>
            </a:xfrm>
            <a:custGeom>
              <a:avLst/>
              <a:gdLst>
                <a:gd name="connsiteX0" fmla="*/ 0 w 2337946"/>
                <a:gd name="connsiteY0" fmla="*/ 104480 h 626865"/>
                <a:gd name="connsiteX1" fmla="*/ 104480 w 2337946"/>
                <a:gd name="connsiteY1" fmla="*/ 0 h 626865"/>
                <a:gd name="connsiteX2" fmla="*/ 2233466 w 2337946"/>
                <a:gd name="connsiteY2" fmla="*/ 0 h 626865"/>
                <a:gd name="connsiteX3" fmla="*/ 2337946 w 2337946"/>
                <a:gd name="connsiteY3" fmla="*/ 104480 h 626865"/>
                <a:gd name="connsiteX4" fmla="*/ 2337946 w 2337946"/>
                <a:gd name="connsiteY4" fmla="*/ 522385 h 626865"/>
                <a:gd name="connsiteX5" fmla="*/ 2233466 w 2337946"/>
                <a:gd name="connsiteY5" fmla="*/ 626865 h 626865"/>
                <a:gd name="connsiteX6" fmla="*/ 104480 w 2337946"/>
                <a:gd name="connsiteY6" fmla="*/ 626865 h 626865"/>
                <a:gd name="connsiteX7" fmla="*/ 0 w 2337946"/>
                <a:gd name="connsiteY7" fmla="*/ 522385 h 626865"/>
                <a:gd name="connsiteX8" fmla="*/ 0 w 2337946"/>
                <a:gd name="connsiteY8" fmla="*/ 104480 h 62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7946" h="626865">
                  <a:moveTo>
                    <a:pt x="0" y="104480"/>
                  </a:moveTo>
                  <a:cubicBezTo>
                    <a:pt x="0" y="46777"/>
                    <a:pt x="46777" y="0"/>
                    <a:pt x="104480" y="0"/>
                  </a:cubicBezTo>
                  <a:lnTo>
                    <a:pt x="2233466" y="0"/>
                  </a:lnTo>
                  <a:cubicBezTo>
                    <a:pt x="2291169" y="0"/>
                    <a:pt x="2337946" y="46777"/>
                    <a:pt x="2337946" y="104480"/>
                  </a:cubicBezTo>
                  <a:lnTo>
                    <a:pt x="2337946" y="522385"/>
                  </a:lnTo>
                  <a:cubicBezTo>
                    <a:pt x="2337946" y="580088"/>
                    <a:pt x="2291169" y="626865"/>
                    <a:pt x="2233466" y="626865"/>
                  </a:cubicBezTo>
                  <a:lnTo>
                    <a:pt x="104480" y="626865"/>
                  </a:lnTo>
                  <a:cubicBezTo>
                    <a:pt x="46777" y="626865"/>
                    <a:pt x="0" y="580088"/>
                    <a:pt x="0" y="522385"/>
                  </a:cubicBezTo>
                  <a:lnTo>
                    <a:pt x="0" y="10448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525466" tIns="91561" rIns="91561" bIns="91561" numCol="1" spcCol="1270" anchor="ctr" anchorCtr="0">
              <a:noAutofit/>
            </a:bodyPr>
            <a:lstStyle/>
            <a:p>
              <a:pPr lvl="0" algn="l" defTabSz="711200">
                <a:lnSpc>
                  <a:spcPct val="90000"/>
                </a:lnSpc>
                <a:spcBef>
                  <a:spcPct val="0"/>
                </a:spcBef>
                <a:spcAft>
                  <a:spcPct val="35000"/>
                </a:spcAft>
              </a:pPr>
              <a:r>
                <a:rPr lang="en-US" sz="1600" kern="1200" dirty="0" smtClean="0">
                  <a:latin typeface="Helvetica" pitchFamily="34" charset="0"/>
                </a:rPr>
                <a:t>Unit requirements</a:t>
              </a:r>
              <a:endParaRPr lang="en-AU" sz="1600" kern="1200" dirty="0">
                <a:latin typeface="Helvetica" pitchFamily="34" charset="0"/>
              </a:endParaRPr>
            </a:p>
          </p:txBody>
        </p:sp>
        <p:sp>
          <p:nvSpPr>
            <p:cNvPr id="23" name="Oval 22"/>
            <p:cNvSpPr/>
            <p:nvPr/>
          </p:nvSpPr>
          <p:spPr>
            <a:xfrm>
              <a:off x="1069338" y="5074452"/>
              <a:ext cx="1083888" cy="1083811"/>
            </a:xfrm>
            <a:prstGeom prst="ellipse">
              <a:avLst/>
            </a:prstGeom>
            <a:blipFill>
              <a:blip r:embed="rId3" cstate="print">
                <a:extLst>
                  <a:ext uri="{28A0092B-C50C-407E-A947-70E740481C1C}">
                    <a14:useLocalDpi xmlns:a14="http://schemas.microsoft.com/office/drawing/2010/main" val="0"/>
                  </a:ext>
                </a:extLst>
              </a:blip>
              <a:srcRect/>
              <a:stretch>
                <a:fillRect l="-25000" r="-25000"/>
              </a:stretch>
            </a:blipFill>
            <a:ln>
              <a:solidFill>
                <a:schemeClr val="accent5">
                  <a:lumMod val="75000"/>
                </a:schemeClr>
              </a:solidFill>
            </a:ln>
          </p:spPr>
          <p:style>
            <a:lnRef idx="2">
              <a:scrgbClr r="0" g="0" b="0"/>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sp>
        <p:sp>
          <p:nvSpPr>
            <p:cNvPr id="24" name="Freeform 23"/>
            <p:cNvSpPr/>
            <p:nvPr/>
          </p:nvSpPr>
          <p:spPr>
            <a:xfrm>
              <a:off x="3221398" y="4875064"/>
              <a:ext cx="2880000" cy="626865"/>
            </a:xfrm>
            <a:custGeom>
              <a:avLst/>
              <a:gdLst>
                <a:gd name="connsiteX0" fmla="*/ 0 w 2337946"/>
                <a:gd name="connsiteY0" fmla="*/ 104480 h 626865"/>
                <a:gd name="connsiteX1" fmla="*/ 104480 w 2337946"/>
                <a:gd name="connsiteY1" fmla="*/ 0 h 626865"/>
                <a:gd name="connsiteX2" fmla="*/ 2233466 w 2337946"/>
                <a:gd name="connsiteY2" fmla="*/ 0 h 626865"/>
                <a:gd name="connsiteX3" fmla="*/ 2337946 w 2337946"/>
                <a:gd name="connsiteY3" fmla="*/ 104480 h 626865"/>
                <a:gd name="connsiteX4" fmla="*/ 2337946 w 2337946"/>
                <a:gd name="connsiteY4" fmla="*/ 522385 h 626865"/>
                <a:gd name="connsiteX5" fmla="*/ 2233466 w 2337946"/>
                <a:gd name="connsiteY5" fmla="*/ 626865 h 626865"/>
                <a:gd name="connsiteX6" fmla="*/ 104480 w 2337946"/>
                <a:gd name="connsiteY6" fmla="*/ 626865 h 626865"/>
                <a:gd name="connsiteX7" fmla="*/ 0 w 2337946"/>
                <a:gd name="connsiteY7" fmla="*/ 522385 h 626865"/>
                <a:gd name="connsiteX8" fmla="*/ 0 w 2337946"/>
                <a:gd name="connsiteY8" fmla="*/ 104480 h 62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7946" h="626865">
                  <a:moveTo>
                    <a:pt x="0" y="104480"/>
                  </a:moveTo>
                  <a:cubicBezTo>
                    <a:pt x="0" y="46777"/>
                    <a:pt x="46777" y="0"/>
                    <a:pt x="104480" y="0"/>
                  </a:cubicBezTo>
                  <a:lnTo>
                    <a:pt x="2233466" y="0"/>
                  </a:lnTo>
                  <a:cubicBezTo>
                    <a:pt x="2291169" y="0"/>
                    <a:pt x="2337946" y="46777"/>
                    <a:pt x="2337946" y="104480"/>
                  </a:cubicBezTo>
                  <a:lnTo>
                    <a:pt x="2337946" y="522385"/>
                  </a:lnTo>
                  <a:cubicBezTo>
                    <a:pt x="2337946" y="580088"/>
                    <a:pt x="2291169" y="626865"/>
                    <a:pt x="2233466" y="626865"/>
                  </a:cubicBezTo>
                  <a:lnTo>
                    <a:pt x="104480" y="626865"/>
                  </a:lnTo>
                  <a:cubicBezTo>
                    <a:pt x="46777" y="626865"/>
                    <a:pt x="0" y="580088"/>
                    <a:pt x="0" y="522385"/>
                  </a:cubicBezTo>
                  <a:lnTo>
                    <a:pt x="0" y="104480"/>
                  </a:ln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525466" tIns="91561" rIns="91561" bIns="91561" numCol="1" spcCol="1270" anchor="ctr" anchorCtr="0">
              <a:noAutofit/>
            </a:bodyPr>
            <a:lstStyle/>
            <a:p>
              <a:pPr lvl="0" algn="l" defTabSz="711200">
                <a:lnSpc>
                  <a:spcPct val="90000"/>
                </a:lnSpc>
                <a:spcBef>
                  <a:spcPct val="0"/>
                </a:spcBef>
                <a:spcAft>
                  <a:spcPct val="35000"/>
                </a:spcAft>
              </a:pPr>
              <a:r>
                <a:rPr lang="en-US" sz="1600" kern="1200" dirty="0" smtClean="0">
                  <a:latin typeface="Helvetica" pitchFamily="34" charset="0"/>
                </a:rPr>
                <a:t>What are we going to cover?</a:t>
              </a:r>
              <a:endParaRPr lang="en-AU" sz="1600" kern="1200" dirty="0">
                <a:latin typeface="Helvetica" pitchFamily="34" charset="0"/>
              </a:endParaRPr>
            </a:p>
          </p:txBody>
        </p:sp>
        <p:sp>
          <p:nvSpPr>
            <p:cNvPr id="25" name="Oval 24"/>
            <p:cNvSpPr/>
            <p:nvPr/>
          </p:nvSpPr>
          <p:spPr>
            <a:xfrm>
              <a:off x="2573233" y="4260445"/>
              <a:ext cx="1083888" cy="1083811"/>
            </a:xfrm>
            <a:prstGeom prst="ellipse">
              <a:avLst/>
            </a:prstGeom>
            <a:blipFill>
              <a:blip r:embed="rId4" cstate="print">
                <a:extLst>
                  <a:ext uri="{28A0092B-C50C-407E-A947-70E740481C1C}">
                    <a14:useLocalDpi xmlns:a14="http://schemas.microsoft.com/office/drawing/2010/main" val="0"/>
                  </a:ext>
                </a:extLst>
              </a:blip>
              <a:srcRect/>
              <a:stretch>
                <a:fillRect t="-17000" b="-17000"/>
              </a:stretch>
            </a:blipFill>
            <a:ln>
              <a:solidFill>
                <a:schemeClr val="bg2">
                  <a:lumMod val="50000"/>
                </a:schemeClr>
              </a:solidFill>
            </a:ln>
          </p:spPr>
          <p:style>
            <a:lnRef idx="2">
              <a:scrgbClr r="0" g="0" b="0"/>
            </a:lnRef>
            <a:fillRef idx="1">
              <a:scrgbClr r="0" g="0" b="0"/>
            </a:fillRef>
            <a:effectRef idx="0">
              <a:schemeClr val="accent5">
                <a:tint val="50000"/>
                <a:hueOff val="-1799710"/>
                <a:satOff val="-1557"/>
                <a:lumOff val="-2081"/>
                <a:alphaOff val="0"/>
              </a:schemeClr>
            </a:effectRef>
            <a:fontRef idx="minor">
              <a:schemeClr val="lt1">
                <a:hueOff val="0"/>
                <a:satOff val="0"/>
                <a:lumOff val="0"/>
                <a:alphaOff val="0"/>
              </a:schemeClr>
            </a:fontRef>
          </p:style>
        </p:sp>
        <p:sp>
          <p:nvSpPr>
            <p:cNvPr id="26" name="Freeform 25"/>
            <p:cNvSpPr/>
            <p:nvPr/>
          </p:nvSpPr>
          <p:spPr>
            <a:xfrm>
              <a:off x="3911834" y="3640468"/>
              <a:ext cx="2880000" cy="626865"/>
            </a:xfrm>
            <a:custGeom>
              <a:avLst/>
              <a:gdLst>
                <a:gd name="connsiteX0" fmla="*/ 0 w 2337946"/>
                <a:gd name="connsiteY0" fmla="*/ 104480 h 626865"/>
                <a:gd name="connsiteX1" fmla="*/ 104480 w 2337946"/>
                <a:gd name="connsiteY1" fmla="*/ 0 h 626865"/>
                <a:gd name="connsiteX2" fmla="*/ 2233466 w 2337946"/>
                <a:gd name="connsiteY2" fmla="*/ 0 h 626865"/>
                <a:gd name="connsiteX3" fmla="*/ 2337946 w 2337946"/>
                <a:gd name="connsiteY3" fmla="*/ 104480 h 626865"/>
                <a:gd name="connsiteX4" fmla="*/ 2337946 w 2337946"/>
                <a:gd name="connsiteY4" fmla="*/ 522385 h 626865"/>
                <a:gd name="connsiteX5" fmla="*/ 2233466 w 2337946"/>
                <a:gd name="connsiteY5" fmla="*/ 626865 h 626865"/>
                <a:gd name="connsiteX6" fmla="*/ 104480 w 2337946"/>
                <a:gd name="connsiteY6" fmla="*/ 626865 h 626865"/>
                <a:gd name="connsiteX7" fmla="*/ 0 w 2337946"/>
                <a:gd name="connsiteY7" fmla="*/ 522385 h 626865"/>
                <a:gd name="connsiteX8" fmla="*/ 0 w 2337946"/>
                <a:gd name="connsiteY8" fmla="*/ 104480 h 62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7946" h="626865">
                  <a:moveTo>
                    <a:pt x="0" y="104480"/>
                  </a:moveTo>
                  <a:cubicBezTo>
                    <a:pt x="0" y="46777"/>
                    <a:pt x="46777" y="0"/>
                    <a:pt x="104480" y="0"/>
                  </a:cubicBezTo>
                  <a:lnTo>
                    <a:pt x="2233466" y="0"/>
                  </a:lnTo>
                  <a:cubicBezTo>
                    <a:pt x="2291169" y="0"/>
                    <a:pt x="2337946" y="46777"/>
                    <a:pt x="2337946" y="104480"/>
                  </a:cubicBezTo>
                  <a:lnTo>
                    <a:pt x="2337946" y="522385"/>
                  </a:lnTo>
                  <a:cubicBezTo>
                    <a:pt x="2337946" y="580088"/>
                    <a:pt x="2291169" y="626865"/>
                    <a:pt x="2233466" y="626865"/>
                  </a:cubicBezTo>
                  <a:lnTo>
                    <a:pt x="104480" y="626865"/>
                  </a:lnTo>
                  <a:cubicBezTo>
                    <a:pt x="46777" y="626865"/>
                    <a:pt x="0" y="580088"/>
                    <a:pt x="0" y="522385"/>
                  </a:cubicBezTo>
                  <a:lnTo>
                    <a:pt x="0" y="10448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525466" tIns="91561" rIns="91561" bIns="91561" numCol="1" spcCol="1270" anchor="ctr" anchorCtr="0">
              <a:noAutofit/>
            </a:bodyPr>
            <a:lstStyle/>
            <a:p>
              <a:pPr lvl="0" algn="l" defTabSz="711200">
                <a:lnSpc>
                  <a:spcPct val="90000"/>
                </a:lnSpc>
                <a:spcBef>
                  <a:spcPct val="0"/>
                </a:spcBef>
                <a:spcAft>
                  <a:spcPct val="35000"/>
                </a:spcAft>
              </a:pPr>
              <a:r>
                <a:rPr lang="en-US" sz="1600" kern="1200" dirty="0" smtClean="0">
                  <a:latin typeface="Helvetica" pitchFamily="34" charset="0"/>
                </a:rPr>
                <a:t>Trainer</a:t>
              </a:r>
              <a:endParaRPr lang="en-AU" sz="1600" kern="1200" dirty="0">
                <a:latin typeface="Helvetica" pitchFamily="34" charset="0"/>
              </a:endParaRPr>
            </a:p>
          </p:txBody>
        </p:sp>
        <p:sp>
          <p:nvSpPr>
            <p:cNvPr id="27" name="Oval 26"/>
            <p:cNvSpPr/>
            <p:nvPr/>
          </p:nvSpPr>
          <p:spPr>
            <a:xfrm>
              <a:off x="3263669" y="3025849"/>
              <a:ext cx="1083888" cy="1083811"/>
            </a:xfrm>
            <a:prstGeom prst="ellipse">
              <a:avLst/>
            </a:prstGeom>
            <a:blipFill>
              <a:blip r:embed="rId5" cstate="print">
                <a:extLst>
                  <a:ext uri="{28A0092B-C50C-407E-A947-70E740481C1C}">
                    <a14:useLocalDpi xmlns:a14="http://schemas.microsoft.com/office/drawing/2010/main" val="0"/>
                  </a:ext>
                </a:extLst>
              </a:blip>
              <a:srcRect/>
              <a:stretch>
                <a:fillRect l="-17000" r="-17000"/>
              </a:stretch>
            </a:blipFill>
            <a:ln>
              <a:solidFill>
                <a:schemeClr val="accent6">
                  <a:lumMod val="60000"/>
                  <a:lumOff val="40000"/>
                </a:schemeClr>
              </a:solidFill>
            </a:ln>
          </p:spPr>
          <p:style>
            <a:lnRef idx="2">
              <a:scrgbClr r="0" g="0" b="0"/>
            </a:lnRef>
            <a:fillRef idx="1">
              <a:scrgbClr r="0" g="0" b="0"/>
            </a:fillRef>
            <a:effectRef idx="0">
              <a:schemeClr val="accent5">
                <a:tint val="50000"/>
                <a:hueOff val="-3599420"/>
                <a:satOff val="-3114"/>
                <a:lumOff val="-4163"/>
                <a:alphaOff val="0"/>
              </a:schemeClr>
            </a:effectRef>
            <a:fontRef idx="minor">
              <a:schemeClr val="lt1">
                <a:hueOff val="0"/>
                <a:satOff val="0"/>
                <a:lumOff val="0"/>
                <a:alphaOff val="0"/>
              </a:schemeClr>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and plan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467600" cy="4800600"/>
          </a:xfrm>
        </p:spPr>
        <p:txBody>
          <a:bodyPr>
            <a:normAutofit/>
          </a:bodyPr>
          <a:lstStyle/>
          <a:p>
            <a:pPr marL="36576" indent="0">
              <a:spcBef>
                <a:spcPts val="600"/>
              </a:spcBef>
              <a:spcAft>
                <a:spcPts val="1200"/>
              </a:spcAft>
              <a:buNone/>
            </a:pPr>
            <a:r>
              <a:rPr lang="en-US" sz="2200" dirty="0">
                <a:latin typeface="Helvetica" pitchFamily="34" charset="0"/>
              </a:rPr>
              <a:t>Assessment for this unit may include:</a:t>
            </a:r>
          </a:p>
          <a:p>
            <a:pPr>
              <a:spcBef>
                <a:spcPts val="600"/>
              </a:spcBef>
              <a:spcAft>
                <a:spcPts val="1200"/>
              </a:spcAft>
            </a:pPr>
            <a:r>
              <a:rPr lang="en-US" sz="2200" dirty="0">
                <a:latin typeface="Helvetica" pitchFamily="34" charset="0"/>
              </a:rPr>
              <a:t>Oral questions</a:t>
            </a:r>
          </a:p>
          <a:p>
            <a:pPr>
              <a:spcBef>
                <a:spcPts val="600"/>
              </a:spcBef>
              <a:spcAft>
                <a:spcPts val="1200"/>
              </a:spcAft>
            </a:pPr>
            <a:r>
              <a:rPr lang="en-US" sz="2200" dirty="0">
                <a:latin typeface="Helvetica" pitchFamily="34" charset="0"/>
              </a:rPr>
              <a:t>Written questions</a:t>
            </a:r>
          </a:p>
          <a:p>
            <a:pPr>
              <a:spcBef>
                <a:spcPts val="600"/>
              </a:spcBef>
              <a:spcAft>
                <a:spcPts val="1200"/>
              </a:spcAft>
            </a:pPr>
            <a:r>
              <a:rPr lang="en-US" sz="2200" dirty="0">
                <a:latin typeface="Helvetica" pitchFamily="34" charset="0"/>
              </a:rPr>
              <a:t>Work projects</a:t>
            </a:r>
          </a:p>
          <a:p>
            <a:pPr>
              <a:spcBef>
                <a:spcPts val="600"/>
              </a:spcBef>
              <a:spcAft>
                <a:spcPts val="1200"/>
              </a:spcAft>
            </a:pPr>
            <a:r>
              <a:rPr lang="en-US" sz="2200" dirty="0">
                <a:latin typeface="Helvetica" pitchFamily="34" charset="0"/>
              </a:rPr>
              <a:t>Workplace observation of practical skills</a:t>
            </a:r>
          </a:p>
          <a:p>
            <a:pPr>
              <a:spcBef>
                <a:spcPts val="600"/>
              </a:spcBef>
              <a:spcAft>
                <a:spcPts val="1200"/>
              </a:spcAft>
            </a:pPr>
            <a:r>
              <a:rPr lang="en-US" sz="2200" dirty="0">
                <a:latin typeface="Helvetica" pitchFamily="34" charset="0"/>
              </a:rPr>
              <a:t>Practical exercises</a:t>
            </a:r>
          </a:p>
          <a:p>
            <a:pPr>
              <a:spcBef>
                <a:spcPts val="600"/>
              </a:spcBef>
              <a:spcAft>
                <a:spcPts val="1200"/>
              </a:spcAft>
            </a:pPr>
            <a:r>
              <a:rPr lang="en-US" sz="2200" dirty="0">
                <a:latin typeface="Helvetica" pitchFamily="34" charset="0"/>
              </a:rPr>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667000"/>
            <a:ext cx="2039888" cy="2039888"/>
          </a:xfrm>
          <a:prstGeom prst="rect">
            <a:avLst/>
          </a:prstGeom>
        </p:spPr>
      </p:pic>
    </p:spTree>
    <p:extLst>
      <p:ext uri="{BB962C8B-B14F-4D97-AF65-F5344CB8AC3E}">
        <p14:creationId xmlns:p14="http://schemas.microsoft.com/office/powerpoint/2010/main" val="243244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and plan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467600" cy="4330155"/>
          </a:xfrm>
        </p:spPr>
        <p:txBody>
          <a:bodyPr>
            <a:normAutofit/>
          </a:bodyPr>
          <a:lstStyle/>
          <a:p>
            <a:pPr marL="457200" indent="-457200">
              <a:spcBef>
                <a:spcPts val="600"/>
              </a:spcBef>
              <a:spcAft>
                <a:spcPts val="1200"/>
              </a:spcAft>
              <a:buNone/>
            </a:pPr>
            <a:r>
              <a:rPr lang="en-US" sz="2200" b="1" dirty="0" smtClean="0">
                <a:latin typeface="Helvetica" pitchFamily="34" charset="0"/>
              </a:rPr>
              <a:t>This unit has 4 elements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grpSp>
        <p:nvGrpSpPr>
          <p:cNvPr id="7" name="Group 6"/>
          <p:cNvGrpSpPr/>
          <p:nvPr/>
        </p:nvGrpSpPr>
        <p:grpSpPr>
          <a:xfrm>
            <a:off x="838200" y="2430599"/>
            <a:ext cx="6096000" cy="3520801"/>
            <a:chOff x="838200" y="2430599"/>
            <a:chExt cx="6096000" cy="3520801"/>
          </a:xfrm>
        </p:grpSpPr>
        <p:sp>
          <p:nvSpPr>
            <p:cNvPr id="8" name="Rectangle 7"/>
            <p:cNvSpPr/>
            <p:nvPr/>
          </p:nvSpPr>
          <p:spPr>
            <a:xfrm>
              <a:off x="838200" y="2725799"/>
              <a:ext cx="6096000" cy="504000"/>
            </a:xfrm>
            <a:prstGeom prst="rect">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9" name="Freeform 8"/>
            <p:cNvSpPr/>
            <p:nvPr/>
          </p:nvSpPr>
          <p:spPr>
            <a:xfrm>
              <a:off x="1143000" y="2430599"/>
              <a:ext cx="4267200" cy="590400"/>
            </a:xfrm>
            <a:custGeom>
              <a:avLst/>
              <a:gdLst>
                <a:gd name="connsiteX0" fmla="*/ 0 w 4267200"/>
                <a:gd name="connsiteY0" fmla="*/ 98402 h 590400"/>
                <a:gd name="connsiteX1" fmla="*/ 98402 w 4267200"/>
                <a:gd name="connsiteY1" fmla="*/ 0 h 590400"/>
                <a:gd name="connsiteX2" fmla="*/ 4168798 w 4267200"/>
                <a:gd name="connsiteY2" fmla="*/ 0 h 590400"/>
                <a:gd name="connsiteX3" fmla="*/ 4267200 w 4267200"/>
                <a:gd name="connsiteY3" fmla="*/ 98402 h 590400"/>
                <a:gd name="connsiteX4" fmla="*/ 4267200 w 4267200"/>
                <a:gd name="connsiteY4" fmla="*/ 491998 h 590400"/>
                <a:gd name="connsiteX5" fmla="*/ 4168798 w 4267200"/>
                <a:gd name="connsiteY5" fmla="*/ 590400 h 590400"/>
                <a:gd name="connsiteX6" fmla="*/ 98402 w 4267200"/>
                <a:gd name="connsiteY6" fmla="*/ 590400 h 590400"/>
                <a:gd name="connsiteX7" fmla="*/ 0 w 4267200"/>
                <a:gd name="connsiteY7" fmla="*/ 491998 h 590400"/>
                <a:gd name="connsiteX8" fmla="*/ 0 w 4267200"/>
                <a:gd name="connsiteY8" fmla="*/ 98402 h 5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590400">
                  <a:moveTo>
                    <a:pt x="0" y="98402"/>
                  </a:moveTo>
                  <a:cubicBezTo>
                    <a:pt x="0" y="44056"/>
                    <a:pt x="44056" y="0"/>
                    <a:pt x="98402" y="0"/>
                  </a:cubicBezTo>
                  <a:lnTo>
                    <a:pt x="4168798" y="0"/>
                  </a:lnTo>
                  <a:cubicBezTo>
                    <a:pt x="4223144" y="0"/>
                    <a:pt x="4267200" y="44056"/>
                    <a:pt x="4267200" y="98402"/>
                  </a:cubicBezTo>
                  <a:lnTo>
                    <a:pt x="4267200" y="491998"/>
                  </a:lnTo>
                  <a:cubicBezTo>
                    <a:pt x="4267200" y="546344"/>
                    <a:pt x="4223144" y="590400"/>
                    <a:pt x="4168798" y="590400"/>
                  </a:cubicBezTo>
                  <a:lnTo>
                    <a:pt x="98402" y="590400"/>
                  </a:lnTo>
                  <a:cubicBezTo>
                    <a:pt x="44056" y="590400"/>
                    <a:pt x="0" y="546344"/>
                    <a:pt x="0" y="491998"/>
                  </a:cubicBezTo>
                  <a:lnTo>
                    <a:pt x="0" y="9840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90111" tIns="28821" rIns="190111" bIns="28821" numCol="1" spcCol="1270" anchor="ctr" anchorCtr="0">
              <a:noAutofit/>
            </a:bodyPr>
            <a:lstStyle/>
            <a:p>
              <a:pPr lvl="0" algn="l" defTabSz="711200">
                <a:lnSpc>
                  <a:spcPct val="90000"/>
                </a:lnSpc>
                <a:spcBef>
                  <a:spcPct val="0"/>
                </a:spcBef>
                <a:spcAft>
                  <a:spcPct val="35000"/>
                </a:spcAft>
              </a:pPr>
              <a:r>
                <a:rPr lang="en-US" sz="1600" b="1" kern="1200" dirty="0" smtClean="0">
                  <a:latin typeface="Helvetica" pitchFamily="34" charset="0"/>
                </a:rPr>
                <a:t>Research local tourism opportunities</a:t>
              </a:r>
              <a:endParaRPr lang="en-AU" sz="1600" b="1" kern="1200" dirty="0"/>
            </a:p>
          </p:txBody>
        </p:sp>
        <p:sp>
          <p:nvSpPr>
            <p:cNvPr id="10" name="Rectangle 9"/>
            <p:cNvSpPr/>
            <p:nvPr/>
          </p:nvSpPr>
          <p:spPr>
            <a:xfrm>
              <a:off x="838200" y="3632999"/>
              <a:ext cx="6096000" cy="504000"/>
            </a:xfrm>
            <a:prstGeom prst="rect">
              <a:avLst/>
            </a:prstGeom>
          </p:spPr>
          <p:style>
            <a:lnRef idx="2">
              <a:schemeClr val="accent5">
                <a:hueOff val="-1032172"/>
                <a:satOff val="10348"/>
                <a:lumOff val="-719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1" name="Freeform 10"/>
            <p:cNvSpPr/>
            <p:nvPr/>
          </p:nvSpPr>
          <p:spPr>
            <a:xfrm>
              <a:off x="1143000" y="3337799"/>
              <a:ext cx="4267200" cy="590400"/>
            </a:xfrm>
            <a:custGeom>
              <a:avLst/>
              <a:gdLst>
                <a:gd name="connsiteX0" fmla="*/ 0 w 4267200"/>
                <a:gd name="connsiteY0" fmla="*/ 98402 h 590400"/>
                <a:gd name="connsiteX1" fmla="*/ 98402 w 4267200"/>
                <a:gd name="connsiteY1" fmla="*/ 0 h 590400"/>
                <a:gd name="connsiteX2" fmla="*/ 4168798 w 4267200"/>
                <a:gd name="connsiteY2" fmla="*/ 0 h 590400"/>
                <a:gd name="connsiteX3" fmla="*/ 4267200 w 4267200"/>
                <a:gd name="connsiteY3" fmla="*/ 98402 h 590400"/>
                <a:gd name="connsiteX4" fmla="*/ 4267200 w 4267200"/>
                <a:gd name="connsiteY4" fmla="*/ 491998 h 590400"/>
                <a:gd name="connsiteX5" fmla="*/ 4168798 w 4267200"/>
                <a:gd name="connsiteY5" fmla="*/ 590400 h 590400"/>
                <a:gd name="connsiteX6" fmla="*/ 98402 w 4267200"/>
                <a:gd name="connsiteY6" fmla="*/ 590400 h 590400"/>
                <a:gd name="connsiteX7" fmla="*/ 0 w 4267200"/>
                <a:gd name="connsiteY7" fmla="*/ 491998 h 590400"/>
                <a:gd name="connsiteX8" fmla="*/ 0 w 4267200"/>
                <a:gd name="connsiteY8" fmla="*/ 98402 h 5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590400">
                  <a:moveTo>
                    <a:pt x="0" y="98402"/>
                  </a:moveTo>
                  <a:cubicBezTo>
                    <a:pt x="0" y="44056"/>
                    <a:pt x="44056" y="0"/>
                    <a:pt x="98402" y="0"/>
                  </a:cubicBezTo>
                  <a:lnTo>
                    <a:pt x="4168798" y="0"/>
                  </a:lnTo>
                  <a:cubicBezTo>
                    <a:pt x="4223144" y="0"/>
                    <a:pt x="4267200" y="44056"/>
                    <a:pt x="4267200" y="98402"/>
                  </a:cubicBezTo>
                  <a:lnTo>
                    <a:pt x="4267200" y="491998"/>
                  </a:lnTo>
                  <a:cubicBezTo>
                    <a:pt x="4267200" y="546344"/>
                    <a:pt x="4223144" y="590400"/>
                    <a:pt x="4168798" y="590400"/>
                  </a:cubicBezTo>
                  <a:lnTo>
                    <a:pt x="98402" y="590400"/>
                  </a:lnTo>
                  <a:cubicBezTo>
                    <a:pt x="44056" y="590400"/>
                    <a:pt x="0" y="546344"/>
                    <a:pt x="0" y="491998"/>
                  </a:cubicBezTo>
                  <a:lnTo>
                    <a:pt x="0" y="98402"/>
                  </a:lnTo>
                  <a:close/>
                </a:path>
              </a:pathLst>
            </a:custGeom>
          </p:spPr>
          <p:style>
            <a:lnRef idx="2">
              <a:schemeClr val="lt1">
                <a:hueOff val="0"/>
                <a:satOff val="0"/>
                <a:lumOff val="0"/>
                <a:alphaOff val="0"/>
              </a:schemeClr>
            </a:lnRef>
            <a:fillRef idx="1">
              <a:schemeClr val="accent5">
                <a:hueOff val="-1032172"/>
                <a:satOff val="10348"/>
                <a:lumOff val="-7190"/>
                <a:alphaOff val="0"/>
              </a:schemeClr>
            </a:fillRef>
            <a:effectRef idx="0">
              <a:schemeClr val="accent5">
                <a:hueOff val="-1032172"/>
                <a:satOff val="10348"/>
                <a:lumOff val="-7190"/>
                <a:alphaOff val="0"/>
              </a:schemeClr>
            </a:effectRef>
            <a:fontRef idx="minor">
              <a:schemeClr val="lt1"/>
            </a:fontRef>
          </p:style>
          <p:txBody>
            <a:bodyPr spcFirstLastPara="0" vert="horz" wrap="square" lIns="190111" tIns="28821" rIns="190111" bIns="28821" numCol="1" spcCol="1270" anchor="ctr" anchorCtr="0">
              <a:noAutofit/>
            </a:bodyPr>
            <a:lstStyle/>
            <a:p>
              <a:pPr lvl="0" algn="l" defTabSz="711200">
                <a:lnSpc>
                  <a:spcPct val="90000"/>
                </a:lnSpc>
                <a:spcBef>
                  <a:spcPct val="0"/>
                </a:spcBef>
                <a:spcAft>
                  <a:spcPct val="35000"/>
                </a:spcAft>
              </a:pPr>
              <a:r>
                <a:rPr lang="en-US" sz="1600" b="1" kern="1200" dirty="0" smtClean="0">
                  <a:latin typeface="Helvetica" pitchFamily="34" charset="0"/>
                </a:rPr>
                <a:t>Interpret research results </a:t>
              </a:r>
              <a:endParaRPr lang="en-AU" sz="1600" b="1" kern="1200" dirty="0"/>
            </a:p>
          </p:txBody>
        </p:sp>
        <p:sp>
          <p:nvSpPr>
            <p:cNvPr id="12" name="Rectangle 11"/>
            <p:cNvSpPr/>
            <p:nvPr/>
          </p:nvSpPr>
          <p:spPr>
            <a:xfrm>
              <a:off x="838200" y="4540200"/>
              <a:ext cx="6096000" cy="504000"/>
            </a:xfrm>
            <a:prstGeom prst="rect">
              <a:avLst/>
            </a:prstGeom>
          </p:spPr>
          <p:style>
            <a:lnRef idx="2">
              <a:schemeClr val="accent5">
                <a:hueOff val="-2064345"/>
                <a:satOff val="20696"/>
                <a:lumOff val="-1437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3" name="Freeform 12"/>
            <p:cNvSpPr/>
            <p:nvPr/>
          </p:nvSpPr>
          <p:spPr>
            <a:xfrm>
              <a:off x="1143000" y="4245000"/>
              <a:ext cx="4267200" cy="590400"/>
            </a:xfrm>
            <a:custGeom>
              <a:avLst/>
              <a:gdLst>
                <a:gd name="connsiteX0" fmla="*/ 0 w 4267200"/>
                <a:gd name="connsiteY0" fmla="*/ 98402 h 590400"/>
                <a:gd name="connsiteX1" fmla="*/ 98402 w 4267200"/>
                <a:gd name="connsiteY1" fmla="*/ 0 h 590400"/>
                <a:gd name="connsiteX2" fmla="*/ 4168798 w 4267200"/>
                <a:gd name="connsiteY2" fmla="*/ 0 h 590400"/>
                <a:gd name="connsiteX3" fmla="*/ 4267200 w 4267200"/>
                <a:gd name="connsiteY3" fmla="*/ 98402 h 590400"/>
                <a:gd name="connsiteX4" fmla="*/ 4267200 w 4267200"/>
                <a:gd name="connsiteY4" fmla="*/ 491998 h 590400"/>
                <a:gd name="connsiteX5" fmla="*/ 4168798 w 4267200"/>
                <a:gd name="connsiteY5" fmla="*/ 590400 h 590400"/>
                <a:gd name="connsiteX6" fmla="*/ 98402 w 4267200"/>
                <a:gd name="connsiteY6" fmla="*/ 590400 h 590400"/>
                <a:gd name="connsiteX7" fmla="*/ 0 w 4267200"/>
                <a:gd name="connsiteY7" fmla="*/ 491998 h 590400"/>
                <a:gd name="connsiteX8" fmla="*/ 0 w 4267200"/>
                <a:gd name="connsiteY8" fmla="*/ 98402 h 5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590400">
                  <a:moveTo>
                    <a:pt x="0" y="98402"/>
                  </a:moveTo>
                  <a:cubicBezTo>
                    <a:pt x="0" y="44056"/>
                    <a:pt x="44056" y="0"/>
                    <a:pt x="98402" y="0"/>
                  </a:cubicBezTo>
                  <a:lnTo>
                    <a:pt x="4168798" y="0"/>
                  </a:lnTo>
                  <a:cubicBezTo>
                    <a:pt x="4223144" y="0"/>
                    <a:pt x="4267200" y="44056"/>
                    <a:pt x="4267200" y="98402"/>
                  </a:cubicBezTo>
                  <a:lnTo>
                    <a:pt x="4267200" y="491998"/>
                  </a:lnTo>
                  <a:cubicBezTo>
                    <a:pt x="4267200" y="546344"/>
                    <a:pt x="4223144" y="590400"/>
                    <a:pt x="4168798" y="590400"/>
                  </a:cubicBezTo>
                  <a:lnTo>
                    <a:pt x="98402" y="590400"/>
                  </a:lnTo>
                  <a:cubicBezTo>
                    <a:pt x="44056" y="590400"/>
                    <a:pt x="0" y="546344"/>
                    <a:pt x="0" y="491998"/>
                  </a:cubicBezTo>
                  <a:lnTo>
                    <a:pt x="0" y="98402"/>
                  </a:lnTo>
                  <a:close/>
                </a:path>
              </a:pathLst>
            </a:custGeom>
          </p:spPr>
          <p:style>
            <a:lnRef idx="2">
              <a:schemeClr val="lt1">
                <a:hueOff val="0"/>
                <a:satOff val="0"/>
                <a:lumOff val="0"/>
                <a:alphaOff val="0"/>
              </a:schemeClr>
            </a:lnRef>
            <a:fillRef idx="1">
              <a:schemeClr val="accent5">
                <a:hueOff val="-2064345"/>
                <a:satOff val="20696"/>
                <a:lumOff val="-14379"/>
                <a:alphaOff val="0"/>
              </a:schemeClr>
            </a:fillRef>
            <a:effectRef idx="0">
              <a:schemeClr val="accent5">
                <a:hueOff val="-2064345"/>
                <a:satOff val="20696"/>
                <a:lumOff val="-14379"/>
                <a:alphaOff val="0"/>
              </a:schemeClr>
            </a:effectRef>
            <a:fontRef idx="minor">
              <a:schemeClr val="lt1"/>
            </a:fontRef>
          </p:style>
          <p:txBody>
            <a:bodyPr spcFirstLastPara="0" vert="horz" wrap="square" lIns="190111" tIns="28821" rIns="190111" bIns="28821" numCol="1" spcCol="1270" anchor="ctr" anchorCtr="0">
              <a:noAutofit/>
            </a:bodyPr>
            <a:lstStyle/>
            <a:p>
              <a:pPr lvl="0" algn="l" defTabSz="711200">
                <a:lnSpc>
                  <a:spcPct val="90000"/>
                </a:lnSpc>
                <a:spcBef>
                  <a:spcPct val="0"/>
                </a:spcBef>
                <a:spcAft>
                  <a:spcPct val="35000"/>
                </a:spcAft>
              </a:pPr>
              <a:r>
                <a:rPr lang="en-US" sz="1600" b="1" kern="1200" dirty="0" smtClean="0">
                  <a:latin typeface="Helvetica" pitchFamily="34" charset="0"/>
                </a:rPr>
                <a:t>Prepare formal draft plans</a:t>
              </a:r>
              <a:endParaRPr lang="en-AU" sz="1600" b="1" kern="1200" dirty="0"/>
            </a:p>
          </p:txBody>
        </p:sp>
        <p:sp>
          <p:nvSpPr>
            <p:cNvPr id="14" name="Rectangle 13"/>
            <p:cNvSpPr/>
            <p:nvPr/>
          </p:nvSpPr>
          <p:spPr>
            <a:xfrm>
              <a:off x="838200" y="5447400"/>
              <a:ext cx="6096000" cy="504000"/>
            </a:xfrm>
            <a:prstGeom prst="rect">
              <a:avLst/>
            </a:prstGeom>
          </p:spPr>
          <p:style>
            <a:lnRef idx="2">
              <a:schemeClr val="accent5">
                <a:hueOff val="-3096517"/>
                <a:satOff val="31044"/>
                <a:lumOff val="-2156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Freeform 14"/>
            <p:cNvSpPr/>
            <p:nvPr/>
          </p:nvSpPr>
          <p:spPr>
            <a:xfrm>
              <a:off x="1143000" y="5152200"/>
              <a:ext cx="4267200" cy="590400"/>
            </a:xfrm>
            <a:custGeom>
              <a:avLst/>
              <a:gdLst>
                <a:gd name="connsiteX0" fmla="*/ 0 w 4267200"/>
                <a:gd name="connsiteY0" fmla="*/ 98402 h 590400"/>
                <a:gd name="connsiteX1" fmla="*/ 98402 w 4267200"/>
                <a:gd name="connsiteY1" fmla="*/ 0 h 590400"/>
                <a:gd name="connsiteX2" fmla="*/ 4168798 w 4267200"/>
                <a:gd name="connsiteY2" fmla="*/ 0 h 590400"/>
                <a:gd name="connsiteX3" fmla="*/ 4267200 w 4267200"/>
                <a:gd name="connsiteY3" fmla="*/ 98402 h 590400"/>
                <a:gd name="connsiteX4" fmla="*/ 4267200 w 4267200"/>
                <a:gd name="connsiteY4" fmla="*/ 491998 h 590400"/>
                <a:gd name="connsiteX5" fmla="*/ 4168798 w 4267200"/>
                <a:gd name="connsiteY5" fmla="*/ 590400 h 590400"/>
                <a:gd name="connsiteX6" fmla="*/ 98402 w 4267200"/>
                <a:gd name="connsiteY6" fmla="*/ 590400 h 590400"/>
                <a:gd name="connsiteX7" fmla="*/ 0 w 4267200"/>
                <a:gd name="connsiteY7" fmla="*/ 491998 h 590400"/>
                <a:gd name="connsiteX8" fmla="*/ 0 w 4267200"/>
                <a:gd name="connsiteY8" fmla="*/ 98402 h 5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590400">
                  <a:moveTo>
                    <a:pt x="0" y="98402"/>
                  </a:moveTo>
                  <a:cubicBezTo>
                    <a:pt x="0" y="44056"/>
                    <a:pt x="44056" y="0"/>
                    <a:pt x="98402" y="0"/>
                  </a:cubicBezTo>
                  <a:lnTo>
                    <a:pt x="4168798" y="0"/>
                  </a:lnTo>
                  <a:cubicBezTo>
                    <a:pt x="4223144" y="0"/>
                    <a:pt x="4267200" y="44056"/>
                    <a:pt x="4267200" y="98402"/>
                  </a:cubicBezTo>
                  <a:lnTo>
                    <a:pt x="4267200" y="491998"/>
                  </a:lnTo>
                  <a:cubicBezTo>
                    <a:pt x="4267200" y="546344"/>
                    <a:pt x="4223144" y="590400"/>
                    <a:pt x="4168798" y="590400"/>
                  </a:cubicBezTo>
                  <a:lnTo>
                    <a:pt x="98402" y="590400"/>
                  </a:lnTo>
                  <a:cubicBezTo>
                    <a:pt x="44056" y="590400"/>
                    <a:pt x="0" y="546344"/>
                    <a:pt x="0" y="491998"/>
                  </a:cubicBezTo>
                  <a:lnTo>
                    <a:pt x="0" y="98402"/>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190111" tIns="28821" rIns="190111" bIns="28821" numCol="1" spcCol="1270" anchor="ctr" anchorCtr="0">
              <a:noAutofit/>
            </a:bodyPr>
            <a:lstStyle/>
            <a:p>
              <a:pPr lvl="0" algn="l" defTabSz="711200">
                <a:lnSpc>
                  <a:spcPct val="90000"/>
                </a:lnSpc>
                <a:spcBef>
                  <a:spcPct val="0"/>
                </a:spcBef>
                <a:spcAft>
                  <a:spcPct val="35000"/>
                </a:spcAft>
              </a:pPr>
              <a:r>
                <a:rPr lang="en-US" sz="1600" b="1" kern="1200" dirty="0" smtClean="0">
                  <a:latin typeface="Helvetica" pitchFamily="34" charset="0"/>
                </a:rPr>
                <a:t>Present draft plans </a:t>
              </a:r>
              <a:endParaRPr lang="en-AU" sz="1600" b="1" kern="12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Research local tourism opportunities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467600" cy="4953000"/>
          </a:xfrm>
        </p:spPr>
        <p:txBody>
          <a:bodyPr>
            <a:normAutofit/>
          </a:bodyPr>
          <a:lstStyle/>
          <a:p>
            <a:pPr marL="457200" indent="-457200">
              <a:spcBef>
                <a:spcPts val="600"/>
              </a:spcBef>
              <a:spcAft>
                <a:spcPts val="1200"/>
              </a:spcAft>
              <a:buNone/>
            </a:pPr>
            <a:r>
              <a:rPr lang="en-US" sz="2200" b="1" dirty="0" smtClean="0">
                <a:latin typeface="Helvetica" pitchFamily="34" charset="0"/>
              </a:rPr>
              <a:t>This element has 5 criteria</a:t>
            </a:r>
          </a:p>
          <a:p>
            <a:pPr marL="0" indent="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grpSp>
        <p:nvGrpSpPr>
          <p:cNvPr id="1034" name="Group 1033"/>
          <p:cNvGrpSpPr/>
          <p:nvPr/>
        </p:nvGrpSpPr>
        <p:grpSpPr>
          <a:xfrm>
            <a:off x="609600" y="2286000"/>
            <a:ext cx="6172200" cy="4038599"/>
            <a:chOff x="609600" y="2661299"/>
            <a:chExt cx="6096000" cy="1992601"/>
          </a:xfrm>
        </p:grpSpPr>
        <p:sp>
          <p:nvSpPr>
            <p:cNvPr id="1035" name="Rectangle 1034"/>
            <p:cNvSpPr/>
            <p:nvPr/>
          </p:nvSpPr>
          <p:spPr>
            <a:xfrm>
              <a:off x="609600" y="2794139"/>
              <a:ext cx="6096000" cy="2268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36" name="Freeform 1035"/>
            <p:cNvSpPr/>
            <p:nvPr/>
          </p:nvSpPr>
          <p:spPr>
            <a:xfrm>
              <a:off x="914400" y="2661299"/>
              <a:ext cx="5038607" cy="265680"/>
            </a:xfrm>
            <a:custGeom>
              <a:avLst/>
              <a:gdLst>
                <a:gd name="connsiteX0" fmla="*/ 0 w 4267200"/>
                <a:gd name="connsiteY0" fmla="*/ 44281 h 265680"/>
                <a:gd name="connsiteX1" fmla="*/ 44281 w 4267200"/>
                <a:gd name="connsiteY1" fmla="*/ 0 h 265680"/>
                <a:gd name="connsiteX2" fmla="*/ 4222919 w 4267200"/>
                <a:gd name="connsiteY2" fmla="*/ 0 h 265680"/>
                <a:gd name="connsiteX3" fmla="*/ 4267200 w 4267200"/>
                <a:gd name="connsiteY3" fmla="*/ 44281 h 265680"/>
                <a:gd name="connsiteX4" fmla="*/ 4267200 w 4267200"/>
                <a:gd name="connsiteY4" fmla="*/ 221399 h 265680"/>
                <a:gd name="connsiteX5" fmla="*/ 4222919 w 4267200"/>
                <a:gd name="connsiteY5" fmla="*/ 265680 h 265680"/>
                <a:gd name="connsiteX6" fmla="*/ 44281 w 4267200"/>
                <a:gd name="connsiteY6" fmla="*/ 265680 h 265680"/>
                <a:gd name="connsiteX7" fmla="*/ 0 w 4267200"/>
                <a:gd name="connsiteY7" fmla="*/ 221399 h 265680"/>
                <a:gd name="connsiteX8" fmla="*/ 0 w 4267200"/>
                <a:gd name="connsiteY8" fmla="*/ 44281 h 26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265680">
                  <a:moveTo>
                    <a:pt x="0" y="44281"/>
                  </a:moveTo>
                  <a:cubicBezTo>
                    <a:pt x="0" y="19825"/>
                    <a:pt x="19825" y="0"/>
                    <a:pt x="44281" y="0"/>
                  </a:cubicBezTo>
                  <a:lnTo>
                    <a:pt x="4222919" y="0"/>
                  </a:lnTo>
                  <a:cubicBezTo>
                    <a:pt x="4247375" y="0"/>
                    <a:pt x="4267200" y="19825"/>
                    <a:pt x="4267200" y="44281"/>
                  </a:cubicBezTo>
                  <a:lnTo>
                    <a:pt x="4267200" y="221399"/>
                  </a:lnTo>
                  <a:cubicBezTo>
                    <a:pt x="4267200" y="245855"/>
                    <a:pt x="4247375" y="265680"/>
                    <a:pt x="4222919" y="265680"/>
                  </a:cubicBezTo>
                  <a:lnTo>
                    <a:pt x="44281" y="265680"/>
                  </a:lnTo>
                  <a:cubicBezTo>
                    <a:pt x="19825" y="265680"/>
                    <a:pt x="0" y="245855"/>
                    <a:pt x="0" y="221399"/>
                  </a:cubicBezTo>
                  <a:lnTo>
                    <a:pt x="0" y="4428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4259" tIns="12969" rIns="174259" bIns="12969" numCol="1" spcCol="1270" anchor="ctr" anchorCtr="0">
              <a:noAutofit/>
            </a:bodyPr>
            <a:lstStyle/>
            <a:p>
              <a:pPr lvl="0" algn="l" defTabSz="400050">
                <a:lnSpc>
                  <a:spcPct val="90000"/>
                </a:lnSpc>
                <a:spcBef>
                  <a:spcPct val="0"/>
                </a:spcBef>
                <a:spcAft>
                  <a:spcPct val="35000"/>
                </a:spcAft>
              </a:pPr>
              <a:r>
                <a:rPr lang="en-US" sz="1500" b="1" kern="1200" dirty="0" smtClean="0">
                  <a:latin typeface="Helvetica" pitchFamily="34" charset="0"/>
                </a:rPr>
                <a:t>Consult with the local community to obtain their involvement and input </a:t>
              </a:r>
              <a:endParaRPr lang="en-AU" sz="1500" kern="1200" dirty="0"/>
            </a:p>
          </p:txBody>
        </p:sp>
        <p:sp>
          <p:nvSpPr>
            <p:cNvPr id="1037" name="Rectangle 1036"/>
            <p:cNvSpPr/>
            <p:nvPr/>
          </p:nvSpPr>
          <p:spPr>
            <a:xfrm>
              <a:off x="609600" y="3202380"/>
              <a:ext cx="6096000" cy="2268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38" name="Freeform 1037"/>
            <p:cNvSpPr/>
            <p:nvPr/>
          </p:nvSpPr>
          <p:spPr>
            <a:xfrm>
              <a:off x="914400" y="3069540"/>
              <a:ext cx="5038607" cy="265680"/>
            </a:xfrm>
            <a:custGeom>
              <a:avLst/>
              <a:gdLst>
                <a:gd name="connsiteX0" fmla="*/ 0 w 4267200"/>
                <a:gd name="connsiteY0" fmla="*/ 44281 h 265680"/>
                <a:gd name="connsiteX1" fmla="*/ 44281 w 4267200"/>
                <a:gd name="connsiteY1" fmla="*/ 0 h 265680"/>
                <a:gd name="connsiteX2" fmla="*/ 4222919 w 4267200"/>
                <a:gd name="connsiteY2" fmla="*/ 0 h 265680"/>
                <a:gd name="connsiteX3" fmla="*/ 4267200 w 4267200"/>
                <a:gd name="connsiteY3" fmla="*/ 44281 h 265680"/>
                <a:gd name="connsiteX4" fmla="*/ 4267200 w 4267200"/>
                <a:gd name="connsiteY4" fmla="*/ 221399 h 265680"/>
                <a:gd name="connsiteX5" fmla="*/ 4222919 w 4267200"/>
                <a:gd name="connsiteY5" fmla="*/ 265680 h 265680"/>
                <a:gd name="connsiteX6" fmla="*/ 44281 w 4267200"/>
                <a:gd name="connsiteY6" fmla="*/ 265680 h 265680"/>
                <a:gd name="connsiteX7" fmla="*/ 0 w 4267200"/>
                <a:gd name="connsiteY7" fmla="*/ 221399 h 265680"/>
                <a:gd name="connsiteX8" fmla="*/ 0 w 4267200"/>
                <a:gd name="connsiteY8" fmla="*/ 44281 h 26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265680">
                  <a:moveTo>
                    <a:pt x="0" y="44281"/>
                  </a:moveTo>
                  <a:cubicBezTo>
                    <a:pt x="0" y="19825"/>
                    <a:pt x="19825" y="0"/>
                    <a:pt x="44281" y="0"/>
                  </a:cubicBezTo>
                  <a:lnTo>
                    <a:pt x="4222919" y="0"/>
                  </a:lnTo>
                  <a:cubicBezTo>
                    <a:pt x="4247375" y="0"/>
                    <a:pt x="4267200" y="19825"/>
                    <a:pt x="4267200" y="44281"/>
                  </a:cubicBezTo>
                  <a:lnTo>
                    <a:pt x="4267200" y="221399"/>
                  </a:lnTo>
                  <a:cubicBezTo>
                    <a:pt x="4267200" y="245855"/>
                    <a:pt x="4247375" y="265680"/>
                    <a:pt x="4222919" y="265680"/>
                  </a:cubicBezTo>
                  <a:lnTo>
                    <a:pt x="44281" y="265680"/>
                  </a:lnTo>
                  <a:cubicBezTo>
                    <a:pt x="19825" y="265680"/>
                    <a:pt x="0" y="245855"/>
                    <a:pt x="0" y="221399"/>
                  </a:cubicBezTo>
                  <a:lnTo>
                    <a:pt x="0" y="4428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4259" tIns="12969" rIns="174259" bIns="12969" numCol="1" spcCol="1270" anchor="ctr" anchorCtr="0">
              <a:noAutofit/>
            </a:bodyPr>
            <a:lstStyle/>
            <a:p>
              <a:pPr lvl="0" algn="l" defTabSz="400050">
                <a:lnSpc>
                  <a:spcPct val="90000"/>
                </a:lnSpc>
                <a:spcBef>
                  <a:spcPct val="0"/>
                </a:spcBef>
                <a:spcAft>
                  <a:spcPct val="35000"/>
                </a:spcAft>
              </a:pPr>
              <a:r>
                <a:rPr lang="en-US" sz="1500" b="1" kern="1200" dirty="0" smtClean="0">
                  <a:latin typeface="Helvetica" pitchFamily="34" charset="0"/>
                </a:rPr>
                <a:t>Identify possible tourism opportunities for local communities</a:t>
              </a:r>
              <a:endParaRPr lang="en-AU" sz="1500" kern="1200" dirty="0"/>
            </a:p>
          </p:txBody>
        </p:sp>
        <p:sp>
          <p:nvSpPr>
            <p:cNvPr id="1039" name="Rectangle 1038"/>
            <p:cNvSpPr/>
            <p:nvPr/>
          </p:nvSpPr>
          <p:spPr>
            <a:xfrm>
              <a:off x="609600" y="3610620"/>
              <a:ext cx="6096000" cy="2268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40" name="Freeform 1039"/>
            <p:cNvSpPr/>
            <p:nvPr/>
          </p:nvSpPr>
          <p:spPr>
            <a:xfrm>
              <a:off x="914400" y="3477780"/>
              <a:ext cx="5038607" cy="265680"/>
            </a:xfrm>
            <a:custGeom>
              <a:avLst/>
              <a:gdLst>
                <a:gd name="connsiteX0" fmla="*/ 0 w 4267200"/>
                <a:gd name="connsiteY0" fmla="*/ 44281 h 265680"/>
                <a:gd name="connsiteX1" fmla="*/ 44281 w 4267200"/>
                <a:gd name="connsiteY1" fmla="*/ 0 h 265680"/>
                <a:gd name="connsiteX2" fmla="*/ 4222919 w 4267200"/>
                <a:gd name="connsiteY2" fmla="*/ 0 h 265680"/>
                <a:gd name="connsiteX3" fmla="*/ 4267200 w 4267200"/>
                <a:gd name="connsiteY3" fmla="*/ 44281 h 265680"/>
                <a:gd name="connsiteX4" fmla="*/ 4267200 w 4267200"/>
                <a:gd name="connsiteY4" fmla="*/ 221399 h 265680"/>
                <a:gd name="connsiteX5" fmla="*/ 4222919 w 4267200"/>
                <a:gd name="connsiteY5" fmla="*/ 265680 h 265680"/>
                <a:gd name="connsiteX6" fmla="*/ 44281 w 4267200"/>
                <a:gd name="connsiteY6" fmla="*/ 265680 h 265680"/>
                <a:gd name="connsiteX7" fmla="*/ 0 w 4267200"/>
                <a:gd name="connsiteY7" fmla="*/ 221399 h 265680"/>
                <a:gd name="connsiteX8" fmla="*/ 0 w 4267200"/>
                <a:gd name="connsiteY8" fmla="*/ 44281 h 26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265680">
                  <a:moveTo>
                    <a:pt x="0" y="44281"/>
                  </a:moveTo>
                  <a:cubicBezTo>
                    <a:pt x="0" y="19825"/>
                    <a:pt x="19825" y="0"/>
                    <a:pt x="44281" y="0"/>
                  </a:cubicBezTo>
                  <a:lnTo>
                    <a:pt x="4222919" y="0"/>
                  </a:lnTo>
                  <a:cubicBezTo>
                    <a:pt x="4247375" y="0"/>
                    <a:pt x="4267200" y="19825"/>
                    <a:pt x="4267200" y="44281"/>
                  </a:cubicBezTo>
                  <a:lnTo>
                    <a:pt x="4267200" y="221399"/>
                  </a:lnTo>
                  <a:cubicBezTo>
                    <a:pt x="4267200" y="245855"/>
                    <a:pt x="4247375" y="265680"/>
                    <a:pt x="4222919" y="265680"/>
                  </a:cubicBezTo>
                  <a:lnTo>
                    <a:pt x="44281" y="265680"/>
                  </a:lnTo>
                  <a:cubicBezTo>
                    <a:pt x="19825" y="265680"/>
                    <a:pt x="0" y="245855"/>
                    <a:pt x="0" y="221399"/>
                  </a:cubicBezTo>
                  <a:lnTo>
                    <a:pt x="0" y="4428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4259" tIns="12969" rIns="174259" bIns="12969" numCol="1" spcCol="1270" anchor="ctr" anchorCtr="0">
              <a:noAutofit/>
            </a:bodyPr>
            <a:lstStyle/>
            <a:p>
              <a:pPr lvl="0" algn="l" defTabSz="400050">
                <a:lnSpc>
                  <a:spcPct val="90000"/>
                </a:lnSpc>
                <a:spcBef>
                  <a:spcPct val="0"/>
                </a:spcBef>
                <a:spcAft>
                  <a:spcPct val="35000"/>
                </a:spcAft>
              </a:pPr>
              <a:r>
                <a:rPr lang="en-US" sz="1500" b="1" kern="1200" dirty="0" smtClean="0">
                  <a:latin typeface="Helvetica" pitchFamily="34" charset="0"/>
                </a:rPr>
                <a:t>Identify research needs for the local communities </a:t>
              </a:r>
              <a:endParaRPr lang="en-AU" sz="1500" kern="1200" dirty="0"/>
            </a:p>
          </p:txBody>
        </p:sp>
        <p:sp>
          <p:nvSpPr>
            <p:cNvPr id="1041" name="Rectangle 1040"/>
            <p:cNvSpPr/>
            <p:nvPr/>
          </p:nvSpPr>
          <p:spPr>
            <a:xfrm>
              <a:off x="609600" y="4018860"/>
              <a:ext cx="6096000" cy="2268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42" name="Freeform 1041"/>
            <p:cNvSpPr/>
            <p:nvPr/>
          </p:nvSpPr>
          <p:spPr>
            <a:xfrm>
              <a:off x="914400" y="3886020"/>
              <a:ext cx="5038607" cy="265680"/>
            </a:xfrm>
            <a:custGeom>
              <a:avLst/>
              <a:gdLst>
                <a:gd name="connsiteX0" fmla="*/ 0 w 4267200"/>
                <a:gd name="connsiteY0" fmla="*/ 44281 h 265680"/>
                <a:gd name="connsiteX1" fmla="*/ 44281 w 4267200"/>
                <a:gd name="connsiteY1" fmla="*/ 0 h 265680"/>
                <a:gd name="connsiteX2" fmla="*/ 4222919 w 4267200"/>
                <a:gd name="connsiteY2" fmla="*/ 0 h 265680"/>
                <a:gd name="connsiteX3" fmla="*/ 4267200 w 4267200"/>
                <a:gd name="connsiteY3" fmla="*/ 44281 h 265680"/>
                <a:gd name="connsiteX4" fmla="*/ 4267200 w 4267200"/>
                <a:gd name="connsiteY4" fmla="*/ 221399 h 265680"/>
                <a:gd name="connsiteX5" fmla="*/ 4222919 w 4267200"/>
                <a:gd name="connsiteY5" fmla="*/ 265680 h 265680"/>
                <a:gd name="connsiteX6" fmla="*/ 44281 w 4267200"/>
                <a:gd name="connsiteY6" fmla="*/ 265680 h 265680"/>
                <a:gd name="connsiteX7" fmla="*/ 0 w 4267200"/>
                <a:gd name="connsiteY7" fmla="*/ 221399 h 265680"/>
                <a:gd name="connsiteX8" fmla="*/ 0 w 4267200"/>
                <a:gd name="connsiteY8" fmla="*/ 44281 h 26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265680">
                  <a:moveTo>
                    <a:pt x="0" y="44281"/>
                  </a:moveTo>
                  <a:cubicBezTo>
                    <a:pt x="0" y="19825"/>
                    <a:pt x="19825" y="0"/>
                    <a:pt x="44281" y="0"/>
                  </a:cubicBezTo>
                  <a:lnTo>
                    <a:pt x="4222919" y="0"/>
                  </a:lnTo>
                  <a:cubicBezTo>
                    <a:pt x="4247375" y="0"/>
                    <a:pt x="4267200" y="19825"/>
                    <a:pt x="4267200" y="44281"/>
                  </a:cubicBezTo>
                  <a:lnTo>
                    <a:pt x="4267200" y="221399"/>
                  </a:lnTo>
                  <a:cubicBezTo>
                    <a:pt x="4267200" y="245855"/>
                    <a:pt x="4247375" y="265680"/>
                    <a:pt x="4222919" y="265680"/>
                  </a:cubicBezTo>
                  <a:lnTo>
                    <a:pt x="44281" y="265680"/>
                  </a:lnTo>
                  <a:cubicBezTo>
                    <a:pt x="19825" y="265680"/>
                    <a:pt x="0" y="245855"/>
                    <a:pt x="0" y="221399"/>
                  </a:cubicBezTo>
                  <a:lnTo>
                    <a:pt x="0" y="4428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4259" tIns="12969" rIns="174259" bIns="12969" numCol="1" spcCol="1270" anchor="ctr" anchorCtr="0">
              <a:noAutofit/>
            </a:bodyPr>
            <a:lstStyle/>
            <a:p>
              <a:pPr lvl="0" algn="l" defTabSz="400050">
                <a:lnSpc>
                  <a:spcPct val="90000"/>
                </a:lnSpc>
                <a:spcBef>
                  <a:spcPct val="0"/>
                </a:spcBef>
                <a:spcAft>
                  <a:spcPct val="35000"/>
                </a:spcAft>
              </a:pPr>
              <a:r>
                <a:rPr lang="en-US" sz="1500" b="1" kern="1200" dirty="0" smtClean="0">
                  <a:latin typeface="Helvetica" pitchFamily="34" charset="0"/>
                </a:rPr>
                <a:t>Conduct research on general tourism trends and data</a:t>
              </a:r>
              <a:endParaRPr lang="en-AU" sz="1500" kern="1200" dirty="0"/>
            </a:p>
          </p:txBody>
        </p:sp>
        <p:sp>
          <p:nvSpPr>
            <p:cNvPr id="1043" name="Rectangle 1042"/>
            <p:cNvSpPr/>
            <p:nvPr/>
          </p:nvSpPr>
          <p:spPr>
            <a:xfrm>
              <a:off x="609600" y="4427100"/>
              <a:ext cx="6096000" cy="2268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44" name="Freeform 1043"/>
            <p:cNvSpPr/>
            <p:nvPr/>
          </p:nvSpPr>
          <p:spPr>
            <a:xfrm>
              <a:off x="914400" y="4294260"/>
              <a:ext cx="5038607" cy="265680"/>
            </a:xfrm>
            <a:custGeom>
              <a:avLst/>
              <a:gdLst>
                <a:gd name="connsiteX0" fmla="*/ 0 w 4267200"/>
                <a:gd name="connsiteY0" fmla="*/ 44281 h 265680"/>
                <a:gd name="connsiteX1" fmla="*/ 44281 w 4267200"/>
                <a:gd name="connsiteY1" fmla="*/ 0 h 265680"/>
                <a:gd name="connsiteX2" fmla="*/ 4222919 w 4267200"/>
                <a:gd name="connsiteY2" fmla="*/ 0 h 265680"/>
                <a:gd name="connsiteX3" fmla="*/ 4267200 w 4267200"/>
                <a:gd name="connsiteY3" fmla="*/ 44281 h 265680"/>
                <a:gd name="connsiteX4" fmla="*/ 4267200 w 4267200"/>
                <a:gd name="connsiteY4" fmla="*/ 221399 h 265680"/>
                <a:gd name="connsiteX5" fmla="*/ 4222919 w 4267200"/>
                <a:gd name="connsiteY5" fmla="*/ 265680 h 265680"/>
                <a:gd name="connsiteX6" fmla="*/ 44281 w 4267200"/>
                <a:gd name="connsiteY6" fmla="*/ 265680 h 265680"/>
                <a:gd name="connsiteX7" fmla="*/ 0 w 4267200"/>
                <a:gd name="connsiteY7" fmla="*/ 221399 h 265680"/>
                <a:gd name="connsiteX8" fmla="*/ 0 w 4267200"/>
                <a:gd name="connsiteY8" fmla="*/ 44281 h 26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265680">
                  <a:moveTo>
                    <a:pt x="0" y="44281"/>
                  </a:moveTo>
                  <a:cubicBezTo>
                    <a:pt x="0" y="19825"/>
                    <a:pt x="19825" y="0"/>
                    <a:pt x="44281" y="0"/>
                  </a:cubicBezTo>
                  <a:lnTo>
                    <a:pt x="4222919" y="0"/>
                  </a:lnTo>
                  <a:cubicBezTo>
                    <a:pt x="4247375" y="0"/>
                    <a:pt x="4267200" y="19825"/>
                    <a:pt x="4267200" y="44281"/>
                  </a:cubicBezTo>
                  <a:lnTo>
                    <a:pt x="4267200" y="221399"/>
                  </a:lnTo>
                  <a:cubicBezTo>
                    <a:pt x="4267200" y="245855"/>
                    <a:pt x="4247375" y="265680"/>
                    <a:pt x="4222919" y="265680"/>
                  </a:cubicBezTo>
                  <a:lnTo>
                    <a:pt x="44281" y="265680"/>
                  </a:lnTo>
                  <a:cubicBezTo>
                    <a:pt x="19825" y="265680"/>
                    <a:pt x="0" y="245855"/>
                    <a:pt x="0" y="221399"/>
                  </a:cubicBezTo>
                  <a:lnTo>
                    <a:pt x="0" y="4428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4259" tIns="12969" rIns="174259" bIns="12969" numCol="1" spcCol="1270" anchor="ctr" anchorCtr="0">
              <a:noAutofit/>
            </a:bodyPr>
            <a:lstStyle/>
            <a:p>
              <a:pPr lvl="0" algn="l" defTabSz="400050">
                <a:lnSpc>
                  <a:spcPct val="90000"/>
                </a:lnSpc>
                <a:spcBef>
                  <a:spcPct val="0"/>
                </a:spcBef>
                <a:spcAft>
                  <a:spcPct val="35000"/>
                </a:spcAft>
              </a:pPr>
              <a:r>
                <a:rPr lang="en-US" sz="1500" b="1" kern="1200" dirty="0" smtClean="0">
                  <a:latin typeface="Helvetica" pitchFamily="34" charset="0"/>
                </a:rPr>
                <a:t>Conduct research on the local area and communities</a:t>
              </a:r>
              <a:endParaRPr lang="en-AU" sz="1500" kern="12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532440" cy="16002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267200"/>
          </a:xfrm>
        </p:spPr>
        <p:txBody>
          <a:bodyPr>
            <a:normAutofit/>
          </a:bodyPr>
          <a:lstStyle/>
          <a:p>
            <a:pPr marL="0" indent="0">
              <a:spcBef>
                <a:spcPts val="600"/>
              </a:spcBef>
              <a:spcAft>
                <a:spcPts val="1200"/>
              </a:spcAft>
              <a:buNone/>
            </a:pPr>
            <a:r>
              <a:rPr lang="en-US" sz="2200" dirty="0" smtClean="0">
                <a:latin typeface="Helvetica" pitchFamily="34" charset="0"/>
              </a:rPr>
              <a:t>Community consultation is key to obtain involvement and input. It is critical to: </a:t>
            </a:r>
          </a:p>
          <a:p>
            <a:pPr lvl="0">
              <a:spcBef>
                <a:spcPts val="600"/>
              </a:spcBef>
              <a:spcAft>
                <a:spcPts val="1200"/>
              </a:spcAft>
            </a:pPr>
            <a:r>
              <a:rPr lang="en-AU" sz="2000" dirty="0">
                <a:latin typeface="Helvetica" panose="020B0604020202020204" pitchFamily="34" charset="0"/>
                <a:cs typeface="Helvetica" panose="020B0604020202020204" pitchFamily="34" charset="0"/>
              </a:rPr>
              <a:t>First identify all </a:t>
            </a:r>
            <a:r>
              <a:rPr lang="en-AU" sz="2000" dirty="0" smtClean="0">
                <a:latin typeface="Helvetica" panose="020B0604020202020204" pitchFamily="34" charset="0"/>
                <a:cs typeface="Helvetica" panose="020B0604020202020204" pitchFamily="34" charset="0"/>
              </a:rPr>
              <a:t>parties, stakeholders</a:t>
            </a:r>
          </a:p>
          <a:p>
            <a:pPr lvl="0">
              <a:spcBef>
                <a:spcPts val="600"/>
              </a:spcBef>
              <a:spcAft>
                <a:spcPts val="1200"/>
              </a:spcAft>
            </a:pPr>
            <a:r>
              <a:rPr lang="en-AU" sz="2000" dirty="0" smtClean="0">
                <a:latin typeface="Helvetica" panose="020B0604020202020204" pitchFamily="34" charset="0"/>
                <a:cs typeface="Helvetica" panose="020B0604020202020204" pitchFamily="34" charset="0"/>
              </a:rPr>
              <a:t>Then </a:t>
            </a:r>
            <a:r>
              <a:rPr lang="en-AU" sz="2000" dirty="0">
                <a:latin typeface="Helvetica" panose="020B0604020202020204" pitchFamily="34" charset="0"/>
                <a:cs typeface="Helvetica" panose="020B0604020202020204" pitchFamily="34" charset="0"/>
              </a:rPr>
              <a:t>organise and publicise the consultation </a:t>
            </a:r>
            <a:r>
              <a:rPr lang="en-AU" sz="2000" dirty="0" smtClean="0">
                <a:latin typeface="Helvetica" panose="020B0604020202020204" pitchFamily="34" charset="0"/>
                <a:cs typeface="Helvetica" panose="020B0604020202020204" pitchFamily="34" charset="0"/>
              </a:rPr>
              <a:t>process</a:t>
            </a:r>
          </a:p>
          <a:p>
            <a:pPr lvl="0">
              <a:spcBef>
                <a:spcPts val="600"/>
              </a:spcBef>
              <a:spcAft>
                <a:spcPts val="1200"/>
              </a:spcAft>
            </a:pPr>
            <a:r>
              <a:rPr lang="en-AU" sz="2000" dirty="0" smtClean="0">
                <a:latin typeface="Helvetica" panose="020B0604020202020204" pitchFamily="34" charset="0"/>
                <a:cs typeface="Helvetica" panose="020B0604020202020204" pitchFamily="34" charset="0"/>
              </a:rPr>
              <a:t>Followed </a:t>
            </a:r>
            <a:r>
              <a:rPr lang="en-AU" sz="2000" dirty="0">
                <a:latin typeface="Helvetica" panose="020B0604020202020204" pitchFamily="34" charset="0"/>
                <a:cs typeface="Helvetica" panose="020B0604020202020204" pitchFamily="34" charset="0"/>
              </a:rPr>
              <a:t>by seeking feedback  </a:t>
            </a:r>
            <a:endParaRPr lang="en-AU" sz="2000" dirty="0" smtClean="0">
              <a:latin typeface="Helvetica" panose="020B0604020202020204" pitchFamily="34" charset="0"/>
              <a:cs typeface="Helvetica" panose="020B0604020202020204" pitchFamily="34" charset="0"/>
            </a:endParaRPr>
          </a:p>
          <a:p>
            <a:pPr lvl="0">
              <a:spcBef>
                <a:spcPts val="600"/>
              </a:spcBef>
              <a:spcAft>
                <a:spcPts val="1200"/>
              </a:spcAft>
            </a:pPr>
            <a:r>
              <a:rPr lang="en-AU" sz="2000" dirty="0" smtClean="0">
                <a:latin typeface="Helvetica" panose="020B0604020202020204" pitchFamily="34" charset="0"/>
                <a:cs typeface="Helvetica" panose="020B0604020202020204" pitchFamily="34" charset="0"/>
              </a:rPr>
              <a:t>And </a:t>
            </a:r>
            <a:r>
              <a:rPr lang="en-AU" sz="2000" dirty="0">
                <a:latin typeface="Helvetica" panose="020B0604020202020204" pitchFamily="34" charset="0"/>
                <a:cs typeface="Helvetica" panose="020B0604020202020204" pitchFamily="34" charset="0"/>
              </a:rPr>
              <a:t>record </a:t>
            </a:r>
            <a:r>
              <a:rPr lang="en-AU" sz="2000" dirty="0" smtClean="0">
                <a:latin typeface="Helvetica" panose="020B0604020202020204" pitchFamily="34" charset="0"/>
                <a:cs typeface="Helvetica" panose="020B0604020202020204" pitchFamily="34" charset="0"/>
              </a:rPr>
              <a:t>input</a:t>
            </a: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3200" y="4038600"/>
            <a:ext cx="1905000" cy="1905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532440" cy="1676400"/>
          </a:xfrm>
        </p:spPr>
        <p:txBody>
          <a:bodyPr>
            <a:normAutofit/>
          </a:bodyPr>
          <a:lstStyle/>
          <a:p>
            <a:r>
              <a:rPr lang="en-US" sz="3100" b="1" dirty="0" smtClean="0">
                <a:solidFill>
                  <a:srgbClr val="FF6600"/>
                </a:solidFill>
                <a:latin typeface="Helvetica" pitchFamily="34" charset="0"/>
              </a:rPr>
              <a:t>E1 Research local tourism opportunities  </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1.1 Consult with the local community to obtain involvement and input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025355"/>
          </a:xfrm>
        </p:spPr>
        <p:txBody>
          <a:bodyPr>
            <a:normAutofit/>
          </a:bodyPr>
          <a:lstStyle/>
          <a:p>
            <a:pPr marL="36576" lvl="0" indent="0">
              <a:spcBef>
                <a:spcPts val="600"/>
              </a:spcBef>
              <a:spcAft>
                <a:spcPts val="1200"/>
              </a:spcAft>
              <a:buNone/>
            </a:pPr>
            <a:r>
              <a:rPr lang="en-AU" sz="2200" dirty="0" smtClean="0">
                <a:latin typeface="Helvetica" panose="020B0604020202020204" pitchFamily="34" charset="0"/>
                <a:cs typeface="Helvetica" panose="020B0604020202020204" pitchFamily="34" charset="0"/>
              </a:rPr>
              <a:t>First </a:t>
            </a:r>
            <a:r>
              <a:rPr lang="en-AU" sz="2200" dirty="0">
                <a:latin typeface="Helvetica" panose="020B0604020202020204" pitchFamily="34" charset="0"/>
                <a:cs typeface="Helvetica" panose="020B0604020202020204" pitchFamily="34" charset="0"/>
              </a:rPr>
              <a:t>identify all </a:t>
            </a:r>
            <a:r>
              <a:rPr lang="en-AU" sz="2200" dirty="0" smtClean="0">
                <a:latin typeface="Helvetica" panose="020B0604020202020204" pitchFamily="34" charset="0"/>
                <a:cs typeface="Helvetica" panose="020B0604020202020204" pitchFamily="34" charset="0"/>
              </a:rPr>
              <a:t>parties, stakeholders:</a:t>
            </a:r>
          </a:p>
          <a:p>
            <a:pPr marL="360000" indent="-360000">
              <a:spcBef>
                <a:spcPts val="600"/>
              </a:spcBef>
              <a:spcAft>
                <a:spcPts val="1200"/>
              </a:spcAft>
            </a:pPr>
            <a:r>
              <a:rPr lang="en-US" sz="2200" dirty="0" smtClean="0">
                <a:latin typeface="Helvetica" pitchFamily="34" charset="0"/>
              </a:rPr>
              <a:t>Local tourism businesses:</a:t>
            </a:r>
            <a:endParaRPr lang="en-US" sz="2200" dirty="0">
              <a:latin typeface="Helvetica" pitchFamily="34" charset="0"/>
            </a:endParaRP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Tourism operators: </a:t>
            </a:r>
          </a:p>
          <a:p>
            <a:pPr marL="1071563" indent="-358775">
              <a:spcBef>
                <a:spcPts val="600"/>
              </a:spcBef>
              <a:spcAft>
                <a:spcPts val="1200"/>
              </a:spcAft>
              <a:buClr>
                <a:srgbClr val="7FD13B"/>
              </a:buClr>
              <a:buFont typeface="Wingdings" panose="05000000000000000000" pitchFamily="2" charset="2"/>
              <a:buChar char="§"/>
            </a:pPr>
            <a:r>
              <a:rPr lang="en-US" sz="2200" dirty="0" smtClean="0">
                <a:latin typeface="Helvetica" pitchFamily="34" charset="0"/>
              </a:rPr>
              <a:t>Hotel, accommodation venues</a:t>
            </a:r>
          </a:p>
          <a:p>
            <a:pPr marL="1071563" indent="-358775">
              <a:spcBef>
                <a:spcPts val="600"/>
              </a:spcBef>
              <a:spcAft>
                <a:spcPts val="1200"/>
              </a:spcAft>
              <a:buClr>
                <a:srgbClr val="7FD13B"/>
              </a:buClr>
              <a:buFont typeface="Wingdings" panose="05000000000000000000" pitchFamily="2" charset="2"/>
              <a:buChar char="§"/>
            </a:pPr>
            <a:r>
              <a:rPr lang="en-US" sz="2200" dirty="0" smtClean="0">
                <a:latin typeface="Helvetica" pitchFamily="34" charset="0"/>
              </a:rPr>
              <a:t>Food and beverage venues</a:t>
            </a:r>
          </a:p>
          <a:p>
            <a:pPr marL="1071563" indent="-358775">
              <a:spcBef>
                <a:spcPts val="600"/>
              </a:spcBef>
              <a:spcAft>
                <a:spcPts val="1200"/>
              </a:spcAft>
              <a:buClr>
                <a:srgbClr val="7FD13B"/>
              </a:buClr>
              <a:buFont typeface="Wingdings" panose="05000000000000000000" pitchFamily="2" charset="2"/>
              <a:buChar char="§"/>
            </a:pPr>
            <a:r>
              <a:rPr lang="en-US" sz="2200" dirty="0" smtClean="0">
                <a:latin typeface="Helvetica" pitchFamily="34" charset="0"/>
              </a:rPr>
              <a:t>Attractions</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a:latin typeface="Helvetica" pitchFamily="34" charset="0"/>
            </a:endParaRPr>
          </a:p>
          <a:p>
            <a:pPr marL="36576" lvl="0" indent="0">
              <a:spcBef>
                <a:spcPts val="600"/>
              </a:spcBef>
              <a:spcAft>
                <a:spcPts val="1200"/>
              </a:spcAft>
              <a:buNone/>
            </a:pPr>
            <a:endParaRPr lang="en-US" sz="22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3200" y="3124200"/>
            <a:ext cx="1871791" cy="2362200"/>
          </a:xfrm>
          <a:prstGeom prst="rect">
            <a:avLst/>
          </a:prstGeom>
        </p:spPr>
      </p:pic>
    </p:spTree>
    <p:extLst>
      <p:ext uri="{BB962C8B-B14F-4D97-AF65-F5344CB8AC3E}">
        <p14:creationId xmlns:p14="http://schemas.microsoft.com/office/powerpoint/2010/main" val="4241457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5324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177755"/>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First </a:t>
            </a:r>
            <a:r>
              <a:rPr lang="en-AU" sz="2000" dirty="0">
                <a:latin typeface="Helvetica" panose="020B0604020202020204" pitchFamily="34" charset="0"/>
                <a:cs typeface="Helvetica" panose="020B0604020202020204" pitchFamily="34" charset="0"/>
              </a:rPr>
              <a:t>identify all </a:t>
            </a:r>
            <a:r>
              <a:rPr lang="en-AU" sz="2000" dirty="0" smtClean="0">
                <a:latin typeface="Helvetica" panose="020B0604020202020204" pitchFamily="34" charset="0"/>
                <a:cs typeface="Helvetica" panose="020B0604020202020204" pitchFamily="34" charset="0"/>
              </a:rPr>
              <a:t>parties, stakeholders:</a:t>
            </a:r>
          </a:p>
          <a:p>
            <a:pPr marL="360000" indent="-360000">
              <a:spcBef>
                <a:spcPts val="600"/>
              </a:spcBef>
              <a:spcAft>
                <a:spcPts val="1200"/>
              </a:spcAft>
            </a:pPr>
            <a:r>
              <a:rPr lang="en-US" sz="2000" dirty="0" smtClean="0">
                <a:latin typeface="Helvetica" pitchFamily="34" charset="0"/>
              </a:rPr>
              <a:t>Tour operators and travel agencies</a:t>
            </a:r>
            <a:endParaRPr lang="en-US" sz="2000" dirty="0">
              <a:latin typeface="Helvetica" pitchFamily="34" charset="0"/>
            </a:endParaRPr>
          </a:p>
          <a:p>
            <a:pPr marL="360000" indent="-360000">
              <a:spcBef>
                <a:spcPts val="600"/>
              </a:spcBef>
              <a:spcAft>
                <a:spcPts val="1200"/>
              </a:spcAft>
            </a:pPr>
            <a:r>
              <a:rPr lang="en-US" sz="2000" dirty="0" smtClean="0">
                <a:latin typeface="Helvetica" pitchFamily="34" charset="0"/>
              </a:rPr>
              <a:t>Support transport services:</a:t>
            </a:r>
          </a:p>
          <a:p>
            <a:pPr marL="711200" indent="-358775">
              <a:spcBef>
                <a:spcPts val="600"/>
              </a:spcBef>
              <a:spcAft>
                <a:spcPts val="1200"/>
              </a:spcAft>
              <a:buSzPct val="100000"/>
              <a:buFont typeface="Arial" panose="020B0604020202020204" pitchFamily="34" charset="0"/>
              <a:buChar char="•"/>
            </a:pPr>
            <a:r>
              <a:rPr lang="en-US" sz="2000" dirty="0" smtClean="0">
                <a:latin typeface="Helvetica" pitchFamily="34" charset="0"/>
              </a:rPr>
              <a:t>Taxis</a:t>
            </a:r>
          </a:p>
          <a:p>
            <a:pPr marL="711200" indent="-358775">
              <a:spcBef>
                <a:spcPts val="600"/>
              </a:spcBef>
              <a:spcAft>
                <a:spcPts val="1200"/>
              </a:spcAft>
              <a:buSzPct val="100000"/>
              <a:buFont typeface="Arial" panose="020B0604020202020204" pitchFamily="34" charset="0"/>
              <a:buChar char="•"/>
            </a:pPr>
            <a:r>
              <a:rPr lang="en-US" sz="2000" dirty="0" smtClean="0">
                <a:latin typeface="Helvetica" pitchFamily="34" charset="0"/>
              </a:rPr>
              <a:t>Buses companies</a:t>
            </a:r>
          </a:p>
          <a:p>
            <a:pPr marL="711200" indent="-358775">
              <a:spcBef>
                <a:spcPts val="600"/>
              </a:spcBef>
              <a:spcAft>
                <a:spcPts val="1200"/>
              </a:spcAft>
              <a:buSzPct val="100000"/>
              <a:buFont typeface="Arial" panose="020B0604020202020204" pitchFamily="34" charset="0"/>
              <a:buChar char="•"/>
            </a:pPr>
            <a:r>
              <a:rPr lang="en-US" sz="2000" dirty="0" smtClean="0">
                <a:latin typeface="Helvetica" pitchFamily="34" charset="0"/>
              </a:rPr>
              <a:t>Car rentals</a:t>
            </a:r>
            <a:endParaRPr lang="en-US" sz="2000" dirty="0">
              <a:latin typeface="Helvetica" pitchFamily="34" charset="0"/>
            </a:endParaRPr>
          </a:p>
          <a:p>
            <a:pPr marL="0" indent="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0" y="3762375"/>
            <a:ext cx="2792730" cy="1862750"/>
          </a:xfrm>
          <a:prstGeom prst="rect">
            <a:avLst/>
          </a:prstGeom>
        </p:spPr>
      </p:pic>
    </p:spTree>
    <p:extLst>
      <p:ext uri="{BB962C8B-B14F-4D97-AF65-F5344CB8AC3E}">
        <p14:creationId xmlns:p14="http://schemas.microsoft.com/office/powerpoint/2010/main" val="1626963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5324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495800"/>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First </a:t>
            </a:r>
            <a:r>
              <a:rPr lang="en-AU" sz="2000" dirty="0">
                <a:latin typeface="Helvetica" panose="020B0604020202020204" pitchFamily="34" charset="0"/>
                <a:cs typeface="Helvetica" panose="020B0604020202020204" pitchFamily="34" charset="0"/>
              </a:rPr>
              <a:t>identify all </a:t>
            </a:r>
            <a:r>
              <a:rPr lang="en-AU" sz="2000" dirty="0" smtClean="0">
                <a:latin typeface="Helvetica" panose="020B0604020202020204" pitchFamily="34" charset="0"/>
                <a:cs typeface="Helvetica" panose="020B0604020202020204" pitchFamily="34" charset="0"/>
              </a:rPr>
              <a:t>parties, stakeholders:</a:t>
            </a:r>
          </a:p>
          <a:p>
            <a:pPr marL="360000" indent="-360000">
              <a:spcBef>
                <a:spcPts val="600"/>
              </a:spcBef>
              <a:spcAft>
                <a:spcPts val="1200"/>
              </a:spcAft>
            </a:pPr>
            <a:r>
              <a:rPr lang="en-US" sz="2000" dirty="0" smtClean="0">
                <a:latin typeface="Helvetica" pitchFamily="34" charset="0"/>
              </a:rPr>
              <a:t>Local businesses:</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Real estate agents</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Supermarkets, grocers</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Pharmacies</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Banks</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Petrol stations</a:t>
            </a:r>
            <a:endParaRPr lang="en-US" sz="2000" dirty="0">
              <a:latin typeface="Helvetica" pitchFamily="34" charset="0"/>
            </a:endParaRPr>
          </a:p>
          <a:p>
            <a:pPr marL="0" indent="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6800" y="2965056"/>
            <a:ext cx="2837623" cy="1892694"/>
          </a:xfrm>
          <a:prstGeom prst="rect">
            <a:avLst/>
          </a:prstGeom>
        </p:spPr>
      </p:pic>
    </p:spTree>
    <p:extLst>
      <p:ext uri="{BB962C8B-B14F-4D97-AF65-F5344CB8AC3E}">
        <p14:creationId xmlns:p14="http://schemas.microsoft.com/office/powerpoint/2010/main" val="2765407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5324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495800"/>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First </a:t>
            </a:r>
            <a:r>
              <a:rPr lang="en-AU" sz="2000" dirty="0">
                <a:latin typeface="Helvetica" panose="020B0604020202020204" pitchFamily="34" charset="0"/>
                <a:cs typeface="Helvetica" panose="020B0604020202020204" pitchFamily="34" charset="0"/>
              </a:rPr>
              <a:t>identify all </a:t>
            </a:r>
            <a:r>
              <a:rPr lang="en-AU" sz="2000" dirty="0" smtClean="0">
                <a:latin typeface="Helvetica" panose="020B0604020202020204" pitchFamily="34" charset="0"/>
                <a:cs typeface="Helvetica" panose="020B0604020202020204" pitchFamily="34" charset="0"/>
              </a:rPr>
              <a:t>parties, stakeholders:</a:t>
            </a:r>
          </a:p>
          <a:p>
            <a:pPr marL="360000" indent="-360000">
              <a:spcBef>
                <a:spcPts val="600"/>
              </a:spcBef>
              <a:spcAft>
                <a:spcPts val="1200"/>
              </a:spcAft>
            </a:pPr>
            <a:r>
              <a:rPr lang="en-US" sz="2000" dirty="0" smtClean="0">
                <a:latin typeface="Helvetica" pitchFamily="34" charset="0"/>
              </a:rPr>
              <a:t>Communities organisations, groups: </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Elders</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Traditional communities on ancestral lands</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Extended families in urban or </a:t>
            </a:r>
            <a:br>
              <a:rPr lang="en-US" sz="2000" dirty="0" smtClean="0">
                <a:latin typeface="Helvetica" pitchFamily="34" charset="0"/>
              </a:rPr>
            </a:br>
            <a:r>
              <a:rPr lang="en-US" sz="2000" dirty="0" smtClean="0">
                <a:latin typeface="Helvetica" pitchFamily="34" charset="0"/>
              </a:rPr>
              <a:t>rural settings</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Local groups</a:t>
            </a: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486" y="4114800"/>
            <a:ext cx="2476785" cy="1652016"/>
          </a:xfrm>
          <a:prstGeom prst="rect">
            <a:avLst/>
          </a:prstGeom>
        </p:spPr>
      </p:pic>
    </p:spTree>
    <p:extLst>
      <p:ext uri="{BB962C8B-B14F-4D97-AF65-F5344CB8AC3E}">
        <p14:creationId xmlns:p14="http://schemas.microsoft.com/office/powerpoint/2010/main" val="3957328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5324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419600"/>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First </a:t>
            </a:r>
            <a:r>
              <a:rPr lang="en-AU" sz="2000" dirty="0">
                <a:latin typeface="Helvetica" panose="020B0604020202020204" pitchFamily="34" charset="0"/>
                <a:cs typeface="Helvetica" panose="020B0604020202020204" pitchFamily="34" charset="0"/>
              </a:rPr>
              <a:t>identify all </a:t>
            </a:r>
            <a:r>
              <a:rPr lang="en-AU" sz="2000" dirty="0" smtClean="0">
                <a:latin typeface="Helvetica" panose="020B0604020202020204" pitchFamily="34" charset="0"/>
                <a:cs typeface="Helvetica" panose="020B0604020202020204" pitchFamily="34" charset="0"/>
              </a:rPr>
              <a:t>parties, stakeholders:</a:t>
            </a:r>
          </a:p>
          <a:p>
            <a:pPr marL="360000" indent="-360000">
              <a:spcBef>
                <a:spcPts val="600"/>
              </a:spcBef>
              <a:spcAft>
                <a:spcPts val="1200"/>
              </a:spcAft>
            </a:pPr>
            <a:r>
              <a:rPr lang="en-US" sz="2000" dirty="0" smtClean="0">
                <a:latin typeface="Helvetica" pitchFamily="34" charset="0"/>
              </a:rPr>
              <a:t>Other community influencers: </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Doctor, chemist, pharmacist </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Fire, Police</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Extended families in urban or rural settings</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Trade unions</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Others</a:t>
            </a: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0" y="2324100"/>
            <a:ext cx="2476786" cy="1652016"/>
          </a:xfrm>
          <a:prstGeom prst="rect">
            <a:avLst/>
          </a:prstGeom>
        </p:spPr>
      </p:pic>
    </p:spTree>
    <p:extLst>
      <p:ext uri="{BB962C8B-B14F-4D97-AF65-F5344CB8AC3E}">
        <p14:creationId xmlns:p14="http://schemas.microsoft.com/office/powerpoint/2010/main" val="3754665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8532440" cy="16002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495800"/>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First </a:t>
            </a:r>
            <a:r>
              <a:rPr lang="en-AU" sz="2000" dirty="0">
                <a:latin typeface="Helvetica" panose="020B0604020202020204" pitchFamily="34" charset="0"/>
                <a:cs typeface="Helvetica" panose="020B0604020202020204" pitchFamily="34" charset="0"/>
              </a:rPr>
              <a:t>identify all </a:t>
            </a:r>
            <a:r>
              <a:rPr lang="en-AU" sz="2000" dirty="0" smtClean="0">
                <a:latin typeface="Helvetica" panose="020B0604020202020204" pitchFamily="34" charset="0"/>
                <a:cs typeface="Helvetica" panose="020B0604020202020204" pitchFamily="34" charset="0"/>
              </a:rPr>
              <a:t>parties, stakeholders:</a:t>
            </a:r>
          </a:p>
          <a:p>
            <a:pPr marL="360000" indent="-360000">
              <a:spcBef>
                <a:spcPts val="600"/>
              </a:spcBef>
              <a:spcAft>
                <a:spcPts val="1200"/>
              </a:spcAft>
            </a:pPr>
            <a:r>
              <a:rPr lang="en-US" sz="2000" dirty="0" smtClean="0">
                <a:latin typeface="Helvetica" pitchFamily="34" charset="0"/>
              </a:rPr>
              <a:t>Local authorities: </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Lord mayor </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Local council</a:t>
            </a:r>
          </a:p>
          <a:p>
            <a:pPr marL="702900" indent="-342900">
              <a:spcBef>
                <a:spcPts val="600"/>
              </a:spcBef>
              <a:spcAft>
                <a:spcPts val="1200"/>
              </a:spcAft>
              <a:buClr>
                <a:srgbClr val="7FD13B"/>
              </a:buClr>
              <a:buSzPct val="100000"/>
              <a:buFont typeface="Arial" panose="020B0604020202020204" pitchFamily="34" charset="0"/>
              <a:buChar char="•"/>
            </a:pPr>
            <a:r>
              <a:rPr lang="en-US" sz="2000" dirty="0" smtClean="0">
                <a:latin typeface="Helvetica" pitchFamily="34" charset="0"/>
              </a:rPr>
              <a:t>Others</a:t>
            </a: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0500" y="2590800"/>
            <a:ext cx="2591028" cy="1728216"/>
          </a:xfrm>
          <a:prstGeom prst="rect">
            <a:avLst/>
          </a:prstGeom>
        </p:spPr>
      </p:pic>
    </p:spTree>
    <p:extLst>
      <p:ext uri="{BB962C8B-B14F-4D97-AF65-F5344CB8AC3E}">
        <p14:creationId xmlns:p14="http://schemas.microsoft.com/office/powerpoint/2010/main" val="1493974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770440" cy="1828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7467600" cy="3872955"/>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First </a:t>
            </a:r>
            <a:r>
              <a:rPr lang="en-AU" sz="2000" dirty="0">
                <a:latin typeface="Helvetica" panose="020B0604020202020204" pitchFamily="34" charset="0"/>
                <a:cs typeface="Helvetica" panose="020B0604020202020204" pitchFamily="34" charset="0"/>
              </a:rPr>
              <a:t>identify all </a:t>
            </a:r>
            <a:r>
              <a:rPr lang="en-AU" sz="2000" dirty="0" smtClean="0">
                <a:latin typeface="Helvetica" panose="020B0604020202020204" pitchFamily="34" charset="0"/>
                <a:cs typeface="Helvetica" panose="020B0604020202020204" pitchFamily="34" charset="0"/>
              </a:rPr>
              <a:t>parties, stakeholders:</a:t>
            </a:r>
          </a:p>
          <a:p>
            <a:pPr marL="360000" indent="-360000">
              <a:spcBef>
                <a:spcPts val="600"/>
              </a:spcBef>
              <a:spcAft>
                <a:spcPts val="1200"/>
              </a:spcAft>
            </a:pPr>
            <a:r>
              <a:rPr lang="en-US" sz="2000" dirty="0" smtClean="0">
                <a:latin typeface="Helvetica" pitchFamily="34" charset="0"/>
              </a:rPr>
              <a:t>Official government travel and tourism authorities</a:t>
            </a:r>
          </a:p>
          <a:p>
            <a:pPr marL="360000" indent="-360000">
              <a:spcBef>
                <a:spcPts val="600"/>
              </a:spcBef>
              <a:spcAft>
                <a:spcPts val="1200"/>
              </a:spcAft>
            </a:pPr>
            <a:r>
              <a:rPr lang="en-US" sz="2000" dirty="0" smtClean="0">
                <a:latin typeface="Helvetica" pitchFamily="34" charset="0"/>
              </a:rPr>
              <a:t>Travel and tourism industry associations  </a:t>
            </a:r>
          </a:p>
          <a:p>
            <a:pPr marL="360000" indent="-360000">
              <a:spcBef>
                <a:spcPts val="600"/>
              </a:spcBef>
              <a:spcAft>
                <a:spcPts val="1200"/>
              </a:spcAft>
            </a:pPr>
            <a:r>
              <a:rPr lang="en-US" sz="2000" dirty="0" smtClean="0">
                <a:latin typeface="Helvetica" pitchFamily="34" charset="0"/>
              </a:rPr>
              <a:t>The media</a:t>
            </a: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pPr>
            <a:endParaRPr lang="en-US" sz="2000" dirty="0" smtClean="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7400" y="4165778"/>
            <a:ext cx="2514600" cy="1677238"/>
          </a:xfrm>
          <a:prstGeom prst="rect">
            <a:avLst/>
          </a:prstGeom>
        </p:spPr>
      </p:pic>
    </p:spTree>
    <p:extLst>
      <p:ext uri="{BB962C8B-B14F-4D97-AF65-F5344CB8AC3E}">
        <p14:creationId xmlns:p14="http://schemas.microsoft.com/office/powerpoint/2010/main" val="3188649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8466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9600" y="2133600"/>
            <a:ext cx="7467600" cy="3949155"/>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How to conduct community consultation will be guided by:</a:t>
            </a:r>
          </a:p>
          <a:p>
            <a:pPr marL="360000" indent="-360000">
              <a:spcBef>
                <a:spcPts val="600"/>
              </a:spcBef>
              <a:spcAft>
                <a:spcPts val="1200"/>
              </a:spcAft>
            </a:pPr>
            <a:r>
              <a:rPr lang="en-US" sz="2000" dirty="0" smtClean="0">
                <a:latin typeface="Helvetica" pitchFamily="34" charset="0"/>
              </a:rPr>
              <a:t>Nature of the stakeholders</a:t>
            </a:r>
          </a:p>
          <a:p>
            <a:pPr marL="360000" indent="-360000">
              <a:spcBef>
                <a:spcPts val="600"/>
              </a:spcBef>
              <a:spcAft>
                <a:spcPts val="1200"/>
              </a:spcAft>
            </a:pPr>
            <a:r>
              <a:rPr lang="en-US" sz="2000" dirty="0" smtClean="0">
                <a:latin typeface="Helvetica" pitchFamily="34" charset="0"/>
              </a:rPr>
              <a:t>Communication medium they prefer </a:t>
            </a:r>
          </a:p>
          <a:p>
            <a:pPr marL="0" indent="0">
              <a:spcBef>
                <a:spcPts val="600"/>
              </a:spcBef>
              <a:spcAft>
                <a:spcPts val="1200"/>
              </a:spcAft>
              <a:buNone/>
            </a:pPr>
            <a:endParaRPr lang="en-US" sz="2000" dirty="0">
              <a:latin typeface="Helvetica" pitchFamily="34" charset="0"/>
            </a:endParaRP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0" y="2743200"/>
            <a:ext cx="1905000" cy="1905000"/>
          </a:xfrm>
          <a:prstGeom prst="rect">
            <a:avLst/>
          </a:prstGeom>
        </p:spPr>
      </p:pic>
    </p:spTree>
    <p:extLst>
      <p:ext uri="{BB962C8B-B14F-4D97-AF65-F5344CB8AC3E}">
        <p14:creationId xmlns:p14="http://schemas.microsoft.com/office/powerpoint/2010/main" val="3942653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999040" cy="16002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3949155"/>
          </a:xfrm>
        </p:spPr>
        <p:txBody>
          <a:bodyPr>
            <a:norm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How to communicate: </a:t>
            </a:r>
          </a:p>
          <a:p>
            <a:pPr lvl="0">
              <a:spcBef>
                <a:spcPts val="600"/>
              </a:spcBef>
              <a:spcAft>
                <a:spcPts val="1200"/>
              </a:spcAft>
            </a:pPr>
            <a:r>
              <a:rPr lang="en-AU" sz="2000" dirty="0" smtClean="0"/>
              <a:t>Be </a:t>
            </a:r>
            <a:r>
              <a:rPr lang="en-AU" sz="2000" dirty="0"/>
              <a:t>clear on the purpose of the meeting</a:t>
            </a:r>
            <a:endParaRPr lang="en-US" sz="2000" dirty="0"/>
          </a:p>
          <a:p>
            <a:pPr lvl="0">
              <a:spcBef>
                <a:spcPts val="600"/>
              </a:spcBef>
              <a:spcAft>
                <a:spcPts val="1200"/>
              </a:spcAft>
            </a:pPr>
            <a:r>
              <a:rPr lang="en-AU" sz="2000" dirty="0"/>
              <a:t>Be honest</a:t>
            </a:r>
            <a:endParaRPr lang="en-US" sz="2000" dirty="0"/>
          </a:p>
          <a:p>
            <a:pPr lvl="0">
              <a:spcBef>
                <a:spcPts val="600"/>
              </a:spcBef>
              <a:spcAft>
                <a:spcPts val="1200"/>
              </a:spcAft>
            </a:pPr>
            <a:r>
              <a:rPr lang="en-AU" sz="2000" dirty="0"/>
              <a:t>Communicate in a timely manner</a:t>
            </a:r>
            <a:endParaRPr lang="en-US" sz="2000" dirty="0"/>
          </a:p>
          <a:p>
            <a:pPr lvl="0">
              <a:spcBef>
                <a:spcPts val="600"/>
              </a:spcBef>
              <a:spcAft>
                <a:spcPts val="1200"/>
              </a:spcAft>
            </a:pPr>
            <a:r>
              <a:rPr lang="en-AU" sz="2000" dirty="0"/>
              <a:t>Advertising and promoting the meeting with enough lead time for all the interested parties to make </a:t>
            </a:r>
            <a:r>
              <a:rPr lang="en-AU" sz="2000" dirty="0" smtClean="0"/>
              <a:t>arrangements </a:t>
            </a:r>
            <a:r>
              <a:rPr lang="en-AU" sz="2000" dirty="0"/>
              <a:t>to attend</a:t>
            </a:r>
            <a:endParaRPr lang="en-US" sz="2000" dirty="0"/>
          </a:p>
          <a:p>
            <a:pPr marL="0" indent="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2324100"/>
            <a:ext cx="1752600" cy="1752600"/>
          </a:xfrm>
          <a:prstGeom prst="rect">
            <a:avLst/>
          </a:prstGeom>
        </p:spPr>
      </p:pic>
    </p:spTree>
    <p:extLst>
      <p:ext uri="{BB962C8B-B14F-4D97-AF65-F5344CB8AC3E}">
        <p14:creationId xmlns:p14="http://schemas.microsoft.com/office/powerpoint/2010/main" val="1995525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52400"/>
            <a:ext cx="8075240" cy="16002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36576" lvl="0" indent="0">
              <a:spcBef>
                <a:spcPts val="600"/>
              </a:spcBef>
              <a:spcAft>
                <a:spcPts val="1200"/>
              </a:spcAft>
              <a:buNone/>
            </a:pPr>
            <a:r>
              <a:rPr lang="en-AU" sz="2000" b="1" dirty="0" smtClean="0">
                <a:latin typeface="Helvetica" panose="020B0604020202020204" pitchFamily="34" charset="0"/>
                <a:cs typeface="Helvetica" panose="020B0604020202020204" pitchFamily="34" charset="0"/>
              </a:rPr>
              <a:t>How to communicate </a:t>
            </a:r>
          </a:p>
          <a:p>
            <a:pPr marL="36576" lvl="0" indent="0">
              <a:spcBef>
                <a:spcPts val="600"/>
              </a:spcBef>
              <a:spcAft>
                <a:spcPts val="1200"/>
              </a:spcAft>
              <a:buNone/>
            </a:pPr>
            <a:r>
              <a:rPr lang="en-AU" sz="2000" dirty="0" smtClean="0"/>
              <a:t>Organise </a:t>
            </a:r>
            <a:r>
              <a:rPr lang="en-AU" sz="2000" dirty="0"/>
              <a:t>meetings, workshops and </a:t>
            </a:r>
            <a:r>
              <a:rPr lang="en-AU" sz="2000" dirty="0" smtClean="0"/>
              <a:t>seminars: </a:t>
            </a:r>
            <a:endParaRPr lang="en-US" sz="2000" dirty="0"/>
          </a:p>
          <a:p>
            <a:pPr lvl="0">
              <a:spcBef>
                <a:spcPts val="600"/>
              </a:spcBef>
              <a:spcAft>
                <a:spcPts val="1200"/>
              </a:spcAft>
            </a:pPr>
            <a:r>
              <a:rPr lang="en-US" sz="2000" dirty="0" smtClean="0"/>
              <a:t>In </a:t>
            </a:r>
            <a:r>
              <a:rPr lang="en-US" sz="2000" dirty="0"/>
              <a:t>a neutral location</a:t>
            </a:r>
          </a:p>
          <a:p>
            <a:pPr lvl="0">
              <a:spcBef>
                <a:spcPts val="600"/>
              </a:spcBef>
              <a:spcAft>
                <a:spcPts val="1200"/>
              </a:spcAft>
            </a:pPr>
            <a:r>
              <a:rPr lang="en-US" sz="2000" dirty="0" smtClean="0"/>
              <a:t>Easy </a:t>
            </a:r>
            <a:r>
              <a:rPr lang="en-US" sz="2000" dirty="0"/>
              <a:t>to access</a:t>
            </a:r>
          </a:p>
          <a:p>
            <a:pPr lvl="0">
              <a:spcBef>
                <a:spcPts val="600"/>
              </a:spcBef>
              <a:spcAft>
                <a:spcPts val="1200"/>
              </a:spcAft>
            </a:pPr>
            <a:r>
              <a:rPr lang="en-US" sz="2000" dirty="0" smtClean="0"/>
              <a:t>At </a:t>
            </a:r>
            <a:r>
              <a:rPr lang="en-US" sz="2000" dirty="0"/>
              <a:t>a convenient time for most </a:t>
            </a:r>
            <a:r>
              <a:rPr lang="en-US" sz="2000" dirty="0" smtClean="0"/>
              <a:t/>
            </a:r>
            <a:br>
              <a:rPr lang="en-US" sz="2000" dirty="0" smtClean="0"/>
            </a:br>
            <a:r>
              <a:rPr lang="en-US" sz="2000" dirty="0" smtClean="0"/>
              <a:t>concerned </a:t>
            </a:r>
            <a:r>
              <a:rPr lang="en-US" sz="2000" dirty="0"/>
              <a:t>stakeholders</a:t>
            </a:r>
          </a:p>
          <a:p>
            <a:pPr marL="0" indent="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0200" y="3276600"/>
            <a:ext cx="2362543" cy="1575816"/>
          </a:xfrm>
          <a:prstGeom prst="rect">
            <a:avLst/>
          </a:prstGeom>
        </p:spPr>
      </p:pic>
    </p:spTree>
    <p:extLst>
      <p:ext uri="{BB962C8B-B14F-4D97-AF65-F5344CB8AC3E}">
        <p14:creationId xmlns:p14="http://schemas.microsoft.com/office/powerpoint/2010/main" val="568388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9990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0" indent="0">
              <a:spcBef>
                <a:spcPts val="600"/>
              </a:spcBef>
              <a:spcAft>
                <a:spcPts val="1200"/>
              </a:spcAft>
              <a:buNone/>
            </a:pPr>
            <a:r>
              <a:rPr lang="en-AU" sz="2000" dirty="0" smtClean="0"/>
              <a:t>In </a:t>
            </a:r>
            <a:r>
              <a:rPr lang="en-AU" sz="2000" dirty="0"/>
              <a:t>order to ’set the scene’, when starting the consultation process, the following topics must be clearly presented, explained and opened for discussion</a:t>
            </a:r>
            <a:r>
              <a:rPr lang="en-AU" sz="2000" dirty="0" smtClean="0"/>
              <a:t>:</a:t>
            </a:r>
          </a:p>
          <a:p>
            <a:pPr marL="361950" indent="-361950">
              <a:spcBef>
                <a:spcPts val="600"/>
              </a:spcBef>
              <a:spcAft>
                <a:spcPts val="1200"/>
              </a:spcAft>
            </a:pPr>
            <a:r>
              <a:rPr lang="en-AU" sz="2000" dirty="0" smtClean="0"/>
              <a:t>Potential advantages</a:t>
            </a:r>
          </a:p>
          <a:p>
            <a:pPr marL="361950" indent="-361950">
              <a:spcBef>
                <a:spcPts val="600"/>
              </a:spcBef>
              <a:spcAft>
                <a:spcPts val="1200"/>
              </a:spcAft>
            </a:pPr>
            <a:r>
              <a:rPr lang="en-AU" sz="2000" dirty="0" smtClean="0"/>
              <a:t>Potential disadvantages </a:t>
            </a:r>
          </a:p>
          <a:p>
            <a:pPr marL="361950" indent="-361950">
              <a:spcBef>
                <a:spcPts val="600"/>
              </a:spcBef>
              <a:spcAft>
                <a:spcPts val="1200"/>
              </a:spcAft>
            </a:pPr>
            <a:r>
              <a:rPr lang="en-AU" sz="2000" dirty="0" smtClean="0"/>
              <a:t> Advice seeking </a:t>
            </a:r>
            <a:endParaRPr lang="en-US" sz="2000" dirty="0"/>
          </a:p>
          <a:p>
            <a:pPr marL="360000" indent="-360000">
              <a:spcBef>
                <a:spcPts val="600"/>
              </a:spcBef>
              <a:spcAft>
                <a:spcPts val="1200"/>
              </a:spcAft>
            </a:pPr>
            <a:endParaRPr lang="en-US" sz="2000" dirty="0">
              <a:latin typeface="Helvetica" pitchFamily="34" charset="0"/>
            </a:endParaRPr>
          </a:p>
          <a:p>
            <a:pPr marL="36576" lvl="0" indent="0">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3171825"/>
            <a:ext cx="2124364" cy="1752600"/>
          </a:xfrm>
          <a:prstGeom prst="rect">
            <a:avLst/>
          </a:prstGeom>
        </p:spPr>
      </p:pic>
    </p:spTree>
    <p:extLst>
      <p:ext uri="{BB962C8B-B14F-4D97-AF65-F5344CB8AC3E}">
        <p14:creationId xmlns:p14="http://schemas.microsoft.com/office/powerpoint/2010/main" val="992012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9990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0" indent="0">
              <a:spcBef>
                <a:spcPts val="600"/>
              </a:spcBef>
              <a:spcAft>
                <a:spcPts val="1200"/>
              </a:spcAft>
              <a:buNone/>
            </a:pPr>
            <a:r>
              <a:rPr lang="en-US" sz="2000" dirty="0" smtClean="0">
                <a:latin typeface="Helvetica" pitchFamily="34" charset="0"/>
              </a:rPr>
              <a:t>Potential advantages: </a:t>
            </a:r>
          </a:p>
          <a:p>
            <a:pPr lvl="0">
              <a:spcBef>
                <a:spcPts val="600"/>
              </a:spcBef>
              <a:spcAft>
                <a:spcPts val="1200"/>
              </a:spcAft>
            </a:pPr>
            <a:r>
              <a:rPr lang="en-US" sz="2000" dirty="0"/>
              <a:t>Economic benefits to local community</a:t>
            </a:r>
          </a:p>
          <a:p>
            <a:pPr lvl="0">
              <a:spcBef>
                <a:spcPts val="600"/>
              </a:spcBef>
              <a:spcAft>
                <a:spcPts val="1200"/>
              </a:spcAft>
            </a:pPr>
            <a:r>
              <a:rPr lang="en-US" sz="2000" dirty="0"/>
              <a:t>Improved local facilities</a:t>
            </a:r>
          </a:p>
          <a:p>
            <a:pPr lvl="0">
              <a:spcBef>
                <a:spcPts val="600"/>
              </a:spcBef>
              <a:spcAft>
                <a:spcPts val="1200"/>
              </a:spcAft>
            </a:pPr>
            <a:r>
              <a:rPr lang="en-US" sz="2000" dirty="0"/>
              <a:t>Employment opportunities</a:t>
            </a:r>
          </a:p>
          <a:p>
            <a:pPr lvl="0">
              <a:spcBef>
                <a:spcPts val="600"/>
              </a:spcBef>
              <a:spcAft>
                <a:spcPts val="1200"/>
              </a:spcAft>
            </a:pPr>
            <a:r>
              <a:rPr lang="en-US" sz="2000" dirty="0"/>
              <a:t>Cultural benefits including cultural preservation</a:t>
            </a:r>
          </a:p>
          <a:p>
            <a:pPr lvl="0">
              <a:spcBef>
                <a:spcPts val="600"/>
              </a:spcBef>
              <a:spcAft>
                <a:spcPts val="1200"/>
              </a:spcAft>
            </a:pPr>
            <a:r>
              <a:rPr lang="en-US" sz="2000" dirty="0" smtClean="0"/>
              <a:t>Visitors </a:t>
            </a:r>
            <a:r>
              <a:rPr lang="en-US" sz="2000" dirty="0"/>
              <a:t>education</a:t>
            </a:r>
          </a:p>
          <a:p>
            <a:pPr lvl="0">
              <a:spcBef>
                <a:spcPts val="600"/>
              </a:spcBef>
              <a:spcAft>
                <a:spcPts val="1200"/>
              </a:spcAft>
            </a:pPr>
            <a:r>
              <a:rPr lang="en-US" sz="2000" dirty="0"/>
              <a:t>Greater understanding between host and visitor cultures</a:t>
            </a:r>
          </a:p>
          <a:p>
            <a:pPr marL="0" indent="0">
              <a:spcBef>
                <a:spcPts val="600"/>
              </a:spcBef>
              <a:spcAft>
                <a:spcPts val="1200"/>
              </a:spcAft>
              <a:buNone/>
            </a:pPr>
            <a:endParaRPr lang="en-US" sz="2000" dirty="0">
              <a:latin typeface="Helvetica" pitchFamily="34" charset="0"/>
            </a:endParaRPr>
          </a:p>
          <a:p>
            <a:pPr marL="0" indent="0">
              <a:spcBef>
                <a:spcPts val="600"/>
              </a:spcBef>
              <a:spcAft>
                <a:spcPts val="1200"/>
              </a:spcAft>
              <a:buNone/>
            </a:pPr>
            <a:endParaRPr lang="en-AU" sz="2000" dirty="0" smtClean="0"/>
          </a:p>
          <a:p>
            <a:pPr marL="0" indent="0">
              <a:spcBef>
                <a:spcPts val="600"/>
              </a:spcBef>
              <a:spcAft>
                <a:spcPts val="1200"/>
              </a:spcAft>
              <a:buNone/>
            </a:pPr>
            <a:endParaRPr lang="en-US" sz="2000" dirty="0"/>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2209800"/>
            <a:ext cx="2211659" cy="1813560"/>
          </a:xfrm>
          <a:prstGeom prst="ellipse">
            <a:avLst/>
          </a:prstGeom>
        </p:spPr>
      </p:pic>
    </p:spTree>
    <p:extLst>
      <p:ext uri="{BB962C8B-B14F-4D97-AF65-F5344CB8AC3E}">
        <p14:creationId xmlns:p14="http://schemas.microsoft.com/office/powerpoint/2010/main" val="4275732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85324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572000"/>
          </a:xfrm>
        </p:spPr>
        <p:txBody>
          <a:bodyPr>
            <a:normAutofit/>
          </a:bodyPr>
          <a:lstStyle/>
          <a:p>
            <a:pPr marL="0" indent="0">
              <a:spcBef>
                <a:spcPts val="600"/>
              </a:spcBef>
              <a:spcAft>
                <a:spcPts val="1200"/>
              </a:spcAft>
              <a:buNone/>
            </a:pPr>
            <a:r>
              <a:rPr lang="en-US" sz="2000" dirty="0" smtClean="0">
                <a:latin typeface="Helvetica" pitchFamily="34" charset="0"/>
              </a:rPr>
              <a:t>Potential disadvantages: </a:t>
            </a:r>
          </a:p>
          <a:p>
            <a:pPr lvl="0">
              <a:spcBef>
                <a:spcPts val="600"/>
              </a:spcBef>
              <a:spcAft>
                <a:spcPts val="1200"/>
              </a:spcAft>
            </a:pPr>
            <a:r>
              <a:rPr lang="en-US" sz="2000" dirty="0"/>
              <a:t>Trivialisation of culture</a:t>
            </a:r>
          </a:p>
          <a:p>
            <a:pPr lvl="0">
              <a:spcBef>
                <a:spcPts val="600"/>
              </a:spcBef>
              <a:spcAft>
                <a:spcPts val="1200"/>
              </a:spcAft>
            </a:pPr>
            <a:r>
              <a:rPr lang="en-US" sz="2000" dirty="0"/>
              <a:t>Effect on social structures and lifestyles</a:t>
            </a:r>
          </a:p>
          <a:p>
            <a:pPr lvl="0">
              <a:spcBef>
                <a:spcPts val="600"/>
              </a:spcBef>
              <a:spcAft>
                <a:spcPts val="1200"/>
              </a:spcAft>
            </a:pPr>
            <a:r>
              <a:rPr lang="en-US" sz="2000" dirty="0"/>
              <a:t>Environmental damage</a:t>
            </a:r>
          </a:p>
          <a:p>
            <a:pPr lvl="0">
              <a:spcBef>
                <a:spcPts val="600"/>
              </a:spcBef>
              <a:spcAft>
                <a:spcPts val="1200"/>
              </a:spcAft>
            </a:pPr>
            <a:r>
              <a:rPr lang="en-US" sz="2000" dirty="0"/>
              <a:t>Loss of privacy </a:t>
            </a:r>
          </a:p>
          <a:p>
            <a:pPr lvl="0">
              <a:spcBef>
                <a:spcPts val="600"/>
              </a:spcBef>
              <a:spcAft>
                <a:spcPts val="1200"/>
              </a:spcAft>
            </a:pPr>
            <a:r>
              <a:rPr lang="en-US" sz="2000" dirty="0"/>
              <a:t>Exposure to the dangers accompanying any influx of tourists</a:t>
            </a:r>
          </a:p>
          <a:p>
            <a:pPr lvl="0">
              <a:spcBef>
                <a:spcPts val="600"/>
              </a:spcBef>
              <a:spcAft>
                <a:spcPts val="1200"/>
              </a:spcAft>
            </a:pPr>
            <a:r>
              <a:rPr lang="en-US" sz="2000" dirty="0"/>
              <a:t>Reduced ability to use and/or enjoy traditional facilities and locations</a:t>
            </a:r>
          </a:p>
          <a:p>
            <a:pPr marL="0" indent="0">
              <a:spcBef>
                <a:spcPts val="600"/>
              </a:spcBef>
              <a:spcAft>
                <a:spcPts val="1200"/>
              </a:spcAft>
              <a:buNone/>
            </a:pPr>
            <a:endParaRPr lang="en-AU" sz="2000" dirty="0" smtClean="0"/>
          </a:p>
          <a:p>
            <a:pPr marL="0" indent="0">
              <a:spcBef>
                <a:spcPts val="600"/>
              </a:spcBef>
              <a:spcAft>
                <a:spcPts val="1200"/>
              </a:spcAft>
              <a:buNone/>
            </a:pPr>
            <a:endParaRPr lang="en-US" sz="2000" dirty="0"/>
          </a:p>
          <a:p>
            <a:pPr marL="360000" indent="-360000">
              <a:spcBef>
                <a:spcPts val="600"/>
              </a:spcBef>
              <a:spcAft>
                <a:spcPts val="1200"/>
              </a:spcAft>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200" y="2133600"/>
            <a:ext cx="2001879" cy="17556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32010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532440" cy="16002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495800"/>
          </a:xfrm>
        </p:spPr>
        <p:txBody>
          <a:bodyPr>
            <a:noAutofit/>
          </a:bodyPr>
          <a:lstStyle/>
          <a:p>
            <a:pPr marL="36576" indent="0">
              <a:spcBef>
                <a:spcPts val="600"/>
              </a:spcBef>
              <a:spcAft>
                <a:spcPts val="600"/>
              </a:spcAft>
              <a:buNone/>
            </a:pPr>
            <a:r>
              <a:rPr lang="en-AU" sz="1800" b="1" dirty="0" smtClean="0"/>
              <a:t>Actively </a:t>
            </a:r>
            <a:r>
              <a:rPr lang="en-AU" sz="1800" b="1" dirty="0"/>
              <a:t>seek advice in relation to potential tourism related opportunities </a:t>
            </a:r>
            <a:endParaRPr lang="en-US" sz="1800" b="1" dirty="0"/>
          </a:p>
          <a:p>
            <a:pPr marL="36576" indent="0">
              <a:spcBef>
                <a:spcPts val="600"/>
              </a:spcBef>
              <a:spcAft>
                <a:spcPts val="600"/>
              </a:spcAft>
              <a:buNone/>
            </a:pPr>
            <a:r>
              <a:rPr lang="en-AU" sz="1800" dirty="0"/>
              <a:t>The local community </a:t>
            </a:r>
            <a:r>
              <a:rPr lang="en-AU" sz="1800" dirty="0" smtClean="0"/>
              <a:t>knowledge of:  </a:t>
            </a:r>
            <a:endParaRPr lang="en-US" sz="1800" b="1" dirty="0"/>
          </a:p>
          <a:p>
            <a:pPr lvl="0">
              <a:spcBef>
                <a:spcPts val="600"/>
              </a:spcBef>
              <a:spcAft>
                <a:spcPts val="600"/>
              </a:spcAft>
            </a:pPr>
            <a:r>
              <a:rPr lang="en-AU" sz="1800" dirty="0"/>
              <a:t>The area</a:t>
            </a:r>
            <a:endParaRPr lang="en-US" sz="1800" dirty="0"/>
          </a:p>
          <a:p>
            <a:pPr lvl="0">
              <a:spcBef>
                <a:spcPts val="600"/>
              </a:spcBef>
              <a:spcAft>
                <a:spcPts val="600"/>
              </a:spcAft>
            </a:pPr>
            <a:r>
              <a:rPr lang="en-AU" sz="1800" dirty="0"/>
              <a:t>The facilities , infrastructure already in place</a:t>
            </a:r>
            <a:endParaRPr lang="en-US" sz="1800" dirty="0"/>
          </a:p>
          <a:p>
            <a:pPr lvl="0">
              <a:spcBef>
                <a:spcPts val="600"/>
              </a:spcBef>
              <a:spcAft>
                <a:spcPts val="600"/>
              </a:spcAft>
            </a:pPr>
            <a:r>
              <a:rPr lang="en-AU" sz="1800" dirty="0"/>
              <a:t>The type of visitors they already </a:t>
            </a:r>
            <a:r>
              <a:rPr lang="en-AU" sz="1800" dirty="0" smtClean="0"/>
              <a:t>have, </a:t>
            </a:r>
            <a:r>
              <a:rPr lang="en-AU" sz="1800" dirty="0"/>
              <a:t>if applicable</a:t>
            </a:r>
            <a:endParaRPr lang="en-US" sz="1800" dirty="0"/>
          </a:p>
          <a:p>
            <a:pPr lvl="0">
              <a:spcBef>
                <a:spcPts val="600"/>
              </a:spcBef>
              <a:spcAft>
                <a:spcPts val="600"/>
              </a:spcAft>
            </a:pPr>
            <a:r>
              <a:rPr lang="en-AU" sz="1800" dirty="0"/>
              <a:t>The weather pattern, seasons </a:t>
            </a:r>
            <a:endParaRPr lang="en-US" sz="1800" dirty="0"/>
          </a:p>
          <a:p>
            <a:pPr lvl="0">
              <a:spcBef>
                <a:spcPts val="600"/>
              </a:spcBef>
              <a:spcAft>
                <a:spcPts val="600"/>
              </a:spcAft>
            </a:pPr>
            <a:r>
              <a:rPr lang="en-AU" sz="1800" dirty="0"/>
              <a:t>The local events</a:t>
            </a:r>
            <a:endParaRPr lang="en-US" sz="1800" dirty="0"/>
          </a:p>
          <a:p>
            <a:pPr lvl="0">
              <a:spcBef>
                <a:spcPts val="600"/>
              </a:spcBef>
              <a:spcAft>
                <a:spcPts val="600"/>
              </a:spcAft>
            </a:pPr>
            <a:r>
              <a:rPr lang="en-AU" sz="1800" dirty="0"/>
              <a:t>General common local attitude towards tourism  </a:t>
            </a:r>
            <a:endParaRPr lang="en-US" sz="1800" dirty="0"/>
          </a:p>
          <a:p>
            <a:pPr marL="0" indent="0">
              <a:spcBef>
                <a:spcPts val="600"/>
              </a:spcBef>
              <a:spcAft>
                <a:spcPts val="600"/>
              </a:spcAft>
              <a:buNone/>
            </a:pPr>
            <a:endParaRPr lang="en-US" sz="1800" dirty="0"/>
          </a:p>
          <a:p>
            <a:pPr marL="36576" lvl="0" indent="0">
              <a:spcBef>
                <a:spcPts val="600"/>
              </a:spcBef>
              <a:spcAft>
                <a:spcPts val="600"/>
              </a:spcAft>
              <a:buNone/>
            </a:pPr>
            <a:endParaRPr lang="en-US" sz="1800" dirty="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599" y="4419600"/>
            <a:ext cx="2124075" cy="1416758"/>
          </a:xfrm>
          <a:prstGeom prst="rect">
            <a:avLst/>
          </a:prstGeom>
        </p:spPr>
      </p:pic>
    </p:spTree>
    <p:extLst>
      <p:ext uri="{BB962C8B-B14F-4D97-AF65-F5344CB8AC3E}">
        <p14:creationId xmlns:p14="http://schemas.microsoft.com/office/powerpoint/2010/main" val="3542934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532440" cy="16002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7467600" cy="3872955"/>
          </a:xfrm>
        </p:spPr>
        <p:txBody>
          <a:bodyPr>
            <a:normAutofit/>
          </a:bodyPr>
          <a:lstStyle/>
          <a:p>
            <a:pPr marL="36576" indent="0">
              <a:spcBef>
                <a:spcPts val="600"/>
              </a:spcBef>
              <a:spcAft>
                <a:spcPts val="1200"/>
              </a:spcAft>
              <a:buNone/>
            </a:pPr>
            <a:r>
              <a:rPr lang="en-AU" sz="2000" b="1" dirty="0" smtClean="0"/>
              <a:t>Actively </a:t>
            </a:r>
            <a:r>
              <a:rPr lang="en-AU" sz="2000" b="1" dirty="0"/>
              <a:t>seek advice in relation to potential tourism related opportunities </a:t>
            </a:r>
            <a:endParaRPr lang="en-US" sz="2000" b="1" dirty="0"/>
          </a:p>
          <a:p>
            <a:pPr marL="36576" indent="0">
              <a:spcBef>
                <a:spcPts val="600"/>
              </a:spcBef>
              <a:spcAft>
                <a:spcPts val="1200"/>
              </a:spcAft>
              <a:buNone/>
            </a:pPr>
            <a:r>
              <a:rPr lang="en-AU" sz="2000" dirty="0" smtClean="0"/>
              <a:t>Provides </a:t>
            </a:r>
            <a:r>
              <a:rPr lang="en-AU" sz="2000" dirty="0"/>
              <a:t>them with a recent and in depth understanding of </a:t>
            </a:r>
            <a:r>
              <a:rPr lang="en-AU" sz="2000" dirty="0" smtClean="0"/>
              <a:t>any </a:t>
            </a:r>
            <a:r>
              <a:rPr lang="en-AU" sz="2000" dirty="0"/>
              <a:t>potential local tourism opportunities </a:t>
            </a:r>
            <a:r>
              <a:rPr lang="en-AU" sz="2000" dirty="0" smtClean="0"/>
              <a:t/>
            </a:r>
            <a:br>
              <a:rPr lang="en-AU" sz="2000" dirty="0" smtClean="0"/>
            </a:br>
            <a:r>
              <a:rPr lang="en-AU" sz="2000" dirty="0" smtClean="0"/>
              <a:t>from developing </a:t>
            </a:r>
            <a:r>
              <a:rPr lang="en-AU" sz="2000" dirty="0"/>
              <a:t>a local festival into a </a:t>
            </a:r>
            <a:r>
              <a:rPr lang="en-AU" sz="2000" dirty="0" smtClean="0"/>
              <a:t/>
            </a:r>
            <a:br>
              <a:rPr lang="en-AU" sz="2000" dirty="0" smtClean="0"/>
            </a:br>
            <a:r>
              <a:rPr lang="en-AU" sz="2000" dirty="0" smtClean="0"/>
              <a:t>regional </a:t>
            </a:r>
            <a:r>
              <a:rPr lang="en-AU" sz="2000" dirty="0"/>
              <a:t>one to opening a large costal </a:t>
            </a:r>
            <a:r>
              <a:rPr lang="en-AU" sz="2000" dirty="0" smtClean="0"/>
              <a:t>resort.</a:t>
            </a:r>
            <a:endParaRPr lang="en-US" sz="2000" dirty="0"/>
          </a:p>
          <a:p>
            <a:pPr marL="0" indent="0">
              <a:spcBef>
                <a:spcPts val="600"/>
              </a:spcBef>
              <a:spcAft>
                <a:spcPts val="1200"/>
              </a:spcAft>
              <a:buNone/>
            </a:pPr>
            <a:endParaRPr lang="en-US" sz="2000" dirty="0">
              <a:latin typeface="Helvetica" pitchFamily="34" charset="0"/>
            </a:endParaRPr>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4214" y="4114800"/>
            <a:ext cx="2285886" cy="1524686"/>
          </a:xfrm>
          <a:prstGeom prst="rect">
            <a:avLst/>
          </a:prstGeom>
        </p:spPr>
      </p:pic>
    </p:spTree>
    <p:extLst>
      <p:ext uri="{BB962C8B-B14F-4D97-AF65-F5344CB8AC3E}">
        <p14:creationId xmlns:p14="http://schemas.microsoft.com/office/powerpoint/2010/main" val="3460236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5324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1.1 Consult with the local community to obtain involvement and input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5105400"/>
          </a:xfrm>
        </p:spPr>
        <p:txBody>
          <a:bodyPr>
            <a:normAutofit/>
          </a:bodyPr>
          <a:lstStyle/>
          <a:p>
            <a:pPr marL="36576" indent="0">
              <a:spcBef>
                <a:spcPts val="600"/>
              </a:spcBef>
              <a:spcAft>
                <a:spcPts val="1200"/>
              </a:spcAft>
              <a:buNone/>
            </a:pPr>
            <a:r>
              <a:rPr lang="en-AU" sz="2000" b="1" dirty="0" smtClean="0"/>
              <a:t>Record </a:t>
            </a:r>
            <a:r>
              <a:rPr lang="en-AU" sz="2000" b="1" dirty="0"/>
              <a:t>all input by all contributors</a:t>
            </a:r>
            <a:endParaRPr lang="en-US" sz="2000" b="1" dirty="0"/>
          </a:p>
          <a:p>
            <a:pPr>
              <a:spcBef>
                <a:spcPts val="600"/>
              </a:spcBef>
              <a:spcAft>
                <a:spcPts val="1200"/>
              </a:spcAft>
            </a:pPr>
            <a:r>
              <a:rPr lang="en-AU" sz="2000" dirty="0" smtClean="0"/>
              <a:t>All data gathered needs to be recorded straightaway in order to be used for the </a:t>
            </a:r>
            <a:r>
              <a:rPr lang="en-AU" sz="2000" dirty="0"/>
              <a:t>assessing phase of the </a:t>
            </a:r>
            <a:r>
              <a:rPr lang="en-AU" sz="2000" dirty="0" smtClean="0"/>
              <a:t>project</a:t>
            </a:r>
            <a:endParaRPr lang="en-US" sz="2000" dirty="0"/>
          </a:p>
          <a:p>
            <a:pPr>
              <a:spcBef>
                <a:spcPts val="600"/>
              </a:spcBef>
              <a:spcAft>
                <a:spcPts val="1200"/>
              </a:spcAft>
            </a:pPr>
            <a:r>
              <a:rPr lang="en-AU" sz="2000" dirty="0" smtClean="0"/>
              <a:t>The </a:t>
            </a:r>
            <a:r>
              <a:rPr lang="en-AU" sz="2000" dirty="0"/>
              <a:t>following </a:t>
            </a:r>
            <a:r>
              <a:rPr lang="en-AU" sz="2000" dirty="0" smtClean="0"/>
              <a:t>means </a:t>
            </a:r>
            <a:r>
              <a:rPr lang="en-AU" sz="2000" dirty="0"/>
              <a:t>can be </a:t>
            </a:r>
            <a:r>
              <a:rPr lang="en-AU" sz="2000" dirty="0" smtClean="0"/>
              <a:t>use:</a:t>
            </a:r>
            <a:endParaRPr lang="en-US" sz="2000" dirty="0"/>
          </a:p>
          <a:p>
            <a:pPr marL="714375" lvl="0" indent="-382588">
              <a:spcBef>
                <a:spcPts val="600"/>
              </a:spcBef>
              <a:spcAft>
                <a:spcPts val="1200"/>
              </a:spcAft>
              <a:buSzPct val="100000"/>
              <a:buFont typeface="Arial" panose="020B0604020202020204" pitchFamily="34" charset="0"/>
              <a:buChar char="•"/>
            </a:pPr>
            <a:r>
              <a:rPr lang="en-AU" sz="2000" dirty="0"/>
              <a:t>Written and/or recorded formal meetings notes</a:t>
            </a:r>
            <a:endParaRPr lang="en-US" sz="2000" dirty="0"/>
          </a:p>
          <a:p>
            <a:pPr marL="714375" lvl="0" indent="-382588">
              <a:spcBef>
                <a:spcPts val="600"/>
              </a:spcBef>
              <a:spcAft>
                <a:spcPts val="1200"/>
              </a:spcAft>
              <a:buSzPct val="100000"/>
              <a:buFont typeface="Arial" panose="020B0604020202020204" pitchFamily="34" charset="0"/>
              <a:buChar char="•"/>
            </a:pPr>
            <a:r>
              <a:rPr lang="en-AU" sz="2000" dirty="0"/>
              <a:t>Informal notes from meetings, chats with residents and key local representatives kept in hard or soft copy</a:t>
            </a:r>
            <a:endParaRPr lang="en-US" sz="2000" dirty="0"/>
          </a:p>
          <a:p>
            <a:pPr marL="714375" lvl="0" indent="-382588">
              <a:spcBef>
                <a:spcPts val="600"/>
              </a:spcBef>
              <a:spcAft>
                <a:spcPts val="1200"/>
              </a:spcAft>
              <a:buSzPct val="100000"/>
              <a:buFont typeface="Arial" panose="020B0604020202020204" pitchFamily="34" charset="0"/>
              <a:buChar char="•"/>
            </a:pPr>
            <a:r>
              <a:rPr lang="en-AU" sz="2000" dirty="0"/>
              <a:t>Comments on host organisation website if applicable</a:t>
            </a:r>
            <a:endParaRPr lang="en-US" sz="2000" dirty="0"/>
          </a:p>
          <a:p>
            <a:pPr marL="36576" lvl="0"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spTree>
    <p:extLst>
      <p:ext uri="{BB962C8B-B14F-4D97-AF65-F5344CB8AC3E}">
        <p14:creationId xmlns:p14="http://schemas.microsoft.com/office/powerpoint/2010/main" val="1171782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1.2 Identify possible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0" indent="0">
              <a:spcBef>
                <a:spcPts val="600"/>
              </a:spcBef>
              <a:spcAft>
                <a:spcPts val="1200"/>
              </a:spcAft>
              <a:buNone/>
            </a:pPr>
            <a:r>
              <a:rPr lang="en-US" sz="2200" dirty="0" smtClean="0"/>
              <a:t>The type and scope of the opportunities will vary depending. </a:t>
            </a:r>
          </a:p>
          <a:p>
            <a:pPr marL="36576" lvl="0" indent="0">
              <a:spcBef>
                <a:spcPts val="600"/>
              </a:spcBef>
              <a:spcAft>
                <a:spcPts val="1200"/>
              </a:spcAft>
              <a:buNone/>
            </a:pPr>
            <a:r>
              <a:rPr lang="en-AU" sz="2200" dirty="0"/>
              <a:t>The country, region and location, targeted </a:t>
            </a:r>
            <a:r>
              <a:rPr lang="en-AU" sz="2200" dirty="0" smtClean="0"/>
              <a:t>area:</a:t>
            </a:r>
            <a:endParaRPr lang="en-US" sz="2200" dirty="0"/>
          </a:p>
          <a:p>
            <a:pPr lvl="0">
              <a:spcBef>
                <a:spcPts val="600"/>
              </a:spcBef>
              <a:spcAft>
                <a:spcPts val="1200"/>
              </a:spcAft>
            </a:pPr>
            <a:r>
              <a:rPr lang="en-US" sz="2200" dirty="0"/>
              <a:t>The stage of tourism development</a:t>
            </a:r>
          </a:p>
          <a:p>
            <a:pPr lvl="0">
              <a:spcBef>
                <a:spcPts val="600"/>
              </a:spcBef>
              <a:spcAft>
                <a:spcPts val="1200"/>
              </a:spcAft>
            </a:pPr>
            <a:r>
              <a:rPr lang="en-US" sz="2200" dirty="0"/>
              <a:t>The region, location accessibility  </a:t>
            </a:r>
          </a:p>
          <a:p>
            <a:pPr lvl="0">
              <a:spcBef>
                <a:spcPts val="600"/>
              </a:spcBef>
              <a:spcAft>
                <a:spcPts val="1200"/>
              </a:spcAft>
            </a:pPr>
            <a:r>
              <a:rPr lang="en-AU" sz="2200" dirty="0"/>
              <a:t>The size of the local area </a:t>
            </a:r>
            <a:r>
              <a:rPr lang="en-AU" sz="2200" dirty="0" smtClean="0"/>
              <a:t>targeted</a:t>
            </a:r>
            <a:endParaRPr lang="en-US"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7450" y="4038600"/>
            <a:ext cx="2133600" cy="141671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1.2 Identify possible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57225" y="1905000"/>
            <a:ext cx="7467600" cy="4373563"/>
          </a:xfrm>
        </p:spPr>
        <p:txBody>
          <a:bodyPr>
            <a:normAutofit/>
          </a:bodyPr>
          <a:lstStyle/>
          <a:p>
            <a:pPr marL="0" indent="0">
              <a:spcBef>
                <a:spcPts val="600"/>
              </a:spcBef>
              <a:spcAft>
                <a:spcPts val="1200"/>
              </a:spcAft>
              <a:buNone/>
            </a:pPr>
            <a:r>
              <a:rPr lang="en-US" sz="2200" dirty="0" smtClean="0">
                <a:latin typeface="Helvetica" pitchFamily="34" charset="0"/>
              </a:rPr>
              <a:t>The opportunities might include: </a:t>
            </a:r>
          </a:p>
          <a:p>
            <a:pPr marL="361950" indent="-361950"/>
            <a:r>
              <a:rPr lang="en-AU" sz="2000" dirty="0" smtClean="0">
                <a:latin typeface="Helevetica"/>
              </a:rPr>
              <a:t>Expansion of tourism retailing operations and tour operations:</a:t>
            </a:r>
            <a:endParaRPr lang="en-US" sz="2000" dirty="0" smtClean="0">
              <a:latin typeface="Helevetica"/>
            </a:endParaRPr>
          </a:p>
          <a:p>
            <a:pPr marL="714375" lvl="0" indent="-352425">
              <a:buSzPct val="100000"/>
              <a:buFont typeface="Arial" panose="020B0604020202020204" pitchFamily="34" charset="0"/>
              <a:buChar char="•"/>
            </a:pPr>
            <a:r>
              <a:rPr lang="en-US" sz="2000" dirty="0"/>
              <a:t>Retail travel agent able to promote and sell from tours to accommodation and events and using a </a:t>
            </a:r>
          </a:p>
          <a:p>
            <a:pPr marL="714375" lvl="0" indent="-352425">
              <a:buSzPct val="100000"/>
              <a:buFont typeface="Arial" panose="020B0604020202020204" pitchFamily="34" charset="0"/>
              <a:buChar char="•"/>
            </a:pPr>
            <a:r>
              <a:rPr lang="en-US" sz="2000" dirty="0"/>
              <a:t>Tour wholesaler website, brochure to book the holiday in turn using an </a:t>
            </a:r>
          </a:p>
          <a:p>
            <a:pPr marL="714375" lvl="0" indent="-352425">
              <a:buSzPct val="100000"/>
              <a:buFont typeface="Arial" panose="020B0604020202020204" pitchFamily="34" charset="0"/>
              <a:buChar char="•"/>
            </a:pPr>
            <a:r>
              <a:rPr lang="en-US" sz="2000" dirty="0"/>
              <a:t>Inbound tour operator to book separate element of the tour itinerary from accommodation to tour who then contacts </a:t>
            </a:r>
          </a:p>
          <a:p>
            <a:pPr marL="714375" lvl="0" indent="-352425">
              <a:buSzPct val="100000"/>
              <a:buFont typeface="Arial" panose="020B0604020202020204" pitchFamily="34" charset="0"/>
              <a:buChar char="•"/>
            </a:pPr>
            <a:r>
              <a:rPr lang="en-US" sz="2000" dirty="0"/>
              <a:t>Local tour operator to book the services directly</a:t>
            </a:r>
          </a:p>
          <a:p>
            <a:pPr marL="36576" lvl="0" indent="0">
              <a:buNone/>
            </a:pP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spTree>
    <p:extLst>
      <p:ext uri="{BB962C8B-B14F-4D97-AF65-F5344CB8AC3E}">
        <p14:creationId xmlns:p14="http://schemas.microsoft.com/office/powerpoint/2010/main" val="483475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1.2 Identify possible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28800"/>
            <a:ext cx="7467600" cy="4572000"/>
          </a:xfrm>
        </p:spPr>
        <p:txBody>
          <a:bodyPr>
            <a:normAutofit/>
          </a:bodyPr>
          <a:lstStyle/>
          <a:p>
            <a:pPr marL="0" indent="0">
              <a:spcBef>
                <a:spcPts val="600"/>
              </a:spcBef>
              <a:spcAft>
                <a:spcPts val="1200"/>
              </a:spcAft>
              <a:buNone/>
            </a:pPr>
            <a:r>
              <a:rPr lang="en-US" sz="2200" dirty="0" smtClean="0">
                <a:latin typeface="Helvetica" pitchFamily="34" charset="0"/>
              </a:rPr>
              <a:t>The opportunities might include: </a:t>
            </a:r>
          </a:p>
          <a:p>
            <a:pPr>
              <a:spcBef>
                <a:spcPts val="600"/>
              </a:spcBef>
              <a:spcAft>
                <a:spcPts val="1200"/>
              </a:spcAft>
            </a:pPr>
            <a:r>
              <a:rPr lang="en-AU" sz="2000" dirty="0" smtClean="0">
                <a:latin typeface="Helevetica"/>
              </a:rPr>
              <a:t>Accommodation development: </a:t>
            </a:r>
          </a:p>
          <a:p>
            <a:pPr marL="714375" lvl="0" indent="-352425">
              <a:spcBef>
                <a:spcPts val="600"/>
              </a:spcBef>
              <a:spcAft>
                <a:spcPts val="1200"/>
              </a:spcAft>
              <a:buSzPct val="100000"/>
              <a:buFont typeface="Arial" panose="020B0604020202020204" pitchFamily="34" charset="0"/>
              <a:buChar char="•"/>
            </a:pPr>
            <a:r>
              <a:rPr lang="en-US" sz="2000" dirty="0"/>
              <a:t>Launching an advertising a national campaign to promote the numerous bed and breakfast of a seaside coastal resort</a:t>
            </a:r>
          </a:p>
          <a:p>
            <a:pPr marL="714375" lvl="0" indent="-352425">
              <a:spcBef>
                <a:spcPts val="600"/>
              </a:spcBef>
              <a:spcAft>
                <a:spcPts val="1200"/>
              </a:spcAft>
              <a:buSzPct val="100000"/>
              <a:buFont typeface="Arial" panose="020B0604020202020204" pitchFamily="34" charset="0"/>
              <a:buChar char="•"/>
            </a:pPr>
            <a:r>
              <a:rPr lang="en-US" sz="2000" dirty="0"/>
              <a:t>Planning the develop a large coastal resort</a:t>
            </a:r>
          </a:p>
          <a:p>
            <a:pPr marL="714375" lvl="0" indent="-352425">
              <a:spcBef>
                <a:spcPts val="600"/>
              </a:spcBef>
              <a:spcAft>
                <a:spcPts val="1200"/>
              </a:spcAft>
              <a:buSzPct val="100000"/>
              <a:buFont typeface="Arial" panose="020B0604020202020204" pitchFamily="34" charset="0"/>
              <a:buChar char="•"/>
            </a:pPr>
            <a:r>
              <a:rPr lang="en-US" sz="2000" dirty="0"/>
              <a:t>Developing ecotourism lodge next </a:t>
            </a:r>
            <a:r>
              <a:rPr lang="en-US" sz="2000" dirty="0" smtClean="0"/>
              <a:t/>
            </a:r>
            <a:br>
              <a:rPr lang="en-US" sz="2000" dirty="0" smtClean="0"/>
            </a:br>
            <a:r>
              <a:rPr lang="en-US" sz="2000" dirty="0" smtClean="0"/>
              <a:t>to </a:t>
            </a:r>
            <a:r>
              <a:rPr lang="en-US" sz="2000" dirty="0"/>
              <a:t>a national park  </a:t>
            </a:r>
          </a:p>
          <a:p>
            <a:pPr marL="714375" indent="-352425">
              <a:spcBef>
                <a:spcPts val="600"/>
              </a:spcBef>
              <a:spcAft>
                <a:spcPts val="1200"/>
              </a:spcAft>
              <a:buSzPct val="100000"/>
              <a:buFont typeface="Arial" panose="020B0604020202020204" pitchFamily="34" charset="0"/>
              <a:buChar char="•"/>
            </a:pPr>
            <a:r>
              <a:rPr lang="en-US" sz="2000" dirty="0" smtClean="0">
                <a:latin typeface="Helevetica"/>
              </a:rPr>
              <a:t>Inviting external tour operators</a:t>
            </a: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0825" y="4038600"/>
            <a:ext cx="1771135" cy="1638300"/>
          </a:xfrm>
          <a:prstGeom prst="rect">
            <a:avLst/>
          </a:prstGeom>
        </p:spPr>
      </p:pic>
    </p:spTree>
    <p:extLst>
      <p:ext uri="{BB962C8B-B14F-4D97-AF65-F5344CB8AC3E}">
        <p14:creationId xmlns:p14="http://schemas.microsoft.com/office/powerpoint/2010/main" val="2489343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1.2 Identify possible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0" indent="0">
              <a:spcBef>
                <a:spcPts val="600"/>
              </a:spcBef>
              <a:spcAft>
                <a:spcPts val="1200"/>
              </a:spcAft>
              <a:buNone/>
            </a:pPr>
            <a:r>
              <a:rPr lang="en-US" sz="2200" dirty="0" smtClean="0">
                <a:latin typeface="Helvetica" pitchFamily="34" charset="0"/>
              </a:rPr>
              <a:t>The opportunities might include: </a:t>
            </a:r>
          </a:p>
          <a:p>
            <a:pPr marL="342900" indent="-342900">
              <a:spcBef>
                <a:spcPts val="600"/>
              </a:spcBef>
              <a:spcAft>
                <a:spcPts val="1200"/>
              </a:spcAft>
            </a:pPr>
            <a:r>
              <a:rPr lang="en-US" sz="2200" dirty="0" smtClean="0">
                <a:latin typeface="Helvetica" pitchFamily="34" charset="0"/>
              </a:rPr>
              <a:t>Invite external tour operators with the opportunity to use their: </a:t>
            </a:r>
          </a:p>
          <a:p>
            <a:pPr marL="714375" indent="-352425">
              <a:spcBef>
                <a:spcPts val="600"/>
              </a:spcBef>
              <a:spcAft>
                <a:spcPts val="1200"/>
              </a:spcAft>
              <a:buSzPct val="100000"/>
              <a:buFont typeface="Arial" panose="020B0604020202020204" pitchFamily="34" charset="0"/>
              <a:buChar char="•"/>
            </a:pPr>
            <a:r>
              <a:rPr lang="en-US" sz="2000" dirty="0" smtClean="0">
                <a:latin typeface="Helevetica"/>
              </a:rPr>
              <a:t>Experience </a:t>
            </a:r>
          </a:p>
          <a:p>
            <a:pPr marL="714375" indent="-352425">
              <a:spcBef>
                <a:spcPts val="600"/>
              </a:spcBef>
              <a:spcAft>
                <a:spcPts val="1200"/>
              </a:spcAft>
              <a:buSzPct val="100000"/>
              <a:buFont typeface="Arial" panose="020B0604020202020204" pitchFamily="34" charset="0"/>
              <a:buChar char="•"/>
            </a:pPr>
            <a:r>
              <a:rPr lang="en-US" sz="2000" dirty="0" smtClean="0">
                <a:latin typeface="Helevetica"/>
              </a:rPr>
              <a:t>Market knowledge</a:t>
            </a:r>
          </a:p>
          <a:p>
            <a:pPr marL="714375" indent="-352425">
              <a:spcBef>
                <a:spcPts val="600"/>
              </a:spcBef>
              <a:spcAft>
                <a:spcPts val="1200"/>
              </a:spcAft>
              <a:buSzPct val="100000"/>
              <a:buFont typeface="Arial" panose="020B0604020202020204" pitchFamily="34" charset="0"/>
              <a:buChar char="•"/>
            </a:pPr>
            <a:r>
              <a:rPr lang="en-US" sz="2000" dirty="0" smtClean="0">
                <a:latin typeface="Helevetica"/>
              </a:rPr>
              <a:t>Emerging trends, wants and preferences </a:t>
            </a: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74" y="3200400"/>
            <a:ext cx="1800225" cy="1800225"/>
          </a:xfrm>
          <a:prstGeom prst="rect">
            <a:avLst/>
          </a:prstGeom>
        </p:spPr>
      </p:pic>
    </p:spTree>
    <p:extLst>
      <p:ext uri="{BB962C8B-B14F-4D97-AF65-F5344CB8AC3E}">
        <p14:creationId xmlns:p14="http://schemas.microsoft.com/office/powerpoint/2010/main" val="177732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5240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1.2 Identify possible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572000"/>
          </a:xfrm>
        </p:spPr>
        <p:txBody>
          <a:bodyPr>
            <a:normAutofit/>
          </a:bodyPr>
          <a:lstStyle/>
          <a:p>
            <a:pPr marL="0" indent="0">
              <a:spcBef>
                <a:spcPts val="600"/>
              </a:spcBef>
              <a:spcAft>
                <a:spcPts val="600"/>
              </a:spcAft>
              <a:buNone/>
            </a:pPr>
            <a:r>
              <a:rPr lang="en-US" sz="2200" dirty="0" smtClean="0">
                <a:latin typeface="Helvetica" pitchFamily="34" charset="0"/>
              </a:rPr>
              <a:t>The opportunities might include: </a:t>
            </a:r>
          </a:p>
          <a:p>
            <a:pPr>
              <a:spcBef>
                <a:spcPts val="600"/>
              </a:spcBef>
              <a:spcAft>
                <a:spcPts val="600"/>
              </a:spcAft>
            </a:pPr>
            <a:r>
              <a:rPr lang="en-AU" sz="2000" dirty="0" smtClean="0">
                <a:latin typeface="Helevetica"/>
              </a:rPr>
              <a:t>Direct community involvement:</a:t>
            </a:r>
          </a:p>
          <a:p>
            <a:pPr marL="714375" lvl="0" indent="-352425">
              <a:spcBef>
                <a:spcPts val="600"/>
              </a:spcBef>
              <a:spcAft>
                <a:spcPts val="600"/>
              </a:spcAft>
              <a:buSzPct val="100000"/>
              <a:buFont typeface="Arial" panose="020B0604020202020204" pitchFamily="34" charset="0"/>
              <a:buChar char="•"/>
            </a:pPr>
            <a:r>
              <a:rPr lang="en-US" sz="2000" dirty="0"/>
              <a:t>Providing local staff for external tourism operations ranging from direct operations such </a:t>
            </a:r>
            <a:r>
              <a:rPr lang="en-US" sz="2000" dirty="0" smtClean="0"/>
              <a:t>as:</a:t>
            </a:r>
            <a:endParaRPr lang="en-US" sz="2000" dirty="0"/>
          </a:p>
          <a:p>
            <a:pPr marL="1076325" lvl="0" indent="-361950">
              <a:spcBef>
                <a:spcPts val="600"/>
              </a:spcBef>
              <a:spcAft>
                <a:spcPts val="600"/>
              </a:spcAft>
              <a:buSzPct val="100000"/>
              <a:buFont typeface="Wingdings" panose="05000000000000000000" pitchFamily="2" charset="2"/>
              <a:buChar char="§"/>
            </a:pPr>
            <a:r>
              <a:rPr lang="en-US" sz="2000" dirty="0"/>
              <a:t>On going employment of staff working in a destination park, museum, resort</a:t>
            </a:r>
          </a:p>
          <a:p>
            <a:pPr marL="1076325" lvl="0" indent="-361950">
              <a:spcBef>
                <a:spcPts val="600"/>
              </a:spcBef>
              <a:spcAft>
                <a:spcPts val="600"/>
              </a:spcAft>
              <a:buSzPct val="100000"/>
              <a:buFont typeface="Wingdings" panose="05000000000000000000" pitchFamily="2" charset="2"/>
              <a:buChar char="§"/>
            </a:pPr>
            <a:r>
              <a:rPr lang="en-US" sz="2000" dirty="0"/>
              <a:t>Part time, casual employment of staff working on events, festivals</a:t>
            </a:r>
          </a:p>
          <a:p>
            <a:pPr marL="1076325" lvl="0" indent="-361950">
              <a:spcBef>
                <a:spcPts val="600"/>
              </a:spcBef>
              <a:spcAft>
                <a:spcPts val="600"/>
              </a:spcAft>
              <a:buSzPct val="100000"/>
              <a:buFont typeface="Wingdings" panose="05000000000000000000" pitchFamily="2" charset="2"/>
              <a:buChar char="§"/>
            </a:pPr>
            <a:r>
              <a:rPr lang="en-US" sz="2000" dirty="0"/>
              <a:t>Flow on impact staff employed to build roads, hotels, transportation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spTree>
    <p:extLst>
      <p:ext uri="{BB962C8B-B14F-4D97-AF65-F5344CB8AC3E}">
        <p14:creationId xmlns:p14="http://schemas.microsoft.com/office/powerpoint/2010/main" val="2430657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4074" y="2057400"/>
            <a:ext cx="2371207" cy="2162175"/>
          </a:xfrm>
          <a:prstGeom prst="rect">
            <a:avLst/>
          </a:prstGeom>
        </p:spPr>
      </p:pic>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1.2 Identify possible tourism opportunities for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177755"/>
          </a:xfrm>
        </p:spPr>
        <p:txBody>
          <a:bodyPr>
            <a:normAutofit/>
          </a:bodyPr>
          <a:lstStyle/>
          <a:p>
            <a:pPr marL="0" indent="0">
              <a:spcBef>
                <a:spcPts val="600"/>
              </a:spcBef>
              <a:spcAft>
                <a:spcPts val="1200"/>
              </a:spcAft>
              <a:buNone/>
            </a:pPr>
            <a:r>
              <a:rPr lang="en-US" sz="2200" dirty="0" smtClean="0">
                <a:latin typeface="Helvetica" pitchFamily="34" charset="0"/>
              </a:rPr>
              <a:t>The opportunities might include: </a:t>
            </a:r>
          </a:p>
          <a:p>
            <a:pPr marL="361950" indent="-325438">
              <a:spcBef>
                <a:spcPts val="600"/>
              </a:spcBef>
              <a:spcAft>
                <a:spcPts val="1200"/>
              </a:spcAft>
            </a:pPr>
            <a:r>
              <a:rPr lang="en-AU" sz="2000" dirty="0" smtClean="0">
                <a:latin typeface="Helevetica"/>
              </a:rPr>
              <a:t>Direct community involvement </a:t>
            </a:r>
          </a:p>
          <a:p>
            <a:pPr marL="361950" indent="-325438">
              <a:spcBef>
                <a:spcPts val="600"/>
              </a:spcBef>
              <a:spcAft>
                <a:spcPts val="1200"/>
              </a:spcAft>
            </a:pPr>
            <a:r>
              <a:rPr lang="en-US" sz="2000" dirty="0"/>
              <a:t>Being actively involved in the training </a:t>
            </a:r>
            <a:r>
              <a:rPr lang="en-US" sz="2000" dirty="0" smtClean="0"/>
              <a:t/>
            </a:r>
            <a:br>
              <a:rPr lang="en-US" sz="2000" dirty="0" smtClean="0"/>
            </a:br>
            <a:r>
              <a:rPr lang="en-US" sz="2000" dirty="0" smtClean="0"/>
              <a:t>phase </a:t>
            </a:r>
            <a:r>
              <a:rPr lang="en-US" sz="2000" dirty="0"/>
              <a:t>training for the tourism industry </a:t>
            </a:r>
            <a:r>
              <a:rPr lang="en-US" sz="2000" dirty="0" smtClean="0"/>
              <a:t/>
            </a:r>
            <a:br>
              <a:rPr lang="en-US" sz="2000" dirty="0" smtClean="0"/>
            </a:br>
            <a:r>
              <a:rPr lang="en-US" sz="2000" dirty="0" smtClean="0"/>
              <a:t>related </a:t>
            </a:r>
            <a:r>
              <a:rPr lang="en-US" sz="2000" dirty="0"/>
              <a:t>to the final plans </a:t>
            </a:r>
            <a:r>
              <a:rPr lang="en-US" sz="2000" dirty="0" smtClean="0"/>
              <a:t>by:</a:t>
            </a:r>
            <a:endParaRPr lang="en-US" sz="2000" dirty="0"/>
          </a:p>
          <a:p>
            <a:pPr marL="714375" lvl="0" indent="-352425">
              <a:spcBef>
                <a:spcPts val="600"/>
              </a:spcBef>
              <a:spcAft>
                <a:spcPts val="1200"/>
              </a:spcAft>
              <a:buSzPct val="100000"/>
              <a:buFont typeface="Arial" panose="020B0604020202020204" pitchFamily="34" charset="0"/>
              <a:buChar char="•"/>
            </a:pPr>
            <a:r>
              <a:rPr lang="en-US" sz="2000" dirty="0"/>
              <a:t>Providing </a:t>
            </a:r>
            <a:r>
              <a:rPr lang="en-US" sz="2000" dirty="0" smtClean="0"/>
              <a:t>and or supporting the training delivery required for the pre opening and opening of a 5 star resort</a:t>
            </a:r>
            <a:endParaRPr lang="en-AU" sz="2000" dirty="0" smtClean="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spTree>
    <p:extLst>
      <p:ext uri="{BB962C8B-B14F-4D97-AF65-F5344CB8AC3E}">
        <p14:creationId xmlns:p14="http://schemas.microsoft.com/office/powerpoint/2010/main" val="1433597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177755"/>
          </a:xfrm>
        </p:spPr>
        <p:txBody>
          <a:bodyPr>
            <a:normAutofit/>
          </a:bodyPr>
          <a:lstStyle/>
          <a:p>
            <a:pPr marL="0" indent="0">
              <a:spcBef>
                <a:spcPts val="600"/>
              </a:spcBef>
              <a:spcAft>
                <a:spcPts val="1200"/>
              </a:spcAft>
              <a:buNone/>
            </a:pPr>
            <a:r>
              <a:rPr lang="en-US" sz="2200" dirty="0" smtClean="0">
                <a:latin typeface="Helvetica" pitchFamily="34" charset="0"/>
              </a:rPr>
              <a:t>The host organisation needs to identify:</a:t>
            </a:r>
          </a:p>
          <a:p>
            <a:pPr marL="361950" indent="-361950">
              <a:spcBef>
                <a:spcPts val="600"/>
              </a:spcBef>
              <a:spcAft>
                <a:spcPts val="1200"/>
              </a:spcAft>
            </a:pPr>
            <a:r>
              <a:rPr lang="en-AU" sz="2000" dirty="0">
                <a:latin typeface="Helevetica"/>
              </a:rPr>
              <a:t>Present community business focus that may range </a:t>
            </a:r>
            <a:r>
              <a:rPr lang="en-AU" sz="2000" dirty="0" smtClean="0">
                <a:latin typeface="Helevetica"/>
              </a:rPr>
              <a:t>from:</a:t>
            </a:r>
            <a:endParaRPr lang="en-US" sz="2000" dirty="0">
              <a:latin typeface="Helevetica"/>
            </a:endParaRPr>
          </a:p>
          <a:p>
            <a:pPr marL="714375" lvl="0" indent="-352425">
              <a:spcBef>
                <a:spcPts val="600"/>
              </a:spcBef>
              <a:spcAft>
                <a:spcPts val="1200"/>
              </a:spcAft>
              <a:buSzPct val="100000"/>
              <a:buFont typeface="Arial" panose="020B0604020202020204" pitchFamily="34" charset="0"/>
              <a:buChar char="•"/>
            </a:pPr>
            <a:r>
              <a:rPr lang="en-US" sz="2000" dirty="0">
                <a:latin typeface="Helevetica"/>
              </a:rPr>
              <a:t>Minimum  tourism infrastructure such as camping grounds</a:t>
            </a:r>
          </a:p>
          <a:p>
            <a:pPr marL="714375" lvl="0" indent="-352425">
              <a:spcBef>
                <a:spcPts val="600"/>
              </a:spcBef>
              <a:spcAft>
                <a:spcPts val="1200"/>
              </a:spcAft>
              <a:buSzPct val="100000"/>
              <a:buFont typeface="Arial" panose="020B0604020202020204" pitchFamily="34" charset="0"/>
              <a:buChar char="•"/>
            </a:pPr>
            <a:r>
              <a:rPr lang="en-US" sz="2000" dirty="0" smtClean="0">
                <a:latin typeface="Helevetica"/>
              </a:rPr>
              <a:t>Single tourism </a:t>
            </a:r>
            <a:r>
              <a:rPr lang="en-US" sz="2000" dirty="0">
                <a:latin typeface="Helevetica"/>
              </a:rPr>
              <a:t>focus activities being an annual festival or a weekly arts and craft Sunday morning market</a:t>
            </a:r>
          </a:p>
          <a:p>
            <a:pPr marL="714375" lvl="0" indent="-352425">
              <a:spcBef>
                <a:spcPts val="600"/>
              </a:spcBef>
              <a:spcAft>
                <a:spcPts val="1200"/>
              </a:spcAft>
              <a:buSzPct val="100000"/>
              <a:buFont typeface="Arial" panose="020B0604020202020204" pitchFamily="34" charset="0"/>
              <a:buChar char="•"/>
            </a:pPr>
            <a:r>
              <a:rPr lang="en-US" sz="2000" dirty="0"/>
              <a:t>Potential tourism opportunities identified as a result of the first round of consultation </a:t>
            </a:r>
          </a:p>
          <a:p>
            <a:pPr marL="457200" indent="-457200">
              <a:spcBef>
                <a:spcPts val="600"/>
              </a:spcBef>
              <a:spcAft>
                <a:spcPts val="1200"/>
              </a:spcAft>
            </a:pP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572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36576" lvl="0" indent="0">
              <a:spcBef>
                <a:spcPts val="600"/>
              </a:spcBef>
              <a:spcAft>
                <a:spcPts val="1200"/>
              </a:spcAft>
              <a:buNone/>
            </a:pPr>
            <a:r>
              <a:rPr lang="en-AU" sz="2000" dirty="0" smtClean="0"/>
              <a:t>The process </a:t>
            </a:r>
            <a:r>
              <a:rPr lang="en-AU" sz="2000" dirty="0"/>
              <a:t>needs </a:t>
            </a:r>
            <a:r>
              <a:rPr lang="en-AU" sz="2000" dirty="0" smtClean="0"/>
              <a:t>to cover:</a:t>
            </a:r>
          </a:p>
          <a:p>
            <a:pPr lvl="0">
              <a:spcBef>
                <a:spcPts val="600"/>
              </a:spcBef>
              <a:spcAft>
                <a:spcPts val="1200"/>
              </a:spcAft>
            </a:pPr>
            <a:r>
              <a:rPr lang="en-US" sz="2000" dirty="0" smtClean="0"/>
              <a:t>Research </a:t>
            </a:r>
            <a:r>
              <a:rPr lang="en-US" sz="2000" dirty="0"/>
              <a:t>and </a:t>
            </a:r>
            <a:r>
              <a:rPr lang="en-US" sz="2000" dirty="0" smtClean="0"/>
              <a:t>identification of products </a:t>
            </a:r>
            <a:r>
              <a:rPr lang="en-US" sz="2000" dirty="0"/>
              <a:t>and services </a:t>
            </a:r>
            <a:r>
              <a:rPr lang="en-US" sz="2000" dirty="0" smtClean="0"/>
              <a:t>gaps</a:t>
            </a:r>
          </a:p>
          <a:p>
            <a:pPr lvl="0">
              <a:spcBef>
                <a:spcPts val="600"/>
              </a:spcBef>
              <a:spcAft>
                <a:spcPts val="1200"/>
              </a:spcAft>
            </a:pPr>
            <a:r>
              <a:rPr lang="en-US" sz="2000" dirty="0" smtClean="0"/>
              <a:t>Research </a:t>
            </a:r>
            <a:r>
              <a:rPr lang="en-US" sz="2000" dirty="0"/>
              <a:t>existing local market size and market </a:t>
            </a:r>
            <a:r>
              <a:rPr lang="en-US" sz="2000" dirty="0" smtClean="0"/>
              <a:t>share</a:t>
            </a:r>
          </a:p>
          <a:p>
            <a:pPr lvl="0">
              <a:spcBef>
                <a:spcPts val="600"/>
              </a:spcBef>
              <a:spcAft>
                <a:spcPts val="1200"/>
              </a:spcAft>
            </a:pPr>
            <a:r>
              <a:rPr lang="en-US" sz="2000" dirty="0" smtClean="0"/>
              <a:t>Research </a:t>
            </a:r>
            <a:r>
              <a:rPr lang="en-US" sz="2000" dirty="0"/>
              <a:t>competitors </a:t>
            </a:r>
            <a:r>
              <a:rPr lang="en-US" sz="2000" dirty="0" smtClean="0"/>
              <a:t>performance</a:t>
            </a:r>
          </a:p>
          <a:p>
            <a:pPr lvl="0">
              <a:spcBef>
                <a:spcPts val="600"/>
              </a:spcBef>
              <a:spcAft>
                <a:spcPts val="1200"/>
              </a:spcAft>
            </a:pPr>
            <a:r>
              <a:rPr lang="en-US" sz="2000" dirty="0" smtClean="0"/>
              <a:t>Research </a:t>
            </a:r>
            <a:r>
              <a:rPr lang="en-US" sz="2000" dirty="0"/>
              <a:t>what the actual customers’ needs </a:t>
            </a:r>
            <a:r>
              <a:rPr lang="en-US" sz="2000" dirty="0" smtClean="0"/>
              <a:t>are</a:t>
            </a: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3505200"/>
            <a:ext cx="1592088" cy="1587500"/>
          </a:xfrm>
          <a:prstGeom prst="rect">
            <a:avLst/>
          </a:prstGeom>
        </p:spPr>
      </p:pic>
    </p:spTree>
    <p:extLst>
      <p:ext uri="{BB962C8B-B14F-4D97-AF65-F5344CB8AC3E}">
        <p14:creationId xmlns:p14="http://schemas.microsoft.com/office/powerpoint/2010/main" val="2699714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36576" lvl="0" indent="0">
              <a:spcBef>
                <a:spcPts val="600"/>
              </a:spcBef>
              <a:spcAft>
                <a:spcPts val="1200"/>
              </a:spcAft>
              <a:buNone/>
            </a:pPr>
            <a:r>
              <a:rPr lang="en-AU" sz="2000" dirty="0" smtClean="0"/>
              <a:t>The </a:t>
            </a:r>
            <a:r>
              <a:rPr lang="en-AU" sz="2000" dirty="0"/>
              <a:t>research process needs to </a:t>
            </a:r>
            <a:r>
              <a:rPr lang="en-AU" sz="2000" dirty="0" smtClean="0"/>
              <a:t>cover:  </a:t>
            </a:r>
            <a:endParaRPr lang="en-US" sz="2000" dirty="0"/>
          </a:p>
          <a:p>
            <a:pPr lvl="0">
              <a:spcBef>
                <a:spcPts val="600"/>
              </a:spcBef>
              <a:spcAft>
                <a:spcPts val="1200"/>
              </a:spcAft>
            </a:pPr>
            <a:r>
              <a:rPr lang="en-US" sz="2000" dirty="0" smtClean="0"/>
              <a:t>Research </a:t>
            </a:r>
            <a:r>
              <a:rPr lang="en-US" sz="2000" dirty="0"/>
              <a:t>products and service to meet those </a:t>
            </a:r>
            <a:r>
              <a:rPr lang="en-US" sz="2000" dirty="0" smtClean="0"/>
              <a:t>needs</a:t>
            </a:r>
          </a:p>
          <a:p>
            <a:pPr lvl="0">
              <a:spcBef>
                <a:spcPts val="600"/>
              </a:spcBef>
              <a:spcAft>
                <a:spcPts val="1200"/>
              </a:spcAft>
            </a:pPr>
            <a:r>
              <a:rPr lang="en-US" sz="2000" dirty="0" smtClean="0"/>
              <a:t>Research </a:t>
            </a:r>
            <a:r>
              <a:rPr lang="en-US" sz="2000" dirty="0"/>
              <a:t>and evaluate potential for future sustainable </a:t>
            </a:r>
            <a:endParaRPr lang="en-US" sz="2000" dirty="0" smtClean="0"/>
          </a:p>
          <a:p>
            <a:pPr lvl="0">
              <a:spcBef>
                <a:spcPts val="600"/>
              </a:spcBef>
              <a:spcAft>
                <a:spcPts val="1200"/>
              </a:spcAft>
              <a:buNone/>
            </a:pPr>
            <a:r>
              <a:rPr lang="en-US" sz="2000" dirty="0" smtClean="0"/>
              <a:t>	developments</a:t>
            </a:r>
          </a:p>
          <a:p>
            <a:pPr lvl="0">
              <a:spcBef>
                <a:spcPts val="600"/>
              </a:spcBef>
              <a:spcAft>
                <a:spcPts val="1200"/>
              </a:spcAft>
            </a:pPr>
            <a:r>
              <a:rPr lang="en-US" sz="2000" dirty="0" smtClean="0"/>
              <a:t>Research </a:t>
            </a:r>
            <a:r>
              <a:rPr lang="en-US" sz="2000" dirty="0"/>
              <a:t>new and innovative approaches </a:t>
            </a:r>
          </a:p>
          <a:p>
            <a:pPr marL="0" indent="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581400"/>
            <a:ext cx="2184400" cy="1638300"/>
          </a:xfrm>
          <a:prstGeom prst="ellipse">
            <a:avLst/>
          </a:prstGeom>
        </p:spPr>
      </p:pic>
    </p:spTree>
    <p:extLst>
      <p:ext uri="{BB962C8B-B14F-4D97-AF65-F5344CB8AC3E}">
        <p14:creationId xmlns:p14="http://schemas.microsoft.com/office/powerpoint/2010/main" val="3944044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7704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541840" cy="4343400"/>
          </a:xfrm>
        </p:spPr>
        <p:txBody>
          <a:bodyPr>
            <a:normAutofit/>
          </a:bodyPr>
          <a:lstStyle/>
          <a:p>
            <a:pPr marL="36576" lvl="0" indent="0">
              <a:spcBef>
                <a:spcPts val="600"/>
              </a:spcBef>
              <a:spcAft>
                <a:spcPts val="1200"/>
              </a:spcAft>
              <a:buNone/>
            </a:pPr>
            <a:r>
              <a:rPr lang="en-AU" sz="2200" dirty="0" smtClean="0"/>
              <a:t>Integration </a:t>
            </a:r>
            <a:r>
              <a:rPr lang="en-AU" sz="2200" dirty="0"/>
              <a:t>of the tourism possibilities within the existing framework, organisational business directions and operational </a:t>
            </a:r>
            <a:r>
              <a:rPr lang="en-AU" sz="2200" dirty="0" smtClean="0"/>
              <a:t>plans.</a:t>
            </a:r>
            <a:endParaRPr lang="en-US" sz="2200" dirty="0"/>
          </a:p>
          <a:p>
            <a:pPr lvl="0">
              <a:spcBef>
                <a:spcPts val="600"/>
              </a:spcBef>
              <a:spcAft>
                <a:spcPts val="1200"/>
              </a:spcAft>
              <a:buNone/>
            </a:pPr>
            <a:r>
              <a:rPr lang="en-US" sz="2200" dirty="0"/>
              <a:t>For the host </a:t>
            </a:r>
            <a:r>
              <a:rPr lang="en-US" sz="2200" dirty="0" smtClean="0"/>
              <a:t>community, </a:t>
            </a:r>
            <a:r>
              <a:rPr lang="en-US" sz="2200" dirty="0"/>
              <a:t>in relation </a:t>
            </a:r>
            <a:r>
              <a:rPr lang="en-US" sz="2200" dirty="0" smtClean="0"/>
              <a:t>to: </a:t>
            </a:r>
            <a:endParaRPr lang="en-US" sz="2200" dirty="0"/>
          </a:p>
          <a:p>
            <a:pPr lvl="0">
              <a:spcBef>
                <a:spcPts val="600"/>
              </a:spcBef>
              <a:spcAft>
                <a:spcPts val="1200"/>
              </a:spcAft>
            </a:pPr>
            <a:r>
              <a:rPr lang="en-US" sz="2200" dirty="0"/>
              <a:t>National, regional, local existing tourism </a:t>
            </a:r>
            <a:r>
              <a:rPr lang="en-US" sz="2200" dirty="0" smtClean="0"/>
              <a:t>plan, </a:t>
            </a:r>
            <a:r>
              <a:rPr lang="en-US" sz="2200" dirty="0"/>
              <a:t>if applicable </a:t>
            </a:r>
          </a:p>
          <a:p>
            <a:pPr lvl="0">
              <a:spcBef>
                <a:spcPts val="600"/>
              </a:spcBef>
              <a:spcAft>
                <a:spcPts val="1200"/>
              </a:spcAft>
            </a:pPr>
            <a:r>
              <a:rPr lang="en-US" sz="2200" dirty="0"/>
              <a:t>Local government, council operational </a:t>
            </a:r>
            <a:r>
              <a:rPr lang="en-US" sz="2200" dirty="0" smtClean="0"/>
              <a:t/>
            </a:r>
            <a:br>
              <a:rPr lang="en-US" sz="2200" dirty="0" smtClean="0"/>
            </a:br>
            <a:r>
              <a:rPr lang="en-US" sz="2200" dirty="0" smtClean="0"/>
              <a:t>plan</a:t>
            </a:r>
            <a:r>
              <a:rPr lang="en-US" sz="2200" dirty="0"/>
              <a:t>, if applicable </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7450" y="4419600"/>
            <a:ext cx="2133600" cy="1429512"/>
          </a:xfrm>
          <a:prstGeom prst="rect">
            <a:avLst/>
          </a:prstGeom>
        </p:spPr>
      </p:pic>
    </p:spTree>
    <p:extLst>
      <p:ext uri="{BB962C8B-B14F-4D97-AF65-F5344CB8AC3E}">
        <p14:creationId xmlns:p14="http://schemas.microsoft.com/office/powerpoint/2010/main" val="1035996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177755"/>
          </a:xfrm>
        </p:spPr>
        <p:txBody>
          <a:bodyPr>
            <a:normAutofit/>
          </a:bodyPr>
          <a:lstStyle/>
          <a:p>
            <a:pPr marL="36576" lvl="0" indent="0">
              <a:spcBef>
                <a:spcPts val="600"/>
              </a:spcBef>
              <a:spcAft>
                <a:spcPts val="1200"/>
              </a:spcAft>
              <a:buNone/>
            </a:pPr>
            <a:r>
              <a:rPr lang="en-AU" sz="2200" dirty="0" smtClean="0"/>
              <a:t>Integration of the tourism possibilities within the existing framework, organisational business directions and operational plans.</a:t>
            </a:r>
          </a:p>
          <a:p>
            <a:pPr lvl="0">
              <a:spcBef>
                <a:spcPts val="600"/>
              </a:spcBef>
              <a:spcAft>
                <a:spcPts val="1200"/>
              </a:spcAft>
              <a:buNone/>
            </a:pPr>
            <a:r>
              <a:rPr lang="en-AU" sz="2200" dirty="0" smtClean="0"/>
              <a:t>For the host organisation, in relation to: </a:t>
            </a:r>
          </a:p>
          <a:p>
            <a:pPr lvl="0">
              <a:spcBef>
                <a:spcPts val="600"/>
              </a:spcBef>
              <a:spcAft>
                <a:spcPts val="1200"/>
              </a:spcAft>
            </a:pPr>
            <a:r>
              <a:rPr lang="en-AU" sz="2200" dirty="0" smtClean="0"/>
              <a:t>Own operation and business plans</a:t>
            </a:r>
          </a:p>
          <a:p>
            <a:pPr lvl="0">
              <a:spcBef>
                <a:spcPts val="600"/>
              </a:spcBef>
              <a:spcAft>
                <a:spcPts val="1200"/>
              </a:spcAft>
            </a:pPr>
            <a:r>
              <a:rPr lang="en-AU" sz="2200" dirty="0" smtClean="0"/>
              <a:t>Own  other projects and research being </a:t>
            </a:r>
            <a:br>
              <a:rPr lang="en-AU" sz="2200" dirty="0" smtClean="0"/>
            </a:br>
            <a:r>
              <a:rPr lang="en-AU" sz="2200" dirty="0" smtClean="0"/>
              <a:t>conducted at  the same time </a:t>
            </a:r>
          </a:p>
          <a:p>
            <a:pPr marL="360000" indent="-36000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200" y="4191000"/>
            <a:ext cx="2248300" cy="1499616"/>
          </a:xfrm>
          <a:prstGeom prst="rect">
            <a:avLst/>
          </a:prstGeom>
        </p:spPr>
      </p:pic>
    </p:spTree>
    <p:extLst>
      <p:ext uri="{BB962C8B-B14F-4D97-AF65-F5344CB8AC3E}">
        <p14:creationId xmlns:p14="http://schemas.microsoft.com/office/powerpoint/2010/main" val="1543515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025355"/>
          </a:xfrm>
        </p:spPr>
        <p:txBody>
          <a:bodyPr>
            <a:normAutofit/>
          </a:bodyPr>
          <a:lstStyle/>
          <a:p>
            <a:pPr marL="0" indent="0">
              <a:lnSpc>
                <a:spcPct val="150000"/>
              </a:lnSpc>
              <a:spcBef>
                <a:spcPts val="600"/>
              </a:spcBef>
              <a:spcAft>
                <a:spcPts val="1200"/>
              </a:spcAft>
              <a:buNone/>
            </a:pPr>
            <a:r>
              <a:rPr lang="en-US" sz="2200" dirty="0" smtClean="0"/>
              <a:t>Project </a:t>
            </a:r>
            <a:r>
              <a:rPr lang="en-US" sz="2200" dirty="0"/>
              <a:t>management considerations: the research aims and methods needs to be clearly determined in order to lead to a positive outcome for all concerned parties. </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90800" y="3657600"/>
            <a:ext cx="3048000" cy="2200656"/>
          </a:xfrm>
          <a:prstGeom prst="rect">
            <a:avLst/>
          </a:prstGeom>
        </p:spPr>
      </p:pic>
    </p:spTree>
    <p:extLst>
      <p:ext uri="{BB962C8B-B14F-4D97-AF65-F5344CB8AC3E}">
        <p14:creationId xmlns:p14="http://schemas.microsoft.com/office/powerpoint/2010/main" val="3875686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572000"/>
          </a:xfrm>
        </p:spPr>
        <p:txBody>
          <a:bodyPr>
            <a:no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Determining </a:t>
            </a:r>
            <a:r>
              <a:rPr lang="en-AU" sz="2000" dirty="0">
                <a:latin typeface="Helvetica" panose="020B0604020202020204" pitchFamily="34" charset="0"/>
                <a:cs typeface="Helvetica" panose="020B0604020202020204" pitchFamily="34" charset="0"/>
              </a:rPr>
              <a:t>which sources of research will be used such as:  </a:t>
            </a:r>
            <a:endParaRPr lang="en-US" sz="2000" dirty="0">
              <a:latin typeface="Helvetica" panose="020B0604020202020204" pitchFamily="34" charset="0"/>
              <a:cs typeface="Helvetica" panose="020B0604020202020204" pitchFamily="34" charset="0"/>
            </a:endParaRPr>
          </a:p>
          <a:p>
            <a:pPr marL="361950" indent="-361950">
              <a:spcBef>
                <a:spcPts val="600"/>
              </a:spcBef>
              <a:spcAft>
                <a:spcPts val="1200"/>
              </a:spcAft>
            </a:pPr>
            <a:r>
              <a:rPr lang="en-US" sz="2000" dirty="0">
                <a:latin typeface="Helvetica" panose="020B0604020202020204" pitchFamily="34" charset="0"/>
                <a:cs typeface="Helvetica" panose="020B0604020202020204" pitchFamily="34" charset="0"/>
              </a:rPr>
              <a:t>Seeking views and opinions from stakeholders </a:t>
            </a:r>
            <a:endParaRPr lang="en-US" sz="2000" dirty="0" smtClean="0">
              <a:latin typeface="Helvetica" panose="020B0604020202020204" pitchFamily="34" charset="0"/>
              <a:cs typeface="Helvetica" panose="020B0604020202020204" pitchFamily="34" charset="0"/>
            </a:endParaRPr>
          </a:p>
          <a:p>
            <a:pPr marL="361950" indent="-361950">
              <a:spcBef>
                <a:spcPts val="600"/>
              </a:spcBef>
              <a:spcAft>
                <a:spcPts val="1200"/>
              </a:spcAft>
            </a:pPr>
            <a:r>
              <a:rPr lang="en-US" sz="2000" dirty="0" smtClean="0">
                <a:latin typeface="Helvetica" panose="020B0604020202020204" pitchFamily="34" charset="0"/>
                <a:cs typeface="Helvetica" panose="020B0604020202020204" pitchFamily="34" charset="0"/>
              </a:rPr>
              <a:t>Which may require:</a:t>
            </a:r>
          </a:p>
          <a:p>
            <a:pPr marL="714375" lvl="0" indent="-352425">
              <a:spcBef>
                <a:spcPts val="600"/>
              </a:spcBef>
              <a:spcAft>
                <a:spcPts val="12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Holding </a:t>
            </a:r>
            <a:r>
              <a:rPr lang="en-US" sz="2000" dirty="0">
                <a:latin typeface="Helvetica" panose="020B0604020202020204" pitchFamily="34" charset="0"/>
                <a:cs typeface="Helvetica" panose="020B0604020202020204" pitchFamily="34" charset="0"/>
              </a:rPr>
              <a:t>consultation sessions/meetings</a:t>
            </a:r>
          </a:p>
          <a:p>
            <a:pPr marL="714375" lvl="0" indent="-352425">
              <a:spcBef>
                <a:spcPts val="600"/>
              </a:spcBef>
              <a:spcAft>
                <a:spcPts val="1200"/>
              </a:spcAft>
              <a:buSzPct val="100000"/>
              <a:buFont typeface="Arial" panose="020B0604020202020204" pitchFamily="34" charset="0"/>
              <a:buChar char="•"/>
            </a:pPr>
            <a:r>
              <a:rPr lang="en-US" sz="2000" dirty="0">
                <a:latin typeface="Helvetica" panose="020B0604020202020204" pitchFamily="34" charset="0"/>
                <a:cs typeface="Helvetica" panose="020B0604020202020204" pitchFamily="34" charset="0"/>
              </a:rPr>
              <a:t>Actively soliciting feedback</a:t>
            </a:r>
          </a:p>
          <a:p>
            <a:pPr marL="714375" lvl="0" indent="-352425">
              <a:spcBef>
                <a:spcPts val="600"/>
              </a:spcBef>
              <a:spcAft>
                <a:spcPts val="1200"/>
              </a:spcAft>
              <a:buSzPct val="100000"/>
              <a:buFont typeface="Arial" panose="020B0604020202020204" pitchFamily="34" charset="0"/>
              <a:buChar char="•"/>
            </a:pPr>
            <a:r>
              <a:rPr lang="en-US" sz="2000" dirty="0">
                <a:latin typeface="Helvetica" panose="020B0604020202020204" pitchFamily="34" charset="0"/>
                <a:cs typeface="Helvetica" panose="020B0604020202020204" pitchFamily="34" charset="0"/>
              </a:rPr>
              <a:t>Conducting competitions to elicit </a:t>
            </a:r>
            <a:r>
              <a:rPr lang="en-US" sz="2000" dirty="0" smtClean="0">
                <a:latin typeface="Helvetica" panose="020B0604020202020204" pitchFamily="34" charset="0"/>
                <a:cs typeface="Helvetica" panose="020B0604020202020204" pitchFamily="34" charset="0"/>
              </a:rPr>
              <a:t>ideas</a:t>
            </a: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3276219"/>
            <a:ext cx="2286000" cy="1524762"/>
          </a:xfrm>
          <a:prstGeom prst="rect">
            <a:avLst/>
          </a:prstGeom>
        </p:spPr>
      </p:pic>
    </p:spTree>
    <p:extLst>
      <p:ext uri="{BB962C8B-B14F-4D97-AF65-F5344CB8AC3E}">
        <p14:creationId xmlns:p14="http://schemas.microsoft.com/office/powerpoint/2010/main" val="2230017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Autofit/>
          </a:bodyPr>
          <a:lstStyle/>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Determining </a:t>
            </a:r>
            <a:r>
              <a:rPr lang="en-AU" sz="2000" dirty="0">
                <a:latin typeface="Helvetica" panose="020B0604020202020204" pitchFamily="34" charset="0"/>
                <a:cs typeface="Helvetica" panose="020B0604020202020204" pitchFamily="34" charset="0"/>
              </a:rPr>
              <a:t>which sources of research will be used such as:  </a:t>
            </a:r>
            <a:endParaRPr lang="en-US" sz="2000" dirty="0">
              <a:latin typeface="Helvetica" panose="020B0604020202020204" pitchFamily="34" charset="0"/>
              <a:cs typeface="Helvetica" panose="020B0604020202020204" pitchFamily="34" charset="0"/>
            </a:endParaRPr>
          </a:p>
          <a:p>
            <a:pPr marL="36576" indent="0">
              <a:spcBef>
                <a:spcPts val="600"/>
              </a:spcBef>
              <a:spcAft>
                <a:spcPts val="1200"/>
              </a:spcAft>
              <a:buNone/>
            </a:pPr>
            <a:r>
              <a:rPr lang="en-US" sz="2000" dirty="0" smtClean="0">
                <a:latin typeface="Helvetica" panose="020B0604020202020204" pitchFamily="34" charset="0"/>
                <a:cs typeface="Helvetica" panose="020B0604020202020204" pitchFamily="34" charset="0"/>
              </a:rPr>
              <a:t>Generating public discussion – involving:</a:t>
            </a:r>
          </a:p>
          <a:p>
            <a:pPr lvl="0">
              <a:spcBef>
                <a:spcPts val="600"/>
              </a:spcBef>
              <a:spcAft>
                <a:spcPts val="1200"/>
              </a:spcAft>
            </a:pPr>
            <a:r>
              <a:rPr lang="en-AU" sz="2000" dirty="0" smtClean="0">
                <a:latin typeface="Helvetica" panose="020B0604020202020204" pitchFamily="34" charset="0"/>
                <a:cs typeface="Helvetica" panose="020B0604020202020204" pitchFamily="34" charset="0"/>
              </a:rPr>
              <a:t>Media </a:t>
            </a:r>
            <a:r>
              <a:rPr lang="en-AU" sz="2000" dirty="0">
                <a:latin typeface="Helvetica" panose="020B0604020202020204" pitchFamily="34" charset="0"/>
                <a:cs typeface="Helvetica" panose="020B0604020202020204" pitchFamily="34" charset="0"/>
              </a:rPr>
              <a:t>presence</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AU" sz="2000" dirty="0">
                <a:latin typeface="Helvetica" panose="020B0604020202020204" pitchFamily="34" charset="0"/>
                <a:cs typeface="Helvetica" panose="020B0604020202020204" pitchFamily="34" charset="0"/>
              </a:rPr>
              <a:t>Social media interactions</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AU" sz="2000" dirty="0">
                <a:latin typeface="Helvetica" panose="020B0604020202020204" pitchFamily="34" charset="0"/>
                <a:cs typeface="Helvetica" panose="020B0604020202020204" pitchFamily="34" charset="0"/>
              </a:rPr>
              <a:t>Appearances of key persons at meetings and public presentations</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AU" sz="2000" dirty="0">
                <a:latin typeface="Helvetica" panose="020B0604020202020204" pitchFamily="34" charset="0"/>
                <a:cs typeface="Helvetica" panose="020B0604020202020204" pitchFamily="34" charset="0"/>
              </a:rPr>
              <a:t>Development and circulation of materials (handouts, media releases, social media posts) to provide information for discussion</a:t>
            </a:r>
            <a:endParaRPr lang="en-US" sz="2000" dirty="0">
              <a:latin typeface="Helvetica" panose="020B0604020202020204" pitchFamily="34" charset="0"/>
              <a:cs typeface="Helvetica" panose="020B0604020202020204" pitchFamily="34" charset="0"/>
            </a:endParaRPr>
          </a:p>
          <a:p>
            <a:pPr marL="360000" indent="-360000">
              <a:spcBef>
                <a:spcPts val="600"/>
              </a:spcBef>
              <a:spcAft>
                <a:spcPts val="1200"/>
              </a:spcAft>
              <a:buNone/>
            </a:pPr>
            <a:r>
              <a:rPr lang="en-US" sz="2000" dirty="0" smtClean="0">
                <a:latin typeface="Helvetica" panose="020B0604020202020204" pitchFamily="34" charset="0"/>
                <a:cs typeface="Helvetica" panose="020B0604020202020204"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spTree>
    <p:extLst>
      <p:ext uri="{BB962C8B-B14F-4D97-AF65-F5344CB8AC3E}">
        <p14:creationId xmlns:p14="http://schemas.microsoft.com/office/powerpoint/2010/main" val="26958606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Autofit/>
          </a:bodyPr>
          <a:lstStyle/>
          <a:p>
            <a:pPr marL="36576" lvl="0" indent="0">
              <a:spcBef>
                <a:spcPts val="600"/>
              </a:spcBef>
              <a:spcAft>
                <a:spcPts val="1200"/>
              </a:spcAft>
              <a:buNone/>
            </a:pPr>
            <a:r>
              <a:rPr lang="en-US" sz="2000" dirty="0">
                <a:latin typeface="Helevetica"/>
              </a:rPr>
              <a:t>Investigating the history of the local people/community in relation to tourism and its </a:t>
            </a:r>
            <a:r>
              <a:rPr lang="en-US" sz="2000" dirty="0" smtClean="0">
                <a:latin typeface="Helevetica"/>
              </a:rPr>
              <a:t>impacts </a:t>
            </a:r>
            <a:r>
              <a:rPr lang="en-US" sz="2000" dirty="0">
                <a:latin typeface="Helevetica"/>
              </a:rPr>
              <a:t>by</a:t>
            </a:r>
            <a:r>
              <a:rPr lang="en-US" sz="2000" dirty="0" smtClean="0">
                <a:latin typeface="Helevetica"/>
              </a:rPr>
              <a:t>:</a:t>
            </a:r>
          </a:p>
          <a:p>
            <a:pPr>
              <a:lnSpc>
                <a:spcPct val="150000"/>
              </a:lnSpc>
              <a:spcBef>
                <a:spcPts val="600"/>
              </a:spcBef>
              <a:spcAft>
                <a:spcPts val="1200"/>
              </a:spcAft>
            </a:pPr>
            <a:r>
              <a:rPr lang="en-AU" sz="2000" dirty="0" smtClean="0">
                <a:latin typeface="Helevetica"/>
              </a:rPr>
              <a:t>Conducting </a:t>
            </a:r>
            <a:r>
              <a:rPr lang="en-AU" sz="2000" dirty="0">
                <a:latin typeface="Helevetica"/>
              </a:rPr>
              <a:t>desktop research </a:t>
            </a:r>
            <a:endParaRPr lang="en-US" sz="2000" dirty="0">
              <a:latin typeface="Helevetica"/>
            </a:endParaRPr>
          </a:p>
          <a:p>
            <a:pPr lvl="0">
              <a:lnSpc>
                <a:spcPct val="150000"/>
              </a:lnSpc>
              <a:spcBef>
                <a:spcPts val="600"/>
              </a:spcBef>
              <a:spcAft>
                <a:spcPts val="1200"/>
              </a:spcAft>
            </a:pPr>
            <a:r>
              <a:rPr lang="en-US" sz="2000" dirty="0"/>
              <a:t>Talking to identified key personnel – </a:t>
            </a:r>
            <a:r>
              <a:rPr lang="en-US" sz="2000" dirty="0" smtClean="0"/>
              <a:t/>
            </a:r>
            <a:br>
              <a:rPr lang="en-US" sz="2000" dirty="0" smtClean="0"/>
            </a:br>
            <a:r>
              <a:rPr lang="en-US" sz="2000" dirty="0" smtClean="0"/>
              <a:t>such </a:t>
            </a:r>
            <a:r>
              <a:rPr lang="en-US" sz="2000" dirty="0"/>
              <a:t>as elders and designated </a:t>
            </a:r>
            <a:r>
              <a:rPr lang="en-US" sz="2000" dirty="0" smtClean="0"/>
              <a:t/>
            </a:r>
            <a:br>
              <a:rPr lang="en-US" sz="2000" dirty="0" smtClean="0"/>
            </a:br>
            <a:r>
              <a:rPr lang="en-US" sz="2000" dirty="0" smtClean="0"/>
              <a:t>community </a:t>
            </a:r>
            <a:r>
              <a:rPr lang="en-US" sz="2000" dirty="0"/>
              <a:t>representatives</a:t>
            </a:r>
          </a:p>
          <a:p>
            <a:pPr marL="36576" indent="0">
              <a:lnSpc>
                <a:spcPct val="150000"/>
              </a:lnSpc>
              <a:spcBef>
                <a:spcPts val="600"/>
              </a:spcBef>
              <a:spcAft>
                <a:spcPts val="1200"/>
              </a:spcAft>
              <a:buNone/>
            </a:pPr>
            <a:r>
              <a:rPr lang="en-AU" sz="2000" dirty="0"/>
              <a:t> </a:t>
            </a:r>
            <a:endParaRPr lang="en-US" sz="2000" dirty="0"/>
          </a:p>
          <a:p>
            <a:pPr marL="36576" indent="0">
              <a:lnSpc>
                <a:spcPct val="150000"/>
              </a:lnSpc>
              <a:spcBef>
                <a:spcPts val="600"/>
              </a:spcBef>
              <a:spcAft>
                <a:spcPts val="1200"/>
              </a:spcAft>
              <a:buNone/>
            </a:pPr>
            <a:endParaRPr lang="en-US" sz="2000" dirty="0" smtClean="0">
              <a:latin typeface="Helevetica"/>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2895600"/>
            <a:ext cx="2133600" cy="2133600"/>
          </a:xfrm>
          <a:prstGeom prst="rect">
            <a:avLst/>
          </a:prstGeom>
        </p:spPr>
      </p:pic>
    </p:spTree>
    <p:extLst>
      <p:ext uri="{BB962C8B-B14F-4D97-AF65-F5344CB8AC3E}">
        <p14:creationId xmlns:p14="http://schemas.microsoft.com/office/powerpoint/2010/main" val="1299171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025355"/>
          </a:xfrm>
        </p:spPr>
        <p:txBody>
          <a:bodyPr>
            <a:noAutofit/>
          </a:bodyPr>
          <a:lstStyle/>
          <a:p>
            <a:pPr lvl="0">
              <a:spcBef>
                <a:spcPts val="600"/>
              </a:spcBef>
              <a:spcAft>
                <a:spcPts val="1200"/>
              </a:spcAft>
            </a:pPr>
            <a:r>
              <a:rPr lang="en-AU" sz="2000" dirty="0" smtClean="0"/>
              <a:t>Setting </a:t>
            </a:r>
            <a:r>
              <a:rPr lang="en-AU" sz="2000" dirty="0"/>
              <a:t>realistic timelines by ensuring that the required deadline for completing the identified research needs is remains viable and </a:t>
            </a:r>
            <a:r>
              <a:rPr lang="en-AU" sz="2000" dirty="0" smtClean="0"/>
              <a:t>realistic</a:t>
            </a:r>
          </a:p>
          <a:p>
            <a:pPr>
              <a:spcBef>
                <a:spcPts val="600"/>
              </a:spcBef>
              <a:spcAft>
                <a:spcPts val="1200"/>
              </a:spcAft>
            </a:pPr>
            <a:r>
              <a:rPr lang="en-AU" sz="2000" dirty="0" smtClean="0"/>
              <a:t>Preparing </a:t>
            </a:r>
            <a:r>
              <a:rPr lang="en-AU" sz="2000" dirty="0"/>
              <a:t>professionally written </a:t>
            </a:r>
            <a:r>
              <a:rPr lang="en-AU" sz="2000" dirty="0" smtClean="0"/>
              <a:t>plans</a:t>
            </a: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200" y="3048000"/>
            <a:ext cx="2059460" cy="1905000"/>
          </a:xfrm>
          <a:prstGeom prst="rect">
            <a:avLst/>
          </a:prstGeom>
        </p:spPr>
      </p:pic>
    </p:spTree>
    <p:extLst>
      <p:ext uri="{BB962C8B-B14F-4D97-AF65-F5344CB8AC3E}">
        <p14:creationId xmlns:p14="http://schemas.microsoft.com/office/powerpoint/2010/main" val="3984449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177755"/>
          </a:xfrm>
        </p:spPr>
        <p:txBody>
          <a:bodyPr>
            <a:noAutofit/>
          </a:bodyPr>
          <a:lstStyle/>
          <a:p>
            <a:pPr marL="361950" indent="-361950">
              <a:spcBef>
                <a:spcPts val="600"/>
              </a:spcBef>
              <a:spcAft>
                <a:spcPts val="1200"/>
              </a:spcAft>
            </a:pPr>
            <a:r>
              <a:rPr lang="en-AU" sz="2000" dirty="0" smtClean="0"/>
              <a:t>Preparing </a:t>
            </a:r>
            <a:r>
              <a:rPr lang="en-AU" sz="2000" dirty="0"/>
              <a:t>professionally written </a:t>
            </a:r>
            <a:r>
              <a:rPr lang="en-AU" sz="2000" dirty="0" smtClean="0"/>
              <a:t>plans including:</a:t>
            </a:r>
          </a:p>
          <a:p>
            <a:pPr marL="720000" indent="-360000">
              <a:spcBef>
                <a:spcPts val="600"/>
              </a:spcBef>
              <a:spcAft>
                <a:spcPts val="1200"/>
              </a:spcAft>
              <a:buClr>
                <a:srgbClr val="7FD13B"/>
              </a:buClr>
              <a:buSzPct val="100000"/>
              <a:buFont typeface="Arial" pitchFamily="34" charset="0"/>
              <a:buChar char="•"/>
            </a:pPr>
            <a:r>
              <a:rPr lang="en-US" sz="2000" dirty="0"/>
              <a:t>Detailed tasks, </a:t>
            </a:r>
            <a:r>
              <a:rPr lang="en-US" sz="2000" dirty="0" smtClean="0"/>
              <a:t>activities</a:t>
            </a:r>
          </a:p>
          <a:p>
            <a:pPr marL="720000" indent="-360000">
              <a:spcBef>
                <a:spcPts val="600"/>
              </a:spcBef>
              <a:spcAft>
                <a:spcPts val="1200"/>
              </a:spcAft>
              <a:buClr>
                <a:srgbClr val="7FD13B"/>
              </a:buClr>
              <a:buSzPct val="100000"/>
              <a:buFont typeface="Arial" pitchFamily="34" charset="0"/>
              <a:buChar char="•"/>
            </a:pPr>
            <a:r>
              <a:rPr lang="en-US" sz="2000" dirty="0" smtClean="0"/>
              <a:t>Setting realistic timelines for: </a:t>
            </a:r>
          </a:p>
          <a:p>
            <a:pPr marL="1076325" indent="-361950">
              <a:spcBef>
                <a:spcPts val="600"/>
              </a:spcBef>
              <a:spcAft>
                <a:spcPts val="1200"/>
              </a:spcAft>
              <a:buClr>
                <a:srgbClr val="7FD13B"/>
              </a:buClr>
              <a:buFont typeface="Wingdings" panose="05000000000000000000" pitchFamily="2" charset="2"/>
              <a:buChar char="§"/>
            </a:pPr>
            <a:r>
              <a:rPr lang="en-US" sz="2000" dirty="0" smtClean="0"/>
              <a:t>Research stage</a:t>
            </a:r>
          </a:p>
          <a:p>
            <a:pPr marL="1076325" indent="-361950">
              <a:spcBef>
                <a:spcPts val="600"/>
              </a:spcBef>
              <a:spcAft>
                <a:spcPts val="1200"/>
              </a:spcAft>
              <a:buClr>
                <a:srgbClr val="7FD13B"/>
              </a:buClr>
              <a:buFont typeface="Wingdings" panose="05000000000000000000" pitchFamily="2" charset="2"/>
              <a:buChar char="§"/>
            </a:pPr>
            <a:r>
              <a:rPr lang="en-US" sz="2000" dirty="0" smtClean="0"/>
              <a:t>Results </a:t>
            </a:r>
            <a:r>
              <a:rPr lang="en-US" sz="2000" dirty="0"/>
              <a:t>interpretation </a:t>
            </a:r>
            <a:r>
              <a:rPr lang="en-US" sz="2000" dirty="0" smtClean="0"/>
              <a:t>stage</a:t>
            </a:r>
          </a:p>
          <a:p>
            <a:pPr marL="1076325" indent="-361950">
              <a:spcBef>
                <a:spcPts val="600"/>
              </a:spcBef>
              <a:spcAft>
                <a:spcPts val="1200"/>
              </a:spcAft>
              <a:buClr>
                <a:srgbClr val="7FD13B"/>
              </a:buClr>
              <a:buFont typeface="Wingdings" panose="05000000000000000000" pitchFamily="2" charset="2"/>
              <a:buChar char="§"/>
            </a:pPr>
            <a:r>
              <a:rPr lang="en-US" sz="2000" dirty="0" smtClean="0"/>
              <a:t>Formal </a:t>
            </a:r>
            <a:r>
              <a:rPr lang="en-US" sz="2000" dirty="0"/>
              <a:t>draft plans </a:t>
            </a:r>
            <a:r>
              <a:rPr lang="en-US" sz="2000" dirty="0" smtClean="0"/>
              <a:t>preparation</a:t>
            </a:r>
          </a:p>
          <a:p>
            <a:pPr marL="1076325" indent="-361950">
              <a:spcBef>
                <a:spcPts val="600"/>
              </a:spcBef>
              <a:spcAft>
                <a:spcPts val="1200"/>
              </a:spcAft>
              <a:buClr>
                <a:srgbClr val="7FD13B"/>
              </a:buClr>
              <a:buFont typeface="Wingdings" panose="05000000000000000000" pitchFamily="2" charset="2"/>
              <a:buChar char="§"/>
            </a:pPr>
            <a:r>
              <a:rPr lang="en-US" sz="2000" dirty="0" smtClean="0"/>
              <a:t>Plans </a:t>
            </a:r>
            <a:r>
              <a:rPr lang="en-US" sz="2000" dirty="0"/>
              <a:t>presentation</a:t>
            </a:r>
          </a:p>
          <a:p>
            <a:pPr>
              <a:spcBef>
                <a:spcPts val="600"/>
              </a:spcBef>
              <a:spcAft>
                <a:spcPts val="1200"/>
              </a:spcAft>
            </a:pP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200" y="3962400"/>
            <a:ext cx="2248299" cy="1499616"/>
          </a:xfrm>
          <a:prstGeom prst="rect">
            <a:avLst/>
          </a:prstGeom>
        </p:spPr>
      </p:pic>
    </p:spTree>
    <p:extLst>
      <p:ext uri="{BB962C8B-B14F-4D97-AF65-F5344CB8AC3E}">
        <p14:creationId xmlns:p14="http://schemas.microsoft.com/office/powerpoint/2010/main" val="3744967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Autofit/>
          </a:bodyPr>
          <a:lstStyle/>
          <a:p>
            <a:pPr marL="36576" lvl="0" indent="0">
              <a:spcBef>
                <a:spcPts val="600"/>
              </a:spcBef>
              <a:spcAft>
                <a:spcPts val="1200"/>
              </a:spcAft>
              <a:buNone/>
            </a:pPr>
            <a:r>
              <a:rPr lang="en-US" sz="2000" dirty="0"/>
              <a:t>Clearly </a:t>
            </a:r>
            <a:r>
              <a:rPr lang="en-US" sz="2000" dirty="0" smtClean="0"/>
              <a:t>allocate:</a:t>
            </a:r>
          </a:p>
          <a:p>
            <a:pPr lvl="0">
              <a:spcBef>
                <a:spcPts val="600"/>
              </a:spcBef>
              <a:spcAft>
                <a:spcPts val="1200"/>
              </a:spcAft>
            </a:pPr>
            <a:r>
              <a:rPr lang="en-US" sz="2000" dirty="0" smtClean="0"/>
              <a:t>Responsibilities</a:t>
            </a:r>
          </a:p>
          <a:p>
            <a:pPr lvl="0">
              <a:spcBef>
                <a:spcPts val="600"/>
              </a:spcBef>
              <a:spcAft>
                <a:spcPts val="1200"/>
              </a:spcAft>
            </a:pPr>
            <a:r>
              <a:rPr lang="en-US" sz="2000" dirty="0" smtClean="0"/>
              <a:t>Resources </a:t>
            </a:r>
            <a:r>
              <a:rPr lang="en-US" sz="2000" dirty="0"/>
              <a:t>required </a:t>
            </a:r>
          </a:p>
          <a:p>
            <a:pPr marL="36576" lvl="0" indent="0">
              <a:spcBef>
                <a:spcPts val="600"/>
              </a:spcBef>
              <a:spcAft>
                <a:spcPts val="1200"/>
              </a:spcAft>
              <a:buNone/>
            </a:pPr>
            <a:r>
              <a:rPr lang="en-US" sz="2000" dirty="0" smtClean="0"/>
              <a:t>Making </a:t>
            </a:r>
            <a:r>
              <a:rPr lang="en-US" sz="2000" dirty="0"/>
              <a:t>sure that the research is being conducted by </a:t>
            </a:r>
            <a:r>
              <a:rPr lang="en-US" sz="2000" dirty="0" smtClean="0"/>
              <a:t>  experienced </a:t>
            </a:r>
            <a:r>
              <a:rPr lang="en-US" sz="2000" dirty="0"/>
              <a:t>and trustworthy </a:t>
            </a:r>
            <a:r>
              <a:rPr lang="en-US" sz="2000" dirty="0" smtClean="0"/>
              <a:t>staff.</a:t>
            </a:r>
            <a:endParaRPr lang="en-US" sz="2000" dirty="0"/>
          </a:p>
          <a:p>
            <a:pPr marL="36576" indent="0">
              <a:spcBef>
                <a:spcPts val="600"/>
              </a:spcBef>
              <a:spcAft>
                <a:spcPts val="1200"/>
              </a:spcAft>
              <a:buNone/>
            </a:pP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200" y="4267200"/>
            <a:ext cx="2248300" cy="1499616"/>
          </a:xfrm>
          <a:prstGeom prst="rect">
            <a:avLst/>
          </a:prstGeom>
        </p:spPr>
      </p:pic>
    </p:spTree>
    <p:extLst>
      <p:ext uri="{BB962C8B-B14F-4D97-AF65-F5344CB8AC3E}">
        <p14:creationId xmlns:p14="http://schemas.microsoft.com/office/powerpoint/2010/main" val="20485578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1.3 Identify research needs for the local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3949155"/>
          </a:xfrm>
        </p:spPr>
        <p:txBody>
          <a:bodyPr>
            <a:noAutofit/>
          </a:bodyPr>
          <a:lstStyle/>
          <a:p>
            <a:pPr marL="36576" indent="0">
              <a:spcBef>
                <a:spcPts val="600"/>
              </a:spcBef>
              <a:spcAft>
                <a:spcPts val="1200"/>
              </a:spcAft>
              <a:buNone/>
            </a:pPr>
            <a:r>
              <a:rPr lang="en-AU" sz="2000" dirty="0" smtClean="0"/>
              <a:t>Most importantly:</a:t>
            </a:r>
            <a:endParaRPr lang="en-US" sz="2000" dirty="0"/>
          </a:p>
          <a:p>
            <a:pPr lvl="0">
              <a:spcBef>
                <a:spcPts val="600"/>
              </a:spcBef>
              <a:spcAft>
                <a:spcPts val="1200"/>
              </a:spcAft>
            </a:pPr>
            <a:r>
              <a:rPr lang="en-AU" sz="2000" dirty="0"/>
              <a:t>Agree on the aim of the research with local communities and stakeholders as discussed during the initial consultation stage</a:t>
            </a:r>
            <a:endParaRPr lang="en-US" sz="2000" dirty="0"/>
          </a:p>
          <a:p>
            <a:pPr marL="36576" indent="0">
              <a:spcBef>
                <a:spcPts val="600"/>
              </a:spcBef>
              <a:spcAft>
                <a:spcPts val="1200"/>
              </a:spcAft>
              <a:buNone/>
            </a:pPr>
            <a:r>
              <a:rPr lang="en-AU" sz="2000" dirty="0"/>
              <a:t> </a:t>
            </a:r>
            <a:endParaRPr lang="en-US" sz="2000" dirty="0"/>
          </a:p>
          <a:p>
            <a:pPr marL="36576" indent="0">
              <a:spcBef>
                <a:spcPts val="600"/>
              </a:spcBef>
              <a:spcAft>
                <a:spcPts val="1200"/>
              </a:spcAft>
              <a:buNone/>
            </a:pPr>
            <a:r>
              <a:rPr lang="en-AU" sz="2000" dirty="0"/>
              <a:t> </a:t>
            </a:r>
            <a:endParaRPr lang="en-US" sz="2000" dirty="0"/>
          </a:p>
          <a:p>
            <a:pPr marL="36576" lvl="0" indent="0">
              <a:spcBef>
                <a:spcPts val="600"/>
              </a:spcBef>
              <a:spcAft>
                <a:spcPts val="1200"/>
              </a:spcAft>
              <a:buNone/>
            </a:pPr>
            <a:endParaRPr lang="en-US" sz="2000" dirty="0"/>
          </a:p>
          <a:p>
            <a:pPr marL="36576" indent="0">
              <a:spcBef>
                <a:spcPts val="600"/>
              </a:spcBef>
              <a:spcAft>
                <a:spcPts val="1200"/>
              </a:spcAft>
              <a:buNone/>
            </a:pP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90556" y="3733800"/>
            <a:ext cx="2362543" cy="1575816"/>
          </a:xfrm>
          <a:prstGeom prst="rect">
            <a:avLst/>
          </a:prstGeom>
        </p:spPr>
      </p:pic>
    </p:spTree>
    <p:extLst>
      <p:ext uri="{BB962C8B-B14F-4D97-AF65-F5344CB8AC3E}">
        <p14:creationId xmlns:p14="http://schemas.microsoft.com/office/powerpoint/2010/main" val="2174410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419600"/>
          </a:xfrm>
        </p:spPr>
        <p:txBody>
          <a:bodyPr>
            <a:noAutofit/>
          </a:bodyPr>
          <a:lstStyle/>
          <a:p>
            <a:pPr marL="36576" indent="0">
              <a:spcBef>
                <a:spcPts val="600"/>
              </a:spcBef>
              <a:spcAft>
                <a:spcPts val="600"/>
              </a:spcAft>
              <a:buNone/>
            </a:pPr>
            <a:r>
              <a:rPr lang="en-AU" sz="1800" dirty="0"/>
              <a:t>Research can be conducted via various mediums depending on the type of research and the information being researched</a:t>
            </a:r>
            <a:r>
              <a:rPr lang="en-AU" sz="1800" dirty="0" smtClean="0"/>
              <a:t>. It might include: </a:t>
            </a:r>
            <a:endParaRPr lang="en-US" sz="1800" dirty="0"/>
          </a:p>
          <a:p>
            <a:pPr marL="361950" lvl="0" indent="-361950">
              <a:spcBef>
                <a:spcPts val="600"/>
              </a:spcBef>
              <a:spcAft>
                <a:spcPts val="600"/>
              </a:spcAft>
            </a:pPr>
            <a:r>
              <a:rPr lang="en-AU" sz="1800" dirty="0" smtClean="0"/>
              <a:t>Questionnaires </a:t>
            </a:r>
            <a:r>
              <a:rPr lang="en-AU" sz="1800" dirty="0"/>
              <a:t>and surveys</a:t>
            </a:r>
            <a:endParaRPr lang="en-US" sz="1800" dirty="0"/>
          </a:p>
          <a:p>
            <a:pPr marL="361950" lvl="0" indent="-361950">
              <a:spcBef>
                <a:spcPts val="600"/>
              </a:spcBef>
              <a:spcAft>
                <a:spcPts val="600"/>
              </a:spcAft>
            </a:pPr>
            <a:r>
              <a:rPr lang="en-AU" sz="1800" dirty="0"/>
              <a:t>Conducting </a:t>
            </a:r>
            <a:r>
              <a:rPr lang="en-AU" sz="1800" dirty="0" smtClean="0"/>
              <a:t>interviews: </a:t>
            </a:r>
            <a:endParaRPr lang="en-US" sz="1800" dirty="0"/>
          </a:p>
          <a:p>
            <a:pPr marL="714375" lvl="0" indent="-352425">
              <a:spcBef>
                <a:spcPts val="600"/>
              </a:spcBef>
              <a:spcAft>
                <a:spcPts val="600"/>
              </a:spcAft>
              <a:buSzPct val="100000"/>
              <a:buFont typeface="Arial" panose="020B0604020202020204" pitchFamily="34" charset="0"/>
              <a:buChar char="•"/>
            </a:pPr>
            <a:r>
              <a:rPr lang="en-US" sz="1800" dirty="0" smtClean="0"/>
              <a:t>With </a:t>
            </a:r>
            <a:r>
              <a:rPr lang="en-US" sz="1800" dirty="0"/>
              <a:t>groups and </a:t>
            </a:r>
            <a:r>
              <a:rPr lang="en-US" sz="1800" dirty="0" smtClean="0"/>
              <a:t>communities: face-to-face </a:t>
            </a:r>
            <a:r>
              <a:rPr lang="en-US" sz="1800" dirty="0"/>
              <a:t>or telephone</a:t>
            </a:r>
          </a:p>
          <a:p>
            <a:pPr marL="714375" lvl="0" indent="-352425">
              <a:spcBef>
                <a:spcPts val="600"/>
              </a:spcBef>
              <a:spcAft>
                <a:spcPts val="600"/>
              </a:spcAft>
              <a:buSzPct val="100000"/>
              <a:buFont typeface="Arial" panose="020B0604020202020204" pitchFamily="34" charset="0"/>
              <a:buChar char="•"/>
            </a:pPr>
            <a:r>
              <a:rPr lang="en-US" sz="1800" dirty="0"/>
              <a:t>W</a:t>
            </a:r>
            <a:r>
              <a:rPr lang="en-US" sz="1800" dirty="0" smtClean="0"/>
              <a:t>ith individuals: face </a:t>
            </a:r>
            <a:r>
              <a:rPr lang="en-US" sz="1800" dirty="0"/>
              <a:t>to face or telephone </a:t>
            </a:r>
          </a:p>
          <a:p>
            <a:pPr marL="361950" lvl="0" indent="-361950">
              <a:spcBef>
                <a:spcPts val="600"/>
              </a:spcBef>
              <a:spcAft>
                <a:spcPts val="600"/>
              </a:spcAft>
            </a:pPr>
            <a:r>
              <a:rPr lang="en-AU" sz="1800" dirty="0"/>
              <a:t>Focus groups</a:t>
            </a:r>
            <a:endParaRPr lang="en-US" sz="1800" dirty="0"/>
          </a:p>
          <a:p>
            <a:pPr marL="361950" lvl="0" indent="-361950">
              <a:spcBef>
                <a:spcPts val="600"/>
              </a:spcBef>
              <a:spcAft>
                <a:spcPts val="600"/>
              </a:spcAft>
            </a:pPr>
            <a:r>
              <a:rPr lang="en-AU" sz="1800" dirty="0"/>
              <a:t>Electronic counters, where applicable</a:t>
            </a:r>
            <a:endParaRPr lang="en-US" sz="1800" dirty="0"/>
          </a:p>
          <a:p>
            <a:pPr marL="361950" lvl="0" indent="-361950">
              <a:spcBef>
                <a:spcPts val="600"/>
              </a:spcBef>
              <a:spcAft>
                <a:spcPts val="600"/>
              </a:spcAft>
            </a:pPr>
            <a:r>
              <a:rPr lang="en-AU" sz="1800" dirty="0"/>
              <a:t>Desktop research</a:t>
            </a:r>
            <a:endParaRPr lang="en-US" sz="1800" dirty="0"/>
          </a:p>
          <a:p>
            <a:pPr marL="361950" lvl="0" indent="-361950">
              <a:spcBef>
                <a:spcPts val="600"/>
              </a:spcBef>
              <a:spcAft>
                <a:spcPts val="600"/>
              </a:spcAft>
            </a:pPr>
            <a:r>
              <a:rPr lang="en-AU" sz="1800" dirty="0"/>
              <a:t>Observing people and actions </a:t>
            </a:r>
            <a:endParaRPr lang="en-US" sz="1800" dirty="0"/>
          </a:p>
          <a:p>
            <a:pPr marL="0" indent="0">
              <a:spcBef>
                <a:spcPts val="600"/>
              </a:spcBef>
              <a:spcAft>
                <a:spcPts val="600"/>
              </a:spcAft>
              <a:buNone/>
            </a:pPr>
            <a:endParaRPr lang="en-US" sz="1800" dirty="0" smtClean="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8375" y="4419600"/>
            <a:ext cx="2362200" cy="157558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025355"/>
          </a:xfrm>
        </p:spPr>
        <p:txBody>
          <a:bodyPr>
            <a:normAutofit/>
          </a:bodyPr>
          <a:lstStyle/>
          <a:p>
            <a:pPr marL="36576" indent="0">
              <a:spcBef>
                <a:spcPts val="600"/>
              </a:spcBef>
              <a:spcAft>
                <a:spcPts val="1200"/>
              </a:spcAft>
              <a:buNone/>
            </a:pPr>
            <a:r>
              <a:rPr lang="en-AU" sz="2200" b="1" dirty="0"/>
              <a:t>General trends and data</a:t>
            </a:r>
            <a:endParaRPr lang="en-US" sz="2200" b="1" dirty="0"/>
          </a:p>
          <a:p>
            <a:pPr marL="36576" indent="0">
              <a:spcBef>
                <a:spcPts val="600"/>
              </a:spcBef>
              <a:spcAft>
                <a:spcPts val="1200"/>
              </a:spcAft>
              <a:buNone/>
            </a:pPr>
            <a:r>
              <a:rPr lang="en-AU" sz="2200" dirty="0"/>
              <a:t>They can be obtained from various sources and cover numerous topics and should include: </a:t>
            </a:r>
            <a:endParaRPr lang="en-US" sz="2200" dirty="0"/>
          </a:p>
          <a:p>
            <a:pPr marL="361950" indent="-361950">
              <a:spcBef>
                <a:spcPts val="600"/>
              </a:spcBef>
              <a:spcAft>
                <a:spcPts val="1200"/>
              </a:spcAft>
            </a:pPr>
            <a:r>
              <a:rPr lang="en-AU" sz="2200" dirty="0"/>
              <a:t>Existing data, also called secondary research data as it already exists </a:t>
            </a:r>
            <a:r>
              <a:rPr lang="en-AU" sz="2200" dirty="0" smtClean="0"/>
              <a:t>from</a:t>
            </a:r>
            <a:r>
              <a:rPr lang="en-US" sz="2200" dirty="0"/>
              <a:t> </a:t>
            </a:r>
            <a:r>
              <a:rPr lang="en-US" sz="2200" dirty="0" smtClean="0"/>
              <a:t>d</a:t>
            </a:r>
            <a:r>
              <a:rPr lang="en-AU" sz="2200" dirty="0" smtClean="0"/>
              <a:t>atabases</a:t>
            </a:r>
            <a:r>
              <a:rPr lang="en-AU" sz="2200" dirty="0"/>
              <a:t>, free to use data sources from government and peak industry sources such as, in </a:t>
            </a:r>
            <a:r>
              <a:rPr lang="en-AU" sz="2200" dirty="0" smtClean="0"/>
              <a:t>Australia:</a:t>
            </a:r>
            <a:endParaRPr lang="en-US" sz="2200" dirty="0"/>
          </a:p>
          <a:p>
            <a:pPr marL="714375" lvl="0" indent="-352425">
              <a:spcBef>
                <a:spcPts val="600"/>
              </a:spcBef>
              <a:spcAft>
                <a:spcPts val="1200"/>
              </a:spcAft>
              <a:buSzPct val="100000"/>
              <a:buFont typeface="Arial" panose="020B0604020202020204" pitchFamily="34" charset="0"/>
              <a:buChar char="•"/>
            </a:pPr>
            <a:r>
              <a:rPr lang="en-US" sz="2200" dirty="0"/>
              <a:t>Tourism Australia</a:t>
            </a:r>
          </a:p>
          <a:p>
            <a:pPr marL="0" indent="0">
              <a:spcBef>
                <a:spcPts val="600"/>
              </a:spcBef>
              <a:spcAft>
                <a:spcPts val="1200"/>
              </a:spcAft>
              <a:buNone/>
            </a:pP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spTree>
    <p:extLst>
      <p:ext uri="{BB962C8B-B14F-4D97-AF65-F5344CB8AC3E}">
        <p14:creationId xmlns:p14="http://schemas.microsoft.com/office/powerpoint/2010/main" val="3287522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5240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177755"/>
          </a:xfrm>
        </p:spPr>
        <p:txBody>
          <a:bodyPr>
            <a:normAutofit/>
          </a:bodyPr>
          <a:lstStyle/>
          <a:p>
            <a:pPr marL="36576" indent="0">
              <a:spcBef>
                <a:spcPts val="1200"/>
              </a:spcBef>
              <a:spcAft>
                <a:spcPts val="1200"/>
              </a:spcAft>
              <a:buNone/>
            </a:pPr>
            <a:r>
              <a:rPr lang="en-AU" sz="2200" dirty="0"/>
              <a:t>General trends and </a:t>
            </a:r>
            <a:r>
              <a:rPr lang="en-AU" sz="2200" dirty="0" smtClean="0"/>
              <a:t>data:</a:t>
            </a:r>
          </a:p>
          <a:p>
            <a:pPr lvl="0">
              <a:spcBef>
                <a:spcPts val="1200"/>
              </a:spcBef>
              <a:spcAft>
                <a:spcPts val="1200"/>
              </a:spcAft>
            </a:pPr>
            <a:r>
              <a:rPr lang="en-AU" sz="2200" dirty="0"/>
              <a:t>Internal and external business reports</a:t>
            </a:r>
            <a:endParaRPr lang="en-US" sz="2200" dirty="0"/>
          </a:p>
          <a:p>
            <a:pPr lvl="0">
              <a:spcBef>
                <a:spcPts val="1200"/>
              </a:spcBef>
              <a:spcAft>
                <a:spcPts val="1200"/>
              </a:spcAft>
            </a:pPr>
            <a:r>
              <a:rPr lang="en-AU" sz="2200" dirty="0"/>
              <a:t>Findings of research which has already been undertaken</a:t>
            </a:r>
            <a:endParaRPr lang="en-US" sz="2200" dirty="0"/>
          </a:p>
          <a:p>
            <a:pPr lvl="0">
              <a:spcBef>
                <a:spcPts val="1200"/>
              </a:spcBef>
              <a:spcAft>
                <a:spcPts val="1200"/>
              </a:spcAft>
            </a:pPr>
            <a:r>
              <a:rPr lang="en-AU" sz="2200" dirty="0"/>
              <a:t>Internet</a:t>
            </a:r>
            <a:endParaRPr lang="en-US" sz="2200" dirty="0"/>
          </a:p>
          <a:p>
            <a:pPr lvl="0">
              <a:spcBef>
                <a:spcPts val="1200"/>
              </a:spcBef>
              <a:spcAft>
                <a:spcPts val="1200"/>
              </a:spcAft>
            </a:pPr>
            <a:r>
              <a:rPr lang="en-AU" sz="2200" dirty="0"/>
              <a:t>Media articles</a:t>
            </a:r>
            <a:endParaRPr lang="en-US" sz="2200" dirty="0"/>
          </a:p>
          <a:p>
            <a:pPr lvl="0">
              <a:spcBef>
                <a:spcPts val="1200"/>
              </a:spcBef>
              <a:spcAft>
                <a:spcPts val="1200"/>
              </a:spcAft>
            </a:pPr>
            <a:r>
              <a:rPr lang="en-AU" sz="2200" dirty="0"/>
              <a:t>Anecdotal evidence provided by people</a:t>
            </a:r>
            <a:endParaRPr lang="en-US" sz="2200" dirty="0"/>
          </a:p>
          <a:p>
            <a:pPr marL="36576" indent="0">
              <a:spcBef>
                <a:spcPts val="1200"/>
              </a:spcBef>
              <a:spcAft>
                <a:spcPts val="1200"/>
              </a:spcAft>
              <a:buNone/>
            </a:pPr>
            <a:endParaRPr lang="en-US"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6442" y="4152900"/>
            <a:ext cx="2134057" cy="1423416"/>
          </a:xfrm>
          <a:prstGeom prst="rect">
            <a:avLst/>
          </a:prstGeom>
        </p:spPr>
      </p:pic>
    </p:spTree>
    <p:extLst>
      <p:ext uri="{BB962C8B-B14F-4D97-AF65-F5344CB8AC3E}">
        <p14:creationId xmlns:p14="http://schemas.microsoft.com/office/powerpoint/2010/main" val="785616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467600" cy="4724400"/>
          </a:xfrm>
        </p:spPr>
        <p:txBody>
          <a:bodyPr>
            <a:noAutofit/>
          </a:bodyPr>
          <a:lstStyle/>
          <a:p>
            <a:pPr marL="36576" indent="0">
              <a:spcBef>
                <a:spcPts val="600"/>
              </a:spcBef>
              <a:spcAft>
                <a:spcPts val="600"/>
              </a:spcAft>
              <a:buNone/>
            </a:pPr>
            <a:r>
              <a:rPr lang="en-AU" sz="2000" b="1" dirty="0"/>
              <a:t> </a:t>
            </a:r>
            <a:r>
              <a:rPr lang="en-AU" sz="2000" b="1" dirty="0" smtClean="0">
                <a:cs typeface="Helvetica" panose="020B0604020202020204" pitchFamily="34" charset="0"/>
              </a:rPr>
              <a:t>Primary </a:t>
            </a:r>
            <a:r>
              <a:rPr lang="en-AU" sz="2000" b="1" dirty="0">
                <a:cs typeface="Helvetica" panose="020B0604020202020204" pitchFamily="34" charset="0"/>
              </a:rPr>
              <a:t>data</a:t>
            </a:r>
            <a:endParaRPr lang="en-US" sz="2000" b="1" dirty="0">
              <a:cs typeface="Helvetica" panose="020B0604020202020204" pitchFamily="34" charset="0"/>
            </a:endParaRPr>
          </a:p>
          <a:p>
            <a:pPr>
              <a:spcBef>
                <a:spcPts val="600"/>
              </a:spcBef>
              <a:spcAft>
                <a:spcPts val="600"/>
              </a:spcAft>
            </a:pPr>
            <a:r>
              <a:rPr lang="en-AU" sz="2000" dirty="0">
                <a:cs typeface="Helvetica" panose="020B0604020202020204" pitchFamily="34" charset="0"/>
              </a:rPr>
              <a:t>When the secondary data has been read and analysed there is very often a need to obtain primary research </a:t>
            </a:r>
            <a:r>
              <a:rPr lang="en-AU" sz="2000" dirty="0" smtClean="0">
                <a:cs typeface="Helvetica" panose="020B0604020202020204" pitchFamily="34" charset="0"/>
              </a:rPr>
              <a:t>data</a:t>
            </a:r>
            <a:endParaRPr lang="en-US" sz="2000" b="1" dirty="0">
              <a:cs typeface="Helvetica" panose="020B0604020202020204" pitchFamily="34" charset="0"/>
            </a:endParaRPr>
          </a:p>
          <a:p>
            <a:pPr>
              <a:spcBef>
                <a:spcPts val="600"/>
              </a:spcBef>
              <a:spcAft>
                <a:spcPts val="600"/>
              </a:spcAft>
            </a:pPr>
            <a:r>
              <a:rPr lang="en-AU" sz="2000" dirty="0">
                <a:cs typeface="Helvetica" panose="020B0604020202020204" pitchFamily="34" charset="0"/>
              </a:rPr>
              <a:t>Primary research data is generated to fill gaps in the knowledge which exist after the secondary research data has been read and analysed. It is new, freshly-generated </a:t>
            </a:r>
            <a:r>
              <a:rPr lang="en-AU" sz="2000" dirty="0" smtClean="0">
                <a:cs typeface="Helvetica" panose="020B0604020202020204" pitchFamily="34" charset="0"/>
              </a:rPr>
              <a:t>data</a:t>
            </a:r>
            <a:endParaRPr lang="en-US" sz="2000" b="1" dirty="0">
              <a:cs typeface="Helvetica" panose="020B0604020202020204" pitchFamily="34" charset="0"/>
            </a:endParaRPr>
          </a:p>
          <a:p>
            <a:pPr>
              <a:spcBef>
                <a:spcPts val="600"/>
              </a:spcBef>
              <a:spcAft>
                <a:spcPts val="600"/>
              </a:spcAft>
            </a:pPr>
            <a:r>
              <a:rPr lang="en-AU" sz="2000" dirty="0">
                <a:cs typeface="Helvetica" panose="020B0604020202020204" pitchFamily="34" charset="0"/>
              </a:rPr>
              <a:t>Primary research data may be captured through </a:t>
            </a:r>
            <a:r>
              <a:rPr lang="en-AU" sz="2000" dirty="0" smtClean="0">
                <a:cs typeface="Helvetica" panose="020B0604020202020204" pitchFamily="34" charset="0"/>
              </a:rPr>
              <a:t>the: </a:t>
            </a:r>
            <a:endParaRPr lang="en-US" sz="2000" dirty="0" smtClean="0"/>
          </a:p>
          <a:p>
            <a:pPr marL="720000" indent="-360000">
              <a:spcBef>
                <a:spcPts val="600"/>
              </a:spcBef>
              <a:spcAft>
                <a:spcPts val="600"/>
              </a:spcAft>
              <a:buClr>
                <a:srgbClr val="7FD13B"/>
              </a:buClr>
              <a:buSzPct val="100000"/>
              <a:buFont typeface="Arial" pitchFamily="34" charset="0"/>
              <a:buChar char="•"/>
            </a:pPr>
            <a:r>
              <a:rPr lang="en-AU" sz="2000" dirty="0" smtClean="0">
                <a:cs typeface="Helvetica" panose="020B0604020202020204" pitchFamily="34" charset="0"/>
              </a:rPr>
              <a:t>Meetings</a:t>
            </a:r>
          </a:p>
          <a:p>
            <a:pPr marL="720000" indent="-360000">
              <a:spcBef>
                <a:spcPts val="600"/>
              </a:spcBef>
              <a:spcAft>
                <a:spcPts val="600"/>
              </a:spcAft>
              <a:buClr>
                <a:srgbClr val="7FD13B"/>
              </a:buClr>
              <a:buSzPct val="100000"/>
              <a:buFont typeface="Arial" pitchFamily="34" charset="0"/>
              <a:buChar char="•"/>
            </a:pPr>
            <a:r>
              <a:rPr lang="en-AU" sz="2000" dirty="0" smtClean="0">
                <a:cs typeface="Helvetica" panose="020B0604020202020204" pitchFamily="34" charset="0"/>
              </a:rPr>
              <a:t>Seminars</a:t>
            </a:r>
          </a:p>
          <a:p>
            <a:pPr marL="720000" indent="-360000">
              <a:spcBef>
                <a:spcPts val="600"/>
              </a:spcBef>
              <a:spcAft>
                <a:spcPts val="600"/>
              </a:spcAft>
              <a:buClr>
                <a:srgbClr val="7FD13B"/>
              </a:buClr>
              <a:buSzPct val="100000"/>
              <a:buFont typeface="Arial" pitchFamily="34" charset="0"/>
              <a:buChar char="•"/>
            </a:pPr>
            <a:r>
              <a:rPr lang="en-AU" sz="2000" dirty="0" smtClean="0">
                <a:cs typeface="Helvetica" panose="020B0604020202020204" pitchFamily="34" charset="0"/>
              </a:rPr>
              <a:t>Workshops</a:t>
            </a:r>
          </a:p>
          <a:p>
            <a:pPr marL="720000" indent="-360000">
              <a:spcBef>
                <a:spcPts val="600"/>
              </a:spcBef>
              <a:spcAft>
                <a:spcPts val="600"/>
              </a:spcAft>
              <a:buClr>
                <a:srgbClr val="7FD13B"/>
              </a:buClr>
              <a:buSzPct val="100000"/>
              <a:buFont typeface="Arial" pitchFamily="34" charset="0"/>
              <a:buChar char="•"/>
            </a:pPr>
            <a:r>
              <a:rPr lang="en-AU" sz="2000" dirty="0" smtClean="0">
                <a:cs typeface="Helvetica" panose="020B0604020202020204" pitchFamily="34" charset="0"/>
              </a:rPr>
              <a:t>Interviews conducted by the host enterprise</a:t>
            </a:r>
            <a:endParaRPr lang="en-US" sz="2000" dirty="0">
              <a:cs typeface="Helvetica" panose="020B0604020202020204" pitchFamily="34" charset="0"/>
            </a:endParaRPr>
          </a:p>
          <a:p>
            <a:pPr marL="36576" indent="0">
              <a:spcBef>
                <a:spcPts val="600"/>
              </a:spcBef>
              <a:spcAft>
                <a:spcPts val="600"/>
              </a:spcAft>
              <a:buNone/>
            </a:pP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spTree>
    <p:extLst>
      <p:ext uri="{BB962C8B-B14F-4D97-AF65-F5344CB8AC3E}">
        <p14:creationId xmlns:p14="http://schemas.microsoft.com/office/powerpoint/2010/main" val="26374547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648200"/>
          </a:xfrm>
        </p:spPr>
        <p:txBody>
          <a:bodyPr>
            <a:normAutofit/>
          </a:bodyPr>
          <a:lstStyle/>
          <a:p>
            <a:pPr marL="36576" indent="0">
              <a:spcBef>
                <a:spcPts val="600"/>
              </a:spcBef>
              <a:spcAft>
                <a:spcPts val="1200"/>
              </a:spcAft>
              <a:buNone/>
            </a:pPr>
            <a:r>
              <a:rPr lang="en-AU" sz="2200" b="1" dirty="0" smtClean="0"/>
              <a:t>Qualitative </a:t>
            </a:r>
            <a:r>
              <a:rPr lang="en-AU" sz="2200" b="1" dirty="0"/>
              <a:t>data </a:t>
            </a:r>
            <a:endParaRPr lang="en-US" sz="2200" b="1" i="1" dirty="0"/>
          </a:p>
          <a:p>
            <a:pPr>
              <a:spcBef>
                <a:spcPts val="600"/>
              </a:spcBef>
              <a:spcAft>
                <a:spcPts val="1200"/>
              </a:spcAft>
            </a:pPr>
            <a:r>
              <a:rPr lang="en-AU" sz="2200" dirty="0"/>
              <a:t>Qualitative data is also known as ‘soft’ </a:t>
            </a:r>
            <a:r>
              <a:rPr lang="en-AU" sz="2200" dirty="0" smtClean="0"/>
              <a:t>data</a:t>
            </a:r>
            <a:endParaRPr lang="en-US" sz="2200" dirty="0"/>
          </a:p>
          <a:p>
            <a:pPr>
              <a:spcBef>
                <a:spcPts val="600"/>
              </a:spcBef>
              <a:spcAft>
                <a:spcPts val="1200"/>
              </a:spcAft>
            </a:pPr>
            <a:r>
              <a:rPr lang="en-AU" sz="2200" dirty="0" smtClean="0"/>
              <a:t>It </a:t>
            </a:r>
            <a:r>
              <a:rPr lang="en-AU" sz="2200" dirty="0"/>
              <a:t>captures information about:</a:t>
            </a:r>
            <a:endParaRPr lang="en-US" sz="2200" dirty="0"/>
          </a:p>
          <a:p>
            <a:pPr marL="714375" lvl="0" indent="-352425">
              <a:spcBef>
                <a:spcPts val="600"/>
              </a:spcBef>
              <a:spcAft>
                <a:spcPts val="1200"/>
              </a:spcAft>
              <a:buFont typeface="Arial" panose="020B0604020202020204" pitchFamily="34" charset="0"/>
              <a:buChar char="•"/>
            </a:pPr>
            <a:r>
              <a:rPr lang="en-AU" sz="2200" dirty="0"/>
              <a:t>Feelings and opinions</a:t>
            </a:r>
            <a:endParaRPr lang="en-US" sz="2200" dirty="0"/>
          </a:p>
          <a:p>
            <a:pPr marL="714375" lvl="0" indent="-352425">
              <a:spcBef>
                <a:spcPts val="600"/>
              </a:spcBef>
              <a:spcAft>
                <a:spcPts val="1200"/>
              </a:spcAft>
              <a:buFont typeface="Arial" panose="020B0604020202020204" pitchFamily="34" charset="0"/>
              <a:buChar char="•"/>
            </a:pPr>
            <a:r>
              <a:rPr lang="en-AU" sz="2200" dirty="0"/>
              <a:t>Reasons people do what they do</a:t>
            </a:r>
            <a:endParaRPr lang="en-US" sz="2200" dirty="0"/>
          </a:p>
          <a:p>
            <a:pPr marL="714375" lvl="0" indent="-352425">
              <a:spcBef>
                <a:spcPts val="600"/>
              </a:spcBef>
              <a:spcAft>
                <a:spcPts val="1200"/>
              </a:spcAft>
              <a:buFont typeface="Arial" panose="020B0604020202020204" pitchFamily="34" charset="0"/>
              <a:buChar char="•"/>
            </a:pPr>
            <a:r>
              <a:rPr lang="en-AU" sz="2200" dirty="0"/>
              <a:t>Reasons people do not do certain </a:t>
            </a:r>
            <a:r>
              <a:rPr lang="en-AU" sz="2200" dirty="0" smtClean="0"/>
              <a:t>things</a:t>
            </a:r>
            <a:endParaRPr lang="en-US"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spTree>
    <p:extLst>
      <p:ext uri="{BB962C8B-B14F-4D97-AF65-F5344CB8AC3E}">
        <p14:creationId xmlns:p14="http://schemas.microsoft.com/office/powerpoint/2010/main" val="1408447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8303840" cy="12192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5640" cy="4419600"/>
          </a:xfrm>
        </p:spPr>
        <p:txBody>
          <a:bodyPr>
            <a:noAutofit/>
          </a:bodyPr>
          <a:lstStyle/>
          <a:p>
            <a:pPr marL="36576" indent="0">
              <a:spcBef>
                <a:spcPts val="600"/>
              </a:spcBef>
              <a:spcAft>
                <a:spcPts val="1200"/>
              </a:spcAft>
              <a:buNone/>
            </a:pPr>
            <a:r>
              <a:rPr lang="en-AU" sz="2200" dirty="0" smtClean="0"/>
              <a:t>Qualitative </a:t>
            </a:r>
            <a:r>
              <a:rPr lang="en-AU" sz="2200" dirty="0"/>
              <a:t>data seeks to answer ‘Why?” questions – such as:</a:t>
            </a:r>
            <a:endParaRPr lang="en-US" sz="2200" dirty="0"/>
          </a:p>
          <a:p>
            <a:pPr lvl="0">
              <a:spcBef>
                <a:spcPts val="600"/>
              </a:spcBef>
              <a:spcAft>
                <a:spcPts val="1200"/>
              </a:spcAft>
            </a:pPr>
            <a:r>
              <a:rPr lang="en-AU" sz="2200" dirty="0"/>
              <a:t>Why do people want to travel to a certain place?</a:t>
            </a:r>
            <a:endParaRPr lang="en-US" sz="2200" dirty="0"/>
          </a:p>
          <a:p>
            <a:pPr lvl="0">
              <a:spcBef>
                <a:spcPts val="600"/>
              </a:spcBef>
              <a:spcAft>
                <a:spcPts val="1200"/>
              </a:spcAft>
            </a:pPr>
            <a:r>
              <a:rPr lang="en-AU" sz="2200" dirty="0"/>
              <a:t>Why do people hold the opinion they have about tourism and </a:t>
            </a:r>
            <a:r>
              <a:rPr lang="en-AU" sz="2200" dirty="0" smtClean="0"/>
              <a:t>tourists?</a:t>
            </a:r>
            <a:endParaRPr lang="en-US" sz="2200" dirty="0"/>
          </a:p>
          <a:p>
            <a:pPr lvl="0">
              <a:spcBef>
                <a:spcPts val="600"/>
              </a:spcBef>
              <a:spcAft>
                <a:spcPts val="1200"/>
              </a:spcAft>
            </a:pPr>
            <a:r>
              <a:rPr lang="en-AU" sz="2200" dirty="0"/>
              <a:t>Why would tourism be good or bad for the local community?</a:t>
            </a:r>
            <a:endParaRPr lang="en-US" sz="2200" dirty="0"/>
          </a:p>
          <a:p>
            <a:pPr lvl="0">
              <a:spcBef>
                <a:spcPts val="600"/>
              </a:spcBef>
              <a:spcAft>
                <a:spcPts val="1200"/>
              </a:spcAft>
            </a:pPr>
            <a:r>
              <a:rPr lang="en-AU" sz="2200" dirty="0"/>
              <a:t>Why would tourists want to come to the area?</a:t>
            </a:r>
            <a:endParaRPr lang="en-US" sz="2200" dirty="0"/>
          </a:p>
          <a:p>
            <a:pPr marL="36576" indent="0">
              <a:spcBef>
                <a:spcPts val="600"/>
              </a:spcBef>
              <a:spcAft>
                <a:spcPts val="1200"/>
              </a:spcAft>
              <a:buNone/>
            </a:pPr>
            <a:r>
              <a:rPr lang="en-AU" sz="2200" b="1" dirty="0"/>
              <a:t> </a:t>
            </a:r>
            <a:endParaRPr lang="en-US" sz="2200" dirty="0"/>
          </a:p>
          <a:p>
            <a:pPr marL="36576" indent="0">
              <a:spcBef>
                <a:spcPts val="600"/>
              </a:spcBef>
              <a:spcAft>
                <a:spcPts val="1200"/>
              </a:spcAft>
              <a:buNone/>
            </a:pPr>
            <a:endParaRPr lang="en-US" sz="22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spTree>
    <p:extLst>
      <p:ext uri="{BB962C8B-B14F-4D97-AF65-F5344CB8AC3E}">
        <p14:creationId xmlns:p14="http://schemas.microsoft.com/office/powerpoint/2010/main" val="22928847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467600" cy="4876800"/>
          </a:xfrm>
        </p:spPr>
        <p:txBody>
          <a:bodyPr>
            <a:normAutofit/>
          </a:bodyPr>
          <a:lstStyle/>
          <a:p>
            <a:pPr marL="36576" indent="0">
              <a:spcBef>
                <a:spcPts val="600"/>
              </a:spcBef>
              <a:spcAft>
                <a:spcPts val="600"/>
              </a:spcAft>
              <a:buNone/>
            </a:pPr>
            <a:r>
              <a:rPr lang="en-AU" sz="1800" b="1" dirty="0" smtClean="0"/>
              <a:t>Quantitative </a:t>
            </a:r>
            <a:r>
              <a:rPr lang="en-AU" sz="1800" b="1" dirty="0"/>
              <a:t>data is also known as ‘hard’ </a:t>
            </a:r>
            <a:r>
              <a:rPr lang="en-AU" sz="1800" b="1" dirty="0" smtClean="0"/>
              <a:t>data</a:t>
            </a:r>
            <a:endParaRPr lang="en-US" sz="1800" b="1" dirty="0"/>
          </a:p>
          <a:p>
            <a:pPr marL="36576" indent="0">
              <a:spcBef>
                <a:spcPts val="600"/>
              </a:spcBef>
              <a:spcAft>
                <a:spcPts val="600"/>
              </a:spcAft>
              <a:buNone/>
            </a:pPr>
            <a:r>
              <a:rPr lang="en-AU" sz="1800" dirty="0"/>
              <a:t>Quantitative data seeks to answer ‘quantifiable’ questions – such as:</a:t>
            </a:r>
            <a:endParaRPr lang="en-US" sz="1800" dirty="0"/>
          </a:p>
          <a:p>
            <a:pPr lvl="0">
              <a:spcBef>
                <a:spcPts val="600"/>
              </a:spcBef>
              <a:spcAft>
                <a:spcPts val="600"/>
              </a:spcAft>
            </a:pPr>
            <a:r>
              <a:rPr lang="en-AU" sz="1800" dirty="0"/>
              <a:t>How often would people travel/have they travelled to a certain place?</a:t>
            </a:r>
            <a:endParaRPr lang="en-US" sz="1800" dirty="0"/>
          </a:p>
          <a:p>
            <a:pPr lvl="0">
              <a:spcBef>
                <a:spcPts val="600"/>
              </a:spcBef>
              <a:spcAft>
                <a:spcPts val="600"/>
              </a:spcAft>
            </a:pPr>
            <a:r>
              <a:rPr lang="en-AU" sz="1800" dirty="0"/>
              <a:t>How many days would they spend in a place/how many days have they spent?</a:t>
            </a:r>
            <a:endParaRPr lang="en-US" sz="1800" dirty="0"/>
          </a:p>
          <a:p>
            <a:pPr lvl="0">
              <a:spcBef>
                <a:spcPts val="600"/>
              </a:spcBef>
              <a:spcAft>
                <a:spcPts val="600"/>
              </a:spcAft>
            </a:pPr>
            <a:r>
              <a:rPr lang="en-AU" sz="1800" dirty="0"/>
              <a:t>How much money would they spend/have they spent in the areas they visited?</a:t>
            </a:r>
            <a:endParaRPr lang="en-US" sz="1800" dirty="0"/>
          </a:p>
          <a:p>
            <a:pPr lvl="0">
              <a:spcBef>
                <a:spcPts val="600"/>
              </a:spcBef>
              <a:spcAft>
                <a:spcPts val="600"/>
              </a:spcAft>
            </a:pPr>
            <a:r>
              <a:rPr lang="en-AU" sz="1800" dirty="0"/>
              <a:t>How many bed nights would be required/have been sold?</a:t>
            </a:r>
            <a:endParaRPr lang="en-US" sz="1800" dirty="0"/>
          </a:p>
          <a:p>
            <a:pPr lvl="0">
              <a:spcBef>
                <a:spcPts val="600"/>
              </a:spcBef>
              <a:spcAft>
                <a:spcPts val="600"/>
              </a:spcAft>
            </a:pPr>
            <a:r>
              <a:rPr lang="en-AU" sz="1800" dirty="0"/>
              <a:t>How many crimes involving tourists have been reported?</a:t>
            </a:r>
            <a:endParaRPr lang="en-US" sz="1800" dirty="0"/>
          </a:p>
          <a:p>
            <a:pPr lvl="0">
              <a:spcBef>
                <a:spcPts val="600"/>
              </a:spcBef>
              <a:spcAft>
                <a:spcPts val="600"/>
              </a:spcAft>
            </a:pPr>
            <a:r>
              <a:rPr lang="en-AU" sz="1800" dirty="0"/>
              <a:t>What financial costs would attach to proceeding with a tourism initiative?</a:t>
            </a:r>
            <a:endParaRPr lang="en-US" sz="1800" dirty="0"/>
          </a:p>
          <a:p>
            <a:pPr marL="36576" indent="0">
              <a:spcBef>
                <a:spcPts val="600"/>
              </a:spcBef>
              <a:spcAft>
                <a:spcPts val="600"/>
              </a:spcAft>
              <a:buNone/>
            </a:pPr>
            <a:endParaRPr lang="en-US" sz="18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spTree>
    <p:extLst>
      <p:ext uri="{BB962C8B-B14F-4D97-AF65-F5344CB8AC3E}">
        <p14:creationId xmlns:p14="http://schemas.microsoft.com/office/powerpoint/2010/main" val="16444130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28800"/>
            <a:ext cx="7467600" cy="4572000"/>
          </a:xfrm>
        </p:spPr>
        <p:txBody>
          <a:bodyPr>
            <a:normAutofit/>
          </a:bodyPr>
          <a:lstStyle/>
          <a:p>
            <a:pPr marL="36576" indent="0">
              <a:spcBef>
                <a:spcPts val="600"/>
              </a:spcBef>
              <a:spcAft>
                <a:spcPts val="600"/>
              </a:spcAft>
              <a:buNone/>
            </a:pPr>
            <a:r>
              <a:rPr lang="en-AU" sz="2200" dirty="0"/>
              <a:t>It captures information about:</a:t>
            </a:r>
            <a:endParaRPr lang="en-US" sz="2200" dirty="0"/>
          </a:p>
          <a:p>
            <a:pPr marL="361950" lvl="0" indent="-361950">
              <a:spcBef>
                <a:spcPts val="600"/>
              </a:spcBef>
              <a:spcAft>
                <a:spcPts val="600"/>
              </a:spcAft>
            </a:pPr>
            <a:r>
              <a:rPr lang="en-AU" sz="2200" dirty="0"/>
              <a:t>Facts</a:t>
            </a:r>
            <a:endParaRPr lang="en-US" sz="2200" dirty="0"/>
          </a:p>
          <a:p>
            <a:pPr marL="361950" lvl="0" indent="-361950">
              <a:spcBef>
                <a:spcPts val="600"/>
              </a:spcBef>
              <a:spcAft>
                <a:spcPts val="600"/>
              </a:spcAft>
            </a:pPr>
            <a:r>
              <a:rPr lang="en-AU" sz="2200" dirty="0"/>
              <a:t>Statistics and figures</a:t>
            </a:r>
            <a:endParaRPr lang="en-US" sz="2200" dirty="0"/>
          </a:p>
          <a:p>
            <a:pPr marL="361950" lvl="0" indent="-361950">
              <a:spcBef>
                <a:spcPts val="600"/>
              </a:spcBef>
              <a:spcAft>
                <a:spcPts val="600"/>
              </a:spcAft>
            </a:pPr>
            <a:r>
              <a:rPr lang="en-AU" sz="2200" dirty="0"/>
              <a:t>Percentages and ratios such </a:t>
            </a:r>
            <a:r>
              <a:rPr lang="en-AU" sz="2200" dirty="0" smtClean="0"/>
              <a:t>as: </a:t>
            </a:r>
            <a:endParaRPr lang="en-US" sz="2200" dirty="0"/>
          </a:p>
          <a:p>
            <a:pPr marL="714375" lvl="0" indent="-352425">
              <a:spcBef>
                <a:spcPts val="600"/>
              </a:spcBef>
              <a:spcAft>
                <a:spcPts val="600"/>
              </a:spcAft>
              <a:buSzPct val="100000"/>
              <a:buFont typeface="Arial" panose="020B0604020202020204" pitchFamily="34" charset="0"/>
              <a:buChar char="•"/>
            </a:pPr>
            <a:r>
              <a:rPr lang="en-US" sz="2200" dirty="0"/>
              <a:t>Tourists, visitors arrival patterns: week ends, week days, holidays? </a:t>
            </a:r>
          </a:p>
          <a:p>
            <a:pPr marL="714375" lvl="0" indent="-352425">
              <a:spcBef>
                <a:spcPts val="600"/>
              </a:spcBef>
              <a:spcAft>
                <a:spcPts val="600"/>
              </a:spcAft>
              <a:buSzPct val="100000"/>
              <a:buFont typeface="Arial" panose="020B0604020202020204" pitchFamily="34" charset="0"/>
              <a:buChar char="•"/>
            </a:pPr>
            <a:r>
              <a:rPr lang="en-US" sz="2200" dirty="0"/>
              <a:t>Tourists, visitors spending patterns: how much on average, where?</a:t>
            </a:r>
          </a:p>
          <a:p>
            <a:pPr marL="714375" lvl="0" indent="-352425">
              <a:spcBef>
                <a:spcPts val="600"/>
              </a:spcBef>
              <a:spcAft>
                <a:spcPts val="600"/>
              </a:spcAft>
              <a:buSzPct val="100000"/>
              <a:buFont typeface="Arial" panose="020B0604020202020204" pitchFamily="34" charset="0"/>
              <a:buChar char="•"/>
            </a:pPr>
            <a:r>
              <a:rPr lang="en-US" sz="2200" dirty="0"/>
              <a:t>Tourist, visitors stay and visitation patterns: where do they prefer to go, how often? </a:t>
            </a:r>
          </a:p>
          <a:p>
            <a:pPr marL="36576" indent="0">
              <a:spcBef>
                <a:spcPts val="600"/>
              </a:spcBef>
              <a:spcAft>
                <a:spcPts val="600"/>
              </a:spcAft>
              <a:buNone/>
            </a:pPr>
            <a:endParaRPr lang="en-US" sz="22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spTree>
    <p:extLst>
      <p:ext uri="{BB962C8B-B14F-4D97-AF65-F5344CB8AC3E}">
        <p14:creationId xmlns:p14="http://schemas.microsoft.com/office/powerpoint/2010/main" val="1326289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1.4 Conduct research on general tourism  data and trends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3949155"/>
          </a:xfrm>
        </p:spPr>
        <p:txBody>
          <a:bodyPr>
            <a:normAutofit/>
          </a:bodyPr>
          <a:lstStyle/>
          <a:p>
            <a:pPr marL="36576" indent="0">
              <a:spcBef>
                <a:spcPts val="600"/>
              </a:spcBef>
              <a:spcAft>
                <a:spcPts val="600"/>
              </a:spcAft>
              <a:buNone/>
            </a:pPr>
            <a:r>
              <a:rPr lang="en-US" sz="2400" dirty="0" smtClean="0"/>
              <a:t>Desk top research:</a:t>
            </a:r>
          </a:p>
          <a:p>
            <a:pPr>
              <a:spcBef>
                <a:spcPts val="600"/>
              </a:spcBef>
              <a:spcAft>
                <a:spcPts val="600"/>
              </a:spcAft>
            </a:pPr>
            <a:r>
              <a:rPr lang="en-US" sz="2400" dirty="0" smtClean="0"/>
              <a:t>The increasing emergence and importance of: </a:t>
            </a:r>
          </a:p>
          <a:p>
            <a:pPr marL="714375" lvl="0" indent="-352425">
              <a:spcBef>
                <a:spcPts val="600"/>
              </a:spcBef>
              <a:spcAft>
                <a:spcPts val="600"/>
              </a:spcAft>
              <a:buFont typeface="Arial" panose="020B0604020202020204" pitchFamily="34" charset="0"/>
              <a:buChar char="•"/>
            </a:pPr>
            <a:r>
              <a:rPr lang="en-AU" sz="2400" dirty="0" smtClean="0"/>
              <a:t>Websites</a:t>
            </a:r>
            <a:endParaRPr lang="en-US" sz="2400" dirty="0"/>
          </a:p>
          <a:p>
            <a:pPr marL="36576" indent="0">
              <a:spcBef>
                <a:spcPts val="600"/>
              </a:spcBef>
              <a:spcAft>
                <a:spcPts val="600"/>
              </a:spcAft>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3810000"/>
            <a:ext cx="2466532" cy="1696974"/>
          </a:xfrm>
          <a:prstGeom prst="rect">
            <a:avLst/>
          </a:prstGeom>
        </p:spPr>
      </p:pic>
    </p:spTree>
    <p:extLst>
      <p:ext uri="{BB962C8B-B14F-4D97-AF65-F5344CB8AC3E}">
        <p14:creationId xmlns:p14="http://schemas.microsoft.com/office/powerpoint/2010/main" val="28035399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6475040" cy="4101555"/>
          </a:xfrm>
        </p:spPr>
        <p:txBody>
          <a:bodyPr>
            <a:normAutofit/>
          </a:bodyPr>
          <a:lstStyle/>
          <a:p>
            <a:pPr marL="0" indent="0">
              <a:spcBef>
                <a:spcPts val="600"/>
              </a:spcBef>
              <a:spcAft>
                <a:spcPts val="1200"/>
              </a:spcAft>
              <a:buNone/>
            </a:pPr>
            <a:r>
              <a:rPr lang="en-AU" sz="2200" dirty="0"/>
              <a:t>The research on the local area and communities can be divided </a:t>
            </a:r>
            <a:r>
              <a:rPr lang="en-AU" sz="2200" dirty="0" smtClean="0"/>
              <a:t>between: </a:t>
            </a:r>
          </a:p>
          <a:p>
            <a:pPr marL="360000" indent="-360000">
              <a:spcBef>
                <a:spcPts val="600"/>
              </a:spcBef>
              <a:spcAft>
                <a:spcPts val="1200"/>
              </a:spcAft>
            </a:pPr>
            <a:r>
              <a:rPr lang="en-US" sz="2200" dirty="0" smtClean="0"/>
              <a:t>Data gathering</a:t>
            </a:r>
          </a:p>
          <a:p>
            <a:pPr marL="360000" indent="-360000">
              <a:spcBef>
                <a:spcPts val="600"/>
              </a:spcBef>
              <a:spcAft>
                <a:spcPts val="1200"/>
              </a:spcAft>
            </a:pPr>
            <a:r>
              <a:rPr lang="en-US" sz="2200" dirty="0" smtClean="0"/>
              <a:t>Data clarification</a:t>
            </a:r>
          </a:p>
          <a:p>
            <a:pPr marL="360000" indent="-360000">
              <a:spcBef>
                <a:spcPts val="600"/>
              </a:spcBef>
              <a:spcAft>
                <a:spcPts val="1200"/>
              </a:spcAft>
            </a:pPr>
            <a:r>
              <a:rPr lang="en-US" sz="2200" dirty="0" smtClean="0"/>
              <a:t>Data recording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0" y="2895600"/>
            <a:ext cx="2476786" cy="165201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572000"/>
          </a:xfrm>
        </p:spPr>
        <p:txBody>
          <a:bodyPr>
            <a:normAutofit/>
          </a:bodyPr>
          <a:lstStyle/>
          <a:p>
            <a:pPr marL="0" indent="0">
              <a:spcBef>
                <a:spcPts val="600"/>
              </a:spcBef>
              <a:spcAft>
                <a:spcPts val="1200"/>
              </a:spcAft>
              <a:buNone/>
            </a:pPr>
            <a:r>
              <a:rPr lang="en-AU" sz="2000" b="1" dirty="0" smtClean="0"/>
              <a:t>Data gathering and clarification</a:t>
            </a:r>
          </a:p>
          <a:p>
            <a:pPr marL="36576" lvl="0" indent="0">
              <a:spcBef>
                <a:spcPts val="600"/>
              </a:spcBef>
              <a:spcAft>
                <a:spcPts val="1200"/>
              </a:spcAft>
              <a:buNone/>
            </a:pPr>
            <a:r>
              <a:rPr lang="en-AU" sz="2000" dirty="0"/>
              <a:t>Using and analysing further the data gathered </a:t>
            </a:r>
            <a:r>
              <a:rPr lang="en-AU" sz="2000" dirty="0" smtClean="0"/>
              <a:t>so </a:t>
            </a:r>
            <a:br>
              <a:rPr lang="en-AU" sz="2000" dirty="0" smtClean="0"/>
            </a:br>
            <a:r>
              <a:rPr lang="en-AU" sz="2000" dirty="0" smtClean="0"/>
              <a:t>far when </a:t>
            </a:r>
            <a:r>
              <a:rPr lang="en-AU" sz="2000" dirty="0"/>
              <a:t>conducting research on general tourism </a:t>
            </a:r>
            <a:r>
              <a:rPr lang="en-AU" sz="2000" dirty="0" smtClean="0"/>
              <a:t/>
            </a:r>
            <a:br>
              <a:rPr lang="en-AU" sz="2000" dirty="0" smtClean="0"/>
            </a:br>
            <a:r>
              <a:rPr lang="en-AU" sz="2000" dirty="0" smtClean="0"/>
              <a:t>and during the initial consultation leads </a:t>
            </a:r>
            <a:r>
              <a:rPr lang="en-AU" sz="2000" dirty="0"/>
              <a:t>to </a:t>
            </a:r>
            <a:r>
              <a:rPr lang="en-AU" sz="2000" dirty="0" smtClean="0"/>
              <a:t/>
            </a:r>
            <a:br>
              <a:rPr lang="en-AU" sz="2000" dirty="0" smtClean="0"/>
            </a:br>
            <a:r>
              <a:rPr lang="en-AU" sz="2000" dirty="0" smtClean="0"/>
              <a:t>generating additional input and local information </a:t>
            </a:r>
            <a:br>
              <a:rPr lang="en-AU" sz="2000" dirty="0" smtClean="0"/>
            </a:br>
            <a:r>
              <a:rPr lang="en-AU" sz="2000" dirty="0" smtClean="0"/>
              <a:t>such </a:t>
            </a:r>
            <a:r>
              <a:rPr lang="en-AU" sz="2000" dirty="0"/>
              <a:t>as:   </a:t>
            </a:r>
            <a:endParaRPr lang="en-US" sz="2000" dirty="0"/>
          </a:p>
          <a:p>
            <a:pPr lvl="0">
              <a:spcBef>
                <a:spcPts val="600"/>
              </a:spcBef>
              <a:spcAft>
                <a:spcPts val="1200"/>
              </a:spcAft>
            </a:pPr>
            <a:r>
              <a:rPr lang="en-AU" sz="2000" dirty="0"/>
              <a:t>Local visitors numbers</a:t>
            </a:r>
            <a:endParaRPr lang="en-US" sz="2000" dirty="0"/>
          </a:p>
          <a:p>
            <a:pPr lvl="0">
              <a:spcBef>
                <a:spcPts val="600"/>
              </a:spcBef>
              <a:spcAft>
                <a:spcPts val="1200"/>
              </a:spcAft>
            </a:pPr>
            <a:r>
              <a:rPr lang="en-AU" sz="2000" dirty="0"/>
              <a:t>Local visitors arrival numbers</a:t>
            </a:r>
            <a:endParaRPr lang="en-US" sz="2000" dirty="0"/>
          </a:p>
          <a:p>
            <a:pPr>
              <a:spcBef>
                <a:spcPts val="600"/>
              </a:spcBef>
              <a:spcAft>
                <a:spcPts val="1200"/>
              </a:spcAft>
            </a:pPr>
            <a:r>
              <a:rPr lang="en-AU" sz="2000" dirty="0"/>
              <a:t>Local visitors spending </a:t>
            </a:r>
            <a:r>
              <a:rPr lang="en-AU" sz="2000" dirty="0" smtClean="0"/>
              <a:t>patterns</a:t>
            </a: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77000" y="2486025"/>
            <a:ext cx="1677619" cy="2438400"/>
          </a:xfrm>
          <a:prstGeom prst="rect">
            <a:avLst/>
          </a:prstGeom>
        </p:spPr>
      </p:pic>
    </p:spTree>
    <p:extLst>
      <p:ext uri="{BB962C8B-B14F-4D97-AF65-F5344CB8AC3E}">
        <p14:creationId xmlns:p14="http://schemas.microsoft.com/office/powerpoint/2010/main" val="2467198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52400"/>
            <a:ext cx="8303840" cy="15240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0" indent="0">
              <a:spcBef>
                <a:spcPts val="600"/>
              </a:spcBef>
              <a:spcAft>
                <a:spcPts val="1200"/>
              </a:spcAft>
              <a:buNone/>
            </a:pPr>
            <a:r>
              <a:rPr lang="en-AU" sz="2200" b="1" dirty="0" smtClean="0"/>
              <a:t>Data gathering and clarification</a:t>
            </a:r>
          </a:p>
          <a:p>
            <a:pPr marL="36576" lvl="0" indent="0">
              <a:buNone/>
            </a:pPr>
            <a:r>
              <a:rPr lang="en-AU" sz="2200" dirty="0" smtClean="0"/>
              <a:t>Using </a:t>
            </a:r>
            <a:r>
              <a:rPr lang="en-AU" sz="2200" dirty="0"/>
              <a:t>and analysing further the data </a:t>
            </a:r>
            <a:r>
              <a:rPr lang="en-AU" sz="2200" dirty="0" smtClean="0"/>
              <a:t/>
            </a:r>
            <a:br>
              <a:rPr lang="en-AU" sz="2200" dirty="0" smtClean="0"/>
            </a:br>
            <a:r>
              <a:rPr lang="en-AU" sz="2200" dirty="0" smtClean="0"/>
              <a:t>gathered so far when </a:t>
            </a:r>
            <a:r>
              <a:rPr lang="en-AU" sz="2200" dirty="0"/>
              <a:t>conducting </a:t>
            </a:r>
            <a:r>
              <a:rPr lang="en-AU" sz="2200" dirty="0" smtClean="0"/>
              <a:t/>
            </a:r>
            <a:br>
              <a:rPr lang="en-AU" sz="2200" dirty="0" smtClean="0"/>
            </a:br>
            <a:r>
              <a:rPr lang="en-AU" sz="2200" dirty="0" smtClean="0"/>
              <a:t>research </a:t>
            </a:r>
            <a:r>
              <a:rPr lang="en-AU" sz="2200" dirty="0"/>
              <a:t>on general tourism </a:t>
            </a:r>
            <a:r>
              <a:rPr lang="en-AU" sz="2200" dirty="0" smtClean="0"/>
              <a:t>and during </a:t>
            </a:r>
            <a:br>
              <a:rPr lang="en-AU" sz="2200" dirty="0" smtClean="0"/>
            </a:br>
            <a:r>
              <a:rPr lang="en-AU" sz="2200" dirty="0" smtClean="0"/>
              <a:t>the initial consultation can also lead to </a:t>
            </a:r>
            <a:br>
              <a:rPr lang="en-AU" sz="2200" dirty="0" smtClean="0"/>
            </a:br>
            <a:r>
              <a:rPr lang="en-AU" sz="2200" dirty="0" smtClean="0"/>
              <a:t>offering alternatives and making </a:t>
            </a:r>
            <a:br>
              <a:rPr lang="en-AU" sz="2200" dirty="0" smtClean="0"/>
            </a:br>
            <a:r>
              <a:rPr lang="en-AU" sz="2200" dirty="0" smtClean="0"/>
              <a:t>suggestions.</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62625" y="2486025"/>
            <a:ext cx="2591028" cy="1728216"/>
          </a:xfrm>
          <a:prstGeom prst="rect">
            <a:avLst/>
          </a:prstGeom>
        </p:spPr>
      </p:pic>
    </p:spTree>
    <p:extLst>
      <p:ext uri="{BB962C8B-B14F-4D97-AF65-F5344CB8AC3E}">
        <p14:creationId xmlns:p14="http://schemas.microsoft.com/office/powerpoint/2010/main" val="24671987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724400"/>
          </a:xfrm>
        </p:spPr>
        <p:txBody>
          <a:bodyPr>
            <a:normAutofit/>
          </a:bodyPr>
          <a:lstStyle/>
          <a:p>
            <a:pPr marL="0" indent="0">
              <a:spcBef>
                <a:spcPts val="600"/>
              </a:spcBef>
              <a:spcAft>
                <a:spcPts val="600"/>
              </a:spcAft>
              <a:buNone/>
            </a:pPr>
            <a:r>
              <a:rPr lang="en-AU" sz="2000" b="1" dirty="0" smtClean="0"/>
              <a:t>Data gathering and clarification</a:t>
            </a:r>
          </a:p>
          <a:p>
            <a:pPr marL="36576" lvl="0" indent="0">
              <a:spcBef>
                <a:spcPts val="600"/>
              </a:spcBef>
              <a:spcAft>
                <a:spcPts val="600"/>
              </a:spcAft>
              <a:buNone/>
            </a:pPr>
            <a:r>
              <a:rPr lang="en-AU" sz="2000" dirty="0"/>
              <a:t>Building from the first step covered : consultation with the local community , the research </a:t>
            </a:r>
            <a:r>
              <a:rPr lang="en-AU" sz="2000" dirty="0" smtClean="0"/>
              <a:t>also needs </a:t>
            </a:r>
            <a:r>
              <a:rPr lang="en-AU" sz="2000" dirty="0"/>
              <a:t>to </a:t>
            </a:r>
            <a:r>
              <a:rPr lang="en-AU" sz="2000" dirty="0" smtClean="0"/>
              <a:t>identify:</a:t>
            </a:r>
            <a:endParaRPr lang="en-US" sz="2000" dirty="0"/>
          </a:p>
          <a:p>
            <a:pPr>
              <a:spcBef>
                <a:spcPts val="600"/>
              </a:spcBef>
              <a:spcAft>
                <a:spcPts val="600"/>
              </a:spcAft>
            </a:pPr>
            <a:r>
              <a:rPr lang="en-US" sz="2000" dirty="0"/>
              <a:t>Local communities </a:t>
            </a:r>
            <a:r>
              <a:rPr lang="en-US" sz="2000" dirty="0" smtClean="0"/>
              <a:t>preferences such as: </a:t>
            </a:r>
            <a:endParaRPr lang="en-US" sz="2000" dirty="0"/>
          </a:p>
          <a:p>
            <a:pPr marL="714375" lvl="0" indent="-352425">
              <a:spcBef>
                <a:spcPts val="600"/>
              </a:spcBef>
              <a:spcAft>
                <a:spcPts val="600"/>
              </a:spcAft>
              <a:buSzPct val="100000"/>
              <a:buFont typeface="Arial" panose="020B0604020202020204" pitchFamily="34" charset="0"/>
              <a:buChar char="•"/>
            </a:pPr>
            <a:r>
              <a:rPr lang="en-US" sz="2000" dirty="0"/>
              <a:t>Preferred type of </a:t>
            </a:r>
            <a:r>
              <a:rPr lang="en-US" sz="2000" dirty="0" smtClean="0"/>
              <a:t>tourism: </a:t>
            </a:r>
            <a:endParaRPr lang="en-US" sz="2000" dirty="0"/>
          </a:p>
          <a:p>
            <a:pPr marL="1076325" indent="-361950">
              <a:spcBef>
                <a:spcPts val="600"/>
              </a:spcBef>
              <a:spcAft>
                <a:spcPts val="600"/>
              </a:spcAft>
              <a:buSzPct val="100000"/>
              <a:buFont typeface="Wingdings" panose="05000000000000000000" pitchFamily="2" charset="2"/>
              <a:buChar char="§"/>
            </a:pPr>
            <a:r>
              <a:rPr lang="en-US" sz="2000" dirty="0"/>
              <a:t>Do they favor building on existing visitors type if they have a base of week end visitors coming for the Sunday morning local arts and craft market: Why? Why </a:t>
            </a:r>
            <a:r>
              <a:rPr lang="en-US" sz="2000" dirty="0" smtClean="0"/>
              <a:t>not?</a:t>
            </a:r>
            <a:endParaRPr lang="en-US" sz="2000" dirty="0"/>
          </a:p>
          <a:p>
            <a:pPr marL="1076325" indent="-361950">
              <a:spcBef>
                <a:spcPts val="600"/>
              </a:spcBef>
              <a:spcAft>
                <a:spcPts val="600"/>
              </a:spcAft>
              <a:buSzPct val="100000"/>
              <a:buFont typeface="Wingdings" panose="05000000000000000000" pitchFamily="2" charset="2"/>
              <a:buChar char="§"/>
            </a:pPr>
            <a:r>
              <a:rPr lang="en-US" sz="2000" dirty="0"/>
              <a:t>Do they want to become of ‘specific destination’ : ecotourism, adventure, arts and craft, local culture: Why? Why not?</a:t>
            </a:r>
          </a:p>
          <a:p>
            <a:pPr marL="0" indent="0">
              <a:spcBef>
                <a:spcPts val="600"/>
              </a:spcBef>
              <a:spcAft>
                <a:spcPts val="600"/>
              </a:spcAft>
              <a:buNone/>
            </a:pPr>
            <a:endParaRPr lang="en-AU"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spTree>
    <p:extLst>
      <p:ext uri="{BB962C8B-B14F-4D97-AF65-F5344CB8AC3E}">
        <p14:creationId xmlns:p14="http://schemas.microsoft.com/office/powerpoint/2010/main" val="2760733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177755"/>
          </a:xfrm>
        </p:spPr>
        <p:txBody>
          <a:bodyPr>
            <a:normAutofit/>
          </a:bodyPr>
          <a:lstStyle/>
          <a:p>
            <a:pPr marL="0" indent="0">
              <a:spcBef>
                <a:spcPts val="600"/>
              </a:spcBef>
              <a:spcAft>
                <a:spcPts val="1200"/>
              </a:spcAft>
              <a:buNone/>
            </a:pPr>
            <a:r>
              <a:rPr lang="en-AU" sz="2000" b="1" dirty="0" smtClean="0">
                <a:latin typeface="Helevetica"/>
              </a:rPr>
              <a:t>Data gathering and clarification</a:t>
            </a:r>
          </a:p>
          <a:p>
            <a:pPr marL="0" indent="0">
              <a:spcBef>
                <a:spcPts val="600"/>
              </a:spcBef>
              <a:spcAft>
                <a:spcPts val="1200"/>
              </a:spcAft>
              <a:buNone/>
            </a:pPr>
            <a:r>
              <a:rPr lang="en-AU" sz="2000" dirty="0">
                <a:latin typeface="Helevetica"/>
              </a:rPr>
              <a:t>Identifying and cataloguing existing local resources is another research </a:t>
            </a:r>
            <a:r>
              <a:rPr lang="en-AU" sz="2000" dirty="0" smtClean="0">
                <a:latin typeface="Helevetica"/>
              </a:rPr>
              <a:t>component. </a:t>
            </a:r>
          </a:p>
          <a:p>
            <a:pPr marL="0" indent="0">
              <a:spcBef>
                <a:spcPts val="600"/>
              </a:spcBef>
              <a:spcAft>
                <a:spcPts val="1200"/>
              </a:spcAft>
              <a:buNone/>
            </a:pPr>
            <a:r>
              <a:rPr lang="en-AU" sz="2000" dirty="0" smtClean="0">
                <a:latin typeface="Helevetica"/>
              </a:rPr>
              <a:t>This </a:t>
            </a:r>
            <a:r>
              <a:rPr lang="en-AU" sz="2000" dirty="0">
                <a:latin typeface="Helevetica"/>
              </a:rPr>
              <a:t>information will be used to get a clear picture of the local area and communities potential </a:t>
            </a:r>
            <a:r>
              <a:rPr lang="en-AU" sz="2000" dirty="0" smtClean="0">
                <a:latin typeface="Helevetica"/>
              </a:rPr>
              <a:t>needs.</a:t>
            </a:r>
          </a:p>
          <a:p>
            <a:pPr marL="0" indent="0">
              <a:spcBef>
                <a:spcPts val="600"/>
              </a:spcBef>
              <a:spcAft>
                <a:spcPts val="1200"/>
              </a:spcAft>
              <a:buNone/>
            </a:pPr>
            <a:r>
              <a:rPr lang="en-US" sz="2000" dirty="0" smtClean="0">
                <a:latin typeface="Helevetica"/>
              </a:rPr>
              <a:t>Resources can be: </a:t>
            </a:r>
            <a:endParaRPr lang="en-AU" sz="2000" dirty="0" smtClean="0">
              <a:latin typeface="Helevetica"/>
            </a:endParaRPr>
          </a:p>
          <a:p>
            <a:pPr marL="342900" indent="-342900">
              <a:spcBef>
                <a:spcPts val="600"/>
              </a:spcBef>
              <a:spcAft>
                <a:spcPts val="1200"/>
              </a:spcAft>
            </a:pPr>
            <a:r>
              <a:rPr lang="en-AU" sz="2000" dirty="0" smtClean="0">
                <a:latin typeface="Helevetica"/>
              </a:rPr>
              <a:t>Industry based</a:t>
            </a:r>
          </a:p>
          <a:p>
            <a:pPr marL="342900" indent="-342900">
              <a:spcBef>
                <a:spcPts val="600"/>
              </a:spcBef>
              <a:spcAft>
                <a:spcPts val="1200"/>
              </a:spcAft>
            </a:pPr>
            <a:r>
              <a:rPr lang="en-AU" sz="2000" dirty="0" smtClean="0">
                <a:latin typeface="Helevetica"/>
              </a:rPr>
              <a:t>Community based</a:t>
            </a:r>
            <a:endParaRPr lang="en-US" sz="2000" dirty="0">
              <a:latin typeface="Helevetica"/>
            </a:endParaRPr>
          </a:p>
          <a:p>
            <a:pPr marL="0" indent="0">
              <a:spcBef>
                <a:spcPts val="600"/>
              </a:spcBef>
              <a:spcAft>
                <a:spcPts val="1200"/>
              </a:spcAft>
              <a:buNone/>
            </a:pPr>
            <a:endParaRPr lang="en-AU"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4492" y="3886200"/>
            <a:ext cx="2256083" cy="1953768"/>
          </a:xfrm>
          <a:prstGeom prst="rect">
            <a:avLst/>
          </a:prstGeom>
        </p:spPr>
      </p:pic>
    </p:spTree>
    <p:extLst>
      <p:ext uri="{BB962C8B-B14F-4D97-AF65-F5344CB8AC3E}">
        <p14:creationId xmlns:p14="http://schemas.microsoft.com/office/powerpoint/2010/main" val="36204560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8303840" cy="12954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618040" cy="4419600"/>
          </a:xfrm>
        </p:spPr>
        <p:txBody>
          <a:bodyPr>
            <a:normAutofit/>
          </a:bodyPr>
          <a:lstStyle/>
          <a:p>
            <a:pPr marL="0" indent="0">
              <a:spcBef>
                <a:spcPts val="600"/>
              </a:spcBef>
              <a:spcAft>
                <a:spcPts val="1200"/>
              </a:spcAft>
              <a:buNone/>
            </a:pPr>
            <a:r>
              <a:rPr lang="en-AU" sz="2000" b="1" dirty="0" smtClean="0">
                <a:latin typeface="Helevetica"/>
              </a:rPr>
              <a:t>Data gathering and clarification</a:t>
            </a:r>
          </a:p>
          <a:p>
            <a:pPr marL="342900" indent="-342900">
              <a:spcBef>
                <a:spcPts val="600"/>
              </a:spcBef>
              <a:spcAft>
                <a:spcPts val="1200"/>
              </a:spcAft>
              <a:buNone/>
            </a:pPr>
            <a:r>
              <a:rPr lang="en-AU" sz="2000" dirty="0" smtClean="0">
                <a:latin typeface="Helevetica"/>
              </a:rPr>
              <a:t>Industry based resources can be: </a:t>
            </a:r>
          </a:p>
          <a:p>
            <a:pPr marL="342900" indent="-342900">
              <a:spcBef>
                <a:spcPts val="600"/>
              </a:spcBef>
              <a:spcAft>
                <a:spcPts val="1200"/>
              </a:spcAft>
            </a:pPr>
            <a:r>
              <a:rPr lang="en-AU" sz="2000" dirty="0" smtClean="0">
                <a:latin typeface="Helevetica"/>
              </a:rPr>
              <a:t>Local government data bases</a:t>
            </a:r>
          </a:p>
          <a:p>
            <a:pPr marL="342900" indent="-342900">
              <a:spcBef>
                <a:spcPts val="600"/>
              </a:spcBef>
              <a:spcAft>
                <a:spcPts val="1200"/>
              </a:spcAft>
            </a:pPr>
            <a:r>
              <a:rPr lang="en-AU" sz="2000" dirty="0" smtClean="0">
                <a:latin typeface="Helevetica"/>
              </a:rPr>
              <a:t>Local tourism associations, other industry </a:t>
            </a:r>
            <a:br>
              <a:rPr lang="en-AU" sz="2000" dirty="0" smtClean="0">
                <a:latin typeface="Helevetica"/>
              </a:rPr>
            </a:br>
            <a:r>
              <a:rPr lang="en-AU" sz="2000" dirty="0" smtClean="0">
                <a:latin typeface="Helevetica"/>
              </a:rPr>
              <a:t>bodies data bases and knowledge</a:t>
            </a:r>
          </a:p>
          <a:p>
            <a:pPr marL="342900" indent="-342900">
              <a:spcBef>
                <a:spcPts val="600"/>
              </a:spcBef>
              <a:spcAft>
                <a:spcPts val="1200"/>
              </a:spcAft>
            </a:pPr>
            <a:r>
              <a:rPr lang="en-US" sz="2000" dirty="0" smtClean="0">
                <a:latin typeface="Helevetica"/>
              </a:rPr>
              <a:t>Grants potential</a:t>
            </a:r>
          </a:p>
          <a:p>
            <a:pPr marL="342900" indent="-342900">
              <a:spcBef>
                <a:spcPts val="600"/>
              </a:spcBef>
              <a:spcAft>
                <a:spcPts val="1200"/>
              </a:spcAft>
            </a:pPr>
            <a:r>
              <a:rPr lang="en-US" sz="2000" dirty="0" smtClean="0">
                <a:latin typeface="Helevetica"/>
              </a:rPr>
              <a:t>Sponsorship potential</a:t>
            </a:r>
          </a:p>
          <a:p>
            <a:pPr marL="342900" indent="-342900">
              <a:spcBef>
                <a:spcPts val="600"/>
              </a:spcBef>
              <a:spcAft>
                <a:spcPts val="1200"/>
              </a:spcAft>
            </a:pPr>
            <a:r>
              <a:rPr lang="en-US" sz="2000" dirty="0" smtClean="0">
                <a:latin typeface="Helevetica"/>
              </a:rPr>
              <a:t>Human resources expertise</a:t>
            </a:r>
            <a:endParaRPr lang="en-US" sz="2000" dirty="0">
              <a:latin typeface="Helevetica"/>
            </a:endParaRPr>
          </a:p>
          <a:p>
            <a:pPr marL="0" indent="0">
              <a:spcBef>
                <a:spcPts val="600"/>
              </a:spcBef>
              <a:spcAft>
                <a:spcPts val="1200"/>
              </a:spcAft>
              <a:buNone/>
            </a:pPr>
            <a:endParaRPr lang="en-AU"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7400" y="2743200"/>
            <a:ext cx="2373010" cy="2057400"/>
          </a:xfrm>
          <a:prstGeom prst="rect">
            <a:avLst/>
          </a:prstGeom>
        </p:spPr>
      </p:pic>
    </p:spTree>
    <p:extLst>
      <p:ext uri="{BB962C8B-B14F-4D97-AF65-F5344CB8AC3E}">
        <p14:creationId xmlns:p14="http://schemas.microsoft.com/office/powerpoint/2010/main" val="38723521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3716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648200"/>
          </a:xfrm>
        </p:spPr>
        <p:txBody>
          <a:bodyPr>
            <a:normAutofit/>
          </a:bodyPr>
          <a:lstStyle/>
          <a:p>
            <a:pPr marL="0" indent="0">
              <a:spcBef>
                <a:spcPts val="600"/>
              </a:spcBef>
              <a:spcAft>
                <a:spcPts val="1200"/>
              </a:spcAft>
              <a:buNone/>
            </a:pPr>
            <a:r>
              <a:rPr lang="en-AU" sz="2200" b="1" dirty="0" smtClean="0">
                <a:latin typeface="Helevetica"/>
              </a:rPr>
              <a:t>Data gathering and clarification</a:t>
            </a:r>
          </a:p>
          <a:p>
            <a:pPr marL="342900" indent="-342900">
              <a:spcBef>
                <a:spcPts val="600"/>
              </a:spcBef>
              <a:spcAft>
                <a:spcPts val="1200"/>
              </a:spcAft>
              <a:buNone/>
            </a:pPr>
            <a:r>
              <a:rPr lang="en-AU" sz="2200" dirty="0" smtClean="0">
                <a:latin typeface="Helevetica"/>
              </a:rPr>
              <a:t>Community based resources can be: </a:t>
            </a:r>
          </a:p>
          <a:p>
            <a:pPr marL="342900" indent="-342900">
              <a:spcBef>
                <a:spcPts val="600"/>
              </a:spcBef>
              <a:spcAft>
                <a:spcPts val="1200"/>
              </a:spcAft>
            </a:pPr>
            <a:r>
              <a:rPr lang="en-AU" sz="2200" dirty="0" smtClean="0">
                <a:latin typeface="Helevetica"/>
              </a:rPr>
              <a:t>Local individual tourism operators </a:t>
            </a:r>
            <a:br>
              <a:rPr lang="en-AU" sz="2200" dirty="0" smtClean="0">
                <a:latin typeface="Helevetica"/>
              </a:rPr>
            </a:br>
            <a:r>
              <a:rPr lang="en-AU" sz="2200" dirty="0" smtClean="0">
                <a:latin typeface="Helevetica"/>
              </a:rPr>
              <a:t>readiness to contribute to the </a:t>
            </a:r>
            <a:br>
              <a:rPr lang="en-AU" sz="2200" dirty="0" smtClean="0">
                <a:latin typeface="Helevetica"/>
              </a:rPr>
            </a:br>
            <a:r>
              <a:rPr lang="en-AU" sz="2200" dirty="0" smtClean="0">
                <a:latin typeface="Helevetica"/>
              </a:rPr>
              <a:t>proposed plans</a:t>
            </a:r>
          </a:p>
          <a:p>
            <a:pPr marL="342900" indent="-342900">
              <a:spcBef>
                <a:spcPts val="600"/>
              </a:spcBef>
              <a:spcAft>
                <a:spcPts val="1200"/>
              </a:spcAft>
            </a:pPr>
            <a:r>
              <a:rPr lang="en-AU" sz="2200" dirty="0" smtClean="0">
                <a:latin typeface="Helevetica"/>
              </a:rPr>
              <a:t>Local skills profile</a:t>
            </a:r>
          </a:p>
          <a:p>
            <a:pPr marL="342900" indent="-342900">
              <a:spcBef>
                <a:spcPts val="600"/>
              </a:spcBef>
              <a:spcAft>
                <a:spcPts val="1200"/>
              </a:spcAft>
            </a:pPr>
            <a:r>
              <a:rPr lang="en-US" sz="2200" dirty="0" smtClean="0">
                <a:latin typeface="Helevetica"/>
              </a:rPr>
              <a:t>Local infrastructure: extent and condition</a:t>
            </a:r>
          </a:p>
          <a:p>
            <a:pPr marL="342900" indent="-342900">
              <a:spcBef>
                <a:spcPts val="600"/>
              </a:spcBef>
              <a:spcAft>
                <a:spcPts val="1200"/>
              </a:spcAft>
            </a:pPr>
            <a:r>
              <a:rPr lang="en-US" sz="2200" dirty="0" smtClean="0">
                <a:latin typeface="Helevetica"/>
              </a:rPr>
              <a:t>Current destination and community market position</a:t>
            </a:r>
          </a:p>
          <a:p>
            <a:pPr marL="0" indent="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72175" y="2514600"/>
            <a:ext cx="2133600" cy="2133600"/>
          </a:xfrm>
          <a:prstGeom prst="rect">
            <a:avLst/>
          </a:prstGeom>
        </p:spPr>
      </p:pic>
    </p:spTree>
    <p:extLst>
      <p:ext uri="{BB962C8B-B14F-4D97-AF65-F5344CB8AC3E}">
        <p14:creationId xmlns:p14="http://schemas.microsoft.com/office/powerpoint/2010/main" val="38723521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8303840" cy="1447800"/>
          </a:xfrm>
        </p:spPr>
        <p:txBody>
          <a:bodyPr>
            <a:normAutofit fontScale="90000"/>
          </a:bodyPr>
          <a:lstStyle/>
          <a:p>
            <a:r>
              <a:rPr lang="en-US" sz="3400" b="1" dirty="0" smtClean="0">
                <a:solidFill>
                  <a:srgbClr val="FF6600"/>
                </a:solidFill>
                <a:latin typeface="Helvetica" pitchFamily="34" charset="0"/>
              </a:rPr>
              <a:t>E1 Research local tourism opportunities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1.5 Conduct research on the local area and communities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343400"/>
          </a:xfrm>
        </p:spPr>
        <p:txBody>
          <a:bodyPr>
            <a:normAutofit/>
          </a:bodyPr>
          <a:lstStyle/>
          <a:p>
            <a:pPr marL="0" indent="0">
              <a:spcBef>
                <a:spcPts val="600"/>
              </a:spcBef>
              <a:spcAft>
                <a:spcPts val="1200"/>
              </a:spcAft>
              <a:buNone/>
            </a:pPr>
            <a:r>
              <a:rPr lang="en-AU" sz="2200" b="1" dirty="0" smtClean="0">
                <a:latin typeface="Helevetica"/>
              </a:rPr>
              <a:t>Data recording </a:t>
            </a:r>
          </a:p>
          <a:p>
            <a:pPr marL="0" indent="0">
              <a:spcBef>
                <a:spcPts val="600"/>
              </a:spcBef>
              <a:spcAft>
                <a:spcPts val="1200"/>
              </a:spcAft>
              <a:buNone/>
            </a:pPr>
            <a:r>
              <a:rPr lang="en-AU" sz="2200" dirty="0" smtClean="0">
                <a:latin typeface="Helevetica"/>
              </a:rPr>
              <a:t>The final step of this stage is to record the data so it can be interpreted.</a:t>
            </a:r>
          </a:p>
          <a:p>
            <a:pPr marL="342900" indent="-342900">
              <a:spcBef>
                <a:spcPts val="600"/>
              </a:spcBef>
              <a:spcAft>
                <a:spcPts val="1200"/>
              </a:spcAft>
              <a:buNone/>
            </a:pPr>
            <a:r>
              <a:rPr lang="en-US" sz="2200" dirty="0" smtClean="0">
                <a:latin typeface="Helevetica"/>
              </a:rPr>
              <a:t>Data can be recorded in: </a:t>
            </a:r>
            <a:endParaRPr lang="en-AU" sz="2200" dirty="0" smtClean="0">
              <a:latin typeface="Helevetica"/>
            </a:endParaRPr>
          </a:p>
          <a:p>
            <a:pPr marL="342900" indent="-342900">
              <a:spcBef>
                <a:spcPts val="600"/>
              </a:spcBef>
              <a:spcAft>
                <a:spcPts val="1200"/>
              </a:spcAft>
            </a:pPr>
            <a:r>
              <a:rPr lang="en-AU" sz="2200" dirty="0" smtClean="0">
                <a:latin typeface="Helevetica"/>
              </a:rPr>
              <a:t>Hard format</a:t>
            </a:r>
          </a:p>
          <a:p>
            <a:pPr marL="342900" indent="-342900">
              <a:spcBef>
                <a:spcPts val="600"/>
              </a:spcBef>
              <a:spcAft>
                <a:spcPts val="1200"/>
              </a:spcAft>
            </a:pPr>
            <a:r>
              <a:rPr lang="en-US" sz="2200" dirty="0" smtClean="0">
                <a:latin typeface="Helevetica"/>
              </a:rPr>
              <a:t>Soft format</a:t>
            </a:r>
          </a:p>
          <a:p>
            <a:pPr marL="0" indent="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43400" y="3733800"/>
            <a:ext cx="2390023" cy="1453134"/>
          </a:xfrm>
          <a:prstGeom prst="rect">
            <a:avLst/>
          </a:prstGeom>
        </p:spPr>
      </p:pic>
    </p:spTree>
    <p:extLst>
      <p:ext uri="{BB962C8B-B14F-4D97-AF65-F5344CB8AC3E}">
        <p14:creationId xmlns:p14="http://schemas.microsoft.com/office/powerpoint/2010/main" val="38723521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962744"/>
          </a:xfrm>
        </p:spPr>
        <p:txBody>
          <a:bodyPr>
            <a:normAutofit/>
          </a:bodyPr>
          <a:lstStyle/>
          <a:p>
            <a:r>
              <a:rPr lang="en-US" sz="3400" b="1" dirty="0" smtClean="0">
                <a:solidFill>
                  <a:srgbClr val="FF6600"/>
                </a:solidFill>
                <a:latin typeface="Helvetica" pitchFamily="34" charset="0"/>
              </a:rPr>
              <a:t>Element 2 Interpret research results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7467600" cy="4711155"/>
          </a:xfrm>
        </p:spPr>
        <p:txBody>
          <a:bodyPr>
            <a:normAutofit/>
          </a:bodyPr>
          <a:lstStyle/>
          <a:p>
            <a:pPr marL="457200" indent="-457200">
              <a:spcBef>
                <a:spcPts val="600"/>
              </a:spcBef>
              <a:spcAft>
                <a:spcPts val="1200"/>
              </a:spcAft>
              <a:buNone/>
            </a:pPr>
            <a:r>
              <a:rPr lang="en-US" sz="2200" b="1" dirty="0" smtClean="0">
                <a:latin typeface="Helvetica" pitchFamily="34" charset="0"/>
              </a:rPr>
              <a:t>This element has 5 criteria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grpSp>
        <p:nvGrpSpPr>
          <p:cNvPr id="6" name="Group 5"/>
          <p:cNvGrpSpPr/>
          <p:nvPr/>
        </p:nvGrpSpPr>
        <p:grpSpPr>
          <a:xfrm>
            <a:off x="685800" y="2057400"/>
            <a:ext cx="7010400" cy="3985201"/>
            <a:chOff x="685800" y="2160299"/>
            <a:chExt cx="7620000" cy="3985201"/>
          </a:xfrm>
        </p:grpSpPr>
        <p:sp>
          <p:nvSpPr>
            <p:cNvPr id="7" name="Rectangle 6"/>
            <p:cNvSpPr/>
            <p:nvPr/>
          </p:nvSpPr>
          <p:spPr>
            <a:xfrm>
              <a:off x="685800" y="2425979"/>
              <a:ext cx="76200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8" name="Freeform 7"/>
            <p:cNvSpPr/>
            <p:nvPr/>
          </p:nvSpPr>
          <p:spPr>
            <a:xfrm>
              <a:off x="1066800" y="2160299"/>
              <a:ext cx="6327913" cy="531360"/>
            </a:xfrm>
            <a:custGeom>
              <a:avLst/>
              <a:gdLst>
                <a:gd name="connsiteX0" fmla="*/ 0 w 5334000"/>
                <a:gd name="connsiteY0" fmla="*/ 88562 h 531360"/>
                <a:gd name="connsiteX1" fmla="*/ 88562 w 5334000"/>
                <a:gd name="connsiteY1" fmla="*/ 0 h 531360"/>
                <a:gd name="connsiteX2" fmla="*/ 5245438 w 5334000"/>
                <a:gd name="connsiteY2" fmla="*/ 0 h 531360"/>
                <a:gd name="connsiteX3" fmla="*/ 5334000 w 5334000"/>
                <a:gd name="connsiteY3" fmla="*/ 88562 h 531360"/>
                <a:gd name="connsiteX4" fmla="*/ 5334000 w 5334000"/>
                <a:gd name="connsiteY4" fmla="*/ 442798 h 531360"/>
                <a:gd name="connsiteX5" fmla="*/ 5245438 w 5334000"/>
                <a:gd name="connsiteY5" fmla="*/ 531360 h 531360"/>
                <a:gd name="connsiteX6" fmla="*/ 88562 w 5334000"/>
                <a:gd name="connsiteY6" fmla="*/ 531360 h 531360"/>
                <a:gd name="connsiteX7" fmla="*/ 0 w 5334000"/>
                <a:gd name="connsiteY7" fmla="*/ 442798 h 531360"/>
                <a:gd name="connsiteX8" fmla="*/ 0 w 533400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531360">
                  <a:moveTo>
                    <a:pt x="0" y="88562"/>
                  </a:moveTo>
                  <a:cubicBezTo>
                    <a:pt x="0" y="39651"/>
                    <a:pt x="39651" y="0"/>
                    <a:pt x="88562" y="0"/>
                  </a:cubicBezTo>
                  <a:lnTo>
                    <a:pt x="5245438" y="0"/>
                  </a:lnTo>
                  <a:cubicBezTo>
                    <a:pt x="5294349" y="0"/>
                    <a:pt x="5334000" y="39651"/>
                    <a:pt x="5334000" y="88562"/>
                  </a:cubicBezTo>
                  <a:lnTo>
                    <a:pt x="5334000" y="442798"/>
                  </a:lnTo>
                  <a:cubicBezTo>
                    <a:pt x="5334000" y="491709"/>
                    <a:pt x="5294349" y="531360"/>
                    <a:pt x="524543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7552" tIns="25939" rIns="227552" bIns="25939" numCol="1" spcCol="1270" anchor="ctr" anchorCtr="0">
              <a:noAutofit/>
            </a:bodyPr>
            <a:lstStyle/>
            <a:p>
              <a:pPr lvl="0" algn="l" defTabSz="622300">
                <a:lnSpc>
                  <a:spcPct val="90000"/>
                </a:lnSpc>
                <a:spcBef>
                  <a:spcPct val="0"/>
                </a:spcBef>
                <a:spcAft>
                  <a:spcPct val="35000"/>
                </a:spcAft>
              </a:pPr>
              <a:r>
                <a:rPr lang="en-AU" sz="1400" b="1" kern="1200" noProof="0" dirty="0" smtClean="0">
                  <a:latin typeface="Helvetica" pitchFamily="34" charset="0"/>
                </a:rPr>
                <a:t>Analyse the information collected from all sources </a:t>
              </a:r>
              <a:endParaRPr lang="en-AU" sz="1400" b="1" kern="1200" noProof="0" dirty="0"/>
            </a:p>
          </p:txBody>
        </p:sp>
        <p:sp>
          <p:nvSpPr>
            <p:cNvPr id="9" name="Rectangle 8"/>
            <p:cNvSpPr/>
            <p:nvPr/>
          </p:nvSpPr>
          <p:spPr>
            <a:xfrm>
              <a:off x="685800" y="3242459"/>
              <a:ext cx="76200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 name="Freeform 9"/>
            <p:cNvSpPr/>
            <p:nvPr/>
          </p:nvSpPr>
          <p:spPr>
            <a:xfrm>
              <a:off x="1066800" y="2976779"/>
              <a:ext cx="6327913" cy="531360"/>
            </a:xfrm>
            <a:custGeom>
              <a:avLst/>
              <a:gdLst>
                <a:gd name="connsiteX0" fmla="*/ 0 w 5334000"/>
                <a:gd name="connsiteY0" fmla="*/ 88562 h 531360"/>
                <a:gd name="connsiteX1" fmla="*/ 88562 w 5334000"/>
                <a:gd name="connsiteY1" fmla="*/ 0 h 531360"/>
                <a:gd name="connsiteX2" fmla="*/ 5245438 w 5334000"/>
                <a:gd name="connsiteY2" fmla="*/ 0 h 531360"/>
                <a:gd name="connsiteX3" fmla="*/ 5334000 w 5334000"/>
                <a:gd name="connsiteY3" fmla="*/ 88562 h 531360"/>
                <a:gd name="connsiteX4" fmla="*/ 5334000 w 5334000"/>
                <a:gd name="connsiteY4" fmla="*/ 442798 h 531360"/>
                <a:gd name="connsiteX5" fmla="*/ 5245438 w 5334000"/>
                <a:gd name="connsiteY5" fmla="*/ 531360 h 531360"/>
                <a:gd name="connsiteX6" fmla="*/ 88562 w 5334000"/>
                <a:gd name="connsiteY6" fmla="*/ 531360 h 531360"/>
                <a:gd name="connsiteX7" fmla="*/ 0 w 5334000"/>
                <a:gd name="connsiteY7" fmla="*/ 442798 h 531360"/>
                <a:gd name="connsiteX8" fmla="*/ 0 w 533400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531360">
                  <a:moveTo>
                    <a:pt x="0" y="88562"/>
                  </a:moveTo>
                  <a:cubicBezTo>
                    <a:pt x="0" y="39651"/>
                    <a:pt x="39651" y="0"/>
                    <a:pt x="88562" y="0"/>
                  </a:cubicBezTo>
                  <a:lnTo>
                    <a:pt x="5245438" y="0"/>
                  </a:lnTo>
                  <a:cubicBezTo>
                    <a:pt x="5294349" y="0"/>
                    <a:pt x="5334000" y="39651"/>
                    <a:pt x="5334000" y="88562"/>
                  </a:cubicBezTo>
                  <a:lnTo>
                    <a:pt x="5334000" y="442798"/>
                  </a:lnTo>
                  <a:cubicBezTo>
                    <a:pt x="5334000" y="491709"/>
                    <a:pt x="5294349" y="531360"/>
                    <a:pt x="524543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7552" tIns="25939" rIns="227552"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Identify impact of the research</a:t>
              </a:r>
              <a:endParaRPr lang="en-AU" sz="1400" b="1" kern="1200" dirty="0"/>
            </a:p>
          </p:txBody>
        </p:sp>
        <p:sp>
          <p:nvSpPr>
            <p:cNvPr id="11" name="Rectangle 10"/>
            <p:cNvSpPr/>
            <p:nvPr/>
          </p:nvSpPr>
          <p:spPr>
            <a:xfrm>
              <a:off x="685800" y="4058940"/>
              <a:ext cx="76200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066800" y="3793260"/>
              <a:ext cx="6327913" cy="531360"/>
            </a:xfrm>
            <a:custGeom>
              <a:avLst/>
              <a:gdLst>
                <a:gd name="connsiteX0" fmla="*/ 0 w 5334000"/>
                <a:gd name="connsiteY0" fmla="*/ 88562 h 531360"/>
                <a:gd name="connsiteX1" fmla="*/ 88562 w 5334000"/>
                <a:gd name="connsiteY1" fmla="*/ 0 h 531360"/>
                <a:gd name="connsiteX2" fmla="*/ 5245438 w 5334000"/>
                <a:gd name="connsiteY2" fmla="*/ 0 h 531360"/>
                <a:gd name="connsiteX3" fmla="*/ 5334000 w 5334000"/>
                <a:gd name="connsiteY3" fmla="*/ 88562 h 531360"/>
                <a:gd name="connsiteX4" fmla="*/ 5334000 w 5334000"/>
                <a:gd name="connsiteY4" fmla="*/ 442798 h 531360"/>
                <a:gd name="connsiteX5" fmla="*/ 5245438 w 5334000"/>
                <a:gd name="connsiteY5" fmla="*/ 531360 h 531360"/>
                <a:gd name="connsiteX6" fmla="*/ 88562 w 5334000"/>
                <a:gd name="connsiteY6" fmla="*/ 531360 h 531360"/>
                <a:gd name="connsiteX7" fmla="*/ 0 w 5334000"/>
                <a:gd name="connsiteY7" fmla="*/ 442798 h 531360"/>
                <a:gd name="connsiteX8" fmla="*/ 0 w 533400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531360">
                  <a:moveTo>
                    <a:pt x="0" y="88562"/>
                  </a:moveTo>
                  <a:cubicBezTo>
                    <a:pt x="0" y="39651"/>
                    <a:pt x="39651" y="0"/>
                    <a:pt x="88562" y="0"/>
                  </a:cubicBezTo>
                  <a:lnTo>
                    <a:pt x="5245438" y="0"/>
                  </a:lnTo>
                  <a:cubicBezTo>
                    <a:pt x="5294349" y="0"/>
                    <a:pt x="5334000" y="39651"/>
                    <a:pt x="5334000" y="88562"/>
                  </a:cubicBezTo>
                  <a:lnTo>
                    <a:pt x="5334000" y="442798"/>
                  </a:lnTo>
                  <a:cubicBezTo>
                    <a:pt x="5334000" y="491709"/>
                    <a:pt x="5294349" y="531360"/>
                    <a:pt x="524543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7552" tIns="25939" rIns="227552"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Communicate research results to stakeholder</a:t>
              </a:r>
              <a:endParaRPr lang="en-AU" sz="1400" b="1" kern="1200" dirty="0"/>
            </a:p>
          </p:txBody>
        </p:sp>
        <p:sp>
          <p:nvSpPr>
            <p:cNvPr id="13" name="Rectangle 12"/>
            <p:cNvSpPr/>
            <p:nvPr/>
          </p:nvSpPr>
          <p:spPr>
            <a:xfrm>
              <a:off x="685800" y="4875420"/>
              <a:ext cx="76200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4" name="Freeform 13"/>
            <p:cNvSpPr/>
            <p:nvPr/>
          </p:nvSpPr>
          <p:spPr>
            <a:xfrm>
              <a:off x="1066800" y="4609740"/>
              <a:ext cx="6327913" cy="531360"/>
            </a:xfrm>
            <a:custGeom>
              <a:avLst/>
              <a:gdLst>
                <a:gd name="connsiteX0" fmla="*/ 0 w 5334000"/>
                <a:gd name="connsiteY0" fmla="*/ 88562 h 531360"/>
                <a:gd name="connsiteX1" fmla="*/ 88562 w 5334000"/>
                <a:gd name="connsiteY1" fmla="*/ 0 h 531360"/>
                <a:gd name="connsiteX2" fmla="*/ 5245438 w 5334000"/>
                <a:gd name="connsiteY2" fmla="*/ 0 h 531360"/>
                <a:gd name="connsiteX3" fmla="*/ 5334000 w 5334000"/>
                <a:gd name="connsiteY3" fmla="*/ 88562 h 531360"/>
                <a:gd name="connsiteX4" fmla="*/ 5334000 w 5334000"/>
                <a:gd name="connsiteY4" fmla="*/ 442798 h 531360"/>
                <a:gd name="connsiteX5" fmla="*/ 5245438 w 5334000"/>
                <a:gd name="connsiteY5" fmla="*/ 531360 h 531360"/>
                <a:gd name="connsiteX6" fmla="*/ 88562 w 5334000"/>
                <a:gd name="connsiteY6" fmla="*/ 531360 h 531360"/>
                <a:gd name="connsiteX7" fmla="*/ 0 w 5334000"/>
                <a:gd name="connsiteY7" fmla="*/ 442798 h 531360"/>
                <a:gd name="connsiteX8" fmla="*/ 0 w 533400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531360">
                  <a:moveTo>
                    <a:pt x="0" y="88562"/>
                  </a:moveTo>
                  <a:cubicBezTo>
                    <a:pt x="0" y="39651"/>
                    <a:pt x="39651" y="0"/>
                    <a:pt x="88562" y="0"/>
                  </a:cubicBezTo>
                  <a:lnTo>
                    <a:pt x="5245438" y="0"/>
                  </a:lnTo>
                  <a:cubicBezTo>
                    <a:pt x="5294349" y="0"/>
                    <a:pt x="5334000" y="39651"/>
                    <a:pt x="5334000" y="88562"/>
                  </a:cubicBezTo>
                  <a:lnTo>
                    <a:pt x="5334000" y="442798"/>
                  </a:lnTo>
                  <a:cubicBezTo>
                    <a:pt x="5334000" y="491709"/>
                    <a:pt x="5294349" y="531360"/>
                    <a:pt x="524543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7552" tIns="25939" rIns="227552"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Use research results and feedback to guide future actions </a:t>
              </a:r>
              <a:endParaRPr lang="en-AU" sz="1400" b="1" kern="1200" dirty="0"/>
            </a:p>
          </p:txBody>
        </p:sp>
        <p:sp>
          <p:nvSpPr>
            <p:cNvPr id="15" name="Rectangle 14"/>
            <p:cNvSpPr/>
            <p:nvPr/>
          </p:nvSpPr>
          <p:spPr>
            <a:xfrm>
              <a:off x="685800" y="5691900"/>
              <a:ext cx="76200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6" name="Freeform 15"/>
            <p:cNvSpPr/>
            <p:nvPr/>
          </p:nvSpPr>
          <p:spPr>
            <a:xfrm>
              <a:off x="1066800" y="5426220"/>
              <a:ext cx="6327913" cy="531360"/>
            </a:xfrm>
            <a:custGeom>
              <a:avLst/>
              <a:gdLst>
                <a:gd name="connsiteX0" fmla="*/ 0 w 5334000"/>
                <a:gd name="connsiteY0" fmla="*/ 88562 h 531360"/>
                <a:gd name="connsiteX1" fmla="*/ 88562 w 5334000"/>
                <a:gd name="connsiteY1" fmla="*/ 0 h 531360"/>
                <a:gd name="connsiteX2" fmla="*/ 5245438 w 5334000"/>
                <a:gd name="connsiteY2" fmla="*/ 0 h 531360"/>
                <a:gd name="connsiteX3" fmla="*/ 5334000 w 5334000"/>
                <a:gd name="connsiteY3" fmla="*/ 88562 h 531360"/>
                <a:gd name="connsiteX4" fmla="*/ 5334000 w 5334000"/>
                <a:gd name="connsiteY4" fmla="*/ 442798 h 531360"/>
                <a:gd name="connsiteX5" fmla="*/ 5245438 w 5334000"/>
                <a:gd name="connsiteY5" fmla="*/ 531360 h 531360"/>
                <a:gd name="connsiteX6" fmla="*/ 88562 w 5334000"/>
                <a:gd name="connsiteY6" fmla="*/ 531360 h 531360"/>
                <a:gd name="connsiteX7" fmla="*/ 0 w 5334000"/>
                <a:gd name="connsiteY7" fmla="*/ 442798 h 531360"/>
                <a:gd name="connsiteX8" fmla="*/ 0 w 533400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531360">
                  <a:moveTo>
                    <a:pt x="0" y="88562"/>
                  </a:moveTo>
                  <a:cubicBezTo>
                    <a:pt x="0" y="39651"/>
                    <a:pt x="39651" y="0"/>
                    <a:pt x="88562" y="0"/>
                  </a:cubicBezTo>
                  <a:lnTo>
                    <a:pt x="5245438" y="0"/>
                  </a:lnTo>
                  <a:cubicBezTo>
                    <a:pt x="5294349" y="0"/>
                    <a:pt x="5334000" y="39651"/>
                    <a:pt x="5334000" y="88562"/>
                  </a:cubicBezTo>
                  <a:lnTo>
                    <a:pt x="5334000" y="442798"/>
                  </a:lnTo>
                  <a:cubicBezTo>
                    <a:pt x="5334000" y="491709"/>
                    <a:pt x="5294349" y="531360"/>
                    <a:pt x="524543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7552" tIns="25939" rIns="227552"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Confirm tourism opportunities to be pursued with the local communities and other relevant stakeholders</a:t>
              </a:r>
              <a:endParaRPr lang="en-AU" sz="1400" b="1" kern="1200" dirty="0"/>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467600" cy="13716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2.1 Analyse the information collected from all sources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572000"/>
          </a:xfrm>
        </p:spPr>
        <p:txBody>
          <a:bodyPr>
            <a:normAutofit/>
          </a:bodyPr>
          <a:lstStyle/>
          <a:p>
            <a:pPr marL="36576" indent="0">
              <a:spcBef>
                <a:spcPts val="600"/>
              </a:spcBef>
              <a:spcAft>
                <a:spcPts val="600"/>
              </a:spcAft>
              <a:buNone/>
            </a:pPr>
            <a:r>
              <a:rPr lang="en-AU" sz="2000" dirty="0" smtClean="0">
                <a:latin typeface="Helvetica" panose="020B0604020202020204" pitchFamily="34" charset="0"/>
                <a:cs typeface="Helvetica" panose="020B0604020202020204" pitchFamily="34" charset="0"/>
              </a:rPr>
              <a:t>Analysing, working </a:t>
            </a:r>
            <a:r>
              <a:rPr lang="en-AU" sz="2000" dirty="0">
                <a:latin typeface="Helvetica" panose="020B0604020202020204" pitchFamily="34" charset="0"/>
                <a:cs typeface="Helvetica" panose="020B0604020202020204" pitchFamily="34" charset="0"/>
              </a:rPr>
              <a:t>with research data is also referred to as ‘manipulating data’.</a:t>
            </a:r>
            <a:endParaRPr lang="en-US" sz="2000" dirty="0">
              <a:latin typeface="Helvetica" panose="020B0604020202020204" pitchFamily="34" charset="0"/>
              <a:cs typeface="Helvetica" panose="020B0604020202020204" pitchFamily="34" charset="0"/>
            </a:endParaRPr>
          </a:p>
          <a:p>
            <a:pPr marL="36576" indent="0">
              <a:spcBef>
                <a:spcPts val="600"/>
              </a:spcBef>
              <a:spcAft>
                <a:spcPts val="600"/>
              </a:spcAft>
              <a:buNone/>
            </a:pPr>
            <a:r>
              <a:rPr lang="en-AU" sz="2000" dirty="0">
                <a:latin typeface="Helvetica" panose="020B0604020202020204" pitchFamily="34" charset="0"/>
                <a:cs typeface="Helvetica" panose="020B0604020202020204" pitchFamily="34" charset="0"/>
              </a:rPr>
              <a:t>Activities commonly involved when manipulating data will address:</a:t>
            </a:r>
            <a:endParaRPr lang="en-US" sz="2000" dirty="0">
              <a:latin typeface="Helvetica" panose="020B0604020202020204" pitchFamily="34" charset="0"/>
              <a:cs typeface="Helvetica" panose="020B0604020202020204" pitchFamily="34" charset="0"/>
            </a:endParaRPr>
          </a:p>
          <a:p>
            <a:pPr marL="361950" indent="-361950">
              <a:spcBef>
                <a:spcPts val="600"/>
              </a:spcBef>
              <a:spcAft>
                <a:spcPts val="600"/>
              </a:spcAft>
            </a:pPr>
            <a:r>
              <a:rPr lang="en-AU" sz="2000" dirty="0" smtClean="0">
                <a:latin typeface="Helvetica" panose="020B0604020202020204" pitchFamily="34" charset="0"/>
                <a:cs typeface="Helvetica" panose="020B0604020202020204" pitchFamily="34" charset="0"/>
              </a:rPr>
              <a:t>Classifying of </a:t>
            </a:r>
            <a:r>
              <a:rPr lang="en-AU" sz="2000" dirty="0">
                <a:latin typeface="Helvetica" panose="020B0604020202020204" pitchFamily="34" charset="0"/>
                <a:cs typeface="Helvetica" panose="020B0604020202020204" pitchFamily="34" charset="0"/>
              </a:rPr>
              <a:t>all collected data whether it is statistical </a:t>
            </a:r>
            <a:r>
              <a:rPr lang="en-AU" sz="2000" dirty="0" smtClean="0">
                <a:latin typeface="Helvetica" panose="020B0604020202020204" pitchFamily="34" charset="0"/>
                <a:cs typeface="Helvetica" panose="020B0604020202020204" pitchFamily="34" charset="0"/>
              </a:rPr>
              <a:t>or other </a:t>
            </a:r>
            <a:r>
              <a:rPr lang="en-AU" sz="2000" dirty="0">
                <a:latin typeface="Helvetica" panose="020B0604020202020204" pitchFamily="34" charset="0"/>
                <a:cs typeface="Helvetica" panose="020B0604020202020204" pitchFamily="34" charset="0"/>
              </a:rPr>
              <a:t>and may be assembled around criteria such </a:t>
            </a:r>
            <a:r>
              <a:rPr lang="en-AU" sz="2000" dirty="0" smtClean="0">
                <a:latin typeface="Helvetica" panose="020B0604020202020204" pitchFamily="34" charset="0"/>
                <a:cs typeface="Helvetica" panose="020B0604020202020204" pitchFamily="34" charset="0"/>
              </a:rPr>
              <a:t>as:</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6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Generating trends, percentage, ratios, monetary terms</a:t>
            </a:r>
          </a:p>
          <a:p>
            <a:pPr marL="714375" lvl="0" indent="-352425">
              <a:spcBef>
                <a:spcPts val="600"/>
              </a:spcBef>
              <a:spcAft>
                <a:spcPts val="6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Data sources</a:t>
            </a:r>
          </a:p>
          <a:p>
            <a:pPr marL="714375" lvl="0" indent="-352425">
              <a:spcBef>
                <a:spcPts val="600"/>
              </a:spcBef>
              <a:spcAft>
                <a:spcPts val="6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Dates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7467600" cy="12954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2.1 Analyse the information collected from all sources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marL="36576" indent="0">
              <a:spcBef>
                <a:spcPts val="600"/>
              </a:spcBef>
              <a:spcAft>
                <a:spcPts val="600"/>
              </a:spcAft>
              <a:buNone/>
            </a:pPr>
            <a:r>
              <a:rPr lang="en-AU" sz="1800" dirty="0"/>
              <a:t>Data verification which can </a:t>
            </a:r>
            <a:r>
              <a:rPr lang="en-AU" sz="1800" dirty="0" smtClean="0"/>
              <a:t>include:</a:t>
            </a:r>
            <a:endParaRPr lang="en-US" sz="1800" dirty="0"/>
          </a:p>
          <a:p>
            <a:pPr lvl="0">
              <a:spcBef>
                <a:spcPts val="600"/>
              </a:spcBef>
              <a:spcAft>
                <a:spcPts val="600"/>
              </a:spcAft>
            </a:pPr>
            <a:r>
              <a:rPr lang="en-AU" sz="1800" dirty="0"/>
              <a:t>Making sure the raw data supplied is sufficient according to the pre-determined parameters/requirements of the research</a:t>
            </a:r>
            <a:endParaRPr lang="en-US" sz="1800" dirty="0"/>
          </a:p>
          <a:p>
            <a:pPr lvl="0">
              <a:spcBef>
                <a:spcPts val="600"/>
              </a:spcBef>
              <a:spcAft>
                <a:spcPts val="600"/>
              </a:spcAft>
            </a:pPr>
            <a:r>
              <a:rPr lang="en-AU" sz="1800" dirty="0"/>
              <a:t>Evaluating input from stakeholders taking into consideration potential bias that may exist</a:t>
            </a:r>
            <a:endParaRPr lang="en-US" sz="1800" dirty="0"/>
          </a:p>
          <a:p>
            <a:pPr lvl="0">
              <a:spcBef>
                <a:spcPts val="600"/>
              </a:spcBef>
              <a:spcAft>
                <a:spcPts val="600"/>
              </a:spcAft>
            </a:pPr>
            <a:r>
              <a:rPr lang="en-AU" sz="1800" dirty="0"/>
              <a:t>Ensuring the data is correctly entered into the appropriate classification</a:t>
            </a:r>
            <a:endParaRPr lang="en-US" sz="1800" dirty="0"/>
          </a:p>
          <a:p>
            <a:pPr lvl="0">
              <a:spcBef>
                <a:spcPts val="600"/>
              </a:spcBef>
              <a:spcAft>
                <a:spcPts val="600"/>
              </a:spcAft>
            </a:pPr>
            <a:r>
              <a:rPr lang="en-AU" sz="1800" dirty="0"/>
              <a:t>Clarifying unclear information with those who captured/generated the data – to make sure the facts recorded genuinely reflect the input made by the respondents, and to ignore material and data that is not verifiable</a:t>
            </a:r>
            <a:endParaRPr lang="en-US" sz="1800" dirty="0"/>
          </a:p>
          <a:p>
            <a:pPr lvl="0">
              <a:spcBef>
                <a:spcPts val="600"/>
              </a:spcBef>
              <a:spcAft>
                <a:spcPts val="600"/>
              </a:spcAft>
            </a:pPr>
            <a:r>
              <a:rPr lang="en-AU" sz="1800" dirty="0"/>
              <a:t>Following up as required – to collect additional information where insufficient data has been generated, or validating contributions that appear suspect</a:t>
            </a:r>
            <a:endParaRPr lang="en-US" sz="1800" dirty="0"/>
          </a:p>
          <a:p>
            <a:pPr marL="457200" indent="-4572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spTree>
    <p:extLst>
      <p:ext uri="{BB962C8B-B14F-4D97-AF65-F5344CB8AC3E}">
        <p14:creationId xmlns:p14="http://schemas.microsoft.com/office/powerpoint/2010/main" val="35197405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1430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2.1 Analyse the information collected from all sources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28800"/>
            <a:ext cx="7467600" cy="4876800"/>
          </a:xfrm>
        </p:spPr>
        <p:txBody>
          <a:bodyPr>
            <a:noAutofit/>
          </a:bodyPr>
          <a:lstStyle/>
          <a:p>
            <a:pPr marL="36576" indent="0">
              <a:spcBef>
                <a:spcPts val="600"/>
              </a:spcBef>
              <a:spcAft>
                <a:spcPts val="600"/>
              </a:spcAft>
              <a:buNone/>
            </a:pPr>
            <a:r>
              <a:rPr lang="en-AU" sz="1800" b="1" dirty="0">
                <a:latin typeface="Helevetica"/>
              </a:rPr>
              <a:t>Data analysis and interpretation to make sense of the information collected and  can include</a:t>
            </a:r>
            <a:endParaRPr lang="en-US" sz="1800" dirty="0">
              <a:latin typeface="Helevetica"/>
            </a:endParaRPr>
          </a:p>
          <a:p>
            <a:pPr marL="36576" indent="0">
              <a:spcBef>
                <a:spcPts val="600"/>
              </a:spcBef>
              <a:spcAft>
                <a:spcPts val="600"/>
              </a:spcAft>
              <a:buNone/>
            </a:pPr>
            <a:r>
              <a:rPr lang="en-AU" sz="1800" dirty="0" smtClean="0">
                <a:latin typeface="Helevetica"/>
              </a:rPr>
              <a:t>Performing </a:t>
            </a:r>
            <a:r>
              <a:rPr lang="en-AU" sz="1800" dirty="0">
                <a:latin typeface="Helevetica"/>
              </a:rPr>
              <a:t>a range of arithmetic, mathematical and statistical </a:t>
            </a:r>
            <a:r>
              <a:rPr lang="en-AU" sz="1800" dirty="0" smtClean="0">
                <a:latin typeface="Helevetica"/>
              </a:rPr>
              <a:t>   calculations </a:t>
            </a:r>
            <a:r>
              <a:rPr lang="en-AU" sz="1800" dirty="0">
                <a:latin typeface="Helevetica"/>
              </a:rPr>
              <a:t>and functions with the data </a:t>
            </a:r>
            <a:r>
              <a:rPr lang="en-AU" sz="1800" dirty="0" smtClean="0">
                <a:latin typeface="Helevetica"/>
              </a:rPr>
              <a:t>can </a:t>
            </a:r>
            <a:r>
              <a:rPr lang="en-AU" sz="1800" dirty="0">
                <a:latin typeface="Helevetica"/>
              </a:rPr>
              <a:t>include:</a:t>
            </a:r>
            <a:endParaRPr lang="en-US" sz="1800" dirty="0">
              <a:latin typeface="Helevetica"/>
            </a:endParaRPr>
          </a:p>
          <a:p>
            <a:pPr lvl="0">
              <a:spcBef>
                <a:spcPts val="600"/>
              </a:spcBef>
              <a:spcAft>
                <a:spcPts val="600"/>
              </a:spcAft>
            </a:pPr>
            <a:r>
              <a:rPr lang="en-AU" sz="1800" dirty="0">
                <a:latin typeface="Helevetica"/>
              </a:rPr>
              <a:t>Creating totals </a:t>
            </a:r>
            <a:endParaRPr lang="en-US" sz="1800" dirty="0">
              <a:latin typeface="Helevetica"/>
            </a:endParaRPr>
          </a:p>
          <a:p>
            <a:pPr lvl="0">
              <a:spcBef>
                <a:spcPts val="600"/>
              </a:spcBef>
              <a:spcAft>
                <a:spcPts val="600"/>
              </a:spcAft>
            </a:pPr>
            <a:r>
              <a:rPr lang="en-AU" sz="1800" dirty="0">
                <a:latin typeface="Helevetica"/>
              </a:rPr>
              <a:t>Generating ratios and percentages</a:t>
            </a:r>
            <a:endParaRPr lang="en-US" sz="1800" dirty="0">
              <a:latin typeface="Helevetica"/>
            </a:endParaRPr>
          </a:p>
          <a:p>
            <a:pPr lvl="0">
              <a:spcBef>
                <a:spcPts val="600"/>
              </a:spcBef>
              <a:spcAft>
                <a:spcPts val="600"/>
              </a:spcAft>
            </a:pPr>
            <a:r>
              <a:rPr lang="en-AU" sz="1800" dirty="0">
                <a:latin typeface="Helevetica"/>
              </a:rPr>
              <a:t>Developing tables and other statistical </a:t>
            </a:r>
            <a:r>
              <a:rPr lang="en-AU" sz="1800" dirty="0" smtClean="0">
                <a:latin typeface="Helevetica"/>
              </a:rPr>
              <a:t>or </a:t>
            </a:r>
            <a:br>
              <a:rPr lang="en-AU" sz="1800" dirty="0" smtClean="0">
                <a:latin typeface="Helevetica"/>
              </a:rPr>
            </a:br>
            <a:r>
              <a:rPr lang="en-AU" sz="1800" dirty="0" smtClean="0">
                <a:latin typeface="Helevetica"/>
              </a:rPr>
              <a:t>diagrammatic </a:t>
            </a:r>
            <a:r>
              <a:rPr lang="en-AU" sz="1800" dirty="0">
                <a:latin typeface="Helevetica"/>
              </a:rPr>
              <a:t>representations of the information</a:t>
            </a:r>
            <a:endParaRPr lang="en-US" sz="1800" dirty="0">
              <a:latin typeface="Helevetica"/>
            </a:endParaRPr>
          </a:p>
          <a:p>
            <a:pPr lvl="0">
              <a:spcBef>
                <a:spcPts val="600"/>
              </a:spcBef>
              <a:spcAft>
                <a:spcPts val="600"/>
              </a:spcAft>
            </a:pPr>
            <a:r>
              <a:rPr lang="en-AU" sz="1800" dirty="0">
                <a:latin typeface="Helevetica"/>
              </a:rPr>
              <a:t>Classifying the results of the research</a:t>
            </a:r>
            <a:endParaRPr lang="en-US" sz="1800" dirty="0">
              <a:latin typeface="Helevetica"/>
            </a:endParaRPr>
          </a:p>
          <a:p>
            <a:pPr lvl="0">
              <a:spcBef>
                <a:spcPts val="600"/>
              </a:spcBef>
              <a:spcAft>
                <a:spcPts val="600"/>
              </a:spcAft>
            </a:pPr>
            <a:r>
              <a:rPr lang="en-AU" sz="1800" dirty="0">
                <a:latin typeface="Helevetica"/>
              </a:rPr>
              <a:t>Quantifying the data</a:t>
            </a:r>
            <a:endParaRPr lang="en-US" sz="1800" dirty="0">
              <a:latin typeface="Helevetica"/>
            </a:endParaRPr>
          </a:p>
          <a:p>
            <a:pPr lvl="0">
              <a:spcBef>
                <a:spcPts val="600"/>
              </a:spcBef>
              <a:spcAft>
                <a:spcPts val="600"/>
              </a:spcAft>
            </a:pPr>
            <a:r>
              <a:rPr lang="en-AU" sz="1800" dirty="0">
                <a:latin typeface="Helevetica"/>
              </a:rPr>
              <a:t>Identifying trends</a:t>
            </a:r>
            <a:endParaRPr lang="en-US" sz="1800" dirty="0">
              <a:latin typeface="Helevetica"/>
            </a:endParaRPr>
          </a:p>
          <a:p>
            <a:pPr lvl="0">
              <a:spcBef>
                <a:spcPts val="600"/>
              </a:spcBef>
              <a:spcAft>
                <a:spcPts val="600"/>
              </a:spcAft>
            </a:pPr>
            <a:r>
              <a:rPr lang="en-AU" sz="1800" dirty="0">
                <a:latin typeface="Helevetica"/>
              </a:rPr>
              <a:t>Comparing outcomes/findings</a:t>
            </a:r>
            <a:endParaRPr lang="en-US" sz="1800" dirty="0">
              <a:latin typeface="Helevetica"/>
            </a:endParaRPr>
          </a:p>
          <a:p>
            <a:pPr marL="457200" indent="-457200">
              <a:spcBef>
                <a:spcPts val="600"/>
              </a:spcBef>
              <a:spcAft>
                <a:spcPts val="600"/>
              </a:spcAft>
              <a:buNone/>
            </a:pPr>
            <a:endParaRPr lang="en-US" sz="1800" dirty="0" smtClean="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4114800"/>
            <a:ext cx="2392986" cy="1670304"/>
          </a:xfrm>
          <a:prstGeom prst="rect">
            <a:avLst/>
          </a:prstGeom>
        </p:spPr>
      </p:pic>
    </p:spTree>
    <p:extLst>
      <p:ext uri="{BB962C8B-B14F-4D97-AF65-F5344CB8AC3E}">
        <p14:creationId xmlns:p14="http://schemas.microsoft.com/office/powerpoint/2010/main" val="156821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467600" cy="12954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2.1 Analyse the information collected from all sources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28800"/>
            <a:ext cx="7467600" cy="4253955"/>
          </a:xfrm>
        </p:spPr>
        <p:txBody>
          <a:bodyPr>
            <a:noAutofit/>
          </a:bodyPr>
          <a:lstStyle/>
          <a:p>
            <a:pPr marL="36576" indent="0">
              <a:spcBef>
                <a:spcPts val="600"/>
              </a:spcBef>
              <a:spcAft>
                <a:spcPts val="600"/>
              </a:spcAft>
              <a:buNone/>
            </a:pPr>
            <a:r>
              <a:rPr lang="en-AU" sz="1800" b="1" dirty="0">
                <a:latin typeface="Helvetica" panose="020B0604020202020204" pitchFamily="34" charset="0"/>
                <a:cs typeface="Helvetica" panose="020B0604020202020204" pitchFamily="34" charset="0"/>
              </a:rPr>
              <a:t>Production of a report on the research including findings and recommendations </a:t>
            </a:r>
            <a:endParaRPr lang="en-US" sz="1800" dirty="0">
              <a:latin typeface="Helvetica" panose="020B0604020202020204" pitchFamily="34" charset="0"/>
              <a:cs typeface="Helvetica" panose="020B0604020202020204" pitchFamily="34" charset="0"/>
            </a:endParaRPr>
          </a:p>
          <a:p>
            <a:pPr marL="36576" indent="0">
              <a:spcBef>
                <a:spcPts val="600"/>
              </a:spcBef>
              <a:spcAft>
                <a:spcPts val="600"/>
              </a:spcAft>
              <a:buNone/>
            </a:pPr>
            <a:r>
              <a:rPr lang="en-US" sz="1800" dirty="0">
                <a:latin typeface="Helvetica" panose="020B0604020202020204" pitchFamily="34" charset="0"/>
                <a:cs typeface="Helvetica" panose="020B0604020202020204" pitchFamily="34" charset="0"/>
              </a:rPr>
              <a:t>These findings and recommendations need to:</a:t>
            </a:r>
          </a:p>
          <a:p>
            <a:pPr lvl="0">
              <a:spcBef>
                <a:spcPts val="600"/>
              </a:spcBef>
              <a:spcAft>
                <a:spcPts val="600"/>
              </a:spcAft>
            </a:pPr>
            <a:r>
              <a:rPr lang="en-AU" sz="1800" dirty="0">
                <a:latin typeface="Helvetica" panose="020B0604020202020204" pitchFamily="34" charset="0"/>
                <a:cs typeface="Helvetica" panose="020B0604020202020204" pitchFamily="34" charset="0"/>
              </a:rPr>
              <a:t>Address the questions posed by the research – they need to shed light on the reasons the research was undertaken in the first place: a viable finding may be that more research needs to be done</a:t>
            </a:r>
            <a:endParaRPr lang="en-US" sz="1800" dirty="0">
              <a:latin typeface="Helvetica" panose="020B0604020202020204" pitchFamily="34" charset="0"/>
              <a:cs typeface="Helvetica" panose="020B0604020202020204"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Identify and/or provide evidence to support the SWOT (Strengths, Weaknesses, Opportunities and Threats) analysis components for the topic/s of the research – so a more ‘informed’ platform for action is established. The analysis itself that will be covered in another section  </a:t>
            </a:r>
            <a:endParaRPr lang="en-US" sz="18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spTree>
    <p:extLst>
      <p:ext uri="{BB962C8B-B14F-4D97-AF65-F5344CB8AC3E}">
        <p14:creationId xmlns:p14="http://schemas.microsoft.com/office/powerpoint/2010/main" val="20855020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3716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2.1 Analyse the information collected from all sources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Autofit/>
          </a:bodyPr>
          <a:lstStyle/>
          <a:p>
            <a:pPr marL="36576" indent="0">
              <a:spcBef>
                <a:spcPts val="600"/>
              </a:spcBef>
              <a:spcAft>
                <a:spcPts val="600"/>
              </a:spcAft>
              <a:buNone/>
            </a:pPr>
            <a:r>
              <a:rPr lang="en-AU" sz="2000" b="1" dirty="0">
                <a:latin typeface="Helvetica" panose="020B0604020202020204" pitchFamily="34" charset="0"/>
                <a:cs typeface="Helvetica" panose="020B0604020202020204" pitchFamily="34" charset="0"/>
              </a:rPr>
              <a:t>Production of a report on the research including findings and recommendations </a:t>
            </a:r>
            <a:endParaRPr lang="en-US" sz="2000" dirty="0">
              <a:latin typeface="Helvetica" panose="020B0604020202020204" pitchFamily="34" charset="0"/>
              <a:cs typeface="Helvetica" panose="020B0604020202020204" pitchFamily="34" charset="0"/>
            </a:endParaRPr>
          </a:p>
          <a:p>
            <a:pPr marL="36576" indent="0">
              <a:spcBef>
                <a:spcPts val="600"/>
              </a:spcBef>
              <a:spcAft>
                <a:spcPts val="600"/>
              </a:spcAft>
              <a:buNone/>
            </a:pPr>
            <a:r>
              <a:rPr lang="en-US" sz="2000" dirty="0">
                <a:latin typeface="Helvetica" panose="020B0604020202020204" pitchFamily="34" charset="0"/>
                <a:cs typeface="Helvetica" panose="020B0604020202020204" pitchFamily="34" charset="0"/>
              </a:rPr>
              <a:t>These findings and recommendations need to:</a:t>
            </a:r>
          </a:p>
          <a:p>
            <a:pPr lvl="0">
              <a:spcBef>
                <a:spcPts val="600"/>
              </a:spcBef>
              <a:spcAft>
                <a:spcPts val="600"/>
              </a:spcAft>
            </a:pPr>
            <a:r>
              <a:rPr lang="en-AU" sz="2000" dirty="0" smtClean="0">
                <a:latin typeface="Helvetica" panose="020B0604020202020204" pitchFamily="34" charset="0"/>
                <a:cs typeface="Helvetica" panose="020B0604020202020204" pitchFamily="34" charset="0"/>
              </a:rPr>
              <a:t>Produce </a:t>
            </a:r>
            <a:r>
              <a:rPr lang="en-AU" sz="2000" dirty="0">
                <a:latin typeface="Helvetica" panose="020B0604020202020204" pitchFamily="34" charset="0"/>
                <a:cs typeface="Helvetica" panose="020B0604020202020204" pitchFamily="34" charset="0"/>
              </a:rPr>
              <a:t>a set of conclusions which can be presented to stakeholders – for discussion</a:t>
            </a:r>
            <a:endParaRPr lang="en-US" sz="2000" dirty="0">
              <a:latin typeface="Helvetica" panose="020B0604020202020204" pitchFamily="34" charset="0"/>
              <a:cs typeface="Helvetica" panose="020B0604020202020204" pitchFamily="34" charset="0"/>
            </a:endParaRPr>
          </a:p>
          <a:p>
            <a:pPr lvl="0">
              <a:spcBef>
                <a:spcPts val="600"/>
              </a:spcBef>
              <a:spcAft>
                <a:spcPts val="600"/>
              </a:spcAft>
            </a:pPr>
            <a:r>
              <a:rPr lang="en-AU" sz="2000" dirty="0">
                <a:latin typeface="Helvetica" panose="020B0604020202020204" pitchFamily="34" charset="0"/>
                <a:cs typeface="Helvetica" panose="020B0604020202020204" pitchFamily="34" charset="0"/>
              </a:rPr>
              <a:t>Be written and formulated in such a way they allow or enable informed decisions to be made and suitable action to be taken – to move the initiative forward</a:t>
            </a:r>
            <a:endParaRPr lang="en-US" sz="2000" dirty="0">
              <a:latin typeface="Helvetica" panose="020B0604020202020204" pitchFamily="34" charset="0"/>
              <a:cs typeface="Helvetica" panose="020B0604020202020204" pitchFamily="34" charset="0"/>
            </a:endParaRPr>
          </a:p>
          <a:p>
            <a:pPr marL="457200" indent="-457200">
              <a:spcBef>
                <a:spcPts val="600"/>
              </a:spcBef>
              <a:spcAft>
                <a:spcPts val="600"/>
              </a:spcAft>
              <a:buNone/>
            </a:pPr>
            <a:endParaRPr lang="en-US" sz="2000" dirty="0" smtClean="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spTree>
    <p:extLst>
      <p:ext uri="{BB962C8B-B14F-4D97-AF65-F5344CB8AC3E}">
        <p14:creationId xmlns:p14="http://schemas.microsoft.com/office/powerpoint/2010/main" val="38950217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694240" cy="1143000"/>
          </a:xfrm>
        </p:spPr>
        <p:txBody>
          <a:bodyPr>
            <a:normAutofit/>
          </a:bodyPr>
          <a:lstStyle/>
          <a:p>
            <a:r>
              <a:rPr lang="en-US" sz="3100" b="1" dirty="0" smtClean="0">
                <a:solidFill>
                  <a:srgbClr val="FF6600"/>
                </a:solidFill>
                <a:latin typeface="Helvetica" pitchFamily="34" charset="0"/>
              </a:rPr>
              <a:t>E2 Interpret research results</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2.2 Identify impacts of the research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618040" cy="4572000"/>
          </a:xfrm>
        </p:spPr>
        <p:txBody>
          <a:bodyPr>
            <a:normAutofit lnSpcReduction="10000"/>
          </a:bodyPr>
          <a:lstStyle/>
          <a:p>
            <a:pPr marL="0" indent="0">
              <a:spcBef>
                <a:spcPts val="600"/>
              </a:spcBef>
              <a:spcAft>
                <a:spcPts val="1200"/>
              </a:spcAft>
              <a:buNone/>
            </a:pPr>
            <a:r>
              <a:rPr lang="en-US" sz="2200" dirty="0" smtClean="0">
                <a:latin typeface="Helvetica" pitchFamily="34" charset="0"/>
              </a:rPr>
              <a:t>Economic and social impacts:</a:t>
            </a:r>
            <a:endParaRPr lang="en-US" sz="2200" dirty="0">
              <a:latin typeface="Helvetica" pitchFamily="34" charset="0"/>
            </a:endParaRPr>
          </a:p>
          <a:p>
            <a:pPr marL="360000" indent="-360000">
              <a:spcBef>
                <a:spcPts val="600"/>
              </a:spcBef>
              <a:spcAft>
                <a:spcPts val="1200"/>
              </a:spcAft>
            </a:pPr>
            <a:r>
              <a:rPr lang="en-US" sz="2200" dirty="0" smtClean="0">
                <a:latin typeface="Helvetica" pitchFamily="34" charset="0"/>
              </a:rPr>
              <a:t>Positive such as: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Employment creation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Local facilities growth and/or </a:t>
            </a:r>
            <a:br>
              <a:rPr lang="en-US" sz="2200" dirty="0" smtClean="0">
                <a:latin typeface="Helvetica" pitchFamily="34" charset="0"/>
              </a:rPr>
            </a:br>
            <a:r>
              <a:rPr lang="en-US" sz="2200" dirty="0" smtClean="0">
                <a:latin typeface="Helvetica" pitchFamily="34" charset="0"/>
              </a:rPr>
              <a:t>maintenance</a:t>
            </a:r>
          </a:p>
          <a:p>
            <a:pPr marL="360000" indent="-360000">
              <a:spcBef>
                <a:spcPts val="600"/>
              </a:spcBef>
              <a:spcAft>
                <a:spcPts val="1200"/>
              </a:spcAft>
            </a:pPr>
            <a:r>
              <a:rPr lang="en-US" sz="2200" dirty="0" smtClean="0">
                <a:latin typeface="Helvetica" pitchFamily="34" charset="0"/>
              </a:rPr>
              <a:t>Negative such as: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Impact on social structure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Increased living costs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Tourism dependency as main revenue generator</a:t>
            </a:r>
          </a:p>
          <a:p>
            <a:pPr marL="342900" indent="-3429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38800" y="2590800"/>
            <a:ext cx="2373010" cy="20574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143000"/>
          </a:xfrm>
        </p:spPr>
        <p:txBody>
          <a:bodyPr>
            <a:normAutofit/>
          </a:bodyPr>
          <a:lstStyle/>
          <a:p>
            <a:r>
              <a:rPr lang="en-US" sz="3100" b="1" dirty="0" smtClean="0">
                <a:solidFill>
                  <a:srgbClr val="FF6600"/>
                </a:solidFill>
                <a:latin typeface="Helvetica" pitchFamily="34" charset="0"/>
              </a:rPr>
              <a:t>E2 Interpret research results</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2.2 Identify impacts of the research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467600" cy="4724400"/>
          </a:xfrm>
        </p:spPr>
        <p:txBody>
          <a:bodyPr>
            <a:normAutofit/>
          </a:bodyPr>
          <a:lstStyle/>
          <a:p>
            <a:pPr marL="0" indent="0">
              <a:spcBef>
                <a:spcPts val="600"/>
              </a:spcBef>
              <a:spcAft>
                <a:spcPts val="1200"/>
              </a:spcAft>
              <a:buNone/>
            </a:pPr>
            <a:r>
              <a:rPr lang="en-US" sz="2200" dirty="0" smtClean="0">
                <a:latin typeface="Helvetica" pitchFamily="34" charset="0"/>
              </a:rPr>
              <a:t>Environmental impacts:</a:t>
            </a:r>
            <a:endParaRPr lang="en-US" sz="2200" dirty="0">
              <a:latin typeface="Helvetica" pitchFamily="34" charset="0"/>
            </a:endParaRPr>
          </a:p>
          <a:p>
            <a:pPr marL="360000" indent="-360000">
              <a:spcBef>
                <a:spcPts val="600"/>
              </a:spcBef>
              <a:spcAft>
                <a:spcPts val="1200"/>
              </a:spcAft>
            </a:pPr>
            <a:r>
              <a:rPr lang="en-US" sz="2200" dirty="0" smtClean="0">
                <a:latin typeface="Helvetica" pitchFamily="34" charset="0"/>
              </a:rPr>
              <a:t>Positive such as: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Sustainable practices implementation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Preservation of endangered and or threatened site, animal species</a:t>
            </a:r>
          </a:p>
          <a:p>
            <a:pPr marL="360000" indent="-360000">
              <a:spcBef>
                <a:spcPts val="600"/>
              </a:spcBef>
              <a:spcAft>
                <a:spcPts val="1200"/>
              </a:spcAft>
            </a:pPr>
            <a:r>
              <a:rPr lang="en-US" sz="2200" dirty="0" smtClean="0">
                <a:latin typeface="Helvetica" pitchFamily="34" charset="0"/>
              </a:rPr>
              <a:t>Negative such as: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Threat to local environment due to stress on infrastructure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Increase in traffic, pollution, noise</a:t>
            </a:r>
          </a:p>
          <a:p>
            <a:pPr marL="342900" indent="-3429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spTree>
    <p:extLst>
      <p:ext uri="{BB962C8B-B14F-4D97-AF65-F5344CB8AC3E}">
        <p14:creationId xmlns:p14="http://schemas.microsoft.com/office/powerpoint/2010/main" val="40913691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143000"/>
          </a:xfrm>
        </p:spPr>
        <p:txBody>
          <a:bodyPr>
            <a:normAutofit/>
          </a:bodyPr>
          <a:lstStyle/>
          <a:p>
            <a:r>
              <a:rPr lang="en-US" sz="3100" b="1" dirty="0" smtClean="0">
                <a:solidFill>
                  <a:srgbClr val="FF6600"/>
                </a:solidFill>
                <a:latin typeface="Helvetica" pitchFamily="34" charset="0"/>
              </a:rPr>
              <a:t>E2 Interpret research results</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2.2 Identify impacts of the research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694240" cy="4724400"/>
          </a:xfrm>
        </p:spPr>
        <p:txBody>
          <a:bodyPr>
            <a:normAutofit/>
          </a:bodyPr>
          <a:lstStyle/>
          <a:p>
            <a:pPr marL="0" indent="0">
              <a:spcBef>
                <a:spcPts val="600"/>
              </a:spcBef>
              <a:spcAft>
                <a:spcPts val="1200"/>
              </a:spcAft>
              <a:buNone/>
            </a:pPr>
            <a:r>
              <a:rPr lang="en-US" sz="2200" dirty="0" smtClean="0">
                <a:latin typeface="Helvetica" pitchFamily="34" charset="0"/>
              </a:rPr>
              <a:t>Cultural impacts:</a:t>
            </a:r>
            <a:endParaRPr lang="en-US" sz="2200" dirty="0">
              <a:latin typeface="Helvetica" pitchFamily="34" charset="0"/>
            </a:endParaRPr>
          </a:p>
          <a:p>
            <a:pPr marL="360000" indent="-360000">
              <a:spcBef>
                <a:spcPts val="600"/>
              </a:spcBef>
              <a:spcAft>
                <a:spcPts val="1200"/>
              </a:spcAft>
            </a:pPr>
            <a:r>
              <a:rPr lang="en-US" sz="2200" dirty="0" smtClean="0">
                <a:latin typeface="Helvetica" pitchFamily="34" charset="0"/>
              </a:rPr>
              <a:t>Positive such as: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Overall cultural empowerment</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Opportunity to share culture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Opportunity to preserve culture</a:t>
            </a:r>
          </a:p>
          <a:p>
            <a:pPr marL="360000" indent="-360000">
              <a:spcBef>
                <a:spcPts val="600"/>
              </a:spcBef>
              <a:spcAft>
                <a:spcPts val="1200"/>
              </a:spcAft>
            </a:pPr>
            <a:r>
              <a:rPr lang="en-US" sz="2200" dirty="0" smtClean="0">
                <a:latin typeface="Helvetica" pitchFamily="34" charset="0"/>
              </a:rPr>
              <a:t>Negative such as: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Dilution of culture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Culture ‘misrepresentation’</a:t>
            </a:r>
          </a:p>
          <a:p>
            <a:pPr marL="360000" indent="-36000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3581400"/>
            <a:ext cx="2713300" cy="1853184"/>
          </a:xfrm>
          <a:prstGeom prst="rect">
            <a:avLst/>
          </a:prstGeom>
        </p:spPr>
      </p:pic>
    </p:spTree>
    <p:extLst>
      <p:ext uri="{BB962C8B-B14F-4D97-AF65-F5344CB8AC3E}">
        <p14:creationId xmlns:p14="http://schemas.microsoft.com/office/powerpoint/2010/main" val="16737955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467600" cy="1447800"/>
          </a:xfrm>
        </p:spPr>
        <p:txBody>
          <a:bodyPr>
            <a:noAutofit/>
          </a:bodyPr>
          <a:lstStyle/>
          <a:p>
            <a:r>
              <a:rPr lang="en-US" sz="3100" b="1" dirty="0" smtClean="0">
                <a:solidFill>
                  <a:srgbClr val="FF6600"/>
                </a:solidFill>
                <a:latin typeface="Helvetica" pitchFamily="34" charset="0"/>
              </a:rPr>
              <a:t>E2 Interpret research results</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2.3 Communicate research results to stakeholders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953000"/>
          </a:xfrm>
        </p:spPr>
        <p:txBody>
          <a:bodyPr>
            <a:noAutofit/>
          </a:bodyPr>
          <a:lstStyle/>
          <a:p>
            <a:pPr marL="36576" indent="0">
              <a:spcBef>
                <a:spcPts val="600"/>
              </a:spcBef>
              <a:spcAft>
                <a:spcPts val="600"/>
              </a:spcAft>
              <a:buNone/>
            </a:pPr>
            <a:r>
              <a:rPr lang="en-AU" sz="1800" dirty="0">
                <a:latin typeface="Helevetica"/>
              </a:rPr>
              <a:t>Material presentation </a:t>
            </a:r>
            <a:r>
              <a:rPr lang="en-AU" sz="1800" dirty="0" smtClean="0">
                <a:latin typeface="Helevetica"/>
              </a:rPr>
              <a:t>should be: </a:t>
            </a:r>
            <a:endParaRPr lang="en-US" sz="1800" dirty="0">
              <a:latin typeface="Helevetica"/>
            </a:endParaRPr>
          </a:p>
          <a:p>
            <a:pPr lvl="0">
              <a:spcBef>
                <a:spcPts val="600"/>
              </a:spcBef>
              <a:spcAft>
                <a:spcPts val="600"/>
              </a:spcAft>
            </a:pPr>
            <a:r>
              <a:rPr lang="en-AU" sz="1800" dirty="0">
                <a:latin typeface="Helevetica"/>
              </a:rPr>
              <a:t>Put together by a team or committee rather that just one person</a:t>
            </a:r>
            <a:endParaRPr lang="en-US" sz="1800" dirty="0">
              <a:latin typeface="Helevetica"/>
            </a:endParaRPr>
          </a:p>
          <a:p>
            <a:pPr marL="360000" indent="-360000">
              <a:spcBef>
                <a:spcPts val="600"/>
              </a:spcBef>
              <a:spcAft>
                <a:spcPts val="600"/>
              </a:spcAft>
            </a:pPr>
            <a:r>
              <a:rPr lang="en-AU" sz="1800" dirty="0">
                <a:latin typeface="Helevetica"/>
              </a:rPr>
              <a:t>Targeted to all stakeholders which have been identified at the beginning of the research and will </a:t>
            </a:r>
            <a:r>
              <a:rPr lang="en-AU" sz="1800" dirty="0" smtClean="0">
                <a:latin typeface="Helevetica"/>
              </a:rPr>
              <a:t>include:</a:t>
            </a:r>
            <a:endParaRPr lang="en-US" sz="1800" dirty="0" smtClean="0"/>
          </a:p>
          <a:p>
            <a:pPr marL="720000" indent="-360000">
              <a:spcBef>
                <a:spcPts val="600"/>
              </a:spcBef>
              <a:spcAft>
                <a:spcPts val="600"/>
              </a:spcAft>
              <a:buClr>
                <a:srgbClr val="7FD13B"/>
              </a:buClr>
              <a:buSzPct val="100000"/>
              <a:buFont typeface="Arial" pitchFamily="34" charset="0"/>
              <a:buChar char="•"/>
            </a:pPr>
            <a:r>
              <a:rPr lang="en-US" sz="1800" dirty="0" smtClean="0"/>
              <a:t>Local communities</a:t>
            </a:r>
          </a:p>
          <a:p>
            <a:pPr marL="720000" indent="-360000">
              <a:spcBef>
                <a:spcPts val="600"/>
              </a:spcBef>
              <a:spcAft>
                <a:spcPts val="600"/>
              </a:spcAft>
              <a:buClr>
                <a:srgbClr val="7FD13B"/>
              </a:buClr>
              <a:buSzPct val="100000"/>
              <a:buFont typeface="Arial" pitchFamily="34" charset="0"/>
              <a:buChar char="•"/>
            </a:pPr>
            <a:r>
              <a:rPr lang="en-US" sz="1800" dirty="0" smtClean="0"/>
              <a:t>Wider communities</a:t>
            </a:r>
          </a:p>
          <a:p>
            <a:pPr marL="720000" indent="-360000">
              <a:spcBef>
                <a:spcPts val="600"/>
              </a:spcBef>
              <a:spcAft>
                <a:spcPts val="600"/>
              </a:spcAft>
              <a:buClr>
                <a:srgbClr val="7FD13B"/>
              </a:buClr>
              <a:buSzPct val="100000"/>
              <a:buFont typeface="Arial" pitchFamily="34" charset="0"/>
              <a:buChar char="•"/>
            </a:pPr>
            <a:r>
              <a:rPr lang="en-US" sz="1800" dirty="0" smtClean="0"/>
              <a:t>Tourism bodies and organisations</a:t>
            </a:r>
          </a:p>
          <a:p>
            <a:pPr marL="720000" indent="-360000">
              <a:spcBef>
                <a:spcPts val="600"/>
              </a:spcBef>
              <a:spcAft>
                <a:spcPts val="600"/>
              </a:spcAft>
              <a:buClr>
                <a:srgbClr val="7FD13B"/>
              </a:buClr>
              <a:buSzPct val="100000"/>
              <a:buFont typeface="Arial" pitchFamily="34" charset="0"/>
              <a:buChar char="•"/>
            </a:pPr>
            <a:r>
              <a:rPr lang="en-US" sz="1800" dirty="0" smtClean="0"/>
              <a:t>Government authorities: National and Local</a:t>
            </a:r>
          </a:p>
          <a:p>
            <a:pPr marL="720000" indent="-360000">
              <a:spcBef>
                <a:spcPts val="600"/>
              </a:spcBef>
              <a:spcAft>
                <a:spcPts val="600"/>
              </a:spcAft>
              <a:buClr>
                <a:srgbClr val="7FD13B"/>
              </a:buClr>
              <a:buSzPct val="100000"/>
              <a:buFont typeface="Arial" pitchFamily="34" charset="0"/>
              <a:buChar char="•"/>
            </a:pPr>
            <a:r>
              <a:rPr lang="en-US" sz="1800" dirty="0" smtClean="0"/>
              <a:t>Potential funding sources</a:t>
            </a:r>
          </a:p>
          <a:p>
            <a:pPr marL="720000" indent="-360000">
              <a:spcBef>
                <a:spcPts val="600"/>
              </a:spcBef>
              <a:spcAft>
                <a:spcPts val="600"/>
              </a:spcAft>
              <a:buClr>
                <a:srgbClr val="7FD13B"/>
              </a:buClr>
              <a:buSzPct val="100000"/>
              <a:buFont typeface="Arial" pitchFamily="34" charset="0"/>
              <a:buChar char="•"/>
            </a:pPr>
            <a:r>
              <a:rPr lang="en-US" sz="1800" dirty="0" smtClean="0"/>
              <a:t>Media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200" y="3962400"/>
            <a:ext cx="2248300" cy="149961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57200"/>
            <a:ext cx="7467600" cy="12192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2.3 Communicate research results to stakeholders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025355"/>
          </a:xfrm>
        </p:spPr>
        <p:txBody>
          <a:bodyPr>
            <a:normAutofit/>
          </a:bodyPr>
          <a:lstStyle/>
          <a:p>
            <a:pPr marL="36576" lvl="0" indent="0">
              <a:spcBef>
                <a:spcPts val="600"/>
              </a:spcBef>
              <a:spcAft>
                <a:spcPts val="1200"/>
              </a:spcAft>
              <a:buNone/>
            </a:pPr>
            <a:r>
              <a:rPr lang="en-AU" sz="2000" dirty="0"/>
              <a:t>Presented </a:t>
            </a:r>
            <a:r>
              <a:rPr lang="en-AU" sz="2000" dirty="0" smtClean="0"/>
              <a:t>in: </a:t>
            </a:r>
          </a:p>
          <a:p>
            <a:pPr marL="360000" indent="-360000">
              <a:spcBef>
                <a:spcPts val="600"/>
              </a:spcBef>
              <a:spcAft>
                <a:spcPts val="1200"/>
              </a:spcAft>
            </a:pPr>
            <a:r>
              <a:rPr lang="en-US" sz="2000" dirty="0" smtClean="0"/>
              <a:t>Hard </a:t>
            </a:r>
            <a:r>
              <a:rPr lang="en-US" sz="2000" dirty="0"/>
              <a:t>copies </a:t>
            </a:r>
            <a:r>
              <a:rPr lang="en-US" sz="2000" dirty="0" smtClean="0"/>
              <a:t>for: </a:t>
            </a:r>
            <a:endParaRPr lang="en-US" sz="20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Specific meetings</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Mail outs</a:t>
            </a:r>
            <a:endParaRPr lang="en-US" sz="2000" dirty="0"/>
          </a:p>
          <a:p>
            <a:pPr lvl="0">
              <a:spcBef>
                <a:spcPts val="600"/>
              </a:spcBef>
              <a:spcAft>
                <a:spcPts val="1200"/>
              </a:spcAft>
            </a:pPr>
            <a:r>
              <a:rPr lang="en-US" sz="2000" dirty="0"/>
              <a:t>Electronic format posted on designated </a:t>
            </a:r>
            <a:r>
              <a:rPr lang="en-US" sz="2000" dirty="0" smtClean="0"/>
              <a:t/>
            </a:r>
            <a:br>
              <a:rPr lang="en-US" sz="2000" dirty="0" smtClean="0"/>
            </a:br>
            <a:r>
              <a:rPr lang="en-US" sz="2000" dirty="0" smtClean="0"/>
              <a:t>websites </a:t>
            </a:r>
            <a:r>
              <a:rPr lang="en-US" sz="2000" dirty="0"/>
              <a:t>such as the host organization </a:t>
            </a:r>
            <a:r>
              <a:rPr lang="en-US" sz="2000" dirty="0" smtClean="0"/>
              <a:t/>
            </a:r>
            <a:br>
              <a:rPr lang="en-US" sz="2000" dirty="0" smtClean="0"/>
            </a:br>
            <a:r>
              <a:rPr lang="en-US" sz="2000" dirty="0" smtClean="0"/>
              <a:t>website</a:t>
            </a:r>
            <a:endParaRPr lang="en-US" sz="2000" dirty="0"/>
          </a:p>
          <a:p>
            <a:pPr marL="457200" indent="-4572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200" y="1981200"/>
            <a:ext cx="1925266" cy="2895600"/>
          </a:xfrm>
          <a:prstGeom prst="rect">
            <a:avLst/>
          </a:prstGeom>
        </p:spPr>
      </p:pic>
    </p:spTree>
    <p:extLst>
      <p:ext uri="{BB962C8B-B14F-4D97-AF65-F5344CB8AC3E}">
        <p14:creationId xmlns:p14="http://schemas.microsoft.com/office/powerpoint/2010/main" val="22777536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467600" cy="11430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2.3 Communicate research results to stakeholders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419600"/>
          </a:xfrm>
        </p:spPr>
        <p:txBody>
          <a:bodyPr>
            <a:normAutofit/>
          </a:bodyPr>
          <a:lstStyle/>
          <a:p>
            <a:pPr marL="36576" lvl="0" indent="0">
              <a:spcBef>
                <a:spcPts val="600"/>
              </a:spcBef>
              <a:spcAft>
                <a:spcPts val="1200"/>
              </a:spcAft>
              <a:buNone/>
            </a:pPr>
            <a:r>
              <a:rPr lang="en-AU" sz="2000" dirty="0">
                <a:latin typeface="Helevetica"/>
              </a:rPr>
              <a:t>The research findings need to </a:t>
            </a:r>
            <a:r>
              <a:rPr lang="en-AU" sz="2000" dirty="0" smtClean="0">
                <a:latin typeface="Helevetica"/>
              </a:rPr>
              <a:t>be: </a:t>
            </a:r>
          </a:p>
          <a:p>
            <a:pPr lvl="0">
              <a:spcBef>
                <a:spcPts val="600"/>
              </a:spcBef>
              <a:spcAft>
                <a:spcPts val="1200"/>
              </a:spcAft>
            </a:pPr>
            <a:r>
              <a:rPr lang="en-US" sz="2000" dirty="0" smtClean="0">
                <a:latin typeface="Helevetica"/>
              </a:rPr>
              <a:t>Prepared </a:t>
            </a:r>
            <a:r>
              <a:rPr lang="en-US" sz="2000" dirty="0">
                <a:latin typeface="Helevetica"/>
              </a:rPr>
              <a:t>and written in a clear and easy language, relevant to the all stakeholders</a:t>
            </a:r>
          </a:p>
          <a:p>
            <a:pPr lvl="0">
              <a:spcBef>
                <a:spcPts val="600"/>
              </a:spcBef>
              <a:spcAft>
                <a:spcPts val="1200"/>
              </a:spcAft>
            </a:pPr>
            <a:r>
              <a:rPr lang="en-US" sz="2000" dirty="0">
                <a:latin typeface="Helevetica"/>
              </a:rPr>
              <a:t>Explain the research and its findings</a:t>
            </a:r>
          </a:p>
          <a:p>
            <a:pPr lvl="0">
              <a:spcBef>
                <a:spcPts val="600"/>
              </a:spcBef>
              <a:spcAft>
                <a:spcPts val="1200"/>
              </a:spcAft>
            </a:pPr>
            <a:r>
              <a:rPr lang="en-US" sz="2000" dirty="0">
                <a:latin typeface="Helevetica"/>
              </a:rPr>
              <a:t>Provide details, facts, figure, timelines</a:t>
            </a:r>
          </a:p>
          <a:p>
            <a:pPr lvl="0">
              <a:spcBef>
                <a:spcPts val="600"/>
              </a:spcBef>
              <a:spcAft>
                <a:spcPts val="1200"/>
              </a:spcAft>
            </a:pPr>
            <a:r>
              <a:rPr lang="en-US" sz="2000" dirty="0">
                <a:latin typeface="Helevetica"/>
              </a:rPr>
              <a:t>Include photographs and interviews </a:t>
            </a:r>
            <a:r>
              <a:rPr lang="en-US" sz="2000" dirty="0" smtClean="0">
                <a:latin typeface="Helevetica"/>
              </a:rPr>
              <a:t/>
            </a:r>
            <a:br>
              <a:rPr lang="en-US" sz="2000" dirty="0" smtClean="0">
                <a:latin typeface="Helevetica"/>
              </a:rPr>
            </a:br>
            <a:r>
              <a:rPr lang="en-US" sz="2000" dirty="0" smtClean="0">
                <a:latin typeface="Helevetica"/>
              </a:rPr>
              <a:t>with </a:t>
            </a:r>
            <a:r>
              <a:rPr lang="en-US" sz="2000" dirty="0">
                <a:latin typeface="Helevetica"/>
              </a:rPr>
              <a:t>relevant key people</a:t>
            </a:r>
          </a:p>
          <a:p>
            <a:pPr marL="457200" indent="-4572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7400" y="3124200"/>
            <a:ext cx="2206643" cy="1970532"/>
          </a:xfrm>
          <a:prstGeom prst="rect">
            <a:avLst/>
          </a:prstGeom>
        </p:spPr>
      </p:pic>
    </p:spTree>
    <p:extLst>
      <p:ext uri="{BB962C8B-B14F-4D97-AF65-F5344CB8AC3E}">
        <p14:creationId xmlns:p14="http://schemas.microsoft.com/office/powerpoint/2010/main" val="19421481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2192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2.3 Communicate research results to stakeholders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28800"/>
            <a:ext cx="7467600" cy="4800600"/>
          </a:xfrm>
        </p:spPr>
        <p:txBody>
          <a:bodyPr>
            <a:noAutofit/>
          </a:bodyPr>
          <a:lstStyle/>
          <a:p>
            <a:pPr marL="36576" lvl="0" indent="0">
              <a:spcBef>
                <a:spcPts val="600"/>
              </a:spcBef>
              <a:spcAft>
                <a:spcPts val="600"/>
              </a:spcAft>
              <a:buNone/>
            </a:pPr>
            <a:r>
              <a:rPr lang="en-AU" sz="2000" dirty="0" smtClean="0">
                <a:latin typeface="Helevetica"/>
              </a:rPr>
              <a:t>Feedback: </a:t>
            </a:r>
            <a:endParaRPr lang="en-US" sz="2000" dirty="0">
              <a:latin typeface="Helevetica"/>
            </a:endParaRPr>
          </a:p>
          <a:p>
            <a:pPr marL="360000" indent="-360000">
              <a:spcBef>
                <a:spcPts val="600"/>
              </a:spcBef>
              <a:spcAft>
                <a:spcPts val="600"/>
              </a:spcAft>
            </a:pPr>
            <a:r>
              <a:rPr lang="en-US" sz="2000" dirty="0" smtClean="0">
                <a:latin typeface="Helevetica"/>
              </a:rPr>
              <a:t>Formal feedback: </a:t>
            </a:r>
            <a:endParaRPr lang="en-US" sz="2000" dirty="0" smtClean="0"/>
          </a:p>
          <a:p>
            <a:pPr marL="720000" indent="-360000">
              <a:spcBef>
                <a:spcPts val="600"/>
              </a:spcBef>
              <a:spcAft>
                <a:spcPts val="600"/>
              </a:spcAft>
              <a:buClr>
                <a:srgbClr val="7FD13B"/>
              </a:buClr>
              <a:buSzPct val="100000"/>
              <a:buFont typeface="Arial" pitchFamily="34" charset="0"/>
              <a:buChar char="•"/>
            </a:pPr>
            <a:r>
              <a:rPr lang="en-US" sz="2000" dirty="0" smtClean="0"/>
              <a:t>Written feedback</a:t>
            </a:r>
          </a:p>
          <a:p>
            <a:pPr marL="720000" indent="-360000">
              <a:spcBef>
                <a:spcPts val="600"/>
              </a:spcBef>
              <a:spcAft>
                <a:spcPts val="600"/>
              </a:spcAft>
              <a:buClr>
                <a:srgbClr val="7FD13B"/>
              </a:buClr>
              <a:buSzPct val="100000"/>
              <a:buFont typeface="Arial" pitchFamily="34" charset="0"/>
              <a:buChar char="•"/>
            </a:pPr>
            <a:r>
              <a:rPr lang="en-US" sz="2000" dirty="0" smtClean="0"/>
              <a:t>Written survey</a:t>
            </a:r>
          </a:p>
          <a:p>
            <a:pPr marL="720000" indent="-360000">
              <a:spcBef>
                <a:spcPts val="600"/>
              </a:spcBef>
              <a:spcAft>
                <a:spcPts val="600"/>
              </a:spcAft>
              <a:buClr>
                <a:srgbClr val="7FD13B"/>
              </a:buClr>
              <a:buSzPct val="100000"/>
              <a:buFont typeface="Arial" pitchFamily="34" charset="0"/>
              <a:buChar char="•"/>
            </a:pPr>
            <a:r>
              <a:rPr lang="en-US" sz="2000" dirty="0" smtClean="0"/>
              <a:t>Dedicated website page</a:t>
            </a:r>
          </a:p>
          <a:p>
            <a:pPr marL="720000" indent="-360000">
              <a:spcBef>
                <a:spcPts val="600"/>
              </a:spcBef>
              <a:spcAft>
                <a:spcPts val="600"/>
              </a:spcAft>
              <a:buClr>
                <a:srgbClr val="7FD13B"/>
              </a:buClr>
              <a:buSzPct val="100000"/>
              <a:buFont typeface="Arial" pitchFamily="34" charset="0"/>
              <a:buChar char="•"/>
            </a:pPr>
            <a:r>
              <a:rPr lang="en-US" sz="2000" dirty="0" smtClean="0"/>
              <a:t>Formal interviews of key stakeholders</a:t>
            </a:r>
            <a:endParaRPr lang="en-US" sz="2000" dirty="0" smtClean="0">
              <a:latin typeface="Helevetica"/>
            </a:endParaRPr>
          </a:p>
          <a:p>
            <a:pPr marL="360000" indent="-360000">
              <a:spcBef>
                <a:spcPts val="600"/>
              </a:spcBef>
              <a:spcAft>
                <a:spcPts val="600"/>
              </a:spcAft>
            </a:pPr>
            <a:r>
              <a:rPr lang="en-US" sz="2000" dirty="0" smtClean="0">
                <a:latin typeface="Helevetica"/>
              </a:rPr>
              <a:t>Informal feedback:</a:t>
            </a:r>
            <a:endParaRPr lang="en-US" sz="2000" dirty="0" smtClean="0"/>
          </a:p>
          <a:p>
            <a:pPr marL="720000" indent="-360000">
              <a:spcBef>
                <a:spcPts val="600"/>
              </a:spcBef>
              <a:spcAft>
                <a:spcPts val="600"/>
              </a:spcAft>
              <a:buClr>
                <a:srgbClr val="7FD13B"/>
              </a:buClr>
              <a:buSzPct val="100000"/>
              <a:buFont typeface="Arial" pitchFamily="34" charset="0"/>
              <a:buChar char="•"/>
            </a:pPr>
            <a:r>
              <a:rPr lang="en-US" sz="2000" dirty="0" smtClean="0"/>
              <a:t>Social media comments</a:t>
            </a:r>
          </a:p>
          <a:p>
            <a:pPr marL="720000" indent="-360000">
              <a:spcBef>
                <a:spcPts val="600"/>
              </a:spcBef>
              <a:spcAft>
                <a:spcPts val="600"/>
              </a:spcAft>
              <a:buClr>
                <a:srgbClr val="7FD13B"/>
              </a:buClr>
              <a:buSzPct val="100000"/>
              <a:buFont typeface="Arial" pitchFamily="34" charset="0"/>
              <a:buChar char="•"/>
            </a:pPr>
            <a:r>
              <a:rPr lang="en-US" sz="2000" dirty="0" smtClean="0"/>
              <a:t>Comments gathered while having informal chats with stakeholders  </a:t>
            </a:r>
          </a:p>
          <a:p>
            <a:pPr lvl="0">
              <a:spcBef>
                <a:spcPts val="600"/>
              </a:spcBef>
              <a:spcAft>
                <a:spcPts val="600"/>
              </a:spcAft>
            </a:pPr>
            <a:endParaRPr lang="en-US" sz="2000" dirty="0">
              <a:latin typeface="Helevetica"/>
            </a:endParaRPr>
          </a:p>
          <a:p>
            <a:pPr marL="457200" indent="-4572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200" y="1828800"/>
            <a:ext cx="2167538" cy="2063496"/>
          </a:xfrm>
          <a:prstGeom prst="rect">
            <a:avLst/>
          </a:prstGeom>
        </p:spPr>
      </p:pic>
    </p:spTree>
    <p:extLst>
      <p:ext uri="{BB962C8B-B14F-4D97-AF65-F5344CB8AC3E}">
        <p14:creationId xmlns:p14="http://schemas.microsoft.com/office/powerpoint/2010/main" val="41416510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2192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2.4 Use research results and feedback to guide future actions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495800"/>
          </a:xfrm>
        </p:spPr>
        <p:txBody>
          <a:bodyPr>
            <a:normAutofit/>
          </a:bodyPr>
          <a:lstStyle/>
          <a:p>
            <a:pPr marL="36576" indent="0">
              <a:spcBef>
                <a:spcPts val="600"/>
              </a:spcBef>
              <a:spcAft>
                <a:spcPts val="1200"/>
              </a:spcAft>
              <a:buNone/>
            </a:pPr>
            <a:r>
              <a:rPr lang="en-AU" sz="2000" b="1" dirty="0">
                <a:latin typeface="Helvetica" panose="020B0604020202020204" pitchFamily="34" charset="0"/>
                <a:cs typeface="Helvetica" panose="020B0604020202020204" pitchFamily="34" charset="0"/>
              </a:rPr>
              <a:t>Research results and feedback integration</a:t>
            </a:r>
            <a:endParaRPr lang="en-US" sz="2000" b="1" dirty="0">
              <a:latin typeface="Helvetica" panose="020B0604020202020204" pitchFamily="34" charset="0"/>
              <a:cs typeface="Helvetica" panose="020B0604020202020204" pitchFamily="34" charset="0"/>
            </a:endParaRPr>
          </a:p>
          <a:p>
            <a:pPr marL="36576" indent="0">
              <a:spcBef>
                <a:spcPts val="600"/>
              </a:spcBef>
              <a:spcAft>
                <a:spcPts val="1200"/>
              </a:spcAft>
              <a:buNone/>
            </a:pPr>
            <a:r>
              <a:rPr lang="en-AU" sz="2000" dirty="0">
                <a:latin typeface="Helvetica" panose="020B0604020202020204" pitchFamily="34" charset="0"/>
                <a:cs typeface="Helvetica" panose="020B0604020202020204" pitchFamily="34" charset="0"/>
              </a:rPr>
              <a:t>The information collected will now serve as a base </a:t>
            </a:r>
            <a:r>
              <a:rPr lang="en-AU" sz="2000" dirty="0" smtClean="0">
                <a:latin typeface="Helvetica" panose="020B0604020202020204" pitchFamily="34" charset="0"/>
                <a:cs typeface="Helvetica" panose="020B0604020202020204" pitchFamily="34" charset="0"/>
              </a:rPr>
              <a:t>for: </a:t>
            </a:r>
          </a:p>
          <a:p>
            <a:pPr lvl="0">
              <a:spcBef>
                <a:spcPts val="600"/>
              </a:spcBef>
              <a:spcAft>
                <a:spcPts val="1200"/>
              </a:spcAft>
            </a:pPr>
            <a:r>
              <a:rPr lang="en-AU" sz="2000" dirty="0" smtClean="0">
                <a:latin typeface="Helvetica" panose="020B0604020202020204" pitchFamily="34" charset="0"/>
                <a:cs typeface="Helvetica" panose="020B0604020202020204" pitchFamily="34" charset="0"/>
              </a:rPr>
              <a:t>Initial </a:t>
            </a:r>
            <a:r>
              <a:rPr lang="en-AU" sz="2000" dirty="0">
                <a:latin typeface="Helvetica" panose="020B0604020202020204" pitchFamily="34" charset="0"/>
                <a:cs typeface="Helvetica" panose="020B0604020202020204" pitchFamily="34" charset="0"/>
              </a:rPr>
              <a:t>draft plan development or </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AU" sz="2000" dirty="0">
                <a:latin typeface="Helvetica" panose="020B0604020202020204" pitchFamily="34" charset="0"/>
                <a:cs typeface="Helvetica" panose="020B0604020202020204" pitchFamily="34" charset="0"/>
              </a:rPr>
              <a:t>Existing draft plans modification, if applicable such as an expansion of a variation of previous tourism development plans  </a:t>
            </a:r>
            <a:endParaRPr lang="en-US" sz="2000" dirty="0">
              <a:latin typeface="Helvetica" panose="020B0604020202020204" pitchFamily="34" charset="0"/>
              <a:cs typeface="Helvetica" panose="020B0604020202020204" pitchFamily="34" charset="0"/>
            </a:endParaRPr>
          </a:p>
          <a:p>
            <a:pPr>
              <a:spcBef>
                <a:spcPts val="600"/>
              </a:spcBef>
              <a:spcAft>
                <a:spcPts val="1200"/>
              </a:spcAft>
            </a:pPr>
            <a:r>
              <a:rPr lang="en-AU" sz="2000" dirty="0">
                <a:latin typeface="Helvetica" panose="020B0604020202020204" pitchFamily="34" charset="0"/>
                <a:cs typeface="Helvetica" panose="020B0604020202020204" pitchFamily="34" charset="0"/>
              </a:rPr>
              <a:t>It needs to be integrated into the formal draft plans under the relevant section </a:t>
            </a:r>
            <a:endParaRPr lang="en-US" sz="2000" dirty="0">
              <a:latin typeface="Helvetica" panose="020B0604020202020204" pitchFamily="34" charset="0"/>
              <a:cs typeface="Helvetica" panose="020B0604020202020204" pitchFamily="34" charset="0"/>
            </a:endParaRPr>
          </a:p>
          <a:p>
            <a:pPr marL="360000" indent="-360000">
              <a:spcBef>
                <a:spcPts val="600"/>
              </a:spcBef>
              <a:spcAft>
                <a:spcPts val="1200"/>
              </a:spcAft>
              <a:buNone/>
            </a:pPr>
            <a:endParaRPr lang="en-US" sz="2000" dirty="0" smtClean="0">
              <a:latin typeface="Helvetica" pitchFamily="34" charset="0"/>
              <a:cs typeface="Helvetica" panose="020B0604020202020204" pitchFamily="34" charset="0"/>
            </a:endParaRPr>
          </a:p>
          <a:p>
            <a:pPr marL="457200" indent="-4572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2954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2.4 Use research results and feedback to guide future actions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724400"/>
          </a:xfrm>
        </p:spPr>
        <p:txBody>
          <a:bodyPr>
            <a:noAutofit/>
          </a:bodyPr>
          <a:lstStyle/>
          <a:p>
            <a:pPr marL="36576" indent="0">
              <a:spcBef>
                <a:spcPts val="600"/>
              </a:spcBef>
              <a:spcAft>
                <a:spcPts val="600"/>
              </a:spcAft>
              <a:buNone/>
            </a:pPr>
            <a:r>
              <a:rPr lang="en-AU" sz="1600" dirty="0"/>
              <a:t>The draft tourism plan will include:</a:t>
            </a:r>
            <a:endParaRPr lang="en-US" sz="1600" dirty="0"/>
          </a:p>
          <a:p>
            <a:pPr lvl="0">
              <a:spcBef>
                <a:spcPts val="600"/>
              </a:spcBef>
              <a:spcAft>
                <a:spcPts val="600"/>
              </a:spcAft>
            </a:pPr>
            <a:r>
              <a:rPr lang="en-AU" sz="1600" dirty="0"/>
              <a:t>An executive summary</a:t>
            </a:r>
            <a:endParaRPr lang="en-US" sz="1600" dirty="0"/>
          </a:p>
          <a:p>
            <a:pPr lvl="0">
              <a:spcBef>
                <a:spcPts val="600"/>
              </a:spcBef>
              <a:spcAft>
                <a:spcPts val="600"/>
              </a:spcAft>
            </a:pPr>
            <a:r>
              <a:rPr lang="en-AU" sz="1600" dirty="0"/>
              <a:t>Data presenting the present regional, local tourism background including</a:t>
            </a:r>
            <a:endParaRPr lang="en-US" sz="1600" dirty="0"/>
          </a:p>
          <a:p>
            <a:pPr lvl="0">
              <a:spcBef>
                <a:spcPts val="600"/>
              </a:spcBef>
              <a:spcAft>
                <a:spcPts val="600"/>
              </a:spcAft>
            </a:pPr>
            <a:r>
              <a:rPr lang="en-US" sz="1600" dirty="0"/>
              <a:t>Overall regional framework in regards to existing official tourism plans, existing tourism activities and available infrastructure </a:t>
            </a:r>
          </a:p>
          <a:p>
            <a:pPr lvl="0">
              <a:spcBef>
                <a:spcPts val="600"/>
              </a:spcBef>
              <a:spcAft>
                <a:spcPts val="600"/>
              </a:spcAft>
            </a:pPr>
            <a:r>
              <a:rPr lang="en-AU" sz="1600" dirty="0"/>
              <a:t>Relevant existing organisational plans and strategies</a:t>
            </a:r>
            <a:endParaRPr lang="en-US" sz="1600" dirty="0"/>
          </a:p>
          <a:p>
            <a:pPr lvl="0">
              <a:spcBef>
                <a:spcPts val="600"/>
              </a:spcBef>
              <a:spcAft>
                <a:spcPts val="600"/>
              </a:spcAft>
            </a:pPr>
            <a:r>
              <a:rPr lang="en-AU" sz="1600" dirty="0"/>
              <a:t>Existing level of community resources   </a:t>
            </a:r>
            <a:endParaRPr lang="en-US" sz="1600" dirty="0"/>
          </a:p>
          <a:p>
            <a:pPr lvl="0">
              <a:spcBef>
                <a:spcPts val="600"/>
              </a:spcBef>
              <a:spcAft>
                <a:spcPts val="600"/>
              </a:spcAft>
            </a:pPr>
            <a:r>
              <a:rPr lang="en-US" sz="1600" dirty="0"/>
              <a:t>Financial: representing existing funding and tourism revenues</a:t>
            </a:r>
          </a:p>
          <a:p>
            <a:pPr lvl="0">
              <a:spcBef>
                <a:spcPts val="600"/>
              </a:spcBef>
              <a:spcAft>
                <a:spcPts val="600"/>
              </a:spcAft>
            </a:pPr>
            <a:r>
              <a:rPr lang="en-US" sz="1600" dirty="0"/>
              <a:t>Human : the people who are living in the area and could be involved in delivering the programs, plans</a:t>
            </a:r>
          </a:p>
          <a:p>
            <a:pPr lvl="0">
              <a:spcBef>
                <a:spcPts val="600"/>
              </a:spcBef>
              <a:spcAft>
                <a:spcPts val="600"/>
              </a:spcAft>
            </a:pPr>
            <a:r>
              <a:rPr lang="en-US" sz="1600" dirty="0"/>
              <a:t>Physical: overall infrastructure and specifically related tourism infrastructure</a:t>
            </a:r>
          </a:p>
          <a:p>
            <a:pPr lvl="0">
              <a:spcBef>
                <a:spcPts val="600"/>
              </a:spcBef>
              <a:spcAft>
                <a:spcPts val="600"/>
              </a:spcAft>
            </a:pPr>
            <a:r>
              <a:rPr lang="en-US" sz="1600" dirty="0"/>
              <a:t>Cultural resources such as specific local customs, festivals  </a:t>
            </a:r>
            <a:endParaRPr lang="en-US" sz="16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spTree>
    <p:extLst>
      <p:ext uri="{BB962C8B-B14F-4D97-AF65-F5344CB8AC3E}">
        <p14:creationId xmlns:p14="http://schemas.microsoft.com/office/powerpoint/2010/main" val="20281422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2954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2.4 Use research results and feedback to guide future actions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28800"/>
            <a:ext cx="7467600" cy="4724400"/>
          </a:xfrm>
        </p:spPr>
        <p:txBody>
          <a:bodyPr>
            <a:normAutofit lnSpcReduction="10000"/>
          </a:bodyPr>
          <a:lstStyle/>
          <a:p>
            <a:pPr marL="36576" indent="0">
              <a:spcBef>
                <a:spcPts val="600"/>
              </a:spcBef>
              <a:spcAft>
                <a:spcPts val="600"/>
              </a:spcAft>
              <a:buNone/>
            </a:pPr>
            <a:r>
              <a:rPr lang="en-US" sz="1800" dirty="0" smtClean="0"/>
              <a:t>The </a:t>
            </a:r>
            <a:r>
              <a:rPr lang="en-US" sz="1800" dirty="0"/>
              <a:t>draft plan need to take into consideration </a:t>
            </a:r>
            <a:r>
              <a:rPr lang="en-US" sz="1800" dirty="0" smtClean="0"/>
              <a:t>the: </a:t>
            </a:r>
            <a:endParaRPr lang="en-US" sz="1800" dirty="0"/>
          </a:p>
          <a:p>
            <a:pPr lvl="0">
              <a:spcBef>
                <a:spcPts val="600"/>
              </a:spcBef>
              <a:spcAft>
                <a:spcPts val="600"/>
              </a:spcAft>
            </a:pPr>
            <a:r>
              <a:rPr lang="en-AU" sz="1800" dirty="0"/>
              <a:t>Level and frequency of community consultation obtained so far</a:t>
            </a:r>
            <a:endParaRPr lang="en-US" sz="1800" dirty="0"/>
          </a:p>
          <a:p>
            <a:pPr lvl="0">
              <a:spcBef>
                <a:spcPts val="600"/>
              </a:spcBef>
              <a:spcAft>
                <a:spcPts val="600"/>
              </a:spcAft>
            </a:pPr>
            <a:r>
              <a:rPr lang="en-US" sz="1800" dirty="0"/>
              <a:t>How many of the identified stakeholders have provided feedback: which community groups, key representatives, which industry associations and/or official agencies </a:t>
            </a:r>
          </a:p>
          <a:p>
            <a:pPr lvl="0">
              <a:spcBef>
                <a:spcPts val="600"/>
              </a:spcBef>
              <a:spcAft>
                <a:spcPts val="600"/>
              </a:spcAft>
            </a:pPr>
            <a:r>
              <a:rPr lang="en-US" sz="1800" dirty="0"/>
              <a:t>How was the mainly feedback </a:t>
            </a:r>
            <a:r>
              <a:rPr lang="en-US" sz="1800" dirty="0" smtClean="0"/>
              <a:t>obtained: </a:t>
            </a:r>
            <a:r>
              <a:rPr lang="en-US" sz="1800" dirty="0"/>
              <a:t>face to face meeting, on line comments</a:t>
            </a:r>
          </a:p>
          <a:p>
            <a:pPr lvl="0">
              <a:spcBef>
                <a:spcPts val="600"/>
              </a:spcBef>
              <a:spcAft>
                <a:spcPts val="600"/>
              </a:spcAft>
            </a:pPr>
            <a:r>
              <a:rPr lang="en-US" sz="1800" dirty="0"/>
              <a:t>Nature of the feedback </a:t>
            </a:r>
          </a:p>
          <a:p>
            <a:pPr lvl="0">
              <a:spcBef>
                <a:spcPts val="600"/>
              </a:spcBef>
              <a:spcAft>
                <a:spcPts val="600"/>
              </a:spcAft>
            </a:pPr>
            <a:r>
              <a:rPr lang="en-US" sz="1800" dirty="0"/>
              <a:t>Mainly positive, negative</a:t>
            </a:r>
          </a:p>
          <a:p>
            <a:pPr lvl="0">
              <a:spcBef>
                <a:spcPts val="600"/>
              </a:spcBef>
              <a:spcAft>
                <a:spcPts val="600"/>
              </a:spcAft>
            </a:pPr>
            <a:r>
              <a:rPr lang="en-US" sz="1800" dirty="0"/>
              <a:t>Which preferences emerged   </a:t>
            </a:r>
          </a:p>
          <a:p>
            <a:pPr lvl="0">
              <a:spcBef>
                <a:spcPts val="600"/>
              </a:spcBef>
              <a:spcAft>
                <a:spcPts val="600"/>
              </a:spcAft>
            </a:pPr>
            <a:r>
              <a:rPr lang="en-AU" sz="1800" dirty="0"/>
              <a:t>An in depth analysis of the impact of the plans on the community in general covering all potential aspects previously mentioned</a:t>
            </a:r>
            <a:endParaRPr lang="en-US" sz="1800" dirty="0"/>
          </a:p>
          <a:p>
            <a:pPr lvl="0">
              <a:spcBef>
                <a:spcPts val="600"/>
              </a:spcBef>
              <a:spcAft>
                <a:spcPts val="600"/>
              </a:spcAft>
            </a:pPr>
            <a:r>
              <a:rPr lang="en-AU" sz="1800" dirty="0"/>
              <a:t>Recommendations in order to move to the draft </a:t>
            </a:r>
            <a:r>
              <a:rPr lang="en-AU" sz="1800" dirty="0" smtClean="0"/>
              <a:t>plans</a:t>
            </a:r>
            <a:endParaRPr lang="en-US"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spTree>
    <p:extLst>
      <p:ext uri="{BB962C8B-B14F-4D97-AF65-F5344CB8AC3E}">
        <p14:creationId xmlns:p14="http://schemas.microsoft.com/office/powerpoint/2010/main" val="8899058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2954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2.4 Use research results and feedback to guide future actions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648200"/>
          </a:xfrm>
        </p:spPr>
        <p:txBody>
          <a:bodyPr>
            <a:noAutofit/>
          </a:bodyPr>
          <a:lstStyle/>
          <a:p>
            <a:pPr marL="36576" indent="0">
              <a:spcBef>
                <a:spcPts val="600"/>
              </a:spcBef>
              <a:spcAft>
                <a:spcPts val="600"/>
              </a:spcAft>
              <a:buNone/>
            </a:pPr>
            <a:r>
              <a:rPr lang="en-AU" sz="2000" dirty="0">
                <a:latin typeface="Helvetica" panose="020B0604020202020204" pitchFamily="34" charset="0"/>
                <a:cs typeface="Helvetica" panose="020B0604020202020204" pitchFamily="34" charset="0"/>
              </a:rPr>
              <a:t>Further community </a:t>
            </a:r>
            <a:r>
              <a:rPr lang="en-AU" sz="2000" dirty="0" smtClean="0">
                <a:latin typeface="Helvetica" panose="020B0604020202020204" pitchFamily="34" charset="0"/>
                <a:cs typeface="Helvetica" panose="020B0604020202020204" pitchFamily="34" charset="0"/>
              </a:rPr>
              <a:t>consultation:</a:t>
            </a:r>
            <a:endParaRPr lang="en-US" sz="2000" dirty="0">
              <a:latin typeface="Helvetica" panose="020B0604020202020204" pitchFamily="34" charset="0"/>
              <a:cs typeface="Helvetica" panose="020B0604020202020204" pitchFamily="34" charset="0"/>
            </a:endParaRPr>
          </a:p>
          <a:p>
            <a:pPr>
              <a:spcBef>
                <a:spcPts val="600"/>
              </a:spcBef>
              <a:spcAft>
                <a:spcPts val="600"/>
              </a:spcAft>
            </a:pPr>
            <a:r>
              <a:rPr lang="en-AU" sz="2000" dirty="0">
                <a:latin typeface="Helvetica" panose="020B0604020202020204" pitchFamily="34" charset="0"/>
                <a:cs typeface="Helvetica" panose="020B0604020202020204" pitchFamily="34" charset="0"/>
              </a:rPr>
              <a:t>Upon the completion of the draft plans, another round of consultation is to take place to</a:t>
            </a:r>
            <a:endParaRPr lang="en-US" sz="2000" dirty="0">
              <a:latin typeface="Helvetica" panose="020B0604020202020204" pitchFamily="34" charset="0"/>
              <a:cs typeface="Helvetica" panose="020B0604020202020204" pitchFamily="34" charset="0"/>
            </a:endParaRPr>
          </a:p>
          <a:p>
            <a:pPr lvl="0">
              <a:spcBef>
                <a:spcPts val="600"/>
              </a:spcBef>
              <a:spcAft>
                <a:spcPts val="600"/>
              </a:spcAft>
              <a:buNone/>
            </a:pPr>
            <a:r>
              <a:rPr lang="en-AU" sz="2000" dirty="0" smtClean="0">
                <a:latin typeface="Helvetica" panose="020B0604020202020204" pitchFamily="34" charset="0"/>
                <a:cs typeface="Helvetica" panose="020B0604020202020204" pitchFamily="34" charset="0"/>
              </a:rPr>
              <a:t>	Inform</a:t>
            </a:r>
            <a:r>
              <a:rPr lang="en-AU" sz="2000" dirty="0">
                <a:latin typeface="Helvetica" panose="020B0604020202020204" pitchFamily="34" charset="0"/>
                <a:cs typeface="Helvetica" panose="020B0604020202020204" pitchFamily="34" charset="0"/>
              </a:rPr>
              <a:t>, notify  how their input is reflected in the draft/emerging  plans </a:t>
            </a:r>
            <a:endParaRPr lang="en-US" sz="2000" dirty="0">
              <a:latin typeface="Helvetica" panose="020B0604020202020204" pitchFamily="34" charset="0"/>
              <a:cs typeface="Helvetica" panose="020B0604020202020204" pitchFamily="34" charset="0"/>
            </a:endParaRPr>
          </a:p>
          <a:p>
            <a:pPr lvl="0">
              <a:spcBef>
                <a:spcPts val="600"/>
              </a:spcBef>
              <a:spcAft>
                <a:spcPts val="600"/>
              </a:spcAft>
            </a:pPr>
            <a:r>
              <a:rPr lang="en-AU" sz="2000" dirty="0">
                <a:latin typeface="Helvetica" panose="020B0604020202020204" pitchFamily="34" charset="0"/>
                <a:cs typeface="Helvetica" panose="020B0604020202020204" pitchFamily="34" charset="0"/>
              </a:rPr>
              <a:t>When presenting the draft plans, make sure that the actions taken so </a:t>
            </a:r>
            <a:r>
              <a:rPr lang="en-AU" sz="2000" dirty="0" smtClean="0">
                <a:latin typeface="Helvetica" panose="020B0604020202020204" pitchFamily="34" charset="0"/>
                <a:cs typeface="Helvetica" panose="020B0604020202020204" pitchFamily="34" charset="0"/>
              </a:rPr>
              <a:t>far such as: </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6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Data </a:t>
            </a:r>
            <a:r>
              <a:rPr lang="en-US" sz="2000" dirty="0">
                <a:latin typeface="Helvetica" panose="020B0604020202020204" pitchFamily="34" charset="0"/>
                <a:cs typeface="Helvetica" panose="020B0604020202020204" pitchFamily="34" charset="0"/>
              </a:rPr>
              <a:t>research</a:t>
            </a:r>
          </a:p>
          <a:p>
            <a:pPr marL="714375" lvl="0" indent="-352425">
              <a:spcBef>
                <a:spcPts val="600"/>
              </a:spcBef>
              <a:spcAft>
                <a:spcPts val="6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Consultation</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6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Data integration are all aligned </a:t>
            </a:r>
            <a:r>
              <a:rPr lang="en-US" sz="2000" dirty="0">
                <a:latin typeface="Helvetica" panose="020B0604020202020204" pitchFamily="34" charset="0"/>
                <a:cs typeface="Helvetica" panose="020B0604020202020204" pitchFamily="34" charset="0"/>
              </a:rPr>
              <a:t>to the local community  </a:t>
            </a:r>
            <a:r>
              <a:rPr lang="en-US" sz="2000" dirty="0" smtClean="0">
                <a:latin typeface="Helvetica" panose="020B0604020202020204" pitchFamily="34" charset="0"/>
                <a:cs typeface="Helvetica" panose="020B0604020202020204" pitchFamily="34" charset="0"/>
              </a:rPr>
              <a:t>identified needs and values</a:t>
            </a:r>
            <a:endParaRPr lang="en-US" sz="2000" dirty="0">
              <a:latin typeface="Helvetica" panose="020B0604020202020204" pitchFamily="34" charset="0"/>
              <a:cs typeface="Helvetica" panose="020B0604020202020204" pitchFamily="34" charset="0"/>
            </a:endParaRPr>
          </a:p>
          <a:p>
            <a:pPr marL="36576" indent="0">
              <a:spcBef>
                <a:spcPts val="600"/>
              </a:spcBef>
              <a:spcAft>
                <a:spcPts val="6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spTree>
    <p:extLst>
      <p:ext uri="{BB962C8B-B14F-4D97-AF65-F5344CB8AC3E}">
        <p14:creationId xmlns:p14="http://schemas.microsoft.com/office/powerpoint/2010/main" val="25774125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467600" cy="1371600"/>
          </a:xfrm>
        </p:spPr>
        <p:txBody>
          <a:bodyPr>
            <a:normAutofit fontScale="90000"/>
          </a:bodyPr>
          <a:lstStyle/>
          <a:p>
            <a:r>
              <a:rPr lang="en-US" sz="3400" b="1" dirty="0" smtClean="0">
                <a:solidFill>
                  <a:srgbClr val="FF6600"/>
                </a:solidFill>
                <a:latin typeface="Helvetica" pitchFamily="34" charset="0"/>
              </a:rPr>
              <a:t>E2 Interpret research results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2.4 Use research results and feedback to guide future actions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4648200"/>
          </a:xfrm>
        </p:spPr>
        <p:txBody>
          <a:bodyPr>
            <a:noAutofit/>
          </a:bodyPr>
          <a:lstStyle/>
          <a:p>
            <a:pPr marL="36576" indent="0">
              <a:spcBef>
                <a:spcPts val="600"/>
              </a:spcBef>
              <a:spcAft>
                <a:spcPts val="1200"/>
              </a:spcAft>
              <a:buNone/>
            </a:pPr>
            <a:r>
              <a:rPr lang="en-AU" sz="2000" dirty="0">
                <a:latin typeface="Helvetica" panose="020B0604020202020204" pitchFamily="34" charset="0"/>
                <a:cs typeface="Helvetica" panose="020B0604020202020204" pitchFamily="34" charset="0"/>
              </a:rPr>
              <a:t>Further community </a:t>
            </a:r>
            <a:r>
              <a:rPr lang="en-AU" sz="2000" dirty="0" smtClean="0">
                <a:latin typeface="Helvetica" panose="020B0604020202020204" pitchFamily="34" charset="0"/>
                <a:cs typeface="Helvetica" panose="020B0604020202020204" pitchFamily="34" charset="0"/>
              </a:rPr>
              <a:t>consultation:</a:t>
            </a:r>
            <a:endParaRPr lang="en-US" sz="2000" dirty="0">
              <a:latin typeface="Helvetica" panose="020B0604020202020204" pitchFamily="34" charset="0"/>
              <a:cs typeface="Helvetica" panose="020B0604020202020204" pitchFamily="34" charset="0"/>
            </a:endParaRPr>
          </a:p>
          <a:p>
            <a:pPr marL="361950" lvl="0" indent="-361950">
              <a:spcBef>
                <a:spcPts val="600"/>
              </a:spcBef>
              <a:spcAft>
                <a:spcPts val="1200"/>
              </a:spcAft>
            </a:pPr>
            <a:r>
              <a:rPr lang="en-US" sz="2000" dirty="0" smtClean="0">
                <a:latin typeface="Helvetica" panose="020B0604020202020204" pitchFamily="34" charset="0"/>
                <a:cs typeface="Helvetica" panose="020B0604020202020204" pitchFamily="34" charset="0"/>
              </a:rPr>
              <a:t>Identified </a:t>
            </a:r>
            <a:r>
              <a:rPr lang="en-US" sz="2000" dirty="0">
                <a:latin typeface="Helvetica" panose="020B0604020202020204" pitchFamily="34" charset="0"/>
                <a:cs typeface="Helvetica" panose="020B0604020202020204" pitchFamily="34" charset="0"/>
              </a:rPr>
              <a:t>needs : more visitors or development of infrastructure to accommodate the existing number of visitors</a:t>
            </a:r>
          </a:p>
          <a:p>
            <a:pPr marL="361950" lvl="0" indent="-361950">
              <a:spcBef>
                <a:spcPts val="600"/>
              </a:spcBef>
              <a:spcAft>
                <a:spcPts val="1200"/>
              </a:spcAft>
            </a:pPr>
            <a:r>
              <a:rPr lang="en-US" sz="2000" dirty="0">
                <a:latin typeface="Helvetica" panose="020B0604020202020204" pitchFamily="34" charset="0"/>
                <a:cs typeface="Helvetica" panose="020B0604020202020204" pitchFamily="34" charset="0"/>
              </a:rPr>
              <a:t>Generally expressed and recorded local communities such </a:t>
            </a:r>
            <a:r>
              <a:rPr lang="en-US" sz="2000" dirty="0" smtClean="0">
                <a:latin typeface="Helvetica" panose="020B0604020202020204" pitchFamily="34" charset="0"/>
                <a:cs typeface="Helvetica" panose="020B0604020202020204" pitchFamily="34" charset="0"/>
              </a:rPr>
              <a:t>as:  </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12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The </a:t>
            </a:r>
            <a:r>
              <a:rPr lang="en-US" sz="2000" dirty="0">
                <a:latin typeface="Helvetica" panose="020B0604020202020204" pitchFamily="34" charset="0"/>
                <a:cs typeface="Helvetica" panose="020B0604020202020204" pitchFamily="34" charset="0"/>
              </a:rPr>
              <a:t>importance of developing the cultural awareness of the region</a:t>
            </a:r>
          </a:p>
          <a:p>
            <a:pPr marL="714375" lvl="0" indent="-352425">
              <a:spcBef>
                <a:spcPts val="600"/>
              </a:spcBef>
              <a:spcAft>
                <a:spcPts val="1200"/>
              </a:spcAft>
              <a:buSzPct val="100000"/>
              <a:buFont typeface="Arial" panose="020B0604020202020204" pitchFamily="34" charset="0"/>
              <a:buChar char="•"/>
            </a:pPr>
            <a:r>
              <a:rPr lang="en-US" sz="2000" dirty="0" smtClean="0">
                <a:latin typeface="Helvetica" panose="020B0604020202020204" pitchFamily="34" charset="0"/>
                <a:cs typeface="Helvetica" panose="020B0604020202020204" pitchFamily="34" charset="0"/>
              </a:rPr>
              <a:t>Ensuring </a:t>
            </a:r>
            <a:r>
              <a:rPr lang="en-US" sz="2000" dirty="0">
                <a:latin typeface="Helvetica" panose="020B0604020202020204" pitchFamily="34" charset="0"/>
                <a:cs typeface="Helvetica" panose="020B0604020202020204" pitchFamily="34" charset="0"/>
              </a:rPr>
              <a:t>any plan, development is sustainability friendly    </a:t>
            </a:r>
          </a:p>
          <a:p>
            <a:pPr marL="36576"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spTree>
    <p:extLst>
      <p:ext uri="{BB962C8B-B14F-4D97-AF65-F5344CB8AC3E}">
        <p14:creationId xmlns:p14="http://schemas.microsoft.com/office/powerpoint/2010/main" val="10801680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04800"/>
            <a:ext cx="7467600" cy="1752600"/>
          </a:xfrm>
        </p:spPr>
        <p:txBody>
          <a:bodyPr>
            <a:noAutofit/>
          </a:bodyPr>
          <a:lstStyle/>
          <a:p>
            <a:r>
              <a:rPr lang="en-US" sz="3100" b="1" dirty="0" smtClean="0">
                <a:solidFill>
                  <a:srgbClr val="FF6600"/>
                </a:solidFill>
                <a:latin typeface="Helvetica" pitchFamily="34" charset="0"/>
              </a:rPr>
              <a:t>E2 Interpret research results</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2.5 Confirm tourism opportunities to be pursued with the local communities and relevant stakeholders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2362200"/>
            <a:ext cx="7467600" cy="4267200"/>
          </a:xfrm>
        </p:spPr>
        <p:txBody>
          <a:bodyPr>
            <a:noAutofit/>
          </a:bodyPr>
          <a:lstStyle/>
          <a:p>
            <a:pPr marL="36576" indent="0">
              <a:spcBef>
                <a:spcPts val="600"/>
              </a:spcBef>
              <a:spcAft>
                <a:spcPts val="600"/>
              </a:spcAft>
              <a:buNone/>
            </a:pPr>
            <a:r>
              <a:rPr lang="en-AU" sz="2000" dirty="0"/>
              <a:t>The process needs to include all identified stakeholders from local communities, to authorities and tour operators.</a:t>
            </a:r>
            <a:endParaRPr lang="en-US" sz="2000" dirty="0"/>
          </a:p>
          <a:p>
            <a:pPr marL="36576" indent="0">
              <a:spcBef>
                <a:spcPts val="600"/>
              </a:spcBef>
              <a:spcAft>
                <a:spcPts val="600"/>
              </a:spcAft>
              <a:buNone/>
            </a:pPr>
            <a:r>
              <a:rPr lang="en-AU" sz="2000" dirty="0"/>
              <a:t>It is recommended to use very similar strategies from the </a:t>
            </a:r>
            <a:r>
              <a:rPr lang="en-AU" sz="2000" dirty="0" smtClean="0"/>
              <a:t>initial </a:t>
            </a:r>
            <a:r>
              <a:rPr lang="en-AU" sz="2000" dirty="0"/>
              <a:t>consultation step covered in element 1. This will provide the stakeholders a feeling of familiarity and confidence in the consultation process and can </a:t>
            </a:r>
            <a:r>
              <a:rPr lang="en-AU" sz="2000" dirty="0" smtClean="0"/>
              <a:t>include:</a:t>
            </a:r>
            <a:endParaRPr lang="en-US" sz="2000" dirty="0"/>
          </a:p>
          <a:p>
            <a:pPr lvl="0">
              <a:spcBef>
                <a:spcPts val="600"/>
              </a:spcBef>
              <a:spcAft>
                <a:spcPts val="600"/>
              </a:spcAft>
            </a:pPr>
            <a:r>
              <a:rPr lang="en-AU" sz="2000" dirty="0"/>
              <a:t>Public meetings and reporting presentation</a:t>
            </a:r>
            <a:endParaRPr lang="en-US" sz="2000" dirty="0"/>
          </a:p>
          <a:p>
            <a:pPr lvl="0">
              <a:spcBef>
                <a:spcPts val="600"/>
              </a:spcBef>
              <a:spcAft>
                <a:spcPts val="600"/>
              </a:spcAft>
            </a:pPr>
            <a:r>
              <a:rPr lang="en-AU" sz="2000" dirty="0"/>
              <a:t>Postings on the designated website and social media</a:t>
            </a:r>
            <a:endParaRPr lang="en-US" sz="2000" dirty="0"/>
          </a:p>
          <a:p>
            <a:pPr lvl="0">
              <a:spcBef>
                <a:spcPts val="600"/>
              </a:spcBef>
              <a:spcAft>
                <a:spcPts val="600"/>
              </a:spcAft>
            </a:pPr>
            <a:r>
              <a:rPr lang="en-AU" sz="2000" dirty="0"/>
              <a:t>Media releases and interviews if  applicable at this stage </a:t>
            </a:r>
            <a:endParaRPr lang="en-US" sz="2000" dirty="0"/>
          </a:p>
          <a:p>
            <a:pPr marL="36576" indent="0">
              <a:spcBef>
                <a:spcPts val="600"/>
              </a:spcBef>
              <a:spcAft>
                <a:spcPts val="600"/>
              </a:spcAft>
              <a:buNone/>
            </a:pPr>
            <a:endParaRPr lang="en-US" sz="2000" dirty="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spTree>
    <p:extLst>
      <p:ext uri="{BB962C8B-B14F-4D97-AF65-F5344CB8AC3E}">
        <p14:creationId xmlns:p14="http://schemas.microsoft.com/office/powerpoint/2010/main" val="7075412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467600" cy="1524000"/>
          </a:xfrm>
        </p:spPr>
        <p:txBody>
          <a:bodyPr>
            <a:noAutofit/>
          </a:bodyPr>
          <a:lstStyle/>
          <a:p>
            <a:r>
              <a:rPr lang="en-US" sz="2800" b="1" dirty="0" smtClean="0">
                <a:solidFill>
                  <a:srgbClr val="FF6600"/>
                </a:solidFill>
                <a:latin typeface="Helvetica" pitchFamily="34" charset="0"/>
              </a:rPr>
              <a:t>E2 Interpret research results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2.5 Confirm tourism opportunities to be pursued with the local communities and relevant stakeholders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3796755"/>
          </a:xfrm>
        </p:spPr>
        <p:txBody>
          <a:bodyPr>
            <a:noAutofit/>
          </a:bodyPr>
          <a:lstStyle/>
          <a:p>
            <a:pPr marL="0" lvl="0" indent="0">
              <a:spcBef>
                <a:spcPts val="600"/>
              </a:spcBef>
              <a:spcAft>
                <a:spcPts val="1200"/>
              </a:spcAft>
              <a:buNone/>
            </a:pPr>
            <a:r>
              <a:rPr lang="en-AU" sz="2000" dirty="0" smtClean="0"/>
              <a:t>It is important to explain that the options </a:t>
            </a:r>
            <a:r>
              <a:rPr lang="en-AU" sz="2000" dirty="0"/>
              <a:t>identified in light of research and consultation: </a:t>
            </a:r>
            <a:endParaRPr lang="en-US" sz="2000" dirty="0"/>
          </a:p>
          <a:p>
            <a:pPr lvl="0">
              <a:spcBef>
                <a:spcPts val="600"/>
              </a:spcBef>
              <a:spcAft>
                <a:spcPts val="1200"/>
              </a:spcAft>
            </a:pPr>
            <a:r>
              <a:rPr lang="en-AU" sz="2000" dirty="0"/>
              <a:t>Represent research data factored in new </a:t>
            </a:r>
            <a:r>
              <a:rPr lang="en-AU" sz="2000" dirty="0" smtClean="0"/>
              <a:t/>
            </a:r>
            <a:br>
              <a:rPr lang="en-AU" sz="2000" dirty="0" smtClean="0"/>
            </a:br>
            <a:r>
              <a:rPr lang="en-AU" sz="2000" dirty="0" smtClean="0"/>
              <a:t>and </a:t>
            </a:r>
            <a:r>
              <a:rPr lang="en-AU" sz="2000" dirty="0"/>
              <a:t>emerging information and input – </a:t>
            </a:r>
            <a:r>
              <a:rPr lang="en-AU" sz="2000" dirty="0" smtClean="0"/>
              <a:t/>
            </a:r>
            <a:br>
              <a:rPr lang="en-AU" sz="2000" dirty="0" smtClean="0"/>
            </a:br>
            <a:r>
              <a:rPr lang="en-AU" sz="2000" dirty="0" smtClean="0"/>
              <a:t>which </a:t>
            </a:r>
            <a:r>
              <a:rPr lang="en-AU" sz="2000" dirty="0"/>
              <a:t>would simply not have been </a:t>
            </a:r>
            <a:r>
              <a:rPr lang="en-AU" sz="2000" dirty="0" smtClean="0"/>
              <a:t/>
            </a:r>
            <a:br>
              <a:rPr lang="en-AU" sz="2000" dirty="0" smtClean="0"/>
            </a:br>
            <a:r>
              <a:rPr lang="en-AU" sz="2000" dirty="0" smtClean="0"/>
              <a:t>available at </a:t>
            </a:r>
            <a:r>
              <a:rPr lang="en-AU" sz="2000" dirty="0"/>
              <a:t>the start of the program</a:t>
            </a:r>
            <a:endParaRPr lang="en-US" sz="2000" dirty="0"/>
          </a:p>
          <a:p>
            <a:pPr lvl="0">
              <a:spcBef>
                <a:spcPts val="600"/>
              </a:spcBef>
              <a:spcAft>
                <a:spcPts val="1200"/>
              </a:spcAft>
            </a:pPr>
            <a:r>
              <a:rPr lang="en-AU" sz="2000" dirty="0"/>
              <a:t>Mention both positive and potential </a:t>
            </a:r>
            <a:r>
              <a:rPr lang="en-AU" sz="2000" dirty="0" smtClean="0"/>
              <a:t/>
            </a:r>
            <a:br>
              <a:rPr lang="en-AU" sz="2000" dirty="0" smtClean="0"/>
            </a:br>
            <a:r>
              <a:rPr lang="en-AU" sz="2000" dirty="0" smtClean="0"/>
              <a:t>adverse impacts </a:t>
            </a:r>
            <a:endParaRPr lang="en-US" sz="2000" dirty="0"/>
          </a:p>
          <a:p>
            <a:pPr>
              <a:spcBef>
                <a:spcPts val="600"/>
              </a:spcBef>
              <a:spcAft>
                <a:spcPts val="1200"/>
              </a:spcAft>
            </a:pPr>
            <a:r>
              <a:rPr lang="en-AU" sz="2000" dirty="0"/>
              <a:t>Maintain credibility with the local community </a:t>
            </a: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3625" y="3048000"/>
            <a:ext cx="2151529" cy="1828800"/>
          </a:xfrm>
          <a:prstGeom prst="rect">
            <a:avLst/>
          </a:prstGeom>
        </p:spPr>
      </p:pic>
    </p:spTree>
    <p:extLst>
      <p:ext uri="{BB962C8B-B14F-4D97-AF65-F5344CB8AC3E}">
        <p14:creationId xmlns:p14="http://schemas.microsoft.com/office/powerpoint/2010/main" val="9967422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467600" cy="1600200"/>
          </a:xfrm>
        </p:spPr>
        <p:txBody>
          <a:bodyPr>
            <a:noAutofit/>
          </a:bodyPr>
          <a:lstStyle/>
          <a:p>
            <a:r>
              <a:rPr lang="en-US" sz="2800" b="1" dirty="0" smtClean="0">
                <a:solidFill>
                  <a:srgbClr val="FF6600"/>
                </a:solidFill>
                <a:latin typeface="Helvetica" pitchFamily="34" charset="0"/>
              </a:rPr>
              <a:t>E2 Interpret research results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2.5 Confirm tourism opportunities to be pursued with the local communities and relevant stakeholders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4191000"/>
          </a:xfrm>
        </p:spPr>
        <p:txBody>
          <a:bodyPr>
            <a:noAutofit/>
          </a:bodyPr>
          <a:lstStyle/>
          <a:p>
            <a:pPr lvl="0">
              <a:spcBef>
                <a:spcPts val="600"/>
              </a:spcBef>
              <a:spcAft>
                <a:spcPts val="600"/>
              </a:spcAft>
            </a:pPr>
            <a:r>
              <a:rPr lang="en-US" sz="2000" dirty="0" smtClean="0"/>
              <a:t>Keep </a:t>
            </a:r>
            <a:r>
              <a:rPr lang="en-US" sz="2000" dirty="0"/>
              <a:t>promises made – every host community awareness program will contain a public statement saying action will be taken as/where necessary to revise and adjust programs on the basis of feedback/research data and </a:t>
            </a:r>
          </a:p>
          <a:p>
            <a:pPr lvl="0">
              <a:spcBef>
                <a:spcPts val="600"/>
              </a:spcBef>
              <a:spcAft>
                <a:spcPts val="600"/>
              </a:spcAft>
            </a:pPr>
            <a:r>
              <a:rPr lang="en-US" sz="2000" dirty="0"/>
              <a:t>Prove ongoing engagement with the local community and the program in order to obtain support from local communities and </a:t>
            </a:r>
            <a:r>
              <a:rPr lang="en-US" sz="2000" dirty="0" smtClean="0"/>
              <a:t>stakeholders</a:t>
            </a:r>
            <a:endParaRPr lang="en-US" sz="2000" dirty="0"/>
          </a:p>
          <a:p>
            <a:pPr lvl="0">
              <a:spcBef>
                <a:spcPts val="600"/>
              </a:spcBef>
              <a:spcAft>
                <a:spcPts val="600"/>
              </a:spcAft>
            </a:pPr>
            <a:r>
              <a:rPr lang="en-AU" sz="2000" dirty="0"/>
              <a:t>Promotes and encourage a frank and open dialogue for  all identified stakeholders to speak and comment on the data researched, interpreted, the opportunities and the possibilities </a:t>
            </a:r>
            <a:r>
              <a:rPr lang="en-AU" sz="2000" dirty="0" smtClean="0"/>
              <a:t>presented</a:t>
            </a: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spTree>
    <p:extLst>
      <p:ext uri="{BB962C8B-B14F-4D97-AF65-F5344CB8AC3E}">
        <p14:creationId xmlns:p14="http://schemas.microsoft.com/office/powerpoint/2010/main" val="24751313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694240" cy="1752600"/>
          </a:xfrm>
        </p:spPr>
        <p:txBody>
          <a:bodyPr>
            <a:noAutofit/>
          </a:bodyPr>
          <a:lstStyle/>
          <a:p>
            <a:r>
              <a:rPr lang="en-US" sz="2800" b="1" dirty="0" smtClean="0">
                <a:solidFill>
                  <a:srgbClr val="FF6600"/>
                </a:solidFill>
                <a:latin typeface="Helvetica" pitchFamily="34" charset="0"/>
              </a:rPr>
              <a:t>E2 Interpret research results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2.5 Confirm tourism opportunities to be pursued with the local communities and relevant stakeholders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362200"/>
            <a:ext cx="7694240" cy="4343400"/>
          </a:xfrm>
        </p:spPr>
        <p:txBody>
          <a:bodyPr>
            <a:noAutofit/>
          </a:bodyPr>
          <a:lstStyle/>
          <a:p>
            <a:pPr marL="0" lvl="0" indent="0">
              <a:spcBef>
                <a:spcPts val="600"/>
              </a:spcBef>
              <a:spcAft>
                <a:spcPts val="600"/>
              </a:spcAft>
              <a:buNone/>
            </a:pPr>
            <a:r>
              <a:rPr lang="en-AU" sz="2000" dirty="0" smtClean="0"/>
              <a:t>Organise information </a:t>
            </a:r>
            <a:r>
              <a:rPr lang="en-AU" sz="2000" dirty="0"/>
              <a:t>distribution channels to reach all stakeholders:  </a:t>
            </a:r>
            <a:endParaRPr lang="en-US" sz="2000" dirty="0"/>
          </a:p>
          <a:p>
            <a:pPr lvl="0">
              <a:spcBef>
                <a:spcPts val="600"/>
              </a:spcBef>
              <a:spcAft>
                <a:spcPts val="600"/>
              </a:spcAft>
            </a:pPr>
            <a:r>
              <a:rPr lang="en-US" sz="2000" dirty="0"/>
              <a:t>Enough face to face meetings, seminars and workshops</a:t>
            </a:r>
          </a:p>
          <a:p>
            <a:pPr lvl="0">
              <a:spcBef>
                <a:spcPts val="600"/>
              </a:spcBef>
              <a:spcAft>
                <a:spcPts val="600"/>
              </a:spcAft>
            </a:pPr>
            <a:r>
              <a:rPr lang="en-US" sz="2000" dirty="0"/>
              <a:t>Enough lead time prior to meetings, seminars, workshops for stakeholders to get organized to </a:t>
            </a:r>
            <a:r>
              <a:rPr lang="en-US" sz="2000" dirty="0" smtClean="0"/>
              <a:t>attend</a:t>
            </a:r>
          </a:p>
          <a:p>
            <a:pPr lvl="0">
              <a:spcBef>
                <a:spcPts val="600"/>
              </a:spcBef>
              <a:spcAft>
                <a:spcPts val="600"/>
              </a:spcAft>
            </a:pPr>
            <a:r>
              <a:rPr lang="en-US" sz="2000" dirty="0" smtClean="0"/>
              <a:t>Publicise </a:t>
            </a:r>
            <a:r>
              <a:rPr lang="en-US" sz="2000" dirty="0"/>
              <a:t>how, when the information : hard or/and soft copy will be  disseminated</a:t>
            </a:r>
          </a:p>
          <a:p>
            <a:pPr lvl="0">
              <a:spcBef>
                <a:spcPts val="600"/>
              </a:spcBef>
              <a:spcAft>
                <a:spcPts val="600"/>
              </a:spcAft>
            </a:pPr>
            <a:r>
              <a:rPr lang="en-US" sz="2000" dirty="0"/>
              <a:t>Provide enough time for all stakeholders to provide comments  </a:t>
            </a:r>
          </a:p>
          <a:p>
            <a:pPr lvl="0">
              <a:spcBef>
                <a:spcPts val="600"/>
              </a:spcBef>
              <a:spcAft>
                <a:spcPts val="600"/>
              </a:spcAft>
            </a:pPr>
            <a:r>
              <a:rPr lang="en-AU" sz="2000" dirty="0"/>
              <a:t>Be very clear as to how the local communities input is reflected  </a:t>
            </a:r>
            <a:endParaRPr lang="en-US" sz="2000" dirty="0"/>
          </a:p>
          <a:p>
            <a:pPr lvl="0">
              <a:spcBef>
                <a:spcPts val="600"/>
              </a:spcBef>
              <a:spcAft>
                <a:spcPts val="600"/>
              </a:spcAft>
            </a:pPr>
            <a:endParaRPr lang="en-US" sz="2000" dirty="0"/>
          </a:p>
          <a:p>
            <a:pPr lvl="0">
              <a:spcBef>
                <a:spcPts val="600"/>
              </a:spcBef>
              <a:spcAft>
                <a:spcPts val="600"/>
              </a:spcAft>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spTree>
    <p:extLst>
      <p:ext uri="{BB962C8B-B14F-4D97-AF65-F5344CB8AC3E}">
        <p14:creationId xmlns:p14="http://schemas.microsoft.com/office/powerpoint/2010/main" val="24909706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81000"/>
            <a:ext cx="7467600" cy="1600200"/>
          </a:xfrm>
        </p:spPr>
        <p:txBody>
          <a:bodyPr>
            <a:noAutofit/>
          </a:bodyPr>
          <a:lstStyle/>
          <a:p>
            <a:r>
              <a:rPr lang="en-US" sz="2800" b="1" dirty="0" smtClean="0">
                <a:solidFill>
                  <a:srgbClr val="FF6600"/>
                </a:solidFill>
                <a:latin typeface="Helvetica" pitchFamily="34" charset="0"/>
              </a:rPr>
              <a:t>E2 Interpret research results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2.5 Confirm tourism opportunities to be pursued with the local communities and relevant stakeholders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362200"/>
            <a:ext cx="7618040" cy="4038600"/>
          </a:xfrm>
        </p:spPr>
        <p:txBody>
          <a:bodyPr>
            <a:noAutofit/>
          </a:bodyPr>
          <a:lstStyle/>
          <a:p>
            <a:pPr marL="36576" lvl="0" indent="0">
              <a:spcBef>
                <a:spcPts val="600"/>
              </a:spcBef>
              <a:spcAft>
                <a:spcPts val="1200"/>
              </a:spcAft>
              <a:buNone/>
            </a:pPr>
            <a:r>
              <a:rPr lang="en-AU" sz="2000" dirty="0"/>
              <a:t>In light of feedback obtained, the following actions and strategies might become part of the formal draft </a:t>
            </a:r>
            <a:r>
              <a:rPr lang="en-AU" sz="2000" dirty="0" smtClean="0"/>
              <a:t>plans: </a:t>
            </a:r>
            <a:endParaRPr lang="en-US" sz="2000" dirty="0"/>
          </a:p>
          <a:p>
            <a:pPr lvl="0">
              <a:spcBef>
                <a:spcPts val="600"/>
              </a:spcBef>
              <a:spcAft>
                <a:spcPts val="1200"/>
              </a:spcAft>
            </a:pPr>
            <a:r>
              <a:rPr lang="en-US" sz="2000" dirty="0"/>
              <a:t>Receive, acknowledge and accept feedback indicating the proposed course of action are not acceptable by local communities and key stakeholders  </a:t>
            </a:r>
          </a:p>
          <a:p>
            <a:pPr lvl="0">
              <a:spcBef>
                <a:spcPts val="600"/>
              </a:spcBef>
              <a:spcAft>
                <a:spcPts val="1200"/>
              </a:spcAft>
            </a:pPr>
            <a:r>
              <a:rPr lang="en-US" sz="2000" dirty="0"/>
              <a:t>Obtain support from local communities and key stakeholders to pursue nominated course of action</a:t>
            </a:r>
          </a:p>
          <a:p>
            <a:pPr lvl="0">
              <a:spcBef>
                <a:spcPts val="600"/>
              </a:spcBef>
              <a:spcAft>
                <a:spcPts val="1200"/>
              </a:spcAft>
            </a:pPr>
            <a:r>
              <a:rPr lang="en-AU" sz="2000" dirty="0"/>
              <a:t>Revise proposals based on negative comments to generate more acceptable courses of action</a:t>
            </a:r>
            <a:endParaRPr lang="en-US" sz="2000" dirty="0"/>
          </a:p>
          <a:p>
            <a:pPr>
              <a:spcBef>
                <a:spcPts val="600"/>
              </a:spcBef>
              <a:spcAft>
                <a:spcPts val="1200"/>
              </a:spcAft>
              <a:buNone/>
            </a:pPr>
            <a:r>
              <a:rPr lang="en-AU" sz="2000" dirty="0"/>
              <a:t> </a:t>
            </a:r>
            <a:endParaRPr lang="en-US" sz="2000" dirty="0"/>
          </a:p>
          <a:p>
            <a:pPr lvl="0">
              <a:spcBef>
                <a:spcPts val="600"/>
              </a:spcBef>
              <a:spcAft>
                <a:spcPts val="1200"/>
              </a:spcAft>
              <a:buNone/>
            </a:pPr>
            <a:r>
              <a:rPr lang="en-AU" sz="2000" dirty="0"/>
              <a:t/>
            </a:r>
            <a:br>
              <a:rPr lang="en-AU" sz="2000" dirty="0"/>
            </a:br>
            <a:r>
              <a:rPr lang="en-AU" sz="2000" dirty="0"/>
              <a:t> </a:t>
            </a:r>
            <a:endParaRPr lang="en-US" sz="2000" dirty="0"/>
          </a:p>
          <a:p>
            <a:pPr lvl="0">
              <a:spcBef>
                <a:spcPts val="600"/>
              </a:spcBef>
              <a:spcAft>
                <a:spcPts val="1200"/>
              </a:spcAft>
            </a:pPr>
            <a:endParaRPr lang="en-AU"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spTree>
    <p:extLst>
      <p:ext uri="{BB962C8B-B14F-4D97-AF65-F5344CB8AC3E}">
        <p14:creationId xmlns:p14="http://schemas.microsoft.com/office/powerpoint/2010/main" val="30554669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94240" cy="962744"/>
          </a:xfrm>
        </p:spPr>
        <p:txBody>
          <a:bodyPr>
            <a:normAutofit fontScale="90000"/>
          </a:bodyPr>
          <a:lstStyle/>
          <a:p>
            <a:r>
              <a:rPr lang="en-US" sz="3400" b="1" dirty="0">
                <a:solidFill>
                  <a:srgbClr val="FF6600"/>
                </a:solidFill>
                <a:latin typeface="Helvetica" pitchFamily="34" charset="0"/>
              </a:rPr>
              <a:t>Element 3 – Prepare formal draft plans </a:t>
            </a:r>
          </a:p>
        </p:txBody>
      </p:sp>
      <p:sp>
        <p:nvSpPr>
          <p:cNvPr id="3" name="Content Placeholder 2"/>
          <p:cNvSpPr>
            <a:spLocks noGrp="1"/>
          </p:cNvSpPr>
          <p:nvPr>
            <p:ph idx="1"/>
          </p:nvPr>
        </p:nvSpPr>
        <p:spPr>
          <a:xfrm>
            <a:off x="611560" y="1371600"/>
            <a:ext cx="7467600" cy="4711155"/>
          </a:xfrm>
        </p:spPr>
        <p:txBody>
          <a:bodyPr>
            <a:normAutofit/>
          </a:bodyPr>
          <a:lstStyle/>
          <a:p>
            <a:pPr marL="457200" indent="-457200">
              <a:spcBef>
                <a:spcPts val="600"/>
              </a:spcBef>
              <a:spcAft>
                <a:spcPts val="1200"/>
              </a:spcAft>
              <a:buNone/>
            </a:pPr>
            <a:r>
              <a:rPr lang="en-US" sz="2200" b="1" dirty="0" smtClean="0">
                <a:latin typeface="Helvetica" pitchFamily="34" charset="0"/>
              </a:rPr>
              <a:t>This element has 10 criteria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grpSp>
        <p:nvGrpSpPr>
          <p:cNvPr id="7" name="Group 6"/>
          <p:cNvGrpSpPr/>
          <p:nvPr/>
        </p:nvGrpSpPr>
        <p:grpSpPr>
          <a:xfrm>
            <a:off x="609600" y="2057400"/>
            <a:ext cx="6248400" cy="3985201"/>
            <a:chOff x="609600" y="2288331"/>
            <a:chExt cx="6248400" cy="3985201"/>
          </a:xfrm>
        </p:grpSpPr>
        <p:sp>
          <p:nvSpPr>
            <p:cNvPr id="8" name="Rectangle 7"/>
            <p:cNvSpPr/>
            <p:nvPr/>
          </p:nvSpPr>
          <p:spPr>
            <a:xfrm>
              <a:off x="609600" y="2554011"/>
              <a:ext cx="62484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9" name="Freeform 8"/>
            <p:cNvSpPr/>
            <p:nvPr/>
          </p:nvSpPr>
          <p:spPr>
            <a:xfrm>
              <a:off x="922020" y="2288331"/>
              <a:ext cx="5288283" cy="531360"/>
            </a:xfrm>
            <a:custGeom>
              <a:avLst/>
              <a:gdLst>
                <a:gd name="connsiteX0" fmla="*/ 0 w 5288283"/>
                <a:gd name="connsiteY0" fmla="*/ 88562 h 531360"/>
                <a:gd name="connsiteX1" fmla="*/ 88562 w 5288283"/>
                <a:gd name="connsiteY1" fmla="*/ 0 h 531360"/>
                <a:gd name="connsiteX2" fmla="*/ 5199721 w 5288283"/>
                <a:gd name="connsiteY2" fmla="*/ 0 h 531360"/>
                <a:gd name="connsiteX3" fmla="*/ 5288283 w 5288283"/>
                <a:gd name="connsiteY3" fmla="*/ 88562 h 531360"/>
                <a:gd name="connsiteX4" fmla="*/ 5288283 w 5288283"/>
                <a:gd name="connsiteY4" fmla="*/ 442798 h 531360"/>
                <a:gd name="connsiteX5" fmla="*/ 5199721 w 5288283"/>
                <a:gd name="connsiteY5" fmla="*/ 531360 h 531360"/>
                <a:gd name="connsiteX6" fmla="*/ 88562 w 5288283"/>
                <a:gd name="connsiteY6" fmla="*/ 531360 h 531360"/>
                <a:gd name="connsiteX7" fmla="*/ 0 w 5288283"/>
                <a:gd name="connsiteY7" fmla="*/ 442798 h 531360"/>
                <a:gd name="connsiteX8" fmla="*/ 0 w 5288283"/>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8283" h="531360">
                  <a:moveTo>
                    <a:pt x="0" y="88562"/>
                  </a:moveTo>
                  <a:cubicBezTo>
                    <a:pt x="0" y="39651"/>
                    <a:pt x="39651" y="0"/>
                    <a:pt x="88562" y="0"/>
                  </a:cubicBezTo>
                  <a:lnTo>
                    <a:pt x="5199721" y="0"/>
                  </a:lnTo>
                  <a:cubicBezTo>
                    <a:pt x="5248632" y="0"/>
                    <a:pt x="5288283" y="39651"/>
                    <a:pt x="5288283" y="88562"/>
                  </a:cubicBezTo>
                  <a:lnTo>
                    <a:pt x="5288283" y="442798"/>
                  </a:lnTo>
                  <a:cubicBezTo>
                    <a:pt x="5288283" y="491709"/>
                    <a:pt x="5248632" y="531360"/>
                    <a:pt x="5199721"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91261" tIns="25939" rIns="191261"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Seek assistance from external experts and relevant personnel </a:t>
              </a:r>
              <a:endParaRPr lang="en-AU" sz="1400" b="1" kern="1200" dirty="0"/>
            </a:p>
          </p:txBody>
        </p:sp>
        <p:sp>
          <p:nvSpPr>
            <p:cNvPr id="10" name="Rectangle 9"/>
            <p:cNvSpPr/>
            <p:nvPr/>
          </p:nvSpPr>
          <p:spPr>
            <a:xfrm>
              <a:off x="609600" y="3370491"/>
              <a:ext cx="62484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1" name="Freeform 10"/>
            <p:cNvSpPr/>
            <p:nvPr/>
          </p:nvSpPr>
          <p:spPr>
            <a:xfrm>
              <a:off x="922020" y="3104811"/>
              <a:ext cx="5288283" cy="531360"/>
            </a:xfrm>
            <a:custGeom>
              <a:avLst/>
              <a:gdLst>
                <a:gd name="connsiteX0" fmla="*/ 0 w 5288283"/>
                <a:gd name="connsiteY0" fmla="*/ 88562 h 531360"/>
                <a:gd name="connsiteX1" fmla="*/ 88562 w 5288283"/>
                <a:gd name="connsiteY1" fmla="*/ 0 h 531360"/>
                <a:gd name="connsiteX2" fmla="*/ 5199721 w 5288283"/>
                <a:gd name="connsiteY2" fmla="*/ 0 h 531360"/>
                <a:gd name="connsiteX3" fmla="*/ 5288283 w 5288283"/>
                <a:gd name="connsiteY3" fmla="*/ 88562 h 531360"/>
                <a:gd name="connsiteX4" fmla="*/ 5288283 w 5288283"/>
                <a:gd name="connsiteY4" fmla="*/ 442798 h 531360"/>
                <a:gd name="connsiteX5" fmla="*/ 5199721 w 5288283"/>
                <a:gd name="connsiteY5" fmla="*/ 531360 h 531360"/>
                <a:gd name="connsiteX6" fmla="*/ 88562 w 5288283"/>
                <a:gd name="connsiteY6" fmla="*/ 531360 h 531360"/>
                <a:gd name="connsiteX7" fmla="*/ 0 w 5288283"/>
                <a:gd name="connsiteY7" fmla="*/ 442798 h 531360"/>
                <a:gd name="connsiteX8" fmla="*/ 0 w 5288283"/>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8283" h="531360">
                  <a:moveTo>
                    <a:pt x="0" y="88562"/>
                  </a:moveTo>
                  <a:cubicBezTo>
                    <a:pt x="0" y="39651"/>
                    <a:pt x="39651" y="0"/>
                    <a:pt x="88562" y="0"/>
                  </a:cubicBezTo>
                  <a:lnTo>
                    <a:pt x="5199721" y="0"/>
                  </a:lnTo>
                  <a:cubicBezTo>
                    <a:pt x="5248632" y="0"/>
                    <a:pt x="5288283" y="39651"/>
                    <a:pt x="5288283" y="88562"/>
                  </a:cubicBezTo>
                  <a:lnTo>
                    <a:pt x="5288283" y="442798"/>
                  </a:lnTo>
                  <a:cubicBezTo>
                    <a:pt x="5288283" y="491709"/>
                    <a:pt x="5248632" y="531360"/>
                    <a:pt x="5199721"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91261" tIns="25939" rIns="191261"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Ensure draft plans reflect community interests and concerns</a:t>
              </a:r>
              <a:endParaRPr lang="en-AU" sz="1400" b="1" kern="1200" dirty="0"/>
            </a:p>
          </p:txBody>
        </p:sp>
        <p:sp>
          <p:nvSpPr>
            <p:cNvPr id="12" name="Rectangle 11"/>
            <p:cNvSpPr/>
            <p:nvPr/>
          </p:nvSpPr>
          <p:spPr>
            <a:xfrm>
              <a:off x="609600" y="4186971"/>
              <a:ext cx="62484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3" name="Freeform 12"/>
            <p:cNvSpPr/>
            <p:nvPr/>
          </p:nvSpPr>
          <p:spPr>
            <a:xfrm>
              <a:off x="922020" y="3921291"/>
              <a:ext cx="5288283" cy="531360"/>
            </a:xfrm>
            <a:custGeom>
              <a:avLst/>
              <a:gdLst>
                <a:gd name="connsiteX0" fmla="*/ 0 w 5288283"/>
                <a:gd name="connsiteY0" fmla="*/ 88562 h 531360"/>
                <a:gd name="connsiteX1" fmla="*/ 88562 w 5288283"/>
                <a:gd name="connsiteY1" fmla="*/ 0 h 531360"/>
                <a:gd name="connsiteX2" fmla="*/ 5199721 w 5288283"/>
                <a:gd name="connsiteY2" fmla="*/ 0 h 531360"/>
                <a:gd name="connsiteX3" fmla="*/ 5288283 w 5288283"/>
                <a:gd name="connsiteY3" fmla="*/ 88562 h 531360"/>
                <a:gd name="connsiteX4" fmla="*/ 5288283 w 5288283"/>
                <a:gd name="connsiteY4" fmla="*/ 442798 h 531360"/>
                <a:gd name="connsiteX5" fmla="*/ 5199721 w 5288283"/>
                <a:gd name="connsiteY5" fmla="*/ 531360 h 531360"/>
                <a:gd name="connsiteX6" fmla="*/ 88562 w 5288283"/>
                <a:gd name="connsiteY6" fmla="*/ 531360 h 531360"/>
                <a:gd name="connsiteX7" fmla="*/ 0 w 5288283"/>
                <a:gd name="connsiteY7" fmla="*/ 442798 h 531360"/>
                <a:gd name="connsiteX8" fmla="*/ 0 w 5288283"/>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8283" h="531360">
                  <a:moveTo>
                    <a:pt x="0" y="88562"/>
                  </a:moveTo>
                  <a:cubicBezTo>
                    <a:pt x="0" y="39651"/>
                    <a:pt x="39651" y="0"/>
                    <a:pt x="88562" y="0"/>
                  </a:cubicBezTo>
                  <a:lnTo>
                    <a:pt x="5199721" y="0"/>
                  </a:lnTo>
                  <a:cubicBezTo>
                    <a:pt x="5248632" y="0"/>
                    <a:pt x="5288283" y="39651"/>
                    <a:pt x="5288283" y="88562"/>
                  </a:cubicBezTo>
                  <a:lnTo>
                    <a:pt x="5288283" y="442798"/>
                  </a:lnTo>
                  <a:cubicBezTo>
                    <a:pt x="5288283" y="491709"/>
                    <a:pt x="5248632" y="531360"/>
                    <a:pt x="5199721"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91261" tIns="25939" rIns="191261"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Ensure draft plans reflect the business plans and direction of the host enterprise </a:t>
              </a:r>
              <a:endParaRPr lang="en-AU" sz="1400" b="1" kern="1200" dirty="0"/>
            </a:p>
          </p:txBody>
        </p:sp>
        <p:sp>
          <p:nvSpPr>
            <p:cNvPr id="14" name="Rectangle 13"/>
            <p:cNvSpPr/>
            <p:nvPr/>
          </p:nvSpPr>
          <p:spPr>
            <a:xfrm>
              <a:off x="609600" y="5003452"/>
              <a:ext cx="62484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5" name="Freeform 14"/>
            <p:cNvSpPr/>
            <p:nvPr/>
          </p:nvSpPr>
          <p:spPr>
            <a:xfrm>
              <a:off x="922020" y="4737772"/>
              <a:ext cx="5288283" cy="531360"/>
            </a:xfrm>
            <a:custGeom>
              <a:avLst/>
              <a:gdLst>
                <a:gd name="connsiteX0" fmla="*/ 0 w 5288283"/>
                <a:gd name="connsiteY0" fmla="*/ 88562 h 531360"/>
                <a:gd name="connsiteX1" fmla="*/ 88562 w 5288283"/>
                <a:gd name="connsiteY1" fmla="*/ 0 h 531360"/>
                <a:gd name="connsiteX2" fmla="*/ 5199721 w 5288283"/>
                <a:gd name="connsiteY2" fmla="*/ 0 h 531360"/>
                <a:gd name="connsiteX3" fmla="*/ 5288283 w 5288283"/>
                <a:gd name="connsiteY3" fmla="*/ 88562 h 531360"/>
                <a:gd name="connsiteX4" fmla="*/ 5288283 w 5288283"/>
                <a:gd name="connsiteY4" fmla="*/ 442798 h 531360"/>
                <a:gd name="connsiteX5" fmla="*/ 5199721 w 5288283"/>
                <a:gd name="connsiteY5" fmla="*/ 531360 h 531360"/>
                <a:gd name="connsiteX6" fmla="*/ 88562 w 5288283"/>
                <a:gd name="connsiteY6" fmla="*/ 531360 h 531360"/>
                <a:gd name="connsiteX7" fmla="*/ 0 w 5288283"/>
                <a:gd name="connsiteY7" fmla="*/ 442798 h 531360"/>
                <a:gd name="connsiteX8" fmla="*/ 0 w 5288283"/>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8283" h="531360">
                  <a:moveTo>
                    <a:pt x="0" y="88562"/>
                  </a:moveTo>
                  <a:cubicBezTo>
                    <a:pt x="0" y="39651"/>
                    <a:pt x="39651" y="0"/>
                    <a:pt x="88562" y="0"/>
                  </a:cubicBezTo>
                  <a:lnTo>
                    <a:pt x="5199721" y="0"/>
                  </a:lnTo>
                  <a:cubicBezTo>
                    <a:pt x="5248632" y="0"/>
                    <a:pt x="5288283" y="39651"/>
                    <a:pt x="5288283" y="88562"/>
                  </a:cubicBezTo>
                  <a:lnTo>
                    <a:pt x="5288283" y="442798"/>
                  </a:lnTo>
                  <a:cubicBezTo>
                    <a:pt x="5288283" y="491709"/>
                    <a:pt x="5248632" y="531360"/>
                    <a:pt x="5199721"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91261" tIns="25939" rIns="191261"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Identify training needs and training delivery methodologies</a:t>
              </a:r>
              <a:endParaRPr lang="en-AU" sz="1400" b="1" kern="1200" dirty="0"/>
            </a:p>
          </p:txBody>
        </p:sp>
        <p:sp>
          <p:nvSpPr>
            <p:cNvPr id="16" name="Rectangle 15"/>
            <p:cNvSpPr/>
            <p:nvPr/>
          </p:nvSpPr>
          <p:spPr>
            <a:xfrm>
              <a:off x="609600" y="5819932"/>
              <a:ext cx="62484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7" name="Freeform 16"/>
            <p:cNvSpPr/>
            <p:nvPr/>
          </p:nvSpPr>
          <p:spPr>
            <a:xfrm>
              <a:off x="922020" y="5554252"/>
              <a:ext cx="5288283" cy="531360"/>
            </a:xfrm>
            <a:custGeom>
              <a:avLst/>
              <a:gdLst>
                <a:gd name="connsiteX0" fmla="*/ 0 w 5288283"/>
                <a:gd name="connsiteY0" fmla="*/ 88562 h 531360"/>
                <a:gd name="connsiteX1" fmla="*/ 88562 w 5288283"/>
                <a:gd name="connsiteY1" fmla="*/ 0 h 531360"/>
                <a:gd name="connsiteX2" fmla="*/ 5199721 w 5288283"/>
                <a:gd name="connsiteY2" fmla="*/ 0 h 531360"/>
                <a:gd name="connsiteX3" fmla="*/ 5288283 w 5288283"/>
                <a:gd name="connsiteY3" fmla="*/ 88562 h 531360"/>
                <a:gd name="connsiteX4" fmla="*/ 5288283 w 5288283"/>
                <a:gd name="connsiteY4" fmla="*/ 442798 h 531360"/>
                <a:gd name="connsiteX5" fmla="*/ 5199721 w 5288283"/>
                <a:gd name="connsiteY5" fmla="*/ 531360 h 531360"/>
                <a:gd name="connsiteX6" fmla="*/ 88562 w 5288283"/>
                <a:gd name="connsiteY6" fmla="*/ 531360 h 531360"/>
                <a:gd name="connsiteX7" fmla="*/ 0 w 5288283"/>
                <a:gd name="connsiteY7" fmla="*/ 442798 h 531360"/>
                <a:gd name="connsiteX8" fmla="*/ 0 w 5288283"/>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8283" h="531360">
                  <a:moveTo>
                    <a:pt x="0" y="88562"/>
                  </a:moveTo>
                  <a:cubicBezTo>
                    <a:pt x="0" y="39651"/>
                    <a:pt x="39651" y="0"/>
                    <a:pt x="88562" y="0"/>
                  </a:cubicBezTo>
                  <a:lnTo>
                    <a:pt x="5199721" y="0"/>
                  </a:lnTo>
                  <a:cubicBezTo>
                    <a:pt x="5248632" y="0"/>
                    <a:pt x="5288283" y="39651"/>
                    <a:pt x="5288283" y="88562"/>
                  </a:cubicBezTo>
                  <a:lnTo>
                    <a:pt x="5288283" y="442798"/>
                  </a:lnTo>
                  <a:cubicBezTo>
                    <a:pt x="5288283" y="491709"/>
                    <a:pt x="5248632" y="531360"/>
                    <a:pt x="5199721"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91261" tIns="25939" rIns="191261"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Identify physical infrastructure needs for the local communities and the host enterprise</a:t>
              </a:r>
              <a:endParaRPr lang="en-AU" sz="1400" b="1" kern="1200" dirty="0"/>
            </a:p>
          </p:txBody>
        </p:sp>
      </p:grpSp>
      <p:sp>
        <p:nvSpPr>
          <p:cNvPr id="6" name="Rectangle 5"/>
          <p:cNvSpPr/>
          <p:nvPr/>
        </p:nvSpPr>
        <p:spPr>
          <a:xfrm>
            <a:off x="7162800" y="5943600"/>
            <a:ext cx="1349344" cy="369332"/>
          </a:xfrm>
          <a:prstGeom prst="rect">
            <a:avLst/>
          </a:prstGeom>
        </p:spPr>
        <p:txBody>
          <a:bodyPr wrap="none">
            <a:spAutoFit/>
          </a:bodyPr>
          <a:lstStyle/>
          <a:p>
            <a:r>
              <a:rPr lang="en-US" b="1" i="1" dirty="0">
                <a:latin typeface="Helvetica" pitchFamily="34" charset="0"/>
              </a:rPr>
              <a:t>continued </a:t>
            </a:r>
            <a:endParaRPr lang="en-AU" b="1" i="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r>
              <a:rPr lang="en-US" sz="3100" b="1" dirty="0" smtClean="0">
                <a:solidFill>
                  <a:srgbClr val="FF6600"/>
                </a:solidFill>
                <a:latin typeface="Helvetica" pitchFamily="34" charset="0"/>
              </a:rPr>
              <a:t>Element 3 – Prepare formal draft plans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7467600" cy="4711155"/>
          </a:xfrm>
        </p:spPr>
        <p:txBody>
          <a:bodyPr>
            <a:normAutofit/>
          </a:bodyPr>
          <a:lstStyle/>
          <a:p>
            <a:pPr marL="457200" indent="-457200">
              <a:spcBef>
                <a:spcPts val="600"/>
              </a:spcBef>
              <a:spcAft>
                <a:spcPts val="1200"/>
              </a:spcAft>
              <a:buNone/>
            </a:pPr>
            <a:r>
              <a:rPr lang="en-US" sz="2200" b="1" dirty="0" smtClean="0"/>
              <a:t>This </a:t>
            </a:r>
            <a:r>
              <a:rPr lang="en-US" sz="2200" b="1" dirty="0"/>
              <a:t>element has 10 criteria  </a:t>
            </a:r>
          </a:p>
          <a:p>
            <a:pPr marL="457200" indent="-4572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grpSp>
        <p:nvGrpSpPr>
          <p:cNvPr id="5" name="Group 4"/>
          <p:cNvGrpSpPr/>
          <p:nvPr/>
        </p:nvGrpSpPr>
        <p:grpSpPr>
          <a:xfrm>
            <a:off x="762000" y="2096799"/>
            <a:ext cx="6781800" cy="3985201"/>
            <a:chOff x="762000" y="2096799"/>
            <a:chExt cx="6781800" cy="3985201"/>
          </a:xfrm>
        </p:grpSpPr>
        <p:sp>
          <p:nvSpPr>
            <p:cNvPr id="7" name="Rectangle 6"/>
            <p:cNvSpPr/>
            <p:nvPr/>
          </p:nvSpPr>
          <p:spPr>
            <a:xfrm>
              <a:off x="762000" y="2362479"/>
              <a:ext cx="67818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8" name="Freeform 7"/>
            <p:cNvSpPr/>
            <p:nvPr/>
          </p:nvSpPr>
          <p:spPr>
            <a:xfrm>
              <a:off x="1101090" y="2096799"/>
              <a:ext cx="5739722" cy="531360"/>
            </a:xfrm>
            <a:custGeom>
              <a:avLst/>
              <a:gdLst>
                <a:gd name="connsiteX0" fmla="*/ 0 w 5739722"/>
                <a:gd name="connsiteY0" fmla="*/ 88562 h 531360"/>
                <a:gd name="connsiteX1" fmla="*/ 88562 w 5739722"/>
                <a:gd name="connsiteY1" fmla="*/ 0 h 531360"/>
                <a:gd name="connsiteX2" fmla="*/ 5651160 w 5739722"/>
                <a:gd name="connsiteY2" fmla="*/ 0 h 531360"/>
                <a:gd name="connsiteX3" fmla="*/ 5739722 w 5739722"/>
                <a:gd name="connsiteY3" fmla="*/ 88562 h 531360"/>
                <a:gd name="connsiteX4" fmla="*/ 5739722 w 5739722"/>
                <a:gd name="connsiteY4" fmla="*/ 442798 h 531360"/>
                <a:gd name="connsiteX5" fmla="*/ 5651160 w 5739722"/>
                <a:gd name="connsiteY5" fmla="*/ 531360 h 531360"/>
                <a:gd name="connsiteX6" fmla="*/ 88562 w 5739722"/>
                <a:gd name="connsiteY6" fmla="*/ 531360 h 531360"/>
                <a:gd name="connsiteX7" fmla="*/ 0 w 5739722"/>
                <a:gd name="connsiteY7" fmla="*/ 442798 h 531360"/>
                <a:gd name="connsiteX8" fmla="*/ 0 w 5739722"/>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9722" h="531360">
                  <a:moveTo>
                    <a:pt x="0" y="88562"/>
                  </a:moveTo>
                  <a:cubicBezTo>
                    <a:pt x="0" y="39651"/>
                    <a:pt x="39651" y="0"/>
                    <a:pt x="88562" y="0"/>
                  </a:cubicBezTo>
                  <a:lnTo>
                    <a:pt x="5651160" y="0"/>
                  </a:lnTo>
                  <a:cubicBezTo>
                    <a:pt x="5700071" y="0"/>
                    <a:pt x="5739722" y="39651"/>
                    <a:pt x="5739722" y="88562"/>
                  </a:cubicBezTo>
                  <a:lnTo>
                    <a:pt x="5739722" y="442798"/>
                  </a:lnTo>
                  <a:cubicBezTo>
                    <a:pt x="5739722" y="491709"/>
                    <a:pt x="5700071" y="531360"/>
                    <a:pt x="5651160"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05374" tIns="25939" rIns="205374"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Identify resources that need to be supplied to the local communities to facilitate the implementation plans</a:t>
              </a:r>
              <a:endParaRPr lang="en-AU" sz="1400" b="1" kern="1200" dirty="0"/>
            </a:p>
          </p:txBody>
        </p:sp>
        <p:sp>
          <p:nvSpPr>
            <p:cNvPr id="9" name="Rectangle 8"/>
            <p:cNvSpPr/>
            <p:nvPr/>
          </p:nvSpPr>
          <p:spPr>
            <a:xfrm>
              <a:off x="762000" y="3178959"/>
              <a:ext cx="67818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 name="Freeform 9"/>
            <p:cNvSpPr/>
            <p:nvPr/>
          </p:nvSpPr>
          <p:spPr>
            <a:xfrm>
              <a:off x="1101090" y="2913279"/>
              <a:ext cx="5739722" cy="531360"/>
            </a:xfrm>
            <a:custGeom>
              <a:avLst/>
              <a:gdLst>
                <a:gd name="connsiteX0" fmla="*/ 0 w 5739722"/>
                <a:gd name="connsiteY0" fmla="*/ 88562 h 531360"/>
                <a:gd name="connsiteX1" fmla="*/ 88562 w 5739722"/>
                <a:gd name="connsiteY1" fmla="*/ 0 h 531360"/>
                <a:gd name="connsiteX2" fmla="*/ 5651160 w 5739722"/>
                <a:gd name="connsiteY2" fmla="*/ 0 h 531360"/>
                <a:gd name="connsiteX3" fmla="*/ 5739722 w 5739722"/>
                <a:gd name="connsiteY3" fmla="*/ 88562 h 531360"/>
                <a:gd name="connsiteX4" fmla="*/ 5739722 w 5739722"/>
                <a:gd name="connsiteY4" fmla="*/ 442798 h 531360"/>
                <a:gd name="connsiteX5" fmla="*/ 5651160 w 5739722"/>
                <a:gd name="connsiteY5" fmla="*/ 531360 h 531360"/>
                <a:gd name="connsiteX6" fmla="*/ 88562 w 5739722"/>
                <a:gd name="connsiteY6" fmla="*/ 531360 h 531360"/>
                <a:gd name="connsiteX7" fmla="*/ 0 w 5739722"/>
                <a:gd name="connsiteY7" fmla="*/ 442798 h 531360"/>
                <a:gd name="connsiteX8" fmla="*/ 0 w 5739722"/>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9722" h="531360">
                  <a:moveTo>
                    <a:pt x="0" y="88562"/>
                  </a:moveTo>
                  <a:cubicBezTo>
                    <a:pt x="0" y="39651"/>
                    <a:pt x="39651" y="0"/>
                    <a:pt x="88562" y="0"/>
                  </a:cubicBezTo>
                  <a:lnTo>
                    <a:pt x="5651160" y="0"/>
                  </a:lnTo>
                  <a:cubicBezTo>
                    <a:pt x="5700071" y="0"/>
                    <a:pt x="5739722" y="39651"/>
                    <a:pt x="5739722" y="88562"/>
                  </a:cubicBezTo>
                  <a:lnTo>
                    <a:pt x="5739722" y="442798"/>
                  </a:lnTo>
                  <a:cubicBezTo>
                    <a:pt x="5739722" y="491709"/>
                    <a:pt x="5700071" y="531360"/>
                    <a:pt x="5651160"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05374" tIns="25939" rIns="205374"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Incorporate the environmental, social, culture and economic interests of the local communities into the plans</a:t>
              </a:r>
              <a:endParaRPr lang="en-AU" sz="1400" b="1" kern="1200" dirty="0"/>
            </a:p>
          </p:txBody>
        </p:sp>
        <p:sp>
          <p:nvSpPr>
            <p:cNvPr id="11" name="Rectangle 10"/>
            <p:cNvSpPr/>
            <p:nvPr/>
          </p:nvSpPr>
          <p:spPr>
            <a:xfrm>
              <a:off x="762000" y="3995439"/>
              <a:ext cx="67818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101090" y="3729759"/>
              <a:ext cx="5739722" cy="531360"/>
            </a:xfrm>
            <a:custGeom>
              <a:avLst/>
              <a:gdLst>
                <a:gd name="connsiteX0" fmla="*/ 0 w 5739722"/>
                <a:gd name="connsiteY0" fmla="*/ 88562 h 531360"/>
                <a:gd name="connsiteX1" fmla="*/ 88562 w 5739722"/>
                <a:gd name="connsiteY1" fmla="*/ 0 h 531360"/>
                <a:gd name="connsiteX2" fmla="*/ 5651160 w 5739722"/>
                <a:gd name="connsiteY2" fmla="*/ 0 h 531360"/>
                <a:gd name="connsiteX3" fmla="*/ 5739722 w 5739722"/>
                <a:gd name="connsiteY3" fmla="*/ 88562 h 531360"/>
                <a:gd name="connsiteX4" fmla="*/ 5739722 w 5739722"/>
                <a:gd name="connsiteY4" fmla="*/ 442798 h 531360"/>
                <a:gd name="connsiteX5" fmla="*/ 5651160 w 5739722"/>
                <a:gd name="connsiteY5" fmla="*/ 531360 h 531360"/>
                <a:gd name="connsiteX6" fmla="*/ 88562 w 5739722"/>
                <a:gd name="connsiteY6" fmla="*/ 531360 h 531360"/>
                <a:gd name="connsiteX7" fmla="*/ 0 w 5739722"/>
                <a:gd name="connsiteY7" fmla="*/ 442798 h 531360"/>
                <a:gd name="connsiteX8" fmla="*/ 0 w 5739722"/>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9722" h="531360">
                  <a:moveTo>
                    <a:pt x="0" y="88562"/>
                  </a:moveTo>
                  <a:cubicBezTo>
                    <a:pt x="0" y="39651"/>
                    <a:pt x="39651" y="0"/>
                    <a:pt x="88562" y="0"/>
                  </a:cubicBezTo>
                  <a:lnTo>
                    <a:pt x="5651160" y="0"/>
                  </a:lnTo>
                  <a:cubicBezTo>
                    <a:pt x="5700071" y="0"/>
                    <a:pt x="5739722" y="39651"/>
                    <a:pt x="5739722" y="88562"/>
                  </a:cubicBezTo>
                  <a:lnTo>
                    <a:pt x="5739722" y="442798"/>
                  </a:lnTo>
                  <a:cubicBezTo>
                    <a:pt x="5739722" y="491709"/>
                    <a:pt x="5700071" y="531360"/>
                    <a:pt x="5651160"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05374" tIns="25939" rIns="205374"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Ensure plans are culturally and environmentally sensitive</a:t>
              </a:r>
              <a:endParaRPr lang="en-AU" sz="1400" b="1" kern="1200" dirty="0"/>
            </a:p>
          </p:txBody>
        </p:sp>
        <p:sp>
          <p:nvSpPr>
            <p:cNvPr id="13" name="Rectangle 12"/>
            <p:cNvSpPr/>
            <p:nvPr/>
          </p:nvSpPr>
          <p:spPr>
            <a:xfrm>
              <a:off x="762000" y="4811920"/>
              <a:ext cx="67818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4" name="Freeform 13"/>
            <p:cNvSpPr/>
            <p:nvPr/>
          </p:nvSpPr>
          <p:spPr>
            <a:xfrm>
              <a:off x="1101090" y="4546240"/>
              <a:ext cx="5739722" cy="531360"/>
            </a:xfrm>
            <a:custGeom>
              <a:avLst/>
              <a:gdLst>
                <a:gd name="connsiteX0" fmla="*/ 0 w 5739722"/>
                <a:gd name="connsiteY0" fmla="*/ 88562 h 531360"/>
                <a:gd name="connsiteX1" fmla="*/ 88562 w 5739722"/>
                <a:gd name="connsiteY1" fmla="*/ 0 h 531360"/>
                <a:gd name="connsiteX2" fmla="*/ 5651160 w 5739722"/>
                <a:gd name="connsiteY2" fmla="*/ 0 h 531360"/>
                <a:gd name="connsiteX3" fmla="*/ 5739722 w 5739722"/>
                <a:gd name="connsiteY3" fmla="*/ 88562 h 531360"/>
                <a:gd name="connsiteX4" fmla="*/ 5739722 w 5739722"/>
                <a:gd name="connsiteY4" fmla="*/ 442798 h 531360"/>
                <a:gd name="connsiteX5" fmla="*/ 5651160 w 5739722"/>
                <a:gd name="connsiteY5" fmla="*/ 531360 h 531360"/>
                <a:gd name="connsiteX6" fmla="*/ 88562 w 5739722"/>
                <a:gd name="connsiteY6" fmla="*/ 531360 h 531360"/>
                <a:gd name="connsiteX7" fmla="*/ 0 w 5739722"/>
                <a:gd name="connsiteY7" fmla="*/ 442798 h 531360"/>
                <a:gd name="connsiteX8" fmla="*/ 0 w 5739722"/>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9722" h="531360">
                  <a:moveTo>
                    <a:pt x="0" y="88562"/>
                  </a:moveTo>
                  <a:cubicBezTo>
                    <a:pt x="0" y="39651"/>
                    <a:pt x="39651" y="0"/>
                    <a:pt x="88562" y="0"/>
                  </a:cubicBezTo>
                  <a:lnTo>
                    <a:pt x="5651160" y="0"/>
                  </a:lnTo>
                  <a:cubicBezTo>
                    <a:pt x="5700071" y="0"/>
                    <a:pt x="5739722" y="39651"/>
                    <a:pt x="5739722" y="88562"/>
                  </a:cubicBezTo>
                  <a:lnTo>
                    <a:pt x="5739722" y="442798"/>
                  </a:lnTo>
                  <a:cubicBezTo>
                    <a:pt x="5739722" y="491709"/>
                    <a:pt x="5700071" y="531360"/>
                    <a:pt x="5651160"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05374" tIns="25939" rIns="205374"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Maintain on going communication and consultation throughout the planning process</a:t>
              </a:r>
              <a:endParaRPr lang="en-AU" sz="1400" b="1" kern="1200" dirty="0"/>
            </a:p>
          </p:txBody>
        </p:sp>
        <p:sp>
          <p:nvSpPr>
            <p:cNvPr id="15" name="Rectangle 14"/>
            <p:cNvSpPr/>
            <p:nvPr/>
          </p:nvSpPr>
          <p:spPr>
            <a:xfrm>
              <a:off x="762000" y="5628400"/>
              <a:ext cx="6781800" cy="453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6" name="Freeform 15"/>
            <p:cNvSpPr/>
            <p:nvPr/>
          </p:nvSpPr>
          <p:spPr>
            <a:xfrm>
              <a:off x="1101090" y="5362720"/>
              <a:ext cx="5739722" cy="531360"/>
            </a:xfrm>
            <a:custGeom>
              <a:avLst/>
              <a:gdLst>
                <a:gd name="connsiteX0" fmla="*/ 0 w 5739722"/>
                <a:gd name="connsiteY0" fmla="*/ 88562 h 531360"/>
                <a:gd name="connsiteX1" fmla="*/ 88562 w 5739722"/>
                <a:gd name="connsiteY1" fmla="*/ 0 h 531360"/>
                <a:gd name="connsiteX2" fmla="*/ 5651160 w 5739722"/>
                <a:gd name="connsiteY2" fmla="*/ 0 h 531360"/>
                <a:gd name="connsiteX3" fmla="*/ 5739722 w 5739722"/>
                <a:gd name="connsiteY3" fmla="*/ 88562 h 531360"/>
                <a:gd name="connsiteX4" fmla="*/ 5739722 w 5739722"/>
                <a:gd name="connsiteY4" fmla="*/ 442798 h 531360"/>
                <a:gd name="connsiteX5" fmla="*/ 5651160 w 5739722"/>
                <a:gd name="connsiteY5" fmla="*/ 531360 h 531360"/>
                <a:gd name="connsiteX6" fmla="*/ 88562 w 5739722"/>
                <a:gd name="connsiteY6" fmla="*/ 531360 h 531360"/>
                <a:gd name="connsiteX7" fmla="*/ 0 w 5739722"/>
                <a:gd name="connsiteY7" fmla="*/ 442798 h 531360"/>
                <a:gd name="connsiteX8" fmla="*/ 0 w 5739722"/>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9722" h="531360">
                  <a:moveTo>
                    <a:pt x="0" y="88562"/>
                  </a:moveTo>
                  <a:cubicBezTo>
                    <a:pt x="0" y="39651"/>
                    <a:pt x="39651" y="0"/>
                    <a:pt x="88562" y="0"/>
                  </a:cubicBezTo>
                  <a:lnTo>
                    <a:pt x="5651160" y="0"/>
                  </a:lnTo>
                  <a:cubicBezTo>
                    <a:pt x="5700071" y="0"/>
                    <a:pt x="5739722" y="39651"/>
                    <a:pt x="5739722" y="88562"/>
                  </a:cubicBezTo>
                  <a:lnTo>
                    <a:pt x="5739722" y="442798"/>
                  </a:lnTo>
                  <a:cubicBezTo>
                    <a:pt x="5739722" y="491709"/>
                    <a:pt x="5700071" y="531360"/>
                    <a:pt x="5651160"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05374" tIns="25939" rIns="205374" bIns="25939" numCol="1" spcCol="1270" anchor="ctr" anchorCtr="0">
              <a:noAutofit/>
            </a:bodyPr>
            <a:lstStyle/>
            <a:p>
              <a:pPr lvl="0" algn="l" defTabSz="622300">
                <a:lnSpc>
                  <a:spcPct val="90000"/>
                </a:lnSpc>
                <a:spcBef>
                  <a:spcPct val="0"/>
                </a:spcBef>
                <a:spcAft>
                  <a:spcPct val="35000"/>
                </a:spcAft>
              </a:pPr>
              <a:r>
                <a:rPr lang="en-US" sz="1400" b="1" kern="1200" dirty="0" smtClean="0">
                  <a:latin typeface="Helvetica" pitchFamily="34" charset="0"/>
                </a:rPr>
                <a:t>Develop a clear strategic and tactical focus for plans that are made</a:t>
              </a:r>
              <a:endParaRPr lang="en-AU" sz="1400" b="1" kern="1200" dirty="0"/>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199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3.1 Seek assistance from external experts and relevant personnel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4191000"/>
          </a:xfrm>
        </p:spPr>
        <p:txBody>
          <a:bodyPr>
            <a:normAutofit/>
          </a:bodyPr>
          <a:lstStyle/>
          <a:p>
            <a:pPr marL="0" indent="0">
              <a:spcBef>
                <a:spcPts val="600"/>
              </a:spcBef>
              <a:spcAft>
                <a:spcPts val="1200"/>
              </a:spcAft>
              <a:buNone/>
            </a:pPr>
            <a:r>
              <a:rPr lang="en-US" sz="2200" dirty="0" smtClean="0">
                <a:latin typeface="Helvetica" pitchFamily="34" charset="0"/>
              </a:rPr>
              <a:t>Professional assistance can be obtained by consulting:</a:t>
            </a:r>
          </a:p>
          <a:p>
            <a:pPr marL="360000" indent="-360000">
              <a:spcBef>
                <a:spcPts val="600"/>
              </a:spcBef>
              <a:spcAft>
                <a:spcPts val="1200"/>
              </a:spcAft>
            </a:pPr>
            <a:r>
              <a:rPr lang="en-US" sz="2200" dirty="0" smtClean="0">
                <a:latin typeface="Helvetica" pitchFamily="34" charset="0"/>
              </a:rPr>
              <a:t>Planning experts</a:t>
            </a:r>
          </a:p>
          <a:p>
            <a:pPr marL="360000" indent="-360000">
              <a:spcBef>
                <a:spcPts val="600"/>
              </a:spcBef>
              <a:spcAft>
                <a:spcPts val="1200"/>
              </a:spcAft>
            </a:pPr>
            <a:r>
              <a:rPr lang="en-US" sz="2200" dirty="0" smtClean="0">
                <a:latin typeface="Helvetica" pitchFamily="34" charset="0"/>
              </a:rPr>
              <a:t>Environmental experts</a:t>
            </a:r>
          </a:p>
          <a:p>
            <a:pPr marL="360000" indent="-360000">
              <a:spcBef>
                <a:spcPts val="600"/>
              </a:spcBef>
              <a:spcAft>
                <a:spcPts val="1200"/>
              </a:spcAft>
            </a:pPr>
            <a:r>
              <a:rPr lang="en-US" sz="2200" dirty="0" smtClean="0">
                <a:latin typeface="Helvetica" pitchFamily="34" charset="0"/>
              </a:rPr>
              <a:t>Social demographers</a:t>
            </a:r>
          </a:p>
          <a:p>
            <a:pPr marL="360000" indent="-360000">
              <a:spcBef>
                <a:spcPts val="600"/>
              </a:spcBef>
              <a:spcAft>
                <a:spcPts val="1200"/>
              </a:spcAft>
            </a:pPr>
            <a:r>
              <a:rPr lang="en-US" sz="2200" dirty="0" smtClean="0">
                <a:latin typeface="Helvetica" pitchFamily="34" charset="0"/>
              </a:rPr>
              <a:t>Financial experts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4400" y="2971800"/>
            <a:ext cx="2476785" cy="1652016"/>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3.1 Seek assistance from external experts and relevant personnel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3796755"/>
          </a:xfrm>
        </p:spPr>
        <p:txBody>
          <a:bodyPr>
            <a:normAutofit/>
          </a:bodyPr>
          <a:lstStyle/>
          <a:p>
            <a:pPr marL="0" indent="0">
              <a:spcBef>
                <a:spcPts val="600"/>
              </a:spcBef>
              <a:spcAft>
                <a:spcPts val="1200"/>
              </a:spcAft>
              <a:buNone/>
            </a:pPr>
            <a:r>
              <a:rPr lang="en-US" sz="2200" dirty="0" smtClean="0">
                <a:latin typeface="Helvetica" pitchFamily="34" charset="0"/>
              </a:rPr>
              <a:t>Professional assistance can be obtained by consulting:</a:t>
            </a:r>
          </a:p>
          <a:p>
            <a:pPr marL="360000" indent="-360000">
              <a:spcBef>
                <a:spcPts val="600"/>
              </a:spcBef>
              <a:spcAft>
                <a:spcPts val="1200"/>
              </a:spcAft>
            </a:pPr>
            <a:r>
              <a:rPr lang="en-US" sz="2200" dirty="0" smtClean="0">
                <a:latin typeface="Helvetica" pitchFamily="34" charset="0"/>
              </a:rPr>
              <a:t>Government officers and agencies</a:t>
            </a:r>
          </a:p>
          <a:p>
            <a:pPr marL="360000" indent="-360000">
              <a:spcBef>
                <a:spcPts val="600"/>
              </a:spcBef>
              <a:spcAft>
                <a:spcPts val="1200"/>
              </a:spcAft>
            </a:pPr>
            <a:r>
              <a:rPr lang="en-US" sz="2200" dirty="0" smtClean="0">
                <a:latin typeface="Helvetica" pitchFamily="34" charset="0"/>
              </a:rPr>
              <a:t>Key people from local communities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200" y="2971800"/>
            <a:ext cx="2323586" cy="1549832"/>
          </a:xfrm>
          <a:prstGeom prst="rect">
            <a:avLst/>
          </a:prstGeom>
        </p:spPr>
      </p:pic>
    </p:spTree>
    <p:extLst>
      <p:ext uri="{BB962C8B-B14F-4D97-AF65-F5344CB8AC3E}">
        <p14:creationId xmlns:p14="http://schemas.microsoft.com/office/powerpoint/2010/main" val="38681240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rmAutofit/>
          </a:bodyPr>
          <a:lstStyle/>
          <a:p>
            <a:r>
              <a:rPr lang="en-US" sz="3100" b="1" dirty="0" smtClean="0">
                <a:solidFill>
                  <a:srgbClr val="FF6600"/>
                </a:solidFill>
                <a:latin typeface="Helvetica" pitchFamily="34" charset="0"/>
              </a:rPr>
              <a:t>E3 Prepare formal draft plans  </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3.2 Ensure draft reflect community interests and concerns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770440" cy="4572000"/>
          </a:xfrm>
        </p:spPr>
        <p:txBody>
          <a:bodyPr>
            <a:normAutofit/>
          </a:bodyPr>
          <a:lstStyle/>
          <a:p>
            <a:pPr marL="0" indent="0">
              <a:spcBef>
                <a:spcPts val="600"/>
              </a:spcBef>
              <a:spcAft>
                <a:spcPts val="600"/>
              </a:spcAft>
              <a:buNone/>
            </a:pPr>
            <a:r>
              <a:rPr lang="en-AU" sz="1800" dirty="0"/>
              <a:t>The draft plans need to </a:t>
            </a:r>
            <a:r>
              <a:rPr lang="en-AU" sz="1800" dirty="0" smtClean="0"/>
              <a:t>include:</a:t>
            </a:r>
            <a:endParaRPr lang="en-US" sz="1800" dirty="0"/>
          </a:p>
          <a:p>
            <a:pPr marL="361950" lvl="0" indent="-361950">
              <a:spcBef>
                <a:spcPts val="600"/>
              </a:spcBef>
              <a:spcAft>
                <a:spcPts val="600"/>
              </a:spcAft>
            </a:pPr>
            <a:r>
              <a:rPr lang="en-AU" sz="1800" dirty="0"/>
              <a:t>All initiatives and proposals initially discussed with all previously identified stakeholders </a:t>
            </a:r>
            <a:endParaRPr lang="en-US" sz="1800" dirty="0"/>
          </a:p>
          <a:p>
            <a:pPr marL="361950" lvl="0" indent="-361950">
              <a:spcBef>
                <a:spcPts val="600"/>
              </a:spcBef>
              <a:spcAft>
                <a:spcPts val="600"/>
              </a:spcAft>
            </a:pPr>
            <a:r>
              <a:rPr lang="en-AU" sz="1800" dirty="0"/>
              <a:t>All recorded consensus or opposition to potential tourism </a:t>
            </a:r>
            <a:r>
              <a:rPr lang="en-AU" sz="1800" dirty="0" smtClean="0"/>
              <a:t>opportunities:</a:t>
            </a:r>
            <a:endParaRPr lang="en-US" sz="1800" dirty="0"/>
          </a:p>
          <a:p>
            <a:pPr marL="714375" indent="-352425">
              <a:spcBef>
                <a:spcPts val="600"/>
              </a:spcBef>
              <a:spcAft>
                <a:spcPts val="600"/>
              </a:spcAft>
              <a:buSzPct val="100000"/>
              <a:buFont typeface="Arial" panose="020B0604020202020204" pitchFamily="34" charset="0"/>
              <a:buChar char="•"/>
            </a:pPr>
            <a:r>
              <a:rPr lang="en-US" sz="1800" dirty="0"/>
              <a:t>Which ones</a:t>
            </a:r>
          </a:p>
          <a:p>
            <a:pPr marL="714375" indent="-352425">
              <a:spcBef>
                <a:spcPts val="600"/>
              </a:spcBef>
              <a:spcAft>
                <a:spcPts val="600"/>
              </a:spcAft>
              <a:buSzPct val="100000"/>
              <a:buFont typeface="Arial" panose="020B0604020202020204" pitchFamily="34" charset="0"/>
              <a:buChar char="•"/>
            </a:pPr>
            <a:r>
              <a:rPr lang="en-US" sz="1800" dirty="0"/>
              <a:t>Reasons for choice  </a:t>
            </a:r>
          </a:p>
          <a:p>
            <a:pPr marL="361950" indent="-361950">
              <a:spcBef>
                <a:spcPts val="600"/>
              </a:spcBef>
              <a:spcAft>
                <a:spcPts val="600"/>
              </a:spcAft>
            </a:pPr>
            <a:r>
              <a:rPr lang="en-AU" sz="1800" dirty="0"/>
              <a:t>Are culturally appropriate, respecting the identified communities values  </a:t>
            </a:r>
            <a:endParaRPr lang="en-US" sz="1800" dirty="0"/>
          </a:p>
          <a:p>
            <a:pPr marL="361950" lvl="0" indent="-361950">
              <a:spcBef>
                <a:spcPts val="600"/>
              </a:spcBef>
              <a:spcAft>
                <a:spcPts val="600"/>
              </a:spcAft>
            </a:pPr>
            <a:r>
              <a:rPr lang="en-AU" sz="1800" dirty="0" smtClean="0"/>
              <a:t>Are environmentally appropriate , respecting the existing ‘pristine’ conditions as these are now highly sought after</a:t>
            </a:r>
            <a:endParaRPr lang="en-US" sz="1800" dirty="0" smtClean="0"/>
          </a:p>
          <a:p>
            <a:pPr marL="361950" lvl="0" indent="-361950">
              <a:spcBef>
                <a:spcPts val="600"/>
              </a:spcBef>
              <a:spcAft>
                <a:spcPts val="600"/>
              </a:spcAft>
            </a:pPr>
            <a:r>
              <a:rPr lang="en-AU" sz="1800" dirty="0" smtClean="0"/>
              <a:t>Prevent</a:t>
            </a:r>
            <a:r>
              <a:rPr lang="en-AU" sz="1800" dirty="0"/>
              <a:t>, as much as possible, ‘tourism leakage’ by making sure local resources, products are used </a:t>
            </a:r>
            <a:endParaRPr lang="en-US" sz="1800" dirty="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rmAutofit/>
          </a:bodyPr>
          <a:lstStyle/>
          <a:p>
            <a:r>
              <a:rPr lang="en-US" sz="3100" b="1" dirty="0" smtClean="0">
                <a:solidFill>
                  <a:srgbClr val="FF6600"/>
                </a:solidFill>
                <a:latin typeface="Helvetica" pitchFamily="34" charset="0"/>
              </a:rPr>
              <a:t>E3 Prepare formal draft plans  </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3.2 Ensure draft reflect community interests and concerns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618040" cy="4419600"/>
          </a:xfrm>
        </p:spPr>
        <p:txBody>
          <a:bodyPr>
            <a:normAutofit/>
          </a:bodyPr>
          <a:lstStyle/>
          <a:p>
            <a:pPr lvl="0">
              <a:spcBef>
                <a:spcPts val="600"/>
              </a:spcBef>
              <a:spcAft>
                <a:spcPts val="600"/>
              </a:spcAft>
            </a:pPr>
            <a:r>
              <a:rPr lang="en-AU" sz="2000" dirty="0" smtClean="0"/>
              <a:t>Include  policies and procedures to guide and regulate the proposed plans such as: </a:t>
            </a:r>
            <a:endParaRPr lang="en-US" sz="2000" dirty="0" smtClean="0"/>
          </a:p>
          <a:p>
            <a:pPr marL="720000" lvl="0" indent="-360000">
              <a:spcBef>
                <a:spcPts val="600"/>
              </a:spcBef>
              <a:spcAft>
                <a:spcPts val="600"/>
              </a:spcAft>
              <a:buClr>
                <a:srgbClr val="7FD13B"/>
              </a:buClr>
              <a:buSzPct val="100000"/>
              <a:buFont typeface="Arial" pitchFamily="34" charset="0"/>
              <a:buChar char="•"/>
            </a:pPr>
            <a:r>
              <a:rPr lang="en-US" sz="2000" dirty="0" smtClean="0"/>
              <a:t>Ongoing consultation process</a:t>
            </a:r>
          </a:p>
          <a:p>
            <a:pPr marL="720000" lvl="0" indent="-360000">
              <a:spcBef>
                <a:spcPts val="600"/>
              </a:spcBef>
              <a:spcAft>
                <a:spcPts val="600"/>
              </a:spcAft>
              <a:buClr>
                <a:srgbClr val="7FD13B"/>
              </a:buClr>
              <a:buSzPct val="100000"/>
              <a:buFont typeface="Arial" pitchFamily="34" charset="0"/>
              <a:buChar char="•"/>
            </a:pPr>
            <a:r>
              <a:rPr lang="en-US" sz="2000" dirty="0" smtClean="0"/>
              <a:t>Transparency of process by making sure a group of people representing  the majority of stakeholders and community such as a committee is in charge of the plan, not a single individual </a:t>
            </a:r>
          </a:p>
          <a:p>
            <a:pPr marL="720000" indent="-360000">
              <a:spcBef>
                <a:spcPts val="600"/>
              </a:spcBef>
              <a:spcAft>
                <a:spcPts val="600"/>
              </a:spcAft>
              <a:buClr>
                <a:srgbClr val="7FD13B"/>
              </a:buClr>
              <a:buSzPct val="100000"/>
              <a:buFont typeface="Arial" pitchFamily="34" charset="0"/>
              <a:buChar char="•"/>
            </a:pPr>
            <a:r>
              <a:rPr lang="en-AU" sz="2000" dirty="0" smtClean="0"/>
              <a:t>Compliance with recognised national or regional accreditation he draft plans need to include</a:t>
            </a: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spTree>
    <p:extLst>
      <p:ext uri="{BB962C8B-B14F-4D97-AF65-F5344CB8AC3E}">
        <p14:creationId xmlns:p14="http://schemas.microsoft.com/office/powerpoint/2010/main" val="35684545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rmAutofit/>
          </a:bodyPr>
          <a:lstStyle/>
          <a:p>
            <a:r>
              <a:rPr lang="en-US" sz="3100" b="1" dirty="0" smtClean="0">
                <a:solidFill>
                  <a:srgbClr val="FF6600"/>
                </a:solidFill>
                <a:latin typeface="Helvetica" pitchFamily="34" charset="0"/>
              </a:rPr>
              <a:t>E3 Prepare formal draft plans  </a:t>
            </a:r>
            <a:br>
              <a:rPr lang="en-US" sz="3100" b="1" dirty="0" smtClean="0">
                <a:solidFill>
                  <a:srgbClr val="FF6600"/>
                </a:solidFill>
                <a:latin typeface="Helvetica" pitchFamily="34" charset="0"/>
              </a:rPr>
            </a:br>
            <a:r>
              <a:rPr lang="en-US" sz="3100" b="1" dirty="0" smtClean="0">
                <a:solidFill>
                  <a:srgbClr val="FF6600"/>
                </a:solidFill>
                <a:latin typeface="Helvetica" pitchFamily="34" charset="0"/>
              </a:rPr>
              <a:t>3.2 Ensure draft reflect community interests and concerns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3796755"/>
          </a:xfrm>
        </p:spPr>
        <p:txBody>
          <a:bodyPr>
            <a:normAutofit/>
          </a:bodyPr>
          <a:lstStyle/>
          <a:p>
            <a:pPr lvl="0">
              <a:spcBef>
                <a:spcPts val="1200"/>
              </a:spcBef>
              <a:spcAft>
                <a:spcPts val="600"/>
              </a:spcAft>
            </a:pPr>
            <a:r>
              <a:rPr lang="en-AU" sz="2200" dirty="0" smtClean="0"/>
              <a:t>Includes </a:t>
            </a:r>
            <a:r>
              <a:rPr lang="en-AU" sz="2200" dirty="0"/>
              <a:t>proposed </a:t>
            </a:r>
            <a:r>
              <a:rPr lang="en-AU" sz="2200" dirty="0" smtClean="0"/>
              <a:t>realistic </a:t>
            </a:r>
            <a:r>
              <a:rPr lang="en-AU" sz="2200" dirty="0"/>
              <a:t>timelines, deadlines, </a:t>
            </a:r>
            <a:r>
              <a:rPr lang="en-AU" sz="2200" dirty="0" smtClean="0"/>
              <a:t>schedules</a:t>
            </a:r>
          </a:p>
          <a:p>
            <a:pPr lvl="0">
              <a:spcBef>
                <a:spcPts val="1200"/>
              </a:spcBef>
              <a:spcAft>
                <a:spcPts val="600"/>
              </a:spcAft>
            </a:pPr>
            <a:r>
              <a:rPr lang="en-AU" sz="2200" dirty="0" smtClean="0"/>
              <a:t>Includes </a:t>
            </a:r>
            <a:r>
              <a:rPr lang="en-AU" sz="2200" dirty="0"/>
              <a:t>potential contingencies plans </a:t>
            </a:r>
            <a:endParaRPr lang="en-US" sz="2200" dirty="0"/>
          </a:p>
          <a:p>
            <a:pPr marL="36576" indent="0">
              <a:spcBef>
                <a:spcPts val="1200"/>
              </a:spcBef>
              <a:spcAft>
                <a:spcPts val="600"/>
              </a:spcAft>
              <a:buNone/>
            </a:pPr>
            <a:endParaRPr lang="en-US"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200" y="3857625"/>
            <a:ext cx="2286000" cy="1524762"/>
          </a:xfrm>
          <a:prstGeom prst="rect">
            <a:avLst/>
          </a:prstGeom>
        </p:spPr>
      </p:pic>
    </p:spTree>
    <p:extLst>
      <p:ext uri="{BB962C8B-B14F-4D97-AF65-F5344CB8AC3E}">
        <p14:creationId xmlns:p14="http://schemas.microsoft.com/office/powerpoint/2010/main" val="23155448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3.3 Ensure draft reflect business plan and direction of host enterprise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541840" cy="3949155"/>
          </a:xfrm>
        </p:spPr>
        <p:txBody>
          <a:bodyPr>
            <a:noAutofit/>
          </a:bodyPr>
          <a:lstStyle/>
          <a:p>
            <a:pPr marL="0" indent="0">
              <a:lnSpc>
                <a:spcPts val="3000"/>
              </a:lnSpc>
              <a:spcBef>
                <a:spcPts val="600"/>
              </a:spcBef>
              <a:spcAft>
                <a:spcPts val="600"/>
              </a:spcAft>
              <a:buNone/>
            </a:pPr>
            <a:r>
              <a:rPr lang="en-AU" sz="2000" b="1" dirty="0" smtClean="0">
                <a:cs typeface="Helvetica" panose="020B0604020202020204" pitchFamily="34" charset="0"/>
              </a:rPr>
              <a:t>Matters to consider</a:t>
            </a:r>
          </a:p>
          <a:p>
            <a:pPr marL="0" indent="0">
              <a:lnSpc>
                <a:spcPts val="3000"/>
              </a:lnSpc>
              <a:spcBef>
                <a:spcPts val="600"/>
              </a:spcBef>
              <a:spcAft>
                <a:spcPts val="600"/>
              </a:spcAft>
              <a:buNone/>
            </a:pPr>
            <a:r>
              <a:rPr lang="en-AU" sz="2000" dirty="0">
                <a:latin typeface="Helevetica"/>
              </a:rPr>
              <a:t>Financial </a:t>
            </a:r>
            <a:r>
              <a:rPr lang="en-AU" sz="2000" dirty="0" smtClean="0">
                <a:latin typeface="Helevetica"/>
              </a:rPr>
              <a:t>matters and considerations:</a:t>
            </a:r>
          </a:p>
          <a:p>
            <a:pPr lvl="0">
              <a:spcBef>
                <a:spcPts val="1200"/>
              </a:spcBef>
              <a:spcAft>
                <a:spcPts val="600"/>
              </a:spcAft>
            </a:pPr>
            <a:r>
              <a:rPr lang="en-AU" sz="2000" dirty="0" smtClean="0">
                <a:latin typeface="Helevetica"/>
              </a:rPr>
              <a:t>Overall </a:t>
            </a:r>
            <a:r>
              <a:rPr lang="en-AU" sz="2000" dirty="0">
                <a:latin typeface="Helevetica"/>
              </a:rPr>
              <a:t>cost of producing the draft plans versus availability of funding. The host enterprise needs to know that the project will eventually be beneficial in terms of finance. However some organisations might undertake a project with no positive financial rewards but with the potential of more similar, or bigger financially rewarding </a:t>
            </a:r>
            <a:r>
              <a:rPr lang="en-AU" sz="2000" dirty="0" smtClean="0">
                <a:latin typeface="Helevetica"/>
              </a:rPr>
              <a:t>projects</a:t>
            </a:r>
            <a:endParaRPr lang="en-AU"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spTree>
    <p:extLst>
      <p:ext uri="{BB962C8B-B14F-4D97-AF65-F5344CB8AC3E}">
        <p14:creationId xmlns:p14="http://schemas.microsoft.com/office/powerpoint/2010/main" val="40159440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57200"/>
            <a:ext cx="7467600" cy="1295400"/>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3.3 Ensure draft reflect business plan and direction of host enterprise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4267200"/>
          </a:xfrm>
        </p:spPr>
        <p:txBody>
          <a:bodyPr>
            <a:normAutofit/>
          </a:bodyPr>
          <a:lstStyle/>
          <a:p>
            <a:pPr marL="0" indent="0">
              <a:lnSpc>
                <a:spcPts val="3000"/>
              </a:lnSpc>
              <a:spcBef>
                <a:spcPts val="1200"/>
              </a:spcBef>
              <a:spcAft>
                <a:spcPts val="600"/>
              </a:spcAft>
              <a:buNone/>
            </a:pPr>
            <a:r>
              <a:rPr lang="en-AU" sz="2000" b="1" dirty="0" smtClean="0">
                <a:latin typeface="Helvetica" panose="020B0604020202020204" pitchFamily="34" charset="0"/>
                <a:cs typeface="Helvetica" panose="020B0604020202020204" pitchFamily="34" charset="0"/>
              </a:rPr>
              <a:t>Matters to consider</a:t>
            </a:r>
          </a:p>
          <a:p>
            <a:pPr marL="0" indent="0">
              <a:lnSpc>
                <a:spcPts val="3000"/>
              </a:lnSpc>
              <a:spcBef>
                <a:spcPts val="600"/>
              </a:spcBef>
              <a:spcAft>
                <a:spcPts val="600"/>
              </a:spcAft>
              <a:buNone/>
            </a:pPr>
            <a:r>
              <a:rPr lang="en-AU" sz="2000" dirty="0" smtClean="0">
                <a:latin typeface="Helevetica"/>
              </a:rPr>
              <a:t>Human resources:</a:t>
            </a:r>
          </a:p>
          <a:p>
            <a:pPr marL="361950" indent="-361950">
              <a:lnSpc>
                <a:spcPts val="3000"/>
              </a:lnSpc>
              <a:spcBef>
                <a:spcPts val="600"/>
              </a:spcBef>
              <a:spcAft>
                <a:spcPts val="600"/>
              </a:spcAft>
            </a:pPr>
            <a:r>
              <a:rPr lang="en-AU" sz="2000" dirty="0" smtClean="0">
                <a:latin typeface="Helevetica"/>
              </a:rPr>
              <a:t>The </a:t>
            </a:r>
            <a:r>
              <a:rPr lang="en-AU" sz="2000" dirty="0">
                <a:latin typeface="Helevetica"/>
              </a:rPr>
              <a:t>size of the organisation has a direct impact on the staffing level. The larger the organisation, the more staff they have. However the staff availability and expertise needs to checked and confirmed before undertaking any such project involving research, consultation and production of professional plans even if there are in a draft </a:t>
            </a:r>
            <a:r>
              <a:rPr lang="en-AU" sz="2000" dirty="0" smtClean="0">
                <a:latin typeface="Helevetica"/>
              </a:rPr>
              <a:t>format</a:t>
            </a:r>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spTree>
    <p:extLst>
      <p:ext uri="{BB962C8B-B14F-4D97-AF65-F5344CB8AC3E}">
        <p14:creationId xmlns:p14="http://schemas.microsoft.com/office/powerpoint/2010/main" val="40921637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3.3 Ensure draft reflect business plan and direction of host enterprise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541840" cy="4495800"/>
          </a:xfrm>
        </p:spPr>
        <p:txBody>
          <a:bodyPr>
            <a:normAutofit/>
          </a:bodyPr>
          <a:lstStyle/>
          <a:p>
            <a:pPr marL="36576" indent="0">
              <a:spcBef>
                <a:spcPts val="600"/>
              </a:spcBef>
              <a:spcAft>
                <a:spcPts val="1200"/>
              </a:spcAft>
              <a:buNone/>
            </a:pPr>
            <a:r>
              <a:rPr lang="en-AU" sz="2000" b="1" dirty="0" smtClean="0">
                <a:latin typeface="Helvetica" panose="020B0604020202020204" pitchFamily="34" charset="0"/>
                <a:cs typeface="Helvetica" panose="020B0604020202020204" pitchFamily="34" charset="0"/>
              </a:rPr>
              <a:t>Matters to consider</a:t>
            </a:r>
          </a:p>
          <a:p>
            <a:pPr marL="36576" lv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Physical </a:t>
            </a:r>
            <a:r>
              <a:rPr lang="en-AU" sz="2000" dirty="0">
                <a:latin typeface="Helvetica" panose="020B0604020202020204" pitchFamily="34" charset="0"/>
                <a:cs typeface="Helvetica" panose="020B0604020202020204" pitchFamily="34" charset="0"/>
              </a:rPr>
              <a:t>resources </a:t>
            </a:r>
            <a:r>
              <a:rPr lang="en-AU" sz="2000" dirty="0" smtClean="0">
                <a:latin typeface="Helvetica" panose="020B0604020202020204" pitchFamily="34" charset="0"/>
                <a:cs typeface="Helvetica" panose="020B0604020202020204" pitchFamily="34" charset="0"/>
              </a:rPr>
              <a:t>including:  </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US" sz="2000" dirty="0">
                <a:latin typeface="Helvetica" panose="020B0604020202020204" pitchFamily="34" charset="0"/>
                <a:cs typeface="Helvetica" panose="020B0604020202020204" pitchFamily="34" charset="0"/>
              </a:rPr>
              <a:t>Office space</a:t>
            </a:r>
          </a:p>
          <a:p>
            <a:pPr lvl="0">
              <a:spcBef>
                <a:spcPts val="600"/>
              </a:spcBef>
              <a:spcAft>
                <a:spcPts val="1200"/>
              </a:spcAft>
            </a:pPr>
            <a:r>
              <a:rPr lang="en-US" sz="2000" dirty="0" smtClean="0">
                <a:latin typeface="Helvetica" panose="020B0604020202020204" pitchFamily="34" charset="0"/>
                <a:cs typeface="Helvetica" panose="020B0604020202020204" pitchFamily="34" charset="0"/>
              </a:rPr>
              <a:t>Hardware, </a:t>
            </a:r>
            <a:r>
              <a:rPr lang="en-US" sz="2000" dirty="0">
                <a:latin typeface="Helvetica" panose="020B0604020202020204" pitchFamily="34" charset="0"/>
                <a:cs typeface="Helvetica" panose="020B0604020202020204" pitchFamily="34" charset="0"/>
              </a:rPr>
              <a:t>software such as a dedicated website for the project on the host organization website, computers, </a:t>
            </a:r>
            <a:r>
              <a:rPr lang="en-US" sz="2000" dirty="0" smtClean="0">
                <a:latin typeface="Helvetica" panose="020B0604020202020204" pitchFamily="34" charset="0"/>
                <a:cs typeface="Helvetica" panose="020B0604020202020204" pitchFamily="34" charset="0"/>
              </a:rPr>
              <a:t>laptops,  </a:t>
            </a:r>
            <a:r>
              <a:rPr lang="en-US" sz="2000" dirty="0">
                <a:latin typeface="Helvetica" panose="020B0604020202020204" pitchFamily="34" charset="0"/>
                <a:cs typeface="Helvetica" panose="020B0604020202020204" pitchFamily="34" charset="0"/>
              </a:rPr>
              <a:t>I pads, mobile phones</a:t>
            </a:r>
          </a:p>
          <a:p>
            <a:pPr lvl="0">
              <a:spcBef>
                <a:spcPts val="600"/>
              </a:spcBef>
              <a:spcAft>
                <a:spcPts val="1200"/>
              </a:spcAft>
            </a:pPr>
            <a:r>
              <a:rPr lang="en-US" sz="2000" dirty="0">
                <a:latin typeface="Helvetica" panose="020B0604020202020204" pitchFamily="34" charset="0"/>
                <a:cs typeface="Helvetica" panose="020B0604020202020204" pitchFamily="34" charset="0"/>
              </a:rPr>
              <a:t>Vehicles to travel to the local destination, if applicable, to go to conduct interviews, meet various business operators, </a:t>
            </a:r>
            <a:r>
              <a:rPr lang="en-US" sz="2000" dirty="0" smtClean="0">
                <a:latin typeface="Helvetica" panose="020B0604020202020204" pitchFamily="34" charset="0"/>
                <a:cs typeface="Helvetica" panose="020B0604020202020204" pitchFamily="34" charset="0"/>
              </a:rPr>
              <a:t>stakeholders</a:t>
            </a:r>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spTree>
    <p:extLst>
      <p:ext uri="{BB962C8B-B14F-4D97-AF65-F5344CB8AC3E}">
        <p14:creationId xmlns:p14="http://schemas.microsoft.com/office/powerpoint/2010/main" val="38725561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199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3.3 Ensure draft reflect business plan and direction of host enterprise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191000"/>
          </a:xfrm>
        </p:spPr>
        <p:txBody>
          <a:bodyPr>
            <a:normAutofit/>
          </a:bodyPr>
          <a:lstStyle/>
          <a:p>
            <a:pPr marL="36576" indent="0">
              <a:spcBef>
                <a:spcPts val="600"/>
              </a:spcBef>
              <a:spcAft>
                <a:spcPts val="1200"/>
              </a:spcAft>
              <a:buNone/>
            </a:pPr>
            <a:r>
              <a:rPr lang="en-AU" sz="2200" b="1" dirty="0" smtClean="0">
                <a:cs typeface="Helvetica" panose="020B0604020202020204" pitchFamily="34" charset="0"/>
              </a:rPr>
              <a:t>Matters to consider</a:t>
            </a:r>
          </a:p>
          <a:p>
            <a:pPr marL="36576" lvl="0" indent="0">
              <a:spcBef>
                <a:spcPts val="600"/>
              </a:spcBef>
              <a:spcAft>
                <a:spcPts val="1200"/>
              </a:spcAft>
              <a:buNone/>
            </a:pPr>
            <a:r>
              <a:rPr lang="en-AU" sz="2200" dirty="0" smtClean="0">
                <a:cs typeface="Helvetica" panose="020B0604020202020204" pitchFamily="34" charset="0"/>
              </a:rPr>
              <a:t>Timing: </a:t>
            </a:r>
            <a:endParaRPr lang="en-US" sz="2200" dirty="0">
              <a:cs typeface="Helvetica" panose="020B0604020202020204" pitchFamily="34" charset="0"/>
            </a:endParaRPr>
          </a:p>
          <a:p>
            <a:pPr lvl="0">
              <a:spcBef>
                <a:spcPts val="600"/>
              </a:spcBef>
              <a:spcAft>
                <a:spcPts val="1200"/>
              </a:spcAft>
            </a:pPr>
            <a:r>
              <a:rPr lang="en-US" sz="2200" dirty="0">
                <a:cs typeface="Helvetica" panose="020B0604020202020204" pitchFamily="34" charset="0"/>
              </a:rPr>
              <a:t>How does the initiative fit with other established plans, projects the host enterprise is already involved with</a:t>
            </a:r>
          </a:p>
          <a:p>
            <a:pPr lvl="0">
              <a:spcBef>
                <a:spcPts val="600"/>
              </a:spcBef>
              <a:spcAft>
                <a:spcPts val="1200"/>
              </a:spcAft>
            </a:pPr>
            <a:r>
              <a:rPr lang="en-US" sz="2200" dirty="0">
                <a:cs typeface="Helvetica" panose="020B0604020202020204" pitchFamily="34" charset="0"/>
              </a:rPr>
              <a:t>Is it feasible to complete the research and subsequent draft plans, consultation phases with other already established plans and deadlines the host enterprise has committed for</a:t>
            </a:r>
            <a:r>
              <a:rPr lang="en-US" sz="2200" dirty="0" smtClean="0">
                <a:cs typeface="Helvetica" panose="020B0604020202020204" pitchFamily="34" charset="0"/>
              </a:rPr>
              <a:t>?</a:t>
            </a:r>
            <a:endParaRPr lang="en-US" sz="2200" dirty="0">
              <a:cs typeface="Helvetica" panose="020B0604020202020204" pitchFamily="34" charset="0"/>
            </a:endParaRPr>
          </a:p>
          <a:p>
            <a:pPr marL="36576" indent="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spTree>
    <p:extLst>
      <p:ext uri="{BB962C8B-B14F-4D97-AF65-F5344CB8AC3E}">
        <p14:creationId xmlns:p14="http://schemas.microsoft.com/office/powerpoint/2010/main" val="7000428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961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3.3 Ensure draft reflect business plan and direction of host enterprise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541840" cy="4191000"/>
          </a:xfrm>
        </p:spPr>
        <p:txBody>
          <a:bodyPr>
            <a:normAutofit/>
          </a:bodyPr>
          <a:lstStyle/>
          <a:p>
            <a:pPr marL="36576" indent="0">
              <a:spcBef>
                <a:spcPts val="600"/>
              </a:spcBef>
              <a:spcAft>
                <a:spcPts val="1200"/>
              </a:spcAft>
              <a:buNone/>
            </a:pPr>
            <a:r>
              <a:rPr lang="en-AU" sz="2000" b="1" dirty="0" smtClean="0">
                <a:latin typeface="Helvetica" panose="020B0604020202020204" pitchFamily="34" charset="0"/>
                <a:cs typeface="Helvetica" panose="020B0604020202020204" pitchFamily="34" charset="0"/>
              </a:rPr>
              <a:t>Matters to consider</a:t>
            </a:r>
          </a:p>
          <a:p>
            <a:pPr lvl="0">
              <a:spcBef>
                <a:spcPts val="600"/>
              </a:spcBef>
              <a:spcAft>
                <a:spcPts val="1200"/>
              </a:spcAft>
            </a:pPr>
            <a:r>
              <a:rPr lang="en-AU" sz="2000" dirty="0" smtClean="0"/>
              <a:t>Potential integration </a:t>
            </a:r>
            <a:r>
              <a:rPr lang="en-AU" sz="2000" dirty="0"/>
              <a:t>of plans with existing products and services being advertised and offered</a:t>
            </a:r>
            <a:endParaRPr lang="en-US" sz="2000" dirty="0"/>
          </a:p>
          <a:p>
            <a:pPr lvl="0">
              <a:spcBef>
                <a:spcPts val="600"/>
              </a:spcBef>
              <a:spcAft>
                <a:spcPts val="1200"/>
              </a:spcAft>
            </a:pPr>
            <a:r>
              <a:rPr lang="en-US" sz="2000" dirty="0"/>
              <a:t>Is the host enterprise already conducting research in the same region for another local community?</a:t>
            </a:r>
          </a:p>
          <a:p>
            <a:pPr lvl="0">
              <a:spcBef>
                <a:spcPts val="600"/>
              </a:spcBef>
              <a:spcAft>
                <a:spcPts val="1200"/>
              </a:spcAft>
            </a:pPr>
            <a:r>
              <a:rPr lang="en-US" sz="2000" dirty="0"/>
              <a:t>Is the host enterprise already involved in local development plans in the same region</a:t>
            </a:r>
            <a:r>
              <a:rPr lang="en-US" sz="2000" dirty="0" smtClean="0"/>
              <a:t>?</a:t>
            </a:r>
            <a:endParaRPr lang="en-AU" sz="2000" dirty="0" smtClean="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spTree>
    <p:extLst>
      <p:ext uri="{BB962C8B-B14F-4D97-AF65-F5344CB8AC3E}">
        <p14:creationId xmlns:p14="http://schemas.microsoft.com/office/powerpoint/2010/main" val="29627786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437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3.3 Ensure draft reflect business plan and direction of host enterprise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025355"/>
          </a:xfrm>
        </p:spPr>
        <p:txBody>
          <a:bodyPr>
            <a:normAutofit/>
          </a:bodyPr>
          <a:lstStyle/>
          <a:p>
            <a:pPr marL="36576" indent="0">
              <a:lnSpc>
                <a:spcPts val="3000"/>
              </a:lnSpc>
              <a:spcBef>
                <a:spcPts val="600"/>
              </a:spcBef>
              <a:spcAft>
                <a:spcPts val="1200"/>
              </a:spcAft>
              <a:buNone/>
            </a:pPr>
            <a:r>
              <a:rPr lang="en-AU" sz="2000" b="1" dirty="0" smtClean="0">
                <a:latin typeface="Helvetica" panose="020B0604020202020204" pitchFamily="34" charset="0"/>
                <a:cs typeface="Helvetica" panose="020B0604020202020204" pitchFamily="34" charset="0"/>
              </a:rPr>
              <a:t>Matters to consider</a:t>
            </a:r>
          </a:p>
          <a:p>
            <a:pPr marL="36576" lvl="0" indent="0">
              <a:lnSpc>
                <a:spcPts val="3000"/>
              </a:lnSpc>
              <a:spcBef>
                <a:spcPts val="600"/>
              </a:spcBef>
              <a:spcAft>
                <a:spcPts val="1200"/>
              </a:spcAft>
              <a:buNone/>
            </a:pPr>
            <a:r>
              <a:rPr lang="en-AU" sz="2000" dirty="0" smtClean="0">
                <a:latin typeface="Helevetica"/>
              </a:rPr>
              <a:t>Most </a:t>
            </a:r>
            <a:r>
              <a:rPr lang="en-AU" sz="2000" dirty="0">
                <a:latin typeface="Helevetica"/>
              </a:rPr>
              <a:t>tourism plans span over 5 to 10 years. The host enterprise needs to determine if this time span fits with its own business plan and overall business direction before investing any more time, effort and resources into the </a:t>
            </a:r>
            <a:r>
              <a:rPr lang="en-AU" sz="2000" dirty="0" smtClean="0">
                <a:latin typeface="Helevetica"/>
              </a:rPr>
              <a:t>project.</a:t>
            </a:r>
            <a:endParaRPr lang="en-US" sz="2000" dirty="0">
              <a:latin typeface="Helevetica"/>
            </a:endParaRPr>
          </a:p>
          <a:p>
            <a:pPr marL="36576" indent="0">
              <a:lnSpc>
                <a:spcPts val="3000"/>
              </a:lnSpc>
              <a:spcBef>
                <a:spcPts val="600"/>
              </a:spcBef>
              <a:spcAft>
                <a:spcPts val="1200"/>
              </a:spcAft>
              <a:buNone/>
            </a:pPr>
            <a:r>
              <a:rPr lang="en-AU" sz="2000" dirty="0"/>
              <a:t/>
            </a:r>
            <a:br>
              <a:rPr lang="en-AU" sz="2000" dirty="0"/>
            </a:br>
            <a:r>
              <a:rPr lang="en-AU" sz="2000" dirty="0"/>
              <a:t> </a:t>
            </a:r>
            <a:endParaRPr lang="en-US" sz="2000" dirty="0"/>
          </a:p>
          <a:p>
            <a:pPr marL="36576" indent="0">
              <a:lnSpc>
                <a:spcPts val="3000"/>
              </a:lnSpc>
              <a:spcBef>
                <a:spcPts val="600"/>
              </a:spcBef>
              <a:spcAft>
                <a:spcPts val="1200"/>
              </a:spcAft>
              <a:buNone/>
            </a:pPr>
            <a:endParaRPr lang="en-AU" sz="2000" dirty="0" smtClean="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4650" y="4343400"/>
            <a:ext cx="1800225" cy="1800225"/>
          </a:xfrm>
          <a:prstGeom prst="rect">
            <a:avLst/>
          </a:prstGeom>
        </p:spPr>
      </p:pic>
    </p:spTree>
    <p:extLst>
      <p:ext uri="{BB962C8B-B14F-4D97-AF65-F5344CB8AC3E}">
        <p14:creationId xmlns:p14="http://schemas.microsoft.com/office/powerpoint/2010/main" val="4046175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199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3.4 Identify training needs and training delivery methodologies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343400"/>
          </a:xfrm>
        </p:spPr>
        <p:txBody>
          <a:bodyPr>
            <a:normAutofit/>
          </a:bodyPr>
          <a:lstStyle/>
          <a:p>
            <a:pPr marL="36576" indent="0">
              <a:spcBef>
                <a:spcPts val="600"/>
              </a:spcBef>
              <a:spcAft>
                <a:spcPts val="600"/>
              </a:spcAft>
              <a:buNone/>
            </a:pPr>
            <a:r>
              <a:rPr lang="en-AU" sz="2000" dirty="0">
                <a:latin typeface="Helvetica" panose="020B0604020202020204" pitchFamily="34" charset="0"/>
                <a:cs typeface="Helvetica" panose="020B0604020202020204" pitchFamily="34" charset="0"/>
              </a:rPr>
              <a:t>Training needs analysis (TNA</a:t>
            </a:r>
            <a:r>
              <a:rPr lang="en-AU" sz="2000" dirty="0" smtClean="0">
                <a:latin typeface="Helvetica" panose="020B0604020202020204" pitchFamily="34" charset="0"/>
                <a:cs typeface="Helvetica" panose="020B0604020202020204" pitchFamily="34" charset="0"/>
              </a:rPr>
              <a:t>):</a:t>
            </a:r>
          </a:p>
          <a:p>
            <a:pPr>
              <a:spcBef>
                <a:spcPts val="600"/>
              </a:spcBef>
              <a:spcAft>
                <a:spcPts val="600"/>
              </a:spcAft>
            </a:pPr>
            <a:r>
              <a:rPr lang="en-AU" sz="2000" dirty="0" smtClean="0">
                <a:latin typeface="Helvetica" panose="020B0604020202020204" pitchFamily="34" charset="0"/>
                <a:cs typeface="Helvetica" panose="020B0604020202020204" pitchFamily="34" charset="0"/>
              </a:rPr>
              <a:t>A </a:t>
            </a:r>
            <a:r>
              <a:rPr lang="en-AU" sz="2000" dirty="0">
                <a:latin typeface="Helvetica" panose="020B0604020202020204" pitchFamily="34" charset="0"/>
                <a:cs typeface="Helvetica" panose="020B0604020202020204" pitchFamily="34" charset="0"/>
              </a:rPr>
              <a:t>TNA will support the </a:t>
            </a:r>
            <a:r>
              <a:rPr lang="en-AU" sz="2000" dirty="0" smtClean="0">
                <a:latin typeface="Helvetica" panose="020B0604020202020204" pitchFamily="34" charset="0"/>
                <a:cs typeface="Helvetica" panose="020B0604020202020204" pitchFamily="34" charset="0"/>
              </a:rPr>
              <a:t>establishment f </a:t>
            </a:r>
            <a:r>
              <a:rPr lang="en-AU" sz="2000" dirty="0">
                <a:latin typeface="Helvetica" panose="020B0604020202020204" pitchFamily="34" charset="0"/>
                <a:cs typeface="Helvetica" panose="020B0604020202020204" pitchFamily="34" charset="0"/>
              </a:rPr>
              <a:t>training </a:t>
            </a:r>
            <a:r>
              <a:rPr lang="en-AU" sz="2000" dirty="0" smtClean="0">
                <a:latin typeface="Helvetica" panose="020B0604020202020204" pitchFamily="34" charset="0"/>
                <a:cs typeface="Helvetica" panose="020B0604020202020204" pitchFamily="34" charset="0"/>
              </a:rPr>
              <a:t>methodologies </a:t>
            </a:r>
            <a:r>
              <a:rPr lang="en-AU" sz="2000" dirty="0">
                <a:latin typeface="Helvetica" panose="020B0604020202020204" pitchFamily="34" charset="0"/>
                <a:cs typeface="Helvetica" panose="020B0604020202020204" pitchFamily="34" charset="0"/>
              </a:rPr>
              <a:t>and training plans by  establishing who needs training and in which </a:t>
            </a:r>
            <a:r>
              <a:rPr lang="en-AU" sz="2000" dirty="0" smtClean="0">
                <a:latin typeface="Helvetica" panose="020B0604020202020204" pitchFamily="34" charset="0"/>
                <a:cs typeface="Helvetica" panose="020B0604020202020204" pitchFamily="34" charset="0"/>
              </a:rPr>
              <a:t>specific areas: </a:t>
            </a:r>
            <a:r>
              <a:rPr lang="en-AU" sz="2000" dirty="0">
                <a:latin typeface="Helvetica" panose="020B0604020202020204" pitchFamily="34" charset="0"/>
                <a:cs typeface="Helvetica" panose="020B0604020202020204" pitchFamily="34" charset="0"/>
              </a:rPr>
              <a:t>from guest customer service to specific food and beverage skills. It can be </a:t>
            </a:r>
            <a:r>
              <a:rPr lang="en-AU" sz="2000" dirty="0" smtClean="0">
                <a:latin typeface="Helvetica" panose="020B0604020202020204" pitchFamily="34" charset="0"/>
                <a:cs typeface="Helvetica" panose="020B0604020202020204" pitchFamily="34" charset="0"/>
              </a:rPr>
              <a:t>completed by:</a:t>
            </a:r>
          </a:p>
          <a:p>
            <a:pPr marL="720000" lvl="0" indent="-360000">
              <a:spcBef>
                <a:spcPts val="600"/>
              </a:spcBef>
              <a:spcAft>
                <a:spcPts val="600"/>
              </a:spcAft>
              <a:buClr>
                <a:srgbClr val="7FD13B"/>
              </a:buClr>
              <a:buSzPct val="100000"/>
              <a:buFont typeface="Arial" pitchFamily="34" charset="0"/>
              <a:buChar char="•"/>
            </a:pPr>
            <a:r>
              <a:rPr lang="en-AU" sz="2000" dirty="0" smtClean="0">
                <a:latin typeface="Helvetica" panose="020B0604020202020204" pitchFamily="34" charset="0"/>
                <a:cs typeface="Helvetica" panose="020B0604020202020204" pitchFamily="34" charset="0"/>
              </a:rPr>
              <a:t>Conduct training needs analysis first with selected members of the local communities to get a ‘snap shot’ of the potential training gaps versus the potential tourism opportunities, development </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961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3.4 Identify training needs and training delivery methodologies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694240" cy="4648200"/>
          </a:xfrm>
        </p:spPr>
        <p:txBody>
          <a:bodyPr>
            <a:noAutofit/>
          </a:bodyPr>
          <a:lstStyle/>
          <a:p>
            <a:pPr marL="36576" indent="0">
              <a:spcBef>
                <a:spcPts val="600"/>
              </a:spcBef>
              <a:spcAft>
                <a:spcPts val="600"/>
              </a:spcAft>
              <a:buNone/>
            </a:pPr>
            <a:r>
              <a:rPr lang="en-AU" sz="1900" dirty="0">
                <a:latin typeface="Helvetica" panose="020B0604020202020204" pitchFamily="34" charset="0"/>
                <a:cs typeface="Helvetica" panose="020B0604020202020204" pitchFamily="34" charset="0"/>
              </a:rPr>
              <a:t>Training needs analysis (TNA</a:t>
            </a:r>
            <a:r>
              <a:rPr lang="en-AU" sz="1900" dirty="0" smtClean="0">
                <a:latin typeface="Helvetica" panose="020B0604020202020204" pitchFamily="34" charset="0"/>
                <a:cs typeface="Helvetica" panose="020B0604020202020204" pitchFamily="34" charset="0"/>
              </a:rPr>
              <a:t>):</a:t>
            </a:r>
            <a:endParaRPr lang="en-US" sz="1900" dirty="0">
              <a:latin typeface="Helvetica" panose="020B0604020202020204" pitchFamily="34" charset="0"/>
              <a:cs typeface="Helvetica" panose="020B0604020202020204" pitchFamily="34" charset="0"/>
            </a:endParaRPr>
          </a:p>
          <a:p>
            <a:pPr lvl="0">
              <a:spcBef>
                <a:spcPts val="600"/>
              </a:spcBef>
              <a:spcAft>
                <a:spcPts val="600"/>
              </a:spcAft>
            </a:pPr>
            <a:r>
              <a:rPr lang="en-AU" sz="1900" dirty="0" smtClean="0">
                <a:latin typeface="Helvetica" panose="020B0604020202020204" pitchFamily="34" charset="0"/>
                <a:cs typeface="Helvetica" panose="020B0604020202020204" pitchFamily="34" charset="0"/>
              </a:rPr>
              <a:t>Organise </a:t>
            </a:r>
            <a:r>
              <a:rPr lang="en-AU" sz="1900" dirty="0">
                <a:latin typeface="Helvetica" panose="020B0604020202020204" pitchFamily="34" charset="0"/>
                <a:cs typeface="Helvetica" panose="020B0604020202020204" pitchFamily="34" charset="0"/>
              </a:rPr>
              <a:t>demonstrations and tests to assess competency: it is important that those demonstrations and tests are delivered in a non threatening manner, you do not want the local communities members to feel they are being examined, ranked , when this stage is part of the local consultation to determine and prepare plans</a:t>
            </a:r>
            <a:endParaRPr lang="en-US" sz="1900" dirty="0">
              <a:latin typeface="Helvetica" panose="020B0604020202020204" pitchFamily="34" charset="0"/>
              <a:cs typeface="Helvetica" panose="020B0604020202020204" pitchFamily="34" charset="0"/>
            </a:endParaRPr>
          </a:p>
          <a:p>
            <a:pPr lvl="0">
              <a:spcBef>
                <a:spcPts val="600"/>
              </a:spcBef>
              <a:spcAft>
                <a:spcPts val="600"/>
              </a:spcAft>
            </a:pPr>
            <a:r>
              <a:rPr lang="en-AU" sz="1900" dirty="0">
                <a:latin typeface="Helvetica" panose="020B0604020202020204" pitchFamily="34" charset="0"/>
                <a:cs typeface="Helvetica" panose="020B0604020202020204" pitchFamily="34" charset="0"/>
              </a:rPr>
              <a:t>Another step is to check the qualifications and competence of local communities members to match them best with identified training and skills needs</a:t>
            </a:r>
            <a:endParaRPr lang="en-US" sz="1900" dirty="0">
              <a:latin typeface="Helvetica" panose="020B0604020202020204" pitchFamily="34" charset="0"/>
              <a:cs typeface="Helvetica" panose="020B0604020202020204" pitchFamily="34" charset="0"/>
            </a:endParaRPr>
          </a:p>
          <a:p>
            <a:pPr lvl="0">
              <a:spcBef>
                <a:spcPts val="600"/>
              </a:spcBef>
              <a:spcAft>
                <a:spcPts val="600"/>
              </a:spcAft>
            </a:pPr>
            <a:r>
              <a:rPr lang="en-AU" sz="1900" dirty="0">
                <a:latin typeface="Helvetica" panose="020B0604020202020204" pitchFamily="34" charset="0"/>
                <a:cs typeface="Helvetica" panose="020B0604020202020204" pitchFamily="34" charset="0"/>
              </a:rPr>
              <a:t>The host enterprise credentials, abilities and experience also need to be assessed to  determine if some of them have expertise required to deliver the identified training needs</a:t>
            </a:r>
            <a:endParaRPr lang="en-US" sz="1900" dirty="0">
              <a:latin typeface="Helvetica" panose="020B0604020202020204" pitchFamily="34" charset="0"/>
              <a:cs typeface="Helvetica" panose="020B0604020202020204" pitchFamily="34" charset="0"/>
            </a:endParaRPr>
          </a:p>
          <a:p>
            <a:pPr marL="360000" indent="-360000">
              <a:spcBef>
                <a:spcPts val="600"/>
              </a:spcBef>
              <a:spcAft>
                <a:spcPts val="600"/>
              </a:spcAft>
              <a:buNone/>
            </a:pPr>
            <a:endParaRPr lang="en-US" sz="1900" dirty="0" smtClean="0">
              <a:latin typeface="Helvetica" pitchFamily="34" charset="0"/>
            </a:endParaRPr>
          </a:p>
          <a:p>
            <a:pPr marL="360000" indent="-360000">
              <a:spcBef>
                <a:spcPts val="600"/>
              </a:spcBef>
              <a:spcAft>
                <a:spcPts val="600"/>
              </a:spcAft>
              <a:buNone/>
            </a:pPr>
            <a:endParaRPr lang="en-US" sz="19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spTree>
    <p:extLst>
      <p:ext uri="{BB962C8B-B14F-4D97-AF65-F5344CB8AC3E}">
        <p14:creationId xmlns:p14="http://schemas.microsoft.com/office/powerpoint/2010/main" val="13064924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3.4 Identify training needs and training delivery methodologies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7467600" cy="4343400"/>
          </a:xfrm>
        </p:spPr>
        <p:txBody>
          <a:bodyPr>
            <a:normAutofit/>
          </a:bodyPr>
          <a:lstStyle/>
          <a:p>
            <a:pPr marL="36576" indent="0">
              <a:spcBef>
                <a:spcPts val="600"/>
              </a:spcBef>
              <a:spcAft>
                <a:spcPts val="1200"/>
              </a:spcAft>
              <a:buNone/>
            </a:pPr>
            <a:r>
              <a:rPr lang="en-AU" sz="2000" b="1" dirty="0">
                <a:latin typeface="Helvetica" panose="020B0604020202020204" pitchFamily="34" charset="0"/>
                <a:cs typeface="Helvetica" panose="020B0604020202020204" pitchFamily="34" charset="0"/>
              </a:rPr>
              <a:t>Training </a:t>
            </a:r>
            <a:r>
              <a:rPr lang="en-AU" sz="2000" b="1" dirty="0" smtClean="0">
                <a:latin typeface="Helvetica" panose="020B0604020202020204" pitchFamily="34" charset="0"/>
                <a:cs typeface="Helvetica" panose="020B0604020202020204" pitchFamily="34" charset="0"/>
              </a:rPr>
              <a:t>delivery methodologies</a:t>
            </a:r>
          </a:p>
          <a:p>
            <a:pPr marL="36576" indent="0">
              <a:spcBef>
                <a:spcPts val="600"/>
              </a:spcBef>
              <a:spcAft>
                <a:spcPts val="1200"/>
              </a:spcAft>
              <a:buNone/>
            </a:pPr>
            <a:r>
              <a:rPr lang="en-AU" sz="2000" dirty="0"/>
              <a:t>Private </a:t>
            </a:r>
            <a:r>
              <a:rPr lang="en-AU" sz="2000" dirty="0" smtClean="0"/>
              <a:t>providers: </a:t>
            </a:r>
            <a:endParaRPr lang="en-US" sz="2000" dirty="0"/>
          </a:p>
          <a:p>
            <a:pPr lvl="0">
              <a:spcBef>
                <a:spcPts val="600"/>
              </a:spcBef>
              <a:spcAft>
                <a:spcPts val="1200"/>
              </a:spcAft>
            </a:pPr>
            <a:r>
              <a:rPr lang="en-AU" sz="2000" dirty="0"/>
              <a:t>Professional vocational training organisations can prepare workers to undertake tasks and responsibilities as required by the chosen tourism sector </a:t>
            </a:r>
            <a:endParaRPr lang="en-US" sz="2000" dirty="0"/>
          </a:p>
          <a:p>
            <a:pPr marL="36576" indent="0">
              <a:spcBef>
                <a:spcPts val="600"/>
              </a:spcBef>
              <a:spcAft>
                <a:spcPts val="1200"/>
              </a:spcAft>
              <a:buNone/>
            </a:pPr>
            <a:r>
              <a:rPr lang="en-AU" sz="2000" dirty="0"/>
              <a:t>Host organisation training </a:t>
            </a:r>
            <a:r>
              <a:rPr lang="en-AU" sz="2000" dirty="0" smtClean="0"/>
              <a:t>staff: </a:t>
            </a:r>
            <a:endParaRPr lang="en-US" sz="2000" dirty="0"/>
          </a:p>
          <a:p>
            <a:pPr lvl="0">
              <a:spcBef>
                <a:spcPts val="600"/>
              </a:spcBef>
              <a:spcAft>
                <a:spcPts val="1200"/>
              </a:spcAft>
            </a:pPr>
            <a:r>
              <a:rPr lang="en-AU" sz="2000" dirty="0"/>
              <a:t>Host organisation staff with experience in similar projects can prepare the local community members by delivering on the job </a:t>
            </a:r>
            <a:r>
              <a:rPr lang="en-AU" sz="2000" dirty="0" smtClean="0"/>
              <a:t>training</a:t>
            </a: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spTree>
    <p:extLst>
      <p:ext uri="{BB962C8B-B14F-4D97-AF65-F5344CB8AC3E}">
        <p14:creationId xmlns:p14="http://schemas.microsoft.com/office/powerpoint/2010/main" val="18539327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3.4 Identify training needs and training delivery methodologies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28800"/>
            <a:ext cx="7467600" cy="4800600"/>
          </a:xfrm>
        </p:spPr>
        <p:txBody>
          <a:bodyPr>
            <a:normAutofit/>
          </a:bodyPr>
          <a:lstStyle/>
          <a:p>
            <a:pPr marL="36576" indent="0">
              <a:spcBef>
                <a:spcPts val="600"/>
              </a:spcBef>
              <a:spcAft>
                <a:spcPts val="1200"/>
              </a:spcAft>
              <a:buNone/>
            </a:pPr>
            <a:r>
              <a:rPr lang="en-AU" sz="2000" b="1" dirty="0">
                <a:latin typeface="Helvetica" panose="020B0604020202020204" pitchFamily="34" charset="0"/>
                <a:cs typeface="Helvetica" panose="020B0604020202020204" pitchFamily="34" charset="0"/>
              </a:rPr>
              <a:t>Evaluate other training options such </a:t>
            </a:r>
            <a:r>
              <a:rPr lang="en-AU" sz="2000" b="1" dirty="0" smtClean="0">
                <a:latin typeface="Helvetica" panose="020B0604020202020204" pitchFamily="34" charset="0"/>
                <a:cs typeface="Helvetica" panose="020B0604020202020204" pitchFamily="34" charset="0"/>
              </a:rPr>
              <a:t>as: </a:t>
            </a:r>
            <a:endParaRPr lang="en-US" sz="2000" b="1" dirty="0">
              <a:latin typeface="Helvetica" panose="020B0604020202020204" pitchFamily="34" charset="0"/>
              <a:cs typeface="Helvetica" panose="020B0604020202020204" pitchFamily="34" charset="0"/>
            </a:endParaRPr>
          </a:p>
          <a:p>
            <a:pPr marL="361950" indent="-361950">
              <a:spcBef>
                <a:spcPts val="600"/>
              </a:spcBef>
              <a:spcAft>
                <a:spcPts val="1200"/>
              </a:spcAft>
            </a:pPr>
            <a:r>
              <a:rPr lang="en-AU" sz="2000" dirty="0">
                <a:latin typeface="Helvetica" panose="020B0604020202020204" pitchFamily="34" charset="0"/>
                <a:cs typeface="Helvetica" panose="020B0604020202020204" pitchFamily="34" charset="0"/>
              </a:rPr>
              <a:t>Alternative training options </a:t>
            </a:r>
            <a:r>
              <a:rPr lang="en-AU" sz="2000" dirty="0" smtClean="0">
                <a:latin typeface="Helvetica" panose="020B0604020202020204" pitchFamily="34" charset="0"/>
                <a:cs typeface="Helvetica" panose="020B0604020202020204" pitchFamily="34" charset="0"/>
              </a:rPr>
              <a:t>might </a:t>
            </a:r>
            <a:r>
              <a:rPr lang="en-AU" sz="2000" dirty="0">
                <a:latin typeface="Helvetica" panose="020B0604020202020204" pitchFamily="34" charset="0"/>
                <a:cs typeface="Helvetica" panose="020B0604020202020204" pitchFamily="34" charset="0"/>
              </a:rPr>
              <a:t>be considered due </a:t>
            </a:r>
            <a:r>
              <a:rPr lang="en-AU" sz="2000" dirty="0" smtClean="0">
                <a:latin typeface="Helvetica" panose="020B0604020202020204" pitchFamily="34" charset="0"/>
                <a:cs typeface="Helvetica" panose="020B0604020202020204" pitchFamily="34" charset="0"/>
              </a:rPr>
              <a:t>to:</a:t>
            </a:r>
            <a:endParaRPr lang="en-US" sz="2000" b="1" dirty="0">
              <a:latin typeface="Helvetica" panose="020B0604020202020204" pitchFamily="34" charset="0"/>
              <a:cs typeface="Helvetica" panose="020B0604020202020204" pitchFamily="34" charset="0"/>
            </a:endParaRPr>
          </a:p>
          <a:p>
            <a:pPr marL="714375" lvl="0" indent="-352425">
              <a:spcBef>
                <a:spcPts val="600"/>
              </a:spcBef>
              <a:spcAft>
                <a:spcPts val="1200"/>
              </a:spcAft>
              <a:buSzPct val="100000"/>
              <a:buFont typeface="Arial" panose="020B0604020202020204" pitchFamily="34" charset="0"/>
              <a:buChar char="•"/>
            </a:pPr>
            <a:r>
              <a:rPr lang="en-AU" sz="2000" dirty="0">
                <a:latin typeface="Helvetica" panose="020B0604020202020204" pitchFamily="34" charset="0"/>
                <a:cs typeface="Helvetica" panose="020B0604020202020204" pitchFamily="34" charset="0"/>
              </a:rPr>
              <a:t>Region and/or local communities difficulty to access if in a remote location</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1200"/>
              </a:spcAft>
              <a:buSzPct val="100000"/>
              <a:buFont typeface="Arial" panose="020B0604020202020204" pitchFamily="34" charset="0"/>
              <a:buChar char="•"/>
            </a:pPr>
            <a:r>
              <a:rPr lang="en-AU" sz="2000" dirty="0">
                <a:latin typeface="Helvetica" panose="020B0604020202020204" pitchFamily="34" charset="0"/>
                <a:cs typeface="Helvetica" panose="020B0604020202020204" pitchFamily="34" charset="0"/>
              </a:rPr>
              <a:t>Maximise the training efficiency and </a:t>
            </a:r>
            <a:r>
              <a:rPr lang="en-AU" sz="2000" dirty="0" smtClean="0">
                <a:latin typeface="Helvetica" panose="020B0604020202020204" pitchFamily="34" charset="0"/>
                <a:cs typeface="Helvetica" panose="020B0604020202020204" pitchFamily="34" charset="0"/>
              </a:rPr>
              <a:t>delivery and </a:t>
            </a:r>
            <a:r>
              <a:rPr lang="en-AU" sz="2000" dirty="0">
                <a:latin typeface="Helvetica" panose="020B0604020202020204" pitchFamily="34" charset="0"/>
                <a:cs typeface="Helvetica" panose="020B0604020202020204" pitchFamily="34" charset="0"/>
              </a:rPr>
              <a:t>use       </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1200"/>
              </a:spcAft>
              <a:buSzPct val="100000"/>
              <a:buFont typeface="Arial" panose="020B0604020202020204" pitchFamily="34" charset="0"/>
              <a:buChar char="•"/>
            </a:pPr>
            <a:r>
              <a:rPr lang="en-AU" sz="2000" dirty="0">
                <a:latin typeface="Helvetica" panose="020B0604020202020204" pitchFamily="34" charset="0"/>
                <a:cs typeface="Helvetica" panose="020B0604020202020204" pitchFamily="34" charset="0"/>
              </a:rPr>
              <a:t>On line training, technology permitting</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1200"/>
              </a:spcAft>
              <a:buSzPct val="100000"/>
              <a:buFont typeface="Arial" panose="020B0604020202020204" pitchFamily="34" charset="0"/>
              <a:buChar char="•"/>
            </a:pPr>
            <a:r>
              <a:rPr lang="en-AU" sz="2000" dirty="0">
                <a:latin typeface="Helvetica" panose="020B0604020202020204" pitchFamily="34" charset="0"/>
                <a:cs typeface="Helvetica" panose="020B0604020202020204" pitchFamily="34" charset="0"/>
              </a:rPr>
              <a:t>Off campus, by organising workbooks for the theory component of the training workbooks </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1200"/>
              </a:spcAft>
              <a:buSzPct val="100000"/>
              <a:buFont typeface="Arial" panose="020B0604020202020204" pitchFamily="34" charset="0"/>
              <a:buChar char="•"/>
            </a:pPr>
            <a:r>
              <a:rPr lang="en-AU" sz="2000" dirty="0">
                <a:latin typeface="Helvetica" panose="020B0604020202020204" pitchFamily="34" charset="0"/>
                <a:cs typeface="Helvetica" panose="020B0604020202020204" pitchFamily="34" charset="0"/>
              </a:rPr>
              <a:t>A combination of face to face and on line </a:t>
            </a:r>
            <a:endParaRPr lang="en-US" sz="2000" dirty="0">
              <a:latin typeface="Helvetica" panose="020B0604020202020204" pitchFamily="34" charset="0"/>
              <a:cs typeface="Helvetica" panose="020B0604020202020204" pitchFamily="34" charset="0"/>
            </a:endParaRPr>
          </a:p>
          <a:p>
            <a:pPr marL="36576"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spTree>
    <p:extLst>
      <p:ext uri="{BB962C8B-B14F-4D97-AF65-F5344CB8AC3E}">
        <p14:creationId xmlns:p14="http://schemas.microsoft.com/office/powerpoint/2010/main" val="185363779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6640" cy="1572344"/>
          </a:xfrm>
        </p:spPr>
        <p:txBody>
          <a:bodyPr>
            <a:norm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3.5 Identify physical infrastructure needs for the local communities and host enterprise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4191000"/>
          </a:xfrm>
        </p:spPr>
        <p:txBody>
          <a:bodyPr>
            <a:normAutofit fontScale="70000" lnSpcReduction="20000"/>
          </a:bodyPr>
          <a:lstStyle/>
          <a:p>
            <a:pPr marL="0" indent="0">
              <a:spcBef>
                <a:spcPts val="600"/>
              </a:spcBef>
              <a:spcAft>
                <a:spcPts val="600"/>
              </a:spcAft>
              <a:buNone/>
            </a:pPr>
            <a:r>
              <a:rPr lang="en-US" sz="2600" b="1" dirty="0" smtClean="0">
                <a:latin typeface="Helvetica" pitchFamily="34" charset="0"/>
                <a:cs typeface="Helvetica" panose="020B0604020202020204" pitchFamily="34" charset="0"/>
              </a:rPr>
              <a:t>The inventory needs to cover</a:t>
            </a:r>
          </a:p>
          <a:p>
            <a:pPr marL="36576" indent="0">
              <a:spcBef>
                <a:spcPts val="600"/>
              </a:spcBef>
              <a:spcAft>
                <a:spcPts val="600"/>
              </a:spcAft>
              <a:buNone/>
            </a:pPr>
            <a:r>
              <a:rPr lang="en-AU" sz="2600" dirty="0">
                <a:latin typeface="Helvetica" panose="020B0604020202020204" pitchFamily="34" charset="0"/>
                <a:cs typeface="Helvetica" panose="020B0604020202020204" pitchFamily="34" charset="0"/>
              </a:rPr>
              <a:t>Building and </a:t>
            </a:r>
            <a:r>
              <a:rPr lang="en-AU" sz="2600" dirty="0" smtClean="0">
                <a:latin typeface="Helvetica" panose="020B0604020202020204" pitchFamily="34" charset="0"/>
                <a:cs typeface="Helvetica" panose="020B0604020202020204" pitchFamily="34" charset="0"/>
              </a:rPr>
              <a:t>facilities: </a:t>
            </a:r>
            <a:endParaRPr lang="en-US" sz="2600" dirty="0">
              <a:latin typeface="Helvetica" panose="020B0604020202020204" pitchFamily="34" charset="0"/>
              <a:cs typeface="Helvetica" panose="020B0604020202020204" pitchFamily="34" charset="0"/>
            </a:endParaRPr>
          </a:p>
          <a:p>
            <a:pPr>
              <a:spcBef>
                <a:spcPts val="600"/>
              </a:spcBef>
              <a:spcAft>
                <a:spcPts val="600"/>
              </a:spcAft>
            </a:pPr>
            <a:r>
              <a:rPr lang="en-AU" sz="2600" dirty="0" smtClean="0">
                <a:latin typeface="Helvetica" panose="020B0604020202020204" pitchFamily="34" charset="0"/>
                <a:cs typeface="Helvetica" panose="020B0604020202020204" pitchFamily="34" charset="0"/>
              </a:rPr>
              <a:t>New </a:t>
            </a:r>
            <a:r>
              <a:rPr lang="en-AU" sz="2600" dirty="0">
                <a:latin typeface="Helvetica" panose="020B0604020202020204" pitchFamily="34" charset="0"/>
                <a:cs typeface="Helvetica" panose="020B0604020202020204" pitchFamily="34" charset="0"/>
              </a:rPr>
              <a:t>buildings and facilities required such </a:t>
            </a:r>
            <a:r>
              <a:rPr lang="en-AU" sz="2600" dirty="0" smtClean="0">
                <a:latin typeface="Helvetica" panose="020B0604020202020204" pitchFamily="34" charset="0"/>
                <a:cs typeface="Helvetica" panose="020B0604020202020204" pitchFamily="34" charset="0"/>
              </a:rPr>
              <a:t>as:</a:t>
            </a:r>
            <a:endParaRPr lang="en-US" sz="2600" dirty="0">
              <a:latin typeface="Helvetica" panose="020B0604020202020204" pitchFamily="34" charset="0"/>
              <a:cs typeface="Helvetica" panose="020B0604020202020204" pitchFamily="34" charset="0"/>
            </a:endParaRPr>
          </a:p>
          <a:p>
            <a:pPr marL="714375" lvl="0" indent="-352425">
              <a:spcBef>
                <a:spcPts val="600"/>
              </a:spcBef>
              <a:spcAft>
                <a:spcPts val="600"/>
              </a:spcAft>
              <a:buSzPct val="100000"/>
              <a:buFont typeface="Arial" panose="020B0604020202020204" pitchFamily="34" charset="0"/>
              <a:buChar char="•"/>
            </a:pPr>
            <a:r>
              <a:rPr lang="en-US" sz="2600" dirty="0">
                <a:latin typeface="Helvetica" panose="020B0604020202020204" pitchFamily="34" charset="0"/>
                <a:cs typeface="Helvetica" panose="020B0604020202020204" pitchFamily="34" charset="0"/>
              </a:rPr>
              <a:t>Potential new coastal resort development including resort itself, supporting infrastructure such as road and sea access</a:t>
            </a:r>
          </a:p>
          <a:p>
            <a:pPr lvl="0">
              <a:spcBef>
                <a:spcPts val="600"/>
              </a:spcBef>
              <a:spcAft>
                <a:spcPts val="600"/>
              </a:spcAft>
              <a:buNone/>
            </a:pPr>
            <a:r>
              <a:rPr lang="en-AU" sz="2600" dirty="0" smtClean="0">
                <a:latin typeface="Helvetica" panose="020B0604020202020204" pitchFamily="34" charset="0"/>
                <a:cs typeface="Helvetica" panose="020B0604020202020204" pitchFamily="34" charset="0"/>
              </a:rPr>
              <a:t>Existing </a:t>
            </a:r>
            <a:r>
              <a:rPr lang="en-AU" sz="2600" dirty="0">
                <a:latin typeface="Helvetica" panose="020B0604020202020204" pitchFamily="34" charset="0"/>
                <a:cs typeface="Helvetica" panose="020B0604020202020204" pitchFamily="34" charset="0"/>
              </a:rPr>
              <a:t>facilities alterations or additions such </a:t>
            </a:r>
            <a:r>
              <a:rPr lang="en-AU" sz="2600" dirty="0" smtClean="0">
                <a:latin typeface="Helvetica" panose="020B0604020202020204" pitchFamily="34" charset="0"/>
                <a:cs typeface="Helvetica" panose="020B0604020202020204" pitchFamily="34" charset="0"/>
              </a:rPr>
              <a:t>as:</a:t>
            </a:r>
            <a:endParaRPr lang="en-US" sz="2600" dirty="0">
              <a:latin typeface="Helvetica" panose="020B0604020202020204" pitchFamily="34" charset="0"/>
              <a:cs typeface="Helvetica" panose="020B0604020202020204" pitchFamily="34" charset="0"/>
            </a:endParaRPr>
          </a:p>
          <a:p>
            <a:pPr lvl="0">
              <a:spcBef>
                <a:spcPts val="600"/>
              </a:spcBef>
              <a:spcAft>
                <a:spcPts val="600"/>
              </a:spcAft>
            </a:pPr>
            <a:r>
              <a:rPr lang="en-US" sz="2600" dirty="0" smtClean="0">
                <a:latin typeface="Helvetica" panose="020B0604020202020204" pitchFamily="34" charset="0"/>
                <a:cs typeface="Helvetica" panose="020B0604020202020204" pitchFamily="34" charset="0"/>
              </a:rPr>
              <a:t>Renovation or extension of existing buildings, workshops to offer to local craft men the opportunity to work from a central location easily accessible for visitors, supporting infrastructure such as road access, parking areas, restaurants, toilets</a:t>
            </a:r>
          </a:p>
          <a:p>
            <a:pPr lvl="0">
              <a:spcBef>
                <a:spcPts val="600"/>
              </a:spcBef>
              <a:spcAft>
                <a:spcPts val="600"/>
              </a:spcAft>
            </a:pPr>
            <a:r>
              <a:rPr lang="en-AU" sz="2600" dirty="0" smtClean="0">
                <a:latin typeface="Helvetica" panose="020B0604020202020204" pitchFamily="34" charset="0"/>
                <a:cs typeface="Helvetica" panose="020B0604020202020204" pitchFamily="34" charset="0"/>
              </a:rPr>
              <a:t>Identification </a:t>
            </a:r>
            <a:r>
              <a:rPr lang="en-AU" sz="2600" dirty="0">
                <a:latin typeface="Helvetica" panose="020B0604020202020204" pitchFamily="34" charset="0"/>
                <a:cs typeface="Helvetica" panose="020B0604020202020204" pitchFamily="34" charset="0"/>
              </a:rPr>
              <a:t>all relevant buildings or extension permits and authorisations that will be required to proceed and establish the length of time those permits and/or authorisations will take to obtain</a:t>
            </a:r>
            <a:endParaRPr lang="en-US" sz="2600" dirty="0">
              <a:latin typeface="Helvetica" panose="020B0604020202020204" pitchFamily="34" charset="0"/>
              <a:cs typeface="Helvetica" panose="020B0604020202020204" pitchFamily="34" charset="0"/>
            </a:endParaRPr>
          </a:p>
          <a:p>
            <a:pPr marL="360000" indent="-360000">
              <a:spcBef>
                <a:spcPts val="600"/>
              </a:spcBef>
              <a:spcAft>
                <a:spcPts val="600"/>
              </a:spcAft>
              <a:buNone/>
            </a:pPr>
            <a:endParaRPr lang="en-US" sz="29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3.5 Identify physical infrastructure needs for the local communities and host enterprise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4191000"/>
          </a:xfrm>
        </p:spPr>
        <p:txBody>
          <a:bodyPr>
            <a:noAutofit/>
          </a:bodyPr>
          <a:lstStyle/>
          <a:p>
            <a:pPr marL="36576" indent="0">
              <a:spcBef>
                <a:spcPts val="600"/>
              </a:spcBef>
              <a:spcAft>
                <a:spcPts val="1200"/>
              </a:spcAft>
              <a:buNone/>
            </a:pPr>
            <a:r>
              <a:rPr lang="en-AU" sz="2000" b="1" dirty="0">
                <a:latin typeface="Helevetica"/>
              </a:rPr>
              <a:t>Transport will cover </a:t>
            </a:r>
            <a:endParaRPr lang="en-US" sz="2000" b="1" dirty="0">
              <a:latin typeface="Helevetica"/>
            </a:endParaRPr>
          </a:p>
          <a:p>
            <a:pPr marL="0" indent="0">
              <a:spcBef>
                <a:spcPts val="600"/>
              </a:spcBef>
              <a:spcAft>
                <a:spcPts val="1200"/>
              </a:spcAft>
              <a:buNone/>
            </a:pPr>
            <a:r>
              <a:rPr lang="en-AU" sz="2000" dirty="0" smtClean="0">
                <a:latin typeface="Helevetica"/>
              </a:rPr>
              <a:t>Transport </a:t>
            </a:r>
            <a:r>
              <a:rPr lang="en-AU" sz="2000" dirty="0">
                <a:latin typeface="Helevetica"/>
              </a:rPr>
              <a:t>to and within the area to promote and discuss initiatives during the consultation </a:t>
            </a:r>
            <a:r>
              <a:rPr lang="en-AU" sz="2000" dirty="0" smtClean="0">
                <a:latin typeface="Helevetica"/>
              </a:rPr>
              <a:t>process. </a:t>
            </a:r>
          </a:p>
          <a:p>
            <a:pPr>
              <a:spcBef>
                <a:spcPts val="600"/>
              </a:spcBef>
              <a:spcAft>
                <a:spcPts val="1200"/>
              </a:spcAft>
              <a:buNone/>
            </a:pPr>
            <a:r>
              <a:rPr lang="en-AU" sz="2000" dirty="0" smtClean="0">
                <a:latin typeface="Helevetica"/>
              </a:rPr>
              <a:t>Transport for the implementation phase such as: </a:t>
            </a:r>
            <a:endParaRPr lang="en-US" sz="2000" dirty="0">
              <a:latin typeface="Helevetica"/>
            </a:endParaRPr>
          </a:p>
          <a:p>
            <a:pPr lvl="0">
              <a:spcBef>
                <a:spcPts val="600"/>
              </a:spcBef>
              <a:spcAft>
                <a:spcPts val="1200"/>
              </a:spcAft>
            </a:pPr>
            <a:r>
              <a:rPr lang="en-AU" sz="2000" dirty="0">
                <a:latin typeface="Helevetica"/>
              </a:rPr>
              <a:t>Air traffic, if </a:t>
            </a:r>
            <a:r>
              <a:rPr lang="en-AU" sz="2000" dirty="0" smtClean="0">
                <a:latin typeface="Helevetica"/>
              </a:rPr>
              <a:t>applicable: </a:t>
            </a:r>
          </a:p>
          <a:p>
            <a:pPr marL="714375" lvl="0" indent="-352425">
              <a:spcBef>
                <a:spcPts val="600"/>
              </a:spcBef>
              <a:spcAft>
                <a:spcPts val="1200"/>
              </a:spcAft>
              <a:buSzPct val="100000"/>
              <a:buFont typeface="Arial" panose="020B0604020202020204" pitchFamily="34" charset="0"/>
              <a:buChar char="•"/>
            </a:pPr>
            <a:r>
              <a:rPr lang="en-US" sz="2000" dirty="0" smtClean="0">
                <a:latin typeface="Helevetica"/>
              </a:rPr>
              <a:t>Is </a:t>
            </a:r>
            <a:r>
              <a:rPr lang="en-US" sz="2000" dirty="0">
                <a:latin typeface="Helevetica"/>
              </a:rPr>
              <a:t>the size of the closest airport able to service an increase in traffic?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spTree>
    <p:extLst>
      <p:ext uri="{BB962C8B-B14F-4D97-AF65-F5344CB8AC3E}">
        <p14:creationId xmlns:p14="http://schemas.microsoft.com/office/powerpoint/2010/main" val="25408694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57200"/>
            <a:ext cx="7467600" cy="1600200"/>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3.5 Identify physical infrastructure needs for the local communities and host enterprise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618040" cy="4038600"/>
          </a:xfrm>
        </p:spPr>
        <p:txBody>
          <a:bodyPr>
            <a:noAutofit/>
          </a:bodyPr>
          <a:lstStyle/>
          <a:p>
            <a:pPr marL="36576" indent="0">
              <a:spcBef>
                <a:spcPts val="600"/>
              </a:spcBef>
              <a:spcAft>
                <a:spcPts val="1200"/>
              </a:spcAft>
              <a:buNone/>
            </a:pPr>
            <a:r>
              <a:rPr lang="en-AU" sz="2000" dirty="0">
                <a:latin typeface="Helevetica"/>
              </a:rPr>
              <a:t>Transport will </a:t>
            </a:r>
            <a:r>
              <a:rPr lang="en-AU" sz="2000" dirty="0" smtClean="0">
                <a:latin typeface="Helevetica"/>
              </a:rPr>
              <a:t>cover: </a:t>
            </a:r>
            <a:endParaRPr lang="en-US" sz="2000" dirty="0">
              <a:latin typeface="Helevetica"/>
            </a:endParaRPr>
          </a:p>
          <a:p>
            <a:pPr lvl="0">
              <a:spcBef>
                <a:spcPts val="600"/>
              </a:spcBef>
              <a:spcAft>
                <a:spcPts val="1200"/>
              </a:spcAft>
            </a:pPr>
            <a:r>
              <a:rPr lang="en-AU" sz="2000" dirty="0" smtClean="0">
                <a:latin typeface="Helevetica"/>
              </a:rPr>
              <a:t>Vehicles access:</a:t>
            </a:r>
            <a:endParaRPr lang="en-US" sz="2000" dirty="0" smtClean="0">
              <a:latin typeface="Helevetica"/>
            </a:endParaRPr>
          </a:p>
          <a:p>
            <a:pPr marL="714375" lvl="0" indent="-352425">
              <a:spcBef>
                <a:spcPts val="600"/>
              </a:spcBef>
              <a:spcAft>
                <a:spcPts val="1200"/>
              </a:spcAft>
              <a:buClr>
                <a:srgbClr val="7FD13B"/>
              </a:buClr>
              <a:buSzPct val="100000"/>
              <a:buFont typeface="Arial" panose="020B0604020202020204" pitchFamily="34" charset="0"/>
              <a:buChar char="•"/>
            </a:pPr>
            <a:r>
              <a:rPr lang="en-US" sz="2000" dirty="0" smtClean="0">
                <a:latin typeface="Helevetica"/>
              </a:rPr>
              <a:t>Are there enough existing regional , local roads or tracks to accommodate an increase in traffic, which conditions are they in, will some maintenance work need to be conducted in, will new roads, tracks have to be opened?</a:t>
            </a:r>
          </a:p>
          <a:p>
            <a:pPr marL="714375" lvl="0" indent="-352425">
              <a:spcBef>
                <a:spcPts val="600"/>
              </a:spcBef>
              <a:spcAft>
                <a:spcPts val="1200"/>
              </a:spcAft>
              <a:buClr>
                <a:srgbClr val="7FD13B"/>
              </a:buClr>
              <a:buSzPct val="100000"/>
              <a:buFont typeface="Arial" panose="020B0604020202020204" pitchFamily="34" charset="0"/>
              <a:buChar char="•"/>
            </a:pPr>
            <a:r>
              <a:rPr lang="en-AU" sz="2000" dirty="0" smtClean="0">
                <a:latin typeface="Helevetica"/>
              </a:rPr>
              <a:t>Are there enough parking areas for cars, buses, bicycles if applicable</a:t>
            </a:r>
            <a:endParaRPr lang="en-US" sz="2000" dirty="0" smtClean="0">
              <a:latin typeface="Helevetica"/>
            </a:endParaRPr>
          </a:p>
          <a:p>
            <a:pPr marL="36576" lvl="0" indent="0">
              <a:spcBef>
                <a:spcPts val="600"/>
              </a:spcBef>
              <a:spcAft>
                <a:spcPts val="1200"/>
              </a:spcAft>
              <a:buNone/>
            </a:pPr>
            <a:r>
              <a:rPr lang="en-US" sz="2000" dirty="0" smtClean="0">
                <a:latin typeface="Helevetica"/>
              </a:rPr>
              <a:t> </a:t>
            </a:r>
          </a:p>
          <a:p>
            <a:pPr marL="0" indent="0">
              <a:spcBef>
                <a:spcPts val="600"/>
              </a:spcBef>
              <a:spcAft>
                <a:spcPts val="1200"/>
              </a:spcAft>
              <a:buNone/>
            </a:pP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spTree>
    <p:extLst>
      <p:ext uri="{BB962C8B-B14F-4D97-AF65-F5344CB8AC3E}">
        <p14:creationId xmlns:p14="http://schemas.microsoft.com/office/powerpoint/2010/main" val="4462743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57200"/>
            <a:ext cx="7467600" cy="1752600"/>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3.5 Identify physical infrastructure needs for the local communities and host enterprise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514600"/>
            <a:ext cx="7618040" cy="3886200"/>
          </a:xfrm>
        </p:spPr>
        <p:txBody>
          <a:bodyPr>
            <a:noAutofit/>
          </a:bodyPr>
          <a:lstStyle/>
          <a:p>
            <a:pPr marL="36576" indent="0">
              <a:spcBef>
                <a:spcPts val="600"/>
              </a:spcBef>
              <a:spcAft>
                <a:spcPts val="1200"/>
              </a:spcAft>
              <a:buNone/>
            </a:pPr>
            <a:r>
              <a:rPr lang="en-AU" sz="2000" dirty="0">
                <a:latin typeface="Helevetica"/>
              </a:rPr>
              <a:t>Transport will </a:t>
            </a:r>
            <a:r>
              <a:rPr lang="en-AU" sz="2000" dirty="0" smtClean="0">
                <a:latin typeface="Helevetica"/>
              </a:rPr>
              <a:t>cover transport </a:t>
            </a:r>
            <a:r>
              <a:rPr lang="en-AU" sz="2000" dirty="0">
                <a:latin typeface="Helevetica"/>
              </a:rPr>
              <a:t>to and within the area to promote </a:t>
            </a:r>
            <a:r>
              <a:rPr lang="en-AU" sz="2000" dirty="0" smtClean="0">
                <a:latin typeface="Helevetica"/>
              </a:rPr>
              <a:t>may cover:</a:t>
            </a:r>
            <a:endParaRPr lang="en-US" sz="2000" dirty="0">
              <a:latin typeface="Helevetica"/>
            </a:endParaRPr>
          </a:p>
          <a:p>
            <a:pPr lvl="0">
              <a:spcBef>
                <a:spcPts val="600"/>
              </a:spcBef>
              <a:spcAft>
                <a:spcPts val="1200"/>
              </a:spcAft>
            </a:pPr>
            <a:r>
              <a:rPr lang="en-US" sz="2000" dirty="0" smtClean="0">
                <a:latin typeface="Helevetica"/>
              </a:rPr>
              <a:t>Planes</a:t>
            </a:r>
          </a:p>
          <a:p>
            <a:pPr lvl="0">
              <a:spcBef>
                <a:spcPts val="600"/>
              </a:spcBef>
              <a:spcAft>
                <a:spcPts val="1200"/>
              </a:spcAft>
            </a:pPr>
            <a:r>
              <a:rPr lang="en-US" sz="2000" dirty="0" smtClean="0">
                <a:latin typeface="Helevetica"/>
              </a:rPr>
              <a:t>Boat, ferry, cruise ships</a:t>
            </a:r>
          </a:p>
          <a:p>
            <a:pPr lvl="0">
              <a:spcBef>
                <a:spcPts val="600"/>
              </a:spcBef>
              <a:spcAft>
                <a:spcPts val="1200"/>
              </a:spcAft>
            </a:pPr>
            <a:r>
              <a:rPr lang="en-US" sz="2000" dirty="0" smtClean="0">
                <a:latin typeface="Helevetica"/>
              </a:rPr>
              <a:t>Road: coaches, minibuses, </a:t>
            </a:r>
            <a:br>
              <a:rPr lang="en-US" sz="2000" dirty="0" smtClean="0">
                <a:latin typeface="Helevetica"/>
              </a:rPr>
            </a:br>
            <a:r>
              <a:rPr lang="en-US" sz="2000" dirty="0" smtClean="0">
                <a:latin typeface="Helevetica"/>
              </a:rPr>
              <a:t>taxi services, cars, bicycles</a:t>
            </a:r>
          </a:p>
          <a:p>
            <a:pPr marL="0" indent="0">
              <a:spcBef>
                <a:spcPts val="600"/>
              </a:spcBef>
              <a:spcAft>
                <a:spcPts val="1200"/>
              </a:spcAft>
              <a:buNone/>
            </a:pP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200" y="3733800"/>
            <a:ext cx="2591028" cy="1728216"/>
          </a:xfrm>
          <a:prstGeom prst="rect">
            <a:avLst/>
          </a:prstGeom>
        </p:spPr>
      </p:pic>
    </p:spTree>
    <p:extLst>
      <p:ext uri="{BB962C8B-B14F-4D97-AF65-F5344CB8AC3E}">
        <p14:creationId xmlns:p14="http://schemas.microsoft.com/office/powerpoint/2010/main" val="27864225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3.5 Identify physical infrastructure needs for the local communities and host enterprise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541840" cy="4419600"/>
          </a:xfrm>
        </p:spPr>
        <p:txBody>
          <a:bodyPr>
            <a:noAutofit/>
          </a:bodyPr>
          <a:lstStyle/>
          <a:p>
            <a:pPr marL="36576" indent="0">
              <a:spcAft>
                <a:spcPts val="600"/>
              </a:spcAft>
              <a:buNone/>
            </a:pPr>
            <a:r>
              <a:rPr lang="en-AU" sz="2000" b="1" dirty="0">
                <a:latin typeface="Helvetica" panose="020B0604020202020204" pitchFamily="34" charset="0"/>
                <a:cs typeface="Helvetica" panose="020B0604020202020204" pitchFamily="34" charset="0"/>
              </a:rPr>
              <a:t>Physical infrastructure potential impact</a:t>
            </a:r>
            <a:endParaRPr lang="en-US" sz="2000" b="1" dirty="0">
              <a:latin typeface="Helvetica" panose="020B0604020202020204" pitchFamily="34" charset="0"/>
              <a:cs typeface="Helvetica" panose="020B0604020202020204" pitchFamily="34" charset="0"/>
            </a:endParaRPr>
          </a:p>
          <a:p>
            <a:pPr marL="0" indent="0">
              <a:spcAft>
                <a:spcPts val="600"/>
              </a:spcAft>
              <a:buNone/>
            </a:pPr>
            <a:r>
              <a:rPr lang="en-AU" sz="2000" dirty="0" smtClean="0">
                <a:latin typeface="Helvetica" panose="020B0604020202020204" pitchFamily="34" charset="0"/>
                <a:cs typeface="Helvetica" panose="020B0604020202020204" pitchFamily="34" charset="0"/>
              </a:rPr>
              <a:t>At </a:t>
            </a:r>
            <a:r>
              <a:rPr lang="en-AU" sz="2000" dirty="0">
                <a:latin typeface="Helvetica" panose="020B0604020202020204" pitchFamily="34" charset="0"/>
                <a:cs typeface="Helvetica" panose="020B0604020202020204" pitchFamily="34" charset="0"/>
              </a:rPr>
              <a:t>this stage of the draft plans development, it is essential to carefully </a:t>
            </a:r>
            <a:r>
              <a:rPr lang="en-AU" sz="2000" dirty="0" smtClean="0">
                <a:latin typeface="Helvetica" panose="020B0604020202020204" pitchFamily="34" charset="0"/>
                <a:cs typeface="Helvetica" panose="020B0604020202020204" pitchFamily="34" charset="0"/>
              </a:rPr>
              <a:t>consider: </a:t>
            </a:r>
            <a:endParaRPr lang="en-US" sz="2000" dirty="0">
              <a:latin typeface="Helvetica" panose="020B0604020202020204" pitchFamily="34" charset="0"/>
              <a:cs typeface="Helvetica" panose="020B0604020202020204" pitchFamily="34" charset="0"/>
            </a:endParaRPr>
          </a:p>
          <a:p>
            <a:pPr lvl="0">
              <a:spcAft>
                <a:spcPts val="600"/>
              </a:spcAft>
            </a:pPr>
            <a:r>
              <a:rPr lang="en-AU" sz="2000" dirty="0">
                <a:latin typeface="Helvetica" panose="020B0604020202020204" pitchFamily="34" charset="0"/>
                <a:cs typeface="Helvetica" panose="020B0604020202020204" pitchFamily="34" charset="0"/>
              </a:rPr>
              <a:t>Potential infrastructure development or expansion impact by ensuring that the positives will outweigh the </a:t>
            </a:r>
            <a:r>
              <a:rPr lang="en-AU" sz="2000" dirty="0" smtClean="0">
                <a:latin typeface="Helvetica" panose="020B0604020202020204" pitchFamily="34" charset="0"/>
                <a:cs typeface="Helvetica" panose="020B0604020202020204" pitchFamily="34" charset="0"/>
              </a:rPr>
              <a:t>negative</a:t>
            </a:r>
            <a:endParaRPr lang="en-US" sz="2000" dirty="0">
              <a:latin typeface="Helvetica" panose="020B0604020202020204" pitchFamily="34" charset="0"/>
              <a:cs typeface="Helvetica" panose="020B0604020202020204" pitchFamily="34" charset="0"/>
            </a:endParaRPr>
          </a:p>
          <a:p>
            <a:pPr lvl="0">
              <a:spcAft>
                <a:spcPts val="600"/>
              </a:spcAft>
            </a:pPr>
            <a:r>
              <a:rPr lang="en-US" sz="2000" dirty="0">
                <a:latin typeface="Helvetica" panose="020B0604020202020204" pitchFamily="34" charset="0"/>
                <a:cs typeface="Helvetica" panose="020B0604020202020204" pitchFamily="34" charset="0"/>
              </a:rPr>
              <a:t>The local community, local providers need to directly benefit, not a single outside operator </a:t>
            </a:r>
          </a:p>
          <a:p>
            <a:pPr lvl="0">
              <a:spcAft>
                <a:spcPts val="600"/>
              </a:spcAft>
            </a:pPr>
            <a:r>
              <a:rPr lang="en-AU" sz="2000" dirty="0">
                <a:latin typeface="Helvetica" panose="020B0604020202020204" pitchFamily="34" charset="0"/>
                <a:cs typeface="Helvetica" panose="020B0604020202020204" pitchFamily="34" charset="0"/>
              </a:rPr>
              <a:t>The environmental impact will be kept to a minimum, leaving the smallest environmental footprint.  It is important to note that due to the ever increasing importance of sustainability, being environmentally aware will help with a more positive response to any proposed draft tourism plans </a:t>
            </a:r>
            <a:endParaRPr lang="en-US" sz="2000" dirty="0">
              <a:latin typeface="Helvetica" panose="020B0604020202020204" pitchFamily="34" charset="0"/>
              <a:cs typeface="Helvetica" panose="020B0604020202020204" pitchFamily="34" charset="0"/>
            </a:endParaRPr>
          </a:p>
          <a:p>
            <a:pPr marL="0" indent="0">
              <a:spcBef>
                <a:spcPts val="600"/>
              </a:spcBef>
              <a:spcAft>
                <a:spcPts val="600"/>
              </a:spcAft>
              <a:buNone/>
            </a:pP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spTree>
    <p:extLst>
      <p:ext uri="{BB962C8B-B14F-4D97-AF65-F5344CB8AC3E}">
        <p14:creationId xmlns:p14="http://schemas.microsoft.com/office/powerpoint/2010/main" val="15032278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362200"/>
            <a:ext cx="7467600" cy="4114800"/>
          </a:xfrm>
        </p:spPr>
        <p:txBody>
          <a:bodyPr>
            <a:noAutofit/>
          </a:bodyPr>
          <a:lstStyle/>
          <a:p>
            <a:pPr marL="36576" indent="0">
              <a:spcBef>
                <a:spcPts val="600"/>
              </a:spcBef>
              <a:spcAft>
                <a:spcPts val="600"/>
              </a:spcAft>
              <a:buNone/>
            </a:pPr>
            <a:r>
              <a:rPr lang="en-AU" sz="2000" b="1" dirty="0">
                <a:latin typeface="Helvetica" panose="020B0604020202020204" pitchFamily="34" charset="0"/>
                <a:cs typeface="Helvetica" panose="020B0604020202020204" pitchFamily="34" charset="0"/>
              </a:rPr>
              <a:t>Financial resources </a:t>
            </a:r>
            <a:endParaRPr lang="en-US" sz="2000" b="1" dirty="0">
              <a:latin typeface="Helvetica" panose="020B0604020202020204" pitchFamily="34" charset="0"/>
              <a:cs typeface="Helvetica" panose="020B0604020202020204" pitchFamily="34" charset="0"/>
            </a:endParaRPr>
          </a:p>
          <a:p>
            <a:pPr marL="36576" indent="0">
              <a:spcBef>
                <a:spcPts val="600"/>
              </a:spcBef>
              <a:spcAft>
                <a:spcPts val="600"/>
              </a:spcAft>
              <a:buNone/>
            </a:pPr>
            <a:r>
              <a:rPr lang="en-AU" sz="2000" dirty="0">
                <a:latin typeface="Helvetica" panose="020B0604020202020204" pitchFamily="34" charset="0"/>
                <a:cs typeface="Helvetica" panose="020B0604020202020204" pitchFamily="34" charset="0"/>
              </a:rPr>
              <a:t>As previously mentioned, any potential tourism initiative needs to have the local communities support to succeed .Making a financial contribution to one or more nominated local initiatives as identified by the community will benefit the draft plans </a:t>
            </a:r>
            <a:r>
              <a:rPr lang="en-AU" sz="2000" dirty="0" smtClean="0">
                <a:latin typeface="Helvetica" panose="020B0604020202020204" pitchFamily="34" charset="0"/>
                <a:cs typeface="Helvetica" panose="020B0604020202020204" pitchFamily="34" charset="0"/>
              </a:rPr>
              <a:t>approval.</a:t>
            </a:r>
            <a:endParaRPr lang="en-US" sz="2000" dirty="0">
              <a:latin typeface="Helvetica" panose="020B0604020202020204" pitchFamily="34" charset="0"/>
              <a:cs typeface="Helvetica" panose="020B0604020202020204" pitchFamily="34" charset="0"/>
            </a:endParaRPr>
          </a:p>
          <a:p>
            <a:pPr>
              <a:spcBef>
                <a:spcPts val="600"/>
              </a:spcBef>
              <a:spcAft>
                <a:spcPts val="600"/>
              </a:spcAft>
              <a:buNone/>
            </a:pPr>
            <a:r>
              <a:rPr lang="en-AU" sz="2000" dirty="0">
                <a:latin typeface="Helvetica" panose="020B0604020202020204" pitchFamily="34" charset="0"/>
                <a:cs typeface="Helvetica" panose="020B0604020202020204" pitchFamily="34" charset="0"/>
              </a:rPr>
              <a:t>The funding may be </a:t>
            </a:r>
            <a:r>
              <a:rPr lang="en-AU" sz="2000" dirty="0" smtClean="0">
                <a:latin typeface="Helvetica" panose="020B0604020202020204" pitchFamily="34" charset="0"/>
                <a:cs typeface="Helvetica" panose="020B0604020202020204" pitchFamily="34" charset="0"/>
              </a:rPr>
              <a:t>available:</a:t>
            </a:r>
            <a:endParaRPr lang="en-US" sz="2000" dirty="0">
              <a:latin typeface="Helvetica" panose="020B0604020202020204" pitchFamily="34" charset="0"/>
              <a:cs typeface="Helvetica" panose="020B0604020202020204" pitchFamily="34" charset="0"/>
            </a:endParaRPr>
          </a:p>
          <a:p>
            <a:pPr>
              <a:spcBef>
                <a:spcPts val="600"/>
              </a:spcBef>
              <a:spcAft>
                <a:spcPts val="600"/>
              </a:spcAft>
            </a:pPr>
            <a:r>
              <a:rPr lang="en-AU" sz="2000" dirty="0">
                <a:latin typeface="Helvetica" panose="020B0604020202020204" pitchFamily="34" charset="0"/>
                <a:cs typeface="Helvetica" panose="020B0604020202020204" pitchFamily="34" charset="0"/>
              </a:rPr>
              <a:t>In ‘cash’ or ‘in kind</a:t>
            </a:r>
            <a:r>
              <a:rPr lang="en-AU" sz="2000" dirty="0" smtClean="0">
                <a:latin typeface="Helvetica" panose="020B0604020202020204" pitchFamily="34" charset="0"/>
                <a:cs typeface="Helvetica" panose="020B0604020202020204" pitchFamily="34" charset="0"/>
              </a:rPr>
              <a:t>’:</a:t>
            </a:r>
            <a:endParaRPr lang="en-US" sz="2000" dirty="0">
              <a:latin typeface="Helvetica" panose="020B0604020202020204" pitchFamily="34" charset="0"/>
              <a:cs typeface="Helvetica" panose="020B0604020202020204" pitchFamily="34" charset="0"/>
            </a:endParaRPr>
          </a:p>
          <a:p>
            <a:pPr marL="714375" lvl="0" indent="-352425">
              <a:spcBef>
                <a:spcPts val="600"/>
              </a:spcBef>
              <a:spcAft>
                <a:spcPts val="600"/>
              </a:spcAft>
              <a:buSzPct val="100000"/>
              <a:buFont typeface="Arial" panose="020B0604020202020204" pitchFamily="34" charset="0"/>
              <a:buChar char="•"/>
            </a:pPr>
            <a:r>
              <a:rPr lang="en-US" sz="2000" dirty="0">
                <a:latin typeface="Helvetica" panose="020B0604020202020204" pitchFamily="34" charset="0"/>
                <a:cs typeface="Helvetica" panose="020B0604020202020204" pitchFamily="34" charset="0"/>
              </a:rPr>
              <a:t>Cash </a:t>
            </a:r>
            <a:r>
              <a:rPr lang="en-US" sz="2000" dirty="0" smtClean="0">
                <a:latin typeface="Helvetica" panose="020B0604020202020204" pitchFamily="34" charset="0"/>
                <a:cs typeface="Helvetica" panose="020B0604020202020204" pitchFamily="34" charset="0"/>
              </a:rPr>
              <a:t>as in funding </a:t>
            </a:r>
            <a:r>
              <a:rPr lang="en-US" sz="2000" dirty="0">
                <a:latin typeface="Helvetica" panose="020B0604020202020204" pitchFamily="34" charset="0"/>
                <a:cs typeface="Helvetica" panose="020B0604020202020204" pitchFamily="34" charset="0"/>
              </a:rPr>
              <a:t>money</a:t>
            </a:r>
          </a:p>
          <a:p>
            <a:pPr marL="714375" lvl="0" indent="-352425">
              <a:spcBef>
                <a:spcPts val="600"/>
              </a:spcBef>
              <a:spcAft>
                <a:spcPts val="600"/>
              </a:spcAft>
              <a:buSzPct val="100000"/>
              <a:buFont typeface="Arial" panose="020B0604020202020204" pitchFamily="34" charset="0"/>
              <a:buChar char="•"/>
            </a:pPr>
            <a:r>
              <a:rPr lang="en-US" sz="2000" dirty="0">
                <a:latin typeface="Helvetica" panose="020B0604020202020204" pitchFamily="34" charset="0"/>
                <a:cs typeface="Helvetica" panose="020B0604020202020204" pitchFamily="34" charset="0"/>
              </a:rPr>
              <a:t>Kind </a:t>
            </a:r>
            <a:r>
              <a:rPr lang="en-US" sz="2000" dirty="0" smtClean="0">
                <a:latin typeface="Helvetica" panose="020B0604020202020204" pitchFamily="34" charset="0"/>
                <a:cs typeface="Helvetica" panose="020B0604020202020204" pitchFamily="34" charset="0"/>
              </a:rPr>
              <a:t>as in </a:t>
            </a:r>
            <a:r>
              <a:rPr lang="en-US" sz="2000" dirty="0">
                <a:latin typeface="Helvetica" panose="020B0604020202020204" pitchFamily="34" charset="0"/>
                <a:cs typeface="Helvetica" panose="020B0604020202020204" pitchFamily="34" charset="0"/>
              </a:rPr>
              <a:t>provision of staff, physical </a:t>
            </a:r>
            <a:r>
              <a:rPr lang="en-US" sz="2000" dirty="0" smtClean="0">
                <a:latin typeface="Helvetica" panose="020B0604020202020204" pitchFamily="34" charset="0"/>
                <a:cs typeface="Helvetica" panose="020B0604020202020204" pitchFamily="34" charset="0"/>
              </a:rPr>
              <a:t>resources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7694240" cy="4495800"/>
          </a:xfrm>
        </p:spPr>
        <p:txBody>
          <a:bodyPr>
            <a:noAutofit/>
          </a:bodyPr>
          <a:lstStyle/>
          <a:p>
            <a:pPr marL="36576" indent="0">
              <a:spcBef>
                <a:spcPts val="600"/>
              </a:spcBef>
              <a:spcAft>
                <a:spcPts val="600"/>
              </a:spcAft>
              <a:buNone/>
            </a:pPr>
            <a:r>
              <a:rPr lang="en-AU" sz="1800" b="1" dirty="0">
                <a:latin typeface="Helvetica" panose="020B0604020202020204" pitchFamily="34" charset="0"/>
                <a:cs typeface="Helvetica" panose="020B0604020202020204" pitchFamily="34" charset="0"/>
              </a:rPr>
              <a:t>Financial resources </a:t>
            </a:r>
            <a:endParaRPr lang="en-US" sz="1800" b="1" dirty="0">
              <a:latin typeface="Helvetica" panose="020B0604020202020204" pitchFamily="34" charset="0"/>
              <a:cs typeface="Helvetica" panose="020B0604020202020204" pitchFamily="34" charset="0"/>
            </a:endParaRPr>
          </a:p>
          <a:p>
            <a:pPr>
              <a:spcBef>
                <a:spcPts val="600"/>
              </a:spcBef>
              <a:spcAft>
                <a:spcPts val="600"/>
              </a:spcAft>
              <a:buNone/>
            </a:pPr>
            <a:r>
              <a:rPr lang="en-AU" sz="1800" dirty="0" smtClean="0">
                <a:latin typeface="Helvetica" panose="020B0604020202020204" pitchFamily="34" charset="0"/>
                <a:cs typeface="Helvetica" panose="020B0604020202020204" pitchFamily="34" charset="0"/>
              </a:rPr>
              <a:t>The </a:t>
            </a:r>
            <a:r>
              <a:rPr lang="en-AU" sz="1800" dirty="0">
                <a:latin typeface="Helvetica" panose="020B0604020202020204" pitchFamily="34" charset="0"/>
                <a:cs typeface="Helvetica" panose="020B0604020202020204" pitchFamily="34" charset="0"/>
              </a:rPr>
              <a:t>funding can come from:</a:t>
            </a:r>
            <a:endParaRPr lang="en-US" sz="1800" dirty="0">
              <a:latin typeface="Helvetica" panose="020B0604020202020204" pitchFamily="34" charset="0"/>
              <a:cs typeface="Helvetica" panose="020B0604020202020204"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The individual businesses, groups or organisations proposing the program, project</a:t>
            </a:r>
            <a:endParaRPr lang="en-US" sz="1800" dirty="0">
              <a:latin typeface="Helvetica" panose="020B0604020202020204" pitchFamily="34" charset="0"/>
              <a:cs typeface="Helvetica" panose="020B0604020202020204" pitchFamily="34" charset="0"/>
            </a:endParaRPr>
          </a:p>
          <a:p>
            <a:pPr marL="360000" indent="-360000">
              <a:spcBef>
                <a:spcPts val="600"/>
              </a:spcBef>
              <a:spcAft>
                <a:spcPts val="600"/>
              </a:spcAft>
            </a:pPr>
            <a:r>
              <a:rPr lang="en-AU" sz="1800" dirty="0">
                <a:latin typeface="Helvetica" panose="020B0604020202020204" pitchFamily="34" charset="0"/>
                <a:cs typeface="Helvetica" panose="020B0604020202020204" pitchFamily="34" charset="0"/>
              </a:rPr>
              <a:t>Government departments (national, state authorities and bodies) in terms </a:t>
            </a:r>
            <a:r>
              <a:rPr lang="en-AU" sz="1800" dirty="0" smtClean="0">
                <a:latin typeface="Helvetica" panose="020B0604020202020204" pitchFamily="34" charset="0"/>
                <a:cs typeface="Helvetica" panose="020B0604020202020204" pitchFamily="34" charset="0"/>
              </a:rPr>
              <a:t>of:</a:t>
            </a:r>
            <a:endParaRPr lang="en-US" sz="1800" dirty="0" smtClean="0">
              <a:latin typeface="Helvetica" pitchFamily="34" charset="0"/>
            </a:endParaRPr>
          </a:p>
          <a:p>
            <a:pPr marL="720000" lvl="0" indent="-360000">
              <a:spcBef>
                <a:spcPts val="600"/>
              </a:spcBef>
              <a:spcAft>
                <a:spcPts val="600"/>
              </a:spcAft>
              <a:buClr>
                <a:srgbClr val="7FD13B"/>
              </a:buClr>
              <a:buSzPct val="100000"/>
              <a:buFont typeface="Arial" pitchFamily="34" charset="0"/>
              <a:buChar char="•"/>
            </a:pPr>
            <a:r>
              <a:rPr lang="en-US" sz="1800" dirty="0" smtClean="0">
                <a:latin typeface="Helvetica" panose="020B0604020202020204" pitchFamily="34" charset="0"/>
                <a:cs typeface="Helvetica" panose="020B0604020202020204" pitchFamily="34" charset="0"/>
              </a:rPr>
              <a:t>Grants, subsidies</a:t>
            </a:r>
          </a:p>
          <a:p>
            <a:pPr marL="720000" indent="-360000">
              <a:spcBef>
                <a:spcPts val="600"/>
              </a:spcBef>
              <a:spcAft>
                <a:spcPts val="600"/>
              </a:spcAft>
              <a:buClr>
                <a:srgbClr val="7FD13B"/>
              </a:buClr>
              <a:buSzPct val="100000"/>
              <a:buFont typeface="Arial" pitchFamily="34" charset="0"/>
              <a:buChar char="•"/>
            </a:pPr>
            <a:r>
              <a:rPr lang="en-US" sz="1800" dirty="0" smtClean="0">
                <a:latin typeface="Helvetica" panose="020B0604020202020204" pitchFamily="34" charset="0"/>
                <a:cs typeface="Helvetica" panose="020B0604020202020204" pitchFamily="34" charset="0"/>
              </a:rPr>
              <a:t>Assistance and allowance</a:t>
            </a:r>
          </a:p>
          <a:p>
            <a:pPr lvl="0">
              <a:spcBef>
                <a:spcPts val="600"/>
              </a:spcBef>
              <a:spcAft>
                <a:spcPts val="600"/>
              </a:spcAft>
            </a:pPr>
            <a:r>
              <a:rPr lang="en-AU" sz="1800" dirty="0" smtClean="0">
                <a:latin typeface="Helvetica" panose="020B0604020202020204" pitchFamily="34" charset="0"/>
                <a:cs typeface="Helvetica" panose="020B0604020202020204" pitchFamily="34" charset="0"/>
              </a:rPr>
              <a:t>Relevant </a:t>
            </a:r>
            <a:r>
              <a:rPr lang="en-AU" sz="1800" dirty="0">
                <a:latin typeface="Helvetica" panose="020B0604020202020204" pitchFamily="34" charset="0"/>
                <a:cs typeface="Helvetica" panose="020B0604020202020204" pitchFamily="34" charset="0"/>
              </a:rPr>
              <a:t>industry associations and/or bodies </a:t>
            </a:r>
            <a:endParaRPr lang="en-US" sz="1800" dirty="0">
              <a:latin typeface="Helvetica" panose="020B0604020202020204" pitchFamily="34" charset="0"/>
              <a:cs typeface="Helvetica" panose="020B0604020202020204"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A specific stakeholder, operator with a vested interest and wanting to create a more positive relationship and rapport with the local communities </a:t>
            </a:r>
            <a:endParaRPr lang="en-US" sz="1800" dirty="0">
              <a:latin typeface="Helvetica" panose="020B0604020202020204" pitchFamily="34" charset="0"/>
              <a:cs typeface="Helvetica" panose="020B0604020202020204" pitchFamily="34" charset="0"/>
            </a:endParaRPr>
          </a:p>
          <a:p>
            <a:pPr marL="36576" indent="0">
              <a:spcBef>
                <a:spcPts val="600"/>
              </a:spcBef>
              <a:spcAft>
                <a:spcPts val="600"/>
              </a:spcAft>
              <a:buNone/>
            </a:pPr>
            <a:r>
              <a:rPr lang="en-AU" sz="1800" dirty="0" smtClean="0">
                <a:latin typeface="Helvetica" panose="020B0604020202020204" pitchFamily="34" charset="0"/>
                <a:cs typeface="Helvetica" panose="020B0604020202020204" pitchFamily="34" charset="0"/>
              </a:rPr>
              <a:t>  </a:t>
            </a:r>
            <a:endParaRPr lang="en-US" sz="1800" dirty="0" smtClean="0">
              <a:latin typeface="Helvetica" pitchFamily="34" charset="0"/>
              <a:cs typeface="Helvetica" panose="020B0604020202020204" pitchFamily="34" charset="0"/>
            </a:endParaRPr>
          </a:p>
          <a:p>
            <a:pPr marL="360000" indent="-360000">
              <a:spcBef>
                <a:spcPts val="600"/>
              </a:spcBef>
              <a:spcAft>
                <a:spcPts val="600"/>
              </a:spcAft>
              <a:buNone/>
            </a:pPr>
            <a:endParaRPr lang="en-US" sz="1800" dirty="0" smtClean="0">
              <a:latin typeface="Helvetica"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spTree>
    <p:extLst>
      <p:ext uri="{BB962C8B-B14F-4D97-AF65-F5344CB8AC3E}">
        <p14:creationId xmlns:p14="http://schemas.microsoft.com/office/powerpoint/2010/main" val="9651502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4114800"/>
          </a:xfrm>
        </p:spPr>
        <p:txBody>
          <a:bodyPr>
            <a:noAutofit/>
          </a:bodyPr>
          <a:lstStyle/>
          <a:p>
            <a:pPr marL="36576" indent="0">
              <a:spcBef>
                <a:spcPts val="600"/>
              </a:spcBef>
              <a:spcAft>
                <a:spcPts val="1200"/>
              </a:spcAft>
              <a:buNone/>
            </a:pPr>
            <a:r>
              <a:rPr lang="en-AU" sz="2000" b="1" dirty="0" smtClean="0">
                <a:latin typeface="Helevetica"/>
              </a:rPr>
              <a:t>Human </a:t>
            </a:r>
            <a:r>
              <a:rPr lang="en-AU" sz="2000" b="1" dirty="0">
                <a:latin typeface="Helevetica"/>
              </a:rPr>
              <a:t>resources </a:t>
            </a:r>
            <a:r>
              <a:rPr lang="en-AU" sz="2000" dirty="0">
                <a:latin typeface="Helevetica"/>
              </a:rPr>
              <a:t>are the people who will be involved in delivering programs, sessions. </a:t>
            </a:r>
            <a:endParaRPr lang="en-AU" sz="2000" dirty="0" smtClean="0">
              <a:latin typeface="Helevetica"/>
            </a:endParaRPr>
          </a:p>
          <a:p>
            <a:pPr marL="36576" indent="0">
              <a:spcBef>
                <a:spcPts val="600"/>
              </a:spcBef>
              <a:spcAft>
                <a:spcPts val="1200"/>
              </a:spcAft>
              <a:buNone/>
            </a:pPr>
            <a:r>
              <a:rPr lang="en-AU" sz="2000" dirty="0" smtClean="0">
                <a:latin typeface="Helevetica"/>
              </a:rPr>
              <a:t>It </a:t>
            </a:r>
            <a:r>
              <a:rPr lang="en-AU" sz="2000" dirty="0">
                <a:latin typeface="Helevetica"/>
              </a:rPr>
              <a:t>is important to use the ‘right people</a:t>
            </a:r>
            <a:r>
              <a:rPr lang="en-AU" sz="2000" dirty="0" smtClean="0">
                <a:latin typeface="Helevetica"/>
              </a:rPr>
              <a:t>’.</a:t>
            </a:r>
          </a:p>
          <a:p>
            <a:pPr marL="36576" indent="0">
              <a:spcBef>
                <a:spcPts val="600"/>
              </a:spcBef>
              <a:spcAft>
                <a:spcPts val="1200"/>
              </a:spcAft>
              <a:buNone/>
            </a:pPr>
            <a:r>
              <a:rPr lang="en-AU" sz="2000" dirty="0" smtClean="0"/>
              <a:t>They </a:t>
            </a:r>
            <a:r>
              <a:rPr lang="en-AU" sz="2000" dirty="0"/>
              <a:t>will provide the local communities </a:t>
            </a:r>
            <a:r>
              <a:rPr lang="en-AU" sz="2000" dirty="0" smtClean="0"/>
              <a:t>with: </a:t>
            </a:r>
            <a:endParaRPr lang="en-US" sz="2000" b="1" dirty="0"/>
          </a:p>
          <a:p>
            <a:pPr lvl="0">
              <a:spcBef>
                <a:spcPts val="600"/>
              </a:spcBef>
              <a:spcAft>
                <a:spcPts val="1200"/>
              </a:spcAft>
            </a:pPr>
            <a:r>
              <a:rPr lang="en-AU" sz="2000" dirty="0"/>
              <a:t>Relevant training, in turn providing   </a:t>
            </a:r>
            <a:endParaRPr lang="en-US" sz="2000" dirty="0"/>
          </a:p>
          <a:p>
            <a:pPr lvl="0">
              <a:spcBef>
                <a:spcPts val="600"/>
              </a:spcBef>
              <a:spcAft>
                <a:spcPts val="1200"/>
              </a:spcAft>
            </a:pPr>
            <a:r>
              <a:rPr lang="en-AU" sz="2000" dirty="0"/>
              <a:t>Employment opportunities    </a:t>
            </a:r>
            <a:endParaRPr lang="en-US" sz="2000" dirty="0"/>
          </a:p>
          <a:p>
            <a:pPr marL="36576" indent="0">
              <a:spcBef>
                <a:spcPts val="600"/>
              </a:spcBef>
              <a:spcAft>
                <a:spcPts val="1200"/>
              </a:spcAft>
              <a:buNone/>
            </a:pPr>
            <a:endParaRPr lang="en-US" sz="2000" dirty="0">
              <a:latin typeface="Helevetica"/>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3316" y="3810000"/>
            <a:ext cx="2601733" cy="1776984"/>
          </a:xfrm>
          <a:prstGeom prst="rect">
            <a:avLst/>
          </a:prstGeom>
        </p:spPr>
      </p:pic>
    </p:spTree>
    <p:extLst>
      <p:ext uri="{BB962C8B-B14F-4D97-AF65-F5344CB8AC3E}">
        <p14:creationId xmlns:p14="http://schemas.microsoft.com/office/powerpoint/2010/main" val="27005049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7467600" cy="4191000"/>
          </a:xfrm>
        </p:spPr>
        <p:txBody>
          <a:bodyPr>
            <a:noAutofit/>
          </a:bodyPr>
          <a:lstStyle/>
          <a:p>
            <a:pPr marL="36576" indent="0">
              <a:spcBef>
                <a:spcPts val="600"/>
              </a:spcBef>
              <a:spcAft>
                <a:spcPts val="1200"/>
              </a:spcAft>
              <a:buNone/>
            </a:pPr>
            <a:r>
              <a:rPr lang="en-AU" sz="2000" b="1" dirty="0"/>
              <a:t>Human and public services </a:t>
            </a:r>
            <a:endParaRPr lang="en-US" sz="2000" dirty="0"/>
          </a:p>
          <a:p>
            <a:pPr marL="0" indent="0">
              <a:spcBef>
                <a:spcPts val="600"/>
              </a:spcBef>
              <a:spcAft>
                <a:spcPts val="1200"/>
              </a:spcAft>
              <a:buNone/>
            </a:pPr>
            <a:r>
              <a:rPr lang="en-AU" sz="2000" dirty="0" smtClean="0">
                <a:latin typeface="Helvetica" panose="020B0604020202020204" pitchFamily="34" charset="0"/>
                <a:cs typeface="Helvetica" panose="020B0604020202020204" pitchFamily="34" charset="0"/>
              </a:rPr>
              <a:t>Health </a:t>
            </a:r>
            <a:r>
              <a:rPr lang="en-AU" sz="2000" dirty="0">
                <a:latin typeface="Helvetica" panose="020B0604020202020204" pitchFamily="34" charset="0"/>
                <a:cs typeface="Helvetica" panose="020B0604020202020204" pitchFamily="34" charset="0"/>
              </a:rPr>
              <a:t>care and medical services might be part of formal draft plans if the forecasted tourists, visitors increase level warrants an increase </a:t>
            </a:r>
            <a:r>
              <a:rPr lang="en-AU" sz="2000" dirty="0" smtClean="0">
                <a:latin typeface="Helvetica" panose="020B0604020202020204" pitchFamily="34" charset="0"/>
                <a:cs typeface="Helvetica" panose="020B0604020202020204" pitchFamily="34" charset="0"/>
              </a:rPr>
              <a:t>in: </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AU" sz="2000" dirty="0">
                <a:latin typeface="Helvetica" panose="020B0604020202020204" pitchFamily="34" charset="0"/>
                <a:cs typeface="Helvetica" panose="020B0604020202020204" pitchFamily="34" charset="0"/>
              </a:rPr>
              <a:t>Numbers of health care practitioners such as doctors, nurses, pharmacists, dentists</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AU" sz="2000" dirty="0">
                <a:latin typeface="Helvetica" panose="020B0604020202020204" pitchFamily="34" charset="0"/>
                <a:cs typeface="Helvetica" panose="020B0604020202020204" pitchFamily="34" charset="0"/>
              </a:rPr>
              <a:t>Health care and medical services locations</a:t>
            </a:r>
            <a:endParaRPr lang="en-US" sz="2000" dirty="0">
              <a:latin typeface="Helvetica" panose="020B0604020202020204" pitchFamily="34" charset="0"/>
              <a:cs typeface="Helvetica" panose="020B0604020202020204" pitchFamily="34" charset="0"/>
            </a:endParaRPr>
          </a:p>
          <a:p>
            <a:pPr lvl="0">
              <a:spcBef>
                <a:spcPts val="600"/>
              </a:spcBef>
              <a:spcAft>
                <a:spcPts val="1200"/>
              </a:spcAft>
            </a:pPr>
            <a:r>
              <a:rPr lang="en-US" sz="2000" dirty="0">
                <a:latin typeface="Helvetica" panose="020B0604020202020204" pitchFamily="34" charset="0"/>
                <a:cs typeface="Helvetica" panose="020B0604020202020204" pitchFamily="34" charset="0"/>
              </a:rPr>
              <a:t>Local hospital expansion</a:t>
            </a:r>
          </a:p>
          <a:p>
            <a:pPr lvl="0">
              <a:spcBef>
                <a:spcPts val="600"/>
              </a:spcBef>
              <a:spcAft>
                <a:spcPts val="1200"/>
              </a:spcAft>
            </a:pPr>
            <a:r>
              <a:rPr lang="en-US" sz="2000" dirty="0">
                <a:latin typeface="Helvetica" panose="020B0604020202020204" pitchFamily="34" charset="0"/>
                <a:cs typeface="Helvetica" panose="020B0604020202020204" pitchFamily="34" charset="0"/>
              </a:rPr>
              <a:t>New medical center to be opened </a:t>
            </a:r>
          </a:p>
          <a:p>
            <a:pPr marL="36576" indent="0">
              <a:spcBef>
                <a:spcPts val="600"/>
              </a:spcBef>
              <a:spcAft>
                <a:spcPts val="12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15200" y="3962400"/>
            <a:ext cx="1097280" cy="1371600"/>
          </a:xfrm>
          <a:prstGeom prst="rect">
            <a:avLst/>
          </a:prstGeom>
        </p:spPr>
      </p:pic>
    </p:spTree>
    <p:extLst>
      <p:ext uri="{BB962C8B-B14F-4D97-AF65-F5344CB8AC3E}">
        <p14:creationId xmlns:p14="http://schemas.microsoft.com/office/powerpoint/2010/main" val="30922899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7247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762000" y="2286000"/>
            <a:ext cx="7772400" cy="4114800"/>
          </a:xfrm>
        </p:spPr>
        <p:txBody>
          <a:bodyPr>
            <a:noAutofit/>
          </a:bodyPr>
          <a:lstStyle/>
          <a:p>
            <a:pPr marL="36576" indent="0">
              <a:spcBef>
                <a:spcPts val="600"/>
              </a:spcBef>
              <a:spcAft>
                <a:spcPts val="600"/>
              </a:spcAft>
              <a:buNone/>
            </a:pPr>
            <a:r>
              <a:rPr lang="en-AU" sz="1800" b="1" dirty="0"/>
              <a:t>Human and public services </a:t>
            </a:r>
            <a:endParaRPr lang="en-AU" sz="1800" b="1" dirty="0" smtClean="0"/>
          </a:p>
          <a:p>
            <a:pPr marL="36576" indent="0">
              <a:spcBef>
                <a:spcPts val="600"/>
              </a:spcBef>
              <a:spcAft>
                <a:spcPts val="600"/>
              </a:spcAft>
              <a:buNone/>
            </a:pPr>
            <a:r>
              <a:rPr lang="en-AU" sz="1800" dirty="0">
                <a:cs typeface="Helvetica" panose="020B0604020202020204" pitchFamily="34" charset="0"/>
              </a:rPr>
              <a:t>Public safety and security is another issue requiring careful consideration.  An unfortunate, well known consequence of tourism development is a potential local increase in theft and crime . In light of this knowledge, any draft tourism plan now needs to include a strategy to guarantee the safety and security of the local communities and visitors alike. This can be achieved </a:t>
            </a:r>
            <a:r>
              <a:rPr lang="en-AU" sz="1800" dirty="0" smtClean="0">
                <a:cs typeface="Helvetica" panose="020B0604020202020204" pitchFamily="34" charset="0"/>
              </a:rPr>
              <a:t>by:</a:t>
            </a:r>
            <a:endParaRPr lang="en-US" sz="1800" dirty="0">
              <a:cs typeface="Helvetica" panose="020B0604020202020204" pitchFamily="34" charset="0"/>
            </a:endParaRPr>
          </a:p>
          <a:p>
            <a:pPr lvl="0">
              <a:spcBef>
                <a:spcPts val="600"/>
              </a:spcBef>
              <a:spcAft>
                <a:spcPts val="600"/>
              </a:spcAft>
            </a:pPr>
            <a:r>
              <a:rPr lang="en-AU" sz="1800" dirty="0">
                <a:cs typeface="Helvetica" panose="020B0604020202020204" pitchFamily="34" charset="0"/>
              </a:rPr>
              <a:t>Increased number of local police </a:t>
            </a:r>
            <a:endParaRPr lang="en-US" sz="1800" dirty="0">
              <a:cs typeface="Helvetica" panose="020B0604020202020204" pitchFamily="34" charset="0"/>
            </a:endParaRPr>
          </a:p>
          <a:p>
            <a:pPr lvl="0">
              <a:spcBef>
                <a:spcPts val="600"/>
              </a:spcBef>
              <a:spcAft>
                <a:spcPts val="600"/>
              </a:spcAft>
            </a:pPr>
            <a:r>
              <a:rPr lang="en-AU" sz="1800" dirty="0">
                <a:cs typeface="Helvetica" panose="020B0604020202020204" pitchFamily="34" charset="0"/>
              </a:rPr>
              <a:t>Use of outside security contractors at specific times such </a:t>
            </a:r>
            <a:r>
              <a:rPr lang="en-AU" sz="1800" dirty="0" smtClean="0">
                <a:cs typeface="Helvetica" panose="020B0604020202020204" pitchFamily="34" charset="0"/>
              </a:rPr>
              <a:t>as: </a:t>
            </a:r>
            <a:endParaRPr lang="en-US" sz="1800" dirty="0">
              <a:cs typeface="Helvetica" panose="020B0604020202020204" pitchFamily="34" charset="0"/>
            </a:endParaRPr>
          </a:p>
          <a:p>
            <a:pPr marL="714375" lvl="0" indent="-352425">
              <a:spcBef>
                <a:spcPts val="600"/>
              </a:spcBef>
              <a:spcAft>
                <a:spcPts val="600"/>
              </a:spcAft>
              <a:buSzPct val="100000"/>
              <a:buFont typeface="Arial" panose="020B0604020202020204" pitchFamily="34" charset="0"/>
              <a:buChar char="•"/>
            </a:pPr>
            <a:r>
              <a:rPr lang="en-US" sz="1800" dirty="0" smtClean="0">
                <a:cs typeface="Helvetica" panose="020B0604020202020204" pitchFamily="34" charset="0"/>
              </a:rPr>
              <a:t>During </a:t>
            </a:r>
            <a:r>
              <a:rPr lang="en-US" sz="1800" dirty="0">
                <a:cs typeface="Helvetica" panose="020B0604020202020204" pitchFamily="34" charset="0"/>
              </a:rPr>
              <a:t>construction and operational phase of a new coastal resort</a:t>
            </a:r>
          </a:p>
          <a:p>
            <a:pPr marL="714375" lvl="0" indent="-352425">
              <a:spcBef>
                <a:spcPts val="600"/>
              </a:spcBef>
              <a:spcAft>
                <a:spcPts val="600"/>
              </a:spcAft>
              <a:buSzPct val="100000"/>
              <a:buFont typeface="Arial" panose="020B0604020202020204" pitchFamily="34" charset="0"/>
              <a:buChar char="•"/>
            </a:pPr>
            <a:r>
              <a:rPr lang="en-US" sz="1800" dirty="0" smtClean="0">
                <a:cs typeface="Helvetica" panose="020B0604020202020204" pitchFamily="34" charset="0"/>
              </a:rPr>
              <a:t>During </a:t>
            </a:r>
            <a:r>
              <a:rPr lang="en-US" sz="1800" dirty="0">
                <a:cs typeface="Helvetica" panose="020B0604020202020204" pitchFamily="34" charset="0"/>
              </a:rPr>
              <a:t>identified ‘peak season’ such as a festival, school holidays    </a:t>
            </a:r>
          </a:p>
          <a:p>
            <a:pPr marL="36576" indent="0">
              <a:spcBef>
                <a:spcPts val="600"/>
              </a:spcBef>
              <a:spcAft>
                <a:spcPts val="600"/>
              </a:spcAft>
              <a:buNone/>
            </a:pPr>
            <a:endParaRPr lang="en-US" sz="1800" dirty="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spTree>
    <p:extLst>
      <p:ext uri="{BB962C8B-B14F-4D97-AF65-F5344CB8AC3E}">
        <p14:creationId xmlns:p14="http://schemas.microsoft.com/office/powerpoint/2010/main" val="340982119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4114800"/>
          </a:xfrm>
        </p:spPr>
        <p:txBody>
          <a:bodyPr>
            <a:noAutofit/>
          </a:bodyPr>
          <a:lstStyle/>
          <a:p>
            <a:pPr marL="0" indent="0">
              <a:spcBef>
                <a:spcPts val="600"/>
              </a:spcBef>
              <a:spcAft>
                <a:spcPts val="600"/>
              </a:spcAft>
              <a:buNone/>
            </a:pPr>
            <a:r>
              <a:rPr lang="en-AU" sz="2000" b="1" dirty="0">
                <a:latin typeface="Helevetica"/>
              </a:rPr>
              <a:t>Provision of equipment, facilities, goods, services </a:t>
            </a:r>
            <a:endParaRPr lang="en-US" sz="2000" dirty="0">
              <a:latin typeface="Helevetica"/>
            </a:endParaRPr>
          </a:p>
          <a:p>
            <a:pPr marL="0" indent="0">
              <a:spcBef>
                <a:spcPts val="600"/>
              </a:spcBef>
              <a:spcAft>
                <a:spcPts val="600"/>
              </a:spcAft>
              <a:buNone/>
            </a:pPr>
            <a:r>
              <a:rPr lang="en-AU" sz="2000" b="1" dirty="0" smtClean="0">
                <a:latin typeface="Helevetica"/>
              </a:rPr>
              <a:t>Equipment</a:t>
            </a:r>
            <a:r>
              <a:rPr lang="en-US" sz="2000" b="1" dirty="0" smtClean="0">
                <a:latin typeface="Helevetica"/>
              </a:rPr>
              <a:t>:</a:t>
            </a:r>
            <a:r>
              <a:rPr lang="en-US" sz="2000" dirty="0" smtClean="0">
                <a:latin typeface="Helevetica"/>
              </a:rPr>
              <a:t> t</a:t>
            </a:r>
            <a:r>
              <a:rPr lang="en-AU" sz="2000" dirty="0" smtClean="0">
                <a:latin typeface="Helevetica"/>
              </a:rPr>
              <a:t>he </a:t>
            </a:r>
            <a:r>
              <a:rPr lang="en-AU" sz="2000" dirty="0">
                <a:latin typeface="Helevetica"/>
              </a:rPr>
              <a:t>equipment the local communities essential to facilitate the tourism plans implementation needs to be identified and a couple of examples </a:t>
            </a:r>
            <a:r>
              <a:rPr lang="en-AU" sz="2000" dirty="0" smtClean="0">
                <a:latin typeface="Helevetica"/>
              </a:rPr>
              <a:t>are:</a:t>
            </a:r>
            <a:endParaRPr lang="en-US" sz="2000" b="1" dirty="0">
              <a:latin typeface="Helevetica"/>
            </a:endParaRPr>
          </a:p>
          <a:p>
            <a:pPr lvl="0">
              <a:spcBef>
                <a:spcPts val="600"/>
              </a:spcBef>
              <a:spcAft>
                <a:spcPts val="600"/>
              </a:spcAft>
            </a:pPr>
            <a:r>
              <a:rPr lang="en-AU" sz="2000" dirty="0">
                <a:latin typeface="Helevetica"/>
              </a:rPr>
              <a:t>Additional transport </a:t>
            </a:r>
            <a:r>
              <a:rPr lang="en-AU" sz="2000" dirty="0" smtClean="0">
                <a:latin typeface="Helevetica"/>
              </a:rPr>
              <a:t>such as b</a:t>
            </a:r>
            <a:r>
              <a:rPr lang="en-US" sz="2000" dirty="0" smtClean="0">
                <a:latin typeface="Helevetica"/>
              </a:rPr>
              <a:t>uses</a:t>
            </a:r>
            <a:r>
              <a:rPr lang="en-US" sz="2000" dirty="0">
                <a:latin typeface="Helevetica"/>
              </a:rPr>
              <a:t>, trains, boats, taxis </a:t>
            </a:r>
          </a:p>
          <a:p>
            <a:pPr lvl="0">
              <a:spcBef>
                <a:spcPts val="600"/>
              </a:spcBef>
              <a:spcAft>
                <a:spcPts val="600"/>
              </a:spcAft>
            </a:pPr>
            <a:r>
              <a:rPr lang="en-AU" sz="2000" dirty="0">
                <a:latin typeface="Helevetica"/>
              </a:rPr>
              <a:t>Range of technological equipment </a:t>
            </a:r>
            <a:r>
              <a:rPr lang="en-AU" sz="2000" dirty="0" smtClean="0">
                <a:latin typeface="Helevetica"/>
              </a:rPr>
              <a:t>required such as </a:t>
            </a:r>
            <a:endParaRPr lang="en-US" sz="2000" dirty="0">
              <a:latin typeface="Helevetica"/>
            </a:endParaRPr>
          </a:p>
          <a:p>
            <a:pPr lvl="0">
              <a:spcBef>
                <a:spcPts val="600"/>
              </a:spcBef>
              <a:spcAft>
                <a:spcPts val="600"/>
              </a:spcAft>
              <a:buNone/>
            </a:pPr>
            <a:r>
              <a:rPr lang="en-US" sz="2000" dirty="0" smtClean="0">
                <a:latin typeface="Helevetica"/>
              </a:rPr>
              <a:t>	mobile </a:t>
            </a:r>
            <a:r>
              <a:rPr lang="en-US" sz="2000" dirty="0">
                <a:latin typeface="Helevetica"/>
              </a:rPr>
              <a:t>phones, </a:t>
            </a:r>
            <a:r>
              <a:rPr lang="en-US" sz="2000" dirty="0" smtClean="0">
                <a:latin typeface="Helevetica"/>
              </a:rPr>
              <a:t>beepers, </a:t>
            </a:r>
            <a:r>
              <a:rPr lang="en-US" sz="2000" dirty="0">
                <a:latin typeface="Helevetica"/>
              </a:rPr>
              <a:t>GPS, email, internet capacity and capability </a:t>
            </a:r>
          </a:p>
          <a:p>
            <a:pPr marL="36576" indent="0">
              <a:spcBef>
                <a:spcPts val="600"/>
              </a:spcBef>
              <a:spcAft>
                <a:spcPts val="600"/>
              </a:spcAft>
              <a:buNone/>
            </a:pPr>
            <a:endParaRPr lang="en-US" sz="2000" dirty="0">
              <a:latin typeface="Helevetica"/>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spTree>
    <p:extLst>
      <p:ext uri="{BB962C8B-B14F-4D97-AF65-F5344CB8AC3E}">
        <p14:creationId xmlns:p14="http://schemas.microsoft.com/office/powerpoint/2010/main" val="39128876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7247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438400"/>
            <a:ext cx="7467600" cy="4267200"/>
          </a:xfrm>
        </p:spPr>
        <p:txBody>
          <a:bodyPr>
            <a:noAutofit/>
          </a:bodyPr>
          <a:lstStyle/>
          <a:p>
            <a:pPr marL="0" indent="0">
              <a:spcBef>
                <a:spcPts val="600"/>
              </a:spcBef>
              <a:spcAft>
                <a:spcPts val="600"/>
              </a:spcAft>
              <a:buNone/>
            </a:pPr>
            <a:r>
              <a:rPr lang="en-AU" sz="2000" b="1" dirty="0">
                <a:latin typeface="Helevetica"/>
              </a:rPr>
              <a:t>Provision of equipment, facilities, goods, services </a:t>
            </a:r>
            <a:endParaRPr lang="en-AU" sz="2000" b="1" dirty="0" smtClean="0">
              <a:latin typeface="Helevetica"/>
            </a:endParaRPr>
          </a:p>
          <a:p>
            <a:pPr marL="361950" indent="-361950">
              <a:spcBef>
                <a:spcPts val="600"/>
              </a:spcBef>
              <a:spcAft>
                <a:spcPts val="600"/>
              </a:spcAft>
            </a:pPr>
            <a:r>
              <a:rPr lang="en-AU" sz="2000" dirty="0" smtClean="0">
                <a:latin typeface="Helevetica"/>
              </a:rPr>
              <a:t>Facilities</a:t>
            </a:r>
            <a:r>
              <a:rPr lang="en-AU" sz="2000" dirty="0">
                <a:latin typeface="Helevetica"/>
              </a:rPr>
              <a:t>, goods and </a:t>
            </a:r>
            <a:r>
              <a:rPr lang="en-AU" sz="2000" dirty="0" smtClean="0">
                <a:latin typeface="Helevetica"/>
              </a:rPr>
              <a:t>services:</a:t>
            </a:r>
            <a:endParaRPr lang="en-US" sz="2000" dirty="0">
              <a:latin typeface="Helevetica"/>
            </a:endParaRPr>
          </a:p>
          <a:p>
            <a:pPr marL="714375" indent="-352425">
              <a:spcBef>
                <a:spcPts val="600"/>
              </a:spcBef>
              <a:spcAft>
                <a:spcPts val="600"/>
              </a:spcAft>
              <a:buSzPct val="100000"/>
              <a:buFont typeface="Arial" panose="020B0604020202020204" pitchFamily="34" charset="0"/>
              <a:buChar char="•"/>
            </a:pPr>
            <a:r>
              <a:rPr lang="en-AU" sz="2000" dirty="0" smtClean="0">
                <a:latin typeface="Helevetica"/>
              </a:rPr>
              <a:t>Access </a:t>
            </a:r>
            <a:r>
              <a:rPr lang="en-AU" sz="2000" dirty="0">
                <a:latin typeface="Helevetica"/>
              </a:rPr>
              <a:t>of all essential facilities, goods and services are also relevant to the tourism plans implementation in order to meet the tourists, visitors needs and expectations and will vary according to the opportunities and tourism development </a:t>
            </a:r>
            <a:r>
              <a:rPr lang="en-AU" sz="2000" dirty="0" smtClean="0">
                <a:latin typeface="Helevetica"/>
              </a:rPr>
              <a:t>chosen. The </a:t>
            </a:r>
            <a:r>
              <a:rPr lang="en-AU" sz="2000" dirty="0">
                <a:latin typeface="Helevetica"/>
              </a:rPr>
              <a:t>facilities, good and services expected by day visitors attending a local cultural festival are vastly different from the facilities, goods and services expected by adventure tourism </a:t>
            </a:r>
            <a:r>
              <a:rPr lang="en-AU" sz="2000" dirty="0" smtClean="0">
                <a:latin typeface="Helevetica"/>
              </a:rPr>
              <a:t>visitors</a:t>
            </a:r>
            <a:endParaRPr lang="en-US" sz="2000" dirty="0">
              <a:latin typeface="Helevetica"/>
            </a:endParaRPr>
          </a:p>
          <a:p>
            <a:pPr>
              <a:spcBef>
                <a:spcPts val="600"/>
              </a:spcBef>
              <a:spcAft>
                <a:spcPts val="600"/>
              </a:spcAft>
              <a:buNone/>
            </a:pPr>
            <a:r>
              <a:rPr lang="en-AU" sz="2000" b="1" dirty="0" smtClean="0">
                <a:latin typeface="Helevetica"/>
              </a:rPr>
              <a:t>	</a:t>
            </a:r>
            <a:endParaRPr lang="en-US" sz="2000" dirty="0">
              <a:latin typeface="Hele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spTree>
    <p:extLst>
      <p:ext uri="{BB962C8B-B14F-4D97-AF65-F5344CB8AC3E}">
        <p14:creationId xmlns:p14="http://schemas.microsoft.com/office/powerpoint/2010/main" val="31304229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E3 Prepare formal draft plans  </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3.6 Identify resources that need to be supplied to the local communities to facilitate implementation of plans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467600" cy="4419600"/>
          </a:xfrm>
        </p:spPr>
        <p:txBody>
          <a:bodyPr>
            <a:noAutofit/>
          </a:bodyPr>
          <a:lstStyle/>
          <a:p>
            <a:pPr marL="36576" indent="0">
              <a:spcBef>
                <a:spcPts val="600"/>
              </a:spcBef>
              <a:spcAft>
                <a:spcPts val="600"/>
              </a:spcAft>
              <a:buNone/>
            </a:pPr>
            <a:r>
              <a:rPr lang="en-AU" sz="2000" b="1" dirty="0">
                <a:latin typeface="Helevetica"/>
              </a:rPr>
              <a:t>Provision of equipment, facilities, goods, services </a:t>
            </a:r>
            <a:endParaRPr lang="en-AU" sz="2000" b="1" dirty="0" smtClean="0">
              <a:latin typeface="Helevetica"/>
            </a:endParaRPr>
          </a:p>
          <a:p>
            <a:pPr marL="361950" indent="-361950">
              <a:spcBef>
                <a:spcPts val="600"/>
              </a:spcBef>
              <a:spcAft>
                <a:spcPts val="600"/>
              </a:spcAft>
            </a:pPr>
            <a:r>
              <a:rPr lang="en-AU" sz="2000" dirty="0">
                <a:latin typeface="Helevetica"/>
              </a:rPr>
              <a:t>Facilities, goods and </a:t>
            </a:r>
            <a:r>
              <a:rPr lang="en-AU" sz="2000" dirty="0" smtClean="0">
                <a:latin typeface="Helevetica"/>
              </a:rPr>
              <a:t>services:</a:t>
            </a:r>
          </a:p>
          <a:p>
            <a:pPr marL="714375" indent="-352425">
              <a:spcBef>
                <a:spcPts val="600"/>
              </a:spcBef>
              <a:spcAft>
                <a:spcPts val="600"/>
              </a:spcAft>
              <a:buSzPct val="100000"/>
              <a:buFont typeface="Arial" panose="020B0604020202020204" pitchFamily="34" charset="0"/>
              <a:buChar char="•"/>
            </a:pPr>
            <a:r>
              <a:rPr lang="en-AU" sz="2000" b="1" dirty="0" smtClean="0">
                <a:latin typeface="Helevetica"/>
              </a:rPr>
              <a:t>Common facilities</a:t>
            </a:r>
            <a:r>
              <a:rPr lang="en-AU" sz="2000" dirty="0" smtClean="0">
                <a:latin typeface="Helevetica"/>
              </a:rPr>
              <a:t>, goods and services might be:</a:t>
            </a:r>
            <a:endParaRPr lang="en-US" sz="2000" dirty="0" smtClean="0">
              <a:latin typeface="Helevetica"/>
            </a:endParaRPr>
          </a:p>
          <a:p>
            <a:pPr marL="1076325" lvl="0" indent="-361950">
              <a:spcBef>
                <a:spcPts val="600"/>
              </a:spcBef>
              <a:spcAft>
                <a:spcPts val="600"/>
              </a:spcAft>
              <a:buFont typeface="Wingdings" panose="05000000000000000000" pitchFamily="2" charset="2"/>
              <a:buChar char="§"/>
            </a:pPr>
            <a:r>
              <a:rPr lang="en-AU" sz="2000" dirty="0" smtClean="0">
                <a:latin typeface="Helevetica"/>
              </a:rPr>
              <a:t>Infrastructure from roads to toilets</a:t>
            </a:r>
            <a:endParaRPr lang="en-US" sz="2000" dirty="0" smtClean="0">
              <a:latin typeface="Helevetica"/>
            </a:endParaRPr>
          </a:p>
          <a:p>
            <a:pPr marL="1076325" lvl="0" indent="-361950">
              <a:spcBef>
                <a:spcPts val="600"/>
              </a:spcBef>
              <a:spcAft>
                <a:spcPts val="600"/>
              </a:spcAft>
              <a:buFont typeface="Wingdings" panose="05000000000000000000" pitchFamily="2" charset="2"/>
              <a:buChar char="§"/>
            </a:pPr>
            <a:r>
              <a:rPr lang="en-AU" sz="2000" dirty="0" smtClean="0">
                <a:latin typeface="Helevetica"/>
              </a:rPr>
              <a:t>Transport</a:t>
            </a:r>
            <a:endParaRPr lang="en-US" sz="2000" dirty="0" smtClean="0">
              <a:latin typeface="Helevetica"/>
            </a:endParaRPr>
          </a:p>
          <a:p>
            <a:pPr marL="1076325" lvl="0" indent="-361950">
              <a:spcBef>
                <a:spcPts val="600"/>
              </a:spcBef>
              <a:spcAft>
                <a:spcPts val="600"/>
              </a:spcAft>
              <a:buFont typeface="Wingdings" panose="05000000000000000000" pitchFamily="2" charset="2"/>
              <a:buChar char="§"/>
            </a:pPr>
            <a:r>
              <a:rPr lang="en-AU" sz="2000" dirty="0" smtClean="0">
                <a:latin typeface="Helevetica"/>
              </a:rPr>
              <a:t>Local health care, medical and security services</a:t>
            </a:r>
            <a:endParaRPr lang="en-US" sz="2000" dirty="0" smtClean="0">
              <a:latin typeface="Helevetica"/>
            </a:endParaRPr>
          </a:p>
          <a:p>
            <a:pPr marL="714375" indent="-352425">
              <a:spcBef>
                <a:spcPts val="600"/>
              </a:spcBef>
              <a:spcAft>
                <a:spcPts val="600"/>
              </a:spcAft>
              <a:buSzPct val="100000"/>
              <a:buFont typeface="Arial" panose="020B0604020202020204" pitchFamily="34" charset="0"/>
              <a:buChar char="•"/>
            </a:pPr>
            <a:r>
              <a:rPr lang="en-AU" sz="2000" b="1" dirty="0" smtClean="0">
                <a:latin typeface="Helevetica"/>
              </a:rPr>
              <a:t>Specific facilities</a:t>
            </a:r>
            <a:r>
              <a:rPr lang="en-AU" sz="2000" dirty="0">
                <a:latin typeface="Helevetica"/>
              </a:rPr>
              <a:t>, goods and services might be</a:t>
            </a:r>
            <a:r>
              <a:rPr lang="en-AU" sz="2000" dirty="0" smtClean="0">
                <a:latin typeface="Helevetica"/>
              </a:rPr>
              <a:t>:</a:t>
            </a:r>
          </a:p>
          <a:p>
            <a:pPr marL="1076325" lvl="0" indent="-361950">
              <a:spcBef>
                <a:spcPts val="600"/>
              </a:spcBef>
              <a:spcAft>
                <a:spcPts val="600"/>
              </a:spcAft>
              <a:buFont typeface="Wingdings" panose="05000000000000000000" pitchFamily="2" charset="2"/>
              <a:buChar char="§"/>
            </a:pPr>
            <a:r>
              <a:rPr lang="en-AU" sz="2000" dirty="0" smtClean="0">
                <a:latin typeface="Helevetica"/>
              </a:rPr>
              <a:t>Camping infrastructure in regards to national parks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spTree>
    <p:extLst>
      <p:ext uri="{BB962C8B-B14F-4D97-AF65-F5344CB8AC3E}">
        <p14:creationId xmlns:p14="http://schemas.microsoft.com/office/powerpoint/2010/main" val="19595188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94240" cy="2334344"/>
          </a:xfrm>
        </p:spPr>
        <p:txBody>
          <a:bodyPr>
            <a:noAutofit/>
          </a:bodyPr>
          <a:lstStyle/>
          <a:p>
            <a:r>
              <a:rPr lang="en-US" sz="2400" b="1" dirty="0" smtClean="0">
                <a:solidFill>
                  <a:srgbClr val="FF6600"/>
                </a:solidFill>
                <a:latin typeface="Helvetica" pitchFamily="34" charset="0"/>
              </a:rPr>
              <a:t>E3 Prepare formal draft plans  </a:t>
            </a:r>
            <a:br>
              <a:rPr lang="en-US" sz="2400" b="1" dirty="0" smtClean="0">
                <a:solidFill>
                  <a:srgbClr val="FF6600"/>
                </a:solidFill>
                <a:latin typeface="Helvetica" pitchFamily="34" charset="0"/>
              </a:rPr>
            </a:br>
            <a:r>
              <a:rPr lang="en-US" sz="2400" b="1" dirty="0" smtClean="0">
                <a:solidFill>
                  <a:srgbClr val="FF6600"/>
                </a:solidFill>
                <a:latin typeface="Helvetica" pitchFamily="34" charset="0"/>
              </a:rPr>
              <a:t>3.7 Incorporate the environmental, social, cultural and economic interests of the local communities into the </a:t>
            </a:r>
            <a:r>
              <a:rPr lang="en-US" sz="2400" b="1" dirty="0">
                <a:solidFill>
                  <a:srgbClr val="FF6600"/>
                </a:solidFill>
                <a:latin typeface="Helvetica" pitchFamily="34" charset="0"/>
              </a:rPr>
              <a:t>plans</a:t>
            </a:r>
            <a:br>
              <a:rPr lang="en-US" sz="2400" b="1" dirty="0">
                <a:solidFill>
                  <a:srgbClr val="FF6600"/>
                </a:solidFill>
                <a:latin typeface="Helvetica" pitchFamily="34" charset="0"/>
              </a:rPr>
            </a:br>
            <a:r>
              <a:rPr lang="en-US" sz="2400" b="1" dirty="0">
                <a:solidFill>
                  <a:srgbClr val="FF6600"/>
                </a:solidFill>
                <a:latin typeface="Helvetica" pitchFamily="34" charset="0"/>
              </a:rPr>
              <a:t>3.8 Ensure the plans are culturally and environmentally sensitive</a:t>
            </a:r>
            <a:r>
              <a:rPr lang="en-US" sz="2400" dirty="0">
                <a:latin typeface="Helvetica" pitchFamily="34" charset="0"/>
              </a:rPr>
              <a:t/>
            </a:r>
            <a:br>
              <a:rPr lang="en-US" sz="2400" dirty="0">
                <a:latin typeface="Helvetica" pitchFamily="34" charset="0"/>
              </a:rPr>
            </a:b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2590800"/>
            <a:ext cx="7694240" cy="3810000"/>
          </a:xfrm>
        </p:spPr>
        <p:txBody>
          <a:bodyPr>
            <a:noAutofit/>
          </a:bodyPr>
          <a:lstStyle/>
          <a:p>
            <a:pPr marL="36576" indent="0">
              <a:spcBef>
                <a:spcPts val="600"/>
              </a:spcBef>
              <a:spcAft>
                <a:spcPts val="600"/>
              </a:spcAft>
              <a:buNone/>
            </a:pPr>
            <a:r>
              <a:rPr lang="en-AU" sz="2000" b="1" dirty="0">
                <a:latin typeface="Helvetica" panose="020B0604020202020204" pitchFamily="34" charset="0"/>
                <a:cs typeface="Helvetica" panose="020B0604020202020204" pitchFamily="34" charset="0"/>
              </a:rPr>
              <a:t>Environmental factors and sensitivity</a:t>
            </a:r>
            <a:endParaRPr lang="en-US" sz="2000" dirty="0">
              <a:latin typeface="Helvetica" panose="020B0604020202020204" pitchFamily="34" charset="0"/>
              <a:cs typeface="Helvetica" panose="020B0604020202020204" pitchFamily="34" charset="0"/>
            </a:endParaRPr>
          </a:p>
          <a:p>
            <a:pPr marL="36576" indent="0">
              <a:spcBef>
                <a:spcPts val="600"/>
              </a:spcBef>
              <a:spcAft>
                <a:spcPts val="600"/>
              </a:spcAft>
              <a:buNone/>
            </a:pPr>
            <a:r>
              <a:rPr lang="en-US" sz="2000" dirty="0">
                <a:latin typeface="Helvetica" panose="020B0604020202020204" pitchFamily="34" charset="0"/>
                <a:cs typeface="Helvetica" panose="020B0604020202020204" pitchFamily="34" charset="0"/>
              </a:rPr>
              <a:t>As the environment changes and concern about these changes grows, there is an increasing need to be aware of the impact that businesses have on the environment.</a:t>
            </a:r>
          </a:p>
          <a:p>
            <a:pPr marL="36576" indent="0">
              <a:spcBef>
                <a:spcPts val="600"/>
              </a:spcBef>
              <a:spcAft>
                <a:spcPts val="600"/>
              </a:spcAft>
              <a:buNone/>
            </a:pPr>
            <a:r>
              <a:rPr lang="en-AU" sz="2000" dirty="0">
                <a:latin typeface="Helvetica" panose="020B0604020202020204" pitchFamily="34" charset="0"/>
                <a:cs typeface="Helvetica" panose="020B0604020202020204" pitchFamily="34" charset="0"/>
              </a:rPr>
              <a:t>The plans should address how to </a:t>
            </a:r>
            <a:r>
              <a:rPr lang="en-AU" sz="2000" dirty="0" smtClean="0">
                <a:latin typeface="Helvetica" panose="020B0604020202020204" pitchFamily="34" charset="0"/>
                <a:cs typeface="Helvetica" panose="020B0604020202020204" pitchFamily="34" charset="0"/>
              </a:rPr>
              <a:t>ensure:  </a:t>
            </a:r>
            <a:endParaRPr lang="en-US" sz="2000" dirty="0">
              <a:latin typeface="Helvetica" panose="020B0604020202020204" pitchFamily="34" charset="0"/>
              <a:cs typeface="Helvetica" panose="020B0604020202020204" pitchFamily="34" charset="0"/>
            </a:endParaRPr>
          </a:p>
          <a:p>
            <a:pPr lvl="0">
              <a:spcBef>
                <a:spcPts val="600"/>
              </a:spcBef>
              <a:spcAft>
                <a:spcPts val="600"/>
              </a:spcAft>
            </a:pPr>
            <a:r>
              <a:rPr lang="en-US" sz="2000" dirty="0">
                <a:latin typeface="Helvetica" panose="020B0604020202020204" pitchFamily="34" charset="0"/>
                <a:cs typeface="Helvetica" panose="020B0604020202020204" pitchFamily="34" charset="0"/>
              </a:rPr>
              <a:t>Minimum environmental impact of tourism related development by using environmentally sensitive and sustainable operation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0440" cy="2181944"/>
          </a:xfrm>
        </p:spPr>
        <p:txBody>
          <a:bodyPr>
            <a:noAutofit/>
          </a:bodyPr>
          <a:lstStyle/>
          <a:p>
            <a:r>
              <a:rPr lang="en-US" sz="2400" b="1" dirty="0" smtClean="0">
                <a:solidFill>
                  <a:srgbClr val="FF6600"/>
                </a:solidFill>
                <a:latin typeface="Helvetica" pitchFamily="34" charset="0"/>
              </a:rPr>
              <a:t>E3 Prepare formal draft plans  </a:t>
            </a:r>
            <a:br>
              <a:rPr lang="en-US" sz="2400" b="1" dirty="0" smtClean="0">
                <a:solidFill>
                  <a:srgbClr val="FF6600"/>
                </a:solidFill>
                <a:latin typeface="Helvetica" pitchFamily="34" charset="0"/>
              </a:rPr>
            </a:br>
            <a:r>
              <a:rPr lang="en-US" sz="2400" b="1" dirty="0" smtClean="0">
                <a:solidFill>
                  <a:srgbClr val="FF6600"/>
                </a:solidFill>
                <a:latin typeface="Helvetica" pitchFamily="34" charset="0"/>
              </a:rPr>
              <a:t>3.7 Incorporate the environmental, social, cultural and economic interests of the local communities into the </a:t>
            </a:r>
            <a:r>
              <a:rPr lang="en-US" sz="2400" b="1" dirty="0">
                <a:solidFill>
                  <a:srgbClr val="FF6600"/>
                </a:solidFill>
                <a:latin typeface="Helvetica" pitchFamily="34" charset="0"/>
              </a:rPr>
              <a:t>plans</a:t>
            </a:r>
            <a:br>
              <a:rPr lang="en-US" sz="2400" b="1" dirty="0">
                <a:solidFill>
                  <a:srgbClr val="FF6600"/>
                </a:solidFill>
                <a:latin typeface="Helvetica" pitchFamily="34" charset="0"/>
              </a:rPr>
            </a:br>
            <a:r>
              <a:rPr lang="en-US" sz="2400" b="1" dirty="0">
                <a:solidFill>
                  <a:srgbClr val="FF6600"/>
                </a:solidFill>
                <a:latin typeface="Helvetica" pitchFamily="34" charset="0"/>
              </a:rPr>
              <a:t>3.8 Ensure the plans are culturally and environmentally sensitive</a:t>
            </a:r>
            <a:r>
              <a:rPr lang="en-US" sz="2400" dirty="0">
                <a:latin typeface="Helvetica" pitchFamily="34" charset="0"/>
              </a:rPr>
              <a:t/>
            </a:r>
            <a:br>
              <a:rPr lang="en-US" sz="2400" dirty="0">
                <a:latin typeface="Helvetica" pitchFamily="34" charset="0"/>
              </a:rPr>
            </a:b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2590800"/>
            <a:ext cx="7618040" cy="4038600"/>
          </a:xfrm>
        </p:spPr>
        <p:txBody>
          <a:bodyPr>
            <a:noAutofit/>
          </a:bodyPr>
          <a:lstStyle/>
          <a:p>
            <a:pPr marL="36576" indent="0">
              <a:spcBef>
                <a:spcPts val="600"/>
              </a:spcBef>
              <a:buNone/>
            </a:pPr>
            <a:r>
              <a:rPr lang="en-AU" sz="1800" b="1" dirty="0">
                <a:latin typeface="Helvetica" panose="020B0604020202020204" pitchFamily="34" charset="0"/>
                <a:cs typeface="Helvetica" panose="020B0604020202020204" pitchFamily="34" charset="0"/>
              </a:rPr>
              <a:t>Environmental factors and sensitivity</a:t>
            </a:r>
            <a:endParaRPr lang="en-US" sz="1800" dirty="0">
              <a:latin typeface="Helvetica" panose="020B0604020202020204" pitchFamily="34" charset="0"/>
              <a:cs typeface="Helvetica" panose="020B0604020202020204" pitchFamily="34" charset="0"/>
            </a:endParaRPr>
          </a:p>
          <a:p>
            <a:pPr marL="36576" indent="0">
              <a:spcBef>
                <a:spcPts val="600"/>
              </a:spcBef>
              <a:buNone/>
            </a:pPr>
            <a:r>
              <a:rPr lang="en-US" sz="1800" dirty="0">
                <a:latin typeface="Helvetica" panose="020B0604020202020204" pitchFamily="34" charset="0"/>
                <a:cs typeface="Helvetica" panose="020B0604020202020204" pitchFamily="34" charset="0"/>
              </a:rPr>
              <a:t>As the environment changes and concern about these changes grows, there is an increasing need to be aware of the impact that businesses have on the environment.</a:t>
            </a:r>
          </a:p>
          <a:p>
            <a:pPr marL="36576" indent="0">
              <a:spcBef>
                <a:spcPts val="600"/>
              </a:spcBef>
              <a:buNone/>
            </a:pPr>
            <a:r>
              <a:rPr lang="en-AU" sz="1800" dirty="0">
                <a:latin typeface="Helvetica" panose="020B0604020202020204" pitchFamily="34" charset="0"/>
                <a:cs typeface="Helvetica" panose="020B0604020202020204" pitchFamily="34" charset="0"/>
              </a:rPr>
              <a:t>The plans should address how to </a:t>
            </a:r>
            <a:r>
              <a:rPr lang="en-AU" sz="1800" dirty="0" smtClean="0">
                <a:latin typeface="Helvetica" panose="020B0604020202020204" pitchFamily="34" charset="0"/>
                <a:cs typeface="Helvetica" panose="020B0604020202020204" pitchFamily="34" charset="0"/>
              </a:rPr>
              <a:t>ensure:  </a:t>
            </a:r>
            <a:endParaRPr lang="en-US" sz="1800" dirty="0">
              <a:latin typeface="Helvetica" panose="020B0604020202020204" pitchFamily="34" charset="0"/>
              <a:cs typeface="Helvetica" panose="020B0604020202020204" pitchFamily="34" charset="0"/>
            </a:endParaRPr>
          </a:p>
          <a:p>
            <a:pPr marL="0" lvl="0" indent="0">
              <a:spcBef>
                <a:spcPts val="600"/>
              </a:spcBef>
              <a:buNone/>
            </a:pPr>
            <a:r>
              <a:rPr lang="en-AU" sz="1800" dirty="0" smtClean="0">
                <a:latin typeface="Helvetica" panose="020B0604020202020204" pitchFamily="34" charset="0"/>
                <a:cs typeface="Helvetica" panose="020B0604020202020204" pitchFamily="34" charset="0"/>
              </a:rPr>
              <a:t>Resources </a:t>
            </a:r>
            <a:r>
              <a:rPr lang="en-AU" sz="1800" dirty="0">
                <a:latin typeface="Helvetica" panose="020B0604020202020204" pitchFamily="34" charset="0"/>
                <a:cs typeface="Helvetica" panose="020B0604020202020204" pitchFamily="34" charset="0"/>
              </a:rPr>
              <a:t>are put into the protection of the environment </a:t>
            </a:r>
            <a:r>
              <a:rPr lang="en-AU" sz="1800" dirty="0" smtClean="0">
                <a:latin typeface="Helvetica" panose="020B0604020202020204" pitchFamily="34" charset="0"/>
                <a:cs typeface="Helvetica" panose="020B0604020202020204" pitchFamily="34" charset="0"/>
              </a:rPr>
              <a:t>and action </a:t>
            </a:r>
            <a:r>
              <a:rPr lang="en-AU" sz="1800" dirty="0">
                <a:latin typeface="Helvetica" panose="020B0604020202020204" pitchFamily="34" charset="0"/>
                <a:cs typeface="Helvetica" panose="020B0604020202020204" pitchFamily="34" charset="0"/>
              </a:rPr>
              <a:t>is taken in relation </a:t>
            </a:r>
            <a:r>
              <a:rPr lang="en-AU" sz="1800" dirty="0" smtClean="0">
                <a:latin typeface="Helvetica" panose="020B0604020202020204" pitchFamily="34" charset="0"/>
                <a:cs typeface="Helvetica" panose="020B0604020202020204" pitchFamily="34" charset="0"/>
              </a:rPr>
              <a:t>to:  </a:t>
            </a:r>
            <a:endParaRPr lang="en-US" sz="1800" dirty="0">
              <a:latin typeface="Helvetica" panose="020B0604020202020204" pitchFamily="34" charset="0"/>
              <a:cs typeface="Helvetica" panose="020B0604020202020204" pitchFamily="34" charset="0"/>
            </a:endParaRPr>
          </a:p>
          <a:p>
            <a:pPr lvl="0">
              <a:spcBef>
                <a:spcPts val="600"/>
              </a:spcBef>
            </a:pPr>
            <a:r>
              <a:rPr lang="en-US" sz="1800" dirty="0">
                <a:latin typeface="Helvetica" panose="020B0604020202020204" pitchFamily="34" charset="0"/>
                <a:cs typeface="Helvetica" panose="020B0604020202020204" pitchFamily="34" charset="0"/>
              </a:rPr>
              <a:t>Sustainability</a:t>
            </a:r>
          </a:p>
          <a:p>
            <a:pPr lvl="0">
              <a:spcBef>
                <a:spcPts val="600"/>
              </a:spcBef>
            </a:pPr>
            <a:r>
              <a:rPr lang="en-US" sz="1800" dirty="0">
                <a:latin typeface="Helvetica" panose="020B0604020202020204" pitchFamily="34" charset="0"/>
                <a:cs typeface="Helvetica" panose="020B0604020202020204" pitchFamily="34" charset="0"/>
              </a:rPr>
              <a:t>Conservation</a:t>
            </a:r>
          </a:p>
          <a:p>
            <a:pPr lvl="0">
              <a:spcBef>
                <a:spcPts val="600"/>
              </a:spcBef>
            </a:pPr>
            <a:r>
              <a:rPr lang="en-US" sz="1800" dirty="0">
                <a:latin typeface="Helvetica" panose="020B0604020202020204" pitchFamily="34" charset="0"/>
                <a:cs typeface="Helvetica" panose="020B0604020202020204" pitchFamily="34" charset="0"/>
              </a:rPr>
              <a:t>Animals and plants are protected, particularly endangered ones</a:t>
            </a:r>
          </a:p>
          <a:p>
            <a:pPr lvl="0">
              <a:spcBef>
                <a:spcPts val="600"/>
              </a:spcBef>
            </a:pPr>
            <a:r>
              <a:rPr lang="en-US" sz="1800" dirty="0">
                <a:latin typeface="Helvetica" panose="020B0604020202020204" pitchFamily="34" charset="0"/>
                <a:cs typeface="Helvetica" panose="020B0604020202020204" pitchFamily="34" charset="0"/>
              </a:rPr>
              <a:t>Regeneration, if applicable</a:t>
            </a:r>
          </a:p>
          <a:p>
            <a:pPr lvl="0">
              <a:spcBef>
                <a:spcPts val="600"/>
              </a:spcBef>
            </a:pPr>
            <a:r>
              <a:rPr lang="en-US" sz="1800" dirty="0">
                <a:latin typeface="Helvetica" panose="020B0604020202020204" pitchFamily="34" charset="0"/>
                <a:cs typeface="Helvetica" panose="020B0604020202020204" pitchFamily="34" charset="0"/>
              </a:rPr>
              <a:t>Waste management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spTree>
    <p:extLst>
      <p:ext uri="{BB962C8B-B14F-4D97-AF65-F5344CB8AC3E}">
        <p14:creationId xmlns:p14="http://schemas.microsoft.com/office/powerpoint/2010/main" val="115675983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2334344"/>
          </a:xfrm>
        </p:spPr>
        <p:txBody>
          <a:bodyPr>
            <a:noAutofit/>
          </a:bodyPr>
          <a:lstStyle/>
          <a:p>
            <a:r>
              <a:rPr lang="en-US" sz="2400" b="1" dirty="0" smtClean="0">
                <a:solidFill>
                  <a:srgbClr val="FF6600"/>
                </a:solidFill>
                <a:latin typeface="Helvetica" pitchFamily="34" charset="0"/>
              </a:rPr>
              <a:t>E3 Prepare formal draft plans  </a:t>
            </a:r>
            <a:br>
              <a:rPr lang="en-US" sz="2400" b="1" dirty="0" smtClean="0">
                <a:solidFill>
                  <a:srgbClr val="FF6600"/>
                </a:solidFill>
                <a:latin typeface="Helvetica" pitchFamily="34" charset="0"/>
              </a:rPr>
            </a:br>
            <a:r>
              <a:rPr lang="en-US" sz="2400" b="1" dirty="0" smtClean="0">
                <a:solidFill>
                  <a:srgbClr val="FF6600"/>
                </a:solidFill>
                <a:latin typeface="Helvetica" pitchFamily="34" charset="0"/>
              </a:rPr>
              <a:t>3.7 Incorporate the environmental, social, cultural and economic interests of the local communities into the </a:t>
            </a:r>
            <a:r>
              <a:rPr lang="en-US" sz="2400" b="1" dirty="0">
                <a:solidFill>
                  <a:srgbClr val="FF6600"/>
                </a:solidFill>
                <a:latin typeface="Helvetica" pitchFamily="34" charset="0"/>
              </a:rPr>
              <a:t>plans</a:t>
            </a:r>
            <a:br>
              <a:rPr lang="en-US" sz="2400" b="1" dirty="0">
                <a:solidFill>
                  <a:srgbClr val="FF6600"/>
                </a:solidFill>
                <a:latin typeface="Helvetica" pitchFamily="34" charset="0"/>
              </a:rPr>
            </a:br>
            <a:r>
              <a:rPr lang="en-US" sz="2400" b="1" dirty="0">
                <a:solidFill>
                  <a:srgbClr val="FF6600"/>
                </a:solidFill>
                <a:latin typeface="Helvetica" pitchFamily="34" charset="0"/>
              </a:rPr>
              <a:t>3.8 Ensure the plans are culturally and environmentally sensitive</a:t>
            </a:r>
            <a:r>
              <a:rPr lang="en-US" sz="2400" dirty="0">
                <a:latin typeface="Helvetica" pitchFamily="34" charset="0"/>
              </a:rPr>
              <a:t/>
            </a:r>
            <a:br>
              <a:rPr lang="en-US" sz="2400" dirty="0">
                <a:latin typeface="Helvetica" pitchFamily="34" charset="0"/>
              </a:rPr>
            </a:b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2743200"/>
            <a:ext cx="7467600" cy="3339555"/>
          </a:xfrm>
        </p:spPr>
        <p:txBody>
          <a:bodyPr>
            <a:noAutofit/>
          </a:bodyPr>
          <a:lstStyle/>
          <a:p>
            <a:pPr marL="36576" indent="0">
              <a:spcBef>
                <a:spcPts val="600"/>
              </a:spcBef>
              <a:spcAft>
                <a:spcPts val="600"/>
              </a:spcAft>
              <a:buNone/>
            </a:pPr>
            <a:r>
              <a:rPr lang="en-AU" sz="2000" b="1" dirty="0">
                <a:latin typeface="Helvetica" panose="020B0604020202020204" pitchFamily="34" charset="0"/>
                <a:cs typeface="Helvetica" panose="020B0604020202020204" pitchFamily="34" charset="0"/>
              </a:rPr>
              <a:t>Social and economical factors</a:t>
            </a:r>
            <a:endParaRPr lang="en-US" sz="2000" dirty="0">
              <a:latin typeface="Helvetica" panose="020B0604020202020204" pitchFamily="34" charset="0"/>
              <a:cs typeface="Helvetica" panose="020B0604020202020204" pitchFamily="34" charset="0"/>
            </a:endParaRPr>
          </a:p>
          <a:p>
            <a:pPr marL="36576" indent="0">
              <a:spcBef>
                <a:spcPts val="600"/>
              </a:spcBef>
              <a:spcAft>
                <a:spcPts val="600"/>
              </a:spcAft>
              <a:buNone/>
            </a:pPr>
            <a:r>
              <a:rPr lang="en-AU" sz="2000" dirty="0">
                <a:latin typeface="Helvetica" panose="020B0604020202020204" pitchFamily="34" charset="0"/>
                <a:cs typeface="Helvetica" panose="020B0604020202020204" pitchFamily="34" charset="0"/>
              </a:rPr>
              <a:t>The plans should address how to ensure, as previously </a:t>
            </a:r>
            <a:r>
              <a:rPr lang="en-AU" sz="2000" dirty="0" smtClean="0">
                <a:latin typeface="Helvetica" panose="020B0604020202020204" pitchFamily="34" charset="0"/>
                <a:cs typeface="Helvetica" panose="020B0604020202020204" pitchFamily="34" charset="0"/>
              </a:rPr>
              <a:t>mentioned: </a:t>
            </a:r>
            <a:endParaRPr lang="en-US" sz="2000" dirty="0">
              <a:latin typeface="Helvetica" panose="020B0604020202020204" pitchFamily="34" charset="0"/>
              <a:cs typeface="Helvetica" panose="020B0604020202020204" pitchFamily="34" charset="0"/>
            </a:endParaRPr>
          </a:p>
          <a:p>
            <a:pPr lvl="0">
              <a:spcBef>
                <a:spcPts val="600"/>
              </a:spcBef>
              <a:spcAft>
                <a:spcPts val="600"/>
              </a:spcAft>
            </a:pPr>
            <a:r>
              <a:rPr lang="en-AU" sz="2000" dirty="0">
                <a:latin typeface="Helvetica" panose="020B0604020202020204" pitchFamily="34" charset="0"/>
                <a:cs typeface="Helvetica" panose="020B0604020202020204" pitchFamily="34" charset="0"/>
              </a:rPr>
              <a:t>Economic diversification and general economic benefits to the local community</a:t>
            </a:r>
            <a:endParaRPr lang="en-US" sz="2000" dirty="0">
              <a:latin typeface="Helvetica" panose="020B0604020202020204" pitchFamily="34" charset="0"/>
              <a:cs typeface="Helvetica" panose="020B0604020202020204" pitchFamily="34" charset="0"/>
            </a:endParaRPr>
          </a:p>
          <a:p>
            <a:pPr lvl="0">
              <a:spcBef>
                <a:spcPts val="600"/>
              </a:spcBef>
              <a:spcAft>
                <a:spcPts val="600"/>
              </a:spcAft>
            </a:pPr>
            <a:r>
              <a:rPr lang="en-US" sz="2000" dirty="0">
                <a:latin typeface="Helvetica" panose="020B0604020202020204" pitchFamily="34" charset="0"/>
                <a:cs typeface="Helvetica" panose="020B0604020202020204" pitchFamily="34" charset="0"/>
              </a:rPr>
              <a:t>Involve local businesses in the overall economic, entrepreneurial and promotional aspects of the potential opportunities </a:t>
            </a:r>
            <a:r>
              <a:rPr lang="en-US" sz="2000" dirty="0" smtClean="0">
                <a:latin typeface="Helvetica" panose="020B0604020202020204" pitchFamily="34" charset="0"/>
                <a:cs typeface="Helvetica" panose="020B0604020202020204" pitchFamily="34" charset="0"/>
              </a:rPr>
              <a:t>initiative/s </a:t>
            </a:r>
            <a:r>
              <a:rPr lang="en-US" sz="2000" dirty="0">
                <a:latin typeface="Helvetica" panose="020B0604020202020204" pitchFamily="34" charset="0"/>
                <a:cs typeface="Helvetica" panose="020B0604020202020204" pitchFamily="34" charset="0"/>
              </a:rPr>
              <a:t>so they can benefit from what occurs</a:t>
            </a:r>
          </a:p>
          <a:p>
            <a:pPr marL="36576" indent="0">
              <a:spcBef>
                <a:spcPts val="600"/>
              </a:spcBef>
              <a:spcAft>
                <a:spcPts val="600"/>
              </a:spcAft>
              <a:buNone/>
            </a:pPr>
            <a:r>
              <a:rPr lang="en-AU" sz="2000" b="1" dirty="0">
                <a:latin typeface="Helvetica" panose="020B0604020202020204" pitchFamily="34" charset="0"/>
                <a:cs typeface="Helvetica" panose="020B0604020202020204" pitchFamily="34" charset="0"/>
              </a:rPr>
              <a:t> </a:t>
            </a:r>
            <a:endParaRPr lang="en-US" sz="2000" dirty="0">
              <a:latin typeface="Helvetica" panose="020B0604020202020204" pitchFamily="34" charset="0"/>
              <a:cs typeface="Helvetica" panose="020B0604020202020204" pitchFamily="34" charset="0"/>
            </a:endParaRPr>
          </a:p>
          <a:p>
            <a:pPr marL="36576" indent="0">
              <a:spcBef>
                <a:spcPts val="600"/>
              </a:spcBef>
              <a:spcAft>
                <a:spcPts val="600"/>
              </a:spcAft>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spTree>
    <p:extLst>
      <p:ext uri="{BB962C8B-B14F-4D97-AF65-F5344CB8AC3E}">
        <p14:creationId xmlns:p14="http://schemas.microsoft.com/office/powerpoint/2010/main" val="27634212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94240" cy="2410544"/>
          </a:xfrm>
        </p:spPr>
        <p:txBody>
          <a:bodyPr>
            <a:noAutofit/>
          </a:bodyPr>
          <a:lstStyle/>
          <a:p>
            <a:r>
              <a:rPr lang="en-US" sz="2400" b="1" dirty="0" smtClean="0">
                <a:solidFill>
                  <a:srgbClr val="FF6600"/>
                </a:solidFill>
                <a:latin typeface="Helvetica" pitchFamily="34" charset="0"/>
              </a:rPr>
              <a:t>E3 Prepare formal draft plans  </a:t>
            </a:r>
            <a:br>
              <a:rPr lang="en-US" sz="2400" b="1" dirty="0" smtClean="0">
                <a:solidFill>
                  <a:srgbClr val="FF6600"/>
                </a:solidFill>
                <a:latin typeface="Helvetica" pitchFamily="34" charset="0"/>
              </a:rPr>
            </a:br>
            <a:r>
              <a:rPr lang="en-US" sz="2400" b="1" dirty="0" smtClean="0">
                <a:solidFill>
                  <a:srgbClr val="FF6600"/>
                </a:solidFill>
                <a:latin typeface="Helvetica" pitchFamily="34" charset="0"/>
              </a:rPr>
              <a:t>3.7 Incorporate the environmental, social, cultural and economic interests of the local communities into the </a:t>
            </a:r>
            <a:r>
              <a:rPr lang="en-US" sz="2400" b="1" dirty="0">
                <a:solidFill>
                  <a:srgbClr val="FF6600"/>
                </a:solidFill>
                <a:latin typeface="Helvetica" pitchFamily="34" charset="0"/>
              </a:rPr>
              <a:t>plans</a:t>
            </a:r>
            <a:br>
              <a:rPr lang="en-US" sz="2400" b="1" dirty="0">
                <a:solidFill>
                  <a:srgbClr val="FF6600"/>
                </a:solidFill>
                <a:latin typeface="Helvetica" pitchFamily="34" charset="0"/>
              </a:rPr>
            </a:br>
            <a:r>
              <a:rPr lang="en-US" sz="2400" b="1" dirty="0">
                <a:solidFill>
                  <a:srgbClr val="FF6600"/>
                </a:solidFill>
                <a:latin typeface="Helvetica" pitchFamily="34" charset="0"/>
              </a:rPr>
              <a:t>3.8 Ensure the plans are culturally and environmentally sensitive</a:t>
            </a:r>
            <a:r>
              <a:rPr lang="en-US" sz="2400" dirty="0">
                <a:latin typeface="Helvetica" pitchFamily="34" charset="0"/>
              </a:rPr>
              <a:t/>
            </a:r>
            <a:br>
              <a:rPr lang="en-US" sz="2400" dirty="0">
                <a:latin typeface="Helvetica" pitchFamily="34" charset="0"/>
              </a:rPr>
            </a:b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2667000"/>
            <a:ext cx="7618040" cy="3810000"/>
          </a:xfrm>
        </p:spPr>
        <p:txBody>
          <a:bodyPr>
            <a:noAutofit/>
          </a:bodyPr>
          <a:lstStyle/>
          <a:p>
            <a:pPr marL="36576" indent="0">
              <a:spcBef>
                <a:spcPts val="600"/>
              </a:spcBef>
              <a:buNone/>
            </a:pPr>
            <a:r>
              <a:rPr lang="en-AU" sz="2000" b="1" dirty="0">
                <a:latin typeface="Helvetica" panose="020B0604020202020204" pitchFamily="34" charset="0"/>
                <a:cs typeface="Helvetica" panose="020B0604020202020204" pitchFamily="34" charset="0"/>
              </a:rPr>
              <a:t>Cultural factors and sensitivity</a:t>
            </a:r>
            <a:endParaRPr lang="en-US" sz="2000" dirty="0">
              <a:latin typeface="Helvetica" panose="020B0604020202020204" pitchFamily="34" charset="0"/>
              <a:cs typeface="Helvetica" panose="020B0604020202020204" pitchFamily="34" charset="0"/>
            </a:endParaRPr>
          </a:p>
          <a:p>
            <a:pPr marL="36576" indent="0">
              <a:spcBef>
                <a:spcPts val="600"/>
              </a:spcBef>
              <a:buNone/>
            </a:pPr>
            <a:r>
              <a:rPr lang="en-AU" sz="2000" dirty="0">
                <a:latin typeface="Helvetica" panose="020B0604020202020204" pitchFamily="34" charset="0"/>
                <a:cs typeface="Helvetica" panose="020B0604020202020204" pitchFamily="34" charset="0"/>
              </a:rPr>
              <a:t>The plans should include strategies to ensure, as previously </a:t>
            </a:r>
            <a:r>
              <a:rPr lang="en-AU" sz="2000" dirty="0" smtClean="0">
                <a:latin typeface="Helvetica" panose="020B0604020202020204" pitchFamily="34" charset="0"/>
                <a:cs typeface="Helvetica" panose="020B0604020202020204" pitchFamily="34" charset="0"/>
              </a:rPr>
              <a:t>mentioned: </a:t>
            </a:r>
            <a:endParaRPr lang="en-US" sz="2000" dirty="0">
              <a:latin typeface="Helvetica" panose="020B0604020202020204" pitchFamily="34" charset="0"/>
              <a:cs typeface="Helvetica" panose="020B0604020202020204" pitchFamily="34" charset="0"/>
            </a:endParaRPr>
          </a:p>
          <a:p>
            <a:pPr lvl="0">
              <a:spcBef>
                <a:spcPts val="600"/>
              </a:spcBef>
            </a:pPr>
            <a:r>
              <a:rPr lang="en-AU" sz="2000" dirty="0">
                <a:latin typeface="Helvetica" panose="020B0604020202020204" pitchFamily="34" charset="0"/>
                <a:cs typeface="Helvetica" panose="020B0604020202020204" pitchFamily="34" charset="0"/>
              </a:rPr>
              <a:t>Heritage is acknowledged and cultural empowerment takes place locals become ambassadors for tourism in their region</a:t>
            </a:r>
            <a:endParaRPr lang="en-US" sz="2000" dirty="0">
              <a:latin typeface="Helvetica" panose="020B0604020202020204" pitchFamily="34" charset="0"/>
              <a:cs typeface="Helvetica" panose="020B0604020202020204" pitchFamily="34" charset="0"/>
            </a:endParaRPr>
          </a:p>
          <a:p>
            <a:pPr lvl="0">
              <a:spcBef>
                <a:spcPts val="600"/>
              </a:spcBef>
            </a:pPr>
            <a:r>
              <a:rPr lang="en-AU" sz="2000" dirty="0">
                <a:latin typeface="Helvetica" panose="020B0604020202020204" pitchFamily="34" charset="0"/>
                <a:cs typeface="Helvetica" panose="020B0604020202020204" pitchFamily="34" charset="0"/>
              </a:rPr>
              <a:t>Thus avoiding cultural trivialisation and deterioration is avoided</a:t>
            </a:r>
            <a:endParaRPr lang="en-US" sz="2000" dirty="0">
              <a:latin typeface="Helvetica" panose="020B0604020202020204" pitchFamily="34" charset="0"/>
              <a:cs typeface="Helvetica" panose="020B0604020202020204" pitchFamily="34" charset="0"/>
            </a:endParaRPr>
          </a:p>
          <a:p>
            <a:pPr lvl="0">
              <a:spcBef>
                <a:spcPts val="600"/>
              </a:spcBef>
            </a:pPr>
            <a:r>
              <a:rPr lang="en-AU" sz="2000" dirty="0">
                <a:latin typeface="Helvetica" panose="020B0604020202020204" pitchFamily="34" charset="0"/>
                <a:cs typeface="Helvetica" panose="020B0604020202020204" pitchFamily="34" charset="0"/>
              </a:rPr>
              <a:t>Historic sites and buildings are protected and conserved by strict rules and regulations in regards to , for example, maximum numbers of visitors allowed per day in a specific historic site   </a:t>
            </a:r>
            <a:endParaRPr lang="en-US" sz="2000" dirty="0">
              <a:latin typeface="Helvetica" panose="020B0604020202020204" pitchFamily="34" charset="0"/>
              <a:cs typeface="Helvetica" panose="020B0604020202020204" pitchFamily="34" charset="0"/>
            </a:endParaRPr>
          </a:p>
          <a:p>
            <a:pPr marL="36576" indent="0">
              <a:spcBef>
                <a:spcPts val="600"/>
              </a:spcBef>
              <a:buNone/>
            </a:pPr>
            <a:r>
              <a:rPr lang="en-AU" sz="2000" dirty="0">
                <a:latin typeface="Helvetica" panose="020B0604020202020204" pitchFamily="34" charset="0"/>
                <a:cs typeface="Helvetica" panose="020B0604020202020204" pitchFamily="34" charset="0"/>
              </a:rPr>
              <a:t> </a:t>
            </a:r>
            <a:endParaRPr lang="en-US" sz="2000" dirty="0">
              <a:latin typeface="Helvetica" panose="020B0604020202020204" pitchFamily="34" charset="0"/>
              <a:cs typeface="Helvetica" panose="020B0604020202020204" pitchFamily="34" charset="0"/>
            </a:endParaRPr>
          </a:p>
          <a:p>
            <a:pPr marL="36576" indent="0">
              <a:spcBef>
                <a:spcPts val="600"/>
              </a:spcBef>
              <a:buNone/>
            </a:pPr>
            <a:r>
              <a:rPr lang="en-AU" sz="2000" b="1" dirty="0">
                <a:latin typeface="Helvetica" panose="020B0604020202020204" pitchFamily="34" charset="0"/>
                <a:cs typeface="Helvetica" panose="020B0604020202020204" pitchFamily="34" charset="0"/>
              </a:rPr>
              <a:t> </a:t>
            </a:r>
            <a:endParaRPr lang="en-US" sz="2000" dirty="0">
              <a:latin typeface="Helvetica" panose="020B0604020202020204" pitchFamily="34" charset="0"/>
              <a:cs typeface="Helvetica" panose="020B0604020202020204" pitchFamily="34" charset="0"/>
            </a:endParaRPr>
          </a:p>
          <a:p>
            <a:pPr marL="36576" indent="0">
              <a:spcBef>
                <a:spcPts val="600"/>
              </a:spcBef>
              <a:buNone/>
            </a:pPr>
            <a:endParaRPr lang="en-US" sz="20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spTree>
    <p:extLst>
      <p:ext uri="{BB962C8B-B14F-4D97-AF65-F5344CB8AC3E}">
        <p14:creationId xmlns:p14="http://schemas.microsoft.com/office/powerpoint/2010/main" val="183280930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437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3.9 Maintain on going consultation throughout the planning process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4267200"/>
          </a:xfrm>
        </p:spPr>
        <p:txBody>
          <a:bodyPr>
            <a:noAutofit/>
          </a:bodyPr>
          <a:lstStyle/>
          <a:p>
            <a:pPr marL="0" indent="0">
              <a:spcBef>
                <a:spcPts val="600"/>
              </a:spcBef>
              <a:spcAft>
                <a:spcPts val="1200"/>
              </a:spcAft>
              <a:buNone/>
            </a:pPr>
            <a:r>
              <a:rPr lang="en-US" sz="2200" dirty="0" smtClean="0">
                <a:latin typeface="Helvetica" pitchFamily="34" charset="0"/>
              </a:rPr>
              <a:t>Regular updates are critical to maintain on going consultation.</a:t>
            </a:r>
          </a:p>
          <a:p>
            <a:pPr marL="0" indent="0">
              <a:spcBef>
                <a:spcPts val="600"/>
              </a:spcBef>
              <a:spcAft>
                <a:spcPts val="1200"/>
              </a:spcAft>
              <a:buNone/>
            </a:pPr>
            <a:r>
              <a:rPr lang="en-US" sz="2200" dirty="0" smtClean="0">
                <a:latin typeface="Helvetica" pitchFamily="34" charset="0"/>
              </a:rPr>
              <a:t>They need to include: </a:t>
            </a:r>
          </a:p>
          <a:p>
            <a:pPr marL="360000" indent="-360000">
              <a:spcBef>
                <a:spcPts val="600"/>
              </a:spcBef>
              <a:spcAft>
                <a:spcPts val="1200"/>
              </a:spcAft>
            </a:pPr>
            <a:r>
              <a:rPr lang="en-US" sz="2200" dirty="0" smtClean="0">
                <a:latin typeface="Helvetica" pitchFamily="34" charset="0"/>
              </a:rPr>
              <a:t>The plan rationale</a:t>
            </a:r>
          </a:p>
          <a:p>
            <a:pPr marL="360000" indent="-360000">
              <a:spcBef>
                <a:spcPts val="600"/>
              </a:spcBef>
              <a:spcAft>
                <a:spcPts val="1200"/>
              </a:spcAft>
            </a:pPr>
            <a:r>
              <a:rPr lang="en-US" sz="2200" dirty="0" smtClean="0">
                <a:latin typeface="Helvetica" pitchFamily="34" charset="0"/>
              </a:rPr>
              <a:t>Facts and figures</a:t>
            </a:r>
          </a:p>
          <a:p>
            <a:pPr marL="360000" indent="-360000">
              <a:spcBef>
                <a:spcPts val="600"/>
              </a:spcBef>
              <a:spcAft>
                <a:spcPts val="1200"/>
              </a:spcAft>
            </a:pPr>
            <a:r>
              <a:rPr lang="en-US" sz="2200" dirty="0" smtClean="0">
                <a:latin typeface="Helvetica" pitchFamily="34" charset="0"/>
              </a:rPr>
              <a:t>Previous feedback</a:t>
            </a:r>
          </a:p>
          <a:p>
            <a:pPr marL="360000" indent="-360000">
              <a:spcBef>
                <a:spcPts val="600"/>
              </a:spcBef>
              <a:spcAft>
                <a:spcPts val="1200"/>
              </a:spcAft>
            </a:pPr>
            <a:r>
              <a:rPr lang="en-US" sz="2200" dirty="0" smtClean="0">
                <a:latin typeface="Helvetica" pitchFamily="34" charset="0"/>
              </a:rPr>
              <a:t>Names of relevant stakeholders, their connection, relationship to the project</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5800" y="2971800"/>
            <a:ext cx="2304585" cy="1889760"/>
          </a:xfrm>
          <a:prstGeom prst="ellipse">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3.9 Maintain on going consultation throughout the planning process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467600" cy="4495800"/>
          </a:xfrm>
        </p:spPr>
        <p:txBody>
          <a:bodyPr>
            <a:noAutofit/>
          </a:bodyPr>
          <a:lstStyle/>
          <a:p>
            <a:pPr marL="0" indent="0">
              <a:spcBef>
                <a:spcPts val="600"/>
              </a:spcBef>
              <a:spcAft>
                <a:spcPts val="600"/>
              </a:spcAft>
              <a:buNone/>
            </a:pPr>
            <a:r>
              <a:rPr lang="en-US" sz="1900" b="1" dirty="0" smtClean="0">
                <a:latin typeface="Helvetica" pitchFamily="34" charset="0"/>
              </a:rPr>
              <a:t>Regular updates are critical to maintain on going consultation</a:t>
            </a:r>
          </a:p>
          <a:p>
            <a:pPr marL="0" indent="0">
              <a:spcBef>
                <a:spcPts val="600"/>
              </a:spcBef>
              <a:spcAft>
                <a:spcPts val="600"/>
              </a:spcAft>
              <a:buNone/>
            </a:pPr>
            <a:r>
              <a:rPr lang="en-US" sz="1900" dirty="0" smtClean="0">
                <a:latin typeface="Helvetica" pitchFamily="34" charset="0"/>
              </a:rPr>
              <a:t>To ensure continuity, it is recommended to follow the same information dissemination channels used since the beginning of the project, taking into account which media was the most successful.</a:t>
            </a:r>
          </a:p>
          <a:p>
            <a:pPr marL="0" indent="0">
              <a:spcBef>
                <a:spcPts val="600"/>
              </a:spcBef>
              <a:spcAft>
                <a:spcPts val="600"/>
              </a:spcAft>
              <a:buNone/>
            </a:pPr>
            <a:r>
              <a:rPr lang="en-US" sz="1900" dirty="0" smtClean="0">
                <a:latin typeface="Helvetica" pitchFamily="34" charset="0"/>
              </a:rPr>
              <a:t>Typical medium can be: </a:t>
            </a:r>
          </a:p>
          <a:p>
            <a:pPr marL="360000" indent="-360000">
              <a:spcBef>
                <a:spcPts val="600"/>
              </a:spcBef>
              <a:spcAft>
                <a:spcPts val="600"/>
              </a:spcAft>
            </a:pPr>
            <a:r>
              <a:rPr lang="en-US" sz="1900" dirty="0" smtClean="0">
                <a:latin typeface="Helvetica" pitchFamily="34" charset="0"/>
              </a:rPr>
              <a:t>Public meetings</a:t>
            </a:r>
          </a:p>
          <a:p>
            <a:pPr marL="360000" indent="-360000">
              <a:spcBef>
                <a:spcPts val="600"/>
              </a:spcBef>
              <a:spcAft>
                <a:spcPts val="600"/>
              </a:spcAft>
            </a:pPr>
            <a:r>
              <a:rPr lang="en-US" sz="1900" dirty="0" smtClean="0">
                <a:latin typeface="Helvetica" pitchFamily="34" charset="0"/>
              </a:rPr>
              <a:t>Workshops</a:t>
            </a:r>
          </a:p>
          <a:p>
            <a:pPr marL="360000" indent="-360000">
              <a:spcBef>
                <a:spcPts val="600"/>
              </a:spcBef>
              <a:spcAft>
                <a:spcPts val="600"/>
              </a:spcAft>
            </a:pPr>
            <a:r>
              <a:rPr lang="en-US" sz="1900" dirty="0" smtClean="0">
                <a:latin typeface="Helvetica" pitchFamily="34" charset="0"/>
              </a:rPr>
              <a:t>Seminars</a:t>
            </a:r>
          </a:p>
          <a:p>
            <a:pPr marL="360000" indent="-360000">
              <a:spcBef>
                <a:spcPts val="600"/>
              </a:spcBef>
              <a:spcAft>
                <a:spcPts val="600"/>
              </a:spcAft>
            </a:pPr>
            <a:r>
              <a:rPr lang="en-US" sz="1900" dirty="0" smtClean="0">
                <a:latin typeface="Helvetica" pitchFamily="34" charset="0"/>
              </a:rPr>
              <a:t>Various media such as newspapers, </a:t>
            </a:r>
            <a:br>
              <a:rPr lang="en-US" sz="1900" dirty="0" smtClean="0">
                <a:latin typeface="Helvetica" pitchFamily="34" charset="0"/>
              </a:rPr>
            </a:br>
            <a:r>
              <a:rPr lang="en-US" sz="1900" dirty="0" smtClean="0">
                <a:latin typeface="Helvetica" pitchFamily="34" charset="0"/>
              </a:rPr>
              <a:t>social media, newsletters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9800" y="3987850"/>
            <a:ext cx="2362200" cy="1575587"/>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437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3.10 Develop a clear strategic and tactical focus for plans that are made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57400"/>
            <a:ext cx="7467600" cy="4572000"/>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To develop a clear strategic and tactical focus, the plan needs to include:</a:t>
            </a:r>
          </a:p>
          <a:p>
            <a:pPr marL="360000" indent="-360000">
              <a:spcBef>
                <a:spcPts val="600"/>
              </a:spcBef>
              <a:spcAft>
                <a:spcPts val="1200"/>
              </a:spcAft>
            </a:pPr>
            <a:r>
              <a:rPr lang="en-US" sz="2200" dirty="0" smtClean="0">
                <a:latin typeface="Helvetica" pitchFamily="34" charset="0"/>
              </a:rPr>
              <a:t>SWOT analysis</a:t>
            </a:r>
          </a:p>
          <a:p>
            <a:pPr marL="360000" indent="-360000">
              <a:spcBef>
                <a:spcPts val="600"/>
              </a:spcBef>
              <a:spcAft>
                <a:spcPts val="1200"/>
              </a:spcAft>
            </a:pPr>
            <a:r>
              <a:rPr lang="en-US" sz="2200" dirty="0" smtClean="0">
                <a:latin typeface="Helvetica" pitchFamily="34" charset="0"/>
              </a:rPr>
              <a:t>Host organisation strategies to achieve identified outcomes</a:t>
            </a:r>
          </a:p>
          <a:p>
            <a:pPr marL="360000" indent="-360000">
              <a:spcBef>
                <a:spcPts val="600"/>
              </a:spcBef>
              <a:spcAft>
                <a:spcPts val="1200"/>
              </a:spcAft>
            </a:pPr>
            <a:r>
              <a:rPr lang="en-US" sz="2200" dirty="0" smtClean="0">
                <a:latin typeface="Helvetica" pitchFamily="34" charset="0"/>
              </a:rPr>
              <a:t>Clear project mission and goals</a:t>
            </a:r>
          </a:p>
          <a:p>
            <a:pPr marL="360000" indent="-360000">
              <a:spcBef>
                <a:spcPts val="600"/>
              </a:spcBef>
              <a:spcAft>
                <a:spcPts val="1200"/>
              </a:spcAft>
            </a:pPr>
            <a:r>
              <a:rPr lang="en-US" sz="2200" dirty="0" smtClean="0">
                <a:latin typeface="Helvetica" pitchFamily="34" charset="0"/>
              </a:rPr>
              <a:t>Clear priorities with timelines</a:t>
            </a:r>
          </a:p>
          <a:p>
            <a:pPr marL="360000" indent="-360000">
              <a:spcBef>
                <a:spcPts val="600"/>
              </a:spcBef>
              <a:spcAft>
                <a:spcPts val="1200"/>
              </a:spcAft>
            </a:pPr>
            <a:r>
              <a:rPr lang="en-US" sz="2200" dirty="0" smtClean="0">
                <a:latin typeface="Helvetica" pitchFamily="34" charset="0"/>
              </a:rPr>
              <a:t>Clear measurements criteria: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To ensure the success of the initiative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To monitor the initiative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77050" y="4057650"/>
            <a:ext cx="1524000" cy="1524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19944"/>
          </a:xfrm>
        </p:spPr>
        <p:txBody>
          <a:bodyPr>
            <a:normAutofit fontScale="90000"/>
          </a:bodyPr>
          <a:lstStyle/>
          <a:p>
            <a:r>
              <a:rPr lang="en-US" sz="3400" b="1" dirty="0" smtClean="0">
                <a:solidFill>
                  <a:srgbClr val="FF6600"/>
                </a:solidFill>
                <a:latin typeface="Helvetica" pitchFamily="34" charset="0"/>
              </a:rPr>
              <a:t>E3 Prepare formal draft plans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3.10 Develop a clear strategic and tactical focus for plans that are made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3600"/>
            <a:ext cx="7541840" cy="4267200"/>
          </a:xfrm>
        </p:spPr>
        <p:txBody>
          <a:bodyPr>
            <a:normAutofit/>
          </a:bodyPr>
          <a:lstStyle/>
          <a:p>
            <a:pPr marL="0" indent="0">
              <a:spcBef>
                <a:spcPts val="600"/>
              </a:spcBef>
              <a:spcAft>
                <a:spcPts val="1200"/>
              </a:spcAft>
              <a:buNone/>
            </a:pPr>
            <a:r>
              <a:rPr lang="en-US" sz="2200" dirty="0" smtClean="0">
                <a:latin typeface="Helvetica" pitchFamily="34" charset="0"/>
              </a:rPr>
              <a:t>To develop a clear strategic and tactical focus, the plan needs to include:</a:t>
            </a:r>
          </a:p>
          <a:p>
            <a:pPr marL="360000" indent="-360000">
              <a:spcBef>
                <a:spcPts val="600"/>
              </a:spcBef>
              <a:spcAft>
                <a:spcPts val="1200"/>
              </a:spcAft>
            </a:pPr>
            <a:r>
              <a:rPr lang="en-US" sz="2200" dirty="0" smtClean="0">
                <a:latin typeface="Helvetica" pitchFamily="34" charset="0"/>
              </a:rPr>
              <a:t>Specific written plans to guide the various phase of the implementation</a:t>
            </a:r>
          </a:p>
          <a:p>
            <a:pPr marL="360000" indent="-360000">
              <a:spcBef>
                <a:spcPts val="600"/>
              </a:spcBef>
              <a:spcAft>
                <a:spcPts val="1200"/>
              </a:spcAft>
            </a:pPr>
            <a:r>
              <a:rPr lang="en-US" sz="2200" dirty="0" smtClean="0">
                <a:latin typeface="Helvetica" pitchFamily="34" charset="0"/>
              </a:rPr>
              <a:t>Establishment of clear communication channels and responsibilities</a:t>
            </a:r>
          </a:p>
          <a:p>
            <a:pPr marL="360000" indent="-360000">
              <a:spcBef>
                <a:spcPts val="600"/>
              </a:spcBef>
              <a:spcAft>
                <a:spcPts val="1200"/>
              </a:spcAft>
            </a:pPr>
            <a:r>
              <a:rPr lang="en-US" sz="2200" dirty="0" smtClean="0">
                <a:latin typeface="Helvetica" pitchFamily="34" charset="0"/>
              </a:rPr>
              <a:t>Establishment of a relevant accounting structure to support funds and resources allocation</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r>
              <a:rPr lang="en-US" sz="3400" b="1" dirty="0" smtClean="0">
                <a:solidFill>
                  <a:srgbClr val="FF6600"/>
                </a:solidFill>
                <a:latin typeface="Helvetica" pitchFamily="34" charset="0"/>
              </a:rPr>
              <a:t>Element 4 Present draft plans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4634955"/>
          </a:xfrm>
        </p:spPr>
        <p:txBody>
          <a:bodyPr>
            <a:normAutofit/>
          </a:bodyPr>
          <a:lstStyle/>
          <a:p>
            <a:pPr marL="457200" indent="-457200">
              <a:spcBef>
                <a:spcPts val="600"/>
              </a:spcBef>
              <a:spcAft>
                <a:spcPts val="1200"/>
              </a:spcAft>
              <a:buNone/>
            </a:pPr>
            <a:r>
              <a:rPr lang="en-US" sz="2200" b="1" dirty="0" smtClean="0">
                <a:latin typeface="Helvetica" pitchFamily="34" charset="0"/>
              </a:rPr>
              <a:t>This element has 3 criteria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grpSp>
        <p:nvGrpSpPr>
          <p:cNvPr id="6" name="Group 5"/>
          <p:cNvGrpSpPr/>
          <p:nvPr/>
        </p:nvGrpSpPr>
        <p:grpSpPr>
          <a:xfrm>
            <a:off x="609600" y="2285474"/>
            <a:ext cx="6553200" cy="3276599"/>
            <a:chOff x="685800" y="2216259"/>
            <a:chExt cx="6934200" cy="4051081"/>
          </a:xfrm>
        </p:grpSpPr>
        <p:sp>
          <p:nvSpPr>
            <p:cNvPr id="7" name="Rectangle 6"/>
            <p:cNvSpPr/>
            <p:nvPr/>
          </p:nvSpPr>
          <p:spPr>
            <a:xfrm>
              <a:off x="685800" y="2673819"/>
              <a:ext cx="6934200" cy="7812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8" name="Freeform 7"/>
            <p:cNvSpPr/>
            <p:nvPr/>
          </p:nvSpPr>
          <p:spPr>
            <a:xfrm>
              <a:off x="1032510" y="2216259"/>
              <a:ext cx="5768325" cy="915120"/>
            </a:xfrm>
            <a:custGeom>
              <a:avLst/>
              <a:gdLst>
                <a:gd name="connsiteX0" fmla="*/ 0 w 5768325"/>
                <a:gd name="connsiteY0" fmla="*/ 152523 h 915120"/>
                <a:gd name="connsiteX1" fmla="*/ 152523 w 5768325"/>
                <a:gd name="connsiteY1" fmla="*/ 0 h 915120"/>
                <a:gd name="connsiteX2" fmla="*/ 5615802 w 5768325"/>
                <a:gd name="connsiteY2" fmla="*/ 0 h 915120"/>
                <a:gd name="connsiteX3" fmla="*/ 5768325 w 5768325"/>
                <a:gd name="connsiteY3" fmla="*/ 152523 h 915120"/>
                <a:gd name="connsiteX4" fmla="*/ 5768325 w 5768325"/>
                <a:gd name="connsiteY4" fmla="*/ 762597 h 915120"/>
                <a:gd name="connsiteX5" fmla="*/ 5615802 w 5768325"/>
                <a:gd name="connsiteY5" fmla="*/ 915120 h 915120"/>
                <a:gd name="connsiteX6" fmla="*/ 152523 w 5768325"/>
                <a:gd name="connsiteY6" fmla="*/ 915120 h 915120"/>
                <a:gd name="connsiteX7" fmla="*/ 0 w 5768325"/>
                <a:gd name="connsiteY7" fmla="*/ 762597 h 915120"/>
                <a:gd name="connsiteX8" fmla="*/ 0 w 5768325"/>
                <a:gd name="connsiteY8" fmla="*/ 152523 h 91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68325" h="915120">
                  <a:moveTo>
                    <a:pt x="0" y="152523"/>
                  </a:moveTo>
                  <a:cubicBezTo>
                    <a:pt x="0" y="68287"/>
                    <a:pt x="68287" y="0"/>
                    <a:pt x="152523" y="0"/>
                  </a:cubicBezTo>
                  <a:lnTo>
                    <a:pt x="5615802" y="0"/>
                  </a:lnTo>
                  <a:cubicBezTo>
                    <a:pt x="5700038" y="0"/>
                    <a:pt x="5768325" y="68287"/>
                    <a:pt x="5768325" y="152523"/>
                  </a:cubicBezTo>
                  <a:lnTo>
                    <a:pt x="5768325" y="762597"/>
                  </a:lnTo>
                  <a:cubicBezTo>
                    <a:pt x="5768325" y="846833"/>
                    <a:pt x="5700038" y="915120"/>
                    <a:pt x="5615802" y="915120"/>
                  </a:cubicBezTo>
                  <a:lnTo>
                    <a:pt x="152523" y="915120"/>
                  </a:lnTo>
                  <a:cubicBezTo>
                    <a:pt x="68287" y="915120"/>
                    <a:pt x="0" y="846833"/>
                    <a:pt x="0" y="762597"/>
                  </a:cubicBezTo>
                  <a:lnTo>
                    <a:pt x="0" y="15252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8139" tIns="44672" rIns="228139" bIns="44672" numCol="1" spcCol="1270" anchor="ctr" anchorCtr="0">
              <a:noAutofit/>
            </a:bodyPr>
            <a:lstStyle/>
            <a:p>
              <a:pPr lvl="0" algn="l" defTabSz="711200">
                <a:lnSpc>
                  <a:spcPct val="90000"/>
                </a:lnSpc>
                <a:spcBef>
                  <a:spcPct val="0"/>
                </a:spcBef>
                <a:spcAft>
                  <a:spcPct val="35000"/>
                </a:spcAft>
              </a:pPr>
              <a:r>
                <a:rPr lang="en-US" sz="1600" b="1" kern="1200" dirty="0" smtClean="0">
                  <a:latin typeface="Helvetica" pitchFamily="34" charset="0"/>
                </a:rPr>
                <a:t>Submit plans for considerations by the local communities and other relevant key stakeholders </a:t>
              </a:r>
              <a:endParaRPr lang="en-AU" sz="1600" b="1" kern="1200" dirty="0"/>
            </a:p>
          </p:txBody>
        </p:sp>
        <p:sp>
          <p:nvSpPr>
            <p:cNvPr id="9" name="Rectangle 8"/>
            <p:cNvSpPr/>
            <p:nvPr/>
          </p:nvSpPr>
          <p:spPr>
            <a:xfrm>
              <a:off x="685800" y="4079979"/>
              <a:ext cx="6934200" cy="7812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 name="Freeform 9"/>
            <p:cNvSpPr/>
            <p:nvPr/>
          </p:nvSpPr>
          <p:spPr>
            <a:xfrm>
              <a:off x="1032510" y="3622419"/>
              <a:ext cx="5768325" cy="915120"/>
            </a:xfrm>
            <a:custGeom>
              <a:avLst/>
              <a:gdLst>
                <a:gd name="connsiteX0" fmla="*/ 0 w 5768325"/>
                <a:gd name="connsiteY0" fmla="*/ 152523 h 915120"/>
                <a:gd name="connsiteX1" fmla="*/ 152523 w 5768325"/>
                <a:gd name="connsiteY1" fmla="*/ 0 h 915120"/>
                <a:gd name="connsiteX2" fmla="*/ 5615802 w 5768325"/>
                <a:gd name="connsiteY2" fmla="*/ 0 h 915120"/>
                <a:gd name="connsiteX3" fmla="*/ 5768325 w 5768325"/>
                <a:gd name="connsiteY3" fmla="*/ 152523 h 915120"/>
                <a:gd name="connsiteX4" fmla="*/ 5768325 w 5768325"/>
                <a:gd name="connsiteY4" fmla="*/ 762597 h 915120"/>
                <a:gd name="connsiteX5" fmla="*/ 5615802 w 5768325"/>
                <a:gd name="connsiteY5" fmla="*/ 915120 h 915120"/>
                <a:gd name="connsiteX6" fmla="*/ 152523 w 5768325"/>
                <a:gd name="connsiteY6" fmla="*/ 915120 h 915120"/>
                <a:gd name="connsiteX7" fmla="*/ 0 w 5768325"/>
                <a:gd name="connsiteY7" fmla="*/ 762597 h 915120"/>
                <a:gd name="connsiteX8" fmla="*/ 0 w 5768325"/>
                <a:gd name="connsiteY8" fmla="*/ 152523 h 91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68325" h="915120">
                  <a:moveTo>
                    <a:pt x="0" y="152523"/>
                  </a:moveTo>
                  <a:cubicBezTo>
                    <a:pt x="0" y="68287"/>
                    <a:pt x="68287" y="0"/>
                    <a:pt x="152523" y="0"/>
                  </a:cubicBezTo>
                  <a:lnTo>
                    <a:pt x="5615802" y="0"/>
                  </a:lnTo>
                  <a:cubicBezTo>
                    <a:pt x="5700038" y="0"/>
                    <a:pt x="5768325" y="68287"/>
                    <a:pt x="5768325" y="152523"/>
                  </a:cubicBezTo>
                  <a:lnTo>
                    <a:pt x="5768325" y="762597"/>
                  </a:lnTo>
                  <a:cubicBezTo>
                    <a:pt x="5768325" y="846833"/>
                    <a:pt x="5700038" y="915120"/>
                    <a:pt x="5615802" y="915120"/>
                  </a:cubicBezTo>
                  <a:lnTo>
                    <a:pt x="152523" y="915120"/>
                  </a:lnTo>
                  <a:cubicBezTo>
                    <a:pt x="68287" y="915120"/>
                    <a:pt x="0" y="846833"/>
                    <a:pt x="0" y="762597"/>
                  </a:cubicBezTo>
                  <a:lnTo>
                    <a:pt x="0" y="15252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8139" tIns="44672" rIns="228139" bIns="44672" numCol="1" spcCol="1270" anchor="ctr" anchorCtr="0">
              <a:noAutofit/>
            </a:bodyPr>
            <a:lstStyle/>
            <a:p>
              <a:pPr lvl="0" algn="l" defTabSz="711200">
                <a:lnSpc>
                  <a:spcPct val="90000"/>
                </a:lnSpc>
                <a:spcBef>
                  <a:spcPct val="0"/>
                </a:spcBef>
                <a:spcAft>
                  <a:spcPct val="35000"/>
                </a:spcAft>
              </a:pPr>
              <a:r>
                <a:rPr lang="en-US" sz="1600" b="1" kern="1200" dirty="0" smtClean="0">
                  <a:latin typeface="Helvetica" pitchFamily="34" charset="0"/>
                </a:rPr>
                <a:t>Amend plans on the basis of feedback received</a:t>
              </a:r>
              <a:endParaRPr lang="en-AU" sz="1600" b="1" kern="1200" dirty="0"/>
            </a:p>
          </p:txBody>
        </p:sp>
        <p:sp>
          <p:nvSpPr>
            <p:cNvPr id="11" name="Rectangle 10"/>
            <p:cNvSpPr/>
            <p:nvPr/>
          </p:nvSpPr>
          <p:spPr>
            <a:xfrm>
              <a:off x="685800" y="5486140"/>
              <a:ext cx="6934200" cy="7812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032510" y="5028580"/>
              <a:ext cx="5768325" cy="915120"/>
            </a:xfrm>
            <a:custGeom>
              <a:avLst/>
              <a:gdLst>
                <a:gd name="connsiteX0" fmla="*/ 0 w 5768325"/>
                <a:gd name="connsiteY0" fmla="*/ 152523 h 915120"/>
                <a:gd name="connsiteX1" fmla="*/ 152523 w 5768325"/>
                <a:gd name="connsiteY1" fmla="*/ 0 h 915120"/>
                <a:gd name="connsiteX2" fmla="*/ 5615802 w 5768325"/>
                <a:gd name="connsiteY2" fmla="*/ 0 h 915120"/>
                <a:gd name="connsiteX3" fmla="*/ 5768325 w 5768325"/>
                <a:gd name="connsiteY3" fmla="*/ 152523 h 915120"/>
                <a:gd name="connsiteX4" fmla="*/ 5768325 w 5768325"/>
                <a:gd name="connsiteY4" fmla="*/ 762597 h 915120"/>
                <a:gd name="connsiteX5" fmla="*/ 5615802 w 5768325"/>
                <a:gd name="connsiteY5" fmla="*/ 915120 h 915120"/>
                <a:gd name="connsiteX6" fmla="*/ 152523 w 5768325"/>
                <a:gd name="connsiteY6" fmla="*/ 915120 h 915120"/>
                <a:gd name="connsiteX7" fmla="*/ 0 w 5768325"/>
                <a:gd name="connsiteY7" fmla="*/ 762597 h 915120"/>
                <a:gd name="connsiteX8" fmla="*/ 0 w 5768325"/>
                <a:gd name="connsiteY8" fmla="*/ 152523 h 91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68325" h="915120">
                  <a:moveTo>
                    <a:pt x="0" y="152523"/>
                  </a:moveTo>
                  <a:cubicBezTo>
                    <a:pt x="0" y="68287"/>
                    <a:pt x="68287" y="0"/>
                    <a:pt x="152523" y="0"/>
                  </a:cubicBezTo>
                  <a:lnTo>
                    <a:pt x="5615802" y="0"/>
                  </a:lnTo>
                  <a:cubicBezTo>
                    <a:pt x="5700038" y="0"/>
                    <a:pt x="5768325" y="68287"/>
                    <a:pt x="5768325" y="152523"/>
                  </a:cubicBezTo>
                  <a:lnTo>
                    <a:pt x="5768325" y="762597"/>
                  </a:lnTo>
                  <a:cubicBezTo>
                    <a:pt x="5768325" y="846833"/>
                    <a:pt x="5700038" y="915120"/>
                    <a:pt x="5615802" y="915120"/>
                  </a:cubicBezTo>
                  <a:lnTo>
                    <a:pt x="152523" y="915120"/>
                  </a:lnTo>
                  <a:cubicBezTo>
                    <a:pt x="68287" y="915120"/>
                    <a:pt x="0" y="846833"/>
                    <a:pt x="0" y="762597"/>
                  </a:cubicBezTo>
                  <a:lnTo>
                    <a:pt x="0" y="15252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8139" tIns="44672" rIns="228139" bIns="44672" numCol="1" spcCol="1270" anchor="ctr" anchorCtr="0">
              <a:noAutofit/>
            </a:bodyPr>
            <a:lstStyle/>
            <a:p>
              <a:pPr lvl="0" algn="l" defTabSz="711200">
                <a:lnSpc>
                  <a:spcPct val="90000"/>
                </a:lnSpc>
                <a:spcBef>
                  <a:spcPct val="0"/>
                </a:spcBef>
                <a:spcAft>
                  <a:spcPct val="35000"/>
                </a:spcAft>
              </a:pPr>
              <a:r>
                <a:rPr lang="en-US" sz="1600" b="1" kern="1200" dirty="0" smtClean="0">
                  <a:latin typeface="Helvetica" pitchFamily="34" charset="0"/>
                </a:rPr>
                <a:t>Re-present plans revised plans for approval</a:t>
              </a:r>
              <a:endParaRPr lang="en-AU" sz="1600" b="1" kern="1200" dirty="0"/>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7247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4.1 Submit plans for consideration by the local communities and other relevant key stakeholders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362200"/>
            <a:ext cx="7467600" cy="3962400"/>
          </a:xfrm>
        </p:spPr>
        <p:txBody>
          <a:bodyPr>
            <a:normAutofit/>
          </a:bodyPr>
          <a:lstStyle/>
          <a:p>
            <a:pPr marL="0" indent="0">
              <a:spcBef>
                <a:spcPts val="600"/>
              </a:spcBef>
              <a:spcAft>
                <a:spcPts val="1200"/>
              </a:spcAft>
              <a:buNone/>
            </a:pPr>
            <a:r>
              <a:rPr lang="en-US" sz="2200" dirty="0" smtClean="0">
                <a:latin typeface="Helvetica" pitchFamily="34" charset="0"/>
              </a:rPr>
              <a:t>The submission phase is aimed to:</a:t>
            </a:r>
          </a:p>
          <a:p>
            <a:pPr marL="360000" indent="-360000">
              <a:spcBef>
                <a:spcPts val="600"/>
              </a:spcBef>
              <a:spcAft>
                <a:spcPts val="1200"/>
              </a:spcAft>
            </a:pPr>
            <a:r>
              <a:rPr lang="en-US" sz="2200" dirty="0" smtClean="0">
                <a:latin typeface="Helvetica" pitchFamily="34" charset="0"/>
              </a:rPr>
              <a:t>Explain all plans</a:t>
            </a:r>
          </a:p>
          <a:p>
            <a:pPr marL="360000" indent="-360000">
              <a:spcBef>
                <a:spcPts val="600"/>
              </a:spcBef>
              <a:spcAft>
                <a:spcPts val="1200"/>
              </a:spcAft>
            </a:pPr>
            <a:r>
              <a:rPr lang="en-US" sz="2200" dirty="0" smtClean="0">
                <a:latin typeface="Helvetica" pitchFamily="34" charset="0"/>
              </a:rPr>
              <a:t>Explain host organisation position in regards to recommendations</a:t>
            </a:r>
          </a:p>
          <a:p>
            <a:pPr marL="360000" indent="-360000">
              <a:spcBef>
                <a:spcPts val="600"/>
              </a:spcBef>
              <a:spcAft>
                <a:spcPts val="1200"/>
              </a:spcAft>
            </a:pPr>
            <a:r>
              <a:rPr lang="en-US" sz="2200" dirty="0" smtClean="0">
                <a:latin typeface="Helvetica" pitchFamily="34" charset="0"/>
              </a:rPr>
              <a:t>Discuss the implementation phase</a:t>
            </a:r>
          </a:p>
          <a:p>
            <a:pPr marL="360000" indent="-360000">
              <a:spcBef>
                <a:spcPts val="600"/>
              </a:spcBef>
              <a:spcAft>
                <a:spcPts val="1200"/>
              </a:spcAft>
            </a:pPr>
            <a:r>
              <a:rPr lang="en-US" sz="2200" dirty="0" smtClean="0">
                <a:latin typeface="Helvetica" pitchFamily="34" charset="0"/>
              </a:rPr>
              <a:t>Solicit and record feedback</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0241" y="4267200"/>
            <a:ext cx="2033433" cy="1390403"/>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4.1 Submit plans for consideration by the local communities and other relevant key stakeholders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7467600" cy="4191000"/>
          </a:xfrm>
        </p:spPr>
        <p:txBody>
          <a:bodyPr>
            <a:normAutofit/>
          </a:bodyPr>
          <a:lstStyle/>
          <a:p>
            <a:pPr marL="360000" indent="-360000">
              <a:spcBef>
                <a:spcPts val="600"/>
              </a:spcBef>
              <a:spcAft>
                <a:spcPts val="1200"/>
              </a:spcAft>
            </a:pPr>
            <a:r>
              <a:rPr lang="en-US" sz="2200" dirty="0" smtClean="0">
                <a:latin typeface="Helvetica" pitchFamily="34" charset="0"/>
              </a:rPr>
              <a:t>Importance of professionally prepared plans</a:t>
            </a:r>
          </a:p>
          <a:p>
            <a:pPr marL="360000" indent="-360000">
              <a:spcBef>
                <a:spcPts val="600"/>
              </a:spcBef>
              <a:spcAft>
                <a:spcPts val="1200"/>
              </a:spcAft>
            </a:pPr>
            <a:r>
              <a:rPr lang="en-US" sz="2200" dirty="0" smtClean="0">
                <a:latin typeface="Helvetica" pitchFamily="34" charset="0"/>
              </a:rPr>
              <a:t>They need to include: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Executive summary</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Tasks allocation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Resources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Responsibilities</a:t>
            </a: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3834170"/>
            <a:ext cx="2362200" cy="157603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7247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4.1 Submit plans for consideration by the local communities and other relevant key stakeholders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362200"/>
            <a:ext cx="7467600" cy="3962400"/>
          </a:xfrm>
        </p:spPr>
        <p:txBody>
          <a:bodyPr>
            <a:normAutofit/>
          </a:bodyPr>
          <a:lstStyle/>
          <a:p>
            <a:pPr marL="0" indent="0">
              <a:spcBef>
                <a:spcPts val="600"/>
              </a:spcBef>
              <a:spcAft>
                <a:spcPts val="1200"/>
              </a:spcAft>
              <a:buNone/>
            </a:pPr>
            <a:r>
              <a:rPr lang="en-US" sz="2200" b="1" dirty="0" smtClean="0">
                <a:latin typeface="Helvetica" pitchFamily="34" charset="0"/>
              </a:rPr>
              <a:t>They need to align the plans objectives to SMART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grpSp>
        <p:nvGrpSpPr>
          <p:cNvPr id="18" name="Group 17"/>
          <p:cNvGrpSpPr/>
          <p:nvPr/>
        </p:nvGrpSpPr>
        <p:grpSpPr>
          <a:xfrm>
            <a:off x="1809750" y="3121024"/>
            <a:ext cx="4572000" cy="2857500"/>
            <a:chOff x="1828800" y="3384549"/>
            <a:chExt cx="4572000" cy="2857500"/>
          </a:xfrm>
        </p:grpSpPr>
        <p:sp>
          <p:nvSpPr>
            <p:cNvPr id="19" name="Shape 18"/>
            <p:cNvSpPr/>
            <p:nvPr/>
          </p:nvSpPr>
          <p:spPr>
            <a:xfrm>
              <a:off x="1828800" y="3384549"/>
              <a:ext cx="4572000" cy="2857500"/>
            </a:xfrm>
            <a:prstGeom prst="swooshArrow">
              <a:avLst>
                <a:gd name="adj1" fmla="val 25000"/>
                <a:gd name="adj2" fmla="val 25000"/>
              </a:avLst>
            </a:prstGeom>
          </p:spPr>
          <p:style>
            <a:lnRef idx="0">
              <a:schemeClr val="dk1">
                <a:hueOff val="0"/>
                <a:satOff val="0"/>
                <a:lumOff val="0"/>
                <a:alphaOff val="0"/>
              </a:schemeClr>
            </a:lnRef>
            <a:fillRef idx="1">
              <a:schemeClr val="accent5">
                <a:tint val="40000"/>
                <a:hueOff val="0"/>
                <a:satOff val="0"/>
                <a:lumOff val="0"/>
                <a:alphaOff val="0"/>
              </a:schemeClr>
            </a:fillRef>
            <a:effectRef idx="0">
              <a:schemeClr val="accent5">
                <a:tint val="40000"/>
                <a:hueOff val="0"/>
                <a:satOff val="0"/>
                <a:lumOff val="0"/>
                <a:alphaOff val="0"/>
              </a:schemeClr>
            </a:effectRef>
            <a:fontRef idx="minor">
              <a:schemeClr val="dk1">
                <a:hueOff val="0"/>
                <a:satOff val="0"/>
                <a:lumOff val="0"/>
                <a:alphaOff val="0"/>
              </a:schemeClr>
            </a:fontRef>
          </p:style>
        </p:sp>
        <p:sp>
          <p:nvSpPr>
            <p:cNvPr id="20" name="Oval 19"/>
            <p:cNvSpPr/>
            <p:nvPr/>
          </p:nvSpPr>
          <p:spPr>
            <a:xfrm>
              <a:off x="2279141" y="5509387"/>
              <a:ext cx="105156" cy="105156"/>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1" name="Freeform 20"/>
            <p:cNvSpPr/>
            <p:nvPr/>
          </p:nvSpPr>
          <p:spPr>
            <a:xfrm>
              <a:off x="2331719" y="5638801"/>
              <a:ext cx="598932" cy="526412"/>
            </a:xfrm>
            <a:custGeom>
              <a:avLst/>
              <a:gdLst>
                <a:gd name="connsiteX0" fmla="*/ 0 w 598932"/>
                <a:gd name="connsiteY0" fmla="*/ 0 h 526412"/>
                <a:gd name="connsiteX1" fmla="*/ 598932 w 598932"/>
                <a:gd name="connsiteY1" fmla="*/ 0 h 526412"/>
                <a:gd name="connsiteX2" fmla="*/ 598932 w 598932"/>
                <a:gd name="connsiteY2" fmla="*/ 526412 h 526412"/>
                <a:gd name="connsiteX3" fmla="*/ 0 w 598932"/>
                <a:gd name="connsiteY3" fmla="*/ 526412 h 526412"/>
                <a:gd name="connsiteX4" fmla="*/ 0 w 598932"/>
                <a:gd name="connsiteY4" fmla="*/ 0 h 526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932" h="526412">
                  <a:moveTo>
                    <a:pt x="0" y="0"/>
                  </a:moveTo>
                  <a:lnTo>
                    <a:pt x="598932" y="0"/>
                  </a:lnTo>
                  <a:lnTo>
                    <a:pt x="598932" y="526412"/>
                  </a:lnTo>
                  <a:lnTo>
                    <a:pt x="0" y="5264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720" tIns="0" rIns="0" bIns="0" numCol="1" spcCol="1270" anchor="t" anchorCtr="0">
              <a:noAutofit/>
            </a:bodyPr>
            <a:lstStyle/>
            <a:p>
              <a:pPr lvl="0" algn="l"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S</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sp>
          <p:nvSpPr>
            <p:cNvPr id="22" name="Oval 21"/>
            <p:cNvSpPr/>
            <p:nvPr/>
          </p:nvSpPr>
          <p:spPr>
            <a:xfrm>
              <a:off x="2848355" y="4962461"/>
              <a:ext cx="164592" cy="164592"/>
            </a:xfrm>
            <a:prstGeom prst="ellipse">
              <a:avLst/>
            </a:prstGeom>
          </p:spPr>
          <p:style>
            <a:lnRef idx="2">
              <a:schemeClr val="lt1">
                <a:hueOff val="0"/>
                <a:satOff val="0"/>
                <a:lumOff val="0"/>
                <a:alphaOff val="0"/>
              </a:schemeClr>
            </a:lnRef>
            <a:fillRef idx="1">
              <a:schemeClr val="accent5">
                <a:hueOff val="-774129"/>
                <a:satOff val="7761"/>
                <a:lumOff val="-5392"/>
                <a:alphaOff val="0"/>
              </a:schemeClr>
            </a:fillRef>
            <a:effectRef idx="0">
              <a:schemeClr val="accent5">
                <a:hueOff val="-774129"/>
                <a:satOff val="7761"/>
                <a:lumOff val="-5392"/>
                <a:alphaOff val="0"/>
              </a:schemeClr>
            </a:effectRef>
            <a:fontRef idx="minor">
              <a:schemeClr val="lt1"/>
            </a:fontRef>
          </p:style>
        </p:sp>
        <p:sp>
          <p:nvSpPr>
            <p:cNvPr id="23" name="Freeform 22"/>
            <p:cNvSpPr/>
            <p:nvPr/>
          </p:nvSpPr>
          <p:spPr>
            <a:xfrm>
              <a:off x="2930651" y="5181602"/>
              <a:ext cx="758952" cy="923603"/>
            </a:xfrm>
            <a:custGeom>
              <a:avLst/>
              <a:gdLst>
                <a:gd name="connsiteX0" fmla="*/ 0 w 758952"/>
                <a:gd name="connsiteY0" fmla="*/ 0 h 923603"/>
                <a:gd name="connsiteX1" fmla="*/ 758952 w 758952"/>
                <a:gd name="connsiteY1" fmla="*/ 0 h 923603"/>
                <a:gd name="connsiteX2" fmla="*/ 758952 w 758952"/>
                <a:gd name="connsiteY2" fmla="*/ 923603 h 923603"/>
                <a:gd name="connsiteX3" fmla="*/ 0 w 758952"/>
                <a:gd name="connsiteY3" fmla="*/ 923603 h 923603"/>
                <a:gd name="connsiteX4" fmla="*/ 0 w 758952"/>
                <a:gd name="connsiteY4" fmla="*/ 0 h 923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952" h="923603">
                  <a:moveTo>
                    <a:pt x="0" y="0"/>
                  </a:moveTo>
                  <a:lnTo>
                    <a:pt x="758952" y="0"/>
                  </a:lnTo>
                  <a:lnTo>
                    <a:pt x="758952" y="923603"/>
                  </a:lnTo>
                  <a:lnTo>
                    <a:pt x="0" y="923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7214" tIns="0" rIns="0" bIns="0" numCol="1" spcCol="1270" anchor="t" anchorCtr="0">
              <a:noAutofit/>
            </a:bodyPr>
            <a:lstStyle/>
            <a:p>
              <a:pPr lvl="0" algn="l"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M</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sp>
          <p:nvSpPr>
            <p:cNvPr id="24" name="Oval 23"/>
            <p:cNvSpPr/>
            <p:nvPr/>
          </p:nvSpPr>
          <p:spPr>
            <a:xfrm>
              <a:off x="3579876" y="4526407"/>
              <a:ext cx="219456" cy="219456"/>
            </a:xfrm>
            <a:prstGeom prst="ellipse">
              <a:avLst/>
            </a:pr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sp>
        <p:sp>
          <p:nvSpPr>
            <p:cNvPr id="25" name="Freeform 24"/>
            <p:cNvSpPr/>
            <p:nvPr/>
          </p:nvSpPr>
          <p:spPr>
            <a:xfrm>
              <a:off x="3689604" y="4800596"/>
              <a:ext cx="882396" cy="1276991"/>
            </a:xfrm>
            <a:custGeom>
              <a:avLst/>
              <a:gdLst>
                <a:gd name="connsiteX0" fmla="*/ 0 w 882396"/>
                <a:gd name="connsiteY0" fmla="*/ 0 h 1276991"/>
                <a:gd name="connsiteX1" fmla="*/ 882396 w 882396"/>
                <a:gd name="connsiteY1" fmla="*/ 0 h 1276991"/>
                <a:gd name="connsiteX2" fmla="*/ 882396 w 882396"/>
                <a:gd name="connsiteY2" fmla="*/ 1276991 h 1276991"/>
                <a:gd name="connsiteX3" fmla="*/ 0 w 882396"/>
                <a:gd name="connsiteY3" fmla="*/ 1276991 h 1276991"/>
                <a:gd name="connsiteX4" fmla="*/ 0 w 882396"/>
                <a:gd name="connsiteY4" fmla="*/ 0 h 127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396" h="1276991">
                  <a:moveTo>
                    <a:pt x="0" y="0"/>
                  </a:moveTo>
                  <a:lnTo>
                    <a:pt x="882396" y="0"/>
                  </a:lnTo>
                  <a:lnTo>
                    <a:pt x="882396" y="1276991"/>
                  </a:lnTo>
                  <a:lnTo>
                    <a:pt x="0" y="12769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6285" tIns="0" rIns="0" bIns="0" numCol="1" spcCol="1270" anchor="t" anchorCtr="0">
              <a:noAutofit/>
            </a:bodyPr>
            <a:lstStyle/>
            <a:p>
              <a:pPr lvl="0" algn="l"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A</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sp>
          <p:nvSpPr>
            <p:cNvPr id="26" name="Oval 25"/>
            <p:cNvSpPr/>
            <p:nvPr/>
          </p:nvSpPr>
          <p:spPr>
            <a:xfrm>
              <a:off x="4430268" y="4185793"/>
              <a:ext cx="283464" cy="283464"/>
            </a:xfrm>
            <a:prstGeom prst="ellipse">
              <a:avLst/>
            </a:prstGeom>
          </p:spPr>
          <p:style>
            <a:lnRef idx="2">
              <a:schemeClr val="lt1">
                <a:hueOff val="0"/>
                <a:satOff val="0"/>
                <a:lumOff val="0"/>
                <a:alphaOff val="0"/>
              </a:schemeClr>
            </a:lnRef>
            <a:fillRef idx="1">
              <a:schemeClr val="accent5">
                <a:hueOff val="-2322388"/>
                <a:satOff val="23283"/>
                <a:lumOff val="-16177"/>
                <a:alphaOff val="0"/>
              </a:schemeClr>
            </a:fillRef>
            <a:effectRef idx="0">
              <a:schemeClr val="accent5">
                <a:hueOff val="-2322388"/>
                <a:satOff val="23283"/>
                <a:lumOff val="-16177"/>
                <a:alphaOff val="0"/>
              </a:schemeClr>
            </a:effectRef>
            <a:fontRef idx="minor">
              <a:schemeClr val="lt1"/>
            </a:fontRef>
          </p:style>
        </p:sp>
        <p:sp>
          <p:nvSpPr>
            <p:cNvPr id="27" name="Freeform 26"/>
            <p:cNvSpPr/>
            <p:nvPr/>
          </p:nvSpPr>
          <p:spPr>
            <a:xfrm>
              <a:off x="4572000" y="4572000"/>
              <a:ext cx="914400" cy="1425574"/>
            </a:xfrm>
            <a:custGeom>
              <a:avLst/>
              <a:gdLst>
                <a:gd name="connsiteX0" fmla="*/ 0 w 914400"/>
                <a:gd name="connsiteY0" fmla="*/ 0 h 1425574"/>
                <a:gd name="connsiteX1" fmla="*/ 914400 w 914400"/>
                <a:gd name="connsiteY1" fmla="*/ 0 h 1425574"/>
                <a:gd name="connsiteX2" fmla="*/ 914400 w 914400"/>
                <a:gd name="connsiteY2" fmla="*/ 1425574 h 1425574"/>
                <a:gd name="connsiteX3" fmla="*/ 0 w 914400"/>
                <a:gd name="connsiteY3" fmla="*/ 1425574 h 1425574"/>
                <a:gd name="connsiteX4" fmla="*/ 0 w 914400"/>
                <a:gd name="connsiteY4" fmla="*/ 0 h 142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 h="1425574">
                  <a:moveTo>
                    <a:pt x="0" y="0"/>
                  </a:moveTo>
                  <a:lnTo>
                    <a:pt x="914400" y="0"/>
                  </a:lnTo>
                  <a:lnTo>
                    <a:pt x="914400" y="1425574"/>
                  </a:lnTo>
                  <a:lnTo>
                    <a:pt x="0" y="14255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0202" tIns="0" rIns="0" bIns="0" numCol="1" spcCol="1270" anchor="t" anchorCtr="0">
              <a:noAutofit/>
            </a:bodyPr>
            <a:lstStyle/>
            <a:p>
              <a:pPr lvl="0" algn="l"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R</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sp>
          <p:nvSpPr>
            <p:cNvPr id="28" name="Oval 27"/>
            <p:cNvSpPr/>
            <p:nvPr/>
          </p:nvSpPr>
          <p:spPr>
            <a:xfrm>
              <a:off x="5305806" y="3958336"/>
              <a:ext cx="361188" cy="361188"/>
            </a:xfrm>
            <a:prstGeom prst="ellipse">
              <a:avLst/>
            </a:pr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sp>
        <p:sp>
          <p:nvSpPr>
            <p:cNvPr id="29" name="Freeform 28"/>
            <p:cNvSpPr/>
            <p:nvPr/>
          </p:nvSpPr>
          <p:spPr>
            <a:xfrm>
              <a:off x="5486400" y="4419601"/>
              <a:ext cx="914400" cy="1541776"/>
            </a:xfrm>
            <a:custGeom>
              <a:avLst/>
              <a:gdLst>
                <a:gd name="connsiteX0" fmla="*/ 0 w 914400"/>
                <a:gd name="connsiteY0" fmla="*/ 0 h 1541776"/>
                <a:gd name="connsiteX1" fmla="*/ 914400 w 914400"/>
                <a:gd name="connsiteY1" fmla="*/ 0 h 1541776"/>
                <a:gd name="connsiteX2" fmla="*/ 914400 w 914400"/>
                <a:gd name="connsiteY2" fmla="*/ 1541776 h 1541776"/>
                <a:gd name="connsiteX3" fmla="*/ 0 w 914400"/>
                <a:gd name="connsiteY3" fmla="*/ 1541776 h 1541776"/>
                <a:gd name="connsiteX4" fmla="*/ 0 w 914400"/>
                <a:gd name="connsiteY4" fmla="*/ 0 h 1541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 h="1541776">
                  <a:moveTo>
                    <a:pt x="0" y="0"/>
                  </a:moveTo>
                  <a:lnTo>
                    <a:pt x="914400" y="0"/>
                  </a:lnTo>
                  <a:lnTo>
                    <a:pt x="914400" y="1541776"/>
                  </a:lnTo>
                  <a:lnTo>
                    <a:pt x="0" y="154177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1386" tIns="0" rIns="0" bIns="0" numCol="1" spcCol="1270" anchor="t" anchorCtr="0">
              <a:noAutofit/>
            </a:bodyPr>
            <a:lstStyle/>
            <a:p>
              <a:pPr lvl="0" algn="l"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T</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4.1 Submit plans for consideration by the local communities and other relevant key stakeholders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6017840" cy="3872955"/>
          </a:xfrm>
        </p:spPr>
        <p:txBody>
          <a:bodyPr>
            <a:normAutofit/>
          </a:bodyPr>
          <a:lstStyle/>
          <a:p>
            <a:pPr marL="0" indent="0" algn="ctr">
              <a:spcBef>
                <a:spcPts val="600"/>
              </a:spcBef>
              <a:spcAft>
                <a:spcPts val="1200"/>
              </a:spcAft>
              <a:buNone/>
            </a:pPr>
            <a:r>
              <a:rPr lang="en-US" sz="2200" b="1" dirty="0" smtClean="0">
                <a:latin typeface="Helvetica" pitchFamily="34" charset="0"/>
              </a:rPr>
              <a:t>They need to include KPIs</a:t>
            </a: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grpSp>
        <p:nvGrpSpPr>
          <p:cNvPr id="6" name="Group 5"/>
          <p:cNvGrpSpPr/>
          <p:nvPr/>
        </p:nvGrpSpPr>
        <p:grpSpPr>
          <a:xfrm>
            <a:off x="2627544" y="2870201"/>
            <a:ext cx="1983910" cy="3225799"/>
            <a:chOff x="2589444" y="2971800"/>
            <a:chExt cx="1983910" cy="3225799"/>
          </a:xfrm>
        </p:grpSpPr>
        <p:sp>
          <p:nvSpPr>
            <p:cNvPr id="7" name="Circular Arrow 6"/>
            <p:cNvSpPr/>
            <p:nvPr/>
          </p:nvSpPr>
          <p:spPr>
            <a:xfrm>
              <a:off x="3020691" y="2971800"/>
              <a:ext cx="1552663" cy="1552900"/>
            </a:xfrm>
            <a:prstGeom prst="circularArrow">
              <a:avLst>
                <a:gd name="adj1" fmla="val 10980"/>
                <a:gd name="adj2" fmla="val 1142322"/>
                <a:gd name="adj3" fmla="val 4500000"/>
                <a:gd name="adj4" fmla="val 10800000"/>
                <a:gd name="adj5" fmla="val 125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8" name="Freeform 7"/>
            <p:cNvSpPr/>
            <p:nvPr/>
          </p:nvSpPr>
          <p:spPr>
            <a:xfrm>
              <a:off x="3363881" y="3532444"/>
              <a:ext cx="862785" cy="431289"/>
            </a:xfrm>
            <a:custGeom>
              <a:avLst/>
              <a:gdLst>
                <a:gd name="connsiteX0" fmla="*/ 0 w 862785"/>
                <a:gd name="connsiteY0" fmla="*/ 0 h 431289"/>
                <a:gd name="connsiteX1" fmla="*/ 862785 w 862785"/>
                <a:gd name="connsiteY1" fmla="*/ 0 h 431289"/>
                <a:gd name="connsiteX2" fmla="*/ 862785 w 862785"/>
                <a:gd name="connsiteY2" fmla="*/ 431289 h 431289"/>
                <a:gd name="connsiteX3" fmla="*/ 0 w 862785"/>
                <a:gd name="connsiteY3" fmla="*/ 431289 h 431289"/>
                <a:gd name="connsiteX4" fmla="*/ 0 w 862785"/>
                <a:gd name="connsiteY4" fmla="*/ 0 h 43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785" h="431289">
                  <a:moveTo>
                    <a:pt x="0" y="0"/>
                  </a:moveTo>
                  <a:lnTo>
                    <a:pt x="862785" y="0"/>
                  </a:lnTo>
                  <a:lnTo>
                    <a:pt x="862785" y="431289"/>
                  </a:lnTo>
                  <a:lnTo>
                    <a:pt x="0" y="43128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K</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sp>
          <p:nvSpPr>
            <p:cNvPr id="9" name="Shape 8"/>
            <p:cNvSpPr/>
            <p:nvPr/>
          </p:nvSpPr>
          <p:spPr>
            <a:xfrm>
              <a:off x="2589444" y="3864056"/>
              <a:ext cx="1552663" cy="1552900"/>
            </a:xfrm>
            <a:prstGeom prst="leftCircularArrow">
              <a:avLst>
                <a:gd name="adj1" fmla="val 10980"/>
                <a:gd name="adj2" fmla="val 1142322"/>
                <a:gd name="adj3" fmla="val 6300000"/>
                <a:gd name="adj4" fmla="val 18900000"/>
                <a:gd name="adj5" fmla="val 12500"/>
              </a:avLst>
            </a:prstGeom>
          </p:spPr>
          <p:style>
            <a:lnRef idx="2">
              <a:schemeClr val="lt1">
                <a:hueOff val="0"/>
                <a:satOff val="0"/>
                <a:lumOff val="0"/>
                <a:alphaOff val="0"/>
              </a:schemeClr>
            </a:lnRef>
            <a:fillRef idx="1">
              <a:schemeClr val="accent4">
                <a:hueOff val="928412"/>
                <a:satOff val="-28205"/>
                <a:lumOff val="9314"/>
                <a:alphaOff val="0"/>
              </a:schemeClr>
            </a:fillRef>
            <a:effectRef idx="0">
              <a:schemeClr val="accent4">
                <a:hueOff val="928412"/>
                <a:satOff val="-28205"/>
                <a:lumOff val="9314"/>
                <a:alphaOff val="0"/>
              </a:schemeClr>
            </a:effectRef>
            <a:fontRef idx="minor">
              <a:schemeClr val="lt1"/>
            </a:fontRef>
          </p:style>
        </p:sp>
        <p:sp>
          <p:nvSpPr>
            <p:cNvPr id="10" name="Freeform 9"/>
            <p:cNvSpPr/>
            <p:nvPr/>
          </p:nvSpPr>
          <p:spPr>
            <a:xfrm>
              <a:off x="2934383" y="4429861"/>
              <a:ext cx="862785" cy="431289"/>
            </a:xfrm>
            <a:custGeom>
              <a:avLst/>
              <a:gdLst>
                <a:gd name="connsiteX0" fmla="*/ 0 w 862785"/>
                <a:gd name="connsiteY0" fmla="*/ 0 h 431289"/>
                <a:gd name="connsiteX1" fmla="*/ 862785 w 862785"/>
                <a:gd name="connsiteY1" fmla="*/ 0 h 431289"/>
                <a:gd name="connsiteX2" fmla="*/ 862785 w 862785"/>
                <a:gd name="connsiteY2" fmla="*/ 431289 h 431289"/>
                <a:gd name="connsiteX3" fmla="*/ 0 w 862785"/>
                <a:gd name="connsiteY3" fmla="*/ 431289 h 431289"/>
                <a:gd name="connsiteX4" fmla="*/ 0 w 862785"/>
                <a:gd name="connsiteY4" fmla="*/ 0 h 43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785" h="431289">
                  <a:moveTo>
                    <a:pt x="0" y="0"/>
                  </a:moveTo>
                  <a:lnTo>
                    <a:pt x="862785" y="0"/>
                  </a:lnTo>
                  <a:lnTo>
                    <a:pt x="862785" y="431289"/>
                  </a:lnTo>
                  <a:lnTo>
                    <a:pt x="0" y="43128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P</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sp>
          <p:nvSpPr>
            <p:cNvPr id="11" name="Block Arc 10"/>
            <p:cNvSpPr/>
            <p:nvPr/>
          </p:nvSpPr>
          <p:spPr>
            <a:xfrm>
              <a:off x="3131200" y="4863086"/>
              <a:ext cx="1333978" cy="1334513"/>
            </a:xfrm>
            <a:prstGeom prst="blockArc">
              <a:avLst>
                <a:gd name="adj1" fmla="val 13500000"/>
                <a:gd name="adj2" fmla="val 10800000"/>
                <a:gd name="adj3" fmla="val 12740"/>
              </a:avLst>
            </a:prstGeom>
          </p:spPr>
          <p:style>
            <a:lnRef idx="2">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sp>
        <p:sp>
          <p:nvSpPr>
            <p:cNvPr id="12" name="Freeform 11"/>
            <p:cNvSpPr/>
            <p:nvPr/>
          </p:nvSpPr>
          <p:spPr>
            <a:xfrm>
              <a:off x="3365922" y="5328569"/>
              <a:ext cx="862785" cy="431289"/>
            </a:xfrm>
            <a:custGeom>
              <a:avLst/>
              <a:gdLst>
                <a:gd name="connsiteX0" fmla="*/ 0 w 862785"/>
                <a:gd name="connsiteY0" fmla="*/ 0 h 431289"/>
                <a:gd name="connsiteX1" fmla="*/ 862785 w 862785"/>
                <a:gd name="connsiteY1" fmla="*/ 0 h 431289"/>
                <a:gd name="connsiteX2" fmla="*/ 862785 w 862785"/>
                <a:gd name="connsiteY2" fmla="*/ 431289 h 431289"/>
                <a:gd name="connsiteX3" fmla="*/ 0 w 862785"/>
                <a:gd name="connsiteY3" fmla="*/ 431289 h 431289"/>
                <a:gd name="connsiteX4" fmla="*/ 0 w 862785"/>
                <a:gd name="connsiteY4" fmla="*/ 0 h 43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785" h="431289">
                  <a:moveTo>
                    <a:pt x="0" y="0"/>
                  </a:moveTo>
                  <a:lnTo>
                    <a:pt x="862785" y="0"/>
                  </a:lnTo>
                  <a:lnTo>
                    <a:pt x="862785" y="431289"/>
                  </a:lnTo>
                  <a:lnTo>
                    <a:pt x="0" y="43128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AU" sz="3000" kern="1200" dirty="0" smtClean="0">
                  <a:latin typeface="Aachen" panose="02020500000000000000" pitchFamily="18" charset="0"/>
                  <a:ea typeface="Aachen" panose="02020500000000000000" pitchFamily="18" charset="0"/>
                  <a:cs typeface="Aachen" panose="02020500000000000000" pitchFamily="18" charset="0"/>
                </a:rPr>
                <a:t>I</a:t>
              </a:r>
              <a:endParaRPr lang="en-AU" sz="3000" kern="1200" dirty="0">
                <a:latin typeface="Aachen" panose="02020500000000000000" pitchFamily="18" charset="0"/>
                <a:ea typeface="Aachen" panose="02020500000000000000" pitchFamily="18" charset="0"/>
                <a:cs typeface="Aachen" panose="02020500000000000000" pitchFamily="18" charset="0"/>
              </a:endParaRPr>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4.1 Submit plans for consideration by the local communities and other relevant key stakeholders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86000"/>
            <a:ext cx="7541840" cy="4419600"/>
          </a:xfrm>
        </p:spPr>
        <p:txBody>
          <a:bodyPr>
            <a:normAutofit/>
          </a:bodyPr>
          <a:lstStyle/>
          <a:p>
            <a:pPr marL="0" indent="0">
              <a:spcBef>
                <a:spcPts val="600"/>
              </a:spcBef>
              <a:spcAft>
                <a:spcPts val="1200"/>
              </a:spcAft>
              <a:buNone/>
            </a:pPr>
            <a:r>
              <a:rPr lang="en-US" sz="2000" dirty="0" smtClean="0">
                <a:latin typeface="Helvetica" pitchFamily="34" charset="0"/>
              </a:rPr>
              <a:t>The plans need to be submitted to all previously identified stakeholders such as: </a:t>
            </a:r>
          </a:p>
          <a:p>
            <a:pPr marL="342900" indent="-342900">
              <a:spcBef>
                <a:spcPts val="600"/>
              </a:spcBef>
              <a:spcAft>
                <a:spcPts val="1200"/>
              </a:spcAft>
            </a:pPr>
            <a:r>
              <a:rPr lang="en-US" sz="2000" dirty="0" smtClean="0">
                <a:latin typeface="Helvetica" pitchFamily="34" charset="0"/>
              </a:rPr>
              <a:t>Government departments</a:t>
            </a:r>
          </a:p>
          <a:p>
            <a:pPr marL="342900" indent="-342900">
              <a:spcBef>
                <a:spcPts val="600"/>
              </a:spcBef>
              <a:spcAft>
                <a:spcPts val="1200"/>
              </a:spcAft>
            </a:pPr>
            <a:r>
              <a:rPr lang="en-US" sz="2000" dirty="0" smtClean="0">
                <a:latin typeface="Helvetica" pitchFamily="34" charset="0"/>
              </a:rPr>
              <a:t>Tourism operators</a:t>
            </a:r>
          </a:p>
          <a:p>
            <a:pPr marL="342900" indent="-342900">
              <a:spcBef>
                <a:spcPts val="600"/>
              </a:spcBef>
              <a:spcAft>
                <a:spcPts val="1200"/>
              </a:spcAft>
            </a:pPr>
            <a:r>
              <a:rPr lang="en-US" sz="2000" dirty="0" smtClean="0">
                <a:latin typeface="Helvetica" pitchFamily="34" charset="0"/>
              </a:rPr>
              <a:t>Industry associations</a:t>
            </a:r>
          </a:p>
          <a:p>
            <a:pPr marL="342900" indent="-342900">
              <a:spcBef>
                <a:spcPts val="600"/>
              </a:spcBef>
              <a:spcAft>
                <a:spcPts val="1200"/>
              </a:spcAft>
            </a:pPr>
            <a:r>
              <a:rPr lang="en-US" sz="2000" dirty="0" smtClean="0">
                <a:latin typeface="Helvetica" pitchFamily="34" charset="0"/>
              </a:rPr>
              <a:t>Environment groups</a:t>
            </a:r>
          </a:p>
          <a:p>
            <a:pPr marL="342900" indent="-342900">
              <a:spcBef>
                <a:spcPts val="600"/>
              </a:spcBef>
              <a:spcAft>
                <a:spcPts val="1200"/>
              </a:spcAft>
            </a:pPr>
            <a:r>
              <a:rPr lang="en-US" sz="2000" dirty="0" smtClean="0">
                <a:latin typeface="Helvetica" pitchFamily="34" charset="0"/>
              </a:rPr>
              <a:t>Local operators</a:t>
            </a:r>
          </a:p>
          <a:p>
            <a:pPr marL="342900" indent="-342900">
              <a:spcBef>
                <a:spcPts val="600"/>
              </a:spcBef>
              <a:spcAft>
                <a:spcPts val="1200"/>
              </a:spcAft>
            </a:pPr>
            <a:r>
              <a:rPr lang="en-US" sz="2000" dirty="0" smtClean="0">
                <a:latin typeface="Helvetica" pitchFamily="34" charset="0"/>
              </a:rPr>
              <a:t>Local community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3886200"/>
            <a:ext cx="2342574" cy="1601347"/>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4.1 Submit plans for consideration by the local communities and other relevant key stakeholders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362200"/>
            <a:ext cx="7467600" cy="3962400"/>
          </a:xfrm>
        </p:spPr>
        <p:txBody>
          <a:bodyPr>
            <a:normAutofit/>
          </a:bodyPr>
          <a:lstStyle/>
          <a:p>
            <a:pPr marL="360000" indent="-360000">
              <a:spcBef>
                <a:spcPts val="600"/>
              </a:spcBef>
              <a:spcAft>
                <a:spcPts val="1200"/>
              </a:spcAft>
            </a:pPr>
            <a:r>
              <a:rPr lang="en-US" sz="2200" dirty="0" smtClean="0">
                <a:latin typeface="Helvetica" pitchFamily="34" charset="0"/>
              </a:rPr>
              <a:t>The plans need to be clearly explained</a:t>
            </a:r>
          </a:p>
          <a:p>
            <a:pPr marL="360000" indent="-360000">
              <a:spcBef>
                <a:spcPts val="600"/>
              </a:spcBef>
              <a:spcAft>
                <a:spcPts val="1200"/>
              </a:spcAft>
            </a:pPr>
            <a:r>
              <a:rPr lang="en-US" sz="2200" dirty="0" smtClean="0">
                <a:latin typeface="Helvetica" pitchFamily="34" charset="0"/>
              </a:rPr>
              <a:t>The host organisation needs to defend the selected proposed tourism opportunities</a:t>
            </a:r>
          </a:p>
          <a:p>
            <a:pPr marL="360000" indent="-360000">
              <a:spcBef>
                <a:spcPts val="600"/>
              </a:spcBef>
              <a:spcAft>
                <a:spcPts val="1200"/>
              </a:spcAft>
            </a:pPr>
            <a:r>
              <a:rPr lang="en-US" sz="2200" dirty="0" smtClean="0">
                <a:latin typeface="Helvetica" pitchFamily="34" charset="0"/>
              </a:rPr>
              <a:t>New issues identified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3200" y="3733800"/>
            <a:ext cx="1905000" cy="19050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4.1 Submit plans for consideration by the local communities and other relevant key stakeholders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514600"/>
            <a:ext cx="7467600" cy="3568155"/>
          </a:xfrm>
        </p:spPr>
        <p:txBody>
          <a:bodyPr>
            <a:normAutofit/>
          </a:bodyPr>
          <a:lstStyle/>
          <a:p>
            <a:pPr marL="360000" indent="-360000">
              <a:spcBef>
                <a:spcPts val="600"/>
              </a:spcBef>
              <a:spcAft>
                <a:spcPts val="1200"/>
              </a:spcAft>
            </a:pPr>
            <a:r>
              <a:rPr lang="en-US" sz="2200" dirty="0" smtClean="0">
                <a:latin typeface="Helvetica" pitchFamily="34" charset="0"/>
              </a:rPr>
              <a:t>Implementation phase needs to be discussed</a:t>
            </a:r>
          </a:p>
          <a:p>
            <a:pPr marL="360000" indent="-360000">
              <a:spcBef>
                <a:spcPts val="600"/>
              </a:spcBef>
              <a:spcAft>
                <a:spcPts val="1200"/>
              </a:spcAft>
            </a:pPr>
            <a:r>
              <a:rPr lang="en-US" sz="2200" dirty="0" smtClean="0">
                <a:latin typeface="Helvetica" pitchFamily="34" charset="0"/>
              </a:rPr>
              <a:t>Feedback needs to be solicited and recorded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19400" y="3733800"/>
            <a:ext cx="2286000" cy="228600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19944"/>
          </a:xfrm>
        </p:spPr>
        <p:txBody>
          <a:bodyPr>
            <a:noAutofit/>
          </a:bodyPr>
          <a:lstStyle/>
          <a:p>
            <a:r>
              <a:rPr lang="en-US" sz="2800" b="1" dirty="0" smtClean="0">
                <a:solidFill>
                  <a:srgbClr val="FF6600"/>
                </a:solidFill>
                <a:latin typeface="Helvetica" pitchFamily="34" charset="0"/>
              </a:rPr>
              <a:t>E4 Present draft plans</a:t>
            </a:r>
            <a:br>
              <a:rPr lang="en-US" sz="2800" b="1" dirty="0" smtClean="0">
                <a:solidFill>
                  <a:srgbClr val="FF6600"/>
                </a:solidFill>
                <a:latin typeface="Helvetica" pitchFamily="34" charset="0"/>
              </a:rPr>
            </a:br>
            <a:r>
              <a:rPr lang="en-US" sz="2800" b="1" dirty="0" smtClean="0">
                <a:solidFill>
                  <a:srgbClr val="FF6600"/>
                </a:solidFill>
                <a:latin typeface="Helvetica" pitchFamily="34" charset="0"/>
              </a:rPr>
              <a:t>4.2 Amend plans on the basis on feedback received</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209800"/>
            <a:ext cx="7467600" cy="3872955"/>
          </a:xfrm>
        </p:spPr>
        <p:txBody>
          <a:bodyPr>
            <a:normAutofit/>
          </a:bodyPr>
          <a:lstStyle/>
          <a:p>
            <a:pPr marL="360000" indent="-360000">
              <a:spcBef>
                <a:spcPts val="600"/>
              </a:spcBef>
              <a:spcAft>
                <a:spcPts val="1200"/>
              </a:spcAft>
            </a:pPr>
            <a:r>
              <a:rPr lang="en-US" sz="2200" dirty="0" smtClean="0">
                <a:latin typeface="Helvetica" pitchFamily="34" charset="0"/>
              </a:rPr>
              <a:t>Critical point: address every issue</a:t>
            </a:r>
          </a:p>
          <a:p>
            <a:pPr marL="360000" indent="-360000">
              <a:spcBef>
                <a:spcPts val="600"/>
              </a:spcBef>
              <a:spcAft>
                <a:spcPts val="1200"/>
              </a:spcAft>
            </a:pPr>
            <a:r>
              <a:rPr lang="en-US" sz="2200" dirty="0" smtClean="0">
                <a:latin typeface="Helvetica" pitchFamily="34" charset="0"/>
              </a:rPr>
              <a:t>Take positive action in revising the plans </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2200" y="3505200"/>
            <a:ext cx="2209800" cy="22098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E4 Present draft plans</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4.3 Re-present plans for approval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1200"/>
            <a:ext cx="7467600" cy="4101555"/>
          </a:xfrm>
        </p:spPr>
        <p:txBody>
          <a:bodyPr>
            <a:normAutofit/>
          </a:bodyPr>
          <a:lstStyle/>
          <a:p>
            <a:pPr marL="360000" indent="-360000">
              <a:spcBef>
                <a:spcPts val="600"/>
              </a:spcBef>
              <a:spcAft>
                <a:spcPts val="1200"/>
              </a:spcAft>
            </a:pPr>
            <a:r>
              <a:rPr lang="en-US" sz="2200" dirty="0" smtClean="0">
                <a:latin typeface="Helvetica" pitchFamily="34" charset="0"/>
              </a:rPr>
              <a:t>Official approval:</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National level</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State level</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Local level</a:t>
            </a:r>
          </a:p>
          <a:p>
            <a:pPr marL="360000" indent="-360000">
              <a:spcBef>
                <a:spcPts val="600"/>
              </a:spcBef>
              <a:spcAft>
                <a:spcPts val="1200"/>
              </a:spcAft>
            </a:pPr>
            <a:r>
              <a:rPr lang="en-US" sz="2200" dirty="0" smtClean="0">
                <a:latin typeface="Helvetica" pitchFamily="34" charset="0"/>
              </a:rPr>
              <a:t>Community approval</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6200" y="2362200"/>
            <a:ext cx="3048000" cy="1898904"/>
          </a:xfrm>
          <a:prstGeom prst="rect">
            <a:avLst/>
          </a:prstGeom>
        </p:spPr>
      </p:pic>
    </p:spTree>
  </p:cSld>
  <p:clrMapOvr>
    <a:masterClrMapping/>
  </p:clrMapOvr>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1878</TotalTime>
  <Words>11401</Words>
  <Application>Microsoft Office PowerPoint</Application>
  <PresentationFormat>On-screen Show (4:3)</PresentationFormat>
  <Paragraphs>1385</Paragraphs>
  <Slides>129</Slides>
  <Notes>129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129</vt:i4>
      </vt:variant>
    </vt:vector>
  </HeadingPairs>
  <TitlesOfParts>
    <vt:vector size="138" baseType="lpstr">
      <vt:lpstr>Aachen</vt:lpstr>
      <vt:lpstr>Arial</vt:lpstr>
      <vt:lpstr>Calibri</vt:lpstr>
      <vt:lpstr>Franklin Gothic Book</vt:lpstr>
      <vt:lpstr>Helevetica</vt:lpstr>
      <vt:lpstr>Helvetica</vt:lpstr>
      <vt:lpstr>Wingdings</vt:lpstr>
      <vt:lpstr>Wingdings 2</vt:lpstr>
      <vt:lpstr>PPT_Tour_operation_&amp;_travel_agencies_template_130214</vt:lpstr>
      <vt:lpstr>ASSESS AND PLAN TOURISM OPPORTUNITIES FOR LOCAL COMMUNITIES</vt:lpstr>
      <vt:lpstr>Assess and plan tourism opportunities for local communities </vt:lpstr>
      <vt:lpstr>Assess and plan tourism opportunities for local communities </vt:lpstr>
      <vt:lpstr>Assess and plan tourism opportunities for local communities </vt:lpstr>
      <vt:lpstr>Element 1 Research local tourism opportunities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1.1 Consult with the local community to obtain involvement and input </vt:lpstr>
      <vt:lpstr>E1 Research local tourism opportunities   1.2 Identify possible tourism opportunities for local communities </vt:lpstr>
      <vt:lpstr>E1 Research local tourism opportunities   1.2 Identify possible tourism opportunities for local communities </vt:lpstr>
      <vt:lpstr>E1 Research local tourism opportunities   1.2 Identify possible tourism opportunities for local communities </vt:lpstr>
      <vt:lpstr>E1 Research local tourism opportunities   1.2 Identify possible tourism opportunities for local communities </vt:lpstr>
      <vt:lpstr>E1 Research local tourism opportunities   1.2 Identify possible tourism opportunities for local communities </vt:lpstr>
      <vt:lpstr>E1 Research local tourism opportunities   1.2 Identify possible tourism opportunities for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1.3 Identify research needs for the local communities </vt:lpstr>
      <vt:lpstr>E1 Research local tourism opportunities   1.4 Conduct research on general tourism  data and trends </vt:lpstr>
      <vt:lpstr>E1 Research local tourism opportunities   1.4 Conduct research on general tourism  data and trends </vt:lpstr>
      <vt:lpstr>E1 Research local tourism opportunities   1.4 Conduct research on general tourism  data and trends </vt:lpstr>
      <vt:lpstr>E1 Research local tourism opportunities   1.4 Conduct research on general tourism  data and trends </vt:lpstr>
      <vt:lpstr>E1 Research local tourism opportunities   1.4 Conduct research on general tourism  data and trends </vt:lpstr>
      <vt:lpstr>E1 Research local tourism opportunities   1.4 Conduct research on general tourism  data and trends </vt:lpstr>
      <vt:lpstr>E1 Research local tourism opportunities   1.4 Conduct research on general tourism  data and trends </vt:lpstr>
      <vt:lpstr>E1 Research local tourism opportunities   1.4 Conduct research on general tourism  data and trends </vt:lpstr>
      <vt:lpstr>E1 Research local tourism opportunities   1.4 Conduct research on general tourism  data and trends </vt:lpstr>
      <vt:lpstr>E1 Research local tourism opportunities   1.5 Conduct research on the local area and communities </vt:lpstr>
      <vt:lpstr>E1 Research local tourism opportunities   1.5 Conduct research on the local area and communities </vt:lpstr>
      <vt:lpstr>E1 Research local tourism opportunities   1.5 Conduct research on the local area and communities </vt:lpstr>
      <vt:lpstr>E1 Research local tourism opportunities   1.5 Conduct research on the local area and communities </vt:lpstr>
      <vt:lpstr>E1 Research local tourism opportunities   1.5 Conduct research on the local area and communities </vt:lpstr>
      <vt:lpstr>E1 Research local tourism opportunities   1.5 Conduct research on the local area and communities </vt:lpstr>
      <vt:lpstr>E1 Research local tourism opportunities   1.5 Conduct research on the local area and communities </vt:lpstr>
      <vt:lpstr>E1 Research local tourism opportunities   1.5 Conduct research on the local area and communities </vt:lpstr>
      <vt:lpstr>Element 2 Interpret research results  </vt:lpstr>
      <vt:lpstr>E2 Interpret research results 2.1 Analyse the information collected from all sources  </vt:lpstr>
      <vt:lpstr>E2 Interpret research results 2.1 Analyse the information collected from all sources  </vt:lpstr>
      <vt:lpstr>E2 Interpret research results 2.1 Analyse the information collected from all sources  </vt:lpstr>
      <vt:lpstr>E2 Interpret research results 2.1 Analyse the information collected from all sources  </vt:lpstr>
      <vt:lpstr>E2 Interpret research results 2.1 Analyse the information collected from all sources  </vt:lpstr>
      <vt:lpstr>E2 Interpret research results 2.2 Identify impacts of the research  </vt:lpstr>
      <vt:lpstr>E2 Interpret research results 2.2 Identify impacts of the research  </vt:lpstr>
      <vt:lpstr>E2 Interpret research results 2.2 Identify impacts of the research  </vt:lpstr>
      <vt:lpstr>E2 Interpret research results 2.3 Communicate research results to stakeholders  </vt:lpstr>
      <vt:lpstr>E2 Interpret research results 2.3 Communicate research results to stakeholders  </vt:lpstr>
      <vt:lpstr>E2 Interpret research results 2.3 Communicate research results to stakeholders  </vt:lpstr>
      <vt:lpstr>E2 Interpret research results 2.3 Communicate research results to stakeholders  </vt:lpstr>
      <vt:lpstr>E2 Interpret research results 2.4 Use research results and feedback to guide future actions  </vt:lpstr>
      <vt:lpstr>E2 Interpret research results 2.4 Use research results and feedback to guide future actions  </vt:lpstr>
      <vt:lpstr>E2 Interpret research results 2.4 Use research results and feedback to guide future actions  </vt:lpstr>
      <vt:lpstr>E2 Interpret research results 2.4 Use research results and feedback to guide future actions  </vt:lpstr>
      <vt:lpstr>E2 Interpret research results 2.4 Use research results and feedback to guide future actions  </vt:lpstr>
      <vt:lpstr>E2 Interpret research results 2.5 Confirm tourism opportunities to be pursued with the local communities and relevant stakeholders  </vt:lpstr>
      <vt:lpstr>E2 Interpret research results 2.5 Confirm tourism opportunities to be pursued with the local communities and relevant stakeholders  </vt:lpstr>
      <vt:lpstr>E2 Interpret research results 2.5 Confirm tourism opportunities to be pursued with the local communities and relevant stakeholders  </vt:lpstr>
      <vt:lpstr>E2 Interpret research results 2.5 Confirm tourism opportunities to be pursued with the local communities and relevant stakeholders  </vt:lpstr>
      <vt:lpstr>E2 Interpret research results 2.5 Confirm tourism opportunities to be pursued with the local communities and relevant stakeholders  </vt:lpstr>
      <vt:lpstr>Element 3 – Prepare formal draft plans </vt:lpstr>
      <vt:lpstr>Element 3 – Prepare formal draft plans  </vt:lpstr>
      <vt:lpstr>E3 Prepare formal draft plans   3.1 Seek assistance from external experts and relevant personnel </vt:lpstr>
      <vt:lpstr>E3 Prepare formal draft plans   3.1 Seek assistance from external experts and relevant personnel </vt:lpstr>
      <vt:lpstr>E3 Prepare formal draft plans   3.2 Ensure draft reflect community interests and concerns </vt:lpstr>
      <vt:lpstr>E3 Prepare formal draft plans   3.2 Ensure draft reflect community interests and concerns </vt:lpstr>
      <vt:lpstr>E3 Prepare formal draft plans   3.2 Ensure draft reflect community interests and concerns </vt:lpstr>
      <vt:lpstr>E3 Prepare formal draft plans   3.3 Ensure draft reflect business plan and direction of host enterprise </vt:lpstr>
      <vt:lpstr>E3 Prepare formal draft plans   3.3 Ensure draft reflect business plan and direction of host enterprise </vt:lpstr>
      <vt:lpstr>E3 Prepare formal draft plans   3.3 Ensure draft reflect business plan and direction of host enterprise </vt:lpstr>
      <vt:lpstr>E3 Prepare formal draft plans   3.3 Ensure draft reflect business plan and direction of host enterprise </vt:lpstr>
      <vt:lpstr>E3 Prepare formal draft plans   3.3 Ensure draft reflect business plan and direction of host enterprise </vt:lpstr>
      <vt:lpstr>E3 Prepare formal draft plans   3.3 Ensure draft reflect business plan and direction of host enterprise </vt:lpstr>
      <vt:lpstr>E3 Prepare formal draft plans   3.4 Identify training needs and training delivery methodologies</vt:lpstr>
      <vt:lpstr>E3 Prepare formal draft plans   3.4 Identify training needs and training delivery methodologies</vt:lpstr>
      <vt:lpstr>E3 Prepare formal draft plans   3.4 Identify training needs and training delivery methodologies</vt:lpstr>
      <vt:lpstr>E3 Prepare formal draft plans   3.4 Identify training needs and training delivery methodologies</vt:lpstr>
      <vt:lpstr>E3 Prepare formal draft plans   3.5 Identify physical infrastructure needs for the local communities and host enterprise</vt:lpstr>
      <vt:lpstr>E3 Prepare formal draft plans   3.5 Identify physical infrastructure needs for the local communities and host enterprise</vt:lpstr>
      <vt:lpstr>E3 Prepare formal draft plans   3.5 Identify physical infrastructure needs for the local communities and host enterprise</vt:lpstr>
      <vt:lpstr>E3 Prepare formal draft plans   3.5 Identify physical infrastructure needs for the local communities and host enterprise</vt:lpstr>
      <vt:lpstr>E3 Prepare formal draft plans   3.5 Identify physical infrastructure needs for the local communities and host enterprise</vt:lpstr>
      <vt:lpstr>E3 Prepare formal draft plans   3.6 Identify resources that need to be supplied to the local communities to facilitate implementation of plans</vt:lpstr>
      <vt:lpstr>E3 Prepare formal draft plans   3.6 Identify resources that need to be supplied to the local communities to facilitate implementation of plans</vt:lpstr>
      <vt:lpstr>E3 Prepare formal draft plans   3.6 Identify resources that need to be supplied to the local communities to facilitate implementation of plans</vt:lpstr>
      <vt:lpstr>E3 Prepare formal draft plans   3.6 Identify resources that need to be supplied to the local communities to facilitate implementation of plans</vt:lpstr>
      <vt:lpstr>E3 Prepare formal draft plans   3.6 Identify resources that need to be supplied to the local communities to facilitate implementation of plans</vt:lpstr>
      <vt:lpstr>E3 Prepare formal draft plans   3.6 Identify resources that need to be supplied to the local communities to facilitate implementation of plans</vt:lpstr>
      <vt:lpstr>E3 Prepare formal draft plans   3.6 Identify resources that need to be supplied to the local communities to facilitate implementation of plans</vt:lpstr>
      <vt:lpstr>E3 Prepare formal draft plans   3.6 Identify resources that need to be supplied to the local communities to facilitate implementation of plans</vt:lpstr>
      <vt:lpstr>E3 Prepare formal draft plans   3.7 Incorporate the environmental, social, cultural and economic interests of the local communities into the plans 3.8 Ensure the plans are culturally and environmentally sensitive </vt:lpstr>
      <vt:lpstr>E3 Prepare formal draft plans   3.7 Incorporate the environmental, social, cultural and economic interests of the local communities into the plans 3.8 Ensure the plans are culturally and environmentally sensitive </vt:lpstr>
      <vt:lpstr>E3 Prepare formal draft plans   3.7 Incorporate the environmental, social, cultural and economic interests of the local communities into the plans 3.8 Ensure the plans are culturally and environmentally sensitive </vt:lpstr>
      <vt:lpstr>E3 Prepare formal draft plans   3.7 Incorporate the environmental, social, cultural and economic interests of the local communities into the plans 3.8 Ensure the plans are culturally and environmentally sensitive </vt:lpstr>
      <vt:lpstr>E3 Prepare formal draft plans   3.9 Maintain on going consultation throughout the planning process</vt:lpstr>
      <vt:lpstr>E3 Prepare formal draft plans   3.9 Maintain on going consultation throughout the planning process</vt:lpstr>
      <vt:lpstr>E3 Prepare formal draft plans   3.10 Develop a clear strategic and tactical focus for plans that are made</vt:lpstr>
      <vt:lpstr>E3 Prepare formal draft plans   3.10 Develop a clear strategic and tactical focus for plans that are made</vt:lpstr>
      <vt:lpstr>Element 4 Present draft plans  </vt:lpstr>
      <vt:lpstr>E4 Present draft plans 4.1 Submit plans for consideration by the local communities and other relevant key stakeholders</vt:lpstr>
      <vt:lpstr>E4 Present draft plans 4.1 Submit plans for consideration by the local communities and other relevant key stakeholders</vt:lpstr>
      <vt:lpstr>E4 Present draft plans 4.1 Submit plans for consideration by the local communities and other relevant key stakeholders</vt:lpstr>
      <vt:lpstr>E4 Present draft plans 4.1 Submit plans for consideration by the local communities and other relevant key stakeholders</vt:lpstr>
      <vt:lpstr>E4 Present draft plans 4.1 Submit plans for consideration by the local communities and other relevant key stakeholders</vt:lpstr>
      <vt:lpstr>E4 Present draft plans 4.1 Submit plans for consideration by the local communities and other relevant key stakeholders</vt:lpstr>
      <vt:lpstr>E4 Present draft plans 4.1 Submit plans for consideration by the local communities and other relevant key stakeholders</vt:lpstr>
      <vt:lpstr>E4 Present draft plans 4.2 Amend plans on the basis on feedback received</vt:lpstr>
      <vt:lpstr>E4 Present draft plans 4.3 Re-present plans for approval</vt:lpstr>
    </vt:vector>
  </TitlesOfParts>
  <Company>SINGOV</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Daniel James Chee</dc:creator>
  <cp:lastModifiedBy>Carla Angelica Co</cp:lastModifiedBy>
  <cp:revision>185</cp:revision>
  <dcterms:created xsi:type="dcterms:W3CDTF">2014-06-22T00:35:18Z</dcterms:created>
  <dcterms:modified xsi:type="dcterms:W3CDTF">2016-07-18T07:19:56Z</dcterms:modified>
</cp:coreProperties>
</file>