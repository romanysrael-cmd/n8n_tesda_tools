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44"/>
  </p:notesMasterIdLst>
  <p:handoutMasterIdLst>
    <p:handoutMasterId r:id="rId245"/>
  </p:handoutMasterIdLst>
  <p:sldIdLst>
    <p:sldId id="256" r:id="rId2"/>
    <p:sldId id="257" r:id="rId3"/>
    <p:sldId id="258" r:id="rId4"/>
    <p:sldId id="259" r:id="rId5"/>
    <p:sldId id="261" r:id="rId6"/>
    <p:sldId id="262" r:id="rId7"/>
    <p:sldId id="263" r:id="rId8"/>
    <p:sldId id="260" r:id="rId9"/>
    <p:sldId id="264" r:id="rId10"/>
    <p:sldId id="265" r:id="rId11"/>
    <p:sldId id="266" r:id="rId12"/>
    <p:sldId id="267" r:id="rId13"/>
    <p:sldId id="268" r:id="rId14"/>
    <p:sldId id="269" r:id="rId15"/>
    <p:sldId id="282" r:id="rId16"/>
    <p:sldId id="287" r:id="rId17"/>
    <p:sldId id="283" r:id="rId18"/>
    <p:sldId id="288" r:id="rId19"/>
    <p:sldId id="297" r:id="rId20"/>
    <p:sldId id="298" r:id="rId21"/>
    <p:sldId id="284" r:id="rId22"/>
    <p:sldId id="299" r:id="rId23"/>
    <p:sldId id="300" r:id="rId24"/>
    <p:sldId id="301" r:id="rId25"/>
    <p:sldId id="302" r:id="rId26"/>
    <p:sldId id="303" r:id="rId27"/>
    <p:sldId id="304" r:id="rId28"/>
    <p:sldId id="305" r:id="rId29"/>
    <p:sldId id="306" r:id="rId30"/>
    <p:sldId id="307" r:id="rId31"/>
    <p:sldId id="308" r:id="rId32"/>
    <p:sldId id="309" r:id="rId33"/>
    <p:sldId id="310" r:id="rId34"/>
    <p:sldId id="311" r:id="rId35"/>
    <p:sldId id="313" r:id="rId36"/>
    <p:sldId id="314" r:id="rId37"/>
    <p:sldId id="315" r:id="rId38"/>
    <p:sldId id="316" r:id="rId39"/>
    <p:sldId id="285" r:id="rId40"/>
    <p:sldId id="317" r:id="rId41"/>
    <p:sldId id="318" r:id="rId42"/>
    <p:sldId id="319" r:id="rId43"/>
    <p:sldId id="320" r:id="rId44"/>
    <p:sldId id="321" r:id="rId45"/>
    <p:sldId id="335" r:id="rId46"/>
    <p:sldId id="336" r:id="rId47"/>
    <p:sldId id="337" r:id="rId48"/>
    <p:sldId id="338" r:id="rId49"/>
    <p:sldId id="339" r:id="rId50"/>
    <p:sldId id="322" r:id="rId51"/>
    <p:sldId id="323" r:id="rId52"/>
    <p:sldId id="324" r:id="rId53"/>
    <p:sldId id="325" r:id="rId54"/>
    <p:sldId id="326" r:id="rId55"/>
    <p:sldId id="327" r:id="rId56"/>
    <p:sldId id="328" r:id="rId57"/>
    <p:sldId id="329" r:id="rId58"/>
    <p:sldId id="286" r:id="rId59"/>
    <p:sldId id="346" r:id="rId60"/>
    <p:sldId id="347" r:id="rId61"/>
    <p:sldId id="348" r:id="rId62"/>
    <p:sldId id="349" r:id="rId63"/>
    <p:sldId id="350" r:id="rId64"/>
    <p:sldId id="293" r:id="rId65"/>
    <p:sldId id="351" r:id="rId66"/>
    <p:sldId id="352" r:id="rId67"/>
    <p:sldId id="353" r:id="rId68"/>
    <p:sldId id="354" r:id="rId69"/>
    <p:sldId id="355" r:id="rId70"/>
    <p:sldId id="356" r:id="rId71"/>
    <p:sldId id="357" r:id="rId72"/>
    <p:sldId id="294" r:id="rId73"/>
    <p:sldId id="358" r:id="rId74"/>
    <p:sldId id="359" r:id="rId75"/>
    <p:sldId id="360" r:id="rId76"/>
    <p:sldId id="361" r:id="rId77"/>
    <p:sldId id="362" r:id="rId78"/>
    <p:sldId id="363" r:id="rId79"/>
    <p:sldId id="364" r:id="rId80"/>
    <p:sldId id="365" r:id="rId81"/>
    <p:sldId id="366" r:id="rId82"/>
    <p:sldId id="367" r:id="rId83"/>
    <p:sldId id="368" r:id="rId84"/>
    <p:sldId id="369" r:id="rId85"/>
    <p:sldId id="295" r:id="rId86"/>
    <p:sldId id="370" r:id="rId87"/>
    <p:sldId id="371" r:id="rId88"/>
    <p:sldId id="372" r:id="rId89"/>
    <p:sldId id="373" r:id="rId90"/>
    <p:sldId id="374" r:id="rId91"/>
    <p:sldId id="375" r:id="rId92"/>
    <p:sldId id="376" r:id="rId93"/>
    <p:sldId id="296" r:id="rId94"/>
    <p:sldId id="377" r:id="rId95"/>
    <p:sldId id="378" r:id="rId96"/>
    <p:sldId id="379" r:id="rId97"/>
    <p:sldId id="380" r:id="rId98"/>
    <p:sldId id="381" r:id="rId99"/>
    <p:sldId id="389" r:id="rId100"/>
    <p:sldId id="340" r:id="rId101"/>
    <p:sldId id="390" r:id="rId102"/>
    <p:sldId id="391" r:id="rId103"/>
    <p:sldId id="392" r:id="rId104"/>
    <p:sldId id="393" r:id="rId105"/>
    <p:sldId id="394" r:id="rId106"/>
    <p:sldId id="342" r:id="rId107"/>
    <p:sldId id="401" r:id="rId108"/>
    <p:sldId id="402" r:id="rId109"/>
    <p:sldId id="403" r:id="rId110"/>
    <p:sldId id="343" r:id="rId111"/>
    <p:sldId id="404" r:id="rId112"/>
    <p:sldId id="405" r:id="rId113"/>
    <p:sldId id="406" r:id="rId114"/>
    <p:sldId id="407" r:id="rId115"/>
    <p:sldId id="408" r:id="rId116"/>
    <p:sldId id="409" r:id="rId117"/>
    <p:sldId id="442" r:id="rId118"/>
    <p:sldId id="443" r:id="rId119"/>
    <p:sldId id="410" r:id="rId120"/>
    <p:sldId id="411" r:id="rId121"/>
    <p:sldId id="412" r:id="rId122"/>
    <p:sldId id="413" r:id="rId123"/>
    <p:sldId id="414" r:id="rId124"/>
    <p:sldId id="415" r:id="rId125"/>
    <p:sldId id="416" r:id="rId126"/>
    <p:sldId id="417" r:id="rId127"/>
    <p:sldId id="418" r:id="rId128"/>
    <p:sldId id="419" r:id="rId129"/>
    <p:sldId id="420" r:id="rId130"/>
    <p:sldId id="421" r:id="rId131"/>
    <p:sldId id="444" r:id="rId132"/>
    <p:sldId id="445" r:id="rId133"/>
    <p:sldId id="422" r:id="rId134"/>
    <p:sldId id="423" r:id="rId135"/>
    <p:sldId id="424" r:id="rId136"/>
    <p:sldId id="425" r:id="rId137"/>
    <p:sldId id="426" r:id="rId138"/>
    <p:sldId id="427" r:id="rId139"/>
    <p:sldId id="428" r:id="rId140"/>
    <p:sldId id="446" r:id="rId141"/>
    <p:sldId id="344" r:id="rId142"/>
    <p:sldId id="447" r:id="rId143"/>
    <p:sldId id="448" r:id="rId144"/>
    <p:sldId id="449" r:id="rId145"/>
    <p:sldId id="450" r:id="rId146"/>
    <p:sldId id="451" r:id="rId147"/>
    <p:sldId id="452" r:id="rId148"/>
    <p:sldId id="453" r:id="rId149"/>
    <p:sldId id="454" r:id="rId150"/>
    <p:sldId id="455" r:id="rId151"/>
    <p:sldId id="345" r:id="rId152"/>
    <p:sldId id="456" r:id="rId153"/>
    <p:sldId id="474" r:id="rId154"/>
    <p:sldId id="475" r:id="rId155"/>
    <p:sldId id="476" r:id="rId156"/>
    <p:sldId id="477" r:id="rId157"/>
    <p:sldId id="478" r:id="rId158"/>
    <p:sldId id="479" r:id="rId159"/>
    <p:sldId id="480" r:id="rId160"/>
    <p:sldId id="482" r:id="rId161"/>
    <p:sldId id="483" r:id="rId162"/>
    <p:sldId id="484" r:id="rId163"/>
    <p:sldId id="485" r:id="rId164"/>
    <p:sldId id="395" r:id="rId165"/>
    <p:sldId id="486" r:id="rId166"/>
    <p:sldId id="487" r:id="rId167"/>
    <p:sldId id="488" r:id="rId168"/>
    <p:sldId id="396" r:id="rId169"/>
    <p:sldId id="489" r:id="rId170"/>
    <p:sldId id="504" r:id="rId171"/>
    <p:sldId id="505" r:id="rId172"/>
    <p:sldId id="506" r:id="rId173"/>
    <p:sldId id="507" r:id="rId174"/>
    <p:sldId id="508" r:id="rId175"/>
    <p:sldId id="509" r:id="rId176"/>
    <p:sldId id="510" r:id="rId177"/>
    <p:sldId id="511" r:id="rId178"/>
    <p:sldId id="490" r:id="rId179"/>
    <p:sldId id="520" r:id="rId180"/>
    <p:sldId id="521" r:id="rId181"/>
    <p:sldId id="522" r:id="rId182"/>
    <p:sldId id="523" r:id="rId183"/>
    <p:sldId id="524" r:id="rId184"/>
    <p:sldId id="397" r:id="rId185"/>
    <p:sldId id="525" r:id="rId186"/>
    <p:sldId id="398" r:id="rId187"/>
    <p:sldId id="526" r:id="rId188"/>
    <p:sldId id="527" r:id="rId189"/>
    <p:sldId id="528" r:id="rId190"/>
    <p:sldId id="529" r:id="rId191"/>
    <p:sldId id="530" r:id="rId192"/>
    <p:sldId id="531" r:id="rId193"/>
    <p:sldId id="399" r:id="rId194"/>
    <p:sldId id="532" r:id="rId195"/>
    <p:sldId id="533" r:id="rId196"/>
    <p:sldId id="534" r:id="rId197"/>
    <p:sldId id="535" r:id="rId198"/>
    <p:sldId id="536" r:id="rId199"/>
    <p:sldId id="537" r:id="rId200"/>
    <p:sldId id="516" r:id="rId201"/>
    <p:sldId id="542" r:id="rId202"/>
    <p:sldId id="543" r:id="rId203"/>
    <p:sldId id="559" r:id="rId204"/>
    <p:sldId id="560" r:id="rId205"/>
    <p:sldId id="561" r:id="rId206"/>
    <p:sldId id="562" r:id="rId207"/>
    <p:sldId id="563" r:id="rId208"/>
    <p:sldId id="564" r:id="rId209"/>
    <p:sldId id="565" r:id="rId210"/>
    <p:sldId id="566" r:id="rId211"/>
    <p:sldId id="567" r:id="rId212"/>
    <p:sldId id="517" r:id="rId213"/>
    <p:sldId id="568" r:id="rId214"/>
    <p:sldId id="569" r:id="rId215"/>
    <p:sldId id="570" r:id="rId216"/>
    <p:sldId id="518" r:id="rId217"/>
    <p:sldId id="571" r:id="rId218"/>
    <p:sldId id="591" r:id="rId219"/>
    <p:sldId id="592" r:id="rId220"/>
    <p:sldId id="593" r:id="rId221"/>
    <p:sldId id="594" r:id="rId222"/>
    <p:sldId id="595" r:id="rId223"/>
    <p:sldId id="596" r:id="rId224"/>
    <p:sldId id="597" r:id="rId225"/>
    <p:sldId id="598" r:id="rId226"/>
    <p:sldId id="573" r:id="rId227"/>
    <p:sldId id="599" r:id="rId228"/>
    <p:sldId id="600" r:id="rId229"/>
    <p:sldId id="601" r:id="rId230"/>
    <p:sldId id="602" r:id="rId231"/>
    <p:sldId id="603" r:id="rId232"/>
    <p:sldId id="519" r:id="rId233"/>
    <p:sldId id="538" r:id="rId234"/>
    <p:sldId id="539" r:id="rId235"/>
    <p:sldId id="540" r:id="rId236"/>
    <p:sldId id="541" r:id="rId237"/>
    <p:sldId id="609" r:id="rId238"/>
    <p:sldId id="610" r:id="rId239"/>
    <p:sldId id="604" r:id="rId240"/>
    <p:sldId id="611" r:id="rId241"/>
    <p:sldId id="612" r:id="rId242"/>
    <p:sldId id="613" r:id="rId243"/>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159" autoAdjust="0"/>
    <p:restoredTop sz="67568" autoAdjust="0"/>
  </p:normalViewPr>
  <p:slideViewPr>
    <p:cSldViewPr>
      <p:cViewPr varScale="1">
        <p:scale>
          <a:sx n="62" d="100"/>
          <a:sy n="62" d="100"/>
        </p:scale>
        <p:origin x="1872"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viewProps" Target="view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theme" Target="theme/theme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217" Type="http://schemas.openxmlformats.org/officeDocument/2006/relationships/slide" Target="slides/slide216.xml"/><Relationship Id="rId1" Type="http://schemas.openxmlformats.org/officeDocument/2006/relationships/slideMaster" Target="slideMasters/slideMaster1.xml"/><Relationship Id="rId6" Type="http://schemas.openxmlformats.org/officeDocument/2006/relationships/slide" Target="slides/slide5.xml"/><Relationship Id="rId212" Type="http://schemas.openxmlformats.org/officeDocument/2006/relationships/slide" Target="slides/slide211.xml"/><Relationship Id="rId233" Type="http://schemas.openxmlformats.org/officeDocument/2006/relationships/slide" Target="slides/slide232.xml"/><Relationship Id="rId238" Type="http://schemas.openxmlformats.org/officeDocument/2006/relationships/slide" Target="slides/slide237.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slide" Target="slides/slide206.xml"/><Relationship Id="rId223" Type="http://schemas.openxmlformats.org/officeDocument/2006/relationships/slide" Target="slides/slide222.xml"/><Relationship Id="rId228" Type="http://schemas.openxmlformats.org/officeDocument/2006/relationships/slide" Target="slides/slide227.xml"/><Relationship Id="rId244" Type="http://schemas.openxmlformats.org/officeDocument/2006/relationships/notesMaster" Target="notesMasters/notesMaster1.xml"/><Relationship Id="rId249"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slide" Target="slides/slide212.xml"/><Relationship Id="rId218" Type="http://schemas.openxmlformats.org/officeDocument/2006/relationships/slide" Target="slides/slide217.xml"/><Relationship Id="rId234" Type="http://schemas.openxmlformats.org/officeDocument/2006/relationships/slide" Target="slides/slide233.xml"/><Relationship Id="rId239" Type="http://schemas.openxmlformats.org/officeDocument/2006/relationships/slide" Target="slides/slide238.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229" Type="http://schemas.openxmlformats.org/officeDocument/2006/relationships/slide" Target="slides/slide228.xml"/><Relationship Id="rId19" Type="http://schemas.openxmlformats.org/officeDocument/2006/relationships/slide" Target="slides/slide18.xml"/><Relationship Id="rId224" Type="http://schemas.openxmlformats.org/officeDocument/2006/relationships/slide" Target="slides/slide223.xml"/><Relationship Id="rId240" Type="http://schemas.openxmlformats.org/officeDocument/2006/relationships/slide" Target="slides/slide239.xml"/><Relationship Id="rId245" Type="http://schemas.openxmlformats.org/officeDocument/2006/relationships/handoutMaster" Target="handoutMasters/handoutMaster1.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30" Type="http://schemas.openxmlformats.org/officeDocument/2006/relationships/slide" Target="slides/slide229.xml"/><Relationship Id="rId235" Type="http://schemas.openxmlformats.org/officeDocument/2006/relationships/slide" Target="slides/slide234.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241" Type="http://schemas.openxmlformats.org/officeDocument/2006/relationships/slide" Target="slides/slide240.xml"/><Relationship Id="rId246"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6" Type="http://schemas.openxmlformats.org/officeDocument/2006/relationships/slide" Target="slides/slide25.xml"/><Relationship Id="rId231" Type="http://schemas.openxmlformats.org/officeDocument/2006/relationships/slide" Target="slides/slide230.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7/11/2016</a:t>
            </a:fld>
            <a:endParaRPr lang="en-GB" dirty="0"/>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dirty="0"/>
          </a:p>
        </p:txBody>
      </p:sp>
    </p:spTree>
    <p:extLst>
      <p:ext uri="{BB962C8B-B14F-4D97-AF65-F5344CB8AC3E}">
        <p14:creationId xmlns:p14="http://schemas.microsoft.com/office/powerpoint/2010/main" val="1493299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7/11/2016</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3155990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3" Type="http://schemas.openxmlformats.org/officeDocument/2006/relationships/hyperlink" Target="http://www.2pass.co.uk/dashboard-lights.htm" TargetMode="External"/><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3" Type="http://schemas.openxmlformats.org/officeDocument/2006/relationships/hyperlink" Target="http://www.howacarworks.com/steering" TargetMode="External"/><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3" Type="http://schemas.openxmlformats.org/officeDocument/2006/relationships/hyperlink" Target="https://www.vicroads.vic.gov.au/searchresultpage?q=toadworthiness%20requirements" TargetMode="External"/><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3" Type="http://schemas.openxmlformats.org/officeDocument/2006/relationships/hyperlink" Target="http://www.nairaland.com/1054692/knowledge-101-which-engine-oil" TargetMode="External"/><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3" Type="http://schemas.openxmlformats.org/officeDocument/2006/relationships/hyperlink" Target="http://www.howacarworks.com/wheels-and-tyres/avoiding-tyre-wear" TargetMode="External"/><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3" Type="http://schemas.openxmlformats.org/officeDocument/2006/relationships/hyperlink" Target="http://www.tirerack.com/winter/tech/techpage.jsp?techid=151" TargetMode="External"/><Relationship Id="rId2" Type="http://schemas.openxmlformats.org/officeDocument/2006/relationships/slide" Target="../slides/slide156.xml"/><Relationship Id="rId1" Type="http://schemas.openxmlformats.org/officeDocument/2006/relationships/notesMaster" Target="../notesMasters/notesMaster1.xml"/><Relationship Id="rId5" Type="http://schemas.openxmlformats.org/officeDocument/2006/relationships/hyperlink" Target="https://www.youtube.com/watch?v=BC6Kp-1gtc0" TargetMode="External"/><Relationship Id="rId4" Type="http://schemas.openxmlformats.org/officeDocument/2006/relationships/hyperlink" Target="http://www.tirerack.com/winter/tech/techpage.jsp?techid=124" TargetMode="External"/></Relationships>
</file>

<file path=ppt/notesSlides/_rels/notesSlide157.xml.rels><?xml version="1.0" encoding="UTF-8" standalone="yes"?>
<Relationships xmlns="http://schemas.openxmlformats.org/package/2006/relationships"><Relationship Id="rId3" Type="http://schemas.openxmlformats.org/officeDocument/2006/relationships/hyperlink" Target="http://www.tjm.com.au/en-oceania/recovery-equipment" TargetMode="External"/><Relationship Id="rId2" Type="http://schemas.openxmlformats.org/officeDocument/2006/relationships/slide" Target="../slides/slide157.xml"/><Relationship Id="rId1" Type="http://schemas.openxmlformats.org/officeDocument/2006/relationships/notesMaster" Target="../notesMasters/notesMaster1.xml"/><Relationship Id="rId5" Type="http://schemas.openxmlformats.org/officeDocument/2006/relationships/hyperlink" Target="http://www.arb.com.au/products/recovery-equipment/" TargetMode="External"/><Relationship Id="rId4" Type="http://schemas.openxmlformats.org/officeDocument/2006/relationships/hyperlink" Target="http://www.maxtrax.com.au/faq" TargetMode="Externa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8" Type="http://schemas.openxmlformats.org/officeDocument/2006/relationships/hyperlink" Target="https://www.youtube.com/watch?v=5F31wzh60zo" TargetMode="External"/><Relationship Id="rId3" Type="http://schemas.openxmlformats.org/officeDocument/2006/relationships/hyperlink" Target="http://www.supercheapauto.com.au/how-to/Outside-the-Car/Checking-and-Changing-an-Automotive-Light-Globe.aspx?id=79" TargetMode="External"/><Relationship Id="rId7" Type="http://schemas.openxmlformats.org/officeDocument/2006/relationships/hyperlink" Target="https://www.youtube.com/watch?v=mgGWFqPe0Ms" TargetMode="External"/><Relationship Id="rId2" Type="http://schemas.openxmlformats.org/officeDocument/2006/relationships/slide" Target="../slides/slide195.xml"/><Relationship Id="rId1" Type="http://schemas.openxmlformats.org/officeDocument/2006/relationships/notesMaster" Target="../notesMasters/notesMaster1.xml"/><Relationship Id="rId6" Type="http://schemas.openxmlformats.org/officeDocument/2006/relationships/hyperlink" Target="https://www.youtube.com/watch?v=cB99QN1AYBU" TargetMode="External"/><Relationship Id="rId5" Type="http://schemas.openxmlformats.org/officeDocument/2006/relationships/hyperlink" Target="https://www.youtube.com/watch?v=jk1kFc56dwk" TargetMode="External"/><Relationship Id="rId4" Type="http://schemas.openxmlformats.org/officeDocument/2006/relationships/hyperlink" Target="https://www.youtube.com/watch?v=6hURsa46t4M" TargetMode="External"/><Relationship Id="rId9" Type="http://schemas.openxmlformats.org/officeDocument/2006/relationships/hyperlink" Target="https://www.youtube.com/watch?v=9POigqpLxQc" TargetMode="External"/></Relationships>
</file>

<file path=ppt/notesSlides/_rels/notesSlide196.xml.rels><?xml version="1.0" encoding="UTF-8" standalone="yes"?>
<Relationships xmlns="http://schemas.openxmlformats.org/package/2006/relationships"><Relationship Id="rId8" Type="http://schemas.openxmlformats.org/officeDocument/2006/relationships/hyperlink" Target="http://www.wikihow.com/Change-an-Automotive-Belt" TargetMode="External"/><Relationship Id="rId3" Type="http://schemas.openxmlformats.org/officeDocument/2006/relationships/hyperlink" Target="https://www.youtube.com/watch?v=4hnOUs9eiN4" TargetMode="External"/><Relationship Id="rId7" Type="http://schemas.openxmlformats.org/officeDocument/2006/relationships/hyperlink" Target="https://www.youtube.com/watch?v=XD0LNkFYPGQ" TargetMode="External"/><Relationship Id="rId2" Type="http://schemas.openxmlformats.org/officeDocument/2006/relationships/slide" Target="../slides/slide196.xml"/><Relationship Id="rId1" Type="http://schemas.openxmlformats.org/officeDocument/2006/relationships/notesMaster" Target="../notesMasters/notesMaster1.xml"/><Relationship Id="rId6" Type="http://schemas.openxmlformats.org/officeDocument/2006/relationships/hyperlink" Target="https://www.youtube.com/watch?v=01J3Fp9_bMA" TargetMode="External"/><Relationship Id="rId5" Type="http://schemas.openxmlformats.org/officeDocument/2006/relationships/hyperlink" Target="https://www.youtube.com/watch?v=Wg1AX77xEBQ" TargetMode="External"/><Relationship Id="rId10" Type="http://schemas.openxmlformats.org/officeDocument/2006/relationships/hyperlink" Target="https://www.youtube.com/watch?v=faWZmG0fXy8" TargetMode="External"/><Relationship Id="rId4" Type="http://schemas.openxmlformats.org/officeDocument/2006/relationships/hyperlink" Target="http://www.supercheapauto.com.au/how-to/Servicing-Mechanical/Replacing-a-Drive-Belt.aspx?id=76" TargetMode="External"/><Relationship Id="rId9" Type="http://schemas.openxmlformats.org/officeDocument/2006/relationships/hyperlink" Target="https://www.youtube.com/watch?v=kOXeo-kqg68" TargetMode="External"/></Relationships>
</file>

<file path=ppt/notesSlides/_rels/notesSlide197.xml.rels><?xml version="1.0" encoding="UTF-8" standalone="yes"?>
<Relationships xmlns="http://schemas.openxmlformats.org/package/2006/relationships"><Relationship Id="rId3" Type="http://schemas.openxmlformats.org/officeDocument/2006/relationships/hyperlink" Target="http://www.supercheapauto.com.au/how-to/Servicing-Mechanical/Replacing-Spark-Plugs.aspx?id=68" TargetMode="External"/><Relationship Id="rId7" Type="http://schemas.openxmlformats.org/officeDocument/2006/relationships/hyperlink" Target="http://autorepair.about.com/od/enginerelateddiyjobs/l/aa081404a.htm" TargetMode="External"/><Relationship Id="rId2" Type="http://schemas.openxmlformats.org/officeDocument/2006/relationships/slide" Target="../slides/slide197.xml"/><Relationship Id="rId1" Type="http://schemas.openxmlformats.org/officeDocument/2006/relationships/notesMaster" Target="../notesMasters/notesMaster1.xml"/><Relationship Id="rId6" Type="http://schemas.openxmlformats.org/officeDocument/2006/relationships/hyperlink" Target="https://www.youtube.com/watch?v=4Po_1pNHE1Y" TargetMode="External"/><Relationship Id="rId5" Type="http://schemas.openxmlformats.org/officeDocument/2006/relationships/hyperlink" Target="https://www.youtube.com/watch?v=RCcmN-r5Z9M" TargetMode="External"/><Relationship Id="rId4" Type="http://schemas.openxmlformats.org/officeDocument/2006/relationships/hyperlink" Target="https://www.youtube.com/watch?v=jj06A6UdHvI" TargetMode="External"/></Relationships>
</file>

<file path=ppt/notesSlides/_rels/notesSlide198.xml.rels><?xml version="1.0" encoding="UTF-8" standalone="yes"?>
<Relationships xmlns="http://schemas.openxmlformats.org/package/2006/relationships"><Relationship Id="rId8" Type="http://schemas.openxmlformats.org/officeDocument/2006/relationships/hyperlink" Target="https://www.youtube.com/watch?v=C64z0L9816A" TargetMode="External"/><Relationship Id="rId3" Type="http://schemas.openxmlformats.org/officeDocument/2006/relationships/hyperlink" Target="https://www.youtube.com/watch?v=U-1y8NIEhKM" TargetMode="External"/><Relationship Id="rId7" Type="http://schemas.openxmlformats.org/officeDocument/2006/relationships/hyperlink" Target="https://www.youtube.com/watch?v=AGmQ50naiGg" TargetMode="External"/><Relationship Id="rId2" Type="http://schemas.openxmlformats.org/officeDocument/2006/relationships/slide" Target="../slides/slide198.xml"/><Relationship Id="rId1" Type="http://schemas.openxmlformats.org/officeDocument/2006/relationships/notesMaster" Target="../notesMasters/notesMaster1.xml"/><Relationship Id="rId6" Type="http://schemas.openxmlformats.org/officeDocument/2006/relationships/hyperlink" Target="https://www.youtube.com/watch?v=D6j8fwGCrHs" TargetMode="External"/><Relationship Id="rId5" Type="http://schemas.openxmlformats.org/officeDocument/2006/relationships/hyperlink" Target="https://www.youtube.com/watch?v=d8ASeN4rgek" TargetMode="External"/><Relationship Id="rId4" Type="http://schemas.openxmlformats.org/officeDocument/2006/relationships/hyperlink" Target="https://www.youtube.com/watch?v=77lBQ_CRqdo" TargetMode="External"/><Relationship Id="rId9" Type="http://schemas.openxmlformats.org/officeDocument/2006/relationships/hyperlink" Target="https://www.youtube.com/watch?v=xH0D22ITjQU" TargetMode="Externa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3" Type="http://schemas.openxmlformats.org/officeDocument/2006/relationships/hyperlink" Target="http://www.unece.org/trans/danger/publi/ghs/implementation_e.html" TargetMode="External"/><Relationship Id="rId2" Type="http://schemas.openxmlformats.org/officeDocument/2006/relationships/slide" Target="../slides/slide228.xml"/><Relationship Id="rId1" Type="http://schemas.openxmlformats.org/officeDocument/2006/relationships/notesMaster" Target="../notesMasters/notesMaster1.xml"/><Relationship Id="rId4" Type="http://schemas.openxmlformats.org/officeDocument/2006/relationships/hyperlink" Target="http://www.unece.org/trans/danger/publi/ghs/ghs_rev03/03files_e.html" TargetMode="External"/></Relationships>
</file>

<file path=ppt/notesSlides/_rels/notesSlide229.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3" Type="http://schemas.openxmlformats.org/officeDocument/2006/relationships/hyperlink" Target="http://www.atyourbusiness.com/vehicleinspection.php" TargetMode="External"/><Relationship Id="rId2" Type="http://schemas.openxmlformats.org/officeDocument/2006/relationships/slide" Target="../slides/slide234.xml"/><Relationship Id="rId1" Type="http://schemas.openxmlformats.org/officeDocument/2006/relationships/notesMaster" Target="../notesMasters/notesMaster1.xml"/><Relationship Id="rId5" Type="http://schemas.openxmlformats.org/officeDocument/2006/relationships/hyperlink" Target="http://www.ehs.gatech.edu/general/weekly_vehicle_inspection_checklist.pdf" TargetMode="External"/><Relationship Id="rId4" Type="http://schemas.openxmlformats.org/officeDocument/2006/relationships/hyperlink" Target="http://www.adtasa.com.au/forms/Vehicle_checklist_2011.doc" TargetMode="External"/></Relationships>
</file>

<file path=ppt/notesSlides/_rels/notesSlide235.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3" Type="http://schemas.openxmlformats.org/officeDocument/2006/relationships/hyperlink" Target="http://www.vertex42.com/ExcelTemplates/vehicle-maintenance-log.html" TargetMode="External"/><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welcomes students to class.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7442026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this Unit comprises four Elements, as listed on the slide explaining:</a:t>
            </a:r>
          </a:p>
          <a:p>
            <a:pPr marL="171450" indent="-171450">
              <a:buFont typeface="Arial" panose="020B0604020202020204" pitchFamily="34" charset="0"/>
              <a:buChar char="•"/>
            </a:pPr>
            <a:r>
              <a:rPr lang="en-AU" sz="1200" kern="1200" baseline="0" dirty="0" smtClean="0">
                <a:solidFill>
                  <a:schemeClr val="tx1"/>
                </a:solidFill>
                <a:ea typeface="+mn-ea"/>
                <a:cs typeface="+mn-cs"/>
              </a:rPr>
              <a:t>Each Element comprises a number of Performance Criteria which will be identified throughout the class and explained in detail</a:t>
            </a:r>
          </a:p>
          <a:p>
            <a:pPr marL="171450" indent="-171450">
              <a:buFont typeface="Arial" panose="020B0604020202020204" pitchFamily="34" charset="0"/>
              <a:buChar char="•"/>
            </a:pPr>
            <a:r>
              <a:rPr lang="en-AU" sz="1200" kern="1200" baseline="0" dirty="0" smtClean="0">
                <a:solidFill>
                  <a:schemeClr val="tx1"/>
                </a:solidFill>
                <a:ea typeface="+mn-ea"/>
                <a:cs typeface="+mn-cs"/>
              </a:rPr>
              <a:t>Trainees can obtain more detail from their Trainee Manual</a:t>
            </a:r>
          </a:p>
          <a:p>
            <a:pPr marL="171450" indent="-171450">
              <a:buFont typeface="Arial" panose="020B0604020202020204" pitchFamily="34" charset="0"/>
              <a:buChar char="•"/>
            </a:pPr>
            <a:r>
              <a:rPr lang="en-AU" sz="1200" kern="1200" baseline="0" dirty="0" smtClean="0">
                <a:solidFill>
                  <a:schemeClr val="tx1"/>
                </a:solidFill>
                <a:ea typeface="+mn-ea"/>
                <a:cs typeface="+mn-cs"/>
              </a:rPr>
              <a:t>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marL="171450" indent="-171450">
              <a:buFont typeface="Arial" panose="020B0604020202020204"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31285227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that assessment for this Unit may take several forms, all of which are aimed at verifying they have achieved competency for the Unit as required.</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Trainer indicates to trainees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14825420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a:p>
            <a:pPr>
              <a:buFont typeface="Arial" pitchFamily="34" charset="0"/>
              <a:buChar char="•"/>
            </a:pPr>
            <a:endParaRPr lang="en-US" baseline="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36992038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a:p>
            <a:pPr>
              <a:buFont typeface="Arial" pitchFamily="34" charset="0"/>
              <a:buChar char="•"/>
            </a:pPr>
            <a:endParaRPr lang="en-US" baseline="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16455001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a:p>
            <a:pPr>
              <a:buFont typeface="Arial" pitchFamily="34" charset="0"/>
              <a:buChar char="•"/>
            </a:pPr>
            <a:endParaRPr lang="en-US" baseline="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35701891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marL="171450" indent="-171450">
              <a:buFont typeface="Arial" pitchFamily="34" charset="0"/>
              <a:buChar char="•"/>
            </a:pPr>
            <a:r>
              <a:rPr lang="en-US" baseline="0" dirty="0" smtClean="0"/>
              <a:t>What experience do you have with servicing vehicles and undertaking minor repairs?</a:t>
            </a:r>
          </a:p>
          <a:p>
            <a:pPr marL="171450" indent="-171450">
              <a:buFont typeface="Arial" pitchFamily="34" charset="0"/>
              <a:buChar char="•"/>
            </a:pPr>
            <a:r>
              <a:rPr lang="en-US" baseline="0" dirty="0" smtClean="0"/>
              <a:t>Where was this and for how long?</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smtClean="0"/>
              <a:t>What type of vehicles did you work on?</a:t>
            </a:r>
          </a:p>
          <a:p>
            <a:pPr>
              <a:buFont typeface="Arial" pitchFamily="34" charset="0"/>
              <a:buChar char="•"/>
            </a:pPr>
            <a:endParaRPr lang="en-US" baseline="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26755565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highlights in </a:t>
            </a:r>
            <a:r>
              <a:rPr lang="en-AU" sz="1200" kern="1200" dirty="0" smtClean="0">
                <a:solidFill>
                  <a:schemeClr val="tx1"/>
                </a:solidFill>
                <a:latin typeface="+mn-lt"/>
                <a:ea typeface="+mn-ea"/>
                <a:cs typeface="+mn-cs"/>
              </a:rPr>
              <a:t>relation to this topic it is important to understand:</a:t>
            </a:r>
          </a:p>
          <a:p>
            <a:pPr marL="171450" indent="-171450">
              <a:buFont typeface="Arial" pitchFamily="34" charset="0"/>
              <a:buChar char="•"/>
            </a:pPr>
            <a:r>
              <a:rPr lang="en-AU" sz="1200" kern="1200" dirty="0" smtClean="0">
                <a:solidFill>
                  <a:schemeClr val="tx1"/>
                </a:solidFill>
                <a:latin typeface="+mn-lt"/>
                <a:ea typeface="+mn-ea"/>
                <a:cs typeface="+mn-cs"/>
              </a:rPr>
              <a:t>This unit is not intended to provide the training needed for becoming a fully-qualified/A-grade mechanic</a:t>
            </a:r>
          </a:p>
          <a:p>
            <a:pPr marL="628650" lvl="1" indent="-171450">
              <a:buFont typeface="Arial" pitchFamily="34" charset="0"/>
              <a:buChar char="•"/>
            </a:pPr>
            <a:r>
              <a:rPr lang="en-AU" sz="1200" kern="1200" dirty="0" smtClean="0">
                <a:solidFill>
                  <a:schemeClr val="tx1"/>
                </a:solidFill>
                <a:latin typeface="+mn-lt"/>
                <a:ea typeface="+mn-ea"/>
                <a:cs typeface="+mn-cs"/>
              </a:rPr>
              <a:t>To become a properly trained professional there is a need to undertake a three or four year apprenticeship that covers much more than is contained in this unit and requires many more hours of practical experience</a:t>
            </a:r>
          </a:p>
          <a:p>
            <a:pPr marL="171450" indent="-171450">
              <a:buFont typeface="Arial" pitchFamily="34" charset="0"/>
              <a:buChar char="•"/>
            </a:pPr>
            <a:r>
              <a:rPr lang="en-AU" sz="1200" kern="1200" dirty="0" smtClean="0">
                <a:solidFill>
                  <a:schemeClr val="tx1"/>
                </a:solidFill>
                <a:latin typeface="+mn-lt"/>
                <a:ea typeface="+mn-ea"/>
                <a:cs typeface="+mn-cs"/>
              </a:rPr>
              <a:t>The manual and the notes cannot address the requirements for all types, makes and models of vehicles</a:t>
            </a:r>
          </a:p>
          <a:p>
            <a:pPr marL="628650" lvl="1" indent="-171450">
              <a:buFont typeface="Arial" pitchFamily="34" charset="0"/>
              <a:buChar char="•"/>
            </a:pPr>
            <a:r>
              <a:rPr lang="en-AU" sz="1200" kern="1200" dirty="0" smtClean="0">
                <a:solidFill>
                  <a:schemeClr val="tx1"/>
                </a:solidFill>
                <a:latin typeface="+mn-lt"/>
                <a:ea typeface="+mn-ea"/>
                <a:cs typeface="+mn-cs"/>
              </a:rPr>
              <a:t>There are too many choices in the marketplace, too many variations, and too many after-market and up-grade options</a:t>
            </a:r>
          </a:p>
          <a:p>
            <a:pPr marL="171450" indent="-171450">
              <a:buFont typeface="Arial" pitchFamily="34" charset="0"/>
              <a:buChar char="•"/>
            </a:pPr>
            <a:r>
              <a:rPr lang="en-AU" sz="1200" kern="1200" dirty="0" smtClean="0">
                <a:solidFill>
                  <a:schemeClr val="tx1"/>
                </a:solidFill>
                <a:latin typeface="+mn-lt"/>
                <a:ea typeface="+mn-ea"/>
                <a:cs typeface="+mn-cs"/>
              </a:rPr>
              <a:t>Cleaning is an important element of servicing and repairing vehicles in two ways:</a:t>
            </a:r>
          </a:p>
          <a:p>
            <a:pPr marL="628650" lvl="1" indent="-171450">
              <a:buFont typeface="Arial" pitchFamily="34" charset="0"/>
              <a:buChar char="•"/>
            </a:pPr>
            <a:r>
              <a:rPr lang="en-AU" sz="1200" kern="1200" dirty="0" smtClean="0">
                <a:solidFill>
                  <a:schemeClr val="tx1"/>
                </a:solidFill>
                <a:latin typeface="+mn-lt"/>
                <a:ea typeface="+mn-ea"/>
                <a:cs typeface="+mn-cs"/>
              </a:rPr>
              <a:t>Cleaning prior to performing inspections and repairs will make it easier to identify problems and diagnose issues</a:t>
            </a:r>
          </a:p>
          <a:p>
            <a:pPr marL="628650" lvl="1" indent="-171450">
              <a:buFont typeface="Arial" pitchFamily="34" charset="0"/>
              <a:buChar char="•"/>
            </a:pPr>
            <a:r>
              <a:rPr lang="en-AU" sz="1200" kern="1200" dirty="0" smtClean="0">
                <a:solidFill>
                  <a:schemeClr val="tx1"/>
                </a:solidFill>
                <a:latin typeface="+mn-lt"/>
                <a:ea typeface="+mn-ea"/>
                <a:cs typeface="+mn-cs"/>
              </a:rPr>
              <a:t>Cleaning of certain components is an essential part of the preventative maintenance process as it removes dirt, dust, grit, sand and other materials which can interfere with and damage correct operation of items</a:t>
            </a:r>
          </a:p>
          <a:p>
            <a:pPr marL="171450" indent="-171450">
              <a:buFont typeface="Arial" pitchFamily="34" charset="0"/>
              <a:buChar char="•"/>
            </a:pPr>
            <a:r>
              <a:rPr lang="en-AU" sz="1200" kern="1200" dirty="0" smtClean="0">
                <a:solidFill>
                  <a:schemeClr val="tx1"/>
                </a:solidFill>
                <a:latin typeface="+mn-lt"/>
                <a:ea typeface="+mn-ea"/>
                <a:cs typeface="+mn-cs"/>
              </a:rPr>
              <a:t>The title of the unit gives an indication about the focus of the unit – it is focussed on carrying out basic maintenance and </a:t>
            </a:r>
            <a:r>
              <a:rPr lang="en-AU" sz="1200" i="1" kern="1200" dirty="0" smtClean="0">
                <a:solidFill>
                  <a:schemeClr val="tx1"/>
                </a:solidFill>
                <a:latin typeface="+mn-lt"/>
                <a:ea typeface="+mn-ea"/>
                <a:cs typeface="+mn-cs"/>
              </a:rPr>
              <a:t>minor</a:t>
            </a:r>
            <a:r>
              <a:rPr lang="en-AU" sz="1200" kern="1200" dirty="0" smtClean="0">
                <a:solidFill>
                  <a:schemeClr val="tx1"/>
                </a:solidFill>
                <a:latin typeface="+mn-lt"/>
                <a:ea typeface="+mn-ea"/>
                <a:cs typeface="+mn-cs"/>
              </a:rPr>
              <a:t> repairs.</a:t>
            </a: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16765552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US" noProof="0" dirty="0" smtClean="0"/>
              <a:t>Trainer discusses ‘vehicles’ which may be serviced/repaired stating </a:t>
            </a:r>
            <a:r>
              <a:rPr lang="en-AU" sz="1200" kern="1200" dirty="0" smtClean="0">
                <a:solidFill>
                  <a:schemeClr val="tx1"/>
                </a:solidFill>
                <a:latin typeface="+mn-lt"/>
                <a:ea typeface="+mn-ea"/>
                <a:cs typeface="+mn-cs"/>
              </a:rPr>
              <a:t>for the purposes of this unit ‘vehicles’ can relate to any means of transport used to:</a:t>
            </a:r>
          </a:p>
          <a:p>
            <a:pPr marL="171450" indent="-171450">
              <a:buFont typeface="Arial" pitchFamily="34" charset="0"/>
              <a:buChar char="•"/>
            </a:pPr>
            <a:r>
              <a:rPr lang="en-AU" sz="1200" kern="1200" dirty="0" smtClean="0">
                <a:solidFill>
                  <a:schemeClr val="tx1"/>
                </a:solidFill>
                <a:latin typeface="+mn-lt"/>
                <a:ea typeface="+mn-ea"/>
                <a:cs typeface="+mn-cs"/>
              </a:rPr>
              <a:t>Carry tour passengers and tour staff – on tour</a:t>
            </a:r>
          </a:p>
          <a:p>
            <a:pPr marL="171450" indent="-171450">
              <a:buFont typeface="Arial" pitchFamily="34" charset="0"/>
              <a:buChar char="•"/>
            </a:pPr>
            <a:r>
              <a:rPr lang="en-AU" sz="1200" kern="1200" dirty="0" smtClean="0">
                <a:solidFill>
                  <a:schemeClr val="tx1"/>
                </a:solidFill>
                <a:latin typeface="+mn-lt"/>
                <a:ea typeface="+mn-ea"/>
                <a:cs typeface="+mn-cs"/>
              </a:rPr>
              <a:t>Move tour resources – such as activity gear, food, camping equipment, tools, mobile facilities</a:t>
            </a:r>
          </a:p>
          <a:p>
            <a:pPr marL="171450" indent="-171450">
              <a:buFont typeface="Arial" pitchFamily="34" charset="0"/>
              <a:buChar char="•"/>
            </a:pPr>
            <a:r>
              <a:rPr lang="en-AU" sz="1200" kern="1200" dirty="0" smtClean="0">
                <a:solidFill>
                  <a:schemeClr val="tx1"/>
                </a:solidFill>
                <a:latin typeface="+mn-lt"/>
                <a:ea typeface="+mn-ea"/>
                <a:cs typeface="+mn-cs"/>
              </a:rPr>
              <a:t>Facilitate the day-to-day activities of the organisation – such as:</a:t>
            </a:r>
          </a:p>
          <a:p>
            <a:pPr marL="628650" lvl="1" indent="-171450">
              <a:buFont typeface="Arial" pitchFamily="34" charset="0"/>
              <a:buChar char="•"/>
            </a:pPr>
            <a:r>
              <a:rPr lang="en-AU" sz="1200" kern="1200" dirty="0" smtClean="0">
                <a:solidFill>
                  <a:schemeClr val="tx1"/>
                </a:solidFill>
                <a:latin typeface="+mn-lt"/>
                <a:ea typeface="+mn-ea"/>
                <a:cs typeface="+mn-cs"/>
              </a:rPr>
              <a:t>Picking up and moving tour group members – ‘transfers’ </a:t>
            </a:r>
          </a:p>
          <a:p>
            <a:pPr marL="628650" lvl="1" indent="-171450">
              <a:buFont typeface="Arial" pitchFamily="34" charset="0"/>
              <a:buChar char="•"/>
            </a:pPr>
            <a:r>
              <a:rPr lang="en-AU" sz="1200" kern="1200" dirty="0" smtClean="0">
                <a:solidFill>
                  <a:schemeClr val="tx1"/>
                </a:solidFill>
                <a:latin typeface="+mn-lt"/>
                <a:ea typeface="+mn-ea"/>
                <a:cs typeface="+mn-cs"/>
              </a:rPr>
              <a:t>Travelling to see potential customers/clients and make presentations/pitches</a:t>
            </a:r>
          </a:p>
          <a:p>
            <a:pPr marL="628650" lvl="1" indent="-171450">
              <a:buFont typeface="Arial" pitchFamily="34" charset="0"/>
              <a:buChar char="•"/>
            </a:pPr>
            <a:r>
              <a:rPr lang="en-AU" sz="1200" kern="1200" dirty="0" smtClean="0">
                <a:solidFill>
                  <a:schemeClr val="tx1"/>
                </a:solidFill>
                <a:latin typeface="+mn-lt"/>
                <a:ea typeface="+mn-ea"/>
                <a:cs typeface="+mn-cs"/>
              </a:rPr>
              <a:t>Collecting items from suppliers, going to the bank, and doing the ‘hundred and one’ small things required in every business</a:t>
            </a:r>
          </a:p>
          <a:p>
            <a:pPr marL="171450" indent="-171450">
              <a:buFont typeface="Arial" pitchFamily="34" charset="0"/>
              <a:buChar char="•"/>
            </a:pPr>
            <a:r>
              <a:rPr lang="en-AU" sz="1200" kern="1200" dirty="0" smtClean="0">
                <a:solidFill>
                  <a:schemeClr val="tx1"/>
                </a:solidFill>
                <a:latin typeface="+mn-lt"/>
                <a:ea typeface="+mn-ea"/>
                <a:cs typeface="+mn-cs"/>
              </a:rPr>
              <a:t>The vehicle will generally be a commercial vehicle (as distinct to a private one)</a:t>
            </a:r>
          </a:p>
          <a:p>
            <a:pPr marL="171450" indent="-171450">
              <a:buFont typeface="Arial" pitchFamily="34" charset="0"/>
              <a:buChar char="•"/>
            </a:pPr>
            <a:r>
              <a:rPr lang="en-AU" sz="1200" kern="1200" dirty="0" smtClean="0">
                <a:solidFill>
                  <a:schemeClr val="tx1"/>
                </a:solidFill>
                <a:latin typeface="+mn-lt"/>
                <a:ea typeface="+mn-ea"/>
                <a:cs typeface="+mn-cs"/>
              </a:rPr>
              <a:t>It may be powered by petrol, diesel or gas.</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 Question and Answer session</a:t>
            </a:r>
          </a:p>
          <a:p>
            <a:pPr>
              <a:buFont typeface="Arial" pitchFamily="34" charset="0"/>
              <a:buNone/>
            </a:pPr>
            <a:r>
              <a:rPr lang="en-US" b="0" noProof="0" dirty="0" smtClean="0"/>
              <a:t>Trainer asks class to identify types of vehicles which may require service or repairs.</a:t>
            </a:r>
          </a:p>
          <a:p>
            <a:pPr>
              <a:buFont typeface="Arial" pitchFamily="34" charset="0"/>
              <a:buNone/>
            </a:pPr>
            <a:r>
              <a:rPr lang="en-US" b="1" i="1" noProof="0" dirty="0" smtClean="0"/>
              <a:t>Possible answers:</a:t>
            </a:r>
          </a:p>
          <a:p>
            <a:pPr marL="171450" indent="-171450">
              <a:buFont typeface="Arial" pitchFamily="34" charset="0"/>
              <a:buChar char="•"/>
            </a:pPr>
            <a:r>
              <a:rPr lang="en-AU" sz="1200" kern="1200" dirty="0" smtClean="0">
                <a:solidFill>
                  <a:schemeClr val="tx1"/>
                </a:solidFill>
                <a:latin typeface="+mn-lt"/>
                <a:ea typeface="+mn-ea"/>
                <a:cs typeface="+mn-cs"/>
              </a:rPr>
              <a:t>Cars and a range of two-wheel drive vehicles</a:t>
            </a:r>
          </a:p>
          <a:p>
            <a:pPr marL="171450" indent="-171450">
              <a:buFont typeface="Arial" pitchFamily="34" charset="0"/>
              <a:buChar char="•"/>
            </a:pPr>
            <a:r>
              <a:rPr lang="en-AU" sz="1200" kern="1200" dirty="0" smtClean="0">
                <a:solidFill>
                  <a:schemeClr val="tx1"/>
                </a:solidFill>
                <a:latin typeface="+mn-lt"/>
                <a:ea typeface="+mn-ea"/>
                <a:cs typeface="+mn-cs"/>
              </a:rPr>
              <a:t>Four-wheel drives</a:t>
            </a:r>
          </a:p>
          <a:p>
            <a:pPr marL="171450" indent="-171450">
              <a:buFont typeface="Arial" pitchFamily="34" charset="0"/>
              <a:buChar char="•"/>
            </a:pPr>
            <a:r>
              <a:rPr lang="en-AU" sz="1200" kern="1200" dirty="0" smtClean="0">
                <a:solidFill>
                  <a:schemeClr val="tx1"/>
                </a:solidFill>
                <a:latin typeface="+mn-lt"/>
                <a:ea typeface="+mn-ea"/>
                <a:cs typeface="+mn-cs"/>
              </a:rPr>
              <a:t>SUVs</a:t>
            </a:r>
          </a:p>
          <a:p>
            <a:pPr marL="171450" indent="-171450">
              <a:buFont typeface="Arial" pitchFamily="34" charset="0"/>
              <a:buChar char="•"/>
            </a:pPr>
            <a:r>
              <a:rPr lang="en-AU" sz="1200" kern="1200" dirty="0" smtClean="0">
                <a:solidFill>
                  <a:schemeClr val="tx1"/>
                </a:solidFill>
                <a:latin typeface="+mn-lt"/>
                <a:ea typeface="+mn-ea"/>
                <a:cs typeface="+mn-cs"/>
              </a:rPr>
              <a:t>Utilities</a:t>
            </a:r>
          </a:p>
          <a:p>
            <a:pPr marL="171450" indent="-171450">
              <a:buFont typeface="Arial" pitchFamily="34" charset="0"/>
              <a:buChar char="•"/>
            </a:pPr>
            <a:r>
              <a:rPr lang="en-AU" sz="1200" kern="1200" dirty="0" smtClean="0">
                <a:solidFill>
                  <a:schemeClr val="tx1"/>
                </a:solidFill>
                <a:latin typeface="+mn-lt"/>
                <a:ea typeface="+mn-ea"/>
                <a:cs typeface="+mn-cs"/>
              </a:rPr>
              <a:t>Station wagons</a:t>
            </a:r>
          </a:p>
          <a:p>
            <a:pPr marL="171450" indent="-171450">
              <a:buFont typeface="Arial" pitchFamily="34" charset="0"/>
              <a:buChar char="•"/>
            </a:pPr>
            <a:r>
              <a:rPr lang="en-AU" sz="1200" kern="1200" dirty="0" smtClean="0">
                <a:solidFill>
                  <a:schemeClr val="tx1"/>
                </a:solidFill>
                <a:latin typeface="+mn-lt"/>
                <a:ea typeface="+mn-ea"/>
                <a:cs typeface="+mn-cs"/>
              </a:rPr>
              <a:t>Vans</a:t>
            </a:r>
          </a:p>
          <a:p>
            <a:pPr marL="171450" indent="-171450">
              <a:buFont typeface="Arial" pitchFamily="34" charset="0"/>
              <a:buChar char="•"/>
            </a:pPr>
            <a:r>
              <a:rPr lang="en-AU" sz="1200" kern="1200" dirty="0" smtClean="0">
                <a:solidFill>
                  <a:schemeClr val="tx1"/>
                </a:solidFill>
                <a:latin typeface="+mn-lt"/>
                <a:ea typeface="+mn-ea"/>
                <a:cs typeface="+mn-cs"/>
              </a:rPr>
              <a:t>Light trucks</a:t>
            </a:r>
          </a:p>
          <a:p>
            <a:pPr marL="171450" indent="-171450">
              <a:buFont typeface="Arial" pitchFamily="34" charset="0"/>
              <a:buChar char="•"/>
            </a:pPr>
            <a:r>
              <a:rPr lang="en-AU" sz="1200" kern="1200" dirty="0" smtClean="0">
                <a:solidFill>
                  <a:schemeClr val="tx1"/>
                </a:solidFill>
                <a:latin typeface="+mn-lt"/>
                <a:ea typeface="+mn-ea"/>
                <a:cs typeface="+mn-cs"/>
              </a:rPr>
              <a:t>Heavy commercial vehicles</a:t>
            </a:r>
          </a:p>
          <a:p>
            <a:pPr marL="171450" indent="-171450">
              <a:buFont typeface="Arial" pitchFamily="34" charset="0"/>
              <a:buChar char="•"/>
            </a:pPr>
            <a:r>
              <a:rPr lang="en-AU" sz="1200" kern="1200" dirty="0" smtClean="0">
                <a:solidFill>
                  <a:schemeClr val="tx1"/>
                </a:solidFill>
                <a:latin typeface="+mn-lt"/>
                <a:ea typeface="+mn-ea"/>
                <a:cs typeface="+mn-cs"/>
              </a:rPr>
              <a:t>Combination vehicles</a:t>
            </a:r>
          </a:p>
          <a:p>
            <a:pPr marL="171450" indent="-171450">
              <a:buFont typeface="Arial" pitchFamily="34" charset="0"/>
              <a:buChar char="•"/>
            </a:pPr>
            <a:r>
              <a:rPr lang="en-AU" sz="1200" kern="1200" dirty="0" smtClean="0">
                <a:solidFill>
                  <a:schemeClr val="tx1"/>
                </a:solidFill>
                <a:latin typeface="+mn-lt"/>
                <a:ea typeface="+mn-ea"/>
                <a:cs typeface="+mn-cs"/>
              </a:rPr>
              <a:t>Buses/coaches</a:t>
            </a:r>
          </a:p>
          <a:p>
            <a:pPr marL="171450" indent="-171450">
              <a:buFont typeface="Arial" pitchFamily="34" charset="0"/>
              <a:buChar char="•"/>
            </a:pPr>
            <a:r>
              <a:rPr lang="en-AU" sz="1200" kern="1200" dirty="0" smtClean="0">
                <a:solidFill>
                  <a:schemeClr val="tx1"/>
                </a:solidFill>
                <a:latin typeface="+mn-lt"/>
                <a:ea typeface="+mn-ea"/>
                <a:cs typeface="+mn-cs"/>
              </a:rPr>
              <a:t>Trailers.</a:t>
            </a:r>
          </a:p>
          <a:p>
            <a:pPr>
              <a:buFont typeface="Arial" pitchFamily="34" charset="0"/>
              <a:buNone/>
            </a:pPr>
            <a:endParaRPr lang="en-US" b="1" i="1"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19301092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discusses vehicle ‘service’ noting:</a:t>
            </a:r>
          </a:p>
          <a:p>
            <a:pPr marL="171450" indent="-171450">
              <a:buFont typeface="Arial" pitchFamily="34" charset="0"/>
              <a:buChar char="•"/>
            </a:pPr>
            <a:r>
              <a:rPr lang="en-AU" sz="1200" kern="1200" dirty="0" smtClean="0">
                <a:solidFill>
                  <a:schemeClr val="tx1"/>
                </a:solidFill>
                <a:latin typeface="+mn-lt"/>
                <a:ea typeface="+mn-ea"/>
                <a:cs typeface="+mn-cs"/>
              </a:rPr>
              <a:t>Providing ‘service’ to vehicles refers to providing preventative maintenance</a:t>
            </a:r>
          </a:p>
          <a:p>
            <a:pPr marL="628650" lvl="1" indent="-171450">
              <a:buFont typeface="Arial" pitchFamily="34" charset="0"/>
              <a:buChar char="•"/>
            </a:pPr>
            <a:r>
              <a:rPr lang="en-AU" sz="1200" kern="1200" dirty="0" smtClean="0">
                <a:solidFill>
                  <a:schemeClr val="tx1"/>
                </a:solidFill>
                <a:latin typeface="+mn-lt"/>
                <a:ea typeface="+mn-ea"/>
                <a:cs typeface="+mn-cs"/>
              </a:rPr>
              <a:t>It is different to ‘repairing’ a vehicle which is done when damage has occurred/been identified</a:t>
            </a:r>
          </a:p>
          <a:p>
            <a:pPr marL="171450" indent="-171450">
              <a:buFont typeface="Arial" pitchFamily="34" charset="0"/>
              <a:buChar char="•"/>
            </a:pPr>
            <a:r>
              <a:rPr lang="en-AU" sz="1200" kern="1200" dirty="0" smtClean="0">
                <a:solidFill>
                  <a:schemeClr val="tx1"/>
                </a:solidFill>
                <a:latin typeface="+mn-lt"/>
                <a:ea typeface="+mn-ea"/>
                <a:cs typeface="+mn-cs"/>
              </a:rPr>
              <a:t>Provision of regular service and maintenance will/can:</a:t>
            </a:r>
          </a:p>
          <a:p>
            <a:pPr marL="628650" lvl="1" indent="-171450">
              <a:buFont typeface="Arial" pitchFamily="34" charset="0"/>
              <a:buChar char="•"/>
            </a:pPr>
            <a:r>
              <a:rPr lang="en-AU" sz="1200" kern="1200" dirty="0" smtClean="0">
                <a:solidFill>
                  <a:schemeClr val="tx1"/>
                </a:solidFill>
                <a:latin typeface="+mn-lt"/>
                <a:ea typeface="+mn-ea"/>
                <a:cs typeface="+mn-cs"/>
              </a:rPr>
              <a:t>Help extend working life of the vehicle</a:t>
            </a:r>
          </a:p>
          <a:p>
            <a:pPr marL="628650" lvl="1" indent="-171450">
              <a:buFont typeface="Arial" pitchFamily="34" charset="0"/>
              <a:buChar char="•"/>
            </a:pPr>
            <a:r>
              <a:rPr lang="en-AU" sz="1200" kern="1200" dirty="0" smtClean="0">
                <a:solidFill>
                  <a:schemeClr val="tx1"/>
                </a:solidFill>
                <a:latin typeface="+mn-lt"/>
                <a:ea typeface="+mn-ea"/>
                <a:cs typeface="+mn-cs"/>
              </a:rPr>
              <a:t>Increase reliability of the vehicle</a:t>
            </a:r>
          </a:p>
          <a:p>
            <a:pPr marL="628650" lvl="1" indent="-171450">
              <a:buFont typeface="Arial" pitchFamily="34" charset="0"/>
              <a:buChar char="•"/>
            </a:pPr>
            <a:r>
              <a:rPr lang="en-AU" sz="1200" kern="1200" dirty="0" smtClean="0">
                <a:solidFill>
                  <a:schemeClr val="tx1"/>
                </a:solidFill>
                <a:latin typeface="+mn-lt"/>
                <a:ea typeface="+mn-ea"/>
                <a:cs typeface="+mn-cs"/>
              </a:rPr>
              <a:t>Reduce operating costs</a:t>
            </a:r>
          </a:p>
          <a:p>
            <a:pPr marL="628650" lvl="1" indent="-171450">
              <a:buFont typeface="Arial" pitchFamily="34" charset="0"/>
              <a:buChar char="•"/>
            </a:pPr>
            <a:r>
              <a:rPr lang="en-AU" sz="1200" kern="1200" dirty="0" smtClean="0">
                <a:solidFill>
                  <a:schemeClr val="tx1"/>
                </a:solidFill>
                <a:latin typeface="+mn-lt"/>
                <a:ea typeface="+mn-ea"/>
                <a:cs typeface="+mn-cs"/>
              </a:rPr>
              <a:t>Present a better-looking vehicle to tour groups – which increases confidence in the tour staff and tour operator.</a:t>
            </a:r>
          </a:p>
          <a:p>
            <a:pPr>
              <a:buFont typeface="Arial" pitchFamily="34" charset="0"/>
              <a:buNone/>
            </a:pPr>
            <a:endParaRPr lang="en-AU" sz="1200" b="1"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9662287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identifies ways to identify service requirements:</a:t>
            </a:r>
          </a:p>
          <a:p>
            <a:pPr marL="171450" indent="-171450">
              <a:buFont typeface="Arial" pitchFamily="34" charset="0"/>
              <a:buChar char="•"/>
            </a:pPr>
            <a:r>
              <a:rPr lang="en-AU" sz="1200" kern="1200" dirty="0" smtClean="0">
                <a:solidFill>
                  <a:schemeClr val="tx1"/>
                </a:solidFill>
                <a:latin typeface="+mn-lt"/>
                <a:ea typeface="+mn-ea"/>
                <a:cs typeface="+mn-cs"/>
              </a:rPr>
              <a:t>Researching/reading manufacturer requirements in relation to routine servicing periods and items to be checked and serviced – as prescribed in:</a:t>
            </a:r>
          </a:p>
          <a:p>
            <a:pPr marL="628650" lvl="1" indent="-171450">
              <a:buFont typeface="Arial" pitchFamily="34" charset="0"/>
              <a:buChar char="•"/>
            </a:pPr>
            <a:r>
              <a:rPr lang="en-AU" sz="1200" kern="1200" dirty="0" smtClean="0">
                <a:solidFill>
                  <a:schemeClr val="tx1"/>
                </a:solidFill>
                <a:latin typeface="+mn-lt"/>
                <a:ea typeface="+mn-ea"/>
                <a:cs typeface="+mn-cs"/>
              </a:rPr>
              <a:t>Warranties and guarantees</a:t>
            </a:r>
          </a:p>
          <a:p>
            <a:pPr marL="628650" lvl="1" indent="-171450">
              <a:buFont typeface="Arial" pitchFamily="34" charset="0"/>
              <a:buChar char="•"/>
            </a:pPr>
            <a:r>
              <a:rPr lang="en-AU" sz="1200" kern="1200" dirty="0" smtClean="0">
                <a:solidFill>
                  <a:schemeClr val="tx1"/>
                </a:solidFill>
                <a:latin typeface="+mn-lt"/>
                <a:ea typeface="+mn-ea"/>
                <a:cs typeface="+mn-cs"/>
              </a:rPr>
              <a:t>Service manuals</a:t>
            </a:r>
          </a:p>
          <a:p>
            <a:pPr marL="628650" lvl="1" indent="-171450">
              <a:buFont typeface="Arial" pitchFamily="34" charset="0"/>
              <a:buChar char="•"/>
            </a:pPr>
            <a:r>
              <a:rPr lang="en-AU" sz="1200" kern="1200" dirty="0" smtClean="0">
                <a:solidFill>
                  <a:schemeClr val="tx1"/>
                </a:solidFill>
                <a:latin typeface="+mn-lt"/>
                <a:ea typeface="+mn-ea"/>
                <a:cs typeface="+mn-cs"/>
              </a:rPr>
              <a:t>Owner manuals</a:t>
            </a:r>
          </a:p>
          <a:p>
            <a:pPr marL="628650" lvl="1" indent="-171450">
              <a:buFont typeface="Arial" pitchFamily="34" charset="0"/>
              <a:buChar char="•"/>
            </a:pPr>
            <a:r>
              <a:rPr lang="en-AU" sz="1200" kern="1200" dirty="0" smtClean="0">
                <a:solidFill>
                  <a:schemeClr val="tx1"/>
                </a:solidFill>
                <a:latin typeface="+mn-lt"/>
                <a:ea typeface="+mn-ea"/>
                <a:cs typeface="+mn-cs"/>
              </a:rPr>
              <a:t>Repair manuals</a:t>
            </a:r>
          </a:p>
          <a:p>
            <a:pPr marL="171450" indent="-171450">
              <a:buFont typeface="Arial" pitchFamily="34" charset="0"/>
              <a:buChar char="•"/>
            </a:pPr>
            <a:r>
              <a:rPr lang="en-AU" sz="1200" kern="1200" dirty="0" smtClean="0">
                <a:solidFill>
                  <a:schemeClr val="tx1"/>
                </a:solidFill>
                <a:latin typeface="+mn-lt"/>
                <a:ea typeface="+mn-ea"/>
                <a:cs typeface="+mn-cs"/>
              </a:rPr>
              <a:t>Identifying </a:t>
            </a:r>
            <a:r>
              <a:rPr lang="en-AU" sz="1200" i="1" kern="1200" dirty="0" smtClean="0">
                <a:solidFill>
                  <a:schemeClr val="tx1"/>
                </a:solidFill>
                <a:latin typeface="+mn-lt"/>
                <a:ea typeface="+mn-ea"/>
                <a:cs typeface="+mn-cs"/>
              </a:rPr>
              <a:t>internal</a:t>
            </a:r>
            <a:r>
              <a:rPr lang="en-AU" sz="1200" kern="1200" dirty="0" smtClean="0">
                <a:solidFill>
                  <a:schemeClr val="tx1"/>
                </a:solidFill>
                <a:latin typeface="+mn-lt"/>
                <a:ea typeface="+mn-ea"/>
                <a:cs typeface="+mn-cs"/>
              </a:rPr>
              <a:t> vehicle service periods and requirements that may override stated manufacturer’s requirements – this highlights:</a:t>
            </a:r>
          </a:p>
          <a:p>
            <a:pPr marL="628650" lvl="1" indent="-171450">
              <a:buFont typeface="Arial" pitchFamily="34" charset="0"/>
              <a:buChar char="•"/>
            </a:pPr>
            <a:r>
              <a:rPr lang="en-AU" sz="1200" kern="1200" dirty="0" smtClean="0">
                <a:solidFill>
                  <a:schemeClr val="tx1"/>
                </a:solidFill>
                <a:latin typeface="+mn-lt"/>
                <a:ea typeface="+mn-ea"/>
                <a:cs typeface="+mn-cs"/>
              </a:rPr>
              <a:t>Some organisations elect to service their vehicles more frequently/differently to specifications in owner manuals/manufacturer’s specifications</a:t>
            </a:r>
          </a:p>
          <a:p>
            <a:pPr marL="628650" lvl="1" indent="-171450">
              <a:buFont typeface="Arial" pitchFamily="34" charset="0"/>
              <a:buChar char="•"/>
            </a:pPr>
            <a:r>
              <a:rPr lang="en-AU" sz="1200" kern="1200" dirty="0" smtClean="0">
                <a:solidFill>
                  <a:schemeClr val="tx1"/>
                </a:solidFill>
                <a:latin typeface="+mn-lt"/>
                <a:ea typeface="+mn-ea"/>
                <a:cs typeface="+mn-cs"/>
              </a:rPr>
              <a:t>The condition of roads over which some vehicles are driven necessitate more frequent attention</a:t>
            </a:r>
          </a:p>
          <a:p>
            <a:pPr marL="628650" lvl="1" indent="-171450">
              <a:buFont typeface="Arial" pitchFamily="34" charset="0"/>
              <a:buChar char="•"/>
            </a:pPr>
            <a:r>
              <a:rPr lang="en-AU" sz="1200" kern="1200" dirty="0" smtClean="0">
                <a:solidFill>
                  <a:schemeClr val="tx1"/>
                </a:solidFill>
                <a:latin typeface="+mn-lt"/>
                <a:ea typeface="+mn-ea"/>
                <a:cs typeface="+mn-cs"/>
              </a:rPr>
              <a:t>The use some vehicles are put to puts increased stress on the vehicles and demands more frequent service.</a:t>
            </a:r>
          </a:p>
          <a:p>
            <a:pPr>
              <a:buFont typeface="Arial" pitchFamily="34" charset="0"/>
              <a:buNone/>
            </a:pPr>
            <a:endParaRPr lang="en-AU" sz="1200" kern="1200" dirty="0" smtClean="0">
              <a:solidFill>
                <a:schemeClr val="tx1"/>
              </a:solidFill>
              <a:latin typeface="+mn-lt"/>
              <a:ea typeface="+mn-ea"/>
              <a:cs typeface="+mn-cs"/>
            </a:endParaRPr>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distributes and discusses sample manuals identified on slide.</a:t>
            </a: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2038485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identifying ways to identify service requirements:</a:t>
            </a:r>
          </a:p>
          <a:p>
            <a:pPr marL="171450" indent="-171450">
              <a:buFont typeface="Arial" pitchFamily="34" charset="0"/>
              <a:buChar char="•"/>
            </a:pPr>
            <a:r>
              <a:rPr lang="en-AU" sz="1200" kern="1200" dirty="0" smtClean="0">
                <a:solidFill>
                  <a:schemeClr val="tx1"/>
                </a:solidFill>
                <a:latin typeface="+mn-lt"/>
                <a:ea typeface="+mn-ea"/>
                <a:cs typeface="+mn-cs"/>
              </a:rPr>
              <a:t>Referring to documentation relating to previous servicing that has taken place – which will provide:</a:t>
            </a:r>
          </a:p>
          <a:p>
            <a:pPr marL="628650" lvl="1" indent="-171450">
              <a:buFont typeface="Arial" pitchFamily="34" charset="0"/>
              <a:buChar char="•"/>
            </a:pPr>
            <a:r>
              <a:rPr lang="en-AU" sz="1200" kern="1200" dirty="0" smtClean="0">
                <a:solidFill>
                  <a:schemeClr val="tx1"/>
                </a:solidFill>
                <a:latin typeface="+mn-lt"/>
                <a:ea typeface="+mn-ea"/>
                <a:cs typeface="+mn-cs"/>
              </a:rPr>
              <a:t>Target date or distance (odometer reading) for the next scheduled service</a:t>
            </a:r>
          </a:p>
          <a:p>
            <a:pPr marL="628650" lvl="1" indent="-171450">
              <a:buFont typeface="Arial" pitchFamily="34" charset="0"/>
              <a:buChar char="•"/>
            </a:pPr>
            <a:r>
              <a:rPr lang="en-AU" sz="1200" kern="1200" dirty="0" smtClean="0">
                <a:solidFill>
                  <a:schemeClr val="tx1"/>
                </a:solidFill>
                <a:latin typeface="+mn-lt"/>
                <a:ea typeface="+mn-ea"/>
                <a:cs typeface="+mn-cs"/>
              </a:rPr>
              <a:t>Indicate issues which were identified at the last service and flagged for attention at the next service</a:t>
            </a:r>
          </a:p>
          <a:p>
            <a:pPr marL="171450" indent="-171450">
              <a:buFont typeface="Arial" pitchFamily="34" charset="0"/>
              <a:buChar char="•"/>
            </a:pPr>
            <a:r>
              <a:rPr lang="en-AU" sz="1200" kern="1200" dirty="0" smtClean="0">
                <a:solidFill>
                  <a:schemeClr val="tx1"/>
                </a:solidFill>
                <a:latin typeface="+mn-lt"/>
                <a:ea typeface="+mn-ea"/>
                <a:cs typeface="+mn-cs"/>
              </a:rPr>
              <a:t>Talking with vehicle operators – in order to identify:</a:t>
            </a:r>
          </a:p>
          <a:p>
            <a:pPr marL="628650" lvl="1" indent="-171450">
              <a:buFont typeface="Arial" pitchFamily="34" charset="0"/>
              <a:buChar char="•"/>
            </a:pPr>
            <a:r>
              <a:rPr lang="en-AU" sz="1200" kern="1200" dirty="0" smtClean="0">
                <a:solidFill>
                  <a:schemeClr val="tx1"/>
                </a:solidFill>
                <a:latin typeface="+mn-lt"/>
                <a:ea typeface="+mn-ea"/>
                <a:cs typeface="+mn-cs"/>
              </a:rPr>
              <a:t>Any on-the-road repairs which may have been made by tour staff or third party providers to the vehicle while (for example) it was on tour</a:t>
            </a:r>
          </a:p>
          <a:p>
            <a:pPr marL="628650" lvl="1" indent="-171450">
              <a:buFont typeface="Arial" pitchFamily="34" charset="0"/>
              <a:buChar char="•"/>
            </a:pPr>
            <a:r>
              <a:rPr lang="en-AU" sz="1200" kern="1200" dirty="0" smtClean="0">
                <a:solidFill>
                  <a:schemeClr val="tx1"/>
                </a:solidFill>
                <a:latin typeface="+mn-lt"/>
                <a:ea typeface="+mn-ea"/>
                <a:cs typeface="+mn-cs"/>
              </a:rPr>
              <a:t>Items they believe/know require attention</a:t>
            </a:r>
          </a:p>
          <a:p>
            <a:pPr marL="628650" lvl="1" indent="-171450">
              <a:buFont typeface="Arial" pitchFamily="34" charset="0"/>
              <a:buChar char="•"/>
            </a:pPr>
            <a:r>
              <a:rPr lang="en-AU" sz="1200" kern="1200" dirty="0" smtClean="0">
                <a:solidFill>
                  <a:schemeClr val="tx1"/>
                </a:solidFill>
                <a:latin typeface="+mn-lt"/>
                <a:ea typeface="+mn-ea"/>
                <a:cs typeface="+mn-cs"/>
              </a:rPr>
              <a:t>Issues they have identified as </a:t>
            </a:r>
            <a:r>
              <a:rPr lang="en-AU" sz="1200" i="1" kern="1200" dirty="0" smtClean="0">
                <a:solidFill>
                  <a:schemeClr val="tx1"/>
                </a:solidFill>
                <a:latin typeface="+mn-lt"/>
                <a:ea typeface="+mn-ea"/>
                <a:cs typeface="+mn-cs"/>
              </a:rPr>
              <a:t>emerging</a:t>
            </a:r>
            <a:r>
              <a:rPr lang="en-AU" sz="1200" kern="1200" dirty="0" smtClean="0">
                <a:solidFill>
                  <a:schemeClr val="tx1"/>
                </a:solidFill>
                <a:latin typeface="+mn-lt"/>
                <a:ea typeface="+mn-ea"/>
                <a:cs typeface="+mn-cs"/>
              </a:rPr>
              <a:t> and which, if dealt with, will avoid them becoming an actual problem</a:t>
            </a:r>
          </a:p>
          <a:p>
            <a:pPr marL="171450" indent="-171450">
              <a:buFont typeface="Arial" pitchFamily="34" charset="0"/>
              <a:buChar char="•"/>
            </a:pPr>
            <a:r>
              <a:rPr lang="en-AU" sz="1200" kern="1200" dirty="0" smtClean="0">
                <a:solidFill>
                  <a:schemeClr val="tx1"/>
                </a:solidFill>
                <a:latin typeface="+mn-lt"/>
                <a:ea typeface="+mn-ea"/>
                <a:cs typeface="+mn-cs"/>
              </a:rPr>
              <a:t>Identifying host country legislation that applies to the maintenance of commercial vehicles used for passenger transport – in order to ensure the safe transport of passengers.</a:t>
            </a:r>
          </a:p>
          <a:p>
            <a:pPr>
              <a:buFont typeface="Arial" pitchFamily="34" charset="0"/>
              <a:buNone/>
            </a:pPr>
            <a:endParaRPr lang="en-US" noProof="0" dirty="0" smtClean="0"/>
          </a:p>
          <a:p>
            <a:r>
              <a:rPr lang="en-AU" sz="1200" b="1" kern="1200" baseline="0" dirty="0" smtClean="0">
                <a:solidFill>
                  <a:schemeClr val="tx1"/>
                </a:solidFill>
                <a:ea typeface="+mn-ea"/>
                <a:cs typeface="+mn-cs"/>
              </a:rPr>
              <a:t>Class Activity – Guest Speaker</a:t>
            </a:r>
          </a:p>
          <a:p>
            <a:r>
              <a:rPr lang="en-AU" sz="1200" kern="1200" baseline="0" dirty="0" smtClean="0">
                <a:solidFill>
                  <a:schemeClr val="tx1"/>
                </a:solidFill>
                <a:ea typeface="+mn-ea"/>
                <a:cs typeface="+mn-cs"/>
              </a:rPr>
              <a:t>Trainer arranges for representative from local vehicle registration authority to attend and discuss legislated requirements regarding vehicle service and maintenance.</a:t>
            </a: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33889377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talks about vehicle spare parts observing:</a:t>
            </a:r>
          </a:p>
          <a:p>
            <a:pPr marL="171450" indent="-171450">
              <a:buFont typeface="Arial" pitchFamily="34" charset="0"/>
              <a:buChar char="•"/>
            </a:pPr>
            <a:r>
              <a:rPr lang="en-AU" sz="1200" kern="1200" dirty="0" smtClean="0">
                <a:solidFill>
                  <a:schemeClr val="tx1"/>
                </a:solidFill>
                <a:latin typeface="+mn-lt"/>
                <a:ea typeface="+mn-ea"/>
                <a:cs typeface="+mn-cs"/>
              </a:rPr>
              <a:t>Spare parts for vehicles may be obtained from:</a:t>
            </a:r>
          </a:p>
          <a:p>
            <a:pPr marL="628650" lvl="1" indent="-171450">
              <a:buFont typeface="Arial" pitchFamily="34" charset="0"/>
              <a:buChar char="•"/>
            </a:pPr>
            <a:r>
              <a:rPr lang="en-AU" sz="1200" kern="1200" dirty="0" smtClean="0">
                <a:solidFill>
                  <a:schemeClr val="tx1"/>
                </a:solidFill>
                <a:latin typeface="+mn-lt"/>
                <a:ea typeface="+mn-ea"/>
                <a:cs typeface="+mn-cs"/>
              </a:rPr>
              <a:t>Authorised dealers</a:t>
            </a:r>
          </a:p>
          <a:p>
            <a:pPr marL="628650" lvl="1" indent="-171450">
              <a:buFont typeface="Arial" pitchFamily="34" charset="0"/>
              <a:buChar char="•"/>
            </a:pPr>
            <a:r>
              <a:rPr lang="en-AU" sz="1200" kern="1200" dirty="0" smtClean="0">
                <a:solidFill>
                  <a:schemeClr val="tx1"/>
                </a:solidFill>
                <a:latin typeface="+mn-lt"/>
                <a:ea typeface="+mn-ea"/>
                <a:cs typeface="+mn-cs"/>
              </a:rPr>
              <a:t>Specialist parts shops </a:t>
            </a:r>
          </a:p>
          <a:p>
            <a:pPr marL="628650" lvl="1" indent="-171450">
              <a:buFont typeface="Arial" pitchFamily="34" charset="0"/>
              <a:buChar char="•"/>
            </a:pPr>
            <a:r>
              <a:rPr lang="en-AU" sz="1200" kern="1200" dirty="0" smtClean="0">
                <a:solidFill>
                  <a:schemeClr val="tx1"/>
                </a:solidFill>
                <a:latin typeface="+mn-lt"/>
                <a:ea typeface="+mn-ea"/>
                <a:cs typeface="+mn-cs"/>
              </a:rPr>
              <a:t>Car wreckers</a:t>
            </a:r>
          </a:p>
          <a:p>
            <a:pPr marL="171450" indent="-171450">
              <a:buFont typeface="Arial" pitchFamily="34" charset="0"/>
              <a:buChar char="•"/>
            </a:pPr>
            <a:r>
              <a:rPr lang="en-AU" sz="1200" kern="1200" dirty="0" smtClean="0">
                <a:solidFill>
                  <a:schemeClr val="tx1"/>
                </a:solidFill>
                <a:latin typeface="+mn-lt"/>
                <a:ea typeface="+mn-ea"/>
                <a:cs typeface="+mn-cs"/>
              </a:rPr>
              <a:t>Always ensure spare parts are suitable for the make, model and year of the vehicle being serviced or repaired</a:t>
            </a:r>
          </a:p>
          <a:p>
            <a:pPr marL="171450" indent="-171450">
              <a:buFont typeface="Arial" pitchFamily="34" charset="0"/>
              <a:buChar char="•"/>
            </a:pPr>
            <a:r>
              <a:rPr lang="en-AU" sz="1200" kern="1200" dirty="0" smtClean="0">
                <a:solidFill>
                  <a:schemeClr val="tx1"/>
                </a:solidFill>
                <a:latin typeface="+mn-lt"/>
                <a:ea typeface="+mn-ea"/>
                <a:cs typeface="+mn-cs"/>
              </a:rPr>
              <a:t>Ways to identify include reference to:</a:t>
            </a:r>
          </a:p>
          <a:p>
            <a:pPr marL="628650" lvl="1" indent="-171450">
              <a:buFont typeface="Arial" pitchFamily="34" charset="0"/>
              <a:buChar char="•"/>
            </a:pPr>
            <a:r>
              <a:rPr lang="en-AU" sz="1200" kern="1200" dirty="0" smtClean="0">
                <a:solidFill>
                  <a:schemeClr val="tx1"/>
                </a:solidFill>
                <a:latin typeface="+mn-lt"/>
                <a:ea typeface="+mn-ea"/>
                <a:cs typeface="+mn-cs"/>
              </a:rPr>
              <a:t>Vehicle Owner’s Manual</a:t>
            </a:r>
          </a:p>
          <a:p>
            <a:pPr marL="628650" lvl="1" indent="-171450">
              <a:buFont typeface="Arial" pitchFamily="34" charset="0"/>
              <a:buChar char="•"/>
            </a:pPr>
            <a:r>
              <a:rPr lang="en-AU" sz="1200" kern="1200" dirty="0" smtClean="0">
                <a:solidFill>
                  <a:schemeClr val="tx1"/>
                </a:solidFill>
                <a:latin typeface="+mn-lt"/>
                <a:ea typeface="+mn-ea"/>
                <a:cs typeface="+mn-cs"/>
              </a:rPr>
              <a:t>Registration sticker</a:t>
            </a:r>
          </a:p>
          <a:p>
            <a:pPr marL="628650" lvl="1" indent="-171450">
              <a:buFont typeface="Arial" pitchFamily="34" charset="0"/>
              <a:buChar char="•"/>
            </a:pPr>
            <a:r>
              <a:rPr lang="en-AU" sz="1200" kern="1200" dirty="0" smtClean="0">
                <a:solidFill>
                  <a:schemeClr val="tx1"/>
                </a:solidFill>
                <a:latin typeface="+mn-lt"/>
                <a:ea typeface="+mn-ea"/>
                <a:cs typeface="+mn-cs"/>
              </a:rPr>
              <a:t>VIN plate.</a:t>
            </a:r>
          </a:p>
          <a:p>
            <a:pPr>
              <a:buFont typeface="Arial" pitchFamily="34" charset="0"/>
              <a:buNone/>
            </a:pPr>
            <a:endParaRPr lang="en-AU" sz="1200" kern="1200" dirty="0" smtClean="0">
              <a:solidFill>
                <a:schemeClr val="tx1"/>
              </a:solidFill>
              <a:latin typeface="+mn-lt"/>
              <a:ea typeface="+mn-ea"/>
              <a:cs typeface="+mn-cs"/>
            </a:endParaRPr>
          </a:p>
          <a:p>
            <a:r>
              <a:rPr lang="en-AU" sz="1200" b="1" kern="1200" baseline="0" dirty="0" smtClean="0">
                <a:solidFill>
                  <a:schemeClr val="tx1"/>
                </a:solidFill>
                <a:ea typeface="+mn-ea"/>
                <a:cs typeface="+mn-cs"/>
              </a:rPr>
              <a:t>Class Activity – Guest Speaker</a:t>
            </a:r>
          </a:p>
          <a:p>
            <a:r>
              <a:rPr lang="en-AU" sz="1200" kern="1200" baseline="0" dirty="0" smtClean="0">
                <a:solidFill>
                  <a:schemeClr val="tx1"/>
                </a:solidFill>
                <a:ea typeface="+mn-ea"/>
                <a:cs typeface="+mn-cs"/>
              </a:rPr>
              <a:t>Trainer shows class a VIN plate and helps them interpret the information it contains.</a:t>
            </a: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32137663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provides more context for the unit identifying:</a:t>
            </a:r>
          </a:p>
          <a:p>
            <a:pPr marL="171450" indent="-171450">
              <a:buFont typeface="Arial" pitchFamily="34" charset="0"/>
              <a:buChar char="•"/>
            </a:pPr>
            <a:r>
              <a:rPr lang="en-AU" sz="1200" kern="1200" dirty="0" smtClean="0">
                <a:solidFill>
                  <a:schemeClr val="tx1"/>
                </a:solidFill>
                <a:latin typeface="+mn-lt"/>
                <a:ea typeface="+mn-ea"/>
                <a:cs typeface="+mn-cs"/>
              </a:rPr>
              <a:t>This unit is very much a practical unit – where the focus will be on actually carrying out maintenance and performing minor repairs</a:t>
            </a:r>
          </a:p>
          <a:p>
            <a:pPr marL="171450" indent="-171450">
              <a:buFont typeface="Arial" pitchFamily="34" charset="0"/>
              <a:buChar char="•"/>
            </a:pPr>
            <a:r>
              <a:rPr lang="en-AU" sz="1200" kern="1200" dirty="0" smtClean="0">
                <a:solidFill>
                  <a:schemeClr val="tx1"/>
                </a:solidFill>
                <a:latin typeface="+mn-lt"/>
                <a:ea typeface="+mn-ea"/>
                <a:cs typeface="+mn-cs"/>
              </a:rPr>
              <a:t>Service and maintenance required for some vehicles can also be determined (to an extent/partially) by:</a:t>
            </a:r>
          </a:p>
          <a:p>
            <a:pPr marL="628650" lvl="1" indent="-171450">
              <a:buFont typeface="Arial" pitchFamily="34" charset="0"/>
              <a:buChar char="•"/>
            </a:pPr>
            <a:r>
              <a:rPr lang="en-AU" sz="1200" kern="1200" dirty="0" smtClean="0">
                <a:solidFill>
                  <a:schemeClr val="tx1"/>
                </a:solidFill>
                <a:latin typeface="+mn-lt"/>
                <a:ea typeface="+mn-ea"/>
                <a:cs typeface="+mn-cs"/>
              </a:rPr>
              <a:t>The way the vehicle has been driven/who has driven it – the simple fact of life is some drivers are harder on their equipment than others</a:t>
            </a:r>
          </a:p>
          <a:p>
            <a:pPr marL="628650" lvl="1" indent="-171450">
              <a:buFont typeface="Arial" pitchFamily="34" charset="0"/>
              <a:buChar char="•"/>
            </a:pPr>
            <a:r>
              <a:rPr lang="en-AU" sz="1200" kern="1200" dirty="0" smtClean="0">
                <a:solidFill>
                  <a:schemeClr val="tx1"/>
                </a:solidFill>
                <a:latin typeface="+mn-lt"/>
                <a:ea typeface="+mn-ea"/>
                <a:cs typeface="+mn-cs"/>
              </a:rPr>
              <a:t>Age of the vehicle – generally speaking older vehicles require more frequent service</a:t>
            </a:r>
          </a:p>
          <a:p>
            <a:pPr marL="628650" lvl="1" indent="-171450">
              <a:buFont typeface="Arial" pitchFamily="34" charset="0"/>
              <a:buChar char="•"/>
            </a:pPr>
            <a:r>
              <a:rPr lang="en-AU" sz="1200" kern="1200" dirty="0" smtClean="0">
                <a:solidFill>
                  <a:schemeClr val="tx1"/>
                </a:solidFill>
                <a:latin typeface="+mn-lt"/>
                <a:ea typeface="+mn-ea"/>
                <a:cs typeface="+mn-cs"/>
              </a:rPr>
              <a:t>History of the vehicle – in terms of the result of combining factors such as distances travelled over time, conditions the vehicle was used in, previous services provided, accidents or incidents the vehicle has been involved in and any damage which has occurred to the vehicle</a:t>
            </a:r>
          </a:p>
          <a:p>
            <a:pPr marL="171450" indent="-171450">
              <a:buFont typeface="Arial" pitchFamily="34" charset="0"/>
              <a:buChar char="•"/>
            </a:pPr>
            <a:r>
              <a:rPr lang="en-AU" sz="1200" kern="1200" dirty="0" smtClean="0">
                <a:solidFill>
                  <a:schemeClr val="tx1"/>
                </a:solidFill>
                <a:latin typeface="+mn-lt"/>
                <a:ea typeface="+mn-ea"/>
                <a:cs typeface="+mn-cs"/>
              </a:rPr>
              <a:t>Regardless of what is presented in these notes there is always a need to – as appropriate:</a:t>
            </a:r>
          </a:p>
          <a:p>
            <a:pPr marL="628650" lvl="1" indent="-171450">
              <a:buFont typeface="Arial" pitchFamily="34" charset="0"/>
              <a:buChar char="•"/>
            </a:pPr>
            <a:r>
              <a:rPr lang="en-AU" sz="1200" kern="1200" dirty="0" smtClean="0">
                <a:solidFill>
                  <a:schemeClr val="tx1"/>
                </a:solidFill>
                <a:latin typeface="+mn-lt"/>
                <a:ea typeface="+mn-ea"/>
                <a:cs typeface="+mn-cs"/>
              </a:rPr>
              <a:t>Follow manufacturer’s instructions</a:t>
            </a:r>
          </a:p>
          <a:p>
            <a:pPr marL="628650" lvl="1" indent="-171450">
              <a:buFont typeface="Arial" pitchFamily="34" charset="0"/>
              <a:buChar char="•"/>
            </a:pPr>
            <a:r>
              <a:rPr lang="en-AU" sz="1200" kern="1200" dirty="0" smtClean="0">
                <a:solidFill>
                  <a:schemeClr val="tx1"/>
                </a:solidFill>
                <a:latin typeface="+mn-lt"/>
                <a:ea typeface="+mn-ea"/>
                <a:cs typeface="+mn-cs"/>
              </a:rPr>
              <a:t>Adhere to organisational SOPs</a:t>
            </a:r>
          </a:p>
          <a:p>
            <a:pPr marL="628650" lvl="1" indent="-171450">
              <a:buFont typeface="Arial" pitchFamily="34" charset="0"/>
              <a:buChar char="•"/>
            </a:pPr>
            <a:r>
              <a:rPr lang="en-AU" sz="1200" kern="1200" dirty="0" smtClean="0">
                <a:solidFill>
                  <a:schemeClr val="tx1"/>
                </a:solidFill>
                <a:latin typeface="+mn-lt"/>
                <a:ea typeface="+mn-ea"/>
                <a:cs typeface="+mn-cs"/>
              </a:rPr>
              <a:t>Conform to workshop manuals and/or service manuals and/or owner manuals</a:t>
            </a:r>
          </a:p>
          <a:p>
            <a:pPr marL="628650" lvl="1" indent="-171450">
              <a:buFont typeface="Arial" pitchFamily="34" charset="0"/>
              <a:buChar char="•"/>
            </a:pPr>
            <a:r>
              <a:rPr lang="en-AU" sz="1200" kern="1200" dirty="0" smtClean="0">
                <a:solidFill>
                  <a:schemeClr val="tx1"/>
                </a:solidFill>
                <a:latin typeface="+mn-lt"/>
                <a:ea typeface="+mn-ea"/>
                <a:cs typeface="+mn-cs"/>
              </a:rPr>
              <a:t>Use qualified staff to provide nominated maintenance and/or repairs</a:t>
            </a:r>
          </a:p>
          <a:p>
            <a:pPr marL="628650" lvl="1" indent="-171450">
              <a:buFont typeface="Arial" pitchFamily="34" charset="0"/>
              <a:buChar char="•"/>
            </a:pPr>
            <a:r>
              <a:rPr lang="en-AU" sz="1200" kern="1200" dirty="0" smtClean="0">
                <a:solidFill>
                  <a:schemeClr val="tx1"/>
                </a:solidFill>
                <a:latin typeface="+mn-lt"/>
                <a:ea typeface="+mn-ea"/>
                <a:cs typeface="+mn-cs"/>
              </a:rPr>
              <a:t>Comply with all local legislation regarding safety and roadworthiness requirements.</a:t>
            </a:r>
          </a:p>
          <a:p>
            <a:pPr>
              <a:buFont typeface="Arial" pitchFamily="34" charset="0"/>
              <a:buChar char="•"/>
            </a:pP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29334199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explains maintenance </a:t>
            </a:r>
            <a:r>
              <a:rPr lang="en-AU" sz="1200" kern="1200" dirty="0" smtClean="0">
                <a:solidFill>
                  <a:schemeClr val="tx1"/>
                </a:solidFill>
                <a:latin typeface="+mn-lt"/>
                <a:ea typeface="+mn-ea"/>
                <a:cs typeface="+mn-cs"/>
              </a:rPr>
              <a:t>to and/or minor repairs to tour and travel vehicles may need to be carried out in a range of operating conditions, including:</a:t>
            </a:r>
          </a:p>
          <a:p>
            <a:pPr marL="171450" indent="-171450">
              <a:buFont typeface="Arial" pitchFamily="34" charset="0"/>
              <a:buChar char="•"/>
            </a:pPr>
            <a:r>
              <a:rPr lang="en-AU" sz="1200" kern="1200" dirty="0" smtClean="0">
                <a:solidFill>
                  <a:schemeClr val="tx1"/>
                </a:solidFill>
                <a:latin typeface="+mn-lt"/>
                <a:ea typeface="+mn-ea"/>
                <a:cs typeface="+mn-cs"/>
              </a:rPr>
              <a:t>Operations conducted at day or night – meaning:</a:t>
            </a:r>
          </a:p>
          <a:p>
            <a:pPr marL="628650" lvl="1" indent="-171450">
              <a:buFont typeface="Arial" pitchFamily="34" charset="0"/>
              <a:buChar char="•"/>
            </a:pPr>
            <a:r>
              <a:rPr lang="en-US" sz="1200" kern="1200" dirty="0" smtClean="0">
                <a:solidFill>
                  <a:schemeClr val="tx1"/>
                </a:solidFill>
                <a:latin typeface="+mn-lt"/>
                <a:ea typeface="+mn-ea"/>
                <a:cs typeface="+mn-cs"/>
              </a:rPr>
              <a:t>Not all breakdowns or problems occur during the day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There is a need to have lighting equipment available to allow work to be carried out on vehicles at night time – such as floodlights, inspection lights, torches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All weather conditions – meaning there may be a need to take action in the heat of the day, during rain or a storm, and/or in high winds. These conditions may require:</a:t>
            </a:r>
          </a:p>
          <a:p>
            <a:pPr marL="628650" lvl="1" indent="-171450">
              <a:buFont typeface="Arial" pitchFamily="34" charset="0"/>
              <a:buChar char="•"/>
            </a:pPr>
            <a:r>
              <a:rPr lang="en-US" sz="1200" kern="1200" dirty="0" smtClean="0">
                <a:solidFill>
                  <a:schemeClr val="tx1"/>
                </a:solidFill>
                <a:latin typeface="+mn-lt"/>
                <a:ea typeface="+mn-ea"/>
                <a:cs typeface="+mn-cs"/>
              </a:rPr>
              <a:t>Waiting – until unacceptable conditions pass and it is safe/safer to take action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Seeking shade from the sun – or moving the vehicle to a shaded location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Erecting barricades against the wind/dust/sand – and/or moving the vehicle to a protected position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Placing the vehicle under cover or putting up a cover of some description – to avoid rain</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In tight or confined spaces – such as:</a:t>
            </a:r>
          </a:p>
          <a:p>
            <a:pPr marL="628650" lvl="1" indent="-171450">
              <a:buFont typeface="Arial" pitchFamily="34" charset="0"/>
              <a:buChar char="•"/>
            </a:pPr>
            <a:r>
              <a:rPr lang="en-US" sz="1200" i="1" kern="1200" dirty="0" smtClean="0">
                <a:solidFill>
                  <a:schemeClr val="tx1"/>
                </a:solidFill>
                <a:latin typeface="+mn-lt"/>
                <a:ea typeface="+mn-ea"/>
                <a:cs typeface="+mn-cs"/>
              </a:rPr>
              <a:t>In situ</a:t>
            </a:r>
            <a:r>
              <a:rPr lang="en-US" sz="1200" kern="1200" dirty="0" smtClean="0">
                <a:solidFill>
                  <a:schemeClr val="tx1"/>
                </a:solidFill>
                <a:latin typeface="+mn-lt"/>
                <a:ea typeface="+mn-ea"/>
                <a:cs typeface="+mn-cs"/>
              </a:rPr>
              <a:t> in a parking area or parking bay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When wedged/stuck in an off-road situation – prior to taking other action to retrieve the vehicle.</a:t>
            </a:r>
            <a:endParaRPr lang="en-AU" sz="1200" kern="1200" dirty="0" smtClean="0">
              <a:solidFill>
                <a:schemeClr val="tx1"/>
              </a:solidFill>
              <a:latin typeface="+mn-lt"/>
              <a:ea typeface="+mn-ea"/>
              <a:cs typeface="+mn-cs"/>
            </a:endParaRPr>
          </a:p>
          <a:p>
            <a:pPr>
              <a:buFont typeface="Arial" pitchFamily="34" charset="0"/>
              <a:buChar char="•"/>
            </a:pPr>
            <a:endParaRPr lang="en-AU" sz="1200" kern="1200" dirty="0" smtClean="0">
              <a:solidFill>
                <a:schemeClr val="tx1"/>
              </a:solidFill>
              <a:latin typeface="+mn-lt"/>
              <a:ea typeface="+mn-ea"/>
              <a:cs typeface="+mn-cs"/>
            </a:endParaRPr>
          </a:p>
          <a:p>
            <a:pPr>
              <a:buFont typeface="Arial" pitchFamily="34" charset="0"/>
              <a:buChar char="•"/>
            </a:pPr>
            <a:endParaRPr lang="en-US"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34654337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explaining different conditions under which service or repairs may be required:</a:t>
            </a:r>
          </a:p>
          <a:p>
            <a:pPr marL="171450" indent="-171450">
              <a:buFont typeface="Arial" pitchFamily="34" charset="0"/>
              <a:buChar char="•"/>
            </a:pPr>
            <a:r>
              <a:rPr lang="en-AU" sz="1200" kern="1200" dirty="0" smtClean="0">
                <a:solidFill>
                  <a:schemeClr val="tx1"/>
                </a:solidFill>
                <a:latin typeface="+mn-lt"/>
                <a:ea typeface="+mn-ea"/>
                <a:cs typeface="+mn-cs"/>
              </a:rPr>
              <a:t>In closed and controlled locations as well as in exposed and open environments – where:</a:t>
            </a:r>
          </a:p>
          <a:p>
            <a:pPr marL="628650" lvl="1" indent="-171450">
              <a:buFont typeface="Arial" pitchFamily="34" charset="0"/>
              <a:buChar char="•"/>
            </a:pPr>
            <a:r>
              <a:rPr lang="en-US" sz="1200" kern="1200" dirty="0" smtClean="0">
                <a:solidFill>
                  <a:schemeClr val="tx1"/>
                </a:solidFill>
                <a:latin typeface="+mn-lt"/>
                <a:ea typeface="+mn-ea"/>
                <a:cs typeface="+mn-cs"/>
              </a:rPr>
              <a:t>Closed and controlled locations can refer to a workshop, depot, base, warehouse or client workplace (office, pick-up or transfer point, muster area) or other position where:</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There is no danger from passing vehicles</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There is no adverse impact from the environment/climatic conditions</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Significant tools and equipment are readily available</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There is a ready source of spare parts and fluids</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The vehicle can be moved around, and maintained/repaired in, the location where it is parked</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Exposed and open environments refers to on-the-road and on-tour locations where: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Other vehicles are passing or over-taking the vehicle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The vehicle is open to the elements – and other factors which might include dangers/risks posed by animals, crowds, rising water</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Only on-board tools, spare parts and fluids are available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The vehicle may need to be moved to a different position in order to allow work to be safely and effectively undertaken – such as off a grade, or away from/out of mud or sand.</a:t>
            </a:r>
            <a:endParaRPr lang="en-AU" sz="1200" kern="1200" dirty="0" smtClean="0">
              <a:solidFill>
                <a:schemeClr val="tx1"/>
              </a:solidFill>
              <a:latin typeface="+mn-lt"/>
              <a:ea typeface="+mn-ea"/>
              <a:cs typeface="+mn-cs"/>
            </a:endParaRPr>
          </a:p>
          <a:p>
            <a:pPr>
              <a:buFont typeface="Arial" pitchFamily="34" charset="0"/>
              <a:buChar char="•"/>
            </a:pPr>
            <a:endParaRPr lang="en-AU" sz="1200" kern="1200" dirty="0" smtClean="0">
              <a:solidFill>
                <a:schemeClr val="tx1"/>
              </a:solidFill>
              <a:latin typeface="+mn-lt"/>
              <a:ea typeface="+mn-ea"/>
              <a:cs typeface="+mn-cs"/>
            </a:endParaRPr>
          </a:p>
          <a:p>
            <a:pPr>
              <a:buFont typeface="Arial" pitchFamily="34" charset="0"/>
              <a:buChar char="•"/>
            </a:pPr>
            <a:endParaRPr lang="en-US"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39497651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describes activities involved in the inspection process:</a:t>
            </a:r>
          </a:p>
          <a:p>
            <a:pPr marL="171450" indent="-171450">
              <a:buFont typeface="Arial" pitchFamily="34" charset="0"/>
              <a:buChar char="•"/>
            </a:pPr>
            <a:r>
              <a:rPr lang="en-AU" sz="1200" kern="1200" dirty="0" smtClean="0">
                <a:solidFill>
                  <a:schemeClr val="tx1"/>
                </a:solidFill>
                <a:latin typeface="+mn-lt"/>
                <a:ea typeface="+mn-ea"/>
                <a:cs typeface="+mn-cs"/>
              </a:rPr>
              <a:t>Looking at and under the vehicle and closely checking all aspects of the vehicle – while it is:</a:t>
            </a:r>
          </a:p>
          <a:p>
            <a:pPr marL="628650" lvl="1" indent="-171450">
              <a:buFont typeface="Arial" pitchFamily="34" charset="0"/>
              <a:buChar char="•"/>
            </a:pPr>
            <a:r>
              <a:rPr lang="en-AU" sz="1200" kern="1200" dirty="0" smtClean="0">
                <a:solidFill>
                  <a:schemeClr val="tx1"/>
                </a:solidFill>
                <a:latin typeface="+mn-lt"/>
                <a:ea typeface="+mn-ea"/>
                <a:cs typeface="+mn-cs"/>
              </a:rPr>
              <a:t>On the ground, and/or</a:t>
            </a:r>
          </a:p>
          <a:p>
            <a:pPr marL="628650" lvl="1" indent="-171450">
              <a:buFont typeface="Arial" pitchFamily="34" charset="0"/>
              <a:buChar char="•"/>
            </a:pPr>
            <a:r>
              <a:rPr lang="en-AU" sz="1200" kern="1200" dirty="0" smtClean="0">
                <a:solidFill>
                  <a:schemeClr val="tx1"/>
                </a:solidFill>
                <a:latin typeface="+mn-lt"/>
                <a:ea typeface="+mn-ea"/>
                <a:cs typeface="+mn-cs"/>
              </a:rPr>
              <a:t>On a hoist or over an inspection pit – if a hoist or inspection pit is not available the inspection can occur by using:</a:t>
            </a:r>
          </a:p>
          <a:p>
            <a:pPr marL="628650" lvl="1" indent="-171450">
              <a:buFont typeface="Arial" pitchFamily="34" charset="0"/>
              <a:buChar char="•"/>
            </a:pPr>
            <a:r>
              <a:rPr lang="en-AU" sz="1200" kern="1200" dirty="0" smtClean="0">
                <a:solidFill>
                  <a:schemeClr val="tx1"/>
                </a:solidFill>
                <a:latin typeface="+mn-lt"/>
                <a:ea typeface="+mn-ea"/>
                <a:cs typeface="+mn-cs"/>
              </a:rPr>
              <a:t>Trolley jacks</a:t>
            </a:r>
          </a:p>
          <a:p>
            <a:pPr marL="628650" lvl="1" indent="-171450">
              <a:buFont typeface="Arial" pitchFamily="34" charset="0"/>
              <a:buChar char="•"/>
            </a:pPr>
            <a:r>
              <a:rPr lang="en-AU" sz="1200" kern="1200" dirty="0" smtClean="0">
                <a:solidFill>
                  <a:schemeClr val="tx1"/>
                </a:solidFill>
                <a:latin typeface="+mn-lt"/>
                <a:ea typeface="+mn-ea"/>
                <a:cs typeface="+mn-cs"/>
              </a:rPr>
              <a:t>Car stands</a:t>
            </a:r>
          </a:p>
          <a:p>
            <a:pPr marL="628650" lvl="1" indent="-171450">
              <a:buFont typeface="Arial" pitchFamily="34" charset="0"/>
              <a:buChar char="•"/>
            </a:pPr>
            <a:r>
              <a:rPr lang="en-AU" sz="1200" kern="1200" dirty="0" smtClean="0">
                <a:solidFill>
                  <a:schemeClr val="tx1"/>
                </a:solidFill>
                <a:latin typeface="+mn-lt"/>
                <a:ea typeface="+mn-ea"/>
                <a:cs typeface="+mn-cs"/>
              </a:rPr>
              <a:t>Under-vehicle car trolleys/creepers</a:t>
            </a:r>
          </a:p>
          <a:p>
            <a:pPr marL="171450" indent="-171450">
              <a:buFont typeface="Arial" pitchFamily="34" charset="0"/>
              <a:buChar char="•"/>
            </a:pPr>
            <a:r>
              <a:rPr lang="en-AU" sz="1200" kern="1200" dirty="0" smtClean="0">
                <a:solidFill>
                  <a:schemeClr val="tx1"/>
                </a:solidFill>
                <a:latin typeface="+mn-lt"/>
                <a:ea typeface="+mn-ea"/>
                <a:cs typeface="+mn-cs"/>
              </a:rPr>
              <a:t>Lighting the areas being inspected – with:</a:t>
            </a:r>
          </a:p>
          <a:p>
            <a:pPr marL="628650" lvl="1" indent="-171450">
              <a:buFont typeface="Arial" pitchFamily="34" charset="0"/>
              <a:buChar char="•"/>
            </a:pPr>
            <a:r>
              <a:rPr lang="en-US" sz="1200" kern="1200" dirty="0" smtClean="0">
                <a:solidFill>
                  <a:schemeClr val="tx1"/>
                </a:solidFill>
                <a:latin typeface="+mn-lt"/>
                <a:ea typeface="+mn-ea"/>
                <a:cs typeface="+mn-cs"/>
              </a:rPr>
              <a:t>Inspection lights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Torches.</a:t>
            </a:r>
            <a:endParaRPr lang="en-AU" sz="1200" kern="120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AU" sz="1200" b="1" kern="1200" dirty="0" smtClean="0">
                <a:solidFill>
                  <a:schemeClr val="tx1"/>
                </a:solidFill>
                <a:latin typeface="+mn-lt"/>
                <a:ea typeface="+mn-ea"/>
                <a:cs typeface="+mn-cs"/>
              </a:rPr>
              <a:t>Classroom Activity – Demonstration and Practical </a:t>
            </a:r>
          </a:p>
          <a:p>
            <a:pPr>
              <a:buFont typeface="Arial" pitchFamily="34" charset="0"/>
              <a:buNone/>
            </a:pPr>
            <a:r>
              <a:rPr lang="en-AU" sz="1200" b="0" kern="1200" dirty="0" smtClean="0">
                <a:solidFill>
                  <a:schemeClr val="tx1"/>
                </a:solidFill>
                <a:latin typeface="+mn-lt"/>
                <a:ea typeface="+mn-ea"/>
                <a:cs typeface="+mn-cs"/>
              </a:rPr>
              <a:t>Trainer demonstrates and explains the vehicle inspection activities shown on the slide and provides opportunity for students to do the same.</a:t>
            </a: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23147107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describing activities involved in the inspection process:</a:t>
            </a:r>
          </a:p>
          <a:p>
            <a:pPr marL="171450" indent="-171450">
              <a:buFont typeface="Arial" pitchFamily="34" charset="0"/>
              <a:buChar char="•"/>
            </a:pPr>
            <a:r>
              <a:rPr lang="en-AU" sz="1200" kern="1200" dirty="0" smtClean="0">
                <a:solidFill>
                  <a:schemeClr val="tx1"/>
                </a:solidFill>
                <a:latin typeface="+mn-lt"/>
                <a:ea typeface="+mn-ea"/>
                <a:cs typeface="+mn-cs"/>
              </a:rPr>
              <a:t>Using a checklist – to:</a:t>
            </a:r>
          </a:p>
          <a:p>
            <a:pPr marL="628650" lvl="1" indent="-171450">
              <a:buFont typeface="Arial" pitchFamily="34" charset="0"/>
              <a:buChar char="•"/>
            </a:pPr>
            <a:r>
              <a:rPr lang="en-AU" sz="1200" kern="1200" dirty="0" smtClean="0">
                <a:solidFill>
                  <a:schemeClr val="tx1"/>
                </a:solidFill>
                <a:latin typeface="+mn-lt"/>
                <a:ea typeface="+mn-ea"/>
                <a:cs typeface="+mn-cs"/>
              </a:rPr>
              <a:t>Provide evidence the inspection occurred</a:t>
            </a:r>
          </a:p>
          <a:p>
            <a:pPr marL="628650" lvl="1" indent="-171450">
              <a:buFont typeface="Arial" pitchFamily="34" charset="0"/>
              <a:buChar char="•"/>
            </a:pPr>
            <a:r>
              <a:rPr lang="en-US" sz="1200" kern="1200" dirty="0" smtClean="0">
                <a:solidFill>
                  <a:schemeClr val="tx1"/>
                </a:solidFill>
                <a:latin typeface="+mn-lt"/>
                <a:ea typeface="+mn-ea"/>
                <a:cs typeface="+mn-cs"/>
              </a:rPr>
              <a:t>Note defects and matters requiring attention</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Inspecting the vehicle in pairs – so that:</a:t>
            </a:r>
          </a:p>
          <a:p>
            <a:pPr marL="628650" lvl="1" indent="-171450">
              <a:buFont typeface="Arial" pitchFamily="34" charset="0"/>
              <a:buChar char="•"/>
            </a:pPr>
            <a:r>
              <a:rPr lang="en-AU" sz="1200" kern="1200" dirty="0" smtClean="0">
                <a:solidFill>
                  <a:schemeClr val="tx1"/>
                </a:solidFill>
                <a:latin typeface="+mn-lt"/>
                <a:ea typeface="+mn-ea"/>
                <a:cs typeface="+mn-cs"/>
              </a:rPr>
              <a:t>Issues can be analysed/discussed</a:t>
            </a:r>
          </a:p>
          <a:p>
            <a:pPr marL="628650" lvl="1" indent="-171450">
              <a:buFont typeface="Arial" pitchFamily="34" charset="0"/>
              <a:buChar char="•"/>
            </a:pPr>
            <a:r>
              <a:rPr lang="en-AU" sz="1200" kern="1200" dirty="0" smtClean="0">
                <a:solidFill>
                  <a:schemeClr val="tx1"/>
                </a:solidFill>
                <a:latin typeface="+mn-lt"/>
                <a:ea typeface="+mn-ea"/>
                <a:cs typeface="+mn-cs"/>
              </a:rPr>
              <a:t>A more effective inspection takes place – that is, there is less chance something will be missed if two people do the inspection.</a:t>
            </a:r>
          </a:p>
          <a:p>
            <a:pPr>
              <a:buFont typeface="Arial" pitchFamily="34" charset="0"/>
              <a:buNone/>
            </a:pPr>
            <a:endParaRPr lang="en-US" noProof="0" dirty="0" smtClean="0"/>
          </a:p>
          <a:p>
            <a:pPr>
              <a:buFont typeface="Arial" pitchFamily="34" charset="0"/>
              <a:buNone/>
            </a:pPr>
            <a:r>
              <a:rPr lang="en-AU" sz="1200" b="1" kern="1200" dirty="0" smtClean="0">
                <a:solidFill>
                  <a:schemeClr val="tx1"/>
                </a:solidFill>
                <a:latin typeface="+mn-lt"/>
                <a:ea typeface="+mn-ea"/>
                <a:cs typeface="+mn-cs"/>
              </a:rPr>
              <a:t>Classroom Activity – Handout</a:t>
            </a:r>
          </a:p>
          <a:p>
            <a:pPr>
              <a:buFont typeface="Arial" pitchFamily="34" charset="0"/>
              <a:buNone/>
            </a:pPr>
            <a:r>
              <a:rPr lang="en-AU" sz="1200" b="0" kern="1200" dirty="0" smtClean="0">
                <a:solidFill>
                  <a:schemeClr val="tx1"/>
                </a:solidFill>
                <a:latin typeface="+mn-lt"/>
                <a:ea typeface="+mn-ea"/>
                <a:cs typeface="+mn-cs"/>
              </a:rPr>
              <a:t>Trainer distributes and discusses use of sample vehicle inspection checklist.</a:t>
            </a: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24199184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describing activities involved in the inspection process:</a:t>
            </a:r>
          </a:p>
          <a:p>
            <a:pPr marL="171450" indent="-171450">
              <a:buFont typeface="Arial" pitchFamily="34" charset="0"/>
              <a:buChar char="•"/>
            </a:pPr>
            <a:r>
              <a:rPr lang="en-AU" sz="1200" kern="1200" dirty="0" smtClean="0">
                <a:solidFill>
                  <a:schemeClr val="tx1"/>
                </a:solidFill>
                <a:latin typeface="+mn-lt"/>
                <a:ea typeface="+mn-ea"/>
                <a:cs typeface="+mn-cs"/>
              </a:rPr>
              <a:t>Looking for signs of damage to the vehicle – as these signs can indicate:</a:t>
            </a:r>
          </a:p>
          <a:p>
            <a:pPr marL="628650" lvl="1" indent="-171450">
              <a:buFont typeface="Arial" pitchFamily="34" charset="0"/>
              <a:buChar char="•"/>
            </a:pPr>
            <a:r>
              <a:rPr lang="en-AU" sz="1200" kern="1200" dirty="0" smtClean="0">
                <a:solidFill>
                  <a:schemeClr val="tx1"/>
                </a:solidFill>
                <a:latin typeface="+mn-lt"/>
                <a:ea typeface="+mn-ea"/>
                <a:cs typeface="+mn-cs"/>
              </a:rPr>
              <a:t>Where a more detailed inspection needs to occur to determine:</a:t>
            </a:r>
          </a:p>
          <a:p>
            <a:pPr marL="1085850" lvl="2" indent="-171450">
              <a:buFont typeface="Arial" pitchFamily="34" charset="0"/>
              <a:buChar char="•"/>
            </a:pPr>
            <a:r>
              <a:rPr lang="en-AU" sz="1200" kern="1200" dirty="0" smtClean="0">
                <a:solidFill>
                  <a:schemeClr val="tx1"/>
                </a:solidFill>
                <a:latin typeface="+mn-lt"/>
                <a:ea typeface="+mn-ea"/>
                <a:cs typeface="+mn-cs"/>
              </a:rPr>
              <a:t>If the damage </a:t>
            </a:r>
            <a:r>
              <a:rPr lang="en-AU" sz="1200" i="1" kern="1200" dirty="0" smtClean="0">
                <a:solidFill>
                  <a:schemeClr val="tx1"/>
                </a:solidFill>
                <a:latin typeface="+mn-lt"/>
                <a:ea typeface="+mn-ea"/>
                <a:cs typeface="+mn-cs"/>
              </a:rPr>
              <a:t>has caused a problem</a:t>
            </a:r>
            <a:r>
              <a:rPr lang="en-AU" sz="1200" kern="1200" dirty="0" smtClean="0">
                <a:solidFill>
                  <a:schemeClr val="tx1"/>
                </a:solidFill>
                <a:latin typeface="+mn-lt"/>
                <a:ea typeface="+mn-ea"/>
                <a:cs typeface="+mn-cs"/>
              </a:rPr>
              <a:t>/further problem</a:t>
            </a:r>
          </a:p>
          <a:p>
            <a:pPr marL="1085850" lvl="2" indent="-171450">
              <a:buFont typeface="Arial" pitchFamily="34" charset="0"/>
              <a:buChar char="•"/>
            </a:pPr>
            <a:r>
              <a:rPr lang="en-AU" sz="1200" kern="1200" dirty="0" smtClean="0">
                <a:solidFill>
                  <a:schemeClr val="tx1"/>
                </a:solidFill>
                <a:latin typeface="+mn-lt"/>
                <a:ea typeface="+mn-ea"/>
                <a:cs typeface="+mn-cs"/>
              </a:rPr>
              <a:t>Whether </a:t>
            </a:r>
            <a:r>
              <a:rPr lang="en-AU" sz="1200" i="1" kern="1200" dirty="0" smtClean="0">
                <a:solidFill>
                  <a:schemeClr val="tx1"/>
                </a:solidFill>
                <a:latin typeface="+mn-lt"/>
                <a:ea typeface="+mn-ea"/>
                <a:cs typeface="+mn-cs"/>
              </a:rPr>
              <a:t>the damage is a result</a:t>
            </a:r>
            <a:r>
              <a:rPr lang="en-AU" sz="1200" kern="1200" dirty="0" smtClean="0">
                <a:solidFill>
                  <a:schemeClr val="tx1"/>
                </a:solidFill>
                <a:latin typeface="+mn-lt"/>
                <a:ea typeface="+mn-ea"/>
                <a:cs typeface="+mn-cs"/>
              </a:rPr>
              <a:t> of another issue</a:t>
            </a:r>
          </a:p>
          <a:p>
            <a:pPr marL="628650" lvl="1" indent="-171450">
              <a:buFont typeface="Arial" pitchFamily="34" charset="0"/>
              <a:buChar char="•"/>
            </a:pPr>
            <a:r>
              <a:rPr lang="en-AU" sz="1200" kern="1200" dirty="0" smtClean="0">
                <a:solidFill>
                  <a:schemeClr val="tx1"/>
                </a:solidFill>
                <a:latin typeface="+mn-lt"/>
                <a:ea typeface="+mn-ea"/>
                <a:cs typeface="+mn-cs"/>
              </a:rPr>
              <a:t>Need for immediate action – to:</a:t>
            </a:r>
          </a:p>
          <a:p>
            <a:pPr marL="1085850" lvl="2" indent="-171450">
              <a:buFont typeface="Arial" pitchFamily="34" charset="0"/>
              <a:buChar char="•"/>
            </a:pPr>
            <a:r>
              <a:rPr lang="en-AU" sz="1200" kern="1200" dirty="0" smtClean="0">
                <a:solidFill>
                  <a:schemeClr val="tx1"/>
                </a:solidFill>
                <a:latin typeface="+mn-lt"/>
                <a:ea typeface="+mn-ea"/>
                <a:cs typeface="+mn-cs"/>
              </a:rPr>
              <a:t>Fix the cause</a:t>
            </a:r>
          </a:p>
          <a:p>
            <a:pPr marL="1085850" lvl="2" indent="-171450">
              <a:buFont typeface="Arial" pitchFamily="34" charset="0"/>
              <a:buChar char="•"/>
            </a:pPr>
            <a:r>
              <a:rPr lang="en-AU" sz="1200" kern="1200" dirty="0" smtClean="0">
                <a:solidFill>
                  <a:schemeClr val="tx1"/>
                </a:solidFill>
                <a:latin typeface="+mn-lt"/>
                <a:ea typeface="+mn-ea"/>
                <a:cs typeface="+mn-cs"/>
              </a:rPr>
              <a:t>Take temporary action to reduce/prevent further damage</a:t>
            </a:r>
          </a:p>
          <a:p>
            <a:pPr marL="1085850" lvl="2" indent="-171450">
              <a:buFont typeface="Arial" pitchFamily="34" charset="0"/>
              <a:buChar char="•"/>
            </a:pPr>
            <a:r>
              <a:rPr lang="en-AU" sz="1200" kern="1200" dirty="0" smtClean="0">
                <a:solidFill>
                  <a:schemeClr val="tx1"/>
                </a:solidFill>
                <a:latin typeface="+mn-lt"/>
                <a:ea typeface="+mn-ea"/>
                <a:cs typeface="+mn-cs"/>
              </a:rPr>
              <a:t>Keep the vehicle on-the-road/operational</a:t>
            </a:r>
          </a:p>
          <a:p>
            <a:pPr marL="628650" lvl="1" indent="-171450">
              <a:buFont typeface="Arial" pitchFamily="34" charset="0"/>
              <a:buChar char="•"/>
            </a:pPr>
            <a:r>
              <a:rPr lang="en-AU" sz="1200" kern="1200" dirty="0" smtClean="0">
                <a:solidFill>
                  <a:schemeClr val="tx1"/>
                </a:solidFill>
                <a:latin typeface="+mn-lt"/>
                <a:ea typeface="+mn-ea"/>
                <a:cs typeface="+mn-cs"/>
              </a:rPr>
              <a:t>Need to take later action – which may not be </a:t>
            </a:r>
            <a:r>
              <a:rPr lang="en-AU" sz="1200" i="1" kern="1200" dirty="0" smtClean="0">
                <a:solidFill>
                  <a:schemeClr val="tx1"/>
                </a:solidFill>
                <a:latin typeface="+mn-lt"/>
                <a:ea typeface="+mn-ea"/>
                <a:cs typeface="+mn-cs"/>
              </a:rPr>
              <a:t>immediately</a:t>
            </a:r>
            <a:r>
              <a:rPr lang="en-AU" sz="1200" kern="1200" dirty="0" smtClean="0">
                <a:solidFill>
                  <a:schemeClr val="tx1"/>
                </a:solidFill>
                <a:latin typeface="+mn-lt"/>
                <a:ea typeface="+mn-ea"/>
                <a:cs typeface="+mn-cs"/>
              </a:rPr>
              <a:t> necessary to </a:t>
            </a:r>
          </a:p>
          <a:p>
            <a:pPr marL="628650" lvl="1" indent="-171450">
              <a:buFont typeface="Arial" pitchFamily="34" charset="0"/>
              <a:buChar char="•"/>
            </a:pPr>
            <a:r>
              <a:rPr lang="en-AU" sz="1200" kern="1200" dirty="0" smtClean="0">
                <a:solidFill>
                  <a:schemeClr val="tx1"/>
                </a:solidFill>
                <a:latin typeface="+mn-lt"/>
                <a:ea typeface="+mn-ea"/>
                <a:cs typeface="+mn-cs"/>
              </a:rPr>
              <a:t>Possible cause or source of the damage</a:t>
            </a:r>
          </a:p>
          <a:p>
            <a:pPr marL="628650" lvl="1" indent="-171450">
              <a:buFont typeface="Arial" pitchFamily="34" charset="0"/>
              <a:buChar char="•"/>
            </a:pPr>
            <a:r>
              <a:rPr lang="en-AU" sz="1200" kern="1200" dirty="0" smtClean="0">
                <a:solidFill>
                  <a:schemeClr val="tx1"/>
                </a:solidFill>
                <a:latin typeface="+mn-lt"/>
                <a:ea typeface="+mn-ea"/>
                <a:cs typeface="+mn-cs"/>
              </a:rPr>
              <a:t>What  may be needed/possible to prevent recurrence</a:t>
            </a:r>
          </a:p>
          <a:p>
            <a:pPr marL="171450" indent="-171450">
              <a:buFont typeface="Arial" pitchFamily="34" charset="0"/>
              <a:buChar char="•"/>
            </a:pPr>
            <a:r>
              <a:rPr lang="en-AU" sz="1200" kern="1200" dirty="0" smtClean="0">
                <a:solidFill>
                  <a:schemeClr val="tx1"/>
                </a:solidFill>
                <a:latin typeface="+mn-lt"/>
                <a:ea typeface="+mn-ea"/>
                <a:cs typeface="+mn-cs"/>
              </a:rPr>
              <a:t>Checking for missing parts – from:</a:t>
            </a:r>
          </a:p>
          <a:p>
            <a:pPr marL="628650" lvl="1" indent="-171450">
              <a:buFont typeface="Arial" pitchFamily="34" charset="0"/>
              <a:buChar char="•"/>
            </a:pPr>
            <a:r>
              <a:rPr lang="en-US" sz="1200" kern="1200" dirty="0" smtClean="0">
                <a:solidFill>
                  <a:schemeClr val="tx1"/>
                </a:solidFill>
                <a:latin typeface="+mn-lt"/>
                <a:ea typeface="+mn-ea"/>
                <a:cs typeface="+mn-cs"/>
              </a:rPr>
              <a:t>Inside the cabin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Inside the passenger area</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On the exterior of the vehicle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Under the hood/bonnet.</a:t>
            </a:r>
            <a:endParaRPr lang="en-AU" sz="1200" kern="1200" dirty="0" smtClean="0">
              <a:solidFill>
                <a:schemeClr val="tx1"/>
              </a:solidFill>
              <a:latin typeface="+mn-lt"/>
              <a:ea typeface="+mn-ea"/>
              <a:cs typeface="+mn-cs"/>
            </a:endParaRPr>
          </a:p>
          <a:p>
            <a:pPr>
              <a:buFont typeface="Arial" pitchFamily="34" charset="0"/>
              <a:buChar char="•"/>
            </a:pPr>
            <a:endParaRPr lang="en-US" noProof="0" dirty="0" smtClean="0"/>
          </a:p>
          <a:p>
            <a:pPr>
              <a:buFont typeface="Arial" pitchFamily="34" charset="0"/>
              <a:buNone/>
            </a:pPr>
            <a:r>
              <a:rPr lang="en-AU" sz="1200" b="1" kern="1200" dirty="0" smtClean="0">
                <a:solidFill>
                  <a:schemeClr val="tx1"/>
                </a:solidFill>
                <a:latin typeface="+mn-lt"/>
                <a:ea typeface="+mn-ea"/>
                <a:cs typeface="+mn-cs"/>
              </a:rPr>
              <a:t>Classroom Activity – Demonstration and Practical </a:t>
            </a:r>
          </a:p>
          <a:p>
            <a:pPr>
              <a:buFont typeface="Arial" pitchFamily="34" charset="0"/>
              <a:buNone/>
            </a:pPr>
            <a:r>
              <a:rPr lang="en-AU" sz="1200" b="0" kern="1200" dirty="0" smtClean="0">
                <a:solidFill>
                  <a:schemeClr val="tx1"/>
                </a:solidFill>
                <a:latin typeface="+mn-lt"/>
                <a:ea typeface="+mn-ea"/>
                <a:cs typeface="+mn-cs"/>
              </a:rPr>
              <a:t>Trainer demonstrates and explains the vehicle inspection activities shown on the slide and provides opportunity for students to do the same.</a:t>
            </a: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2284812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describing activities involved in the inspection process:</a:t>
            </a:r>
          </a:p>
          <a:p>
            <a:pPr marL="171450" indent="-171450">
              <a:buFont typeface="Arial" pitchFamily="34" charset="0"/>
              <a:buChar char="•"/>
            </a:pPr>
            <a:r>
              <a:rPr lang="en-AU" sz="1200" kern="1200" dirty="0" smtClean="0">
                <a:solidFill>
                  <a:schemeClr val="tx1"/>
                </a:solidFill>
                <a:latin typeface="+mn-lt"/>
                <a:ea typeface="+mn-ea"/>
                <a:cs typeface="+mn-cs"/>
              </a:rPr>
              <a:t>Noting leaking fluids – as this can:</a:t>
            </a:r>
          </a:p>
          <a:p>
            <a:pPr marL="628650" lvl="1" indent="-171450">
              <a:buFont typeface="Arial" pitchFamily="34" charset="0"/>
              <a:buChar char="•"/>
            </a:pPr>
            <a:r>
              <a:rPr lang="en-US" sz="1200" kern="1200" dirty="0" smtClean="0">
                <a:solidFill>
                  <a:schemeClr val="tx1"/>
                </a:solidFill>
                <a:latin typeface="+mn-lt"/>
                <a:ea typeface="+mn-ea"/>
                <a:cs typeface="+mn-cs"/>
              </a:rPr>
              <a:t>Identify type of fluid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Identify location of leak</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Indicate severity of problem</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Determine, to an extent, the type of problem needing to be addressed</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Identifying projections from the vehicle – this relates to:</a:t>
            </a:r>
          </a:p>
          <a:p>
            <a:pPr marL="628650" lvl="1" indent="-171450">
              <a:buFont typeface="Arial" pitchFamily="34" charset="0"/>
              <a:buChar char="•"/>
            </a:pPr>
            <a:r>
              <a:rPr lang="en-US" sz="1200" kern="1200" dirty="0" smtClean="0">
                <a:solidFill>
                  <a:schemeClr val="tx1"/>
                </a:solidFill>
                <a:latin typeface="+mn-lt"/>
                <a:ea typeface="+mn-ea"/>
                <a:cs typeface="+mn-cs"/>
              </a:rPr>
              <a:t>Body parts which have been worked loose, damaged or snagged and are hanging loose or sticking out from beyond the normal dimensions of the vehicle presenting a danger to other vehicles, people or structures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Items caught up under the vehicle or under wheel wells, around wheels and brake lines, in the engine bay or from vehicle protection bars or lighting bars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Taking immediate action to rectify problems – which can be quickly and easily fixed on-the-spot, such as:</a:t>
            </a:r>
          </a:p>
          <a:p>
            <a:pPr marL="628650" lvl="1" indent="-171450">
              <a:buFont typeface="Arial" pitchFamily="34" charset="0"/>
              <a:buChar char="•"/>
            </a:pPr>
            <a:r>
              <a:rPr lang="en-US" sz="1200" kern="1200" dirty="0" smtClean="0">
                <a:solidFill>
                  <a:schemeClr val="tx1"/>
                </a:solidFill>
                <a:latin typeface="+mn-lt"/>
                <a:ea typeface="+mn-ea"/>
                <a:cs typeface="+mn-cs"/>
              </a:rPr>
              <a:t>Clearing blockages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Tightening screws, nuts, bolts and fittings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Checking condition of vehicle instruments – while this is not just a visual inspection it </a:t>
            </a:r>
            <a:r>
              <a:rPr lang="en-AU" sz="1200" i="1" kern="1200" dirty="0" smtClean="0">
                <a:solidFill>
                  <a:schemeClr val="tx1"/>
                </a:solidFill>
                <a:latin typeface="+mn-lt"/>
                <a:ea typeface="+mn-ea"/>
                <a:cs typeface="+mn-cs"/>
              </a:rPr>
              <a:t>involves</a:t>
            </a:r>
            <a:r>
              <a:rPr lang="en-AU" sz="1200" kern="1200" dirty="0" smtClean="0">
                <a:solidFill>
                  <a:schemeClr val="tx1"/>
                </a:solidFill>
                <a:latin typeface="+mn-lt"/>
                <a:ea typeface="+mn-ea"/>
                <a:cs typeface="+mn-cs"/>
              </a:rPr>
              <a:t> a visual element in relation to, for example:</a:t>
            </a:r>
          </a:p>
          <a:p>
            <a:pPr marL="628650" lvl="1" indent="-171450">
              <a:buFont typeface="Arial" pitchFamily="34" charset="0"/>
              <a:buChar char="•"/>
            </a:pPr>
            <a:r>
              <a:rPr lang="en-US" sz="1200" kern="1200" dirty="0" smtClean="0">
                <a:solidFill>
                  <a:schemeClr val="tx1"/>
                </a:solidFill>
                <a:latin typeface="+mn-lt"/>
                <a:ea typeface="+mn-ea"/>
                <a:cs typeface="+mn-cs"/>
              </a:rPr>
              <a:t>Confirming travel of pedals and freedom from blockages/interference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Activating knobs and switches and </a:t>
            </a:r>
            <a:r>
              <a:rPr lang="en-US" sz="1200" i="1" kern="1200" dirty="0" smtClean="0">
                <a:solidFill>
                  <a:schemeClr val="tx1"/>
                </a:solidFill>
                <a:latin typeface="+mn-lt"/>
                <a:ea typeface="+mn-ea"/>
                <a:cs typeface="+mn-cs"/>
              </a:rPr>
              <a:t>seeing</a:t>
            </a:r>
            <a:r>
              <a:rPr lang="en-US" sz="1200" kern="1200" dirty="0" smtClean="0">
                <a:solidFill>
                  <a:schemeClr val="tx1"/>
                </a:solidFill>
                <a:latin typeface="+mn-lt"/>
                <a:ea typeface="+mn-ea"/>
                <a:cs typeface="+mn-cs"/>
              </a:rPr>
              <a:t> they function as required.</a:t>
            </a: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r>
              <a:rPr lang="en-AU" sz="1200" b="1" kern="1200" dirty="0" smtClean="0">
                <a:solidFill>
                  <a:schemeClr val="tx1"/>
                </a:solidFill>
                <a:latin typeface="+mn-lt"/>
                <a:ea typeface="+mn-ea"/>
                <a:cs typeface="+mn-cs"/>
              </a:rPr>
              <a:t>Classroom Activity – Demonstration and Practical </a:t>
            </a:r>
          </a:p>
          <a:p>
            <a:pPr>
              <a:buFont typeface="Arial" pitchFamily="34" charset="0"/>
              <a:buNone/>
            </a:pPr>
            <a:r>
              <a:rPr lang="en-AU" sz="1200" b="0" kern="1200" dirty="0" smtClean="0">
                <a:solidFill>
                  <a:schemeClr val="tx1"/>
                </a:solidFill>
                <a:latin typeface="+mn-lt"/>
                <a:ea typeface="+mn-ea"/>
                <a:cs typeface="+mn-cs"/>
              </a:rPr>
              <a:t>Trainer demonstrates and explains the vehicle inspection activities shown on the slide and provides opportunity for students to do the same.</a:t>
            </a:r>
          </a:p>
          <a:p>
            <a:pPr>
              <a:buFont typeface="Arial" pitchFamily="34" charset="0"/>
              <a:buNone/>
            </a:pPr>
            <a:endParaRPr lang="en-AU" sz="1200" b="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28383143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a:t>
            </a:r>
            <a:r>
              <a:rPr lang="en-AU" sz="1200" kern="1200" dirty="0" smtClean="0">
                <a:solidFill>
                  <a:schemeClr val="tx1"/>
                </a:solidFill>
                <a:latin typeface="+mn-lt"/>
                <a:ea typeface="+mn-ea"/>
                <a:cs typeface="+mn-cs"/>
              </a:rPr>
              <a:t>states in essence this check seeks to identify:</a:t>
            </a:r>
          </a:p>
          <a:p>
            <a:pPr marL="171450" indent="-171450">
              <a:buFont typeface="Arial" pitchFamily="34" charset="0"/>
              <a:buChar char="•"/>
            </a:pPr>
            <a:r>
              <a:rPr lang="en-AU" sz="1200" kern="1200" dirty="0" smtClean="0">
                <a:solidFill>
                  <a:schemeClr val="tx1"/>
                </a:solidFill>
                <a:latin typeface="+mn-lt"/>
                <a:ea typeface="+mn-ea"/>
                <a:cs typeface="+mn-cs"/>
              </a:rPr>
              <a:t>If there is damage – to panels (which adversely impact the appearance of the vehicle – and/or the structure integrity of the vehicle (which may compromise strength, tracking and handling) </a:t>
            </a:r>
          </a:p>
          <a:p>
            <a:pPr marL="171450" indent="-171450">
              <a:buFont typeface="Arial" pitchFamily="34" charset="0"/>
              <a:buChar char="•"/>
            </a:pPr>
            <a:r>
              <a:rPr lang="en-AU" sz="1200" kern="1200" dirty="0" smtClean="0">
                <a:solidFill>
                  <a:schemeClr val="tx1"/>
                </a:solidFill>
                <a:latin typeface="+mn-lt"/>
                <a:ea typeface="+mn-ea"/>
                <a:cs typeface="+mn-cs"/>
              </a:rPr>
              <a:t>If there are problems with vehicle stability and suspension – which can present handling, ride comfort and safety problems</a:t>
            </a:r>
          </a:p>
          <a:p>
            <a:pPr marL="171450" indent="-171450">
              <a:buFont typeface="Arial" pitchFamily="34" charset="0"/>
              <a:buChar char="•"/>
            </a:pPr>
            <a:r>
              <a:rPr lang="en-AU" sz="1200" kern="1200" dirty="0" smtClean="0">
                <a:solidFill>
                  <a:schemeClr val="tx1"/>
                </a:solidFill>
                <a:latin typeface="+mn-lt"/>
                <a:ea typeface="+mn-ea"/>
                <a:cs typeface="+mn-cs"/>
              </a:rPr>
              <a:t>If there are issues with luggage and pack racks – which may cause units to work loose from the vehicle and damage the body, or become separated from the vehicle.</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1055428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explains in relation to </a:t>
            </a:r>
            <a:r>
              <a:rPr lang="en-AU" sz="1200" kern="1200" dirty="0" smtClean="0">
                <a:solidFill>
                  <a:schemeClr val="tx1"/>
                </a:solidFill>
                <a:latin typeface="+mn-lt"/>
                <a:ea typeface="+mn-ea"/>
                <a:cs typeface="+mn-cs"/>
              </a:rPr>
              <a:t>the physical appearance of the vehicle it must be remembered:</a:t>
            </a:r>
          </a:p>
          <a:p>
            <a:pPr marL="171450" indent="-171450">
              <a:buFont typeface="Arial" pitchFamily="34" charset="0"/>
              <a:buChar char="•"/>
            </a:pPr>
            <a:r>
              <a:rPr lang="en-AU" sz="1200" kern="1200" dirty="0" smtClean="0">
                <a:solidFill>
                  <a:schemeClr val="tx1"/>
                </a:solidFill>
                <a:latin typeface="+mn-lt"/>
                <a:ea typeface="+mn-ea"/>
                <a:cs typeface="+mn-cs"/>
              </a:rPr>
              <a:t>The vehicle nearly always has the name of the tour company on it – so people judge the business by the way the vehicle looks (and the way it is driven)</a:t>
            </a:r>
          </a:p>
          <a:p>
            <a:pPr marL="171450" indent="-171450">
              <a:buFont typeface="Arial" pitchFamily="34" charset="0"/>
              <a:buChar char="•"/>
            </a:pPr>
            <a:r>
              <a:rPr lang="en-AU" sz="1200" kern="1200" dirty="0" smtClean="0">
                <a:solidFill>
                  <a:schemeClr val="tx1"/>
                </a:solidFill>
                <a:latin typeface="+mn-lt"/>
                <a:ea typeface="+mn-ea"/>
                <a:cs typeface="+mn-cs"/>
              </a:rPr>
              <a:t>People (including tour group members) draw inferences about the tour and the tour organisation based on the way the vehicle looks – as in:</a:t>
            </a:r>
          </a:p>
          <a:p>
            <a:pPr marL="628650" lvl="1" indent="-171450">
              <a:buFont typeface="Arial" pitchFamily="34" charset="0"/>
              <a:buChar char="•"/>
            </a:pPr>
            <a:r>
              <a:rPr lang="en-AU" sz="1200" kern="1200" dirty="0" smtClean="0">
                <a:solidFill>
                  <a:schemeClr val="tx1"/>
                </a:solidFill>
                <a:latin typeface="+mn-lt"/>
                <a:ea typeface="+mn-ea"/>
                <a:cs typeface="+mn-cs"/>
              </a:rPr>
              <a:t>A well-presented, clean, undamaged vehicle tends to generate confidence in the tour staff and the tour operator</a:t>
            </a:r>
          </a:p>
          <a:p>
            <a:pPr marL="628650" lvl="1" indent="-171450">
              <a:buFont typeface="Arial" pitchFamily="34" charset="0"/>
              <a:buChar char="•"/>
            </a:pPr>
            <a:r>
              <a:rPr lang="en-AU" sz="1200" kern="1200" dirty="0" smtClean="0">
                <a:solidFill>
                  <a:schemeClr val="tx1"/>
                </a:solidFill>
                <a:latin typeface="+mn-lt"/>
                <a:ea typeface="+mn-ea"/>
                <a:cs typeface="+mn-cs"/>
              </a:rPr>
              <a:t>A poorly presented vehicle that looks dirty and lacking in maintenance will cause concern among tour group members and often cause them to look for problems elsewhere with the tour</a:t>
            </a:r>
          </a:p>
          <a:p>
            <a:pPr marL="171450" indent="-171450">
              <a:buFont typeface="Arial" pitchFamily="34" charset="0"/>
              <a:buChar char="•"/>
            </a:pPr>
            <a:r>
              <a:rPr lang="en-AU" sz="1200" kern="1200" dirty="0" smtClean="0">
                <a:solidFill>
                  <a:schemeClr val="tx1"/>
                </a:solidFill>
                <a:latin typeface="+mn-lt"/>
                <a:ea typeface="+mn-ea"/>
                <a:cs typeface="+mn-cs"/>
              </a:rPr>
              <a:t>Tour group members expect their tour vehicles to be clean and properly maintained when they commence a tour – and be appropriately serviced as required while on tour.</a:t>
            </a:r>
          </a:p>
          <a:p>
            <a:pPr>
              <a:buFont typeface="Arial" pitchFamily="34" charset="0"/>
              <a:buChar char="•"/>
            </a:pPr>
            <a:endParaRPr lang="en-US"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10716167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indicates </a:t>
            </a:r>
            <a:r>
              <a:rPr lang="en-AU" sz="1200" kern="1200" dirty="0" smtClean="0">
                <a:solidFill>
                  <a:schemeClr val="tx1"/>
                </a:solidFill>
                <a:latin typeface="+mn-lt"/>
                <a:ea typeface="+mn-ea"/>
                <a:cs typeface="+mn-cs"/>
              </a:rPr>
              <a:t>checking the panels involves a visual inspection highlighting the best way is to walk around the vehicle and:</a:t>
            </a:r>
          </a:p>
          <a:p>
            <a:pPr marL="171450" indent="-171450">
              <a:buFont typeface="Arial" pitchFamily="34" charset="0"/>
              <a:buChar char="•"/>
            </a:pPr>
            <a:r>
              <a:rPr lang="en-AU" sz="1200" kern="1200" dirty="0" smtClean="0">
                <a:solidFill>
                  <a:schemeClr val="tx1"/>
                </a:solidFill>
                <a:latin typeface="+mn-lt"/>
                <a:ea typeface="+mn-ea"/>
                <a:cs typeface="+mn-cs"/>
              </a:rPr>
              <a:t>Inspect in a systematic fashion</a:t>
            </a:r>
          </a:p>
          <a:p>
            <a:pPr marL="171450" indent="-171450">
              <a:buFont typeface="Arial" pitchFamily="34" charset="0"/>
              <a:buChar char="•"/>
            </a:pPr>
            <a:r>
              <a:rPr lang="en-AU" sz="1200" kern="1200" dirty="0" smtClean="0">
                <a:solidFill>
                  <a:schemeClr val="tx1"/>
                </a:solidFill>
                <a:latin typeface="+mn-lt"/>
                <a:ea typeface="+mn-ea"/>
                <a:cs typeface="+mn-cs"/>
              </a:rPr>
              <a:t>Use a checklist to record observations</a:t>
            </a:r>
          </a:p>
          <a:p>
            <a:pPr marL="171450" indent="-171450">
              <a:buFont typeface="Arial" pitchFamily="34" charset="0"/>
              <a:buChar char="•"/>
            </a:pPr>
            <a:r>
              <a:rPr lang="en-AU" sz="1200" kern="1200" dirty="0" smtClean="0">
                <a:solidFill>
                  <a:schemeClr val="tx1"/>
                </a:solidFill>
                <a:latin typeface="+mn-lt"/>
                <a:ea typeface="+mn-ea"/>
                <a:cs typeface="+mn-cs"/>
              </a:rPr>
              <a:t>Identify and note the location and type of any damage observed</a:t>
            </a:r>
          </a:p>
          <a:p>
            <a:pPr marL="171450" indent="-171450">
              <a:buFont typeface="Arial" pitchFamily="34" charset="0"/>
              <a:buChar char="•"/>
            </a:pPr>
            <a:r>
              <a:rPr lang="en-AU" sz="1200" kern="1200" dirty="0" smtClean="0">
                <a:solidFill>
                  <a:schemeClr val="tx1"/>
                </a:solidFill>
                <a:latin typeface="+mn-lt"/>
                <a:ea typeface="+mn-ea"/>
                <a:cs typeface="+mn-cs"/>
              </a:rPr>
              <a:t>Determine if obvious panel damage is causing/has already caused operational issues for other components of the vehicle.</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US"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27929313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discussing panel inspections: </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Work out if the panel damage has the potential to cause operational issues or further damage to other components</a:t>
            </a:r>
          </a:p>
          <a:p>
            <a:pPr marL="171450" indent="-171450">
              <a:buFont typeface="Arial" pitchFamily="34" charset="0"/>
              <a:buChar char="•"/>
            </a:pPr>
            <a:r>
              <a:rPr lang="en-AU" sz="1200" kern="1200" dirty="0" smtClean="0">
                <a:solidFill>
                  <a:schemeClr val="tx1"/>
                </a:solidFill>
                <a:latin typeface="+mn-lt"/>
                <a:ea typeface="+mn-ea"/>
                <a:cs typeface="+mn-cs"/>
              </a:rPr>
              <a:t>Hammer out damage which is preventing proper use of the vehicle – or using a pull bar or suction device</a:t>
            </a:r>
          </a:p>
          <a:p>
            <a:pPr marL="171450" indent="-171450">
              <a:buFont typeface="Arial" pitchFamily="34" charset="0"/>
              <a:buChar char="•"/>
            </a:pPr>
            <a:r>
              <a:rPr lang="en-AU" sz="1200" kern="1200" dirty="0" smtClean="0">
                <a:solidFill>
                  <a:schemeClr val="tx1"/>
                </a:solidFill>
                <a:latin typeface="+mn-lt"/>
                <a:ea typeface="+mn-ea"/>
                <a:cs typeface="+mn-cs"/>
              </a:rPr>
              <a:t>Unbolt or cut away panels which are seriously damaged and present a clear threat to the further operation and/or safety of the vehicle.</a:t>
            </a:r>
          </a:p>
          <a:p>
            <a:r>
              <a:rPr lang="en-AU" sz="1200" kern="1200" dirty="0" smtClean="0">
                <a:solidFill>
                  <a:schemeClr val="tx1"/>
                </a:solidFill>
                <a:latin typeface="+mn-lt"/>
                <a:ea typeface="+mn-ea"/>
                <a:cs typeface="+mn-cs"/>
              </a:rPr>
              <a:t>More permanent repairs to panels (such as properly removing and filling dents) and other serious panel work, replacing panels,  and spray painting, needs to be undertaken by a fully qualified panel beater.</a:t>
            </a:r>
          </a:p>
          <a:p>
            <a:pPr>
              <a:buFont typeface="Arial" pitchFamily="34" charset="0"/>
              <a:buNone/>
            </a:pPr>
            <a:endParaRPr lang="en-US" b="0"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US"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23065033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notes </a:t>
            </a:r>
            <a:r>
              <a:rPr lang="en-AU" sz="1200" kern="1200" dirty="0" smtClean="0">
                <a:solidFill>
                  <a:schemeClr val="tx1"/>
                </a:solidFill>
                <a:latin typeface="+mn-lt"/>
                <a:ea typeface="+mn-ea"/>
                <a:cs typeface="+mn-cs"/>
              </a:rPr>
              <a:t>basic inspection procedures for chassis are:</a:t>
            </a:r>
          </a:p>
          <a:p>
            <a:pPr marL="171450" indent="-171450">
              <a:buFont typeface="Arial" pitchFamily="34" charset="0"/>
              <a:buChar char="•"/>
            </a:pPr>
            <a:r>
              <a:rPr lang="en-AU" sz="1200" kern="1200" dirty="0" smtClean="0">
                <a:solidFill>
                  <a:schemeClr val="tx1"/>
                </a:solidFill>
                <a:latin typeface="+mn-lt"/>
                <a:ea typeface="+mn-ea"/>
                <a:cs typeface="+mn-cs"/>
              </a:rPr>
              <a:t>Wash/clean the chassis/vehicle</a:t>
            </a:r>
          </a:p>
          <a:p>
            <a:pPr marL="171450" indent="-171450">
              <a:buFont typeface="Arial" pitchFamily="34" charset="0"/>
              <a:buChar char="•"/>
            </a:pPr>
            <a:r>
              <a:rPr lang="en-AU" sz="1200" kern="1200" dirty="0" smtClean="0">
                <a:solidFill>
                  <a:schemeClr val="tx1"/>
                </a:solidFill>
                <a:latin typeface="+mn-lt"/>
                <a:ea typeface="+mn-ea"/>
                <a:cs typeface="+mn-cs"/>
              </a:rPr>
              <a:t>Get the vehicle off the ground – a hoist is preferable</a:t>
            </a:r>
          </a:p>
          <a:p>
            <a:pPr marL="171450" indent="-171450">
              <a:buFont typeface="Arial" pitchFamily="34" charset="0"/>
              <a:buChar char="•"/>
            </a:pPr>
            <a:r>
              <a:rPr lang="en-AU" sz="1200" kern="1200" dirty="0" smtClean="0">
                <a:solidFill>
                  <a:schemeClr val="tx1"/>
                </a:solidFill>
                <a:latin typeface="+mn-lt"/>
                <a:ea typeface="+mn-ea"/>
                <a:cs typeface="+mn-cs"/>
              </a:rPr>
              <a:t>Remove the wheels and tyres</a:t>
            </a:r>
          </a:p>
          <a:p>
            <a:pPr marL="171450" indent="-171450">
              <a:buFont typeface="Arial" pitchFamily="34" charset="0"/>
              <a:buChar char="•"/>
            </a:pPr>
            <a:r>
              <a:rPr lang="en-AU" sz="1200" kern="1200" dirty="0" smtClean="0">
                <a:solidFill>
                  <a:schemeClr val="tx1"/>
                </a:solidFill>
                <a:latin typeface="+mn-lt"/>
                <a:ea typeface="+mn-ea"/>
                <a:cs typeface="+mn-cs"/>
              </a:rPr>
              <a:t>Focus on corners, wheel arches and bottom of doors.</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US" b="0"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38652184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notes </a:t>
            </a:r>
            <a:r>
              <a:rPr lang="en-AU" sz="1200" kern="1200" dirty="0" smtClean="0">
                <a:solidFill>
                  <a:schemeClr val="tx1"/>
                </a:solidFill>
                <a:latin typeface="+mn-lt"/>
                <a:ea typeface="+mn-ea"/>
                <a:cs typeface="+mn-cs"/>
              </a:rPr>
              <a:t>chassis checks can require the use of three basic diagnostic tools/assessments:</a:t>
            </a:r>
          </a:p>
          <a:p>
            <a:pPr marL="171450" indent="-171450">
              <a:buFont typeface="Arial" pitchFamily="34" charset="0"/>
              <a:buChar char="•"/>
            </a:pPr>
            <a:r>
              <a:rPr lang="en-AU" sz="1200" kern="1200" dirty="0" smtClean="0">
                <a:solidFill>
                  <a:schemeClr val="tx1"/>
                </a:solidFill>
                <a:latin typeface="+mn-lt"/>
                <a:ea typeface="+mn-ea"/>
                <a:cs typeface="+mn-cs"/>
              </a:rPr>
              <a:t>Visual assessment – by getting under the vehicle or raising it on a hoist</a:t>
            </a:r>
          </a:p>
          <a:p>
            <a:pPr marL="171450" indent="-171450">
              <a:buFont typeface="Arial" pitchFamily="34" charset="0"/>
              <a:buChar char="•"/>
            </a:pPr>
            <a:r>
              <a:rPr lang="en-AU" sz="1200" kern="1200" dirty="0" smtClean="0">
                <a:solidFill>
                  <a:schemeClr val="tx1"/>
                </a:solidFill>
                <a:latin typeface="+mn-lt"/>
                <a:ea typeface="+mn-ea"/>
                <a:cs typeface="+mn-cs"/>
              </a:rPr>
              <a:t>Aural assessment – by listening to the vehicle as it travels over uneven ground</a:t>
            </a:r>
          </a:p>
          <a:p>
            <a:pPr marL="171450" indent="-171450">
              <a:buFont typeface="Arial" pitchFamily="34" charset="0"/>
              <a:buChar char="•"/>
            </a:pPr>
            <a:r>
              <a:rPr lang="en-AU" sz="1200" kern="1200" dirty="0" smtClean="0">
                <a:solidFill>
                  <a:schemeClr val="tx1"/>
                </a:solidFill>
                <a:latin typeface="+mn-lt"/>
                <a:ea typeface="+mn-ea"/>
                <a:cs typeface="+mn-cs"/>
              </a:rPr>
              <a:t>Functional assessment – by gauging the operation/performance of the vehicle on-the-road. </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10437343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states </a:t>
            </a:r>
            <a:r>
              <a:rPr lang="en-AU" sz="1200" kern="1200" dirty="0" smtClean="0">
                <a:solidFill>
                  <a:schemeClr val="tx1"/>
                </a:solidFill>
                <a:latin typeface="+mn-lt"/>
                <a:ea typeface="+mn-ea"/>
                <a:cs typeface="+mn-cs"/>
              </a:rPr>
              <a:t>assessments should be used to detect:</a:t>
            </a:r>
          </a:p>
          <a:p>
            <a:pPr marL="171450" indent="-171450">
              <a:buFont typeface="Arial" pitchFamily="34" charset="0"/>
              <a:buChar char="•"/>
            </a:pPr>
            <a:r>
              <a:rPr lang="en-AU" sz="1200" kern="1200" dirty="0" smtClean="0">
                <a:solidFill>
                  <a:schemeClr val="tx1"/>
                </a:solidFill>
                <a:latin typeface="+mn-lt"/>
                <a:ea typeface="+mn-ea"/>
                <a:cs typeface="+mn-cs"/>
              </a:rPr>
              <a:t>Damage – caused by impact with obstacles</a:t>
            </a:r>
          </a:p>
          <a:p>
            <a:pPr marL="171450" indent="-171450">
              <a:buFont typeface="Arial" pitchFamily="34" charset="0"/>
              <a:buChar char="•"/>
            </a:pPr>
            <a:r>
              <a:rPr lang="en-AU" sz="1200" kern="1200" dirty="0" smtClean="0">
                <a:solidFill>
                  <a:schemeClr val="tx1"/>
                </a:solidFill>
                <a:latin typeface="+mn-lt"/>
                <a:ea typeface="+mn-ea"/>
                <a:cs typeface="+mn-cs"/>
              </a:rPr>
              <a:t>Wear – normal wear and tear occasioned by use of the vehicle</a:t>
            </a:r>
          </a:p>
          <a:p>
            <a:pPr marL="171450" indent="-171450">
              <a:buFont typeface="Arial" pitchFamily="34" charset="0"/>
              <a:buChar char="•"/>
            </a:pPr>
            <a:r>
              <a:rPr lang="en-AU" sz="1200" kern="1200" dirty="0" smtClean="0">
                <a:solidFill>
                  <a:schemeClr val="tx1"/>
                </a:solidFill>
                <a:latin typeface="+mn-lt"/>
                <a:ea typeface="+mn-ea"/>
                <a:cs typeface="+mn-cs"/>
              </a:rPr>
              <a:t>Breakage – due to stress, misuse, or age.</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754657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indicates issues to look for:</a:t>
            </a:r>
          </a:p>
          <a:p>
            <a:pPr marL="171450" indent="-171450">
              <a:buFont typeface="Arial" pitchFamily="34" charset="0"/>
              <a:buChar char="•"/>
            </a:pPr>
            <a:r>
              <a:rPr lang="en-AU" sz="1200" kern="1200" dirty="0" smtClean="0">
                <a:solidFill>
                  <a:schemeClr val="tx1"/>
                </a:solidFill>
                <a:latin typeface="+mn-lt"/>
                <a:ea typeface="+mn-ea"/>
                <a:cs typeface="+mn-cs"/>
              </a:rPr>
              <a:t>Exterior body work and fittings have sharp edges due to rusted panels or body damage, or protrusion of any after-market object of fittings, not technically essential to the operation of the vehicle which protrudes from any part of the vehicle that could cause injury to a person coming into contact with the vehicle</a:t>
            </a:r>
          </a:p>
          <a:p>
            <a:pPr marL="171450" indent="-171450">
              <a:buFont typeface="Arial" pitchFamily="34" charset="0"/>
              <a:buChar char="•"/>
            </a:pPr>
            <a:r>
              <a:rPr lang="en-AU" sz="1200" kern="1200" dirty="0" smtClean="0">
                <a:solidFill>
                  <a:schemeClr val="tx1"/>
                </a:solidFill>
                <a:latin typeface="+mn-lt"/>
                <a:ea typeface="+mn-ea"/>
                <a:cs typeface="+mn-cs"/>
              </a:rPr>
              <a:t>Any structural member such as a sub frame, floor panel, door sill, seat or seat belt anchorage, is cracked or has advanced rust</a:t>
            </a:r>
          </a:p>
          <a:p>
            <a:pPr marL="171450" indent="-171450">
              <a:buFont typeface="Arial" pitchFamily="34" charset="0"/>
              <a:buChar char="•"/>
            </a:pPr>
            <a:r>
              <a:rPr lang="en-AU" sz="1200" kern="1200" dirty="0" smtClean="0">
                <a:solidFill>
                  <a:schemeClr val="tx1"/>
                </a:solidFill>
                <a:latin typeface="+mn-lt"/>
                <a:ea typeface="+mn-ea"/>
                <a:cs typeface="+mn-cs"/>
              </a:rPr>
              <a:t>Unrepaired damage or modifications affecting the structural integrity of the vehicle</a:t>
            </a:r>
          </a:p>
          <a:p>
            <a:pPr marL="171450" indent="-171450">
              <a:buFont typeface="Arial" pitchFamily="34" charset="0"/>
              <a:buChar char="•"/>
            </a:pPr>
            <a:r>
              <a:rPr lang="en-AU" sz="1200" kern="1200" dirty="0" smtClean="0">
                <a:solidFill>
                  <a:schemeClr val="tx1"/>
                </a:solidFill>
                <a:latin typeface="+mn-lt"/>
                <a:ea typeface="+mn-ea"/>
                <a:cs typeface="+mn-cs"/>
              </a:rPr>
              <a:t>Any evidence that body has been cut and joined.</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US" b="0" noProof="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12468159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indicating issues to look for:</a:t>
            </a:r>
          </a:p>
          <a:p>
            <a:pPr marL="171450" indent="-171450">
              <a:buFont typeface="Arial" pitchFamily="34" charset="0"/>
              <a:buChar char="•"/>
            </a:pPr>
            <a:r>
              <a:rPr lang="en-AU" sz="1200" kern="1200" dirty="0" smtClean="0">
                <a:solidFill>
                  <a:schemeClr val="tx1"/>
                </a:solidFill>
                <a:latin typeface="+mn-lt"/>
                <a:ea typeface="+mn-ea"/>
                <a:cs typeface="+mn-cs"/>
              </a:rPr>
              <a:t>The doors of a vehicle have advanced rust</a:t>
            </a:r>
          </a:p>
          <a:p>
            <a:pPr marL="171450" indent="-171450">
              <a:buFont typeface="Arial" pitchFamily="34" charset="0"/>
              <a:buChar char="•"/>
            </a:pPr>
            <a:r>
              <a:rPr lang="en-AU" sz="1200" kern="1200" dirty="0" smtClean="0">
                <a:solidFill>
                  <a:schemeClr val="tx1"/>
                </a:solidFill>
                <a:latin typeface="+mn-lt"/>
                <a:ea typeface="+mn-ea"/>
                <a:cs typeface="+mn-cs"/>
              </a:rPr>
              <a:t>Chassis frame members or supporting members are cracked, loose, sagging or broken</a:t>
            </a:r>
          </a:p>
          <a:p>
            <a:pPr marL="171450" indent="-171450">
              <a:buFont typeface="Arial" pitchFamily="34" charset="0"/>
              <a:buChar char="•"/>
            </a:pPr>
            <a:r>
              <a:rPr lang="en-AU" sz="1200" kern="1200" dirty="0" smtClean="0">
                <a:solidFill>
                  <a:schemeClr val="tx1"/>
                </a:solidFill>
                <a:latin typeface="+mn-lt"/>
                <a:ea typeface="+mn-ea"/>
                <a:cs typeface="+mn-cs"/>
              </a:rPr>
              <a:t>Frame members in load areas are missing, damaged or unsecured</a:t>
            </a:r>
          </a:p>
          <a:p>
            <a:pPr marL="171450" indent="-171450">
              <a:buFont typeface="Arial" pitchFamily="34" charset="0"/>
              <a:buChar char="•"/>
            </a:pPr>
            <a:r>
              <a:rPr lang="en-AU" sz="1200" kern="1200" dirty="0" smtClean="0">
                <a:solidFill>
                  <a:schemeClr val="tx1"/>
                </a:solidFill>
                <a:latin typeface="+mn-lt"/>
                <a:ea typeface="+mn-ea"/>
                <a:cs typeface="+mn-cs"/>
              </a:rPr>
              <a:t>Any repairs carried out do not retain the original strength of the component/section </a:t>
            </a:r>
          </a:p>
          <a:p>
            <a:pPr marL="171450" indent="-171450">
              <a:buFont typeface="Arial" pitchFamily="34" charset="0"/>
              <a:buChar char="•"/>
            </a:pPr>
            <a:r>
              <a:rPr lang="en-AU" sz="1200" kern="1200" dirty="0" smtClean="0">
                <a:solidFill>
                  <a:schemeClr val="tx1"/>
                </a:solidFill>
                <a:latin typeface="+mn-lt"/>
                <a:ea typeface="+mn-ea"/>
                <a:cs typeface="+mn-cs"/>
              </a:rPr>
              <a:t>Any component that adversely affects the safety of the vehicle, and in particular, obscures the drivers view.</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US" b="0"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9362644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discusses suspension systems identifying  </a:t>
            </a:r>
            <a:r>
              <a:rPr lang="en-AU" sz="1200" kern="1200" dirty="0" smtClean="0">
                <a:solidFill>
                  <a:schemeClr val="tx1"/>
                </a:solidFill>
                <a:latin typeface="+mn-lt"/>
                <a:ea typeface="+mn-ea"/>
                <a:cs typeface="+mn-cs"/>
              </a:rPr>
              <a:t>may be:</a:t>
            </a:r>
          </a:p>
          <a:p>
            <a:pPr marL="171450" indent="-171450">
              <a:buFont typeface="Arial" pitchFamily="34" charset="0"/>
              <a:buChar char="•"/>
            </a:pPr>
            <a:r>
              <a:rPr lang="en-AU" sz="1200" kern="1200" dirty="0" smtClean="0">
                <a:solidFill>
                  <a:schemeClr val="tx1"/>
                </a:solidFill>
                <a:latin typeface="+mn-lt"/>
                <a:ea typeface="+mn-ea"/>
                <a:cs typeface="+mn-cs"/>
              </a:rPr>
              <a:t>Gas </a:t>
            </a:r>
          </a:p>
          <a:p>
            <a:pPr marL="171450" indent="-171450">
              <a:buFont typeface="Arial" pitchFamily="34" charset="0"/>
              <a:buChar char="•"/>
            </a:pPr>
            <a:r>
              <a:rPr lang="en-AU" sz="1200" kern="1200" dirty="0" smtClean="0">
                <a:solidFill>
                  <a:schemeClr val="tx1"/>
                </a:solidFill>
                <a:latin typeface="+mn-lt"/>
                <a:ea typeface="+mn-ea"/>
                <a:cs typeface="+mn-cs"/>
              </a:rPr>
              <a:t>Hydraulic </a:t>
            </a:r>
          </a:p>
          <a:p>
            <a:pPr marL="171450" indent="-171450">
              <a:buFont typeface="Arial" pitchFamily="34" charset="0"/>
              <a:buChar char="•"/>
            </a:pPr>
            <a:r>
              <a:rPr lang="en-AU" sz="1200" kern="1200" dirty="0" smtClean="0">
                <a:solidFill>
                  <a:schemeClr val="tx1"/>
                </a:solidFill>
                <a:latin typeface="+mn-lt"/>
                <a:ea typeface="+mn-ea"/>
                <a:cs typeface="+mn-cs"/>
              </a:rPr>
              <a:t>Pneumatic </a:t>
            </a:r>
          </a:p>
          <a:p>
            <a:pPr marL="171450" indent="-171450">
              <a:buFont typeface="Arial" pitchFamily="34" charset="0"/>
              <a:buChar char="•"/>
            </a:pPr>
            <a:r>
              <a:rPr lang="en-AU" sz="1200" kern="1200" dirty="0" smtClean="0">
                <a:solidFill>
                  <a:schemeClr val="tx1"/>
                </a:solidFill>
                <a:latin typeface="+mn-lt"/>
                <a:ea typeface="+mn-ea"/>
                <a:cs typeface="+mn-cs"/>
              </a:rPr>
              <a:t>Mechanical </a:t>
            </a:r>
          </a:p>
          <a:p>
            <a:pPr marL="171450" indent="-171450">
              <a:buFont typeface="Arial" pitchFamily="34" charset="0"/>
              <a:buChar char="•"/>
            </a:pPr>
            <a:r>
              <a:rPr lang="en-AU" sz="1200" kern="1200" dirty="0" smtClean="0">
                <a:solidFill>
                  <a:schemeClr val="tx1"/>
                </a:solidFill>
                <a:latin typeface="+mn-lt"/>
                <a:ea typeface="+mn-ea"/>
                <a:cs typeface="+mn-cs"/>
              </a:rPr>
              <a:t>Rubber suspension.</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 Presentation</a:t>
            </a:r>
          </a:p>
          <a:p>
            <a:pPr>
              <a:buFont typeface="Arial" pitchFamily="34" charset="0"/>
              <a:buNone/>
            </a:pPr>
            <a:r>
              <a:rPr lang="en-US" b="0" noProof="0" dirty="0" smtClean="0"/>
              <a:t>Trainer presents and differentiates between suspension types.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15646619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identifies </a:t>
            </a:r>
            <a:r>
              <a:rPr lang="en-AU" sz="1200" kern="1200" dirty="0" smtClean="0">
                <a:solidFill>
                  <a:schemeClr val="tx1"/>
                </a:solidFill>
                <a:latin typeface="+mn-lt"/>
                <a:ea typeface="+mn-ea"/>
                <a:cs typeface="+mn-cs"/>
              </a:rPr>
              <a:t>suspension system components:</a:t>
            </a:r>
          </a:p>
          <a:p>
            <a:pPr marL="171450" indent="-171450">
              <a:buFont typeface="Arial" pitchFamily="34" charset="0"/>
              <a:buChar char="•"/>
            </a:pPr>
            <a:r>
              <a:rPr lang="en-AU" sz="1200" kern="1200" dirty="0" smtClean="0">
                <a:solidFill>
                  <a:schemeClr val="tx1"/>
                </a:solidFill>
                <a:latin typeface="+mn-lt"/>
                <a:ea typeface="+mn-ea"/>
                <a:cs typeface="+mn-cs"/>
              </a:rPr>
              <a:t>Lateral and longitudinal/control arms </a:t>
            </a:r>
          </a:p>
          <a:p>
            <a:pPr marL="171450" indent="-171450">
              <a:buFont typeface="Arial" pitchFamily="34" charset="0"/>
              <a:buChar char="•"/>
            </a:pPr>
            <a:r>
              <a:rPr lang="en-AU" sz="1200" kern="1200" dirty="0" smtClean="0">
                <a:solidFill>
                  <a:schemeClr val="tx1"/>
                </a:solidFill>
                <a:latin typeface="+mn-lt"/>
                <a:ea typeface="+mn-ea"/>
                <a:cs typeface="+mn-cs"/>
              </a:rPr>
              <a:t>Springs – coil, leaf, torsion bars or air springs (to absorb energy) </a:t>
            </a:r>
          </a:p>
          <a:p>
            <a:pPr marL="171450" indent="-171450">
              <a:buFont typeface="Arial" pitchFamily="34" charset="0"/>
              <a:buChar char="•"/>
            </a:pPr>
            <a:r>
              <a:rPr lang="en-AU" sz="1200" kern="1200" dirty="0" smtClean="0">
                <a:solidFill>
                  <a:schemeClr val="tx1"/>
                </a:solidFill>
                <a:latin typeface="+mn-lt"/>
                <a:ea typeface="+mn-ea"/>
                <a:cs typeface="+mn-cs"/>
              </a:rPr>
              <a:t>Dampers – to dissipate energy</a:t>
            </a:r>
          </a:p>
          <a:p>
            <a:pPr marL="171450" indent="-171450">
              <a:buFont typeface="Arial" pitchFamily="34" charset="0"/>
              <a:buChar char="•"/>
            </a:pPr>
            <a:r>
              <a:rPr lang="en-AU" sz="1200" kern="1200" dirty="0" smtClean="0">
                <a:solidFill>
                  <a:schemeClr val="tx1"/>
                </a:solidFill>
                <a:latin typeface="+mn-lt"/>
                <a:ea typeface="+mn-ea"/>
                <a:cs typeface="+mn-cs"/>
              </a:rPr>
              <a:t>Shock absorbers.</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 Presentation</a:t>
            </a:r>
          </a:p>
          <a:p>
            <a:pPr>
              <a:buFont typeface="Arial" pitchFamily="34" charset="0"/>
              <a:buNone/>
            </a:pPr>
            <a:r>
              <a:rPr lang="en-US" b="0" noProof="0" dirty="0" smtClean="0"/>
              <a:t>Trainer presents and describes function of suspension components shown on slide.</a:t>
            </a: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41783771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identifying </a:t>
            </a:r>
            <a:r>
              <a:rPr lang="en-AU" sz="1200" kern="1200" dirty="0" smtClean="0">
                <a:solidFill>
                  <a:schemeClr val="tx1"/>
                </a:solidFill>
                <a:latin typeface="+mn-lt"/>
                <a:ea typeface="+mn-ea"/>
                <a:cs typeface="+mn-cs"/>
              </a:rPr>
              <a:t>suspension system components:</a:t>
            </a:r>
          </a:p>
          <a:p>
            <a:pPr marL="171450" indent="-171450">
              <a:buFont typeface="Arial" pitchFamily="34" charset="0"/>
              <a:buChar char="•"/>
            </a:pPr>
            <a:r>
              <a:rPr lang="en-AU" sz="1200" kern="1200" dirty="0" smtClean="0">
                <a:solidFill>
                  <a:schemeClr val="tx1"/>
                </a:solidFill>
                <a:latin typeface="+mn-lt"/>
                <a:ea typeface="+mn-ea"/>
                <a:cs typeface="+mn-cs"/>
              </a:rPr>
              <a:t>Linkages</a:t>
            </a:r>
          </a:p>
          <a:p>
            <a:pPr marL="171450" indent="-171450">
              <a:buFont typeface="Arial" pitchFamily="34" charset="0"/>
              <a:buChar char="•"/>
            </a:pPr>
            <a:r>
              <a:rPr lang="en-AU" sz="1200" kern="1200" dirty="0" smtClean="0">
                <a:solidFill>
                  <a:schemeClr val="tx1"/>
                </a:solidFill>
                <a:latin typeface="+mn-lt"/>
                <a:ea typeface="+mn-ea"/>
                <a:cs typeface="+mn-cs"/>
              </a:rPr>
              <a:t>Ball joints</a:t>
            </a:r>
          </a:p>
          <a:p>
            <a:pPr marL="171450" indent="-171450">
              <a:buFont typeface="Arial" pitchFamily="34" charset="0"/>
              <a:buChar char="•"/>
            </a:pPr>
            <a:r>
              <a:rPr lang="en-AU" sz="1200" kern="1200" dirty="0" smtClean="0">
                <a:solidFill>
                  <a:schemeClr val="tx1"/>
                </a:solidFill>
                <a:latin typeface="+mn-lt"/>
                <a:ea typeface="+mn-ea"/>
                <a:cs typeface="+mn-cs"/>
              </a:rPr>
              <a:t>Self-levelling devices </a:t>
            </a:r>
          </a:p>
          <a:p>
            <a:pPr marL="171450" indent="-171450">
              <a:buFont typeface="Arial" pitchFamily="34" charset="0"/>
              <a:buChar char="•"/>
            </a:pPr>
            <a:r>
              <a:rPr lang="en-AU" sz="1200" kern="1200" dirty="0" smtClean="0">
                <a:solidFill>
                  <a:schemeClr val="tx1"/>
                </a:solidFill>
                <a:latin typeface="+mn-lt"/>
                <a:ea typeface="+mn-ea"/>
                <a:cs typeface="+mn-cs"/>
              </a:rPr>
              <a:t>Ride and height controls.</a:t>
            </a:r>
          </a:p>
          <a:p>
            <a:pPr>
              <a:buFont typeface="Arial" pitchFamily="34" charset="0"/>
              <a:buNone/>
            </a:pPr>
            <a:endParaRPr lang="en-US" noProof="0" dirty="0" smtClean="0"/>
          </a:p>
          <a:p>
            <a:pPr>
              <a:buFont typeface="Arial" pitchFamily="34" charset="0"/>
              <a:buNone/>
            </a:pPr>
            <a:r>
              <a:rPr lang="en-US" b="1" noProof="0" dirty="0" smtClean="0"/>
              <a:t>Classroom Activity – Presentation</a:t>
            </a:r>
          </a:p>
          <a:p>
            <a:pPr>
              <a:buFont typeface="Arial" pitchFamily="34" charset="0"/>
              <a:buNone/>
            </a:pPr>
            <a:r>
              <a:rPr lang="en-US" b="0" noProof="0" dirty="0" smtClean="0"/>
              <a:t>Trainer presents and describes function of suspension components shown on slide.</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7659864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indicates diagnostic </a:t>
            </a:r>
            <a:r>
              <a:rPr lang="en-AU" sz="1200" kern="1200" dirty="0" smtClean="0">
                <a:solidFill>
                  <a:schemeClr val="tx1"/>
                </a:solidFill>
                <a:latin typeface="+mn-lt"/>
                <a:ea typeface="+mn-ea"/>
                <a:cs typeface="+mn-cs"/>
              </a:rPr>
              <a:t>methods include:</a:t>
            </a:r>
          </a:p>
          <a:p>
            <a:pPr marL="171450" indent="-171450">
              <a:buFont typeface="Arial" pitchFamily="34" charset="0"/>
              <a:buChar char="•"/>
            </a:pPr>
            <a:r>
              <a:rPr lang="en-AU" sz="1200" kern="1200" dirty="0" smtClean="0">
                <a:solidFill>
                  <a:schemeClr val="tx1"/>
                </a:solidFill>
                <a:latin typeface="+mn-lt"/>
                <a:ea typeface="+mn-ea"/>
                <a:cs typeface="+mn-cs"/>
              </a:rPr>
              <a:t>Functional testing of the vehicle</a:t>
            </a:r>
          </a:p>
          <a:p>
            <a:pPr marL="171450" indent="-171450">
              <a:buFont typeface="Arial" pitchFamily="34" charset="0"/>
              <a:buChar char="•"/>
            </a:pPr>
            <a:r>
              <a:rPr lang="en-AU" sz="1200" kern="1200" dirty="0" smtClean="0">
                <a:solidFill>
                  <a:schemeClr val="tx1"/>
                </a:solidFill>
                <a:latin typeface="+mn-lt"/>
                <a:ea typeface="+mn-ea"/>
                <a:cs typeface="+mn-cs"/>
              </a:rPr>
              <a:t>Pressure testing of air systems</a:t>
            </a:r>
          </a:p>
          <a:p>
            <a:pPr marL="171450" indent="-171450">
              <a:buFont typeface="Arial" pitchFamily="34" charset="0"/>
              <a:buChar char="•"/>
            </a:pPr>
            <a:r>
              <a:rPr lang="en-AU" sz="1200" kern="1200" dirty="0" smtClean="0">
                <a:solidFill>
                  <a:schemeClr val="tx1"/>
                </a:solidFill>
                <a:latin typeface="+mn-lt"/>
                <a:ea typeface="+mn-ea"/>
                <a:cs typeface="+mn-cs"/>
              </a:rPr>
              <a:t>Electrical and/or electronic testing </a:t>
            </a:r>
          </a:p>
          <a:p>
            <a:pPr marL="171450" indent="-171450">
              <a:buFont typeface="Arial" pitchFamily="34" charset="0"/>
              <a:buChar char="•"/>
            </a:pPr>
            <a:r>
              <a:rPr lang="en-AU" sz="1200" kern="1200" dirty="0" smtClean="0">
                <a:solidFill>
                  <a:schemeClr val="tx1"/>
                </a:solidFill>
                <a:latin typeface="+mn-lt"/>
                <a:ea typeface="+mn-ea"/>
                <a:cs typeface="+mn-cs"/>
              </a:rPr>
              <a:t>Visual, aural and functional assessments – with checks for physical damage, corrosion, fluid levels, fluid and grease leaks, air leaks, wear, alignment.</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US" b="0"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27075878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indicates reasons for concern with suspension:</a:t>
            </a:r>
          </a:p>
          <a:p>
            <a:pPr marL="171450" indent="-171450">
              <a:buFont typeface="Arial" pitchFamily="34" charset="0"/>
              <a:buChar char="•"/>
            </a:pPr>
            <a:r>
              <a:rPr lang="en-AU" sz="1200" kern="1200" dirty="0" smtClean="0">
                <a:solidFill>
                  <a:schemeClr val="tx1"/>
                </a:solidFill>
                <a:latin typeface="+mn-lt"/>
                <a:ea typeface="+mn-ea"/>
                <a:cs typeface="+mn-cs"/>
              </a:rPr>
              <a:t>Any suspension component that is broken, cracked, bent, misaligned, cut, missing, not secured or can be seen to have been repaired or modified by heating or welding</a:t>
            </a:r>
          </a:p>
          <a:p>
            <a:pPr marL="171450" indent="-171450">
              <a:buFont typeface="Arial" pitchFamily="34" charset="0"/>
              <a:buChar char="•"/>
            </a:pPr>
            <a:r>
              <a:rPr lang="en-AU" sz="1200" kern="1200" dirty="0" smtClean="0">
                <a:solidFill>
                  <a:schemeClr val="tx1"/>
                </a:solidFill>
                <a:latin typeface="+mn-lt"/>
                <a:ea typeface="+mn-ea"/>
                <a:cs typeface="+mn-cs"/>
              </a:rPr>
              <a:t>Any shock absorber is missing, inoperative or is leaking fluid</a:t>
            </a:r>
          </a:p>
          <a:p>
            <a:pPr marL="171450" indent="-171450">
              <a:buFont typeface="Arial" pitchFamily="34" charset="0"/>
              <a:buChar char="•"/>
            </a:pPr>
            <a:r>
              <a:rPr lang="en-AU" sz="1200" kern="1200" dirty="0" smtClean="0">
                <a:solidFill>
                  <a:schemeClr val="tx1"/>
                </a:solidFill>
                <a:latin typeface="+mn-lt"/>
                <a:ea typeface="+mn-ea"/>
                <a:cs typeface="+mn-cs"/>
              </a:rPr>
              <a:t>Any shock absorber is not securely mounted.</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326756842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indicates </a:t>
            </a:r>
            <a:r>
              <a:rPr lang="en-AU" sz="1200" kern="1200" dirty="0" smtClean="0">
                <a:solidFill>
                  <a:schemeClr val="tx1"/>
                </a:solidFill>
                <a:latin typeface="+mn-lt"/>
                <a:ea typeface="+mn-ea"/>
                <a:cs typeface="+mn-cs"/>
              </a:rPr>
              <a:t>maintenance can include:</a:t>
            </a:r>
          </a:p>
          <a:p>
            <a:pPr marL="171450" indent="-171450">
              <a:buFont typeface="Arial" pitchFamily="34" charset="0"/>
              <a:buChar char="•"/>
            </a:pPr>
            <a:r>
              <a:rPr lang="en-AU" sz="1200" kern="1200" dirty="0" smtClean="0">
                <a:solidFill>
                  <a:schemeClr val="tx1"/>
                </a:solidFill>
                <a:latin typeface="+mn-lt"/>
                <a:ea typeface="+mn-ea"/>
                <a:cs typeface="+mn-cs"/>
              </a:rPr>
              <a:t>Adjustment of shock absorbers</a:t>
            </a:r>
          </a:p>
          <a:p>
            <a:pPr marL="171450" indent="-171450">
              <a:buFont typeface="Arial" pitchFamily="34" charset="0"/>
              <a:buChar char="•"/>
            </a:pPr>
            <a:r>
              <a:rPr lang="en-AU" sz="1200" kern="1200" dirty="0" smtClean="0">
                <a:solidFill>
                  <a:schemeClr val="tx1"/>
                </a:solidFill>
                <a:latin typeface="+mn-lt"/>
                <a:ea typeface="+mn-ea"/>
                <a:cs typeface="+mn-cs"/>
              </a:rPr>
              <a:t>Greasing ball joints, tie rod ends, sway bar links, drag links, centre links, idler arms and Pitman arms</a:t>
            </a:r>
          </a:p>
          <a:p>
            <a:pPr marL="171450" indent="-171450">
              <a:buFont typeface="Arial" pitchFamily="34" charset="0"/>
              <a:buChar char="•"/>
            </a:pPr>
            <a:r>
              <a:rPr lang="en-AU" sz="1200" kern="1200" dirty="0" smtClean="0">
                <a:solidFill>
                  <a:schemeClr val="tx1"/>
                </a:solidFill>
                <a:latin typeface="+mn-lt"/>
                <a:ea typeface="+mn-ea"/>
                <a:cs typeface="+mn-cs"/>
              </a:rPr>
              <a:t>Inspecting ball joints for play</a:t>
            </a:r>
          </a:p>
          <a:p>
            <a:pPr marL="171450" indent="-171450">
              <a:buFont typeface="Arial" pitchFamily="34" charset="0"/>
              <a:buChar char="•"/>
            </a:pPr>
            <a:r>
              <a:rPr lang="en-AU" sz="1200" kern="1200" dirty="0" smtClean="0">
                <a:solidFill>
                  <a:schemeClr val="tx1"/>
                </a:solidFill>
                <a:latin typeface="+mn-lt"/>
                <a:ea typeface="+mn-ea"/>
                <a:cs typeface="+mn-cs"/>
              </a:rPr>
              <a:t>Checking wear indicators.</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US"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27931065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indicating possible suspension maintenance:</a:t>
            </a:r>
          </a:p>
          <a:p>
            <a:pPr marL="171450" indent="-171450">
              <a:buFont typeface="Arial" pitchFamily="34" charset="0"/>
              <a:buChar char="•"/>
            </a:pPr>
            <a:r>
              <a:rPr lang="en-AU" sz="1200" kern="1200" dirty="0" smtClean="0">
                <a:solidFill>
                  <a:schemeClr val="tx1"/>
                </a:solidFill>
                <a:latin typeface="+mn-lt"/>
                <a:ea typeface="+mn-ea"/>
                <a:cs typeface="+mn-cs"/>
              </a:rPr>
              <a:t>Checking and greasing bearings</a:t>
            </a:r>
          </a:p>
          <a:p>
            <a:pPr marL="171450" indent="-171450">
              <a:buFont typeface="Arial" pitchFamily="34" charset="0"/>
              <a:buChar char="•"/>
            </a:pPr>
            <a:r>
              <a:rPr lang="en-AU" sz="1200" kern="1200" dirty="0" smtClean="0">
                <a:solidFill>
                  <a:schemeClr val="tx1"/>
                </a:solidFill>
                <a:latin typeface="+mn-lt"/>
                <a:ea typeface="+mn-ea"/>
                <a:cs typeface="+mn-cs"/>
              </a:rPr>
              <a:t>Removing and replacing wheel bearings</a:t>
            </a:r>
          </a:p>
          <a:p>
            <a:pPr marL="171450" indent="-171450">
              <a:buFont typeface="Arial" pitchFamily="34" charset="0"/>
              <a:buChar char="•"/>
            </a:pPr>
            <a:r>
              <a:rPr lang="en-AU" sz="1200" kern="1200" dirty="0" smtClean="0">
                <a:solidFill>
                  <a:schemeClr val="tx1"/>
                </a:solidFill>
                <a:latin typeface="+mn-lt"/>
                <a:ea typeface="+mn-ea"/>
                <a:cs typeface="+mn-cs"/>
              </a:rPr>
              <a:t>Replacing ball joints and boots</a:t>
            </a:r>
          </a:p>
          <a:p>
            <a:pPr marL="171450" indent="-171450">
              <a:buFont typeface="Arial" pitchFamily="34" charset="0"/>
              <a:buChar char="•"/>
            </a:pPr>
            <a:r>
              <a:rPr lang="en-AU" sz="1200" kern="1200" dirty="0" smtClean="0">
                <a:solidFill>
                  <a:schemeClr val="tx1"/>
                </a:solidFill>
                <a:latin typeface="+mn-lt"/>
                <a:ea typeface="+mn-ea"/>
                <a:cs typeface="+mn-cs"/>
              </a:rPr>
              <a:t>Checking tyre wear and wheel alignment.</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US"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373670331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discusses checks which need to be made of luggage and pack racks attached to vehicles:</a:t>
            </a:r>
          </a:p>
          <a:p>
            <a:pPr marL="171450" indent="-171450">
              <a:buFont typeface="Arial" pitchFamily="34" charset="0"/>
              <a:buChar char="•"/>
            </a:pPr>
            <a:r>
              <a:rPr lang="en-AU" sz="1200" kern="1200" dirty="0" smtClean="0">
                <a:solidFill>
                  <a:schemeClr val="tx1"/>
                </a:solidFill>
                <a:latin typeface="+mn-lt"/>
                <a:ea typeface="+mn-ea"/>
                <a:cs typeface="+mn-cs"/>
              </a:rPr>
              <a:t>Making sure connections are tight</a:t>
            </a:r>
          </a:p>
          <a:p>
            <a:pPr marL="171450" indent="-171450">
              <a:buFont typeface="Arial" pitchFamily="34" charset="0"/>
              <a:buChar char="•"/>
            </a:pPr>
            <a:r>
              <a:rPr lang="en-AU" sz="1200" kern="1200" dirty="0" smtClean="0">
                <a:solidFill>
                  <a:schemeClr val="tx1"/>
                </a:solidFill>
                <a:latin typeface="+mn-lt"/>
                <a:ea typeface="+mn-ea"/>
                <a:cs typeface="+mn-cs"/>
              </a:rPr>
              <a:t>Cleaning as required</a:t>
            </a:r>
          </a:p>
          <a:p>
            <a:pPr marL="171450" indent="-171450">
              <a:buFont typeface="Arial" pitchFamily="34" charset="0"/>
              <a:buChar char="•"/>
            </a:pPr>
            <a:r>
              <a:rPr lang="en-AU" sz="1200" kern="1200" dirty="0" smtClean="0">
                <a:solidFill>
                  <a:schemeClr val="tx1"/>
                </a:solidFill>
                <a:latin typeface="+mn-lt"/>
                <a:ea typeface="+mn-ea"/>
                <a:cs typeface="+mn-cs"/>
              </a:rPr>
              <a:t>Replacing missing end plugs</a:t>
            </a:r>
          </a:p>
          <a:p>
            <a:pPr marL="171450" indent="-171450">
              <a:buFont typeface="Arial" pitchFamily="34" charset="0"/>
              <a:buChar char="•"/>
            </a:pPr>
            <a:r>
              <a:rPr lang="en-AU" sz="1200" kern="1200" dirty="0" smtClean="0">
                <a:solidFill>
                  <a:schemeClr val="tx1"/>
                </a:solidFill>
                <a:latin typeface="+mn-lt"/>
                <a:ea typeface="+mn-ea"/>
                <a:cs typeface="+mn-cs"/>
              </a:rPr>
              <a:t>Checking roof gutters for wear/corrosion – and re-fitting and re-painting where necessary.</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153242777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discussing checks which need to be made of luggage and pack racks attached to vehicles:</a:t>
            </a:r>
          </a:p>
          <a:p>
            <a:pPr marL="171450" indent="-171450">
              <a:buFont typeface="Arial" pitchFamily="34" charset="0"/>
              <a:buChar char="•"/>
            </a:pPr>
            <a:r>
              <a:rPr lang="en-AU" sz="1200" kern="1200" dirty="0" smtClean="0">
                <a:solidFill>
                  <a:schemeClr val="tx1"/>
                </a:solidFill>
                <a:latin typeface="+mn-lt"/>
                <a:ea typeface="+mn-ea"/>
                <a:cs typeface="+mn-cs"/>
              </a:rPr>
              <a:t>Replacement of rubber supports and inserts</a:t>
            </a:r>
          </a:p>
          <a:p>
            <a:pPr marL="171450" indent="-171450">
              <a:buFont typeface="Arial" pitchFamily="34" charset="0"/>
              <a:buChar char="•"/>
            </a:pPr>
            <a:r>
              <a:rPr lang="en-AU" sz="1200" kern="1200" dirty="0" smtClean="0">
                <a:solidFill>
                  <a:schemeClr val="tx1"/>
                </a:solidFill>
                <a:latin typeface="+mn-lt"/>
                <a:ea typeface="+mn-ea"/>
                <a:cs typeface="+mn-cs"/>
              </a:rPr>
              <a:t>Replacement of frayed/damaged straps</a:t>
            </a:r>
          </a:p>
          <a:p>
            <a:pPr marL="171450" indent="-171450">
              <a:buFont typeface="Arial" pitchFamily="34" charset="0"/>
              <a:buChar char="•"/>
            </a:pPr>
            <a:r>
              <a:rPr lang="en-AU" sz="1200" kern="1200" dirty="0" smtClean="0">
                <a:solidFill>
                  <a:schemeClr val="tx1"/>
                </a:solidFill>
                <a:latin typeface="+mn-lt"/>
                <a:ea typeface="+mn-ea"/>
                <a:cs typeface="+mn-cs"/>
              </a:rPr>
              <a:t>Oiling moving parts – doors, hinges</a:t>
            </a:r>
          </a:p>
          <a:p>
            <a:pPr marL="171450" indent="-171450">
              <a:buFont typeface="Arial" pitchFamily="34" charset="0"/>
              <a:buChar char="•"/>
            </a:pPr>
            <a:r>
              <a:rPr lang="en-AU" sz="1200" kern="1200" dirty="0" smtClean="0">
                <a:solidFill>
                  <a:schemeClr val="tx1"/>
                </a:solidFill>
                <a:latin typeface="+mn-lt"/>
                <a:ea typeface="+mn-ea"/>
                <a:cs typeface="+mn-cs"/>
              </a:rPr>
              <a:t>Cleaning roof and rack gutters.</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85321038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discusses headlight checks:</a:t>
            </a:r>
          </a:p>
          <a:p>
            <a:pPr marL="171450" indent="-171450">
              <a:buFont typeface="Arial" pitchFamily="34" charset="0"/>
              <a:buChar char="•"/>
            </a:pPr>
            <a:r>
              <a:rPr lang="en-AU" sz="1200" kern="1200" dirty="0" smtClean="0">
                <a:solidFill>
                  <a:schemeClr val="tx1"/>
                </a:solidFill>
                <a:latin typeface="+mn-lt"/>
                <a:ea typeface="+mn-ea"/>
                <a:cs typeface="+mn-cs"/>
              </a:rPr>
              <a:t>Correct colour</a:t>
            </a:r>
          </a:p>
          <a:p>
            <a:pPr marL="171450" indent="-171450">
              <a:buFont typeface="Arial" pitchFamily="34" charset="0"/>
              <a:buChar char="•"/>
            </a:pPr>
            <a:r>
              <a:rPr lang="en-AU" sz="1200" kern="1200" dirty="0" smtClean="0">
                <a:solidFill>
                  <a:schemeClr val="tx1"/>
                </a:solidFill>
                <a:latin typeface="+mn-lt"/>
                <a:ea typeface="+mn-ea"/>
                <a:cs typeface="+mn-cs"/>
              </a:rPr>
              <a:t>Globes not blown</a:t>
            </a:r>
          </a:p>
          <a:p>
            <a:pPr marL="171450" indent="-171450">
              <a:buFont typeface="Arial" pitchFamily="34" charset="0"/>
              <a:buChar char="•"/>
            </a:pPr>
            <a:r>
              <a:rPr lang="en-AU" sz="1200" kern="1200" dirty="0" smtClean="0">
                <a:solidFill>
                  <a:schemeClr val="tx1"/>
                </a:solidFill>
                <a:latin typeface="+mn-lt"/>
                <a:ea typeface="+mn-ea"/>
                <a:cs typeface="+mn-cs"/>
              </a:rPr>
              <a:t>High beam – they have good strength and accurate alignment/focus, and illuminate when activated</a:t>
            </a:r>
          </a:p>
          <a:p>
            <a:pPr marL="171450" indent="-171450">
              <a:buFont typeface="Arial" pitchFamily="34" charset="0"/>
              <a:buChar char="•"/>
            </a:pPr>
            <a:r>
              <a:rPr lang="en-AU" sz="1200" kern="1200" dirty="0" smtClean="0">
                <a:solidFill>
                  <a:schemeClr val="tx1"/>
                </a:solidFill>
                <a:latin typeface="+mn-lt"/>
                <a:ea typeface="+mn-ea"/>
                <a:cs typeface="+mn-cs"/>
              </a:rPr>
              <a:t>Dipped – they have good strength and accurate alignment, and dip and return to high beam when activated: high beam lamps must extinguish when lights are dipped.</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US"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37644951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discussing headlight checks:</a:t>
            </a:r>
          </a:p>
          <a:p>
            <a:pPr marL="171450" indent="-171450">
              <a:buFont typeface="Arial" pitchFamily="34" charset="0"/>
              <a:buChar char="•"/>
            </a:pPr>
            <a:r>
              <a:rPr lang="en-AU" sz="1200" kern="1200" dirty="0" smtClean="0">
                <a:solidFill>
                  <a:schemeClr val="tx1"/>
                </a:solidFill>
                <a:latin typeface="+mn-lt"/>
                <a:ea typeface="+mn-ea"/>
                <a:cs typeface="+mn-cs"/>
              </a:rPr>
              <a:t>Lenses clean and not tarnished or cracked</a:t>
            </a:r>
          </a:p>
          <a:p>
            <a:pPr marL="171450" indent="-171450">
              <a:buFont typeface="Arial" pitchFamily="34" charset="0"/>
              <a:buChar char="•"/>
            </a:pPr>
            <a:r>
              <a:rPr lang="en-AU" sz="1200" kern="1200" dirty="0" smtClean="0">
                <a:solidFill>
                  <a:schemeClr val="tx1"/>
                </a:solidFill>
                <a:latin typeface="+mn-lt"/>
                <a:ea typeface="+mn-ea"/>
                <a:cs typeface="+mn-cs"/>
              </a:rPr>
              <a:t>Lights are correctly aimed</a:t>
            </a:r>
          </a:p>
          <a:p>
            <a:pPr marL="171450" indent="-171450">
              <a:buFont typeface="Arial" pitchFamily="34" charset="0"/>
              <a:buChar char="•"/>
            </a:pPr>
            <a:r>
              <a:rPr lang="en-AU" sz="1200" kern="1200" dirty="0" smtClean="0">
                <a:solidFill>
                  <a:schemeClr val="tx1"/>
                </a:solidFill>
                <a:latin typeface="+mn-lt"/>
                <a:ea typeface="+mn-ea"/>
                <a:cs typeface="+mn-cs"/>
              </a:rPr>
              <a:t>No water damage</a:t>
            </a:r>
          </a:p>
          <a:p>
            <a:pPr marL="171450" indent="-171450">
              <a:buFont typeface="Arial" pitchFamily="34" charset="0"/>
              <a:buChar char="•"/>
            </a:pPr>
            <a:r>
              <a:rPr lang="en-AU" sz="1200" kern="1200" dirty="0" smtClean="0">
                <a:solidFill>
                  <a:schemeClr val="tx1"/>
                </a:solidFill>
                <a:latin typeface="+mn-lt"/>
                <a:ea typeface="+mn-ea"/>
                <a:cs typeface="+mn-cs"/>
              </a:rPr>
              <a:t>Assembly is secure and complete.</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289744090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discusses parking light checks:</a:t>
            </a:r>
          </a:p>
          <a:p>
            <a:pPr marL="171450" indent="-171450">
              <a:buFont typeface="Arial" pitchFamily="34" charset="0"/>
              <a:buChar char="•"/>
            </a:pPr>
            <a:r>
              <a:rPr lang="en-US" sz="1200" kern="1200" dirty="0" smtClean="0">
                <a:solidFill>
                  <a:schemeClr val="tx1"/>
                </a:solidFill>
                <a:latin typeface="+mn-lt"/>
                <a:ea typeface="+mn-ea"/>
                <a:cs typeface="+mn-cs"/>
              </a:rPr>
              <a:t>Front and rear are all working </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Lights are clear and clean</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Correct colour</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They illuminate when turned on.</a:t>
            </a:r>
            <a:endParaRPr lang="en-AU" sz="1200" kern="120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US"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185600024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discusses fog light checks (front and rear):</a:t>
            </a:r>
          </a:p>
          <a:p>
            <a:pPr marL="171450" indent="-171450">
              <a:buFont typeface="Arial" pitchFamily="34" charset="0"/>
              <a:buChar char="•"/>
            </a:pPr>
            <a:r>
              <a:rPr lang="en-US" sz="1200" kern="1200" dirty="0" smtClean="0">
                <a:solidFill>
                  <a:schemeClr val="tx1"/>
                </a:solidFill>
                <a:latin typeface="+mn-lt"/>
                <a:ea typeface="+mn-ea"/>
                <a:cs typeface="+mn-cs"/>
              </a:rPr>
              <a:t>Correct colour (white or yellow)</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Globes not blown</a:t>
            </a:r>
          </a:p>
          <a:p>
            <a:pPr marL="171450" indent="-171450">
              <a:buFont typeface="Arial" pitchFamily="34" charset="0"/>
              <a:buChar char="•"/>
            </a:pPr>
            <a:r>
              <a:rPr lang="en-US" sz="1200" kern="1200" dirty="0" smtClean="0">
                <a:solidFill>
                  <a:schemeClr val="tx1"/>
                </a:solidFill>
                <a:latin typeface="+mn-lt"/>
                <a:ea typeface="+mn-ea"/>
                <a:cs typeface="+mn-cs"/>
              </a:rPr>
              <a:t>Not mounted above level of headlights of vehicle</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Operated on separate switch</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Dip when high beams are dipped.</a:t>
            </a:r>
            <a:endParaRPr lang="en-AU" sz="1200" kern="120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US"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p14="http://schemas.microsoft.com/office/powerpoint/2010/main" val="146633109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discussing fog light checks:</a:t>
            </a:r>
          </a:p>
          <a:p>
            <a:pPr marL="171450" indent="-171450">
              <a:buFont typeface="Arial" pitchFamily="34" charset="0"/>
              <a:buChar char="•"/>
            </a:pPr>
            <a:r>
              <a:rPr lang="en-US" sz="1200" kern="1200" dirty="0" smtClean="0">
                <a:solidFill>
                  <a:schemeClr val="tx1"/>
                </a:solidFill>
                <a:latin typeface="+mn-lt"/>
                <a:ea typeface="+mn-ea"/>
                <a:cs typeface="+mn-cs"/>
              </a:rPr>
              <a:t>Do not present a protrusion hazard</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Separated by required gap (for example, 600 mm)</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Do not sit above the bull bar (where fitted)</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Forward facing and correctly aligned/focussed</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Lenses clean and not tarnished or cracked</a:t>
            </a:r>
          </a:p>
          <a:p>
            <a:pPr marL="171450" indent="-171450">
              <a:buFont typeface="Arial" pitchFamily="34" charset="0"/>
              <a:buChar char="•"/>
            </a:pPr>
            <a:r>
              <a:rPr lang="en-AU" sz="1200" kern="1200" dirty="0" smtClean="0">
                <a:solidFill>
                  <a:schemeClr val="tx1"/>
                </a:solidFill>
                <a:latin typeface="+mn-lt"/>
                <a:ea typeface="+mn-ea"/>
                <a:cs typeface="+mn-cs"/>
              </a:rPr>
              <a:t>After-market lights are tightly connected to vehicle.</a:t>
            </a:r>
          </a:p>
          <a:p>
            <a:pPr marL="0" indent="0">
              <a:buFont typeface="Arial" pitchFamily="34" charset="0"/>
              <a:buNone/>
            </a:pPr>
            <a:r>
              <a:rPr lang="en-US" noProof="0" dirty="0" smtClean="0"/>
              <a:t> </a:t>
            </a:r>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p14="http://schemas.microsoft.com/office/powerpoint/2010/main" val="28406204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discusses number plate light checks (front and rear):</a:t>
            </a:r>
          </a:p>
          <a:p>
            <a:pPr marL="171450" indent="-171450">
              <a:buFont typeface="Arial" pitchFamily="34" charset="0"/>
              <a:buChar char="•"/>
            </a:pPr>
            <a:r>
              <a:rPr lang="en-US" sz="1200" kern="1200" dirty="0" smtClean="0">
                <a:solidFill>
                  <a:schemeClr val="tx1"/>
                </a:solidFill>
                <a:latin typeface="+mn-lt"/>
                <a:ea typeface="+mn-ea"/>
                <a:cs typeface="+mn-cs"/>
              </a:rPr>
              <a:t>Correct  colour (white)</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Operates when lights turned on</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Illuminates number plate</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Clean globe.</a:t>
            </a: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extLst>
      <p:ext uri="{BB962C8B-B14F-4D97-AF65-F5344CB8AC3E}">
        <p14:creationId xmlns:p14="http://schemas.microsoft.com/office/powerpoint/2010/main" val="19796568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discusses driving light checks:</a:t>
            </a:r>
          </a:p>
          <a:p>
            <a:pPr marL="171450" indent="-171450">
              <a:buFont typeface="Arial" pitchFamily="34" charset="0"/>
              <a:buChar char="•"/>
            </a:pPr>
            <a:r>
              <a:rPr lang="en-US" sz="1200" kern="1200" dirty="0" smtClean="0">
                <a:solidFill>
                  <a:schemeClr val="tx1"/>
                </a:solidFill>
                <a:latin typeface="+mn-lt"/>
                <a:ea typeface="+mn-ea"/>
                <a:cs typeface="+mn-cs"/>
              </a:rPr>
              <a:t>Correct colour (white or yellow)</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Not mounted above level of headlights of vehicle</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Fitted in pairs</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Maximum four per vehicle</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Operated on separate switch</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Dip when high beams are dipped.</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US"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extLst>
      <p:ext uri="{BB962C8B-B14F-4D97-AF65-F5344CB8AC3E}">
        <p14:creationId xmlns:p14="http://schemas.microsoft.com/office/powerpoint/2010/main" val="315458799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discussing driving light checks:</a:t>
            </a:r>
          </a:p>
          <a:p>
            <a:pPr marL="171450" indent="-171450">
              <a:buFont typeface="Arial" pitchFamily="34" charset="0"/>
              <a:buChar char="•"/>
            </a:pPr>
            <a:r>
              <a:rPr lang="en-US" sz="1200" kern="1200" dirty="0" smtClean="0">
                <a:solidFill>
                  <a:schemeClr val="tx1"/>
                </a:solidFill>
                <a:latin typeface="+mn-lt"/>
                <a:ea typeface="+mn-ea"/>
                <a:cs typeface="+mn-cs"/>
              </a:rPr>
              <a:t>Do not present a protrusion hazard</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Do not have a separate on/off switch</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Do not sit above the bull bar (where fitted)</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Forward facing and correctly aligned and aimed</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Lenses clean and not tarnished or cracked</a:t>
            </a:r>
          </a:p>
          <a:p>
            <a:pPr marL="171450" indent="-171450">
              <a:buFont typeface="Arial" pitchFamily="34" charset="0"/>
              <a:buChar char="•"/>
            </a:pPr>
            <a:r>
              <a:rPr lang="en-AU" sz="1200" kern="1200" dirty="0" smtClean="0">
                <a:solidFill>
                  <a:schemeClr val="tx1"/>
                </a:solidFill>
                <a:latin typeface="+mn-lt"/>
                <a:ea typeface="+mn-ea"/>
                <a:cs typeface="+mn-cs"/>
              </a:rPr>
              <a:t>After-market lights are tightly connected to vehicle.</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US"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extLst>
      <p:ext uri="{BB962C8B-B14F-4D97-AF65-F5344CB8AC3E}">
        <p14:creationId xmlns:p14="http://schemas.microsoft.com/office/powerpoint/2010/main" val="337458234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discusses turning light checks (front and rear, left and right)</a:t>
            </a:r>
          </a:p>
          <a:p>
            <a:pPr marL="171450" indent="-171450">
              <a:buFont typeface="Arial" pitchFamily="34" charset="0"/>
              <a:buChar char="•"/>
            </a:pPr>
            <a:r>
              <a:rPr lang="en-US" sz="1200" kern="1200" dirty="0" smtClean="0">
                <a:solidFill>
                  <a:schemeClr val="tx1"/>
                </a:solidFill>
                <a:latin typeface="+mn-lt"/>
                <a:ea typeface="+mn-ea"/>
                <a:cs typeface="+mn-cs"/>
              </a:rPr>
              <a:t>Correct colour (yellow or red)</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Operate when activated</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Clean and clear</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Accompanied by audible signal when activated.</a:t>
            </a:r>
            <a:endParaRPr lang="en-AU" sz="1200" kern="120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US"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extLst>
      <p:ext uri="{BB962C8B-B14F-4D97-AF65-F5344CB8AC3E}">
        <p14:creationId xmlns:p14="http://schemas.microsoft.com/office/powerpoint/2010/main" val="17216379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discusses side marker light checks:</a:t>
            </a:r>
          </a:p>
          <a:p>
            <a:pPr marL="171450" indent="-171450">
              <a:buFont typeface="Arial" pitchFamily="34" charset="0"/>
              <a:buChar char="•"/>
            </a:pPr>
            <a:r>
              <a:rPr lang="en-US" sz="1200" kern="1200" dirty="0" smtClean="0">
                <a:solidFill>
                  <a:schemeClr val="tx1"/>
                </a:solidFill>
                <a:latin typeface="+mn-lt"/>
                <a:ea typeface="+mn-ea"/>
                <a:cs typeface="+mn-cs"/>
              </a:rPr>
              <a:t>Correct colour (white)</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Illuminate when activated</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Spaced correctly (for example, no less than 400 mm apart)</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Clean and clear.</a:t>
            </a:r>
            <a:endParaRPr lang="en-AU" sz="1200" kern="120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US"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extLst>
      <p:ext uri="{BB962C8B-B14F-4D97-AF65-F5344CB8AC3E}">
        <p14:creationId xmlns:p14="http://schemas.microsoft.com/office/powerpoint/2010/main" val="10500802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discusses brake light checks:</a:t>
            </a:r>
          </a:p>
          <a:p>
            <a:pPr marL="171450" indent="-171450">
              <a:buFont typeface="Arial" pitchFamily="34" charset="0"/>
              <a:buChar char="•"/>
            </a:pPr>
            <a:r>
              <a:rPr lang="en-US" sz="1200" kern="1200" dirty="0" smtClean="0">
                <a:solidFill>
                  <a:schemeClr val="tx1"/>
                </a:solidFill>
                <a:latin typeface="+mn-lt"/>
                <a:ea typeface="+mn-ea"/>
                <a:cs typeface="+mn-cs"/>
              </a:rPr>
              <a:t>Correct colour (red)</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Positioned at correct height</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Activated when brake pedal is depressed</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Clean and clear </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No white light shows through the red cover of the light</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Lenses in good condition.</a:t>
            </a:r>
            <a:endParaRPr lang="en-AU" sz="1200" kern="120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US"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extLst>
      <p:ext uri="{BB962C8B-B14F-4D97-AF65-F5344CB8AC3E}">
        <p14:creationId xmlns:p14="http://schemas.microsoft.com/office/powerpoint/2010/main" val="24381611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discusses hazard warning light checks:</a:t>
            </a:r>
          </a:p>
          <a:p>
            <a:pPr marL="171450" indent="-171450">
              <a:buFont typeface="Arial" pitchFamily="34" charset="0"/>
              <a:buChar char="•"/>
            </a:pPr>
            <a:r>
              <a:rPr lang="en-US" sz="1200" kern="1200" dirty="0" smtClean="0">
                <a:solidFill>
                  <a:schemeClr val="tx1"/>
                </a:solidFill>
                <a:latin typeface="+mn-lt"/>
                <a:ea typeface="+mn-ea"/>
                <a:cs typeface="+mn-cs"/>
              </a:rPr>
              <a:t>Operate when activated</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All globes operational</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Accompanied by audible signal when activated</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Not incorporated with turn indicators</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Clean and clear.</a:t>
            </a:r>
            <a:endParaRPr lang="en-AU" sz="1200" kern="120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US"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extLst>
      <p:ext uri="{BB962C8B-B14F-4D97-AF65-F5344CB8AC3E}">
        <p14:creationId xmlns:p14="http://schemas.microsoft.com/office/powerpoint/2010/main" val="210927694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discusses reversing light checks:</a:t>
            </a:r>
          </a:p>
          <a:p>
            <a:pPr marL="171450" indent="-171450">
              <a:buFont typeface="Arial" pitchFamily="34" charset="0"/>
              <a:buChar char="•"/>
            </a:pPr>
            <a:r>
              <a:rPr lang="en-US" sz="1200" kern="1200" dirty="0" smtClean="0">
                <a:solidFill>
                  <a:schemeClr val="tx1"/>
                </a:solidFill>
                <a:latin typeface="+mn-lt"/>
                <a:ea typeface="+mn-ea"/>
                <a:cs typeface="+mn-cs"/>
              </a:rPr>
              <a:t>Activates when reverse gear selected</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Not operated by an independent switch</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Clean and clear</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Activates reversing warning device (where fitted).</a:t>
            </a:r>
            <a:endParaRPr lang="en-AU" sz="1200" kern="120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US"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extLst>
      <p:ext uri="{BB962C8B-B14F-4D97-AF65-F5344CB8AC3E}">
        <p14:creationId xmlns:p14="http://schemas.microsoft.com/office/powerpoint/2010/main" val="418948416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discusses spotlight checks:</a:t>
            </a:r>
          </a:p>
          <a:p>
            <a:pPr marL="171450" indent="-171450">
              <a:buFont typeface="Arial" pitchFamily="34" charset="0"/>
              <a:buChar char="•"/>
            </a:pPr>
            <a:r>
              <a:rPr lang="en-US" sz="1200" kern="1200" dirty="0" smtClean="0">
                <a:solidFill>
                  <a:schemeClr val="tx1"/>
                </a:solidFill>
                <a:latin typeface="+mn-lt"/>
                <a:ea typeface="+mn-ea"/>
                <a:cs typeface="+mn-cs"/>
              </a:rPr>
              <a:t>Local regulations are complied with – there is usually a ban on fitting spotlights to vehicles other than as in compliance with the requirements for driving lights although some tour vehicles may carry hand-held spotlights which run off the vehicle</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Light bars are securely attached </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No blown globes</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Sufficient intensity.</a:t>
            </a:r>
            <a:endParaRPr lang="en-AU" sz="1200" kern="120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US" noProof="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extLst>
      <p:ext uri="{BB962C8B-B14F-4D97-AF65-F5344CB8AC3E}">
        <p14:creationId xmlns:p14="http://schemas.microsoft.com/office/powerpoint/2010/main" val="292622834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discusses rear reflector checks:</a:t>
            </a:r>
          </a:p>
          <a:p>
            <a:pPr marL="171450" indent="-171450">
              <a:buFont typeface="Arial" pitchFamily="34" charset="0"/>
              <a:buChar char="•"/>
            </a:pPr>
            <a:r>
              <a:rPr lang="en-AU" sz="1200" kern="1200" dirty="0" smtClean="0">
                <a:solidFill>
                  <a:schemeClr val="tx1"/>
                </a:solidFill>
                <a:latin typeface="+mn-lt"/>
                <a:ea typeface="+mn-ea"/>
                <a:cs typeface="+mn-cs"/>
              </a:rPr>
              <a:t>These need to be checked to ensure they are clean and have not become discoloured or dislodged</a:t>
            </a:r>
          </a:p>
          <a:p>
            <a:pPr marL="171450" indent="-171450">
              <a:buFont typeface="Arial" pitchFamily="34" charset="0"/>
              <a:buChar char="•"/>
            </a:pPr>
            <a:r>
              <a:rPr lang="en-AU" sz="1200" kern="1200" dirty="0" smtClean="0">
                <a:solidFill>
                  <a:schemeClr val="tx1"/>
                </a:solidFill>
                <a:latin typeface="+mn-lt"/>
                <a:ea typeface="+mn-ea"/>
                <a:cs typeface="+mn-cs"/>
              </a:rPr>
              <a:t>Dirty reflectors need to be cleaned and those which are discoloured or missing must be replaced or tightened.</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US"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extLst>
      <p:ext uri="{BB962C8B-B14F-4D97-AF65-F5344CB8AC3E}">
        <p14:creationId xmlns:p14="http://schemas.microsoft.com/office/powerpoint/2010/main" val="149947517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discusses internal lights checks:</a:t>
            </a:r>
          </a:p>
          <a:p>
            <a:pPr marL="171450" indent="-171450">
              <a:buFont typeface="Arial" pitchFamily="34" charset="0"/>
              <a:buChar char="•"/>
            </a:pPr>
            <a:r>
              <a:rPr lang="en-US" sz="1200" kern="1200" dirty="0" smtClean="0">
                <a:solidFill>
                  <a:schemeClr val="tx1"/>
                </a:solidFill>
                <a:latin typeface="+mn-lt"/>
                <a:ea typeface="+mn-ea"/>
                <a:cs typeface="+mn-cs"/>
              </a:rPr>
              <a:t>Operate when turned on/off</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Clean and clear – globes and covers </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No blown globes.</a:t>
            </a: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extLst>
      <p:ext uri="{BB962C8B-B14F-4D97-AF65-F5344CB8AC3E}">
        <p14:creationId xmlns:p14="http://schemas.microsoft.com/office/powerpoint/2010/main" val="19534921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discusses dashboard and instrument illumination checks:</a:t>
            </a:r>
          </a:p>
          <a:p>
            <a:pPr marL="171450" indent="-171450">
              <a:buFont typeface="Arial" pitchFamily="34" charset="0"/>
              <a:buChar char="•"/>
            </a:pPr>
            <a:r>
              <a:rPr lang="en-US" sz="1200" kern="1200" dirty="0" smtClean="0">
                <a:solidFill>
                  <a:schemeClr val="tx1"/>
                </a:solidFill>
                <a:latin typeface="+mn-lt"/>
                <a:ea typeface="+mn-ea"/>
                <a:cs typeface="+mn-cs"/>
              </a:rPr>
              <a:t>Illuminates when lights are activated</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Dimming facility operates (where fitted)</a:t>
            </a:r>
            <a:endParaRPr lang="en-AU" sz="1200" kern="120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Warning (or ‘tell tale’) lights (the owner manual needs to be consulted to ensure there is complete knowledge of all warning lights fitted to the vehicle) – check to ensure, for example:</a:t>
            </a:r>
          </a:p>
          <a:p>
            <a:pPr marL="628650" lvl="1" indent="-171450">
              <a:buFont typeface="Arial" pitchFamily="34" charset="0"/>
              <a:buChar char="•"/>
            </a:pPr>
            <a:r>
              <a:rPr lang="en-US" sz="1200" kern="1200" dirty="0" smtClean="0">
                <a:solidFill>
                  <a:schemeClr val="tx1"/>
                </a:solidFill>
                <a:latin typeface="+mn-lt"/>
                <a:ea typeface="+mn-ea"/>
                <a:cs typeface="+mn-cs"/>
              </a:rPr>
              <a:t>Seatbelt light and audible warning activates if seat belts are not connected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Dashboard warning activates when hazard warning lights are operated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Turn signal dashboard light illuminates when turn signal used – left and right</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Required lights (for example: oil, temperature, brake system, temperature, battery and others) illuminate:</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As required</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When vehicle is turned on.</a:t>
            </a:r>
            <a:endParaRPr lang="en-AU" sz="1200" kern="120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(1)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US" noProof="0" dirty="0" smtClean="0"/>
          </a:p>
          <a:p>
            <a:pPr>
              <a:buFont typeface="Arial" pitchFamily="34" charset="0"/>
              <a:buNone/>
            </a:pPr>
            <a:endParaRPr lang="en-US" noProof="0" dirty="0" smtClean="0"/>
          </a:p>
          <a:p>
            <a:pPr>
              <a:buFont typeface="Arial" pitchFamily="34" charset="0"/>
              <a:buNone/>
            </a:pPr>
            <a:r>
              <a:rPr lang="en-US" b="1" noProof="0" dirty="0" smtClean="0"/>
              <a:t>Classroom Activity (2) – internet Research</a:t>
            </a:r>
          </a:p>
          <a:p>
            <a:pPr>
              <a:buFont typeface="Arial" pitchFamily="34" charset="0"/>
              <a:buNone/>
            </a:pPr>
            <a:r>
              <a:rPr lang="en-US" b="0" noProof="0" dirty="0" smtClean="0"/>
              <a:t>Trainer facilitates research and discussion of:</a:t>
            </a:r>
          </a:p>
          <a:p>
            <a:pPr>
              <a:buFont typeface="Arial" pitchFamily="34" charset="0"/>
              <a:buNone/>
            </a:pPr>
            <a:r>
              <a:rPr lang="en-AU" sz="1200" u="sng" kern="1200" dirty="0" smtClean="0">
                <a:solidFill>
                  <a:schemeClr val="tx1"/>
                </a:solidFill>
                <a:latin typeface="+mn-lt"/>
                <a:ea typeface="+mn-ea"/>
                <a:cs typeface="+mn-cs"/>
                <a:hlinkClick r:id="rId3"/>
              </a:rPr>
              <a:t>http://www.2pass.co.uk/dashboard-lights.htm#.VRnnqI6ddh8</a:t>
            </a:r>
            <a:r>
              <a:rPr lang="en-AU" sz="1200" u="sng" kern="1200" dirty="0" smtClean="0">
                <a:solidFill>
                  <a:schemeClr val="tx1"/>
                </a:solidFill>
                <a:latin typeface="+mn-lt"/>
                <a:ea typeface="+mn-ea"/>
                <a:cs typeface="+mn-cs"/>
              </a:rPr>
              <a:t> </a:t>
            </a:r>
            <a:endParaRPr lang="en-US" b="0" noProof="0" dirty="0" smtClean="0"/>
          </a:p>
          <a:p>
            <a:pPr>
              <a:buFont typeface="Arial" pitchFamily="34" charset="0"/>
              <a:buNone/>
            </a:pPr>
            <a:endParaRPr lang="en-US"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extLst>
      <p:ext uri="{BB962C8B-B14F-4D97-AF65-F5344CB8AC3E}">
        <p14:creationId xmlns:p14="http://schemas.microsoft.com/office/powerpoint/2010/main" val="245722506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identifies possible lighting adjustments:</a:t>
            </a:r>
          </a:p>
          <a:p>
            <a:pPr marL="171450" indent="-171450">
              <a:buFont typeface="Arial" pitchFamily="34" charset="0"/>
              <a:buChar char="•"/>
            </a:pPr>
            <a:r>
              <a:rPr lang="en-AU" sz="1200" kern="1200" dirty="0" smtClean="0">
                <a:solidFill>
                  <a:schemeClr val="tx1"/>
                </a:solidFill>
                <a:latin typeface="+mn-lt"/>
                <a:ea typeface="+mn-ea"/>
                <a:cs typeface="+mn-cs"/>
              </a:rPr>
              <a:t>Replace blown globes</a:t>
            </a:r>
          </a:p>
          <a:p>
            <a:pPr marL="171450" indent="-171450">
              <a:buFont typeface="Arial" pitchFamily="34" charset="0"/>
              <a:buChar char="•"/>
            </a:pPr>
            <a:r>
              <a:rPr lang="en-AU" sz="1200" kern="1200" dirty="0" smtClean="0">
                <a:solidFill>
                  <a:schemeClr val="tx1"/>
                </a:solidFill>
                <a:latin typeface="+mn-lt"/>
                <a:ea typeface="+mn-ea"/>
                <a:cs typeface="+mn-cs"/>
              </a:rPr>
              <a:t>Clean lenses and reflectors</a:t>
            </a:r>
          </a:p>
          <a:p>
            <a:pPr marL="171450" indent="-171450">
              <a:buFont typeface="Arial" pitchFamily="34" charset="0"/>
              <a:buChar char="•"/>
            </a:pPr>
            <a:r>
              <a:rPr lang="en-AU" sz="1200" kern="1200" dirty="0" smtClean="0">
                <a:solidFill>
                  <a:schemeClr val="tx1"/>
                </a:solidFill>
                <a:latin typeface="+mn-lt"/>
                <a:ea typeface="+mn-ea"/>
                <a:cs typeface="+mn-cs"/>
              </a:rPr>
              <a:t>Align/focus headlights, driving lights and fog lights as/if required</a:t>
            </a:r>
          </a:p>
          <a:p>
            <a:pPr marL="171450" indent="-171450">
              <a:buFont typeface="Arial" pitchFamily="34" charset="0"/>
              <a:buChar char="•"/>
            </a:pPr>
            <a:r>
              <a:rPr lang="en-AU" sz="1200" kern="1200" dirty="0" smtClean="0">
                <a:solidFill>
                  <a:schemeClr val="tx1"/>
                </a:solidFill>
                <a:latin typeface="+mn-lt"/>
                <a:ea typeface="+mn-ea"/>
                <a:cs typeface="+mn-cs"/>
              </a:rPr>
              <a:t>Replace wiring or re-wire lights as required to conform to requirements.</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extLst>
      <p:ext uri="{BB962C8B-B14F-4D97-AF65-F5344CB8AC3E}">
        <p14:creationId xmlns:p14="http://schemas.microsoft.com/office/powerpoint/2010/main" val="106051657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identifying possible lighting adjustments:</a:t>
            </a:r>
          </a:p>
          <a:p>
            <a:pPr marL="171450" indent="-171450">
              <a:buFont typeface="Arial" pitchFamily="34" charset="0"/>
              <a:buChar char="•"/>
            </a:pPr>
            <a:r>
              <a:rPr lang="en-AU" sz="1200" kern="1200" dirty="0" smtClean="0">
                <a:solidFill>
                  <a:schemeClr val="tx1"/>
                </a:solidFill>
                <a:latin typeface="+mn-lt"/>
                <a:ea typeface="+mn-ea"/>
                <a:cs typeface="+mn-cs"/>
              </a:rPr>
              <a:t>Replace fuses</a:t>
            </a:r>
          </a:p>
          <a:p>
            <a:pPr marL="171450" indent="-171450">
              <a:buFont typeface="Arial" pitchFamily="34" charset="0"/>
              <a:buChar char="•"/>
            </a:pPr>
            <a:r>
              <a:rPr lang="en-AU" sz="1200" kern="1200" dirty="0" smtClean="0">
                <a:solidFill>
                  <a:schemeClr val="tx1"/>
                </a:solidFill>
                <a:latin typeface="+mn-lt"/>
                <a:ea typeface="+mn-ea"/>
                <a:cs typeface="+mn-cs"/>
              </a:rPr>
              <a:t>Replace wiring</a:t>
            </a:r>
          </a:p>
          <a:p>
            <a:pPr marL="171450" indent="-171450">
              <a:buFont typeface="Arial" pitchFamily="34" charset="0"/>
              <a:buChar char="•"/>
            </a:pPr>
            <a:r>
              <a:rPr lang="en-AU" sz="1200" kern="1200" dirty="0" smtClean="0">
                <a:solidFill>
                  <a:schemeClr val="tx1"/>
                </a:solidFill>
                <a:latin typeface="+mn-lt"/>
                <a:ea typeface="+mn-ea"/>
                <a:cs typeface="+mn-cs"/>
              </a:rPr>
              <a:t>Replace connectors</a:t>
            </a:r>
          </a:p>
          <a:p>
            <a:pPr marL="171450" indent="-171450">
              <a:buFont typeface="Arial" pitchFamily="34" charset="0"/>
              <a:buChar char="•"/>
            </a:pPr>
            <a:r>
              <a:rPr lang="en-AU" sz="1200" kern="1200" dirty="0" smtClean="0">
                <a:solidFill>
                  <a:schemeClr val="tx1"/>
                </a:solidFill>
                <a:latin typeface="+mn-lt"/>
                <a:ea typeface="+mn-ea"/>
                <a:cs typeface="+mn-cs"/>
              </a:rPr>
              <a:t>Tighten loose fittings.</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Technical adjustments may require the services of a qualified auto electrician.</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extLst>
      <p:ext uri="{BB962C8B-B14F-4D97-AF65-F5344CB8AC3E}">
        <p14:creationId xmlns:p14="http://schemas.microsoft.com/office/powerpoint/2010/main" val="412608795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discusses glazing checks:</a:t>
            </a:r>
          </a:p>
          <a:p>
            <a:pPr marL="171450" indent="-171450">
              <a:buFont typeface="Arial" pitchFamily="34" charset="0"/>
              <a:buChar char="•"/>
            </a:pPr>
            <a:r>
              <a:rPr lang="en-US" sz="1200" kern="1200" dirty="0" smtClean="0">
                <a:solidFill>
                  <a:schemeClr val="tx1"/>
                </a:solidFill>
                <a:latin typeface="+mn-lt"/>
                <a:ea typeface="+mn-ea"/>
                <a:cs typeface="+mn-cs"/>
              </a:rPr>
              <a:t>Tinting is not excessive and permits sufficient light to pass in accordance with local regulations – that is, tinting for front and front-side windows must not be ‘too dark’</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There may be no restrictions for:</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Passenger windows located rear of the driver</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A limited band (say, maximum 10% of the total windscreen) at the top of the windscreen</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No cracks, crazes, fractures in field of</a:t>
            </a:r>
            <a:r>
              <a:rPr lang="en-AU" sz="1200" kern="1200" baseline="0" dirty="0" smtClean="0">
                <a:solidFill>
                  <a:schemeClr val="tx1"/>
                </a:solidFill>
                <a:latin typeface="+mn-lt"/>
                <a:ea typeface="+mn-ea"/>
                <a:cs typeface="+mn-cs"/>
              </a:rPr>
              <a:t> vision of driver</a:t>
            </a:r>
          </a:p>
          <a:p>
            <a:pPr marL="171450" indent="-171450">
              <a:buFont typeface="Arial" pitchFamily="34" charset="0"/>
              <a:buChar char="•"/>
            </a:pPr>
            <a:r>
              <a:rPr lang="en-AU" sz="1200" kern="1200" baseline="0" dirty="0" smtClean="0">
                <a:solidFill>
                  <a:schemeClr val="tx1"/>
                </a:solidFill>
                <a:latin typeface="+mn-lt"/>
                <a:ea typeface="+mn-ea"/>
                <a:cs typeface="+mn-cs"/>
              </a:rPr>
              <a:t>Windows/glass are in place.</a:t>
            </a:r>
            <a:endParaRPr lang="en-AU" sz="1200" kern="1200" dirty="0" smtClean="0">
              <a:solidFill>
                <a:schemeClr val="tx1"/>
              </a:solidFill>
              <a:latin typeface="+mn-lt"/>
              <a:ea typeface="+mn-ea"/>
              <a:cs typeface="+mn-cs"/>
            </a:endParaRPr>
          </a:p>
          <a:p>
            <a:pPr>
              <a:buFont typeface="Arial" pitchFamily="34" charset="0"/>
              <a:buNone/>
            </a:pPr>
            <a:endParaRPr lang="en-US" sz="1200" kern="1200" noProof="0" dirty="0" smtClean="0">
              <a:solidFill>
                <a:schemeClr val="tx1"/>
              </a:solidFill>
              <a:latin typeface="+mn-lt"/>
              <a:ea typeface="+mn-ea"/>
              <a:cs typeface="+mn-cs"/>
            </a:endParaRPr>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extLst>
      <p:ext uri="{BB962C8B-B14F-4D97-AF65-F5344CB8AC3E}">
        <p14:creationId xmlns:p14="http://schemas.microsoft.com/office/powerpoint/2010/main" val="267007048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discusses sun visor checks:</a:t>
            </a:r>
          </a:p>
          <a:p>
            <a:pPr marL="171450" indent="-171450">
              <a:buFont typeface="Arial" pitchFamily="34" charset="0"/>
              <a:buChar char="•"/>
            </a:pPr>
            <a:r>
              <a:rPr lang="en-US" sz="1200" kern="1200" dirty="0" smtClean="0">
                <a:solidFill>
                  <a:schemeClr val="tx1"/>
                </a:solidFill>
                <a:latin typeface="+mn-lt"/>
                <a:ea typeface="+mn-ea"/>
                <a:cs typeface="+mn-cs"/>
              </a:rPr>
              <a:t>Fully operational and easy/smooth to use – in terms of:</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Flipping down and up</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Moving laterally – where appropriate</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They will stay in the position required by the user</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They are securely affixed to the vehicle</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Additions (mirrors, pockets, attachments) are clean and secure.</a:t>
            </a:r>
            <a:endParaRPr lang="en-AU" sz="1200" kern="120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extLst>
      <p:ext uri="{BB962C8B-B14F-4D97-AF65-F5344CB8AC3E}">
        <p14:creationId xmlns:p14="http://schemas.microsoft.com/office/powerpoint/2010/main" val="359783008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discusses windscreen </a:t>
            </a:r>
            <a:r>
              <a:rPr lang="en-AU" sz="1200" kern="1200" dirty="0" smtClean="0">
                <a:solidFill>
                  <a:schemeClr val="tx1"/>
                </a:solidFill>
                <a:latin typeface="+mn-lt"/>
                <a:ea typeface="+mn-ea"/>
                <a:cs typeface="+mn-cs"/>
              </a:rPr>
              <a:t>wipers and washing system checks:</a:t>
            </a:r>
          </a:p>
          <a:p>
            <a:pPr marL="171450" indent="-171450">
              <a:buFont typeface="Arial" pitchFamily="34" charset="0"/>
              <a:buChar char="•"/>
            </a:pPr>
            <a:r>
              <a:rPr lang="en-US" sz="1200" kern="1200" dirty="0" smtClean="0">
                <a:solidFill>
                  <a:schemeClr val="tx1"/>
                </a:solidFill>
                <a:latin typeface="+mn-lt"/>
                <a:ea typeface="+mn-ea"/>
                <a:cs typeface="+mn-cs"/>
              </a:rPr>
              <a:t>System is fully functional at all settings – and blades return to their resting position when the system is turned off</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Water jets are correctly aimed and of sufficient pressure</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Water jets are operating properly and are not blocked or disconnected</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Wipers and washers can be operated from the driver’s seat</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Blades of the wipers make contact with/sweep only the glass and no other part of the vehicles</a:t>
            </a:r>
            <a:endParaRPr lang="en-AU" sz="1200" kern="1200" dirty="0" smtClean="0">
              <a:solidFill>
                <a:schemeClr val="tx1"/>
              </a:solidFill>
              <a:latin typeface="+mn-lt"/>
              <a:ea typeface="+mn-ea"/>
              <a:cs typeface="+mn-cs"/>
            </a:endParaRPr>
          </a:p>
          <a:p>
            <a:pPr marL="171450" indent="-171450">
              <a:buFont typeface="Arial" pitchFamily="34" charset="0"/>
              <a:buChar char="•"/>
            </a:pPr>
            <a:r>
              <a:rPr lang="en-US" sz="1200" kern="1200" dirty="0" smtClean="0">
                <a:solidFill>
                  <a:schemeClr val="tx1"/>
                </a:solidFill>
                <a:latin typeface="+mn-lt"/>
                <a:ea typeface="+mn-ea"/>
                <a:cs typeface="+mn-cs"/>
              </a:rPr>
              <a:t>Blades are in place and in good condition – that is, they are not dried, cracked or otherwise damaged or defective.</a:t>
            </a:r>
            <a:endParaRPr lang="en-AU" sz="1200" kern="120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extLst>
      <p:ext uri="{BB962C8B-B14F-4D97-AF65-F5344CB8AC3E}">
        <p14:creationId xmlns:p14="http://schemas.microsoft.com/office/powerpoint/2010/main" val="173282033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discusses demister checks:</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dirty="0" smtClean="0">
                <a:solidFill>
                  <a:schemeClr val="tx1"/>
                </a:solidFill>
                <a:latin typeface="+mn-lt"/>
                <a:ea typeface="+mn-ea"/>
                <a:cs typeface="+mn-cs"/>
              </a:rPr>
              <a:t>The demister operates correctly when turned on – and removes condensation from inside the windscreens as required for the individual design and requirements of the vehicle.</a:t>
            </a:r>
            <a:endParaRPr lang="en-AU" sz="1200" kern="120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extLst>
      <p:ext uri="{BB962C8B-B14F-4D97-AF65-F5344CB8AC3E}">
        <p14:creationId xmlns:p14="http://schemas.microsoft.com/office/powerpoint/2010/main" val="186114320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discusses mirror checks:</a:t>
            </a:r>
          </a:p>
          <a:p>
            <a:pPr marL="171450" indent="-171450">
              <a:buFont typeface="Arial" pitchFamily="34" charset="0"/>
              <a:buChar char="•"/>
            </a:pPr>
            <a:r>
              <a:rPr lang="en-AU" sz="1200" kern="1200" dirty="0" smtClean="0">
                <a:solidFill>
                  <a:schemeClr val="tx1"/>
                </a:solidFill>
                <a:latin typeface="+mn-lt"/>
                <a:ea typeface="+mn-ea"/>
                <a:cs typeface="+mn-cs"/>
              </a:rPr>
              <a:t>The rear view mirrors must provide a view of the rear of the vehicle from the driver’s seat</a:t>
            </a:r>
          </a:p>
          <a:p>
            <a:pPr marL="171450" indent="-171450">
              <a:buFont typeface="Arial" pitchFamily="34" charset="0"/>
              <a:buChar char="•"/>
            </a:pPr>
            <a:r>
              <a:rPr lang="en-AU" sz="1200" kern="1200" dirty="0" smtClean="0">
                <a:solidFill>
                  <a:schemeClr val="tx1"/>
                </a:solidFill>
                <a:latin typeface="+mn-lt"/>
                <a:ea typeface="+mn-ea"/>
                <a:cs typeface="+mn-cs"/>
              </a:rPr>
              <a:t>Mirrors must be securely mounted and able to be adjusted</a:t>
            </a:r>
          </a:p>
          <a:p>
            <a:pPr marL="171450" indent="-171450">
              <a:buFont typeface="Arial" pitchFamily="34" charset="0"/>
              <a:buChar char="•"/>
            </a:pPr>
            <a:r>
              <a:rPr lang="en-AU" sz="1200" kern="1200" dirty="0" smtClean="0">
                <a:solidFill>
                  <a:schemeClr val="tx1"/>
                </a:solidFill>
                <a:latin typeface="+mn-lt"/>
                <a:ea typeface="+mn-ea"/>
                <a:cs typeface="+mn-cs"/>
              </a:rPr>
              <a:t>The reflective surface must not be cracked, broken or peeled</a:t>
            </a:r>
          </a:p>
          <a:p>
            <a:pPr marL="171450" indent="-171450">
              <a:buFont typeface="Arial" pitchFamily="34" charset="0"/>
              <a:buChar char="•"/>
            </a:pPr>
            <a:r>
              <a:rPr lang="en-AU" sz="1200" kern="1200" dirty="0" smtClean="0">
                <a:solidFill>
                  <a:schemeClr val="tx1"/>
                </a:solidFill>
                <a:latin typeface="+mn-lt"/>
                <a:ea typeface="+mn-ea"/>
                <a:cs typeface="+mn-cs"/>
              </a:rPr>
              <a:t>The primary rear vision mirror must be flat but additional curved ones may be fitted. </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US"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extLst>
      <p:ext uri="{BB962C8B-B14F-4D97-AF65-F5344CB8AC3E}">
        <p14:creationId xmlns:p14="http://schemas.microsoft.com/office/powerpoint/2010/main" val="428204840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describes adjustments:</a:t>
            </a:r>
          </a:p>
          <a:p>
            <a:pPr marL="171450" indent="-171450">
              <a:buFont typeface="Arial" pitchFamily="34" charset="0"/>
              <a:buChar char="•"/>
            </a:pPr>
            <a:r>
              <a:rPr lang="en-AU" sz="1200" kern="1200" dirty="0" smtClean="0">
                <a:solidFill>
                  <a:schemeClr val="tx1"/>
                </a:solidFill>
                <a:latin typeface="+mn-lt"/>
                <a:ea typeface="+mn-ea"/>
                <a:cs typeface="+mn-cs"/>
              </a:rPr>
              <a:t>Cleaning</a:t>
            </a:r>
          </a:p>
          <a:p>
            <a:pPr marL="171450" indent="-171450">
              <a:buFont typeface="Arial" pitchFamily="34" charset="0"/>
              <a:buChar char="•"/>
            </a:pPr>
            <a:r>
              <a:rPr lang="en-AU" sz="1200" kern="1200" dirty="0" smtClean="0">
                <a:solidFill>
                  <a:schemeClr val="tx1"/>
                </a:solidFill>
                <a:latin typeface="+mn-lt"/>
                <a:ea typeface="+mn-ea"/>
                <a:cs typeface="+mn-cs"/>
              </a:rPr>
              <a:t>Tightening or re-affixing connections and fixtures</a:t>
            </a:r>
          </a:p>
          <a:p>
            <a:pPr marL="171450" indent="-171450">
              <a:buFont typeface="Arial" pitchFamily="34" charset="0"/>
              <a:buChar char="•"/>
            </a:pPr>
            <a:r>
              <a:rPr lang="en-AU" sz="1200" kern="1200" dirty="0" smtClean="0">
                <a:solidFill>
                  <a:schemeClr val="tx1"/>
                </a:solidFill>
                <a:latin typeface="+mn-lt"/>
                <a:ea typeface="+mn-ea"/>
                <a:cs typeface="+mn-cs"/>
              </a:rPr>
              <a:t>Replacement of faulty or defective items</a:t>
            </a:r>
          </a:p>
          <a:p>
            <a:pPr marL="171450" indent="-171450">
              <a:buFont typeface="Arial" pitchFamily="34" charset="0"/>
              <a:buChar char="•"/>
            </a:pPr>
            <a:r>
              <a:rPr lang="en-AU" sz="1200" kern="1200" dirty="0" smtClean="0">
                <a:solidFill>
                  <a:schemeClr val="tx1"/>
                </a:solidFill>
                <a:latin typeface="+mn-lt"/>
                <a:ea typeface="+mn-ea"/>
                <a:cs typeface="+mn-cs"/>
              </a:rPr>
              <a:t>Professional service by qualified technician to electrical/electronic items.</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extLst>
      <p:ext uri="{BB962C8B-B14F-4D97-AF65-F5344CB8AC3E}">
        <p14:creationId xmlns:p14="http://schemas.microsoft.com/office/powerpoint/2010/main" val="216945625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identifies items which may need to be checked:</a:t>
            </a:r>
          </a:p>
          <a:p>
            <a:pPr marL="171450" indent="-171450">
              <a:buFont typeface="Arial" pitchFamily="34" charset="0"/>
              <a:buChar char="•"/>
            </a:pPr>
            <a:r>
              <a:rPr lang="en-AU" sz="1200" kern="1200" dirty="0" smtClean="0">
                <a:solidFill>
                  <a:schemeClr val="tx1"/>
                </a:solidFill>
                <a:latin typeface="+mn-lt"/>
                <a:ea typeface="+mn-ea"/>
                <a:cs typeface="+mn-cs"/>
              </a:rPr>
              <a:t>The operation of all doors of the vehicle – including:</a:t>
            </a:r>
          </a:p>
          <a:p>
            <a:pPr marL="628650" lvl="1" indent="-171450">
              <a:buFont typeface="Arial" pitchFamily="34" charset="0"/>
              <a:buChar char="•"/>
            </a:pPr>
            <a:r>
              <a:rPr lang="en-US" sz="1200" kern="1200" dirty="0" smtClean="0">
                <a:solidFill>
                  <a:schemeClr val="tx1"/>
                </a:solidFill>
                <a:latin typeface="+mn-lt"/>
                <a:ea typeface="+mn-ea"/>
                <a:cs typeface="+mn-cs"/>
              </a:rPr>
              <a:t>Hinged doors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Sliding doors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Pneumatic doors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The operation of other opening panels/parts of the vehicle – such as:</a:t>
            </a:r>
          </a:p>
          <a:p>
            <a:pPr marL="628650" lvl="1" indent="-171450">
              <a:buFont typeface="Arial" pitchFamily="34" charset="0"/>
              <a:buChar char="•"/>
            </a:pPr>
            <a:r>
              <a:rPr lang="en-US" sz="1200" kern="1200" dirty="0" smtClean="0">
                <a:solidFill>
                  <a:schemeClr val="tx1"/>
                </a:solidFill>
                <a:latin typeface="+mn-lt"/>
                <a:ea typeface="+mn-ea"/>
                <a:cs typeface="+mn-cs"/>
              </a:rPr>
              <a:t>Bonnet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Boot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Cargo holds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Side/drop doors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Aspects of the vehicle allied to entrances and exits – such as:</a:t>
            </a:r>
          </a:p>
          <a:p>
            <a:pPr marL="628650" lvl="1" indent="-171450">
              <a:buFont typeface="Arial" pitchFamily="34" charset="0"/>
              <a:buChar char="•"/>
            </a:pPr>
            <a:r>
              <a:rPr lang="en-US" sz="1200" kern="1200" dirty="0" smtClean="0">
                <a:solidFill>
                  <a:schemeClr val="tx1"/>
                </a:solidFill>
                <a:latin typeface="+mn-lt"/>
                <a:ea typeface="+mn-ea"/>
                <a:cs typeface="+mn-cs"/>
              </a:rPr>
              <a:t>Entry steps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Ramps and hoists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Pneumatic supports – used to keep doors open</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Emergency exits.</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extLst>
      <p:ext uri="{BB962C8B-B14F-4D97-AF65-F5344CB8AC3E}">
        <p14:creationId xmlns:p14="http://schemas.microsoft.com/office/powerpoint/2010/main" val="428846353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identifies possible checks:</a:t>
            </a:r>
          </a:p>
          <a:p>
            <a:pPr marL="171450" indent="-171450">
              <a:buFont typeface="Arial" pitchFamily="34" charset="0"/>
              <a:buChar char="•"/>
            </a:pPr>
            <a:r>
              <a:rPr lang="en-AU" sz="1200" kern="1200" dirty="0" smtClean="0">
                <a:solidFill>
                  <a:schemeClr val="tx1"/>
                </a:solidFill>
                <a:latin typeface="+mn-lt"/>
                <a:ea typeface="+mn-ea"/>
                <a:cs typeface="+mn-cs"/>
              </a:rPr>
              <a:t>Ensuring latches and catches are mounted securely, in good condition and operating correctly and effectively as required – every door/opening (left and right, front and back – and top of vehicle, were sun-roofs are fitted) needs to be physically tested</a:t>
            </a:r>
          </a:p>
          <a:p>
            <a:pPr marL="171450" indent="-171450">
              <a:buFont typeface="Arial" pitchFamily="34" charset="0"/>
              <a:buChar char="•"/>
            </a:pPr>
            <a:r>
              <a:rPr lang="en-AU" sz="1200" kern="1200" dirty="0" smtClean="0">
                <a:solidFill>
                  <a:schemeClr val="tx1"/>
                </a:solidFill>
                <a:latin typeface="+mn-lt"/>
                <a:ea typeface="+mn-ea"/>
                <a:cs typeface="+mn-cs"/>
              </a:rPr>
              <a:t>Making sure doors which are controlled by the driver can be opened and closed from the driving position</a:t>
            </a:r>
          </a:p>
          <a:p>
            <a:pPr marL="171450" indent="-171450">
              <a:buFont typeface="Arial" pitchFamily="34" charset="0"/>
              <a:buChar char="•"/>
            </a:pPr>
            <a:r>
              <a:rPr lang="en-AU" sz="1200" kern="1200" dirty="0" smtClean="0">
                <a:solidFill>
                  <a:schemeClr val="tx1"/>
                </a:solidFill>
                <a:latin typeface="+mn-lt"/>
                <a:ea typeface="+mn-ea"/>
                <a:cs typeface="+mn-cs"/>
              </a:rPr>
              <a:t>Checking to make sure all door attachments/fittings and fixtures are securely attached – and do not present a protrusion hazard</a:t>
            </a:r>
          </a:p>
          <a:p>
            <a:pPr marL="171450" indent="-171450">
              <a:buFont typeface="Arial" pitchFamily="34" charset="0"/>
              <a:buChar char="•"/>
            </a:pPr>
            <a:r>
              <a:rPr lang="en-AU" sz="1200" kern="1200" dirty="0" smtClean="0">
                <a:solidFill>
                  <a:schemeClr val="tx1"/>
                </a:solidFill>
                <a:latin typeface="+mn-lt"/>
                <a:ea typeface="+mn-ea"/>
                <a:cs typeface="+mn-cs"/>
              </a:rPr>
              <a:t>Testing and checking the operation of door handles and locks – including the operation of remote opening/locking devices.</a:t>
            </a:r>
          </a:p>
          <a:p>
            <a:pPr>
              <a:buFont typeface="Arial" pitchFamily="34" charset="0"/>
              <a:buNone/>
            </a:pPr>
            <a:endParaRPr lang="en-AU" sz="1200" b="1" kern="1200" dirty="0" smtClean="0">
              <a:solidFill>
                <a:schemeClr val="tx1"/>
              </a:solidFill>
              <a:latin typeface="+mn-lt"/>
              <a:ea typeface="+mn-ea"/>
              <a:cs typeface="+mn-cs"/>
            </a:endParaRPr>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sz="1200" b="1"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extLst>
      <p:ext uri="{BB962C8B-B14F-4D97-AF65-F5344CB8AC3E}">
        <p14:creationId xmlns:p14="http://schemas.microsoft.com/office/powerpoint/2010/main" val="142509436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identifying possible checks:</a:t>
            </a:r>
          </a:p>
          <a:p>
            <a:pPr marL="171450" indent="-171450">
              <a:buFont typeface="Arial" pitchFamily="34" charset="0"/>
              <a:buChar char="•"/>
            </a:pPr>
            <a:r>
              <a:rPr lang="en-AU" sz="1200" kern="1200" dirty="0" smtClean="0">
                <a:solidFill>
                  <a:schemeClr val="tx1"/>
                </a:solidFill>
                <a:latin typeface="+mn-lt"/>
                <a:ea typeface="+mn-ea"/>
                <a:cs typeface="+mn-cs"/>
              </a:rPr>
              <a:t>Verifying bonnets which are hinged at the rear of the bonnet (near the windscreen) have an effective secondary bonnet mechanism (catch or straps) in place – to prevent the bonnet flying up if the primary catch fails</a:t>
            </a:r>
          </a:p>
          <a:p>
            <a:pPr marL="171450" indent="-171450">
              <a:buFont typeface="Arial" pitchFamily="34" charset="0"/>
              <a:buChar char="•"/>
            </a:pPr>
            <a:r>
              <a:rPr lang="en-AU" sz="1200" kern="1200" dirty="0" smtClean="0">
                <a:solidFill>
                  <a:schemeClr val="tx1"/>
                </a:solidFill>
                <a:latin typeface="+mn-lt"/>
                <a:ea typeface="+mn-ea"/>
                <a:cs typeface="+mn-cs"/>
              </a:rPr>
              <a:t>Making sure gas/pneumatic struts support the panels/vehicle sections they are intended to support – and do not allow that area to drop or unintentionally lower slowly or close without notice</a:t>
            </a:r>
          </a:p>
          <a:p>
            <a:pPr marL="171450" indent="-171450">
              <a:buFont typeface="Arial" pitchFamily="34" charset="0"/>
              <a:buChar char="•"/>
            </a:pPr>
            <a:r>
              <a:rPr lang="en-AU" sz="1200" kern="1200" dirty="0" smtClean="0">
                <a:solidFill>
                  <a:schemeClr val="tx1"/>
                </a:solidFill>
                <a:latin typeface="+mn-lt"/>
                <a:ea typeface="+mn-ea"/>
                <a:cs typeface="+mn-cs"/>
              </a:rPr>
              <a:t>Ensuring entrances and exits are free from tripping hazards – such as worn rubber, torn carpet, or lifted seals/strips</a:t>
            </a:r>
          </a:p>
          <a:p>
            <a:pPr marL="171450" indent="-171450">
              <a:buFont typeface="Arial" pitchFamily="34" charset="0"/>
              <a:buChar char="•"/>
            </a:pPr>
            <a:r>
              <a:rPr lang="en-AU" sz="1200" kern="1200" dirty="0" smtClean="0">
                <a:solidFill>
                  <a:schemeClr val="tx1"/>
                </a:solidFill>
                <a:latin typeface="+mn-lt"/>
                <a:ea typeface="+mn-ea"/>
                <a:cs typeface="+mn-cs"/>
              </a:rPr>
              <a:t>Verifying steps are fitted with skid- or slip-resistant covering.</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extLst>
      <p:ext uri="{BB962C8B-B14F-4D97-AF65-F5344CB8AC3E}">
        <p14:creationId xmlns:p14="http://schemas.microsoft.com/office/powerpoint/2010/main" val="166217471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identifying possible checks:</a:t>
            </a:r>
          </a:p>
          <a:p>
            <a:pPr marL="171450" indent="-171450">
              <a:buFont typeface="Arial" pitchFamily="34" charset="0"/>
              <a:buChar char="•"/>
            </a:pPr>
            <a:r>
              <a:rPr lang="en-AU" sz="1200" kern="1200" dirty="0" smtClean="0">
                <a:solidFill>
                  <a:schemeClr val="tx1"/>
                </a:solidFill>
                <a:latin typeface="+mn-lt"/>
                <a:ea typeface="+mn-ea"/>
                <a:cs typeface="+mn-cs"/>
              </a:rPr>
              <a:t>Checking illumination of steps (as/if fitted) and lighting of other spaces accessed by doors is functioning correctly – and there are no blown globes</a:t>
            </a:r>
          </a:p>
          <a:p>
            <a:pPr marL="171450" indent="-171450">
              <a:buFont typeface="Arial" pitchFamily="34" charset="0"/>
              <a:buChar char="•"/>
            </a:pPr>
            <a:r>
              <a:rPr lang="en-AU" sz="1200" kern="1200" dirty="0" smtClean="0">
                <a:solidFill>
                  <a:schemeClr val="tx1"/>
                </a:solidFill>
                <a:latin typeface="+mn-lt"/>
                <a:ea typeface="+mn-ea"/>
                <a:cs typeface="+mn-cs"/>
              </a:rPr>
              <a:t>Checking presence and stability of hand rails and hand straps for passengers – at entrances/exist and at each seat (where provided)</a:t>
            </a:r>
          </a:p>
          <a:p>
            <a:pPr marL="171450" indent="-171450">
              <a:buFont typeface="Arial" pitchFamily="34" charset="0"/>
              <a:buChar char="•"/>
            </a:pPr>
            <a:r>
              <a:rPr lang="en-AU" sz="1200" kern="1200" dirty="0" smtClean="0">
                <a:solidFill>
                  <a:schemeClr val="tx1"/>
                </a:solidFill>
                <a:latin typeface="+mn-lt"/>
                <a:ea typeface="+mn-ea"/>
                <a:cs typeface="+mn-cs"/>
              </a:rPr>
              <a:t>Operating mechanical and pneumatic devices provided on the vehicle (which may include steps, ramps, hoists) – to determine devices work as required (all functions – stop, start, hold, up, down and other as relevant) using all control unit options (such as those in the driving cabin as well as remote or hand-held units.</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extLst>
      <p:ext uri="{BB962C8B-B14F-4D97-AF65-F5344CB8AC3E}">
        <p14:creationId xmlns:p14="http://schemas.microsoft.com/office/powerpoint/2010/main" val="357766421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discusses emergency</a:t>
            </a:r>
            <a:r>
              <a:rPr lang="en-US" baseline="0" noProof="0" dirty="0" smtClean="0"/>
              <a:t> exit checks:</a:t>
            </a:r>
          </a:p>
          <a:p>
            <a:pPr marL="171450" indent="-171450">
              <a:buFont typeface="Arial" pitchFamily="34" charset="0"/>
              <a:buChar char="•"/>
            </a:pPr>
            <a:r>
              <a:rPr lang="en-AU" sz="1200" kern="1200" dirty="0" smtClean="0">
                <a:solidFill>
                  <a:schemeClr val="tx1"/>
                </a:solidFill>
                <a:latin typeface="+mn-lt"/>
                <a:ea typeface="+mn-ea"/>
                <a:cs typeface="+mn-cs"/>
              </a:rPr>
              <a:t>Emergency exits are clearly identified/signed and have clear operating instructions posted</a:t>
            </a:r>
          </a:p>
          <a:p>
            <a:pPr marL="171450" indent="-171450">
              <a:buFont typeface="Arial" pitchFamily="34" charset="0"/>
              <a:buChar char="•"/>
            </a:pPr>
            <a:r>
              <a:rPr lang="en-AU" sz="1200" kern="1200" dirty="0" smtClean="0">
                <a:solidFill>
                  <a:schemeClr val="tx1"/>
                </a:solidFill>
                <a:latin typeface="+mn-lt"/>
                <a:ea typeface="+mn-ea"/>
                <a:cs typeface="+mn-cs"/>
              </a:rPr>
              <a:t>Equipment/items to operate/access the exit are in place – such as tools to break windows</a:t>
            </a:r>
          </a:p>
          <a:p>
            <a:pPr marL="171450" indent="-171450">
              <a:buFont typeface="Arial" pitchFamily="34" charset="0"/>
              <a:buChar char="•"/>
            </a:pPr>
            <a:r>
              <a:rPr lang="en-AU" sz="1200" kern="1200" dirty="0" smtClean="0">
                <a:solidFill>
                  <a:schemeClr val="tx1"/>
                </a:solidFill>
                <a:latin typeface="+mn-lt"/>
                <a:ea typeface="+mn-ea"/>
                <a:cs typeface="+mn-cs"/>
              </a:rPr>
              <a:t>Exits are free from obstructions and physically undamaged.</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extLst>
      <p:ext uri="{BB962C8B-B14F-4D97-AF65-F5344CB8AC3E}">
        <p14:creationId xmlns:p14="http://schemas.microsoft.com/office/powerpoint/2010/main" val="388848294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presents possible adjustments:</a:t>
            </a:r>
          </a:p>
          <a:p>
            <a:pPr marL="171450" indent="-171450">
              <a:buFont typeface="Arial" pitchFamily="34" charset="0"/>
              <a:buChar char="•"/>
            </a:pPr>
            <a:r>
              <a:rPr lang="en-AU" sz="1200" kern="1200" dirty="0" smtClean="0">
                <a:solidFill>
                  <a:schemeClr val="tx1"/>
                </a:solidFill>
                <a:latin typeface="+mn-lt"/>
                <a:ea typeface="+mn-ea"/>
                <a:cs typeface="+mn-cs"/>
              </a:rPr>
              <a:t>Cleaning</a:t>
            </a:r>
          </a:p>
          <a:p>
            <a:pPr marL="171450" indent="-171450">
              <a:buFont typeface="Arial" pitchFamily="34" charset="0"/>
              <a:buChar char="•"/>
            </a:pPr>
            <a:r>
              <a:rPr lang="en-AU" sz="1200" kern="1200" dirty="0" smtClean="0">
                <a:solidFill>
                  <a:schemeClr val="tx1"/>
                </a:solidFill>
                <a:latin typeface="+mn-lt"/>
                <a:ea typeface="+mn-ea"/>
                <a:cs typeface="+mn-cs"/>
              </a:rPr>
              <a:t>Removing obstacles</a:t>
            </a:r>
          </a:p>
          <a:p>
            <a:pPr marL="171450" indent="-171450">
              <a:buFont typeface="Arial" pitchFamily="34" charset="0"/>
              <a:buChar char="•"/>
            </a:pPr>
            <a:r>
              <a:rPr lang="en-AU" sz="1200" kern="1200" dirty="0" smtClean="0">
                <a:solidFill>
                  <a:schemeClr val="tx1"/>
                </a:solidFill>
                <a:latin typeface="+mn-lt"/>
                <a:ea typeface="+mn-ea"/>
                <a:cs typeface="+mn-cs"/>
              </a:rPr>
              <a:t>Greasing and oiling moving parts</a:t>
            </a:r>
          </a:p>
          <a:p>
            <a:pPr marL="171450" indent="-171450">
              <a:buFont typeface="Arial" pitchFamily="34" charset="0"/>
              <a:buChar char="•"/>
            </a:pPr>
            <a:r>
              <a:rPr lang="en-AU" sz="1200" kern="1200" dirty="0" smtClean="0">
                <a:solidFill>
                  <a:schemeClr val="tx1"/>
                </a:solidFill>
                <a:latin typeface="+mn-lt"/>
                <a:ea typeface="+mn-ea"/>
                <a:cs typeface="+mn-cs"/>
              </a:rPr>
              <a:t>Using dry lube for door strikers.</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extLst>
      <p:ext uri="{BB962C8B-B14F-4D97-AF65-F5344CB8AC3E}">
        <p14:creationId xmlns:p14="http://schemas.microsoft.com/office/powerpoint/2010/main" val="73773508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presenting possible adjustments:</a:t>
            </a:r>
          </a:p>
          <a:p>
            <a:pPr marL="171450" indent="-171450">
              <a:buFont typeface="Arial" pitchFamily="34" charset="0"/>
              <a:buChar char="•"/>
            </a:pPr>
            <a:r>
              <a:rPr lang="en-AU" sz="1200" kern="1200" dirty="0" smtClean="0">
                <a:solidFill>
                  <a:schemeClr val="tx1"/>
                </a:solidFill>
                <a:latin typeface="+mn-lt"/>
                <a:ea typeface="+mn-ea"/>
                <a:cs typeface="+mn-cs"/>
              </a:rPr>
              <a:t>Using powdered graphite on door locks</a:t>
            </a:r>
          </a:p>
          <a:p>
            <a:pPr marL="171450" indent="-171450">
              <a:buFont typeface="Arial" pitchFamily="34" charset="0"/>
              <a:buChar char="•"/>
            </a:pPr>
            <a:r>
              <a:rPr lang="en-AU" sz="1200" kern="1200" dirty="0" smtClean="0">
                <a:solidFill>
                  <a:schemeClr val="tx1"/>
                </a:solidFill>
                <a:latin typeface="+mn-lt"/>
                <a:ea typeface="+mn-ea"/>
                <a:cs typeface="+mn-cs"/>
              </a:rPr>
              <a:t>Replacing batteries on remote locking devices/keys</a:t>
            </a:r>
          </a:p>
          <a:p>
            <a:pPr marL="171450" indent="-171450">
              <a:buFont typeface="Arial" pitchFamily="34" charset="0"/>
              <a:buChar char="•"/>
            </a:pPr>
            <a:r>
              <a:rPr lang="en-AU" sz="1200" kern="1200" dirty="0" smtClean="0">
                <a:solidFill>
                  <a:schemeClr val="tx1"/>
                </a:solidFill>
                <a:latin typeface="+mn-lt"/>
                <a:ea typeface="+mn-ea"/>
                <a:cs typeface="+mn-cs"/>
              </a:rPr>
              <a:t>Replacing seals</a:t>
            </a:r>
          </a:p>
          <a:p>
            <a:pPr marL="171450" indent="-171450">
              <a:buFont typeface="Arial" pitchFamily="34" charset="0"/>
              <a:buChar char="•"/>
            </a:pPr>
            <a:r>
              <a:rPr lang="en-AU" sz="1200" kern="1200" dirty="0" smtClean="0">
                <a:solidFill>
                  <a:schemeClr val="tx1"/>
                </a:solidFill>
                <a:latin typeface="+mn-lt"/>
                <a:ea typeface="+mn-ea"/>
                <a:cs typeface="+mn-cs"/>
              </a:rPr>
              <a:t>Changing blown globes.</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extLst>
      <p:ext uri="{BB962C8B-B14F-4D97-AF65-F5344CB8AC3E}">
        <p14:creationId xmlns:p14="http://schemas.microsoft.com/office/powerpoint/2010/main" val="364426210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presenting possible adjustments:</a:t>
            </a:r>
          </a:p>
          <a:p>
            <a:pPr marL="171450" indent="-171450">
              <a:buFont typeface="Arial" pitchFamily="34" charset="0"/>
              <a:buChar char="•"/>
            </a:pPr>
            <a:r>
              <a:rPr lang="en-AU" sz="1200" kern="1200" dirty="0" smtClean="0">
                <a:solidFill>
                  <a:schemeClr val="tx1"/>
                </a:solidFill>
                <a:latin typeface="+mn-lt"/>
                <a:ea typeface="+mn-ea"/>
                <a:cs typeface="+mn-cs"/>
              </a:rPr>
              <a:t>Re-gassing struts</a:t>
            </a:r>
          </a:p>
          <a:p>
            <a:pPr marL="171450" indent="-171450">
              <a:buFont typeface="Arial" pitchFamily="34" charset="0"/>
              <a:buChar char="•"/>
            </a:pPr>
            <a:r>
              <a:rPr lang="en-AU" sz="1200" kern="1200" dirty="0" smtClean="0">
                <a:solidFill>
                  <a:schemeClr val="tx1"/>
                </a:solidFill>
                <a:latin typeface="+mn-lt"/>
                <a:ea typeface="+mn-ea"/>
                <a:cs typeface="+mn-cs"/>
              </a:rPr>
              <a:t>Providing scheduled maintenance to pneumatic and mechanical devices as prescribed by the manufacturer</a:t>
            </a:r>
          </a:p>
          <a:p>
            <a:pPr marL="171450" indent="-171450">
              <a:buFont typeface="Arial" pitchFamily="34" charset="0"/>
              <a:buChar char="•"/>
            </a:pPr>
            <a:r>
              <a:rPr lang="en-AU" sz="1200" kern="1200" dirty="0" smtClean="0">
                <a:solidFill>
                  <a:schemeClr val="tx1"/>
                </a:solidFill>
                <a:latin typeface="+mn-lt"/>
                <a:ea typeface="+mn-ea"/>
                <a:cs typeface="+mn-cs"/>
              </a:rPr>
              <a:t>Tightening or re-affixing connections and fixtures</a:t>
            </a:r>
          </a:p>
          <a:p>
            <a:pPr marL="171450" indent="-171450">
              <a:buFont typeface="Arial" pitchFamily="34" charset="0"/>
              <a:buChar char="•"/>
            </a:pPr>
            <a:r>
              <a:rPr lang="en-AU" sz="1200" kern="1200" dirty="0" smtClean="0">
                <a:solidFill>
                  <a:schemeClr val="tx1"/>
                </a:solidFill>
                <a:latin typeface="+mn-lt"/>
                <a:ea typeface="+mn-ea"/>
                <a:cs typeface="+mn-cs"/>
              </a:rPr>
              <a:t>Replacing faulty or defective items</a:t>
            </a:r>
          </a:p>
          <a:p>
            <a:pPr marL="171450" indent="-171450">
              <a:buFont typeface="Arial" pitchFamily="34" charset="0"/>
              <a:buChar char="•"/>
            </a:pPr>
            <a:r>
              <a:rPr lang="en-AU" sz="1200" kern="1200" dirty="0" smtClean="0">
                <a:solidFill>
                  <a:schemeClr val="tx1"/>
                </a:solidFill>
                <a:latin typeface="+mn-lt"/>
                <a:ea typeface="+mn-ea"/>
                <a:cs typeface="+mn-cs"/>
              </a:rPr>
              <a:t>Obtaining professional service by qualified technician to mechanical and/or pneumatic items.</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extLst>
      <p:ext uri="{BB962C8B-B14F-4D97-AF65-F5344CB8AC3E}">
        <p14:creationId xmlns:p14="http://schemas.microsoft.com/office/powerpoint/2010/main" val="28374544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discusses seat checks:</a:t>
            </a:r>
          </a:p>
          <a:p>
            <a:pPr marL="171450" indent="-171450">
              <a:buFont typeface="Arial" pitchFamily="34" charset="0"/>
              <a:buChar char="•"/>
            </a:pPr>
            <a:r>
              <a:rPr lang="en-AU" sz="1200" kern="1200" dirty="0" smtClean="0">
                <a:solidFill>
                  <a:schemeClr val="tx1"/>
                </a:solidFill>
                <a:latin typeface="+mn-lt"/>
                <a:ea typeface="+mn-ea"/>
                <a:cs typeface="+mn-cs"/>
              </a:rPr>
              <a:t>Seat anchorage points are not cracked or rusted</a:t>
            </a:r>
          </a:p>
          <a:p>
            <a:pPr marL="171450" indent="-171450">
              <a:buFont typeface="Arial" pitchFamily="34" charset="0"/>
              <a:buChar char="•"/>
            </a:pPr>
            <a:r>
              <a:rPr lang="en-AU" sz="1200" kern="1200" dirty="0" smtClean="0">
                <a:solidFill>
                  <a:schemeClr val="tx1"/>
                </a:solidFill>
                <a:latin typeface="+mn-lt"/>
                <a:ea typeface="+mn-ea"/>
                <a:cs typeface="+mn-cs"/>
              </a:rPr>
              <a:t>There are no missing parts/fasteners in the seat frames or anchorage points</a:t>
            </a:r>
          </a:p>
          <a:p>
            <a:pPr marL="171450" indent="-171450">
              <a:buFont typeface="Arial" pitchFamily="34" charset="0"/>
              <a:buChar char="•"/>
            </a:pPr>
            <a:r>
              <a:rPr lang="en-AU" sz="1200" kern="1200" dirty="0" smtClean="0">
                <a:solidFill>
                  <a:schemeClr val="tx1"/>
                </a:solidFill>
                <a:latin typeface="+mn-lt"/>
                <a:ea typeface="+mn-ea"/>
                <a:cs typeface="+mn-cs"/>
              </a:rPr>
              <a:t>There are no exposed/sharp edges or protrusions – which may cut/harm people</a:t>
            </a:r>
          </a:p>
          <a:p>
            <a:pPr marL="171450" indent="-171450">
              <a:buFont typeface="Arial" pitchFamily="34" charset="0"/>
              <a:buChar char="•"/>
            </a:pPr>
            <a:r>
              <a:rPr lang="en-AU" sz="1200" kern="1200" dirty="0" smtClean="0">
                <a:solidFill>
                  <a:schemeClr val="tx1"/>
                </a:solidFill>
                <a:latin typeface="+mn-lt"/>
                <a:ea typeface="+mn-ea"/>
                <a:cs typeface="+mn-cs"/>
              </a:rPr>
              <a:t>Every seat has a seat cushion and backrest – and will provide basic/required level of comfort for passengers</a:t>
            </a:r>
          </a:p>
          <a:p>
            <a:pPr marL="171450" indent="-171450">
              <a:buFont typeface="Arial" pitchFamily="34" charset="0"/>
              <a:buChar char="•"/>
            </a:pPr>
            <a:r>
              <a:rPr lang="en-AU" sz="1200" kern="1200" dirty="0" smtClean="0">
                <a:solidFill>
                  <a:schemeClr val="tx1"/>
                </a:solidFill>
                <a:latin typeface="+mn-lt"/>
                <a:ea typeface="+mn-ea"/>
                <a:cs typeface="+mn-cs"/>
              </a:rPr>
              <a:t>Seat adjustments (for example, seat height and angle, lumbar support, position of backrest, forward and rear movement/slides) are fully functional – and hold the designated position as required</a:t>
            </a:r>
          </a:p>
          <a:p>
            <a:pPr marL="171450" indent="-171450">
              <a:buFont typeface="Arial" pitchFamily="34" charset="0"/>
              <a:buChar char="•"/>
            </a:pPr>
            <a:r>
              <a:rPr lang="en-AU" sz="1200" kern="1200" dirty="0" smtClean="0">
                <a:solidFill>
                  <a:schemeClr val="tx1"/>
                </a:solidFill>
                <a:latin typeface="+mn-lt"/>
                <a:ea typeface="+mn-ea"/>
                <a:cs typeface="+mn-cs"/>
              </a:rPr>
              <a:t>Required space around (in front of and in between) seats is provided – in accordance with the type and size of the vehicle as prescribed by relevant transport authority.</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extLst>
      <p:ext uri="{BB962C8B-B14F-4D97-AF65-F5344CB8AC3E}">
        <p14:creationId xmlns:p14="http://schemas.microsoft.com/office/powerpoint/2010/main" val="394539134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discusses head restraint checks:</a:t>
            </a:r>
          </a:p>
          <a:p>
            <a:pPr marL="171450" indent="-171450">
              <a:buFont typeface="Arial" pitchFamily="34" charset="0"/>
              <a:buChar char="•"/>
            </a:pPr>
            <a:r>
              <a:rPr lang="en-AU" sz="1200" kern="1200" dirty="0" smtClean="0">
                <a:solidFill>
                  <a:schemeClr val="tx1"/>
                </a:solidFill>
                <a:latin typeface="+mn-lt"/>
                <a:ea typeface="+mn-ea"/>
                <a:cs typeface="+mn-cs"/>
              </a:rPr>
              <a:t>All seats are fitted with a head restraint/head rest</a:t>
            </a:r>
          </a:p>
          <a:p>
            <a:pPr marL="171450" indent="-171450">
              <a:buFont typeface="Arial" pitchFamily="34" charset="0"/>
              <a:buChar char="•"/>
            </a:pPr>
            <a:r>
              <a:rPr lang="en-AU" sz="1200" kern="1200" dirty="0" smtClean="0">
                <a:solidFill>
                  <a:schemeClr val="tx1"/>
                </a:solidFill>
                <a:latin typeface="+mn-lt"/>
                <a:ea typeface="+mn-ea"/>
                <a:cs typeface="+mn-cs"/>
              </a:rPr>
              <a:t>Every head rest is securely fitted and in good condition</a:t>
            </a:r>
          </a:p>
          <a:p>
            <a:pPr marL="171450" indent="-171450">
              <a:buFont typeface="Arial" pitchFamily="34" charset="0"/>
              <a:buChar char="•"/>
            </a:pPr>
            <a:r>
              <a:rPr lang="en-AU" sz="1200" kern="1200" dirty="0" smtClean="0">
                <a:solidFill>
                  <a:schemeClr val="tx1"/>
                </a:solidFill>
                <a:latin typeface="+mn-lt"/>
                <a:ea typeface="+mn-ea"/>
                <a:cs typeface="+mn-cs"/>
              </a:rPr>
              <a:t>Head rests can be adjusted as required – and maintain the position they are adjusted to.</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extLst>
      <p:ext uri="{BB962C8B-B14F-4D97-AF65-F5344CB8AC3E}">
        <p14:creationId xmlns:p14="http://schemas.microsoft.com/office/powerpoint/2010/main" val="355357894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discusses aisle checks:</a:t>
            </a:r>
          </a:p>
          <a:p>
            <a:r>
              <a:rPr lang="en-AU" sz="1200" kern="1200" dirty="0" smtClean="0">
                <a:solidFill>
                  <a:schemeClr val="tx1"/>
                </a:solidFill>
                <a:latin typeface="+mn-lt"/>
                <a:ea typeface="+mn-ea"/>
                <a:cs typeface="+mn-cs"/>
              </a:rPr>
              <a:t>It is clear of obstructions</a:t>
            </a:r>
          </a:p>
          <a:p>
            <a:pPr marL="171450" indent="-171450">
              <a:buFont typeface="Arial" pitchFamily="34" charset="0"/>
              <a:buChar char="•"/>
            </a:pPr>
            <a:r>
              <a:rPr lang="en-AU" sz="1200" kern="1200" dirty="0" smtClean="0">
                <a:solidFill>
                  <a:schemeClr val="tx1"/>
                </a:solidFill>
                <a:latin typeface="+mn-lt"/>
                <a:ea typeface="+mn-ea"/>
                <a:cs typeface="+mn-cs"/>
              </a:rPr>
              <a:t>There is no torn/ripped of frayed carpet or floor covering – to present a tripping hazard</a:t>
            </a:r>
          </a:p>
          <a:p>
            <a:pPr marL="171450" indent="-171450">
              <a:buFont typeface="Arial" pitchFamily="34" charset="0"/>
              <a:buChar char="•"/>
            </a:pPr>
            <a:r>
              <a:rPr lang="en-AU" sz="1200" kern="1200" dirty="0" smtClean="0">
                <a:solidFill>
                  <a:schemeClr val="tx1"/>
                </a:solidFill>
                <a:latin typeface="+mn-lt"/>
                <a:ea typeface="+mn-ea"/>
                <a:cs typeface="+mn-cs"/>
              </a:rPr>
              <a:t>Lights illuminate the aisle – where fitted</a:t>
            </a:r>
          </a:p>
          <a:p>
            <a:pPr marL="171450" indent="-171450">
              <a:buFont typeface="Arial" pitchFamily="34" charset="0"/>
              <a:buChar char="•"/>
            </a:pPr>
            <a:r>
              <a:rPr lang="en-AU" sz="1200" kern="1200" dirty="0" smtClean="0">
                <a:solidFill>
                  <a:schemeClr val="tx1"/>
                </a:solidFill>
                <a:latin typeface="+mn-lt"/>
                <a:ea typeface="+mn-ea"/>
                <a:cs typeface="+mn-cs"/>
              </a:rPr>
              <a:t>Compliant height for the aisle – which can vary between bus types (and their use) and can (for example) range from a minimum floor-to-roof height of 1.2 metres (for very small buses) through different measurements up to 1.8 metres for large buses</a:t>
            </a:r>
          </a:p>
          <a:p>
            <a:pPr marL="171450" indent="-171450">
              <a:buFont typeface="Arial" pitchFamily="34" charset="0"/>
              <a:buChar char="•"/>
            </a:pPr>
            <a:r>
              <a:rPr lang="en-AU" sz="1200" kern="1200" dirty="0" smtClean="0">
                <a:solidFill>
                  <a:schemeClr val="tx1"/>
                </a:solidFill>
                <a:latin typeface="+mn-lt"/>
                <a:ea typeface="+mn-ea"/>
                <a:cs typeface="+mn-cs"/>
              </a:rPr>
              <a:t>Minimum width for the vehicle type is complied with – these can range from (for example) 300 mm in a small bus up to 380 mm in a larger bus.</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extLst>
      <p:ext uri="{BB962C8B-B14F-4D97-AF65-F5344CB8AC3E}">
        <p14:creationId xmlns:p14="http://schemas.microsoft.com/office/powerpoint/2010/main" val="404596793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discusses seat belt checks:</a:t>
            </a:r>
          </a:p>
          <a:p>
            <a:pPr marL="171450" indent="-171450">
              <a:buFont typeface="Arial" pitchFamily="34" charset="0"/>
              <a:buChar char="•"/>
            </a:pPr>
            <a:r>
              <a:rPr lang="en-AU" sz="1200" kern="1200" dirty="0" smtClean="0">
                <a:solidFill>
                  <a:schemeClr val="tx1"/>
                </a:solidFill>
                <a:latin typeface="+mn-lt"/>
                <a:ea typeface="+mn-ea"/>
                <a:cs typeface="+mn-cs"/>
              </a:rPr>
              <a:t>Seat belt anchorage points are not cracked, damaged, distorted or rusted</a:t>
            </a:r>
          </a:p>
          <a:p>
            <a:pPr marL="171450" indent="-171450">
              <a:buFont typeface="Arial" pitchFamily="34" charset="0"/>
              <a:buChar char="•"/>
            </a:pPr>
            <a:r>
              <a:rPr lang="en-AU" sz="1200" kern="1200" dirty="0" smtClean="0">
                <a:solidFill>
                  <a:schemeClr val="tx1"/>
                </a:solidFill>
                <a:latin typeface="+mn-lt"/>
                <a:ea typeface="+mn-ea"/>
                <a:cs typeface="+mn-cs"/>
              </a:rPr>
              <a:t>No part of the unit is missing </a:t>
            </a:r>
          </a:p>
          <a:p>
            <a:pPr marL="171450" indent="-171450">
              <a:buFont typeface="Arial" pitchFamily="34" charset="0"/>
              <a:buChar char="•"/>
            </a:pPr>
            <a:r>
              <a:rPr lang="en-AU" sz="1200" kern="1200" dirty="0" smtClean="0">
                <a:solidFill>
                  <a:schemeClr val="tx1"/>
                </a:solidFill>
                <a:latin typeface="+mn-lt"/>
                <a:ea typeface="+mn-ea"/>
                <a:cs typeface="+mn-cs"/>
              </a:rPr>
              <a:t>The retractor mechanism, locking mechanism, buckle, tongue or adjustment device is working correctly and effectively</a:t>
            </a:r>
          </a:p>
          <a:p>
            <a:pPr marL="171450" indent="-171450">
              <a:buFont typeface="Arial" pitchFamily="34" charset="0"/>
              <a:buChar char="•"/>
            </a:pPr>
            <a:r>
              <a:rPr lang="en-AU" sz="1200" kern="1200" dirty="0" smtClean="0">
                <a:solidFill>
                  <a:schemeClr val="tx1"/>
                </a:solidFill>
                <a:latin typeface="+mn-lt"/>
                <a:ea typeface="+mn-ea"/>
                <a:cs typeface="+mn-cs"/>
              </a:rPr>
              <a:t>Seatbelt webbing is not: </a:t>
            </a:r>
          </a:p>
          <a:p>
            <a:pPr marL="628650" lvl="1" indent="-171450">
              <a:buFont typeface="Arial" pitchFamily="34" charset="0"/>
              <a:buChar char="•"/>
            </a:pPr>
            <a:r>
              <a:rPr lang="en-AU" sz="1200" kern="1200" dirty="0" smtClean="0">
                <a:solidFill>
                  <a:schemeClr val="tx1"/>
                </a:solidFill>
                <a:latin typeface="+mn-lt"/>
                <a:ea typeface="+mn-ea"/>
                <a:cs typeface="+mn-cs"/>
              </a:rPr>
              <a:t>Damaged</a:t>
            </a:r>
          </a:p>
          <a:p>
            <a:pPr marL="628650" lvl="1" indent="-171450">
              <a:buFont typeface="Arial" pitchFamily="34" charset="0"/>
              <a:buChar char="•"/>
            </a:pPr>
            <a:r>
              <a:rPr lang="en-AU" sz="1200" kern="1200" dirty="0" smtClean="0">
                <a:solidFill>
                  <a:schemeClr val="tx1"/>
                </a:solidFill>
                <a:latin typeface="+mn-lt"/>
                <a:ea typeface="+mn-ea"/>
                <a:cs typeface="+mn-cs"/>
              </a:rPr>
              <a:t>Frayed</a:t>
            </a:r>
          </a:p>
          <a:p>
            <a:pPr marL="628650" lvl="1" indent="-171450">
              <a:buFont typeface="Arial" pitchFamily="34" charset="0"/>
              <a:buChar char="•"/>
            </a:pPr>
            <a:r>
              <a:rPr lang="en-AU" sz="1200" kern="1200" dirty="0" smtClean="0">
                <a:solidFill>
                  <a:schemeClr val="tx1"/>
                </a:solidFill>
                <a:latin typeface="+mn-lt"/>
                <a:ea typeface="+mn-ea"/>
                <a:cs typeface="+mn-cs"/>
              </a:rPr>
              <a:t>Stretched</a:t>
            </a:r>
          </a:p>
          <a:p>
            <a:pPr marL="628650" lvl="1" indent="-171450">
              <a:buFont typeface="Arial" pitchFamily="34" charset="0"/>
              <a:buChar char="•"/>
            </a:pPr>
            <a:r>
              <a:rPr lang="en-AU" sz="1200" kern="1200" dirty="0" smtClean="0">
                <a:solidFill>
                  <a:schemeClr val="tx1"/>
                </a:solidFill>
                <a:latin typeface="+mn-lt"/>
                <a:ea typeface="+mn-ea"/>
                <a:cs typeface="+mn-cs"/>
              </a:rPr>
              <a:t>Tied in a knot </a:t>
            </a:r>
          </a:p>
          <a:p>
            <a:pPr marL="628650" lvl="1" indent="-171450">
              <a:buFont typeface="Arial" pitchFamily="34" charset="0"/>
              <a:buChar char="•"/>
            </a:pPr>
            <a:r>
              <a:rPr lang="en-AU" sz="1200" kern="1200" dirty="0" smtClean="0">
                <a:solidFill>
                  <a:schemeClr val="tx1"/>
                </a:solidFill>
                <a:latin typeface="+mn-lt"/>
                <a:ea typeface="+mn-ea"/>
                <a:cs typeface="+mn-cs"/>
              </a:rPr>
              <a:t>Twisted</a:t>
            </a:r>
          </a:p>
          <a:p>
            <a:pPr marL="628650" lvl="1" indent="-171450">
              <a:buFont typeface="Arial" pitchFamily="34" charset="0"/>
              <a:buChar char="•"/>
            </a:pPr>
            <a:r>
              <a:rPr lang="en-AU" sz="1200" kern="1200" dirty="0" smtClean="0">
                <a:solidFill>
                  <a:schemeClr val="tx1"/>
                </a:solidFill>
                <a:latin typeface="+mn-lt"/>
                <a:ea typeface="+mn-ea"/>
                <a:cs typeface="+mn-cs"/>
              </a:rPr>
              <a:t>Split </a:t>
            </a:r>
          </a:p>
          <a:p>
            <a:pPr marL="628650" lvl="1" indent="-171450">
              <a:buFont typeface="Arial" pitchFamily="34" charset="0"/>
              <a:buChar char="•"/>
            </a:pPr>
            <a:r>
              <a:rPr lang="en-AU" sz="1200" kern="1200" dirty="0" smtClean="0">
                <a:solidFill>
                  <a:schemeClr val="tx1"/>
                </a:solidFill>
                <a:latin typeface="+mn-lt"/>
                <a:ea typeface="+mn-ea"/>
                <a:cs typeface="+mn-cs"/>
              </a:rPr>
              <a:t>Torn </a:t>
            </a:r>
          </a:p>
          <a:p>
            <a:pPr marL="628650" lvl="1" indent="-171450">
              <a:buFont typeface="Arial" pitchFamily="34" charset="0"/>
              <a:buChar char="•"/>
            </a:pPr>
            <a:r>
              <a:rPr lang="en-AU" sz="1200" kern="1200" dirty="0" smtClean="0">
                <a:solidFill>
                  <a:schemeClr val="tx1"/>
                </a:solidFill>
                <a:latin typeface="+mn-lt"/>
                <a:ea typeface="+mn-ea"/>
                <a:cs typeface="+mn-cs"/>
              </a:rPr>
              <a:t>Cut</a:t>
            </a:r>
          </a:p>
          <a:p>
            <a:pPr marL="628650" lvl="1" indent="-171450">
              <a:buFont typeface="Arial" pitchFamily="34" charset="0"/>
              <a:buChar char="•"/>
            </a:pPr>
            <a:r>
              <a:rPr lang="en-AU" sz="1200" kern="1200" dirty="0" smtClean="0">
                <a:solidFill>
                  <a:schemeClr val="tx1"/>
                </a:solidFill>
                <a:latin typeface="+mn-lt"/>
                <a:ea typeface="+mn-ea"/>
                <a:cs typeface="+mn-cs"/>
              </a:rPr>
              <a:t>Altered or modified</a:t>
            </a:r>
          </a:p>
          <a:p>
            <a:pPr marL="628650" lvl="1" indent="-171450">
              <a:buFont typeface="Arial" pitchFamily="34" charset="0"/>
              <a:buChar char="•"/>
            </a:pPr>
            <a:r>
              <a:rPr lang="en-AU" sz="1200" kern="1200" dirty="0" smtClean="0">
                <a:solidFill>
                  <a:schemeClr val="tx1"/>
                </a:solidFill>
                <a:latin typeface="+mn-lt"/>
                <a:ea typeface="+mn-ea"/>
                <a:cs typeface="+mn-cs"/>
              </a:rPr>
              <a:t>Severely deteriorated </a:t>
            </a:r>
          </a:p>
          <a:p>
            <a:pPr marL="628650" lvl="1" indent="-171450">
              <a:buFont typeface="Arial" pitchFamily="34" charset="0"/>
              <a:buChar char="•"/>
            </a:pPr>
            <a:r>
              <a:rPr lang="en-AU" sz="1200" kern="1200" dirty="0" smtClean="0">
                <a:solidFill>
                  <a:schemeClr val="tx1"/>
                </a:solidFill>
                <a:latin typeface="+mn-lt"/>
                <a:ea typeface="+mn-ea"/>
                <a:cs typeface="+mn-cs"/>
              </a:rPr>
              <a:t>Burnt</a:t>
            </a:r>
          </a:p>
          <a:p>
            <a:pPr marL="628650" lvl="1" indent="-171450">
              <a:buFont typeface="Arial" pitchFamily="34" charset="0"/>
              <a:buChar char="•"/>
            </a:pPr>
            <a:r>
              <a:rPr lang="en-AU" sz="1200" kern="1200" dirty="0" smtClean="0">
                <a:solidFill>
                  <a:schemeClr val="tx1"/>
                </a:solidFill>
                <a:latin typeface="+mn-lt"/>
                <a:ea typeface="+mn-ea"/>
                <a:cs typeface="+mn-cs"/>
              </a:rPr>
              <a:t>Not correctly and firmly secured to each end fitting</a:t>
            </a:r>
          </a:p>
          <a:p>
            <a:pPr marL="628650" lvl="1" indent="-171450">
              <a:buFont typeface="Arial" pitchFamily="34" charset="0"/>
              <a:buChar char="•"/>
            </a:pPr>
            <a:r>
              <a:rPr lang="en-AU" sz="1200" kern="1200" dirty="0" smtClean="0">
                <a:solidFill>
                  <a:schemeClr val="tx1"/>
                </a:solidFill>
                <a:latin typeface="+mn-lt"/>
                <a:ea typeface="+mn-ea"/>
                <a:cs typeface="+mn-cs"/>
              </a:rPr>
              <a:t>Has webbing/stitching which is detached at any point.</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extLst>
      <p:ext uri="{BB962C8B-B14F-4D97-AF65-F5344CB8AC3E}">
        <p14:creationId xmlns:p14="http://schemas.microsoft.com/office/powerpoint/2010/main" val="19801021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discusses air bag checks:</a:t>
            </a:r>
          </a:p>
          <a:p>
            <a:pPr marL="171450" indent="-171450">
              <a:buFont typeface="Arial" pitchFamily="34" charset="0"/>
              <a:buChar char="•"/>
            </a:pPr>
            <a:r>
              <a:rPr lang="en-AU" sz="1200" kern="1200" dirty="0" smtClean="0">
                <a:solidFill>
                  <a:schemeClr val="tx1"/>
                </a:solidFill>
                <a:latin typeface="+mn-lt"/>
                <a:ea typeface="+mn-ea"/>
                <a:cs typeface="+mn-cs"/>
              </a:rPr>
              <a:t>If the warning light for airbags is illuminated and stays lit (or flashes) when the engine is started – after the system has performed it own self-test</a:t>
            </a:r>
          </a:p>
          <a:p>
            <a:pPr marL="171450" indent="-171450">
              <a:buFont typeface="Arial" pitchFamily="34" charset="0"/>
              <a:buChar char="•"/>
            </a:pPr>
            <a:r>
              <a:rPr lang="en-AU" sz="1200" kern="1200" dirty="0" smtClean="0">
                <a:solidFill>
                  <a:schemeClr val="tx1"/>
                </a:solidFill>
                <a:latin typeface="+mn-lt"/>
                <a:ea typeface="+mn-ea"/>
                <a:cs typeface="+mn-cs"/>
              </a:rPr>
              <a:t>If the airbag has been deployed or tampered with</a:t>
            </a:r>
          </a:p>
          <a:p>
            <a:pPr marL="171450" indent="-171450">
              <a:buFont typeface="Arial" pitchFamily="34" charset="0"/>
              <a:buChar char="•"/>
            </a:pPr>
            <a:r>
              <a:rPr lang="en-AU" sz="1200" kern="1200" dirty="0" smtClean="0">
                <a:solidFill>
                  <a:schemeClr val="tx1"/>
                </a:solidFill>
                <a:latin typeface="+mn-lt"/>
                <a:ea typeface="+mn-ea"/>
                <a:cs typeface="+mn-cs"/>
              </a:rPr>
              <a:t>That bull bars fitted to the vehicle have been done such that the effectiveness and operation of the airbags has not been compromised</a:t>
            </a:r>
          </a:p>
          <a:p>
            <a:pPr marL="171450" indent="-171450">
              <a:buFont typeface="Arial" pitchFamily="34" charset="0"/>
              <a:buChar char="•"/>
            </a:pPr>
            <a:r>
              <a:rPr lang="en-AU" sz="1200" kern="1200" dirty="0" smtClean="0">
                <a:solidFill>
                  <a:schemeClr val="tx1"/>
                </a:solidFill>
                <a:latin typeface="+mn-lt"/>
                <a:ea typeface="+mn-ea"/>
                <a:cs typeface="+mn-cs"/>
              </a:rPr>
              <a:t>Relevant seats are correctly positioned – according to manufacturer’s instructions – there are optimum/recommended positions for driver and passenger seats. </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extLst>
      <p:ext uri="{BB962C8B-B14F-4D97-AF65-F5344CB8AC3E}">
        <p14:creationId xmlns:p14="http://schemas.microsoft.com/office/powerpoint/2010/main" val="176737874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discussing air bag checks:</a:t>
            </a:r>
          </a:p>
          <a:p>
            <a:pPr marL="171450" indent="-171450">
              <a:buFont typeface="Arial" pitchFamily="34" charset="0"/>
              <a:buChar char="•"/>
            </a:pPr>
            <a:r>
              <a:rPr lang="en-AU" sz="1200" kern="1200" dirty="0" smtClean="0">
                <a:solidFill>
                  <a:schemeClr val="tx1"/>
                </a:solidFill>
                <a:latin typeface="+mn-lt"/>
                <a:ea typeface="+mn-ea"/>
                <a:cs typeface="+mn-cs"/>
              </a:rPr>
              <a:t>Vehicles carry necessary advisory signs regarding availability and location of vehicle airbags</a:t>
            </a:r>
          </a:p>
          <a:p>
            <a:pPr marL="171450" indent="-171450">
              <a:buFont typeface="Arial" pitchFamily="34" charset="0"/>
              <a:buChar char="•"/>
            </a:pPr>
            <a:r>
              <a:rPr lang="en-AU" sz="1200" kern="1200" dirty="0" smtClean="0">
                <a:solidFill>
                  <a:schemeClr val="tx1"/>
                </a:solidFill>
                <a:latin typeface="+mn-lt"/>
                <a:ea typeface="+mn-ea"/>
                <a:cs typeface="+mn-cs"/>
              </a:rPr>
              <a:t>Nothing has been attached to the airbag cover – which could become dangerous projectiles in the event of airbag deployment</a:t>
            </a:r>
          </a:p>
          <a:p>
            <a:pPr marL="171450" indent="-171450">
              <a:buFont typeface="Arial" pitchFamily="34" charset="0"/>
              <a:buChar char="•"/>
            </a:pPr>
            <a:r>
              <a:rPr lang="en-AU" sz="1200" kern="1200" dirty="0" smtClean="0">
                <a:solidFill>
                  <a:schemeClr val="tx1"/>
                </a:solidFill>
                <a:latin typeface="+mn-lt"/>
                <a:ea typeface="+mn-ea"/>
                <a:cs typeface="+mn-cs"/>
              </a:rPr>
              <a:t>No-one has disconnected the airbags which were supplied with the vehicle.</a:t>
            </a:r>
          </a:p>
          <a:p>
            <a:endParaRPr lang="en-AU" sz="1200" b="1" i="1" kern="1200" dirty="0" smtClean="0">
              <a:solidFill>
                <a:schemeClr val="tx1"/>
              </a:solidFill>
              <a:latin typeface="+mn-lt"/>
              <a:ea typeface="+mn-ea"/>
              <a:cs typeface="+mn-cs"/>
            </a:endParaRPr>
          </a:p>
          <a:p>
            <a:r>
              <a:rPr lang="en-AU" sz="1200" b="1" i="1" kern="1200" dirty="0" smtClean="0">
                <a:solidFill>
                  <a:schemeClr val="tx1"/>
                </a:solidFill>
                <a:latin typeface="+mn-lt"/>
                <a:ea typeface="+mn-ea"/>
                <a:cs typeface="+mn-cs"/>
              </a:rPr>
              <a:t>Important note: </a:t>
            </a:r>
            <a:r>
              <a:rPr lang="en-AU" sz="1200" kern="1200" dirty="0" smtClean="0">
                <a:solidFill>
                  <a:schemeClr val="tx1"/>
                </a:solidFill>
                <a:latin typeface="+mn-lt"/>
                <a:ea typeface="+mn-ea"/>
                <a:cs typeface="+mn-cs"/>
              </a:rPr>
              <a:t>Death and serious injury has resulted from the accidental deployment of airbags during service/maintenance by unqualified persons.</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extLst>
      <p:ext uri="{BB962C8B-B14F-4D97-AF65-F5344CB8AC3E}">
        <p14:creationId xmlns:p14="http://schemas.microsoft.com/office/powerpoint/2010/main" val="14788106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discusses heating and ventilation checks:</a:t>
            </a:r>
          </a:p>
          <a:p>
            <a:pPr marL="171450" indent="-171450">
              <a:buFont typeface="Arial" pitchFamily="34" charset="0"/>
              <a:buChar char="•"/>
            </a:pPr>
            <a:r>
              <a:rPr lang="en-AU" sz="1200" kern="1200" dirty="0" smtClean="0">
                <a:solidFill>
                  <a:schemeClr val="tx1"/>
                </a:solidFill>
                <a:latin typeface="+mn-lt"/>
                <a:ea typeface="+mn-ea"/>
                <a:cs typeface="+mn-cs"/>
              </a:rPr>
              <a:t>Operational effectiveness of the heating and cooling system: </a:t>
            </a:r>
          </a:p>
          <a:p>
            <a:pPr marL="628650" lvl="1" indent="-171450">
              <a:buFont typeface="Arial" pitchFamily="34" charset="0"/>
              <a:buChar char="•"/>
            </a:pPr>
            <a:r>
              <a:rPr lang="en-AU" sz="1200" kern="1200" dirty="0" smtClean="0">
                <a:solidFill>
                  <a:schemeClr val="tx1"/>
                </a:solidFill>
                <a:latin typeface="+mn-lt"/>
                <a:ea typeface="+mn-ea"/>
                <a:cs typeface="+mn-cs"/>
              </a:rPr>
              <a:t>At all settings</a:t>
            </a:r>
          </a:p>
          <a:p>
            <a:pPr marL="628650" lvl="1" indent="-171450">
              <a:buFont typeface="Arial" pitchFamily="34" charset="0"/>
              <a:buChar char="•"/>
            </a:pPr>
            <a:r>
              <a:rPr lang="en-AU" sz="1200" kern="1200" dirty="0" smtClean="0">
                <a:solidFill>
                  <a:schemeClr val="tx1"/>
                </a:solidFill>
                <a:latin typeface="+mn-lt"/>
                <a:ea typeface="+mn-ea"/>
                <a:cs typeface="+mn-cs"/>
              </a:rPr>
              <a:t>In all sections of the vehicle</a:t>
            </a:r>
          </a:p>
          <a:p>
            <a:pPr marL="628650" lvl="1" indent="-171450">
              <a:buFont typeface="Arial" pitchFamily="34" charset="0"/>
              <a:buChar char="•"/>
            </a:pPr>
            <a:r>
              <a:rPr lang="en-AU" sz="1200" kern="1200" dirty="0" smtClean="0">
                <a:solidFill>
                  <a:schemeClr val="tx1"/>
                </a:solidFill>
                <a:latin typeface="+mn-lt"/>
                <a:ea typeface="+mn-ea"/>
                <a:cs typeface="+mn-cs"/>
              </a:rPr>
              <a:t>From all operator panels</a:t>
            </a:r>
          </a:p>
          <a:p>
            <a:pPr marL="171450" indent="-171450">
              <a:buFont typeface="Arial" pitchFamily="34" charset="0"/>
              <a:buChar char="•"/>
            </a:pPr>
            <a:r>
              <a:rPr lang="en-AU" sz="1200" kern="1200" dirty="0" smtClean="0">
                <a:solidFill>
                  <a:schemeClr val="tx1"/>
                </a:solidFill>
                <a:latin typeface="+mn-lt"/>
                <a:ea typeface="+mn-ea"/>
                <a:cs typeface="+mn-cs"/>
              </a:rPr>
              <a:t>No leaks or drips from the system</a:t>
            </a:r>
          </a:p>
          <a:p>
            <a:pPr marL="171450" indent="-171450">
              <a:buFont typeface="Arial" pitchFamily="34" charset="0"/>
              <a:buChar char="•"/>
            </a:pPr>
            <a:r>
              <a:rPr lang="en-AU" sz="1200" kern="1200" dirty="0" smtClean="0">
                <a:solidFill>
                  <a:schemeClr val="tx1"/>
                </a:solidFill>
                <a:latin typeface="+mn-lt"/>
                <a:ea typeface="+mn-ea"/>
                <a:cs typeface="+mn-cs"/>
              </a:rPr>
              <a:t>No collapsed, perished, disconnected or kinked leads or hoses</a:t>
            </a:r>
          </a:p>
          <a:p>
            <a:pPr marL="171450" indent="-171450">
              <a:buFont typeface="Arial" pitchFamily="34" charset="0"/>
              <a:buChar char="•"/>
            </a:pPr>
            <a:r>
              <a:rPr lang="en-AU" sz="1200" kern="1200" dirty="0" smtClean="0">
                <a:solidFill>
                  <a:schemeClr val="tx1"/>
                </a:solidFill>
                <a:latin typeface="+mn-lt"/>
                <a:ea typeface="+mn-ea"/>
                <a:cs typeface="+mn-cs"/>
              </a:rPr>
              <a:t>Windows and roof hatches can be easily opened and closed</a:t>
            </a:r>
          </a:p>
          <a:p>
            <a:pPr marL="171450" indent="-171450">
              <a:buFont typeface="Arial" pitchFamily="34" charset="0"/>
              <a:buChar char="•"/>
            </a:pPr>
            <a:r>
              <a:rPr lang="en-AU" sz="1200" kern="1200" dirty="0" smtClean="0">
                <a:solidFill>
                  <a:schemeClr val="tx1"/>
                </a:solidFill>
                <a:latin typeface="+mn-lt"/>
                <a:ea typeface="+mn-ea"/>
                <a:cs typeface="+mn-cs"/>
              </a:rPr>
              <a:t>No harmful gases are introduced as a result of any heating or cooling process.</a:t>
            </a:r>
          </a:p>
          <a:p>
            <a:pPr>
              <a:buFont typeface="Arial" pitchFamily="34" charset="0"/>
              <a:buChar char="•"/>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Char char="•"/>
            </a:pPr>
            <a:endParaRPr lang="en-AU" sz="1200" kern="1200" dirty="0" smtClean="0">
              <a:solidFill>
                <a:schemeClr val="tx1"/>
              </a:solidFill>
              <a:latin typeface="+mn-lt"/>
              <a:ea typeface="+mn-ea"/>
              <a:cs typeface="+mn-cs"/>
            </a:endParaRPr>
          </a:p>
          <a:p>
            <a:pPr>
              <a:buFont typeface="Arial" pitchFamily="34" charset="0"/>
              <a:buChar char="•"/>
            </a:pPr>
            <a:endParaRPr lang="en-US"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extLst>
      <p:ext uri="{BB962C8B-B14F-4D97-AF65-F5344CB8AC3E}">
        <p14:creationId xmlns:p14="http://schemas.microsoft.com/office/powerpoint/2010/main" val="83731360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discussing heating and ventilation checks:</a:t>
            </a:r>
          </a:p>
          <a:p>
            <a:pPr marL="171450" indent="-171450">
              <a:buFont typeface="Arial" pitchFamily="34" charset="0"/>
              <a:buChar char="•"/>
            </a:pPr>
            <a:r>
              <a:rPr lang="en-AU" sz="1200" kern="1200" dirty="0" smtClean="0">
                <a:solidFill>
                  <a:schemeClr val="tx1"/>
                </a:solidFill>
                <a:latin typeface="+mn-lt"/>
                <a:ea typeface="+mn-ea"/>
                <a:cs typeface="+mn-cs"/>
              </a:rPr>
              <a:t>Temperatures generated are suitable – for the requirements of the business/tour operator</a:t>
            </a:r>
          </a:p>
          <a:p>
            <a:pPr marL="171450" indent="-171450">
              <a:buFont typeface="Arial" pitchFamily="34" charset="0"/>
              <a:buChar char="•"/>
            </a:pPr>
            <a:r>
              <a:rPr lang="en-AU" sz="1200" kern="1200" dirty="0" smtClean="0">
                <a:solidFill>
                  <a:schemeClr val="tx1"/>
                </a:solidFill>
                <a:latin typeface="+mn-lt"/>
                <a:ea typeface="+mn-ea"/>
                <a:cs typeface="+mn-cs"/>
              </a:rPr>
              <a:t>The demister operates correctly when turned on – and removes condensation from inside the windscreens as required for the individual design and requirements of the vehicle</a:t>
            </a:r>
          </a:p>
          <a:p>
            <a:pPr marL="171450" indent="-171450">
              <a:buFont typeface="Arial" pitchFamily="34" charset="0"/>
              <a:buChar char="•"/>
            </a:pPr>
            <a:r>
              <a:rPr lang="en-AU" sz="1200" kern="1200" dirty="0" smtClean="0">
                <a:solidFill>
                  <a:schemeClr val="tx1"/>
                </a:solidFill>
                <a:latin typeface="+mn-lt"/>
                <a:ea typeface="+mn-ea"/>
                <a:cs typeface="+mn-cs"/>
              </a:rPr>
              <a:t>No strange noises – when the system is operated</a:t>
            </a:r>
          </a:p>
          <a:p>
            <a:pPr marL="171450" indent="-171450">
              <a:buFont typeface="Arial" pitchFamily="34" charset="0"/>
              <a:buChar char="•"/>
            </a:pPr>
            <a:r>
              <a:rPr lang="en-AU" sz="1200" kern="1200" dirty="0" smtClean="0">
                <a:solidFill>
                  <a:schemeClr val="tx1"/>
                </a:solidFill>
                <a:latin typeface="+mn-lt"/>
                <a:ea typeface="+mn-ea"/>
                <a:cs typeface="+mn-cs"/>
              </a:rPr>
              <a:t>Advisory lights illuminate (where fitted) – when system activated</a:t>
            </a:r>
          </a:p>
          <a:p>
            <a:pPr marL="171450" indent="-171450">
              <a:buFont typeface="Arial" pitchFamily="34" charset="0"/>
              <a:buChar char="•"/>
            </a:pPr>
            <a:r>
              <a:rPr lang="en-AU" sz="1200" kern="1200" dirty="0" smtClean="0">
                <a:solidFill>
                  <a:schemeClr val="tx1"/>
                </a:solidFill>
                <a:latin typeface="+mn-lt"/>
                <a:ea typeface="+mn-ea"/>
                <a:cs typeface="+mn-cs"/>
              </a:rPr>
              <a:t>No air locks in the system.</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extLst>
      <p:ext uri="{BB962C8B-B14F-4D97-AF65-F5344CB8AC3E}">
        <p14:creationId xmlns:p14="http://schemas.microsoft.com/office/powerpoint/2010/main" val="426831221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discusses on-board signs and instructions checks:</a:t>
            </a:r>
          </a:p>
          <a:p>
            <a:pPr marL="171450" indent="-171450">
              <a:buFont typeface="Arial" pitchFamily="34" charset="0"/>
              <a:buChar char="•"/>
            </a:pPr>
            <a:r>
              <a:rPr lang="en-AU" sz="1200" kern="1200" dirty="0" smtClean="0">
                <a:solidFill>
                  <a:schemeClr val="tx1"/>
                </a:solidFill>
                <a:latin typeface="+mn-lt"/>
                <a:ea typeface="+mn-ea"/>
                <a:cs typeface="+mn-cs"/>
              </a:rPr>
              <a:t>All required signs are in place – in the required locations, to indicate for example:</a:t>
            </a:r>
          </a:p>
          <a:p>
            <a:pPr marL="628650" lvl="1" indent="-171450">
              <a:buFont typeface="Arial" pitchFamily="34" charset="0"/>
              <a:buChar char="•"/>
            </a:pPr>
            <a:r>
              <a:rPr lang="en-US" sz="1200" kern="1200" dirty="0" smtClean="0">
                <a:solidFill>
                  <a:schemeClr val="tx1"/>
                </a:solidFill>
                <a:latin typeface="+mn-lt"/>
                <a:ea typeface="+mn-ea"/>
                <a:cs typeface="+mn-cs"/>
              </a:rPr>
              <a:t>On-board toilets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Fire extinguishers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First aid kits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All instructions are in place – in the required locations, to indicate for example, how to use:</a:t>
            </a:r>
          </a:p>
          <a:p>
            <a:pPr marL="628650" lvl="1" indent="-171450">
              <a:buFont typeface="Arial" pitchFamily="34" charset="0"/>
              <a:buChar char="•"/>
            </a:pPr>
            <a:r>
              <a:rPr lang="en-US" sz="1200" kern="1200" dirty="0" smtClean="0">
                <a:solidFill>
                  <a:schemeClr val="tx1"/>
                </a:solidFill>
                <a:latin typeface="+mn-lt"/>
                <a:ea typeface="+mn-ea"/>
                <a:cs typeface="+mn-cs"/>
              </a:rPr>
              <a:t>Fire suppression equipment</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On-board entertainment and leisure items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Vehicle facilities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Information is legible</a:t>
            </a:r>
          </a:p>
          <a:p>
            <a:pPr marL="171450" indent="-171450">
              <a:buFont typeface="Arial" pitchFamily="34" charset="0"/>
              <a:buChar char="•"/>
            </a:pPr>
            <a:r>
              <a:rPr lang="en-AU" sz="1200" kern="1200" dirty="0" smtClean="0">
                <a:solidFill>
                  <a:schemeClr val="tx1"/>
                </a:solidFill>
                <a:latin typeface="+mn-lt"/>
                <a:ea typeface="+mn-ea"/>
                <a:cs typeface="+mn-cs"/>
              </a:rPr>
              <a:t>Metal signage do present skin penetration hazards</a:t>
            </a:r>
          </a:p>
          <a:p>
            <a:pPr marL="171450" indent="-171450">
              <a:buFont typeface="Arial" pitchFamily="34" charset="0"/>
              <a:buChar char="•"/>
            </a:pPr>
            <a:r>
              <a:rPr lang="en-AU" sz="1200" kern="1200" dirty="0" smtClean="0">
                <a:solidFill>
                  <a:schemeClr val="tx1"/>
                </a:solidFill>
                <a:latin typeface="+mn-lt"/>
                <a:ea typeface="+mn-ea"/>
                <a:cs typeface="+mn-cs"/>
              </a:rPr>
              <a:t>Signs are firmly affixed.</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extLst>
      <p:ext uri="{BB962C8B-B14F-4D97-AF65-F5344CB8AC3E}">
        <p14:creationId xmlns:p14="http://schemas.microsoft.com/office/powerpoint/2010/main" val="143876706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discusses audible warning checks:</a:t>
            </a:r>
          </a:p>
          <a:p>
            <a:pPr marL="171450" indent="-171450">
              <a:buFont typeface="Arial" pitchFamily="34" charset="0"/>
              <a:buChar char="•"/>
            </a:pPr>
            <a:r>
              <a:rPr lang="en-AU" sz="1200" kern="1200" dirty="0" smtClean="0">
                <a:solidFill>
                  <a:schemeClr val="tx1"/>
                </a:solidFill>
                <a:latin typeface="+mn-lt"/>
                <a:ea typeface="+mn-ea"/>
                <a:cs typeface="+mn-cs"/>
              </a:rPr>
              <a:t>Is fitted and operational when used</a:t>
            </a:r>
          </a:p>
          <a:p>
            <a:pPr marL="171450" indent="-171450">
              <a:buFont typeface="Arial" pitchFamily="34" charset="0"/>
              <a:buChar char="•"/>
            </a:pPr>
            <a:r>
              <a:rPr lang="en-AU" sz="1200" kern="1200" dirty="0" smtClean="0">
                <a:solidFill>
                  <a:schemeClr val="tx1"/>
                </a:solidFill>
                <a:latin typeface="+mn-lt"/>
                <a:ea typeface="+mn-ea"/>
                <a:cs typeface="+mn-cs"/>
              </a:rPr>
              <a:t>Is sufficiently loud enough</a:t>
            </a:r>
          </a:p>
          <a:p>
            <a:pPr marL="171450" indent="-171450">
              <a:buFont typeface="Arial" pitchFamily="34" charset="0"/>
              <a:buChar char="•"/>
            </a:pPr>
            <a:r>
              <a:rPr lang="en-AU" sz="1200" kern="1200" dirty="0" smtClean="0">
                <a:solidFill>
                  <a:schemeClr val="tx1"/>
                </a:solidFill>
                <a:latin typeface="+mn-lt"/>
                <a:ea typeface="+mn-ea"/>
                <a:cs typeface="+mn-cs"/>
              </a:rPr>
              <a:t>Can be activated easily from the driver’s seat</a:t>
            </a:r>
          </a:p>
          <a:p>
            <a:pPr marL="171450" indent="-171450">
              <a:buFont typeface="Arial" pitchFamily="34" charset="0"/>
              <a:buChar char="•"/>
            </a:pPr>
            <a:r>
              <a:rPr lang="en-AU" sz="1200" kern="1200" dirty="0" smtClean="0">
                <a:solidFill>
                  <a:schemeClr val="tx1"/>
                </a:solidFill>
                <a:latin typeface="+mn-lt"/>
                <a:ea typeface="+mn-ea"/>
                <a:cs typeface="+mn-cs"/>
              </a:rPr>
              <a:t>Produces a continual, single-pitch tone.</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extLst>
      <p:ext uri="{BB962C8B-B14F-4D97-AF65-F5344CB8AC3E}">
        <p14:creationId xmlns:p14="http://schemas.microsoft.com/office/powerpoint/2010/main" val="1472154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presents adjustments:</a:t>
            </a:r>
          </a:p>
          <a:p>
            <a:pPr marL="171450" indent="-171450">
              <a:buFont typeface="Arial" pitchFamily="34" charset="0"/>
              <a:buChar char="•"/>
            </a:pPr>
            <a:r>
              <a:rPr lang="en-AU" sz="1200" kern="1200" dirty="0" smtClean="0">
                <a:solidFill>
                  <a:schemeClr val="tx1"/>
                </a:solidFill>
                <a:latin typeface="+mn-lt"/>
                <a:ea typeface="+mn-ea"/>
                <a:cs typeface="+mn-cs"/>
              </a:rPr>
              <a:t>Cleaning including removing leaves, dirt and debris from component parts </a:t>
            </a:r>
          </a:p>
          <a:p>
            <a:pPr marL="171450" indent="-171450">
              <a:buFont typeface="Arial" pitchFamily="34" charset="0"/>
              <a:buChar char="•"/>
            </a:pPr>
            <a:r>
              <a:rPr lang="en-AU" sz="1200" kern="1200" dirty="0" smtClean="0">
                <a:solidFill>
                  <a:schemeClr val="tx1"/>
                </a:solidFill>
                <a:latin typeface="+mn-lt"/>
                <a:ea typeface="+mn-ea"/>
                <a:cs typeface="+mn-cs"/>
              </a:rPr>
              <a:t>Repairing and/or replacing torn/damaged seating, carpet, floor coverings and other internal fabrics/coverings</a:t>
            </a:r>
          </a:p>
          <a:p>
            <a:pPr marL="171450" indent="-171450">
              <a:buFont typeface="Arial" pitchFamily="34" charset="0"/>
              <a:buChar char="•"/>
            </a:pPr>
            <a:r>
              <a:rPr lang="en-AU" sz="1200" kern="1200" dirty="0" smtClean="0">
                <a:solidFill>
                  <a:schemeClr val="tx1"/>
                </a:solidFill>
                <a:latin typeface="+mn-lt"/>
                <a:ea typeface="+mn-ea"/>
                <a:cs typeface="+mn-cs"/>
              </a:rPr>
              <a:t>Tightening loose fittings</a:t>
            </a:r>
          </a:p>
          <a:p>
            <a:pPr marL="171450" indent="-171450">
              <a:buFont typeface="Arial" pitchFamily="34" charset="0"/>
              <a:buChar char="•"/>
            </a:pPr>
            <a:r>
              <a:rPr lang="en-AU" sz="1200" kern="1200" dirty="0" smtClean="0">
                <a:solidFill>
                  <a:schemeClr val="tx1"/>
                </a:solidFill>
                <a:latin typeface="+mn-lt"/>
                <a:ea typeface="+mn-ea"/>
                <a:cs typeface="+mn-cs"/>
              </a:rPr>
              <a:t>Replacing deployed or malfunctioning airbags.</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extLst>
      <p:ext uri="{BB962C8B-B14F-4D97-AF65-F5344CB8AC3E}">
        <p14:creationId xmlns:p14="http://schemas.microsoft.com/office/powerpoint/2010/main" val="414237660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presenting adjustments:</a:t>
            </a:r>
          </a:p>
          <a:p>
            <a:pPr marL="171450" indent="-171450">
              <a:buFont typeface="Arial" pitchFamily="34" charset="0"/>
              <a:buChar char="•"/>
            </a:pPr>
            <a:r>
              <a:rPr lang="en-AU" sz="1200" kern="1200" dirty="0" smtClean="0">
                <a:solidFill>
                  <a:schemeClr val="tx1"/>
                </a:solidFill>
                <a:latin typeface="+mn-lt"/>
                <a:ea typeface="+mn-ea"/>
                <a:cs typeface="+mn-cs"/>
              </a:rPr>
              <a:t>Replacing worn, faulty or perished hoses and connections</a:t>
            </a:r>
          </a:p>
          <a:p>
            <a:pPr marL="171450" indent="-171450">
              <a:buFont typeface="Arial" pitchFamily="34" charset="0"/>
              <a:buChar char="•"/>
            </a:pPr>
            <a:r>
              <a:rPr lang="en-AU" sz="1200" kern="1200" dirty="0" smtClean="0">
                <a:solidFill>
                  <a:schemeClr val="tx1"/>
                </a:solidFill>
                <a:latin typeface="+mn-lt"/>
                <a:ea typeface="+mn-ea"/>
                <a:cs typeface="+mn-cs"/>
              </a:rPr>
              <a:t>Removing items placed over airbag covers</a:t>
            </a:r>
          </a:p>
          <a:p>
            <a:pPr marL="171450" indent="-171450">
              <a:buFont typeface="Arial" pitchFamily="34" charset="0"/>
              <a:buChar char="•"/>
            </a:pPr>
            <a:r>
              <a:rPr lang="en-AU" sz="1200" kern="1200" dirty="0" smtClean="0">
                <a:solidFill>
                  <a:schemeClr val="tx1"/>
                </a:solidFill>
                <a:latin typeface="+mn-lt"/>
                <a:ea typeface="+mn-ea"/>
                <a:cs typeface="+mn-cs"/>
              </a:rPr>
              <a:t>Replacing seatbelts which have been used when the vehicle was involved in an accident</a:t>
            </a:r>
          </a:p>
          <a:p>
            <a:pPr marL="171450" indent="-171450">
              <a:buFont typeface="Arial" pitchFamily="34" charset="0"/>
              <a:buChar char="•"/>
            </a:pPr>
            <a:r>
              <a:rPr lang="en-AU" sz="1200" kern="1200" dirty="0" smtClean="0">
                <a:solidFill>
                  <a:schemeClr val="tx1"/>
                </a:solidFill>
                <a:latin typeface="+mn-lt"/>
                <a:ea typeface="+mn-ea"/>
                <a:cs typeface="+mn-cs"/>
              </a:rPr>
              <a:t>Draining hoses and units.</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extLst>
      <p:ext uri="{BB962C8B-B14F-4D97-AF65-F5344CB8AC3E}">
        <p14:creationId xmlns:p14="http://schemas.microsoft.com/office/powerpoint/2010/main" val="197117195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presenting adjustments:</a:t>
            </a:r>
          </a:p>
          <a:p>
            <a:pPr marL="171450" indent="-171450">
              <a:buFont typeface="Arial" pitchFamily="34" charset="0"/>
              <a:buChar char="•"/>
            </a:pPr>
            <a:r>
              <a:rPr lang="en-AU" sz="1200" kern="1200" dirty="0" smtClean="0">
                <a:solidFill>
                  <a:schemeClr val="tx1"/>
                </a:solidFill>
                <a:latin typeface="+mn-lt"/>
                <a:ea typeface="+mn-ea"/>
                <a:cs typeface="+mn-cs"/>
              </a:rPr>
              <a:t>Re-charging air conditioning units with gas – or making arrangements for same</a:t>
            </a:r>
          </a:p>
          <a:p>
            <a:pPr marL="171450" indent="-171450">
              <a:buFont typeface="Arial" pitchFamily="34" charset="0"/>
              <a:buChar char="•"/>
            </a:pPr>
            <a:r>
              <a:rPr lang="en-AU" sz="1200" kern="1200" dirty="0" smtClean="0">
                <a:solidFill>
                  <a:schemeClr val="tx1"/>
                </a:solidFill>
                <a:latin typeface="+mn-lt"/>
                <a:ea typeface="+mn-ea"/>
                <a:cs typeface="+mn-cs"/>
              </a:rPr>
              <a:t>Re-priming heating systems</a:t>
            </a:r>
          </a:p>
          <a:p>
            <a:pPr marL="171450" indent="-171450">
              <a:buFont typeface="Arial" pitchFamily="34" charset="0"/>
              <a:buChar char="•"/>
            </a:pPr>
            <a:r>
              <a:rPr lang="en-AU" sz="1200" kern="1200" dirty="0" smtClean="0">
                <a:solidFill>
                  <a:schemeClr val="tx1"/>
                </a:solidFill>
                <a:latin typeface="+mn-lt"/>
                <a:ea typeface="+mn-ea"/>
                <a:cs typeface="+mn-cs"/>
              </a:rPr>
              <a:t>Acquiring, replacing and/or (re-) affixing signs.</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extLst>
      <p:ext uri="{BB962C8B-B14F-4D97-AF65-F5344CB8AC3E}">
        <p14:creationId xmlns:p14="http://schemas.microsoft.com/office/powerpoint/2010/main" val="144062692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discusses brake checks:</a:t>
            </a:r>
          </a:p>
          <a:p>
            <a:pPr marL="171450" indent="-171450">
              <a:buFont typeface="Arial" pitchFamily="34" charset="0"/>
              <a:buChar char="•"/>
            </a:pPr>
            <a:r>
              <a:rPr lang="en-AU" sz="1200" kern="1200" dirty="0" smtClean="0">
                <a:solidFill>
                  <a:schemeClr val="tx1"/>
                </a:solidFill>
                <a:latin typeface="+mn-lt"/>
                <a:ea typeface="+mn-ea"/>
                <a:cs typeface="+mn-cs"/>
              </a:rPr>
              <a:t>Ensure brake pedal is properly covered with rubber and there is no metal showing through</a:t>
            </a:r>
          </a:p>
          <a:p>
            <a:pPr marL="171450" indent="-171450">
              <a:buFont typeface="Arial" pitchFamily="34" charset="0"/>
              <a:buChar char="•"/>
            </a:pPr>
            <a:r>
              <a:rPr lang="en-AU" sz="1200" kern="1200" dirty="0" smtClean="0">
                <a:solidFill>
                  <a:schemeClr val="tx1"/>
                </a:solidFill>
                <a:latin typeface="+mn-lt"/>
                <a:ea typeface="+mn-ea"/>
                <a:cs typeface="+mn-cs"/>
              </a:rPr>
              <a:t>Verify rubber on brake pedal has anti-slip surface and that surface is sufficient and in good condition</a:t>
            </a:r>
          </a:p>
          <a:p>
            <a:pPr marL="171450" indent="-171450">
              <a:buFont typeface="Arial" pitchFamily="34" charset="0"/>
              <a:buChar char="•"/>
            </a:pPr>
            <a:r>
              <a:rPr lang="en-AU" sz="1200" kern="1200" dirty="0" smtClean="0">
                <a:solidFill>
                  <a:schemeClr val="tx1"/>
                </a:solidFill>
                <a:latin typeface="+mn-lt"/>
                <a:ea typeface="+mn-ea"/>
                <a:cs typeface="+mn-cs"/>
              </a:rPr>
              <a:t>Ensure the brake pedal or the hand brake is not physically broken</a:t>
            </a:r>
          </a:p>
          <a:p>
            <a:pPr marL="171450" indent="-171450">
              <a:buFont typeface="Arial" pitchFamily="34" charset="0"/>
              <a:buChar char="•"/>
            </a:pPr>
            <a:r>
              <a:rPr lang="en-AU" sz="1200" kern="1200" dirty="0" smtClean="0">
                <a:solidFill>
                  <a:schemeClr val="tx1"/>
                </a:solidFill>
                <a:latin typeface="+mn-lt"/>
                <a:ea typeface="+mn-ea"/>
                <a:cs typeface="+mn-cs"/>
              </a:rPr>
              <a:t>Check the travel/height of the brake pedal when applied and ensure it is within manufacturer specifications – for example, less than 20% travel</a:t>
            </a:r>
          </a:p>
          <a:p>
            <a:pPr marL="171450" indent="-171450">
              <a:buFont typeface="Arial" pitchFamily="34" charset="0"/>
              <a:buChar char="•"/>
            </a:pPr>
            <a:r>
              <a:rPr lang="en-AU" sz="1200" kern="1200" dirty="0" smtClean="0">
                <a:solidFill>
                  <a:schemeClr val="tx1"/>
                </a:solidFill>
                <a:latin typeface="+mn-lt"/>
                <a:ea typeface="+mn-ea"/>
                <a:cs typeface="+mn-cs"/>
              </a:rPr>
              <a:t>Determine if the brake pedal moves to the floor/towards the floor (or if the brake indicator/warning light comes on) when steady pressure is applied for 10 seconds.</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extLst>
      <p:ext uri="{BB962C8B-B14F-4D97-AF65-F5344CB8AC3E}">
        <p14:creationId xmlns:p14="http://schemas.microsoft.com/office/powerpoint/2010/main" val="354324051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discussing brake checks:</a:t>
            </a:r>
          </a:p>
          <a:p>
            <a:pPr marL="171450" indent="-171450">
              <a:buFont typeface="Arial" pitchFamily="34" charset="0"/>
              <a:buChar char="•"/>
            </a:pPr>
            <a:r>
              <a:rPr lang="en-AU" sz="1200" kern="1200" dirty="0" smtClean="0">
                <a:solidFill>
                  <a:schemeClr val="tx1"/>
                </a:solidFill>
                <a:latin typeface="+mn-lt"/>
                <a:ea typeface="+mn-ea"/>
                <a:cs typeface="+mn-cs"/>
              </a:rPr>
              <a:t>Ensure brake warning light illuminates when engine is turned on</a:t>
            </a:r>
          </a:p>
          <a:p>
            <a:pPr marL="171450" indent="-171450">
              <a:buFont typeface="Arial" pitchFamily="34" charset="0"/>
              <a:buChar char="•"/>
            </a:pPr>
            <a:r>
              <a:rPr lang="en-AU" sz="1200" kern="1200" dirty="0" smtClean="0">
                <a:solidFill>
                  <a:schemeClr val="tx1"/>
                </a:solidFill>
                <a:latin typeface="+mn-lt"/>
                <a:ea typeface="+mn-ea"/>
                <a:cs typeface="+mn-cs"/>
              </a:rPr>
              <a:t>Ensure hand brake warning light illuminates when hand brake is applied – and extinguishes when the hand brake is released</a:t>
            </a:r>
          </a:p>
          <a:p>
            <a:pPr marL="171450" indent="-171450">
              <a:buFont typeface="Arial" pitchFamily="34" charset="0"/>
              <a:buChar char="•"/>
            </a:pPr>
            <a:r>
              <a:rPr lang="en-AU" sz="1200" kern="1200" dirty="0" smtClean="0">
                <a:solidFill>
                  <a:schemeClr val="tx1"/>
                </a:solidFill>
                <a:latin typeface="+mn-lt"/>
                <a:ea typeface="+mn-ea"/>
                <a:cs typeface="+mn-cs"/>
              </a:rPr>
              <a:t>Make sure the hand brake stays locked in position when applied</a:t>
            </a:r>
          </a:p>
          <a:p>
            <a:pPr marL="171450" indent="-171450">
              <a:buFont typeface="Arial" pitchFamily="34" charset="0"/>
              <a:buChar char="•"/>
            </a:pPr>
            <a:r>
              <a:rPr lang="en-AU" sz="1200" kern="1200" dirty="0" smtClean="0">
                <a:solidFill>
                  <a:schemeClr val="tx1"/>
                </a:solidFill>
                <a:latin typeface="+mn-lt"/>
                <a:ea typeface="+mn-ea"/>
                <a:cs typeface="+mn-cs"/>
              </a:rPr>
              <a:t>Make sure the brake pedal and the hand brake return to the fully released position when not being used</a:t>
            </a:r>
          </a:p>
          <a:p>
            <a:pPr marL="171450" indent="-171450">
              <a:buFont typeface="Arial" pitchFamily="34" charset="0"/>
              <a:buChar char="•"/>
            </a:pPr>
            <a:r>
              <a:rPr lang="en-AU" sz="1200" kern="1200" dirty="0" smtClean="0">
                <a:solidFill>
                  <a:schemeClr val="tx1"/>
                </a:solidFill>
                <a:latin typeface="+mn-lt"/>
                <a:ea typeface="+mn-ea"/>
                <a:cs typeface="+mn-cs"/>
              </a:rPr>
              <a:t>Test the brakes to ensure they slow/stop the vehicle as required (within stated requirements: that is, within a given distance from a nominated speed – for example, within 11 metres from a speed of 35 kph).</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extLst>
      <p:ext uri="{BB962C8B-B14F-4D97-AF65-F5344CB8AC3E}">
        <p14:creationId xmlns:p14="http://schemas.microsoft.com/office/powerpoint/2010/main" val="8395418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discussing brake checks:</a:t>
            </a:r>
          </a:p>
          <a:p>
            <a:pPr>
              <a:buFont typeface="Arial" pitchFamily="34" charset="0"/>
              <a:buNone/>
            </a:pPr>
            <a:r>
              <a:rPr lang="en-AU" sz="1200" kern="1200" dirty="0" smtClean="0">
                <a:solidFill>
                  <a:schemeClr val="tx1"/>
                </a:solidFill>
                <a:latin typeface="+mn-lt"/>
                <a:ea typeface="+mn-ea"/>
                <a:cs typeface="+mn-cs"/>
              </a:rPr>
              <a:t>Inspect the brake pipes, hoses and connections for signs of damage or severe deterioration, kinks, crimping, heat damage or visible signs of leakage, swelling or bulging</a:t>
            </a:r>
          </a:p>
          <a:p>
            <a:pPr>
              <a:buFont typeface="Arial" pitchFamily="34" charset="0"/>
              <a:buNone/>
            </a:pPr>
            <a:r>
              <a:rPr lang="en-AU" sz="1200" kern="1200" dirty="0" smtClean="0">
                <a:solidFill>
                  <a:schemeClr val="tx1"/>
                </a:solidFill>
                <a:latin typeface="+mn-lt"/>
                <a:ea typeface="+mn-ea"/>
                <a:cs typeface="+mn-cs"/>
              </a:rPr>
              <a:t>Inspect the brake pipes, hoses and connections to verify they are securely mounted, and not cracked or broken </a:t>
            </a:r>
          </a:p>
          <a:p>
            <a:pPr>
              <a:buFont typeface="Arial" pitchFamily="34" charset="0"/>
              <a:buNone/>
            </a:pPr>
            <a:r>
              <a:rPr lang="en-AU" sz="1200" kern="1200" dirty="0" smtClean="0">
                <a:solidFill>
                  <a:schemeClr val="tx1"/>
                </a:solidFill>
                <a:latin typeface="+mn-lt"/>
                <a:ea typeface="+mn-ea"/>
                <a:cs typeface="+mn-cs"/>
              </a:rPr>
              <a:t>Inspect visible brake components looking for signs they are broken, excessively worn, leaking, contaminated or not securely mounted</a:t>
            </a:r>
          </a:p>
          <a:p>
            <a:pPr>
              <a:buFont typeface="Arial" pitchFamily="34" charset="0"/>
              <a:buNone/>
            </a:pPr>
            <a:r>
              <a:rPr lang="en-AU" sz="1200" kern="1200" dirty="0" smtClean="0">
                <a:solidFill>
                  <a:schemeClr val="tx1"/>
                </a:solidFill>
                <a:latin typeface="+mn-lt"/>
                <a:ea typeface="+mn-ea"/>
                <a:cs typeface="+mn-cs"/>
              </a:rPr>
              <a:t>Verify hydraulic lines are of sufficient length to allow for the full range of steering and suspension movement, and are not twisted</a:t>
            </a:r>
          </a:p>
          <a:p>
            <a:pPr>
              <a:buFont typeface="Arial" pitchFamily="34" charset="0"/>
              <a:buNone/>
            </a:pPr>
            <a:r>
              <a:rPr lang="en-AU" sz="1200" kern="1200" dirty="0" smtClean="0">
                <a:solidFill>
                  <a:schemeClr val="tx1"/>
                </a:solidFill>
                <a:latin typeface="+mn-lt"/>
                <a:ea typeface="+mn-ea"/>
                <a:cs typeface="+mn-cs"/>
              </a:rPr>
              <a:t>Check any repairs made to hydraulic lines have been made in accordance with applicable standards (for example, they have not been made through heating or welding, and parts used comply with required ratings/standards).</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extLst>
      <p:ext uri="{BB962C8B-B14F-4D97-AF65-F5344CB8AC3E}">
        <p14:creationId xmlns:p14="http://schemas.microsoft.com/office/powerpoint/2010/main" val="4104036430"/>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discussing brake checks:</a:t>
            </a:r>
          </a:p>
          <a:p>
            <a:pPr marL="171450" indent="-171450">
              <a:buFont typeface="Arial" pitchFamily="34" charset="0"/>
              <a:buChar char="•"/>
            </a:pPr>
            <a:r>
              <a:rPr lang="en-AU" sz="1200" kern="1200" dirty="0" smtClean="0">
                <a:solidFill>
                  <a:schemeClr val="tx1"/>
                </a:solidFill>
                <a:latin typeface="+mn-lt"/>
                <a:ea typeface="+mn-ea"/>
                <a:cs typeface="+mn-cs"/>
              </a:rPr>
              <a:t>Check brake fluid and verify it is at required level</a:t>
            </a:r>
          </a:p>
          <a:p>
            <a:pPr marL="171450" indent="-171450">
              <a:buFont typeface="Arial" pitchFamily="34" charset="0"/>
              <a:buChar char="•"/>
            </a:pPr>
            <a:r>
              <a:rPr lang="en-AU" sz="1200" kern="1200" dirty="0" smtClean="0">
                <a:solidFill>
                  <a:schemeClr val="tx1"/>
                </a:solidFill>
                <a:latin typeface="+mn-lt"/>
                <a:ea typeface="+mn-ea"/>
                <a:cs typeface="+mn-cs"/>
              </a:rPr>
              <a:t>Check visible brake lining material to ensure it is worn to less than manufacturers limits or if the limits are not known 0.8mm above bonded shoe or pad mounting surface and level with the rivet or bolt heads on riveted or bolted lining</a:t>
            </a:r>
          </a:p>
          <a:p>
            <a:pPr marL="171450" indent="-171450">
              <a:buFont typeface="Arial" pitchFamily="34" charset="0"/>
              <a:buChar char="•"/>
            </a:pPr>
            <a:r>
              <a:rPr lang="en-AU" sz="1200" kern="1200" dirty="0" smtClean="0">
                <a:solidFill>
                  <a:schemeClr val="tx1"/>
                </a:solidFill>
                <a:latin typeface="+mn-lt"/>
                <a:ea typeface="+mn-ea"/>
                <a:cs typeface="+mn-cs"/>
              </a:rPr>
              <a:t>Inspect power/vacuum assistance for brakes to make sure they are operating properly</a:t>
            </a:r>
          </a:p>
          <a:p>
            <a:pPr marL="171450" indent="-171450">
              <a:buFont typeface="Arial" pitchFamily="34" charset="0"/>
              <a:buChar char="•"/>
            </a:pPr>
            <a:r>
              <a:rPr lang="en-AU" sz="1200" kern="1200" dirty="0" smtClean="0">
                <a:solidFill>
                  <a:schemeClr val="tx1"/>
                </a:solidFill>
                <a:latin typeface="+mn-lt"/>
                <a:ea typeface="+mn-ea"/>
                <a:cs typeface="+mn-cs"/>
              </a:rPr>
              <a:t>Check to ensure compressors, vacuum pumps and/or pulley belts are not cracked, loose or worn</a:t>
            </a:r>
          </a:p>
          <a:p>
            <a:pPr marL="171450" indent="-171450">
              <a:buFont typeface="Arial" pitchFamily="34" charset="0"/>
              <a:buChar char="•"/>
            </a:pPr>
            <a:r>
              <a:rPr lang="en-AU" sz="1200" kern="1200" dirty="0" smtClean="0">
                <a:solidFill>
                  <a:schemeClr val="tx1"/>
                </a:solidFill>
                <a:latin typeface="+mn-lt"/>
                <a:ea typeface="+mn-ea"/>
                <a:cs typeface="+mn-cs"/>
              </a:rPr>
              <a:t>Look for evidence of leaks from the system (any joint, component or seal). </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extLst>
      <p:ext uri="{BB962C8B-B14F-4D97-AF65-F5344CB8AC3E}">
        <p14:creationId xmlns:p14="http://schemas.microsoft.com/office/powerpoint/2010/main" val="2260521943"/>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a:buFont typeface="Arial" pitchFamily="34" charset="0"/>
              <a:buNone/>
            </a:pPr>
            <a:r>
              <a:rPr lang="en-US" noProof="0" dirty="0" smtClean="0"/>
              <a:t>Trainer discusses trailer brake checks:</a:t>
            </a:r>
          </a:p>
          <a:p>
            <a:pPr marL="171450" indent="-171450">
              <a:buFont typeface="Arial" pitchFamily="34" charset="0"/>
              <a:buChar char="•"/>
            </a:pPr>
            <a:r>
              <a:rPr lang="en-AU" sz="1200" kern="1200" dirty="0" smtClean="0">
                <a:solidFill>
                  <a:schemeClr val="tx1"/>
                </a:solidFill>
                <a:latin typeface="+mn-lt"/>
                <a:ea typeface="+mn-ea"/>
                <a:cs typeface="+mn-cs"/>
              </a:rPr>
              <a:t>Verify the trailer has brakes which conform to requirements relating to weight/size and year of manufacture</a:t>
            </a:r>
          </a:p>
          <a:p>
            <a:pPr marL="171450" indent="-171450">
              <a:buFont typeface="Arial" pitchFamily="34" charset="0"/>
              <a:buChar char="•"/>
            </a:pPr>
            <a:r>
              <a:rPr lang="en-AU" sz="1200" kern="1200" dirty="0" smtClean="0">
                <a:solidFill>
                  <a:schemeClr val="tx1"/>
                </a:solidFill>
                <a:latin typeface="+mn-lt"/>
                <a:ea typeface="+mn-ea"/>
                <a:cs typeface="+mn-cs"/>
              </a:rPr>
              <a:t>Inspect the visible components of the system – checking:</a:t>
            </a:r>
          </a:p>
          <a:p>
            <a:pPr marL="628650" lvl="1" indent="-171450">
              <a:buFont typeface="Arial" pitchFamily="34" charset="0"/>
              <a:buChar char="•"/>
            </a:pPr>
            <a:r>
              <a:rPr lang="en-AU" sz="1200" kern="1200" dirty="0" smtClean="0">
                <a:solidFill>
                  <a:schemeClr val="tx1"/>
                </a:solidFill>
                <a:latin typeface="+mn-lt"/>
                <a:ea typeface="+mn-ea"/>
                <a:cs typeface="+mn-cs"/>
              </a:rPr>
              <a:t>There are no leaks</a:t>
            </a:r>
          </a:p>
          <a:p>
            <a:pPr marL="628650" lvl="1" indent="-171450">
              <a:buFont typeface="Arial" pitchFamily="34" charset="0"/>
              <a:buChar char="•"/>
            </a:pPr>
            <a:r>
              <a:rPr lang="en-AU" sz="1200" kern="1200" dirty="0" smtClean="0">
                <a:solidFill>
                  <a:schemeClr val="tx1"/>
                </a:solidFill>
                <a:latin typeface="+mn-lt"/>
                <a:ea typeface="+mn-ea"/>
                <a:cs typeface="+mn-cs"/>
              </a:rPr>
              <a:t>Mountings are secure</a:t>
            </a:r>
          </a:p>
          <a:p>
            <a:pPr marL="628650" lvl="1" indent="-171450">
              <a:buFont typeface="Arial" pitchFamily="34" charset="0"/>
              <a:buChar char="•"/>
            </a:pPr>
            <a:r>
              <a:rPr lang="en-AU" sz="1200" kern="1200" dirty="0" smtClean="0">
                <a:solidFill>
                  <a:schemeClr val="tx1"/>
                </a:solidFill>
                <a:latin typeface="+mn-lt"/>
                <a:ea typeface="+mn-ea"/>
                <a:cs typeface="+mn-cs"/>
              </a:rPr>
              <a:t>Cables are operative, effective and in good condition</a:t>
            </a:r>
          </a:p>
          <a:p>
            <a:pPr marL="628650" lvl="1" indent="-171450">
              <a:buFont typeface="Arial" pitchFamily="34" charset="0"/>
              <a:buChar char="•"/>
            </a:pPr>
            <a:r>
              <a:rPr lang="en-AU" sz="1200" kern="1200" dirty="0" smtClean="0">
                <a:solidFill>
                  <a:schemeClr val="tx1"/>
                </a:solidFill>
                <a:latin typeface="+mn-lt"/>
                <a:ea typeface="+mn-ea"/>
                <a:cs typeface="+mn-cs"/>
              </a:rPr>
              <a:t>Wiring for electrical brakes is in good condition</a:t>
            </a:r>
          </a:p>
          <a:p>
            <a:pPr marL="628650" lvl="1" indent="-171450">
              <a:buFont typeface="Arial" pitchFamily="34" charset="0"/>
              <a:buChar char="•"/>
            </a:pPr>
            <a:r>
              <a:rPr lang="en-US" sz="1200" kern="1200" dirty="0" smtClean="0">
                <a:solidFill>
                  <a:schemeClr val="tx1"/>
                </a:solidFill>
                <a:latin typeface="+mn-lt"/>
                <a:ea typeface="+mn-ea"/>
                <a:cs typeface="+mn-cs"/>
              </a:rPr>
              <a:t>Brake fluid it is at required level</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Brake fluid reservoir for hydraulic brakes is appropriately sealed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AU" sz="1200" kern="1200" dirty="0" smtClean="0">
                <a:solidFill>
                  <a:schemeClr val="tx1"/>
                </a:solidFill>
                <a:latin typeface="+mn-lt"/>
                <a:ea typeface="+mn-ea"/>
                <a:cs typeface="+mn-cs"/>
              </a:rPr>
              <a:t>Brake lines are in good condition – no bulges, leaks, corrosion</a:t>
            </a:r>
          </a:p>
          <a:p>
            <a:pPr marL="628650" lvl="1" indent="-171450">
              <a:buFont typeface="Arial" pitchFamily="34" charset="0"/>
              <a:buChar char="•"/>
            </a:pPr>
            <a:r>
              <a:rPr lang="en-US" sz="1200" kern="1200" dirty="0" smtClean="0">
                <a:solidFill>
                  <a:schemeClr val="tx1"/>
                </a:solidFill>
                <a:latin typeface="+mn-lt"/>
                <a:ea typeface="+mn-ea"/>
                <a:cs typeface="+mn-cs"/>
              </a:rPr>
              <a:t>All repairs made to hydraulic lines have been made in accordance with applicable standards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No brake component is seized, severely corroded or inoperative or, where visible, is worn beyond manufacturer’s limits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Test trailers fitted with over-ride brakes – by compressing the brake-actuating device and attempting to move the trailer (usually this can only be carried out where a parking brake is fitted to the trailer) </a:t>
            </a:r>
          </a:p>
          <a:p>
            <a:pPr marL="171450" indent="-171450">
              <a:buFont typeface="Arial" pitchFamily="34" charset="0"/>
              <a:buChar char="•"/>
            </a:pPr>
            <a:r>
              <a:rPr lang="en-AU" sz="1200" kern="1200" dirty="0" smtClean="0">
                <a:solidFill>
                  <a:schemeClr val="tx1"/>
                </a:solidFill>
                <a:latin typeface="+mn-lt"/>
                <a:ea typeface="+mn-ea"/>
                <a:cs typeface="+mn-cs"/>
              </a:rPr>
              <a:t>Test parking brake (with towing vehicle in neutral and its brakes off) – where fitted to ensure the trailer cannot move when brake is applied, and the brake stays in the required position</a:t>
            </a:r>
          </a:p>
          <a:p>
            <a:pPr marL="171450" indent="-171450">
              <a:buFont typeface="Arial" pitchFamily="34" charset="0"/>
              <a:buChar char="•"/>
            </a:pPr>
            <a:r>
              <a:rPr lang="en-AU" sz="1200" kern="1200" dirty="0" smtClean="0">
                <a:solidFill>
                  <a:schemeClr val="tx1"/>
                </a:solidFill>
                <a:latin typeface="+mn-lt"/>
                <a:ea typeface="+mn-ea"/>
                <a:cs typeface="+mn-cs"/>
              </a:rPr>
              <a:t>Test trailers fitted with brakes other than override brakes – by attaching the trailer to a tow vehicle, applying the trailer service brake and attempting to move the trailer forward: the brake should stop movement of the trailer </a:t>
            </a:r>
          </a:p>
          <a:p>
            <a:pPr marL="171450" indent="-171450">
              <a:buFont typeface="Arial" pitchFamily="34" charset="0"/>
              <a:buChar char="•"/>
            </a:pPr>
            <a:r>
              <a:rPr lang="en-AU" sz="1200" kern="1200" dirty="0" smtClean="0">
                <a:solidFill>
                  <a:schemeClr val="tx1"/>
                </a:solidFill>
                <a:latin typeface="+mn-lt"/>
                <a:ea typeface="+mn-ea"/>
                <a:cs typeface="+mn-cs"/>
              </a:rPr>
              <a:t>Inspect emergency braking system/brake away braking system – where fitted the emergency braking system/brake away braking system should automatically apply when the trailer is detached from the towing vehicle.</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extLst>
      <p:ext uri="{BB962C8B-B14F-4D97-AF65-F5344CB8AC3E}">
        <p14:creationId xmlns:p14="http://schemas.microsoft.com/office/powerpoint/2010/main" val="3637465862"/>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presents adjustments: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Replace rubber on the brake pedal </a:t>
            </a:r>
          </a:p>
          <a:p>
            <a:pPr marL="171450" indent="-171450">
              <a:buFont typeface="Arial" pitchFamily="34" charset="0"/>
              <a:buChar char="•"/>
            </a:pPr>
            <a:r>
              <a:rPr lang="en-AU" sz="1200" kern="1200" dirty="0" smtClean="0">
                <a:solidFill>
                  <a:schemeClr val="tx1"/>
                </a:solidFill>
                <a:latin typeface="+mn-lt"/>
                <a:ea typeface="+mn-ea"/>
                <a:cs typeface="+mn-cs"/>
              </a:rPr>
              <a:t>Replace broken, damaged, defective, worn or suspect parts – as opposed to repairing them</a:t>
            </a:r>
          </a:p>
          <a:p>
            <a:pPr marL="171450" indent="-171450">
              <a:buFont typeface="Arial" pitchFamily="34" charset="0"/>
              <a:buChar char="•"/>
            </a:pPr>
            <a:r>
              <a:rPr lang="en-AU" sz="1200" kern="1200" dirty="0" smtClean="0">
                <a:solidFill>
                  <a:schemeClr val="tx1"/>
                </a:solidFill>
                <a:latin typeface="+mn-lt"/>
                <a:ea typeface="+mn-ea"/>
                <a:cs typeface="+mn-cs"/>
              </a:rPr>
              <a:t>Take the vehicle to an auto electrician – to have electrical/warning light problems or frayed electrical wiring replaced/fixed</a:t>
            </a:r>
          </a:p>
          <a:p>
            <a:pPr marL="171450" indent="-171450">
              <a:buFont typeface="Arial" pitchFamily="34" charset="0"/>
              <a:buChar char="•"/>
            </a:pPr>
            <a:r>
              <a:rPr lang="en-AU" sz="1200" kern="1200" dirty="0" smtClean="0">
                <a:solidFill>
                  <a:schemeClr val="tx1"/>
                </a:solidFill>
                <a:latin typeface="+mn-lt"/>
                <a:ea typeface="+mn-ea"/>
                <a:cs typeface="+mn-cs"/>
              </a:rPr>
              <a:t>Top-up brake fluid.</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extLst>
      <p:ext uri="{BB962C8B-B14F-4D97-AF65-F5344CB8AC3E}">
        <p14:creationId xmlns:p14="http://schemas.microsoft.com/office/powerpoint/2010/main" val="451297896"/>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presenting adjustments: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Replace leaking seals using required kits</a:t>
            </a:r>
          </a:p>
          <a:p>
            <a:pPr marL="171450" indent="-171450">
              <a:buFont typeface="Arial" pitchFamily="34" charset="0"/>
              <a:buChar char="•"/>
            </a:pPr>
            <a:r>
              <a:rPr lang="en-AU" sz="1200" kern="1200" dirty="0" smtClean="0">
                <a:solidFill>
                  <a:schemeClr val="tx1"/>
                </a:solidFill>
                <a:latin typeface="+mn-lt"/>
                <a:ea typeface="+mn-ea"/>
                <a:cs typeface="+mn-cs"/>
              </a:rPr>
              <a:t>Arrange for, or perform, machining and/or re-conditioning of brake drums and brake disc rotors</a:t>
            </a:r>
          </a:p>
          <a:p>
            <a:pPr marL="171450" indent="-171450">
              <a:buFont typeface="Arial" pitchFamily="34" charset="0"/>
              <a:buChar char="•"/>
            </a:pPr>
            <a:r>
              <a:rPr lang="en-AU" sz="1200" kern="1200" dirty="0" smtClean="0">
                <a:solidFill>
                  <a:schemeClr val="tx1"/>
                </a:solidFill>
                <a:latin typeface="+mn-lt"/>
                <a:ea typeface="+mn-ea"/>
                <a:cs typeface="+mn-cs"/>
              </a:rPr>
              <a:t>Adjust the hand brake – which may require renewing cables</a:t>
            </a:r>
          </a:p>
          <a:p>
            <a:pPr marL="171450" indent="-171450">
              <a:buFont typeface="Arial" pitchFamily="34" charset="0"/>
              <a:buChar char="•"/>
            </a:pPr>
            <a:r>
              <a:rPr lang="en-AU" sz="1200" kern="1200" dirty="0" smtClean="0">
                <a:solidFill>
                  <a:schemeClr val="tx1"/>
                </a:solidFill>
                <a:latin typeface="+mn-lt"/>
                <a:ea typeface="+mn-ea"/>
                <a:cs typeface="+mn-cs"/>
              </a:rPr>
              <a:t>Replace brake pads (disc brakes) or shoes (drum brakes).</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extLst>
      <p:ext uri="{BB962C8B-B14F-4D97-AF65-F5344CB8AC3E}">
        <p14:creationId xmlns:p14="http://schemas.microsoft.com/office/powerpoint/2010/main" val="1217601919"/>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presenting adjustments: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Replace the brake fluid (bleed the brakes and re-fill the system)</a:t>
            </a:r>
          </a:p>
          <a:p>
            <a:pPr marL="171450" indent="-171450">
              <a:buFont typeface="Arial" pitchFamily="34" charset="0"/>
              <a:buChar char="•"/>
            </a:pPr>
            <a:r>
              <a:rPr lang="en-AU" sz="1200" kern="1200" dirty="0" smtClean="0">
                <a:solidFill>
                  <a:schemeClr val="tx1"/>
                </a:solidFill>
                <a:latin typeface="+mn-lt"/>
                <a:ea typeface="+mn-ea"/>
                <a:cs typeface="+mn-cs"/>
              </a:rPr>
              <a:t>Replace wheel cylinder (drum brakes)</a:t>
            </a:r>
          </a:p>
          <a:p>
            <a:pPr marL="171450" indent="-171450">
              <a:buFont typeface="Arial" pitchFamily="34" charset="0"/>
              <a:buChar char="•"/>
            </a:pPr>
            <a:r>
              <a:rPr lang="en-AU" sz="1200" kern="1200" dirty="0" smtClean="0">
                <a:solidFill>
                  <a:schemeClr val="tx1"/>
                </a:solidFill>
                <a:latin typeface="+mn-lt"/>
                <a:ea typeface="+mn-ea"/>
                <a:cs typeface="+mn-cs"/>
              </a:rPr>
              <a:t>Replace the master cylinder and servo unit</a:t>
            </a:r>
          </a:p>
          <a:p>
            <a:pPr marL="171450" indent="-171450">
              <a:buFont typeface="Arial" pitchFamily="34" charset="0"/>
              <a:buChar char="•"/>
            </a:pPr>
            <a:r>
              <a:rPr lang="en-AU" sz="1200" kern="1200" dirty="0" smtClean="0">
                <a:solidFill>
                  <a:schemeClr val="tx1"/>
                </a:solidFill>
                <a:latin typeface="+mn-lt"/>
                <a:ea typeface="+mn-ea"/>
                <a:cs typeface="+mn-cs"/>
              </a:rPr>
              <a:t>Replace brake hoses</a:t>
            </a:r>
          </a:p>
          <a:p>
            <a:pPr marL="171450" indent="-171450">
              <a:buFont typeface="Arial" pitchFamily="34" charset="0"/>
              <a:buChar char="•"/>
            </a:pPr>
            <a:r>
              <a:rPr lang="en-AU" sz="1200" kern="1200" dirty="0" smtClean="0">
                <a:solidFill>
                  <a:schemeClr val="tx1"/>
                </a:solidFill>
                <a:latin typeface="+mn-lt"/>
                <a:ea typeface="+mn-ea"/>
                <a:cs typeface="+mn-cs"/>
              </a:rPr>
              <a:t>Adjust disc brakes.</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extLst>
      <p:ext uri="{BB962C8B-B14F-4D97-AF65-F5344CB8AC3E}">
        <p14:creationId xmlns:p14="http://schemas.microsoft.com/office/powerpoint/2010/main" val="233614049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presents steering checks:</a:t>
            </a:r>
          </a:p>
          <a:p>
            <a:pPr marL="171450" indent="-171450">
              <a:buFont typeface="Arial" pitchFamily="34" charset="0"/>
              <a:buChar char="•"/>
            </a:pPr>
            <a:r>
              <a:rPr lang="en-AU" sz="1200" kern="1200" dirty="0" smtClean="0">
                <a:solidFill>
                  <a:schemeClr val="tx1"/>
                </a:solidFill>
                <a:latin typeface="+mn-lt"/>
                <a:ea typeface="+mn-ea"/>
                <a:cs typeface="+mn-cs"/>
              </a:rPr>
              <a:t>With the engine running, check the operation of the steering by moving the steering wheel – to ensure: </a:t>
            </a:r>
          </a:p>
          <a:p>
            <a:pPr marL="628650" lvl="1" indent="-171450">
              <a:buFont typeface="Arial" pitchFamily="34" charset="0"/>
              <a:buChar char="•"/>
            </a:pPr>
            <a:r>
              <a:rPr lang="en-AU" sz="1200" kern="1200" dirty="0" smtClean="0">
                <a:solidFill>
                  <a:schemeClr val="tx1"/>
                </a:solidFill>
                <a:latin typeface="+mn-lt"/>
                <a:ea typeface="+mn-ea"/>
                <a:cs typeface="+mn-cs"/>
              </a:rPr>
              <a:t>There is </a:t>
            </a:r>
            <a:r>
              <a:rPr lang="en-US" sz="1200" kern="1200" dirty="0" smtClean="0">
                <a:solidFill>
                  <a:schemeClr val="tx1"/>
                </a:solidFill>
                <a:latin typeface="+mn-lt"/>
                <a:ea typeface="+mn-ea"/>
                <a:cs typeface="+mn-cs"/>
              </a:rPr>
              <a:t>here is no more than 50 mm rotational free play in the wheel</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The steering wheel is free from structural damage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Any accessories fitted to steering wheels (padded hubs, covers etc.) are not loose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The steering wheel is securely attached to the steering column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Where a SRS airbag is fitted, there is any evidence airbags or other SRS system are operative: check the indicator light, where fitted - this usually illuminates when the ignition is first switched “on” and extinguishes after the system passes a self-test.</a:t>
            </a:r>
            <a:endParaRPr lang="en-AU" sz="1200" kern="120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extLst>
      <p:ext uri="{BB962C8B-B14F-4D97-AF65-F5344CB8AC3E}">
        <p14:creationId xmlns:p14="http://schemas.microsoft.com/office/powerpoint/2010/main" val="605106520"/>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presenting steering checks:</a:t>
            </a:r>
          </a:p>
          <a:p>
            <a:pPr marL="171450" indent="-171450">
              <a:buFont typeface="Arial" pitchFamily="34" charset="0"/>
              <a:buChar char="•"/>
            </a:pPr>
            <a:r>
              <a:rPr lang="en-AU" sz="1200" kern="1200" dirty="0" smtClean="0">
                <a:solidFill>
                  <a:schemeClr val="tx1"/>
                </a:solidFill>
                <a:latin typeface="+mn-lt"/>
                <a:ea typeface="+mn-ea"/>
                <a:cs typeface="+mn-cs"/>
              </a:rPr>
              <a:t>Visually inspect all steering components under the bonnet and under the vehicle – to ensure: </a:t>
            </a:r>
          </a:p>
          <a:p>
            <a:pPr marL="628650" lvl="1" indent="-171450">
              <a:buFont typeface="Arial" pitchFamily="34" charset="0"/>
              <a:buChar char="•"/>
            </a:pPr>
            <a:r>
              <a:rPr lang="en-US" sz="1200" kern="1200" dirty="0" smtClean="0">
                <a:solidFill>
                  <a:schemeClr val="tx1"/>
                </a:solidFill>
                <a:latin typeface="+mn-lt"/>
                <a:ea typeface="+mn-ea"/>
                <a:cs typeface="+mn-cs"/>
              </a:rPr>
              <a:t>No steering component is missing, cracked or broken or is worn beyond manufacturer’s limits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No steering component can be seen to have been repaired or modified by bending, heating or welding (unless in accordance with manufacturer’s specifications)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No nut, bolt or locking device is missing or insecure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Tie rod and drag link ends are secured in both the rod and taper with fasteners suitably locked (e.g. split pins, lock-wire, tabs or self locking nuts)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There is no movement on the spline between Pitman arm and the steering box or between any thread or tapered joint.</a:t>
            </a: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extLst>
      <p:ext uri="{BB962C8B-B14F-4D97-AF65-F5344CB8AC3E}">
        <p14:creationId xmlns:p14="http://schemas.microsoft.com/office/powerpoint/2010/main" val="429912697"/>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presenting steering checks:</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(Continued) With the engine running, check the operation of the steering by moving the steering wheel – to ensure: </a:t>
            </a:r>
          </a:p>
          <a:p>
            <a:pPr marL="628650" lvl="1" indent="-171450">
              <a:buFont typeface="Arial" pitchFamily="34" charset="0"/>
              <a:buChar char="•"/>
            </a:pPr>
            <a:r>
              <a:rPr lang="en-US" sz="1200" kern="1200" dirty="0" smtClean="0">
                <a:solidFill>
                  <a:schemeClr val="tx1"/>
                </a:solidFill>
                <a:latin typeface="+mn-lt"/>
                <a:ea typeface="+mn-ea"/>
                <a:cs typeface="+mn-cs"/>
              </a:rPr>
              <a:t>No free play due to wear in any steering component which exceeds manufacturer’s specification (if that specification is not known, free play exceeds 3 mm)</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AU" sz="1200" kern="1200" dirty="0" smtClean="0">
                <a:solidFill>
                  <a:schemeClr val="tx1"/>
                </a:solidFill>
                <a:latin typeface="+mn-lt"/>
                <a:ea typeface="+mn-ea"/>
                <a:cs typeface="+mn-cs"/>
              </a:rPr>
              <a:t>Power steering has no leaks, no defects and is not inoperative</a:t>
            </a:r>
          </a:p>
          <a:p>
            <a:pPr marL="628650" lvl="1" indent="-171450">
              <a:buFont typeface="Arial" pitchFamily="34" charset="0"/>
              <a:buChar char="•"/>
            </a:pPr>
            <a:r>
              <a:rPr lang="en-US" sz="1200" kern="1200" dirty="0" smtClean="0">
                <a:solidFill>
                  <a:schemeClr val="tx1"/>
                </a:solidFill>
                <a:latin typeface="+mn-lt"/>
                <a:ea typeface="+mn-ea"/>
                <a:cs typeface="+mn-cs"/>
              </a:rPr>
              <a:t>Any manual or power steering componentry is securely mounted and free from excessive side or end play, roughness, or binding</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Power steering belts are not loose, broken, frayed, missing, or cracked through to reinforcing plies.</a:t>
            </a: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extLst>
      <p:ext uri="{BB962C8B-B14F-4D97-AF65-F5344CB8AC3E}">
        <p14:creationId xmlns:p14="http://schemas.microsoft.com/office/powerpoint/2010/main" val="4243491692"/>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presenting steering checks:</a:t>
            </a:r>
          </a:p>
          <a:p>
            <a:pPr marL="171450" indent="-171450">
              <a:buFont typeface="Arial" pitchFamily="34" charset="0"/>
              <a:buChar char="•"/>
            </a:pPr>
            <a:r>
              <a:rPr lang="en-AU" sz="1200" kern="1200" dirty="0" smtClean="0">
                <a:solidFill>
                  <a:schemeClr val="tx1"/>
                </a:solidFill>
                <a:latin typeface="+mn-lt"/>
                <a:ea typeface="+mn-ea"/>
                <a:cs typeface="+mn-cs"/>
              </a:rPr>
              <a:t>Check the operation of the anti-theft/steering lock – to ensure:</a:t>
            </a:r>
          </a:p>
          <a:p>
            <a:pPr marL="628650" lvl="1" indent="-171450">
              <a:buFont typeface="Arial" pitchFamily="34" charset="0"/>
              <a:buChar char="•"/>
            </a:pPr>
            <a:r>
              <a:rPr lang="en-US" sz="1200" kern="1200" dirty="0" smtClean="0">
                <a:solidFill>
                  <a:schemeClr val="tx1"/>
                </a:solidFill>
                <a:latin typeface="+mn-lt"/>
                <a:ea typeface="+mn-ea"/>
                <a:cs typeface="+mn-cs"/>
              </a:rPr>
              <a:t>The ignition key cannot be removed in any position except the “anti-theft” (lock) position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When engaged, the anti-theft lock prevents at least one of the following actions:</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Steering the vehicle</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Engaging the forward drive gears</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Release of the brakes.</a:t>
            </a: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r>
              <a:rPr lang="en-US" b="1" noProof="0" dirty="0" smtClean="0"/>
              <a:t>Classroom Activity (1)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p>
          <a:p>
            <a:pPr>
              <a:buFont typeface="Arial" pitchFamily="34" charset="0"/>
              <a:buNone/>
            </a:pPr>
            <a:endParaRPr lang="en-US" b="0" baseline="0" noProof="0" dirty="0" smtClean="0"/>
          </a:p>
          <a:p>
            <a:pPr>
              <a:buFont typeface="Arial" pitchFamily="34" charset="0"/>
              <a:buNone/>
            </a:pPr>
            <a:r>
              <a:rPr lang="en-US" b="1" noProof="0" dirty="0" smtClean="0"/>
              <a:t>Classroom Activity (2) – internet Research</a:t>
            </a:r>
          </a:p>
          <a:p>
            <a:pPr>
              <a:buFont typeface="Arial" pitchFamily="34" charset="0"/>
              <a:buNone/>
            </a:pPr>
            <a:r>
              <a:rPr lang="en-US" b="0" noProof="0" dirty="0" smtClean="0"/>
              <a:t>Trainer facilitates research and discussion of:</a:t>
            </a:r>
          </a:p>
          <a:p>
            <a:pPr>
              <a:buFont typeface="Arial" pitchFamily="34" charset="0"/>
              <a:buNone/>
            </a:pPr>
            <a:r>
              <a:rPr lang="en-AU" sz="1200" u="sng" kern="1200" dirty="0" smtClean="0">
                <a:solidFill>
                  <a:schemeClr val="tx1"/>
                </a:solidFill>
                <a:latin typeface="+mn-lt"/>
                <a:ea typeface="+mn-ea"/>
                <a:cs typeface="+mn-cs"/>
                <a:hlinkClick r:id="rId3"/>
              </a:rPr>
              <a:t>http://www.howacarworks.com/steering</a:t>
            </a: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extLst>
      <p:ext uri="{BB962C8B-B14F-4D97-AF65-F5344CB8AC3E}">
        <p14:creationId xmlns:p14="http://schemas.microsoft.com/office/powerpoint/2010/main" val="1560881997"/>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presents adjustments: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dirty="0" smtClean="0"/>
              <a:t>Arrange for professional repairs to be made where serious issues are identified and/or where work involving airbags needs to be done</a:t>
            </a:r>
          </a:p>
          <a:p>
            <a:pPr marL="171450" indent="-171450">
              <a:buFont typeface="Arial" pitchFamily="34" charset="0"/>
              <a:buChar char="•"/>
            </a:pPr>
            <a:r>
              <a:rPr lang="en-AU" dirty="0" smtClean="0"/>
              <a:t>Replace worn/loose steering wheel covers</a:t>
            </a:r>
          </a:p>
          <a:p>
            <a:pPr marL="171450" indent="-171450">
              <a:buFont typeface="Arial" pitchFamily="34" charset="0"/>
              <a:buChar char="•"/>
            </a:pPr>
            <a:r>
              <a:rPr lang="en-AU" dirty="0" smtClean="0"/>
              <a:t>Replace damaged steering wheels</a:t>
            </a:r>
          </a:p>
          <a:p>
            <a:pPr marL="171450" indent="-171450">
              <a:buFont typeface="Arial" pitchFamily="34" charset="0"/>
              <a:buChar char="•"/>
            </a:pPr>
            <a:r>
              <a:rPr lang="en-AU" dirty="0" smtClean="0"/>
              <a:t>Tighten </a:t>
            </a:r>
            <a:r>
              <a:rPr lang="en-AU" sz="1200" kern="1200" dirty="0" smtClean="0">
                <a:solidFill>
                  <a:schemeClr val="tx1"/>
                </a:solidFill>
                <a:latin typeface="+mn-lt"/>
                <a:ea typeface="+mn-ea"/>
                <a:cs typeface="+mn-cs"/>
              </a:rPr>
              <a:t>nuts, bolts, connections, fasteners and steering wheel accessories.</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extLst>
      <p:ext uri="{BB962C8B-B14F-4D97-AF65-F5344CB8AC3E}">
        <p14:creationId xmlns:p14="http://schemas.microsoft.com/office/powerpoint/2010/main" val="1026482799"/>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presenting adjustments: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Replace defective/leaking seals</a:t>
            </a:r>
          </a:p>
          <a:p>
            <a:pPr marL="171450" indent="-171450">
              <a:buFont typeface="Arial" pitchFamily="34" charset="0"/>
              <a:buChar char="•"/>
            </a:pPr>
            <a:r>
              <a:rPr lang="en-AU" sz="1200" kern="1200" dirty="0" smtClean="0">
                <a:solidFill>
                  <a:schemeClr val="tx1"/>
                </a:solidFill>
                <a:latin typeface="+mn-lt"/>
                <a:ea typeface="+mn-ea"/>
                <a:cs typeface="+mn-cs"/>
              </a:rPr>
              <a:t>Replace missing, cracked, broken or excessively worn components</a:t>
            </a:r>
          </a:p>
          <a:p>
            <a:pPr marL="171450" indent="-171450">
              <a:buFont typeface="Arial" pitchFamily="34" charset="0"/>
              <a:buChar char="•"/>
            </a:pPr>
            <a:r>
              <a:rPr lang="en-AU" sz="1200" kern="1200" dirty="0" smtClean="0">
                <a:solidFill>
                  <a:schemeClr val="tx1"/>
                </a:solidFill>
                <a:latin typeface="+mn-lt"/>
                <a:ea typeface="+mn-ea"/>
                <a:cs typeface="+mn-cs"/>
              </a:rPr>
              <a:t>Top-up power steering fluid</a:t>
            </a:r>
          </a:p>
          <a:p>
            <a:pPr marL="171450" indent="-171450">
              <a:buFont typeface="Arial" pitchFamily="34" charset="0"/>
              <a:buChar char="•"/>
            </a:pPr>
            <a:r>
              <a:rPr lang="en-AU" sz="1200" kern="1200" dirty="0" smtClean="0">
                <a:solidFill>
                  <a:schemeClr val="tx1"/>
                </a:solidFill>
                <a:latin typeface="+mn-lt"/>
                <a:ea typeface="+mn-ea"/>
                <a:cs typeface="+mn-cs"/>
              </a:rPr>
              <a:t>Secure tie rod and drag link ends where required</a:t>
            </a:r>
          </a:p>
          <a:p>
            <a:pPr marL="171450" indent="-171450">
              <a:buFont typeface="Arial" pitchFamily="34" charset="0"/>
              <a:buChar char="•"/>
            </a:pPr>
            <a:r>
              <a:rPr lang="en-AU" sz="1200" kern="1200" dirty="0" smtClean="0">
                <a:solidFill>
                  <a:schemeClr val="tx1"/>
                </a:solidFill>
                <a:latin typeface="+mn-lt"/>
                <a:ea typeface="+mn-ea"/>
                <a:cs typeface="+mn-cs"/>
              </a:rPr>
              <a:t>Replace defective/damaged hoses, pipes and drive belts.</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extLst>
      <p:ext uri="{BB962C8B-B14F-4D97-AF65-F5344CB8AC3E}">
        <p14:creationId xmlns:p14="http://schemas.microsoft.com/office/powerpoint/2010/main" val="2669632232"/>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presenting adjustments: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Adjust and replace power steering drive belt</a:t>
            </a:r>
          </a:p>
          <a:p>
            <a:pPr marL="171450" indent="-171450">
              <a:buFont typeface="Arial" pitchFamily="34" charset="0"/>
              <a:buChar char="•"/>
            </a:pPr>
            <a:r>
              <a:rPr lang="en-AU" sz="1200" kern="1200" dirty="0" smtClean="0">
                <a:solidFill>
                  <a:schemeClr val="tx1"/>
                </a:solidFill>
                <a:latin typeface="+mn-lt"/>
                <a:ea typeface="+mn-ea"/>
                <a:cs typeface="+mn-cs"/>
              </a:rPr>
              <a:t>Adjust toe alignment on wheels</a:t>
            </a:r>
          </a:p>
          <a:p>
            <a:pPr marL="171450" indent="-171450">
              <a:buFont typeface="Arial" pitchFamily="34" charset="0"/>
              <a:buChar char="•"/>
            </a:pPr>
            <a:r>
              <a:rPr lang="en-AU" sz="1200" kern="1200" dirty="0" smtClean="0">
                <a:solidFill>
                  <a:schemeClr val="tx1"/>
                </a:solidFill>
                <a:latin typeface="+mn-lt"/>
                <a:ea typeface="+mn-ea"/>
                <a:cs typeface="+mn-cs"/>
              </a:rPr>
              <a:t>Lubricate steering swivel joints</a:t>
            </a:r>
          </a:p>
          <a:p>
            <a:pPr marL="171450" indent="-171450">
              <a:buFont typeface="Arial" pitchFamily="34" charset="0"/>
              <a:buChar char="•"/>
            </a:pPr>
            <a:r>
              <a:rPr lang="en-AU" sz="1200" kern="1200" dirty="0" smtClean="0">
                <a:solidFill>
                  <a:schemeClr val="tx1"/>
                </a:solidFill>
                <a:latin typeface="+mn-lt"/>
                <a:ea typeface="+mn-ea"/>
                <a:cs typeface="+mn-cs"/>
              </a:rPr>
              <a:t>Replace track rods and (track rod end) ball joints</a:t>
            </a:r>
          </a:p>
          <a:p>
            <a:pPr marL="171450" indent="-171450">
              <a:buFont typeface="Arial" pitchFamily="34" charset="0"/>
              <a:buChar char="•"/>
            </a:pPr>
            <a:r>
              <a:rPr lang="en-AU" sz="1200" kern="1200" dirty="0" smtClean="0">
                <a:solidFill>
                  <a:schemeClr val="tx1"/>
                </a:solidFill>
                <a:latin typeface="+mn-lt"/>
                <a:ea typeface="+mn-ea"/>
                <a:cs typeface="+mn-cs"/>
              </a:rPr>
              <a:t>Set the tracking.</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extLst>
      <p:ext uri="{BB962C8B-B14F-4D97-AF65-F5344CB8AC3E}">
        <p14:creationId xmlns:p14="http://schemas.microsoft.com/office/powerpoint/2010/main" val="2696922700"/>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discusses exhaust checks: </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There are no visible cracks</a:t>
            </a:r>
          </a:p>
          <a:p>
            <a:pPr marL="171450" indent="-171450">
              <a:buFont typeface="Arial" pitchFamily="34" charset="0"/>
              <a:buChar char="•"/>
            </a:pPr>
            <a:r>
              <a:rPr lang="en-AU" sz="1200" kern="1200" dirty="0" smtClean="0">
                <a:solidFill>
                  <a:schemeClr val="tx1"/>
                </a:solidFill>
                <a:latin typeface="+mn-lt"/>
                <a:ea typeface="+mn-ea"/>
                <a:cs typeface="+mn-cs"/>
              </a:rPr>
              <a:t>The system is securely mounted – across its </a:t>
            </a:r>
            <a:r>
              <a:rPr lang="en-AU" sz="1200" kern="1200" dirty="0" err="1" smtClean="0">
                <a:solidFill>
                  <a:schemeClr val="tx1"/>
                </a:solidFill>
                <a:latin typeface="+mn-lt"/>
                <a:ea typeface="+mn-ea"/>
                <a:cs typeface="+mn-cs"/>
              </a:rPr>
              <a:t>entyre</a:t>
            </a:r>
            <a:r>
              <a:rPr lang="en-AU" sz="1200" kern="1200" dirty="0" smtClean="0">
                <a:solidFill>
                  <a:schemeClr val="tx1"/>
                </a:solidFill>
                <a:latin typeface="+mn-lt"/>
                <a:ea typeface="+mn-ea"/>
                <a:cs typeface="+mn-cs"/>
              </a:rPr>
              <a:t> length</a:t>
            </a:r>
          </a:p>
          <a:p>
            <a:pPr marL="171450" indent="-171450">
              <a:buFont typeface="Arial" pitchFamily="34" charset="0"/>
              <a:buChar char="•"/>
            </a:pPr>
            <a:r>
              <a:rPr lang="en-AU" sz="1200" kern="1200" dirty="0" smtClean="0">
                <a:solidFill>
                  <a:schemeClr val="tx1"/>
                </a:solidFill>
                <a:latin typeface="+mn-lt"/>
                <a:ea typeface="+mn-ea"/>
                <a:cs typeface="+mn-cs"/>
              </a:rPr>
              <a:t>An effective silencer if fitted and operational with all exhaust gases passing through it – so vehicle noise is not excessive in accordance with local regulations/mandated noise levels.</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extLst>
      <p:ext uri="{BB962C8B-B14F-4D97-AF65-F5344CB8AC3E}">
        <p14:creationId xmlns:p14="http://schemas.microsoft.com/office/powerpoint/2010/main" val="1976762607"/>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discussing exhaust checks: </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Outlet of the exhaust pipe is to the rear of passenger side doors and opening windows</a:t>
            </a:r>
          </a:p>
          <a:p>
            <a:pPr marL="171450" indent="-171450">
              <a:buFont typeface="Arial" pitchFamily="34" charset="0"/>
              <a:buChar char="•"/>
            </a:pPr>
            <a:r>
              <a:rPr lang="en-AU" sz="1200" kern="1200" dirty="0" smtClean="0">
                <a:solidFill>
                  <a:schemeClr val="tx1"/>
                </a:solidFill>
                <a:latin typeface="+mn-lt"/>
                <a:ea typeface="+mn-ea"/>
                <a:cs typeface="+mn-cs"/>
              </a:rPr>
              <a:t>Exhaust discharges:</a:t>
            </a:r>
          </a:p>
          <a:p>
            <a:pPr marL="628650" lvl="1" indent="-171450">
              <a:buFont typeface="Arial" pitchFamily="34" charset="0"/>
              <a:buChar char="•"/>
            </a:pPr>
            <a:r>
              <a:rPr lang="en-AU" sz="1200" kern="1200" dirty="0" smtClean="0">
                <a:solidFill>
                  <a:schemeClr val="tx1"/>
                </a:solidFill>
                <a:latin typeface="+mn-lt"/>
                <a:ea typeface="+mn-ea"/>
                <a:cs typeface="+mn-cs"/>
              </a:rPr>
              <a:t>Rear of vehicle</a:t>
            </a:r>
          </a:p>
          <a:p>
            <a:pPr marL="628650" lvl="1" indent="-171450">
              <a:buFont typeface="Arial" pitchFamily="34" charset="0"/>
              <a:buChar char="•"/>
            </a:pPr>
            <a:r>
              <a:rPr lang="en-AU" sz="1200" kern="1200" dirty="0" smtClean="0">
                <a:solidFill>
                  <a:schemeClr val="tx1"/>
                </a:solidFill>
                <a:latin typeface="+mn-lt"/>
                <a:ea typeface="+mn-ea"/>
                <a:cs typeface="+mn-cs"/>
              </a:rPr>
              <a:t>To the correct side of the vehicle (left or right) depending on which side of the road the vehicle is driven on – fumes/exhaust must not be directed at footpath-side</a:t>
            </a:r>
          </a:p>
          <a:p>
            <a:pPr marL="171450" indent="-171450">
              <a:buFont typeface="Arial" pitchFamily="34" charset="0"/>
              <a:buChar char="•"/>
            </a:pPr>
            <a:r>
              <a:rPr lang="en-AU" sz="1200" kern="1200" dirty="0" smtClean="0">
                <a:solidFill>
                  <a:schemeClr val="tx1"/>
                </a:solidFill>
                <a:latin typeface="+mn-lt"/>
                <a:ea typeface="+mn-ea"/>
                <a:cs typeface="+mn-cs"/>
              </a:rPr>
              <a:t>No leaks, holes or corrosion in the system – apart from intentional drain holes provided by manufacturers in mufflers.</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extLst>
      <p:ext uri="{BB962C8B-B14F-4D97-AF65-F5344CB8AC3E}">
        <p14:creationId xmlns:p14="http://schemas.microsoft.com/office/powerpoint/2010/main" val="3124013068"/>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discussing exhaust checks: </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The exhaust pipe exit extends </a:t>
            </a:r>
            <a:r>
              <a:rPr lang="en-AU" sz="1200" i="1" kern="1200" dirty="0" smtClean="0">
                <a:solidFill>
                  <a:schemeClr val="tx1"/>
                </a:solidFill>
                <a:latin typeface="+mn-lt"/>
                <a:ea typeface="+mn-ea"/>
                <a:cs typeface="+mn-cs"/>
              </a:rPr>
              <a:t>beyond</a:t>
            </a:r>
            <a:r>
              <a:rPr lang="en-AU" sz="1200" kern="1200" dirty="0" smtClean="0">
                <a:solidFill>
                  <a:schemeClr val="tx1"/>
                </a:solidFill>
                <a:latin typeface="+mn-lt"/>
                <a:ea typeface="+mn-ea"/>
                <a:cs typeface="+mn-cs"/>
              </a:rPr>
              <a:t> the vehicle body but not beyond the overall plan of the vehicle – so the pipe does not end </a:t>
            </a:r>
            <a:r>
              <a:rPr lang="en-AU" sz="1200" i="1" kern="1200" dirty="0" smtClean="0">
                <a:solidFill>
                  <a:schemeClr val="tx1"/>
                </a:solidFill>
                <a:latin typeface="+mn-lt"/>
                <a:ea typeface="+mn-ea"/>
                <a:cs typeface="+mn-cs"/>
              </a:rPr>
              <a:t>under</a:t>
            </a:r>
            <a:r>
              <a:rPr lang="en-AU" sz="1200" kern="1200" dirty="0" smtClean="0">
                <a:solidFill>
                  <a:schemeClr val="tx1"/>
                </a:solidFill>
                <a:latin typeface="+mn-lt"/>
                <a:ea typeface="+mn-ea"/>
                <a:cs typeface="+mn-cs"/>
              </a:rPr>
              <a:t> the body but extends to under the rear bumper bar</a:t>
            </a:r>
          </a:p>
          <a:p>
            <a:pPr marL="171450" indent="-171450">
              <a:buFont typeface="Arial" pitchFamily="34" charset="0"/>
              <a:buChar char="•"/>
            </a:pPr>
            <a:r>
              <a:rPr lang="en-AU" sz="1200" kern="1200" dirty="0" smtClean="0">
                <a:solidFill>
                  <a:schemeClr val="tx1"/>
                </a:solidFill>
                <a:latin typeface="+mn-lt"/>
                <a:ea typeface="+mn-ea"/>
                <a:cs typeface="+mn-cs"/>
              </a:rPr>
              <a:t>The system does not interfere with or obstruct any part of the steering, suspension, brake or fuel system</a:t>
            </a:r>
          </a:p>
          <a:p>
            <a:pPr marL="171450" indent="-171450">
              <a:buFont typeface="Arial" pitchFamily="34" charset="0"/>
              <a:buChar char="•"/>
            </a:pPr>
            <a:r>
              <a:rPr lang="en-AU" sz="1200" kern="1200" dirty="0" smtClean="0">
                <a:solidFill>
                  <a:schemeClr val="tx1"/>
                </a:solidFill>
                <a:latin typeface="+mn-lt"/>
                <a:ea typeface="+mn-ea"/>
                <a:cs typeface="+mn-cs"/>
              </a:rPr>
              <a:t>The </a:t>
            </a:r>
            <a:r>
              <a:rPr lang="en-AU" sz="1200" i="1" kern="1200" dirty="0" err="1" smtClean="0">
                <a:solidFill>
                  <a:schemeClr val="tx1"/>
                </a:solidFill>
                <a:latin typeface="+mn-lt"/>
                <a:ea typeface="+mn-ea"/>
                <a:cs typeface="+mn-cs"/>
              </a:rPr>
              <a:t>entyre</a:t>
            </a:r>
            <a:r>
              <a:rPr lang="en-AU" sz="1200" kern="1200" dirty="0" smtClean="0">
                <a:solidFill>
                  <a:schemeClr val="tx1"/>
                </a:solidFill>
                <a:latin typeface="+mn-lt"/>
                <a:ea typeface="+mn-ea"/>
                <a:cs typeface="+mn-cs"/>
              </a:rPr>
              <a:t> system at its lowest points clears the road surface by the required distance – for example, 100 mm.</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extLst>
      <p:ext uri="{BB962C8B-B14F-4D97-AF65-F5344CB8AC3E}">
        <p14:creationId xmlns:p14="http://schemas.microsoft.com/office/powerpoint/2010/main" val="1810907773"/>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discussing exhaust checks: </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The exhaust does not let out sparks, flames, excessive gases, oil or fuel residue</a:t>
            </a:r>
          </a:p>
          <a:p>
            <a:pPr marL="171450" indent="-171450">
              <a:buFont typeface="Arial" pitchFamily="34" charset="0"/>
              <a:buChar char="•"/>
            </a:pPr>
            <a:r>
              <a:rPr lang="en-AU" sz="1200" kern="1200" dirty="0" smtClean="0">
                <a:solidFill>
                  <a:schemeClr val="tx1"/>
                </a:solidFill>
                <a:latin typeface="+mn-lt"/>
                <a:ea typeface="+mn-ea"/>
                <a:cs typeface="+mn-cs"/>
              </a:rPr>
              <a:t>No visual emissions from the exhaust for longer than 10 seconds after the engine has been started</a:t>
            </a:r>
          </a:p>
          <a:p>
            <a:pPr marL="171450" indent="-171450">
              <a:buFont typeface="Arial" pitchFamily="34" charset="0"/>
              <a:buChar char="•"/>
            </a:pPr>
            <a:r>
              <a:rPr lang="en-AU" sz="1200" kern="1200" dirty="0" smtClean="0">
                <a:solidFill>
                  <a:schemeClr val="tx1"/>
                </a:solidFill>
                <a:latin typeface="+mn-lt"/>
                <a:ea typeface="+mn-ea"/>
                <a:cs typeface="+mn-cs"/>
              </a:rPr>
              <a:t>Where fitted, emission control equipment is all present and fully operational</a:t>
            </a:r>
          </a:p>
          <a:p>
            <a:pPr marL="171450" indent="-171450">
              <a:buFont typeface="Arial" pitchFamily="34" charset="0"/>
              <a:buChar char="•"/>
            </a:pPr>
            <a:r>
              <a:rPr lang="en-AU" sz="1200" kern="1200" dirty="0" smtClean="0">
                <a:solidFill>
                  <a:schemeClr val="tx1"/>
                </a:solidFill>
                <a:latin typeface="+mn-lt"/>
                <a:ea typeface="+mn-ea"/>
                <a:cs typeface="+mn-cs"/>
              </a:rPr>
              <a:t>LPG fuel lines are separated from exhaust components by the required distance (say 150 mm) and/or protected by a shield and separated by a lesser distance, say 50 mm.</a:t>
            </a:r>
          </a:p>
          <a:p>
            <a:pPr>
              <a:buFont typeface="Arial" pitchFamily="34" charset="0"/>
              <a:buNone/>
            </a:pPr>
            <a:endParaRPr lang="en-US" noProof="0" dirty="0" smtClean="0"/>
          </a:p>
          <a:p>
            <a:pPr>
              <a:buFont typeface="Arial" pitchFamily="34" charset="0"/>
              <a:buNone/>
            </a:pPr>
            <a:r>
              <a:rPr lang="en-US" b="1" noProof="0" dirty="0" smtClean="0"/>
              <a:t>Classroom Activity (1)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smtClean="0"/>
          </a:p>
          <a:p>
            <a:pPr>
              <a:buFont typeface="Arial" pitchFamily="34" charset="0"/>
              <a:buNone/>
            </a:pPr>
            <a:r>
              <a:rPr lang="en-US" b="1" noProof="0" dirty="0" smtClean="0"/>
              <a:t>Classroom Activity (2) – internet Research</a:t>
            </a:r>
          </a:p>
          <a:p>
            <a:pPr>
              <a:buFont typeface="Arial" pitchFamily="34" charset="0"/>
              <a:buNone/>
            </a:pPr>
            <a:r>
              <a:rPr lang="en-US" b="0" noProof="0" dirty="0" smtClean="0"/>
              <a:t>Trainer facilitates research and discussion of page 6 of:</a:t>
            </a:r>
          </a:p>
          <a:p>
            <a:pPr>
              <a:buFont typeface="Arial" pitchFamily="34" charset="0"/>
              <a:buNone/>
            </a:pPr>
            <a:r>
              <a:rPr lang="en-AU" sz="1200" u="sng" kern="1200" dirty="0" smtClean="0">
                <a:solidFill>
                  <a:schemeClr val="tx1"/>
                </a:solidFill>
                <a:latin typeface="+mn-lt"/>
                <a:ea typeface="+mn-ea"/>
                <a:cs typeface="+mn-cs"/>
                <a:hlinkClick r:id="rId3"/>
              </a:rPr>
              <a:t>https://www.vicroads.vic.gov.au/searchresultpage?q=toadworthiness%20requirements</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extLst>
      <p:ext uri="{BB962C8B-B14F-4D97-AF65-F5344CB8AC3E}">
        <p14:creationId xmlns:p14="http://schemas.microsoft.com/office/powerpoint/2010/main" val="1191569596"/>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presents possible adjustments: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Replacing seals</a:t>
            </a:r>
          </a:p>
          <a:p>
            <a:pPr marL="171450" indent="-171450">
              <a:buFont typeface="Arial" pitchFamily="34" charset="0"/>
              <a:buChar char="•"/>
            </a:pPr>
            <a:r>
              <a:rPr lang="en-AU" sz="1200" kern="1200" dirty="0" smtClean="0">
                <a:solidFill>
                  <a:schemeClr val="tx1"/>
                </a:solidFill>
                <a:latin typeface="+mn-lt"/>
                <a:ea typeface="+mn-ea"/>
                <a:cs typeface="+mn-cs"/>
              </a:rPr>
              <a:t>Replacing mountings</a:t>
            </a:r>
          </a:p>
          <a:p>
            <a:pPr marL="171450" indent="-171450">
              <a:buFont typeface="Arial" pitchFamily="34" charset="0"/>
              <a:buChar char="•"/>
            </a:pPr>
            <a:r>
              <a:rPr lang="en-AU" sz="1200" kern="1200" dirty="0" smtClean="0">
                <a:solidFill>
                  <a:schemeClr val="tx1"/>
                </a:solidFill>
                <a:latin typeface="+mn-lt"/>
                <a:ea typeface="+mn-ea"/>
                <a:cs typeface="+mn-cs"/>
              </a:rPr>
              <a:t>Replacing damaged, sub-standard and defective parts – rather than repairing them, or patching leaks/holes.</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extLst>
      <p:ext uri="{BB962C8B-B14F-4D97-AF65-F5344CB8AC3E}">
        <p14:creationId xmlns:p14="http://schemas.microsoft.com/office/powerpoint/2010/main" val="2339201994"/>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presenting possible adjustments: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Attaching missing parts/components</a:t>
            </a:r>
          </a:p>
          <a:p>
            <a:pPr marL="171450" indent="-171450">
              <a:buFont typeface="Arial" pitchFamily="34" charset="0"/>
              <a:buChar char="•"/>
            </a:pPr>
            <a:r>
              <a:rPr lang="en-AU" sz="1200" kern="1200" dirty="0" smtClean="0">
                <a:solidFill>
                  <a:schemeClr val="tx1"/>
                </a:solidFill>
                <a:latin typeface="+mn-lt"/>
                <a:ea typeface="+mn-ea"/>
                <a:cs typeface="+mn-cs"/>
              </a:rPr>
              <a:t>Re-routing the system – to comply with legally imposed requirements</a:t>
            </a:r>
          </a:p>
          <a:p>
            <a:pPr marL="171450" indent="-171450">
              <a:buFont typeface="Arial" pitchFamily="34" charset="0"/>
              <a:buChar char="•"/>
            </a:pPr>
            <a:r>
              <a:rPr lang="en-AU" sz="1200" kern="1200" dirty="0" smtClean="0">
                <a:solidFill>
                  <a:schemeClr val="tx1"/>
                </a:solidFill>
                <a:latin typeface="+mn-lt"/>
                <a:ea typeface="+mn-ea"/>
                <a:cs typeface="+mn-cs"/>
              </a:rPr>
              <a:t>Tuning the vehicle.</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extLst>
      <p:ext uri="{BB962C8B-B14F-4D97-AF65-F5344CB8AC3E}">
        <p14:creationId xmlns:p14="http://schemas.microsoft.com/office/powerpoint/2010/main" val="2383058912"/>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discusses towing connection checks: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There are no cracks or other visible physical damage in any part of the towing attachment </a:t>
            </a:r>
          </a:p>
          <a:p>
            <a:pPr marL="171450" indent="-171450">
              <a:buFont typeface="Arial" pitchFamily="34" charset="0"/>
              <a:buChar char="•"/>
            </a:pPr>
            <a:r>
              <a:rPr lang="en-AU" sz="1200" kern="1200" dirty="0" smtClean="0">
                <a:solidFill>
                  <a:schemeClr val="tx1"/>
                </a:solidFill>
                <a:latin typeface="+mn-lt"/>
                <a:ea typeface="+mn-ea"/>
                <a:cs typeface="+mn-cs"/>
              </a:rPr>
              <a:t>The towing attachment is secure/not loose</a:t>
            </a:r>
          </a:p>
          <a:p>
            <a:pPr marL="171450" indent="-171450">
              <a:buFont typeface="Arial" pitchFamily="34" charset="0"/>
              <a:buChar char="•"/>
            </a:pPr>
            <a:r>
              <a:rPr lang="en-AU" sz="1200" kern="1200" dirty="0" smtClean="0">
                <a:solidFill>
                  <a:schemeClr val="tx1"/>
                </a:solidFill>
                <a:latin typeface="+mn-lt"/>
                <a:ea typeface="+mn-ea"/>
                <a:cs typeface="+mn-cs"/>
              </a:rPr>
              <a:t>Towing bar is fastened securely to the vehicle</a:t>
            </a:r>
          </a:p>
          <a:p>
            <a:pPr marL="171450" indent="-171450">
              <a:buFont typeface="Arial" pitchFamily="34" charset="0"/>
              <a:buChar char="•"/>
            </a:pPr>
            <a:r>
              <a:rPr lang="en-AU" sz="1200" kern="1200" dirty="0" smtClean="0">
                <a:solidFill>
                  <a:schemeClr val="tx1"/>
                </a:solidFill>
                <a:latin typeface="+mn-lt"/>
                <a:ea typeface="+mn-ea"/>
                <a:cs typeface="+mn-cs"/>
              </a:rPr>
              <a:t>No visible corrosion on bolts/any part of the towing connection.</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extLst>
      <p:ext uri="{BB962C8B-B14F-4D97-AF65-F5344CB8AC3E}">
        <p14:creationId xmlns:p14="http://schemas.microsoft.com/office/powerpoint/2010/main" val="2402563942"/>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discussing towing connection checks: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Towing connection is suitable for the weight to be towed – and the vehicle displays (where and as required) an appropriate label to this effect</a:t>
            </a:r>
          </a:p>
          <a:p>
            <a:pPr marL="171450" indent="-171450">
              <a:buFont typeface="Arial" pitchFamily="34" charset="0"/>
              <a:buChar char="•"/>
            </a:pPr>
            <a:r>
              <a:rPr lang="en-AU" sz="1200" kern="1200" dirty="0" smtClean="0">
                <a:solidFill>
                  <a:schemeClr val="tx1"/>
                </a:solidFill>
                <a:latin typeface="+mn-lt"/>
                <a:ea typeface="+mn-ea"/>
                <a:cs typeface="+mn-cs"/>
              </a:rPr>
              <a:t>No temporary repairs or welds (especially where drawbar is marked ‘Do Not Weld’ by the manufacturer) have been made to the connection</a:t>
            </a:r>
          </a:p>
          <a:p>
            <a:pPr marL="171450" indent="-171450">
              <a:buFont typeface="Arial" pitchFamily="34" charset="0"/>
              <a:buChar char="•"/>
            </a:pPr>
            <a:r>
              <a:rPr lang="en-AU" sz="1200" kern="1200" dirty="0" smtClean="0">
                <a:solidFill>
                  <a:schemeClr val="tx1"/>
                </a:solidFill>
                <a:latin typeface="+mn-lt"/>
                <a:ea typeface="+mn-ea"/>
                <a:cs typeface="+mn-cs"/>
              </a:rPr>
              <a:t>Electrical wiring, couplings and connectors are securely fastened and in good condition</a:t>
            </a:r>
          </a:p>
          <a:p>
            <a:pPr marL="171450" indent="-171450">
              <a:buFont typeface="Arial" pitchFamily="34" charset="0"/>
              <a:buChar char="•"/>
            </a:pPr>
            <a:r>
              <a:rPr lang="en-AU" sz="1200" kern="1200" dirty="0" smtClean="0">
                <a:solidFill>
                  <a:schemeClr val="tx1"/>
                </a:solidFill>
                <a:latin typeface="+mn-lt"/>
                <a:ea typeface="+mn-ea"/>
                <a:cs typeface="+mn-cs"/>
              </a:rPr>
              <a:t>An effective secondary locking system for the trailer.</a:t>
            </a:r>
          </a:p>
          <a:p>
            <a:pPr>
              <a:buFont typeface="Arial" pitchFamily="34" charset="0"/>
              <a:buNone/>
            </a:pPr>
            <a:endParaRPr lang="en-AU"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extLst>
      <p:ext uri="{BB962C8B-B14F-4D97-AF65-F5344CB8AC3E}">
        <p14:creationId xmlns:p14="http://schemas.microsoft.com/office/powerpoint/2010/main" val="3129127050"/>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discussing towing connection checks: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Tow-ball assembly is securely attached</a:t>
            </a:r>
          </a:p>
          <a:p>
            <a:pPr marL="171450" indent="-171450">
              <a:buFont typeface="Arial" pitchFamily="34" charset="0"/>
              <a:buChar char="•"/>
            </a:pPr>
            <a:r>
              <a:rPr lang="en-AU" sz="1200" kern="1200" dirty="0" smtClean="0">
                <a:solidFill>
                  <a:schemeClr val="tx1"/>
                </a:solidFill>
                <a:latin typeface="+mn-lt"/>
                <a:ea typeface="+mn-ea"/>
                <a:cs typeface="+mn-cs"/>
              </a:rPr>
              <a:t>Safety chains and/or cables are in good condition – and:</a:t>
            </a:r>
          </a:p>
          <a:p>
            <a:pPr marL="628650" lvl="1" indent="-171450">
              <a:buFont typeface="Arial" pitchFamily="34" charset="0"/>
              <a:buChar char="•"/>
            </a:pPr>
            <a:r>
              <a:rPr lang="en-AU" sz="1200" kern="1200" dirty="0" smtClean="0">
                <a:solidFill>
                  <a:schemeClr val="tx1"/>
                </a:solidFill>
                <a:latin typeface="+mn-lt"/>
                <a:ea typeface="+mn-ea"/>
                <a:cs typeface="+mn-cs"/>
              </a:rPr>
              <a:t>Can be affixed so they cannot be accidentally detached</a:t>
            </a:r>
          </a:p>
          <a:p>
            <a:pPr marL="628650" lvl="1" indent="-171450">
              <a:buFont typeface="Arial" pitchFamily="34" charset="0"/>
              <a:buChar char="•"/>
            </a:pPr>
            <a:r>
              <a:rPr lang="en-AU" sz="1200" kern="1200" dirty="0" smtClean="0">
                <a:solidFill>
                  <a:schemeClr val="tx1"/>
                </a:solidFill>
                <a:latin typeface="+mn-lt"/>
                <a:ea typeface="+mn-ea"/>
                <a:cs typeface="+mn-cs"/>
              </a:rPr>
              <a:t>Are securely attached to the drawbar </a:t>
            </a:r>
          </a:p>
          <a:p>
            <a:pPr marL="171450" indent="-171450">
              <a:buFont typeface="Arial" pitchFamily="34" charset="0"/>
              <a:buChar char="•"/>
            </a:pPr>
            <a:r>
              <a:rPr lang="en-AU" sz="1200" kern="1200" dirty="0" smtClean="0">
                <a:solidFill>
                  <a:schemeClr val="tx1"/>
                </a:solidFill>
                <a:latin typeface="+mn-lt"/>
                <a:ea typeface="+mn-ea"/>
                <a:cs typeface="+mn-cs"/>
              </a:rPr>
              <a:t>Safety chains are rated for the weight to be drawn – and in the required number</a:t>
            </a:r>
          </a:p>
          <a:p>
            <a:pPr marL="171450" indent="-171450">
              <a:buFont typeface="Arial" pitchFamily="34" charset="0"/>
              <a:buChar char="•"/>
            </a:pPr>
            <a:r>
              <a:rPr lang="en-AU" sz="1200" kern="1200" dirty="0" smtClean="0">
                <a:solidFill>
                  <a:schemeClr val="tx1"/>
                </a:solidFill>
                <a:latin typeface="+mn-lt"/>
                <a:ea typeface="+mn-ea"/>
                <a:cs typeface="+mn-cs"/>
              </a:rPr>
              <a:t>All required parts of detachable tow units are in position/present in the assembly</a:t>
            </a:r>
          </a:p>
          <a:p>
            <a:pPr marL="171450" indent="-171450">
              <a:buFont typeface="Arial" pitchFamily="34" charset="0"/>
              <a:buChar char="•"/>
            </a:pPr>
            <a:r>
              <a:rPr lang="en-AU" sz="1200" kern="1200" dirty="0" smtClean="0">
                <a:solidFill>
                  <a:schemeClr val="tx1"/>
                </a:solidFill>
                <a:latin typeface="+mn-lt"/>
                <a:ea typeface="+mn-ea"/>
                <a:cs typeface="+mn-cs"/>
              </a:rPr>
              <a:t>Jockey wheel is in position, firmly attached and fully functional.</a:t>
            </a:r>
          </a:p>
          <a:p>
            <a:pPr>
              <a:buFont typeface="Arial" pitchFamily="34" charset="0"/>
              <a:buNone/>
            </a:pPr>
            <a:endParaRPr lang="en-AU"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extLst>
      <p:ext uri="{BB962C8B-B14F-4D97-AF65-F5344CB8AC3E}">
        <p14:creationId xmlns:p14="http://schemas.microsoft.com/office/powerpoint/2010/main" val="3804396665"/>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presents possible adjustments: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Replacing defective parts – rather than repairing them</a:t>
            </a:r>
          </a:p>
          <a:p>
            <a:pPr marL="171450" indent="-171450">
              <a:buFont typeface="Arial" pitchFamily="34" charset="0"/>
              <a:buChar char="•"/>
            </a:pPr>
            <a:r>
              <a:rPr lang="en-AU" sz="1200" kern="1200" dirty="0" smtClean="0">
                <a:solidFill>
                  <a:schemeClr val="tx1"/>
                </a:solidFill>
                <a:latin typeface="+mn-lt"/>
                <a:ea typeface="+mn-ea"/>
                <a:cs typeface="+mn-cs"/>
              </a:rPr>
              <a:t>Removing un-rated chains and replacing them with chains which are stamped and correctly rated – for the intended towing weight</a:t>
            </a:r>
          </a:p>
          <a:p>
            <a:pPr marL="171450" indent="-171450">
              <a:buFont typeface="Arial" pitchFamily="34" charset="0"/>
              <a:buChar char="•"/>
            </a:pPr>
            <a:r>
              <a:rPr lang="en-AU" sz="1200" kern="1200" dirty="0" smtClean="0">
                <a:solidFill>
                  <a:schemeClr val="tx1"/>
                </a:solidFill>
                <a:latin typeface="+mn-lt"/>
                <a:ea typeface="+mn-ea"/>
                <a:cs typeface="+mn-cs"/>
              </a:rPr>
              <a:t>Cleaning and greasing the jockey wheel.</a:t>
            </a:r>
          </a:p>
          <a:p>
            <a:pPr>
              <a:buFont typeface="Arial" pitchFamily="34" charset="0"/>
              <a:buNone/>
            </a:pPr>
            <a:endParaRPr lang="en-AU"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extLst>
      <p:ext uri="{BB962C8B-B14F-4D97-AF65-F5344CB8AC3E}">
        <p14:creationId xmlns:p14="http://schemas.microsoft.com/office/powerpoint/2010/main" val="752046636"/>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discusses engine and fuel system checks:</a:t>
            </a:r>
          </a:p>
          <a:p>
            <a:pPr marL="171450" indent="-171450">
              <a:buFont typeface="Arial" pitchFamily="34" charset="0"/>
              <a:buChar char="•"/>
            </a:pPr>
            <a:r>
              <a:rPr lang="en-AU" sz="1200" kern="1200" dirty="0" smtClean="0">
                <a:solidFill>
                  <a:schemeClr val="tx1"/>
                </a:solidFill>
                <a:latin typeface="+mn-lt"/>
                <a:ea typeface="+mn-ea"/>
                <a:cs typeface="+mn-cs"/>
              </a:rPr>
              <a:t>Checking condition (colour and viscosity) of the engine oil</a:t>
            </a:r>
          </a:p>
          <a:p>
            <a:pPr marL="171450" indent="-171450">
              <a:buFont typeface="Arial" pitchFamily="34" charset="0"/>
              <a:buChar char="•"/>
            </a:pPr>
            <a:r>
              <a:rPr lang="en-AU" sz="1200" kern="1200" dirty="0" smtClean="0">
                <a:solidFill>
                  <a:schemeClr val="tx1"/>
                </a:solidFill>
                <a:latin typeface="+mn-lt"/>
                <a:ea typeface="+mn-ea"/>
                <a:cs typeface="+mn-cs"/>
              </a:rPr>
              <a:t>Checking date/odometer reading for timing for draining and replacing engine oil</a:t>
            </a:r>
          </a:p>
          <a:p>
            <a:pPr marL="171450" indent="-171450">
              <a:buFont typeface="Arial" pitchFamily="34" charset="0"/>
              <a:buChar char="•"/>
            </a:pPr>
            <a:r>
              <a:rPr lang="en-AU" sz="1200" kern="1200" dirty="0" smtClean="0">
                <a:solidFill>
                  <a:schemeClr val="tx1"/>
                </a:solidFill>
                <a:latin typeface="+mn-lt"/>
                <a:ea typeface="+mn-ea"/>
                <a:cs typeface="+mn-cs"/>
              </a:rPr>
              <a:t>Checking level of oil in the engine</a:t>
            </a:r>
          </a:p>
          <a:p>
            <a:pPr marL="171450" indent="-171450">
              <a:buFont typeface="Arial" pitchFamily="34" charset="0"/>
              <a:buChar char="•"/>
            </a:pPr>
            <a:r>
              <a:rPr lang="en-AU" sz="1200" kern="1200" dirty="0" smtClean="0">
                <a:solidFill>
                  <a:schemeClr val="tx1"/>
                </a:solidFill>
                <a:latin typeface="+mn-lt"/>
                <a:ea typeface="+mn-ea"/>
                <a:cs typeface="+mn-cs"/>
              </a:rPr>
              <a:t>Checking the oil pump.</a:t>
            </a:r>
          </a:p>
          <a:p>
            <a:pPr>
              <a:buFont typeface="Arial" pitchFamily="34" charset="0"/>
              <a:buNone/>
            </a:pPr>
            <a:endParaRPr lang="en-US" sz="1200" kern="1200" noProof="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extLst>
      <p:ext uri="{BB962C8B-B14F-4D97-AF65-F5344CB8AC3E}">
        <p14:creationId xmlns:p14="http://schemas.microsoft.com/office/powerpoint/2010/main" val="3902254169"/>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discussing engine and fuel system checks:</a:t>
            </a:r>
          </a:p>
          <a:p>
            <a:pPr marL="171450" indent="-171450">
              <a:buFont typeface="Arial" pitchFamily="34" charset="0"/>
              <a:buChar char="•"/>
            </a:pPr>
            <a:r>
              <a:rPr lang="en-AU" sz="1200" kern="1200" dirty="0" smtClean="0">
                <a:solidFill>
                  <a:schemeClr val="tx1"/>
                </a:solidFill>
                <a:latin typeface="+mn-lt"/>
                <a:ea typeface="+mn-ea"/>
                <a:cs typeface="+mn-cs"/>
              </a:rPr>
              <a:t>Checking the fuel pump</a:t>
            </a:r>
          </a:p>
          <a:p>
            <a:pPr marL="171450" indent="-171450">
              <a:buFont typeface="Arial" pitchFamily="34" charset="0"/>
              <a:buChar char="•"/>
            </a:pPr>
            <a:r>
              <a:rPr lang="en-AU" sz="1200" kern="1200" dirty="0" smtClean="0">
                <a:solidFill>
                  <a:schemeClr val="tx1"/>
                </a:solidFill>
                <a:latin typeface="+mn-lt"/>
                <a:ea typeface="+mn-ea"/>
                <a:cs typeface="+mn-cs"/>
              </a:rPr>
              <a:t>Checking for leaks/evidence of leaks</a:t>
            </a:r>
          </a:p>
          <a:p>
            <a:pPr marL="171450" indent="-171450">
              <a:buFont typeface="Arial" pitchFamily="34" charset="0"/>
              <a:buChar char="•"/>
            </a:pPr>
            <a:r>
              <a:rPr lang="en-AU" sz="1200" kern="1200" dirty="0" smtClean="0">
                <a:solidFill>
                  <a:schemeClr val="tx1"/>
                </a:solidFill>
                <a:latin typeface="+mn-lt"/>
                <a:ea typeface="+mn-ea"/>
                <a:cs typeface="+mn-cs"/>
              </a:rPr>
              <a:t>Checking condition of oil filters</a:t>
            </a:r>
          </a:p>
          <a:p>
            <a:pPr marL="171450" indent="-171450">
              <a:buFont typeface="Arial" pitchFamily="34" charset="0"/>
              <a:buChar char="•"/>
            </a:pPr>
            <a:r>
              <a:rPr lang="en-AU" sz="1200" kern="1200" dirty="0" smtClean="0">
                <a:solidFill>
                  <a:schemeClr val="tx1"/>
                </a:solidFill>
                <a:latin typeface="+mn-lt"/>
                <a:ea typeface="+mn-ea"/>
                <a:cs typeface="+mn-cs"/>
              </a:rPr>
              <a:t>Checking overhead valves/clearances.</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extLst>
      <p:ext uri="{BB962C8B-B14F-4D97-AF65-F5344CB8AC3E}">
        <p14:creationId xmlns:p14="http://schemas.microsoft.com/office/powerpoint/2010/main" val="1628022745"/>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discussing engine and fuel system checks:</a:t>
            </a:r>
          </a:p>
          <a:p>
            <a:pPr marL="171450" indent="-171450">
              <a:buFont typeface="Arial" pitchFamily="34" charset="0"/>
              <a:buChar char="•"/>
            </a:pPr>
            <a:r>
              <a:rPr lang="en-AU" sz="1200" kern="1200" dirty="0" smtClean="0">
                <a:solidFill>
                  <a:schemeClr val="tx1"/>
                </a:solidFill>
                <a:latin typeface="+mn-lt"/>
                <a:ea typeface="+mn-ea"/>
                <a:cs typeface="+mn-cs"/>
              </a:rPr>
              <a:t>Checking condition of air filters</a:t>
            </a:r>
          </a:p>
          <a:p>
            <a:pPr marL="171450" indent="-171450">
              <a:buFont typeface="Arial" pitchFamily="34" charset="0"/>
              <a:buChar char="•"/>
            </a:pPr>
            <a:r>
              <a:rPr lang="en-AU" sz="1200" kern="1200" dirty="0" smtClean="0">
                <a:solidFill>
                  <a:schemeClr val="tx1"/>
                </a:solidFill>
                <a:latin typeface="+mn-lt"/>
                <a:ea typeface="+mn-ea"/>
                <a:cs typeface="+mn-cs"/>
              </a:rPr>
              <a:t>Checking carburettor/s</a:t>
            </a:r>
          </a:p>
          <a:p>
            <a:pPr marL="171450" indent="-171450">
              <a:buFont typeface="Arial" pitchFamily="34" charset="0"/>
              <a:buChar char="•"/>
            </a:pPr>
            <a:r>
              <a:rPr lang="en-AU" sz="1200" kern="1200" dirty="0" smtClean="0">
                <a:solidFill>
                  <a:schemeClr val="tx1"/>
                </a:solidFill>
                <a:latin typeface="+mn-lt"/>
                <a:ea typeface="+mn-ea"/>
                <a:cs typeface="+mn-cs"/>
              </a:rPr>
              <a:t>Checking the points</a:t>
            </a:r>
          </a:p>
          <a:p>
            <a:pPr marL="171450" indent="-171450">
              <a:buFont typeface="Arial" pitchFamily="34" charset="0"/>
              <a:buChar char="•"/>
            </a:pPr>
            <a:r>
              <a:rPr lang="en-AU" sz="1200" kern="1200" dirty="0" smtClean="0">
                <a:solidFill>
                  <a:schemeClr val="tx1"/>
                </a:solidFill>
                <a:latin typeface="+mn-lt"/>
                <a:ea typeface="+mn-ea"/>
                <a:cs typeface="+mn-cs"/>
              </a:rPr>
              <a:t>Checking condition of the distributor and its operation.</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extLst>
      <p:ext uri="{BB962C8B-B14F-4D97-AF65-F5344CB8AC3E}">
        <p14:creationId xmlns:p14="http://schemas.microsoft.com/office/powerpoint/2010/main" val="303345850"/>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discussing engine and fuel system checks:</a:t>
            </a:r>
          </a:p>
          <a:p>
            <a:pPr marL="171450" indent="-171450">
              <a:buFont typeface="Arial" pitchFamily="34" charset="0"/>
              <a:buChar char="•"/>
            </a:pPr>
            <a:r>
              <a:rPr lang="en-AU" sz="1200" kern="1200" dirty="0" smtClean="0">
                <a:solidFill>
                  <a:schemeClr val="tx1"/>
                </a:solidFill>
                <a:latin typeface="+mn-lt"/>
                <a:ea typeface="+mn-ea"/>
                <a:cs typeface="+mn-cs"/>
              </a:rPr>
              <a:t>Checking spark plugs, gaps and distributor leads</a:t>
            </a:r>
          </a:p>
          <a:p>
            <a:pPr marL="171450" indent="-171450">
              <a:buFont typeface="Arial" pitchFamily="34" charset="0"/>
              <a:buChar char="•"/>
            </a:pPr>
            <a:r>
              <a:rPr lang="en-AU" sz="1200" kern="1200" dirty="0" smtClean="0">
                <a:solidFill>
                  <a:schemeClr val="tx1"/>
                </a:solidFill>
                <a:latin typeface="+mn-lt"/>
                <a:ea typeface="+mn-ea"/>
                <a:cs typeface="+mn-cs"/>
              </a:rPr>
              <a:t>Checking idle speed of the motor</a:t>
            </a:r>
          </a:p>
          <a:p>
            <a:pPr marL="171450" indent="-171450">
              <a:buFont typeface="Arial" pitchFamily="34" charset="0"/>
              <a:buChar char="•"/>
            </a:pPr>
            <a:r>
              <a:rPr lang="en-AU" sz="1200" kern="1200" dirty="0" smtClean="0">
                <a:solidFill>
                  <a:schemeClr val="tx1"/>
                </a:solidFill>
                <a:latin typeface="+mn-lt"/>
                <a:ea typeface="+mn-ea"/>
                <a:cs typeface="+mn-cs"/>
              </a:rPr>
              <a:t>Ensuring required grade of oil is being used according to manufacturer recommendations (who usually provide a chart for determining the grade of oil to use under different conditions) and intended use of the vehicle:</a:t>
            </a:r>
          </a:p>
          <a:p>
            <a:pPr marL="628650" lvl="1" indent="-171450">
              <a:buFont typeface="Arial" pitchFamily="34" charset="0"/>
              <a:buChar char="•"/>
            </a:pPr>
            <a:r>
              <a:rPr lang="en-AU" sz="1200" kern="1200" dirty="0" smtClean="0">
                <a:solidFill>
                  <a:schemeClr val="tx1"/>
                </a:solidFill>
                <a:latin typeface="+mn-lt"/>
                <a:ea typeface="+mn-ea"/>
                <a:cs typeface="+mn-cs"/>
              </a:rPr>
              <a:t>SAE 10 is thin</a:t>
            </a:r>
          </a:p>
          <a:p>
            <a:pPr marL="628650" lvl="1" indent="-171450">
              <a:buFont typeface="Arial" pitchFamily="34" charset="0"/>
              <a:buChar char="•"/>
            </a:pPr>
            <a:r>
              <a:rPr lang="en-AU" sz="1200" kern="1200" smtClean="0">
                <a:solidFill>
                  <a:schemeClr val="tx1"/>
                </a:solidFill>
                <a:latin typeface="+mn-lt"/>
                <a:ea typeface="+mn-ea"/>
                <a:cs typeface="+mn-cs"/>
              </a:rPr>
              <a:t>SAE 50 is </a:t>
            </a:r>
            <a:r>
              <a:rPr lang="en-AU" sz="1200" kern="1200" dirty="0" smtClean="0">
                <a:solidFill>
                  <a:schemeClr val="tx1"/>
                </a:solidFill>
                <a:latin typeface="+mn-lt"/>
                <a:ea typeface="+mn-ea"/>
                <a:cs typeface="+mn-cs"/>
              </a:rPr>
              <a:t>thick</a:t>
            </a:r>
          </a:p>
          <a:p>
            <a:pPr marL="628650" lvl="1" indent="-171450">
              <a:buFont typeface="Arial" pitchFamily="34" charset="0"/>
              <a:buChar char="•"/>
            </a:pPr>
            <a:r>
              <a:rPr lang="en-AU" sz="1200" kern="1200" dirty="0" smtClean="0">
                <a:solidFill>
                  <a:schemeClr val="tx1"/>
                </a:solidFill>
                <a:latin typeface="+mn-lt"/>
                <a:ea typeface="+mn-ea"/>
                <a:cs typeface="+mn-cs"/>
              </a:rPr>
              <a:t>Some are blended/multi-grade: such as 20W/50</a:t>
            </a:r>
          </a:p>
          <a:p>
            <a:pPr marL="171450" indent="-171450">
              <a:buFont typeface="Arial" pitchFamily="34" charset="0"/>
              <a:buChar char="•"/>
            </a:pPr>
            <a:r>
              <a:rPr lang="en-AU" sz="1200" kern="1200" dirty="0" smtClean="0">
                <a:solidFill>
                  <a:schemeClr val="tx1"/>
                </a:solidFill>
                <a:latin typeface="+mn-lt"/>
                <a:ea typeface="+mn-ea"/>
                <a:cs typeface="+mn-cs"/>
              </a:rPr>
              <a:t>Checking fuel lines/fuel delivery pipes and clips and connections.</a:t>
            </a:r>
          </a:p>
          <a:p>
            <a:pPr>
              <a:buFont typeface="Arial" pitchFamily="34" charset="0"/>
              <a:buNone/>
            </a:pPr>
            <a:endParaRPr lang="en-US" noProof="0" dirty="0" smtClean="0"/>
          </a:p>
          <a:p>
            <a:pPr>
              <a:buFont typeface="Arial" pitchFamily="34" charset="0"/>
              <a:buNone/>
            </a:pPr>
            <a:r>
              <a:rPr lang="en-US" b="1" noProof="0" dirty="0" smtClean="0"/>
              <a:t>Classroom Activity (1)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smtClean="0"/>
          </a:p>
          <a:p>
            <a:pPr>
              <a:buFont typeface="Arial" pitchFamily="34" charset="0"/>
              <a:buNone/>
            </a:pPr>
            <a:r>
              <a:rPr lang="en-US" b="1" noProof="0" dirty="0" smtClean="0"/>
              <a:t>Classroom Activity (2) – internet Research</a:t>
            </a:r>
          </a:p>
          <a:p>
            <a:pPr>
              <a:buFont typeface="Arial" pitchFamily="34" charset="0"/>
              <a:buNone/>
            </a:pPr>
            <a:r>
              <a:rPr lang="en-US" b="0" noProof="0" dirty="0" smtClean="0"/>
              <a:t>Trainer facilitates research and discussion of:</a:t>
            </a:r>
          </a:p>
          <a:p>
            <a:pPr>
              <a:buFont typeface="Arial" pitchFamily="34" charset="0"/>
              <a:buNone/>
            </a:pPr>
            <a:r>
              <a:rPr lang="en-AU" sz="1200" u="sng" kern="1200" dirty="0" smtClean="0">
                <a:solidFill>
                  <a:schemeClr val="tx1"/>
                </a:solidFill>
                <a:latin typeface="+mn-lt"/>
                <a:ea typeface="+mn-ea"/>
                <a:cs typeface="+mn-cs"/>
                <a:hlinkClick r:id="rId3"/>
              </a:rPr>
              <a:t>http://www.nairaland.com/1054692/knowledge-101-which-engine-oil</a:t>
            </a:r>
            <a:r>
              <a:rPr lang="en-AU" sz="1200" kern="1200" dirty="0" smtClean="0">
                <a:solidFill>
                  <a:schemeClr val="tx1"/>
                </a:solidFill>
                <a:latin typeface="+mn-lt"/>
                <a:ea typeface="+mn-ea"/>
                <a:cs typeface="+mn-cs"/>
              </a:rPr>
              <a: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extLst>
      <p:ext uri="{BB962C8B-B14F-4D97-AF65-F5344CB8AC3E}">
        <p14:creationId xmlns:p14="http://schemas.microsoft.com/office/powerpoint/2010/main" val="1720468967"/>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presents possible adjustments:</a:t>
            </a:r>
          </a:p>
          <a:p>
            <a:pPr marL="171450" indent="-171450">
              <a:buFont typeface="Arial" pitchFamily="34" charset="0"/>
              <a:buChar char="•"/>
            </a:pPr>
            <a:r>
              <a:rPr lang="en-AU" sz="1200" kern="1200" dirty="0" smtClean="0">
                <a:solidFill>
                  <a:schemeClr val="tx1"/>
                </a:solidFill>
                <a:latin typeface="+mn-lt"/>
                <a:ea typeface="+mn-ea"/>
                <a:cs typeface="+mn-cs"/>
              </a:rPr>
              <a:t>Taking action to stop/prevent leaks</a:t>
            </a:r>
          </a:p>
          <a:p>
            <a:pPr marL="171450" indent="-171450">
              <a:buFont typeface="Arial" pitchFamily="34" charset="0"/>
              <a:buChar char="•"/>
            </a:pPr>
            <a:r>
              <a:rPr lang="en-AU" sz="1200" kern="1200" dirty="0" smtClean="0">
                <a:solidFill>
                  <a:schemeClr val="tx1"/>
                </a:solidFill>
                <a:latin typeface="+mn-lt"/>
                <a:ea typeface="+mn-ea"/>
                <a:cs typeface="+mn-cs"/>
              </a:rPr>
              <a:t>Replacing gaskets and oil seals</a:t>
            </a:r>
          </a:p>
          <a:p>
            <a:pPr marL="171450" indent="-171450">
              <a:buFont typeface="Arial" pitchFamily="34" charset="0"/>
              <a:buChar char="•"/>
            </a:pPr>
            <a:r>
              <a:rPr lang="en-AU" sz="1200" kern="1200" dirty="0" smtClean="0">
                <a:solidFill>
                  <a:schemeClr val="tx1"/>
                </a:solidFill>
                <a:latin typeface="+mn-lt"/>
                <a:ea typeface="+mn-ea"/>
                <a:cs typeface="+mn-cs"/>
              </a:rPr>
              <a:t>Topping up engine oil</a:t>
            </a:r>
          </a:p>
          <a:p>
            <a:pPr marL="171450" indent="-171450">
              <a:buFont typeface="Arial" pitchFamily="34" charset="0"/>
              <a:buChar char="•"/>
            </a:pPr>
            <a:r>
              <a:rPr lang="en-AU" sz="1200" kern="1200" dirty="0" smtClean="0">
                <a:solidFill>
                  <a:schemeClr val="tx1"/>
                </a:solidFill>
                <a:latin typeface="+mn-lt"/>
                <a:ea typeface="+mn-ea"/>
                <a:cs typeface="+mn-cs"/>
              </a:rPr>
              <a:t>Changing engine oil.</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extLst>
      <p:ext uri="{BB962C8B-B14F-4D97-AF65-F5344CB8AC3E}">
        <p14:creationId xmlns:p14="http://schemas.microsoft.com/office/powerpoint/2010/main" val="3552359999"/>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presenting possible adjustments:</a:t>
            </a:r>
          </a:p>
          <a:p>
            <a:pPr marL="171450" indent="-171450">
              <a:buFont typeface="Arial" pitchFamily="34" charset="0"/>
              <a:buChar char="•"/>
            </a:pPr>
            <a:r>
              <a:rPr lang="en-AU" sz="1200" kern="1200" dirty="0" smtClean="0">
                <a:solidFill>
                  <a:schemeClr val="tx1"/>
                </a:solidFill>
                <a:latin typeface="+mn-lt"/>
                <a:ea typeface="+mn-ea"/>
                <a:cs typeface="+mn-cs"/>
              </a:rPr>
              <a:t>Changing oil and/or fuel filters</a:t>
            </a:r>
          </a:p>
          <a:p>
            <a:pPr marL="171450" indent="-171450">
              <a:buFont typeface="Arial" pitchFamily="34" charset="0"/>
              <a:buChar char="•"/>
            </a:pPr>
            <a:r>
              <a:rPr lang="en-AU" sz="1200" kern="1200" dirty="0" smtClean="0">
                <a:solidFill>
                  <a:schemeClr val="tx1"/>
                </a:solidFill>
                <a:latin typeface="+mn-lt"/>
                <a:ea typeface="+mn-ea"/>
                <a:cs typeface="+mn-cs"/>
              </a:rPr>
              <a:t>Replacing oil and/or fuel pumps</a:t>
            </a:r>
          </a:p>
          <a:p>
            <a:pPr marL="171450" indent="-171450">
              <a:buFont typeface="Arial" pitchFamily="34" charset="0"/>
              <a:buChar char="•"/>
            </a:pPr>
            <a:r>
              <a:rPr lang="en-AU" sz="1200" kern="1200" dirty="0" smtClean="0">
                <a:solidFill>
                  <a:schemeClr val="tx1"/>
                </a:solidFill>
                <a:latin typeface="+mn-lt"/>
                <a:ea typeface="+mn-ea"/>
                <a:cs typeface="+mn-cs"/>
              </a:rPr>
              <a:t>Cleaning or replacing air filters</a:t>
            </a:r>
          </a:p>
          <a:p>
            <a:pPr marL="171450" indent="-171450">
              <a:buFont typeface="Arial" pitchFamily="34" charset="0"/>
              <a:buChar char="•"/>
            </a:pPr>
            <a:r>
              <a:rPr lang="en-AU" sz="1200" kern="1200" dirty="0" smtClean="0">
                <a:solidFill>
                  <a:schemeClr val="tx1"/>
                </a:solidFill>
                <a:latin typeface="+mn-lt"/>
                <a:ea typeface="+mn-ea"/>
                <a:cs typeface="+mn-cs"/>
              </a:rPr>
              <a:t>Replacing points.</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extLst>
      <p:ext uri="{BB962C8B-B14F-4D97-AF65-F5344CB8AC3E}">
        <p14:creationId xmlns:p14="http://schemas.microsoft.com/office/powerpoint/2010/main" val="2016722489"/>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presenting possible adjustments:</a:t>
            </a:r>
          </a:p>
          <a:p>
            <a:pPr marL="171450" indent="-171450">
              <a:buFont typeface="Arial" pitchFamily="34" charset="0"/>
              <a:buChar char="•"/>
            </a:pPr>
            <a:r>
              <a:rPr lang="en-AU" sz="1200" kern="1200" dirty="0" smtClean="0">
                <a:solidFill>
                  <a:schemeClr val="tx1"/>
                </a:solidFill>
                <a:latin typeface="+mn-lt"/>
                <a:ea typeface="+mn-ea"/>
                <a:cs typeface="+mn-cs"/>
              </a:rPr>
              <a:t>Cleaning, adjusting and/or fitting kits to carburettors</a:t>
            </a:r>
          </a:p>
          <a:p>
            <a:pPr marL="171450" indent="-171450">
              <a:buFont typeface="Arial" pitchFamily="34" charset="0"/>
              <a:buChar char="•"/>
            </a:pPr>
            <a:r>
              <a:rPr lang="en-AU" sz="1200" kern="1200" dirty="0" smtClean="0">
                <a:solidFill>
                  <a:schemeClr val="tx1"/>
                </a:solidFill>
                <a:latin typeface="+mn-lt"/>
                <a:ea typeface="+mn-ea"/>
                <a:cs typeface="+mn-cs"/>
              </a:rPr>
              <a:t>Replacing exhaust manifold gaskets</a:t>
            </a:r>
          </a:p>
          <a:p>
            <a:pPr marL="171450" indent="-171450">
              <a:buFont typeface="Arial" pitchFamily="34" charset="0"/>
              <a:buChar char="•"/>
            </a:pPr>
            <a:r>
              <a:rPr lang="en-AU" sz="1200" kern="1200" dirty="0" smtClean="0">
                <a:solidFill>
                  <a:schemeClr val="tx1"/>
                </a:solidFill>
                <a:latin typeface="+mn-lt"/>
                <a:ea typeface="+mn-ea"/>
                <a:cs typeface="+mn-cs"/>
              </a:rPr>
              <a:t>Adjusting the tappets/re-set clearances</a:t>
            </a:r>
          </a:p>
          <a:p>
            <a:pPr marL="171450" indent="-171450">
              <a:buFont typeface="Arial" pitchFamily="34" charset="0"/>
              <a:buChar char="•"/>
            </a:pPr>
            <a:r>
              <a:rPr lang="en-AU" sz="1200" kern="1200" dirty="0" smtClean="0">
                <a:solidFill>
                  <a:schemeClr val="tx1"/>
                </a:solidFill>
                <a:latin typeface="+mn-lt"/>
                <a:ea typeface="+mn-ea"/>
                <a:cs typeface="+mn-cs"/>
              </a:rPr>
              <a:t>Adjusting camshaft timing belt.</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extLst>
      <p:ext uri="{BB962C8B-B14F-4D97-AF65-F5344CB8AC3E}">
        <p14:creationId xmlns:p14="http://schemas.microsoft.com/office/powerpoint/2010/main" val="383666655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presenting possible adjustments:</a:t>
            </a:r>
          </a:p>
          <a:p>
            <a:pPr marL="171450" indent="-171450">
              <a:buFont typeface="Arial" pitchFamily="34" charset="0"/>
              <a:buChar char="•"/>
            </a:pPr>
            <a:r>
              <a:rPr lang="en-AU" sz="1200" kern="1200" dirty="0" smtClean="0">
                <a:solidFill>
                  <a:schemeClr val="tx1"/>
                </a:solidFill>
                <a:latin typeface="+mn-lt"/>
                <a:ea typeface="+mn-ea"/>
                <a:cs typeface="+mn-cs"/>
              </a:rPr>
              <a:t>Replacing suspect/damaged hoses</a:t>
            </a:r>
          </a:p>
          <a:p>
            <a:pPr marL="171450" indent="-171450">
              <a:buFont typeface="Arial" pitchFamily="34" charset="0"/>
              <a:buChar char="•"/>
            </a:pPr>
            <a:r>
              <a:rPr lang="en-AU" sz="1200" kern="1200" dirty="0" smtClean="0">
                <a:solidFill>
                  <a:schemeClr val="tx1"/>
                </a:solidFill>
                <a:latin typeface="+mn-lt"/>
                <a:ea typeface="+mn-ea"/>
                <a:cs typeface="+mn-cs"/>
              </a:rPr>
              <a:t>Replacing plugs, cleaning plugs and/or adjusting gaps</a:t>
            </a:r>
          </a:p>
          <a:p>
            <a:pPr marL="171450" indent="-171450">
              <a:buFont typeface="Arial" pitchFamily="34" charset="0"/>
              <a:buChar char="•"/>
            </a:pPr>
            <a:r>
              <a:rPr lang="en-AU" sz="1200" kern="1200" dirty="0" smtClean="0">
                <a:solidFill>
                  <a:schemeClr val="tx1"/>
                </a:solidFill>
                <a:latin typeface="+mn-lt"/>
                <a:ea typeface="+mn-ea"/>
                <a:cs typeface="+mn-cs"/>
              </a:rPr>
              <a:t>Adjusting the ignition timing.</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extLst>
      <p:ext uri="{BB962C8B-B14F-4D97-AF65-F5344CB8AC3E}">
        <p14:creationId xmlns:p14="http://schemas.microsoft.com/office/powerpoint/2010/main" val="241435206"/>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presenting possible adjustments:</a:t>
            </a:r>
          </a:p>
          <a:p>
            <a:pPr marL="171450" indent="-171450">
              <a:buFont typeface="Arial" pitchFamily="34" charset="0"/>
              <a:buChar char="•"/>
            </a:pPr>
            <a:r>
              <a:rPr lang="en-AU" sz="1200" kern="1200" dirty="0" smtClean="0">
                <a:solidFill>
                  <a:schemeClr val="tx1"/>
                </a:solidFill>
                <a:latin typeface="+mn-lt"/>
                <a:ea typeface="+mn-ea"/>
                <a:cs typeface="+mn-cs"/>
              </a:rPr>
              <a:t>Changing fuel mix</a:t>
            </a:r>
          </a:p>
          <a:p>
            <a:pPr marL="171450" indent="-171450">
              <a:buFont typeface="Arial" pitchFamily="34" charset="0"/>
              <a:buChar char="•"/>
            </a:pPr>
            <a:r>
              <a:rPr lang="en-AU" sz="1200" kern="1200" dirty="0" smtClean="0">
                <a:solidFill>
                  <a:schemeClr val="tx1"/>
                </a:solidFill>
                <a:latin typeface="+mn-lt"/>
                <a:ea typeface="+mn-ea"/>
                <a:cs typeface="+mn-cs"/>
              </a:rPr>
              <a:t>Replacing distributor cap and rotor</a:t>
            </a:r>
          </a:p>
          <a:p>
            <a:pPr marL="171450" indent="-171450">
              <a:buFont typeface="Arial" pitchFamily="34" charset="0"/>
              <a:buChar char="•"/>
            </a:pPr>
            <a:r>
              <a:rPr lang="en-AU" sz="1200" kern="1200" dirty="0" smtClean="0">
                <a:solidFill>
                  <a:schemeClr val="tx1"/>
                </a:solidFill>
                <a:latin typeface="+mn-lt"/>
                <a:ea typeface="+mn-ea"/>
                <a:cs typeface="+mn-cs"/>
              </a:rPr>
              <a:t>Tuning the motor</a:t>
            </a:r>
          </a:p>
          <a:p>
            <a:pPr marL="171450" indent="-171450">
              <a:buFont typeface="Arial" pitchFamily="34" charset="0"/>
              <a:buChar char="•"/>
            </a:pPr>
            <a:r>
              <a:rPr lang="en-AU" sz="1200" kern="1200" dirty="0" smtClean="0">
                <a:solidFill>
                  <a:schemeClr val="tx1"/>
                </a:solidFill>
                <a:latin typeface="+mn-lt"/>
                <a:ea typeface="+mn-ea"/>
                <a:cs typeface="+mn-cs"/>
              </a:rPr>
              <a:t>Replacing fuel lines, clips and connections.</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extLst>
      <p:ext uri="{BB962C8B-B14F-4D97-AF65-F5344CB8AC3E}">
        <p14:creationId xmlns:p14="http://schemas.microsoft.com/office/powerpoint/2010/main" val="1981596157"/>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discusses transmission</a:t>
            </a:r>
            <a:r>
              <a:rPr lang="en-US" baseline="0" noProof="0" dirty="0" smtClean="0"/>
              <a:t> checks:</a:t>
            </a:r>
          </a:p>
          <a:p>
            <a:pPr marL="171450" indent="-171450">
              <a:buFont typeface="Arial" pitchFamily="34" charset="0"/>
              <a:buChar char="•"/>
            </a:pPr>
            <a:r>
              <a:rPr lang="en-AU" sz="1200" kern="1200" dirty="0" smtClean="0">
                <a:solidFill>
                  <a:schemeClr val="tx1"/>
                </a:solidFill>
                <a:latin typeface="+mn-lt"/>
                <a:ea typeface="+mn-ea"/>
                <a:cs typeface="+mn-cs"/>
              </a:rPr>
              <a:t>Checking gearbox oil level</a:t>
            </a:r>
          </a:p>
          <a:p>
            <a:pPr marL="171450" indent="-171450">
              <a:buFont typeface="Arial" pitchFamily="34" charset="0"/>
              <a:buChar char="•"/>
            </a:pPr>
            <a:r>
              <a:rPr lang="en-AU" sz="1200" kern="1200" dirty="0" smtClean="0">
                <a:solidFill>
                  <a:schemeClr val="tx1"/>
                </a:solidFill>
                <a:latin typeface="+mn-lt"/>
                <a:ea typeface="+mn-ea"/>
                <a:cs typeface="+mn-cs"/>
              </a:rPr>
              <a:t>Checking axle oil</a:t>
            </a:r>
          </a:p>
          <a:p>
            <a:pPr marL="171450" indent="-171450">
              <a:buFont typeface="Arial" pitchFamily="34" charset="0"/>
              <a:buChar char="•"/>
            </a:pPr>
            <a:r>
              <a:rPr lang="en-AU" sz="1200" kern="1200" dirty="0" smtClean="0">
                <a:solidFill>
                  <a:schemeClr val="tx1"/>
                </a:solidFill>
                <a:latin typeface="+mn-lt"/>
                <a:ea typeface="+mn-ea"/>
                <a:cs typeface="+mn-cs"/>
              </a:rPr>
              <a:t>Looking for leaks.</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extLst>
      <p:ext uri="{BB962C8B-B14F-4D97-AF65-F5344CB8AC3E}">
        <p14:creationId xmlns:p14="http://schemas.microsoft.com/office/powerpoint/2010/main" val="3504369877"/>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discussing transmission</a:t>
            </a:r>
            <a:r>
              <a:rPr lang="en-US" baseline="0" noProof="0" dirty="0" smtClean="0"/>
              <a:t> checks:</a:t>
            </a:r>
          </a:p>
          <a:p>
            <a:pPr marL="171450" indent="-171450">
              <a:buFont typeface="Arial" pitchFamily="34" charset="0"/>
              <a:buChar char="•"/>
            </a:pPr>
            <a:r>
              <a:rPr lang="en-AU" sz="1200" kern="1200" dirty="0" smtClean="0">
                <a:solidFill>
                  <a:schemeClr val="tx1"/>
                </a:solidFill>
                <a:latin typeface="+mn-lt"/>
                <a:ea typeface="+mn-ea"/>
                <a:cs typeface="+mn-cs"/>
              </a:rPr>
              <a:t>Checking automatic transmission fluid level and colour</a:t>
            </a:r>
          </a:p>
          <a:p>
            <a:pPr marL="171450" indent="-171450">
              <a:buFont typeface="Arial" pitchFamily="34" charset="0"/>
              <a:buChar char="•"/>
            </a:pPr>
            <a:r>
              <a:rPr lang="en-AU" sz="1200" kern="1200" dirty="0" smtClean="0">
                <a:solidFill>
                  <a:schemeClr val="tx1"/>
                </a:solidFill>
                <a:latin typeface="+mn-lt"/>
                <a:ea typeface="+mn-ea"/>
                <a:cs typeface="+mn-cs"/>
              </a:rPr>
              <a:t>Testing automatic transmission inhibitor switch</a:t>
            </a:r>
          </a:p>
          <a:p>
            <a:pPr marL="171450" indent="-171450">
              <a:buFont typeface="Arial" pitchFamily="34" charset="0"/>
              <a:buChar char="•"/>
            </a:pPr>
            <a:r>
              <a:rPr lang="en-AU" sz="1200" kern="1200" dirty="0" smtClean="0">
                <a:solidFill>
                  <a:schemeClr val="tx1"/>
                </a:solidFill>
                <a:latin typeface="+mn-lt"/>
                <a:ea typeface="+mn-ea"/>
                <a:cs typeface="+mn-cs"/>
              </a:rPr>
              <a:t>Checking clutch cable and linkages.</a:t>
            </a:r>
          </a:p>
          <a:p>
            <a:pPr>
              <a:buFont typeface="Arial" pitchFamily="34" charset="0"/>
              <a:buNone/>
            </a:pPr>
            <a:endParaRPr lang="en-US" baseline="0"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extLst>
      <p:ext uri="{BB962C8B-B14F-4D97-AF65-F5344CB8AC3E}">
        <p14:creationId xmlns:p14="http://schemas.microsoft.com/office/powerpoint/2010/main" val="1875184822"/>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presents adjustments to transmissions:</a:t>
            </a:r>
          </a:p>
          <a:p>
            <a:pPr marL="171450" indent="-171450">
              <a:buFont typeface="Arial" pitchFamily="34" charset="0"/>
              <a:buChar char="•"/>
            </a:pPr>
            <a:r>
              <a:rPr lang="en-AU" sz="1200" kern="1200" dirty="0" smtClean="0">
                <a:solidFill>
                  <a:schemeClr val="tx1"/>
                </a:solidFill>
                <a:latin typeface="+mn-lt"/>
                <a:ea typeface="+mn-ea"/>
                <a:cs typeface="+mn-cs"/>
              </a:rPr>
              <a:t>Taking action to stop/prevent leaks</a:t>
            </a:r>
          </a:p>
          <a:p>
            <a:pPr marL="171450" indent="-171450">
              <a:buFont typeface="Arial" pitchFamily="34" charset="0"/>
              <a:buChar char="•"/>
            </a:pPr>
            <a:r>
              <a:rPr lang="en-AU" sz="1200" kern="1200" dirty="0" smtClean="0">
                <a:solidFill>
                  <a:schemeClr val="tx1"/>
                </a:solidFill>
                <a:latin typeface="+mn-lt"/>
                <a:ea typeface="+mn-ea"/>
                <a:cs typeface="+mn-cs"/>
              </a:rPr>
              <a:t>Draining and re-filling gearbox</a:t>
            </a:r>
          </a:p>
          <a:p>
            <a:pPr marL="171450" indent="-171450">
              <a:buFont typeface="Arial" pitchFamily="34" charset="0"/>
              <a:buChar char="•"/>
            </a:pPr>
            <a:r>
              <a:rPr lang="en-AU" sz="1200" kern="1200" dirty="0" smtClean="0">
                <a:solidFill>
                  <a:schemeClr val="tx1"/>
                </a:solidFill>
                <a:latin typeface="+mn-lt"/>
                <a:ea typeface="+mn-ea"/>
                <a:cs typeface="+mn-cs"/>
              </a:rPr>
              <a:t>Replacing transmission oil seals.</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121</a:t>
            </a:fld>
            <a:endParaRPr lang="en-US" dirty="0"/>
          </a:p>
        </p:txBody>
      </p:sp>
    </p:spTree>
    <p:extLst>
      <p:ext uri="{BB962C8B-B14F-4D97-AF65-F5344CB8AC3E}">
        <p14:creationId xmlns:p14="http://schemas.microsoft.com/office/powerpoint/2010/main" val="773377042"/>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presenting adjustments to transmissions:</a:t>
            </a:r>
          </a:p>
          <a:p>
            <a:pPr marL="171450" indent="-171450">
              <a:buFont typeface="Arial" pitchFamily="34" charset="0"/>
              <a:buChar char="•"/>
            </a:pPr>
            <a:r>
              <a:rPr lang="en-AU" sz="1200" kern="1200" dirty="0" smtClean="0">
                <a:solidFill>
                  <a:schemeClr val="tx1"/>
                </a:solidFill>
                <a:latin typeface="+mn-lt"/>
                <a:ea typeface="+mn-ea"/>
                <a:cs typeface="+mn-cs"/>
              </a:rPr>
              <a:t>Changing rear axle oil/axle oil</a:t>
            </a:r>
          </a:p>
          <a:p>
            <a:pPr marL="171450" indent="-171450">
              <a:buFont typeface="Arial" pitchFamily="34" charset="0"/>
              <a:buChar char="•"/>
            </a:pPr>
            <a:r>
              <a:rPr lang="en-AU" sz="1200" kern="1200" dirty="0" smtClean="0">
                <a:solidFill>
                  <a:schemeClr val="tx1"/>
                </a:solidFill>
                <a:latin typeface="+mn-lt"/>
                <a:ea typeface="+mn-ea"/>
                <a:cs typeface="+mn-cs"/>
              </a:rPr>
              <a:t>Topping-up or changing automatic transmission fluid</a:t>
            </a:r>
          </a:p>
          <a:p>
            <a:pPr marL="171450" indent="-171450">
              <a:buFont typeface="Arial" pitchFamily="34" charset="0"/>
              <a:buChar char="•"/>
            </a:pPr>
            <a:r>
              <a:rPr lang="en-AU" sz="1200" kern="1200" dirty="0" smtClean="0">
                <a:solidFill>
                  <a:schemeClr val="tx1"/>
                </a:solidFill>
                <a:latin typeface="+mn-lt"/>
                <a:ea typeface="+mn-ea"/>
                <a:cs typeface="+mn-cs"/>
              </a:rPr>
              <a:t>Adjusting free-play in, or replacing, the clutch cable.</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122</a:t>
            </a:fld>
            <a:endParaRPr lang="en-US" dirty="0"/>
          </a:p>
        </p:txBody>
      </p:sp>
    </p:spTree>
    <p:extLst>
      <p:ext uri="{BB962C8B-B14F-4D97-AF65-F5344CB8AC3E}">
        <p14:creationId xmlns:p14="http://schemas.microsoft.com/office/powerpoint/2010/main" val="971421253"/>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discusses electrical wiring checks:</a:t>
            </a:r>
          </a:p>
          <a:p>
            <a:pPr marL="171450" indent="-171450">
              <a:buFont typeface="Arial" pitchFamily="34" charset="0"/>
              <a:buChar char="•"/>
            </a:pPr>
            <a:r>
              <a:rPr lang="en-AU" sz="1200" kern="1200" dirty="0" smtClean="0">
                <a:solidFill>
                  <a:schemeClr val="tx1"/>
                </a:solidFill>
                <a:latin typeface="+mn-lt"/>
                <a:ea typeface="+mn-ea"/>
                <a:cs typeface="+mn-cs"/>
              </a:rPr>
              <a:t>Testing operation of all electrical items on the vehicle</a:t>
            </a:r>
          </a:p>
          <a:p>
            <a:pPr marL="171450" indent="-171450">
              <a:buFont typeface="Arial" pitchFamily="34" charset="0"/>
              <a:buChar char="•"/>
            </a:pPr>
            <a:r>
              <a:rPr lang="en-AU" sz="1200" kern="1200" dirty="0" smtClean="0">
                <a:solidFill>
                  <a:schemeClr val="tx1"/>
                </a:solidFill>
                <a:latin typeface="+mn-lt"/>
                <a:ea typeface="+mn-ea"/>
                <a:cs typeface="+mn-cs"/>
              </a:rPr>
              <a:t>Visually inspecting all visible wiring looking for scorch or rub marks, exposed wiring or loose or missing connections</a:t>
            </a:r>
          </a:p>
          <a:p>
            <a:pPr marL="171450" indent="-171450">
              <a:buFont typeface="Arial" pitchFamily="34" charset="0"/>
              <a:buChar char="•"/>
            </a:pPr>
            <a:r>
              <a:rPr lang="en-AU" sz="1200" kern="1200" dirty="0" smtClean="0">
                <a:solidFill>
                  <a:schemeClr val="tx1"/>
                </a:solidFill>
                <a:latin typeface="+mn-lt"/>
                <a:ea typeface="+mn-ea"/>
                <a:cs typeface="+mn-cs"/>
              </a:rPr>
              <a:t>Using multi-meter to check current, voltage and resistance readings</a:t>
            </a:r>
          </a:p>
          <a:p>
            <a:pPr marL="171450" indent="-171450">
              <a:buFont typeface="Arial" pitchFamily="34" charset="0"/>
              <a:buChar char="•"/>
            </a:pPr>
            <a:r>
              <a:rPr lang="en-AU" sz="1200" kern="1200" dirty="0" smtClean="0">
                <a:solidFill>
                  <a:schemeClr val="tx1"/>
                </a:solidFill>
                <a:latin typeface="+mn-lt"/>
                <a:ea typeface="+mn-ea"/>
                <a:cs typeface="+mn-cs"/>
              </a:rPr>
              <a:t>Checking battery water level</a:t>
            </a:r>
          </a:p>
          <a:p>
            <a:pPr marL="171450" indent="-171450">
              <a:buFont typeface="Arial" pitchFamily="34" charset="0"/>
              <a:buChar char="•"/>
            </a:pPr>
            <a:r>
              <a:rPr lang="en-AU" sz="1200" kern="1200" dirty="0" smtClean="0">
                <a:solidFill>
                  <a:schemeClr val="tx1"/>
                </a:solidFill>
                <a:latin typeface="+mn-lt"/>
                <a:ea typeface="+mn-ea"/>
                <a:cs typeface="+mn-cs"/>
              </a:rPr>
              <a:t>Checking battery charge.</a:t>
            </a:r>
          </a:p>
          <a:p>
            <a:pPr>
              <a:buFont typeface="Arial" pitchFamily="34" charset="0"/>
              <a:buNone/>
            </a:pPr>
            <a:endParaRPr lang="en-US" sz="1200" kern="1200" noProof="0" dirty="0" smtClean="0">
              <a:solidFill>
                <a:schemeClr val="tx1"/>
              </a:solidFill>
              <a:latin typeface="+mn-lt"/>
              <a:ea typeface="+mn-ea"/>
              <a:cs typeface="+mn-cs"/>
            </a:endParaRPr>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123</a:t>
            </a:fld>
            <a:endParaRPr lang="en-US" dirty="0"/>
          </a:p>
        </p:txBody>
      </p:sp>
    </p:spTree>
    <p:extLst>
      <p:ext uri="{BB962C8B-B14F-4D97-AF65-F5344CB8AC3E}">
        <p14:creationId xmlns:p14="http://schemas.microsoft.com/office/powerpoint/2010/main" val="1598151132"/>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discussing electrical wiring checks:</a:t>
            </a:r>
          </a:p>
          <a:p>
            <a:pPr marL="171450" indent="-171450">
              <a:buFont typeface="Arial" pitchFamily="34" charset="0"/>
              <a:buChar char="•"/>
            </a:pPr>
            <a:r>
              <a:rPr lang="en-AU" sz="1200" kern="1200" dirty="0" smtClean="0">
                <a:solidFill>
                  <a:schemeClr val="tx1"/>
                </a:solidFill>
                <a:latin typeface="+mn-lt"/>
                <a:ea typeface="+mn-ea"/>
                <a:cs typeface="+mn-cs"/>
              </a:rPr>
              <a:t>Checking battery leads, posts and connections</a:t>
            </a:r>
          </a:p>
          <a:p>
            <a:pPr marL="171450" indent="-171450">
              <a:buFont typeface="Arial" pitchFamily="34" charset="0"/>
              <a:buChar char="•"/>
            </a:pPr>
            <a:r>
              <a:rPr lang="en-AU" sz="1200" kern="1200" dirty="0" smtClean="0">
                <a:solidFill>
                  <a:schemeClr val="tx1"/>
                </a:solidFill>
                <a:latin typeface="+mn-lt"/>
                <a:ea typeface="+mn-ea"/>
                <a:cs typeface="+mn-cs"/>
              </a:rPr>
              <a:t>Checking alternator drive belts/pulleys</a:t>
            </a:r>
          </a:p>
          <a:p>
            <a:pPr marL="171450" indent="-171450">
              <a:buFont typeface="Arial" pitchFamily="34" charset="0"/>
              <a:buChar char="•"/>
            </a:pPr>
            <a:r>
              <a:rPr lang="en-AU" sz="1200" kern="1200" dirty="0" smtClean="0">
                <a:solidFill>
                  <a:schemeClr val="tx1"/>
                </a:solidFill>
                <a:latin typeface="+mn-lt"/>
                <a:ea typeface="+mn-ea"/>
                <a:cs typeface="+mn-cs"/>
              </a:rPr>
              <a:t>Checking brackets and mountings</a:t>
            </a:r>
          </a:p>
          <a:p>
            <a:pPr marL="171450" indent="-171450">
              <a:buFont typeface="Arial" pitchFamily="34" charset="0"/>
              <a:buChar char="•"/>
            </a:pPr>
            <a:r>
              <a:rPr lang="en-AU" sz="1200" kern="1200" dirty="0" smtClean="0">
                <a:solidFill>
                  <a:schemeClr val="tx1"/>
                </a:solidFill>
                <a:latin typeface="+mn-lt"/>
                <a:ea typeface="+mn-ea"/>
                <a:cs typeface="+mn-cs"/>
              </a:rPr>
              <a:t>Checking fuses</a:t>
            </a:r>
          </a:p>
          <a:p>
            <a:pPr marL="171450" indent="-171450">
              <a:buFont typeface="Arial" pitchFamily="34" charset="0"/>
              <a:buChar char="•"/>
            </a:pPr>
            <a:r>
              <a:rPr lang="en-AU" sz="1200" kern="1200" dirty="0" smtClean="0">
                <a:solidFill>
                  <a:schemeClr val="tx1"/>
                </a:solidFill>
                <a:latin typeface="+mn-lt"/>
                <a:ea typeface="+mn-ea"/>
                <a:cs typeface="+mn-cs"/>
              </a:rPr>
              <a:t>Ensuring required spare fuses are in place.</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124</a:t>
            </a:fld>
            <a:endParaRPr lang="en-US" dirty="0"/>
          </a:p>
        </p:txBody>
      </p:sp>
    </p:spTree>
    <p:extLst>
      <p:ext uri="{BB962C8B-B14F-4D97-AF65-F5344CB8AC3E}">
        <p14:creationId xmlns:p14="http://schemas.microsoft.com/office/powerpoint/2010/main" val="277504282"/>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presents electrical wiring adjustments:</a:t>
            </a:r>
          </a:p>
          <a:p>
            <a:pPr marL="171450" indent="-171450">
              <a:buFont typeface="Arial" pitchFamily="34" charset="0"/>
              <a:buChar char="•"/>
            </a:pPr>
            <a:r>
              <a:rPr lang="en-AU" sz="1200" kern="1200" dirty="0" smtClean="0">
                <a:solidFill>
                  <a:schemeClr val="tx1"/>
                </a:solidFill>
                <a:latin typeface="+mn-lt"/>
                <a:ea typeface="+mn-ea"/>
                <a:cs typeface="+mn-cs"/>
              </a:rPr>
              <a:t>Re-wiring the vehicle</a:t>
            </a:r>
          </a:p>
          <a:p>
            <a:pPr marL="171450" indent="-171450">
              <a:buFont typeface="Arial" pitchFamily="34" charset="0"/>
              <a:buChar char="•"/>
            </a:pPr>
            <a:r>
              <a:rPr lang="en-AU" sz="1200" kern="1200" dirty="0" smtClean="0">
                <a:solidFill>
                  <a:schemeClr val="tx1"/>
                </a:solidFill>
                <a:latin typeface="+mn-lt"/>
                <a:ea typeface="+mn-ea"/>
                <a:cs typeface="+mn-cs"/>
              </a:rPr>
              <a:t>Topping up battery water with distilled water</a:t>
            </a:r>
          </a:p>
          <a:p>
            <a:pPr marL="171450" indent="-171450">
              <a:buFont typeface="Arial" pitchFamily="34" charset="0"/>
              <a:buChar char="•"/>
            </a:pPr>
            <a:r>
              <a:rPr lang="en-AU" sz="1200" kern="1200" dirty="0" smtClean="0">
                <a:solidFill>
                  <a:schemeClr val="tx1"/>
                </a:solidFill>
                <a:latin typeface="+mn-lt"/>
                <a:ea typeface="+mn-ea"/>
                <a:cs typeface="+mn-cs"/>
              </a:rPr>
              <a:t>Cleaning terminals and points</a:t>
            </a:r>
          </a:p>
          <a:p>
            <a:pPr marL="171450" indent="-171450">
              <a:buFont typeface="Arial" pitchFamily="34" charset="0"/>
              <a:buChar char="•"/>
            </a:pPr>
            <a:r>
              <a:rPr lang="en-AU" sz="1200" kern="1200" dirty="0" smtClean="0">
                <a:solidFill>
                  <a:schemeClr val="tx1"/>
                </a:solidFill>
                <a:latin typeface="+mn-lt"/>
                <a:ea typeface="+mn-ea"/>
                <a:cs typeface="+mn-cs"/>
              </a:rPr>
              <a:t>Charging and/or replacing batteries</a:t>
            </a:r>
          </a:p>
          <a:p>
            <a:pPr marL="171450" indent="-171450">
              <a:buFont typeface="Arial" pitchFamily="34" charset="0"/>
              <a:buChar char="•"/>
            </a:pPr>
            <a:r>
              <a:rPr lang="en-AU" sz="1200" kern="1200" dirty="0" smtClean="0">
                <a:solidFill>
                  <a:schemeClr val="tx1"/>
                </a:solidFill>
                <a:latin typeface="+mn-lt"/>
                <a:ea typeface="+mn-ea"/>
                <a:cs typeface="+mn-cs"/>
              </a:rPr>
              <a:t>Replacing defective components</a:t>
            </a:r>
          </a:p>
          <a:p>
            <a:pPr marL="171450" indent="-171450">
              <a:buFont typeface="Arial" pitchFamily="34" charset="0"/>
              <a:buChar char="•"/>
            </a:pPr>
            <a:r>
              <a:rPr lang="en-AU" sz="1200" kern="1200" dirty="0" smtClean="0">
                <a:solidFill>
                  <a:schemeClr val="tx1"/>
                </a:solidFill>
                <a:latin typeface="+mn-lt"/>
                <a:ea typeface="+mn-ea"/>
                <a:cs typeface="+mn-cs"/>
              </a:rPr>
              <a:t>Relacing fuses.</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125</a:t>
            </a:fld>
            <a:endParaRPr lang="en-US" dirty="0"/>
          </a:p>
        </p:txBody>
      </p:sp>
    </p:spTree>
    <p:extLst>
      <p:ext uri="{BB962C8B-B14F-4D97-AF65-F5344CB8AC3E}">
        <p14:creationId xmlns:p14="http://schemas.microsoft.com/office/powerpoint/2010/main" val="6057856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discusses water checks:</a:t>
            </a:r>
          </a:p>
          <a:p>
            <a:pPr marL="171450" indent="-171450">
              <a:buFont typeface="Arial" pitchFamily="34" charset="0"/>
              <a:buChar char="•"/>
            </a:pPr>
            <a:r>
              <a:rPr lang="en-AU" sz="1200" kern="1200" dirty="0" smtClean="0">
                <a:solidFill>
                  <a:schemeClr val="tx1"/>
                </a:solidFill>
                <a:latin typeface="+mn-lt"/>
                <a:ea typeface="+mn-ea"/>
                <a:cs typeface="+mn-cs"/>
              </a:rPr>
              <a:t>Checking level of radiator water</a:t>
            </a:r>
          </a:p>
          <a:p>
            <a:pPr marL="171450" indent="-171450">
              <a:buFont typeface="Arial" pitchFamily="34" charset="0"/>
              <a:buChar char="•"/>
            </a:pPr>
            <a:r>
              <a:rPr lang="en-AU" sz="1200" kern="1200" dirty="0" smtClean="0">
                <a:solidFill>
                  <a:schemeClr val="tx1"/>
                </a:solidFill>
                <a:latin typeface="+mn-lt"/>
                <a:ea typeface="+mn-ea"/>
                <a:cs typeface="+mn-cs"/>
              </a:rPr>
              <a:t>Checking water in windscreen washer reservoir</a:t>
            </a:r>
          </a:p>
          <a:p>
            <a:pPr marL="171450" indent="-171450">
              <a:buFont typeface="Arial" pitchFamily="34" charset="0"/>
              <a:buChar char="•"/>
            </a:pPr>
            <a:r>
              <a:rPr lang="en-AU" sz="1200" kern="1200" dirty="0" smtClean="0">
                <a:solidFill>
                  <a:schemeClr val="tx1"/>
                </a:solidFill>
                <a:latin typeface="+mn-lt"/>
                <a:ea typeface="+mn-ea"/>
                <a:cs typeface="+mn-cs"/>
              </a:rPr>
              <a:t>Checking radiator hoses and connections</a:t>
            </a:r>
          </a:p>
          <a:p>
            <a:pPr marL="171450" indent="-171450">
              <a:buFont typeface="Arial" pitchFamily="34" charset="0"/>
              <a:buChar char="•"/>
            </a:pPr>
            <a:r>
              <a:rPr lang="en-AU" sz="1200" kern="1200" dirty="0" smtClean="0">
                <a:solidFill>
                  <a:schemeClr val="tx1"/>
                </a:solidFill>
                <a:latin typeface="+mn-lt"/>
                <a:ea typeface="+mn-ea"/>
                <a:cs typeface="+mn-cs"/>
              </a:rPr>
              <a:t>Checking radiator cap.</a:t>
            </a:r>
          </a:p>
          <a:p>
            <a:pPr>
              <a:buFont typeface="Arial" pitchFamily="34" charset="0"/>
              <a:buNone/>
            </a:pPr>
            <a:endParaRPr lang="en-US" sz="1200" kern="1200" noProof="0" dirty="0" smtClean="0">
              <a:solidFill>
                <a:schemeClr val="tx1"/>
              </a:solidFill>
              <a:latin typeface="+mn-lt"/>
              <a:ea typeface="+mn-ea"/>
              <a:cs typeface="+mn-cs"/>
            </a:endParaRPr>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126</a:t>
            </a:fld>
            <a:endParaRPr lang="en-US" dirty="0"/>
          </a:p>
        </p:txBody>
      </p:sp>
    </p:spTree>
    <p:extLst>
      <p:ext uri="{BB962C8B-B14F-4D97-AF65-F5344CB8AC3E}">
        <p14:creationId xmlns:p14="http://schemas.microsoft.com/office/powerpoint/2010/main" val="58268508"/>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discussing water checks:</a:t>
            </a:r>
          </a:p>
          <a:p>
            <a:pPr marL="171450" indent="-171450">
              <a:buFont typeface="Arial" pitchFamily="34" charset="0"/>
              <a:buChar char="•"/>
            </a:pPr>
            <a:r>
              <a:rPr lang="en-AU" sz="1200" kern="1200" dirty="0" smtClean="0">
                <a:solidFill>
                  <a:schemeClr val="tx1"/>
                </a:solidFill>
                <a:latin typeface="+mn-lt"/>
                <a:ea typeface="+mn-ea"/>
                <a:cs typeface="+mn-cs"/>
              </a:rPr>
              <a:t>Checking water pump</a:t>
            </a:r>
          </a:p>
          <a:p>
            <a:pPr marL="171450" indent="-171450">
              <a:buFont typeface="Arial" pitchFamily="34" charset="0"/>
              <a:buChar char="•"/>
            </a:pPr>
            <a:r>
              <a:rPr lang="en-AU" sz="1200" kern="1200" dirty="0" smtClean="0">
                <a:solidFill>
                  <a:schemeClr val="tx1"/>
                </a:solidFill>
                <a:latin typeface="+mn-lt"/>
                <a:ea typeface="+mn-ea"/>
                <a:cs typeface="+mn-cs"/>
              </a:rPr>
              <a:t>Inspecting for leaks and evidence of leaks</a:t>
            </a:r>
          </a:p>
          <a:p>
            <a:pPr marL="171450" indent="-171450">
              <a:buFont typeface="Arial" pitchFamily="34" charset="0"/>
              <a:buChar char="•"/>
            </a:pPr>
            <a:r>
              <a:rPr lang="en-AU" sz="1200" kern="1200" dirty="0" smtClean="0">
                <a:solidFill>
                  <a:schemeClr val="tx1"/>
                </a:solidFill>
                <a:latin typeface="+mn-lt"/>
                <a:ea typeface="+mn-ea"/>
                <a:cs typeface="+mn-cs"/>
              </a:rPr>
              <a:t>Ensuring spare water containers in vehicles are full</a:t>
            </a:r>
          </a:p>
          <a:p>
            <a:pPr marL="171450" indent="-171450">
              <a:buFont typeface="Arial" pitchFamily="34" charset="0"/>
              <a:buChar char="•"/>
            </a:pPr>
            <a:r>
              <a:rPr lang="en-AU" sz="1200" kern="1200" dirty="0" smtClean="0">
                <a:solidFill>
                  <a:schemeClr val="tx1"/>
                </a:solidFill>
                <a:latin typeface="+mn-lt"/>
                <a:ea typeface="+mn-ea"/>
                <a:cs typeface="+mn-cs"/>
              </a:rPr>
              <a:t>Checking operating temperature of engine.</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127</a:t>
            </a:fld>
            <a:endParaRPr lang="en-US" dirty="0"/>
          </a:p>
        </p:txBody>
      </p:sp>
    </p:spTree>
    <p:extLst>
      <p:ext uri="{BB962C8B-B14F-4D97-AF65-F5344CB8AC3E}">
        <p14:creationId xmlns:p14="http://schemas.microsoft.com/office/powerpoint/2010/main" val="1904103066"/>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presents water adjustments:</a:t>
            </a:r>
          </a:p>
          <a:p>
            <a:pPr marL="171450" indent="-171450">
              <a:buFont typeface="Arial" pitchFamily="34" charset="0"/>
              <a:buChar char="•"/>
            </a:pPr>
            <a:r>
              <a:rPr lang="en-AU" sz="1200" kern="1200" dirty="0" smtClean="0">
                <a:solidFill>
                  <a:schemeClr val="tx1"/>
                </a:solidFill>
                <a:latin typeface="+mn-lt"/>
                <a:ea typeface="+mn-ea"/>
                <a:cs typeface="+mn-cs"/>
              </a:rPr>
              <a:t>Topping up water to required levels</a:t>
            </a:r>
          </a:p>
          <a:p>
            <a:pPr marL="171450" indent="-171450">
              <a:buFont typeface="Arial" pitchFamily="34" charset="0"/>
              <a:buChar char="•"/>
            </a:pPr>
            <a:r>
              <a:rPr lang="en-AU" sz="1200" kern="1200" dirty="0" smtClean="0">
                <a:solidFill>
                  <a:schemeClr val="tx1"/>
                </a:solidFill>
                <a:latin typeface="+mn-lt"/>
                <a:ea typeface="+mn-ea"/>
                <a:cs typeface="+mn-cs"/>
              </a:rPr>
              <a:t>Adding detergent to windscreen washer water</a:t>
            </a:r>
          </a:p>
          <a:p>
            <a:pPr marL="171450" indent="-171450">
              <a:buFont typeface="Arial" pitchFamily="34" charset="0"/>
              <a:buChar char="•"/>
            </a:pPr>
            <a:r>
              <a:rPr lang="en-AU" sz="1200" kern="1200" dirty="0" smtClean="0">
                <a:solidFill>
                  <a:schemeClr val="tx1"/>
                </a:solidFill>
                <a:latin typeface="+mn-lt"/>
                <a:ea typeface="+mn-ea"/>
                <a:cs typeface="+mn-cs"/>
              </a:rPr>
              <a:t>Flushing radiator</a:t>
            </a:r>
          </a:p>
          <a:p>
            <a:pPr marL="171450" indent="-171450">
              <a:buFont typeface="Arial" pitchFamily="34" charset="0"/>
              <a:buChar char="•"/>
            </a:pPr>
            <a:r>
              <a:rPr lang="en-AU" sz="1200" kern="1200" dirty="0" smtClean="0">
                <a:solidFill>
                  <a:schemeClr val="tx1"/>
                </a:solidFill>
                <a:latin typeface="+mn-lt"/>
                <a:ea typeface="+mn-ea"/>
                <a:cs typeface="+mn-cs"/>
              </a:rPr>
              <a:t>Removing and replacing radiator.</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128</a:t>
            </a:fld>
            <a:endParaRPr lang="en-US" dirty="0"/>
          </a:p>
        </p:txBody>
      </p:sp>
    </p:spTree>
    <p:extLst>
      <p:ext uri="{BB962C8B-B14F-4D97-AF65-F5344CB8AC3E}">
        <p14:creationId xmlns:p14="http://schemas.microsoft.com/office/powerpoint/2010/main" val="1415047604"/>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presenting water adjustments:</a:t>
            </a:r>
          </a:p>
          <a:p>
            <a:pPr marL="171450" indent="-171450">
              <a:buFont typeface="Arial" pitchFamily="34" charset="0"/>
              <a:buChar char="•"/>
            </a:pPr>
            <a:r>
              <a:rPr lang="en-AU" sz="1200" kern="1200" dirty="0" smtClean="0">
                <a:solidFill>
                  <a:schemeClr val="tx1"/>
                </a:solidFill>
                <a:latin typeface="+mn-lt"/>
                <a:ea typeface="+mn-ea"/>
                <a:cs typeface="+mn-cs"/>
              </a:rPr>
              <a:t>Draining and re-filling sealed systems</a:t>
            </a:r>
          </a:p>
          <a:p>
            <a:pPr marL="171450" indent="-171450">
              <a:buFont typeface="Arial" pitchFamily="34" charset="0"/>
              <a:buChar char="•"/>
            </a:pPr>
            <a:r>
              <a:rPr lang="en-AU" sz="1200" kern="1200" dirty="0" smtClean="0">
                <a:solidFill>
                  <a:schemeClr val="tx1"/>
                </a:solidFill>
                <a:latin typeface="+mn-lt"/>
                <a:ea typeface="+mn-ea"/>
                <a:cs typeface="+mn-cs"/>
              </a:rPr>
              <a:t>Replacing water pump</a:t>
            </a:r>
          </a:p>
          <a:p>
            <a:pPr marL="171450" indent="-171450">
              <a:buFont typeface="Arial" pitchFamily="34" charset="0"/>
              <a:buChar char="•"/>
            </a:pPr>
            <a:r>
              <a:rPr lang="en-AU" sz="1200" kern="1200" dirty="0" smtClean="0">
                <a:solidFill>
                  <a:schemeClr val="tx1"/>
                </a:solidFill>
                <a:latin typeface="+mn-lt"/>
                <a:ea typeface="+mn-ea"/>
                <a:cs typeface="+mn-cs"/>
              </a:rPr>
              <a:t>Arranging for re-coring of radiator</a:t>
            </a:r>
          </a:p>
          <a:p>
            <a:pPr marL="171450" indent="-171450">
              <a:buFont typeface="Arial" pitchFamily="34" charset="0"/>
              <a:buChar char="•"/>
            </a:pPr>
            <a:r>
              <a:rPr lang="en-AU" sz="1200" kern="1200" dirty="0" smtClean="0">
                <a:solidFill>
                  <a:schemeClr val="tx1"/>
                </a:solidFill>
                <a:latin typeface="+mn-lt"/>
                <a:ea typeface="+mn-ea"/>
                <a:cs typeface="+mn-cs"/>
              </a:rPr>
              <a:t>Replacing thermostat</a:t>
            </a:r>
          </a:p>
          <a:p>
            <a:pPr marL="171450" indent="-171450">
              <a:buFont typeface="Arial" pitchFamily="34" charset="0"/>
              <a:buChar char="•"/>
            </a:pPr>
            <a:r>
              <a:rPr lang="en-AU" sz="1200" kern="1200" dirty="0" smtClean="0">
                <a:solidFill>
                  <a:schemeClr val="tx1"/>
                </a:solidFill>
                <a:latin typeface="+mn-lt"/>
                <a:ea typeface="+mn-ea"/>
                <a:cs typeface="+mn-cs"/>
              </a:rPr>
              <a:t>Adding cooling system additives, if/where required.</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129</a:t>
            </a:fld>
            <a:endParaRPr lang="en-US" dirty="0"/>
          </a:p>
        </p:txBody>
      </p:sp>
    </p:spTree>
    <p:extLst>
      <p:ext uri="{BB962C8B-B14F-4D97-AF65-F5344CB8AC3E}">
        <p14:creationId xmlns:p14="http://schemas.microsoft.com/office/powerpoint/2010/main" val="1724794467"/>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discusses tyre checks:</a:t>
            </a:r>
          </a:p>
          <a:p>
            <a:pPr marL="171450" indent="-171450">
              <a:buFont typeface="Arial" pitchFamily="34" charset="0"/>
              <a:buChar char="•"/>
            </a:pPr>
            <a:r>
              <a:rPr lang="en-AU" sz="1200" kern="1200" dirty="0" smtClean="0">
                <a:solidFill>
                  <a:schemeClr val="tx1"/>
                </a:solidFill>
                <a:latin typeface="+mn-lt"/>
                <a:ea typeface="+mn-ea"/>
                <a:cs typeface="+mn-cs"/>
              </a:rPr>
              <a:t>Checking general condition and wear on each on-road tyre plus the spare tyre, including condition of sidewalls</a:t>
            </a:r>
          </a:p>
          <a:p>
            <a:pPr marL="171450" indent="-171450">
              <a:buFont typeface="Arial" pitchFamily="34" charset="0"/>
              <a:buChar char="•"/>
            </a:pPr>
            <a:r>
              <a:rPr lang="en-AU" sz="1200" kern="1200" dirty="0" smtClean="0">
                <a:solidFill>
                  <a:schemeClr val="tx1"/>
                </a:solidFill>
                <a:latin typeface="+mn-lt"/>
                <a:ea typeface="+mn-ea"/>
                <a:cs typeface="+mn-cs"/>
              </a:rPr>
              <a:t>Inspecting condition of wheels and rims</a:t>
            </a:r>
          </a:p>
          <a:p>
            <a:pPr marL="171450" indent="-171450">
              <a:buFont typeface="Arial" pitchFamily="34" charset="0"/>
              <a:buChar char="•"/>
            </a:pPr>
            <a:r>
              <a:rPr lang="en-AU" sz="1200" kern="1200" dirty="0" smtClean="0">
                <a:solidFill>
                  <a:schemeClr val="tx1"/>
                </a:solidFill>
                <a:latin typeface="+mn-lt"/>
                <a:ea typeface="+mn-ea"/>
                <a:cs typeface="+mn-cs"/>
              </a:rPr>
              <a:t>Checking tyre pressures</a:t>
            </a:r>
          </a:p>
          <a:p>
            <a:pPr marL="171450" indent="-171450">
              <a:buFont typeface="Arial" pitchFamily="34" charset="0"/>
              <a:buChar char="•"/>
            </a:pPr>
            <a:r>
              <a:rPr lang="en-AU" sz="1200" kern="1200" dirty="0" smtClean="0">
                <a:solidFill>
                  <a:schemeClr val="tx1"/>
                </a:solidFill>
                <a:latin typeface="+mn-lt"/>
                <a:ea typeface="+mn-ea"/>
                <a:cs typeface="+mn-cs"/>
              </a:rPr>
              <a:t>Testing valves for leaks.</a:t>
            </a:r>
          </a:p>
          <a:p>
            <a:pPr>
              <a:buFont typeface="Arial" pitchFamily="34" charset="0"/>
              <a:buNone/>
            </a:pPr>
            <a:endParaRPr lang="en-US" sz="1200" kern="1200" noProof="0" dirty="0" smtClean="0">
              <a:solidFill>
                <a:schemeClr val="tx1"/>
              </a:solidFill>
              <a:latin typeface="+mn-lt"/>
              <a:ea typeface="+mn-ea"/>
              <a:cs typeface="+mn-cs"/>
            </a:endParaRPr>
          </a:p>
          <a:p>
            <a:pPr>
              <a:buFont typeface="Arial" pitchFamily="34" charset="0"/>
              <a:buNone/>
            </a:pPr>
            <a:r>
              <a:rPr lang="en-US" b="1" noProof="0" dirty="0" smtClean="0"/>
              <a:t>Classroom Activity (1)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(2) – internet Research</a:t>
            </a:r>
          </a:p>
          <a:p>
            <a:pPr>
              <a:buFont typeface="Arial" pitchFamily="34" charset="0"/>
              <a:buNone/>
            </a:pPr>
            <a:r>
              <a:rPr lang="en-US" b="0" noProof="0" dirty="0" smtClean="0"/>
              <a:t>Trainer facilitates research and discussion of:</a:t>
            </a:r>
          </a:p>
          <a:p>
            <a:pPr>
              <a:buFont typeface="Arial" pitchFamily="34" charset="0"/>
              <a:buNone/>
            </a:pPr>
            <a:r>
              <a:rPr lang="en-AU" sz="1200" u="sng" kern="1200" dirty="0" smtClean="0">
                <a:solidFill>
                  <a:schemeClr val="tx1"/>
                </a:solidFill>
                <a:latin typeface="+mn-lt"/>
                <a:ea typeface="+mn-ea"/>
                <a:cs typeface="+mn-cs"/>
                <a:hlinkClick r:id="rId3"/>
              </a:rPr>
              <a:t>http://www.howacarworks.com/wheels-and-tyres/avoiding-tyre-wear</a:t>
            </a:r>
            <a:r>
              <a:rPr lang="en-AU" sz="1200" kern="1200" dirty="0" smtClean="0">
                <a:solidFill>
                  <a:schemeClr val="tx1"/>
                </a:solidFill>
                <a:latin typeface="+mn-lt"/>
                <a:ea typeface="+mn-ea"/>
                <a:cs typeface="+mn-cs"/>
              </a:rPr>
              <a:t> - Avoiding tyre wear</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130</a:t>
            </a:fld>
            <a:endParaRPr lang="en-US" dirty="0"/>
          </a:p>
        </p:txBody>
      </p:sp>
    </p:spTree>
    <p:extLst>
      <p:ext uri="{BB962C8B-B14F-4D97-AF65-F5344CB8AC3E}">
        <p14:creationId xmlns:p14="http://schemas.microsoft.com/office/powerpoint/2010/main" val="2174201612"/>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discussing tyre checks:</a:t>
            </a:r>
          </a:p>
          <a:p>
            <a:pPr marL="171450" indent="-171450">
              <a:buFont typeface="Arial" pitchFamily="34" charset="0"/>
              <a:buChar char="•"/>
            </a:pPr>
            <a:r>
              <a:rPr lang="en-AU" sz="1200" kern="1200" dirty="0" smtClean="0">
                <a:solidFill>
                  <a:schemeClr val="tx1"/>
                </a:solidFill>
                <a:latin typeface="+mn-lt"/>
                <a:ea typeface="+mn-ea"/>
                <a:cs typeface="+mn-cs"/>
              </a:rPr>
              <a:t>Verifying all tyres are of the same tread pattern</a:t>
            </a:r>
          </a:p>
          <a:p>
            <a:pPr marL="171450" indent="-171450">
              <a:buFont typeface="Arial" pitchFamily="34" charset="0"/>
              <a:buChar char="•"/>
            </a:pPr>
            <a:r>
              <a:rPr lang="en-AU" sz="1200" kern="1200" dirty="0" smtClean="0">
                <a:solidFill>
                  <a:schemeClr val="tx1"/>
                </a:solidFill>
                <a:latin typeface="+mn-lt"/>
                <a:ea typeface="+mn-ea"/>
                <a:cs typeface="+mn-cs"/>
              </a:rPr>
              <a:t>Verifying all tyres are the correct size</a:t>
            </a:r>
          </a:p>
          <a:p>
            <a:pPr marL="171450" indent="-171450">
              <a:buFont typeface="Arial" pitchFamily="34" charset="0"/>
              <a:buChar char="•"/>
            </a:pPr>
            <a:r>
              <a:rPr lang="en-AU" sz="1200" kern="1200" dirty="0" smtClean="0">
                <a:solidFill>
                  <a:schemeClr val="tx1"/>
                </a:solidFill>
                <a:latin typeface="+mn-lt"/>
                <a:ea typeface="+mn-ea"/>
                <a:cs typeface="+mn-cs"/>
              </a:rPr>
              <a:t>Verifying all tyres have sufficient tread</a:t>
            </a:r>
          </a:p>
          <a:p>
            <a:pPr marL="171450" indent="-171450">
              <a:buFont typeface="Arial" pitchFamily="34" charset="0"/>
              <a:buChar char="•"/>
            </a:pPr>
            <a:r>
              <a:rPr lang="en-AU" sz="1200" kern="1200" dirty="0" smtClean="0">
                <a:solidFill>
                  <a:schemeClr val="tx1"/>
                </a:solidFill>
                <a:latin typeface="+mn-lt"/>
                <a:ea typeface="+mn-ea"/>
                <a:cs typeface="+mn-cs"/>
              </a:rPr>
              <a:t>Verifying all tyres are suitably rated for required loads and speeds – according to tyre manufacturer charts.</a:t>
            </a:r>
          </a:p>
          <a:p>
            <a:pPr>
              <a:buFont typeface="Arial" pitchFamily="34" charset="0"/>
              <a:buNone/>
            </a:pPr>
            <a:endParaRPr lang="en-US" sz="1200" kern="1200" noProof="0" dirty="0" smtClean="0">
              <a:solidFill>
                <a:schemeClr val="tx1"/>
              </a:solidFill>
              <a:latin typeface="+mn-lt"/>
              <a:ea typeface="+mn-ea"/>
              <a:cs typeface="+mn-cs"/>
            </a:endParaRPr>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131</a:t>
            </a:fld>
            <a:endParaRPr lang="en-US" dirty="0"/>
          </a:p>
        </p:txBody>
      </p:sp>
    </p:spTree>
    <p:extLst>
      <p:ext uri="{BB962C8B-B14F-4D97-AF65-F5344CB8AC3E}">
        <p14:creationId xmlns:p14="http://schemas.microsoft.com/office/powerpoint/2010/main" val="93847046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discussing tyre checks:</a:t>
            </a:r>
          </a:p>
          <a:p>
            <a:pPr marL="171450" indent="-171450">
              <a:buFont typeface="Arial" pitchFamily="34" charset="0"/>
              <a:buChar char="•"/>
            </a:pPr>
            <a:r>
              <a:rPr lang="en-AU" sz="1200" kern="1200" dirty="0" smtClean="0">
                <a:solidFill>
                  <a:schemeClr val="tx1"/>
                </a:solidFill>
                <a:latin typeface="+mn-lt"/>
                <a:ea typeface="+mn-ea"/>
                <a:cs typeface="+mn-cs"/>
              </a:rPr>
              <a:t>Testing any on-board compressors or manual or foot-operated pumps loaded onto tour vehicles – to:</a:t>
            </a:r>
          </a:p>
          <a:p>
            <a:pPr marL="628650" lvl="1" indent="-171450">
              <a:buFont typeface="Arial" pitchFamily="34" charset="0"/>
              <a:buChar char="•"/>
            </a:pPr>
            <a:r>
              <a:rPr lang="en-US" sz="1200" kern="1200" dirty="0" smtClean="0">
                <a:solidFill>
                  <a:schemeClr val="tx1"/>
                </a:solidFill>
                <a:latin typeface="+mn-lt"/>
                <a:ea typeface="+mn-ea"/>
                <a:cs typeface="+mn-cs"/>
              </a:rPr>
              <a:t>Verify proper operation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Compare pressure shown on gauges against pressure shown on workshop tyre pressure gauge</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Ensuring on-board tyre repair kits are present and fully stocked. </a:t>
            </a:r>
          </a:p>
          <a:p>
            <a:pPr>
              <a:buFont typeface="Arial" pitchFamily="34" charset="0"/>
              <a:buNone/>
            </a:pPr>
            <a:endParaRPr lang="en-US" sz="1200" kern="1200" noProof="0" dirty="0" smtClean="0">
              <a:solidFill>
                <a:schemeClr val="tx1"/>
              </a:solidFill>
              <a:latin typeface="+mn-lt"/>
              <a:ea typeface="+mn-ea"/>
              <a:cs typeface="+mn-cs"/>
            </a:endParaRPr>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132</a:t>
            </a:fld>
            <a:endParaRPr lang="en-US" dirty="0"/>
          </a:p>
        </p:txBody>
      </p:sp>
    </p:spTree>
    <p:extLst>
      <p:ext uri="{BB962C8B-B14F-4D97-AF65-F5344CB8AC3E}">
        <p14:creationId xmlns:p14="http://schemas.microsoft.com/office/powerpoint/2010/main" val="1100868595"/>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presents tyre adjustments: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Make arrangements for qualified tyre specialists to:</a:t>
            </a:r>
          </a:p>
          <a:p>
            <a:pPr marL="628650" lvl="1" indent="-171450">
              <a:buFont typeface="Arial" pitchFamily="34" charset="0"/>
              <a:buChar char="•"/>
            </a:pPr>
            <a:r>
              <a:rPr lang="en-AU" sz="1200" kern="1200" dirty="0" smtClean="0">
                <a:solidFill>
                  <a:schemeClr val="tx1"/>
                </a:solidFill>
                <a:latin typeface="+mn-lt"/>
                <a:ea typeface="+mn-ea"/>
                <a:cs typeface="+mn-cs"/>
              </a:rPr>
              <a:t>Do wheel alignment</a:t>
            </a:r>
          </a:p>
          <a:p>
            <a:pPr marL="628650" lvl="1" indent="-171450">
              <a:buFont typeface="Arial" pitchFamily="34" charset="0"/>
              <a:buChar char="•"/>
            </a:pPr>
            <a:r>
              <a:rPr lang="en-AU" sz="1200" kern="1200" dirty="0" smtClean="0">
                <a:solidFill>
                  <a:schemeClr val="tx1"/>
                </a:solidFill>
                <a:latin typeface="+mn-lt"/>
                <a:ea typeface="+mn-ea"/>
                <a:cs typeface="+mn-cs"/>
              </a:rPr>
              <a:t>Do wheel balancing</a:t>
            </a:r>
          </a:p>
          <a:p>
            <a:pPr marL="628650" lvl="1" indent="-171450">
              <a:buFont typeface="Arial" pitchFamily="34" charset="0"/>
              <a:buChar char="•"/>
            </a:pPr>
            <a:r>
              <a:rPr lang="en-AU" sz="1200" kern="1200" dirty="0" smtClean="0">
                <a:solidFill>
                  <a:schemeClr val="tx1"/>
                </a:solidFill>
                <a:latin typeface="+mn-lt"/>
                <a:ea typeface="+mn-ea"/>
                <a:cs typeface="+mn-cs"/>
              </a:rPr>
              <a:t>Fit new tyres and wheels</a:t>
            </a:r>
          </a:p>
          <a:p>
            <a:pPr marL="628650" lvl="1" indent="-171450">
              <a:buFont typeface="Arial" pitchFamily="34" charset="0"/>
              <a:buChar char="•"/>
            </a:pPr>
            <a:r>
              <a:rPr lang="en-AU" sz="1200" kern="1200" dirty="0" smtClean="0">
                <a:solidFill>
                  <a:schemeClr val="tx1"/>
                </a:solidFill>
                <a:latin typeface="+mn-lt"/>
                <a:ea typeface="+mn-ea"/>
                <a:cs typeface="+mn-cs"/>
              </a:rPr>
              <a:t>Repair punctures/leaks </a:t>
            </a:r>
          </a:p>
          <a:p>
            <a:pPr marL="171450" indent="-171450">
              <a:buFont typeface="Arial" pitchFamily="34" charset="0"/>
              <a:buChar char="•"/>
            </a:pPr>
            <a:r>
              <a:rPr lang="en-AU" sz="1200" kern="1200" dirty="0" smtClean="0">
                <a:solidFill>
                  <a:schemeClr val="tx1"/>
                </a:solidFill>
                <a:latin typeface="+mn-lt"/>
                <a:ea typeface="+mn-ea"/>
                <a:cs typeface="+mn-cs"/>
              </a:rPr>
              <a:t>Re-fit valves</a:t>
            </a:r>
          </a:p>
          <a:p>
            <a:pPr marL="171450" indent="-171450">
              <a:buFont typeface="Arial" pitchFamily="34" charset="0"/>
              <a:buChar char="•"/>
            </a:pPr>
            <a:r>
              <a:rPr lang="en-AU" sz="1200" kern="1200" dirty="0" smtClean="0">
                <a:solidFill>
                  <a:schemeClr val="tx1"/>
                </a:solidFill>
                <a:latin typeface="+mn-lt"/>
                <a:ea typeface="+mn-ea"/>
                <a:cs typeface="+mn-cs"/>
              </a:rPr>
              <a:t>Inflate or reduce pressures as required</a:t>
            </a:r>
          </a:p>
          <a:p>
            <a:pPr marL="171450" indent="-171450">
              <a:buFont typeface="Arial" pitchFamily="34" charset="0"/>
              <a:buChar char="•"/>
            </a:pPr>
            <a:r>
              <a:rPr lang="en-AU" sz="1200" kern="1200" dirty="0" smtClean="0">
                <a:solidFill>
                  <a:schemeClr val="tx1"/>
                </a:solidFill>
                <a:latin typeface="+mn-lt"/>
                <a:ea typeface="+mn-ea"/>
                <a:cs typeface="+mn-cs"/>
              </a:rPr>
              <a:t>Clean tyres and wheels, removing mud and debris inside and out.</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133</a:t>
            </a:fld>
            <a:endParaRPr lang="en-US" dirty="0"/>
          </a:p>
        </p:txBody>
      </p:sp>
    </p:spTree>
    <p:extLst>
      <p:ext uri="{BB962C8B-B14F-4D97-AF65-F5344CB8AC3E}">
        <p14:creationId xmlns:p14="http://schemas.microsoft.com/office/powerpoint/2010/main" val="1432635152"/>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presenting tyre adjustments:</a:t>
            </a:r>
          </a:p>
          <a:p>
            <a:pPr marL="171450" indent="-171450">
              <a:buFont typeface="Arial" pitchFamily="34" charset="0"/>
              <a:buChar char="•"/>
            </a:pPr>
            <a:r>
              <a:rPr lang="en-AU" sz="1200" kern="1200" dirty="0" smtClean="0">
                <a:solidFill>
                  <a:schemeClr val="tx1"/>
                </a:solidFill>
                <a:latin typeface="+mn-lt"/>
                <a:ea typeface="+mn-ea"/>
                <a:cs typeface="+mn-cs"/>
              </a:rPr>
              <a:t>Replace defective compressors</a:t>
            </a:r>
          </a:p>
          <a:p>
            <a:pPr marL="171450" indent="-171450">
              <a:buFont typeface="Arial" pitchFamily="34" charset="0"/>
              <a:buChar char="•"/>
            </a:pPr>
            <a:r>
              <a:rPr lang="en-AU" sz="1200" kern="1200" dirty="0" smtClean="0">
                <a:solidFill>
                  <a:schemeClr val="tx1"/>
                </a:solidFill>
                <a:latin typeface="+mn-lt"/>
                <a:ea typeface="+mn-ea"/>
                <a:cs typeface="+mn-cs"/>
              </a:rPr>
              <a:t>Check/replenish tyre repair kits – comprising plug kits, spare valve cores, caps and the four-way valve tool</a:t>
            </a:r>
          </a:p>
          <a:p>
            <a:pPr marL="171450" indent="-171450">
              <a:buFont typeface="Arial" pitchFamily="34" charset="0"/>
              <a:buChar char="•"/>
            </a:pPr>
            <a:r>
              <a:rPr lang="en-AU" sz="1200" kern="1200" dirty="0" smtClean="0">
                <a:solidFill>
                  <a:schemeClr val="tx1"/>
                </a:solidFill>
                <a:latin typeface="+mn-lt"/>
                <a:ea typeface="+mn-ea"/>
                <a:cs typeface="+mn-cs"/>
              </a:rPr>
              <a:t>Rotate tyres/wheels.</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134</a:t>
            </a:fld>
            <a:endParaRPr lang="en-US" dirty="0"/>
          </a:p>
        </p:txBody>
      </p:sp>
    </p:spTree>
    <p:extLst>
      <p:ext uri="{BB962C8B-B14F-4D97-AF65-F5344CB8AC3E}">
        <p14:creationId xmlns:p14="http://schemas.microsoft.com/office/powerpoint/2010/main" val="2154653297"/>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discusses on-board services/facilities and systems checks:</a:t>
            </a:r>
          </a:p>
          <a:p>
            <a:pPr marL="171450" indent="-171450">
              <a:buFont typeface="Arial" pitchFamily="34" charset="0"/>
              <a:buChar char="•"/>
            </a:pPr>
            <a:r>
              <a:rPr lang="en-AU" sz="1200" kern="1200" dirty="0" smtClean="0">
                <a:solidFill>
                  <a:schemeClr val="tx1"/>
                </a:solidFill>
                <a:latin typeface="+mn-lt"/>
                <a:ea typeface="+mn-ea"/>
                <a:cs typeface="+mn-cs"/>
              </a:rPr>
              <a:t>Physically checking operation of toilets – Including:</a:t>
            </a:r>
          </a:p>
          <a:p>
            <a:pPr marL="628650" lvl="1" indent="-171450">
              <a:buFont typeface="Arial" pitchFamily="34" charset="0"/>
              <a:buChar char="•"/>
            </a:pPr>
            <a:r>
              <a:rPr lang="en-US" sz="1200" kern="1200" dirty="0" smtClean="0">
                <a:solidFill>
                  <a:schemeClr val="tx1"/>
                </a:solidFill>
                <a:latin typeface="+mn-lt"/>
                <a:ea typeface="+mn-ea"/>
                <a:cs typeface="+mn-cs"/>
              </a:rPr>
              <a:t>Operation of seat cover</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Operation of door and locking mechanism</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Physically checking operation of sinks – Including:</a:t>
            </a:r>
          </a:p>
          <a:p>
            <a:pPr marL="628650" lvl="1" indent="-171450">
              <a:buFont typeface="Arial" pitchFamily="34" charset="0"/>
              <a:buChar char="•"/>
            </a:pPr>
            <a:r>
              <a:rPr lang="en-US" sz="1200" kern="1200" dirty="0" smtClean="0">
                <a:solidFill>
                  <a:schemeClr val="tx1"/>
                </a:solidFill>
                <a:latin typeface="+mn-lt"/>
                <a:ea typeface="+mn-ea"/>
                <a:cs typeface="+mn-cs"/>
              </a:rPr>
              <a:t>Operation of hot water heater</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Operation of hot and cold water and taps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Operation of plugs and drainage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Operation of hand drying facilities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Operation of soap dispenser</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Physically checking operation of the radio – including:</a:t>
            </a:r>
          </a:p>
          <a:p>
            <a:pPr marL="628650" lvl="1" indent="-171450">
              <a:buFont typeface="Arial" pitchFamily="34" charset="0"/>
              <a:buChar char="•"/>
            </a:pPr>
            <a:r>
              <a:rPr lang="en-US" sz="1200" kern="1200" dirty="0" smtClean="0">
                <a:solidFill>
                  <a:schemeClr val="tx1"/>
                </a:solidFill>
                <a:latin typeface="+mn-lt"/>
                <a:ea typeface="+mn-ea"/>
                <a:cs typeface="+mn-cs"/>
              </a:rPr>
              <a:t>Operation of station selection and AM/FM selector</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Operation of volume and other controls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Visual displays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Condition of speakers – with attention to physical damage and clarity of sound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Condition of the aerial.</a:t>
            </a:r>
            <a:endParaRPr lang="en-AU" sz="1200" kern="120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135</a:t>
            </a:fld>
            <a:endParaRPr lang="en-US" dirty="0"/>
          </a:p>
        </p:txBody>
      </p:sp>
    </p:spTree>
    <p:extLst>
      <p:ext uri="{BB962C8B-B14F-4D97-AF65-F5344CB8AC3E}">
        <p14:creationId xmlns:p14="http://schemas.microsoft.com/office/powerpoint/2010/main" val="2724853026"/>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discussing on-board services/facilities and systems checks:</a:t>
            </a:r>
          </a:p>
          <a:p>
            <a:pPr marL="171450" indent="-171450">
              <a:buFont typeface="Arial" pitchFamily="34" charset="0"/>
              <a:buChar char="•"/>
            </a:pPr>
            <a:r>
              <a:rPr lang="en-AU" sz="1200" kern="1200" dirty="0" smtClean="0">
                <a:solidFill>
                  <a:schemeClr val="tx1"/>
                </a:solidFill>
                <a:latin typeface="+mn-lt"/>
                <a:ea typeface="+mn-ea"/>
                <a:cs typeface="+mn-cs"/>
              </a:rPr>
              <a:t>Physically checking operation of television – including:</a:t>
            </a:r>
          </a:p>
          <a:p>
            <a:pPr marL="628650" lvl="1" indent="-171450">
              <a:buFont typeface="Arial" pitchFamily="34" charset="0"/>
              <a:buChar char="•"/>
            </a:pPr>
            <a:r>
              <a:rPr lang="en-US" sz="1200" kern="1200" dirty="0" smtClean="0">
                <a:solidFill>
                  <a:schemeClr val="tx1"/>
                </a:solidFill>
                <a:latin typeface="+mn-lt"/>
                <a:ea typeface="+mn-ea"/>
                <a:cs typeface="+mn-cs"/>
              </a:rPr>
              <a:t>Operation of channel selection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Operation of volume controls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Condition of speakers – with attention to physical damage and clarity of sound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Clarity of picture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Operation of DVD facility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Operation of remote control unit</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Visual displays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Condition of the antenna</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Physically checking operation of audio-tape systems – including:</a:t>
            </a:r>
          </a:p>
          <a:p>
            <a:pPr marL="628650" lvl="1" indent="-171450">
              <a:buFont typeface="Arial" pitchFamily="34" charset="0"/>
              <a:buChar char="•"/>
            </a:pPr>
            <a:r>
              <a:rPr lang="en-US" sz="1200" kern="1200" dirty="0" smtClean="0">
                <a:solidFill>
                  <a:schemeClr val="tx1"/>
                </a:solidFill>
                <a:latin typeface="+mn-lt"/>
                <a:ea typeface="+mn-ea"/>
                <a:cs typeface="+mn-cs"/>
              </a:rPr>
              <a:t>Operation of volume and other (fast forward, rewind) controls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Condition of speakers – with attention to physical damage and clarity of sound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Operation of remote control unit</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Visual displays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Physically checking operation of public address systems – including:</a:t>
            </a:r>
          </a:p>
          <a:p>
            <a:pPr marL="628650" lvl="1" indent="-171450">
              <a:buFont typeface="Arial" pitchFamily="34" charset="0"/>
              <a:buChar char="•"/>
            </a:pPr>
            <a:r>
              <a:rPr lang="en-US" sz="1200" kern="1200" dirty="0" smtClean="0">
                <a:solidFill>
                  <a:schemeClr val="tx1"/>
                </a:solidFill>
                <a:latin typeface="+mn-lt"/>
                <a:ea typeface="+mn-ea"/>
                <a:cs typeface="+mn-cs"/>
              </a:rPr>
              <a:t>Operation of volume controls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Condition of speakers – with attention to physical damage and clarity of sound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Operation of microphone.</a:t>
            </a: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136</a:t>
            </a:fld>
            <a:endParaRPr lang="en-US" dirty="0"/>
          </a:p>
        </p:txBody>
      </p:sp>
    </p:spTree>
    <p:extLst>
      <p:ext uri="{BB962C8B-B14F-4D97-AF65-F5344CB8AC3E}">
        <p14:creationId xmlns:p14="http://schemas.microsoft.com/office/powerpoint/2010/main" val="3826197719"/>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discussing on-board services/facilities and systems checks:</a:t>
            </a:r>
          </a:p>
          <a:p>
            <a:pPr marL="171450" indent="-171450">
              <a:buFont typeface="Arial" pitchFamily="34" charset="0"/>
              <a:buChar char="•"/>
            </a:pPr>
            <a:r>
              <a:rPr lang="en-AU" sz="1200" kern="1200" dirty="0" smtClean="0">
                <a:solidFill>
                  <a:schemeClr val="tx1"/>
                </a:solidFill>
                <a:latin typeface="+mn-lt"/>
                <a:ea typeface="+mn-ea"/>
                <a:cs typeface="+mn-cs"/>
              </a:rPr>
              <a:t>Physically checking operation of installed two-way (CB and UHF) radios – including:</a:t>
            </a:r>
          </a:p>
          <a:p>
            <a:pPr marL="628650" lvl="1" indent="-171450">
              <a:buFont typeface="Arial" pitchFamily="34" charset="0"/>
              <a:buChar char="•"/>
            </a:pPr>
            <a:r>
              <a:rPr lang="en-US" sz="1200" kern="1200" dirty="0" smtClean="0">
                <a:solidFill>
                  <a:schemeClr val="tx1"/>
                </a:solidFill>
                <a:latin typeface="+mn-lt"/>
                <a:ea typeface="+mn-ea"/>
                <a:cs typeface="+mn-cs"/>
              </a:rPr>
              <a:t>Operation of volume controls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Operation of channel selection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Visual displays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Condition of speakers – with attention to physical damage and clarity of sound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Condition of the aerial/s</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AU" sz="1200" kern="1200" dirty="0" smtClean="0">
                <a:solidFill>
                  <a:schemeClr val="tx1"/>
                </a:solidFill>
                <a:latin typeface="+mn-lt"/>
                <a:ea typeface="+mn-ea"/>
                <a:cs typeface="+mn-cs"/>
              </a:rPr>
              <a:t>The maintenance of hand-held communication devices is the responsibility of the persons who use the vehicle/use the units</a:t>
            </a:r>
          </a:p>
          <a:p>
            <a:pPr marL="171450" indent="-171450">
              <a:buFont typeface="Arial" pitchFamily="34" charset="0"/>
              <a:buChar char="•"/>
            </a:pPr>
            <a:r>
              <a:rPr lang="en-AU" sz="1200" kern="1200" dirty="0" smtClean="0">
                <a:solidFill>
                  <a:schemeClr val="tx1"/>
                </a:solidFill>
                <a:latin typeface="+mn-lt"/>
                <a:ea typeface="+mn-ea"/>
                <a:cs typeface="+mn-cs"/>
              </a:rPr>
              <a:t>Physically checking operation of all options and facilities for all installed electronic and/or electrical devices – such as:</a:t>
            </a:r>
          </a:p>
          <a:p>
            <a:pPr marL="628650" lvl="1" indent="-171450">
              <a:buFont typeface="Arial" pitchFamily="34" charset="0"/>
              <a:buChar char="•"/>
            </a:pPr>
            <a:r>
              <a:rPr lang="en-US" sz="1200" kern="1200" dirty="0" smtClean="0">
                <a:solidFill>
                  <a:schemeClr val="tx1"/>
                </a:solidFill>
                <a:latin typeface="+mn-lt"/>
                <a:ea typeface="+mn-ea"/>
                <a:cs typeface="+mn-cs"/>
              </a:rPr>
              <a:t>Global positioning systems (navigation aids)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On-board cameras and recording equipment</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Battery management</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ECUs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Asset management (RFID/vehicle tracking)</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Physically checking operation of other items specific to individual types of vehicles.</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137</a:t>
            </a:fld>
            <a:endParaRPr lang="en-US" dirty="0"/>
          </a:p>
        </p:txBody>
      </p:sp>
    </p:spTree>
    <p:extLst>
      <p:ext uri="{BB962C8B-B14F-4D97-AF65-F5344CB8AC3E}">
        <p14:creationId xmlns:p14="http://schemas.microsoft.com/office/powerpoint/2010/main" val="3582800644"/>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presents adjustments: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Cleaning – especially dust and dirt</a:t>
            </a:r>
          </a:p>
          <a:p>
            <a:pPr marL="171450" indent="-171450">
              <a:buFont typeface="Arial" pitchFamily="34" charset="0"/>
              <a:buChar char="•"/>
            </a:pPr>
            <a:r>
              <a:rPr lang="en-AU" sz="1200" kern="1200" dirty="0" smtClean="0">
                <a:solidFill>
                  <a:schemeClr val="tx1"/>
                </a:solidFill>
                <a:latin typeface="+mn-lt"/>
                <a:ea typeface="+mn-ea"/>
                <a:cs typeface="+mn-cs"/>
              </a:rPr>
              <a:t>Replacing tap washers</a:t>
            </a:r>
          </a:p>
          <a:p>
            <a:pPr marL="171450" indent="-171450">
              <a:buFont typeface="Arial" pitchFamily="34" charset="0"/>
              <a:buChar char="•"/>
            </a:pPr>
            <a:r>
              <a:rPr lang="en-AU" sz="1200" kern="1200" dirty="0" smtClean="0">
                <a:solidFill>
                  <a:schemeClr val="tx1"/>
                </a:solidFill>
                <a:latin typeface="+mn-lt"/>
                <a:ea typeface="+mn-ea"/>
                <a:cs typeface="+mn-cs"/>
              </a:rPr>
              <a:t>Lubricating moving parts in toilet and wash systems</a:t>
            </a:r>
          </a:p>
          <a:p>
            <a:pPr marL="171450" indent="-171450">
              <a:buFont typeface="Arial" pitchFamily="34" charset="0"/>
              <a:buChar char="•"/>
            </a:pPr>
            <a:r>
              <a:rPr lang="en-AU" sz="1200" kern="1200" dirty="0" smtClean="0">
                <a:solidFill>
                  <a:schemeClr val="tx1"/>
                </a:solidFill>
                <a:latin typeface="+mn-lt"/>
                <a:ea typeface="+mn-ea"/>
                <a:cs typeface="+mn-cs"/>
              </a:rPr>
              <a:t>Changing batteries in remote-control/hand-held units.</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138</a:t>
            </a:fld>
            <a:endParaRPr lang="en-US" dirty="0"/>
          </a:p>
        </p:txBody>
      </p:sp>
    </p:spTree>
    <p:extLst>
      <p:ext uri="{BB962C8B-B14F-4D97-AF65-F5344CB8AC3E}">
        <p14:creationId xmlns:p14="http://schemas.microsoft.com/office/powerpoint/2010/main" val="1947940202"/>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presenting adjustments: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Replenishing bathroom/toilet supplies (or this may be done by cleaning staff)</a:t>
            </a:r>
          </a:p>
          <a:p>
            <a:pPr marL="171450" indent="-171450">
              <a:buFont typeface="Arial" pitchFamily="34" charset="0"/>
              <a:buChar char="•"/>
            </a:pPr>
            <a:r>
              <a:rPr lang="en-AU" sz="1200" kern="1200" dirty="0" smtClean="0">
                <a:solidFill>
                  <a:schemeClr val="tx1"/>
                </a:solidFill>
                <a:latin typeface="+mn-lt"/>
                <a:ea typeface="+mn-ea"/>
                <a:cs typeface="+mn-cs"/>
              </a:rPr>
              <a:t>Reading the ‘User Manual’ for the vehicle or for the individual on-board system to:</a:t>
            </a:r>
          </a:p>
          <a:p>
            <a:pPr marL="628650" lvl="1" indent="-171450">
              <a:buFont typeface="Arial" pitchFamily="34" charset="0"/>
              <a:buChar char="•"/>
            </a:pPr>
            <a:r>
              <a:rPr lang="en-AU" sz="1200" kern="1200" dirty="0" smtClean="0">
                <a:solidFill>
                  <a:schemeClr val="tx1"/>
                </a:solidFill>
                <a:latin typeface="+mn-lt"/>
                <a:ea typeface="+mn-ea"/>
                <a:cs typeface="+mn-cs"/>
              </a:rPr>
              <a:t>Identify required service/preventative maintenance requirements</a:t>
            </a:r>
          </a:p>
          <a:p>
            <a:pPr marL="628650" lvl="1" indent="-171450">
              <a:buFont typeface="Arial" pitchFamily="34" charset="0"/>
              <a:buChar char="•"/>
            </a:pPr>
            <a:r>
              <a:rPr lang="en-AU" sz="1200" kern="1200" dirty="0" smtClean="0">
                <a:solidFill>
                  <a:schemeClr val="tx1"/>
                </a:solidFill>
                <a:latin typeface="+mn-lt"/>
                <a:ea typeface="+mn-ea"/>
                <a:cs typeface="+mn-cs"/>
              </a:rPr>
              <a:t>Diagnose the cause of faults/problems</a:t>
            </a:r>
          </a:p>
          <a:p>
            <a:pPr marL="628650" lvl="1" indent="-171450">
              <a:buFont typeface="Arial" pitchFamily="34" charset="0"/>
              <a:buChar char="•"/>
            </a:pPr>
            <a:r>
              <a:rPr lang="en-AU" sz="1200" kern="1200" dirty="0" smtClean="0">
                <a:solidFill>
                  <a:schemeClr val="tx1"/>
                </a:solidFill>
                <a:latin typeface="+mn-lt"/>
                <a:ea typeface="+mn-ea"/>
                <a:cs typeface="+mn-cs"/>
              </a:rPr>
              <a:t>Effect necessary repairs</a:t>
            </a:r>
          </a:p>
          <a:p>
            <a:pPr marL="171450" indent="-171450">
              <a:buFont typeface="Arial" pitchFamily="34" charset="0"/>
              <a:buChar char="•"/>
            </a:pPr>
            <a:r>
              <a:rPr lang="en-AU" sz="1200" kern="1200" dirty="0" smtClean="0">
                <a:solidFill>
                  <a:schemeClr val="tx1"/>
                </a:solidFill>
                <a:latin typeface="+mn-lt"/>
                <a:ea typeface="+mn-ea"/>
                <a:cs typeface="+mn-cs"/>
              </a:rPr>
              <a:t>Making arrangements for qualified service technicians to service/repair the items.</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139</a:t>
            </a:fld>
            <a:endParaRPr lang="en-US" dirty="0"/>
          </a:p>
        </p:txBody>
      </p:sp>
    </p:spTree>
    <p:extLst>
      <p:ext uri="{BB962C8B-B14F-4D97-AF65-F5344CB8AC3E}">
        <p14:creationId xmlns:p14="http://schemas.microsoft.com/office/powerpoint/2010/main" val="2469818343"/>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presenting adjustments: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Tightening/securing brackets and connectors</a:t>
            </a:r>
          </a:p>
          <a:p>
            <a:pPr marL="171450" indent="-171450">
              <a:buFont typeface="Arial" pitchFamily="34" charset="0"/>
              <a:buChar char="•"/>
            </a:pPr>
            <a:r>
              <a:rPr lang="en-AU" sz="1200" kern="1200" dirty="0" smtClean="0">
                <a:solidFill>
                  <a:schemeClr val="tx1"/>
                </a:solidFill>
                <a:latin typeface="+mn-lt"/>
                <a:ea typeface="+mn-ea"/>
                <a:cs typeface="+mn-cs"/>
              </a:rPr>
              <a:t>Upgrading GPS maps as required</a:t>
            </a:r>
          </a:p>
          <a:p>
            <a:pPr marL="171450" indent="-171450">
              <a:buFont typeface="Arial" pitchFamily="34" charset="0"/>
              <a:buChar char="•"/>
            </a:pPr>
            <a:r>
              <a:rPr lang="en-AU" sz="1200" kern="1200" dirty="0" smtClean="0">
                <a:solidFill>
                  <a:schemeClr val="tx1"/>
                </a:solidFill>
                <a:latin typeface="+mn-lt"/>
                <a:ea typeface="+mn-ea"/>
                <a:cs typeface="+mn-cs"/>
              </a:rPr>
              <a:t>Replacing unserviceable items (or making arrangements for same).</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140</a:t>
            </a:fld>
            <a:endParaRPr lang="en-US" dirty="0"/>
          </a:p>
        </p:txBody>
      </p:sp>
    </p:spTree>
    <p:extLst>
      <p:ext uri="{BB962C8B-B14F-4D97-AF65-F5344CB8AC3E}">
        <p14:creationId xmlns:p14="http://schemas.microsoft.com/office/powerpoint/2010/main" val="1662514967"/>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discusses checks:</a:t>
            </a:r>
          </a:p>
          <a:p>
            <a:pPr marL="171450" indent="-171450">
              <a:buFont typeface="Arial" pitchFamily="34" charset="0"/>
              <a:buChar char="•"/>
            </a:pPr>
            <a:r>
              <a:rPr lang="en-AU" sz="1200" kern="1200" dirty="0" smtClean="0">
                <a:solidFill>
                  <a:schemeClr val="tx1"/>
                </a:solidFill>
                <a:latin typeface="+mn-lt"/>
                <a:ea typeface="+mn-ea"/>
                <a:cs typeface="+mn-cs"/>
              </a:rPr>
              <a:t>Load anchorages – inspecting and testing to:</a:t>
            </a:r>
          </a:p>
          <a:p>
            <a:pPr marL="628650" lvl="1" indent="-171450">
              <a:buFont typeface="Arial" pitchFamily="34" charset="0"/>
              <a:buChar char="•"/>
            </a:pPr>
            <a:r>
              <a:rPr lang="en-AU" sz="1200" kern="1200" dirty="0" smtClean="0">
                <a:solidFill>
                  <a:schemeClr val="tx1"/>
                </a:solidFill>
                <a:latin typeface="+mn-lt"/>
                <a:ea typeface="+mn-ea"/>
                <a:cs typeface="+mn-cs"/>
              </a:rPr>
              <a:t>Ensure they are securely mounted and have not worked loose</a:t>
            </a:r>
          </a:p>
          <a:p>
            <a:pPr marL="628650" lvl="1" indent="-171450">
              <a:buFont typeface="Arial" pitchFamily="34" charset="0"/>
              <a:buChar char="•"/>
            </a:pPr>
            <a:r>
              <a:rPr lang="en-AU" sz="1200" kern="1200" dirty="0" smtClean="0">
                <a:solidFill>
                  <a:schemeClr val="tx1"/>
                </a:solidFill>
                <a:latin typeface="+mn-lt"/>
                <a:ea typeface="+mn-ea"/>
                <a:cs typeface="+mn-cs"/>
              </a:rPr>
              <a:t>Make sure there is no visible rust/corrosion to the anchorages or surfaces to which they are attached.</a:t>
            </a: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141</a:t>
            </a:fld>
            <a:endParaRPr lang="en-US" dirty="0"/>
          </a:p>
        </p:txBody>
      </p:sp>
    </p:spTree>
    <p:extLst>
      <p:ext uri="{BB962C8B-B14F-4D97-AF65-F5344CB8AC3E}">
        <p14:creationId xmlns:p14="http://schemas.microsoft.com/office/powerpoint/2010/main" val="354925410"/>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discussing checks:</a:t>
            </a:r>
          </a:p>
          <a:p>
            <a:pPr marL="171450" indent="-171450">
              <a:buFont typeface="Arial" pitchFamily="34" charset="0"/>
              <a:buChar char="•"/>
            </a:pPr>
            <a:r>
              <a:rPr lang="en-AU" sz="1200" kern="1200" dirty="0" smtClean="0">
                <a:solidFill>
                  <a:schemeClr val="tx1"/>
                </a:solidFill>
                <a:latin typeface="+mn-lt"/>
                <a:ea typeface="+mn-ea"/>
                <a:cs typeface="+mn-cs"/>
              </a:rPr>
              <a:t>Retention devices, baggage and cargo restraints – inspecting and testing to:</a:t>
            </a:r>
          </a:p>
          <a:p>
            <a:pPr marL="628650" lvl="1" indent="-171450">
              <a:buFont typeface="Arial" pitchFamily="34" charset="0"/>
              <a:buChar char="•"/>
            </a:pPr>
            <a:r>
              <a:rPr lang="en-AU" sz="1200" kern="1200" dirty="0" smtClean="0">
                <a:solidFill>
                  <a:schemeClr val="tx1"/>
                </a:solidFill>
                <a:latin typeface="+mn-lt"/>
                <a:ea typeface="+mn-ea"/>
                <a:cs typeface="+mn-cs"/>
              </a:rPr>
              <a:t>Ensure they remain securely fitted and have not worked loose</a:t>
            </a:r>
          </a:p>
          <a:p>
            <a:pPr marL="628650" lvl="1" indent="-171450">
              <a:buFont typeface="Arial" pitchFamily="34" charset="0"/>
              <a:buChar char="•"/>
            </a:pPr>
            <a:r>
              <a:rPr lang="en-US" sz="1200" kern="1200" dirty="0" smtClean="0">
                <a:solidFill>
                  <a:schemeClr val="tx1"/>
                </a:solidFill>
                <a:latin typeface="+mn-lt"/>
                <a:ea typeface="+mn-ea"/>
                <a:cs typeface="+mn-cs"/>
              </a:rPr>
              <a:t>Verify operation as intended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Confirm effectiveness and suitability for loads/items to be secured/restrained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Make sure there is no corrosion to steel components.</a:t>
            </a: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142</a:t>
            </a:fld>
            <a:endParaRPr lang="en-US" dirty="0"/>
          </a:p>
        </p:txBody>
      </p:sp>
    </p:spTree>
    <p:extLst>
      <p:ext uri="{BB962C8B-B14F-4D97-AF65-F5344CB8AC3E}">
        <p14:creationId xmlns:p14="http://schemas.microsoft.com/office/powerpoint/2010/main" val="28150909"/>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discussing checks:</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(Continued) Retention devices, baggage and cargo restraints – inspecting and testing to:</a:t>
            </a:r>
          </a:p>
          <a:p>
            <a:pPr marL="628650" lvl="1" indent="-171450">
              <a:buFont typeface="Arial" pitchFamily="34" charset="0"/>
              <a:buChar char="•"/>
            </a:pPr>
            <a:r>
              <a:rPr lang="en-US" sz="1200" kern="1200" dirty="0" smtClean="0">
                <a:solidFill>
                  <a:schemeClr val="tx1"/>
                </a:solidFill>
                <a:latin typeface="+mn-lt"/>
                <a:ea typeface="+mn-ea"/>
                <a:cs typeface="+mn-cs"/>
              </a:rPr>
              <a:t>Check condition of straps, webbing and nets – no rips, missing parts, damage, deterioration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Count/examine number of cords/straps to ensure they are all present</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Confirm operation of ratchets and rollers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Make sure D-rings and other attachments/connectors are in place, undamaged and fully-functional.</a:t>
            </a: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143</a:t>
            </a:fld>
            <a:endParaRPr lang="en-US" dirty="0"/>
          </a:p>
        </p:txBody>
      </p:sp>
    </p:spTree>
    <p:extLst>
      <p:ext uri="{BB962C8B-B14F-4D97-AF65-F5344CB8AC3E}">
        <p14:creationId xmlns:p14="http://schemas.microsoft.com/office/powerpoint/2010/main" val="199740167"/>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discussing checks:</a:t>
            </a:r>
          </a:p>
          <a:p>
            <a:pPr marL="171450" indent="-171450">
              <a:buFont typeface="Arial" pitchFamily="34" charset="0"/>
              <a:buChar char="•"/>
            </a:pPr>
            <a:r>
              <a:rPr lang="en-US" sz="1200" kern="1200" dirty="0" smtClean="0">
                <a:solidFill>
                  <a:schemeClr val="tx1"/>
                </a:solidFill>
                <a:latin typeface="+mn-lt"/>
                <a:ea typeface="+mn-ea"/>
                <a:cs typeface="+mn-cs"/>
              </a:rPr>
              <a:t>Cab guards – these </a:t>
            </a:r>
            <a:r>
              <a:rPr lang="en-AU" sz="1200" kern="1200" dirty="0" smtClean="0">
                <a:solidFill>
                  <a:schemeClr val="tx1"/>
                </a:solidFill>
                <a:latin typeface="+mn-lt"/>
                <a:ea typeface="+mn-ea"/>
                <a:cs typeface="+mn-cs"/>
              </a:rPr>
              <a:t>are the devices designed to protect people in the cab of a vehicle from intrusion of items coming in through the rear window during an accident or a quick stop/hard braking</a:t>
            </a:r>
            <a:r>
              <a:rPr lang="en-US" sz="1200" kern="1200" dirty="0" smtClean="0">
                <a:solidFill>
                  <a:schemeClr val="tx1"/>
                </a:solidFill>
                <a:latin typeface="+mn-lt"/>
                <a:ea typeface="+mn-ea"/>
                <a:cs typeface="+mn-cs"/>
              </a:rPr>
              <a:t>:</a:t>
            </a:r>
          </a:p>
          <a:p>
            <a:pPr marL="628650" lvl="1" indent="-171450">
              <a:buFont typeface="Arial" pitchFamily="34" charset="0"/>
              <a:buChar char="•"/>
            </a:pPr>
            <a:r>
              <a:rPr lang="en-US" sz="1200" kern="1200" dirty="0" smtClean="0">
                <a:solidFill>
                  <a:schemeClr val="tx1"/>
                </a:solidFill>
                <a:latin typeface="+mn-lt"/>
                <a:ea typeface="+mn-ea"/>
                <a:cs typeface="+mn-cs"/>
              </a:rPr>
              <a:t>Mounting points are secure and solid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Unit is rigid and fully covering the window being protected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No corrosion/rust near mounting/anchor points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No damage to the unit which compromises its integrity.</a:t>
            </a: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144</a:t>
            </a:fld>
            <a:endParaRPr lang="en-US" dirty="0"/>
          </a:p>
        </p:txBody>
      </p:sp>
    </p:spTree>
    <p:extLst>
      <p:ext uri="{BB962C8B-B14F-4D97-AF65-F5344CB8AC3E}">
        <p14:creationId xmlns:p14="http://schemas.microsoft.com/office/powerpoint/2010/main" val="623700745"/>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discussing checks:</a:t>
            </a:r>
          </a:p>
          <a:p>
            <a:pPr marL="171450" indent="-171450">
              <a:buFont typeface="Arial" pitchFamily="34" charset="0"/>
              <a:buChar char="•"/>
            </a:pPr>
            <a:r>
              <a:rPr lang="en-US" sz="1200" kern="1200" dirty="0" smtClean="0">
                <a:solidFill>
                  <a:schemeClr val="tx1"/>
                </a:solidFill>
                <a:latin typeface="+mn-lt"/>
                <a:ea typeface="+mn-ea"/>
                <a:cs typeface="+mn-cs"/>
              </a:rPr>
              <a:t>(Continued) Cab guards:</a:t>
            </a:r>
          </a:p>
          <a:p>
            <a:pPr marL="628650" lvl="1" indent="-171450">
              <a:buFont typeface="Arial" pitchFamily="34" charset="0"/>
              <a:buChar char="•"/>
            </a:pPr>
            <a:r>
              <a:rPr lang="en-US" sz="1200" kern="1200" dirty="0" smtClean="0">
                <a:solidFill>
                  <a:schemeClr val="tx1"/>
                </a:solidFill>
                <a:latin typeface="+mn-lt"/>
                <a:ea typeface="+mn-ea"/>
                <a:cs typeface="+mn-cs"/>
              </a:rPr>
              <a:t>No loose parts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Mesh/wire has not broken/become unattached and become a hazard for people to cut themselves 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Required vision from the cab is not obstructed.</a:t>
            </a:r>
            <a:endParaRPr lang="en-AU" sz="1200" kern="1200" dirty="0" smtClean="0">
              <a:solidFill>
                <a:schemeClr val="tx1"/>
              </a:solidFill>
              <a:latin typeface="+mn-lt"/>
              <a:ea typeface="+mn-ea"/>
              <a:cs typeface="+mn-cs"/>
            </a:endParaRPr>
          </a:p>
          <a:p>
            <a:pPr>
              <a:buFont typeface="Arial" pitchFamily="34" charset="0"/>
              <a:buChar char="•"/>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145</a:t>
            </a:fld>
            <a:endParaRPr lang="en-US" dirty="0"/>
          </a:p>
        </p:txBody>
      </p:sp>
    </p:spTree>
    <p:extLst>
      <p:ext uri="{BB962C8B-B14F-4D97-AF65-F5344CB8AC3E}">
        <p14:creationId xmlns:p14="http://schemas.microsoft.com/office/powerpoint/2010/main" val="1509037133"/>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discussing checks:</a:t>
            </a:r>
          </a:p>
          <a:p>
            <a:pPr marL="171450" indent="-171450">
              <a:buFont typeface="Arial" pitchFamily="34" charset="0"/>
              <a:buChar char="•"/>
            </a:pPr>
            <a:r>
              <a:rPr lang="en-AU" sz="1200" kern="1200" dirty="0" smtClean="0">
                <a:solidFill>
                  <a:schemeClr val="tx1"/>
                </a:solidFill>
                <a:latin typeface="+mn-lt"/>
                <a:ea typeface="+mn-ea"/>
                <a:cs typeface="+mn-cs"/>
              </a:rPr>
              <a:t>Headboards, sideboards and tailboards – inspecting and testing to ensure:</a:t>
            </a:r>
          </a:p>
          <a:p>
            <a:pPr marL="628650" lvl="1" indent="-171450">
              <a:buFont typeface="Arial" pitchFamily="34" charset="0"/>
              <a:buChar char="•"/>
            </a:pPr>
            <a:r>
              <a:rPr lang="en-US" sz="1200" kern="1200" dirty="0" smtClean="0">
                <a:solidFill>
                  <a:schemeClr val="tx1"/>
                </a:solidFill>
                <a:latin typeface="+mn-lt"/>
                <a:ea typeface="+mn-ea"/>
                <a:cs typeface="+mn-cs"/>
              </a:rPr>
              <a:t>Operation as intended – opening and closing/moving up and down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Boards are securely attached to the vehicle itself</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Boards can be securely locked in position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No fasteners are missing or loose.</a:t>
            </a: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146</a:t>
            </a:fld>
            <a:endParaRPr lang="en-US" dirty="0"/>
          </a:p>
        </p:txBody>
      </p:sp>
    </p:spTree>
    <p:extLst>
      <p:ext uri="{BB962C8B-B14F-4D97-AF65-F5344CB8AC3E}">
        <p14:creationId xmlns:p14="http://schemas.microsoft.com/office/powerpoint/2010/main" val="1848865658"/>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discussing checks:</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(Continued) Headboards, sideboards and tailboards – inspecting and testing to ensure:</a:t>
            </a:r>
          </a:p>
          <a:p>
            <a:pPr marL="628650" lvl="1" indent="-171450">
              <a:buFont typeface="Arial" pitchFamily="34" charset="0"/>
              <a:buChar char="•"/>
            </a:pPr>
            <a:r>
              <a:rPr lang="en-US" sz="1200" kern="1200" dirty="0" smtClean="0">
                <a:solidFill>
                  <a:schemeClr val="tx1"/>
                </a:solidFill>
                <a:latin typeface="+mn-lt"/>
                <a:ea typeface="+mn-ea"/>
                <a:cs typeface="+mn-cs"/>
              </a:rPr>
              <a:t>No evidence of rust or corrosion – at mounting points and on boards themselves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No evidence of cracks or fractures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No proof of significant damage or distortion – which impacts function and/or presents a hazard.</a:t>
            </a: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147</a:t>
            </a:fld>
            <a:endParaRPr lang="en-US" dirty="0"/>
          </a:p>
        </p:txBody>
      </p:sp>
    </p:spTree>
    <p:extLst>
      <p:ext uri="{BB962C8B-B14F-4D97-AF65-F5344CB8AC3E}">
        <p14:creationId xmlns:p14="http://schemas.microsoft.com/office/powerpoint/2010/main" val="2088082120"/>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discussing checks:</a:t>
            </a:r>
          </a:p>
          <a:p>
            <a:pPr marL="171450" indent="-171450">
              <a:buFont typeface="Arial" pitchFamily="34" charset="0"/>
              <a:buChar char="•"/>
            </a:pPr>
            <a:r>
              <a:rPr lang="en-AU" sz="1200" kern="1200" dirty="0" smtClean="0">
                <a:solidFill>
                  <a:schemeClr val="tx1"/>
                </a:solidFill>
                <a:latin typeface="+mn-lt"/>
                <a:ea typeface="+mn-ea"/>
                <a:cs typeface="+mn-cs"/>
              </a:rPr>
              <a:t>Curtain systems – these are the flexible curtains commonly used on the side of vehicles/trucks to contain loads</a:t>
            </a:r>
          </a:p>
          <a:p>
            <a:pPr marL="628650" lvl="1" indent="-171450">
              <a:buFont typeface="Arial" pitchFamily="34" charset="0"/>
              <a:buChar char="•"/>
            </a:pPr>
            <a:r>
              <a:rPr lang="en-US" sz="1200" kern="1200" dirty="0" smtClean="0">
                <a:solidFill>
                  <a:schemeClr val="tx1"/>
                </a:solidFill>
                <a:latin typeface="+mn-lt"/>
                <a:ea typeface="+mn-ea"/>
                <a:cs typeface="+mn-cs"/>
              </a:rPr>
              <a:t>They are not ripped/torn or have not otherwise deteriorated or been damaged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They are securely attached to the frame which supports them – and the frame is securely attached to the vehicle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Previous repairs made to the fabric/material remain satisfactory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Correct rating system/curtain is being used (where applicable) – and relevant certificate is available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Curtain tensioning components are fully functional, secure and in good condition.</a:t>
            </a: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148</a:t>
            </a:fld>
            <a:endParaRPr lang="en-US" dirty="0"/>
          </a:p>
        </p:txBody>
      </p:sp>
    </p:spTree>
    <p:extLst>
      <p:ext uri="{BB962C8B-B14F-4D97-AF65-F5344CB8AC3E}">
        <p14:creationId xmlns:p14="http://schemas.microsoft.com/office/powerpoint/2010/main" val="3287978305"/>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presents adjustments:</a:t>
            </a:r>
          </a:p>
          <a:p>
            <a:pPr marL="171450" indent="-171450">
              <a:buFont typeface="Arial" pitchFamily="34" charset="0"/>
              <a:buChar char="•"/>
            </a:pPr>
            <a:r>
              <a:rPr lang="en-AU" sz="1200" kern="1200" dirty="0" smtClean="0">
                <a:solidFill>
                  <a:schemeClr val="tx1"/>
                </a:solidFill>
                <a:latin typeface="+mn-lt"/>
                <a:ea typeface="+mn-ea"/>
                <a:cs typeface="+mn-cs"/>
              </a:rPr>
              <a:t>Cleaning</a:t>
            </a:r>
          </a:p>
          <a:p>
            <a:pPr marL="171450" indent="-171450">
              <a:buFont typeface="Arial" pitchFamily="34" charset="0"/>
              <a:buChar char="•"/>
            </a:pPr>
            <a:r>
              <a:rPr lang="en-AU" sz="1200" kern="1200" dirty="0" smtClean="0">
                <a:solidFill>
                  <a:schemeClr val="tx1"/>
                </a:solidFill>
                <a:latin typeface="+mn-lt"/>
                <a:ea typeface="+mn-ea"/>
                <a:cs typeface="+mn-cs"/>
              </a:rPr>
              <a:t>Welding broken/damaged parts</a:t>
            </a:r>
          </a:p>
          <a:p>
            <a:pPr marL="171450" indent="-171450">
              <a:buFont typeface="Arial" pitchFamily="34" charset="0"/>
              <a:buChar char="•"/>
            </a:pPr>
            <a:r>
              <a:rPr lang="en-AU" sz="1200" kern="1200" dirty="0" smtClean="0">
                <a:solidFill>
                  <a:schemeClr val="tx1"/>
                </a:solidFill>
                <a:latin typeface="+mn-lt"/>
                <a:ea typeface="+mn-ea"/>
                <a:cs typeface="+mn-cs"/>
              </a:rPr>
              <a:t>Replacing straps, webbing and nets</a:t>
            </a:r>
          </a:p>
          <a:p>
            <a:pPr marL="171450" indent="-171450">
              <a:buFont typeface="Arial" pitchFamily="34" charset="0"/>
              <a:buChar char="•"/>
            </a:pPr>
            <a:r>
              <a:rPr lang="en-AU" sz="1200" kern="1200" dirty="0" smtClean="0">
                <a:solidFill>
                  <a:schemeClr val="tx1"/>
                </a:solidFill>
                <a:latin typeface="+mn-lt"/>
                <a:ea typeface="+mn-ea"/>
                <a:cs typeface="+mn-cs"/>
              </a:rPr>
              <a:t>Replacing anchor points, bolts and/or other connectors.</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149</a:t>
            </a:fld>
            <a:endParaRPr lang="en-US" dirty="0"/>
          </a:p>
        </p:txBody>
      </p:sp>
    </p:spTree>
    <p:extLst>
      <p:ext uri="{BB962C8B-B14F-4D97-AF65-F5344CB8AC3E}">
        <p14:creationId xmlns:p14="http://schemas.microsoft.com/office/powerpoint/2010/main" val="3640788633"/>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presenting adjustments:</a:t>
            </a:r>
          </a:p>
          <a:p>
            <a:pPr marL="171450" indent="-171450">
              <a:buFont typeface="Arial" pitchFamily="34" charset="0"/>
              <a:buChar char="•"/>
            </a:pPr>
            <a:r>
              <a:rPr lang="en-AU" sz="1200" kern="1200" dirty="0" smtClean="0">
                <a:solidFill>
                  <a:schemeClr val="tx1"/>
                </a:solidFill>
                <a:latin typeface="+mn-lt"/>
                <a:ea typeface="+mn-ea"/>
                <a:cs typeface="+mn-cs"/>
              </a:rPr>
              <a:t>Repairing and/or replacing boards and curtains</a:t>
            </a:r>
          </a:p>
          <a:p>
            <a:pPr marL="171450" indent="-171450">
              <a:buFont typeface="Arial" pitchFamily="34" charset="0"/>
              <a:buChar char="•"/>
            </a:pPr>
            <a:r>
              <a:rPr lang="en-AU" sz="1200" kern="1200" dirty="0" smtClean="0">
                <a:solidFill>
                  <a:schemeClr val="tx1"/>
                </a:solidFill>
                <a:latin typeface="+mn-lt"/>
                <a:ea typeface="+mn-ea"/>
                <a:cs typeface="+mn-cs"/>
              </a:rPr>
              <a:t>Replacing defective parts – where repairs cannot be successfully undertaken</a:t>
            </a:r>
          </a:p>
          <a:p>
            <a:pPr marL="171450" indent="-171450">
              <a:buFont typeface="Arial" pitchFamily="34" charset="0"/>
              <a:buChar char="•"/>
            </a:pPr>
            <a:r>
              <a:rPr lang="en-AU" sz="1200" kern="1200" dirty="0" smtClean="0">
                <a:solidFill>
                  <a:schemeClr val="tx1"/>
                </a:solidFill>
                <a:latin typeface="+mn-lt"/>
                <a:ea typeface="+mn-ea"/>
                <a:cs typeface="+mn-cs"/>
              </a:rPr>
              <a:t>Greasing moveable parts</a:t>
            </a:r>
          </a:p>
          <a:p>
            <a:pPr marL="171450" indent="-171450">
              <a:buFont typeface="Arial" pitchFamily="34" charset="0"/>
              <a:buChar char="•"/>
            </a:pPr>
            <a:r>
              <a:rPr lang="en-AU" sz="1200" kern="1200" dirty="0" smtClean="0">
                <a:solidFill>
                  <a:schemeClr val="tx1"/>
                </a:solidFill>
                <a:latin typeface="+mn-lt"/>
                <a:ea typeface="+mn-ea"/>
                <a:cs typeface="+mn-cs"/>
              </a:rPr>
              <a:t>Fitting items where revised use of vehicles indicates need to do so.</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150</a:t>
            </a:fld>
            <a:endParaRPr lang="en-US" dirty="0"/>
          </a:p>
        </p:txBody>
      </p:sp>
    </p:spTree>
    <p:extLst>
      <p:ext uri="{BB962C8B-B14F-4D97-AF65-F5344CB8AC3E}">
        <p14:creationId xmlns:p14="http://schemas.microsoft.com/office/powerpoint/2010/main" val="370741473"/>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discusses checks:</a:t>
            </a:r>
          </a:p>
          <a:p>
            <a:pPr marL="171450" indent="-171450">
              <a:buFont typeface="Arial" pitchFamily="34" charset="0"/>
              <a:buChar char="•"/>
            </a:pPr>
            <a:r>
              <a:rPr lang="en-AU" sz="1200" kern="1200" dirty="0" smtClean="0">
                <a:solidFill>
                  <a:schemeClr val="tx1"/>
                </a:solidFill>
                <a:latin typeface="+mn-lt"/>
                <a:ea typeface="+mn-ea"/>
                <a:cs typeface="+mn-cs"/>
              </a:rPr>
              <a:t>Jack/s for the vehicle – with attention to:</a:t>
            </a:r>
          </a:p>
          <a:p>
            <a:pPr marL="628650" lvl="1" indent="-171450">
              <a:buFont typeface="Arial" pitchFamily="34" charset="0"/>
              <a:buChar char="•"/>
            </a:pPr>
            <a:r>
              <a:rPr lang="en-AU" sz="1200" kern="1200" dirty="0" smtClean="0">
                <a:solidFill>
                  <a:schemeClr val="tx1"/>
                </a:solidFill>
                <a:latin typeface="+mn-lt"/>
                <a:ea typeface="+mn-ea"/>
                <a:cs typeface="+mn-cs"/>
              </a:rPr>
              <a:t>Verifying designated vehicles have the correct type/s of jacks stowed on board – for example, sedans for city/local use may have just one standard jack (as supplied by the car manufacturer) while 4WDs may also be required (under organisational SOPs) to also carry a high-lift jack or some other secondary lifting system</a:t>
            </a:r>
          </a:p>
          <a:p>
            <a:pPr marL="628650" lvl="1" indent="-171450">
              <a:buFont typeface="Arial" pitchFamily="34" charset="0"/>
              <a:buChar char="•"/>
            </a:pPr>
            <a:r>
              <a:rPr lang="en-AU" sz="1200" kern="1200" dirty="0" smtClean="0">
                <a:solidFill>
                  <a:schemeClr val="tx1"/>
                </a:solidFill>
                <a:latin typeface="+mn-lt"/>
                <a:ea typeface="+mn-ea"/>
                <a:cs typeface="+mn-cs"/>
              </a:rPr>
              <a:t>Making sure all components of each jack are present and located in their designated position</a:t>
            </a:r>
          </a:p>
          <a:p>
            <a:pPr marL="628650" lvl="1" indent="-171450">
              <a:buFont typeface="Arial" pitchFamily="34" charset="0"/>
              <a:buChar char="•"/>
            </a:pPr>
            <a:r>
              <a:rPr lang="en-AU" sz="1200" kern="1200" dirty="0" smtClean="0">
                <a:solidFill>
                  <a:schemeClr val="tx1"/>
                </a:solidFill>
                <a:latin typeface="+mn-lt"/>
                <a:ea typeface="+mn-ea"/>
                <a:cs typeface="+mn-cs"/>
              </a:rPr>
              <a:t>Checking a wheel brace is provided</a:t>
            </a:r>
          </a:p>
          <a:p>
            <a:pPr marL="628650" lvl="1" indent="-171450">
              <a:buFont typeface="Arial" pitchFamily="34" charset="0"/>
              <a:buChar char="•"/>
            </a:pPr>
            <a:r>
              <a:rPr lang="en-AU" sz="1200" kern="1200" dirty="0" smtClean="0">
                <a:solidFill>
                  <a:schemeClr val="tx1"/>
                </a:solidFill>
                <a:latin typeface="+mn-lt"/>
                <a:ea typeface="+mn-ea"/>
                <a:cs typeface="+mn-cs"/>
              </a:rPr>
              <a:t>Confirming physical operation of the jacks</a:t>
            </a:r>
          </a:p>
          <a:p>
            <a:pPr marL="628650" lvl="1" indent="-171450">
              <a:buFont typeface="Arial" pitchFamily="34" charset="0"/>
              <a:buChar char="•"/>
            </a:pPr>
            <a:r>
              <a:rPr lang="en-AU" sz="1200" kern="1200" dirty="0" smtClean="0">
                <a:solidFill>
                  <a:schemeClr val="tx1"/>
                </a:solidFill>
                <a:latin typeface="+mn-lt"/>
                <a:ea typeface="+mn-ea"/>
                <a:cs typeface="+mn-cs"/>
              </a:rPr>
              <a:t>Greasing jack screws as required.</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151</a:t>
            </a:fld>
            <a:endParaRPr lang="en-US" dirty="0"/>
          </a:p>
        </p:txBody>
      </p:sp>
    </p:spTree>
    <p:extLst>
      <p:ext uri="{BB962C8B-B14F-4D97-AF65-F5344CB8AC3E}">
        <p14:creationId xmlns:p14="http://schemas.microsoft.com/office/powerpoint/2010/main" val="3355993083"/>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discussing checks: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Tool kit – as provided for the vehicle, in terms of:</a:t>
            </a:r>
          </a:p>
          <a:p>
            <a:pPr marL="628650" lvl="1" indent="-171450">
              <a:buFont typeface="Arial" pitchFamily="34" charset="0"/>
              <a:buChar char="•"/>
            </a:pPr>
            <a:r>
              <a:rPr lang="en-AU" sz="1200" kern="1200" dirty="0" smtClean="0">
                <a:solidFill>
                  <a:schemeClr val="tx1"/>
                </a:solidFill>
                <a:latin typeface="+mn-lt"/>
                <a:ea typeface="+mn-ea"/>
                <a:cs typeface="+mn-cs"/>
              </a:rPr>
              <a:t>Confirming presence of all items using a checklist to guide and record the inspection/check</a:t>
            </a:r>
          </a:p>
          <a:p>
            <a:pPr marL="628650" lvl="1" indent="-171450">
              <a:buFont typeface="Arial" pitchFamily="34" charset="0"/>
              <a:buChar char="•"/>
            </a:pPr>
            <a:r>
              <a:rPr lang="en-AU" sz="1200" kern="1200" dirty="0" smtClean="0">
                <a:solidFill>
                  <a:schemeClr val="tx1"/>
                </a:solidFill>
                <a:latin typeface="+mn-lt"/>
                <a:ea typeface="+mn-ea"/>
                <a:cs typeface="+mn-cs"/>
              </a:rPr>
              <a:t>Replacing missing items.</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152</a:t>
            </a:fld>
            <a:endParaRPr lang="en-US" dirty="0"/>
          </a:p>
        </p:txBody>
      </p:sp>
    </p:spTree>
    <p:extLst>
      <p:ext uri="{BB962C8B-B14F-4D97-AF65-F5344CB8AC3E}">
        <p14:creationId xmlns:p14="http://schemas.microsoft.com/office/powerpoint/2010/main" val="1763635449"/>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discussing checks: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Spare parts – as required for the vehicle, in terms of:</a:t>
            </a:r>
          </a:p>
          <a:p>
            <a:pPr marL="628650" lvl="1" indent="-171450">
              <a:buFont typeface="Arial" pitchFamily="34" charset="0"/>
              <a:buChar char="•"/>
            </a:pPr>
            <a:r>
              <a:rPr lang="en-AU" sz="1200" kern="1200" dirty="0" smtClean="0">
                <a:solidFill>
                  <a:schemeClr val="tx1"/>
                </a:solidFill>
                <a:latin typeface="+mn-lt"/>
                <a:ea typeface="+mn-ea"/>
                <a:cs typeface="+mn-cs"/>
              </a:rPr>
              <a:t>Confirming presence of all items using a checklist to guide and record the inspection/check</a:t>
            </a:r>
          </a:p>
          <a:p>
            <a:pPr marL="628650" lvl="1" indent="-171450">
              <a:buFont typeface="Arial" pitchFamily="34" charset="0"/>
              <a:buChar char="•"/>
            </a:pPr>
            <a:r>
              <a:rPr lang="en-AU" sz="1200" kern="1200" dirty="0" smtClean="0">
                <a:solidFill>
                  <a:schemeClr val="tx1"/>
                </a:solidFill>
                <a:latin typeface="+mn-lt"/>
                <a:ea typeface="+mn-ea"/>
                <a:cs typeface="+mn-cs"/>
              </a:rPr>
              <a:t>Replacing missing items</a:t>
            </a:r>
          </a:p>
          <a:p>
            <a:pPr marL="628650" lvl="1" indent="-171450">
              <a:buFont typeface="Arial" pitchFamily="34" charset="0"/>
              <a:buChar char="•"/>
            </a:pPr>
            <a:r>
              <a:rPr lang="en-AU" sz="1200" kern="1200" dirty="0" smtClean="0">
                <a:solidFill>
                  <a:schemeClr val="tx1"/>
                </a:solidFill>
                <a:latin typeface="+mn-lt"/>
                <a:ea typeface="+mn-ea"/>
                <a:cs typeface="+mn-cs"/>
              </a:rPr>
              <a:t>Adding new items – in accordance with expected/upcoming vehicle use. </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153</a:t>
            </a:fld>
            <a:endParaRPr lang="en-US" dirty="0"/>
          </a:p>
        </p:txBody>
      </p:sp>
    </p:spTree>
    <p:extLst>
      <p:ext uri="{BB962C8B-B14F-4D97-AF65-F5344CB8AC3E}">
        <p14:creationId xmlns:p14="http://schemas.microsoft.com/office/powerpoint/2010/main" val="605293035"/>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discussing checks: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Spare tyre/s – to check:</a:t>
            </a:r>
          </a:p>
          <a:p>
            <a:pPr marL="628650" lvl="1" indent="-171450">
              <a:buFont typeface="Arial" pitchFamily="34" charset="0"/>
              <a:buChar char="•"/>
            </a:pPr>
            <a:r>
              <a:rPr lang="en-AU" sz="1200" kern="1200" dirty="0" smtClean="0">
                <a:solidFill>
                  <a:schemeClr val="tx1"/>
                </a:solidFill>
                <a:latin typeface="+mn-lt"/>
                <a:ea typeface="+mn-ea"/>
                <a:cs typeface="+mn-cs"/>
              </a:rPr>
              <a:t>Inflation</a:t>
            </a:r>
          </a:p>
          <a:p>
            <a:pPr marL="628650" lvl="1" indent="-171450">
              <a:buFont typeface="Arial" pitchFamily="34" charset="0"/>
              <a:buChar char="•"/>
            </a:pPr>
            <a:r>
              <a:rPr lang="en-AU" sz="1200" kern="1200" dirty="0" smtClean="0">
                <a:solidFill>
                  <a:schemeClr val="tx1"/>
                </a:solidFill>
                <a:latin typeface="+mn-lt"/>
                <a:ea typeface="+mn-ea"/>
                <a:cs typeface="+mn-cs"/>
              </a:rPr>
              <a:t>Load and speed rating</a:t>
            </a:r>
          </a:p>
          <a:p>
            <a:pPr marL="628650" lvl="1" indent="-171450">
              <a:buFont typeface="Arial" pitchFamily="34" charset="0"/>
              <a:buChar char="•"/>
            </a:pPr>
            <a:r>
              <a:rPr lang="en-AU" sz="1200" kern="1200" dirty="0" smtClean="0">
                <a:solidFill>
                  <a:schemeClr val="tx1"/>
                </a:solidFill>
                <a:latin typeface="+mn-lt"/>
                <a:ea typeface="+mn-ea"/>
                <a:cs typeface="+mn-cs"/>
              </a:rPr>
              <a:t>Tread pattern and depth</a:t>
            </a:r>
          </a:p>
          <a:p>
            <a:pPr marL="628650" lvl="1" indent="-171450">
              <a:buFont typeface="Arial" pitchFamily="34" charset="0"/>
              <a:buChar char="•"/>
            </a:pPr>
            <a:r>
              <a:rPr lang="en-AU" sz="1200" kern="1200" dirty="0" smtClean="0">
                <a:solidFill>
                  <a:schemeClr val="tx1"/>
                </a:solidFill>
                <a:latin typeface="+mn-lt"/>
                <a:ea typeface="+mn-ea"/>
                <a:cs typeface="+mn-cs"/>
              </a:rPr>
              <a:t>Condition of wheel, rims and sidewall of tyre/s.</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154</a:t>
            </a:fld>
            <a:endParaRPr lang="en-US" dirty="0"/>
          </a:p>
        </p:txBody>
      </p:sp>
    </p:spTree>
    <p:extLst>
      <p:ext uri="{BB962C8B-B14F-4D97-AF65-F5344CB8AC3E}">
        <p14:creationId xmlns:p14="http://schemas.microsoft.com/office/powerpoint/2010/main" val="67821417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discussing checks: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Tyre chains – checking:</a:t>
            </a:r>
          </a:p>
          <a:p>
            <a:pPr marL="628650" lvl="1" indent="-171450">
              <a:buFont typeface="Arial" pitchFamily="34" charset="0"/>
              <a:buChar char="•"/>
            </a:pPr>
            <a:r>
              <a:rPr lang="en-AU" sz="1200" kern="1200" dirty="0" smtClean="0">
                <a:solidFill>
                  <a:schemeClr val="tx1"/>
                </a:solidFill>
                <a:latin typeface="+mn-lt"/>
                <a:ea typeface="+mn-ea"/>
                <a:cs typeface="+mn-cs"/>
              </a:rPr>
              <a:t>Sufficient wheel chains are present – there must be chains for all the drive wheels, at least</a:t>
            </a:r>
          </a:p>
          <a:p>
            <a:pPr marL="628650" lvl="1" indent="-171450">
              <a:buFont typeface="Arial" pitchFamily="34" charset="0"/>
              <a:buChar char="•"/>
            </a:pPr>
            <a:r>
              <a:rPr lang="en-AU" sz="1200" kern="1200" dirty="0" smtClean="0">
                <a:solidFill>
                  <a:schemeClr val="tx1"/>
                </a:solidFill>
                <a:latin typeface="+mn-lt"/>
                <a:ea typeface="+mn-ea"/>
                <a:cs typeface="+mn-cs"/>
              </a:rPr>
              <a:t>Appropriate gloves are available for user to wear when fitting chains</a:t>
            </a:r>
          </a:p>
          <a:p>
            <a:pPr marL="628650" lvl="1" indent="-171450">
              <a:buFont typeface="Arial" pitchFamily="34" charset="0"/>
              <a:buChar char="•"/>
            </a:pPr>
            <a:r>
              <a:rPr lang="en-AU" sz="1200" kern="1200" dirty="0" smtClean="0">
                <a:solidFill>
                  <a:schemeClr val="tx1"/>
                </a:solidFill>
                <a:latin typeface="+mn-lt"/>
                <a:ea typeface="+mn-ea"/>
                <a:cs typeface="+mn-cs"/>
              </a:rPr>
              <a:t>Chains are the right size for the tyres of the vehicle</a:t>
            </a:r>
          </a:p>
          <a:p>
            <a:pPr marL="628650" lvl="1" indent="-171450">
              <a:buFont typeface="Arial" pitchFamily="34" charset="0"/>
              <a:buChar char="•"/>
            </a:pPr>
            <a:r>
              <a:rPr lang="en-AU" sz="1200" kern="1200" dirty="0" smtClean="0">
                <a:solidFill>
                  <a:schemeClr val="tx1"/>
                </a:solidFill>
                <a:latin typeface="+mn-lt"/>
                <a:ea typeface="+mn-ea"/>
                <a:cs typeface="+mn-cs"/>
              </a:rPr>
              <a:t>Hooks and links are sound – there should be no missing links or obvious damage.</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155</a:t>
            </a:fld>
            <a:endParaRPr lang="en-US" dirty="0"/>
          </a:p>
        </p:txBody>
      </p:sp>
    </p:spTree>
    <p:extLst>
      <p:ext uri="{BB962C8B-B14F-4D97-AF65-F5344CB8AC3E}">
        <p14:creationId xmlns:p14="http://schemas.microsoft.com/office/powerpoint/2010/main" val="508908085"/>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discussing checks: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Tyre studs – checking:</a:t>
            </a:r>
          </a:p>
          <a:p>
            <a:pPr marL="628650" lvl="1" indent="-171450">
              <a:buFont typeface="Arial" pitchFamily="34" charset="0"/>
              <a:buChar char="•"/>
            </a:pPr>
            <a:r>
              <a:rPr lang="en-AU" sz="1200" kern="1200" dirty="0" smtClean="0">
                <a:solidFill>
                  <a:schemeClr val="tx1"/>
                </a:solidFill>
                <a:latin typeface="+mn-lt"/>
                <a:ea typeface="+mn-ea"/>
                <a:cs typeface="+mn-cs"/>
              </a:rPr>
              <a:t>Tyres have sufficient tread depth – and holes are clean</a:t>
            </a:r>
          </a:p>
          <a:p>
            <a:pPr marL="628650" lvl="1" indent="-171450">
              <a:buFont typeface="Arial" pitchFamily="34" charset="0"/>
              <a:buChar char="•"/>
            </a:pPr>
            <a:r>
              <a:rPr lang="en-AU" sz="1200" kern="1200" dirty="0" smtClean="0">
                <a:solidFill>
                  <a:schemeClr val="tx1"/>
                </a:solidFill>
                <a:latin typeface="+mn-lt"/>
                <a:ea typeface="+mn-ea"/>
                <a:cs typeface="+mn-cs"/>
              </a:rPr>
              <a:t>Sufficient studs are available for the type and number of tyres to be studded</a:t>
            </a:r>
          </a:p>
          <a:p>
            <a:pPr marL="628650" lvl="1" indent="-171450">
              <a:buFont typeface="Arial" pitchFamily="34" charset="0"/>
              <a:buChar char="•"/>
            </a:pPr>
            <a:r>
              <a:rPr lang="en-AU" sz="1200" kern="1200" dirty="0" smtClean="0">
                <a:solidFill>
                  <a:schemeClr val="tx1"/>
                </a:solidFill>
                <a:latin typeface="+mn-lt"/>
                <a:ea typeface="+mn-ea"/>
                <a:cs typeface="+mn-cs"/>
              </a:rPr>
              <a:t>Available studs are correct length to match stud holes in the tyres to be fitted</a:t>
            </a:r>
          </a:p>
          <a:p>
            <a:pPr marL="628650" lvl="1" indent="-171450">
              <a:buFont typeface="Arial" pitchFamily="34" charset="0"/>
              <a:buChar char="•"/>
            </a:pPr>
            <a:r>
              <a:rPr lang="en-AU" sz="1200" kern="1200" dirty="0" smtClean="0">
                <a:solidFill>
                  <a:schemeClr val="tx1"/>
                </a:solidFill>
                <a:latin typeface="+mn-lt"/>
                <a:ea typeface="+mn-ea"/>
                <a:cs typeface="+mn-cs"/>
              </a:rPr>
              <a:t>Stud gun is used to insert studs</a:t>
            </a:r>
          </a:p>
          <a:p>
            <a:pPr marL="628650" lvl="1" indent="-171450">
              <a:buFont typeface="Arial" pitchFamily="34" charset="0"/>
              <a:buChar char="•"/>
            </a:pPr>
            <a:r>
              <a:rPr lang="en-AU" sz="1200" kern="1200" dirty="0" smtClean="0">
                <a:solidFill>
                  <a:schemeClr val="tx1"/>
                </a:solidFill>
                <a:latin typeface="+mn-lt"/>
                <a:ea typeface="+mn-ea"/>
                <a:cs typeface="+mn-cs"/>
              </a:rPr>
              <a:t>Studs are removed from tyres where they are not required – including spare tyre/s.</a:t>
            </a:r>
            <a:endParaRPr lang="en-US" noProof="0" dirty="0" smtClean="0"/>
          </a:p>
          <a:p>
            <a:pPr>
              <a:buFont typeface="Arial" pitchFamily="34" charset="0"/>
              <a:buNone/>
            </a:pPr>
            <a:r>
              <a:rPr lang="en-US" b="1" noProof="0" dirty="0" smtClean="0"/>
              <a:t>Classroom Activity (1)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smtClean="0"/>
          </a:p>
          <a:p>
            <a:pPr>
              <a:buFont typeface="Arial" pitchFamily="34" charset="0"/>
              <a:buNone/>
            </a:pPr>
            <a:r>
              <a:rPr lang="en-US" b="1" noProof="0" dirty="0" smtClean="0"/>
              <a:t>Classroom Activity (2) – internet Research</a:t>
            </a:r>
          </a:p>
          <a:p>
            <a:pPr>
              <a:buFont typeface="Arial" pitchFamily="34" charset="0"/>
              <a:buNone/>
            </a:pPr>
            <a:r>
              <a:rPr lang="en-US" b="0" noProof="0" dirty="0" smtClean="0"/>
              <a:t>Trainer facilitates research and discussion of:</a:t>
            </a:r>
          </a:p>
          <a:p>
            <a:r>
              <a:rPr lang="en-AU" sz="1200" u="sng" kern="1200" dirty="0" smtClean="0">
                <a:solidFill>
                  <a:schemeClr val="tx1"/>
                </a:solidFill>
                <a:latin typeface="+mn-lt"/>
                <a:ea typeface="+mn-ea"/>
                <a:cs typeface="+mn-cs"/>
                <a:hlinkClick r:id="rId3"/>
              </a:rPr>
              <a:t>http://www.tyrerack.com/winter/tech/techpage.jsp?techid=151</a:t>
            </a:r>
            <a:r>
              <a:rPr lang="en-AU" sz="1200" kern="1200" dirty="0" smtClean="0">
                <a:solidFill>
                  <a:schemeClr val="tx1"/>
                </a:solidFill>
                <a:latin typeface="+mn-lt"/>
                <a:ea typeface="+mn-ea"/>
                <a:cs typeface="+mn-cs"/>
              </a:rPr>
              <a:t> – Studded tyres for winter driving  </a:t>
            </a:r>
          </a:p>
          <a:p>
            <a:r>
              <a:rPr lang="en-AU" sz="1200" u="sng" kern="1200" dirty="0" smtClean="0">
                <a:solidFill>
                  <a:schemeClr val="tx1"/>
                </a:solidFill>
                <a:latin typeface="+mn-lt"/>
                <a:ea typeface="+mn-ea"/>
                <a:cs typeface="+mn-cs"/>
                <a:hlinkClick r:id="rId4"/>
              </a:rPr>
              <a:t>http://www.tyrerack.com/winter/tech/techpage.jsp?techid=124</a:t>
            </a:r>
            <a:r>
              <a:rPr lang="en-AU" sz="1200" kern="1200" dirty="0" smtClean="0">
                <a:solidFill>
                  <a:schemeClr val="tx1"/>
                </a:solidFill>
                <a:latin typeface="+mn-lt"/>
                <a:ea typeface="+mn-ea"/>
                <a:cs typeface="+mn-cs"/>
              </a:rPr>
              <a:t> – Stud removal from tyres</a:t>
            </a:r>
          </a:p>
          <a:p>
            <a:r>
              <a:rPr lang="en-AU" sz="1200" u="sng" kern="1200" dirty="0" smtClean="0">
                <a:solidFill>
                  <a:schemeClr val="tx1"/>
                </a:solidFill>
                <a:latin typeface="+mn-lt"/>
                <a:ea typeface="+mn-ea"/>
                <a:cs typeface="+mn-cs"/>
                <a:hlinkClick r:id="rId5"/>
              </a:rPr>
              <a:t>https://www.youtube.com/watch?v=BC6Kp-1gtc0</a:t>
            </a:r>
            <a:r>
              <a:rPr lang="en-AU" sz="1200" kern="1200" dirty="0" smtClean="0">
                <a:solidFill>
                  <a:schemeClr val="tx1"/>
                </a:solidFill>
                <a:latin typeface="+mn-lt"/>
                <a:ea typeface="+mn-ea"/>
                <a:cs typeface="+mn-cs"/>
              </a:rPr>
              <a:t> – Studding tyres: GW stud gun. </a:t>
            </a:r>
          </a:p>
          <a:p>
            <a:pPr>
              <a:buFont typeface="Arial" pitchFamily="34" charset="0"/>
              <a:buNone/>
            </a:pPr>
            <a:endParaRPr lang="en-US" b="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156</a:t>
            </a:fld>
            <a:endParaRPr lang="en-US" dirty="0"/>
          </a:p>
        </p:txBody>
      </p:sp>
    </p:spTree>
    <p:extLst>
      <p:ext uri="{BB962C8B-B14F-4D97-AF65-F5344CB8AC3E}">
        <p14:creationId xmlns:p14="http://schemas.microsoft.com/office/powerpoint/2010/main" val="3730182140"/>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discussing checks: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Recovery equipment – which may involve checking:</a:t>
            </a:r>
          </a:p>
          <a:p>
            <a:pPr marL="628650" lvl="1" indent="-171450">
              <a:buFont typeface="Arial" pitchFamily="34" charset="0"/>
              <a:buChar char="•"/>
            </a:pPr>
            <a:r>
              <a:rPr lang="en-AU" sz="1200" kern="1200" dirty="0" smtClean="0">
                <a:solidFill>
                  <a:schemeClr val="tx1"/>
                </a:solidFill>
                <a:latin typeface="+mn-lt"/>
                <a:ea typeface="+mn-ea"/>
                <a:cs typeface="+mn-cs"/>
              </a:rPr>
              <a:t>Operation of electric winch and presence of recovery blanket – including hand-held operating unit for winch, all functions</a:t>
            </a:r>
          </a:p>
          <a:p>
            <a:pPr marL="628650" lvl="1" indent="-171450">
              <a:buFont typeface="Arial" pitchFamily="34" charset="0"/>
              <a:buChar char="•"/>
            </a:pPr>
            <a:r>
              <a:rPr lang="en-AU" sz="1200" kern="1200" dirty="0" smtClean="0">
                <a:solidFill>
                  <a:schemeClr val="tx1"/>
                </a:solidFill>
                <a:latin typeface="+mn-lt"/>
                <a:ea typeface="+mn-ea"/>
                <a:cs typeface="+mn-cs"/>
              </a:rPr>
              <a:t>Presence of snatch strap and shackles</a:t>
            </a:r>
          </a:p>
          <a:p>
            <a:pPr marL="628650" lvl="1" indent="-171450">
              <a:buFont typeface="Arial" pitchFamily="34" charset="0"/>
              <a:buChar char="•"/>
            </a:pPr>
            <a:r>
              <a:rPr lang="en-AU" sz="1200" kern="1200" dirty="0" smtClean="0">
                <a:solidFill>
                  <a:schemeClr val="tx1"/>
                </a:solidFill>
                <a:latin typeface="+mn-lt"/>
                <a:ea typeface="+mn-ea"/>
                <a:cs typeface="+mn-cs"/>
              </a:rPr>
              <a:t>Availability of safety/recovery gloves and tree trunk protector</a:t>
            </a:r>
          </a:p>
          <a:p>
            <a:pPr marL="628650" lvl="1" indent="-171450">
              <a:buFont typeface="Arial" pitchFamily="34" charset="0"/>
              <a:buChar char="•"/>
            </a:pPr>
            <a:r>
              <a:rPr lang="en-AU" sz="1200" kern="1200" dirty="0" smtClean="0">
                <a:solidFill>
                  <a:schemeClr val="tx1"/>
                </a:solidFill>
                <a:latin typeface="+mn-lt"/>
                <a:ea typeface="+mn-ea"/>
                <a:cs typeface="+mn-cs"/>
              </a:rPr>
              <a:t>Availability of snatch blocks</a:t>
            </a:r>
          </a:p>
          <a:p>
            <a:pPr marL="628650" lvl="1" indent="-171450">
              <a:buFont typeface="Arial" pitchFamily="34" charset="0"/>
              <a:buChar char="•"/>
            </a:pPr>
            <a:r>
              <a:rPr lang="en-AU" sz="1200" kern="1200" dirty="0" smtClean="0">
                <a:solidFill>
                  <a:schemeClr val="tx1"/>
                </a:solidFill>
                <a:latin typeface="+mn-lt"/>
                <a:ea typeface="+mn-ea"/>
                <a:cs typeface="+mn-cs"/>
              </a:rPr>
              <a:t>Availability of tyre gauge</a:t>
            </a:r>
          </a:p>
          <a:p>
            <a:pPr marL="628650" lvl="1" indent="-171450">
              <a:buFont typeface="Arial" pitchFamily="34" charset="0"/>
              <a:buChar char="•"/>
            </a:pPr>
            <a:r>
              <a:rPr lang="en-AU" sz="1200" kern="1200" dirty="0" smtClean="0">
                <a:solidFill>
                  <a:schemeClr val="tx1"/>
                </a:solidFill>
                <a:latin typeface="+mn-lt"/>
                <a:ea typeface="+mn-ea"/>
                <a:cs typeface="+mn-cs"/>
              </a:rPr>
              <a:t>Availability of rails/tracks.</a:t>
            </a:r>
          </a:p>
          <a:p>
            <a:pPr>
              <a:buFont typeface="Arial" pitchFamily="34" charset="0"/>
              <a:buNone/>
            </a:pPr>
            <a:endParaRPr lang="en-US" noProof="0" dirty="0" smtClean="0"/>
          </a:p>
          <a:p>
            <a:pPr>
              <a:buFont typeface="Arial" pitchFamily="34" charset="0"/>
              <a:buNone/>
            </a:pPr>
            <a:r>
              <a:rPr lang="en-US" b="1" noProof="0" dirty="0" smtClean="0"/>
              <a:t>Classroom Activity (1)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smtClean="0"/>
          </a:p>
          <a:p>
            <a:pPr>
              <a:buFont typeface="Arial" pitchFamily="34" charset="0"/>
              <a:buNone/>
            </a:pPr>
            <a:r>
              <a:rPr lang="en-US" b="1" noProof="0" dirty="0" smtClean="0"/>
              <a:t>Classroom Activity (2) – internet Research</a:t>
            </a:r>
          </a:p>
          <a:p>
            <a:pPr>
              <a:buFont typeface="Arial" pitchFamily="34" charset="0"/>
              <a:buNone/>
            </a:pPr>
            <a:r>
              <a:rPr lang="en-US" b="0" noProof="0" dirty="0" smtClean="0"/>
              <a:t>Trainer facilitates research and discussion of:</a:t>
            </a:r>
          </a:p>
          <a:p>
            <a:r>
              <a:rPr lang="en-AU" sz="1200" u="sng" kern="1200" dirty="0" smtClean="0">
                <a:solidFill>
                  <a:schemeClr val="tx1"/>
                </a:solidFill>
                <a:latin typeface="+mn-lt"/>
                <a:ea typeface="+mn-ea"/>
                <a:cs typeface="+mn-cs"/>
                <a:hlinkClick r:id="rId3"/>
              </a:rPr>
              <a:t>http://www.tjm.com.au/en-oceania/recovery-equipment</a:t>
            </a:r>
            <a:r>
              <a:rPr lang="en-AU" sz="1200" kern="1200" dirty="0" smtClean="0">
                <a:solidFill>
                  <a:schemeClr val="tx1"/>
                </a:solidFill>
                <a:latin typeface="+mn-lt"/>
                <a:ea typeface="+mn-ea"/>
                <a:cs typeface="+mn-cs"/>
              </a:rPr>
              <a:t> - Commercial site</a:t>
            </a:r>
          </a:p>
          <a:p>
            <a:r>
              <a:rPr lang="en-AU" sz="1200" u="sng" kern="1200" dirty="0" smtClean="0">
                <a:solidFill>
                  <a:schemeClr val="tx1"/>
                </a:solidFill>
                <a:latin typeface="+mn-lt"/>
                <a:ea typeface="+mn-ea"/>
                <a:cs typeface="+mn-cs"/>
                <a:hlinkClick r:id="rId4"/>
              </a:rPr>
              <a:t>http://www.maxtrax.com.au/faq</a:t>
            </a:r>
            <a:r>
              <a:rPr lang="en-AU" sz="1200" kern="1200" dirty="0" smtClean="0">
                <a:solidFill>
                  <a:schemeClr val="tx1"/>
                </a:solidFill>
                <a:latin typeface="+mn-lt"/>
                <a:ea typeface="+mn-ea"/>
                <a:cs typeface="+mn-cs"/>
              </a:rPr>
              <a:t> - Commercial site</a:t>
            </a:r>
          </a:p>
          <a:p>
            <a:r>
              <a:rPr lang="en-AU" sz="1200" u="sng" kern="1200" dirty="0" smtClean="0">
                <a:solidFill>
                  <a:schemeClr val="tx1"/>
                </a:solidFill>
                <a:latin typeface="+mn-lt"/>
                <a:ea typeface="+mn-ea"/>
                <a:cs typeface="+mn-cs"/>
                <a:hlinkClick r:id="rId5"/>
              </a:rPr>
              <a:t>http://www.arb.com.au/products/recovery-equipment/</a:t>
            </a:r>
            <a:r>
              <a:rPr lang="en-AU" sz="1200" kern="1200" dirty="0" smtClean="0">
                <a:solidFill>
                  <a:schemeClr val="tx1"/>
                </a:solidFill>
                <a:latin typeface="+mn-lt"/>
                <a:ea typeface="+mn-ea"/>
                <a:cs typeface="+mn-cs"/>
              </a:rPr>
              <a:t> - Commercial site.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157</a:t>
            </a:fld>
            <a:endParaRPr lang="en-US" dirty="0"/>
          </a:p>
        </p:txBody>
      </p:sp>
    </p:spTree>
    <p:extLst>
      <p:ext uri="{BB962C8B-B14F-4D97-AF65-F5344CB8AC3E}">
        <p14:creationId xmlns:p14="http://schemas.microsoft.com/office/powerpoint/2010/main" val="2390518698"/>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discusses additional emergency equipment and checks:</a:t>
            </a:r>
          </a:p>
          <a:p>
            <a:pPr marL="171450" indent="-171450">
              <a:buFont typeface="Arial" pitchFamily="34" charset="0"/>
              <a:buChar char="•"/>
            </a:pPr>
            <a:r>
              <a:rPr lang="en-AU" sz="1200" kern="1200" dirty="0" smtClean="0">
                <a:solidFill>
                  <a:schemeClr val="tx1"/>
                </a:solidFill>
                <a:latin typeface="+mn-lt"/>
                <a:ea typeface="+mn-ea"/>
                <a:cs typeface="+mn-cs"/>
              </a:rPr>
              <a:t>Fire extinguishers:</a:t>
            </a:r>
          </a:p>
          <a:p>
            <a:pPr marL="628650" lvl="1" indent="-171450">
              <a:buFont typeface="Arial" pitchFamily="34" charset="0"/>
              <a:buChar char="•"/>
            </a:pPr>
            <a:r>
              <a:rPr lang="en-AU" sz="1200" kern="1200" dirty="0" smtClean="0">
                <a:solidFill>
                  <a:schemeClr val="tx1"/>
                </a:solidFill>
                <a:latin typeface="+mn-lt"/>
                <a:ea typeface="+mn-ea"/>
                <a:cs typeface="+mn-cs"/>
              </a:rPr>
              <a:t>Vehicle is supplied with mandated type/rating and number/s of fire – where applicable, for example for passenger-carrying vehicles/tour vehicles</a:t>
            </a:r>
          </a:p>
          <a:p>
            <a:pPr marL="628650" lvl="1" indent="-171450">
              <a:buFont typeface="Arial" pitchFamily="34" charset="0"/>
              <a:buChar char="•"/>
            </a:pPr>
            <a:r>
              <a:rPr lang="en-AU" sz="1200" kern="1200" dirty="0" smtClean="0">
                <a:solidFill>
                  <a:schemeClr val="tx1"/>
                </a:solidFill>
                <a:latin typeface="+mn-lt"/>
                <a:ea typeface="+mn-ea"/>
                <a:cs typeface="+mn-cs"/>
              </a:rPr>
              <a:t>Extinguisher is located in correct, suitable and accessible position</a:t>
            </a:r>
          </a:p>
          <a:p>
            <a:pPr marL="628650" lvl="1" indent="-171450">
              <a:buFont typeface="Arial" pitchFamily="34" charset="0"/>
              <a:buChar char="•"/>
            </a:pPr>
            <a:r>
              <a:rPr lang="en-AU" sz="1200" kern="1200" dirty="0" smtClean="0">
                <a:solidFill>
                  <a:schemeClr val="tx1"/>
                </a:solidFill>
                <a:latin typeface="+mn-lt"/>
                <a:ea typeface="+mn-ea"/>
                <a:cs typeface="+mn-cs"/>
              </a:rPr>
              <a:t>Extinguishers have been regularly inspected – commonly, every six months by certified officer/nominated agency and these inspections have been logged</a:t>
            </a:r>
          </a:p>
          <a:p>
            <a:pPr marL="628650" lvl="1" indent="-171450">
              <a:buFont typeface="Arial" pitchFamily="34" charset="0"/>
              <a:buChar char="•"/>
            </a:pPr>
            <a:r>
              <a:rPr lang="en-AU" sz="1200" kern="1200" dirty="0" smtClean="0">
                <a:solidFill>
                  <a:schemeClr val="tx1"/>
                </a:solidFill>
                <a:latin typeface="+mn-lt"/>
                <a:ea typeface="+mn-ea"/>
                <a:cs typeface="+mn-cs"/>
              </a:rPr>
              <a:t>Where extinguisher has a pressure gauge, the indicator is in the green section – if not, the extinguisher must be re-charged.</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158</a:t>
            </a:fld>
            <a:endParaRPr lang="en-US" dirty="0"/>
          </a:p>
        </p:txBody>
      </p:sp>
    </p:spTree>
    <p:extLst>
      <p:ext uri="{BB962C8B-B14F-4D97-AF65-F5344CB8AC3E}">
        <p14:creationId xmlns:p14="http://schemas.microsoft.com/office/powerpoint/2010/main" val="1508260770"/>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discussing additional emergency equipment and checks:</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(Continued) Fire extinguishers:</a:t>
            </a:r>
          </a:p>
          <a:p>
            <a:pPr marL="628650" lvl="1" indent="-171450">
              <a:buFont typeface="Arial" pitchFamily="34" charset="0"/>
              <a:buChar char="•"/>
            </a:pPr>
            <a:r>
              <a:rPr lang="en-AU" sz="1200" kern="1200" dirty="0" smtClean="0">
                <a:solidFill>
                  <a:schemeClr val="tx1"/>
                </a:solidFill>
                <a:latin typeface="+mn-lt"/>
                <a:ea typeface="+mn-ea"/>
                <a:cs typeface="+mn-cs"/>
              </a:rPr>
              <a:t>Extinguisher has not been used – if it has been used it must be re-charged or replaced</a:t>
            </a:r>
          </a:p>
          <a:p>
            <a:pPr marL="628650" lvl="1" indent="-171450">
              <a:buFont typeface="Arial" pitchFamily="34" charset="0"/>
              <a:buChar char="•"/>
            </a:pPr>
            <a:r>
              <a:rPr lang="en-AU" sz="1200" kern="1200" dirty="0" smtClean="0">
                <a:solidFill>
                  <a:schemeClr val="tx1"/>
                </a:solidFill>
                <a:latin typeface="+mn-lt"/>
                <a:ea typeface="+mn-ea"/>
                <a:cs typeface="+mn-cs"/>
              </a:rPr>
              <a:t>Nozzles are clear – and free of obstructions</a:t>
            </a:r>
          </a:p>
          <a:p>
            <a:pPr marL="628650" lvl="1" indent="-171450">
              <a:buFont typeface="Arial" pitchFamily="34" charset="0"/>
              <a:buChar char="•"/>
            </a:pPr>
            <a:r>
              <a:rPr lang="en-AU" sz="1200" kern="1200" dirty="0" smtClean="0">
                <a:solidFill>
                  <a:schemeClr val="tx1"/>
                </a:solidFill>
                <a:latin typeface="+mn-lt"/>
                <a:ea typeface="+mn-ea"/>
                <a:cs typeface="+mn-cs"/>
              </a:rPr>
              <a:t>All parts of the extinguisher are present and are not damaged</a:t>
            </a:r>
          </a:p>
          <a:p>
            <a:pPr marL="628650" lvl="1" indent="-171450">
              <a:buFont typeface="Arial" pitchFamily="34" charset="0"/>
              <a:buChar char="•"/>
            </a:pPr>
            <a:r>
              <a:rPr lang="en-AU" sz="1200" kern="1200" dirty="0" smtClean="0">
                <a:solidFill>
                  <a:schemeClr val="tx1"/>
                </a:solidFill>
                <a:latin typeface="+mn-lt"/>
                <a:ea typeface="+mn-ea"/>
                <a:cs typeface="+mn-cs"/>
              </a:rPr>
              <a:t>Holding brackets are tight/secure and the extinguisher is securely mounted</a:t>
            </a:r>
          </a:p>
          <a:p>
            <a:pPr marL="628650" lvl="1" indent="-171450">
              <a:buFont typeface="Arial" pitchFamily="34" charset="0"/>
              <a:buChar char="•"/>
            </a:pPr>
            <a:r>
              <a:rPr lang="en-AU" sz="1200" kern="1200" dirty="0" smtClean="0">
                <a:solidFill>
                  <a:schemeClr val="tx1"/>
                </a:solidFill>
                <a:latin typeface="+mn-lt"/>
                <a:ea typeface="+mn-ea"/>
                <a:cs typeface="+mn-cs"/>
              </a:rPr>
              <a:t>All maintenance is documented/recorded</a:t>
            </a:r>
          </a:p>
          <a:p>
            <a:pPr marL="628650" lvl="1" indent="-171450">
              <a:buFont typeface="Arial" pitchFamily="34" charset="0"/>
              <a:buChar char="•"/>
            </a:pPr>
            <a:r>
              <a:rPr lang="en-AU" sz="1200" kern="1200" dirty="0" smtClean="0">
                <a:solidFill>
                  <a:schemeClr val="tx1"/>
                </a:solidFill>
                <a:latin typeface="+mn-lt"/>
                <a:ea typeface="+mn-ea"/>
                <a:cs typeface="+mn-cs"/>
              </a:rPr>
              <a:t>Stamped tag is attached to the extinguisher – as required by local agencies.</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159</a:t>
            </a:fld>
            <a:endParaRPr lang="en-US" dirty="0"/>
          </a:p>
        </p:txBody>
      </p:sp>
    </p:spTree>
    <p:extLst>
      <p:ext uri="{BB962C8B-B14F-4D97-AF65-F5344CB8AC3E}">
        <p14:creationId xmlns:p14="http://schemas.microsoft.com/office/powerpoint/2010/main" val="4092359444"/>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discussing additional emergency equipment and checks:</a:t>
            </a:r>
          </a:p>
          <a:p>
            <a:pPr marL="171450" indent="-171450">
              <a:buFont typeface="Arial" pitchFamily="34" charset="0"/>
              <a:buChar char="•"/>
            </a:pPr>
            <a:r>
              <a:rPr lang="en-AU" sz="1200" kern="1200" dirty="0" smtClean="0">
                <a:solidFill>
                  <a:schemeClr val="tx1"/>
                </a:solidFill>
                <a:latin typeface="+mn-lt"/>
                <a:ea typeface="+mn-ea"/>
                <a:cs typeface="+mn-cs"/>
              </a:rPr>
              <a:t>First aid kits:</a:t>
            </a:r>
          </a:p>
          <a:p>
            <a:pPr marL="628650" lvl="1" indent="-171450">
              <a:buFont typeface="Arial" pitchFamily="34" charset="0"/>
              <a:buChar char="•"/>
            </a:pPr>
            <a:r>
              <a:rPr lang="en-AU" sz="1200" kern="1200" dirty="0" smtClean="0">
                <a:solidFill>
                  <a:schemeClr val="tx1"/>
                </a:solidFill>
                <a:latin typeface="+mn-lt"/>
                <a:ea typeface="+mn-ea"/>
                <a:cs typeface="+mn-cs"/>
              </a:rPr>
              <a:t>Verifying the required number of kits are available – in the designated locations</a:t>
            </a:r>
          </a:p>
          <a:p>
            <a:pPr marL="628650" lvl="1" indent="-171450">
              <a:buFont typeface="Arial" pitchFamily="34" charset="0"/>
              <a:buChar char="•"/>
            </a:pPr>
            <a:r>
              <a:rPr lang="en-AU" sz="1200" kern="1200" dirty="0" smtClean="0">
                <a:solidFill>
                  <a:schemeClr val="tx1"/>
                </a:solidFill>
                <a:latin typeface="+mn-lt"/>
                <a:ea typeface="+mn-ea"/>
                <a:cs typeface="+mn-cs"/>
              </a:rPr>
              <a:t>Confirming presence of all items using a checklist to guide and record the inspection/check</a:t>
            </a:r>
          </a:p>
          <a:p>
            <a:pPr marL="628650" lvl="1" indent="-171450">
              <a:buFont typeface="Arial" pitchFamily="34" charset="0"/>
              <a:buChar char="•"/>
            </a:pPr>
            <a:r>
              <a:rPr lang="en-AU" sz="1200" kern="1200" dirty="0" smtClean="0">
                <a:solidFill>
                  <a:schemeClr val="tx1"/>
                </a:solidFill>
                <a:latin typeface="+mn-lt"/>
                <a:ea typeface="+mn-ea"/>
                <a:cs typeface="+mn-cs"/>
              </a:rPr>
              <a:t>Confirming presence of First Aid book</a:t>
            </a:r>
          </a:p>
          <a:p>
            <a:pPr marL="628650" lvl="1" indent="-171450">
              <a:buFont typeface="Arial" pitchFamily="34" charset="0"/>
              <a:buChar char="•"/>
            </a:pPr>
            <a:r>
              <a:rPr lang="en-AU" sz="1200" kern="1200" dirty="0" smtClean="0">
                <a:solidFill>
                  <a:schemeClr val="tx1"/>
                </a:solidFill>
                <a:latin typeface="+mn-lt"/>
                <a:ea typeface="+mn-ea"/>
                <a:cs typeface="+mn-cs"/>
              </a:rPr>
              <a:t>Confirming presence of disposable gloves and mask</a:t>
            </a:r>
          </a:p>
          <a:p>
            <a:pPr marL="628650" lvl="1" indent="-171450">
              <a:buFont typeface="Arial" pitchFamily="34" charset="0"/>
              <a:buChar char="•"/>
            </a:pPr>
            <a:r>
              <a:rPr lang="en-AU" sz="1200" kern="1200" dirty="0" smtClean="0">
                <a:solidFill>
                  <a:schemeClr val="tx1"/>
                </a:solidFill>
                <a:latin typeface="+mn-lt"/>
                <a:ea typeface="+mn-ea"/>
                <a:cs typeface="+mn-cs"/>
              </a:rPr>
              <a:t>Replacing missing items</a:t>
            </a:r>
          </a:p>
          <a:p>
            <a:pPr marL="628650" lvl="1" indent="-171450">
              <a:buFont typeface="Arial" pitchFamily="34" charset="0"/>
              <a:buChar char="•"/>
            </a:pPr>
            <a:r>
              <a:rPr lang="en-AU" sz="1200" kern="1200" dirty="0" smtClean="0">
                <a:solidFill>
                  <a:schemeClr val="tx1"/>
                </a:solidFill>
                <a:latin typeface="+mn-lt"/>
                <a:ea typeface="+mn-ea"/>
                <a:cs typeface="+mn-cs"/>
              </a:rPr>
              <a:t>Adding new items – in accordance with expected/upcoming vehicle use/tour. </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160</a:t>
            </a:fld>
            <a:endParaRPr lang="en-US" dirty="0"/>
          </a:p>
        </p:txBody>
      </p:sp>
    </p:spTree>
    <p:extLst>
      <p:ext uri="{BB962C8B-B14F-4D97-AF65-F5344CB8AC3E}">
        <p14:creationId xmlns:p14="http://schemas.microsoft.com/office/powerpoint/2010/main" val="2764411978"/>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discussing additional emergency equipment and checks:</a:t>
            </a:r>
          </a:p>
          <a:p>
            <a:pPr marL="171450" indent="-171450">
              <a:buFont typeface="Arial" pitchFamily="34" charset="0"/>
              <a:buChar char="•"/>
            </a:pPr>
            <a:r>
              <a:rPr lang="en-AU" sz="1200" kern="1200" dirty="0" smtClean="0">
                <a:solidFill>
                  <a:schemeClr val="tx1"/>
                </a:solidFill>
                <a:latin typeface="+mn-lt"/>
                <a:ea typeface="+mn-ea"/>
                <a:cs typeface="+mn-cs"/>
              </a:rPr>
              <a:t>EPIRBs:</a:t>
            </a:r>
          </a:p>
          <a:p>
            <a:pPr marL="628650" lvl="1" indent="-171450">
              <a:buFont typeface="Arial" pitchFamily="34" charset="0"/>
              <a:buChar char="•"/>
            </a:pPr>
            <a:r>
              <a:rPr lang="en-AU" sz="1200" kern="1200" dirty="0" smtClean="0">
                <a:solidFill>
                  <a:schemeClr val="tx1"/>
                </a:solidFill>
                <a:latin typeface="+mn-lt"/>
                <a:ea typeface="+mn-ea"/>
                <a:cs typeface="+mn-cs"/>
              </a:rPr>
              <a:t>They are provided in/for all vehicles which are designated as needing to use them – such as tour vehicles and those to be used in remote locations</a:t>
            </a:r>
          </a:p>
          <a:p>
            <a:pPr marL="628650" lvl="1" indent="-171450">
              <a:buFont typeface="Arial" pitchFamily="34" charset="0"/>
              <a:buChar char="•"/>
            </a:pPr>
            <a:r>
              <a:rPr lang="en-AU" sz="1200" kern="1200" dirty="0" smtClean="0">
                <a:solidFill>
                  <a:schemeClr val="tx1"/>
                </a:solidFill>
                <a:latin typeface="+mn-lt"/>
                <a:ea typeface="+mn-ea"/>
                <a:cs typeface="+mn-cs"/>
              </a:rPr>
              <a:t>They are registered initially – with the relevant authority/agency</a:t>
            </a:r>
          </a:p>
          <a:p>
            <a:pPr marL="628650" lvl="1" indent="-171450">
              <a:buFont typeface="Arial" pitchFamily="34" charset="0"/>
              <a:buChar char="•"/>
            </a:pPr>
            <a:r>
              <a:rPr lang="en-AU" sz="1200" kern="1200" dirty="0" smtClean="0">
                <a:solidFill>
                  <a:schemeClr val="tx1"/>
                </a:solidFill>
                <a:latin typeface="+mn-lt"/>
                <a:ea typeface="+mn-ea"/>
                <a:cs typeface="+mn-cs"/>
              </a:rPr>
              <a:t>Registrations are renewed as required – such as every two years even where there is no change in the registered owner.</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161</a:t>
            </a:fld>
            <a:endParaRPr lang="en-US" dirty="0"/>
          </a:p>
        </p:txBody>
      </p:sp>
    </p:spTree>
    <p:extLst>
      <p:ext uri="{BB962C8B-B14F-4D97-AF65-F5344CB8AC3E}">
        <p14:creationId xmlns:p14="http://schemas.microsoft.com/office/powerpoint/2010/main" val="2785663086"/>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discussing additional emergency equipment and checks:</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(Continued) EPIRBs:</a:t>
            </a:r>
          </a:p>
          <a:p>
            <a:pPr marL="171450" indent="-171450">
              <a:buFont typeface="Arial" pitchFamily="34" charset="0"/>
              <a:buChar char="•"/>
            </a:pPr>
            <a:r>
              <a:rPr lang="en-AU" sz="1200" kern="1200" dirty="0" smtClean="0">
                <a:solidFill>
                  <a:schemeClr val="tx1"/>
                </a:solidFill>
                <a:latin typeface="+mn-lt"/>
                <a:ea typeface="+mn-ea"/>
                <a:cs typeface="+mn-cs"/>
              </a:rPr>
              <a:t>Testing – in accordance with manufacturer’s instructions taking care not to accidentally initiate a false alarm</a:t>
            </a:r>
          </a:p>
          <a:p>
            <a:pPr marL="171450" indent="-171450">
              <a:buFont typeface="Arial" pitchFamily="34" charset="0"/>
              <a:buChar char="•"/>
            </a:pPr>
            <a:r>
              <a:rPr lang="en-AU" sz="1200" kern="1200" dirty="0" smtClean="0">
                <a:solidFill>
                  <a:schemeClr val="tx1"/>
                </a:solidFill>
                <a:latin typeface="+mn-lt"/>
                <a:ea typeface="+mn-ea"/>
                <a:cs typeface="+mn-cs"/>
              </a:rPr>
              <a:t>Checking battery dates – and:</a:t>
            </a:r>
          </a:p>
          <a:p>
            <a:pPr marL="628650" lvl="1" indent="-171450">
              <a:buFont typeface="Arial" pitchFamily="34" charset="0"/>
              <a:buChar char="•"/>
            </a:pPr>
            <a:r>
              <a:rPr lang="en-AU" sz="1200" kern="1200" dirty="0" smtClean="0">
                <a:solidFill>
                  <a:schemeClr val="tx1"/>
                </a:solidFill>
                <a:latin typeface="+mn-lt"/>
                <a:ea typeface="+mn-ea"/>
                <a:cs typeface="+mn-cs"/>
              </a:rPr>
              <a:t>Replacing before listed expiration date of the battery</a:t>
            </a:r>
          </a:p>
          <a:p>
            <a:pPr marL="628650" lvl="1" indent="-171450">
              <a:buFont typeface="Arial" pitchFamily="34" charset="0"/>
              <a:buChar char="•"/>
            </a:pPr>
            <a:r>
              <a:rPr lang="en-AU" sz="1200" kern="1200" dirty="0" smtClean="0">
                <a:solidFill>
                  <a:schemeClr val="tx1"/>
                </a:solidFill>
                <a:latin typeface="+mn-lt"/>
                <a:ea typeface="+mn-ea"/>
                <a:cs typeface="+mn-cs"/>
              </a:rPr>
              <a:t>Replacing if the unit has been used </a:t>
            </a:r>
          </a:p>
          <a:p>
            <a:pPr marL="171450" indent="-171450">
              <a:buFont typeface="Arial" pitchFamily="34" charset="0"/>
              <a:buChar char="•"/>
            </a:pPr>
            <a:r>
              <a:rPr lang="en-AU" sz="1200" kern="1200" dirty="0" smtClean="0">
                <a:solidFill>
                  <a:schemeClr val="tx1"/>
                </a:solidFill>
                <a:latin typeface="+mn-lt"/>
                <a:ea typeface="+mn-ea"/>
                <a:cs typeface="+mn-cs"/>
              </a:rPr>
              <a:t>Inspecting the unit for physical damage, cracks or other defects</a:t>
            </a:r>
          </a:p>
          <a:p>
            <a:pPr marL="171450" indent="-171450">
              <a:buFont typeface="Arial" pitchFamily="34" charset="0"/>
              <a:buChar char="•"/>
            </a:pPr>
            <a:r>
              <a:rPr lang="en-AU" sz="1200" kern="1200" dirty="0" smtClean="0">
                <a:solidFill>
                  <a:schemeClr val="tx1"/>
                </a:solidFill>
                <a:latin typeface="+mn-lt"/>
                <a:ea typeface="+mn-ea"/>
                <a:cs typeface="+mn-cs"/>
              </a:rPr>
              <a:t>Logging details of the checks, tests and maintenance performed.</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162</a:t>
            </a:fld>
            <a:endParaRPr lang="en-US" dirty="0"/>
          </a:p>
        </p:txBody>
      </p:sp>
    </p:spTree>
    <p:extLst>
      <p:ext uri="{BB962C8B-B14F-4D97-AF65-F5344CB8AC3E}">
        <p14:creationId xmlns:p14="http://schemas.microsoft.com/office/powerpoint/2010/main" val="3339532110"/>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presents information on EPIRM maintenance noting:</a:t>
            </a:r>
          </a:p>
          <a:p>
            <a:pPr marL="171450" indent="-171450">
              <a:buFont typeface="Arial" pitchFamily="34" charset="0"/>
              <a:buChar char="•"/>
            </a:pPr>
            <a:r>
              <a:rPr lang="en-AU" sz="1200" kern="1200" dirty="0" smtClean="0">
                <a:solidFill>
                  <a:schemeClr val="tx1"/>
                </a:solidFill>
                <a:latin typeface="+mn-lt"/>
                <a:ea typeface="+mn-ea"/>
                <a:cs typeface="+mn-cs"/>
              </a:rPr>
              <a:t>EPIRBs cannot be maintained by users</a:t>
            </a:r>
          </a:p>
          <a:p>
            <a:pPr marL="171450" indent="-171450">
              <a:buFont typeface="Arial" pitchFamily="34" charset="0"/>
              <a:buChar char="•"/>
            </a:pPr>
            <a:r>
              <a:rPr lang="en-AU" sz="1200" kern="1200" dirty="0" smtClean="0">
                <a:solidFill>
                  <a:schemeClr val="tx1"/>
                </a:solidFill>
                <a:latin typeface="+mn-lt"/>
                <a:ea typeface="+mn-ea"/>
                <a:cs typeface="+mn-cs"/>
              </a:rPr>
              <a:t>Where problems are identified with EPIRBS the recommended course of action to:</a:t>
            </a:r>
          </a:p>
          <a:p>
            <a:pPr marL="628650" lvl="1" indent="-171450">
              <a:buFont typeface="Arial" pitchFamily="34" charset="0"/>
              <a:buChar char="•"/>
            </a:pPr>
            <a:r>
              <a:rPr lang="en-AU" sz="1200" kern="1200" dirty="0" smtClean="0">
                <a:solidFill>
                  <a:schemeClr val="tx1"/>
                </a:solidFill>
                <a:latin typeface="+mn-lt"/>
                <a:ea typeface="+mn-ea"/>
                <a:cs typeface="+mn-cs"/>
              </a:rPr>
              <a:t>Forward to the manufacturer or their agent</a:t>
            </a:r>
          </a:p>
          <a:p>
            <a:pPr marL="628650" lvl="1" indent="-171450">
              <a:buFont typeface="Arial" pitchFamily="34" charset="0"/>
              <a:buChar char="•"/>
            </a:pPr>
            <a:r>
              <a:rPr lang="en-AU" sz="1200" kern="1200" dirty="0" smtClean="0">
                <a:solidFill>
                  <a:schemeClr val="tx1"/>
                </a:solidFill>
                <a:latin typeface="+mn-lt"/>
                <a:ea typeface="+mn-ea"/>
                <a:cs typeface="+mn-cs"/>
              </a:rPr>
              <a:t>Replace the unit with a new one ensuring it is registered prior to being put into use.</a:t>
            </a:r>
          </a:p>
          <a:p>
            <a:pPr>
              <a:buFont typeface="Arial" pitchFamily="34" charset="0"/>
              <a:buNone/>
            </a:pPr>
            <a:endParaRPr lang="en-US" noProof="0" dirty="0" smtClean="0"/>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163</a:t>
            </a:fld>
            <a:endParaRPr lang="en-US" dirty="0"/>
          </a:p>
        </p:txBody>
      </p:sp>
    </p:spTree>
    <p:extLst>
      <p:ext uri="{BB962C8B-B14F-4D97-AF65-F5344CB8AC3E}">
        <p14:creationId xmlns:p14="http://schemas.microsoft.com/office/powerpoint/2010/main" val="1920813600"/>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presents factors to consider in relation to making arrangements for external service provision:</a:t>
            </a:r>
          </a:p>
          <a:p>
            <a:pPr marL="171450" indent="-171450">
              <a:buFont typeface="Arial" pitchFamily="34" charset="0"/>
              <a:buChar char="•"/>
            </a:pPr>
            <a:r>
              <a:rPr lang="en-AU" sz="1200" kern="1200" dirty="0" smtClean="0">
                <a:solidFill>
                  <a:schemeClr val="tx1"/>
                </a:solidFill>
                <a:latin typeface="+mn-lt"/>
                <a:ea typeface="+mn-ea"/>
                <a:cs typeface="+mn-cs"/>
              </a:rPr>
              <a:t>Extent of work which needs to be done – smaller jobs may be handled internally but larger jobs tend to be sent out</a:t>
            </a:r>
          </a:p>
          <a:p>
            <a:pPr marL="171450" indent="-171450">
              <a:buFont typeface="Arial" pitchFamily="34" charset="0"/>
              <a:buChar char="•"/>
            </a:pPr>
            <a:r>
              <a:rPr lang="en-AU" sz="1200" kern="1200" dirty="0" smtClean="0">
                <a:solidFill>
                  <a:schemeClr val="tx1"/>
                </a:solidFill>
                <a:latin typeface="+mn-lt"/>
                <a:ea typeface="+mn-ea"/>
                <a:cs typeface="+mn-cs"/>
              </a:rPr>
              <a:t>Timeframes which apply – where there is a definite or tight timeline for the completion of work, it can be better to have the work done by a professional</a:t>
            </a:r>
          </a:p>
          <a:p>
            <a:pPr marL="171450" indent="-171450">
              <a:buFont typeface="Arial" pitchFamily="34" charset="0"/>
              <a:buChar char="•"/>
            </a:pPr>
            <a:r>
              <a:rPr lang="en-AU" sz="1200" kern="1200" dirty="0" smtClean="0">
                <a:solidFill>
                  <a:schemeClr val="tx1"/>
                </a:solidFill>
                <a:latin typeface="+mn-lt"/>
                <a:ea typeface="+mn-ea"/>
                <a:cs typeface="+mn-cs"/>
              </a:rPr>
              <a:t>Safety issues – anything which relates to matters of safety tends to be undertaken by suitably qualified technicians and service people so as to discharge the common law Duty of Care imposed on businesses.</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164</a:t>
            </a:fld>
            <a:endParaRPr lang="en-US" dirty="0"/>
          </a:p>
        </p:txBody>
      </p:sp>
    </p:spTree>
    <p:extLst>
      <p:ext uri="{BB962C8B-B14F-4D97-AF65-F5344CB8AC3E}">
        <p14:creationId xmlns:p14="http://schemas.microsoft.com/office/powerpoint/2010/main" val="3923475079"/>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presenting relevant factors to consider:</a:t>
            </a:r>
          </a:p>
          <a:p>
            <a:pPr marL="171450" indent="-171450">
              <a:buFont typeface="Arial" pitchFamily="34" charset="0"/>
              <a:buChar char="•"/>
            </a:pPr>
            <a:r>
              <a:rPr lang="en-AU" sz="1200" kern="1200" dirty="0" smtClean="0">
                <a:solidFill>
                  <a:schemeClr val="tx1"/>
                </a:solidFill>
                <a:latin typeface="+mn-lt"/>
                <a:ea typeface="+mn-ea"/>
                <a:cs typeface="+mn-cs"/>
              </a:rPr>
              <a:t>Complexity of the job – simple jobs may be done in-house but the more difficult work tends to be outsourced</a:t>
            </a:r>
          </a:p>
          <a:p>
            <a:pPr marL="171450" indent="-171450">
              <a:buFont typeface="Arial" pitchFamily="34" charset="0"/>
              <a:buChar char="•"/>
            </a:pPr>
            <a:r>
              <a:rPr lang="en-AU" sz="1200" kern="1200" dirty="0" smtClean="0">
                <a:solidFill>
                  <a:schemeClr val="tx1"/>
                </a:solidFill>
                <a:latin typeface="+mn-lt"/>
                <a:ea typeface="+mn-ea"/>
                <a:cs typeface="+mn-cs"/>
              </a:rPr>
              <a:t>Tools and equipment available – where specialist tools and equipment are required for work it can be more economical to get outside businesses to do the job</a:t>
            </a:r>
          </a:p>
          <a:p>
            <a:pPr marL="171450" indent="-171450">
              <a:buFont typeface="Arial" pitchFamily="34" charset="0"/>
              <a:buChar char="•"/>
            </a:pPr>
            <a:r>
              <a:rPr lang="en-AU" sz="1200" kern="1200" dirty="0" smtClean="0">
                <a:solidFill>
                  <a:schemeClr val="tx1"/>
                </a:solidFill>
                <a:latin typeface="+mn-lt"/>
                <a:ea typeface="+mn-ea"/>
                <a:cs typeface="+mn-cs"/>
              </a:rPr>
              <a:t>Expertise – there will just be some jobs where organisational personnel have no experience and no real idea of what to do so there is an obvious imperative for the work to be done by experienced professionals</a:t>
            </a:r>
          </a:p>
          <a:p>
            <a:pPr marL="171450" indent="-171450">
              <a:buFont typeface="Arial" pitchFamily="34" charset="0"/>
              <a:buChar char="•"/>
            </a:pPr>
            <a:r>
              <a:rPr lang="en-AU" sz="1200" kern="1200" dirty="0" smtClean="0">
                <a:solidFill>
                  <a:schemeClr val="tx1"/>
                </a:solidFill>
                <a:latin typeface="+mn-lt"/>
                <a:ea typeface="+mn-ea"/>
                <a:cs typeface="+mn-cs"/>
              </a:rPr>
              <a:t>Terms of warranties and guarantees – in order to maintain the protection/coverage provided by some warranties and guarantees there can be a need for specified work to be done by ‘authorised dealers or agents’.</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165</a:t>
            </a:fld>
            <a:endParaRPr lang="en-US" dirty="0"/>
          </a:p>
        </p:txBody>
      </p:sp>
    </p:spTree>
    <p:extLst>
      <p:ext uri="{BB962C8B-B14F-4D97-AF65-F5344CB8AC3E}">
        <p14:creationId xmlns:p14="http://schemas.microsoft.com/office/powerpoint/2010/main" val="2044005033"/>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US" noProof="0" dirty="0" smtClean="0"/>
              <a:t>Trainer presents steps in the process:</a:t>
            </a:r>
          </a:p>
          <a:p>
            <a:pPr marL="171450" indent="-171450">
              <a:buFont typeface="Arial" pitchFamily="34" charset="0"/>
              <a:buChar char="•"/>
            </a:pPr>
            <a:r>
              <a:rPr lang="en-AU" sz="1200" kern="1200" dirty="0" smtClean="0">
                <a:solidFill>
                  <a:schemeClr val="tx1"/>
                </a:solidFill>
                <a:latin typeface="+mn-lt"/>
                <a:ea typeface="+mn-ea"/>
                <a:cs typeface="+mn-cs"/>
              </a:rPr>
              <a:t>Track use of the vehicle – so:</a:t>
            </a:r>
          </a:p>
          <a:p>
            <a:pPr marL="628650" lvl="1" indent="-171450">
              <a:buFont typeface="Arial" pitchFamily="34" charset="0"/>
              <a:buChar char="•"/>
            </a:pPr>
            <a:r>
              <a:rPr lang="en-US" sz="1200" kern="1200" dirty="0" smtClean="0">
                <a:solidFill>
                  <a:schemeClr val="tx1"/>
                </a:solidFill>
                <a:latin typeface="+mn-lt"/>
                <a:ea typeface="+mn-ea"/>
                <a:cs typeface="+mn-cs"/>
              </a:rPr>
              <a:t>Odometer readings are monitored – as service times are usually related to distances travelled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Projected date for service can be identified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Advance bookings can be made – with service providers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Notify management or administration – and:</a:t>
            </a:r>
          </a:p>
          <a:p>
            <a:pPr marL="628650" lvl="1" indent="-171450">
              <a:buFont typeface="Arial" pitchFamily="34" charset="0"/>
              <a:buChar char="•"/>
            </a:pPr>
            <a:r>
              <a:rPr lang="en-AU" sz="1200" kern="1200" dirty="0" smtClean="0">
                <a:solidFill>
                  <a:schemeClr val="tx1"/>
                </a:solidFill>
                <a:latin typeface="+mn-lt"/>
                <a:ea typeface="+mn-ea"/>
                <a:cs typeface="+mn-cs"/>
              </a:rPr>
              <a:t>Advise them of the situation and the reason for external service provision</a:t>
            </a:r>
          </a:p>
          <a:p>
            <a:pPr marL="628650" lvl="1" indent="-171450">
              <a:buFont typeface="Arial" pitchFamily="34" charset="0"/>
              <a:buChar char="•"/>
            </a:pPr>
            <a:r>
              <a:rPr lang="en-AU" sz="1200" kern="1200" dirty="0" smtClean="0">
                <a:solidFill>
                  <a:schemeClr val="tx1"/>
                </a:solidFill>
                <a:latin typeface="+mn-lt"/>
                <a:ea typeface="+mn-ea"/>
                <a:cs typeface="+mn-cs"/>
              </a:rPr>
              <a:t>Discuss known details of the work required</a:t>
            </a:r>
          </a:p>
          <a:p>
            <a:pPr marL="628650" lvl="1" indent="-171450">
              <a:buFont typeface="Arial" pitchFamily="34" charset="0"/>
              <a:buChar char="•"/>
            </a:pPr>
            <a:r>
              <a:rPr lang="en-AU" sz="1200" kern="1200" dirty="0" smtClean="0">
                <a:solidFill>
                  <a:schemeClr val="tx1"/>
                </a:solidFill>
                <a:latin typeface="+mn-lt"/>
                <a:ea typeface="+mn-ea"/>
                <a:cs typeface="+mn-cs"/>
              </a:rPr>
              <a:t>Give an estimate of cost, if known</a:t>
            </a:r>
          </a:p>
          <a:p>
            <a:pPr marL="628650" lvl="1" indent="-171450">
              <a:buFont typeface="Arial" pitchFamily="34" charset="0"/>
              <a:buChar char="•"/>
            </a:pPr>
            <a:r>
              <a:rPr lang="en-AU" sz="1200" kern="1200" dirty="0" smtClean="0">
                <a:solidFill>
                  <a:schemeClr val="tx1"/>
                </a:solidFill>
                <a:latin typeface="+mn-lt"/>
                <a:ea typeface="+mn-ea"/>
                <a:cs typeface="+mn-cs"/>
              </a:rPr>
              <a:t>Identify urgency of work that needs to be done</a:t>
            </a:r>
          </a:p>
          <a:p>
            <a:pPr marL="628650" lvl="1" indent="-171450">
              <a:buFont typeface="Arial" pitchFamily="34" charset="0"/>
              <a:buChar char="•"/>
            </a:pPr>
            <a:r>
              <a:rPr lang="en-AU" sz="1200" kern="1200" dirty="0" smtClean="0">
                <a:solidFill>
                  <a:schemeClr val="tx1"/>
                </a:solidFill>
                <a:latin typeface="+mn-lt"/>
                <a:ea typeface="+mn-ea"/>
                <a:cs typeface="+mn-cs"/>
              </a:rPr>
              <a:t>Tell them of any bookings/identified up-coming use for the vehicle</a:t>
            </a:r>
          </a:p>
          <a:p>
            <a:pPr marL="628650" lvl="1" indent="-171450">
              <a:buFont typeface="Arial" pitchFamily="34" charset="0"/>
              <a:buChar char="•"/>
            </a:pPr>
            <a:r>
              <a:rPr lang="en-AU" sz="1200" kern="1200" dirty="0" smtClean="0">
                <a:solidFill>
                  <a:schemeClr val="tx1"/>
                </a:solidFill>
                <a:latin typeface="+mn-lt"/>
                <a:ea typeface="+mn-ea"/>
                <a:cs typeface="+mn-cs"/>
              </a:rPr>
              <a:t>Determine if quotations are required – and if so, how many</a:t>
            </a:r>
          </a:p>
          <a:p>
            <a:pPr marL="628650" lvl="1" indent="-171450">
              <a:buFont typeface="Arial" pitchFamily="34" charset="0"/>
              <a:buChar char="•"/>
            </a:pPr>
            <a:r>
              <a:rPr lang="en-AU" sz="1200" kern="1200" dirty="0" smtClean="0">
                <a:solidFill>
                  <a:schemeClr val="tx1"/>
                </a:solidFill>
                <a:latin typeface="+mn-lt"/>
                <a:ea typeface="+mn-ea"/>
                <a:cs typeface="+mn-cs"/>
              </a:rPr>
              <a:t>Seek and obtain formal approval to proceed </a:t>
            </a:r>
          </a:p>
          <a:p>
            <a:pPr marL="171450" indent="-171450">
              <a:buFont typeface="Arial" pitchFamily="34" charset="0"/>
              <a:buChar char="•"/>
            </a:pPr>
            <a:r>
              <a:rPr lang="en-AU" sz="1200" kern="1200" dirty="0" smtClean="0">
                <a:solidFill>
                  <a:schemeClr val="tx1"/>
                </a:solidFill>
                <a:latin typeface="+mn-lt"/>
                <a:ea typeface="+mn-ea"/>
                <a:cs typeface="+mn-cs"/>
              </a:rPr>
              <a:t>Identify the relevant service provider – this may be:</a:t>
            </a:r>
          </a:p>
          <a:p>
            <a:pPr marL="628650" lvl="1" indent="-171450">
              <a:buFont typeface="Arial" pitchFamily="34" charset="0"/>
              <a:buChar char="•"/>
            </a:pPr>
            <a:r>
              <a:rPr lang="en-AU" sz="1200" kern="1200" dirty="0" smtClean="0">
                <a:solidFill>
                  <a:schemeClr val="tx1"/>
                </a:solidFill>
                <a:latin typeface="+mn-lt"/>
                <a:ea typeface="+mn-ea"/>
                <a:cs typeface="+mn-cs"/>
              </a:rPr>
              <a:t>The organisation from which the vehicle was purchased</a:t>
            </a:r>
          </a:p>
          <a:p>
            <a:pPr marL="628650" lvl="1" indent="-171450">
              <a:buFont typeface="Arial" pitchFamily="34" charset="0"/>
              <a:buChar char="•"/>
            </a:pPr>
            <a:r>
              <a:rPr lang="en-AU" sz="1200" kern="1200" dirty="0" smtClean="0">
                <a:solidFill>
                  <a:schemeClr val="tx1"/>
                </a:solidFill>
                <a:latin typeface="+mn-lt"/>
                <a:ea typeface="+mn-ea"/>
                <a:cs typeface="+mn-cs"/>
              </a:rPr>
              <a:t>The authorised dealer for the make</a:t>
            </a:r>
          </a:p>
          <a:p>
            <a:pPr marL="628650" lvl="1" indent="-171450">
              <a:buFont typeface="Arial" pitchFamily="34" charset="0"/>
              <a:buChar char="•"/>
            </a:pPr>
            <a:r>
              <a:rPr lang="en-AU" sz="1200" kern="1200" dirty="0" smtClean="0">
                <a:solidFill>
                  <a:schemeClr val="tx1"/>
                </a:solidFill>
                <a:latin typeface="+mn-lt"/>
                <a:ea typeface="+mn-ea"/>
                <a:cs typeface="+mn-cs"/>
              </a:rPr>
              <a:t>The preferred service provider as determined by the business</a:t>
            </a:r>
          </a:p>
          <a:p>
            <a:pPr marL="628650" lvl="1" indent="-171450">
              <a:buFont typeface="Arial" pitchFamily="34" charset="0"/>
              <a:buChar char="•"/>
            </a:pPr>
            <a:r>
              <a:rPr lang="en-AU" sz="1200" kern="1200" dirty="0" smtClean="0">
                <a:solidFill>
                  <a:schemeClr val="tx1"/>
                </a:solidFill>
                <a:latin typeface="+mn-lt"/>
                <a:ea typeface="+mn-ea"/>
                <a:cs typeface="+mn-cs"/>
              </a:rPr>
              <a:t>An approved repairer as designated by a recognised motoring body or insurer.</a:t>
            </a:r>
          </a:p>
          <a:p>
            <a:pPr>
              <a:buFont typeface="Arial" pitchFamily="34" charset="0"/>
              <a:buNone/>
            </a:pPr>
            <a:endParaRPr lang="en-US" sz="1200" kern="1200" noProof="0" dirty="0" smtClean="0">
              <a:solidFill>
                <a:schemeClr val="tx1"/>
              </a:solidFill>
              <a:latin typeface="+mn-lt"/>
              <a:ea typeface="+mn-ea"/>
              <a:cs typeface="+mn-cs"/>
            </a:endParaRPr>
          </a:p>
          <a:p>
            <a:pPr>
              <a:buFont typeface="Arial" pitchFamily="34" charset="0"/>
              <a:buNone/>
            </a:pPr>
            <a:r>
              <a:rPr lang="en-AU" sz="1200" b="1" kern="1200" dirty="0" smtClean="0">
                <a:solidFill>
                  <a:schemeClr val="tx1"/>
                </a:solidFill>
                <a:latin typeface="+mn-lt"/>
                <a:ea typeface="+mn-ea"/>
                <a:cs typeface="+mn-cs"/>
              </a:rPr>
              <a:t>Classroom Activity – Guest Speaker</a:t>
            </a:r>
          </a:p>
          <a:p>
            <a:pPr>
              <a:buFont typeface="Arial" pitchFamily="34" charset="0"/>
              <a:buNone/>
            </a:pPr>
            <a:r>
              <a:rPr lang="en-AU" sz="1200" b="0" kern="1200" dirty="0" smtClean="0">
                <a:solidFill>
                  <a:schemeClr val="tx1"/>
                </a:solidFill>
                <a:latin typeface="+mn-lt"/>
                <a:ea typeface="+mn-ea"/>
                <a:cs typeface="+mn-cs"/>
              </a:rPr>
              <a:t>Trainer arranges for Service Manager from local agency to attend and:</a:t>
            </a:r>
          </a:p>
          <a:p>
            <a:pPr marL="171450" indent="-171450">
              <a:buFont typeface="Arial" pitchFamily="34" charset="0"/>
              <a:buChar char="•"/>
            </a:pPr>
            <a:r>
              <a:rPr lang="en-AU" sz="1200" b="0" kern="1200" dirty="0" smtClean="0">
                <a:solidFill>
                  <a:schemeClr val="tx1"/>
                </a:solidFill>
                <a:latin typeface="+mn-lt"/>
                <a:ea typeface="+mn-ea"/>
                <a:cs typeface="+mn-cs"/>
              </a:rPr>
              <a:t>Identify work they can perform and services they can provide together with indicative costs</a:t>
            </a:r>
          </a:p>
          <a:p>
            <a:pPr marL="171450" indent="-171450">
              <a:buFont typeface="Arial" pitchFamily="34" charset="0"/>
              <a:buChar char="•"/>
            </a:pPr>
            <a:r>
              <a:rPr lang="en-AU" sz="1200" b="0" kern="1200" dirty="0" smtClean="0">
                <a:solidFill>
                  <a:schemeClr val="tx1"/>
                </a:solidFill>
                <a:latin typeface="+mn-lt"/>
                <a:ea typeface="+mn-ea"/>
                <a:cs typeface="+mn-cs"/>
              </a:rPr>
              <a:t>Suggest protocols for deciding whether external service is required</a:t>
            </a:r>
          </a:p>
          <a:p>
            <a:pPr marL="171450" indent="-171450">
              <a:buFont typeface="Arial" pitchFamily="34" charset="0"/>
              <a:buChar char="•"/>
            </a:pPr>
            <a:r>
              <a:rPr lang="en-AU" sz="1200" b="0" kern="1200" dirty="0" smtClean="0">
                <a:solidFill>
                  <a:schemeClr val="tx1"/>
                </a:solidFill>
                <a:latin typeface="+mn-lt"/>
                <a:ea typeface="+mn-ea"/>
                <a:cs typeface="+mn-cs"/>
              </a:rPr>
              <a:t>Describe their preferred actions when making a booking for service/repairs to a vehicle.</a:t>
            </a: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166</a:t>
            </a:fld>
            <a:endParaRPr lang="en-US" dirty="0"/>
          </a:p>
        </p:txBody>
      </p:sp>
    </p:spTree>
    <p:extLst>
      <p:ext uri="{BB962C8B-B14F-4D97-AF65-F5344CB8AC3E}">
        <p14:creationId xmlns:p14="http://schemas.microsoft.com/office/powerpoint/2010/main" val="655257532"/>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a:buFont typeface="Arial" pitchFamily="34" charset="0"/>
              <a:buNone/>
            </a:pPr>
            <a:r>
              <a:rPr lang="en-US" noProof="0" dirty="0" smtClean="0"/>
              <a:t>Trainer presents steps in the process:</a:t>
            </a:r>
          </a:p>
          <a:p>
            <a:pPr marL="171450" indent="-171450">
              <a:buFont typeface="Arial" pitchFamily="34" charset="0"/>
              <a:buChar char="•"/>
            </a:pPr>
            <a:r>
              <a:rPr lang="en-AU" sz="1200" kern="1200" dirty="0" smtClean="0">
                <a:solidFill>
                  <a:schemeClr val="tx1"/>
                </a:solidFill>
                <a:latin typeface="+mn-lt"/>
                <a:ea typeface="+mn-ea"/>
                <a:cs typeface="+mn-cs"/>
              </a:rPr>
              <a:t>Speak to the selected business by phone or in person – and:</a:t>
            </a:r>
          </a:p>
          <a:p>
            <a:pPr marL="628650" lvl="1" indent="-171450">
              <a:buFont typeface="Arial" pitchFamily="34" charset="0"/>
              <a:buChar char="•"/>
            </a:pPr>
            <a:r>
              <a:rPr lang="en-US" sz="1200" kern="1200" dirty="0" smtClean="0">
                <a:solidFill>
                  <a:schemeClr val="tx1"/>
                </a:solidFill>
                <a:latin typeface="+mn-lt"/>
                <a:ea typeface="+mn-ea"/>
                <a:cs typeface="+mn-cs"/>
              </a:rPr>
              <a:t>Advise of the nature and extent of work required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Explain urgency of work required and need for vehicle to be returned to service by given date, if applicable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Take the vehicle in to the business – for them to see/inspect</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Request quotation for the work to be done – if necessary</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Schedule the work – to: </a:t>
            </a:r>
          </a:p>
          <a:p>
            <a:pPr marL="628650" lvl="1" indent="-171450">
              <a:buFont typeface="Arial" pitchFamily="34" charset="0"/>
              <a:buChar char="•"/>
            </a:pPr>
            <a:r>
              <a:rPr lang="en-US" sz="1200" kern="1200" dirty="0" smtClean="0">
                <a:solidFill>
                  <a:schemeClr val="tx1"/>
                </a:solidFill>
                <a:latin typeface="+mn-lt"/>
                <a:ea typeface="+mn-ea"/>
                <a:cs typeface="+mn-cs"/>
              </a:rPr>
              <a:t>Best integrate repairs with any other work to be done – so as to minimise down-time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Maintain vehicle ‘in service’ for maximum time – providing it is safe to do so</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Make a booking for the work to be done – with the chosen provider which may be chosen based on:</a:t>
            </a:r>
          </a:p>
          <a:p>
            <a:pPr marL="628650" lvl="1" indent="-171450">
              <a:buFont typeface="Arial" pitchFamily="34" charset="0"/>
              <a:buChar char="•"/>
            </a:pPr>
            <a:r>
              <a:rPr lang="en-US" sz="1200" kern="1200" dirty="0" smtClean="0">
                <a:solidFill>
                  <a:schemeClr val="tx1"/>
                </a:solidFill>
                <a:latin typeface="+mn-lt"/>
                <a:ea typeface="+mn-ea"/>
                <a:cs typeface="+mn-cs"/>
              </a:rPr>
              <a:t>Quotation received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Ability to perform the work by required date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Previous experience with the business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Direction from management, warranty/guarantee or insurer </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Take necessary other action – which may entail:</a:t>
            </a:r>
          </a:p>
          <a:p>
            <a:pPr marL="628650" lvl="1" indent="-171450">
              <a:buFont typeface="Arial" pitchFamily="34" charset="0"/>
              <a:buChar char="•"/>
            </a:pPr>
            <a:r>
              <a:rPr lang="en-US" sz="1200" kern="1200" dirty="0" smtClean="0">
                <a:solidFill>
                  <a:schemeClr val="tx1"/>
                </a:solidFill>
                <a:latin typeface="+mn-lt"/>
                <a:ea typeface="+mn-ea"/>
                <a:cs typeface="+mn-cs"/>
              </a:rPr>
              <a:t>Ensuring vehicle is not used until the required repairs have been completed, where safety is a concern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Re-arranging vehicle usage sheets to accommodate absence of the vehicle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Hiring/renting another vehicle to replace the one being repaired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Advising known vehicle users of changes made.</a:t>
            </a: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r>
              <a:rPr lang="en-AU" sz="1200" b="1" kern="1200" dirty="0" smtClean="0">
                <a:solidFill>
                  <a:schemeClr val="tx1"/>
                </a:solidFill>
                <a:latin typeface="+mn-lt"/>
                <a:ea typeface="+mn-ea"/>
                <a:cs typeface="+mn-cs"/>
              </a:rPr>
              <a:t>Classroom Activity – Guest Speaker</a:t>
            </a:r>
          </a:p>
          <a:p>
            <a:pPr>
              <a:buFont typeface="Arial" pitchFamily="34" charset="0"/>
              <a:buNone/>
            </a:pPr>
            <a:r>
              <a:rPr lang="en-AU" sz="1200" b="0" kern="1200" dirty="0" smtClean="0">
                <a:solidFill>
                  <a:schemeClr val="tx1"/>
                </a:solidFill>
                <a:latin typeface="+mn-lt"/>
                <a:ea typeface="+mn-ea"/>
                <a:cs typeface="+mn-cs"/>
              </a:rPr>
              <a:t>Trainer arranges for representative from local venue/operator to attend and:</a:t>
            </a:r>
          </a:p>
          <a:p>
            <a:pPr marL="171450" indent="-171450">
              <a:buFont typeface="Arial" pitchFamily="34" charset="0"/>
              <a:buChar char="•"/>
            </a:pPr>
            <a:r>
              <a:rPr lang="en-AU" sz="1200" b="0" kern="1200" dirty="0" smtClean="0">
                <a:solidFill>
                  <a:schemeClr val="tx1"/>
                </a:solidFill>
                <a:latin typeface="+mn-lt"/>
                <a:ea typeface="+mn-ea"/>
                <a:cs typeface="+mn-cs"/>
              </a:rPr>
              <a:t>Describe protocols regarding external service provision</a:t>
            </a:r>
          </a:p>
          <a:p>
            <a:pPr marL="171450" indent="-171450">
              <a:buFont typeface="Arial" pitchFamily="34" charset="0"/>
              <a:buChar char="•"/>
            </a:pPr>
            <a:r>
              <a:rPr lang="en-AU" sz="1200" b="0" kern="1200" dirty="0" smtClean="0">
                <a:solidFill>
                  <a:schemeClr val="tx1"/>
                </a:solidFill>
                <a:latin typeface="+mn-lt"/>
                <a:ea typeface="+mn-ea"/>
                <a:cs typeface="+mn-cs"/>
              </a:rPr>
              <a:t>Identify factors determining when/if external service will</a:t>
            </a:r>
            <a:r>
              <a:rPr lang="en-AU" sz="1200" b="0" kern="1200" baseline="0" dirty="0" smtClean="0">
                <a:solidFill>
                  <a:schemeClr val="tx1"/>
                </a:solidFill>
                <a:latin typeface="+mn-lt"/>
                <a:ea typeface="+mn-ea"/>
                <a:cs typeface="+mn-cs"/>
              </a:rPr>
              <a:t> be used</a:t>
            </a:r>
          </a:p>
          <a:p>
            <a:pPr marL="171450" indent="-171450">
              <a:buFont typeface="Arial" pitchFamily="34" charset="0"/>
              <a:buChar char="•"/>
            </a:pPr>
            <a:r>
              <a:rPr lang="en-AU" sz="1200" b="0" kern="1200" baseline="0" dirty="0" smtClean="0">
                <a:solidFill>
                  <a:schemeClr val="tx1"/>
                </a:solidFill>
                <a:latin typeface="+mn-lt"/>
                <a:ea typeface="+mn-ea"/>
                <a:cs typeface="+mn-cs"/>
              </a:rPr>
              <a:t>Provide samples of relevant documentation involved</a:t>
            </a:r>
          </a:p>
          <a:p>
            <a:pPr marL="171450" indent="-171450">
              <a:buFont typeface="Arial" pitchFamily="34" charset="0"/>
              <a:buChar char="•"/>
            </a:pPr>
            <a:r>
              <a:rPr lang="en-AU" sz="1200" b="0" kern="1200" baseline="0" dirty="0" smtClean="0">
                <a:solidFill>
                  <a:schemeClr val="tx1"/>
                </a:solidFill>
                <a:latin typeface="+mn-lt"/>
                <a:ea typeface="+mn-ea"/>
                <a:cs typeface="+mn-cs"/>
              </a:rPr>
              <a:t>Talk about issues related to having a vehicle taken out of service for maintenance and how that is handled.</a:t>
            </a:r>
          </a:p>
          <a:p>
            <a:pPr>
              <a:buFont typeface="Arial" pitchFamily="34" charset="0"/>
              <a:buNone/>
            </a:pPr>
            <a:endParaRPr lang="en-AU" sz="1200" b="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167</a:t>
            </a:fld>
            <a:endParaRPr lang="en-US" dirty="0"/>
          </a:p>
        </p:txBody>
      </p:sp>
    </p:spTree>
    <p:extLst>
      <p:ext uri="{BB962C8B-B14F-4D97-AF65-F5344CB8AC3E}">
        <p14:creationId xmlns:p14="http://schemas.microsoft.com/office/powerpoint/2010/main" val="1589132895"/>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describes basic safety requirements:</a:t>
            </a:r>
          </a:p>
          <a:p>
            <a:pPr marL="171450" indent="-171450">
              <a:buFont typeface="Arial" pitchFamily="34" charset="0"/>
              <a:buChar char="•"/>
            </a:pPr>
            <a:r>
              <a:rPr lang="en-AU" sz="1200" kern="1200" dirty="0" smtClean="0">
                <a:solidFill>
                  <a:schemeClr val="tx1"/>
                </a:solidFill>
                <a:latin typeface="+mn-lt"/>
                <a:ea typeface="+mn-ea"/>
                <a:cs typeface="+mn-cs"/>
              </a:rPr>
              <a:t>Taking responsibility for personal safety – people must take responsibility for their own safety regardless of all other protocols </a:t>
            </a:r>
          </a:p>
          <a:p>
            <a:pPr marL="171450" indent="-171450">
              <a:buFont typeface="Arial" pitchFamily="34" charset="0"/>
              <a:buChar char="•"/>
            </a:pPr>
            <a:r>
              <a:rPr lang="en-AU" sz="1200" kern="1200" dirty="0" smtClean="0">
                <a:solidFill>
                  <a:schemeClr val="tx1"/>
                </a:solidFill>
                <a:latin typeface="+mn-lt"/>
                <a:ea typeface="+mn-ea"/>
                <a:cs typeface="+mn-cs"/>
              </a:rPr>
              <a:t>Being alert to the possibility of risk – due to faulty equipment, risky practice, introduction of a new product or procedure into the workplace: being aware the workplace is a dangerous environment and has the potential to cause injury is the biggest, single factor in taking the initiative for safety at work</a:t>
            </a:r>
          </a:p>
          <a:p>
            <a:pPr marL="171450" indent="-171450">
              <a:buFont typeface="Arial" pitchFamily="34" charset="0"/>
              <a:buChar char="•"/>
            </a:pPr>
            <a:r>
              <a:rPr lang="en-AU" sz="1200" kern="1200" dirty="0" smtClean="0">
                <a:solidFill>
                  <a:schemeClr val="tx1"/>
                </a:solidFill>
                <a:latin typeface="+mn-lt"/>
                <a:ea typeface="+mn-ea"/>
                <a:cs typeface="+mn-cs"/>
              </a:rPr>
              <a:t>Warning others of hazards – so they avoid them</a:t>
            </a:r>
          </a:p>
          <a:p>
            <a:pPr marL="171450" indent="-171450">
              <a:buFont typeface="Arial" pitchFamily="34" charset="0"/>
              <a:buChar char="•"/>
            </a:pPr>
            <a:r>
              <a:rPr lang="en-AU" sz="1200" kern="1200" dirty="0" smtClean="0">
                <a:solidFill>
                  <a:schemeClr val="tx1"/>
                </a:solidFill>
                <a:latin typeface="+mn-lt"/>
                <a:ea typeface="+mn-ea"/>
                <a:cs typeface="+mn-cs"/>
              </a:rPr>
              <a:t>Learning workplace safety policies and procedures – what applied at a previous workplace may not apply at the current workplace.</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AU" sz="1200" b="1" kern="1200" dirty="0" smtClean="0">
                <a:solidFill>
                  <a:schemeClr val="tx1"/>
                </a:solidFill>
                <a:latin typeface="+mn-lt"/>
                <a:ea typeface="+mn-ea"/>
                <a:cs typeface="+mn-cs"/>
              </a:rPr>
              <a:t>Classroom Activity – Guest Speaker</a:t>
            </a:r>
          </a:p>
          <a:p>
            <a:pPr>
              <a:buFont typeface="Arial" pitchFamily="34" charset="0"/>
              <a:buNone/>
            </a:pPr>
            <a:r>
              <a:rPr lang="en-AU" sz="1200" b="0" kern="1200" dirty="0" smtClean="0">
                <a:solidFill>
                  <a:schemeClr val="tx1"/>
                </a:solidFill>
                <a:latin typeface="+mn-lt"/>
                <a:ea typeface="+mn-ea"/>
                <a:cs typeface="+mn-cs"/>
              </a:rPr>
              <a:t>Trainer arranges for representative from local workplace safety authority to attend and:</a:t>
            </a:r>
          </a:p>
          <a:p>
            <a:pPr marL="171450" indent="-171450">
              <a:buFont typeface="Arial" pitchFamily="34" charset="0"/>
              <a:buChar char="•"/>
            </a:pPr>
            <a:r>
              <a:rPr lang="en-AU" sz="1200" b="0" kern="1200" dirty="0" smtClean="0">
                <a:solidFill>
                  <a:schemeClr val="tx1"/>
                </a:solidFill>
                <a:latin typeface="+mn-lt"/>
                <a:ea typeface="+mn-ea"/>
                <a:cs typeface="+mn-cs"/>
              </a:rPr>
              <a:t>Provide advice on safety when servicing and repairing vehicles</a:t>
            </a:r>
          </a:p>
          <a:p>
            <a:pPr marL="171450" indent="-171450">
              <a:buFont typeface="Arial" pitchFamily="34" charset="0"/>
              <a:buChar char="•"/>
            </a:pPr>
            <a:r>
              <a:rPr lang="en-AU" sz="1200" b="0" kern="1200" dirty="0" smtClean="0">
                <a:solidFill>
                  <a:schemeClr val="tx1"/>
                </a:solidFill>
                <a:latin typeface="+mn-lt"/>
                <a:ea typeface="+mn-ea"/>
                <a:cs typeface="+mn-cs"/>
              </a:rPr>
              <a:t>Distribute</a:t>
            </a:r>
            <a:r>
              <a:rPr lang="en-AU" sz="1200" b="0" kern="1200" baseline="0" dirty="0" smtClean="0">
                <a:solidFill>
                  <a:schemeClr val="tx1"/>
                </a:solidFill>
                <a:latin typeface="+mn-lt"/>
                <a:ea typeface="+mn-ea"/>
                <a:cs typeface="+mn-cs"/>
              </a:rPr>
              <a:t> handouts on workplace safety</a:t>
            </a:r>
          </a:p>
          <a:p>
            <a:pPr marL="171450" indent="-171450">
              <a:buFont typeface="Arial" pitchFamily="34" charset="0"/>
              <a:buChar char="•"/>
            </a:pPr>
            <a:r>
              <a:rPr lang="en-AU" sz="1200" b="0" kern="1200" baseline="0" dirty="0" smtClean="0">
                <a:solidFill>
                  <a:schemeClr val="tx1"/>
                </a:solidFill>
                <a:latin typeface="+mn-lt"/>
                <a:ea typeface="+mn-ea"/>
                <a:cs typeface="+mn-cs"/>
              </a:rPr>
              <a:t>Indicate obligations on employers to provide a safe workplace</a:t>
            </a:r>
          </a:p>
          <a:p>
            <a:pPr marL="171450" indent="-171450">
              <a:buFont typeface="Arial" pitchFamily="34" charset="0"/>
              <a:buChar char="•"/>
            </a:pPr>
            <a:r>
              <a:rPr lang="en-AU" sz="1200" b="0" kern="1200" baseline="0" dirty="0" smtClean="0">
                <a:solidFill>
                  <a:schemeClr val="tx1"/>
                </a:solidFill>
                <a:latin typeface="+mn-lt"/>
                <a:ea typeface="+mn-ea"/>
                <a:cs typeface="+mn-cs"/>
              </a:rPr>
              <a:t>Emphasise responsibilities/onus on workers for their own safety.</a:t>
            </a:r>
            <a:endParaRPr lang="en-AU" sz="1200" b="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168</a:t>
            </a:fld>
            <a:endParaRPr lang="en-US" dirty="0"/>
          </a:p>
        </p:txBody>
      </p:sp>
    </p:spTree>
    <p:extLst>
      <p:ext uri="{BB962C8B-B14F-4D97-AF65-F5344CB8AC3E}">
        <p14:creationId xmlns:p14="http://schemas.microsoft.com/office/powerpoint/2010/main" val="1155317978"/>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describing basic safety requirements:</a:t>
            </a:r>
          </a:p>
          <a:p>
            <a:pPr marL="171450" indent="-171450">
              <a:buFont typeface="Arial" pitchFamily="34" charset="0"/>
              <a:buChar char="•"/>
            </a:pPr>
            <a:r>
              <a:rPr lang="en-AU" sz="1200" kern="1200" dirty="0" smtClean="0">
                <a:solidFill>
                  <a:schemeClr val="tx1"/>
                </a:solidFill>
                <a:latin typeface="+mn-lt"/>
                <a:ea typeface="+mn-ea"/>
                <a:cs typeface="+mn-cs"/>
              </a:rPr>
              <a:t>Understanding a hazard can exist today that did not exist yesterday – due to the dynamic nature of work</a:t>
            </a:r>
          </a:p>
          <a:p>
            <a:pPr marL="171450" indent="-171450">
              <a:buFont typeface="Arial" pitchFamily="34" charset="0"/>
              <a:buChar char="•"/>
            </a:pPr>
            <a:r>
              <a:rPr lang="en-AU" sz="1200" kern="1200" dirty="0" smtClean="0">
                <a:solidFill>
                  <a:schemeClr val="tx1"/>
                </a:solidFill>
                <a:latin typeface="+mn-lt"/>
                <a:ea typeface="+mn-ea"/>
                <a:cs typeface="+mn-cs"/>
              </a:rPr>
              <a:t>Realising a remedy for one workplace risk can introduce a new/other workplace hazard </a:t>
            </a:r>
          </a:p>
          <a:p>
            <a:pPr marL="171450" indent="-171450">
              <a:buFont typeface="Arial" pitchFamily="34" charset="0"/>
              <a:buChar char="•"/>
            </a:pPr>
            <a:r>
              <a:rPr lang="en-AU" sz="1200" kern="1200" dirty="0" smtClean="0">
                <a:solidFill>
                  <a:schemeClr val="tx1"/>
                </a:solidFill>
                <a:latin typeface="+mn-lt"/>
                <a:ea typeface="+mn-ea"/>
                <a:cs typeface="+mn-cs"/>
              </a:rPr>
              <a:t>Reporting any workplace risk/hazard – as soon as it is identified</a:t>
            </a:r>
          </a:p>
          <a:p>
            <a:pPr marL="171450" indent="-171450">
              <a:buFont typeface="Arial" pitchFamily="34" charset="0"/>
              <a:buChar char="•"/>
            </a:pPr>
            <a:r>
              <a:rPr lang="en-AU" sz="1200" kern="1200" dirty="0" smtClean="0">
                <a:solidFill>
                  <a:schemeClr val="tx1"/>
                </a:solidFill>
                <a:latin typeface="+mn-lt"/>
                <a:ea typeface="+mn-ea"/>
                <a:cs typeface="+mn-cs"/>
              </a:rPr>
              <a:t>Keeping the work area neat and tidy – as this helps create a safety-oriented mind set: there seem to be fewer accidents and injuries in neat and clean workplaces.</a:t>
            </a:r>
          </a:p>
          <a:p>
            <a:pPr>
              <a:buFont typeface="Arial" pitchFamily="34" charset="0"/>
              <a:buNone/>
            </a:pPr>
            <a:endParaRPr lang="en-US" noProof="0" dirty="0" smtClean="0"/>
          </a:p>
          <a:p>
            <a:pPr>
              <a:buFont typeface="Arial" pitchFamily="34" charset="0"/>
              <a:buNone/>
            </a:pPr>
            <a:r>
              <a:rPr lang="en-AU" sz="1200" b="1" kern="1200" dirty="0" smtClean="0">
                <a:solidFill>
                  <a:schemeClr val="tx1"/>
                </a:solidFill>
                <a:latin typeface="+mn-lt"/>
                <a:ea typeface="+mn-ea"/>
                <a:cs typeface="+mn-cs"/>
              </a:rPr>
              <a:t>Classroom Activity – Guest Speaker</a:t>
            </a:r>
          </a:p>
          <a:p>
            <a:pPr>
              <a:buFont typeface="Arial" pitchFamily="34" charset="0"/>
              <a:buNone/>
            </a:pPr>
            <a:r>
              <a:rPr lang="en-AU" sz="1200" b="0" kern="1200" dirty="0" smtClean="0">
                <a:solidFill>
                  <a:schemeClr val="tx1"/>
                </a:solidFill>
                <a:latin typeface="+mn-lt"/>
                <a:ea typeface="+mn-ea"/>
                <a:cs typeface="+mn-cs"/>
              </a:rPr>
              <a:t>Trainer arranges for person who services vehicles at local venue/operator to attend and:</a:t>
            </a:r>
          </a:p>
          <a:p>
            <a:pPr marL="171450" indent="-171450">
              <a:buFont typeface="Arial" pitchFamily="34" charset="0"/>
              <a:buChar char="•"/>
            </a:pPr>
            <a:r>
              <a:rPr lang="en-AU" noProof="0" dirty="0" smtClean="0"/>
              <a:t>Stress need for workplace safety</a:t>
            </a:r>
          </a:p>
          <a:p>
            <a:pPr marL="171450" indent="-171450">
              <a:buFont typeface="Arial" pitchFamily="34" charset="0"/>
              <a:buChar char="•"/>
            </a:pPr>
            <a:r>
              <a:rPr lang="en-AU" noProof="0" dirty="0" smtClean="0"/>
              <a:t>Advise of safety measures they take</a:t>
            </a:r>
          </a:p>
          <a:p>
            <a:pPr marL="171450" indent="-171450">
              <a:buFont typeface="Arial" pitchFamily="34" charset="0"/>
              <a:buChar char="•"/>
            </a:pPr>
            <a:r>
              <a:rPr lang="en-AU" noProof="0" dirty="0" smtClean="0"/>
              <a:t>Give examples of workplace safety policies and procedures</a:t>
            </a:r>
          </a:p>
          <a:p>
            <a:pPr marL="171450" indent="-171450">
              <a:buFont typeface="Arial" pitchFamily="34" charset="0"/>
              <a:buChar char="•"/>
            </a:pPr>
            <a:r>
              <a:rPr lang="en-AU" noProof="0" dirty="0" smtClean="0"/>
              <a:t>Describe accidents and near misses they have experienced.</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169</a:t>
            </a:fld>
            <a:endParaRPr lang="en-US" dirty="0"/>
          </a:p>
        </p:txBody>
      </p:sp>
    </p:spTree>
    <p:extLst>
      <p:ext uri="{BB962C8B-B14F-4D97-AF65-F5344CB8AC3E}">
        <p14:creationId xmlns:p14="http://schemas.microsoft.com/office/powerpoint/2010/main" val="1183109102"/>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describing basic safety requirements:</a:t>
            </a:r>
          </a:p>
          <a:p>
            <a:pPr marL="171450" indent="-171450">
              <a:buFont typeface="Arial" pitchFamily="34" charset="0"/>
              <a:buChar char="•"/>
            </a:pPr>
            <a:r>
              <a:rPr lang="en-AU" sz="1200" kern="1200" dirty="0" smtClean="0">
                <a:solidFill>
                  <a:schemeClr val="tx1"/>
                </a:solidFill>
                <a:latin typeface="+mn-lt"/>
                <a:ea typeface="+mn-ea"/>
                <a:cs typeface="+mn-cs"/>
              </a:rPr>
              <a:t>Wearing clothes that are fit for the job – no hanging threads, loose sleeves: wear/provide safe and comfortable clothes</a:t>
            </a:r>
          </a:p>
          <a:p>
            <a:pPr marL="171450" indent="-171450">
              <a:buFont typeface="Arial" pitchFamily="34" charset="0"/>
              <a:buChar char="•"/>
            </a:pPr>
            <a:r>
              <a:rPr lang="en-AU" sz="1200" kern="1200" dirty="0" smtClean="0">
                <a:solidFill>
                  <a:schemeClr val="tx1"/>
                </a:solidFill>
                <a:latin typeface="+mn-lt"/>
                <a:ea typeface="+mn-ea"/>
                <a:cs typeface="+mn-cs"/>
              </a:rPr>
              <a:t>Reporting ‘near misses’ as well as actual accidents/injury – so investigation and preventative action can be taken</a:t>
            </a:r>
          </a:p>
          <a:p>
            <a:pPr marL="171450" indent="-171450">
              <a:buFont typeface="Arial" pitchFamily="34" charset="0"/>
              <a:buChar char="•"/>
            </a:pPr>
            <a:r>
              <a:rPr lang="en-AU" sz="1200" kern="1200" dirty="0" smtClean="0">
                <a:solidFill>
                  <a:schemeClr val="tx1"/>
                </a:solidFill>
                <a:latin typeface="+mn-lt"/>
                <a:ea typeface="+mn-ea"/>
                <a:cs typeface="+mn-cs"/>
              </a:rPr>
              <a:t>Looking out for the safety of others – other staff and members of the public</a:t>
            </a:r>
          </a:p>
          <a:p>
            <a:pPr marL="171450" indent="-171450">
              <a:buFont typeface="Arial" pitchFamily="34" charset="0"/>
              <a:buChar char="•"/>
            </a:pPr>
            <a:r>
              <a:rPr lang="en-AU" sz="1200" kern="1200" dirty="0" smtClean="0">
                <a:solidFill>
                  <a:schemeClr val="tx1"/>
                </a:solidFill>
                <a:latin typeface="+mn-lt"/>
                <a:ea typeface="+mn-ea"/>
                <a:cs typeface="+mn-cs"/>
              </a:rPr>
              <a:t>Immediately ceasing any work as soon as it becomes dangerous – rather than ‘pressing on’ in dangerous conditions.</a:t>
            </a: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170</a:t>
            </a:fld>
            <a:endParaRPr lang="en-US" dirty="0"/>
          </a:p>
        </p:txBody>
      </p:sp>
    </p:spTree>
    <p:extLst>
      <p:ext uri="{BB962C8B-B14F-4D97-AF65-F5344CB8AC3E}">
        <p14:creationId xmlns:p14="http://schemas.microsoft.com/office/powerpoint/2010/main" val="24790408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describing basic safety requirements:</a:t>
            </a:r>
          </a:p>
          <a:p>
            <a:pPr marL="171450" indent="-171450">
              <a:buFont typeface="Arial" pitchFamily="34" charset="0"/>
              <a:buChar char="•"/>
            </a:pPr>
            <a:r>
              <a:rPr lang="en-AU" sz="1200" kern="1200" dirty="0" smtClean="0">
                <a:solidFill>
                  <a:schemeClr val="tx1"/>
                </a:solidFill>
                <a:latin typeface="+mn-lt"/>
                <a:ea typeface="+mn-ea"/>
                <a:cs typeface="+mn-cs"/>
              </a:rPr>
              <a:t>Participating in workplace safety discussions, inspections, feedback and management – so workplace safety is consultative</a:t>
            </a:r>
          </a:p>
          <a:p>
            <a:pPr marL="171450" indent="-171450">
              <a:buFont typeface="Arial" pitchFamily="34" charset="0"/>
              <a:buChar char="•"/>
            </a:pPr>
            <a:r>
              <a:rPr lang="en-AU" sz="1200" kern="1200" dirty="0" smtClean="0">
                <a:solidFill>
                  <a:schemeClr val="tx1"/>
                </a:solidFill>
                <a:latin typeface="+mn-lt"/>
                <a:ea typeface="+mn-ea"/>
                <a:cs typeface="+mn-cs"/>
              </a:rPr>
              <a:t>Adhering to SOPs, SWPs and manufacturer’s instructions – as these have been developed with safety in mind</a:t>
            </a:r>
          </a:p>
          <a:p>
            <a:pPr marL="171450" indent="-171450">
              <a:buFont typeface="Arial" pitchFamily="34" charset="0"/>
              <a:buChar char="•"/>
            </a:pPr>
            <a:r>
              <a:rPr lang="en-AU" sz="1200" kern="1200" dirty="0" smtClean="0">
                <a:solidFill>
                  <a:schemeClr val="tx1"/>
                </a:solidFill>
                <a:latin typeface="+mn-lt"/>
                <a:ea typeface="+mn-ea"/>
                <a:cs typeface="+mn-cs"/>
              </a:rPr>
              <a:t>Wearing/using designated PPE as directed – such as eye protection, gloves, steel-capped boots</a:t>
            </a:r>
          </a:p>
          <a:p>
            <a:pPr marL="171450" indent="-171450">
              <a:buFont typeface="Arial" pitchFamily="34" charset="0"/>
              <a:buChar char="•"/>
            </a:pPr>
            <a:r>
              <a:rPr lang="en-AU" sz="1200" kern="1200" dirty="0" smtClean="0">
                <a:solidFill>
                  <a:schemeClr val="tx1"/>
                </a:solidFill>
                <a:latin typeface="+mn-lt"/>
                <a:ea typeface="+mn-ea"/>
                <a:cs typeface="+mn-cs"/>
              </a:rPr>
              <a:t>Using all appliances, equipment, tools as directed – making sure the right tool is used for the right job.</a:t>
            </a:r>
          </a:p>
          <a:p>
            <a:pPr>
              <a:buFont typeface="Arial" pitchFamily="34" charset="0"/>
              <a:buNone/>
            </a:pPr>
            <a:endParaRPr lang="en-US" noProof="0" dirty="0" smtClean="0"/>
          </a:p>
          <a:p>
            <a:pPr>
              <a:buFont typeface="Arial" pitchFamily="34" charset="0"/>
              <a:buNone/>
            </a:pPr>
            <a:r>
              <a:rPr lang="en-US" b="1" noProof="0" dirty="0" smtClean="0"/>
              <a:t>Classroom Activity – Samples</a:t>
            </a:r>
          </a:p>
          <a:p>
            <a:pPr>
              <a:buFont typeface="Arial" pitchFamily="34" charset="0"/>
              <a:buNone/>
            </a:pPr>
            <a:r>
              <a:rPr lang="en-US" b="0" noProof="0" dirty="0" smtClean="0"/>
              <a:t>Trainer shows and demonstrates/explains the use of a range of relevant workplace PPE.</a:t>
            </a: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171</a:t>
            </a:fld>
            <a:endParaRPr lang="en-US" dirty="0"/>
          </a:p>
        </p:txBody>
      </p:sp>
    </p:spTree>
    <p:extLst>
      <p:ext uri="{BB962C8B-B14F-4D97-AF65-F5344CB8AC3E}">
        <p14:creationId xmlns:p14="http://schemas.microsoft.com/office/powerpoint/2010/main" val="240684393"/>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describing basic safety requirements:</a:t>
            </a:r>
          </a:p>
          <a:p>
            <a:pPr marL="171450" indent="-171450">
              <a:buFont typeface="Arial" pitchFamily="34" charset="0"/>
              <a:buChar char="•"/>
            </a:pPr>
            <a:r>
              <a:rPr lang="en-AU" sz="1200" kern="1200" dirty="0" smtClean="0">
                <a:solidFill>
                  <a:schemeClr val="tx1"/>
                </a:solidFill>
                <a:latin typeface="+mn-lt"/>
                <a:ea typeface="+mn-ea"/>
                <a:cs typeface="+mn-cs"/>
              </a:rPr>
              <a:t>Intervening when a dangerous workplace situation is identified – to protect people/others against injury</a:t>
            </a:r>
          </a:p>
          <a:p>
            <a:pPr marL="171450" indent="-171450">
              <a:buFont typeface="Arial" pitchFamily="34" charset="0"/>
              <a:buChar char="•"/>
            </a:pPr>
            <a:r>
              <a:rPr lang="en-AU" sz="1200" kern="1200" dirty="0" smtClean="0">
                <a:solidFill>
                  <a:schemeClr val="tx1"/>
                </a:solidFill>
                <a:latin typeface="+mn-lt"/>
                <a:ea typeface="+mn-ea"/>
                <a:cs typeface="+mn-cs"/>
              </a:rPr>
              <a:t>Taking care when working, which includes:</a:t>
            </a:r>
          </a:p>
          <a:p>
            <a:pPr marL="628650" lvl="1" indent="-171450">
              <a:buFont typeface="Arial" pitchFamily="34" charset="0"/>
              <a:buChar char="•"/>
            </a:pPr>
            <a:r>
              <a:rPr lang="en-US" sz="1200" kern="1200" dirty="0" smtClean="0">
                <a:solidFill>
                  <a:schemeClr val="tx1"/>
                </a:solidFill>
                <a:latin typeface="+mn-lt"/>
                <a:ea typeface="+mn-ea"/>
                <a:cs typeface="+mn-cs"/>
              </a:rPr>
              <a:t>Not rushing</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Thinking about what needs to be done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Thinking about how to do what needs to be done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Not doing anything believed to be unsafe</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Taking practical action when required, such as:</a:t>
            </a:r>
          </a:p>
          <a:p>
            <a:pPr marL="628650" lvl="1" indent="-171450">
              <a:buFont typeface="Arial" pitchFamily="34" charset="0"/>
              <a:buChar char="•"/>
            </a:pPr>
            <a:r>
              <a:rPr lang="en-US" sz="1200" kern="1200" dirty="0" smtClean="0">
                <a:solidFill>
                  <a:schemeClr val="tx1"/>
                </a:solidFill>
                <a:latin typeface="+mn-lt"/>
                <a:ea typeface="+mn-ea"/>
                <a:cs typeface="+mn-cs"/>
              </a:rPr>
              <a:t>Picking up items from the floor when they have been dropped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Cleaning up spills immediately – instead of ignoring them or leaving them for someone else to do</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Disposing of glass (including broken glass) into designated containers.</a:t>
            </a: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172</a:t>
            </a:fld>
            <a:endParaRPr lang="en-US" dirty="0"/>
          </a:p>
        </p:txBody>
      </p:sp>
    </p:spTree>
    <p:extLst>
      <p:ext uri="{BB962C8B-B14F-4D97-AF65-F5344CB8AC3E}">
        <p14:creationId xmlns:p14="http://schemas.microsoft.com/office/powerpoint/2010/main" val="3178504460"/>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describing basic safety requirements:</a:t>
            </a:r>
          </a:p>
          <a:p>
            <a:pPr marL="171450" indent="-171450">
              <a:buFont typeface="Arial" pitchFamily="34" charset="0"/>
              <a:buChar char="•"/>
            </a:pPr>
            <a:r>
              <a:rPr lang="en-AU" sz="1200" kern="1200" dirty="0" smtClean="0">
                <a:solidFill>
                  <a:schemeClr val="tx1"/>
                </a:solidFill>
                <a:latin typeface="+mn-lt"/>
                <a:ea typeface="+mn-ea"/>
                <a:cs typeface="+mn-cs"/>
              </a:rPr>
              <a:t>Undertaking a first aid course – so help can be provided if necessary</a:t>
            </a:r>
          </a:p>
          <a:p>
            <a:pPr marL="171450" indent="-171450">
              <a:buFont typeface="Arial" pitchFamily="34" charset="0"/>
              <a:buChar char="•"/>
            </a:pPr>
            <a:r>
              <a:rPr lang="en-AU" sz="1200" kern="1200" dirty="0" smtClean="0">
                <a:solidFill>
                  <a:schemeClr val="tx1"/>
                </a:solidFill>
                <a:latin typeface="+mn-lt"/>
                <a:ea typeface="+mn-ea"/>
                <a:cs typeface="+mn-cs"/>
              </a:rPr>
              <a:t>Being trained in workplace health and safety – as it applies to the workplace, and attending all workplace-based health, safety and welfare training</a:t>
            </a:r>
          </a:p>
          <a:p>
            <a:pPr marL="171450" indent="-171450">
              <a:buFont typeface="Arial" pitchFamily="34" charset="0"/>
              <a:buChar char="•"/>
            </a:pPr>
            <a:r>
              <a:rPr lang="en-AU" sz="1200" kern="1200" dirty="0" smtClean="0">
                <a:solidFill>
                  <a:schemeClr val="tx1"/>
                </a:solidFill>
                <a:latin typeface="+mn-lt"/>
                <a:ea typeface="+mn-ea"/>
                <a:cs typeface="+mn-cs"/>
              </a:rPr>
              <a:t>Not working when unfit to do so – as a result of </a:t>
            </a:r>
            <a:r>
              <a:rPr lang="en-AU" sz="1200" kern="1200" dirty="0" err="1" smtClean="0">
                <a:solidFill>
                  <a:schemeClr val="tx1"/>
                </a:solidFill>
                <a:latin typeface="+mn-lt"/>
                <a:ea typeface="+mn-ea"/>
                <a:cs typeface="+mn-cs"/>
              </a:rPr>
              <a:t>tyredness</a:t>
            </a:r>
            <a:r>
              <a:rPr lang="en-AU" sz="1200" kern="1200" dirty="0" smtClean="0">
                <a:solidFill>
                  <a:schemeClr val="tx1"/>
                </a:solidFill>
                <a:latin typeface="+mn-lt"/>
                <a:ea typeface="+mn-ea"/>
                <a:cs typeface="+mn-cs"/>
              </a:rPr>
              <a:t>, injury, other causes</a:t>
            </a:r>
          </a:p>
          <a:p>
            <a:pPr marL="171450" indent="-171450">
              <a:buFont typeface="Arial" pitchFamily="34" charset="0"/>
              <a:buChar char="•"/>
            </a:pPr>
            <a:r>
              <a:rPr lang="en-AU" sz="1200" kern="1200" dirty="0" smtClean="0">
                <a:solidFill>
                  <a:schemeClr val="tx1"/>
                </a:solidFill>
                <a:latin typeface="+mn-lt"/>
                <a:ea typeface="+mn-ea"/>
                <a:cs typeface="+mn-cs"/>
              </a:rPr>
              <a:t>Seeking to establish a safe place/working environment – rather than relying on employees working in a safe manner.</a:t>
            </a: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173</a:t>
            </a:fld>
            <a:endParaRPr lang="en-US" dirty="0"/>
          </a:p>
        </p:txBody>
      </p:sp>
    </p:spTree>
    <p:extLst>
      <p:ext uri="{BB962C8B-B14F-4D97-AF65-F5344CB8AC3E}">
        <p14:creationId xmlns:p14="http://schemas.microsoft.com/office/powerpoint/2010/main" val="884917714"/>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describing basic safety requirements:</a:t>
            </a:r>
          </a:p>
          <a:p>
            <a:pPr marL="171450" indent="-171450">
              <a:buFont typeface="Arial" pitchFamily="34" charset="0"/>
              <a:buChar char="•"/>
            </a:pPr>
            <a:r>
              <a:rPr lang="en-AU" sz="1200" kern="1200" dirty="0" smtClean="0">
                <a:solidFill>
                  <a:schemeClr val="tx1"/>
                </a:solidFill>
                <a:latin typeface="+mn-lt"/>
                <a:ea typeface="+mn-ea"/>
                <a:cs typeface="+mn-cs"/>
              </a:rPr>
              <a:t>Applying safe manual handling protocols – in relation to moving and lifting objects in the workplace</a:t>
            </a:r>
          </a:p>
          <a:p>
            <a:pPr marL="171450" indent="-171450">
              <a:buFont typeface="Arial" pitchFamily="34" charset="0"/>
              <a:buChar char="•"/>
            </a:pPr>
            <a:r>
              <a:rPr lang="en-AU" sz="1200" kern="1200" dirty="0" smtClean="0">
                <a:solidFill>
                  <a:schemeClr val="tx1"/>
                </a:solidFill>
                <a:latin typeface="+mn-lt"/>
                <a:ea typeface="+mn-ea"/>
                <a:cs typeface="+mn-cs"/>
              </a:rPr>
              <a:t>Ensuring there are MSDS for all chemicals used in the workplace – and they are readily available to workers</a:t>
            </a:r>
          </a:p>
          <a:p>
            <a:pPr marL="171450" indent="-171450">
              <a:buFont typeface="Arial" pitchFamily="34" charset="0"/>
              <a:buChar char="•"/>
            </a:pPr>
            <a:r>
              <a:rPr lang="en-AU" sz="1200" kern="1200" dirty="0" smtClean="0">
                <a:solidFill>
                  <a:schemeClr val="tx1"/>
                </a:solidFill>
                <a:latin typeface="+mn-lt"/>
                <a:ea typeface="+mn-ea"/>
                <a:cs typeface="+mn-cs"/>
              </a:rPr>
              <a:t>Handling chemicals according to established safe chemical handling, storing and usage protocols – as developed by the organisation for the chemicals used within the business</a:t>
            </a:r>
          </a:p>
          <a:p>
            <a:pPr marL="171450" indent="-171450">
              <a:buFont typeface="Arial" pitchFamily="34" charset="0"/>
              <a:buChar char="•"/>
            </a:pPr>
            <a:r>
              <a:rPr lang="en-AU" sz="1200" kern="1200" dirty="0" smtClean="0">
                <a:solidFill>
                  <a:schemeClr val="tx1"/>
                </a:solidFill>
                <a:latin typeface="+mn-lt"/>
                <a:ea typeface="+mn-ea"/>
                <a:cs typeface="+mn-cs"/>
              </a:rPr>
              <a:t>Abiding by the requirements of health, safety and welfare legislation – as it applies locally/nationally.</a:t>
            </a:r>
          </a:p>
          <a:p>
            <a:pPr>
              <a:buFont typeface="Arial" pitchFamily="34" charset="0"/>
              <a:buNone/>
            </a:pPr>
            <a:endParaRPr lang="en-US" noProof="0" dirty="0" smtClean="0"/>
          </a:p>
          <a:p>
            <a:pPr>
              <a:buFont typeface="Arial" pitchFamily="34" charset="0"/>
              <a:buNone/>
            </a:pPr>
            <a:r>
              <a:rPr lang="en-AU" b="1" noProof="0" dirty="0" smtClean="0"/>
              <a:t>Classroom Activity (1) – Demonstration</a:t>
            </a:r>
          </a:p>
          <a:p>
            <a:pPr>
              <a:buFont typeface="Arial" pitchFamily="34" charset="0"/>
              <a:buNone/>
            </a:pPr>
            <a:r>
              <a:rPr lang="en-AU" b="0" noProof="0" dirty="0" smtClean="0"/>
              <a:t>Trainer demonstrates safe manual handling and chemical handling techniques.</a:t>
            </a:r>
          </a:p>
          <a:p>
            <a:pPr>
              <a:buFont typeface="Arial" pitchFamily="34" charset="0"/>
              <a:buNone/>
            </a:pPr>
            <a:endParaRPr lang="en-AU" b="1" noProof="0" dirty="0" smtClean="0"/>
          </a:p>
          <a:p>
            <a:pPr>
              <a:buFont typeface="Arial" pitchFamily="34" charset="0"/>
              <a:buNone/>
            </a:pPr>
            <a:r>
              <a:rPr lang="en-AU" b="1" noProof="0" dirty="0" smtClean="0"/>
              <a:t>Classroom Activity (2) – Handouts</a:t>
            </a:r>
          </a:p>
          <a:p>
            <a:pPr>
              <a:buFont typeface="Arial" pitchFamily="34" charset="0"/>
              <a:buNone/>
            </a:pPr>
            <a:r>
              <a:rPr lang="en-AU" b="0" noProof="0" dirty="0" smtClean="0"/>
              <a:t>Trainer distributes and discusses sample range</a:t>
            </a:r>
            <a:r>
              <a:rPr lang="en-AU" b="0" baseline="0" noProof="0" dirty="0" smtClean="0"/>
              <a:t> of relevant MSDS.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174</a:t>
            </a:fld>
            <a:endParaRPr lang="en-US" dirty="0"/>
          </a:p>
        </p:txBody>
      </p:sp>
    </p:spTree>
    <p:extLst>
      <p:ext uri="{BB962C8B-B14F-4D97-AF65-F5344CB8AC3E}">
        <p14:creationId xmlns:p14="http://schemas.microsoft.com/office/powerpoint/2010/main" val="3718772769"/>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describing basic safety requirements:</a:t>
            </a:r>
          </a:p>
          <a:p>
            <a:pPr marL="171450" indent="-171450">
              <a:buFont typeface="Arial" pitchFamily="34" charset="0"/>
              <a:buChar char="•"/>
            </a:pPr>
            <a:r>
              <a:rPr lang="en-AU" sz="1200" kern="1200" dirty="0" smtClean="0">
                <a:solidFill>
                  <a:schemeClr val="tx1"/>
                </a:solidFill>
                <a:latin typeface="+mn-lt"/>
                <a:ea typeface="+mn-ea"/>
                <a:cs typeface="+mn-cs"/>
              </a:rPr>
              <a:t>Including health and safety training as part of the Induction and Orientation – for all new employees</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Ensuring suitable first aid kit is present/available</a:t>
            </a:r>
          </a:p>
          <a:p>
            <a:pPr marL="171450" indent="-171450">
              <a:buFont typeface="Arial" pitchFamily="34" charset="0"/>
              <a:buChar char="•"/>
            </a:pPr>
            <a:r>
              <a:rPr lang="en-AU" sz="1200" kern="1200" dirty="0" smtClean="0">
                <a:solidFill>
                  <a:schemeClr val="tx1"/>
                </a:solidFill>
                <a:latin typeface="+mn-lt"/>
                <a:ea typeface="+mn-ea"/>
                <a:cs typeface="+mn-cs"/>
              </a:rPr>
              <a:t>Ensuring a fire extinguisher is close-by – just in case it is needed.</a:t>
            </a: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175</a:t>
            </a:fld>
            <a:endParaRPr lang="en-US" dirty="0"/>
          </a:p>
        </p:txBody>
      </p:sp>
    </p:spTree>
    <p:extLst>
      <p:ext uri="{BB962C8B-B14F-4D97-AF65-F5344CB8AC3E}">
        <p14:creationId xmlns:p14="http://schemas.microsoft.com/office/powerpoint/2010/main" val="3049560464"/>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discusses possible need for external compliance with regard to safety:</a:t>
            </a:r>
          </a:p>
          <a:p>
            <a:pPr marL="171450" indent="-171450">
              <a:buFont typeface="Arial" pitchFamily="34" charset="0"/>
              <a:buChar char="•"/>
            </a:pPr>
            <a:r>
              <a:rPr lang="en-AU" sz="1200" kern="1200" dirty="0" smtClean="0">
                <a:solidFill>
                  <a:schemeClr val="tx1"/>
                </a:solidFill>
                <a:latin typeface="+mn-lt"/>
                <a:ea typeface="+mn-ea"/>
                <a:cs typeface="+mn-cs"/>
              </a:rPr>
              <a:t>Where repairs are made to vehicles (and trailers) – and perhaps where nominated service has to be provided – there can be a need to have this work inspected and ‘passed’ by local transportation, vehicle or road authorities</a:t>
            </a:r>
          </a:p>
          <a:p>
            <a:pPr marL="171450" indent="-171450">
              <a:buFont typeface="Arial" pitchFamily="34" charset="0"/>
              <a:buChar char="•"/>
            </a:pPr>
            <a:r>
              <a:rPr lang="en-AU" sz="1200" kern="1200" dirty="0" smtClean="0">
                <a:solidFill>
                  <a:schemeClr val="tx1"/>
                </a:solidFill>
                <a:latin typeface="+mn-lt"/>
                <a:ea typeface="+mn-ea"/>
                <a:cs typeface="+mn-cs"/>
              </a:rPr>
              <a:t>These requirements may apply to all vehicles, or just to those registered as commercial and/or passenger-carrying</a:t>
            </a:r>
          </a:p>
          <a:p>
            <a:pPr marL="171450" indent="-171450">
              <a:buFont typeface="Arial" pitchFamily="34" charset="0"/>
              <a:buChar char="•"/>
            </a:pPr>
            <a:r>
              <a:rPr lang="en-AU" sz="1200" kern="1200" dirty="0" smtClean="0">
                <a:solidFill>
                  <a:schemeClr val="tx1"/>
                </a:solidFill>
                <a:latin typeface="+mn-lt"/>
                <a:ea typeface="+mn-ea"/>
                <a:cs typeface="+mn-cs"/>
              </a:rPr>
              <a:t>Where these obligations apply it is generally the case:</a:t>
            </a:r>
          </a:p>
          <a:p>
            <a:pPr marL="628650" lvl="1" indent="-171450">
              <a:buFont typeface="Arial" pitchFamily="34" charset="0"/>
              <a:buChar char="•"/>
            </a:pPr>
            <a:r>
              <a:rPr lang="en-AU" sz="1200" kern="1200" dirty="0" smtClean="0">
                <a:solidFill>
                  <a:schemeClr val="tx1"/>
                </a:solidFill>
                <a:latin typeface="+mn-lt"/>
                <a:ea typeface="+mn-ea"/>
                <a:cs typeface="+mn-cs"/>
              </a:rPr>
              <a:t>The vehicle must be taken or driven to the inspection point</a:t>
            </a:r>
          </a:p>
          <a:p>
            <a:pPr marL="628650" lvl="1" indent="-171450">
              <a:buFont typeface="Arial" pitchFamily="34" charset="0"/>
              <a:buChar char="•"/>
            </a:pPr>
            <a:r>
              <a:rPr lang="en-AU" sz="1200" kern="1200" dirty="0" smtClean="0">
                <a:solidFill>
                  <a:schemeClr val="tx1"/>
                </a:solidFill>
                <a:latin typeface="+mn-lt"/>
                <a:ea typeface="+mn-ea"/>
                <a:cs typeface="+mn-cs"/>
              </a:rPr>
              <a:t>It must be inspected, checked and approved by an authorised officer of inspector</a:t>
            </a:r>
          </a:p>
          <a:p>
            <a:pPr marL="628650" lvl="1" indent="-171450">
              <a:buFont typeface="Arial" pitchFamily="34" charset="0"/>
              <a:buChar char="•"/>
            </a:pPr>
            <a:r>
              <a:rPr lang="en-AU" sz="1200" kern="1200" dirty="0" smtClean="0">
                <a:solidFill>
                  <a:schemeClr val="tx1"/>
                </a:solidFill>
                <a:latin typeface="+mn-lt"/>
                <a:ea typeface="+mn-ea"/>
                <a:cs typeface="+mn-cs"/>
              </a:rPr>
              <a:t>A certificate approving the repairs must be issued and obtained to sign-off on the repairs before the vehicle is legally allowed to be driven/used on the roads.</a:t>
            </a:r>
          </a:p>
          <a:p>
            <a:pPr>
              <a:buFont typeface="Arial" pitchFamily="34" charset="0"/>
              <a:buNone/>
            </a:pPr>
            <a:endParaRPr lang="en-US"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176</a:t>
            </a:fld>
            <a:endParaRPr lang="en-US" dirty="0"/>
          </a:p>
        </p:txBody>
      </p:sp>
    </p:spTree>
    <p:extLst>
      <p:ext uri="{BB962C8B-B14F-4D97-AF65-F5344CB8AC3E}">
        <p14:creationId xmlns:p14="http://schemas.microsoft.com/office/powerpoint/2010/main" val="3990529304"/>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explains general safety obligations imposed on employers:</a:t>
            </a:r>
          </a:p>
          <a:p>
            <a:pPr marL="171450" lvl="0" indent="-171450">
              <a:buFont typeface="Arial" pitchFamily="34" charset="0"/>
              <a:buChar char="•"/>
            </a:pPr>
            <a:r>
              <a:rPr lang="en-AU" sz="1200" kern="1200" dirty="0" smtClean="0">
                <a:solidFill>
                  <a:schemeClr val="tx1"/>
                </a:solidFill>
                <a:latin typeface="+mn-lt"/>
                <a:ea typeface="+mn-ea"/>
                <a:cs typeface="+mn-cs"/>
              </a:rPr>
              <a:t>Conduct risk assessments to remove or control risks to workers at the workplace </a:t>
            </a:r>
          </a:p>
          <a:p>
            <a:pPr marL="171450" lvl="0" indent="-171450">
              <a:buFont typeface="Arial" pitchFamily="34" charset="0"/>
              <a:buChar char="•"/>
            </a:pPr>
            <a:r>
              <a:rPr lang="en-AU" sz="1200" kern="1200" dirty="0" smtClean="0">
                <a:solidFill>
                  <a:schemeClr val="tx1"/>
                </a:solidFill>
                <a:latin typeface="+mn-lt"/>
                <a:ea typeface="+mn-ea"/>
                <a:cs typeface="+mn-cs"/>
              </a:rPr>
              <a:t>Maintain safe work facilities and arrangements for the workers at work </a:t>
            </a:r>
          </a:p>
          <a:p>
            <a:pPr marL="171450" lvl="0" indent="-171450">
              <a:buFont typeface="Arial" pitchFamily="34" charset="0"/>
              <a:buChar char="•"/>
            </a:pPr>
            <a:r>
              <a:rPr lang="en-AU" sz="1200" kern="1200" dirty="0" smtClean="0">
                <a:solidFill>
                  <a:schemeClr val="tx1"/>
                </a:solidFill>
                <a:latin typeface="+mn-lt"/>
                <a:ea typeface="+mn-ea"/>
                <a:cs typeface="+mn-cs"/>
              </a:rPr>
              <a:t>Ensure safety in machinery, equipment, plant, articles, substances and work processes at the workplace; </a:t>
            </a:r>
          </a:p>
          <a:p>
            <a:pPr marL="171450" lvl="0" indent="-171450">
              <a:buFont typeface="Arial" pitchFamily="34" charset="0"/>
              <a:buChar char="•"/>
            </a:pPr>
            <a:r>
              <a:rPr lang="en-AU" sz="1200" kern="1200" dirty="0" smtClean="0">
                <a:solidFill>
                  <a:schemeClr val="tx1"/>
                </a:solidFill>
                <a:latin typeface="+mn-lt"/>
                <a:ea typeface="+mn-ea"/>
                <a:cs typeface="+mn-cs"/>
              </a:rPr>
              <a:t>Develop and implement control measures for dealing with emergencies; </a:t>
            </a:r>
          </a:p>
          <a:p>
            <a:pPr marL="171450" lvl="0" indent="-171450">
              <a:buFont typeface="Arial" pitchFamily="34" charset="0"/>
              <a:buChar char="•"/>
            </a:pPr>
            <a:r>
              <a:rPr lang="en-AU" sz="1200" kern="1200" dirty="0" smtClean="0">
                <a:solidFill>
                  <a:schemeClr val="tx1"/>
                </a:solidFill>
                <a:latin typeface="+mn-lt"/>
                <a:ea typeface="+mn-ea"/>
                <a:cs typeface="+mn-cs"/>
              </a:rPr>
              <a:t>Provide workers with adequate instruction, information, training and supervision.</a:t>
            </a:r>
          </a:p>
          <a:p>
            <a:pPr>
              <a:buFont typeface="Arial" pitchFamily="34" charset="0"/>
              <a:buNone/>
            </a:pPr>
            <a:endParaRPr lang="en-US"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177</a:t>
            </a:fld>
            <a:endParaRPr lang="en-US" dirty="0"/>
          </a:p>
        </p:txBody>
      </p:sp>
    </p:spTree>
    <p:extLst>
      <p:ext uri="{BB962C8B-B14F-4D97-AF65-F5344CB8AC3E}">
        <p14:creationId xmlns:p14="http://schemas.microsoft.com/office/powerpoint/2010/main" val="762413373"/>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explains general safety obligations imposed on employees:</a:t>
            </a:r>
          </a:p>
          <a:p>
            <a:pPr marL="171450" lvl="0" indent="-171450">
              <a:buFont typeface="Arial" pitchFamily="34" charset="0"/>
              <a:buChar char="•"/>
            </a:pPr>
            <a:r>
              <a:rPr lang="en-AU" sz="1200" kern="1200" dirty="0" smtClean="0">
                <a:solidFill>
                  <a:schemeClr val="tx1"/>
                </a:solidFill>
                <a:latin typeface="+mn-lt"/>
                <a:ea typeface="+mn-ea"/>
                <a:cs typeface="+mn-cs"/>
              </a:rPr>
              <a:t>Must follow the safe working procedures and principles introduced at the workplace </a:t>
            </a:r>
          </a:p>
          <a:p>
            <a:pPr marL="171450" lvl="0" indent="-171450">
              <a:buFont typeface="Arial" pitchFamily="34" charset="0"/>
              <a:buChar char="•"/>
            </a:pPr>
            <a:r>
              <a:rPr lang="en-AU" sz="1200" kern="1200" dirty="0" smtClean="0">
                <a:solidFill>
                  <a:schemeClr val="tx1"/>
                </a:solidFill>
                <a:latin typeface="+mn-lt"/>
                <a:ea typeface="+mn-ea"/>
                <a:cs typeface="+mn-cs"/>
              </a:rPr>
              <a:t>Must not engage in any unsafe act that may endanger yourself or others working around you </a:t>
            </a:r>
          </a:p>
          <a:p>
            <a:pPr marL="171450" lvl="0" indent="-171450">
              <a:buFont typeface="Arial" pitchFamily="34" charset="0"/>
              <a:buChar char="•"/>
            </a:pPr>
            <a:r>
              <a:rPr lang="en-AU" sz="1200" kern="1200" dirty="0" smtClean="0">
                <a:solidFill>
                  <a:schemeClr val="tx1"/>
                </a:solidFill>
                <a:latin typeface="+mn-lt"/>
                <a:ea typeface="+mn-ea"/>
                <a:cs typeface="+mn-cs"/>
              </a:rPr>
              <a:t>Must use, in proper manner, any personal protective equipment, devices, equipments or other means provided to secure your safety, health and welfare while working. You must not tamper or misuse such items provided </a:t>
            </a:r>
          </a:p>
          <a:p>
            <a:pPr marL="171450" lvl="0" indent="-171450">
              <a:buFont typeface="Arial" pitchFamily="34" charset="0"/>
              <a:buChar char="•"/>
            </a:pPr>
            <a:r>
              <a:rPr lang="en-AU" sz="1200" kern="1200" dirty="0" smtClean="0">
                <a:solidFill>
                  <a:schemeClr val="tx1"/>
                </a:solidFill>
                <a:latin typeface="+mn-lt"/>
                <a:ea typeface="+mn-ea"/>
                <a:cs typeface="+mn-cs"/>
              </a:rPr>
              <a:t>Must not engage in any negligent act that may endanger yourself or others working around you.” </a:t>
            </a: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178</a:t>
            </a:fld>
            <a:endParaRPr lang="en-US" dirty="0"/>
          </a:p>
        </p:txBody>
      </p:sp>
    </p:spTree>
    <p:extLst>
      <p:ext uri="{BB962C8B-B14F-4D97-AF65-F5344CB8AC3E}">
        <p14:creationId xmlns:p14="http://schemas.microsoft.com/office/powerpoint/2010/main" val="3194606305"/>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179</a:t>
            </a:fld>
            <a:endParaRPr lang="en-US" dirty="0"/>
          </a:p>
        </p:txBody>
      </p:sp>
    </p:spTree>
    <p:extLst>
      <p:ext uri="{BB962C8B-B14F-4D97-AF65-F5344CB8AC3E}">
        <p14:creationId xmlns:p14="http://schemas.microsoft.com/office/powerpoint/2010/main" val="1930104877"/>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180</a:t>
            </a:fld>
            <a:endParaRPr lang="en-US" dirty="0"/>
          </a:p>
        </p:txBody>
      </p:sp>
    </p:spTree>
    <p:extLst>
      <p:ext uri="{BB962C8B-B14F-4D97-AF65-F5344CB8AC3E}">
        <p14:creationId xmlns:p14="http://schemas.microsoft.com/office/powerpoint/2010/main" val="1421275275"/>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181</a:t>
            </a:fld>
            <a:endParaRPr lang="en-US" dirty="0"/>
          </a:p>
        </p:txBody>
      </p:sp>
    </p:spTree>
    <p:extLst>
      <p:ext uri="{BB962C8B-B14F-4D97-AF65-F5344CB8AC3E}">
        <p14:creationId xmlns:p14="http://schemas.microsoft.com/office/powerpoint/2010/main" val="2287054828"/>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182</a:t>
            </a:fld>
            <a:endParaRPr lang="en-US" dirty="0"/>
          </a:p>
        </p:txBody>
      </p:sp>
    </p:spTree>
    <p:extLst>
      <p:ext uri="{BB962C8B-B14F-4D97-AF65-F5344CB8AC3E}">
        <p14:creationId xmlns:p14="http://schemas.microsoft.com/office/powerpoint/2010/main" val="4215695947"/>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kern="1200" baseline="0" dirty="0" smtClean="0">
              <a:solidFill>
                <a:schemeClr val="tx1"/>
              </a:solidFill>
              <a:ea typeface="+mn-ea"/>
              <a:cs typeface="+mn-cs"/>
            </a:endParaRPr>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What does ‘diagnose’ mean?</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How can you go about diagnosing faults/what do you do to diagnose them?</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What experience have you had in doing this?</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Give me some examples of vehicles you have diagnosed faults on and what those faults were.</a:t>
            </a:r>
            <a:endParaRPr lang="en-AU" sz="120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183</a:t>
            </a:fld>
            <a:endParaRPr lang="en-US" dirty="0"/>
          </a:p>
        </p:txBody>
      </p:sp>
    </p:spTree>
    <p:extLst>
      <p:ext uri="{BB962C8B-B14F-4D97-AF65-F5344CB8AC3E}">
        <p14:creationId xmlns:p14="http://schemas.microsoft.com/office/powerpoint/2010/main" val="177674462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a:buFont typeface="Arial" pitchFamily="34" charset="0"/>
              <a:buNone/>
            </a:pPr>
            <a:r>
              <a:rPr lang="en-US" noProof="0" dirty="0" smtClean="0"/>
              <a:t>Trainer explains there </a:t>
            </a:r>
            <a:r>
              <a:rPr lang="en-AU" sz="1200" kern="1200" dirty="0" smtClean="0">
                <a:solidFill>
                  <a:schemeClr val="tx1"/>
                </a:solidFill>
                <a:latin typeface="+mn-lt"/>
                <a:ea typeface="+mn-ea"/>
                <a:cs typeface="+mn-cs"/>
              </a:rPr>
              <a:t>are four basic ways to identify vehicle faults:</a:t>
            </a:r>
          </a:p>
          <a:p>
            <a:pPr marL="171450" indent="-171450">
              <a:buFont typeface="Arial" pitchFamily="34" charset="0"/>
              <a:buChar char="•"/>
            </a:pPr>
            <a:r>
              <a:rPr lang="en-AU" sz="1200" kern="1200" dirty="0" smtClean="0">
                <a:solidFill>
                  <a:schemeClr val="tx1"/>
                </a:solidFill>
                <a:latin typeface="+mn-lt"/>
                <a:ea typeface="+mn-ea"/>
                <a:cs typeface="+mn-cs"/>
              </a:rPr>
              <a:t>Talking with those who have operated/driven or been in a vehicle </a:t>
            </a:r>
          </a:p>
          <a:p>
            <a:pPr marL="628650" lvl="1" indent="-171450">
              <a:buFont typeface="Arial" pitchFamily="34" charset="0"/>
              <a:buChar char="•"/>
            </a:pPr>
            <a:r>
              <a:rPr lang="en-AU" sz="1200" kern="1200" dirty="0" smtClean="0">
                <a:solidFill>
                  <a:schemeClr val="tx1"/>
                </a:solidFill>
                <a:latin typeface="+mn-lt"/>
                <a:ea typeface="+mn-ea"/>
                <a:cs typeface="+mn-cs"/>
              </a:rPr>
              <a:t>These people may be drivers or passengers </a:t>
            </a:r>
          </a:p>
          <a:p>
            <a:pPr marL="628650" lvl="1" indent="-171450">
              <a:buFont typeface="Arial" pitchFamily="34" charset="0"/>
              <a:buChar char="•"/>
            </a:pPr>
            <a:r>
              <a:rPr lang="en-AU" sz="1200" kern="1200" dirty="0" smtClean="0">
                <a:solidFill>
                  <a:schemeClr val="tx1"/>
                </a:solidFill>
                <a:latin typeface="+mn-lt"/>
                <a:ea typeface="+mn-ea"/>
                <a:cs typeface="+mn-cs"/>
              </a:rPr>
              <a:t>Actions required include:</a:t>
            </a:r>
          </a:p>
          <a:p>
            <a:pPr marL="1085850" lvl="2" indent="-171450">
              <a:buFont typeface="Arial" pitchFamily="34" charset="0"/>
              <a:buChar char="•"/>
            </a:pPr>
            <a:r>
              <a:rPr lang="en-US" sz="1200" kern="1200" dirty="0" smtClean="0">
                <a:solidFill>
                  <a:schemeClr val="tx1"/>
                </a:solidFill>
                <a:latin typeface="+mn-lt"/>
                <a:ea typeface="+mn-ea"/>
                <a:cs typeface="+mn-cs"/>
              </a:rPr>
              <a:t>Asking open and closed questions</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Asking probing questions</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Using terminology appropriate to the individual – such as avoiding complex automotive terms if the person does not understand them</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Listening to what is said</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Getting them to point to locations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AU" sz="1200" kern="1200" dirty="0" smtClean="0">
                <a:solidFill>
                  <a:schemeClr val="tx1"/>
                </a:solidFill>
                <a:latin typeface="+mn-lt"/>
                <a:ea typeface="+mn-ea"/>
                <a:cs typeface="+mn-cs"/>
              </a:rPr>
              <a:t>The discussion should aim to:</a:t>
            </a:r>
          </a:p>
          <a:p>
            <a:pPr marL="1085850" lvl="2" indent="-171450">
              <a:buFont typeface="Arial" pitchFamily="34" charset="0"/>
              <a:buChar char="•"/>
            </a:pPr>
            <a:r>
              <a:rPr lang="en-AU" sz="1200" kern="1200" dirty="0" smtClean="0">
                <a:solidFill>
                  <a:schemeClr val="tx1"/>
                </a:solidFill>
                <a:latin typeface="+mn-lt"/>
                <a:ea typeface="+mn-ea"/>
                <a:cs typeface="+mn-cs"/>
              </a:rPr>
              <a:t>Identify type and nature of fault </a:t>
            </a:r>
          </a:p>
          <a:p>
            <a:pPr marL="1085850" lvl="2" indent="-171450">
              <a:buFont typeface="Arial" pitchFamily="34" charset="0"/>
              <a:buChar char="•"/>
            </a:pPr>
            <a:r>
              <a:rPr lang="en-AU" sz="1200" kern="1200" dirty="0" smtClean="0">
                <a:solidFill>
                  <a:schemeClr val="tx1"/>
                </a:solidFill>
                <a:latin typeface="+mn-lt"/>
                <a:ea typeface="+mn-ea"/>
                <a:cs typeface="+mn-cs"/>
              </a:rPr>
              <a:t>Describe the fault if it cannot be identified</a:t>
            </a:r>
          </a:p>
          <a:p>
            <a:pPr marL="1085850" lvl="2" indent="-171450">
              <a:buFont typeface="Arial" pitchFamily="34" charset="0"/>
              <a:buChar char="•"/>
            </a:pPr>
            <a:r>
              <a:rPr lang="en-AU" sz="1200" kern="1200" dirty="0" smtClean="0">
                <a:solidFill>
                  <a:schemeClr val="tx1"/>
                </a:solidFill>
                <a:latin typeface="+mn-lt"/>
                <a:ea typeface="+mn-ea"/>
                <a:cs typeface="+mn-cs"/>
              </a:rPr>
              <a:t>Explain whereabouts it is located (if appropriate)</a:t>
            </a:r>
          </a:p>
          <a:p>
            <a:pPr marL="1085850" lvl="2" indent="-171450">
              <a:buFont typeface="Arial" pitchFamily="34" charset="0"/>
              <a:buChar char="•"/>
            </a:pPr>
            <a:r>
              <a:rPr lang="en-AU" sz="1200" kern="1200" dirty="0" smtClean="0">
                <a:solidFill>
                  <a:schemeClr val="tx1"/>
                </a:solidFill>
                <a:latin typeface="+mn-lt"/>
                <a:ea typeface="+mn-ea"/>
                <a:cs typeface="+mn-cs"/>
              </a:rPr>
              <a:t>Describe symptoms and indicators </a:t>
            </a:r>
          </a:p>
          <a:p>
            <a:pPr marL="1085850" lvl="2" indent="-171450">
              <a:buFont typeface="Arial" pitchFamily="34" charset="0"/>
              <a:buChar char="•"/>
            </a:pPr>
            <a:r>
              <a:rPr lang="en-AU" sz="1200" kern="1200" dirty="0" smtClean="0">
                <a:solidFill>
                  <a:schemeClr val="tx1"/>
                </a:solidFill>
                <a:latin typeface="+mn-lt"/>
                <a:ea typeface="+mn-ea"/>
                <a:cs typeface="+mn-cs"/>
              </a:rPr>
              <a:t>Give an idea of frequency of the problem</a:t>
            </a:r>
          </a:p>
          <a:p>
            <a:pPr marL="1085850" lvl="2" indent="-171450">
              <a:buFont typeface="Arial" pitchFamily="34" charset="0"/>
              <a:buChar char="•"/>
            </a:pPr>
            <a:r>
              <a:rPr lang="en-AU" sz="1200" kern="1200" dirty="0" smtClean="0">
                <a:solidFill>
                  <a:schemeClr val="tx1"/>
                </a:solidFill>
                <a:latin typeface="+mn-lt"/>
                <a:ea typeface="+mn-ea"/>
                <a:cs typeface="+mn-cs"/>
              </a:rPr>
              <a:t>Identify conditions under which fault occurs/presents</a:t>
            </a:r>
          </a:p>
          <a:p>
            <a:pPr marL="171450" indent="-171450">
              <a:buFont typeface="Arial" pitchFamily="34" charset="0"/>
              <a:buChar char="•"/>
            </a:pPr>
            <a:r>
              <a:rPr lang="en-AU" sz="1200" kern="1200" dirty="0" smtClean="0">
                <a:solidFill>
                  <a:schemeClr val="tx1"/>
                </a:solidFill>
                <a:latin typeface="+mn-lt"/>
                <a:ea typeface="+mn-ea"/>
                <a:cs typeface="+mn-cs"/>
              </a:rPr>
              <a:t>Test driving the vehicle – to:</a:t>
            </a:r>
          </a:p>
          <a:p>
            <a:pPr marL="628650" lvl="1" indent="-171450">
              <a:buFont typeface="Arial" pitchFamily="34" charset="0"/>
              <a:buChar char="•"/>
            </a:pPr>
            <a:r>
              <a:rPr lang="en-AU" sz="1200" kern="1200" dirty="0" smtClean="0">
                <a:solidFill>
                  <a:schemeClr val="tx1"/>
                </a:solidFill>
                <a:latin typeface="+mn-lt"/>
                <a:ea typeface="+mn-ea"/>
                <a:cs typeface="+mn-cs"/>
              </a:rPr>
              <a:t>Attempt to induce the fault – which can often be a frustrating experience as a problem ‘on tour’ often fails to manifest itself on return</a:t>
            </a:r>
          </a:p>
          <a:p>
            <a:pPr marL="628650" lvl="1" indent="-171450">
              <a:buFont typeface="Arial" pitchFamily="34" charset="0"/>
              <a:buChar char="•"/>
            </a:pPr>
            <a:r>
              <a:rPr lang="en-AU" sz="1200" kern="1200" dirty="0" smtClean="0">
                <a:solidFill>
                  <a:schemeClr val="tx1"/>
                </a:solidFill>
                <a:latin typeface="+mn-lt"/>
                <a:ea typeface="+mn-ea"/>
                <a:cs typeface="+mn-cs"/>
              </a:rPr>
              <a:t>Listen to sounds made by the vehicle</a:t>
            </a:r>
          </a:p>
          <a:p>
            <a:pPr marL="628650" lvl="1" indent="-171450">
              <a:buFont typeface="Arial" pitchFamily="34" charset="0"/>
              <a:buChar char="•"/>
            </a:pPr>
            <a:r>
              <a:rPr lang="en-AU" sz="1200" kern="1200" dirty="0" smtClean="0">
                <a:solidFill>
                  <a:schemeClr val="tx1"/>
                </a:solidFill>
                <a:latin typeface="+mn-lt"/>
                <a:ea typeface="+mn-ea"/>
                <a:cs typeface="+mn-cs"/>
              </a:rPr>
              <a:t>Get a feel for the vehicle – and how it handles and responds</a:t>
            </a:r>
          </a:p>
          <a:p>
            <a:pPr marL="628650" lvl="1" indent="-171450">
              <a:buFont typeface="Arial" pitchFamily="34" charset="0"/>
              <a:buChar char="•"/>
            </a:pPr>
            <a:r>
              <a:rPr lang="en-AU" sz="1200" kern="1200" dirty="0" smtClean="0">
                <a:solidFill>
                  <a:schemeClr val="tx1"/>
                </a:solidFill>
                <a:latin typeface="+mn-lt"/>
                <a:ea typeface="+mn-ea"/>
                <a:cs typeface="+mn-cs"/>
              </a:rPr>
              <a:t>Smell any odour which may be generated by the fault</a:t>
            </a:r>
          </a:p>
          <a:p>
            <a:pPr marL="628650" lvl="1" indent="-171450">
              <a:buFont typeface="Arial" pitchFamily="34" charset="0"/>
              <a:buChar char="•"/>
            </a:pPr>
            <a:r>
              <a:rPr lang="en-AU" sz="1200" kern="1200" dirty="0" smtClean="0">
                <a:solidFill>
                  <a:schemeClr val="tx1"/>
                </a:solidFill>
                <a:latin typeface="+mn-lt"/>
                <a:ea typeface="+mn-ea"/>
                <a:cs typeface="+mn-cs"/>
              </a:rPr>
              <a:t>Duplicate causal conditions which were known to trigger the problem</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Compare the way it is ‘now’ to how it normally behaves – in some cases a ‘fault’ with a vehicle as identified by someone else can simply be a ‘lack of performance’ which is really not a </a:t>
            </a:r>
            <a:r>
              <a:rPr lang="en-AU" sz="1200" i="1" kern="1200" dirty="0" smtClean="0">
                <a:solidFill>
                  <a:schemeClr val="tx1"/>
                </a:solidFill>
                <a:latin typeface="+mn-lt"/>
                <a:ea typeface="+mn-ea"/>
                <a:cs typeface="+mn-cs"/>
              </a:rPr>
              <a:t>fault</a:t>
            </a:r>
            <a:r>
              <a:rPr lang="en-AU" sz="1200" kern="1200" dirty="0" smtClean="0">
                <a:solidFill>
                  <a:schemeClr val="tx1"/>
                </a:solidFill>
                <a:latin typeface="+mn-lt"/>
                <a:ea typeface="+mn-ea"/>
                <a:cs typeface="+mn-cs"/>
              </a:rPr>
              <a:t> but simply the standard operating parameters of the vehicle.</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184</a:t>
            </a:fld>
            <a:endParaRPr lang="en-US" dirty="0"/>
          </a:p>
        </p:txBody>
      </p:sp>
    </p:spTree>
    <p:extLst>
      <p:ext uri="{BB962C8B-B14F-4D97-AF65-F5344CB8AC3E}">
        <p14:creationId xmlns:p14="http://schemas.microsoft.com/office/powerpoint/2010/main" val="1579743430"/>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a:t>
            </a:r>
            <a:r>
              <a:rPr lang="en-US" baseline="0" noProof="0" dirty="0" smtClean="0"/>
              <a:t> identifying ways </a:t>
            </a:r>
            <a:r>
              <a:rPr lang="en-AU" sz="1200" kern="1200" dirty="0" smtClean="0">
                <a:solidFill>
                  <a:schemeClr val="tx1"/>
                </a:solidFill>
                <a:latin typeface="+mn-lt"/>
                <a:ea typeface="+mn-ea"/>
                <a:cs typeface="+mn-cs"/>
              </a:rPr>
              <a:t>to identify vehicle faults:</a:t>
            </a:r>
          </a:p>
          <a:p>
            <a:pPr marL="171450" indent="-171450">
              <a:buFont typeface="Arial" pitchFamily="34" charset="0"/>
              <a:buChar char="•"/>
            </a:pPr>
            <a:r>
              <a:rPr lang="en-AU" sz="1200" kern="1200" dirty="0" smtClean="0">
                <a:solidFill>
                  <a:schemeClr val="tx1"/>
                </a:solidFill>
                <a:latin typeface="+mn-lt"/>
                <a:ea typeface="+mn-ea"/>
                <a:cs typeface="+mn-cs"/>
              </a:rPr>
              <a:t>Running stationary vehicle to induce fault – which may involve:</a:t>
            </a:r>
          </a:p>
          <a:p>
            <a:pPr marL="628650" lvl="1" indent="-171450">
              <a:buFont typeface="Arial" pitchFamily="34" charset="0"/>
              <a:buChar char="•"/>
            </a:pPr>
            <a:r>
              <a:rPr lang="en-US" sz="1200" kern="1200" dirty="0" smtClean="0">
                <a:solidFill>
                  <a:schemeClr val="tx1"/>
                </a:solidFill>
                <a:latin typeface="+mn-lt"/>
                <a:ea typeface="+mn-ea"/>
                <a:cs typeface="+mn-cs"/>
              </a:rPr>
              <a:t>Applying handbrake and/or chocking vehicle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Running vehicle from a cold start</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Starting vehicle from a hot start</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Running vehicle with nominated accessories turned ’on’ (and/or ‘off’) as required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Running vehicle for nominated period of time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Monitoring/observing vehicle from inside and/or outside of the vehicle</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Reading reports which have been prepared on the vehicle – such as:</a:t>
            </a:r>
          </a:p>
          <a:p>
            <a:pPr marL="628650" lvl="1" indent="-171450">
              <a:buFont typeface="Arial" pitchFamily="34" charset="0"/>
              <a:buChar char="•"/>
            </a:pPr>
            <a:r>
              <a:rPr lang="en-US" sz="1200" kern="1200" dirty="0" smtClean="0">
                <a:solidFill>
                  <a:schemeClr val="tx1"/>
                </a:solidFill>
                <a:latin typeface="+mn-lt"/>
                <a:ea typeface="+mn-ea"/>
                <a:cs typeface="+mn-cs"/>
              </a:rPr>
              <a:t>Roadworthy/unroadworthy certificates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Vehicle defect notices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Service reports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Daily vehicle inspection checklists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End of Tour reports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Damage reports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Maintenance requests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Usage log.</a:t>
            </a:r>
            <a:endParaRPr lang="en-AU" sz="1200" kern="1200" dirty="0" smtClean="0">
              <a:solidFill>
                <a:schemeClr val="tx1"/>
              </a:solidFill>
              <a:latin typeface="+mn-lt"/>
              <a:ea typeface="+mn-ea"/>
              <a:cs typeface="+mn-cs"/>
            </a:endParaRPr>
          </a:p>
          <a:p>
            <a:pPr>
              <a:buFont typeface="Arial" pitchFamily="34" charset="0"/>
              <a:buChar char="•"/>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 Handouts</a:t>
            </a:r>
          </a:p>
          <a:p>
            <a:pPr>
              <a:buFont typeface="Arial" pitchFamily="34" charset="0"/>
              <a:buNone/>
            </a:pPr>
            <a:r>
              <a:rPr lang="en-US" b="0" noProof="0" dirty="0" smtClean="0"/>
              <a:t>Trainer distributes and discusses examples of reports/documents identified on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185</a:t>
            </a:fld>
            <a:endParaRPr lang="en-US" dirty="0"/>
          </a:p>
        </p:txBody>
      </p:sp>
    </p:spTree>
    <p:extLst>
      <p:ext uri="{BB962C8B-B14F-4D97-AF65-F5344CB8AC3E}">
        <p14:creationId xmlns:p14="http://schemas.microsoft.com/office/powerpoint/2010/main" val="2858975550"/>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provides context stating:</a:t>
            </a:r>
          </a:p>
          <a:p>
            <a:pPr marL="171450" indent="-171450">
              <a:buFont typeface="Arial" pitchFamily="34" charset="0"/>
              <a:buChar char="•"/>
            </a:pPr>
            <a:r>
              <a:rPr lang="en-AU" sz="1200" kern="1200" dirty="0" smtClean="0">
                <a:solidFill>
                  <a:schemeClr val="tx1"/>
                </a:solidFill>
                <a:latin typeface="+mn-lt"/>
                <a:ea typeface="+mn-ea"/>
                <a:cs typeface="+mn-cs"/>
              </a:rPr>
              <a:t>Identifying the cause of faults may also be known as:</a:t>
            </a:r>
          </a:p>
          <a:p>
            <a:pPr marL="628650" lvl="1" indent="-171450">
              <a:buFont typeface="Arial" pitchFamily="34" charset="0"/>
              <a:buChar char="•"/>
            </a:pPr>
            <a:r>
              <a:rPr lang="en-AU" sz="1200" kern="1200" dirty="0" smtClean="0">
                <a:solidFill>
                  <a:schemeClr val="tx1"/>
                </a:solidFill>
                <a:latin typeface="+mn-lt"/>
                <a:ea typeface="+mn-ea"/>
                <a:cs typeface="+mn-cs"/>
              </a:rPr>
              <a:t>‘Diagnosing’ faults</a:t>
            </a:r>
          </a:p>
          <a:p>
            <a:pPr marL="628650" lvl="1" indent="-171450">
              <a:buFont typeface="Arial" pitchFamily="34" charset="0"/>
              <a:buChar char="•"/>
            </a:pPr>
            <a:r>
              <a:rPr lang="en-AU" sz="1200" kern="1200" dirty="0" smtClean="0">
                <a:solidFill>
                  <a:schemeClr val="tx1"/>
                </a:solidFill>
                <a:latin typeface="+mn-lt"/>
                <a:ea typeface="+mn-ea"/>
                <a:cs typeface="+mn-cs"/>
              </a:rPr>
              <a:t>‘Troubleshooting’</a:t>
            </a:r>
          </a:p>
          <a:p>
            <a:pPr marL="171450" indent="-171450">
              <a:buFont typeface="Arial" pitchFamily="34" charset="0"/>
              <a:buChar char="•"/>
            </a:pPr>
            <a:r>
              <a:rPr lang="en-AU" sz="1200" kern="1200" dirty="0" smtClean="0">
                <a:solidFill>
                  <a:schemeClr val="tx1"/>
                </a:solidFill>
                <a:latin typeface="+mn-lt"/>
                <a:ea typeface="+mn-ea"/>
                <a:cs typeface="+mn-cs"/>
              </a:rPr>
              <a:t>In many cases the reality of this stage is:</a:t>
            </a:r>
          </a:p>
          <a:p>
            <a:pPr marL="628650" lvl="1" indent="-171450">
              <a:buFont typeface="Arial" pitchFamily="34" charset="0"/>
              <a:buChar char="•"/>
            </a:pPr>
            <a:r>
              <a:rPr lang="en-AU" sz="1200" kern="1200" dirty="0" smtClean="0">
                <a:solidFill>
                  <a:schemeClr val="tx1"/>
                </a:solidFill>
                <a:latin typeface="+mn-lt"/>
                <a:ea typeface="+mn-ea"/>
                <a:cs typeface="+mn-cs"/>
              </a:rPr>
              <a:t>It is not straight-forward</a:t>
            </a:r>
          </a:p>
          <a:p>
            <a:pPr marL="628650" lvl="1" indent="-171450">
              <a:buFont typeface="Arial" pitchFamily="34" charset="0"/>
              <a:buChar char="•"/>
            </a:pPr>
            <a:r>
              <a:rPr lang="en-AU" sz="1200" kern="1200" dirty="0" smtClean="0">
                <a:solidFill>
                  <a:schemeClr val="tx1"/>
                </a:solidFill>
                <a:latin typeface="+mn-lt"/>
                <a:ea typeface="+mn-ea"/>
                <a:cs typeface="+mn-cs"/>
              </a:rPr>
              <a:t>The process can be very time consuming</a:t>
            </a:r>
          </a:p>
          <a:p>
            <a:pPr marL="628650" lvl="1" indent="-171450">
              <a:buFont typeface="Arial" pitchFamily="34" charset="0"/>
              <a:buChar char="•"/>
            </a:pPr>
            <a:r>
              <a:rPr lang="en-AU" sz="1200" kern="1200" dirty="0" smtClean="0">
                <a:solidFill>
                  <a:schemeClr val="tx1"/>
                </a:solidFill>
                <a:latin typeface="+mn-lt"/>
                <a:ea typeface="+mn-ea"/>
                <a:cs typeface="+mn-cs"/>
              </a:rPr>
              <a:t>It is difficult to re-produce the fault so the cause can be found</a:t>
            </a:r>
          </a:p>
          <a:p>
            <a:pPr marL="628650" lvl="1" indent="-171450">
              <a:buFont typeface="Arial" pitchFamily="34" charset="0"/>
              <a:buChar char="•"/>
            </a:pPr>
            <a:r>
              <a:rPr lang="en-AU" sz="1200" kern="1200" dirty="0" smtClean="0">
                <a:solidFill>
                  <a:schemeClr val="tx1"/>
                </a:solidFill>
                <a:latin typeface="+mn-lt"/>
                <a:ea typeface="+mn-ea"/>
                <a:cs typeface="+mn-cs"/>
              </a:rPr>
              <a:t>It can be harder to determine the cause than it is to fix the fault.</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186</a:t>
            </a:fld>
            <a:endParaRPr lang="en-US" dirty="0"/>
          </a:p>
        </p:txBody>
      </p:sp>
    </p:spTree>
    <p:extLst>
      <p:ext uri="{BB962C8B-B14F-4D97-AF65-F5344CB8AC3E}">
        <p14:creationId xmlns:p14="http://schemas.microsoft.com/office/powerpoint/2010/main" val="1495824088"/>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presents SOPs for diagnosing faults:</a:t>
            </a:r>
          </a:p>
          <a:p>
            <a:pPr marL="171450" indent="-171450">
              <a:buFont typeface="Arial" pitchFamily="34" charset="0"/>
              <a:buChar char="•"/>
            </a:pPr>
            <a:r>
              <a:rPr lang="en-AU" sz="1200" kern="1200" dirty="0" smtClean="0">
                <a:solidFill>
                  <a:schemeClr val="tx1"/>
                </a:solidFill>
                <a:latin typeface="+mn-lt"/>
                <a:ea typeface="+mn-ea"/>
                <a:cs typeface="+mn-cs"/>
              </a:rPr>
              <a:t>Analysing available information (‘evidence’) as obtained from the fault identification process to provide a list of tests to perform in order to:</a:t>
            </a:r>
          </a:p>
          <a:p>
            <a:pPr marL="628650" lvl="1" indent="-171450">
              <a:buFont typeface="Arial" pitchFamily="34" charset="0"/>
              <a:buChar char="•"/>
            </a:pPr>
            <a:r>
              <a:rPr lang="en-US" sz="1200" kern="1200" dirty="0" smtClean="0">
                <a:solidFill>
                  <a:schemeClr val="tx1"/>
                </a:solidFill>
                <a:latin typeface="+mn-lt"/>
                <a:ea typeface="+mn-ea"/>
                <a:cs typeface="+mn-cs"/>
              </a:rPr>
              <a:t>Generate/cause the fault</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Test options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Eliminate possible causes in a structured and sequential, one-at-a-time basis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Identify causes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Using diagnostic flowcharts – as provided by manufacturers for different parts/components of the vehicle</a:t>
            </a:r>
          </a:p>
          <a:p>
            <a:pPr marL="171450" indent="-171450">
              <a:buFont typeface="Arial" pitchFamily="34" charset="0"/>
              <a:buChar char="•"/>
            </a:pPr>
            <a:r>
              <a:rPr lang="en-AU" sz="1200" kern="1200" dirty="0" smtClean="0">
                <a:solidFill>
                  <a:schemeClr val="tx1"/>
                </a:solidFill>
                <a:latin typeface="+mn-lt"/>
                <a:ea typeface="+mn-ea"/>
                <a:cs typeface="+mn-cs"/>
              </a:rPr>
              <a:t>Using on-board diagnostics (OBD) – which require a purpose-built scanning tool to (reader) be plugged into the on-board computer to display and interpret a Diagnostic Trouble Code which describes the fault.</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187</a:t>
            </a:fld>
            <a:endParaRPr lang="en-US" dirty="0"/>
          </a:p>
        </p:txBody>
      </p:sp>
    </p:spTree>
    <p:extLst>
      <p:ext uri="{BB962C8B-B14F-4D97-AF65-F5344CB8AC3E}">
        <p14:creationId xmlns:p14="http://schemas.microsoft.com/office/powerpoint/2010/main" val="3511369342"/>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US" noProof="0" dirty="0" smtClean="0"/>
              <a:t>Trainer continues presenting SOPs for diagnosing faults:</a:t>
            </a:r>
          </a:p>
          <a:p>
            <a:pPr marL="171450" indent="-171450">
              <a:buFont typeface="Arial" pitchFamily="34" charset="0"/>
              <a:buChar char="•"/>
            </a:pPr>
            <a:r>
              <a:rPr lang="en-AU" sz="1200" kern="1200" dirty="0" smtClean="0">
                <a:solidFill>
                  <a:schemeClr val="tx1"/>
                </a:solidFill>
                <a:latin typeface="+mn-lt"/>
                <a:ea typeface="+mn-ea"/>
                <a:cs typeface="+mn-cs"/>
              </a:rPr>
              <a:t>Referring to service and operator manuals – as most </a:t>
            </a:r>
            <a:r>
              <a:rPr lang="en-AU" sz="1200" i="1" kern="1200" dirty="0" smtClean="0">
                <a:solidFill>
                  <a:schemeClr val="tx1"/>
                </a:solidFill>
                <a:latin typeface="+mn-lt"/>
                <a:ea typeface="+mn-ea"/>
                <a:cs typeface="+mn-cs"/>
              </a:rPr>
              <a:t>minor</a:t>
            </a:r>
            <a:r>
              <a:rPr lang="en-AU" sz="1200" kern="1200" dirty="0" smtClean="0">
                <a:solidFill>
                  <a:schemeClr val="tx1"/>
                </a:solidFill>
                <a:latin typeface="+mn-lt"/>
                <a:ea typeface="+mn-ea"/>
                <a:cs typeface="+mn-cs"/>
              </a:rPr>
              <a:t> faults can be determined with reference to these books</a:t>
            </a:r>
          </a:p>
          <a:p>
            <a:pPr marL="171450" indent="-171450">
              <a:buFont typeface="Arial" pitchFamily="34" charset="0"/>
              <a:buChar char="•"/>
            </a:pPr>
            <a:r>
              <a:rPr lang="en-AU" sz="1200" kern="1200" dirty="0" smtClean="0">
                <a:solidFill>
                  <a:schemeClr val="tx1"/>
                </a:solidFill>
                <a:latin typeface="+mn-lt"/>
                <a:ea typeface="+mn-ea"/>
                <a:cs typeface="+mn-cs"/>
              </a:rPr>
              <a:t>Seeking additional advice from the manufacturer – which may take the form of:</a:t>
            </a:r>
          </a:p>
          <a:p>
            <a:pPr marL="628650" lvl="1" indent="-171450">
              <a:buFont typeface="Arial" pitchFamily="34" charset="0"/>
              <a:buChar char="•"/>
            </a:pPr>
            <a:r>
              <a:rPr lang="en-US" sz="1200" kern="1200" dirty="0" smtClean="0">
                <a:solidFill>
                  <a:schemeClr val="tx1"/>
                </a:solidFill>
                <a:latin typeface="+mn-lt"/>
                <a:ea typeface="+mn-ea"/>
                <a:cs typeface="+mn-cs"/>
              </a:rPr>
              <a:t>On-line advice – using:</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Free, password protected access to contracted assistance provided as part of new vehicle purchase</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Fee-for-service specialist advice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Over the phone assistance – from the manufacturer or the agent/business that sold the vehicle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In-person help – which may include:</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Talking face-to-face with the Service Manager at the agency</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Taking the vehicle in to the business for one of the mechanics to look at and give free-of-charge advice on – this is a viable option where the organisation purchases significant vehicles from the one car dealership and/or where a ‘preferred supplier’ arrangement exists with the business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Referring to personal experience – the more experience a person has in diagnosing faults, the greater their pool of experience becomes</a:t>
            </a:r>
          </a:p>
          <a:p>
            <a:pPr marL="628650" lvl="1" indent="-171450">
              <a:buFont typeface="Arial" pitchFamily="34" charset="0"/>
              <a:buChar char="•"/>
            </a:pPr>
            <a:r>
              <a:rPr lang="en-AU" sz="1200" kern="1200" dirty="0" smtClean="0">
                <a:solidFill>
                  <a:schemeClr val="tx1"/>
                </a:solidFill>
                <a:latin typeface="+mn-lt"/>
                <a:ea typeface="+mn-ea"/>
                <a:cs typeface="+mn-cs"/>
              </a:rPr>
              <a:t>This personal experience generates a useful source of information as it is based on ‘legitimate’, first-hand practice.</a:t>
            </a: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188</a:t>
            </a:fld>
            <a:endParaRPr lang="en-US" dirty="0"/>
          </a:p>
        </p:txBody>
      </p:sp>
    </p:spTree>
    <p:extLst>
      <p:ext uri="{BB962C8B-B14F-4D97-AF65-F5344CB8AC3E}">
        <p14:creationId xmlns:p14="http://schemas.microsoft.com/office/powerpoint/2010/main" val="3431851984"/>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presenting SOPs for diagnosing faults:</a:t>
            </a:r>
          </a:p>
          <a:p>
            <a:pPr marL="171450" indent="-171450">
              <a:buFont typeface="Arial" pitchFamily="34" charset="0"/>
              <a:buChar char="•"/>
            </a:pPr>
            <a:r>
              <a:rPr lang="en-AU" sz="1200" kern="1200" dirty="0" smtClean="0">
                <a:solidFill>
                  <a:schemeClr val="tx1"/>
                </a:solidFill>
                <a:latin typeface="+mn-lt"/>
                <a:ea typeface="+mn-ea"/>
                <a:cs typeface="+mn-cs"/>
              </a:rPr>
              <a:t>Loading vehicle onto jacks, stands or a hydraulic lift – in order to:</a:t>
            </a:r>
          </a:p>
          <a:p>
            <a:pPr marL="628650" lvl="1" indent="-171450">
              <a:buFont typeface="Arial" pitchFamily="34" charset="0"/>
              <a:buChar char="•"/>
            </a:pPr>
            <a:r>
              <a:rPr lang="en-US" sz="1200" kern="1200" dirty="0" smtClean="0">
                <a:solidFill>
                  <a:schemeClr val="tx1"/>
                </a:solidFill>
                <a:latin typeface="+mn-lt"/>
                <a:ea typeface="+mn-ea"/>
                <a:cs typeface="+mn-cs"/>
              </a:rPr>
              <a:t>Get a better look at the vehicle and be able to see ‘up and under’ it and the engine bay Certainly, raised vehicles always make it easier to identify the location of leaks and drips; Free up certain suspension components;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Make it easier to manipulate other parts of the vehicle</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Using applicable sensory appraisal to help determine cause – this is similar to using the senses to help identify a fault in the first place, and can (depending on the issue) rely on:</a:t>
            </a:r>
          </a:p>
          <a:p>
            <a:pPr marL="628650" lvl="1" indent="-171450">
              <a:buFont typeface="Arial" pitchFamily="34" charset="0"/>
              <a:buChar char="•"/>
            </a:pPr>
            <a:r>
              <a:rPr lang="en-US" sz="1200" kern="1200" dirty="0" smtClean="0">
                <a:solidFill>
                  <a:schemeClr val="tx1"/>
                </a:solidFill>
                <a:latin typeface="+mn-lt"/>
                <a:ea typeface="+mn-ea"/>
                <a:cs typeface="+mn-cs"/>
              </a:rPr>
              <a:t>Sight; Feel; Smell; Hearing</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Monitoring on-board instrument panel – which can mean watching and interpreting the readings of:</a:t>
            </a:r>
          </a:p>
          <a:p>
            <a:pPr marL="628650" lvl="1" indent="-171450">
              <a:buFont typeface="Arial" pitchFamily="34" charset="0"/>
              <a:buChar char="•"/>
            </a:pPr>
            <a:r>
              <a:rPr lang="en-US" sz="1200" kern="1200" dirty="0" smtClean="0">
                <a:solidFill>
                  <a:schemeClr val="tx1"/>
                </a:solidFill>
                <a:latin typeface="+mn-lt"/>
                <a:ea typeface="+mn-ea"/>
                <a:cs typeface="+mn-cs"/>
              </a:rPr>
              <a:t>Temperature gauges; Tachometers; Oil pressure; Battery charge </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Monitoring externally attached equipment – such as:</a:t>
            </a:r>
          </a:p>
          <a:p>
            <a:pPr marL="628650" lvl="1" indent="-171450">
              <a:buFont typeface="Arial" pitchFamily="34" charset="0"/>
              <a:buChar char="•"/>
            </a:pPr>
            <a:r>
              <a:rPr lang="en-US" sz="1200" kern="1200" dirty="0" smtClean="0">
                <a:solidFill>
                  <a:schemeClr val="tx1"/>
                </a:solidFill>
                <a:latin typeface="+mn-lt"/>
                <a:ea typeface="+mn-ea"/>
                <a:cs typeface="+mn-cs"/>
              </a:rPr>
              <a:t>Various diagnostic tools; Battery/alternator testers; Vacuum and fuel pump testers; Electronic brake service tool; Compression test; Circuit testers and multi-meters.</a:t>
            </a: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r>
              <a:rPr lang="en-US" b="1" noProof="0" dirty="0" smtClean="0"/>
              <a:t>Classroom Activity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AU"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189</a:t>
            </a:fld>
            <a:endParaRPr lang="en-US" dirty="0"/>
          </a:p>
        </p:txBody>
      </p:sp>
    </p:spTree>
    <p:extLst>
      <p:ext uri="{BB962C8B-B14F-4D97-AF65-F5344CB8AC3E}">
        <p14:creationId xmlns:p14="http://schemas.microsoft.com/office/powerpoint/2010/main" val="239977505"/>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190</a:t>
            </a:fld>
            <a:endParaRPr lang="en-US" dirty="0"/>
          </a:p>
        </p:txBody>
      </p:sp>
    </p:spTree>
    <p:extLst>
      <p:ext uri="{BB962C8B-B14F-4D97-AF65-F5344CB8AC3E}">
        <p14:creationId xmlns:p14="http://schemas.microsoft.com/office/powerpoint/2010/main" val="3062979295"/>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191</a:t>
            </a:fld>
            <a:endParaRPr lang="en-US" dirty="0"/>
          </a:p>
        </p:txBody>
      </p:sp>
    </p:spTree>
    <p:extLst>
      <p:ext uri="{BB962C8B-B14F-4D97-AF65-F5344CB8AC3E}">
        <p14:creationId xmlns:p14="http://schemas.microsoft.com/office/powerpoint/2010/main" val="2036722324"/>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kern="1200" baseline="0" dirty="0" smtClean="0">
              <a:solidFill>
                <a:schemeClr val="tx1"/>
              </a:solidFill>
              <a:ea typeface="+mn-ea"/>
              <a:cs typeface="+mn-cs"/>
            </a:endParaRPr>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What experience do you have in undertaking minor repairs?</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Where have you performed these repairs?</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What vehicles did you work on and what repairs did you complete?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192</a:t>
            </a:fld>
            <a:endParaRPr lang="en-US" dirty="0"/>
          </a:p>
        </p:txBody>
      </p:sp>
    </p:spTree>
    <p:extLst>
      <p:ext uri="{BB962C8B-B14F-4D97-AF65-F5344CB8AC3E}">
        <p14:creationId xmlns:p14="http://schemas.microsoft.com/office/powerpoint/2010/main" val="1632101697"/>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provides important background information to this Element:</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Performing repairs to vehicles which are still under warranty can void the warranty – so there is a need to check this before proceeding any further</a:t>
            </a:r>
          </a:p>
          <a:p>
            <a:pPr marL="171450" indent="-171450">
              <a:buFont typeface="Arial" pitchFamily="34" charset="0"/>
              <a:buChar char="•"/>
            </a:pPr>
            <a:r>
              <a:rPr lang="en-AU" sz="1200" kern="1200" dirty="0" smtClean="0">
                <a:solidFill>
                  <a:schemeClr val="tx1"/>
                </a:solidFill>
                <a:latin typeface="+mn-lt"/>
                <a:ea typeface="+mn-ea"/>
                <a:cs typeface="+mn-cs"/>
              </a:rPr>
              <a:t>The actual work required may differ between makes and models of vehicles – the procedures listed in the notes are indicative only </a:t>
            </a:r>
          </a:p>
          <a:p>
            <a:pPr marL="171450" indent="-171450">
              <a:buFont typeface="Arial" pitchFamily="34" charset="0"/>
              <a:buChar char="•"/>
            </a:pPr>
            <a:r>
              <a:rPr lang="en-AU" sz="1200" kern="1200" dirty="0" smtClean="0">
                <a:solidFill>
                  <a:schemeClr val="tx1"/>
                </a:solidFill>
                <a:latin typeface="+mn-lt"/>
                <a:ea typeface="+mn-ea"/>
                <a:cs typeface="+mn-cs"/>
              </a:rPr>
              <a:t>Always be prepared to read Owner’s manual or Workshop manual</a:t>
            </a:r>
          </a:p>
          <a:p>
            <a:pPr marL="171450" indent="-171450">
              <a:buFont typeface="Arial" pitchFamily="34" charset="0"/>
              <a:buChar char="•"/>
            </a:pPr>
            <a:r>
              <a:rPr lang="en-AU" sz="1200" kern="1200" dirty="0" smtClean="0">
                <a:solidFill>
                  <a:schemeClr val="tx1"/>
                </a:solidFill>
                <a:latin typeface="+mn-lt"/>
                <a:ea typeface="+mn-ea"/>
                <a:cs typeface="+mn-cs"/>
              </a:rPr>
              <a:t>Obtain the right parts before starting the job.</a:t>
            </a: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193</a:t>
            </a:fld>
            <a:endParaRPr lang="en-US" dirty="0"/>
          </a:p>
        </p:txBody>
      </p:sp>
    </p:spTree>
    <p:extLst>
      <p:ext uri="{BB962C8B-B14F-4D97-AF65-F5344CB8AC3E}">
        <p14:creationId xmlns:p14="http://schemas.microsoft.com/office/powerpoint/2010/main" val="3495602140"/>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provides important background information to this Element:</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Obtain and use the right tool/s for the job</a:t>
            </a:r>
          </a:p>
          <a:p>
            <a:pPr marL="171450" indent="-171450">
              <a:buFont typeface="Arial" pitchFamily="34" charset="0"/>
              <a:buChar char="•"/>
            </a:pPr>
            <a:r>
              <a:rPr lang="en-AU" sz="1200" kern="1200" dirty="0" smtClean="0">
                <a:solidFill>
                  <a:schemeClr val="tx1"/>
                </a:solidFill>
                <a:latin typeface="+mn-lt"/>
                <a:ea typeface="+mn-ea"/>
                <a:cs typeface="+mn-cs"/>
              </a:rPr>
              <a:t>Work steadily – never rush a job</a:t>
            </a:r>
          </a:p>
          <a:p>
            <a:pPr marL="171450" indent="-171450">
              <a:buFont typeface="Arial" pitchFamily="34" charset="0"/>
              <a:buChar char="•"/>
            </a:pPr>
            <a:r>
              <a:rPr lang="en-AU" sz="1200" kern="1200" dirty="0" smtClean="0">
                <a:solidFill>
                  <a:schemeClr val="tx1"/>
                </a:solidFill>
                <a:latin typeface="+mn-lt"/>
                <a:ea typeface="+mn-ea"/>
                <a:cs typeface="+mn-cs"/>
              </a:rPr>
              <a:t>Check the surrounding areas/sections for debris and/or damage at the same time – and respond as indicated</a:t>
            </a:r>
          </a:p>
          <a:p>
            <a:pPr marL="171450" indent="-171450">
              <a:buFont typeface="Arial" pitchFamily="34" charset="0"/>
              <a:buChar char="•"/>
            </a:pPr>
            <a:r>
              <a:rPr lang="en-AU" sz="1200" kern="1200" dirty="0" smtClean="0">
                <a:solidFill>
                  <a:schemeClr val="tx1"/>
                </a:solidFill>
                <a:latin typeface="+mn-lt"/>
                <a:ea typeface="+mn-ea"/>
                <a:cs typeface="+mn-cs"/>
              </a:rPr>
              <a:t>Never be afraid of asking for help, advice or direction from a more qualified or experienced person. </a:t>
            </a:r>
          </a:p>
          <a:p>
            <a:pPr>
              <a:buFont typeface="Arial" pitchFamily="34" charset="0"/>
              <a:buNone/>
            </a:pPr>
            <a:endParaRPr lang="en-US"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194</a:t>
            </a:fld>
            <a:endParaRPr lang="en-US" dirty="0"/>
          </a:p>
        </p:txBody>
      </p:sp>
    </p:spTree>
    <p:extLst>
      <p:ext uri="{BB962C8B-B14F-4D97-AF65-F5344CB8AC3E}">
        <p14:creationId xmlns:p14="http://schemas.microsoft.com/office/powerpoint/2010/main" val="2444719227"/>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identifies range of basic repairs to be made:</a:t>
            </a:r>
          </a:p>
          <a:p>
            <a:pPr marL="171450" indent="-171450">
              <a:buFont typeface="Arial" pitchFamily="34" charset="0"/>
              <a:buChar char="•"/>
            </a:pPr>
            <a:r>
              <a:rPr lang="en-US" sz="1200" kern="1200" noProof="0" dirty="0" smtClean="0">
                <a:solidFill>
                  <a:schemeClr val="tx1"/>
                </a:solidFill>
                <a:latin typeface="+mn-lt"/>
                <a:ea typeface="+mn-ea"/>
                <a:cs typeface="+mn-cs"/>
              </a:rPr>
              <a:t>Replacing a light globe</a:t>
            </a:r>
          </a:p>
          <a:p>
            <a:pPr marL="171450" indent="-171450">
              <a:buFont typeface="Arial" pitchFamily="34" charset="0"/>
              <a:buChar char="•"/>
            </a:pPr>
            <a:r>
              <a:rPr lang="en-US" sz="1200" kern="1200" noProof="0" dirty="0" smtClean="0">
                <a:solidFill>
                  <a:schemeClr val="tx1"/>
                </a:solidFill>
                <a:latin typeface="+mn-lt"/>
                <a:ea typeface="+mn-ea"/>
                <a:cs typeface="+mn-cs"/>
              </a:rPr>
              <a:t>Replacing a reflector</a:t>
            </a:r>
          </a:p>
          <a:p>
            <a:pPr marL="171450" indent="-171450">
              <a:buFont typeface="Arial" pitchFamily="34" charset="0"/>
              <a:buChar char="•"/>
            </a:pPr>
            <a:r>
              <a:rPr lang="en-US" sz="1200" kern="1200" noProof="0" dirty="0" smtClean="0">
                <a:solidFill>
                  <a:schemeClr val="tx1"/>
                </a:solidFill>
                <a:latin typeface="+mn-lt"/>
                <a:ea typeface="+mn-ea"/>
                <a:cs typeface="+mn-cs"/>
              </a:rPr>
              <a:t>Replacing a lens</a:t>
            </a:r>
          </a:p>
          <a:p>
            <a:pPr marL="171450" indent="-171450">
              <a:buFont typeface="Arial" pitchFamily="34" charset="0"/>
              <a:buChar char="•"/>
            </a:pPr>
            <a:r>
              <a:rPr lang="en-US" sz="1200" kern="1200" noProof="0" dirty="0" smtClean="0">
                <a:solidFill>
                  <a:schemeClr val="tx1"/>
                </a:solidFill>
                <a:latin typeface="+mn-lt"/>
                <a:ea typeface="+mn-ea"/>
                <a:cs typeface="+mn-cs"/>
              </a:rPr>
              <a:t>Replacing a light unit.</a:t>
            </a:r>
          </a:p>
          <a:p>
            <a:pPr>
              <a:buFont typeface="Arial" pitchFamily="34" charset="0"/>
              <a:buChar char="•"/>
            </a:pPr>
            <a:endParaRPr lang="en-US" sz="1200" kern="1200" noProof="0" dirty="0" smtClean="0">
              <a:solidFill>
                <a:schemeClr val="tx1"/>
              </a:solidFill>
              <a:latin typeface="+mn-lt"/>
              <a:ea typeface="+mn-ea"/>
              <a:cs typeface="+mn-cs"/>
            </a:endParaRPr>
          </a:p>
          <a:p>
            <a:pPr>
              <a:buFont typeface="Arial" pitchFamily="34" charset="0"/>
              <a:buNone/>
            </a:pPr>
            <a:r>
              <a:rPr lang="en-US" b="1" noProof="0" dirty="0" smtClean="0"/>
              <a:t>Classroom Activity (1)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US" noProof="0" dirty="0" smtClean="0"/>
          </a:p>
          <a:p>
            <a:pPr>
              <a:buFont typeface="Arial" pitchFamily="34" charset="0"/>
              <a:buNone/>
            </a:pPr>
            <a:endParaRPr lang="en-US" noProof="0" dirty="0" smtClean="0"/>
          </a:p>
          <a:p>
            <a:pPr>
              <a:buFont typeface="Arial" pitchFamily="34" charset="0"/>
              <a:buNone/>
            </a:pPr>
            <a:r>
              <a:rPr lang="en-US" b="1" noProof="0" dirty="0" smtClean="0"/>
              <a:t>Classroom Activity (2) – internet Research</a:t>
            </a:r>
          </a:p>
          <a:p>
            <a:pPr>
              <a:buFont typeface="Arial" pitchFamily="34" charset="0"/>
              <a:buNone/>
            </a:pPr>
            <a:r>
              <a:rPr lang="en-US" b="0" noProof="0" dirty="0" smtClean="0"/>
              <a:t>Trainer facilitates research and discussion of:</a:t>
            </a:r>
          </a:p>
          <a:p>
            <a:r>
              <a:rPr lang="en-AU" sz="1200" u="sng" kern="1200" dirty="0" smtClean="0">
                <a:solidFill>
                  <a:schemeClr val="tx1"/>
                </a:solidFill>
                <a:latin typeface="+mn-lt"/>
                <a:ea typeface="+mn-ea"/>
                <a:cs typeface="+mn-cs"/>
                <a:hlinkClick r:id="rId3"/>
              </a:rPr>
              <a:t>http://www.supercheapauto.com.au/how-to/Outside-the-Car/Checking-and-Changing-an-Automotive-Light-Globe.aspx?id=79</a:t>
            </a:r>
            <a:r>
              <a:rPr lang="en-AU" sz="1200" kern="1200" dirty="0" smtClean="0">
                <a:solidFill>
                  <a:schemeClr val="tx1"/>
                </a:solidFill>
                <a:latin typeface="+mn-lt"/>
                <a:ea typeface="+mn-ea"/>
                <a:cs typeface="+mn-cs"/>
              </a:rPr>
              <a:t> – Checking and changing an automotive light globe</a:t>
            </a:r>
          </a:p>
          <a:p>
            <a:r>
              <a:rPr lang="en-AU" sz="1200" u="sng" kern="1200" dirty="0" smtClean="0">
                <a:solidFill>
                  <a:schemeClr val="tx1"/>
                </a:solidFill>
                <a:latin typeface="+mn-lt"/>
                <a:ea typeface="+mn-ea"/>
                <a:cs typeface="+mn-cs"/>
                <a:hlinkClick r:id="rId4"/>
              </a:rPr>
              <a:t>https://www.youtube.com/watch?v=6hURsa46t4M</a:t>
            </a:r>
            <a:r>
              <a:rPr lang="en-AU" sz="1200" kern="1200" dirty="0" smtClean="0">
                <a:solidFill>
                  <a:schemeClr val="tx1"/>
                </a:solidFill>
                <a:latin typeface="+mn-lt"/>
                <a:ea typeface="+mn-ea"/>
                <a:cs typeface="+mn-cs"/>
              </a:rPr>
              <a:t> – How to change a headlight bulb </a:t>
            </a:r>
          </a:p>
          <a:p>
            <a:r>
              <a:rPr lang="en-AU" sz="1200" u="sng" kern="1200" dirty="0" smtClean="0">
                <a:solidFill>
                  <a:schemeClr val="tx1"/>
                </a:solidFill>
                <a:latin typeface="+mn-lt"/>
                <a:ea typeface="+mn-ea"/>
                <a:cs typeface="+mn-cs"/>
                <a:hlinkClick r:id="rId5"/>
              </a:rPr>
              <a:t>https://www.youtube.com/watch?v=jk1kFc56dwk</a:t>
            </a:r>
            <a:r>
              <a:rPr lang="en-AU" sz="1200" kern="1200" dirty="0" smtClean="0">
                <a:solidFill>
                  <a:schemeClr val="tx1"/>
                </a:solidFill>
                <a:latin typeface="+mn-lt"/>
                <a:ea typeface="+mn-ea"/>
                <a:cs typeface="+mn-cs"/>
              </a:rPr>
              <a:t> – How to replace headlight bulbs</a:t>
            </a:r>
          </a:p>
          <a:p>
            <a:r>
              <a:rPr lang="en-AU" sz="1200" u="sng" kern="1200" dirty="0" smtClean="0">
                <a:solidFill>
                  <a:schemeClr val="tx1"/>
                </a:solidFill>
                <a:latin typeface="+mn-lt"/>
                <a:ea typeface="+mn-ea"/>
                <a:cs typeface="+mn-cs"/>
                <a:hlinkClick r:id="rId6"/>
              </a:rPr>
              <a:t>https://www.youtube.com/watch?v=cB99QN1AYBU</a:t>
            </a:r>
            <a:r>
              <a:rPr lang="en-AU" sz="1200" u="sng" kern="1200" dirty="0" smtClean="0">
                <a:solidFill>
                  <a:schemeClr val="tx1"/>
                </a:solidFill>
                <a:latin typeface="+mn-lt"/>
                <a:ea typeface="+mn-ea"/>
                <a:cs typeface="+mn-cs"/>
              </a:rPr>
              <a:t> </a:t>
            </a:r>
            <a:r>
              <a:rPr lang="en-AU" sz="1200" kern="1200" dirty="0" smtClean="0">
                <a:solidFill>
                  <a:schemeClr val="tx1"/>
                </a:solidFill>
                <a:latin typeface="+mn-lt"/>
                <a:ea typeface="+mn-ea"/>
                <a:cs typeface="+mn-cs"/>
              </a:rPr>
              <a:t>– How to install replace front lower side reflector</a:t>
            </a:r>
          </a:p>
          <a:p>
            <a:r>
              <a:rPr lang="en-AU" sz="1200" u="sng" kern="1200" dirty="0" smtClean="0">
                <a:solidFill>
                  <a:schemeClr val="tx1"/>
                </a:solidFill>
                <a:latin typeface="+mn-lt"/>
                <a:ea typeface="+mn-ea"/>
                <a:cs typeface="+mn-cs"/>
                <a:hlinkClick r:id="rId7"/>
              </a:rPr>
              <a:t>https://www.youtube.com/watch?v=mgGWFqPe0Ms</a:t>
            </a:r>
            <a:r>
              <a:rPr lang="en-AU" sz="1200" kern="1200" dirty="0" smtClean="0">
                <a:solidFill>
                  <a:schemeClr val="tx1"/>
                </a:solidFill>
                <a:latin typeface="+mn-lt"/>
                <a:ea typeface="+mn-ea"/>
                <a:cs typeface="+mn-cs"/>
              </a:rPr>
              <a:t> – Headlight bulb replacement service: 2005 Honda CRV</a:t>
            </a:r>
            <a:r>
              <a:rPr lang="en-AU" sz="1200" u="sng" kern="1200" dirty="0" smtClean="0">
                <a:solidFill>
                  <a:schemeClr val="tx1"/>
                </a:solidFill>
                <a:latin typeface="+mn-lt"/>
                <a:ea typeface="+mn-ea"/>
                <a:cs typeface="+mn-cs"/>
              </a:rPr>
              <a:t> </a:t>
            </a:r>
            <a:endParaRPr lang="en-AU" sz="1200" kern="1200" dirty="0" smtClean="0">
              <a:solidFill>
                <a:schemeClr val="tx1"/>
              </a:solidFill>
              <a:latin typeface="+mn-lt"/>
              <a:ea typeface="+mn-ea"/>
              <a:cs typeface="+mn-cs"/>
            </a:endParaRPr>
          </a:p>
          <a:p>
            <a:r>
              <a:rPr lang="en-AU" sz="1200" u="sng" kern="1200" dirty="0" smtClean="0">
                <a:solidFill>
                  <a:schemeClr val="tx1"/>
                </a:solidFill>
                <a:latin typeface="+mn-lt"/>
                <a:ea typeface="+mn-ea"/>
                <a:cs typeface="+mn-cs"/>
                <a:hlinkClick r:id="rId8"/>
              </a:rPr>
              <a:t>https://www.youtube.com/watch?v=5F31wzh60zo</a:t>
            </a:r>
            <a:r>
              <a:rPr lang="en-AU" sz="1200" u="sng" kern="1200" dirty="0" smtClean="0">
                <a:solidFill>
                  <a:schemeClr val="tx1"/>
                </a:solidFill>
                <a:latin typeface="+mn-lt"/>
                <a:ea typeface="+mn-ea"/>
                <a:cs typeface="+mn-cs"/>
              </a:rPr>
              <a:t> </a:t>
            </a:r>
            <a:r>
              <a:rPr lang="en-AU" sz="1200" kern="1200" dirty="0" smtClean="0">
                <a:solidFill>
                  <a:schemeClr val="tx1"/>
                </a:solidFill>
                <a:latin typeface="+mn-lt"/>
                <a:ea typeface="+mn-ea"/>
                <a:cs typeface="+mn-cs"/>
              </a:rPr>
              <a:t>– How to replace taillight</a:t>
            </a:r>
          </a:p>
          <a:p>
            <a:r>
              <a:rPr lang="en-AU" sz="1200" u="sng" kern="1200" dirty="0" smtClean="0">
                <a:solidFill>
                  <a:schemeClr val="tx1"/>
                </a:solidFill>
                <a:latin typeface="+mn-lt"/>
                <a:ea typeface="+mn-ea"/>
                <a:cs typeface="+mn-cs"/>
                <a:hlinkClick r:id="rId9"/>
              </a:rPr>
              <a:t>https://www.youtube.com/watch?v=9POigqpLxQc</a:t>
            </a:r>
            <a:r>
              <a:rPr lang="en-AU" sz="1200" kern="1200" dirty="0" smtClean="0">
                <a:solidFill>
                  <a:schemeClr val="tx1"/>
                </a:solidFill>
                <a:latin typeface="+mn-lt"/>
                <a:ea typeface="+mn-ea"/>
                <a:cs typeface="+mn-cs"/>
              </a:rPr>
              <a:t> – How to replace fog light and bulb.</a:t>
            </a: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195</a:t>
            </a:fld>
            <a:endParaRPr lang="en-US" dirty="0"/>
          </a:p>
        </p:txBody>
      </p:sp>
    </p:spTree>
    <p:extLst>
      <p:ext uri="{BB962C8B-B14F-4D97-AF65-F5344CB8AC3E}">
        <p14:creationId xmlns:p14="http://schemas.microsoft.com/office/powerpoint/2010/main" val="164301004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identifying range of basic repairs to be made:</a:t>
            </a:r>
          </a:p>
          <a:p>
            <a:pPr marL="171450" indent="-171450">
              <a:buFont typeface="Arial" pitchFamily="34" charset="0"/>
              <a:buChar char="•"/>
            </a:pPr>
            <a:r>
              <a:rPr lang="en-US" noProof="0" dirty="0" smtClean="0"/>
              <a:t>Replacing a fan belt</a:t>
            </a:r>
          </a:p>
          <a:p>
            <a:pPr marL="171450" indent="-171450">
              <a:buFont typeface="Arial" pitchFamily="34" charset="0"/>
              <a:buChar char="•"/>
            </a:pPr>
            <a:r>
              <a:rPr lang="en-US" noProof="0" dirty="0" smtClean="0"/>
              <a:t>Replacing</a:t>
            </a:r>
            <a:r>
              <a:rPr lang="en-US" baseline="0" noProof="0" dirty="0" smtClean="0"/>
              <a:t> a fuse.</a:t>
            </a:r>
            <a:endParaRPr lang="en-US" noProof="0" dirty="0" smtClean="0"/>
          </a:p>
          <a:p>
            <a:pPr>
              <a:buFont typeface="Arial" pitchFamily="34" charset="0"/>
              <a:buNone/>
            </a:pPr>
            <a:endParaRPr lang="en-US" noProof="0" dirty="0" smtClean="0"/>
          </a:p>
          <a:p>
            <a:pPr>
              <a:buFont typeface="Arial" pitchFamily="34" charset="0"/>
              <a:buNone/>
            </a:pPr>
            <a:r>
              <a:rPr lang="en-US" b="1" noProof="0" dirty="0" smtClean="0"/>
              <a:t>Classroom Activity (1)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US" noProof="0" dirty="0" smtClean="0"/>
          </a:p>
          <a:p>
            <a:pPr>
              <a:buFont typeface="Arial" pitchFamily="34" charset="0"/>
              <a:buNone/>
            </a:pPr>
            <a:endParaRPr lang="en-US" noProof="0" dirty="0" smtClean="0"/>
          </a:p>
          <a:p>
            <a:pPr>
              <a:buFont typeface="Arial" pitchFamily="34" charset="0"/>
              <a:buNone/>
            </a:pPr>
            <a:r>
              <a:rPr lang="en-US" b="1" noProof="0" dirty="0" smtClean="0"/>
              <a:t>Classroom Activity (2) – internet Research</a:t>
            </a:r>
          </a:p>
          <a:p>
            <a:pPr>
              <a:buFont typeface="Arial" pitchFamily="34" charset="0"/>
              <a:buNone/>
            </a:pPr>
            <a:r>
              <a:rPr lang="en-US" b="0" noProof="0" dirty="0" smtClean="0"/>
              <a:t>Trainer facilitates research and discussion of:</a:t>
            </a:r>
          </a:p>
          <a:p>
            <a:r>
              <a:rPr lang="en-AU" sz="1200" u="sng" kern="1200" dirty="0" smtClean="0">
                <a:solidFill>
                  <a:schemeClr val="tx1"/>
                </a:solidFill>
                <a:latin typeface="+mn-lt"/>
                <a:ea typeface="+mn-ea"/>
                <a:cs typeface="+mn-cs"/>
                <a:hlinkClick r:id="rId3"/>
              </a:rPr>
              <a:t>https://www.youtube.com/watch?v=4hnOUs9eiN4</a:t>
            </a:r>
            <a:r>
              <a:rPr lang="en-AU" sz="1200" kern="1200" dirty="0" smtClean="0">
                <a:solidFill>
                  <a:schemeClr val="tx1"/>
                </a:solidFill>
                <a:latin typeface="+mn-lt"/>
                <a:ea typeface="+mn-ea"/>
                <a:cs typeface="+mn-cs"/>
              </a:rPr>
              <a:t> – Change a fan belt</a:t>
            </a:r>
          </a:p>
          <a:p>
            <a:r>
              <a:rPr lang="en-AU" sz="1200" u="sng" kern="1200" dirty="0" smtClean="0">
                <a:solidFill>
                  <a:schemeClr val="tx1"/>
                </a:solidFill>
                <a:latin typeface="+mn-lt"/>
                <a:ea typeface="+mn-ea"/>
                <a:cs typeface="+mn-cs"/>
                <a:hlinkClick r:id="rId4"/>
              </a:rPr>
              <a:t>http://www.supercheapauto.com.au/how-to/Servicing-Mechanical/Replacing-a-Drive-Belt.aspx?id=76</a:t>
            </a:r>
            <a:r>
              <a:rPr lang="en-AU" sz="1200" kern="1200" dirty="0" smtClean="0">
                <a:solidFill>
                  <a:schemeClr val="tx1"/>
                </a:solidFill>
                <a:latin typeface="+mn-lt"/>
                <a:ea typeface="+mn-ea"/>
                <a:cs typeface="+mn-cs"/>
              </a:rPr>
              <a:t> – Replacing a drive belt</a:t>
            </a:r>
          </a:p>
          <a:p>
            <a:r>
              <a:rPr lang="en-AU" sz="1200" u="sng" kern="1200" dirty="0" smtClean="0">
                <a:solidFill>
                  <a:schemeClr val="tx1"/>
                </a:solidFill>
                <a:latin typeface="+mn-lt"/>
                <a:ea typeface="+mn-ea"/>
                <a:cs typeface="+mn-cs"/>
                <a:hlinkClick r:id="rId5"/>
              </a:rPr>
              <a:t>https://www.youtube.com/watch?v=Wg1AX77xEBQ</a:t>
            </a:r>
            <a:r>
              <a:rPr lang="en-AU" sz="1200" kern="1200" dirty="0" smtClean="0">
                <a:solidFill>
                  <a:schemeClr val="tx1"/>
                </a:solidFill>
                <a:latin typeface="+mn-lt"/>
                <a:ea typeface="+mn-ea"/>
                <a:cs typeface="+mn-cs"/>
              </a:rPr>
              <a:t> – How to replace a serpentine belt</a:t>
            </a:r>
          </a:p>
          <a:p>
            <a:r>
              <a:rPr lang="en-AU" sz="1200" u="sng" kern="1200" dirty="0" smtClean="0">
                <a:solidFill>
                  <a:schemeClr val="tx1"/>
                </a:solidFill>
                <a:latin typeface="+mn-lt"/>
                <a:ea typeface="+mn-ea"/>
                <a:cs typeface="+mn-cs"/>
                <a:hlinkClick r:id="rId6"/>
              </a:rPr>
              <a:t>https://www.youtube.com/watch?v=01J3Fp9_bMA</a:t>
            </a:r>
            <a:r>
              <a:rPr lang="en-AU" sz="1200" kern="1200" dirty="0" smtClean="0">
                <a:solidFill>
                  <a:schemeClr val="tx1"/>
                </a:solidFill>
                <a:latin typeface="+mn-lt"/>
                <a:ea typeface="+mn-ea"/>
                <a:cs typeface="+mn-cs"/>
              </a:rPr>
              <a:t> – How to replace a serpentine belt: Toyota Corolla</a:t>
            </a:r>
          </a:p>
          <a:p>
            <a:r>
              <a:rPr lang="en-AU" sz="1200" u="sng" kern="1200" dirty="0" smtClean="0">
                <a:solidFill>
                  <a:schemeClr val="tx1"/>
                </a:solidFill>
                <a:latin typeface="+mn-lt"/>
                <a:ea typeface="+mn-ea"/>
                <a:cs typeface="+mn-cs"/>
                <a:hlinkClick r:id="rId7"/>
              </a:rPr>
              <a:t>https://www.youtube.com/watch?v=XD0LNkFYPGQ</a:t>
            </a:r>
            <a:r>
              <a:rPr lang="en-AU" sz="1200" kern="1200" dirty="0" smtClean="0">
                <a:solidFill>
                  <a:schemeClr val="tx1"/>
                </a:solidFill>
                <a:latin typeface="+mn-lt"/>
                <a:ea typeface="+mn-ea"/>
                <a:cs typeface="+mn-cs"/>
              </a:rPr>
              <a:t> – Toyota timing belt</a:t>
            </a:r>
          </a:p>
          <a:p>
            <a:r>
              <a:rPr lang="en-AU" sz="1200" u="sng" kern="1200" dirty="0" smtClean="0">
                <a:solidFill>
                  <a:schemeClr val="tx1"/>
                </a:solidFill>
                <a:latin typeface="+mn-lt"/>
                <a:ea typeface="+mn-ea"/>
                <a:cs typeface="+mn-cs"/>
                <a:hlinkClick r:id="rId8"/>
              </a:rPr>
              <a:t>http://www.wikihow.com/Change-an-Automotive-Belt</a:t>
            </a:r>
            <a:r>
              <a:rPr lang="en-AU" sz="1200" kern="1200" dirty="0" smtClean="0">
                <a:solidFill>
                  <a:schemeClr val="tx1"/>
                </a:solidFill>
                <a:latin typeface="+mn-lt"/>
                <a:ea typeface="+mn-ea"/>
                <a:cs typeface="+mn-cs"/>
              </a:rPr>
              <a:t>. </a:t>
            </a:r>
          </a:p>
          <a:p>
            <a:r>
              <a:rPr lang="en-AU" sz="1200" u="sng" kern="1200" dirty="0" smtClean="0">
                <a:solidFill>
                  <a:schemeClr val="tx1"/>
                </a:solidFill>
                <a:latin typeface="+mn-lt"/>
                <a:ea typeface="+mn-ea"/>
                <a:cs typeface="+mn-cs"/>
                <a:hlinkClick r:id="rId9"/>
              </a:rPr>
              <a:t>https://www.youtube.com/watch?v=kOXeo-kqg68</a:t>
            </a:r>
            <a:r>
              <a:rPr lang="en-AU" sz="1200" kern="1200" dirty="0" smtClean="0">
                <a:solidFill>
                  <a:schemeClr val="tx1"/>
                </a:solidFill>
                <a:latin typeface="+mn-lt"/>
                <a:ea typeface="+mn-ea"/>
                <a:cs typeface="+mn-cs"/>
              </a:rPr>
              <a:t> – How to replace a blown fuse in a car</a:t>
            </a:r>
          </a:p>
          <a:p>
            <a:r>
              <a:rPr lang="en-AU" sz="1200" u="sng" kern="1200" dirty="0" smtClean="0">
                <a:solidFill>
                  <a:schemeClr val="tx1"/>
                </a:solidFill>
                <a:latin typeface="+mn-lt"/>
                <a:ea typeface="+mn-ea"/>
                <a:cs typeface="+mn-cs"/>
                <a:hlinkClick r:id="rId10"/>
              </a:rPr>
              <a:t>https://www.youtube.com/watch?v=faWZmG0fXy8</a:t>
            </a:r>
            <a:r>
              <a:rPr lang="en-AU" sz="1200" kern="1200" dirty="0" smtClean="0">
                <a:solidFill>
                  <a:schemeClr val="tx1"/>
                </a:solidFill>
                <a:latin typeface="+mn-lt"/>
                <a:ea typeface="+mn-ea"/>
                <a:cs typeface="+mn-cs"/>
              </a:rPr>
              <a:t> – How to find and replace a blown fuse in your car or truck.</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196</a:t>
            </a:fld>
            <a:endParaRPr lang="en-US" dirty="0"/>
          </a:p>
        </p:txBody>
      </p:sp>
    </p:spTree>
    <p:extLst>
      <p:ext uri="{BB962C8B-B14F-4D97-AF65-F5344CB8AC3E}">
        <p14:creationId xmlns:p14="http://schemas.microsoft.com/office/powerpoint/2010/main" val="277481431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identifying range of basic repairs to be made:</a:t>
            </a:r>
          </a:p>
          <a:p>
            <a:pPr marL="171450" indent="-171450">
              <a:buFont typeface="Arial" pitchFamily="34" charset="0"/>
              <a:buChar char="•"/>
            </a:pPr>
            <a:r>
              <a:rPr lang="en-US" noProof="0" dirty="0" smtClean="0"/>
              <a:t>Replacing spark plugs</a:t>
            </a:r>
          </a:p>
          <a:p>
            <a:pPr marL="171450" indent="-171450">
              <a:buFont typeface="Arial" pitchFamily="34" charset="0"/>
              <a:buChar char="•"/>
            </a:pPr>
            <a:r>
              <a:rPr lang="en-US" noProof="0" dirty="0" smtClean="0"/>
              <a:t>Replacing glow plugs.</a:t>
            </a:r>
          </a:p>
          <a:p>
            <a:pPr>
              <a:buFont typeface="Arial" pitchFamily="34" charset="0"/>
              <a:buNone/>
            </a:pPr>
            <a:endParaRPr lang="en-AU" noProof="0" dirty="0" smtClean="0"/>
          </a:p>
          <a:p>
            <a:pPr>
              <a:buFont typeface="Arial" pitchFamily="34" charset="0"/>
              <a:buNone/>
            </a:pPr>
            <a:r>
              <a:rPr lang="en-US" b="1" noProof="0" dirty="0" smtClean="0"/>
              <a:t>Classroom Activity (1)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US" noProof="0" dirty="0" smtClean="0"/>
          </a:p>
          <a:p>
            <a:pPr>
              <a:buFont typeface="Arial" pitchFamily="34" charset="0"/>
              <a:buNone/>
            </a:pPr>
            <a:endParaRPr lang="en-US" noProof="0" dirty="0" smtClean="0"/>
          </a:p>
          <a:p>
            <a:pPr>
              <a:buFont typeface="Arial" pitchFamily="34" charset="0"/>
              <a:buNone/>
            </a:pPr>
            <a:r>
              <a:rPr lang="en-US" b="1" noProof="0" dirty="0" smtClean="0"/>
              <a:t>Classroom Activity (2) – internet Research</a:t>
            </a:r>
          </a:p>
          <a:p>
            <a:pPr>
              <a:buFont typeface="Arial" pitchFamily="34" charset="0"/>
              <a:buNone/>
            </a:pPr>
            <a:r>
              <a:rPr lang="en-US" b="0" noProof="0" dirty="0" smtClean="0"/>
              <a:t>Trainer facilitates research and discussion of:</a:t>
            </a:r>
          </a:p>
          <a:p>
            <a:r>
              <a:rPr lang="en-AU" sz="1200" u="sng" kern="1200" dirty="0" smtClean="0">
                <a:solidFill>
                  <a:schemeClr val="tx1"/>
                </a:solidFill>
                <a:latin typeface="+mn-lt"/>
                <a:ea typeface="+mn-ea"/>
                <a:cs typeface="+mn-cs"/>
                <a:hlinkClick r:id="rId3"/>
              </a:rPr>
              <a:t>http://www.supercheapauto.com.au/how-to/Servicing-Mechanical/Replacing-Spark-Plugs.aspx?id=68</a:t>
            </a:r>
            <a:r>
              <a:rPr lang="en-AU" sz="1200" kern="1200" dirty="0" smtClean="0">
                <a:solidFill>
                  <a:schemeClr val="tx1"/>
                </a:solidFill>
                <a:latin typeface="+mn-lt"/>
                <a:ea typeface="+mn-ea"/>
                <a:cs typeface="+mn-cs"/>
              </a:rPr>
              <a:t> – Replacing spark plugs</a:t>
            </a:r>
          </a:p>
          <a:p>
            <a:r>
              <a:rPr lang="en-AU" sz="1200" u="sng" kern="1200" dirty="0" smtClean="0">
                <a:solidFill>
                  <a:schemeClr val="tx1"/>
                </a:solidFill>
                <a:latin typeface="+mn-lt"/>
                <a:ea typeface="+mn-ea"/>
                <a:cs typeface="+mn-cs"/>
                <a:hlinkClick r:id="rId4"/>
              </a:rPr>
              <a:t>https://www.youtube.com/watch?v=jj06A6UdHvI</a:t>
            </a:r>
            <a:r>
              <a:rPr lang="en-AU" sz="1200" kern="1200" dirty="0" smtClean="0">
                <a:solidFill>
                  <a:schemeClr val="tx1"/>
                </a:solidFill>
                <a:latin typeface="+mn-lt"/>
                <a:ea typeface="+mn-ea"/>
                <a:cs typeface="+mn-cs"/>
              </a:rPr>
              <a:t> – Changing spark plugs and replacing plug wires</a:t>
            </a:r>
          </a:p>
          <a:p>
            <a:r>
              <a:rPr lang="en-AU" sz="1200" u="sng" kern="1200" dirty="0" smtClean="0">
                <a:solidFill>
                  <a:schemeClr val="tx1"/>
                </a:solidFill>
                <a:latin typeface="+mn-lt"/>
                <a:ea typeface="+mn-ea"/>
                <a:cs typeface="+mn-cs"/>
                <a:hlinkClick r:id="rId5"/>
              </a:rPr>
              <a:t>https://www.youtube.com/watch?v=RCcmN-r5Z9M</a:t>
            </a:r>
            <a:r>
              <a:rPr lang="en-AU" sz="1200" kern="1200" dirty="0" smtClean="0">
                <a:solidFill>
                  <a:schemeClr val="tx1"/>
                </a:solidFill>
                <a:latin typeface="+mn-lt"/>
                <a:ea typeface="+mn-ea"/>
                <a:cs typeface="+mn-cs"/>
              </a:rPr>
              <a:t> – Replacing glow plugs in a Mitsubishi Delica L400</a:t>
            </a:r>
          </a:p>
          <a:p>
            <a:r>
              <a:rPr lang="en-AU" sz="1200" u="sng" kern="1200" dirty="0" smtClean="0">
                <a:solidFill>
                  <a:schemeClr val="tx1"/>
                </a:solidFill>
                <a:latin typeface="+mn-lt"/>
                <a:ea typeface="+mn-ea"/>
                <a:cs typeface="+mn-cs"/>
                <a:hlinkClick r:id="rId6"/>
              </a:rPr>
              <a:t>https://www.youtube.com/watch?v=4Po_1pNHE1Y</a:t>
            </a:r>
            <a:r>
              <a:rPr lang="en-AU" sz="1200" kern="1200" dirty="0" smtClean="0">
                <a:solidFill>
                  <a:schemeClr val="tx1"/>
                </a:solidFill>
                <a:latin typeface="+mn-lt"/>
                <a:ea typeface="+mn-ea"/>
                <a:cs typeface="+mn-cs"/>
              </a:rPr>
              <a:t> – Glow plug change</a:t>
            </a:r>
          </a:p>
          <a:p>
            <a:r>
              <a:rPr lang="en-AU" sz="1200" u="sng" kern="1200" dirty="0" smtClean="0">
                <a:solidFill>
                  <a:schemeClr val="tx1"/>
                </a:solidFill>
                <a:latin typeface="+mn-lt"/>
                <a:ea typeface="+mn-ea"/>
                <a:cs typeface="+mn-cs"/>
                <a:hlinkClick r:id="rId6"/>
              </a:rPr>
              <a:t>https://www.youtube.com/watch?v=4Po_1pNHE1Y</a:t>
            </a:r>
            <a:r>
              <a:rPr lang="en-AU" sz="1200" kern="1200" dirty="0" smtClean="0">
                <a:solidFill>
                  <a:schemeClr val="tx1"/>
                </a:solidFill>
                <a:latin typeface="+mn-lt"/>
                <a:ea typeface="+mn-ea"/>
                <a:cs typeface="+mn-cs"/>
              </a:rPr>
              <a:t> – Easy and complete glow plug test.</a:t>
            </a:r>
          </a:p>
          <a:p>
            <a:r>
              <a:rPr lang="en-AU" sz="1200" u="sng" kern="1200" dirty="0" smtClean="0">
                <a:solidFill>
                  <a:schemeClr val="tx1"/>
                </a:solidFill>
                <a:latin typeface="+mn-lt"/>
                <a:ea typeface="+mn-ea"/>
                <a:cs typeface="+mn-cs"/>
                <a:hlinkClick r:id="rId7"/>
              </a:rPr>
              <a:t>http://autorepair.about.com/od/enginerelateddiyjobs/l/aa081404a.htm</a:t>
            </a:r>
            <a:r>
              <a:rPr lang="en-AU" sz="1200" kern="1200" dirty="0" smtClean="0">
                <a:solidFill>
                  <a:schemeClr val="tx1"/>
                </a:solidFill>
                <a:latin typeface="+mn-lt"/>
                <a:ea typeface="+mn-ea"/>
                <a:cs typeface="+mn-cs"/>
              </a:rPr>
              <a:t> - How to replace your diesel glow plugs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197</a:t>
            </a:fld>
            <a:endParaRPr lang="en-US" dirty="0"/>
          </a:p>
        </p:txBody>
      </p:sp>
    </p:spTree>
    <p:extLst>
      <p:ext uri="{BB962C8B-B14F-4D97-AF65-F5344CB8AC3E}">
        <p14:creationId xmlns:p14="http://schemas.microsoft.com/office/powerpoint/2010/main" val="2426000056"/>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identifying range of basic repairs to be made:</a:t>
            </a:r>
          </a:p>
          <a:p>
            <a:pPr marL="171450" indent="-171450">
              <a:buFont typeface="Arial" pitchFamily="34" charset="0"/>
              <a:buChar char="•"/>
            </a:pPr>
            <a:r>
              <a:rPr lang="en-US" noProof="0" dirty="0" smtClean="0"/>
              <a:t>Replacing mirrors</a:t>
            </a:r>
          </a:p>
          <a:p>
            <a:pPr marL="171450" indent="-171450">
              <a:buFont typeface="Arial" pitchFamily="34" charset="0"/>
              <a:buChar char="•"/>
            </a:pPr>
            <a:r>
              <a:rPr lang="en-US" noProof="0" dirty="0" smtClean="0"/>
              <a:t>Replacing coolant hoses.</a:t>
            </a:r>
          </a:p>
          <a:p>
            <a:pPr>
              <a:buFont typeface="Arial" pitchFamily="34" charset="0"/>
              <a:buNone/>
            </a:pPr>
            <a:endParaRPr lang="en-AU" noProof="0" dirty="0" smtClean="0"/>
          </a:p>
          <a:p>
            <a:pPr>
              <a:buFont typeface="Arial" pitchFamily="34" charset="0"/>
              <a:buNone/>
            </a:pPr>
            <a:r>
              <a:rPr lang="en-US" b="1" noProof="0" dirty="0" smtClean="0"/>
              <a:t>Classroom Activity (1) – Demonstration and Practical</a:t>
            </a:r>
          </a:p>
          <a:p>
            <a:pPr>
              <a:buFont typeface="Arial" pitchFamily="34" charset="0"/>
              <a:buNone/>
            </a:pPr>
            <a:r>
              <a:rPr lang="en-US" b="0" noProof="0" dirty="0" smtClean="0"/>
              <a:t>Trainer shows students how to undertake activities listed on the slide</a:t>
            </a:r>
            <a:r>
              <a:rPr lang="en-US" b="0" baseline="0" noProof="0" dirty="0" smtClean="0"/>
              <a:t> and provides an opportunity for them to do the same.</a:t>
            </a:r>
            <a:endParaRPr lang="en-US" noProof="0" dirty="0" smtClean="0"/>
          </a:p>
          <a:p>
            <a:pPr>
              <a:buFont typeface="Arial" pitchFamily="34" charset="0"/>
              <a:buNone/>
            </a:pPr>
            <a:endParaRPr lang="en-US" noProof="0" dirty="0" smtClean="0"/>
          </a:p>
          <a:p>
            <a:pPr>
              <a:buFont typeface="Arial" pitchFamily="34" charset="0"/>
              <a:buNone/>
            </a:pPr>
            <a:r>
              <a:rPr lang="en-US" b="1" noProof="0" dirty="0" smtClean="0"/>
              <a:t>Classroom Activity (2) – internet Research</a:t>
            </a:r>
          </a:p>
          <a:p>
            <a:pPr>
              <a:buFont typeface="Arial" pitchFamily="34" charset="0"/>
              <a:buNone/>
            </a:pPr>
            <a:r>
              <a:rPr lang="en-US" b="0" noProof="0" dirty="0" smtClean="0"/>
              <a:t>Trainer facilitates research and discussion of:</a:t>
            </a:r>
          </a:p>
          <a:p>
            <a:r>
              <a:rPr lang="en-AU" sz="1200" u="sng" kern="1200" dirty="0" smtClean="0">
                <a:solidFill>
                  <a:schemeClr val="tx1"/>
                </a:solidFill>
                <a:latin typeface="+mn-lt"/>
                <a:ea typeface="+mn-ea"/>
                <a:cs typeface="+mn-cs"/>
                <a:hlinkClick r:id="rId3"/>
              </a:rPr>
              <a:t>https://www.youtube.com/watch?v=U-1y8NIEhKM</a:t>
            </a:r>
            <a:r>
              <a:rPr lang="en-AU" sz="1200" kern="1200" dirty="0" smtClean="0">
                <a:solidFill>
                  <a:schemeClr val="tx1"/>
                </a:solidFill>
                <a:latin typeface="+mn-lt"/>
                <a:ea typeface="+mn-ea"/>
                <a:cs typeface="+mn-cs"/>
              </a:rPr>
              <a:t> – Auto side mirror replacement</a:t>
            </a:r>
          </a:p>
          <a:p>
            <a:r>
              <a:rPr lang="en-AU" sz="1200" u="sng" kern="1200" dirty="0" smtClean="0">
                <a:solidFill>
                  <a:schemeClr val="tx1"/>
                </a:solidFill>
                <a:latin typeface="+mn-lt"/>
                <a:ea typeface="+mn-ea"/>
                <a:cs typeface="+mn-cs"/>
                <a:hlinkClick r:id="rId4"/>
              </a:rPr>
              <a:t>https://www.youtube.com/watch?v=77lBQ_CRqdo</a:t>
            </a:r>
            <a:r>
              <a:rPr lang="en-AU" sz="1200" kern="1200" dirty="0" smtClean="0">
                <a:solidFill>
                  <a:schemeClr val="tx1"/>
                </a:solidFill>
                <a:latin typeface="+mn-lt"/>
                <a:ea typeface="+mn-ea"/>
                <a:cs typeface="+mn-cs"/>
              </a:rPr>
              <a:t> – Replace your passenger side mirror</a:t>
            </a:r>
          </a:p>
          <a:p>
            <a:r>
              <a:rPr lang="en-AU" sz="1200" u="sng" kern="1200" dirty="0" smtClean="0">
                <a:solidFill>
                  <a:schemeClr val="tx1"/>
                </a:solidFill>
                <a:latin typeface="+mn-lt"/>
                <a:ea typeface="+mn-ea"/>
                <a:cs typeface="+mn-cs"/>
                <a:hlinkClick r:id="rId5"/>
              </a:rPr>
              <a:t>https://www.youtube.com/watch?v=d8ASeN4rgek</a:t>
            </a:r>
            <a:r>
              <a:rPr lang="en-AU" sz="1200" kern="1200" dirty="0" smtClean="0">
                <a:solidFill>
                  <a:schemeClr val="tx1"/>
                </a:solidFill>
                <a:latin typeface="+mn-lt"/>
                <a:ea typeface="+mn-ea"/>
                <a:cs typeface="+mn-cs"/>
              </a:rPr>
              <a:t> – Plastic backed mirror glass installation</a:t>
            </a:r>
          </a:p>
          <a:p>
            <a:r>
              <a:rPr lang="en-AU" sz="1200" u="sng" kern="1200" dirty="0" smtClean="0">
                <a:solidFill>
                  <a:schemeClr val="tx1"/>
                </a:solidFill>
                <a:latin typeface="+mn-lt"/>
                <a:ea typeface="+mn-ea"/>
                <a:cs typeface="+mn-cs"/>
                <a:hlinkClick r:id="rId6"/>
              </a:rPr>
              <a:t>https://www.youtube.com/watch?v=D6j8fwGCrHs</a:t>
            </a:r>
            <a:r>
              <a:rPr lang="en-AU" sz="1200" kern="1200" dirty="0" smtClean="0">
                <a:solidFill>
                  <a:schemeClr val="tx1"/>
                </a:solidFill>
                <a:latin typeface="+mn-lt"/>
                <a:ea typeface="+mn-ea"/>
                <a:cs typeface="+mn-cs"/>
              </a:rPr>
              <a:t> – Side mirror glass replacement</a:t>
            </a:r>
          </a:p>
          <a:p>
            <a:r>
              <a:rPr lang="en-AU" sz="1200" u="sng" kern="1200" dirty="0" smtClean="0">
                <a:solidFill>
                  <a:schemeClr val="tx1"/>
                </a:solidFill>
                <a:latin typeface="+mn-lt"/>
                <a:ea typeface="+mn-ea"/>
                <a:cs typeface="+mn-cs"/>
                <a:hlinkClick r:id="rId7"/>
              </a:rPr>
              <a:t>https://www.youtube.com/watch?v=AGmQ50naiGg</a:t>
            </a:r>
            <a:r>
              <a:rPr lang="en-AU" sz="1200" kern="1200" dirty="0" smtClean="0">
                <a:solidFill>
                  <a:schemeClr val="tx1"/>
                </a:solidFill>
                <a:latin typeface="+mn-lt"/>
                <a:ea typeface="+mn-ea"/>
                <a:cs typeface="+mn-cs"/>
              </a:rPr>
              <a:t> – How to replace a radiator hose (upper and lower)</a:t>
            </a:r>
          </a:p>
          <a:p>
            <a:r>
              <a:rPr lang="en-AU" sz="1200" u="sng" kern="1200" dirty="0" smtClean="0">
                <a:solidFill>
                  <a:schemeClr val="tx1"/>
                </a:solidFill>
                <a:latin typeface="+mn-lt"/>
                <a:ea typeface="+mn-ea"/>
                <a:cs typeface="+mn-cs"/>
                <a:hlinkClick r:id="rId8"/>
              </a:rPr>
              <a:t>https://www.youtube.com/watch?v=C64z0L9816A</a:t>
            </a:r>
            <a:r>
              <a:rPr lang="en-AU" sz="1200" kern="1200" dirty="0" smtClean="0">
                <a:solidFill>
                  <a:schemeClr val="tx1"/>
                </a:solidFill>
                <a:latin typeface="+mn-lt"/>
                <a:ea typeface="+mn-ea"/>
                <a:cs typeface="+mn-cs"/>
              </a:rPr>
              <a:t> – Replacing radiator hose</a:t>
            </a:r>
          </a:p>
          <a:p>
            <a:r>
              <a:rPr lang="en-AU" sz="1200" u="sng" kern="1200" dirty="0" smtClean="0">
                <a:solidFill>
                  <a:schemeClr val="tx1"/>
                </a:solidFill>
                <a:latin typeface="+mn-lt"/>
                <a:ea typeface="+mn-ea"/>
                <a:cs typeface="+mn-cs"/>
                <a:hlinkClick r:id="rId9"/>
              </a:rPr>
              <a:t>https://www.youtube.com/watch?v=xH0D22ITjQU</a:t>
            </a:r>
            <a:r>
              <a:rPr lang="en-AU" sz="1200" kern="1200" dirty="0" smtClean="0">
                <a:solidFill>
                  <a:schemeClr val="tx1"/>
                </a:solidFill>
                <a:latin typeface="+mn-lt"/>
                <a:ea typeface="+mn-ea"/>
                <a:cs typeface="+mn-cs"/>
              </a:rPr>
              <a:t> – How to replace the upper radiator hose.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198</a:t>
            </a:fld>
            <a:endParaRPr lang="en-US" dirty="0"/>
          </a:p>
        </p:txBody>
      </p:sp>
    </p:spTree>
    <p:extLst>
      <p:ext uri="{BB962C8B-B14F-4D97-AF65-F5344CB8AC3E}">
        <p14:creationId xmlns:p14="http://schemas.microsoft.com/office/powerpoint/2010/main" val="4291435864"/>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identifying range of basic repairs to be made:</a:t>
            </a:r>
          </a:p>
          <a:p>
            <a:pPr marL="171450" indent="-171450">
              <a:buFont typeface="Arial" pitchFamily="34" charset="0"/>
              <a:buChar char="•"/>
            </a:pPr>
            <a:r>
              <a:rPr lang="en-US" noProof="0" dirty="0" smtClean="0"/>
              <a:t>Changing tyres</a:t>
            </a:r>
          </a:p>
          <a:p>
            <a:pPr marL="171450" indent="-171450">
              <a:buFont typeface="Arial" pitchFamily="34" charset="0"/>
              <a:buChar char="•"/>
            </a:pPr>
            <a:r>
              <a:rPr lang="en-US" noProof="0" dirty="0" smtClean="0"/>
              <a:t>Repairing punctures.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199</a:t>
            </a:fld>
            <a:endParaRPr lang="en-US" dirty="0"/>
          </a:p>
        </p:txBody>
      </p:sp>
    </p:spTree>
    <p:extLst>
      <p:ext uri="{BB962C8B-B14F-4D97-AF65-F5344CB8AC3E}">
        <p14:creationId xmlns:p14="http://schemas.microsoft.com/office/powerpoint/2010/main" val="2550073347"/>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identifies reasons to use correct tools and follow manufacturer’s instructions: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Save time</a:t>
            </a:r>
          </a:p>
          <a:p>
            <a:pPr marL="171450" indent="-171450">
              <a:buFont typeface="Arial" pitchFamily="34" charset="0"/>
              <a:buChar char="•"/>
            </a:pPr>
            <a:r>
              <a:rPr lang="en-AU" sz="1200" kern="1200" dirty="0" smtClean="0">
                <a:solidFill>
                  <a:schemeClr val="tx1"/>
                </a:solidFill>
                <a:latin typeface="+mn-lt"/>
                <a:ea typeface="+mn-ea"/>
                <a:cs typeface="+mn-cs"/>
              </a:rPr>
              <a:t>Save damage to the item being fitted and/or vehicle</a:t>
            </a:r>
          </a:p>
          <a:p>
            <a:pPr marL="171450" indent="-171450">
              <a:buFont typeface="Arial" pitchFamily="34" charset="0"/>
              <a:buChar char="•"/>
            </a:pPr>
            <a:r>
              <a:rPr lang="en-AU" sz="1200" kern="1200" dirty="0" smtClean="0">
                <a:solidFill>
                  <a:schemeClr val="tx1"/>
                </a:solidFill>
                <a:latin typeface="+mn-lt"/>
                <a:ea typeface="+mn-ea"/>
                <a:cs typeface="+mn-cs"/>
              </a:rPr>
              <a:t>Reduce potential for personal injury</a:t>
            </a:r>
          </a:p>
          <a:p>
            <a:pPr marL="171450" indent="-171450">
              <a:buFont typeface="Arial" pitchFamily="34" charset="0"/>
              <a:buChar char="•"/>
            </a:pPr>
            <a:r>
              <a:rPr lang="en-AU" sz="1200" kern="1200" dirty="0" smtClean="0">
                <a:solidFill>
                  <a:schemeClr val="tx1"/>
                </a:solidFill>
                <a:latin typeface="+mn-lt"/>
                <a:ea typeface="+mn-ea"/>
                <a:cs typeface="+mn-cs"/>
              </a:rPr>
              <a:t>Retain parts warranties and guarantees</a:t>
            </a:r>
          </a:p>
          <a:p>
            <a:pPr marL="171450" indent="-171450">
              <a:buFont typeface="Arial" pitchFamily="34" charset="0"/>
              <a:buChar char="•"/>
            </a:pPr>
            <a:r>
              <a:rPr lang="en-AU" sz="1200" kern="1200" dirty="0" smtClean="0">
                <a:solidFill>
                  <a:schemeClr val="tx1"/>
                </a:solidFill>
                <a:latin typeface="+mn-lt"/>
                <a:ea typeface="+mn-ea"/>
                <a:cs typeface="+mn-cs"/>
              </a:rPr>
              <a:t>Optimise service life of part being fitted</a:t>
            </a:r>
          </a:p>
          <a:p>
            <a:pPr marL="171450" indent="-171450">
              <a:buFont typeface="Arial" pitchFamily="34" charset="0"/>
              <a:buChar char="•"/>
            </a:pPr>
            <a:r>
              <a:rPr lang="en-AU" sz="1200" kern="1200" dirty="0" smtClean="0">
                <a:solidFill>
                  <a:schemeClr val="tx1"/>
                </a:solidFill>
                <a:latin typeface="+mn-lt"/>
                <a:ea typeface="+mn-ea"/>
                <a:cs typeface="+mn-cs"/>
              </a:rPr>
              <a:t>Ensure part integrates fully/properly with other items.</a:t>
            </a: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200</a:t>
            </a:fld>
            <a:endParaRPr lang="en-US" dirty="0"/>
          </a:p>
        </p:txBody>
      </p:sp>
    </p:spTree>
    <p:extLst>
      <p:ext uri="{BB962C8B-B14F-4D97-AF65-F5344CB8AC3E}">
        <p14:creationId xmlns:p14="http://schemas.microsoft.com/office/powerpoint/2010/main" val="2942399466"/>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a:buFont typeface="Arial" pitchFamily="34" charset="0"/>
              <a:buNone/>
            </a:pPr>
            <a:r>
              <a:rPr lang="en-US" noProof="0" dirty="0" smtClean="0"/>
              <a:t>Trainer identifies range of tools which may be used:</a:t>
            </a:r>
          </a:p>
          <a:p>
            <a:pPr>
              <a:buFont typeface="Arial" pitchFamily="34" charset="0"/>
              <a:buNone/>
            </a:pPr>
            <a:r>
              <a:rPr lang="en-US" noProof="0" dirty="0" smtClean="0"/>
              <a:t>Hand Tools</a:t>
            </a:r>
          </a:p>
          <a:p>
            <a:r>
              <a:rPr lang="en-AU" sz="1200" b="1" kern="1200" dirty="0" smtClean="0">
                <a:solidFill>
                  <a:schemeClr val="tx1"/>
                </a:solidFill>
                <a:latin typeface="+mn-lt"/>
                <a:ea typeface="+mn-ea"/>
                <a:cs typeface="+mn-cs"/>
              </a:rPr>
              <a:t>Wrenches</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Wrenches come in various sizes and designs. Adjustable, open-end, box-end, combination, and specialty wrenches are important tools to have when performing basic maintenance and repair. Both metric and standard (aka SAE) fixed jaw wrenches should be included in a basic tool kit. </a:t>
            </a:r>
          </a:p>
          <a:p>
            <a:pPr lvl="1"/>
            <a:r>
              <a:rPr lang="en-AU" sz="1200" b="1" i="1" kern="1200" dirty="0" smtClean="0">
                <a:solidFill>
                  <a:schemeClr val="tx1"/>
                </a:solidFill>
                <a:latin typeface="+mn-lt"/>
                <a:ea typeface="+mn-ea"/>
                <a:cs typeface="+mn-cs"/>
              </a:rPr>
              <a:t>Wrench Size</a:t>
            </a:r>
            <a:r>
              <a:rPr lang="en-AU" sz="1200" b="1" kern="1200" dirty="0" smtClean="0">
                <a:solidFill>
                  <a:schemeClr val="tx1"/>
                </a:solidFill>
                <a:latin typeface="+mn-lt"/>
                <a:ea typeface="+mn-ea"/>
                <a:cs typeface="+mn-cs"/>
              </a:rPr>
              <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Metric sizes commonly increase by 1 millimeter (mm) for each wrench size increase. For example, a metric wrench set may have the following sizes: 7mm, 8mm, 9mm, 10mm, 11mm, 12mm, 13mm, 14mm, 15mm, etc. Standard wrenches commonly increase by 1/16” for each wrench size increase. Note: A quote mark ( ” ) is a symbol for inch units. For example, a standard wrench set may have these sizes: 1/4”, 5/16”, 3/8”, 7/16”, 1/2”, 9/16”, 5/8”, 11/16”, 3/4”, etc. The size corresponds to the distance between the two jaws in an open-end wrench.</a:t>
            </a:r>
          </a:p>
          <a:p>
            <a:pPr lvl="0"/>
            <a:r>
              <a:rPr lang="en-AU" sz="1200" b="1" i="1" kern="1200" dirty="0" smtClean="0">
                <a:solidFill>
                  <a:schemeClr val="tx1"/>
                </a:solidFill>
                <a:latin typeface="+mn-lt"/>
                <a:ea typeface="+mn-ea"/>
                <a:cs typeface="+mn-cs"/>
              </a:rPr>
              <a:t>Adjustable Wrench</a:t>
            </a:r>
            <a:r>
              <a:rPr lang="en-AU" sz="1200" b="1" kern="1200" dirty="0" smtClean="0">
                <a:solidFill>
                  <a:schemeClr val="tx1"/>
                </a:solidFill>
                <a:latin typeface="+mn-lt"/>
                <a:ea typeface="+mn-ea"/>
                <a:cs typeface="+mn-cs"/>
              </a:rPr>
              <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An adjustable wrench is versatile. The jaw can be adjusted to fit metric or standard nuts and bolts. However, it does not fit as snugly on the fastener as a fixed sized jaw wrench. In addition, the head of an adjustable wrench may not fit in all locations and is not as strong. An adjustable wrench is sometime called a Crescent wrench (an industry brand name). If you are going to have only one wrench in your tool box, choose an adjustable wrench.</a:t>
            </a:r>
          </a:p>
          <a:p>
            <a:r>
              <a:rPr lang="en-AU" sz="1200" b="1" i="1" kern="1200" dirty="0" smtClean="0">
                <a:solidFill>
                  <a:schemeClr val="tx1"/>
                </a:solidFill>
                <a:latin typeface="+mn-lt"/>
                <a:ea typeface="+mn-ea"/>
                <a:cs typeface="+mn-cs"/>
              </a:rPr>
              <a:t>Combination Wrench</a:t>
            </a:r>
            <a:r>
              <a:rPr lang="en-AU" sz="1200" b="1" kern="1200" dirty="0" smtClean="0">
                <a:solidFill>
                  <a:schemeClr val="tx1"/>
                </a:solidFill>
                <a:latin typeface="+mn-lt"/>
                <a:ea typeface="+mn-ea"/>
                <a:cs typeface="+mn-cs"/>
              </a:rPr>
              <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The two most common types of wrench ends are box and open. A combination wrench will have a box-end on one end and an open-end on the other. The box-end usually has 6-points or 12-points. Use the box-end 6-point when a great amount of torque is required to reduce the chance of stripping the fastener (i.e., a nut or bolt). An open-end is handy when the fastener position will not allow access with the box-end.</a:t>
            </a:r>
          </a:p>
          <a:p>
            <a:pPr>
              <a:buFont typeface="Arial" pitchFamily="34" charset="0"/>
              <a:buNone/>
            </a:pPr>
            <a:endParaRPr lang="en-US" b="1" noProof="0" dirty="0" smtClean="0"/>
          </a:p>
          <a:p>
            <a:pPr>
              <a:buFont typeface="Arial" pitchFamily="34" charset="0"/>
              <a:buNone/>
            </a:pPr>
            <a:r>
              <a:rPr lang="en-US" b="1" noProof="0" dirty="0" smtClean="0"/>
              <a:t>Classroom Activity – Example, Demonstration and Practical</a:t>
            </a:r>
          </a:p>
          <a:p>
            <a:pPr>
              <a:buFont typeface="Arial" pitchFamily="34" charset="0"/>
              <a:buNone/>
            </a:pPr>
            <a:r>
              <a:rPr lang="en-US" b="0" noProof="0" dirty="0" smtClean="0"/>
              <a:t>Trainer presents example/s of items identified</a:t>
            </a:r>
            <a:r>
              <a:rPr lang="en-US" b="0" baseline="0" noProof="0" dirty="0" smtClean="0"/>
              <a:t> on the slide, demonstrates their use when repairing vehicles and gives students an opportunity to do the same.</a:t>
            </a:r>
            <a:endParaRPr lang="en-US" b="0" noProof="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201</a:t>
            </a:fld>
            <a:endParaRPr lang="en-US" dirty="0"/>
          </a:p>
        </p:txBody>
      </p:sp>
    </p:spTree>
    <p:extLst>
      <p:ext uri="{BB962C8B-B14F-4D97-AF65-F5344CB8AC3E}">
        <p14:creationId xmlns:p14="http://schemas.microsoft.com/office/powerpoint/2010/main" val="1184374460"/>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US" noProof="0" dirty="0" smtClean="0"/>
              <a:t>Trainer continues identifying range of tools which may be used:</a:t>
            </a:r>
          </a:p>
          <a:p>
            <a:r>
              <a:rPr lang="en-AU" sz="1200" b="1" kern="1200" dirty="0" smtClean="0">
                <a:solidFill>
                  <a:schemeClr val="tx1"/>
                </a:solidFill>
                <a:latin typeface="+mn-lt"/>
                <a:ea typeface="+mn-ea"/>
                <a:cs typeface="+mn-cs"/>
              </a:rPr>
              <a:t>Ratchets</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Ratchets in combination with sockets are used to quickly turn nuts and bolts. A ratchet is basically a lever with a pivoting mechanism. The pivoting mechanism allows the user to tighten or loosen a fastener without removing the tool. Ratchets are sized according to the square driver head. For example, 1/4” drive ratchets have driver heads that are 1/4” x 1/4”. Common ratchet sizes are 1/4”, 3/8”, and 1/2”. A 3/8” ratchet is the most common size that many do-it-yourselfers include in their basic tool kit.</a:t>
            </a:r>
          </a:p>
          <a:p>
            <a:r>
              <a:rPr lang="en-AU" sz="1200" b="1" kern="1200" dirty="0" smtClean="0">
                <a:solidFill>
                  <a:schemeClr val="tx1"/>
                </a:solidFill>
                <a:latin typeface="+mn-lt"/>
                <a:ea typeface="+mn-ea"/>
                <a:cs typeface="+mn-cs"/>
              </a:rPr>
              <a:t>Standard Sockets</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Sockets can be directly connected to the ratchet or first connected to a universal joint or driver extension. Sockets are classified as regular or deep well. Deep well sockets can fit over the threads of a long bolt. Sockets, like wrenches, have points inside that fit over the fastener and come in both metric and standard sizes. Common sockets will have either 6-points or 12-points.</a:t>
            </a:r>
          </a:p>
          <a:p>
            <a:r>
              <a:rPr lang="en-AU" sz="1200" b="1" kern="1200" dirty="0" smtClean="0">
                <a:solidFill>
                  <a:schemeClr val="tx1"/>
                </a:solidFill>
                <a:latin typeface="+mn-lt"/>
                <a:ea typeface="+mn-ea"/>
                <a:cs typeface="+mn-cs"/>
              </a:rPr>
              <a:t>Spark Plug Sockets</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Some sockets are specially designed. For example, spark plug sockets have rubber boot inserts to protect the plug from cracking and to keep it centered.</a:t>
            </a:r>
          </a:p>
          <a:p>
            <a:r>
              <a:rPr lang="en-AU" sz="1200" b="1" kern="1200" dirty="0" smtClean="0">
                <a:solidFill>
                  <a:schemeClr val="tx1"/>
                </a:solidFill>
                <a:latin typeface="+mn-lt"/>
                <a:ea typeface="+mn-ea"/>
                <a:cs typeface="+mn-cs"/>
              </a:rPr>
              <a:t>Impact Sockets</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Impact sockets should be used to avoid shattering standard sockets in situations where high torque and speed are needed, especially when using an electric or pneumatic (air powered) impact wrench. Impact sockets can be identified by their black color and thicker sides.</a:t>
            </a:r>
          </a:p>
          <a:p>
            <a:pPr>
              <a:buFont typeface="Arial" pitchFamily="34" charset="0"/>
              <a:buNone/>
            </a:pPr>
            <a:endParaRPr lang="en-US" b="1" noProof="0" dirty="0" smtClean="0"/>
          </a:p>
          <a:p>
            <a:pPr>
              <a:buFont typeface="Arial" pitchFamily="34" charset="0"/>
              <a:buNone/>
            </a:pPr>
            <a:r>
              <a:rPr lang="en-US" b="1" noProof="0" dirty="0" smtClean="0"/>
              <a:t>Classroom Activity – Example, Demonstration and Practical</a:t>
            </a:r>
          </a:p>
          <a:p>
            <a:pPr>
              <a:buFont typeface="Arial" pitchFamily="34" charset="0"/>
              <a:buNone/>
            </a:pPr>
            <a:r>
              <a:rPr lang="en-US" b="0" noProof="0" dirty="0" smtClean="0"/>
              <a:t>Trainer presents example/s of items identified</a:t>
            </a:r>
            <a:r>
              <a:rPr lang="en-US" b="0" baseline="0" noProof="0" dirty="0" smtClean="0"/>
              <a:t> on the slide, demonstrates their use when repairing vehicles and gives students an opportunity to do the same.</a:t>
            </a:r>
            <a:endParaRPr lang="en-US"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202</a:t>
            </a:fld>
            <a:endParaRPr lang="en-US" dirty="0"/>
          </a:p>
        </p:txBody>
      </p:sp>
    </p:spTree>
    <p:extLst>
      <p:ext uri="{BB962C8B-B14F-4D97-AF65-F5344CB8AC3E}">
        <p14:creationId xmlns:p14="http://schemas.microsoft.com/office/powerpoint/2010/main" val="1354583344"/>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a:buFont typeface="Arial" pitchFamily="34" charset="0"/>
              <a:buNone/>
            </a:pPr>
            <a:r>
              <a:rPr lang="en-US" noProof="0" dirty="0" smtClean="0"/>
              <a:t>Trainer continues identifying range of tools which may be used:</a:t>
            </a:r>
          </a:p>
          <a:p>
            <a:r>
              <a:rPr lang="en-AU" sz="1200" b="1" kern="1200" dirty="0" smtClean="0">
                <a:solidFill>
                  <a:schemeClr val="tx1"/>
                </a:solidFill>
                <a:latin typeface="+mn-lt"/>
                <a:ea typeface="+mn-ea"/>
                <a:cs typeface="+mn-cs"/>
              </a:rPr>
              <a:t>Pliers</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Pliers are handy adjustable tools that can be used in a variety of situations. Pliers are used to grab, turn, cut, or bend. Several types include: slip joint, locking, groove joint, needle nose, and diagonal cutters. Pliers consist of two levers that pivot at one point. This pivoting point is called a fulcrum.</a:t>
            </a:r>
          </a:p>
          <a:p>
            <a:r>
              <a:rPr lang="en-AU" sz="1200" b="1" i="1" kern="1200" dirty="0" smtClean="0">
                <a:solidFill>
                  <a:schemeClr val="tx1"/>
                </a:solidFill>
                <a:latin typeface="+mn-lt"/>
                <a:ea typeface="+mn-ea"/>
                <a:cs typeface="+mn-cs"/>
              </a:rPr>
              <a:t>Slip Joint Pliers</a:t>
            </a:r>
            <a:r>
              <a:rPr lang="en-AU" sz="1200" b="1" kern="1200" dirty="0" smtClean="0">
                <a:solidFill>
                  <a:schemeClr val="tx1"/>
                </a:solidFill>
                <a:latin typeface="+mn-lt"/>
                <a:ea typeface="+mn-ea"/>
                <a:cs typeface="+mn-cs"/>
              </a:rPr>
              <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Slip joint pliers are one of the most basic and versatile hand tools. However, do not use slip joint pliers in situations where a wrench would be better (e.g., turning a nut or bolt). Trying to loosen a stubborn nut with slip joint pliers can strip the head or if the pliers slip, bruise your knuckles.</a:t>
            </a:r>
          </a:p>
          <a:p>
            <a:r>
              <a:rPr lang="en-AU" sz="1200" b="1" i="1" kern="1200" dirty="0" smtClean="0">
                <a:solidFill>
                  <a:schemeClr val="tx1"/>
                </a:solidFill>
                <a:latin typeface="+mn-lt"/>
                <a:ea typeface="+mn-ea"/>
                <a:cs typeface="+mn-cs"/>
              </a:rPr>
              <a:t>Locking Pliers</a:t>
            </a:r>
            <a:r>
              <a:rPr lang="en-AU" sz="1200" b="1" kern="1200" dirty="0" smtClean="0">
                <a:solidFill>
                  <a:schemeClr val="tx1"/>
                </a:solidFill>
                <a:latin typeface="+mn-lt"/>
                <a:ea typeface="+mn-ea"/>
                <a:cs typeface="+mn-cs"/>
              </a:rPr>
              <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Locking pliers are sometimes called Vise-Grips, a brand name in the industry. Locking pliers are used to tightly grip and then lock on the fastener. These pliers come in handy when a bolt or nut is already stripped beyond the point where a wrench no longer works. Grabbing onto flat pieces of metal or oddly shaped items are additional functions of locking pliers.</a:t>
            </a:r>
          </a:p>
          <a:p>
            <a:r>
              <a:rPr lang="en-AU" sz="1200" b="1" i="1" kern="1200" dirty="0" smtClean="0">
                <a:solidFill>
                  <a:schemeClr val="tx1"/>
                </a:solidFill>
                <a:latin typeface="+mn-lt"/>
                <a:ea typeface="+mn-ea"/>
                <a:cs typeface="+mn-cs"/>
              </a:rPr>
              <a:t>Groove Joint Pliers</a:t>
            </a:r>
            <a:r>
              <a:rPr lang="en-AU" sz="1200" b="1" kern="1200" dirty="0" smtClean="0">
                <a:solidFill>
                  <a:schemeClr val="tx1"/>
                </a:solidFill>
                <a:latin typeface="+mn-lt"/>
                <a:ea typeface="+mn-ea"/>
                <a:cs typeface="+mn-cs"/>
              </a:rPr>
              <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Also called adjustable pliers or Channellocks (an industry brand name), groove joint pliers adjust to a wide range of sizes. These are especially useful for gripping cylindrical objects, like pipes.</a:t>
            </a:r>
          </a:p>
          <a:p>
            <a:r>
              <a:rPr lang="en-AU" sz="1200" b="1" i="1" kern="1200" dirty="0" smtClean="0">
                <a:solidFill>
                  <a:schemeClr val="tx1"/>
                </a:solidFill>
                <a:latin typeface="+mn-lt"/>
                <a:ea typeface="+mn-ea"/>
                <a:cs typeface="+mn-cs"/>
              </a:rPr>
              <a:t>Needle Nose Pliers</a:t>
            </a:r>
            <a:r>
              <a:rPr lang="en-AU" sz="1200" b="1" kern="1200" dirty="0" smtClean="0">
                <a:solidFill>
                  <a:schemeClr val="tx1"/>
                </a:solidFill>
                <a:latin typeface="+mn-lt"/>
                <a:ea typeface="+mn-ea"/>
                <a:cs typeface="+mn-cs"/>
              </a:rPr>
              <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Needle nose pliers have long pointed jaws. These can be used to grip or pull objects that are in hard-to-reach areas. Next to the fulcrum is also a cutting mechanism to cut wire or other objects.</a:t>
            </a:r>
          </a:p>
          <a:p>
            <a:r>
              <a:rPr lang="en-AU" sz="1200" b="1" i="1" kern="1200" dirty="0" smtClean="0">
                <a:solidFill>
                  <a:schemeClr val="tx1"/>
                </a:solidFill>
                <a:latin typeface="+mn-lt"/>
                <a:ea typeface="+mn-ea"/>
                <a:cs typeface="+mn-cs"/>
              </a:rPr>
              <a:t>Diagonal Cutting Pliers</a:t>
            </a:r>
            <a:r>
              <a:rPr lang="en-AU" sz="1200" b="1" kern="1200" dirty="0" smtClean="0">
                <a:solidFill>
                  <a:schemeClr val="tx1"/>
                </a:solidFill>
                <a:latin typeface="+mn-lt"/>
                <a:ea typeface="+mn-ea"/>
                <a:cs typeface="+mn-cs"/>
              </a:rPr>
              <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Also called side cutters, diagonal cutters have sharp cutters instead of gripping jaws like most pliers. They are commonly used for cutting wires.</a:t>
            </a:r>
          </a:p>
          <a:p>
            <a:pPr>
              <a:buFont typeface="Arial" pitchFamily="34" charset="0"/>
              <a:buNone/>
            </a:pPr>
            <a:endParaRPr lang="en-US" noProof="0" dirty="0" smtClean="0"/>
          </a:p>
          <a:p>
            <a:pPr>
              <a:buFont typeface="Arial" pitchFamily="34" charset="0"/>
              <a:buNone/>
            </a:pPr>
            <a:r>
              <a:rPr lang="en-US" b="1" noProof="0" dirty="0" smtClean="0"/>
              <a:t>Classroom Activity – Example, Demonstration and Practical</a:t>
            </a:r>
          </a:p>
          <a:p>
            <a:pPr>
              <a:buFont typeface="Arial" pitchFamily="34" charset="0"/>
              <a:buNone/>
            </a:pPr>
            <a:r>
              <a:rPr lang="en-US" b="0" noProof="0" dirty="0" smtClean="0"/>
              <a:t>Trainer presents example/s of items identified</a:t>
            </a:r>
            <a:r>
              <a:rPr lang="en-US" b="0" baseline="0" noProof="0" dirty="0" smtClean="0"/>
              <a:t> on the slide, demonstrates their use when repairing vehicles and gives students an opportunity to do the same.</a:t>
            </a:r>
            <a:endParaRPr lang="en-US"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203</a:t>
            </a:fld>
            <a:endParaRPr lang="en-US" dirty="0"/>
          </a:p>
        </p:txBody>
      </p:sp>
    </p:spTree>
    <p:extLst>
      <p:ext uri="{BB962C8B-B14F-4D97-AF65-F5344CB8AC3E}">
        <p14:creationId xmlns:p14="http://schemas.microsoft.com/office/powerpoint/2010/main" val="2638111153"/>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identifying range of tools which may be used:</a:t>
            </a:r>
          </a:p>
          <a:p>
            <a:r>
              <a:rPr lang="en-AU" sz="1200" b="1" kern="1200" dirty="0" smtClean="0">
                <a:solidFill>
                  <a:schemeClr val="tx1"/>
                </a:solidFill>
                <a:latin typeface="+mn-lt"/>
                <a:ea typeface="+mn-ea"/>
                <a:cs typeface="+mn-cs"/>
              </a:rPr>
              <a:t>Screwdrivers</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Just about everyone is familiar with screwdrivers. They turn screws or other fasteners. Some screwdrivers have magnetic tips to help with positioning fasteners in tight spaces. The head of a fastener determines the type and size of screwdriver tip that is needed. The proper tip will fit in a fastener head snugly. Damage or tool slippage may occur if an incorrect sized tip is used. Common types of screwdriver tips include Phillips, slotted, square, Allen, Torx, and hex. Various types of screwdriver tips are also made as bits that can be placed in a 1/4” socket for ratcheting in tight places.</a:t>
            </a:r>
          </a:p>
          <a:p>
            <a:r>
              <a:rPr lang="en-AU" sz="1200" b="1" kern="1200" dirty="0" smtClean="0">
                <a:solidFill>
                  <a:schemeClr val="tx1"/>
                </a:solidFill>
                <a:latin typeface="+mn-lt"/>
                <a:ea typeface="+mn-ea"/>
                <a:cs typeface="+mn-cs"/>
              </a:rPr>
              <a:t>Hammers</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Sometimes what you are working on needs a little more persuasion. Using the correct hammer will ensure that you don’t damage components. A ball peen hammer, a favorite hammer by many technicians, is commonly used to drive a chisel or a punch. A rubber mallet, a hammer with a rubber head, comes in handy to drive on stubborn wheel covers and other parts without damaging them.</a:t>
            </a:r>
          </a:p>
          <a:p>
            <a:r>
              <a:rPr lang="en-AU" sz="1200" b="1" kern="1200" dirty="0" smtClean="0">
                <a:solidFill>
                  <a:schemeClr val="tx1"/>
                </a:solidFill>
                <a:latin typeface="+mn-lt"/>
                <a:ea typeface="+mn-ea"/>
                <a:cs typeface="+mn-cs"/>
              </a:rPr>
              <a:t>Pry Bars</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Pry bars are long bars with handles that come in a variety of sizes and styles. They can be useful when trying to leverage a component that is heavy or stuck.</a:t>
            </a:r>
          </a:p>
          <a:p>
            <a:pPr>
              <a:buFont typeface="Arial" pitchFamily="34" charset="0"/>
              <a:buNone/>
            </a:pPr>
            <a:endParaRPr lang="en-US" noProof="0" dirty="0" smtClean="0"/>
          </a:p>
          <a:p>
            <a:pPr>
              <a:buFont typeface="Arial" pitchFamily="34" charset="0"/>
              <a:buNone/>
            </a:pPr>
            <a:r>
              <a:rPr lang="en-US" b="1" noProof="0" dirty="0" smtClean="0"/>
              <a:t>Classroom Activity – Example, Demonstration and Practical</a:t>
            </a:r>
          </a:p>
          <a:p>
            <a:pPr>
              <a:buFont typeface="Arial" pitchFamily="34" charset="0"/>
              <a:buNone/>
            </a:pPr>
            <a:r>
              <a:rPr lang="en-US" b="0" noProof="0" dirty="0" smtClean="0"/>
              <a:t>Trainer presents example/s of items identified</a:t>
            </a:r>
            <a:r>
              <a:rPr lang="en-US" b="0" baseline="0" noProof="0" dirty="0" smtClean="0"/>
              <a:t> on the slide, demonstrates their use when repairing vehicles and gives students an opportunity to do the same.</a:t>
            </a:r>
            <a:endParaRPr lang="en-US"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204</a:t>
            </a:fld>
            <a:endParaRPr lang="en-US" dirty="0"/>
          </a:p>
        </p:txBody>
      </p:sp>
    </p:spTree>
    <p:extLst>
      <p:ext uri="{BB962C8B-B14F-4D97-AF65-F5344CB8AC3E}">
        <p14:creationId xmlns:p14="http://schemas.microsoft.com/office/powerpoint/2010/main" val="188256672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pPr>
              <a:buFont typeface="Arial" pitchFamily="34" charset="0"/>
              <a:buNone/>
            </a:pPr>
            <a:r>
              <a:rPr lang="en-US" noProof="0" dirty="0" smtClean="0"/>
              <a:t>Trainer continues identifying range of tools which may be used:</a:t>
            </a:r>
          </a:p>
          <a:p>
            <a:r>
              <a:rPr lang="en-AU" sz="1200" b="1" kern="1200" dirty="0" smtClean="0">
                <a:solidFill>
                  <a:schemeClr val="tx1"/>
                </a:solidFill>
                <a:latin typeface="+mn-lt"/>
                <a:ea typeface="+mn-ea"/>
                <a:cs typeface="+mn-cs"/>
              </a:rPr>
              <a:t>Lifting Tools</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When performing work under a vehicle it is often necessary and convenient to raise the vehicle off the ground with a floor jack and jack stands or drive-on ramps. Work safely by using lifting equipment on a surface that is solid and chock at least one wheel still on the ground. Warning: Lifting equipment ratings should exceed the weight of the vehicle being lifted.</a:t>
            </a:r>
          </a:p>
          <a:p>
            <a:r>
              <a:rPr lang="en-AU" sz="1200" b="1" kern="1200" dirty="0" smtClean="0">
                <a:solidFill>
                  <a:schemeClr val="tx1"/>
                </a:solidFill>
                <a:latin typeface="+mn-lt"/>
                <a:ea typeface="+mn-ea"/>
                <a:cs typeface="+mn-cs"/>
              </a:rPr>
              <a:t>Floor Jack</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A floor jack is used to lift a vehicle. Be sure to place the jack’s lifting pad under the frame or other solid chassis component. Lifting the vehicle by the body’s sheet metal underbody will damage the vehicle and make it more likely to fall off the jack. </a:t>
            </a:r>
            <a:r>
              <a:rPr lang="en-AU" sz="1200" b="0" i="1" kern="1200" dirty="0" smtClean="0">
                <a:solidFill>
                  <a:schemeClr val="tx1"/>
                </a:solidFill>
                <a:latin typeface="+mn-lt"/>
                <a:ea typeface="+mn-ea"/>
                <a:cs typeface="+mn-cs"/>
              </a:rPr>
              <a:t>Warning: To prevent serious injury or death jack stands should be used. Do not go under a vehicle that is only supported by a jack.</a:t>
            </a:r>
          </a:p>
          <a:p>
            <a:r>
              <a:rPr lang="en-AU" sz="1200" b="1" kern="1200" dirty="0" smtClean="0">
                <a:solidFill>
                  <a:schemeClr val="tx1"/>
                </a:solidFill>
                <a:latin typeface="+mn-lt"/>
                <a:ea typeface="+mn-ea"/>
                <a:cs typeface="+mn-cs"/>
              </a:rPr>
              <a:t>Ramps</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Drive-on ramps can make raising one end of your vehicle very easy. All you need to do is line the ramps up in front of your tyres, drive onto them, set your emergency brake, and chock one wheel remaining on the ground. Since the vehicle is still resting on its tyres, don’t plan on doing any wheel work. Ramps are convenient for oil changes and undercarriage inspections.</a:t>
            </a:r>
          </a:p>
          <a:p>
            <a:r>
              <a:rPr lang="en-AU" sz="1200" b="1" kern="1200" dirty="0" smtClean="0">
                <a:solidFill>
                  <a:schemeClr val="tx1"/>
                </a:solidFill>
                <a:latin typeface="+mn-lt"/>
                <a:ea typeface="+mn-ea"/>
                <a:cs typeface="+mn-cs"/>
              </a:rPr>
              <a:t>Wheel Chocks</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To prevent a vehicle from moving forward or backward, wheel chocks are used to block a wheel when jacking. Place the wheel chocks in front and in back of a wheel that is not being lifted.</a:t>
            </a:r>
          </a:p>
          <a:p>
            <a:r>
              <a:rPr lang="en-AU" sz="1200" b="1" kern="1200" dirty="0" smtClean="0">
                <a:solidFill>
                  <a:schemeClr val="tx1"/>
                </a:solidFill>
                <a:latin typeface="+mn-lt"/>
                <a:ea typeface="+mn-ea"/>
                <a:cs typeface="+mn-cs"/>
              </a:rPr>
              <a:t>Jack Stands</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Jack stands are used to hold a vehicle up after a jack has raised it. </a:t>
            </a:r>
            <a:r>
              <a:rPr lang="en-AU" sz="1200" b="0" i="1" kern="1200" dirty="0" smtClean="0">
                <a:solidFill>
                  <a:schemeClr val="tx1"/>
                </a:solidFill>
                <a:latin typeface="+mn-lt"/>
                <a:ea typeface="+mn-ea"/>
                <a:cs typeface="+mn-cs"/>
              </a:rPr>
              <a:t>Warning: Do not use concrete blocks or other non-approved stands to hold up a vehicle.</a:t>
            </a:r>
            <a:endParaRPr lang="en-AU" sz="1200" b="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r>
              <a:rPr lang="en-US" b="1" noProof="0" dirty="0" smtClean="0"/>
              <a:t>Classroom Activity – Example, Demonstration and Practical</a:t>
            </a:r>
          </a:p>
          <a:p>
            <a:pPr>
              <a:buFont typeface="Arial" pitchFamily="34" charset="0"/>
              <a:buNone/>
            </a:pPr>
            <a:r>
              <a:rPr lang="en-US" b="0" noProof="0" dirty="0" smtClean="0"/>
              <a:t>Trainer presents example/s of items identified</a:t>
            </a:r>
            <a:r>
              <a:rPr lang="en-US" b="0" baseline="0" noProof="0" dirty="0" smtClean="0"/>
              <a:t> on the slide, demonstrates their use when repairing vehicles and gives students an opportunity to do the same.</a:t>
            </a:r>
            <a:endParaRPr lang="en-US"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205</a:t>
            </a:fld>
            <a:endParaRPr lang="en-US" dirty="0"/>
          </a:p>
        </p:txBody>
      </p:sp>
    </p:spTree>
    <p:extLst>
      <p:ext uri="{BB962C8B-B14F-4D97-AF65-F5344CB8AC3E}">
        <p14:creationId xmlns:p14="http://schemas.microsoft.com/office/powerpoint/2010/main" val="3967877984"/>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a:buFont typeface="Arial" pitchFamily="34" charset="0"/>
              <a:buNone/>
            </a:pPr>
            <a:r>
              <a:rPr lang="en-US" noProof="0" dirty="0" smtClean="0"/>
              <a:t>Trainer continues identifying range of tools which may be used:</a:t>
            </a:r>
          </a:p>
          <a:p>
            <a:r>
              <a:rPr lang="en-AU" sz="1200" b="1" kern="1200" dirty="0" smtClean="0">
                <a:solidFill>
                  <a:schemeClr val="tx1"/>
                </a:solidFill>
                <a:latin typeface="+mn-lt"/>
                <a:ea typeface="+mn-ea"/>
                <a:cs typeface="+mn-cs"/>
              </a:rPr>
              <a:t>tyre Tools</a:t>
            </a:r>
            <a:br>
              <a:rPr lang="en-AU" sz="1200" b="1" kern="1200" dirty="0" smtClean="0">
                <a:solidFill>
                  <a:schemeClr val="tx1"/>
                </a:solidFill>
                <a:latin typeface="+mn-lt"/>
                <a:ea typeface="+mn-ea"/>
                <a:cs typeface="+mn-cs"/>
              </a:rPr>
            </a:br>
            <a:r>
              <a:rPr lang="en-AU" sz="1200" b="1" i="1" kern="1200" dirty="0" smtClean="0">
                <a:solidFill>
                  <a:schemeClr val="tx1"/>
                </a:solidFill>
                <a:latin typeface="+mn-lt"/>
                <a:ea typeface="+mn-ea"/>
                <a:cs typeface="+mn-cs"/>
              </a:rPr>
              <a:t>tyre Pressure Gauges</a:t>
            </a:r>
            <a:r>
              <a:rPr lang="en-AU" sz="1200" b="1" kern="1200" dirty="0" smtClean="0">
                <a:solidFill>
                  <a:schemeClr val="tx1"/>
                </a:solidFill>
                <a:latin typeface="+mn-lt"/>
                <a:ea typeface="+mn-ea"/>
                <a:cs typeface="+mn-cs"/>
              </a:rPr>
              <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tyre pressure is measured with tyre pressure gauges and should be checked often. A dial gauge is more accurate than a stick gauge. A recommended tyre pressure is calculated according to the tyre type, vehicle weight, and the desired ride. Look in your driver’s side door for a tyre placard that lists the correct tyre pressure. Maintaining the recommended tyre pressure is critical to minimizing tyre wear and optimizing handling stability. For every 10 degrees temperature drop, tyre pressure drops by 1 psi. The inverse also occurs as temperature rises.</a:t>
            </a:r>
          </a:p>
          <a:p>
            <a:r>
              <a:rPr lang="en-AU" sz="1200" b="1" i="1" kern="1200" dirty="0" smtClean="0">
                <a:solidFill>
                  <a:schemeClr val="tx1"/>
                </a:solidFill>
                <a:latin typeface="+mn-lt"/>
                <a:ea typeface="+mn-ea"/>
                <a:cs typeface="+mn-cs"/>
              </a:rPr>
              <a:t>Tread Depth Gauge</a:t>
            </a:r>
            <a:r>
              <a:rPr lang="en-AU" sz="1200" b="1" kern="1200" dirty="0" smtClean="0">
                <a:solidFill>
                  <a:schemeClr val="tx1"/>
                </a:solidFill>
                <a:latin typeface="+mn-lt"/>
                <a:ea typeface="+mn-ea"/>
                <a:cs typeface="+mn-cs"/>
              </a:rPr>
              <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A tread depth gauge is a simple measuring devise to help determine the actual amount of tread remaining on your tyres. It provides a depth reading within 1/32nd’s of an inch from the top of the tread surface to the bottom of the tread groove. When that reading is less than 1/16th of an inch, new tyres are needed.</a:t>
            </a:r>
          </a:p>
          <a:p>
            <a:r>
              <a:rPr lang="en-AU" sz="1200" b="1" i="1" kern="1200" dirty="0" smtClean="0">
                <a:solidFill>
                  <a:schemeClr val="tx1"/>
                </a:solidFill>
                <a:latin typeface="+mn-lt"/>
                <a:ea typeface="+mn-ea"/>
                <a:cs typeface="+mn-cs"/>
              </a:rPr>
              <a:t>tyre Plug Tools</a:t>
            </a:r>
            <a:r>
              <a:rPr lang="en-AU" sz="1200" b="1" kern="1200" dirty="0" smtClean="0">
                <a:solidFill>
                  <a:schemeClr val="tx1"/>
                </a:solidFill>
                <a:latin typeface="+mn-lt"/>
                <a:ea typeface="+mn-ea"/>
                <a:cs typeface="+mn-cs"/>
              </a:rPr>
              <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tyre plug tools make it possible to plug holes smaller than 1/4” in diameter in the tread of a tyre without taking the tyre off the rim. The plug rasp tool prepares the hole for the plug and the insert tool installs the plug.</a:t>
            </a:r>
          </a:p>
          <a:p>
            <a:r>
              <a:rPr lang="en-AU" sz="1200" b="1" i="1" kern="1200" dirty="0" smtClean="0">
                <a:solidFill>
                  <a:schemeClr val="tx1"/>
                </a:solidFill>
                <a:latin typeface="+mn-lt"/>
                <a:ea typeface="+mn-ea"/>
                <a:cs typeface="+mn-cs"/>
              </a:rPr>
              <a:t>Bottle and Scissor Jacks</a:t>
            </a:r>
            <a:r>
              <a:rPr lang="en-AU" sz="1200" b="1" kern="1200" dirty="0" smtClean="0">
                <a:solidFill>
                  <a:schemeClr val="tx1"/>
                </a:solidFill>
                <a:latin typeface="+mn-lt"/>
                <a:ea typeface="+mn-ea"/>
                <a:cs typeface="+mn-cs"/>
              </a:rPr>
              <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Most newer vehicles have a scissor or bottle jack stored in the trunk for emergency tyre changes. These manufacturer supplied jacks are not as easy or as safe to use as a hydraulic floor jack. Save them for roadside emergencies and invest in a hydraulic jack for your garage.</a:t>
            </a:r>
          </a:p>
          <a:p>
            <a:r>
              <a:rPr lang="en-AU" sz="1200" b="1" i="1" kern="1200" dirty="0" smtClean="0">
                <a:solidFill>
                  <a:schemeClr val="tx1"/>
                </a:solidFill>
                <a:latin typeface="+mn-lt"/>
                <a:ea typeface="+mn-ea"/>
                <a:cs typeface="+mn-cs"/>
              </a:rPr>
              <a:t>4-Way tyre Tool</a:t>
            </a:r>
            <a:r>
              <a:rPr lang="en-AU" sz="1200" b="1" kern="1200" dirty="0" smtClean="0">
                <a:solidFill>
                  <a:schemeClr val="tx1"/>
                </a:solidFill>
                <a:latin typeface="+mn-lt"/>
                <a:ea typeface="+mn-ea"/>
                <a:cs typeface="+mn-cs"/>
              </a:rPr>
              <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A 4-way tyre tool is more versatile for removing lug nuts than the basic manufacturer lug wrench (aka tyre iron) supplied with your vehicle. A 4-way has a different sized wrench on each end. It is also easier to use because the design provides more leverage and you can spin the lug nuts off quicker.</a:t>
            </a:r>
          </a:p>
          <a:p>
            <a:pPr>
              <a:buFont typeface="Arial" pitchFamily="34" charset="0"/>
              <a:buNone/>
            </a:pPr>
            <a:endParaRPr lang="en-US" noProof="0" dirty="0" smtClean="0"/>
          </a:p>
          <a:p>
            <a:pPr>
              <a:buFont typeface="Arial" pitchFamily="34" charset="0"/>
              <a:buNone/>
            </a:pPr>
            <a:r>
              <a:rPr lang="en-US" b="1" noProof="0" dirty="0" smtClean="0"/>
              <a:t>Classroom Activity – Example, Demonstration and Practical</a:t>
            </a:r>
          </a:p>
          <a:p>
            <a:pPr>
              <a:buFont typeface="Arial" pitchFamily="34" charset="0"/>
              <a:buNone/>
            </a:pPr>
            <a:r>
              <a:rPr lang="en-US" b="0" noProof="0" dirty="0" smtClean="0"/>
              <a:t>Trainer presents example/s of items identified</a:t>
            </a:r>
            <a:r>
              <a:rPr lang="en-US" b="0" baseline="0" noProof="0" dirty="0" smtClean="0"/>
              <a:t> on the slide, demonstrates their use when repairing vehicles and gives students an opportunity to do the same.</a:t>
            </a:r>
            <a:endParaRPr lang="en-US"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206</a:t>
            </a:fld>
            <a:endParaRPr lang="en-US" dirty="0"/>
          </a:p>
        </p:txBody>
      </p:sp>
    </p:spTree>
    <p:extLst>
      <p:ext uri="{BB962C8B-B14F-4D97-AF65-F5344CB8AC3E}">
        <p14:creationId xmlns:p14="http://schemas.microsoft.com/office/powerpoint/2010/main" val="2583208739"/>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a:buFont typeface="Arial" pitchFamily="34" charset="0"/>
              <a:buNone/>
            </a:pPr>
            <a:r>
              <a:rPr lang="en-US" noProof="0" dirty="0" smtClean="0"/>
              <a:t>Trainer continues identifying range of tools which may be used:</a:t>
            </a:r>
          </a:p>
          <a:p>
            <a:r>
              <a:rPr lang="en-AU" sz="1200" b="1" kern="1200" dirty="0" smtClean="0">
                <a:solidFill>
                  <a:schemeClr val="tx1"/>
                </a:solidFill>
                <a:latin typeface="+mn-lt"/>
                <a:ea typeface="+mn-ea"/>
                <a:cs typeface="+mn-cs"/>
              </a:rPr>
              <a:t>Measuring Tools</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Measuring accurately requires the use of measuring tools like rulers, gauges, and micrometers. In the United States two systems of measurement are often used: the metric (aka International) system and the English (aka Customary) system.</a:t>
            </a:r>
          </a:p>
          <a:p>
            <a:r>
              <a:rPr lang="en-AU" sz="1200" b="1" i="1" kern="1200" dirty="0" smtClean="0">
                <a:solidFill>
                  <a:schemeClr val="tx1"/>
                </a:solidFill>
                <a:latin typeface="+mn-lt"/>
                <a:ea typeface="+mn-ea"/>
                <a:cs typeface="+mn-cs"/>
              </a:rPr>
              <a:t>Rulers</a:t>
            </a:r>
            <a:r>
              <a:rPr lang="en-AU" sz="1200" b="1" kern="1200" dirty="0" smtClean="0">
                <a:solidFill>
                  <a:schemeClr val="tx1"/>
                </a:solidFill>
                <a:latin typeface="+mn-lt"/>
                <a:ea typeface="+mn-ea"/>
                <a:cs typeface="+mn-cs"/>
              </a:rPr>
              <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Rulers are used to measure linear distances. Measuring tapes are used to measure large distances whereas small rigid rulers are used to measure short linear distances.</a:t>
            </a:r>
          </a:p>
          <a:p>
            <a:r>
              <a:rPr lang="en-AU" sz="1200" b="1" i="1" kern="1200" dirty="0" smtClean="0">
                <a:solidFill>
                  <a:schemeClr val="tx1"/>
                </a:solidFill>
                <a:latin typeface="+mn-lt"/>
                <a:ea typeface="+mn-ea"/>
                <a:cs typeface="+mn-cs"/>
              </a:rPr>
              <a:t>Torque Wrench</a:t>
            </a:r>
            <a:r>
              <a:rPr lang="en-AU" sz="1200" b="1" kern="1200" dirty="0" smtClean="0">
                <a:solidFill>
                  <a:schemeClr val="tx1"/>
                </a:solidFill>
                <a:latin typeface="+mn-lt"/>
                <a:ea typeface="+mn-ea"/>
                <a:cs typeface="+mn-cs"/>
              </a:rPr>
              <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A torque wrench, either beam or clicker style, can be used to tighten a fastener to a specific amount of force. For example, wheel lug nuts should be tightened to the manufacturer’s specifications. Lug nuts that are not tight enough could loosen over time, while lug nuts that are too tight are hard to remove, can warp brake rotors, and can damage the stud’s threads. A torque wrench is critically important when completing internal engine repairs.</a:t>
            </a:r>
            <a:br>
              <a:rPr lang="en-AU" sz="1200" kern="1200" dirty="0" smtClean="0">
                <a:solidFill>
                  <a:schemeClr val="tx1"/>
                </a:solidFill>
                <a:latin typeface="+mn-lt"/>
                <a:ea typeface="+mn-ea"/>
                <a:cs typeface="+mn-cs"/>
              </a:rPr>
            </a:br>
            <a:r>
              <a:rPr lang="en-AU" sz="1200" b="1" i="1" kern="1200" dirty="0" smtClean="0">
                <a:solidFill>
                  <a:schemeClr val="tx1"/>
                </a:solidFill>
                <a:latin typeface="+mn-lt"/>
                <a:ea typeface="+mn-ea"/>
                <a:cs typeface="+mn-cs"/>
              </a:rPr>
              <a:t>Coolant Tester</a:t>
            </a:r>
            <a:r>
              <a:rPr lang="en-AU" sz="1200" b="1" kern="1200" dirty="0" smtClean="0">
                <a:solidFill>
                  <a:schemeClr val="tx1"/>
                </a:solidFill>
                <a:latin typeface="+mn-lt"/>
                <a:ea typeface="+mn-ea"/>
                <a:cs typeface="+mn-cs"/>
              </a:rPr>
              <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A coolant tester measures specific gravity to determine if the cooling system contains the correct mixture of antifreeze to water. To draw coolant up into the tester, squeeze the bulb while the tube end is inserted in the radiator. An indicator inside the tester floats to give a reading based on the percentage of antifreeze in the coolant.</a:t>
            </a:r>
          </a:p>
          <a:p>
            <a:r>
              <a:rPr lang="en-AU" sz="1200" b="1" i="1" kern="1200" dirty="0" smtClean="0">
                <a:solidFill>
                  <a:schemeClr val="tx1"/>
                </a:solidFill>
                <a:latin typeface="+mn-lt"/>
                <a:ea typeface="+mn-ea"/>
                <a:cs typeface="+mn-cs"/>
              </a:rPr>
              <a:t>Spark Plug Gauge</a:t>
            </a:r>
            <a:r>
              <a:rPr lang="en-AU" sz="1200" b="1" kern="1200" dirty="0" smtClean="0">
                <a:solidFill>
                  <a:schemeClr val="tx1"/>
                </a:solidFill>
                <a:latin typeface="+mn-lt"/>
                <a:ea typeface="+mn-ea"/>
                <a:cs typeface="+mn-cs"/>
              </a:rPr>
              <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A spark plug gauge tool has various diameter wires for checking the electrode gap and benders to adjust the gap. The gap is the distance between the center and side electrodes on the spark plug. A spark must arc across the gap in order to ignite the air-fuel mixture in a cylinder. The correct gap is located on the EPA sticker in the engine compartment.</a:t>
            </a:r>
          </a:p>
          <a:p>
            <a:r>
              <a:rPr lang="en-AU" sz="1200" b="1" i="1" kern="1200" dirty="0" smtClean="0">
                <a:solidFill>
                  <a:schemeClr val="tx1"/>
                </a:solidFill>
                <a:latin typeface="+mn-lt"/>
                <a:ea typeface="+mn-ea"/>
                <a:cs typeface="+mn-cs"/>
              </a:rPr>
              <a:t>Precision Measuring Tools</a:t>
            </a:r>
            <a:r>
              <a:rPr lang="en-AU" sz="1200" b="1" kern="1200" dirty="0" smtClean="0">
                <a:solidFill>
                  <a:schemeClr val="tx1"/>
                </a:solidFill>
                <a:latin typeface="+mn-lt"/>
                <a:ea typeface="+mn-ea"/>
                <a:cs typeface="+mn-cs"/>
              </a:rPr>
              <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Feeler gauges, calipers, micrometers, and dial indicators are used to obtain very precise measurements. These tools can provide measurements to the nearest thousandths (0.001) of an inch or to the nearest hundredths (0.01) of a millimeter. Feeler gauges consist of flat metal blades that are a specific thickness. You can put several feeler blades together to obtain a desired thickness. For example, if you needed to obtain a thickness of 0.045”, you could put the 0.025” and 0.020” together. A caliper is an especially versatile measuring tool able to measure inside, outside, and depth dimensions. However, when extremely precise measurements are required consider using a micrometer. Micrometers are particularly good for measuring the diameter of objects.</a:t>
            </a:r>
          </a:p>
          <a:p>
            <a:pPr>
              <a:buFont typeface="Arial" pitchFamily="34" charset="0"/>
              <a:buNone/>
            </a:pPr>
            <a:endParaRPr lang="en-US" noProof="0" dirty="0" smtClean="0"/>
          </a:p>
          <a:p>
            <a:pPr>
              <a:buFont typeface="Arial" pitchFamily="34" charset="0"/>
              <a:buNone/>
            </a:pPr>
            <a:r>
              <a:rPr lang="en-US" b="1" noProof="0" dirty="0" smtClean="0"/>
              <a:t>Classroom Activity – Example, Demonstration and Practical</a:t>
            </a:r>
          </a:p>
          <a:p>
            <a:pPr>
              <a:buFont typeface="Arial" pitchFamily="34" charset="0"/>
              <a:buNone/>
            </a:pPr>
            <a:r>
              <a:rPr lang="en-US" b="0" noProof="0" dirty="0" smtClean="0"/>
              <a:t>Trainer presents example/s of items identified</a:t>
            </a:r>
            <a:r>
              <a:rPr lang="en-US" b="0" baseline="0" noProof="0" dirty="0" smtClean="0"/>
              <a:t> on the slide, demonstrates their use when repairing vehicles and gives students an opportunity to do the same.</a:t>
            </a:r>
            <a:endParaRPr lang="en-US"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207</a:t>
            </a:fld>
            <a:endParaRPr lang="en-US" dirty="0"/>
          </a:p>
        </p:txBody>
      </p:sp>
    </p:spTree>
    <p:extLst>
      <p:ext uri="{BB962C8B-B14F-4D97-AF65-F5344CB8AC3E}">
        <p14:creationId xmlns:p14="http://schemas.microsoft.com/office/powerpoint/2010/main" val="2243318752"/>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identifying range of tools which may be used:</a:t>
            </a:r>
          </a:p>
          <a:p>
            <a:r>
              <a:rPr lang="en-AU" sz="1200" b="1" kern="1200" dirty="0" smtClean="0">
                <a:solidFill>
                  <a:schemeClr val="tx1"/>
                </a:solidFill>
                <a:latin typeface="+mn-lt"/>
                <a:ea typeface="+mn-ea"/>
                <a:cs typeface="+mn-cs"/>
              </a:rPr>
              <a:t>Electric Tools</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If you plan to maintain a vehicle’s electrical system some electrical tools will be necessary. At the very least every vehicle should carry a set of jumper cables. </a:t>
            </a:r>
          </a:p>
          <a:p>
            <a:r>
              <a:rPr lang="en-AU" sz="1200" b="1" i="1" kern="1200" dirty="0" smtClean="0">
                <a:solidFill>
                  <a:schemeClr val="tx1"/>
                </a:solidFill>
                <a:latin typeface="+mn-lt"/>
                <a:ea typeface="+mn-ea"/>
                <a:cs typeface="+mn-cs"/>
              </a:rPr>
              <a:t>Multimeters</a:t>
            </a:r>
            <a:r>
              <a:rPr lang="en-AU" sz="1200" b="1" kern="1200" dirty="0" smtClean="0">
                <a:solidFill>
                  <a:schemeClr val="tx1"/>
                </a:solidFill>
                <a:latin typeface="+mn-lt"/>
                <a:ea typeface="+mn-ea"/>
                <a:cs typeface="+mn-cs"/>
              </a:rPr>
              <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Multimeters make a great addition to any toolbox. Multimeters can be used to measure voltage, resistance, and amperage.</a:t>
            </a:r>
          </a:p>
          <a:p>
            <a:r>
              <a:rPr lang="en-AU" sz="1200" b="1" i="1" kern="1200" dirty="0" smtClean="0">
                <a:solidFill>
                  <a:schemeClr val="tx1"/>
                </a:solidFill>
                <a:latin typeface="+mn-lt"/>
                <a:ea typeface="+mn-ea"/>
                <a:cs typeface="+mn-cs"/>
              </a:rPr>
              <a:t>Fuse Puller</a:t>
            </a:r>
            <a:r>
              <a:rPr lang="en-AU" sz="1200" b="1" kern="1200" dirty="0" smtClean="0">
                <a:solidFill>
                  <a:schemeClr val="tx1"/>
                </a:solidFill>
                <a:latin typeface="+mn-lt"/>
                <a:ea typeface="+mn-ea"/>
                <a:cs typeface="+mn-cs"/>
              </a:rPr>
              <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Fuses are fairly small, very close to one another in a fuse junction block, and often tightly held making it difficult to pull them out. A fuse puller is a small plastic device designed to grasp a fuse so it can be pulled out easily.</a:t>
            </a:r>
          </a:p>
          <a:p>
            <a:r>
              <a:rPr lang="en-AU" sz="1200" b="1" i="1" kern="1200" dirty="0" smtClean="0">
                <a:solidFill>
                  <a:schemeClr val="tx1"/>
                </a:solidFill>
                <a:latin typeface="+mn-lt"/>
                <a:ea typeface="+mn-ea"/>
                <a:cs typeface="+mn-cs"/>
              </a:rPr>
              <a:t>Wire Strippers</a:t>
            </a:r>
            <a:r>
              <a:rPr lang="en-AU" sz="1200" b="1" kern="1200" dirty="0" smtClean="0">
                <a:solidFill>
                  <a:schemeClr val="tx1"/>
                </a:solidFill>
                <a:latin typeface="+mn-lt"/>
                <a:ea typeface="+mn-ea"/>
                <a:cs typeface="+mn-cs"/>
              </a:rPr>
              <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Wire strippers can be used to remove wire insulation, cut wires, and to crimp solderless connectors and terminals.</a:t>
            </a:r>
          </a:p>
          <a:p>
            <a:r>
              <a:rPr lang="en-AU" sz="1200" b="1" i="1" kern="1200" dirty="0" smtClean="0">
                <a:solidFill>
                  <a:schemeClr val="tx1"/>
                </a:solidFill>
                <a:latin typeface="+mn-lt"/>
                <a:ea typeface="+mn-ea"/>
                <a:cs typeface="+mn-cs"/>
              </a:rPr>
              <a:t>Battery Load Tester</a:t>
            </a:r>
            <a:r>
              <a:rPr lang="en-AU" sz="1200" b="1" kern="1200" dirty="0" smtClean="0">
                <a:solidFill>
                  <a:schemeClr val="tx1"/>
                </a:solidFill>
                <a:latin typeface="+mn-lt"/>
                <a:ea typeface="+mn-ea"/>
                <a:cs typeface="+mn-cs"/>
              </a:rPr>
              <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A battery load tester is a specialty tool used to evaluate a battery’s condition. The tester should be set to the battery’s temperature and cold-cranking amperage (CCA) rating to receive accurate results. Note: Some automotive part stores will test your battery for free.</a:t>
            </a:r>
          </a:p>
          <a:p>
            <a:pPr>
              <a:buFont typeface="Arial" pitchFamily="34" charset="0"/>
              <a:buNone/>
            </a:pPr>
            <a:endParaRPr lang="en-US" noProof="0" dirty="0" smtClean="0"/>
          </a:p>
          <a:p>
            <a:pPr>
              <a:buFont typeface="Arial" pitchFamily="34" charset="0"/>
              <a:buNone/>
            </a:pPr>
            <a:r>
              <a:rPr lang="en-US" b="1" noProof="0" dirty="0" smtClean="0"/>
              <a:t>Classroom Activity – Example, Demonstration and Practical</a:t>
            </a:r>
          </a:p>
          <a:p>
            <a:pPr>
              <a:buFont typeface="Arial" pitchFamily="34" charset="0"/>
              <a:buNone/>
            </a:pPr>
            <a:r>
              <a:rPr lang="en-US" b="0" noProof="0" dirty="0" smtClean="0"/>
              <a:t>Trainer presents example/s of items identified</a:t>
            </a:r>
            <a:r>
              <a:rPr lang="en-US" b="0" baseline="0" noProof="0" dirty="0" smtClean="0"/>
              <a:t> on the slide, demonstrates their use when repairing vehicles and gives students an opportunity to do the same.</a:t>
            </a:r>
            <a:endParaRPr lang="en-US"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208</a:t>
            </a:fld>
            <a:endParaRPr lang="en-US" dirty="0"/>
          </a:p>
        </p:txBody>
      </p:sp>
    </p:spTree>
    <p:extLst>
      <p:ext uri="{BB962C8B-B14F-4D97-AF65-F5344CB8AC3E}">
        <p14:creationId xmlns:p14="http://schemas.microsoft.com/office/powerpoint/2010/main" val="2747191570"/>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US" noProof="0" dirty="0" smtClean="0"/>
              <a:t>Trainer continues identifying range of tools which may be used:</a:t>
            </a:r>
          </a:p>
          <a:p>
            <a:r>
              <a:rPr lang="en-AU" sz="1200" b="1" i="1" kern="1200" dirty="0" smtClean="0">
                <a:solidFill>
                  <a:schemeClr val="tx1"/>
                </a:solidFill>
                <a:latin typeface="+mn-lt"/>
                <a:ea typeface="+mn-ea"/>
                <a:cs typeface="+mn-cs"/>
              </a:rPr>
              <a:t>Jumper Cables</a:t>
            </a:r>
            <a:r>
              <a:rPr lang="en-AU" sz="1200" b="1" kern="1200" dirty="0" smtClean="0">
                <a:solidFill>
                  <a:schemeClr val="tx1"/>
                </a:solidFill>
                <a:latin typeface="+mn-lt"/>
                <a:ea typeface="+mn-ea"/>
                <a:cs typeface="+mn-cs"/>
              </a:rPr>
              <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A battery can discharge simply by leaving your lights on or a door ajar. You should know how to properly hook up jumper cables in case of an emergency. For step-by-step procedures on safely hooking up jumper cables see your owner’s manual and the Jump-Starting Activity. </a:t>
            </a:r>
            <a:r>
              <a:rPr lang="en-AU" sz="1200" b="0" i="1" kern="1200" dirty="0" smtClean="0">
                <a:solidFill>
                  <a:schemeClr val="tx1"/>
                </a:solidFill>
                <a:latin typeface="+mn-lt"/>
                <a:ea typeface="+mn-ea"/>
                <a:cs typeface="+mn-cs"/>
              </a:rPr>
              <a:t>Warning: Incorrectly jump-starting a battery can be dangerous. If cables are hooked up incorrectly the battery could explode or </a:t>
            </a:r>
            <a:r>
              <a:rPr lang="en-AU" sz="1200" b="0" kern="1200" dirty="0" smtClean="0">
                <a:solidFill>
                  <a:schemeClr val="tx1"/>
                </a:solidFill>
                <a:latin typeface="+mn-lt"/>
                <a:ea typeface="+mn-ea"/>
                <a:cs typeface="+mn-cs"/>
              </a:rPr>
              <a:t>electrical</a:t>
            </a:r>
            <a:r>
              <a:rPr lang="en-AU" sz="1200" b="0" i="1" kern="1200" dirty="0" smtClean="0">
                <a:solidFill>
                  <a:schemeClr val="tx1"/>
                </a:solidFill>
                <a:latin typeface="+mn-lt"/>
                <a:ea typeface="+mn-ea"/>
                <a:cs typeface="+mn-cs"/>
              </a:rPr>
              <a:t> components could fry.</a:t>
            </a:r>
            <a:endParaRPr lang="en-AU" sz="1200" b="0" kern="1200" dirty="0" smtClean="0">
              <a:solidFill>
                <a:schemeClr val="tx1"/>
              </a:solidFill>
              <a:latin typeface="+mn-lt"/>
              <a:ea typeface="+mn-ea"/>
              <a:cs typeface="+mn-cs"/>
            </a:endParaRPr>
          </a:p>
          <a:p>
            <a:r>
              <a:rPr lang="en-AU" sz="1200" b="1" i="1" kern="1200" dirty="0" smtClean="0">
                <a:solidFill>
                  <a:schemeClr val="tx1"/>
                </a:solidFill>
                <a:latin typeface="+mn-lt"/>
                <a:ea typeface="+mn-ea"/>
                <a:cs typeface="+mn-cs"/>
              </a:rPr>
              <a:t>Battery Terminal Puller</a:t>
            </a:r>
            <a:r>
              <a:rPr lang="en-AU" sz="1200" b="1" kern="1200" dirty="0" smtClean="0">
                <a:solidFill>
                  <a:schemeClr val="tx1"/>
                </a:solidFill>
                <a:latin typeface="+mn-lt"/>
                <a:ea typeface="+mn-ea"/>
                <a:cs typeface="+mn-cs"/>
              </a:rPr>
              <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The battery terminal puller is designed to remove a stubborn or corroded battery terminal clamp, after the battery terminal nut has been loosened, without causing damage to the battery terminal post. The lower jaws of the puller are placed under the battery terminal clamp and then the top lever is turned to lower the center screw onto the terminal post until it forces the clamp free. This type of puller is only used on top post batteries.</a:t>
            </a:r>
          </a:p>
          <a:p>
            <a:r>
              <a:rPr lang="en-AU" sz="1200" b="1" i="1" kern="1200" dirty="0" smtClean="0">
                <a:solidFill>
                  <a:schemeClr val="tx1"/>
                </a:solidFill>
                <a:latin typeface="+mn-lt"/>
                <a:ea typeface="+mn-ea"/>
                <a:cs typeface="+mn-cs"/>
              </a:rPr>
              <a:t>Battery Brush</a:t>
            </a:r>
            <a:r>
              <a:rPr lang="en-AU" sz="1200" b="1" kern="1200" dirty="0" smtClean="0">
                <a:solidFill>
                  <a:schemeClr val="tx1"/>
                </a:solidFill>
                <a:latin typeface="+mn-lt"/>
                <a:ea typeface="+mn-ea"/>
                <a:cs typeface="+mn-cs"/>
              </a:rPr>
              <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Once the battery terminal clamps have been disconnected from the battery posts, use battery brushes to scrape off any visible white or light colored corrosive powder. Rotate the external wire battery brush inside each clamp and the internal wire battery brush over each post.</a:t>
            </a:r>
          </a:p>
          <a:p>
            <a:r>
              <a:rPr lang="en-AU" sz="1200" b="1" i="1" kern="1200" dirty="0" smtClean="0">
                <a:solidFill>
                  <a:schemeClr val="tx1"/>
                </a:solidFill>
                <a:latin typeface="+mn-lt"/>
                <a:ea typeface="+mn-ea"/>
                <a:cs typeface="+mn-cs"/>
              </a:rPr>
              <a:t>Battery Terminal Spreader</a:t>
            </a:r>
            <a:r>
              <a:rPr lang="en-AU" sz="1200" b="1" kern="1200" dirty="0" smtClean="0">
                <a:solidFill>
                  <a:schemeClr val="tx1"/>
                </a:solidFill>
                <a:latin typeface="+mn-lt"/>
                <a:ea typeface="+mn-ea"/>
                <a:cs typeface="+mn-cs"/>
              </a:rPr>
              <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The battery terminal spreader is specially designed to spread battery terminal post clamps. They can also be used to scrape corrosion from the inside of terminal clamps.</a:t>
            </a:r>
          </a:p>
          <a:p>
            <a:pPr>
              <a:buFont typeface="Arial" pitchFamily="34" charset="0"/>
              <a:buNone/>
            </a:pPr>
            <a:endParaRPr lang="en-US" noProof="0" dirty="0" smtClean="0"/>
          </a:p>
          <a:p>
            <a:pPr>
              <a:buFont typeface="Arial" pitchFamily="34" charset="0"/>
              <a:buNone/>
            </a:pPr>
            <a:r>
              <a:rPr lang="en-US" b="1" noProof="0" dirty="0" smtClean="0"/>
              <a:t>Classroom Activity – Example, Demonstration and Practical</a:t>
            </a:r>
          </a:p>
          <a:p>
            <a:pPr>
              <a:buFont typeface="Arial" pitchFamily="34" charset="0"/>
              <a:buNone/>
            </a:pPr>
            <a:r>
              <a:rPr lang="en-US" b="0" noProof="0" dirty="0" smtClean="0"/>
              <a:t>Trainer presents example/s of items identified</a:t>
            </a:r>
            <a:r>
              <a:rPr lang="en-US" b="0" baseline="0" noProof="0" dirty="0" smtClean="0"/>
              <a:t> on the slide, demonstrates their use when repairing vehicles and gives students an opportunity to do the same.</a:t>
            </a:r>
            <a:endParaRPr lang="en-US"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209</a:t>
            </a:fld>
            <a:endParaRPr lang="en-US" dirty="0"/>
          </a:p>
        </p:txBody>
      </p:sp>
    </p:spTree>
    <p:extLst>
      <p:ext uri="{BB962C8B-B14F-4D97-AF65-F5344CB8AC3E}">
        <p14:creationId xmlns:p14="http://schemas.microsoft.com/office/powerpoint/2010/main" val="394813635"/>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pPr>
              <a:buFont typeface="Arial" pitchFamily="34" charset="0"/>
              <a:buNone/>
            </a:pPr>
            <a:r>
              <a:rPr lang="en-US" noProof="0" dirty="0" smtClean="0"/>
              <a:t>Trainer continues identifying range of tools which may be used:</a:t>
            </a:r>
          </a:p>
          <a:p>
            <a:r>
              <a:rPr lang="en-AU" sz="1200" b="1" kern="1200" dirty="0" smtClean="0">
                <a:solidFill>
                  <a:schemeClr val="tx1"/>
                </a:solidFill>
                <a:latin typeface="+mn-lt"/>
                <a:ea typeface="+mn-ea"/>
                <a:cs typeface="+mn-cs"/>
              </a:rPr>
              <a:t>Oil Change and Lube Tools</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To perform an oil change and lubrication you will need a socket or wrench to remove the drain plug, lifting equipment, an oil drain pan, an oil filter wrench, a funnel, and a grease gun.</a:t>
            </a:r>
          </a:p>
          <a:p>
            <a:r>
              <a:rPr lang="en-AU" sz="1200" b="1" i="1" kern="1200" dirty="0" smtClean="0">
                <a:solidFill>
                  <a:schemeClr val="tx1"/>
                </a:solidFill>
                <a:latin typeface="+mn-lt"/>
                <a:ea typeface="+mn-ea"/>
                <a:cs typeface="+mn-cs"/>
              </a:rPr>
              <a:t>Oil Drain Pan</a:t>
            </a:r>
            <a:r>
              <a:rPr lang="en-AU" sz="1200" b="1" kern="1200" dirty="0" smtClean="0">
                <a:solidFill>
                  <a:schemeClr val="tx1"/>
                </a:solidFill>
                <a:latin typeface="+mn-lt"/>
                <a:ea typeface="+mn-ea"/>
                <a:cs typeface="+mn-cs"/>
              </a:rPr>
              <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An oil drain pan helps to keep used oil from spilling on the floor. A good oil pan will have a wide collection area, a place for the oil filter to set while draining, enough capacity to hold at least one oil change, and a cap to prevent spilling during transportation to an oil recycling facility. Used oil is considered a hazardous waste.</a:t>
            </a:r>
          </a:p>
          <a:p>
            <a:r>
              <a:rPr lang="en-AU" sz="1200" b="1" i="1" kern="1200" dirty="0" smtClean="0">
                <a:solidFill>
                  <a:schemeClr val="tx1"/>
                </a:solidFill>
                <a:latin typeface="+mn-lt"/>
                <a:ea typeface="+mn-ea"/>
                <a:cs typeface="+mn-cs"/>
              </a:rPr>
              <a:t>Oil Filter Wrenches</a:t>
            </a:r>
            <a:r>
              <a:rPr lang="en-AU" sz="1200" b="1" kern="1200" dirty="0" smtClean="0">
                <a:solidFill>
                  <a:schemeClr val="tx1"/>
                </a:solidFill>
                <a:latin typeface="+mn-lt"/>
                <a:ea typeface="+mn-ea"/>
                <a:cs typeface="+mn-cs"/>
              </a:rPr>
              <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There are mainly two styles of oil filter wrenches. The band filter wrench is made to adjust to several different sized filters within a range. For hard to reach filters get a filter wrench with a swivel handle. The cup oil filter wrench is used with a ratchet for leverage. Select the cup size that fits snugly on your filter.</a:t>
            </a:r>
          </a:p>
          <a:p>
            <a:r>
              <a:rPr lang="en-AU" sz="1200" b="1" i="1" kern="1200" dirty="0" smtClean="0">
                <a:solidFill>
                  <a:schemeClr val="tx1"/>
                </a:solidFill>
                <a:latin typeface="+mn-lt"/>
                <a:ea typeface="+mn-ea"/>
                <a:cs typeface="+mn-cs"/>
              </a:rPr>
              <a:t>Funnel</a:t>
            </a:r>
            <a:r>
              <a:rPr lang="en-AU" sz="1200" b="1" kern="1200" dirty="0" smtClean="0">
                <a:solidFill>
                  <a:schemeClr val="tx1"/>
                </a:solidFill>
                <a:latin typeface="+mn-lt"/>
                <a:ea typeface="+mn-ea"/>
                <a:cs typeface="+mn-cs"/>
              </a:rPr>
              <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A funnel helps prevent spills when adding oil to the engine. Always make sure the funnel is clean so you don’t contaminate the engine with other fluids or dirt.</a:t>
            </a:r>
          </a:p>
          <a:p>
            <a:r>
              <a:rPr lang="en-AU" sz="1200" b="1" i="1" kern="1200" dirty="0" smtClean="0">
                <a:solidFill>
                  <a:schemeClr val="tx1"/>
                </a:solidFill>
                <a:latin typeface="+mn-lt"/>
                <a:ea typeface="+mn-ea"/>
                <a:cs typeface="+mn-cs"/>
              </a:rPr>
              <a:t>Grease Gun</a:t>
            </a:r>
            <a:r>
              <a:rPr lang="en-AU" sz="1200" b="1" kern="1200" dirty="0" smtClean="0">
                <a:solidFill>
                  <a:schemeClr val="tx1"/>
                </a:solidFill>
                <a:latin typeface="+mn-lt"/>
                <a:ea typeface="+mn-ea"/>
                <a:cs typeface="+mn-cs"/>
              </a:rPr>
              <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A grease gun, containing a grease cartridge, is used to lubricate steering, suspension, and drivetrain components. A vehicle’s service manual should identify the location of lubrication fittings (if there are any) and the type of grease recommended. As technology advances more automotive parts are being manufactured with a permanent seal, so grease can’t be added.</a:t>
            </a:r>
          </a:p>
          <a:p>
            <a:pPr>
              <a:buFont typeface="Arial" pitchFamily="34" charset="0"/>
              <a:buNone/>
            </a:pPr>
            <a:endParaRPr lang="en-US" noProof="0" dirty="0" smtClean="0"/>
          </a:p>
          <a:p>
            <a:pPr>
              <a:buFont typeface="Arial" pitchFamily="34" charset="0"/>
              <a:buNone/>
            </a:pPr>
            <a:r>
              <a:rPr lang="en-US" b="1" noProof="0" dirty="0" smtClean="0"/>
              <a:t>Classroom Activity – Example, Demonstration and Practical</a:t>
            </a:r>
          </a:p>
          <a:p>
            <a:pPr>
              <a:buFont typeface="Arial" pitchFamily="34" charset="0"/>
              <a:buNone/>
            </a:pPr>
            <a:r>
              <a:rPr lang="en-US" b="0" noProof="0" dirty="0" smtClean="0"/>
              <a:t>Trainer presents example/s of items identified</a:t>
            </a:r>
            <a:r>
              <a:rPr lang="en-US" b="0" baseline="0" noProof="0" dirty="0" smtClean="0"/>
              <a:t> on the slide, demonstrates their use when repairing vehicles and gives students an opportunity to do the same.</a:t>
            </a:r>
            <a:endParaRPr lang="en-US"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210</a:t>
            </a:fld>
            <a:endParaRPr lang="en-US" dirty="0"/>
          </a:p>
        </p:txBody>
      </p:sp>
    </p:spTree>
    <p:extLst>
      <p:ext uri="{BB962C8B-B14F-4D97-AF65-F5344CB8AC3E}">
        <p14:creationId xmlns:p14="http://schemas.microsoft.com/office/powerpoint/2010/main" val="3275781678"/>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US" noProof="0" dirty="0" smtClean="0"/>
              <a:t>Trainer continues identifying range of tools which may be used:</a:t>
            </a:r>
          </a:p>
          <a:p>
            <a:r>
              <a:rPr lang="en-AU" sz="1200" b="1" kern="1200" dirty="0" smtClean="0">
                <a:solidFill>
                  <a:schemeClr val="tx1"/>
                </a:solidFill>
                <a:latin typeface="+mn-lt"/>
                <a:ea typeface="+mn-ea"/>
                <a:cs typeface="+mn-cs"/>
              </a:rPr>
              <a:t>Cutting and Grinding Tools</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Sometimes it is necessary to remove a piece of metal such as an exhaust pipe or a rusted bolt. To do this, cutting and grinding tools come in handy. </a:t>
            </a:r>
          </a:p>
          <a:p>
            <a:r>
              <a:rPr lang="en-AU" sz="1200" b="1" i="1" kern="1200" dirty="0" smtClean="0">
                <a:solidFill>
                  <a:schemeClr val="tx1"/>
                </a:solidFill>
                <a:latin typeface="+mn-lt"/>
                <a:ea typeface="+mn-ea"/>
                <a:cs typeface="+mn-cs"/>
              </a:rPr>
              <a:t>Hacksaw</a:t>
            </a:r>
            <a:r>
              <a:rPr lang="en-AU" sz="1200" b="1" kern="1200" dirty="0" smtClean="0">
                <a:solidFill>
                  <a:schemeClr val="tx1"/>
                </a:solidFill>
                <a:latin typeface="+mn-lt"/>
                <a:ea typeface="+mn-ea"/>
                <a:cs typeface="+mn-cs"/>
              </a:rPr>
              <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Hacksaws cut metal using thin blades. Blades commonly have 18, 24, or 32 teeth per inch. Blades with more teeth per inch cut cleaner and slower. Point the teeth away from the handle to cut mainly on the forward stroke.</a:t>
            </a:r>
          </a:p>
          <a:p>
            <a:r>
              <a:rPr lang="en-AU" sz="1200" b="1" i="1" kern="1200" dirty="0" smtClean="0">
                <a:solidFill>
                  <a:schemeClr val="tx1"/>
                </a:solidFill>
                <a:latin typeface="+mn-lt"/>
                <a:ea typeface="+mn-ea"/>
                <a:cs typeface="+mn-cs"/>
              </a:rPr>
              <a:t>File</a:t>
            </a:r>
            <a:r>
              <a:rPr lang="en-AU" sz="1200" b="1" kern="1200" dirty="0" smtClean="0">
                <a:solidFill>
                  <a:schemeClr val="tx1"/>
                </a:solidFill>
                <a:latin typeface="+mn-lt"/>
                <a:ea typeface="+mn-ea"/>
                <a:cs typeface="+mn-cs"/>
              </a:rPr>
              <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A file can be used to smooth, shape, and de-burr surfaces by removing metal. Common machinist files come in square, flat, half-round, and round types.</a:t>
            </a:r>
          </a:p>
          <a:p>
            <a:r>
              <a:rPr lang="en-AU" sz="1200" b="1" i="1" kern="1200" dirty="0" smtClean="0">
                <a:solidFill>
                  <a:schemeClr val="tx1"/>
                </a:solidFill>
                <a:latin typeface="+mn-lt"/>
                <a:ea typeface="+mn-ea"/>
                <a:cs typeface="+mn-cs"/>
              </a:rPr>
              <a:t>Chisel</a:t>
            </a:r>
            <a:r>
              <a:rPr lang="en-AU" sz="1200" b="1" kern="1200" dirty="0" smtClean="0">
                <a:solidFill>
                  <a:schemeClr val="tx1"/>
                </a:solidFill>
                <a:latin typeface="+mn-lt"/>
                <a:ea typeface="+mn-ea"/>
                <a:cs typeface="+mn-cs"/>
              </a:rPr>
              <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To use a cold chisel place the chiseled end on an object, such as a seized/rusted nut or rivet, and hit the blunt end with a hammer.</a:t>
            </a:r>
          </a:p>
          <a:p>
            <a:r>
              <a:rPr lang="en-AU" sz="1200" b="1" i="1" kern="1200" dirty="0" smtClean="0">
                <a:solidFill>
                  <a:schemeClr val="tx1"/>
                </a:solidFill>
                <a:latin typeface="+mn-lt"/>
                <a:ea typeface="+mn-ea"/>
                <a:cs typeface="+mn-cs"/>
              </a:rPr>
              <a:t>Punch</a:t>
            </a:r>
            <a:r>
              <a:rPr lang="en-AU" sz="1200" b="1" kern="1200" dirty="0" smtClean="0">
                <a:solidFill>
                  <a:schemeClr val="tx1"/>
                </a:solidFill>
                <a:latin typeface="+mn-lt"/>
                <a:ea typeface="+mn-ea"/>
                <a:cs typeface="+mn-cs"/>
              </a:rPr>
              <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Punches can be used to drive parts during removal or installation, mark points, or align objects. To use a punch, place the pointed end on the object you want to drive and hit the blunt end with a hammer.</a:t>
            </a:r>
          </a:p>
          <a:p>
            <a:r>
              <a:rPr lang="en-AU" sz="1200" b="1" i="1" kern="1200" dirty="0" smtClean="0">
                <a:solidFill>
                  <a:schemeClr val="tx1"/>
                </a:solidFill>
                <a:latin typeface="+mn-lt"/>
                <a:ea typeface="+mn-ea"/>
                <a:cs typeface="+mn-cs"/>
              </a:rPr>
              <a:t>Grinder</a:t>
            </a:r>
            <a:r>
              <a:rPr lang="en-AU" sz="1200" b="1" kern="1200" dirty="0" smtClean="0">
                <a:solidFill>
                  <a:schemeClr val="tx1"/>
                </a:solidFill>
                <a:latin typeface="+mn-lt"/>
                <a:ea typeface="+mn-ea"/>
                <a:cs typeface="+mn-cs"/>
              </a:rPr>
              <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An electric grinder can be used to remove metal much faster than a file. Warning: Grinding metal can create sparks. Be sure that all flammable materials are away from the grinding area and do not grind so that sparks go near the vehicle’s fuel tank. It is also important to wear the appropriate safety gear, including a full face shield.</a:t>
            </a:r>
          </a:p>
          <a:p>
            <a:pPr>
              <a:buFont typeface="Arial" pitchFamily="34" charset="0"/>
              <a:buNone/>
            </a:pPr>
            <a:endParaRPr lang="en-US" noProof="0" dirty="0" smtClean="0"/>
          </a:p>
          <a:p>
            <a:pPr>
              <a:buFont typeface="Arial" pitchFamily="34" charset="0"/>
              <a:buNone/>
            </a:pPr>
            <a:r>
              <a:rPr lang="en-US" b="1" noProof="0" dirty="0" smtClean="0"/>
              <a:t>Classroom Activity – Example, Demonstration and Practical</a:t>
            </a:r>
          </a:p>
          <a:p>
            <a:pPr>
              <a:buFont typeface="Arial" pitchFamily="34" charset="0"/>
              <a:buNone/>
            </a:pPr>
            <a:r>
              <a:rPr lang="en-US" b="0" noProof="0" dirty="0" smtClean="0"/>
              <a:t>Trainer presents example/s of items identified</a:t>
            </a:r>
            <a:r>
              <a:rPr lang="en-US" b="0" baseline="0" noProof="0" dirty="0" smtClean="0"/>
              <a:t> on the slide, demonstrates their use when repairing vehicles and gives students an opportunity to do the same.</a:t>
            </a:r>
            <a:endParaRPr lang="en-US"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211</a:t>
            </a:fld>
            <a:endParaRPr lang="en-US" dirty="0"/>
          </a:p>
        </p:txBody>
      </p:sp>
    </p:spTree>
    <p:extLst>
      <p:ext uri="{BB962C8B-B14F-4D97-AF65-F5344CB8AC3E}">
        <p14:creationId xmlns:p14="http://schemas.microsoft.com/office/powerpoint/2010/main" val="2119751538"/>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presents issues </a:t>
            </a:r>
            <a:r>
              <a:rPr lang="en-AU" sz="1200" kern="1200" dirty="0" smtClean="0">
                <a:solidFill>
                  <a:schemeClr val="tx1"/>
                </a:solidFill>
                <a:latin typeface="+mn-lt"/>
                <a:ea typeface="+mn-ea"/>
                <a:cs typeface="+mn-cs"/>
              </a:rPr>
              <a:t>which can influence the need to take a vehicle to an external repairer for work may include:</a:t>
            </a:r>
          </a:p>
          <a:p>
            <a:pPr marL="171450" indent="-171450">
              <a:buFont typeface="Arial" pitchFamily="34" charset="0"/>
              <a:buChar char="•"/>
            </a:pPr>
            <a:r>
              <a:rPr lang="en-AU" sz="1200" kern="1200" dirty="0" smtClean="0">
                <a:solidFill>
                  <a:schemeClr val="tx1"/>
                </a:solidFill>
                <a:latin typeface="+mn-lt"/>
                <a:ea typeface="+mn-ea"/>
                <a:cs typeface="+mn-cs"/>
              </a:rPr>
              <a:t>Extent of work which needs to be done – smaller jobs may be handled internally but larger jobs tend to be sent out</a:t>
            </a:r>
          </a:p>
          <a:p>
            <a:pPr marL="171450" indent="-171450">
              <a:buFont typeface="Arial" pitchFamily="34" charset="0"/>
              <a:buChar char="•"/>
            </a:pPr>
            <a:r>
              <a:rPr lang="en-AU" sz="1200" kern="1200" dirty="0" smtClean="0">
                <a:solidFill>
                  <a:schemeClr val="tx1"/>
                </a:solidFill>
                <a:latin typeface="+mn-lt"/>
                <a:ea typeface="+mn-ea"/>
                <a:cs typeface="+mn-cs"/>
              </a:rPr>
              <a:t>Timeframes which apply – where there is a definite or tight timeline for the completion of work, it can be better to have the work done by a professional</a:t>
            </a:r>
          </a:p>
          <a:p>
            <a:pPr marL="171450" indent="-171450">
              <a:buFont typeface="Arial" pitchFamily="34" charset="0"/>
              <a:buChar char="•"/>
            </a:pPr>
            <a:r>
              <a:rPr lang="en-AU" sz="1200" kern="1200" dirty="0" smtClean="0">
                <a:solidFill>
                  <a:schemeClr val="tx1"/>
                </a:solidFill>
                <a:latin typeface="+mn-lt"/>
                <a:ea typeface="+mn-ea"/>
                <a:cs typeface="+mn-cs"/>
              </a:rPr>
              <a:t>Safety issues – anything which relates to matters of safety tends to be undertaken by suitably qualified technicians and service people so as to discharge the common law Duty of Care imposed on businesses.</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212</a:t>
            </a:fld>
            <a:endParaRPr lang="en-US" dirty="0"/>
          </a:p>
        </p:txBody>
      </p:sp>
    </p:spTree>
    <p:extLst>
      <p:ext uri="{BB962C8B-B14F-4D97-AF65-F5344CB8AC3E}">
        <p14:creationId xmlns:p14="http://schemas.microsoft.com/office/powerpoint/2010/main" val="1288129242"/>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presenting issues </a:t>
            </a:r>
            <a:r>
              <a:rPr lang="en-AU" sz="1200" kern="1200" dirty="0" smtClean="0">
                <a:solidFill>
                  <a:schemeClr val="tx1"/>
                </a:solidFill>
                <a:latin typeface="+mn-lt"/>
                <a:ea typeface="+mn-ea"/>
                <a:cs typeface="+mn-cs"/>
              </a:rPr>
              <a:t>which can influence the need to take a vehicle to an external repairer for work:</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Complexity of the job – simple jobs may be done in-house but the more difficult work tends to be outsourced</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Terms of warranties and guarantees – in order to maintain the protection/coverage provided by some warranties and guarantees there can be a need for specified work to be done by ‘authorised dealers or agents’</a:t>
            </a:r>
          </a:p>
          <a:p>
            <a:pPr marL="171450" indent="-171450">
              <a:buFont typeface="Arial" pitchFamily="34" charset="0"/>
              <a:buChar char="•"/>
            </a:pPr>
            <a:r>
              <a:rPr lang="en-AU" sz="1200" kern="1200" dirty="0" smtClean="0">
                <a:solidFill>
                  <a:schemeClr val="tx1"/>
                </a:solidFill>
                <a:latin typeface="+mn-lt"/>
                <a:ea typeface="+mn-ea"/>
                <a:cs typeface="+mn-cs"/>
              </a:rPr>
              <a:t>Tools and equipment available – where specialist tools and equipment are required for work it can be more economical to get outside businesses to do the job</a:t>
            </a:r>
          </a:p>
          <a:p>
            <a:pPr marL="171450" indent="-171450">
              <a:buFont typeface="Arial" pitchFamily="34" charset="0"/>
              <a:buChar char="•"/>
            </a:pPr>
            <a:r>
              <a:rPr lang="en-AU" sz="1200" kern="1200" dirty="0" smtClean="0">
                <a:solidFill>
                  <a:schemeClr val="tx1"/>
                </a:solidFill>
                <a:latin typeface="+mn-lt"/>
                <a:ea typeface="+mn-ea"/>
                <a:cs typeface="+mn-cs"/>
              </a:rPr>
              <a:t>Expertise – there will just be some jobs where organisational personnel have no experience and no real idea of what to do so there is an obvious imperative for the work to be done by experienced professionals.</a:t>
            </a:r>
          </a:p>
          <a:p>
            <a:pPr>
              <a:buFont typeface="Arial" pitchFamily="34" charset="0"/>
              <a:buNone/>
            </a:pPr>
            <a:r>
              <a:rPr lang="en-AU" sz="1200" kern="1200" dirty="0" smtClean="0">
                <a:solidFill>
                  <a:schemeClr val="tx1"/>
                </a:solidFill>
                <a:latin typeface="+mn-lt"/>
                <a:ea typeface="+mn-ea"/>
                <a:cs typeface="+mn-cs"/>
              </a:rPr>
              <a:t> </a:t>
            </a: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213</a:t>
            </a:fld>
            <a:endParaRPr lang="en-US" dirty="0"/>
          </a:p>
        </p:txBody>
      </p:sp>
    </p:spTree>
    <p:extLst>
      <p:ext uri="{BB962C8B-B14F-4D97-AF65-F5344CB8AC3E}">
        <p14:creationId xmlns:p14="http://schemas.microsoft.com/office/powerpoint/2010/main" val="3521226202"/>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identifies steps in the process:</a:t>
            </a:r>
          </a:p>
          <a:p>
            <a:pPr marL="171450" indent="-171450">
              <a:buFont typeface="Arial" pitchFamily="34" charset="0"/>
              <a:buChar char="•"/>
            </a:pPr>
            <a:r>
              <a:rPr lang="en-AU" sz="1200" kern="1200" dirty="0" smtClean="0">
                <a:solidFill>
                  <a:schemeClr val="tx1"/>
                </a:solidFill>
                <a:latin typeface="+mn-lt"/>
                <a:ea typeface="+mn-ea"/>
                <a:cs typeface="+mn-cs"/>
              </a:rPr>
              <a:t>Notify management or administration – and:</a:t>
            </a:r>
          </a:p>
          <a:p>
            <a:pPr marL="628650" lvl="1" indent="-171450">
              <a:buFont typeface="Arial" pitchFamily="34" charset="0"/>
              <a:buChar char="•"/>
            </a:pPr>
            <a:r>
              <a:rPr lang="en-AU" sz="1200" kern="1200" dirty="0" smtClean="0">
                <a:solidFill>
                  <a:schemeClr val="tx1"/>
                </a:solidFill>
                <a:latin typeface="+mn-lt"/>
                <a:ea typeface="+mn-ea"/>
                <a:cs typeface="+mn-cs"/>
              </a:rPr>
              <a:t>Advise them of the situation and the reason for external service provision</a:t>
            </a:r>
          </a:p>
          <a:p>
            <a:pPr marL="628650" lvl="1" indent="-171450">
              <a:buFont typeface="Arial" pitchFamily="34" charset="0"/>
              <a:buChar char="•"/>
            </a:pPr>
            <a:r>
              <a:rPr lang="en-AU" sz="1200" kern="1200" dirty="0" smtClean="0">
                <a:solidFill>
                  <a:schemeClr val="tx1"/>
                </a:solidFill>
                <a:latin typeface="+mn-lt"/>
                <a:ea typeface="+mn-ea"/>
                <a:cs typeface="+mn-cs"/>
              </a:rPr>
              <a:t>Discuss known details of the work required</a:t>
            </a:r>
          </a:p>
          <a:p>
            <a:pPr marL="628650" lvl="1" indent="-171450">
              <a:buFont typeface="Arial" pitchFamily="34" charset="0"/>
              <a:buChar char="•"/>
            </a:pPr>
            <a:r>
              <a:rPr lang="en-AU" sz="1200" kern="1200" dirty="0" smtClean="0">
                <a:solidFill>
                  <a:schemeClr val="tx1"/>
                </a:solidFill>
                <a:latin typeface="+mn-lt"/>
                <a:ea typeface="+mn-ea"/>
                <a:cs typeface="+mn-cs"/>
              </a:rPr>
              <a:t>Give an estimate of cost, if known</a:t>
            </a:r>
          </a:p>
          <a:p>
            <a:pPr marL="628650" lvl="1" indent="-171450">
              <a:buFont typeface="Arial" pitchFamily="34" charset="0"/>
              <a:buChar char="•"/>
            </a:pPr>
            <a:r>
              <a:rPr lang="en-AU" sz="1200" kern="1200" dirty="0" smtClean="0">
                <a:solidFill>
                  <a:schemeClr val="tx1"/>
                </a:solidFill>
                <a:latin typeface="+mn-lt"/>
                <a:ea typeface="+mn-ea"/>
                <a:cs typeface="+mn-cs"/>
              </a:rPr>
              <a:t>Identify urgency of work that needs to be done</a:t>
            </a:r>
          </a:p>
          <a:p>
            <a:pPr marL="628650" lvl="1" indent="-171450">
              <a:buFont typeface="Arial" pitchFamily="34" charset="0"/>
              <a:buChar char="•"/>
            </a:pPr>
            <a:r>
              <a:rPr lang="en-AU" sz="1200" kern="1200" dirty="0" smtClean="0">
                <a:solidFill>
                  <a:schemeClr val="tx1"/>
                </a:solidFill>
                <a:latin typeface="+mn-lt"/>
                <a:ea typeface="+mn-ea"/>
                <a:cs typeface="+mn-cs"/>
              </a:rPr>
              <a:t>Tell them of any bookings/identified up-coming use for the vehicle</a:t>
            </a:r>
          </a:p>
          <a:p>
            <a:pPr marL="628650" lvl="1" indent="-171450">
              <a:buFont typeface="Arial" pitchFamily="34" charset="0"/>
              <a:buChar char="•"/>
            </a:pPr>
            <a:r>
              <a:rPr lang="en-AU" sz="1200" kern="1200" dirty="0" smtClean="0">
                <a:solidFill>
                  <a:schemeClr val="tx1"/>
                </a:solidFill>
                <a:latin typeface="+mn-lt"/>
                <a:ea typeface="+mn-ea"/>
                <a:cs typeface="+mn-cs"/>
              </a:rPr>
              <a:t>Determine if quotations are required – and if so, how many</a:t>
            </a:r>
          </a:p>
          <a:p>
            <a:pPr marL="628650" lvl="1" indent="-171450">
              <a:buFont typeface="Arial" pitchFamily="34" charset="0"/>
              <a:buChar char="•"/>
            </a:pPr>
            <a:r>
              <a:rPr lang="en-AU" sz="1200" kern="1200" dirty="0" smtClean="0">
                <a:solidFill>
                  <a:schemeClr val="tx1"/>
                </a:solidFill>
                <a:latin typeface="+mn-lt"/>
                <a:ea typeface="+mn-ea"/>
                <a:cs typeface="+mn-cs"/>
              </a:rPr>
              <a:t>Seek and obtain formal approval to proceed </a:t>
            </a:r>
          </a:p>
          <a:p>
            <a:pPr marL="171450" indent="-171450">
              <a:buFont typeface="Arial" pitchFamily="34" charset="0"/>
              <a:buChar char="•"/>
            </a:pPr>
            <a:r>
              <a:rPr lang="en-AU" sz="1200" kern="1200" dirty="0" smtClean="0">
                <a:solidFill>
                  <a:schemeClr val="tx1"/>
                </a:solidFill>
                <a:latin typeface="+mn-lt"/>
                <a:ea typeface="+mn-ea"/>
                <a:cs typeface="+mn-cs"/>
              </a:rPr>
              <a:t>Identify the relevant repairer/s – this may be:</a:t>
            </a:r>
          </a:p>
          <a:p>
            <a:pPr marL="628650" lvl="1" indent="-171450">
              <a:buFont typeface="Arial" pitchFamily="34" charset="0"/>
              <a:buChar char="•"/>
            </a:pPr>
            <a:r>
              <a:rPr lang="en-AU" sz="1200" kern="1200" dirty="0" smtClean="0">
                <a:solidFill>
                  <a:schemeClr val="tx1"/>
                </a:solidFill>
                <a:latin typeface="+mn-lt"/>
                <a:ea typeface="+mn-ea"/>
                <a:cs typeface="+mn-cs"/>
              </a:rPr>
              <a:t>The organisation from which the vehicle was purchased</a:t>
            </a:r>
          </a:p>
          <a:p>
            <a:pPr marL="628650" lvl="1" indent="-171450">
              <a:buFont typeface="Arial" pitchFamily="34" charset="0"/>
              <a:buChar char="•"/>
            </a:pPr>
            <a:r>
              <a:rPr lang="en-AU" sz="1200" kern="1200" dirty="0" smtClean="0">
                <a:solidFill>
                  <a:schemeClr val="tx1"/>
                </a:solidFill>
                <a:latin typeface="+mn-lt"/>
                <a:ea typeface="+mn-ea"/>
                <a:cs typeface="+mn-cs"/>
              </a:rPr>
              <a:t>The authorised dealer for the make</a:t>
            </a:r>
          </a:p>
          <a:p>
            <a:pPr marL="628650" lvl="1" indent="-171450">
              <a:buFont typeface="Arial" pitchFamily="34" charset="0"/>
              <a:buChar char="•"/>
            </a:pPr>
            <a:r>
              <a:rPr lang="en-AU" sz="1200" kern="1200" dirty="0" smtClean="0">
                <a:solidFill>
                  <a:schemeClr val="tx1"/>
                </a:solidFill>
                <a:latin typeface="+mn-lt"/>
                <a:ea typeface="+mn-ea"/>
                <a:cs typeface="+mn-cs"/>
              </a:rPr>
              <a:t>The preferred service provider as determined by the business</a:t>
            </a:r>
          </a:p>
          <a:p>
            <a:pPr marL="628650" lvl="1" indent="-171450">
              <a:buFont typeface="Arial" pitchFamily="34" charset="0"/>
              <a:buChar char="•"/>
            </a:pPr>
            <a:r>
              <a:rPr lang="en-AU" sz="1200" kern="1200" dirty="0" smtClean="0">
                <a:solidFill>
                  <a:schemeClr val="tx1"/>
                </a:solidFill>
                <a:latin typeface="+mn-lt"/>
                <a:ea typeface="+mn-ea"/>
                <a:cs typeface="+mn-cs"/>
              </a:rPr>
              <a:t>An approved repairer as designated by a recognised motoring body or insurer</a:t>
            </a:r>
          </a:p>
          <a:p>
            <a:pPr marL="171450" indent="-171450">
              <a:buFont typeface="Arial" pitchFamily="34" charset="0"/>
              <a:buChar char="•"/>
            </a:pPr>
            <a:r>
              <a:rPr lang="en-AU" sz="1200" kern="1200" dirty="0" smtClean="0">
                <a:solidFill>
                  <a:schemeClr val="tx1"/>
                </a:solidFill>
                <a:latin typeface="+mn-lt"/>
                <a:ea typeface="+mn-ea"/>
                <a:cs typeface="+mn-cs"/>
              </a:rPr>
              <a:t>Speak to the selected provider/s by phone or in person – and:</a:t>
            </a:r>
          </a:p>
          <a:p>
            <a:pPr marL="628650" lvl="1" indent="-171450">
              <a:buFont typeface="Arial" pitchFamily="34" charset="0"/>
              <a:buChar char="•"/>
            </a:pPr>
            <a:r>
              <a:rPr lang="en-US" sz="1200" kern="1200" dirty="0" smtClean="0">
                <a:solidFill>
                  <a:schemeClr val="tx1"/>
                </a:solidFill>
                <a:latin typeface="+mn-lt"/>
                <a:ea typeface="+mn-ea"/>
                <a:cs typeface="+mn-cs"/>
              </a:rPr>
              <a:t>Advise of the nature and extent of work required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Explain urgency of work required and need for vehicle to be returned to service by given date, if applicable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Take the vehicle in to the business, if possible or required – for them to see/inspect</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Request quotation for the work to be done – if necessary.</a:t>
            </a:r>
            <a:endParaRPr lang="en-AU" sz="1200" kern="1200" dirty="0" smtClean="0">
              <a:solidFill>
                <a:schemeClr val="tx1"/>
              </a:solidFill>
              <a:latin typeface="+mn-lt"/>
              <a:ea typeface="+mn-ea"/>
              <a:cs typeface="+mn-cs"/>
            </a:endParaRPr>
          </a:p>
          <a:p>
            <a:pPr>
              <a:buFont typeface="Arial" pitchFamily="34" charset="0"/>
              <a:buChar char="•"/>
            </a:pPr>
            <a:endParaRPr lang="en-AU" sz="1200" kern="1200" dirty="0" smtClean="0">
              <a:solidFill>
                <a:schemeClr val="tx1"/>
              </a:solidFill>
              <a:latin typeface="+mn-lt"/>
              <a:ea typeface="+mn-ea"/>
              <a:cs typeface="+mn-cs"/>
            </a:endParaRPr>
          </a:p>
          <a:p>
            <a:pPr>
              <a:buFont typeface="Arial" pitchFamily="34" charset="0"/>
              <a:buChar char="•"/>
            </a:pPr>
            <a:endParaRPr lang="en-US"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214</a:t>
            </a:fld>
            <a:endParaRPr lang="en-US" dirty="0"/>
          </a:p>
        </p:txBody>
      </p:sp>
    </p:spTree>
    <p:extLst>
      <p:ext uri="{BB962C8B-B14F-4D97-AF65-F5344CB8AC3E}">
        <p14:creationId xmlns:p14="http://schemas.microsoft.com/office/powerpoint/2010/main" val="3493339646"/>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identifying steps in the process:</a:t>
            </a:r>
          </a:p>
          <a:p>
            <a:pPr marL="171450" indent="-171450">
              <a:buFont typeface="Arial" pitchFamily="34" charset="0"/>
              <a:buChar char="•"/>
            </a:pPr>
            <a:r>
              <a:rPr lang="en-AU" sz="1200" kern="1200" dirty="0" smtClean="0">
                <a:solidFill>
                  <a:schemeClr val="tx1"/>
                </a:solidFill>
                <a:latin typeface="+mn-lt"/>
                <a:ea typeface="+mn-ea"/>
                <a:cs typeface="+mn-cs"/>
              </a:rPr>
              <a:t>Schedule the work – to: </a:t>
            </a:r>
          </a:p>
          <a:p>
            <a:pPr marL="628650" lvl="1" indent="-171450">
              <a:buFont typeface="Arial" pitchFamily="34" charset="0"/>
              <a:buChar char="•"/>
            </a:pPr>
            <a:r>
              <a:rPr lang="en-US" sz="1200" kern="1200" dirty="0" smtClean="0">
                <a:solidFill>
                  <a:schemeClr val="tx1"/>
                </a:solidFill>
                <a:latin typeface="+mn-lt"/>
                <a:ea typeface="+mn-ea"/>
                <a:cs typeface="+mn-cs"/>
              </a:rPr>
              <a:t>Best integrate repairs with any other work to be done – so as to minimise down-time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Maintain vehicle ‘in service’ for maximum time – providing it is safe to do so</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Make a booking for the work to be done – with the chosen provider which may be chosen based on:</a:t>
            </a:r>
          </a:p>
          <a:p>
            <a:pPr marL="628650" lvl="1" indent="-171450">
              <a:buFont typeface="Arial" pitchFamily="34" charset="0"/>
              <a:buChar char="•"/>
            </a:pPr>
            <a:r>
              <a:rPr lang="en-US" sz="1200" kern="1200" dirty="0" smtClean="0">
                <a:solidFill>
                  <a:schemeClr val="tx1"/>
                </a:solidFill>
                <a:latin typeface="+mn-lt"/>
                <a:ea typeface="+mn-ea"/>
                <a:cs typeface="+mn-cs"/>
              </a:rPr>
              <a:t>Quotation received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Ability to perform the work by required date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Previous experience with the business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Direction from management, warranty/guarantee or insurer </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Take necessary other action – which may entail:</a:t>
            </a:r>
          </a:p>
          <a:p>
            <a:pPr marL="628650" lvl="1" indent="-171450">
              <a:buFont typeface="Arial" pitchFamily="34" charset="0"/>
              <a:buChar char="•"/>
            </a:pPr>
            <a:r>
              <a:rPr lang="en-US" sz="1200" kern="1200" dirty="0" smtClean="0">
                <a:solidFill>
                  <a:schemeClr val="tx1"/>
                </a:solidFill>
                <a:latin typeface="+mn-lt"/>
                <a:ea typeface="+mn-ea"/>
                <a:cs typeface="+mn-cs"/>
              </a:rPr>
              <a:t>Ensuring vehicle is not used until the required repairs have been completed, where safety is a concern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Re-arranging vehicle usage sheets to accommodate absence of the vehicle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Hiring/renting another vehicle to replace the one being repaired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Advising known vehicle users of changes made.</a:t>
            </a:r>
            <a:endParaRPr lang="en-AU" sz="1200" kern="1200" dirty="0" smtClean="0">
              <a:solidFill>
                <a:schemeClr val="tx1"/>
              </a:solidFill>
              <a:latin typeface="+mn-lt"/>
              <a:ea typeface="+mn-ea"/>
              <a:cs typeface="+mn-cs"/>
            </a:endParaRPr>
          </a:p>
          <a:p>
            <a:pPr>
              <a:buFont typeface="Arial" pitchFamily="34" charset="0"/>
              <a:buChar char="•"/>
            </a:pPr>
            <a:endParaRPr lang="en-US" noProof="0" dirty="0" smtClean="0"/>
          </a:p>
          <a:p>
            <a:pPr>
              <a:buFont typeface="Arial" pitchFamily="34" charset="0"/>
              <a:buChar char="•"/>
            </a:pPr>
            <a:endParaRPr lang="en-US"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215</a:t>
            </a:fld>
            <a:endParaRPr lang="en-US" dirty="0"/>
          </a:p>
        </p:txBody>
      </p:sp>
    </p:spTree>
    <p:extLst>
      <p:ext uri="{BB962C8B-B14F-4D97-AF65-F5344CB8AC3E}">
        <p14:creationId xmlns:p14="http://schemas.microsoft.com/office/powerpoint/2010/main" val="943906359"/>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refreshes previous safety information provided on earlier slides and then adds new information regarding:</a:t>
            </a:r>
          </a:p>
          <a:p>
            <a:pPr>
              <a:buFont typeface="Arial" pitchFamily="34" charset="0"/>
              <a:buNone/>
            </a:pPr>
            <a:r>
              <a:rPr lang="en-US" sz="1200" kern="1200" noProof="0" dirty="0" smtClean="0">
                <a:solidFill>
                  <a:schemeClr val="tx1"/>
                </a:solidFill>
                <a:latin typeface="+mn-lt"/>
                <a:ea typeface="+mn-ea"/>
                <a:cs typeface="+mn-cs"/>
              </a:rPr>
              <a:t>Safety signage observing </a:t>
            </a:r>
            <a:r>
              <a:rPr lang="en-AU" sz="1200" kern="1200" dirty="0" smtClean="0">
                <a:solidFill>
                  <a:schemeClr val="tx1"/>
                </a:solidFill>
                <a:latin typeface="+mn-lt"/>
                <a:ea typeface="+mn-ea"/>
                <a:cs typeface="+mn-cs"/>
              </a:rPr>
              <a:t>safety signs are usually international in shape and colour:</a:t>
            </a:r>
          </a:p>
          <a:p>
            <a:pPr marL="171450" indent="-171450">
              <a:buFont typeface="Arial" pitchFamily="34" charset="0"/>
              <a:buChar char="•"/>
            </a:pPr>
            <a:r>
              <a:rPr lang="en-AU" sz="1200" kern="1200" dirty="0" smtClean="0">
                <a:solidFill>
                  <a:schemeClr val="tx1"/>
                </a:solidFill>
                <a:latin typeface="+mn-lt"/>
                <a:ea typeface="+mn-ea"/>
                <a:cs typeface="+mn-cs"/>
              </a:rPr>
              <a:t>A red circle with a diagonal line indicates ’No’/’Do Not ... Smoke/Enter’ </a:t>
            </a:r>
          </a:p>
          <a:p>
            <a:pPr marL="171450" indent="-171450">
              <a:buFont typeface="Arial" pitchFamily="34" charset="0"/>
              <a:buChar char="•"/>
            </a:pPr>
            <a:r>
              <a:rPr lang="en-AU" sz="1200" kern="1200" dirty="0" smtClean="0">
                <a:solidFill>
                  <a:schemeClr val="tx1"/>
                </a:solidFill>
                <a:latin typeface="+mn-lt"/>
                <a:ea typeface="+mn-ea"/>
                <a:cs typeface="+mn-cs"/>
              </a:rPr>
              <a:t>Blue indicates something must be done – such as wear hearing protection, boots, safety glasses</a:t>
            </a:r>
          </a:p>
          <a:p>
            <a:pPr marL="171450" indent="-171450">
              <a:buFont typeface="Arial" pitchFamily="34" charset="0"/>
              <a:buChar char="•"/>
            </a:pPr>
            <a:r>
              <a:rPr lang="en-AU" sz="1200" kern="1200" dirty="0" smtClean="0">
                <a:solidFill>
                  <a:schemeClr val="tx1"/>
                </a:solidFill>
                <a:latin typeface="+mn-lt"/>
                <a:ea typeface="+mn-ea"/>
                <a:cs typeface="+mn-cs"/>
              </a:rPr>
              <a:t>Yellow/orange is used for warning signs – be aware that …</a:t>
            </a:r>
          </a:p>
          <a:p>
            <a:pPr marL="171450" indent="-171450">
              <a:buFont typeface="Arial" pitchFamily="34" charset="0"/>
              <a:buChar char="•"/>
            </a:pPr>
            <a:r>
              <a:rPr lang="en-AU" sz="1200" kern="1200" dirty="0" smtClean="0">
                <a:solidFill>
                  <a:schemeClr val="tx1"/>
                </a:solidFill>
                <a:latin typeface="+mn-lt"/>
                <a:ea typeface="+mn-ea"/>
                <a:cs typeface="+mn-cs"/>
              </a:rPr>
              <a:t>Green is used for assistance and directional signage – showing the location of First Aid, Emergency exits </a:t>
            </a:r>
          </a:p>
          <a:p>
            <a:pPr marL="171450" indent="-171450">
              <a:buFont typeface="Arial" pitchFamily="34" charset="0"/>
              <a:buChar char="•"/>
            </a:pPr>
            <a:r>
              <a:rPr lang="en-AU" sz="1200" kern="1200" dirty="0" smtClean="0">
                <a:solidFill>
                  <a:schemeClr val="tx1"/>
                </a:solidFill>
                <a:latin typeface="+mn-lt"/>
                <a:ea typeface="+mn-ea"/>
                <a:cs typeface="+mn-cs"/>
              </a:rPr>
              <a:t>All red signs indicate fire equipment/exits.</a:t>
            </a:r>
          </a:p>
          <a:p>
            <a:pPr>
              <a:buFont typeface="Arial" pitchFamily="34" charset="0"/>
              <a:buNone/>
            </a:pPr>
            <a:endParaRPr lang="en-US" sz="1200" kern="1200" noProof="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216</a:t>
            </a:fld>
            <a:endParaRPr lang="en-US" dirty="0"/>
          </a:p>
        </p:txBody>
      </p:sp>
    </p:spTree>
    <p:extLst>
      <p:ext uri="{BB962C8B-B14F-4D97-AF65-F5344CB8AC3E}">
        <p14:creationId xmlns:p14="http://schemas.microsoft.com/office/powerpoint/2010/main" val="1381442506"/>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asks class to interpret signs:</a:t>
            </a:r>
          </a:p>
          <a:p>
            <a:pPr marL="628650" lvl="1" indent="-171450">
              <a:buFont typeface="Arial" pitchFamily="34" charset="0"/>
              <a:buChar char="•"/>
            </a:pPr>
            <a:r>
              <a:rPr lang="en-AU" sz="1200" kern="1200" dirty="0" smtClean="0">
                <a:solidFill>
                  <a:schemeClr val="tx1"/>
                </a:solidFill>
                <a:latin typeface="+mn-lt"/>
                <a:ea typeface="+mn-ea"/>
                <a:cs typeface="+mn-cs"/>
              </a:rPr>
              <a:t>Do not use cell phones in this area.</a:t>
            </a: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217</a:t>
            </a:fld>
            <a:endParaRPr lang="en-US" dirty="0"/>
          </a:p>
        </p:txBody>
      </p:sp>
    </p:spTree>
    <p:extLst>
      <p:ext uri="{BB962C8B-B14F-4D97-AF65-F5344CB8AC3E}">
        <p14:creationId xmlns:p14="http://schemas.microsoft.com/office/powerpoint/2010/main" val="3007450110"/>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asks class to interpret signs:</a:t>
            </a:r>
          </a:p>
          <a:p>
            <a:pPr marL="628650" lvl="1" indent="-171450">
              <a:buFont typeface="Arial" pitchFamily="34" charset="0"/>
              <a:buChar char="•"/>
            </a:pPr>
            <a:r>
              <a:rPr lang="en-AU" sz="1200" kern="1200" dirty="0" smtClean="0">
                <a:solidFill>
                  <a:schemeClr val="tx1"/>
                </a:solidFill>
                <a:latin typeface="+mn-lt"/>
                <a:ea typeface="+mn-ea"/>
                <a:cs typeface="+mn-cs"/>
              </a:rPr>
              <a:t>No</a:t>
            </a:r>
            <a:r>
              <a:rPr lang="en-AU" sz="1200" kern="1200" baseline="0" dirty="0" smtClean="0">
                <a:solidFill>
                  <a:schemeClr val="tx1"/>
                </a:solidFill>
                <a:latin typeface="+mn-lt"/>
                <a:ea typeface="+mn-ea"/>
                <a:cs typeface="+mn-cs"/>
              </a:rPr>
              <a:t> smoking</a:t>
            </a: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218</a:t>
            </a:fld>
            <a:endParaRPr lang="en-US" dirty="0"/>
          </a:p>
        </p:txBody>
      </p:sp>
    </p:spTree>
    <p:extLst>
      <p:ext uri="{BB962C8B-B14F-4D97-AF65-F5344CB8AC3E}">
        <p14:creationId xmlns:p14="http://schemas.microsoft.com/office/powerpoint/2010/main" val="3153912173"/>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asks class to interpret signs:</a:t>
            </a:r>
          </a:p>
          <a:p>
            <a:pPr marL="628650" lvl="1" indent="-171450">
              <a:buFont typeface="Arial" pitchFamily="34" charset="0"/>
              <a:buChar char="•"/>
            </a:pPr>
            <a:r>
              <a:rPr lang="en-US" noProof="0" dirty="0" smtClean="0"/>
              <a:t>Be aware/Danger</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219</a:t>
            </a:fld>
            <a:endParaRPr lang="en-US" dirty="0"/>
          </a:p>
        </p:txBody>
      </p:sp>
    </p:spTree>
    <p:extLst>
      <p:ext uri="{BB962C8B-B14F-4D97-AF65-F5344CB8AC3E}">
        <p14:creationId xmlns:p14="http://schemas.microsoft.com/office/powerpoint/2010/main" val="2047916926"/>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asks class to interpret signs:</a:t>
            </a:r>
          </a:p>
          <a:p>
            <a:pPr marL="628650" lvl="1" indent="-171450">
              <a:buFont typeface="Arial" pitchFamily="34" charset="0"/>
              <a:buChar char="•"/>
            </a:pPr>
            <a:r>
              <a:rPr lang="en-US" noProof="0" dirty="0" smtClean="0"/>
              <a:t>Electrical risk</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220</a:t>
            </a:fld>
            <a:endParaRPr lang="en-US" dirty="0"/>
          </a:p>
        </p:txBody>
      </p:sp>
    </p:spTree>
    <p:extLst>
      <p:ext uri="{BB962C8B-B14F-4D97-AF65-F5344CB8AC3E}">
        <p14:creationId xmlns:p14="http://schemas.microsoft.com/office/powerpoint/2010/main" val="3891426221"/>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asks class to interpret signs:</a:t>
            </a:r>
          </a:p>
          <a:p>
            <a:pPr marL="628650" lvl="1" indent="-171450">
              <a:buFont typeface="Arial" pitchFamily="34" charset="0"/>
              <a:buChar char="•"/>
            </a:pPr>
            <a:r>
              <a:rPr lang="en-US" noProof="0" dirty="0" smtClean="0"/>
              <a:t>Location of eye wash station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221</a:t>
            </a:fld>
            <a:endParaRPr lang="en-US" dirty="0"/>
          </a:p>
        </p:txBody>
      </p:sp>
    </p:spTree>
    <p:extLst>
      <p:ext uri="{BB962C8B-B14F-4D97-AF65-F5344CB8AC3E}">
        <p14:creationId xmlns:p14="http://schemas.microsoft.com/office/powerpoint/2010/main" val="797393599"/>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asks class to interpret signs:</a:t>
            </a:r>
          </a:p>
          <a:p>
            <a:pPr marL="628650" lvl="1" indent="-171450">
              <a:buFont typeface="Arial" pitchFamily="34" charset="0"/>
              <a:buChar char="•"/>
            </a:pPr>
            <a:r>
              <a:rPr lang="en-US" noProof="0" dirty="0" smtClean="0"/>
              <a:t>Location of first aid kit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222</a:t>
            </a:fld>
            <a:endParaRPr lang="en-US" dirty="0"/>
          </a:p>
        </p:txBody>
      </p:sp>
    </p:spTree>
    <p:extLst>
      <p:ext uri="{BB962C8B-B14F-4D97-AF65-F5344CB8AC3E}">
        <p14:creationId xmlns:p14="http://schemas.microsoft.com/office/powerpoint/2010/main" val="3130256920"/>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asks class to interpret signs:</a:t>
            </a:r>
          </a:p>
          <a:p>
            <a:pPr marL="628650" lvl="1" indent="-171450">
              <a:buFont typeface="Arial" pitchFamily="34" charset="0"/>
              <a:buChar char="•"/>
            </a:pPr>
            <a:r>
              <a:rPr lang="en-US" noProof="0" dirty="0" smtClean="0"/>
              <a:t>Location of fire hose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223</a:t>
            </a:fld>
            <a:endParaRPr lang="en-US" dirty="0"/>
          </a:p>
        </p:txBody>
      </p:sp>
    </p:spTree>
    <p:extLst>
      <p:ext uri="{BB962C8B-B14F-4D97-AF65-F5344CB8AC3E}">
        <p14:creationId xmlns:p14="http://schemas.microsoft.com/office/powerpoint/2010/main" val="35371653"/>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asks class to interpret signs:</a:t>
            </a:r>
          </a:p>
          <a:p>
            <a:pPr marL="628650" lvl="1" indent="-171450">
              <a:buFont typeface="Arial" pitchFamily="34" charset="0"/>
              <a:buChar char="•"/>
            </a:pPr>
            <a:r>
              <a:rPr lang="en-US" noProof="0" dirty="0" smtClean="0"/>
              <a:t>Location of fire alarm</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224</a:t>
            </a:fld>
            <a:endParaRPr lang="en-US" dirty="0"/>
          </a:p>
        </p:txBody>
      </p:sp>
    </p:spTree>
    <p:extLst>
      <p:ext uri="{BB962C8B-B14F-4D97-AF65-F5344CB8AC3E}">
        <p14:creationId xmlns:p14="http://schemas.microsoft.com/office/powerpoint/2010/main" val="2542553951"/>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asks class to interpret signs:</a:t>
            </a:r>
          </a:p>
          <a:p>
            <a:pPr marL="628650" lvl="1" indent="-171450">
              <a:buFont typeface="Arial" pitchFamily="34" charset="0"/>
              <a:buChar char="•"/>
            </a:pPr>
            <a:r>
              <a:rPr lang="en-US" noProof="0" dirty="0" smtClean="0"/>
              <a:t>Location of fire extinguisher</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225</a:t>
            </a:fld>
            <a:endParaRPr lang="en-US" dirty="0"/>
          </a:p>
        </p:txBody>
      </p:sp>
    </p:spTree>
    <p:extLst>
      <p:ext uri="{BB962C8B-B14F-4D97-AF65-F5344CB8AC3E}">
        <p14:creationId xmlns:p14="http://schemas.microsoft.com/office/powerpoint/2010/main" val="3070731379"/>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identifies times when there is a need to comply</a:t>
            </a:r>
            <a:r>
              <a:rPr lang="en-US" baseline="0" noProof="0" dirty="0" smtClean="0"/>
              <a:t> with manufacturer’s instructions:</a:t>
            </a:r>
          </a:p>
          <a:p>
            <a:pPr marL="171450" indent="-171450">
              <a:buFont typeface="Arial" pitchFamily="34" charset="0"/>
              <a:buChar char="•"/>
            </a:pPr>
            <a:r>
              <a:rPr lang="en-AU" sz="1200" kern="1200" dirty="0" smtClean="0">
                <a:solidFill>
                  <a:schemeClr val="tx1"/>
                </a:solidFill>
                <a:latin typeface="+mn-lt"/>
                <a:ea typeface="+mn-ea"/>
                <a:cs typeface="+mn-cs"/>
              </a:rPr>
              <a:t>Prior to using the item – to:</a:t>
            </a:r>
          </a:p>
          <a:p>
            <a:pPr marL="628650" lvl="1" indent="-171450">
              <a:buFont typeface="Arial" pitchFamily="34" charset="0"/>
              <a:buChar char="•"/>
            </a:pPr>
            <a:r>
              <a:rPr lang="en-US" sz="1200" kern="1200" dirty="0" smtClean="0">
                <a:solidFill>
                  <a:schemeClr val="tx1"/>
                </a:solidFill>
                <a:latin typeface="+mn-lt"/>
                <a:ea typeface="+mn-ea"/>
                <a:cs typeface="+mn-cs"/>
              </a:rPr>
              <a:t>Check it is safe to use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Verify all parts of the item are present</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When actually using the equipment for its intended purposes – by ensuring workers:</a:t>
            </a:r>
          </a:p>
          <a:p>
            <a:pPr marL="628650" lvl="1" indent="-171450">
              <a:buFont typeface="Arial" pitchFamily="34" charset="0"/>
              <a:buChar char="•"/>
            </a:pPr>
            <a:r>
              <a:rPr lang="en-US" sz="1200" kern="1200" dirty="0" smtClean="0">
                <a:solidFill>
                  <a:schemeClr val="tx1"/>
                </a:solidFill>
                <a:latin typeface="+mn-lt"/>
                <a:ea typeface="+mn-ea"/>
                <a:cs typeface="+mn-cs"/>
              </a:rPr>
              <a:t>Do not exceed load levels, pressures, speed, temperature, run times etc</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Never use the item for a task it was not intended/designed for</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Use/wear the necessary PPE – where/if applicable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Use the correct attachments/tools for the different actions the equipment is being asked to perform</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After using the equipment – by: </a:t>
            </a:r>
          </a:p>
          <a:p>
            <a:pPr marL="628650" lvl="1" indent="-171450">
              <a:buFont typeface="Arial" pitchFamily="34" charset="0"/>
              <a:buChar char="•"/>
            </a:pPr>
            <a:r>
              <a:rPr lang="en-US" sz="1200" kern="1200" dirty="0" smtClean="0">
                <a:solidFill>
                  <a:schemeClr val="tx1"/>
                </a:solidFill>
                <a:latin typeface="+mn-lt"/>
                <a:ea typeface="+mn-ea"/>
                <a:cs typeface="+mn-cs"/>
              </a:rPr>
              <a:t>Cleaning the item as required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Storing/stowing the equipment</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Maintaining the equipment – by:</a:t>
            </a:r>
          </a:p>
          <a:p>
            <a:pPr marL="628650" lvl="1" indent="-171450">
              <a:buFont typeface="Arial" pitchFamily="34" charset="0"/>
              <a:buChar char="•"/>
            </a:pPr>
            <a:r>
              <a:rPr lang="en-US" sz="1200" kern="1200" dirty="0" smtClean="0">
                <a:solidFill>
                  <a:schemeClr val="tx1"/>
                </a:solidFill>
                <a:latin typeface="+mn-lt"/>
                <a:ea typeface="+mn-ea"/>
                <a:cs typeface="+mn-cs"/>
              </a:rPr>
              <a:t>Providing service as set out in the instructions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Changing/replacing parts (filters, O-rings, springs, spacers and other components as identified) at designated times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Only having repairs to nominated tools and equipment undertaken by qualified and authorised service technicians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Using only genuine parts for service.</a:t>
            </a:r>
            <a:endParaRPr lang="en-AU" sz="1200" kern="1200" dirty="0" smtClean="0">
              <a:solidFill>
                <a:schemeClr val="tx1"/>
              </a:solidFill>
              <a:latin typeface="+mn-lt"/>
              <a:ea typeface="+mn-ea"/>
              <a:cs typeface="+mn-cs"/>
            </a:endParaRPr>
          </a:p>
          <a:p>
            <a:pPr>
              <a:buFont typeface="Arial" pitchFamily="34" charset="0"/>
              <a:buChar char="•"/>
            </a:pPr>
            <a:endParaRPr lang="en-US" baseline="0" noProof="0" dirty="0" smtClean="0"/>
          </a:p>
          <a:p>
            <a:pPr>
              <a:buFont typeface="Arial" pitchFamily="34" charset="0"/>
              <a:buChar char="•"/>
            </a:pPr>
            <a:endParaRPr lang="en-AU" sz="1200" kern="1200" dirty="0" smtClean="0">
              <a:solidFill>
                <a:schemeClr val="tx1"/>
              </a:solidFill>
              <a:latin typeface="+mn-lt"/>
              <a:ea typeface="+mn-ea"/>
              <a:cs typeface="+mn-cs"/>
            </a:endParaRPr>
          </a:p>
          <a:p>
            <a:pPr>
              <a:buFont typeface="Arial" pitchFamily="34" charset="0"/>
              <a:buChar char="•"/>
            </a:pPr>
            <a:endParaRPr lang="en-US"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226</a:t>
            </a:fld>
            <a:endParaRPr lang="en-US" dirty="0"/>
          </a:p>
        </p:txBody>
      </p:sp>
    </p:spTree>
    <p:extLst>
      <p:ext uri="{BB962C8B-B14F-4D97-AF65-F5344CB8AC3E}">
        <p14:creationId xmlns:p14="http://schemas.microsoft.com/office/powerpoint/2010/main" val="2152232985"/>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presents keys in following manufacturer’s instructions:</a:t>
            </a:r>
          </a:p>
          <a:p>
            <a:pPr marL="171450" indent="-171450">
              <a:buFont typeface="Arial" pitchFamily="34" charset="0"/>
              <a:buChar char="•"/>
            </a:pPr>
            <a:r>
              <a:rPr lang="en-AU" sz="1200" kern="1200" dirty="0" smtClean="0">
                <a:solidFill>
                  <a:schemeClr val="tx1"/>
                </a:solidFill>
                <a:latin typeface="+mn-lt"/>
                <a:ea typeface="+mn-ea"/>
                <a:cs typeface="+mn-cs"/>
              </a:rPr>
              <a:t>Obtain a copy of the manufacturer’s instructions – by:</a:t>
            </a:r>
          </a:p>
          <a:p>
            <a:pPr marL="628650" lvl="1" indent="-171450">
              <a:buFont typeface="Arial" pitchFamily="34" charset="0"/>
              <a:buChar char="•"/>
            </a:pPr>
            <a:r>
              <a:rPr lang="en-US" sz="1200" kern="1200" dirty="0" smtClean="0">
                <a:solidFill>
                  <a:schemeClr val="tx1"/>
                </a:solidFill>
                <a:latin typeface="+mn-lt"/>
                <a:ea typeface="+mn-ea"/>
                <a:cs typeface="+mn-cs"/>
              </a:rPr>
              <a:t>Contacting supervisor and requesting a copy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Talking to the Purchasing Officer at the workplace – they often remove instructions from the item when it is delivered and keep them on file for future reference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Speaking to the training department – as they often have these instructions for training purposes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Contacting the manufacturer and asking for a copy – ring the supplier, or speak to the representative and ask them to forward a copy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Going on the internet and visiting the website of the manufacturer – many businesses provide operating instructions for free download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Looking on the intranet – the employer may have loaded the instructions onto a section called ‘Manufacturer’s instructions’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AU" sz="1200" kern="1200" dirty="0" smtClean="0">
                <a:solidFill>
                  <a:schemeClr val="tx1"/>
                </a:solidFill>
                <a:latin typeface="+mn-lt"/>
                <a:ea typeface="+mn-ea"/>
                <a:cs typeface="+mn-cs"/>
              </a:rPr>
              <a:t>Photocopy the instructions so there is a spare copy</a:t>
            </a:r>
          </a:p>
          <a:p>
            <a:pPr marL="171450" indent="-171450">
              <a:buFont typeface="Arial" pitchFamily="34" charset="0"/>
              <a:buChar char="•"/>
            </a:pPr>
            <a:r>
              <a:rPr lang="en-AU" sz="1200" kern="1200" dirty="0" smtClean="0">
                <a:solidFill>
                  <a:schemeClr val="tx1"/>
                </a:solidFill>
                <a:latin typeface="+mn-lt"/>
                <a:ea typeface="+mn-ea"/>
                <a:cs typeface="+mn-cs"/>
              </a:rPr>
              <a:t>Read the instructions – and ensure understanding of them: ask questions where necessary to clarify ambiguities</a:t>
            </a:r>
          </a:p>
          <a:p>
            <a:pPr marL="171450" indent="-171450">
              <a:buFont typeface="Arial" pitchFamily="34" charset="0"/>
              <a:buChar char="•"/>
            </a:pPr>
            <a:r>
              <a:rPr lang="en-AU" sz="1200" kern="1200" dirty="0" smtClean="0">
                <a:solidFill>
                  <a:schemeClr val="tx1"/>
                </a:solidFill>
                <a:latin typeface="+mn-lt"/>
                <a:ea typeface="+mn-ea"/>
                <a:cs typeface="+mn-cs"/>
              </a:rPr>
              <a:t>Use equipment as instructed – which means avoiding taking short-cuts and/or avoiding the belief a better way of doing things has been found</a:t>
            </a:r>
          </a:p>
          <a:p>
            <a:pPr marL="171450" indent="-171450">
              <a:buFont typeface="Arial" pitchFamily="34" charset="0"/>
              <a:buChar char="•"/>
            </a:pPr>
            <a:r>
              <a:rPr lang="en-AU" sz="1200" kern="1200" dirty="0" smtClean="0">
                <a:solidFill>
                  <a:schemeClr val="tx1"/>
                </a:solidFill>
                <a:latin typeface="+mn-lt"/>
                <a:ea typeface="+mn-ea"/>
                <a:cs typeface="+mn-cs"/>
              </a:rPr>
              <a:t>Stop using the item immediately a problem has been detected – unusual vibration, strange smell, different noise.</a:t>
            </a:r>
          </a:p>
          <a:p>
            <a:pPr>
              <a:buFont typeface="Arial" pitchFamily="34" charset="0"/>
              <a:buChar char="•"/>
            </a:pPr>
            <a:endParaRPr lang="en-AU" sz="1200" kern="1200" dirty="0" smtClean="0">
              <a:solidFill>
                <a:schemeClr val="tx1"/>
              </a:solidFill>
              <a:latin typeface="+mn-lt"/>
              <a:ea typeface="+mn-ea"/>
              <a:cs typeface="+mn-cs"/>
            </a:endParaRPr>
          </a:p>
          <a:p>
            <a:pPr>
              <a:buFont typeface="Arial" pitchFamily="34" charset="0"/>
              <a:buChar char="•"/>
            </a:pPr>
            <a:endParaRPr lang="en-US"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227</a:t>
            </a:fld>
            <a:endParaRPr lang="en-US" dirty="0"/>
          </a:p>
        </p:txBody>
      </p:sp>
    </p:spTree>
    <p:extLst>
      <p:ext uri="{BB962C8B-B14F-4D97-AF65-F5344CB8AC3E}">
        <p14:creationId xmlns:p14="http://schemas.microsoft.com/office/powerpoint/2010/main" val="56974212"/>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a:buFont typeface="Arial" pitchFamily="34" charset="0"/>
              <a:buNone/>
            </a:pPr>
            <a:r>
              <a:rPr lang="en-US" noProof="0" dirty="0" smtClean="0"/>
              <a:t>Trainer introduces safety signage regarding chemicals asking students to identify signs on slide</a:t>
            </a:r>
          </a:p>
          <a:p>
            <a:r>
              <a:rPr lang="en-AU" sz="1200" b="1" kern="1200" dirty="0" smtClean="0">
                <a:solidFill>
                  <a:schemeClr val="tx1"/>
                </a:solidFill>
                <a:latin typeface="+mn-lt"/>
                <a:ea typeface="+mn-ea"/>
                <a:cs typeface="+mn-cs"/>
              </a:rPr>
              <a:t>Globally Harmonised System of Classification and Labelling of Chemicals (GHS)</a:t>
            </a:r>
          </a:p>
          <a:p>
            <a:r>
              <a:rPr lang="en-AU" sz="1200" b="1" i="1" kern="1200" dirty="0" smtClean="0">
                <a:solidFill>
                  <a:schemeClr val="tx1"/>
                </a:solidFill>
                <a:latin typeface="+mn-lt"/>
                <a:ea typeface="+mn-ea"/>
                <a:cs typeface="+mn-cs"/>
              </a:rPr>
              <a:t>Background</a:t>
            </a:r>
            <a:endParaRPr lang="en-AU" sz="1200" b="1"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The Globally Harmonised System of Classification and Labelling of Chemicals (GHS) is a United Nations (UN)-developed system for chemical classification and hazard communication through harmonized provisions for standardized labels and safety data sheets (SDS). It is developed from various existing systems in the US, EU, Canada, and from the UN’s own research and study of universal standards.</a:t>
            </a:r>
          </a:p>
          <a:p>
            <a:r>
              <a:rPr lang="en-AU" sz="1200" kern="1200" dirty="0" smtClean="0">
                <a:solidFill>
                  <a:schemeClr val="tx1"/>
                </a:solidFill>
                <a:latin typeface="+mn-lt"/>
                <a:ea typeface="+mn-ea"/>
                <a:cs typeface="+mn-cs"/>
              </a:rPr>
              <a:t>The GHS was endorsed by the UN World Summit for Sustainable Development in 2002. At the 14th APEC Ministerial Meeting in Oct 2002, APEC Trade Ministers also set its stamp of approval on the GHS for APEC-wide implementation by 2006. This target date was rescheduled to 2008 at the APEC Chemical Dialogue meeting in 2006.</a:t>
            </a:r>
          </a:p>
          <a:p>
            <a:r>
              <a:rPr lang="en-AU" sz="1200" b="1" i="1" kern="1200" dirty="0" smtClean="0">
                <a:solidFill>
                  <a:schemeClr val="tx1"/>
                </a:solidFill>
                <a:latin typeface="+mn-lt"/>
                <a:ea typeface="+mn-ea"/>
                <a:cs typeface="+mn-cs"/>
              </a:rPr>
              <a:t>GHS in a Nut Shell</a:t>
            </a:r>
            <a:endParaRPr lang="en-AU" sz="1200" b="1" kern="1200" dirty="0" smtClean="0">
              <a:solidFill>
                <a:schemeClr val="tx1"/>
              </a:solidFill>
              <a:latin typeface="+mn-lt"/>
              <a:ea typeface="+mn-ea"/>
              <a:cs typeface="+mn-cs"/>
            </a:endParaRPr>
          </a:p>
          <a:p>
            <a:r>
              <a:rPr lang="en-AU" sz="1200" b="0" kern="1200" dirty="0" smtClean="0">
                <a:solidFill>
                  <a:schemeClr val="tx1"/>
                </a:solidFill>
                <a:latin typeface="+mn-lt"/>
                <a:ea typeface="+mn-ea"/>
                <a:cs typeface="+mn-cs"/>
              </a:rPr>
              <a:t>The GHS is documented in the UN publication - GHS Document (commonly known as the “Purple Book”).</a:t>
            </a:r>
            <a:endParaRPr lang="en-AU" sz="1200" b="1"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The GHS is essentially a hazard communication system for identifying and conveying chemical hazards, and for providing information related to chemical hazards and their control and prevention.</a:t>
            </a:r>
          </a:p>
          <a:p>
            <a:r>
              <a:rPr lang="en-AU" sz="1200" kern="1200" dirty="0" smtClean="0">
                <a:solidFill>
                  <a:schemeClr val="tx1"/>
                </a:solidFill>
                <a:latin typeface="+mn-lt"/>
                <a:ea typeface="+mn-ea"/>
                <a:cs typeface="+mn-cs"/>
              </a:rPr>
              <a:t>The GHS requires chemicals to be classified based on their inherent properties or hazards and in accordance with certain classification criteria. The classified chemicals are assigned to a fixed set of GHS pictogram(s), signal word, hazard and precautionary statements.</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(1) – internet Research</a:t>
            </a:r>
          </a:p>
          <a:p>
            <a:pPr>
              <a:buFont typeface="Arial" pitchFamily="34" charset="0"/>
              <a:buNone/>
            </a:pPr>
            <a:r>
              <a:rPr lang="en-US" b="0" noProof="0" dirty="0" smtClean="0"/>
              <a:t>Trainer facilitates research and discussion of:</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u="sng" kern="1200" dirty="0" smtClean="0">
                <a:solidFill>
                  <a:schemeClr val="tx1"/>
                </a:solidFill>
                <a:latin typeface="+mn-lt"/>
                <a:ea typeface="+mn-ea"/>
                <a:cs typeface="+mn-cs"/>
                <a:hlinkClick r:id="rId3"/>
              </a:rPr>
              <a:t>http://www.unece.org/trans/danger/publi/ghs/implementation_e.html</a:t>
            </a:r>
            <a:r>
              <a:rPr lang="en-AU" sz="1200" kern="1200" dirty="0" smtClean="0">
                <a:solidFill>
                  <a:schemeClr val="tx1"/>
                </a:solidFill>
                <a:latin typeface="+mn-lt"/>
                <a:ea typeface="+mn-ea"/>
                <a:cs typeface="+mn-cs"/>
              </a:rPr>
              <a:t>.</a:t>
            </a:r>
          </a:p>
          <a:p>
            <a:pPr>
              <a:buFont typeface="Arial" pitchFamily="34" charset="0"/>
              <a:buNone/>
            </a:pPr>
            <a:r>
              <a:rPr lang="en-AU" sz="1200" b="0" u="sng" kern="1200" dirty="0" smtClean="0">
                <a:solidFill>
                  <a:schemeClr val="tx1"/>
                </a:solidFill>
                <a:latin typeface="+mn-lt"/>
                <a:ea typeface="+mn-ea"/>
                <a:cs typeface="+mn-cs"/>
                <a:hlinkClick r:id="rId4"/>
              </a:rPr>
              <a:t>http://www.unece.org/trans/danger/publi/ghs/ghs_rev03/03files_e.html</a:t>
            </a:r>
            <a:endParaRPr lang="en-AU" sz="1200" b="0" u="sng" kern="1200" dirty="0" smtClean="0">
              <a:solidFill>
                <a:schemeClr val="tx1"/>
              </a:solidFill>
              <a:latin typeface="+mn-lt"/>
              <a:ea typeface="+mn-ea"/>
              <a:cs typeface="+mn-cs"/>
            </a:endParaRPr>
          </a:p>
          <a:p>
            <a:pPr>
              <a:buFont typeface="Arial" pitchFamily="34" charset="0"/>
              <a:buNone/>
            </a:pPr>
            <a:endParaRPr lang="en-AU" sz="1200" b="0" u="sng" kern="1200" noProof="0" dirty="0" smtClean="0">
              <a:solidFill>
                <a:schemeClr val="tx1"/>
              </a:solidFill>
              <a:latin typeface="+mn-lt"/>
              <a:ea typeface="+mn-ea"/>
              <a:cs typeface="+mn-cs"/>
            </a:endParaRPr>
          </a:p>
          <a:p>
            <a:pPr>
              <a:buFont typeface="Arial" pitchFamily="34" charset="0"/>
              <a:buNone/>
            </a:pPr>
            <a:r>
              <a:rPr lang="en-US" b="1" noProof="0" dirty="0" smtClean="0"/>
              <a:t>Classroom Activity (2) – Handout</a:t>
            </a:r>
          </a:p>
          <a:p>
            <a:pPr>
              <a:buFont typeface="Arial" pitchFamily="34" charset="0"/>
              <a:buNone/>
            </a:pPr>
            <a:r>
              <a:rPr lang="en-US" b="0" noProof="0" dirty="0" smtClean="0"/>
              <a:t>Trainer distributes and discusses examples of GHS Pictograms as presented in the Trainee Manual.</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228</a:t>
            </a:fld>
            <a:endParaRPr lang="en-US" dirty="0"/>
          </a:p>
        </p:txBody>
      </p:sp>
    </p:spTree>
    <p:extLst>
      <p:ext uri="{BB962C8B-B14F-4D97-AF65-F5344CB8AC3E}">
        <p14:creationId xmlns:p14="http://schemas.microsoft.com/office/powerpoint/2010/main" val="4180553125"/>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229</a:t>
            </a:fld>
            <a:endParaRPr lang="en-US" dirty="0"/>
          </a:p>
        </p:txBody>
      </p:sp>
    </p:spTree>
    <p:extLst>
      <p:ext uri="{BB962C8B-B14F-4D97-AF65-F5344CB8AC3E}">
        <p14:creationId xmlns:p14="http://schemas.microsoft.com/office/powerpoint/2010/main" val="2929897506"/>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230</a:t>
            </a:fld>
            <a:endParaRPr lang="en-US" dirty="0"/>
          </a:p>
        </p:txBody>
      </p:sp>
    </p:spTree>
    <p:extLst>
      <p:ext uri="{BB962C8B-B14F-4D97-AF65-F5344CB8AC3E}">
        <p14:creationId xmlns:p14="http://schemas.microsoft.com/office/powerpoint/2010/main" val="3940402564"/>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marL="171450" indent="-171450">
              <a:buFont typeface="Arial" pitchFamily="34" charset="0"/>
              <a:buChar char="•"/>
            </a:pPr>
            <a:r>
              <a:rPr lang="en-US" sz="1200" kern="1200" baseline="0" dirty="0" smtClean="0">
                <a:solidFill>
                  <a:schemeClr val="tx1"/>
                </a:solidFill>
                <a:ea typeface="+mn-ea"/>
                <a:cs typeface="+mn-cs"/>
              </a:rPr>
              <a:t>What records might need to be completed?</a:t>
            </a:r>
          </a:p>
          <a:p>
            <a:pPr marL="171450" indent="-171450">
              <a:buFont typeface="Arial" pitchFamily="34" charset="0"/>
              <a:buChar char="•"/>
            </a:pPr>
            <a:r>
              <a:rPr lang="en-US" sz="1200" kern="1200" baseline="0" dirty="0" smtClean="0">
                <a:solidFill>
                  <a:schemeClr val="tx1"/>
                </a:solidFill>
                <a:ea typeface="+mn-ea"/>
                <a:cs typeface="+mn-cs"/>
              </a:rPr>
              <a:t>Why are these records needed/kept?</a:t>
            </a:r>
          </a:p>
          <a:p>
            <a:pPr marL="171450" indent="-171450">
              <a:buFont typeface="Arial" pitchFamily="34" charset="0"/>
              <a:buChar char="•"/>
            </a:pPr>
            <a:r>
              <a:rPr lang="en-US" sz="1200" kern="1200" baseline="0" dirty="0" smtClean="0">
                <a:solidFill>
                  <a:schemeClr val="tx1"/>
                </a:solidFill>
                <a:ea typeface="+mn-ea"/>
                <a:cs typeface="+mn-cs"/>
              </a:rPr>
              <a:t>Who completes them?</a:t>
            </a:r>
          </a:p>
          <a:p>
            <a:pPr marL="171450" indent="-171450">
              <a:buFont typeface="Arial" pitchFamily="34" charset="0"/>
              <a:buChar char="•"/>
            </a:pPr>
            <a:r>
              <a:rPr lang="en-US" sz="1200" kern="1200" baseline="0" dirty="0" smtClean="0">
                <a:solidFill>
                  <a:schemeClr val="tx1"/>
                </a:solidFill>
                <a:ea typeface="+mn-ea"/>
                <a:cs typeface="+mn-cs"/>
              </a:rPr>
              <a:t>What happens to them after they have been completed?</a:t>
            </a:r>
            <a:endParaRPr lang="en-AU" sz="120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231</a:t>
            </a:fld>
            <a:endParaRPr lang="en-US" dirty="0"/>
          </a:p>
        </p:txBody>
      </p:sp>
    </p:spTree>
    <p:extLst>
      <p:ext uri="{BB962C8B-B14F-4D97-AF65-F5344CB8AC3E}">
        <p14:creationId xmlns:p14="http://schemas.microsoft.com/office/powerpoint/2010/main" val="2171604352"/>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presents standard </a:t>
            </a:r>
            <a:r>
              <a:rPr lang="en-AU" sz="1200" kern="1200" dirty="0" smtClean="0">
                <a:solidFill>
                  <a:schemeClr val="tx1"/>
                </a:solidFill>
                <a:latin typeface="+mn-lt"/>
                <a:ea typeface="+mn-ea"/>
                <a:cs typeface="+mn-cs"/>
              </a:rPr>
              <a:t>practice for completing vehicle inspection checklists:</a:t>
            </a:r>
          </a:p>
          <a:p>
            <a:pPr marL="171450" indent="-171450">
              <a:buFont typeface="Arial" pitchFamily="34" charset="0"/>
              <a:buChar char="•"/>
            </a:pPr>
            <a:r>
              <a:rPr lang="en-AU" sz="1200" kern="1200" dirty="0" smtClean="0">
                <a:solidFill>
                  <a:schemeClr val="tx1"/>
                </a:solidFill>
                <a:latin typeface="+mn-lt"/>
                <a:ea typeface="+mn-ea"/>
                <a:cs typeface="+mn-cs"/>
              </a:rPr>
              <a:t>Obtain the necessary checklist – there may be different checklists for different types of vehicles, based on factors such as makes, models, carrying capacity, vehicle configuration or registration number</a:t>
            </a:r>
          </a:p>
          <a:p>
            <a:pPr marL="628650" lvl="1" indent="-171450">
              <a:buFont typeface="Arial" pitchFamily="34" charset="0"/>
              <a:buChar char="•"/>
            </a:pPr>
            <a:r>
              <a:rPr lang="en-AU" sz="1200" kern="1200" dirty="0" smtClean="0">
                <a:solidFill>
                  <a:schemeClr val="tx1"/>
                </a:solidFill>
                <a:latin typeface="+mn-lt"/>
                <a:ea typeface="+mn-ea"/>
                <a:cs typeface="+mn-cs"/>
              </a:rPr>
              <a:t>Other operators may use a generic inspection checklist where users are required to enter relevant details (registration number, make and model) to identify the vehicle being inspected</a:t>
            </a:r>
          </a:p>
          <a:p>
            <a:pPr marL="628650" lvl="1" indent="-171450">
              <a:buFont typeface="Arial" pitchFamily="34" charset="0"/>
              <a:buChar char="•"/>
            </a:pPr>
            <a:r>
              <a:rPr lang="en-AU" sz="1200" kern="1200" dirty="0" smtClean="0">
                <a:solidFill>
                  <a:schemeClr val="tx1"/>
                </a:solidFill>
                <a:latin typeface="+mn-lt"/>
                <a:ea typeface="+mn-ea"/>
                <a:cs typeface="+mn-cs"/>
              </a:rPr>
              <a:t>Checklists also exist for trailers</a:t>
            </a:r>
          </a:p>
          <a:p>
            <a:pPr marL="171450" indent="-171450">
              <a:buFont typeface="Arial" pitchFamily="34" charset="0"/>
              <a:buChar char="•"/>
            </a:pPr>
            <a:r>
              <a:rPr lang="en-AU" sz="1200" kern="1200" dirty="0" smtClean="0">
                <a:solidFill>
                  <a:schemeClr val="tx1"/>
                </a:solidFill>
                <a:latin typeface="+mn-lt"/>
                <a:ea typeface="+mn-ea"/>
                <a:cs typeface="+mn-cs"/>
              </a:rPr>
              <a:t>Carry and use the checklist while inspecting the vehicle – do not inspect the vehicle and rely on memory to fill in the form</a:t>
            </a:r>
          </a:p>
          <a:p>
            <a:pPr marL="171450" indent="-171450">
              <a:buFont typeface="Arial" pitchFamily="34" charset="0"/>
              <a:buChar char="•"/>
            </a:pPr>
            <a:r>
              <a:rPr lang="en-AU" sz="1200" kern="1200" dirty="0" smtClean="0">
                <a:solidFill>
                  <a:schemeClr val="tx1"/>
                </a:solidFill>
                <a:latin typeface="+mn-lt"/>
                <a:ea typeface="+mn-ea"/>
                <a:cs typeface="+mn-cs"/>
              </a:rPr>
              <a:t>Undertake the inspection at the required times – which may be:</a:t>
            </a:r>
          </a:p>
          <a:p>
            <a:pPr marL="628650" lvl="1" indent="-171450">
              <a:buFont typeface="Arial" pitchFamily="34" charset="0"/>
              <a:buChar char="•"/>
            </a:pPr>
            <a:r>
              <a:rPr lang="en-US" sz="1200" kern="1200" dirty="0" smtClean="0">
                <a:solidFill>
                  <a:schemeClr val="tx1"/>
                </a:solidFill>
                <a:latin typeface="+mn-lt"/>
                <a:ea typeface="+mn-ea"/>
                <a:cs typeface="+mn-cs"/>
              </a:rPr>
              <a:t>Before a vehicle departs for a tour</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Every morning before a vehicle is used while on tour</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Weekly for office vehicles.</a:t>
            </a:r>
            <a:endParaRPr lang="en-AU" sz="1200" kern="1200" dirty="0" smtClean="0">
              <a:solidFill>
                <a:schemeClr val="tx1"/>
              </a:solidFill>
              <a:latin typeface="+mn-lt"/>
              <a:ea typeface="+mn-ea"/>
              <a:cs typeface="+mn-cs"/>
            </a:endParaRPr>
          </a:p>
          <a:p>
            <a:pPr>
              <a:buFont typeface="Arial" pitchFamily="34" charset="0"/>
              <a:buNone/>
            </a:pPr>
            <a:r>
              <a:rPr lang="en-AU" sz="1200" kern="1200" dirty="0" smtClean="0">
                <a:solidFill>
                  <a:schemeClr val="tx1"/>
                </a:solidFill>
                <a:latin typeface="+mn-lt"/>
                <a:ea typeface="+mn-ea"/>
                <a:cs typeface="+mn-cs"/>
              </a:rPr>
              <a:t> </a:t>
            </a:r>
          </a:p>
          <a:p>
            <a:pPr>
              <a:buFont typeface="Arial" pitchFamily="34" charset="0"/>
              <a:buNone/>
            </a:pPr>
            <a:r>
              <a:rPr lang="en-US" b="1" noProof="0" dirty="0" smtClean="0"/>
              <a:t>Classroom Activity – Handout</a:t>
            </a:r>
          </a:p>
          <a:p>
            <a:pPr>
              <a:buFont typeface="Arial" pitchFamily="34" charset="0"/>
              <a:buNone/>
            </a:pPr>
            <a:r>
              <a:rPr lang="en-US" b="0" noProof="0" dirty="0" smtClean="0"/>
              <a:t>Trainer distributes and discusses sample vehicle inspection checklist.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232</a:t>
            </a:fld>
            <a:endParaRPr lang="en-US" dirty="0"/>
          </a:p>
        </p:txBody>
      </p:sp>
    </p:spTree>
    <p:extLst>
      <p:ext uri="{BB962C8B-B14F-4D97-AF65-F5344CB8AC3E}">
        <p14:creationId xmlns:p14="http://schemas.microsoft.com/office/powerpoint/2010/main" val="3095435360"/>
      </p:ext>
    </p:extLst>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presenting standard </a:t>
            </a:r>
            <a:r>
              <a:rPr lang="en-AU" sz="1200" kern="1200" dirty="0" smtClean="0">
                <a:solidFill>
                  <a:schemeClr val="tx1"/>
                </a:solidFill>
                <a:latin typeface="+mn-lt"/>
                <a:ea typeface="+mn-ea"/>
                <a:cs typeface="+mn-cs"/>
              </a:rPr>
              <a:t>practice for completing vehicle inspection checklists:</a:t>
            </a:r>
          </a:p>
          <a:p>
            <a:pPr marL="171450" indent="-171450">
              <a:buFont typeface="Arial" pitchFamily="34" charset="0"/>
              <a:buChar char="•"/>
            </a:pPr>
            <a:r>
              <a:rPr lang="en-AU" sz="1200" kern="1200" dirty="0" smtClean="0">
                <a:solidFill>
                  <a:schemeClr val="tx1"/>
                </a:solidFill>
                <a:latin typeface="+mn-lt"/>
                <a:ea typeface="+mn-ea"/>
                <a:cs typeface="+mn-cs"/>
              </a:rPr>
              <a:t>Inspect the vehicle in the sequence of the checks listed on the checklist – the items to be checked should be listed in a logical and sequential manner that:</a:t>
            </a:r>
          </a:p>
          <a:p>
            <a:pPr marL="628650" lvl="1" indent="-171450">
              <a:buFont typeface="Arial" pitchFamily="34" charset="0"/>
              <a:buChar char="•"/>
            </a:pPr>
            <a:r>
              <a:rPr lang="en-AU" sz="1200" kern="1200" dirty="0" smtClean="0">
                <a:solidFill>
                  <a:schemeClr val="tx1"/>
                </a:solidFill>
                <a:latin typeface="+mn-lt"/>
                <a:ea typeface="+mn-ea"/>
                <a:cs typeface="+mn-cs"/>
              </a:rPr>
              <a:t>Facilitates an ordered/structured inspection</a:t>
            </a:r>
          </a:p>
          <a:p>
            <a:pPr marL="628650" lvl="1" indent="-171450">
              <a:buFont typeface="Arial" pitchFamily="34" charset="0"/>
              <a:buChar char="•"/>
            </a:pPr>
            <a:r>
              <a:rPr lang="en-AU" sz="1200" kern="1200" dirty="0" smtClean="0">
                <a:solidFill>
                  <a:schemeClr val="tx1"/>
                </a:solidFill>
                <a:latin typeface="+mn-lt"/>
                <a:ea typeface="+mn-ea"/>
                <a:cs typeface="+mn-cs"/>
              </a:rPr>
              <a:t>Minimises the amount of time needed to do the inspection</a:t>
            </a:r>
          </a:p>
          <a:p>
            <a:pPr marL="171450" indent="-171450">
              <a:buFont typeface="Arial" pitchFamily="34" charset="0"/>
              <a:buChar char="•"/>
            </a:pPr>
            <a:r>
              <a:rPr lang="en-AU" sz="1200" kern="1200" dirty="0" smtClean="0">
                <a:solidFill>
                  <a:schemeClr val="tx1"/>
                </a:solidFill>
                <a:latin typeface="+mn-lt"/>
                <a:ea typeface="+mn-ea"/>
                <a:cs typeface="+mn-cs"/>
              </a:rPr>
              <a:t>Undertake all the listed inspections – never skip any of them</a:t>
            </a:r>
          </a:p>
          <a:p>
            <a:pPr marL="171450" indent="-171450">
              <a:buFont typeface="Arial" pitchFamily="34" charset="0"/>
              <a:buChar char="•"/>
            </a:pPr>
            <a:r>
              <a:rPr lang="en-AU" sz="1200" kern="1200" dirty="0" smtClean="0">
                <a:solidFill>
                  <a:schemeClr val="tx1"/>
                </a:solidFill>
                <a:latin typeface="+mn-lt"/>
                <a:ea typeface="+mn-ea"/>
                <a:cs typeface="+mn-cs"/>
              </a:rPr>
              <a:t>Inspect the vehicle in the ways required by the checklist – which may be:</a:t>
            </a:r>
          </a:p>
          <a:p>
            <a:pPr marL="628650" lvl="1" indent="-171450">
              <a:buFont typeface="Arial" pitchFamily="34" charset="0"/>
              <a:buChar char="•"/>
            </a:pPr>
            <a:r>
              <a:rPr lang="en-US" sz="1200" kern="1200" dirty="0" smtClean="0">
                <a:solidFill>
                  <a:schemeClr val="tx1"/>
                </a:solidFill>
                <a:latin typeface="+mn-lt"/>
                <a:ea typeface="+mn-ea"/>
                <a:cs typeface="+mn-cs"/>
              </a:rPr>
              <a:t>Stationary and not running</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Stationary and running</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Operating/moving</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Tick off the items (</a:t>
            </a:r>
            <a:r>
              <a:rPr lang="en-AU" sz="1200" kern="1200" dirty="0" smtClean="0">
                <a:solidFill>
                  <a:schemeClr val="tx1"/>
                </a:solidFill>
                <a:latin typeface="+mn-lt"/>
                <a:ea typeface="+mn-ea"/>
                <a:cs typeface="+mn-cs"/>
                <a:sym typeface="Wingdings"/>
              </a:rPr>
              <a:t></a:t>
            </a:r>
            <a:r>
              <a:rPr lang="en-AU" sz="1200" kern="1200" dirty="0" smtClean="0">
                <a:solidFill>
                  <a:schemeClr val="tx1"/>
                </a:solidFill>
                <a:latin typeface="+mn-lt"/>
                <a:ea typeface="+mn-ea"/>
                <a:cs typeface="+mn-cs"/>
              </a:rPr>
              <a:t>) as they are inspected – to show they have been checked and are acceptable/OK.</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233</a:t>
            </a:fld>
            <a:endParaRPr lang="en-US" dirty="0"/>
          </a:p>
        </p:txBody>
      </p:sp>
    </p:spTree>
    <p:extLst>
      <p:ext uri="{BB962C8B-B14F-4D97-AF65-F5344CB8AC3E}">
        <p14:creationId xmlns:p14="http://schemas.microsoft.com/office/powerpoint/2010/main" val="1863804632"/>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presenting standard </a:t>
            </a:r>
            <a:r>
              <a:rPr lang="en-AU" sz="1200" kern="1200" dirty="0" smtClean="0">
                <a:solidFill>
                  <a:schemeClr val="tx1"/>
                </a:solidFill>
                <a:latin typeface="+mn-lt"/>
                <a:ea typeface="+mn-ea"/>
                <a:cs typeface="+mn-cs"/>
              </a:rPr>
              <a:t>practice for completing vehicle inspection checklists:</a:t>
            </a:r>
          </a:p>
          <a:p>
            <a:pPr marL="171450" indent="-171450">
              <a:buFont typeface="Arial" pitchFamily="34" charset="0"/>
              <a:buChar char="•"/>
            </a:pPr>
            <a:r>
              <a:rPr lang="en-AU" sz="1200" kern="1200" dirty="0" smtClean="0">
                <a:solidFill>
                  <a:schemeClr val="tx1"/>
                </a:solidFill>
                <a:latin typeface="+mn-lt"/>
                <a:ea typeface="+mn-ea"/>
                <a:cs typeface="+mn-cs"/>
              </a:rPr>
              <a:t>Place a cross (X) in the tick boxes where a problem is identified – and add some written comment:</a:t>
            </a:r>
          </a:p>
          <a:p>
            <a:pPr marL="628650" lvl="1" indent="-171450">
              <a:buFont typeface="Arial" pitchFamily="34" charset="0"/>
              <a:buChar char="•"/>
            </a:pPr>
            <a:r>
              <a:rPr lang="en-US" sz="1200" kern="1200" dirty="0" smtClean="0">
                <a:solidFill>
                  <a:schemeClr val="tx1"/>
                </a:solidFill>
                <a:latin typeface="+mn-lt"/>
                <a:ea typeface="+mn-ea"/>
                <a:cs typeface="+mn-cs"/>
              </a:rPr>
              <a:t>Explaining/describing the problem</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Identifying the urgency of the need for maintenance or repairs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Being honest and accurate in the responses and information provided/written down</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Place unsafe/un-roadworthy vehicles out-of-service – so they cannot be used</a:t>
            </a:r>
          </a:p>
          <a:p>
            <a:pPr marL="171450" indent="-171450">
              <a:buFont typeface="Arial" pitchFamily="34" charset="0"/>
              <a:buChar char="•"/>
            </a:pPr>
            <a:r>
              <a:rPr lang="en-AU" sz="1200" kern="1200" dirty="0" smtClean="0">
                <a:solidFill>
                  <a:schemeClr val="tx1"/>
                </a:solidFill>
                <a:latin typeface="+mn-lt"/>
                <a:ea typeface="+mn-ea"/>
                <a:cs typeface="+mn-cs"/>
              </a:rPr>
              <a:t>Write down the odometer reading – this is a standard requirement for most vehicle checklists.</a:t>
            </a:r>
          </a:p>
          <a:p>
            <a:pPr>
              <a:buFont typeface="Arial" pitchFamily="34" charset="0"/>
              <a:buNone/>
            </a:pPr>
            <a:endParaRPr lang="en-US" noProof="0" dirty="0" smtClean="0"/>
          </a:p>
          <a:p>
            <a:pPr>
              <a:buFont typeface="Arial" pitchFamily="34" charset="0"/>
              <a:buNone/>
            </a:pPr>
            <a:r>
              <a:rPr lang="en-US" b="1" noProof="0" dirty="0" smtClean="0"/>
              <a:t>Classroom Activity – internet Research</a:t>
            </a:r>
          </a:p>
          <a:p>
            <a:pPr>
              <a:buFont typeface="Arial" pitchFamily="34" charset="0"/>
              <a:buNone/>
            </a:pPr>
            <a:r>
              <a:rPr lang="en-US" b="0" noProof="0" dirty="0" smtClean="0"/>
              <a:t>Trainer facilitates research and discussion of:</a:t>
            </a:r>
          </a:p>
          <a:p>
            <a:r>
              <a:rPr lang="en-AU" sz="1200" u="sng" kern="1200" dirty="0" smtClean="0">
                <a:solidFill>
                  <a:schemeClr val="tx1"/>
                </a:solidFill>
                <a:latin typeface="+mn-lt"/>
                <a:ea typeface="+mn-ea"/>
                <a:cs typeface="+mn-cs"/>
                <a:hlinkClick r:id="rId3"/>
              </a:rPr>
              <a:t>http://www.atyourbusiness.com/vehicleinspection.php</a:t>
            </a:r>
            <a:r>
              <a:rPr lang="en-AU" sz="1200" kern="1200" dirty="0" smtClean="0">
                <a:solidFill>
                  <a:schemeClr val="tx1"/>
                </a:solidFill>
                <a:latin typeface="+mn-lt"/>
                <a:ea typeface="+mn-ea"/>
                <a:cs typeface="+mn-cs"/>
              </a:rPr>
              <a:t> - Sample vehicle inspection report forms</a:t>
            </a:r>
          </a:p>
          <a:p>
            <a:r>
              <a:rPr lang="en-AU" sz="1200" u="sng" kern="1200" dirty="0" smtClean="0">
                <a:solidFill>
                  <a:schemeClr val="tx1"/>
                </a:solidFill>
                <a:latin typeface="+mn-lt"/>
                <a:ea typeface="+mn-ea"/>
                <a:cs typeface="+mn-cs"/>
                <a:hlinkClick r:id="rId4"/>
              </a:rPr>
              <a:t>www.adtasa.com.au/forms/Vehicle_checklist_2011.doc</a:t>
            </a:r>
            <a:r>
              <a:rPr lang="en-AU" sz="1200" i="0" kern="1200" dirty="0" smtClean="0">
                <a:solidFill>
                  <a:schemeClr val="tx1"/>
                </a:solidFill>
                <a:latin typeface="+mn-lt"/>
                <a:ea typeface="+mn-ea"/>
                <a:cs typeface="+mn-cs"/>
              </a:rPr>
              <a:t> - Vehicle inspection checklist</a:t>
            </a:r>
            <a:endParaRPr lang="en-AU" sz="1200" kern="1200" dirty="0" smtClean="0">
              <a:solidFill>
                <a:schemeClr val="tx1"/>
              </a:solidFill>
              <a:latin typeface="+mn-lt"/>
              <a:ea typeface="+mn-ea"/>
              <a:cs typeface="+mn-cs"/>
            </a:endParaRPr>
          </a:p>
          <a:p>
            <a:r>
              <a:rPr lang="en-AU" sz="1200" u="sng" kern="1200" dirty="0" smtClean="0">
                <a:solidFill>
                  <a:schemeClr val="tx1"/>
                </a:solidFill>
                <a:latin typeface="+mn-lt"/>
                <a:ea typeface="+mn-ea"/>
                <a:cs typeface="+mn-cs"/>
                <a:hlinkClick r:id="rId5"/>
              </a:rPr>
              <a:t>http://www.ehs.gatech.edu/general/weekly_vehicle_inspection_checklist.pdf</a:t>
            </a:r>
            <a:r>
              <a:rPr lang="en-AU" sz="1200" i="0" kern="1200" dirty="0" smtClean="0">
                <a:solidFill>
                  <a:schemeClr val="tx1"/>
                </a:solidFill>
                <a:latin typeface="+mn-lt"/>
                <a:ea typeface="+mn-ea"/>
                <a:cs typeface="+mn-cs"/>
              </a:rPr>
              <a:t> - Weekly motor vehicle inspection checklist.</a:t>
            </a:r>
            <a:endParaRPr lang="en-AU" sz="1200" kern="1200" dirty="0" smtClean="0">
              <a:solidFill>
                <a:schemeClr val="tx1"/>
              </a:solidFill>
              <a:latin typeface="+mn-lt"/>
              <a:ea typeface="+mn-ea"/>
              <a:cs typeface="+mn-cs"/>
            </a:endParaRPr>
          </a:p>
          <a:p>
            <a:pPr>
              <a:buFont typeface="Arial" pitchFamily="34" charset="0"/>
              <a:buNone/>
            </a:pPr>
            <a:endParaRPr lang="en-US" b="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234</a:t>
            </a:fld>
            <a:endParaRPr lang="en-US" dirty="0"/>
          </a:p>
        </p:txBody>
      </p:sp>
    </p:spTree>
    <p:extLst>
      <p:ext uri="{BB962C8B-B14F-4D97-AF65-F5344CB8AC3E}">
        <p14:creationId xmlns:p14="http://schemas.microsoft.com/office/powerpoint/2010/main" val="3045994079"/>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presenting standard </a:t>
            </a:r>
            <a:r>
              <a:rPr lang="en-AU" sz="1200" kern="1200" dirty="0" smtClean="0">
                <a:solidFill>
                  <a:schemeClr val="tx1"/>
                </a:solidFill>
                <a:latin typeface="+mn-lt"/>
                <a:ea typeface="+mn-ea"/>
                <a:cs typeface="+mn-cs"/>
              </a:rPr>
              <a:t>practice for completing vehicle inspection checklists:</a:t>
            </a:r>
          </a:p>
          <a:p>
            <a:pPr marL="171450" indent="-171450">
              <a:buFont typeface="Arial" pitchFamily="34" charset="0"/>
              <a:buChar char="•"/>
            </a:pPr>
            <a:r>
              <a:rPr lang="en-AU" sz="1200" kern="1200" dirty="0" smtClean="0">
                <a:solidFill>
                  <a:schemeClr val="tx1"/>
                </a:solidFill>
                <a:latin typeface="+mn-lt"/>
                <a:ea typeface="+mn-ea"/>
                <a:cs typeface="+mn-cs"/>
              </a:rPr>
              <a:t>Date the completed checklist – to give a point of reference</a:t>
            </a:r>
          </a:p>
          <a:p>
            <a:pPr marL="171450" indent="-171450">
              <a:buFont typeface="Arial" pitchFamily="34" charset="0"/>
              <a:buChar char="•"/>
            </a:pPr>
            <a:r>
              <a:rPr lang="en-AU" sz="1200" kern="1200" dirty="0" smtClean="0">
                <a:solidFill>
                  <a:schemeClr val="tx1"/>
                </a:solidFill>
                <a:latin typeface="+mn-lt"/>
                <a:ea typeface="+mn-ea"/>
                <a:cs typeface="+mn-cs"/>
              </a:rPr>
              <a:t>Sign the form (there may also be a need to print name) – so others know who did the inspection</a:t>
            </a:r>
          </a:p>
          <a:p>
            <a:pPr marL="171450" indent="-171450">
              <a:buFont typeface="Arial" pitchFamily="34" charset="0"/>
              <a:buChar char="•"/>
            </a:pPr>
            <a:r>
              <a:rPr lang="en-AU" sz="1200" kern="1200" dirty="0" smtClean="0">
                <a:solidFill>
                  <a:schemeClr val="tx1"/>
                </a:solidFill>
                <a:latin typeface="+mn-lt"/>
                <a:ea typeface="+mn-ea"/>
                <a:cs typeface="+mn-cs"/>
              </a:rPr>
              <a:t>Process the completed form – which may involve:</a:t>
            </a:r>
          </a:p>
          <a:p>
            <a:pPr marL="628650" lvl="1" indent="-171450">
              <a:buFont typeface="Arial" pitchFamily="34" charset="0"/>
              <a:buChar char="•"/>
            </a:pPr>
            <a:r>
              <a:rPr lang="en-US" sz="1200" kern="1200" dirty="0" smtClean="0">
                <a:solidFill>
                  <a:schemeClr val="tx1"/>
                </a:solidFill>
                <a:latin typeface="+mn-lt"/>
                <a:ea typeface="+mn-ea"/>
                <a:cs typeface="+mn-cs"/>
              </a:rPr>
              <a:t>Forwarding the form to the nominated person or department so it can be auctioned as needed according to internal protocols 9where maintenance or repairs are necessary)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Arranging repairs and service by external businesses – where the problems cannot be fixed internally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Filing the form for future reference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Using/providing/accessing the form when work needs to be performed on the vehicle.</a:t>
            </a: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r>
              <a:rPr lang="en-AU" b="1" noProof="0" dirty="0" smtClean="0"/>
              <a:t>Classroom Activity – Demonstration and Practical</a:t>
            </a:r>
          </a:p>
          <a:p>
            <a:pPr>
              <a:buFont typeface="Arial" pitchFamily="34" charset="0"/>
              <a:buNone/>
            </a:pPr>
            <a:r>
              <a:rPr lang="en-AU" b="0" noProof="0" dirty="0" smtClean="0"/>
              <a:t>Trainer demonstrates how to use vehicle inspection checklist</a:t>
            </a:r>
            <a:r>
              <a:rPr lang="en-AU" b="0" baseline="0" noProof="0" dirty="0" smtClean="0"/>
              <a:t> and provides opportunity for students to do the same.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235</a:t>
            </a:fld>
            <a:endParaRPr lang="en-US" dirty="0"/>
          </a:p>
        </p:txBody>
      </p:sp>
    </p:spTree>
    <p:extLst>
      <p:ext uri="{BB962C8B-B14F-4D97-AF65-F5344CB8AC3E}">
        <p14:creationId xmlns:p14="http://schemas.microsoft.com/office/powerpoint/2010/main" val="1875357463"/>
      </p:ext>
    </p:extLst>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explains </a:t>
            </a:r>
            <a:r>
              <a:rPr lang="en-AU" sz="1200" kern="1200" dirty="0" smtClean="0">
                <a:solidFill>
                  <a:schemeClr val="tx1"/>
                </a:solidFill>
                <a:latin typeface="+mn-lt"/>
                <a:ea typeface="+mn-ea"/>
                <a:cs typeface="+mn-cs"/>
              </a:rPr>
              <a:t>standard practice as part of the process for providing service and repairs to organisational vehicles is to complete a ‘Service Report’ form/log or similar and completing this documentation includes:</a:t>
            </a:r>
          </a:p>
          <a:p>
            <a:pPr marL="171450" indent="-171450">
              <a:buFont typeface="Arial" pitchFamily="34" charset="0"/>
              <a:buChar char="•"/>
            </a:pPr>
            <a:r>
              <a:rPr lang="en-AU" sz="1200" kern="1200" dirty="0" smtClean="0">
                <a:solidFill>
                  <a:schemeClr val="tx1"/>
                </a:solidFill>
                <a:latin typeface="+mn-lt"/>
                <a:ea typeface="+mn-ea"/>
                <a:cs typeface="+mn-cs"/>
              </a:rPr>
              <a:t>Using the approved template/form – where businesses require this information to be recorded they will provide a document especially for the purpose</a:t>
            </a:r>
          </a:p>
          <a:p>
            <a:pPr marL="628650" lvl="1" indent="-171450">
              <a:buFont typeface="Arial" pitchFamily="34" charset="0"/>
              <a:buChar char="•"/>
            </a:pPr>
            <a:r>
              <a:rPr lang="en-AU" sz="1200" kern="1200" dirty="0" smtClean="0">
                <a:solidFill>
                  <a:schemeClr val="tx1"/>
                </a:solidFill>
                <a:latin typeface="+mn-lt"/>
                <a:ea typeface="+mn-ea"/>
                <a:cs typeface="+mn-cs"/>
              </a:rPr>
              <a:t>The document is commonly hard copy but may be electronic</a:t>
            </a:r>
          </a:p>
          <a:p>
            <a:pPr marL="171450" indent="-171450">
              <a:buFont typeface="Arial" pitchFamily="34" charset="0"/>
              <a:buChar char="•"/>
            </a:pPr>
            <a:r>
              <a:rPr lang="en-AU" sz="1200" kern="1200" dirty="0" smtClean="0">
                <a:solidFill>
                  <a:schemeClr val="tx1"/>
                </a:solidFill>
                <a:latin typeface="+mn-lt"/>
                <a:ea typeface="+mn-ea"/>
                <a:cs typeface="+mn-cs"/>
              </a:rPr>
              <a:t>Identifying the vehicle which has been serviced/repaired – as required by the business, which require:</a:t>
            </a:r>
          </a:p>
          <a:p>
            <a:pPr marL="628650" lvl="1" indent="-171450">
              <a:buFont typeface="Arial" pitchFamily="34" charset="0"/>
              <a:buChar char="•"/>
            </a:pPr>
            <a:r>
              <a:rPr lang="en-AU" sz="1200" kern="1200" dirty="0" smtClean="0">
                <a:solidFill>
                  <a:schemeClr val="tx1"/>
                </a:solidFill>
                <a:latin typeface="+mn-lt"/>
                <a:ea typeface="+mn-ea"/>
                <a:cs typeface="+mn-cs"/>
              </a:rPr>
              <a:t>Registration number</a:t>
            </a:r>
          </a:p>
          <a:p>
            <a:pPr marL="628650" lvl="1" indent="-171450">
              <a:buFont typeface="Arial" pitchFamily="34" charset="0"/>
              <a:buChar char="•"/>
            </a:pPr>
            <a:r>
              <a:rPr lang="en-AU" sz="1200" kern="1200" dirty="0" smtClean="0">
                <a:solidFill>
                  <a:schemeClr val="tx1"/>
                </a:solidFill>
                <a:latin typeface="+mn-lt"/>
                <a:ea typeface="+mn-ea"/>
                <a:cs typeface="+mn-cs"/>
              </a:rPr>
              <a:t>Make and model</a:t>
            </a:r>
          </a:p>
          <a:p>
            <a:pPr marL="628650" lvl="1" indent="-171450">
              <a:buFont typeface="Arial" pitchFamily="34" charset="0"/>
              <a:buChar char="•"/>
            </a:pPr>
            <a:r>
              <a:rPr lang="en-AU" sz="1200" kern="1200" dirty="0" smtClean="0">
                <a:solidFill>
                  <a:schemeClr val="tx1"/>
                </a:solidFill>
                <a:latin typeface="+mn-lt"/>
                <a:ea typeface="+mn-ea"/>
                <a:cs typeface="+mn-cs"/>
              </a:rPr>
              <a:t>Odometer reading</a:t>
            </a:r>
          </a:p>
          <a:p>
            <a:pPr marL="171450" indent="-171450">
              <a:buFont typeface="Arial" pitchFamily="34" charset="0"/>
              <a:buChar char="•"/>
            </a:pPr>
            <a:r>
              <a:rPr lang="en-AU" sz="1200" kern="1200" dirty="0" smtClean="0">
                <a:solidFill>
                  <a:schemeClr val="tx1"/>
                </a:solidFill>
                <a:latin typeface="+mn-lt"/>
                <a:ea typeface="+mn-ea"/>
                <a:cs typeface="+mn-cs"/>
              </a:rPr>
              <a:t>Completing the form immediately after the work has been completed – or as the work progresses, rather than the next day or at the end of the week.</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 Handout</a:t>
            </a:r>
          </a:p>
          <a:p>
            <a:pPr>
              <a:buFont typeface="Arial" pitchFamily="34" charset="0"/>
              <a:buNone/>
            </a:pPr>
            <a:r>
              <a:rPr lang="en-US" b="0" noProof="0" dirty="0" smtClean="0"/>
              <a:t>Trainer distributes and discusses sample record document.</a:t>
            </a: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236</a:t>
            </a:fld>
            <a:endParaRPr lang="en-US" dirty="0"/>
          </a:p>
        </p:txBody>
      </p:sp>
    </p:spTree>
    <p:extLst>
      <p:ext uri="{BB962C8B-B14F-4D97-AF65-F5344CB8AC3E}">
        <p14:creationId xmlns:p14="http://schemas.microsoft.com/office/powerpoint/2010/main" val="1323921365"/>
      </p:ext>
    </p:extLst>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US" noProof="0" dirty="0" smtClean="0"/>
              <a:t>Trainer continues to present requirements when recording service/repairs:</a:t>
            </a:r>
          </a:p>
          <a:p>
            <a:pPr marL="171450" indent="-171450">
              <a:buFont typeface="Arial" pitchFamily="34" charset="0"/>
              <a:buChar char="•"/>
            </a:pPr>
            <a:r>
              <a:rPr lang="en-AU" sz="1200" kern="1200" dirty="0" smtClean="0">
                <a:solidFill>
                  <a:schemeClr val="tx1"/>
                </a:solidFill>
                <a:latin typeface="+mn-lt"/>
                <a:ea typeface="+mn-ea"/>
                <a:cs typeface="+mn-cs"/>
              </a:rPr>
              <a:t>Describing service and repairs provided – in sufficient detail to allow others to interpret and understand the work that was undertaken. Keys are:</a:t>
            </a:r>
          </a:p>
          <a:p>
            <a:pPr marL="628650" lvl="1" indent="-171450">
              <a:buFont typeface="Arial" pitchFamily="34" charset="0"/>
              <a:buChar char="•"/>
            </a:pPr>
            <a:r>
              <a:rPr lang="en-AU" sz="1200" kern="1200" dirty="0" smtClean="0">
                <a:solidFill>
                  <a:schemeClr val="tx1"/>
                </a:solidFill>
                <a:latin typeface="+mn-lt"/>
                <a:ea typeface="+mn-ea"/>
                <a:cs typeface="+mn-cs"/>
              </a:rPr>
              <a:t>Write clearly</a:t>
            </a:r>
          </a:p>
          <a:p>
            <a:pPr marL="628650" lvl="1" indent="-171450">
              <a:buFont typeface="Arial" pitchFamily="34" charset="0"/>
              <a:buChar char="•"/>
            </a:pPr>
            <a:r>
              <a:rPr lang="en-AU" sz="1200" kern="1200" dirty="0" smtClean="0">
                <a:solidFill>
                  <a:schemeClr val="tx1"/>
                </a:solidFill>
                <a:latin typeface="+mn-lt"/>
                <a:ea typeface="+mn-ea"/>
                <a:cs typeface="+mn-cs"/>
              </a:rPr>
              <a:t>Be honest</a:t>
            </a:r>
          </a:p>
          <a:p>
            <a:pPr marL="628650" lvl="1" indent="-171450">
              <a:buFont typeface="Arial" pitchFamily="34" charset="0"/>
              <a:buChar char="•"/>
            </a:pPr>
            <a:r>
              <a:rPr lang="en-AU" sz="1200" kern="1200" dirty="0" smtClean="0">
                <a:solidFill>
                  <a:schemeClr val="tx1"/>
                </a:solidFill>
                <a:latin typeface="+mn-lt"/>
                <a:ea typeface="+mn-ea"/>
                <a:cs typeface="+mn-cs"/>
              </a:rPr>
              <a:t>Cover all work done</a:t>
            </a:r>
          </a:p>
          <a:p>
            <a:pPr marL="628650" lvl="1" indent="-171450">
              <a:buFont typeface="Arial" pitchFamily="34" charset="0"/>
              <a:buChar char="•"/>
            </a:pPr>
            <a:r>
              <a:rPr lang="en-AU" sz="1200" kern="1200" dirty="0" smtClean="0">
                <a:solidFill>
                  <a:schemeClr val="tx1"/>
                </a:solidFill>
                <a:latin typeface="+mn-lt"/>
                <a:ea typeface="+mn-ea"/>
                <a:cs typeface="+mn-cs"/>
              </a:rPr>
              <a:t>Use recognised abbreviations and acronyms</a:t>
            </a:r>
          </a:p>
          <a:p>
            <a:pPr marL="628650" lvl="1" indent="-171450">
              <a:buFont typeface="Arial" pitchFamily="34" charset="0"/>
              <a:buChar char="•"/>
            </a:pPr>
            <a:r>
              <a:rPr lang="en-AU" sz="1200" kern="1200" dirty="0" smtClean="0">
                <a:solidFill>
                  <a:schemeClr val="tx1"/>
                </a:solidFill>
                <a:latin typeface="+mn-lt"/>
                <a:ea typeface="+mn-ea"/>
                <a:cs typeface="+mn-cs"/>
              </a:rPr>
              <a:t>Cross-reference to parts used</a:t>
            </a:r>
          </a:p>
          <a:p>
            <a:pPr marL="171450" indent="-171450">
              <a:buFont typeface="Arial" pitchFamily="34" charset="0"/>
              <a:buChar char="•"/>
            </a:pPr>
            <a:r>
              <a:rPr lang="en-AU" sz="1200" kern="1200" dirty="0" smtClean="0">
                <a:solidFill>
                  <a:schemeClr val="tx1"/>
                </a:solidFill>
                <a:latin typeface="+mn-lt"/>
                <a:ea typeface="+mn-ea"/>
                <a:cs typeface="+mn-cs"/>
              </a:rPr>
              <a:t>Noting matters that will/may require attention at the next service – so that:</a:t>
            </a:r>
          </a:p>
          <a:p>
            <a:pPr marL="628650" lvl="1" indent="-171450">
              <a:buFont typeface="Arial" pitchFamily="34" charset="0"/>
              <a:buChar char="•"/>
            </a:pPr>
            <a:r>
              <a:rPr lang="en-AU" sz="1200" kern="1200" dirty="0" smtClean="0">
                <a:solidFill>
                  <a:schemeClr val="tx1"/>
                </a:solidFill>
                <a:latin typeface="+mn-lt"/>
                <a:ea typeface="+mn-ea"/>
                <a:cs typeface="+mn-cs"/>
              </a:rPr>
              <a:t>Vehicle users/operators are aware of this – and can factor it into their use of the vehicle</a:t>
            </a:r>
          </a:p>
          <a:p>
            <a:pPr marL="628650" lvl="1" indent="-171450">
              <a:buFont typeface="Arial" pitchFamily="34" charset="0"/>
              <a:buChar char="•"/>
            </a:pPr>
            <a:r>
              <a:rPr lang="en-AU" sz="1200" kern="1200" dirty="0" smtClean="0">
                <a:solidFill>
                  <a:schemeClr val="tx1"/>
                </a:solidFill>
                <a:latin typeface="+mn-lt"/>
                <a:ea typeface="+mn-ea"/>
                <a:cs typeface="+mn-cs"/>
              </a:rPr>
              <a:t>Management/administration are made aware of significant/costly issues which are imminent</a:t>
            </a:r>
          </a:p>
          <a:p>
            <a:pPr marL="628650" lvl="1" indent="-171450">
              <a:buFont typeface="Arial" pitchFamily="34" charset="0"/>
              <a:buChar char="•"/>
            </a:pPr>
            <a:r>
              <a:rPr lang="en-AU" sz="1200" kern="1200" dirty="0" smtClean="0">
                <a:solidFill>
                  <a:schemeClr val="tx1"/>
                </a:solidFill>
                <a:latin typeface="+mn-lt"/>
                <a:ea typeface="+mn-ea"/>
                <a:cs typeface="+mn-cs"/>
              </a:rPr>
              <a:t>Necessary resources, parts and other requirements are purchased/obtained in advance of the next scheduled service session</a:t>
            </a:r>
          </a:p>
          <a:p>
            <a:pPr marL="171450" indent="-171450">
              <a:buFont typeface="Arial" pitchFamily="34" charset="0"/>
              <a:buChar char="•"/>
            </a:pPr>
            <a:r>
              <a:rPr lang="en-AU" sz="1200" kern="1200" dirty="0" smtClean="0">
                <a:solidFill>
                  <a:schemeClr val="tx1"/>
                </a:solidFill>
                <a:latin typeface="+mn-lt"/>
                <a:ea typeface="+mn-ea"/>
                <a:cs typeface="+mn-cs"/>
              </a:rPr>
              <a:t>Recording the action taken for cost and stock control purposes – which may require:</a:t>
            </a:r>
          </a:p>
          <a:p>
            <a:pPr marL="628650" lvl="1" indent="-171450">
              <a:buFont typeface="Arial" pitchFamily="34" charset="0"/>
              <a:buChar char="•"/>
            </a:pPr>
            <a:r>
              <a:rPr lang="en-AU" sz="1200" kern="1200" dirty="0" smtClean="0">
                <a:solidFill>
                  <a:schemeClr val="tx1"/>
                </a:solidFill>
                <a:latin typeface="+mn-lt"/>
                <a:ea typeface="+mn-ea"/>
                <a:cs typeface="+mn-cs"/>
              </a:rPr>
              <a:t>Listing items used – parts and fluids</a:t>
            </a:r>
          </a:p>
          <a:p>
            <a:pPr marL="628650" lvl="1" indent="-171450">
              <a:buFont typeface="Arial" pitchFamily="34" charset="0"/>
              <a:buChar char="•"/>
            </a:pPr>
            <a:r>
              <a:rPr lang="en-AU" sz="1200" kern="1200" dirty="0" smtClean="0">
                <a:solidFill>
                  <a:schemeClr val="tx1"/>
                </a:solidFill>
                <a:latin typeface="+mn-lt"/>
                <a:ea typeface="+mn-ea"/>
                <a:cs typeface="+mn-cs"/>
              </a:rPr>
              <a:t>Costing each unit/item</a:t>
            </a:r>
          </a:p>
          <a:p>
            <a:pPr marL="628650" lvl="1" indent="-171450">
              <a:buFont typeface="Arial" pitchFamily="34" charset="0"/>
              <a:buChar char="•"/>
            </a:pPr>
            <a:r>
              <a:rPr lang="en-AU" sz="1200" kern="1200" dirty="0" smtClean="0">
                <a:solidFill>
                  <a:schemeClr val="tx1"/>
                </a:solidFill>
                <a:latin typeface="+mn-lt"/>
                <a:ea typeface="+mn-ea"/>
                <a:cs typeface="+mn-cs"/>
              </a:rPr>
              <a:t>Including hours spent on the job</a:t>
            </a:r>
          </a:p>
          <a:p>
            <a:pPr marL="628650" lvl="1" indent="-171450">
              <a:buFont typeface="Arial" pitchFamily="34" charset="0"/>
              <a:buChar char="•"/>
            </a:pPr>
            <a:r>
              <a:rPr lang="en-AU" sz="1200" kern="1200" dirty="0" smtClean="0">
                <a:solidFill>
                  <a:schemeClr val="tx1"/>
                </a:solidFill>
                <a:latin typeface="+mn-lt"/>
                <a:ea typeface="+mn-ea"/>
                <a:cs typeface="+mn-cs"/>
              </a:rPr>
              <a:t>Calculating totals – for parts and labour involved in service and/or repair provision.</a:t>
            </a:r>
          </a:p>
          <a:p>
            <a:pPr>
              <a:buFont typeface="Arial" pitchFamily="34" charset="0"/>
              <a:buChar char="•"/>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 internet Research</a:t>
            </a:r>
          </a:p>
          <a:p>
            <a:pPr>
              <a:buFont typeface="Arial" pitchFamily="34" charset="0"/>
              <a:buNone/>
            </a:pPr>
            <a:r>
              <a:rPr lang="en-US" b="0" noProof="0" dirty="0" smtClean="0"/>
              <a:t>Trainer facilitates research and discussion of:</a:t>
            </a:r>
          </a:p>
          <a:p>
            <a:r>
              <a:rPr lang="en-AU" sz="1200" u="sng" kern="1200" dirty="0" smtClean="0">
                <a:solidFill>
                  <a:schemeClr val="tx1"/>
                </a:solidFill>
                <a:latin typeface="+mn-lt"/>
                <a:ea typeface="+mn-ea"/>
                <a:cs typeface="+mn-cs"/>
              </a:rPr>
              <a:t>download.microsoft.com/download/9/d/c/.../Vehicle_Repair_Log.xlt – Vehicle repair log</a:t>
            </a:r>
            <a:endParaRPr lang="en-AU" sz="1200" kern="1200" dirty="0" smtClean="0">
              <a:solidFill>
                <a:schemeClr val="tx1"/>
              </a:solidFill>
              <a:latin typeface="+mn-lt"/>
              <a:ea typeface="+mn-ea"/>
              <a:cs typeface="+mn-cs"/>
            </a:endParaRPr>
          </a:p>
          <a:p>
            <a:r>
              <a:rPr lang="en-AU" sz="1200" u="sng" kern="1200" dirty="0" smtClean="0">
                <a:solidFill>
                  <a:schemeClr val="tx1"/>
                </a:solidFill>
                <a:latin typeface="+mn-lt"/>
                <a:ea typeface="+mn-ea"/>
                <a:cs typeface="+mn-cs"/>
                <a:hlinkClick r:id="rId3"/>
              </a:rPr>
              <a:t>http://www.vertex42.com/ExcelTemplates/vehicle-maintenance-log.html</a:t>
            </a:r>
            <a:r>
              <a:rPr lang="en-AU" sz="1200" u="sng" kern="1200" dirty="0" smtClean="0">
                <a:solidFill>
                  <a:schemeClr val="tx1"/>
                </a:solidFill>
                <a:latin typeface="+mn-lt"/>
                <a:ea typeface="+mn-ea"/>
                <a:cs typeface="+mn-cs"/>
              </a:rPr>
              <a:t> - Vehicle maintenance log.</a:t>
            </a: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237</a:t>
            </a:fld>
            <a:endParaRPr lang="en-US" dirty="0"/>
          </a:p>
        </p:txBody>
      </p:sp>
    </p:spTree>
    <p:extLst>
      <p:ext uri="{BB962C8B-B14F-4D97-AF65-F5344CB8AC3E}">
        <p14:creationId xmlns:p14="http://schemas.microsoft.com/office/powerpoint/2010/main" val="2021158749"/>
      </p:ext>
    </p:extLst>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to present requirements when recording service/repairs:</a:t>
            </a:r>
          </a:p>
          <a:p>
            <a:pPr marL="171450" indent="-171450">
              <a:buFont typeface="Arial" pitchFamily="34" charset="0"/>
              <a:buChar char="•"/>
            </a:pPr>
            <a:r>
              <a:rPr lang="en-AU" sz="1200" kern="1200" dirty="0" smtClean="0">
                <a:solidFill>
                  <a:schemeClr val="tx1"/>
                </a:solidFill>
                <a:latin typeface="+mn-lt"/>
                <a:ea typeface="+mn-ea"/>
                <a:cs typeface="+mn-cs"/>
              </a:rPr>
              <a:t>Updating next scheduled service for the vehicle – in terms of (as appropriate):</a:t>
            </a:r>
          </a:p>
          <a:p>
            <a:pPr marL="628650" lvl="1" indent="-171450">
              <a:buFont typeface="Arial" pitchFamily="34" charset="0"/>
              <a:buChar char="•"/>
            </a:pPr>
            <a:r>
              <a:rPr lang="en-US" sz="1200" kern="1200" dirty="0" smtClean="0">
                <a:solidFill>
                  <a:schemeClr val="tx1"/>
                </a:solidFill>
                <a:latin typeface="+mn-lt"/>
                <a:ea typeface="+mn-ea"/>
                <a:cs typeface="+mn-cs"/>
              </a:rPr>
              <a:t>Date when service is required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Odometer reading when service is required</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This update might be required:</a:t>
            </a:r>
            <a:endParaRPr lang="en-AU" sz="1200" kern="1200" dirty="0" smtClean="0">
              <a:solidFill>
                <a:schemeClr val="tx1"/>
              </a:solidFill>
              <a:latin typeface="+mn-lt"/>
              <a:ea typeface="+mn-ea"/>
              <a:cs typeface="+mn-cs"/>
            </a:endParaRPr>
          </a:p>
          <a:p>
            <a:pPr marL="1543050" lvl="3" indent="-171450">
              <a:buFont typeface="Arial" pitchFamily="34" charset="0"/>
              <a:buChar char="•"/>
            </a:pPr>
            <a:r>
              <a:rPr lang="en-US" sz="1200" kern="1200" dirty="0" smtClean="0">
                <a:solidFill>
                  <a:schemeClr val="tx1"/>
                </a:solidFill>
                <a:latin typeface="+mn-lt"/>
                <a:ea typeface="+mn-ea"/>
                <a:cs typeface="+mn-cs"/>
              </a:rPr>
              <a:t>in a central Service Index – kept to monitor service dates for all vehicles</a:t>
            </a:r>
            <a:endParaRPr lang="en-AU" sz="1200" kern="1200" dirty="0" smtClean="0">
              <a:solidFill>
                <a:schemeClr val="tx1"/>
              </a:solidFill>
              <a:latin typeface="+mn-lt"/>
              <a:ea typeface="+mn-ea"/>
              <a:cs typeface="+mn-cs"/>
            </a:endParaRPr>
          </a:p>
          <a:p>
            <a:pPr marL="1543050" lvl="3" indent="-171450">
              <a:buFont typeface="Arial" pitchFamily="34" charset="0"/>
              <a:buChar char="•"/>
            </a:pPr>
            <a:r>
              <a:rPr lang="en-US" sz="1200" kern="1200" dirty="0" smtClean="0">
                <a:solidFill>
                  <a:schemeClr val="tx1"/>
                </a:solidFill>
                <a:latin typeface="+mn-lt"/>
                <a:ea typeface="+mn-ea"/>
                <a:cs typeface="+mn-cs"/>
              </a:rPr>
              <a:t>In the manual for the vehicle – kept in the glove box/similar in the vehicle</a:t>
            </a:r>
            <a:endParaRPr lang="en-AU" sz="1200" kern="1200" dirty="0" smtClean="0">
              <a:solidFill>
                <a:schemeClr val="tx1"/>
              </a:solidFill>
              <a:latin typeface="+mn-lt"/>
              <a:ea typeface="+mn-ea"/>
              <a:cs typeface="+mn-cs"/>
            </a:endParaRPr>
          </a:p>
          <a:p>
            <a:pPr marL="1543050" lvl="3" indent="-171450">
              <a:buFont typeface="Arial" pitchFamily="34" charset="0"/>
              <a:buChar char="•"/>
            </a:pPr>
            <a:r>
              <a:rPr lang="en-US" sz="1200" kern="1200" dirty="0" smtClean="0">
                <a:solidFill>
                  <a:schemeClr val="tx1"/>
                </a:solidFill>
                <a:latin typeface="+mn-lt"/>
                <a:ea typeface="+mn-ea"/>
                <a:cs typeface="+mn-cs"/>
              </a:rPr>
              <a:t>On a sticker placed on the windscreen of the vehicle</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Attaching the inspection checklist (or copy) which initiated/triggered the work to the completed ‘Service Report’ – if required</a:t>
            </a:r>
          </a:p>
          <a:p>
            <a:pPr marL="171450" indent="-171450">
              <a:buFont typeface="Arial" pitchFamily="34" charset="0"/>
              <a:buChar char="•"/>
            </a:pPr>
            <a:r>
              <a:rPr lang="en-AU" sz="1200" kern="1200" dirty="0" smtClean="0">
                <a:solidFill>
                  <a:schemeClr val="tx1"/>
                </a:solidFill>
                <a:latin typeface="+mn-lt"/>
                <a:ea typeface="+mn-ea"/>
                <a:cs typeface="+mn-cs"/>
              </a:rPr>
              <a:t>Returning the vehicle to its normal location – to return it to service</a:t>
            </a:r>
          </a:p>
          <a:p>
            <a:pPr marL="171450" indent="-171450">
              <a:buFont typeface="Arial" pitchFamily="34" charset="0"/>
              <a:buChar char="•"/>
            </a:pPr>
            <a:r>
              <a:rPr lang="en-AU" sz="1200" kern="1200" dirty="0" smtClean="0">
                <a:solidFill>
                  <a:schemeClr val="tx1"/>
                </a:solidFill>
                <a:latin typeface="+mn-lt"/>
                <a:ea typeface="+mn-ea"/>
                <a:cs typeface="+mn-cs"/>
              </a:rPr>
              <a:t>Notifying personnel who may be waiting on the vehicle – that it is now ready</a:t>
            </a:r>
          </a:p>
          <a:p>
            <a:pPr marL="171450" indent="-171450">
              <a:buFont typeface="Arial" pitchFamily="34" charset="0"/>
              <a:buChar char="•"/>
            </a:pPr>
            <a:r>
              <a:rPr lang="en-AU" sz="1200" kern="1200" dirty="0" smtClean="0">
                <a:solidFill>
                  <a:schemeClr val="tx1"/>
                </a:solidFill>
                <a:latin typeface="+mn-lt"/>
                <a:ea typeface="+mn-ea"/>
                <a:cs typeface="+mn-cs"/>
              </a:rPr>
              <a:t>Processing paperwork – forwarding it as required to administration/management.</a:t>
            </a:r>
            <a:endParaRPr lang="en-US" noProof="0" dirty="0" smtClean="0"/>
          </a:p>
          <a:p>
            <a:pPr>
              <a:buFont typeface="Arial" pitchFamily="34" charset="0"/>
              <a:buNone/>
            </a:pPr>
            <a:endParaRPr lang="en-AU" b="1" noProof="0" dirty="0" smtClean="0"/>
          </a:p>
          <a:p>
            <a:pPr>
              <a:buFont typeface="Arial" pitchFamily="34" charset="0"/>
              <a:buNone/>
            </a:pPr>
            <a:r>
              <a:rPr lang="en-AU" b="1" noProof="0" dirty="0" smtClean="0"/>
              <a:t>Classroom Activity – Demonstration and Practical</a:t>
            </a:r>
          </a:p>
          <a:p>
            <a:pPr>
              <a:buFont typeface="Arial" pitchFamily="34" charset="0"/>
              <a:buNone/>
            </a:pPr>
            <a:r>
              <a:rPr lang="en-AU" b="0" noProof="0" dirty="0" smtClean="0"/>
              <a:t>Trainer demonstrates how complete service/repair record </a:t>
            </a:r>
            <a:r>
              <a:rPr lang="en-AU" b="0" baseline="0" noProof="0" dirty="0" smtClean="0"/>
              <a:t>and provides opportunity for students to do the same.</a:t>
            </a:r>
            <a:endParaRPr lang="en-AU" b="0"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238</a:t>
            </a:fld>
            <a:endParaRPr lang="en-US" dirty="0"/>
          </a:p>
        </p:txBody>
      </p:sp>
    </p:spTree>
    <p:extLst>
      <p:ext uri="{BB962C8B-B14F-4D97-AF65-F5344CB8AC3E}">
        <p14:creationId xmlns:p14="http://schemas.microsoft.com/office/powerpoint/2010/main" val="582503519"/>
      </p:ext>
    </p:extLst>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explains </a:t>
            </a:r>
            <a:r>
              <a:rPr lang="en-AU" sz="1200" kern="1200" dirty="0" smtClean="0">
                <a:solidFill>
                  <a:schemeClr val="tx1"/>
                </a:solidFill>
                <a:latin typeface="+mn-lt"/>
                <a:ea typeface="+mn-ea"/>
                <a:cs typeface="+mn-cs"/>
              </a:rPr>
              <a:t>the need to record the completion and maintenance of vehicle service and repairs may include:</a:t>
            </a:r>
          </a:p>
          <a:p>
            <a:pPr marL="171450" indent="-171450">
              <a:buFont typeface="Arial" pitchFamily="34" charset="0"/>
              <a:buChar char="•"/>
            </a:pPr>
            <a:r>
              <a:rPr lang="en-AU" sz="1200" kern="1200" dirty="0" smtClean="0">
                <a:solidFill>
                  <a:schemeClr val="tx1"/>
                </a:solidFill>
                <a:latin typeface="+mn-lt"/>
                <a:ea typeface="+mn-ea"/>
                <a:cs typeface="+mn-cs"/>
              </a:rPr>
              <a:t>A range of host enterprise requirements  - which can relate to:</a:t>
            </a:r>
          </a:p>
          <a:p>
            <a:pPr marL="628650" lvl="1" indent="-171450">
              <a:buFont typeface="Arial" pitchFamily="34" charset="0"/>
              <a:buChar char="•"/>
            </a:pPr>
            <a:r>
              <a:rPr lang="en-US" sz="1200" kern="1200" dirty="0" smtClean="0">
                <a:solidFill>
                  <a:schemeClr val="tx1"/>
                </a:solidFill>
                <a:latin typeface="+mn-lt"/>
                <a:ea typeface="+mn-ea"/>
                <a:cs typeface="+mn-cs"/>
              </a:rPr>
              <a:t>Monitoring costs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Tracking vehicle use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Identifying vehicle service dates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Identifying vehicle dates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Calculating economy </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Need to comply with legislated requirements – especially:</a:t>
            </a:r>
          </a:p>
          <a:p>
            <a:pPr marL="628650" lvl="1" indent="-171450">
              <a:buFont typeface="Arial" pitchFamily="34" charset="0"/>
              <a:buChar char="•"/>
            </a:pPr>
            <a:r>
              <a:rPr lang="en-US" sz="1200" kern="1200" dirty="0" smtClean="0">
                <a:solidFill>
                  <a:schemeClr val="tx1"/>
                </a:solidFill>
                <a:latin typeface="+mn-lt"/>
                <a:ea typeface="+mn-ea"/>
                <a:cs typeface="+mn-cs"/>
              </a:rPr>
              <a:t>Vehicle registration in the correct (‘commercial’) category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Mandatory insurance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Roadworthiness.</a:t>
            </a:r>
            <a:endParaRPr lang="en-AU" sz="1200" kern="1200" dirty="0" smtClean="0">
              <a:solidFill>
                <a:schemeClr val="tx1"/>
              </a:solidFill>
              <a:latin typeface="+mn-lt"/>
              <a:ea typeface="+mn-ea"/>
              <a:cs typeface="+mn-cs"/>
            </a:endParaRPr>
          </a:p>
          <a:p>
            <a:pPr>
              <a:buFont typeface="Arial" pitchFamily="34" charset="0"/>
              <a:buChar char="•"/>
            </a:pPr>
            <a:endParaRPr lang="en-AU" sz="1200" kern="1200" dirty="0" smtClean="0">
              <a:solidFill>
                <a:schemeClr val="tx1"/>
              </a:solidFill>
              <a:latin typeface="+mn-lt"/>
              <a:ea typeface="+mn-ea"/>
              <a:cs typeface="+mn-cs"/>
            </a:endParaRPr>
          </a:p>
          <a:p>
            <a:pPr>
              <a:buFont typeface="Arial" pitchFamily="34" charset="0"/>
              <a:buNone/>
            </a:pPr>
            <a:r>
              <a:rPr lang="en-US" b="1" noProof="0" dirty="0" smtClean="0"/>
              <a:t>Classroom Activity – Guest Speaker</a:t>
            </a:r>
          </a:p>
          <a:p>
            <a:pPr>
              <a:buFont typeface="Arial" pitchFamily="34" charset="0"/>
              <a:buNone/>
            </a:pPr>
            <a:r>
              <a:rPr lang="en-US" b="0" noProof="0" dirty="0" smtClean="0"/>
              <a:t>Trainer arranges for relevant Service Manager or Business owner/manager to attend and:</a:t>
            </a:r>
          </a:p>
          <a:p>
            <a:pPr marL="171450" indent="-171450">
              <a:buFont typeface="Arial" pitchFamily="34" charset="0"/>
              <a:buChar char="•"/>
            </a:pPr>
            <a:r>
              <a:rPr lang="en-US" b="0" noProof="0" dirty="0" smtClean="0"/>
              <a:t>Identify records needing to be kept</a:t>
            </a:r>
          </a:p>
          <a:p>
            <a:pPr marL="171450" indent="-171450">
              <a:buFont typeface="Arial" pitchFamily="34" charset="0"/>
              <a:buChar char="•"/>
            </a:pPr>
            <a:r>
              <a:rPr lang="en-US" b="0" noProof="0" dirty="0" smtClean="0"/>
              <a:t>Provide examples of same</a:t>
            </a:r>
          </a:p>
          <a:p>
            <a:pPr marL="171450" indent="-171450">
              <a:buFont typeface="Arial" pitchFamily="34" charset="0"/>
              <a:buChar char="•"/>
            </a:pPr>
            <a:r>
              <a:rPr lang="en-US" b="0" noProof="0" dirty="0" smtClean="0"/>
              <a:t>Explain completion of same.</a:t>
            </a:r>
          </a:p>
          <a:p>
            <a:pPr>
              <a:buFont typeface="Arial" pitchFamily="34" charset="0"/>
              <a:buNone/>
            </a:pPr>
            <a:endParaRPr lang="en-US" b="1"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239</a:t>
            </a:fld>
            <a:endParaRPr lang="en-US" dirty="0"/>
          </a:p>
        </p:txBody>
      </p:sp>
    </p:spTree>
    <p:extLst>
      <p:ext uri="{BB962C8B-B14F-4D97-AF65-F5344CB8AC3E}">
        <p14:creationId xmlns:p14="http://schemas.microsoft.com/office/powerpoint/2010/main" val="1750776166"/>
      </p:ext>
    </p:extLst>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identifying need to complete these records:</a:t>
            </a:r>
          </a:p>
          <a:p>
            <a:pPr marL="171450" indent="-171450">
              <a:buFont typeface="Arial" pitchFamily="34" charset="0"/>
              <a:buChar char="•"/>
            </a:pPr>
            <a:r>
              <a:rPr lang="en-AU" sz="1200" kern="1200" dirty="0" smtClean="0">
                <a:solidFill>
                  <a:schemeClr val="tx1"/>
                </a:solidFill>
                <a:latin typeface="+mn-lt"/>
                <a:ea typeface="+mn-ea"/>
                <a:cs typeface="+mn-cs"/>
              </a:rPr>
              <a:t>Requirements imposed on the business by clients such as tour operators, venues and site operators who contract the use of vehicles – as these apply to:</a:t>
            </a:r>
          </a:p>
          <a:p>
            <a:pPr marL="628650" lvl="1" indent="-171450">
              <a:buFont typeface="Arial" pitchFamily="34" charset="0"/>
              <a:buChar char="•"/>
            </a:pPr>
            <a:r>
              <a:rPr lang="en-US" sz="1200" kern="1200" dirty="0" smtClean="0">
                <a:solidFill>
                  <a:schemeClr val="tx1"/>
                </a:solidFill>
                <a:latin typeface="+mn-lt"/>
                <a:ea typeface="+mn-ea"/>
                <a:cs typeface="+mn-cs"/>
              </a:rPr>
              <a:t>Cleaning of vehicles ready for use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Maintaining service of vehicles for operational reliability and safety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Ensuring availability of vehicle at times they are required/booked/contracted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Recording use by external parties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Capturing usage facts for administration and charging purposes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Requirements imposed on the business by third parties such as insurers and auditors – such as:</a:t>
            </a:r>
          </a:p>
          <a:p>
            <a:pPr marL="628650" lvl="1" indent="-171450">
              <a:buFont typeface="Arial" pitchFamily="34" charset="0"/>
              <a:buChar char="•"/>
            </a:pPr>
            <a:r>
              <a:rPr lang="en-US" sz="1200" kern="1200" dirty="0" smtClean="0">
                <a:solidFill>
                  <a:schemeClr val="tx1"/>
                </a:solidFill>
                <a:latin typeface="+mn-lt"/>
                <a:ea typeface="+mn-ea"/>
                <a:cs typeface="+mn-cs"/>
              </a:rPr>
              <a:t>Advising of incidents and accidents, as/if necessary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Notifying of repairs and/or modifications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Maintaining insurance coverage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Ensuring vehicles are maintained in a condition (operational, appearance, comfort, safety, facilities) that complies with the standard demanded by the code/system being audited</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Requirements imposed by Taxation agency for the country – in terms of:</a:t>
            </a:r>
          </a:p>
          <a:p>
            <a:pPr marL="628650" lvl="1" indent="-171450">
              <a:buFont typeface="Arial" pitchFamily="34" charset="0"/>
              <a:buChar char="•"/>
            </a:pPr>
            <a:r>
              <a:rPr lang="en-US" sz="1200" kern="1200" dirty="0" smtClean="0">
                <a:solidFill>
                  <a:schemeClr val="tx1"/>
                </a:solidFill>
                <a:latin typeface="+mn-lt"/>
                <a:ea typeface="+mn-ea"/>
                <a:cs typeface="+mn-cs"/>
              </a:rPr>
              <a:t>Maintaining records to show usage information of the vehicle/distance travelled and other data as may be required to demonstrate legitimate business-related use – for example:</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Times and dates</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Destinations</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Purpose/reason for travel</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Retaining evidence/receipts of work performed on vehicle and fuel for it.</a:t>
            </a:r>
            <a:endParaRPr lang="en-AU" sz="1200" kern="120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240</a:t>
            </a:fld>
            <a:endParaRPr lang="en-US" dirty="0"/>
          </a:p>
        </p:txBody>
      </p:sp>
    </p:spTree>
    <p:extLst>
      <p:ext uri="{BB962C8B-B14F-4D97-AF65-F5344CB8AC3E}">
        <p14:creationId xmlns:p14="http://schemas.microsoft.com/office/powerpoint/2010/main" val="1528671049"/>
      </p:ext>
    </p:extLst>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241</a:t>
            </a:fld>
            <a:endParaRPr lang="en-US" dirty="0"/>
          </a:p>
        </p:txBody>
      </p:sp>
    </p:spTree>
    <p:extLst>
      <p:ext uri="{BB962C8B-B14F-4D97-AF65-F5344CB8AC3E}">
        <p14:creationId xmlns:p14="http://schemas.microsoft.com/office/powerpoint/2010/main" val="2940467875"/>
      </p:ext>
    </p:extLst>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thanks trainees for their attention and encourages them to apply course content as required in their workplace activities.</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242</a:t>
            </a:fld>
            <a:endParaRPr lang="en-US" dirty="0"/>
          </a:p>
        </p:txBody>
      </p:sp>
    </p:spTree>
    <p:extLst>
      <p:ext uri="{BB962C8B-B14F-4D97-AF65-F5344CB8AC3E}">
        <p14:creationId xmlns:p14="http://schemas.microsoft.com/office/powerpoint/2010/main" val="41914815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7/11/2016</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3400" b="1"/>
            </a:lvl1pPr>
          </a:lstStyle>
          <a:p>
            <a:r>
              <a:rPr kumimoji="0" lang="en-US" dirty="0" smtClean="0"/>
              <a:t>Click to edit Master title style</a:t>
            </a:r>
            <a:endParaRPr kumimoji="0" lang="en-US" dirty="0"/>
          </a:p>
        </p:txBody>
      </p:sp>
      <p:sp>
        <p:nvSpPr>
          <p:cNvPr id="3" name="Content Placeholder 2"/>
          <p:cNvSpPr>
            <a:spLocks noGrp="1"/>
          </p:cNvSpPr>
          <p:nvPr>
            <p:ph idx="1"/>
          </p:nvPr>
        </p:nvSpPr>
        <p:spPr>
          <a:xfrm>
            <a:off x="457200" y="1988840"/>
            <a:ext cx="4114800" cy="4137323"/>
          </a:xfrm>
        </p:spPr>
        <p:txBody>
          <a:bodyPr/>
          <a:lstStyle>
            <a:lvl1pPr>
              <a:defRPr sz="2200">
                <a:latin typeface="Helvetica" panose="020B0604020202020204" pitchFamily="34" charset="0"/>
                <a:cs typeface="Helvetica" panose="020B0604020202020204" pitchFamily="34" charset="0"/>
              </a:defRPr>
            </a:lvl1pPr>
            <a:lvl2pPr>
              <a:defRPr sz="2200">
                <a:latin typeface="Helvetica" panose="020B0604020202020204" pitchFamily="34" charset="0"/>
                <a:cs typeface="Helvetica" panose="020B0604020202020204" pitchFamily="34" charset="0"/>
              </a:defRPr>
            </a:lvl2pPr>
            <a:lvl3pPr>
              <a:defRPr sz="1800">
                <a:latin typeface="Helvetica" panose="020B0604020202020204" pitchFamily="34" charset="0"/>
                <a:cs typeface="Helvetica" panose="020B0604020202020204" pitchFamily="34" charset="0"/>
              </a:defRPr>
            </a:lvl3pPr>
            <a:lvl4pPr>
              <a:defRPr sz="1800">
                <a:latin typeface="Helvetica" panose="020B0604020202020204" pitchFamily="34" charset="0"/>
                <a:cs typeface="Helvetica" panose="020B0604020202020204" pitchFamily="34" charset="0"/>
              </a:defRPr>
            </a:lvl4pPr>
            <a:lvl5pPr>
              <a:defRPr sz="1800">
                <a:latin typeface="Helvetica" panose="020B0604020202020204" pitchFamily="34" charset="0"/>
                <a:cs typeface="Helvetica" panose="020B0604020202020204" pitchFamily="34" charset="0"/>
              </a:defRPr>
            </a:lvl5pPr>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
        <p:nvSpPr>
          <p:cNvPr id="4" name="Date Placeholder 3"/>
          <p:cNvSpPr>
            <a:spLocks noGrp="1"/>
          </p:cNvSpPr>
          <p:nvPr>
            <p:ph type="dt" sz="half" idx="10"/>
          </p:nvPr>
        </p:nvSpPr>
        <p:spPr/>
        <p:txBody>
          <a:bodyPr/>
          <a:lstStyle/>
          <a:p>
            <a:fld id="{0646F223-D3A2-44F5-8051-829B2F23C0D4}" type="datetime1">
              <a:rPr lang="en-US" smtClean="0"/>
              <a:pPr/>
              <a:t>7/11/2016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7/11/2016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7/11/2016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7/11/2016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7/11/2016</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7/11/2016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7/11/2016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7/11/2016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7/11/2016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7/11/2016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0B9F9CF-7D2C-460C-8F3E-F6213A54EF65}" type="datetime1">
              <a:rPr lang="en-US" smtClean="0"/>
              <a:pPr/>
              <a:t>7/11/2016</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3200" kern="1200">
          <a:solidFill>
            <a:srgbClr val="FF6600"/>
          </a:solidFill>
          <a:latin typeface="Helvetica" panose="020B0604020202020204" pitchFamily="34" charset="0"/>
          <a:ea typeface="+mj-ea"/>
          <a:cs typeface="Helvetica" panose="020B0604020202020204" pitchFamily="34" charset="0"/>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microsoft.com/office/2007/relationships/hdphoto" Target="../media/hdphoto1.wdp"/></Relationships>
</file>

<file path=ppt/slides/_rels/slide2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microsoft.com/office/2007/relationships/hdphoto" Target="../media/hdphoto2.wdp"/></Relationships>
</file>

<file path=ppt/slides/_rels/slide2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microsoft.com/office/2007/relationships/hdphoto" Target="../media/hdphoto3.wdp"/></Relationships>
</file>

<file path=ppt/slides/_rels/slide27.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5.jp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76.xml"/><Relationship Id="rId1" Type="http://schemas.openxmlformats.org/officeDocument/2006/relationships/slideLayout" Target="../slideLayouts/slideLayout2.xml"/><Relationship Id="rId4" Type="http://schemas.openxmlformats.org/officeDocument/2006/relationships/image" Target="../media/image80.jpg"/></Relationships>
</file>

<file path=ppt/slides/_rels/slide77.xml.rels><?xml version="1.0" encoding="UTF-8" standalone="yes"?>
<Relationships xmlns="http://schemas.openxmlformats.org/package/2006/relationships"><Relationship Id="rId3" Type="http://schemas.openxmlformats.org/officeDocument/2006/relationships/image" Target="../media/image81.jp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88.jp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90.jpg"/><Relationship Id="rId2" Type="http://schemas.openxmlformats.org/officeDocument/2006/relationships/notesSlide" Target="../notesSlides/notesSlide86.xml"/><Relationship Id="rId1" Type="http://schemas.openxmlformats.org/officeDocument/2006/relationships/slideLayout" Target="../slideLayouts/slideLayout2.xml"/><Relationship Id="rId4" Type="http://schemas.openxmlformats.org/officeDocument/2006/relationships/image" Target="../media/image91.jpg"/></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98.jp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00.jp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01.jp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109.xml"/><Relationship Id="rId1" Type="http://schemas.openxmlformats.org/officeDocument/2006/relationships/slideLayout" Target="../slideLayouts/slideLayout2.xml"/><Relationship Id="rId4" Type="http://schemas.microsoft.com/office/2007/relationships/hdphoto" Target="../media/hdphoto4.wdp"/></Relationships>
</file>

<file path=ppt/slides/_rels/slide110.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119.xml"/><Relationship Id="rId1" Type="http://schemas.openxmlformats.org/officeDocument/2006/relationships/slideLayout" Target="../slideLayouts/slideLayout2.xml"/><Relationship Id="rId4" Type="http://schemas.microsoft.com/office/2007/relationships/hdphoto" Target="../media/hdphoto3.wdp"/></Relationships>
</file>

<file path=ppt/slides/_rels/slide120.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24.jpe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27.jpe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29.JP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30.jpe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31.jpe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140.xml"/><Relationship Id="rId1" Type="http://schemas.openxmlformats.org/officeDocument/2006/relationships/slideLayout" Target="../slideLayouts/slideLayout2.xml"/><Relationship Id="rId4" Type="http://schemas.microsoft.com/office/2007/relationships/hdphoto" Target="../media/hdphoto4.wdp"/></Relationships>
</file>

<file path=ppt/slides/_rels/slide141.xml.rels><?xml version="1.0" encoding="UTF-8" standalone="yes"?>
<Relationships xmlns="http://schemas.openxmlformats.org/package/2006/relationships"><Relationship Id="rId3" Type="http://schemas.openxmlformats.org/officeDocument/2006/relationships/image" Target="../media/image133.jpeg"/><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34.jpeg"/><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135.jpeg"/><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136.jpeg"/><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137.jpeg"/><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138.jpeg"/><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139.jpeg"/><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140.jpeg"/><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141.jpeg"/><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142.jpeg"/><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143.jpeg"/><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144.jpeg"/><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145.jpg"/><Relationship Id="rId2" Type="http://schemas.openxmlformats.org/officeDocument/2006/relationships/notesSlide" Target="../notesSlides/notesSlide154.xml"/><Relationship Id="rId1" Type="http://schemas.openxmlformats.org/officeDocument/2006/relationships/slideLayout" Target="../slideLayouts/slideLayout2.xml"/><Relationship Id="rId4" Type="http://schemas.openxmlformats.org/officeDocument/2006/relationships/image" Target="../media/image146.jpeg"/></Relationships>
</file>

<file path=ppt/slides/_rels/slide155.xml.rels><?xml version="1.0" encoding="UTF-8" standalone="yes"?>
<Relationships xmlns="http://schemas.openxmlformats.org/package/2006/relationships"><Relationship Id="rId3" Type="http://schemas.openxmlformats.org/officeDocument/2006/relationships/image" Target="../media/image147.jpeg"/><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148.jpeg"/><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149.jpeg"/><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150.jpg"/><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151.jpeg"/><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152.jpeg"/><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153.gif"/><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154.jpg"/><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155.jpeg"/><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156.jpeg"/><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image" Target="../media/image157.jpeg"/><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158.jpeg"/><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159.jpeg"/><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image" Target="../media/image160.jpeg"/><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image" Target="../media/image161.jpeg"/><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3" Type="http://schemas.openxmlformats.org/officeDocument/2006/relationships/image" Target="../media/image162.jpeg"/><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163.jpeg"/><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3" Type="http://schemas.openxmlformats.org/officeDocument/2006/relationships/image" Target="../media/image164.jpeg"/><Relationship Id="rId2" Type="http://schemas.openxmlformats.org/officeDocument/2006/relationships/notesSlide" Target="../notesSlides/notesSlide173.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165.jpeg"/><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3" Type="http://schemas.openxmlformats.org/officeDocument/2006/relationships/image" Target="../media/image166.jpeg"/><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3" Type="http://schemas.openxmlformats.org/officeDocument/2006/relationships/image" Target="../media/image167.jpeg"/><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3" Type="http://schemas.openxmlformats.org/officeDocument/2006/relationships/image" Target="../media/image168.jpeg"/><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openxmlformats.org/officeDocument/2006/relationships/image" Target="../media/image169.jpeg"/><Relationship Id="rId2" Type="http://schemas.openxmlformats.org/officeDocument/2006/relationships/notesSlide" Target="../notesSlides/notesSlide178.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openxmlformats.org/officeDocument/2006/relationships/image" Target="../media/image170.jpeg"/><Relationship Id="rId2" Type="http://schemas.openxmlformats.org/officeDocument/2006/relationships/notesSlide" Target="../notesSlides/notesSlide179.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3" Type="http://schemas.openxmlformats.org/officeDocument/2006/relationships/image" Target="../media/image171.jpeg"/><Relationship Id="rId2" Type="http://schemas.openxmlformats.org/officeDocument/2006/relationships/notesSlide" Target="../notesSlides/notesSlide180.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3" Type="http://schemas.openxmlformats.org/officeDocument/2006/relationships/image" Target="../media/image172.jpeg"/><Relationship Id="rId2" Type="http://schemas.openxmlformats.org/officeDocument/2006/relationships/notesSlide" Target="../notesSlides/notesSlide181.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3" Type="http://schemas.openxmlformats.org/officeDocument/2006/relationships/image" Target="../media/image173.jpeg"/><Relationship Id="rId2" Type="http://schemas.openxmlformats.org/officeDocument/2006/relationships/notesSlide" Target="../notesSlides/notesSlide182.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3" Type="http://schemas.openxmlformats.org/officeDocument/2006/relationships/image" Target="../media/image174.jpeg"/><Relationship Id="rId2" Type="http://schemas.openxmlformats.org/officeDocument/2006/relationships/notesSlide" Target="../notesSlides/notesSlide183.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3" Type="http://schemas.openxmlformats.org/officeDocument/2006/relationships/image" Target="../media/image175.jpeg"/><Relationship Id="rId2" Type="http://schemas.openxmlformats.org/officeDocument/2006/relationships/notesSlide" Target="../notesSlides/notesSlide184.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3" Type="http://schemas.openxmlformats.org/officeDocument/2006/relationships/image" Target="../media/image176.jpeg"/><Relationship Id="rId2" Type="http://schemas.openxmlformats.org/officeDocument/2006/relationships/notesSlide" Target="../notesSlides/notesSlide185.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3" Type="http://schemas.openxmlformats.org/officeDocument/2006/relationships/image" Target="../media/image177.jpeg"/><Relationship Id="rId2" Type="http://schemas.openxmlformats.org/officeDocument/2006/relationships/notesSlide" Target="../notesSlides/notesSlide186.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3" Type="http://schemas.openxmlformats.org/officeDocument/2006/relationships/image" Target="../media/image178.jpeg"/><Relationship Id="rId2" Type="http://schemas.openxmlformats.org/officeDocument/2006/relationships/notesSlide" Target="../notesSlides/notesSlide187.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3" Type="http://schemas.openxmlformats.org/officeDocument/2006/relationships/image" Target="../media/image179.jpeg"/><Relationship Id="rId2" Type="http://schemas.openxmlformats.org/officeDocument/2006/relationships/notesSlide" Target="../notesSlides/notesSlide188.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3" Type="http://schemas.openxmlformats.org/officeDocument/2006/relationships/image" Target="../media/image180.jpeg"/><Relationship Id="rId2" Type="http://schemas.openxmlformats.org/officeDocument/2006/relationships/notesSlide" Target="../notesSlides/notesSlide189.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3" Type="http://schemas.openxmlformats.org/officeDocument/2006/relationships/image" Target="../media/image181.jpeg"/><Relationship Id="rId2" Type="http://schemas.openxmlformats.org/officeDocument/2006/relationships/notesSlide" Target="../notesSlides/notesSlide190.xml"/><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3" Type="http://schemas.openxmlformats.org/officeDocument/2006/relationships/image" Target="../media/image182.jpeg"/><Relationship Id="rId2" Type="http://schemas.openxmlformats.org/officeDocument/2006/relationships/notesSlide" Target="../notesSlides/notesSlide191.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3" Type="http://schemas.openxmlformats.org/officeDocument/2006/relationships/image" Target="../media/image183.jpeg"/><Relationship Id="rId2" Type="http://schemas.openxmlformats.org/officeDocument/2006/relationships/notesSlide" Target="../notesSlides/notesSlide192.xml"/><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3" Type="http://schemas.openxmlformats.org/officeDocument/2006/relationships/image" Target="../media/image184.jpeg"/><Relationship Id="rId2" Type="http://schemas.openxmlformats.org/officeDocument/2006/relationships/notesSlide" Target="../notesSlides/notesSlide193.xml"/><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3" Type="http://schemas.openxmlformats.org/officeDocument/2006/relationships/image" Target="../media/image185.jpeg"/><Relationship Id="rId2" Type="http://schemas.openxmlformats.org/officeDocument/2006/relationships/notesSlide" Target="../notesSlides/notesSlide194.xml"/><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3" Type="http://schemas.openxmlformats.org/officeDocument/2006/relationships/image" Target="../media/image186.jpeg"/><Relationship Id="rId2" Type="http://schemas.openxmlformats.org/officeDocument/2006/relationships/notesSlide" Target="../notesSlides/notesSlide195.xml"/><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196.xml"/><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3" Type="http://schemas.openxmlformats.org/officeDocument/2006/relationships/image" Target="../media/image187.jpeg"/><Relationship Id="rId2" Type="http://schemas.openxmlformats.org/officeDocument/2006/relationships/notesSlide" Target="../notesSlides/notesSlide197.xml"/><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3" Type="http://schemas.openxmlformats.org/officeDocument/2006/relationships/image" Target="../media/image188.jpeg"/><Relationship Id="rId2" Type="http://schemas.openxmlformats.org/officeDocument/2006/relationships/notesSlide" Target="../notesSlides/notesSlide198.xml"/><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3" Type="http://schemas.openxmlformats.org/officeDocument/2006/relationships/image" Target="../media/image189.jpeg"/><Relationship Id="rId2" Type="http://schemas.openxmlformats.org/officeDocument/2006/relationships/notesSlide" Target="../notesSlides/notesSlide199.xml"/><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3" Type="http://schemas.openxmlformats.org/officeDocument/2006/relationships/image" Target="../media/image190.jpeg"/><Relationship Id="rId2" Type="http://schemas.openxmlformats.org/officeDocument/2006/relationships/notesSlide" Target="../notesSlides/notesSlide200.xml"/><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3" Type="http://schemas.openxmlformats.org/officeDocument/2006/relationships/image" Target="../media/image191.jpeg"/><Relationship Id="rId2" Type="http://schemas.openxmlformats.org/officeDocument/2006/relationships/notesSlide" Target="../notesSlides/notesSlide201.xml"/><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3" Type="http://schemas.openxmlformats.org/officeDocument/2006/relationships/image" Target="../media/image192.jpeg"/><Relationship Id="rId2" Type="http://schemas.openxmlformats.org/officeDocument/2006/relationships/notesSlide" Target="../notesSlides/notesSlide202.xml"/><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3" Type="http://schemas.openxmlformats.org/officeDocument/2006/relationships/image" Target="../media/image193.jpeg"/><Relationship Id="rId2" Type="http://schemas.openxmlformats.org/officeDocument/2006/relationships/notesSlide" Target="../notesSlides/notesSlide203.xml"/><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3" Type="http://schemas.openxmlformats.org/officeDocument/2006/relationships/image" Target="../media/image143.jpeg"/><Relationship Id="rId2" Type="http://schemas.openxmlformats.org/officeDocument/2006/relationships/notesSlide" Target="../notesSlides/notesSlide204.xml"/><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3" Type="http://schemas.openxmlformats.org/officeDocument/2006/relationships/image" Target="../media/image194.jpeg"/><Relationship Id="rId2" Type="http://schemas.openxmlformats.org/officeDocument/2006/relationships/notesSlide" Target="../notesSlides/notesSlide205.xml"/><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3" Type="http://schemas.openxmlformats.org/officeDocument/2006/relationships/image" Target="../media/image195.jpeg"/><Relationship Id="rId2" Type="http://schemas.openxmlformats.org/officeDocument/2006/relationships/notesSlide" Target="../notesSlides/notesSlide206.xml"/><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3" Type="http://schemas.openxmlformats.org/officeDocument/2006/relationships/image" Target="../media/image187.jpeg"/><Relationship Id="rId2" Type="http://schemas.openxmlformats.org/officeDocument/2006/relationships/notesSlide" Target="../notesSlides/notesSlide207.xml"/><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208.xml"/><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3" Type="http://schemas.openxmlformats.org/officeDocument/2006/relationships/image" Target="../media/image196.jpeg"/><Relationship Id="rId2" Type="http://schemas.openxmlformats.org/officeDocument/2006/relationships/notesSlide" Target="../notesSlides/notesSlide209.xml"/><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3" Type="http://schemas.openxmlformats.org/officeDocument/2006/relationships/image" Target="../media/image197.jpeg"/><Relationship Id="rId2" Type="http://schemas.openxmlformats.org/officeDocument/2006/relationships/notesSlide" Target="../notesSlides/notesSlide210.xml"/><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3" Type="http://schemas.openxmlformats.org/officeDocument/2006/relationships/image" Target="../media/image198.jpeg"/><Relationship Id="rId2" Type="http://schemas.openxmlformats.org/officeDocument/2006/relationships/notesSlide" Target="../notesSlides/notesSlide211.xml"/><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3" Type="http://schemas.openxmlformats.org/officeDocument/2006/relationships/image" Target="../media/image199.jpeg"/><Relationship Id="rId2" Type="http://schemas.openxmlformats.org/officeDocument/2006/relationships/notesSlide" Target="../notesSlides/notesSlide212.xml"/><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3" Type="http://schemas.openxmlformats.org/officeDocument/2006/relationships/image" Target="../media/image200.jpeg"/><Relationship Id="rId2" Type="http://schemas.openxmlformats.org/officeDocument/2006/relationships/notesSlide" Target="../notesSlides/notesSlide213.xml"/><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3" Type="http://schemas.openxmlformats.org/officeDocument/2006/relationships/image" Target="../media/image201.jpeg"/><Relationship Id="rId2" Type="http://schemas.openxmlformats.org/officeDocument/2006/relationships/notesSlide" Target="../notesSlides/notesSlide214.xml"/><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3" Type="http://schemas.openxmlformats.org/officeDocument/2006/relationships/image" Target="../media/image202.jpeg"/><Relationship Id="rId2" Type="http://schemas.openxmlformats.org/officeDocument/2006/relationships/notesSlide" Target="../notesSlides/notesSlide215.xml"/><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3" Type="http://schemas.openxmlformats.org/officeDocument/2006/relationships/image" Target="../media/image203.jpeg"/><Relationship Id="rId2" Type="http://schemas.openxmlformats.org/officeDocument/2006/relationships/notesSlide" Target="../notesSlides/notesSlide216.xml"/><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3" Type="http://schemas.openxmlformats.org/officeDocument/2006/relationships/image" Target="../media/image204.jpeg"/><Relationship Id="rId2" Type="http://schemas.openxmlformats.org/officeDocument/2006/relationships/notesSlide" Target="../notesSlides/notesSlide217.xml"/><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3" Type="http://schemas.openxmlformats.org/officeDocument/2006/relationships/image" Target="../media/image205.jpeg"/><Relationship Id="rId2" Type="http://schemas.openxmlformats.org/officeDocument/2006/relationships/notesSlide" Target="../notesSlides/notesSlide218.xml"/><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3" Type="http://schemas.openxmlformats.org/officeDocument/2006/relationships/image" Target="../media/image206.png"/><Relationship Id="rId2" Type="http://schemas.openxmlformats.org/officeDocument/2006/relationships/notesSlide" Target="../notesSlides/notesSlide219.xml"/><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3" Type="http://schemas.openxmlformats.org/officeDocument/2006/relationships/image" Target="../media/image207.jpeg"/><Relationship Id="rId2" Type="http://schemas.openxmlformats.org/officeDocument/2006/relationships/notesSlide" Target="../notesSlides/notesSlide220.xml"/><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3" Type="http://schemas.openxmlformats.org/officeDocument/2006/relationships/image" Target="../media/image208.png"/><Relationship Id="rId2" Type="http://schemas.openxmlformats.org/officeDocument/2006/relationships/notesSlide" Target="../notesSlides/notesSlide221.xml"/><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3" Type="http://schemas.openxmlformats.org/officeDocument/2006/relationships/image" Target="../media/image209.png"/><Relationship Id="rId2" Type="http://schemas.openxmlformats.org/officeDocument/2006/relationships/notesSlide" Target="../notesSlides/notesSlide222.xml"/><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223.xml"/><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notesSlide" Target="../notesSlides/notesSlide224.xml"/><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3" Type="http://schemas.openxmlformats.org/officeDocument/2006/relationships/image" Target="../media/image212.png"/><Relationship Id="rId2" Type="http://schemas.openxmlformats.org/officeDocument/2006/relationships/notesSlide" Target="../notesSlides/notesSlide225.xml"/><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3" Type="http://schemas.openxmlformats.org/officeDocument/2006/relationships/image" Target="../media/image213.jpeg"/><Relationship Id="rId2" Type="http://schemas.openxmlformats.org/officeDocument/2006/relationships/notesSlide" Target="../notesSlides/notesSlide226.xml"/><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3" Type="http://schemas.openxmlformats.org/officeDocument/2006/relationships/image" Target="../media/image214.jpeg"/><Relationship Id="rId2" Type="http://schemas.openxmlformats.org/officeDocument/2006/relationships/notesSlide" Target="../notesSlides/notesSlide227.xml"/><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3" Type="http://schemas.openxmlformats.org/officeDocument/2006/relationships/image" Target="../media/image215.jpeg"/><Relationship Id="rId2" Type="http://schemas.openxmlformats.org/officeDocument/2006/relationships/notesSlide" Target="../notesSlides/notesSlide228.xml"/><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3" Type="http://schemas.openxmlformats.org/officeDocument/2006/relationships/image" Target="../media/image216.jpeg"/><Relationship Id="rId2" Type="http://schemas.openxmlformats.org/officeDocument/2006/relationships/notesSlide" Target="../notesSlides/notesSlide229.xml"/><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3" Type="http://schemas.openxmlformats.org/officeDocument/2006/relationships/image" Target="../media/image156.jpeg"/><Relationship Id="rId2" Type="http://schemas.openxmlformats.org/officeDocument/2006/relationships/notesSlide" Target="../notesSlides/notesSlide230.xml"/><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3" Type="http://schemas.openxmlformats.org/officeDocument/2006/relationships/image" Target="../media/image144.jpeg"/><Relationship Id="rId2" Type="http://schemas.openxmlformats.org/officeDocument/2006/relationships/notesSlide" Target="../notesSlides/notesSlide231.xml"/><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3" Type="http://schemas.openxmlformats.org/officeDocument/2006/relationships/image" Target="../media/image141.jpeg"/><Relationship Id="rId2" Type="http://schemas.openxmlformats.org/officeDocument/2006/relationships/notesSlide" Target="../notesSlides/notesSlide232.xml"/><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3" Type="http://schemas.openxmlformats.org/officeDocument/2006/relationships/image" Target="../media/image139.jpeg"/><Relationship Id="rId2" Type="http://schemas.openxmlformats.org/officeDocument/2006/relationships/notesSlide" Target="../notesSlides/notesSlide233.xml"/><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3" Type="http://schemas.openxmlformats.org/officeDocument/2006/relationships/image" Target="../media/image217.jpeg"/><Relationship Id="rId2" Type="http://schemas.openxmlformats.org/officeDocument/2006/relationships/notesSlide" Target="../notesSlides/notesSlide234.xml"/><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3" Type="http://schemas.openxmlformats.org/officeDocument/2006/relationships/image" Target="../media/image138.jpeg"/><Relationship Id="rId2" Type="http://schemas.openxmlformats.org/officeDocument/2006/relationships/notesSlide" Target="../notesSlides/notesSlide235.xml"/><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3" Type="http://schemas.openxmlformats.org/officeDocument/2006/relationships/image" Target="../media/image157.jpeg"/><Relationship Id="rId2" Type="http://schemas.openxmlformats.org/officeDocument/2006/relationships/notesSlide" Target="../notesSlides/notesSlide236.xml"/><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3" Type="http://schemas.openxmlformats.org/officeDocument/2006/relationships/image" Target="../media/image164.jpeg"/><Relationship Id="rId2" Type="http://schemas.openxmlformats.org/officeDocument/2006/relationships/notesSlide" Target="../notesSlides/notesSlide237.xml"/><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3" Type="http://schemas.openxmlformats.org/officeDocument/2006/relationships/image" Target="../media/image218.jpg"/><Relationship Id="rId2" Type="http://schemas.openxmlformats.org/officeDocument/2006/relationships/notesSlide" Target="../notesSlides/notesSlide238.xml"/><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3" Type="http://schemas.openxmlformats.org/officeDocument/2006/relationships/image" Target="../media/image219.jpeg"/><Relationship Id="rId2" Type="http://schemas.openxmlformats.org/officeDocument/2006/relationships/notesSlide" Target="../notesSlides/notesSlide239.xml"/><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3" Type="http://schemas.openxmlformats.org/officeDocument/2006/relationships/image" Target="../media/image220.jpeg"/><Relationship Id="rId2" Type="http://schemas.openxmlformats.org/officeDocument/2006/relationships/notesSlide" Target="../notesSlides/notesSlide240.xml"/><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3" Type="http://schemas.openxmlformats.org/officeDocument/2006/relationships/image" Target="../media/image221.jpeg"/><Relationship Id="rId2" Type="http://schemas.openxmlformats.org/officeDocument/2006/relationships/notesSlide" Target="../notesSlides/notesSlide241.xml"/><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3" Type="http://schemas.openxmlformats.org/officeDocument/2006/relationships/image" Target="../media/image135.jpeg"/><Relationship Id="rId2" Type="http://schemas.openxmlformats.org/officeDocument/2006/relationships/notesSlide" Target="../notesSlides/notesSlide2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07704" y="548680"/>
            <a:ext cx="6480048" cy="936104"/>
          </a:xfrm>
        </p:spPr>
        <p:txBody>
          <a:bodyPr>
            <a:normAutofit fontScale="90000"/>
          </a:bodyPr>
          <a:lstStyle/>
          <a:p>
            <a:r>
              <a:rPr lang="en-AU" sz="4000" dirty="0">
                <a:ln w="5000" cmpd="sng">
                  <a:noFill/>
                  <a:prstDash val="solid"/>
                </a:ln>
                <a:solidFill>
                  <a:srgbClr val="FF6600"/>
                </a:solidFill>
                <a:latin typeface="Helvetica" pitchFamily="34" charset="0"/>
              </a:rPr>
              <a:t>CARRY OUT VEHICLE MAINTENANCE OR MINOR REPAIRS</a:t>
            </a:r>
          </a:p>
        </p:txBody>
      </p:sp>
      <p:sp>
        <p:nvSpPr>
          <p:cNvPr id="3" name="Subtitle 2"/>
          <p:cNvSpPr>
            <a:spLocks noGrp="1"/>
          </p:cNvSpPr>
          <p:nvPr>
            <p:ph type="subTitle" idx="1"/>
          </p:nvPr>
        </p:nvSpPr>
        <p:spPr>
          <a:xfrm>
            <a:off x="5868144" y="2347170"/>
            <a:ext cx="2541268" cy="289742"/>
          </a:xfrm>
        </p:spPr>
        <p:txBody>
          <a:bodyPr>
            <a:normAutofit lnSpcReduction="10000"/>
          </a:bodyPr>
          <a:lstStyle/>
          <a:p>
            <a:r>
              <a:rPr lang="en-AU" b="1" dirty="0">
                <a:latin typeface="Helvetica" pitchFamily="34" charset="0"/>
              </a:rPr>
              <a:t>D2.TTO.CL4.02</a:t>
            </a:r>
          </a:p>
        </p:txBody>
      </p:sp>
      <p:sp>
        <p:nvSpPr>
          <p:cNvPr id="4" name="Slide Number Placeholder 3"/>
          <p:cNvSpPr>
            <a:spLocks noGrp="1"/>
          </p:cNvSpPr>
          <p:nvPr>
            <p:ph type="sldNum" sz="quarter" idx="12"/>
          </p:nvPr>
        </p:nvSpPr>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1</a:t>
            </a:fld>
            <a:endParaRPr lang="en-AU" dirty="0">
              <a:latin typeface="Helvetica" pitchFamily="34" charset="0"/>
            </a:endParaRPr>
          </a:p>
        </p:txBody>
      </p:sp>
      <p:grpSp>
        <p:nvGrpSpPr>
          <p:cNvPr id="6" name="Group 5"/>
          <p:cNvGrpSpPr/>
          <p:nvPr/>
        </p:nvGrpSpPr>
        <p:grpSpPr>
          <a:xfrm>
            <a:off x="611560" y="1916832"/>
            <a:ext cx="5566702" cy="4207470"/>
            <a:chOff x="0" y="0"/>
            <a:chExt cx="7533431" cy="6059171"/>
          </a:xfrm>
        </p:grpSpPr>
        <p:grpSp>
          <p:nvGrpSpPr>
            <p:cNvPr id="7" name="Group 6"/>
            <p:cNvGrpSpPr/>
            <p:nvPr/>
          </p:nvGrpSpPr>
          <p:grpSpPr>
            <a:xfrm>
              <a:off x="2156346" y="13648"/>
              <a:ext cx="3028870" cy="6045523"/>
              <a:chOff x="-13650" y="0"/>
              <a:chExt cx="3029805" cy="6045958"/>
            </a:xfrm>
          </p:grpSpPr>
          <p:pic>
            <p:nvPicPr>
              <p:cNvPr id="14" name="Picture 13"/>
              <p:cNvPicPr>
                <a:picLocks noChangeAspect="1"/>
              </p:cNvPicPr>
              <p:nvPr/>
            </p:nvPicPr>
            <p:blipFill rotWithShape="1">
              <a:blip r:embed="rId3" cstate="print">
                <a:extLst>
                  <a:ext uri="{28A0092B-C50C-407E-A947-70E740481C1C}">
                    <a14:useLocalDpi xmlns:a14="http://schemas.microsoft.com/office/drawing/2010/main" val="0"/>
                  </a:ext>
                </a:extLst>
              </a:blip>
              <a:srcRect l="7457" r="17632"/>
              <a:stretch/>
            </p:blipFill>
            <p:spPr bwMode="auto">
              <a:xfrm>
                <a:off x="0" y="0"/>
                <a:ext cx="3016155" cy="3029803"/>
              </a:xfrm>
              <a:prstGeom prst="rect">
                <a:avLst/>
              </a:prstGeom>
              <a:noFill/>
              <a:ln>
                <a:noFill/>
              </a:ln>
              <a:extLst>
                <a:ext uri="{53640926-AAD7-44D8-BBD7-CCE9431645EC}">
                  <a14:shadowObscured xmlns:a14="http://schemas.microsoft.com/office/drawing/2010/main"/>
                </a:ext>
              </a:extLst>
            </p:spPr>
          </p:pic>
          <p:pic>
            <p:nvPicPr>
              <p:cNvPr id="15" name="Picture 14"/>
              <p:cNvPicPr>
                <a:picLocks noChangeAspect="1"/>
              </p:cNvPicPr>
              <p:nvPr/>
            </p:nvPicPr>
            <p:blipFill rotWithShape="1">
              <a:blip r:embed="rId4" cstate="print">
                <a:extLst>
                  <a:ext uri="{28A0092B-C50C-407E-A947-70E740481C1C}">
                    <a14:useLocalDpi xmlns:a14="http://schemas.microsoft.com/office/drawing/2010/main" val="0"/>
                  </a:ext>
                </a:extLst>
              </a:blip>
              <a:srcRect l="2502" t="3750" r="36049" b="3750"/>
              <a:stretch/>
            </p:blipFill>
            <p:spPr bwMode="auto">
              <a:xfrm>
                <a:off x="-13650" y="3016155"/>
                <a:ext cx="3016155" cy="3029803"/>
              </a:xfrm>
              <a:prstGeom prst="rect">
                <a:avLst/>
              </a:prstGeom>
              <a:ln>
                <a:noFill/>
              </a:ln>
              <a:extLst>
                <a:ext uri="{53640926-AAD7-44D8-BBD7-CCE9431645EC}">
                  <a14:shadowObscured xmlns:a14="http://schemas.microsoft.com/office/drawing/2010/main"/>
                </a:ext>
              </a:extLst>
            </p:spPr>
          </p:pic>
        </p:grpSp>
        <p:grpSp>
          <p:nvGrpSpPr>
            <p:cNvPr id="8" name="Group 7"/>
            <p:cNvGrpSpPr/>
            <p:nvPr/>
          </p:nvGrpSpPr>
          <p:grpSpPr>
            <a:xfrm>
              <a:off x="0" y="0"/>
              <a:ext cx="2565332" cy="6045522"/>
              <a:chOff x="0" y="0"/>
              <a:chExt cx="2565779" cy="6045958"/>
            </a:xfrm>
          </p:grpSpPr>
          <p:pic>
            <p:nvPicPr>
              <p:cNvPr id="12" name="Picture 11"/>
              <p:cNvPicPr>
                <a:picLocks noChangeAspect="1"/>
              </p:cNvPicPr>
              <p:nvPr/>
            </p:nvPicPr>
            <p:blipFill rotWithShape="1">
              <a:blip r:embed="rId5" cstate="print">
                <a:extLst>
                  <a:ext uri="{28A0092B-C50C-407E-A947-70E740481C1C}">
                    <a14:useLocalDpi xmlns:a14="http://schemas.microsoft.com/office/drawing/2010/main" val="0"/>
                  </a:ext>
                </a:extLst>
              </a:blip>
              <a:srcRect t="3586" b="9122"/>
              <a:stretch/>
            </p:blipFill>
            <p:spPr bwMode="auto">
              <a:xfrm>
                <a:off x="0" y="0"/>
                <a:ext cx="2565779" cy="3302758"/>
              </a:xfrm>
              <a:prstGeom prst="rect">
                <a:avLst/>
              </a:prstGeom>
              <a:ln>
                <a:noFill/>
              </a:ln>
              <a:extLst>
                <a:ext uri="{53640926-AAD7-44D8-BBD7-CCE9431645EC}">
                  <a14:shadowObscured xmlns:a14="http://schemas.microsoft.com/office/drawing/2010/main"/>
                </a:ext>
              </a:extLst>
            </p:spPr>
          </p:pic>
          <p:pic>
            <p:nvPicPr>
              <p:cNvPr id="13" name="Picture 12"/>
              <p:cNvPicPr>
                <a:picLocks noChangeAspect="1"/>
              </p:cNvPicPr>
              <p:nvPr/>
            </p:nvPicPr>
            <p:blipFill rotWithShape="1">
              <a:blip r:embed="rId6" cstate="print">
                <a:extLst>
                  <a:ext uri="{28A0092B-C50C-407E-A947-70E740481C1C}">
                    <a14:useLocalDpi xmlns:a14="http://schemas.microsoft.com/office/drawing/2010/main" val="0"/>
                  </a:ext>
                </a:extLst>
              </a:blip>
              <a:srcRect l="23275" r="19761"/>
              <a:stretch/>
            </p:blipFill>
            <p:spPr bwMode="auto">
              <a:xfrm>
                <a:off x="0" y="3043451"/>
                <a:ext cx="2565779" cy="3002507"/>
              </a:xfrm>
              <a:prstGeom prst="rect">
                <a:avLst/>
              </a:prstGeom>
              <a:ln>
                <a:noFill/>
              </a:ln>
              <a:extLst>
                <a:ext uri="{53640926-AAD7-44D8-BBD7-CCE9431645EC}">
                  <a14:shadowObscured xmlns:a14="http://schemas.microsoft.com/office/drawing/2010/main"/>
                </a:ext>
              </a:extLst>
            </p:spPr>
          </p:pic>
        </p:grpSp>
        <p:grpSp>
          <p:nvGrpSpPr>
            <p:cNvPr id="9" name="Group 8"/>
            <p:cNvGrpSpPr/>
            <p:nvPr/>
          </p:nvGrpSpPr>
          <p:grpSpPr>
            <a:xfrm>
              <a:off x="5172501" y="0"/>
              <a:ext cx="2360930" cy="6045835"/>
              <a:chOff x="0" y="0"/>
              <a:chExt cx="2361063" cy="6045959"/>
            </a:xfrm>
          </p:grpSpPr>
          <p:pic>
            <p:nvPicPr>
              <p:cNvPr id="10" name="Picture 9"/>
              <p:cNvPicPr>
                <a:picLocks noChangeAspect="1"/>
              </p:cNvPicPr>
              <p:nvPr/>
            </p:nvPicPr>
            <p:blipFill rotWithShape="1">
              <a:blip r:embed="rId7" cstate="print">
                <a:extLst>
                  <a:ext uri="{28A0092B-C50C-407E-A947-70E740481C1C}">
                    <a14:useLocalDpi xmlns:a14="http://schemas.microsoft.com/office/drawing/2010/main" val="0"/>
                  </a:ext>
                </a:extLst>
              </a:blip>
              <a:srcRect l="1653" t="2048" r="15231" b="6503"/>
              <a:stretch/>
            </p:blipFill>
            <p:spPr bwMode="auto">
              <a:xfrm>
                <a:off x="0" y="2934269"/>
                <a:ext cx="2347415" cy="3111690"/>
              </a:xfrm>
              <a:prstGeom prst="rect">
                <a:avLst/>
              </a:prstGeom>
              <a:ln>
                <a:noFill/>
              </a:ln>
              <a:extLst>
                <a:ext uri="{53640926-AAD7-44D8-BBD7-CCE9431645EC}">
                  <a14:shadowObscured xmlns:a14="http://schemas.microsoft.com/office/drawing/2010/main"/>
                </a:ext>
              </a:extLst>
            </p:spPr>
          </p:pic>
          <p:pic>
            <p:nvPicPr>
              <p:cNvPr id="11" name="Picture 10"/>
              <p:cNvPicPr>
                <a:picLocks noChangeAspect="1"/>
              </p:cNvPicPr>
              <p:nvPr/>
            </p:nvPicPr>
            <p:blipFill rotWithShape="1">
              <a:blip r:embed="rId8" cstate="print">
                <a:extLst>
                  <a:ext uri="{28A0092B-C50C-407E-A947-70E740481C1C}">
                    <a14:useLocalDpi xmlns:a14="http://schemas.microsoft.com/office/drawing/2010/main" val="0"/>
                  </a:ext>
                </a:extLst>
              </a:blip>
              <a:srcRect t="9604" b="4786"/>
              <a:stretch/>
            </p:blipFill>
            <p:spPr bwMode="auto">
              <a:xfrm>
                <a:off x="0" y="0"/>
                <a:ext cx="2361063" cy="3043451"/>
              </a:xfrm>
              <a:prstGeom prst="rect">
                <a:avLst/>
              </a:prstGeom>
              <a:ln>
                <a:noFill/>
              </a:ln>
              <a:extLst>
                <a:ext uri="{53640926-AAD7-44D8-BBD7-CCE9431645EC}">
                  <a14:shadowObscured xmlns:a14="http://schemas.microsoft.com/office/drawing/2010/main"/>
                </a:ext>
              </a:extLst>
            </p:spPr>
          </p:pic>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Carry out vehicle maintenance or minor repairs</a:t>
            </a:r>
            <a:endParaRPr lang="en-US" dirty="0"/>
          </a:p>
        </p:txBody>
      </p:sp>
      <p:sp>
        <p:nvSpPr>
          <p:cNvPr id="3" name="Content Placeholder 2"/>
          <p:cNvSpPr>
            <a:spLocks noGrp="1"/>
          </p:cNvSpPr>
          <p:nvPr>
            <p:ph idx="1"/>
          </p:nvPr>
        </p:nvSpPr>
        <p:spPr/>
        <p:txBody>
          <a:bodyPr/>
          <a:lstStyle/>
          <a:p>
            <a:pPr marL="36576" indent="0">
              <a:buNone/>
            </a:pPr>
            <a:r>
              <a:rPr lang="en-US" dirty="0" smtClean="0"/>
              <a:t>This Unit comprises four Elements:</a:t>
            </a:r>
          </a:p>
          <a:p>
            <a:r>
              <a:rPr lang="en-AU" dirty="0" smtClean="0"/>
              <a:t>Provide scheduled service to vehicles</a:t>
            </a:r>
            <a:endParaRPr lang="en-US" dirty="0" smtClean="0"/>
          </a:p>
          <a:p>
            <a:r>
              <a:rPr lang="en-AU" dirty="0" smtClean="0"/>
              <a:t>Diagnose minor vehicle faults</a:t>
            </a:r>
            <a:endParaRPr lang="en-US" dirty="0" smtClean="0"/>
          </a:p>
          <a:p>
            <a:r>
              <a:rPr lang="en-AU" dirty="0" smtClean="0"/>
              <a:t>Undertake minor repairs to vehicles</a:t>
            </a:r>
            <a:endParaRPr lang="en-US" dirty="0" smtClean="0"/>
          </a:p>
          <a:p>
            <a:r>
              <a:rPr lang="en-AU" dirty="0" smtClean="0"/>
              <a:t>Complete documentation</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a:t>
            </a:fld>
            <a:endParaRPr lang="en-US" dirty="0"/>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28742"/>
          <a:stretch/>
        </p:blipFill>
        <p:spPr>
          <a:xfrm>
            <a:off x="5076056" y="1957481"/>
            <a:ext cx="2677830" cy="276961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Assessment</a:t>
            </a:r>
            <a:endParaRPr lang="en-US" dirty="0"/>
          </a:p>
        </p:txBody>
      </p:sp>
      <p:sp>
        <p:nvSpPr>
          <p:cNvPr id="3" name="Content Placeholder 2"/>
          <p:cNvSpPr>
            <a:spLocks noGrp="1"/>
          </p:cNvSpPr>
          <p:nvPr>
            <p:ph idx="1"/>
          </p:nvPr>
        </p:nvSpPr>
        <p:spPr/>
        <p:txBody>
          <a:bodyPr/>
          <a:lstStyle/>
          <a:p>
            <a:pPr marL="36576" indent="0">
              <a:buNone/>
            </a:pPr>
            <a:r>
              <a:rPr lang="en-US" dirty="0" smtClean="0"/>
              <a:t>Assessment for this unit may include:</a:t>
            </a:r>
          </a:p>
          <a:p>
            <a:r>
              <a:rPr lang="en-US" dirty="0" smtClean="0"/>
              <a:t>Oral questions</a:t>
            </a:r>
          </a:p>
          <a:p>
            <a:r>
              <a:rPr lang="en-US" dirty="0" smtClean="0"/>
              <a:t>Written questions</a:t>
            </a:r>
          </a:p>
          <a:p>
            <a:r>
              <a:rPr lang="en-US" dirty="0" smtClean="0"/>
              <a:t>Work projects</a:t>
            </a:r>
          </a:p>
          <a:p>
            <a:r>
              <a:rPr lang="en-US" dirty="0" smtClean="0"/>
              <a:t>Workplace observation of practical skills</a:t>
            </a:r>
          </a:p>
          <a:p>
            <a:r>
              <a:rPr lang="en-US" dirty="0" smtClean="0"/>
              <a:t>Practical exercises</a:t>
            </a:r>
          </a:p>
          <a:p>
            <a:r>
              <a:rPr lang="en-US" dirty="0" smtClean="0"/>
              <a:t>Formal report from employer/supervisor</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a:t>
            </a:fld>
            <a:endParaRPr lang="en-US" dirty="0"/>
          </a:p>
        </p:txBody>
      </p:sp>
      <p:pic>
        <p:nvPicPr>
          <p:cNvPr id="5" name="Picture 2" descr="C:\Documents and Settings\danielc\Local Settings\Temporary Internet Files\Content.IE5\7NII6ZZT\MP900439533[1].jpg"/>
          <p:cNvPicPr>
            <a:picLocks noChangeAspect="1" noChangeArrowheads="1"/>
          </p:cNvPicPr>
          <p:nvPr/>
        </p:nvPicPr>
        <p:blipFill>
          <a:blip r:embed="rId3" cstate="print"/>
          <a:srcRect/>
          <a:stretch>
            <a:fillRect/>
          </a:stretch>
        </p:blipFill>
        <p:spPr bwMode="auto">
          <a:xfrm>
            <a:off x="5593080" y="1988840"/>
            <a:ext cx="2560320" cy="1704442"/>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Element 1 – </a:t>
            </a:r>
            <a:r>
              <a:rPr lang="en-AU" dirty="0" smtClean="0"/>
              <a:t>Provide scheduled service to vehicles</a:t>
            </a:r>
            <a:endParaRPr lang="en-US" dirty="0"/>
          </a:p>
        </p:txBody>
      </p:sp>
      <p:sp>
        <p:nvSpPr>
          <p:cNvPr id="3" name="Content Placeholder 2"/>
          <p:cNvSpPr>
            <a:spLocks noGrp="1"/>
          </p:cNvSpPr>
          <p:nvPr>
            <p:ph idx="1"/>
          </p:nvPr>
        </p:nvSpPr>
        <p:spPr>
          <a:xfrm>
            <a:off x="457200" y="1988840"/>
            <a:ext cx="4834880" cy="4137323"/>
          </a:xfrm>
        </p:spPr>
        <p:txBody>
          <a:bodyPr>
            <a:normAutofit lnSpcReduction="10000"/>
          </a:bodyPr>
          <a:lstStyle/>
          <a:p>
            <a:pPr marL="36576" indent="0">
              <a:buNone/>
            </a:pPr>
            <a:r>
              <a:rPr lang="en-US" dirty="0" smtClean="0"/>
              <a:t>Performance Criteria for this </a:t>
            </a:r>
            <a:br>
              <a:rPr lang="en-US" dirty="0" smtClean="0"/>
            </a:br>
            <a:r>
              <a:rPr lang="en-US" dirty="0" smtClean="0"/>
              <a:t>Element are:</a:t>
            </a:r>
          </a:p>
          <a:p>
            <a:r>
              <a:rPr lang="en-AU" dirty="0" smtClean="0"/>
              <a:t>Identify necessary minor servicing requirements for specific vehicles</a:t>
            </a:r>
          </a:p>
          <a:p>
            <a:r>
              <a:rPr lang="en-AU" dirty="0" smtClean="0"/>
              <a:t>Determine situations in which maintenance may need to be carried out</a:t>
            </a:r>
          </a:p>
          <a:p>
            <a:r>
              <a:rPr lang="en-AU" dirty="0" smtClean="0"/>
              <a:t>Undertake visual inspections of the vehicle</a:t>
            </a:r>
          </a:p>
          <a:p>
            <a:r>
              <a:rPr lang="en-AU" dirty="0" smtClean="0"/>
              <a:t>Check and adjust vehicle structure</a:t>
            </a:r>
            <a:endParaRPr lang="en-US" dirty="0" smtClean="0"/>
          </a:p>
          <a:p>
            <a:pPr marL="36576" indent="0">
              <a:buNone/>
            </a:pPr>
            <a:r>
              <a:rPr lang="en-US" sz="15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36096" y="1988840"/>
            <a:ext cx="2812869" cy="187618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Element 1 – </a:t>
            </a:r>
            <a:r>
              <a:rPr lang="en-AU" dirty="0" smtClean="0"/>
              <a:t>Provide scheduled service to vehicles</a:t>
            </a:r>
            <a:endParaRPr lang="en-US" dirty="0"/>
          </a:p>
        </p:txBody>
      </p:sp>
      <p:sp>
        <p:nvSpPr>
          <p:cNvPr id="3" name="Content Placeholder 2"/>
          <p:cNvSpPr>
            <a:spLocks noGrp="1"/>
          </p:cNvSpPr>
          <p:nvPr>
            <p:ph idx="1"/>
          </p:nvPr>
        </p:nvSpPr>
        <p:spPr/>
        <p:txBody>
          <a:bodyPr/>
          <a:lstStyle/>
          <a:p>
            <a:r>
              <a:rPr lang="en-AU" dirty="0" smtClean="0"/>
              <a:t>Check and adjust lighting</a:t>
            </a:r>
          </a:p>
          <a:p>
            <a:r>
              <a:rPr lang="en-AU" dirty="0" smtClean="0"/>
              <a:t>Check and adjust vision-related items</a:t>
            </a:r>
            <a:endParaRPr lang="en-US" dirty="0" smtClean="0"/>
          </a:p>
          <a:p>
            <a:r>
              <a:rPr lang="en-AU" dirty="0" smtClean="0"/>
              <a:t>Check and adjust entrances and exits</a:t>
            </a:r>
          </a:p>
          <a:p>
            <a:r>
              <a:rPr lang="en-AU" dirty="0" smtClean="0"/>
              <a:t>Check and adjust vehicle interior</a:t>
            </a:r>
          </a:p>
          <a:p>
            <a:r>
              <a:rPr lang="en-AU" dirty="0" smtClean="0"/>
              <a:t>Check and adjust brakes</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13067" y="2024485"/>
            <a:ext cx="3048000" cy="203301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Element 1 – </a:t>
            </a:r>
            <a:r>
              <a:rPr lang="en-AU" dirty="0" smtClean="0"/>
              <a:t>Provide scheduled service to vehicles</a:t>
            </a:r>
            <a:endParaRPr lang="en-US" dirty="0"/>
          </a:p>
        </p:txBody>
      </p:sp>
      <p:sp>
        <p:nvSpPr>
          <p:cNvPr id="3" name="Content Placeholder 2"/>
          <p:cNvSpPr>
            <a:spLocks noGrp="1"/>
          </p:cNvSpPr>
          <p:nvPr>
            <p:ph idx="1"/>
          </p:nvPr>
        </p:nvSpPr>
        <p:spPr/>
        <p:txBody>
          <a:bodyPr/>
          <a:lstStyle/>
          <a:p>
            <a:r>
              <a:rPr lang="en-AU" dirty="0" smtClean="0"/>
              <a:t>Check and adjust steering</a:t>
            </a:r>
            <a:endParaRPr lang="en-US" dirty="0" smtClean="0"/>
          </a:p>
          <a:p>
            <a:r>
              <a:rPr lang="en-AU" dirty="0" smtClean="0"/>
              <a:t>Check and adjust exhaust</a:t>
            </a:r>
            <a:endParaRPr lang="en-US" dirty="0" smtClean="0"/>
          </a:p>
          <a:p>
            <a:r>
              <a:rPr lang="en-AU" dirty="0" smtClean="0"/>
              <a:t>Check and adjust towing connections</a:t>
            </a:r>
            <a:endParaRPr lang="en-US" dirty="0" smtClean="0"/>
          </a:p>
          <a:p>
            <a:r>
              <a:rPr lang="en-AU" dirty="0" smtClean="0"/>
              <a:t>Check and adjust miscellaneous items</a:t>
            </a:r>
          </a:p>
          <a:p>
            <a:r>
              <a:rPr lang="en-AU" dirty="0" smtClean="0"/>
              <a:t>Check and adjust load restraints</a:t>
            </a:r>
            <a:endParaRPr lang="en-US" dirty="0" smtClean="0"/>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a:t>
            </a:fld>
            <a:endParaRPr lang="en-US" dirty="0"/>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90390" y="1988840"/>
            <a:ext cx="3048000" cy="203301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Element 1 – </a:t>
            </a:r>
            <a:r>
              <a:rPr lang="en-AU" dirty="0" smtClean="0"/>
              <a:t>Provide scheduled service to vehicles</a:t>
            </a:r>
            <a:endParaRPr lang="en-US" dirty="0"/>
          </a:p>
        </p:txBody>
      </p:sp>
      <p:sp>
        <p:nvSpPr>
          <p:cNvPr id="3" name="Content Placeholder 2"/>
          <p:cNvSpPr>
            <a:spLocks noGrp="1"/>
          </p:cNvSpPr>
          <p:nvPr>
            <p:ph idx="1"/>
          </p:nvPr>
        </p:nvSpPr>
        <p:spPr/>
        <p:txBody>
          <a:bodyPr/>
          <a:lstStyle/>
          <a:p>
            <a:r>
              <a:rPr lang="en-AU" dirty="0" smtClean="0"/>
              <a:t>Check and replenish on-board emergency equipment and supplies, where necessary</a:t>
            </a:r>
            <a:endParaRPr lang="en-US" dirty="0" smtClean="0"/>
          </a:p>
          <a:p>
            <a:r>
              <a:rPr lang="en-AU" dirty="0" smtClean="0"/>
              <a:t>Make arrangements for external service provision where requirements cannot be accommodated internally</a:t>
            </a:r>
            <a:endParaRPr lang="en-US" dirty="0" smtClean="0"/>
          </a:p>
          <a:p>
            <a:r>
              <a:rPr lang="en-AU" dirty="0" smtClean="0"/>
              <a:t>Comply with mandated safety requirements while undertaking service</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6056" y="1988840"/>
            <a:ext cx="2203704" cy="304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Identify necessary minor servicing requirements for specific vehicles</a:t>
            </a:r>
            <a:endParaRPr lang="en-US" dirty="0"/>
          </a:p>
        </p:txBody>
      </p:sp>
      <p:sp>
        <p:nvSpPr>
          <p:cNvPr id="3" name="Content Placeholder 2"/>
          <p:cNvSpPr>
            <a:spLocks noGrp="1"/>
          </p:cNvSpPr>
          <p:nvPr>
            <p:ph idx="1"/>
          </p:nvPr>
        </p:nvSpPr>
        <p:spPr/>
        <p:txBody>
          <a:bodyPr/>
          <a:lstStyle/>
          <a:p>
            <a:pPr marL="36576" indent="0">
              <a:buNone/>
            </a:pPr>
            <a:r>
              <a:rPr lang="en-US" dirty="0" smtClean="0"/>
              <a:t>Important points to note:</a:t>
            </a:r>
          </a:p>
          <a:p>
            <a:r>
              <a:rPr lang="en-US" dirty="0" smtClean="0"/>
              <a:t>This unit will not make you a qualified mechanic</a:t>
            </a:r>
          </a:p>
          <a:p>
            <a:r>
              <a:rPr lang="en-US" dirty="0" smtClean="0"/>
              <a:t>The unit cannot cover all makes and models of vehicles</a:t>
            </a:r>
          </a:p>
          <a:p>
            <a:r>
              <a:rPr lang="en-US" dirty="0" smtClean="0"/>
              <a:t>Cleaning is important to servicing and repairing</a:t>
            </a:r>
          </a:p>
          <a:p>
            <a:r>
              <a:rPr lang="en-US" dirty="0" smtClean="0"/>
              <a:t>The focus is on ‘minor’ things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a:t>
            </a:fld>
            <a:endParaRPr lang="en-US" dirty="0"/>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21651" t="7496"/>
          <a:stretch/>
        </p:blipFill>
        <p:spPr>
          <a:xfrm>
            <a:off x="4606442" y="2420888"/>
            <a:ext cx="3200037" cy="2520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Identify necessary minor servicing requirements for specific vehicles</a:t>
            </a:r>
            <a:endParaRPr lang="en-US" dirty="0"/>
          </a:p>
        </p:txBody>
      </p:sp>
      <p:sp>
        <p:nvSpPr>
          <p:cNvPr id="3" name="Content Placeholder 2"/>
          <p:cNvSpPr>
            <a:spLocks noGrp="1"/>
          </p:cNvSpPr>
          <p:nvPr>
            <p:ph idx="1"/>
          </p:nvPr>
        </p:nvSpPr>
        <p:spPr/>
        <p:txBody>
          <a:bodyPr/>
          <a:lstStyle/>
          <a:p>
            <a:pPr marL="36576" indent="0">
              <a:buNone/>
            </a:pPr>
            <a:r>
              <a:rPr lang="en-US" dirty="0" smtClean="0"/>
              <a:t>‘Vehicles’ – may :</a:t>
            </a:r>
          </a:p>
          <a:p>
            <a:r>
              <a:rPr lang="en-US" dirty="0" smtClean="0"/>
              <a:t>Be used to carry tour passengers</a:t>
            </a:r>
          </a:p>
          <a:p>
            <a:r>
              <a:rPr lang="en-US" dirty="0" smtClean="0"/>
              <a:t>Be used to move tour resources, gear and equipment</a:t>
            </a:r>
          </a:p>
          <a:p>
            <a:r>
              <a:rPr lang="en-US" dirty="0" smtClean="0"/>
              <a:t>Facilitate daily work operations</a:t>
            </a:r>
          </a:p>
          <a:p>
            <a:r>
              <a:rPr lang="en-US" dirty="0" smtClean="0"/>
              <a:t>Be diesel, petrol or gas</a:t>
            </a:r>
          </a:p>
          <a:p>
            <a:r>
              <a:rPr lang="en-US" dirty="0" smtClean="0"/>
              <a:t>Commercial or private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2024485"/>
            <a:ext cx="3048000" cy="203301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Identify necessary minor servicing requirements for specific vehicles</a:t>
            </a:r>
            <a:endParaRPr lang="en-US" dirty="0"/>
          </a:p>
        </p:txBody>
      </p:sp>
      <p:sp>
        <p:nvSpPr>
          <p:cNvPr id="3" name="Content Placeholder 2"/>
          <p:cNvSpPr>
            <a:spLocks noGrp="1"/>
          </p:cNvSpPr>
          <p:nvPr>
            <p:ph idx="1"/>
          </p:nvPr>
        </p:nvSpPr>
        <p:spPr/>
        <p:txBody>
          <a:bodyPr/>
          <a:lstStyle/>
          <a:p>
            <a:pPr marL="36576" indent="0">
              <a:buNone/>
            </a:pPr>
            <a:r>
              <a:rPr lang="en-US" dirty="0" smtClean="0"/>
              <a:t>‘Service’ = preventative maintenance, which is done to:</a:t>
            </a:r>
          </a:p>
          <a:p>
            <a:r>
              <a:rPr lang="en-AU" dirty="0" smtClean="0"/>
              <a:t>Help extend working life of the vehicle</a:t>
            </a:r>
          </a:p>
          <a:p>
            <a:r>
              <a:rPr lang="en-AU" dirty="0" smtClean="0"/>
              <a:t>Increase reliability of the vehicle</a:t>
            </a:r>
          </a:p>
          <a:p>
            <a:r>
              <a:rPr lang="en-AU" dirty="0" smtClean="0"/>
              <a:t>Reduce operating costs</a:t>
            </a:r>
          </a:p>
          <a:p>
            <a:r>
              <a:rPr lang="en-AU" dirty="0" smtClean="0"/>
              <a:t>Present a better-looking vehicle to tour groups</a:t>
            </a:r>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a:t>
            </a:fld>
            <a:endParaRPr lang="en-US" dirty="0"/>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9288" t="7496" r="19287"/>
          <a:stretch/>
        </p:blipFill>
        <p:spPr>
          <a:xfrm>
            <a:off x="5004047" y="2171014"/>
            <a:ext cx="2972845" cy="298617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Identify necessary minor servicing requirements for specific vehicles</a:t>
            </a:r>
            <a:endParaRPr lang="en-US" dirty="0"/>
          </a:p>
        </p:txBody>
      </p:sp>
      <p:sp>
        <p:nvSpPr>
          <p:cNvPr id="3" name="Content Placeholder 2"/>
          <p:cNvSpPr>
            <a:spLocks noGrp="1"/>
          </p:cNvSpPr>
          <p:nvPr>
            <p:ph idx="1"/>
          </p:nvPr>
        </p:nvSpPr>
        <p:spPr/>
        <p:txBody>
          <a:bodyPr/>
          <a:lstStyle/>
          <a:p>
            <a:pPr marL="36576" indent="0">
              <a:buNone/>
            </a:pPr>
            <a:r>
              <a:rPr lang="en-US" dirty="0" smtClean="0"/>
              <a:t>Ways to identify service requirements:</a:t>
            </a:r>
          </a:p>
          <a:p>
            <a:r>
              <a:rPr lang="en-US" dirty="0" smtClean="0"/>
              <a:t>Read relevant manuals</a:t>
            </a:r>
          </a:p>
          <a:p>
            <a:r>
              <a:rPr lang="en-US" dirty="0" smtClean="0"/>
              <a:t>Identify internal organisational service periods and/or requirements</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a:t>
            </a:fld>
            <a:endParaRPr lang="en-US" dirty="0"/>
          </a:p>
        </p:txBody>
      </p:sp>
      <p:grpSp>
        <p:nvGrpSpPr>
          <p:cNvPr id="5" name="Group 4"/>
          <p:cNvGrpSpPr/>
          <p:nvPr/>
        </p:nvGrpSpPr>
        <p:grpSpPr>
          <a:xfrm>
            <a:off x="5182515" y="2154143"/>
            <a:ext cx="2698498" cy="2394788"/>
            <a:chOff x="4755216" y="2367762"/>
            <a:chExt cx="2698498" cy="2394788"/>
          </a:xfrm>
        </p:grpSpPr>
        <p:pic>
          <p:nvPicPr>
            <p:cNvPr id="1026" name="Picture 2" descr="http://workshoprepairmanual.com.au/media/ecom/prodlg/Mitsubishi-Pajero-4WD-Petrol-Diesel11-med.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55216" y="2492896"/>
              <a:ext cx="1752629" cy="226965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workshoprepairmanual.com.au/media/ecom/prodlg/Hi-Lux-4Runner-Petrol-Repair-Workshop-Manual.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985241">
              <a:off x="5609815" y="2367762"/>
              <a:ext cx="1843899" cy="2304874"/>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Identify necessary minor servicing requirements for specific vehicles</a:t>
            </a:r>
            <a:endParaRPr lang="en-US" dirty="0"/>
          </a:p>
        </p:txBody>
      </p:sp>
      <p:sp>
        <p:nvSpPr>
          <p:cNvPr id="3" name="Content Placeholder 2"/>
          <p:cNvSpPr>
            <a:spLocks noGrp="1"/>
          </p:cNvSpPr>
          <p:nvPr>
            <p:ph idx="1"/>
          </p:nvPr>
        </p:nvSpPr>
        <p:spPr/>
        <p:txBody>
          <a:bodyPr/>
          <a:lstStyle/>
          <a:p>
            <a:r>
              <a:rPr lang="en-US" dirty="0" smtClean="0"/>
              <a:t>Referring to previous service history</a:t>
            </a:r>
          </a:p>
          <a:p>
            <a:r>
              <a:rPr lang="en-US" dirty="0" smtClean="0"/>
              <a:t>Talking with vehicle operators</a:t>
            </a:r>
          </a:p>
          <a:p>
            <a:r>
              <a:rPr lang="en-US" dirty="0" smtClean="0"/>
              <a:t>Identifying applicable host country legislation</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32040" y="1844824"/>
            <a:ext cx="2194560" cy="304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Identify necessary minor servicing requirements for specific vehicles</a:t>
            </a:r>
            <a:endParaRPr lang="en-US" dirty="0"/>
          </a:p>
        </p:txBody>
      </p:sp>
      <p:sp>
        <p:nvSpPr>
          <p:cNvPr id="3" name="Content Placeholder 2"/>
          <p:cNvSpPr>
            <a:spLocks noGrp="1"/>
          </p:cNvSpPr>
          <p:nvPr>
            <p:ph idx="1"/>
          </p:nvPr>
        </p:nvSpPr>
        <p:spPr>
          <a:xfrm>
            <a:off x="457200" y="1988840"/>
            <a:ext cx="4114800" cy="4433224"/>
          </a:xfrm>
        </p:spPr>
        <p:txBody>
          <a:bodyPr>
            <a:normAutofit lnSpcReduction="10000"/>
          </a:bodyPr>
          <a:lstStyle/>
          <a:p>
            <a:pPr marL="36576" indent="0">
              <a:buNone/>
            </a:pPr>
            <a:r>
              <a:rPr lang="en-US" dirty="0" smtClean="0"/>
              <a:t>Spare parts:</a:t>
            </a:r>
          </a:p>
          <a:p>
            <a:r>
              <a:rPr lang="en-US" dirty="0" smtClean="0"/>
              <a:t>May be obtained from:</a:t>
            </a:r>
          </a:p>
          <a:p>
            <a:r>
              <a:rPr lang="en-US" dirty="0" smtClean="0"/>
              <a:t>Authorised dealers or Specialist parts shops</a:t>
            </a:r>
          </a:p>
          <a:p>
            <a:r>
              <a:rPr lang="en-US" dirty="0" smtClean="0"/>
              <a:t>Car/auto wreckers</a:t>
            </a:r>
          </a:p>
          <a:p>
            <a:pPr marL="36576" indent="0">
              <a:buNone/>
            </a:pPr>
            <a:r>
              <a:rPr lang="en-US" dirty="0" smtClean="0"/>
              <a:t>Attention must be paid to obtaining the right part for the appropriate make and model details – refer to:</a:t>
            </a:r>
          </a:p>
          <a:p>
            <a:r>
              <a:rPr lang="en-US" dirty="0" smtClean="0"/>
              <a:t>Owner’s manual</a:t>
            </a:r>
          </a:p>
          <a:p>
            <a:r>
              <a:rPr lang="en-US" dirty="0" smtClean="0"/>
              <a:t>Registration sticker</a:t>
            </a:r>
          </a:p>
          <a:p>
            <a:r>
              <a:rPr lang="en-US" dirty="0" smtClean="0"/>
              <a:t>VIN plate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6056" y="1988840"/>
            <a:ext cx="3048000" cy="203301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Identify necessary minor servicing requirements for specific vehicles</a:t>
            </a:r>
            <a:endParaRPr lang="en-US" dirty="0"/>
          </a:p>
        </p:txBody>
      </p:sp>
      <p:sp>
        <p:nvSpPr>
          <p:cNvPr id="3" name="Content Placeholder 2"/>
          <p:cNvSpPr>
            <a:spLocks noGrp="1"/>
          </p:cNvSpPr>
          <p:nvPr>
            <p:ph idx="1"/>
          </p:nvPr>
        </p:nvSpPr>
        <p:spPr>
          <a:xfrm>
            <a:off x="457200" y="1988840"/>
            <a:ext cx="4690864" cy="4433224"/>
          </a:xfrm>
        </p:spPr>
        <p:txBody>
          <a:bodyPr>
            <a:normAutofit lnSpcReduction="10000"/>
          </a:bodyPr>
          <a:lstStyle/>
          <a:p>
            <a:pPr marL="36576" indent="0">
              <a:buNone/>
            </a:pPr>
            <a:r>
              <a:rPr lang="en-US" dirty="0" smtClean="0"/>
              <a:t>Additional context for this unit:</a:t>
            </a:r>
          </a:p>
          <a:p>
            <a:r>
              <a:rPr lang="en-US" dirty="0" smtClean="0"/>
              <a:t>It is very much a practical, hands-on unit</a:t>
            </a:r>
          </a:p>
          <a:p>
            <a:pPr marL="36576" indent="0">
              <a:buNone/>
            </a:pPr>
            <a:r>
              <a:rPr lang="en-US" dirty="0" smtClean="0"/>
              <a:t>Service/maintenance required can also be determined by:</a:t>
            </a:r>
          </a:p>
          <a:p>
            <a:r>
              <a:rPr lang="en-US" dirty="0" smtClean="0"/>
              <a:t>The way the vehicle has been driven and by whom</a:t>
            </a:r>
          </a:p>
          <a:p>
            <a:r>
              <a:rPr lang="en-US" dirty="0" smtClean="0"/>
              <a:t>Age of the vehicle</a:t>
            </a:r>
          </a:p>
          <a:p>
            <a:r>
              <a:rPr lang="en-US" dirty="0" smtClean="0"/>
              <a:t>History of the vehicle</a:t>
            </a:r>
          </a:p>
          <a:p>
            <a:r>
              <a:rPr lang="en-US" dirty="0" smtClean="0"/>
              <a:t>Local, organisational and manufacturer requirements take precedence over the notes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a:t>
            </a:fld>
            <a:endParaRPr lang="en-US" dirty="0"/>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6926" r="26375"/>
          <a:stretch/>
        </p:blipFill>
        <p:spPr>
          <a:xfrm>
            <a:off x="5377367" y="1996345"/>
            <a:ext cx="2546730" cy="299593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Determine situations in which maintenance may need to be carried out</a:t>
            </a:r>
            <a:endParaRPr lang="en-US" dirty="0"/>
          </a:p>
        </p:txBody>
      </p:sp>
      <p:sp>
        <p:nvSpPr>
          <p:cNvPr id="3" name="Content Placeholder 2"/>
          <p:cNvSpPr>
            <a:spLocks noGrp="1"/>
          </p:cNvSpPr>
          <p:nvPr>
            <p:ph idx="1"/>
          </p:nvPr>
        </p:nvSpPr>
        <p:spPr/>
        <p:txBody>
          <a:bodyPr/>
          <a:lstStyle/>
          <a:p>
            <a:pPr marL="36576" indent="0">
              <a:buNone/>
            </a:pPr>
            <a:r>
              <a:rPr lang="en-US" dirty="0" smtClean="0"/>
              <a:t>Maintenance or repairs may need to be undertaken:</a:t>
            </a:r>
          </a:p>
          <a:p>
            <a:r>
              <a:rPr lang="en-US" dirty="0" smtClean="0"/>
              <a:t>Day or night</a:t>
            </a:r>
          </a:p>
          <a:p>
            <a:r>
              <a:rPr lang="en-US" dirty="0" smtClean="0"/>
              <a:t>In all weather</a:t>
            </a:r>
          </a:p>
          <a:p>
            <a:r>
              <a:rPr lang="en-US" dirty="0" smtClean="0"/>
              <a:t>In tight/confined areas</a:t>
            </a:r>
          </a:p>
          <a:p>
            <a:pPr marL="36576" indent="0">
              <a:buNone/>
            </a:pPr>
            <a:r>
              <a:rPr lang="en-US"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48064" y="1988840"/>
            <a:ext cx="3048000" cy="203301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Determine situations in which maintenance may need to be carried out</a:t>
            </a:r>
            <a:endParaRPr lang="en-US" dirty="0"/>
          </a:p>
        </p:txBody>
      </p:sp>
      <p:sp>
        <p:nvSpPr>
          <p:cNvPr id="3" name="Content Placeholder 2"/>
          <p:cNvSpPr>
            <a:spLocks noGrp="1"/>
          </p:cNvSpPr>
          <p:nvPr>
            <p:ph idx="1"/>
          </p:nvPr>
        </p:nvSpPr>
        <p:spPr/>
        <p:txBody>
          <a:bodyPr/>
          <a:lstStyle/>
          <a:p>
            <a:r>
              <a:rPr lang="en-US" dirty="0" smtClean="0"/>
              <a:t>In closed and controlled conditions – such as a workshop</a:t>
            </a:r>
          </a:p>
          <a:p>
            <a:r>
              <a:rPr lang="en-US" dirty="0" smtClean="0"/>
              <a:t>In open spaces such as outdoors/on tour</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48064" y="1988840"/>
            <a:ext cx="3048000" cy="203301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Undertake visual inspections of the vehicle</a:t>
            </a:r>
            <a:endParaRPr lang="en-US" dirty="0"/>
          </a:p>
        </p:txBody>
      </p:sp>
      <p:sp>
        <p:nvSpPr>
          <p:cNvPr id="3" name="Content Placeholder 2"/>
          <p:cNvSpPr>
            <a:spLocks noGrp="1"/>
          </p:cNvSpPr>
          <p:nvPr>
            <p:ph idx="1"/>
          </p:nvPr>
        </p:nvSpPr>
        <p:spPr/>
        <p:txBody>
          <a:bodyPr/>
          <a:lstStyle/>
          <a:p>
            <a:pPr marL="36576" indent="0">
              <a:buNone/>
            </a:pPr>
            <a:r>
              <a:rPr lang="en-US" dirty="0" smtClean="0"/>
              <a:t>Activities in the visual inspection process:</a:t>
            </a:r>
          </a:p>
          <a:p>
            <a:r>
              <a:rPr lang="en-US" dirty="0" smtClean="0"/>
              <a:t>Look at and under the vehicle – lift the vehicle off the ground if possible</a:t>
            </a:r>
          </a:p>
          <a:p>
            <a:r>
              <a:rPr lang="en-US" dirty="0" smtClean="0"/>
              <a:t>Light the areas being inspected</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48064" y="1988840"/>
            <a:ext cx="3048000" cy="203301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Undertake visual inspections of the vehicle</a:t>
            </a:r>
            <a:endParaRPr lang="en-US" dirty="0"/>
          </a:p>
        </p:txBody>
      </p:sp>
      <p:sp>
        <p:nvSpPr>
          <p:cNvPr id="3" name="Content Placeholder 2"/>
          <p:cNvSpPr>
            <a:spLocks noGrp="1"/>
          </p:cNvSpPr>
          <p:nvPr>
            <p:ph idx="1"/>
          </p:nvPr>
        </p:nvSpPr>
        <p:spPr/>
        <p:txBody>
          <a:bodyPr/>
          <a:lstStyle/>
          <a:p>
            <a:r>
              <a:rPr lang="en-US" dirty="0" smtClean="0"/>
              <a:t>Use a ‘Vehicle Inspection Checklist’</a:t>
            </a:r>
          </a:p>
          <a:p>
            <a:r>
              <a:rPr lang="en-US" dirty="0" smtClean="0"/>
              <a:t>Inspect the vehicle in pairs</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76344" y="1772816"/>
            <a:ext cx="2438400" cy="24384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Undertake visual inspections of the vehicle</a:t>
            </a:r>
            <a:endParaRPr lang="en-US" dirty="0"/>
          </a:p>
        </p:txBody>
      </p:sp>
      <p:sp>
        <p:nvSpPr>
          <p:cNvPr id="3" name="Content Placeholder 2"/>
          <p:cNvSpPr>
            <a:spLocks noGrp="1"/>
          </p:cNvSpPr>
          <p:nvPr>
            <p:ph idx="1"/>
          </p:nvPr>
        </p:nvSpPr>
        <p:spPr/>
        <p:txBody>
          <a:bodyPr/>
          <a:lstStyle/>
          <a:p>
            <a:r>
              <a:rPr lang="en-US" dirty="0" smtClean="0"/>
              <a:t>Look for signs of damage</a:t>
            </a:r>
          </a:p>
          <a:p>
            <a:r>
              <a:rPr lang="en-US" dirty="0" smtClean="0"/>
              <a:t>Look for missing parts</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6056" y="1988840"/>
            <a:ext cx="3048000" cy="203301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Undertake visual inspections of the vehicle</a:t>
            </a:r>
            <a:endParaRPr lang="en-US" dirty="0"/>
          </a:p>
        </p:txBody>
      </p:sp>
      <p:sp>
        <p:nvSpPr>
          <p:cNvPr id="3" name="Content Placeholder 2"/>
          <p:cNvSpPr>
            <a:spLocks noGrp="1"/>
          </p:cNvSpPr>
          <p:nvPr>
            <p:ph idx="1"/>
          </p:nvPr>
        </p:nvSpPr>
        <p:spPr/>
        <p:txBody>
          <a:bodyPr/>
          <a:lstStyle/>
          <a:p>
            <a:r>
              <a:rPr lang="en-US" dirty="0" smtClean="0"/>
              <a:t>Note leaking fluids</a:t>
            </a:r>
          </a:p>
          <a:p>
            <a:r>
              <a:rPr lang="en-US" dirty="0" smtClean="0"/>
              <a:t>Identify projections from the vehicle</a:t>
            </a:r>
          </a:p>
          <a:p>
            <a:r>
              <a:rPr lang="en-US" dirty="0" smtClean="0"/>
              <a:t>Take on-the-spot action to fix simple problems</a:t>
            </a:r>
          </a:p>
          <a:p>
            <a:r>
              <a:rPr lang="en-US" dirty="0" smtClean="0"/>
              <a:t>Check condition of vehicle instruments, knobs and pedals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a:t>
            </a:fld>
            <a:endParaRPr lang="en-US" dirty="0"/>
          </a:p>
        </p:txBody>
      </p:sp>
      <p:pic>
        <p:nvPicPr>
          <p:cNvPr id="5" name="Picture 4"/>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10232" b="75989" l="20810" r="100000">
                        <a14:foregroundMark x1="52855" y1="72988" x2="52855" y2="72988"/>
                        <a14:foregroundMark x1="56906" y1="67804" x2="56906" y2="67804"/>
                        <a14:foregroundMark x1="60958" y1="72988" x2="60958" y2="72988"/>
                      </a14:backgroundRemoval>
                    </a14:imgEffect>
                  </a14:imgLayer>
                </a14:imgProps>
              </a:ext>
              <a:ext uri="{28A0092B-C50C-407E-A947-70E740481C1C}">
                <a14:useLocalDpi xmlns:a14="http://schemas.microsoft.com/office/drawing/2010/main" val="0"/>
              </a:ext>
            </a:extLst>
          </a:blip>
          <a:srcRect l="21267" t="9837" b="24013"/>
          <a:stretch/>
        </p:blipFill>
        <p:spPr>
          <a:xfrm>
            <a:off x="5004048" y="1975290"/>
            <a:ext cx="2421992" cy="274985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vehicle structure</a:t>
            </a:r>
            <a:endParaRPr lang="en-US" dirty="0"/>
          </a:p>
        </p:txBody>
      </p:sp>
      <p:sp>
        <p:nvSpPr>
          <p:cNvPr id="3" name="Content Placeholder 2"/>
          <p:cNvSpPr>
            <a:spLocks noGrp="1"/>
          </p:cNvSpPr>
          <p:nvPr>
            <p:ph idx="1"/>
          </p:nvPr>
        </p:nvSpPr>
        <p:spPr/>
        <p:txBody>
          <a:bodyPr/>
          <a:lstStyle/>
          <a:p>
            <a:pPr marL="36576" indent="0">
              <a:buNone/>
            </a:pPr>
            <a:r>
              <a:rPr lang="en-US" dirty="0" smtClean="0"/>
              <a:t>The aim is to identify:</a:t>
            </a:r>
          </a:p>
          <a:p>
            <a:r>
              <a:rPr lang="en-US" dirty="0" smtClean="0"/>
              <a:t>If there is damage which might impact appearance and structural integrity</a:t>
            </a:r>
          </a:p>
          <a:p>
            <a:r>
              <a:rPr lang="en-US" dirty="0" smtClean="0"/>
              <a:t>Problems with stability and suspension</a:t>
            </a:r>
          </a:p>
          <a:p>
            <a:r>
              <a:rPr lang="en-US" dirty="0" smtClean="0"/>
              <a:t>Issues with luggage and pack racks</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6056" y="1988840"/>
            <a:ext cx="3048000" cy="203301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vehicle structure</a:t>
            </a:r>
            <a:endParaRPr lang="en-US" dirty="0"/>
          </a:p>
        </p:txBody>
      </p:sp>
      <p:sp>
        <p:nvSpPr>
          <p:cNvPr id="3" name="Content Placeholder 2"/>
          <p:cNvSpPr>
            <a:spLocks noGrp="1"/>
          </p:cNvSpPr>
          <p:nvPr>
            <p:ph idx="1"/>
          </p:nvPr>
        </p:nvSpPr>
        <p:spPr/>
        <p:txBody>
          <a:bodyPr/>
          <a:lstStyle/>
          <a:p>
            <a:pPr marL="36576" indent="0">
              <a:buNone/>
            </a:pPr>
            <a:r>
              <a:rPr lang="en-US" dirty="0" smtClean="0"/>
              <a:t>Important points relating to vehicle appearance:</a:t>
            </a:r>
          </a:p>
          <a:p>
            <a:r>
              <a:rPr lang="en-US" dirty="0" smtClean="0"/>
              <a:t>Most vehicles have company name on them</a:t>
            </a:r>
          </a:p>
          <a:p>
            <a:r>
              <a:rPr lang="en-US" dirty="0" smtClean="0"/>
              <a:t>People draw inferences about the organisation from the way a vehicle looks</a:t>
            </a:r>
          </a:p>
          <a:p>
            <a:r>
              <a:rPr lang="en-US" dirty="0" smtClean="0"/>
              <a:t>Tour groups expect well-presented vehicle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a:t>
            </a:fld>
            <a:endParaRPr lang="en-US" dirty="0"/>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32100" t="15944"/>
          <a:stretch/>
        </p:blipFill>
        <p:spPr>
          <a:xfrm>
            <a:off x="5220072" y="1916832"/>
            <a:ext cx="2975992" cy="280729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vehicle structure</a:t>
            </a:r>
            <a:endParaRPr lang="en-US" dirty="0"/>
          </a:p>
        </p:txBody>
      </p:sp>
      <p:sp>
        <p:nvSpPr>
          <p:cNvPr id="3" name="Content Placeholder 2"/>
          <p:cNvSpPr>
            <a:spLocks noGrp="1"/>
          </p:cNvSpPr>
          <p:nvPr>
            <p:ph idx="1"/>
          </p:nvPr>
        </p:nvSpPr>
        <p:spPr/>
        <p:txBody>
          <a:bodyPr/>
          <a:lstStyle/>
          <a:p>
            <a:pPr marL="36576" indent="0">
              <a:buNone/>
            </a:pPr>
            <a:r>
              <a:rPr lang="en-US" dirty="0" smtClean="0"/>
              <a:t>Inspecting panels – walk around vehicle and:</a:t>
            </a:r>
          </a:p>
          <a:p>
            <a:r>
              <a:rPr lang="en-US" dirty="0" smtClean="0"/>
              <a:t>Inspect in systematic fashion</a:t>
            </a:r>
          </a:p>
          <a:p>
            <a:r>
              <a:rPr lang="en-US" dirty="0" smtClean="0"/>
              <a:t>Use a checklist</a:t>
            </a:r>
          </a:p>
          <a:p>
            <a:r>
              <a:rPr lang="en-US" dirty="0" smtClean="0"/>
              <a:t>Identify and note damage</a:t>
            </a:r>
          </a:p>
          <a:p>
            <a:r>
              <a:rPr lang="en-US" dirty="0" smtClean="0"/>
              <a:t>Determine if damage is causing problems</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23</a:t>
            </a:fld>
            <a:endParaRPr lang="en-US" dirty="0"/>
          </a:p>
        </p:txBody>
      </p:sp>
      <p:pic>
        <p:nvPicPr>
          <p:cNvPr id="5" name="Picture 4"/>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l="24200" r="30200" b="22563"/>
          <a:stretch/>
        </p:blipFill>
        <p:spPr>
          <a:xfrm>
            <a:off x="5220072" y="2132856"/>
            <a:ext cx="2225068" cy="252028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vehicle structure</a:t>
            </a:r>
            <a:endParaRPr lang="en-US" dirty="0"/>
          </a:p>
        </p:txBody>
      </p:sp>
      <p:sp>
        <p:nvSpPr>
          <p:cNvPr id="3" name="Content Placeholder 2"/>
          <p:cNvSpPr>
            <a:spLocks noGrp="1"/>
          </p:cNvSpPr>
          <p:nvPr>
            <p:ph idx="1"/>
          </p:nvPr>
        </p:nvSpPr>
        <p:spPr/>
        <p:txBody>
          <a:bodyPr/>
          <a:lstStyle/>
          <a:p>
            <a:r>
              <a:rPr lang="en-US" dirty="0" smtClean="0"/>
              <a:t>Determine if damage has potential to cause further problems</a:t>
            </a:r>
          </a:p>
          <a:p>
            <a:r>
              <a:rPr lang="en-US" dirty="0" smtClean="0"/>
              <a:t>Hammer out damage causing operational issues</a:t>
            </a:r>
          </a:p>
          <a:p>
            <a:r>
              <a:rPr lang="en-US" dirty="0" smtClean="0"/>
              <a:t>Remove panels causing potential threat</a:t>
            </a:r>
          </a:p>
          <a:p>
            <a:r>
              <a:rPr lang="en-US" dirty="0" smtClean="0"/>
              <a:t>Consider sending to panel shop for serious work</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24</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48064" y="1988840"/>
            <a:ext cx="3048000" cy="203301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vehicle structure</a:t>
            </a:r>
            <a:endParaRPr lang="en-US" dirty="0"/>
          </a:p>
        </p:txBody>
      </p:sp>
      <p:sp>
        <p:nvSpPr>
          <p:cNvPr id="3" name="Content Placeholder 2"/>
          <p:cNvSpPr>
            <a:spLocks noGrp="1"/>
          </p:cNvSpPr>
          <p:nvPr>
            <p:ph idx="1"/>
          </p:nvPr>
        </p:nvSpPr>
        <p:spPr/>
        <p:txBody>
          <a:bodyPr/>
          <a:lstStyle/>
          <a:p>
            <a:pPr marL="36576" indent="0">
              <a:buNone/>
            </a:pPr>
            <a:r>
              <a:rPr lang="en-US" dirty="0" smtClean="0"/>
              <a:t>Basic inspection procedures for chassis:</a:t>
            </a:r>
          </a:p>
          <a:p>
            <a:r>
              <a:rPr lang="en-AU" dirty="0" smtClean="0"/>
              <a:t>Wash/clean the chassis/vehicle</a:t>
            </a:r>
          </a:p>
          <a:p>
            <a:r>
              <a:rPr lang="en-AU" dirty="0" smtClean="0"/>
              <a:t>Get the vehicle off the ground </a:t>
            </a:r>
          </a:p>
          <a:p>
            <a:r>
              <a:rPr lang="en-AU" dirty="0" smtClean="0"/>
              <a:t>Remove the wheels and tyres</a:t>
            </a:r>
          </a:p>
          <a:p>
            <a:r>
              <a:rPr lang="en-AU" dirty="0" smtClean="0"/>
              <a:t>Focus on corners, wheel arches and bottom of doors</a:t>
            </a:r>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25</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2005215"/>
            <a:ext cx="3048000" cy="2033016"/>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vehicle structure</a:t>
            </a:r>
            <a:endParaRPr lang="en-US" dirty="0"/>
          </a:p>
        </p:txBody>
      </p:sp>
      <p:sp>
        <p:nvSpPr>
          <p:cNvPr id="3" name="Content Placeholder 2"/>
          <p:cNvSpPr>
            <a:spLocks noGrp="1"/>
          </p:cNvSpPr>
          <p:nvPr>
            <p:ph idx="1"/>
          </p:nvPr>
        </p:nvSpPr>
        <p:spPr/>
        <p:txBody>
          <a:bodyPr/>
          <a:lstStyle/>
          <a:p>
            <a:pPr marL="36576" indent="0">
              <a:buNone/>
            </a:pPr>
            <a:r>
              <a:rPr lang="en-US" dirty="0" smtClean="0"/>
              <a:t>Chassis (and other) checks can require:</a:t>
            </a:r>
          </a:p>
          <a:p>
            <a:r>
              <a:rPr lang="en-US" dirty="0" smtClean="0"/>
              <a:t>Visual assessment</a:t>
            </a:r>
          </a:p>
          <a:p>
            <a:r>
              <a:rPr lang="en-US" dirty="0" smtClean="0"/>
              <a:t>Aural assessment</a:t>
            </a:r>
          </a:p>
          <a:p>
            <a:r>
              <a:rPr lang="en-US" dirty="0" smtClean="0"/>
              <a:t>Functional assessment</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26</a:t>
            </a:fld>
            <a:endParaRPr lang="en-US" dirty="0"/>
          </a:p>
        </p:txBody>
      </p:sp>
      <p:pic>
        <p:nvPicPr>
          <p:cNvPr id="5" name="Picture 4"/>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9816" b="100000" l="7094" r="89905">
                        <a14:backgroundMark x1="20055" y1="71166" x2="20055" y2="71166"/>
                        <a14:backgroundMark x1="34106" y1="62168" x2="34106" y2="62168"/>
                      </a14:backgroundRemoval>
                    </a14:imgEffect>
                  </a14:imgLayer>
                </a14:imgProps>
              </a:ext>
              <a:ext uri="{28A0092B-C50C-407E-A947-70E740481C1C}">
                <a14:useLocalDpi xmlns:a14="http://schemas.microsoft.com/office/drawing/2010/main" val="0"/>
              </a:ext>
            </a:extLst>
          </a:blip>
          <a:srcRect l="6536" r="32039"/>
          <a:stretch/>
        </p:blipFill>
        <p:spPr>
          <a:xfrm>
            <a:off x="4716016" y="1700808"/>
            <a:ext cx="2592288" cy="281494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vehicle structure</a:t>
            </a:r>
            <a:endParaRPr lang="en-US" dirty="0"/>
          </a:p>
        </p:txBody>
      </p:sp>
      <p:sp>
        <p:nvSpPr>
          <p:cNvPr id="3" name="Content Placeholder 2"/>
          <p:cNvSpPr>
            <a:spLocks noGrp="1"/>
          </p:cNvSpPr>
          <p:nvPr>
            <p:ph idx="1"/>
          </p:nvPr>
        </p:nvSpPr>
        <p:spPr/>
        <p:txBody>
          <a:bodyPr/>
          <a:lstStyle/>
          <a:p>
            <a:pPr marL="36576" indent="0">
              <a:buNone/>
            </a:pPr>
            <a:r>
              <a:rPr lang="en-US" dirty="0" smtClean="0"/>
              <a:t>Assessments should be used to detect:</a:t>
            </a:r>
          </a:p>
          <a:p>
            <a:r>
              <a:rPr lang="en-US" dirty="0" smtClean="0"/>
              <a:t>Damage</a:t>
            </a:r>
          </a:p>
          <a:p>
            <a:r>
              <a:rPr lang="en-US" dirty="0" smtClean="0"/>
              <a:t>Wear</a:t>
            </a:r>
          </a:p>
          <a:p>
            <a:r>
              <a:rPr lang="en-US" dirty="0" smtClean="0"/>
              <a:t>Breakage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27</a:t>
            </a:fld>
            <a:endParaRPr lang="en-US" dirty="0"/>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25987" t="3129" r="22038" b="-3129"/>
          <a:stretch/>
        </p:blipFill>
        <p:spPr>
          <a:xfrm>
            <a:off x="4788024" y="2031341"/>
            <a:ext cx="2376264" cy="304952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vehicle structure</a:t>
            </a:r>
            <a:endParaRPr lang="en-US" dirty="0"/>
          </a:p>
        </p:txBody>
      </p:sp>
      <p:sp>
        <p:nvSpPr>
          <p:cNvPr id="3" name="Content Placeholder 2"/>
          <p:cNvSpPr>
            <a:spLocks noGrp="1"/>
          </p:cNvSpPr>
          <p:nvPr>
            <p:ph idx="1"/>
          </p:nvPr>
        </p:nvSpPr>
        <p:spPr/>
        <p:txBody>
          <a:bodyPr/>
          <a:lstStyle/>
          <a:p>
            <a:pPr marL="36576" indent="0">
              <a:buNone/>
            </a:pPr>
            <a:r>
              <a:rPr lang="en-US" dirty="0" smtClean="0"/>
              <a:t>Issues to look for:</a:t>
            </a:r>
          </a:p>
          <a:p>
            <a:r>
              <a:rPr lang="en-AU" dirty="0" smtClean="0"/>
              <a:t>Sharp edges due to rusted panels or body damage, or protrusions </a:t>
            </a:r>
            <a:endParaRPr lang="en-US" dirty="0" smtClean="0"/>
          </a:p>
          <a:p>
            <a:r>
              <a:rPr lang="en-US" dirty="0" smtClean="0"/>
              <a:t>Rust or cracks in structural members</a:t>
            </a:r>
          </a:p>
          <a:p>
            <a:r>
              <a:rPr lang="en-US" dirty="0" smtClean="0"/>
              <a:t>Damage/modifications impacting structural integrity</a:t>
            </a:r>
          </a:p>
          <a:p>
            <a:r>
              <a:rPr lang="en-US" dirty="0" smtClean="0"/>
              <a:t>Evidence body has been cut and joined</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28</a:t>
            </a:fld>
            <a:endParaRPr lang="en-US" dirty="0"/>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8129" r="10997"/>
          <a:stretch/>
        </p:blipFill>
        <p:spPr>
          <a:xfrm>
            <a:off x="4860032" y="1988840"/>
            <a:ext cx="3290110" cy="309634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vehicle structure</a:t>
            </a:r>
            <a:endParaRPr lang="en-US" dirty="0"/>
          </a:p>
        </p:txBody>
      </p:sp>
      <p:sp>
        <p:nvSpPr>
          <p:cNvPr id="3" name="Content Placeholder 2"/>
          <p:cNvSpPr>
            <a:spLocks noGrp="1"/>
          </p:cNvSpPr>
          <p:nvPr>
            <p:ph idx="1"/>
          </p:nvPr>
        </p:nvSpPr>
        <p:spPr>
          <a:xfrm>
            <a:off x="457200" y="1988839"/>
            <a:ext cx="4834880" cy="4798349"/>
          </a:xfrm>
        </p:spPr>
        <p:txBody>
          <a:bodyPr>
            <a:normAutofit/>
          </a:bodyPr>
          <a:lstStyle/>
          <a:p>
            <a:r>
              <a:rPr lang="en-US" dirty="0" smtClean="0"/>
              <a:t>Doors have advanced rust</a:t>
            </a:r>
          </a:p>
          <a:p>
            <a:r>
              <a:rPr lang="en-AU" dirty="0" smtClean="0"/>
              <a:t>Chassis frame members or supporting members are cracked, loose, sagging or broken</a:t>
            </a:r>
          </a:p>
          <a:p>
            <a:r>
              <a:rPr lang="en-AU" dirty="0" smtClean="0"/>
              <a:t>Frame members in load areas are missing, damaged or unsecured</a:t>
            </a:r>
          </a:p>
          <a:p>
            <a:r>
              <a:rPr lang="en-AU" dirty="0" smtClean="0"/>
              <a:t>Repairs do not retain original strength of the component/section</a:t>
            </a:r>
          </a:p>
          <a:p>
            <a:r>
              <a:rPr lang="en-AU" dirty="0" smtClean="0"/>
              <a:t>Any component adversely affecting vehicle safety or driver’s view</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29</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2080" y="1988839"/>
            <a:ext cx="2952328" cy="1969203"/>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vehicle structure</a:t>
            </a:r>
            <a:endParaRPr lang="en-US" dirty="0"/>
          </a:p>
        </p:txBody>
      </p:sp>
      <p:sp>
        <p:nvSpPr>
          <p:cNvPr id="3" name="Content Placeholder 2"/>
          <p:cNvSpPr>
            <a:spLocks noGrp="1"/>
          </p:cNvSpPr>
          <p:nvPr>
            <p:ph idx="1"/>
          </p:nvPr>
        </p:nvSpPr>
        <p:spPr/>
        <p:txBody>
          <a:bodyPr/>
          <a:lstStyle/>
          <a:p>
            <a:pPr marL="36576" indent="0">
              <a:buNone/>
            </a:pPr>
            <a:r>
              <a:rPr lang="en-US" dirty="0" smtClean="0"/>
              <a:t>Suspension system options:</a:t>
            </a:r>
          </a:p>
          <a:p>
            <a:r>
              <a:rPr lang="en-US" dirty="0" smtClean="0"/>
              <a:t>Gas</a:t>
            </a:r>
          </a:p>
          <a:p>
            <a:r>
              <a:rPr lang="en-US" dirty="0" smtClean="0"/>
              <a:t>Hydraulic</a:t>
            </a:r>
          </a:p>
          <a:p>
            <a:r>
              <a:rPr lang="en-US" dirty="0" smtClean="0"/>
              <a:t>Pneumatic</a:t>
            </a:r>
          </a:p>
          <a:p>
            <a:r>
              <a:rPr lang="en-US" dirty="0" smtClean="0"/>
              <a:t>Mechanical</a:t>
            </a:r>
          </a:p>
          <a:p>
            <a:r>
              <a:rPr lang="en-US" dirty="0" smtClean="0"/>
              <a:t>Rubber suspension</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30</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48064" y="1988840"/>
            <a:ext cx="3048000" cy="231648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vehicle structure</a:t>
            </a:r>
            <a:endParaRPr lang="en-US" dirty="0"/>
          </a:p>
        </p:txBody>
      </p:sp>
      <p:sp>
        <p:nvSpPr>
          <p:cNvPr id="3" name="Content Placeholder 2"/>
          <p:cNvSpPr>
            <a:spLocks noGrp="1"/>
          </p:cNvSpPr>
          <p:nvPr>
            <p:ph idx="1"/>
          </p:nvPr>
        </p:nvSpPr>
        <p:spPr/>
        <p:txBody>
          <a:bodyPr/>
          <a:lstStyle/>
          <a:p>
            <a:pPr marL="36576" indent="0">
              <a:buNone/>
            </a:pPr>
            <a:r>
              <a:rPr lang="en-US" dirty="0" smtClean="0"/>
              <a:t>Suspension components include:</a:t>
            </a:r>
          </a:p>
          <a:p>
            <a:r>
              <a:rPr lang="en-AU" dirty="0" smtClean="0"/>
              <a:t>Lateral and longitudinal/control arms </a:t>
            </a:r>
          </a:p>
          <a:p>
            <a:r>
              <a:rPr lang="en-AU" dirty="0" smtClean="0"/>
              <a:t>Springs</a:t>
            </a:r>
          </a:p>
          <a:p>
            <a:r>
              <a:rPr lang="en-AU" dirty="0" smtClean="0"/>
              <a:t>Dampers</a:t>
            </a:r>
          </a:p>
          <a:p>
            <a:r>
              <a:rPr lang="en-AU" dirty="0" smtClean="0"/>
              <a:t>Shock absorbers</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31</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48064" y="2060848"/>
            <a:ext cx="3048000" cy="304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vehicle structure</a:t>
            </a:r>
            <a:endParaRPr lang="en-US" dirty="0"/>
          </a:p>
        </p:txBody>
      </p:sp>
      <p:sp>
        <p:nvSpPr>
          <p:cNvPr id="3" name="Content Placeholder 2"/>
          <p:cNvSpPr>
            <a:spLocks noGrp="1"/>
          </p:cNvSpPr>
          <p:nvPr>
            <p:ph idx="1"/>
          </p:nvPr>
        </p:nvSpPr>
        <p:spPr/>
        <p:txBody>
          <a:bodyPr/>
          <a:lstStyle/>
          <a:p>
            <a:r>
              <a:rPr lang="en-AU" dirty="0" smtClean="0"/>
              <a:t>Linkages</a:t>
            </a:r>
          </a:p>
          <a:p>
            <a:r>
              <a:rPr lang="en-AU" dirty="0" smtClean="0"/>
              <a:t>Ball joints</a:t>
            </a:r>
          </a:p>
          <a:p>
            <a:r>
              <a:rPr lang="en-AU" dirty="0" smtClean="0"/>
              <a:t>Self-levelling devices </a:t>
            </a:r>
          </a:p>
          <a:p>
            <a:r>
              <a:rPr lang="en-AU" dirty="0" smtClean="0"/>
              <a:t>Ride and height controls</a:t>
            </a:r>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32</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1988840"/>
            <a:ext cx="3048000" cy="2033016"/>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vehicle structure</a:t>
            </a:r>
            <a:endParaRPr lang="en-US" dirty="0"/>
          </a:p>
        </p:txBody>
      </p:sp>
      <p:sp>
        <p:nvSpPr>
          <p:cNvPr id="3" name="Content Placeholder 2"/>
          <p:cNvSpPr>
            <a:spLocks noGrp="1"/>
          </p:cNvSpPr>
          <p:nvPr>
            <p:ph idx="1"/>
          </p:nvPr>
        </p:nvSpPr>
        <p:spPr/>
        <p:txBody>
          <a:bodyPr/>
          <a:lstStyle/>
          <a:p>
            <a:pPr marL="36576" indent="0">
              <a:buNone/>
            </a:pPr>
            <a:r>
              <a:rPr lang="en-US" dirty="0" smtClean="0"/>
              <a:t>Possible diagnostic methods:</a:t>
            </a:r>
          </a:p>
          <a:p>
            <a:r>
              <a:rPr lang="en-US" dirty="0" smtClean="0"/>
              <a:t>Functional testing</a:t>
            </a:r>
          </a:p>
          <a:p>
            <a:r>
              <a:rPr lang="en-US" dirty="0" smtClean="0"/>
              <a:t>Pressure testing</a:t>
            </a:r>
          </a:p>
          <a:p>
            <a:r>
              <a:rPr lang="en-US" dirty="0" smtClean="0"/>
              <a:t>Electrical and/or electronic testing</a:t>
            </a:r>
          </a:p>
          <a:p>
            <a:r>
              <a:rPr lang="en-AU" dirty="0" smtClean="0"/>
              <a:t>Visual, aural and functional assessments</a:t>
            </a:r>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33</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6056" y="1988840"/>
            <a:ext cx="3048000" cy="2033016"/>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vehicle structure</a:t>
            </a:r>
            <a:endParaRPr lang="en-US" dirty="0"/>
          </a:p>
        </p:txBody>
      </p:sp>
      <p:sp>
        <p:nvSpPr>
          <p:cNvPr id="3" name="Content Placeholder 2"/>
          <p:cNvSpPr>
            <a:spLocks noGrp="1"/>
          </p:cNvSpPr>
          <p:nvPr>
            <p:ph idx="1"/>
          </p:nvPr>
        </p:nvSpPr>
        <p:spPr>
          <a:xfrm>
            <a:off x="457200" y="1988840"/>
            <a:ext cx="4474840" cy="4433224"/>
          </a:xfrm>
        </p:spPr>
        <p:txBody>
          <a:bodyPr>
            <a:normAutofit lnSpcReduction="10000"/>
          </a:bodyPr>
          <a:lstStyle/>
          <a:p>
            <a:pPr marL="36576" indent="0">
              <a:buNone/>
            </a:pPr>
            <a:r>
              <a:rPr lang="en-US" dirty="0" smtClean="0"/>
              <a:t>Reasons for concerns with suspension:</a:t>
            </a:r>
          </a:p>
          <a:p>
            <a:r>
              <a:rPr lang="en-AU" dirty="0" smtClean="0"/>
              <a:t>Any suspension component that is broken, cracked, bent, misaligned, cut, missing, not secured or can be seen to have been repaired or modified by heating or welding</a:t>
            </a:r>
          </a:p>
          <a:p>
            <a:r>
              <a:rPr lang="en-AU" dirty="0" smtClean="0"/>
              <a:t>Any shock absorber is missing, inoperative or is leaking fluid</a:t>
            </a:r>
          </a:p>
          <a:p>
            <a:r>
              <a:rPr lang="en-AU" dirty="0" smtClean="0"/>
              <a:t>Any shock absorber is not securely mounted</a:t>
            </a:r>
          </a:p>
          <a:p>
            <a:pPr marL="36576" indent="0">
              <a:buNone/>
            </a:pPr>
            <a:r>
              <a:rPr lang="en-US"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34</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48064" y="1988840"/>
            <a:ext cx="2404872" cy="3048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vehicle structure</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US" dirty="0" smtClean="0"/>
              <a:t>Maintenance of suspension may require:</a:t>
            </a:r>
          </a:p>
          <a:p>
            <a:r>
              <a:rPr lang="en-AU" dirty="0" smtClean="0"/>
              <a:t>Adjustment of shock absorbers</a:t>
            </a:r>
          </a:p>
          <a:p>
            <a:r>
              <a:rPr lang="en-AU" dirty="0" smtClean="0"/>
              <a:t>Greasing ball joints, tie rod ends, sway bar links, drag links, centre links, idler arms and Pitman arms</a:t>
            </a:r>
          </a:p>
          <a:p>
            <a:r>
              <a:rPr lang="en-AU" dirty="0" smtClean="0"/>
              <a:t>Inspecting ball joints for play</a:t>
            </a:r>
          </a:p>
          <a:p>
            <a:r>
              <a:rPr lang="en-AU" dirty="0" smtClean="0"/>
              <a:t>Checking wear indicators</a:t>
            </a:r>
          </a:p>
          <a:p>
            <a:pPr marL="36576" indent="0">
              <a:buNone/>
            </a:pPr>
            <a:r>
              <a:rPr lang="en-US"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35</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1988840"/>
            <a:ext cx="3048000" cy="2033016"/>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vehicle structure</a:t>
            </a:r>
            <a:endParaRPr lang="en-US" dirty="0"/>
          </a:p>
        </p:txBody>
      </p:sp>
      <p:sp>
        <p:nvSpPr>
          <p:cNvPr id="3" name="Content Placeholder 2"/>
          <p:cNvSpPr>
            <a:spLocks noGrp="1"/>
          </p:cNvSpPr>
          <p:nvPr>
            <p:ph idx="1"/>
          </p:nvPr>
        </p:nvSpPr>
        <p:spPr/>
        <p:txBody>
          <a:bodyPr/>
          <a:lstStyle/>
          <a:p>
            <a:r>
              <a:rPr lang="en-AU" dirty="0" smtClean="0"/>
              <a:t>Checking and greasing bearings</a:t>
            </a:r>
          </a:p>
          <a:p>
            <a:r>
              <a:rPr lang="en-AU" dirty="0" smtClean="0"/>
              <a:t>Removing and replacing wheel bearings</a:t>
            </a:r>
          </a:p>
          <a:p>
            <a:r>
              <a:rPr lang="en-AU" dirty="0" smtClean="0"/>
              <a:t>Replacing ball joints and boots</a:t>
            </a:r>
          </a:p>
          <a:p>
            <a:r>
              <a:rPr lang="en-AU" dirty="0" smtClean="0"/>
              <a:t>Checking tyre wear and wheel alignment</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36</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48064" y="1988840"/>
            <a:ext cx="3048000" cy="2033016"/>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vehicle structure</a:t>
            </a:r>
            <a:endParaRPr lang="en-US" dirty="0"/>
          </a:p>
        </p:txBody>
      </p:sp>
      <p:sp>
        <p:nvSpPr>
          <p:cNvPr id="3" name="Content Placeholder 2"/>
          <p:cNvSpPr>
            <a:spLocks noGrp="1"/>
          </p:cNvSpPr>
          <p:nvPr>
            <p:ph idx="1"/>
          </p:nvPr>
        </p:nvSpPr>
        <p:spPr/>
        <p:txBody>
          <a:bodyPr/>
          <a:lstStyle/>
          <a:p>
            <a:pPr marL="36576" indent="0">
              <a:buNone/>
            </a:pPr>
            <a:r>
              <a:rPr lang="en-US" dirty="0" smtClean="0"/>
              <a:t>Checks to make on luggage and pack racks:</a:t>
            </a:r>
          </a:p>
          <a:p>
            <a:r>
              <a:rPr lang="en-AU" dirty="0" smtClean="0"/>
              <a:t>Making sure connections are tight</a:t>
            </a:r>
          </a:p>
          <a:p>
            <a:r>
              <a:rPr lang="en-AU" dirty="0" smtClean="0"/>
              <a:t>Cleaning as required</a:t>
            </a:r>
          </a:p>
          <a:p>
            <a:r>
              <a:rPr lang="en-AU" dirty="0" smtClean="0"/>
              <a:t>Replacing missing end plugs</a:t>
            </a:r>
          </a:p>
          <a:p>
            <a:r>
              <a:rPr lang="en-AU" dirty="0" smtClean="0"/>
              <a:t>Checking roof gutters for wear/corrosion – and re-fitting and re-painting where necessary</a:t>
            </a:r>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37</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6056" y="1988840"/>
            <a:ext cx="3048000" cy="2033016"/>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vehicle structure</a:t>
            </a:r>
            <a:endParaRPr lang="en-US" dirty="0"/>
          </a:p>
        </p:txBody>
      </p:sp>
      <p:sp>
        <p:nvSpPr>
          <p:cNvPr id="3" name="Content Placeholder 2"/>
          <p:cNvSpPr>
            <a:spLocks noGrp="1"/>
          </p:cNvSpPr>
          <p:nvPr>
            <p:ph idx="1"/>
          </p:nvPr>
        </p:nvSpPr>
        <p:spPr/>
        <p:txBody>
          <a:bodyPr/>
          <a:lstStyle/>
          <a:p>
            <a:r>
              <a:rPr lang="en-AU" dirty="0" smtClean="0"/>
              <a:t>Replacement of rubber supports and inserts</a:t>
            </a:r>
          </a:p>
          <a:p>
            <a:r>
              <a:rPr lang="en-AU" dirty="0" smtClean="0"/>
              <a:t>Replacement of frayed/damaged straps</a:t>
            </a:r>
          </a:p>
          <a:p>
            <a:r>
              <a:rPr lang="en-AU" dirty="0" smtClean="0"/>
              <a:t>Oiling moving parts – doors, hinges</a:t>
            </a:r>
          </a:p>
          <a:p>
            <a:r>
              <a:rPr lang="en-AU" dirty="0" smtClean="0"/>
              <a:t>Cleaning roof and rack gutters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38</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1988678"/>
            <a:ext cx="3048000" cy="2033016"/>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lighting</a:t>
            </a:r>
            <a:endParaRPr lang="en-US" dirty="0"/>
          </a:p>
        </p:txBody>
      </p:sp>
      <p:sp>
        <p:nvSpPr>
          <p:cNvPr id="3" name="Content Placeholder 2"/>
          <p:cNvSpPr>
            <a:spLocks noGrp="1"/>
          </p:cNvSpPr>
          <p:nvPr>
            <p:ph idx="1"/>
          </p:nvPr>
        </p:nvSpPr>
        <p:spPr>
          <a:xfrm>
            <a:off x="457200" y="1988840"/>
            <a:ext cx="4474840" cy="4433224"/>
          </a:xfrm>
        </p:spPr>
        <p:txBody>
          <a:bodyPr>
            <a:normAutofit lnSpcReduction="10000"/>
          </a:bodyPr>
          <a:lstStyle/>
          <a:p>
            <a:pPr marL="36576" indent="0">
              <a:buNone/>
            </a:pPr>
            <a:r>
              <a:rPr lang="en-US" dirty="0" smtClean="0"/>
              <a:t>Headlight checks:</a:t>
            </a:r>
          </a:p>
          <a:p>
            <a:r>
              <a:rPr lang="en-AU" dirty="0" smtClean="0"/>
              <a:t>Correct colour</a:t>
            </a:r>
          </a:p>
          <a:p>
            <a:r>
              <a:rPr lang="en-AU" dirty="0" smtClean="0"/>
              <a:t>Globes not blown</a:t>
            </a:r>
          </a:p>
          <a:p>
            <a:r>
              <a:rPr lang="en-AU" dirty="0" smtClean="0"/>
              <a:t>High beam – good strength and accurate alignment/focus, and illuminate when activated</a:t>
            </a:r>
          </a:p>
          <a:p>
            <a:r>
              <a:rPr lang="en-AU" dirty="0" smtClean="0"/>
              <a:t>Dipped – good strength and accurate alignment, and dip and return to high beam when activated: high beam lamps must extinguish when lights are dipped</a:t>
            </a:r>
          </a:p>
          <a:p>
            <a:pPr marL="36576" indent="0">
              <a:buNone/>
            </a:pPr>
            <a:r>
              <a:rPr lang="en-US" sz="15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39</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48064" y="1988840"/>
            <a:ext cx="3048000" cy="20574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lighting</a:t>
            </a:r>
            <a:endParaRPr lang="en-US" dirty="0"/>
          </a:p>
        </p:txBody>
      </p:sp>
      <p:sp>
        <p:nvSpPr>
          <p:cNvPr id="3" name="Content Placeholder 2"/>
          <p:cNvSpPr>
            <a:spLocks noGrp="1"/>
          </p:cNvSpPr>
          <p:nvPr>
            <p:ph idx="1"/>
          </p:nvPr>
        </p:nvSpPr>
        <p:spPr/>
        <p:txBody>
          <a:bodyPr/>
          <a:lstStyle/>
          <a:p>
            <a:r>
              <a:rPr lang="en-AU" dirty="0" smtClean="0"/>
              <a:t>Lenses clean and not tarnished or cracked</a:t>
            </a:r>
          </a:p>
          <a:p>
            <a:r>
              <a:rPr lang="en-AU" dirty="0" smtClean="0"/>
              <a:t>Lights are correctly aimed</a:t>
            </a:r>
          </a:p>
          <a:p>
            <a:r>
              <a:rPr lang="en-AU" dirty="0" smtClean="0"/>
              <a:t>No water damage</a:t>
            </a:r>
          </a:p>
          <a:p>
            <a:r>
              <a:rPr lang="en-AU" dirty="0" smtClean="0"/>
              <a:t>Assembly is secure and complete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40</a:t>
            </a:fld>
            <a:endParaRPr lang="en-US" dirty="0"/>
          </a:p>
        </p:txBody>
      </p:sp>
      <p:pic>
        <p:nvPicPr>
          <p:cNvPr id="2050" name="Picture 2" descr="http://istargazer.ca/images/seq/lamprepair/new_lamp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8024" y="1988840"/>
            <a:ext cx="3408040" cy="255603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lighting</a:t>
            </a:r>
            <a:endParaRPr lang="en-US" dirty="0"/>
          </a:p>
        </p:txBody>
      </p:sp>
      <p:sp>
        <p:nvSpPr>
          <p:cNvPr id="3" name="Content Placeholder 2"/>
          <p:cNvSpPr>
            <a:spLocks noGrp="1"/>
          </p:cNvSpPr>
          <p:nvPr>
            <p:ph idx="1"/>
          </p:nvPr>
        </p:nvSpPr>
        <p:spPr/>
        <p:txBody>
          <a:bodyPr/>
          <a:lstStyle/>
          <a:p>
            <a:pPr marL="36576" indent="0">
              <a:buNone/>
            </a:pPr>
            <a:r>
              <a:rPr lang="en-US" dirty="0" smtClean="0"/>
              <a:t>Parking light checks:</a:t>
            </a:r>
          </a:p>
          <a:p>
            <a:r>
              <a:rPr lang="en-US" dirty="0" smtClean="0"/>
              <a:t>Front and rear are all working </a:t>
            </a:r>
          </a:p>
          <a:p>
            <a:r>
              <a:rPr lang="en-US" dirty="0" smtClean="0"/>
              <a:t>Lights are clear and clean</a:t>
            </a:r>
          </a:p>
          <a:p>
            <a:r>
              <a:rPr lang="en-US" dirty="0" smtClean="0"/>
              <a:t>Correct colour</a:t>
            </a:r>
          </a:p>
          <a:p>
            <a:r>
              <a:rPr lang="en-US" dirty="0" smtClean="0"/>
              <a:t>They illuminate when turned on</a:t>
            </a:r>
            <a:endParaRPr lang="en-AU"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41</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6056" y="1988840"/>
            <a:ext cx="3048000" cy="2033016"/>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lighting</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Fog light checks:</a:t>
            </a:r>
          </a:p>
          <a:p>
            <a:r>
              <a:rPr lang="en-US" dirty="0" smtClean="0"/>
              <a:t>Correct colour (white or yellow)</a:t>
            </a:r>
          </a:p>
          <a:p>
            <a:r>
              <a:rPr lang="en-AU" dirty="0" smtClean="0"/>
              <a:t>Globes not blown</a:t>
            </a:r>
          </a:p>
          <a:p>
            <a:r>
              <a:rPr lang="en-US" dirty="0" smtClean="0"/>
              <a:t>Not mounted above level of headlights of vehicle</a:t>
            </a:r>
          </a:p>
          <a:p>
            <a:r>
              <a:rPr lang="en-US" dirty="0" smtClean="0"/>
              <a:t>Operated on separate switch</a:t>
            </a:r>
          </a:p>
          <a:p>
            <a:r>
              <a:rPr lang="en-US" dirty="0" smtClean="0"/>
              <a:t>Dip when high beams are dipped</a:t>
            </a:r>
            <a:endParaRPr lang="en-AU" dirty="0" smtClean="0"/>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42</a:t>
            </a:fld>
            <a:endParaRPr lang="en-US" dirty="0"/>
          </a:p>
        </p:txBody>
      </p:sp>
      <p:pic>
        <p:nvPicPr>
          <p:cNvPr id="3074" name="Picture 2" descr="http://www.titantalk.com/forums/attachments/titan-faq-how-area/37814d1171554298-fog-light-mod-w-o-parking-lights-simple-lightson.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88024" y="1988840"/>
            <a:ext cx="3356372" cy="251727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lighting</a:t>
            </a:r>
            <a:endParaRPr lang="en-US" dirty="0"/>
          </a:p>
        </p:txBody>
      </p:sp>
      <p:sp>
        <p:nvSpPr>
          <p:cNvPr id="3" name="Content Placeholder 2"/>
          <p:cNvSpPr>
            <a:spLocks noGrp="1"/>
          </p:cNvSpPr>
          <p:nvPr>
            <p:ph idx="1"/>
          </p:nvPr>
        </p:nvSpPr>
        <p:spPr/>
        <p:txBody>
          <a:bodyPr/>
          <a:lstStyle/>
          <a:p>
            <a:r>
              <a:rPr lang="en-US" dirty="0" smtClean="0"/>
              <a:t>Do not present a protrusion hazard</a:t>
            </a:r>
          </a:p>
          <a:p>
            <a:r>
              <a:rPr lang="en-US" dirty="0" smtClean="0"/>
              <a:t>Separated by required gap</a:t>
            </a:r>
          </a:p>
          <a:p>
            <a:r>
              <a:rPr lang="en-US" dirty="0" smtClean="0"/>
              <a:t>Do not sit above the bull bar </a:t>
            </a:r>
          </a:p>
          <a:p>
            <a:r>
              <a:rPr lang="en-US" dirty="0" smtClean="0"/>
              <a:t>Forward facing and correctly aligned/focussed</a:t>
            </a:r>
          </a:p>
          <a:p>
            <a:r>
              <a:rPr lang="en-AU" dirty="0" smtClean="0"/>
              <a:t>Lenses clean and not tarnished or cracked</a:t>
            </a:r>
          </a:p>
          <a:p>
            <a:r>
              <a:rPr lang="en-AU" dirty="0" smtClean="0"/>
              <a:t>After-market lights are tightly connected to vehicle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43</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6056" y="1988840"/>
            <a:ext cx="3048000" cy="2033016"/>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lighting</a:t>
            </a:r>
            <a:endParaRPr lang="en-US" dirty="0"/>
          </a:p>
        </p:txBody>
      </p:sp>
      <p:sp>
        <p:nvSpPr>
          <p:cNvPr id="3" name="Content Placeholder 2"/>
          <p:cNvSpPr>
            <a:spLocks noGrp="1"/>
          </p:cNvSpPr>
          <p:nvPr>
            <p:ph idx="1"/>
          </p:nvPr>
        </p:nvSpPr>
        <p:spPr/>
        <p:txBody>
          <a:bodyPr/>
          <a:lstStyle/>
          <a:p>
            <a:pPr marL="36576" indent="0">
              <a:buNone/>
            </a:pPr>
            <a:r>
              <a:rPr lang="en-US" dirty="0" smtClean="0"/>
              <a:t>Number plate light checks:</a:t>
            </a:r>
          </a:p>
          <a:p>
            <a:r>
              <a:rPr lang="en-US" dirty="0" smtClean="0"/>
              <a:t>Correct  colour (white)</a:t>
            </a:r>
          </a:p>
          <a:p>
            <a:r>
              <a:rPr lang="en-US" dirty="0" smtClean="0"/>
              <a:t>Operates when lights turned on</a:t>
            </a:r>
          </a:p>
          <a:p>
            <a:r>
              <a:rPr lang="en-US" dirty="0" smtClean="0"/>
              <a:t>Illuminates number plate</a:t>
            </a:r>
          </a:p>
          <a:p>
            <a:r>
              <a:rPr lang="en-US" dirty="0" smtClean="0"/>
              <a:t>Clean globe</a:t>
            </a:r>
            <a:endParaRPr lang="en-AU"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44</a:t>
            </a:fld>
            <a:endParaRPr lang="en-US" dirty="0"/>
          </a:p>
        </p:txBody>
      </p:sp>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0072" y="1988840"/>
            <a:ext cx="2916163" cy="22753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lighting</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US" dirty="0" smtClean="0"/>
              <a:t>Driving light checks:</a:t>
            </a:r>
          </a:p>
          <a:p>
            <a:r>
              <a:rPr lang="en-US" dirty="0" smtClean="0"/>
              <a:t>Correct colour (white or yellow)</a:t>
            </a:r>
          </a:p>
          <a:p>
            <a:r>
              <a:rPr lang="en-US" dirty="0" smtClean="0"/>
              <a:t>Not mounted above level of headlights </a:t>
            </a:r>
          </a:p>
          <a:p>
            <a:r>
              <a:rPr lang="en-US" dirty="0" smtClean="0"/>
              <a:t>Fitted in pairs</a:t>
            </a:r>
          </a:p>
          <a:p>
            <a:r>
              <a:rPr lang="en-US" dirty="0" smtClean="0"/>
              <a:t>Maximum four</a:t>
            </a:r>
          </a:p>
          <a:p>
            <a:r>
              <a:rPr lang="en-US" dirty="0" smtClean="0"/>
              <a:t>Operated on separate switch</a:t>
            </a:r>
          </a:p>
          <a:p>
            <a:r>
              <a:rPr lang="en-AU" dirty="0" smtClean="0"/>
              <a:t>Dip when high beams are dipped</a:t>
            </a:r>
            <a:endParaRPr lang="en-US" dirty="0" smtClean="0"/>
          </a:p>
          <a:p>
            <a:pPr marL="36576" indent="0">
              <a:buNone/>
            </a:pPr>
            <a:r>
              <a:rPr lang="en-US" sz="15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45</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48064" y="1988840"/>
            <a:ext cx="3048000" cy="2033016"/>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lighting</a:t>
            </a:r>
            <a:endParaRPr lang="en-US" dirty="0"/>
          </a:p>
        </p:txBody>
      </p:sp>
      <p:sp>
        <p:nvSpPr>
          <p:cNvPr id="3" name="Content Placeholder 2"/>
          <p:cNvSpPr>
            <a:spLocks noGrp="1"/>
          </p:cNvSpPr>
          <p:nvPr>
            <p:ph idx="1"/>
          </p:nvPr>
        </p:nvSpPr>
        <p:spPr/>
        <p:txBody>
          <a:bodyPr/>
          <a:lstStyle/>
          <a:p>
            <a:r>
              <a:rPr lang="en-US" dirty="0" smtClean="0"/>
              <a:t>Do not present a protrusion hazard</a:t>
            </a:r>
          </a:p>
          <a:p>
            <a:r>
              <a:rPr lang="en-US" dirty="0" smtClean="0"/>
              <a:t>Do not have a separate on/off switch</a:t>
            </a:r>
          </a:p>
          <a:p>
            <a:r>
              <a:rPr lang="en-US" dirty="0" smtClean="0"/>
              <a:t>Do not sit above the bull bar</a:t>
            </a:r>
          </a:p>
          <a:p>
            <a:r>
              <a:rPr lang="en-US" dirty="0" smtClean="0"/>
              <a:t>Forward facing and correctly aimed</a:t>
            </a:r>
          </a:p>
          <a:p>
            <a:r>
              <a:rPr lang="en-AU" dirty="0" smtClean="0"/>
              <a:t>Lenses clean and not tarnished or cracked</a:t>
            </a:r>
          </a:p>
          <a:p>
            <a:r>
              <a:rPr lang="en-AU" dirty="0" smtClean="0"/>
              <a:t>After-market lights tightly connected to vehicle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46</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1974641"/>
            <a:ext cx="3048000" cy="2033016"/>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lighting</a:t>
            </a:r>
            <a:endParaRPr lang="en-US" dirty="0"/>
          </a:p>
        </p:txBody>
      </p:sp>
      <p:sp>
        <p:nvSpPr>
          <p:cNvPr id="3" name="Content Placeholder 2"/>
          <p:cNvSpPr>
            <a:spLocks noGrp="1"/>
          </p:cNvSpPr>
          <p:nvPr>
            <p:ph idx="1"/>
          </p:nvPr>
        </p:nvSpPr>
        <p:spPr/>
        <p:txBody>
          <a:bodyPr/>
          <a:lstStyle/>
          <a:p>
            <a:pPr marL="36576" indent="0">
              <a:buNone/>
            </a:pPr>
            <a:r>
              <a:rPr lang="en-US" dirty="0" smtClean="0"/>
              <a:t>Turning light checks – front and rear, left and right:</a:t>
            </a:r>
          </a:p>
          <a:p>
            <a:r>
              <a:rPr lang="en-US" dirty="0" smtClean="0"/>
              <a:t>Correct colour (yellow or red)</a:t>
            </a:r>
          </a:p>
          <a:p>
            <a:r>
              <a:rPr lang="en-US" dirty="0" smtClean="0"/>
              <a:t>Operate when activated</a:t>
            </a:r>
          </a:p>
          <a:p>
            <a:r>
              <a:rPr lang="en-US" dirty="0" smtClean="0"/>
              <a:t>Clean and clear</a:t>
            </a:r>
          </a:p>
          <a:p>
            <a:r>
              <a:rPr lang="en-US" dirty="0" smtClean="0"/>
              <a:t>Accompanied by audible signal when activated</a:t>
            </a:r>
            <a:endParaRPr lang="en-AU"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47</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9923" y="1975939"/>
            <a:ext cx="3048000" cy="20574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lighting</a:t>
            </a:r>
            <a:endParaRPr lang="en-US" dirty="0"/>
          </a:p>
        </p:txBody>
      </p:sp>
      <p:sp>
        <p:nvSpPr>
          <p:cNvPr id="3" name="Content Placeholder 2"/>
          <p:cNvSpPr>
            <a:spLocks noGrp="1"/>
          </p:cNvSpPr>
          <p:nvPr>
            <p:ph idx="1"/>
          </p:nvPr>
        </p:nvSpPr>
        <p:spPr/>
        <p:txBody>
          <a:bodyPr/>
          <a:lstStyle/>
          <a:p>
            <a:pPr marL="36576" indent="0">
              <a:buNone/>
            </a:pPr>
            <a:r>
              <a:rPr lang="en-US" dirty="0" smtClean="0"/>
              <a:t>Side marker light checks:</a:t>
            </a:r>
          </a:p>
          <a:p>
            <a:r>
              <a:rPr lang="en-US" dirty="0" smtClean="0"/>
              <a:t>Correct colour (white)</a:t>
            </a:r>
          </a:p>
          <a:p>
            <a:r>
              <a:rPr lang="en-US" dirty="0" smtClean="0"/>
              <a:t>Illuminate when activated</a:t>
            </a:r>
          </a:p>
          <a:p>
            <a:r>
              <a:rPr lang="en-US" dirty="0" smtClean="0"/>
              <a:t>Spaced correctly</a:t>
            </a:r>
          </a:p>
          <a:p>
            <a:r>
              <a:rPr lang="en-US" dirty="0" smtClean="0"/>
              <a:t>Clean and clear</a:t>
            </a:r>
            <a:endParaRPr lang="en-AU"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48</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32040" y="1916832"/>
            <a:ext cx="2343912" cy="30480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lighting</a:t>
            </a:r>
            <a:endParaRPr lang="en-US" dirty="0"/>
          </a:p>
        </p:txBody>
      </p:sp>
      <p:sp>
        <p:nvSpPr>
          <p:cNvPr id="3" name="Content Placeholder 2"/>
          <p:cNvSpPr>
            <a:spLocks noGrp="1"/>
          </p:cNvSpPr>
          <p:nvPr>
            <p:ph idx="1"/>
          </p:nvPr>
        </p:nvSpPr>
        <p:spPr/>
        <p:txBody>
          <a:bodyPr/>
          <a:lstStyle/>
          <a:p>
            <a:pPr marL="36576" indent="0">
              <a:buNone/>
            </a:pPr>
            <a:r>
              <a:rPr lang="en-US" dirty="0" smtClean="0"/>
              <a:t>Brake light checks:</a:t>
            </a:r>
          </a:p>
          <a:p>
            <a:r>
              <a:rPr lang="en-US" dirty="0" smtClean="0"/>
              <a:t>Correct colour (red)</a:t>
            </a:r>
          </a:p>
          <a:p>
            <a:r>
              <a:rPr lang="en-US" dirty="0" smtClean="0"/>
              <a:t>Positioned at correct height</a:t>
            </a:r>
          </a:p>
          <a:p>
            <a:r>
              <a:rPr lang="en-US" dirty="0" smtClean="0"/>
              <a:t>Activated when brake pedal is depressed</a:t>
            </a:r>
          </a:p>
          <a:p>
            <a:r>
              <a:rPr lang="en-US" dirty="0" smtClean="0"/>
              <a:t>Clean and clear </a:t>
            </a:r>
          </a:p>
          <a:p>
            <a:r>
              <a:rPr lang="en-US" dirty="0" smtClean="0"/>
              <a:t>No white light showing</a:t>
            </a:r>
          </a:p>
          <a:p>
            <a:r>
              <a:rPr lang="en-US" dirty="0" smtClean="0"/>
              <a:t>Lenses in good condition</a:t>
            </a:r>
            <a:endParaRPr lang="en-AU"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49</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6056" y="1988840"/>
            <a:ext cx="3048000" cy="2033016"/>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lighting</a:t>
            </a:r>
            <a:endParaRPr lang="en-US" dirty="0"/>
          </a:p>
        </p:txBody>
      </p:sp>
      <p:sp>
        <p:nvSpPr>
          <p:cNvPr id="3" name="Content Placeholder 2"/>
          <p:cNvSpPr>
            <a:spLocks noGrp="1"/>
          </p:cNvSpPr>
          <p:nvPr>
            <p:ph idx="1"/>
          </p:nvPr>
        </p:nvSpPr>
        <p:spPr/>
        <p:txBody>
          <a:bodyPr/>
          <a:lstStyle/>
          <a:p>
            <a:pPr marL="36576" indent="0">
              <a:buNone/>
            </a:pPr>
            <a:r>
              <a:rPr lang="en-US" dirty="0" smtClean="0"/>
              <a:t>Hazard warning light checks:</a:t>
            </a:r>
          </a:p>
          <a:p>
            <a:r>
              <a:rPr lang="en-US" dirty="0" smtClean="0"/>
              <a:t>Operate when activated</a:t>
            </a:r>
          </a:p>
          <a:p>
            <a:r>
              <a:rPr lang="en-US" dirty="0" smtClean="0"/>
              <a:t>All globes operational</a:t>
            </a:r>
          </a:p>
          <a:p>
            <a:r>
              <a:rPr lang="en-US" dirty="0" smtClean="0"/>
              <a:t>Accompanied by audible signal when activated</a:t>
            </a:r>
          </a:p>
          <a:p>
            <a:r>
              <a:rPr lang="en-US" dirty="0" smtClean="0"/>
              <a:t>Not incorporated with turn indicators</a:t>
            </a:r>
          </a:p>
          <a:p>
            <a:r>
              <a:rPr lang="en-US" dirty="0" smtClean="0"/>
              <a:t>Clean and clear</a:t>
            </a:r>
            <a:endParaRPr lang="en-AU"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50</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20072" y="1988840"/>
            <a:ext cx="3048000" cy="2033016"/>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lighting</a:t>
            </a:r>
            <a:endParaRPr lang="en-US" dirty="0"/>
          </a:p>
        </p:txBody>
      </p:sp>
      <p:sp>
        <p:nvSpPr>
          <p:cNvPr id="3" name="Content Placeholder 2"/>
          <p:cNvSpPr>
            <a:spLocks noGrp="1"/>
          </p:cNvSpPr>
          <p:nvPr>
            <p:ph idx="1"/>
          </p:nvPr>
        </p:nvSpPr>
        <p:spPr/>
        <p:txBody>
          <a:bodyPr/>
          <a:lstStyle/>
          <a:p>
            <a:pPr marL="36576" indent="0">
              <a:buNone/>
            </a:pPr>
            <a:r>
              <a:rPr lang="en-US" dirty="0" smtClean="0"/>
              <a:t>Reversing light checks:</a:t>
            </a:r>
          </a:p>
          <a:p>
            <a:r>
              <a:rPr lang="en-US" dirty="0" smtClean="0"/>
              <a:t>Activates when reverse gear selected</a:t>
            </a:r>
          </a:p>
          <a:p>
            <a:r>
              <a:rPr lang="en-US" dirty="0" smtClean="0"/>
              <a:t>Not operated by an independent switch</a:t>
            </a:r>
          </a:p>
          <a:p>
            <a:r>
              <a:rPr lang="en-US" dirty="0" smtClean="0"/>
              <a:t>Clean and clear</a:t>
            </a:r>
          </a:p>
          <a:p>
            <a:r>
              <a:rPr lang="en-US" dirty="0" smtClean="0"/>
              <a:t>Activates reversing warning device (where fitted)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51</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1955858"/>
            <a:ext cx="3048000" cy="2033016"/>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lighting</a:t>
            </a:r>
            <a:endParaRPr lang="en-US" dirty="0"/>
          </a:p>
        </p:txBody>
      </p:sp>
      <p:sp>
        <p:nvSpPr>
          <p:cNvPr id="3" name="Content Placeholder 2"/>
          <p:cNvSpPr>
            <a:spLocks noGrp="1"/>
          </p:cNvSpPr>
          <p:nvPr>
            <p:ph idx="1"/>
          </p:nvPr>
        </p:nvSpPr>
        <p:spPr/>
        <p:txBody>
          <a:bodyPr/>
          <a:lstStyle/>
          <a:p>
            <a:pPr marL="36576" indent="0">
              <a:buNone/>
            </a:pPr>
            <a:r>
              <a:rPr lang="en-US" dirty="0" smtClean="0"/>
              <a:t>Spotlight checks:</a:t>
            </a:r>
          </a:p>
          <a:p>
            <a:r>
              <a:rPr lang="en-US" dirty="0" smtClean="0"/>
              <a:t>Local regulations are complied with</a:t>
            </a:r>
          </a:p>
          <a:p>
            <a:r>
              <a:rPr lang="en-US" dirty="0" smtClean="0"/>
              <a:t>Light bars are securely attached </a:t>
            </a:r>
          </a:p>
          <a:p>
            <a:r>
              <a:rPr lang="en-US" dirty="0" smtClean="0"/>
              <a:t>No blown globes</a:t>
            </a:r>
          </a:p>
          <a:p>
            <a:r>
              <a:rPr lang="en-US" dirty="0" smtClean="0"/>
              <a:t>Sufficient intensity</a:t>
            </a:r>
            <a:endParaRPr lang="en-AU"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52</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1282" y="1988840"/>
            <a:ext cx="3048000" cy="2033016"/>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lighting</a:t>
            </a:r>
            <a:endParaRPr lang="en-US" dirty="0"/>
          </a:p>
        </p:txBody>
      </p:sp>
      <p:sp>
        <p:nvSpPr>
          <p:cNvPr id="3" name="Content Placeholder 2"/>
          <p:cNvSpPr>
            <a:spLocks noGrp="1"/>
          </p:cNvSpPr>
          <p:nvPr>
            <p:ph idx="1"/>
          </p:nvPr>
        </p:nvSpPr>
        <p:spPr/>
        <p:txBody>
          <a:bodyPr/>
          <a:lstStyle/>
          <a:p>
            <a:pPr marL="36576" indent="0">
              <a:buNone/>
            </a:pPr>
            <a:r>
              <a:rPr lang="en-US" dirty="0" smtClean="0"/>
              <a:t>Rear reflector checks:</a:t>
            </a:r>
          </a:p>
          <a:p>
            <a:r>
              <a:rPr lang="en-US" dirty="0" smtClean="0"/>
              <a:t>Clean and clear</a:t>
            </a:r>
          </a:p>
          <a:p>
            <a:r>
              <a:rPr lang="en-US" dirty="0" smtClean="0"/>
              <a:t>Not discoloured</a:t>
            </a:r>
          </a:p>
          <a:p>
            <a:r>
              <a:rPr lang="en-US" dirty="0" smtClean="0"/>
              <a:t>Not dislodged</a:t>
            </a:r>
          </a:p>
          <a:p>
            <a:r>
              <a:rPr lang="en-US" dirty="0" smtClean="0"/>
              <a:t>In position</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53</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6056" y="1988840"/>
            <a:ext cx="3048000" cy="2292096"/>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lighting</a:t>
            </a:r>
            <a:endParaRPr lang="en-US" dirty="0"/>
          </a:p>
        </p:txBody>
      </p:sp>
      <p:sp>
        <p:nvSpPr>
          <p:cNvPr id="3" name="Content Placeholder 2"/>
          <p:cNvSpPr>
            <a:spLocks noGrp="1"/>
          </p:cNvSpPr>
          <p:nvPr>
            <p:ph idx="1"/>
          </p:nvPr>
        </p:nvSpPr>
        <p:spPr/>
        <p:txBody>
          <a:bodyPr/>
          <a:lstStyle/>
          <a:p>
            <a:pPr marL="36576" indent="0">
              <a:buNone/>
            </a:pPr>
            <a:r>
              <a:rPr lang="en-US" dirty="0" smtClean="0"/>
              <a:t>Internal vehicle light checks:</a:t>
            </a:r>
          </a:p>
          <a:p>
            <a:r>
              <a:rPr lang="en-US" dirty="0" smtClean="0"/>
              <a:t>Operate when turned on/off</a:t>
            </a:r>
          </a:p>
          <a:p>
            <a:r>
              <a:rPr lang="en-US" dirty="0" smtClean="0"/>
              <a:t>Clean and clear – globes and covers </a:t>
            </a:r>
          </a:p>
          <a:p>
            <a:r>
              <a:rPr lang="en-US" dirty="0" smtClean="0"/>
              <a:t>No blown globes</a:t>
            </a:r>
            <a:endParaRPr lang="en-AU"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54</a:t>
            </a:fld>
            <a:endParaRPr lang="en-US" dirty="0"/>
          </a:p>
        </p:txBody>
      </p:sp>
      <p:pic>
        <p:nvPicPr>
          <p:cNvPr id="5122" name="Picture 2" descr="http://www.ijdmtoy.com/BLOG/Showcase/Car-LED-Blog/galleries/2013-02/Honda-Civic-Si-Sedan-LED-interior-dome-map-lights-installation-18.jpg"/>
          <p:cNvPicPr>
            <a:picLocks noChangeAspect="1" noChangeArrowheads="1"/>
          </p:cNvPicPr>
          <p:nvPr/>
        </p:nvPicPr>
        <p:blipFill rotWithShape="1">
          <a:blip r:embed="rId3">
            <a:extLst>
              <a:ext uri="{28A0092B-C50C-407E-A947-70E740481C1C}">
                <a14:useLocalDpi xmlns:a14="http://schemas.microsoft.com/office/drawing/2010/main" val="0"/>
              </a:ext>
            </a:extLst>
          </a:blip>
          <a:srcRect l="4711" t="5875" b="5842"/>
          <a:stretch/>
        </p:blipFill>
        <p:spPr bwMode="auto">
          <a:xfrm>
            <a:off x="5358384" y="2048256"/>
            <a:ext cx="2798042" cy="197510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lighting</a:t>
            </a:r>
            <a:endParaRPr lang="en-US" dirty="0"/>
          </a:p>
        </p:txBody>
      </p:sp>
      <p:sp>
        <p:nvSpPr>
          <p:cNvPr id="3" name="Content Placeholder 2"/>
          <p:cNvSpPr>
            <a:spLocks noGrp="1"/>
          </p:cNvSpPr>
          <p:nvPr>
            <p:ph idx="1"/>
          </p:nvPr>
        </p:nvSpPr>
        <p:spPr/>
        <p:txBody>
          <a:bodyPr/>
          <a:lstStyle/>
          <a:p>
            <a:pPr marL="36576" indent="0">
              <a:buNone/>
            </a:pPr>
            <a:r>
              <a:rPr lang="en-US" dirty="0" smtClean="0"/>
              <a:t>Dashboard and instrument illumination checks:</a:t>
            </a:r>
          </a:p>
          <a:p>
            <a:r>
              <a:rPr lang="en-US" dirty="0" smtClean="0"/>
              <a:t>Illuminates when lights are activated</a:t>
            </a:r>
          </a:p>
          <a:p>
            <a:r>
              <a:rPr lang="en-US" dirty="0" smtClean="0"/>
              <a:t>Dimming facility operates (where fitted)</a:t>
            </a:r>
            <a:endParaRPr lang="en-AU"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55</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48064" y="1988840"/>
            <a:ext cx="3048000" cy="2033016"/>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lighting</a:t>
            </a:r>
            <a:endParaRPr lang="en-US" dirty="0"/>
          </a:p>
        </p:txBody>
      </p:sp>
      <p:sp>
        <p:nvSpPr>
          <p:cNvPr id="3" name="Content Placeholder 2"/>
          <p:cNvSpPr>
            <a:spLocks noGrp="1"/>
          </p:cNvSpPr>
          <p:nvPr>
            <p:ph idx="1"/>
          </p:nvPr>
        </p:nvSpPr>
        <p:spPr/>
        <p:txBody>
          <a:bodyPr/>
          <a:lstStyle/>
          <a:p>
            <a:pPr marL="36576" indent="0">
              <a:buNone/>
            </a:pPr>
            <a:r>
              <a:rPr lang="en-US" dirty="0" smtClean="0"/>
              <a:t>Possible lighting adjustments:</a:t>
            </a:r>
          </a:p>
          <a:p>
            <a:r>
              <a:rPr lang="en-AU" dirty="0" smtClean="0"/>
              <a:t>Replace blown globes</a:t>
            </a:r>
          </a:p>
          <a:p>
            <a:r>
              <a:rPr lang="en-AU" dirty="0" smtClean="0"/>
              <a:t>Clean lenses and reflectors</a:t>
            </a:r>
          </a:p>
          <a:p>
            <a:r>
              <a:rPr lang="en-AU" dirty="0" smtClean="0"/>
              <a:t>Align/focus headlights, driving lights and fog lights as/if required</a:t>
            </a:r>
          </a:p>
          <a:p>
            <a:r>
              <a:rPr lang="en-AU" dirty="0" smtClean="0"/>
              <a:t>Replace wiring or re-wire lights as required to conform to requirements</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56</a:t>
            </a:fld>
            <a:endParaRPr lang="en-US" dirty="0"/>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6056" y="1988840"/>
            <a:ext cx="2365248" cy="304800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lighting</a:t>
            </a:r>
            <a:endParaRPr lang="en-US" dirty="0"/>
          </a:p>
        </p:txBody>
      </p:sp>
      <p:sp>
        <p:nvSpPr>
          <p:cNvPr id="3" name="Content Placeholder 2"/>
          <p:cNvSpPr>
            <a:spLocks noGrp="1"/>
          </p:cNvSpPr>
          <p:nvPr>
            <p:ph idx="1"/>
          </p:nvPr>
        </p:nvSpPr>
        <p:spPr/>
        <p:txBody>
          <a:bodyPr/>
          <a:lstStyle/>
          <a:p>
            <a:r>
              <a:rPr lang="en-AU" dirty="0" smtClean="0"/>
              <a:t>Replace fuses</a:t>
            </a:r>
          </a:p>
          <a:p>
            <a:r>
              <a:rPr lang="en-AU" dirty="0" smtClean="0"/>
              <a:t>Replace wiring</a:t>
            </a:r>
          </a:p>
          <a:p>
            <a:r>
              <a:rPr lang="en-AU" dirty="0" smtClean="0"/>
              <a:t>Replace connectors</a:t>
            </a:r>
          </a:p>
          <a:p>
            <a:r>
              <a:rPr lang="en-AU" dirty="0" smtClean="0"/>
              <a:t>Tighten loose fittings</a:t>
            </a:r>
          </a:p>
          <a:p>
            <a:r>
              <a:rPr lang="en-US" dirty="0" smtClean="0"/>
              <a:t>Service by an auto-electrician may be required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57</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51932" y="1987296"/>
            <a:ext cx="2033016" cy="304800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vision-related items</a:t>
            </a:r>
            <a:endParaRPr lang="en-US" dirty="0"/>
          </a:p>
        </p:txBody>
      </p:sp>
      <p:sp>
        <p:nvSpPr>
          <p:cNvPr id="3" name="Content Placeholder 2"/>
          <p:cNvSpPr>
            <a:spLocks noGrp="1"/>
          </p:cNvSpPr>
          <p:nvPr>
            <p:ph idx="1"/>
          </p:nvPr>
        </p:nvSpPr>
        <p:spPr/>
        <p:txBody>
          <a:bodyPr/>
          <a:lstStyle/>
          <a:p>
            <a:r>
              <a:rPr lang="en-US" dirty="0" smtClean="0"/>
              <a:t>Glazing checks:</a:t>
            </a:r>
          </a:p>
          <a:p>
            <a:r>
              <a:rPr lang="en-US" dirty="0" smtClean="0"/>
              <a:t>No excessive tinting</a:t>
            </a:r>
          </a:p>
          <a:p>
            <a:r>
              <a:rPr lang="en-US" dirty="0" smtClean="0"/>
              <a:t>No crazes, cracks or fractures in driver’s field of vision</a:t>
            </a:r>
          </a:p>
          <a:p>
            <a:r>
              <a:rPr lang="en-US" dirty="0" smtClean="0"/>
              <a:t>Windows/glass are in place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58</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68144" y="1905008"/>
            <a:ext cx="2039112" cy="304800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vision-related items</a:t>
            </a:r>
            <a:endParaRPr lang="en-US" dirty="0"/>
          </a:p>
        </p:txBody>
      </p:sp>
      <p:sp>
        <p:nvSpPr>
          <p:cNvPr id="3" name="Content Placeholder 2"/>
          <p:cNvSpPr>
            <a:spLocks noGrp="1"/>
          </p:cNvSpPr>
          <p:nvPr>
            <p:ph idx="1"/>
          </p:nvPr>
        </p:nvSpPr>
        <p:spPr/>
        <p:txBody>
          <a:bodyPr/>
          <a:lstStyle/>
          <a:p>
            <a:pPr marL="36576" indent="0">
              <a:buNone/>
            </a:pPr>
            <a:r>
              <a:rPr lang="en-US" dirty="0" smtClean="0"/>
              <a:t>Sun visor checks:</a:t>
            </a:r>
          </a:p>
          <a:p>
            <a:r>
              <a:rPr lang="en-US" dirty="0" smtClean="0"/>
              <a:t>Fully operational</a:t>
            </a:r>
          </a:p>
          <a:p>
            <a:r>
              <a:rPr lang="en-US" dirty="0" smtClean="0"/>
              <a:t>Stay in position</a:t>
            </a:r>
          </a:p>
          <a:p>
            <a:r>
              <a:rPr lang="en-US" dirty="0" smtClean="0"/>
              <a:t>Securely affixed</a:t>
            </a:r>
          </a:p>
          <a:p>
            <a:r>
              <a:rPr lang="en-US" dirty="0" smtClean="0"/>
              <a:t>Additions are clean and secure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59</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48064" y="1988840"/>
            <a:ext cx="3048000" cy="176784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vision-related items</a:t>
            </a:r>
            <a:endParaRPr lang="en-US" dirty="0"/>
          </a:p>
        </p:txBody>
      </p:sp>
      <p:sp>
        <p:nvSpPr>
          <p:cNvPr id="3" name="Content Placeholder 2"/>
          <p:cNvSpPr>
            <a:spLocks noGrp="1"/>
          </p:cNvSpPr>
          <p:nvPr>
            <p:ph idx="1"/>
          </p:nvPr>
        </p:nvSpPr>
        <p:spPr/>
        <p:txBody>
          <a:bodyPr/>
          <a:lstStyle/>
          <a:p>
            <a:pPr marL="36576" indent="0">
              <a:buNone/>
            </a:pPr>
            <a:r>
              <a:rPr lang="en-US" dirty="0" smtClean="0"/>
              <a:t>Windscreen </a:t>
            </a:r>
            <a:r>
              <a:rPr lang="en-AU" dirty="0" smtClean="0"/>
              <a:t>wipers and washing system checks</a:t>
            </a:r>
            <a:r>
              <a:rPr lang="en-US" dirty="0" smtClean="0"/>
              <a:t>:</a:t>
            </a:r>
          </a:p>
          <a:p>
            <a:r>
              <a:rPr lang="en-US" dirty="0" smtClean="0"/>
              <a:t>Fully functional on all settings</a:t>
            </a:r>
          </a:p>
          <a:p>
            <a:r>
              <a:rPr lang="en-US" dirty="0" smtClean="0"/>
              <a:t>Wipers return to rest position when turned off</a:t>
            </a:r>
          </a:p>
          <a:p>
            <a:r>
              <a:rPr lang="en-US" dirty="0" smtClean="0"/>
              <a:t>Water jets correctly aimed and operating properly</a:t>
            </a:r>
          </a:p>
          <a:p>
            <a:r>
              <a:rPr lang="en-US" dirty="0" smtClean="0"/>
              <a:t>Blades make proper contact with windscreen</a:t>
            </a:r>
          </a:p>
          <a:p>
            <a:r>
              <a:rPr lang="en-US" dirty="0" smtClean="0"/>
              <a:t>Blades in good condition</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60</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48064" y="1988840"/>
            <a:ext cx="3048000" cy="202692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vision-related items</a:t>
            </a:r>
            <a:endParaRPr lang="en-US" dirty="0"/>
          </a:p>
        </p:txBody>
      </p:sp>
      <p:sp>
        <p:nvSpPr>
          <p:cNvPr id="3" name="Content Placeholder 2"/>
          <p:cNvSpPr>
            <a:spLocks noGrp="1"/>
          </p:cNvSpPr>
          <p:nvPr>
            <p:ph idx="1"/>
          </p:nvPr>
        </p:nvSpPr>
        <p:spPr/>
        <p:txBody>
          <a:bodyPr/>
          <a:lstStyle/>
          <a:p>
            <a:pPr marL="36576" indent="0">
              <a:buNone/>
            </a:pPr>
            <a:r>
              <a:rPr lang="en-US" dirty="0" smtClean="0"/>
              <a:t>Demister checks:</a:t>
            </a:r>
          </a:p>
          <a:p>
            <a:r>
              <a:rPr lang="en-US" dirty="0" smtClean="0"/>
              <a:t>Operates when activated</a:t>
            </a:r>
          </a:p>
          <a:p>
            <a:r>
              <a:rPr lang="en-US" dirty="0" smtClean="0"/>
              <a:t>Removes interior condensation from windscreen</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61</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0" y="1968272"/>
            <a:ext cx="3048000" cy="202692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vision-related items</a:t>
            </a:r>
            <a:endParaRPr lang="en-US" dirty="0"/>
          </a:p>
        </p:txBody>
      </p:sp>
      <p:sp>
        <p:nvSpPr>
          <p:cNvPr id="3" name="Content Placeholder 2"/>
          <p:cNvSpPr>
            <a:spLocks noGrp="1"/>
          </p:cNvSpPr>
          <p:nvPr>
            <p:ph idx="1"/>
          </p:nvPr>
        </p:nvSpPr>
        <p:spPr/>
        <p:txBody>
          <a:bodyPr/>
          <a:lstStyle/>
          <a:p>
            <a:pPr marL="36576" indent="0">
              <a:buNone/>
            </a:pPr>
            <a:r>
              <a:rPr lang="en-US" dirty="0" smtClean="0"/>
              <a:t>Mirror checks:</a:t>
            </a:r>
          </a:p>
          <a:p>
            <a:r>
              <a:rPr lang="en-AU" dirty="0" smtClean="0"/>
              <a:t>Provides view of rear of the vehicle from driver’s seat</a:t>
            </a:r>
          </a:p>
          <a:p>
            <a:r>
              <a:rPr lang="en-AU" dirty="0" smtClean="0"/>
              <a:t>Securely mounted and able to be adjusted</a:t>
            </a:r>
          </a:p>
          <a:p>
            <a:r>
              <a:rPr lang="en-AU" dirty="0" smtClean="0"/>
              <a:t>Reflective surface not cracked, broken or peeled</a:t>
            </a:r>
          </a:p>
          <a:p>
            <a:r>
              <a:rPr lang="en-AU" dirty="0" smtClean="0"/>
              <a:t>Primary mirror must be flat but additional curved ones may be fitted</a:t>
            </a:r>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62</a:t>
            </a:fld>
            <a:endParaRPr lang="en-US" dirty="0"/>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48064" y="1988840"/>
            <a:ext cx="3048000" cy="2023872"/>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vision-related items</a:t>
            </a:r>
            <a:endParaRPr lang="en-US" dirty="0"/>
          </a:p>
        </p:txBody>
      </p:sp>
      <p:sp>
        <p:nvSpPr>
          <p:cNvPr id="3" name="Content Placeholder 2"/>
          <p:cNvSpPr>
            <a:spLocks noGrp="1"/>
          </p:cNvSpPr>
          <p:nvPr>
            <p:ph idx="1"/>
          </p:nvPr>
        </p:nvSpPr>
        <p:spPr/>
        <p:txBody>
          <a:bodyPr/>
          <a:lstStyle/>
          <a:p>
            <a:pPr marL="36576" indent="0">
              <a:buNone/>
            </a:pPr>
            <a:r>
              <a:rPr lang="en-US" dirty="0" smtClean="0"/>
              <a:t>Possible adjustments:</a:t>
            </a:r>
          </a:p>
          <a:p>
            <a:r>
              <a:rPr lang="en-AU" dirty="0" smtClean="0"/>
              <a:t>Cleaning</a:t>
            </a:r>
          </a:p>
          <a:p>
            <a:r>
              <a:rPr lang="en-AU" dirty="0" smtClean="0"/>
              <a:t>Tightening or re-affixing connections and fixtures</a:t>
            </a:r>
          </a:p>
          <a:p>
            <a:r>
              <a:rPr lang="en-AU" dirty="0" smtClean="0"/>
              <a:t>Replacement of faulty or defective items</a:t>
            </a:r>
          </a:p>
          <a:p>
            <a:r>
              <a:rPr lang="en-AU" dirty="0" smtClean="0"/>
              <a:t>Professional service by qualified technician to electrical/electronic items</a:t>
            </a:r>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63</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04048" y="2132856"/>
            <a:ext cx="2054352" cy="304800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entrances and exits</a:t>
            </a:r>
            <a:endParaRPr lang="en-US" dirty="0"/>
          </a:p>
        </p:txBody>
      </p:sp>
      <p:sp>
        <p:nvSpPr>
          <p:cNvPr id="3" name="Content Placeholder 2"/>
          <p:cNvSpPr>
            <a:spLocks noGrp="1"/>
          </p:cNvSpPr>
          <p:nvPr>
            <p:ph idx="1"/>
          </p:nvPr>
        </p:nvSpPr>
        <p:spPr/>
        <p:txBody>
          <a:bodyPr/>
          <a:lstStyle/>
          <a:p>
            <a:pPr marL="36576" indent="0">
              <a:buNone/>
            </a:pPr>
            <a:r>
              <a:rPr lang="en-US" dirty="0" smtClean="0"/>
              <a:t>Items to check:</a:t>
            </a:r>
          </a:p>
          <a:p>
            <a:r>
              <a:rPr lang="en-US" dirty="0" smtClean="0"/>
              <a:t>Vehicle doors</a:t>
            </a:r>
          </a:p>
          <a:p>
            <a:r>
              <a:rPr lang="en-US" dirty="0" smtClean="0"/>
              <a:t>Bonnet and boot</a:t>
            </a:r>
          </a:p>
          <a:p>
            <a:r>
              <a:rPr lang="en-US" dirty="0" smtClean="0"/>
              <a:t>Cargo holds and side-drop doors</a:t>
            </a:r>
          </a:p>
          <a:p>
            <a:r>
              <a:rPr lang="en-US" dirty="0" smtClean="0"/>
              <a:t>Areas allied to entries – steps, ramps, supports</a:t>
            </a:r>
          </a:p>
          <a:p>
            <a:r>
              <a:rPr lang="en-US" dirty="0" smtClean="0"/>
              <a:t>Emergency exits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64</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0" y="2132856"/>
            <a:ext cx="3048000" cy="2182368"/>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entrances and exits</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US" dirty="0" smtClean="0"/>
              <a:t>Possible checks:</a:t>
            </a:r>
          </a:p>
          <a:p>
            <a:r>
              <a:rPr lang="en-AU" dirty="0" smtClean="0"/>
              <a:t>Latches and catches are mounted securely, in good condition and operating correctly </a:t>
            </a:r>
            <a:endParaRPr lang="en-US" dirty="0" smtClean="0"/>
          </a:p>
          <a:p>
            <a:r>
              <a:rPr lang="en-AU" dirty="0" smtClean="0"/>
              <a:t>Doors controlled by driver can be opened and closed from driving position</a:t>
            </a:r>
            <a:endParaRPr lang="en-US" dirty="0" smtClean="0"/>
          </a:p>
          <a:p>
            <a:r>
              <a:rPr lang="en-US" dirty="0" smtClean="0"/>
              <a:t>Attachments are secure</a:t>
            </a:r>
          </a:p>
          <a:p>
            <a:r>
              <a:rPr lang="en-US" dirty="0" smtClean="0"/>
              <a:t>Handles and locks operate as required</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65</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04048" y="2002714"/>
            <a:ext cx="2545080" cy="304800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entrances and exits</a:t>
            </a:r>
            <a:endParaRPr lang="en-US" dirty="0"/>
          </a:p>
        </p:txBody>
      </p:sp>
      <p:sp>
        <p:nvSpPr>
          <p:cNvPr id="3" name="Content Placeholder 2"/>
          <p:cNvSpPr>
            <a:spLocks noGrp="1"/>
          </p:cNvSpPr>
          <p:nvPr>
            <p:ph idx="1"/>
          </p:nvPr>
        </p:nvSpPr>
        <p:spPr>
          <a:xfrm>
            <a:off x="457200" y="1988840"/>
            <a:ext cx="4618856" cy="4433224"/>
          </a:xfrm>
        </p:spPr>
        <p:txBody>
          <a:bodyPr>
            <a:normAutofit/>
          </a:bodyPr>
          <a:lstStyle/>
          <a:p>
            <a:r>
              <a:rPr lang="en-AU" dirty="0" smtClean="0"/>
              <a:t>Verifying bonnets hinged at the of bonnet have an effective secondary bonnet mechanism</a:t>
            </a:r>
          </a:p>
          <a:p>
            <a:r>
              <a:rPr lang="en-AU" dirty="0" smtClean="0"/>
              <a:t>Making sure gas/pneumatic struts support panels/vehicle sections they are intended to support</a:t>
            </a:r>
          </a:p>
          <a:p>
            <a:r>
              <a:rPr lang="en-AU" dirty="0" smtClean="0"/>
              <a:t>Ensuring entrances and exits are free from tripping hazards</a:t>
            </a:r>
          </a:p>
          <a:p>
            <a:r>
              <a:rPr lang="en-AU" dirty="0" smtClean="0"/>
              <a:t>Verifying steps are fitted with skid- or slip-resistant covering</a:t>
            </a:r>
            <a:endParaRPr lang="en-US" dirty="0" smtClean="0"/>
          </a:p>
          <a:p>
            <a:pPr marL="36576" indent="0">
              <a:buNone/>
            </a:pPr>
            <a:r>
              <a:rPr lang="en-US" sz="15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66</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2080" y="1988840"/>
            <a:ext cx="2237232" cy="304800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entrances and exits</a:t>
            </a:r>
            <a:endParaRPr lang="en-US" dirty="0"/>
          </a:p>
        </p:txBody>
      </p:sp>
      <p:sp>
        <p:nvSpPr>
          <p:cNvPr id="3" name="Content Placeholder 2"/>
          <p:cNvSpPr>
            <a:spLocks noGrp="1"/>
          </p:cNvSpPr>
          <p:nvPr>
            <p:ph idx="1"/>
          </p:nvPr>
        </p:nvSpPr>
        <p:spPr/>
        <p:txBody>
          <a:bodyPr/>
          <a:lstStyle/>
          <a:p>
            <a:r>
              <a:rPr lang="en-AU" dirty="0" smtClean="0"/>
              <a:t>Checking illumination of steps and lighting of other spaces accessed by doors is functioning correctly</a:t>
            </a:r>
          </a:p>
          <a:p>
            <a:r>
              <a:rPr lang="en-AU" dirty="0" smtClean="0"/>
              <a:t>Checking presence and stability of hand rails and hand straps for passengers</a:t>
            </a:r>
          </a:p>
          <a:p>
            <a:r>
              <a:rPr lang="en-AU" dirty="0" smtClean="0"/>
              <a:t>Operating devices (steps, ramps, hoists) to determine devices work as required</a:t>
            </a:r>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67</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48064" y="1988840"/>
            <a:ext cx="3048000" cy="2017776"/>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entrances and exits</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US" dirty="0" smtClean="0"/>
              <a:t>Emergency exit checks:</a:t>
            </a:r>
          </a:p>
          <a:p>
            <a:r>
              <a:rPr lang="en-AU" dirty="0" smtClean="0"/>
              <a:t>Emergency exits are clearly identified/signed and have clear operating instructions posted</a:t>
            </a:r>
          </a:p>
          <a:p>
            <a:r>
              <a:rPr lang="en-AU" dirty="0" smtClean="0"/>
              <a:t>Equipment/items to operate/access the exit are in place – such as tools to break windows</a:t>
            </a:r>
          </a:p>
          <a:p>
            <a:r>
              <a:rPr lang="en-AU" dirty="0" smtClean="0"/>
              <a:t>Exits are free from obstructions and physically undamaged</a:t>
            </a:r>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68</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6056" y="1988840"/>
            <a:ext cx="3048000" cy="2033016"/>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entrances and exits</a:t>
            </a:r>
            <a:endParaRPr lang="en-US" dirty="0"/>
          </a:p>
        </p:txBody>
      </p:sp>
      <p:sp>
        <p:nvSpPr>
          <p:cNvPr id="3" name="Content Placeholder 2"/>
          <p:cNvSpPr>
            <a:spLocks noGrp="1"/>
          </p:cNvSpPr>
          <p:nvPr>
            <p:ph idx="1"/>
          </p:nvPr>
        </p:nvSpPr>
        <p:spPr/>
        <p:txBody>
          <a:bodyPr/>
          <a:lstStyle/>
          <a:p>
            <a:pPr marL="36576" indent="0">
              <a:buNone/>
            </a:pPr>
            <a:r>
              <a:rPr lang="en-US" dirty="0" smtClean="0"/>
              <a:t>Possible adjustments:</a:t>
            </a:r>
          </a:p>
          <a:p>
            <a:r>
              <a:rPr lang="en-AU" dirty="0" smtClean="0"/>
              <a:t>Cleaning</a:t>
            </a:r>
          </a:p>
          <a:p>
            <a:r>
              <a:rPr lang="en-AU" dirty="0" smtClean="0"/>
              <a:t>Removing obstacles</a:t>
            </a:r>
          </a:p>
          <a:p>
            <a:r>
              <a:rPr lang="en-AU" dirty="0" smtClean="0"/>
              <a:t>Greasing and oiling moving parts</a:t>
            </a:r>
          </a:p>
          <a:p>
            <a:r>
              <a:rPr lang="en-AU" dirty="0" smtClean="0"/>
              <a:t>Using dry lube for door strikers</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69</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32040" y="1988840"/>
            <a:ext cx="2033016" cy="3048000"/>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entrances and exits</a:t>
            </a:r>
            <a:endParaRPr lang="en-US" dirty="0"/>
          </a:p>
        </p:txBody>
      </p:sp>
      <p:sp>
        <p:nvSpPr>
          <p:cNvPr id="3" name="Content Placeholder 2"/>
          <p:cNvSpPr>
            <a:spLocks noGrp="1"/>
          </p:cNvSpPr>
          <p:nvPr>
            <p:ph idx="1"/>
          </p:nvPr>
        </p:nvSpPr>
        <p:spPr/>
        <p:txBody>
          <a:bodyPr/>
          <a:lstStyle/>
          <a:p>
            <a:r>
              <a:rPr lang="en-AU" dirty="0" smtClean="0"/>
              <a:t>Using powdered graphite on door locks</a:t>
            </a:r>
          </a:p>
          <a:p>
            <a:r>
              <a:rPr lang="en-AU" dirty="0" smtClean="0"/>
              <a:t>Replacing batteries on remote locking devices/keys</a:t>
            </a:r>
          </a:p>
          <a:p>
            <a:r>
              <a:rPr lang="en-AU" dirty="0" smtClean="0"/>
              <a:t>Replacing seals</a:t>
            </a:r>
          </a:p>
          <a:p>
            <a:r>
              <a:rPr lang="en-AU" dirty="0" smtClean="0"/>
              <a:t>Changing blown globes</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70</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6056" y="1988840"/>
            <a:ext cx="2322576" cy="3048000"/>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entrances and exits</a:t>
            </a:r>
            <a:endParaRPr lang="en-US" dirty="0"/>
          </a:p>
        </p:txBody>
      </p:sp>
      <p:sp>
        <p:nvSpPr>
          <p:cNvPr id="3" name="Content Placeholder 2"/>
          <p:cNvSpPr>
            <a:spLocks noGrp="1"/>
          </p:cNvSpPr>
          <p:nvPr>
            <p:ph idx="1"/>
          </p:nvPr>
        </p:nvSpPr>
        <p:spPr>
          <a:xfrm>
            <a:off x="457200" y="1988840"/>
            <a:ext cx="4546848" cy="4680520"/>
          </a:xfrm>
        </p:spPr>
        <p:txBody>
          <a:bodyPr>
            <a:normAutofit lnSpcReduction="10000"/>
          </a:bodyPr>
          <a:lstStyle/>
          <a:p>
            <a:r>
              <a:rPr lang="en-AU" dirty="0" smtClean="0"/>
              <a:t>Re-gassing struts</a:t>
            </a:r>
          </a:p>
          <a:p>
            <a:r>
              <a:rPr lang="en-AU" dirty="0" smtClean="0"/>
              <a:t>Providing scheduled maintenance to pneumatic and mechanical devices as prescribed by the manufacturer</a:t>
            </a:r>
          </a:p>
          <a:p>
            <a:r>
              <a:rPr lang="en-AU" dirty="0" smtClean="0"/>
              <a:t>Tightening or re-affixing connections and fixtures</a:t>
            </a:r>
          </a:p>
          <a:p>
            <a:r>
              <a:rPr lang="en-AU" dirty="0" smtClean="0"/>
              <a:t>Replacing faulty or defective items</a:t>
            </a:r>
          </a:p>
          <a:p>
            <a:r>
              <a:rPr lang="en-AU" dirty="0" smtClean="0"/>
              <a:t>Obtaining professional service by qualified technician to mechanical and/or pneumatic items</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71</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0336" y="2276872"/>
            <a:ext cx="2636520" cy="304800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vehicle interior</a:t>
            </a:r>
            <a:endParaRPr lang="en-US" dirty="0"/>
          </a:p>
        </p:txBody>
      </p:sp>
      <p:sp>
        <p:nvSpPr>
          <p:cNvPr id="3" name="Content Placeholder 2"/>
          <p:cNvSpPr>
            <a:spLocks noGrp="1"/>
          </p:cNvSpPr>
          <p:nvPr>
            <p:ph idx="1"/>
          </p:nvPr>
        </p:nvSpPr>
        <p:spPr>
          <a:xfrm>
            <a:off x="457200" y="1988840"/>
            <a:ext cx="4618856" cy="4608512"/>
          </a:xfrm>
        </p:spPr>
        <p:txBody>
          <a:bodyPr>
            <a:normAutofit lnSpcReduction="10000"/>
          </a:bodyPr>
          <a:lstStyle/>
          <a:p>
            <a:pPr marL="36576" indent="0">
              <a:buNone/>
            </a:pPr>
            <a:r>
              <a:rPr lang="en-US" dirty="0" smtClean="0"/>
              <a:t>Seat checks:</a:t>
            </a:r>
          </a:p>
          <a:p>
            <a:r>
              <a:rPr lang="en-AU" dirty="0" smtClean="0"/>
              <a:t>Seat anchorage points are not cracked or rusted</a:t>
            </a:r>
          </a:p>
          <a:p>
            <a:r>
              <a:rPr lang="en-AU" dirty="0" smtClean="0"/>
              <a:t>No missing parts/fasteners in frames or anchorage points</a:t>
            </a:r>
          </a:p>
          <a:p>
            <a:r>
              <a:rPr lang="en-AU" dirty="0" smtClean="0"/>
              <a:t>No exposed/sharp edges or protrusions</a:t>
            </a:r>
          </a:p>
          <a:p>
            <a:r>
              <a:rPr lang="en-AU" dirty="0" smtClean="0"/>
              <a:t>Every seat has a seat cushion and backrest</a:t>
            </a:r>
          </a:p>
          <a:p>
            <a:r>
              <a:rPr lang="en-AU" dirty="0" smtClean="0"/>
              <a:t>Seat adjustments fully functional and hold required position</a:t>
            </a:r>
          </a:p>
          <a:p>
            <a:r>
              <a:rPr lang="en-AU" dirty="0" smtClean="0"/>
              <a:t>Required space in front and between seats</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72</a:t>
            </a:fld>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28572" y="2021822"/>
            <a:ext cx="2849129" cy="2138986"/>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vehicle interior</a:t>
            </a:r>
            <a:endParaRPr lang="en-US" dirty="0"/>
          </a:p>
        </p:txBody>
      </p:sp>
      <p:sp>
        <p:nvSpPr>
          <p:cNvPr id="3" name="Content Placeholder 2"/>
          <p:cNvSpPr>
            <a:spLocks noGrp="1"/>
          </p:cNvSpPr>
          <p:nvPr>
            <p:ph idx="1"/>
          </p:nvPr>
        </p:nvSpPr>
        <p:spPr/>
        <p:txBody>
          <a:bodyPr/>
          <a:lstStyle/>
          <a:p>
            <a:pPr marL="36576" indent="0">
              <a:buNone/>
            </a:pPr>
            <a:r>
              <a:rPr lang="en-US" dirty="0" smtClean="0"/>
              <a:t>Head restraints checks:</a:t>
            </a:r>
          </a:p>
          <a:p>
            <a:r>
              <a:rPr lang="en-AU" dirty="0" smtClean="0"/>
              <a:t>All seats are fitted with a head restraint/head rest</a:t>
            </a:r>
          </a:p>
          <a:p>
            <a:r>
              <a:rPr lang="en-AU" dirty="0" smtClean="0"/>
              <a:t>Every head rest is securely fitted and in good condition</a:t>
            </a:r>
          </a:p>
          <a:p>
            <a:r>
              <a:rPr lang="en-AU" dirty="0" smtClean="0"/>
              <a:t>Head rests can be adjusted as required and maintain the position they are adjusted to</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73</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48064" y="1988840"/>
            <a:ext cx="3048000" cy="2026920"/>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vehicle interior</a:t>
            </a:r>
            <a:endParaRPr lang="en-US" dirty="0"/>
          </a:p>
        </p:txBody>
      </p:sp>
      <p:sp>
        <p:nvSpPr>
          <p:cNvPr id="3" name="Content Placeholder 2"/>
          <p:cNvSpPr>
            <a:spLocks noGrp="1"/>
          </p:cNvSpPr>
          <p:nvPr>
            <p:ph idx="1"/>
          </p:nvPr>
        </p:nvSpPr>
        <p:spPr/>
        <p:txBody>
          <a:bodyPr/>
          <a:lstStyle/>
          <a:p>
            <a:pPr marL="36576" indent="0">
              <a:buNone/>
            </a:pPr>
            <a:r>
              <a:rPr lang="en-US" dirty="0" smtClean="0"/>
              <a:t>Aisle checks:</a:t>
            </a:r>
          </a:p>
          <a:p>
            <a:r>
              <a:rPr lang="en-AU" dirty="0" smtClean="0"/>
              <a:t>Clear of obstructions</a:t>
            </a:r>
          </a:p>
          <a:p>
            <a:r>
              <a:rPr lang="en-AU" dirty="0" smtClean="0"/>
              <a:t>No torn/ripped of frayed carpet</a:t>
            </a:r>
          </a:p>
          <a:p>
            <a:r>
              <a:rPr lang="en-AU" dirty="0" smtClean="0"/>
              <a:t>Lights illuminate the aisle</a:t>
            </a:r>
          </a:p>
          <a:p>
            <a:r>
              <a:rPr lang="en-AU" dirty="0" smtClean="0"/>
              <a:t>Compliant height for the aisle</a:t>
            </a:r>
          </a:p>
          <a:p>
            <a:r>
              <a:rPr lang="en-AU" dirty="0" smtClean="0"/>
              <a:t>Minimum width for the vehicle type is complied with</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74</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48064" y="1988840"/>
            <a:ext cx="3048000" cy="2033016"/>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vehicle interior</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US" dirty="0" smtClean="0"/>
              <a:t>Seat belt checks:</a:t>
            </a:r>
          </a:p>
          <a:p>
            <a:r>
              <a:rPr lang="en-AU" dirty="0" smtClean="0"/>
              <a:t>Seat belt anchorage points are not cracked, damaged, distorted or rusted</a:t>
            </a:r>
          </a:p>
          <a:p>
            <a:r>
              <a:rPr lang="en-AU" dirty="0" smtClean="0"/>
              <a:t>No part of the unit is missing</a:t>
            </a:r>
          </a:p>
          <a:p>
            <a:r>
              <a:rPr lang="en-AU" dirty="0" smtClean="0"/>
              <a:t>The retractor mechanism, locking mechanism, buckle, tongue or adjustment is working correctly/effectively</a:t>
            </a:r>
          </a:p>
          <a:p>
            <a:r>
              <a:rPr lang="en-AU" dirty="0" smtClean="0"/>
              <a:t>Seatbelt webbing is not damaged or defective</a:t>
            </a:r>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75</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6056" y="1988840"/>
            <a:ext cx="3048000" cy="2039112"/>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vehicle interior</a:t>
            </a:r>
            <a:endParaRPr lang="en-US" dirty="0"/>
          </a:p>
        </p:txBody>
      </p:sp>
      <p:sp>
        <p:nvSpPr>
          <p:cNvPr id="3" name="Content Placeholder 2"/>
          <p:cNvSpPr>
            <a:spLocks noGrp="1"/>
          </p:cNvSpPr>
          <p:nvPr>
            <p:ph idx="1"/>
          </p:nvPr>
        </p:nvSpPr>
        <p:spPr>
          <a:xfrm>
            <a:off x="457200" y="1988840"/>
            <a:ext cx="5050904" cy="4433224"/>
          </a:xfrm>
        </p:spPr>
        <p:txBody>
          <a:bodyPr>
            <a:normAutofit lnSpcReduction="10000"/>
          </a:bodyPr>
          <a:lstStyle/>
          <a:p>
            <a:pPr marL="36576" indent="0">
              <a:buNone/>
            </a:pPr>
            <a:r>
              <a:rPr lang="en-US" dirty="0" smtClean="0"/>
              <a:t>Air bag checks:</a:t>
            </a:r>
          </a:p>
          <a:p>
            <a:r>
              <a:rPr lang="en-AU" dirty="0" smtClean="0"/>
              <a:t>If the warning light for airbags is illuminated and stays lit (or flashes) when the engine is started</a:t>
            </a:r>
          </a:p>
          <a:p>
            <a:r>
              <a:rPr lang="en-AU" dirty="0" smtClean="0"/>
              <a:t>If the airbag has been deployed or tampered with</a:t>
            </a:r>
          </a:p>
          <a:p>
            <a:r>
              <a:rPr lang="en-AU" dirty="0" smtClean="0"/>
              <a:t>Bull bars fitted have been done such that the effectiveness and operation of the airbags has not been compromised</a:t>
            </a:r>
          </a:p>
          <a:p>
            <a:r>
              <a:rPr lang="en-AU" dirty="0" smtClean="0"/>
              <a:t>Relevant seats are correctly positioned</a:t>
            </a:r>
            <a:endParaRPr lang="en-US" dirty="0" smtClean="0"/>
          </a:p>
          <a:p>
            <a:pPr marL="36576" indent="0">
              <a:buNone/>
            </a:pPr>
            <a:r>
              <a:rPr lang="en-US" sz="15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76</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78441" y="1988840"/>
            <a:ext cx="1743372" cy="1516938"/>
          </a:xfrm>
          <a:prstGeom prst="rect">
            <a:avLst/>
          </a:prstGeo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995723" y="3645024"/>
            <a:ext cx="1743372" cy="1307529"/>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vehicle interior</a:t>
            </a:r>
            <a:endParaRPr lang="en-US" dirty="0"/>
          </a:p>
        </p:txBody>
      </p:sp>
      <p:sp>
        <p:nvSpPr>
          <p:cNvPr id="3" name="Content Placeholder 2"/>
          <p:cNvSpPr>
            <a:spLocks noGrp="1"/>
          </p:cNvSpPr>
          <p:nvPr>
            <p:ph idx="1"/>
          </p:nvPr>
        </p:nvSpPr>
        <p:spPr>
          <a:xfrm>
            <a:off x="457200" y="1988840"/>
            <a:ext cx="5194920" cy="4433224"/>
          </a:xfrm>
        </p:spPr>
        <p:txBody>
          <a:bodyPr>
            <a:normAutofit lnSpcReduction="10000"/>
          </a:bodyPr>
          <a:lstStyle/>
          <a:p>
            <a:r>
              <a:rPr lang="en-AU" dirty="0" smtClean="0"/>
              <a:t>Vehicles carry necessary advisory signs regarding availability and location of vehicle airbags</a:t>
            </a:r>
          </a:p>
          <a:p>
            <a:r>
              <a:rPr lang="en-AU" dirty="0" smtClean="0"/>
              <a:t>Nothing has been attached to the airbag cover</a:t>
            </a:r>
          </a:p>
          <a:p>
            <a:r>
              <a:rPr lang="en-AU" dirty="0" smtClean="0"/>
              <a:t>No-one has disconnected the airbags which were supplied with </a:t>
            </a:r>
            <a:br>
              <a:rPr lang="en-AU" dirty="0" smtClean="0"/>
            </a:br>
            <a:r>
              <a:rPr lang="en-AU" dirty="0" smtClean="0"/>
              <a:t>the vehicle</a:t>
            </a:r>
          </a:p>
          <a:p>
            <a:r>
              <a:rPr lang="en-AU" dirty="0" smtClean="0"/>
              <a:t>Death and serious injury has resulted from the accidental deployment of airbags during service/maintenance by </a:t>
            </a:r>
            <a:br>
              <a:rPr lang="en-AU" dirty="0" smtClean="0"/>
            </a:br>
            <a:r>
              <a:rPr lang="en-AU" dirty="0" smtClean="0"/>
              <a:t>unqualified persons</a:t>
            </a:r>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77</a:t>
            </a:fld>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66924" y="1994722"/>
            <a:ext cx="2386476" cy="1710308"/>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vehicle interior</a:t>
            </a:r>
            <a:endParaRPr lang="en-US" dirty="0"/>
          </a:p>
        </p:txBody>
      </p:sp>
      <p:sp>
        <p:nvSpPr>
          <p:cNvPr id="3" name="Content Placeholder 2"/>
          <p:cNvSpPr>
            <a:spLocks noGrp="1"/>
          </p:cNvSpPr>
          <p:nvPr>
            <p:ph idx="1"/>
          </p:nvPr>
        </p:nvSpPr>
        <p:spPr>
          <a:xfrm>
            <a:off x="457200" y="1988840"/>
            <a:ext cx="4474840" cy="4433224"/>
          </a:xfrm>
        </p:spPr>
        <p:txBody>
          <a:bodyPr>
            <a:normAutofit lnSpcReduction="10000"/>
          </a:bodyPr>
          <a:lstStyle/>
          <a:p>
            <a:pPr marL="36576" indent="0">
              <a:buNone/>
            </a:pPr>
            <a:r>
              <a:rPr lang="en-US" dirty="0" smtClean="0"/>
              <a:t>Heating and ventilation checks:</a:t>
            </a:r>
          </a:p>
          <a:p>
            <a:r>
              <a:rPr lang="en-US" dirty="0" smtClean="0"/>
              <a:t>Full </a:t>
            </a:r>
            <a:r>
              <a:rPr lang="en-AU" dirty="0" smtClean="0"/>
              <a:t>operational effectiveness of system </a:t>
            </a:r>
          </a:p>
          <a:p>
            <a:r>
              <a:rPr lang="en-AU" dirty="0" smtClean="0"/>
              <a:t>No leaks or drips from the system</a:t>
            </a:r>
          </a:p>
          <a:p>
            <a:r>
              <a:rPr lang="en-AU" dirty="0" smtClean="0"/>
              <a:t>No collapsed, perished, disconnected or kinked leads or hoses</a:t>
            </a:r>
          </a:p>
          <a:p>
            <a:r>
              <a:rPr lang="en-AU" dirty="0" smtClean="0"/>
              <a:t>Windows/roof hatches can be easily opened and closed</a:t>
            </a:r>
          </a:p>
          <a:p>
            <a:r>
              <a:rPr lang="en-AU" dirty="0" smtClean="0"/>
              <a:t>No harmful gases are introduced</a:t>
            </a:r>
          </a:p>
          <a:p>
            <a:pPr marL="36576" indent="0">
              <a:buNone/>
            </a:pPr>
            <a:r>
              <a:rPr lang="en-US" sz="15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78</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38498" y="1988839"/>
            <a:ext cx="2914902" cy="1944217"/>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vehicle interior</a:t>
            </a:r>
            <a:endParaRPr lang="en-US" dirty="0"/>
          </a:p>
        </p:txBody>
      </p:sp>
      <p:sp>
        <p:nvSpPr>
          <p:cNvPr id="3" name="Content Placeholder 2"/>
          <p:cNvSpPr>
            <a:spLocks noGrp="1"/>
          </p:cNvSpPr>
          <p:nvPr>
            <p:ph idx="1"/>
          </p:nvPr>
        </p:nvSpPr>
        <p:spPr/>
        <p:txBody>
          <a:bodyPr/>
          <a:lstStyle/>
          <a:p>
            <a:r>
              <a:rPr lang="en-AU" dirty="0" smtClean="0"/>
              <a:t>Temperatures generated are suitable</a:t>
            </a:r>
          </a:p>
          <a:p>
            <a:r>
              <a:rPr lang="en-AU" dirty="0" smtClean="0"/>
              <a:t>The demister operates correctly when turned on</a:t>
            </a:r>
          </a:p>
          <a:p>
            <a:r>
              <a:rPr lang="en-AU" dirty="0" smtClean="0"/>
              <a:t>No strange noises</a:t>
            </a:r>
          </a:p>
          <a:p>
            <a:r>
              <a:rPr lang="en-AU" dirty="0" smtClean="0"/>
              <a:t>Advisory lights illuminate</a:t>
            </a:r>
          </a:p>
          <a:p>
            <a:r>
              <a:rPr lang="en-AU" dirty="0" smtClean="0"/>
              <a:t>No air locks in the system</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79</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16016" y="1988840"/>
            <a:ext cx="2298192" cy="3048000"/>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vehicle interior</a:t>
            </a:r>
            <a:endParaRPr lang="en-US" dirty="0"/>
          </a:p>
        </p:txBody>
      </p:sp>
      <p:sp>
        <p:nvSpPr>
          <p:cNvPr id="3" name="Content Placeholder 2"/>
          <p:cNvSpPr>
            <a:spLocks noGrp="1"/>
          </p:cNvSpPr>
          <p:nvPr>
            <p:ph idx="1"/>
          </p:nvPr>
        </p:nvSpPr>
        <p:spPr/>
        <p:txBody>
          <a:bodyPr/>
          <a:lstStyle/>
          <a:p>
            <a:pPr marL="36576" indent="0">
              <a:buNone/>
            </a:pPr>
            <a:r>
              <a:rPr lang="en-US" dirty="0" smtClean="0"/>
              <a:t>On-board signs and instructions checks:</a:t>
            </a:r>
          </a:p>
          <a:p>
            <a:r>
              <a:rPr lang="en-US" dirty="0" smtClean="0"/>
              <a:t>All required signs are in place</a:t>
            </a:r>
          </a:p>
          <a:p>
            <a:r>
              <a:rPr lang="en-AU" dirty="0" smtClean="0"/>
              <a:t>Instructions are in place</a:t>
            </a:r>
            <a:endParaRPr lang="en-US" dirty="0" smtClean="0"/>
          </a:p>
          <a:p>
            <a:r>
              <a:rPr lang="en-US" dirty="0" smtClean="0"/>
              <a:t>Information is legible</a:t>
            </a:r>
          </a:p>
          <a:p>
            <a:r>
              <a:rPr lang="en-US" dirty="0" smtClean="0"/>
              <a:t>Metal signs do not present hazard</a:t>
            </a:r>
          </a:p>
          <a:p>
            <a:r>
              <a:rPr lang="en-US" dirty="0" smtClean="0"/>
              <a:t>Firmly affixed</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80</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60032" y="2021822"/>
            <a:ext cx="2371344" cy="3048000"/>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vehicle interior</a:t>
            </a:r>
            <a:endParaRPr lang="en-US" dirty="0"/>
          </a:p>
        </p:txBody>
      </p:sp>
      <p:sp>
        <p:nvSpPr>
          <p:cNvPr id="3" name="Content Placeholder 2"/>
          <p:cNvSpPr>
            <a:spLocks noGrp="1"/>
          </p:cNvSpPr>
          <p:nvPr>
            <p:ph idx="1"/>
          </p:nvPr>
        </p:nvSpPr>
        <p:spPr/>
        <p:txBody>
          <a:bodyPr/>
          <a:lstStyle/>
          <a:p>
            <a:pPr marL="36576" indent="0">
              <a:buNone/>
            </a:pPr>
            <a:r>
              <a:rPr lang="en-US" dirty="0" smtClean="0"/>
              <a:t>Audible warning checks:</a:t>
            </a:r>
          </a:p>
          <a:p>
            <a:r>
              <a:rPr lang="en-AU" dirty="0" smtClean="0"/>
              <a:t>Is fitted and operational when used</a:t>
            </a:r>
          </a:p>
          <a:p>
            <a:r>
              <a:rPr lang="en-AU" dirty="0" smtClean="0"/>
              <a:t>Is sufficiently loud enough</a:t>
            </a:r>
          </a:p>
          <a:p>
            <a:r>
              <a:rPr lang="en-AU" dirty="0" smtClean="0"/>
              <a:t>Can be activated easily from the driver’s seat</a:t>
            </a:r>
          </a:p>
          <a:p>
            <a:r>
              <a:rPr lang="en-AU" dirty="0" smtClean="0"/>
              <a:t>Produces a continual, single-pitch tone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81</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15339" y="2204864"/>
            <a:ext cx="3048000" cy="2033016"/>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vehicle interior</a:t>
            </a:r>
            <a:endParaRPr lang="en-US" dirty="0"/>
          </a:p>
        </p:txBody>
      </p:sp>
      <p:sp>
        <p:nvSpPr>
          <p:cNvPr id="3" name="Content Placeholder 2"/>
          <p:cNvSpPr>
            <a:spLocks noGrp="1"/>
          </p:cNvSpPr>
          <p:nvPr>
            <p:ph idx="1"/>
          </p:nvPr>
        </p:nvSpPr>
        <p:spPr>
          <a:xfrm>
            <a:off x="457200" y="1988840"/>
            <a:ext cx="4618856" cy="4137323"/>
          </a:xfrm>
        </p:spPr>
        <p:txBody>
          <a:bodyPr>
            <a:normAutofit lnSpcReduction="10000"/>
          </a:bodyPr>
          <a:lstStyle/>
          <a:p>
            <a:pPr marL="36576" indent="0">
              <a:buNone/>
            </a:pPr>
            <a:r>
              <a:rPr lang="en-US" dirty="0" smtClean="0"/>
              <a:t>Possible adjustments:</a:t>
            </a:r>
          </a:p>
          <a:p>
            <a:r>
              <a:rPr lang="en-AU" dirty="0" smtClean="0"/>
              <a:t>Cleaning including removing leaves, dirt and debris from component parts </a:t>
            </a:r>
          </a:p>
          <a:p>
            <a:r>
              <a:rPr lang="en-AU" dirty="0" smtClean="0"/>
              <a:t>Repairing/replacing torn/damaged seating, carpet, floor coverings and other internal fabrics/coverings</a:t>
            </a:r>
          </a:p>
          <a:p>
            <a:r>
              <a:rPr lang="en-AU" dirty="0" smtClean="0"/>
              <a:t>Tightening loose fittings</a:t>
            </a:r>
          </a:p>
          <a:p>
            <a:r>
              <a:rPr lang="en-AU" dirty="0" smtClean="0"/>
              <a:t>Replacing deployed or malfunctioning airbags</a:t>
            </a:r>
            <a:endParaRPr lang="en-US" dirty="0" smtClean="0"/>
          </a:p>
          <a:p>
            <a:pPr marL="36576" indent="0">
              <a:buNone/>
            </a:pPr>
            <a:r>
              <a:rPr lang="en-US" sz="15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82</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19112" y="1996345"/>
            <a:ext cx="3048000" cy="2033016"/>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vehicle interior</a:t>
            </a:r>
            <a:endParaRPr lang="en-US" dirty="0"/>
          </a:p>
        </p:txBody>
      </p:sp>
      <p:sp>
        <p:nvSpPr>
          <p:cNvPr id="3" name="Content Placeholder 2"/>
          <p:cNvSpPr>
            <a:spLocks noGrp="1"/>
          </p:cNvSpPr>
          <p:nvPr>
            <p:ph idx="1"/>
          </p:nvPr>
        </p:nvSpPr>
        <p:spPr/>
        <p:txBody>
          <a:bodyPr/>
          <a:lstStyle/>
          <a:p>
            <a:r>
              <a:rPr lang="en-AU" dirty="0" smtClean="0"/>
              <a:t>Replacing worn, faulty or perished hoses and connections</a:t>
            </a:r>
          </a:p>
          <a:p>
            <a:r>
              <a:rPr lang="en-AU" dirty="0" smtClean="0"/>
              <a:t>Removing items placed over airbag covers</a:t>
            </a:r>
          </a:p>
          <a:p>
            <a:r>
              <a:rPr lang="en-AU" dirty="0" smtClean="0"/>
              <a:t>Replacing seatbelts which have been used when the vehicle was involved in an accident</a:t>
            </a:r>
          </a:p>
          <a:p>
            <a:r>
              <a:rPr lang="en-AU" dirty="0" smtClean="0"/>
              <a:t>Draining hoses and units</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83</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2017629"/>
            <a:ext cx="3048000" cy="2033016"/>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vehicle interior</a:t>
            </a:r>
            <a:endParaRPr lang="en-US" dirty="0"/>
          </a:p>
        </p:txBody>
      </p:sp>
      <p:sp>
        <p:nvSpPr>
          <p:cNvPr id="3" name="Content Placeholder 2"/>
          <p:cNvSpPr>
            <a:spLocks noGrp="1"/>
          </p:cNvSpPr>
          <p:nvPr>
            <p:ph idx="1"/>
          </p:nvPr>
        </p:nvSpPr>
        <p:spPr/>
        <p:txBody>
          <a:bodyPr/>
          <a:lstStyle/>
          <a:p>
            <a:r>
              <a:rPr lang="en-AU" dirty="0" smtClean="0"/>
              <a:t>Re-charging air conditioning units with gas – or making arrangements for same</a:t>
            </a:r>
          </a:p>
          <a:p>
            <a:r>
              <a:rPr lang="en-AU" dirty="0" smtClean="0"/>
              <a:t>Re-priming heating systems</a:t>
            </a:r>
          </a:p>
          <a:p>
            <a:r>
              <a:rPr lang="en-AU" dirty="0" smtClean="0"/>
              <a:t>Acquiring, replacing and/or (re-) affixing signs</a:t>
            </a:r>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84</a:t>
            </a:fld>
            <a:endParaRPr lang="en-US" dirty="0"/>
          </a:p>
        </p:txBody>
      </p:sp>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l="15638" r="3265"/>
          <a:stretch/>
        </p:blipFill>
        <p:spPr>
          <a:xfrm>
            <a:off x="5207008" y="2132856"/>
            <a:ext cx="2946392" cy="1955304"/>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brakes</a:t>
            </a:r>
            <a:endParaRPr lang="en-US" dirty="0"/>
          </a:p>
        </p:txBody>
      </p:sp>
      <p:sp>
        <p:nvSpPr>
          <p:cNvPr id="3" name="Content Placeholder 2"/>
          <p:cNvSpPr>
            <a:spLocks noGrp="1"/>
          </p:cNvSpPr>
          <p:nvPr>
            <p:ph idx="1"/>
          </p:nvPr>
        </p:nvSpPr>
        <p:spPr>
          <a:xfrm>
            <a:off x="457200" y="1988840"/>
            <a:ext cx="4834880" cy="4433224"/>
          </a:xfrm>
        </p:spPr>
        <p:txBody>
          <a:bodyPr>
            <a:normAutofit lnSpcReduction="10000"/>
          </a:bodyPr>
          <a:lstStyle/>
          <a:p>
            <a:pPr marL="36576" indent="0">
              <a:buNone/>
            </a:pPr>
            <a:r>
              <a:rPr lang="en-US" dirty="0" smtClean="0"/>
              <a:t>Brake checks:</a:t>
            </a:r>
          </a:p>
          <a:p>
            <a:r>
              <a:rPr lang="en-AU" dirty="0" smtClean="0"/>
              <a:t>Brake pedal is properly covered with rubber</a:t>
            </a:r>
          </a:p>
          <a:p>
            <a:r>
              <a:rPr lang="en-AU" dirty="0" smtClean="0"/>
              <a:t>Verify rubber on brake pedal has anti-slip surface</a:t>
            </a:r>
          </a:p>
          <a:p>
            <a:r>
              <a:rPr lang="en-AU" dirty="0" smtClean="0"/>
              <a:t>Brake pedal or hand brake is not physically broken</a:t>
            </a:r>
          </a:p>
          <a:p>
            <a:r>
              <a:rPr lang="en-AU" dirty="0" smtClean="0"/>
              <a:t>Check travel/height of brake is within specifications</a:t>
            </a:r>
          </a:p>
          <a:p>
            <a:r>
              <a:rPr lang="en-AU" dirty="0" smtClean="0"/>
              <a:t>Determine if brake pedal moves towards floor when steady pressure applied for 10 seconds</a:t>
            </a:r>
          </a:p>
          <a:p>
            <a:pPr marL="36576" indent="0">
              <a:buNone/>
            </a:pPr>
            <a:r>
              <a:rPr lang="en-US" sz="15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85</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06232" y="1988840"/>
            <a:ext cx="2033016" cy="3048000"/>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brakes</a:t>
            </a:r>
            <a:endParaRPr lang="en-US" dirty="0"/>
          </a:p>
        </p:txBody>
      </p:sp>
      <p:sp>
        <p:nvSpPr>
          <p:cNvPr id="3" name="Content Placeholder 2"/>
          <p:cNvSpPr>
            <a:spLocks noGrp="1"/>
          </p:cNvSpPr>
          <p:nvPr>
            <p:ph idx="1"/>
          </p:nvPr>
        </p:nvSpPr>
        <p:spPr>
          <a:xfrm>
            <a:off x="457200" y="1988840"/>
            <a:ext cx="4978896" cy="4433224"/>
          </a:xfrm>
        </p:spPr>
        <p:txBody>
          <a:bodyPr>
            <a:normAutofit lnSpcReduction="10000"/>
          </a:bodyPr>
          <a:lstStyle/>
          <a:p>
            <a:r>
              <a:rPr lang="en-AU" dirty="0" smtClean="0"/>
              <a:t>Brake warning light illuminates when engine is turned on</a:t>
            </a:r>
          </a:p>
          <a:p>
            <a:r>
              <a:rPr lang="en-AU" dirty="0" smtClean="0"/>
              <a:t>Warning light illuminates when hand brake is applied</a:t>
            </a:r>
          </a:p>
          <a:p>
            <a:r>
              <a:rPr lang="en-AU" dirty="0" smtClean="0"/>
              <a:t>Hand brake stays locked in position when applied</a:t>
            </a:r>
          </a:p>
          <a:p>
            <a:r>
              <a:rPr lang="en-AU" dirty="0" smtClean="0"/>
              <a:t>Brake pedal and hand brake return to the fully released position when not being used</a:t>
            </a:r>
          </a:p>
          <a:p>
            <a:r>
              <a:rPr lang="en-AU" dirty="0" smtClean="0"/>
              <a:t>They slow/stop the vehicle as required (within stated requirements/distances/speeds)</a:t>
            </a:r>
          </a:p>
          <a:p>
            <a:pPr marL="36576" indent="0">
              <a:buNone/>
            </a:pPr>
            <a:r>
              <a:rPr lang="en-US" sz="15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86</a:t>
            </a:fld>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42857" y="2002390"/>
            <a:ext cx="2138845" cy="135460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67325" y="3501008"/>
            <a:ext cx="2086075" cy="156455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brakes</a:t>
            </a:r>
            <a:endParaRPr lang="en-US" dirty="0"/>
          </a:p>
        </p:txBody>
      </p:sp>
      <p:sp>
        <p:nvSpPr>
          <p:cNvPr id="3" name="Content Placeholder 2"/>
          <p:cNvSpPr>
            <a:spLocks noGrp="1"/>
          </p:cNvSpPr>
          <p:nvPr>
            <p:ph idx="1"/>
          </p:nvPr>
        </p:nvSpPr>
        <p:spPr>
          <a:xfrm>
            <a:off x="457200" y="1924106"/>
            <a:ext cx="5482952" cy="4680520"/>
          </a:xfrm>
        </p:spPr>
        <p:txBody>
          <a:bodyPr>
            <a:normAutofit lnSpcReduction="10000"/>
          </a:bodyPr>
          <a:lstStyle/>
          <a:p>
            <a:r>
              <a:rPr lang="en-AU" dirty="0" smtClean="0"/>
              <a:t>Inspect pipes, hoses and connections for damage/deterioration</a:t>
            </a:r>
          </a:p>
          <a:p>
            <a:r>
              <a:rPr lang="en-AU" dirty="0" smtClean="0"/>
              <a:t>Verify pipes, hoses and connections securely mounted</a:t>
            </a:r>
          </a:p>
          <a:p>
            <a:r>
              <a:rPr lang="en-AU" dirty="0" smtClean="0"/>
              <a:t>Inspect looking for signs components are broken, excessively worn, leaking, contaminated</a:t>
            </a:r>
          </a:p>
          <a:p>
            <a:r>
              <a:rPr lang="en-AU" dirty="0" smtClean="0"/>
              <a:t>Verify hydraulic lines are sufficient length to allow for full range of steering and suspension movement</a:t>
            </a:r>
          </a:p>
          <a:p>
            <a:r>
              <a:rPr lang="en-AU" dirty="0" smtClean="0"/>
              <a:t>Check repairs made to lines have been made in accordance with applicable standards</a:t>
            </a:r>
          </a:p>
          <a:p>
            <a:pPr marL="36576" indent="0">
              <a:buNone/>
            </a:pPr>
            <a:r>
              <a:rPr lang="en-US" sz="18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87</a:t>
            </a:fld>
            <a:endParaRPr 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brakes</a:t>
            </a:r>
            <a:endParaRPr lang="en-US" dirty="0"/>
          </a:p>
        </p:txBody>
      </p:sp>
      <p:sp>
        <p:nvSpPr>
          <p:cNvPr id="3" name="Content Placeholder 2"/>
          <p:cNvSpPr>
            <a:spLocks noGrp="1"/>
          </p:cNvSpPr>
          <p:nvPr>
            <p:ph idx="1"/>
          </p:nvPr>
        </p:nvSpPr>
        <p:spPr>
          <a:xfrm>
            <a:off x="457200" y="1988840"/>
            <a:ext cx="4330824" cy="4320480"/>
          </a:xfrm>
        </p:spPr>
        <p:txBody>
          <a:bodyPr>
            <a:normAutofit lnSpcReduction="10000"/>
          </a:bodyPr>
          <a:lstStyle/>
          <a:p>
            <a:r>
              <a:rPr lang="en-AU" dirty="0" smtClean="0"/>
              <a:t>Verify brake fluid at required level</a:t>
            </a:r>
          </a:p>
          <a:p>
            <a:r>
              <a:rPr lang="en-AU" dirty="0" smtClean="0"/>
              <a:t>Check visible brake lining material</a:t>
            </a:r>
          </a:p>
          <a:p>
            <a:r>
              <a:rPr lang="en-AU" dirty="0" smtClean="0"/>
              <a:t>Inspect power/vacuum assistance</a:t>
            </a:r>
          </a:p>
          <a:p>
            <a:r>
              <a:rPr lang="en-AU" dirty="0" smtClean="0"/>
              <a:t>Check to ensure compressors, vacuum pumps and/or pulley belts are not cracked, loose or worn</a:t>
            </a:r>
          </a:p>
          <a:p>
            <a:r>
              <a:rPr lang="en-AU" dirty="0" smtClean="0"/>
              <a:t>Look for evidence of leaks from the system (any joint, component or seal)</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88</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2002714"/>
            <a:ext cx="3048000" cy="2286000"/>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brakes</a:t>
            </a:r>
            <a:endParaRPr lang="en-US" dirty="0"/>
          </a:p>
        </p:txBody>
      </p:sp>
      <p:sp>
        <p:nvSpPr>
          <p:cNvPr id="3" name="Content Placeholder 2"/>
          <p:cNvSpPr>
            <a:spLocks noGrp="1"/>
          </p:cNvSpPr>
          <p:nvPr>
            <p:ph idx="1"/>
          </p:nvPr>
        </p:nvSpPr>
        <p:spPr/>
        <p:txBody>
          <a:bodyPr/>
          <a:lstStyle/>
          <a:p>
            <a:pPr marL="36576" indent="0">
              <a:buNone/>
            </a:pPr>
            <a:r>
              <a:rPr lang="en-US" dirty="0" smtClean="0"/>
              <a:t>Trailer brake checks:</a:t>
            </a:r>
          </a:p>
          <a:p>
            <a:r>
              <a:rPr lang="en-US" dirty="0" smtClean="0"/>
              <a:t>Appropriate to weight/size</a:t>
            </a:r>
          </a:p>
          <a:p>
            <a:r>
              <a:rPr lang="en-US" dirty="0" smtClean="0"/>
              <a:t>Visible checks as for vehicle brakes</a:t>
            </a:r>
          </a:p>
          <a:p>
            <a:r>
              <a:rPr lang="en-US" dirty="0" smtClean="0"/>
              <a:t>Test over-ride brakes (and vehicles without them)</a:t>
            </a:r>
          </a:p>
          <a:p>
            <a:r>
              <a:rPr lang="en-US" dirty="0" smtClean="0"/>
              <a:t>Test parking brake</a:t>
            </a:r>
          </a:p>
          <a:p>
            <a:r>
              <a:rPr lang="en-AU" dirty="0" smtClean="0"/>
              <a:t>Inspect emergency braking system/brake away braking system</a:t>
            </a:r>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89</a:t>
            </a:fld>
            <a:endParaRPr lang="en-US" dirty="0"/>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t="60626" r="52362"/>
          <a:stretch/>
        </p:blipFill>
        <p:spPr>
          <a:xfrm>
            <a:off x="4888030" y="2001741"/>
            <a:ext cx="3265370" cy="1800200"/>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brakes</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US" dirty="0" smtClean="0"/>
              <a:t>Possible adjustments:</a:t>
            </a:r>
          </a:p>
          <a:p>
            <a:r>
              <a:rPr lang="en-AU" dirty="0" smtClean="0"/>
              <a:t>Replace rubber on the brake pedal</a:t>
            </a:r>
          </a:p>
          <a:p>
            <a:r>
              <a:rPr lang="en-AU" dirty="0" smtClean="0"/>
              <a:t>Replace broken, damaged, defective, worn or suspect parts</a:t>
            </a:r>
          </a:p>
          <a:p>
            <a:r>
              <a:rPr lang="en-AU" dirty="0" smtClean="0"/>
              <a:t>Take the vehicle to an auto electrician to have electrical/warning light problems fixed</a:t>
            </a:r>
          </a:p>
          <a:p>
            <a:r>
              <a:rPr lang="en-AU" dirty="0" smtClean="0"/>
              <a:t>Top-up brake fluid</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90</a:t>
            </a:fld>
            <a:endParaRPr lang="en-US" dirty="0"/>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28108"/>
          <a:stretch/>
        </p:blipFill>
        <p:spPr>
          <a:xfrm>
            <a:off x="5076056" y="1981334"/>
            <a:ext cx="3027676" cy="3103849"/>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brakes</a:t>
            </a:r>
            <a:endParaRPr lang="en-US" dirty="0"/>
          </a:p>
        </p:txBody>
      </p:sp>
      <p:sp>
        <p:nvSpPr>
          <p:cNvPr id="3" name="Content Placeholder 2"/>
          <p:cNvSpPr>
            <a:spLocks noGrp="1"/>
          </p:cNvSpPr>
          <p:nvPr>
            <p:ph idx="1"/>
          </p:nvPr>
        </p:nvSpPr>
        <p:spPr>
          <a:xfrm>
            <a:off x="457200" y="1988840"/>
            <a:ext cx="4114800" cy="4433224"/>
          </a:xfrm>
        </p:spPr>
        <p:txBody>
          <a:bodyPr>
            <a:normAutofit lnSpcReduction="10000"/>
          </a:bodyPr>
          <a:lstStyle/>
          <a:p>
            <a:r>
              <a:rPr lang="en-AU" dirty="0" smtClean="0"/>
              <a:t>Replace leaking seals using required kits</a:t>
            </a:r>
          </a:p>
          <a:p>
            <a:r>
              <a:rPr lang="en-AU" dirty="0" smtClean="0"/>
              <a:t>Arrange for, or perform, machining and/or re-conditioning of brake drums and brake disc rotors</a:t>
            </a:r>
          </a:p>
          <a:p>
            <a:r>
              <a:rPr lang="en-AU" dirty="0" smtClean="0"/>
              <a:t>Adjust the hand brake – which may require renewing cables</a:t>
            </a:r>
          </a:p>
          <a:p>
            <a:r>
              <a:rPr lang="en-AU" dirty="0" smtClean="0"/>
              <a:t>Replace brake pads (disc brakes) or shoes (drum brakes)</a:t>
            </a:r>
          </a:p>
          <a:p>
            <a:pPr marL="36576" indent="0">
              <a:buNone/>
            </a:pPr>
            <a:r>
              <a:rPr lang="en-US" sz="15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91</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9599" y="1989976"/>
            <a:ext cx="3048000" cy="3048000"/>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brakes</a:t>
            </a:r>
            <a:endParaRPr lang="en-US" dirty="0"/>
          </a:p>
        </p:txBody>
      </p:sp>
      <p:sp>
        <p:nvSpPr>
          <p:cNvPr id="3" name="Content Placeholder 2"/>
          <p:cNvSpPr>
            <a:spLocks noGrp="1"/>
          </p:cNvSpPr>
          <p:nvPr>
            <p:ph idx="1"/>
          </p:nvPr>
        </p:nvSpPr>
        <p:spPr/>
        <p:txBody>
          <a:bodyPr/>
          <a:lstStyle/>
          <a:p>
            <a:r>
              <a:rPr lang="en-AU" dirty="0" smtClean="0"/>
              <a:t>Replace the brake fluid (bleed the brakes and re-fill the system)</a:t>
            </a:r>
          </a:p>
          <a:p>
            <a:r>
              <a:rPr lang="en-AU" dirty="0" smtClean="0"/>
              <a:t>Replace wheel cylinder (drum brakes)</a:t>
            </a:r>
          </a:p>
          <a:p>
            <a:r>
              <a:rPr lang="en-AU" dirty="0" smtClean="0"/>
              <a:t>Replace the master cylinder and servo unit</a:t>
            </a:r>
          </a:p>
          <a:p>
            <a:r>
              <a:rPr lang="en-AU" dirty="0" smtClean="0"/>
              <a:t>Replace brake hoses</a:t>
            </a:r>
          </a:p>
          <a:p>
            <a:r>
              <a:rPr lang="en-AU" dirty="0" smtClean="0"/>
              <a:t>Adjust disc brakes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92</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1916832"/>
            <a:ext cx="3048000" cy="3048000"/>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steering</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US" dirty="0" smtClean="0"/>
              <a:t>Steering checks:</a:t>
            </a:r>
          </a:p>
          <a:p>
            <a:r>
              <a:rPr lang="en-US" dirty="0" smtClean="0"/>
              <a:t>With engine running check operation of steering wheel:</a:t>
            </a:r>
          </a:p>
          <a:p>
            <a:r>
              <a:rPr lang="en-US" dirty="0" smtClean="0"/>
              <a:t>No excessive play in steering wheel</a:t>
            </a:r>
          </a:p>
          <a:p>
            <a:r>
              <a:rPr lang="en-US" dirty="0" smtClean="0"/>
              <a:t>No structural damage</a:t>
            </a:r>
          </a:p>
          <a:p>
            <a:r>
              <a:rPr lang="en-US" dirty="0" smtClean="0"/>
              <a:t>No loose attachments</a:t>
            </a:r>
          </a:p>
          <a:p>
            <a:r>
              <a:rPr lang="en-US" dirty="0" smtClean="0"/>
              <a:t>Airbags have not been deployed</a:t>
            </a:r>
          </a:p>
          <a:p>
            <a:r>
              <a:rPr lang="en-US" dirty="0" smtClean="0"/>
              <a:t>Steering wheel firmly attached</a:t>
            </a:r>
          </a:p>
          <a:p>
            <a:pPr marL="36576" indent="0">
              <a:buNone/>
            </a:pPr>
            <a:r>
              <a:rPr lang="en-US" sz="15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93</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1988840"/>
            <a:ext cx="3048000" cy="2033016"/>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steering</a:t>
            </a:r>
            <a:endParaRPr lang="en-US" dirty="0"/>
          </a:p>
        </p:txBody>
      </p:sp>
      <p:sp>
        <p:nvSpPr>
          <p:cNvPr id="3" name="Content Placeholder 2"/>
          <p:cNvSpPr>
            <a:spLocks noGrp="1"/>
          </p:cNvSpPr>
          <p:nvPr>
            <p:ph idx="1"/>
          </p:nvPr>
        </p:nvSpPr>
        <p:spPr>
          <a:xfrm>
            <a:off x="457200" y="1988840"/>
            <a:ext cx="4546848" cy="4536504"/>
          </a:xfrm>
        </p:spPr>
        <p:txBody>
          <a:bodyPr>
            <a:normAutofit/>
          </a:bodyPr>
          <a:lstStyle/>
          <a:p>
            <a:pPr marL="36576" indent="0">
              <a:buNone/>
            </a:pPr>
            <a:r>
              <a:rPr lang="en-US" dirty="0" smtClean="0"/>
              <a:t>Visually inspect under bonnet and vehicle:</a:t>
            </a:r>
          </a:p>
          <a:p>
            <a:r>
              <a:rPr lang="en-US" dirty="0" smtClean="0"/>
              <a:t>No missing, damaged/defective components</a:t>
            </a:r>
          </a:p>
          <a:p>
            <a:r>
              <a:rPr lang="en-US" dirty="0" smtClean="0"/>
              <a:t>No non-compliant repairs</a:t>
            </a:r>
          </a:p>
          <a:p>
            <a:r>
              <a:rPr lang="en-US" dirty="0" smtClean="0"/>
              <a:t>No missing or insecure nuts, bolts or locking devices</a:t>
            </a:r>
          </a:p>
          <a:p>
            <a:r>
              <a:rPr lang="en-US" dirty="0" smtClean="0"/>
              <a:t>Secure tie rod and drag link ends</a:t>
            </a:r>
          </a:p>
          <a:p>
            <a:r>
              <a:rPr lang="en-US" dirty="0" smtClean="0"/>
              <a:t>No movement in steering column spline</a:t>
            </a:r>
          </a:p>
          <a:p>
            <a:pPr marL="146304" indent="0">
              <a:buNone/>
            </a:pPr>
            <a:r>
              <a:rPr lang="en-US" sz="15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94</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2022146"/>
            <a:ext cx="3048000" cy="2033016"/>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steering</a:t>
            </a:r>
            <a:endParaRPr lang="en-US" dirty="0"/>
          </a:p>
        </p:txBody>
      </p:sp>
      <p:sp>
        <p:nvSpPr>
          <p:cNvPr id="3" name="Content Placeholder 2"/>
          <p:cNvSpPr>
            <a:spLocks noGrp="1"/>
          </p:cNvSpPr>
          <p:nvPr>
            <p:ph idx="1"/>
          </p:nvPr>
        </p:nvSpPr>
        <p:spPr/>
        <p:txBody>
          <a:bodyPr/>
          <a:lstStyle/>
          <a:p>
            <a:r>
              <a:rPr lang="en-US" dirty="0" smtClean="0"/>
              <a:t>No free play in any steering component exceeding specifications </a:t>
            </a:r>
          </a:p>
          <a:p>
            <a:r>
              <a:rPr lang="en-US" dirty="0" smtClean="0"/>
              <a:t>No power steering leaks</a:t>
            </a:r>
          </a:p>
          <a:p>
            <a:r>
              <a:rPr lang="en-US" dirty="0" smtClean="0"/>
              <a:t>Steering components secure</a:t>
            </a:r>
          </a:p>
          <a:p>
            <a:r>
              <a:rPr lang="en-US" dirty="0" smtClean="0"/>
              <a:t>No loose, defective or missing belts</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95</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1975615"/>
            <a:ext cx="3048000" cy="2033016"/>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steering</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Check anti-theft/steering lock:</a:t>
            </a:r>
          </a:p>
          <a:p>
            <a:r>
              <a:rPr lang="en-US" dirty="0" smtClean="0"/>
              <a:t>Ignition key cannot be removed in any position except lock position</a:t>
            </a:r>
            <a:endParaRPr lang="en-AU" dirty="0" smtClean="0"/>
          </a:p>
          <a:p>
            <a:r>
              <a:rPr lang="en-US" dirty="0" smtClean="0"/>
              <a:t>When engaged, anti-theft lock prevents at least one of the following:</a:t>
            </a:r>
            <a:endParaRPr lang="en-AU" dirty="0" smtClean="0"/>
          </a:p>
          <a:p>
            <a:pPr lvl="1"/>
            <a:r>
              <a:rPr lang="en-US" dirty="0" smtClean="0"/>
              <a:t>Steering the vehicle</a:t>
            </a:r>
            <a:endParaRPr lang="en-AU" dirty="0" smtClean="0"/>
          </a:p>
          <a:p>
            <a:pPr lvl="1"/>
            <a:r>
              <a:rPr lang="en-US" dirty="0" smtClean="0"/>
              <a:t>Engaging the forward drive gears</a:t>
            </a:r>
            <a:endParaRPr lang="en-AU" dirty="0" smtClean="0"/>
          </a:p>
          <a:p>
            <a:pPr lvl="1"/>
            <a:r>
              <a:rPr lang="en-US" dirty="0" smtClean="0"/>
              <a:t>Release of the brakes</a:t>
            </a:r>
            <a:endParaRPr lang="en-AU"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96</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2080" y="2010706"/>
            <a:ext cx="2203704" cy="3048000"/>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steering</a:t>
            </a:r>
            <a:endParaRPr lang="en-US" dirty="0"/>
          </a:p>
        </p:txBody>
      </p:sp>
      <p:sp>
        <p:nvSpPr>
          <p:cNvPr id="3" name="Content Placeholder 2"/>
          <p:cNvSpPr>
            <a:spLocks noGrp="1"/>
          </p:cNvSpPr>
          <p:nvPr>
            <p:ph idx="1"/>
          </p:nvPr>
        </p:nvSpPr>
        <p:spPr>
          <a:xfrm>
            <a:off x="457200" y="1988840"/>
            <a:ext cx="4618856" cy="4137323"/>
          </a:xfrm>
        </p:spPr>
        <p:txBody>
          <a:bodyPr>
            <a:normAutofit lnSpcReduction="10000"/>
          </a:bodyPr>
          <a:lstStyle/>
          <a:p>
            <a:pPr marL="36576" indent="0">
              <a:buNone/>
            </a:pPr>
            <a:r>
              <a:rPr lang="en-US" dirty="0" smtClean="0"/>
              <a:t>Possible adjustments:</a:t>
            </a:r>
          </a:p>
          <a:p>
            <a:r>
              <a:rPr lang="en-AU" dirty="0" smtClean="0"/>
              <a:t>Arrange for professional where serious issues are identified or airbags need attention</a:t>
            </a:r>
          </a:p>
          <a:p>
            <a:r>
              <a:rPr lang="en-AU" dirty="0" smtClean="0"/>
              <a:t>Replace worn/loose steering wheel covers</a:t>
            </a:r>
          </a:p>
          <a:p>
            <a:r>
              <a:rPr lang="en-AU" dirty="0" smtClean="0"/>
              <a:t>Replace damaged steering wheels</a:t>
            </a:r>
          </a:p>
          <a:p>
            <a:r>
              <a:rPr lang="en-AU" dirty="0" smtClean="0"/>
              <a:t>Tighten nuts, bolts, connections, fasteners and steering wheel accessories</a:t>
            </a:r>
          </a:p>
          <a:p>
            <a:pPr marL="36576" indent="0">
              <a:buNone/>
            </a:pPr>
            <a:r>
              <a:rPr lang="en-US" sz="15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97</a:t>
            </a:fld>
            <a:endParaRPr lang="en-US" dirty="0"/>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18900"/>
          <a:stretch/>
        </p:blipFill>
        <p:spPr>
          <a:xfrm>
            <a:off x="5364088" y="1988840"/>
            <a:ext cx="2759968" cy="1820688"/>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steering</a:t>
            </a:r>
            <a:endParaRPr lang="en-US" dirty="0"/>
          </a:p>
        </p:txBody>
      </p:sp>
      <p:sp>
        <p:nvSpPr>
          <p:cNvPr id="3" name="Content Placeholder 2"/>
          <p:cNvSpPr>
            <a:spLocks noGrp="1"/>
          </p:cNvSpPr>
          <p:nvPr>
            <p:ph idx="1"/>
          </p:nvPr>
        </p:nvSpPr>
        <p:spPr/>
        <p:txBody>
          <a:bodyPr/>
          <a:lstStyle/>
          <a:p>
            <a:r>
              <a:rPr lang="en-AU" dirty="0" smtClean="0"/>
              <a:t>Replace defective/leaking seals</a:t>
            </a:r>
          </a:p>
          <a:p>
            <a:r>
              <a:rPr lang="en-AU" dirty="0" smtClean="0"/>
              <a:t>Replace missing, cracked, broken or excessively worn components</a:t>
            </a:r>
          </a:p>
          <a:p>
            <a:r>
              <a:rPr lang="en-AU" dirty="0" smtClean="0"/>
              <a:t>Top-up power steering fluid</a:t>
            </a:r>
          </a:p>
          <a:p>
            <a:r>
              <a:rPr lang="en-AU" dirty="0" smtClean="0"/>
              <a:t>Secure tie rod and drag link ends</a:t>
            </a:r>
          </a:p>
          <a:p>
            <a:r>
              <a:rPr lang="en-AU" dirty="0" smtClean="0"/>
              <a:t>Replace defective hoses, pipes and drive belts</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98</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2080" y="1988840"/>
            <a:ext cx="2203704" cy="3048000"/>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steering</a:t>
            </a:r>
            <a:endParaRPr lang="en-US" dirty="0"/>
          </a:p>
        </p:txBody>
      </p:sp>
      <p:sp>
        <p:nvSpPr>
          <p:cNvPr id="3" name="Content Placeholder 2"/>
          <p:cNvSpPr>
            <a:spLocks noGrp="1"/>
          </p:cNvSpPr>
          <p:nvPr>
            <p:ph idx="1"/>
          </p:nvPr>
        </p:nvSpPr>
        <p:spPr/>
        <p:txBody>
          <a:bodyPr/>
          <a:lstStyle/>
          <a:p>
            <a:r>
              <a:rPr lang="en-AU" dirty="0" smtClean="0"/>
              <a:t>Adjust and replace power steering drive belt</a:t>
            </a:r>
          </a:p>
          <a:p>
            <a:r>
              <a:rPr lang="en-AU" dirty="0" smtClean="0"/>
              <a:t>Adjust toe alignment on wheels</a:t>
            </a:r>
          </a:p>
          <a:p>
            <a:r>
              <a:rPr lang="en-AU" dirty="0" smtClean="0"/>
              <a:t>Lubricate steering swivel joints</a:t>
            </a:r>
          </a:p>
          <a:p>
            <a:r>
              <a:rPr lang="en-AU" dirty="0" smtClean="0"/>
              <a:t>Replace track rods and (track rod end) ball joints</a:t>
            </a:r>
          </a:p>
          <a:p>
            <a:r>
              <a:rPr lang="en-AU" dirty="0" smtClean="0"/>
              <a:t>Set the tracking</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99</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04048" y="1844824"/>
            <a:ext cx="2194560" cy="3048000"/>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exhaust</a:t>
            </a:r>
            <a:endParaRPr lang="en-US" dirty="0"/>
          </a:p>
        </p:txBody>
      </p:sp>
      <p:sp>
        <p:nvSpPr>
          <p:cNvPr id="3" name="Content Placeholder 2"/>
          <p:cNvSpPr>
            <a:spLocks noGrp="1"/>
          </p:cNvSpPr>
          <p:nvPr>
            <p:ph idx="1"/>
          </p:nvPr>
        </p:nvSpPr>
        <p:spPr/>
        <p:txBody>
          <a:bodyPr/>
          <a:lstStyle/>
          <a:p>
            <a:pPr marL="36576" indent="0">
              <a:buNone/>
            </a:pPr>
            <a:r>
              <a:rPr lang="en-US" dirty="0" smtClean="0"/>
              <a:t>Checks include:</a:t>
            </a:r>
          </a:p>
          <a:p>
            <a:r>
              <a:rPr lang="en-AU" dirty="0" smtClean="0"/>
              <a:t>There are no visible cracks</a:t>
            </a:r>
          </a:p>
          <a:p>
            <a:r>
              <a:rPr lang="en-AU" dirty="0" smtClean="0"/>
              <a:t>The system is securely mounted</a:t>
            </a:r>
          </a:p>
          <a:p>
            <a:r>
              <a:rPr lang="en-AU" dirty="0" smtClean="0"/>
              <a:t>An effective silencer if fitted and operational with all exhaust gases passing through it</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100</a:t>
            </a:fld>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4009" y="1993748"/>
            <a:ext cx="3509392" cy="2034499"/>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exhaust</a:t>
            </a:r>
            <a:endParaRPr lang="en-US" dirty="0"/>
          </a:p>
        </p:txBody>
      </p:sp>
      <p:sp>
        <p:nvSpPr>
          <p:cNvPr id="3" name="Content Placeholder 2"/>
          <p:cNvSpPr>
            <a:spLocks noGrp="1"/>
          </p:cNvSpPr>
          <p:nvPr>
            <p:ph idx="1"/>
          </p:nvPr>
        </p:nvSpPr>
        <p:spPr/>
        <p:txBody>
          <a:bodyPr/>
          <a:lstStyle/>
          <a:p>
            <a:r>
              <a:rPr lang="en-AU" dirty="0" smtClean="0"/>
              <a:t>Outlet of the exhaust pipe is to the rear of passenger side doors and opening windows</a:t>
            </a:r>
          </a:p>
          <a:p>
            <a:r>
              <a:rPr lang="en-AU" dirty="0" smtClean="0"/>
              <a:t>Exhaust discharges to rear or correct side</a:t>
            </a:r>
          </a:p>
          <a:p>
            <a:r>
              <a:rPr lang="en-AU" dirty="0" smtClean="0"/>
              <a:t>No leaks, holes or corrosion in the system</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101</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1978757"/>
            <a:ext cx="3048000" cy="2060448"/>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exhaust</a:t>
            </a:r>
            <a:endParaRPr lang="en-US" dirty="0"/>
          </a:p>
        </p:txBody>
      </p:sp>
      <p:sp>
        <p:nvSpPr>
          <p:cNvPr id="3" name="Content Placeholder 2"/>
          <p:cNvSpPr>
            <a:spLocks noGrp="1"/>
          </p:cNvSpPr>
          <p:nvPr>
            <p:ph idx="1"/>
          </p:nvPr>
        </p:nvSpPr>
        <p:spPr>
          <a:xfrm>
            <a:off x="457200" y="1988840"/>
            <a:ext cx="4114800" cy="4320480"/>
          </a:xfrm>
        </p:spPr>
        <p:txBody>
          <a:bodyPr>
            <a:normAutofit lnSpcReduction="10000"/>
          </a:bodyPr>
          <a:lstStyle/>
          <a:p>
            <a:r>
              <a:rPr lang="en-AU" dirty="0" smtClean="0"/>
              <a:t>Exhaust pipe exit extends beyond the vehicle body but not beyond the overall plan of the vehicle</a:t>
            </a:r>
          </a:p>
          <a:p>
            <a:r>
              <a:rPr lang="en-AU" dirty="0" smtClean="0"/>
              <a:t>System does not interfere with or obstruct any part of the steering, suspension, brake or fuel system</a:t>
            </a:r>
          </a:p>
          <a:p>
            <a:r>
              <a:rPr lang="en-AU" dirty="0" err="1" smtClean="0"/>
              <a:t>Entyre</a:t>
            </a:r>
            <a:r>
              <a:rPr lang="en-AU" dirty="0" smtClean="0"/>
              <a:t> system at lowest points clears the road surface by the required distance </a:t>
            </a:r>
          </a:p>
          <a:p>
            <a:pPr marL="36576" indent="0">
              <a:buNone/>
            </a:pPr>
            <a:r>
              <a:rPr lang="en-US" sz="15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102</a:t>
            </a:fld>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92080" y="2004214"/>
            <a:ext cx="2696500" cy="2936953"/>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exhaust</a:t>
            </a:r>
            <a:endParaRPr lang="en-US" dirty="0"/>
          </a:p>
        </p:txBody>
      </p:sp>
      <p:sp>
        <p:nvSpPr>
          <p:cNvPr id="3" name="Content Placeholder 2"/>
          <p:cNvSpPr>
            <a:spLocks noGrp="1"/>
          </p:cNvSpPr>
          <p:nvPr>
            <p:ph idx="1"/>
          </p:nvPr>
        </p:nvSpPr>
        <p:spPr>
          <a:xfrm>
            <a:off x="457200" y="1988840"/>
            <a:ext cx="5554960" cy="4433224"/>
          </a:xfrm>
        </p:spPr>
        <p:txBody>
          <a:bodyPr>
            <a:normAutofit lnSpcReduction="10000"/>
          </a:bodyPr>
          <a:lstStyle/>
          <a:p>
            <a:r>
              <a:rPr lang="en-AU" dirty="0" smtClean="0"/>
              <a:t>Exhaust does not let out sparks, flames, excessive gases, oil or fuel residue</a:t>
            </a:r>
          </a:p>
          <a:p>
            <a:r>
              <a:rPr lang="en-AU" dirty="0" smtClean="0"/>
              <a:t>No visual emissions from the exhaust for longer than 10 seconds after engine started</a:t>
            </a:r>
          </a:p>
          <a:p>
            <a:r>
              <a:rPr lang="en-AU" dirty="0" smtClean="0"/>
              <a:t>Where fitted, emission control equipment is all present and fully operational</a:t>
            </a:r>
          </a:p>
          <a:p>
            <a:r>
              <a:rPr lang="en-AU" dirty="0" smtClean="0"/>
              <a:t>LPG fuel lines are separated from exhaust components by the required distance or protected by shield and separated by a lesser distance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103</a:t>
            </a:fld>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2160" y="1994722"/>
            <a:ext cx="2206171" cy="1463427"/>
          </a:xfrm>
          <a:prstGeom prst="rect">
            <a:avLst/>
          </a:prstGeom>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exhaust</a:t>
            </a:r>
            <a:endParaRPr lang="en-US" dirty="0"/>
          </a:p>
        </p:txBody>
      </p:sp>
      <p:sp>
        <p:nvSpPr>
          <p:cNvPr id="3" name="Content Placeholder 2"/>
          <p:cNvSpPr>
            <a:spLocks noGrp="1"/>
          </p:cNvSpPr>
          <p:nvPr>
            <p:ph idx="1"/>
          </p:nvPr>
        </p:nvSpPr>
        <p:spPr/>
        <p:txBody>
          <a:bodyPr/>
          <a:lstStyle/>
          <a:p>
            <a:pPr marL="36576" indent="0">
              <a:buNone/>
            </a:pPr>
            <a:r>
              <a:rPr lang="en-US" dirty="0" smtClean="0"/>
              <a:t>Possible adjustments:</a:t>
            </a:r>
          </a:p>
          <a:p>
            <a:r>
              <a:rPr lang="en-AU" dirty="0" smtClean="0"/>
              <a:t>Replacing seals</a:t>
            </a:r>
          </a:p>
          <a:p>
            <a:r>
              <a:rPr lang="en-AU" dirty="0" smtClean="0"/>
              <a:t>Replacing mountings</a:t>
            </a:r>
          </a:p>
          <a:p>
            <a:r>
              <a:rPr lang="en-AU" dirty="0" smtClean="0"/>
              <a:t>Replacing damaged, sub-standard and defective parts – rather than repairing them, or patching leaks/holes</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104</a:t>
            </a:fld>
            <a:endParaRPr lang="en-US" dirty="0"/>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33463"/>
          <a:stretch/>
        </p:blipFill>
        <p:spPr>
          <a:xfrm>
            <a:off x="5148064" y="1988840"/>
            <a:ext cx="2600388" cy="2880320"/>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exhaust</a:t>
            </a:r>
            <a:endParaRPr lang="en-US" dirty="0"/>
          </a:p>
        </p:txBody>
      </p:sp>
      <p:sp>
        <p:nvSpPr>
          <p:cNvPr id="3" name="Content Placeholder 2"/>
          <p:cNvSpPr>
            <a:spLocks noGrp="1"/>
          </p:cNvSpPr>
          <p:nvPr>
            <p:ph idx="1"/>
          </p:nvPr>
        </p:nvSpPr>
        <p:spPr/>
        <p:txBody>
          <a:bodyPr/>
          <a:lstStyle/>
          <a:p>
            <a:r>
              <a:rPr lang="en-AU" dirty="0" smtClean="0"/>
              <a:t>Attaching missing parts/components</a:t>
            </a:r>
          </a:p>
          <a:p>
            <a:r>
              <a:rPr lang="en-AU" dirty="0" smtClean="0"/>
              <a:t>Re-routing the system – to comply with legally imposed requirements</a:t>
            </a:r>
          </a:p>
          <a:p>
            <a:r>
              <a:rPr lang="en-AU" dirty="0" smtClean="0"/>
              <a:t>Tuning the vehicle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105</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48064" y="2002065"/>
            <a:ext cx="2194560" cy="3048000"/>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towing connections</a:t>
            </a:r>
            <a:endParaRPr lang="en-US" dirty="0"/>
          </a:p>
        </p:txBody>
      </p:sp>
      <p:sp>
        <p:nvSpPr>
          <p:cNvPr id="3" name="Content Placeholder 2"/>
          <p:cNvSpPr>
            <a:spLocks noGrp="1"/>
          </p:cNvSpPr>
          <p:nvPr>
            <p:ph idx="1"/>
          </p:nvPr>
        </p:nvSpPr>
        <p:spPr>
          <a:xfrm>
            <a:off x="457200" y="1988840"/>
            <a:ext cx="4114800" cy="4433224"/>
          </a:xfrm>
        </p:spPr>
        <p:txBody>
          <a:bodyPr>
            <a:normAutofit lnSpcReduction="10000"/>
          </a:bodyPr>
          <a:lstStyle/>
          <a:p>
            <a:pPr marL="36576" indent="0">
              <a:buNone/>
            </a:pPr>
            <a:r>
              <a:rPr lang="en-US" dirty="0" smtClean="0"/>
              <a:t>Checks include:</a:t>
            </a:r>
          </a:p>
          <a:p>
            <a:r>
              <a:rPr lang="en-AU" dirty="0" smtClean="0"/>
              <a:t>There are no cracks or other visible physical damage in any part of the towing attachment </a:t>
            </a:r>
          </a:p>
          <a:p>
            <a:r>
              <a:rPr lang="en-AU" dirty="0" smtClean="0"/>
              <a:t>The towing attachment is secure/not loose</a:t>
            </a:r>
          </a:p>
          <a:p>
            <a:r>
              <a:rPr lang="en-AU" dirty="0" smtClean="0"/>
              <a:t>Towing bar is fastened securely to the vehicle</a:t>
            </a:r>
          </a:p>
          <a:p>
            <a:r>
              <a:rPr lang="en-AU" dirty="0" smtClean="0"/>
              <a:t>No visible corrosion on bolts/any part of the towing connection</a:t>
            </a:r>
          </a:p>
          <a:p>
            <a:pPr marL="36576" indent="0">
              <a:buNone/>
            </a:pPr>
            <a:r>
              <a:rPr lang="en-US" sz="15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106</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6055" y="1995696"/>
            <a:ext cx="2546071" cy="3521536"/>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towing connections</a:t>
            </a:r>
            <a:endParaRPr lang="en-US" dirty="0"/>
          </a:p>
        </p:txBody>
      </p:sp>
      <p:sp>
        <p:nvSpPr>
          <p:cNvPr id="3" name="Content Placeholder 2"/>
          <p:cNvSpPr>
            <a:spLocks noGrp="1"/>
          </p:cNvSpPr>
          <p:nvPr>
            <p:ph idx="1"/>
          </p:nvPr>
        </p:nvSpPr>
        <p:spPr/>
        <p:txBody>
          <a:bodyPr>
            <a:normAutofit lnSpcReduction="10000"/>
          </a:bodyPr>
          <a:lstStyle/>
          <a:p>
            <a:r>
              <a:rPr lang="en-AU" dirty="0" smtClean="0"/>
              <a:t>Towing connection is suitable for the weight to be towed</a:t>
            </a:r>
          </a:p>
          <a:p>
            <a:r>
              <a:rPr lang="en-AU" dirty="0" smtClean="0"/>
              <a:t>No temporary repairs or welds</a:t>
            </a:r>
          </a:p>
          <a:p>
            <a:r>
              <a:rPr lang="en-AU" dirty="0" smtClean="0"/>
              <a:t>Electrical wiring, couplings and connectors are securely fastened and in good condition</a:t>
            </a:r>
          </a:p>
          <a:p>
            <a:r>
              <a:rPr lang="en-AU" dirty="0" smtClean="0"/>
              <a:t>An effective secondary locking system for the trailer</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107</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15339" y="2001091"/>
            <a:ext cx="3048000" cy="2029968"/>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towing connections</a:t>
            </a:r>
            <a:endParaRPr lang="en-US" dirty="0"/>
          </a:p>
        </p:txBody>
      </p:sp>
      <p:sp>
        <p:nvSpPr>
          <p:cNvPr id="3" name="Content Placeholder 2"/>
          <p:cNvSpPr>
            <a:spLocks noGrp="1"/>
          </p:cNvSpPr>
          <p:nvPr>
            <p:ph idx="1"/>
          </p:nvPr>
        </p:nvSpPr>
        <p:spPr>
          <a:xfrm>
            <a:off x="457200" y="1988839"/>
            <a:ext cx="5698976" cy="4798349"/>
          </a:xfrm>
        </p:spPr>
        <p:txBody>
          <a:bodyPr>
            <a:normAutofit/>
          </a:bodyPr>
          <a:lstStyle/>
          <a:p>
            <a:r>
              <a:rPr lang="en-AU" dirty="0" smtClean="0"/>
              <a:t>Tow-ball assembly is securely attached</a:t>
            </a:r>
          </a:p>
          <a:p>
            <a:r>
              <a:rPr lang="en-AU" dirty="0" smtClean="0"/>
              <a:t>Safety chains in good condition – and:</a:t>
            </a:r>
          </a:p>
          <a:p>
            <a:pPr lvl="1"/>
            <a:r>
              <a:rPr lang="en-AU" dirty="0" smtClean="0"/>
              <a:t>Can be affixed so cannot be accidentally detached</a:t>
            </a:r>
          </a:p>
          <a:p>
            <a:pPr lvl="1"/>
            <a:r>
              <a:rPr lang="en-AU" dirty="0" smtClean="0"/>
              <a:t>Are securely attached to the drawbar</a:t>
            </a:r>
            <a:endParaRPr lang="en-US" dirty="0" smtClean="0"/>
          </a:p>
          <a:p>
            <a:pPr lvl="1"/>
            <a:r>
              <a:rPr lang="en-AU" dirty="0" smtClean="0"/>
              <a:t>Safety chains are rated for weight to be drawn and in required number</a:t>
            </a:r>
          </a:p>
          <a:p>
            <a:pPr lvl="1"/>
            <a:r>
              <a:rPr lang="en-AU" dirty="0" smtClean="0"/>
              <a:t>All required parts of detachable tow units are present</a:t>
            </a:r>
          </a:p>
          <a:p>
            <a:pPr lvl="1"/>
            <a:r>
              <a:rPr lang="en-AU" dirty="0" smtClean="0"/>
              <a:t>Jockey wheel in position, firmly attached, functional</a:t>
            </a:r>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108</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68712" y="1988839"/>
            <a:ext cx="2040110" cy="1311791"/>
          </a:xfrm>
          <a:prstGeom prst="rect">
            <a:avLst/>
          </a:prstGeom>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towing connections</a:t>
            </a:r>
            <a:endParaRPr lang="en-US" dirty="0"/>
          </a:p>
        </p:txBody>
      </p:sp>
      <p:sp>
        <p:nvSpPr>
          <p:cNvPr id="3" name="Content Placeholder 2"/>
          <p:cNvSpPr>
            <a:spLocks noGrp="1"/>
          </p:cNvSpPr>
          <p:nvPr>
            <p:ph idx="1"/>
          </p:nvPr>
        </p:nvSpPr>
        <p:spPr/>
        <p:txBody>
          <a:bodyPr/>
          <a:lstStyle/>
          <a:p>
            <a:pPr marL="36576" indent="0">
              <a:buNone/>
            </a:pPr>
            <a:r>
              <a:rPr lang="en-US" dirty="0" smtClean="0"/>
              <a:t>Possible adjustments:</a:t>
            </a:r>
          </a:p>
          <a:p>
            <a:r>
              <a:rPr lang="en-AU" dirty="0" smtClean="0"/>
              <a:t>Replacing defective parts</a:t>
            </a:r>
          </a:p>
          <a:p>
            <a:r>
              <a:rPr lang="en-AU" dirty="0" smtClean="0"/>
              <a:t>Removing un-rated chains and replacing them with chains which are stamped and correctly rated</a:t>
            </a:r>
          </a:p>
          <a:p>
            <a:r>
              <a:rPr lang="en-AU" dirty="0" smtClean="0"/>
              <a:t>Cleaning and greasing the jockey wheel</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109</a:t>
            </a:fld>
            <a:endParaRPr lang="en-US" dirty="0"/>
          </a:p>
        </p:txBody>
      </p:sp>
      <p:pic>
        <p:nvPicPr>
          <p:cNvPr id="5" name="Picture 4"/>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12679" b="100000" l="19782" r="74898"/>
                    </a14:imgEffect>
                  </a14:imgLayer>
                </a14:imgProps>
              </a:ext>
              <a:ext uri="{28A0092B-C50C-407E-A947-70E740481C1C}">
                <a14:useLocalDpi xmlns:a14="http://schemas.microsoft.com/office/drawing/2010/main" val="0"/>
              </a:ext>
            </a:extLst>
          </a:blip>
          <a:srcRect l="18900" t="11558" r="24401"/>
          <a:stretch/>
        </p:blipFill>
        <p:spPr>
          <a:xfrm>
            <a:off x="5148064" y="1988840"/>
            <a:ext cx="2776736" cy="2888974"/>
          </a:xfrm>
          <a:prstGeom prst="rect">
            <a:avLst/>
          </a:prstGeom>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miscellaneous items</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US" dirty="0" smtClean="0"/>
              <a:t>Engine and fuel system checks include:</a:t>
            </a:r>
          </a:p>
          <a:p>
            <a:r>
              <a:rPr lang="en-AU" dirty="0" smtClean="0"/>
              <a:t>Checking colour and viscosity of the engine oil</a:t>
            </a:r>
          </a:p>
          <a:p>
            <a:r>
              <a:rPr lang="en-AU" dirty="0" smtClean="0"/>
              <a:t>Checking date/odometer reading for timing for draining and replacing engine oil</a:t>
            </a:r>
          </a:p>
          <a:p>
            <a:r>
              <a:rPr lang="en-AU" dirty="0" smtClean="0"/>
              <a:t>Checking level of oil in the engine</a:t>
            </a:r>
          </a:p>
          <a:p>
            <a:r>
              <a:rPr lang="en-AU" dirty="0" smtClean="0"/>
              <a:t>Checking the oil pump</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110</a:t>
            </a:fld>
            <a:endParaRPr lang="en-US" dirty="0"/>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1975615"/>
            <a:ext cx="3048000" cy="2033016"/>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miscellaneous items</a:t>
            </a:r>
            <a:endParaRPr lang="en-US" dirty="0"/>
          </a:p>
        </p:txBody>
      </p:sp>
      <p:sp>
        <p:nvSpPr>
          <p:cNvPr id="3" name="Content Placeholder 2"/>
          <p:cNvSpPr>
            <a:spLocks noGrp="1"/>
          </p:cNvSpPr>
          <p:nvPr>
            <p:ph idx="1"/>
          </p:nvPr>
        </p:nvSpPr>
        <p:spPr/>
        <p:txBody>
          <a:bodyPr/>
          <a:lstStyle/>
          <a:p>
            <a:r>
              <a:rPr lang="en-AU" dirty="0" smtClean="0"/>
              <a:t>Checking the fuel pump</a:t>
            </a:r>
          </a:p>
          <a:p>
            <a:r>
              <a:rPr lang="en-AU" dirty="0" smtClean="0"/>
              <a:t>Checking for leaks/evidence of leaks</a:t>
            </a:r>
          </a:p>
          <a:p>
            <a:r>
              <a:rPr lang="en-AU" dirty="0" smtClean="0"/>
              <a:t>Checking condition of oil filters</a:t>
            </a:r>
          </a:p>
          <a:p>
            <a:r>
              <a:rPr lang="en-AU" dirty="0" smtClean="0"/>
              <a:t>Checking overhead valves/clearances</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111</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16840" y="2024485"/>
            <a:ext cx="3048000" cy="2033016"/>
          </a:xfrm>
          <a:prstGeom prst="rect">
            <a:avLst/>
          </a:prstGeom>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miscellaneous items</a:t>
            </a:r>
            <a:endParaRPr lang="en-US" dirty="0"/>
          </a:p>
        </p:txBody>
      </p:sp>
      <p:sp>
        <p:nvSpPr>
          <p:cNvPr id="3" name="Content Placeholder 2"/>
          <p:cNvSpPr>
            <a:spLocks noGrp="1"/>
          </p:cNvSpPr>
          <p:nvPr>
            <p:ph idx="1"/>
          </p:nvPr>
        </p:nvSpPr>
        <p:spPr/>
        <p:txBody>
          <a:bodyPr/>
          <a:lstStyle/>
          <a:p>
            <a:r>
              <a:rPr lang="en-AU" dirty="0" smtClean="0"/>
              <a:t>Checking condition of air filters</a:t>
            </a:r>
          </a:p>
          <a:p>
            <a:r>
              <a:rPr lang="en-AU" dirty="0" smtClean="0"/>
              <a:t>Checking carburettor/s</a:t>
            </a:r>
          </a:p>
          <a:p>
            <a:r>
              <a:rPr lang="en-AU" dirty="0" smtClean="0"/>
              <a:t>Checking the points</a:t>
            </a:r>
          </a:p>
          <a:p>
            <a:r>
              <a:rPr lang="en-AU" dirty="0" smtClean="0"/>
              <a:t>Checking condition of the distributor and its operation</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112</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2037710"/>
            <a:ext cx="3048000" cy="2033016"/>
          </a:xfrm>
          <a:prstGeom prst="rect">
            <a:avLst/>
          </a:prstGeom>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miscellaneous items</a:t>
            </a:r>
            <a:endParaRPr lang="en-US" dirty="0"/>
          </a:p>
        </p:txBody>
      </p:sp>
      <p:sp>
        <p:nvSpPr>
          <p:cNvPr id="3" name="Content Placeholder 2"/>
          <p:cNvSpPr>
            <a:spLocks noGrp="1"/>
          </p:cNvSpPr>
          <p:nvPr>
            <p:ph idx="1"/>
          </p:nvPr>
        </p:nvSpPr>
        <p:spPr/>
        <p:txBody>
          <a:bodyPr/>
          <a:lstStyle/>
          <a:p>
            <a:r>
              <a:rPr lang="en-AU" dirty="0" smtClean="0"/>
              <a:t>Checking spark plugs, gaps and distributor leads</a:t>
            </a:r>
          </a:p>
          <a:p>
            <a:r>
              <a:rPr lang="en-AU" dirty="0" smtClean="0"/>
              <a:t>Checking idle speed of the motor</a:t>
            </a:r>
          </a:p>
          <a:p>
            <a:r>
              <a:rPr lang="en-AU" dirty="0" smtClean="0"/>
              <a:t>Ensuring required grade of oil is being used according to manufacturer recommendations</a:t>
            </a:r>
          </a:p>
          <a:p>
            <a:r>
              <a:rPr lang="en-AU" dirty="0" smtClean="0"/>
              <a:t>Checking fuel lines/fuel delivery pipes and clips and connections</a:t>
            </a:r>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113</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1988840"/>
            <a:ext cx="3048000" cy="2026920"/>
          </a:xfrm>
          <a:prstGeom prst="rect">
            <a:avLst/>
          </a:prstGeom>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miscellaneous items</a:t>
            </a:r>
            <a:endParaRPr lang="en-US" dirty="0"/>
          </a:p>
        </p:txBody>
      </p:sp>
      <p:sp>
        <p:nvSpPr>
          <p:cNvPr id="3" name="Content Placeholder 2"/>
          <p:cNvSpPr>
            <a:spLocks noGrp="1"/>
          </p:cNvSpPr>
          <p:nvPr>
            <p:ph idx="1"/>
          </p:nvPr>
        </p:nvSpPr>
        <p:spPr/>
        <p:txBody>
          <a:bodyPr/>
          <a:lstStyle/>
          <a:p>
            <a:pPr marL="36576" indent="0">
              <a:buNone/>
            </a:pPr>
            <a:r>
              <a:rPr lang="en-US" dirty="0" smtClean="0"/>
              <a:t>Possible adjustments – engine and fuel system:</a:t>
            </a:r>
          </a:p>
          <a:p>
            <a:r>
              <a:rPr lang="en-AU" dirty="0" smtClean="0"/>
              <a:t>Taking action to stop/prevent leaks</a:t>
            </a:r>
          </a:p>
          <a:p>
            <a:r>
              <a:rPr lang="en-AU" dirty="0" smtClean="0"/>
              <a:t>Replacing gaskets and oil seals</a:t>
            </a:r>
          </a:p>
          <a:p>
            <a:r>
              <a:rPr lang="en-AU" dirty="0" smtClean="0"/>
              <a:t>Topping up engine oil</a:t>
            </a:r>
          </a:p>
          <a:p>
            <a:r>
              <a:rPr lang="en-AU" dirty="0" smtClean="0"/>
              <a:t>Changing engine oil </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114</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37895" y="1988840"/>
            <a:ext cx="3048000" cy="2026920"/>
          </a:xfrm>
          <a:prstGeom prst="rect">
            <a:avLst/>
          </a:prstGeom>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miscellaneous items</a:t>
            </a:r>
            <a:endParaRPr lang="en-US" dirty="0"/>
          </a:p>
        </p:txBody>
      </p:sp>
      <p:sp>
        <p:nvSpPr>
          <p:cNvPr id="3" name="Content Placeholder 2"/>
          <p:cNvSpPr>
            <a:spLocks noGrp="1"/>
          </p:cNvSpPr>
          <p:nvPr>
            <p:ph idx="1"/>
          </p:nvPr>
        </p:nvSpPr>
        <p:spPr/>
        <p:txBody>
          <a:bodyPr/>
          <a:lstStyle/>
          <a:p>
            <a:r>
              <a:rPr lang="en-AU" dirty="0" smtClean="0"/>
              <a:t>Changing oil and/or fuel filters</a:t>
            </a:r>
          </a:p>
          <a:p>
            <a:r>
              <a:rPr lang="en-AU" dirty="0" smtClean="0"/>
              <a:t>Replacing oil and/or fuel pumps</a:t>
            </a:r>
          </a:p>
          <a:p>
            <a:r>
              <a:rPr lang="en-AU" dirty="0" smtClean="0"/>
              <a:t>Cleaning or replacing air filters</a:t>
            </a:r>
          </a:p>
          <a:p>
            <a:r>
              <a:rPr lang="en-AU" dirty="0" smtClean="0"/>
              <a:t>Replacing points</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115</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29051" y="2036412"/>
            <a:ext cx="3048000" cy="2033016"/>
          </a:xfrm>
          <a:prstGeom prst="rect">
            <a:avLst/>
          </a:prstGeom>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miscellaneous items</a:t>
            </a:r>
            <a:endParaRPr lang="en-US" dirty="0"/>
          </a:p>
        </p:txBody>
      </p:sp>
      <p:sp>
        <p:nvSpPr>
          <p:cNvPr id="3" name="Content Placeholder 2"/>
          <p:cNvSpPr>
            <a:spLocks noGrp="1"/>
          </p:cNvSpPr>
          <p:nvPr>
            <p:ph idx="1"/>
          </p:nvPr>
        </p:nvSpPr>
        <p:spPr/>
        <p:txBody>
          <a:bodyPr/>
          <a:lstStyle/>
          <a:p>
            <a:r>
              <a:rPr lang="en-AU" dirty="0" smtClean="0"/>
              <a:t>Cleaning, adjusting and/or fitting kits to carburettors</a:t>
            </a:r>
          </a:p>
          <a:p>
            <a:r>
              <a:rPr lang="en-AU" dirty="0" smtClean="0"/>
              <a:t>Replacing exhaust manifold gaskets</a:t>
            </a:r>
          </a:p>
          <a:p>
            <a:r>
              <a:rPr lang="en-AU" dirty="0" smtClean="0"/>
              <a:t>Adjusting the tappets/re-set clearances</a:t>
            </a:r>
          </a:p>
          <a:p>
            <a:r>
              <a:rPr lang="en-AU" dirty="0" smtClean="0"/>
              <a:t>Adjusting camshaft timing belt</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116</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13067" y="2030692"/>
            <a:ext cx="3048000" cy="2033016"/>
          </a:xfrm>
          <a:prstGeom prst="rect">
            <a:avLst/>
          </a:prstGeom>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miscellaneous items</a:t>
            </a:r>
            <a:endParaRPr lang="en-US" dirty="0"/>
          </a:p>
        </p:txBody>
      </p:sp>
      <p:sp>
        <p:nvSpPr>
          <p:cNvPr id="3" name="Content Placeholder 2"/>
          <p:cNvSpPr>
            <a:spLocks noGrp="1"/>
          </p:cNvSpPr>
          <p:nvPr>
            <p:ph idx="1"/>
          </p:nvPr>
        </p:nvSpPr>
        <p:spPr/>
        <p:txBody>
          <a:bodyPr/>
          <a:lstStyle/>
          <a:p>
            <a:r>
              <a:rPr lang="en-AU" dirty="0" smtClean="0"/>
              <a:t>Replacing suspect/damaged hoses</a:t>
            </a:r>
          </a:p>
          <a:p>
            <a:r>
              <a:rPr lang="en-AU" dirty="0" smtClean="0"/>
              <a:t>Replacing plugs, cleaning plugs and/or adjusting gaps</a:t>
            </a:r>
          </a:p>
          <a:p>
            <a:r>
              <a:rPr lang="en-AU" dirty="0" smtClean="0"/>
              <a:t>Adjusting the ignition timing</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117</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4102" y="1988840"/>
            <a:ext cx="3048000" cy="2026920"/>
          </a:xfrm>
          <a:prstGeom prst="rect">
            <a:avLst/>
          </a:prstGeom>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miscellaneous items</a:t>
            </a:r>
            <a:endParaRPr lang="en-US" dirty="0"/>
          </a:p>
        </p:txBody>
      </p:sp>
      <p:sp>
        <p:nvSpPr>
          <p:cNvPr id="3" name="Content Placeholder 2"/>
          <p:cNvSpPr>
            <a:spLocks noGrp="1"/>
          </p:cNvSpPr>
          <p:nvPr>
            <p:ph idx="1"/>
          </p:nvPr>
        </p:nvSpPr>
        <p:spPr/>
        <p:txBody>
          <a:bodyPr/>
          <a:lstStyle/>
          <a:p>
            <a:r>
              <a:rPr lang="en-AU" dirty="0" smtClean="0"/>
              <a:t>Changing fuel mix</a:t>
            </a:r>
          </a:p>
          <a:p>
            <a:r>
              <a:rPr lang="en-AU" dirty="0" smtClean="0"/>
              <a:t>Replacing distributor cap and rotor</a:t>
            </a:r>
          </a:p>
          <a:p>
            <a:r>
              <a:rPr lang="en-AU" dirty="0" smtClean="0"/>
              <a:t>Tuning the motor</a:t>
            </a:r>
          </a:p>
          <a:p>
            <a:r>
              <a:rPr lang="en-AU" dirty="0" smtClean="0"/>
              <a:t>Replacing fuel lines, clips and connections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118</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2019806"/>
            <a:ext cx="3048000" cy="2017776"/>
          </a:xfrm>
          <a:prstGeom prst="rect">
            <a:avLst/>
          </a:prstGeom>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miscellaneous items</a:t>
            </a:r>
            <a:endParaRPr lang="en-US" dirty="0"/>
          </a:p>
        </p:txBody>
      </p:sp>
      <p:sp>
        <p:nvSpPr>
          <p:cNvPr id="3" name="Content Placeholder 2"/>
          <p:cNvSpPr>
            <a:spLocks noGrp="1"/>
          </p:cNvSpPr>
          <p:nvPr>
            <p:ph idx="1"/>
          </p:nvPr>
        </p:nvSpPr>
        <p:spPr/>
        <p:txBody>
          <a:bodyPr/>
          <a:lstStyle/>
          <a:p>
            <a:pPr marL="36576" indent="0">
              <a:buNone/>
            </a:pPr>
            <a:r>
              <a:rPr lang="en-US" dirty="0" smtClean="0"/>
              <a:t>Transmission checks:</a:t>
            </a:r>
          </a:p>
          <a:p>
            <a:r>
              <a:rPr lang="en-AU" dirty="0" smtClean="0"/>
              <a:t>Checking gearbox oil level</a:t>
            </a:r>
          </a:p>
          <a:p>
            <a:r>
              <a:rPr lang="en-AU" dirty="0" smtClean="0"/>
              <a:t>Checking axle oil</a:t>
            </a:r>
          </a:p>
          <a:p>
            <a:r>
              <a:rPr lang="en-AU" dirty="0" smtClean="0"/>
              <a:t>Looking for leaks</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119</a:t>
            </a:fld>
            <a:endParaRPr lang="en-US" dirty="0"/>
          </a:p>
        </p:txBody>
      </p:sp>
      <p:pic>
        <p:nvPicPr>
          <p:cNvPr id="5" name="Picture 4"/>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9816" b="98978" l="21419" r="64802">
                        <a14:foregroundMark x1="37790" y1="82209" x2="37790" y2="82209"/>
                        <a14:foregroundMark x1="37381" y1="92638" x2="37381" y2="92638"/>
                        <a14:foregroundMark x1="32606" y1="78732" x2="32606" y2="78732"/>
                        <a14:foregroundMark x1="25648" y1="90593" x2="25648" y2="90593"/>
                        <a14:foregroundMark x1="31241" y1="87526" x2="31241" y2="87526"/>
                        <a14:foregroundMark x1="31241" y1="95297" x2="31241" y2="95297"/>
                        <a14:foregroundMark x1="41610" y1="93661" x2="41610" y2="93661"/>
                        <a14:foregroundMark x1="44065" y1="85890" x2="44065" y2="85890"/>
                        <a14:foregroundMark x1="38472" y1="86503" x2="38472" y2="86503"/>
                        <a14:foregroundMark x1="33288" y1="84458" x2="33288" y2="84458"/>
                        <a14:foregroundMark x1="28104" y1="88548" x2="28104" y2="88548"/>
                        <a14:foregroundMark x1="24966" y1="94683" x2="24966" y2="94683"/>
                        <a14:foregroundMark x1="27012" y1="96728" x2="27012" y2="96728"/>
                        <a14:foregroundMark x1="22920" y1="89980" x2="22920" y2="89980"/>
                        <a14:foregroundMark x1="23602" y1="97342" x2="23602" y2="97342"/>
                        <a14:foregroundMark x1="22510" y1="93252" x2="22510" y2="93252"/>
                        <a14:foregroundMark x1="35334" y1="78119" x2="35334" y2="78119"/>
                        <a14:foregroundMark x1="37381" y1="81186" x2="37381" y2="81186"/>
                        <a14:foregroundMark x1="40246" y1="89980" x2="40246" y2="89980"/>
                      </a14:backgroundRemoval>
                    </a14:imgEffect>
                  </a14:imgLayer>
                </a14:imgProps>
              </a:ext>
              <a:ext uri="{28A0092B-C50C-407E-A947-70E740481C1C}">
                <a14:useLocalDpi xmlns:a14="http://schemas.microsoft.com/office/drawing/2010/main" val="0"/>
              </a:ext>
            </a:extLst>
          </a:blip>
          <a:srcRect l="21579" r="35896"/>
          <a:stretch/>
        </p:blipFill>
        <p:spPr>
          <a:xfrm>
            <a:off x="4644008" y="1628800"/>
            <a:ext cx="2326699" cy="3649454"/>
          </a:xfrm>
          <a:prstGeom prst="rect">
            <a:avLst/>
          </a:prstGeom>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miscellaneous items</a:t>
            </a:r>
            <a:endParaRPr lang="en-US" dirty="0"/>
          </a:p>
        </p:txBody>
      </p:sp>
      <p:sp>
        <p:nvSpPr>
          <p:cNvPr id="3" name="Content Placeholder 2"/>
          <p:cNvSpPr>
            <a:spLocks noGrp="1"/>
          </p:cNvSpPr>
          <p:nvPr>
            <p:ph idx="1"/>
          </p:nvPr>
        </p:nvSpPr>
        <p:spPr/>
        <p:txBody>
          <a:bodyPr/>
          <a:lstStyle/>
          <a:p>
            <a:r>
              <a:rPr lang="en-AU" dirty="0" smtClean="0"/>
              <a:t>Checking automatic transmission fluid level and colour</a:t>
            </a:r>
          </a:p>
          <a:p>
            <a:r>
              <a:rPr lang="en-AU" dirty="0" smtClean="0"/>
              <a:t>Testing automatic transmission inhibitor switch</a:t>
            </a:r>
          </a:p>
          <a:p>
            <a:r>
              <a:rPr lang="en-AU" dirty="0" smtClean="0"/>
              <a:t>Checking clutch cable and linkages</a:t>
            </a:r>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120</a:t>
            </a:fld>
            <a:endParaRPr lang="en-US" dirty="0"/>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64088" y="1988840"/>
            <a:ext cx="2322576" cy="3048000"/>
          </a:xfrm>
          <a:prstGeom prst="rect">
            <a:avLst/>
          </a:prstGeom>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miscellaneous items</a:t>
            </a:r>
            <a:endParaRPr lang="en-US" dirty="0"/>
          </a:p>
        </p:txBody>
      </p:sp>
      <p:sp>
        <p:nvSpPr>
          <p:cNvPr id="3" name="Content Placeholder 2"/>
          <p:cNvSpPr>
            <a:spLocks noGrp="1"/>
          </p:cNvSpPr>
          <p:nvPr>
            <p:ph idx="1"/>
          </p:nvPr>
        </p:nvSpPr>
        <p:spPr/>
        <p:txBody>
          <a:bodyPr/>
          <a:lstStyle/>
          <a:p>
            <a:pPr marL="36576" indent="0">
              <a:buNone/>
            </a:pPr>
            <a:r>
              <a:rPr lang="en-US" dirty="0" smtClean="0"/>
              <a:t>Possible transmission adjustments:</a:t>
            </a:r>
          </a:p>
          <a:p>
            <a:r>
              <a:rPr lang="en-AU" dirty="0" smtClean="0"/>
              <a:t>Taking action to stop/prevent leaks</a:t>
            </a:r>
          </a:p>
          <a:p>
            <a:r>
              <a:rPr lang="en-AU" dirty="0" smtClean="0"/>
              <a:t>Draining and re-filling gearbox</a:t>
            </a:r>
          </a:p>
          <a:p>
            <a:r>
              <a:rPr lang="en-AU" dirty="0" smtClean="0"/>
              <a:t>Replacing transmission oil seals</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121</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60032" y="1988840"/>
            <a:ext cx="2404872" cy="3048000"/>
          </a:xfrm>
          <a:prstGeom prst="rect">
            <a:avLst/>
          </a:prstGeom>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miscellaneous items</a:t>
            </a:r>
            <a:endParaRPr lang="en-US" dirty="0"/>
          </a:p>
        </p:txBody>
      </p:sp>
      <p:sp>
        <p:nvSpPr>
          <p:cNvPr id="3" name="Content Placeholder 2"/>
          <p:cNvSpPr>
            <a:spLocks noGrp="1"/>
          </p:cNvSpPr>
          <p:nvPr>
            <p:ph idx="1"/>
          </p:nvPr>
        </p:nvSpPr>
        <p:spPr/>
        <p:txBody>
          <a:bodyPr/>
          <a:lstStyle/>
          <a:p>
            <a:r>
              <a:rPr lang="en-AU" dirty="0" smtClean="0"/>
              <a:t>Changing rear axle oil/axle oil</a:t>
            </a:r>
          </a:p>
          <a:p>
            <a:r>
              <a:rPr lang="en-AU" dirty="0" smtClean="0"/>
              <a:t>Topping-up or changing automatic transmission fluid</a:t>
            </a:r>
          </a:p>
          <a:p>
            <a:r>
              <a:rPr lang="en-AU" dirty="0" smtClean="0"/>
              <a:t>Adjusting free-play in, or replacing, the clutch cable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122</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6056" y="1988840"/>
            <a:ext cx="2054352" cy="3048000"/>
          </a:xfrm>
          <a:prstGeom prst="rect">
            <a:avLst/>
          </a:prstGeom>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miscellaneous items</a:t>
            </a:r>
            <a:endParaRPr lang="en-US" dirty="0"/>
          </a:p>
        </p:txBody>
      </p:sp>
      <p:sp>
        <p:nvSpPr>
          <p:cNvPr id="3" name="Content Placeholder 2"/>
          <p:cNvSpPr>
            <a:spLocks noGrp="1"/>
          </p:cNvSpPr>
          <p:nvPr>
            <p:ph idx="1"/>
          </p:nvPr>
        </p:nvSpPr>
        <p:spPr>
          <a:xfrm>
            <a:off x="457200" y="1988840"/>
            <a:ext cx="4762872" cy="4433224"/>
          </a:xfrm>
        </p:spPr>
        <p:txBody>
          <a:bodyPr>
            <a:normAutofit lnSpcReduction="10000"/>
          </a:bodyPr>
          <a:lstStyle/>
          <a:p>
            <a:pPr marL="36576" indent="0">
              <a:buNone/>
            </a:pPr>
            <a:r>
              <a:rPr lang="en-US" dirty="0" smtClean="0"/>
              <a:t>Electrical wiring checks:</a:t>
            </a:r>
          </a:p>
          <a:p>
            <a:r>
              <a:rPr lang="en-AU" dirty="0" smtClean="0"/>
              <a:t>Testing operation of all electrical items on the vehicle</a:t>
            </a:r>
          </a:p>
          <a:p>
            <a:r>
              <a:rPr lang="en-AU" dirty="0" smtClean="0"/>
              <a:t>Visually inspecting visible wiring for scorch or rub marks, exposed wiring or loose or missing connections</a:t>
            </a:r>
          </a:p>
          <a:p>
            <a:r>
              <a:rPr lang="en-AU" dirty="0" smtClean="0"/>
              <a:t>Using multi-meter to check current, voltage and resistance readings</a:t>
            </a:r>
          </a:p>
          <a:p>
            <a:r>
              <a:rPr lang="en-AU" dirty="0" smtClean="0"/>
              <a:t>Checking battery water level</a:t>
            </a:r>
          </a:p>
          <a:p>
            <a:r>
              <a:rPr lang="en-AU" dirty="0" smtClean="0"/>
              <a:t>Checking battery charge</a:t>
            </a:r>
          </a:p>
          <a:p>
            <a:pPr marL="36576" indent="0">
              <a:buNone/>
            </a:pPr>
            <a:r>
              <a:rPr lang="en-US" sz="15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123</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21316" y="1994073"/>
            <a:ext cx="2832084" cy="1889000"/>
          </a:xfrm>
          <a:prstGeom prst="rect">
            <a:avLst/>
          </a:prstGeom>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miscellaneous items</a:t>
            </a:r>
            <a:endParaRPr lang="en-US" dirty="0"/>
          </a:p>
        </p:txBody>
      </p:sp>
      <p:sp>
        <p:nvSpPr>
          <p:cNvPr id="3" name="Content Placeholder 2"/>
          <p:cNvSpPr>
            <a:spLocks noGrp="1"/>
          </p:cNvSpPr>
          <p:nvPr>
            <p:ph idx="1"/>
          </p:nvPr>
        </p:nvSpPr>
        <p:spPr/>
        <p:txBody>
          <a:bodyPr/>
          <a:lstStyle/>
          <a:p>
            <a:r>
              <a:rPr lang="en-AU" dirty="0" smtClean="0"/>
              <a:t>Checking battery leads, posts and connections</a:t>
            </a:r>
          </a:p>
          <a:p>
            <a:r>
              <a:rPr lang="en-AU" dirty="0" smtClean="0"/>
              <a:t>Checking alternator drive belts/pulleys</a:t>
            </a:r>
          </a:p>
          <a:p>
            <a:r>
              <a:rPr lang="en-AU" dirty="0" smtClean="0"/>
              <a:t>Checking brackets and mountings</a:t>
            </a:r>
          </a:p>
          <a:p>
            <a:r>
              <a:rPr lang="en-AU" dirty="0" smtClean="0"/>
              <a:t>Checking fuses</a:t>
            </a:r>
          </a:p>
          <a:p>
            <a:r>
              <a:rPr lang="en-AU" dirty="0" smtClean="0"/>
              <a:t>Ensuring required spare fuses are in place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124</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2024485"/>
            <a:ext cx="3048000" cy="2033016"/>
          </a:xfrm>
          <a:prstGeom prst="rect">
            <a:avLst/>
          </a:prstGeom>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miscellaneous items</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US" dirty="0" smtClean="0"/>
              <a:t>Possible wiring adjustments:</a:t>
            </a:r>
          </a:p>
          <a:p>
            <a:r>
              <a:rPr lang="en-AU" dirty="0" smtClean="0"/>
              <a:t>Re-wiring the vehicle</a:t>
            </a:r>
          </a:p>
          <a:p>
            <a:r>
              <a:rPr lang="en-AU" dirty="0" smtClean="0"/>
              <a:t>Topping up battery water with distilled water</a:t>
            </a:r>
          </a:p>
          <a:p>
            <a:r>
              <a:rPr lang="en-AU" dirty="0" smtClean="0"/>
              <a:t>Cleaning terminals and points</a:t>
            </a:r>
          </a:p>
          <a:p>
            <a:r>
              <a:rPr lang="en-AU" dirty="0" smtClean="0"/>
              <a:t>Charging and/or replacing batteries</a:t>
            </a:r>
          </a:p>
          <a:p>
            <a:r>
              <a:rPr lang="en-AU" dirty="0" smtClean="0"/>
              <a:t>Replacing defective components</a:t>
            </a:r>
          </a:p>
          <a:p>
            <a:r>
              <a:rPr lang="en-AU" dirty="0" smtClean="0"/>
              <a:t>Relacing fuses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125</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9377" y="2024485"/>
            <a:ext cx="3048000" cy="2033016"/>
          </a:xfrm>
          <a:prstGeom prst="rect">
            <a:avLst/>
          </a:prstGeom>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miscellaneous items</a:t>
            </a:r>
            <a:endParaRPr lang="en-US" dirty="0"/>
          </a:p>
        </p:txBody>
      </p:sp>
      <p:sp>
        <p:nvSpPr>
          <p:cNvPr id="3" name="Content Placeholder 2"/>
          <p:cNvSpPr>
            <a:spLocks noGrp="1"/>
          </p:cNvSpPr>
          <p:nvPr>
            <p:ph idx="1"/>
          </p:nvPr>
        </p:nvSpPr>
        <p:spPr/>
        <p:txBody>
          <a:bodyPr/>
          <a:lstStyle/>
          <a:p>
            <a:pPr marL="36576" indent="0">
              <a:buNone/>
            </a:pPr>
            <a:r>
              <a:rPr lang="en-US" dirty="0" smtClean="0"/>
              <a:t>Water checks:</a:t>
            </a:r>
          </a:p>
          <a:p>
            <a:r>
              <a:rPr lang="en-AU" dirty="0" smtClean="0"/>
              <a:t>Checking level of radiator water</a:t>
            </a:r>
          </a:p>
          <a:p>
            <a:r>
              <a:rPr lang="en-AU" dirty="0" smtClean="0"/>
              <a:t>Checking water in windscreen washer reservoir</a:t>
            </a:r>
          </a:p>
          <a:p>
            <a:r>
              <a:rPr lang="en-AU" dirty="0" smtClean="0"/>
              <a:t>Checking radiator hoses and connections</a:t>
            </a:r>
          </a:p>
          <a:p>
            <a:r>
              <a:rPr lang="en-AU" dirty="0" smtClean="0"/>
              <a:t>Checking radiator cap</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126</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8542" y="1988840"/>
            <a:ext cx="3048000" cy="2115312"/>
          </a:xfrm>
          <a:prstGeom prst="rect">
            <a:avLst/>
          </a:prstGeom>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miscellaneous items</a:t>
            </a:r>
            <a:endParaRPr lang="en-US" dirty="0"/>
          </a:p>
        </p:txBody>
      </p:sp>
      <p:sp>
        <p:nvSpPr>
          <p:cNvPr id="3" name="Content Placeholder 2"/>
          <p:cNvSpPr>
            <a:spLocks noGrp="1"/>
          </p:cNvSpPr>
          <p:nvPr>
            <p:ph idx="1"/>
          </p:nvPr>
        </p:nvSpPr>
        <p:spPr/>
        <p:txBody>
          <a:bodyPr/>
          <a:lstStyle/>
          <a:p>
            <a:r>
              <a:rPr lang="en-AU" dirty="0" smtClean="0"/>
              <a:t>Checking water pump</a:t>
            </a:r>
          </a:p>
          <a:p>
            <a:r>
              <a:rPr lang="en-AU" dirty="0" smtClean="0"/>
              <a:t>Inspecting for leaks and evidence of leaks</a:t>
            </a:r>
          </a:p>
          <a:p>
            <a:r>
              <a:rPr lang="en-AU" dirty="0" smtClean="0"/>
              <a:t>Ensuring spare water containers in vehicles are full</a:t>
            </a:r>
          </a:p>
          <a:p>
            <a:r>
              <a:rPr lang="en-AU" dirty="0" smtClean="0"/>
              <a:t>Checking operating temperature of engine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127</a:t>
            </a:fld>
            <a:endParaRPr lang="en-US" dirty="0"/>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7088" t="14168" r="22038"/>
          <a:stretch/>
        </p:blipFill>
        <p:spPr>
          <a:xfrm>
            <a:off x="5292080" y="1988840"/>
            <a:ext cx="2941746" cy="2376264"/>
          </a:xfrm>
          <a:prstGeom prst="rect">
            <a:avLst/>
          </a:prstGeom>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miscellaneous items</a:t>
            </a:r>
            <a:endParaRPr lang="en-US" dirty="0"/>
          </a:p>
        </p:txBody>
      </p:sp>
      <p:sp>
        <p:nvSpPr>
          <p:cNvPr id="3" name="Content Placeholder 2"/>
          <p:cNvSpPr>
            <a:spLocks noGrp="1"/>
          </p:cNvSpPr>
          <p:nvPr>
            <p:ph idx="1"/>
          </p:nvPr>
        </p:nvSpPr>
        <p:spPr/>
        <p:txBody>
          <a:bodyPr/>
          <a:lstStyle/>
          <a:p>
            <a:pPr marL="36576" indent="0">
              <a:buNone/>
            </a:pPr>
            <a:r>
              <a:rPr lang="en-US" dirty="0" smtClean="0"/>
              <a:t>Possible water adjustments:</a:t>
            </a:r>
          </a:p>
          <a:p>
            <a:r>
              <a:rPr lang="en-AU" dirty="0" smtClean="0"/>
              <a:t>Topping up water to required levels</a:t>
            </a:r>
          </a:p>
          <a:p>
            <a:r>
              <a:rPr lang="en-AU" dirty="0" smtClean="0"/>
              <a:t>Adding detergent to windscreen washer water</a:t>
            </a:r>
          </a:p>
          <a:p>
            <a:r>
              <a:rPr lang="en-AU" dirty="0" smtClean="0"/>
              <a:t>Flushing radiator</a:t>
            </a:r>
          </a:p>
          <a:p>
            <a:r>
              <a:rPr lang="en-AU" dirty="0" smtClean="0"/>
              <a:t>Removing and replacing radiator</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128</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1988840"/>
            <a:ext cx="3048000" cy="2176272"/>
          </a:xfrm>
          <a:prstGeom prst="rect">
            <a:avLst/>
          </a:prstGeom>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miscellaneous items</a:t>
            </a:r>
            <a:endParaRPr lang="en-US" dirty="0"/>
          </a:p>
        </p:txBody>
      </p:sp>
      <p:sp>
        <p:nvSpPr>
          <p:cNvPr id="3" name="Content Placeholder 2"/>
          <p:cNvSpPr>
            <a:spLocks noGrp="1"/>
          </p:cNvSpPr>
          <p:nvPr>
            <p:ph idx="1"/>
          </p:nvPr>
        </p:nvSpPr>
        <p:spPr/>
        <p:txBody>
          <a:bodyPr/>
          <a:lstStyle/>
          <a:p>
            <a:r>
              <a:rPr lang="en-AU" dirty="0" smtClean="0"/>
              <a:t>Draining and re-filling sealed systems</a:t>
            </a:r>
          </a:p>
          <a:p>
            <a:r>
              <a:rPr lang="en-AU" dirty="0" smtClean="0"/>
              <a:t>Replacing water pump</a:t>
            </a:r>
          </a:p>
          <a:p>
            <a:r>
              <a:rPr lang="en-AU" dirty="0" smtClean="0"/>
              <a:t>Arranging for re-coring of radiator</a:t>
            </a:r>
          </a:p>
          <a:p>
            <a:r>
              <a:rPr lang="en-AU" dirty="0" smtClean="0"/>
              <a:t>Replacing thermostat</a:t>
            </a:r>
          </a:p>
          <a:p>
            <a:r>
              <a:rPr lang="en-AU" dirty="0" smtClean="0"/>
              <a:t>Adding cooling system additives, if/where required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129</a:t>
            </a:fld>
            <a:endParaRPr lang="en-US" dirty="0"/>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35825" b="33221"/>
          <a:stretch/>
        </p:blipFill>
        <p:spPr>
          <a:xfrm>
            <a:off x="4645527" y="2132856"/>
            <a:ext cx="3770750" cy="2762327"/>
          </a:xfrm>
          <a:prstGeom prst="rect">
            <a:avLst/>
          </a:prstGeom>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miscellaneous items</a:t>
            </a:r>
            <a:endParaRPr lang="en-US" dirty="0"/>
          </a:p>
        </p:txBody>
      </p:sp>
      <p:sp>
        <p:nvSpPr>
          <p:cNvPr id="3" name="Content Placeholder 2"/>
          <p:cNvSpPr>
            <a:spLocks noGrp="1"/>
          </p:cNvSpPr>
          <p:nvPr>
            <p:ph idx="1"/>
          </p:nvPr>
        </p:nvSpPr>
        <p:spPr/>
        <p:txBody>
          <a:bodyPr/>
          <a:lstStyle/>
          <a:p>
            <a:pPr marL="36576" indent="0">
              <a:buNone/>
            </a:pPr>
            <a:r>
              <a:rPr lang="en-US" dirty="0" smtClean="0"/>
              <a:t>Tyre checks:</a:t>
            </a:r>
          </a:p>
          <a:p>
            <a:r>
              <a:rPr lang="en-AU" dirty="0" smtClean="0"/>
              <a:t>Checking general condition and wear on each on-road tyre plus spare including condition of sidewalls</a:t>
            </a:r>
          </a:p>
          <a:p>
            <a:r>
              <a:rPr lang="en-AU" dirty="0" smtClean="0"/>
              <a:t>Inspecting condition of wheels and rims</a:t>
            </a:r>
          </a:p>
          <a:p>
            <a:r>
              <a:rPr lang="en-AU" dirty="0" smtClean="0"/>
              <a:t>Checking tyre pressures</a:t>
            </a:r>
          </a:p>
          <a:p>
            <a:r>
              <a:rPr lang="en-AU" dirty="0" smtClean="0"/>
              <a:t>Testing valves for leaks</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130</a:t>
            </a:fld>
            <a:endParaRPr lang="en-US" dirty="0"/>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2636912"/>
            <a:ext cx="3048000" cy="2033016"/>
          </a:xfrm>
          <a:prstGeom prst="rect">
            <a:avLst/>
          </a:prstGeom>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miscellaneous items</a:t>
            </a:r>
            <a:endParaRPr lang="en-US" dirty="0"/>
          </a:p>
        </p:txBody>
      </p:sp>
      <p:sp>
        <p:nvSpPr>
          <p:cNvPr id="3" name="Content Placeholder 2"/>
          <p:cNvSpPr>
            <a:spLocks noGrp="1"/>
          </p:cNvSpPr>
          <p:nvPr>
            <p:ph idx="1"/>
          </p:nvPr>
        </p:nvSpPr>
        <p:spPr/>
        <p:txBody>
          <a:bodyPr/>
          <a:lstStyle/>
          <a:p>
            <a:r>
              <a:rPr lang="en-AU" dirty="0" smtClean="0"/>
              <a:t>Verifying all tyres are same tread pattern</a:t>
            </a:r>
          </a:p>
          <a:p>
            <a:r>
              <a:rPr lang="en-AU" dirty="0" smtClean="0"/>
              <a:t>Verifying all tyres are correct size</a:t>
            </a:r>
          </a:p>
          <a:p>
            <a:r>
              <a:rPr lang="en-AU" dirty="0" smtClean="0"/>
              <a:t>Verifying all tyres have sufficient tread</a:t>
            </a:r>
          </a:p>
          <a:p>
            <a:r>
              <a:rPr lang="en-AU" dirty="0" smtClean="0"/>
              <a:t>Verifying all tyres are suitably rated for required loads and speeds</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131</a:t>
            </a:fld>
            <a:endParaRPr lang="en-US" dirty="0"/>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2024485"/>
            <a:ext cx="3048000" cy="2033016"/>
          </a:xfrm>
          <a:prstGeom prst="rect">
            <a:avLst/>
          </a:prstGeom>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miscellaneous items</a:t>
            </a:r>
            <a:endParaRPr lang="en-US" dirty="0"/>
          </a:p>
        </p:txBody>
      </p:sp>
      <p:sp>
        <p:nvSpPr>
          <p:cNvPr id="3" name="Content Placeholder 2"/>
          <p:cNvSpPr>
            <a:spLocks noGrp="1"/>
          </p:cNvSpPr>
          <p:nvPr>
            <p:ph idx="1"/>
          </p:nvPr>
        </p:nvSpPr>
        <p:spPr/>
        <p:txBody>
          <a:bodyPr/>
          <a:lstStyle/>
          <a:p>
            <a:pPr marL="36576" indent="0">
              <a:buNone/>
            </a:pPr>
            <a:r>
              <a:rPr lang="en-US" dirty="0" smtClean="0"/>
              <a:t>Tyre checks:</a:t>
            </a:r>
          </a:p>
          <a:p>
            <a:r>
              <a:rPr lang="en-AU" dirty="0" smtClean="0"/>
              <a:t>Testing any on-board compressors or manual or foot-operated pumps</a:t>
            </a:r>
            <a:endParaRPr lang="en-US" dirty="0" smtClean="0"/>
          </a:p>
          <a:p>
            <a:r>
              <a:rPr lang="en-AU" dirty="0" smtClean="0"/>
              <a:t>Ensuring on-board tyre repair kits are present and fully stocked </a:t>
            </a:r>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132</a:t>
            </a:fld>
            <a:endParaRPr lang="en-US" dirty="0"/>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0850" t="15871"/>
          <a:stretch/>
        </p:blipFill>
        <p:spPr>
          <a:xfrm>
            <a:off x="4788023" y="2018765"/>
            <a:ext cx="3528393" cy="2220890"/>
          </a:xfrm>
          <a:prstGeom prst="rect">
            <a:avLst/>
          </a:prstGeom>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miscellaneous items</a:t>
            </a:r>
            <a:endParaRPr lang="en-US" dirty="0"/>
          </a:p>
        </p:txBody>
      </p:sp>
      <p:sp>
        <p:nvSpPr>
          <p:cNvPr id="3" name="Content Placeholder 2"/>
          <p:cNvSpPr>
            <a:spLocks noGrp="1"/>
          </p:cNvSpPr>
          <p:nvPr>
            <p:ph idx="1"/>
          </p:nvPr>
        </p:nvSpPr>
        <p:spPr/>
        <p:txBody>
          <a:bodyPr/>
          <a:lstStyle/>
          <a:p>
            <a:pPr marL="36576" indent="0">
              <a:buNone/>
            </a:pPr>
            <a:r>
              <a:rPr lang="en-US" dirty="0" smtClean="0"/>
              <a:t>Possible tyre adjustments:</a:t>
            </a:r>
          </a:p>
          <a:p>
            <a:r>
              <a:rPr lang="en-US" dirty="0" smtClean="0"/>
              <a:t>Make necessary arrangements with tyre specialists</a:t>
            </a:r>
          </a:p>
          <a:p>
            <a:r>
              <a:rPr lang="en-AU" dirty="0" smtClean="0"/>
              <a:t>Re-fit valves</a:t>
            </a:r>
          </a:p>
          <a:p>
            <a:r>
              <a:rPr lang="en-AU" dirty="0" smtClean="0"/>
              <a:t>Inflate or reduce pressures as required</a:t>
            </a:r>
          </a:p>
          <a:p>
            <a:r>
              <a:rPr lang="en-AU" dirty="0" smtClean="0"/>
              <a:t>Clean tyres and wheels, removing mud and debris inside and out</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133</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64088" y="2007931"/>
            <a:ext cx="2033016" cy="3048000"/>
          </a:xfrm>
          <a:prstGeom prst="rect">
            <a:avLst/>
          </a:prstGeom>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miscellaneous items</a:t>
            </a:r>
            <a:endParaRPr lang="en-US" dirty="0"/>
          </a:p>
        </p:txBody>
      </p:sp>
      <p:sp>
        <p:nvSpPr>
          <p:cNvPr id="3" name="Content Placeholder 2"/>
          <p:cNvSpPr>
            <a:spLocks noGrp="1"/>
          </p:cNvSpPr>
          <p:nvPr>
            <p:ph idx="1"/>
          </p:nvPr>
        </p:nvSpPr>
        <p:spPr/>
        <p:txBody>
          <a:bodyPr/>
          <a:lstStyle/>
          <a:p>
            <a:r>
              <a:rPr lang="en-AU" dirty="0" smtClean="0"/>
              <a:t>Replace defective compressors</a:t>
            </a:r>
          </a:p>
          <a:p>
            <a:r>
              <a:rPr lang="en-AU" dirty="0" smtClean="0"/>
              <a:t>Check/replenish tyre repair kits – comprising plug kits, spare valve cores, caps and the four-way valve tool</a:t>
            </a:r>
          </a:p>
          <a:p>
            <a:r>
              <a:rPr lang="en-AU" dirty="0" smtClean="0"/>
              <a:t>Rotate tyres/wheels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134</a:t>
            </a:fld>
            <a:endParaRPr lang="en-US" dirty="0"/>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27387"/>
          <a:stretch/>
        </p:blipFill>
        <p:spPr>
          <a:xfrm>
            <a:off x="5148064" y="1988840"/>
            <a:ext cx="2776736" cy="2818298"/>
          </a:xfrm>
          <a:prstGeom prst="rect">
            <a:avLst/>
          </a:prstGeom>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miscellaneous items</a:t>
            </a:r>
            <a:endParaRPr lang="en-US" dirty="0"/>
          </a:p>
        </p:txBody>
      </p:sp>
      <p:sp>
        <p:nvSpPr>
          <p:cNvPr id="3" name="Content Placeholder 2"/>
          <p:cNvSpPr>
            <a:spLocks noGrp="1"/>
          </p:cNvSpPr>
          <p:nvPr>
            <p:ph idx="1"/>
          </p:nvPr>
        </p:nvSpPr>
        <p:spPr/>
        <p:txBody>
          <a:bodyPr/>
          <a:lstStyle/>
          <a:p>
            <a:pPr marL="36576" indent="0">
              <a:buNone/>
            </a:pPr>
            <a:r>
              <a:rPr lang="en-US" dirty="0" smtClean="0"/>
              <a:t>On-board services/facilities and systems checks:</a:t>
            </a:r>
          </a:p>
          <a:p>
            <a:r>
              <a:rPr lang="en-US" dirty="0" smtClean="0"/>
              <a:t>Operation of toilets:</a:t>
            </a:r>
          </a:p>
          <a:p>
            <a:r>
              <a:rPr lang="en-US" dirty="0" smtClean="0"/>
              <a:t>Operation of sinks and related items</a:t>
            </a:r>
          </a:p>
          <a:p>
            <a:r>
              <a:rPr lang="en-US" dirty="0" smtClean="0"/>
              <a:t>Operation of radio</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135</a:t>
            </a:fld>
            <a:endParaRPr lang="en-US" dirty="0"/>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90211" y="2024485"/>
            <a:ext cx="3048000" cy="2033016"/>
          </a:xfrm>
          <a:prstGeom prst="rect">
            <a:avLst/>
          </a:prstGeom>
        </p:spPr>
      </p:pic>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miscellaneous items</a:t>
            </a:r>
            <a:endParaRPr lang="en-US" dirty="0"/>
          </a:p>
        </p:txBody>
      </p:sp>
      <p:sp>
        <p:nvSpPr>
          <p:cNvPr id="3" name="Content Placeholder 2"/>
          <p:cNvSpPr>
            <a:spLocks noGrp="1"/>
          </p:cNvSpPr>
          <p:nvPr>
            <p:ph idx="1"/>
          </p:nvPr>
        </p:nvSpPr>
        <p:spPr/>
        <p:txBody>
          <a:bodyPr/>
          <a:lstStyle/>
          <a:p>
            <a:r>
              <a:rPr lang="en-US" dirty="0" smtClean="0"/>
              <a:t>Operation of television</a:t>
            </a:r>
          </a:p>
          <a:p>
            <a:r>
              <a:rPr lang="en-US" dirty="0" smtClean="0"/>
              <a:t>Operation of audio-tape (or CD) systems</a:t>
            </a:r>
          </a:p>
          <a:p>
            <a:r>
              <a:rPr lang="en-US" dirty="0" smtClean="0"/>
              <a:t>Operation of PA system</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136</a:t>
            </a:fld>
            <a:endParaRPr lang="en-US" dirty="0"/>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32294" y="1975717"/>
            <a:ext cx="3048000" cy="2081784"/>
          </a:xfrm>
          <a:prstGeom prst="rect">
            <a:avLst/>
          </a:prstGeom>
        </p:spPr>
      </p:pic>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miscellaneous items</a:t>
            </a:r>
            <a:endParaRPr lang="en-US" dirty="0"/>
          </a:p>
        </p:txBody>
      </p:sp>
      <p:sp>
        <p:nvSpPr>
          <p:cNvPr id="3" name="Content Placeholder 2"/>
          <p:cNvSpPr>
            <a:spLocks noGrp="1"/>
          </p:cNvSpPr>
          <p:nvPr>
            <p:ph idx="1"/>
          </p:nvPr>
        </p:nvSpPr>
        <p:spPr/>
        <p:txBody>
          <a:bodyPr/>
          <a:lstStyle/>
          <a:p>
            <a:r>
              <a:rPr lang="en-US" dirty="0" smtClean="0"/>
              <a:t>Operation </a:t>
            </a:r>
            <a:r>
              <a:rPr lang="en-AU" dirty="0" smtClean="0"/>
              <a:t>of installed two-way (CB and UHF) radios </a:t>
            </a:r>
            <a:endParaRPr lang="en-US" dirty="0" smtClean="0"/>
          </a:p>
          <a:p>
            <a:r>
              <a:rPr lang="en-US" dirty="0" smtClean="0"/>
              <a:t>Operation </a:t>
            </a:r>
            <a:r>
              <a:rPr lang="en-AU" dirty="0" smtClean="0"/>
              <a:t>of all options and facilities for all installed electronic and/or electrical devices </a:t>
            </a:r>
            <a:endParaRPr lang="en-US" dirty="0" smtClean="0"/>
          </a:p>
          <a:p>
            <a:r>
              <a:rPr lang="en-US" dirty="0" smtClean="0"/>
              <a:t>Operation </a:t>
            </a:r>
            <a:r>
              <a:rPr lang="en-AU" dirty="0" smtClean="0"/>
              <a:t>of other items specific to individual types of vehicles</a:t>
            </a:r>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137</a:t>
            </a:fld>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22641" y="1988840"/>
            <a:ext cx="3030759" cy="2922290"/>
          </a:xfrm>
          <a:prstGeom prst="rect">
            <a:avLst/>
          </a:prstGeom>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miscellaneous items</a:t>
            </a:r>
            <a:endParaRPr lang="en-US" dirty="0"/>
          </a:p>
        </p:txBody>
      </p:sp>
      <p:sp>
        <p:nvSpPr>
          <p:cNvPr id="3" name="Content Placeholder 2"/>
          <p:cNvSpPr>
            <a:spLocks noGrp="1"/>
          </p:cNvSpPr>
          <p:nvPr>
            <p:ph idx="1"/>
          </p:nvPr>
        </p:nvSpPr>
        <p:spPr/>
        <p:txBody>
          <a:bodyPr/>
          <a:lstStyle/>
          <a:p>
            <a:pPr marL="36576" indent="0">
              <a:buNone/>
            </a:pPr>
            <a:r>
              <a:rPr lang="en-US" dirty="0" smtClean="0"/>
              <a:t>Possible on-board services/facilities and systems adjustments:</a:t>
            </a:r>
          </a:p>
          <a:p>
            <a:r>
              <a:rPr lang="en-AU" dirty="0" smtClean="0"/>
              <a:t>Cleaning</a:t>
            </a:r>
          </a:p>
          <a:p>
            <a:r>
              <a:rPr lang="en-AU" dirty="0" smtClean="0"/>
              <a:t>Replacing tap washers</a:t>
            </a:r>
          </a:p>
          <a:p>
            <a:r>
              <a:rPr lang="en-AU" dirty="0" smtClean="0"/>
              <a:t>Lubricating moving parts in toilet and wash systems</a:t>
            </a:r>
          </a:p>
          <a:p>
            <a:r>
              <a:rPr lang="en-AU" dirty="0" smtClean="0"/>
              <a:t>Changing batteries in remote-control/hand-held units</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138</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1988840"/>
            <a:ext cx="3048000" cy="2240280"/>
          </a:xfrm>
          <a:prstGeom prst="rect">
            <a:avLst/>
          </a:prstGeom>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miscellaneous items</a:t>
            </a:r>
            <a:endParaRPr lang="en-US" dirty="0"/>
          </a:p>
        </p:txBody>
      </p:sp>
      <p:sp>
        <p:nvSpPr>
          <p:cNvPr id="3" name="Content Placeholder 2"/>
          <p:cNvSpPr>
            <a:spLocks noGrp="1"/>
          </p:cNvSpPr>
          <p:nvPr>
            <p:ph idx="1"/>
          </p:nvPr>
        </p:nvSpPr>
        <p:spPr/>
        <p:txBody>
          <a:bodyPr/>
          <a:lstStyle/>
          <a:p>
            <a:r>
              <a:rPr lang="en-US" dirty="0" smtClean="0"/>
              <a:t>Replenishing supplies</a:t>
            </a:r>
          </a:p>
          <a:p>
            <a:r>
              <a:rPr lang="en-US" dirty="0" smtClean="0"/>
              <a:t>Following requirements in Owner/User manual</a:t>
            </a:r>
          </a:p>
          <a:p>
            <a:r>
              <a:rPr lang="en-US" dirty="0" smtClean="0"/>
              <a:t>Making arrangements for qualified repairs</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139</a:t>
            </a:fld>
            <a:endParaRPr lang="en-US" dirty="0"/>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20300"/>
          <a:stretch/>
        </p:blipFill>
        <p:spPr>
          <a:xfrm>
            <a:off x="4572000" y="1988839"/>
            <a:ext cx="3581400" cy="2404061"/>
          </a:xfrm>
          <a:prstGeom prst="rect">
            <a:avLst/>
          </a:prstGeom>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miscellaneous items</a:t>
            </a:r>
            <a:endParaRPr lang="en-US" dirty="0"/>
          </a:p>
        </p:txBody>
      </p:sp>
      <p:sp>
        <p:nvSpPr>
          <p:cNvPr id="3" name="Content Placeholder 2"/>
          <p:cNvSpPr>
            <a:spLocks noGrp="1"/>
          </p:cNvSpPr>
          <p:nvPr>
            <p:ph idx="1"/>
          </p:nvPr>
        </p:nvSpPr>
        <p:spPr/>
        <p:txBody>
          <a:bodyPr/>
          <a:lstStyle/>
          <a:p>
            <a:r>
              <a:rPr lang="en-AU" dirty="0" smtClean="0"/>
              <a:t>Tightening/securing brackets and connectors</a:t>
            </a:r>
          </a:p>
          <a:p>
            <a:r>
              <a:rPr lang="en-AU" dirty="0" smtClean="0"/>
              <a:t>Upgrading GPS maps as required</a:t>
            </a:r>
          </a:p>
          <a:p>
            <a:r>
              <a:rPr lang="en-AU" dirty="0" smtClean="0"/>
              <a:t>Replacing unserviceable items (or making arrangements for same)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140</a:t>
            </a:fld>
            <a:endParaRPr lang="en-US" dirty="0"/>
          </a:p>
        </p:txBody>
      </p:sp>
      <p:pic>
        <p:nvPicPr>
          <p:cNvPr id="5" name="Picture 4"/>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15542" b="99387" l="19509" r="72306"/>
                    </a14:imgEffect>
                  </a14:imgLayer>
                </a14:imgProps>
              </a:ext>
              <a:ext uri="{28A0092B-C50C-407E-A947-70E740481C1C}">
                <a14:useLocalDpi xmlns:a14="http://schemas.microsoft.com/office/drawing/2010/main" val="0"/>
              </a:ext>
            </a:extLst>
          </a:blip>
          <a:srcRect l="19288" t="11039" r="21650"/>
          <a:stretch/>
        </p:blipFill>
        <p:spPr>
          <a:xfrm>
            <a:off x="5220072" y="1980165"/>
            <a:ext cx="2448272" cy="2459691"/>
          </a:xfrm>
          <a:prstGeom prst="rect">
            <a:avLst/>
          </a:prstGeom>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load restraints</a:t>
            </a:r>
            <a:endParaRPr lang="en-US" dirty="0"/>
          </a:p>
        </p:txBody>
      </p:sp>
      <p:sp>
        <p:nvSpPr>
          <p:cNvPr id="3" name="Content Placeholder 2"/>
          <p:cNvSpPr>
            <a:spLocks noGrp="1"/>
          </p:cNvSpPr>
          <p:nvPr>
            <p:ph idx="1"/>
          </p:nvPr>
        </p:nvSpPr>
        <p:spPr/>
        <p:txBody>
          <a:bodyPr/>
          <a:lstStyle/>
          <a:p>
            <a:pPr marL="36576" indent="0">
              <a:buNone/>
            </a:pPr>
            <a:r>
              <a:rPr lang="en-US" dirty="0" smtClean="0"/>
              <a:t>Checks to make:</a:t>
            </a:r>
          </a:p>
          <a:p>
            <a:r>
              <a:rPr lang="en-US" dirty="0" smtClean="0"/>
              <a:t>Load anchorages:</a:t>
            </a:r>
          </a:p>
          <a:p>
            <a:r>
              <a:rPr lang="en-US" dirty="0" smtClean="0"/>
              <a:t>Correctly mounted</a:t>
            </a:r>
          </a:p>
          <a:p>
            <a:r>
              <a:rPr lang="en-US" dirty="0" smtClean="0"/>
              <a:t>Not loose</a:t>
            </a:r>
          </a:p>
          <a:p>
            <a:r>
              <a:rPr lang="en-US" dirty="0" smtClean="0"/>
              <a:t>No visible rust/corrosion</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141</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90664" y="1988840"/>
            <a:ext cx="3048000" cy="2033016"/>
          </a:xfrm>
          <a:prstGeom prst="rect">
            <a:avLst/>
          </a:prstGeom>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load restraints</a:t>
            </a:r>
            <a:endParaRPr lang="en-US" dirty="0"/>
          </a:p>
        </p:txBody>
      </p:sp>
      <p:sp>
        <p:nvSpPr>
          <p:cNvPr id="3" name="Content Placeholder 2"/>
          <p:cNvSpPr>
            <a:spLocks noGrp="1"/>
          </p:cNvSpPr>
          <p:nvPr>
            <p:ph idx="1"/>
          </p:nvPr>
        </p:nvSpPr>
        <p:spPr/>
        <p:txBody>
          <a:bodyPr/>
          <a:lstStyle/>
          <a:p>
            <a:pPr marL="36576" indent="0">
              <a:buNone/>
            </a:pPr>
            <a:r>
              <a:rPr lang="en-US" dirty="0" smtClean="0"/>
              <a:t>Retention devices, baggage and cargo restraints:</a:t>
            </a:r>
          </a:p>
          <a:p>
            <a:r>
              <a:rPr lang="en-US" dirty="0" smtClean="0"/>
              <a:t>Securely fitted and not loose</a:t>
            </a:r>
          </a:p>
          <a:p>
            <a:r>
              <a:rPr lang="en-US" dirty="0" smtClean="0"/>
              <a:t>Operate as intended</a:t>
            </a:r>
          </a:p>
          <a:p>
            <a:r>
              <a:rPr lang="en-US" dirty="0" smtClean="0"/>
              <a:t>Effective/suitable for expected load/s</a:t>
            </a:r>
          </a:p>
          <a:p>
            <a:r>
              <a:rPr lang="en-US" dirty="0" smtClean="0"/>
              <a:t>No corrosion</a:t>
            </a:r>
          </a:p>
          <a:p>
            <a:pPr marL="146304"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142</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2024485"/>
            <a:ext cx="3048000" cy="2033016"/>
          </a:xfrm>
          <a:prstGeom prst="rect">
            <a:avLst/>
          </a:prstGeom>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load restraints</a:t>
            </a:r>
            <a:endParaRPr lang="en-US" dirty="0"/>
          </a:p>
        </p:txBody>
      </p:sp>
      <p:sp>
        <p:nvSpPr>
          <p:cNvPr id="3" name="Content Placeholder 2"/>
          <p:cNvSpPr>
            <a:spLocks noGrp="1"/>
          </p:cNvSpPr>
          <p:nvPr>
            <p:ph idx="1"/>
          </p:nvPr>
        </p:nvSpPr>
        <p:spPr/>
        <p:txBody>
          <a:bodyPr/>
          <a:lstStyle/>
          <a:p>
            <a:r>
              <a:rPr lang="en-US" dirty="0" smtClean="0"/>
              <a:t>Condition of straps, webbing and nets</a:t>
            </a:r>
          </a:p>
          <a:p>
            <a:r>
              <a:rPr lang="en-US" dirty="0" smtClean="0"/>
              <a:t>Make sure all straps are present</a:t>
            </a:r>
          </a:p>
          <a:p>
            <a:r>
              <a:rPr lang="en-US" dirty="0" smtClean="0"/>
              <a:t>Confirm operation of ratchets and rollers</a:t>
            </a:r>
          </a:p>
          <a:p>
            <a:r>
              <a:rPr lang="en-US" dirty="0" smtClean="0"/>
              <a:t>Confirm D-rings and other attachments are in place and undamaged</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143</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0102" y="2005880"/>
            <a:ext cx="3992843" cy="2647255"/>
          </a:xfrm>
          <a:prstGeom prst="rect">
            <a:avLst/>
          </a:prstGeom>
        </p:spPr>
      </p:pic>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load restraints</a:t>
            </a:r>
            <a:endParaRPr lang="en-US" dirty="0"/>
          </a:p>
        </p:txBody>
      </p:sp>
      <p:sp>
        <p:nvSpPr>
          <p:cNvPr id="3" name="Content Placeholder 2"/>
          <p:cNvSpPr>
            <a:spLocks noGrp="1"/>
          </p:cNvSpPr>
          <p:nvPr>
            <p:ph idx="1"/>
          </p:nvPr>
        </p:nvSpPr>
        <p:spPr/>
        <p:txBody>
          <a:bodyPr/>
          <a:lstStyle/>
          <a:p>
            <a:pPr marL="36576" indent="0">
              <a:buNone/>
            </a:pPr>
            <a:r>
              <a:rPr lang="en-US" dirty="0" smtClean="0"/>
              <a:t>Cab guards:</a:t>
            </a:r>
          </a:p>
          <a:p>
            <a:r>
              <a:rPr lang="en-US" dirty="0" smtClean="0"/>
              <a:t>Mounting points solid</a:t>
            </a:r>
          </a:p>
          <a:p>
            <a:r>
              <a:rPr lang="en-US" dirty="0" smtClean="0"/>
              <a:t>Unit is rigid</a:t>
            </a:r>
          </a:p>
          <a:p>
            <a:r>
              <a:rPr lang="en-US" dirty="0" smtClean="0"/>
              <a:t>Windows protected</a:t>
            </a:r>
          </a:p>
          <a:p>
            <a:r>
              <a:rPr lang="en-US" dirty="0" smtClean="0"/>
              <a:t>No corrosion</a:t>
            </a:r>
          </a:p>
          <a:p>
            <a:r>
              <a:rPr lang="en-US" dirty="0" smtClean="0"/>
              <a:t>No damage which compromises integrity</a:t>
            </a:r>
          </a:p>
          <a:p>
            <a:pPr marL="146304"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144</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372472" y="2126341"/>
            <a:ext cx="2017486" cy="3110881"/>
          </a:xfrm>
          <a:prstGeom prst="rect">
            <a:avLst/>
          </a:prstGeom>
        </p:spPr>
      </p:pic>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load restraints</a:t>
            </a:r>
            <a:endParaRPr lang="en-US" dirty="0"/>
          </a:p>
        </p:txBody>
      </p:sp>
      <p:sp>
        <p:nvSpPr>
          <p:cNvPr id="3" name="Content Placeholder 2"/>
          <p:cNvSpPr>
            <a:spLocks noGrp="1"/>
          </p:cNvSpPr>
          <p:nvPr>
            <p:ph idx="1"/>
          </p:nvPr>
        </p:nvSpPr>
        <p:spPr/>
        <p:txBody>
          <a:bodyPr/>
          <a:lstStyle/>
          <a:p>
            <a:r>
              <a:rPr lang="en-US" dirty="0" smtClean="0"/>
              <a:t>No loose parts</a:t>
            </a:r>
          </a:p>
          <a:p>
            <a:r>
              <a:rPr lang="en-US" dirty="0" smtClean="0"/>
              <a:t>Mesh/wire does not present cutting hazard</a:t>
            </a:r>
          </a:p>
          <a:p>
            <a:r>
              <a:rPr lang="en-US" dirty="0" smtClean="0"/>
              <a:t>Required vision from driver’s position is not obstructed</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145</a:t>
            </a:fld>
            <a:endParaRPr lang="en-US" dirty="0"/>
          </a:p>
        </p:txBody>
      </p:sp>
      <p:pic>
        <p:nvPicPr>
          <p:cNvPr id="5" name="Picture 4"/>
          <p:cNvPicPr>
            <a:picLocks noChangeAspect="1"/>
          </p:cNvPicPr>
          <p:nvPr/>
        </p:nvPicPr>
        <p:blipFill rotWithShape="1">
          <a:blip r:embed="rId3" cstate="screen">
            <a:clrChange>
              <a:clrFrom>
                <a:srgbClr val="F8F8F8"/>
              </a:clrFrom>
              <a:clrTo>
                <a:srgbClr val="F8F8F8">
                  <a:alpha val="0"/>
                </a:srgbClr>
              </a:clrTo>
            </a:clrChange>
            <a:extLst>
              <a:ext uri="{28A0092B-C50C-407E-A947-70E740481C1C}">
                <a14:useLocalDpi xmlns:a14="http://schemas.microsoft.com/office/drawing/2010/main"/>
              </a:ext>
            </a:extLst>
          </a:blip>
          <a:srcRect/>
          <a:stretch/>
        </p:blipFill>
        <p:spPr>
          <a:xfrm>
            <a:off x="4499992" y="2492896"/>
            <a:ext cx="3151620" cy="2880000"/>
          </a:xfrm>
          <a:prstGeom prst="rect">
            <a:avLst/>
          </a:prstGeom>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load restraints</a:t>
            </a:r>
            <a:endParaRPr lang="en-US" dirty="0"/>
          </a:p>
        </p:txBody>
      </p:sp>
      <p:sp>
        <p:nvSpPr>
          <p:cNvPr id="3" name="Content Placeholder 2"/>
          <p:cNvSpPr>
            <a:spLocks noGrp="1"/>
          </p:cNvSpPr>
          <p:nvPr>
            <p:ph idx="1"/>
          </p:nvPr>
        </p:nvSpPr>
        <p:spPr/>
        <p:txBody>
          <a:bodyPr/>
          <a:lstStyle/>
          <a:p>
            <a:pPr marL="36576" indent="0">
              <a:buNone/>
            </a:pPr>
            <a:r>
              <a:rPr lang="en-US" dirty="0" smtClean="0"/>
              <a:t>Headboards, sideboards and tailboards:</a:t>
            </a:r>
          </a:p>
          <a:p>
            <a:r>
              <a:rPr lang="en-US" dirty="0" smtClean="0"/>
              <a:t>Operate as intended</a:t>
            </a:r>
          </a:p>
          <a:p>
            <a:r>
              <a:rPr lang="en-US" dirty="0" smtClean="0"/>
              <a:t>Boards securely attached</a:t>
            </a:r>
          </a:p>
          <a:p>
            <a:r>
              <a:rPr lang="en-US" dirty="0" smtClean="0"/>
              <a:t>Boards can be locked in position</a:t>
            </a:r>
          </a:p>
          <a:p>
            <a:r>
              <a:rPr lang="en-US" dirty="0" smtClean="0"/>
              <a:t>No missing fasteners</a:t>
            </a:r>
          </a:p>
          <a:p>
            <a:pPr marL="146304"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146</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292080" y="1988840"/>
            <a:ext cx="2335431" cy="3420000"/>
          </a:xfrm>
          <a:prstGeom prst="rect">
            <a:avLst/>
          </a:prstGeom>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load restraints</a:t>
            </a:r>
            <a:endParaRPr lang="en-US" dirty="0"/>
          </a:p>
        </p:txBody>
      </p:sp>
      <p:sp>
        <p:nvSpPr>
          <p:cNvPr id="3" name="Content Placeholder 2"/>
          <p:cNvSpPr>
            <a:spLocks noGrp="1"/>
          </p:cNvSpPr>
          <p:nvPr>
            <p:ph idx="1"/>
          </p:nvPr>
        </p:nvSpPr>
        <p:spPr/>
        <p:txBody>
          <a:bodyPr/>
          <a:lstStyle/>
          <a:p>
            <a:r>
              <a:rPr lang="en-US" dirty="0" smtClean="0"/>
              <a:t>No rust</a:t>
            </a:r>
          </a:p>
          <a:p>
            <a:r>
              <a:rPr lang="en-US" dirty="0" smtClean="0"/>
              <a:t>No cracks or fractures</a:t>
            </a:r>
          </a:p>
          <a:p>
            <a:r>
              <a:rPr lang="en-US" dirty="0" smtClean="0"/>
              <a:t>No significant distortion</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147</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292080" y="2320663"/>
            <a:ext cx="1828623" cy="3240000"/>
          </a:xfrm>
          <a:prstGeom prst="rect">
            <a:avLst/>
          </a:prstGeom>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load restraints</a:t>
            </a:r>
            <a:endParaRPr lang="en-US" dirty="0"/>
          </a:p>
        </p:txBody>
      </p:sp>
      <p:sp>
        <p:nvSpPr>
          <p:cNvPr id="3" name="Content Placeholder 2"/>
          <p:cNvSpPr>
            <a:spLocks noGrp="1"/>
          </p:cNvSpPr>
          <p:nvPr>
            <p:ph idx="1"/>
          </p:nvPr>
        </p:nvSpPr>
        <p:spPr/>
        <p:txBody>
          <a:bodyPr/>
          <a:lstStyle/>
          <a:p>
            <a:pPr marL="36576" indent="0">
              <a:buNone/>
            </a:pPr>
            <a:r>
              <a:rPr lang="en-US" dirty="0" smtClean="0"/>
              <a:t>Curtain systems:</a:t>
            </a:r>
          </a:p>
          <a:p>
            <a:r>
              <a:rPr lang="en-US" dirty="0" smtClean="0"/>
              <a:t>Not ripped/torn, deteriorated or damaged</a:t>
            </a:r>
          </a:p>
          <a:p>
            <a:r>
              <a:rPr lang="en-US" dirty="0" smtClean="0"/>
              <a:t>Securely attached</a:t>
            </a:r>
          </a:p>
          <a:p>
            <a:r>
              <a:rPr lang="en-US" dirty="0" smtClean="0"/>
              <a:t>Repairs made are still OK</a:t>
            </a:r>
          </a:p>
          <a:p>
            <a:r>
              <a:rPr lang="en-US" dirty="0" smtClean="0"/>
              <a:t>Correct rating being used</a:t>
            </a:r>
          </a:p>
          <a:p>
            <a:r>
              <a:rPr lang="en-US" dirty="0" smtClean="0"/>
              <a:t>Tensioning components fully functional</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148</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076056" y="2013642"/>
            <a:ext cx="3294422" cy="2991601"/>
          </a:xfrm>
          <a:prstGeom prst="rect">
            <a:avLst/>
          </a:prstGeom>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load restraints</a:t>
            </a:r>
            <a:endParaRPr lang="en-US" dirty="0"/>
          </a:p>
        </p:txBody>
      </p:sp>
      <p:sp>
        <p:nvSpPr>
          <p:cNvPr id="3" name="Content Placeholder 2"/>
          <p:cNvSpPr>
            <a:spLocks noGrp="1"/>
          </p:cNvSpPr>
          <p:nvPr>
            <p:ph idx="1"/>
          </p:nvPr>
        </p:nvSpPr>
        <p:spPr/>
        <p:txBody>
          <a:bodyPr/>
          <a:lstStyle/>
          <a:p>
            <a:pPr marL="36576" indent="0">
              <a:buNone/>
            </a:pPr>
            <a:r>
              <a:rPr lang="en-US" dirty="0" smtClean="0"/>
              <a:t>Possible adjustments:</a:t>
            </a:r>
          </a:p>
          <a:p>
            <a:r>
              <a:rPr lang="en-AU" dirty="0" smtClean="0"/>
              <a:t>Cleaning</a:t>
            </a:r>
          </a:p>
          <a:p>
            <a:r>
              <a:rPr lang="en-AU" dirty="0" smtClean="0"/>
              <a:t>Welding broken/damaged parts</a:t>
            </a:r>
          </a:p>
          <a:p>
            <a:r>
              <a:rPr lang="en-AU" dirty="0" smtClean="0"/>
              <a:t>Replacing straps, webbing and nets</a:t>
            </a:r>
          </a:p>
          <a:p>
            <a:r>
              <a:rPr lang="en-AU" dirty="0" smtClean="0"/>
              <a:t>Replacing anchor points, bolts and/or other connectors</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149</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436096" y="2016990"/>
            <a:ext cx="2286000" cy="3048000"/>
          </a:xfrm>
          <a:prstGeom prst="rect">
            <a:avLst/>
          </a:prstGeom>
        </p:spPr>
      </p:pic>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adjust load restraints</a:t>
            </a:r>
            <a:endParaRPr lang="en-US" dirty="0"/>
          </a:p>
        </p:txBody>
      </p:sp>
      <p:sp>
        <p:nvSpPr>
          <p:cNvPr id="3" name="Content Placeholder 2"/>
          <p:cNvSpPr>
            <a:spLocks noGrp="1"/>
          </p:cNvSpPr>
          <p:nvPr>
            <p:ph idx="1"/>
          </p:nvPr>
        </p:nvSpPr>
        <p:spPr/>
        <p:txBody>
          <a:bodyPr/>
          <a:lstStyle/>
          <a:p>
            <a:r>
              <a:rPr lang="en-AU" dirty="0" smtClean="0"/>
              <a:t>Repairing and/or replacing boards and curtains</a:t>
            </a:r>
          </a:p>
          <a:p>
            <a:r>
              <a:rPr lang="en-AU" dirty="0" smtClean="0"/>
              <a:t>Replacing defective parts</a:t>
            </a:r>
          </a:p>
          <a:p>
            <a:r>
              <a:rPr lang="en-AU" dirty="0" smtClean="0"/>
              <a:t>Greasing moveable parts</a:t>
            </a:r>
          </a:p>
          <a:p>
            <a:r>
              <a:rPr lang="en-AU" dirty="0" smtClean="0"/>
              <a:t>Fitting items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150</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796136" y="1939314"/>
            <a:ext cx="1632586" cy="3240000"/>
          </a:xfrm>
          <a:prstGeom prst="rect">
            <a:avLst/>
          </a:prstGeom>
        </p:spPr>
      </p:pic>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replenish on-board emergency equipment and supplies</a:t>
            </a:r>
            <a:endParaRPr lang="en-US" dirty="0"/>
          </a:p>
        </p:txBody>
      </p:sp>
      <p:sp>
        <p:nvSpPr>
          <p:cNvPr id="3" name="Content Placeholder 2"/>
          <p:cNvSpPr>
            <a:spLocks noGrp="1"/>
          </p:cNvSpPr>
          <p:nvPr>
            <p:ph idx="1"/>
          </p:nvPr>
        </p:nvSpPr>
        <p:spPr/>
        <p:txBody>
          <a:bodyPr/>
          <a:lstStyle/>
          <a:p>
            <a:pPr marL="36576" indent="0">
              <a:buNone/>
            </a:pPr>
            <a:r>
              <a:rPr lang="en-US" dirty="0" smtClean="0"/>
              <a:t>Checks can include:</a:t>
            </a:r>
          </a:p>
          <a:p>
            <a:r>
              <a:rPr lang="en-US" dirty="0" smtClean="0"/>
              <a:t>Jacks:</a:t>
            </a:r>
          </a:p>
          <a:p>
            <a:pPr lvl="1"/>
            <a:r>
              <a:rPr lang="en-US" dirty="0" smtClean="0"/>
              <a:t>Correct type and number for vehicle</a:t>
            </a:r>
          </a:p>
          <a:p>
            <a:pPr lvl="1"/>
            <a:r>
              <a:rPr lang="en-US" dirty="0" smtClean="0"/>
              <a:t>All components present</a:t>
            </a:r>
          </a:p>
          <a:p>
            <a:pPr lvl="1"/>
            <a:r>
              <a:rPr lang="en-US" dirty="0" smtClean="0"/>
              <a:t>Wheel brace present</a:t>
            </a:r>
          </a:p>
          <a:p>
            <a:pPr lvl="1"/>
            <a:r>
              <a:rPr lang="en-US" dirty="0" smtClean="0"/>
              <a:t>Confirm operation</a:t>
            </a:r>
          </a:p>
          <a:p>
            <a:pPr lvl="1"/>
            <a:r>
              <a:rPr lang="en-US" dirty="0" smtClean="0"/>
              <a:t>Grease jack screws</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151</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16079" y="2420888"/>
            <a:ext cx="4318321" cy="2880320"/>
          </a:xfrm>
          <a:prstGeom prst="rect">
            <a:avLst/>
          </a:prstGeom>
        </p:spPr>
      </p:pic>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replenish on-board emergency equipment and supplies</a:t>
            </a:r>
            <a:endParaRPr lang="en-US" dirty="0"/>
          </a:p>
        </p:txBody>
      </p:sp>
      <p:sp>
        <p:nvSpPr>
          <p:cNvPr id="3" name="Content Placeholder 2"/>
          <p:cNvSpPr>
            <a:spLocks noGrp="1"/>
          </p:cNvSpPr>
          <p:nvPr>
            <p:ph idx="1"/>
          </p:nvPr>
        </p:nvSpPr>
        <p:spPr/>
        <p:txBody>
          <a:bodyPr/>
          <a:lstStyle/>
          <a:p>
            <a:pPr marL="36576" indent="0">
              <a:buNone/>
            </a:pPr>
            <a:r>
              <a:rPr lang="en-US" dirty="0" smtClean="0"/>
              <a:t>Tool kit:</a:t>
            </a:r>
          </a:p>
          <a:p>
            <a:r>
              <a:rPr lang="en-US" dirty="0" smtClean="0"/>
              <a:t>In required/designated location</a:t>
            </a:r>
          </a:p>
          <a:p>
            <a:r>
              <a:rPr lang="en-US" dirty="0" smtClean="0"/>
              <a:t>Open it to inspect/check it</a:t>
            </a:r>
          </a:p>
          <a:p>
            <a:r>
              <a:rPr lang="en-US" dirty="0" smtClean="0"/>
              <a:t>All items present</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152</a:t>
            </a:fld>
            <a:endParaRPr lang="en-US" dirty="0"/>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t="14564" b="5113"/>
          <a:stretch/>
        </p:blipFill>
        <p:spPr>
          <a:xfrm>
            <a:off x="4504765" y="1988840"/>
            <a:ext cx="2878746" cy="3456384"/>
          </a:xfrm>
          <a:prstGeom prst="rect">
            <a:avLst/>
          </a:prstGeom>
        </p:spPr>
      </p:pic>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replenish on-board emergency equipment and supplies</a:t>
            </a:r>
            <a:endParaRPr lang="en-US" dirty="0"/>
          </a:p>
        </p:txBody>
      </p:sp>
      <p:sp>
        <p:nvSpPr>
          <p:cNvPr id="3" name="Content Placeholder 2"/>
          <p:cNvSpPr>
            <a:spLocks noGrp="1"/>
          </p:cNvSpPr>
          <p:nvPr>
            <p:ph idx="1"/>
          </p:nvPr>
        </p:nvSpPr>
        <p:spPr/>
        <p:txBody>
          <a:bodyPr/>
          <a:lstStyle/>
          <a:p>
            <a:pPr marL="36576" indent="0">
              <a:buNone/>
            </a:pPr>
            <a:r>
              <a:rPr lang="en-US" dirty="0" smtClean="0"/>
              <a:t>Spare parts:</a:t>
            </a:r>
          </a:p>
          <a:p>
            <a:r>
              <a:rPr lang="en-US" dirty="0" smtClean="0"/>
              <a:t>Confirm all required items are present</a:t>
            </a:r>
          </a:p>
          <a:p>
            <a:r>
              <a:rPr lang="en-US" dirty="0" smtClean="0"/>
              <a:t>Replace missing items</a:t>
            </a:r>
          </a:p>
          <a:p>
            <a:r>
              <a:rPr lang="en-US" dirty="0" smtClean="0"/>
              <a:t>Double-check items are correct for the vehicle</a:t>
            </a:r>
          </a:p>
          <a:p>
            <a:r>
              <a:rPr lang="en-US" dirty="0" smtClean="0"/>
              <a:t>Add new items as required</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153</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148064" y="1977019"/>
            <a:ext cx="2592288" cy="3539893"/>
          </a:xfrm>
          <a:prstGeom prst="rect">
            <a:avLst/>
          </a:prstGeom>
        </p:spPr>
      </p:pic>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replenish on-board emergency equipment and supplies</a:t>
            </a:r>
            <a:endParaRPr lang="en-US" dirty="0"/>
          </a:p>
        </p:txBody>
      </p:sp>
      <p:sp>
        <p:nvSpPr>
          <p:cNvPr id="3" name="Content Placeholder 2"/>
          <p:cNvSpPr>
            <a:spLocks noGrp="1"/>
          </p:cNvSpPr>
          <p:nvPr>
            <p:ph idx="1"/>
          </p:nvPr>
        </p:nvSpPr>
        <p:spPr/>
        <p:txBody>
          <a:bodyPr/>
          <a:lstStyle/>
          <a:p>
            <a:pPr marL="36576" indent="0">
              <a:buNone/>
            </a:pPr>
            <a:r>
              <a:rPr lang="en-US" dirty="0" smtClean="0"/>
              <a:t>Spare tyre/s:</a:t>
            </a:r>
          </a:p>
          <a:p>
            <a:r>
              <a:rPr lang="en-US" dirty="0" smtClean="0"/>
              <a:t>Correct number</a:t>
            </a:r>
          </a:p>
          <a:p>
            <a:r>
              <a:rPr lang="en-US" dirty="0" smtClean="0"/>
              <a:t>Correct type and tread</a:t>
            </a:r>
          </a:p>
          <a:p>
            <a:r>
              <a:rPr lang="en-US" dirty="0" smtClean="0"/>
              <a:t>In good/safe condition</a:t>
            </a:r>
          </a:p>
          <a:p>
            <a:r>
              <a:rPr lang="en-US" dirty="0" smtClean="0"/>
              <a:t>Check inflation</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154</a:t>
            </a:fld>
            <a:endParaRPr lang="en-US" dirty="0"/>
          </a:p>
        </p:txBody>
      </p:sp>
      <p:grpSp>
        <p:nvGrpSpPr>
          <p:cNvPr id="8" name="Group 7"/>
          <p:cNvGrpSpPr/>
          <p:nvPr/>
        </p:nvGrpSpPr>
        <p:grpSpPr>
          <a:xfrm>
            <a:off x="4038600" y="1988841"/>
            <a:ext cx="4114800" cy="2880320"/>
            <a:chOff x="4038600" y="1988841"/>
            <a:chExt cx="4114800" cy="2880320"/>
          </a:xfrm>
        </p:grpSpPr>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b="4001"/>
            <a:stretch/>
          </p:blipFill>
          <p:spPr>
            <a:xfrm>
              <a:off x="4038600" y="1988841"/>
              <a:ext cx="4114800" cy="2880320"/>
            </a:xfrm>
            <a:prstGeom prst="rect">
              <a:avLst/>
            </a:prstGeom>
          </p:spPr>
        </p:pic>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900640" y="3769314"/>
              <a:ext cx="871200" cy="397850"/>
            </a:xfrm>
            <a:prstGeom prst="rect">
              <a:avLst/>
            </a:prstGeom>
          </p:spPr>
        </p:pic>
      </p:gr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replenish on-board emergency equipment and supplies</a:t>
            </a:r>
            <a:endParaRPr lang="en-US" dirty="0"/>
          </a:p>
        </p:txBody>
      </p:sp>
      <p:sp>
        <p:nvSpPr>
          <p:cNvPr id="3" name="Content Placeholder 2"/>
          <p:cNvSpPr>
            <a:spLocks noGrp="1"/>
          </p:cNvSpPr>
          <p:nvPr>
            <p:ph idx="1"/>
          </p:nvPr>
        </p:nvSpPr>
        <p:spPr/>
        <p:txBody>
          <a:bodyPr/>
          <a:lstStyle/>
          <a:p>
            <a:pPr marL="36576" indent="0">
              <a:buNone/>
            </a:pPr>
            <a:r>
              <a:rPr lang="en-US" dirty="0" smtClean="0"/>
              <a:t>Tyre chains:</a:t>
            </a:r>
          </a:p>
          <a:p>
            <a:r>
              <a:rPr lang="en-US" dirty="0" smtClean="0"/>
              <a:t>Sufficient/correct number as required</a:t>
            </a:r>
          </a:p>
          <a:p>
            <a:r>
              <a:rPr lang="en-US" dirty="0" smtClean="0"/>
              <a:t>Gloves available</a:t>
            </a:r>
          </a:p>
          <a:p>
            <a:r>
              <a:rPr lang="en-US" dirty="0" smtClean="0"/>
              <a:t>Right size</a:t>
            </a:r>
          </a:p>
          <a:p>
            <a:r>
              <a:rPr lang="en-US" dirty="0" smtClean="0"/>
              <a:t>No missing/damaged hooks or links</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155</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1998462"/>
            <a:ext cx="3048000" cy="2033016"/>
          </a:xfrm>
          <a:prstGeom prst="rect">
            <a:avLst/>
          </a:prstGeom>
        </p:spPr>
      </p:pic>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replenish on-board emergency equipment and supplies</a:t>
            </a:r>
            <a:endParaRPr lang="en-US" dirty="0"/>
          </a:p>
        </p:txBody>
      </p:sp>
      <p:sp>
        <p:nvSpPr>
          <p:cNvPr id="3" name="Content Placeholder 2"/>
          <p:cNvSpPr>
            <a:spLocks noGrp="1"/>
          </p:cNvSpPr>
          <p:nvPr>
            <p:ph idx="1"/>
          </p:nvPr>
        </p:nvSpPr>
        <p:spPr/>
        <p:txBody>
          <a:bodyPr/>
          <a:lstStyle/>
          <a:p>
            <a:pPr marL="36576" indent="0">
              <a:buNone/>
            </a:pPr>
            <a:r>
              <a:rPr lang="en-US" dirty="0" smtClean="0"/>
              <a:t>Tyre studs:</a:t>
            </a:r>
          </a:p>
          <a:p>
            <a:r>
              <a:rPr lang="en-US" dirty="0" smtClean="0"/>
              <a:t>Sufficient tread depth on tyres to be fitted</a:t>
            </a:r>
          </a:p>
          <a:p>
            <a:r>
              <a:rPr lang="en-US" dirty="0" smtClean="0"/>
              <a:t>Sufficient studs available</a:t>
            </a:r>
          </a:p>
          <a:p>
            <a:r>
              <a:rPr lang="en-US" dirty="0" smtClean="0"/>
              <a:t>Studs correct length as required</a:t>
            </a:r>
          </a:p>
          <a:p>
            <a:r>
              <a:rPr lang="en-US" dirty="0" smtClean="0"/>
              <a:t>Stud gun available</a:t>
            </a:r>
          </a:p>
          <a:p>
            <a:r>
              <a:rPr lang="en-US" dirty="0" smtClean="0"/>
              <a:t>No studs in tyres where not required</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156</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64088" y="1988840"/>
            <a:ext cx="2033016" cy="3048000"/>
          </a:xfrm>
          <a:prstGeom prst="rect">
            <a:avLst/>
          </a:prstGeom>
        </p:spPr>
      </p:pic>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replenish on-board emergency equipment and supplies</a:t>
            </a:r>
            <a:endParaRPr lang="en-US" dirty="0"/>
          </a:p>
        </p:txBody>
      </p:sp>
      <p:sp>
        <p:nvSpPr>
          <p:cNvPr id="3" name="Content Placeholder 2"/>
          <p:cNvSpPr>
            <a:spLocks noGrp="1"/>
          </p:cNvSpPr>
          <p:nvPr>
            <p:ph idx="1"/>
          </p:nvPr>
        </p:nvSpPr>
        <p:spPr/>
        <p:txBody>
          <a:bodyPr/>
          <a:lstStyle/>
          <a:p>
            <a:pPr marL="36576" indent="0">
              <a:buNone/>
            </a:pPr>
            <a:r>
              <a:rPr lang="en-US" dirty="0" smtClean="0"/>
              <a:t>Recovery equipment:</a:t>
            </a:r>
          </a:p>
          <a:p>
            <a:r>
              <a:rPr lang="en-US" dirty="0" smtClean="0"/>
              <a:t>Operation of electric winch – where fitted</a:t>
            </a:r>
          </a:p>
          <a:p>
            <a:r>
              <a:rPr lang="en-US" dirty="0" smtClean="0"/>
              <a:t>Presence of recovery/safety blanket for winch cable</a:t>
            </a:r>
          </a:p>
          <a:p>
            <a:r>
              <a:rPr lang="en-US" dirty="0" smtClean="0"/>
              <a:t>Presence of snatch strap, snatch block and shackles</a:t>
            </a:r>
          </a:p>
          <a:p>
            <a:r>
              <a:rPr lang="en-US" dirty="0" smtClean="0"/>
              <a:t>Presence of safety gloves and tree protector</a:t>
            </a:r>
          </a:p>
          <a:p>
            <a:r>
              <a:rPr lang="en-US" dirty="0" smtClean="0"/>
              <a:t>Presence of tyre gauge and rails/racks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157</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30552" y="2034030"/>
            <a:ext cx="3048000" cy="2033016"/>
          </a:xfrm>
          <a:prstGeom prst="rect">
            <a:avLst/>
          </a:prstGeom>
        </p:spPr>
      </p:pic>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replenish on-board emergency equipment and supplies</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Additional emergency equipment checks:</a:t>
            </a:r>
          </a:p>
          <a:p>
            <a:r>
              <a:rPr lang="en-US" dirty="0" smtClean="0"/>
              <a:t>Fire extinguishers:</a:t>
            </a:r>
          </a:p>
          <a:p>
            <a:r>
              <a:rPr lang="en-US" dirty="0" smtClean="0"/>
              <a:t>Correct type, number and rating</a:t>
            </a:r>
          </a:p>
          <a:p>
            <a:r>
              <a:rPr lang="en-US" dirty="0" smtClean="0"/>
              <a:t>Located in correct position</a:t>
            </a:r>
          </a:p>
          <a:p>
            <a:r>
              <a:rPr lang="en-US" dirty="0" smtClean="0"/>
              <a:t>Have been regularly inspected</a:t>
            </a:r>
          </a:p>
          <a:p>
            <a:r>
              <a:rPr lang="en-US" dirty="0" smtClean="0"/>
              <a:t>Pressure gauge (where fitted) is in green</a:t>
            </a:r>
          </a:p>
          <a:p>
            <a:pPr marL="146304"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158</a:t>
            </a:fld>
            <a:endParaRPr lang="en-US" dirty="0"/>
          </a:p>
        </p:txBody>
      </p:sp>
      <p:pic>
        <p:nvPicPr>
          <p:cNvPr id="5" name="Picture 4"/>
          <p:cNvPicPr>
            <a:picLocks noChangeAspect="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20737" r="22186"/>
          <a:stretch/>
        </p:blipFill>
        <p:spPr>
          <a:xfrm>
            <a:off x="5436096" y="1844824"/>
            <a:ext cx="2160240" cy="3784775"/>
          </a:xfrm>
          <a:prstGeom prst="rect">
            <a:avLst/>
          </a:prstGeom>
        </p:spPr>
      </p:pic>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replenish on-board emergency equipment and supplies</a:t>
            </a:r>
            <a:endParaRPr lang="en-US" dirty="0"/>
          </a:p>
        </p:txBody>
      </p:sp>
      <p:sp>
        <p:nvSpPr>
          <p:cNvPr id="3" name="Content Placeholder 2"/>
          <p:cNvSpPr>
            <a:spLocks noGrp="1"/>
          </p:cNvSpPr>
          <p:nvPr>
            <p:ph idx="1"/>
          </p:nvPr>
        </p:nvSpPr>
        <p:spPr/>
        <p:txBody>
          <a:bodyPr/>
          <a:lstStyle/>
          <a:p>
            <a:r>
              <a:rPr lang="en-US" dirty="0" smtClean="0"/>
              <a:t>Has not been used</a:t>
            </a:r>
          </a:p>
          <a:p>
            <a:r>
              <a:rPr lang="en-US" dirty="0" smtClean="0"/>
              <a:t>Nozzles are clear</a:t>
            </a:r>
          </a:p>
          <a:p>
            <a:r>
              <a:rPr lang="en-US" dirty="0" smtClean="0"/>
              <a:t>All parts present and not damages</a:t>
            </a:r>
          </a:p>
          <a:p>
            <a:r>
              <a:rPr lang="en-US" dirty="0" smtClean="0"/>
              <a:t>Brackets are secure</a:t>
            </a:r>
          </a:p>
          <a:p>
            <a:r>
              <a:rPr lang="en-US" dirty="0" smtClean="0"/>
              <a:t>Maintenance has been documented</a:t>
            </a:r>
          </a:p>
          <a:p>
            <a:r>
              <a:rPr lang="en-US" dirty="0" smtClean="0"/>
              <a:t>Stamped tag attached (as required by local agency)</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159</a:t>
            </a:fld>
            <a:endParaRPr lang="en-US" dirty="0"/>
          </a:p>
        </p:txBody>
      </p:sp>
      <p:pic>
        <p:nvPicPr>
          <p:cNvPr id="5" name="Picture 4"/>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067944" y="1943893"/>
            <a:ext cx="4501497" cy="2880000"/>
          </a:xfrm>
          <a:prstGeom prst="rect">
            <a:avLst/>
          </a:prstGeom>
        </p:spPr>
      </p:pic>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replenish on-board emergency equipment and supplies</a:t>
            </a:r>
            <a:endParaRPr lang="en-US" dirty="0"/>
          </a:p>
        </p:txBody>
      </p:sp>
      <p:sp>
        <p:nvSpPr>
          <p:cNvPr id="3" name="Content Placeholder 2"/>
          <p:cNvSpPr>
            <a:spLocks noGrp="1"/>
          </p:cNvSpPr>
          <p:nvPr>
            <p:ph idx="1"/>
          </p:nvPr>
        </p:nvSpPr>
        <p:spPr/>
        <p:txBody>
          <a:bodyPr/>
          <a:lstStyle/>
          <a:p>
            <a:pPr marL="36576" indent="0">
              <a:buNone/>
            </a:pPr>
            <a:r>
              <a:rPr lang="en-US" dirty="0" smtClean="0"/>
              <a:t>First aid kits:</a:t>
            </a:r>
          </a:p>
          <a:p>
            <a:r>
              <a:rPr lang="en-US" dirty="0" smtClean="0"/>
              <a:t>Required number</a:t>
            </a:r>
          </a:p>
          <a:p>
            <a:r>
              <a:rPr lang="en-US" dirty="0" smtClean="0"/>
              <a:t>In correct location</a:t>
            </a:r>
          </a:p>
          <a:p>
            <a:r>
              <a:rPr lang="en-US" dirty="0" smtClean="0"/>
              <a:t>All items present including First Aid book</a:t>
            </a:r>
          </a:p>
          <a:p>
            <a:r>
              <a:rPr lang="en-US" dirty="0" smtClean="0"/>
              <a:t>Add/replace items as required</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160</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88024" y="2042800"/>
            <a:ext cx="3397424" cy="2264949"/>
          </a:xfrm>
          <a:prstGeom prst="rect">
            <a:avLst/>
          </a:prstGeom>
        </p:spPr>
      </p:pic>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replenish on-board emergency equipment and supplies</a:t>
            </a:r>
            <a:endParaRPr lang="en-US" dirty="0"/>
          </a:p>
        </p:txBody>
      </p:sp>
      <p:sp>
        <p:nvSpPr>
          <p:cNvPr id="3" name="Content Placeholder 2"/>
          <p:cNvSpPr>
            <a:spLocks noGrp="1"/>
          </p:cNvSpPr>
          <p:nvPr>
            <p:ph idx="1"/>
          </p:nvPr>
        </p:nvSpPr>
        <p:spPr/>
        <p:txBody>
          <a:bodyPr/>
          <a:lstStyle/>
          <a:p>
            <a:pPr marL="36576" indent="0">
              <a:buNone/>
            </a:pPr>
            <a:r>
              <a:rPr lang="en-US" dirty="0" smtClean="0"/>
              <a:t>EPIRBs:</a:t>
            </a:r>
          </a:p>
          <a:p>
            <a:r>
              <a:rPr lang="en-US" dirty="0" smtClean="0"/>
              <a:t>In position in all vehicles which require them</a:t>
            </a:r>
          </a:p>
          <a:p>
            <a:r>
              <a:rPr lang="en-US" dirty="0" smtClean="0"/>
              <a:t>Have been initially registered</a:t>
            </a:r>
          </a:p>
          <a:p>
            <a:r>
              <a:rPr lang="en-US" dirty="0" smtClean="0"/>
              <a:t>Registrations renewed as required</a:t>
            </a:r>
          </a:p>
          <a:p>
            <a:pPr marL="146304"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161</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191000" y="2276872"/>
            <a:ext cx="3477344" cy="3477344"/>
          </a:xfrm>
          <a:prstGeom prst="rect">
            <a:avLst/>
          </a:prstGeom>
        </p:spPr>
      </p:pic>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replenish on-board emergency equipment and supplies</a:t>
            </a:r>
            <a:endParaRPr lang="en-US" dirty="0"/>
          </a:p>
        </p:txBody>
      </p:sp>
      <p:sp>
        <p:nvSpPr>
          <p:cNvPr id="3" name="Content Placeholder 2"/>
          <p:cNvSpPr>
            <a:spLocks noGrp="1"/>
          </p:cNvSpPr>
          <p:nvPr>
            <p:ph idx="1"/>
          </p:nvPr>
        </p:nvSpPr>
        <p:spPr/>
        <p:txBody>
          <a:bodyPr/>
          <a:lstStyle/>
          <a:p>
            <a:r>
              <a:rPr lang="en-US" dirty="0" smtClean="0"/>
              <a:t>Tested in accordance with manufacturer’s instructions</a:t>
            </a:r>
          </a:p>
          <a:p>
            <a:r>
              <a:rPr lang="en-US" dirty="0" smtClean="0"/>
              <a:t>Check/replace battery</a:t>
            </a:r>
          </a:p>
          <a:p>
            <a:r>
              <a:rPr lang="en-US" dirty="0" smtClean="0"/>
              <a:t>Inspect for physical damage</a:t>
            </a:r>
          </a:p>
          <a:p>
            <a:r>
              <a:rPr lang="en-US" dirty="0" smtClean="0"/>
              <a:t>Log details of checks/maintenance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162</a:t>
            </a:fld>
            <a:endParaRPr lang="en-US" dirty="0"/>
          </a:p>
        </p:txBody>
      </p:sp>
      <p:pic>
        <p:nvPicPr>
          <p:cNvPr id="5" name="Picture 4"/>
          <p:cNvPicPr>
            <a:picLocks noChangeAspect="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r="75101"/>
          <a:stretch/>
        </p:blipFill>
        <p:spPr>
          <a:xfrm>
            <a:off x="5652120" y="1988840"/>
            <a:ext cx="1214264" cy="2276475"/>
          </a:xfrm>
          <a:prstGeom prst="rect">
            <a:avLst/>
          </a:prstGeom>
        </p:spPr>
      </p:pic>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Check and replenish on-board emergency equipment and supplies</a:t>
            </a:r>
            <a:endParaRPr lang="en-US" dirty="0"/>
          </a:p>
        </p:txBody>
      </p:sp>
      <p:sp>
        <p:nvSpPr>
          <p:cNvPr id="3" name="Content Placeholder 2"/>
          <p:cNvSpPr>
            <a:spLocks noGrp="1"/>
          </p:cNvSpPr>
          <p:nvPr>
            <p:ph idx="1"/>
          </p:nvPr>
        </p:nvSpPr>
        <p:spPr/>
        <p:txBody>
          <a:bodyPr/>
          <a:lstStyle/>
          <a:p>
            <a:pPr marL="36576" indent="0">
              <a:buNone/>
            </a:pPr>
            <a:r>
              <a:rPr lang="en-US" dirty="0" smtClean="0"/>
              <a:t>Maintaining EPIRBs:</a:t>
            </a:r>
          </a:p>
          <a:p>
            <a:r>
              <a:rPr lang="en-US" dirty="0" smtClean="0"/>
              <a:t>They cannot be serviced by users</a:t>
            </a:r>
          </a:p>
          <a:p>
            <a:r>
              <a:rPr lang="en-US" dirty="0" smtClean="0"/>
              <a:t>Where problems are identified:</a:t>
            </a:r>
          </a:p>
          <a:p>
            <a:r>
              <a:rPr lang="en-US" dirty="0" smtClean="0"/>
              <a:t>Send unit to manufacturer or their agent</a:t>
            </a:r>
          </a:p>
          <a:p>
            <a:r>
              <a:rPr lang="en-US" dirty="0" smtClean="0"/>
              <a:t>Replace the unit ensuring replacement unit is registered before use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163</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4716016" y="1916832"/>
            <a:ext cx="3177931" cy="2880000"/>
          </a:xfrm>
          <a:prstGeom prst="rect">
            <a:avLst/>
          </a:prstGeom>
        </p:spPr>
      </p:pic>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Make arrangements for external service provision</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When considering if external service provision is necessary for a vehicle a combination of the following factors should be taken into account:</a:t>
            </a:r>
          </a:p>
          <a:p>
            <a:r>
              <a:rPr lang="en-AU" dirty="0" smtClean="0"/>
              <a:t>Extent of work which needs to be done</a:t>
            </a:r>
            <a:endParaRPr lang="en-US" dirty="0" smtClean="0"/>
          </a:p>
          <a:p>
            <a:r>
              <a:rPr lang="en-US" dirty="0" smtClean="0"/>
              <a:t>Timeframes which apply</a:t>
            </a:r>
          </a:p>
          <a:p>
            <a:r>
              <a:rPr lang="en-US" dirty="0" smtClean="0"/>
              <a:t>Safety issues allied to the work to be done</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164</a:t>
            </a:fld>
            <a:endParaRPr lang="en-US" dirty="0"/>
          </a:p>
        </p:txBody>
      </p:sp>
      <p:pic>
        <p:nvPicPr>
          <p:cNvPr id="5" name="Picture 4"/>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346457" y="1700808"/>
            <a:ext cx="4346457" cy="2880000"/>
          </a:xfrm>
          <a:prstGeom prst="rect">
            <a:avLst/>
          </a:prstGeom>
        </p:spPr>
      </p:pic>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Make arrangements for external service provision</a:t>
            </a:r>
            <a:endParaRPr lang="en-US" dirty="0"/>
          </a:p>
        </p:txBody>
      </p:sp>
      <p:sp>
        <p:nvSpPr>
          <p:cNvPr id="3" name="Content Placeholder 2"/>
          <p:cNvSpPr>
            <a:spLocks noGrp="1"/>
          </p:cNvSpPr>
          <p:nvPr>
            <p:ph idx="1"/>
          </p:nvPr>
        </p:nvSpPr>
        <p:spPr/>
        <p:txBody>
          <a:bodyPr/>
          <a:lstStyle/>
          <a:p>
            <a:r>
              <a:rPr lang="en-US" dirty="0" smtClean="0"/>
              <a:t>Complexity of the job</a:t>
            </a:r>
          </a:p>
          <a:p>
            <a:r>
              <a:rPr lang="en-US" dirty="0" smtClean="0"/>
              <a:t>Tools and equipment available</a:t>
            </a:r>
          </a:p>
          <a:p>
            <a:r>
              <a:rPr lang="en-US" dirty="0" smtClean="0"/>
              <a:t>Expertise</a:t>
            </a:r>
          </a:p>
          <a:p>
            <a:r>
              <a:rPr lang="en-US" dirty="0" smtClean="0"/>
              <a:t>Terms of warranties and guarantees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165</a:t>
            </a:fld>
            <a:endParaRPr lang="en-US" dirty="0"/>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31100"/>
          <a:stretch/>
        </p:blipFill>
        <p:spPr>
          <a:xfrm>
            <a:off x="5004048" y="1988840"/>
            <a:ext cx="2448272" cy="2618844"/>
          </a:xfrm>
          <a:prstGeom prst="rect">
            <a:avLst/>
          </a:prstGeom>
        </p:spPr>
      </p:pic>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Make arrangements for external service provision</a:t>
            </a:r>
            <a:endParaRPr lang="en-US" dirty="0"/>
          </a:p>
        </p:txBody>
      </p:sp>
      <p:sp>
        <p:nvSpPr>
          <p:cNvPr id="3" name="Content Placeholder 2"/>
          <p:cNvSpPr>
            <a:spLocks noGrp="1"/>
          </p:cNvSpPr>
          <p:nvPr>
            <p:ph idx="1"/>
          </p:nvPr>
        </p:nvSpPr>
        <p:spPr/>
        <p:txBody>
          <a:bodyPr/>
          <a:lstStyle/>
          <a:p>
            <a:pPr marL="36576" indent="0">
              <a:buNone/>
            </a:pPr>
            <a:r>
              <a:rPr lang="en-US" dirty="0" smtClean="0"/>
              <a:t>Steps in the process:</a:t>
            </a:r>
          </a:p>
          <a:p>
            <a:r>
              <a:rPr lang="en-US" dirty="0" smtClean="0"/>
              <a:t>Track use of the vehicle:</a:t>
            </a:r>
          </a:p>
          <a:p>
            <a:pPr lvl="1"/>
            <a:r>
              <a:rPr lang="en-US" dirty="0" smtClean="0"/>
              <a:t>Notify management/ administration</a:t>
            </a:r>
          </a:p>
          <a:p>
            <a:pPr lvl="1"/>
            <a:r>
              <a:rPr lang="en-US" dirty="0" smtClean="0"/>
              <a:t>Identify relevant service provider</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166</a:t>
            </a:fld>
            <a:endParaRPr lang="en-US" dirty="0"/>
          </a:p>
        </p:txBody>
      </p:sp>
      <p:pic>
        <p:nvPicPr>
          <p:cNvPr id="5" name="Picture 4"/>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292080" y="2060848"/>
            <a:ext cx="2113556" cy="3024336"/>
          </a:xfrm>
          <a:prstGeom prst="rect">
            <a:avLst/>
          </a:prstGeom>
        </p:spPr>
      </p:pic>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Make arrangements for external service provision</a:t>
            </a:r>
            <a:endParaRPr lang="en-US" dirty="0"/>
          </a:p>
        </p:txBody>
      </p:sp>
      <p:sp>
        <p:nvSpPr>
          <p:cNvPr id="3" name="Content Placeholder 2"/>
          <p:cNvSpPr>
            <a:spLocks noGrp="1"/>
          </p:cNvSpPr>
          <p:nvPr>
            <p:ph idx="1"/>
          </p:nvPr>
        </p:nvSpPr>
        <p:spPr/>
        <p:txBody>
          <a:bodyPr/>
          <a:lstStyle/>
          <a:p>
            <a:r>
              <a:rPr lang="en-US" dirty="0" smtClean="0"/>
              <a:t>Contact provider and discuss required work</a:t>
            </a:r>
          </a:p>
          <a:p>
            <a:r>
              <a:rPr lang="en-US" dirty="0" smtClean="0"/>
              <a:t>Schedule work from perspective of the organisation</a:t>
            </a:r>
          </a:p>
          <a:p>
            <a:r>
              <a:rPr lang="en-US" dirty="0" smtClean="0"/>
              <a:t>Make booking with provider</a:t>
            </a:r>
          </a:p>
          <a:p>
            <a:r>
              <a:rPr lang="en-US" dirty="0" smtClean="0"/>
              <a:t>Take necessary other action</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167</a:t>
            </a:fld>
            <a:endParaRPr lang="en-US" dirty="0"/>
          </a:p>
        </p:txBody>
      </p:sp>
      <p:pic>
        <p:nvPicPr>
          <p:cNvPr id="5" name="Picture 4"/>
          <p:cNvPicPr>
            <a:picLocks noChangeAspect="1"/>
          </p:cNvPicPr>
          <p:nvPr/>
        </p:nvPicPr>
        <p:blipFill rotWithShape="1">
          <a:blip r:embed="rId3" cstate="screen">
            <a:clrChange>
              <a:clrFrom>
                <a:srgbClr val="FDFDFD"/>
              </a:clrFrom>
              <a:clrTo>
                <a:srgbClr val="FDFDFD">
                  <a:alpha val="0"/>
                </a:srgbClr>
              </a:clrTo>
            </a:clrChange>
            <a:extLst>
              <a:ext uri="{28A0092B-C50C-407E-A947-70E740481C1C}">
                <a14:useLocalDpi xmlns:a14="http://schemas.microsoft.com/office/drawing/2010/main"/>
              </a:ext>
            </a:extLst>
          </a:blip>
          <a:srcRect/>
          <a:stretch/>
        </p:blipFill>
        <p:spPr>
          <a:xfrm>
            <a:off x="5364088" y="1667938"/>
            <a:ext cx="1728192" cy="3221555"/>
          </a:xfrm>
          <a:prstGeom prst="rect">
            <a:avLst/>
          </a:prstGeom>
        </p:spPr>
      </p:pic>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Comply with mandated safety requirements</a:t>
            </a:r>
            <a:endParaRPr lang="en-US" dirty="0"/>
          </a:p>
        </p:txBody>
      </p:sp>
      <p:sp>
        <p:nvSpPr>
          <p:cNvPr id="3" name="Content Placeholder 2"/>
          <p:cNvSpPr>
            <a:spLocks noGrp="1"/>
          </p:cNvSpPr>
          <p:nvPr>
            <p:ph idx="1"/>
          </p:nvPr>
        </p:nvSpPr>
        <p:spPr/>
        <p:txBody>
          <a:bodyPr/>
          <a:lstStyle/>
          <a:p>
            <a:pPr marL="36576" indent="0">
              <a:buNone/>
            </a:pPr>
            <a:r>
              <a:rPr lang="en-US" dirty="0" smtClean="0"/>
              <a:t>Basic workplace safety requirements:</a:t>
            </a:r>
          </a:p>
          <a:p>
            <a:r>
              <a:rPr lang="en-US" dirty="0" smtClean="0"/>
              <a:t>Take responsibility for personal safety</a:t>
            </a:r>
          </a:p>
          <a:p>
            <a:r>
              <a:rPr lang="en-US" dirty="0" smtClean="0"/>
              <a:t>Be alert to potential for risk</a:t>
            </a:r>
          </a:p>
          <a:p>
            <a:r>
              <a:rPr lang="en-US" dirty="0" smtClean="0"/>
              <a:t>Warn others of hazards</a:t>
            </a:r>
          </a:p>
          <a:p>
            <a:r>
              <a:rPr lang="en-US" dirty="0" smtClean="0"/>
              <a:t>Learn workplace safety requirements</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168</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72000" y="1988840"/>
            <a:ext cx="3623628" cy="2808312"/>
          </a:xfrm>
          <a:prstGeom prst="rect">
            <a:avLst/>
          </a:prstGeom>
        </p:spPr>
      </p:pic>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Comply with mandated safety requirements</a:t>
            </a:r>
            <a:endParaRPr lang="en-US" dirty="0"/>
          </a:p>
        </p:txBody>
      </p:sp>
      <p:sp>
        <p:nvSpPr>
          <p:cNvPr id="3" name="Content Placeholder 2"/>
          <p:cNvSpPr>
            <a:spLocks noGrp="1"/>
          </p:cNvSpPr>
          <p:nvPr>
            <p:ph idx="1"/>
          </p:nvPr>
        </p:nvSpPr>
        <p:spPr/>
        <p:txBody>
          <a:bodyPr/>
          <a:lstStyle/>
          <a:p>
            <a:r>
              <a:rPr lang="en-US" dirty="0" smtClean="0"/>
              <a:t>Understand changing nature/potential of workplace hazards</a:t>
            </a:r>
          </a:p>
          <a:p>
            <a:r>
              <a:rPr lang="en-US" dirty="0" smtClean="0"/>
              <a:t>Realise a fix for one problem can produce another/different risk</a:t>
            </a:r>
          </a:p>
          <a:p>
            <a:r>
              <a:rPr lang="en-US" dirty="0" smtClean="0"/>
              <a:t>Report identified hazards</a:t>
            </a:r>
          </a:p>
          <a:p>
            <a:r>
              <a:rPr lang="en-US" dirty="0" smtClean="0"/>
              <a:t>Keep workplace neat and tidy</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169</a:t>
            </a:fld>
            <a:endParaRPr lang="en-US" dirty="0"/>
          </a:p>
        </p:txBody>
      </p:sp>
      <p:pic>
        <p:nvPicPr>
          <p:cNvPr id="5" name="Picture 4"/>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572000" y="1981658"/>
            <a:ext cx="3875840" cy="2887501"/>
          </a:xfrm>
          <a:prstGeom prst="rect">
            <a:avLst/>
          </a:prstGeom>
        </p:spPr>
      </p:pic>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Comply with mandated safety requirements</a:t>
            </a:r>
            <a:endParaRPr lang="en-US" dirty="0"/>
          </a:p>
        </p:txBody>
      </p:sp>
      <p:sp>
        <p:nvSpPr>
          <p:cNvPr id="3" name="Content Placeholder 2"/>
          <p:cNvSpPr>
            <a:spLocks noGrp="1"/>
          </p:cNvSpPr>
          <p:nvPr>
            <p:ph idx="1"/>
          </p:nvPr>
        </p:nvSpPr>
        <p:spPr/>
        <p:txBody>
          <a:bodyPr/>
          <a:lstStyle/>
          <a:p>
            <a:r>
              <a:rPr lang="en-US" dirty="0" smtClean="0"/>
              <a:t>Wear clothes which are ‘fit for the job’</a:t>
            </a:r>
          </a:p>
          <a:p>
            <a:r>
              <a:rPr lang="en-US" dirty="0" smtClean="0"/>
              <a:t>Report ‘near misses’ and accidents/injuries</a:t>
            </a:r>
          </a:p>
          <a:p>
            <a:r>
              <a:rPr lang="en-US" dirty="0" smtClean="0"/>
              <a:t>Look out for others</a:t>
            </a:r>
          </a:p>
          <a:p>
            <a:r>
              <a:rPr lang="en-US" dirty="0" smtClean="0"/>
              <a:t>Stop work if it becomes dangerous</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170</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292080" y="1988840"/>
            <a:ext cx="2376264" cy="3140732"/>
          </a:xfrm>
          <a:prstGeom prst="rect">
            <a:avLst/>
          </a:prstGeom>
        </p:spPr>
      </p:pic>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Comply with mandated safety requirements</a:t>
            </a:r>
            <a:endParaRPr lang="en-US" dirty="0"/>
          </a:p>
        </p:txBody>
      </p:sp>
      <p:sp>
        <p:nvSpPr>
          <p:cNvPr id="3" name="Content Placeholder 2"/>
          <p:cNvSpPr>
            <a:spLocks noGrp="1"/>
          </p:cNvSpPr>
          <p:nvPr>
            <p:ph idx="1"/>
          </p:nvPr>
        </p:nvSpPr>
        <p:spPr/>
        <p:txBody>
          <a:bodyPr/>
          <a:lstStyle/>
          <a:p>
            <a:r>
              <a:rPr lang="en-US" dirty="0" smtClean="0"/>
              <a:t>Participate actively in workplace safety</a:t>
            </a:r>
          </a:p>
          <a:p>
            <a:r>
              <a:rPr lang="en-US" dirty="0" smtClean="0"/>
              <a:t>Adhere to SOPs, SWPs and manufacturer’s instructions</a:t>
            </a:r>
          </a:p>
          <a:p>
            <a:r>
              <a:rPr lang="en-US" dirty="0" smtClean="0"/>
              <a:t>Wear designated PPE</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171</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04048" y="2067302"/>
            <a:ext cx="2304256" cy="3250199"/>
          </a:xfrm>
          <a:prstGeom prst="rect">
            <a:avLst/>
          </a:prstGeom>
        </p:spPr>
      </p:pic>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Comply with mandated safety requirements</a:t>
            </a:r>
            <a:endParaRPr lang="en-US" dirty="0"/>
          </a:p>
        </p:txBody>
      </p:sp>
      <p:sp>
        <p:nvSpPr>
          <p:cNvPr id="3" name="Content Placeholder 2"/>
          <p:cNvSpPr>
            <a:spLocks noGrp="1"/>
          </p:cNvSpPr>
          <p:nvPr>
            <p:ph idx="1"/>
          </p:nvPr>
        </p:nvSpPr>
        <p:spPr/>
        <p:txBody>
          <a:bodyPr/>
          <a:lstStyle/>
          <a:p>
            <a:r>
              <a:rPr lang="en-US" dirty="0" smtClean="0"/>
              <a:t>Intervene when necessary</a:t>
            </a:r>
          </a:p>
          <a:p>
            <a:r>
              <a:rPr lang="en-US" dirty="0" smtClean="0"/>
              <a:t>Take care when working</a:t>
            </a:r>
          </a:p>
          <a:p>
            <a:r>
              <a:rPr lang="en-US" dirty="0" smtClean="0"/>
              <a:t>Take practical preventative action</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172</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148064" y="1772816"/>
            <a:ext cx="2172204" cy="3016950"/>
          </a:xfrm>
          <a:prstGeom prst="rect">
            <a:avLst/>
          </a:prstGeom>
        </p:spPr>
      </p:pic>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Comply with mandated safety requirements</a:t>
            </a:r>
            <a:endParaRPr lang="en-US" dirty="0"/>
          </a:p>
        </p:txBody>
      </p:sp>
      <p:sp>
        <p:nvSpPr>
          <p:cNvPr id="3" name="Content Placeholder 2"/>
          <p:cNvSpPr>
            <a:spLocks noGrp="1"/>
          </p:cNvSpPr>
          <p:nvPr>
            <p:ph idx="1"/>
          </p:nvPr>
        </p:nvSpPr>
        <p:spPr/>
        <p:txBody>
          <a:bodyPr/>
          <a:lstStyle/>
          <a:p>
            <a:r>
              <a:rPr lang="en-US" dirty="0" smtClean="0"/>
              <a:t>Do a first aid course</a:t>
            </a:r>
          </a:p>
          <a:p>
            <a:r>
              <a:rPr lang="en-US" dirty="0" smtClean="0"/>
              <a:t>Get trained in workplace health and safety</a:t>
            </a:r>
          </a:p>
          <a:p>
            <a:r>
              <a:rPr lang="en-US" dirty="0" smtClean="0"/>
              <a:t>Do not work when not fit to do so</a:t>
            </a:r>
          </a:p>
          <a:p>
            <a:r>
              <a:rPr lang="en-US" dirty="0" smtClean="0"/>
              <a:t>Establish ‘safe place’</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173</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269114" y="1916832"/>
            <a:ext cx="1967182" cy="2947296"/>
          </a:xfrm>
          <a:prstGeom prst="rect">
            <a:avLst/>
          </a:prstGeom>
        </p:spPr>
      </p:pic>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Comply with mandated safety requirements</a:t>
            </a:r>
            <a:endParaRPr lang="en-US" dirty="0"/>
          </a:p>
        </p:txBody>
      </p:sp>
      <p:sp>
        <p:nvSpPr>
          <p:cNvPr id="3" name="Content Placeholder 2"/>
          <p:cNvSpPr>
            <a:spLocks noGrp="1"/>
          </p:cNvSpPr>
          <p:nvPr>
            <p:ph idx="1"/>
          </p:nvPr>
        </p:nvSpPr>
        <p:spPr/>
        <p:txBody>
          <a:bodyPr/>
          <a:lstStyle/>
          <a:p>
            <a:r>
              <a:rPr lang="en-US" dirty="0" smtClean="0"/>
              <a:t>Apply safe manual handling</a:t>
            </a:r>
          </a:p>
          <a:p>
            <a:r>
              <a:rPr lang="en-US" dirty="0" smtClean="0"/>
              <a:t>Obtain, read and know location of MSDS</a:t>
            </a:r>
          </a:p>
          <a:p>
            <a:r>
              <a:rPr lang="en-US" dirty="0" smtClean="0"/>
              <a:t>Handle chemicals safely</a:t>
            </a:r>
          </a:p>
          <a:p>
            <a:r>
              <a:rPr lang="en-US" dirty="0" smtClean="0"/>
              <a:t>Abide by applicable legislated safety obligations</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174</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364088" y="1912593"/>
            <a:ext cx="2304256" cy="3316407"/>
          </a:xfrm>
          <a:prstGeom prst="rect">
            <a:avLst/>
          </a:prstGeom>
        </p:spPr>
      </p:pic>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Comply with mandated safety requirements</a:t>
            </a:r>
            <a:endParaRPr lang="en-US" dirty="0"/>
          </a:p>
        </p:txBody>
      </p:sp>
      <p:sp>
        <p:nvSpPr>
          <p:cNvPr id="3" name="Content Placeholder 2"/>
          <p:cNvSpPr>
            <a:spLocks noGrp="1"/>
          </p:cNvSpPr>
          <p:nvPr>
            <p:ph idx="1"/>
          </p:nvPr>
        </p:nvSpPr>
        <p:spPr/>
        <p:txBody>
          <a:bodyPr/>
          <a:lstStyle/>
          <a:p>
            <a:r>
              <a:rPr lang="en-US" dirty="0" smtClean="0"/>
              <a:t>Ensure ‘safety’ is part of standard ‘Induction and Orientation’</a:t>
            </a:r>
          </a:p>
          <a:p>
            <a:r>
              <a:rPr lang="en-US" dirty="0" smtClean="0"/>
              <a:t>Ensure first aid kit is available</a:t>
            </a:r>
          </a:p>
          <a:p>
            <a:r>
              <a:rPr lang="en-US" dirty="0" smtClean="0"/>
              <a:t>Ensure fire extinguisher is close-by</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175</a:t>
            </a:fld>
            <a:endParaRPr lang="en-US" dirty="0"/>
          </a:p>
        </p:txBody>
      </p:sp>
      <p:pic>
        <p:nvPicPr>
          <p:cNvPr id="5" name="Picture 4"/>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004048" y="1844824"/>
            <a:ext cx="1944216" cy="3011500"/>
          </a:xfrm>
          <a:prstGeom prst="rect">
            <a:avLst/>
          </a:prstGeom>
        </p:spPr>
      </p:pic>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Comply with mandated safety requirements</a:t>
            </a:r>
            <a:endParaRPr lang="en-US" dirty="0"/>
          </a:p>
        </p:txBody>
      </p:sp>
      <p:sp>
        <p:nvSpPr>
          <p:cNvPr id="3" name="Content Placeholder 2"/>
          <p:cNvSpPr>
            <a:spLocks noGrp="1"/>
          </p:cNvSpPr>
          <p:nvPr>
            <p:ph idx="1"/>
          </p:nvPr>
        </p:nvSpPr>
        <p:spPr/>
        <p:txBody>
          <a:bodyPr/>
          <a:lstStyle/>
          <a:p>
            <a:pPr marL="36576" indent="0">
              <a:buNone/>
            </a:pPr>
            <a:r>
              <a:rPr lang="en-US" dirty="0" smtClean="0"/>
              <a:t>External safety-related compliance issues may relate to:</a:t>
            </a:r>
          </a:p>
          <a:p>
            <a:r>
              <a:rPr lang="en-US" dirty="0" smtClean="0"/>
              <a:t>Having vehicles inspected and ‘passed’ by local authorities</a:t>
            </a:r>
          </a:p>
          <a:p>
            <a:r>
              <a:rPr lang="en-US" dirty="0" smtClean="0"/>
              <a:t>Documenting work performed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176</a:t>
            </a:fld>
            <a:endParaRPr lang="en-US" dirty="0"/>
          </a:p>
        </p:txBody>
      </p:sp>
      <p:pic>
        <p:nvPicPr>
          <p:cNvPr id="5" name="Picture 4"/>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148064" y="1841236"/>
            <a:ext cx="2304256" cy="2955636"/>
          </a:xfrm>
          <a:prstGeom prst="rect">
            <a:avLst/>
          </a:prstGeom>
        </p:spPr>
      </p:pic>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Comply with mandated safety requirements</a:t>
            </a:r>
            <a:endParaRPr lang="en-US" dirty="0"/>
          </a:p>
        </p:txBody>
      </p:sp>
      <p:sp>
        <p:nvSpPr>
          <p:cNvPr id="3" name="Content Placeholder 2"/>
          <p:cNvSpPr>
            <a:spLocks noGrp="1"/>
          </p:cNvSpPr>
          <p:nvPr>
            <p:ph idx="1"/>
          </p:nvPr>
        </p:nvSpPr>
        <p:spPr/>
        <p:txBody>
          <a:bodyPr/>
          <a:lstStyle/>
          <a:p>
            <a:pPr marL="36576" indent="0">
              <a:buNone/>
            </a:pPr>
            <a:r>
              <a:rPr lang="en-US" dirty="0" smtClean="0"/>
              <a:t>Safety obligations imposed on employers:</a:t>
            </a:r>
          </a:p>
          <a:p>
            <a:r>
              <a:rPr lang="en-US" dirty="0" smtClean="0"/>
              <a:t>Conduct risk assessments and control identified risks</a:t>
            </a:r>
          </a:p>
          <a:p>
            <a:r>
              <a:rPr lang="en-US" dirty="0" smtClean="0"/>
              <a:t>Ensure safe equipment, workplaces and process</a:t>
            </a:r>
          </a:p>
          <a:p>
            <a:r>
              <a:rPr lang="en-US" dirty="0" smtClean="0"/>
              <a:t>Develop procedures for dealing with emergencies</a:t>
            </a:r>
          </a:p>
          <a:p>
            <a:r>
              <a:rPr lang="en-US" dirty="0" smtClean="0"/>
              <a:t>Provide staff with instruction, training and supervision</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177</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932040" y="2204864"/>
            <a:ext cx="2247831" cy="3384376"/>
          </a:xfrm>
          <a:prstGeom prst="rect">
            <a:avLst/>
          </a:prstGeom>
        </p:spPr>
      </p:pic>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Comply with mandated safety requirements</a:t>
            </a:r>
            <a:endParaRPr lang="en-US" dirty="0"/>
          </a:p>
        </p:txBody>
      </p:sp>
      <p:sp>
        <p:nvSpPr>
          <p:cNvPr id="3" name="Content Placeholder 2"/>
          <p:cNvSpPr>
            <a:spLocks noGrp="1"/>
          </p:cNvSpPr>
          <p:nvPr>
            <p:ph idx="1"/>
          </p:nvPr>
        </p:nvSpPr>
        <p:spPr/>
        <p:txBody>
          <a:bodyPr/>
          <a:lstStyle/>
          <a:p>
            <a:pPr marL="36576" indent="0">
              <a:buNone/>
            </a:pPr>
            <a:r>
              <a:rPr lang="en-US" dirty="0" smtClean="0"/>
              <a:t>Safety obligations imposed on employees:</a:t>
            </a:r>
          </a:p>
          <a:p>
            <a:r>
              <a:rPr lang="en-US" dirty="0" smtClean="0"/>
              <a:t>Must follow stated workplace safety procedures and principles</a:t>
            </a:r>
          </a:p>
          <a:p>
            <a:r>
              <a:rPr lang="en-US" dirty="0" smtClean="0"/>
              <a:t>Must not engage in any unsafe act</a:t>
            </a:r>
          </a:p>
          <a:p>
            <a:r>
              <a:rPr lang="en-US" dirty="0" smtClean="0"/>
              <a:t>Must use safety items as/when directed</a:t>
            </a:r>
          </a:p>
          <a:p>
            <a:r>
              <a:rPr lang="en-US" dirty="0" smtClean="0"/>
              <a:t>Must not work in a negligent manner</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178</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4572000" y="1916832"/>
            <a:ext cx="3291428" cy="2520000"/>
          </a:xfrm>
          <a:prstGeom prst="rect">
            <a:avLst/>
          </a:prstGeom>
        </p:spPr>
      </p:pic>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 Element 1</a:t>
            </a:r>
            <a:endParaRPr lang="en-US" dirty="0"/>
          </a:p>
        </p:txBody>
      </p:sp>
      <p:sp>
        <p:nvSpPr>
          <p:cNvPr id="3" name="Content Placeholder 2"/>
          <p:cNvSpPr>
            <a:spLocks noGrp="1"/>
          </p:cNvSpPr>
          <p:nvPr>
            <p:ph idx="1"/>
          </p:nvPr>
        </p:nvSpPr>
        <p:spPr>
          <a:xfrm>
            <a:off x="457200" y="1988840"/>
            <a:ext cx="4186808" cy="4137323"/>
          </a:xfrm>
        </p:spPr>
        <p:txBody>
          <a:bodyPr>
            <a:normAutofit lnSpcReduction="10000"/>
          </a:bodyPr>
          <a:lstStyle/>
          <a:p>
            <a:pPr marL="36576" indent="0">
              <a:buNone/>
            </a:pPr>
            <a:r>
              <a:rPr lang="en-US" dirty="0" smtClean="0"/>
              <a:t>When </a:t>
            </a:r>
            <a:r>
              <a:rPr lang="en-AU" dirty="0" smtClean="0"/>
              <a:t>providing scheduled service to vehicles</a:t>
            </a:r>
            <a:r>
              <a:rPr lang="en-US" dirty="0" smtClean="0"/>
              <a:t>:</a:t>
            </a:r>
          </a:p>
          <a:p>
            <a:pPr lvl="0"/>
            <a:r>
              <a:rPr lang="en-AU" dirty="0" smtClean="0"/>
              <a:t>Identify prescribed servicing requirements according to manufacturer’s specifications/vehicle manual</a:t>
            </a:r>
          </a:p>
          <a:p>
            <a:r>
              <a:rPr lang="en-AU" dirty="0" smtClean="0"/>
              <a:t>Refer to previous service history of the vehicle</a:t>
            </a:r>
          </a:p>
          <a:p>
            <a:r>
              <a:rPr lang="en-AU" dirty="0" smtClean="0"/>
              <a:t>Talk to vehicle users</a:t>
            </a:r>
          </a:p>
          <a:p>
            <a:r>
              <a:rPr lang="en-AU" dirty="0" smtClean="0"/>
              <a:t>Factor in relevant legislated </a:t>
            </a:r>
            <a:r>
              <a:rPr lang="en-AU" sz="1500" dirty="0" smtClean="0"/>
              <a:t>requirements</a:t>
            </a:r>
          </a:p>
          <a:p>
            <a:pPr marL="36576" indent="0">
              <a:buNone/>
            </a:pPr>
            <a:r>
              <a:rPr lang="en-US" sz="15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179</a:t>
            </a:fld>
            <a:endParaRPr lang="en-US" dirty="0"/>
          </a:p>
        </p:txBody>
      </p:sp>
      <p:pic>
        <p:nvPicPr>
          <p:cNvPr id="5" name="Picture 4"/>
          <p:cNvPicPr>
            <a:picLocks noChangeAspect="1"/>
          </p:cNvPicPr>
          <p:nvPr/>
        </p:nvPicPr>
        <p:blipFill rotWithShape="1">
          <a:blip r:embed="rId3" cstate="screen">
            <a:clrChange>
              <a:clrFrom>
                <a:srgbClr val="FEFEFE"/>
              </a:clrFrom>
              <a:clrTo>
                <a:srgbClr val="FEFEFE">
                  <a:alpha val="0"/>
                </a:srgbClr>
              </a:clrTo>
            </a:clrChange>
            <a:extLst>
              <a:ext uri="{28A0092B-C50C-407E-A947-70E740481C1C}">
                <a14:useLocalDpi xmlns:a14="http://schemas.microsoft.com/office/drawing/2010/main"/>
              </a:ext>
            </a:extLst>
          </a:blip>
          <a:srcRect/>
          <a:stretch/>
        </p:blipFill>
        <p:spPr>
          <a:xfrm>
            <a:off x="5115390" y="1988840"/>
            <a:ext cx="1765144" cy="3600400"/>
          </a:xfrm>
          <a:prstGeom prst="rect">
            <a:avLst/>
          </a:prstGeom>
        </p:spPr>
      </p:pic>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 Element 1</a:t>
            </a:r>
            <a:endParaRPr lang="en-US" dirty="0"/>
          </a:p>
        </p:txBody>
      </p:sp>
      <p:sp>
        <p:nvSpPr>
          <p:cNvPr id="3" name="Content Placeholder 2"/>
          <p:cNvSpPr>
            <a:spLocks noGrp="1"/>
          </p:cNvSpPr>
          <p:nvPr>
            <p:ph idx="1"/>
          </p:nvPr>
        </p:nvSpPr>
        <p:spPr/>
        <p:txBody>
          <a:bodyPr>
            <a:normAutofit/>
          </a:bodyPr>
          <a:lstStyle/>
          <a:p>
            <a:r>
              <a:rPr lang="en-AU" dirty="0" smtClean="0"/>
              <a:t>Observe warranty obligations</a:t>
            </a:r>
          </a:p>
          <a:p>
            <a:r>
              <a:rPr lang="en-AU" dirty="0" smtClean="0"/>
              <a:t>Visually inspect the vehicle for indications of leaks, problems, damage and defects</a:t>
            </a:r>
          </a:p>
          <a:p>
            <a:r>
              <a:rPr lang="en-AU" dirty="0" smtClean="0"/>
              <a:t>Use a vehicle inspection checklist to record and detail findings of the inspection</a:t>
            </a:r>
          </a:p>
          <a:p>
            <a:pPr marL="36576" lvl="0" indent="0">
              <a:buNone/>
            </a:pPr>
            <a:r>
              <a:rPr lang="en-US" sz="1400" dirty="0" smtClean="0"/>
              <a:t>(Continued)</a:t>
            </a:r>
            <a:endParaRPr lang="en-AU" sz="1400"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180</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292080" y="2060848"/>
            <a:ext cx="2232248" cy="2232248"/>
          </a:xfrm>
          <a:prstGeom prst="rect">
            <a:avLst/>
          </a:prstGeom>
        </p:spPr>
      </p:pic>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 Element 1</a:t>
            </a:r>
            <a:endParaRPr lang="en-US" dirty="0"/>
          </a:p>
        </p:txBody>
      </p:sp>
      <p:sp>
        <p:nvSpPr>
          <p:cNvPr id="3" name="Content Placeholder 2"/>
          <p:cNvSpPr>
            <a:spLocks noGrp="1"/>
          </p:cNvSpPr>
          <p:nvPr>
            <p:ph idx="1"/>
          </p:nvPr>
        </p:nvSpPr>
        <p:spPr/>
        <p:txBody>
          <a:bodyPr>
            <a:normAutofit/>
          </a:bodyPr>
          <a:lstStyle/>
          <a:p>
            <a:r>
              <a:rPr lang="en-AU" dirty="0" smtClean="0"/>
              <a:t>Check and adjust vehicle structure and lighting</a:t>
            </a:r>
          </a:p>
          <a:p>
            <a:r>
              <a:rPr lang="en-AU" dirty="0" smtClean="0"/>
              <a:t>Check and adjust vehicle vision-related items and vehicles entrances and exits</a:t>
            </a:r>
          </a:p>
          <a:p>
            <a:r>
              <a:rPr lang="en-AU" dirty="0" smtClean="0"/>
              <a:t>Check and adjust vehicle interior and miscellaneous items</a:t>
            </a:r>
          </a:p>
          <a:p>
            <a:pPr marL="36576" lvl="0" indent="0">
              <a:buNone/>
            </a:pPr>
            <a:r>
              <a:rPr lang="en-US" sz="1400" dirty="0" smtClean="0"/>
              <a:t>(Continued)</a:t>
            </a:r>
            <a:endParaRPr lang="en-AU" sz="1400"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181</a:t>
            </a:fld>
            <a:endParaRPr lang="en-US" dirty="0"/>
          </a:p>
        </p:txBody>
      </p:sp>
      <p:pic>
        <p:nvPicPr>
          <p:cNvPr id="5" name="Picture 4"/>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211960" y="1968636"/>
            <a:ext cx="3537182" cy="2540483"/>
          </a:xfrm>
          <a:prstGeom prst="rect">
            <a:avLst/>
          </a:prstGeom>
        </p:spPr>
      </p:pic>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 Element 1</a:t>
            </a:r>
            <a:endParaRPr lang="en-US" dirty="0"/>
          </a:p>
        </p:txBody>
      </p:sp>
      <p:sp>
        <p:nvSpPr>
          <p:cNvPr id="3" name="Content Placeholder 2"/>
          <p:cNvSpPr>
            <a:spLocks noGrp="1"/>
          </p:cNvSpPr>
          <p:nvPr>
            <p:ph idx="1"/>
          </p:nvPr>
        </p:nvSpPr>
        <p:spPr/>
        <p:txBody>
          <a:bodyPr>
            <a:normAutofit/>
          </a:bodyPr>
          <a:lstStyle/>
          <a:p>
            <a:r>
              <a:rPr lang="en-AU" dirty="0" smtClean="0"/>
              <a:t>Check and adjust vehicle brakes and steering</a:t>
            </a:r>
          </a:p>
          <a:p>
            <a:r>
              <a:rPr lang="en-AU" dirty="0" smtClean="0"/>
              <a:t>Check and adjust vehicle exhaust</a:t>
            </a:r>
          </a:p>
          <a:p>
            <a:r>
              <a:rPr lang="en-AU" dirty="0" smtClean="0"/>
              <a:t>Check and adjust vehicle towing connections and load restraints</a:t>
            </a:r>
          </a:p>
          <a:p>
            <a:r>
              <a:rPr lang="en-AU" dirty="0" smtClean="0"/>
              <a:t>Check and replenish on-board emergency equipment and supplies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182</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076056" y="1933486"/>
            <a:ext cx="2476340" cy="3583746"/>
          </a:xfrm>
          <a:prstGeom prst="rect">
            <a:avLst/>
          </a:prstGeom>
        </p:spPr>
      </p:pic>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Element 2 – Diagnose minor vehicle faults</a:t>
            </a:r>
            <a:endParaRPr lang="en-US" dirty="0"/>
          </a:p>
        </p:txBody>
      </p:sp>
      <p:sp>
        <p:nvSpPr>
          <p:cNvPr id="3" name="Content Placeholder 2"/>
          <p:cNvSpPr>
            <a:spLocks noGrp="1"/>
          </p:cNvSpPr>
          <p:nvPr>
            <p:ph idx="1"/>
          </p:nvPr>
        </p:nvSpPr>
        <p:spPr/>
        <p:txBody>
          <a:bodyPr/>
          <a:lstStyle/>
          <a:p>
            <a:pPr marL="36576" indent="0">
              <a:buNone/>
            </a:pPr>
            <a:r>
              <a:rPr lang="en-US" dirty="0" smtClean="0"/>
              <a:t>Performance Criteria for this Element are:</a:t>
            </a:r>
          </a:p>
          <a:p>
            <a:r>
              <a:rPr lang="en-AU" dirty="0" smtClean="0"/>
              <a:t>Identify minor faults</a:t>
            </a:r>
            <a:endParaRPr lang="en-US" dirty="0" smtClean="0"/>
          </a:p>
          <a:p>
            <a:r>
              <a:rPr lang="en-AU" dirty="0" smtClean="0"/>
              <a:t>Determine cause of faults</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183</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148064" y="1915954"/>
            <a:ext cx="2494276" cy="3528392"/>
          </a:xfrm>
          <a:prstGeom prst="rect">
            <a:avLst/>
          </a:prstGeom>
        </p:spPr>
      </p:pic>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Identify minor faults</a:t>
            </a:r>
            <a:endParaRPr lang="en-US" dirty="0"/>
          </a:p>
        </p:txBody>
      </p:sp>
      <p:sp>
        <p:nvSpPr>
          <p:cNvPr id="3" name="Content Placeholder 2"/>
          <p:cNvSpPr>
            <a:spLocks noGrp="1"/>
          </p:cNvSpPr>
          <p:nvPr>
            <p:ph idx="1"/>
          </p:nvPr>
        </p:nvSpPr>
        <p:spPr/>
        <p:txBody>
          <a:bodyPr/>
          <a:lstStyle/>
          <a:p>
            <a:pPr marL="36576" indent="0">
              <a:buNone/>
            </a:pPr>
            <a:r>
              <a:rPr lang="en-US" dirty="0" smtClean="0"/>
              <a:t>Four basic ways to identify vehicle faults:</a:t>
            </a:r>
          </a:p>
          <a:p>
            <a:r>
              <a:rPr lang="en-US" dirty="0" smtClean="0"/>
              <a:t>Talking to those who have driven or been in the vehicles</a:t>
            </a:r>
          </a:p>
          <a:p>
            <a:r>
              <a:rPr lang="en-US" dirty="0" smtClean="0"/>
              <a:t>Test driving the vehicles to replicate/induce the fault</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184</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b="-6299"/>
          <a:stretch/>
        </p:blipFill>
        <p:spPr>
          <a:xfrm>
            <a:off x="5148064" y="1988840"/>
            <a:ext cx="2016224" cy="3636130"/>
          </a:xfrm>
          <a:prstGeom prst="rect">
            <a:avLst/>
          </a:prstGeom>
        </p:spPr>
      </p:pic>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Identify minor faults</a:t>
            </a:r>
            <a:endParaRPr lang="en-US" dirty="0"/>
          </a:p>
        </p:txBody>
      </p:sp>
      <p:sp>
        <p:nvSpPr>
          <p:cNvPr id="3" name="Content Placeholder 2"/>
          <p:cNvSpPr>
            <a:spLocks noGrp="1"/>
          </p:cNvSpPr>
          <p:nvPr>
            <p:ph idx="1"/>
          </p:nvPr>
        </p:nvSpPr>
        <p:spPr/>
        <p:txBody>
          <a:bodyPr/>
          <a:lstStyle/>
          <a:p>
            <a:r>
              <a:rPr lang="en-US" dirty="0" smtClean="0"/>
              <a:t>Running the vehicle stationary to induce/replicate faults</a:t>
            </a:r>
          </a:p>
          <a:p>
            <a:r>
              <a:rPr lang="en-US" dirty="0" smtClean="0"/>
              <a:t>Read relevant vehicle-related reports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185</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b="-435"/>
          <a:stretch/>
        </p:blipFill>
        <p:spPr>
          <a:xfrm>
            <a:off x="5251783" y="1916832"/>
            <a:ext cx="2265191" cy="3383124"/>
          </a:xfrm>
          <a:prstGeom prst="rect">
            <a:avLst/>
          </a:prstGeom>
        </p:spPr>
      </p:pic>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Determine cause of faults</a:t>
            </a:r>
            <a:endParaRPr lang="en-US" dirty="0"/>
          </a:p>
        </p:txBody>
      </p:sp>
      <p:sp>
        <p:nvSpPr>
          <p:cNvPr id="3" name="Content Placeholder 2"/>
          <p:cNvSpPr>
            <a:spLocks noGrp="1"/>
          </p:cNvSpPr>
          <p:nvPr>
            <p:ph idx="1"/>
          </p:nvPr>
        </p:nvSpPr>
        <p:spPr>
          <a:xfrm>
            <a:off x="457200" y="1988840"/>
            <a:ext cx="4114800" cy="4608512"/>
          </a:xfrm>
        </p:spPr>
        <p:txBody>
          <a:bodyPr>
            <a:normAutofit lnSpcReduction="10000"/>
          </a:bodyPr>
          <a:lstStyle/>
          <a:p>
            <a:pPr marL="36576" indent="0">
              <a:buNone/>
            </a:pPr>
            <a:r>
              <a:rPr lang="en-US" dirty="0" smtClean="0"/>
              <a:t>In reality the process of identifying cause of faults (‘diagnosing faults’ or ‘troubleshooting’):</a:t>
            </a:r>
          </a:p>
          <a:p>
            <a:r>
              <a:rPr lang="en-US" dirty="0" smtClean="0"/>
              <a:t>Is often not straight-forward</a:t>
            </a:r>
          </a:p>
          <a:p>
            <a:r>
              <a:rPr lang="en-US" dirty="0" smtClean="0"/>
              <a:t>Can be very time consuming</a:t>
            </a:r>
          </a:p>
          <a:p>
            <a:r>
              <a:rPr lang="en-US" dirty="0" smtClean="0"/>
              <a:t>Can be difficult in terms of replicating the problem so the  fault/cause can be identified</a:t>
            </a:r>
          </a:p>
          <a:p>
            <a:r>
              <a:rPr lang="en-US" dirty="0" smtClean="0"/>
              <a:t>Can be more difficult than actually fixing the problem</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186</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4572000" y="2060848"/>
            <a:ext cx="2944000" cy="2880000"/>
          </a:xfrm>
          <a:prstGeom prst="rect">
            <a:avLst/>
          </a:prstGeom>
        </p:spPr>
      </p:pic>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Determine cause of faults</a:t>
            </a:r>
            <a:endParaRPr lang="en-US" dirty="0"/>
          </a:p>
        </p:txBody>
      </p:sp>
      <p:sp>
        <p:nvSpPr>
          <p:cNvPr id="3" name="Content Placeholder 2"/>
          <p:cNvSpPr>
            <a:spLocks noGrp="1"/>
          </p:cNvSpPr>
          <p:nvPr>
            <p:ph idx="1"/>
          </p:nvPr>
        </p:nvSpPr>
        <p:spPr/>
        <p:txBody>
          <a:bodyPr/>
          <a:lstStyle/>
          <a:p>
            <a:pPr marL="36576" indent="0">
              <a:buNone/>
            </a:pPr>
            <a:r>
              <a:rPr lang="en-US" dirty="0" smtClean="0"/>
              <a:t>SOPs for diagnosing faults:</a:t>
            </a:r>
          </a:p>
          <a:p>
            <a:r>
              <a:rPr lang="en-AU" dirty="0" smtClean="0"/>
              <a:t>Analysing available information (‘evidence’) as obtained from the fault identification process </a:t>
            </a:r>
            <a:endParaRPr lang="en-US" dirty="0" smtClean="0"/>
          </a:p>
          <a:p>
            <a:r>
              <a:rPr lang="en-US" dirty="0" smtClean="0"/>
              <a:t>Using diagnostic flowcharts</a:t>
            </a:r>
          </a:p>
          <a:p>
            <a:r>
              <a:rPr lang="en-US" dirty="0" smtClean="0"/>
              <a:t>Using on-board diagnostics</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187</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008499" y="1916832"/>
            <a:ext cx="3044450" cy="2880320"/>
          </a:xfrm>
          <a:prstGeom prst="rect">
            <a:avLst/>
          </a:prstGeom>
        </p:spPr>
      </p:pic>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Determine cause of faults</a:t>
            </a:r>
            <a:endParaRPr lang="en-US" dirty="0"/>
          </a:p>
        </p:txBody>
      </p:sp>
      <p:sp>
        <p:nvSpPr>
          <p:cNvPr id="3" name="Content Placeholder 2"/>
          <p:cNvSpPr>
            <a:spLocks noGrp="1"/>
          </p:cNvSpPr>
          <p:nvPr>
            <p:ph idx="1"/>
          </p:nvPr>
        </p:nvSpPr>
        <p:spPr/>
        <p:txBody>
          <a:bodyPr/>
          <a:lstStyle/>
          <a:p>
            <a:pPr marL="36576" indent="0">
              <a:buNone/>
            </a:pPr>
            <a:r>
              <a:rPr lang="en-AU" dirty="0" smtClean="0"/>
              <a:t>Referring to service and operator manuals</a:t>
            </a:r>
            <a:r>
              <a:rPr lang="en-US" dirty="0" smtClean="0"/>
              <a:t>:</a:t>
            </a:r>
          </a:p>
          <a:p>
            <a:r>
              <a:rPr lang="en-AU" dirty="0" smtClean="0"/>
              <a:t>Seeking additional advice from the manufacturer</a:t>
            </a:r>
            <a:endParaRPr lang="en-US" dirty="0" smtClean="0"/>
          </a:p>
          <a:p>
            <a:r>
              <a:rPr lang="en-AU" dirty="0" smtClean="0"/>
              <a:t>Referring to personal experience</a:t>
            </a:r>
            <a:endParaRPr lang="en-US" dirty="0" smtClean="0"/>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188</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292080" y="1916832"/>
            <a:ext cx="2160240" cy="3279964"/>
          </a:xfrm>
          <a:prstGeom prst="rect">
            <a:avLst/>
          </a:prstGeom>
        </p:spPr>
      </p:pic>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Determine cause of faults</a:t>
            </a:r>
            <a:endParaRPr lang="en-US" dirty="0"/>
          </a:p>
        </p:txBody>
      </p:sp>
      <p:sp>
        <p:nvSpPr>
          <p:cNvPr id="3" name="Content Placeholder 2"/>
          <p:cNvSpPr>
            <a:spLocks noGrp="1"/>
          </p:cNvSpPr>
          <p:nvPr>
            <p:ph idx="1"/>
          </p:nvPr>
        </p:nvSpPr>
        <p:spPr/>
        <p:txBody>
          <a:bodyPr/>
          <a:lstStyle/>
          <a:p>
            <a:pPr marL="36576" indent="0">
              <a:buNone/>
            </a:pPr>
            <a:r>
              <a:rPr lang="en-AU" dirty="0" smtClean="0"/>
              <a:t>Loading vehicle onto jacks, stands or a hydraulic lift</a:t>
            </a:r>
            <a:r>
              <a:rPr lang="en-US" dirty="0" smtClean="0"/>
              <a:t>:</a:t>
            </a:r>
          </a:p>
          <a:p>
            <a:r>
              <a:rPr lang="en-AU" dirty="0" smtClean="0"/>
              <a:t>Using applicable sensory appraisal to help determine cause </a:t>
            </a:r>
            <a:endParaRPr lang="en-US" dirty="0" smtClean="0"/>
          </a:p>
          <a:p>
            <a:r>
              <a:rPr lang="en-AU" dirty="0" smtClean="0"/>
              <a:t>Monitoring on-board instrument panel</a:t>
            </a:r>
          </a:p>
          <a:p>
            <a:r>
              <a:rPr lang="en-AU" dirty="0" smtClean="0"/>
              <a:t>Monitoring externally attached equipment  </a:t>
            </a:r>
            <a:endParaRPr lang="en-US" dirty="0" smtClean="0"/>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189</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2024485"/>
            <a:ext cx="3048000" cy="2033016"/>
          </a:xfrm>
          <a:prstGeom prst="rect">
            <a:avLst/>
          </a:prstGeom>
        </p:spPr>
      </p:pic>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 Element 2</a:t>
            </a:r>
            <a:endParaRPr lang="en-US" dirty="0"/>
          </a:p>
        </p:txBody>
      </p:sp>
      <p:sp>
        <p:nvSpPr>
          <p:cNvPr id="3" name="Content Placeholder 2"/>
          <p:cNvSpPr>
            <a:spLocks noGrp="1"/>
          </p:cNvSpPr>
          <p:nvPr>
            <p:ph idx="1"/>
          </p:nvPr>
        </p:nvSpPr>
        <p:spPr/>
        <p:txBody>
          <a:bodyPr/>
          <a:lstStyle/>
          <a:p>
            <a:pPr marL="36576" indent="0">
              <a:buNone/>
            </a:pPr>
            <a:r>
              <a:rPr lang="en-US" dirty="0" smtClean="0"/>
              <a:t>When </a:t>
            </a:r>
            <a:r>
              <a:rPr lang="en-AU" dirty="0" smtClean="0"/>
              <a:t>diagnosing minor vehicle faults</a:t>
            </a:r>
            <a:r>
              <a:rPr lang="en-US" dirty="0" smtClean="0"/>
              <a:t>:</a:t>
            </a:r>
          </a:p>
          <a:p>
            <a:r>
              <a:rPr lang="en-AU" dirty="0" smtClean="0"/>
              <a:t>Talk to vehicle operators</a:t>
            </a:r>
          </a:p>
          <a:p>
            <a:r>
              <a:rPr lang="en-AU" dirty="0" smtClean="0"/>
              <a:t>Test drive the vehicle</a:t>
            </a:r>
          </a:p>
          <a:p>
            <a:r>
              <a:rPr lang="en-AU" dirty="0" smtClean="0"/>
              <a:t>Run the vehicle</a:t>
            </a:r>
          </a:p>
          <a:p>
            <a:r>
              <a:rPr lang="en-AU" dirty="0" smtClean="0"/>
              <a:t>Read vehicle reports</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190</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652120" y="1916832"/>
            <a:ext cx="1444712" cy="2880000"/>
          </a:xfrm>
          <a:prstGeom prst="rect">
            <a:avLst/>
          </a:prstGeom>
        </p:spPr>
      </p:pic>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 Element 2</a:t>
            </a:r>
            <a:endParaRPr lang="en-US" dirty="0"/>
          </a:p>
        </p:txBody>
      </p:sp>
      <p:sp>
        <p:nvSpPr>
          <p:cNvPr id="3" name="Content Placeholder 2"/>
          <p:cNvSpPr>
            <a:spLocks noGrp="1"/>
          </p:cNvSpPr>
          <p:nvPr>
            <p:ph idx="1"/>
          </p:nvPr>
        </p:nvSpPr>
        <p:spPr/>
        <p:txBody>
          <a:bodyPr>
            <a:normAutofit/>
          </a:bodyPr>
          <a:lstStyle/>
          <a:p>
            <a:r>
              <a:rPr lang="en-AU" dirty="0" smtClean="0"/>
              <a:t>Identify location and nature of the fault</a:t>
            </a:r>
          </a:p>
          <a:p>
            <a:r>
              <a:rPr lang="en-AU" dirty="0" smtClean="0"/>
              <a:t>Analyse available information to determine cause/s of the fault </a:t>
            </a:r>
          </a:p>
          <a:p>
            <a:r>
              <a:rPr lang="en-AU" dirty="0" smtClean="0"/>
              <a:t>Use diagnostic tools to assist with diagnosis</a:t>
            </a:r>
          </a:p>
          <a:p>
            <a:r>
              <a:rPr lang="en-AU" dirty="0" smtClean="0"/>
              <a:t>Seek help when necessary</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191</a:t>
            </a:fld>
            <a:endParaRPr lang="en-US" dirty="0"/>
          </a:p>
        </p:txBody>
      </p:sp>
      <p:pic>
        <p:nvPicPr>
          <p:cNvPr id="5" name="Picture 4"/>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364088" y="1988840"/>
            <a:ext cx="2145516" cy="2880000"/>
          </a:xfrm>
          <a:prstGeom prst="rect">
            <a:avLst/>
          </a:prstGeom>
        </p:spPr>
      </p:pic>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Element 3 – Undertake minor repairs to vehicles</a:t>
            </a:r>
            <a:endParaRPr lang="en-US" dirty="0"/>
          </a:p>
        </p:txBody>
      </p:sp>
      <p:sp>
        <p:nvSpPr>
          <p:cNvPr id="3" name="Content Placeholder 2"/>
          <p:cNvSpPr>
            <a:spLocks noGrp="1"/>
          </p:cNvSpPr>
          <p:nvPr>
            <p:ph idx="1"/>
          </p:nvPr>
        </p:nvSpPr>
        <p:spPr>
          <a:xfrm>
            <a:off x="457200" y="1988840"/>
            <a:ext cx="4114800" cy="4433224"/>
          </a:xfrm>
        </p:spPr>
        <p:txBody>
          <a:bodyPr>
            <a:normAutofit lnSpcReduction="10000"/>
          </a:bodyPr>
          <a:lstStyle/>
          <a:p>
            <a:pPr marL="36576" indent="0">
              <a:buNone/>
            </a:pPr>
            <a:r>
              <a:rPr lang="en-US" dirty="0" smtClean="0"/>
              <a:t>Performance Criteria for this Element are:</a:t>
            </a:r>
          </a:p>
          <a:p>
            <a:r>
              <a:rPr lang="en-AU" dirty="0" smtClean="0"/>
              <a:t>Remove, repair and/or refit vehicle components</a:t>
            </a:r>
            <a:endParaRPr lang="en-US" dirty="0" smtClean="0"/>
          </a:p>
          <a:p>
            <a:r>
              <a:rPr lang="en-AU" dirty="0" smtClean="0"/>
              <a:t>Use correct tools and follow manufacturer’s instructions</a:t>
            </a:r>
          </a:p>
          <a:p>
            <a:r>
              <a:rPr lang="en-AU" dirty="0" smtClean="0"/>
              <a:t>Make arrangements for external repair provision where requirements cannot be accommodated internally</a:t>
            </a:r>
          </a:p>
          <a:p>
            <a:r>
              <a:rPr lang="en-AU" dirty="0" smtClean="0"/>
              <a:t>Comply with mandated safety requirements while undertaking repairs</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192</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076056" y="1918770"/>
            <a:ext cx="2158637" cy="2880000"/>
          </a:xfrm>
          <a:prstGeom prst="rect">
            <a:avLst/>
          </a:prstGeom>
        </p:spPr>
      </p:pic>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Remove, repair and/or refit vehicle components</a:t>
            </a:r>
            <a:endParaRPr lang="en-US" dirty="0"/>
          </a:p>
        </p:txBody>
      </p:sp>
      <p:sp>
        <p:nvSpPr>
          <p:cNvPr id="3" name="Content Placeholder 2"/>
          <p:cNvSpPr>
            <a:spLocks noGrp="1"/>
          </p:cNvSpPr>
          <p:nvPr>
            <p:ph idx="1"/>
          </p:nvPr>
        </p:nvSpPr>
        <p:spPr>
          <a:xfrm>
            <a:off x="457200" y="1988840"/>
            <a:ext cx="5482952" cy="4137323"/>
          </a:xfrm>
        </p:spPr>
        <p:txBody>
          <a:bodyPr>
            <a:normAutofit lnSpcReduction="10000"/>
          </a:bodyPr>
          <a:lstStyle/>
          <a:p>
            <a:pPr marL="36576" indent="0">
              <a:buNone/>
            </a:pPr>
            <a:r>
              <a:rPr lang="en-US" dirty="0" smtClean="0"/>
              <a:t>Important information:</a:t>
            </a:r>
          </a:p>
          <a:p>
            <a:r>
              <a:rPr lang="en-AU" dirty="0" smtClean="0"/>
              <a:t>Performing repairs to vehicles which are still under warranty can void the warranty</a:t>
            </a:r>
          </a:p>
          <a:p>
            <a:r>
              <a:rPr lang="en-AU" dirty="0" smtClean="0"/>
              <a:t>The actual work required may differ between makes and models of vehicles</a:t>
            </a:r>
          </a:p>
          <a:p>
            <a:r>
              <a:rPr lang="en-AU" dirty="0" smtClean="0"/>
              <a:t>Always be prepared to read Owner’s manual or Workshop manual</a:t>
            </a:r>
          </a:p>
          <a:p>
            <a:r>
              <a:rPr lang="en-AU" dirty="0" smtClean="0"/>
              <a:t>Obtain the right parts before starting the job</a:t>
            </a:r>
          </a:p>
          <a:p>
            <a:pPr marL="36576" indent="0">
              <a:buNone/>
            </a:pPr>
            <a:r>
              <a:rPr lang="en-US" sz="15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193</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919493" y="2420888"/>
            <a:ext cx="2002833" cy="2880000"/>
          </a:xfrm>
          <a:prstGeom prst="rect">
            <a:avLst/>
          </a:prstGeom>
        </p:spPr>
      </p:pic>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Remove, repair and/or refit vehicle components</a:t>
            </a:r>
            <a:endParaRPr lang="en-US" dirty="0"/>
          </a:p>
        </p:txBody>
      </p:sp>
      <p:sp>
        <p:nvSpPr>
          <p:cNvPr id="3" name="Content Placeholder 2"/>
          <p:cNvSpPr>
            <a:spLocks noGrp="1"/>
          </p:cNvSpPr>
          <p:nvPr>
            <p:ph idx="1"/>
          </p:nvPr>
        </p:nvSpPr>
        <p:spPr/>
        <p:txBody>
          <a:bodyPr>
            <a:normAutofit lnSpcReduction="10000"/>
          </a:bodyPr>
          <a:lstStyle/>
          <a:p>
            <a:r>
              <a:rPr lang="en-AU" dirty="0" smtClean="0"/>
              <a:t>Obtain and use the right tool/s for the job</a:t>
            </a:r>
          </a:p>
          <a:p>
            <a:r>
              <a:rPr lang="en-AU" dirty="0" smtClean="0"/>
              <a:t>Work steadily – never rush a job</a:t>
            </a:r>
          </a:p>
          <a:p>
            <a:r>
              <a:rPr lang="en-AU" dirty="0" smtClean="0"/>
              <a:t>Check the surrounding areas/sections for debris and/or damage at the same time</a:t>
            </a:r>
          </a:p>
          <a:p>
            <a:r>
              <a:rPr lang="en-AU" dirty="0" smtClean="0"/>
              <a:t>Never be afraid of asking for help from a more qualified or experienced person</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194</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4860032" y="2310088"/>
            <a:ext cx="2880320" cy="3187413"/>
          </a:xfrm>
          <a:prstGeom prst="rect">
            <a:avLst/>
          </a:prstGeom>
        </p:spPr>
      </p:pic>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Remove, repair and/or refit vehicle components</a:t>
            </a:r>
            <a:endParaRPr lang="en-US" dirty="0"/>
          </a:p>
        </p:txBody>
      </p:sp>
      <p:sp>
        <p:nvSpPr>
          <p:cNvPr id="3" name="Content Placeholder 2"/>
          <p:cNvSpPr>
            <a:spLocks noGrp="1"/>
          </p:cNvSpPr>
          <p:nvPr>
            <p:ph idx="1"/>
          </p:nvPr>
        </p:nvSpPr>
        <p:spPr/>
        <p:txBody>
          <a:bodyPr/>
          <a:lstStyle/>
          <a:p>
            <a:pPr marL="36576" indent="0">
              <a:buNone/>
            </a:pPr>
            <a:r>
              <a:rPr lang="en-US" dirty="0" smtClean="0"/>
              <a:t>Basic repairs can include:</a:t>
            </a:r>
          </a:p>
          <a:p>
            <a:r>
              <a:rPr lang="en-US" dirty="0" smtClean="0"/>
              <a:t>Replacing a light globe</a:t>
            </a:r>
          </a:p>
          <a:p>
            <a:r>
              <a:rPr lang="en-US" dirty="0" smtClean="0"/>
              <a:t>Replacing a reflector</a:t>
            </a:r>
          </a:p>
          <a:p>
            <a:r>
              <a:rPr lang="en-US" dirty="0" smtClean="0"/>
              <a:t>Replacing a lens</a:t>
            </a:r>
          </a:p>
          <a:p>
            <a:r>
              <a:rPr lang="en-US" dirty="0" smtClean="0"/>
              <a:t>Replacing a light unit</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195</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860032" y="1968920"/>
            <a:ext cx="2520280" cy="3652579"/>
          </a:xfrm>
          <a:prstGeom prst="rect">
            <a:avLst/>
          </a:prstGeom>
        </p:spPr>
      </p:pic>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Remove, repair and/or refit vehicle components</a:t>
            </a:r>
            <a:endParaRPr lang="en-US" dirty="0"/>
          </a:p>
        </p:txBody>
      </p:sp>
      <p:sp>
        <p:nvSpPr>
          <p:cNvPr id="3" name="Content Placeholder 2"/>
          <p:cNvSpPr>
            <a:spLocks noGrp="1"/>
          </p:cNvSpPr>
          <p:nvPr>
            <p:ph idx="1"/>
          </p:nvPr>
        </p:nvSpPr>
        <p:spPr/>
        <p:txBody>
          <a:bodyPr/>
          <a:lstStyle/>
          <a:p>
            <a:r>
              <a:rPr lang="en-US" dirty="0" smtClean="0"/>
              <a:t>Replacing a fan belt</a:t>
            </a:r>
          </a:p>
          <a:p>
            <a:r>
              <a:rPr lang="en-US" dirty="0" smtClean="0"/>
              <a:t>Replacing a fuse</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196</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2006189"/>
            <a:ext cx="3048000" cy="2033016"/>
          </a:xfrm>
          <a:prstGeom prst="rect">
            <a:avLst/>
          </a:prstGeom>
        </p:spPr>
      </p:pic>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Remove, repair and/or refit vehicle components</a:t>
            </a:r>
            <a:endParaRPr lang="en-US" dirty="0"/>
          </a:p>
        </p:txBody>
      </p:sp>
      <p:sp>
        <p:nvSpPr>
          <p:cNvPr id="3" name="Content Placeholder 2"/>
          <p:cNvSpPr>
            <a:spLocks noGrp="1"/>
          </p:cNvSpPr>
          <p:nvPr>
            <p:ph idx="1"/>
          </p:nvPr>
        </p:nvSpPr>
        <p:spPr/>
        <p:txBody>
          <a:bodyPr/>
          <a:lstStyle/>
          <a:p>
            <a:r>
              <a:rPr lang="en-US" dirty="0" smtClean="0"/>
              <a:t>Replacing spark plugs</a:t>
            </a:r>
          </a:p>
          <a:p>
            <a:r>
              <a:rPr lang="en-US" dirty="0" smtClean="0"/>
              <a:t>Replacing glow plugs</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197</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83279" y="1988840"/>
            <a:ext cx="3048000" cy="2033016"/>
          </a:xfrm>
          <a:prstGeom prst="rect">
            <a:avLst/>
          </a:prstGeom>
        </p:spPr>
      </p:pic>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Remove, repair and/or refit vehicle components</a:t>
            </a:r>
            <a:endParaRPr lang="en-US" dirty="0"/>
          </a:p>
        </p:txBody>
      </p:sp>
      <p:sp>
        <p:nvSpPr>
          <p:cNvPr id="3" name="Content Placeholder 2"/>
          <p:cNvSpPr>
            <a:spLocks noGrp="1"/>
          </p:cNvSpPr>
          <p:nvPr>
            <p:ph idx="1"/>
          </p:nvPr>
        </p:nvSpPr>
        <p:spPr/>
        <p:txBody>
          <a:bodyPr/>
          <a:lstStyle/>
          <a:p>
            <a:r>
              <a:rPr lang="en-US" dirty="0" smtClean="0"/>
              <a:t>Replacing mirrors</a:t>
            </a:r>
          </a:p>
          <a:p>
            <a:r>
              <a:rPr lang="en-US" dirty="0" smtClean="0"/>
              <a:t>Replacing coolant hoses</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198</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1994722"/>
            <a:ext cx="3048000" cy="2023872"/>
          </a:xfrm>
          <a:prstGeom prst="rect">
            <a:avLst/>
          </a:prstGeom>
        </p:spPr>
      </p:pic>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Remove, repair and/or refit vehicle components</a:t>
            </a:r>
            <a:endParaRPr lang="en-US" dirty="0"/>
          </a:p>
        </p:txBody>
      </p:sp>
      <p:sp>
        <p:nvSpPr>
          <p:cNvPr id="3" name="Content Placeholder 2"/>
          <p:cNvSpPr>
            <a:spLocks noGrp="1"/>
          </p:cNvSpPr>
          <p:nvPr>
            <p:ph idx="1"/>
          </p:nvPr>
        </p:nvSpPr>
        <p:spPr/>
        <p:txBody>
          <a:bodyPr/>
          <a:lstStyle/>
          <a:p>
            <a:r>
              <a:rPr lang="en-US" dirty="0" smtClean="0"/>
              <a:t>Changing tyres</a:t>
            </a:r>
          </a:p>
          <a:p>
            <a:r>
              <a:rPr lang="en-US" dirty="0" smtClean="0"/>
              <a:t>Repairing punctures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199</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98014" y="1988840"/>
            <a:ext cx="3048000" cy="2033016"/>
          </a:xfrm>
          <a:prstGeom prst="rect">
            <a:avLst/>
          </a:prstGeom>
        </p:spPr>
      </p:pic>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Use correct tools and follow manufacturer’s instructions</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US" dirty="0" smtClean="0"/>
              <a:t>Need to use right tools and follow manufacturer’s instructions:</a:t>
            </a:r>
          </a:p>
          <a:p>
            <a:r>
              <a:rPr lang="en-US" dirty="0" smtClean="0"/>
              <a:t>Saves time and avoids damage</a:t>
            </a:r>
          </a:p>
          <a:p>
            <a:r>
              <a:rPr lang="en-US" dirty="0" smtClean="0"/>
              <a:t>Reduces chance of personal injury</a:t>
            </a:r>
          </a:p>
          <a:p>
            <a:r>
              <a:rPr lang="en-US" dirty="0" smtClean="0"/>
              <a:t>Retains warranties/guarantees</a:t>
            </a:r>
          </a:p>
          <a:p>
            <a:r>
              <a:rPr lang="en-US" dirty="0" smtClean="0"/>
              <a:t>Optimises life of part/vehicle</a:t>
            </a:r>
          </a:p>
          <a:p>
            <a:r>
              <a:rPr lang="en-US" dirty="0" smtClean="0"/>
              <a:t>Ensures part works correctly with other parts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200</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1964976"/>
            <a:ext cx="3048000" cy="2026920"/>
          </a:xfrm>
          <a:prstGeom prst="rect">
            <a:avLst/>
          </a:prstGeom>
        </p:spPr>
      </p:pic>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Use correct tools and follow manufacturer’s instructions</a:t>
            </a:r>
            <a:endParaRPr lang="en-US" dirty="0"/>
          </a:p>
        </p:txBody>
      </p:sp>
      <p:sp>
        <p:nvSpPr>
          <p:cNvPr id="3" name="Content Placeholder 2"/>
          <p:cNvSpPr>
            <a:spLocks noGrp="1"/>
          </p:cNvSpPr>
          <p:nvPr>
            <p:ph idx="1"/>
          </p:nvPr>
        </p:nvSpPr>
        <p:spPr/>
        <p:txBody>
          <a:bodyPr/>
          <a:lstStyle/>
          <a:p>
            <a:pPr marL="36576" indent="0">
              <a:buNone/>
            </a:pPr>
            <a:r>
              <a:rPr lang="en-US" dirty="0" smtClean="0"/>
              <a:t>Hand tools:</a:t>
            </a:r>
          </a:p>
          <a:p>
            <a:r>
              <a:rPr lang="en-US" dirty="0" smtClean="0"/>
              <a:t>Wrenches – metric and standard (SAE)</a:t>
            </a:r>
          </a:p>
          <a:p>
            <a:r>
              <a:rPr lang="en-US" dirty="0" smtClean="0"/>
              <a:t>Adjustable wrench</a:t>
            </a:r>
          </a:p>
          <a:p>
            <a:r>
              <a:rPr lang="en-US" dirty="0" smtClean="0"/>
              <a:t>Combination wrench</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201</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2024485"/>
            <a:ext cx="3048000" cy="2033016"/>
          </a:xfrm>
          <a:prstGeom prst="rect">
            <a:avLst/>
          </a:prstGeom>
        </p:spPr>
      </p:pic>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Use correct tools and follow manufacturer’s instructions</a:t>
            </a:r>
            <a:endParaRPr lang="en-US" dirty="0"/>
          </a:p>
        </p:txBody>
      </p:sp>
      <p:sp>
        <p:nvSpPr>
          <p:cNvPr id="3" name="Content Placeholder 2"/>
          <p:cNvSpPr>
            <a:spLocks noGrp="1"/>
          </p:cNvSpPr>
          <p:nvPr>
            <p:ph idx="1"/>
          </p:nvPr>
        </p:nvSpPr>
        <p:spPr/>
        <p:txBody>
          <a:bodyPr/>
          <a:lstStyle/>
          <a:p>
            <a:r>
              <a:rPr lang="en-US" dirty="0" smtClean="0"/>
              <a:t>Ratchets</a:t>
            </a:r>
          </a:p>
          <a:p>
            <a:r>
              <a:rPr lang="en-US" dirty="0" smtClean="0"/>
              <a:t>Standard sockets</a:t>
            </a:r>
          </a:p>
          <a:p>
            <a:r>
              <a:rPr lang="en-US" dirty="0" smtClean="0"/>
              <a:t>Spark plug sockets</a:t>
            </a:r>
          </a:p>
          <a:p>
            <a:r>
              <a:rPr lang="en-US" dirty="0" smtClean="0"/>
              <a:t>Impact sockets</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202</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1988840"/>
            <a:ext cx="3048000" cy="2033016"/>
          </a:xfrm>
          <a:prstGeom prst="rect">
            <a:avLst/>
          </a:prstGeom>
        </p:spPr>
      </p:pic>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Use correct tools and follow manufacturer’s instructions</a:t>
            </a:r>
            <a:endParaRPr lang="en-US" dirty="0"/>
          </a:p>
        </p:txBody>
      </p:sp>
      <p:sp>
        <p:nvSpPr>
          <p:cNvPr id="3" name="Content Placeholder 2"/>
          <p:cNvSpPr>
            <a:spLocks noGrp="1"/>
          </p:cNvSpPr>
          <p:nvPr>
            <p:ph idx="1"/>
          </p:nvPr>
        </p:nvSpPr>
        <p:spPr/>
        <p:txBody>
          <a:bodyPr/>
          <a:lstStyle/>
          <a:p>
            <a:r>
              <a:rPr lang="en-US" dirty="0" smtClean="0"/>
              <a:t>Slip joint pliers</a:t>
            </a:r>
          </a:p>
          <a:p>
            <a:r>
              <a:rPr lang="en-US" dirty="0" smtClean="0"/>
              <a:t>Locking pliers</a:t>
            </a:r>
          </a:p>
          <a:p>
            <a:r>
              <a:rPr lang="en-US" dirty="0" smtClean="0"/>
              <a:t>Groove joint pliers</a:t>
            </a:r>
          </a:p>
          <a:p>
            <a:r>
              <a:rPr lang="en-US" dirty="0" smtClean="0"/>
              <a:t>Needle nose pliers</a:t>
            </a:r>
          </a:p>
          <a:p>
            <a:r>
              <a:rPr lang="en-US" dirty="0" smtClean="0"/>
              <a:t>Diagonal cutting pliers</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203</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29681" y="2024485"/>
            <a:ext cx="3048000" cy="2033016"/>
          </a:xfrm>
          <a:prstGeom prst="rect">
            <a:avLst/>
          </a:prstGeom>
        </p:spPr>
      </p:pic>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Use correct tools and follow manufacturer’s instructions</a:t>
            </a:r>
            <a:endParaRPr lang="en-US" dirty="0"/>
          </a:p>
        </p:txBody>
      </p:sp>
      <p:sp>
        <p:nvSpPr>
          <p:cNvPr id="3" name="Content Placeholder 2"/>
          <p:cNvSpPr>
            <a:spLocks noGrp="1"/>
          </p:cNvSpPr>
          <p:nvPr>
            <p:ph idx="1"/>
          </p:nvPr>
        </p:nvSpPr>
        <p:spPr/>
        <p:txBody>
          <a:bodyPr/>
          <a:lstStyle/>
          <a:p>
            <a:r>
              <a:rPr lang="en-US" dirty="0" smtClean="0"/>
              <a:t>Screwdrivers</a:t>
            </a:r>
          </a:p>
          <a:p>
            <a:r>
              <a:rPr lang="en-US" dirty="0" smtClean="0"/>
              <a:t>Hammers</a:t>
            </a:r>
          </a:p>
          <a:p>
            <a:r>
              <a:rPr lang="en-US" dirty="0" smtClean="0"/>
              <a:t>Pry bars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204</a:t>
            </a:fld>
            <a:endParaRPr lang="en-US" dirty="0"/>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t="16926" b="5113"/>
          <a:stretch/>
        </p:blipFill>
        <p:spPr>
          <a:xfrm>
            <a:off x="4716016" y="1988840"/>
            <a:ext cx="2903208" cy="3383232"/>
          </a:xfrm>
          <a:prstGeom prst="rect">
            <a:avLst/>
          </a:prstGeom>
        </p:spPr>
      </p:pic>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Use correct tools and follow manufacturer’s instructions</a:t>
            </a:r>
            <a:endParaRPr lang="en-US" dirty="0"/>
          </a:p>
        </p:txBody>
      </p:sp>
      <p:sp>
        <p:nvSpPr>
          <p:cNvPr id="3" name="Content Placeholder 2"/>
          <p:cNvSpPr>
            <a:spLocks noGrp="1"/>
          </p:cNvSpPr>
          <p:nvPr>
            <p:ph idx="1"/>
          </p:nvPr>
        </p:nvSpPr>
        <p:spPr/>
        <p:txBody>
          <a:bodyPr/>
          <a:lstStyle/>
          <a:p>
            <a:pPr marL="36576" indent="0">
              <a:buNone/>
            </a:pPr>
            <a:r>
              <a:rPr lang="en-US" dirty="0" smtClean="0"/>
              <a:t>Lifting tools:</a:t>
            </a:r>
          </a:p>
          <a:p>
            <a:r>
              <a:rPr lang="en-US" dirty="0" smtClean="0"/>
              <a:t>Floor jacks</a:t>
            </a:r>
          </a:p>
          <a:p>
            <a:r>
              <a:rPr lang="en-US" dirty="0" smtClean="0"/>
              <a:t>Ramps</a:t>
            </a:r>
          </a:p>
          <a:p>
            <a:r>
              <a:rPr lang="en-US" dirty="0" smtClean="0"/>
              <a:t>Wheel chocks</a:t>
            </a:r>
          </a:p>
          <a:p>
            <a:r>
              <a:rPr lang="en-US" dirty="0" smtClean="0"/>
              <a:t>Jack stands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205</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8506" y="2021378"/>
            <a:ext cx="3048000" cy="2033016"/>
          </a:xfrm>
          <a:prstGeom prst="rect">
            <a:avLst/>
          </a:prstGeom>
        </p:spPr>
      </p:pic>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Use correct tools and follow manufacturer’s instructions</a:t>
            </a:r>
            <a:endParaRPr lang="en-US" dirty="0"/>
          </a:p>
        </p:txBody>
      </p:sp>
      <p:sp>
        <p:nvSpPr>
          <p:cNvPr id="3" name="Content Placeholder 2"/>
          <p:cNvSpPr>
            <a:spLocks noGrp="1"/>
          </p:cNvSpPr>
          <p:nvPr>
            <p:ph idx="1"/>
          </p:nvPr>
        </p:nvSpPr>
        <p:spPr/>
        <p:txBody>
          <a:bodyPr/>
          <a:lstStyle/>
          <a:p>
            <a:pPr marL="36576" indent="0">
              <a:buNone/>
            </a:pPr>
            <a:r>
              <a:rPr lang="en-US" dirty="0" smtClean="0"/>
              <a:t>Tyre tools:</a:t>
            </a:r>
          </a:p>
          <a:p>
            <a:r>
              <a:rPr lang="en-US" dirty="0" smtClean="0"/>
              <a:t>Tyre pressure gauge</a:t>
            </a:r>
          </a:p>
          <a:p>
            <a:r>
              <a:rPr lang="en-US" dirty="0" smtClean="0"/>
              <a:t>Tread depth gauge</a:t>
            </a:r>
          </a:p>
          <a:p>
            <a:r>
              <a:rPr lang="en-US" dirty="0" smtClean="0"/>
              <a:t>Tyre plug tools</a:t>
            </a:r>
          </a:p>
          <a:p>
            <a:r>
              <a:rPr lang="en-US" dirty="0" smtClean="0"/>
              <a:t>Bottle and scissor jacks</a:t>
            </a:r>
          </a:p>
          <a:p>
            <a:r>
              <a:rPr lang="en-US" dirty="0" smtClean="0"/>
              <a:t>4-way tyre tool</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206</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0" y="2024485"/>
            <a:ext cx="3581400" cy="2388794"/>
          </a:xfrm>
          <a:prstGeom prst="rect">
            <a:avLst/>
          </a:prstGeom>
        </p:spPr>
      </p:pic>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Use correct tools and follow manufacturer’s instructions</a:t>
            </a:r>
            <a:endParaRPr lang="en-US" dirty="0"/>
          </a:p>
        </p:txBody>
      </p:sp>
      <p:sp>
        <p:nvSpPr>
          <p:cNvPr id="3" name="Content Placeholder 2"/>
          <p:cNvSpPr>
            <a:spLocks noGrp="1"/>
          </p:cNvSpPr>
          <p:nvPr>
            <p:ph idx="1"/>
          </p:nvPr>
        </p:nvSpPr>
        <p:spPr/>
        <p:txBody>
          <a:bodyPr/>
          <a:lstStyle/>
          <a:p>
            <a:pPr marL="36576" indent="0">
              <a:buNone/>
            </a:pPr>
            <a:r>
              <a:rPr lang="en-US" dirty="0" smtClean="0"/>
              <a:t>Measuring tools – metric/international and English/customary:</a:t>
            </a:r>
          </a:p>
          <a:p>
            <a:r>
              <a:rPr lang="en-US" dirty="0" smtClean="0"/>
              <a:t>Rulers and tapes</a:t>
            </a:r>
          </a:p>
          <a:p>
            <a:r>
              <a:rPr lang="en-US" dirty="0" smtClean="0"/>
              <a:t>Torque wrench</a:t>
            </a:r>
          </a:p>
          <a:p>
            <a:r>
              <a:rPr lang="en-US" dirty="0" smtClean="0"/>
              <a:t>Coolant tester</a:t>
            </a:r>
          </a:p>
          <a:p>
            <a:r>
              <a:rPr lang="en-US" dirty="0" smtClean="0"/>
              <a:t>Spark plug gauge</a:t>
            </a:r>
          </a:p>
          <a:p>
            <a:r>
              <a:rPr lang="en-US" dirty="0" smtClean="0"/>
              <a:t>Precision measuring tools – feeler gauges, calipers, micrometers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207</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12786" y="2024485"/>
            <a:ext cx="3048000" cy="2033016"/>
          </a:xfrm>
          <a:prstGeom prst="rect">
            <a:avLst/>
          </a:prstGeom>
        </p:spPr>
      </p:pic>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Use correct tools and follow manufacturer’s instructions</a:t>
            </a:r>
            <a:endParaRPr lang="en-US" dirty="0"/>
          </a:p>
        </p:txBody>
      </p:sp>
      <p:sp>
        <p:nvSpPr>
          <p:cNvPr id="3" name="Content Placeholder 2"/>
          <p:cNvSpPr>
            <a:spLocks noGrp="1"/>
          </p:cNvSpPr>
          <p:nvPr>
            <p:ph idx="1"/>
          </p:nvPr>
        </p:nvSpPr>
        <p:spPr/>
        <p:txBody>
          <a:bodyPr/>
          <a:lstStyle/>
          <a:p>
            <a:pPr marL="36576" indent="0">
              <a:buNone/>
            </a:pPr>
            <a:r>
              <a:rPr lang="en-US" dirty="0" smtClean="0"/>
              <a:t>Tools to maintain the electrical system:</a:t>
            </a:r>
          </a:p>
          <a:p>
            <a:r>
              <a:rPr lang="en-US" dirty="0" smtClean="0"/>
              <a:t>Multi-meter</a:t>
            </a:r>
          </a:p>
          <a:p>
            <a:r>
              <a:rPr lang="en-US" dirty="0" smtClean="0"/>
              <a:t>Fuse puller</a:t>
            </a:r>
          </a:p>
          <a:p>
            <a:r>
              <a:rPr lang="en-US" dirty="0" smtClean="0"/>
              <a:t>Wire strippers</a:t>
            </a:r>
          </a:p>
          <a:p>
            <a:r>
              <a:rPr lang="en-US" dirty="0" smtClean="0"/>
              <a:t>Battery load tester</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208</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2025356"/>
            <a:ext cx="3048000" cy="2033016"/>
          </a:xfrm>
          <a:prstGeom prst="rect">
            <a:avLst/>
          </a:prstGeom>
        </p:spPr>
      </p:pic>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Use correct tools and follow manufacturer’s instructions</a:t>
            </a:r>
            <a:endParaRPr lang="en-US" dirty="0"/>
          </a:p>
        </p:txBody>
      </p:sp>
      <p:sp>
        <p:nvSpPr>
          <p:cNvPr id="3" name="Content Placeholder 2"/>
          <p:cNvSpPr>
            <a:spLocks noGrp="1"/>
          </p:cNvSpPr>
          <p:nvPr>
            <p:ph idx="1"/>
          </p:nvPr>
        </p:nvSpPr>
        <p:spPr/>
        <p:txBody>
          <a:bodyPr/>
          <a:lstStyle/>
          <a:p>
            <a:r>
              <a:rPr lang="en-US" dirty="0" smtClean="0"/>
              <a:t>Jumper cables</a:t>
            </a:r>
          </a:p>
          <a:p>
            <a:r>
              <a:rPr lang="en-US" dirty="0" smtClean="0"/>
              <a:t>Battery terminal puller</a:t>
            </a:r>
          </a:p>
          <a:p>
            <a:r>
              <a:rPr lang="en-US" dirty="0" smtClean="0"/>
              <a:t>Battery brush</a:t>
            </a:r>
          </a:p>
          <a:p>
            <a:r>
              <a:rPr lang="en-US" dirty="0" smtClean="0"/>
              <a:t>Battery terminal spreader</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209</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2024485"/>
            <a:ext cx="3048000" cy="2033016"/>
          </a:xfrm>
          <a:prstGeom prst="rect">
            <a:avLst/>
          </a:prstGeom>
        </p:spPr>
      </p:pic>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Use correct tools and follow manufacturer’s instructions</a:t>
            </a:r>
            <a:endParaRPr lang="en-US" dirty="0"/>
          </a:p>
        </p:txBody>
      </p:sp>
      <p:sp>
        <p:nvSpPr>
          <p:cNvPr id="3" name="Content Placeholder 2"/>
          <p:cNvSpPr>
            <a:spLocks noGrp="1"/>
          </p:cNvSpPr>
          <p:nvPr>
            <p:ph idx="1"/>
          </p:nvPr>
        </p:nvSpPr>
        <p:spPr/>
        <p:txBody>
          <a:bodyPr/>
          <a:lstStyle/>
          <a:p>
            <a:pPr marL="36576" indent="0">
              <a:buNone/>
            </a:pPr>
            <a:r>
              <a:rPr lang="en-US" dirty="0" smtClean="0"/>
              <a:t>Oil change and lube tools:</a:t>
            </a:r>
          </a:p>
          <a:p>
            <a:r>
              <a:rPr lang="en-US" dirty="0" smtClean="0"/>
              <a:t>Oil drain pan</a:t>
            </a:r>
          </a:p>
          <a:p>
            <a:r>
              <a:rPr lang="en-US" dirty="0" smtClean="0"/>
              <a:t>Oil filter wrench</a:t>
            </a:r>
          </a:p>
          <a:p>
            <a:r>
              <a:rPr lang="en-US" dirty="0" smtClean="0"/>
              <a:t>Funnel</a:t>
            </a:r>
          </a:p>
          <a:p>
            <a:r>
              <a:rPr lang="en-US" dirty="0" smtClean="0"/>
              <a:t>Grease gun</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210</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1988840"/>
            <a:ext cx="3048000" cy="2029968"/>
          </a:xfrm>
          <a:prstGeom prst="rect">
            <a:avLst/>
          </a:prstGeom>
        </p:spPr>
      </p:pic>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Use correct tools and follow manufacturer’s instructions</a:t>
            </a:r>
            <a:endParaRPr lang="en-US" dirty="0"/>
          </a:p>
        </p:txBody>
      </p:sp>
      <p:sp>
        <p:nvSpPr>
          <p:cNvPr id="3" name="Content Placeholder 2"/>
          <p:cNvSpPr>
            <a:spLocks noGrp="1"/>
          </p:cNvSpPr>
          <p:nvPr>
            <p:ph idx="1"/>
          </p:nvPr>
        </p:nvSpPr>
        <p:spPr/>
        <p:txBody>
          <a:bodyPr/>
          <a:lstStyle/>
          <a:p>
            <a:pPr marL="36576" indent="0">
              <a:buNone/>
            </a:pPr>
            <a:r>
              <a:rPr lang="en-US" dirty="0" smtClean="0"/>
              <a:t>Cutting and grinding tools:</a:t>
            </a:r>
          </a:p>
          <a:p>
            <a:r>
              <a:rPr lang="en-US" dirty="0" smtClean="0"/>
              <a:t>Hacksaw</a:t>
            </a:r>
          </a:p>
          <a:p>
            <a:r>
              <a:rPr lang="en-US" dirty="0" smtClean="0"/>
              <a:t>File</a:t>
            </a:r>
          </a:p>
          <a:p>
            <a:r>
              <a:rPr lang="en-US" dirty="0" smtClean="0"/>
              <a:t>Chisel</a:t>
            </a:r>
          </a:p>
          <a:p>
            <a:r>
              <a:rPr lang="en-US" dirty="0" smtClean="0"/>
              <a:t>Punch</a:t>
            </a:r>
          </a:p>
          <a:p>
            <a:r>
              <a:rPr lang="en-US" dirty="0" smtClean="0"/>
              <a:t>Grinder</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211</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35036" y="1986143"/>
            <a:ext cx="3048000" cy="2404872"/>
          </a:xfrm>
          <a:prstGeom prst="rect">
            <a:avLst/>
          </a:prstGeom>
        </p:spPr>
      </p:pic>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Make arrangements for external repair</a:t>
            </a:r>
            <a:endParaRPr lang="en-US" dirty="0"/>
          </a:p>
        </p:txBody>
      </p:sp>
      <p:sp>
        <p:nvSpPr>
          <p:cNvPr id="3" name="Content Placeholder 2"/>
          <p:cNvSpPr>
            <a:spLocks noGrp="1"/>
          </p:cNvSpPr>
          <p:nvPr>
            <p:ph idx="1"/>
          </p:nvPr>
        </p:nvSpPr>
        <p:spPr/>
        <p:txBody>
          <a:bodyPr/>
          <a:lstStyle/>
          <a:p>
            <a:pPr marL="36576" indent="0">
              <a:buNone/>
            </a:pPr>
            <a:r>
              <a:rPr lang="en-US" dirty="0" smtClean="0"/>
              <a:t>Issues/factors which can influence the need for external repairs:</a:t>
            </a:r>
          </a:p>
          <a:p>
            <a:r>
              <a:rPr lang="en-US" dirty="0" smtClean="0"/>
              <a:t>Extent of work required</a:t>
            </a:r>
          </a:p>
          <a:p>
            <a:r>
              <a:rPr lang="en-US" dirty="0" smtClean="0"/>
              <a:t>How soon the repairs are needed</a:t>
            </a:r>
          </a:p>
          <a:p>
            <a:r>
              <a:rPr lang="en-US" dirty="0" smtClean="0"/>
              <a:t>Safety issues</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212</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48064" y="1988840"/>
            <a:ext cx="2185416" cy="3048000"/>
          </a:xfrm>
          <a:prstGeom prst="rect">
            <a:avLst/>
          </a:prstGeom>
        </p:spPr>
      </p:pic>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Make arrangements for external repair</a:t>
            </a:r>
            <a:endParaRPr lang="en-US" dirty="0"/>
          </a:p>
        </p:txBody>
      </p:sp>
      <p:sp>
        <p:nvSpPr>
          <p:cNvPr id="3" name="Content Placeholder 2"/>
          <p:cNvSpPr>
            <a:spLocks noGrp="1"/>
          </p:cNvSpPr>
          <p:nvPr>
            <p:ph idx="1"/>
          </p:nvPr>
        </p:nvSpPr>
        <p:spPr/>
        <p:txBody>
          <a:bodyPr/>
          <a:lstStyle/>
          <a:p>
            <a:r>
              <a:rPr lang="en-US" dirty="0" smtClean="0"/>
              <a:t>Complexity of work to be done</a:t>
            </a:r>
          </a:p>
          <a:p>
            <a:r>
              <a:rPr lang="en-US" dirty="0" smtClean="0"/>
              <a:t>Terms and warranties applying to vehicles</a:t>
            </a:r>
          </a:p>
          <a:p>
            <a:r>
              <a:rPr lang="en-US" dirty="0" smtClean="0"/>
              <a:t>Tools and equipment available</a:t>
            </a:r>
          </a:p>
          <a:p>
            <a:r>
              <a:rPr lang="en-US" dirty="0" smtClean="0"/>
              <a:t>Expertise of employees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213</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04048" y="1988840"/>
            <a:ext cx="2499360" cy="3048000"/>
          </a:xfrm>
          <a:prstGeom prst="rect">
            <a:avLst/>
          </a:prstGeom>
        </p:spPr>
      </p:pic>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Make arrangements for external repair</a:t>
            </a:r>
            <a:endParaRPr lang="en-US" dirty="0"/>
          </a:p>
        </p:txBody>
      </p:sp>
      <p:sp>
        <p:nvSpPr>
          <p:cNvPr id="3" name="Content Placeholder 2"/>
          <p:cNvSpPr>
            <a:spLocks noGrp="1"/>
          </p:cNvSpPr>
          <p:nvPr>
            <p:ph idx="1"/>
          </p:nvPr>
        </p:nvSpPr>
        <p:spPr/>
        <p:txBody>
          <a:bodyPr/>
          <a:lstStyle/>
          <a:p>
            <a:pPr marL="36576" indent="0">
              <a:buNone/>
            </a:pPr>
            <a:r>
              <a:rPr lang="en-US" dirty="0" smtClean="0"/>
              <a:t>Steps in the process:</a:t>
            </a:r>
          </a:p>
          <a:p>
            <a:r>
              <a:rPr lang="en-US" dirty="0" smtClean="0"/>
              <a:t>Notify management/administration</a:t>
            </a:r>
          </a:p>
          <a:p>
            <a:r>
              <a:rPr lang="en-US" dirty="0" smtClean="0"/>
              <a:t>Identify repairer to be used</a:t>
            </a:r>
          </a:p>
          <a:p>
            <a:r>
              <a:rPr lang="en-US" dirty="0" smtClean="0"/>
              <a:t>Speak to the provider/repairer</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214</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60032" y="1963527"/>
            <a:ext cx="2313432" cy="3048000"/>
          </a:xfrm>
          <a:prstGeom prst="rect">
            <a:avLst/>
          </a:prstGeom>
        </p:spPr>
      </p:pic>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Make arrangements for external repair</a:t>
            </a:r>
            <a:endParaRPr lang="en-US" dirty="0"/>
          </a:p>
        </p:txBody>
      </p:sp>
      <p:sp>
        <p:nvSpPr>
          <p:cNvPr id="3" name="Content Placeholder 2"/>
          <p:cNvSpPr>
            <a:spLocks noGrp="1"/>
          </p:cNvSpPr>
          <p:nvPr>
            <p:ph idx="1"/>
          </p:nvPr>
        </p:nvSpPr>
        <p:spPr/>
        <p:txBody>
          <a:bodyPr/>
          <a:lstStyle/>
          <a:p>
            <a:r>
              <a:rPr lang="en-US" dirty="0" smtClean="0"/>
              <a:t>Schedule the work</a:t>
            </a:r>
          </a:p>
          <a:p>
            <a:r>
              <a:rPr lang="en-US" dirty="0" smtClean="0"/>
              <a:t>Make a booking with the repairer</a:t>
            </a:r>
          </a:p>
          <a:p>
            <a:r>
              <a:rPr lang="en-US" dirty="0" smtClean="0"/>
              <a:t>Take other necessary action to cover absence of the vehicle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215</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007" y="2132856"/>
            <a:ext cx="3048000" cy="2331720"/>
          </a:xfrm>
          <a:prstGeom prst="rect">
            <a:avLst/>
          </a:prstGeom>
        </p:spPr>
      </p:pic>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Comply with mandated safety requirements while undertaking repairs</a:t>
            </a:r>
            <a:endParaRPr lang="en-US" dirty="0"/>
          </a:p>
        </p:txBody>
      </p:sp>
      <p:sp>
        <p:nvSpPr>
          <p:cNvPr id="3" name="Content Placeholder 2"/>
          <p:cNvSpPr>
            <a:spLocks noGrp="1"/>
          </p:cNvSpPr>
          <p:nvPr>
            <p:ph idx="1"/>
          </p:nvPr>
        </p:nvSpPr>
        <p:spPr>
          <a:xfrm>
            <a:off x="457200" y="1988839"/>
            <a:ext cx="4762872" cy="4798349"/>
          </a:xfrm>
        </p:spPr>
        <p:txBody>
          <a:bodyPr>
            <a:normAutofit/>
          </a:bodyPr>
          <a:lstStyle/>
          <a:p>
            <a:pPr marL="36576" indent="0">
              <a:buNone/>
            </a:pPr>
            <a:r>
              <a:rPr lang="en-US" dirty="0" smtClean="0"/>
              <a:t>Safety signage usually international in shape and colour:</a:t>
            </a:r>
          </a:p>
          <a:p>
            <a:r>
              <a:rPr lang="en-US" dirty="0" smtClean="0"/>
              <a:t>Red with diagonal line = Do Not …</a:t>
            </a:r>
          </a:p>
          <a:p>
            <a:r>
              <a:rPr lang="en-US" dirty="0" smtClean="0"/>
              <a:t>Blue = something must be done</a:t>
            </a:r>
          </a:p>
          <a:p>
            <a:r>
              <a:rPr lang="en-US" dirty="0" smtClean="0"/>
              <a:t>Yellow = warning/be aware that …</a:t>
            </a:r>
          </a:p>
          <a:p>
            <a:r>
              <a:rPr lang="en-US" dirty="0" smtClean="0"/>
              <a:t>Green = assistance/directional/advice</a:t>
            </a:r>
          </a:p>
          <a:p>
            <a:r>
              <a:rPr lang="en-US" dirty="0" smtClean="0"/>
              <a:t>Red = fire equipment and exits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216</a:t>
            </a:fld>
            <a:endParaRPr lang="en-US" dirty="0"/>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8000"/>
          <a:stretch/>
        </p:blipFill>
        <p:spPr>
          <a:xfrm>
            <a:off x="5417041" y="2017893"/>
            <a:ext cx="2704728" cy="2632585"/>
          </a:xfrm>
          <a:prstGeom prst="rect">
            <a:avLst/>
          </a:prstGeom>
        </p:spPr>
      </p:pic>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Comply with mandated safety requirements while undertaking repairs</a:t>
            </a:r>
            <a:endParaRPr lang="en-US" dirty="0"/>
          </a:p>
        </p:txBody>
      </p:sp>
      <p:pic>
        <p:nvPicPr>
          <p:cNvPr id="6" name="Content Placeholder 5" descr="no-mobile-circle"/>
          <p:cNvPicPr>
            <a:picLocks noGrp="1"/>
          </p:cNvPicPr>
          <p:nvPr>
            <p:ph idx="1"/>
          </p:nvPr>
        </p:nvPicPr>
        <p:blipFill>
          <a:blip r:embed="rId3" cstate="print"/>
          <a:srcRect/>
          <a:stretch>
            <a:fillRect/>
          </a:stretch>
        </p:blipFill>
        <p:spPr>
          <a:xfrm>
            <a:off x="971600" y="1988840"/>
            <a:ext cx="2358115" cy="2358115"/>
          </a:xfrm>
        </p:spPr>
      </p:pic>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217</a:t>
            </a:fld>
            <a:endParaRPr lang="en-US" dirty="0"/>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Comply with mandated safety requirements while undertaking repairs</a:t>
            </a:r>
            <a:endParaRPr lang="en-US" dirty="0"/>
          </a:p>
        </p:txBody>
      </p:sp>
      <p:pic>
        <p:nvPicPr>
          <p:cNvPr id="7" name="Content Placeholder 6" descr="no smoking"/>
          <p:cNvPicPr>
            <a:picLocks noGrp="1"/>
          </p:cNvPicPr>
          <p:nvPr>
            <p:ph idx="1"/>
          </p:nvPr>
        </p:nvPicPr>
        <p:blipFill>
          <a:blip r:embed="rId3" cstate="print"/>
          <a:srcRect/>
          <a:stretch>
            <a:fillRect/>
          </a:stretch>
        </p:blipFill>
        <p:spPr>
          <a:xfrm>
            <a:off x="827584" y="1844824"/>
            <a:ext cx="2339728" cy="2279129"/>
          </a:xfrm>
        </p:spPr>
      </p:pic>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218</a:t>
            </a:fld>
            <a:endParaRPr lang="en-US" dirty="0"/>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Comply with mandated safety requirements while undertaking repairs</a:t>
            </a:r>
            <a:endParaRPr lang="en-US" dirty="0"/>
          </a:p>
        </p:txBody>
      </p:sp>
      <p:pic>
        <p:nvPicPr>
          <p:cNvPr id="6" name="Content Placeholder 5" descr="danger"/>
          <p:cNvPicPr>
            <a:picLocks noGrp="1"/>
          </p:cNvPicPr>
          <p:nvPr>
            <p:ph idx="1"/>
          </p:nvPr>
        </p:nvPicPr>
        <p:blipFill>
          <a:blip r:embed="rId3" cstate="print"/>
          <a:srcRect/>
          <a:stretch>
            <a:fillRect/>
          </a:stretch>
        </p:blipFill>
        <p:spPr>
          <a:xfrm>
            <a:off x="971600" y="1988840"/>
            <a:ext cx="3619500" cy="3238500"/>
          </a:xfrm>
        </p:spPr>
      </p:pic>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219</a:t>
            </a:fld>
            <a:endParaRPr lang="en-US" dirty="0"/>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Comply with mandated safety requirements while undertaking repairs</a:t>
            </a:r>
            <a:endParaRPr lang="en-US"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220</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 y="1916832"/>
            <a:ext cx="3048000" cy="2816352"/>
          </a:xfrm>
          <a:prstGeom prst="rect">
            <a:avLst/>
          </a:prstGeom>
        </p:spPr>
      </p:pic>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Comply with mandated safety requirements while undertaking repairs</a:t>
            </a:r>
            <a:endParaRPr lang="en-US" dirty="0"/>
          </a:p>
        </p:txBody>
      </p:sp>
      <p:pic>
        <p:nvPicPr>
          <p:cNvPr id="6" name="Content Placeholder 5" descr="eye wash"/>
          <p:cNvPicPr>
            <a:picLocks noGrp="1"/>
          </p:cNvPicPr>
          <p:nvPr>
            <p:ph idx="1"/>
          </p:nvPr>
        </p:nvPicPr>
        <p:blipFill>
          <a:blip r:embed="rId3" cstate="print"/>
          <a:srcRect/>
          <a:stretch>
            <a:fillRect/>
          </a:stretch>
        </p:blipFill>
        <p:spPr>
          <a:xfrm>
            <a:off x="965192" y="1989138"/>
            <a:ext cx="3098816" cy="4137025"/>
          </a:xfrm>
        </p:spPr>
      </p:pic>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221</a:t>
            </a:fld>
            <a:endParaRPr lang="en-US" dirty="0"/>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Comply with mandated safety requirements while undertaking repairs</a:t>
            </a:r>
            <a:endParaRPr lang="en-US" dirty="0"/>
          </a:p>
        </p:txBody>
      </p:sp>
      <p:pic>
        <p:nvPicPr>
          <p:cNvPr id="6" name="Content Placeholder 5" descr="first aid"/>
          <p:cNvPicPr>
            <a:picLocks noGrp="1"/>
          </p:cNvPicPr>
          <p:nvPr>
            <p:ph idx="1"/>
          </p:nvPr>
        </p:nvPicPr>
        <p:blipFill>
          <a:blip r:embed="rId3" cstate="print"/>
          <a:srcRect/>
          <a:stretch>
            <a:fillRect/>
          </a:stretch>
        </p:blipFill>
        <p:spPr>
          <a:xfrm>
            <a:off x="971600" y="1988840"/>
            <a:ext cx="2388493" cy="2315001"/>
          </a:xfrm>
        </p:spPr>
      </p:pic>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222</a:t>
            </a:fld>
            <a:endParaRPr lang="en-US" dirty="0"/>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Comply with mandated safety requirements while undertaking repairs</a:t>
            </a:r>
            <a:endParaRPr lang="en-US" dirty="0"/>
          </a:p>
        </p:txBody>
      </p:sp>
      <p:pic>
        <p:nvPicPr>
          <p:cNvPr id="6" name="Content Placeholder 5" descr="fire signs 3"/>
          <p:cNvPicPr>
            <a:picLocks noGrp="1"/>
          </p:cNvPicPr>
          <p:nvPr>
            <p:ph idx="1"/>
          </p:nvPr>
        </p:nvPicPr>
        <p:blipFill>
          <a:blip r:embed="rId3" cstate="print"/>
          <a:srcRect/>
          <a:stretch>
            <a:fillRect/>
          </a:stretch>
        </p:blipFill>
        <p:spPr>
          <a:xfrm>
            <a:off x="971600" y="1988840"/>
            <a:ext cx="2143125" cy="2105025"/>
          </a:xfrm>
        </p:spPr>
      </p:pic>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223</a:t>
            </a:fld>
            <a:endParaRPr lang="en-US" dirty="0"/>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Comply with mandated safety requirements while undertaking repairs</a:t>
            </a:r>
            <a:endParaRPr lang="en-US" dirty="0"/>
          </a:p>
        </p:txBody>
      </p:sp>
      <p:pic>
        <p:nvPicPr>
          <p:cNvPr id="6" name="Content Placeholder 5" descr="fire signs 2"/>
          <p:cNvPicPr>
            <a:picLocks noGrp="1"/>
          </p:cNvPicPr>
          <p:nvPr>
            <p:ph idx="1"/>
          </p:nvPr>
        </p:nvPicPr>
        <p:blipFill>
          <a:blip r:embed="rId3" cstate="print"/>
          <a:srcRect/>
          <a:stretch>
            <a:fillRect/>
          </a:stretch>
        </p:blipFill>
        <p:spPr>
          <a:xfrm>
            <a:off x="971600" y="1988840"/>
            <a:ext cx="2857500" cy="2905125"/>
          </a:xfrm>
        </p:spPr>
      </p:pic>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224</a:t>
            </a:fld>
            <a:endParaRPr lang="en-US" dirty="0"/>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Comply with mandated safety requirements while undertaking repairs</a:t>
            </a:r>
            <a:endParaRPr lang="en-US" dirty="0"/>
          </a:p>
        </p:txBody>
      </p:sp>
      <p:pic>
        <p:nvPicPr>
          <p:cNvPr id="6" name="Content Placeholder 5" descr="fire signs"/>
          <p:cNvPicPr>
            <a:picLocks noGrp="1"/>
          </p:cNvPicPr>
          <p:nvPr>
            <p:ph idx="1"/>
          </p:nvPr>
        </p:nvPicPr>
        <p:blipFill>
          <a:blip r:embed="rId3" cstate="print"/>
          <a:srcRect/>
          <a:stretch>
            <a:fillRect/>
          </a:stretch>
        </p:blipFill>
        <p:spPr>
          <a:xfrm>
            <a:off x="971600" y="1988840"/>
            <a:ext cx="2448272" cy="2448272"/>
          </a:xfrm>
        </p:spPr>
      </p:pic>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225</a:t>
            </a:fld>
            <a:endParaRPr lang="en-US" dirty="0"/>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Comply with mandated safety requirements while undertaking repairs</a:t>
            </a:r>
            <a:endParaRPr lang="en-US" dirty="0"/>
          </a:p>
        </p:txBody>
      </p:sp>
      <p:sp>
        <p:nvSpPr>
          <p:cNvPr id="3" name="Content Placeholder 2"/>
          <p:cNvSpPr>
            <a:spLocks noGrp="1"/>
          </p:cNvSpPr>
          <p:nvPr>
            <p:ph idx="1"/>
          </p:nvPr>
        </p:nvSpPr>
        <p:spPr/>
        <p:txBody>
          <a:bodyPr/>
          <a:lstStyle/>
          <a:p>
            <a:pPr marL="36576" indent="0">
              <a:buNone/>
            </a:pPr>
            <a:r>
              <a:rPr lang="en-US" dirty="0" smtClean="0"/>
              <a:t>Timing of need to comply with manufacturer’s instructions:</a:t>
            </a:r>
          </a:p>
          <a:p>
            <a:r>
              <a:rPr lang="en-US" dirty="0" smtClean="0"/>
              <a:t>Before using the part/item</a:t>
            </a:r>
          </a:p>
          <a:p>
            <a:r>
              <a:rPr lang="en-US" dirty="0" smtClean="0"/>
              <a:t>When actually using items/equipment</a:t>
            </a:r>
          </a:p>
          <a:p>
            <a:r>
              <a:rPr lang="en-US" dirty="0" smtClean="0"/>
              <a:t>After use</a:t>
            </a:r>
          </a:p>
          <a:p>
            <a:r>
              <a:rPr lang="en-US" dirty="0" smtClean="0"/>
              <a:t>When maintaining equipment/items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226</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2080" y="1988840"/>
            <a:ext cx="2157984" cy="3048000"/>
          </a:xfrm>
          <a:prstGeom prst="rect">
            <a:avLst/>
          </a:prstGeom>
        </p:spPr>
      </p:pic>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Comply with mandated safety requirements while undertaking repairs</a:t>
            </a:r>
            <a:endParaRPr lang="en-US" dirty="0"/>
          </a:p>
        </p:txBody>
      </p:sp>
      <p:sp>
        <p:nvSpPr>
          <p:cNvPr id="3" name="Content Placeholder 2"/>
          <p:cNvSpPr>
            <a:spLocks noGrp="1"/>
          </p:cNvSpPr>
          <p:nvPr>
            <p:ph idx="1"/>
          </p:nvPr>
        </p:nvSpPr>
        <p:spPr/>
        <p:txBody>
          <a:bodyPr/>
          <a:lstStyle/>
          <a:p>
            <a:pPr marL="36576" indent="0">
              <a:buNone/>
            </a:pPr>
            <a:r>
              <a:rPr lang="en-US" dirty="0" smtClean="0"/>
              <a:t>Keys in following manufacturer’s instructions:</a:t>
            </a:r>
          </a:p>
          <a:p>
            <a:r>
              <a:rPr lang="en-US" dirty="0" smtClean="0"/>
              <a:t>Obtain the instructions</a:t>
            </a:r>
          </a:p>
          <a:p>
            <a:r>
              <a:rPr lang="en-US" dirty="0" smtClean="0"/>
              <a:t>Read the instructions</a:t>
            </a:r>
          </a:p>
          <a:p>
            <a:r>
              <a:rPr lang="en-US" dirty="0" smtClean="0"/>
              <a:t>Use items/equipment as directed</a:t>
            </a:r>
          </a:p>
          <a:p>
            <a:r>
              <a:rPr lang="en-US" dirty="0" smtClean="0"/>
              <a:t>Stop use IMMEDIATELY a problem is identified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227</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99992" y="1998361"/>
            <a:ext cx="3651586" cy="2720432"/>
          </a:xfrm>
          <a:prstGeom prst="rect">
            <a:avLst/>
          </a:prstGeom>
        </p:spPr>
      </p:pic>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Comply with mandated safety requirements while undertaking repairs</a:t>
            </a:r>
            <a:endParaRPr lang="en-US" dirty="0"/>
          </a:p>
        </p:txBody>
      </p:sp>
      <p:sp>
        <p:nvSpPr>
          <p:cNvPr id="3" name="Content Placeholder 2"/>
          <p:cNvSpPr>
            <a:spLocks noGrp="1"/>
          </p:cNvSpPr>
          <p:nvPr>
            <p:ph idx="1"/>
          </p:nvPr>
        </p:nvSpPr>
        <p:spPr/>
        <p:txBody>
          <a:bodyPr/>
          <a:lstStyle/>
          <a:p>
            <a:pPr marL="36576" indent="0">
              <a:buNone/>
            </a:pPr>
            <a:r>
              <a:rPr lang="en-US" dirty="0" smtClean="0"/>
              <a:t>A system exists for classifying and labelling chemicals:</a:t>
            </a:r>
          </a:p>
          <a:p>
            <a:r>
              <a:rPr lang="en-US" dirty="0" smtClean="0"/>
              <a:t>Features workplace signage</a:t>
            </a:r>
          </a:p>
          <a:p>
            <a:r>
              <a:rPr lang="en-US" dirty="0" smtClean="0"/>
              <a:t>Used around the world</a:t>
            </a:r>
          </a:p>
          <a:p>
            <a:r>
              <a:rPr lang="en-US" dirty="0" smtClean="0"/>
              <a:t>Warns workers of dangers/risks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228</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16016" y="1988839"/>
            <a:ext cx="3312368" cy="2567085"/>
          </a:xfrm>
          <a:prstGeom prst="rect">
            <a:avLst/>
          </a:prstGeom>
        </p:spPr>
      </p:pic>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 Element 3</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US" dirty="0" smtClean="0"/>
              <a:t>When </a:t>
            </a:r>
            <a:r>
              <a:rPr lang="en-AU" dirty="0" smtClean="0"/>
              <a:t>undertaking minor repairs to vehicles</a:t>
            </a:r>
            <a:r>
              <a:rPr lang="en-US" dirty="0" smtClean="0"/>
              <a:t>:</a:t>
            </a:r>
          </a:p>
          <a:p>
            <a:r>
              <a:rPr lang="en-AU" dirty="0" smtClean="0"/>
              <a:t>Take care not to void warranties</a:t>
            </a:r>
          </a:p>
          <a:p>
            <a:r>
              <a:rPr lang="en-AU" dirty="0" smtClean="0"/>
              <a:t>Refer to owner/workshop manuals for direction and advice</a:t>
            </a:r>
          </a:p>
          <a:p>
            <a:r>
              <a:rPr lang="en-AU" dirty="0" smtClean="0"/>
              <a:t>Obtain the required parts before starting the job</a:t>
            </a:r>
          </a:p>
          <a:p>
            <a:r>
              <a:rPr lang="en-AU" dirty="0" smtClean="0"/>
              <a:t>Obtain and use the right tools for the job</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229</a:t>
            </a:fld>
            <a:endParaRPr lang="en-US" dirty="0"/>
          </a:p>
        </p:txBody>
      </p:sp>
      <p:pic>
        <p:nvPicPr>
          <p:cNvPr id="5" name="Picture 4"/>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427984" y="2204862"/>
            <a:ext cx="3816424" cy="2741040"/>
          </a:xfrm>
          <a:prstGeom prst="rect">
            <a:avLst/>
          </a:prstGeom>
        </p:spPr>
      </p:pic>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 Element 3</a:t>
            </a:r>
            <a:endParaRPr lang="en-US" dirty="0"/>
          </a:p>
        </p:txBody>
      </p:sp>
      <p:sp>
        <p:nvSpPr>
          <p:cNvPr id="3" name="Content Placeholder 2"/>
          <p:cNvSpPr>
            <a:spLocks noGrp="1"/>
          </p:cNvSpPr>
          <p:nvPr>
            <p:ph idx="1"/>
          </p:nvPr>
        </p:nvSpPr>
        <p:spPr/>
        <p:txBody>
          <a:bodyPr>
            <a:normAutofit/>
          </a:bodyPr>
          <a:lstStyle/>
          <a:p>
            <a:r>
              <a:rPr lang="en-AU" dirty="0" smtClean="0"/>
              <a:t>Work safely</a:t>
            </a:r>
          </a:p>
          <a:p>
            <a:r>
              <a:rPr lang="en-AU" dirty="0" smtClean="0"/>
              <a:t>Check for other problems with the vehicle at the site where work is being done</a:t>
            </a:r>
          </a:p>
          <a:p>
            <a:r>
              <a:rPr lang="en-AU" dirty="0" smtClean="0"/>
              <a:t>Perform basic repairs on-site where possible and practicable</a:t>
            </a:r>
          </a:p>
          <a:p>
            <a:r>
              <a:rPr lang="en-AU" dirty="0" smtClean="0"/>
              <a:t>Arrange for external repairs where matters cannot be resolved internally</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230</a:t>
            </a:fld>
            <a:endParaRPr lang="en-US" dirty="0"/>
          </a:p>
        </p:txBody>
      </p:sp>
      <p:pic>
        <p:nvPicPr>
          <p:cNvPr id="5" name="Picture 4"/>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346457" y="1700808"/>
            <a:ext cx="4346457" cy="2880000"/>
          </a:xfrm>
          <a:prstGeom prst="rect">
            <a:avLst/>
          </a:prstGeom>
        </p:spPr>
      </p:pic>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Element 4 – Complete documentation</a:t>
            </a:r>
            <a:endParaRPr lang="en-US" dirty="0"/>
          </a:p>
        </p:txBody>
      </p:sp>
      <p:sp>
        <p:nvSpPr>
          <p:cNvPr id="3" name="Content Placeholder 2"/>
          <p:cNvSpPr>
            <a:spLocks noGrp="1"/>
          </p:cNvSpPr>
          <p:nvPr>
            <p:ph idx="1"/>
          </p:nvPr>
        </p:nvSpPr>
        <p:spPr>
          <a:xfrm>
            <a:off x="457200" y="1988840"/>
            <a:ext cx="4978896" cy="4433224"/>
          </a:xfrm>
        </p:spPr>
        <p:txBody>
          <a:bodyPr>
            <a:normAutofit/>
          </a:bodyPr>
          <a:lstStyle/>
          <a:p>
            <a:pPr marL="36576" indent="0">
              <a:buNone/>
            </a:pPr>
            <a:r>
              <a:rPr lang="en-US" dirty="0" smtClean="0"/>
              <a:t>Performance Criteria for this Element are:</a:t>
            </a:r>
          </a:p>
          <a:p>
            <a:r>
              <a:rPr lang="en-AU" dirty="0" smtClean="0"/>
              <a:t>Ensure vehicle inspection checklists are completed, dated, signed and filed</a:t>
            </a:r>
          </a:p>
          <a:p>
            <a:r>
              <a:rPr lang="en-AU" dirty="0" smtClean="0"/>
              <a:t>Complete internal documents to record provision of service and repairs</a:t>
            </a:r>
          </a:p>
          <a:p>
            <a:r>
              <a:rPr lang="en-AU" dirty="0" smtClean="0"/>
              <a:t>Adhere to requirements in relation to the completion and maintenance of vehicle service and repair documentation</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231</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148064" y="1977019"/>
            <a:ext cx="2592288" cy="3539893"/>
          </a:xfrm>
          <a:prstGeom prst="rect">
            <a:avLst/>
          </a:prstGeom>
        </p:spPr>
      </p:pic>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Ensure vehicle inspection checklists are completed</a:t>
            </a:r>
            <a:endParaRPr lang="en-US" dirty="0"/>
          </a:p>
        </p:txBody>
      </p:sp>
      <p:sp>
        <p:nvSpPr>
          <p:cNvPr id="3" name="Content Placeholder 2"/>
          <p:cNvSpPr>
            <a:spLocks noGrp="1"/>
          </p:cNvSpPr>
          <p:nvPr>
            <p:ph idx="1"/>
          </p:nvPr>
        </p:nvSpPr>
        <p:spPr/>
        <p:txBody>
          <a:bodyPr/>
          <a:lstStyle/>
          <a:p>
            <a:pPr marL="36576" indent="0">
              <a:buNone/>
            </a:pPr>
            <a:r>
              <a:rPr lang="en-US" dirty="0" smtClean="0"/>
              <a:t>Standard practices in relation to completing documentation:</a:t>
            </a:r>
          </a:p>
          <a:p>
            <a:r>
              <a:rPr lang="en-US" dirty="0" smtClean="0"/>
              <a:t>Obtain necessary checklists</a:t>
            </a:r>
          </a:p>
          <a:p>
            <a:r>
              <a:rPr lang="en-US" dirty="0" smtClean="0"/>
              <a:t>Cary and use checklists when inspecting vehicle</a:t>
            </a:r>
          </a:p>
          <a:p>
            <a:r>
              <a:rPr lang="en-US" dirty="0" smtClean="0"/>
              <a:t>Undertake inspections at required times/intervals</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232</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796136" y="1939314"/>
            <a:ext cx="1632586" cy="3240000"/>
          </a:xfrm>
          <a:prstGeom prst="rect">
            <a:avLst/>
          </a:prstGeom>
        </p:spPr>
      </p:pic>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Ensure vehicle inspection checklists are completed</a:t>
            </a:r>
            <a:endParaRPr lang="en-US" dirty="0"/>
          </a:p>
        </p:txBody>
      </p:sp>
      <p:sp>
        <p:nvSpPr>
          <p:cNvPr id="3" name="Content Placeholder 2"/>
          <p:cNvSpPr>
            <a:spLocks noGrp="1"/>
          </p:cNvSpPr>
          <p:nvPr>
            <p:ph idx="1"/>
          </p:nvPr>
        </p:nvSpPr>
        <p:spPr/>
        <p:txBody>
          <a:bodyPr/>
          <a:lstStyle/>
          <a:p>
            <a:r>
              <a:rPr lang="en-US" dirty="0" smtClean="0"/>
              <a:t>Inspect vehicle following sequence printed on Inspection Checklists</a:t>
            </a:r>
          </a:p>
          <a:p>
            <a:r>
              <a:rPr lang="en-US" dirty="0" smtClean="0"/>
              <a:t>Undertake all listed checks</a:t>
            </a:r>
          </a:p>
          <a:p>
            <a:r>
              <a:rPr lang="en-US" dirty="0" smtClean="0"/>
              <a:t>Tick off items as they are inspected</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233</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4989559" y="2204863"/>
            <a:ext cx="3294422" cy="2991601"/>
          </a:xfrm>
          <a:prstGeom prst="rect">
            <a:avLst/>
          </a:prstGeom>
        </p:spPr>
      </p:pic>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Ensure vehicle inspection checklists are completed</a:t>
            </a:r>
            <a:endParaRPr lang="en-US" dirty="0"/>
          </a:p>
        </p:txBody>
      </p:sp>
      <p:sp>
        <p:nvSpPr>
          <p:cNvPr id="3" name="Content Placeholder 2"/>
          <p:cNvSpPr>
            <a:spLocks noGrp="1"/>
          </p:cNvSpPr>
          <p:nvPr>
            <p:ph idx="1"/>
          </p:nvPr>
        </p:nvSpPr>
        <p:spPr/>
        <p:txBody>
          <a:bodyPr/>
          <a:lstStyle/>
          <a:p>
            <a:r>
              <a:rPr lang="en-US" dirty="0" smtClean="0"/>
              <a:t>Put crosses in checkboxes where there are issues</a:t>
            </a:r>
          </a:p>
          <a:p>
            <a:r>
              <a:rPr lang="en-US" dirty="0" smtClean="0"/>
              <a:t>Add information to describe problems</a:t>
            </a:r>
          </a:p>
          <a:p>
            <a:r>
              <a:rPr lang="en-US" dirty="0" smtClean="0"/>
              <a:t>Take unsafe vehicles out of service</a:t>
            </a:r>
          </a:p>
          <a:p>
            <a:r>
              <a:rPr lang="en-US" dirty="0" smtClean="0"/>
              <a:t>Record odometer reading</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234</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2024485"/>
            <a:ext cx="3048000" cy="2033016"/>
          </a:xfrm>
          <a:prstGeom prst="rect">
            <a:avLst/>
          </a:prstGeom>
        </p:spPr>
      </p:pic>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Ensure vehicle inspection checklists are completed</a:t>
            </a:r>
            <a:endParaRPr lang="en-US" dirty="0"/>
          </a:p>
        </p:txBody>
      </p:sp>
      <p:sp>
        <p:nvSpPr>
          <p:cNvPr id="3" name="Content Placeholder 2"/>
          <p:cNvSpPr>
            <a:spLocks noGrp="1"/>
          </p:cNvSpPr>
          <p:nvPr>
            <p:ph idx="1"/>
          </p:nvPr>
        </p:nvSpPr>
        <p:spPr/>
        <p:txBody>
          <a:bodyPr/>
          <a:lstStyle/>
          <a:p>
            <a:r>
              <a:rPr lang="en-US" dirty="0" smtClean="0"/>
              <a:t>Date the checklist</a:t>
            </a:r>
          </a:p>
          <a:p>
            <a:r>
              <a:rPr lang="en-US" dirty="0" smtClean="0"/>
              <a:t>Sign it</a:t>
            </a:r>
          </a:p>
          <a:p>
            <a:r>
              <a:rPr lang="en-US" dirty="0" smtClean="0"/>
              <a:t>Process the form</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235</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292080" y="2320663"/>
            <a:ext cx="1828623" cy="3240000"/>
          </a:xfrm>
          <a:prstGeom prst="rect">
            <a:avLst/>
          </a:prstGeom>
        </p:spPr>
      </p:pic>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Complete internal documents to record provision of service and repairs</a:t>
            </a:r>
            <a:endParaRPr lang="en-US" dirty="0"/>
          </a:p>
        </p:txBody>
      </p:sp>
      <p:sp>
        <p:nvSpPr>
          <p:cNvPr id="3" name="Content Placeholder 2"/>
          <p:cNvSpPr>
            <a:spLocks noGrp="1"/>
          </p:cNvSpPr>
          <p:nvPr>
            <p:ph idx="1"/>
          </p:nvPr>
        </p:nvSpPr>
        <p:spPr/>
        <p:txBody>
          <a:bodyPr/>
          <a:lstStyle/>
          <a:p>
            <a:pPr marL="36576" indent="0">
              <a:buNone/>
            </a:pPr>
            <a:r>
              <a:rPr lang="en-US" dirty="0" smtClean="0"/>
              <a:t>Completing documents can involve:</a:t>
            </a:r>
          </a:p>
          <a:p>
            <a:r>
              <a:rPr lang="en-US" dirty="0" smtClean="0"/>
              <a:t>Use approved form/template</a:t>
            </a:r>
          </a:p>
          <a:p>
            <a:r>
              <a:rPr lang="en-US" dirty="0" smtClean="0"/>
              <a:t>Identify vehicle being serviced/repaired</a:t>
            </a:r>
          </a:p>
          <a:p>
            <a:r>
              <a:rPr lang="en-US" dirty="0" smtClean="0"/>
              <a:t>Complete form as work progresses or immediately after</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236</a:t>
            </a:fld>
            <a:endParaRPr lang="en-US" dirty="0"/>
          </a:p>
        </p:txBody>
      </p:sp>
      <p:pic>
        <p:nvPicPr>
          <p:cNvPr id="5" name="Picture 4"/>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292080" y="2060848"/>
            <a:ext cx="2113556" cy="3024336"/>
          </a:xfrm>
          <a:prstGeom prst="rect">
            <a:avLst/>
          </a:prstGeom>
        </p:spPr>
      </p:pic>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Complete internal documents to record provision of service and repairs</a:t>
            </a:r>
            <a:endParaRPr lang="en-US" dirty="0"/>
          </a:p>
        </p:txBody>
      </p:sp>
      <p:sp>
        <p:nvSpPr>
          <p:cNvPr id="3" name="Content Placeholder 2"/>
          <p:cNvSpPr>
            <a:spLocks noGrp="1"/>
          </p:cNvSpPr>
          <p:nvPr>
            <p:ph idx="1"/>
          </p:nvPr>
        </p:nvSpPr>
        <p:spPr/>
        <p:txBody>
          <a:bodyPr/>
          <a:lstStyle/>
          <a:p>
            <a:r>
              <a:rPr lang="en-US" dirty="0" smtClean="0"/>
              <a:t>Describe repairs/service provided</a:t>
            </a:r>
          </a:p>
          <a:p>
            <a:r>
              <a:rPr lang="en-US" dirty="0" smtClean="0"/>
              <a:t>Note matters for future attention</a:t>
            </a:r>
          </a:p>
          <a:p>
            <a:r>
              <a:rPr lang="en-US" dirty="0" smtClean="0"/>
              <a:t>Record items used</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237</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012160" y="1988839"/>
            <a:ext cx="1800200" cy="2697119"/>
          </a:xfrm>
          <a:prstGeom prst="rect">
            <a:avLst/>
          </a:prstGeom>
        </p:spPr>
      </p:pic>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Complete internal documents to record provision of service and repairs</a:t>
            </a:r>
            <a:endParaRPr lang="en-US" dirty="0"/>
          </a:p>
        </p:txBody>
      </p:sp>
      <p:sp>
        <p:nvSpPr>
          <p:cNvPr id="3" name="Content Placeholder 2"/>
          <p:cNvSpPr>
            <a:spLocks noGrp="1"/>
          </p:cNvSpPr>
          <p:nvPr>
            <p:ph idx="1"/>
          </p:nvPr>
        </p:nvSpPr>
        <p:spPr/>
        <p:txBody>
          <a:bodyPr/>
          <a:lstStyle/>
          <a:p>
            <a:r>
              <a:rPr lang="en-US" dirty="0" smtClean="0"/>
              <a:t>Update next scheduled service date/odometer reading</a:t>
            </a:r>
          </a:p>
          <a:p>
            <a:r>
              <a:rPr lang="en-US" dirty="0" smtClean="0"/>
              <a:t>Attach relevant documents together</a:t>
            </a:r>
          </a:p>
          <a:p>
            <a:r>
              <a:rPr lang="en-US" dirty="0" smtClean="0"/>
              <a:t>Return vehicle to service</a:t>
            </a:r>
          </a:p>
          <a:p>
            <a:r>
              <a:rPr lang="en-US" dirty="0" smtClean="0"/>
              <a:t>Notify others</a:t>
            </a:r>
          </a:p>
          <a:p>
            <a:r>
              <a:rPr lang="en-US" dirty="0" smtClean="0"/>
              <a:t>Process paperwork</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238</a:t>
            </a:fld>
            <a:endParaRPr lang="en-US" dirty="0"/>
          </a:p>
        </p:txBody>
      </p:sp>
      <p:pic>
        <p:nvPicPr>
          <p:cNvPr id="5" name="Picture 4"/>
          <p:cNvPicPr>
            <a:picLocks noChangeAspect="1"/>
          </p:cNvPicPr>
          <p:nvPr/>
        </p:nvPicPr>
        <p:blipFill>
          <a:blip r:embed="rId3">
            <a:clrChange>
              <a:clrFrom>
                <a:srgbClr val="FEFEFE"/>
              </a:clrFrom>
              <a:clrTo>
                <a:srgbClr val="FEFEFE">
                  <a:alpha val="0"/>
                </a:srgbClr>
              </a:clrTo>
            </a:clrChange>
            <a:extLst>
              <a:ext uri="{28A0092B-C50C-407E-A947-70E740481C1C}">
                <a14:useLocalDpi xmlns:a14="http://schemas.microsoft.com/office/drawing/2010/main"/>
              </a:ext>
            </a:extLst>
          </a:blip>
          <a:stretch>
            <a:fillRect/>
          </a:stretch>
        </p:blipFill>
        <p:spPr>
          <a:xfrm>
            <a:off x="5364088" y="2060848"/>
            <a:ext cx="1872208" cy="2805004"/>
          </a:xfrm>
          <a:prstGeom prst="rect">
            <a:avLst/>
          </a:prstGeom>
        </p:spPr>
      </p:pic>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Adhere to other service and repair documentation requirements</a:t>
            </a:r>
            <a:endParaRPr lang="en-US" dirty="0"/>
          </a:p>
        </p:txBody>
      </p:sp>
      <p:sp>
        <p:nvSpPr>
          <p:cNvPr id="3" name="Content Placeholder 2"/>
          <p:cNvSpPr>
            <a:spLocks noGrp="1"/>
          </p:cNvSpPr>
          <p:nvPr>
            <p:ph idx="1"/>
          </p:nvPr>
        </p:nvSpPr>
        <p:spPr/>
        <p:txBody>
          <a:bodyPr/>
          <a:lstStyle/>
          <a:p>
            <a:pPr marL="36576" indent="0">
              <a:buNone/>
            </a:pPr>
            <a:r>
              <a:rPr lang="en-US" dirty="0" smtClean="0"/>
              <a:t>Need to complete documentation:</a:t>
            </a:r>
          </a:p>
          <a:p>
            <a:r>
              <a:rPr lang="en-US" dirty="0" smtClean="0"/>
              <a:t>Meet a range of internal operational needs:</a:t>
            </a:r>
          </a:p>
          <a:p>
            <a:r>
              <a:rPr lang="en-US" dirty="0" smtClean="0"/>
              <a:t>Comply with legislated requirements</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239</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220072" y="2036575"/>
            <a:ext cx="2101175" cy="2880000"/>
          </a:xfrm>
          <a:prstGeom prst="rect">
            <a:avLst/>
          </a:prstGeom>
        </p:spPr>
      </p:pic>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Adhere to other service and repair documentation requirements</a:t>
            </a:r>
            <a:endParaRPr lang="en-US" dirty="0"/>
          </a:p>
        </p:txBody>
      </p:sp>
      <p:sp>
        <p:nvSpPr>
          <p:cNvPr id="3" name="Content Placeholder 2"/>
          <p:cNvSpPr>
            <a:spLocks noGrp="1"/>
          </p:cNvSpPr>
          <p:nvPr>
            <p:ph idx="1"/>
          </p:nvPr>
        </p:nvSpPr>
        <p:spPr/>
        <p:txBody>
          <a:bodyPr/>
          <a:lstStyle/>
          <a:p>
            <a:pPr marL="36576" indent="0">
              <a:buNone/>
            </a:pPr>
            <a:r>
              <a:rPr lang="en-US" dirty="0" smtClean="0"/>
              <a:t>Satisfy requirements of:</a:t>
            </a:r>
          </a:p>
          <a:p>
            <a:r>
              <a:rPr lang="en-US" dirty="0" smtClean="0"/>
              <a:t>External clients</a:t>
            </a:r>
          </a:p>
          <a:p>
            <a:r>
              <a:rPr lang="en-US" dirty="0" smtClean="0"/>
              <a:t>Insurers and auditors</a:t>
            </a:r>
          </a:p>
          <a:p>
            <a:r>
              <a:rPr lang="en-US" dirty="0" smtClean="0"/>
              <a:t>Taxation agency</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240</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004048" y="2276872"/>
            <a:ext cx="2012371" cy="2880000"/>
          </a:xfrm>
          <a:prstGeom prst="rect">
            <a:avLst/>
          </a:prstGeom>
        </p:spPr>
      </p:pic>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 Element 4</a:t>
            </a:r>
            <a:endParaRPr lang="en-US" dirty="0"/>
          </a:p>
        </p:txBody>
      </p:sp>
      <p:sp>
        <p:nvSpPr>
          <p:cNvPr id="3" name="Content Placeholder 2"/>
          <p:cNvSpPr>
            <a:spLocks noGrp="1"/>
          </p:cNvSpPr>
          <p:nvPr>
            <p:ph idx="1"/>
          </p:nvPr>
        </p:nvSpPr>
        <p:spPr>
          <a:xfrm>
            <a:off x="457200" y="1988840"/>
            <a:ext cx="4834880" cy="4137323"/>
          </a:xfrm>
        </p:spPr>
        <p:txBody>
          <a:bodyPr>
            <a:normAutofit/>
          </a:bodyPr>
          <a:lstStyle/>
          <a:p>
            <a:pPr marL="36576" indent="0">
              <a:buNone/>
            </a:pPr>
            <a:r>
              <a:rPr lang="en-US" dirty="0" smtClean="0"/>
              <a:t>When </a:t>
            </a:r>
            <a:r>
              <a:rPr lang="en-AU" dirty="0" smtClean="0"/>
              <a:t>completing documentation</a:t>
            </a:r>
            <a:r>
              <a:rPr lang="en-US" dirty="0" smtClean="0"/>
              <a:t>:</a:t>
            </a:r>
          </a:p>
          <a:p>
            <a:r>
              <a:rPr lang="en-AU" dirty="0" smtClean="0"/>
              <a:t>Fill in vehicle inspection checklists as and when required</a:t>
            </a:r>
          </a:p>
          <a:p>
            <a:r>
              <a:rPr lang="en-AU" dirty="0" smtClean="0"/>
              <a:t>Date and sign documentation</a:t>
            </a:r>
          </a:p>
          <a:p>
            <a:r>
              <a:rPr lang="en-AU" dirty="0" smtClean="0"/>
              <a:t>Ensure all required information is provided and sufficient detail is recorded</a:t>
            </a:r>
          </a:p>
          <a:p>
            <a:r>
              <a:rPr lang="en-AU" dirty="0" smtClean="0"/>
              <a:t>Fill in internal documentation to record and describe service and repairs performed on vehicles</a:t>
            </a:r>
          </a:p>
          <a:p>
            <a:pPr marL="36576" lvl="0" indent="0">
              <a:buNone/>
            </a:pPr>
            <a:r>
              <a:rPr lang="en-US" sz="1500" dirty="0" smtClean="0"/>
              <a:t>(Continued)</a:t>
            </a:r>
            <a:endParaRPr lang="en-AU" sz="1500"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241</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518797" y="1852272"/>
            <a:ext cx="2006793" cy="3240000"/>
          </a:xfrm>
          <a:prstGeom prst="rect">
            <a:avLst/>
          </a:prstGeom>
        </p:spPr>
      </p:pic>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 Element 4</a:t>
            </a:r>
            <a:endParaRPr lang="en-US" dirty="0"/>
          </a:p>
        </p:txBody>
      </p:sp>
      <p:sp>
        <p:nvSpPr>
          <p:cNvPr id="3" name="Content Placeholder 2"/>
          <p:cNvSpPr>
            <a:spLocks noGrp="1"/>
          </p:cNvSpPr>
          <p:nvPr>
            <p:ph idx="1"/>
          </p:nvPr>
        </p:nvSpPr>
        <p:spPr>
          <a:xfrm>
            <a:off x="457200" y="1988840"/>
            <a:ext cx="4114800" cy="4433224"/>
          </a:xfrm>
        </p:spPr>
        <p:txBody>
          <a:bodyPr>
            <a:normAutofit lnSpcReduction="10000"/>
          </a:bodyPr>
          <a:lstStyle/>
          <a:p>
            <a:r>
              <a:rPr lang="en-AU" dirty="0" smtClean="0"/>
              <a:t>List resources used when servicing and repairing vehicles</a:t>
            </a:r>
          </a:p>
          <a:p>
            <a:r>
              <a:rPr lang="en-AU" dirty="0" smtClean="0"/>
              <a:t>Identify issues needing attention in the future as part of the document completion process</a:t>
            </a:r>
          </a:p>
          <a:p>
            <a:r>
              <a:rPr lang="en-AU" dirty="0" smtClean="0"/>
              <a:t>Up-date scheduled servicing records following completion of a service</a:t>
            </a:r>
          </a:p>
          <a:p>
            <a:r>
              <a:rPr lang="en-AU" dirty="0" smtClean="0"/>
              <a:t>Comply with externally-imposed compliance requirements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242</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508104" y="1916832"/>
            <a:ext cx="2017486" cy="3110881"/>
          </a:xfrm>
          <a:prstGeom prst="rect">
            <a:avLst/>
          </a:prstGeom>
        </p:spPr>
      </p:pic>
    </p:spTree>
  </p:cSld>
  <p:clrMapOvr>
    <a:masterClrMapping/>
  </p:clrMapOvr>
</p:sld>
</file>

<file path=ppt/theme/theme1.xml><?xml version="1.0" encoding="utf-8"?>
<a:theme xmlns:a="http://schemas.openxmlformats.org/drawingml/2006/main" name="PPT_Tour_operation_templates_130214">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PPT_Tour_operation_templates_130214</Template>
  <TotalTime>1532</TotalTime>
  <Words>30061</Words>
  <Application>Microsoft Office PowerPoint</Application>
  <PresentationFormat>On-screen Show (4:3)</PresentationFormat>
  <Paragraphs>4113</Paragraphs>
  <Slides>242</Slides>
  <Notes>242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242</vt:i4>
      </vt:variant>
    </vt:vector>
  </HeadingPairs>
  <TitlesOfParts>
    <vt:vector size="248" baseType="lpstr">
      <vt:lpstr>Arial</vt:lpstr>
      <vt:lpstr>Calibri</vt:lpstr>
      <vt:lpstr>Helvetica</vt:lpstr>
      <vt:lpstr>Wingdings</vt:lpstr>
      <vt:lpstr>Wingdings 2</vt:lpstr>
      <vt:lpstr>PPT_Tour_operation_templates_130214</vt:lpstr>
      <vt:lpstr>CARRY OUT VEHICLE MAINTENANCE OR MINOR REPAIRS</vt:lpstr>
      <vt:lpstr>Carry out vehicle maintenance or minor repairs</vt:lpstr>
      <vt:lpstr>Assessment</vt:lpstr>
      <vt:lpstr>Element 1 – Provide scheduled service to vehicles</vt:lpstr>
      <vt:lpstr>Element 1 – Provide scheduled service to vehicles</vt:lpstr>
      <vt:lpstr>Element 1 – Provide scheduled service to vehicles</vt:lpstr>
      <vt:lpstr>Element 1 – Provide scheduled service to vehicles</vt:lpstr>
      <vt:lpstr>Identify necessary minor servicing requirements for specific vehicles</vt:lpstr>
      <vt:lpstr>Identify necessary minor servicing requirements for specific vehicles</vt:lpstr>
      <vt:lpstr>Identify necessary minor servicing requirements for specific vehicles</vt:lpstr>
      <vt:lpstr>Identify necessary minor servicing requirements for specific vehicles</vt:lpstr>
      <vt:lpstr>Identify necessary minor servicing requirements for specific vehicles</vt:lpstr>
      <vt:lpstr>Identify necessary minor servicing requirements for specific vehicles</vt:lpstr>
      <vt:lpstr>Identify necessary minor servicing requirements for specific vehicles</vt:lpstr>
      <vt:lpstr>Determine situations in which maintenance may need to be carried out</vt:lpstr>
      <vt:lpstr>Determine situations in which maintenance may need to be carried out</vt:lpstr>
      <vt:lpstr>Undertake visual inspections of the vehicle</vt:lpstr>
      <vt:lpstr>Undertake visual inspections of the vehicle</vt:lpstr>
      <vt:lpstr>Undertake visual inspections of the vehicle</vt:lpstr>
      <vt:lpstr>Undertake visual inspections of the vehicle</vt:lpstr>
      <vt:lpstr>Check and adjust vehicle structure</vt:lpstr>
      <vt:lpstr>Check and adjust vehicle structure</vt:lpstr>
      <vt:lpstr>Check and adjust vehicle structure</vt:lpstr>
      <vt:lpstr>Check and adjust vehicle structure</vt:lpstr>
      <vt:lpstr>Check and adjust vehicle structure</vt:lpstr>
      <vt:lpstr>Check and adjust vehicle structure</vt:lpstr>
      <vt:lpstr>Check and adjust vehicle structure</vt:lpstr>
      <vt:lpstr>Check and adjust vehicle structure</vt:lpstr>
      <vt:lpstr>Check and adjust vehicle structure</vt:lpstr>
      <vt:lpstr>Check and adjust vehicle structure</vt:lpstr>
      <vt:lpstr>Check and adjust vehicle structure</vt:lpstr>
      <vt:lpstr>Check and adjust vehicle structure</vt:lpstr>
      <vt:lpstr>Check and adjust vehicle structure</vt:lpstr>
      <vt:lpstr>Check and adjust vehicle structure</vt:lpstr>
      <vt:lpstr>Check and adjust vehicle structure</vt:lpstr>
      <vt:lpstr>Check and adjust vehicle structure</vt:lpstr>
      <vt:lpstr>Check and adjust vehicle structure</vt:lpstr>
      <vt:lpstr>Check and adjust vehicle structure</vt:lpstr>
      <vt:lpstr>Check and adjust lighting</vt:lpstr>
      <vt:lpstr>Check and adjust lighting</vt:lpstr>
      <vt:lpstr>Check and adjust lighting</vt:lpstr>
      <vt:lpstr>Check and adjust lighting</vt:lpstr>
      <vt:lpstr>Check and adjust lighting</vt:lpstr>
      <vt:lpstr>Check and adjust lighting</vt:lpstr>
      <vt:lpstr>Check and adjust lighting</vt:lpstr>
      <vt:lpstr>Check and adjust lighting</vt:lpstr>
      <vt:lpstr>Check and adjust lighting</vt:lpstr>
      <vt:lpstr>Check and adjust lighting</vt:lpstr>
      <vt:lpstr>Check and adjust lighting</vt:lpstr>
      <vt:lpstr>Check and adjust lighting</vt:lpstr>
      <vt:lpstr>Check and adjust lighting</vt:lpstr>
      <vt:lpstr>Check and adjust lighting</vt:lpstr>
      <vt:lpstr>Check and adjust lighting</vt:lpstr>
      <vt:lpstr>Check and adjust lighting</vt:lpstr>
      <vt:lpstr>Check and adjust lighting</vt:lpstr>
      <vt:lpstr>Check and adjust lighting</vt:lpstr>
      <vt:lpstr>Check and adjust lighting</vt:lpstr>
      <vt:lpstr>Check and adjust vision-related items</vt:lpstr>
      <vt:lpstr>Check and adjust vision-related items</vt:lpstr>
      <vt:lpstr>Check and adjust vision-related items</vt:lpstr>
      <vt:lpstr>Check and adjust vision-related items</vt:lpstr>
      <vt:lpstr>Check and adjust vision-related items</vt:lpstr>
      <vt:lpstr>Check and adjust vision-related items</vt:lpstr>
      <vt:lpstr>Check and adjust entrances and exits</vt:lpstr>
      <vt:lpstr>Check and adjust entrances and exits</vt:lpstr>
      <vt:lpstr>Check and adjust entrances and exits</vt:lpstr>
      <vt:lpstr>Check and adjust entrances and exits</vt:lpstr>
      <vt:lpstr>Check and adjust entrances and exits</vt:lpstr>
      <vt:lpstr>Check and adjust entrances and exits</vt:lpstr>
      <vt:lpstr>Check and adjust entrances and exits</vt:lpstr>
      <vt:lpstr>Check and adjust entrances and exits</vt:lpstr>
      <vt:lpstr>Check and adjust vehicle interior</vt:lpstr>
      <vt:lpstr>Check and adjust vehicle interior</vt:lpstr>
      <vt:lpstr>Check and adjust vehicle interior</vt:lpstr>
      <vt:lpstr>Check and adjust vehicle interior</vt:lpstr>
      <vt:lpstr>Check and adjust vehicle interior</vt:lpstr>
      <vt:lpstr>Check and adjust vehicle interior</vt:lpstr>
      <vt:lpstr>Check and adjust vehicle interior</vt:lpstr>
      <vt:lpstr>Check and adjust vehicle interior</vt:lpstr>
      <vt:lpstr>Check and adjust vehicle interior</vt:lpstr>
      <vt:lpstr>Check and adjust vehicle interior</vt:lpstr>
      <vt:lpstr>Check and adjust vehicle interior</vt:lpstr>
      <vt:lpstr>Check and adjust vehicle interior</vt:lpstr>
      <vt:lpstr>Check and adjust vehicle interior</vt:lpstr>
      <vt:lpstr>Check and adjust brakes</vt:lpstr>
      <vt:lpstr>Check and adjust brakes</vt:lpstr>
      <vt:lpstr>Check and adjust brakes</vt:lpstr>
      <vt:lpstr>Check and adjust brakes</vt:lpstr>
      <vt:lpstr>Check and adjust brakes</vt:lpstr>
      <vt:lpstr>Check and adjust brakes</vt:lpstr>
      <vt:lpstr>Check and adjust brakes</vt:lpstr>
      <vt:lpstr>Check and adjust brakes</vt:lpstr>
      <vt:lpstr>Check and adjust steering</vt:lpstr>
      <vt:lpstr>Check and adjust steering</vt:lpstr>
      <vt:lpstr>Check and adjust steering</vt:lpstr>
      <vt:lpstr>Check and adjust steering</vt:lpstr>
      <vt:lpstr>Check and adjust steering</vt:lpstr>
      <vt:lpstr>Check and adjust steering</vt:lpstr>
      <vt:lpstr>Check and adjust steering</vt:lpstr>
      <vt:lpstr>Check and adjust exhaust</vt:lpstr>
      <vt:lpstr>Check and adjust exhaust</vt:lpstr>
      <vt:lpstr>Check and adjust exhaust</vt:lpstr>
      <vt:lpstr>Check and adjust exhaust</vt:lpstr>
      <vt:lpstr>Check and adjust exhaust</vt:lpstr>
      <vt:lpstr>Check and adjust exhaust</vt:lpstr>
      <vt:lpstr>Check and adjust towing connections</vt:lpstr>
      <vt:lpstr>Check and adjust towing connections</vt:lpstr>
      <vt:lpstr>Check and adjust towing connections</vt:lpstr>
      <vt:lpstr>Check and adjust towing connections</vt:lpstr>
      <vt:lpstr>Check and adjust miscellaneous items</vt:lpstr>
      <vt:lpstr>Check and adjust miscellaneous items</vt:lpstr>
      <vt:lpstr>Check and adjust miscellaneous items</vt:lpstr>
      <vt:lpstr>Check and adjust miscellaneous items</vt:lpstr>
      <vt:lpstr>Check and adjust miscellaneous items</vt:lpstr>
      <vt:lpstr>Check and adjust miscellaneous items</vt:lpstr>
      <vt:lpstr>Check and adjust miscellaneous items</vt:lpstr>
      <vt:lpstr>Check and adjust miscellaneous items</vt:lpstr>
      <vt:lpstr>Check and adjust miscellaneous items</vt:lpstr>
      <vt:lpstr>Check and adjust miscellaneous items</vt:lpstr>
      <vt:lpstr>Check and adjust miscellaneous items</vt:lpstr>
      <vt:lpstr>Check and adjust miscellaneous items</vt:lpstr>
      <vt:lpstr>Check and adjust miscellaneous items</vt:lpstr>
      <vt:lpstr>Check and adjust miscellaneous items</vt:lpstr>
      <vt:lpstr>Check and adjust miscellaneous items</vt:lpstr>
      <vt:lpstr>Check and adjust miscellaneous items</vt:lpstr>
      <vt:lpstr>Check and adjust miscellaneous items</vt:lpstr>
      <vt:lpstr>Check and adjust miscellaneous items</vt:lpstr>
      <vt:lpstr>Check and adjust miscellaneous items</vt:lpstr>
      <vt:lpstr>Check and adjust miscellaneous items</vt:lpstr>
      <vt:lpstr>Check and adjust miscellaneous items</vt:lpstr>
      <vt:lpstr>Check and adjust miscellaneous items</vt:lpstr>
      <vt:lpstr>Check and adjust miscellaneous items</vt:lpstr>
      <vt:lpstr>Check and adjust miscellaneous items</vt:lpstr>
      <vt:lpstr>Check and adjust miscellaneous items</vt:lpstr>
      <vt:lpstr>Check and adjust miscellaneous items</vt:lpstr>
      <vt:lpstr>Check and adjust miscellaneous items</vt:lpstr>
      <vt:lpstr>Check and adjust miscellaneous items</vt:lpstr>
      <vt:lpstr>Check and adjust miscellaneous items</vt:lpstr>
      <vt:lpstr>Check and adjust miscellaneous items</vt:lpstr>
      <vt:lpstr>Check and adjust miscellaneous items</vt:lpstr>
      <vt:lpstr>Check and adjust load restraints</vt:lpstr>
      <vt:lpstr>Check and adjust load restraints</vt:lpstr>
      <vt:lpstr>Check and adjust load restraints</vt:lpstr>
      <vt:lpstr>Check and adjust load restraints</vt:lpstr>
      <vt:lpstr>Check and adjust load restraints</vt:lpstr>
      <vt:lpstr>Check and adjust load restraints</vt:lpstr>
      <vt:lpstr>Check and adjust load restraints</vt:lpstr>
      <vt:lpstr>Check and adjust load restraints</vt:lpstr>
      <vt:lpstr>Check and adjust load restraints</vt:lpstr>
      <vt:lpstr>Check and adjust load restraints</vt:lpstr>
      <vt:lpstr>Check and replenish on-board emergency equipment and supplies</vt:lpstr>
      <vt:lpstr>Check and replenish on-board emergency equipment and supplies</vt:lpstr>
      <vt:lpstr>Check and replenish on-board emergency equipment and supplies</vt:lpstr>
      <vt:lpstr>Check and replenish on-board emergency equipment and supplies</vt:lpstr>
      <vt:lpstr>Check and replenish on-board emergency equipment and supplies</vt:lpstr>
      <vt:lpstr>Check and replenish on-board emergency equipment and supplies</vt:lpstr>
      <vt:lpstr>Check and replenish on-board emergency equipment and supplies</vt:lpstr>
      <vt:lpstr>Check and replenish on-board emergency equipment and supplies</vt:lpstr>
      <vt:lpstr>Check and replenish on-board emergency equipment and supplies</vt:lpstr>
      <vt:lpstr>Check and replenish on-board emergency equipment and supplies</vt:lpstr>
      <vt:lpstr>Check and replenish on-board emergency equipment and supplies</vt:lpstr>
      <vt:lpstr>Check and replenish on-board emergency equipment and supplies</vt:lpstr>
      <vt:lpstr>Check and replenish on-board emergency equipment and supplies</vt:lpstr>
      <vt:lpstr>Make arrangements for external service provision</vt:lpstr>
      <vt:lpstr>Make arrangements for external service provision</vt:lpstr>
      <vt:lpstr>Make arrangements for external service provision</vt:lpstr>
      <vt:lpstr>Make arrangements for external service provision</vt:lpstr>
      <vt:lpstr>Comply with mandated safety requirements</vt:lpstr>
      <vt:lpstr>Comply with mandated safety requirements</vt:lpstr>
      <vt:lpstr>Comply with mandated safety requirements</vt:lpstr>
      <vt:lpstr>Comply with mandated safety requirements</vt:lpstr>
      <vt:lpstr>Comply with mandated safety requirements</vt:lpstr>
      <vt:lpstr>Comply with mandated safety requirements</vt:lpstr>
      <vt:lpstr>Comply with mandated safety requirements</vt:lpstr>
      <vt:lpstr>Comply with mandated safety requirements</vt:lpstr>
      <vt:lpstr>Comply with mandated safety requirements</vt:lpstr>
      <vt:lpstr>Comply with mandated safety requirements</vt:lpstr>
      <vt:lpstr>Comply with mandated safety requirements</vt:lpstr>
      <vt:lpstr>Summary – Element 1</vt:lpstr>
      <vt:lpstr>Summary – Element 1</vt:lpstr>
      <vt:lpstr>Summary – Element 1</vt:lpstr>
      <vt:lpstr>Summary – Element 1</vt:lpstr>
      <vt:lpstr>Element 2 – Diagnose minor vehicle faults</vt:lpstr>
      <vt:lpstr>Identify minor faults</vt:lpstr>
      <vt:lpstr>Identify minor faults</vt:lpstr>
      <vt:lpstr>Determine cause of faults</vt:lpstr>
      <vt:lpstr>Determine cause of faults</vt:lpstr>
      <vt:lpstr>Determine cause of faults</vt:lpstr>
      <vt:lpstr>Determine cause of faults</vt:lpstr>
      <vt:lpstr>Summary – Element 2</vt:lpstr>
      <vt:lpstr>Summary – Element 2</vt:lpstr>
      <vt:lpstr>Element 3 – Undertake minor repairs to vehicles</vt:lpstr>
      <vt:lpstr>Remove, repair and/or refit vehicle components</vt:lpstr>
      <vt:lpstr>Remove, repair and/or refit vehicle components</vt:lpstr>
      <vt:lpstr>Remove, repair and/or refit vehicle components</vt:lpstr>
      <vt:lpstr>Remove, repair and/or refit vehicle components</vt:lpstr>
      <vt:lpstr>Remove, repair and/or refit vehicle components</vt:lpstr>
      <vt:lpstr>Remove, repair and/or refit vehicle components</vt:lpstr>
      <vt:lpstr>Remove, repair and/or refit vehicle components</vt:lpstr>
      <vt:lpstr>Use correct tools and follow manufacturer’s instructions</vt:lpstr>
      <vt:lpstr>Use correct tools and follow manufacturer’s instructions</vt:lpstr>
      <vt:lpstr>Use correct tools and follow manufacturer’s instructions</vt:lpstr>
      <vt:lpstr>Use correct tools and follow manufacturer’s instructions</vt:lpstr>
      <vt:lpstr>Use correct tools and follow manufacturer’s instructions</vt:lpstr>
      <vt:lpstr>Use correct tools and follow manufacturer’s instructions</vt:lpstr>
      <vt:lpstr>Use correct tools and follow manufacturer’s instructions</vt:lpstr>
      <vt:lpstr>Use correct tools and follow manufacturer’s instructions</vt:lpstr>
      <vt:lpstr>Use correct tools and follow manufacturer’s instructions</vt:lpstr>
      <vt:lpstr>Use correct tools and follow manufacturer’s instructions</vt:lpstr>
      <vt:lpstr>Use correct tools and follow manufacturer’s instructions</vt:lpstr>
      <vt:lpstr>Use correct tools and follow manufacturer’s instructions</vt:lpstr>
      <vt:lpstr>Make arrangements for external repair</vt:lpstr>
      <vt:lpstr>Make arrangements for external repair</vt:lpstr>
      <vt:lpstr>Make arrangements for external repair</vt:lpstr>
      <vt:lpstr>Make arrangements for external repair</vt:lpstr>
      <vt:lpstr>Comply with mandated safety requirements while undertaking repairs</vt:lpstr>
      <vt:lpstr>Comply with mandated safety requirements while undertaking repairs</vt:lpstr>
      <vt:lpstr>Comply with mandated safety requirements while undertaking repairs</vt:lpstr>
      <vt:lpstr>Comply with mandated safety requirements while undertaking repairs</vt:lpstr>
      <vt:lpstr>Comply with mandated safety requirements while undertaking repairs</vt:lpstr>
      <vt:lpstr>Comply with mandated safety requirements while undertaking repairs</vt:lpstr>
      <vt:lpstr>Comply with mandated safety requirements while undertaking repairs</vt:lpstr>
      <vt:lpstr>Comply with mandated safety requirements while undertaking repairs</vt:lpstr>
      <vt:lpstr>Comply with mandated safety requirements while undertaking repairs</vt:lpstr>
      <vt:lpstr>Comply with mandated safety requirements while undertaking repairs</vt:lpstr>
      <vt:lpstr>Comply with mandated safety requirements while undertaking repairs</vt:lpstr>
      <vt:lpstr>Comply with mandated safety requirements while undertaking repairs</vt:lpstr>
      <vt:lpstr>Comply with mandated safety requirements while undertaking repairs</vt:lpstr>
      <vt:lpstr>Summary – Element 3</vt:lpstr>
      <vt:lpstr>Summary – Element 3</vt:lpstr>
      <vt:lpstr>Element 4 – Complete documentation</vt:lpstr>
      <vt:lpstr>Ensure vehicle inspection checklists are completed</vt:lpstr>
      <vt:lpstr>Ensure vehicle inspection checklists are completed</vt:lpstr>
      <vt:lpstr>Ensure vehicle inspection checklists are completed</vt:lpstr>
      <vt:lpstr>Ensure vehicle inspection checklists are completed</vt:lpstr>
      <vt:lpstr>Complete internal documents to record provision of service and repairs</vt:lpstr>
      <vt:lpstr>Complete internal documents to record provision of service and repairs</vt:lpstr>
      <vt:lpstr>Complete internal documents to record provision of service and repairs</vt:lpstr>
      <vt:lpstr>Adhere to other service and repair documentation requirements</vt:lpstr>
      <vt:lpstr>Adhere to other service and repair documentation requirements</vt:lpstr>
      <vt:lpstr>Summary – Element 4</vt:lpstr>
      <vt:lpstr>Summary – Element 4</vt:lpstr>
    </vt:vector>
  </TitlesOfParts>
  <Company>William Angliss TAFE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CARRY OUT VEHICLE MAINTENANCE OR MINOR REPAIRS</dc:title>
  <dc:creator>Daniel James Chee</dc:creator>
  <cp:lastModifiedBy>Carla Angelica Co</cp:lastModifiedBy>
  <cp:revision>149</cp:revision>
  <dcterms:created xsi:type="dcterms:W3CDTF">2014-05-15T02:10:20Z</dcterms:created>
  <dcterms:modified xsi:type="dcterms:W3CDTF">2016-07-11T06:22:27Z</dcterms:modified>
</cp:coreProperties>
</file>