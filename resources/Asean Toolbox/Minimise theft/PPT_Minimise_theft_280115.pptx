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notesSlides/notesSlide141.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slides/slide147.xml" ContentType="application/vnd.openxmlformats-officedocument.presentationml.slide+xml"/>
  <Override PartName="/ppt/slides/slide158.xml" ContentType="application/vnd.openxmlformats-officedocument.presentationml.slide+xml"/>
  <Override PartName="/ppt/notesSlides/notesSlide30.xml" ContentType="application/vnd.openxmlformats-officedocument.presentationml.notesSlide+xml"/>
  <Override PartName="/ppt/notesSlides/notesSlide168.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notesSlides/notesSlide146.xml" ContentType="application/vnd.openxmlformats-officedocument.presentationml.notesSlide+xml"/>
  <Override PartName="/ppt/notesSlides/notesSlide15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notesSlides/notesSlide13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Override PartName="/ppt/notesSlides/notesSlide68.xml" ContentType="application/vnd.openxmlformats-officedocument.presentationml.notesSlide+xml"/>
  <Override PartName="/ppt/notesSlides/notesSlide79.xml" ContentType="application/vnd.openxmlformats-officedocument.presentationml.notesSlide+xml"/>
  <Default Extension="png" ContentType="image/png"/>
  <Override PartName="/ppt/notesSlides/notesSlide124.xml" ContentType="application/vnd.openxmlformats-officedocument.presentationml.notesSlide+xml"/>
  <Override PartName="/ppt/notesSlides/notesSlide171.xml" ContentType="application/vnd.openxmlformats-officedocument.presentationml.notesSlide+xml"/>
  <Override PartName="/ppt/slides/slide55.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notesSlides/notesSlide102.xml" ContentType="application/vnd.openxmlformats-officedocument.presentationml.notesSlide+xml"/>
  <Override PartName="/ppt/notesSlides/notesSlide113.xml" ContentType="application/vnd.openxmlformats-officedocument.presentationml.notesSlide+xml"/>
  <Override PartName="/ppt/notesSlides/notesSlide160.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Override PartName="/ppt/notesSlides/notesSlide129.xml" ContentType="application/vnd.openxmlformats-officedocument.presentationml.notesSlide+xml"/>
  <Override PartName="/ppt/slides/slide108.xml" ContentType="application/vnd.openxmlformats-officedocument.presentationml.slide+xml"/>
  <Override PartName="/ppt/slides/slide155.xml" ContentType="application/vnd.openxmlformats-officedocument.presentationml.slide+xml"/>
  <Override PartName="/ppt/notesSlides/notesSlide118.xml" ContentType="application/vnd.openxmlformats-officedocument.presentationml.notesSlide+xml"/>
  <Override PartName="/ppt/notesSlides/notesSlide165.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5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diagrams/colors1.xml" ContentType="application/vnd.openxmlformats-officedocument.drawingml.diagramColors+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notesSlides/notesSlide143.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notesSlides/notesSlide121.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Override PartName="/ppt/notesSlides/notesSlide65.xml" ContentType="application/vnd.openxmlformats-officedocument.presentationml.notesSlide+xml"/>
  <Override PartName="/ppt/notesSlides/notesSlide110.xml" ContentType="application/vnd.openxmlformats-officedocument.presentationml.notesSlide+xml"/>
  <Override PartName="/ppt/slides/slide41.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slides/slide149.xml" ContentType="application/vnd.openxmlformats-officedocument.presentationml.slide+xml"/>
  <Override PartName="/ppt/notesSlides/notesSlide32.xml" ContentType="application/vnd.openxmlformats-officedocument.presentationml.notesSlide+xml"/>
  <Override PartName="/ppt/slides/slide138.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48.xml" ContentType="application/vnd.openxmlformats-officedocument.presentationml.notesSlide+xml"/>
  <Override PartName="/ppt/notesSlides/notesSlide159.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notesSlides/notesSlide10.xml" ContentType="application/vnd.openxmlformats-officedocument.presentationml.notesSlide+xml"/>
  <Override PartName="/ppt/notesSlides/notesSlide137.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notesSlides/notesSlide126.xml" ContentType="application/vnd.openxmlformats-officedocument.presentationml.notesSlide+xml"/>
  <Override PartName="/ppt/notesSlides/notesSlide173.xml" ContentType="application/vnd.openxmlformats-officedocument.presentationml.notesSlide+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notesSlides/notesSlide151.xml" ContentType="application/vnd.openxmlformats-officedocument.presentationml.notesSlide+xml"/>
  <Override PartName="/ppt/notesSlides/notesSlide162.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notesSlides/notesSlide140.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notesSlides/notesSlide37.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168.xml" ContentType="application/vnd.openxmlformats-officedocument.presentationml.slide+xml"/>
  <Override PartName="/ppt/notesSlides/notesSlide51.xml" ContentType="application/vnd.openxmlformats-officedocument.presentationml.notesSlide+xml"/>
  <Override PartName="/ppt/slides/slide157.xml" ContentType="application/vnd.openxmlformats-officedocument.presentationml.slide+xml"/>
  <Override PartName="/ppt/notesSlides/notesSlide40.xml" ContentType="application/vnd.openxmlformats-officedocument.presentationml.notesSlide+xml"/>
  <Override PartName="/ppt/notesSlides/notesSlide167.xml" ContentType="application/vnd.openxmlformats-officedocument.presentationml.notesSlide+xml"/>
  <Override PartName="/ppt/slides/slide98.xml" ContentType="application/vnd.openxmlformats-officedocument.presentationml.slide+xml"/>
  <Override PartName="/ppt/slides/slide146.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56.xml" ContentType="application/vnd.openxmlformats-officedocument.presentationml.notesSlide+xml"/>
  <Override PartName="/ppt/slides/slide87.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71.xml" ContentType="application/vnd.openxmlformats-officedocument.presentationml.slide+xml"/>
  <Override PartName="/ppt/diagrams/data1.xml" ContentType="application/vnd.openxmlformats-officedocument.drawingml.diagramData+xml"/>
  <Override PartName="/ppt/notesSlides/notesSlide89.xml" ContentType="application/vnd.openxmlformats-officedocument.presentationml.notesSlide+xml"/>
  <Override PartName="/ppt/notesSlides/notesSlide145.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diagrams/drawing2.xml" ContentType="application/vnd.ms-office.drawingml.diagramDrawing+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notesSlides/notesSlide134.xml" ContentType="application/vnd.openxmlformats-officedocument.presentationml.notesSlide+xml"/>
  <Override PartName="/ppt/notesSlides/notesSlide170.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slides/slide129.xml" ContentType="application/vnd.openxmlformats-officedocument.presentationml.slide+xml"/>
  <Override PartName="/ppt/notesSlides/notesSlide12.xml" ContentType="application/vnd.openxmlformats-officedocument.presentationml.notesSlide+xml"/>
  <Override PartName="/ppt/notesSlides/notesSlide139.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notesSlides/notesSlide128.xml" ContentType="application/vnd.openxmlformats-officedocument.presentationml.notesSlide+xml"/>
  <Override PartName="/ppt/notesSlides/notesSlide175.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notesSlides/notesSlide164.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notesSlides/notesSlide142.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notesSlides/notesSlide42.xml" ContentType="application/vnd.openxmlformats-officedocument.presentationml.notesSlide+xml"/>
  <Override PartName="/ppt/notesSlides/notesSlide169.xml" ContentType="application/vnd.openxmlformats-officedocument.presentationml.notesSlide+xml"/>
  <Default Extension="wdp" ContentType="image/vnd.ms-photo"/>
  <Override PartName="/ppt/slides/slide148.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diagrams/layout2.xml" ContentType="application/vnd.openxmlformats-officedocument.drawingml.diagramLayout+xml"/>
  <Override PartName="/ppt/notesSlides/notesSlide158.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notesSlides/notesSlide147.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handoutMasters/handoutMaster1.xml" ContentType="application/vnd.openxmlformats-officedocument.presentationml.handoutMaster+xml"/>
  <Override PartName="/ppt/notesSlides/notesSlide125.xml" ContentType="application/vnd.openxmlformats-officedocument.presentationml.notesSlide+xml"/>
  <Override PartName="/ppt/notesSlides/notesSlide136.xml" ContentType="application/vnd.openxmlformats-officedocument.presentationml.notesSlide+xml"/>
  <Override PartName="/ppt/notesSlides/notesSlide172.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notesSlides/notesSlide161.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theme/theme3.xml" ContentType="application/vnd.openxmlformats-officedocument.them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notesSlides/notesSlide150.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slides/slide167.xml" ContentType="application/vnd.openxmlformats-officedocument.presentationml.slide+xml"/>
  <Override PartName="/ppt/notesSlides/notesSlide50.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notesSlides/notesSlide155.xml" ContentType="application/vnd.openxmlformats-officedocument.presentationml.notesSlide+xml"/>
  <Override PartName="/ppt/notesSlides/notesSlide166.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44.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diagrams/colors2.xml" ContentType="application/vnd.openxmlformats-officedocument.drawingml.diagramColors+xml"/>
  <Override PartName="/ppt/notesSlides/notesSlide88.xml" ContentType="application/vnd.openxmlformats-officedocument.presentationml.notesSlide+xml"/>
  <Override PartName="/ppt/notesSlides/notesSlide13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diagrams/drawing1.xml" ContentType="application/vnd.ms-office.drawingml.diagramDrawing+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122.xml" ContentType="application/vnd.openxmlformats-officedocument.presentationml.notesSlide+xml"/>
  <Override PartName="/ppt/slides/slide53.xml" ContentType="application/vnd.openxmlformats-officedocument.presentationml.slide+xml"/>
  <Default Extension="jpeg" ContentType="image/jpeg"/>
  <Override PartName="/ppt/diagrams/quickStyle1.xml" ContentType="application/vnd.openxmlformats-officedocument.drawingml.diagramStyle+xml"/>
  <Override PartName="/ppt/notesSlides/notesSlide55.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notesSlides/notesSlide44.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0.xml" ContentType="application/vnd.openxmlformats-officedocument.presentationml.notesSlide+xml"/>
  <Override PartName="/ppt/slides/slide139.xml" ContentType="application/vnd.openxmlformats-officedocument.presentationml.slide+xml"/>
  <Override PartName="/ppt/notesSlides/notesSlide11.xml" ContentType="application/vnd.openxmlformats-officedocument.presentationml.notesSlide+xml"/>
  <Override PartName="/ppt/notesSlides/notesSlide149.xml" ContentType="application/vnd.openxmlformats-officedocument.presentationml.notesSlide+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notesSlides/notesSlide174.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notesSlides/notesSlide116.xml" ContentType="application/vnd.openxmlformats-officedocument.presentationml.notesSlide+xml"/>
  <Override PartName="/ppt/notesSlides/notesSlide163.xml" ContentType="application/vnd.openxmlformats-officedocument.presentationml.notesSlide+xml"/>
  <Override PartName="/ppt/slides/slide58.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notesSlides/notesSlide15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177"/>
  </p:notesMasterIdLst>
  <p:handoutMasterIdLst>
    <p:handoutMasterId r:id="rId178"/>
  </p:handoutMasterIdLst>
  <p:sldIdLst>
    <p:sldId id="256" r:id="rId2"/>
    <p:sldId id="257" r:id="rId3"/>
    <p:sldId id="342" r:id="rId4"/>
    <p:sldId id="261" r:id="rId5"/>
    <p:sldId id="262" r:id="rId6"/>
    <p:sldId id="344" r:id="rId7"/>
    <p:sldId id="345" r:id="rId8"/>
    <p:sldId id="346" r:id="rId9"/>
    <p:sldId id="355" r:id="rId10"/>
    <p:sldId id="356" r:id="rId11"/>
    <p:sldId id="347" r:id="rId12"/>
    <p:sldId id="358" r:id="rId13"/>
    <p:sldId id="360" r:id="rId14"/>
    <p:sldId id="359" r:id="rId15"/>
    <p:sldId id="263" r:id="rId16"/>
    <p:sldId id="362" r:id="rId17"/>
    <p:sldId id="361" r:id="rId18"/>
    <p:sldId id="264" r:id="rId19"/>
    <p:sldId id="364" r:id="rId20"/>
    <p:sldId id="363" r:id="rId21"/>
    <p:sldId id="265" r:id="rId22"/>
    <p:sldId id="266" r:id="rId23"/>
    <p:sldId id="369" r:id="rId24"/>
    <p:sldId id="368" r:id="rId25"/>
    <p:sldId id="367" r:id="rId26"/>
    <p:sldId id="366" r:id="rId27"/>
    <p:sldId id="371" r:id="rId28"/>
    <p:sldId id="370" r:id="rId29"/>
    <p:sldId id="365" r:id="rId30"/>
    <p:sldId id="378" r:id="rId31"/>
    <p:sldId id="377" r:id="rId32"/>
    <p:sldId id="376" r:id="rId33"/>
    <p:sldId id="375" r:id="rId34"/>
    <p:sldId id="374" r:id="rId35"/>
    <p:sldId id="373" r:id="rId36"/>
    <p:sldId id="372" r:id="rId37"/>
    <p:sldId id="379" r:id="rId38"/>
    <p:sldId id="268" r:id="rId39"/>
    <p:sldId id="381" r:id="rId40"/>
    <p:sldId id="269" r:id="rId41"/>
    <p:sldId id="383" r:id="rId42"/>
    <p:sldId id="384" r:id="rId43"/>
    <p:sldId id="385" r:id="rId44"/>
    <p:sldId id="387" r:id="rId45"/>
    <p:sldId id="388" r:id="rId46"/>
    <p:sldId id="389" r:id="rId47"/>
    <p:sldId id="390" r:id="rId48"/>
    <p:sldId id="272" r:id="rId49"/>
    <p:sldId id="391" r:id="rId50"/>
    <p:sldId id="392" r:id="rId51"/>
    <p:sldId id="393" r:id="rId52"/>
    <p:sldId id="394" r:id="rId53"/>
    <p:sldId id="395" r:id="rId54"/>
    <p:sldId id="396" r:id="rId55"/>
    <p:sldId id="273" r:id="rId56"/>
    <p:sldId id="399" r:id="rId57"/>
    <p:sldId id="400" r:id="rId58"/>
    <p:sldId id="274" r:id="rId59"/>
    <p:sldId id="401" r:id="rId60"/>
    <p:sldId id="402" r:id="rId61"/>
    <p:sldId id="403" r:id="rId62"/>
    <p:sldId id="275" r:id="rId63"/>
    <p:sldId id="404" r:id="rId64"/>
    <p:sldId id="405" r:id="rId65"/>
    <p:sldId id="406" r:id="rId66"/>
    <p:sldId id="407" r:id="rId67"/>
    <p:sldId id="276" r:id="rId68"/>
    <p:sldId id="277" r:id="rId69"/>
    <p:sldId id="408" r:id="rId70"/>
    <p:sldId id="409" r:id="rId71"/>
    <p:sldId id="278" r:id="rId72"/>
    <p:sldId id="279" r:id="rId73"/>
    <p:sldId id="422" r:id="rId74"/>
    <p:sldId id="410" r:id="rId75"/>
    <p:sldId id="411" r:id="rId76"/>
    <p:sldId id="281" r:id="rId77"/>
    <p:sldId id="282" r:id="rId78"/>
    <p:sldId id="283" r:id="rId79"/>
    <p:sldId id="423" r:id="rId80"/>
    <p:sldId id="424" r:id="rId81"/>
    <p:sldId id="425" r:id="rId82"/>
    <p:sldId id="426" r:id="rId83"/>
    <p:sldId id="284" r:id="rId84"/>
    <p:sldId id="285" r:id="rId85"/>
    <p:sldId id="427" r:id="rId86"/>
    <p:sldId id="286" r:id="rId87"/>
    <p:sldId id="428" r:id="rId88"/>
    <p:sldId id="429" r:id="rId89"/>
    <p:sldId id="430" r:id="rId90"/>
    <p:sldId id="431" r:id="rId91"/>
    <p:sldId id="432" r:id="rId92"/>
    <p:sldId id="287" r:id="rId93"/>
    <p:sldId id="433" r:id="rId94"/>
    <p:sldId id="434" r:id="rId95"/>
    <p:sldId id="435" r:id="rId96"/>
    <p:sldId id="288" r:id="rId97"/>
    <p:sldId id="436" r:id="rId98"/>
    <p:sldId id="437" r:id="rId99"/>
    <p:sldId id="438" r:id="rId100"/>
    <p:sldId id="439" r:id="rId101"/>
    <p:sldId id="440" r:id="rId102"/>
    <p:sldId id="441" r:id="rId103"/>
    <p:sldId id="289" r:id="rId104"/>
    <p:sldId id="290" r:id="rId105"/>
    <p:sldId id="444" r:id="rId106"/>
    <p:sldId id="442" r:id="rId107"/>
    <p:sldId id="445" r:id="rId108"/>
    <p:sldId id="443" r:id="rId109"/>
    <p:sldId id="292" r:id="rId110"/>
    <p:sldId id="446" r:id="rId111"/>
    <p:sldId id="457" r:id="rId112"/>
    <p:sldId id="448" r:id="rId113"/>
    <p:sldId id="458" r:id="rId114"/>
    <p:sldId id="459" r:id="rId115"/>
    <p:sldId id="460" r:id="rId116"/>
    <p:sldId id="461" r:id="rId117"/>
    <p:sldId id="449" r:id="rId118"/>
    <p:sldId id="450" r:id="rId119"/>
    <p:sldId id="451" r:id="rId120"/>
    <p:sldId id="452" r:id="rId121"/>
    <p:sldId id="453" r:id="rId122"/>
    <p:sldId id="454" r:id="rId123"/>
    <p:sldId id="455" r:id="rId124"/>
    <p:sldId id="462" r:id="rId125"/>
    <p:sldId id="294" r:id="rId126"/>
    <p:sldId id="463" r:id="rId127"/>
    <p:sldId id="464" r:id="rId128"/>
    <p:sldId id="465" r:id="rId129"/>
    <p:sldId id="466" r:id="rId130"/>
    <p:sldId id="467" r:id="rId131"/>
    <p:sldId id="468" r:id="rId132"/>
    <p:sldId id="470" r:id="rId133"/>
    <p:sldId id="471" r:id="rId134"/>
    <p:sldId id="472" r:id="rId135"/>
    <p:sldId id="295" r:id="rId136"/>
    <p:sldId id="473" r:id="rId137"/>
    <p:sldId id="474" r:id="rId138"/>
    <p:sldId id="296" r:id="rId139"/>
    <p:sldId id="297" r:id="rId140"/>
    <p:sldId id="298" r:id="rId141"/>
    <p:sldId id="475" r:id="rId142"/>
    <p:sldId id="476" r:id="rId143"/>
    <p:sldId id="477" r:id="rId144"/>
    <p:sldId id="478" r:id="rId145"/>
    <p:sldId id="479" r:id="rId146"/>
    <p:sldId id="480" r:id="rId147"/>
    <p:sldId id="481" r:id="rId148"/>
    <p:sldId id="482" r:id="rId149"/>
    <p:sldId id="483" r:id="rId150"/>
    <p:sldId id="487" r:id="rId151"/>
    <p:sldId id="488" r:id="rId152"/>
    <p:sldId id="300" r:id="rId153"/>
    <p:sldId id="489" r:id="rId154"/>
    <p:sldId id="490" r:id="rId155"/>
    <p:sldId id="491" r:id="rId156"/>
    <p:sldId id="492" r:id="rId157"/>
    <p:sldId id="493" r:id="rId158"/>
    <p:sldId id="494" r:id="rId159"/>
    <p:sldId id="495" r:id="rId160"/>
    <p:sldId id="496" r:id="rId161"/>
    <p:sldId id="497" r:id="rId162"/>
    <p:sldId id="498" r:id="rId163"/>
    <p:sldId id="499" r:id="rId164"/>
    <p:sldId id="500" r:id="rId165"/>
    <p:sldId id="501" r:id="rId166"/>
    <p:sldId id="502" r:id="rId167"/>
    <p:sldId id="503" r:id="rId168"/>
    <p:sldId id="504" r:id="rId169"/>
    <p:sldId id="302" r:id="rId170"/>
    <p:sldId id="505" r:id="rId171"/>
    <p:sldId id="506" r:id="rId172"/>
    <p:sldId id="334" r:id="rId173"/>
    <p:sldId id="335" r:id="rId174"/>
    <p:sldId id="336" r:id="rId175"/>
    <p:sldId id="337" r:id="rId17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45545F"/>
    <a:srgbClr val="FF66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35" autoAdjust="0"/>
    <p:restoredTop sz="55800" autoAdjust="0"/>
  </p:normalViewPr>
  <p:slideViewPr>
    <p:cSldViewPr>
      <p:cViewPr>
        <p:scale>
          <a:sx n="42" d="100"/>
          <a:sy n="42" d="100"/>
        </p:scale>
        <p:origin x="-2178" y="-4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31B37F-634F-414B-AF84-043C2280CB65}" type="doc">
      <dgm:prSet loTypeId="urn:microsoft.com/office/officeart/2005/8/layout/cycle8" loCatId="cycle" qsTypeId="urn:microsoft.com/office/officeart/2005/8/quickstyle/3d9" qsCatId="3D" csTypeId="urn:microsoft.com/office/officeart/2005/8/colors/colorful3" csCatId="colorful" phldr="1"/>
      <dgm:spPr/>
    </dgm:pt>
    <dgm:pt modelId="{6AC58D84-D7D9-4DE1-BC0F-6636D548EEEB}">
      <dgm:prSet phldrT="[Text]"/>
      <dgm:spPr/>
      <dgm:t>
        <a:bodyPr/>
        <a:lstStyle/>
        <a:p>
          <a:r>
            <a:rPr lang="en-AU" dirty="0" smtClean="0"/>
            <a:t>Deter</a:t>
          </a:r>
          <a:endParaRPr lang="en-AU" dirty="0"/>
        </a:p>
      </dgm:t>
    </dgm:pt>
    <dgm:pt modelId="{F41DB981-98F7-4912-BE1A-3929AE0DEBAA}" type="parTrans" cxnId="{CE60CA42-5F1B-4200-9DE1-4DFFF6BCD715}">
      <dgm:prSet/>
      <dgm:spPr/>
      <dgm:t>
        <a:bodyPr/>
        <a:lstStyle/>
        <a:p>
          <a:endParaRPr lang="en-AU"/>
        </a:p>
      </dgm:t>
    </dgm:pt>
    <dgm:pt modelId="{4AE344C2-22F0-46FB-AE57-77CCFA9C1175}" type="sibTrans" cxnId="{CE60CA42-5F1B-4200-9DE1-4DFFF6BCD715}">
      <dgm:prSet/>
      <dgm:spPr/>
      <dgm:t>
        <a:bodyPr/>
        <a:lstStyle/>
        <a:p>
          <a:endParaRPr lang="en-AU"/>
        </a:p>
      </dgm:t>
    </dgm:pt>
    <dgm:pt modelId="{6342B9C3-7A73-4095-A02E-50B9E152ED01}">
      <dgm:prSet phldrT="[Text]"/>
      <dgm:spPr/>
      <dgm:t>
        <a:bodyPr/>
        <a:lstStyle/>
        <a:p>
          <a:r>
            <a:rPr lang="en-AU" dirty="0" smtClean="0"/>
            <a:t>Deny</a:t>
          </a:r>
          <a:endParaRPr lang="en-AU" dirty="0"/>
        </a:p>
      </dgm:t>
    </dgm:pt>
    <dgm:pt modelId="{AEF79702-089B-437F-8244-7FAB27E94349}" type="parTrans" cxnId="{CF6FC23A-B853-4F63-A977-A26F6BE4BC69}">
      <dgm:prSet/>
      <dgm:spPr/>
      <dgm:t>
        <a:bodyPr/>
        <a:lstStyle/>
        <a:p>
          <a:endParaRPr lang="en-AU"/>
        </a:p>
      </dgm:t>
    </dgm:pt>
    <dgm:pt modelId="{E3293399-11DD-4A48-B7C0-27E7AB8E4E44}" type="sibTrans" cxnId="{CF6FC23A-B853-4F63-A977-A26F6BE4BC69}">
      <dgm:prSet/>
      <dgm:spPr/>
      <dgm:t>
        <a:bodyPr/>
        <a:lstStyle/>
        <a:p>
          <a:endParaRPr lang="en-AU"/>
        </a:p>
      </dgm:t>
    </dgm:pt>
    <dgm:pt modelId="{E677B5BE-22B4-42A9-974D-B27E7B1E0FDE}">
      <dgm:prSet phldrT="[Text]"/>
      <dgm:spPr/>
      <dgm:t>
        <a:bodyPr/>
        <a:lstStyle/>
        <a:p>
          <a:r>
            <a:rPr lang="en-AU" dirty="0" smtClean="0"/>
            <a:t>Delay</a:t>
          </a:r>
          <a:endParaRPr lang="en-AU" dirty="0"/>
        </a:p>
      </dgm:t>
    </dgm:pt>
    <dgm:pt modelId="{14A7E0A5-E0E6-4543-BDAB-691918FFE15C}" type="parTrans" cxnId="{54D2FA07-441C-448F-94BA-97541CDB88FA}">
      <dgm:prSet/>
      <dgm:spPr/>
      <dgm:t>
        <a:bodyPr/>
        <a:lstStyle/>
        <a:p>
          <a:endParaRPr lang="en-AU"/>
        </a:p>
      </dgm:t>
    </dgm:pt>
    <dgm:pt modelId="{C65A2763-1C28-4EA8-8704-37DFB9B4C63D}" type="sibTrans" cxnId="{54D2FA07-441C-448F-94BA-97541CDB88FA}">
      <dgm:prSet/>
      <dgm:spPr/>
      <dgm:t>
        <a:bodyPr/>
        <a:lstStyle/>
        <a:p>
          <a:endParaRPr lang="en-AU"/>
        </a:p>
      </dgm:t>
    </dgm:pt>
    <dgm:pt modelId="{A7087E39-BEFE-49F9-B5D1-5467C8907735}" type="pres">
      <dgm:prSet presAssocID="{F131B37F-634F-414B-AF84-043C2280CB65}" presName="compositeShape" presStyleCnt="0">
        <dgm:presLayoutVars>
          <dgm:chMax val="7"/>
          <dgm:dir/>
          <dgm:resizeHandles val="exact"/>
        </dgm:presLayoutVars>
      </dgm:prSet>
      <dgm:spPr/>
    </dgm:pt>
    <dgm:pt modelId="{F81061B5-3E27-4C02-B71A-461057856D23}" type="pres">
      <dgm:prSet presAssocID="{F131B37F-634F-414B-AF84-043C2280CB65}" presName="wedge1" presStyleLbl="node1" presStyleIdx="0" presStyleCnt="3"/>
      <dgm:spPr/>
      <dgm:t>
        <a:bodyPr/>
        <a:lstStyle/>
        <a:p>
          <a:endParaRPr lang="en-AU"/>
        </a:p>
      </dgm:t>
    </dgm:pt>
    <dgm:pt modelId="{63783AAB-27DE-4976-B976-4B9F016180E6}" type="pres">
      <dgm:prSet presAssocID="{F131B37F-634F-414B-AF84-043C2280CB65}" presName="dummy1a" presStyleCnt="0"/>
      <dgm:spPr/>
    </dgm:pt>
    <dgm:pt modelId="{02BB2097-786B-4869-8179-5227E6C7C013}" type="pres">
      <dgm:prSet presAssocID="{F131B37F-634F-414B-AF84-043C2280CB65}" presName="dummy1b" presStyleCnt="0"/>
      <dgm:spPr/>
    </dgm:pt>
    <dgm:pt modelId="{BB1F2C63-F7A5-4415-AE12-F303BDE924C2}" type="pres">
      <dgm:prSet presAssocID="{F131B37F-634F-414B-AF84-043C2280CB65}" presName="wedge1Tx" presStyleLbl="node1" presStyleIdx="0" presStyleCnt="3">
        <dgm:presLayoutVars>
          <dgm:chMax val="0"/>
          <dgm:chPref val="0"/>
          <dgm:bulletEnabled val="1"/>
        </dgm:presLayoutVars>
      </dgm:prSet>
      <dgm:spPr/>
      <dgm:t>
        <a:bodyPr/>
        <a:lstStyle/>
        <a:p>
          <a:endParaRPr lang="en-AU"/>
        </a:p>
      </dgm:t>
    </dgm:pt>
    <dgm:pt modelId="{7A056F97-96FA-408A-84D5-ADB20785DBEB}" type="pres">
      <dgm:prSet presAssocID="{F131B37F-634F-414B-AF84-043C2280CB65}" presName="wedge2" presStyleLbl="node1" presStyleIdx="1" presStyleCnt="3"/>
      <dgm:spPr/>
      <dgm:t>
        <a:bodyPr/>
        <a:lstStyle/>
        <a:p>
          <a:endParaRPr lang="en-AU"/>
        </a:p>
      </dgm:t>
    </dgm:pt>
    <dgm:pt modelId="{68AF0871-C5B4-4698-8C95-08B2030EE60E}" type="pres">
      <dgm:prSet presAssocID="{F131B37F-634F-414B-AF84-043C2280CB65}" presName="dummy2a" presStyleCnt="0"/>
      <dgm:spPr/>
    </dgm:pt>
    <dgm:pt modelId="{181A18CF-F927-4E91-8667-EFE8BD5375A8}" type="pres">
      <dgm:prSet presAssocID="{F131B37F-634F-414B-AF84-043C2280CB65}" presName="dummy2b" presStyleCnt="0"/>
      <dgm:spPr/>
    </dgm:pt>
    <dgm:pt modelId="{5B7ED527-C091-4ECF-AEA3-19B2E0A65A21}" type="pres">
      <dgm:prSet presAssocID="{F131B37F-634F-414B-AF84-043C2280CB65}" presName="wedge2Tx" presStyleLbl="node1" presStyleIdx="1" presStyleCnt="3">
        <dgm:presLayoutVars>
          <dgm:chMax val="0"/>
          <dgm:chPref val="0"/>
          <dgm:bulletEnabled val="1"/>
        </dgm:presLayoutVars>
      </dgm:prSet>
      <dgm:spPr/>
      <dgm:t>
        <a:bodyPr/>
        <a:lstStyle/>
        <a:p>
          <a:endParaRPr lang="en-AU"/>
        </a:p>
      </dgm:t>
    </dgm:pt>
    <dgm:pt modelId="{B935547C-ED2A-4C4D-9F5D-1BC61B6C35CB}" type="pres">
      <dgm:prSet presAssocID="{F131B37F-634F-414B-AF84-043C2280CB65}" presName="wedge3" presStyleLbl="node1" presStyleIdx="2" presStyleCnt="3"/>
      <dgm:spPr/>
      <dgm:t>
        <a:bodyPr/>
        <a:lstStyle/>
        <a:p>
          <a:endParaRPr lang="en-AU"/>
        </a:p>
      </dgm:t>
    </dgm:pt>
    <dgm:pt modelId="{1317AAC3-2146-48AB-BDCA-C5C6D21F7539}" type="pres">
      <dgm:prSet presAssocID="{F131B37F-634F-414B-AF84-043C2280CB65}" presName="dummy3a" presStyleCnt="0"/>
      <dgm:spPr/>
    </dgm:pt>
    <dgm:pt modelId="{BAC95FFA-DFDF-4D61-B7CB-27FDE5013437}" type="pres">
      <dgm:prSet presAssocID="{F131B37F-634F-414B-AF84-043C2280CB65}" presName="dummy3b" presStyleCnt="0"/>
      <dgm:spPr/>
    </dgm:pt>
    <dgm:pt modelId="{743BA8B2-B62A-463A-AFBA-6F67B57B19A6}" type="pres">
      <dgm:prSet presAssocID="{F131B37F-634F-414B-AF84-043C2280CB65}" presName="wedge3Tx" presStyleLbl="node1" presStyleIdx="2" presStyleCnt="3">
        <dgm:presLayoutVars>
          <dgm:chMax val="0"/>
          <dgm:chPref val="0"/>
          <dgm:bulletEnabled val="1"/>
        </dgm:presLayoutVars>
      </dgm:prSet>
      <dgm:spPr/>
      <dgm:t>
        <a:bodyPr/>
        <a:lstStyle/>
        <a:p>
          <a:endParaRPr lang="en-AU"/>
        </a:p>
      </dgm:t>
    </dgm:pt>
    <dgm:pt modelId="{7D48D4F9-AD7A-4168-B769-FF8CBA52EC5B}" type="pres">
      <dgm:prSet presAssocID="{4AE344C2-22F0-46FB-AE57-77CCFA9C1175}" presName="arrowWedge1" presStyleLbl="fgSibTrans2D1" presStyleIdx="0" presStyleCnt="3"/>
      <dgm:spPr/>
    </dgm:pt>
    <dgm:pt modelId="{F49F2521-0263-45E6-B2AA-257087772461}" type="pres">
      <dgm:prSet presAssocID="{E3293399-11DD-4A48-B7C0-27E7AB8E4E44}" presName="arrowWedge2" presStyleLbl="fgSibTrans2D1" presStyleIdx="1" presStyleCnt="3"/>
      <dgm:spPr/>
    </dgm:pt>
    <dgm:pt modelId="{88BFA3E0-464E-4B44-9FED-45A52219FF72}" type="pres">
      <dgm:prSet presAssocID="{C65A2763-1C28-4EA8-8704-37DFB9B4C63D}" presName="arrowWedge3" presStyleLbl="fgSibTrans2D1" presStyleIdx="2" presStyleCnt="3"/>
      <dgm:spPr/>
    </dgm:pt>
  </dgm:ptLst>
  <dgm:cxnLst>
    <dgm:cxn modelId="{9B61E678-F86A-447F-86F5-06306264CB38}" type="presOf" srcId="{E677B5BE-22B4-42A9-974D-B27E7B1E0FDE}" destId="{743BA8B2-B62A-463A-AFBA-6F67B57B19A6}" srcOrd="1" destOrd="0" presId="urn:microsoft.com/office/officeart/2005/8/layout/cycle8"/>
    <dgm:cxn modelId="{319BDB67-B78D-4911-B37C-F26CA5E82575}" type="presOf" srcId="{6AC58D84-D7D9-4DE1-BC0F-6636D548EEEB}" destId="{BB1F2C63-F7A5-4415-AE12-F303BDE924C2}" srcOrd="1" destOrd="0" presId="urn:microsoft.com/office/officeart/2005/8/layout/cycle8"/>
    <dgm:cxn modelId="{CF6FC23A-B853-4F63-A977-A26F6BE4BC69}" srcId="{F131B37F-634F-414B-AF84-043C2280CB65}" destId="{6342B9C3-7A73-4095-A02E-50B9E152ED01}" srcOrd="1" destOrd="0" parTransId="{AEF79702-089B-437F-8244-7FAB27E94349}" sibTransId="{E3293399-11DD-4A48-B7C0-27E7AB8E4E44}"/>
    <dgm:cxn modelId="{096F485E-8EC6-4977-A9DB-73455FCBAECB}" type="presOf" srcId="{6AC58D84-D7D9-4DE1-BC0F-6636D548EEEB}" destId="{F81061B5-3E27-4C02-B71A-461057856D23}" srcOrd="0" destOrd="0" presId="urn:microsoft.com/office/officeart/2005/8/layout/cycle8"/>
    <dgm:cxn modelId="{CE60CA42-5F1B-4200-9DE1-4DFFF6BCD715}" srcId="{F131B37F-634F-414B-AF84-043C2280CB65}" destId="{6AC58D84-D7D9-4DE1-BC0F-6636D548EEEB}" srcOrd="0" destOrd="0" parTransId="{F41DB981-98F7-4912-BE1A-3929AE0DEBAA}" sibTransId="{4AE344C2-22F0-46FB-AE57-77CCFA9C1175}"/>
    <dgm:cxn modelId="{3BD7BF08-BDA5-4D1A-8296-6E4EB236D19C}" type="presOf" srcId="{6342B9C3-7A73-4095-A02E-50B9E152ED01}" destId="{5B7ED527-C091-4ECF-AEA3-19B2E0A65A21}" srcOrd="1" destOrd="0" presId="urn:microsoft.com/office/officeart/2005/8/layout/cycle8"/>
    <dgm:cxn modelId="{F20AB48F-1E15-43EF-AF74-77699D9F4EB3}" type="presOf" srcId="{6342B9C3-7A73-4095-A02E-50B9E152ED01}" destId="{7A056F97-96FA-408A-84D5-ADB20785DBEB}" srcOrd="0" destOrd="0" presId="urn:microsoft.com/office/officeart/2005/8/layout/cycle8"/>
    <dgm:cxn modelId="{54D2FA07-441C-448F-94BA-97541CDB88FA}" srcId="{F131B37F-634F-414B-AF84-043C2280CB65}" destId="{E677B5BE-22B4-42A9-974D-B27E7B1E0FDE}" srcOrd="2" destOrd="0" parTransId="{14A7E0A5-E0E6-4543-BDAB-691918FFE15C}" sibTransId="{C65A2763-1C28-4EA8-8704-37DFB9B4C63D}"/>
    <dgm:cxn modelId="{217F62DC-D0A0-4918-971C-EB3C53A7F68E}" type="presOf" srcId="{E677B5BE-22B4-42A9-974D-B27E7B1E0FDE}" destId="{B935547C-ED2A-4C4D-9F5D-1BC61B6C35CB}" srcOrd="0" destOrd="0" presId="urn:microsoft.com/office/officeart/2005/8/layout/cycle8"/>
    <dgm:cxn modelId="{1AEDB34D-7D7A-43DF-8085-170C81CD1091}" type="presOf" srcId="{F131B37F-634F-414B-AF84-043C2280CB65}" destId="{A7087E39-BEFE-49F9-B5D1-5467C8907735}" srcOrd="0" destOrd="0" presId="urn:microsoft.com/office/officeart/2005/8/layout/cycle8"/>
    <dgm:cxn modelId="{D564B76A-E3C7-49E5-8F35-3B429CB8A672}" type="presParOf" srcId="{A7087E39-BEFE-49F9-B5D1-5467C8907735}" destId="{F81061B5-3E27-4C02-B71A-461057856D23}" srcOrd="0" destOrd="0" presId="urn:microsoft.com/office/officeart/2005/8/layout/cycle8"/>
    <dgm:cxn modelId="{32D64B02-4694-4470-927D-4C323F2BAF01}" type="presParOf" srcId="{A7087E39-BEFE-49F9-B5D1-5467C8907735}" destId="{63783AAB-27DE-4976-B976-4B9F016180E6}" srcOrd="1" destOrd="0" presId="urn:microsoft.com/office/officeart/2005/8/layout/cycle8"/>
    <dgm:cxn modelId="{14EC11D1-5DD5-45E4-B85B-F340DC7E3EB6}" type="presParOf" srcId="{A7087E39-BEFE-49F9-B5D1-5467C8907735}" destId="{02BB2097-786B-4869-8179-5227E6C7C013}" srcOrd="2" destOrd="0" presId="urn:microsoft.com/office/officeart/2005/8/layout/cycle8"/>
    <dgm:cxn modelId="{669C23D3-BEAD-4603-B526-1B1102CFB49C}" type="presParOf" srcId="{A7087E39-BEFE-49F9-B5D1-5467C8907735}" destId="{BB1F2C63-F7A5-4415-AE12-F303BDE924C2}" srcOrd="3" destOrd="0" presId="urn:microsoft.com/office/officeart/2005/8/layout/cycle8"/>
    <dgm:cxn modelId="{C095AF9D-32E0-40DC-8BA0-45F808517B34}" type="presParOf" srcId="{A7087E39-BEFE-49F9-B5D1-5467C8907735}" destId="{7A056F97-96FA-408A-84D5-ADB20785DBEB}" srcOrd="4" destOrd="0" presId="urn:microsoft.com/office/officeart/2005/8/layout/cycle8"/>
    <dgm:cxn modelId="{DC09D37D-A848-4D6E-A50C-1AFD25B2D884}" type="presParOf" srcId="{A7087E39-BEFE-49F9-B5D1-5467C8907735}" destId="{68AF0871-C5B4-4698-8C95-08B2030EE60E}" srcOrd="5" destOrd="0" presId="urn:microsoft.com/office/officeart/2005/8/layout/cycle8"/>
    <dgm:cxn modelId="{A7A3E781-D7CE-4519-8EBD-93454D995A74}" type="presParOf" srcId="{A7087E39-BEFE-49F9-B5D1-5467C8907735}" destId="{181A18CF-F927-4E91-8667-EFE8BD5375A8}" srcOrd="6" destOrd="0" presId="urn:microsoft.com/office/officeart/2005/8/layout/cycle8"/>
    <dgm:cxn modelId="{CCE64687-311A-48FD-975A-F1A60ECE13FD}" type="presParOf" srcId="{A7087E39-BEFE-49F9-B5D1-5467C8907735}" destId="{5B7ED527-C091-4ECF-AEA3-19B2E0A65A21}" srcOrd="7" destOrd="0" presId="urn:microsoft.com/office/officeart/2005/8/layout/cycle8"/>
    <dgm:cxn modelId="{82407369-EB2C-4B4B-BFD6-F9629218899F}" type="presParOf" srcId="{A7087E39-BEFE-49F9-B5D1-5467C8907735}" destId="{B935547C-ED2A-4C4D-9F5D-1BC61B6C35CB}" srcOrd="8" destOrd="0" presId="urn:microsoft.com/office/officeart/2005/8/layout/cycle8"/>
    <dgm:cxn modelId="{60A8E404-9798-4EE9-9F74-E0D9F3DA226D}" type="presParOf" srcId="{A7087E39-BEFE-49F9-B5D1-5467C8907735}" destId="{1317AAC3-2146-48AB-BDCA-C5C6D21F7539}" srcOrd="9" destOrd="0" presId="urn:microsoft.com/office/officeart/2005/8/layout/cycle8"/>
    <dgm:cxn modelId="{A11A37EB-D982-4AFD-823D-7BC9FB749E02}" type="presParOf" srcId="{A7087E39-BEFE-49F9-B5D1-5467C8907735}" destId="{BAC95FFA-DFDF-4D61-B7CB-27FDE5013437}" srcOrd="10" destOrd="0" presId="urn:microsoft.com/office/officeart/2005/8/layout/cycle8"/>
    <dgm:cxn modelId="{A96A9AAA-60AB-46DA-A946-DB9DAB83FC82}" type="presParOf" srcId="{A7087E39-BEFE-49F9-B5D1-5467C8907735}" destId="{743BA8B2-B62A-463A-AFBA-6F67B57B19A6}" srcOrd="11" destOrd="0" presId="urn:microsoft.com/office/officeart/2005/8/layout/cycle8"/>
    <dgm:cxn modelId="{AA4D74B4-E1C7-40DE-832A-28FE590F0A51}" type="presParOf" srcId="{A7087E39-BEFE-49F9-B5D1-5467C8907735}" destId="{7D48D4F9-AD7A-4168-B769-FF8CBA52EC5B}" srcOrd="12" destOrd="0" presId="urn:microsoft.com/office/officeart/2005/8/layout/cycle8"/>
    <dgm:cxn modelId="{084532FC-C707-40A4-8579-436DCC3E81E6}" type="presParOf" srcId="{A7087E39-BEFE-49F9-B5D1-5467C8907735}" destId="{F49F2521-0263-45E6-B2AA-257087772461}" srcOrd="13" destOrd="0" presId="urn:microsoft.com/office/officeart/2005/8/layout/cycle8"/>
    <dgm:cxn modelId="{8DFE97A4-8C7C-43EE-A7FB-5DCCD9C1C458}" type="presParOf" srcId="{A7087E39-BEFE-49F9-B5D1-5467C8907735}" destId="{88BFA3E0-464E-4B44-9FED-45A52219FF72}" srcOrd="14" destOrd="0" presId="urn:microsoft.com/office/officeart/2005/8/layout/cycle8"/>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227371-2283-47AB-8966-5D9614950E4F}" type="doc">
      <dgm:prSet loTypeId="urn:microsoft.com/office/officeart/2005/8/layout/cycle3" loCatId="cycle" qsTypeId="urn:microsoft.com/office/officeart/2009/2/quickstyle/3d8" qsCatId="3D" csTypeId="urn:microsoft.com/office/officeart/2005/8/colors/accent2_1" csCatId="accent2" phldr="1"/>
      <dgm:spPr/>
      <dgm:t>
        <a:bodyPr/>
        <a:lstStyle/>
        <a:p>
          <a:endParaRPr lang="en-AU"/>
        </a:p>
      </dgm:t>
    </dgm:pt>
    <dgm:pt modelId="{0C1C2442-6416-4FAB-A604-444DCD0AA2A7}">
      <dgm:prSet phldrT="[Text]"/>
      <dgm:spPr/>
      <dgm:t>
        <a:bodyPr/>
        <a:lstStyle/>
        <a:p>
          <a:r>
            <a:rPr lang="en-AU" dirty="0" smtClean="0"/>
            <a:t>Purchasing</a:t>
          </a:r>
          <a:endParaRPr lang="en-AU" dirty="0"/>
        </a:p>
      </dgm:t>
    </dgm:pt>
    <dgm:pt modelId="{D2F112A0-6553-4FBD-8E3A-FE4822369C31}" type="parTrans" cxnId="{4ED9E717-AF8A-4790-8108-FCD923DB3105}">
      <dgm:prSet/>
      <dgm:spPr/>
      <dgm:t>
        <a:bodyPr/>
        <a:lstStyle/>
        <a:p>
          <a:endParaRPr lang="en-AU"/>
        </a:p>
      </dgm:t>
    </dgm:pt>
    <dgm:pt modelId="{B6BBCE25-464A-4111-AC7E-AF577B981B4B}" type="sibTrans" cxnId="{4ED9E717-AF8A-4790-8108-FCD923DB3105}">
      <dgm:prSet/>
      <dgm:spPr/>
      <dgm:t>
        <a:bodyPr/>
        <a:lstStyle/>
        <a:p>
          <a:endParaRPr lang="en-AU"/>
        </a:p>
      </dgm:t>
    </dgm:pt>
    <dgm:pt modelId="{5EAFC963-2909-4632-B7AB-14F753B4EDE7}">
      <dgm:prSet phldrT="[Text]"/>
      <dgm:spPr/>
      <dgm:t>
        <a:bodyPr/>
        <a:lstStyle/>
        <a:p>
          <a:r>
            <a:rPr lang="en-AU" dirty="0" smtClean="0"/>
            <a:t>Receival</a:t>
          </a:r>
          <a:endParaRPr lang="en-AU" dirty="0"/>
        </a:p>
      </dgm:t>
    </dgm:pt>
    <dgm:pt modelId="{E67062B7-7742-4AB4-8AB3-C9FBB495B07E}" type="parTrans" cxnId="{4D9AF4E4-116A-4382-8A9F-A864ABC83B97}">
      <dgm:prSet/>
      <dgm:spPr/>
      <dgm:t>
        <a:bodyPr/>
        <a:lstStyle/>
        <a:p>
          <a:endParaRPr lang="en-AU"/>
        </a:p>
      </dgm:t>
    </dgm:pt>
    <dgm:pt modelId="{E1791932-6F14-42A6-9276-1A4F7E50D40F}" type="sibTrans" cxnId="{4D9AF4E4-116A-4382-8A9F-A864ABC83B97}">
      <dgm:prSet/>
      <dgm:spPr/>
      <dgm:t>
        <a:bodyPr/>
        <a:lstStyle/>
        <a:p>
          <a:endParaRPr lang="en-AU"/>
        </a:p>
      </dgm:t>
    </dgm:pt>
    <dgm:pt modelId="{4B4802C2-F37B-43EC-A20B-B9257CFC266B}">
      <dgm:prSet phldrT="[Text]"/>
      <dgm:spPr/>
      <dgm:t>
        <a:bodyPr/>
        <a:lstStyle/>
        <a:p>
          <a:r>
            <a:rPr lang="en-AU" dirty="0" smtClean="0"/>
            <a:t>Storage</a:t>
          </a:r>
          <a:endParaRPr lang="en-AU" dirty="0"/>
        </a:p>
      </dgm:t>
    </dgm:pt>
    <dgm:pt modelId="{4052AA24-103B-4103-8DCC-B9F22395ED4C}" type="parTrans" cxnId="{35B191A7-2B21-4737-8BD5-7D6AB36592D6}">
      <dgm:prSet/>
      <dgm:spPr/>
      <dgm:t>
        <a:bodyPr/>
        <a:lstStyle/>
        <a:p>
          <a:endParaRPr lang="en-AU"/>
        </a:p>
      </dgm:t>
    </dgm:pt>
    <dgm:pt modelId="{5742238C-5351-4D5E-B8B4-175C552ED0F7}" type="sibTrans" cxnId="{35B191A7-2B21-4737-8BD5-7D6AB36592D6}">
      <dgm:prSet/>
      <dgm:spPr/>
      <dgm:t>
        <a:bodyPr/>
        <a:lstStyle/>
        <a:p>
          <a:endParaRPr lang="en-AU"/>
        </a:p>
      </dgm:t>
    </dgm:pt>
    <dgm:pt modelId="{D38D1C25-1384-44A3-9EF8-A9304FD4726C}">
      <dgm:prSet phldrT="[Text]"/>
      <dgm:spPr/>
      <dgm:t>
        <a:bodyPr/>
        <a:lstStyle/>
        <a:p>
          <a:r>
            <a:rPr lang="en-AU" dirty="0" smtClean="0"/>
            <a:t>Issuing</a:t>
          </a:r>
          <a:endParaRPr lang="en-AU" dirty="0"/>
        </a:p>
      </dgm:t>
    </dgm:pt>
    <dgm:pt modelId="{0A03F444-6CF3-4DBE-AABB-AED907A5486B}" type="parTrans" cxnId="{ED9BAA93-8F99-4758-9E2A-B1E1AF2435C5}">
      <dgm:prSet/>
      <dgm:spPr/>
      <dgm:t>
        <a:bodyPr/>
        <a:lstStyle/>
        <a:p>
          <a:endParaRPr lang="en-AU"/>
        </a:p>
      </dgm:t>
    </dgm:pt>
    <dgm:pt modelId="{4B47F8A7-ECED-4350-8358-5A93A948A8B4}" type="sibTrans" cxnId="{ED9BAA93-8F99-4758-9E2A-B1E1AF2435C5}">
      <dgm:prSet/>
      <dgm:spPr/>
      <dgm:t>
        <a:bodyPr/>
        <a:lstStyle/>
        <a:p>
          <a:endParaRPr lang="en-AU"/>
        </a:p>
      </dgm:t>
    </dgm:pt>
    <dgm:pt modelId="{A306062D-A168-4317-BAAD-A7D8FFFB8613}">
      <dgm:prSet phldrT="[Text]"/>
      <dgm:spPr/>
      <dgm:t>
        <a:bodyPr/>
        <a:lstStyle/>
        <a:p>
          <a:r>
            <a:rPr lang="en-AU" dirty="0" smtClean="0"/>
            <a:t>Production</a:t>
          </a:r>
          <a:endParaRPr lang="en-AU" dirty="0"/>
        </a:p>
      </dgm:t>
    </dgm:pt>
    <dgm:pt modelId="{677986D7-DFE9-493D-854F-5FE63C5385C7}" type="parTrans" cxnId="{CDFF75FC-8B00-40F6-9841-289165FA77C4}">
      <dgm:prSet/>
      <dgm:spPr/>
      <dgm:t>
        <a:bodyPr/>
        <a:lstStyle/>
        <a:p>
          <a:endParaRPr lang="en-AU"/>
        </a:p>
      </dgm:t>
    </dgm:pt>
    <dgm:pt modelId="{F94FF9F2-BB8F-466B-8D86-E645133FF11B}" type="sibTrans" cxnId="{CDFF75FC-8B00-40F6-9841-289165FA77C4}">
      <dgm:prSet/>
      <dgm:spPr/>
      <dgm:t>
        <a:bodyPr/>
        <a:lstStyle/>
        <a:p>
          <a:endParaRPr lang="en-AU"/>
        </a:p>
      </dgm:t>
    </dgm:pt>
    <dgm:pt modelId="{EA3E3978-5C46-4A48-A58B-4EAAA76C570A}">
      <dgm:prSet phldrT="[Text]"/>
      <dgm:spPr/>
      <dgm:t>
        <a:bodyPr/>
        <a:lstStyle/>
        <a:p>
          <a:r>
            <a:rPr lang="en-AU" dirty="0" smtClean="0"/>
            <a:t>Service</a:t>
          </a:r>
          <a:endParaRPr lang="en-AU" dirty="0"/>
        </a:p>
      </dgm:t>
    </dgm:pt>
    <dgm:pt modelId="{9400EE30-3309-4BB0-8CC0-E5C8064581EB}" type="parTrans" cxnId="{A20F100E-6F09-4BBC-AB26-30EE090CF4E2}">
      <dgm:prSet/>
      <dgm:spPr/>
      <dgm:t>
        <a:bodyPr/>
        <a:lstStyle/>
        <a:p>
          <a:endParaRPr lang="en-AU"/>
        </a:p>
      </dgm:t>
    </dgm:pt>
    <dgm:pt modelId="{2776AE01-FCCE-4887-8A53-2754D6126C17}" type="sibTrans" cxnId="{A20F100E-6F09-4BBC-AB26-30EE090CF4E2}">
      <dgm:prSet/>
      <dgm:spPr/>
      <dgm:t>
        <a:bodyPr/>
        <a:lstStyle/>
        <a:p>
          <a:endParaRPr lang="en-AU"/>
        </a:p>
      </dgm:t>
    </dgm:pt>
    <dgm:pt modelId="{D3F3E023-34D0-4CAE-8FEA-2D130862BC89}">
      <dgm:prSet phldrT="[Text]"/>
      <dgm:spPr/>
      <dgm:t>
        <a:bodyPr/>
        <a:lstStyle/>
        <a:p>
          <a:r>
            <a:rPr lang="en-AU" dirty="0" smtClean="0"/>
            <a:t>Sales</a:t>
          </a:r>
          <a:endParaRPr lang="en-AU" dirty="0"/>
        </a:p>
      </dgm:t>
    </dgm:pt>
    <dgm:pt modelId="{82B52E87-E97A-46B5-BAE7-72CE71912071}" type="parTrans" cxnId="{D05A8892-8B90-4786-8D92-73B9718703F5}">
      <dgm:prSet/>
      <dgm:spPr/>
      <dgm:t>
        <a:bodyPr/>
        <a:lstStyle/>
        <a:p>
          <a:endParaRPr lang="en-AU"/>
        </a:p>
      </dgm:t>
    </dgm:pt>
    <dgm:pt modelId="{3C7CFD9C-5027-40F5-BCCA-3CF9896EFA47}" type="sibTrans" cxnId="{D05A8892-8B90-4786-8D92-73B9718703F5}">
      <dgm:prSet/>
      <dgm:spPr/>
      <dgm:t>
        <a:bodyPr/>
        <a:lstStyle/>
        <a:p>
          <a:endParaRPr lang="en-AU"/>
        </a:p>
      </dgm:t>
    </dgm:pt>
    <dgm:pt modelId="{6233A9C4-D60B-4007-B530-F64ED64A70C1}" type="pres">
      <dgm:prSet presAssocID="{68227371-2283-47AB-8966-5D9614950E4F}" presName="Name0" presStyleCnt="0">
        <dgm:presLayoutVars>
          <dgm:dir/>
          <dgm:resizeHandles val="exact"/>
        </dgm:presLayoutVars>
      </dgm:prSet>
      <dgm:spPr/>
      <dgm:t>
        <a:bodyPr/>
        <a:lstStyle/>
        <a:p>
          <a:endParaRPr lang="en-AU"/>
        </a:p>
      </dgm:t>
    </dgm:pt>
    <dgm:pt modelId="{8F88AB70-7CCE-4F2F-8AD5-B22655E696AA}" type="pres">
      <dgm:prSet presAssocID="{68227371-2283-47AB-8966-5D9614950E4F}" presName="cycle" presStyleCnt="0"/>
      <dgm:spPr/>
    </dgm:pt>
    <dgm:pt modelId="{760576F0-ABB8-465A-A9F4-A56BA9939C23}" type="pres">
      <dgm:prSet presAssocID="{0C1C2442-6416-4FAB-A604-444DCD0AA2A7}" presName="nodeFirstNode" presStyleLbl="node1" presStyleIdx="0" presStyleCnt="7">
        <dgm:presLayoutVars>
          <dgm:bulletEnabled val="1"/>
        </dgm:presLayoutVars>
      </dgm:prSet>
      <dgm:spPr/>
      <dgm:t>
        <a:bodyPr/>
        <a:lstStyle/>
        <a:p>
          <a:endParaRPr lang="en-AU"/>
        </a:p>
      </dgm:t>
    </dgm:pt>
    <dgm:pt modelId="{304013EC-596C-47A7-B858-7168C64B72CD}" type="pres">
      <dgm:prSet presAssocID="{B6BBCE25-464A-4111-AC7E-AF577B981B4B}" presName="sibTransFirstNode" presStyleLbl="bgShp" presStyleIdx="0" presStyleCnt="1"/>
      <dgm:spPr/>
      <dgm:t>
        <a:bodyPr/>
        <a:lstStyle/>
        <a:p>
          <a:endParaRPr lang="en-AU"/>
        </a:p>
      </dgm:t>
    </dgm:pt>
    <dgm:pt modelId="{CD66EF0E-8005-4423-9860-0ED1027E7EBD}" type="pres">
      <dgm:prSet presAssocID="{5EAFC963-2909-4632-B7AB-14F753B4EDE7}" presName="nodeFollowingNodes" presStyleLbl="node1" presStyleIdx="1" presStyleCnt="7">
        <dgm:presLayoutVars>
          <dgm:bulletEnabled val="1"/>
        </dgm:presLayoutVars>
      </dgm:prSet>
      <dgm:spPr/>
      <dgm:t>
        <a:bodyPr/>
        <a:lstStyle/>
        <a:p>
          <a:endParaRPr lang="en-AU"/>
        </a:p>
      </dgm:t>
    </dgm:pt>
    <dgm:pt modelId="{6A230AE1-6551-4D9D-BD38-13D7BD5E84FD}" type="pres">
      <dgm:prSet presAssocID="{4B4802C2-F37B-43EC-A20B-B9257CFC266B}" presName="nodeFollowingNodes" presStyleLbl="node1" presStyleIdx="2" presStyleCnt="7">
        <dgm:presLayoutVars>
          <dgm:bulletEnabled val="1"/>
        </dgm:presLayoutVars>
      </dgm:prSet>
      <dgm:spPr/>
      <dgm:t>
        <a:bodyPr/>
        <a:lstStyle/>
        <a:p>
          <a:endParaRPr lang="en-AU"/>
        </a:p>
      </dgm:t>
    </dgm:pt>
    <dgm:pt modelId="{7C977B0B-2B3A-4BA5-BEB5-E80B22D53DB3}" type="pres">
      <dgm:prSet presAssocID="{D38D1C25-1384-44A3-9EF8-A9304FD4726C}" presName="nodeFollowingNodes" presStyleLbl="node1" presStyleIdx="3" presStyleCnt="7">
        <dgm:presLayoutVars>
          <dgm:bulletEnabled val="1"/>
        </dgm:presLayoutVars>
      </dgm:prSet>
      <dgm:spPr/>
      <dgm:t>
        <a:bodyPr/>
        <a:lstStyle/>
        <a:p>
          <a:endParaRPr lang="en-AU"/>
        </a:p>
      </dgm:t>
    </dgm:pt>
    <dgm:pt modelId="{FE8E54B4-4E53-403C-BE80-500ECF30A6C4}" type="pres">
      <dgm:prSet presAssocID="{A306062D-A168-4317-BAAD-A7D8FFFB8613}" presName="nodeFollowingNodes" presStyleLbl="node1" presStyleIdx="4" presStyleCnt="7">
        <dgm:presLayoutVars>
          <dgm:bulletEnabled val="1"/>
        </dgm:presLayoutVars>
      </dgm:prSet>
      <dgm:spPr/>
      <dgm:t>
        <a:bodyPr/>
        <a:lstStyle/>
        <a:p>
          <a:endParaRPr lang="en-AU"/>
        </a:p>
      </dgm:t>
    </dgm:pt>
    <dgm:pt modelId="{1307885F-A99F-4C54-B610-0E996CAE8743}" type="pres">
      <dgm:prSet presAssocID="{EA3E3978-5C46-4A48-A58B-4EAAA76C570A}" presName="nodeFollowingNodes" presStyleLbl="node1" presStyleIdx="5" presStyleCnt="7">
        <dgm:presLayoutVars>
          <dgm:bulletEnabled val="1"/>
        </dgm:presLayoutVars>
      </dgm:prSet>
      <dgm:spPr/>
      <dgm:t>
        <a:bodyPr/>
        <a:lstStyle/>
        <a:p>
          <a:endParaRPr lang="en-AU"/>
        </a:p>
      </dgm:t>
    </dgm:pt>
    <dgm:pt modelId="{2693E785-9DC9-44DB-B3D0-F4DE351A6F60}" type="pres">
      <dgm:prSet presAssocID="{D3F3E023-34D0-4CAE-8FEA-2D130862BC89}" presName="nodeFollowingNodes" presStyleLbl="node1" presStyleIdx="6" presStyleCnt="7">
        <dgm:presLayoutVars>
          <dgm:bulletEnabled val="1"/>
        </dgm:presLayoutVars>
      </dgm:prSet>
      <dgm:spPr/>
      <dgm:t>
        <a:bodyPr/>
        <a:lstStyle/>
        <a:p>
          <a:endParaRPr lang="en-AU"/>
        </a:p>
      </dgm:t>
    </dgm:pt>
  </dgm:ptLst>
  <dgm:cxnLst>
    <dgm:cxn modelId="{D9F72934-8682-47F5-9746-8758C16D1092}" type="presOf" srcId="{4B4802C2-F37B-43EC-A20B-B9257CFC266B}" destId="{6A230AE1-6551-4D9D-BD38-13D7BD5E84FD}" srcOrd="0" destOrd="0" presId="urn:microsoft.com/office/officeart/2005/8/layout/cycle3"/>
    <dgm:cxn modelId="{42923487-9375-41D8-80D2-3F11E9B4DAF6}" type="presOf" srcId="{5EAFC963-2909-4632-B7AB-14F753B4EDE7}" destId="{CD66EF0E-8005-4423-9860-0ED1027E7EBD}" srcOrd="0" destOrd="0" presId="urn:microsoft.com/office/officeart/2005/8/layout/cycle3"/>
    <dgm:cxn modelId="{678D0525-E39A-47C9-B29F-272CAF375F9C}" type="presOf" srcId="{EA3E3978-5C46-4A48-A58B-4EAAA76C570A}" destId="{1307885F-A99F-4C54-B610-0E996CAE8743}" srcOrd="0" destOrd="0" presId="urn:microsoft.com/office/officeart/2005/8/layout/cycle3"/>
    <dgm:cxn modelId="{6DAC527C-4D3B-4979-8087-56AEA74BEAA6}" type="presOf" srcId="{B6BBCE25-464A-4111-AC7E-AF577B981B4B}" destId="{304013EC-596C-47A7-B858-7168C64B72CD}" srcOrd="0" destOrd="0" presId="urn:microsoft.com/office/officeart/2005/8/layout/cycle3"/>
    <dgm:cxn modelId="{4D9AF4E4-116A-4382-8A9F-A864ABC83B97}" srcId="{68227371-2283-47AB-8966-5D9614950E4F}" destId="{5EAFC963-2909-4632-B7AB-14F753B4EDE7}" srcOrd="1" destOrd="0" parTransId="{E67062B7-7742-4AB4-8AB3-C9FBB495B07E}" sibTransId="{E1791932-6F14-42A6-9276-1A4F7E50D40F}"/>
    <dgm:cxn modelId="{ED9BAA93-8F99-4758-9E2A-B1E1AF2435C5}" srcId="{68227371-2283-47AB-8966-5D9614950E4F}" destId="{D38D1C25-1384-44A3-9EF8-A9304FD4726C}" srcOrd="3" destOrd="0" parTransId="{0A03F444-6CF3-4DBE-AABB-AED907A5486B}" sibTransId="{4B47F8A7-ECED-4350-8358-5A93A948A8B4}"/>
    <dgm:cxn modelId="{4466D8F2-97FC-4A39-9F70-FD6A67C757F8}" type="presOf" srcId="{D38D1C25-1384-44A3-9EF8-A9304FD4726C}" destId="{7C977B0B-2B3A-4BA5-BEB5-E80B22D53DB3}" srcOrd="0" destOrd="0" presId="urn:microsoft.com/office/officeart/2005/8/layout/cycle3"/>
    <dgm:cxn modelId="{D05A8892-8B90-4786-8D92-73B9718703F5}" srcId="{68227371-2283-47AB-8966-5D9614950E4F}" destId="{D3F3E023-34D0-4CAE-8FEA-2D130862BC89}" srcOrd="6" destOrd="0" parTransId="{82B52E87-E97A-46B5-BAE7-72CE71912071}" sibTransId="{3C7CFD9C-5027-40F5-BCCA-3CF9896EFA47}"/>
    <dgm:cxn modelId="{4ED9E717-AF8A-4790-8108-FCD923DB3105}" srcId="{68227371-2283-47AB-8966-5D9614950E4F}" destId="{0C1C2442-6416-4FAB-A604-444DCD0AA2A7}" srcOrd="0" destOrd="0" parTransId="{D2F112A0-6553-4FBD-8E3A-FE4822369C31}" sibTransId="{B6BBCE25-464A-4111-AC7E-AF577B981B4B}"/>
    <dgm:cxn modelId="{2CECD683-8AF3-4782-AF09-E01D05184C33}" type="presOf" srcId="{D3F3E023-34D0-4CAE-8FEA-2D130862BC89}" destId="{2693E785-9DC9-44DB-B3D0-F4DE351A6F60}" srcOrd="0" destOrd="0" presId="urn:microsoft.com/office/officeart/2005/8/layout/cycle3"/>
    <dgm:cxn modelId="{CDFF75FC-8B00-40F6-9841-289165FA77C4}" srcId="{68227371-2283-47AB-8966-5D9614950E4F}" destId="{A306062D-A168-4317-BAAD-A7D8FFFB8613}" srcOrd="4" destOrd="0" parTransId="{677986D7-DFE9-493D-854F-5FE63C5385C7}" sibTransId="{F94FF9F2-BB8F-466B-8D86-E645133FF11B}"/>
    <dgm:cxn modelId="{EE3EC438-BD4B-45DC-B49D-2FBD39E18F34}" type="presOf" srcId="{0C1C2442-6416-4FAB-A604-444DCD0AA2A7}" destId="{760576F0-ABB8-465A-A9F4-A56BA9939C23}" srcOrd="0" destOrd="0" presId="urn:microsoft.com/office/officeart/2005/8/layout/cycle3"/>
    <dgm:cxn modelId="{35B191A7-2B21-4737-8BD5-7D6AB36592D6}" srcId="{68227371-2283-47AB-8966-5D9614950E4F}" destId="{4B4802C2-F37B-43EC-A20B-B9257CFC266B}" srcOrd="2" destOrd="0" parTransId="{4052AA24-103B-4103-8DCC-B9F22395ED4C}" sibTransId="{5742238C-5351-4D5E-B8B4-175C552ED0F7}"/>
    <dgm:cxn modelId="{A20F100E-6F09-4BBC-AB26-30EE090CF4E2}" srcId="{68227371-2283-47AB-8966-5D9614950E4F}" destId="{EA3E3978-5C46-4A48-A58B-4EAAA76C570A}" srcOrd="5" destOrd="0" parTransId="{9400EE30-3309-4BB0-8CC0-E5C8064581EB}" sibTransId="{2776AE01-FCCE-4887-8A53-2754D6126C17}"/>
    <dgm:cxn modelId="{8E2E3A69-FE68-44FF-8E21-5DE6E712F1C0}" type="presOf" srcId="{A306062D-A168-4317-BAAD-A7D8FFFB8613}" destId="{FE8E54B4-4E53-403C-BE80-500ECF30A6C4}" srcOrd="0" destOrd="0" presId="urn:microsoft.com/office/officeart/2005/8/layout/cycle3"/>
    <dgm:cxn modelId="{8D595287-AB28-417F-AD48-A3AC4A69E7B2}" type="presOf" srcId="{68227371-2283-47AB-8966-5D9614950E4F}" destId="{6233A9C4-D60B-4007-B530-F64ED64A70C1}" srcOrd="0" destOrd="0" presId="urn:microsoft.com/office/officeart/2005/8/layout/cycle3"/>
    <dgm:cxn modelId="{E4B40D2D-C1C1-45BC-BC3B-2823BCF55031}" type="presParOf" srcId="{6233A9C4-D60B-4007-B530-F64ED64A70C1}" destId="{8F88AB70-7CCE-4F2F-8AD5-B22655E696AA}" srcOrd="0" destOrd="0" presId="urn:microsoft.com/office/officeart/2005/8/layout/cycle3"/>
    <dgm:cxn modelId="{532C5FEA-87F1-4AF9-B846-E2C90C803835}" type="presParOf" srcId="{8F88AB70-7CCE-4F2F-8AD5-B22655E696AA}" destId="{760576F0-ABB8-465A-A9F4-A56BA9939C23}" srcOrd="0" destOrd="0" presId="urn:microsoft.com/office/officeart/2005/8/layout/cycle3"/>
    <dgm:cxn modelId="{C6E75DEB-0CB2-46D3-816E-2C6F12CD1249}" type="presParOf" srcId="{8F88AB70-7CCE-4F2F-8AD5-B22655E696AA}" destId="{304013EC-596C-47A7-B858-7168C64B72CD}" srcOrd="1" destOrd="0" presId="urn:microsoft.com/office/officeart/2005/8/layout/cycle3"/>
    <dgm:cxn modelId="{FBF3FDD4-5E6D-4400-8899-8C5C7E9D21B7}" type="presParOf" srcId="{8F88AB70-7CCE-4F2F-8AD5-B22655E696AA}" destId="{CD66EF0E-8005-4423-9860-0ED1027E7EBD}" srcOrd="2" destOrd="0" presId="urn:microsoft.com/office/officeart/2005/8/layout/cycle3"/>
    <dgm:cxn modelId="{FB2BF677-6C95-477B-BD0D-1C83149EDBB5}" type="presParOf" srcId="{8F88AB70-7CCE-4F2F-8AD5-B22655E696AA}" destId="{6A230AE1-6551-4D9D-BD38-13D7BD5E84FD}" srcOrd="3" destOrd="0" presId="urn:microsoft.com/office/officeart/2005/8/layout/cycle3"/>
    <dgm:cxn modelId="{1D960B83-0569-4C54-926E-990ABA4B3888}" type="presParOf" srcId="{8F88AB70-7CCE-4F2F-8AD5-B22655E696AA}" destId="{7C977B0B-2B3A-4BA5-BEB5-E80B22D53DB3}" srcOrd="4" destOrd="0" presId="urn:microsoft.com/office/officeart/2005/8/layout/cycle3"/>
    <dgm:cxn modelId="{22E92F71-B634-43F4-9DE0-D09C96E2A949}" type="presParOf" srcId="{8F88AB70-7CCE-4F2F-8AD5-B22655E696AA}" destId="{FE8E54B4-4E53-403C-BE80-500ECF30A6C4}" srcOrd="5" destOrd="0" presId="urn:microsoft.com/office/officeart/2005/8/layout/cycle3"/>
    <dgm:cxn modelId="{ECAEAB9C-1141-4150-A2A8-A1A2AFC9629D}" type="presParOf" srcId="{8F88AB70-7CCE-4F2F-8AD5-B22655E696AA}" destId="{1307885F-A99F-4C54-B610-0E996CAE8743}" srcOrd="6" destOrd="0" presId="urn:microsoft.com/office/officeart/2005/8/layout/cycle3"/>
    <dgm:cxn modelId="{49ABC4B3-8272-4D0A-8948-F1F3266D47F0}" type="presParOf" srcId="{8F88AB70-7CCE-4F2F-8AD5-B22655E696AA}" destId="{2693E785-9DC9-44DB-B3D0-F4DE351A6F60}" srcOrd="7" destOrd="0" presId="urn:microsoft.com/office/officeart/2005/8/layout/cycle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81061B5-3E27-4C02-B71A-461057856D23}">
      <dsp:nvSpPr>
        <dsp:cNvPr id="0" name=""/>
        <dsp:cNvSpPr/>
      </dsp:nvSpPr>
      <dsp:spPr>
        <a:xfrm>
          <a:off x="1411427" y="264159"/>
          <a:ext cx="3413760" cy="3413760"/>
        </a:xfrm>
        <a:prstGeom prst="pie">
          <a:avLst>
            <a:gd name="adj1" fmla="val 16200000"/>
            <a:gd name="adj2" fmla="val 1800000"/>
          </a:avLst>
        </a:prstGeom>
        <a:solidFill>
          <a:schemeClr val="accent3">
            <a:hueOff val="0"/>
            <a:satOff val="0"/>
            <a:lumOff val="0"/>
            <a:alphaOff val="0"/>
          </a:schemeClr>
        </a:solidFill>
        <a:ln>
          <a:noFill/>
        </a:ln>
        <a:effectLst>
          <a:glow rad="70000">
            <a:schemeClr val="accent3">
              <a:hueOff val="0"/>
              <a:satOff val="0"/>
              <a:lumOff val="0"/>
              <a:alphaOff val="0"/>
              <a:tint val="30000"/>
              <a:shade val="95000"/>
              <a:satMod val="300000"/>
              <a:alpha val="50000"/>
            </a:schemeClr>
          </a:glo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43180" tIns="43180" rIns="43180" bIns="43180" numCol="1" spcCol="1270" anchor="ctr" anchorCtr="0">
          <a:noAutofit/>
          <a:sp3d extrusionH="28000" prstMaterial="matte"/>
        </a:bodyPr>
        <a:lstStyle/>
        <a:p>
          <a:pPr lvl="0" algn="ctr" defTabSz="1511300">
            <a:lnSpc>
              <a:spcPct val="90000"/>
            </a:lnSpc>
            <a:spcBef>
              <a:spcPct val="0"/>
            </a:spcBef>
            <a:spcAft>
              <a:spcPct val="35000"/>
            </a:spcAft>
          </a:pPr>
          <a:r>
            <a:rPr lang="en-AU" sz="3400" kern="1200" dirty="0" smtClean="0"/>
            <a:t>Deter</a:t>
          </a:r>
          <a:endParaRPr lang="en-AU" sz="3400" kern="1200" dirty="0"/>
        </a:p>
      </dsp:txBody>
      <dsp:txXfrm>
        <a:off x="3210560" y="987551"/>
        <a:ext cx="1219200" cy="1016000"/>
      </dsp:txXfrm>
    </dsp:sp>
    <dsp:sp modelId="{7A056F97-96FA-408A-84D5-ADB20785DBEB}">
      <dsp:nvSpPr>
        <dsp:cNvPr id="0" name=""/>
        <dsp:cNvSpPr/>
      </dsp:nvSpPr>
      <dsp:spPr>
        <a:xfrm>
          <a:off x="1341120" y="386079"/>
          <a:ext cx="3413760" cy="3413760"/>
        </a:xfrm>
        <a:prstGeom prst="pie">
          <a:avLst>
            <a:gd name="adj1" fmla="val 1800000"/>
            <a:gd name="adj2" fmla="val 9000000"/>
          </a:avLst>
        </a:prstGeom>
        <a:solidFill>
          <a:schemeClr val="accent3">
            <a:hueOff val="4500961"/>
            <a:satOff val="407"/>
            <a:lumOff val="-4315"/>
            <a:alphaOff val="0"/>
          </a:schemeClr>
        </a:solidFill>
        <a:ln>
          <a:noFill/>
        </a:ln>
        <a:effectLst>
          <a:glow rad="70000">
            <a:schemeClr val="accent3">
              <a:hueOff val="4500961"/>
              <a:satOff val="407"/>
              <a:lumOff val="-4315"/>
              <a:alphaOff val="0"/>
              <a:tint val="30000"/>
              <a:shade val="95000"/>
              <a:satMod val="300000"/>
              <a:alpha val="50000"/>
            </a:schemeClr>
          </a:glo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43180" tIns="43180" rIns="43180" bIns="43180" numCol="1" spcCol="1270" anchor="ctr" anchorCtr="0">
          <a:noAutofit/>
          <a:sp3d extrusionH="28000" prstMaterial="matte"/>
        </a:bodyPr>
        <a:lstStyle/>
        <a:p>
          <a:pPr lvl="0" algn="ctr" defTabSz="1511300">
            <a:lnSpc>
              <a:spcPct val="90000"/>
            </a:lnSpc>
            <a:spcBef>
              <a:spcPct val="0"/>
            </a:spcBef>
            <a:spcAft>
              <a:spcPct val="35000"/>
            </a:spcAft>
          </a:pPr>
          <a:r>
            <a:rPr lang="en-AU" sz="3400" kern="1200" dirty="0" smtClean="0"/>
            <a:t>Deny</a:t>
          </a:r>
          <a:endParaRPr lang="en-AU" sz="3400" kern="1200" dirty="0"/>
        </a:p>
      </dsp:txBody>
      <dsp:txXfrm>
        <a:off x="2153920" y="2600960"/>
        <a:ext cx="1828800" cy="894080"/>
      </dsp:txXfrm>
    </dsp:sp>
    <dsp:sp modelId="{B935547C-ED2A-4C4D-9F5D-1BC61B6C35CB}">
      <dsp:nvSpPr>
        <dsp:cNvPr id="0" name=""/>
        <dsp:cNvSpPr/>
      </dsp:nvSpPr>
      <dsp:spPr>
        <a:xfrm>
          <a:off x="1270812" y="264159"/>
          <a:ext cx="3413760" cy="3413760"/>
        </a:xfrm>
        <a:prstGeom prst="pie">
          <a:avLst>
            <a:gd name="adj1" fmla="val 9000000"/>
            <a:gd name="adj2" fmla="val 16200000"/>
          </a:avLst>
        </a:prstGeom>
        <a:solidFill>
          <a:schemeClr val="accent3">
            <a:hueOff val="9001922"/>
            <a:satOff val="813"/>
            <a:lumOff val="-8631"/>
            <a:alphaOff val="0"/>
          </a:schemeClr>
        </a:solidFill>
        <a:ln>
          <a:noFill/>
        </a:ln>
        <a:effectLst>
          <a:glow rad="70000">
            <a:schemeClr val="accent3">
              <a:hueOff val="9001922"/>
              <a:satOff val="813"/>
              <a:lumOff val="-8631"/>
              <a:alphaOff val="0"/>
              <a:tint val="30000"/>
              <a:shade val="95000"/>
              <a:satMod val="300000"/>
              <a:alpha val="50000"/>
            </a:schemeClr>
          </a:glo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43180" tIns="43180" rIns="43180" bIns="43180" numCol="1" spcCol="1270" anchor="ctr" anchorCtr="0">
          <a:noAutofit/>
          <a:sp3d extrusionH="28000" prstMaterial="matte"/>
        </a:bodyPr>
        <a:lstStyle/>
        <a:p>
          <a:pPr lvl="0" algn="ctr" defTabSz="1511300">
            <a:lnSpc>
              <a:spcPct val="90000"/>
            </a:lnSpc>
            <a:spcBef>
              <a:spcPct val="0"/>
            </a:spcBef>
            <a:spcAft>
              <a:spcPct val="35000"/>
            </a:spcAft>
          </a:pPr>
          <a:r>
            <a:rPr lang="en-AU" sz="3400" kern="1200" dirty="0" smtClean="0"/>
            <a:t>Delay</a:t>
          </a:r>
          <a:endParaRPr lang="en-AU" sz="3400" kern="1200" dirty="0"/>
        </a:p>
      </dsp:txBody>
      <dsp:txXfrm>
        <a:off x="1666240" y="987551"/>
        <a:ext cx="1219200" cy="1016000"/>
      </dsp:txXfrm>
    </dsp:sp>
    <dsp:sp modelId="{7D48D4F9-AD7A-4168-B769-FF8CBA52EC5B}">
      <dsp:nvSpPr>
        <dsp:cNvPr id="0" name=""/>
        <dsp:cNvSpPr/>
      </dsp:nvSpPr>
      <dsp:spPr>
        <a:xfrm>
          <a:off x="1200380" y="52831"/>
          <a:ext cx="3836416" cy="3836416"/>
        </a:xfrm>
        <a:prstGeom prst="circularArrow">
          <a:avLst>
            <a:gd name="adj1" fmla="val 5085"/>
            <a:gd name="adj2" fmla="val 327528"/>
            <a:gd name="adj3" fmla="val 1472472"/>
            <a:gd name="adj4" fmla="val 16199432"/>
            <a:gd name="adj5" fmla="val 5932"/>
          </a:avLst>
        </a:prstGeom>
        <a:solidFill>
          <a:schemeClr val="accent3">
            <a:hueOff val="0"/>
            <a:satOff val="0"/>
            <a:lumOff val="0"/>
            <a:alphaOff val="0"/>
          </a:schemeClr>
        </a:solidFill>
        <a:ln>
          <a:noFill/>
        </a:ln>
        <a:effectLst>
          <a:glow rad="70000">
            <a:schemeClr val="accent3">
              <a:hueOff val="0"/>
              <a:satOff val="0"/>
              <a:lumOff val="0"/>
              <a:alphaOff val="0"/>
              <a:tint val="30000"/>
              <a:shade val="95000"/>
              <a:satMod val="300000"/>
              <a:alpha val="50000"/>
            </a:schemeClr>
          </a:glow>
        </a:effectLst>
        <a:sp3d prstMaterial="matte"/>
      </dsp:spPr>
      <dsp:style>
        <a:lnRef idx="0">
          <a:scrgbClr r="0" g="0" b="0"/>
        </a:lnRef>
        <a:fillRef idx="1">
          <a:scrgbClr r="0" g="0" b="0"/>
        </a:fillRef>
        <a:effectRef idx="2">
          <a:scrgbClr r="0" g="0" b="0"/>
        </a:effectRef>
        <a:fontRef idx="minor">
          <a:schemeClr val="lt1"/>
        </a:fontRef>
      </dsp:style>
    </dsp:sp>
    <dsp:sp modelId="{F49F2521-0263-45E6-B2AA-257087772461}">
      <dsp:nvSpPr>
        <dsp:cNvPr id="0" name=""/>
        <dsp:cNvSpPr/>
      </dsp:nvSpPr>
      <dsp:spPr>
        <a:xfrm>
          <a:off x="1129792" y="174536"/>
          <a:ext cx="3836416" cy="3836416"/>
        </a:xfrm>
        <a:prstGeom prst="circularArrow">
          <a:avLst>
            <a:gd name="adj1" fmla="val 5085"/>
            <a:gd name="adj2" fmla="val 327528"/>
            <a:gd name="adj3" fmla="val 8671970"/>
            <a:gd name="adj4" fmla="val 1800502"/>
            <a:gd name="adj5" fmla="val 5932"/>
          </a:avLst>
        </a:prstGeom>
        <a:solidFill>
          <a:schemeClr val="accent3">
            <a:hueOff val="4500961"/>
            <a:satOff val="407"/>
            <a:lumOff val="-4315"/>
            <a:alphaOff val="0"/>
          </a:schemeClr>
        </a:solidFill>
        <a:ln>
          <a:noFill/>
        </a:ln>
        <a:effectLst>
          <a:glow rad="70000">
            <a:schemeClr val="accent3">
              <a:hueOff val="4500961"/>
              <a:satOff val="407"/>
              <a:lumOff val="-4315"/>
              <a:alphaOff val="0"/>
              <a:tint val="30000"/>
              <a:shade val="95000"/>
              <a:satMod val="300000"/>
              <a:alpha val="50000"/>
            </a:schemeClr>
          </a:glow>
        </a:effectLst>
        <a:sp3d prstMaterial="matte"/>
      </dsp:spPr>
      <dsp:style>
        <a:lnRef idx="0">
          <a:scrgbClr r="0" g="0" b="0"/>
        </a:lnRef>
        <a:fillRef idx="1">
          <a:scrgbClr r="0" g="0" b="0"/>
        </a:fillRef>
        <a:effectRef idx="2">
          <a:scrgbClr r="0" g="0" b="0"/>
        </a:effectRef>
        <a:fontRef idx="minor">
          <a:schemeClr val="lt1"/>
        </a:fontRef>
      </dsp:style>
    </dsp:sp>
    <dsp:sp modelId="{88BFA3E0-464E-4B44-9FED-45A52219FF72}">
      <dsp:nvSpPr>
        <dsp:cNvPr id="0" name=""/>
        <dsp:cNvSpPr/>
      </dsp:nvSpPr>
      <dsp:spPr>
        <a:xfrm>
          <a:off x="1059203" y="52831"/>
          <a:ext cx="3836416" cy="3836416"/>
        </a:xfrm>
        <a:prstGeom prst="circularArrow">
          <a:avLst>
            <a:gd name="adj1" fmla="val 5085"/>
            <a:gd name="adj2" fmla="val 327528"/>
            <a:gd name="adj3" fmla="val 15873039"/>
            <a:gd name="adj4" fmla="val 9000000"/>
            <a:gd name="adj5" fmla="val 5932"/>
          </a:avLst>
        </a:prstGeom>
        <a:solidFill>
          <a:schemeClr val="accent3">
            <a:hueOff val="9001922"/>
            <a:satOff val="813"/>
            <a:lumOff val="-8631"/>
            <a:alphaOff val="0"/>
          </a:schemeClr>
        </a:solidFill>
        <a:ln>
          <a:noFill/>
        </a:ln>
        <a:effectLst>
          <a:glow rad="70000">
            <a:schemeClr val="accent3">
              <a:hueOff val="9001922"/>
              <a:satOff val="813"/>
              <a:lumOff val="-8631"/>
              <a:alphaOff val="0"/>
              <a:tint val="30000"/>
              <a:shade val="95000"/>
              <a:satMod val="300000"/>
              <a:alpha val="50000"/>
            </a:schemeClr>
          </a:glow>
        </a:effectLst>
        <a:sp3d prstMaterial="matte"/>
      </dsp:spPr>
      <dsp:style>
        <a:lnRef idx="0">
          <a:scrgbClr r="0" g="0" b="0"/>
        </a:lnRef>
        <a:fillRef idx="1">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04013EC-596C-47A7-B858-7168C64B72CD}">
      <dsp:nvSpPr>
        <dsp:cNvPr id="0" name=""/>
        <dsp:cNvSpPr/>
      </dsp:nvSpPr>
      <dsp:spPr>
        <a:xfrm>
          <a:off x="942772" y="-28872"/>
          <a:ext cx="4210455" cy="4210455"/>
        </a:xfrm>
        <a:prstGeom prst="circularArrow">
          <a:avLst>
            <a:gd name="adj1" fmla="val 5544"/>
            <a:gd name="adj2" fmla="val 330680"/>
            <a:gd name="adj3" fmla="val 14529799"/>
            <a:gd name="adj4" fmla="val 16942217"/>
            <a:gd name="adj5" fmla="val 5757"/>
          </a:avLst>
        </a:prstGeom>
        <a:solidFill>
          <a:schemeClr val="accent2">
            <a:tint val="40000"/>
            <a:hueOff val="0"/>
            <a:satOff val="0"/>
            <a:lumOff val="0"/>
            <a:alphaOff val="0"/>
          </a:schemeClr>
        </a:solidFill>
        <a:ln>
          <a:noFill/>
        </a:ln>
        <a:effectLst/>
        <a:sp3d z="-152400" extrusionH="63500" prstMaterial="matte">
          <a:bevelT w="44450" h="6350" prst="relaxedInset"/>
          <a:contourClr>
            <a:schemeClr val="bg1"/>
          </a:contourClr>
        </a:sp3d>
      </dsp:spPr>
      <dsp:style>
        <a:lnRef idx="0">
          <a:scrgbClr r="0" g="0" b="0"/>
        </a:lnRef>
        <a:fillRef idx="1">
          <a:scrgbClr r="0" g="0" b="0"/>
        </a:fillRef>
        <a:effectRef idx="0">
          <a:scrgbClr r="0" g="0" b="0"/>
        </a:effectRef>
        <a:fontRef idx="minor"/>
      </dsp:style>
    </dsp:sp>
    <dsp:sp modelId="{760576F0-ABB8-465A-A9F4-A56BA9939C23}">
      <dsp:nvSpPr>
        <dsp:cNvPr id="0" name=""/>
        <dsp:cNvSpPr/>
      </dsp:nvSpPr>
      <dsp:spPr>
        <a:xfrm>
          <a:off x="2399109" y="956"/>
          <a:ext cx="1297781" cy="648890"/>
        </a:xfrm>
        <a:prstGeom prst="roundRect">
          <a:avLst/>
        </a:prstGeom>
        <a:solidFill>
          <a:schemeClr val="lt1">
            <a:hueOff val="0"/>
            <a:satOff val="0"/>
            <a:lumOff val="0"/>
            <a:alphaOff val="0"/>
          </a:schemeClr>
        </a:solidFill>
        <a:ln>
          <a:noFill/>
        </a:ln>
        <a:effectLst>
          <a:glow rad="70000">
            <a:schemeClr val="lt1">
              <a:hueOff val="0"/>
              <a:satOff val="0"/>
              <a:lumOff val="0"/>
              <a:alphaOff val="0"/>
              <a:tint val="30000"/>
              <a:shade val="95000"/>
              <a:satMod val="300000"/>
              <a:alpha val="50000"/>
            </a:schemeClr>
          </a:glo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AU" sz="1700" kern="1200" dirty="0" smtClean="0"/>
            <a:t>Purchasing</a:t>
          </a:r>
          <a:endParaRPr lang="en-AU" sz="1700" kern="1200" dirty="0"/>
        </a:p>
      </dsp:txBody>
      <dsp:txXfrm>
        <a:off x="2399109" y="956"/>
        <a:ext cx="1297781" cy="648890"/>
      </dsp:txXfrm>
    </dsp:sp>
    <dsp:sp modelId="{CD66EF0E-8005-4423-9860-0ED1027E7EBD}">
      <dsp:nvSpPr>
        <dsp:cNvPr id="0" name=""/>
        <dsp:cNvSpPr/>
      </dsp:nvSpPr>
      <dsp:spPr>
        <a:xfrm>
          <a:off x="3802890" y="676982"/>
          <a:ext cx="1297781" cy="648890"/>
        </a:xfrm>
        <a:prstGeom prst="roundRect">
          <a:avLst/>
        </a:prstGeom>
        <a:solidFill>
          <a:schemeClr val="lt1">
            <a:hueOff val="0"/>
            <a:satOff val="0"/>
            <a:lumOff val="0"/>
            <a:alphaOff val="0"/>
          </a:schemeClr>
        </a:solidFill>
        <a:ln>
          <a:noFill/>
        </a:ln>
        <a:effectLst>
          <a:glow rad="70000">
            <a:schemeClr val="lt1">
              <a:hueOff val="0"/>
              <a:satOff val="0"/>
              <a:lumOff val="0"/>
              <a:alphaOff val="0"/>
              <a:tint val="30000"/>
              <a:shade val="95000"/>
              <a:satMod val="300000"/>
              <a:alpha val="50000"/>
            </a:schemeClr>
          </a:glo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AU" sz="1700" kern="1200" dirty="0" smtClean="0"/>
            <a:t>Receival</a:t>
          </a:r>
          <a:endParaRPr lang="en-AU" sz="1700" kern="1200" dirty="0"/>
        </a:p>
      </dsp:txBody>
      <dsp:txXfrm>
        <a:off x="3802890" y="676982"/>
        <a:ext cx="1297781" cy="648890"/>
      </dsp:txXfrm>
    </dsp:sp>
    <dsp:sp modelId="{6A230AE1-6551-4D9D-BD38-13D7BD5E84FD}">
      <dsp:nvSpPr>
        <dsp:cNvPr id="0" name=""/>
        <dsp:cNvSpPr/>
      </dsp:nvSpPr>
      <dsp:spPr>
        <a:xfrm>
          <a:off x="4149595" y="2195997"/>
          <a:ext cx="1297781" cy="648890"/>
        </a:xfrm>
        <a:prstGeom prst="roundRect">
          <a:avLst/>
        </a:prstGeom>
        <a:solidFill>
          <a:schemeClr val="lt1">
            <a:hueOff val="0"/>
            <a:satOff val="0"/>
            <a:lumOff val="0"/>
            <a:alphaOff val="0"/>
          </a:schemeClr>
        </a:solidFill>
        <a:ln>
          <a:noFill/>
        </a:ln>
        <a:effectLst>
          <a:glow rad="70000">
            <a:schemeClr val="lt1">
              <a:hueOff val="0"/>
              <a:satOff val="0"/>
              <a:lumOff val="0"/>
              <a:alphaOff val="0"/>
              <a:tint val="30000"/>
              <a:shade val="95000"/>
              <a:satMod val="300000"/>
              <a:alpha val="50000"/>
            </a:schemeClr>
          </a:glo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AU" sz="1700" kern="1200" dirty="0" smtClean="0"/>
            <a:t>Storage</a:t>
          </a:r>
          <a:endParaRPr lang="en-AU" sz="1700" kern="1200" dirty="0"/>
        </a:p>
      </dsp:txBody>
      <dsp:txXfrm>
        <a:off x="4149595" y="2195997"/>
        <a:ext cx="1297781" cy="648890"/>
      </dsp:txXfrm>
    </dsp:sp>
    <dsp:sp modelId="{7C977B0B-2B3A-4BA5-BEB5-E80B22D53DB3}">
      <dsp:nvSpPr>
        <dsp:cNvPr id="0" name=""/>
        <dsp:cNvSpPr/>
      </dsp:nvSpPr>
      <dsp:spPr>
        <a:xfrm>
          <a:off x="3178149" y="3414152"/>
          <a:ext cx="1297781" cy="648890"/>
        </a:xfrm>
        <a:prstGeom prst="roundRect">
          <a:avLst/>
        </a:prstGeom>
        <a:solidFill>
          <a:schemeClr val="lt1">
            <a:hueOff val="0"/>
            <a:satOff val="0"/>
            <a:lumOff val="0"/>
            <a:alphaOff val="0"/>
          </a:schemeClr>
        </a:solidFill>
        <a:ln>
          <a:noFill/>
        </a:ln>
        <a:effectLst>
          <a:glow rad="70000">
            <a:schemeClr val="lt1">
              <a:hueOff val="0"/>
              <a:satOff val="0"/>
              <a:lumOff val="0"/>
              <a:alphaOff val="0"/>
              <a:tint val="30000"/>
              <a:shade val="95000"/>
              <a:satMod val="300000"/>
              <a:alpha val="50000"/>
            </a:schemeClr>
          </a:glo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AU" sz="1700" kern="1200" dirty="0" smtClean="0"/>
            <a:t>Issuing</a:t>
          </a:r>
          <a:endParaRPr lang="en-AU" sz="1700" kern="1200" dirty="0"/>
        </a:p>
      </dsp:txBody>
      <dsp:txXfrm>
        <a:off x="3178149" y="3414152"/>
        <a:ext cx="1297781" cy="648890"/>
      </dsp:txXfrm>
    </dsp:sp>
    <dsp:sp modelId="{FE8E54B4-4E53-403C-BE80-500ECF30A6C4}">
      <dsp:nvSpPr>
        <dsp:cNvPr id="0" name=""/>
        <dsp:cNvSpPr/>
      </dsp:nvSpPr>
      <dsp:spPr>
        <a:xfrm>
          <a:off x="1620069" y="3414152"/>
          <a:ext cx="1297781" cy="648890"/>
        </a:xfrm>
        <a:prstGeom prst="roundRect">
          <a:avLst/>
        </a:prstGeom>
        <a:solidFill>
          <a:schemeClr val="lt1">
            <a:hueOff val="0"/>
            <a:satOff val="0"/>
            <a:lumOff val="0"/>
            <a:alphaOff val="0"/>
          </a:schemeClr>
        </a:solidFill>
        <a:ln>
          <a:noFill/>
        </a:ln>
        <a:effectLst>
          <a:glow rad="70000">
            <a:schemeClr val="lt1">
              <a:hueOff val="0"/>
              <a:satOff val="0"/>
              <a:lumOff val="0"/>
              <a:alphaOff val="0"/>
              <a:tint val="30000"/>
              <a:shade val="95000"/>
              <a:satMod val="300000"/>
              <a:alpha val="50000"/>
            </a:schemeClr>
          </a:glo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AU" sz="1700" kern="1200" dirty="0" smtClean="0"/>
            <a:t>Production</a:t>
          </a:r>
          <a:endParaRPr lang="en-AU" sz="1700" kern="1200" dirty="0"/>
        </a:p>
      </dsp:txBody>
      <dsp:txXfrm>
        <a:off x="1620069" y="3414152"/>
        <a:ext cx="1297781" cy="648890"/>
      </dsp:txXfrm>
    </dsp:sp>
    <dsp:sp modelId="{1307885F-A99F-4C54-B610-0E996CAE8743}">
      <dsp:nvSpPr>
        <dsp:cNvPr id="0" name=""/>
        <dsp:cNvSpPr/>
      </dsp:nvSpPr>
      <dsp:spPr>
        <a:xfrm>
          <a:off x="648623" y="2195997"/>
          <a:ext cx="1297781" cy="648890"/>
        </a:xfrm>
        <a:prstGeom prst="roundRect">
          <a:avLst/>
        </a:prstGeom>
        <a:solidFill>
          <a:schemeClr val="lt1">
            <a:hueOff val="0"/>
            <a:satOff val="0"/>
            <a:lumOff val="0"/>
            <a:alphaOff val="0"/>
          </a:schemeClr>
        </a:solidFill>
        <a:ln>
          <a:noFill/>
        </a:ln>
        <a:effectLst>
          <a:glow rad="70000">
            <a:schemeClr val="lt1">
              <a:hueOff val="0"/>
              <a:satOff val="0"/>
              <a:lumOff val="0"/>
              <a:alphaOff val="0"/>
              <a:tint val="30000"/>
              <a:shade val="95000"/>
              <a:satMod val="300000"/>
              <a:alpha val="50000"/>
            </a:schemeClr>
          </a:glo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AU" sz="1700" kern="1200" dirty="0" smtClean="0"/>
            <a:t>Service</a:t>
          </a:r>
          <a:endParaRPr lang="en-AU" sz="1700" kern="1200" dirty="0"/>
        </a:p>
      </dsp:txBody>
      <dsp:txXfrm>
        <a:off x="648623" y="2195997"/>
        <a:ext cx="1297781" cy="648890"/>
      </dsp:txXfrm>
    </dsp:sp>
    <dsp:sp modelId="{2693E785-9DC9-44DB-B3D0-F4DE351A6F60}">
      <dsp:nvSpPr>
        <dsp:cNvPr id="0" name=""/>
        <dsp:cNvSpPr/>
      </dsp:nvSpPr>
      <dsp:spPr>
        <a:xfrm>
          <a:off x="995328" y="676982"/>
          <a:ext cx="1297781" cy="648890"/>
        </a:xfrm>
        <a:prstGeom prst="roundRect">
          <a:avLst/>
        </a:prstGeom>
        <a:solidFill>
          <a:schemeClr val="lt1">
            <a:hueOff val="0"/>
            <a:satOff val="0"/>
            <a:lumOff val="0"/>
            <a:alphaOff val="0"/>
          </a:schemeClr>
        </a:solidFill>
        <a:ln>
          <a:noFill/>
        </a:ln>
        <a:effectLst>
          <a:glow rad="70000">
            <a:schemeClr val="lt1">
              <a:hueOff val="0"/>
              <a:satOff val="0"/>
              <a:lumOff val="0"/>
              <a:alphaOff val="0"/>
              <a:tint val="30000"/>
              <a:shade val="95000"/>
              <a:satMod val="300000"/>
              <a:alpha val="50000"/>
            </a:schemeClr>
          </a:glo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AU" sz="1700" kern="1200" dirty="0" smtClean="0"/>
            <a:t>Sales</a:t>
          </a:r>
          <a:endParaRPr lang="en-AU" sz="1700" kern="1200" dirty="0"/>
        </a:p>
      </dsp:txBody>
      <dsp:txXfrm>
        <a:off x="995328" y="676982"/>
        <a:ext cx="1297781" cy="648890"/>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9/2/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1/28/2015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 xmlns:p14="http://schemas.microsoft.com/office/powerpoint/2010/main" val="11431977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1/28/2015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 xmlns:p14="http://schemas.microsoft.com/office/powerpoint/2010/main" val="3879510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 xmlns:p14="http://schemas.microsoft.com/office/powerpoint/2010/main" val="4009596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five Elements, as listed on the slide explaining:</a:t>
            </a:r>
          </a:p>
          <a:p>
            <a:pPr marL="171450" indent="-171450">
              <a:buFont typeface="Arial" panose="020B0604020202020204" pitchFamily="34" charset="0"/>
              <a:buChar char="•"/>
            </a:pPr>
            <a:r>
              <a:rPr lang="en-AU" sz="1200" kern="1200" baseline="0" dirty="0" smtClean="0">
                <a:solidFill>
                  <a:schemeClr val="tx1"/>
                </a:solidFill>
                <a:ea typeface="+mn-ea"/>
                <a:cs typeface="+mn-cs"/>
              </a:rPr>
              <a:t>Each Element comprises a number of Performance Criteria which will be identified throughout the class and explained in detail</a:t>
            </a:r>
          </a:p>
          <a:p>
            <a:pPr marL="171450" indent="-171450">
              <a:buFont typeface="Arial" panose="020B0604020202020204" pitchFamily="34" charset="0"/>
              <a:buChar char="•"/>
            </a:pPr>
            <a:r>
              <a:rPr lang="en-AU" sz="1200" kern="1200" baseline="0" dirty="0" smtClean="0">
                <a:solidFill>
                  <a:schemeClr val="tx1"/>
                </a:solidFill>
                <a:ea typeface="+mn-ea"/>
                <a:cs typeface="+mn-cs"/>
              </a:rPr>
              <a:t>Trainees can obtain more detail from their Trainee Manual</a:t>
            </a:r>
          </a:p>
          <a:p>
            <a:pPr marL="171450" indent="-171450">
              <a:buFont typeface="Arial" panose="020B0604020202020204" pitchFamily="34" charset="0"/>
              <a:buChar char="•"/>
            </a:pPr>
            <a:r>
              <a:rPr lang="en-AU" sz="1200" kern="1200" baseline="0" dirty="0" smtClean="0">
                <a:solidFill>
                  <a:schemeClr val="tx1"/>
                </a:solidFill>
                <a:ea typeface="+mn-ea"/>
                <a:cs typeface="+mn-cs"/>
              </a:rPr>
              <a:t>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 xmlns:p14="http://schemas.microsoft.com/office/powerpoint/2010/main" val="86258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 xmlns:p14="http://schemas.microsoft.com/office/powerpoint/2010/main" val="1776488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dirty="0" smtClean="0"/>
              <a:t>Why</a:t>
            </a:r>
            <a:r>
              <a:rPr lang="en-US" baseline="0" dirty="0" smtClean="0"/>
              <a:t> do organisations need to identify the theft risks/threats they are facing?</a:t>
            </a:r>
          </a:p>
          <a:p>
            <a:pPr marL="171450" indent="-171450">
              <a:buFont typeface="Arial" pitchFamily="34" charset="0"/>
              <a:buChar char="•"/>
            </a:pPr>
            <a:r>
              <a:rPr lang="en-US" baseline="0" dirty="0" smtClean="0"/>
              <a:t>What is internal theft?</a:t>
            </a:r>
          </a:p>
          <a:p>
            <a:pPr marL="171450" indent="-171450">
              <a:buFont typeface="Arial" pitchFamily="34" charset="0"/>
              <a:buChar char="•"/>
            </a:pPr>
            <a:r>
              <a:rPr lang="en-US" baseline="0" dirty="0" smtClean="0"/>
              <a:t>What is external theft?</a:t>
            </a:r>
          </a:p>
          <a:p>
            <a:pPr marL="171450" indent="-171450">
              <a:buFont typeface="Arial" pitchFamily="34" charset="0"/>
              <a:buChar char="•"/>
            </a:pPr>
            <a:r>
              <a:rPr lang="en-US" baseline="0" dirty="0" smtClean="0"/>
              <a:t>What examples do you know of?</a:t>
            </a:r>
          </a:p>
          <a:p>
            <a:pPr marL="171450" indent="-171450">
              <a:buFont typeface="Arial" pitchFamily="34" charset="0"/>
              <a:buChar char="•"/>
            </a:pPr>
            <a:r>
              <a:rPr lang="en-US" baseline="0" dirty="0" smtClean="0"/>
              <a:t>What experiences do you have of internal and external theft?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 xmlns:p14="http://schemas.microsoft.com/office/powerpoint/2010/main" val="2923126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Trainer  explains internal theft is stealing by those who are employed by the business</a:t>
            </a:r>
            <a:r>
              <a:rPr lang="en-AU" sz="1200" kern="1200" baseline="0" dirty="0" smtClean="0">
                <a:solidFill>
                  <a:schemeClr val="tx1"/>
                </a:solidFill>
                <a:ea typeface="+mn-ea"/>
                <a:cs typeface="+mn-cs"/>
              </a:rPr>
              <a:t> and </a:t>
            </a:r>
            <a:r>
              <a:rPr lang="en-AU" sz="1200" kern="1200" dirty="0" smtClean="0">
                <a:solidFill>
                  <a:schemeClr val="tx1"/>
                </a:solidFill>
                <a:ea typeface="+mn-ea"/>
                <a:cs typeface="+mn-cs"/>
              </a:rPr>
              <a:t>Internal theft is also known as ‘Employee theft’.</a:t>
            </a:r>
          </a:p>
          <a:p>
            <a:r>
              <a:rPr lang="en-AU" sz="1200" kern="1200" dirty="0" smtClean="0">
                <a:solidFill>
                  <a:schemeClr val="tx1"/>
                </a:solidFill>
                <a:ea typeface="+mn-ea"/>
                <a:cs typeface="+mn-cs"/>
              </a:rPr>
              <a:t>The theft can be stealing of:</a:t>
            </a:r>
          </a:p>
          <a:p>
            <a:pPr marL="171450" indent="-171450">
              <a:buFont typeface="Arial" pitchFamily="34" charset="0"/>
              <a:buChar char="•"/>
            </a:pPr>
            <a:r>
              <a:rPr lang="en-AU" sz="1200" kern="1200" dirty="0" smtClean="0">
                <a:solidFill>
                  <a:schemeClr val="tx1"/>
                </a:solidFill>
                <a:ea typeface="+mn-ea"/>
                <a:cs typeface="+mn-cs"/>
              </a:rPr>
              <a:t>Money – cash </a:t>
            </a:r>
          </a:p>
          <a:p>
            <a:pPr marL="171450" indent="-171450">
              <a:buFont typeface="Arial" pitchFamily="34" charset="0"/>
              <a:buChar char="•"/>
            </a:pPr>
            <a:r>
              <a:rPr lang="en-AU" sz="1200" kern="1200" dirty="0" smtClean="0">
                <a:solidFill>
                  <a:schemeClr val="tx1"/>
                </a:solidFill>
                <a:ea typeface="+mn-ea"/>
                <a:cs typeface="+mn-cs"/>
              </a:rPr>
              <a:t>Property and resources</a:t>
            </a:r>
          </a:p>
          <a:p>
            <a:pPr marL="171450" indent="-171450">
              <a:buFont typeface="Arial" pitchFamily="34" charset="0"/>
              <a:buChar char="•"/>
            </a:pPr>
            <a:r>
              <a:rPr lang="en-AU" sz="1200" kern="1200" dirty="0" smtClean="0">
                <a:solidFill>
                  <a:schemeClr val="tx1"/>
                </a:solidFill>
                <a:ea typeface="+mn-ea"/>
                <a:cs typeface="+mn-cs"/>
              </a:rPr>
              <a:t>Time</a:t>
            </a:r>
          </a:p>
          <a:p>
            <a:pPr marL="171450" indent="-171450">
              <a:buFont typeface="Arial" pitchFamily="34" charset="0"/>
              <a:buChar char="•"/>
            </a:pPr>
            <a:r>
              <a:rPr lang="en-AU" sz="1200" kern="1200" dirty="0" smtClean="0">
                <a:solidFill>
                  <a:schemeClr val="tx1"/>
                </a:solidFill>
                <a:ea typeface="+mn-ea"/>
                <a:cs typeface="+mn-cs"/>
              </a:rPr>
              <a:t>Information and identity.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 xmlns:p14="http://schemas.microsoft.com/office/powerpoint/2010/main" val="2128954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Trainer explains Travel and tour businesses are attractive to thieves because:</a:t>
            </a:r>
          </a:p>
          <a:p>
            <a:pPr marL="171450" indent="-171450">
              <a:buFont typeface="Arial" pitchFamily="34" charset="0"/>
              <a:buChar char="•"/>
            </a:pPr>
            <a:r>
              <a:rPr lang="en-AU" sz="1200" kern="1200" dirty="0" smtClean="0">
                <a:solidFill>
                  <a:schemeClr val="tx1"/>
                </a:solidFill>
                <a:ea typeface="+mn-ea"/>
                <a:cs typeface="+mn-cs"/>
              </a:rPr>
              <a:t>They often have cash on the premises – and hard cash is an attractive commodity</a:t>
            </a:r>
          </a:p>
          <a:p>
            <a:pPr marL="171450" indent="-171450">
              <a:buFont typeface="Arial" pitchFamily="34" charset="0"/>
              <a:buChar char="•"/>
            </a:pPr>
            <a:r>
              <a:rPr lang="en-AU" sz="1200" kern="1200" dirty="0" smtClean="0">
                <a:solidFill>
                  <a:schemeClr val="tx1"/>
                </a:solidFill>
                <a:ea typeface="+mn-ea"/>
                <a:cs typeface="+mn-cs"/>
              </a:rPr>
              <a:t>They commonly process credit cards – and this data can be used to fraudulently purchases goods and services</a:t>
            </a:r>
          </a:p>
          <a:p>
            <a:pPr marL="171450" indent="-171450">
              <a:buFont typeface="Arial" pitchFamily="34" charset="0"/>
              <a:buChar char="•"/>
            </a:pPr>
            <a:r>
              <a:rPr lang="en-AU" sz="1200" kern="1200" dirty="0" smtClean="0">
                <a:solidFill>
                  <a:schemeClr val="tx1"/>
                </a:solidFill>
                <a:ea typeface="+mn-ea"/>
                <a:cs typeface="+mn-cs"/>
              </a:rPr>
              <a:t>Tickets and vouchers – relating to travel, entry or access to goods and services</a:t>
            </a:r>
          </a:p>
          <a:p>
            <a:pPr marL="171450" indent="-171450">
              <a:buFont typeface="Arial" pitchFamily="34" charset="0"/>
              <a:buChar char="•"/>
            </a:pPr>
            <a:r>
              <a:rPr lang="en-AU" sz="1200" kern="1200" dirty="0" smtClean="0">
                <a:solidFill>
                  <a:schemeClr val="tx1"/>
                </a:solidFill>
                <a:ea typeface="+mn-ea"/>
                <a:cs typeface="+mn-cs"/>
              </a:rPr>
              <a:t>Agencies and businesses can house a range of items which people find useful for their private/domestic lives – such as stationery, merchandise, food and beverages – and they can save money by taking these from the workplace, </a:t>
            </a:r>
          </a:p>
          <a:p>
            <a:pPr marL="0" indent="0">
              <a:buFont typeface="Arial" pitchFamily="34" charset="0"/>
              <a:buNone/>
            </a:pPr>
            <a:r>
              <a:rPr lang="en-AU" sz="1200" kern="1200" dirty="0" smtClean="0">
                <a:solidFill>
                  <a:schemeClr val="tx1"/>
                </a:solidFill>
                <a:ea typeface="+mn-ea"/>
                <a:cs typeface="+mn-cs"/>
              </a:rPr>
              <a:t>It is said by many in the industry that internal theft can often account for more than 50% of the theft from a business.</a:t>
            </a:r>
          </a:p>
          <a:p>
            <a:pPr marL="0" indent="0">
              <a:buFont typeface="Arial" pitchFamily="34" charset="0"/>
              <a:buNone/>
            </a:pPr>
            <a:r>
              <a:rPr lang="en-AU" sz="1200" kern="1200" dirty="0" smtClean="0">
                <a:solidFill>
                  <a:schemeClr val="tx1"/>
                </a:solidFill>
                <a:ea typeface="+mn-ea"/>
                <a:cs typeface="+mn-cs"/>
              </a:rPr>
              <a:t>In many cases, internal theft can turn an otherwise profitable and sustainable business into one which fails.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 xmlns:p14="http://schemas.microsoft.com/office/powerpoint/2010/main" val="2712248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AU" sz="1200" kern="1200" dirty="0" smtClean="0">
                <a:solidFill>
                  <a:schemeClr val="tx1"/>
                </a:solidFill>
                <a:ea typeface="+mn-ea"/>
                <a:cs typeface="+mn-cs"/>
              </a:rPr>
              <a:t>Trainer notes internal theft opportunities (items which are likely to be stolen) include:</a:t>
            </a:r>
          </a:p>
          <a:p>
            <a:pPr marL="171450" indent="-171450">
              <a:buFont typeface="Arial" pitchFamily="34" charset="0"/>
              <a:buChar char="•"/>
            </a:pPr>
            <a:r>
              <a:rPr lang="en-AU" sz="1200" kern="1200" dirty="0" smtClean="0">
                <a:solidFill>
                  <a:schemeClr val="tx1"/>
                </a:solidFill>
                <a:ea typeface="+mn-ea"/>
                <a:cs typeface="+mn-cs"/>
              </a:rPr>
              <a:t>Cash – which can take the form of:</a:t>
            </a:r>
          </a:p>
          <a:p>
            <a:pPr marL="628650" lvl="1" indent="-171450">
              <a:buFont typeface="Arial" pitchFamily="34" charset="0"/>
              <a:buChar char="•"/>
            </a:pPr>
            <a:r>
              <a:rPr lang="en-AU" sz="1200" kern="1200" dirty="0" smtClean="0">
                <a:solidFill>
                  <a:schemeClr val="tx1"/>
                </a:solidFill>
                <a:ea typeface="+mn-ea"/>
                <a:cs typeface="+mn-cs"/>
              </a:rPr>
              <a:t>Stealing cash from POS registers/terminals and/or other locations such as petty cash boxes, safes, bank bags</a:t>
            </a:r>
          </a:p>
          <a:p>
            <a:pPr marL="628650" lvl="1" indent="-171450">
              <a:buFont typeface="Arial" pitchFamily="34" charset="0"/>
              <a:buChar char="•"/>
            </a:pPr>
            <a:r>
              <a:rPr lang="en-AU" sz="1200" kern="1200" dirty="0" smtClean="0">
                <a:solidFill>
                  <a:schemeClr val="tx1"/>
                </a:solidFill>
                <a:ea typeface="+mn-ea"/>
                <a:cs typeface="+mn-cs"/>
              </a:rPr>
              <a:t>Making of false claims for reimbursement of expenses</a:t>
            </a:r>
          </a:p>
          <a:p>
            <a:pPr marL="171450" indent="-171450">
              <a:buFont typeface="Arial" pitchFamily="34" charset="0"/>
              <a:buChar char="•"/>
            </a:pPr>
            <a:r>
              <a:rPr lang="en-AU" sz="1200" kern="1200" dirty="0" smtClean="0">
                <a:solidFill>
                  <a:schemeClr val="tx1"/>
                </a:solidFill>
                <a:ea typeface="+mn-ea"/>
                <a:cs typeface="+mn-cs"/>
              </a:rPr>
              <a:t>Tickets and vouchers – which can take the form of:</a:t>
            </a:r>
          </a:p>
          <a:p>
            <a:pPr marL="628650" lvl="1" indent="-171450">
              <a:buFont typeface="Arial" pitchFamily="34" charset="0"/>
              <a:buChar char="•"/>
            </a:pPr>
            <a:r>
              <a:rPr lang="en-AU" sz="1200" kern="1200" dirty="0" smtClean="0">
                <a:solidFill>
                  <a:schemeClr val="tx1"/>
                </a:solidFill>
                <a:ea typeface="+mn-ea"/>
                <a:cs typeface="+mn-cs"/>
              </a:rPr>
              <a:t>Taking for personal use </a:t>
            </a:r>
          </a:p>
          <a:p>
            <a:pPr marL="628650" lvl="1" indent="-171450">
              <a:buFont typeface="Arial" pitchFamily="34" charset="0"/>
              <a:buChar char="•"/>
            </a:pPr>
            <a:r>
              <a:rPr lang="en-AU" sz="1200" kern="1200" dirty="0" smtClean="0">
                <a:solidFill>
                  <a:schemeClr val="tx1"/>
                </a:solidFill>
                <a:ea typeface="+mn-ea"/>
                <a:cs typeface="+mn-cs"/>
              </a:rPr>
              <a:t>Theft for conversion to cash by selling them to others at a discounted price for private gain</a:t>
            </a:r>
          </a:p>
          <a:p>
            <a:pPr marL="171450" indent="-171450">
              <a:buFont typeface="Arial" pitchFamily="34" charset="0"/>
              <a:buChar char="•"/>
            </a:pPr>
            <a:r>
              <a:rPr lang="en-AU" sz="1200" kern="1200" dirty="0" smtClean="0">
                <a:solidFill>
                  <a:schemeClr val="tx1"/>
                </a:solidFill>
                <a:ea typeface="+mn-ea"/>
                <a:cs typeface="+mn-cs"/>
              </a:rPr>
              <a:t>Assets and physical resources of the operations – which can take the form of: </a:t>
            </a:r>
          </a:p>
          <a:p>
            <a:pPr marL="628650" lvl="1" indent="-171450">
              <a:buFont typeface="Arial" pitchFamily="34" charset="0"/>
              <a:buChar char="•"/>
            </a:pPr>
            <a:r>
              <a:rPr lang="en-AU" sz="1200" kern="1200" dirty="0" smtClean="0">
                <a:solidFill>
                  <a:schemeClr val="tx1"/>
                </a:solidFill>
                <a:ea typeface="+mn-ea"/>
                <a:cs typeface="+mn-cs"/>
              </a:rPr>
              <a:t>Taking home furniture, fixtures, fittings and sundry property items</a:t>
            </a:r>
          </a:p>
          <a:p>
            <a:pPr marL="628650" lvl="1" indent="-171450">
              <a:buFont typeface="Arial" pitchFamily="34" charset="0"/>
              <a:buChar char="•"/>
            </a:pPr>
            <a:r>
              <a:rPr lang="en-AU" sz="1200" kern="1200" dirty="0" smtClean="0">
                <a:solidFill>
                  <a:schemeClr val="tx1"/>
                </a:solidFill>
                <a:ea typeface="+mn-ea"/>
                <a:cs typeface="+mn-cs"/>
              </a:rPr>
              <a:t>Using utilities at the workplace for personal (non-business) use – such as making private phone calls using the workplace telephone</a:t>
            </a:r>
          </a:p>
          <a:p>
            <a:pPr marL="628650" lvl="1" indent="-171450">
              <a:buFont typeface="Arial" pitchFamily="34" charset="0"/>
              <a:buChar char="•"/>
            </a:pPr>
            <a:r>
              <a:rPr lang="en-AU" sz="1200" kern="1200" dirty="0" smtClean="0">
                <a:solidFill>
                  <a:schemeClr val="tx1"/>
                </a:solidFill>
                <a:ea typeface="+mn-ea"/>
                <a:cs typeface="+mn-cs"/>
              </a:rPr>
              <a:t>Using company vehicles for personal use within and outside working hours </a:t>
            </a:r>
          </a:p>
          <a:p>
            <a:pPr marL="171450" indent="-171450">
              <a:buFont typeface="Arial" pitchFamily="34" charset="0"/>
              <a:buChar char="•"/>
            </a:pPr>
            <a:r>
              <a:rPr lang="en-AU" sz="1200" kern="1200" dirty="0" smtClean="0">
                <a:solidFill>
                  <a:schemeClr val="tx1"/>
                </a:solidFill>
                <a:ea typeface="+mn-ea"/>
                <a:cs typeface="+mn-cs"/>
              </a:rPr>
              <a:t>Stock – which can take the form of: </a:t>
            </a:r>
          </a:p>
          <a:p>
            <a:pPr marL="628650" lvl="1" indent="-171450">
              <a:buFont typeface="Arial" pitchFamily="34" charset="0"/>
              <a:buChar char="•"/>
            </a:pPr>
            <a:r>
              <a:rPr lang="en-AU" sz="1200" kern="1200" dirty="0" smtClean="0">
                <a:solidFill>
                  <a:schemeClr val="tx1"/>
                </a:solidFill>
                <a:ea typeface="+mn-ea"/>
                <a:cs typeface="+mn-cs"/>
              </a:rPr>
              <a:t>Taking home food, beverage and touring supplies</a:t>
            </a:r>
          </a:p>
          <a:p>
            <a:pPr marL="628650" lvl="1" indent="-171450">
              <a:buFont typeface="Arial" pitchFamily="34" charset="0"/>
              <a:buChar char="•"/>
            </a:pPr>
            <a:r>
              <a:rPr lang="en-AU" sz="1200" kern="1200" dirty="0" smtClean="0">
                <a:solidFill>
                  <a:schemeClr val="tx1"/>
                </a:solidFill>
                <a:ea typeface="+mn-ea"/>
                <a:cs typeface="+mn-cs"/>
              </a:rPr>
              <a:t>Deliberately damaging stock so it becomes ‘unsaleable’ and can be taken home or purchased at a discount price</a:t>
            </a:r>
          </a:p>
          <a:p>
            <a:pPr marL="628650" lvl="1" indent="-171450">
              <a:buFont typeface="Arial" pitchFamily="34" charset="0"/>
              <a:buChar char="•"/>
            </a:pPr>
            <a:r>
              <a:rPr lang="en-AU" sz="1200" kern="1200" dirty="0" smtClean="0">
                <a:solidFill>
                  <a:schemeClr val="tx1"/>
                </a:solidFill>
                <a:ea typeface="+mn-ea"/>
                <a:cs typeface="+mn-cs"/>
              </a:rPr>
              <a:t>Eating/drinking items at work which are not authorised for staff consumption</a:t>
            </a:r>
          </a:p>
          <a:p>
            <a:pPr marL="171450" indent="-171450">
              <a:buFont typeface="Arial" pitchFamily="34" charset="0"/>
              <a:buChar char="•"/>
            </a:pPr>
            <a:r>
              <a:rPr lang="en-AU" sz="1200" kern="1200" dirty="0" smtClean="0">
                <a:solidFill>
                  <a:schemeClr val="tx1"/>
                </a:solidFill>
                <a:ea typeface="+mn-ea"/>
                <a:cs typeface="+mn-cs"/>
              </a:rPr>
              <a:t>Business data – which can take the form of: </a:t>
            </a:r>
          </a:p>
          <a:p>
            <a:pPr marL="628650" lvl="1" indent="-171450">
              <a:buFont typeface="Arial" pitchFamily="34" charset="0"/>
              <a:buChar char="•"/>
            </a:pPr>
            <a:r>
              <a:rPr lang="en-AU" sz="1200" kern="1200" dirty="0" smtClean="0">
                <a:solidFill>
                  <a:schemeClr val="tx1"/>
                </a:solidFill>
                <a:ea typeface="+mn-ea"/>
                <a:cs typeface="+mn-cs"/>
              </a:rPr>
              <a:t>Using business data for personal gain </a:t>
            </a:r>
          </a:p>
          <a:p>
            <a:pPr marL="628650" lvl="1" indent="-171450">
              <a:buFont typeface="Arial" pitchFamily="34" charset="0"/>
              <a:buChar char="•"/>
            </a:pPr>
            <a:r>
              <a:rPr lang="en-AU" sz="1200" kern="1200" dirty="0" smtClean="0">
                <a:solidFill>
                  <a:schemeClr val="tx1"/>
                </a:solidFill>
                <a:ea typeface="+mn-ea"/>
                <a:cs typeface="+mn-cs"/>
              </a:rPr>
              <a:t>On-selling of this data to others</a:t>
            </a:r>
          </a:p>
          <a:p>
            <a:pPr marL="171450" indent="-171450">
              <a:buFont typeface="Arial" pitchFamily="34" charset="0"/>
              <a:buChar char="•"/>
            </a:pPr>
            <a:r>
              <a:rPr lang="en-AU" sz="1200" kern="1200" dirty="0" smtClean="0">
                <a:solidFill>
                  <a:schemeClr val="tx1"/>
                </a:solidFill>
                <a:ea typeface="+mn-ea"/>
                <a:cs typeface="+mn-cs"/>
              </a:rPr>
              <a:t>Identity – identity theft which can take the form of: </a:t>
            </a:r>
          </a:p>
          <a:p>
            <a:pPr marL="628650" lvl="1" indent="-171450">
              <a:buFont typeface="Arial" pitchFamily="34" charset="0"/>
              <a:buChar char="•"/>
            </a:pPr>
            <a:r>
              <a:rPr lang="en-AU" sz="1200" kern="1200" dirty="0" smtClean="0">
                <a:solidFill>
                  <a:schemeClr val="tx1"/>
                </a:solidFill>
                <a:ea typeface="+mn-ea"/>
                <a:cs typeface="+mn-cs"/>
              </a:rPr>
              <a:t>Organisational identity theft</a:t>
            </a:r>
          </a:p>
          <a:p>
            <a:pPr marL="628650" lvl="1" indent="-171450">
              <a:buFont typeface="Arial" pitchFamily="34" charset="0"/>
              <a:buChar char="•"/>
            </a:pPr>
            <a:r>
              <a:rPr lang="en-AU" sz="1200" kern="1200" dirty="0" smtClean="0">
                <a:solidFill>
                  <a:schemeClr val="tx1"/>
                </a:solidFill>
                <a:ea typeface="+mn-ea"/>
                <a:cs typeface="+mn-cs"/>
              </a:rPr>
              <a:t>Theft of the identity of clients.</a:t>
            </a:r>
          </a:p>
          <a:p>
            <a:pPr marL="171450" indent="-171450">
              <a:buFont typeface="Arial" pitchFamily="34" charset="0"/>
              <a:buChar char="•"/>
            </a:pPr>
            <a:r>
              <a:rPr lang="en-AU" sz="1200" kern="1200" dirty="0" smtClean="0">
                <a:solidFill>
                  <a:schemeClr val="tx1"/>
                </a:solidFill>
                <a:ea typeface="+mn-ea"/>
                <a:cs typeface="+mn-cs"/>
              </a:rPr>
              <a:t>Charging family friends a lower price than they are entitled to – by, for example, applying, a discount to which they are not entitled.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 xmlns:p14="http://schemas.microsoft.com/office/powerpoint/2010/main" val="1530692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Trainer explains there is no model or ‘profile’ for internal thieves.</a:t>
            </a:r>
          </a:p>
          <a:p>
            <a:pPr marL="171450" indent="-171450">
              <a:buFont typeface="Arial" pitchFamily="34" charset="0"/>
              <a:buChar char="•"/>
            </a:pPr>
            <a:r>
              <a:rPr lang="en-AU" sz="1200" kern="1200" dirty="0" smtClean="0">
                <a:solidFill>
                  <a:schemeClr val="tx1"/>
                </a:solidFill>
                <a:ea typeface="+mn-ea"/>
                <a:cs typeface="+mn-cs"/>
              </a:rPr>
              <a:t>They may be front-of-house or back-of-house staff.</a:t>
            </a:r>
          </a:p>
          <a:p>
            <a:pPr marL="171450" indent="-171450">
              <a:buFont typeface="Arial" pitchFamily="34" charset="0"/>
              <a:buChar char="•"/>
            </a:pPr>
            <a:r>
              <a:rPr lang="en-AU" sz="1200" kern="1200" dirty="0" smtClean="0">
                <a:solidFill>
                  <a:schemeClr val="tx1"/>
                </a:solidFill>
                <a:ea typeface="+mn-ea"/>
                <a:cs typeface="+mn-cs"/>
              </a:rPr>
              <a:t>They may be male or female, young, middle-aged or more senior.</a:t>
            </a:r>
          </a:p>
          <a:p>
            <a:pPr marL="171450" indent="-171450">
              <a:buFont typeface="Arial" pitchFamily="34" charset="0"/>
              <a:buChar char="•"/>
            </a:pPr>
            <a:r>
              <a:rPr lang="en-AU" sz="1200" kern="1200" dirty="0" smtClean="0">
                <a:solidFill>
                  <a:schemeClr val="tx1"/>
                </a:solidFill>
                <a:ea typeface="+mn-ea"/>
                <a:cs typeface="+mn-cs"/>
              </a:rPr>
              <a:t>They may be full-time/permanent staff, part-time staff or casual staff.</a:t>
            </a:r>
          </a:p>
          <a:p>
            <a:pPr marL="171450" indent="-171450">
              <a:buFont typeface="Arial" pitchFamily="34" charset="0"/>
              <a:buChar char="•"/>
            </a:pPr>
            <a:r>
              <a:rPr lang="en-AU" sz="1200" kern="1200" dirty="0" smtClean="0">
                <a:solidFill>
                  <a:schemeClr val="tx1"/>
                </a:solidFill>
                <a:ea typeface="+mn-ea"/>
                <a:cs typeface="+mn-cs"/>
              </a:rPr>
              <a:t>They may be single or married.</a:t>
            </a:r>
          </a:p>
          <a:p>
            <a:pPr marL="171450" indent="-171450">
              <a:buFont typeface="Arial" pitchFamily="34" charset="0"/>
              <a:buChar char="•"/>
            </a:pPr>
            <a:r>
              <a:rPr lang="en-AU" sz="1200" kern="1200" dirty="0" smtClean="0">
                <a:solidFill>
                  <a:schemeClr val="tx1"/>
                </a:solidFill>
                <a:ea typeface="+mn-ea"/>
                <a:cs typeface="+mn-cs"/>
              </a:rPr>
              <a:t>They may have a family or they may have no children.</a:t>
            </a:r>
          </a:p>
          <a:p>
            <a:pPr marL="171450" indent="-171450">
              <a:buFont typeface="Arial" pitchFamily="34" charset="0"/>
              <a:buChar char="•"/>
            </a:pPr>
            <a:r>
              <a:rPr lang="en-AU" sz="1200" kern="1200" dirty="0" smtClean="0">
                <a:solidFill>
                  <a:schemeClr val="tx1"/>
                </a:solidFill>
                <a:ea typeface="+mn-ea"/>
                <a:cs typeface="+mn-cs"/>
              </a:rPr>
              <a:t>They may be employees or members of the family which owns and operates the business. </a:t>
            </a:r>
          </a:p>
          <a:p>
            <a:pPr marL="171450" indent="-171450">
              <a:buFont typeface="Arial" pitchFamily="34" charset="0"/>
              <a:buChar char="•"/>
            </a:pPr>
            <a:r>
              <a:rPr lang="en-AU" sz="1200" kern="1200" dirty="0" smtClean="0">
                <a:solidFill>
                  <a:schemeClr val="tx1"/>
                </a:solidFill>
                <a:ea typeface="+mn-ea"/>
                <a:cs typeface="+mn-cs"/>
              </a:rPr>
              <a:t>They may be new staff or long-term employees.</a:t>
            </a:r>
          </a:p>
          <a:p>
            <a:pPr marL="171450" indent="-171450">
              <a:buFont typeface="Arial" pitchFamily="34" charset="0"/>
              <a:buChar char="•"/>
            </a:pPr>
            <a:r>
              <a:rPr lang="en-AU" sz="1200" kern="1200" dirty="0" smtClean="0">
                <a:solidFill>
                  <a:schemeClr val="tx1"/>
                </a:solidFill>
                <a:ea typeface="+mn-ea"/>
                <a:cs typeface="+mn-cs"/>
              </a:rPr>
              <a:t>They may be staff from other branches or offices who are working on a temporary basis in your location.</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 xmlns:p14="http://schemas.microsoft.com/office/powerpoint/2010/main" val="1371361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Opinions of the owner</a:t>
            </a:r>
          </a:p>
          <a:p>
            <a:r>
              <a:rPr lang="en-AU" sz="1200" kern="1200" dirty="0" smtClean="0">
                <a:solidFill>
                  <a:schemeClr val="tx1"/>
                </a:solidFill>
                <a:ea typeface="+mn-ea"/>
                <a:cs typeface="+mn-cs"/>
              </a:rPr>
              <a:t>Trainer observes while there is no definitive description of an internal thief, many business owners usually have their own ideas on who/which type of staff may be a potential thief.</a:t>
            </a:r>
          </a:p>
          <a:p>
            <a:r>
              <a:rPr lang="en-AU" sz="1200" kern="1200" dirty="0" smtClean="0">
                <a:solidFill>
                  <a:schemeClr val="tx1"/>
                </a:solidFill>
                <a:ea typeface="+mn-ea"/>
                <a:cs typeface="+mn-cs"/>
              </a:rPr>
              <a:t>This perception is usually based on:</a:t>
            </a:r>
          </a:p>
          <a:p>
            <a:pPr marL="171450" indent="-171450">
              <a:buFont typeface="Arial" pitchFamily="34" charset="0"/>
              <a:buChar char="•"/>
            </a:pPr>
            <a:r>
              <a:rPr lang="en-AU" sz="1200" kern="1200" dirty="0" smtClean="0">
                <a:solidFill>
                  <a:schemeClr val="tx1"/>
                </a:solidFill>
                <a:ea typeface="+mn-ea"/>
                <a:cs typeface="+mn-cs"/>
              </a:rPr>
              <a:t>Their previous experience</a:t>
            </a:r>
          </a:p>
          <a:p>
            <a:pPr marL="171450" indent="-171450">
              <a:buFont typeface="Arial" pitchFamily="34" charset="0"/>
              <a:buChar char="•"/>
            </a:pPr>
            <a:r>
              <a:rPr lang="en-AU" sz="1200" kern="1200" dirty="0" smtClean="0">
                <a:solidFill>
                  <a:schemeClr val="tx1"/>
                </a:solidFill>
                <a:ea typeface="+mn-ea"/>
                <a:cs typeface="+mn-cs"/>
              </a:rPr>
              <a:t>Stories, articles and experiences they have heard of from others in the business community they trust and respect.</a:t>
            </a:r>
          </a:p>
          <a:p>
            <a:pPr marL="0" indent="0">
              <a:buFont typeface="Arial" pitchFamily="34" charset="0"/>
              <a:buNone/>
            </a:pPr>
            <a:r>
              <a:rPr lang="en-AU" sz="1200" kern="1200" dirty="0" smtClean="0">
                <a:solidFill>
                  <a:schemeClr val="tx1"/>
                </a:solidFill>
                <a:ea typeface="+mn-ea"/>
                <a:cs typeface="+mn-cs"/>
              </a:rPr>
              <a:t>For example, a business owner may believe:</a:t>
            </a:r>
          </a:p>
          <a:p>
            <a:pPr marL="171450" indent="-171450">
              <a:buFont typeface="Arial" pitchFamily="34" charset="0"/>
              <a:buChar char="•"/>
            </a:pPr>
            <a:r>
              <a:rPr lang="en-AU" sz="1200" kern="1200" dirty="0" smtClean="0">
                <a:solidFill>
                  <a:schemeClr val="tx1"/>
                </a:solidFill>
                <a:ea typeface="+mn-ea"/>
                <a:cs typeface="+mn-cs"/>
              </a:rPr>
              <a:t>Younger staff are more likely to steal</a:t>
            </a:r>
          </a:p>
          <a:p>
            <a:pPr marL="171450" indent="-171450">
              <a:buFont typeface="Arial" pitchFamily="34" charset="0"/>
              <a:buChar char="•"/>
            </a:pPr>
            <a:r>
              <a:rPr lang="en-AU" sz="1200" kern="1200" dirty="0" smtClean="0">
                <a:solidFill>
                  <a:schemeClr val="tx1"/>
                </a:solidFill>
                <a:ea typeface="+mn-ea"/>
                <a:cs typeface="+mn-cs"/>
              </a:rPr>
              <a:t>Anyone who gambles is likely to steal</a:t>
            </a:r>
          </a:p>
          <a:p>
            <a:pPr marL="171450" indent="-171450">
              <a:buFont typeface="Arial" pitchFamily="34" charset="0"/>
              <a:buChar char="•"/>
            </a:pPr>
            <a:r>
              <a:rPr lang="en-AU" sz="1200" kern="1200" dirty="0" smtClean="0">
                <a:solidFill>
                  <a:schemeClr val="tx1"/>
                </a:solidFill>
                <a:ea typeface="+mn-ea"/>
                <a:cs typeface="+mn-cs"/>
              </a:rPr>
              <a:t>Employees with families tend to steal.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 xmlns:p14="http://schemas.microsoft.com/office/powerpoint/2010/main" val="2484644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Examples of who may be internal thieves</a:t>
            </a:r>
          </a:p>
          <a:p>
            <a:r>
              <a:rPr lang="en-AU" sz="1200" kern="1200" dirty="0" smtClean="0">
                <a:solidFill>
                  <a:schemeClr val="tx1"/>
                </a:solidFill>
                <a:ea typeface="+mn-ea"/>
                <a:cs typeface="+mn-cs"/>
              </a:rPr>
              <a:t>Trainer explains while there is no distinct set of characteristics which can be used to define or describe internal thieves, this means they may be:</a:t>
            </a:r>
          </a:p>
          <a:p>
            <a:pPr marL="171450" indent="-171450">
              <a:buFont typeface="Arial" pitchFamily="34" charset="0"/>
              <a:buChar char="•"/>
            </a:pPr>
            <a:r>
              <a:rPr lang="en-AU" sz="1200" kern="1200" dirty="0" smtClean="0">
                <a:solidFill>
                  <a:schemeClr val="tx1"/>
                </a:solidFill>
                <a:ea typeface="+mn-ea"/>
                <a:cs typeface="+mn-cs"/>
              </a:rPr>
              <a:t>Managers</a:t>
            </a:r>
          </a:p>
          <a:p>
            <a:pPr marL="171450" indent="-171450">
              <a:buFont typeface="Arial" pitchFamily="34" charset="0"/>
              <a:buChar char="•"/>
            </a:pPr>
            <a:r>
              <a:rPr lang="en-AU" sz="1200" kern="1200" dirty="0" smtClean="0">
                <a:solidFill>
                  <a:schemeClr val="tx1"/>
                </a:solidFill>
                <a:ea typeface="+mn-ea"/>
                <a:cs typeface="+mn-cs"/>
              </a:rPr>
              <a:t>Supervisors</a:t>
            </a:r>
          </a:p>
          <a:p>
            <a:pPr marL="171450" indent="-171450">
              <a:buFont typeface="Arial" pitchFamily="34" charset="0"/>
              <a:buChar char="•"/>
            </a:pPr>
            <a:r>
              <a:rPr lang="en-AU" sz="1200" kern="1200" dirty="0" smtClean="0">
                <a:solidFill>
                  <a:schemeClr val="tx1"/>
                </a:solidFill>
                <a:ea typeface="+mn-ea"/>
                <a:cs typeface="+mn-cs"/>
              </a:rPr>
              <a:t>Retail sales staff</a:t>
            </a:r>
          </a:p>
          <a:p>
            <a:pPr marL="171450" indent="-171450">
              <a:buFont typeface="Arial" pitchFamily="34" charset="0"/>
              <a:buChar char="•"/>
            </a:pPr>
            <a:r>
              <a:rPr lang="en-AU" sz="1200" kern="1200" dirty="0" smtClean="0">
                <a:solidFill>
                  <a:schemeClr val="tx1"/>
                </a:solidFill>
                <a:ea typeface="+mn-ea"/>
                <a:cs typeface="+mn-cs"/>
              </a:rPr>
              <a:t>Travel consultants</a:t>
            </a:r>
          </a:p>
          <a:p>
            <a:pPr marL="171450" indent="-171450">
              <a:buFont typeface="Arial" pitchFamily="34" charset="0"/>
              <a:buChar char="•"/>
            </a:pPr>
            <a:r>
              <a:rPr lang="en-AU" sz="1200" kern="1200" dirty="0" smtClean="0">
                <a:solidFill>
                  <a:schemeClr val="tx1"/>
                </a:solidFill>
                <a:ea typeface="+mn-ea"/>
                <a:cs typeface="+mn-cs"/>
              </a:rPr>
              <a:t>Accounting staff</a:t>
            </a:r>
          </a:p>
          <a:p>
            <a:pPr marL="171450" indent="-171450">
              <a:buFont typeface="Arial" pitchFamily="34" charset="0"/>
              <a:buChar char="•"/>
            </a:pPr>
            <a:r>
              <a:rPr lang="en-AU" sz="1200" kern="1200" dirty="0" smtClean="0">
                <a:solidFill>
                  <a:schemeClr val="tx1"/>
                </a:solidFill>
                <a:ea typeface="+mn-ea"/>
                <a:cs typeface="+mn-cs"/>
              </a:rPr>
              <a:t>Receptionists</a:t>
            </a:r>
          </a:p>
          <a:p>
            <a:pPr marL="171450" indent="-171450">
              <a:buFont typeface="Arial" pitchFamily="34" charset="0"/>
              <a:buChar char="•"/>
            </a:pPr>
            <a:r>
              <a:rPr lang="en-AU" sz="1200" kern="1200" dirty="0" smtClean="0">
                <a:solidFill>
                  <a:schemeClr val="tx1"/>
                </a:solidFill>
                <a:ea typeface="+mn-ea"/>
                <a:cs typeface="+mn-cs"/>
              </a:rPr>
              <a:t>Security staff/guards</a:t>
            </a:r>
          </a:p>
          <a:p>
            <a:pPr marL="171450" indent="-171450">
              <a:buFont typeface="Arial" pitchFamily="34" charset="0"/>
              <a:buChar char="•"/>
            </a:pPr>
            <a:r>
              <a:rPr lang="en-AU" sz="1200" kern="1200" dirty="0" smtClean="0">
                <a:solidFill>
                  <a:schemeClr val="tx1"/>
                </a:solidFill>
                <a:ea typeface="+mn-ea"/>
                <a:cs typeface="+mn-cs"/>
              </a:rPr>
              <a:t>Cleaners.</a:t>
            </a:r>
          </a:p>
          <a:p>
            <a:r>
              <a:rPr lang="en-AU" sz="1200" kern="1200" dirty="0" smtClean="0">
                <a:solidFill>
                  <a:schemeClr val="tx1"/>
                </a:solidFill>
                <a:ea typeface="+mn-ea"/>
                <a:cs typeface="+mn-cs"/>
              </a:rPr>
              <a:t>This said, most staff are honest and will not steal ‘anything of real value’ from their employer even where an opportunity to do so presents itself but most staff will admit to having stolen something from their employer.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 xmlns:p14="http://schemas.microsoft.com/office/powerpoint/2010/main" val="3060096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Trainer states:</a:t>
            </a:r>
          </a:p>
          <a:p>
            <a:pPr marL="171450" indent="-171450">
              <a:buFont typeface="Arial" pitchFamily="34" charset="0"/>
              <a:buChar char="•"/>
            </a:pPr>
            <a:r>
              <a:rPr lang="en-AU" sz="1200" kern="1200" dirty="0" smtClean="0">
                <a:solidFill>
                  <a:schemeClr val="tx1"/>
                </a:solidFill>
                <a:ea typeface="+mn-ea"/>
                <a:cs typeface="+mn-cs"/>
              </a:rPr>
              <a:t>External theft is stealing by those who are outside the business – that is the thieves are persons other than employees.</a:t>
            </a:r>
          </a:p>
          <a:p>
            <a:pPr marL="171450" indent="-171450">
              <a:buFont typeface="Arial" pitchFamily="34" charset="0"/>
              <a:buChar char="•"/>
            </a:pPr>
            <a:r>
              <a:rPr lang="en-AU" sz="1200" kern="1200" dirty="0" smtClean="0">
                <a:solidFill>
                  <a:schemeClr val="tx1"/>
                </a:solidFill>
                <a:ea typeface="+mn-ea"/>
                <a:cs typeface="+mn-cs"/>
              </a:rPr>
              <a:t>For our purposes we are not referring to people who break into the business when it is closed, and steal items.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 xmlns:p14="http://schemas.microsoft.com/office/powerpoint/2010/main" val="2776572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a:buFont typeface="Arial" pitchFamily="34" charset="0"/>
              <a:buNone/>
            </a:pPr>
            <a:r>
              <a:rPr lang="en-US" sz="1200" kern="1200" dirty="0" smtClean="0">
                <a:solidFill>
                  <a:schemeClr val="tx1"/>
                </a:solidFill>
                <a:ea typeface="+mn-ea"/>
                <a:cs typeface="+mn-cs"/>
              </a:rPr>
              <a:t>Trainer identifies external theft opportunities: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Cash – this can include:</a:t>
            </a:r>
          </a:p>
          <a:p>
            <a:pPr marL="628650" lvl="1" indent="-171450">
              <a:buFont typeface="Arial" pitchFamily="34" charset="0"/>
              <a:buChar char="•"/>
            </a:pPr>
            <a:r>
              <a:rPr lang="en-AU" sz="1200" kern="1200" dirty="0" smtClean="0">
                <a:solidFill>
                  <a:schemeClr val="tx1"/>
                </a:solidFill>
                <a:ea typeface="+mn-ea"/>
                <a:cs typeface="+mn-cs"/>
              </a:rPr>
              <a:t>Theft of cash from POS registers; Theft of cash from staff belongings, bags, wallets, purses; Theft of cash from other customers; </a:t>
            </a:r>
          </a:p>
          <a:p>
            <a:pPr marL="171450" indent="-171450">
              <a:buFont typeface="Arial" pitchFamily="34" charset="0"/>
              <a:buChar char="•"/>
            </a:pPr>
            <a:r>
              <a:rPr lang="en-AU" sz="1200" kern="1200" dirty="0" smtClean="0">
                <a:solidFill>
                  <a:schemeClr val="tx1"/>
                </a:solidFill>
                <a:ea typeface="+mn-ea"/>
                <a:cs typeface="+mn-cs"/>
              </a:rPr>
              <a:t>Tickets – where customers:</a:t>
            </a:r>
          </a:p>
          <a:p>
            <a:pPr marL="628650" lvl="1" indent="-171450">
              <a:buFont typeface="Arial" pitchFamily="34" charset="0"/>
              <a:buChar char="•"/>
            </a:pPr>
            <a:r>
              <a:rPr lang="en-AU" sz="1200" kern="1200" dirty="0" smtClean="0">
                <a:solidFill>
                  <a:schemeClr val="tx1"/>
                </a:solidFill>
                <a:ea typeface="+mn-ea"/>
                <a:cs typeface="+mn-cs"/>
              </a:rPr>
              <a:t>Steal travel tickets for air travel, cruises and/or rail – even though they may be worthless to the thief as they require validation or similar. These tickets may be domestic or international.</a:t>
            </a:r>
          </a:p>
          <a:p>
            <a:pPr marL="628650" lvl="1" indent="-171450">
              <a:buFont typeface="Arial" pitchFamily="34" charset="0"/>
              <a:buChar char="•"/>
            </a:pPr>
            <a:r>
              <a:rPr lang="en-AU" sz="1200" kern="1200" dirty="0" smtClean="0">
                <a:solidFill>
                  <a:schemeClr val="tx1"/>
                </a:solidFill>
                <a:ea typeface="+mn-ea"/>
                <a:cs typeface="+mn-cs"/>
              </a:rPr>
              <a:t>Steal transport tickets – for options such as local bus, taxis, hire cars, or other local transport options including transfers (such as transfers between accommodation venues and airports, cruise centres or other terminals)</a:t>
            </a:r>
          </a:p>
          <a:p>
            <a:pPr marL="628650" lvl="1" indent="-171450">
              <a:buFont typeface="Arial" pitchFamily="34" charset="0"/>
              <a:buChar char="•"/>
            </a:pPr>
            <a:r>
              <a:rPr lang="en-AU" sz="1200" kern="1200" dirty="0" smtClean="0">
                <a:solidFill>
                  <a:schemeClr val="tx1"/>
                </a:solidFill>
                <a:ea typeface="+mn-ea"/>
                <a:cs typeface="+mn-cs"/>
              </a:rPr>
              <a:t>Steal entry tickets to destinations, attractions and others locations – for example theme parks, theatres, museums, concerts and events</a:t>
            </a:r>
          </a:p>
          <a:p>
            <a:pPr marL="628650" lvl="1" indent="-171450">
              <a:buFont typeface="Arial" pitchFamily="34" charset="0"/>
              <a:buChar char="•"/>
            </a:pPr>
            <a:r>
              <a:rPr lang="en-AU" sz="1200" kern="1200" dirty="0" smtClean="0">
                <a:solidFill>
                  <a:schemeClr val="tx1"/>
                </a:solidFill>
                <a:ea typeface="+mn-ea"/>
                <a:cs typeface="+mn-cs"/>
              </a:rPr>
              <a:t>Steal tickets to entitle holders to participate in organised activities – such as scheduled and escorted tours, packaged tours, interactive displays, exhibitions, walks, ‘safaris’ and similar’</a:t>
            </a:r>
          </a:p>
          <a:p>
            <a:pPr marL="171450" indent="-171450">
              <a:buFont typeface="Arial" pitchFamily="34" charset="0"/>
              <a:buChar char="•"/>
            </a:pPr>
            <a:r>
              <a:rPr lang="en-AU" sz="1200" kern="1200" dirty="0" smtClean="0">
                <a:solidFill>
                  <a:schemeClr val="tx1"/>
                </a:solidFill>
                <a:ea typeface="+mn-ea"/>
                <a:cs typeface="+mn-cs"/>
              </a:rPr>
              <a:t>Vouchers – which can include:</a:t>
            </a:r>
          </a:p>
          <a:p>
            <a:pPr marL="628650" lvl="1" indent="-171450">
              <a:buFont typeface="Arial" pitchFamily="34" charset="0"/>
              <a:buChar char="•"/>
            </a:pPr>
            <a:r>
              <a:rPr lang="en-AU" sz="1200" kern="1200" dirty="0" smtClean="0">
                <a:solidFill>
                  <a:schemeClr val="tx1"/>
                </a:solidFill>
                <a:ea typeface="+mn-ea"/>
                <a:cs typeface="+mn-cs"/>
              </a:rPr>
              <a:t>Vouchers for accommodation at venues; Vouchers for nominated food and/or beverages; Vouchers for the supply of products and/or services to a nominated amount; Vouchers for tokens at a gaming venue/casino; Vouchers entitling the holder to discounts at certain other businesses; Gift vouchers; Travel vouchers</a:t>
            </a:r>
          </a:p>
          <a:p>
            <a:pPr marL="171450" indent="-171450">
              <a:buFont typeface="Arial" pitchFamily="34" charset="0"/>
              <a:buChar char="•"/>
            </a:pPr>
            <a:r>
              <a:rPr lang="en-AU" sz="1200" kern="1200" dirty="0" smtClean="0">
                <a:solidFill>
                  <a:schemeClr val="tx1"/>
                </a:solidFill>
                <a:ea typeface="+mn-ea"/>
                <a:cs typeface="+mn-cs"/>
              </a:rPr>
              <a:t>Assets – these are resources of the organisation which can be classified, in this context, as:</a:t>
            </a:r>
          </a:p>
          <a:p>
            <a:pPr marL="628650" lvl="1" indent="-171450">
              <a:buFont typeface="Arial" pitchFamily="34" charset="0"/>
              <a:buChar char="•"/>
            </a:pPr>
            <a:r>
              <a:rPr lang="en-AU" sz="1200" kern="1200" dirty="0" smtClean="0">
                <a:solidFill>
                  <a:schemeClr val="tx1"/>
                </a:solidFill>
                <a:ea typeface="+mn-ea"/>
                <a:cs typeface="+mn-cs"/>
              </a:rPr>
              <a:t>Physical fixtures and fittings of the business – office equipment, industry/association plates, furniture, signage, communications equipment, systems hardware; Information – such as business identity data, security and other operating and/or access codes, customer database information, confidential business details, private information on customers and organisations with whom the agency does business; Stock – this covers items such as Food and beverages provided by the business, Promotional items, Merchandise – which can include but is certainly not limited to clothing (hats, caps, T-shirts), pens, pencils, diaries, travel bags, luggage tags, ticket wallets, Travel books and videos/DVDs.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 xmlns:p14="http://schemas.microsoft.com/office/powerpoint/2010/main" val="3512942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Points to note</a:t>
            </a:r>
          </a:p>
          <a:p>
            <a:r>
              <a:rPr lang="en-AU" sz="1200" kern="1200" dirty="0" smtClean="0">
                <a:solidFill>
                  <a:schemeClr val="tx1"/>
                </a:solidFill>
                <a:ea typeface="+mn-ea"/>
                <a:cs typeface="+mn-cs"/>
              </a:rPr>
              <a:t>Trainer explains external theft tends to be much more opportunistic and un-targetted than internal theft.</a:t>
            </a:r>
          </a:p>
          <a:p>
            <a:r>
              <a:rPr lang="en-AU" sz="1200" kern="1200" dirty="0" smtClean="0">
                <a:solidFill>
                  <a:schemeClr val="tx1"/>
                </a:solidFill>
                <a:ea typeface="+mn-ea"/>
                <a:cs typeface="+mn-cs"/>
              </a:rPr>
              <a:t>Staff tend to target items they want and know can be used and/or sold for gain.</a:t>
            </a:r>
          </a:p>
          <a:p>
            <a:r>
              <a:rPr lang="en-AU" sz="1200" kern="1200" dirty="0" smtClean="0">
                <a:solidFill>
                  <a:schemeClr val="tx1"/>
                </a:solidFill>
                <a:ea typeface="+mn-ea"/>
                <a:cs typeface="+mn-cs"/>
              </a:rPr>
              <a:t>External thieves often act on impulse and take items which may be of no practical or other use to them. For example, an external thief may steal:</a:t>
            </a:r>
          </a:p>
          <a:p>
            <a:pPr marL="171450" indent="-171450">
              <a:buFont typeface="Arial" pitchFamily="34" charset="0"/>
              <a:buChar char="•"/>
            </a:pPr>
            <a:r>
              <a:rPr lang="en-AU" sz="1200" kern="1200" dirty="0" smtClean="0">
                <a:solidFill>
                  <a:schemeClr val="tx1"/>
                </a:solidFill>
                <a:ea typeface="+mn-ea"/>
                <a:cs typeface="+mn-cs"/>
              </a:rPr>
              <a:t>Cash which they cannot convert into local currency</a:t>
            </a:r>
          </a:p>
          <a:p>
            <a:pPr marL="171450" indent="-171450">
              <a:buFont typeface="Arial" pitchFamily="34" charset="0"/>
              <a:buChar char="•"/>
            </a:pPr>
            <a:r>
              <a:rPr lang="en-AU" sz="1200" kern="1200" dirty="0" smtClean="0">
                <a:solidFill>
                  <a:schemeClr val="tx1"/>
                </a:solidFill>
                <a:ea typeface="+mn-ea"/>
                <a:cs typeface="+mn-cs"/>
              </a:rPr>
              <a:t>Personal and/or business cheques which they are unable to convert into cash</a:t>
            </a:r>
          </a:p>
          <a:p>
            <a:pPr marL="171450" indent="-171450">
              <a:buFont typeface="Arial" pitchFamily="34" charset="0"/>
              <a:buChar char="•"/>
            </a:pPr>
            <a:r>
              <a:rPr lang="en-AU" sz="1200" kern="1200" dirty="0" smtClean="0">
                <a:solidFill>
                  <a:schemeClr val="tx1"/>
                </a:solidFill>
                <a:ea typeface="+mn-ea"/>
                <a:cs typeface="+mn-cs"/>
              </a:rPr>
              <a:t>Documents which have not been fully completed and require (say) a specific imprint, stamp or code for validation to occur.</a:t>
            </a:r>
          </a:p>
          <a:p>
            <a:pPr marL="171450" indent="-171450">
              <a:buFont typeface="Arial" pitchFamily="34" charset="0"/>
              <a:buChar char="•"/>
            </a:pPr>
            <a:r>
              <a:rPr lang="en-AU" sz="1200" kern="1200" dirty="0" smtClean="0">
                <a:solidFill>
                  <a:schemeClr val="tx1"/>
                </a:solidFill>
                <a:ea typeface="+mn-ea"/>
                <a:cs typeface="+mn-cs"/>
              </a:rPr>
              <a:t>The external thief often simply ‘takes things’ and then works out whether what they have taken can be used or is of value.</a:t>
            </a:r>
          </a:p>
          <a:p>
            <a:r>
              <a:rPr lang="en-AU" sz="1200" kern="1200" dirty="0" smtClean="0">
                <a:solidFill>
                  <a:schemeClr val="tx1"/>
                </a:solidFill>
                <a:ea typeface="+mn-ea"/>
                <a:cs typeface="+mn-cs"/>
              </a:rPr>
              <a:t>They also do not always choose to steal only ‘high value’ items or large quantities of cash – they will often steal a single, inexpensive (or essentially valueless) item, or a relatively small amount of cash.</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 xmlns:p14="http://schemas.microsoft.com/office/powerpoint/2010/main" val="388192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dirty="0" smtClean="0"/>
              <a:t>Trainer identifies external thieves may be:</a:t>
            </a:r>
          </a:p>
          <a:p>
            <a:pPr marL="171450" indent="-171450">
              <a:buFont typeface="Arial" pitchFamily="34" charset="0"/>
              <a:buChar char="•"/>
            </a:pPr>
            <a:r>
              <a:rPr lang="en-AU" sz="1200" kern="1200" dirty="0" smtClean="0">
                <a:solidFill>
                  <a:schemeClr val="tx1"/>
                </a:solidFill>
                <a:ea typeface="+mn-ea"/>
                <a:cs typeface="+mn-cs"/>
              </a:rPr>
              <a:t>Customers, clients or tour group members – these are the people you deal with in a face-to-face context and who:</a:t>
            </a:r>
          </a:p>
          <a:p>
            <a:pPr marL="628650" lvl="1" indent="-171450">
              <a:buFont typeface="Arial" pitchFamily="34" charset="0"/>
              <a:buChar char="•"/>
            </a:pPr>
            <a:r>
              <a:rPr lang="en-AU" sz="1200" kern="1200" dirty="0" smtClean="0">
                <a:solidFill>
                  <a:schemeClr val="tx1"/>
                </a:solidFill>
                <a:ea typeface="+mn-ea"/>
                <a:cs typeface="+mn-cs"/>
              </a:rPr>
              <a:t>May call in to make an enquiry; Make a purchase or make a reservation/booking; Call in to make a payment</a:t>
            </a:r>
          </a:p>
          <a:p>
            <a:pPr marL="628650" lvl="1" indent="-171450">
              <a:buFont typeface="Arial" pitchFamily="34" charset="0"/>
              <a:buChar char="•"/>
            </a:pPr>
            <a:r>
              <a:rPr lang="en-AU" sz="1200" kern="1200" dirty="0" smtClean="0">
                <a:solidFill>
                  <a:schemeClr val="tx1"/>
                </a:solidFill>
                <a:ea typeface="+mn-ea"/>
                <a:cs typeface="+mn-cs"/>
              </a:rPr>
              <a:t>Arrive to pick up tickets, vouchers or other items; Turn up to wait for a trip or tour to commence</a:t>
            </a:r>
          </a:p>
          <a:p>
            <a:pPr marL="171450" indent="-171450">
              <a:buFont typeface="Arial" pitchFamily="34" charset="0"/>
              <a:buChar char="•"/>
            </a:pPr>
            <a:r>
              <a:rPr lang="en-AU" sz="1200" kern="1200" dirty="0" smtClean="0">
                <a:solidFill>
                  <a:schemeClr val="tx1"/>
                </a:solidFill>
                <a:ea typeface="+mn-ea"/>
                <a:cs typeface="+mn-cs"/>
              </a:rPr>
              <a:t>Friends and family of the above – sometimes the thief is not the actual, paying customer but can be a family members or simply a friend of the client. Many operators will attest that children are sometimes high on the list of external theft, sometimes because they know no better and/or sometimes because they do not have their own money to buy the things they want.</a:t>
            </a:r>
          </a:p>
          <a:p>
            <a:pPr marL="171450" indent="-171450">
              <a:buFont typeface="Arial" pitchFamily="34" charset="0"/>
              <a:buChar char="•"/>
            </a:pPr>
            <a:r>
              <a:rPr lang="en-AU" sz="1200" kern="1200" dirty="0" smtClean="0">
                <a:solidFill>
                  <a:schemeClr val="tx1"/>
                </a:solidFill>
                <a:ea typeface="+mn-ea"/>
                <a:cs typeface="+mn-cs"/>
              </a:rPr>
              <a:t>Visitors and members of the public – these are people who may come to the businesses for the purposes of:</a:t>
            </a:r>
          </a:p>
          <a:p>
            <a:pPr marL="628650" lvl="1" indent="-171450">
              <a:buFont typeface="Arial" pitchFamily="34" charset="0"/>
              <a:buChar char="•"/>
            </a:pPr>
            <a:r>
              <a:rPr lang="en-AU" sz="1200" kern="1200" dirty="0" smtClean="0">
                <a:solidFill>
                  <a:schemeClr val="tx1"/>
                </a:solidFill>
                <a:ea typeface="+mn-ea"/>
                <a:cs typeface="+mn-cs"/>
              </a:rPr>
              <a:t>Participating in an activity organised by the business such as a presentation, a film night, guest speaker or an appreciation night for previous customers; Viewing the facilities and meeting the staff – a ‘getting to know you’ activity; Touring the business as part of an invitation to do so</a:t>
            </a:r>
          </a:p>
          <a:p>
            <a:pPr marL="171450" indent="-171450">
              <a:buFont typeface="Arial" pitchFamily="34" charset="0"/>
              <a:buChar char="•"/>
            </a:pPr>
            <a:r>
              <a:rPr lang="en-AU" sz="1200" kern="1200" dirty="0" smtClean="0">
                <a:solidFill>
                  <a:schemeClr val="tx1"/>
                </a:solidFill>
                <a:ea typeface="+mn-ea"/>
                <a:cs typeface="+mn-cs"/>
              </a:rPr>
              <a:t>Sales representatives – these are sales staff from organisations the business deals with. They are also known as 'sales reps'. They come to your place of business and:</a:t>
            </a:r>
          </a:p>
          <a:p>
            <a:pPr marL="628650" lvl="1" indent="-171450">
              <a:buFont typeface="Arial" pitchFamily="34" charset="0"/>
              <a:buChar char="•"/>
            </a:pPr>
            <a:r>
              <a:rPr lang="en-AU" sz="1200" kern="1200" dirty="0" smtClean="0">
                <a:solidFill>
                  <a:schemeClr val="tx1"/>
                </a:solidFill>
                <a:ea typeface="+mn-ea"/>
                <a:cs typeface="+mn-cs"/>
              </a:rPr>
              <a:t>Tell you about the products and services they can provide to you</a:t>
            </a:r>
          </a:p>
          <a:p>
            <a:pPr marL="628650" lvl="1" indent="-171450">
              <a:buFont typeface="Arial" pitchFamily="34" charset="0"/>
              <a:buChar char="•"/>
            </a:pPr>
            <a:r>
              <a:rPr lang="en-AU" sz="1200" kern="1200" dirty="0" smtClean="0">
                <a:solidFill>
                  <a:schemeClr val="tx1"/>
                </a:solidFill>
                <a:ea typeface="+mn-ea"/>
                <a:cs typeface="+mn-cs"/>
              </a:rPr>
              <a:t>Negotiate prices and deals with you for their products and services</a:t>
            </a:r>
          </a:p>
          <a:p>
            <a:pPr marL="628650" lvl="1" indent="-171450">
              <a:buFont typeface="Arial" pitchFamily="34" charset="0"/>
              <a:buChar char="•"/>
            </a:pPr>
            <a:r>
              <a:rPr lang="en-AU" sz="1200" kern="1200" dirty="0" smtClean="0">
                <a:solidFill>
                  <a:schemeClr val="tx1"/>
                </a:solidFill>
                <a:ea typeface="+mn-ea"/>
                <a:cs typeface="+mn-cs"/>
              </a:rPr>
              <a:t>Develop a rapport and relationship between you and their company</a:t>
            </a:r>
          </a:p>
          <a:p>
            <a:pPr marL="628650" lvl="1" indent="-171450">
              <a:buFont typeface="Arial" pitchFamily="34" charset="0"/>
              <a:buChar char="•"/>
            </a:pPr>
            <a:r>
              <a:rPr lang="en-AU" sz="1200" kern="1200" dirty="0" smtClean="0">
                <a:solidFill>
                  <a:schemeClr val="tx1"/>
                </a:solidFill>
                <a:ea typeface="+mn-ea"/>
                <a:cs typeface="+mn-cs"/>
              </a:rPr>
              <a:t>Handle complaints you, or your customers, may have about the products and/or services they have provided</a:t>
            </a:r>
          </a:p>
          <a:p>
            <a:pPr marL="171450" indent="-171450">
              <a:buFont typeface="Arial" pitchFamily="34" charset="0"/>
              <a:buChar char="•"/>
            </a:pPr>
            <a:r>
              <a:rPr lang="en-AU" sz="1200" kern="1200" dirty="0" smtClean="0">
                <a:solidFill>
                  <a:schemeClr val="tx1"/>
                </a:solidFill>
                <a:ea typeface="+mn-ea"/>
                <a:cs typeface="+mn-cs"/>
              </a:rPr>
              <a:t>Contractors – these can be people from:</a:t>
            </a:r>
          </a:p>
          <a:p>
            <a:pPr marL="628650" lvl="1" indent="-171450">
              <a:buFont typeface="Arial" pitchFamily="34" charset="0"/>
              <a:buChar char="•"/>
            </a:pPr>
            <a:r>
              <a:rPr lang="en-AU" sz="1200" kern="1200" dirty="0" smtClean="0">
                <a:solidFill>
                  <a:schemeClr val="tx1"/>
                </a:solidFill>
                <a:ea typeface="+mn-ea"/>
                <a:cs typeface="+mn-cs"/>
              </a:rPr>
              <a:t>Organisations which Service, repair or maintain the premises in which you operate and/or the technologies and equipment you use; Joint-venture partners with whom you have a formal arrangement; Other businesses with whom you have legally-binding contracts for the supply of goods and services </a:t>
            </a:r>
          </a:p>
          <a:p>
            <a:pPr marL="171450" indent="-171450">
              <a:buFont typeface="Arial" pitchFamily="34" charset="0"/>
              <a:buChar char="•"/>
            </a:pPr>
            <a:r>
              <a:rPr lang="en-AU" sz="1200" kern="1200" dirty="0" smtClean="0">
                <a:solidFill>
                  <a:schemeClr val="tx1"/>
                </a:solidFill>
                <a:ea typeface="+mn-ea"/>
                <a:cs typeface="+mn-cs"/>
              </a:rPr>
              <a:t>Suppliers and vendors – these are the businesses who provide you with the goods and services you require in order for you to keep doing business. The personnel who may steal from you in this case can be:</a:t>
            </a:r>
          </a:p>
          <a:p>
            <a:pPr marL="628650" lvl="1" indent="-171450">
              <a:buFont typeface="Arial" pitchFamily="34" charset="0"/>
              <a:buChar char="•"/>
            </a:pPr>
            <a:r>
              <a:rPr lang="en-AU" sz="1200" kern="1200" dirty="0" smtClean="0">
                <a:solidFill>
                  <a:schemeClr val="tx1"/>
                </a:solidFill>
                <a:ea typeface="+mn-ea"/>
                <a:cs typeface="+mn-cs"/>
              </a:rPr>
              <a:t>Sales reps (see above) – who may steal when they come into the business</a:t>
            </a:r>
          </a:p>
          <a:p>
            <a:pPr marL="628650" lvl="1" indent="-171450">
              <a:buFont typeface="Arial" pitchFamily="34" charset="0"/>
              <a:buChar char="•"/>
            </a:pPr>
            <a:r>
              <a:rPr lang="en-AU" sz="1200" kern="1200" dirty="0" smtClean="0">
                <a:solidFill>
                  <a:schemeClr val="tx1"/>
                </a:solidFill>
                <a:ea typeface="+mn-ea"/>
                <a:cs typeface="+mn-cs"/>
              </a:rPr>
              <a:t>Delivery drivers – who may short-deliver items ordered by your business</a:t>
            </a:r>
          </a:p>
          <a:p>
            <a:pPr marL="628650" lvl="1" indent="-171450">
              <a:buFont typeface="Arial" pitchFamily="34" charset="0"/>
              <a:buChar char="•"/>
            </a:pPr>
            <a:r>
              <a:rPr lang="en-AU" sz="1200" kern="1200" dirty="0" smtClean="0">
                <a:solidFill>
                  <a:schemeClr val="tx1"/>
                </a:solidFill>
                <a:ea typeface="+mn-ea"/>
                <a:cs typeface="+mn-cs"/>
              </a:rPr>
              <a:t>Staff employed in the stores area at the supplier warehouse – who may supply incorrect stock and charge an inflated price for inferior products, or who may short-pack a delivery for the business</a:t>
            </a:r>
          </a:p>
          <a:p>
            <a:pPr marL="628650" lvl="1" indent="-171450">
              <a:buFont typeface="Arial" pitchFamily="34" charset="0"/>
              <a:buChar char="•"/>
            </a:pPr>
            <a:r>
              <a:rPr lang="en-AU" sz="1200" kern="1200" dirty="0" smtClean="0">
                <a:solidFill>
                  <a:schemeClr val="tx1"/>
                </a:solidFill>
                <a:ea typeface="+mn-ea"/>
                <a:cs typeface="+mn-cs"/>
              </a:rPr>
              <a:t>Accounting staff – who may charge excessive prices for stock delivered to you, or fail to factor in special deals or negotiations on price: this highlights ‘external theft’ can occur even when it is not someone’s deliberate intention to steal from you.</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 xmlns:p14="http://schemas.microsoft.com/office/powerpoint/2010/main" val="1885815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Trainer notes ‘On tour’ refers to situations where tourist guide leads a group of visitors or tourists on a scheduled and/or escorted tour or trip.</a:t>
            </a:r>
          </a:p>
          <a:p>
            <a:r>
              <a:rPr lang="en-AU" sz="1200" kern="1200" dirty="0" smtClean="0">
                <a:solidFill>
                  <a:schemeClr val="tx1"/>
                </a:solidFill>
                <a:ea typeface="+mn-ea"/>
                <a:cs typeface="+mn-cs"/>
              </a:rPr>
              <a:t>The tour/trip may:</a:t>
            </a:r>
          </a:p>
          <a:p>
            <a:pPr marL="171450" indent="-171450">
              <a:buFont typeface="Arial" pitchFamily="34" charset="0"/>
              <a:buChar char="•"/>
            </a:pPr>
            <a:r>
              <a:rPr lang="en-AU" sz="1200" kern="1200" dirty="0" smtClean="0">
                <a:solidFill>
                  <a:schemeClr val="tx1"/>
                </a:solidFill>
                <a:ea typeface="+mn-ea"/>
                <a:cs typeface="+mn-cs"/>
              </a:rPr>
              <a:t>Be a walking tour or a vehicle-based tour – commonly with activities included as part of the package</a:t>
            </a:r>
          </a:p>
          <a:p>
            <a:pPr marL="171450" indent="-171450">
              <a:buFont typeface="Arial" pitchFamily="34" charset="0"/>
              <a:buChar char="•"/>
            </a:pPr>
            <a:r>
              <a:rPr lang="en-AU" sz="1200" kern="1200" dirty="0" smtClean="0">
                <a:solidFill>
                  <a:schemeClr val="tx1"/>
                </a:solidFill>
                <a:ea typeface="+mn-ea"/>
                <a:cs typeface="+mn-cs"/>
              </a:rPr>
              <a:t>Be of short duration (30 minutes to a couple of hours) or longer (half-day, full-day and multiple-day tours)</a:t>
            </a:r>
          </a:p>
          <a:p>
            <a:pPr marL="171450" indent="-171450">
              <a:buFont typeface="Arial" pitchFamily="34" charset="0"/>
              <a:buChar char="•"/>
            </a:pPr>
            <a:r>
              <a:rPr lang="en-AU" sz="1200" kern="1200" dirty="0" smtClean="0">
                <a:solidFill>
                  <a:schemeClr val="tx1"/>
                </a:solidFill>
                <a:ea typeface="+mn-ea"/>
                <a:cs typeface="+mn-cs"/>
              </a:rPr>
              <a:t>Feature venue-based, ‘roomed’ accommodation or camp-based ‘tented’ accommodation</a:t>
            </a:r>
          </a:p>
          <a:p>
            <a:pPr marL="171450" indent="-171450">
              <a:buFont typeface="Arial" pitchFamily="34" charset="0"/>
              <a:buChar char="•"/>
            </a:pPr>
            <a:r>
              <a:rPr lang="en-AU" sz="1200" kern="1200" dirty="0" smtClean="0">
                <a:solidFill>
                  <a:schemeClr val="tx1"/>
                </a:solidFill>
                <a:ea typeface="+mn-ea"/>
                <a:cs typeface="+mn-cs"/>
              </a:rPr>
              <a:t>Visit local or remote areas including other countries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 xmlns:p14="http://schemas.microsoft.com/office/powerpoint/2010/main" val="1925740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Trainer highlights on tour theft threats relate to any situations that expose the organisation and/or tour/travel clients to the risk of theft. Common forms of theft which have taken place ‘on tour’ include:</a:t>
            </a:r>
          </a:p>
          <a:p>
            <a:pPr marL="171450" indent="-171450">
              <a:buFont typeface="Arial" pitchFamily="34" charset="0"/>
              <a:buChar char="•"/>
            </a:pPr>
            <a:r>
              <a:rPr lang="en-AU" sz="1200" kern="1200" dirty="0" smtClean="0">
                <a:solidFill>
                  <a:schemeClr val="tx1"/>
                </a:solidFill>
                <a:ea typeface="+mn-ea"/>
                <a:cs typeface="+mn-cs"/>
              </a:rPr>
              <a:t>Theft of organisational assets – this is stealing of company resources. The theft may be perpetrated by clients or members of the public preying on the tour. Resources of the business which can be taken may involve;</a:t>
            </a:r>
          </a:p>
          <a:p>
            <a:pPr marL="628650" lvl="1" indent="-171450">
              <a:buFont typeface="Arial" pitchFamily="34" charset="0"/>
              <a:buChar char="•"/>
            </a:pPr>
            <a:r>
              <a:rPr lang="en-AU" sz="1200" kern="1200" dirty="0" smtClean="0">
                <a:solidFill>
                  <a:schemeClr val="tx1"/>
                </a:solidFill>
                <a:ea typeface="+mn-ea"/>
                <a:cs typeface="+mn-cs"/>
              </a:rPr>
              <a:t>Food and beverages</a:t>
            </a:r>
          </a:p>
          <a:p>
            <a:pPr marL="628650" lvl="1" indent="-171450">
              <a:buFont typeface="Arial" pitchFamily="34" charset="0"/>
              <a:buChar char="•"/>
            </a:pPr>
            <a:r>
              <a:rPr lang="en-AU" sz="1200" kern="1200" dirty="0" smtClean="0">
                <a:solidFill>
                  <a:schemeClr val="tx1"/>
                </a:solidFill>
                <a:ea typeface="+mn-ea"/>
                <a:cs typeface="+mn-cs"/>
              </a:rPr>
              <a:t>Goods and equipment – cooking equipment, PA gear, signs, materials used for activities, sports, demonstrations</a:t>
            </a:r>
          </a:p>
          <a:p>
            <a:pPr marL="628650" lvl="1" indent="-171450">
              <a:buFont typeface="Arial" pitchFamily="34" charset="0"/>
              <a:buChar char="•"/>
            </a:pPr>
            <a:r>
              <a:rPr lang="en-AU" sz="1200" kern="1200" dirty="0" smtClean="0">
                <a:solidFill>
                  <a:schemeClr val="tx1"/>
                </a:solidFill>
                <a:ea typeface="+mn-ea"/>
                <a:cs typeface="+mn-cs"/>
              </a:rPr>
              <a:t>Vehicles</a:t>
            </a:r>
          </a:p>
          <a:p>
            <a:pPr marL="628650" lvl="1" indent="-171450">
              <a:buFont typeface="Arial" pitchFamily="34" charset="0"/>
              <a:buChar char="•"/>
            </a:pPr>
            <a:r>
              <a:rPr lang="en-AU" sz="1200" kern="1200" dirty="0" smtClean="0">
                <a:solidFill>
                  <a:schemeClr val="tx1"/>
                </a:solidFill>
                <a:ea typeface="+mn-ea"/>
                <a:cs typeface="+mn-cs"/>
              </a:rPr>
              <a:t>Camping and associated supplies</a:t>
            </a:r>
          </a:p>
          <a:p>
            <a:pPr marL="628650" lvl="1" indent="-171450">
              <a:buFont typeface="Arial" pitchFamily="34" charset="0"/>
              <a:buChar char="•"/>
            </a:pPr>
            <a:r>
              <a:rPr lang="en-AU" sz="1200" kern="1200" dirty="0" smtClean="0">
                <a:solidFill>
                  <a:schemeClr val="tx1"/>
                </a:solidFill>
                <a:ea typeface="+mn-ea"/>
                <a:cs typeface="+mn-cs"/>
              </a:rPr>
              <a:t>Vouchers and tickets</a:t>
            </a:r>
          </a:p>
          <a:p>
            <a:pPr marL="628650" lvl="1" indent="-171450">
              <a:buFont typeface="Arial" pitchFamily="34" charset="0"/>
              <a:buChar char="•"/>
            </a:pPr>
            <a:r>
              <a:rPr lang="en-AU" sz="1200" kern="1200" dirty="0" smtClean="0">
                <a:solidFill>
                  <a:schemeClr val="tx1"/>
                </a:solidFill>
                <a:ea typeface="+mn-ea"/>
                <a:cs typeface="+mn-cs"/>
              </a:rPr>
              <a:t>Petty cash (for purchasing sundry items while ‘on tour’).</a:t>
            </a:r>
          </a:p>
          <a:p>
            <a:pPr marL="171450" indent="-171450">
              <a:buFont typeface="Arial" pitchFamily="34" charset="0"/>
              <a:buChar char="•"/>
            </a:pPr>
            <a:r>
              <a:rPr lang="en-AU" sz="1200" kern="1200" dirty="0" smtClean="0">
                <a:solidFill>
                  <a:schemeClr val="tx1"/>
                </a:solidFill>
                <a:ea typeface="+mn-ea"/>
                <a:cs typeface="+mn-cs"/>
              </a:rPr>
              <a:t>Theft of client belongings – again the theft may be undertaken by other tour group members, or by members of the public. Items involved in this type of theft usually include:</a:t>
            </a:r>
          </a:p>
          <a:p>
            <a:pPr marL="628650" lvl="1" indent="-171450">
              <a:buFont typeface="Arial" pitchFamily="34" charset="0"/>
              <a:buChar char="•"/>
            </a:pPr>
            <a:r>
              <a:rPr lang="en-AU" sz="1200" kern="1200" dirty="0" smtClean="0">
                <a:solidFill>
                  <a:schemeClr val="tx1"/>
                </a:solidFill>
                <a:ea typeface="+mn-ea"/>
                <a:cs typeface="+mn-cs"/>
              </a:rPr>
              <a:t>Cash – of any country, any denomination, as well as travellers’ cheques; Valuables of any type – but commonly cameras, cell phones, electronic equipment, wallets, purses, hand-bags and suitcases; Documentation – such as driving licenses and passports but also tickets and vouchers/coupons; Credit cards.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 xmlns:p14="http://schemas.microsoft.com/office/powerpoint/2010/main" val="23920438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Trainer urges students as a tourist guide they should:</a:t>
            </a:r>
          </a:p>
          <a:p>
            <a:pPr marL="171450" indent="-171450">
              <a:buFont typeface="Arial" pitchFamily="34" charset="0"/>
              <a:buChar char="•"/>
            </a:pPr>
            <a:r>
              <a:rPr lang="en-AU" sz="1200" kern="1200" dirty="0" smtClean="0">
                <a:solidFill>
                  <a:schemeClr val="tx1"/>
                </a:solidFill>
                <a:ea typeface="+mn-ea"/>
                <a:cs typeface="+mn-cs"/>
              </a:rPr>
              <a:t>Expect any of these risks can possibly occur from the moment you brief the tour group prior to departure, throughout the tour and all the way back to the point where you de-brief and/or farewell the tour group</a:t>
            </a:r>
          </a:p>
          <a:p>
            <a:pPr marL="171450" indent="-171450">
              <a:buFont typeface="Arial" pitchFamily="34" charset="0"/>
              <a:buChar char="•"/>
            </a:pPr>
            <a:r>
              <a:rPr lang="en-AU" sz="1200" kern="1200" dirty="0" smtClean="0">
                <a:solidFill>
                  <a:schemeClr val="tx1"/>
                </a:solidFill>
                <a:ea typeface="+mn-ea"/>
                <a:cs typeface="+mn-cs"/>
              </a:rPr>
              <a:t>Realise your employer (the organisation conducting the trip/tour) will usually have a suite of protocols/SOPs to deal with these situations should they occur – in most cases the authorities will need to be notified</a:t>
            </a:r>
          </a:p>
          <a:p>
            <a:pPr marL="171450" indent="-171450">
              <a:buFont typeface="Arial" pitchFamily="34" charset="0"/>
              <a:buChar char="•"/>
            </a:pPr>
            <a:r>
              <a:rPr lang="en-AU" sz="1200" kern="1200" dirty="0" smtClean="0">
                <a:solidFill>
                  <a:schemeClr val="tx1"/>
                </a:solidFill>
                <a:ea typeface="+mn-ea"/>
                <a:cs typeface="+mn-cs"/>
              </a:rPr>
              <a:t>Advise tour group members to monitor the security of their cash, valuables and belongings at all times</a:t>
            </a:r>
          </a:p>
          <a:p>
            <a:pPr marL="171450" indent="-171450">
              <a:buFont typeface="Arial" pitchFamily="34" charset="0"/>
              <a:buChar char="•"/>
            </a:pPr>
            <a:r>
              <a:rPr lang="en-AU" sz="1200" kern="1200" dirty="0" smtClean="0">
                <a:solidFill>
                  <a:schemeClr val="tx1"/>
                </a:solidFill>
                <a:ea typeface="+mn-ea"/>
                <a:cs typeface="+mn-cs"/>
              </a:rPr>
              <a:t>Highlight any activities, situations or locations which have proved to be insecure on previous tours/trips</a:t>
            </a:r>
          </a:p>
          <a:p>
            <a:pPr marL="171450" indent="-171450">
              <a:buFont typeface="Arial" pitchFamily="34" charset="0"/>
              <a:buChar char="•"/>
            </a:pPr>
            <a:r>
              <a:rPr lang="en-AU" sz="1200" kern="1200" dirty="0" smtClean="0">
                <a:solidFill>
                  <a:schemeClr val="tx1"/>
                </a:solidFill>
                <a:ea typeface="+mn-ea"/>
                <a:cs typeface="+mn-cs"/>
              </a:rPr>
              <a:t>Explain company responses to instances of theft while ‘on tour’.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 xmlns:p14="http://schemas.microsoft.com/office/powerpoint/2010/main" val="3520912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 xmlns:p14="http://schemas.microsoft.com/office/powerpoint/2010/main" val="11948483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 xmlns:p14="http://schemas.microsoft.com/office/powerpoint/2010/main" val="15615662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 xmlns:p14="http://schemas.microsoft.com/office/powerpoint/2010/main" val="21205391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 xmlns:p14="http://schemas.microsoft.com/office/powerpoint/2010/main" val="19206711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dirty="0" smtClean="0"/>
              <a:t>Why do businesses develop theft minimisation policies and procedures?</a:t>
            </a:r>
          </a:p>
          <a:p>
            <a:pPr marL="171450" indent="-171450">
              <a:buFont typeface="Arial" pitchFamily="34" charset="0"/>
              <a:buChar char="•"/>
            </a:pPr>
            <a:r>
              <a:rPr lang="en-US" dirty="0" smtClean="0"/>
              <a:t>What examples of theft minimisation protocols do you know of?</a:t>
            </a:r>
          </a:p>
          <a:p>
            <a:pPr marL="171450" indent="-171450">
              <a:buFont typeface="Arial" pitchFamily="34" charset="0"/>
              <a:buChar char="•"/>
            </a:pPr>
            <a:r>
              <a:rPr lang="en-US" dirty="0" smtClean="0"/>
              <a:t>How do organisations make staff aware of their theft minimisation protocols?</a:t>
            </a:r>
          </a:p>
          <a:p>
            <a:pPr marL="171450" indent="-171450">
              <a:buFont typeface="Arial" pitchFamily="34" charset="0"/>
              <a:buChar char="•"/>
            </a:pPr>
            <a:r>
              <a:rPr lang="en-US" dirty="0" smtClean="0"/>
              <a:t>What factors are taken into account when developing theft minimisation policies and procedures?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 xmlns:p14="http://schemas.microsoft.com/office/powerpoint/2010/main" val="292448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presents research options:</a:t>
            </a:r>
          </a:p>
          <a:p>
            <a:pPr marL="171450" indent="-171450">
              <a:buFont typeface="Arial" pitchFamily="34" charset="0"/>
              <a:buChar char="•"/>
            </a:pPr>
            <a:r>
              <a:rPr lang="en-AU" sz="1200" kern="1200" dirty="0" smtClean="0">
                <a:solidFill>
                  <a:schemeClr val="tx1"/>
                </a:solidFill>
                <a:ea typeface="+mn-ea"/>
                <a:cs typeface="+mn-cs"/>
              </a:rPr>
              <a:t>Undertaking internet research – this can include:</a:t>
            </a:r>
          </a:p>
          <a:p>
            <a:pPr marL="628650" lvl="1" indent="-171450">
              <a:buFont typeface="Arial" pitchFamily="34" charset="0"/>
              <a:buChar char="•"/>
            </a:pPr>
            <a:r>
              <a:rPr lang="en-AU" sz="1200" kern="1200" dirty="0" smtClean="0">
                <a:solidFill>
                  <a:schemeClr val="tx1"/>
                </a:solidFill>
                <a:ea typeface="+mn-ea"/>
                <a:cs typeface="+mn-cs"/>
              </a:rPr>
              <a:t>Searching industry websites</a:t>
            </a:r>
          </a:p>
          <a:p>
            <a:pPr marL="628650" lvl="1" indent="-171450">
              <a:buFont typeface="Arial" pitchFamily="34" charset="0"/>
              <a:buChar char="•"/>
            </a:pPr>
            <a:r>
              <a:rPr lang="en-AU" sz="1200" kern="1200" dirty="0" smtClean="0">
                <a:solidFill>
                  <a:schemeClr val="tx1"/>
                </a:solidFill>
                <a:ea typeface="+mn-ea"/>
                <a:cs typeface="+mn-cs"/>
              </a:rPr>
              <a:t>Undertaking key word searches (such as ‘theft prevention+travel and tourism’)</a:t>
            </a:r>
          </a:p>
          <a:p>
            <a:pPr marL="628650" lvl="1" indent="-171450">
              <a:buFont typeface="Arial" pitchFamily="34" charset="0"/>
              <a:buChar char="•"/>
            </a:pPr>
            <a:r>
              <a:rPr lang="en-AU" sz="1200" kern="1200" dirty="0" smtClean="0">
                <a:solidFill>
                  <a:schemeClr val="tx1"/>
                </a:solidFill>
                <a:ea typeface="+mn-ea"/>
                <a:cs typeface="+mn-cs"/>
              </a:rPr>
              <a:t>Reading theft prevention and theft minimisation articles and blogs.</a:t>
            </a:r>
          </a:p>
          <a:p>
            <a:pPr marL="1085850" lvl="2" indent="-171450">
              <a:buFont typeface="Arial" pitchFamily="34" charset="0"/>
              <a:buChar char="•"/>
            </a:pPr>
            <a:r>
              <a:rPr lang="en-AU" sz="1200" kern="1200" dirty="0" smtClean="0">
                <a:solidFill>
                  <a:schemeClr val="tx1"/>
                </a:solidFill>
                <a:ea typeface="+mn-ea"/>
                <a:cs typeface="+mn-cs"/>
              </a:rPr>
              <a:t>Always make sure you:</a:t>
            </a:r>
          </a:p>
          <a:p>
            <a:pPr marL="1085850" lvl="2" indent="-171450">
              <a:buFont typeface="Arial" pitchFamily="34" charset="0"/>
              <a:buChar char="•"/>
            </a:pPr>
            <a:r>
              <a:rPr lang="en-AU" sz="1200" kern="1200" dirty="0" smtClean="0">
                <a:solidFill>
                  <a:schemeClr val="tx1"/>
                </a:solidFill>
                <a:ea typeface="+mn-ea"/>
                <a:cs typeface="+mn-cs"/>
              </a:rPr>
              <a:t>Bookmark helpful sites</a:t>
            </a:r>
          </a:p>
          <a:p>
            <a:pPr marL="1085850" lvl="2" indent="-171450">
              <a:buFont typeface="Arial" pitchFamily="34" charset="0"/>
              <a:buChar char="•"/>
            </a:pPr>
            <a:r>
              <a:rPr lang="en-AU" sz="1200" kern="1200" dirty="0" smtClean="0">
                <a:solidFill>
                  <a:schemeClr val="tx1"/>
                </a:solidFill>
                <a:ea typeface="+mn-ea"/>
                <a:cs typeface="+mn-cs"/>
              </a:rPr>
              <a:t>Download relevant material</a:t>
            </a:r>
          </a:p>
          <a:p>
            <a:pPr marL="1085850" lvl="2" indent="-171450">
              <a:buFont typeface="Arial" pitchFamily="34" charset="0"/>
              <a:buChar char="•"/>
            </a:pPr>
            <a:r>
              <a:rPr lang="en-AU" sz="1200" kern="1200" dirty="0" smtClean="0">
                <a:solidFill>
                  <a:schemeClr val="tx1"/>
                </a:solidFill>
                <a:ea typeface="+mn-ea"/>
                <a:cs typeface="+mn-cs"/>
              </a:rPr>
              <a:t>Print off hard copies of useful advice</a:t>
            </a:r>
          </a:p>
          <a:p>
            <a:pPr marL="1085850" lvl="2" indent="-171450">
              <a:buFont typeface="Arial" pitchFamily="34" charset="0"/>
              <a:buChar char="•"/>
            </a:pPr>
            <a:r>
              <a:rPr lang="en-AU" sz="1200" kern="1200" dirty="0" smtClean="0">
                <a:solidFill>
                  <a:schemeClr val="tx1"/>
                </a:solidFill>
                <a:ea typeface="+mn-ea"/>
                <a:cs typeface="+mn-cs"/>
              </a:rPr>
              <a:t>Subscribe to free newsletters</a:t>
            </a:r>
          </a:p>
          <a:p>
            <a:pPr>
              <a:buFont typeface="Arial" pitchFamily="34" charset="0"/>
              <a:buNone/>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 xmlns:p14="http://schemas.microsoft.com/office/powerpoint/2010/main" val="38594721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gives more research options:</a:t>
            </a:r>
          </a:p>
          <a:p>
            <a:pPr marL="171450" indent="-171450">
              <a:buFont typeface="Arial" pitchFamily="34" charset="0"/>
              <a:buChar char="•"/>
            </a:pPr>
            <a:r>
              <a:rPr lang="en-AU" sz="1200" kern="1200" dirty="0" smtClean="0">
                <a:solidFill>
                  <a:schemeClr val="tx1"/>
                </a:solidFill>
                <a:ea typeface="+mn-ea"/>
                <a:cs typeface="+mn-cs"/>
              </a:rPr>
              <a:t>Networking with other organisations in the industry – such as:</a:t>
            </a:r>
          </a:p>
          <a:p>
            <a:pPr marL="628650" lvl="1" indent="-171450">
              <a:buFont typeface="Arial" pitchFamily="34" charset="0"/>
              <a:buChar char="•"/>
            </a:pPr>
            <a:r>
              <a:rPr lang="en-AU" sz="1200" kern="1200" dirty="0" smtClean="0">
                <a:solidFill>
                  <a:schemeClr val="tx1"/>
                </a:solidFill>
                <a:ea typeface="+mn-ea"/>
                <a:cs typeface="+mn-cs"/>
              </a:rPr>
              <a:t>Joining industry groups</a:t>
            </a:r>
          </a:p>
          <a:p>
            <a:pPr marL="628650" lvl="1" indent="-171450">
              <a:buFont typeface="Arial" pitchFamily="34" charset="0"/>
              <a:buChar char="•"/>
            </a:pPr>
            <a:r>
              <a:rPr lang="en-AU" sz="1200" kern="1200" dirty="0" smtClean="0">
                <a:solidFill>
                  <a:schemeClr val="tx1"/>
                </a:solidFill>
                <a:ea typeface="+mn-ea"/>
                <a:cs typeface="+mn-cs"/>
              </a:rPr>
              <a:t>Reading industry journals and magazines</a:t>
            </a:r>
          </a:p>
          <a:p>
            <a:pPr marL="628650" lvl="1" indent="-171450">
              <a:buFont typeface="Arial" pitchFamily="34" charset="0"/>
              <a:buChar char="•"/>
            </a:pPr>
            <a:r>
              <a:rPr lang="en-AU" sz="1200" kern="1200" dirty="0" smtClean="0">
                <a:solidFill>
                  <a:schemeClr val="tx1"/>
                </a:solidFill>
                <a:ea typeface="+mn-ea"/>
                <a:cs typeface="+mn-cs"/>
              </a:rPr>
              <a:t>Attending industry events, conferences, seminars and similar </a:t>
            </a:r>
          </a:p>
          <a:p>
            <a:pPr marL="628650" lvl="1" indent="-171450">
              <a:buFont typeface="Arial" pitchFamily="34" charset="0"/>
              <a:buChar char="•"/>
            </a:pPr>
            <a:r>
              <a:rPr lang="en-AU" sz="1200" kern="1200" dirty="0" smtClean="0">
                <a:solidFill>
                  <a:schemeClr val="tx1"/>
                </a:solidFill>
                <a:ea typeface="+mn-ea"/>
                <a:cs typeface="+mn-cs"/>
              </a:rPr>
              <a:t>Being a regular participant in meetings.</a:t>
            </a:r>
          </a:p>
          <a:p>
            <a:pPr marL="628650" lvl="1" indent="-171450">
              <a:buFont typeface="Arial" pitchFamily="34" charset="0"/>
              <a:buChar char="•"/>
            </a:pPr>
            <a:r>
              <a:rPr lang="en-AU" sz="1200" kern="1200" dirty="0" smtClean="0">
                <a:solidFill>
                  <a:schemeClr val="tx1"/>
                </a:solidFill>
                <a:ea typeface="+mn-ea"/>
                <a:cs typeface="+mn-cs"/>
              </a:rPr>
              <a:t>Be prepared to:</a:t>
            </a:r>
          </a:p>
          <a:p>
            <a:pPr marL="1085850" lvl="2" indent="-171450">
              <a:buFont typeface="Arial" pitchFamily="34" charset="0"/>
              <a:buChar char="•"/>
            </a:pPr>
            <a:r>
              <a:rPr lang="en-AU" sz="1200" kern="1200" dirty="0" smtClean="0">
                <a:solidFill>
                  <a:schemeClr val="tx1"/>
                </a:solidFill>
                <a:ea typeface="+mn-ea"/>
                <a:cs typeface="+mn-cs"/>
              </a:rPr>
              <a:t>Share your own theft-related and security-related experiences</a:t>
            </a:r>
          </a:p>
          <a:p>
            <a:pPr marL="1085850" lvl="2" indent="-171450">
              <a:buFont typeface="Arial" pitchFamily="34" charset="0"/>
              <a:buChar char="•"/>
            </a:pPr>
            <a:r>
              <a:rPr lang="en-AU" sz="1200" kern="1200" dirty="0" smtClean="0">
                <a:solidFill>
                  <a:schemeClr val="tx1"/>
                </a:solidFill>
                <a:ea typeface="+mn-ea"/>
                <a:cs typeface="+mn-cs"/>
              </a:rPr>
              <a:t>Talk to other businesses about what they have experienced so you can learn from them</a:t>
            </a:r>
          </a:p>
          <a:p>
            <a:pPr marL="1085850" lvl="2" indent="-171450">
              <a:buFont typeface="Arial" pitchFamily="34" charset="0"/>
              <a:buChar char="•"/>
            </a:pPr>
            <a:r>
              <a:rPr lang="en-AU" sz="1200" kern="1200" dirty="0" smtClean="0">
                <a:solidFill>
                  <a:schemeClr val="tx1"/>
                </a:solidFill>
                <a:ea typeface="+mn-ea"/>
                <a:cs typeface="+mn-cs"/>
              </a:rPr>
              <a:t>Share copies of theft-minimisation strategies, policies, procedures and protocols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 xmlns:p14="http://schemas.microsoft.com/office/powerpoint/2010/main" val="16769867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gives more research options:</a:t>
            </a:r>
          </a:p>
          <a:p>
            <a:pPr marL="171450" indent="-171450">
              <a:buFont typeface="Arial" pitchFamily="34" charset="0"/>
              <a:buChar char="•"/>
            </a:pPr>
            <a:r>
              <a:rPr lang="en-AU" sz="1200" kern="1200" dirty="0" smtClean="0">
                <a:solidFill>
                  <a:schemeClr val="tx1"/>
                </a:solidFill>
                <a:ea typeface="+mn-ea"/>
                <a:cs typeface="+mn-cs"/>
              </a:rPr>
              <a:t>Engaging the services of professional security organisations – to:</a:t>
            </a:r>
          </a:p>
          <a:p>
            <a:pPr marL="628650" lvl="1" indent="-171450">
              <a:buFont typeface="Arial" pitchFamily="34" charset="0"/>
              <a:buChar char="•"/>
            </a:pPr>
            <a:r>
              <a:rPr lang="en-AU" sz="1200" kern="1200" dirty="0" smtClean="0">
                <a:solidFill>
                  <a:schemeClr val="tx1"/>
                </a:solidFill>
                <a:ea typeface="+mn-ea"/>
                <a:cs typeface="+mn-cs"/>
              </a:rPr>
              <a:t>Analyse and evaluate the threats faced by the business</a:t>
            </a:r>
          </a:p>
          <a:p>
            <a:pPr marL="628650" lvl="1" indent="-171450">
              <a:buFont typeface="Arial" pitchFamily="34" charset="0"/>
              <a:buChar char="•"/>
            </a:pPr>
            <a:r>
              <a:rPr lang="en-AU" sz="1200" kern="1200" dirty="0" smtClean="0">
                <a:solidFill>
                  <a:schemeClr val="tx1"/>
                </a:solidFill>
                <a:ea typeface="+mn-ea"/>
                <a:cs typeface="+mn-cs"/>
              </a:rPr>
              <a:t>Benefit from their experience with other similar businesses in the industry</a:t>
            </a:r>
          </a:p>
          <a:p>
            <a:pPr marL="628650" lvl="1" indent="-171450">
              <a:buFont typeface="Arial" pitchFamily="34" charset="0"/>
              <a:buChar char="•"/>
            </a:pPr>
            <a:r>
              <a:rPr lang="en-AU" sz="1200" kern="1200" dirty="0" smtClean="0">
                <a:solidFill>
                  <a:schemeClr val="tx1"/>
                </a:solidFill>
                <a:ea typeface="+mn-ea"/>
                <a:cs typeface="+mn-cs"/>
              </a:rPr>
              <a:t>Obtain relevant resources to assist with theft prevention and detection</a:t>
            </a:r>
          </a:p>
          <a:p>
            <a:pPr marL="628650" lvl="1" indent="-171450">
              <a:buFont typeface="Arial" pitchFamily="34" charset="0"/>
              <a:buChar char="•"/>
            </a:pPr>
            <a:r>
              <a:rPr lang="en-AU" sz="1200" kern="1200" dirty="0" smtClean="0">
                <a:solidFill>
                  <a:schemeClr val="tx1"/>
                </a:solidFill>
                <a:ea typeface="+mn-ea"/>
                <a:cs typeface="+mn-cs"/>
              </a:rPr>
              <a:t>Use their staff to help deter theft and identify thieves</a:t>
            </a:r>
          </a:p>
          <a:p>
            <a:pPr marL="171450" indent="-171450">
              <a:buFont typeface="Arial" pitchFamily="34" charset="0"/>
              <a:buChar char="•"/>
            </a:pPr>
            <a:r>
              <a:rPr lang="en-AU" sz="1200" kern="1200" dirty="0" smtClean="0">
                <a:solidFill>
                  <a:schemeClr val="tx1"/>
                </a:solidFill>
                <a:ea typeface="+mn-ea"/>
                <a:cs typeface="+mn-cs"/>
              </a:rPr>
              <a:t>Reviewing and analysing the workplace – including:</a:t>
            </a:r>
          </a:p>
          <a:p>
            <a:pPr marL="628650" lvl="1" indent="-171450">
              <a:buFont typeface="Arial" pitchFamily="34" charset="0"/>
              <a:buChar char="•"/>
            </a:pPr>
            <a:r>
              <a:rPr lang="en-AU" sz="1200" kern="1200" dirty="0" smtClean="0">
                <a:solidFill>
                  <a:schemeClr val="tx1"/>
                </a:solidFill>
                <a:ea typeface="+mn-ea"/>
                <a:cs typeface="+mn-cs"/>
              </a:rPr>
              <a:t>Actual instances of theft which have previously occurred </a:t>
            </a:r>
          </a:p>
          <a:p>
            <a:pPr marL="628650" lvl="1" indent="-171450">
              <a:buFont typeface="Arial" pitchFamily="34" charset="0"/>
              <a:buChar char="•"/>
            </a:pPr>
            <a:r>
              <a:rPr lang="en-AU" sz="1200" kern="1200" dirty="0" smtClean="0">
                <a:solidFill>
                  <a:schemeClr val="tx1"/>
                </a:solidFill>
                <a:ea typeface="+mn-ea"/>
                <a:cs typeface="+mn-cs"/>
              </a:rPr>
              <a:t>Previous </a:t>
            </a:r>
            <a:r>
              <a:rPr lang="en-AU" sz="1200" i="1" kern="1200" dirty="0" smtClean="0">
                <a:solidFill>
                  <a:schemeClr val="tx1"/>
                </a:solidFill>
                <a:ea typeface="+mn-ea"/>
                <a:cs typeface="+mn-cs"/>
              </a:rPr>
              <a:t>attempts</a:t>
            </a:r>
            <a:r>
              <a:rPr lang="en-AU" sz="1200" kern="1200" dirty="0" smtClean="0">
                <a:solidFill>
                  <a:schemeClr val="tx1"/>
                </a:solidFill>
                <a:ea typeface="+mn-ea"/>
                <a:cs typeface="+mn-cs"/>
              </a:rPr>
              <a:t> at theft which have been thwarted</a:t>
            </a:r>
          </a:p>
          <a:p>
            <a:pPr marL="628650" lvl="1" indent="-171450">
              <a:buFont typeface="Arial" pitchFamily="34" charset="0"/>
              <a:buChar char="•"/>
            </a:pPr>
            <a:r>
              <a:rPr lang="en-AU" sz="1200" kern="1200" dirty="0" smtClean="0">
                <a:solidFill>
                  <a:schemeClr val="tx1"/>
                </a:solidFill>
                <a:ea typeface="+mn-ea"/>
                <a:cs typeface="+mn-cs"/>
              </a:rPr>
              <a:t>Identification of high-risk areas </a:t>
            </a:r>
          </a:p>
          <a:p>
            <a:pPr marL="628650" lvl="1" indent="-171450">
              <a:buFont typeface="Arial" pitchFamily="34" charset="0"/>
              <a:buChar char="•"/>
            </a:pPr>
            <a:r>
              <a:rPr lang="en-AU" sz="1200" kern="1200" dirty="0" smtClean="0">
                <a:solidFill>
                  <a:schemeClr val="tx1"/>
                </a:solidFill>
                <a:ea typeface="+mn-ea"/>
                <a:cs typeface="+mn-cs"/>
              </a:rPr>
              <a:t>Identification of vulnerable targets (products, stock, cash and/or other items)</a:t>
            </a:r>
          </a:p>
          <a:p>
            <a:pPr marL="171450" indent="-171450">
              <a:buFont typeface="Arial" pitchFamily="34" charset="0"/>
              <a:buChar char="•"/>
            </a:pPr>
            <a:r>
              <a:rPr lang="en-AU" sz="1200" kern="1200" dirty="0" smtClean="0">
                <a:solidFill>
                  <a:schemeClr val="tx1"/>
                </a:solidFill>
                <a:ea typeface="+mn-ea"/>
                <a:cs typeface="+mn-cs"/>
              </a:rPr>
              <a:t>Contacting local police – and:</a:t>
            </a:r>
          </a:p>
          <a:p>
            <a:pPr marL="628650" lvl="1" indent="-171450">
              <a:buFont typeface="Arial" pitchFamily="34" charset="0"/>
              <a:buChar char="•"/>
            </a:pPr>
            <a:r>
              <a:rPr lang="en-AU" sz="1200" kern="1200" dirty="0" smtClean="0">
                <a:solidFill>
                  <a:schemeClr val="tx1"/>
                </a:solidFill>
                <a:ea typeface="+mn-ea"/>
                <a:cs typeface="+mn-cs"/>
              </a:rPr>
              <a:t>Seeking their input about possible theft prevention and minimisation protocols which may be able to be implemented</a:t>
            </a:r>
          </a:p>
          <a:p>
            <a:pPr marL="628650" lvl="1" indent="-171450">
              <a:buFont typeface="Arial" pitchFamily="34" charset="0"/>
              <a:buChar char="•"/>
            </a:pPr>
            <a:r>
              <a:rPr lang="en-AU" sz="1200" kern="1200" dirty="0" smtClean="0">
                <a:solidFill>
                  <a:schemeClr val="tx1"/>
                </a:solidFill>
                <a:ea typeface="+mn-ea"/>
                <a:cs typeface="+mn-cs"/>
              </a:rPr>
              <a:t>Working cooperatively with them</a:t>
            </a:r>
          </a:p>
          <a:p>
            <a:pPr marL="628650" lvl="1" indent="-171450">
              <a:buFont typeface="Arial" pitchFamily="34" charset="0"/>
              <a:buChar char="•"/>
            </a:pPr>
            <a:r>
              <a:rPr lang="en-AU" sz="1200" kern="1200" dirty="0" smtClean="0">
                <a:solidFill>
                  <a:schemeClr val="tx1"/>
                </a:solidFill>
                <a:ea typeface="+mn-ea"/>
                <a:cs typeface="+mn-cs"/>
              </a:rPr>
              <a:t>Gaining the benefit of their experience and advice in this area.</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 xmlns:p14="http://schemas.microsoft.com/office/powerpoint/2010/main" val="15761941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reasons it</a:t>
            </a:r>
            <a:r>
              <a:rPr lang="en-AU" sz="1200" kern="1200" dirty="0" smtClean="0">
                <a:solidFill>
                  <a:schemeClr val="tx1"/>
                </a:solidFill>
                <a:ea typeface="+mn-ea"/>
                <a:cs typeface="+mn-cs"/>
              </a:rPr>
              <a:t> is important to review existing theft minimisation protocols – in order to:</a:t>
            </a:r>
          </a:p>
          <a:p>
            <a:pPr marL="171450" indent="-171450">
              <a:buFont typeface="Arial" pitchFamily="34" charset="0"/>
              <a:buChar char="•"/>
            </a:pPr>
            <a:r>
              <a:rPr lang="en-AU" sz="1200" kern="1200" dirty="0" smtClean="0">
                <a:solidFill>
                  <a:schemeClr val="tx1"/>
                </a:solidFill>
                <a:ea typeface="+mn-ea"/>
                <a:cs typeface="+mn-cs"/>
              </a:rPr>
              <a:t>Know what is already in place and understand the details – and why it was developed, when it was introduced and how it has worked</a:t>
            </a:r>
          </a:p>
          <a:p>
            <a:pPr marL="171450" indent="-171450">
              <a:buFont typeface="Arial" pitchFamily="34" charset="0"/>
              <a:buChar char="•"/>
            </a:pPr>
            <a:r>
              <a:rPr lang="en-AU" sz="1200" kern="1200" dirty="0" smtClean="0">
                <a:solidFill>
                  <a:schemeClr val="tx1"/>
                </a:solidFill>
                <a:ea typeface="+mn-ea"/>
                <a:cs typeface="+mn-cs"/>
              </a:rPr>
              <a:t>Be aware of what other staff are doing/are expected to do to prevent theft – it is important everyone functions as part of an integrated team</a:t>
            </a:r>
          </a:p>
          <a:p>
            <a:pPr marL="171450" indent="-171450">
              <a:buFont typeface="Arial" pitchFamily="34" charset="0"/>
              <a:buChar char="•"/>
            </a:pPr>
            <a:r>
              <a:rPr lang="en-AU" sz="1200" kern="1200" dirty="0" smtClean="0">
                <a:solidFill>
                  <a:schemeClr val="tx1"/>
                </a:solidFill>
                <a:ea typeface="+mn-ea"/>
                <a:cs typeface="+mn-cs"/>
              </a:rPr>
              <a:t>Determine if the protocols are effective – and are able to deal with now what may be different circumstances to when they were developed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 xmlns:p14="http://schemas.microsoft.com/office/powerpoint/2010/main" val="6637922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the three primary phases/steps in reviewing theft minimisation protocols:</a:t>
            </a:r>
          </a:p>
          <a:p>
            <a:pPr marL="171450" indent="-171450">
              <a:buFont typeface="Arial" pitchFamily="34" charset="0"/>
              <a:buChar char="•"/>
            </a:pPr>
            <a:r>
              <a:rPr lang="en-AU" sz="1200" kern="1200" dirty="0" smtClean="0">
                <a:solidFill>
                  <a:schemeClr val="tx1"/>
                </a:solidFill>
                <a:ea typeface="+mn-ea"/>
                <a:cs typeface="+mn-cs"/>
              </a:rPr>
              <a:t>Obtaining, reading and analysing relevant documents – such as, for example:</a:t>
            </a:r>
          </a:p>
          <a:p>
            <a:pPr marL="628650" lvl="1" indent="-171450">
              <a:buFont typeface="Arial" pitchFamily="34" charset="0"/>
              <a:buChar char="•"/>
            </a:pPr>
            <a:r>
              <a:rPr lang="en-AU" sz="1200" kern="1200" dirty="0" smtClean="0">
                <a:solidFill>
                  <a:schemeClr val="tx1"/>
                </a:solidFill>
                <a:ea typeface="+mn-ea"/>
                <a:cs typeface="+mn-cs"/>
              </a:rPr>
              <a:t>Company policies regarding theft prevention and minimisation</a:t>
            </a:r>
          </a:p>
          <a:p>
            <a:pPr marL="628650" lvl="1" indent="-171450">
              <a:buFont typeface="Arial" pitchFamily="34" charset="0"/>
              <a:buChar char="•"/>
            </a:pPr>
            <a:r>
              <a:rPr lang="en-AU" sz="1200" kern="1200" dirty="0" smtClean="0">
                <a:solidFill>
                  <a:schemeClr val="tx1"/>
                </a:solidFill>
                <a:ea typeface="+mn-ea"/>
                <a:cs typeface="+mn-cs"/>
              </a:rPr>
              <a:t>Standard operating procedures for theft minimisation</a:t>
            </a:r>
          </a:p>
          <a:p>
            <a:pPr marL="628650" lvl="1" indent="-171450">
              <a:buFont typeface="Arial" pitchFamily="34" charset="0"/>
              <a:buChar char="•"/>
            </a:pPr>
            <a:r>
              <a:rPr lang="en-AU" sz="1200" kern="1200" dirty="0" smtClean="0">
                <a:solidFill>
                  <a:schemeClr val="tx1"/>
                </a:solidFill>
                <a:ea typeface="+mn-ea"/>
                <a:cs typeface="+mn-cs"/>
              </a:rPr>
              <a:t>Internal documentation – which is used to support the efforts of the organisations regarding theft minimisation.</a:t>
            </a:r>
          </a:p>
          <a:p>
            <a:pPr marL="628650" lvl="1" indent="-171450">
              <a:buFont typeface="Arial" pitchFamily="34" charset="0"/>
              <a:buChar char="•"/>
            </a:pPr>
            <a:r>
              <a:rPr lang="en-AU" sz="1200" kern="1200" dirty="0" smtClean="0">
                <a:solidFill>
                  <a:schemeClr val="tx1"/>
                </a:solidFill>
                <a:ea typeface="+mn-ea"/>
                <a:cs typeface="+mn-cs"/>
              </a:rPr>
              <a:t>Document examples include:</a:t>
            </a:r>
          </a:p>
          <a:p>
            <a:pPr marL="1085850" lvl="2" indent="-171450">
              <a:buFont typeface="Arial" pitchFamily="34" charset="0"/>
              <a:buChar char="•"/>
            </a:pPr>
            <a:r>
              <a:rPr lang="en-AU" sz="1200" kern="1200" dirty="0" smtClean="0">
                <a:solidFill>
                  <a:schemeClr val="tx1"/>
                </a:solidFill>
                <a:ea typeface="+mn-ea"/>
                <a:cs typeface="+mn-cs"/>
              </a:rPr>
              <a:t>Operational checklists </a:t>
            </a:r>
          </a:p>
          <a:p>
            <a:pPr marL="1085850" lvl="2" indent="-171450">
              <a:buFont typeface="Arial" pitchFamily="34" charset="0"/>
              <a:buChar char="•"/>
            </a:pPr>
            <a:r>
              <a:rPr lang="en-AU" sz="1200" kern="1200" dirty="0" smtClean="0">
                <a:solidFill>
                  <a:schemeClr val="tx1"/>
                </a:solidFill>
                <a:ea typeface="+mn-ea"/>
                <a:cs typeface="+mn-cs"/>
              </a:rPr>
              <a:t>Inspections schedules </a:t>
            </a:r>
          </a:p>
          <a:p>
            <a:pPr marL="1085850" lvl="2" indent="-171450">
              <a:buFont typeface="Arial" pitchFamily="34" charset="0"/>
              <a:buChar char="•"/>
            </a:pPr>
            <a:r>
              <a:rPr lang="en-AU" sz="1200" kern="1200" dirty="0" smtClean="0">
                <a:solidFill>
                  <a:schemeClr val="tx1"/>
                </a:solidFill>
                <a:ea typeface="+mn-ea"/>
                <a:cs typeface="+mn-cs"/>
              </a:rPr>
              <a:t>Training materials for staff in relation to this topic</a:t>
            </a:r>
          </a:p>
          <a:p>
            <a:pPr marL="171450" lvl="0" indent="-171450">
              <a:buFont typeface="Arial" pitchFamily="34" charset="0"/>
              <a:buChar char="•"/>
            </a:pPr>
            <a:r>
              <a:rPr lang="en-AU" sz="1200" kern="1200" dirty="0" smtClean="0">
                <a:solidFill>
                  <a:schemeClr val="tx1"/>
                </a:solidFill>
                <a:ea typeface="+mn-ea"/>
                <a:cs typeface="+mn-cs"/>
              </a:rPr>
              <a:t>Speaking with relevant people – to gain their input and opinion regarding the type of theft minimisation protocols in place and their effectiveness. These ‘relevant people’ should include:</a:t>
            </a:r>
          </a:p>
          <a:p>
            <a:pPr marL="628650" lvl="1" indent="-171450">
              <a:buFont typeface="Arial" pitchFamily="34" charset="0"/>
              <a:buChar char="•"/>
            </a:pPr>
            <a:r>
              <a:rPr lang="en-AU" sz="1200" kern="1200" dirty="0" smtClean="0">
                <a:solidFill>
                  <a:schemeClr val="tx1"/>
                </a:solidFill>
                <a:ea typeface="+mn-ea"/>
                <a:cs typeface="+mn-cs"/>
              </a:rPr>
              <a:t>Management and owners</a:t>
            </a:r>
          </a:p>
          <a:p>
            <a:pPr marL="628650" lvl="1" indent="-171450">
              <a:buFont typeface="Arial" pitchFamily="34" charset="0"/>
              <a:buChar char="•"/>
            </a:pPr>
            <a:r>
              <a:rPr lang="en-AU" sz="1200" kern="1200" dirty="0" smtClean="0">
                <a:solidFill>
                  <a:schemeClr val="tx1"/>
                </a:solidFill>
                <a:ea typeface="+mn-ea"/>
                <a:cs typeface="+mn-cs"/>
              </a:rPr>
              <a:t>Operational staff</a:t>
            </a:r>
          </a:p>
          <a:p>
            <a:pPr marL="628650" lvl="1" indent="-171450">
              <a:buFont typeface="Arial" pitchFamily="34" charset="0"/>
              <a:buChar char="•"/>
            </a:pPr>
            <a:r>
              <a:rPr lang="en-AU" sz="1200" kern="1200" dirty="0" smtClean="0">
                <a:solidFill>
                  <a:schemeClr val="tx1"/>
                </a:solidFill>
                <a:ea typeface="+mn-ea"/>
                <a:cs typeface="+mn-cs"/>
              </a:rPr>
              <a:t>Security staff, including internals ad external security operatives/consultants</a:t>
            </a:r>
          </a:p>
          <a:p>
            <a:pPr marL="628650" lvl="1" indent="-171450">
              <a:buFont typeface="Arial" pitchFamily="34" charset="0"/>
              <a:buChar char="•"/>
            </a:pPr>
            <a:r>
              <a:rPr lang="en-AU" sz="1200" kern="1200" dirty="0" smtClean="0">
                <a:solidFill>
                  <a:schemeClr val="tx1"/>
                </a:solidFill>
                <a:ea typeface="+mn-ea"/>
                <a:cs typeface="+mn-cs"/>
              </a:rPr>
              <a:t>Any staff who have been involved with actual acts of theft prevention, or of theft from the business</a:t>
            </a:r>
          </a:p>
          <a:p>
            <a:pPr marL="171450" indent="-171450">
              <a:buFont typeface="Arial" pitchFamily="34" charset="0"/>
              <a:buChar char="•"/>
            </a:pPr>
            <a:r>
              <a:rPr lang="en-AU" sz="1200" kern="1200" dirty="0" smtClean="0">
                <a:solidFill>
                  <a:schemeClr val="tx1"/>
                </a:solidFill>
                <a:ea typeface="+mn-ea"/>
                <a:cs typeface="+mn-cs"/>
              </a:rPr>
              <a:t>Determining common issues and/or topics of concern which emerge from the review process – such as:</a:t>
            </a:r>
          </a:p>
          <a:p>
            <a:pPr marL="628650" lvl="1" indent="-171450">
              <a:buFont typeface="Arial" pitchFamily="34" charset="0"/>
              <a:buChar char="•"/>
            </a:pPr>
            <a:r>
              <a:rPr lang="en-AU" sz="1200" kern="1200" dirty="0" smtClean="0">
                <a:solidFill>
                  <a:schemeClr val="tx1"/>
                </a:solidFill>
                <a:ea typeface="+mn-ea"/>
                <a:cs typeface="+mn-cs"/>
              </a:rPr>
              <a:t>Identification of certain days/times when theft appears to be most common</a:t>
            </a:r>
          </a:p>
          <a:p>
            <a:pPr marL="628650" lvl="1" indent="-171450">
              <a:buFont typeface="Arial" pitchFamily="34" charset="0"/>
              <a:buChar char="•"/>
            </a:pPr>
            <a:r>
              <a:rPr lang="en-AU" sz="1200" kern="1200" dirty="0" smtClean="0">
                <a:solidFill>
                  <a:schemeClr val="tx1"/>
                </a:solidFill>
                <a:ea typeface="+mn-ea"/>
                <a:cs typeface="+mn-cs"/>
              </a:rPr>
              <a:t>Identification of items which are most commonly stolen</a:t>
            </a:r>
          </a:p>
          <a:p>
            <a:pPr marL="628650" lvl="1" indent="-171450">
              <a:buFont typeface="Arial" pitchFamily="34" charset="0"/>
              <a:buChar char="•"/>
            </a:pPr>
            <a:r>
              <a:rPr lang="en-AU" sz="1200" kern="1200" dirty="0" smtClean="0">
                <a:solidFill>
                  <a:schemeClr val="tx1"/>
                </a:solidFill>
                <a:ea typeface="+mn-ea"/>
                <a:cs typeface="+mn-cs"/>
              </a:rPr>
              <a:t>Description of the profile of known thieves</a:t>
            </a:r>
          </a:p>
          <a:p>
            <a:pPr marL="628650" lvl="1" indent="-171450">
              <a:buFont typeface="Arial" pitchFamily="34" charset="0"/>
              <a:buChar char="•"/>
            </a:pPr>
            <a:r>
              <a:rPr lang="en-AU" sz="1200" kern="1200" dirty="0" smtClean="0">
                <a:solidFill>
                  <a:schemeClr val="tx1"/>
                </a:solidFill>
                <a:ea typeface="+mn-ea"/>
                <a:cs typeface="+mn-cs"/>
              </a:rPr>
              <a:t>Description of methods used by offenders to steal</a:t>
            </a:r>
          </a:p>
          <a:p>
            <a:pPr marL="628650" lvl="1" indent="-171450">
              <a:buFont typeface="Arial" pitchFamily="34" charset="0"/>
              <a:buChar char="•"/>
            </a:pPr>
            <a:r>
              <a:rPr lang="en-AU" sz="1200" kern="1200" dirty="0" smtClean="0">
                <a:solidFill>
                  <a:schemeClr val="tx1"/>
                </a:solidFill>
                <a:ea typeface="+mn-ea"/>
                <a:cs typeface="+mn-cs"/>
              </a:rPr>
              <a:t>Identification of protocols which have proven effective in preventing attempts at theft from the business</a:t>
            </a:r>
          </a:p>
          <a:p>
            <a:pPr marL="628650" lvl="1" indent="-171450">
              <a:buFont typeface="Arial" pitchFamily="34" charset="0"/>
              <a:buChar char="•"/>
            </a:pPr>
            <a:r>
              <a:rPr lang="en-AU" sz="1200" kern="1200" dirty="0" smtClean="0">
                <a:solidFill>
                  <a:schemeClr val="tx1"/>
                </a:solidFill>
                <a:ea typeface="+mn-ea"/>
                <a:cs typeface="+mn-cs"/>
              </a:rPr>
              <a:t>Identification of protocols which appear likely to prevent recurrence of previous instances of theft.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 xmlns:p14="http://schemas.microsoft.com/office/powerpoint/2010/main" val="5567451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a:t>
            </a:r>
            <a:r>
              <a:rPr lang="en-AU" sz="1200" kern="1200" dirty="0" smtClean="0">
                <a:solidFill>
                  <a:schemeClr val="tx1"/>
                </a:solidFill>
                <a:ea typeface="+mn-ea"/>
                <a:cs typeface="+mn-cs"/>
              </a:rPr>
              <a:t>the basic approach to addressing loss prevention and stock shrinkage revolves around a concept referred to as ‘3D’, or ‘the 3Ds’.</a:t>
            </a:r>
          </a:p>
          <a:p>
            <a:r>
              <a:rPr lang="en-AU" sz="1200" kern="1200" dirty="0" smtClean="0">
                <a:solidFill>
                  <a:schemeClr val="tx1"/>
                </a:solidFill>
                <a:ea typeface="+mn-ea"/>
                <a:cs typeface="+mn-cs"/>
              </a:rPr>
              <a:t>3D means the business will develop and implement systems and procedures intended to:</a:t>
            </a:r>
          </a:p>
          <a:p>
            <a:pPr marL="171450" indent="-171450">
              <a:buFont typeface="Arial" pitchFamily="34" charset="0"/>
              <a:buChar char="•"/>
            </a:pPr>
            <a:r>
              <a:rPr lang="en-AU" sz="1200" b="1" i="1" kern="1200" dirty="0" smtClean="0">
                <a:solidFill>
                  <a:schemeClr val="tx1"/>
                </a:solidFill>
                <a:ea typeface="+mn-ea"/>
                <a:cs typeface="+mn-cs"/>
              </a:rPr>
              <a:t>Deter</a:t>
            </a:r>
            <a:r>
              <a:rPr lang="en-AU" sz="1200" kern="1200" dirty="0" smtClean="0">
                <a:solidFill>
                  <a:schemeClr val="tx1"/>
                </a:solidFill>
                <a:ea typeface="+mn-ea"/>
                <a:cs typeface="+mn-cs"/>
              </a:rPr>
              <a:t> people from offending</a:t>
            </a:r>
          </a:p>
          <a:p>
            <a:pPr marL="171450" indent="-171450">
              <a:buFont typeface="Arial" pitchFamily="34" charset="0"/>
              <a:buChar char="•"/>
            </a:pPr>
            <a:r>
              <a:rPr lang="en-AU" sz="1200" b="1" i="1" kern="1200" dirty="0" smtClean="0">
                <a:solidFill>
                  <a:schemeClr val="tx1"/>
                </a:solidFill>
                <a:ea typeface="+mn-ea"/>
                <a:cs typeface="+mn-cs"/>
              </a:rPr>
              <a:t>Deny</a:t>
            </a:r>
            <a:r>
              <a:rPr lang="en-AU" sz="1200" kern="1200" dirty="0" smtClean="0">
                <a:solidFill>
                  <a:schemeClr val="tx1"/>
                </a:solidFill>
                <a:ea typeface="+mn-ea"/>
                <a:cs typeface="+mn-cs"/>
              </a:rPr>
              <a:t> them access to the product</a:t>
            </a:r>
          </a:p>
          <a:p>
            <a:pPr marL="171450" indent="-171450">
              <a:buFont typeface="Arial" pitchFamily="34" charset="0"/>
              <a:buChar char="•"/>
            </a:pPr>
            <a:r>
              <a:rPr lang="en-AU" sz="1200" b="1" i="1" kern="1200" dirty="0" smtClean="0">
                <a:solidFill>
                  <a:schemeClr val="tx1"/>
                </a:solidFill>
                <a:ea typeface="+mn-ea"/>
                <a:cs typeface="+mn-cs"/>
              </a:rPr>
              <a:t>Delay</a:t>
            </a:r>
            <a:r>
              <a:rPr lang="en-AU" sz="1200" kern="1200" dirty="0" smtClean="0">
                <a:solidFill>
                  <a:schemeClr val="tx1"/>
                </a:solidFill>
                <a:ea typeface="+mn-ea"/>
                <a:cs typeface="+mn-cs"/>
              </a:rPr>
              <a:t> them if they are intent on stealing the product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 xmlns:p14="http://schemas.microsoft.com/office/powerpoint/2010/main" val="34556466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 importance of good service as a theft minimisation practice:</a:t>
            </a:r>
          </a:p>
          <a:p>
            <a:pPr marL="171450" indent="-171450">
              <a:buFont typeface="Arial" pitchFamily="34" charset="0"/>
              <a:buChar char="•"/>
            </a:pPr>
            <a:r>
              <a:rPr lang="en-AU" sz="1200" kern="1200" dirty="0" smtClean="0">
                <a:solidFill>
                  <a:schemeClr val="tx1"/>
                </a:solidFill>
                <a:ea typeface="+mn-ea"/>
                <a:cs typeface="+mn-cs"/>
              </a:rPr>
              <a:t>High levels of customer service are an excellent way of deterring thieves because good customer service means they have been noticed, and their presence on the premises has been registered.  </a:t>
            </a:r>
          </a:p>
          <a:p>
            <a:pPr marL="171450" indent="-171450">
              <a:buFont typeface="Arial" pitchFamily="34" charset="0"/>
              <a:buChar char="•"/>
            </a:pPr>
            <a:r>
              <a:rPr lang="en-AU" sz="1200" kern="1200" dirty="0" smtClean="0">
                <a:solidFill>
                  <a:schemeClr val="tx1"/>
                </a:solidFill>
                <a:ea typeface="+mn-ea"/>
                <a:cs typeface="+mn-cs"/>
              </a:rPr>
              <a:t>Simply approaching a potential thief and asking if you can be of service, talking with them, asking them sales-related questions can be sufficient to see off many would-be thieves, especially those who gain confidence from being ignored.</a:t>
            </a:r>
          </a:p>
          <a:p>
            <a:pPr marL="171450" indent="-171450">
              <a:buFont typeface="Arial" pitchFamily="34" charset="0"/>
              <a:buChar char="•"/>
            </a:pPr>
            <a:r>
              <a:rPr lang="en-AU" sz="1200" kern="1200" dirty="0" smtClean="0">
                <a:solidFill>
                  <a:schemeClr val="tx1"/>
                </a:solidFill>
                <a:ea typeface="+mn-ea"/>
                <a:cs typeface="+mn-cs"/>
              </a:rPr>
              <a:t>Realise deterring a would-be thief may also just be a case of making eye contact with them when they enter the business, and maintaining visual contact with them while they are in the building.  </a:t>
            </a:r>
          </a:p>
          <a:p>
            <a:pPr marL="171450" indent="-171450">
              <a:buFont typeface="Arial" pitchFamily="34" charset="0"/>
              <a:buChar char="•"/>
            </a:pPr>
            <a:r>
              <a:rPr lang="en-AU" sz="1200" kern="1200" dirty="0" smtClean="0">
                <a:solidFill>
                  <a:schemeClr val="tx1"/>
                </a:solidFill>
                <a:ea typeface="+mn-ea"/>
                <a:cs typeface="+mn-cs"/>
              </a:rPr>
              <a:t>Knowing they are being observed – or are likely to be observed – is sufficient to deter many people from offending because the chance of discovery is so high.</a:t>
            </a:r>
          </a:p>
          <a:p>
            <a:pPr marL="171450" indent="-171450">
              <a:buFont typeface="Arial" pitchFamily="34" charset="0"/>
              <a:buChar char="•"/>
            </a:pPr>
            <a:r>
              <a:rPr lang="en-AU" sz="1200" kern="1200" dirty="0" smtClean="0">
                <a:solidFill>
                  <a:schemeClr val="tx1"/>
                </a:solidFill>
                <a:ea typeface="+mn-ea"/>
                <a:cs typeface="+mn-cs"/>
              </a:rPr>
              <a:t>It is for these reasons that a clear ‘line of sight’ from counters and cash registers is considered an excellent anti-theft measure, where practicable and applicable.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 xmlns:p14="http://schemas.microsoft.com/office/powerpoint/2010/main" val="2070767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smtClean="0"/>
              <a:t>Trainer presents</a:t>
            </a:r>
            <a:r>
              <a:rPr lang="en-US" baseline="0" dirty="0" smtClean="0"/>
              <a:t> </a:t>
            </a:r>
            <a:r>
              <a:rPr lang="en-AU" sz="1200" kern="1200" dirty="0" smtClean="0">
                <a:solidFill>
                  <a:schemeClr val="tx1"/>
                </a:solidFill>
                <a:ea typeface="+mn-ea"/>
                <a:cs typeface="+mn-cs"/>
              </a:rPr>
              <a:t>common ways to deter thieves exist – some fairly basic, others more high-tech.</a:t>
            </a:r>
          </a:p>
          <a:p>
            <a:r>
              <a:rPr lang="en-AU" sz="1200" b="1" kern="1200" dirty="0" smtClean="0">
                <a:solidFill>
                  <a:schemeClr val="tx1"/>
                </a:solidFill>
                <a:ea typeface="+mn-ea"/>
                <a:cs typeface="+mn-cs"/>
              </a:rPr>
              <a:t>Use of security systems and anti-theft devices</a:t>
            </a:r>
          </a:p>
          <a:p>
            <a:r>
              <a:rPr lang="en-AU" sz="1200" kern="1200" dirty="0" smtClean="0">
                <a:solidFill>
                  <a:schemeClr val="tx1"/>
                </a:solidFill>
                <a:ea typeface="+mn-ea"/>
                <a:cs typeface="+mn-cs"/>
              </a:rPr>
              <a:t>This includes the use of:</a:t>
            </a:r>
          </a:p>
          <a:p>
            <a:pPr marL="628650" lvl="1" indent="-171450">
              <a:buFont typeface="Arial" pitchFamily="34" charset="0"/>
              <a:buChar char="•"/>
            </a:pPr>
            <a:r>
              <a:rPr lang="en-AU" sz="1200" kern="1200" dirty="0" smtClean="0">
                <a:solidFill>
                  <a:schemeClr val="tx1"/>
                </a:solidFill>
                <a:ea typeface="+mn-ea"/>
                <a:cs typeface="+mn-cs"/>
              </a:rPr>
              <a:t>Surveillance devices/CCTV</a:t>
            </a:r>
          </a:p>
          <a:p>
            <a:pPr marL="628650" lvl="1" indent="-171450">
              <a:buFont typeface="Arial" pitchFamily="34" charset="0"/>
              <a:buChar char="•"/>
            </a:pPr>
            <a:r>
              <a:rPr lang="en-AU" sz="1200" kern="1200" dirty="0" smtClean="0">
                <a:solidFill>
                  <a:schemeClr val="tx1"/>
                </a:solidFill>
                <a:ea typeface="+mn-ea"/>
                <a:cs typeface="+mn-cs"/>
              </a:rPr>
              <a:t>Mirrors</a:t>
            </a:r>
          </a:p>
          <a:p>
            <a:pPr marL="628650" lvl="1" indent="-171450">
              <a:buFont typeface="Arial" pitchFamily="34" charset="0"/>
              <a:buChar char="•"/>
            </a:pPr>
            <a:r>
              <a:rPr lang="en-AU" sz="1200" kern="1200" dirty="0" smtClean="0">
                <a:solidFill>
                  <a:schemeClr val="tx1"/>
                </a:solidFill>
                <a:ea typeface="+mn-ea"/>
                <a:cs typeface="+mn-cs"/>
              </a:rPr>
              <a:t>Electronic Article Surveillance (EAS)</a:t>
            </a:r>
          </a:p>
          <a:p>
            <a:pPr marL="628650" lvl="1" indent="-171450">
              <a:buFont typeface="Arial" pitchFamily="34" charset="0"/>
              <a:buChar char="•"/>
            </a:pPr>
            <a:r>
              <a:rPr lang="en-AU" sz="1200" kern="1200" dirty="0" smtClean="0">
                <a:solidFill>
                  <a:schemeClr val="tx1"/>
                </a:solidFill>
                <a:ea typeface="+mn-ea"/>
                <a:cs typeface="+mn-cs"/>
              </a:rPr>
              <a:t>Physical barriers</a:t>
            </a:r>
          </a:p>
          <a:p>
            <a:pPr marL="628650" lvl="1" indent="-171450">
              <a:buFont typeface="Arial" pitchFamily="34" charset="0"/>
              <a:buChar char="•"/>
            </a:pPr>
            <a:r>
              <a:rPr lang="en-AU" sz="1200" kern="1200" dirty="0" smtClean="0">
                <a:solidFill>
                  <a:schemeClr val="tx1"/>
                </a:solidFill>
                <a:ea typeface="+mn-ea"/>
                <a:cs typeface="+mn-cs"/>
              </a:rPr>
              <a:t>Alarms.</a:t>
            </a:r>
          </a:p>
          <a:p>
            <a:r>
              <a:rPr lang="en-AU" sz="1200" b="1" kern="1200" dirty="0" smtClean="0">
                <a:solidFill>
                  <a:schemeClr val="tx1"/>
                </a:solidFill>
                <a:ea typeface="+mn-ea"/>
                <a:cs typeface="+mn-cs"/>
              </a:rPr>
              <a:t>Static Guards</a:t>
            </a:r>
          </a:p>
          <a:p>
            <a:r>
              <a:rPr lang="en-AU" sz="1200" kern="1200" dirty="0" smtClean="0">
                <a:solidFill>
                  <a:schemeClr val="tx1"/>
                </a:solidFill>
                <a:ea typeface="+mn-ea"/>
                <a:cs typeface="+mn-cs"/>
              </a:rPr>
              <a:t>Many places now engage the services of uniformed security personnel – known as Static Guards – during certain trading times, such as late night trading or other identified potentially troubled or dangerous times.  </a:t>
            </a:r>
          </a:p>
          <a:p>
            <a:r>
              <a:rPr lang="en-AU" sz="1200" kern="1200" dirty="0" smtClean="0">
                <a:solidFill>
                  <a:schemeClr val="tx1"/>
                </a:solidFill>
                <a:ea typeface="+mn-ea"/>
                <a:cs typeface="+mn-cs"/>
              </a:rPr>
              <a:t>These guards not only help to minimise theft, but also serve as a physical deterrent to minimise things such as bad language, threatening and other anti-social behaviour. </a:t>
            </a:r>
          </a:p>
          <a:p>
            <a:r>
              <a:rPr lang="en-AU" sz="1200" b="1" kern="1200" dirty="0" smtClean="0">
                <a:solidFill>
                  <a:schemeClr val="tx1"/>
                </a:solidFill>
                <a:ea typeface="+mn-ea"/>
                <a:cs typeface="+mn-cs"/>
              </a:rPr>
              <a:t>Taking legal action</a:t>
            </a:r>
          </a:p>
          <a:p>
            <a:r>
              <a:rPr lang="en-AU" sz="1200" kern="1200" dirty="0" smtClean="0">
                <a:solidFill>
                  <a:schemeClr val="tx1"/>
                </a:solidFill>
                <a:ea typeface="+mn-ea"/>
                <a:cs typeface="+mn-cs"/>
              </a:rPr>
              <a:t>Another effective deterrent is to take legal action against anyone who is detected shoplifting – regardless of the item stolen, the amount involved or the circumstances of the offender.  </a:t>
            </a:r>
          </a:p>
          <a:p>
            <a:r>
              <a:rPr lang="en-AU" sz="1200" kern="1200" dirty="0" smtClean="0">
                <a:solidFill>
                  <a:schemeClr val="tx1"/>
                </a:solidFill>
                <a:ea typeface="+mn-ea"/>
                <a:cs typeface="+mn-cs"/>
              </a:rPr>
              <a:t>This very quickly sends a message to those of like mind – especially those who are known to the offender – that shoplifting at your business is a high risk undertaking with serious consequences.  </a:t>
            </a:r>
          </a:p>
          <a:p>
            <a:pPr>
              <a:buFont typeface="Arial" pitchFamily="34" charset="0"/>
              <a:buNone/>
            </a:pPr>
            <a:endParaRPr lang="en-US" dirty="0" smtClean="0"/>
          </a:p>
          <a:p>
            <a:pPr>
              <a:buFont typeface="Arial" pitchFamily="34" charset="0"/>
              <a:buNone/>
            </a:pPr>
            <a:r>
              <a:rPr lang="en-US" b="1" dirty="0" smtClean="0"/>
              <a:t>Classroom Activity (1)</a:t>
            </a:r>
          </a:p>
          <a:p>
            <a:pPr>
              <a:buFont typeface="Arial" pitchFamily="34" charset="0"/>
              <a:buNone/>
            </a:pPr>
            <a:r>
              <a:rPr lang="en-US" b="0" dirty="0" smtClean="0"/>
              <a:t>Trainer shows and demonstrates use of above items.</a:t>
            </a:r>
          </a:p>
          <a:p>
            <a:pPr>
              <a:buFont typeface="Arial" pitchFamily="34" charset="0"/>
              <a:buNone/>
            </a:pPr>
            <a:endParaRPr lang="en-US" b="0" dirty="0" smtClean="0"/>
          </a:p>
          <a:p>
            <a:pPr>
              <a:buFont typeface="Arial" pitchFamily="34" charset="0"/>
              <a:buNone/>
            </a:pPr>
            <a:r>
              <a:rPr lang="en-US" b="1" dirty="0" smtClean="0"/>
              <a:t>Classroom Activity (2)</a:t>
            </a:r>
          </a:p>
          <a:p>
            <a:pPr>
              <a:buFont typeface="Arial" pitchFamily="34" charset="0"/>
              <a:buNone/>
            </a:pPr>
            <a:r>
              <a:rPr lang="en-US" b="0" dirty="0" smtClean="0"/>
              <a:t>Trainer arranges for Static Guard to attend as Guest Speaker.</a:t>
            </a:r>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 xmlns:p14="http://schemas.microsoft.com/office/powerpoint/2010/main" val="2360297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t>
            </a:r>
            <a:r>
              <a:rPr lang="en-AU" sz="1200" kern="1200" dirty="0" smtClean="0">
                <a:solidFill>
                  <a:schemeClr val="tx1"/>
                </a:solidFill>
                <a:ea typeface="+mn-ea"/>
                <a:cs typeface="+mn-cs"/>
              </a:rPr>
              <a:t>advises in the majority of retail cases it is all but impossible to deny customers access to all your products – merchandising imperatives demand the product is ‘in the customer’s face’ so they can see it, feel it, smell it, touch it and pick it up and inspect it.</a:t>
            </a:r>
          </a:p>
          <a:p>
            <a:r>
              <a:rPr lang="en-AU" sz="1200" b="1" kern="1200" dirty="0" smtClean="0">
                <a:solidFill>
                  <a:schemeClr val="tx1"/>
                </a:solidFill>
                <a:ea typeface="+mn-ea"/>
                <a:cs typeface="+mn-cs"/>
              </a:rPr>
              <a:t>Protecting the stock</a:t>
            </a:r>
          </a:p>
          <a:p>
            <a:r>
              <a:rPr lang="en-AU" sz="1200" kern="1200" dirty="0" smtClean="0">
                <a:solidFill>
                  <a:schemeClr val="tx1"/>
                </a:solidFill>
                <a:ea typeface="+mn-ea"/>
                <a:cs typeface="+mn-cs"/>
              </a:rPr>
              <a:t>Nonetheless, there are instances where many retail businesses do protect their stock – admittedly only a portion of it – by physically placing it behind some form of barrier, usually a glass-fronted or glass-topped cabinet of some sort.  </a:t>
            </a:r>
          </a:p>
          <a:p>
            <a:r>
              <a:rPr lang="en-AU" sz="1200" kern="1200" dirty="0" smtClean="0">
                <a:solidFill>
                  <a:schemeClr val="tx1"/>
                </a:solidFill>
                <a:ea typeface="+mn-ea"/>
                <a:cs typeface="+mn-cs"/>
              </a:rPr>
              <a:t>Items displayed in this way commonly include expensive, unique, desirable, attractive and easily hidden articles.</a:t>
            </a:r>
          </a:p>
          <a:p>
            <a:r>
              <a:rPr lang="en-AU" sz="1200" kern="1200" dirty="0" smtClean="0">
                <a:solidFill>
                  <a:schemeClr val="tx1"/>
                </a:solidFill>
                <a:ea typeface="+mn-ea"/>
                <a:cs typeface="+mn-cs"/>
              </a:rPr>
              <a:t>Key access is usually required to some of these sliding door displays, otherwise, rear of counter access makes goods readily accessible to sales staff.</a:t>
            </a:r>
          </a:p>
          <a:p>
            <a:r>
              <a:rPr lang="en-AU" sz="1200" kern="1200" dirty="0" smtClean="0">
                <a:solidFill>
                  <a:schemeClr val="tx1"/>
                </a:solidFill>
                <a:ea typeface="+mn-ea"/>
                <a:cs typeface="+mn-cs"/>
              </a:rPr>
              <a:t>In a limited number of cases, stock may be physically tied down in some way to help prevent its loss.  </a:t>
            </a:r>
          </a:p>
          <a:p>
            <a:r>
              <a:rPr lang="en-AU" sz="1200" kern="1200" dirty="0" smtClean="0">
                <a:solidFill>
                  <a:schemeClr val="tx1"/>
                </a:solidFill>
                <a:ea typeface="+mn-ea"/>
                <a:cs typeface="+mn-cs"/>
              </a:rPr>
              <a:t>Ties or wraps may be used which do not impinge on the aesthetic appeal of the product or display but which prevent its ready removal by thieves: problematic with this approach is that it requires staff to assist the customer when a genuine purchase is being made.  </a:t>
            </a:r>
          </a:p>
          <a:p>
            <a:r>
              <a:rPr lang="en-AU" sz="1200" kern="1200" dirty="0" smtClean="0">
                <a:solidFill>
                  <a:schemeClr val="tx1"/>
                </a:solidFill>
                <a:ea typeface="+mn-ea"/>
                <a:cs typeface="+mn-cs"/>
              </a:rPr>
              <a:t>Larger items can be chained/roped together, sometimes using a padlock – it is all part of the Deny phase.</a:t>
            </a:r>
          </a:p>
          <a:p>
            <a:r>
              <a:rPr lang="en-AU" sz="1200" kern="1200" dirty="0" smtClean="0">
                <a:solidFill>
                  <a:schemeClr val="tx1"/>
                </a:solidFill>
                <a:ea typeface="+mn-ea"/>
                <a:cs typeface="+mn-cs"/>
              </a:rPr>
              <a:t>Physical barriers may also be used – see section 3.3 for more information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 xmlns:p14="http://schemas.microsoft.com/office/powerpoint/2010/main" val="34342135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information on the ‘Delay’ </a:t>
            </a:r>
            <a:r>
              <a:rPr lang="en-AU" sz="1200" kern="1200" dirty="0" smtClean="0">
                <a:solidFill>
                  <a:schemeClr val="tx1"/>
                </a:solidFill>
                <a:ea typeface="+mn-ea"/>
                <a:cs typeface="+mn-cs"/>
              </a:rPr>
              <a:t>phase stating it seeks to make the theft as inconvenient as possible and ensure it takes as long as possible for the thief to actually take the item.</a:t>
            </a:r>
          </a:p>
          <a:p>
            <a:r>
              <a:rPr lang="en-AU" sz="1200" kern="1200" dirty="0" smtClean="0">
                <a:solidFill>
                  <a:schemeClr val="tx1"/>
                </a:solidFill>
                <a:ea typeface="+mn-ea"/>
                <a:cs typeface="+mn-cs"/>
              </a:rPr>
              <a:t>The longer the actual process of stealing takes, the greater the chance of the thief being seen and apprehended, so the less likely they are to risk it</a:t>
            </a:r>
          </a:p>
          <a:p>
            <a:r>
              <a:rPr lang="en-AU" sz="1200" b="1" kern="1200" dirty="0" smtClean="0">
                <a:solidFill>
                  <a:schemeClr val="tx1"/>
                </a:solidFill>
                <a:ea typeface="+mn-ea"/>
                <a:cs typeface="+mn-cs"/>
              </a:rPr>
              <a:t>Safes</a:t>
            </a:r>
          </a:p>
          <a:p>
            <a:r>
              <a:rPr lang="en-AU" sz="1200" kern="1200" dirty="0" smtClean="0">
                <a:solidFill>
                  <a:schemeClr val="tx1"/>
                </a:solidFill>
                <a:ea typeface="+mn-ea"/>
                <a:cs typeface="+mn-cs"/>
              </a:rPr>
              <a:t>It is for this reason safes have time delays fitted to them and why this fact is readily and visibly advertised in the business using prominent signs.  </a:t>
            </a:r>
          </a:p>
          <a:p>
            <a:r>
              <a:rPr lang="en-AU" sz="1200" kern="1200" dirty="0" smtClean="0">
                <a:solidFill>
                  <a:schemeClr val="tx1"/>
                </a:solidFill>
                <a:ea typeface="+mn-ea"/>
                <a:cs typeface="+mn-cs"/>
              </a:rPr>
              <a:t>It is for this reason safes are designed to be difficult to break into or remove – it is not just to protect the contents but to increase the amount of time the criminal has to spend on the premises.</a:t>
            </a:r>
          </a:p>
          <a:p>
            <a:r>
              <a:rPr lang="en-AU" sz="1200" kern="1200" dirty="0" smtClean="0">
                <a:solidFill>
                  <a:schemeClr val="tx1"/>
                </a:solidFill>
                <a:ea typeface="+mn-ea"/>
                <a:cs typeface="+mn-cs"/>
              </a:rPr>
              <a:t>Most insurance companies insist businesses use only ‘TDR’ safes (Torch and Drill Resistant), or in-ground safes in order to achieve this.</a:t>
            </a:r>
          </a:p>
          <a:p>
            <a:r>
              <a:rPr lang="en-AU" sz="1200" kern="1200" dirty="0" smtClean="0">
                <a:solidFill>
                  <a:schemeClr val="tx1"/>
                </a:solidFill>
                <a:ea typeface="+mn-ea"/>
                <a:cs typeface="+mn-cs"/>
              </a:rPr>
              <a:t>Excellent service - again</a:t>
            </a:r>
          </a:p>
          <a:p>
            <a:r>
              <a:rPr lang="en-AU" sz="1200" kern="1200" dirty="0" smtClean="0">
                <a:solidFill>
                  <a:schemeClr val="tx1"/>
                </a:solidFill>
                <a:ea typeface="+mn-ea"/>
                <a:cs typeface="+mn-cs"/>
              </a:rPr>
              <a:t>Good customer service also impacts here – if you are talking to/helping the would-be thief, they are unable to steal: you are delaying them.  </a:t>
            </a:r>
          </a:p>
          <a:p>
            <a:r>
              <a:rPr lang="en-AU" sz="1200" kern="1200" dirty="0" smtClean="0">
                <a:solidFill>
                  <a:schemeClr val="tx1"/>
                </a:solidFill>
                <a:ea typeface="+mn-ea"/>
                <a:cs typeface="+mn-cs"/>
              </a:rPr>
              <a:t>If they are aware they are being observed, you are delaying them.</a:t>
            </a:r>
          </a:p>
          <a:p>
            <a:r>
              <a:rPr lang="en-AU" sz="1200" kern="1200" dirty="0" smtClean="0">
                <a:solidFill>
                  <a:schemeClr val="tx1"/>
                </a:solidFill>
                <a:ea typeface="+mn-ea"/>
                <a:cs typeface="+mn-cs"/>
              </a:rPr>
              <a:t>If you are making offers of assistance, you are delaying them.  </a:t>
            </a:r>
          </a:p>
          <a:p>
            <a:r>
              <a:rPr lang="en-AU" sz="1200" kern="1200" dirty="0" smtClean="0">
                <a:solidFill>
                  <a:schemeClr val="tx1"/>
                </a:solidFill>
                <a:ea typeface="+mn-ea"/>
                <a:cs typeface="+mn-cs"/>
              </a:rPr>
              <a:t>Hopefully they will become so frustrated they will give up, leave and go somewhere else.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 xmlns:p14="http://schemas.microsoft.com/office/powerpoint/2010/main" val="32211821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t>
            </a:r>
            <a:r>
              <a:rPr lang="en-AU" sz="1200" kern="1200" dirty="0" smtClean="0">
                <a:solidFill>
                  <a:schemeClr val="tx1"/>
                </a:solidFill>
                <a:ea typeface="+mn-ea"/>
                <a:cs typeface="+mn-cs"/>
              </a:rPr>
              <a:t>a policy is a statement of intent, principle or direction regarding a specific area of activity within the organisation.</a:t>
            </a:r>
          </a:p>
          <a:p>
            <a:r>
              <a:rPr lang="en-AU" sz="1200" kern="1200" dirty="0" smtClean="0">
                <a:solidFill>
                  <a:schemeClr val="tx1"/>
                </a:solidFill>
                <a:ea typeface="+mn-ea"/>
                <a:cs typeface="+mn-cs"/>
              </a:rPr>
              <a:t>Policies set the scene for action to be taken by the business and the staff in their day-to-day operations. </a:t>
            </a:r>
          </a:p>
          <a:p>
            <a:r>
              <a:rPr lang="en-AU" sz="1200" kern="1200" dirty="0" smtClean="0">
                <a:solidFill>
                  <a:schemeClr val="tx1"/>
                </a:solidFill>
                <a:ea typeface="+mn-ea"/>
                <a:cs typeface="+mn-cs"/>
              </a:rPr>
              <a:t>In this way policies can be seen as indicating how the business intends to achieve the objectives it has set for itself.</a:t>
            </a:r>
          </a:p>
          <a:p>
            <a:r>
              <a:rPr lang="en-AU" sz="1200" kern="1200" dirty="0" smtClean="0">
                <a:solidFill>
                  <a:schemeClr val="tx1"/>
                </a:solidFill>
                <a:ea typeface="+mn-ea"/>
                <a:cs typeface="+mn-cs"/>
              </a:rPr>
              <a:t>By providing direction these policies are the rules of the business.</a:t>
            </a:r>
          </a:p>
          <a:p>
            <a:r>
              <a:rPr lang="en-AU" sz="1200" kern="1200" dirty="0" smtClean="0">
                <a:solidFill>
                  <a:schemeClr val="tx1"/>
                </a:solidFill>
                <a:ea typeface="+mn-ea"/>
                <a:cs typeface="+mn-cs"/>
              </a:rPr>
              <a:t>While it not necessary for all policies to be reduced to writing there is an expectation all ‘important’ policies do exist in written form.</a:t>
            </a:r>
          </a:p>
          <a:p>
            <a:pPr>
              <a:buFont typeface="Arial" pitchFamily="34" charset="0"/>
              <a:buNone/>
            </a:pPr>
            <a:endParaRPr lang="en-US" dirty="0" smtClean="0"/>
          </a:p>
          <a:p>
            <a:pPr>
              <a:buFont typeface="Arial" pitchFamily="34" charset="0"/>
              <a:buNone/>
            </a:pPr>
            <a:r>
              <a:rPr lang="en-US" b="1" dirty="0" smtClean="0"/>
              <a:t>Classroom Activity</a:t>
            </a:r>
          </a:p>
          <a:p>
            <a:pPr>
              <a:buFont typeface="Arial" pitchFamily="34" charset="0"/>
              <a:buNone/>
            </a:pPr>
            <a:r>
              <a:rPr lang="en-US" b="0" dirty="0" smtClean="0"/>
              <a:t>Trainer distributes and discusses several examples of relevant policies.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 xmlns:p14="http://schemas.microsoft.com/office/powerpoint/2010/main" val="9012271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considerations when generating</a:t>
            </a:r>
            <a:r>
              <a:rPr lang="en-US" baseline="0" dirty="0" smtClean="0"/>
              <a:t> theft policy:</a:t>
            </a:r>
          </a:p>
          <a:p>
            <a:r>
              <a:rPr lang="en-AU" sz="1200" kern="1200" dirty="0" smtClean="0">
                <a:solidFill>
                  <a:schemeClr val="tx1"/>
                </a:solidFill>
                <a:ea typeface="+mn-ea"/>
                <a:cs typeface="+mn-cs"/>
              </a:rPr>
              <a:t>Preparing a </a:t>
            </a:r>
            <a:r>
              <a:rPr lang="en-AU" sz="1200" i="1" kern="1200" dirty="0" smtClean="0">
                <a:solidFill>
                  <a:schemeClr val="tx1"/>
                </a:solidFill>
                <a:ea typeface="+mn-ea"/>
                <a:cs typeface="+mn-cs"/>
              </a:rPr>
              <a:t>written</a:t>
            </a:r>
            <a:r>
              <a:rPr lang="en-AU" sz="1200" kern="1200" dirty="0" smtClean="0">
                <a:solidFill>
                  <a:schemeClr val="tx1"/>
                </a:solidFill>
                <a:ea typeface="+mn-ea"/>
                <a:cs typeface="+mn-cs"/>
              </a:rPr>
              <a:t> policy – it is vital all policies are in hard copy form.</a:t>
            </a:r>
          </a:p>
          <a:p>
            <a:pPr marL="171450" indent="-171450">
              <a:buFont typeface="Arial" pitchFamily="34" charset="0"/>
              <a:buChar char="•"/>
            </a:pPr>
            <a:r>
              <a:rPr lang="en-AU" sz="1200" kern="1200" dirty="0" smtClean="0">
                <a:solidFill>
                  <a:schemeClr val="tx1"/>
                </a:solidFill>
                <a:ea typeface="+mn-ea"/>
                <a:cs typeface="+mn-cs"/>
              </a:rPr>
              <a:t>They must be ‘reduced to writing’ so there is surety about what is meant, what is covered, what protocols apply and who has responsibility for what. Having formal, written policies also facilitates their regular review and up-date. </a:t>
            </a:r>
          </a:p>
          <a:p>
            <a:pPr marL="171450" indent="-171450">
              <a:buFont typeface="Arial" pitchFamily="34" charset="0"/>
              <a:buChar char="•"/>
            </a:pPr>
            <a:r>
              <a:rPr lang="en-AU" sz="1200" kern="1200" dirty="0" smtClean="0">
                <a:solidFill>
                  <a:schemeClr val="tx1"/>
                </a:solidFill>
                <a:ea typeface="+mn-ea"/>
                <a:cs typeface="+mn-cs"/>
              </a:rPr>
              <a:t>Integrating research findings into the development of policy – this means you need to:</a:t>
            </a:r>
          </a:p>
          <a:p>
            <a:pPr marL="628650" lvl="1" indent="-171450">
              <a:buFont typeface="Arial" pitchFamily="34" charset="0"/>
              <a:buChar char="•"/>
            </a:pPr>
            <a:r>
              <a:rPr lang="en-AU" sz="1200" kern="1200" dirty="0" smtClean="0">
                <a:solidFill>
                  <a:schemeClr val="tx1"/>
                </a:solidFill>
                <a:ea typeface="+mn-ea"/>
                <a:cs typeface="+mn-cs"/>
              </a:rPr>
              <a:t>Include viable suggestions from staff and managers/owners and consultants as well as police</a:t>
            </a:r>
          </a:p>
          <a:p>
            <a:pPr marL="628650" lvl="1" indent="-171450">
              <a:buFont typeface="Arial" pitchFamily="34" charset="0"/>
              <a:buChar char="•"/>
            </a:pPr>
            <a:r>
              <a:rPr lang="en-AU" sz="1200" kern="1200" dirty="0" smtClean="0">
                <a:solidFill>
                  <a:schemeClr val="tx1"/>
                </a:solidFill>
                <a:ea typeface="+mn-ea"/>
                <a:cs typeface="+mn-cs"/>
              </a:rPr>
              <a:t>Integrate intelligence you have gathered by virtue of your personal knowledge of the business, its layout, previous thefts, stock, trading hours and customer profiles</a:t>
            </a:r>
          </a:p>
          <a:p>
            <a:pPr marL="628650" lvl="1" indent="-171450">
              <a:buFont typeface="Arial" pitchFamily="34" charset="0"/>
              <a:buChar char="•"/>
            </a:pPr>
            <a:r>
              <a:rPr lang="en-AU" sz="1200" kern="1200" dirty="0" smtClean="0">
                <a:solidFill>
                  <a:schemeClr val="tx1"/>
                </a:solidFill>
                <a:ea typeface="+mn-ea"/>
                <a:cs typeface="+mn-cs"/>
              </a:rPr>
              <a:t>Adapt and up-date previous policy so it reflects and addresses emerging and/or changed circumstances or threats</a:t>
            </a:r>
          </a:p>
          <a:p>
            <a:pPr marL="171450" indent="-171450">
              <a:buFont typeface="Arial" pitchFamily="34" charset="0"/>
              <a:buChar char="•"/>
            </a:pPr>
            <a:r>
              <a:rPr lang="en-AU" sz="1200" kern="1200" dirty="0" smtClean="0">
                <a:solidFill>
                  <a:schemeClr val="tx1"/>
                </a:solidFill>
                <a:ea typeface="+mn-ea"/>
                <a:cs typeface="+mn-cs"/>
              </a:rPr>
              <a:t>Determining responsibility for theft management – every policy must specify:</a:t>
            </a:r>
          </a:p>
          <a:p>
            <a:pPr marL="628650" lvl="1" indent="-171450">
              <a:buFont typeface="Arial" pitchFamily="34" charset="0"/>
              <a:buChar char="•"/>
            </a:pPr>
            <a:r>
              <a:rPr lang="en-AU" sz="1200" kern="1200" dirty="0" smtClean="0">
                <a:solidFill>
                  <a:schemeClr val="tx1"/>
                </a:solidFill>
                <a:ea typeface="+mn-ea"/>
                <a:cs typeface="+mn-cs"/>
              </a:rPr>
              <a:t>Management (by name or job title) who has overall responsibility for a policy – this includes responsibility for making operational decisions in relation to a theft or attempted theft, calling the police, writing a report on the event, interviewing staff and witnesses, securing a scene</a:t>
            </a:r>
          </a:p>
          <a:p>
            <a:pPr marL="628650" lvl="1" indent="-171450">
              <a:buFont typeface="Arial" pitchFamily="34" charset="0"/>
              <a:buChar char="•"/>
            </a:pPr>
            <a:r>
              <a:rPr lang="en-AU" sz="1200" kern="1200" dirty="0" smtClean="0">
                <a:solidFill>
                  <a:schemeClr val="tx1"/>
                </a:solidFill>
                <a:ea typeface="+mn-ea"/>
                <a:cs typeface="+mn-cs"/>
              </a:rPr>
              <a:t>Operational staff (by name or job title) who have day-to-day responsibility for implementing, policing and applying the specifics of the policy – the staff who are identified will normally include a mix of internal staff as well as external security staff employed from a security company</a:t>
            </a:r>
          </a:p>
          <a:p>
            <a:pPr marL="171450" indent="-17145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 xmlns:p14="http://schemas.microsoft.com/office/powerpoint/2010/main" val="13944402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a:buFont typeface="Arial" pitchFamily="34" charset="0"/>
              <a:buNone/>
            </a:pPr>
            <a:r>
              <a:rPr lang="en-US" dirty="0" smtClean="0"/>
              <a:t>Trainer continues explaining considerations when generating theft policy:</a:t>
            </a:r>
          </a:p>
          <a:p>
            <a:pPr marL="171450" indent="-171450">
              <a:buFont typeface="Arial" pitchFamily="34" charset="0"/>
              <a:buChar char="•"/>
            </a:pPr>
            <a:r>
              <a:rPr lang="en-AU" sz="1200" kern="1200" dirty="0" smtClean="0">
                <a:solidFill>
                  <a:schemeClr val="tx1"/>
                </a:solidFill>
                <a:ea typeface="+mn-ea"/>
                <a:cs typeface="+mn-cs"/>
              </a:rPr>
              <a:t>Identifying tolerance, if any, for identified instances of theft – it is a reality of workplace life there is always some degree of tolerance for theft.</a:t>
            </a:r>
          </a:p>
          <a:p>
            <a:pPr marL="628650" lvl="1" indent="-171450">
              <a:buFont typeface="Arial" pitchFamily="34" charset="0"/>
              <a:buChar char="•"/>
            </a:pPr>
            <a:r>
              <a:rPr lang="en-AU" sz="1200" kern="1200" dirty="0" smtClean="0">
                <a:solidFill>
                  <a:schemeClr val="tx1"/>
                </a:solidFill>
                <a:ea typeface="+mn-ea"/>
                <a:cs typeface="+mn-cs"/>
              </a:rPr>
              <a:t>The exact nature and degree of this leniency will vary significantly between businesses.</a:t>
            </a:r>
          </a:p>
          <a:p>
            <a:pPr marL="628650" lvl="1" indent="-171450">
              <a:buFont typeface="Arial" pitchFamily="34" charset="0"/>
              <a:buChar char="•"/>
            </a:pPr>
            <a:r>
              <a:rPr lang="en-AU" sz="1200" kern="1200" dirty="0" smtClean="0">
                <a:solidFill>
                  <a:schemeClr val="tx1"/>
                </a:solidFill>
                <a:ea typeface="+mn-ea"/>
                <a:cs typeface="+mn-cs"/>
              </a:rPr>
              <a:t>Some have a ‘zero tolerance’ approach and some do not.</a:t>
            </a:r>
          </a:p>
          <a:p>
            <a:pPr marL="628650" lvl="1" indent="-171450">
              <a:buFont typeface="Arial" pitchFamily="34" charset="0"/>
              <a:buChar char="•"/>
            </a:pPr>
            <a:r>
              <a:rPr lang="en-AU" sz="1200" kern="1200" dirty="0" smtClean="0">
                <a:solidFill>
                  <a:schemeClr val="tx1"/>
                </a:solidFill>
                <a:ea typeface="+mn-ea"/>
                <a:cs typeface="+mn-cs"/>
              </a:rPr>
              <a:t>The important aspect of this point is there must be clear and complete specification of exactly what staff (and nominated others) are entitled to use free-of-charge and/or as part of the acceptable standards of operation of the business.</a:t>
            </a:r>
          </a:p>
          <a:p>
            <a:pPr marL="628650" lvl="1" indent="-171450">
              <a:buFont typeface="Arial" pitchFamily="34" charset="0"/>
              <a:buChar char="•"/>
            </a:pPr>
            <a:r>
              <a:rPr lang="en-AU" sz="1200" kern="1200" dirty="0" smtClean="0">
                <a:solidFill>
                  <a:schemeClr val="tx1"/>
                </a:solidFill>
                <a:ea typeface="+mn-ea"/>
                <a:cs typeface="+mn-cs"/>
              </a:rPr>
              <a:t>For example, private use of office stationery by staff is usually accepted by most businesses unless it becomes ‘excessive’. Likewise, some businesses allow staff to use workplace telephones to make (some) private. The business may also supply limited refreshments for staff which they are free to use as they see fit, but not allowed to ‘take home’. </a:t>
            </a:r>
          </a:p>
          <a:p>
            <a:pPr marL="171450" indent="-171450">
              <a:buFont typeface="Arial" pitchFamily="34" charset="0"/>
              <a:buChar char="•"/>
            </a:pPr>
            <a:r>
              <a:rPr lang="en-AU" sz="1200" kern="1200" dirty="0" smtClean="0">
                <a:solidFill>
                  <a:schemeClr val="tx1"/>
                </a:solidFill>
                <a:ea typeface="+mn-ea"/>
                <a:cs typeface="+mn-cs"/>
              </a:rPr>
              <a:t>Describing and explaining the courses of action to be taken when theft is identified – so staff and the organisation functions in a consistent and reasoned manner when an event occurs. This may address:</a:t>
            </a:r>
          </a:p>
          <a:p>
            <a:pPr marL="628650" lvl="1" indent="-171450">
              <a:buFont typeface="Arial" pitchFamily="34" charset="0"/>
              <a:buChar char="•"/>
            </a:pPr>
            <a:r>
              <a:rPr lang="en-AU" sz="1200" kern="1200" dirty="0" smtClean="0">
                <a:solidFill>
                  <a:schemeClr val="tx1"/>
                </a:solidFill>
                <a:ea typeface="+mn-ea"/>
                <a:cs typeface="+mn-cs"/>
              </a:rPr>
              <a:t>Treatment of offenders – where and how they are to be detained, or specification of other action (such as banning them from the property but taking no further action)</a:t>
            </a:r>
          </a:p>
          <a:p>
            <a:pPr marL="628650" lvl="1" indent="-171450">
              <a:buFont typeface="Arial" pitchFamily="34" charset="0"/>
              <a:buChar char="•"/>
            </a:pPr>
            <a:r>
              <a:rPr lang="en-AU" sz="1200" kern="1200" dirty="0" smtClean="0">
                <a:solidFill>
                  <a:schemeClr val="tx1"/>
                </a:solidFill>
                <a:ea typeface="+mn-ea"/>
                <a:cs typeface="+mn-cs"/>
              </a:rPr>
              <a:t>Identification of internal persons to be notified and external bodies to be contacted</a:t>
            </a:r>
          </a:p>
          <a:p>
            <a:pPr marL="628650" lvl="1" indent="-171450">
              <a:buFont typeface="Arial" pitchFamily="34" charset="0"/>
              <a:buChar char="•"/>
            </a:pPr>
            <a:r>
              <a:rPr lang="en-AU" sz="1200" kern="1200" dirty="0" smtClean="0">
                <a:solidFill>
                  <a:schemeClr val="tx1"/>
                </a:solidFill>
                <a:ea typeface="+mn-ea"/>
                <a:cs typeface="+mn-cs"/>
              </a:rPr>
              <a:t>Details of the incident to be captured and recorded</a:t>
            </a:r>
          </a:p>
          <a:p>
            <a:pPr marL="628650" lvl="1" indent="-171450">
              <a:buFont typeface="Arial" pitchFamily="34" charset="0"/>
              <a:buChar char="•"/>
            </a:pPr>
            <a:r>
              <a:rPr lang="en-AU" sz="1200" kern="1200" dirty="0" smtClean="0">
                <a:solidFill>
                  <a:schemeClr val="tx1"/>
                </a:solidFill>
                <a:ea typeface="+mn-ea"/>
                <a:cs typeface="+mn-cs"/>
              </a:rPr>
              <a:t>Containment of the scene</a:t>
            </a:r>
          </a:p>
          <a:p>
            <a:pPr marL="628650" lvl="1" indent="-171450">
              <a:buFont typeface="Arial" pitchFamily="34" charset="0"/>
              <a:buChar char="•"/>
            </a:pPr>
            <a:r>
              <a:rPr lang="en-AU" sz="1200" kern="1200" dirty="0" smtClean="0">
                <a:solidFill>
                  <a:schemeClr val="tx1"/>
                </a:solidFill>
                <a:ea typeface="+mn-ea"/>
                <a:cs typeface="+mn-cs"/>
              </a:rPr>
              <a:t>Reporting for the purposes of police reports and/or insurance claims</a:t>
            </a:r>
          </a:p>
          <a:p>
            <a:pPr marL="171450" indent="-171450">
              <a:buFont typeface="Arial" pitchFamily="34" charset="0"/>
              <a:buChar char="•"/>
            </a:pPr>
            <a:r>
              <a:rPr lang="en-AU" sz="1200" kern="1200" dirty="0" smtClean="0">
                <a:solidFill>
                  <a:schemeClr val="tx1"/>
                </a:solidFill>
                <a:ea typeface="+mn-ea"/>
                <a:cs typeface="+mn-cs"/>
              </a:rPr>
              <a:t>Specifying documentation to be completed to support the policy and related procedures – which may require completion of:</a:t>
            </a:r>
          </a:p>
          <a:p>
            <a:pPr marL="628650" lvl="1" indent="-171450">
              <a:buFont typeface="Arial" pitchFamily="34" charset="0"/>
              <a:buChar char="•"/>
            </a:pPr>
            <a:r>
              <a:rPr lang="en-AU" sz="1200" kern="1200" dirty="0" smtClean="0">
                <a:solidFill>
                  <a:schemeClr val="tx1"/>
                </a:solidFill>
                <a:ea typeface="+mn-ea"/>
                <a:cs typeface="+mn-cs"/>
              </a:rPr>
              <a:t>Insurance claim documentation</a:t>
            </a:r>
          </a:p>
          <a:p>
            <a:pPr marL="628650" lvl="1" indent="-171450">
              <a:buFont typeface="Arial" pitchFamily="34" charset="0"/>
              <a:buChar char="•"/>
            </a:pPr>
            <a:r>
              <a:rPr lang="en-AU" sz="1200" kern="1200" dirty="0" smtClean="0">
                <a:solidFill>
                  <a:schemeClr val="tx1"/>
                </a:solidFill>
                <a:ea typeface="+mn-ea"/>
                <a:cs typeface="+mn-cs"/>
              </a:rPr>
              <a:t>Internal ‘Incident reports’</a:t>
            </a:r>
          </a:p>
          <a:p>
            <a:pPr marL="628650" lvl="1" indent="-171450">
              <a:buFont typeface="Arial" pitchFamily="34" charset="0"/>
              <a:buChar char="•"/>
            </a:pPr>
            <a:r>
              <a:rPr lang="en-AU" sz="1200" kern="1200" dirty="0" smtClean="0">
                <a:solidFill>
                  <a:schemeClr val="tx1"/>
                </a:solidFill>
                <a:ea typeface="+mn-ea"/>
                <a:cs typeface="+mn-cs"/>
              </a:rPr>
              <a:t>Witness statements by staff and any customers willing to give a statement</a:t>
            </a:r>
          </a:p>
          <a:p>
            <a:pPr marL="628650" lvl="1" indent="-171450">
              <a:buFont typeface="Arial" pitchFamily="34" charset="0"/>
              <a:buChar char="•"/>
            </a:pPr>
            <a:r>
              <a:rPr lang="en-AU" sz="1200" kern="1200" dirty="0" smtClean="0">
                <a:solidFill>
                  <a:schemeClr val="tx1"/>
                </a:solidFill>
                <a:ea typeface="+mn-ea"/>
                <a:cs typeface="+mn-cs"/>
              </a:rPr>
              <a:t>Loss adjustment sheets – to record and accommodate stock losses</a:t>
            </a:r>
          </a:p>
          <a:p>
            <a:pPr>
              <a:buFont typeface="Arial" pitchFamily="34" charset="0"/>
              <a:buNone/>
            </a:pPr>
            <a:r>
              <a:rPr lang="en-US" b="1" dirty="0" smtClean="0"/>
              <a:t>Classroom Activity</a:t>
            </a:r>
          </a:p>
          <a:p>
            <a:pPr>
              <a:buFont typeface="Arial" pitchFamily="34" charset="0"/>
              <a:buNone/>
            </a:pPr>
            <a:r>
              <a:rPr lang="en-US" b="0" dirty="0" smtClean="0"/>
              <a:t>Trainer distributes and discusses sample documentation identified on this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 xmlns:p14="http://schemas.microsoft.com/office/powerpoint/2010/main" val="15763438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explaining considerations when generating theft policy:</a:t>
            </a:r>
          </a:p>
          <a:p>
            <a:pPr marL="171450" indent="-171450">
              <a:buFont typeface="Arial" pitchFamily="34" charset="0"/>
              <a:buChar char="•"/>
            </a:pPr>
            <a:r>
              <a:rPr lang="en-AU" sz="1200" kern="1200" dirty="0" smtClean="0">
                <a:solidFill>
                  <a:schemeClr val="tx1"/>
                </a:solidFill>
                <a:ea typeface="+mn-ea"/>
                <a:cs typeface="+mn-cs"/>
              </a:rPr>
              <a:t>Allocating budget to support theft minimisation activity within the business – this may address:</a:t>
            </a:r>
          </a:p>
          <a:p>
            <a:pPr marL="628650" lvl="1" indent="-171450">
              <a:buFont typeface="Arial" pitchFamily="34" charset="0"/>
              <a:buChar char="•"/>
            </a:pPr>
            <a:r>
              <a:rPr lang="en-AU" sz="1200" kern="1200" dirty="0" smtClean="0">
                <a:solidFill>
                  <a:schemeClr val="tx1"/>
                </a:solidFill>
                <a:ea typeface="+mn-ea"/>
                <a:cs typeface="+mn-cs"/>
              </a:rPr>
              <a:t>Payment for consultants to analyse the business and prepare a report/recommendations for action</a:t>
            </a:r>
          </a:p>
          <a:p>
            <a:pPr marL="628650" lvl="1" indent="-171450">
              <a:buFont typeface="Arial" pitchFamily="34" charset="0"/>
              <a:buChar char="•"/>
            </a:pPr>
            <a:r>
              <a:rPr lang="en-AU" sz="1200" kern="1200" dirty="0" smtClean="0">
                <a:solidFill>
                  <a:schemeClr val="tx1"/>
                </a:solidFill>
                <a:ea typeface="+mn-ea"/>
                <a:cs typeface="+mn-cs"/>
              </a:rPr>
              <a:t>Purchase of security equipment, devices and technology</a:t>
            </a:r>
          </a:p>
          <a:p>
            <a:pPr marL="628650" lvl="1" indent="-171450">
              <a:buFont typeface="Arial" pitchFamily="34" charset="0"/>
              <a:buChar char="•"/>
            </a:pPr>
            <a:r>
              <a:rPr lang="en-AU" sz="1200" kern="1200" dirty="0" smtClean="0">
                <a:solidFill>
                  <a:schemeClr val="tx1"/>
                </a:solidFill>
                <a:ea typeface="+mn-ea"/>
                <a:cs typeface="+mn-cs"/>
              </a:rPr>
              <a:t>Implementation of identified security and anti-theft measures</a:t>
            </a:r>
          </a:p>
          <a:p>
            <a:pPr marL="628650" lvl="1" indent="-171450">
              <a:buFont typeface="Arial" pitchFamily="34" charset="0"/>
              <a:buChar char="•"/>
            </a:pPr>
            <a:r>
              <a:rPr lang="en-AU" sz="1200" kern="1200" dirty="0" smtClean="0">
                <a:solidFill>
                  <a:schemeClr val="tx1"/>
                </a:solidFill>
                <a:ea typeface="+mn-ea"/>
                <a:cs typeface="+mn-cs"/>
              </a:rPr>
              <a:t>Labour required to underpin implementation of approved strategies</a:t>
            </a:r>
          </a:p>
          <a:p>
            <a:pPr marL="171450" indent="-171450">
              <a:buFont typeface="Arial" pitchFamily="34" charset="0"/>
              <a:buChar char="•"/>
            </a:pPr>
            <a:r>
              <a:rPr lang="en-AU" sz="1200" kern="1200" dirty="0" smtClean="0">
                <a:solidFill>
                  <a:schemeClr val="tx1"/>
                </a:solidFill>
                <a:ea typeface="+mn-ea"/>
                <a:cs typeface="+mn-cs"/>
              </a:rPr>
              <a:t>Identifying relevant dates relating to the policy – these should cover:</a:t>
            </a:r>
          </a:p>
          <a:p>
            <a:pPr marL="628650" lvl="1" indent="-171450">
              <a:buFont typeface="Arial" pitchFamily="34" charset="0"/>
              <a:buChar char="•"/>
            </a:pPr>
            <a:r>
              <a:rPr lang="en-AU" sz="1200" kern="1200" dirty="0" smtClean="0">
                <a:solidFill>
                  <a:schemeClr val="tx1"/>
                </a:solidFill>
                <a:ea typeface="+mn-ea"/>
                <a:cs typeface="+mn-cs"/>
              </a:rPr>
              <a:t>Dates for initiating implementation</a:t>
            </a:r>
          </a:p>
          <a:p>
            <a:pPr marL="628650" lvl="1" indent="-171450">
              <a:buFont typeface="Arial" pitchFamily="34" charset="0"/>
              <a:buChar char="•"/>
            </a:pPr>
            <a:r>
              <a:rPr lang="en-AU" sz="1200" kern="1200" dirty="0" smtClean="0">
                <a:solidFill>
                  <a:schemeClr val="tx1"/>
                </a:solidFill>
                <a:ea typeface="+mn-ea"/>
                <a:cs typeface="+mn-cs"/>
              </a:rPr>
              <a:t>Dates for transition to full implementation</a:t>
            </a:r>
          </a:p>
          <a:p>
            <a:pPr marL="628650" lvl="1" indent="-171450">
              <a:buFont typeface="Arial" pitchFamily="34" charset="0"/>
              <a:buChar char="•"/>
            </a:pPr>
            <a:r>
              <a:rPr lang="en-AU" sz="1200" kern="1200" dirty="0" smtClean="0">
                <a:solidFill>
                  <a:schemeClr val="tx1"/>
                </a:solidFill>
                <a:ea typeface="+mn-ea"/>
                <a:cs typeface="+mn-cs"/>
              </a:rPr>
              <a:t>Dates for periodic review of protocols</a:t>
            </a:r>
          </a:p>
          <a:p>
            <a:pPr marL="628650" lvl="1" indent="-171450">
              <a:buFont typeface="Arial" pitchFamily="34" charset="0"/>
              <a:buChar char="•"/>
            </a:pPr>
            <a:r>
              <a:rPr lang="en-AU" sz="1200" kern="1200" dirty="0" smtClean="0">
                <a:solidFill>
                  <a:schemeClr val="tx1"/>
                </a:solidFill>
                <a:ea typeface="+mn-ea"/>
                <a:cs typeface="+mn-cs"/>
              </a:rPr>
              <a:t>Dates for policy review</a:t>
            </a:r>
          </a:p>
          <a:p>
            <a:pPr marL="171450" indent="-171450">
              <a:buFont typeface="Arial" pitchFamily="34" charset="0"/>
              <a:buChar char="•"/>
            </a:pPr>
            <a:r>
              <a:rPr lang="en-AU" sz="1200" kern="1200" dirty="0" smtClean="0">
                <a:solidFill>
                  <a:schemeClr val="tx1"/>
                </a:solidFill>
                <a:ea typeface="+mn-ea"/>
                <a:cs typeface="+mn-cs"/>
              </a:rPr>
              <a:t>Providing for version control of the policy – to allow:</a:t>
            </a:r>
          </a:p>
          <a:p>
            <a:pPr marL="628650" lvl="1" indent="-171450">
              <a:buFont typeface="Arial" pitchFamily="34" charset="0"/>
              <a:buChar char="•"/>
            </a:pPr>
            <a:r>
              <a:rPr lang="en-AU" sz="1200" kern="1200" dirty="0" smtClean="0">
                <a:solidFill>
                  <a:schemeClr val="tx1"/>
                </a:solidFill>
                <a:ea typeface="+mn-ea"/>
                <a:cs typeface="+mn-cs"/>
              </a:rPr>
              <a:t>Updates to be made and tracked</a:t>
            </a:r>
          </a:p>
          <a:p>
            <a:pPr marL="628650" lvl="1" indent="-171450">
              <a:buFont typeface="Arial" pitchFamily="34" charset="0"/>
              <a:buChar char="•"/>
            </a:pPr>
            <a:r>
              <a:rPr lang="en-AU" sz="1200" kern="1200" dirty="0" smtClean="0">
                <a:solidFill>
                  <a:schemeClr val="tx1"/>
                </a:solidFill>
                <a:ea typeface="+mn-ea"/>
                <a:cs typeface="+mn-cs"/>
              </a:rPr>
              <a:t>Easy reference to the most current version of the policy</a:t>
            </a:r>
          </a:p>
          <a:p>
            <a:pPr marL="628650" lvl="1" indent="-171450">
              <a:buFont typeface="Arial" pitchFamily="34" charset="0"/>
              <a:buChar char="•"/>
            </a:pPr>
            <a:r>
              <a:rPr lang="en-AU" sz="1200" kern="1200" dirty="0" smtClean="0">
                <a:solidFill>
                  <a:schemeClr val="tx1"/>
                </a:solidFill>
                <a:ea typeface="+mn-ea"/>
                <a:cs typeface="+mn-cs"/>
              </a:rPr>
              <a:t>Control over currency of the document/s</a:t>
            </a:r>
          </a:p>
          <a:p>
            <a:pPr marL="171450" indent="-171450">
              <a:buFont typeface="Arial" pitchFamily="34" charset="0"/>
              <a:buChar char="•"/>
            </a:pPr>
            <a:r>
              <a:rPr lang="en-AU" sz="1200" kern="1200" dirty="0" smtClean="0">
                <a:solidFill>
                  <a:schemeClr val="tx1"/>
                </a:solidFill>
                <a:ea typeface="+mn-ea"/>
                <a:cs typeface="+mn-cs"/>
              </a:rPr>
              <a:t>Integrating theft policy/policies into standard operating procedures for the business – this should include:</a:t>
            </a:r>
          </a:p>
          <a:p>
            <a:pPr marL="628650" lvl="1" indent="-171450">
              <a:buFont typeface="Arial" pitchFamily="34" charset="0"/>
              <a:buChar char="•"/>
            </a:pPr>
            <a:r>
              <a:rPr lang="en-AU" sz="1200" kern="1200" dirty="0" smtClean="0">
                <a:solidFill>
                  <a:schemeClr val="tx1"/>
                </a:solidFill>
                <a:ea typeface="+mn-ea"/>
                <a:cs typeface="+mn-cs"/>
              </a:rPr>
              <a:t>Inclusion of policy into standard induction and orientation procedures for new staff </a:t>
            </a:r>
          </a:p>
          <a:p>
            <a:pPr marL="628650" lvl="1" indent="-171450">
              <a:buFont typeface="Arial" pitchFamily="34" charset="0"/>
              <a:buChar char="•"/>
            </a:pPr>
            <a:r>
              <a:rPr lang="en-AU" sz="1200" kern="1200" dirty="0" smtClean="0">
                <a:solidFill>
                  <a:schemeClr val="tx1"/>
                </a:solidFill>
                <a:ea typeface="+mn-ea"/>
                <a:cs typeface="+mn-cs"/>
              </a:rPr>
              <a:t>Insertion into the organisational policy manual – in hard copy and electronic format (that is, in paper form, and on the intranet)</a:t>
            </a:r>
          </a:p>
          <a:p>
            <a:pPr marL="628650" lvl="1" indent="-171450">
              <a:buFont typeface="Arial" pitchFamily="34" charset="0"/>
              <a:buChar char="•"/>
            </a:pPr>
            <a:r>
              <a:rPr lang="en-AU" sz="1200" kern="1200" dirty="0" smtClean="0">
                <a:solidFill>
                  <a:schemeClr val="tx1"/>
                </a:solidFill>
                <a:ea typeface="+mn-ea"/>
                <a:cs typeface="+mn-cs"/>
              </a:rPr>
              <a:t>Coverage of policy in formal in-house training</a:t>
            </a:r>
          </a:p>
          <a:p>
            <a:pPr marL="628650" lvl="1" indent="-171450">
              <a:buFont typeface="Arial" pitchFamily="34" charset="0"/>
              <a:buChar char="•"/>
            </a:pPr>
            <a:r>
              <a:rPr lang="en-AU" sz="1200" kern="1200" dirty="0" smtClean="0">
                <a:solidFill>
                  <a:schemeClr val="tx1"/>
                </a:solidFill>
                <a:ea typeface="+mn-ea"/>
                <a:cs typeface="+mn-cs"/>
              </a:rPr>
              <a:t>Creation of workplace-based operational checklists and site inspection documentation.</a:t>
            </a:r>
          </a:p>
          <a:p>
            <a:pPr>
              <a:buFont typeface="Arial" pitchFamily="34" charset="0"/>
              <a:buNone/>
            </a:pPr>
            <a:endParaRPr lang="en-US" b="1" dirty="0" smtClean="0"/>
          </a:p>
          <a:p>
            <a:pPr>
              <a:buFont typeface="Arial" pitchFamily="34" charset="0"/>
              <a:buNone/>
            </a:pPr>
            <a:r>
              <a:rPr lang="en-US" b="1" dirty="0" smtClean="0"/>
              <a:t>Classroom Activity</a:t>
            </a:r>
          </a:p>
          <a:p>
            <a:pPr>
              <a:buFont typeface="Arial" pitchFamily="34" charset="0"/>
              <a:buNone/>
            </a:pPr>
            <a:r>
              <a:rPr lang="en-US" b="0" dirty="0" smtClean="0"/>
              <a:t>Trainer asks students to identify topics for theft policies.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 xmlns:p14="http://schemas.microsoft.com/office/powerpoint/2010/main" val="33160954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possible topics for theft policies:</a:t>
            </a:r>
          </a:p>
          <a:p>
            <a:pPr marL="171450" indent="-171450">
              <a:buFont typeface="Arial" pitchFamily="34" charset="0"/>
              <a:buChar char="•"/>
            </a:pPr>
            <a:r>
              <a:rPr lang="en-AU" sz="1200" kern="1200" dirty="0" smtClean="0">
                <a:solidFill>
                  <a:schemeClr val="tx1"/>
                </a:solidFill>
                <a:ea typeface="+mn-ea"/>
                <a:cs typeface="+mn-cs"/>
              </a:rPr>
              <a:t>Customers – covering issues such as:</a:t>
            </a:r>
          </a:p>
          <a:p>
            <a:pPr marL="628650" lvl="1" indent="-171450">
              <a:buFont typeface="Arial" pitchFamily="34" charset="0"/>
              <a:buChar char="•"/>
            </a:pPr>
            <a:r>
              <a:rPr lang="en-AU" sz="1200" kern="1200" dirty="0" smtClean="0">
                <a:solidFill>
                  <a:schemeClr val="tx1"/>
                </a:solidFill>
                <a:ea typeface="+mn-ea"/>
                <a:cs typeface="+mn-cs"/>
              </a:rPr>
              <a:t>Bag checks </a:t>
            </a:r>
          </a:p>
          <a:p>
            <a:pPr marL="628650" lvl="1" indent="-171450">
              <a:buFont typeface="Arial" pitchFamily="34" charset="0"/>
              <a:buChar char="•"/>
            </a:pPr>
            <a:r>
              <a:rPr lang="en-AU" sz="1200" kern="1200" dirty="0" smtClean="0">
                <a:solidFill>
                  <a:schemeClr val="tx1"/>
                </a:solidFill>
                <a:ea typeface="+mn-ea"/>
                <a:cs typeface="+mn-cs"/>
              </a:rPr>
              <a:t>Action to take when a customer is suspected of stealing</a:t>
            </a:r>
          </a:p>
          <a:p>
            <a:pPr marL="628650" lvl="1" indent="-171450">
              <a:buFont typeface="Arial" pitchFamily="34" charset="0"/>
              <a:buChar char="•"/>
            </a:pPr>
            <a:r>
              <a:rPr lang="en-AU" sz="1200" kern="1200" dirty="0" smtClean="0">
                <a:solidFill>
                  <a:schemeClr val="tx1"/>
                </a:solidFill>
                <a:ea typeface="+mn-ea"/>
                <a:cs typeface="+mn-cs"/>
              </a:rPr>
              <a:t>Action to take when a suspicious customer is identified</a:t>
            </a:r>
          </a:p>
          <a:p>
            <a:pPr marL="628650" lvl="1" indent="-171450">
              <a:buFont typeface="Arial" pitchFamily="34" charset="0"/>
              <a:buChar char="•"/>
            </a:pPr>
            <a:r>
              <a:rPr lang="en-AU" sz="1200" kern="1200" dirty="0" smtClean="0">
                <a:solidFill>
                  <a:schemeClr val="tx1"/>
                </a:solidFill>
                <a:ea typeface="+mn-ea"/>
                <a:cs typeface="+mn-cs"/>
              </a:rPr>
              <a:t>Greetings and farewells to customers to deter thieves</a:t>
            </a:r>
          </a:p>
          <a:p>
            <a:pPr marL="171450" indent="-171450">
              <a:buFont typeface="Arial" pitchFamily="34" charset="0"/>
              <a:buChar char="•"/>
            </a:pPr>
            <a:r>
              <a:rPr lang="en-AU" sz="1200" kern="1200" dirty="0" smtClean="0">
                <a:solidFill>
                  <a:schemeClr val="tx1"/>
                </a:solidFill>
                <a:ea typeface="+mn-ea"/>
                <a:cs typeface="+mn-cs"/>
              </a:rPr>
              <a:t>Staff – providing direction on issues such as:</a:t>
            </a:r>
          </a:p>
          <a:p>
            <a:pPr marL="628650" lvl="1" indent="-171450">
              <a:buFont typeface="Arial" pitchFamily="34" charset="0"/>
              <a:buChar char="•"/>
            </a:pPr>
            <a:r>
              <a:rPr lang="en-AU" sz="1200" kern="1200" dirty="0" smtClean="0">
                <a:solidFill>
                  <a:schemeClr val="tx1"/>
                </a:solidFill>
                <a:ea typeface="+mn-ea"/>
                <a:cs typeface="+mn-cs"/>
              </a:rPr>
              <a:t>Storing of staff property/belongings while at work</a:t>
            </a:r>
          </a:p>
          <a:p>
            <a:pPr marL="628650" lvl="1" indent="-171450">
              <a:buFont typeface="Arial" pitchFamily="34" charset="0"/>
              <a:buChar char="•"/>
            </a:pPr>
            <a:r>
              <a:rPr lang="en-AU" sz="1200" kern="1200" dirty="0" smtClean="0">
                <a:solidFill>
                  <a:schemeClr val="tx1"/>
                </a:solidFill>
                <a:ea typeface="+mn-ea"/>
                <a:cs typeface="+mn-cs"/>
              </a:rPr>
              <a:t>Points of entry on arriving at work and points of exit on leaving work</a:t>
            </a:r>
          </a:p>
          <a:p>
            <a:pPr marL="628650" lvl="1" indent="-171450">
              <a:buFont typeface="Arial" pitchFamily="34" charset="0"/>
              <a:buChar char="•"/>
            </a:pPr>
            <a:r>
              <a:rPr lang="en-AU" sz="1200" kern="1200" dirty="0" smtClean="0">
                <a:solidFill>
                  <a:schemeClr val="tx1"/>
                </a:solidFill>
                <a:ea typeface="+mn-ea"/>
                <a:cs typeface="+mn-cs"/>
              </a:rPr>
              <a:t>Notification to staff of workplace surveillance that exists</a:t>
            </a:r>
          </a:p>
          <a:p>
            <a:pPr marL="171450" indent="-171450">
              <a:buFont typeface="Arial" pitchFamily="34" charset="0"/>
              <a:buChar char="•"/>
            </a:pPr>
            <a:r>
              <a:rPr lang="en-AU" sz="1200" kern="1200" dirty="0" smtClean="0">
                <a:solidFill>
                  <a:schemeClr val="tx1"/>
                </a:solidFill>
                <a:ea typeface="+mn-ea"/>
                <a:cs typeface="+mn-cs"/>
              </a:rPr>
              <a:t>Keys – addressing issues such as:</a:t>
            </a:r>
          </a:p>
          <a:p>
            <a:pPr marL="628650" lvl="1" indent="-171450">
              <a:buFont typeface="Arial" pitchFamily="34" charset="0"/>
              <a:buChar char="•"/>
            </a:pPr>
            <a:r>
              <a:rPr lang="en-AU" sz="1200" kern="1200" dirty="0" smtClean="0">
                <a:solidFill>
                  <a:schemeClr val="tx1"/>
                </a:solidFill>
                <a:ea typeface="+mn-ea"/>
                <a:cs typeface="+mn-cs"/>
              </a:rPr>
              <a:t>Security and issuing of keys to staff</a:t>
            </a:r>
          </a:p>
          <a:p>
            <a:pPr marL="628650" lvl="1" indent="-171450">
              <a:buFont typeface="Arial" pitchFamily="34" charset="0"/>
              <a:buChar char="•"/>
            </a:pPr>
            <a:r>
              <a:rPr lang="en-AU" sz="1200" kern="1200" dirty="0" smtClean="0">
                <a:solidFill>
                  <a:schemeClr val="tx1"/>
                </a:solidFill>
                <a:ea typeface="+mn-ea"/>
                <a:cs typeface="+mn-cs"/>
              </a:rPr>
              <a:t>Protocols for use of keys </a:t>
            </a:r>
          </a:p>
          <a:p>
            <a:pPr marL="628650" lvl="1" indent="-171450">
              <a:buFont typeface="Arial" pitchFamily="34" charset="0"/>
              <a:buChar char="•"/>
            </a:pPr>
            <a:r>
              <a:rPr lang="en-AU" sz="1200" kern="1200" dirty="0" smtClean="0">
                <a:solidFill>
                  <a:schemeClr val="tx1"/>
                </a:solidFill>
                <a:ea typeface="+mn-ea"/>
                <a:cs typeface="+mn-cs"/>
              </a:rPr>
              <a:t>Authorisation for key distribution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 xmlns:p14="http://schemas.microsoft.com/office/powerpoint/2010/main" val="24166875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US" dirty="0" smtClean="0"/>
              <a:t>Trainer continues identifying possible topics for theft policies:</a:t>
            </a:r>
          </a:p>
          <a:p>
            <a:pPr marL="171450" indent="-171450">
              <a:buFont typeface="Arial" pitchFamily="34" charset="0"/>
              <a:buChar char="•"/>
            </a:pPr>
            <a:r>
              <a:rPr lang="en-AU" sz="1200" kern="1200" dirty="0" smtClean="0">
                <a:solidFill>
                  <a:schemeClr val="tx1"/>
                </a:solidFill>
                <a:ea typeface="+mn-ea"/>
                <a:cs typeface="+mn-cs"/>
              </a:rPr>
              <a:t>Visitors to the organisation – taking into account:</a:t>
            </a:r>
          </a:p>
          <a:p>
            <a:pPr marL="628650" lvl="1" indent="-171450">
              <a:buFont typeface="Arial" pitchFamily="34" charset="0"/>
              <a:buChar char="•"/>
            </a:pPr>
            <a:r>
              <a:rPr lang="en-AU" sz="1200" kern="1200" dirty="0" smtClean="0">
                <a:solidFill>
                  <a:schemeClr val="tx1"/>
                </a:solidFill>
                <a:ea typeface="+mn-ea"/>
                <a:cs typeface="+mn-cs"/>
              </a:rPr>
              <a:t>Signing in, monitoring and signing out of sales representatives, contractors and vendors</a:t>
            </a:r>
          </a:p>
          <a:p>
            <a:pPr marL="628650" lvl="1" indent="-171450">
              <a:buFont typeface="Arial" pitchFamily="34" charset="0"/>
              <a:buChar char="•"/>
            </a:pPr>
            <a:r>
              <a:rPr lang="en-AU" sz="1200" kern="1200" dirty="0" smtClean="0">
                <a:solidFill>
                  <a:schemeClr val="tx1"/>
                </a:solidFill>
                <a:ea typeface="+mn-ea"/>
                <a:cs typeface="+mn-cs"/>
              </a:rPr>
              <a:t>Issuing and wearing of identification tags</a:t>
            </a:r>
          </a:p>
          <a:p>
            <a:pPr marL="171450" indent="-171450">
              <a:buFont typeface="Arial" pitchFamily="34" charset="0"/>
              <a:buChar char="•"/>
            </a:pPr>
            <a:r>
              <a:rPr lang="en-AU" sz="1200" kern="1200" dirty="0" smtClean="0">
                <a:solidFill>
                  <a:schemeClr val="tx1"/>
                </a:solidFill>
                <a:ea typeface="+mn-ea"/>
                <a:cs typeface="+mn-cs"/>
              </a:rPr>
              <a:t>Stock – looking at:</a:t>
            </a:r>
          </a:p>
          <a:p>
            <a:pPr marL="628650" lvl="1" indent="-171450">
              <a:buFont typeface="Arial" pitchFamily="34" charset="0"/>
              <a:buChar char="•"/>
            </a:pPr>
            <a:r>
              <a:rPr lang="en-AU" sz="1200" kern="1200" dirty="0" smtClean="0">
                <a:solidFill>
                  <a:schemeClr val="tx1"/>
                </a:solidFill>
                <a:ea typeface="+mn-ea"/>
                <a:cs typeface="+mn-cs"/>
              </a:rPr>
              <a:t>Identification of authorities and limitations for the placement of orders on behalf of the business</a:t>
            </a:r>
          </a:p>
          <a:p>
            <a:pPr marL="628650" lvl="1" indent="-171450">
              <a:buFont typeface="Arial" pitchFamily="34" charset="0"/>
              <a:buChar char="•"/>
            </a:pPr>
            <a:r>
              <a:rPr lang="en-AU" sz="1200" kern="1200" dirty="0" smtClean="0">
                <a:solidFill>
                  <a:schemeClr val="tx1"/>
                </a:solidFill>
                <a:ea typeface="+mn-ea"/>
                <a:cs typeface="+mn-cs"/>
              </a:rPr>
              <a:t>Stock management protocols for the stock control system being used</a:t>
            </a:r>
          </a:p>
          <a:p>
            <a:pPr marL="628650" lvl="1" indent="-171450">
              <a:buFont typeface="Arial" pitchFamily="34" charset="0"/>
              <a:buChar char="•"/>
            </a:pPr>
            <a:r>
              <a:rPr lang="en-AU" sz="1200" kern="1200" dirty="0" smtClean="0">
                <a:solidFill>
                  <a:schemeClr val="tx1"/>
                </a:solidFill>
                <a:ea typeface="+mn-ea"/>
                <a:cs typeface="+mn-cs"/>
              </a:rPr>
              <a:t>Stock taking procedures</a:t>
            </a:r>
          </a:p>
          <a:p>
            <a:pPr marL="628650" lvl="1" indent="-171450">
              <a:buFont typeface="Arial" pitchFamily="34" charset="0"/>
              <a:buChar char="•"/>
            </a:pPr>
            <a:r>
              <a:rPr lang="en-AU" sz="1200" kern="1200" dirty="0" smtClean="0">
                <a:solidFill>
                  <a:schemeClr val="tx1"/>
                </a:solidFill>
                <a:ea typeface="+mn-ea"/>
                <a:cs typeface="+mn-cs"/>
              </a:rPr>
              <a:t>Security of stock while in storage</a:t>
            </a:r>
          </a:p>
          <a:p>
            <a:pPr marL="628650" lvl="1" indent="-171450">
              <a:buFont typeface="Arial" pitchFamily="34" charset="0"/>
              <a:buChar char="•"/>
            </a:pPr>
            <a:r>
              <a:rPr lang="en-AU" sz="1200" kern="1200" dirty="0" smtClean="0">
                <a:solidFill>
                  <a:schemeClr val="tx1"/>
                </a:solidFill>
                <a:ea typeface="+mn-ea"/>
                <a:cs typeface="+mn-cs"/>
              </a:rPr>
              <a:t>Security of stock when it is on display</a:t>
            </a:r>
          </a:p>
          <a:p>
            <a:pPr marL="171450" indent="-171450">
              <a:buFont typeface="Arial" pitchFamily="34" charset="0"/>
              <a:buChar char="•"/>
            </a:pPr>
            <a:r>
              <a:rPr lang="en-AU" sz="1200" kern="1200" dirty="0" smtClean="0">
                <a:solidFill>
                  <a:schemeClr val="tx1"/>
                </a:solidFill>
                <a:ea typeface="+mn-ea"/>
                <a:cs typeface="+mn-cs"/>
              </a:rPr>
              <a:t>Business performance records – addressing issues such as:</a:t>
            </a:r>
          </a:p>
          <a:p>
            <a:pPr marL="628650" lvl="1" indent="-171450">
              <a:buFont typeface="Arial" pitchFamily="34" charset="0"/>
              <a:buChar char="•"/>
            </a:pPr>
            <a:r>
              <a:rPr lang="en-AU" sz="1200" kern="1200" dirty="0" smtClean="0">
                <a:solidFill>
                  <a:schemeClr val="tx1"/>
                </a:solidFill>
                <a:ea typeface="+mn-ea"/>
                <a:cs typeface="+mn-cs"/>
              </a:rPr>
              <a:t>Identification of relevant stock control documentation (electronic and paper-based), including authority to complete and/or responsibility for completion</a:t>
            </a:r>
          </a:p>
          <a:p>
            <a:pPr marL="628650" lvl="1" indent="-171450">
              <a:buFont typeface="Arial" pitchFamily="34" charset="0"/>
              <a:buChar char="•"/>
            </a:pPr>
            <a:r>
              <a:rPr lang="en-AU" sz="1200" kern="1200" dirty="0" smtClean="0">
                <a:solidFill>
                  <a:schemeClr val="tx1"/>
                </a:solidFill>
                <a:ea typeface="+mn-ea"/>
                <a:cs typeface="+mn-cs"/>
              </a:rPr>
              <a:t>Signatures required on specified documents to validate their authenticity</a:t>
            </a:r>
          </a:p>
          <a:p>
            <a:pPr marL="628650" lvl="1" indent="-171450">
              <a:buFont typeface="Arial" pitchFamily="34" charset="0"/>
              <a:buChar char="•"/>
            </a:pPr>
            <a:r>
              <a:rPr lang="en-AU" sz="1200" kern="1200" dirty="0" smtClean="0">
                <a:solidFill>
                  <a:schemeClr val="tx1"/>
                </a:solidFill>
                <a:ea typeface="+mn-ea"/>
                <a:cs typeface="+mn-cs"/>
              </a:rPr>
              <a:t>Alignment of specified forms/documents with nominated stock control (or other) activities</a:t>
            </a:r>
          </a:p>
          <a:p>
            <a:pPr marL="171450" indent="-171450">
              <a:buFont typeface="Arial" pitchFamily="34" charset="0"/>
              <a:buChar char="•"/>
            </a:pPr>
            <a:r>
              <a:rPr lang="en-AU" sz="1200" kern="1200" dirty="0" smtClean="0">
                <a:solidFill>
                  <a:schemeClr val="tx1"/>
                </a:solidFill>
                <a:ea typeface="+mn-ea"/>
                <a:cs typeface="+mn-cs"/>
              </a:rPr>
              <a:t>Cash and non-cash transactions  – specifying:</a:t>
            </a:r>
          </a:p>
          <a:p>
            <a:pPr marL="628650" lvl="1" indent="-171450">
              <a:buFont typeface="Arial" pitchFamily="34" charset="0"/>
              <a:buChar char="•"/>
            </a:pPr>
            <a:r>
              <a:rPr lang="en-AU" sz="1200" kern="1200" dirty="0" smtClean="0">
                <a:solidFill>
                  <a:schemeClr val="tx1"/>
                </a:solidFill>
                <a:ea typeface="+mn-ea"/>
                <a:cs typeface="+mn-cs"/>
              </a:rPr>
              <a:t>Procedures for secure keeping of cash on the premises</a:t>
            </a:r>
          </a:p>
          <a:p>
            <a:pPr marL="628650" lvl="1" indent="-171450">
              <a:buFont typeface="Arial" pitchFamily="34" charset="0"/>
              <a:buChar char="•"/>
            </a:pPr>
            <a:r>
              <a:rPr lang="en-AU" sz="1200" kern="1200" dirty="0" smtClean="0">
                <a:solidFill>
                  <a:schemeClr val="tx1"/>
                </a:solidFill>
                <a:ea typeface="+mn-ea"/>
                <a:cs typeface="+mn-cs"/>
              </a:rPr>
              <a:t>Procedures for movement of cash into and out of the business</a:t>
            </a:r>
          </a:p>
          <a:p>
            <a:pPr marL="628650" lvl="1" indent="-171450">
              <a:buFont typeface="Arial" pitchFamily="34" charset="0"/>
              <a:buChar char="•"/>
            </a:pPr>
            <a:r>
              <a:rPr lang="en-AU" sz="1200" kern="1200" dirty="0" smtClean="0">
                <a:solidFill>
                  <a:schemeClr val="tx1"/>
                </a:solidFill>
                <a:ea typeface="+mn-ea"/>
                <a:cs typeface="+mn-cs"/>
              </a:rPr>
              <a:t>Cash handling protocols</a:t>
            </a:r>
          </a:p>
          <a:p>
            <a:pPr marL="628650" lvl="1" indent="-171450">
              <a:buFont typeface="Arial" pitchFamily="34" charset="0"/>
              <a:buChar char="•"/>
            </a:pPr>
            <a:r>
              <a:rPr lang="en-AU" sz="1200" kern="1200" dirty="0" smtClean="0">
                <a:solidFill>
                  <a:schemeClr val="tx1"/>
                </a:solidFill>
                <a:ea typeface="+mn-ea"/>
                <a:cs typeface="+mn-cs"/>
              </a:rPr>
              <a:t>Procedures for accepting payment by the non-cash options available in the organisation</a:t>
            </a:r>
          </a:p>
          <a:p>
            <a:pPr marL="628650" lvl="1" indent="-171450">
              <a:buFont typeface="Arial" pitchFamily="34" charset="0"/>
              <a:buChar char="•"/>
            </a:pPr>
            <a:r>
              <a:rPr lang="en-AU" sz="1200" kern="1200" dirty="0" smtClean="0">
                <a:solidFill>
                  <a:schemeClr val="tx1"/>
                </a:solidFill>
                <a:ea typeface="+mn-ea"/>
                <a:cs typeface="+mn-cs"/>
              </a:rPr>
              <a:t>Banking procedures</a:t>
            </a:r>
          </a:p>
          <a:p>
            <a:pPr>
              <a:buFont typeface="Arial" pitchFamily="34" charset="0"/>
              <a:buNone/>
            </a:pPr>
            <a:endParaRPr lang="en-US" dirty="0" smtClean="0"/>
          </a:p>
          <a:p>
            <a:pPr>
              <a:buFont typeface="Arial" pitchFamily="34" charset="0"/>
              <a:buNone/>
            </a:pPr>
            <a:r>
              <a:rPr lang="en-US" b="1" dirty="0" smtClean="0"/>
              <a:t>Classroom Activity</a:t>
            </a:r>
          </a:p>
          <a:p>
            <a:pPr>
              <a:buFont typeface="Arial" pitchFamily="34" charset="0"/>
              <a:buNone/>
            </a:pPr>
            <a:r>
              <a:rPr lang="en-US" b="0" dirty="0" smtClean="0"/>
              <a:t>Trainer shows copy of Visitor sign-in register and demonstrates use of same.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 xmlns:p14="http://schemas.microsoft.com/office/powerpoint/2010/main" val="4880361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possible topics for theft policies:</a:t>
            </a:r>
          </a:p>
          <a:p>
            <a:pPr marL="171450" indent="-171450">
              <a:buFont typeface="Arial" pitchFamily="34" charset="0"/>
              <a:buChar char="•"/>
            </a:pPr>
            <a:r>
              <a:rPr lang="en-AU" sz="1200" kern="1200" dirty="0" smtClean="0">
                <a:solidFill>
                  <a:schemeClr val="tx1"/>
                </a:solidFill>
                <a:ea typeface="+mn-ea"/>
                <a:cs typeface="+mn-cs"/>
              </a:rPr>
              <a:t>Security equipment and systems – embracing operational procedures relating to(as appropriate):</a:t>
            </a:r>
          </a:p>
          <a:p>
            <a:pPr marL="628650" lvl="1" indent="-171450">
              <a:buFont typeface="Arial" pitchFamily="34" charset="0"/>
              <a:buChar char="•"/>
            </a:pPr>
            <a:r>
              <a:rPr lang="en-AU" sz="1200" kern="1200" dirty="0" smtClean="0">
                <a:solidFill>
                  <a:schemeClr val="tx1"/>
                </a:solidFill>
                <a:ea typeface="+mn-ea"/>
                <a:cs typeface="+mn-cs"/>
              </a:rPr>
              <a:t>Alarms</a:t>
            </a:r>
          </a:p>
          <a:p>
            <a:pPr marL="628650" lvl="1" indent="-171450">
              <a:buFont typeface="Arial" pitchFamily="34" charset="0"/>
              <a:buChar char="•"/>
            </a:pPr>
            <a:r>
              <a:rPr lang="en-AU" sz="1200" kern="1200" dirty="0" smtClean="0">
                <a:solidFill>
                  <a:schemeClr val="tx1"/>
                </a:solidFill>
                <a:ea typeface="+mn-ea"/>
                <a:cs typeface="+mn-cs"/>
              </a:rPr>
              <a:t>Video surveillance</a:t>
            </a:r>
          </a:p>
          <a:p>
            <a:pPr marL="628650" lvl="1" indent="-171450">
              <a:buFont typeface="Arial" pitchFamily="34" charset="0"/>
              <a:buChar char="•"/>
            </a:pPr>
            <a:r>
              <a:rPr lang="en-AU" sz="1200" kern="1200" dirty="0" smtClean="0">
                <a:solidFill>
                  <a:schemeClr val="tx1"/>
                </a:solidFill>
                <a:ea typeface="+mn-ea"/>
                <a:cs typeface="+mn-cs"/>
              </a:rPr>
              <a:t>Mirrors</a:t>
            </a:r>
          </a:p>
          <a:p>
            <a:pPr marL="628650" lvl="1" indent="-171450">
              <a:buFont typeface="Arial" pitchFamily="34" charset="0"/>
              <a:buChar char="•"/>
            </a:pPr>
            <a:r>
              <a:rPr lang="en-AU" sz="1200" kern="1200" dirty="0" smtClean="0">
                <a:solidFill>
                  <a:schemeClr val="tx1"/>
                </a:solidFill>
                <a:ea typeface="+mn-ea"/>
                <a:cs typeface="+mn-cs"/>
              </a:rPr>
              <a:t>Security tags</a:t>
            </a:r>
          </a:p>
          <a:p>
            <a:pPr marL="171450" indent="-171450">
              <a:buFont typeface="Arial" pitchFamily="34" charset="0"/>
              <a:buChar char="•"/>
            </a:pPr>
            <a:r>
              <a:rPr lang="en-AU" sz="1200" kern="1200" dirty="0" smtClean="0">
                <a:solidFill>
                  <a:schemeClr val="tx1"/>
                </a:solidFill>
                <a:ea typeface="+mn-ea"/>
                <a:cs typeface="+mn-cs"/>
              </a:rPr>
              <a:t>Locked and secured areas – identifying:</a:t>
            </a:r>
          </a:p>
          <a:p>
            <a:pPr marL="628650" lvl="1" indent="-171450">
              <a:buFont typeface="Arial" pitchFamily="34" charset="0"/>
              <a:buChar char="•"/>
            </a:pPr>
            <a:r>
              <a:rPr lang="en-AU" sz="1200" kern="1200" dirty="0" smtClean="0">
                <a:solidFill>
                  <a:schemeClr val="tx1"/>
                </a:solidFill>
                <a:ea typeface="+mn-ea"/>
                <a:cs typeface="+mn-cs"/>
              </a:rPr>
              <a:t>Description of restricted areas</a:t>
            </a:r>
          </a:p>
          <a:p>
            <a:pPr marL="628650" lvl="1" indent="-171450">
              <a:buFont typeface="Arial" pitchFamily="34" charset="0"/>
              <a:buChar char="•"/>
            </a:pPr>
            <a:r>
              <a:rPr lang="en-AU" sz="1200" kern="1200" dirty="0" smtClean="0">
                <a:solidFill>
                  <a:schemeClr val="tx1"/>
                </a:solidFill>
                <a:ea typeface="+mn-ea"/>
                <a:cs typeface="+mn-cs"/>
              </a:rPr>
              <a:t>Identification of persons authorised to enter restricted areas</a:t>
            </a:r>
          </a:p>
          <a:p>
            <a:pPr marL="628650" lvl="1" indent="-171450">
              <a:buFont typeface="Arial" pitchFamily="34" charset="0"/>
              <a:buChar char="•"/>
            </a:pPr>
            <a:r>
              <a:rPr lang="en-AU" sz="1200" kern="1200" dirty="0" smtClean="0">
                <a:solidFill>
                  <a:schemeClr val="tx1"/>
                </a:solidFill>
                <a:ea typeface="+mn-ea"/>
                <a:cs typeface="+mn-cs"/>
              </a:rPr>
              <a:t>Identification of any time limitations that apply to entry to restricted areas</a:t>
            </a:r>
          </a:p>
          <a:p>
            <a:pPr marL="171450" indent="-171450">
              <a:buFont typeface="Arial" pitchFamily="34" charset="0"/>
              <a:buChar char="•"/>
            </a:pPr>
            <a:r>
              <a:rPr lang="en-AU" sz="1200" kern="1200" dirty="0" smtClean="0">
                <a:solidFill>
                  <a:schemeClr val="tx1"/>
                </a:solidFill>
                <a:ea typeface="+mn-ea"/>
                <a:cs typeface="+mn-cs"/>
              </a:rPr>
              <a:t>Premises security – addressing issues such as:</a:t>
            </a:r>
          </a:p>
          <a:p>
            <a:pPr marL="628650" lvl="1" indent="-171450">
              <a:buFont typeface="Arial" pitchFamily="34" charset="0"/>
              <a:buChar char="•"/>
            </a:pPr>
            <a:r>
              <a:rPr lang="en-AU" sz="1200" kern="1200" dirty="0" smtClean="0">
                <a:solidFill>
                  <a:schemeClr val="tx1"/>
                </a:solidFill>
                <a:ea typeface="+mn-ea"/>
                <a:cs typeface="+mn-cs"/>
              </a:rPr>
              <a:t>Lock-up procedures at end of trade</a:t>
            </a:r>
          </a:p>
          <a:p>
            <a:pPr marL="628650" lvl="1" indent="-171450">
              <a:buFont typeface="Arial" pitchFamily="34" charset="0"/>
              <a:buChar char="•"/>
            </a:pPr>
            <a:r>
              <a:rPr lang="en-AU" sz="1200" kern="1200" dirty="0" smtClean="0">
                <a:solidFill>
                  <a:schemeClr val="tx1"/>
                </a:solidFill>
                <a:ea typeface="+mn-ea"/>
                <a:cs typeface="+mn-cs"/>
              </a:rPr>
              <a:t>Use of Static guards and Loss Prevention Officers</a:t>
            </a:r>
          </a:p>
          <a:p>
            <a:pPr marL="171450" indent="-171450">
              <a:buFont typeface="Arial" pitchFamily="34" charset="0"/>
              <a:buChar char="•"/>
            </a:pPr>
            <a:r>
              <a:rPr lang="en-AU" sz="1200" kern="1200" dirty="0" smtClean="0">
                <a:solidFill>
                  <a:schemeClr val="tx1"/>
                </a:solidFill>
                <a:ea typeface="+mn-ea"/>
                <a:cs typeface="+mn-cs"/>
              </a:rPr>
              <a:t>Armed hold-up  – giving detail about:</a:t>
            </a:r>
          </a:p>
          <a:p>
            <a:pPr marL="628650" lvl="1" indent="-171450">
              <a:buFont typeface="Arial" pitchFamily="34" charset="0"/>
              <a:buChar char="•"/>
            </a:pPr>
            <a:r>
              <a:rPr lang="en-AU" sz="1200" kern="1200" dirty="0" smtClean="0">
                <a:solidFill>
                  <a:schemeClr val="tx1"/>
                </a:solidFill>
                <a:ea typeface="+mn-ea"/>
                <a:cs typeface="+mn-cs"/>
              </a:rPr>
              <a:t>Standard procedure for staff in the event of an armed hold</a:t>
            </a:r>
          </a:p>
          <a:p>
            <a:pPr marL="628650" lvl="1" indent="-171450">
              <a:buFont typeface="Arial" pitchFamily="34" charset="0"/>
              <a:buChar char="•"/>
            </a:pPr>
            <a:r>
              <a:rPr lang="en-AU" sz="1200" kern="1200" dirty="0" smtClean="0">
                <a:solidFill>
                  <a:schemeClr val="tx1"/>
                </a:solidFill>
                <a:ea typeface="+mn-ea"/>
                <a:cs typeface="+mn-cs"/>
              </a:rPr>
              <a:t>Notification protocols following an armed hold-up</a:t>
            </a:r>
          </a:p>
          <a:p>
            <a:pPr marL="628650" lvl="1" indent="-171450">
              <a:buFont typeface="Arial" pitchFamily="34" charset="0"/>
              <a:buChar char="•"/>
            </a:pPr>
            <a:r>
              <a:rPr lang="en-AU" sz="1200" kern="1200" dirty="0" smtClean="0">
                <a:solidFill>
                  <a:schemeClr val="tx1"/>
                </a:solidFill>
                <a:ea typeface="+mn-ea"/>
                <a:cs typeface="+mn-cs"/>
              </a:rPr>
              <a:t>Other procedures to follow after a hold-up – which will usually be contained in the Emergency Management Plan for the business.</a:t>
            </a:r>
          </a:p>
          <a:p>
            <a:pPr>
              <a:buFont typeface="Arial" pitchFamily="34" charset="0"/>
              <a:buNone/>
            </a:pPr>
            <a:endParaRPr lang="en-US" dirty="0" smtClean="0"/>
          </a:p>
          <a:p>
            <a:pPr>
              <a:buFont typeface="Arial" pitchFamily="34" charset="0"/>
              <a:buNone/>
            </a:pPr>
            <a:r>
              <a:rPr lang="en-US" b="1" dirty="0" smtClean="0"/>
              <a:t>Classroom Activity</a:t>
            </a:r>
          </a:p>
          <a:p>
            <a:pPr>
              <a:buFont typeface="Arial" pitchFamily="34" charset="0"/>
              <a:buNone/>
            </a:pPr>
            <a:r>
              <a:rPr lang="en-US" b="0" dirty="0" smtClean="0"/>
              <a:t>Trainer arranges Guest Speaker to talk to students about various theft policies used by their organisation, and share sample policies with the group.</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 xmlns:p14="http://schemas.microsoft.com/office/powerpoint/2010/main" val="26835787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t>
            </a:r>
            <a:r>
              <a:rPr lang="en-AU" sz="1200" kern="1200" dirty="0" smtClean="0">
                <a:solidFill>
                  <a:schemeClr val="tx1"/>
                </a:solidFill>
                <a:ea typeface="+mn-ea"/>
                <a:cs typeface="+mn-cs"/>
              </a:rPr>
              <a:t>a procedure is a statement of tasks and associated methods for the conduct of specific work activities.</a:t>
            </a:r>
          </a:p>
          <a:p>
            <a:r>
              <a:rPr lang="en-AU" sz="1200" kern="1200" dirty="0" smtClean="0">
                <a:solidFill>
                  <a:schemeClr val="tx1"/>
                </a:solidFill>
                <a:ea typeface="+mn-ea"/>
                <a:cs typeface="+mn-cs"/>
              </a:rPr>
              <a:t>They can vary enormously in format ranging from detailed step-by-step instructions through to very generic and quite simplistic ‘checklists’.</a:t>
            </a:r>
          </a:p>
          <a:p>
            <a:endParaRPr lang="en-US" sz="1200" kern="1200" dirty="0" smtClean="0">
              <a:solidFill>
                <a:schemeClr val="tx1"/>
              </a:solidFill>
              <a:ea typeface="+mn-ea"/>
              <a:cs typeface="+mn-cs"/>
            </a:endParaRPr>
          </a:p>
          <a:p>
            <a:r>
              <a:rPr lang="en-US" sz="1200" b="1" kern="1200" dirty="0" smtClean="0">
                <a:solidFill>
                  <a:schemeClr val="tx1"/>
                </a:solidFill>
                <a:ea typeface="+mn-ea"/>
                <a:cs typeface="+mn-cs"/>
              </a:rPr>
              <a:t>Classroom Activity</a:t>
            </a:r>
          </a:p>
          <a:p>
            <a:r>
              <a:rPr lang="en-US" sz="1200" b="0" kern="1200" dirty="0" smtClean="0">
                <a:solidFill>
                  <a:schemeClr val="tx1"/>
                </a:solidFill>
                <a:ea typeface="+mn-ea"/>
                <a:cs typeface="+mn-cs"/>
              </a:rPr>
              <a:t>Trainer distributes and discusses samples of SOPs.</a:t>
            </a:r>
            <a:endParaRPr lang="en-AU" sz="1200" b="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 xmlns:p14="http://schemas.microsoft.com/office/powerpoint/2010/main" val="16064706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t>
            </a:r>
            <a:r>
              <a:rPr lang="en-AU" sz="1200" kern="1200" dirty="0" smtClean="0">
                <a:solidFill>
                  <a:schemeClr val="tx1"/>
                </a:solidFill>
                <a:ea typeface="+mn-ea"/>
                <a:cs typeface="+mn-cs"/>
              </a:rPr>
              <a:t>preparing</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detailed, written procedures enables critical operational activities to be controlled so: </a:t>
            </a:r>
          </a:p>
          <a:p>
            <a:pPr marL="171450" indent="-171450">
              <a:buFont typeface="Arial" pitchFamily="34" charset="0"/>
              <a:buChar char="•"/>
            </a:pPr>
            <a:r>
              <a:rPr lang="en-AU" sz="1200" kern="1200" dirty="0" smtClean="0">
                <a:solidFill>
                  <a:schemeClr val="tx1"/>
                </a:solidFill>
                <a:ea typeface="+mn-ea"/>
                <a:cs typeface="+mn-cs"/>
              </a:rPr>
              <a:t>Workers can work safely</a:t>
            </a:r>
          </a:p>
          <a:p>
            <a:pPr marL="171450" indent="-171450">
              <a:buFont typeface="Arial" pitchFamily="34" charset="0"/>
              <a:buChar char="•"/>
            </a:pPr>
            <a:r>
              <a:rPr lang="en-AU" sz="1200" kern="1200" dirty="0" smtClean="0">
                <a:solidFill>
                  <a:schemeClr val="tx1"/>
                </a:solidFill>
                <a:ea typeface="+mn-ea"/>
                <a:cs typeface="+mn-cs"/>
              </a:rPr>
              <a:t>A consistent product or service is delivered to customers</a:t>
            </a:r>
          </a:p>
          <a:p>
            <a:pPr marL="171450" indent="-171450">
              <a:buFont typeface="Arial" pitchFamily="34" charset="0"/>
              <a:buChar char="•"/>
            </a:pPr>
            <a:r>
              <a:rPr lang="en-AU" sz="1200" kern="1200" dirty="0" smtClean="0">
                <a:solidFill>
                  <a:schemeClr val="tx1"/>
                </a:solidFill>
                <a:ea typeface="+mn-ea"/>
                <a:cs typeface="+mn-cs"/>
              </a:rPr>
              <a:t>Costs can be controlled</a:t>
            </a:r>
          </a:p>
          <a:p>
            <a:pPr marL="171450" indent="-171450">
              <a:buFont typeface="Arial" pitchFamily="34" charset="0"/>
              <a:buChar char="•"/>
            </a:pPr>
            <a:r>
              <a:rPr lang="en-AU" sz="1200" kern="1200" dirty="0" smtClean="0">
                <a:solidFill>
                  <a:schemeClr val="tx1"/>
                </a:solidFill>
                <a:ea typeface="+mn-ea"/>
                <a:cs typeface="+mn-cs"/>
              </a:rPr>
              <a:t>The objectives of the business can be met</a:t>
            </a:r>
          </a:p>
          <a:p>
            <a:pPr marL="171450" indent="-171450">
              <a:buFont typeface="Arial" pitchFamily="34" charset="0"/>
              <a:buChar char="•"/>
            </a:pPr>
            <a:r>
              <a:rPr lang="en-AU" sz="1200" kern="1200" dirty="0" smtClean="0">
                <a:solidFill>
                  <a:schemeClr val="tx1"/>
                </a:solidFill>
                <a:ea typeface="+mn-ea"/>
                <a:cs typeface="+mn-cs"/>
              </a:rPr>
              <a:t>Policies can be complied with.</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 xmlns:p14="http://schemas.microsoft.com/office/powerpoint/2010/main" val="18906470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smtClean="0"/>
              <a:t>Trainer advises </a:t>
            </a:r>
            <a:r>
              <a:rPr lang="en-AU" sz="1200" kern="1200" dirty="0" smtClean="0">
                <a:solidFill>
                  <a:schemeClr val="tx1"/>
                </a:solidFill>
                <a:ea typeface="+mn-ea"/>
                <a:cs typeface="+mn-cs"/>
              </a:rPr>
              <a:t>the control cycle is a number of processes/functions which combine to help protect the financial viability of the establishment by putting in place control protocols (which embrace the concept of theft minimisation and loss prevention at various points) at each stage of the cycle. To be fully aware of the potential for theft/loss to occur within a business, it is vital to have an appreciation of the ‘control cycle’ concept and its elements. The full control cycle comprises seven component parts:</a:t>
            </a:r>
          </a:p>
          <a:p>
            <a:pPr marL="171450" indent="-171450">
              <a:buFont typeface="Arial" pitchFamily="34" charset="0"/>
              <a:buChar char="•"/>
            </a:pPr>
            <a:r>
              <a:rPr lang="en-AU" sz="1200" kern="1200" dirty="0" smtClean="0">
                <a:solidFill>
                  <a:schemeClr val="tx1"/>
                </a:solidFill>
                <a:ea typeface="+mn-ea"/>
                <a:cs typeface="+mn-cs"/>
              </a:rPr>
              <a:t>Purchasing – this is the starting point of the control cycle and is covered to ensure no unauthorised purchases are made on behalf of the business (such as purchases made by staff for their own private use/consumption) and no unnecessary goods/services are bought</a:t>
            </a:r>
          </a:p>
          <a:p>
            <a:pPr marL="171450" indent="-171450">
              <a:buFont typeface="Arial" pitchFamily="34" charset="0"/>
              <a:buChar char="•"/>
            </a:pPr>
            <a:r>
              <a:rPr lang="en-AU" sz="1200" kern="1200" dirty="0" smtClean="0">
                <a:solidFill>
                  <a:schemeClr val="tx1"/>
                </a:solidFill>
                <a:ea typeface="+mn-ea"/>
                <a:cs typeface="+mn-cs"/>
              </a:rPr>
              <a:t>Receival – refers to the time when products are delivered to the business. It is included, and important, because there is a need to ensure all deliveries into the premises are checked to ensure they are suitable for use/sale, match the orders placed, there are no short-deliveries and the business only pays for products it has ordered and has received</a:t>
            </a:r>
          </a:p>
          <a:p>
            <a:pPr marL="171450" indent="-171450">
              <a:buFont typeface="Arial" pitchFamily="34" charset="0"/>
              <a:buChar char="•"/>
            </a:pPr>
            <a:r>
              <a:rPr lang="en-AU" sz="1200" kern="1200" dirty="0" smtClean="0">
                <a:solidFill>
                  <a:schemeClr val="tx1"/>
                </a:solidFill>
                <a:ea typeface="+mn-ea"/>
                <a:cs typeface="+mn-cs"/>
              </a:rPr>
              <a:t>Storage – where products need to be stored before use, display or sale there is a need to ensure goods are correctly and appropriately stored to protect against theft and to guard against loss of quality or damage </a:t>
            </a:r>
          </a:p>
          <a:p>
            <a:pPr marL="171450" indent="-171450">
              <a:buFont typeface="Arial" pitchFamily="34" charset="0"/>
              <a:buChar char="•"/>
            </a:pPr>
            <a:r>
              <a:rPr lang="en-AU" sz="1200" kern="1200" dirty="0" smtClean="0">
                <a:solidFill>
                  <a:schemeClr val="tx1"/>
                </a:solidFill>
                <a:ea typeface="+mn-ea"/>
                <a:cs typeface="+mn-cs"/>
              </a:rPr>
              <a:t>Issuing – as products are taken from storage and issues to departments for their use or sale it is critical to ensure items are issued to individuals and departments only when they are legitimately able to be issued, and they are handed out only in such a way that allows the accounting function to track what and how much was issued, where it was issued to and when it was issued. Correct issuing helps avoid a situation where staff can gain access to products to which they are not otherwise entitled</a:t>
            </a:r>
          </a:p>
          <a:p>
            <a:pPr marL="171450" indent="-171450">
              <a:buFont typeface="Arial" pitchFamily="34" charset="0"/>
              <a:buChar char="•"/>
            </a:pPr>
            <a:r>
              <a:rPr lang="en-AU" sz="1200" kern="1200" dirty="0" smtClean="0">
                <a:solidFill>
                  <a:schemeClr val="tx1"/>
                </a:solidFill>
                <a:ea typeface="+mn-ea"/>
                <a:cs typeface="+mn-cs"/>
              </a:rPr>
              <a:t>Production – where goods are used to produce items (meals, drinks etc for use [say] on tours) adequate control must be exercised to ensure usage/production conforms to pre-set standards (such as recipes) which will guarantee/control the cost of goods sold: control over production helps to ensure that requisitioned products are only used for the purposes intended and are not diverted into private use/theft</a:t>
            </a:r>
          </a:p>
          <a:p>
            <a:pPr marL="171450" indent="-171450">
              <a:buFont typeface="Arial" pitchFamily="34" charset="0"/>
              <a:buChar char="•"/>
            </a:pPr>
            <a:r>
              <a:rPr lang="en-AU" sz="1200" kern="1200" dirty="0" smtClean="0">
                <a:solidFill>
                  <a:schemeClr val="tx1"/>
                </a:solidFill>
                <a:ea typeface="+mn-ea"/>
                <a:cs typeface="+mn-cs"/>
              </a:rPr>
              <a:t>Service – when goods are provided to customers it is necessary to ensure all items served (merchandise, drinks and meals) comply with pre-determined quantities/serve sizes and to ensure complimentary products provided are limited to set numbers: this helps guard against staff feeling they can help themselves to what they may regard as unimportant give-aways</a:t>
            </a:r>
          </a:p>
          <a:p>
            <a:pPr marL="171450" indent="-171450">
              <a:buFont typeface="Arial" pitchFamily="34" charset="0"/>
              <a:buChar char="•"/>
            </a:pPr>
            <a:r>
              <a:rPr lang="en-AU" sz="1200" kern="1200" dirty="0" smtClean="0">
                <a:solidFill>
                  <a:schemeClr val="tx1"/>
                </a:solidFill>
                <a:ea typeface="+mn-ea"/>
                <a:cs typeface="+mn-cs"/>
              </a:rPr>
              <a:t>Sales – at the point of sale control is necessary to ensure the item is priced correctly, the correct price is charged. Only legitimate discounts are applied and payment is only taken by methods accepted by the business.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 xmlns:p14="http://schemas.microsoft.com/office/powerpoint/2010/main" val="32426742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theft minimisation procedures.</a:t>
            </a:r>
          </a:p>
          <a:p>
            <a:r>
              <a:rPr lang="en-AU" sz="1200" b="1" kern="1200" dirty="0" smtClean="0">
                <a:solidFill>
                  <a:schemeClr val="tx1"/>
                </a:solidFill>
                <a:ea typeface="+mn-ea"/>
                <a:cs typeface="+mn-cs"/>
              </a:rPr>
              <a:t>Procedures to optimise the security of cash</a:t>
            </a:r>
          </a:p>
          <a:p>
            <a:r>
              <a:rPr lang="en-AU" sz="1200" kern="1200" dirty="0" smtClean="0">
                <a:solidFill>
                  <a:schemeClr val="tx1"/>
                </a:solidFill>
                <a:ea typeface="+mn-ea"/>
                <a:cs typeface="+mn-cs"/>
              </a:rPr>
              <a:t>The security of cash may cover:</a:t>
            </a:r>
          </a:p>
          <a:p>
            <a:pPr marL="171450" indent="-171450">
              <a:buFont typeface="Arial" pitchFamily="34" charset="0"/>
              <a:buChar char="•"/>
            </a:pPr>
            <a:r>
              <a:rPr lang="en-AU" sz="1200" b="0" i="0" kern="1200" dirty="0" smtClean="0">
                <a:solidFill>
                  <a:schemeClr val="tx1"/>
                </a:solidFill>
                <a:ea typeface="+mn-ea"/>
                <a:cs typeface="+mn-cs"/>
              </a:rPr>
              <a:t>Moving cash within the premises </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Removing notes from cash register </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Procedures for registering money and giving change to customers </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Banking of takings </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Use of the on-premises safe </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Procedures relating to ‘change float’</a:t>
            </a:r>
          </a:p>
          <a:p>
            <a:pPr>
              <a:buFont typeface="Arial" pitchFamily="34" charset="0"/>
              <a:buNone/>
            </a:pPr>
            <a:endParaRPr lang="en-US" dirty="0" smtClean="0"/>
          </a:p>
          <a:p>
            <a:pPr>
              <a:buFont typeface="Arial" pitchFamily="34" charset="0"/>
              <a:buNone/>
            </a:pPr>
            <a:r>
              <a:rPr lang="en-US" b="1" dirty="0" smtClean="0"/>
              <a:t>Classroom Activity (1)</a:t>
            </a:r>
          </a:p>
          <a:p>
            <a:pPr>
              <a:buFont typeface="Arial" pitchFamily="34" charset="0"/>
              <a:buNone/>
            </a:pPr>
            <a:r>
              <a:rPr lang="en-US" b="0" dirty="0" smtClean="0"/>
              <a:t>Trainer demonstrates registering money and giving change and conducts role plays giving students an opportunity to practice same.</a:t>
            </a:r>
          </a:p>
          <a:p>
            <a:pPr>
              <a:buFont typeface="Arial" pitchFamily="34" charset="0"/>
              <a:buNone/>
            </a:pPr>
            <a:endParaRPr lang="en-US" b="1" dirty="0" smtClean="0"/>
          </a:p>
          <a:p>
            <a:pPr>
              <a:buFont typeface="Arial" pitchFamily="34" charset="0"/>
              <a:buNone/>
            </a:pPr>
            <a:r>
              <a:rPr lang="en-US" b="1" dirty="0" smtClean="0"/>
              <a:t>Classroom Activity (2)</a:t>
            </a:r>
          </a:p>
          <a:p>
            <a:pPr>
              <a:buFont typeface="Arial" pitchFamily="34" charset="0"/>
              <a:buNone/>
            </a:pPr>
            <a:r>
              <a:rPr lang="en-US" b="0" dirty="0" smtClean="0"/>
              <a:t>Trainer distributes and discusses examples of SOPs listed on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 xmlns:p14="http://schemas.microsoft.com/office/powerpoint/2010/main" val="42411011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theft minimisation procedures.</a:t>
            </a:r>
          </a:p>
          <a:p>
            <a:r>
              <a:rPr lang="en-AU" sz="1200" b="1" kern="1200" dirty="0" smtClean="0">
                <a:solidFill>
                  <a:schemeClr val="tx1"/>
                </a:solidFill>
                <a:ea typeface="+mn-ea"/>
                <a:cs typeface="+mn-cs"/>
              </a:rPr>
              <a:t>Staff practices</a:t>
            </a:r>
            <a:endParaRPr lang="en-AU" sz="1200" kern="1200" dirty="0" smtClean="0">
              <a:solidFill>
                <a:schemeClr val="tx1"/>
              </a:solidFill>
              <a:ea typeface="+mn-ea"/>
              <a:cs typeface="+mn-cs"/>
            </a:endParaRPr>
          </a:p>
          <a:p>
            <a:pPr marL="171450" indent="-171450">
              <a:buFont typeface="Arial" pitchFamily="34" charset="0"/>
              <a:buChar char="•"/>
            </a:pPr>
            <a:r>
              <a:rPr lang="en-AU" sz="1200" b="0" i="0" kern="1200" dirty="0" smtClean="0">
                <a:solidFill>
                  <a:schemeClr val="tx1"/>
                </a:solidFill>
                <a:ea typeface="+mn-ea"/>
                <a:cs typeface="+mn-cs"/>
              </a:rPr>
              <a:t>Staff entry and exit</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Personal property/belongings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Gifts from reps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Accompanying visitors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Restricted access</a:t>
            </a:r>
          </a:p>
          <a:p>
            <a:pPr>
              <a:buFont typeface="Arial" pitchFamily="34" charset="0"/>
              <a:buNone/>
            </a:pPr>
            <a:endParaRPr lang="en-US" dirty="0" smtClean="0"/>
          </a:p>
          <a:p>
            <a:pPr>
              <a:buFont typeface="Arial" pitchFamily="34" charset="0"/>
              <a:buNone/>
            </a:pPr>
            <a:r>
              <a:rPr lang="en-US" b="1" dirty="0" smtClean="0"/>
              <a:t>Classroom Activity</a:t>
            </a:r>
          </a:p>
          <a:p>
            <a:pPr>
              <a:buFont typeface="Arial" pitchFamily="34" charset="0"/>
              <a:buNone/>
            </a:pPr>
            <a:r>
              <a:rPr lang="en-US" b="0" dirty="0" smtClean="0"/>
              <a:t>Trainer distributes and discusses examples of SOPs listed on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 xmlns:p14="http://schemas.microsoft.com/office/powerpoint/2010/main" val="31379321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theft minimisation procedures.</a:t>
            </a:r>
          </a:p>
          <a:p>
            <a:r>
              <a:rPr lang="en-AU" sz="1200" b="1" kern="1200" dirty="0" smtClean="0">
                <a:solidFill>
                  <a:schemeClr val="tx1"/>
                </a:solidFill>
                <a:ea typeface="+mn-ea"/>
                <a:cs typeface="+mn-cs"/>
              </a:rPr>
              <a:t>Staff practices (Continued)</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‘No sales’ and ‘Voids’ transactions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Time worked</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Workplace resources</a:t>
            </a:r>
          </a:p>
          <a:p>
            <a:pPr>
              <a:buFont typeface="Arial" pitchFamily="34" charset="0"/>
              <a:buNone/>
            </a:pPr>
            <a:endParaRPr lang="en-US" dirty="0" smtClean="0"/>
          </a:p>
          <a:p>
            <a:pPr>
              <a:buFont typeface="Arial" pitchFamily="34" charset="0"/>
              <a:buNone/>
            </a:pPr>
            <a:r>
              <a:rPr lang="en-US" b="1" dirty="0" smtClean="0"/>
              <a:t>Classroom Activity</a:t>
            </a:r>
          </a:p>
          <a:p>
            <a:pPr>
              <a:buFont typeface="Arial" pitchFamily="34" charset="0"/>
              <a:buNone/>
            </a:pPr>
            <a:r>
              <a:rPr lang="en-US" b="0" dirty="0" smtClean="0"/>
              <a:t>Trainer splits class into small groups and asks groups to prepare procedures to address topics listed on</a:t>
            </a:r>
            <a:r>
              <a:rPr lang="en-US" b="0" baseline="0" dirty="0" smtClean="0"/>
              <a:t> slide</a:t>
            </a:r>
            <a:r>
              <a:rPr lang="en-US" b="0" dirty="0" smtClean="0"/>
              <a:t>.</a:t>
            </a:r>
          </a:p>
          <a:p>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 xmlns:p14="http://schemas.microsoft.com/office/powerpoint/2010/main" val="13484153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theft minimisation procedures.</a:t>
            </a:r>
          </a:p>
          <a:p>
            <a:pPr marL="171450" indent="-171450">
              <a:buFont typeface="Arial" pitchFamily="34" charset="0"/>
              <a:buChar char="•"/>
            </a:pPr>
            <a:r>
              <a:rPr lang="en-AU" sz="1200" b="0" i="0" kern="1200" dirty="0" smtClean="0">
                <a:solidFill>
                  <a:schemeClr val="tx1"/>
                </a:solidFill>
                <a:ea typeface="+mn-ea"/>
                <a:cs typeface="+mn-cs"/>
              </a:rPr>
              <a:t>Security of keys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Checking payments received from customers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dirty="0" smtClean="0">
                <a:solidFill>
                  <a:schemeClr val="tx1"/>
                </a:solidFill>
                <a:ea typeface="+mn-ea"/>
                <a:cs typeface="+mn-cs"/>
              </a:rPr>
              <a:t>Non-Cash transactions – personal cheques, accounts, gift vouchers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ea typeface="+mn-ea"/>
                <a:cs typeface="+mn-cs"/>
              </a:rPr>
              <a:t>Checking documents and issuing cash</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ea typeface="+mn-ea"/>
                <a:cs typeface="+mn-cs"/>
              </a:rPr>
              <a:t>Document and data security</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Classroom Activity (1)</a:t>
            </a:r>
          </a:p>
          <a:p>
            <a:pPr>
              <a:buFont typeface="Arial" pitchFamily="34" charset="0"/>
              <a:buNone/>
            </a:pPr>
            <a:r>
              <a:rPr lang="en-US" b="0" dirty="0" smtClean="0"/>
              <a:t>Trainer demonstrates checking payments received from customers and conducts role plays giving students an opportunity to practice same.</a:t>
            </a:r>
          </a:p>
          <a:p>
            <a:pPr>
              <a:buFont typeface="Arial" pitchFamily="34" charset="0"/>
              <a:buNone/>
            </a:pPr>
            <a:endParaRPr lang="en-US" b="0" dirty="0" smtClean="0"/>
          </a:p>
          <a:p>
            <a:pPr>
              <a:buFont typeface="Arial" pitchFamily="34" charset="0"/>
              <a:buNone/>
            </a:pPr>
            <a:r>
              <a:rPr lang="en-US" b="1" dirty="0" smtClean="0"/>
              <a:t>Classroom Activity (2)</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splits class into small groups and asks groups to prepare procedures to address topics listed on</a:t>
            </a:r>
            <a:r>
              <a:rPr lang="en-US" b="0" baseline="0" dirty="0" smtClean="0"/>
              <a:t> slide</a:t>
            </a:r>
            <a:r>
              <a:rPr lang="en-US" b="0" dirty="0" smtClean="0"/>
              <a:t>.</a:t>
            </a:r>
          </a:p>
          <a:p>
            <a:pPr>
              <a:buFont typeface="Arial" pitchFamily="34" charset="0"/>
              <a:buNone/>
            </a:pPr>
            <a:endParaRPr lang="en-US"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 xmlns:p14="http://schemas.microsoft.com/office/powerpoint/2010/main" val="3231458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theft minimisation procedures.</a:t>
            </a:r>
          </a:p>
          <a:p>
            <a:pPr marL="171450" indent="-171450">
              <a:buFont typeface="Arial" pitchFamily="34" charset="0"/>
              <a:buChar char="•"/>
            </a:pPr>
            <a:r>
              <a:rPr lang="en-US" dirty="0" smtClean="0"/>
              <a:t>‘On tour’ security – in relation to organisational assets, customer property</a:t>
            </a:r>
          </a:p>
          <a:p>
            <a:pPr marL="171450" indent="-171450">
              <a:buFont typeface="Arial" pitchFamily="34" charset="0"/>
              <a:buChar char="•"/>
            </a:pPr>
            <a:r>
              <a:rPr lang="en-US" dirty="0" smtClean="0"/>
              <a:t>Security systems and equipment</a:t>
            </a:r>
          </a:p>
          <a:p>
            <a:pPr>
              <a:buFont typeface="Arial" pitchFamily="34" charset="0"/>
              <a:buNone/>
            </a:pPr>
            <a:endParaRPr lang="en-US" dirty="0" smtClean="0"/>
          </a:p>
          <a:p>
            <a:pPr>
              <a:buFont typeface="Arial" pitchFamily="34" charset="0"/>
              <a:buNone/>
            </a:pPr>
            <a:r>
              <a:rPr lang="en-US" b="1" dirty="0" smtClean="0"/>
              <a:t>Classroom Activity</a:t>
            </a:r>
          </a:p>
          <a:p>
            <a:pPr>
              <a:buFont typeface="Arial" pitchFamily="34" charset="0"/>
              <a:buNone/>
            </a:pPr>
            <a:r>
              <a:rPr lang="en-US" b="0" dirty="0" smtClean="0"/>
              <a:t>Trainer arranges Guest Speaker to talk to students about various theft minimisation listed on slide, share sample SOPs and provide advice on development and implementation of policies and procedures.</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 xmlns:p14="http://schemas.microsoft.com/office/powerpoint/2010/main" val="1818552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t>
            </a:r>
            <a:r>
              <a:rPr lang="en-AU" sz="1200" kern="1200" dirty="0" smtClean="0">
                <a:solidFill>
                  <a:schemeClr val="tx1"/>
                </a:solidFill>
                <a:ea typeface="+mn-ea"/>
                <a:cs typeface="+mn-cs"/>
              </a:rPr>
              <a:t>requirements imposed by laws of a country may include:</a:t>
            </a:r>
          </a:p>
          <a:p>
            <a:pPr marL="171450" indent="-171450">
              <a:buFont typeface="Arial" pitchFamily="34" charset="0"/>
              <a:buChar char="•"/>
            </a:pPr>
            <a:r>
              <a:rPr lang="en-AU" sz="1200" kern="1200" dirty="0" smtClean="0">
                <a:solidFill>
                  <a:schemeClr val="tx1"/>
                </a:solidFill>
                <a:ea typeface="+mn-ea"/>
                <a:cs typeface="+mn-cs"/>
              </a:rPr>
              <a:t>Need to take prescribed action to protect the privacy of customers and clients</a:t>
            </a:r>
          </a:p>
          <a:p>
            <a:pPr marL="171450" indent="-171450">
              <a:buFont typeface="Arial" pitchFamily="34" charset="0"/>
              <a:buChar char="•"/>
            </a:pPr>
            <a:r>
              <a:rPr lang="en-AU" sz="1200" kern="1200" dirty="0" smtClean="0">
                <a:solidFill>
                  <a:schemeClr val="tx1"/>
                </a:solidFill>
                <a:ea typeface="+mn-ea"/>
                <a:cs typeface="+mn-cs"/>
              </a:rPr>
              <a:t>Need to take prescribed action to maintain identified confidentialities</a:t>
            </a:r>
          </a:p>
          <a:p>
            <a:pPr marL="171450" indent="-171450">
              <a:buFont typeface="Arial" pitchFamily="34" charset="0"/>
              <a:buChar char="•"/>
            </a:pPr>
            <a:r>
              <a:rPr lang="en-AU" sz="1200" kern="1200" dirty="0" smtClean="0">
                <a:solidFill>
                  <a:schemeClr val="tx1"/>
                </a:solidFill>
                <a:ea typeface="+mn-ea"/>
                <a:cs typeface="+mn-cs"/>
              </a:rPr>
              <a:t>Need to observe and implement prescribed actions when apprehending a suspected offender</a:t>
            </a:r>
          </a:p>
          <a:p>
            <a:pPr marL="171450" indent="-171450">
              <a:buFont typeface="Arial" pitchFamily="34" charset="0"/>
              <a:buChar char="•"/>
            </a:pPr>
            <a:r>
              <a:rPr lang="en-AU" sz="1200" kern="1200" dirty="0" smtClean="0">
                <a:solidFill>
                  <a:schemeClr val="tx1"/>
                </a:solidFill>
                <a:ea typeface="+mn-ea"/>
                <a:cs typeface="+mn-cs"/>
              </a:rPr>
              <a:t>Need to operate the business in a certain way such that it meets (for example) fair trading legislation, workplace safety requirements, anti-harassment and discrimination obligations, financial management and accounting protocols, taxation obligations, superannuation and workers compensation responsibilities</a:t>
            </a:r>
          </a:p>
          <a:p>
            <a:pPr marL="171450" indent="-171450">
              <a:buFont typeface="Arial" pitchFamily="34" charset="0"/>
              <a:buChar char="•"/>
            </a:pPr>
            <a:r>
              <a:rPr lang="en-AU" sz="1200" kern="1200" dirty="0" smtClean="0">
                <a:solidFill>
                  <a:schemeClr val="tx1"/>
                </a:solidFill>
                <a:ea typeface="+mn-ea"/>
                <a:cs typeface="+mn-cs"/>
              </a:rPr>
              <a:t>Need to take out stipulated insurance policies (such as public liability insurance) to protect the public/customers from accident and injury caused while on the premises/on tour</a:t>
            </a:r>
          </a:p>
          <a:p>
            <a:pPr marL="171450" indent="-171450">
              <a:buFont typeface="Arial" pitchFamily="34" charset="0"/>
              <a:buChar char="•"/>
            </a:pPr>
            <a:r>
              <a:rPr lang="en-AU" sz="1200" kern="1200" dirty="0" smtClean="0">
                <a:solidFill>
                  <a:schemeClr val="tx1"/>
                </a:solidFill>
                <a:ea typeface="+mn-ea"/>
                <a:cs typeface="+mn-cs"/>
              </a:rPr>
              <a:t>Need to meet ‘duty of care’ obligations – by taking necessary action to prevent causing foreseeable harm, damage or injury to customers.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 xmlns:p14="http://schemas.microsoft.com/office/powerpoint/2010/main" val="12701075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t>
            </a:r>
            <a:r>
              <a:rPr lang="en-AU" sz="1200" kern="1200" dirty="0" smtClean="0">
                <a:solidFill>
                  <a:schemeClr val="tx1"/>
                </a:solidFill>
                <a:ea typeface="+mn-ea"/>
                <a:cs typeface="+mn-cs"/>
              </a:rPr>
              <a:t>You can determine the requirements of host country legislation by:</a:t>
            </a:r>
          </a:p>
          <a:p>
            <a:pPr marL="171450" indent="-171450">
              <a:buFont typeface="Arial" pitchFamily="34" charset="0"/>
              <a:buChar char="•"/>
            </a:pPr>
            <a:r>
              <a:rPr lang="en-AU" sz="1200" kern="1200" dirty="0" smtClean="0">
                <a:solidFill>
                  <a:schemeClr val="tx1"/>
                </a:solidFill>
                <a:ea typeface="+mn-ea"/>
                <a:cs typeface="+mn-cs"/>
              </a:rPr>
              <a:t>Talking to management and owners of the business</a:t>
            </a:r>
          </a:p>
          <a:p>
            <a:pPr marL="171450" indent="-171450">
              <a:buFont typeface="Arial" pitchFamily="34" charset="0"/>
              <a:buChar char="•"/>
            </a:pPr>
            <a:r>
              <a:rPr lang="en-AU" sz="1200" kern="1200" dirty="0" smtClean="0">
                <a:solidFill>
                  <a:schemeClr val="tx1"/>
                </a:solidFill>
                <a:ea typeface="+mn-ea"/>
                <a:cs typeface="+mn-cs"/>
              </a:rPr>
              <a:t>Visiting relevant government websites and reading the obligations imposed on businesses and employers</a:t>
            </a:r>
          </a:p>
          <a:p>
            <a:pPr marL="171450" indent="-171450">
              <a:buFont typeface="Arial" pitchFamily="34" charset="0"/>
              <a:buChar char="•"/>
            </a:pPr>
            <a:r>
              <a:rPr lang="en-AU" sz="1200" kern="1200" dirty="0" smtClean="0">
                <a:solidFill>
                  <a:schemeClr val="tx1"/>
                </a:solidFill>
                <a:ea typeface="+mn-ea"/>
                <a:cs typeface="+mn-cs"/>
              </a:rPr>
              <a:t>Meeting direct in-person or over the telephone with officers from relevant government departments and asking them questions about the legal requirements imposed on you by the legislation they are responsible for administering</a:t>
            </a:r>
          </a:p>
          <a:p>
            <a:pPr marL="171450" indent="-171450">
              <a:buFont typeface="Arial" pitchFamily="34" charset="0"/>
              <a:buChar char="•"/>
            </a:pPr>
            <a:r>
              <a:rPr lang="en-AU" sz="1200" kern="1200" dirty="0" smtClean="0">
                <a:solidFill>
                  <a:schemeClr val="tx1"/>
                </a:solidFill>
                <a:ea typeface="+mn-ea"/>
                <a:cs typeface="+mn-cs"/>
              </a:rPr>
              <a:t>Making enquiries to peak industry bodies/associations who represent your business or industry sector.</a:t>
            </a:r>
          </a:p>
          <a:p>
            <a:pPr>
              <a:buFont typeface="Arial" pitchFamily="34" charset="0"/>
              <a:buNone/>
            </a:pPr>
            <a:endParaRPr lang="en-US" dirty="0" smtClean="0"/>
          </a:p>
          <a:p>
            <a:pPr>
              <a:buFont typeface="Arial" pitchFamily="34" charset="0"/>
              <a:buNone/>
            </a:pPr>
            <a:r>
              <a:rPr lang="en-US" b="1" dirty="0" smtClean="0"/>
              <a:t>Classroom Activity</a:t>
            </a:r>
          </a:p>
          <a:p>
            <a:pPr>
              <a:buFont typeface="Arial" pitchFamily="34" charset="0"/>
              <a:buNone/>
            </a:pPr>
            <a:r>
              <a:rPr lang="en-US" b="0" dirty="0" smtClean="0"/>
              <a:t>Trainer arranges for a group of officials from government departments/agencies to attend and present/discuss relevant industry obligations imposed on operators by in-country legislation.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 xmlns:p14="http://schemas.microsoft.com/office/powerpoint/2010/main" val="7840285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range of Codes which may impose requirements when theft-related policies and procedures are being formulated:</a:t>
            </a:r>
          </a:p>
          <a:p>
            <a:pPr marL="171450" indent="-171450">
              <a:buFont typeface="Arial" pitchFamily="34" charset="0"/>
              <a:buChar char="•"/>
            </a:pPr>
            <a:r>
              <a:rPr lang="en-AU" sz="1200" kern="1200" dirty="0" smtClean="0">
                <a:solidFill>
                  <a:schemeClr val="tx1"/>
                </a:solidFill>
                <a:ea typeface="+mn-ea"/>
                <a:cs typeface="+mn-cs"/>
              </a:rPr>
              <a:t>Voluntary – meaning your business can elect to sign up to them</a:t>
            </a:r>
          </a:p>
          <a:p>
            <a:pPr marL="171450" indent="-171450">
              <a:buFont typeface="Arial" pitchFamily="34" charset="0"/>
              <a:buChar char="•"/>
            </a:pPr>
            <a:r>
              <a:rPr lang="en-AU" sz="1200" kern="1200" dirty="0" smtClean="0">
                <a:solidFill>
                  <a:schemeClr val="tx1"/>
                </a:solidFill>
                <a:ea typeface="+mn-ea"/>
                <a:cs typeface="+mn-cs"/>
              </a:rPr>
              <a:t>Imposed by virtue of an arrangement or contract – for example, if you belong to an association or group it may be a requirement your organisation subscribe to a given code of practice as one of the conditions of being a member</a:t>
            </a:r>
          </a:p>
          <a:p>
            <a:pPr marL="171450" indent="-171450">
              <a:buFont typeface="Arial" pitchFamily="34" charset="0"/>
              <a:buChar char="•"/>
            </a:pPr>
            <a:r>
              <a:rPr lang="en-AU" sz="1200" kern="1200" dirty="0" smtClean="0">
                <a:solidFill>
                  <a:schemeClr val="tx1"/>
                </a:solidFill>
                <a:ea typeface="+mn-ea"/>
                <a:cs typeface="+mn-cs"/>
              </a:rPr>
              <a:t>Mandatory – some COPs are imposed by law on the business and compliance with them is compulsory, rather than optional.</a:t>
            </a:r>
          </a:p>
          <a:p>
            <a:pPr>
              <a:buFont typeface="Arial" pitchFamily="34" charset="0"/>
              <a:buNone/>
            </a:pPr>
            <a:endParaRPr lang="en-US" dirty="0" smtClean="0"/>
          </a:p>
          <a:p>
            <a:pPr>
              <a:buFont typeface="Arial" pitchFamily="34" charset="0"/>
              <a:buNone/>
            </a:pPr>
            <a:r>
              <a:rPr lang="en-US" b="1" dirty="0" smtClean="0"/>
              <a:t>Classroom Activity</a:t>
            </a:r>
          </a:p>
          <a:p>
            <a:pPr>
              <a:buFont typeface="Arial" pitchFamily="34" charset="0"/>
              <a:buNone/>
            </a:pPr>
            <a:r>
              <a:rPr lang="en-US" b="0" dirty="0" smtClean="0"/>
              <a:t>Trainer distributes and discusses examples of Codes listed on slide and highlights their application</a:t>
            </a:r>
            <a:r>
              <a:rPr lang="en-US" b="0" baseline="0" dirty="0" smtClean="0"/>
              <a:t> and relevance to the industry.</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 xmlns:p14="http://schemas.microsoft.com/office/powerpoint/2010/main" val="2662435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Trainer explains </a:t>
            </a:r>
            <a:r>
              <a:rPr lang="en-AU" sz="1200" kern="1200" dirty="0" smtClean="0">
                <a:solidFill>
                  <a:schemeClr val="tx1"/>
                </a:solidFill>
                <a:ea typeface="+mn-ea"/>
                <a:cs typeface="+mn-cs"/>
              </a:rPr>
              <a:t>‘Best practice’ refers to practices and procedures which are regarded by the industry or an individual workplace as being the most applicable and effective. There is also a strong link between these protocols and the delivery of ‘quality’ products and services: adherence to ‘best practice’ results in quality outcomes.</a:t>
            </a:r>
          </a:p>
          <a:p>
            <a:r>
              <a:rPr lang="en-AU" sz="1200" kern="1200" dirty="0" smtClean="0">
                <a:solidFill>
                  <a:schemeClr val="tx1"/>
                </a:solidFill>
                <a:ea typeface="+mn-ea"/>
                <a:cs typeface="+mn-cs"/>
              </a:rPr>
              <a:t>The detail regarding best practice is always changing as inventions in technology take place and innovation occurs.</a:t>
            </a:r>
          </a:p>
          <a:p>
            <a:r>
              <a:rPr lang="en-AU" sz="1200" kern="1200" dirty="0" smtClean="0">
                <a:solidFill>
                  <a:schemeClr val="tx1"/>
                </a:solidFill>
                <a:ea typeface="+mn-ea"/>
                <a:cs typeface="+mn-cs"/>
              </a:rPr>
              <a:t>Individual organisations may set their own BP procedures, or adopt and/or adapt the BP procedures of other bodies, organisations or sources (such as the suite of ISO standards).</a:t>
            </a:r>
          </a:p>
          <a:p>
            <a:r>
              <a:rPr lang="en-AU" sz="1200" kern="1200" dirty="0" smtClean="0">
                <a:solidFill>
                  <a:schemeClr val="tx1"/>
                </a:solidFill>
                <a:ea typeface="+mn-ea"/>
                <a:cs typeface="+mn-cs"/>
              </a:rPr>
              <a:t>Best practice procedures relating to theft minimisation may include:</a:t>
            </a:r>
          </a:p>
          <a:p>
            <a:pPr marL="171450" indent="-171450">
              <a:buFont typeface="Arial" pitchFamily="34" charset="0"/>
              <a:buChar char="•"/>
            </a:pPr>
            <a:r>
              <a:rPr lang="en-AU" sz="1200" kern="1200" dirty="0" smtClean="0">
                <a:solidFill>
                  <a:schemeClr val="tx1"/>
                </a:solidFill>
                <a:ea typeface="+mn-ea"/>
                <a:cs typeface="+mn-cs"/>
              </a:rPr>
              <a:t>Developing and formalising theft minimisation policies and procedures</a:t>
            </a:r>
          </a:p>
          <a:p>
            <a:pPr marL="171450" indent="-171450">
              <a:buFont typeface="Arial" pitchFamily="34" charset="0"/>
              <a:buChar char="•"/>
            </a:pPr>
            <a:r>
              <a:rPr lang="en-AU" sz="1200" kern="1200" dirty="0" smtClean="0">
                <a:solidFill>
                  <a:schemeClr val="tx1"/>
                </a:solidFill>
                <a:ea typeface="+mn-ea"/>
                <a:cs typeface="+mn-cs"/>
              </a:rPr>
              <a:t>Conducting regular staff training relating to the prevention and detection of theft</a:t>
            </a:r>
          </a:p>
          <a:p>
            <a:pPr marL="171450" indent="-171450">
              <a:buFont typeface="Arial" pitchFamily="34" charset="0"/>
              <a:buChar char="•"/>
            </a:pPr>
            <a:r>
              <a:rPr lang="en-AU" sz="1200" kern="1200" dirty="0" smtClean="0">
                <a:solidFill>
                  <a:schemeClr val="tx1"/>
                </a:solidFill>
                <a:ea typeface="+mn-ea"/>
                <a:cs typeface="+mn-cs"/>
              </a:rPr>
              <a:t>Undertaking regular workplace inspection to identify possible suspicious circumstances and/or potential threats or targets for theft</a:t>
            </a:r>
          </a:p>
          <a:p>
            <a:pPr marL="171450" indent="-171450">
              <a:buFont typeface="Arial" pitchFamily="34" charset="0"/>
              <a:buChar char="•"/>
            </a:pPr>
            <a:r>
              <a:rPr lang="en-AU" sz="1200" kern="1200" dirty="0" smtClean="0">
                <a:solidFill>
                  <a:schemeClr val="tx1"/>
                </a:solidFill>
                <a:ea typeface="+mn-ea"/>
                <a:cs typeface="+mn-cs"/>
              </a:rPr>
              <a:t>Using technology and equipment to deter and detect theft and fraud</a:t>
            </a:r>
          </a:p>
          <a:p>
            <a:pPr marL="171450" indent="-171450">
              <a:buFont typeface="Arial" pitchFamily="34" charset="0"/>
              <a:buChar char="•"/>
            </a:pPr>
            <a:r>
              <a:rPr lang="en-AU" sz="1200" kern="1200" dirty="0" smtClean="0">
                <a:solidFill>
                  <a:schemeClr val="tx1"/>
                </a:solidFill>
                <a:ea typeface="+mn-ea"/>
                <a:cs typeface="+mn-cs"/>
              </a:rPr>
              <a:t>Maintaining comprehensive and accurate records and documentation relating the theft minimisation activities and theft events.</a:t>
            </a:r>
          </a:p>
          <a:p>
            <a:pPr marL="171450" indent="-171450">
              <a:buFont typeface="Arial" pitchFamily="34" charset="0"/>
              <a:buChar char="•"/>
            </a:pPr>
            <a:r>
              <a:rPr lang="en-AU" sz="1200" kern="1200" dirty="0" smtClean="0">
                <a:solidFill>
                  <a:schemeClr val="tx1"/>
                </a:solidFill>
                <a:ea typeface="+mn-ea"/>
                <a:cs typeface="+mn-cs"/>
              </a:rPr>
              <a:t>Other BP action often relates to issues such as:</a:t>
            </a:r>
          </a:p>
          <a:p>
            <a:pPr marL="171450" indent="-171450">
              <a:buFont typeface="Arial" pitchFamily="34" charset="0"/>
              <a:buChar char="•"/>
            </a:pPr>
            <a:r>
              <a:rPr lang="en-AU" sz="1200" kern="1200" dirty="0" smtClean="0">
                <a:solidFill>
                  <a:schemeClr val="tx1"/>
                </a:solidFill>
                <a:ea typeface="+mn-ea"/>
                <a:cs typeface="+mn-cs"/>
              </a:rPr>
              <a:t>Sustainability; Marketing; Communication; Service recovery; Emergency management.</a:t>
            </a:r>
          </a:p>
          <a:p>
            <a:pPr>
              <a:buFont typeface="Arial" pitchFamily="34" charset="0"/>
              <a:buNone/>
            </a:pPr>
            <a:endParaRPr lang="en-US" dirty="0" smtClean="0"/>
          </a:p>
          <a:p>
            <a:pPr>
              <a:buFont typeface="Arial" pitchFamily="34" charset="0"/>
              <a:buNone/>
            </a:pPr>
            <a:r>
              <a:rPr lang="en-US" b="1" dirty="0" smtClean="0"/>
              <a:t>Classroom Activity </a:t>
            </a:r>
          </a:p>
          <a:p>
            <a:pPr>
              <a:buFont typeface="Arial" pitchFamily="34" charset="0"/>
              <a:buNone/>
            </a:pPr>
            <a:r>
              <a:rPr lang="en-US" b="0" dirty="0" smtClean="0"/>
              <a:t>Trainer distributes and discusses examples of Best Practice for the industry and highlights their application</a:t>
            </a:r>
            <a:r>
              <a:rPr lang="en-US" b="0" baseline="0" dirty="0" smtClean="0"/>
              <a:t> and relevance to the industry</a:t>
            </a:r>
          </a:p>
          <a:p>
            <a:pPr>
              <a:buFont typeface="Arial" pitchFamily="34" charset="0"/>
              <a:buNone/>
            </a:pPr>
            <a:endParaRPr lang="en-US" b="0" dirty="0" smtClean="0"/>
          </a:p>
          <a:p>
            <a:pPr>
              <a:buFont typeface="Arial" pitchFamily="34" charset="0"/>
              <a:buNone/>
            </a:pPr>
            <a:endParaRPr lang="en-US" b="0"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 xmlns:p14="http://schemas.microsoft.com/office/powerpoint/2010/main" val="19749605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 ‘industry accepted standards’ may also impose requirements.</a:t>
            </a:r>
          </a:p>
          <a:p>
            <a:r>
              <a:rPr lang="en-AU" sz="1200" kern="1200" dirty="0" smtClean="0">
                <a:solidFill>
                  <a:schemeClr val="tx1"/>
                </a:solidFill>
                <a:ea typeface="+mn-ea"/>
                <a:cs typeface="+mn-cs"/>
              </a:rPr>
              <a:t>The standards are established in order to:</a:t>
            </a:r>
          </a:p>
          <a:p>
            <a:pPr marL="171450" indent="-171450">
              <a:buFont typeface="Arial" pitchFamily="34" charset="0"/>
              <a:buChar char="•"/>
            </a:pPr>
            <a:r>
              <a:rPr lang="en-AU" sz="1200" kern="1200" dirty="0" smtClean="0">
                <a:solidFill>
                  <a:schemeClr val="tx1"/>
                </a:solidFill>
                <a:ea typeface="+mn-ea"/>
                <a:cs typeface="+mn-cs"/>
              </a:rPr>
              <a:t>Professionalise the industry by prescribing minimum standards</a:t>
            </a:r>
          </a:p>
          <a:p>
            <a:pPr marL="171450" indent="-171450">
              <a:buFont typeface="Arial" pitchFamily="34" charset="0"/>
              <a:buChar char="•"/>
            </a:pPr>
            <a:r>
              <a:rPr lang="en-AU" sz="1200" kern="1200" dirty="0" smtClean="0">
                <a:solidFill>
                  <a:schemeClr val="tx1"/>
                </a:solidFill>
                <a:ea typeface="+mn-ea"/>
                <a:cs typeface="+mn-cs"/>
              </a:rPr>
              <a:t>Give customers confidence in the industry by demonstrating their core concerns have been addressed by operators</a:t>
            </a:r>
          </a:p>
          <a:p>
            <a:pPr marL="171450" indent="-171450">
              <a:buFont typeface="Arial" pitchFamily="34" charset="0"/>
              <a:buChar char="•"/>
            </a:pPr>
            <a:r>
              <a:rPr lang="en-AU" sz="1200" kern="1200" dirty="0" smtClean="0">
                <a:solidFill>
                  <a:schemeClr val="tx1"/>
                </a:solidFill>
                <a:ea typeface="+mn-ea"/>
                <a:cs typeface="+mn-cs"/>
              </a:rPr>
              <a:t>Provide a basis for business operation for those who exist and function within the industry</a:t>
            </a:r>
          </a:p>
          <a:p>
            <a:pPr marL="171450" indent="-171450">
              <a:buFont typeface="Arial" pitchFamily="34" charset="0"/>
              <a:buChar char="•"/>
            </a:pPr>
            <a:r>
              <a:rPr lang="en-AU" sz="1200" kern="1200" dirty="0" smtClean="0">
                <a:solidFill>
                  <a:schemeClr val="tx1"/>
                </a:solidFill>
                <a:ea typeface="+mn-ea"/>
                <a:cs typeface="+mn-cs"/>
              </a:rPr>
              <a:t>Prescribe specific parameters for aspects of industry performance and some or all of the products and services provided by it</a:t>
            </a:r>
          </a:p>
          <a:p>
            <a:pPr marL="171450" indent="-171450">
              <a:buFont typeface="Arial" pitchFamily="34" charset="0"/>
              <a:buChar char="•"/>
            </a:pPr>
            <a:r>
              <a:rPr lang="en-AU" sz="1200" kern="1200" dirty="0" smtClean="0">
                <a:solidFill>
                  <a:schemeClr val="tx1"/>
                </a:solidFill>
                <a:ea typeface="+mn-ea"/>
                <a:cs typeface="+mn-cs"/>
              </a:rPr>
              <a:t>Set a benchmark level for improvements to the basic delivery of products and services within the industry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 xmlns:p14="http://schemas.microsoft.com/office/powerpoint/2010/main" val="17963917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gives examples of topics to which industry accepted standards may apply in relation to theft minimisation:</a:t>
            </a:r>
          </a:p>
          <a:p>
            <a:pPr marL="171450" indent="-171450">
              <a:buFont typeface="Arial" pitchFamily="34" charset="0"/>
              <a:buChar char="•"/>
            </a:pPr>
            <a:r>
              <a:rPr lang="en-AU" sz="1200" kern="1200" dirty="0" smtClean="0">
                <a:solidFill>
                  <a:schemeClr val="tx1"/>
                </a:solidFill>
                <a:ea typeface="+mn-ea"/>
                <a:cs typeface="+mn-cs"/>
              </a:rPr>
              <a:t>Using security guards when on tour</a:t>
            </a:r>
          </a:p>
          <a:p>
            <a:pPr marL="171450" indent="-171450">
              <a:buFont typeface="Arial" pitchFamily="34" charset="0"/>
              <a:buChar char="•"/>
            </a:pPr>
            <a:r>
              <a:rPr lang="en-AU" sz="1200" kern="1200" dirty="0" smtClean="0">
                <a:solidFill>
                  <a:schemeClr val="tx1"/>
                </a:solidFill>
                <a:ea typeface="+mn-ea"/>
                <a:cs typeface="+mn-cs"/>
              </a:rPr>
              <a:t>Complying with host country legislation relating to identification of people seeking to purchase travel/tickets – all accepted industry standards support/reinforce the need for businesses to comply with their legislated obligations</a:t>
            </a:r>
          </a:p>
          <a:p>
            <a:pPr marL="171450" indent="-171450">
              <a:buFont typeface="Arial" pitchFamily="34" charset="0"/>
              <a:buChar char="•"/>
            </a:pPr>
            <a:r>
              <a:rPr lang="en-AU" sz="1200" kern="1200" dirty="0" smtClean="0">
                <a:solidFill>
                  <a:schemeClr val="tx1"/>
                </a:solidFill>
                <a:ea typeface="+mn-ea"/>
                <a:cs typeface="+mn-cs"/>
              </a:rPr>
              <a:t>Involving police/authorities whenever (without exception) a customer is detected committing a theft – in order to act as a deterrent to other would-be thieves</a:t>
            </a:r>
          </a:p>
          <a:p>
            <a:pPr marL="171450" indent="-171450">
              <a:buFont typeface="Arial" pitchFamily="34" charset="0"/>
              <a:buChar char="•"/>
            </a:pPr>
            <a:r>
              <a:rPr lang="en-AU" sz="1200" kern="1200" dirty="0" smtClean="0">
                <a:solidFill>
                  <a:schemeClr val="tx1"/>
                </a:solidFill>
                <a:ea typeface="+mn-ea"/>
                <a:cs typeface="+mn-cs"/>
              </a:rPr>
              <a:t>Sharing theft-related intelligence and experiences with other operators</a:t>
            </a:r>
          </a:p>
          <a:p>
            <a:pPr marL="171450" indent="-171450">
              <a:buFont typeface="Arial" pitchFamily="34" charset="0"/>
              <a:buChar char="•"/>
            </a:pPr>
            <a:r>
              <a:rPr lang="en-AU" sz="1200" kern="1200" dirty="0" smtClean="0">
                <a:solidFill>
                  <a:schemeClr val="tx1"/>
                </a:solidFill>
                <a:ea typeface="+mn-ea"/>
                <a:cs typeface="+mn-cs"/>
              </a:rPr>
              <a:t>Implementing nominated protocols to protect business and customer information/data</a:t>
            </a:r>
          </a:p>
          <a:p>
            <a:pPr>
              <a:buFont typeface="Arial" pitchFamily="34" charset="0"/>
              <a:buNone/>
            </a:pPr>
            <a:r>
              <a:rPr lang="en-US" b="1" dirty="0" smtClean="0"/>
              <a:t>Classroom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splits class into small groups and asks groups to identify legislation, Codes and other sources which may ‘impose</a:t>
            </a:r>
            <a:r>
              <a:rPr lang="en-US" b="0" baseline="0" dirty="0" smtClean="0"/>
              <a:t> requirements’ on the development and content of theft minimisation policies and procedures</a:t>
            </a:r>
            <a:r>
              <a:rPr lang="en-US" b="0" dirty="0" smtClean="0"/>
              <a: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 xmlns:p14="http://schemas.microsoft.com/office/powerpoint/2010/main" val="3954398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giving examples of topics to which industry accepted standards may apply in relation to theft minimisation:</a:t>
            </a:r>
          </a:p>
          <a:p>
            <a:pPr marL="171450" indent="-171450">
              <a:buFont typeface="Arial" pitchFamily="34" charset="0"/>
              <a:buChar char="•"/>
            </a:pPr>
            <a:r>
              <a:rPr lang="en-AU" sz="1200" kern="1200" dirty="0" smtClean="0">
                <a:solidFill>
                  <a:schemeClr val="tx1"/>
                </a:solidFill>
                <a:ea typeface="+mn-ea"/>
                <a:cs typeface="+mn-cs"/>
              </a:rPr>
              <a:t>Protocols to be followed when checking customer bags and/or detaining suspects</a:t>
            </a:r>
          </a:p>
          <a:p>
            <a:pPr marL="171450" indent="-171450">
              <a:buFont typeface="Arial" pitchFamily="34" charset="0"/>
              <a:buChar char="•"/>
            </a:pPr>
            <a:r>
              <a:rPr lang="en-AU" sz="1200" kern="1200" dirty="0" smtClean="0">
                <a:solidFill>
                  <a:schemeClr val="tx1"/>
                </a:solidFill>
                <a:ea typeface="+mn-ea"/>
                <a:cs typeface="+mn-cs"/>
              </a:rPr>
              <a:t>Risk/threat identification, assessment and control procedures.</a:t>
            </a:r>
          </a:p>
          <a:p>
            <a:pPr marL="171450" indent="-171450">
              <a:buFont typeface="Arial" pitchFamily="34" charset="0"/>
              <a:buChar char="•"/>
            </a:pPr>
            <a:r>
              <a:rPr lang="en-AU" sz="1200" kern="1200" dirty="0" smtClean="0">
                <a:solidFill>
                  <a:schemeClr val="tx1"/>
                </a:solidFill>
                <a:ea typeface="+mn-ea"/>
                <a:cs typeface="+mn-cs"/>
              </a:rPr>
              <a:t>Accreditation of the organisation by a nominated body</a:t>
            </a:r>
          </a:p>
          <a:p>
            <a:pPr marL="171450" indent="-171450">
              <a:buFont typeface="Arial" pitchFamily="34" charset="0"/>
              <a:buChar char="•"/>
            </a:pPr>
            <a:r>
              <a:rPr lang="en-AU" sz="1200" kern="1200" dirty="0" smtClean="0">
                <a:solidFill>
                  <a:schemeClr val="tx1"/>
                </a:solidFill>
                <a:ea typeface="+mn-ea"/>
                <a:cs typeface="+mn-cs"/>
              </a:rPr>
              <a:t>Implementation of a nominated Quality Assurance scheme</a:t>
            </a:r>
          </a:p>
          <a:p>
            <a:pPr marL="171450" indent="-171450">
              <a:buFont typeface="Arial" pitchFamily="34" charset="0"/>
              <a:buChar char="•"/>
            </a:pPr>
            <a:r>
              <a:rPr lang="en-AU" sz="1200" kern="1200" dirty="0" smtClean="0">
                <a:solidFill>
                  <a:schemeClr val="tx1"/>
                </a:solidFill>
                <a:ea typeface="+mn-ea"/>
                <a:cs typeface="+mn-cs"/>
              </a:rPr>
              <a:t>Commitment to continuous improvement</a:t>
            </a:r>
          </a:p>
          <a:p>
            <a:pPr marL="171450" indent="-171450">
              <a:buFont typeface="Arial" pitchFamily="34" charset="0"/>
              <a:buChar char="•"/>
            </a:pPr>
            <a:r>
              <a:rPr lang="en-AU" sz="1200" kern="1200" dirty="0" smtClean="0">
                <a:solidFill>
                  <a:schemeClr val="tx1"/>
                </a:solidFill>
                <a:ea typeface="+mn-ea"/>
                <a:cs typeface="+mn-cs"/>
              </a:rPr>
              <a:t>Membership of relevant peak industry body.</a:t>
            </a:r>
          </a:p>
          <a:p>
            <a:pPr>
              <a:buFont typeface="Arial" pitchFamily="34" charset="0"/>
              <a:buNone/>
            </a:pPr>
            <a:endParaRPr lang="en-US" dirty="0" smtClean="0"/>
          </a:p>
          <a:p>
            <a:pPr>
              <a:buFont typeface="Arial" pitchFamily="34" charset="0"/>
              <a:buNone/>
            </a:pPr>
            <a:r>
              <a:rPr lang="en-US" b="1" dirty="0" smtClean="0"/>
              <a:t>Class Activity (1) – Demonstration and Practical Exercise</a:t>
            </a:r>
          </a:p>
          <a:p>
            <a:pPr>
              <a:buFont typeface="Arial" pitchFamily="34" charset="0"/>
              <a:buNone/>
            </a:pPr>
            <a:r>
              <a:rPr lang="en-US" b="0" dirty="0" smtClean="0"/>
              <a:t>Trainer demonstrates how to conduct a bag check and provides opportunity for students to practice same.</a:t>
            </a:r>
          </a:p>
          <a:p>
            <a:pPr>
              <a:buFont typeface="Arial" pitchFamily="34" charset="0"/>
              <a:buNone/>
            </a:pPr>
            <a:endParaRPr lang="en-US" b="0" dirty="0" smtClean="0"/>
          </a:p>
          <a:p>
            <a:pPr>
              <a:buFont typeface="Arial" pitchFamily="34" charset="0"/>
              <a:buNone/>
            </a:pPr>
            <a:r>
              <a:rPr lang="en-US" b="1" dirty="0" smtClean="0"/>
              <a:t>Class Activity (2) – Guest Speaker</a:t>
            </a:r>
          </a:p>
          <a:p>
            <a:pPr>
              <a:buFont typeface="Arial" pitchFamily="34" charset="0"/>
              <a:buNone/>
            </a:pPr>
            <a:r>
              <a:rPr lang="en-US" b="0" dirty="0" smtClean="0"/>
              <a:t>Trainer arranges for Guest Speaker from an accreditation or QA</a:t>
            </a:r>
            <a:r>
              <a:rPr lang="en-US" b="0" baseline="0" dirty="0" smtClean="0"/>
              <a:t> body to attend and discuss requirements for, and benefits of, joining.</a:t>
            </a:r>
          </a:p>
          <a:p>
            <a:pPr>
              <a:buFont typeface="Arial" pitchFamily="34" charset="0"/>
              <a:buNone/>
            </a:pPr>
            <a:endParaRPr lang="en-US" b="0" baseline="0" dirty="0" smtClean="0"/>
          </a:p>
          <a:p>
            <a:pPr>
              <a:buFont typeface="Arial" pitchFamily="34" charset="0"/>
              <a:buNone/>
            </a:pPr>
            <a:r>
              <a:rPr lang="en-US" b="1" dirty="0" smtClean="0"/>
              <a:t>Class Activity (3) – Guest Speaker</a:t>
            </a:r>
          </a:p>
          <a:p>
            <a:pPr>
              <a:buFont typeface="Arial" pitchFamily="34" charset="0"/>
              <a:buNone/>
            </a:pPr>
            <a:r>
              <a:rPr lang="en-US" b="0" dirty="0" smtClean="0"/>
              <a:t>Trainer arranges for Guest Speaker from a peak industry body </a:t>
            </a:r>
            <a:r>
              <a:rPr lang="en-US" b="0" baseline="0" dirty="0" smtClean="0"/>
              <a:t>to attend and discuss reasons organisations should join and participate in activities and events.</a:t>
            </a:r>
            <a:endParaRPr lang="en-US" b="0" dirty="0" smtClean="0"/>
          </a:p>
          <a:p>
            <a:pPr>
              <a:buFont typeface="Arial" pitchFamily="34" charset="0"/>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 xmlns:p14="http://schemas.microsoft.com/office/powerpoint/2010/main" val="14880896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notes thefts need to be reported and/or recorded.</a:t>
            </a:r>
          </a:p>
          <a:p>
            <a:pPr marL="171450" indent="-171450">
              <a:buFont typeface="Arial" pitchFamily="34" charset="0"/>
              <a:buChar char="•"/>
            </a:pPr>
            <a:r>
              <a:rPr lang="en-AU" sz="1200" kern="1200" dirty="0" smtClean="0">
                <a:solidFill>
                  <a:schemeClr val="tx1"/>
                </a:solidFill>
                <a:ea typeface="+mn-ea"/>
                <a:cs typeface="+mn-cs"/>
              </a:rPr>
              <a:t>Most establishments require thefts or other loss events to be reported and/or recorded in some way.</a:t>
            </a:r>
          </a:p>
          <a:p>
            <a:pPr marL="171450" indent="-171450">
              <a:buFont typeface="Arial" pitchFamily="34" charset="0"/>
              <a:buChar char="•"/>
            </a:pPr>
            <a:r>
              <a:rPr lang="en-AU" sz="1200" kern="1200" dirty="0" smtClean="0">
                <a:solidFill>
                  <a:schemeClr val="tx1"/>
                </a:solidFill>
                <a:ea typeface="+mn-ea"/>
                <a:cs typeface="+mn-cs"/>
              </a:rPr>
              <a:t>The immediate need for this reporting means verbal notification (in person or by phone/two-way radio) is the initial and preferred reporting option: often, a written, follow-up report may have to be prepared. </a:t>
            </a:r>
          </a:p>
          <a:p>
            <a:pPr marL="171450" indent="-171450">
              <a:buFont typeface="Arial" pitchFamily="34" charset="0"/>
              <a:buChar char="•"/>
            </a:pPr>
            <a:r>
              <a:rPr lang="en-AU" sz="1200" kern="1200" dirty="0" smtClean="0">
                <a:solidFill>
                  <a:schemeClr val="tx1"/>
                </a:solidFill>
                <a:ea typeface="+mn-ea"/>
                <a:cs typeface="+mn-cs"/>
              </a:rPr>
              <a:t>In some instances (such as minor losses where the cause of the loss has been identified and remedied) notification may be permitted via internal email.</a:t>
            </a:r>
          </a:p>
          <a:p>
            <a:pPr marL="171450" indent="-171450">
              <a:buFont typeface="Arial" pitchFamily="34" charset="0"/>
              <a:buChar char="•"/>
            </a:pPr>
            <a:r>
              <a:rPr lang="en-AU" sz="1200" kern="1200" dirty="0" smtClean="0">
                <a:solidFill>
                  <a:schemeClr val="tx1"/>
                </a:solidFill>
                <a:ea typeface="+mn-ea"/>
                <a:cs typeface="+mn-cs"/>
              </a:rPr>
              <a:t>You may have to complete a ‘Loss report’ form, or you may be asked to complete details in a ‘Security register’.</a:t>
            </a:r>
          </a:p>
          <a:p>
            <a:pPr marL="171450" indent="-171450">
              <a:buFont typeface="Arial" pitchFamily="34" charset="0"/>
              <a:buChar char="•"/>
            </a:pPr>
            <a:r>
              <a:rPr lang="en-AU" sz="1200" kern="1200" dirty="0" smtClean="0">
                <a:solidFill>
                  <a:schemeClr val="tx1"/>
                </a:solidFill>
                <a:ea typeface="+mn-ea"/>
                <a:cs typeface="+mn-cs"/>
              </a:rPr>
              <a:t>Regardless of the format of the written report you will need to ensure you supply full and honest details of the event to the best of your knowledge and ability to do so. </a:t>
            </a:r>
          </a:p>
          <a:p>
            <a:pPr marL="171450" indent="-171450">
              <a:buFont typeface="Arial" pitchFamily="34" charset="0"/>
              <a:buChar char="•"/>
            </a:pPr>
            <a:r>
              <a:rPr lang="en-AU" sz="1200" kern="1200" dirty="0" smtClean="0">
                <a:solidFill>
                  <a:schemeClr val="tx1"/>
                </a:solidFill>
                <a:ea typeface="+mn-ea"/>
                <a:cs typeface="+mn-cs"/>
              </a:rPr>
              <a:t>It must be remembered there is no room in these reports for supposition, only facts.</a:t>
            </a:r>
          </a:p>
          <a:p>
            <a:pPr>
              <a:buFont typeface="Arial" pitchFamily="34" charset="0"/>
              <a:buNone/>
            </a:pPr>
            <a:endParaRPr lang="en-US" dirty="0" smtClean="0"/>
          </a:p>
          <a:p>
            <a:pPr>
              <a:buFont typeface="Arial" pitchFamily="34" charset="0"/>
              <a:buNone/>
            </a:pPr>
            <a:r>
              <a:rPr lang="en-US" b="1" dirty="0" smtClean="0"/>
              <a:t>Classroom Activity</a:t>
            </a:r>
          </a:p>
          <a:p>
            <a:pPr>
              <a:buFont typeface="Arial" pitchFamily="34" charset="0"/>
              <a:buNone/>
            </a:pPr>
            <a:r>
              <a:rPr lang="en-US" b="0" dirty="0" smtClean="0"/>
              <a:t>Trainer distributes</a:t>
            </a:r>
            <a:r>
              <a:rPr lang="en-US" b="0" baseline="0" dirty="0" smtClean="0"/>
              <a:t> and discusses sample forms used to record/report thefts.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 xmlns:p14="http://schemas.microsoft.com/office/powerpoint/2010/main" val="2807520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a:t>
            </a:r>
            <a:r>
              <a:rPr lang="en-AU" sz="1200" kern="1200" dirty="0" smtClean="0">
                <a:solidFill>
                  <a:schemeClr val="tx1"/>
                </a:solidFill>
                <a:ea typeface="+mn-ea"/>
                <a:cs typeface="+mn-cs"/>
              </a:rPr>
              <a:t>information supplied when reporting/recording theft stating notification should include, where it is possible to do so:</a:t>
            </a:r>
          </a:p>
          <a:p>
            <a:pPr marL="171450" indent="-171450">
              <a:buFont typeface="Arial" pitchFamily="34" charset="0"/>
              <a:buChar char="•"/>
            </a:pPr>
            <a:r>
              <a:rPr lang="en-AU" sz="1200" kern="1200" dirty="0" smtClean="0">
                <a:solidFill>
                  <a:schemeClr val="tx1"/>
                </a:solidFill>
                <a:ea typeface="+mn-ea"/>
                <a:cs typeface="+mn-cs"/>
              </a:rPr>
              <a:t>Where the loss occurred from – stating the department and the exact location of the cash/product stolen (such as ‘Merchandise display adjacent to main entrance; lower shelf’)</a:t>
            </a:r>
          </a:p>
          <a:p>
            <a:pPr marL="171450" indent="-171450">
              <a:buFont typeface="Arial" pitchFamily="34" charset="0"/>
              <a:buChar char="•"/>
            </a:pPr>
            <a:r>
              <a:rPr lang="en-AU" sz="1200" kern="1200" dirty="0" smtClean="0">
                <a:solidFill>
                  <a:schemeClr val="tx1"/>
                </a:solidFill>
                <a:ea typeface="+mn-ea"/>
                <a:cs typeface="+mn-cs"/>
              </a:rPr>
              <a:t>At what time it occurred – this may be a precise time (such as ‘3.45 PM Friday 23/11/2016’ or a time-range such as ‘Between the hours of 01.00 AM and 09.00 AM on Friday 23/11/2016’)</a:t>
            </a:r>
          </a:p>
          <a:p>
            <a:pPr marL="171450" indent="-171450">
              <a:buFont typeface="Arial" pitchFamily="34" charset="0"/>
              <a:buChar char="•"/>
            </a:pPr>
            <a:r>
              <a:rPr lang="en-AU" sz="1200" kern="1200" dirty="0" smtClean="0">
                <a:solidFill>
                  <a:schemeClr val="tx1"/>
                </a:solidFill>
                <a:ea typeface="+mn-ea"/>
                <a:cs typeface="+mn-cs"/>
              </a:rPr>
              <a:t>What was stolen – this may be a very exact description such as ‘1 carton [24] of 600ml Evian still bottled water’ or a general statement such as ‘an unidentified amount of complimentary merchandise including caps, T-shirts, pens and shoulder bags’: you should also attempt to place a monetary value on what has been lost</a:t>
            </a:r>
          </a:p>
          <a:p>
            <a:pPr marL="171450" indent="-171450">
              <a:buFont typeface="Arial" pitchFamily="34" charset="0"/>
              <a:buChar char="•"/>
            </a:pPr>
            <a:r>
              <a:rPr lang="en-AU" sz="1200" kern="1200" dirty="0" smtClean="0">
                <a:solidFill>
                  <a:schemeClr val="tx1"/>
                </a:solidFill>
                <a:ea typeface="+mn-ea"/>
                <a:cs typeface="+mn-cs"/>
              </a:rPr>
              <a:t>Your details – including your name, position and contact details</a:t>
            </a:r>
          </a:p>
          <a:p>
            <a:pPr marL="171450" indent="-171450">
              <a:buFont typeface="Arial" pitchFamily="34" charset="0"/>
              <a:buChar char="•"/>
            </a:pPr>
            <a:r>
              <a:rPr lang="en-AU" sz="1200" kern="1200" dirty="0" smtClean="0">
                <a:solidFill>
                  <a:schemeClr val="tx1"/>
                </a:solidFill>
                <a:ea typeface="+mn-ea"/>
                <a:cs typeface="+mn-cs"/>
              </a:rPr>
              <a:t>Name of any witnesses (if applicable) and their contact details – these may be staff and/or customers: customers cannot be compelled to provide a statement</a:t>
            </a:r>
          </a:p>
          <a:p>
            <a:pPr marL="171450" indent="-171450">
              <a:buFont typeface="Arial" pitchFamily="34" charset="0"/>
              <a:buChar char="•"/>
            </a:pPr>
            <a:r>
              <a:rPr lang="en-AU" sz="1200" kern="1200" dirty="0" smtClean="0">
                <a:solidFill>
                  <a:schemeClr val="tx1"/>
                </a:solidFill>
                <a:ea typeface="+mn-ea"/>
                <a:cs typeface="+mn-cs"/>
              </a:rPr>
              <a:t>Your thoughts on what happened – including who may have been involved and what occurred/how the loss happened: be sure to make sure your thoughts are clearly identified as such and not able to be confused with ‘the facts’.</a:t>
            </a:r>
          </a:p>
          <a:p>
            <a:pPr>
              <a:buFont typeface="Arial" pitchFamily="34" charset="0"/>
              <a:buNone/>
            </a:pPr>
            <a:endParaRPr lang="en-US" dirty="0" smtClean="0"/>
          </a:p>
          <a:p>
            <a:pPr>
              <a:buFont typeface="Arial" pitchFamily="34" charset="0"/>
              <a:buNone/>
            </a:pPr>
            <a:r>
              <a:rPr lang="en-US" b="1" dirty="0" smtClean="0"/>
              <a:t>Class Activity - Practical Activity</a:t>
            </a:r>
          </a:p>
          <a:p>
            <a:pPr>
              <a:buFont typeface="Arial" pitchFamily="34" charset="0"/>
              <a:buNone/>
            </a:pPr>
            <a:r>
              <a:rPr lang="en-US" b="0" dirty="0" smtClean="0"/>
              <a:t>Trainer describes a theft event and asks individual students to prepare a Theft</a:t>
            </a:r>
            <a:r>
              <a:rPr lang="en-US" b="0" baseline="0" dirty="0" smtClean="0"/>
              <a:t> Report to record all relevant details.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 xmlns:p14="http://schemas.microsoft.com/office/powerpoint/2010/main" val="1881774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when </a:t>
            </a:r>
            <a:r>
              <a:rPr lang="en-AU" sz="1200" kern="1200" dirty="0" smtClean="0">
                <a:solidFill>
                  <a:schemeClr val="tx1"/>
                </a:solidFill>
                <a:ea typeface="+mn-ea"/>
                <a:cs typeface="+mn-cs"/>
              </a:rPr>
              <a:t>the theft record/report has been completed:</a:t>
            </a:r>
          </a:p>
          <a:p>
            <a:pPr marL="171450" indent="-171450">
              <a:buFont typeface="Arial" pitchFamily="34" charset="0"/>
              <a:buChar char="•"/>
            </a:pPr>
            <a:r>
              <a:rPr lang="en-AU" sz="1200" kern="1200" dirty="0" smtClean="0">
                <a:solidFill>
                  <a:schemeClr val="tx1"/>
                </a:solidFill>
                <a:ea typeface="+mn-ea"/>
                <a:cs typeface="+mn-cs"/>
              </a:rPr>
              <a:t>Keep a copy for your reference/records</a:t>
            </a:r>
          </a:p>
          <a:p>
            <a:pPr marL="171450" indent="-171450">
              <a:buFont typeface="Arial" pitchFamily="34" charset="0"/>
              <a:buChar char="•"/>
            </a:pPr>
            <a:r>
              <a:rPr lang="en-AU" sz="1200" kern="1200" dirty="0" smtClean="0">
                <a:solidFill>
                  <a:schemeClr val="tx1"/>
                </a:solidFill>
                <a:ea typeface="+mn-ea"/>
                <a:cs typeface="+mn-cs"/>
              </a:rPr>
              <a:t>Forward it promptly to the nominated person</a:t>
            </a:r>
          </a:p>
          <a:p>
            <a:pPr marL="171450" indent="-171450">
              <a:buFont typeface="Arial" pitchFamily="34" charset="0"/>
              <a:buChar char="•"/>
            </a:pPr>
            <a:r>
              <a:rPr lang="en-AU" sz="1200" kern="1200" dirty="0" smtClean="0">
                <a:solidFill>
                  <a:schemeClr val="tx1"/>
                </a:solidFill>
                <a:ea typeface="+mn-ea"/>
                <a:cs typeface="+mn-cs"/>
              </a:rPr>
              <a:t>Be prepared to explain and/or clarify points addressed.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 xmlns:p14="http://schemas.microsoft.com/office/powerpoint/2010/main" val="12554234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t>
            </a:r>
            <a:r>
              <a:rPr lang="en-AU" sz="1200" kern="1200" dirty="0" smtClean="0">
                <a:solidFill>
                  <a:schemeClr val="tx1"/>
                </a:solidFill>
                <a:ea typeface="+mn-ea"/>
                <a:cs typeface="+mn-cs"/>
              </a:rPr>
              <a:t>documentation to support theft minimisation protocols is/may be necessary to:</a:t>
            </a:r>
          </a:p>
          <a:p>
            <a:pPr marL="171450" indent="-171450">
              <a:buFont typeface="Arial" pitchFamily="34" charset="0"/>
              <a:buChar char="•"/>
            </a:pPr>
            <a:r>
              <a:rPr lang="en-AU" sz="1200" kern="1200" dirty="0" smtClean="0">
                <a:solidFill>
                  <a:schemeClr val="tx1"/>
                </a:solidFill>
                <a:ea typeface="+mn-ea"/>
                <a:cs typeface="+mn-cs"/>
              </a:rPr>
              <a:t>Formalise agreed procedures – so there are written copies available</a:t>
            </a:r>
          </a:p>
          <a:p>
            <a:pPr marL="171450" indent="-171450">
              <a:buFont typeface="Arial" pitchFamily="34" charset="0"/>
              <a:buChar char="•"/>
            </a:pPr>
            <a:r>
              <a:rPr lang="en-AU" sz="1200" kern="1200" dirty="0" smtClean="0">
                <a:solidFill>
                  <a:schemeClr val="tx1"/>
                </a:solidFill>
                <a:ea typeface="+mn-ea"/>
                <a:cs typeface="+mn-cs"/>
              </a:rPr>
              <a:t>Underpin staff training – so staff are trained in the correct/current procedures</a:t>
            </a:r>
          </a:p>
          <a:p>
            <a:pPr marL="171450" indent="-171450">
              <a:buFont typeface="Arial" pitchFamily="34" charset="0"/>
              <a:buChar char="•"/>
            </a:pPr>
            <a:r>
              <a:rPr lang="en-AU" sz="1200" kern="1200" dirty="0" smtClean="0">
                <a:solidFill>
                  <a:schemeClr val="tx1"/>
                </a:solidFill>
                <a:ea typeface="+mn-ea"/>
                <a:cs typeface="+mn-cs"/>
              </a:rPr>
              <a:t>Inform others (customers, members of the public, media, partners, service providers) of the procedures which apply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 xmlns:p14="http://schemas.microsoft.com/office/powerpoint/2010/main" val="29093156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explaining need for supporting documentation:</a:t>
            </a:r>
          </a:p>
          <a:p>
            <a:pPr marL="171450" indent="-171450">
              <a:buFont typeface="Arial" pitchFamily="34" charset="0"/>
              <a:buChar char="•"/>
            </a:pPr>
            <a:r>
              <a:rPr lang="en-AU" sz="1200" kern="1200" dirty="0" smtClean="0">
                <a:solidFill>
                  <a:schemeClr val="tx1"/>
                </a:solidFill>
                <a:ea typeface="+mn-ea"/>
                <a:cs typeface="+mn-cs"/>
              </a:rPr>
              <a:t>Comply with internally and/or externally imposed compliance requirements</a:t>
            </a:r>
          </a:p>
          <a:p>
            <a:pPr marL="171450" indent="-171450">
              <a:buFont typeface="Arial" pitchFamily="34" charset="0"/>
              <a:buChar char="•"/>
            </a:pPr>
            <a:r>
              <a:rPr lang="en-AU" sz="1200" kern="1200" dirty="0" smtClean="0">
                <a:solidFill>
                  <a:schemeClr val="tx1"/>
                </a:solidFill>
                <a:ea typeface="+mn-ea"/>
                <a:cs typeface="+mn-cs"/>
              </a:rPr>
              <a:t>Facilitate their inclusion in staff manuals and similar</a:t>
            </a:r>
          </a:p>
          <a:p>
            <a:pPr marL="171450" indent="-171450">
              <a:buFont typeface="Arial" pitchFamily="34" charset="0"/>
              <a:buChar char="•"/>
            </a:pPr>
            <a:r>
              <a:rPr lang="en-AU" sz="1200" kern="1200" dirty="0" smtClean="0">
                <a:solidFill>
                  <a:schemeClr val="tx1"/>
                </a:solidFill>
                <a:ea typeface="+mn-ea"/>
                <a:cs typeface="+mn-cs"/>
              </a:rPr>
              <a:t>Provide the basis for the formulation of other workplace documents such as operational checklists, reports or forms </a:t>
            </a:r>
          </a:p>
          <a:p>
            <a:pPr marL="171450" indent="-171450">
              <a:buFont typeface="Arial" pitchFamily="34" charset="0"/>
              <a:buChar char="•"/>
            </a:pPr>
            <a:r>
              <a:rPr lang="en-AU" sz="1200" kern="1200" dirty="0" smtClean="0">
                <a:solidFill>
                  <a:schemeClr val="tx1"/>
                </a:solidFill>
                <a:ea typeface="+mn-ea"/>
                <a:cs typeface="+mn-cs"/>
              </a:rPr>
              <a:t>Ensure everyone is informed of the same thing/s so there is uniformity and consistency in relation to this topic.</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 xmlns:p14="http://schemas.microsoft.com/office/powerpoint/2010/main" val="20336856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dirty="0" smtClean="0"/>
              <a:t>Trainer gives examples of</a:t>
            </a:r>
            <a:r>
              <a:rPr lang="en-US" baseline="0" dirty="0" smtClean="0"/>
              <a:t> documentation used and the role it plays in the operation and theft minimisation processes of the business:</a:t>
            </a:r>
          </a:p>
          <a:p>
            <a:pPr marL="171450" indent="-171450">
              <a:buFont typeface="Arial" pitchFamily="34" charset="0"/>
              <a:buChar char="•"/>
            </a:pPr>
            <a:r>
              <a:rPr lang="en-AU" sz="1200" kern="1200" dirty="0" smtClean="0">
                <a:solidFill>
                  <a:schemeClr val="tx1"/>
                </a:solidFill>
                <a:ea typeface="+mn-ea"/>
                <a:cs typeface="+mn-cs"/>
              </a:rPr>
              <a:t>Cash handling and transaction forms – which help reduce or deter the potential for theft or fraud by providing a paper-based (or electronic) trail of transactions such as:</a:t>
            </a:r>
          </a:p>
          <a:p>
            <a:pPr marL="628650" lvl="1" indent="-171450">
              <a:buFont typeface="Arial" pitchFamily="34" charset="0"/>
              <a:buChar char="•"/>
            </a:pPr>
            <a:r>
              <a:rPr lang="en-AU" sz="1200" kern="1200" dirty="0" smtClean="0">
                <a:solidFill>
                  <a:schemeClr val="tx1"/>
                </a:solidFill>
                <a:ea typeface="+mn-ea"/>
                <a:cs typeface="+mn-cs"/>
              </a:rPr>
              <a:t>Refunds to customers; Exchange- of products, tickets, seats, options, tour inclusions and similar; Voids – where a transaction or sale was made in error and needs to be erased/removed from the cash register/control system; Sales – by providing details of the sale such as products/services purchased, time and date, methods of payment, identity of person making the sale, discounts or other price variations applied to the sale.</a:t>
            </a:r>
          </a:p>
          <a:p>
            <a:pPr marL="171450" indent="-171450">
              <a:buFont typeface="Arial" pitchFamily="34" charset="0"/>
              <a:buChar char="•"/>
            </a:pPr>
            <a:r>
              <a:rPr lang="en-AU" sz="1200" kern="1200" dirty="0" smtClean="0">
                <a:solidFill>
                  <a:schemeClr val="tx1"/>
                </a:solidFill>
                <a:ea typeface="+mn-ea"/>
                <a:cs typeface="+mn-cs"/>
              </a:rPr>
              <a:t>Inspection checklists – used in terms of theft minimisation to: </a:t>
            </a:r>
          </a:p>
          <a:p>
            <a:pPr marL="628650" lvl="1" indent="-171450">
              <a:buFont typeface="Arial" pitchFamily="34" charset="0"/>
              <a:buChar char="•"/>
            </a:pPr>
            <a:r>
              <a:rPr lang="en-AU" sz="1200" kern="1200" dirty="0" smtClean="0">
                <a:solidFill>
                  <a:schemeClr val="tx1"/>
                </a:solidFill>
                <a:ea typeface="+mn-ea"/>
                <a:cs typeface="+mn-cs"/>
              </a:rPr>
              <a:t>Guide inspections of the business when seeking to identify potential for theft; Provide a hard-copy record of inspections for future reference; Prove the checks were undertaken; List issues which were identified as requiring action so as to prevent future theft</a:t>
            </a:r>
          </a:p>
          <a:p>
            <a:pPr marL="171450" indent="-171450">
              <a:buFont typeface="Arial" pitchFamily="34" charset="0"/>
              <a:buChar char="•"/>
            </a:pPr>
            <a:r>
              <a:rPr lang="en-AU" sz="1200" kern="1200" dirty="0" smtClean="0">
                <a:solidFill>
                  <a:schemeClr val="tx1"/>
                </a:solidFill>
                <a:ea typeface="+mn-ea"/>
                <a:cs typeface="+mn-cs"/>
              </a:rPr>
              <a:t>Recording forms and theft reports – to be used in the event a theft event occurs, providing necessary details of:</a:t>
            </a:r>
          </a:p>
          <a:p>
            <a:pPr marL="628650" lvl="1" indent="-171450">
              <a:buFont typeface="Arial" pitchFamily="34" charset="0"/>
              <a:buChar char="•"/>
            </a:pPr>
            <a:r>
              <a:rPr lang="en-AU" sz="1200" kern="1200" dirty="0" smtClean="0">
                <a:solidFill>
                  <a:schemeClr val="tx1"/>
                </a:solidFill>
                <a:ea typeface="+mn-ea"/>
                <a:cs typeface="+mn-cs"/>
              </a:rPr>
              <a:t>What occurred; When and where it took place; Who was involved – offenders and staff/authorities who responded; Value and description of items damaged or stolen; The immediate action taken by staff/the business in response to the event; Suggestions/recommendations to prevent recurrence</a:t>
            </a:r>
          </a:p>
          <a:p>
            <a:pPr lvl="0">
              <a:buFont typeface="Arial" pitchFamily="34" charset="0"/>
              <a:buChar char="•"/>
            </a:pPr>
            <a:endParaRPr lang="en-AU" sz="1200" kern="1200" dirty="0" smtClean="0">
              <a:solidFill>
                <a:schemeClr val="tx1"/>
              </a:solidFill>
              <a:ea typeface="+mn-ea"/>
              <a:cs typeface="+mn-cs"/>
            </a:endParaRPr>
          </a:p>
          <a:p>
            <a:pPr>
              <a:buFont typeface="Arial" pitchFamily="34" charset="0"/>
              <a:buNone/>
            </a:pPr>
            <a:r>
              <a:rPr lang="en-US" b="1" baseline="0" dirty="0" smtClean="0"/>
              <a:t>Class Activity – Handouts </a:t>
            </a:r>
          </a:p>
          <a:p>
            <a:pPr>
              <a:buFont typeface="Arial" pitchFamily="34" charset="0"/>
              <a:buNone/>
            </a:pPr>
            <a:r>
              <a:rPr lang="en-US" b="0" baseline="0" dirty="0" smtClean="0"/>
              <a:t>Trainer distributes and discusses documents identified on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 xmlns:p14="http://schemas.microsoft.com/office/powerpoint/2010/main" val="21011820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US" dirty="0" smtClean="0"/>
              <a:t>Trainer continues presenting examples of</a:t>
            </a:r>
            <a:r>
              <a:rPr lang="en-US" baseline="0" dirty="0" smtClean="0"/>
              <a:t> documentation used and the role it plays in the operation and theft minimisation processes of the business:</a:t>
            </a:r>
          </a:p>
          <a:p>
            <a:pPr marL="171450" indent="-171450">
              <a:buFont typeface="Arial" pitchFamily="34" charset="0"/>
              <a:buChar char="•"/>
            </a:pPr>
            <a:r>
              <a:rPr lang="en-AU" sz="1200" kern="1200" dirty="0" smtClean="0">
                <a:solidFill>
                  <a:schemeClr val="tx1"/>
                </a:solidFill>
                <a:ea typeface="+mn-ea"/>
                <a:cs typeface="+mn-cs"/>
              </a:rPr>
              <a:t>Forms to support and track stock and stock movement – these will include paper-based or electronic forms such as:</a:t>
            </a:r>
          </a:p>
          <a:p>
            <a:pPr marL="628650" lvl="1" indent="-171450">
              <a:buFont typeface="Arial" pitchFamily="34" charset="0"/>
              <a:buChar char="•"/>
            </a:pPr>
            <a:r>
              <a:rPr lang="en-AU" sz="1200" kern="1200" dirty="0" smtClean="0">
                <a:solidFill>
                  <a:schemeClr val="tx1"/>
                </a:solidFill>
                <a:ea typeface="+mn-ea"/>
                <a:cs typeface="+mn-cs"/>
              </a:rPr>
              <a:t>Requisitions – for requesting stock for a department from the storage area of the business</a:t>
            </a:r>
          </a:p>
          <a:p>
            <a:pPr marL="628650" lvl="1" indent="-171450">
              <a:buFont typeface="Arial" pitchFamily="34" charset="0"/>
              <a:buChar char="•"/>
            </a:pPr>
            <a:r>
              <a:rPr lang="en-AU" sz="1200" kern="1200" dirty="0" smtClean="0">
                <a:solidFill>
                  <a:schemeClr val="tx1"/>
                </a:solidFill>
                <a:ea typeface="+mn-ea"/>
                <a:cs typeface="+mn-cs"/>
              </a:rPr>
              <a:t>Stock take sheets – to record stock-on-hand when a stock-take/stock count is done</a:t>
            </a:r>
          </a:p>
          <a:p>
            <a:pPr marL="628650" lvl="1" indent="-171450">
              <a:buFont typeface="Arial" pitchFamily="34" charset="0"/>
              <a:buChar char="•"/>
            </a:pPr>
            <a:r>
              <a:rPr lang="en-AU" sz="1200" kern="1200" dirty="0" smtClean="0">
                <a:solidFill>
                  <a:schemeClr val="tx1"/>
                </a:solidFill>
                <a:ea typeface="+mn-ea"/>
                <a:cs typeface="+mn-cs"/>
              </a:rPr>
              <a:t>Bin cards – to record the quantity of individual items in the stores area and track its movement/status in terms of when and how much stock was delivered into the business, amount of product on-hand, issue of items to departments</a:t>
            </a:r>
          </a:p>
          <a:p>
            <a:pPr marL="628650" lvl="1" indent="-171450">
              <a:buFont typeface="Arial" pitchFamily="34" charset="0"/>
              <a:buChar char="•"/>
            </a:pPr>
            <a:r>
              <a:rPr lang="en-AU" sz="1200" kern="1200" dirty="0" smtClean="0">
                <a:solidFill>
                  <a:schemeClr val="tx1"/>
                </a:solidFill>
                <a:ea typeface="+mn-ea"/>
                <a:cs typeface="+mn-cs"/>
              </a:rPr>
              <a:t>Transfer sheets – used to record stock (by type, number, date) when one department transfers items to another department/area</a:t>
            </a:r>
          </a:p>
          <a:p>
            <a:pPr marL="628650" lvl="1" indent="-171450">
              <a:buFont typeface="Arial" pitchFamily="34" charset="0"/>
              <a:buChar char="•"/>
            </a:pPr>
            <a:r>
              <a:rPr lang="en-AU" sz="1200" kern="1200" dirty="0" smtClean="0">
                <a:solidFill>
                  <a:schemeClr val="tx1"/>
                </a:solidFill>
                <a:ea typeface="+mn-ea"/>
                <a:cs typeface="+mn-cs"/>
              </a:rPr>
              <a:t>Damaged goods – recording stock items which may be unsaleable (and hence thrown out, resulting in zero revenue for that item), returned to a supplier for credit, or given away as a complimentary item, or sold at a discounted rate </a:t>
            </a:r>
          </a:p>
          <a:p>
            <a:pPr marL="628650" lvl="1" indent="-171450">
              <a:buFont typeface="Arial" pitchFamily="34" charset="0"/>
              <a:buChar char="•"/>
            </a:pPr>
            <a:r>
              <a:rPr lang="en-AU" sz="1200" kern="1200" dirty="0" smtClean="0">
                <a:solidFill>
                  <a:schemeClr val="tx1"/>
                </a:solidFill>
                <a:ea typeface="+mn-ea"/>
                <a:cs typeface="+mn-cs"/>
              </a:rPr>
              <a:t>Tickets – so there it is possible to track sales and verify physical tickets on-hand</a:t>
            </a:r>
          </a:p>
          <a:p>
            <a:pPr marL="628650" lvl="1" indent="-171450">
              <a:buFont typeface="Arial" pitchFamily="34" charset="0"/>
              <a:buChar char="•"/>
            </a:pPr>
            <a:r>
              <a:rPr lang="en-AU" sz="1200" kern="1200" dirty="0" smtClean="0">
                <a:solidFill>
                  <a:schemeClr val="tx1"/>
                </a:solidFill>
                <a:ea typeface="+mn-ea"/>
                <a:cs typeface="+mn-cs"/>
              </a:rPr>
              <a:t> Vouchers – so there is a process to track/record their issuance, verify stock on-hand and ensure they are completed correctly and voided/invalidated correctly as and when required.</a:t>
            </a:r>
          </a:p>
          <a:p>
            <a:pPr>
              <a:buFont typeface="Arial" pitchFamily="34" charset="0"/>
              <a:buNone/>
            </a:pPr>
            <a:endParaRPr lang="en-US" baseline="0" dirty="0" smtClean="0"/>
          </a:p>
          <a:p>
            <a:pPr>
              <a:buFont typeface="Arial" pitchFamily="34" charset="0"/>
              <a:buNone/>
            </a:pPr>
            <a:r>
              <a:rPr lang="en-US" b="1" baseline="0" dirty="0" smtClean="0"/>
              <a:t>Class Activity (1) – Handouts </a:t>
            </a:r>
          </a:p>
          <a:p>
            <a:pPr>
              <a:buFont typeface="Arial" pitchFamily="34" charset="0"/>
              <a:buNone/>
            </a:pPr>
            <a:r>
              <a:rPr lang="en-US" b="0" baseline="0" dirty="0" smtClean="0"/>
              <a:t>Trainer distributes and discusses examples of documentation identified on slide.</a:t>
            </a:r>
          </a:p>
          <a:p>
            <a:pPr>
              <a:buFont typeface="Arial" pitchFamily="34" charset="0"/>
              <a:buNone/>
            </a:pPr>
            <a:endParaRPr lang="en-US" b="0" baseline="0" dirty="0" smtClean="0"/>
          </a:p>
          <a:p>
            <a:pPr>
              <a:buFont typeface="Arial" pitchFamily="34" charset="0"/>
              <a:buNone/>
            </a:pPr>
            <a:r>
              <a:rPr lang="en-US" b="1" baseline="0" dirty="0" smtClean="0"/>
              <a:t>Class Activity (2) – Demonstration and Practical Exercise</a:t>
            </a:r>
          </a:p>
          <a:p>
            <a:pPr>
              <a:buFont typeface="Arial" pitchFamily="34" charset="0"/>
              <a:buNone/>
            </a:pPr>
            <a:r>
              <a:rPr lang="en-US" b="0" baseline="0" dirty="0" smtClean="0"/>
              <a:t>Trainer demonstrates how to complete a range of documents on the slide and provides opportunity for students to practice same.</a:t>
            </a:r>
          </a:p>
          <a:p>
            <a:pPr>
              <a:buFont typeface="Arial" pitchFamily="34" charset="0"/>
              <a:buNone/>
            </a:pPr>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 xmlns:p14="http://schemas.microsoft.com/office/powerpoint/2010/main" val="1648888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Trainer states trialling </a:t>
            </a:r>
            <a:r>
              <a:rPr lang="en-AU" sz="1200" kern="1200" dirty="0" smtClean="0">
                <a:solidFill>
                  <a:schemeClr val="tx1"/>
                </a:solidFill>
                <a:ea typeface="+mn-ea"/>
                <a:cs typeface="+mn-cs"/>
              </a:rPr>
              <a:t>theft minimisation protocols may include:</a:t>
            </a:r>
          </a:p>
          <a:p>
            <a:pPr marL="171450" indent="-171450">
              <a:buFont typeface="Arial" pitchFamily="34" charset="0"/>
              <a:buChar char="•"/>
            </a:pPr>
            <a:r>
              <a:rPr lang="en-AU" sz="1200" kern="1200" dirty="0" smtClean="0">
                <a:solidFill>
                  <a:schemeClr val="tx1"/>
                </a:solidFill>
                <a:ea typeface="+mn-ea"/>
                <a:cs typeface="+mn-cs"/>
              </a:rPr>
              <a:t>Planning for identified/potential theft events – which requires you to:</a:t>
            </a:r>
          </a:p>
          <a:p>
            <a:pPr marL="628650" lvl="1" indent="-171450">
              <a:buFont typeface="Arial" pitchFamily="34" charset="0"/>
              <a:buChar char="•"/>
            </a:pPr>
            <a:r>
              <a:rPr lang="en-AU" sz="1200" kern="1200" dirty="0" smtClean="0">
                <a:solidFill>
                  <a:schemeClr val="tx1"/>
                </a:solidFill>
                <a:ea typeface="+mn-ea"/>
                <a:cs typeface="+mn-cs"/>
              </a:rPr>
              <a:t>Use the scenarios or situations (threats)  identified from inspections, feedback, personal observation and/or experience as the basis for planning</a:t>
            </a:r>
          </a:p>
          <a:p>
            <a:pPr marL="628650" lvl="1" indent="-171450">
              <a:buFont typeface="Arial" pitchFamily="34" charset="0"/>
              <a:buChar char="•"/>
            </a:pPr>
            <a:r>
              <a:rPr lang="en-AU" sz="1200" kern="1200" dirty="0" smtClean="0">
                <a:solidFill>
                  <a:schemeClr val="tx1"/>
                </a:solidFill>
                <a:ea typeface="+mn-ea"/>
                <a:cs typeface="+mn-cs"/>
              </a:rPr>
              <a:t>Creating within the business a simulated situation embodying the identified threats so this can be tested as the basis for evaluating your proposed theft minimization protocols</a:t>
            </a:r>
          </a:p>
          <a:p>
            <a:pPr marL="628650" lvl="1" indent="-171450">
              <a:buFont typeface="Arial" pitchFamily="34" charset="0"/>
              <a:buChar char="•"/>
            </a:pPr>
            <a:r>
              <a:rPr lang="en-AU" sz="1200" kern="1200" dirty="0" smtClean="0">
                <a:solidFill>
                  <a:schemeClr val="tx1"/>
                </a:solidFill>
                <a:ea typeface="+mn-ea"/>
                <a:cs typeface="+mn-cs"/>
              </a:rPr>
              <a:t>Making the simulated scenario/situation as realistic as possible</a:t>
            </a:r>
          </a:p>
          <a:p>
            <a:pPr marL="171450" indent="-171450">
              <a:buFont typeface="Arial" pitchFamily="34" charset="0"/>
              <a:buChar char="•"/>
            </a:pPr>
            <a:r>
              <a:rPr lang="en-AU" sz="1200" kern="1200" dirty="0" smtClean="0">
                <a:solidFill>
                  <a:schemeClr val="tx1"/>
                </a:solidFill>
                <a:ea typeface="+mn-ea"/>
                <a:cs typeface="+mn-cs"/>
              </a:rPr>
              <a:t>Planning the introduction of identified theft minimisation protocols – this may require you to:</a:t>
            </a:r>
          </a:p>
          <a:p>
            <a:pPr marL="628650" lvl="1" indent="-171450">
              <a:buFont typeface="Arial" pitchFamily="34" charset="0"/>
              <a:buChar char="•"/>
            </a:pPr>
            <a:r>
              <a:rPr lang="en-AU" sz="1200" kern="1200" dirty="0" smtClean="0">
                <a:solidFill>
                  <a:schemeClr val="tx1"/>
                </a:solidFill>
                <a:ea typeface="+mn-ea"/>
                <a:cs typeface="+mn-cs"/>
              </a:rPr>
              <a:t>Prepare a formal written plan</a:t>
            </a:r>
          </a:p>
          <a:p>
            <a:pPr marL="628650" lvl="1" indent="-171450">
              <a:buFont typeface="Arial" pitchFamily="34" charset="0"/>
              <a:buChar char="•"/>
            </a:pPr>
            <a:r>
              <a:rPr lang="en-AU" sz="1200" kern="1200" dirty="0" smtClean="0">
                <a:solidFill>
                  <a:schemeClr val="tx1"/>
                </a:solidFill>
                <a:ea typeface="+mn-ea"/>
                <a:cs typeface="+mn-cs"/>
              </a:rPr>
              <a:t>Involve staff and management in the planning process</a:t>
            </a:r>
          </a:p>
          <a:p>
            <a:pPr marL="628650" lvl="1" indent="-171450">
              <a:buFont typeface="Arial" pitchFamily="34" charset="0"/>
              <a:buChar char="•"/>
            </a:pPr>
            <a:r>
              <a:rPr lang="en-AU" sz="1200" kern="1200" dirty="0" smtClean="0">
                <a:solidFill>
                  <a:schemeClr val="tx1"/>
                </a:solidFill>
                <a:ea typeface="+mn-ea"/>
                <a:cs typeface="+mn-cs"/>
              </a:rPr>
              <a:t>Allocate roles and responsibilities</a:t>
            </a:r>
          </a:p>
          <a:p>
            <a:pPr marL="628650" lvl="1" indent="-171450">
              <a:buFont typeface="Arial" pitchFamily="34" charset="0"/>
              <a:buChar char="•"/>
            </a:pPr>
            <a:r>
              <a:rPr lang="en-AU" sz="1200" kern="1200" dirty="0" smtClean="0">
                <a:solidFill>
                  <a:schemeClr val="tx1"/>
                </a:solidFill>
                <a:ea typeface="+mn-ea"/>
                <a:cs typeface="+mn-cs"/>
              </a:rPr>
              <a:t>Schedule the trial/test</a:t>
            </a:r>
          </a:p>
          <a:p>
            <a:pPr marL="628650" lvl="1" indent="-171450">
              <a:buFont typeface="Arial" pitchFamily="34" charset="0"/>
              <a:buChar char="•"/>
            </a:pPr>
            <a:r>
              <a:rPr lang="en-AU" sz="1200" kern="1200" dirty="0" smtClean="0">
                <a:solidFill>
                  <a:schemeClr val="tx1"/>
                </a:solidFill>
                <a:ea typeface="+mn-ea"/>
                <a:cs typeface="+mn-cs"/>
              </a:rPr>
              <a:t>Provide the necessary resources</a:t>
            </a:r>
          </a:p>
          <a:p>
            <a:pPr marL="628650" lvl="1" indent="-171450">
              <a:buFont typeface="Arial" pitchFamily="34" charset="0"/>
              <a:buChar char="•"/>
            </a:pPr>
            <a:r>
              <a:rPr lang="en-AU" sz="1200" kern="1200" dirty="0" smtClean="0">
                <a:solidFill>
                  <a:schemeClr val="tx1"/>
                </a:solidFill>
                <a:ea typeface="+mn-ea"/>
                <a:cs typeface="+mn-cs"/>
              </a:rPr>
              <a:t>Obtain management approval</a:t>
            </a:r>
          </a:p>
          <a:p>
            <a:pPr marL="171450" indent="-171450">
              <a:buFont typeface="Arial" pitchFamily="34" charset="0"/>
              <a:buChar char="•"/>
            </a:pPr>
            <a:r>
              <a:rPr lang="en-AU" sz="1200" kern="1200" dirty="0" smtClean="0">
                <a:solidFill>
                  <a:schemeClr val="tx1"/>
                </a:solidFill>
                <a:ea typeface="+mn-ea"/>
                <a:cs typeface="+mn-cs"/>
              </a:rPr>
              <a:t>Advising staff in relation to the trial – which you can achieve by:</a:t>
            </a:r>
          </a:p>
          <a:p>
            <a:pPr marL="628650" lvl="1" indent="-171450">
              <a:buFont typeface="Arial" pitchFamily="34" charset="0"/>
              <a:buChar char="•"/>
            </a:pPr>
            <a:r>
              <a:rPr lang="en-AU" sz="1200" kern="1200" dirty="0" smtClean="0">
                <a:solidFill>
                  <a:schemeClr val="tx1"/>
                </a:solidFill>
                <a:ea typeface="+mn-ea"/>
                <a:cs typeface="+mn-cs"/>
              </a:rPr>
              <a:t>Holding a formal meeting or briefing with staff</a:t>
            </a:r>
          </a:p>
          <a:p>
            <a:pPr marL="628650" lvl="1" indent="-171450">
              <a:buFont typeface="Arial" pitchFamily="34" charset="0"/>
              <a:buChar char="•"/>
            </a:pPr>
            <a:r>
              <a:rPr lang="en-AU" sz="1200" kern="1200" dirty="0" smtClean="0">
                <a:solidFill>
                  <a:schemeClr val="tx1"/>
                </a:solidFill>
                <a:ea typeface="+mn-ea"/>
                <a:cs typeface="+mn-cs"/>
              </a:rPr>
              <a:t>Introducing and explaining proposed protocols to be trialled</a:t>
            </a:r>
          </a:p>
          <a:p>
            <a:pPr marL="628650" lvl="1" indent="-171450">
              <a:buFont typeface="Arial" pitchFamily="34" charset="0"/>
              <a:buChar char="•"/>
            </a:pPr>
            <a:r>
              <a:rPr lang="en-AU" sz="1200" kern="1200" dirty="0" smtClean="0">
                <a:solidFill>
                  <a:schemeClr val="tx1"/>
                </a:solidFill>
                <a:ea typeface="+mn-ea"/>
                <a:cs typeface="+mn-cs"/>
              </a:rPr>
              <a:t>Providing staff with hard copies of the plan for the trial</a:t>
            </a:r>
          </a:p>
          <a:p>
            <a:pPr marL="628650" lvl="1" indent="-171450">
              <a:buFont typeface="Arial" pitchFamily="34" charset="0"/>
              <a:buChar char="•"/>
            </a:pPr>
            <a:r>
              <a:rPr lang="en-AU" sz="1200" kern="1200" dirty="0" smtClean="0">
                <a:solidFill>
                  <a:schemeClr val="tx1"/>
                </a:solidFill>
                <a:ea typeface="+mn-ea"/>
                <a:cs typeface="+mn-cs"/>
              </a:rPr>
              <a:t>Advising staff of their role/s and responsibilities under the plan</a:t>
            </a:r>
          </a:p>
          <a:p>
            <a:pPr marL="628650" lvl="1" indent="-171450">
              <a:buFont typeface="Arial" pitchFamily="34" charset="0"/>
              <a:buChar char="•"/>
            </a:pPr>
            <a:r>
              <a:rPr lang="en-AU" sz="1200" kern="1200" dirty="0" smtClean="0">
                <a:solidFill>
                  <a:schemeClr val="tx1"/>
                </a:solidFill>
                <a:ea typeface="+mn-ea"/>
                <a:cs typeface="+mn-cs"/>
              </a:rPr>
              <a:t>Asking staff to commit to the trial and treat it seriously as a realistic event</a:t>
            </a:r>
          </a:p>
          <a:p>
            <a:pPr marL="628650" lvl="1" indent="-171450">
              <a:buFont typeface="Arial" pitchFamily="34" charset="0"/>
              <a:buChar char="•"/>
            </a:pPr>
            <a:r>
              <a:rPr lang="en-AU" sz="1200" kern="1200" dirty="0" smtClean="0">
                <a:solidFill>
                  <a:schemeClr val="tx1"/>
                </a:solidFill>
                <a:ea typeface="+mn-ea"/>
                <a:cs typeface="+mn-cs"/>
              </a:rPr>
              <a:t>Requesting they note what happens during the trial/test and provide relevant feedback after the event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 xmlns:p14="http://schemas.microsoft.com/office/powerpoint/2010/main" val="319400440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advising regarding trialling </a:t>
            </a:r>
            <a:r>
              <a:rPr lang="en-AU" sz="1200" kern="1200" dirty="0" smtClean="0">
                <a:solidFill>
                  <a:schemeClr val="tx1"/>
                </a:solidFill>
                <a:ea typeface="+mn-ea"/>
                <a:cs typeface="+mn-cs"/>
              </a:rPr>
              <a:t>theft minimisation protocols:</a:t>
            </a:r>
          </a:p>
          <a:p>
            <a:pPr marL="171450" indent="-171450">
              <a:buFont typeface="Arial" pitchFamily="34" charset="0"/>
              <a:buChar char="•"/>
            </a:pPr>
            <a:r>
              <a:rPr lang="en-AU" sz="1200" kern="1200" dirty="0" smtClean="0">
                <a:solidFill>
                  <a:schemeClr val="tx1"/>
                </a:solidFill>
                <a:ea typeface="+mn-ea"/>
                <a:cs typeface="+mn-cs"/>
              </a:rPr>
              <a:t>Testing the systems and equipment under real working conditions – which will require you to:</a:t>
            </a:r>
          </a:p>
          <a:p>
            <a:pPr marL="628650" lvl="1" indent="-171450">
              <a:buFont typeface="Arial" pitchFamily="34" charset="0"/>
              <a:buChar char="•"/>
            </a:pPr>
            <a:r>
              <a:rPr lang="en-AU" sz="1200" kern="1200" dirty="0" smtClean="0">
                <a:solidFill>
                  <a:schemeClr val="tx1"/>
                </a:solidFill>
                <a:ea typeface="+mn-ea"/>
                <a:cs typeface="+mn-cs"/>
              </a:rPr>
              <a:t>Conduct the trial/test as planned and scheduled</a:t>
            </a:r>
          </a:p>
          <a:p>
            <a:pPr marL="628650" lvl="1" indent="-171450">
              <a:buFont typeface="Arial" pitchFamily="34" charset="0"/>
              <a:buChar char="•"/>
            </a:pPr>
            <a:r>
              <a:rPr lang="en-AU" sz="1200" kern="1200" dirty="0" smtClean="0">
                <a:solidFill>
                  <a:schemeClr val="tx1"/>
                </a:solidFill>
                <a:ea typeface="+mn-ea"/>
                <a:cs typeface="+mn-cs"/>
              </a:rPr>
              <a:t>Create and maintain realism for the activity</a:t>
            </a:r>
          </a:p>
          <a:p>
            <a:pPr marL="628650" lvl="1" indent="-171450">
              <a:buFont typeface="Arial" pitchFamily="34" charset="0"/>
              <a:buChar char="•"/>
            </a:pPr>
            <a:r>
              <a:rPr lang="en-AU" sz="1200" kern="1200" dirty="0" smtClean="0">
                <a:solidFill>
                  <a:schemeClr val="tx1"/>
                </a:solidFill>
                <a:ea typeface="+mn-ea"/>
                <a:cs typeface="+mn-cs"/>
              </a:rPr>
              <a:t>Ensuring the trial reflects exactly the planned actions and responses</a:t>
            </a:r>
          </a:p>
          <a:p>
            <a:pPr marL="171450" indent="-171450">
              <a:buFont typeface="Arial" pitchFamily="34" charset="0"/>
              <a:buChar char="•"/>
            </a:pPr>
            <a:r>
              <a:rPr lang="en-AU" sz="1200" kern="1200" dirty="0" smtClean="0">
                <a:solidFill>
                  <a:schemeClr val="tx1"/>
                </a:solidFill>
                <a:ea typeface="+mn-ea"/>
                <a:cs typeface="+mn-cs"/>
              </a:rPr>
              <a:t>Recording the outcomes of the trial – by: </a:t>
            </a:r>
          </a:p>
          <a:p>
            <a:pPr marL="628650" lvl="1" indent="-171450">
              <a:buFont typeface="Arial" pitchFamily="34" charset="0"/>
              <a:buChar char="•"/>
            </a:pPr>
            <a:r>
              <a:rPr lang="en-AU" sz="1200" kern="1200" dirty="0" smtClean="0">
                <a:solidFill>
                  <a:schemeClr val="tx1"/>
                </a:solidFill>
                <a:ea typeface="+mn-ea"/>
                <a:cs typeface="+mn-cs"/>
              </a:rPr>
              <a:t>Monitoring/watching what happens</a:t>
            </a:r>
          </a:p>
          <a:p>
            <a:pPr marL="628650" lvl="1" indent="-171450">
              <a:buFont typeface="Arial" pitchFamily="34" charset="0"/>
              <a:buChar char="•"/>
            </a:pPr>
            <a:r>
              <a:rPr lang="en-AU" sz="1200" kern="1200" dirty="0" smtClean="0">
                <a:solidFill>
                  <a:schemeClr val="tx1"/>
                </a:solidFill>
                <a:ea typeface="+mn-ea"/>
                <a:cs typeface="+mn-cs"/>
              </a:rPr>
              <a:t>Taking notes</a:t>
            </a:r>
          </a:p>
          <a:p>
            <a:pPr marL="628650" lvl="1" indent="-171450">
              <a:buFont typeface="Arial" pitchFamily="34" charset="0"/>
              <a:buChar char="•"/>
            </a:pPr>
            <a:r>
              <a:rPr lang="en-AU" sz="1200" kern="1200" dirty="0" smtClean="0">
                <a:solidFill>
                  <a:schemeClr val="tx1"/>
                </a:solidFill>
                <a:ea typeface="+mn-ea"/>
                <a:cs typeface="+mn-cs"/>
              </a:rPr>
              <a:t>Recoding events, reactions, responses using a combination of means such as video, photographic, audio, paper-based records, CCTV footage This must be done to provide data/the basis for the evaluation (see later slides).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 xmlns:p14="http://schemas.microsoft.com/office/powerpoint/2010/main" val="309444799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evaluation of trials of theft minimisation protocols:</a:t>
            </a:r>
          </a:p>
          <a:p>
            <a:pPr marL="171450" indent="-171450">
              <a:buFont typeface="Arial" pitchFamily="34" charset="0"/>
              <a:buChar char="•"/>
            </a:pPr>
            <a:r>
              <a:rPr lang="en-AU" sz="1200" kern="1200" dirty="0" smtClean="0">
                <a:solidFill>
                  <a:schemeClr val="tx1"/>
                </a:solidFill>
                <a:ea typeface="+mn-ea"/>
                <a:cs typeface="+mn-cs"/>
              </a:rPr>
              <a:t>It is an essential part of the trialling process to evaluate the results/outcomes of the trial, determine the effectiveness and viability of the trial initiatives (the protocols which were tested/trilled) and revise them, if necessary, before cementing them in place as part of standard operating procedure. The process should embrace:</a:t>
            </a:r>
          </a:p>
          <a:p>
            <a:pPr marL="628650" lvl="1" indent="-171450">
              <a:buFont typeface="Arial" pitchFamily="34" charset="0"/>
              <a:buChar char="•"/>
            </a:pPr>
            <a:r>
              <a:rPr lang="en-AU" sz="1200" kern="1200" dirty="0" smtClean="0">
                <a:solidFill>
                  <a:schemeClr val="tx1"/>
                </a:solidFill>
                <a:ea typeface="+mn-ea"/>
                <a:cs typeface="+mn-cs"/>
              </a:rPr>
              <a:t>Evaluating the detection and prevention outcomes achieved – by asking and considering the responses to series of questions such as:</a:t>
            </a:r>
          </a:p>
          <a:p>
            <a:pPr marL="1085850" lvl="2" indent="-171450">
              <a:buFont typeface="Arial" pitchFamily="34" charset="0"/>
              <a:buChar char="•"/>
            </a:pPr>
            <a:r>
              <a:rPr lang="en-AU" sz="1200" kern="1200" dirty="0" smtClean="0">
                <a:solidFill>
                  <a:schemeClr val="tx1"/>
                </a:solidFill>
                <a:ea typeface="+mn-ea"/>
                <a:cs typeface="+mn-cs"/>
              </a:rPr>
              <a:t>How well/badly did the plan work?</a:t>
            </a:r>
          </a:p>
          <a:p>
            <a:pPr marL="1085850" lvl="2" indent="-171450">
              <a:buFont typeface="Arial" pitchFamily="34" charset="0"/>
              <a:buChar char="•"/>
            </a:pPr>
            <a:r>
              <a:rPr lang="en-AU" sz="1200" kern="1200" dirty="0" smtClean="0">
                <a:solidFill>
                  <a:schemeClr val="tx1"/>
                </a:solidFill>
                <a:ea typeface="+mn-ea"/>
                <a:cs typeface="+mn-cs"/>
              </a:rPr>
              <a:t>Was it successful/effective?</a:t>
            </a:r>
          </a:p>
          <a:p>
            <a:pPr marL="1085850" lvl="2" indent="-171450">
              <a:buFont typeface="Arial" pitchFamily="34" charset="0"/>
              <a:buChar char="•"/>
            </a:pPr>
            <a:r>
              <a:rPr lang="en-AU" sz="1200" kern="1200" dirty="0" smtClean="0">
                <a:solidFill>
                  <a:schemeClr val="tx1"/>
                </a:solidFill>
                <a:ea typeface="+mn-ea"/>
                <a:cs typeface="+mn-cs"/>
              </a:rPr>
              <a:t>What could/should be changed or improved on the basis of the outcomes/trial?</a:t>
            </a:r>
          </a:p>
          <a:p>
            <a:pPr marL="1085850" lvl="2" indent="-171450">
              <a:buFont typeface="Arial" pitchFamily="34" charset="0"/>
              <a:buChar char="•"/>
            </a:pPr>
            <a:r>
              <a:rPr lang="en-AU" sz="1200" kern="1200" dirty="0" smtClean="0">
                <a:solidFill>
                  <a:schemeClr val="tx1"/>
                </a:solidFill>
                <a:ea typeface="+mn-ea"/>
                <a:cs typeface="+mn-cs"/>
              </a:rPr>
              <a:t>Did staff perform/react/respond as required or anticipated? Why? Why not?</a:t>
            </a:r>
          </a:p>
          <a:p>
            <a:pPr marL="1085850" lvl="2" indent="-171450">
              <a:buFont typeface="Arial" pitchFamily="34" charset="0"/>
              <a:buChar char="•"/>
            </a:pPr>
            <a:r>
              <a:rPr lang="en-AU" sz="1200" kern="1200" dirty="0" smtClean="0">
                <a:solidFill>
                  <a:schemeClr val="tx1"/>
                </a:solidFill>
                <a:ea typeface="+mn-ea"/>
                <a:cs typeface="+mn-cs"/>
              </a:rPr>
              <a:t>On reflection, after the trial and with the benefit of hindsight, was the test a realistic representation of the theft problem the initiative was designed to detect or thwart?</a:t>
            </a:r>
          </a:p>
          <a:p>
            <a:pPr marL="1085850" lvl="2" indent="-171450">
              <a:buFont typeface="Arial" pitchFamily="34" charset="0"/>
              <a:buChar char="•"/>
            </a:pPr>
            <a:r>
              <a:rPr lang="en-AU" sz="1200" kern="1200" dirty="0" smtClean="0">
                <a:solidFill>
                  <a:schemeClr val="tx1"/>
                </a:solidFill>
                <a:ea typeface="+mn-ea"/>
                <a:cs typeface="+mn-cs"/>
              </a:rPr>
              <a:t>Can the plan be introduced ‘as is’ to SOP for the business. Or are changes required? What are the changes needed?</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 xmlns:p14="http://schemas.microsoft.com/office/powerpoint/2010/main" val="367960223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revision of theft minimisation protocols after trials stating </a:t>
            </a:r>
            <a:r>
              <a:rPr lang="en-AU" sz="1200" kern="1200" dirty="0" smtClean="0">
                <a:solidFill>
                  <a:schemeClr val="tx1"/>
                </a:solidFill>
                <a:ea typeface="+mn-ea"/>
                <a:cs typeface="+mn-cs"/>
              </a:rPr>
              <a:t>revising the intended theft minimisation protocols on the basis of evidence obtained during the trial – this may require:</a:t>
            </a:r>
          </a:p>
          <a:p>
            <a:pPr marL="171450" indent="-171450">
              <a:buFont typeface="Arial" pitchFamily="34" charset="0"/>
              <a:buChar char="•"/>
            </a:pPr>
            <a:r>
              <a:rPr lang="en-AU" sz="1200" kern="1200" dirty="0" smtClean="0">
                <a:solidFill>
                  <a:schemeClr val="tx1"/>
                </a:solidFill>
                <a:ea typeface="+mn-ea"/>
                <a:cs typeface="+mn-cs"/>
              </a:rPr>
              <a:t>Refining the initiative on the basis of the experience gained and feedback received</a:t>
            </a:r>
          </a:p>
          <a:p>
            <a:pPr marL="171450" indent="-171450">
              <a:buFont typeface="Arial" pitchFamily="34" charset="0"/>
              <a:buChar char="•"/>
            </a:pPr>
            <a:r>
              <a:rPr lang="en-AU" sz="1200" kern="1200" dirty="0" smtClean="0">
                <a:solidFill>
                  <a:schemeClr val="tx1"/>
                </a:solidFill>
                <a:ea typeface="+mn-ea"/>
                <a:cs typeface="+mn-cs"/>
              </a:rPr>
              <a:t>Producing a revised plan – and having it approved by management</a:t>
            </a:r>
          </a:p>
          <a:p>
            <a:pPr marL="171450" indent="-171450">
              <a:buFont typeface="Arial" pitchFamily="34" charset="0"/>
              <a:buChar char="•"/>
            </a:pPr>
            <a:r>
              <a:rPr lang="en-AU" sz="1200" kern="1200" dirty="0" smtClean="0">
                <a:solidFill>
                  <a:schemeClr val="tx1"/>
                </a:solidFill>
                <a:ea typeface="+mn-ea"/>
                <a:cs typeface="+mn-cs"/>
              </a:rPr>
              <a:t>Sharing the revised plan/initiative with staff</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 xmlns:p14="http://schemas.microsoft.com/office/powerpoint/2010/main" val="29508961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revision of theft minimisation protocols after trials:</a:t>
            </a:r>
          </a:p>
          <a:p>
            <a:pPr marL="171450" indent="-171450">
              <a:buFont typeface="Arial" pitchFamily="34" charset="0"/>
              <a:buChar char="•"/>
            </a:pPr>
            <a:r>
              <a:rPr lang="en-AU" sz="1200" kern="1200" dirty="0" smtClean="0">
                <a:solidFill>
                  <a:schemeClr val="tx1"/>
                </a:solidFill>
                <a:ea typeface="+mn-ea"/>
                <a:cs typeface="+mn-cs"/>
              </a:rPr>
              <a:t>Conducting a second simulated event</a:t>
            </a:r>
          </a:p>
          <a:p>
            <a:pPr marL="171450" indent="-171450">
              <a:buFont typeface="Arial" pitchFamily="34" charset="0"/>
              <a:buChar char="•"/>
            </a:pPr>
            <a:r>
              <a:rPr lang="en-AU" sz="1200" kern="1200" dirty="0" smtClean="0">
                <a:solidFill>
                  <a:schemeClr val="tx1"/>
                </a:solidFill>
                <a:ea typeface="+mn-ea"/>
                <a:cs typeface="+mn-cs"/>
              </a:rPr>
              <a:t>Monitoring and capturing information on the effectiveness of the revised test/trial</a:t>
            </a:r>
          </a:p>
          <a:p>
            <a:pPr marL="171450" indent="-171450">
              <a:buFont typeface="Arial" pitchFamily="34" charset="0"/>
              <a:buChar char="•"/>
            </a:pPr>
            <a:r>
              <a:rPr lang="en-AU" sz="1200" kern="1200" dirty="0" smtClean="0">
                <a:solidFill>
                  <a:schemeClr val="tx1"/>
                </a:solidFill>
                <a:ea typeface="+mn-ea"/>
                <a:cs typeface="+mn-cs"/>
              </a:rPr>
              <a:t>Evaluating the results/outcomes</a:t>
            </a:r>
          </a:p>
          <a:p>
            <a:pPr marL="171450" indent="-171450">
              <a:buFont typeface="Arial" pitchFamily="34" charset="0"/>
              <a:buChar char="•"/>
            </a:pPr>
            <a:r>
              <a:rPr lang="en-AU" sz="1200" kern="1200" dirty="0" smtClean="0">
                <a:solidFill>
                  <a:schemeClr val="tx1"/>
                </a:solidFill>
                <a:ea typeface="+mn-ea"/>
                <a:cs typeface="+mn-cs"/>
              </a:rPr>
              <a:t>Integrating the revised and approved protocols into SOPs for the organisation.</a:t>
            </a:r>
          </a:p>
          <a:p>
            <a:pPr>
              <a:buFont typeface="Arial" pitchFamily="34" charset="0"/>
              <a:buNone/>
            </a:pPr>
            <a:endParaRPr lang="en-US" dirty="0" smtClean="0"/>
          </a:p>
          <a:p>
            <a:pPr>
              <a:buFont typeface="Arial" pitchFamily="34" charset="0"/>
              <a:buNone/>
            </a:pPr>
            <a:r>
              <a:rPr lang="en-US" b="1" dirty="0" smtClean="0"/>
              <a:t>Class</a:t>
            </a:r>
            <a:r>
              <a:rPr lang="en-US" b="1" baseline="0" dirty="0" smtClean="0"/>
              <a:t> Activity – Major Practical Activity</a:t>
            </a:r>
          </a:p>
          <a:p>
            <a:pPr>
              <a:buFont typeface="Arial" pitchFamily="34" charset="0"/>
              <a:buNone/>
            </a:pPr>
            <a:r>
              <a:rPr lang="en-US" b="0" baseline="0" dirty="0" smtClean="0"/>
              <a:t>Trainer asks students to:</a:t>
            </a:r>
          </a:p>
          <a:p>
            <a:pPr marL="171450" indent="-171450">
              <a:buFont typeface="Arial" pitchFamily="34" charset="0"/>
              <a:buChar char="•"/>
            </a:pPr>
            <a:r>
              <a:rPr lang="en-US" b="0" baseline="0" dirty="0" smtClean="0"/>
              <a:t>Identify a theft minimisation protocol to trial </a:t>
            </a:r>
          </a:p>
          <a:p>
            <a:pPr marL="171450" indent="-171450">
              <a:buFont typeface="Arial" pitchFamily="34" charset="0"/>
              <a:buChar char="•"/>
            </a:pPr>
            <a:r>
              <a:rPr lang="en-US" b="0" baseline="0" dirty="0" smtClean="0"/>
              <a:t>Develop plan and scenario for trialling the protocol</a:t>
            </a:r>
          </a:p>
          <a:p>
            <a:pPr marL="171450" indent="-171450">
              <a:buFont typeface="Arial" pitchFamily="34" charset="0"/>
              <a:buChar char="•"/>
            </a:pPr>
            <a:r>
              <a:rPr lang="en-US" b="0" baseline="0" dirty="0" smtClean="0"/>
              <a:t>Conduct the trial</a:t>
            </a:r>
          </a:p>
          <a:p>
            <a:pPr marL="171450" indent="-171450">
              <a:buFont typeface="Arial" pitchFamily="34" charset="0"/>
              <a:buChar char="•"/>
            </a:pPr>
            <a:r>
              <a:rPr lang="en-US" b="0" baseline="0" dirty="0" smtClean="0"/>
              <a:t>Monitor and record outcomes</a:t>
            </a:r>
          </a:p>
          <a:p>
            <a:pPr marL="171450" indent="-171450">
              <a:buFont typeface="Arial" pitchFamily="34" charset="0"/>
              <a:buChar char="•"/>
            </a:pPr>
            <a:r>
              <a:rPr lang="en-US" b="0" baseline="0" dirty="0" smtClean="0"/>
              <a:t>Evaluate results</a:t>
            </a:r>
          </a:p>
          <a:p>
            <a:pPr marL="171450" indent="-171450">
              <a:buFont typeface="Arial" pitchFamily="34" charset="0"/>
              <a:buChar char="•"/>
            </a:pPr>
            <a:r>
              <a:rPr lang="en-US" b="0" baseline="0" dirty="0" smtClean="0"/>
              <a:t>Generate recommendations for change/improvement.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 xmlns:p14="http://schemas.microsoft.com/office/powerpoint/2010/main" val="321736945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dirty="0" smtClean="0"/>
              <a:t>Trainer identifies ways to communicate theft minimisation protocols and requirements to staff:</a:t>
            </a:r>
          </a:p>
          <a:p>
            <a:pPr marL="171450" indent="-171450">
              <a:buFont typeface="Arial" pitchFamily="34" charset="0"/>
              <a:buChar char="•"/>
            </a:pPr>
            <a:r>
              <a:rPr lang="en-AU" sz="1200" kern="1200" dirty="0" smtClean="0">
                <a:solidFill>
                  <a:schemeClr val="tx1"/>
                </a:solidFill>
                <a:ea typeface="+mn-ea"/>
                <a:cs typeface="+mn-cs"/>
              </a:rPr>
              <a:t>Integrating new and/or revised anti-theft measures into existing in-house training and/or induction programs – this is important so new staff:</a:t>
            </a:r>
          </a:p>
          <a:p>
            <a:pPr marL="628650" lvl="1" indent="-171450">
              <a:buFont typeface="Arial" pitchFamily="34" charset="0"/>
              <a:buChar char="•"/>
            </a:pPr>
            <a:r>
              <a:rPr lang="en-AU" sz="1200" kern="1200" dirty="0" smtClean="0">
                <a:solidFill>
                  <a:schemeClr val="tx1"/>
                </a:solidFill>
                <a:ea typeface="+mn-ea"/>
                <a:cs typeface="+mn-cs"/>
              </a:rPr>
              <a:t>Are made aware of their role and responsibilities for preventing, detecting and responding to theft</a:t>
            </a:r>
          </a:p>
          <a:p>
            <a:pPr marL="628650" lvl="1" indent="-171450">
              <a:buFont typeface="Arial" pitchFamily="34" charset="0"/>
              <a:buChar char="•"/>
            </a:pPr>
            <a:r>
              <a:rPr lang="en-AU" sz="1200" kern="1200" dirty="0" smtClean="0">
                <a:solidFill>
                  <a:schemeClr val="tx1"/>
                </a:solidFill>
                <a:ea typeface="+mn-ea"/>
                <a:cs typeface="+mn-cs"/>
              </a:rPr>
              <a:t>Know the action/s they are expected to take to prevent theft</a:t>
            </a:r>
          </a:p>
          <a:p>
            <a:pPr marL="628650" lvl="1" indent="-171450">
              <a:buFont typeface="Arial" pitchFamily="34" charset="0"/>
              <a:buChar char="•"/>
            </a:pPr>
            <a:r>
              <a:rPr lang="en-AU" sz="1200" kern="1200" dirty="0" smtClean="0">
                <a:solidFill>
                  <a:schemeClr val="tx1"/>
                </a:solidFill>
                <a:ea typeface="+mn-ea"/>
                <a:cs typeface="+mn-cs"/>
              </a:rPr>
              <a:t>Understand the function/s of security systems, technology and equipment</a:t>
            </a:r>
          </a:p>
          <a:p>
            <a:pPr marL="171450" indent="-171450">
              <a:buFont typeface="Arial" pitchFamily="34" charset="0"/>
              <a:buChar char="•"/>
            </a:pPr>
            <a:r>
              <a:rPr lang="en-AU" sz="1200" kern="1200" dirty="0" smtClean="0">
                <a:solidFill>
                  <a:schemeClr val="tx1"/>
                </a:solidFill>
                <a:ea typeface="+mn-ea"/>
                <a:cs typeface="+mn-cs"/>
              </a:rPr>
              <a:t>Providing training – this may address:</a:t>
            </a:r>
          </a:p>
          <a:p>
            <a:pPr marL="628650" lvl="1" indent="-171450">
              <a:buFont typeface="Arial" pitchFamily="34" charset="0"/>
              <a:buChar char="•"/>
            </a:pPr>
            <a:r>
              <a:rPr lang="en-AU" sz="1200" kern="1200" dirty="0" smtClean="0">
                <a:solidFill>
                  <a:schemeClr val="tx1"/>
                </a:solidFill>
                <a:ea typeface="+mn-ea"/>
                <a:cs typeface="+mn-cs"/>
              </a:rPr>
              <a:t>Theory – including advising about and explaining policies and procedures, legislation, case studies, analysis of previous events, discussion on theft-related matters</a:t>
            </a:r>
          </a:p>
          <a:p>
            <a:pPr marL="628650" lvl="1" indent="-171450">
              <a:buFont typeface="Arial" pitchFamily="34" charset="0"/>
              <a:buChar char="•"/>
            </a:pPr>
            <a:r>
              <a:rPr lang="en-AU" sz="1200" kern="1200" dirty="0" smtClean="0">
                <a:solidFill>
                  <a:schemeClr val="tx1"/>
                </a:solidFill>
                <a:ea typeface="+mn-ea"/>
                <a:cs typeface="+mn-cs"/>
              </a:rPr>
              <a:t>Practice – including role plays, practice with security systems, technology and equipment, simulated exercises, model inspections and checks, completion of relevant forms and documents</a:t>
            </a:r>
          </a:p>
          <a:p>
            <a:pPr marL="171450" indent="-171450">
              <a:buFont typeface="Arial" pitchFamily="34" charset="0"/>
              <a:buChar char="•"/>
            </a:pPr>
            <a:r>
              <a:rPr lang="en-AU" sz="1200" kern="1200" dirty="0" smtClean="0">
                <a:solidFill>
                  <a:schemeClr val="tx1"/>
                </a:solidFill>
                <a:ea typeface="+mn-ea"/>
                <a:cs typeface="+mn-cs"/>
              </a:rPr>
              <a:t>Conducting demonstrations – relating to:</a:t>
            </a:r>
          </a:p>
          <a:p>
            <a:pPr marL="628650" lvl="1" indent="-171450">
              <a:buFont typeface="Arial" pitchFamily="34" charset="0"/>
              <a:buChar char="•"/>
            </a:pPr>
            <a:r>
              <a:rPr lang="en-AU" sz="1200" kern="1200" dirty="0" smtClean="0">
                <a:solidFill>
                  <a:schemeClr val="tx1"/>
                </a:solidFill>
                <a:ea typeface="+mn-ea"/>
                <a:cs typeface="+mn-cs"/>
              </a:rPr>
              <a:t>Operations of security systems, technology and equipment</a:t>
            </a:r>
          </a:p>
          <a:p>
            <a:pPr marL="628650" lvl="1" indent="-171450">
              <a:buFont typeface="Arial" pitchFamily="34" charset="0"/>
              <a:buChar char="•"/>
            </a:pPr>
            <a:r>
              <a:rPr lang="en-AU" sz="1200" kern="1200" dirty="0" smtClean="0">
                <a:solidFill>
                  <a:schemeClr val="tx1"/>
                </a:solidFill>
                <a:ea typeface="+mn-ea"/>
                <a:cs typeface="+mn-cs"/>
              </a:rPr>
              <a:t>Monitoring customers</a:t>
            </a:r>
          </a:p>
          <a:p>
            <a:pPr marL="628650" lvl="1" indent="-171450">
              <a:buFont typeface="Arial" pitchFamily="34" charset="0"/>
              <a:buChar char="•"/>
            </a:pPr>
            <a:r>
              <a:rPr lang="en-AU" sz="1200" kern="1200" dirty="0" smtClean="0">
                <a:solidFill>
                  <a:schemeClr val="tx1"/>
                </a:solidFill>
                <a:ea typeface="+mn-ea"/>
                <a:cs typeface="+mn-cs"/>
              </a:rPr>
              <a:t>Detaining suspects</a:t>
            </a:r>
          </a:p>
          <a:p>
            <a:pPr marL="171450" indent="-171450">
              <a:buFont typeface="Arial" pitchFamily="34" charset="0"/>
              <a:buChar char="•"/>
            </a:pPr>
            <a:r>
              <a:rPr lang="en-AU" sz="1200" kern="1200" dirty="0" smtClean="0">
                <a:solidFill>
                  <a:schemeClr val="tx1"/>
                </a:solidFill>
                <a:ea typeface="+mn-ea"/>
                <a:cs typeface="+mn-cs"/>
              </a:rPr>
              <a:t>Providing new and/or revised hard copy support material – such as:</a:t>
            </a:r>
          </a:p>
          <a:p>
            <a:pPr marL="628650" lvl="1" indent="-171450">
              <a:buFont typeface="Arial" pitchFamily="34" charset="0"/>
              <a:buChar char="•"/>
            </a:pPr>
            <a:r>
              <a:rPr lang="en-AU" sz="1200" kern="1200" dirty="0" smtClean="0">
                <a:solidFill>
                  <a:schemeClr val="tx1"/>
                </a:solidFill>
                <a:ea typeface="+mn-ea"/>
                <a:cs typeface="+mn-cs"/>
              </a:rPr>
              <a:t>Policies and procedures – integrated into SOP manuals, staff handbooks, internal training</a:t>
            </a:r>
          </a:p>
          <a:p>
            <a:pPr marL="628650" lvl="1" indent="-171450">
              <a:buFont typeface="Arial" pitchFamily="34" charset="0"/>
              <a:buChar char="•"/>
            </a:pPr>
            <a:r>
              <a:rPr lang="en-AU" sz="1200" kern="1200" dirty="0" smtClean="0">
                <a:solidFill>
                  <a:schemeClr val="tx1"/>
                </a:solidFill>
                <a:ea typeface="+mn-ea"/>
                <a:cs typeface="+mn-cs"/>
              </a:rPr>
              <a:t>Instructions and directions – on how to operate security systems, technology and equipment, how to implement workplace-specific protocols relating to application of the 3Ds</a:t>
            </a:r>
          </a:p>
          <a:p>
            <a:pPr marL="171450" indent="-171450">
              <a:buFont typeface="Arial" pitchFamily="34" charset="0"/>
              <a:buChar char="•"/>
            </a:pPr>
            <a:r>
              <a:rPr lang="en-AU" sz="1200" kern="1200" dirty="0" smtClean="0">
                <a:solidFill>
                  <a:schemeClr val="tx1"/>
                </a:solidFill>
                <a:ea typeface="+mn-ea"/>
                <a:cs typeface="+mn-cs"/>
              </a:rPr>
              <a:t>Conducting mock exercises – this refers to the conduct of workplace drills which simulate identified/expected theft situations. </a:t>
            </a:r>
          </a:p>
          <a:p>
            <a:pPr marL="628650" lvl="1" indent="-171450">
              <a:buFont typeface="Arial" pitchFamily="34" charset="0"/>
              <a:buChar char="•"/>
            </a:pPr>
            <a:r>
              <a:rPr lang="en-AU" sz="1200" kern="1200" dirty="0" smtClean="0">
                <a:solidFill>
                  <a:schemeClr val="tx1"/>
                </a:solidFill>
                <a:ea typeface="+mn-ea"/>
                <a:cs typeface="+mn-cs"/>
              </a:rPr>
              <a:t>Staff are evaluated on their response to the drills, and the protocols being tested are also analysed to determine if they remain effective or require revision.</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 xmlns:p14="http://schemas.microsoft.com/office/powerpoint/2010/main" val="12021635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 xmlns:p14="http://schemas.microsoft.com/office/powerpoint/2010/main" val="330655483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 xmlns:p14="http://schemas.microsoft.com/office/powerpoint/2010/main" val="158972599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 xmlns:p14="http://schemas.microsoft.com/office/powerpoint/2010/main" val="163587810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 xmlns:p14="http://schemas.microsoft.com/office/powerpoint/2010/main" val="348689783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dirty="0" smtClean="0"/>
              <a:t>What do you think is involved in implementing and using theft minimisation/prevention policies and procedures?</a:t>
            </a:r>
          </a:p>
          <a:p>
            <a:pPr marL="171450" indent="-171450">
              <a:buFont typeface="Arial" pitchFamily="34" charset="0"/>
              <a:buChar char="•"/>
            </a:pPr>
            <a:r>
              <a:rPr lang="en-US" dirty="0" smtClean="0"/>
              <a:t>Why is it important to implement/use protocols exactly as they have been developed?</a:t>
            </a:r>
          </a:p>
          <a:p>
            <a:pPr marL="171450" indent="-171450">
              <a:buFont typeface="Arial" pitchFamily="34" charset="0"/>
              <a:buChar char="•"/>
            </a:pPr>
            <a:r>
              <a:rPr lang="en-US" dirty="0" smtClean="0"/>
              <a:t>How might you make sure implementation of these protocols actually reflects their intention/objectives?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 xmlns:p14="http://schemas.microsoft.com/office/powerpoint/2010/main" val="178870210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advises theft </a:t>
            </a:r>
            <a:r>
              <a:rPr lang="en-AU" sz="1200" kern="1200" dirty="0" smtClean="0">
                <a:solidFill>
                  <a:schemeClr val="tx1"/>
                </a:solidFill>
                <a:ea typeface="+mn-ea"/>
                <a:cs typeface="+mn-cs"/>
              </a:rPr>
              <a:t>minimisation protocols may address on-site and on-tour procedures and implementation may include:</a:t>
            </a:r>
          </a:p>
          <a:p>
            <a:r>
              <a:rPr lang="en-AU" sz="1200" b="1" kern="1200" dirty="0" smtClean="0">
                <a:solidFill>
                  <a:schemeClr val="tx1"/>
                </a:solidFill>
                <a:ea typeface="+mn-ea"/>
                <a:cs typeface="+mn-cs"/>
              </a:rPr>
              <a:t>Following the established enterprise practices and procedures</a:t>
            </a:r>
          </a:p>
          <a:p>
            <a:pPr marL="171450" indent="-171450">
              <a:buFont typeface="Arial" pitchFamily="34" charset="0"/>
              <a:buChar char="•"/>
            </a:pPr>
            <a:r>
              <a:rPr lang="en-AU" sz="1200" kern="1200" dirty="0" smtClean="0">
                <a:solidFill>
                  <a:schemeClr val="tx1"/>
                </a:solidFill>
                <a:ea typeface="+mn-ea"/>
                <a:cs typeface="+mn-cs"/>
              </a:rPr>
              <a:t>Learning what the required practices and procedures are by referring to them in their approved, written form</a:t>
            </a:r>
          </a:p>
          <a:p>
            <a:pPr marL="171450" indent="-171450">
              <a:buFont typeface="Arial" pitchFamily="34" charset="0"/>
              <a:buChar char="•"/>
            </a:pPr>
            <a:r>
              <a:rPr lang="en-AU" sz="1200" kern="1200" dirty="0" smtClean="0">
                <a:solidFill>
                  <a:schemeClr val="tx1"/>
                </a:solidFill>
                <a:ea typeface="+mn-ea"/>
                <a:cs typeface="+mn-cs"/>
              </a:rPr>
              <a:t>Participating in formal training on these established practices and procedures</a:t>
            </a:r>
          </a:p>
          <a:p>
            <a:pPr marL="171450" indent="-171450">
              <a:buFont typeface="Arial" pitchFamily="34" charset="0"/>
              <a:buChar char="•"/>
            </a:pPr>
            <a:r>
              <a:rPr lang="en-AU" sz="1200" kern="1200" dirty="0" smtClean="0">
                <a:solidFill>
                  <a:schemeClr val="tx1"/>
                </a:solidFill>
                <a:ea typeface="+mn-ea"/>
                <a:cs typeface="+mn-cs"/>
              </a:rPr>
              <a:t>Taking part in drills and practical exercises using these practices and procedures</a:t>
            </a:r>
          </a:p>
          <a:p>
            <a:pPr marL="171450" indent="-171450">
              <a:buFont typeface="Arial" pitchFamily="34" charset="0"/>
              <a:buChar char="•"/>
            </a:pPr>
            <a:r>
              <a:rPr lang="en-AU" sz="1200" kern="1200" dirty="0" smtClean="0">
                <a:solidFill>
                  <a:schemeClr val="tx1"/>
                </a:solidFill>
                <a:ea typeface="+mn-ea"/>
                <a:cs typeface="+mn-cs"/>
              </a:rPr>
              <a:t>Learning where relevant workplace references (posters, staff handbooks, operational checklists – to remind staff about what to do) are located – and referring to them when needed</a:t>
            </a:r>
          </a:p>
          <a:p>
            <a:pPr marL="171450" indent="-171450">
              <a:buFont typeface="Arial" pitchFamily="34" charset="0"/>
              <a:buChar char="•"/>
            </a:pPr>
            <a:r>
              <a:rPr lang="en-AU" sz="1200" kern="1200" dirty="0" smtClean="0">
                <a:solidFill>
                  <a:schemeClr val="tx1"/>
                </a:solidFill>
                <a:ea typeface="+mn-ea"/>
                <a:cs typeface="+mn-cs"/>
              </a:rPr>
              <a:t>Talking about requirements at staff meetings and briefings to keep them uppermost in the minds of staff</a:t>
            </a:r>
          </a:p>
          <a:p>
            <a:pPr marL="171450" indent="-171450">
              <a:buFont typeface="Arial" pitchFamily="34" charset="0"/>
              <a:buChar char="•"/>
            </a:pPr>
            <a:r>
              <a:rPr lang="en-AU" sz="1200" kern="1200" dirty="0" smtClean="0">
                <a:solidFill>
                  <a:schemeClr val="tx1"/>
                </a:solidFill>
                <a:ea typeface="+mn-ea"/>
                <a:cs typeface="+mn-cs"/>
              </a:rPr>
              <a:t>Helping review these practices and procedures on a regular basis to ensure they remain practical and relevant to what may be changing workplace conditions and/or imperatives.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ea typeface="+mn-ea"/>
                <a:cs typeface="+mn-cs"/>
              </a:rPr>
              <a:t>Completing required documentation</a:t>
            </a:r>
          </a:p>
          <a:p>
            <a:pPr marL="171450" indent="-171450">
              <a:buFont typeface="Arial" pitchFamily="34" charset="0"/>
              <a:buChar char="•"/>
            </a:pPr>
            <a:r>
              <a:rPr lang="en-AU" sz="1200" kern="1200" dirty="0" smtClean="0">
                <a:solidFill>
                  <a:schemeClr val="tx1"/>
                </a:solidFill>
                <a:ea typeface="+mn-ea"/>
                <a:cs typeface="+mn-cs"/>
              </a:rPr>
              <a:t>Learning which documentation needs to be completed for specific events</a:t>
            </a:r>
          </a:p>
          <a:p>
            <a:pPr marL="171450" indent="-171450">
              <a:buFont typeface="Arial" pitchFamily="34" charset="0"/>
              <a:buChar char="•"/>
            </a:pPr>
            <a:r>
              <a:rPr lang="en-AU" sz="1200" kern="1200" dirty="0" smtClean="0">
                <a:solidFill>
                  <a:schemeClr val="tx1"/>
                </a:solidFill>
                <a:ea typeface="+mn-ea"/>
                <a:cs typeface="+mn-cs"/>
              </a:rPr>
              <a:t>Making sure there are copies of all required documentation/forms at workstations</a:t>
            </a:r>
          </a:p>
          <a:p>
            <a:pPr marL="171450" indent="-171450">
              <a:buFont typeface="Arial" pitchFamily="34" charset="0"/>
              <a:buChar char="•"/>
            </a:pPr>
            <a:r>
              <a:rPr lang="en-AU" sz="1200" kern="1200" dirty="0" smtClean="0">
                <a:solidFill>
                  <a:schemeClr val="tx1"/>
                </a:solidFill>
                <a:ea typeface="+mn-ea"/>
                <a:cs typeface="+mn-cs"/>
              </a:rPr>
              <a:t>Referring to model ‘completed’ documents to help fill them in correctly and comprehensively</a:t>
            </a:r>
          </a:p>
          <a:p>
            <a:pPr marL="171450" indent="-171450">
              <a:buFont typeface="Arial" pitchFamily="34" charset="0"/>
              <a:buChar char="•"/>
            </a:pPr>
            <a:r>
              <a:rPr lang="en-AU" sz="1200" kern="1200" dirty="0" smtClean="0">
                <a:solidFill>
                  <a:schemeClr val="tx1"/>
                </a:solidFill>
                <a:ea typeface="+mn-ea"/>
                <a:cs typeface="+mn-cs"/>
              </a:rPr>
              <a:t>Writing legibly</a:t>
            </a:r>
          </a:p>
          <a:p>
            <a:pPr marL="171450" indent="-171450">
              <a:buFont typeface="Arial" pitchFamily="34" charset="0"/>
              <a:buChar char="•"/>
            </a:pPr>
            <a:r>
              <a:rPr lang="en-AU" sz="1200" kern="1200" dirty="0" smtClean="0">
                <a:solidFill>
                  <a:schemeClr val="tx1"/>
                </a:solidFill>
                <a:ea typeface="+mn-ea"/>
                <a:cs typeface="+mn-cs"/>
              </a:rPr>
              <a:t>Completing them honestly and accurately</a:t>
            </a:r>
          </a:p>
          <a:p>
            <a:pPr marL="171450" indent="-171450">
              <a:buFont typeface="Arial" pitchFamily="34" charset="0"/>
              <a:buChar char="•"/>
            </a:pPr>
            <a:r>
              <a:rPr lang="en-AU" sz="1200" kern="1200" dirty="0" smtClean="0">
                <a:solidFill>
                  <a:schemeClr val="tx1"/>
                </a:solidFill>
                <a:ea typeface="+mn-ea"/>
                <a:cs typeface="+mn-cs"/>
              </a:rPr>
              <a:t>Participating in training in how to complete the documents</a:t>
            </a:r>
          </a:p>
          <a:p>
            <a:pPr marL="171450" indent="-171450">
              <a:buFont typeface="Arial" pitchFamily="34" charset="0"/>
              <a:buChar char="•"/>
            </a:pPr>
            <a:r>
              <a:rPr lang="en-AU" sz="1200" kern="1200" dirty="0" smtClean="0">
                <a:solidFill>
                  <a:schemeClr val="tx1"/>
                </a:solidFill>
                <a:ea typeface="+mn-ea"/>
                <a:cs typeface="+mn-cs"/>
              </a:rPr>
              <a:t>Always completing them when and as required, without exception</a:t>
            </a:r>
          </a:p>
          <a:p>
            <a:pPr marL="171450" indent="-171450">
              <a:buFont typeface="Arial" pitchFamily="34" charset="0"/>
              <a:buChar char="•"/>
            </a:pPr>
            <a:r>
              <a:rPr lang="en-AU" sz="1200" kern="1200" dirty="0" smtClean="0">
                <a:solidFill>
                  <a:schemeClr val="tx1"/>
                </a:solidFill>
                <a:ea typeface="+mn-ea"/>
                <a:cs typeface="+mn-cs"/>
              </a:rPr>
              <a:t>Forwarding completed documents to nominated persons when they have been properly filled in</a:t>
            </a:r>
          </a:p>
          <a:p>
            <a:pPr marL="171450" indent="-171450">
              <a:buFont typeface="Arial" pitchFamily="34" charset="0"/>
              <a:buChar char="•"/>
            </a:pPr>
            <a:r>
              <a:rPr lang="en-AU" sz="1200" kern="1200" dirty="0" smtClean="0">
                <a:solidFill>
                  <a:schemeClr val="tx1"/>
                </a:solidFill>
                <a:ea typeface="+mn-ea"/>
                <a:cs typeface="+mn-cs"/>
              </a:rPr>
              <a:t>Helping review the documents regularly to maintain their currency and relevance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ea typeface="+mn-ea"/>
                <a:cs typeface="+mn-cs"/>
              </a:rPr>
              <a:t>Monitoring security systems and devices</a:t>
            </a:r>
          </a:p>
          <a:p>
            <a:pPr marL="171450" indent="-171450">
              <a:buFont typeface="Arial" pitchFamily="34" charset="0"/>
              <a:buChar char="•"/>
            </a:pPr>
            <a:r>
              <a:rPr lang="en-AU" sz="1200" kern="1200" dirty="0" smtClean="0">
                <a:solidFill>
                  <a:schemeClr val="tx1"/>
                </a:solidFill>
                <a:ea typeface="+mn-ea"/>
                <a:cs typeface="+mn-cs"/>
              </a:rPr>
              <a:t>Participating in formal training on the use and operation of this equipment</a:t>
            </a:r>
          </a:p>
          <a:p>
            <a:pPr marL="171450" indent="-171450">
              <a:buFont typeface="Arial" pitchFamily="34" charset="0"/>
              <a:buChar char="•"/>
            </a:pPr>
            <a:r>
              <a:rPr lang="en-AU" sz="1200" kern="1200" dirty="0" smtClean="0">
                <a:solidFill>
                  <a:schemeClr val="tx1"/>
                </a:solidFill>
                <a:ea typeface="+mn-ea"/>
                <a:cs typeface="+mn-cs"/>
              </a:rPr>
              <a:t>Practising with security systems and devices</a:t>
            </a:r>
          </a:p>
          <a:p>
            <a:pPr marL="171450" indent="-171450">
              <a:buFont typeface="Arial" pitchFamily="34" charset="0"/>
              <a:buChar char="•"/>
            </a:pPr>
            <a:r>
              <a:rPr lang="en-AU" sz="1200" kern="1200" dirty="0" smtClean="0">
                <a:solidFill>
                  <a:schemeClr val="tx1"/>
                </a:solidFill>
                <a:ea typeface="+mn-ea"/>
                <a:cs typeface="+mn-cs"/>
              </a:rPr>
              <a:t>Watching screens and system indicators for signs of alerts/alarms or system problems</a:t>
            </a:r>
          </a:p>
          <a:p>
            <a:pPr marL="171450" indent="-171450">
              <a:buFont typeface="Arial" pitchFamily="34" charset="0"/>
              <a:buChar char="•"/>
            </a:pPr>
            <a:r>
              <a:rPr lang="en-AU" sz="1200" kern="1200" dirty="0" smtClean="0">
                <a:solidFill>
                  <a:schemeClr val="tx1"/>
                </a:solidFill>
                <a:ea typeface="+mn-ea"/>
                <a:cs typeface="+mn-cs"/>
              </a:rPr>
              <a:t>Reading manuals and operating procedures for the systems and devices</a:t>
            </a:r>
          </a:p>
          <a:p>
            <a:pPr marL="171450" indent="-171450">
              <a:buFont typeface="Arial" pitchFamily="34" charset="0"/>
              <a:buChar char="•"/>
            </a:pPr>
            <a:r>
              <a:rPr lang="en-AU" sz="1200" kern="1200" dirty="0" smtClean="0">
                <a:solidFill>
                  <a:schemeClr val="tx1"/>
                </a:solidFill>
                <a:ea typeface="+mn-ea"/>
                <a:cs typeface="+mn-cs"/>
              </a:rPr>
              <a:t>Learning what audible and visual alarms, alerts and signals mean</a:t>
            </a:r>
          </a:p>
          <a:p>
            <a:pPr marL="171450" indent="-171450">
              <a:buFont typeface="Arial" pitchFamily="34" charset="0"/>
              <a:buChar char="•"/>
            </a:pPr>
            <a:r>
              <a:rPr lang="en-AU" sz="1200" kern="1200" dirty="0" smtClean="0">
                <a:solidFill>
                  <a:schemeClr val="tx1"/>
                </a:solidFill>
                <a:ea typeface="+mn-ea"/>
                <a:cs typeface="+mn-cs"/>
              </a:rPr>
              <a:t>Responding to and/or investigating alarms, alerts and system/device signals</a:t>
            </a:r>
          </a:p>
          <a:p>
            <a:pPr marL="171450" indent="-171450">
              <a:buFont typeface="Arial" pitchFamily="34" charset="0"/>
              <a:buChar char="•"/>
            </a:pPr>
            <a:r>
              <a:rPr lang="en-AU" sz="1200" kern="1200" dirty="0" smtClean="0">
                <a:solidFill>
                  <a:schemeClr val="tx1"/>
                </a:solidFill>
                <a:ea typeface="+mn-ea"/>
                <a:cs typeface="+mn-cs"/>
              </a:rPr>
              <a:t>Reporting system v to nominated person/s</a:t>
            </a:r>
          </a:p>
          <a:p>
            <a:pPr marL="171450" indent="-171450">
              <a:buFont typeface="Arial" pitchFamily="34" charset="0"/>
              <a:buChar char="•"/>
            </a:pPr>
            <a:r>
              <a:rPr lang="en-AU" sz="1200" kern="1200" dirty="0" smtClean="0">
                <a:solidFill>
                  <a:schemeClr val="tx1"/>
                </a:solidFill>
                <a:ea typeface="+mn-ea"/>
                <a:cs typeface="+mn-cs"/>
              </a:rPr>
              <a:t>Running required system checks and diagnostics to verify operational status of the systems and devices</a:t>
            </a:r>
          </a:p>
          <a:p>
            <a:pPr marL="171450" indent="-171450">
              <a:buFont typeface="Arial" pitchFamily="34" charset="0"/>
              <a:buChar char="•"/>
            </a:pPr>
            <a:r>
              <a:rPr lang="en-AU" sz="1200" kern="1200" dirty="0" smtClean="0">
                <a:solidFill>
                  <a:schemeClr val="tx1"/>
                </a:solidFill>
                <a:ea typeface="+mn-ea"/>
                <a:cs typeface="+mn-cs"/>
              </a:rPr>
              <a:t>Reporting malfunctions for service, attention or other follow-up</a:t>
            </a:r>
          </a:p>
          <a:p>
            <a:pPr marL="171450" indent="-171450">
              <a:buFont typeface="Arial" pitchFamily="34" charset="0"/>
              <a:buChar char="•"/>
            </a:pPr>
            <a:r>
              <a:rPr lang="en-AU" sz="1200" kern="1200" dirty="0" smtClean="0">
                <a:solidFill>
                  <a:schemeClr val="tx1"/>
                </a:solidFill>
                <a:ea typeface="+mn-ea"/>
                <a:cs typeface="+mn-cs"/>
              </a:rPr>
              <a:t>Never ignoring any alarm, alert or signal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kern="1200" dirty="0" smtClean="0">
                <a:solidFill>
                  <a:schemeClr val="tx1"/>
                </a:solidFill>
                <a:ea typeface="+mn-ea"/>
                <a:cs typeface="+mn-cs"/>
              </a:rPr>
              <a:t>Class Activity – Question and Answer/Discussion session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dirty="0" smtClean="0">
                <a:solidFill>
                  <a:schemeClr val="tx1"/>
                </a:solidFill>
                <a:ea typeface="+mn-ea"/>
                <a:cs typeface="+mn-cs"/>
              </a:rPr>
              <a:t>Trainer asks students to identify/describe actions to take to implement protocols listed on</a:t>
            </a:r>
            <a:r>
              <a:rPr lang="en-US" sz="1200" b="0" kern="1200" baseline="0" dirty="0" smtClean="0">
                <a:solidFill>
                  <a:schemeClr val="tx1"/>
                </a:solidFill>
                <a:ea typeface="+mn-ea"/>
                <a:cs typeface="+mn-cs"/>
              </a:rPr>
              <a:t> the slide and uses dot points above to check and/or provide answers.</a:t>
            </a:r>
            <a:endParaRPr lang="en-AU" sz="1200" b="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 xmlns:p14="http://schemas.microsoft.com/office/powerpoint/2010/main" val="423744860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dirty="0" smtClean="0"/>
              <a:t>Trainer continues advising about implementation of theft </a:t>
            </a:r>
            <a:r>
              <a:rPr lang="en-AU" sz="1200" kern="1200" dirty="0" smtClean="0">
                <a:solidFill>
                  <a:schemeClr val="tx1"/>
                </a:solidFill>
                <a:ea typeface="+mn-ea"/>
                <a:cs typeface="+mn-cs"/>
              </a:rPr>
              <a:t>minimisation protocols:</a:t>
            </a:r>
          </a:p>
          <a:p>
            <a:r>
              <a:rPr lang="en-AU" sz="1200" kern="1200" dirty="0" smtClean="0">
                <a:solidFill>
                  <a:schemeClr val="tx1"/>
                </a:solidFill>
                <a:ea typeface="+mn-ea"/>
                <a:cs typeface="+mn-cs"/>
              </a:rPr>
              <a:t> </a:t>
            </a:r>
            <a:r>
              <a:rPr lang="en-AU" sz="1200" b="1" kern="1200" dirty="0" smtClean="0">
                <a:solidFill>
                  <a:schemeClr val="tx1"/>
                </a:solidFill>
                <a:ea typeface="+mn-ea"/>
                <a:cs typeface="+mn-cs"/>
              </a:rPr>
              <a:t>Implementing identified theft minimisation procedures for cash, cash handling and transactions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Never leaving any cash register unattended </a:t>
            </a:r>
          </a:p>
          <a:p>
            <a:pPr marL="171450" indent="-171450">
              <a:buFont typeface="Arial" pitchFamily="34" charset="0"/>
              <a:buChar char="•"/>
            </a:pPr>
            <a:r>
              <a:rPr lang="en-AU" sz="1200" kern="1200" dirty="0" smtClean="0">
                <a:solidFill>
                  <a:schemeClr val="tx1"/>
                </a:solidFill>
                <a:ea typeface="+mn-ea"/>
                <a:cs typeface="+mn-cs"/>
              </a:rPr>
              <a:t>Always locking the cash register with the key when the register is not in use </a:t>
            </a:r>
          </a:p>
          <a:p>
            <a:pPr marL="171450" indent="-171450">
              <a:buFont typeface="Arial" pitchFamily="34" charset="0"/>
              <a:buChar char="•"/>
            </a:pPr>
            <a:r>
              <a:rPr lang="en-AU" sz="1200" kern="1200" dirty="0" smtClean="0">
                <a:solidFill>
                  <a:schemeClr val="tx1"/>
                </a:solidFill>
                <a:ea typeface="+mn-ea"/>
                <a:cs typeface="+mn-cs"/>
              </a:rPr>
              <a:t>Never leaving the cash drawer in the register and locking the cash register at night </a:t>
            </a:r>
          </a:p>
          <a:p>
            <a:pPr marL="171450" indent="-171450">
              <a:buFont typeface="Arial" pitchFamily="34" charset="0"/>
              <a:buChar char="•"/>
            </a:pPr>
            <a:r>
              <a:rPr lang="en-AU" sz="1200" kern="1200" dirty="0" smtClean="0">
                <a:solidFill>
                  <a:schemeClr val="tx1"/>
                </a:solidFill>
                <a:ea typeface="+mn-ea"/>
                <a:cs typeface="+mn-cs"/>
              </a:rPr>
              <a:t>Obtaining internal training on the operation of workplace registers</a:t>
            </a:r>
          </a:p>
          <a:p>
            <a:pPr marL="171450" indent="-171450">
              <a:buFont typeface="Arial" pitchFamily="34" charset="0"/>
              <a:buChar char="•"/>
            </a:pPr>
            <a:r>
              <a:rPr lang="en-AU" sz="1200" kern="1200" dirty="0" smtClean="0">
                <a:solidFill>
                  <a:schemeClr val="tx1"/>
                </a:solidFill>
                <a:ea typeface="+mn-ea"/>
                <a:cs typeface="+mn-cs"/>
              </a:rPr>
              <a:t>Nominating (saying ‘out loud’) the money given you by customers when a cash payment is received</a:t>
            </a:r>
          </a:p>
          <a:p>
            <a:pPr marL="171450" indent="-171450">
              <a:buFont typeface="Arial" pitchFamily="34" charset="0"/>
              <a:buChar char="•"/>
            </a:pPr>
            <a:r>
              <a:rPr lang="en-AU" sz="1200" kern="1200" dirty="0" smtClean="0">
                <a:solidFill>
                  <a:schemeClr val="tx1"/>
                </a:solidFill>
                <a:ea typeface="+mn-ea"/>
                <a:cs typeface="+mn-cs"/>
              </a:rPr>
              <a:t>Count out change into the customers hand</a:t>
            </a:r>
          </a:p>
          <a:p>
            <a:pPr marL="171450" indent="-171450">
              <a:buFont typeface="Arial" pitchFamily="34" charset="0"/>
              <a:buChar char="•"/>
            </a:pPr>
            <a:r>
              <a:rPr lang="en-AU" sz="1200" kern="1200" dirty="0" smtClean="0">
                <a:solidFill>
                  <a:schemeClr val="tx1"/>
                </a:solidFill>
                <a:ea typeface="+mn-ea"/>
                <a:cs typeface="+mn-cs"/>
              </a:rPr>
              <a:t>Learning the SOPs which apply to all cash handling and transactions</a:t>
            </a:r>
          </a:p>
          <a:p>
            <a:pPr marL="171450" indent="-171450">
              <a:buFont typeface="Arial" pitchFamily="34" charset="0"/>
              <a:buChar char="•"/>
            </a:pPr>
            <a:r>
              <a:rPr lang="en-AU" sz="1200" kern="1200" dirty="0" smtClean="0">
                <a:solidFill>
                  <a:schemeClr val="tx1"/>
                </a:solidFill>
                <a:ea typeface="+mn-ea"/>
                <a:cs typeface="+mn-cs"/>
              </a:rPr>
              <a:t>Counting all monies received – from customers and from other staff or management</a:t>
            </a:r>
          </a:p>
          <a:p>
            <a:pPr marL="171450" indent="-171450">
              <a:buFont typeface="Arial" pitchFamily="34" charset="0"/>
              <a:buChar char="•"/>
            </a:pPr>
            <a:r>
              <a:rPr lang="en-AU" sz="1200" kern="1200" dirty="0" smtClean="0">
                <a:solidFill>
                  <a:schemeClr val="tx1"/>
                </a:solidFill>
                <a:ea typeface="+mn-ea"/>
                <a:cs typeface="+mn-cs"/>
              </a:rPr>
              <a:t>Protecting cash as a valuable asset and tempting target for thieves</a:t>
            </a:r>
          </a:p>
          <a:p>
            <a:pPr marL="171450" indent="-171450">
              <a:buFont typeface="Arial" pitchFamily="34" charset="0"/>
              <a:buChar char="•"/>
            </a:pPr>
            <a:r>
              <a:rPr lang="en-AU" sz="1200" kern="1200" dirty="0" smtClean="0">
                <a:solidFill>
                  <a:schemeClr val="tx1"/>
                </a:solidFill>
                <a:ea typeface="+mn-ea"/>
                <a:cs typeface="+mn-cs"/>
              </a:rPr>
              <a:t>Completing internal paperwork when requesting change for register and/or when reconciling at the end-of-trade</a:t>
            </a:r>
          </a:p>
          <a:p>
            <a:pPr marL="171450" indent="-171450">
              <a:buFont typeface="Arial" pitchFamily="34" charset="0"/>
              <a:buChar char="•"/>
            </a:pPr>
            <a:r>
              <a:rPr lang="en-AU" sz="1200" kern="1200" dirty="0" smtClean="0">
                <a:solidFill>
                  <a:schemeClr val="tx1"/>
                </a:solidFill>
                <a:ea typeface="+mn-ea"/>
                <a:cs typeface="+mn-cs"/>
              </a:rPr>
              <a:t>Counting daily takings out of public view and in a secure location</a:t>
            </a:r>
          </a:p>
          <a:p>
            <a:pPr marL="171450" indent="-171450">
              <a:buFont typeface="Arial" pitchFamily="34" charset="0"/>
              <a:buChar char="•"/>
            </a:pPr>
            <a:r>
              <a:rPr lang="en-AU" sz="1200" kern="1200" dirty="0" smtClean="0">
                <a:solidFill>
                  <a:schemeClr val="tx1"/>
                </a:solidFill>
                <a:ea typeface="+mn-ea"/>
                <a:cs typeface="+mn-cs"/>
              </a:rPr>
              <a:t>Never discussing takings of the business with anyone outside the business</a:t>
            </a:r>
          </a:p>
          <a:p>
            <a:pPr marL="171450" indent="-171450">
              <a:buFont typeface="Arial" pitchFamily="34" charset="0"/>
              <a:buChar char="•"/>
            </a:pPr>
            <a:r>
              <a:rPr lang="en-AU" sz="1200" kern="1200" dirty="0" smtClean="0">
                <a:solidFill>
                  <a:schemeClr val="tx1"/>
                </a:solidFill>
                <a:ea typeface="+mn-ea"/>
                <a:cs typeface="+mn-cs"/>
              </a:rPr>
              <a:t>Following house procedures for banking and transporting cash</a:t>
            </a:r>
          </a:p>
          <a:p>
            <a:pPr marL="171450" indent="-171450">
              <a:buFont typeface="Arial" pitchFamily="34" charset="0"/>
              <a:buChar char="•"/>
            </a:pPr>
            <a:r>
              <a:rPr lang="en-AU" sz="1200" kern="1200" dirty="0" smtClean="0">
                <a:solidFill>
                  <a:schemeClr val="tx1"/>
                </a:solidFill>
                <a:ea typeface="+mn-ea"/>
                <a:cs typeface="+mn-cs"/>
              </a:rPr>
              <a:t>Securing cash in a safe when it is not in a register.</a:t>
            </a:r>
          </a:p>
          <a:p>
            <a:r>
              <a:rPr lang="en-AU" sz="1200" b="1" kern="1200" dirty="0" smtClean="0">
                <a:solidFill>
                  <a:schemeClr val="tx1"/>
                </a:solidFill>
                <a:ea typeface="+mn-ea"/>
                <a:cs typeface="+mn-cs"/>
              </a:rPr>
              <a:t>Implementing identified theft minimisation procedures for tickets and vouchers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Recording identifying numbers/codes of all tickets and vouchers</a:t>
            </a:r>
          </a:p>
          <a:p>
            <a:pPr marL="171450" indent="-171450">
              <a:buFont typeface="Arial" pitchFamily="34" charset="0"/>
              <a:buChar char="•"/>
            </a:pPr>
            <a:r>
              <a:rPr lang="en-AU" sz="1200" kern="1200" dirty="0" smtClean="0">
                <a:solidFill>
                  <a:schemeClr val="tx1"/>
                </a:solidFill>
                <a:ea typeface="+mn-ea"/>
                <a:cs typeface="+mn-cs"/>
              </a:rPr>
              <a:t>Treating tickets/vouchers as tempting targets: to many, they are the same as cash </a:t>
            </a:r>
          </a:p>
          <a:p>
            <a:pPr marL="171450" indent="-171450">
              <a:buFont typeface="Arial" pitchFamily="34" charset="0"/>
              <a:buChar char="•"/>
            </a:pPr>
            <a:r>
              <a:rPr lang="en-AU" sz="1200" kern="1200" dirty="0" smtClean="0">
                <a:solidFill>
                  <a:schemeClr val="tx1"/>
                </a:solidFill>
                <a:ea typeface="+mn-ea"/>
                <a:cs typeface="+mn-cs"/>
              </a:rPr>
              <a:t>Participating in necessary training</a:t>
            </a:r>
          </a:p>
          <a:p>
            <a:pPr marL="171450" indent="-171450">
              <a:buFont typeface="Arial" pitchFamily="34" charset="0"/>
              <a:buChar char="•"/>
            </a:pPr>
            <a:r>
              <a:rPr lang="en-AU" sz="1200" kern="1200" dirty="0" smtClean="0">
                <a:solidFill>
                  <a:schemeClr val="tx1"/>
                </a:solidFill>
                <a:ea typeface="+mn-ea"/>
                <a:cs typeface="+mn-cs"/>
              </a:rPr>
              <a:t>Recording required detail of all tickets and vouchers which are sold/processed</a:t>
            </a:r>
          </a:p>
          <a:p>
            <a:pPr marL="171450" indent="-171450">
              <a:buFont typeface="Arial" pitchFamily="34" charset="0"/>
              <a:buChar char="•"/>
            </a:pPr>
            <a:r>
              <a:rPr lang="en-AU" sz="1200" kern="1200" dirty="0" smtClean="0">
                <a:solidFill>
                  <a:schemeClr val="tx1"/>
                </a:solidFill>
                <a:ea typeface="+mn-ea"/>
                <a:cs typeface="+mn-cs"/>
              </a:rPr>
              <a:t>Retaining unused tickets and vouchers in a secure location</a:t>
            </a:r>
          </a:p>
          <a:p>
            <a:pPr marL="171450" indent="-171450">
              <a:buFont typeface="Arial" pitchFamily="34" charset="0"/>
              <a:buChar char="•"/>
            </a:pPr>
            <a:r>
              <a:rPr lang="en-AU" sz="1200" kern="1200" dirty="0" smtClean="0">
                <a:solidFill>
                  <a:schemeClr val="tx1"/>
                </a:solidFill>
                <a:ea typeface="+mn-ea"/>
                <a:cs typeface="+mn-cs"/>
              </a:rPr>
              <a:t>Removing tickets and vouchers to a safe at the end-of-trade</a:t>
            </a:r>
          </a:p>
          <a:p>
            <a:pPr marL="171450" indent="-171450">
              <a:buFont typeface="Arial" pitchFamily="34" charset="0"/>
              <a:buChar char="•"/>
            </a:pPr>
            <a:r>
              <a:rPr lang="en-AU" sz="1200" kern="1200" dirty="0" smtClean="0">
                <a:solidFill>
                  <a:schemeClr val="tx1"/>
                </a:solidFill>
                <a:ea typeface="+mn-ea"/>
                <a:cs typeface="+mn-cs"/>
              </a:rPr>
              <a:t>Verifying validity and legitimacy of all tickets and vouchers tendered as payment or part-payment.</a:t>
            </a:r>
          </a:p>
          <a:p>
            <a:r>
              <a:rPr lang="en-AU" sz="1200" b="1" kern="1200" dirty="0" smtClean="0">
                <a:solidFill>
                  <a:schemeClr val="tx1"/>
                </a:solidFill>
                <a:ea typeface="+mn-ea"/>
                <a:cs typeface="+mn-cs"/>
              </a:rPr>
              <a:t>Implementing identified theft minimisation procedures for the control of keys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Signing keys out at start-of-shift</a:t>
            </a:r>
          </a:p>
          <a:p>
            <a:pPr marL="171450" indent="-171450">
              <a:buFont typeface="Arial" pitchFamily="34" charset="0"/>
              <a:buChar char="•"/>
            </a:pPr>
            <a:r>
              <a:rPr lang="en-AU" sz="1200" kern="1200" dirty="0" smtClean="0">
                <a:solidFill>
                  <a:schemeClr val="tx1"/>
                </a:solidFill>
                <a:ea typeface="+mn-ea"/>
                <a:cs typeface="+mn-cs"/>
              </a:rPr>
              <a:t>Never lending keys to anyone – without exception</a:t>
            </a:r>
          </a:p>
          <a:p>
            <a:pPr marL="171450" indent="-171450">
              <a:buFont typeface="Arial" pitchFamily="34" charset="0"/>
              <a:buChar char="•"/>
            </a:pPr>
            <a:r>
              <a:rPr lang="en-AU" sz="1200" kern="1200" dirty="0" smtClean="0">
                <a:solidFill>
                  <a:schemeClr val="tx1"/>
                </a:solidFill>
                <a:ea typeface="+mn-ea"/>
                <a:cs typeface="+mn-cs"/>
              </a:rPr>
              <a:t>Returning keys at the end-of-shift</a:t>
            </a:r>
          </a:p>
          <a:p>
            <a:pPr marL="171450" indent="-171450">
              <a:buFont typeface="Arial" pitchFamily="34" charset="0"/>
              <a:buChar char="•"/>
            </a:pPr>
            <a:r>
              <a:rPr lang="en-AU" sz="1200" kern="1200" dirty="0" smtClean="0">
                <a:solidFill>
                  <a:schemeClr val="tx1"/>
                </a:solidFill>
                <a:ea typeface="+mn-ea"/>
                <a:cs typeface="+mn-cs"/>
              </a:rPr>
              <a:t>Not using keys to open secure ore restricted locations for members of the public</a:t>
            </a:r>
          </a:p>
          <a:p>
            <a:pPr marL="171450" indent="-171450">
              <a:buFont typeface="Arial" pitchFamily="34" charset="0"/>
              <a:buChar char="•"/>
            </a:pPr>
            <a:r>
              <a:rPr lang="en-AU" sz="1200" kern="1200" dirty="0" smtClean="0">
                <a:solidFill>
                  <a:schemeClr val="tx1"/>
                </a:solidFill>
                <a:ea typeface="+mn-ea"/>
                <a:cs typeface="+mn-cs"/>
              </a:rPr>
              <a:t>Storing keys in a key safe when not in use</a:t>
            </a:r>
          </a:p>
          <a:p>
            <a:pPr marL="171450" indent="-171450">
              <a:buFont typeface="Arial" pitchFamily="34" charset="0"/>
              <a:buChar char="•"/>
            </a:pPr>
            <a:r>
              <a:rPr lang="en-AU" sz="1200" kern="1200" dirty="0" smtClean="0">
                <a:solidFill>
                  <a:schemeClr val="tx1"/>
                </a:solidFill>
                <a:ea typeface="+mn-ea"/>
                <a:cs typeface="+mn-cs"/>
              </a:rPr>
              <a:t>Completing ‘key register’ when taking and returning keys</a:t>
            </a:r>
          </a:p>
          <a:p>
            <a:pPr marL="171450" indent="-171450">
              <a:buFont typeface="Arial" pitchFamily="34" charset="0"/>
              <a:buChar char="•"/>
            </a:pPr>
            <a:r>
              <a:rPr lang="en-AU" sz="1200" kern="1200" dirty="0" smtClean="0">
                <a:solidFill>
                  <a:schemeClr val="tx1"/>
                </a:solidFill>
                <a:ea typeface="+mn-ea"/>
                <a:cs typeface="+mn-cs"/>
              </a:rPr>
              <a:t>Keeping keys allocated to you securely on your person</a:t>
            </a:r>
          </a:p>
          <a:p>
            <a:pPr marL="171450" indent="-171450">
              <a:buFont typeface="Arial" pitchFamily="34" charset="0"/>
              <a:buChar char="•"/>
            </a:pPr>
            <a:r>
              <a:rPr lang="en-AU" sz="1200" kern="1200" dirty="0" smtClean="0">
                <a:solidFill>
                  <a:schemeClr val="tx1"/>
                </a:solidFill>
                <a:ea typeface="+mn-ea"/>
                <a:cs typeface="+mn-cs"/>
              </a:rPr>
              <a:t>Never copying keys belonging to the business. </a:t>
            </a:r>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kern="1200" dirty="0" smtClean="0">
                <a:solidFill>
                  <a:schemeClr val="tx1"/>
                </a:solidFill>
                <a:ea typeface="+mn-ea"/>
                <a:cs typeface="+mn-cs"/>
              </a:rPr>
              <a:t>Class Activity n- Question and Answer/Discussion session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dirty="0" smtClean="0">
                <a:solidFill>
                  <a:schemeClr val="tx1"/>
                </a:solidFill>
                <a:ea typeface="+mn-ea"/>
                <a:cs typeface="+mn-cs"/>
              </a:rPr>
              <a:t>Trainer asks students to identify/describe actions to take to implement protocols listed on</a:t>
            </a:r>
            <a:r>
              <a:rPr lang="en-US" sz="1200" b="0" kern="1200" baseline="0" dirty="0" smtClean="0">
                <a:solidFill>
                  <a:schemeClr val="tx1"/>
                </a:solidFill>
                <a:ea typeface="+mn-ea"/>
                <a:cs typeface="+mn-cs"/>
              </a:rPr>
              <a:t> the slide and uses dot points above to check and/or provide answers.</a:t>
            </a:r>
            <a:endParaRPr lang="en-AU" sz="1200" b="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 xmlns:p14="http://schemas.microsoft.com/office/powerpoint/2010/main" val="328475899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a:buFont typeface="Arial" pitchFamily="34" charset="0"/>
              <a:buNone/>
            </a:pPr>
            <a:r>
              <a:rPr lang="en-US" dirty="0" smtClean="0"/>
              <a:t>Trainer continues advising about implementation of theft </a:t>
            </a:r>
            <a:r>
              <a:rPr lang="en-AU" sz="1200" kern="1200" dirty="0" smtClean="0">
                <a:solidFill>
                  <a:schemeClr val="tx1"/>
                </a:solidFill>
                <a:ea typeface="+mn-ea"/>
                <a:cs typeface="+mn-cs"/>
              </a:rPr>
              <a:t>minimisation protocols:</a:t>
            </a:r>
          </a:p>
          <a:p>
            <a:r>
              <a:rPr lang="en-AU" sz="1200" b="1" kern="1200" dirty="0" smtClean="0">
                <a:solidFill>
                  <a:schemeClr val="tx1"/>
                </a:solidFill>
                <a:ea typeface="+mn-ea"/>
                <a:cs typeface="+mn-cs"/>
              </a:rPr>
              <a:t>Implementing identified theft minimisation procedures relating to organisational assets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Learning what the business allows staff to do/use in relation to organisational assets and resources</a:t>
            </a:r>
          </a:p>
          <a:p>
            <a:pPr marL="171450" indent="-171450">
              <a:buFont typeface="Arial" pitchFamily="34" charset="0"/>
              <a:buChar char="•"/>
            </a:pPr>
            <a:r>
              <a:rPr lang="en-AU" sz="1200" kern="1200" dirty="0" smtClean="0">
                <a:solidFill>
                  <a:schemeClr val="tx1"/>
                </a:solidFill>
                <a:ea typeface="+mn-ea"/>
                <a:cs typeface="+mn-cs"/>
              </a:rPr>
              <a:t>Never using business assets for personal gain</a:t>
            </a:r>
          </a:p>
          <a:p>
            <a:pPr marL="171450" indent="-171450">
              <a:buFont typeface="Arial" pitchFamily="34" charset="0"/>
              <a:buChar char="•"/>
            </a:pPr>
            <a:r>
              <a:rPr lang="en-AU" sz="1200" kern="1200" dirty="0" smtClean="0">
                <a:solidFill>
                  <a:schemeClr val="tx1"/>
                </a:solidFill>
                <a:ea typeface="+mn-ea"/>
                <a:cs typeface="+mn-cs"/>
              </a:rPr>
              <a:t>Not stealing company assets or resources</a:t>
            </a:r>
          </a:p>
          <a:p>
            <a:pPr marL="171450" indent="-171450">
              <a:buFont typeface="Arial" pitchFamily="34" charset="0"/>
              <a:buChar char="•"/>
            </a:pPr>
            <a:r>
              <a:rPr lang="en-AU" sz="1200" kern="1200" dirty="0" smtClean="0">
                <a:solidFill>
                  <a:schemeClr val="tx1"/>
                </a:solidFill>
                <a:ea typeface="+mn-ea"/>
                <a:cs typeface="+mn-cs"/>
              </a:rPr>
              <a:t>Maintaining asset registers of organisational assets</a:t>
            </a:r>
          </a:p>
          <a:p>
            <a:pPr marL="171450" indent="-171450">
              <a:buFont typeface="Arial" pitchFamily="34" charset="0"/>
              <a:buChar char="•"/>
            </a:pPr>
            <a:r>
              <a:rPr lang="en-AU" sz="1200" kern="1200" dirty="0" smtClean="0">
                <a:solidFill>
                  <a:schemeClr val="tx1"/>
                </a:solidFill>
                <a:ea typeface="+mn-ea"/>
                <a:cs typeface="+mn-cs"/>
              </a:rPr>
              <a:t>Reporting damage to, or disappearance of, company assets</a:t>
            </a:r>
          </a:p>
          <a:p>
            <a:pPr marL="171450" indent="-171450">
              <a:buFont typeface="Arial" pitchFamily="34" charset="0"/>
              <a:buChar char="•"/>
            </a:pPr>
            <a:r>
              <a:rPr lang="en-AU" sz="1200" kern="1200" dirty="0" smtClean="0">
                <a:solidFill>
                  <a:schemeClr val="tx1"/>
                </a:solidFill>
                <a:ea typeface="+mn-ea"/>
                <a:cs typeface="+mn-cs"/>
              </a:rPr>
              <a:t>Controlling public access to workplace assets</a:t>
            </a:r>
          </a:p>
          <a:p>
            <a:pPr marL="171450" indent="-171450">
              <a:buFont typeface="Arial" pitchFamily="34" charset="0"/>
              <a:buChar char="•"/>
            </a:pPr>
            <a:r>
              <a:rPr lang="en-AU" sz="1200" kern="1200" dirty="0" smtClean="0">
                <a:solidFill>
                  <a:schemeClr val="tx1"/>
                </a:solidFill>
                <a:ea typeface="+mn-ea"/>
                <a:cs typeface="+mn-cs"/>
              </a:rPr>
              <a:t>Completing necessary documentation when there is a need to acquire or use workplace assets</a:t>
            </a:r>
          </a:p>
          <a:p>
            <a:pPr marL="171450" indent="-171450">
              <a:buFont typeface="Arial" pitchFamily="34" charset="0"/>
              <a:buChar char="•"/>
            </a:pPr>
            <a:r>
              <a:rPr lang="en-AU" sz="1200" kern="1200" dirty="0" smtClean="0">
                <a:solidFill>
                  <a:schemeClr val="tx1"/>
                </a:solidFill>
                <a:ea typeface="+mn-ea"/>
                <a:cs typeface="+mn-cs"/>
              </a:rPr>
              <a:t>Never lending company assets to others</a:t>
            </a:r>
          </a:p>
          <a:p>
            <a:pPr marL="171450" indent="-171450">
              <a:buFont typeface="Arial" pitchFamily="34" charset="0"/>
              <a:buChar char="•"/>
            </a:pPr>
            <a:r>
              <a:rPr lang="en-AU" sz="1200" kern="1200" dirty="0" smtClean="0">
                <a:solidFill>
                  <a:schemeClr val="tx1"/>
                </a:solidFill>
                <a:ea typeface="+mn-ea"/>
                <a:cs typeface="+mn-cs"/>
              </a:rPr>
              <a:t>Checking bags/vehicles leaving the business to deter and identify theft</a:t>
            </a:r>
          </a:p>
          <a:p>
            <a:pPr marL="171450" indent="-171450">
              <a:buFont typeface="Arial" pitchFamily="34" charset="0"/>
              <a:buChar char="•"/>
            </a:pPr>
            <a:r>
              <a:rPr lang="en-AU" sz="1200" kern="1200" dirty="0" smtClean="0">
                <a:solidFill>
                  <a:schemeClr val="tx1"/>
                </a:solidFill>
                <a:ea typeface="+mn-ea"/>
                <a:cs typeface="+mn-cs"/>
              </a:rPr>
              <a:t>Actively monitor (‘keep an eye on’) all assets.</a:t>
            </a:r>
          </a:p>
          <a:p>
            <a:r>
              <a:rPr lang="en-AU" sz="1200" b="1" kern="1200" dirty="0" smtClean="0">
                <a:solidFill>
                  <a:schemeClr val="tx1"/>
                </a:solidFill>
                <a:ea typeface="+mn-ea"/>
                <a:cs typeface="+mn-cs"/>
              </a:rPr>
              <a:t>Implementing identified theft minimisation procedures relating to stock and supplies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Securing all deliveries/supplies when they arrive and not leaving then ‘lying around’</a:t>
            </a:r>
          </a:p>
          <a:p>
            <a:pPr marL="171450" indent="-171450">
              <a:buFont typeface="Arial" pitchFamily="34" charset="0"/>
              <a:buChar char="•"/>
            </a:pPr>
            <a:r>
              <a:rPr lang="en-AU" sz="1200" kern="1200" dirty="0" smtClean="0">
                <a:solidFill>
                  <a:schemeClr val="tx1"/>
                </a:solidFill>
                <a:ea typeface="+mn-ea"/>
                <a:cs typeface="+mn-cs"/>
              </a:rPr>
              <a:t>Not allowing customers/members of the public into the stores areas</a:t>
            </a:r>
          </a:p>
          <a:p>
            <a:pPr marL="171450" indent="-171450">
              <a:buFont typeface="Arial" pitchFamily="34" charset="0"/>
              <a:buChar char="•"/>
            </a:pPr>
            <a:r>
              <a:rPr lang="en-AU" sz="1200" kern="1200" dirty="0" smtClean="0">
                <a:solidFill>
                  <a:schemeClr val="tx1"/>
                </a:solidFill>
                <a:ea typeface="+mn-ea"/>
                <a:cs typeface="+mn-cs"/>
              </a:rPr>
              <a:t>Storing stock in designated locations for each item as appropriate</a:t>
            </a:r>
          </a:p>
          <a:p>
            <a:pPr marL="171450" indent="-171450">
              <a:buFont typeface="Arial" pitchFamily="34" charset="0"/>
              <a:buChar char="•"/>
            </a:pPr>
            <a:r>
              <a:rPr lang="en-AU" sz="1200" kern="1200" dirty="0" smtClean="0">
                <a:solidFill>
                  <a:schemeClr val="tx1"/>
                </a:solidFill>
                <a:ea typeface="+mn-ea"/>
                <a:cs typeface="+mn-cs"/>
              </a:rPr>
              <a:t>Making sure the appropriate paperwork (such as requisitions) are completed for all items taken out of the stores area</a:t>
            </a:r>
          </a:p>
          <a:p>
            <a:pPr marL="171450" indent="-171450">
              <a:buFont typeface="Arial" pitchFamily="34" charset="0"/>
              <a:buChar char="•"/>
            </a:pPr>
            <a:r>
              <a:rPr lang="en-AU" sz="1200" kern="1200" dirty="0" smtClean="0">
                <a:solidFill>
                  <a:schemeClr val="tx1"/>
                </a:solidFill>
                <a:ea typeface="+mn-ea"/>
                <a:cs typeface="+mn-cs"/>
              </a:rPr>
              <a:t>Not using workplace stock and supplies for personal or private purposes</a:t>
            </a:r>
          </a:p>
          <a:p>
            <a:pPr marL="171450" indent="-171450">
              <a:buFont typeface="Arial" pitchFamily="34" charset="0"/>
              <a:buChar char="•"/>
            </a:pPr>
            <a:r>
              <a:rPr lang="en-AU" sz="1200" kern="1200" dirty="0" smtClean="0">
                <a:solidFill>
                  <a:schemeClr val="tx1"/>
                </a:solidFill>
                <a:ea typeface="+mn-ea"/>
                <a:cs typeface="+mn-cs"/>
              </a:rPr>
              <a:t>Checking locks on doors and windows leading into stores areas</a:t>
            </a:r>
          </a:p>
          <a:p>
            <a:pPr marL="171450" indent="-171450">
              <a:buFont typeface="Arial" pitchFamily="34" charset="0"/>
              <a:buChar char="•"/>
            </a:pPr>
            <a:r>
              <a:rPr lang="en-AU" sz="1200" kern="1200" dirty="0" smtClean="0">
                <a:solidFill>
                  <a:schemeClr val="tx1"/>
                </a:solidFill>
                <a:ea typeface="+mn-ea"/>
                <a:cs typeface="+mn-cs"/>
              </a:rPr>
              <a:t>Monitoring store room activity to identify breaches of security</a:t>
            </a:r>
          </a:p>
          <a:p>
            <a:pPr marL="171450" indent="-171450">
              <a:buFont typeface="Arial" pitchFamily="34" charset="0"/>
              <a:buChar char="•"/>
            </a:pPr>
            <a:r>
              <a:rPr lang="en-AU" sz="1200" kern="1200" dirty="0" smtClean="0">
                <a:solidFill>
                  <a:schemeClr val="tx1"/>
                </a:solidFill>
                <a:ea typeface="+mn-ea"/>
                <a:cs typeface="+mn-cs"/>
              </a:rPr>
              <a:t>Conducting stock-takes and other stock control activities as required at the nominated times</a:t>
            </a:r>
          </a:p>
          <a:p>
            <a:pPr marL="171450" indent="-171450">
              <a:buFont typeface="Arial" pitchFamily="34" charset="0"/>
              <a:buChar char="•"/>
            </a:pPr>
            <a:r>
              <a:rPr lang="en-AU" sz="1200" kern="1200" dirty="0" smtClean="0">
                <a:solidFill>
                  <a:schemeClr val="tx1"/>
                </a:solidFill>
                <a:ea typeface="+mn-ea"/>
                <a:cs typeface="+mn-cs"/>
              </a:rPr>
              <a:t>Actively managing stock</a:t>
            </a:r>
          </a:p>
          <a:p>
            <a:pPr marL="171450" indent="-171450">
              <a:buFont typeface="Arial" pitchFamily="34" charset="0"/>
              <a:buChar char="•"/>
            </a:pPr>
            <a:r>
              <a:rPr lang="en-AU" sz="1200" kern="1200" dirty="0" smtClean="0">
                <a:solidFill>
                  <a:schemeClr val="tx1"/>
                </a:solidFill>
                <a:ea typeface="+mn-ea"/>
                <a:cs typeface="+mn-cs"/>
              </a:rPr>
              <a:t>Maintaining required workplace documentation to record and track use and movement of stock.</a:t>
            </a:r>
          </a:p>
          <a:p>
            <a:pPr>
              <a:buFont typeface="Arial" pitchFamily="34" charset="0"/>
              <a:buChar char="•"/>
            </a:pPr>
            <a:endParaRPr lang="en-US"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kern="1200" dirty="0" smtClean="0">
                <a:solidFill>
                  <a:schemeClr val="tx1"/>
                </a:solidFill>
                <a:ea typeface="+mn-ea"/>
                <a:cs typeface="+mn-cs"/>
              </a:rPr>
              <a:t>Class Activity – Question and Answer/Discussion</a:t>
            </a:r>
            <a:r>
              <a:rPr lang="en-US" sz="1200" b="1" kern="1200" baseline="0" dirty="0" smtClean="0">
                <a:solidFill>
                  <a:schemeClr val="tx1"/>
                </a:solidFill>
                <a:ea typeface="+mn-ea"/>
                <a:cs typeface="+mn-cs"/>
              </a:rPr>
              <a:t> session</a:t>
            </a:r>
            <a:endParaRPr lang="en-US" sz="1200" b="1"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dirty="0" smtClean="0">
                <a:solidFill>
                  <a:schemeClr val="tx1"/>
                </a:solidFill>
                <a:ea typeface="+mn-ea"/>
                <a:cs typeface="+mn-cs"/>
              </a:rPr>
              <a:t>Trainer asks students to identify/describe actions to take to implement protocols listed on</a:t>
            </a:r>
            <a:r>
              <a:rPr lang="en-US" sz="1200" b="0" kern="1200" baseline="0" dirty="0" smtClean="0">
                <a:solidFill>
                  <a:schemeClr val="tx1"/>
                </a:solidFill>
                <a:ea typeface="+mn-ea"/>
                <a:cs typeface="+mn-cs"/>
              </a:rPr>
              <a:t> the slide and uses dot points above to check and/or provide answers.</a:t>
            </a:r>
            <a:endParaRPr lang="en-AU" sz="1200" b="0" kern="1200" dirty="0" smtClean="0">
              <a:solidFill>
                <a:schemeClr val="tx1"/>
              </a:solidFill>
              <a:ea typeface="+mn-ea"/>
              <a:cs typeface="+mn-cs"/>
            </a:endParaRPr>
          </a:p>
          <a:p>
            <a:pPr>
              <a:buFont typeface="Arial" pitchFamily="34" charset="0"/>
              <a:buChar cha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 xmlns:p14="http://schemas.microsoft.com/office/powerpoint/2010/main" val="95598679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advising about implementation of theft </a:t>
            </a:r>
            <a:r>
              <a:rPr lang="en-AU" sz="1200" kern="1200" dirty="0" smtClean="0">
                <a:solidFill>
                  <a:schemeClr val="tx1"/>
                </a:solidFill>
                <a:ea typeface="+mn-ea"/>
                <a:cs typeface="+mn-cs"/>
              </a:rPr>
              <a:t>minimisation protocols:</a:t>
            </a:r>
          </a:p>
          <a:p>
            <a:r>
              <a:rPr lang="en-AU" sz="1200" b="1" kern="1200" dirty="0" smtClean="0">
                <a:solidFill>
                  <a:schemeClr val="tx1"/>
                </a:solidFill>
                <a:ea typeface="+mn-ea"/>
                <a:cs typeface="+mn-cs"/>
              </a:rPr>
              <a:t>Implementing identified theft minimisation procedures for the protection of business data</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Protecting internal business documents and data from the sight of customers or members of the public</a:t>
            </a:r>
          </a:p>
          <a:p>
            <a:pPr marL="171450" indent="-171450">
              <a:buFont typeface="Arial" pitchFamily="34" charset="0"/>
              <a:buChar char="•"/>
            </a:pPr>
            <a:r>
              <a:rPr lang="en-AU" sz="1200" kern="1200" dirty="0" smtClean="0">
                <a:solidFill>
                  <a:schemeClr val="tx1"/>
                </a:solidFill>
                <a:ea typeface="+mn-ea"/>
                <a:cs typeface="+mn-cs"/>
              </a:rPr>
              <a:t>Never disclosing business information to anyone</a:t>
            </a:r>
          </a:p>
          <a:p>
            <a:pPr marL="171450" indent="-171450">
              <a:buFont typeface="Arial" pitchFamily="34" charset="0"/>
              <a:buChar char="•"/>
            </a:pPr>
            <a:r>
              <a:rPr lang="en-AU" sz="1200" kern="1200" dirty="0" smtClean="0">
                <a:solidFill>
                  <a:schemeClr val="tx1"/>
                </a:solidFill>
                <a:ea typeface="+mn-ea"/>
                <a:cs typeface="+mn-cs"/>
              </a:rPr>
              <a:t>Maintaining confidentialities</a:t>
            </a:r>
          </a:p>
          <a:p>
            <a:pPr marL="171450" indent="-171450">
              <a:buFont typeface="Arial" pitchFamily="34" charset="0"/>
              <a:buChar char="•"/>
            </a:pPr>
            <a:r>
              <a:rPr lang="en-AU" sz="1200" kern="1200" dirty="0" smtClean="0">
                <a:solidFill>
                  <a:schemeClr val="tx1"/>
                </a:solidFill>
                <a:ea typeface="+mn-ea"/>
                <a:cs typeface="+mn-cs"/>
              </a:rPr>
              <a:t>Closing computers/monitors when not in use</a:t>
            </a:r>
          </a:p>
          <a:p>
            <a:pPr marL="171450" indent="-171450">
              <a:buFont typeface="Arial" pitchFamily="34" charset="0"/>
              <a:buChar char="•"/>
            </a:pPr>
            <a:r>
              <a:rPr lang="en-AU" sz="1200" kern="1200" dirty="0" smtClean="0">
                <a:solidFill>
                  <a:schemeClr val="tx1"/>
                </a:solidFill>
                <a:ea typeface="+mn-ea"/>
                <a:cs typeface="+mn-cs"/>
              </a:rPr>
              <a:t>Positioning screens and documents so they cannot be seen by customers or members of the public</a:t>
            </a:r>
          </a:p>
          <a:p>
            <a:pPr marL="171450" indent="-171450">
              <a:buFont typeface="Arial" pitchFamily="34" charset="0"/>
              <a:buChar char="•"/>
            </a:pPr>
            <a:r>
              <a:rPr lang="en-AU" sz="1200" kern="1200" dirty="0" smtClean="0">
                <a:solidFill>
                  <a:schemeClr val="tx1"/>
                </a:solidFill>
                <a:ea typeface="+mn-ea"/>
                <a:cs typeface="+mn-cs"/>
              </a:rPr>
              <a:t>Using password protection and username protocols</a:t>
            </a:r>
          </a:p>
          <a:p>
            <a:pPr marL="171450" indent="-171450">
              <a:buFont typeface="Arial" pitchFamily="34" charset="0"/>
              <a:buChar char="•"/>
            </a:pPr>
            <a:r>
              <a:rPr lang="en-AU" sz="1200" kern="1200" dirty="0" smtClean="0">
                <a:solidFill>
                  <a:schemeClr val="tx1"/>
                </a:solidFill>
                <a:ea typeface="+mn-ea"/>
                <a:cs typeface="+mn-cs"/>
              </a:rPr>
              <a:t>Using and updating anti-virus and computer protection software</a:t>
            </a:r>
          </a:p>
          <a:p>
            <a:pPr marL="171450" indent="-171450">
              <a:buFont typeface="Arial" pitchFamily="34" charset="0"/>
              <a:buChar char="•"/>
            </a:pPr>
            <a:r>
              <a:rPr lang="en-AU" sz="1200" kern="1200" dirty="0" smtClean="0">
                <a:solidFill>
                  <a:schemeClr val="tx1"/>
                </a:solidFill>
                <a:ea typeface="+mn-ea"/>
                <a:cs typeface="+mn-cs"/>
              </a:rPr>
              <a:t>Changing passwords and usernames on a regular basis</a:t>
            </a:r>
          </a:p>
          <a:p>
            <a:pPr marL="171450" indent="-171450">
              <a:buFont typeface="Arial" pitchFamily="34" charset="0"/>
              <a:buChar char="•"/>
            </a:pPr>
            <a:r>
              <a:rPr lang="en-AU" sz="1200" kern="1200" dirty="0" smtClean="0">
                <a:solidFill>
                  <a:schemeClr val="tx1"/>
                </a:solidFill>
                <a:ea typeface="+mn-ea"/>
                <a:cs typeface="+mn-cs"/>
              </a:rPr>
              <a:t>Not allowing others to use your password or username</a:t>
            </a:r>
          </a:p>
          <a:p>
            <a:pPr marL="171450" indent="-171450">
              <a:buFont typeface="Arial" pitchFamily="34" charset="0"/>
              <a:buChar char="•"/>
            </a:pPr>
            <a:r>
              <a:rPr lang="en-AU" sz="1200" kern="1200" dirty="0" smtClean="0">
                <a:solidFill>
                  <a:schemeClr val="tx1"/>
                </a:solidFill>
                <a:ea typeface="+mn-ea"/>
                <a:cs typeface="+mn-cs"/>
              </a:rPr>
              <a:t>Not using business information/knowledge for personal gain. </a:t>
            </a:r>
          </a:p>
          <a:p>
            <a:r>
              <a:rPr lang="en-AU" sz="1200" b="1" kern="1200" dirty="0" smtClean="0">
                <a:solidFill>
                  <a:schemeClr val="tx1"/>
                </a:solidFill>
                <a:ea typeface="+mn-ea"/>
                <a:cs typeface="+mn-cs"/>
              </a:rPr>
              <a:t>Implementing identified theft minimisation procedures relating to identify theft</a:t>
            </a:r>
            <a:endParaRPr lang="en-AU" sz="1200" kern="1200" dirty="0" smtClean="0">
              <a:solidFill>
                <a:schemeClr val="tx1"/>
              </a:solidFill>
              <a:ea typeface="+mn-ea"/>
              <a:cs typeface="+mn-cs"/>
            </a:endParaRPr>
          </a:p>
          <a:p>
            <a:pPr marL="171450" indent="-171450">
              <a:buFont typeface="Arial" panose="020B0604020202020204" pitchFamily="34" charset="0"/>
              <a:buChar char="•"/>
            </a:pPr>
            <a:r>
              <a:rPr lang="en-AU" sz="1200" kern="1200" dirty="0" smtClean="0">
                <a:solidFill>
                  <a:schemeClr val="tx1"/>
                </a:solidFill>
                <a:ea typeface="+mn-ea"/>
                <a:cs typeface="+mn-cs"/>
              </a:rPr>
              <a:t>Never disclosing internal codes or passwords to outsiders</a:t>
            </a:r>
          </a:p>
          <a:p>
            <a:pPr marL="171450" indent="-171450">
              <a:buFont typeface="Arial" panose="020B0604020202020204" pitchFamily="34" charset="0"/>
              <a:buChar char="•"/>
            </a:pPr>
            <a:r>
              <a:rPr lang="en-AU" sz="1200" kern="1200" dirty="0" smtClean="0">
                <a:solidFill>
                  <a:schemeClr val="tx1"/>
                </a:solidFill>
                <a:ea typeface="+mn-ea"/>
                <a:cs typeface="+mn-cs"/>
              </a:rPr>
              <a:t>Controlling access to internal identity data</a:t>
            </a:r>
          </a:p>
          <a:p>
            <a:pPr marL="171450" indent="-171450">
              <a:buFont typeface="Arial" panose="020B0604020202020204" pitchFamily="34" charset="0"/>
              <a:buChar char="•"/>
            </a:pPr>
            <a:r>
              <a:rPr lang="en-AU" sz="1200" kern="1200" dirty="0" smtClean="0">
                <a:solidFill>
                  <a:schemeClr val="tx1"/>
                </a:solidFill>
                <a:ea typeface="+mn-ea"/>
                <a:cs typeface="+mn-cs"/>
              </a:rPr>
              <a:t>Using authentication controls approved by the business</a:t>
            </a:r>
          </a:p>
          <a:p>
            <a:pPr marL="171450" indent="-171450">
              <a:buFont typeface="Arial" panose="020B0604020202020204" pitchFamily="34" charset="0"/>
              <a:buChar char="•"/>
            </a:pPr>
            <a:r>
              <a:rPr lang="en-AU" sz="1200" kern="1200" dirty="0" smtClean="0">
                <a:solidFill>
                  <a:schemeClr val="tx1"/>
                </a:solidFill>
                <a:ea typeface="+mn-ea"/>
                <a:cs typeface="+mn-cs"/>
              </a:rPr>
              <a:t>Not responding to unsolicited emails requesting nominated information – such as bank details, account types and numbers, passwords, codes</a:t>
            </a:r>
          </a:p>
          <a:p>
            <a:pPr marL="171450" indent="-171450">
              <a:buFont typeface="Arial" panose="020B0604020202020204" pitchFamily="34" charset="0"/>
              <a:buChar char="•"/>
            </a:pPr>
            <a:r>
              <a:rPr lang="en-AU" sz="1200" kern="1200" dirty="0" smtClean="0">
                <a:solidFill>
                  <a:schemeClr val="tx1"/>
                </a:solidFill>
                <a:ea typeface="+mn-ea"/>
                <a:cs typeface="+mn-cs"/>
              </a:rPr>
              <a:t>Creating powerful passwords to protect identity and access</a:t>
            </a:r>
          </a:p>
          <a:p>
            <a:pPr marL="171450" indent="-171450">
              <a:buFont typeface="Arial" panose="020B0604020202020204" pitchFamily="34" charset="0"/>
              <a:buChar char="•"/>
            </a:pPr>
            <a:r>
              <a:rPr lang="en-AU" sz="1200" kern="1200" dirty="0" smtClean="0">
                <a:solidFill>
                  <a:schemeClr val="tx1"/>
                </a:solidFill>
                <a:ea typeface="+mn-ea"/>
                <a:cs typeface="+mn-cs"/>
              </a:rPr>
              <a:t>Not opening emails from unknown sources</a:t>
            </a:r>
          </a:p>
          <a:p>
            <a:pPr marL="171450" indent="-171450">
              <a:buFont typeface="Arial" panose="020B0604020202020204" pitchFamily="34" charset="0"/>
              <a:buChar char="•"/>
            </a:pPr>
            <a:r>
              <a:rPr lang="en-AU" sz="1200" kern="1200" dirty="0" smtClean="0">
                <a:solidFill>
                  <a:schemeClr val="tx1"/>
                </a:solidFill>
                <a:ea typeface="+mn-ea"/>
                <a:cs typeface="+mn-cs"/>
              </a:rPr>
              <a:t>Using encryption technology (SSL and TSL)</a:t>
            </a:r>
          </a:p>
          <a:p>
            <a:pPr marL="171450" indent="-171450">
              <a:buFont typeface="Arial" panose="020B0604020202020204" pitchFamily="34" charset="0"/>
              <a:buChar char="•"/>
            </a:pPr>
            <a:r>
              <a:rPr lang="en-AU" sz="1200" kern="1200" dirty="0" smtClean="0">
                <a:solidFill>
                  <a:schemeClr val="tx1"/>
                </a:solidFill>
                <a:ea typeface="+mn-ea"/>
                <a:cs typeface="+mn-cs"/>
              </a:rPr>
              <a:t>Monitoring business documents and banking on a regular/at least daily basis – so identity theft can be quickly identified if it occurs</a:t>
            </a:r>
          </a:p>
          <a:p>
            <a:pPr marL="171450" indent="-171450">
              <a:buFont typeface="Arial" panose="020B0604020202020204" pitchFamily="34" charset="0"/>
              <a:buChar char="•"/>
            </a:pPr>
            <a:r>
              <a:rPr lang="en-AU" sz="1200" kern="1200" dirty="0" smtClean="0">
                <a:solidFill>
                  <a:schemeClr val="tx1"/>
                </a:solidFill>
                <a:ea typeface="+mn-ea"/>
                <a:cs typeface="+mn-cs"/>
              </a:rPr>
              <a:t>Following the prepared security strategy as developed for the workplace</a:t>
            </a:r>
          </a:p>
          <a:p>
            <a:pPr marL="171450" indent="-171450">
              <a:buFont typeface="Arial" panose="020B0604020202020204" pitchFamily="34" charset="0"/>
              <a:buChar char="•"/>
            </a:pPr>
            <a:r>
              <a:rPr lang="en-AU" sz="1200" kern="1200" dirty="0" smtClean="0">
                <a:solidFill>
                  <a:schemeClr val="tx1"/>
                </a:solidFill>
                <a:ea typeface="+mn-ea"/>
                <a:cs typeface="+mn-cs"/>
              </a:rPr>
              <a:t>Reporting and cancelling lost credit cards (and similar) immediately</a:t>
            </a:r>
          </a:p>
          <a:p>
            <a:pPr marL="171450" indent="-171450">
              <a:buFont typeface="Arial" panose="020B0604020202020204" pitchFamily="34" charset="0"/>
              <a:buChar char="•"/>
            </a:pPr>
            <a:r>
              <a:rPr lang="en-AU" sz="1200" kern="1200" dirty="0" smtClean="0">
                <a:solidFill>
                  <a:schemeClr val="tx1"/>
                </a:solidFill>
                <a:ea typeface="+mn-ea"/>
                <a:cs typeface="+mn-cs"/>
              </a:rPr>
              <a:t>Reporting suspicions regarding identity theft at the earliest opportunity.</a:t>
            </a:r>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kern="1200" dirty="0" smtClean="0">
                <a:solidFill>
                  <a:schemeClr val="tx1"/>
                </a:solidFill>
                <a:ea typeface="+mn-ea"/>
                <a:cs typeface="+mn-cs"/>
              </a:rPr>
              <a:t>Class Activity – Question and Answer/Discussion session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kern="1200" dirty="0" smtClean="0">
                <a:solidFill>
                  <a:schemeClr val="tx1"/>
                </a:solidFill>
                <a:ea typeface="+mn-ea"/>
                <a:cs typeface="+mn-cs"/>
              </a:rPr>
              <a:t>Trainer asks students to identify/describe actions to take to implement protocols listed on</a:t>
            </a:r>
            <a:r>
              <a:rPr lang="en-US" sz="1200" b="0" kern="1200" baseline="0" dirty="0" smtClean="0">
                <a:solidFill>
                  <a:schemeClr val="tx1"/>
                </a:solidFill>
                <a:ea typeface="+mn-ea"/>
                <a:cs typeface="+mn-cs"/>
              </a:rPr>
              <a:t> the slide and uses dot points above to check and/or provide answers.</a:t>
            </a:r>
            <a:endParaRPr lang="en-AU" sz="1200" b="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 xmlns:p14="http://schemas.microsoft.com/office/powerpoint/2010/main" val="401042994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dirty="0" smtClean="0"/>
              <a:t>Trainer discusses loss prevention and the role of Loss Prevention Officers:</a:t>
            </a:r>
          </a:p>
          <a:p>
            <a:pPr marL="171450" indent="-171450">
              <a:buFont typeface="Arial" pitchFamily="34" charset="0"/>
              <a:buChar char="•"/>
            </a:pPr>
            <a:r>
              <a:rPr lang="en-AU" sz="1200" kern="1200" dirty="0" smtClean="0">
                <a:solidFill>
                  <a:schemeClr val="tx1"/>
                </a:solidFill>
                <a:ea typeface="+mn-ea"/>
                <a:cs typeface="+mn-cs"/>
              </a:rPr>
              <a:t>Preventing stealing/shoplifting is called ‘loss prevention’. </a:t>
            </a:r>
          </a:p>
          <a:p>
            <a:pPr marL="171450" indent="-171450">
              <a:buFont typeface="Arial" pitchFamily="34" charset="0"/>
              <a:buChar char="•"/>
            </a:pPr>
            <a:r>
              <a:rPr lang="en-AU" sz="1200" kern="1200" dirty="0" smtClean="0">
                <a:solidFill>
                  <a:schemeClr val="tx1"/>
                </a:solidFill>
                <a:ea typeface="+mn-ea"/>
                <a:cs typeface="+mn-cs"/>
              </a:rPr>
              <a:t>One method of dealing with theft is to use Loss Prevention Officers to patrol the premises in plain clothes to detect shoplifters.</a:t>
            </a:r>
          </a:p>
          <a:p>
            <a:pPr marL="171450" indent="-171450">
              <a:buFont typeface="Arial" pitchFamily="34" charset="0"/>
              <a:buChar char="•"/>
            </a:pPr>
            <a:r>
              <a:rPr lang="en-AU" sz="1200" kern="1200" dirty="0" smtClean="0">
                <a:solidFill>
                  <a:schemeClr val="tx1"/>
                </a:solidFill>
                <a:ea typeface="+mn-ea"/>
                <a:cs typeface="+mn-cs"/>
              </a:rPr>
              <a:t>LPOs are often used in combination with Static Guards.  </a:t>
            </a:r>
          </a:p>
          <a:p>
            <a:pPr marL="171450" indent="-171450">
              <a:buFont typeface="Arial" pitchFamily="34" charset="0"/>
              <a:buChar char="•"/>
            </a:pPr>
            <a:r>
              <a:rPr lang="en-AU" sz="1200" kern="1200" dirty="0" smtClean="0">
                <a:solidFill>
                  <a:schemeClr val="tx1"/>
                </a:solidFill>
                <a:ea typeface="+mn-ea"/>
                <a:cs typeface="+mn-cs"/>
              </a:rPr>
              <a:t>Their role also includes identification of internal theft (that is, theft by staff, suppliers, and contractors) as well as by customers who are in the business.</a:t>
            </a:r>
          </a:p>
          <a:p>
            <a:pPr marL="171450" indent="-171450">
              <a:buFont typeface="Arial" pitchFamily="34" charset="0"/>
              <a:buChar char="•"/>
            </a:pPr>
            <a:r>
              <a:rPr lang="en-AU" sz="1200" kern="1200" dirty="0" smtClean="0">
                <a:solidFill>
                  <a:schemeClr val="tx1"/>
                </a:solidFill>
                <a:ea typeface="+mn-ea"/>
                <a:cs typeface="+mn-cs"/>
              </a:rPr>
              <a:t>Loss Prevention Officers are ‘plain clothes’ security people who commonly attend the premises (disguised as customers or as staff at the workplace) and focus on identifying shoplifters or thieves.</a:t>
            </a:r>
          </a:p>
          <a:p>
            <a:pPr marL="171450" indent="-171450">
              <a:buFont typeface="Arial" pitchFamily="34" charset="0"/>
              <a:buChar char="•"/>
            </a:pPr>
            <a:r>
              <a:rPr lang="en-AU" sz="1200" kern="1200" dirty="0" smtClean="0">
                <a:solidFill>
                  <a:schemeClr val="tx1"/>
                </a:solidFill>
                <a:ea typeface="+mn-ea"/>
                <a:cs typeface="+mn-cs"/>
              </a:rPr>
              <a:t>They may attend only one or two hours per day on a regular basis, at certain nominated times when theft is anticipated, or at random times.</a:t>
            </a:r>
          </a:p>
          <a:p>
            <a:pPr marL="171450" indent="-171450">
              <a:buFont typeface="Arial" pitchFamily="34" charset="0"/>
              <a:buChar char="•"/>
            </a:pPr>
            <a:r>
              <a:rPr lang="en-AU" sz="1200" kern="1200" dirty="0" smtClean="0">
                <a:solidFill>
                  <a:schemeClr val="tx1"/>
                </a:solidFill>
                <a:ea typeface="+mn-ea"/>
                <a:cs typeface="+mn-cs"/>
              </a:rPr>
              <a:t>The individual used for the role of LPO may also vary from day-to-day/over time to avoid easy identification of who is a Loss Prevention Officer, and to reduce the chance a thief will identify them and their role.  </a:t>
            </a:r>
          </a:p>
          <a:p>
            <a:pPr marL="171450" indent="-171450">
              <a:buFont typeface="Arial" pitchFamily="34" charset="0"/>
              <a:buChar char="•"/>
            </a:pPr>
            <a:r>
              <a:rPr lang="en-AU" sz="1200" kern="1200" dirty="0" smtClean="0">
                <a:solidFill>
                  <a:schemeClr val="tx1"/>
                </a:solidFill>
                <a:ea typeface="+mn-ea"/>
                <a:cs typeface="+mn-cs"/>
              </a:rPr>
              <a:t>These officers may be employed directly by the business itself, or most commonly be engaged from a local security service.</a:t>
            </a:r>
          </a:p>
          <a:p>
            <a:pPr marL="171450" indent="-171450">
              <a:buFont typeface="Arial" pitchFamily="34" charset="0"/>
              <a:buChar char="•"/>
            </a:pPr>
            <a:r>
              <a:rPr lang="en-AU" sz="1200" kern="1200" dirty="0" smtClean="0">
                <a:solidFill>
                  <a:schemeClr val="tx1"/>
                </a:solidFill>
                <a:ea typeface="+mn-ea"/>
                <a:cs typeface="+mn-cs"/>
              </a:rPr>
              <a:t>Where LPOs are engaged from an external company you will not be introduced to them, as efforts are commonly made to keep their identity secret.</a:t>
            </a:r>
          </a:p>
          <a:p>
            <a:pPr marL="171450" indent="-171450">
              <a:buFont typeface="Arial" pitchFamily="34" charset="0"/>
              <a:buChar char="•"/>
            </a:pPr>
            <a:r>
              <a:rPr lang="en-AU" sz="1200" kern="1200" dirty="0" smtClean="0">
                <a:solidFill>
                  <a:schemeClr val="tx1"/>
                </a:solidFill>
                <a:ea typeface="+mn-ea"/>
                <a:cs typeface="+mn-cs"/>
              </a:rPr>
              <a:t>Loss Prevention Officers may also be integrated into normal workplace staff (that is, rostered to work as part of the normal roster) where the business believes they have identified staff stealing but need to gather more evidence about what is going on and who is involved.</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a:t>
            </a:r>
            <a:r>
              <a:rPr lang="en-US" b="0" baseline="0" dirty="0" smtClean="0"/>
              <a:t> arranges for an LPO to attend and describe and discuss their role with students explaining what they do and how they do it.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 xmlns:p14="http://schemas.microsoft.com/office/powerpoint/2010/main" val="38567031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‘Technology’ stating:</a:t>
            </a:r>
          </a:p>
          <a:p>
            <a:pPr marL="171450" indent="-171450">
              <a:buFont typeface="Arial" pitchFamily="34" charset="0"/>
              <a:buChar char="•"/>
            </a:pPr>
            <a:r>
              <a:rPr lang="en-AU" sz="1200" kern="1200" dirty="0" smtClean="0">
                <a:solidFill>
                  <a:schemeClr val="tx1"/>
                </a:solidFill>
                <a:ea typeface="+mn-ea"/>
                <a:cs typeface="+mn-cs"/>
              </a:rPr>
              <a:t>Where a clear line-of-sight is unable to be maintained, technology in the form of surveillance cameras, alarms, pressure pads, motion sensors and mirrors may be employed to monitor activities and customers.</a:t>
            </a:r>
          </a:p>
          <a:p>
            <a:pPr marL="171450" indent="-171450">
              <a:buFont typeface="Arial" pitchFamily="34" charset="0"/>
              <a:buChar char="•"/>
            </a:pPr>
            <a:r>
              <a:rPr lang="en-AU" sz="1200" kern="1200" dirty="0" smtClean="0">
                <a:solidFill>
                  <a:schemeClr val="tx1"/>
                </a:solidFill>
                <a:ea typeface="+mn-ea"/>
                <a:cs typeface="+mn-cs"/>
              </a:rPr>
              <a:t>In addition, it is advisable to publicly highlight the security devices and measures that are in place in the business: signs are a common way of letting customers know stock is being protected and the place is being proactive in dealing with shoplifting. </a:t>
            </a:r>
          </a:p>
          <a:p>
            <a:pPr marL="171450" indent="-171450">
              <a:buFont typeface="Arial" pitchFamily="34" charset="0"/>
              <a:buChar char="•"/>
            </a:pPr>
            <a:r>
              <a:rPr lang="en-AU" sz="1200" kern="1200" dirty="0" smtClean="0">
                <a:solidFill>
                  <a:schemeClr val="tx1"/>
                </a:solidFill>
                <a:ea typeface="+mn-ea"/>
                <a:cs typeface="+mn-cs"/>
              </a:rPr>
              <a:t>High visibility positioning of cameras, or CCTV (Closed Circuit Television) domes, are another way – many of the CCTV domes are fake, but the customers rarely know this (or know which are bogus and which are real).</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Guest Speaker to talk t students about benefits of items listed on slide, and discuss installation, activation and operational protocols.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 xmlns:p14="http://schemas.microsoft.com/office/powerpoint/2010/main" val="400106525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a:t>
            </a:r>
            <a:r>
              <a:rPr lang="en-US" baseline="0" dirty="0" smtClean="0"/>
              <a:t> about using ‘Public address systems’:</a:t>
            </a:r>
          </a:p>
          <a:p>
            <a:pPr marL="171450" indent="-171450">
              <a:buFont typeface="Arial" pitchFamily="34" charset="0"/>
              <a:buChar char="•"/>
            </a:pPr>
            <a:r>
              <a:rPr lang="en-AU" sz="1200" kern="1200" dirty="0" smtClean="0">
                <a:solidFill>
                  <a:schemeClr val="tx1"/>
                </a:solidFill>
                <a:ea typeface="+mn-ea"/>
                <a:cs typeface="+mn-cs"/>
              </a:rPr>
              <a:t>Some environments regularly announce ‘bogus’ messages over their PA system for this very reason, ‘Security to Section C, Security to Section C, please.’  </a:t>
            </a:r>
          </a:p>
          <a:p>
            <a:pPr marL="171450" indent="-171450">
              <a:buFont typeface="Arial" pitchFamily="34" charset="0"/>
              <a:buChar char="•"/>
            </a:pPr>
            <a:r>
              <a:rPr lang="en-AU" sz="1200" kern="1200" dirty="0" smtClean="0">
                <a:solidFill>
                  <a:schemeClr val="tx1"/>
                </a:solidFill>
                <a:ea typeface="+mn-ea"/>
                <a:cs typeface="+mn-cs"/>
              </a:rPr>
              <a:t>This is simply designed to give those in the building the impression there are security staff present within the building when there probably are not. </a:t>
            </a:r>
          </a:p>
          <a:p>
            <a:pPr marL="171450" indent="-171450">
              <a:buFont typeface="Arial" pitchFamily="34" charset="0"/>
              <a:buChar char="•"/>
            </a:pPr>
            <a:r>
              <a:rPr lang="en-AU" sz="1200" kern="1200" dirty="0" smtClean="0">
                <a:solidFill>
                  <a:schemeClr val="tx1"/>
                </a:solidFill>
                <a:ea typeface="+mn-ea"/>
                <a:cs typeface="+mn-cs"/>
              </a:rPr>
              <a:t>It is all part of the Deter phase.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 xmlns:p14="http://schemas.microsoft.com/office/powerpoint/2010/main" val="185008514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talks about Electronic Article Surveillance:</a:t>
            </a:r>
          </a:p>
          <a:p>
            <a:pPr marL="171450" indent="-171450">
              <a:buFont typeface="Arial" pitchFamily="34" charset="0"/>
              <a:buChar char="•"/>
            </a:pPr>
            <a:r>
              <a:rPr lang="en-AU" sz="1200" kern="1200" dirty="0" smtClean="0">
                <a:solidFill>
                  <a:schemeClr val="tx1"/>
                </a:solidFill>
                <a:ea typeface="+mn-ea"/>
                <a:cs typeface="+mn-cs"/>
              </a:rPr>
              <a:t>In addition, a variation is to attach electronic article surveillance (EAS) devices to items (colour dyes/bombs, RFID [Radio Frequency Identification] devices):  while these – depending on the system used – may not prevent the theft of the article, they will deny the thief use of the product by making it unusable or ‘painting’ it so it is obvious what has happened when the thief tries to remove the security.tag/device.</a:t>
            </a:r>
          </a:p>
          <a:p>
            <a:pPr marL="171450" indent="-171450">
              <a:buFont typeface="Arial" pitchFamily="34" charset="0"/>
              <a:buChar char="•"/>
            </a:pPr>
            <a:r>
              <a:rPr lang="en-AU" sz="1200" kern="1200" dirty="0" smtClean="0">
                <a:solidFill>
                  <a:schemeClr val="tx1"/>
                </a:solidFill>
                <a:ea typeface="+mn-ea"/>
                <a:cs typeface="+mn-cs"/>
              </a:rPr>
              <a:t>Some systems will issue an audible alarm if the article is not de-sensitised (or de-activated) by the sales assistant as customers leave the business.</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Guest Speaker to talk to students about benefits of items listed on slide, and discuss installation, activation and operational protocols.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 xmlns:p14="http://schemas.microsoft.com/office/powerpoint/2010/main" val="22276500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information on use of physical barriers:</a:t>
            </a:r>
          </a:p>
          <a:p>
            <a:pPr marL="171450" indent="-171450">
              <a:buFont typeface="Arial" pitchFamily="34" charset="0"/>
              <a:buChar char="•"/>
            </a:pPr>
            <a:r>
              <a:rPr lang="en-AU" sz="1200" kern="1200" dirty="0" smtClean="0">
                <a:solidFill>
                  <a:schemeClr val="tx1"/>
                </a:solidFill>
                <a:ea typeface="+mn-ea"/>
                <a:cs typeface="+mn-cs"/>
              </a:rPr>
              <a:t>A further method of denying access to products is to physically restrict access to certain areas: for example, </a:t>
            </a:r>
          </a:p>
          <a:p>
            <a:pPr marL="171450" indent="-171450">
              <a:buFont typeface="Arial" pitchFamily="34" charset="0"/>
              <a:buChar char="•"/>
            </a:pPr>
            <a:r>
              <a:rPr lang="en-AU" sz="1200" kern="1200" dirty="0" smtClean="0">
                <a:solidFill>
                  <a:schemeClr val="tx1"/>
                </a:solidFill>
                <a:ea typeface="+mn-ea"/>
                <a:cs typeface="+mn-cs"/>
              </a:rPr>
              <a:t>In many businesses it is common for customers not to be allowed in areas such as the storage area, offices, delivery bays and other back-of-house areas, and some form of signage coupled with a physical barrier usually accomplishes this job quite well.</a:t>
            </a:r>
          </a:p>
          <a:p>
            <a:pPr marL="171450" indent="-171450">
              <a:buFont typeface="Arial" pitchFamily="34" charset="0"/>
              <a:buChar char="•"/>
            </a:pPr>
            <a:r>
              <a:rPr lang="en-AU" sz="1200" kern="1200" dirty="0" smtClean="0">
                <a:solidFill>
                  <a:schemeClr val="tx1"/>
                </a:solidFill>
                <a:ea typeface="+mn-ea"/>
                <a:cs typeface="+mn-cs"/>
              </a:rPr>
              <a:t>Physical barriers can include:</a:t>
            </a:r>
          </a:p>
          <a:p>
            <a:pPr marL="628650" lvl="1" indent="-171450">
              <a:buFont typeface="Arial" pitchFamily="34" charset="0"/>
              <a:buChar char="•"/>
            </a:pPr>
            <a:r>
              <a:rPr lang="en-AU" sz="1200" kern="1200" dirty="0" smtClean="0">
                <a:solidFill>
                  <a:schemeClr val="tx1"/>
                </a:solidFill>
                <a:ea typeface="+mn-ea"/>
                <a:cs typeface="+mn-cs"/>
              </a:rPr>
              <a:t>Doors </a:t>
            </a:r>
          </a:p>
          <a:p>
            <a:pPr marL="628650" lvl="1" indent="-171450">
              <a:buFont typeface="Arial" pitchFamily="34" charset="0"/>
              <a:buChar char="•"/>
            </a:pPr>
            <a:r>
              <a:rPr lang="en-US" sz="1200" kern="1200" dirty="0" smtClean="0">
                <a:solidFill>
                  <a:schemeClr val="tx1"/>
                </a:solidFill>
                <a:ea typeface="+mn-ea"/>
                <a:cs typeface="+mn-cs"/>
              </a:rPr>
              <a:t>Locks</a:t>
            </a:r>
            <a:endParaRPr lang="en-AU" sz="1200" kern="1200" dirty="0" smtClean="0">
              <a:solidFill>
                <a:schemeClr val="tx1"/>
              </a:solidFill>
              <a:ea typeface="+mn-ea"/>
              <a:cs typeface="+mn-cs"/>
            </a:endParaRPr>
          </a:p>
          <a:p>
            <a:pPr marL="628650" lvl="1" indent="-171450">
              <a:buFont typeface="Arial" pitchFamily="34" charset="0"/>
              <a:buChar char="•"/>
            </a:pPr>
            <a:r>
              <a:rPr lang="en-AU" sz="1200" kern="1200" dirty="0" smtClean="0">
                <a:solidFill>
                  <a:schemeClr val="tx1"/>
                </a:solidFill>
                <a:ea typeface="+mn-ea"/>
                <a:cs typeface="+mn-cs"/>
              </a:rPr>
              <a:t>Turnstiles </a:t>
            </a:r>
          </a:p>
          <a:p>
            <a:pPr marL="628650" lvl="1" indent="-171450">
              <a:buFont typeface="Arial" pitchFamily="34" charset="0"/>
              <a:buChar char="•"/>
            </a:pPr>
            <a:r>
              <a:rPr lang="en-AU" sz="1200" kern="1200" dirty="0" smtClean="0">
                <a:solidFill>
                  <a:schemeClr val="tx1"/>
                </a:solidFill>
                <a:ea typeface="+mn-ea"/>
                <a:cs typeface="+mn-cs"/>
              </a:rPr>
              <a:t>Booms </a:t>
            </a:r>
          </a:p>
          <a:p>
            <a:pPr marL="628650" lvl="1" indent="-171450">
              <a:buFont typeface="Arial" pitchFamily="34" charset="0"/>
              <a:buChar char="•"/>
            </a:pPr>
            <a:r>
              <a:rPr lang="en-AU" sz="1200" kern="1200" dirty="0" smtClean="0">
                <a:solidFill>
                  <a:schemeClr val="tx1"/>
                </a:solidFill>
                <a:ea typeface="+mn-ea"/>
                <a:cs typeface="+mn-cs"/>
              </a:rPr>
              <a:t>Gates </a:t>
            </a:r>
          </a:p>
          <a:p>
            <a:pPr marL="628650" lvl="1" indent="-171450">
              <a:buFont typeface="Arial" pitchFamily="34" charset="0"/>
              <a:buChar char="•"/>
            </a:pPr>
            <a:r>
              <a:rPr lang="en-AU" sz="1200" kern="1200" dirty="0" smtClean="0">
                <a:solidFill>
                  <a:schemeClr val="tx1"/>
                </a:solidFill>
                <a:ea typeface="+mn-ea"/>
                <a:cs typeface="+mn-cs"/>
              </a:rPr>
              <a:t>Partitions </a:t>
            </a:r>
          </a:p>
          <a:p>
            <a:pPr marL="628650" lvl="1" indent="-171450">
              <a:buFont typeface="Arial" pitchFamily="34" charset="0"/>
              <a:buChar char="•"/>
            </a:pPr>
            <a:r>
              <a:rPr lang="en-AU" sz="1200" kern="1200" dirty="0" smtClean="0">
                <a:solidFill>
                  <a:schemeClr val="tx1"/>
                </a:solidFill>
                <a:ea typeface="+mn-ea"/>
                <a:cs typeface="+mn-cs"/>
              </a:rPr>
              <a:t>Races </a:t>
            </a:r>
          </a:p>
          <a:p>
            <a:pPr marL="628650" lvl="1" indent="-171450">
              <a:buFont typeface="Arial" pitchFamily="34" charset="0"/>
              <a:buChar char="•"/>
            </a:pPr>
            <a:r>
              <a:rPr lang="en-AU" sz="1200" kern="1200" dirty="0" smtClean="0">
                <a:solidFill>
                  <a:schemeClr val="tx1"/>
                </a:solidFill>
                <a:ea typeface="+mn-ea"/>
                <a:cs typeface="+mn-cs"/>
              </a:rPr>
              <a:t>Chains. </a:t>
            </a:r>
          </a:p>
          <a:p>
            <a:pPr marL="171450" lvl="0" indent="-171450">
              <a:buFont typeface="Arial" pitchFamily="34" charset="0"/>
              <a:buChar char="•"/>
            </a:pPr>
            <a:r>
              <a:rPr lang="en-AU" sz="1200" kern="1200" dirty="0" smtClean="0">
                <a:solidFill>
                  <a:schemeClr val="tx1"/>
                </a:solidFill>
                <a:ea typeface="+mn-ea"/>
                <a:cs typeface="+mn-cs"/>
              </a:rPr>
              <a:t>Physical barriers may be supplemented by audible alarms.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 xmlns:p14="http://schemas.microsoft.com/office/powerpoint/2010/main" val="400412501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t>
            </a:r>
            <a:r>
              <a:rPr lang="en-AU" sz="1200" b="0" kern="1200" dirty="0" smtClean="0">
                <a:solidFill>
                  <a:schemeClr val="tx1"/>
                </a:solidFill>
                <a:ea typeface="+mn-ea"/>
                <a:cs typeface="+mn-cs"/>
              </a:rPr>
              <a:t>keys in installing and activating items stating the </a:t>
            </a:r>
            <a:r>
              <a:rPr lang="en-AU" sz="1200" kern="1200" dirty="0" smtClean="0">
                <a:solidFill>
                  <a:schemeClr val="tx1"/>
                </a:solidFill>
                <a:ea typeface="+mn-ea"/>
                <a:cs typeface="+mn-cs"/>
              </a:rPr>
              <a:t>following are essential:</a:t>
            </a:r>
          </a:p>
          <a:p>
            <a:pPr marL="171450" indent="-171450">
              <a:buFont typeface="Arial" pitchFamily="34" charset="0"/>
              <a:buChar char="•"/>
            </a:pPr>
            <a:r>
              <a:rPr lang="en-AU" sz="1200" kern="1200" dirty="0" smtClean="0">
                <a:solidFill>
                  <a:schemeClr val="tx1"/>
                </a:solidFill>
                <a:ea typeface="+mn-ea"/>
                <a:cs typeface="+mn-cs"/>
              </a:rPr>
              <a:t>Follow manufacturer/supplier instructions for installation, commissioning and use of the items</a:t>
            </a:r>
          </a:p>
          <a:p>
            <a:pPr marL="171450" indent="-171450">
              <a:buFont typeface="Arial" pitchFamily="34" charset="0"/>
              <a:buChar char="•"/>
            </a:pPr>
            <a:r>
              <a:rPr lang="en-AU" sz="1200" kern="1200" dirty="0" smtClean="0">
                <a:solidFill>
                  <a:schemeClr val="tx1"/>
                </a:solidFill>
                <a:ea typeface="+mn-ea"/>
                <a:cs typeface="+mn-cs"/>
              </a:rPr>
              <a:t>Undertake necessary on-the-job training to ensure competency with use of every item</a:t>
            </a:r>
          </a:p>
          <a:p>
            <a:pPr marL="171450" indent="-171450">
              <a:buFont typeface="Arial" pitchFamily="34" charset="0"/>
              <a:buChar char="•"/>
            </a:pPr>
            <a:r>
              <a:rPr lang="en-AU" sz="1200" kern="1200" dirty="0" smtClean="0">
                <a:solidFill>
                  <a:schemeClr val="tx1"/>
                </a:solidFill>
                <a:ea typeface="+mn-ea"/>
                <a:cs typeface="+mn-cs"/>
              </a:rPr>
              <a:t>Practice with each resource to gain experience and confidence with using items, responding to alarms and alerts and implementing follow-up action </a:t>
            </a:r>
          </a:p>
          <a:p>
            <a:pPr marL="171450" indent="-171450">
              <a:buFont typeface="Arial" pitchFamily="34" charset="0"/>
              <a:buChar char="•"/>
            </a:pPr>
            <a:r>
              <a:rPr lang="en-AU" sz="1200" kern="1200" dirty="0" smtClean="0">
                <a:solidFill>
                  <a:schemeClr val="tx1"/>
                </a:solidFill>
                <a:ea typeface="+mn-ea"/>
                <a:cs typeface="+mn-cs"/>
              </a:rPr>
              <a:t>Being fully aware there is a need to monitor all security systems and anti-theft devices – just having them in place will not necessarily result in a reduction in workplace theft</a:t>
            </a:r>
          </a:p>
          <a:p>
            <a:pPr marL="171450" indent="-171450">
              <a:buFont typeface="Arial" pitchFamily="34" charset="0"/>
              <a:buChar char="•"/>
            </a:pPr>
            <a:r>
              <a:rPr lang="en-AU" sz="1200" kern="1200" dirty="0" smtClean="0">
                <a:solidFill>
                  <a:schemeClr val="tx1"/>
                </a:solidFill>
                <a:ea typeface="+mn-ea"/>
                <a:cs typeface="+mn-cs"/>
              </a:rPr>
              <a:t>Providing required service and maintenance to every system and device</a:t>
            </a:r>
          </a:p>
          <a:p>
            <a:pPr marL="171450" indent="-171450">
              <a:buFont typeface="Arial" pitchFamily="34" charset="0"/>
              <a:buChar char="•"/>
            </a:pPr>
            <a:r>
              <a:rPr lang="en-AU" sz="1200" kern="1200" dirty="0" smtClean="0">
                <a:solidFill>
                  <a:schemeClr val="tx1"/>
                </a:solidFill>
                <a:ea typeface="+mn-ea"/>
                <a:cs typeface="+mn-cs"/>
              </a:rPr>
              <a:t>Knowing exactly what alerts and alarms (audible and visible) mean, and knowing exactly what action should be taken in response to each one.</a:t>
            </a:r>
          </a:p>
          <a:p>
            <a:pPr>
              <a:buFont typeface="Arial" pitchFamily="34" charset="0"/>
              <a:buChar char="•"/>
            </a:pPr>
            <a:endParaRPr lang="en-US" dirty="0" smtClean="0"/>
          </a:p>
          <a:p>
            <a:pPr>
              <a:buFont typeface="Arial" pitchFamily="34" charset="0"/>
              <a:buNone/>
            </a:pPr>
            <a:r>
              <a:rPr lang="en-US" b="1" dirty="0" smtClean="0"/>
              <a:t>Class Activity – Excursion </a:t>
            </a:r>
          </a:p>
          <a:p>
            <a:pPr>
              <a:buFont typeface="Arial" pitchFamily="34" charset="0"/>
              <a:buNone/>
            </a:pPr>
            <a:r>
              <a:rPr lang="en-US" b="0" dirty="0" smtClean="0"/>
              <a:t>Trainer arranges excursion for students to view use of security/anti-theft systems, devices and equipment in business.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 xmlns:p14="http://schemas.microsoft.com/office/powerpoint/2010/main" val="167035521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t>
            </a:r>
            <a:r>
              <a:rPr lang="en-AU" sz="1200" kern="1200" dirty="0" smtClean="0">
                <a:solidFill>
                  <a:schemeClr val="tx1"/>
                </a:solidFill>
                <a:ea typeface="+mn-ea"/>
                <a:cs typeface="+mn-cs"/>
              </a:rPr>
              <a:t>protocols commonly apply to control access and entry to an organisation or area. In this context, ‘control’ refers to:</a:t>
            </a:r>
          </a:p>
          <a:p>
            <a:pPr marL="171450" indent="-171450">
              <a:buFont typeface="Arial" pitchFamily="34" charset="0"/>
              <a:buChar char="•"/>
            </a:pPr>
            <a:r>
              <a:rPr lang="en-AU" sz="1200" kern="1200" dirty="0" smtClean="0">
                <a:solidFill>
                  <a:schemeClr val="tx1"/>
                </a:solidFill>
                <a:ea typeface="+mn-ea"/>
                <a:cs typeface="+mn-cs"/>
              </a:rPr>
              <a:t>Restricting times people may access to areas</a:t>
            </a:r>
          </a:p>
          <a:p>
            <a:pPr marL="171450" indent="-171450">
              <a:buFont typeface="Arial" pitchFamily="34" charset="0"/>
              <a:buChar char="•"/>
            </a:pPr>
            <a:r>
              <a:rPr lang="en-AU" sz="1200" kern="1200" dirty="0" smtClean="0">
                <a:solidFill>
                  <a:schemeClr val="tx1"/>
                </a:solidFill>
                <a:ea typeface="+mn-ea"/>
                <a:cs typeface="+mn-cs"/>
              </a:rPr>
              <a:t>Limiting the persons who are authorised to enter areas</a:t>
            </a:r>
          </a:p>
          <a:p>
            <a:pPr marL="171450" indent="-171450">
              <a:buFont typeface="Arial" pitchFamily="34" charset="0"/>
              <a:buChar char="•"/>
            </a:pPr>
            <a:r>
              <a:rPr lang="en-AU" sz="1200" kern="1200" dirty="0" smtClean="0">
                <a:solidFill>
                  <a:schemeClr val="tx1"/>
                </a:solidFill>
                <a:ea typeface="+mn-ea"/>
                <a:cs typeface="+mn-cs"/>
              </a:rPr>
              <a:t>Governing those who are given permission to enter restricted areas through the implementation of internal controls.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 xmlns:p14="http://schemas.microsoft.com/office/powerpoint/2010/main" val="121224769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t>
            </a:r>
            <a:r>
              <a:rPr lang="en-AU" sz="1200" kern="1200" dirty="0" smtClean="0">
                <a:solidFill>
                  <a:schemeClr val="tx1"/>
                </a:solidFill>
                <a:ea typeface="+mn-ea"/>
                <a:cs typeface="+mn-cs"/>
              </a:rPr>
              <a:t>in practice, these special access and entry provisions may include:</a:t>
            </a:r>
          </a:p>
          <a:p>
            <a:pPr marL="171450" indent="-171450">
              <a:buFont typeface="Arial" pitchFamily="34" charset="0"/>
              <a:buChar char="•"/>
            </a:pPr>
            <a:r>
              <a:rPr lang="en-AU" sz="1200" kern="1200" dirty="0" smtClean="0">
                <a:solidFill>
                  <a:schemeClr val="tx1"/>
                </a:solidFill>
                <a:ea typeface="+mn-ea"/>
                <a:cs typeface="+mn-cs"/>
              </a:rPr>
              <a:t>Nominating authorised access times for specified areas – as opposed to allowing access to all areas at any time. Applying limited access times means:</a:t>
            </a:r>
          </a:p>
          <a:p>
            <a:pPr marL="628650" lvl="1" indent="-171450">
              <a:buFont typeface="Arial" pitchFamily="34" charset="0"/>
              <a:buChar char="•"/>
            </a:pPr>
            <a:r>
              <a:rPr lang="en-AU" sz="1200" kern="1200" dirty="0" smtClean="0">
                <a:solidFill>
                  <a:schemeClr val="tx1"/>
                </a:solidFill>
                <a:ea typeface="+mn-ea"/>
                <a:cs typeface="+mn-cs"/>
              </a:rPr>
              <a:t>Management or security staff can moiré easily monitor activities in those areas</a:t>
            </a:r>
          </a:p>
          <a:p>
            <a:pPr marL="628650" lvl="1" indent="-171450">
              <a:buFont typeface="Arial" pitchFamily="34" charset="0"/>
              <a:buChar char="•"/>
            </a:pPr>
            <a:r>
              <a:rPr lang="en-AU" sz="1200" kern="1200" dirty="0" smtClean="0">
                <a:solidFill>
                  <a:schemeClr val="tx1"/>
                </a:solidFill>
                <a:ea typeface="+mn-ea"/>
                <a:cs typeface="+mn-cs"/>
              </a:rPr>
              <a:t>Anyone found in those areas outside of the prescribed times is not authorized to be there and should be appropriately investigated </a:t>
            </a:r>
          </a:p>
          <a:p>
            <a:pPr marL="171450" indent="-171450">
              <a:buFont typeface="Arial" pitchFamily="34" charset="0"/>
              <a:buChar char="•"/>
            </a:pPr>
            <a:r>
              <a:rPr lang="en-AU" sz="1200" kern="1200" dirty="0" smtClean="0">
                <a:solidFill>
                  <a:schemeClr val="tx1"/>
                </a:solidFill>
                <a:ea typeface="+mn-ea"/>
                <a:cs typeface="+mn-cs"/>
              </a:rPr>
              <a:t>Establishing security protocols (such as password protection and use of usernames) to control staff access to information and files – this will:</a:t>
            </a:r>
          </a:p>
          <a:p>
            <a:pPr marL="628650" lvl="1" indent="-171450">
              <a:buFont typeface="Arial" pitchFamily="34" charset="0"/>
              <a:buChar char="•"/>
            </a:pPr>
            <a:r>
              <a:rPr lang="en-AU" sz="1200" kern="1200" dirty="0" smtClean="0">
                <a:solidFill>
                  <a:schemeClr val="tx1"/>
                </a:solidFill>
                <a:ea typeface="+mn-ea"/>
                <a:cs typeface="+mn-cs"/>
              </a:rPr>
              <a:t>Prevent members of the public from accessing confidential and private files and information</a:t>
            </a:r>
          </a:p>
          <a:p>
            <a:pPr marL="628650" lvl="1" indent="-171450">
              <a:buFont typeface="Arial" pitchFamily="34" charset="0"/>
              <a:buChar char="•"/>
            </a:pPr>
            <a:r>
              <a:rPr lang="en-AU" sz="1200" kern="1200" dirty="0" smtClean="0">
                <a:solidFill>
                  <a:schemeClr val="tx1"/>
                </a:solidFill>
                <a:ea typeface="+mn-ea"/>
                <a:cs typeface="+mn-cs"/>
              </a:rPr>
              <a:t>Control which staff have access to certain types/classifications of business data and information</a:t>
            </a:r>
          </a:p>
          <a:p>
            <a:pPr marL="628650" lvl="1" indent="-171450">
              <a:buFont typeface="Arial" pitchFamily="34" charset="0"/>
              <a:buChar char="•"/>
            </a:pPr>
            <a:r>
              <a:rPr lang="en-AU" sz="1200" kern="1200" dirty="0" smtClean="0">
                <a:solidFill>
                  <a:schemeClr val="tx1"/>
                </a:solidFill>
                <a:ea typeface="+mn-ea"/>
                <a:cs typeface="+mn-cs"/>
              </a:rPr>
              <a:t>Record staff use of databases and computers – because most computer security protocols will include a file which records who accessed which files/data, when they accessed it, how long they were there, and what they did when they were there</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 xmlns:p14="http://schemas.microsoft.com/office/powerpoint/2010/main" val="215847756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giving examples of </a:t>
            </a:r>
            <a:r>
              <a:rPr lang="en-AU" sz="1200" kern="1200" dirty="0" smtClean="0">
                <a:solidFill>
                  <a:schemeClr val="tx1"/>
                </a:solidFill>
                <a:ea typeface="+mn-ea"/>
                <a:cs typeface="+mn-cs"/>
              </a:rPr>
              <a:t>special access and entry provisions:</a:t>
            </a:r>
          </a:p>
          <a:p>
            <a:pPr marL="171450" indent="-171450">
              <a:buFont typeface="Arial" pitchFamily="34" charset="0"/>
              <a:buChar char="•"/>
            </a:pPr>
            <a:r>
              <a:rPr lang="en-AU" sz="1200" kern="1200" dirty="0" smtClean="0">
                <a:solidFill>
                  <a:schemeClr val="tx1"/>
                </a:solidFill>
                <a:ea typeface="+mn-ea"/>
                <a:cs typeface="+mn-cs"/>
              </a:rPr>
              <a:t>Restricting staff and public access to nominated areas – in essence this will entail;</a:t>
            </a:r>
          </a:p>
          <a:p>
            <a:pPr marL="628650" lvl="1" indent="-171450">
              <a:buFont typeface="Arial" pitchFamily="34" charset="0"/>
              <a:buChar char="•"/>
            </a:pPr>
            <a:r>
              <a:rPr lang="en-AU" sz="1200" kern="1200" dirty="0" smtClean="0">
                <a:solidFill>
                  <a:schemeClr val="tx1"/>
                </a:solidFill>
                <a:ea typeface="+mn-ea"/>
                <a:cs typeface="+mn-cs"/>
              </a:rPr>
              <a:t>Prohibiting members of the public from entering back-of-house areas</a:t>
            </a:r>
          </a:p>
          <a:p>
            <a:pPr marL="628650" lvl="1" indent="-171450">
              <a:buFont typeface="Arial" pitchFamily="34" charset="0"/>
              <a:buChar char="•"/>
            </a:pPr>
            <a:r>
              <a:rPr lang="en-AU" sz="1200" kern="1200" dirty="0" smtClean="0">
                <a:solidFill>
                  <a:schemeClr val="tx1"/>
                </a:solidFill>
                <a:ea typeface="+mn-ea"/>
                <a:cs typeface="+mn-cs"/>
              </a:rPr>
              <a:t>Posting signage (‘Staff Only’, ‘Authorised Entry Only’) explaining where members of the public (customers and guests) are not authorised/allowed to enter</a:t>
            </a:r>
          </a:p>
          <a:p>
            <a:pPr marL="628650" lvl="1" indent="-171450">
              <a:buFont typeface="Arial" pitchFamily="34" charset="0"/>
              <a:buChar char="•"/>
            </a:pPr>
            <a:r>
              <a:rPr lang="en-AU" sz="1200" kern="1200" dirty="0" smtClean="0">
                <a:solidFill>
                  <a:schemeClr val="tx1"/>
                </a:solidFill>
                <a:ea typeface="+mn-ea"/>
                <a:cs typeface="+mn-cs"/>
              </a:rPr>
              <a:t>Applying approved protocols to enable nominated persons to access normally prohibited areas – these protocols will be needed to allow delivery drivers, service technicians and authorised visitors to enter areas which are normally classified as ‘off limits’.</a:t>
            </a:r>
          </a:p>
          <a:p>
            <a:pPr marL="628650" lvl="1" indent="-171450">
              <a:buFont typeface="Arial" pitchFamily="34" charset="0"/>
              <a:buChar char="•"/>
            </a:pPr>
            <a:r>
              <a:rPr lang="en-AU" sz="1200" kern="1200" dirty="0" smtClean="0">
                <a:solidFill>
                  <a:schemeClr val="tx1"/>
                </a:solidFill>
                <a:ea typeface="+mn-ea"/>
                <a:cs typeface="+mn-cs"/>
              </a:rPr>
              <a:t>Common protocols can include:</a:t>
            </a:r>
          </a:p>
          <a:p>
            <a:pPr marL="1085850" lvl="2" indent="-171450">
              <a:buFont typeface="Arial" pitchFamily="34" charset="0"/>
              <a:buChar char="•"/>
            </a:pPr>
            <a:r>
              <a:rPr lang="en-AU" sz="1200" kern="1200" dirty="0" smtClean="0">
                <a:solidFill>
                  <a:schemeClr val="tx1"/>
                </a:solidFill>
                <a:ea typeface="+mn-ea"/>
                <a:cs typeface="+mn-cs"/>
              </a:rPr>
              <a:t>Recording name and time of entry and departure in a log/register</a:t>
            </a:r>
          </a:p>
          <a:p>
            <a:pPr marL="1085850" lvl="2" indent="-171450">
              <a:buFont typeface="Arial" pitchFamily="34" charset="0"/>
              <a:buChar char="•"/>
            </a:pPr>
            <a:r>
              <a:rPr lang="en-AU" sz="1200" kern="1200" dirty="0" smtClean="0">
                <a:solidFill>
                  <a:schemeClr val="tx1"/>
                </a:solidFill>
                <a:ea typeface="+mn-ea"/>
                <a:cs typeface="+mn-cs"/>
              </a:rPr>
              <a:t>Recording approved ‘proof of identify’ for each person</a:t>
            </a:r>
          </a:p>
          <a:p>
            <a:pPr marL="1085850" lvl="2" indent="-171450">
              <a:buFont typeface="Arial" pitchFamily="34" charset="0"/>
              <a:buChar char="•"/>
            </a:pPr>
            <a:r>
              <a:rPr lang="en-AU" sz="1200" kern="1200" dirty="0" smtClean="0">
                <a:solidFill>
                  <a:schemeClr val="tx1"/>
                </a:solidFill>
                <a:ea typeface="+mn-ea"/>
                <a:cs typeface="+mn-cs"/>
              </a:rPr>
              <a:t>Accompanying all such persons while they are in the business.</a:t>
            </a:r>
          </a:p>
          <a:p>
            <a:pPr marL="171450" indent="-171450">
              <a:buFont typeface="Arial" pitchFamily="34" charset="0"/>
              <a:buChar char="•"/>
            </a:pPr>
            <a:r>
              <a:rPr lang="en-AU" sz="1200" kern="1200" dirty="0" smtClean="0">
                <a:solidFill>
                  <a:schemeClr val="tx1"/>
                </a:solidFill>
                <a:ea typeface="+mn-ea"/>
                <a:cs typeface="+mn-cs"/>
              </a:rPr>
              <a:t>Allocating keys to locked areas – meaning standard key control protocols are implemented:</a:t>
            </a:r>
          </a:p>
          <a:p>
            <a:pPr marL="628650" lvl="1" indent="-171450">
              <a:buFont typeface="Arial" pitchFamily="34" charset="0"/>
              <a:buChar char="•"/>
            </a:pPr>
            <a:r>
              <a:rPr lang="en-AU" sz="1200" kern="1200" dirty="0" smtClean="0">
                <a:solidFill>
                  <a:schemeClr val="tx1"/>
                </a:solidFill>
                <a:ea typeface="+mn-ea"/>
                <a:cs typeface="+mn-cs"/>
              </a:rPr>
              <a:t>Only releasing keys to authorised staff</a:t>
            </a:r>
          </a:p>
          <a:p>
            <a:pPr marL="628650" lvl="1" indent="-171450">
              <a:buFont typeface="Arial" pitchFamily="34" charset="0"/>
              <a:buChar char="•"/>
            </a:pPr>
            <a:r>
              <a:rPr lang="en-AU" sz="1200" kern="1200" dirty="0" smtClean="0">
                <a:solidFill>
                  <a:schemeClr val="tx1"/>
                </a:solidFill>
                <a:ea typeface="+mn-ea"/>
                <a:cs typeface="+mn-cs"/>
              </a:rPr>
              <a:t>Requiring keys to be signed ‘out’ – by day/date and time</a:t>
            </a:r>
          </a:p>
          <a:p>
            <a:pPr marL="628650" lvl="1" indent="-171450">
              <a:buFont typeface="Arial" pitchFamily="34" charset="0"/>
              <a:buChar char="•"/>
            </a:pPr>
            <a:r>
              <a:rPr lang="en-AU" sz="1200" kern="1200" dirty="0" smtClean="0">
                <a:solidFill>
                  <a:schemeClr val="tx1"/>
                </a:solidFill>
                <a:ea typeface="+mn-ea"/>
                <a:cs typeface="+mn-cs"/>
              </a:rPr>
              <a:t>Requiring keys to be signed back ‘in’ – by day/date and time</a:t>
            </a:r>
          </a:p>
          <a:p>
            <a:pPr marL="628650" lvl="1" indent="-171450">
              <a:buFont typeface="Arial" pitchFamily="34" charset="0"/>
              <a:buChar char="•"/>
            </a:pPr>
            <a:r>
              <a:rPr lang="en-AU" sz="1200" kern="1200" dirty="0" smtClean="0">
                <a:solidFill>
                  <a:schemeClr val="tx1"/>
                </a:solidFill>
                <a:ea typeface="+mn-ea"/>
                <a:cs typeface="+mn-cs"/>
              </a:rPr>
              <a:t>Requiring reason for allocation of keys to be recorded.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 xmlns:p14="http://schemas.microsoft.com/office/powerpoint/2010/main" val="366110061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t>
            </a:r>
            <a:r>
              <a:rPr lang="en-AU" sz="1200" kern="1200" dirty="0" smtClean="0">
                <a:solidFill>
                  <a:schemeClr val="tx1"/>
                </a:solidFill>
                <a:ea typeface="+mn-ea"/>
                <a:cs typeface="+mn-cs"/>
              </a:rPr>
              <a:t>advises the keys to verifying and validating cash and stock transactions are:</a:t>
            </a:r>
          </a:p>
          <a:p>
            <a:pPr marL="171450" indent="-171450">
              <a:buFont typeface="Arial" pitchFamily="34" charset="0"/>
              <a:buChar char="•"/>
            </a:pPr>
            <a:r>
              <a:rPr lang="en-AU" sz="1200" kern="1200" dirty="0" smtClean="0">
                <a:solidFill>
                  <a:schemeClr val="tx1"/>
                </a:solidFill>
                <a:ea typeface="+mn-ea"/>
                <a:cs typeface="+mn-cs"/>
              </a:rPr>
              <a:t>Checking documentation</a:t>
            </a:r>
          </a:p>
          <a:p>
            <a:pPr marL="171450" indent="-171450">
              <a:buFont typeface="Arial" pitchFamily="34" charset="0"/>
              <a:buChar char="•"/>
            </a:pPr>
            <a:r>
              <a:rPr lang="en-AU" sz="1200" kern="1200" dirty="0" smtClean="0">
                <a:solidFill>
                  <a:schemeClr val="tx1"/>
                </a:solidFill>
                <a:ea typeface="+mn-ea"/>
                <a:cs typeface="+mn-cs"/>
              </a:rPr>
              <a:t>Conducting stock takes</a:t>
            </a:r>
          </a:p>
          <a:p>
            <a:pPr marL="171450" indent="-171450">
              <a:buFont typeface="Arial" pitchFamily="34" charset="0"/>
              <a:buChar char="•"/>
            </a:pPr>
            <a:r>
              <a:rPr lang="en-AU" sz="1200" kern="1200" dirty="0" smtClean="0">
                <a:solidFill>
                  <a:schemeClr val="tx1"/>
                </a:solidFill>
                <a:ea typeface="+mn-ea"/>
                <a:cs typeface="+mn-cs"/>
              </a:rPr>
              <a:t>Matching cash to transactions and related documentation</a:t>
            </a:r>
          </a:p>
          <a:p>
            <a:pPr marL="171450" indent="-171450">
              <a:buFont typeface="Arial" pitchFamily="34" charset="0"/>
              <a:buChar char="•"/>
            </a:pPr>
            <a:r>
              <a:rPr lang="en-AU" sz="1200" kern="1200" dirty="0" smtClean="0">
                <a:solidFill>
                  <a:schemeClr val="tx1"/>
                </a:solidFill>
                <a:ea typeface="+mn-ea"/>
                <a:cs typeface="+mn-cs"/>
              </a:rPr>
              <a:t>Investigating variances.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Trainer reminds it is important to understanding this aspect of theft minimisation is to have a full appreciation of the ‘control cycle’ which comprises:</a:t>
            </a:r>
          </a:p>
          <a:p>
            <a:pPr marL="171450" indent="-171450">
              <a:buFont typeface="Arial" pitchFamily="34" charset="0"/>
              <a:buChar char="•"/>
            </a:pPr>
            <a:r>
              <a:rPr lang="en-AU" sz="1200" kern="1200" dirty="0" smtClean="0">
                <a:solidFill>
                  <a:schemeClr val="tx1"/>
                </a:solidFill>
                <a:ea typeface="+mn-ea"/>
                <a:cs typeface="+mn-cs"/>
              </a:rPr>
              <a:t>Purchasing of goods and services from external suppliers</a:t>
            </a:r>
          </a:p>
          <a:p>
            <a:pPr marL="171450" indent="-171450">
              <a:buFont typeface="Arial" pitchFamily="34" charset="0"/>
              <a:buChar char="•"/>
            </a:pPr>
            <a:r>
              <a:rPr lang="en-AU" sz="1200" kern="1200" dirty="0" smtClean="0">
                <a:solidFill>
                  <a:schemeClr val="tx1"/>
                </a:solidFill>
                <a:ea typeface="+mn-ea"/>
                <a:cs typeface="+mn-cs"/>
              </a:rPr>
              <a:t>Storage of products (and cash)</a:t>
            </a:r>
          </a:p>
          <a:p>
            <a:pPr marL="171450" indent="-171450">
              <a:buFont typeface="Arial" pitchFamily="34" charset="0"/>
              <a:buChar char="•"/>
            </a:pPr>
            <a:r>
              <a:rPr lang="en-AU" sz="1200" kern="1200" dirty="0" smtClean="0">
                <a:solidFill>
                  <a:schemeClr val="tx1"/>
                </a:solidFill>
                <a:ea typeface="+mn-ea"/>
                <a:cs typeface="+mn-cs"/>
              </a:rPr>
              <a:t>Issuing of items (and cash)</a:t>
            </a:r>
          </a:p>
          <a:p>
            <a:pPr marL="171450" indent="-171450">
              <a:buFont typeface="Arial" pitchFamily="34" charset="0"/>
              <a:buChar char="•"/>
            </a:pPr>
            <a:r>
              <a:rPr lang="en-AU" sz="1200" kern="1200" dirty="0" smtClean="0">
                <a:solidFill>
                  <a:schemeClr val="tx1"/>
                </a:solidFill>
                <a:ea typeface="+mn-ea"/>
                <a:cs typeface="+mn-cs"/>
              </a:rPr>
              <a:t>Production of whatever can be described as the goods and services of the business from the ‘raw materials’</a:t>
            </a:r>
          </a:p>
          <a:p>
            <a:pPr marL="171450" indent="-171450">
              <a:buFont typeface="Arial" pitchFamily="34" charset="0"/>
              <a:buChar char="•"/>
            </a:pPr>
            <a:r>
              <a:rPr lang="en-AU" sz="1200" kern="1200" dirty="0" smtClean="0">
                <a:solidFill>
                  <a:schemeClr val="tx1"/>
                </a:solidFill>
                <a:ea typeface="+mn-ea"/>
                <a:cs typeface="+mn-cs"/>
              </a:rPr>
              <a:t>Service of the goods and services of the business to customers/guests</a:t>
            </a:r>
          </a:p>
          <a:p>
            <a:pPr marL="171450" indent="-171450">
              <a:buFont typeface="Arial" pitchFamily="34" charset="0"/>
              <a:buChar char="•"/>
            </a:pPr>
            <a:r>
              <a:rPr lang="en-AU" sz="1200" kern="1200" dirty="0" smtClean="0">
                <a:solidFill>
                  <a:schemeClr val="tx1"/>
                </a:solidFill>
                <a:ea typeface="+mn-ea"/>
                <a:cs typeface="+mn-cs"/>
              </a:rPr>
              <a:t>Sales of goods and services.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 xmlns:p14="http://schemas.microsoft.com/office/powerpoint/2010/main" val="225034490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‘Checking documentation’ </a:t>
            </a:r>
            <a:r>
              <a:rPr lang="en-AU" sz="1200" kern="1200" dirty="0" smtClean="0">
                <a:solidFill>
                  <a:schemeClr val="tx1"/>
                </a:solidFill>
                <a:ea typeface="+mn-ea"/>
                <a:cs typeface="+mn-cs"/>
              </a:rPr>
              <a:t>should address:</a:t>
            </a:r>
          </a:p>
          <a:p>
            <a:pPr marL="171450" indent="-171450">
              <a:buFont typeface="Arial" pitchFamily="34" charset="0"/>
              <a:buChar char="•"/>
            </a:pPr>
            <a:r>
              <a:rPr lang="en-AU" sz="1200" kern="1200" dirty="0" smtClean="0">
                <a:solidFill>
                  <a:schemeClr val="tx1"/>
                </a:solidFill>
                <a:ea typeface="+mn-ea"/>
                <a:cs typeface="+mn-cs"/>
              </a:rPr>
              <a:t>Ensuring Purchase Orders are completed for all items and services required by the business</a:t>
            </a:r>
          </a:p>
          <a:p>
            <a:pPr marL="171450" indent="-171450">
              <a:buFont typeface="Arial" pitchFamily="34" charset="0"/>
              <a:buChar char="•"/>
            </a:pPr>
            <a:r>
              <a:rPr lang="en-AU" sz="1200" kern="1200" dirty="0" smtClean="0">
                <a:solidFill>
                  <a:schemeClr val="tx1"/>
                </a:solidFill>
                <a:ea typeface="+mn-ea"/>
                <a:cs typeface="+mn-cs"/>
              </a:rPr>
              <a:t>Checking </a:t>
            </a:r>
            <a:r>
              <a:rPr lang="en-AU" sz="1200" i="1" kern="1200" dirty="0" smtClean="0">
                <a:solidFill>
                  <a:schemeClr val="tx1"/>
                </a:solidFill>
                <a:ea typeface="+mn-ea"/>
                <a:cs typeface="+mn-cs"/>
              </a:rPr>
              <a:t>delivery</a:t>
            </a:r>
            <a:r>
              <a:rPr lang="en-AU" sz="1200" kern="1200" dirty="0" smtClean="0">
                <a:solidFill>
                  <a:schemeClr val="tx1"/>
                </a:solidFill>
                <a:ea typeface="+mn-ea"/>
                <a:cs typeface="+mn-cs"/>
              </a:rPr>
              <a:t> documentation to ensure the business:</a:t>
            </a:r>
          </a:p>
          <a:p>
            <a:pPr marL="628650" lvl="1" indent="-171450">
              <a:buFont typeface="Arial" pitchFamily="34" charset="0"/>
              <a:buChar char="•"/>
            </a:pPr>
            <a:r>
              <a:rPr lang="en-AU" sz="1200" kern="1200" dirty="0" smtClean="0">
                <a:solidFill>
                  <a:schemeClr val="tx1"/>
                </a:solidFill>
                <a:ea typeface="+mn-ea"/>
                <a:cs typeface="+mn-cs"/>
              </a:rPr>
              <a:t>Receives all the items it orders – in terms of required type, quality, size, quantity, price, brand, provider</a:t>
            </a:r>
          </a:p>
          <a:p>
            <a:pPr marL="628650" lvl="1" indent="-171450">
              <a:buFont typeface="Arial" pitchFamily="34" charset="0"/>
              <a:buChar char="•"/>
            </a:pPr>
            <a:r>
              <a:rPr lang="en-AU" sz="1200" kern="1200" dirty="0" smtClean="0">
                <a:solidFill>
                  <a:schemeClr val="tx1"/>
                </a:solidFill>
                <a:ea typeface="+mn-ea"/>
                <a:cs typeface="+mn-cs"/>
              </a:rPr>
              <a:t>Only pays for the items it orders and the items it actually orders and actually receives</a:t>
            </a:r>
          </a:p>
          <a:p>
            <a:pPr marL="171450" indent="-171450">
              <a:buFont typeface="Arial" pitchFamily="34" charset="0"/>
              <a:buChar char="•"/>
            </a:pPr>
            <a:r>
              <a:rPr lang="en-AU" sz="1200" kern="1200" dirty="0" smtClean="0">
                <a:solidFill>
                  <a:schemeClr val="tx1"/>
                </a:solidFill>
                <a:ea typeface="+mn-ea"/>
                <a:cs typeface="+mn-cs"/>
              </a:rPr>
              <a:t>Checking </a:t>
            </a:r>
            <a:r>
              <a:rPr lang="en-AU" sz="1200" i="1" kern="1200" dirty="0" smtClean="0">
                <a:solidFill>
                  <a:schemeClr val="tx1"/>
                </a:solidFill>
                <a:ea typeface="+mn-ea"/>
                <a:cs typeface="+mn-cs"/>
              </a:rPr>
              <a:t>internal</a:t>
            </a:r>
            <a:r>
              <a:rPr lang="en-AU" sz="1200" kern="1200" dirty="0" smtClean="0">
                <a:solidFill>
                  <a:schemeClr val="tx1"/>
                </a:solidFill>
                <a:ea typeface="+mn-ea"/>
                <a:cs typeface="+mn-cs"/>
              </a:rPr>
              <a:t> documentation – to ensure the actual stock-on-hand matches the expected level of stock-on-hand as indicated by system control</a:t>
            </a:r>
          </a:p>
          <a:p>
            <a:pPr marL="171450" indent="-171450">
              <a:buFont typeface="Arial" pitchFamily="34" charset="0"/>
              <a:buChar char="•"/>
            </a:pPr>
            <a:r>
              <a:rPr lang="en-AU" sz="1200" kern="1200" dirty="0" smtClean="0">
                <a:solidFill>
                  <a:schemeClr val="tx1"/>
                </a:solidFill>
                <a:ea typeface="+mn-ea"/>
                <a:cs typeface="+mn-cs"/>
              </a:rPr>
              <a:t>Checking </a:t>
            </a:r>
            <a:r>
              <a:rPr lang="en-AU" sz="1200" i="1" kern="1200" dirty="0" smtClean="0">
                <a:solidFill>
                  <a:schemeClr val="tx1"/>
                </a:solidFill>
                <a:ea typeface="+mn-ea"/>
                <a:cs typeface="+mn-cs"/>
              </a:rPr>
              <a:t>sales</a:t>
            </a:r>
            <a:r>
              <a:rPr lang="en-AU" sz="1200" kern="1200" dirty="0" smtClean="0">
                <a:solidFill>
                  <a:schemeClr val="tx1"/>
                </a:solidFill>
                <a:ea typeface="+mn-ea"/>
                <a:cs typeface="+mn-cs"/>
              </a:rPr>
              <a:t> documentation – to ensure:</a:t>
            </a:r>
          </a:p>
          <a:p>
            <a:pPr marL="628650" lvl="1" indent="-171450">
              <a:buFont typeface="Arial" pitchFamily="34" charset="0"/>
              <a:buChar char="•"/>
            </a:pPr>
            <a:r>
              <a:rPr lang="en-AU" sz="1200" kern="1200" dirty="0" smtClean="0">
                <a:solidFill>
                  <a:schemeClr val="tx1"/>
                </a:solidFill>
                <a:ea typeface="+mn-ea"/>
                <a:cs typeface="+mn-cs"/>
              </a:rPr>
              <a:t>Correct selling prices are being charged</a:t>
            </a:r>
          </a:p>
          <a:p>
            <a:pPr marL="628650" lvl="1" indent="-171450">
              <a:buFont typeface="Arial" pitchFamily="34" charset="0"/>
              <a:buChar char="•"/>
            </a:pPr>
            <a:r>
              <a:rPr lang="en-AU" sz="1200" kern="1200" dirty="0" smtClean="0">
                <a:solidFill>
                  <a:schemeClr val="tx1"/>
                </a:solidFill>
                <a:ea typeface="+mn-ea"/>
                <a:cs typeface="+mn-cs"/>
              </a:rPr>
              <a:t>Discounts and other offers are being applied correctly</a:t>
            </a:r>
          </a:p>
          <a:p>
            <a:pPr marL="628650" lvl="1" indent="-171450">
              <a:buFont typeface="Arial" pitchFamily="34" charset="0"/>
              <a:buChar char="•"/>
            </a:pPr>
            <a:r>
              <a:rPr lang="en-AU" sz="1200" kern="1200" dirty="0" smtClean="0">
                <a:solidFill>
                  <a:schemeClr val="tx1"/>
                </a:solidFill>
                <a:ea typeface="+mn-ea"/>
                <a:cs typeface="+mn-cs"/>
              </a:rPr>
              <a:t>Payments are being received to match sales in the methods accepted by the business in a timely manner.</a:t>
            </a:r>
          </a:p>
          <a:p>
            <a:pPr marL="171450" indent="-171450">
              <a:buFont typeface="Arial" pitchFamily="34" charset="0"/>
              <a:buChar char="•"/>
            </a:pPr>
            <a:endParaRPr lang="en-US" dirty="0" smtClean="0"/>
          </a:p>
          <a:p>
            <a:pPr>
              <a:buFont typeface="Arial" pitchFamily="34" charset="0"/>
              <a:buNone/>
            </a:pPr>
            <a:r>
              <a:rPr lang="en-US" b="1" dirty="0" smtClean="0"/>
              <a:t>Class Activity – Handouts </a:t>
            </a:r>
          </a:p>
          <a:p>
            <a:pPr>
              <a:buFont typeface="Arial" pitchFamily="34" charset="0"/>
              <a:buNone/>
            </a:pPr>
            <a:r>
              <a:rPr lang="en-US" b="0" dirty="0" smtClean="0"/>
              <a:t>Trainer distributes and discusses examples of documentation identified on</a:t>
            </a:r>
            <a:r>
              <a:rPr lang="en-US" b="0" baseline="0" dirty="0" smtClean="0"/>
              <a:t> the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 xmlns:p14="http://schemas.microsoft.com/office/powerpoint/2010/main" val="9263818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conducting stock takes:</a:t>
            </a:r>
          </a:p>
          <a:p>
            <a:r>
              <a:rPr lang="en-AU" sz="1200" kern="1200" dirty="0" smtClean="0">
                <a:solidFill>
                  <a:schemeClr val="tx1"/>
                </a:solidFill>
                <a:ea typeface="+mn-ea"/>
                <a:cs typeface="+mn-cs"/>
              </a:rPr>
              <a:t>Stock takes are conducted in order to:</a:t>
            </a:r>
          </a:p>
          <a:p>
            <a:pPr marL="171450" indent="-171450">
              <a:buFont typeface="Arial" pitchFamily="34" charset="0"/>
              <a:buChar char="•"/>
            </a:pPr>
            <a:r>
              <a:rPr lang="en-AU" sz="1200" kern="1200" dirty="0" smtClean="0">
                <a:solidFill>
                  <a:schemeClr val="tx1"/>
                </a:solidFill>
                <a:ea typeface="+mn-ea"/>
                <a:cs typeface="+mn-cs"/>
              </a:rPr>
              <a:t>Count and record </a:t>
            </a:r>
            <a:r>
              <a:rPr lang="en-AU" sz="1200" i="1" kern="1200" dirty="0" smtClean="0">
                <a:solidFill>
                  <a:schemeClr val="tx1"/>
                </a:solidFill>
                <a:ea typeface="+mn-ea"/>
                <a:cs typeface="+mn-cs"/>
              </a:rPr>
              <a:t>actual</a:t>
            </a:r>
            <a:r>
              <a:rPr lang="en-AU" sz="1200" kern="1200" dirty="0" smtClean="0">
                <a:solidFill>
                  <a:schemeClr val="tx1"/>
                </a:solidFill>
                <a:ea typeface="+mn-ea"/>
                <a:cs typeface="+mn-cs"/>
              </a:rPr>
              <a:t> stock-on-hand</a:t>
            </a:r>
          </a:p>
          <a:p>
            <a:pPr marL="171450" indent="-171450">
              <a:buFont typeface="Arial" pitchFamily="34" charset="0"/>
              <a:buChar char="•"/>
            </a:pPr>
            <a:r>
              <a:rPr lang="en-AU" sz="1200" kern="1200" dirty="0" smtClean="0">
                <a:solidFill>
                  <a:schemeClr val="tx1"/>
                </a:solidFill>
                <a:ea typeface="+mn-ea"/>
                <a:cs typeface="+mn-cs"/>
              </a:rPr>
              <a:t>Allow comparison of ‘actual’ stock-on-hand to ‘expected’ stock-on-hand as shown by internal stock control systems (electronic or manual systems)</a:t>
            </a:r>
          </a:p>
          <a:p>
            <a:pPr marL="171450" indent="-171450">
              <a:buFont typeface="Arial" pitchFamily="34" charset="0"/>
              <a:buChar char="•"/>
            </a:pPr>
            <a:r>
              <a:rPr lang="en-AU" sz="1200" kern="1200" dirty="0" smtClean="0">
                <a:solidFill>
                  <a:schemeClr val="tx1"/>
                </a:solidFill>
                <a:ea typeface="+mn-ea"/>
                <a:cs typeface="+mn-cs"/>
              </a:rPr>
              <a:t>Track the movement of stock (by type and quantity/volume) within the business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Form the basis of further calculations – to determine performance figures for the business</a:t>
            </a:r>
          </a:p>
          <a:p>
            <a:pPr marL="171450" indent="-171450">
              <a:buFont typeface="Arial" pitchFamily="34" charset="0"/>
              <a:buChar char="•"/>
            </a:pPr>
            <a:r>
              <a:rPr lang="en-AU" sz="1200" kern="1200" dirty="0" smtClean="0">
                <a:solidFill>
                  <a:schemeClr val="tx1"/>
                </a:solidFill>
                <a:ea typeface="+mn-ea"/>
                <a:cs typeface="+mn-cs"/>
              </a:rPr>
              <a:t>Determine situations where stock is missing – and provide the basis for investigating what has happened to that stock (Has it been damaged and thrown out? Has it been used but not recorded? Has it been stolen?).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 xmlns:p14="http://schemas.microsoft.com/office/powerpoint/2010/main" val="415883488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smtClean="0"/>
              <a:t>Trainer presents details on performing stock takes stating </a:t>
            </a:r>
            <a:r>
              <a:rPr lang="en-AU" sz="1200" kern="1200" dirty="0" smtClean="0">
                <a:solidFill>
                  <a:schemeClr val="tx1"/>
                </a:solidFill>
                <a:ea typeface="+mn-ea"/>
                <a:cs typeface="+mn-cs"/>
              </a:rPr>
              <a:t>businesses will have well established protocols for conducting stock takes in their operations – these include:</a:t>
            </a:r>
          </a:p>
          <a:p>
            <a:pPr marL="171450" indent="-171450">
              <a:buFont typeface="Arial" pitchFamily="34" charset="0"/>
              <a:buChar char="•"/>
            </a:pPr>
            <a:r>
              <a:rPr lang="en-AU" sz="1200" kern="1200" dirty="0" smtClean="0">
                <a:solidFill>
                  <a:schemeClr val="tx1"/>
                </a:solidFill>
                <a:ea typeface="+mn-ea"/>
                <a:cs typeface="+mn-cs"/>
              </a:rPr>
              <a:t>Conducting </a:t>
            </a:r>
            <a:r>
              <a:rPr lang="en-AU" sz="1200" i="1" kern="1200" dirty="0" smtClean="0">
                <a:solidFill>
                  <a:schemeClr val="tx1"/>
                </a:solidFill>
                <a:ea typeface="+mn-ea"/>
                <a:cs typeface="+mn-cs"/>
              </a:rPr>
              <a:t>regular</a:t>
            </a:r>
            <a:r>
              <a:rPr lang="en-AU" sz="1200" kern="1200" dirty="0" smtClean="0">
                <a:solidFill>
                  <a:schemeClr val="tx1"/>
                </a:solidFill>
                <a:ea typeface="+mn-ea"/>
                <a:cs typeface="+mn-cs"/>
              </a:rPr>
              <a:t> stock takes – at pre-determined times such as every day, every week or every month</a:t>
            </a:r>
          </a:p>
          <a:p>
            <a:pPr marL="171450" indent="-171450">
              <a:buFont typeface="Arial" pitchFamily="34" charset="0"/>
              <a:buChar char="•"/>
            </a:pPr>
            <a:r>
              <a:rPr lang="en-AU" sz="1200" kern="1200" dirty="0" smtClean="0">
                <a:solidFill>
                  <a:schemeClr val="tx1"/>
                </a:solidFill>
                <a:ea typeface="+mn-ea"/>
                <a:cs typeface="+mn-cs"/>
              </a:rPr>
              <a:t>Doing </a:t>
            </a:r>
            <a:r>
              <a:rPr lang="en-AU" sz="1200" i="1" kern="1200" dirty="0" smtClean="0">
                <a:solidFill>
                  <a:schemeClr val="tx1"/>
                </a:solidFill>
                <a:ea typeface="+mn-ea"/>
                <a:cs typeface="+mn-cs"/>
              </a:rPr>
              <a:t>random</a:t>
            </a:r>
            <a:r>
              <a:rPr lang="en-AU" sz="1200" kern="1200" dirty="0" smtClean="0">
                <a:solidFill>
                  <a:schemeClr val="tx1"/>
                </a:solidFill>
                <a:ea typeface="+mn-ea"/>
                <a:cs typeface="+mn-cs"/>
              </a:rPr>
              <a:t> stock takes at times when staff do not expect them to be conducted (in addition to the regular stock takes) – with the aim of catching out people who may be manipulating the schedule of regular stock takes to their own advantage</a:t>
            </a:r>
          </a:p>
          <a:p>
            <a:pPr marL="171450" indent="-171450">
              <a:buFont typeface="Arial" pitchFamily="34" charset="0"/>
              <a:buChar char="•"/>
            </a:pPr>
            <a:r>
              <a:rPr lang="en-AU" sz="1200" kern="1200" dirty="0" smtClean="0">
                <a:solidFill>
                  <a:schemeClr val="tx1"/>
                </a:solidFill>
                <a:ea typeface="+mn-ea"/>
                <a:cs typeface="+mn-cs"/>
              </a:rPr>
              <a:t>Undertaking the stock take in pairs – where one person ‘counts and calls’ and the other person ‘records’.</a:t>
            </a:r>
          </a:p>
          <a:p>
            <a:pPr marL="628650" lvl="1" indent="-171450">
              <a:buFont typeface="Arial" pitchFamily="34" charset="0"/>
              <a:buChar char="•"/>
            </a:pPr>
            <a:r>
              <a:rPr lang="en-AU" sz="1200" kern="1200" dirty="0" smtClean="0">
                <a:solidFill>
                  <a:schemeClr val="tx1"/>
                </a:solidFill>
                <a:ea typeface="+mn-ea"/>
                <a:cs typeface="+mn-cs"/>
              </a:rPr>
              <a:t>‘Counting and calling’ refers to the process of counting the stock items on-hand and calling out the number present to the second person who then ‘records’ this number on the stock take sheet.</a:t>
            </a:r>
          </a:p>
          <a:p>
            <a:pPr marL="171450" indent="-171450">
              <a:buFont typeface="Arial" pitchFamily="34" charset="0"/>
              <a:buChar char="•"/>
            </a:pPr>
            <a:r>
              <a:rPr lang="en-AU" sz="1200" kern="1200" dirty="0" smtClean="0">
                <a:solidFill>
                  <a:schemeClr val="tx1"/>
                </a:solidFill>
                <a:ea typeface="+mn-ea"/>
                <a:cs typeface="+mn-cs"/>
              </a:rPr>
              <a:t>Using stock take sheets generated by the business – as the basis for recording the items counted during the stock take</a:t>
            </a:r>
          </a:p>
          <a:p>
            <a:pPr marL="171450" indent="-171450">
              <a:buFont typeface="Arial" pitchFamily="34" charset="0"/>
              <a:buChar char="•"/>
            </a:pPr>
            <a:r>
              <a:rPr lang="en-AU" sz="1200" kern="1200" dirty="0" smtClean="0">
                <a:solidFill>
                  <a:schemeClr val="tx1"/>
                </a:solidFill>
                <a:ea typeface="+mn-ea"/>
                <a:cs typeface="+mn-cs"/>
              </a:rPr>
              <a:t>Counting and recording all items identified during the stock taken –  even if they are not listed on the stock take sheets</a:t>
            </a:r>
          </a:p>
          <a:p>
            <a:pPr marL="171450" indent="-171450">
              <a:buFont typeface="Arial" pitchFamily="34" charset="0"/>
              <a:buChar char="•"/>
            </a:pPr>
            <a:r>
              <a:rPr lang="en-AU" sz="1200" kern="1200" dirty="0" smtClean="0">
                <a:solidFill>
                  <a:schemeClr val="tx1"/>
                </a:solidFill>
                <a:ea typeface="+mn-ea"/>
                <a:cs typeface="+mn-cs"/>
              </a:rPr>
              <a:t>Performing the stock take when the business is closed – so items are not being used/decremented from stock during the stock take process: this often means doing the stock take early in the morning, late at night or on days when the business is normally closed.</a:t>
            </a:r>
          </a:p>
          <a:p>
            <a:pPr>
              <a:buFont typeface="Arial" pitchFamily="34" charset="0"/>
              <a:buNone/>
            </a:pPr>
            <a:endParaRPr lang="en-US" dirty="0" smtClean="0"/>
          </a:p>
          <a:p>
            <a:pPr>
              <a:buFont typeface="Arial" pitchFamily="34" charset="0"/>
              <a:buNone/>
            </a:pPr>
            <a:r>
              <a:rPr lang="en-US" b="1" dirty="0" smtClean="0"/>
              <a:t>Class Activity – Demonstration and Practical Exercise</a:t>
            </a:r>
          </a:p>
          <a:p>
            <a:pPr>
              <a:buFont typeface="Arial" pitchFamily="34" charset="0"/>
              <a:buNone/>
            </a:pPr>
            <a:r>
              <a:rPr lang="en-US" b="0" dirty="0" smtClean="0"/>
              <a:t>Trainer:</a:t>
            </a:r>
          </a:p>
          <a:p>
            <a:pPr marL="171450" indent="-171450">
              <a:buFont typeface="Arial" pitchFamily="34" charset="0"/>
              <a:buChar char="•"/>
            </a:pPr>
            <a:r>
              <a:rPr lang="en-US" b="0" dirty="0" smtClean="0"/>
              <a:t>Demonstrates how to perform a stock take using</a:t>
            </a:r>
            <a:r>
              <a:rPr lang="en-US" b="0" baseline="0" dirty="0" smtClean="0"/>
              <a:t> a student to assist with ‘counting and calling’ and recording information</a:t>
            </a:r>
          </a:p>
          <a:p>
            <a:pPr marL="171450" indent="-171450">
              <a:buFont typeface="Arial" pitchFamily="34" charset="0"/>
              <a:buChar char="•"/>
            </a:pPr>
            <a:r>
              <a:rPr lang="en-US" b="0" dirty="0" smtClean="0"/>
              <a:t>Provides opportunity for students to practice conducting stock take.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 xmlns:p14="http://schemas.microsoft.com/office/powerpoint/2010/main" val="249971697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t>
            </a:r>
            <a:r>
              <a:rPr lang="en-AU" sz="1200" kern="1200" dirty="0" smtClean="0">
                <a:solidFill>
                  <a:schemeClr val="tx1"/>
                </a:solidFill>
                <a:ea typeface="+mn-ea"/>
                <a:cs typeface="+mn-cs"/>
              </a:rPr>
              <a:t>practices to establish and follow in relation to matching cash/sales to documentation include:</a:t>
            </a:r>
          </a:p>
          <a:p>
            <a:pPr marL="171450" indent="-171450">
              <a:buFont typeface="Arial" pitchFamily="34" charset="0"/>
              <a:buChar char="•"/>
            </a:pPr>
            <a:r>
              <a:rPr lang="en-AU" sz="1200" kern="1200" dirty="0" smtClean="0">
                <a:solidFill>
                  <a:schemeClr val="tx1"/>
                </a:solidFill>
                <a:ea typeface="+mn-ea"/>
                <a:cs typeface="+mn-cs"/>
              </a:rPr>
              <a:t>Double-check charges – to ensure all legitimate charges have been included</a:t>
            </a:r>
          </a:p>
          <a:p>
            <a:pPr marL="171450" indent="-171450">
              <a:buFont typeface="Arial" pitchFamily="34" charset="0"/>
              <a:buChar char="•"/>
            </a:pPr>
            <a:r>
              <a:rPr lang="en-AU" sz="1200" kern="1200" dirty="0" smtClean="0">
                <a:solidFill>
                  <a:schemeClr val="tx1"/>
                </a:solidFill>
                <a:ea typeface="+mn-ea"/>
                <a:cs typeface="+mn-cs"/>
              </a:rPr>
              <a:t>Verify totals – double-check taxes, fees, commissions, sub-totals and totals</a:t>
            </a:r>
          </a:p>
          <a:p>
            <a:pPr marL="171450" indent="-171450">
              <a:buFont typeface="Arial" pitchFamily="34" charset="0"/>
              <a:buChar char="•"/>
            </a:pPr>
            <a:r>
              <a:rPr lang="en-AU" sz="1200" kern="1200" dirty="0" smtClean="0">
                <a:solidFill>
                  <a:schemeClr val="tx1"/>
                </a:solidFill>
                <a:ea typeface="+mn-ea"/>
                <a:cs typeface="+mn-cs"/>
              </a:rPr>
              <a:t>Check/count all cash handed to you in payment for goods and services – state/repeat back to the customer the amount tendered to avoid error</a:t>
            </a:r>
          </a:p>
          <a:p>
            <a:pPr marL="171450" indent="-171450">
              <a:buFont typeface="Arial" pitchFamily="34" charset="0"/>
              <a:buChar char="•"/>
            </a:pPr>
            <a:r>
              <a:rPr lang="en-AU" sz="1200" kern="1200" dirty="0" smtClean="0">
                <a:solidFill>
                  <a:schemeClr val="tx1"/>
                </a:solidFill>
                <a:ea typeface="+mn-ea"/>
                <a:cs typeface="+mn-cs"/>
              </a:rPr>
              <a:t>Count out all change given to customers – to avoid giving incorrect change</a:t>
            </a:r>
          </a:p>
          <a:p>
            <a:pPr marL="171450" indent="-171450">
              <a:buFont typeface="Arial" pitchFamily="34" charset="0"/>
              <a:buChar char="•"/>
            </a:pPr>
            <a:r>
              <a:rPr lang="en-AU" sz="1200" kern="1200" dirty="0" smtClean="0">
                <a:solidFill>
                  <a:schemeClr val="tx1"/>
                </a:solidFill>
                <a:ea typeface="+mn-ea"/>
                <a:cs typeface="+mn-cs"/>
              </a:rPr>
              <a:t>Only accept payment in currencies authorised by the business – there may be a ban on certain currencies</a:t>
            </a:r>
          </a:p>
          <a:p>
            <a:pPr marL="171450" indent="-171450">
              <a:buFont typeface="Arial" pitchFamily="34" charset="0"/>
              <a:buChar char="•"/>
            </a:pPr>
            <a:r>
              <a:rPr lang="en-AU" sz="1200" kern="1200" dirty="0" smtClean="0">
                <a:solidFill>
                  <a:schemeClr val="tx1"/>
                </a:solidFill>
                <a:ea typeface="+mn-ea"/>
                <a:cs typeface="+mn-cs"/>
              </a:rPr>
              <a:t>Issue receipts for all payment received – without exception</a:t>
            </a:r>
          </a:p>
          <a:p>
            <a:pPr marL="171450" indent="-171450">
              <a:buFont typeface="Arial" pitchFamily="34" charset="0"/>
              <a:buChar char="•"/>
            </a:pPr>
            <a:r>
              <a:rPr lang="en-AU" sz="1200" kern="1200" dirty="0" smtClean="0">
                <a:solidFill>
                  <a:schemeClr val="tx1"/>
                </a:solidFill>
                <a:ea typeface="+mn-ea"/>
                <a:cs typeface="+mn-cs"/>
              </a:rPr>
              <a:t>Never pay out any cash on behalf of the business – unless specifically authorised to do so: always get a receipt for any monies paid out.</a:t>
            </a:r>
          </a:p>
          <a:p>
            <a:pPr>
              <a:buFont typeface="Arial" pitchFamily="34" charset="0"/>
              <a:buNone/>
            </a:pPr>
            <a:endParaRPr lang="en-US" dirty="0" smtClean="0"/>
          </a:p>
          <a:p>
            <a:pPr>
              <a:buFont typeface="Arial" pitchFamily="34" charset="0"/>
              <a:buNone/>
            </a:pPr>
            <a:r>
              <a:rPr lang="en-US" b="1" dirty="0" smtClean="0"/>
              <a:t>Class Activity – Practical Exercise</a:t>
            </a:r>
          </a:p>
          <a:p>
            <a:pPr>
              <a:buFont typeface="Arial" pitchFamily="34" charset="0"/>
              <a:buNone/>
            </a:pPr>
            <a:r>
              <a:rPr lang="en-US" b="0" dirty="0" smtClean="0"/>
              <a:t>Trainer distributes range of internal documents with deliberate errors on them and asks students to verify and validate them identifying all errors</a:t>
            </a:r>
            <a:r>
              <a:rPr lang="en-US" b="0" baseline="0" dirty="0" smtClean="0"/>
              <a:t> and omissions.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 xmlns:p14="http://schemas.microsoft.com/office/powerpoint/2010/main" val="359071522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investigating variances observing:</a:t>
            </a:r>
          </a:p>
          <a:p>
            <a:pPr marL="171450" indent="-171450">
              <a:buFont typeface="Arial" pitchFamily="34" charset="0"/>
              <a:buChar char="•"/>
            </a:pPr>
            <a:r>
              <a:rPr lang="en-AU" sz="1200" kern="1200" dirty="0" smtClean="0">
                <a:solidFill>
                  <a:schemeClr val="tx1"/>
                </a:solidFill>
                <a:ea typeface="+mn-ea"/>
                <a:cs typeface="+mn-cs"/>
              </a:rPr>
              <a:t>Variances can occur in relation to money and stock.</a:t>
            </a:r>
          </a:p>
          <a:p>
            <a:pPr marL="171450" indent="-171450">
              <a:buFont typeface="Arial" pitchFamily="34" charset="0"/>
              <a:buChar char="•"/>
            </a:pPr>
            <a:r>
              <a:rPr lang="en-AU" sz="1200" kern="1200" dirty="0" smtClean="0">
                <a:solidFill>
                  <a:schemeClr val="tx1"/>
                </a:solidFill>
                <a:ea typeface="+mn-ea"/>
                <a:cs typeface="+mn-cs"/>
              </a:rPr>
              <a:t>They are also known as ‘discrepancies’.</a:t>
            </a:r>
          </a:p>
          <a:p>
            <a:pPr marL="171450" indent="-171450">
              <a:buFont typeface="Arial" pitchFamily="34" charset="0"/>
              <a:buChar char="•"/>
            </a:pPr>
            <a:r>
              <a:rPr lang="en-AU" sz="1200" kern="1200" dirty="0" smtClean="0">
                <a:solidFill>
                  <a:schemeClr val="tx1"/>
                </a:solidFill>
                <a:ea typeface="+mn-ea"/>
                <a:cs typeface="+mn-cs"/>
              </a:rPr>
              <a:t>You must always investigate variances to:</a:t>
            </a:r>
          </a:p>
          <a:p>
            <a:pPr marL="628650" lvl="1" indent="-171450">
              <a:buFont typeface="Arial" pitchFamily="34" charset="0"/>
              <a:buChar char="•"/>
            </a:pPr>
            <a:r>
              <a:rPr lang="en-AU" sz="1200" kern="1200" dirty="0" smtClean="0">
                <a:solidFill>
                  <a:schemeClr val="tx1"/>
                </a:solidFill>
                <a:ea typeface="+mn-ea"/>
                <a:cs typeface="+mn-cs"/>
              </a:rPr>
              <a:t>Confirm a variance exists – and you have not made a mistake or simply overlooked something</a:t>
            </a:r>
          </a:p>
          <a:p>
            <a:pPr marL="628650" lvl="1" indent="-171450">
              <a:buFont typeface="Arial" pitchFamily="34" charset="0"/>
              <a:buChar char="•"/>
            </a:pPr>
            <a:r>
              <a:rPr lang="en-AU" sz="1200" kern="1200" dirty="0" smtClean="0">
                <a:solidFill>
                  <a:schemeClr val="tx1"/>
                </a:solidFill>
                <a:ea typeface="+mn-ea"/>
                <a:cs typeface="+mn-cs"/>
              </a:rPr>
              <a:t>Identify the amount and type of the variance</a:t>
            </a:r>
          </a:p>
          <a:p>
            <a:pPr marL="628650" lvl="1" indent="-171450">
              <a:buFont typeface="Arial" pitchFamily="34" charset="0"/>
              <a:buChar char="•"/>
            </a:pPr>
            <a:r>
              <a:rPr lang="en-AU" sz="1200" kern="1200" dirty="0" smtClean="0">
                <a:solidFill>
                  <a:schemeClr val="tx1"/>
                </a:solidFill>
                <a:ea typeface="+mn-ea"/>
                <a:cs typeface="+mn-cs"/>
              </a:rPr>
              <a:t>Determine when and how it occurred</a:t>
            </a:r>
          </a:p>
          <a:p>
            <a:pPr marL="628650" lvl="1" indent="-171450">
              <a:buFont typeface="Arial" pitchFamily="34" charset="0"/>
              <a:buChar char="•"/>
            </a:pPr>
            <a:r>
              <a:rPr lang="en-AU" sz="1200" kern="1200" dirty="0" smtClean="0">
                <a:solidFill>
                  <a:schemeClr val="tx1"/>
                </a:solidFill>
                <a:ea typeface="+mn-ea"/>
                <a:cs typeface="+mn-cs"/>
              </a:rPr>
              <a:t>Work out the action to take to resolve the situation – and prevent recurrence</a:t>
            </a:r>
          </a:p>
          <a:p>
            <a:pPr marL="628650" lvl="1" indent="-171450">
              <a:buFont typeface="Arial" pitchFamily="34" charset="0"/>
              <a:buChar char="•"/>
            </a:pPr>
            <a:r>
              <a:rPr lang="en-AU" sz="1200" kern="1200" dirty="0" smtClean="0">
                <a:solidFill>
                  <a:schemeClr val="tx1"/>
                </a:solidFill>
                <a:ea typeface="+mn-ea"/>
                <a:cs typeface="+mn-cs"/>
              </a:rPr>
              <a:t>Enable an internal report to be made regarding the situation.</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Guest Speaker to talk to students about protocols used in their workplace to verify and validate sales/transactions and provide advice in relation to establishin</a:t>
            </a:r>
            <a:r>
              <a:rPr lang="en-US" b="0" baseline="0" dirty="0" smtClean="0"/>
              <a:t>g and implementing same, and regarding general theft minimisation protocols in general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 xmlns:p14="http://schemas.microsoft.com/office/powerpoint/2010/main" val="327755072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observing </a:t>
            </a:r>
            <a:r>
              <a:rPr lang="en-AU" sz="1200" kern="1200" dirty="0" smtClean="0">
                <a:solidFill>
                  <a:schemeClr val="tx1"/>
                </a:solidFill>
                <a:ea typeface="+mn-ea"/>
                <a:cs typeface="+mn-cs"/>
              </a:rPr>
              <a:t>people relates to the monitoring of:</a:t>
            </a:r>
          </a:p>
          <a:p>
            <a:pPr marL="171450" indent="-171450">
              <a:buFont typeface="Arial" pitchFamily="34" charset="0"/>
              <a:buChar char="•"/>
            </a:pPr>
            <a:r>
              <a:rPr lang="en-AU" sz="1200" kern="1200" dirty="0" smtClean="0">
                <a:solidFill>
                  <a:schemeClr val="tx1"/>
                </a:solidFill>
                <a:ea typeface="+mn-ea"/>
                <a:cs typeface="+mn-cs"/>
              </a:rPr>
              <a:t>Staff </a:t>
            </a:r>
          </a:p>
          <a:p>
            <a:pPr marL="171450" indent="-171450">
              <a:buFont typeface="Arial" pitchFamily="34" charset="0"/>
              <a:buChar char="•"/>
            </a:pPr>
            <a:r>
              <a:rPr lang="en-AU" sz="1200" kern="1200" dirty="0" smtClean="0">
                <a:solidFill>
                  <a:schemeClr val="tx1"/>
                </a:solidFill>
                <a:ea typeface="+mn-ea"/>
                <a:cs typeface="+mn-cs"/>
              </a:rPr>
              <a:t>Customers/guests</a:t>
            </a:r>
          </a:p>
          <a:p>
            <a:pPr marL="171450" indent="-171450">
              <a:buFont typeface="Arial" pitchFamily="34" charset="0"/>
              <a:buChar char="•"/>
            </a:pPr>
            <a:r>
              <a:rPr lang="en-AU" sz="1200" kern="1200" dirty="0" smtClean="0">
                <a:solidFill>
                  <a:schemeClr val="tx1"/>
                </a:solidFill>
                <a:ea typeface="+mn-ea"/>
                <a:cs typeface="+mn-cs"/>
              </a:rPr>
              <a:t>Delivery drivers</a:t>
            </a:r>
          </a:p>
          <a:p>
            <a:pPr marL="171450" indent="-171450">
              <a:buFont typeface="Arial" pitchFamily="34" charset="0"/>
              <a:buChar char="•"/>
            </a:pPr>
            <a:r>
              <a:rPr lang="en-AU" sz="1200" kern="1200" dirty="0" smtClean="0">
                <a:solidFill>
                  <a:schemeClr val="tx1"/>
                </a:solidFill>
                <a:ea typeface="+mn-ea"/>
                <a:cs typeface="+mn-cs"/>
              </a:rPr>
              <a:t>Service technicians</a:t>
            </a:r>
          </a:p>
          <a:p>
            <a:pPr marL="171450" indent="-171450">
              <a:buFont typeface="Arial" pitchFamily="34" charset="0"/>
              <a:buChar char="•"/>
            </a:pPr>
            <a:r>
              <a:rPr lang="en-AU" sz="1200" kern="1200" dirty="0" smtClean="0">
                <a:solidFill>
                  <a:schemeClr val="tx1"/>
                </a:solidFill>
                <a:ea typeface="+mn-ea"/>
                <a:cs typeface="+mn-cs"/>
              </a:rPr>
              <a:t>Visitors</a:t>
            </a:r>
          </a:p>
          <a:p>
            <a:pPr marL="171450" indent="-171450">
              <a:buFont typeface="Arial" pitchFamily="34" charset="0"/>
              <a:buChar char="•"/>
            </a:pPr>
            <a:r>
              <a:rPr lang="en-AU" sz="1200" kern="1200" dirty="0" smtClean="0">
                <a:solidFill>
                  <a:schemeClr val="tx1"/>
                </a:solidFill>
                <a:ea typeface="+mn-ea"/>
                <a:cs typeface="+mn-cs"/>
              </a:rPr>
              <a:t>Members of the public.</a:t>
            </a:r>
          </a:p>
          <a:p>
            <a:r>
              <a:rPr lang="en-AU" sz="1200" kern="1200" dirty="0" smtClean="0">
                <a:solidFill>
                  <a:schemeClr val="tx1"/>
                </a:solidFill>
                <a:ea typeface="+mn-ea"/>
                <a:cs typeface="+mn-cs"/>
              </a:rPr>
              <a:t>All these categories need to be monitored as they are all potential loss sources.</a:t>
            </a:r>
          </a:p>
          <a:p>
            <a:r>
              <a:rPr lang="en-AU" sz="1200" kern="1200" dirty="0" smtClean="0">
                <a:solidFill>
                  <a:schemeClr val="tx1"/>
                </a:solidFill>
                <a:ea typeface="+mn-ea"/>
                <a:cs typeface="+mn-cs"/>
              </a:rPr>
              <a:t>This highlights (again) the need to focus on the potential for internal and external theft.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 xmlns:p14="http://schemas.microsoft.com/office/powerpoint/2010/main" val="387217462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Trainer identifies activities involved in observing </a:t>
            </a:r>
            <a:r>
              <a:rPr lang="en-AU" sz="1200" kern="1200" dirty="0" smtClean="0">
                <a:solidFill>
                  <a:schemeClr val="tx1"/>
                </a:solidFill>
                <a:ea typeface="+mn-ea"/>
                <a:cs typeface="+mn-cs"/>
              </a:rPr>
              <a:t>/monitoring of people:</a:t>
            </a:r>
          </a:p>
          <a:p>
            <a:pPr marL="171450" indent="-171450">
              <a:buFont typeface="Arial" pitchFamily="34" charset="0"/>
              <a:buChar char="•"/>
            </a:pPr>
            <a:r>
              <a:rPr lang="en-AU" sz="1200" kern="1200" dirty="0" smtClean="0">
                <a:solidFill>
                  <a:schemeClr val="tx1"/>
                </a:solidFill>
                <a:ea typeface="+mn-ea"/>
                <a:cs typeface="+mn-cs"/>
              </a:rPr>
              <a:t>Monitoring of surveillance equipment – which should include:</a:t>
            </a:r>
          </a:p>
          <a:p>
            <a:pPr marL="628650" lvl="1" indent="-171450">
              <a:buFont typeface="Arial" pitchFamily="34" charset="0"/>
              <a:buChar char="•"/>
            </a:pPr>
            <a:r>
              <a:rPr lang="en-AU" sz="1200" kern="1200" dirty="0" smtClean="0">
                <a:solidFill>
                  <a:schemeClr val="tx1"/>
                </a:solidFill>
                <a:ea typeface="+mn-ea"/>
                <a:cs typeface="+mn-cs"/>
              </a:rPr>
              <a:t>Watching screens connected to CCTV cameras</a:t>
            </a:r>
          </a:p>
          <a:p>
            <a:pPr marL="628650" lvl="1" indent="-171450">
              <a:buFont typeface="Arial" pitchFamily="34" charset="0"/>
              <a:buChar char="•"/>
            </a:pPr>
            <a:r>
              <a:rPr lang="en-AU" sz="1200" kern="1200" dirty="0" smtClean="0">
                <a:solidFill>
                  <a:schemeClr val="tx1"/>
                </a:solidFill>
                <a:ea typeface="+mn-ea"/>
                <a:cs typeface="+mn-cs"/>
              </a:rPr>
              <a:t>Checking mirrors to view hidden areas</a:t>
            </a:r>
          </a:p>
          <a:p>
            <a:pPr marL="628650" lvl="1" indent="-171450">
              <a:buFont typeface="Arial" pitchFamily="34" charset="0"/>
              <a:buChar char="•"/>
            </a:pPr>
            <a:r>
              <a:rPr lang="en-AU" sz="1200" kern="1200" dirty="0" smtClean="0">
                <a:solidFill>
                  <a:schemeClr val="tx1"/>
                </a:solidFill>
                <a:ea typeface="+mn-ea"/>
                <a:cs typeface="+mn-cs"/>
              </a:rPr>
              <a:t>Listening for audible alarms – such as sirens </a:t>
            </a:r>
          </a:p>
          <a:p>
            <a:pPr marL="628650" lvl="1" indent="-171450">
              <a:buFont typeface="Arial" pitchFamily="34" charset="0"/>
              <a:buChar char="•"/>
            </a:pPr>
            <a:r>
              <a:rPr lang="en-AU" sz="1200" kern="1200" dirty="0" smtClean="0">
                <a:solidFill>
                  <a:schemeClr val="tx1"/>
                </a:solidFill>
                <a:ea typeface="+mn-ea"/>
                <a:cs typeface="+mn-cs"/>
              </a:rPr>
              <a:t>Looking for visual alerts produced by security systems – such as flashing lights on consoles and strobe lights on ceilings or walls</a:t>
            </a:r>
          </a:p>
          <a:p>
            <a:pPr marL="628650" lvl="1" indent="-171450">
              <a:buFont typeface="Arial" pitchFamily="34" charset="0"/>
              <a:buChar char="•"/>
            </a:pPr>
            <a:r>
              <a:rPr lang="en-AU" sz="1200" kern="1200" dirty="0" smtClean="0">
                <a:solidFill>
                  <a:schemeClr val="tx1"/>
                </a:solidFill>
                <a:ea typeface="+mn-ea"/>
                <a:cs typeface="+mn-cs"/>
              </a:rPr>
              <a:t>Integrating personal observations with data from security systems and surveillance equipment</a:t>
            </a:r>
          </a:p>
          <a:p>
            <a:pPr marL="628650" lvl="1" indent="-171450">
              <a:buFont typeface="Arial" pitchFamily="34" charset="0"/>
              <a:buChar char="•"/>
            </a:pPr>
            <a:r>
              <a:rPr lang="en-AU" sz="1200" kern="1200" dirty="0" smtClean="0">
                <a:solidFill>
                  <a:schemeClr val="tx1"/>
                </a:solidFill>
                <a:ea typeface="+mn-ea"/>
                <a:cs typeface="+mn-cs"/>
              </a:rPr>
              <a:t>Assimilating personal experiences (past experiences, hunches, feelings and perceptions) with information provided by security systems and surveillance equipment.</a:t>
            </a:r>
          </a:p>
          <a:p>
            <a:pPr marL="171450" lvl="0" indent="-171450">
              <a:buFont typeface="Arial" pitchFamily="34" charset="0"/>
              <a:buChar char="•"/>
            </a:pPr>
            <a:r>
              <a:rPr lang="en-AU" sz="1200" kern="1200" dirty="0" smtClean="0">
                <a:solidFill>
                  <a:schemeClr val="tx1"/>
                </a:solidFill>
                <a:ea typeface="+mn-ea"/>
                <a:cs typeface="+mn-cs"/>
              </a:rPr>
              <a:t>Personal observations – this relates to:</a:t>
            </a:r>
          </a:p>
          <a:p>
            <a:pPr marL="628650" lvl="1" indent="-171450">
              <a:buFont typeface="Arial" pitchFamily="34" charset="0"/>
              <a:buChar char="•"/>
            </a:pPr>
            <a:r>
              <a:rPr lang="en-AU" sz="1200" kern="1200" dirty="0" smtClean="0">
                <a:solidFill>
                  <a:schemeClr val="tx1"/>
                </a:solidFill>
                <a:ea typeface="+mn-ea"/>
                <a:cs typeface="+mn-cs"/>
              </a:rPr>
              <a:t>Watching people while they are in the business – to identify if they appear to be there for genuine reasons or whether they are present with criminal intent</a:t>
            </a:r>
          </a:p>
          <a:p>
            <a:pPr marL="1085850" lvl="2" indent="-171450">
              <a:buFont typeface="Arial" pitchFamily="34" charset="0"/>
              <a:buChar char="•"/>
            </a:pPr>
            <a:r>
              <a:rPr lang="en-AU" sz="1200" kern="1200" dirty="0" smtClean="0">
                <a:solidFill>
                  <a:schemeClr val="tx1"/>
                </a:solidFill>
                <a:ea typeface="+mn-ea"/>
                <a:cs typeface="+mn-cs"/>
              </a:rPr>
              <a:t>Paying special attention to known thieves</a:t>
            </a:r>
          </a:p>
          <a:p>
            <a:pPr marL="1085850" lvl="2" indent="-171450">
              <a:buFont typeface="Arial" pitchFamily="34" charset="0"/>
              <a:buChar char="•"/>
            </a:pPr>
            <a:r>
              <a:rPr lang="en-AU" sz="1200" kern="1200" dirty="0" smtClean="0">
                <a:solidFill>
                  <a:schemeClr val="tx1"/>
                </a:solidFill>
                <a:ea typeface="+mn-ea"/>
                <a:cs typeface="+mn-cs"/>
              </a:rPr>
              <a:t>Giving more attention to those who do not appear to be ‘doing business’ in the business – such as asking questions of staff; meeting and talking with staff; making a purchase</a:t>
            </a:r>
          </a:p>
          <a:p>
            <a:pPr marL="1085850" lvl="2" indent="-171450">
              <a:buFont typeface="Arial" pitchFamily="34" charset="0"/>
              <a:buChar char="•"/>
            </a:pPr>
            <a:r>
              <a:rPr lang="en-AU" sz="1200" kern="1200" dirty="0" smtClean="0">
                <a:solidFill>
                  <a:schemeClr val="tx1"/>
                </a:solidFill>
                <a:ea typeface="+mn-ea"/>
                <a:cs typeface="+mn-cs"/>
              </a:rPr>
              <a:t>Noting everyone who enters the workplace </a:t>
            </a:r>
          </a:p>
          <a:p>
            <a:pPr marL="628650" lvl="1" indent="-171450">
              <a:buFont typeface="Arial" pitchFamily="34" charset="0"/>
              <a:buChar char="•"/>
            </a:pPr>
            <a:r>
              <a:rPr lang="en-AU" sz="1200" kern="1200" dirty="0" smtClean="0">
                <a:solidFill>
                  <a:schemeClr val="tx1"/>
                </a:solidFill>
                <a:ea typeface="+mn-ea"/>
                <a:cs typeface="+mn-cs"/>
              </a:rPr>
              <a:t>Making personal contact with all people who enter the premises – in terms of:</a:t>
            </a:r>
          </a:p>
          <a:p>
            <a:pPr marL="1085850" lvl="2" indent="-171450">
              <a:buFont typeface="Arial" pitchFamily="34" charset="0"/>
              <a:buChar char="•"/>
            </a:pPr>
            <a:r>
              <a:rPr lang="en-AU" sz="1200" kern="1200" dirty="0" smtClean="0">
                <a:solidFill>
                  <a:schemeClr val="tx1"/>
                </a:solidFill>
                <a:ea typeface="+mn-ea"/>
                <a:cs typeface="+mn-cs"/>
              </a:rPr>
              <a:t>Welcoming and greeting them</a:t>
            </a:r>
          </a:p>
          <a:p>
            <a:pPr marL="1085850" lvl="2" indent="-171450">
              <a:buFont typeface="Arial" pitchFamily="34" charset="0"/>
              <a:buChar char="•"/>
            </a:pPr>
            <a:r>
              <a:rPr lang="en-AU" sz="1200" kern="1200" dirty="0" smtClean="0">
                <a:solidFill>
                  <a:schemeClr val="tx1"/>
                </a:solidFill>
                <a:ea typeface="+mn-ea"/>
                <a:cs typeface="+mn-cs"/>
              </a:rPr>
              <a:t>Making an offer of assistance</a:t>
            </a:r>
          </a:p>
          <a:p>
            <a:pPr marL="1085850" lvl="2" indent="-171450">
              <a:buFont typeface="Arial" pitchFamily="34" charset="0"/>
              <a:buChar char="•"/>
            </a:pPr>
            <a:r>
              <a:rPr lang="en-AU" sz="1200" kern="1200" dirty="0" smtClean="0">
                <a:solidFill>
                  <a:schemeClr val="tx1"/>
                </a:solidFill>
                <a:ea typeface="+mn-ea"/>
                <a:cs typeface="+mn-cs"/>
              </a:rPr>
              <a:t>Demonstrating to them you know they are in the business</a:t>
            </a:r>
          </a:p>
          <a:p>
            <a:pPr marL="1085850" lvl="2" indent="-171450">
              <a:buFont typeface="Arial" pitchFamily="34" charset="0"/>
              <a:buChar char="•"/>
            </a:pPr>
            <a:r>
              <a:rPr lang="en-AU" sz="1200" kern="1200" dirty="0" smtClean="0">
                <a:solidFill>
                  <a:schemeClr val="tx1"/>
                </a:solidFill>
                <a:ea typeface="+mn-ea"/>
                <a:cs typeface="+mn-cs"/>
              </a:rPr>
              <a:t>Providing excellent customer service.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 xmlns:p14="http://schemas.microsoft.com/office/powerpoint/2010/main" val="307895871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gives examples of unusual </a:t>
            </a:r>
            <a:r>
              <a:rPr lang="en-AU" sz="1200" kern="1200" dirty="0" smtClean="0">
                <a:solidFill>
                  <a:schemeClr val="tx1"/>
                </a:solidFill>
                <a:ea typeface="+mn-ea"/>
                <a:cs typeface="+mn-cs"/>
              </a:rPr>
              <a:t>or suspicious situations:</a:t>
            </a:r>
          </a:p>
          <a:p>
            <a:pPr marL="171450" indent="-171450">
              <a:buFont typeface="Arial" pitchFamily="34" charset="0"/>
              <a:buChar char="•"/>
            </a:pPr>
            <a:r>
              <a:rPr lang="en-AU" sz="1200" kern="1200" dirty="0" smtClean="0">
                <a:solidFill>
                  <a:schemeClr val="tx1"/>
                </a:solidFill>
                <a:ea typeface="+mn-ea"/>
                <a:cs typeface="+mn-cs"/>
              </a:rPr>
              <a:t>The presence of people where they should not be – such as in restricted or back-of-house areas</a:t>
            </a:r>
          </a:p>
          <a:p>
            <a:pPr marL="171450" indent="-171450">
              <a:buFont typeface="Arial" pitchFamily="34" charset="0"/>
              <a:buChar char="•"/>
            </a:pPr>
            <a:r>
              <a:rPr lang="en-AU" sz="1200" kern="1200" dirty="0" smtClean="0">
                <a:solidFill>
                  <a:schemeClr val="tx1"/>
                </a:solidFill>
                <a:ea typeface="+mn-ea"/>
                <a:cs typeface="+mn-cs"/>
              </a:rPr>
              <a:t>Drivers of delivery vehicles who get nervous when you say a vehicle search will be conducted of their vehicle before it is allowed to leave the business</a:t>
            </a:r>
          </a:p>
          <a:p>
            <a:pPr marL="171450" indent="-171450">
              <a:buFont typeface="Arial" pitchFamily="34" charset="0"/>
              <a:buChar char="•"/>
            </a:pPr>
            <a:r>
              <a:rPr lang="en-AU" sz="1200" kern="1200" dirty="0" smtClean="0">
                <a:solidFill>
                  <a:schemeClr val="tx1"/>
                </a:solidFill>
                <a:ea typeface="+mn-ea"/>
                <a:cs typeface="+mn-cs"/>
              </a:rPr>
              <a:t>Any person who has difficulty providing proof of identify or is annoyed at having to provide it when asked to do so</a:t>
            </a:r>
          </a:p>
          <a:p>
            <a:pPr marL="171450" indent="-171450">
              <a:buFont typeface="Arial" pitchFamily="34" charset="0"/>
              <a:buChar char="•"/>
            </a:pPr>
            <a:r>
              <a:rPr lang="en-AU" sz="1200" kern="1200" dirty="0" smtClean="0">
                <a:solidFill>
                  <a:schemeClr val="tx1"/>
                </a:solidFill>
                <a:ea typeface="+mn-ea"/>
                <a:cs typeface="+mn-cs"/>
              </a:rPr>
              <a:t>Workmen at the business in uniforms (or vehicles) not known to you – or attending to undertake some work/job you are unaware of</a:t>
            </a:r>
          </a:p>
          <a:p>
            <a:pPr marL="171450" indent="-171450">
              <a:buFont typeface="Arial" pitchFamily="34" charset="0"/>
              <a:buChar char="•"/>
            </a:pPr>
            <a:r>
              <a:rPr lang="en-AU" sz="1200" kern="1200" dirty="0" smtClean="0">
                <a:solidFill>
                  <a:schemeClr val="tx1"/>
                </a:solidFill>
                <a:ea typeface="+mn-ea"/>
                <a:cs typeface="+mn-cs"/>
              </a:rPr>
              <a:t>Customers who appear anxious simply when you approach them or speak to them</a:t>
            </a:r>
          </a:p>
          <a:p>
            <a:pPr marL="171450" indent="-171450">
              <a:buFont typeface="Arial" pitchFamily="34" charset="0"/>
              <a:buChar char="•"/>
            </a:pPr>
            <a:r>
              <a:rPr lang="en-AU" sz="1200" kern="1200" dirty="0" smtClean="0">
                <a:solidFill>
                  <a:schemeClr val="tx1"/>
                </a:solidFill>
                <a:ea typeface="+mn-ea"/>
                <a:cs typeface="+mn-cs"/>
              </a:rPr>
              <a:t>People who spend a long time in the one place and appear to be doing nothing but looking.</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 xmlns:p14="http://schemas.microsoft.com/office/powerpoint/2010/main" val="357904732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when </a:t>
            </a:r>
            <a:r>
              <a:rPr lang="en-AU" sz="1200" kern="1200" dirty="0" smtClean="0">
                <a:solidFill>
                  <a:schemeClr val="tx1"/>
                </a:solidFill>
                <a:ea typeface="+mn-ea"/>
                <a:cs typeface="+mn-cs"/>
              </a:rPr>
              <a:t>seeking to identify suspicious persons it is important to remember:</a:t>
            </a:r>
          </a:p>
          <a:p>
            <a:pPr marL="171450" indent="-171450">
              <a:buFont typeface="Arial" pitchFamily="34" charset="0"/>
              <a:buChar char="•"/>
            </a:pPr>
            <a:r>
              <a:rPr lang="en-AU" sz="1200" kern="1200" dirty="0" smtClean="0">
                <a:solidFill>
                  <a:schemeClr val="tx1"/>
                </a:solidFill>
                <a:ea typeface="+mn-ea"/>
                <a:cs typeface="+mn-cs"/>
              </a:rPr>
              <a:t>There is no one single profile for a suspicious person – anyone can be a thief</a:t>
            </a:r>
          </a:p>
          <a:p>
            <a:pPr marL="171450" indent="-171450">
              <a:buFont typeface="Arial" pitchFamily="34" charset="0"/>
              <a:buChar char="•"/>
            </a:pPr>
            <a:r>
              <a:rPr lang="en-AU" sz="1200" kern="1200" dirty="0" smtClean="0">
                <a:solidFill>
                  <a:schemeClr val="tx1"/>
                </a:solidFill>
                <a:ea typeface="+mn-ea"/>
                <a:cs typeface="+mn-cs"/>
              </a:rPr>
              <a:t>Always report anyone you believe to be suspicious to your supervisor or nominated person – and allow them to determine what action should be taken: never put yourself in harm’s way</a:t>
            </a:r>
          </a:p>
          <a:p>
            <a:pPr marL="171450" indent="-171450">
              <a:buFont typeface="Arial" pitchFamily="34" charset="0"/>
              <a:buChar char="•"/>
            </a:pPr>
            <a:r>
              <a:rPr lang="en-AU" sz="1200" kern="1200" dirty="0" smtClean="0">
                <a:solidFill>
                  <a:schemeClr val="tx1"/>
                </a:solidFill>
                <a:ea typeface="+mn-ea"/>
                <a:cs typeface="+mn-cs"/>
              </a:rPr>
              <a:t>Experienced thieves always have a plausible story for why they are in an area they should not be – and why they are doing things they should not be doing: maintain your scepticism about their story until you can confirm the truth.</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Security Guard to attend and talk to students about monitoring/observing customers to identify suspicious persons/circumstances and give advice of things to look for and provide advice about action to take in response.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 xmlns:p14="http://schemas.microsoft.com/office/powerpoint/2010/main" val="35482267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highlights taking action means </a:t>
            </a:r>
            <a:r>
              <a:rPr lang="en-AU" sz="1200" b="0" kern="1200" dirty="0" smtClean="0">
                <a:solidFill>
                  <a:schemeClr val="tx1"/>
                </a:solidFill>
                <a:ea typeface="+mn-ea"/>
                <a:cs typeface="+mn-cs"/>
              </a:rPr>
              <a:t>following internal policy and procedures and it is </a:t>
            </a:r>
            <a:r>
              <a:rPr lang="en-AU" sz="1200" kern="1200" dirty="0" smtClean="0">
                <a:solidFill>
                  <a:schemeClr val="tx1"/>
                </a:solidFill>
                <a:ea typeface="+mn-ea"/>
                <a:cs typeface="+mn-cs"/>
              </a:rPr>
              <a:t>vital to follow the directions given in internal policy and procedures:</a:t>
            </a:r>
          </a:p>
          <a:p>
            <a:pPr marL="171450" indent="-171450">
              <a:buFont typeface="Arial" pitchFamily="34" charset="0"/>
              <a:buChar char="•"/>
            </a:pPr>
            <a:r>
              <a:rPr lang="en-AU" sz="1200" kern="1200" dirty="0" smtClean="0">
                <a:solidFill>
                  <a:schemeClr val="tx1"/>
                </a:solidFill>
                <a:ea typeface="+mn-ea"/>
                <a:cs typeface="+mn-cs"/>
              </a:rPr>
              <a:t>In general terms, you should attempt to </a:t>
            </a:r>
            <a:r>
              <a:rPr lang="en-AU" sz="1200" i="1" kern="1200" dirty="0" smtClean="0">
                <a:solidFill>
                  <a:schemeClr val="tx1"/>
                </a:solidFill>
                <a:ea typeface="+mn-ea"/>
                <a:cs typeface="+mn-cs"/>
              </a:rPr>
              <a:t>prevent</a:t>
            </a:r>
            <a:r>
              <a:rPr lang="en-AU" sz="1200" kern="1200" dirty="0" smtClean="0">
                <a:solidFill>
                  <a:schemeClr val="tx1"/>
                </a:solidFill>
                <a:ea typeface="+mn-ea"/>
                <a:cs typeface="+mn-cs"/>
              </a:rPr>
              <a:t> (deter) shoplifting occurring in the first place, as opposed to watching/letting it happen and </a:t>
            </a:r>
            <a:r>
              <a:rPr lang="en-AU" sz="1200" i="1" kern="1200" dirty="0" smtClean="0">
                <a:solidFill>
                  <a:schemeClr val="tx1"/>
                </a:solidFill>
                <a:ea typeface="+mn-ea"/>
                <a:cs typeface="+mn-cs"/>
              </a:rPr>
              <a:t>then</a:t>
            </a:r>
            <a:r>
              <a:rPr lang="en-AU" sz="1200" kern="1200" dirty="0" smtClean="0">
                <a:solidFill>
                  <a:schemeClr val="tx1"/>
                </a:solidFill>
                <a:ea typeface="+mn-ea"/>
                <a:cs typeface="+mn-cs"/>
              </a:rPr>
              <a:t> trying to do something about it.</a:t>
            </a:r>
          </a:p>
          <a:p>
            <a:pPr marL="171450" indent="-171450">
              <a:buFont typeface="Arial" pitchFamily="34" charset="0"/>
              <a:buChar char="•"/>
            </a:pPr>
            <a:r>
              <a:rPr lang="en-AU" sz="1200" kern="1200" dirty="0" smtClean="0">
                <a:solidFill>
                  <a:schemeClr val="tx1"/>
                </a:solidFill>
                <a:ea typeface="+mn-ea"/>
                <a:cs typeface="+mn-cs"/>
              </a:rPr>
              <a:t>In practice this means implementing the requirements of the established plans and procedures for theft minimisation such as:</a:t>
            </a:r>
          </a:p>
          <a:p>
            <a:pPr marL="628650" lvl="1" indent="-171450">
              <a:buFont typeface="Arial" pitchFamily="34" charset="0"/>
              <a:buChar char="•"/>
            </a:pPr>
            <a:r>
              <a:rPr lang="en-AU" sz="1200" kern="1200" dirty="0" smtClean="0">
                <a:solidFill>
                  <a:schemeClr val="tx1"/>
                </a:solidFill>
                <a:ea typeface="+mn-ea"/>
                <a:cs typeface="+mn-cs"/>
              </a:rPr>
              <a:t>Ensuring security systems and anti-theft devices are fully functional</a:t>
            </a:r>
          </a:p>
          <a:p>
            <a:pPr marL="628650" lvl="1" indent="-171450">
              <a:buFont typeface="Arial" pitchFamily="34" charset="0"/>
              <a:buChar char="•"/>
            </a:pPr>
            <a:r>
              <a:rPr lang="en-AU" sz="1200" kern="1200" dirty="0" smtClean="0">
                <a:solidFill>
                  <a:schemeClr val="tx1"/>
                </a:solidFill>
                <a:ea typeface="+mn-ea"/>
                <a:cs typeface="+mn-cs"/>
              </a:rPr>
              <a:t>Providing high levels of customer service</a:t>
            </a:r>
          </a:p>
          <a:p>
            <a:pPr marL="628650" lvl="1" indent="-171450">
              <a:buFont typeface="Arial" pitchFamily="34" charset="0"/>
              <a:buChar char="•"/>
            </a:pPr>
            <a:r>
              <a:rPr lang="en-AU" sz="1200" kern="1200" dirty="0" smtClean="0">
                <a:solidFill>
                  <a:schemeClr val="tx1"/>
                </a:solidFill>
                <a:ea typeface="+mn-ea"/>
                <a:cs typeface="+mn-cs"/>
              </a:rPr>
              <a:t>Checking all goods are secured in accordance with SOPs</a:t>
            </a:r>
          </a:p>
          <a:p>
            <a:pPr marL="628650" lvl="1" indent="-171450">
              <a:buFont typeface="Arial" pitchFamily="34" charset="0"/>
              <a:buChar char="•"/>
            </a:pPr>
            <a:r>
              <a:rPr lang="en-AU" sz="1200" kern="1200" dirty="0" smtClean="0">
                <a:solidFill>
                  <a:schemeClr val="tx1"/>
                </a:solidFill>
                <a:ea typeface="+mn-ea"/>
                <a:cs typeface="+mn-cs"/>
              </a:rPr>
              <a:t>Monitoring activities to identify suspicious behaviour or suspicious circumstances.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 xmlns:p14="http://schemas.microsoft.com/office/powerpoint/2010/main" val="407303475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points to consider in relation to ‘taking action’:</a:t>
            </a:r>
          </a:p>
          <a:p>
            <a:pPr marL="171450" indent="-171450">
              <a:buFont typeface="Arial" pitchFamily="34" charset="0"/>
              <a:buChar char="•"/>
            </a:pPr>
            <a:r>
              <a:rPr lang="en-AU" sz="1200" kern="1200" dirty="0" smtClean="0">
                <a:solidFill>
                  <a:schemeClr val="tx1"/>
                </a:solidFill>
                <a:ea typeface="+mn-ea"/>
                <a:cs typeface="+mn-cs"/>
              </a:rPr>
              <a:t>Identify in advance what your exact response will be when you </a:t>
            </a:r>
            <a:r>
              <a:rPr lang="en-AU" sz="1200" i="1" kern="1200" dirty="0" smtClean="0">
                <a:solidFill>
                  <a:schemeClr val="tx1"/>
                </a:solidFill>
                <a:ea typeface="+mn-ea"/>
                <a:cs typeface="+mn-cs"/>
              </a:rPr>
              <a:t>suspect</a:t>
            </a:r>
            <a:r>
              <a:rPr lang="en-AU" sz="1200" kern="1200" dirty="0" smtClean="0">
                <a:solidFill>
                  <a:schemeClr val="tx1"/>
                </a:solidFill>
                <a:ea typeface="+mn-ea"/>
                <a:cs typeface="+mn-cs"/>
              </a:rPr>
              <a:t> someone has stolen an item – this takes the pressure off you when such a situation actually eventuates</a:t>
            </a:r>
          </a:p>
          <a:p>
            <a:pPr marL="171450" indent="-171450">
              <a:buFont typeface="Arial" pitchFamily="34" charset="0"/>
              <a:buChar char="•"/>
            </a:pPr>
            <a:r>
              <a:rPr lang="en-AU" sz="1200" kern="1200" dirty="0" smtClean="0">
                <a:solidFill>
                  <a:schemeClr val="tx1"/>
                </a:solidFill>
                <a:ea typeface="+mn-ea"/>
                <a:cs typeface="+mn-cs"/>
              </a:rPr>
              <a:t>Identify in advance what your exact response will be when you </a:t>
            </a:r>
            <a:r>
              <a:rPr lang="en-AU" sz="1200" i="1" kern="1200" dirty="0" smtClean="0">
                <a:solidFill>
                  <a:schemeClr val="tx1"/>
                </a:solidFill>
                <a:ea typeface="+mn-ea"/>
                <a:cs typeface="+mn-cs"/>
              </a:rPr>
              <a:t>know without any shadow of a doubt</a:t>
            </a:r>
            <a:r>
              <a:rPr lang="en-AU" sz="1200" kern="1200" dirty="0" smtClean="0">
                <a:solidFill>
                  <a:schemeClr val="tx1"/>
                </a:solidFill>
                <a:ea typeface="+mn-ea"/>
                <a:cs typeface="+mn-cs"/>
              </a:rPr>
              <a:t> someone has stolen an item</a:t>
            </a:r>
          </a:p>
          <a:p>
            <a:pPr marL="171450" indent="-171450">
              <a:buFont typeface="Arial" pitchFamily="34" charset="0"/>
              <a:buChar char="•"/>
            </a:pPr>
            <a:r>
              <a:rPr lang="en-AU" sz="1200" kern="1200" dirty="0" smtClean="0">
                <a:solidFill>
                  <a:schemeClr val="tx1"/>
                </a:solidFill>
                <a:ea typeface="+mn-ea"/>
                <a:cs typeface="+mn-cs"/>
              </a:rPr>
              <a:t>Realise you must be prepared to defend in a court of law any observations or opinions you form, or state, in relation to a shoplifting/stealing incident – bear in mind people are considered innocent until they are proven guilty</a:t>
            </a:r>
          </a:p>
          <a:p>
            <a:pPr marL="171450" indent="-171450">
              <a:buFont typeface="Arial" pitchFamily="34" charset="0"/>
              <a:buChar char="•"/>
            </a:pPr>
            <a:r>
              <a:rPr lang="en-AU" sz="1200" kern="1200" dirty="0" smtClean="0">
                <a:solidFill>
                  <a:schemeClr val="tx1"/>
                </a:solidFill>
                <a:ea typeface="+mn-ea"/>
                <a:cs typeface="+mn-cs"/>
              </a:rPr>
              <a:t>People who are wrongly accused or wrongly apprehended have legal recourse and may sue you.</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 xmlns:p14="http://schemas.microsoft.com/office/powerpoint/2010/main" val="199182597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standard </a:t>
            </a:r>
            <a:r>
              <a:rPr lang="en-AU" sz="1200" kern="1200" dirty="0" smtClean="0">
                <a:solidFill>
                  <a:schemeClr val="tx1"/>
                </a:solidFill>
                <a:ea typeface="+mn-ea"/>
                <a:cs typeface="+mn-cs"/>
              </a:rPr>
              <a:t>practice is to notify a nominated person (or organisation) about beliefs or suspicions in relation to theft. This may mean:</a:t>
            </a:r>
          </a:p>
          <a:p>
            <a:pPr marL="171450" indent="-171450">
              <a:buFont typeface="Arial" pitchFamily="34" charset="0"/>
              <a:buChar char="•"/>
            </a:pPr>
            <a:r>
              <a:rPr lang="en-AU" sz="1200" kern="1200" dirty="0" smtClean="0">
                <a:solidFill>
                  <a:schemeClr val="tx1"/>
                </a:solidFill>
                <a:ea typeface="+mn-ea"/>
                <a:cs typeface="+mn-cs"/>
              </a:rPr>
              <a:t>Contacting your supervisors and telling them what you have seen or what you suspect</a:t>
            </a:r>
          </a:p>
          <a:p>
            <a:pPr marL="171450" indent="-171450">
              <a:buFont typeface="Arial" pitchFamily="34" charset="0"/>
              <a:buChar char="•"/>
            </a:pPr>
            <a:r>
              <a:rPr lang="en-AU" sz="1200" kern="1200" dirty="0" smtClean="0">
                <a:solidFill>
                  <a:schemeClr val="tx1"/>
                </a:solidFill>
                <a:ea typeface="+mn-ea"/>
                <a:cs typeface="+mn-cs"/>
              </a:rPr>
              <a:t>Informing a more senior member of staff</a:t>
            </a:r>
          </a:p>
          <a:p>
            <a:pPr marL="171450" indent="-171450">
              <a:buFont typeface="Arial" pitchFamily="34" charset="0"/>
              <a:buChar char="•"/>
            </a:pPr>
            <a:r>
              <a:rPr lang="en-AU" sz="1200" kern="1200" dirty="0" smtClean="0">
                <a:solidFill>
                  <a:schemeClr val="tx1"/>
                </a:solidFill>
                <a:ea typeface="+mn-ea"/>
                <a:cs typeface="+mn-cs"/>
              </a:rPr>
              <a:t>Talking to internal security officers</a:t>
            </a:r>
          </a:p>
          <a:p>
            <a:pPr marL="171450" indent="-171450">
              <a:buFont typeface="Arial" pitchFamily="34" charset="0"/>
              <a:buChar char="•"/>
            </a:pPr>
            <a:r>
              <a:rPr lang="en-AU" sz="1200" kern="1200" dirty="0" smtClean="0">
                <a:solidFill>
                  <a:schemeClr val="tx1"/>
                </a:solidFill>
                <a:ea typeface="+mn-ea"/>
                <a:cs typeface="+mn-cs"/>
              </a:rPr>
              <a:t>Calling the police – only if authorised to do so by internal protocols</a:t>
            </a:r>
          </a:p>
          <a:p>
            <a:pPr marL="171450" indent="-171450">
              <a:buFont typeface="Arial" pitchFamily="34" charset="0"/>
              <a:buChar char="•"/>
            </a:pPr>
            <a:r>
              <a:rPr lang="en-AU" sz="1200" kern="1200" dirty="0" smtClean="0">
                <a:solidFill>
                  <a:schemeClr val="tx1"/>
                </a:solidFill>
                <a:ea typeface="+mn-ea"/>
                <a:cs typeface="+mn-cs"/>
              </a:rPr>
              <a:t>Placing a call to the security company what provide security for the business.</a:t>
            </a:r>
          </a:p>
          <a:p>
            <a:r>
              <a:rPr lang="en-AU" sz="1200" kern="1200" dirty="0" smtClean="0">
                <a:solidFill>
                  <a:schemeClr val="tx1"/>
                </a:solidFill>
                <a:ea typeface="+mn-ea"/>
                <a:cs typeface="+mn-cs"/>
              </a:rPr>
              <a:t>It is important you have practiced doing this so you are competent in doing it when/if the need to do so arises.</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a:t>
            </a:r>
            <a:r>
              <a:rPr lang="en-US" b="0" baseline="0" dirty="0" smtClean="0"/>
              <a:t> for local police to attend and discuss and demonstrate appropriate action to take where theft is suspected or identified as having occurred.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 xmlns:p14="http://schemas.microsoft.com/office/powerpoint/2010/main" val="17554577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strategy for intervening to limit loss and deal with shoplifting highlighting:</a:t>
            </a:r>
          </a:p>
          <a:p>
            <a:pPr marL="171450" indent="-171450">
              <a:buFont typeface="Arial" pitchFamily="34" charset="0"/>
              <a:buChar char="•"/>
            </a:pPr>
            <a:r>
              <a:rPr lang="en-US" dirty="0" smtClean="0"/>
              <a:t>Need to feel comfortable</a:t>
            </a:r>
            <a:r>
              <a:rPr lang="en-US" baseline="0" dirty="0" smtClean="0"/>
              <a:t> intervening/taking action</a:t>
            </a:r>
          </a:p>
          <a:p>
            <a:pPr marL="171450" indent="-171450">
              <a:buFont typeface="Arial" pitchFamily="34" charset="0"/>
              <a:buChar char="•"/>
            </a:pPr>
            <a:r>
              <a:rPr lang="en-US" baseline="0" dirty="0" smtClean="0"/>
              <a:t>Never jeopardise personal safety</a:t>
            </a:r>
          </a:p>
          <a:p>
            <a:pPr marL="171450" indent="-171450">
              <a:buFont typeface="Arial" pitchFamily="34" charset="0"/>
              <a:buChar char="•"/>
            </a:pPr>
            <a:r>
              <a:rPr lang="en-US" baseline="0" dirty="0" smtClean="0"/>
              <a:t>Adhere to internal protocols for such situations</a:t>
            </a:r>
          </a:p>
          <a:p>
            <a:pPr marL="171450" indent="-171450">
              <a:buFont typeface="Arial" pitchFamily="34" charset="0"/>
              <a:buChar char="•"/>
            </a:pPr>
            <a:r>
              <a:rPr lang="en-US" baseline="0" dirty="0" smtClean="0"/>
              <a:t>Make sure practice has been undertaken before taking action</a:t>
            </a:r>
          </a:p>
          <a:p>
            <a:pPr marL="171450" indent="-171450">
              <a:buFont typeface="Arial" pitchFamily="34" charset="0"/>
              <a:buChar char="•"/>
            </a:pPr>
            <a:r>
              <a:rPr lang="en-US" baseline="0" dirty="0" smtClean="0"/>
              <a:t>Advise others so they can monitor you and help if needed</a:t>
            </a:r>
            <a:r>
              <a:rPr lang="en-US" dirty="0" smtClean="0"/>
              <a:t>.</a:t>
            </a:r>
          </a:p>
          <a:p>
            <a:pPr>
              <a:buFont typeface="Arial" pitchFamily="34" charset="0"/>
              <a:buNone/>
            </a:pPr>
            <a:endParaRPr lang="en-US" dirty="0" smtClean="0"/>
          </a:p>
          <a:p>
            <a:pPr>
              <a:buFont typeface="Arial" pitchFamily="34" charset="0"/>
              <a:buNone/>
            </a:pPr>
            <a:r>
              <a:rPr lang="en-US" b="1" dirty="0" smtClean="0"/>
              <a:t>Class Activity – Demonstration and Role Play</a:t>
            </a:r>
          </a:p>
          <a:p>
            <a:pPr>
              <a:buFont typeface="Arial" pitchFamily="34" charset="0"/>
              <a:buNone/>
            </a:pPr>
            <a:r>
              <a:rPr lang="en-US" b="0" dirty="0" smtClean="0"/>
              <a:t>Trainer uses strategy described in Trainee Manual to demonstrate how to address situation where staff know customer has taken an item, and provides opportunity for students to practice same.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 xmlns:p14="http://schemas.microsoft.com/office/powerpoint/2010/main" val="316122387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presenting a physical presence as a response to a suspicious situation stating  it </a:t>
            </a:r>
            <a:r>
              <a:rPr lang="en-AU" sz="1200" kern="1200" dirty="0" smtClean="0">
                <a:solidFill>
                  <a:schemeClr val="tx1"/>
                </a:solidFill>
                <a:ea typeface="+mn-ea"/>
                <a:cs typeface="+mn-cs"/>
              </a:rPr>
              <a:t>requires moving near to where the suspected thief is and make them aware someone is there.</a:t>
            </a:r>
          </a:p>
          <a:p>
            <a:pPr marL="171450" indent="-171450">
              <a:buFont typeface="Arial" pitchFamily="34" charset="0"/>
              <a:buChar char="•"/>
            </a:pPr>
            <a:r>
              <a:rPr lang="en-AU" sz="1200" kern="1200" dirty="0" smtClean="0">
                <a:solidFill>
                  <a:schemeClr val="tx1"/>
                </a:solidFill>
                <a:ea typeface="+mn-ea"/>
                <a:cs typeface="+mn-cs"/>
              </a:rPr>
              <a:t>The intention is to scare them off, and/or to hope a presence prevents a theft from taking place.</a:t>
            </a:r>
          </a:p>
          <a:p>
            <a:pPr marL="171450" indent="-171450">
              <a:buFont typeface="Arial" pitchFamily="34" charset="0"/>
              <a:buChar char="•"/>
            </a:pPr>
            <a:r>
              <a:rPr lang="en-AU" sz="1200" kern="1200" dirty="0" smtClean="0">
                <a:solidFill>
                  <a:schemeClr val="tx1"/>
                </a:solidFill>
                <a:ea typeface="+mn-ea"/>
                <a:cs typeface="+mn-cs"/>
              </a:rPr>
              <a:t>Only do this where safe to do so.</a:t>
            </a:r>
          </a:p>
          <a:p>
            <a:pPr marL="171450" indent="-171450">
              <a:buFont typeface="Arial" pitchFamily="34" charset="0"/>
              <a:buChar char="•"/>
            </a:pPr>
            <a:r>
              <a:rPr lang="en-AU" sz="1200" kern="1200" dirty="0" smtClean="0">
                <a:solidFill>
                  <a:schemeClr val="tx1"/>
                </a:solidFill>
                <a:ea typeface="+mn-ea"/>
                <a:cs typeface="+mn-cs"/>
              </a:rPr>
              <a:t>Always advise other staff of intention to do this and always make sure support is available if needed.</a:t>
            </a:r>
          </a:p>
          <a:p>
            <a:pPr marL="171450" indent="-171450">
              <a:buFont typeface="Arial" pitchFamily="34" charset="0"/>
              <a:buChar char="•"/>
            </a:pPr>
            <a:r>
              <a:rPr lang="en-AU" sz="1200" kern="1200" dirty="0" smtClean="0">
                <a:solidFill>
                  <a:schemeClr val="tx1"/>
                </a:solidFill>
                <a:ea typeface="+mn-ea"/>
                <a:cs typeface="+mn-cs"/>
              </a:rPr>
              <a:t>It is preferable for more than one person to provide a ‘physical presence’ as they are more of a deterrent value (i.e., ‘show of force/numbers’).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 xmlns:p14="http://schemas.microsoft.com/office/powerpoint/2010/main" val="376559433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need to capture evidence</a:t>
            </a:r>
          </a:p>
          <a:p>
            <a:pPr marL="171450" indent="-171450">
              <a:buFont typeface="Arial" pitchFamily="34" charset="0"/>
              <a:buChar char="•"/>
            </a:pPr>
            <a:r>
              <a:rPr lang="en-AU" sz="1200" kern="1200" dirty="0" smtClean="0">
                <a:solidFill>
                  <a:schemeClr val="tx1"/>
                </a:solidFill>
                <a:ea typeface="+mn-ea"/>
                <a:cs typeface="+mn-cs"/>
              </a:rPr>
              <a:t>When you suspect a theft has occurred you should attempt to obtain evidence in relation to what has happened.</a:t>
            </a:r>
          </a:p>
          <a:p>
            <a:pPr marL="171450" indent="-171450">
              <a:buFont typeface="Arial" pitchFamily="34" charset="0"/>
              <a:buChar char="•"/>
            </a:pPr>
            <a:r>
              <a:rPr lang="en-AU" sz="1200" kern="1200" dirty="0" smtClean="0">
                <a:solidFill>
                  <a:schemeClr val="tx1"/>
                </a:solidFill>
                <a:ea typeface="+mn-ea"/>
                <a:cs typeface="+mn-cs"/>
              </a:rPr>
              <a:t>This will not always be possible but you must be alert to the potential to do so.</a:t>
            </a:r>
          </a:p>
          <a:p>
            <a:pPr marL="171450" indent="-171450">
              <a:buFont typeface="Arial" pitchFamily="34" charset="0"/>
              <a:buChar char="•"/>
            </a:pPr>
            <a:r>
              <a:rPr lang="en-AU" sz="1200" kern="1200" dirty="0" smtClean="0">
                <a:solidFill>
                  <a:schemeClr val="tx1"/>
                </a:solidFill>
                <a:ea typeface="+mn-ea"/>
                <a:cs typeface="+mn-cs"/>
              </a:rPr>
              <a:t>Capturing evidence may involve you in:</a:t>
            </a:r>
          </a:p>
          <a:p>
            <a:pPr marL="171450" indent="-171450">
              <a:buFont typeface="Arial" pitchFamily="34" charset="0"/>
              <a:buChar char="•"/>
            </a:pPr>
            <a:r>
              <a:rPr lang="en-AU" sz="1200" kern="1200" dirty="0" smtClean="0">
                <a:solidFill>
                  <a:schemeClr val="tx1"/>
                </a:solidFill>
                <a:ea typeface="+mn-ea"/>
                <a:cs typeface="+mn-cs"/>
              </a:rPr>
              <a:t>Activating security cameras</a:t>
            </a:r>
          </a:p>
          <a:p>
            <a:pPr marL="171450" indent="-171450">
              <a:buFont typeface="Arial" pitchFamily="34" charset="0"/>
              <a:buChar char="•"/>
            </a:pPr>
            <a:r>
              <a:rPr lang="en-AU" sz="1200" kern="1200" dirty="0" smtClean="0">
                <a:solidFill>
                  <a:schemeClr val="tx1"/>
                </a:solidFill>
                <a:ea typeface="+mn-ea"/>
                <a:cs typeface="+mn-cs"/>
              </a:rPr>
              <a:t>Memorising facts and noting details</a:t>
            </a:r>
          </a:p>
          <a:p>
            <a:pPr marL="171450" indent="-171450">
              <a:buFont typeface="Arial" pitchFamily="34" charset="0"/>
              <a:buChar char="•"/>
            </a:pPr>
            <a:r>
              <a:rPr lang="en-AU" sz="1200" kern="1200" dirty="0" smtClean="0">
                <a:solidFill>
                  <a:schemeClr val="tx1"/>
                </a:solidFill>
                <a:ea typeface="+mn-ea"/>
                <a:cs typeface="+mn-cs"/>
              </a:rPr>
              <a:t>Recording notes about what you saw</a:t>
            </a:r>
          </a:p>
          <a:p>
            <a:pPr marL="171450" indent="-171450">
              <a:buFont typeface="Arial" pitchFamily="34" charset="0"/>
              <a:buChar char="•"/>
            </a:pPr>
            <a:r>
              <a:rPr lang="en-AU" sz="1200" kern="1200" dirty="0" smtClean="0">
                <a:solidFill>
                  <a:schemeClr val="tx1"/>
                </a:solidFill>
                <a:ea typeface="+mn-ea"/>
                <a:cs typeface="+mn-cs"/>
              </a:rPr>
              <a:t>Taking photographs or footage with your cell phone</a:t>
            </a:r>
          </a:p>
          <a:p>
            <a:pPr marL="171450" indent="-171450">
              <a:buFont typeface="Arial" pitchFamily="34" charset="0"/>
              <a:buChar char="•"/>
            </a:pPr>
            <a:r>
              <a:rPr lang="en-AU" sz="1200" kern="1200" dirty="0" smtClean="0">
                <a:solidFill>
                  <a:schemeClr val="tx1"/>
                </a:solidFill>
                <a:ea typeface="+mn-ea"/>
                <a:cs typeface="+mn-cs"/>
              </a:rPr>
              <a:t>Identifying other witnesses who can also provide evidence.</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 xmlns:p14="http://schemas.microsoft.com/office/powerpoint/2010/main" val="380104043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conducting bag searches:</a:t>
            </a:r>
          </a:p>
          <a:p>
            <a:pPr marL="171450" indent="-171450">
              <a:buFont typeface="Arial" pitchFamily="34" charset="0"/>
              <a:buChar char="•"/>
            </a:pPr>
            <a:r>
              <a:rPr lang="en-AU" sz="1200" kern="1200" dirty="0" smtClean="0">
                <a:solidFill>
                  <a:schemeClr val="tx1"/>
                </a:solidFill>
                <a:ea typeface="+mn-ea"/>
                <a:cs typeface="+mn-cs"/>
              </a:rPr>
              <a:t>Some businesses undertake them and some do not. Check what applies where you work and adhere to what they say. </a:t>
            </a:r>
          </a:p>
          <a:p>
            <a:pPr marL="171450" indent="-171450">
              <a:buFont typeface="Arial" pitchFamily="34" charset="0"/>
              <a:buChar char="•"/>
            </a:pPr>
            <a:r>
              <a:rPr lang="en-AU" sz="1200" kern="1200" dirty="0" smtClean="0">
                <a:solidFill>
                  <a:schemeClr val="tx1"/>
                </a:solidFill>
                <a:ea typeface="+mn-ea"/>
                <a:cs typeface="+mn-cs"/>
              </a:rPr>
              <a:t>Where they are used the business (may) seek to check customers’ bags as they leave the business in order to deter and detect theft.</a:t>
            </a:r>
          </a:p>
          <a:p>
            <a:pPr marL="171450" indent="-171450">
              <a:buFont typeface="Arial" pitchFamily="34" charset="0"/>
              <a:buChar char="•"/>
            </a:pPr>
            <a:r>
              <a:rPr lang="en-AU" sz="1200" kern="1200" dirty="0" smtClean="0">
                <a:solidFill>
                  <a:schemeClr val="tx1"/>
                </a:solidFill>
                <a:ea typeface="+mn-ea"/>
                <a:cs typeface="+mn-cs"/>
              </a:rPr>
              <a:t>It is important the business advises customers bag checks are conducted at the site when they want to conduct such checks/searches. – the most common way of doing this is via a standard sign posted at or near the entrances.  </a:t>
            </a:r>
          </a:p>
          <a:p>
            <a:pPr marL="628650" lvl="1" indent="-171450">
              <a:buFont typeface="Arial" pitchFamily="34" charset="0"/>
              <a:buChar char="•"/>
            </a:pPr>
            <a:r>
              <a:rPr lang="en-AU" sz="1200" kern="1200" dirty="0" smtClean="0">
                <a:solidFill>
                  <a:schemeClr val="tx1"/>
                </a:solidFill>
                <a:ea typeface="+mn-ea"/>
                <a:cs typeface="+mn-cs"/>
              </a:rPr>
              <a:t>This sign must clearly set out the rights and obligations of both the business and the customer.</a:t>
            </a:r>
          </a:p>
          <a:p>
            <a:pPr marL="628650" lvl="1" indent="-171450">
              <a:buFont typeface="Arial" pitchFamily="34" charset="0"/>
              <a:buChar char="•"/>
            </a:pPr>
            <a:r>
              <a:rPr lang="en-AU" sz="1200" kern="1200" dirty="0" smtClean="0">
                <a:solidFill>
                  <a:schemeClr val="tx1"/>
                </a:solidFill>
                <a:ea typeface="+mn-ea"/>
                <a:cs typeface="+mn-cs"/>
              </a:rPr>
              <a:t>In general terms, most customers who walk into a business, enter ‘under licence’ meaning the owner can set conditions governing their entry.  </a:t>
            </a:r>
          </a:p>
          <a:p>
            <a:pPr marL="628650" lvl="1" indent="-171450">
              <a:buFont typeface="Arial" pitchFamily="34" charset="0"/>
              <a:buChar char="•"/>
            </a:pPr>
            <a:r>
              <a:rPr lang="en-AU" sz="1200" kern="1200" dirty="0" smtClean="0">
                <a:solidFill>
                  <a:schemeClr val="tx1"/>
                </a:solidFill>
                <a:ea typeface="+mn-ea"/>
                <a:cs typeface="+mn-cs"/>
              </a:rPr>
              <a:t>One of these conditions may be – and frequently is – customers allow their bags to be searched by staff, on request.</a:t>
            </a:r>
          </a:p>
          <a:p>
            <a:pPr marL="628650" lvl="1" indent="-171450">
              <a:buFont typeface="Arial" pitchFamily="34" charset="0"/>
              <a:buChar char="•"/>
            </a:pPr>
            <a:r>
              <a:rPr lang="en-AU" sz="1200" kern="1200" dirty="0" smtClean="0">
                <a:solidFill>
                  <a:schemeClr val="tx1"/>
                </a:solidFill>
                <a:ea typeface="+mn-ea"/>
                <a:cs typeface="+mn-cs"/>
              </a:rPr>
              <a:t>When the customer enters a business where such signage is displayed, they are automatically agreeing to the conditions. Signs should be posted in languages reflecting the languages of the customers who frequent the business.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Even though businesses may have the </a:t>
            </a:r>
            <a:r>
              <a:rPr lang="en-AU" sz="1200" i="1" kern="1200" dirty="0" smtClean="0">
                <a:solidFill>
                  <a:schemeClr val="tx1"/>
                </a:solidFill>
                <a:ea typeface="+mn-ea"/>
                <a:cs typeface="+mn-cs"/>
              </a:rPr>
              <a:t>legal</a:t>
            </a:r>
            <a:r>
              <a:rPr lang="en-AU" sz="1200" kern="1200" dirty="0" smtClean="0">
                <a:solidFill>
                  <a:schemeClr val="tx1"/>
                </a:solidFill>
                <a:ea typeface="+mn-ea"/>
                <a:cs typeface="+mn-cs"/>
              </a:rPr>
              <a:t> right to search/check customers’ bags, anyone who forcibly conducts such a check/inspection may very well find themselves being charged with assault.  </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It is standard practice for personal handbags not to be subjected to these bag checks.</a:t>
            </a:r>
          </a:p>
          <a:p>
            <a:pPr>
              <a:buFont typeface="Arial" pitchFamily="34" charset="0"/>
              <a:buNone/>
            </a:pPr>
            <a:endParaRPr lang="en-US" dirty="0" smtClean="0"/>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 xmlns:p14="http://schemas.microsoft.com/office/powerpoint/2010/main" val="342578455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discusses conducting bag searches:</a:t>
            </a:r>
          </a:p>
          <a:p>
            <a:pPr marL="171450" indent="-171450">
              <a:buFont typeface="Arial" pitchFamily="34" charset="0"/>
              <a:buChar char="•"/>
            </a:pPr>
            <a:r>
              <a:rPr lang="en-AU" sz="1200" kern="1200" dirty="0" smtClean="0">
                <a:solidFill>
                  <a:schemeClr val="tx1"/>
                </a:solidFill>
                <a:ea typeface="+mn-ea"/>
                <a:cs typeface="+mn-cs"/>
              </a:rPr>
              <a:t>As with any aspect of customer service – including aspects relating to detection of theft – courtesy is paramount: not only can it help to defuse a situation, but courtesy can encourage cooperation and help avoid subsequent legal action.</a:t>
            </a:r>
          </a:p>
          <a:p>
            <a:pPr marL="171450" indent="-171450">
              <a:buFont typeface="Arial" pitchFamily="34" charset="0"/>
              <a:buChar char="•"/>
            </a:pPr>
            <a:r>
              <a:rPr lang="en-AU" sz="1200" kern="1200" dirty="0" smtClean="0">
                <a:solidFill>
                  <a:schemeClr val="tx1"/>
                </a:solidFill>
                <a:ea typeface="+mn-ea"/>
                <a:cs typeface="+mn-cs"/>
              </a:rPr>
              <a:t>When checking the customers’ bags, customers must be asked to open their bags, to avoid any physical contact by staff with the bag or its contents. Similarly, if there is something in the bag blocking your view of what is in the bag, ask the customers to move it – do not touch it yourself. </a:t>
            </a:r>
          </a:p>
          <a:p>
            <a:pPr marL="171450" indent="-171450">
              <a:buFont typeface="Arial" pitchFamily="34" charset="0"/>
              <a:buChar char="•"/>
            </a:pPr>
            <a:r>
              <a:rPr lang="en-AU" sz="1200" kern="1200" dirty="0" smtClean="0">
                <a:solidFill>
                  <a:schemeClr val="tx1"/>
                </a:solidFill>
                <a:ea typeface="+mn-ea"/>
                <a:cs typeface="+mn-cs"/>
              </a:rPr>
              <a:t>Where you touch the bag, or the obstruction in the bag, this may provide a ready-made defence to legal action: the customer can claim you placed the item in the bag when you put your hand in the bag.</a:t>
            </a:r>
          </a:p>
          <a:p>
            <a:pPr marL="171450" indent="-171450">
              <a:buFont typeface="Arial" pitchFamily="34" charset="0"/>
              <a:buChar char="•"/>
            </a:pPr>
            <a:r>
              <a:rPr lang="en-AU" sz="1200" kern="1200" dirty="0" smtClean="0">
                <a:solidFill>
                  <a:schemeClr val="tx1"/>
                </a:solidFill>
                <a:ea typeface="+mn-ea"/>
                <a:cs typeface="+mn-cs"/>
              </a:rPr>
              <a:t>Note, too, customers can refuse to have their bags inspected, in which case there is little that can be done: remember previous advice bags must not be forcibly searched.  </a:t>
            </a:r>
          </a:p>
          <a:p>
            <a:pPr marL="171450" indent="-171450">
              <a:buFont typeface="Arial" pitchFamily="34" charset="0"/>
              <a:buChar char="•"/>
            </a:pPr>
            <a:r>
              <a:rPr lang="en-AU" sz="1200" kern="1200" dirty="0" smtClean="0">
                <a:solidFill>
                  <a:schemeClr val="tx1"/>
                </a:solidFill>
                <a:ea typeface="+mn-ea"/>
                <a:cs typeface="+mn-cs"/>
              </a:rPr>
              <a:t>Where a customer refuses your attempt to check their bag, all you can do is ask them to leave and not return (please check your organisational policy first, and comply with that where it differs from this advice).  </a:t>
            </a:r>
          </a:p>
          <a:p>
            <a:pPr marL="171450" indent="-171450">
              <a:buFont typeface="Arial" pitchFamily="34" charset="0"/>
              <a:buChar char="•"/>
            </a:pPr>
            <a:r>
              <a:rPr lang="en-AU" sz="1200" kern="1200" dirty="0" smtClean="0">
                <a:solidFill>
                  <a:schemeClr val="tx1"/>
                </a:solidFill>
                <a:ea typeface="+mn-ea"/>
                <a:cs typeface="+mn-cs"/>
              </a:rPr>
              <a:t>Never attempt to detain a customer just because they are refusing to have their bag inspected, unless you are 200% sure they have stolen something.  </a:t>
            </a:r>
          </a:p>
          <a:p>
            <a:pPr marL="171450" indent="-171450">
              <a:buFont typeface="Arial" pitchFamily="34" charset="0"/>
              <a:buChar char="•"/>
            </a:pPr>
            <a:r>
              <a:rPr lang="en-AU" sz="1200" kern="1200" dirty="0" smtClean="0">
                <a:solidFill>
                  <a:schemeClr val="tx1"/>
                </a:solidFill>
                <a:ea typeface="+mn-ea"/>
                <a:cs typeface="+mn-cs"/>
              </a:rPr>
              <a:t>Again, you can find yourself the subject of legal action if you forcibly detain someone and they have not stolen anything.</a:t>
            </a:r>
          </a:p>
          <a:p>
            <a:pPr marL="171450" indent="-171450">
              <a:buFont typeface="Arial" pitchFamily="34" charset="0"/>
              <a:buChar char="•"/>
            </a:pPr>
            <a:r>
              <a:rPr lang="en-AU" sz="1200" kern="1200" dirty="0" smtClean="0">
                <a:solidFill>
                  <a:schemeClr val="tx1"/>
                </a:solidFill>
                <a:ea typeface="+mn-ea"/>
                <a:cs typeface="+mn-cs"/>
              </a:rPr>
              <a:t>Never get into an argument with the customer, but get help as soon as possible: get security or the manager immediately, inform them of your beliefs/suspicions and let them deal with it.</a:t>
            </a:r>
          </a:p>
          <a:p>
            <a:pPr>
              <a:buFont typeface="Arial" pitchFamily="34" charset="0"/>
              <a:buNone/>
            </a:pPr>
            <a:endParaRPr lang="en-US" dirty="0" smtClean="0"/>
          </a:p>
          <a:p>
            <a:pPr>
              <a:buFont typeface="Arial" pitchFamily="34" charset="0"/>
              <a:buNone/>
            </a:pPr>
            <a:r>
              <a:rPr lang="en-US" b="1" dirty="0" smtClean="0"/>
              <a:t>Class Activity – Demonstration and Role Play</a:t>
            </a:r>
          </a:p>
          <a:p>
            <a:pPr>
              <a:buFont typeface="Arial" pitchFamily="34" charset="0"/>
              <a:buNone/>
            </a:pPr>
            <a:r>
              <a:rPr lang="en-US" b="0" dirty="0" smtClean="0"/>
              <a:t>Trainer demonstrates how to conduct a bag search and provides opportunity for students to practice same.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 xmlns:p14="http://schemas.microsoft.com/office/powerpoint/2010/main" val="120924995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apprehension of offenders:</a:t>
            </a:r>
          </a:p>
          <a:p>
            <a:pPr marL="171450" indent="-171450">
              <a:buFont typeface="Arial" pitchFamily="34" charset="0"/>
              <a:buChar char="•"/>
            </a:pPr>
            <a:r>
              <a:rPr lang="en-AU" sz="1200" kern="1200" dirty="0" smtClean="0">
                <a:solidFill>
                  <a:schemeClr val="tx1"/>
                </a:solidFill>
                <a:ea typeface="+mn-ea"/>
                <a:cs typeface="+mn-cs"/>
              </a:rPr>
              <a:t>The brief advice is – Don’t!</a:t>
            </a:r>
          </a:p>
          <a:p>
            <a:pPr marL="171450" indent="-171450">
              <a:buFont typeface="Arial" pitchFamily="34" charset="0"/>
              <a:buChar char="•"/>
            </a:pPr>
            <a:r>
              <a:rPr lang="en-AU" sz="1200" kern="1200" dirty="0" smtClean="0">
                <a:solidFill>
                  <a:schemeClr val="tx1"/>
                </a:solidFill>
                <a:ea typeface="+mn-ea"/>
                <a:cs typeface="+mn-cs"/>
              </a:rPr>
              <a:t>There are too many potential problems associated with doing so.  </a:t>
            </a:r>
          </a:p>
          <a:p>
            <a:pPr marL="171450" indent="-171450">
              <a:buFont typeface="Arial" pitchFamily="34" charset="0"/>
              <a:buChar char="•"/>
            </a:pPr>
            <a:r>
              <a:rPr lang="en-AU" sz="1200" kern="1200" dirty="0" smtClean="0">
                <a:solidFill>
                  <a:schemeClr val="tx1"/>
                </a:solidFill>
                <a:ea typeface="+mn-ea"/>
                <a:cs typeface="+mn-cs"/>
              </a:rPr>
              <a:t>Let your supervisor, security staff or the police do it. </a:t>
            </a:r>
          </a:p>
          <a:p>
            <a:pPr marL="171450" indent="-171450">
              <a:buFont typeface="Arial" pitchFamily="34" charset="0"/>
              <a:buChar char="•"/>
            </a:pPr>
            <a:r>
              <a:rPr lang="en-AU" sz="1200" kern="1200" dirty="0" smtClean="0">
                <a:solidFill>
                  <a:schemeClr val="tx1"/>
                </a:solidFill>
                <a:ea typeface="+mn-ea"/>
                <a:cs typeface="+mn-cs"/>
              </a:rPr>
              <a:t>Detaining a suspect or making a citizen’s arrest may sound fine on the television, but that is not reality.</a:t>
            </a:r>
          </a:p>
          <a:p>
            <a:pPr marL="171450" indent="-171450">
              <a:buFont typeface="Arial" pitchFamily="34" charset="0"/>
              <a:buChar char="•"/>
            </a:pPr>
            <a:r>
              <a:rPr lang="en-AU" sz="1200" kern="1200" dirty="0" smtClean="0">
                <a:solidFill>
                  <a:schemeClr val="tx1"/>
                </a:solidFill>
                <a:ea typeface="+mn-ea"/>
                <a:cs typeface="+mn-cs"/>
              </a:rPr>
              <a:t>There is too much that can go wrong from allegations of, and the potential for, physical violence and assault through to possible legal action against you.</a:t>
            </a:r>
          </a:p>
          <a:p>
            <a:pPr marL="171450" indent="-171450">
              <a:buFont typeface="Arial" pitchFamily="34" charset="0"/>
              <a:buChar char="•"/>
            </a:pPr>
            <a:r>
              <a:rPr lang="en-AU" sz="1200" kern="1200" dirty="0" smtClean="0">
                <a:solidFill>
                  <a:schemeClr val="tx1"/>
                </a:solidFill>
                <a:ea typeface="+mn-ea"/>
                <a:cs typeface="+mn-cs"/>
              </a:rPr>
              <a:t>Discuss this with your supervisor and be guided by them and specific organisational policy.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 xmlns:p14="http://schemas.microsoft.com/office/powerpoint/2010/main" val="68492321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 xmlns:p14="http://schemas.microsoft.com/office/powerpoint/2010/main" val="151284522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 xmlns:p14="http://schemas.microsoft.com/office/powerpoint/2010/main" val="327538306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 xmlns:p14="http://schemas.microsoft.com/office/powerpoint/2010/main" val="192428031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 xmlns:p14="http://schemas.microsoft.com/office/powerpoint/2010/main" val="416800902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dirty="0" smtClean="0"/>
              <a:t>What information would you provide to customers regarding their travelling/on tour activities?</a:t>
            </a:r>
          </a:p>
          <a:p>
            <a:pPr marL="171450" indent="-171450">
              <a:buFont typeface="Arial" pitchFamily="34" charset="0"/>
              <a:buChar char="•"/>
            </a:pPr>
            <a:r>
              <a:rPr lang="en-US" dirty="0" smtClean="0"/>
              <a:t>Why would you provide this information?</a:t>
            </a:r>
          </a:p>
          <a:p>
            <a:pPr marL="171450" indent="-171450">
              <a:buFont typeface="Arial" pitchFamily="34" charset="0"/>
              <a:buChar char="•"/>
            </a:pPr>
            <a:r>
              <a:rPr lang="en-US" dirty="0" smtClean="0"/>
              <a:t>When would you provider the information?</a:t>
            </a:r>
          </a:p>
          <a:p>
            <a:pPr marL="171450" indent="-171450">
              <a:buFont typeface="Arial" pitchFamily="34" charset="0"/>
              <a:buChar char="•"/>
            </a:pPr>
            <a:r>
              <a:rPr lang="en-US" dirty="0" smtClean="0"/>
              <a:t>How would you pride this advice?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 xmlns:p14="http://schemas.microsoft.com/office/powerpoint/2010/main" val="16663193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sources of information which can be used to generate information to provide to customers:</a:t>
            </a:r>
          </a:p>
          <a:p>
            <a:pPr marL="171450" indent="-171450">
              <a:buFont typeface="Arial" pitchFamily="34" charset="0"/>
              <a:buChar char="•"/>
            </a:pPr>
            <a:r>
              <a:rPr lang="en-AU" sz="1200" kern="1200" dirty="0" smtClean="0">
                <a:solidFill>
                  <a:schemeClr val="tx1"/>
                </a:solidFill>
                <a:ea typeface="+mn-ea"/>
                <a:cs typeface="+mn-cs"/>
              </a:rPr>
              <a:t>Government websites which provide travel advice and warnings to travellers – domestic and international</a:t>
            </a:r>
          </a:p>
          <a:p>
            <a:pPr marL="171450" indent="-171450">
              <a:buFont typeface="Arial" pitchFamily="34" charset="0"/>
              <a:buChar char="•"/>
            </a:pPr>
            <a:r>
              <a:rPr lang="en-AU" sz="1200" kern="1200" dirty="0" smtClean="0">
                <a:solidFill>
                  <a:schemeClr val="tx1"/>
                </a:solidFill>
                <a:ea typeface="+mn-ea"/>
                <a:cs typeface="+mn-cs"/>
              </a:rPr>
              <a:t>Staff from the workplace who have been on trips and tours and experienced first-hand what your customers are going to experience</a:t>
            </a:r>
          </a:p>
          <a:p>
            <a:pPr marL="171450" indent="-171450">
              <a:buFont typeface="Arial" pitchFamily="34" charset="0"/>
              <a:buChar char="•"/>
            </a:pPr>
            <a:r>
              <a:rPr lang="en-AU" sz="1200" kern="1200" dirty="0" smtClean="0">
                <a:solidFill>
                  <a:schemeClr val="tx1"/>
                </a:solidFill>
                <a:ea typeface="+mn-ea"/>
                <a:cs typeface="+mn-cs"/>
              </a:rPr>
              <a:t>Industry associations – especially ‘alerts’ and ‘advisories’</a:t>
            </a:r>
          </a:p>
          <a:p>
            <a:pPr marL="171450" indent="-171450">
              <a:buFont typeface="Arial" pitchFamily="34" charset="0"/>
              <a:buChar char="•"/>
            </a:pPr>
            <a:r>
              <a:rPr lang="en-AU" sz="1200" kern="1200" dirty="0" smtClean="0">
                <a:solidFill>
                  <a:schemeClr val="tx1"/>
                </a:solidFill>
                <a:ea typeface="+mn-ea"/>
                <a:cs typeface="+mn-cs"/>
              </a:rPr>
              <a:t>Industry blogs – which always seem to be able to communicate new problems, issues and scams more quickly than other mediums</a:t>
            </a:r>
          </a:p>
          <a:p>
            <a:pPr marL="171450" indent="-171450">
              <a:buFont typeface="Arial" pitchFamily="34" charset="0"/>
              <a:buChar char="•"/>
            </a:pPr>
            <a:r>
              <a:rPr lang="en-AU" sz="1200" kern="1200" dirty="0" smtClean="0">
                <a:solidFill>
                  <a:schemeClr val="tx1"/>
                </a:solidFill>
                <a:ea typeface="+mn-ea"/>
                <a:cs typeface="+mn-cs"/>
              </a:rPr>
              <a:t>Customers who have just returned from travel, trips and tours – either through:</a:t>
            </a:r>
          </a:p>
          <a:p>
            <a:pPr marL="628650" lvl="1" indent="-171450">
              <a:buFont typeface="Arial" pitchFamily="34" charset="0"/>
              <a:buChar char="•"/>
            </a:pPr>
            <a:r>
              <a:rPr lang="en-AU" sz="1200" kern="1200" dirty="0" smtClean="0">
                <a:solidFill>
                  <a:schemeClr val="tx1"/>
                </a:solidFill>
                <a:ea typeface="+mn-ea"/>
                <a:cs typeface="+mn-cs"/>
              </a:rPr>
              <a:t>Verbal feedback they provide</a:t>
            </a:r>
          </a:p>
          <a:p>
            <a:pPr marL="628650" lvl="1" indent="-171450">
              <a:buFont typeface="Arial" pitchFamily="34" charset="0"/>
              <a:buChar char="•"/>
            </a:pPr>
            <a:r>
              <a:rPr lang="en-AU" sz="1200" kern="1200" dirty="0" smtClean="0">
                <a:solidFill>
                  <a:schemeClr val="tx1"/>
                </a:solidFill>
                <a:ea typeface="+mn-ea"/>
                <a:cs typeface="+mn-cs"/>
              </a:rPr>
              <a:t>Online comments they send in to your website</a:t>
            </a:r>
          </a:p>
          <a:p>
            <a:pPr marL="628650" lvl="1" indent="-171450">
              <a:buFont typeface="Arial" pitchFamily="34" charset="0"/>
              <a:buChar char="•"/>
            </a:pPr>
            <a:r>
              <a:rPr lang="en-AU" sz="1200" kern="1200" dirty="0" smtClean="0">
                <a:solidFill>
                  <a:schemeClr val="tx1"/>
                </a:solidFill>
                <a:ea typeface="+mn-ea"/>
                <a:cs typeface="+mn-cs"/>
              </a:rPr>
              <a:t>Written comments they make.</a:t>
            </a:r>
          </a:p>
          <a:p>
            <a:pPr marL="171450" indent="-171450">
              <a:buFont typeface="Arial" pitchFamily="34" charset="0"/>
              <a:buChar char="•"/>
            </a:pPr>
            <a:r>
              <a:rPr lang="en-AU" sz="1200" kern="1200" dirty="0" smtClean="0">
                <a:solidFill>
                  <a:schemeClr val="tx1"/>
                </a:solidFill>
                <a:ea typeface="+mn-ea"/>
                <a:cs typeface="+mn-cs"/>
              </a:rPr>
              <a:t>Local police and police based at destination countries//locations.</a:t>
            </a:r>
          </a:p>
          <a:p>
            <a:pPr>
              <a:buFont typeface="Arial" pitchFamily="34" charset="0"/>
              <a:buNone/>
            </a:pPr>
            <a:endParaRPr lang="en-US" dirty="0" smtClean="0"/>
          </a:p>
          <a:p>
            <a:pPr>
              <a:buFont typeface="Arial" pitchFamily="34" charset="0"/>
              <a:buNone/>
            </a:pPr>
            <a:r>
              <a:rPr lang="en-US" b="1" dirty="0" smtClean="0"/>
              <a:t>Class Activity – Internet research activity</a:t>
            </a:r>
          </a:p>
          <a:p>
            <a:pPr>
              <a:buFont typeface="Arial" pitchFamily="34" charset="0"/>
              <a:buNone/>
            </a:pPr>
            <a:r>
              <a:rPr lang="en-US" b="0" dirty="0" smtClean="0"/>
              <a:t>Trainer provides computers</a:t>
            </a:r>
            <a:r>
              <a:rPr lang="en-US" b="0" baseline="0" dirty="0" smtClean="0"/>
              <a:t> with internet connection and provides time for students to visit relevant industry, government and public websites related to the topics relevant to source information for the provisions of advice/information to travelers.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 xmlns:p14="http://schemas.microsoft.com/office/powerpoint/2010/main" val="22695739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t>
            </a:r>
            <a:r>
              <a:rPr lang="en-AU" sz="1200" kern="1200" dirty="0" smtClean="0">
                <a:solidFill>
                  <a:schemeClr val="tx1"/>
                </a:solidFill>
                <a:ea typeface="+mn-ea"/>
                <a:cs typeface="+mn-cs"/>
              </a:rPr>
              <a:t>in general terms advice to customers should:</a:t>
            </a:r>
          </a:p>
          <a:p>
            <a:pPr marL="171450" indent="-171450">
              <a:buFont typeface="Arial" pitchFamily="34" charset="0"/>
              <a:buChar char="•"/>
            </a:pPr>
            <a:r>
              <a:rPr lang="en-AU" sz="1200" kern="1200" dirty="0" smtClean="0">
                <a:solidFill>
                  <a:schemeClr val="tx1"/>
                </a:solidFill>
                <a:ea typeface="+mn-ea"/>
                <a:cs typeface="+mn-cs"/>
              </a:rPr>
              <a:t>Warn them of known dangers in the areas they are visiting</a:t>
            </a:r>
          </a:p>
          <a:p>
            <a:pPr marL="171450" indent="-171450">
              <a:buFont typeface="Arial" pitchFamily="34" charset="0"/>
              <a:buChar char="•"/>
            </a:pPr>
            <a:r>
              <a:rPr lang="en-AU" sz="1200" kern="1200" dirty="0" smtClean="0">
                <a:solidFill>
                  <a:schemeClr val="tx1"/>
                </a:solidFill>
                <a:ea typeface="+mn-ea"/>
                <a:cs typeface="+mn-cs"/>
              </a:rPr>
              <a:t>Tell them of known illegal business practices which may impact them</a:t>
            </a:r>
          </a:p>
          <a:p>
            <a:pPr marL="171450" indent="-171450">
              <a:buFont typeface="Arial" pitchFamily="34" charset="0"/>
              <a:buChar char="•"/>
            </a:pPr>
            <a:r>
              <a:rPr lang="en-AU" sz="1200" kern="1200" dirty="0" smtClean="0">
                <a:solidFill>
                  <a:schemeClr val="tx1"/>
                </a:solidFill>
                <a:ea typeface="+mn-ea"/>
                <a:cs typeface="+mn-cs"/>
              </a:rPr>
              <a:t>Notify them of previous occurrences which have resulted in loss to customers</a:t>
            </a:r>
          </a:p>
          <a:p>
            <a:pPr marL="171450" indent="-171450">
              <a:buFont typeface="Arial" pitchFamily="34" charset="0"/>
              <a:buChar char="•"/>
            </a:pPr>
            <a:r>
              <a:rPr lang="en-AU" sz="1200" kern="1200" dirty="0" smtClean="0">
                <a:solidFill>
                  <a:schemeClr val="tx1"/>
                </a:solidFill>
                <a:ea typeface="+mn-ea"/>
                <a:cs typeface="+mn-cs"/>
              </a:rPr>
              <a:t>Identify and describe practices and measures which can be taken to guard against known problems, threats and dangers.</a:t>
            </a:r>
          </a:p>
          <a:p>
            <a:r>
              <a:rPr lang="en-AU" sz="1200" kern="1200" dirty="0" smtClean="0">
                <a:solidFill>
                  <a:schemeClr val="tx1"/>
                </a:solidFill>
                <a:ea typeface="+mn-ea"/>
                <a:cs typeface="+mn-cs"/>
              </a:rPr>
              <a:t>In more specific terms information for customers in relation to protecting them against theft should address all the following where, as and if it is appropriate/relevant to the nature of the tour the customer is taking, the destination/s the customers are visiting and the activities they are participating in.</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 xmlns:p14="http://schemas.microsoft.com/office/powerpoint/2010/main" val="7790925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gives overview of information to be given about business to avoid advising each will be covered in more detail on following slides.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 xmlns:p14="http://schemas.microsoft.com/office/powerpoint/2010/main" val="59632416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giving overview of information to be given about business to avoid advising each will be covered in more detail on following slides.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 xmlns:p14="http://schemas.microsoft.com/office/powerpoint/2010/main" val="85742231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information which may be given to tourists/travelers</a:t>
            </a:r>
            <a:r>
              <a:rPr lang="en-US" baseline="0" dirty="0" smtClean="0"/>
              <a:t> </a:t>
            </a:r>
            <a:r>
              <a:rPr lang="en-US" dirty="0" smtClean="0"/>
              <a:t>regarding businesses</a:t>
            </a:r>
            <a:r>
              <a:rPr lang="en-US" baseline="0" dirty="0" smtClean="0"/>
              <a:t> to avoid:</a:t>
            </a:r>
          </a:p>
          <a:p>
            <a:pPr marL="171450" indent="-171450">
              <a:buFont typeface="Arial" pitchFamily="34" charset="0"/>
              <a:buChar char="•"/>
            </a:pPr>
            <a:r>
              <a:rPr lang="en-AU" sz="1200" kern="1200" dirty="0" smtClean="0">
                <a:solidFill>
                  <a:schemeClr val="tx1"/>
                </a:solidFill>
                <a:ea typeface="+mn-ea"/>
                <a:cs typeface="+mn-cs"/>
              </a:rPr>
              <a:t>Identify geographic regions/areas to avoid</a:t>
            </a:r>
          </a:p>
          <a:p>
            <a:pPr marL="171450" indent="-171450">
              <a:buFont typeface="Arial" pitchFamily="34" charset="0"/>
              <a:buChar char="•"/>
            </a:pPr>
            <a:r>
              <a:rPr lang="en-AU" sz="1200" kern="1200" dirty="0" smtClean="0">
                <a:solidFill>
                  <a:schemeClr val="tx1"/>
                </a:solidFill>
                <a:ea typeface="+mn-ea"/>
                <a:cs typeface="+mn-cs"/>
              </a:rPr>
              <a:t>Describe locations to stay away from</a:t>
            </a:r>
          </a:p>
          <a:p>
            <a:pPr marL="171450" indent="-171450">
              <a:buFont typeface="Arial" pitchFamily="34" charset="0"/>
              <a:buChar char="•"/>
            </a:pPr>
            <a:r>
              <a:rPr lang="en-AU" sz="1200" kern="1200" dirty="0" smtClean="0">
                <a:solidFill>
                  <a:schemeClr val="tx1"/>
                </a:solidFill>
                <a:ea typeface="+mn-ea"/>
                <a:cs typeface="+mn-cs"/>
              </a:rPr>
              <a:t>Name individual businesses and persons known to be associated with malpractice and theft-related activities</a:t>
            </a:r>
          </a:p>
          <a:p>
            <a:pPr marL="171450" indent="-171450">
              <a:buFont typeface="Arial" pitchFamily="34" charset="0"/>
              <a:buChar char="•"/>
            </a:pPr>
            <a:r>
              <a:rPr lang="en-AU" sz="1200" kern="1200" dirty="0" smtClean="0">
                <a:solidFill>
                  <a:schemeClr val="tx1"/>
                </a:solidFill>
                <a:ea typeface="+mn-ea"/>
                <a:cs typeface="+mn-cs"/>
              </a:rPr>
              <a:t>List products and services which have been commonly associated with causing loss to customers (in relation, for example, fraud or theft of property occurring while customers are in the business) </a:t>
            </a:r>
          </a:p>
          <a:p>
            <a:pPr marL="171450" indent="-171450">
              <a:buFont typeface="Arial" pitchFamily="34" charset="0"/>
              <a:buChar char="•"/>
            </a:pPr>
            <a:r>
              <a:rPr lang="en-AU" sz="1200" kern="1200" dirty="0" smtClean="0">
                <a:solidFill>
                  <a:schemeClr val="tx1"/>
                </a:solidFill>
                <a:ea typeface="+mn-ea"/>
                <a:cs typeface="+mn-cs"/>
              </a:rPr>
              <a:t>Give examples of previous problems encountered including how theft may manifest itself – such as through deception and false/misleading advertising, over-pricing [price gouging or exploitation of visitors/tourists], substitution of items after purchase [swapping the item actually purchased for an inferior product], and poor money exchange rates when customers exchange money or pay for goods/services.</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Guest Speaker form a travel/tour</a:t>
            </a:r>
            <a:r>
              <a:rPr lang="en-US" b="0" baseline="0" dirty="0" smtClean="0"/>
              <a:t> business to talk to students about advice they give to travelers/customers, why they do so, how they do so and when they do it, including hand-out of sample information provided.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 xmlns:p14="http://schemas.microsoft.com/office/powerpoint/2010/main" val="85988855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reminds students they will need to provide information to tourists/travelers</a:t>
            </a:r>
            <a:r>
              <a:rPr lang="en-US" baseline="0" dirty="0" smtClean="0"/>
              <a:t> </a:t>
            </a:r>
            <a:r>
              <a:rPr lang="en-US" dirty="0" smtClean="0"/>
              <a:t>regarding carrying cash on their persons.</a:t>
            </a:r>
          </a:p>
          <a:p>
            <a:pPr>
              <a:buFont typeface="Arial" pitchFamily="34" charset="0"/>
              <a:buNone/>
            </a:pPr>
            <a:r>
              <a:rPr lang="en-US" baseline="0" dirty="0" smtClean="0"/>
              <a:t>Trainer uses Class Activity below to communicate these requirements.</a:t>
            </a:r>
          </a:p>
          <a:p>
            <a:pPr>
              <a:buFont typeface="Arial" pitchFamily="34" charset="0"/>
              <a:buNone/>
            </a:pPr>
            <a:endParaRPr lang="en-US" baseline="0" dirty="0" smtClean="0"/>
          </a:p>
          <a:p>
            <a:pPr>
              <a:buFont typeface="Arial" pitchFamily="34" charset="0"/>
              <a:buNone/>
            </a:pPr>
            <a:r>
              <a:rPr lang="en-US" b="1" baseline="0" dirty="0" smtClean="0"/>
              <a:t>Class Activity – Group Exercise</a:t>
            </a:r>
          </a:p>
          <a:p>
            <a:pPr>
              <a:buFont typeface="Arial" pitchFamily="34" charset="0"/>
              <a:buNone/>
            </a:pPr>
            <a:r>
              <a:rPr lang="en-US" b="0" baseline="0" dirty="0" smtClean="0"/>
              <a:t>Trainer divides class into small groups and asks them to prepare a list of advice they would provide to travellers regarding carrying cask on their person while on tour.</a:t>
            </a:r>
          </a:p>
          <a:p>
            <a:pPr>
              <a:buFont typeface="Arial" pitchFamily="34" charset="0"/>
              <a:buNone/>
            </a:pPr>
            <a:r>
              <a:rPr lang="en-US" b="0" baseline="0" dirty="0" smtClean="0"/>
              <a:t>Trainer uses the information below to provide feedback to class:</a:t>
            </a:r>
          </a:p>
          <a:p>
            <a:pPr marL="171450" indent="-171450">
              <a:buFont typeface="Arial" pitchFamily="34" charset="0"/>
              <a:buChar char="•"/>
            </a:pPr>
            <a:r>
              <a:rPr lang="en-AU" sz="1200" kern="1200" dirty="0" smtClean="0">
                <a:solidFill>
                  <a:schemeClr val="tx1"/>
                </a:solidFill>
                <a:ea typeface="+mn-ea"/>
                <a:cs typeface="+mn-cs"/>
              </a:rPr>
              <a:t>Advise customers of maximum cash amounts to keep on their person</a:t>
            </a:r>
          </a:p>
          <a:p>
            <a:pPr marL="171450" indent="-171450">
              <a:buFont typeface="Arial" pitchFamily="34" charset="0"/>
              <a:buChar char="•"/>
            </a:pPr>
            <a:r>
              <a:rPr lang="en-AU" sz="1200" kern="1200" dirty="0" smtClean="0">
                <a:solidFill>
                  <a:schemeClr val="tx1"/>
                </a:solidFill>
                <a:ea typeface="+mn-ea"/>
                <a:cs typeface="+mn-cs"/>
              </a:rPr>
              <a:t>Suggest and describe the use of money belts</a:t>
            </a:r>
          </a:p>
          <a:p>
            <a:pPr marL="171450" indent="-171450">
              <a:buFont typeface="Arial" pitchFamily="34" charset="0"/>
              <a:buChar char="•"/>
            </a:pPr>
            <a:r>
              <a:rPr lang="en-AU" sz="1200" kern="1200" dirty="0" smtClean="0">
                <a:solidFill>
                  <a:schemeClr val="tx1"/>
                </a:solidFill>
                <a:ea typeface="+mn-ea"/>
                <a:cs typeface="+mn-cs"/>
              </a:rPr>
              <a:t>Recommend the use of travellers’ cheques</a:t>
            </a:r>
          </a:p>
          <a:p>
            <a:pPr marL="171450" indent="-171450">
              <a:buFont typeface="Arial" pitchFamily="34" charset="0"/>
              <a:buChar char="•"/>
            </a:pPr>
            <a:r>
              <a:rPr lang="en-AU" sz="1200" kern="1200" dirty="0" smtClean="0">
                <a:solidFill>
                  <a:schemeClr val="tx1"/>
                </a:solidFill>
                <a:ea typeface="+mn-ea"/>
                <a:cs typeface="+mn-cs"/>
              </a:rPr>
              <a:t>Describe the different denominations of coin and notes used in different countries</a:t>
            </a:r>
          </a:p>
          <a:p>
            <a:pPr marL="171450" indent="-171450">
              <a:buFont typeface="Arial" pitchFamily="34" charset="0"/>
              <a:buChar char="•"/>
            </a:pPr>
            <a:r>
              <a:rPr lang="en-AU" sz="1200" kern="1200" dirty="0" smtClean="0">
                <a:solidFill>
                  <a:schemeClr val="tx1"/>
                </a:solidFill>
                <a:ea typeface="+mn-ea"/>
                <a:cs typeface="+mn-cs"/>
              </a:rPr>
              <a:t>Provide a general indication of exchange rates in the countries to be visited</a:t>
            </a:r>
          </a:p>
          <a:p>
            <a:pPr marL="171450" indent="-171450">
              <a:buFont typeface="Arial" pitchFamily="34" charset="0"/>
              <a:buChar char="•"/>
            </a:pPr>
            <a:r>
              <a:rPr lang="en-AU" sz="1200" kern="1200" dirty="0" smtClean="0">
                <a:solidFill>
                  <a:schemeClr val="tx1"/>
                </a:solidFill>
                <a:ea typeface="+mn-ea"/>
                <a:cs typeface="+mn-cs"/>
              </a:rPr>
              <a:t>Identify known ethical money exchangers</a:t>
            </a:r>
          </a:p>
          <a:p>
            <a:pPr marL="171450" indent="-171450">
              <a:buFont typeface="Arial" pitchFamily="34" charset="0"/>
              <a:buChar char="•"/>
            </a:pPr>
            <a:r>
              <a:rPr lang="en-AU" sz="1200" kern="1200" dirty="0" smtClean="0">
                <a:solidFill>
                  <a:schemeClr val="tx1"/>
                </a:solidFill>
                <a:ea typeface="+mn-ea"/>
                <a:cs typeface="+mn-cs"/>
              </a:rPr>
              <a:t>Stress the need for customers to hand over cash if they are challenged or subject to attack or armed hold-up</a:t>
            </a:r>
          </a:p>
          <a:p>
            <a:pPr marL="171450" indent="-171450">
              <a:buFont typeface="Arial" pitchFamily="34" charset="0"/>
              <a:buChar char="•"/>
            </a:pPr>
            <a:r>
              <a:rPr lang="en-AU" sz="1200" kern="1200" dirty="0" smtClean="0">
                <a:solidFill>
                  <a:schemeClr val="tx1"/>
                </a:solidFill>
                <a:ea typeface="+mn-ea"/>
                <a:cs typeface="+mn-cs"/>
              </a:rPr>
              <a:t>Suggest customers keep money in two places on their person:</a:t>
            </a:r>
          </a:p>
          <a:p>
            <a:pPr marL="628650" lvl="1" indent="-171450">
              <a:buFont typeface="Arial" pitchFamily="34" charset="0"/>
              <a:buChar char="•"/>
            </a:pPr>
            <a:r>
              <a:rPr lang="en-AU" sz="1200" kern="1200" dirty="0" smtClean="0">
                <a:solidFill>
                  <a:schemeClr val="tx1"/>
                </a:solidFill>
                <a:ea typeface="+mn-ea"/>
                <a:cs typeface="+mn-cs"/>
              </a:rPr>
              <a:t>One for spending</a:t>
            </a:r>
          </a:p>
          <a:p>
            <a:pPr marL="628650" lvl="1" indent="-171450">
              <a:buFont typeface="Arial" pitchFamily="34" charset="0"/>
              <a:buChar char="•"/>
            </a:pPr>
            <a:r>
              <a:rPr lang="en-AU" sz="1200" kern="1200" dirty="0" smtClean="0">
                <a:solidFill>
                  <a:schemeClr val="tx1"/>
                </a:solidFill>
                <a:ea typeface="+mn-ea"/>
                <a:cs typeface="+mn-cs"/>
              </a:rPr>
              <a:t>The other for ‘throw down money’ to surrender in case they are robbed/held-up.</a:t>
            </a:r>
          </a:p>
          <a:p>
            <a:pPr marL="171450" indent="-171450">
              <a:buFont typeface="Arial" pitchFamily="34" charset="0"/>
              <a:buChar char="•"/>
            </a:pPr>
            <a:r>
              <a:rPr lang="en-AU" sz="1200" kern="1200" dirty="0" smtClean="0">
                <a:solidFill>
                  <a:schemeClr val="tx1"/>
                </a:solidFill>
                <a:ea typeface="+mn-ea"/>
                <a:cs typeface="+mn-cs"/>
              </a:rPr>
              <a:t>Advise against carrying hand bags or shoulder bags which may be easily snatched.</a:t>
            </a:r>
          </a:p>
          <a:p>
            <a:pPr>
              <a:buFont typeface="Arial" pitchFamily="34" charset="0"/>
              <a:buNone/>
            </a:pPr>
            <a:endParaRPr lang="en-US" b="0" baseline="0" dirty="0" smtClean="0"/>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 xmlns:p14="http://schemas.microsoft.com/office/powerpoint/2010/main" val="396643014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information which may be given to tourists/travelers</a:t>
            </a:r>
            <a:r>
              <a:rPr lang="en-US" baseline="0" dirty="0" smtClean="0"/>
              <a:t> </a:t>
            </a:r>
            <a:r>
              <a:rPr lang="en-US" dirty="0" smtClean="0"/>
              <a:t>regarding use of safety deposit facilities at venues:</a:t>
            </a:r>
          </a:p>
          <a:p>
            <a:pPr marL="171450" indent="-171450">
              <a:buFont typeface="Arial" pitchFamily="34" charset="0"/>
              <a:buChar char="•"/>
            </a:pPr>
            <a:r>
              <a:rPr lang="en-AU" sz="1200" kern="1200" dirty="0" smtClean="0">
                <a:solidFill>
                  <a:schemeClr val="tx1"/>
                </a:solidFill>
                <a:ea typeface="+mn-ea"/>
                <a:cs typeface="+mn-cs"/>
              </a:rPr>
              <a:t>List venues with appropriate in-room and/or in-house facilities</a:t>
            </a:r>
          </a:p>
          <a:p>
            <a:pPr marL="171450" indent="-171450">
              <a:buFont typeface="Arial" pitchFamily="34" charset="0"/>
              <a:buChar char="•"/>
            </a:pPr>
            <a:r>
              <a:rPr lang="en-AU" sz="1200" kern="1200" dirty="0" smtClean="0">
                <a:solidFill>
                  <a:schemeClr val="tx1"/>
                </a:solidFill>
                <a:ea typeface="+mn-ea"/>
                <a:cs typeface="+mn-cs"/>
              </a:rPr>
              <a:t>Describe the facilities available and explain how to use and/or access them </a:t>
            </a:r>
          </a:p>
          <a:p>
            <a:pPr marL="171450" indent="-171450">
              <a:buFont typeface="Arial" pitchFamily="34" charset="0"/>
              <a:buChar char="•"/>
            </a:pPr>
            <a:r>
              <a:rPr lang="en-AU" sz="1200" kern="1200" dirty="0" smtClean="0">
                <a:solidFill>
                  <a:schemeClr val="tx1"/>
                </a:solidFill>
                <a:ea typeface="+mn-ea"/>
                <a:cs typeface="+mn-cs"/>
              </a:rPr>
              <a:t>Indicate, where/if appropriate, the fees charged for using these facilities</a:t>
            </a:r>
          </a:p>
          <a:p>
            <a:pPr marL="171450" indent="-171450">
              <a:buFont typeface="Arial" pitchFamily="34" charset="0"/>
              <a:buChar char="•"/>
            </a:pPr>
            <a:r>
              <a:rPr lang="en-AU" sz="1200" kern="1200" dirty="0" smtClean="0">
                <a:solidFill>
                  <a:schemeClr val="tx1"/>
                </a:solidFill>
                <a:ea typeface="+mn-ea"/>
                <a:cs typeface="+mn-cs"/>
              </a:rPr>
              <a:t>Highlight the limits of liability venues are under if customers seek to rely on guarantees provided to customers who use facilities and suffer loss</a:t>
            </a:r>
          </a:p>
          <a:p>
            <a:pPr marL="171450" indent="-171450">
              <a:buFont typeface="Arial" pitchFamily="34" charset="0"/>
              <a:buChar char="•"/>
            </a:pPr>
            <a:r>
              <a:rPr lang="en-AU" sz="1200" kern="1200" dirty="0" smtClean="0">
                <a:solidFill>
                  <a:schemeClr val="tx1"/>
                </a:solidFill>
                <a:ea typeface="+mn-ea"/>
                <a:cs typeface="+mn-cs"/>
              </a:rPr>
              <a:t>Identify items which it may be best not to deposit in to safety deposit facilities.</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 xmlns:p14="http://schemas.microsoft.com/office/powerpoint/2010/main" val="318809448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information which may be given to tourists/travelers</a:t>
            </a:r>
            <a:r>
              <a:rPr lang="en-US" baseline="0" dirty="0" smtClean="0"/>
              <a:t> </a:t>
            </a:r>
            <a:r>
              <a:rPr lang="en-US" dirty="0" smtClean="0"/>
              <a:t>regarding packing of cases:</a:t>
            </a:r>
          </a:p>
          <a:p>
            <a:pPr marL="171450" indent="-171450">
              <a:buFont typeface="Arial" pitchFamily="34" charset="0"/>
              <a:buChar char="•"/>
            </a:pPr>
            <a:r>
              <a:rPr lang="en-AU" sz="1200" kern="1200" dirty="0" smtClean="0">
                <a:solidFill>
                  <a:schemeClr val="tx1"/>
                </a:solidFill>
                <a:ea typeface="+mn-ea"/>
                <a:cs typeface="+mn-cs"/>
              </a:rPr>
              <a:t>Advise not placing travel documents into suitcases and/or bags</a:t>
            </a:r>
          </a:p>
          <a:p>
            <a:pPr marL="171450" indent="-171450">
              <a:buFont typeface="Arial" pitchFamily="34" charset="0"/>
              <a:buChar char="•"/>
            </a:pPr>
            <a:r>
              <a:rPr lang="en-AU" sz="1200" kern="1200" dirty="0" smtClean="0">
                <a:solidFill>
                  <a:schemeClr val="tx1"/>
                </a:solidFill>
                <a:ea typeface="+mn-ea"/>
                <a:cs typeface="+mn-cs"/>
              </a:rPr>
              <a:t>Suggest customers spread valuable items among all cases/bags</a:t>
            </a:r>
          </a:p>
          <a:p>
            <a:pPr marL="171450" indent="-171450">
              <a:buFont typeface="Arial" pitchFamily="34" charset="0"/>
              <a:buChar char="•"/>
            </a:pPr>
            <a:r>
              <a:rPr lang="en-AU" sz="1200" kern="1200" dirty="0" smtClean="0">
                <a:solidFill>
                  <a:schemeClr val="tx1"/>
                </a:solidFill>
                <a:ea typeface="+mn-ea"/>
                <a:cs typeface="+mn-cs"/>
              </a:rPr>
              <a:t>Recommend suitcases/bags are of sturdy construction and in good repair </a:t>
            </a:r>
          </a:p>
          <a:p>
            <a:pPr marL="171450" indent="-171450">
              <a:buFont typeface="Arial" pitchFamily="34" charset="0"/>
              <a:buChar char="•"/>
            </a:pPr>
            <a:r>
              <a:rPr lang="en-AU" sz="1200" kern="1200" dirty="0" smtClean="0">
                <a:solidFill>
                  <a:schemeClr val="tx1"/>
                </a:solidFill>
                <a:ea typeface="+mn-ea"/>
                <a:cs typeface="+mn-cs"/>
              </a:rPr>
              <a:t>Stress need to attach name tags to all bags/cases</a:t>
            </a:r>
          </a:p>
          <a:p>
            <a:pPr marL="171450" indent="-171450">
              <a:buFont typeface="Arial" pitchFamily="34" charset="0"/>
              <a:buChar char="•"/>
            </a:pPr>
            <a:r>
              <a:rPr lang="en-AU" sz="1200" kern="1200" dirty="0" smtClean="0">
                <a:solidFill>
                  <a:schemeClr val="tx1"/>
                </a:solidFill>
                <a:ea typeface="+mn-ea"/>
                <a:cs typeface="+mn-cs"/>
              </a:rPr>
              <a:t>Suggest the use of locks on cases</a:t>
            </a:r>
          </a:p>
          <a:p>
            <a:pPr marL="171450" indent="-171450">
              <a:buFont typeface="Arial" pitchFamily="34" charset="0"/>
              <a:buChar char="•"/>
            </a:pPr>
            <a:r>
              <a:rPr lang="en-AU" sz="1200" kern="1200" dirty="0" smtClean="0">
                <a:solidFill>
                  <a:schemeClr val="tx1"/>
                </a:solidFill>
                <a:ea typeface="+mn-ea"/>
                <a:cs typeface="+mn-cs"/>
              </a:rPr>
              <a:t>Mention the option of wrapping cases in plastic prior to travel.</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 xmlns:p14="http://schemas.microsoft.com/office/powerpoint/2010/main" val="369155717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information which may be given to tourists/travelers</a:t>
            </a:r>
            <a:r>
              <a:rPr lang="en-US" baseline="0" dirty="0" smtClean="0"/>
              <a:t> </a:t>
            </a:r>
            <a:r>
              <a:rPr lang="en-US" dirty="0" smtClean="0"/>
              <a:t>regarding contact details of authorities in different countries:</a:t>
            </a:r>
          </a:p>
          <a:p>
            <a:pPr marL="171450" indent="-171450">
              <a:buFont typeface="Arial" pitchFamily="34" charset="0"/>
              <a:buChar char="•"/>
            </a:pPr>
            <a:r>
              <a:rPr lang="en-AU" sz="1200" kern="1200" dirty="0" smtClean="0">
                <a:solidFill>
                  <a:schemeClr val="tx1"/>
                </a:solidFill>
                <a:ea typeface="+mn-ea"/>
                <a:cs typeface="+mn-cs"/>
              </a:rPr>
              <a:t>Supply list of authorities</a:t>
            </a:r>
          </a:p>
          <a:p>
            <a:pPr marL="171450" indent="-171450">
              <a:buFont typeface="Arial" pitchFamily="34" charset="0"/>
              <a:buChar char="•"/>
            </a:pPr>
            <a:r>
              <a:rPr lang="en-AU" sz="1200" kern="1200" dirty="0" smtClean="0">
                <a:solidFill>
                  <a:schemeClr val="tx1"/>
                </a:solidFill>
                <a:ea typeface="+mn-ea"/>
                <a:cs typeface="+mn-cs"/>
              </a:rPr>
              <a:t>Provide telephone numbers</a:t>
            </a:r>
          </a:p>
          <a:p>
            <a:pPr marL="171450" indent="-171450">
              <a:buFont typeface="Arial" pitchFamily="34" charset="0"/>
              <a:buChar char="•"/>
            </a:pPr>
            <a:r>
              <a:rPr lang="en-AU" sz="1200" kern="1200" dirty="0" smtClean="0">
                <a:solidFill>
                  <a:schemeClr val="tx1"/>
                </a:solidFill>
                <a:ea typeface="+mn-ea"/>
                <a:cs typeface="+mn-cs"/>
              </a:rPr>
              <a:t>Give street addresses</a:t>
            </a:r>
          </a:p>
          <a:p>
            <a:pPr marL="171450" indent="-171450">
              <a:buFont typeface="Arial" pitchFamily="34" charset="0"/>
              <a:buChar char="•"/>
            </a:pPr>
            <a:r>
              <a:rPr lang="en-AU" sz="1200" kern="1200" dirty="0" smtClean="0">
                <a:solidFill>
                  <a:schemeClr val="tx1"/>
                </a:solidFill>
                <a:ea typeface="+mn-ea"/>
                <a:cs typeface="+mn-cs"/>
              </a:rPr>
              <a:t>Indicate locations on map.</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 xmlns:p14="http://schemas.microsoft.com/office/powerpoint/2010/main" val="424946110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information which may be given to tourists/travelers</a:t>
            </a:r>
            <a:r>
              <a:rPr lang="en-US" baseline="0" dirty="0" smtClean="0"/>
              <a:t> </a:t>
            </a:r>
            <a:r>
              <a:rPr lang="en-US" dirty="0" smtClean="0"/>
              <a:t>regarding known scams:</a:t>
            </a:r>
          </a:p>
          <a:p>
            <a:pPr marL="171450" indent="-171450">
              <a:buFont typeface="Arial" pitchFamily="34" charset="0"/>
              <a:buChar char="•"/>
            </a:pPr>
            <a:r>
              <a:rPr lang="en-AU" sz="1200" kern="1200" dirty="0" smtClean="0">
                <a:solidFill>
                  <a:schemeClr val="tx1"/>
                </a:solidFill>
                <a:ea typeface="+mn-ea"/>
                <a:cs typeface="+mn-cs"/>
              </a:rPr>
              <a:t>Describe types of scams and how they operate</a:t>
            </a:r>
          </a:p>
          <a:p>
            <a:pPr marL="171450" indent="-171450">
              <a:buFont typeface="Arial" pitchFamily="34" charset="0"/>
              <a:buChar char="•"/>
            </a:pPr>
            <a:r>
              <a:rPr lang="en-AU" sz="1200" kern="1200" dirty="0" smtClean="0">
                <a:solidFill>
                  <a:schemeClr val="tx1"/>
                </a:solidFill>
                <a:ea typeface="+mn-ea"/>
                <a:cs typeface="+mn-cs"/>
              </a:rPr>
              <a:t>Identify triggers (‘red flags’) to be alert for</a:t>
            </a:r>
          </a:p>
          <a:p>
            <a:pPr marL="171450" indent="-171450">
              <a:buFont typeface="Arial" pitchFamily="34" charset="0"/>
              <a:buChar char="•"/>
            </a:pPr>
            <a:r>
              <a:rPr lang="en-AU" sz="1200" kern="1200" dirty="0" smtClean="0">
                <a:solidFill>
                  <a:schemeClr val="tx1"/>
                </a:solidFill>
                <a:ea typeface="+mn-ea"/>
                <a:cs typeface="+mn-cs"/>
              </a:rPr>
              <a:t>Explain action to take when targeted by a scam</a:t>
            </a:r>
          </a:p>
          <a:p>
            <a:pPr marL="171450" indent="-171450">
              <a:buFont typeface="Arial" pitchFamily="34" charset="0"/>
              <a:buChar char="•"/>
            </a:pPr>
            <a:r>
              <a:rPr lang="en-AU" sz="1200" kern="1200" dirty="0" smtClean="0">
                <a:solidFill>
                  <a:schemeClr val="tx1"/>
                </a:solidFill>
                <a:ea typeface="+mn-ea"/>
                <a:cs typeface="+mn-cs"/>
              </a:rPr>
              <a:t>Provide details of how to prepare to avoid or counteract scams</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Guest Speaker from local authority/ies and/or police</a:t>
            </a:r>
            <a:r>
              <a:rPr lang="en-US" b="0" baseline="0" dirty="0" smtClean="0"/>
              <a:t> to talk to students about the information they should provide to travellers/tourists while they are on tour, providing sample information (as applicable).</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 xmlns:p14="http://schemas.microsoft.com/office/powerpoint/2010/main" val="156180087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information which may be given to tourists/travelers</a:t>
            </a:r>
            <a:r>
              <a:rPr lang="en-US" baseline="0" dirty="0" smtClean="0"/>
              <a:t> </a:t>
            </a:r>
            <a:r>
              <a:rPr lang="en-US" dirty="0" smtClean="0"/>
              <a:t>regarding action to take if they are targetted by thieves at different destinations:</a:t>
            </a:r>
          </a:p>
          <a:p>
            <a:pPr marL="171450" indent="-171450">
              <a:buFont typeface="Arial" pitchFamily="34" charset="0"/>
              <a:buChar char="•"/>
            </a:pPr>
            <a:r>
              <a:rPr lang="en-AU" sz="1200" kern="1200" dirty="0" smtClean="0">
                <a:solidFill>
                  <a:schemeClr val="tx1"/>
                </a:solidFill>
                <a:ea typeface="+mn-ea"/>
                <a:cs typeface="+mn-cs"/>
              </a:rPr>
              <a:t>Name items (by type) which have been the subject of thefts at individual destinations </a:t>
            </a:r>
          </a:p>
          <a:p>
            <a:pPr marL="171450" indent="-171450">
              <a:buFont typeface="Arial" pitchFamily="34" charset="0"/>
              <a:buChar char="•"/>
            </a:pPr>
            <a:r>
              <a:rPr lang="en-AU" sz="1200" kern="1200" dirty="0" smtClean="0">
                <a:solidFill>
                  <a:schemeClr val="tx1"/>
                </a:solidFill>
                <a:ea typeface="+mn-ea"/>
                <a:cs typeface="+mn-cs"/>
              </a:rPr>
              <a:t>Describe theft prevention protocols which may be applied to deter or thwart thieves – this should address the potential for theft from persons, and from accommodation venues</a:t>
            </a:r>
          </a:p>
          <a:p>
            <a:pPr marL="171450" indent="-171450">
              <a:buFont typeface="Arial" pitchFamily="34" charset="0"/>
              <a:buChar char="•"/>
            </a:pPr>
            <a:r>
              <a:rPr lang="en-AU" sz="1200" kern="1200" dirty="0" smtClean="0">
                <a:solidFill>
                  <a:schemeClr val="tx1"/>
                </a:solidFill>
                <a:ea typeface="+mn-ea"/>
                <a:cs typeface="+mn-cs"/>
              </a:rPr>
              <a:t>Explain immediate and follow-up action to take if a theft occurs</a:t>
            </a:r>
          </a:p>
          <a:p>
            <a:pPr marL="171450" indent="-171450">
              <a:buFont typeface="Arial" pitchFamily="34" charset="0"/>
              <a:buChar char="•"/>
            </a:pPr>
            <a:r>
              <a:rPr lang="en-AU" sz="1200" kern="1200" dirty="0" smtClean="0">
                <a:solidFill>
                  <a:schemeClr val="tx1"/>
                </a:solidFill>
                <a:ea typeface="+mn-ea"/>
                <a:cs typeface="+mn-cs"/>
              </a:rPr>
              <a:t>Encourage customers not to display targeted items so they attract attention</a:t>
            </a:r>
          </a:p>
          <a:p>
            <a:pPr marL="171450" indent="-171450">
              <a:buFont typeface="Arial" pitchFamily="34" charset="0"/>
              <a:buChar char="•"/>
            </a:pPr>
            <a:r>
              <a:rPr lang="en-AU" sz="1200" kern="1200" dirty="0" smtClean="0">
                <a:solidFill>
                  <a:schemeClr val="tx1"/>
                </a:solidFill>
                <a:ea typeface="+mn-ea"/>
                <a:cs typeface="+mn-cs"/>
              </a:rPr>
              <a:t>Suggest customers re-consider their need to take items with them which have proved to be target items for thieves.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 xmlns:p14="http://schemas.microsoft.com/office/powerpoint/2010/main" val="388783477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information which may be given to tourists/travelers</a:t>
            </a:r>
            <a:r>
              <a:rPr lang="en-US" baseline="0" dirty="0" smtClean="0"/>
              <a:t> </a:t>
            </a:r>
            <a:r>
              <a:rPr lang="en-US" dirty="0" smtClean="0"/>
              <a:t>regarding action to take if they become a victim</a:t>
            </a:r>
            <a:r>
              <a:rPr lang="en-US" baseline="0" dirty="0" smtClean="0"/>
              <a:t> of theft</a:t>
            </a:r>
            <a:r>
              <a:rPr lang="en-US" dirty="0" smtClean="0"/>
              <a:t>:</a:t>
            </a:r>
          </a:p>
          <a:p>
            <a:pPr marL="171450" indent="-171450">
              <a:buFont typeface="Arial" pitchFamily="34" charset="0"/>
              <a:buChar char="•"/>
            </a:pPr>
            <a:r>
              <a:rPr lang="en-AU" sz="1200" kern="1200" dirty="0" smtClean="0">
                <a:solidFill>
                  <a:schemeClr val="tx1"/>
                </a:solidFill>
                <a:ea typeface="+mn-ea"/>
                <a:cs typeface="+mn-cs"/>
              </a:rPr>
              <a:t>Recommend not fighting back when a robbery occurs – standard procedure is to recommend complying with demands of the robber</a:t>
            </a:r>
          </a:p>
          <a:p>
            <a:pPr marL="171450" indent="-171450">
              <a:buFont typeface="Arial" pitchFamily="34" charset="0"/>
              <a:buChar char="•"/>
            </a:pPr>
            <a:r>
              <a:rPr lang="en-AU" sz="1200" kern="1200" dirty="0" smtClean="0">
                <a:solidFill>
                  <a:schemeClr val="tx1"/>
                </a:solidFill>
                <a:ea typeface="+mn-ea"/>
                <a:cs typeface="+mn-cs"/>
              </a:rPr>
              <a:t>Stress the need to report the incident to local authorities</a:t>
            </a:r>
          </a:p>
          <a:p>
            <a:pPr marL="171450" indent="-171450">
              <a:buFont typeface="Arial" pitchFamily="34" charset="0"/>
              <a:buChar char="•"/>
            </a:pPr>
            <a:r>
              <a:rPr lang="en-AU" sz="1200" kern="1200" dirty="0" smtClean="0">
                <a:solidFill>
                  <a:schemeClr val="tx1"/>
                </a:solidFill>
                <a:ea typeface="+mn-ea"/>
                <a:cs typeface="+mn-cs"/>
              </a:rPr>
              <a:t>Highlight need to provide full details of what was stolen</a:t>
            </a:r>
          </a:p>
          <a:p>
            <a:pPr marL="171450" indent="-171450">
              <a:buFont typeface="Arial" pitchFamily="34" charset="0"/>
              <a:buChar char="•"/>
            </a:pPr>
            <a:r>
              <a:rPr lang="en-AU" sz="1200" kern="1200" dirty="0" smtClean="0">
                <a:solidFill>
                  <a:schemeClr val="tx1"/>
                </a:solidFill>
                <a:ea typeface="+mn-ea"/>
                <a:cs typeface="+mn-cs"/>
              </a:rPr>
              <a:t>Encourage taking of notes or photographs of the scene</a:t>
            </a:r>
          </a:p>
          <a:p>
            <a:pPr marL="171450" indent="-171450">
              <a:buFont typeface="Arial" pitchFamily="34" charset="0"/>
              <a:buChar char="•"/>
            </a:pPr>
            <a:r>
              <a:rPr lang="en-AU" sz="1200" kern="1200" dirty="0" smtClean="0">
                <a:solidFill>
                  <a:schemeClr val="tx1"/>
                </a:solidFill>
                <a:ea typeface="+mn-ea"/>
                <a:cs typeface="+mn-cs"/>
              </a:rPr>
              <a:t>Suggest taking out travel insurance as a safeguard measure.</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 xmlns:p14="http://schemas.microsoft.com/office/powerpoint/2010/main" val="324673334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information which may be given to tourists/travelers</a:t>
            </a:r>
            <a:r>
              <a:rPr lang="en-US" baseline="0" dirty="0" smtClean="0"/>
              <a:t> </a:t>
            </a:r>
            <a:r>
              <a:rPr lang="en-US" dirty="0" smtClean="0"/>
              <a:t>regarding travel insurance:</a:t>
            </a:r>
          </a:p>
          <a:p>
            <a:pPr marL="171450" indent="-171450">
              <a:buFont typeface="Arial" pitchFamily="34" charset="0"/>
              <a:buChar char="•"/>
            </a:pPr>
            <a:r>
              <a:rPr lang="en-AU" sz="1200" kern="1200" dirty="0" smtClean="0">
                <a:solidFill>
                  <a:schemeClr val="tx1"/>
                </a:solidFill>
                <a:ea typeface="+mn-ea"/>
                <a:cs typeface="+mn-cs"/>
              </a:rPr>
              <a:t>Provide descriptions for options available for different types of travel insurance available</a:t>
            </a:r>
          </a:p>
          <a:p>
            <a:pPr marL="171450" indent="-171450">
              <a:buFont typeface="Arial" pitchFamily="34" charset="0"/>
              <a:buChar char="•"/>
            </a:pPr>
            <a:r>
              <a:rPr lang="en-AU" sz="1200" kern="1200" dirty="0" smtClean="0">
                <a:solidFill>
                  <a:schemeClr val="tx1"/>
                </a:solidFill>
                <a:ea typeface="+mn-ea"/>
                <a:cs typeface="+mn-cs"/>
              </a:rPr>
              <a:t>Give cost prices (‘premiums’) for policies</a:t>
            </a:r>
          </a:p>
          <a:p>
            <a:pPr marL="171450" indent="-171450">
              <a:buFont typeface="Arial" pitchFamily="34" charset="0"/>
              <a:buChar char="•"/>
            </a:pPr>
            <a:r>
              <a:rPr lang="en-AU" sz="1200" kern="1200" dirty="0" smtClean="0">
                <a:solidFill>
                  <a:schemeClr val="tx1"/>
                </a:solidFill>
                <a:ea typeface="+mn-ea"/>
                <a:cs typeface="+mn-cs"/>
              </a:rPr>
              <a:t>Highlight reasons to and benefits of taking travel insurance stressing potential savings and value-for-money</a:t>
            </a:r>
          </a:p>
          <a:p>
            <a:pPr marL="171450" indent="-171450">
              <a:buFont typeface="Arial" pitchFamily="34" charset="0"/>
              <a:buChar char="•"/>
            </a:pPr>
            <a:r>
              <a:rPr lang="en-AU" sz="1200" kern="1200" dirty="0" smtClean="0">
                <a:solidFill>
                  <a:schemeClr val="tx1"/>
                </a:solidFill>
                <a:ea typeface="+mn-ea"/>
                <a:cs typeface="+mn-cs"/>
              </a:rPr>
              <a:t>Describe coverage and claim procedure</a:t>
            </a:r>
          </a:p>
          <a:p>
            <a:pPr marL="171450" indent="-171450">
              <a:buFont typeface="Arial" pitchFamily="34" charset="0"/>
              <a:buChar char="•"/>
            </a:pPr>
            <a:r>
              <a:rPr lang="en-AU" sz="1200" kern="1200" dirty="0" smtClean="0">
                <a:solidFill>
                  <a:schemeClr val="tx1"/>
                </a:solidFill>
                <a:ea typeface="+mn-ea"/>
                <a:cs typeface="+mn-cs"/>
              </a:rPr>
              <a:t>List exclusions and explain ‘terms and conditions’</a:t>
            </a:r>
          </a:p>
          <a:p>
            <a:pPr marL="171450" indent="-171450">
              <a:buFont typeface="Arial" pitchFamily="34" charset="0"/>
              <a:buChar char="•"/>
            </a:pPr>
            <a:r>
              <a:rPr lang="en-AU" sz="1200" kern="1200" dirty="0" smtClean="0">
                <a:solidFill>
                  <a:schemeClr val="tx1"/>
                </a:solidFill>
                <a:ea typeface="+mn-ea"/>
                <a:cs typeface="+mn-cs"/>
              </a:rPr>
              <a:t>Detail application process.</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Guest Speaker from travel/tour</a:t>
            </a:r>
            <a:r>
              <a:rPr lang="en-US" b="0" baseline="0" dirty="0" smtClean="0"/>
              <a:t> business to discuss travel insurance and explain what it covers, how to promote/sell it, how much it costs, commissions payable and the reporting/claiming procedure.</a:t>
            </a:r>
            <a:endParaRPr lang="en-US" b="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 xmlns:p14="http://schemas.microsoft.com/office/powerpoint/2010/main" val="347898800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talks about context for providing theft minimisation advice to customers stating </a:t>
            </a:r>
            <a:r>
              <a:rPr lang="en-AU" sz="1200" kern="1200" dirty="0" smtClean="0">
                <a:solidFill>
                  <a:schemeClr val="tx1"/>
                </a:solidFill>
                <a:ea typeface="+mn-ea"/>
                <a:cs typeface="+mn-cs"/>
              </a:rPr>
              <a:t>this information is necessary in order for businesses to:</a:t>
            </a:r>
          </a:p>
          <a:p>
            <a:pPr marL="171450" indent="-171450">
              <a:buFont typeface="Arial" pitchFamily="34" charset="0"/>
              <a:buChar char="•"/>
            </a:pPr>
            <a:r>
              <a:rPr lang="en-AU" sz="1200" kern="1200" dirty="0" smtClean="0">
                <a:solidFill>
                  <a:schemeClr val="tx1"/>
                </a:solidFill>
                <a:ea typeface="+mn-ea"/>
                <a:cs typeface="+mn-cs"/>
              </a:rPr>
              <a:t>Discharge their common law ‘duty of care’ which requires them to take action to prevent ‘foreseeable harm’ to their customers</a:t>
            </a:r>
          </a:p>
          <a:p>
            <a:pPr marL="171450" indent="-171450">
              <a:buFont typeface="Arial" pitchFamily="34" charset="0"/>
              <a:buChar char="•"/>
            </a:pPr>
            <a:r>
              <a:rPr lang="en-AU" sz="1200" kern="1200" dirty="0" smtClean="0">
                <a:solidFill>
                  <a:schemeClr val="tx1"/>
                </a:solidFill>
                <a:ea typeface="+mn-ea"/>
                <a:cs typeface="+mn-cs"/>
              </a:rPr>
              <a:t>Enhance the satisfaction (and safety and security) of customers while they are tour so they are more likely to become repeat customers as well as advocates for the business.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 xmlns:p14="http://schemas.microsoft.com/office/powerpoint/2010/main" val="124878986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information </a:t>
            </a:r>
            <a:r>
              <a:rPr lang="en-AU" sz="1200" kern="1200" dirty="0" smtClean="0">
                <a:solidFill>
                  <a:schemeClr val="tx1"/>
                </a:solidFill>
                <a:ea typeface="+mn-ea"/>
                <a:cs typeface="+mn-cs"/>
              </a:rPr>
              <a:t>may commonly be provided:</a:t>
            </a:r>
          </a:p>
          <a:p>
            <a:pPr marL="171450" indent="-171450">
              <a:buFont typeface="Arial" pitchFamily="34" charset="0"/>
              <a:buChar char="•"/>
            </a:pPr>
            <a:r>
              <a:rPr lang="en-AU" sz="1200" kern="1200" dirty="0" smtClean="0">
                <a:solidFill>
                  <a:schemeClr val="tx1"/>
                </a:solidFill>
                <a:ea typeface="+mn-ea"/>
                <a:cs typeface="+mn-cs"/>
              </a:rPr>
              <a:t>Verbally – most advice where the business feels there is a need to name/identify specific persons or businesses as being persons/places to avoid are conveyed in this form to help avoid possible legal action for slander</a:t>
            </a:r>
          </a:p>
          <a:p>
            <a:pPr marL="171450" indent="-171450">
              <a:buFont typeface="Arial" pitchFamily="34" charset="0"/>
              <a:buChar char="•"/>
            </a:pPr>
            <a:r>
              <a:rPr lang="en-AU" sz="1200" kern="1200" dirty="0" smtClean="0">
                <a:solidFill>
                  <a:schemeClr val="tx1"/>
                </a:solidFill>
                <a:ea typeface="+mn-ea"/>
                <a:cs typeface="+mn-cs"/>
              </a:rPr>
              <a:t>In  written form – in the form of a list/handout which may be:</a:t>
            </a:r>
          </a:p>
          <a:p>
            <a:pPr marL="628650" lvl="1" indent="-171450">
              <a:buFont typeface="Arial" pitchFamily="34" charset="0"/>
              <a:buChar char="•"/>
            </a:pPr>
            <a:r>
              <a:rPr lang="en-AU" sz="1200" kern="1200" dirty="0" smtClean="0">
                <a:solidFill>
                  <a:schemeClr val="tx1"/>
                </a:solidFill>
                <a:ea typeface="+mn-ea"/>
                <a:cs typeface="+mn-cs"/>
              </a:rPr>
              <a:t>Given when tickets are purchased </a:t>
            </a:r>
          </a:p>
          <a:p>
            <a:pPr marL="628650" lvl="1" indent="-171450">
              <a:buFont typeface="Arial" pitchFamily="34" charset="0"/>
              <a:buChar char="•"/>
            </a:pPr>
            <a:r>
              <a:rPr lang="en-AU" sz="1200" kern="1200" dirty="0" smtClean="0">
                <a:solidFill>
                  <a:schemeClr val="tx1"/>
                </a:solidFill>
                <a:ea typeface="+mn-ea"/>
                <a:cs typeface="+mn-cs"/>
              </a:rPr>
              <a:t>Included in the travel/ticket wallet</a:t>
            </a:r>
          </a:p>
          <a:p>
            <a:pPr marL="628650" lvl="1" indent="-171450">
              <a:buFont typeface="Arial" pitchFamily="34" charset="0"/>
              <a:buChar char="•"/>
            </a:pPr>
            <a:r>
              <a:rPr lang="en-AU" sz="1200" kern="1200" dirty="0" smtClean="0">
                <a:solidFill>
                  <a:schemeClr val="tx1"/>
                </a:solidFill>
                <a:ea typeface="+mn-ea"/>
                <a:cs typeface="+mn-cs"/>
              </a:rPr>
              <a:t>Distributed at a pre-trip briefing</a:t>
            </a:r>
          </a:p>
          <a:p>
            <a:pPr marL="628650" lvl="1" indent="-171450">
              <a:buFont typeface="Arial" pitchFamily="34" charset="0"/>
              <a:buChar char="•"/>
            </a:pPr>
            <a:r>
              <a:rPr lang="en-AU" sz="1200" kern="1200" dirty="0" smtClean="0">
                <a:solidFill>
                  <a:schemeClr val="tx1"/>
                </a:solidFill>
                <a:ea typeface="+mn-ea"/>
                <a:cs typeface="+mn-cs"/>
              </a:rPr>
              <a:t>Handed out on arrival at destinations.</a:t>
            </a:r>
          </a:p>
          <a:p>
            <a:pPr marL="628650" lvl="1" indent="-171450">
              <a:buFont typeface="Arial" pitchFamily="34" charset="0"/>
              <a:buChar char="•"/>
            </a:pPr>
            <a:r>
              <a:rPr lang="en-AU" sz="1200" kern="1200" dirty="0" smtClean="0">
                <a:solidFill>
                  <a:schemeClr val="tx1"/>
                </a:solidFill>
                <a:ea typeface="+mn-ea"/>
                <a:cs typeface="+mn-cs"/>
              </a:rPr>
              <a:t>On the company website – for people to access as they want.</a:t>
            </a:r>
          </a:p>
          <a:p>
            <a:pPr>
              <a:buFont typeface="Arial" pitchFamily="34" charset="0"/>
              <a:buNone/>
            </a:pPr>
            <a:endParaRPr lang="en-US" dirty="0" smtClean="0"/>
          </a:p>
          <a:p>
            <a:pPr>
              <a:buFont typeface="Arial" pitchFamily="34" charset="0"/>
              <a:buNone/>
            </a:pPr>
            <a:r>
              <a:rPr lang="en-US" b="1" dirty="0" smtClean="0"/>
              <a:t>Class Activity – Demonstration and Role Play</a:t>
            </a:r>
          </a:p>
          <a:p>
            <a:pPr>
              <a:buFont typeface="Arial" pitchFamily="34" charset="0"/>
              <a:buNone/>
            </a:pPr>
            <a:r>
              <a:rPr lang="en-US" b="0" dirty="0" smtClean="0"/>
              <a:t>Trainer demonstrates</a:t>
            </a:r>
            <a:r>
              <a:rPr lang="en-US" b="0" baseline="0" dirty="0" smtClean="0"/>
              <a:t> how to verbally provide advice/information to travelers/tourists (using the information provided on previous slides) and provides opportunity for students to practice same.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 xmlns:p14="http://schemas.microsoft.com/office/powerpoint/2010/main" val="337876028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clarifies names/job roles and titles stating:</a:t>
            </a:r>
          </a:p>
          <a:p>
            <a:pPr marL="171450" indent="-171450">
              <a:buFont typeface="Arial" pitchFamily="34" charset="0"/>
              <a:buChar char="•"/>
            </a:pPr>
            <a:r>
              <a:rPr lang="en-AU" sz="1200" kern="1200" dirty="0" smtClean="0">
                <a:solidFill>
                  <a:schemeClr val="tx1"/>
                </a:solidFill>
                <a:ea typeface="+mn-ea"/>
                <a:cs typeface="+mn-cs"/>
              </a:rPr>
              <a:t>Tour hosts and tour escorts are the same thing.</a:t>
            </a:r>
          </a:p>
          <a:p>
            <a:pPr marL="171450" indent="-171450">
              <a:buFont typeface="Arial" pitchFamily="34" charset="0"/>
              <a:buChar char="•"/>
            </a:pPr>
            <a:r>
              <a:rPr lang="en-AU" sz="1200" kern="1200" dirty="0" smtClean="0">
                <a:solidFill>
                  <a:schemeClr val="tx1"/>
                </a:solidFill>
                <a:ea typeface="+mn-ea"/>
                <a:cs typeface="+mn-cs"/>
              </a:rPr>
              <a:t>They are two different terms for the same job position/title.</a:t>
            </a:r>
          </a:p>
          <a:p>
            <a:pPr marL="171450" indent="-171450">
              <a:buFont typeface="Arial" pitchFamily="34" charset="0"/>
              <a:buChar char="•"/>
            </a:pPr>
            <a:r>
              <a:rPr lang="en-AU" sz="1200" kern="1200" dirty="0" smtClean="0">
                <a:solidFill>
                  <a:schemeClr val="tx1"/>
                </a:solidFill>
                <a:ea typeface="+mn-ea"/>
                <a:cs typeface="+mn-cs"/>
              </a:rPr>
              <a:t>There is no legal, or generally-accepted, industry-wide accepted definition for the position.</a:t>
            </a:r>
          </a:p>
          <a:p>
            <a:pPr marL="171450" indent="-171450">
              <a:buFont typeface="Arial" pitchFamily="34" charset="0"/>
              <a:buChar char="•"/>
            </a:pPr>
            <a:r>
              <a:rPr lang="en-AU" sz="1200" kern="1200" dirty="0" smtClean="0">
                <a:solidFill>
                  <a:schemeClr val="tx1"/>
                </a:solidFill>
                <a:ea typeface="+mn-ea"/>
                <a:cs typeface="+mn-cs"/>
              </a:rPr>
              <a:t>While they may perform some tour/tourist guide duties they are not tour guides: they provide many more services than a tour/tourist guide.</a:t>
            </a:r>
          </a:p>
          <a:p>
            <a:pPr>
              <a:buFont typeface="Arial" pitchFamily="34" charset="0"/>
              <a:buNone/>
            </a:pPr>
            <a:endParaRPr lang="en-US" dirty="0" smtClean="0"/>
          </a:p>
          <a:p>
            <a:pPr>
              <a:buFont typeface="Arial" pitchFamily="34" charset="0"/>
              <a:buNone/>
            </a:pPr>
            <a:r>
              <a:rPr lang="en-US" b="1" dirty="0" smtClean="0"/>
              <a:t>Class Activity – Guest Speaker</a:t>
            </a:r>
            <a:endParaRPr lang="en-US" b="0" dirty="0" smtClean="0"/>
          </a:p>
          <a:p>
            <a:pPr>
              <a:buFont typeface="Arial" pitchFamily="34" charset="0"/>
              <a:buNone/>
            </a:pPr>
            <a:r>
              <a:rPr lang="en-US" b="0" dirty="0" smtClean="0"/>
              <a:t>Trainer arranges for a Tour Escort/Host</a:t>
            </a:r>
            <a:r>
              <a:rPr lang="en-US" b="0" baseline="0" dirty="0" smtClean="0"/>
              <a:t> to attend and talk to students about their role and responsibilities.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 xmlns:p14="http://schemas.microsoft.com/office/powerpoint/2010/main" val="165472025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t>
            </a:r>
            <a:r>
              <a:rPr lang="en-AU" sz="1200" kern="1200" dirty="0" smtClean="0">
                <a:solidFill>
                  <a:schemeClr val="tx1"/>
                </a:solidFill>
                <a:ea typeface="+mn-ea"/>
                <a:cs typeface="+mn-cs"/>
              </a:rPr>
              <a:t>tours, trips and travel which are normally provided with hosts and escorts include:</a:t>
            </a:r>
          </a:p>
          <a:p>
            <a:pPr marL="171450" indent="-171450">
              <a:buFont typeface="Arial" pitchFamily="34" charset="0"/>
              <a:buChar char="•"/>
            </a:pPr>
            <a:r>
              <a:rPr lang="en-AU" sz="1200" kern="1200" dirty="0" smtClean="0">
                <a:solidFill>
                  <a:schemeClr val="tx1"/>
                </a:solidFill>
                <a:ea typeface="+mn-ea"/>
                <a:cs typeface="+mn-cs"/>
              </a:rPr>
              <a:t>Those targeted at older customers</a:t>
            </a:r>
          </a:p>
          <a:p>
            <a:pPr marL="171450" indent="-171450">
              <a:buFont typeface="Arial" pitchFamily="34" charset="0"/>
              <a:buChar char="•"/>
            </a:pPr>
            <a:r>
              <a:rPr lang="en-AU" sz="1200" kern="1200" dirty="0" smtClean="0">
                <a:solidFill>
                  <a:schemeClr val="tx1"/>
                </a:solidFill>
                <a:ea typeface="+mn-ea"/>
                <a:cs typeface="+mn-cs"/>
              </a:rPr>
              <a:t>Longer duration travel – of multiple days/weeks</a:t>
            </a:r>
          </a:p>
          <a:p>
            <a:pPr marL="171450" indent="-171450">
              <a:buFont typeface="Arial" pitchFamily="34" charset="0"/>
              <a:buChar char="•"/>
            </a:pPr>
            <a:r>
              <a:rPr lang="en-AU" sz="1200" kern="1200" dirty="0" smtClean="0">
                <a:solidFill>
                  <a:schemeClr val="tx1"/>
                </a:solidFill>
                <a:ea typeface="+mn-ea"/>
                <a:cs typeface="+mn-cs"/>
              </a:rPr>
              <a:t>Travel to foreign places – especially where language is expected to be an issue</a:t>
            </a:r>
          </a:p>
          <a:p>
            <a:pPr marL="171450" indent="-171450">
              <a:buFont typeface="Arial" pitchFamily="34" charset="0"/>
              <a:buChar char="•"/>
            </a:pPr>
            <a:r>
              <a:rPr lang="en-AU" sz="1200" kern="1200" dirty="0" smtClean="0">
                <a:solidFill>
                  <a:schemeClr val="tx1"/>
                </a:solidFill>
                <a:ea typeface="+mn-ea"/>
                <a:cs typeface="+mn-cs"/>
              </a:rPr>
              <a:t>Prestige (high-class, expensive) trips.</a:t>
            </a:r>
          </a:p>
          <a:p>
            <a:r>
              <a:rPr lang="en-AU" sz="1200" kern="1200" dirty="0" smtClean="0">
                <a:solidFill>
                  <a:schemeClr val="tx1"/>
                </a:solidFill>
                <a:ea typeface="+mn-ea"/>
                <a:cs typeface="+mn-cs"/>
              </a:rPr>
              <a:t>Where a tour or package features a host/escort it is referred to as ‘an escorted tour’ to differentiate it from one without a host/escort. </a:t>
            </a:r>
          </a:p>
          <a:p>
            <a:r>
              <a:rPr lang="en-AU" sz="1200" b="1" kern="1200" dirty="0" smtClean="0">
                <a:solidFill>
                  <a:schemeClr val="tx1"/>
                </a:solidFill>
                <a:ea typeface="+mn-ea"/>
                <a:cs typeface="+mn-cs"/>
              </a:rPr>
              <a:t>Note:</a:t>
            </a:r>
            <a:r>
              <a:rPr lang="en-AU" sz="1200" kern="1200" dirty="0" smtClean="0">
                <a:solidFill>
                  <a:schemeClr val="tx1"/>
                </a:solidFill>
                <a:ea typeface="+mn-ea"/>
                <a:cs typeface="+mn-cs"/>
              </a:rPr>
              <a:t> if the agency/operator does not provide a host/escort as part of the package/deal customers can often engage their own at each destination on a fee-for-service basis.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 xmlns:p14="http://schemas.microsoft.com/office/powerpoint/2010/main" val="346648546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a:t>
            </a:r>
            <a:r>
              <a:rPr lang="en-US" baseline="0" dirty="0" smtClean="0"/>
              <a:t> possible roles and responsibilities of Tour Escorts/Hosts:</a:t>
            </a:r>
          </a:p>
          <a:p>
            <a:pPr marL="171450" indent="-171450">
              <a:buFont typeface="Arial" pitchFamily="34" charset="0"/>
              <a:buChar char="•"/>
            </a:pPr>
            <a:r>
              <a:rPr lang="en-AU" sz="1200" kern="1200" dirty="0" smtClean="0">
                <a:solidFill>
                  <a:schemeClr val="tx1"/>
                </a:solidFill>
                <a:ea typeface="+mn-ea"/>
                <a:cs typeface="+mn-cs"/>
              </a:rPr>
              <a:t>Accompanying the tour group members at all time they are on tour</a:t>
            </a:r>
          </a:p>
          <a:p>
            <a:pPr marL="171450" indent="-171450">
              <a:buFont typeface="Arial" pitchFamily="34" charset="0"/>
              <a:buChar char="•"/>
            </a:pPr>
            <a:r>
              <a:rPr lang="en-AU" sz="1200" kern="1200" dirty="0" smtClean="0">
                <a:solidFill>
                  <a:schemeClr val="tx1"/>
                </a:solidFill>
                <a:ea typeface="+mn-ea"/>
                <a:cs typeface="+mn-cs"/>
              </a:rPr>
              <a:t>Providing information and commentary</a:t>
            </a:r>
          </a:p>
          <a:p>
            <a:pPr marL="171450" indent="-171450">
              <a:buFont typeface="Arial" pitchFamily="34" charset="0"/>
              <a:buChar char="•"/>
            </a:pPr>
            <a:r>
              <a:rPr lang="en-AU" sz="1200" kern="1200" dirty="0" smtClean="0">
                <a:solidFill>
                  <a:schemeClr val="tx1"/>
                </a:solidFill>
                <a:ea typeface="+mn-ea"/>
                <a:cs typeface="+mn-cs"/>
              </a:rPr>
              <a:t>Facilitating social cohesion of the group</a:t>
            </a:r>
          </a:p>
          <a:p>
            <a:pPr marL="171450" indent="-171450">
              <a:buFont typeface="Arial" pitchFamily="34" charset="0"/>
              <a:buChar char="•"/>
            </a:pPr>
            <a:r>
              <a:rPr lang="en-AU" sz="1200" kern="1200" dirty="0" smtClean="0">
                <a:solidFill>
                  <a:schemeClr val="tx1"/>
                </a:solidFill>
                <a:ea typeface="+mn-ea"/>
                <a:cs typeface="+mn-cs"/>
              </a:rPr>
              <a:t>Avoiding tour group member confusion and uncertainty by providing necessary explanations and clarifications</a:t>
            </a:r>
          </a:p>
          <a:p>
            <a:pPr marL="171450" indent="-171450">
              <a:buFont typeface="Arial" pitchFamily="34" charset="0"/>
              <a:buChar char="•"/>
            </a:pPr>
            <a:r>
              <a:rPr lang="en-AU" sz="1200" kern="1200" dirty="0" smtClean="0">
                <a:solidFill>
                  <a:schemeClr val="tx1"/>
                </a:solidFill>
                <a:ea typeface="+mn-ea"/>
                <a:cs typeface="+mn-cs"/>
              </a:rPr>
              <a:t>Advising of local conditions, customs, laws, rituals and restrictions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 xmlns:p14="http://schemas.microsoft.com/office/powerpoint/2010/main" val="147464062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possible roles and responsibilities of Tour Escort/Host:</a:t>
            </a:r>
          </a:p>
          <a:p>
            <a:pPr marL="171450" indent="-171450">
              <a:buFont typeface="Arial" pitchFamily="34" charset="0"/>
              <a:buChar char="•"/>
            </a:pPr>
            <a:r>
              <a:rPr lang="en-AU" sz="1200" kern="1200" dirty="0" smtClean="0">
                <a:solidFill>
                  <a:schemeClr val="tx1"/>
                </a:solidFill>
                <a:ea typeface="+mn-ea"/>
                <a:cs typeface="+mn-cs"/>
              </a:rPr>
              <a:t>Responding to general travel, tour, transport, scheduling and /or itinerary questions </a:t>
            </a:r>
          </a:p>
          <a:p>
            <a:pPr marL="171450" indent="-171450">
              <a:buFont typeface="Arial" pitchFamily="34" charset="0"/>
              <a:buChar char="•"/>
            </a:pPr>
            <a:r>
              <a:rPr lang="en-AU" sz="1200" kern="1200" dirty="0" smtClean="0">
                <a:solidFill>
                  <a:schemeClr val="tx1"/>
                </a:solidFill>
                <a:ea typeface="+mn-ea"/>
                <a:cs typeface="+mn-cs"/>
              </a:rPr>
              <a:t>Protecting physical property and people</a:t>
            </a:r>
          </a:p>
          <a:p>
            <a:pPr marL="171450" indent="-171450">
              <a:buFont typeface="Arial" pitchFamily="34" charset="0"/>
              <a:buChar char="•"/>
            </a:pPr>
            <a:r>
              <a:rPr lang="en-AU" sz="1200" kern="1200" dirty="0" smtClean="0">
                <a:solidFill>
                  <a:schemeClr val="tx1"/>
                </a:solidFill>
                <a:ea typeface="+mn-ea"/>
                <a:cs typeface="+mn-cs"/>
              </a:rPr>
              <a:t>Monitoring individual and group activity, behaviour and language to ensure compliance with laws and local custom, and to avoid unintended offence</a:t>
            </a:r>
          </a:p>
          <a:p>
            <a:pPr marL="171450" indent="-171450">
              <a:buFont typeface="Arial" pitchFamily="34" charset="0"/>
              <a:buChar char="•"/>
            </a:pPr>
            <a:r>
              <a:rPr lang="en-AU" sz="1200" kern="1200" dirty="0" smtClean="0">
                <a:solidFill>
                  <a:schemeClr val="tx1"/>
                </a:solidFill>
                <a:ea typeface="+mn-ea"/>
                <a:cs typeface="+mn-cs"/>
              </a:rPr>
              <a:t>Giving physical assistance as required – carrying luggage, getting on and off transport</a:t>
            </a:r>
          </a:p>
          <a:p>
            <a:pPr marL="171450" indent="-171450">
              <a:buFont typeface="Arial" pitchFamily="34" charset="0"/>
              <a:buChar char="•"/>
            </a:pPr>
            <a:r>
              <a:rPr lang="en-AU" sz="1200" kern="1200" dirty="0" smtClean="0">
                <a:solidFill>
                  <a:schemeClr val="tx1"/>
                </a:solidFill>
                <a:ea typeface="+mn-ea"/>
                <a:cs typeface="+mn-cs"/>
              </a:rPr>
              <a:t>Registering tour group members at accommodation venues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 xmlns:p14="http://schemas.microsoft.com/office/powerpoint/2010/main" val="156156051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possible roles and responsibilities of Tour Escort/Host:</a:t>
            </a:r>
          </a:p>
          <a:p>
            <a:pPr marL="171450" indent="-171450">
              <a:buFont typeface="Arial" pitchFamily="34" charset="0"/>
              <a:buChar char="•"/>
            </a:pPr>
            <a:r>
              <a:rPr lang="en-AU" sz="1200" kern="1200" dirty="0" smtClean="0">
                <a:solidFill>
                  <a:schemeClr val="tx1"/>
                </a:solidFill>
                <a:ea typeface="+mn-ea"/>
                <a:cs typeface="+mn-cs"/>
              </a:rPr>
              <a:t>Issuing required vouchers, coupons, tickets and other documentation at venues and destinations</a:t>
            </a:r>
          </a:p>
          <a:p>
            <a:pPr marL="171450" indent="-171450">
              <a:buFont typeface="Arial" pitchFamily="34" charset="0"/>
              <a:buChar char="•"/>
            </a:pPr>
            <a:r>
              <a:rPr lang="en-AU" sz="1200" kern="1200" dirty="0" smtClean="0">
                <a:solidFill>
                  <a:schemeClr val="tx1"/>
                </a:solidFill>
                <a:ea typeface="+mn-ea"/>
                <a:cs typeface="+mn-cs"/>
              </a:rPr>
              <a:t>Checking appropriate paperwork is completed by tour group members when they enter and leave countries</a:t>
            </a:r>
          </a:p>
          <a:p>
            <a:pPr marL="171450" indent="-171450">
              <a:buFont typeface="Arial" pitchFamily="34" charset="0"/>
              <a:buChar char="•"/>
            </a:pPr>
            <a:r>
              <a:rPr lang="en-AU" sz="1200" kern="1200" dirty="0" smtClean="0">
                <a:solidFill>
                  <a:schemeClr val="tx1"/>
                </a:solidFill>
                <a:ea typeface="+mn-ea"/>
                <a:cs typeface="+mn-cs"/>
              </a:rPr>
              <a:t>Handling tipping of service staff at meal times and other appropriate occasions</a:t>
            </a:r>
          </a:p>
          <a:p>
            <a:pPr marL="171450" indent="-171450">
              <a:buFont typeface="Arial" pitchFamily="34" charset="0"/>
              <a:buChar char="•"/>
            </a:pPr>
            <a:r>
              <a:rPr lang="en-AU" sz="1200" kern="1200" dirty="0" smtClean="0">
                <a:solidFill>
                  <a:schemeClr val="tx1"/>
                </a:solidFill>
                <a:ea typeface="+mn-ea"/>
                <a:cs typeface="+mn-cs"/>
              </a:rPr>
              <a:t>Dealing with emergency situations and issues arising</a:t>
            </a:r>
          </a:p>
          <a:p>
            <a:pPr marL="171450" indent="-171450">
              <a:buFont typeface="Arial" pitchFamily="34" charset="0"/>
              <a:buChar char="•"/>
            </a:pPr>
            <a:r>
              <a:rPr lang="en-AU" sz="1200" kern="1200" dirty="0" smtClean="0">
                <a:solidFill>
                  <a:schemeClr val="tx1"/>
                </a:solidFill>
                <a:ea typeface="+mn-ea"/>
                <a:cs typeface="+mn-cs"/>
              </a:rPr>
              <a:t>Leading, directing and managing the trip</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 xmlns:p14="http://schemas.microsoft.com/office/powerpoint/2010/main" val="3173183405"/>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r>
              <a:rPr lang="en-US" dirty="0" smtClean="0"/>
              <a:t>Trainer continues identifying possible roles and responsibilities of Tour Escort/Host:</a:t>
            </a:r>
          </a:p>
          <a:p>
            <a:pPr marL="171450" indent="-171450">
              <a:buFont typeface="Arial" pitchFamily="34" charset="0"/>
              <a:buChar char="•"/>
            </a:pPr>
            <a:r>
              <a:rPr lang="en-AU" sz="1200" kern="1200" dirty="0" smtClean="0">
                <a:solidFill>
                  <a:schemeClr val="tx1"/>
                </a:solidFill>
                <a:ea typeface="+mn-ea"/>
                <a:cs typeface="+mn-cs"/>
              </a:rPr>
              <a:t>Negotiating deals and situations on behalf of the group</a:t>
            </a:r>
          </a:p>
          <a:p>
            <a:pPr marL="171450" indent="-171450">
              <a:buFont typeface="Arial" pitchFamily="34" charset="0"/>
              <a:buChar char="•"/>
            </a:pPr>
            <a:r>
              <a:rPr lang="en-AU" sz="1200" kern="1200" dirty="0" smtClean="0">
                <a:solidFill>
                  <a:schemeClr val="tx1"/>
                </a:solidFill>
                <a:ea typeface="+mn-ea"/>
                <a:cs typeface="+mn-cs"/>
              </a:rPr>
              <a:t>Managing and resolving conflict and dissatisfaction within the group</a:t>
            </a:r>
          </a:p>
          <a:p>
            <a:pPr marL="171450" indent="-171450">
              <a:buFont typeface="Arial" pitchFamily="34" charset="0"/>
              <a:buChar char="•"/>
            </a:pPr>
            <a:r>
              <a:rPr lang="en-AU" sz="1200" kern="1200" dirty="0" smtClean="0">
                <a:solidFill>
                  <a:schemeClr val="tx1"/>
                </a:solidFill>
                <a:ea typeface="+mn-ea"/>
                <a:cs typeface="+mn-cs"/>
              </a:rPr>
              <a:t>Liaising with local operators, officials, contacts and business partners</a:t>
            </a:r>
          </a:p>
          <a:p>
            <a:pPr marL="171450" indent="-171450">
              <a:buFont typeface="Arial" pitchFamily="34" charset="0"/>
              <a:buChar char="•"/>
            </a:pPr>
            <a:r>
              <a:rPr lang="en-AU" sz="1200" kern="1200" dirty="0" smtClean="0">
                <a:solidFill>
                  <a:schemeClr val="tx1"/>
                </a:solidFill>
                <a:ea typeface="+mn-ea"/>
                <a:cs typeface="+mn-cs"/>
              </a:rPr>
              <a:t>Providing on tour safe-keeping facilities for tour group members – see following slides.</a:t>
            </a:r>
          </a:p>
          <a:p>
            <a:r>
              <a:rPr lang="en-AU" sz="1200" kern="1200" dirty="0" smtClean="0">
                <a:solidFill>
                  <a:schemeClr val="tx1"/>
                </a:solidFill>
                <a:ea typeface="+mn-ea"/>
                <a:cs typeface="+mn-cs"/>
              </a:rPr>
              <a:t>Individual agencies/operators may have a list of additional services, duties or tasks they require hosts/escorts to deliver and these vary dependent on the type, nature and duration of the trip/tour. </a:t>
            </a:r>
          </a:p>
          <a:p>
            <a:r>
              <a:rPr lang="en-AU" sz="1200" kern="1200" dirty="0" smtClean="0">
                <a:solidFill>
                  <a:schemeClr val="tx1"/>
                </a:solidFill>
                <a:ea typeface="+mn-ea"/>
                <a:cs typeface="+mn-cs"/>
              </a:rPr>
              <a:t>For example, on some tours/trips the host might also drive the vehicle, set-up camp and cook meals.</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 xmlns:p14="http://schemas.microsoft.com/office/powerpoint/2010/main" val="171882557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items needing to be secured while</a:t>
            </a:r>
            <a:r>
              <a:rPr lang="en-US" baseline="0" dirty="0" smtClean="0"/>
              <a:t> on tour stating this requirement applies to:</a:t>
            </a:r>
          </a:p>
          <a:p>
            <a:pPr marL="171450" indent="-171450">
              <a:buFont typeface="Arial" pitchFamily="34" charset="0"/>
              <a:buChar char="•"/>
            </a:pPr>
            <a:r>
              <a:rPr lang="en-AU" sz="1200" kern="1200" dirty="0" smtClean="0">
                <a:solidFill>
                  <a:schemeClr val="tx1"/>
                </a:solidFill>
                <a:ea typeface="+mn-ea"/>
                <a:cs typeface="+mn-cs"/>
              </a:rPr>
              <a:t>All belongings of all tour group members – including:</a:t>
            </a:r>
          </a:p>
          <a:p>
            <a:pPr marL="628650" lvl="1" indent="-171450">
              <a:buFont typeface="Arial" pitchFamily="34" charset="0"/>
              <a:buChar char="•"/>
            </a:pPr>
            <a:r>
              <a:rPr lang="en-AU" sz="1200" kern="1200" dirty="0" smtClean="0">
                <a:solidFill>
                  <a:schemeClr val="tx1"/>
                </a:solidFill>
                <a:ea typeface="+mn-ea"/>
                <a:cs typeface="+mn-cs"/>
              </a:rPr>
              <a:t>Valuables – jewellery, cameras, watches, laptops</a:t>
            </a:r>
          </a:p>
          <a:p>
            <a:pPr marL="628650" lvl="1" indent="-171450">
              <a:buFont typeface="Arial" pitchFamily="34" charset="0"/>
              <a:buChar char="•"/>
            </a:pPr>
            <a:r>
              <a:rPr lang="en-AU" sz="1200" kern="1200" dirty="0" smtClean="0">
                <a:solidFill>
                  <a:schemeClr val="tx1"/>
                </a:solidFill>
                <a:ea typeface="+mn-ea"/>
                <a:cs typeface="+mn-cs"/>
              </a:rPr>
              <a:t>Luggage and bags</a:t>
            </a:r>
          </a:p>
          <a:p>
            <a:pPr marL="628650" lvl="1" indent="-171450">
              <a:buFont typeface="Arial" pitchFamily="34" charset="0"/>
              <a:buChar char="•"/>
            </a:pPr>
            <a:r>
              <a:rPr lang="en-AU" sz="1200" kern="1200" dirty="0" smtClean="0">
                <a:solidFill>
                  <a:schemeClr val="tx1"/>
                </a:solidFill>
                <a:ea typeface="+mn-ea"/>
                <a:cs typeface="+mn-cs"/>
              </a:rPr>
              <a:t>Cash</a:t>
            </a:r>
          </a:p>
          <a:p>
            <a:pPr marL="628650" lvl="1" indent="-171450">
              <a:buFont typeface="Arial" pitchFamily="34" charset="0"/>
              <a:buChar char="•"/>
            </a:pPr>
            <a:r>
              <a:rPr lang="en-AU" sz="1200" kern="1200" dirty="0" smtClean="0">
                <a:solidFill>
                  <a:schemeClr val="tx1"/>
                </a:solidFill>
                <a:ea typeface="+mn-ea"/>
                <a:cs typeface="+mn-cs"/>
              </a:rPr>
              <a:t>Travel documents</a:t>
            </a:r>
          </a:p>
          <a:p>
            <a:pPr marL="628650" lvl="1" indent="-171450">
              <a:buFont typeface="Arial" pitchFamily="34" charset="0"/>
              <a:buChar char="•"/>
            </a:pPr>
            <a:r>
              <a:rPr lang="en-AU" sz="1200" kern="1200" dirty="0" smtClean="0">
                <a:solidFill>
                  <a:schemeClr val="tx1"/>
                </a:solidFill>
                <a:ea typeface="+mn-ea"/>
                <a:cs typeface="+mn-cs"/>
              </a:rPr>
              <a:t>Personal items – which may have little monetary value but are of significant sentimental value to customers</a:t>
            </a:r>
          </a:p>
          <a:p>
            <a:pPr marL="171450" indent="-171450">
              <a:buFont typeface="Arial" pitchFamily="34" charset="0"/>
              <a:buChar char="•"/>
            </a:pPr>
            <a:r>
              <a:rPr lang="en-AU" sz="1200" kern="1200" dirty="0" smtClean="0">
                <a:solidFill>
                  <a:schemeClr val="tx1"/>
                </a:solidFill>
                <a:ea typeface="+mn-ea"/>
                <a:cs typeface="+mn-cs"/>
              </a:rPr>
              <a:t> All resources belonging to the tour company/operator – which may include:</a:t>
            </a:r>
          </a:p>
          <a:p>
            <a:pPr marL="628650" lvl="1" indent="-171450">
              <a:buFont typeface="Arial" pitchFamily="34" charset="0"/>
              <a:buChar char="•"/>
            </a:pPr>
            <a:r>
              <a:rPr lang="en-AU" sz="1200" kern="1200" dirty="0" smtClean="0">
                <a:solidFill>
                  <a:schemeClr val="tx1"/>
                </a:solidFill>
                <a:ea typeface="+mn-ea"/>
                <a:cs typeface="+mn-cs"/>
              </a:rPr>
              <a:t>Cash, cheques and credit cards</a:t>
            </a:r>
          </a:p>
          <a:p>
            <a:pPr marL="628650" lvl="1" indent="-171450">
              <a:buFont typeface="Arial" pitchFamily="34" charset="0"/>
              <a:buChar char="•"/>
            </a:pPr>
            <a:r>
              <a:rPr lang="en-AU" sz="1200" kern="1200" dirty="0" smtClean="0">
                <a:solidFill>
                  <a:schemeClr val="tx1"/>
                </a:solidFill>
                <a:ea typeface="+mn-ea"/>
                <a:cs typeface="+mn-cs"/>
              </a:rPr>
              <a:t>Vehicles – and in some cases, pack animals</a:t>
            </a:r>
          </a:p>
          <a:p>
            <a:pPr marL="628650" lvl="1" indent="-171450">
              <a:buFont typeface="Arial" pitchFamily="34" charset="0"/>
              <a:buChar char="•"/>
            </a:pPr>
            <a:r>
              <a:rPr lang="en-AU" sz="1200" kern="1200" dirty="0" smtClean="0">
                <a:solidFill>
                  <a:schemeClr val="tx1"/>
                </a:solidFill>
                <a:ea typeface="+mn-ea"/>
                <a:cs typeface="+mn-cs"/>
              </a:rPr>
              <a:t>Camping and cooking equipment</a:t>
            </a:r>
          </a:p>
          <a:p>
            <a:pPr marL="628650" lvl="1" indent="-171450">
              <a:buFont typeface="Arial" pitchFamily="34" charset="0"/>
              <a:buChar char="•"/>
            </a:pPr>
            <a:r>
              <a:rPr lang="en-AU" sz="1200" kern="1200" dirty="0" smtClean="0">
                <a:solidFill>
                  <a:schemeClr val="tx1"/>
                </a:solidFill>
                <a:ea typeface="+mn-ea"/>
                <a:cs typeface="+mn-cs"/>
              </a:rPr>
              <a:t>Food and beverages</a:t>
            </a:r>
          </a:p>
          <a:p>
            <a:pPr marL="628650" lvl="1" indent="-171450">
              <a:buFont typeface="Arial" pitchFamily="34" charset="0"/>
              <a:buChar char="•"/>
            </a:pPr>
            <a:r>
              <a:rPr lang="en-AU" sz="1200" kern="1200" dirty="0" smtClean="0">
                <a:solidFill>
                  <a:schemeClr val="tx1"/>
                </a:solidFill>
                <a:ea typeface="+mn-ea"/>
                <a:cs typeface="+mn-cs"/>
              </a:rPr>
              <a:t>Tickets, coupons and vouchers</a:t>
            </a:r>
          </a:p>
          <a:p>
            <a:pPr marL="171450" indent="-171450">
              <a:buFont typeface="Arial" pitchFamily="34" charset="0"/>
              <a:buChar char="•"/>
            </a:pPr>
            <a:r>
              <a:rPr lang="en-AU" sz="1200" kern="1200" dirty="0" smtClean="0">
                <a:solidFill>
                  <a:schemeClr val="tx1"/>
                </a:solidFill>
                <a:ea typeface="+mn-ea"/>
                <a:cs typeface="+mn-cs"/>
              </a:rPr>
              <a:t>All items hired on behalf of the tour company/operator and/or tour group members – such as:</a:t>
            </a:r>
          </a:p>
          <a:p>
            <a:pPr marL="628650" lvl="1" indent="-171450">
              <a:buFont typeface="Arial" pitchFamily="34" charset="0"/>
              <a:buChar char="•"/>
            </a:pPr>
            <a:r>
              <a:rPr lang="en-AU" sz="1200" kern="1200" dirty="0" smtClean="0">
                <a:solidFill>
                  <a:schemeClr val="tx1"/>
                </a:solidFill>
                <a:ea typeface="+mn-ea"/>
                <a:cs typeface="+mn-cs"/>
              </a:rPr>
              <a:t>Vehicles – buses, go-karts, scooters: for transportation, recreation, adventure or sporting purposes</a:t>
            </a:r>
          </a:p>
          <a:p>
            <a:pPr marL="628650" lvl="1" indent="-171450">
              <a:buFont typeface="Arial" pitchFamily="34" charset="0"/>
              <a:buChar char="•"/>
            </a:pPr>
            <a:r>
              <a:rPr lang="en-AU" sz="1200" kern="1200" dirty="0" smtClean="0">
                <a:solidFill>
                  <a:schemeClr val="tx1"/>
                </a:solidFill>
                <a:ea typeface="+mn-ea"/>
                <a:cs typeface="+mn-cs"/>
              </a:rPr>
              <a:t>Clothing, safety equipment and sports equipment</a:t>
            </a:r>
          </a:p>
          <a:p>
            <a:pPr marL="628650" lvl="1" indent="-171450">
              <a:buFont typeface="Arial" pitchFamily="34" charset="0"/>
              <a:buChar char="•"/>
            </a:pPr>
            <a:r>
              <a:rPr lang="en-AU" sz="1200" kern="1200" dirty="0" smtClean="0">
                <a:solidFill>
                  <a:schemeClr val="tx1"/>
                </a:solidFill>
                <a:ea typeface="+mn-ea"/>
                <a:cs typeface="+mn-cs"/>
              </a:rPr>
              <a:t>Animals – for riding.</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 xmlns:p14="http://schemas.microsoft.com/office/powerpoint/2010/main" val="615564930"/>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provides a context for providing</a:t>
            </a:r>
            <a:r>
              <a:rPr lang="en-US" baseline="0" dirty="0" smtClean="0"/>
              <a:t> safe-keeping of items while on tour stating:</a:t>
            </a:r>
          </a:p>
          <a:p>
            <a:pPr marL="171450" indent="-171450">
              <a:buFont typeface="Arial" pitchFamily="34" charset="0"/>
              <a:buChar char="•"/>
            </a:pPr>
            <a:r>
              <a:rPr lang="en-AU" sz="1200" kern="1200" dirty="0" smtClean="0">
                <a:solidFill>
                  <a:schemeClr val="tx1"/>
                </a:solidFill>
                <a:ea typeface="+mn-ea"/>
                <a:cs typeface="+mn-cs"/>
              </a:rPr>
              <a:t>Practices for the safe-keeping of customer belongings will:</a:t>
            </a:r>
          </a:p>
          <a:p>
            <a:pPr marL="628650" lvl="1" indent="-171450">
              <a:buFont typeface="Arial" pitchFamily="34" charset="0"/>
              <a:buChar char="•"/>
            </a:pPr>
            <a:r>
              <a:rPr lang="en-AU" sz="1200" kern="1200" dirty="0" smtClean="0">
                <a:solidFill>
                  <a:schemeClr val="tx1"/>
                </a:solidFill>
                <a:ea typeface="+mn-ea"/>
                <a:cs typeface="+mn-cs"/>
              </a:rPr>
              <a:t>Be determined to a great extent by the physical location and situation the group is in ‘at the time’ – being inside a five-star hotel overnight will require a different approach to securing luggage when leaving the tour bus for a three-hour trek</a:t>
            </a:r>
          </a:p>
          <a:p>
            <a:pPr marL="628650" lvl="1" indent="-171450">
              <a:buFont typeface="Arial" pitchFamily="34" charset="0"/>
              <a:buChar char="•"/>
            </a:pPr>
            <a:r>
              <a:rPr lang="en-AU" sz="1200" kern="1200" dirty="0" smtClean="0">
                <a:solidFill>
                  <a:schemeClr val="tx1"/>
                </a:solidFill>
                <a:ea typeface="+mn-ea"/>
                <a:cs typeface="+mn-cs"/>
              </a:rPr>
              <a:t>Require the application of common sense – this is arguably the single biggest factor which determines how well customer belongings are cared for/protected</a:t>
            </a:r>
          </a:p>
          <a:p>
            <a:pPr marL="628650" lvl="1" indent="-171450">
              <a:buFont typeface="Arial" pitchFamily="34" charset="0"/>
              <a:buChar char="•"/>
            </a:pPr>
            <a:r>
              <a:rPr lang="en-AU" sz="1200" kern="1200" dirty="0" smtClean="0">
                <a:solidFill>
                  <a:schemeClr val="tx1"/>
                </a:solidFill>
                <a:ea typeface="+mn-ea"/>
                <a:cs typeface="+mn-cs"/>
              </a:rPr>
              <a:t>Necessitate adherence to protocols established by individual tour companies/operators as appropriate to the different nature of individual trips/tours.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 xmlns:p14="http://schemas.microsoft.com/office/powerpoint/2010/main" val="282471219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a:t>
            </a:r>
            <a:r>
              <a:rPr lang="en-AU" sz="1200" kern="1200" dirty="0" smtClean="0">
                <a:solidFill>
                  <a:schemeClr val="tx1"/>
                </a:solidFill>
                <a:ea typeface="+mn-ea"/>
                <a:cs typeface="+mn-cs"/>
              </a:rPr>
              <a:t> </a:t>
            </a:r>
            <a:r>
              <a:rPr lang="en-AU" sz="1200" i="1" kern="1200" dirty="0" smtClean="0">
                <a:solidFill>
                  <a:schemeClr val="tx1"/>
                </a:solidFill>
                <a:ea typeface="+mn-ea"/>
                <a:cs typeface="+mn-cs"/>
              </a:rPr>
              <a:t>combination</a:t>
            </a:r>
            <a:r>
              <a:rPr lang="en-AU" sz="1200" kern="1200" dirty="0" smtClean="0">
                <a:solidFill>
                  <a:schemeClr val="tx1"/>
                </a:solidFill>
                <a:ea typeface="+mn-ea"/>
                <a:cs typeface="+mn-cs"/>
              </a:rPr>
              <a:t> of ‘advice’ and ‘action’ is necessary for optimum protection of customer belongings explaining the following have emerged over time and with the benefit of experience as an effective range of effective procedures which can be applied depending on the situation and the circumstances which apply:</a:t>
            </a:r>
          </a:p>
          <a:p>
            <a:pPr marL="171450" indent="-171450">
              <a:buFont typeface="Arial" pitchFamily="34" charset="0"/>
              <a:buChar char="•"/>
            </a:pPr>
            <a:r>
              <a:rPr lang="en-AU" sz="1200" kern="1200" dirty="0" smtClean="0">
                <a:solidFill>
                  <a:schemeClr val="tx1"/>
                </a:solidFill>
                <a:ea typeface="+mn-ea"/>
                <a:cs typeface="+mn-cs"/>
              </a:rPr>
              <a:t>Brief all tour group members prior to the departure of every tour regarding potential threats and:</a:t>
            </a:r>
          </a:p>
          <a:p>
            <a:pPr marL="628650" lvl="1" indent="-171450">
              <a:buFont typeface="Arial" pitchFamily="34" charset="0"/>
              <a:buChar char="•"/>
            </a:pPr>
            <a:r>
              <a:rPr lang="en-AU" sz="1200" kern="1200" dirty="0" smtClean="0">
                <a:solidFill>
                  <a:schemeClr val="tx1"/>
                </a:solidFill>
                <a:ea typeface="+mn-ea"/>
                <a:cs typeface="+mn-cs"/>
              </a:rPr>
              <a:t>Advise of preventative measures to take – verbally, via handout and (where necessary) by demonstration</a:t>
            </a:r>
          </a:p>
          <a:p>
            <a:pPr marL="628650" lvl="1" indent="-171450">
              <a:buFont typeface="Arial" pitchFamily="34" charset="0"/>
              <a:buChar char="•"/>
            </a:pPr>
            <a:r>
              <a:rPr lang="en-AU" sz="1200" kern="1200" dirty="0" smtClean="0">
                <a:solidFill>
                  <a:schemeClr val="tx1"/>
                </a:solidFill>
                <a:ea typeface="+mn-ea"/>
                <a:cs typeface="+mn-cs"/>
              </a:rPr>
              <a:t>Explain preventative measures taken by the tour company on their behalf</a:t>
            </a:r>
          </a:p>
          <a:p>
            <a:pPr marL="628650" lvl="1" indent="-171450">
              <a:buFont typeface="Arial" pitchFamily="34" charset="0"/>
              <a:buChar char="•"/>
            </a:pPr>
            <a:r>
              <a:rPr lang="en-AU" sz="1200" kern="1200" dirty="0" smtClean="0">
                <a:solidFill>
                  <a:schemeClr val="tx1"/>
                </a:solidFill>
                <a:ea typeface="+mn-ea"/>
                <a:cs typeface="+mn-cs"/>
              </a:rPr>
              <a:t>Urge everyone to monitor their luggage and belongings – and be prepared to take personal responsibility for their own items: explain the limits of what the tour operator/host or escort can do to assist</a:t>
            </a:r>
          </a:p>
          <a:p>
            <a:pPr marL="628650" lvl="1" indent="-171450">
              <a:buFont typeface="Arial" pitchFamily="34" charset="0"/>
              <a:buChar char="•"/>
            </a:pPr>
            <a:r>
              <a:rPr lang="en-AU" sz="1200" kern="1200" dirty="0" smtClean="0">
                <a:solidFill>
                  <a:schemeClr val="tx1"/>
                </a:solidFill>
                <a:ea typeface="+mn-ea"/>
                <a:cs typeface="+mn-cs"/>
              </a:rPr>
              <a:t>Emphasise the need to place the value of life/personal safety above the value of property – that is, stressing the need to surrender cask or property if threatened or confronted by an assailant: highlight the need for/benefit of travel insurance in this regard</a:t>
            </a:r>
          </a:p>
          <a:p>
            <a:pPr marL="171450" indent="-171450">
              <a:buFont typeface="Arial" pitchFamily="34" charset="0"/>
              <a:buChar char="•"/>
            </a:pPr>
            <a:r>
              <a:rPr lang="en-AU" sz="1200" kern="1200" dirty="0" smtClean="0">
                <a:solidFill>
                  <a:schemeClr val="tx1"/>
                </a:solidFill>
                <a:ea typeface="+mn-ea"/>
                <a:cs typeface="+mn-cs"/>
              </a:rPr>
              <a:t>Continually ask tour group members to check:</a:t>
            </a:r>
          </a:p>
          <a:p>
            <a:pPr marL="628650" lvl="1" indent="-171450">
              <a:buFont typeface="Arial" pitchFamily="34" charset="0"/>
              <a:buChar char="•"/>
            </a:pPr>
            <a:r>
              <a:rPr lang="en-AU" sz="1200" kern="1200" dirty="0" smtClean="0">
                <a:solidFill>
                  <a:schemeClr val="tx1"/>
                </a:solidFill>
                <a:ea typeface="+mn-ea"/>
                <a:cs typeface="+mn-cs"/>
              </a:rPr>
              <a:t>They have all their bags/luggage</a:t>
            </a:r>
          </a:p>
          <a:p>
            <a:pPr marL="628650" lvl="1" indent="-171450">
              <a:buFont typeface="Arial" pitchFamily="34" charset="0"/>
              <a:buChar char="•"/>
            </a:pPr>
            <a:r>
              <a:rPr lang="en-AU" sz="1200" kern="1200" dirty="0" smtClean="0">
                <a:solidFill>
                  <a:schemeClr val="tx1"/>
                </a:solidFill>
                <a:ea typeface="+mn-ea"/>
                <a:cs typeface="+mn-cs"/>
              </a:rPr>
              <a:t>They have their passports and tickets</a:t>
            </a:r>
          </a:p>
          <a:p>
            <a:pPr marL="628650" lvl="1" indent="-171450">
              <a:buFont typeface="Arial" pitchFamily="34" charset="0"/>
              <a:buChar char="•"/>
            </a:pPr>
            <a:r>
              <a:rPr lang="en-AU" sz="1200" kern="1200" dirty="0" smtClean="0">
                <a:solidFill>
                  <a:schemeClr val="tx1"/>
                </a:solidFill>
                <a:ea typeface="+mn-ea"/>
                <a:cs typeface="+mn-cs"/>
              </a:rPr>
              <a:t>They have not forgotten anything</a:t>
            </a:r>
          </a:p>
          <a:p>
            <a:pPr marL="628650" lvl="1" indent="-171450">
              <a:buFont typeface="Arial" pitchFamily="34" charset="0"/>
              <a:buChar char="•"/>
            </a:pPr>
            <a:r>
              <a:rPr lang="en-AU" sz="1200" kern="1200" dirty="0" smtClean="0">
                <a:solidFill>
                  <a:schemeClr val="tx1"/>
                </a:solidFill>
                <a:ea typeface="+mn-ea"/>
                <a:cs typeface="+mn-cs"/>
              </a:rPr>
              <a:t>Everyone is on board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 xmlns:p14="http://schemas.microsoft.com/office/powerpoint/2010/main" val="47445695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how protection can be optimised:</a:t>
            </a:r>
          </a:p>
          <a:p>
            <a:pPr marL="171450" indent="-171450">
              <a:buFont typeface="Arial" pitchFamily="34" charset="0"/>
              <a:buChar char="•"/>
            </a:pPr>
            <a:r>
              <a:rPr lang="en-AU" sz="1200" kern="1200" dirty="0" smtClean="0">
                <a:solidFill>
                  <a:schemeClr val="tx1"/>
                </a:solidFill>
                <a:ea typeface="+mn-ea"/>
                <a:cs typeface="+mn-cs"/>
              </a:rPr>
              <a:t>Check:</a:t>
            </a:r>
          </a:p>
          <a:p>
            <a:pPr marL="628650" lvl="1" indent="-171450">
              <a:buFont typeface="Arial" pitchFamily="34" charset="0"/>
              <a:buChar char="•"/>
            </a:pPr>
            <a:r>
              <a:rPr lang="en-AU" sz="1200" kern="1200" dirty="0" smtClean="0">
                <a:solidFill>
                  <a:schemeClr val="tx1"/>
                </a:solidFill>
                <a:ea typeface="+mn-ea"/>
                <a:cs typeface="+mn-cs"/>
              </a:rPr>
              <a:t>All vehicles when alighting to ensure no bags/items are left on board</a:t>
            </a:r>
          </a:p>
          <a:p>
            <a:pPr marL="628650" lvl="1" indent="-171450">
              <a:buFont typeface="Arial" pitchFamily="34" charset="0"/>
              <a:buChar char="•"/>
            </a:pPr>
            <a:r>
              <a:rPr lang="en-AU" sz="1200" kern="1200" dirty="0" smtClean="0">
                <a:solidFill>
                  <a:schemeClr val="tx1"/>
                </a:solidFill>
                <a:ea typeface="+mn-ea"/>
                <a:cs typeface="+mn-cs"/>
              </a:rPr>
              <a:t>All departure points to make sure tour group members have not left anything behind</a:t>
            </a:r>
          </a:p>
          <a:p>
            <a:pPr marL="628650" lvl="1" indent="-171450">
              <a:buFont typeface="Arial" pitchFamily="34" charset="0"/>
              <a:buChar char="•"/>
            </a:pPr>
            <a:r>
              <a:rPr lang="en-AU" sz="1200" kern="1200" dirty="0" smtClean="0">
                <a:solidFill>
                  <a:schemeClr val="tx1"/>
                </a:solidFill>
                <a:ea typeface="+mn-ea"/>
                <a:cs typeface="+mn-cs"/>
              </a:rPr>
              <a:t>All departing rooms (accommodation, meals, visits, attractions, activities, shops) to verify no items forgotten</a:t>
            </a:r>
          </a:p>
          <a:p>
            <a:pPr marL="171450" indent="-171450">
              <a:buFont typeface="Arial" pitchFamily="34" charset="0"/>
              <a:buChar char="•"/>
            </a:pPr>
            <a:r>
              <a:rPr lang="en-AU" sz="1200" kern="1200" dirty="0" smtClean="0">
                <a:solidFill>
                  <a:schemeClr val="tx1"/>
                </a:solidFill>
                <a:ea typeface="+mn-ea"/>
                <a:cs typeface="+mn-cs"/>
              </a:rPr>
              <a:t>Advise/urge tour group members to:</a:t>
            </a:r>
          </a:p>
          <a:p>
            <a:pPr marL="628650" lvl="1" indent="-171450">
              <a:buFont typeface="Arial" pitchFamily="34" charset="0"/>
              <a:buChar char="•"/>
            </a:pPr>
            <a:r>
              <a:rPr lang="en-AU" sz="1200" kern="1200" dirty="0" smtClean="0">
                <a:solidFill>
                  <a:schemeClr val="tx1"/>
                </a:solidFill>
                <a:ea typeface="+mn-ea"/>
                <a:cs typeface="+mn-cs"/>
              </a:rPr>
              <a:t>Use in-house or in-room safe-keeping facilities provided by accommodation venues to store their valuables</a:t>
            </a:r>
          </a:p>
          <a:p>
            <a:pPr marL="628650" lvl="1" indent="-171450">
              <a:buFont typeface="Arial" pitchFamily="34" charset="0"/>
              <a:buChar char="•"/>
            </a:pPr>
            <a:r>
              <a:rPr lang="en-AU" sz="1200" kern="1200" dirty="0" smtClean="0">
                <a:solidFill>
                  <a:schemeClr val="tx1"/>
                </a:solidFill>
                <a:ea typeface="+mn-ea"/>
                <a:cs typeface="+mn-cs"/>
              </a:rPr>
              <a:t>Name all their items and luggage</a:t>
            </a:r>
          </a:p>
          <a:p>
            <a:pPr marL="628650" lvl="1" indent="-171450">
              <a:buFont typeface="Arial" pitchFamily="34" charset="0"/>
              <a:buChar char="•"/>
            </a:pPr>
            <a:r>
              <a:rPr lang="en-AU" sz="1200" kern="1200" dirty="0" smtClean="0">
                <a:solidFill>
                  <a:schemeClr val="tx1"/>
                </a:solidFill>
                <a:ea typeface="+mn-ea"/>
                <a:cs typeface="+mn-cs"/>
              </a:rPr>
              <a:t>Minimise the amount of money they carry with them</a:t>
            </a:r>
          </a:p>
          <a:p>
            <a:pPr marL="628650" lvl="1" indent="-171450">
              <a:buFont typeface="Arial" pitchFamily="34" charset="0"/>
              <a:buChar char="•"/>
            </a:pPr>
            <a:r>
              <a:rPr lang="en-AU" sz="1200" kern="1200" dirty="0" smtClean="0">
                <a:solidFill>
                  <a:schemeClr val="tx1"/>
                </a:solidFill>
                <a:ea typeface="+mn-ea"/>
                <a:cs typeface="+mn-cs"/>
              </a:rPr>
              <a:t>Use travellers’ cheques</a:t>
            </a:r>
          </a:p>
          <a:p>
            <a:pPr marL="628650" lvl="1" indent="-171450">
              <a:buFont typeface="Arial" pitchFamily="34" charset="0"/>
              <a:buChar char="•"/>
            </a:pPr>
            <a:r>
              <a:rPr lang="en-AU" sz="1200" kern="1200" dirty="0" smtClean="0">
                <a:solidFill>
                  <a:schemeClr val="tx1"/>
                </a:solidFill>
                <a:ea typeface="+mn-ea"/>
                <a:cs typeface="+mn-cs"/>
              </a:rPr>
              <a:t>Lock doors to their rooms </a:t>
            </a:r>
          </a:p>
          <a:p>
            <a:pPr marL="628650" lvl="1" indent="-171450">
              <a:buFont typeface="Arial" pitchFamily="34" charset="0"/>
              <a:buChar char="•"/>
            </a:pPr>
            <a:r>
              <a:rPr lang="en-AU" sz="1200" kern="1200" dirty="0" smtClean="0">
                <a:solidFill>
                  <a:schemeClr val="tx1"/>
                </a:solidFill>
                <a:ea typeface="+mn-ea"/>
                <a:cs typeface="+mn-cs"/>
              </a:rPr>
              <a:t>Leave valuables on board the bus when getting off the bus</a:t>
            </a:r>
          </a:p>
          <a:p>
            <a:pPr marL="628650" lvl="1" indent="-171450">
              <a:buFont typeface="Arial" pitchFamily="34" charset="0"/>
              <a:buChar char="•"/>
            </a:pPr>
            <a:r>
              <a:rPr lang="en-AU" sz="1200" kern="1200" dirty="0" smtClean="0">
                <a:solidFill>
                  <a:schemeClr val="tx1"/>
                </a:solidFill>
                <a:ea typeface="+mn-ea"/>
                <a:cs typeface="+mn-cs"/>
              </a:rPr>
              <a:t>Keep an eye out for other tour group members</a:t>
            </a:r>
          </a:p>
          <a:p>
            <a:pPr marL="628650" lvl="1" indent="-171450">
              <a:buFont typeface="Arial" pitchFamily="34" charset="0"/>
              <a:buChar char="•"/>
            </a:pPr>
            <a:r>
              <a:rPr lang="en-AU" sz="1200" kern="1200" dirty="0" smtClean="0">
                <a:solidFill>
                  <a:schemeClr val="tx1"/>
                </a:solidFill>
                <a:ea typeface="+mn-ea"/>
                <a:cs typeface="+mn-cs"/>
              </a:rPr>
              <a:t>Advise you of any suspicious persons or circumstance</a:t>
            </a:r>
          </a:p>
          <a:p>
            <a:pPr marL="171450" indent="-171450">
              <a:buFont typeface="Arial" pitchFamily="34" charset="0"/>
              <a:buChar char="•"/>
            </a:pPr>
            <a:r>
              <a:rPr lang="en-AU" sz="1200" kern="1200" dirty="0" smtClean="0">
                <a:solidFill>
                  <a:schemeClr val="tx1"/>
                </a:solidFill>
                <a:ea typeface="+mn-ea"/>
                <a:cs typeface="+mn-cs"/>
              </a:rPr>
              <a:t>Leave contact with providers so contact can be made with group if lost belongings are identified after group has departed – so arrangements can be made to forward them</a:t>
            </a:r>
          </a:p>
          <a:p>
            <a:pPr marL="171450" indent="-171450">
              <a:buFont typeface="Arial" pitchFamily="34" charset="0"/>
              <a:buChar char="•"/>
            </a:pPr>
            <a:r>
              <a:rPr lang="en-AU" sz="1200" kern="1200" dirty="0" smtClean="0">
                <a:solidFill>
                  <a:schemeClr val="tx1"/>
                </a:solidFill>
                <a:ea typeface="+mn-ea"/>
                <a:cs typeface="+mn-cs"/>
              </a:rPr>
              <a:t>Place guest valuables into on-board safe (where provided) to enhance security when travelling on buses or boats</a:t>
            </a:r>
          </a:p>
          <a:p>
            <a:pPr marL="171450" indent="-171450">
              <a:buFont typeface="Arial" pitchFamily="34" charset="0"/>
              <a:buChar char="•"/>
            </a:pPr>
            <a:r>
              <a:rPr lang="en-AU" sz="1200" kern="1200" dirty="0" smtClean="0">
                <a:solidFill>
                  <a:schemeClr val="tx1"/>
                </a:solidFill>
                <a:ea typeface="+mn-ea"/>
                <a:cs typeface="+mn-cs"/>
              </a:rPr>
              <a:t>Lock the bus/vehicle when leaving it – at all times.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 xmlns:p14="http://schemas.microsoft.com/office/powerpoint/2010/main" val="322726791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 xmlns:p14="http://schemas.microsoft.com/office/powerpoint/2010/main" val="2032642678"/>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 xmlns:p14="http://schemas.microsoft.com/office/powerpoint/2010/main" val="63515723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 xmlns:p14="http://schemas.microsoft.com/office/powerpoint/2010/main" val="1060338435"/>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 xmlns:p14="http://schemas.microsoft.com/office/powerpoint/2010/main" val="2377647082"/>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dirty="0" smtClean="0"/>
              <a:t>Why is there a need to monitor theft-related issues/events? What benefits can it bring?</a:t>
            </a:r>
          </a:p>
          <a:p>
            <a:pPr marL="171450" indent="-171450">
              <a:buFont typeface="Arial" pitchFamily="34" charset="0"/>
              <a:buChar char="•"/>
            </a:pPr>
            <a:r>
              <a:rPr lang="en-US" dirty="0" smtClean="0"/>
              <a:t>How might you investigate a theft event? What actions might you take as part of the investigation?</a:t>
            </a:r>
          </a:p>
          <a:p>
            <a:pPr marL="171450" indent="-171450">
              <a:buFont typeface="Arial" pitchFamily="34" charset="0"/>
              <a:buChar char="•"/>
            </a:pPr>
            <a:r>
              <a:rPr lang="en-US" dirty="0" smtClean="0"/>
              <a:t>What legal action might you take? Why might you </a:t>
            </a:r>
            <a:r>
              <a:rPr lang="en-US" b="1" dirty="0" smtClean="0"/>
              <a:t>not </a:t>
            </a:r>
            <a:r>
              <a:rPr lang="en-US" dirty="0" smtClean="0"/>
              <a:t>take legal action?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 xmlns:p14="http://schemas.microsoft.com/office/powerpoint/2010/main" val="2967918540"/>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students they need to follow established protocols when responding to/investigating on tour theft presenting</a:t>
            </a:r>
            <a:r>
              <a:rPr lang="en-US" baseline="0" dirty="0" smtClean="0"/>
              <a:t> </a:t>
            </a:r>
            <a:r>
              <a:rPr lang="en-AU" sz="1200" kern="1200" dirty="0" smtClean="0">
                <a:solidFill>
                  <a:schemeClr val="tx1"/>
                </a:solidFill>
                <a:ea typeface="+mn-ea"/>
                <a:cs typeface="+mn-cs"/>
              </a:rPr>
              <a:t>examples of primary</a:t>
            </a:r>
            <a:r>
              <a:rPr lang="en-AU" sz="1200" kern="1200" baseline="0" dirty="0" smtClean="0">
                <a:solidFill>
                  <a:schemeClr val="tx1"/>
                </a:solidFill>
                <a:ea typeface="+mn-ea"/>
                <a:cs typeface="+mn-cs"/>
              </a:rPr>
              <a:t> responses</a:t>
            </a:r>
            <a:r>
              <a:rPr lang="en-AU" sz="1200" kern="1200" dirty="0" smtClean="0">
                <a:solidFill>
                  <a:schemeClr val="tx1"/>
                </a:solidFill>
                <a:ea typeface="+mn-ea"/>
                <a:cs typeface="+mn-cs"/>
              </a:rPr>
              <a:t>:</a:t>
            </a:r>
          </a:p>
          <a:p>
            <a:pPr marL="171450" indent="-171450">
              <a:buFont typeface="Arial" pitchFamily="34" charset="0"/>
              <a:buChar char="•"/>
            </a:pPr>
            <a:r>
              <a:rPr lang="en-AU" sz="1200" kern="1200" dirty="0" smtClean="0">
                <a:solidFill>
                  <a:schemeClr val="tx1"/>
                </a:solidFill>
                <a:ea typeface="+mn-ea"/>
                <a:cs typeface="+mn-cs"/>
              </a:rPr>
              <a:t>Guarantee the physical safety of the person who has had their belongings stolen</a:t>
            </a:r>
          </a:p>
          <a:p>
            <a:pPr marL="171450" indent="-171450">
              <a:buFont typeface="Arial" pitchFamily="34" charset="0"/>
              <a:buChar char="•"/>
            </a:pPr>
            <a:r>
              <a:rPr lang="en-AU" sz="1200" kern="1200" dirty="0" smtClean="0">
                <a:solidFill>
                  <a:schemeClr val="tx1"/>
                </a:solidFill>
                <a:ea typeface="+mn-ea"/>
                <a:cs typeface="+mn-cs"/>
              </a:rPr>
              <a:t>Take action to prevent further loss – this may require you to secure items, lock doors, close windows, move to a safer/different location</a:t>
            </a:r>
          </a:p>
          <a:p>
            <a:pPr marL="171450" indent="-171450">
              <a:buFont typeface="Arial" pitchFamily="34" charset="0"/>
              <a:buChar char="•"/>
            </a:pPr>
            <a:r>
              <a:rPr lang="en-AU" sz="1200" kern="1200" dirty="0" smtClean="0">
                <a:solidFill>
                  <a:schemeClr val="tx1"/>
                </a:solidFill>
                <a:ea typeface="+mn-ea"/>
                <a:cs typeface="+mn-cs"/>
              </a:rPr>
              <a:t>Advise others in the group – so they may take appropriate preventative action</a:t>
            </a:r>
          </a:p>
          <a:p>
            <a:pPr marL="171450" indent="-171450">
              <a:buFont typeface="Arial" pitchFamily="34" charset="0"/>
              <a:buChar char="•"/>
            </a:pPr>
            <a:r>
              <a:rPr lang="en-AU" sz="1200" kern="1200" dirty="0" smtClean="0">
                <a:solidFill>
                  <a:schemeClr val="tx1"/>
                </a:solidFill>
                <a:ea typeface="+mn-ea"/>
                <a:cs typeface="+mn-cs"/>
              </a:rPr>
              <a:t>Report the incident – to the establishment you are in, the authorities/local police and to your head office (or other according to internal directions)</a:t>
            </a:r>
          </a:p>
          <a:p>
            <a:pPr marL="171450" indent="-171450">
              <a:buFont typeface="Arial" pitchFamily="34" charset="0"/>
              <a:buChar char="•"/>
            </a:pPr>
            <a:r>
              <a:rPr lang="en-AU" sz="1200" kern="1200" dirty="0" smtClean="0">
                <a:solidFill>
                  <a:schemeClr val="tx1"/>
                </a:solidFill>
                <a:ea typeface="+mn-ea"/>
                <a:cs typeface="+mn-cs"/>
              </a:rPr>
              <a:t>Capture any relevant information – see later slide ‘Investigating the theft’</a:t>
            </a:r>
          </a:p>
          <a:p>
            <a:pPr marL="628650" lvl="1" indent="-171450">
              <a:buFont typeface="Arial" pitchFamily="34" charset="0"/>
              <a:buChar char="•"/>
            </a:pPr>
            <a:r>
              <a:rPr lang="en-AU" sz="1200" kern="1200" dirty="0" smtClean="0">
                <a:solidFill>
                  <a:schemeClr val="tx1"/>
                </a:solidFill>
                <a:ea typeface="+mn-ea"/>
                <a:cs typeface="+mn-cs"/>
              </a:rPr>
              <a:t>Details and description of what was stolen</a:t>
            </a:r>
          </a:p>
          <a:p>
            <a:pPr marL="628650" lvl="1" indent="-171450">
              <a:buFont typeface="Arial" pitchFamily="34" charset="0"/>
              <a:buChar char="•"/>
            </a:pPr>
            <a:r>
              <a:rPr lang="en-AU" sz="1200" kern="1200" dirty="0" smtClean="0">
                <a:solidFill>
                  <a:schemeClr val="tx1"/>
                </a:solidFill>
                <a:ea typeface="+mn-ea"/>
                <a:cs typeface="+mn-cs"/>
              </a:rPr>
              <a:t>Details of where and how the theft occurred</a:t>
            </a:r>
          </a:p>
          <a:p>
            <a:pPr marL="628650" lvl="1" indent="-171450">
              <a:buFont typeface="Arial" pitchFamily="34" charset="0"/>
              <a:buChar char="•"/>
            </a:pPr>
            <a:r>
              <a:rPr lang="en-AU" sz="1200" kern="1200" dirty="0" smtClean="0">
                <a:solidFill>
                  <a:schemeClr val="tx1"/>
                </a:solidFill>
                <a:ea typeface="+mn-ea"/>
                <a:cs typeface="+mn-cs"/>
              </a:rPr>
              <a:t>Names and contact details of witnesses</a:t>
            </a:r>
          </a:p>
          <a:p>
            <a:pPr marL="628650" lvl="1" indent="-171450">
              <a:buFont typeface="Arial" pitchFamily="34" charset="0"/>
              <a:buChar char="•"/>
            </a:pPr>
            <a:r>
              <a:rPr lang="en-AU" sz="1200" kern="1200" dirty="0" smtClean="0">
                <a:solidFill>
                  <a:schemeClr val="tx1"/>
                </a:solidFill>
                <a:ea typeface="+mn-ea"/>
                <a:cs typeface="+mn-cs"/>
              </a:rPr>
              <a:t>Description/s of offenders or suspects.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 xmlns:p14="http://schemas.microsoft.com/office/powerpoint/2010/main" val="1573237013"/>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lists activities which comprise investigation of an on tour theft explaining each will be presented in more detail on the following slides.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 xmlns:p14="http://schemas.microsoft.com/office/powerpoint/2010/main" val="588087019"/>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activities involved in identifying</a:t>
            </a:r>
            <a:r>
              <a:rPr lang="en-US" baseline="0" dirty="0" smtClean="0"/>
              <a:t> </a:t>
            </a:r>
            <a:r>
              <a:rPr lang="en-AU" sz="1200" b="0" kern="1200" dirty="0" smtClean="0">
                <a:solidFill>
                  <a:schemeClr val="tx1"/>
                </a:solidFill>
                <a:ea typeface="+mn-ea"/>
                <a:cs typeface="+mn-cs"/>
              </a:rPr>
              <a:t>the circumstances of a theft event</a:t>
            </a:r>
            <a:r>
              <a:rPr lang="en-AU" sz="1200" kern="1200" dirty="0" smtClean="0">
                <a:solidFill>
                  <a:schemeClr val="tx1"/>
                </a:solidFill>
                <a:ea typeface="+mn-ea"/>
                <a:cs typeface="+mn-cs"/>
              </a:rPr>
              <a:t>:</a:t>
            </a:r>
          </a:p>
          <a:p>
            <a:pPr marL="171450" indent="-171450">
              <a:buFont typeface="Arial" pitchFamily="34" charset="0"/>
              <a:buChar char="•"/>
            </a:pPr>
            <a:r>
              <a:rPr lang="en-AU" sz="1200" kern="1200" dirty="0" smtClean="0">
                <a:solidFill>
                  <a:schemeClr val="tx1"/>
                </a:solidFill>
                <a:ea typeface="+mn-ea"/>
                <a:cs typeface="+mn-cs"/>
              </a:rPr>
              <a:t>Photograph the area/situation</a:t>
            </a:r>
          </a:p>
          <a:p>
            <a:pPr marL="171450" indent="-171450">
              <a:buFont typeface="Arial" pitchFamily="34" charset="0"/>
              <a:buChar char="•"/>
            </a:pPr>
            <a:r>
              <a:rPr lang="en-AU" sz="1200" kern="1200" dirty="0" smtClean="0">
                <a:solidFill>
                  <a:schemeClr val="tx1"/>
                </a:solidFill>
                <a:ea typeface="+mn-ea"/>
                <a:cs typeface="+mn-cs"/>
              </a:rPr>
              <a:t>Talk to the person who had their item/s stolen</a:t>
            </a:r>
          </a:p>
          <a:p>
            <a:pPr marL="171450" indent="-171450">
              <a:buFont typeface="Arial" pitchFamily="34" charset="0"/>
              <a:buChar char="•"/>
            </a:pPr>
            <a:r>
              <a:rPr lang="en-AU" sz="1200" kern="1200" dirty="0" smtClean="0">
                <a:solidFill>
                  <a:schemeClr val="tx1"/>
                </a:solidFill>
                <a:ea typeface="+mn-ea"/>
                <a:cs typeface="+mn-cs"/>
              </a:rPr>
              <a:t>Identify ‘the facts of the situation’ to the best extent that can be determined – for example:</a:t>
            </a:r>
          </a:p>
          <a:p>
            <a:pPr marL="628650" lvl="1" indent="-171450">
              <a:buFont typeface="Arial" pitchFamily="34" charset="0"/>
              <a:buChar char="•"/>
            </a:pPr>
            <a:r>
              <a:rPr lang="en-AU" sz="1200" kern="1200" dirty="0" smtClean="0">
                <a:solidFill>
                  <a:schemeClr val="tx1"/>
                </a:solidFill>
                <a:ea typeface="+mn-ea"/>
                <a:cs typeface="+mn-cs"/>
              </a:rPr>
              <a:t>Where the theft occurred – identifying (as appropriate) street address; room number; name of shop; geographic location</a:t>
            </a:r>
          </a:p>
          <a:p>
            <a:pPr marL="628650" lvl="1" indent="-171450">
              <a:buFont typeface="Arial" pitchFamily="34" charset="0"/>
              <a:buChar char="•"/>
            </a:pPr>
            <a:r>
              <a:rPr lang="en-AU" sz="1200" kern="1200" dirty="0" smtClean="0">
                <a:solidFill>
                  <a:schemeClr val="tx1"/>
                </a:solidFill>
                <a:ea typeface="+mn-ea"/>
                <a:cs typeface="+mn-cs"/>
              </a:rPr>
              <a:t>When it occurred – day of week, date and time of day</a:t>
            </a:r>
          </a:p>
          <a:p>
            <a:pPr marL="628650" lvl="1" indent="-171450">
              <a:buFont typeface="Arial" pitchFamily="34" charset="0"/>
              <a:buChar char="•"/>
            </a:pPr>
            <a:r>
              <a:rPr lang="en-AU" sz="1200" kern="1200" dirty="0" smtClean="0">
                <a:solidFill>
                  <a:schemeClr val="tx1"/>
                </a:solidFill>
                <a:ea typeface="+mn-ea"/>
                <a:cs typeface="+mn-cs"/>
              </a:rPr>
              <a:t>How the theft occurred – for example and as appropriate:</a:t>
            </a:r>
          </a:p>
          <a:p>
            <a:pPr marL="1085850" lvl="2" indent="-171450">
              <a:buFont typeface="Arial" pitchFamily="34" charset="0"/>
              <a:buChar char="•"/>
            </a:pPr>
            <a:r>
              <a:rPr lang="en-AU" sz="1200" kern="1200" dirty="0" smtClean="0">
                <a:solidFill>
                  <a:schemeClr val="tx1"/>
                </a:solidFill>
                <a:ea typeface="+mn-ea"/>
                <a:cs typeface="+mn-cs"/>
              </a:rPr>
              <a:t>Stolen from room when customer was at dinner</a:t>
            </a:r>
          </a:p>
          <a:p>
            <a:pPr marL="1085850" lvl="2" indent="-171450">
              <a:buFont typeface="Arial" pitchFamily="34" charset="0"/>
              <a:buChar char="•"/>
            </a:pPr>
            <a:r>
              <a:rPr lang="en-AU" sz="1200" kern="1200" dirty="0" smtClean="0">
                <a:solidFill>
                  <a:schemeClr val="tx1"/>
                </a:solidFill>
                <a:ea typeface="+mn-ea"/>
                <a:cs typeface="+mn-cs"/>
              </a:rPr>
              <a:t>Taken from bus when group was sight-seeing</a:t>
            </a:r>
          </a:p>
          <a:p>
            <a:pPr marL="1085850" lvl="2" indent="-171450">
              <a:buFont typeface="Arial" pitchFamily="34" charset="0"/>
              <a:buChar char="•"/>
            </a:pPr>
            <a:r>
              <a:rPr lang="en-AU" sz="1200" kern="1200" dirty="0" smtClean="0">
                <a:solidFill>
                  <a:schemeClr val="tx1"/>
                </a:solidFill>
                <a:ea typeface="+mn-ea"/>
                <a:cs typeface="+mn-cs"/>
              </a:rPr>
              <a:t>Snatched from shoulder when walking in the street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 xmlns:p14="http://schemas.microsoft.com/office/powerpoint/2010/main" val="945704747"/>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talks about identifying the people involved:</a:t>
            </a:r>
          </a:p>
          <a:p>
            <a:pPr marL="171450" indent="-171450">
              <a:buFont typeface="Arial" pitchFamily="34" charset="0"/>
              <a:buChar char="•"/>
            </a:pPr>
            <a:r>
              <a:rPr lang="en-AU" sz="1200" kern="1200" dirty="0" smtClean="0">
                <a:solidFill>
                  <a:schemeClr val="tx1"/>
                </a:solidFill>
                <a:ea typeface="+mn-ea"/>
                <a:cs typeface="+mn-cs"/>
              </a:rPr>
              <a:t>Record the name of the customer who lost the item/s</a:t>
            </a:r>
          </a:p>
          <a:p>
            <a:pPr marL="171450" indent="-171450">
              <a:buFont typeface="Arial" pitchFamily="34" charset="0"/>
              <a:buChar char="•"/>
            </a:pPr>
            <a:r>
              <a:rPr lang="en-AU" sz="1200" kern="1200" dirty="0" smtClean="0">
                <a:solidFill>
                  <a:schemeClr val="tx1"/>
                </a:solidFill>
                <a:ea typeface="+mn-ea"/>
                <a:cs typeface="+mn-cs"/>
              </a:rPr>
              <a:t>Record their contact details</a:t>
            </a:r>
          </a:p>
          <a:p>
            <a:pPr marL="171450" indent="-171450">
              <a:buFont typeface="Arial" pitchFamily="34" charset="0"/>
              <a:buChar char="•"/>
            </a:pPr>
            <a:r>
              <a:rPr lang="en-AU" sz="1200" kern="1200" dirty="0" smtClean="0">
                <a:solidFill>
                  <a:schemeClr val="tx1"/>
                </a:solidFill>
                <a:ea typeface="+mn-ea"/>
                <a:cs typeface="+mn-cs"/>
              </a:rPr>
              <a:t>Obtain a description of the item/s</a:t>
            </a:r>
          </a:p>
          <a:p>
            <a:pPr marL="171450" indent="-171450">
              <a:buFont typeface="Arial" pitchFamily="34" charset="0"/>
              <a:buChar char="•"/>
            </a:pPr>
            <a:r>
              <a:rPr lang="en-AU" sz="1200" kern="1200" dirty="0" smtClean="0">
                <a:solidFill>
                  <a:schemeClr val="tx1"/>
                </a:solidFill>
                <a:ea typeface="+mn-ea"/>
                <a:cs typeface="+mn-cs"/>
              </a:rPr>
              <a:t>Obtain a value for the item/s stolen</a:t>
            </a:r>
          </a:p>
          <a:p>
            <a:pPr marL="171450" indent="-171450">
              <a:buFont typeface="Arial" pitchFamily="34" charset="0"/>
              <a:buChar char="•"/>
            </a:pPr>
            <a:r>
              <a:rPr lang="en-AU" sz="1200" kern="1200" dirty="0" smtClean="0">
                <a:solidFill>
                  <a:schemeClr val="tx1"/>
                </a:solidFill>
                <a:ea typeface="+mn-ea"/>
                <a:cs typeface="+mn-cs"/>
              </a:rPr>
              <a:t>Determine if they were insured or not</a:t>
            </a:r>
          </a:p>
          <a:p>
            <a:pPr marL="171450" indent="-171450">
              <a:buFont typeface="Arial" pitchFamily="34" charset="0"/>
              <a:buChar char="•"/>
            </a:pPr>
            <a:r>
              <a:rPr lang="en-AU" sz="1200" kern="1200" dirty="0" smtClean="0">
                <a:solidFill>
                  <a:schemeClr val="tx1"/>
                </a:solidFill>
                <a:ea typeface="+mn-ea"/>
                <a:cs typeface="+mn-cs"/>
              </a:rPr>
              <a:t>Obtain name and description of offenders or suspects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 xmlns:p14="http://schemas.microsoft.com/office/powerpoint/2010/main" val="1702074728"/>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talks about </a:t>
            </a:r>
            <a:r>
              <a:rPr lang="en-US" sz="1200" dirty="0" smtClean="0">
                <a:latin typeface="Helvetica" pitchFamily="34" charset="0"/>
              </a:rPr>
              <a:t>identifying how the theft could have been prevented</a:t>
            </a:r>
          </a:p>
          <a:p>
            <a:pPr marL="171450" indent="-171450">
              <a:buFont typeface="Arial" pitchFamily="34" charset="0"/>
              <a:buChar char="•"/>
            </a:pPr>
            <a:r>
              <a:rPr lang="en-AU" sz="1200" kern="1200" dirty="0" smtClean="0">
                <a:solidFill>
                  <a:schemeClr val="tx1"/>
                </a:solidFill>
                <a:ea typeface="+mn-ea"/>
                <a:cs typeface="+mn-cs"/>
              </a:rPr>
              <a:t>This should be a common sense explanation of what could have been done to prevent the theft taking place.</a:t>
            </a:r>
          </a:p>
          <a:p>
            <a:pPr marL="171450" indent="-171450">
              <a:buFont typeface="Arial" pitchFamily="34" charset="0"/>
              <a:buChar char="•"/>
            </a:pPr>
            <a:r>
              <a:rPr lang="en-AU" sz="1200" kern="1200" dirty="0" smtClean="0">
                <a:solidFill>
                  <a:schemeClr val="tx1"/>
                </a:solidFill>
                <a:ea typeface="+mn-ea"/>
                <a:cs typeface="+mn-cs"/>
              </a:rPr>
              <a:t>It is important the explanation is ‘viable’: it must be workable, practical and able to be effectively implemented.</a:t>
            </a:r>
          </a:p>
          <a:p>
            <a:pPr marL="171450" indent="-171450">
              <a:buFont typeface="Arial" pitchFamily="34" charset="0"/>
              <a:buChar char="•"/>
            </a:pPr>
            <a:r>
              <a:rPr lang="en-AU" sz="1200" kern="1200" dirty="0" smtClean="0">
                <a:solidFill>
                  <a:schemeClr val="tx1"/>
                </a:solidFill>
                <a:ea typeface="+mn-ea"/>
                <a:cs typeface="+mn-cs"/>
              </a:rPr>
              <a:t>The reality in many cases is lots of instances of theft could not have been prevented.</a:t>
            </a:r>
          </a:p>
          <a:p>
            <a:pPr marL="171450" indent="-171450">
              <a:buFont typeface="Arial" pitchFamily="34" charset="0"/>
              <a:buChar char="•"/>
            </a:pPr>
            <a:r>
              <a:rPr lang="en-AU" sz="1200" kern="1200" dirty="0" smtClean="0">
                <a:solidFill>
                  <a:schemeClr val="tx1"/>
                </a:solidFill>
                <a:ea typeface="+mn-ea"/>
                <a:cs typeface="+mn-cs"/>
              </a:rPr>
              <a:t>Analysis might reveal, for example, future similar events could be prevented: </a:t>
            </a:r>
          </a:p>
          <a:p>
            <a:pPr marL="628650" lvl="1" indent="-171450">
              <a:buFont typeface="Arial" pitchFamily="34" charset="0"/>
              <a:buChar char="•"/>
            </a:pPr>
            <a:r>
              <a:rPr lang="en-AU" sz="1200" kern="1200" dirty="0" smtClean="0">
                <a:solidFill>
                  <a:schemeClr val="tx1"/>
                </a:solidFill>
                <a:ea typeface="+mn-ea"/>
                <a:cs typeface="+mn-cs"/>
              </a:rPr>
              <a:t>If customers walked in small groups instead of on their own</a:t>
            </a:r>
          </a:p>
          <a:p>
            <a:pPr marL="628650" lvl="1" indent="-171450">
              <a:buFont typeface="Arial" pitchFamily="34" charset="0"/>
              <a:buChar char="•"/>
            </a:pPr>
            <a:r>
              <a:rPr lang="en-AU" sz="1200" kern="1200" dirty="0" smtClean="0">
                <a:solidFill>
                  <a:schemeClr val="tx1"/>
                </a:solidFill>
                <a:ea typeface="+mn-ea"/>
                <a:cs typeface="+mn-cs"/>
              </a:rPr>
              <a:t>By securing valuables in in-room safes</a:t>
            </a:r>
          </a:p>
          <a:p>
            <a:pPr marL="628650" lvl="1" indent="-171450">
              <a:buFont typeface="Arial" pitchFamily="34" charset="0"/>
              <a:buChar char="•"/>
            </a:pPr>
            <a:r>
              <a:rPr lang="en-AU" sz="1200" kern="1200" dirty="0" smtClean="0">
                <a:solidFill>
                  <a:schemeClr val="tx1"/>
                </a:solidFill>
                <a:ea typeface="+mn-ea"/>
                <a:cs typeface="+mn-cs"/>
              </a:rPr>
              <a:t>Through the wearing of money-belts</a:t>
            </a:r>
          </a:p>
          <a:p>
            <a:pPr marL="628650" lvl="1" indent="-171450">
              <a:buFont typeface="Arial" pitchFamily="34" charset="0"/>
              <a:buChar char="•"/>
            </a:pPr>
            <a:r>
              <a:rPr lang="en-AU" sz="1200" kern="1200" dirty="0" smtClean="0">
                <a:solidFill>
                  <a:schemeClr val="tx1"/>
                </a:solidFill>
                <a:ea typeface="+mn-ea"/>
                <a:cs typeface="+mn-cs"/>
              </a:rPr>
              <a:t>By keeping passport in a separate location to cash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 xmlns:p14="http://schemas.microsoft.com/office/powerpoint/2010/main" val="208423710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talks about </a:t>
            </a:r>
            <a:r>
              <a:rPr lang="en-US" sz="1200" dirty="0" smtClean="0">
                <a:latin typeface="Helvetica" pitchFamily="34" charset="0"/>
              </a:rPr>
              <a:t>determining the effect of the theft on the company stating  this </a:t>
            </a:r>
            <a:r>
              <a:rPr lang="en-AU" sz="1200" kern="1200" dirty="0" smtClean="0">
                <a:solidFill>
                  <a:schemeClr val="tx1"/>
                </a:solidFill>
                <a:ea typeface="+mn-ea"/>
                <a:cs typeface="+mn-cs"/>
              </a:rPr>
              <a:t>requires evaluation of the event to identify if the tour operator/company:</a:t>
            </a:r>
          </a:p>
          <a:p>
            <a:pPr marL="171450" indent="-171450">
              <a:buFont typeface="Arial" pitchFamily="34" charset="0"/>
              <a:buChar char="•"/>
            </a:pPr>
            <a:r>
              <a:rPr lang="en-AU" sz="1200" kern="1200" dirty="0" smtClean="0">
                <a:solidFill>
                  <a:schemeClr val="tx1"/>
                </a:solidFill>
                <a:ea typeface="+mn-ea"/>
                <a:cs typeface="+mn-cs"/>
              </a:rPr>
              <a:t>Is legally liable for anything</a:t>
            </a:r>
          </a:p>
          <a:p>
            <a:pPr marL="171450" indent="-171450">
              <a:buFont typeface="Arial" pitchFamily="34" charset="0"/>
              <a:buChar char="•"/>
            </a:pPr>
            <a:r>
              <a:rPr lang="en-AU" sz="1200" kern="1200" dirty="0" smtClean="0">
                <a:solidFill>
                  <a:schemeClr val="tx1"/>
                </a:solidFill>
                <a:ea typeface="+mn-ea"/>
                <a:cs typeface="+mn-cs"/>
              </a:rPr>
              <a:t>Needs to lodge a claim under a relevant insurance policy</a:t>
            </a:r>
          </a:p>
          <a:p>
            <a:pPr marL="171450" indent="-171450">
              <a:buFont typeface="Arial" pitchFamily="34" charset="0"/>
              <a:buChar char="•"/>
            </a:pPr>
            <a:r>
              <a:rPr lang="en-AU" sz="1200" kern="1200" dirty="0" smtClean="0">
                <a:solidFill>
                  <a:schemeClr val="tx1"/>
                </a:solidFill>
                <a:ea typeface="+mn-ea"/>
                <a:cs typeface="+mn-cs"/>
              </a:rPr>
              <a:t>Should revise its operating protocols</a:t>
            </a:r>
          </a:p>
          <a:p>
            <a:pPr marL="171450" indent="-171450">
              <a:buFont typeface="Arial" pitchFamily="34" charset="0"/>
              <a:buChar char="•"/>
            </a:pPr>
            <a:r>
              <a:rPr lang="en-AU" sz="1200" kern="1200" dirty="0" smtClean="0">
                <a:solidFill>
                  <a:schemeClr val="tx1"/>
                </a:solidFill>
                <a:ea typeface="+mn-ea"/>
                <a:cs typeface="+mn-cs"/>
              </a:rPr>
              <a:t>Needs to update the advice it provides to customers</a:t>
            </a:r>
          </a:p>
          <a:p>
            <a:pPr marL="171450" indent="-171450">
              <a:buFont typeface="Arial" pitchFamily="34" charset="0"/>
              <a:buChar char="•"/>
            </a:pPr>
            <a:r>
              <a:rPr lang="en-AU" sz="1200" kern="1200" dirty="0" smtClean="0">
                <a:solidFill>
                  <a:schemeClr val="tx1"/>
                </a:solidFill>
                <a:ea typeface="+mn-ea"/>
                <a:cs typeface="+mn-cs"/>
              </a:rPr>
              <a:t>Will suffer adverse media attention/publicity</a:t>
            </a:r>
          </a:p>
          <a:p>
            <a:pPr marL="171450" indent="-171450">
              <a:buFont typeface="Arial" pitchFamily="34" charset="0"/>
              <a:buChar char="•"/>
            </a:pPr>
            <a:r>
              <a:rPr lang="en-AU" sz="1200" kern="1200" dirty="0" smtClean="0">
                <a:solidFill>
                  <a:schemeClr val="tx1"/>
                </a:solidFill>
                <a:ea typeface="+mn-ea"/>
                <a:cs typeface="+mn-cs"/>
              </a:rPr>
              <a:t>Should make an offer of recompense to the person/s affected</a:t>
            </a:r>
          </a:p>
          <a:p>
            <a:pPr marL="171450" indent="-171450">
              <a:buFont typeface="Arial" pitchFamily="34" charset="0"/>
              <a:buChar char="•"/>
            </a:pPr>
            <a:r>
              <a:rPr lang="en-AU" sz="1200" kern="1200" dirty="0" smtClean="0">
                <a:solidFill>
                  <a:schemeClr val="tx1"/>
                </a:solidFill>
                <a:ea typeface="+mn-ea"/>
                <a:cs typeface="+mn-cs"/>
              </a:rPr>
              <a:t>Will have to participate (as a witness) in legal action against offenders</a:t>
            </a:r>
          </a:p>
          <a:p>
            <a:pPr>
              <a:buFont typeface="Arial" pitchFamily="34" charset="0"/>
              <a:buNone/>
            </a:pPr>
            <a:endParaRPr lang="en-US"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 xmlns:p14="http://schemas.microsoft.com/office/powerpoint/2010/main" val="266449759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possible need for including </a:t>
            </a:r>
            <a:r>
              <a:rPr lang="en-US" sz="1200" dirty="0" smtClean="0">
                <a:latin typeface="Helvetica" pitchFamily="34" charset="0"/>
              </a:rPr>
              <a:t>external assistance in considering the event which may require contact with:</a:t>
            </a:r>
          </a:p>
          <a:p>
            <a:pPr marL="171450" indent="-171450">
              <a:buFont typeface="Arial" pitchFamily="34" charset="0"/>
              <a:buChar char="•"/>
            </a:pPr>
            <a:r>
              <a:rPr lang="en-AU" sz="1200" kern="1200" dirty="0" smtClean="0">
                <a:solidFill>
                  <a:schemeClr val="tx1"/>
                </a:solidFill>
                <a:ea typeface="+mn-ea"/>
                <a:cs typeface="+mn-cs"/>
              </a:rPr>
              <a:t>Police</a:t>
            </a:r>
          </a:p>
          <a:p>
            <a:pPr marL="171450" indent="-171450">
              <a:buFont typeface="Arial" pitchFamily="34" charset="0"/>
              <a:buChar char="•"/>
            </a:pPr>
            <a:r>
              <a:rPr lang="en-AU" sz="1200" kern="1200" dirty="0" smtClean="0">
                <a:solidFill>
                  <a:schemeClr val="tx1"/>
                </a:solidFill>
                <a:ea typeface="+mn-ea"/>
                <a:cs typeface="+mn-cs"/>
              </a:rPr>
              <a:t>Ambulance and hospital</a:t>
            </a:r>
          </a:p>
          <a:p>
            <a:pPr marL="171450" indent="-171450">
              <a:buFont typeface="Arial" pitchFamily="34" charset="0"/>
              <a:buChar char="•"/>
            </a:pPr>
            <a:r>
              <a:rPr lang="en-AU" sz="1200" kern="1200" dirty="0" smtClean="0">
                <a:solidFill>
                  <a:schemeClr val="tx1"/>
                </a:solidFill>
                <a:ea typeface="+mn-ea"/>
                <a:cs typeface="+mn-cs"/>
              </a:rPr>
              <a:t>Insurance companies</a:t>
            </a:r>
          </a:p>
          <a:p>
            <a:pPr marL="171450" indent="-171450">
              <a:buFont typeface="Arial" pitchFamily="34" charset="0"/>
              <a:buChar char="•"/>
            </a:pPr>
            <a:r>
              <a:rPr lang="en-AU" sz="1200" kern="1200" dirty="0" smtClean="0">
                <a:solidFill>
                  <a:schemeClr val="tx1"/>
                </a:solidFill>
                <a:ea typeface="+mn-ea"/>
                <a:cs typeface="+mn-cs"/>
              </a:rPr>
              <a:t>Private security providers (at the location where the theft occurred)</a:t>
            </a:r>
          </a:p>
          <a:p>
            <a:pPr marL="171450" indent="-171450">
              <a:buFont typeface="Arial" pitchFamily="34" charset="0"/>
              <a:buChar char="•"/>
            </a:pPr>
            <a:r>
              <a:rPr lang="en-AU" sz="1200" kern="1200" dirty="0" smtClean="0">
                <a:solidFill>
                  <a:schemeClr val="tx1"/>
                </a:solidFill>
                <a:ea typeface="+mn-ea"/>
                <a:cs typeface="+mn-cs"/>
              </a:rPr>
              <a:t>Host businesses (where the theft took place)</a:t>
            </a:r>
          </a:p>
          <a:p>
            <a:pPr marL="171450" indent="-171450">
              <a:buFont typeface="Arial" pitchFamily="34" charset="0"/>
              <a:buChar char="•"/>
            </a:pPr>
            <a:r>
              <a:rPr lang="en-AU" sz="1200" kern="1200" dirty="0" smtClean="0">
                <a:solidFill>
                  <a:schemeClr val="tx1"/>
                </a:solidFill>
                <a:ea typeface="+mn-ea"/>
                <a:cs typeface="+mn-cs"/>
              </a:rPr>
              <a:t>Witnesses</a:t>
            </a:r>
          </a:p>
          <a:p>
            <a:pPr marL="171450" indent="-171450">
              <a:buFont typeface="Arial" pitchFamily="34" charset="0"/>
              <a:buChar char="•"/>
            </a:pPr>
            <a:r>
              <a:rPr lang="en-AU" sz="1200" kern="1200" dirty="0" smtClean="0">
                <a:solidFill>
                  <a:schemeClr val="tx1"/>
                </a:solidFill>
                <a:ea typeface="+mn-ea"/>
                <a:cs typeface="+mn-cs"/>
              </a:rPr>
              <a:t>Others outside the tour group who also suffered loss as part of the theft.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 xmlns:p14="http://schemas.microsoft.com/office/powerpoint/2010/main" val="2412296688"/>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in </a:t>
            </a:r>
            <a:r>
              <a:rPr lang="en-AU" sz="1200" kern="1200" dirty="0" smtClean="0">
                <a:solidFill>
                  <a:schemeClr val="tx1"/>
                </a:solidFill>
                <a:ea typeface="+mn-ea"/>
                <a:cs typeface="+mn-cs"/>
              </a:rPr>
              <a:t>most cases tour companies/operators will want to take action to prevent recurrence of a theft event because they understand ongoing instances of theft will damage their reputation and reduce repeat and referral business. Considerations should include cost and in this regard should address:</a:t>
            </a:r>
          </a:p>
          <a:p>
            <a:pPr marL="171450" indent="-171450">
              <a:buFont typeface="Arial" pitchFamily="34" charset="0"/>
              <a:buChar char="•"/>
            </a:pPr>
            <a:r>
              <a:rPr lang="en-AU" sz="1200" kern="1200" dirty="0" smtClean="0">
                <a:solidFill>
                  <a:schemeClr val="tx1"/>
                </a:solidFill>
                <a:ea typeface="+mn-ea"/>
                <a:cs typeface="+mn-cs"/>
              </a:rPr>
              <a:t>Time – taking action to prevent recurrence will always involve time. This means it will cost ‘labour’ (wages), in terms of, for example:</a:t>
            </a:r>
          </a:p>
          <a:p>
            <a:pPr marL="628650" lvl="1" indent="-171450">
              <a:buFont typeface="Arial" pitchFamily="34" charset="0"/>
              <a:buChar char="•"/>
            </a:pPr>
            <a:r>
              <a:rPr lang="en-AU" sz="1200" kern="1200" dirty="0" smtClean="0">
                <a:solidFill>
                  <a:schemeClr val="tx1"/>
                </a:solidFill>
                <a:ea typeface="+mn-ea"/>
                <a:cs typeface="+mn-cs"/>
              </a:rPr>
              <a:t>Participating in meetings, briefings and de-briefings </a:t>
            </a:r>
          </a:p>
          <a:p>
            <a:pPr marL="628650" lvl="1" indent="-171450">
              <a:buFont typeface="Arial" pitchFamily="34" charset="0"/>
              <a:buChar char="•"/>
            </a:pPr>
            <a:r>
              <a:rPr lang="en-AU" sz="1200" kern="1200" dirty="0" smtClean="0">
                <a:solidFill>
                  <a:schemeClr val="tx1"/>
                </a:solidFill>
                <a:ea typeface="+mn-ea"/>
                <a:cs typeface="+mn-cs"/>
              </a:rPr>
              <a:t>Liaising with authorities and security and safety experts</a:t>
            </a:r>
          </a:p>
          <a:p>
            <a:pPr marL="628650" lvl="1" indent="-171450">
              <a:buFont typeface="Arial" pitchFamily="34" charset="0"/>
              <a:buChar char="•"/>
            </a:pPr>
            <a:r>
              <a:rPr lang="en-AU" sz="1200" kern="1200" dirty="0" smtClean="0">
                <a:solidFill>
                  <a:schemeClr val="tx1"/>
                </a:solidFill>
                <a:ea typeface="+mn-ea"/>
                <a:cs typeface="+mn-cs"/>
              </a:rPr>
              <a:t>Training</a:t>
            </a:r>
          </a:p>
          <a:p>
            <a:pPr marL="628650" lvl="1" indent="-171450">
              <a:buFont typeface="Arial" pitchFamily="34" charset="0"/>
              <a:buChar char="•"/>
            </a:pPr>
            <a:r>
              <a:rPr lang="en-AU" sz="1200" kern="1200" dirty="0" smtClean="0">
                <a:solidFill>
                  <a:schemeClr val="tx1"/>
                </a:solidFill>
                <a:ea typeface="+mn-ea"/>
                <a:cs typeface="+mn-cs"/>
              </a:rPr>
              <a:t>Researching and investigating security initiatives</a:t>
            </a:r>
          </a:p>
          <a:p>
            <a:pPr marL="628650" lvl="1" indent="-171450">
              <a:buFont typeface="Arial" pitchFamily="34" charset="0"/>
              <a:buChar char="•"/>
            </a:pPr>
            <a:r>
              <a:rPr lang="en-AU" sz="1200" kern="1200" dirty="0" smtClean="0">
                <a:solidFill>
                  <a:schemeClr val="tx1"/>
                </a:solidFill>
                <a:ea typeface="+mn-ea"/>
                <a:cs typeface="+mn-cs"/>
              </a:rPr>
              <a:t>Preparing new protocols and advice</a:t>
            </a:r>
          </a:p>
          <a:p>
            <a:pPr marL="628650" lvl="1" indent="-171450">
              <a:buFont typeface="Arial" pitchFamily="34" charset="0"/>
              <a:buChar char="•"/>
            </a:pPr>
            <a:r>
              <a:rPr lang="en-AU" sz="1200" kern="1200" dirty="0" smtClean="0">
                <a:solidFill>
                  <a:schemeClr val="tx1"/>
                </a:solidFill>
                <a:ea typeface="+mn-ea"/>
                <a:cs typeface="+mn-cs"/>
              </a:rPr>
              <a:t>Delivering different/longer or more detailed theft minimisation briefings to customers</a:t>
            </a:r>
          </a:p>
          <a:p>
            <a:pPr marL="628650" lvl="1" indent="-171450">
              <a:buFont typeface="Arial" pitchFamily="34" charset="0"/>
              <a:buChar char="•"/>
            </a:pPr>
            <a:r>
              <a:rPr lang="en-AU" sz="1200" kern="1200" dirty="0" smtClean="0">
                <a:solidFill>
                  <a:schemeClr val="tx1"/>
                </a:solidFill>
                <a:ea typeface="+mn-ea"/>
                <a:cs typeface="+mn-cs"/>
              </a:rPr>
              <a:t>Extra hours required to provide enhanced levels of security when on-tour</a:t>
            </a:r>
          </a:p>
          <a:p>
            <a:pPr marL="171450" indent="-171450">
              <a:buFont typeface="Arial" pitchFamily="34" charset="0"/>
              <a:buChar char="•"/>
            </a:pPr>
            <a:r>
              <a:rPr lang="en-AU" sz="1200" kern="1200" dirty="0" smtClean="0">
                <a:solidFill>
                  <a:schemeClr val="tx1"/>
                </a:solidFill>
                <a:ea typeface="+mn-ea"/>
                <a:cs typeface="+mn-cs"/>
              </a:rPr>
              <a:t>Cost of extra or different physical resources – to enable greater security while on-tour</a:t>
            </a:r>
          </a:p>
          <a:p>
            <a:pPr marL="171450" indent="-171450">
              <a:buFont typeface="Arial" pitchFamily="34" charset="0"/>
              <a:buChar char="•"/>
            </a:pPr>
            <a:r>
              <a:rPr lang="en-AU" sz="1200" kern="1200" dirty="0" smtClean="0">
                <a:solidFill>
                  <a:schemeClr val="tx1"/>
                </a:solidFill>
                <a:ea typeface="+mn-ea"/>
                <a:cs typeface="+mn-cs"/>
              </a:rPr>
              <a:t>Cost of premiums for new or additional insurance coverage</a:t>
            </a:r>
          </a:p>
          <a:p>
            <a:pPr marL="171450" indent="-171450">
              <a:buFont typeface="Arial" pitchFamily="34" charset="0"/>
              <a:buChar char="•"/>
            </a:pPr>
            <a:r>
              <a:rPr lang="en-AU" sz="1200" kern="1200" dirty="0" smtClean="0">
                <a:solidFill>
                  <a:schemeClr val="tx1"/>
                </a:solidFill>
                <a:ea typeface="+mn-ea"/>
                <a:cs typeface="+mn-cs"/>
              </a:rPr>
              <a:t>Cost of revising advertising for trips and tours</a:t>
            </a:r>
          </a:p>
          <a:p>
            <a:pPr marL="171450" indent="-171450">
              <a:buFont typeface="Arial" pitchFamily="34" charset="0"/>
              <a:buChar char="•"/>
            </a:pPr>
            <a:r>
              <a:rPr lang="en-AU" sz="1200" kern="1200" dirty="0" smtClean="0">
                <a:solidFill>
                  <a:schemeClr val="tx1"/>
                </a:solidFill>
                <a:ea typeface="+mn-ea"/>
                <a:cs typeface="+mn-cs"/>
              </a:rPr>
              <a:t>Cost and implications of altering terms and conditions offered by the tour company/operator.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 xmlns:p14="http://schemas.microsoft.com/office/powerpoint/2010/main" val="3441636358"/>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investigation into theft events explaining </a:t>
            </a:r>
            <a:r>
              <a:rPr lang="en-AU" sz="1200" kern="1200" dirty="0" smtClean="0">
                <a:solidFill>
                  <a:schemeClr val="tx1"/>
                </a:solidFill>
                <a:ea typeface="+mn-ea"/>
                <a:cs typeface="+mn-cs"/>
              </a:rPr>
              <a:t>these actions may need to be taken to:</a:t>
            </a:r>
          </a:p>
          <a:p>
            <a:pPr marL="171450" indent="-171450">
              <a:buFont typeface="Arial" pitchFamily="34" charset="0"/>
              <a:buChar char="•"/>
            </a:pPr>
            <a:r>
              <a:rPr lang="en-AU" sz="1200" kern="1200" dirty="0" smtClean="0">
                <a:solidFill>
                  <a:schemeClr val="tx1"/>
                </a:solidFill>
                <a:ea typeface="+mn-ea"/>
                <a:cs typeface="+mn-cs"/>
              </a:rPr>
              <a:t>Optimise chance of recovering the items which were stolen</a:t>
            </a:r>
          </a:p>
          <a:p>
            <a:pPr marL="171450" indent="-171450">
              <a:buFont typeface="Arial" pitchFamily="34" charset="0"/>
              <a:buChar char="•"/>
            </a:pPr>
            <a:r>
              <a:rPr lang="en-AU" sz="1200" kern="1200" dirty="0" smtClean="0">
                <a:solidFill>
                  <a:schemeClr val="tx1"/>
                </a:solidFill>
                <a:ea typeface="+mn-ea"/>
                <a:cs typeface="+mn-cs"/>
              </a:rPr>
              <a:t>Assist local authorities</a:t>
            </a:r>
          </a:p>
          <a:p>
            <a:pPr marL="171450" indent="-171450">
              <a:buFont typeface="Arial" pitchFamily="34" charset="0"/>
              <a:buChar char="•"/>
            </a:pPr>
            <a:r>
              <a:rPr lang="en-AU" sz="1200" kern="1200" dirty="0" smtClean="0">
                <a:solidFill>
                  <a:schemeClr val="tx1"/>
                </a:solidFill>
                <a:ea typeface="+mn-ea"/>
                <a:cs typeface="+mn-cs"/>
              </a:rPr>
              <a:t>Facilitate completion of an insurance claim</a:t>
            </a:r>
          </a:p>
          <a:p>
            <a:pPr marL="171450" indent="-171450">
              <a:buFont typeface="Arial" pitchFamily="34" charset="0"/>
              <a:buChar char="•"/>
            </a:pPr>
            <a:r>
              <a:rPr lang="en-AU" sz="1200" kern="1200" dirty="0" smtClean="0">
                <a:solidFill>
                  <a:schemeClr val="tx1"/>
                </a:solidFill>
                <a:ea typeface="+mn-ea"/>
                <a:cs typeface="+mn-cs"/>
              </a:rPr>
              <a:t>Demonstrate professionalism and due diligence</a:t>
            </a:r>
          </a:p>
          <a:p>
            <a:pPr marL="171450" indent="-171450">
              <a:buFont typeface="Arial" pitchFamily="34" charset="0"/>
              <a:buChar char="•"/>
            </a:pPr>
            <a:r>
              <a:rPr lang="en-AU" sz="1200" kern="1200" dirty="0" smtClean="0">
                <a:solidFill>
                  <a:schemeClr val="tx1"/>
                </a:solidFill>
                <a:ea typeface="+mn-ea"/>
                <a:cs typeface="+mn-cs"/>
              </a:rPr>
              <a:t>Meet customer expectations</a:t>
            </a:r>
          </a:p>
          <a:p>
            <a:pPr marL="171450" indent="-171450">
              <a:buFont typeface="Arial" pitchFamily="34" charset="0"/>
              <a:buChar char="•"/>
            </a:pPr>
            <a:r>
              <a:rPr lang="en-AU" sz="1200" kern="1200" dirty="0" smtClean="0">
                <a:solidFill>
                  <a:schemeClr val="tx1"/>
                </a:solidFill>
                <a:ea typeface="+mn-ea"/>
                <a:cs typeface="+mn-cs"/>
              </a:rPr>
              <a:t>Prevent recurrence of a similar event in the future.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 xmlns:p14="http://schemas.microsoft.com/office/powerpoint/2010/main" val="12059323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informs not all instances of identified theft result in legal action and this may be because:</a:t>
            </a:r>
          </a:p>
          <a:p>
            <a:pPr marL="171450" indent="-171450">
              <a:buFont typeface="Arial" pitchFamily="34" charset="0"/>
              <a:buChar char="•"/>
            </a:pPr>
            <a:r>
              <a:rPr lang="en-AU" sz="1200" kern="1200" dirty="0" smtClean="0">
                <a:solidFill>
                  <a:schemeClr val="tx1"/>
                </a:solidFill>
                <a:ea typeface="+mn-ea"/>
                <a:cs typeface="+mn-cs"/>
              </a:rPr>
              <a:t>Taking legal action is expensive and there is never any guarantee of success – and there can be times where you win the case but the undertaking still costs the tour operator/company money</a:t>
            </a:r>
          </a:p>
          <a:p>
            <a:pPr marL="171450" indent="-171450">
              <a:buFont typeface="Arial" pitchFamily="34" charset="0"/>
              <a:buChar char="•"/>
            </a:pPr>
            <a:r>
              <a:rPr lang="en-AU" sz="1200" kern="1200" dirty="0" smtClean="0">
                <a:solidFill>
                  <a:schemeClr val="tx1"/>
                </a:solidFill>
                <a:ea typeface="+mn-ea"/>
                <a:cs typeface="+mn-cs"/>
              </a:rPr>
              <a:t>It is often very time consuming to pursue legal action – and becoming involved in such a time-consuming activity adds more expense to a loss event. Being involved in lengthy legal action can cause ongoing anxiety for staff and business owners – and the potential payout is not worth this distress</a:t>
            </a:r>
          </a:p>
          <a:p>
            <a:pPr marL="171450" indent="-171450">
              <a:buFont typeface="Arial" pitchFamily="34" charset="0"/>
              <a:buChar char="•"/>
            </a:pPr>
            <a:r>
              <a:rPr lang="en-AU" sz="1200" kern="1200" dirty="0" smtClean="0">
                <a:solidFill>
                  <a:schemeClr val="tx1"/>
                </a:solidFill>
                <a:ea typeface="+mn-ea"/>
                <a:cs typeface="+mn-cs"/>
              </a:rPr>
              <a:t>It is often just quicker, easier, simpler and more cost-effective to accept the loss and move forward.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 xmlns:p14="http://schemas.microsoft.com/office/powerpoint/2010/main" val="1162038002"/>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a:t>
            </a:r>
            <a:r>
              <a:rPr lang="en-AU" sz="1200" kern="1200" dirty="0" smtClean="0">
                <a:solidFill>
                  <a:schemeClr val="tx1"/>
                </a:solidFill>
                <a:ea typeface="+mn-ea"/>
                <a:cs typeface="+mn-cs"/>
              </a:rPr>
              <a:t>where the tour company/operator is insured, the standard procedure is:</a:t>
            </a:r>
          </a:p>
          <a:p>
            <a:pPr marL="171450" indent="-171450">
              <a:buFont typeface="Arial" pitchFamily="34" charset="0"/>
              <a:buChar char="•"/>
            </a:pPr>
            <a:r>
              <a:rPr lang="en-AU" sz="1200" kern="1200" dirty="0" smtClean="0">
                <a:solidFill>
                  <a:schemeClr val="tx1"/>
                </a:solidFill>
                <a:ea typeface="+mn-ea"/>
                <a:cs typeface="+mn-cs"/>
              </a:rPr>
              <a:t>Rely on the insurance policy and make a claim</a:t>
            </a:r>
          </a:p>
          <a:p>
            <a:pPr marL="171450" indent="-171450">
              <a:buFont typeface="Arial" pitchFamily="34" charset="0"/>
              <a:buChar char="•"/>
            </a:pPr>
            <a:r>
              <a:rPr lang="en-AU" sz="1200" kern="1200" dirty="0" smtClean="0">
                <a:solidFill>
                  <a:schemeClr val="tx1"/>
                </a:solidFill>
                <a:ea typeface="+mn-ea"/>
                <a:cs typeface="+mn-cs"/>
              </a:rPr>
              <a:t>Allow the insurance company to decide if it wants to take legal action to recover monies.</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Guest Speaker from insurance company to discuss role of insurance companies in responding</a:t>
            </a:r>
            <a:r>
              <a:rPr lang="en-US" b="0" baseline="0" dirty="0" smtClean="0"/>
              <a:t> to theft-related claims and taking legal action on behalf of policy holders to recover monies.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 xmlns:p14="http://schemas.microsoft.com/office/powerpoint/2010/main" val="2830201632"/>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pre-requisites for taking legal action</a:t>
            </a:r>
            <a:r>
              <a:rPr lang="en-AU" sz="1200" kern="1200" dirty="0" smtClean="0">
                <a:solidFill>
                  <a:schemeClr val="tx1"/>
                </a:solidFill>
                <a:ea typeface="+mn-ea"/>
                <a:cs typeface="+mn-cs"/>
              </a:rPr>
              <a:t>:</a:t>
            </a:r>
          </a:p>
          <a:p>
            <a:pPr marL="171450" indent="-171450">
              <a:buFont typeface="Arial" pitchFamily="34" charset="0"/>
              <a:buChar char="•"/>
            </a:pPr>
            <a:r>
              <a:rPr lang="en-AU" sz="1200" kern="1200" dirty="0" smtClean="0">
                <a:solidFill>
                  <a:schemeClr val="tx1"/>
                </a:solidFill>
                <a:ea typeface="+mn-ea"/>
                <a:cs typeface="+mn-cs"/>
              </a:rPr>
              <a:t>Obtain professional legal advice – to indicate the likelihood of successful action, and the potential costs and time involved in pursuing the action</a:t>
            </a:r>
          </a:p>
          <a:p>
            <a:pPr marL="171450" indent="-171450">
              <a:buFont typeface="Arial" pitchFamily="34" charset="0"/>
              <a:buChar char="•"/>
            </a:pPr>
            <a:r>
              <a:rPr lang="en-AU" sz="1200" kern="1200" dirty="0" smtClean="0">
                <a:solidFill>
                  <a:schemeClr val="tx1"/>
                </a:solidFill>
                <a:ea typeface="+mn-ea"/>
                <a:cs typeface="+mn-cs"/>
              </a:rPr>
              <a:t>Document everything about the theft event which is known (see above, section 5.1) – for use as reference material and/or evidence</a:t>
            </a:r>
          </a:p>
          <a:p>
            <a:pPr marL="171450" indent="-171450">
              <a:buFont typeface="Arial" pitchFamily="34" charset="0"/>
              <a:buChar char="•"/>
            </a:pPr>
            <a:r>
              <a:rPr lang="en-AU" sz="1200" kern="1200" dirty="0" smtClean="0">
                <a:solidFill>
                  <a:schemeClr val="tx1"/>
                </a:solidFill>
                <a:ea typeface="+mn-ea"/>
                <a:cs typeface="+mn-cs"/>
              </a:rPr>
              <a:t>Establish a file for the legal action to be taken – in which all relevant activities and associated documents are recorded/placed. This file will contain items and information such as:</a:t>
            </a:r>
          </a:p>
          <a:p>
            <a:pPr marL="628650" lvl="1" indent="-171450">
              <a:buFont typeface="Arial" pitchFamily="34" charset="0"/>
              <a:buChar char="•"/>
            </a:pPr>
            <a:r>
              <a:rPr lang="en-AU" sz="1200" kern="1200" dirty="0" smtClean="0">
                <a:solidFill>
                  <a:schemeClr val="tx1"/>
                </a:solidFill>
                <a:ea typeface="+mn-ea"/>
                <a:cs typeface="+mn-cs"/>
              </a:rPr>
              <a:t>Notes taken of meetings with lawyers, police, witnesses, insurers, victims and other persons connected with the case</a:t>
            </a:r>
          </a:p>
          <a:p>
            <a:pPr marL="628650" lvl="1" indent="-171450">
              <a:buFont typeface="Arial" pitchFamily="34" charset="0"/>
              <a:buChar char="•"/>
            </a:pPr>
            <a:r>
              <a:rPr lang="en-AU" sz="1200" kern="1200" dirty="0" smtClean="0">
                <a:solidFill>
                  <a:schemeClr val="tx1"/>
                </a:solidFill>
                <a:ea typeface="+mn-ea"/>
                <a:cs typeface="+mn-cs"/>
              </a:rPr>
              <a:t>Correspondence – in and out</a:t>
            </a:r>
          </a:p>
          <a:p>
            <a:pPr marL="628650" lvl="1" indent="-171450">
              <a:buFont typeface="Arial" pitchFamily="34" charset="0"/>
              <a:buChar char="•"/>
            </a:pPr>
            <a:r>
              <a:rPr lang="en-AU" sz="1200" kern="1200" dirty="0" smtClean="0">
                <a:solidFill>
                  <a:schemeClr val="tx1"/>
                </a:solidFill>
                <a:ea typeface="+mn-ea"/>
                <a:cs typeface="+mn-cs"/>
              </a:rPr>
              <a:t>Evidentiary documentation</a:t>
            </a:r>
          </a:p>
          <a:p>
            <a:pPr marL="628650" lvl="1" indent="-171450">
              <a:buFont typeface="Arial" pitchFamily="34" charset="0"/>
              <a:buChar char="•"/>
            </a:pPr>
            <a:r>
              <a:rPr lang="en-AU" sz="1200" kern="1200" dirty="0" smtClean="0">
                <a:solidFill>
                  <a:schemeClr val="tx1"/>
                </a:solidFill>
                <a:ea typeface="+mn-ea"/>
                <a:cs typeface="+mn-cs"/>
              </a:rPr>
              <a:t>Times and dates of meetings</a:t>
            </a:r>
          </a:p>
          <a:p>
            <a:pPr marL="628650" lvl="1" indent="-171450">
              <a:buFont typeface="Arial" pitchFamily="34" charset="0"/>
              <a:buChar char="•"/>
            </a:pPr>
            <a:r>
              <a:rPr lang="en-AU" sz="1200" kern="1200" dirty="0" smtClean="0">
                <a:solidFill>
                  <a:schemeClr val="tx1"/>
                </a:solidFill>
                <a:ea typeface="+mn-ea"/>
                <a:cs typeface="+mn-cs"/>
              </a:rPr>
              <a:t>Costs involved.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 xmlns:p14="http://schemas.microsoft.com/office/powerpoint/2010/main" val="441370876"/>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there </a:t>
            </a:r>
            <a:r>
              <a:rPr lang="en-AU" sz="1200" kern="1200" dirty="0" smtClean="0">
                <a:solidFill>
                  <a:schemeClr val="tx1"/>
                </a:solidFill>
                <a:ea typeface="+mn-ea"/>
                <a:cs typeface="+mn-cs"/>
              </a:rPr>
              <a:t>is always a need for this type of activity to factor in the specific nature/type of the theft event being considered:</a:t>
            </a:r>
          </a:p>
          <a:p>
            <a:pPr marL="171450" indent="-171450">
              <a:buFont typeface="Arial" pitchFamily="34" charset="0"/>
              <a:buChar char="•"/>
            </a:pPr>
            <a:r>
              <a:rPr lang="en-AU" sz="1200" kern="1200" dirty="0" smtClean="0">
                <a:solidFill>
                  <a:schemeClr val="tx1"/>
                </a:solidFill>
                <a:ea typeface="+mn-ea"/>
                <a:cs typeface="+mn-cs"/>
              </a:rPr>
              <a:t>Not all situations will require the same treatment, and individual circumstances are always unique.</a:t>
            </a:r>
          </a:p>
          <a:p>
            <a:pPr marL="171450" indent="-171450">
              <a:buFont typeface="Arial" pitchFamily="34" charset="0"/>
              <a:buChar char="•"/>
            </a:pPr>
            <a:r>
              <a:rPr lang="en-AU" sz="1200" kern="1200" dirty="0" smtClean="0">
                <a:solidFill>
                  <a:schemeClr val="tx1"/>
                </a:solidFill>
                <a:ea typeface="+mn-ea"/>
                <a:cs typeface="+mn-cs"/>
              </a:rPr>
              <a:t>All considerations of anything with the potential to impact ‘theft potential’ should always include:</a:t>
            </a:r>
          </a:p>
          <a:p>
            <a:pPr marL="628650" lvl="1" indent="-171450">
              <a:buFont typeface="Arial" pitchFamily="34" charset="0"/>
              <a:buChar char="•"/>
            </a:pPr>
            <a:r>
              <a:rPr lang="en-AU" sz="1200" kern="1200" dirty="0" smtClean="0">
                <a:solidFill>
                  <a:schemeClr val="tx1"/>
                </a:solidFill>
                <a:ea typeface="+mn-ea"/>
                <a:cs typeface="+mn-cs"/>
              </a:rPr>
              <a:t>Reference to existing insurance policies – to determine of the new threat is covered by the policy, and is, to what extent and under what provisions</a:t>
            </a:r>
          </a:p>
          <a:p>
            <a:pPr marL="628650" lvl="1" indent="-171450">
              <a:buFont typeface="Arial" pitchFamily="34" charset="0"/>
              <a:buChar char="•"/>
            </a:pPr>
            <a:r>
              <a:rPr lang="en-AU" sz="1200" kern="1200" dirty="0" smtClean="0">
                <a:solidFill>
                  <a:schemeClr val="tx1"/>
                </a:solidFill>
                <a:ea typeface="+mn-ea"/>
                <a:cs typeface="+mn-cs"/>
              </a:rPr>
              <a:t>Discussion with insurers – to verify perceived coverage or to identify new coverage (policies and premiums) which may need to be taken out.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 xmlns:p14="http://schemas.microsoft.com/office/powerpoint/2010/main" val="4157616804"/>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effective </a:t>
            </a:r>
            <a:r>
              <a:rPr lang="en-AU" sz="1200" kern="1200" dirty="0" smtClean="0">
                <a:solidFill>
                  <a:schemeClr val="tx1"/>
                </a:solidFill>
                <a:ea typeface="+mn-ea"/>
                <a:cs typeface="+mn-cs"/>
              </a:rPr>
              <a:t>analysis will involve investigation into the following and identifying specific changes which should be made: (each to be covered in more detail on following slides)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Identifying changes to business layout</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Identifying new (or revised) processes </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Identifying new products or services that introduce theft potential</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Identifying staff changes that may introduce theft potential</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Identifying new locations, including destinations that introduce theft potential</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Identifying new suppliers or business partners that introduce theft potential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 xmlns:p14="http://schemas.microsoft.com/office/powerpoint/2010/main" val="267049250"/>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talks about investigations into changes in business layout observing </a:t>
            </a:r>
            <a:r>
              <a:rPr lang="en-AU" sz="1200" kern="1200" dirty="0" smtClean="0">
                <a:solidFill>
                  <a:schemeClr val="tx1"/>
                </a:solidFill>
                <a:ea typeface="+mn-ea"/>
                <a:cs typeface="+mn-cs"/>
              </a:rPr>
              <a:t>this may include suggestions regarding:</a:t>
            </a:r>
          </a:p>
          <a:p>
            <a:pPr marL="171450" indent="-171450">
              <a:buFont typeface="Arial" pitchFamily="34" charset="0"/>
              <a:buChar char="•"/>
            </a:pPr>
            <a:r>
              <a:rPr lang="en-AU" sz="1200" kern="1200" dirty="0" smtClean="0">
                <a:solidFill>
                  <a:schemeClr val="tx1"/>
                </a:solidFill>
                <a:ea typeface="+mn-ea"/>
                <a:cs typeface="+mn-cs"/>
              </a:rPr>
              <a:t>Modifying and/or restricting access and egress points</a:t>
            </a:r>
          </a:p>
          <a:p>
            <a:pPr marL="171450" indent="-171450">
              <a:buFont typeface="Arial" pitchFamily="34" charset="0"/>
              <a:buChar char="•"/>
            </a:pPr>
            <a:r>
              <a:rPr lang="en-AU" sz="1200" kern="1200" dirty="0" smtClean="0">
                <a:solidFill>
                  <a:schemeClr val="tx1"/>
                </a:solidFill>
                <a:ea typeface="+mn-ea"/>
                <a:cs typeface="+mn-cs"/>
              </a:rPr>
              <a:t>Re-locating displays and/or merchandise which is presented in the business</a:t>
            </a:r>
          </a:p>
          <a:p>
            <a:pPr marL="171450" indent="-171450">
              <a:buFont typeface="Arial" pitchFamily="34" charset="0"/>
              <a:buChar char="•"/>
            </a:pPr>
            <a:r>
              <a:rPr lang="en-AU" sz="1200" kern="1200" dirty="0" smtClean="0">
                <a:solidFill>
                  <a:schemeClr val="tx1"/>
                </a:solidFill>
                <a:ea typeface="+mn-ea"/>
                <a:cs typeface="+mn-cs"/>
              </a:rPr>
              <a:t>Limiting movement of public within the business</a:t>
            </a:r>
          </a:p>
          <a:p>
            <a:pPr marL="171450" indent="-171450">
              <a:buFont typeface="Arial" pitchFamily="34" charset="0"/>
              <a:buChar char="•"/>
            </a:pPr>
            <a:r>
              <a:rPr lang="en-AU" sz="1200" kern="1200" dirty="0" smtClean="0">
                <a:solidFill>
                  <a:schemeClr val="tx1"/>
                </a:solidFill>
                <a:ea typeface="+mn-ea"/>
                <a:cs typeface="+mn-cs"/>
              </a:rPr>
              <a:t>Defining areas of the business which are ‘off limits’ to those who do not work in the business</a:t>
            </a:r>
          </a:p>
          <a:p>
            <a:pPr marL="171450" indent="-171450">
              <a:buFont typeface="Arial" pitchFamily="34" charset="0"/>
              <a:buChar char="•"/>
            </a:pPr>
            <a:r>
              <a:rPr lang="en-AU" sz="1200" kern="1200" dirty="0" smtClean="0">
                <a:solidFill>
                  <a:schemeClr val="tx1"/>
                </a:solidFill>
                <a:ea typeface="+mn-ea"/>
                <a:cs typeface="+mn-cs"/>
              </a:rPr>
              <a:t>Moving cash and registers to a more secure position.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 xmlns:p14="http://schemas.microsoft.com/office/powerpoint/2010/main" val="3278882306"/>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notes</a:t>
            </a:r>
            <a:r>
              <a:rPr lang="en-US" baseline="0" dirty="0" smtClean="0"/>
              <a:t> changes to processes may require:</a:t>
            </a:r>
          </a:p>
          <a:p>
            <a:pPr marL="171450" indent="-171450">
              <a:buFont typeface="Arial" pitchFamily="34" charset="0"/>
              <a:buChar char="•"/>
            </a:pPr>
            <a:r>
              <a:rPr lang="en-AU" sz="1200" kern="1200" dirty="0" smtClean="0">
                <a:solidFill>
                  <a:schemeClr val="tx1"/>
                </a:solidFill>
                <a:ea typeface="+mn-ea"/>
                <a:cs typeface="+mn-cs"/>
              </a:rPr>
              <a:t>Developing revised or new SOPs to control activities associated with revised or new processes – all revisions to existing practice, and all introductions of new practices must be subject to analysis and the development of effective SOPs</a:t>
            </a:r>
          </a:p>
          <a:p>
            <a:pPr marL="171450" indent="-171450">
              <a:buFont typeface="Arial" pitchFamily="34" charset="0"/>
              <a:buChar char="•"/>
            </a:pPr>
            <a:r>
              <a:rPr lang="en-AU" sz="1200" kern="1200" dirty="0" smtClean="0">
                <a:solidFill>
                  <a:schemeClr val="tx1"/>
                </a:solidFill>
                <a:ea typeface="+mn-ea"/>
                <a:cs typeface="+mn-cs"/>
              </a:rPr>
              <a:t>Communicating new SOPs and policies to staff </a:t>
            </a:r>
          </a:p>
          <a:p>
            <a:pPr marL="171450" indent="-171450">
              <a:buFont typeface="Arial" pitchFamily="34" charset="0"/>
              <a:buChar char="•"/>
            </a:pPr>
            <a:r>
              <a:rPr lang="en-AU" sz="1200" kern="1200" dirty="0" smtClean="0">
                <a:solidFill>
                  <a:schemeClr val="tx1"/>
                </a:solidFill>
                <a:ea typeface="+mn-ea"/>
                <a:cs typeface="+mn-cs"/>
              </a:rPr>
              <a:t>Providing appropriate support training</a:t>
            </a:r>
          </a:p>
          <a:p>
            <a:pPr marL="171450" indent="-171450">
              <a:buFont typeface="Arial" pitchFamily="34" charset="0"/>
              <a:buChar char="•"/>
            </a:pPr>
            <a:r>
              <a:rPr lang="en-AU" sz="1200" kern="1200" dirty="0" smtClean="0">
                <a:solidFill>
                  <a:schemeClr val="tx1"/>
                </a:solidFill>
                <a:ea typeface="+mn-ea"/>
                <a:cs typeface="+mn-cs"/>
              </a:rPr>
              <a:t>Integrating ‘lessons learned’ from previous events into revised/new processes</a:t>
            </a:r>
          </a:p>
          <a:p>
            <a:pPr marL="171450" indent="-171450">
              <a:buFont typeface="Arial" pitchFamily="34" charset="0"/>
              <a:buChar char="•"/>
            </a:pPr>
            <a:r>
              <a:rPr lang="en-AU" sz="1200" kern="1200" dirty="0" smtClean="0">
                <a:solidFill>
                  <a:schemeClr val="tx1"/>
                </a:solidFill>
                <a:ea typeface="+mn-ea"/>
                <a:cs typeface="+mn-cs"/>
              </a:rPr>
              <a:t>Implementing appropriate systems and technology into SOPs for the business</a:t>
            </a:r>
          </a:p>
          <a:p>
            <a:pPr marL="171450" indent="-171450">
              <a:buFont typeface="Arial" pitchFamily="34" charset="0"/>
              <a:buChar char="•"/>
            </a:pPr>
            <a:r>
              <a:rPr lang="en-AU" sz="1200" kern="1200" dirty="0" smtClean="0">
                <a:solidFill>
                  <a:schemeClr val="tx1"/>
                </a:solidFill>
                <a:ea typeface="+mn-ea"/>
                <a:cs typeface="+mn-cs"/>
              </a:rPr>
              <a:t>Paying special attention to the introduction of any revised or new practices which raise the potential for new or different threat or risk.</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 xmlns:p14="http://schemas.microsoft.com/office/powerpoint/2010/main" val="397333305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states </a:t>
            </a:r>
            <a:r>
              <a:rPr lang="en-US" baseline="0" dirty="0" smtClean="0"/>
              <a:t>changes to products and services may require:</a:t>
            </a:r>
          </a:p>
          <a:p>
            <a:pPr marL="171450" indent="-171450">
              <a:buFont typeface="Arial" pitchFamily="34" charset="0"/>
              <a:buChar char="•"/>
            </a:pPr>
            <a:r>
              <a:rPr lang="en-AU" sz="1200" kern="1200" dirty="0" smtClean="0">
                <a:solidFill>
                  <a:schemeClr val="tx1"/>
                </a:solidFill>
                <a:ea typeface="+mn-ea"/>
                <a:cs typeface="+mn-cs"/>
              </a:rPr>
              <a:t>Advising against introducing new products or services which are likely to:</a:t>
            </a:r>
          </a:p>
          <a:p>
            <a:pPr marL="628650" lvl="1" indent="-171450">
              <a:buFont typeface="Arial" pitchFamily="34" charset="0"/>
              <a:buChar char="•"/>
            </a:pPr>
            <a:r>
              <a:rPr lang="en-AU" sz="1200" kern="1200" dirty="0" smtClean="0">
                <a:solidFill>
                  <a:schemeClr val="tx1"/>
                </a:solidFill>
                <a:ea typeface="+mn-ea"/>
                <a:cs typeface="+mn-cs"/>
              </a:rPr>
              <a:t>Create a known target for identified thieves</a:t>
            </a:r>
          </a:p>
          <a:p>
            <a:pPr marL="628650" lvl="1" indent="-171450">
              <a:buFont typeface="Arial" pitchFamily="34" charset="0"/>
              <a:buChar char="•"/>
            </a:pPr>
            <a:r>
              <a:rPr lang="en-AU" sz="1200" kern="1200" dirty="0" smtClean="0">
                <a:solidFill>
                  <a:schemeClr val="tx1"/>
                </a:solidFill>
                <a:ea typeface="+mn-ea"/>
                <a:cs typeface="+mn-cs"/>
              </a:rPr>
              <a:t>Pose unacceptable risk</a:t>
            </a:r>
          </a:p>
          <a:p>
            <a:pPr marL="171450" indent="-171450">
              <a:buFont typeface="Arial" pitchFamily="34" charset="0"/>
              <a:buChar char="•"/>
            </a:pPr>
            <a:r>
              <a:rPr lang="en-AU" sz="1200" kern="1200" dirty="0" smtClean="0">
                <a:solidFill>
                  <a:schemeClr val="tx1"/>
                </a:solidFill>
                <a:ea typeface="+mn-ea"/>
                <a:cs typeface="+mn-cs"/>
              </a:rPr>
              <a:t>Suggesting theft minimisation protocols appropriate to the new product, service and theft potential</a:t>
            </a:r>
          </a:p>
          <a:p>
            <a:pPr marL="171450" indent="-171450">
              <a:buFont typeface="Arial" pitchFamily="34" charset="0"/>
              <a:buChar char="•"/>
            </a:pPr>
            <a:r>
              <a:rPr lang="en-AU" sz="1200" kern="1200" dirty="0" smtClean="0">
                <a:solidFill>
                  <a:schemeClr val="tx1"/>
                </a:solidFill>
                <a:ea typeface="+mn-ea"/>
                <a:cs typeface="+mn-cs"/>
              </a:rPr>
              <a:t>Monitoring high-risk products more closely</a:t>
            </a:r>
          </a:p>
          <a:p>
            <a:pPr marL="171450" indent="-171450">
              <a:buFont typeface="Arial" pitchFamily="34" charset="0"/>
              <a:buChar char="•"/>
            </a:pPr>
            <a:r>
              <a:rPr lang="en-AU" sz="1200" kern="1200" dirty="0" smtClean="0">
                <a:solidFill>
                  <a:schemeClr val="tx1"/>
                </a:solidFill>
                <a:ea typeface="+mn-ea"/>
                <a:cs typeface="+mn-cs"/>
              </a:rPr>
              <a:t>Tracking provision of and payment for services more closely</a:t>
            </a:r>
          </a:p>
          <a:p>
            <a:pPr marL="171450" indent="-171450">
              <a:buFont typeface="Arial" pitchFamily="34" charset="0"/>
              <a:buChar char="•"/>
            </a:pPr>
            <a:r>
              <a:rPr lang="en-AU" sz="1200" kern="1200" dirty="0" smtClean="0">
                <a:solidFill>
                  <a:schemeClr val="tx1"/>
                </a:solidFill>
                <a:ea typeface="+mn-ea"/>
                <a:cs typeface="+mn-cs"/>
              </a:rPr>
              <a:t>Installing new or extra monitoring/surveillance systems and equipment</a:t>
            </a:r>
          </a:p>
          <a:p>
            <a:pPr marL="171450" indent="-171450">
              <a:buFont typeface="Arial" pitchFamily="34" charset="0"/>
              <a:buChar char="•"/>
            </a:pPr>
            <a:r>
              <a:rPr lang="en-AU" sz="1200" kern="1200" dirty="0" smtClean="0">
                <a:solidFill>
                  <a:schemeClr val="tx1"/>
                </a:solidFill>
                <a:ea typeface="+mn-ea"/>
                <a:cs typeface="+mn-cs"/>
              </a:rPr>
              <a:t>Employing extra security staff</a:t>
            </a:r>
          </a:p>
          <a:p>
            <a:pPr marL="171450" indent="-171450">
              <a:buFont typeface="Arial" pitchFamily="34" charset="0"/>
              <a:buChar char="•"/>
            </a:pPr>
            <a:r>
              <a:rPr lang="en-AU" sz="1200" kern="1200" dirty="0" smtClean="0">
                <a:solidFill>
                  <a:schemeClr val="tx1"/>
                </a:solidFill>
                <a:ea typeface="+mn-ea"/>
                <a:cs typeface="+mn-cs"/>
              </a:rPr>
              <a:t>Placing warning signage in the business to advise of protection which is in place to deter thieves.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 xmlns:p14="http://schemas.microsoft.com/office/powerpoint/2010/main" val="961077638"/>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talks about staff </a:t>
            </a:r>
            <a:r>
              <a:rPr lang="en-US" baseline="0" dirty="0" smtClean="0"/>
              <a:t>changes which may necessitate:</a:t>
            </a:r>
          </a:p>
          <a:p>
            <a:pPr marL="171450" indent="-171450">
              <a:buFont typeface="Arial" pitchFamily="34" charset="0"/>
              <a:buChar char="•"/>
            </a:pPr>
            <a:r>
              <a:rPr lang="en-AU" sz="1200" kern="1200" dirty="0" smtClean="0">
                <a:solidFill>
                  <a:schemeClr val="tx1"/>
                </a:solidFill>
                <a:ea typeface="+mn-ea"/>
                <a:cs typeface="+mn-cs"/>
              </a:rPr>
              <a:t>Reconciling all registers whenever there is a change of staff who operate those registers/terminals</a:t>
            </a:r>
          </a:p>
          <a:p>
            <a:pPr marL="171450" indent="-171450">
              <a:buFont typeface="Arial" pitchFamily="34" charset="0"/>
              <a:buChar char="•"/>
            </a:pPr>
            <a:r>
              <a:rPr lang="en-AU" sz="1200" kern="1200" dirty="0" smtClean="0">
                <a:solidFill>
                  <a:schemeClr val="tx1"/>
                </a:solidFill>
                <a:ea typeface="+mn-ea"/>
                <a:cs typeface="+mn-cs"/>
              </a:rPr>
              <a:t>Implementing standard orientation and induction for all staff ensuring these programmes contain a significant theft minimisation component</a:t>
            </a:r>
          </a:p>
          <a:p>
            <a:pPr marL="171450" indent="-171450">
              <a:buFont typeface="Arial" pitchFamily="34" charset="0"/>
              <a:buChar char="•"/>
            </a:pPr>
            <a:r>
              <a:rPr lang="en-AU" sz="1200" kern="1200" dirty="0" smtClean="0">
                <a:solidFill>
                  <a:schemeClr val="tx1"/>
                </a:solidFill>
                <a:ea typeface="+mn-ea"/>
                <a:cs typeface="+mn-cs"/>
              </a:rPr>
              <a:t>Advising staff the business uses CCTV, Static Guards and LPOs – to deter internal theft</a:t>
            </a:r>
          </a:p>
          <a:p>
            <a:pPr marL="171450" indent="-171450">
              <a:buFont typeface="Arial" pitchFamily="34" charset="0"/>
              <a:buChar char="•"/>
            </a:pPr>
            <a:r>
              <a:rPr lang="en-AU" sz="1200" kern="1200" dirty="0" smtClean="0">
                <a:solidFill>
                  <a:schemeClr val="tx1"/>
                </a:solidFill>
                <a:ea typeface="+mn-ea"/>
                <a:cs typeface="+mn-cs"/>
              </a:rPr>
              <a:t>Clearly describing activities the business identifies as ‘theft’ and clearly identifying what staff are allowed to do without those actions being regarded as stealing</a:t>
            </a:r>
          </a:p>
          <a:p>
            <a:pPr marL="171450" indent="-171450">
              <a:buFont typeface="Arial" pitchFamily="34" charset="0"/>
              <a:buChar char="•"/>
            </a:pPr>
            <a:r>
              <a:rPr lang="en-AU" sz="1200" kern="1200" dirty="0" smtClean="0">
                <a:solidFill>
                  <a:schemeClr val="tx1"/>
                </a:solidFill>
                <a:ea typeface="+mn-ea"/>
                <a:cs typeface="+mn-cs"/>
              </a:rPr>
              <a:t>Dismissing and prosecuting all staff who steal from the business – and making sure all staff are aware this is the non-negotiable position of the business.</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Guest Speaker from travel/tour</a:t>
            </a:r>
            <a:r>
              <a:rPr lang="en-US" b="0" baseline="0" dirty="0" smtClean="0"/>
              <a:t> business to talk to students about what they do to identify changes to operations that may introduce new/different threats, and what they do in terms of responding to identified changes.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 xmlns:p14="http://schemas.microsoft.com/office/powerpoint/2010/main" val="650832295"/>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discusses new locations/destinations which </a:t>
            </a:r>
            <a:r>
              <a:rPr lang="en-US" baseline="0" dirty="0" smtClean="0"/>
              <a:t>may necessitate:</a:t>
            </a:r>
          </a:p>
          <a:p>
            <a:pPr marL="171450" indent="-171450">
              <a:buFont typeface="Arial" pitchFamily="34" charset="0"/>
              <a:buChar char="•"/>
            </a:pPr>
            <a:r>
              <a:rPr lang="en-AU" sz="1200" kern="1200" dirty="0" smtClean="0">
                <a:solidFill>
                  <a:schemeClr val="tx1"/>
                </a:solidFill>
                <a:ea typeface="+mn-ea"/>
                <a:cs typeface="+mn-cs"/>
              </a:rPr>
              <a:t>Visiting new locations to experience and review them from a theft minimisation/threat perspective</a:t>
            </a:r>
          </a:p>
          <a:p>
            <a:pPr marL="171450" indent="-171450">
              <a:buFont typeface="Arial" pitchFamily="34" charset="0"/>
              <a:buChar char="•"/>
            </a:pPr>
            <a:r>
              <a:rPr lang="en-AU" sz="1200" kern="1200" dirty="0" smtClean="0">
                <a:solidFill>
                  <a:schemeClr val="tx1"/>
                </a:solidFill>
                <a:ea typeface="+mn-ea"/>
                <a:cs typeface="+mn-cs"/>
              </a:rPr>
              <a:t>Liaising with other operators, government agencies and  industry bodies to gather relevant information, experience and advice </a:t>
            </a:r>
          </a:p>
          <a:p>
            <a:pPr marL="171450" indent="-171450">
              <a:buFont typeface="Arial" pitchFamily="34" charset="0"/>
              <a:buChar char="•"/>
            </a:pPr>
            <a:r>
              <a:rPr lang="en-AU" sz="1200" kern="1200" dirty="0" smtClean="0">
                <a:solidFill>
                  <a:schemeClr val="tx1"/>
                </a:solidFill>
                <a:ea typeface="+mn-ea"/>
                <a:cs typeface="+mn-cs"/>
              </a:rPr>
              <a:t>Producing new advice/warnings for new destinations, attractions and sites</a:t>
            </a:r>
          </a:p>
          <a:p>
            <a:pPr marL="171450" indent="-171450">
              <a:buFont typeface="Arial" pitchFamily="34" charset="0"/>
              <a:buChar char="•"/>
            </a:pPr>
            <a:r>
              <a:rPr lang="en-AU" sz="1200" kern="1200" dirty="0" smtClean="0">
                <a:solidFill>
                  <a:schemeClr val="tx1"/>
                </a:solidFill>
                <a:ea typeface="+mn-ea"/>
                <a:cs typeface="+mn-cs"/>
              </a:rPr>
              <a:t>Increasing security/staffing for locations and tours where an increased theft risk/potential is identified – and indicating how the cost of this will impact the selling prices of tickets/packages</a:t>
            </a:r>
          </a:p>
          <a:p>
            <a:pPr marL="171450" indent="-171450">
              <a:buFont typeface="Arial" pitchFamily="34" charset="0"/>
              <a:buChar char="•"/>
            </a:pPr>
            <a:r>
              <a:rPr lang="en-AU" sz="1200" kern="1200" dirty="0" smtClean="0">
                <a:solidFill>
                  <a:schemeClr val="tx1"/>
                </a:solidFill>
                <a:ea typeface="+mn-ea"/>
                <a:cs typeface="+mn-cs"/>
              </a:rPr>
              <a:t>Recommending the business avoids locations where safety and security cannot be guaranteed without undue cost or effort.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 xmlns:p14="http://schemas.microsoft.com/office/powerpoint/2010/main" val="1071758618"/>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new suppliers or business partners </a:t>
            </a:r>
            <a:r>
              <a:rPr lang="en-US" baseline="0" dirty="0" smtClean="0"/>
              <a:t>may necessitate:</a:t>
            </a:r>
          </a:p>
          <a:p>
            <a:pPr marL="171450" indent="-171450">
              <a:buFont typeface="Arial" pitchFamily="34" charset="0"/>
              <a:buChar char="•"/>
            </a:pPr>
            <a:r>
              <a:rPr lang="en-AU" sz="1200" kern="1200" dirty="0" smtClean="0">
                <a:solidFill>
                  <a:schemeClr val="tx1"/>
                </a:solidFill>
                <a:ea typeface="+mn-ea"/>
                <a:cs typeface="+mn-cs"/>
              </a:rPr>
              <a:t>Visiting the premises of new suppliers or partners to assess their security and anti-theft protocols</a:t>
            </a:r>
          </a:p>
          <a:p>
            <a:pPr marL="171450" indent="-171450">
              <a:buFont typeface="Arial" pitchFamily="34" charset="0"/>
              <a:buChar char="•"/>
            </a:pPr>
            <a:r>
              <a:rPr lang="en-AU" sz="1200" kern="1200" dirty="0" smtClean="0">
                <a:solidFill>
                  <a:schemeClr val="tx1"/>
                </a:solidFill>
                <a:ea typeface="+mn-ea"/>
                <a:cs typeface="+mn-cs"/>
              </a:rPr>
              <a:t>Making the new suppliers or partners aware of your orientation to theft events, and theft minimisation</a:t>
            </a:r>
          </a:p>
          <a:p>
            <a:pPr marL="171450" indent="-171450">
              <a:buFont typeface="Arial" pitchFamily="34" charset="0"/>
              <a:buChar char="•"/>
            </a:pPr>
            <a:r>
              <a:rPr lang="en-AU" sz="1200" kern="1200" dirty="0" smtClean="0">
                <a:solidFill>
                  <a:schemeClr val="tx1"/>
                </a:solidFill>
                <a:ea typeface="+mn-ea"/>
                <a:cs typeface="+mn-cs"/>
              </a:rPr>
              <a:t>Insisting new suppliers or partners adopt or implement certain theft minimisation protocols as developed by your business</a:t>
            </a:r>
          </a:p>
          <a:p>
            <a:pPr marL="171450" indent="-171450">
              <a:buFont typeface="Arial" pitchFamily="34" charset="0"/>
              <a:buChar char="•"/>
            </a:pPr>
            <a:r>
              <a:rPr lang="en-AU" sz="1200" kern="1200" dirty="0" smtClean="0">
                <a:solidFill>
                  <a:schemeClr val="tx1"/>
                </a:solidFill>
                <a:ea typeface="+mn-ea"/>
                <a:cs typeface="+mn-cs"/>
              </a:rPr>
              <a:t>Checking the activities (such as deliveries, actions, paperwork, prices charged) of new suppliers or partners regularly over the first few months of dealing with – and then on an ongoing basis at a reduced frequency</a:t>
            </a:r>
          </a:p>
          <a:p>
            <a:pPr marL="171450" indent="-171450">
              <a:buFont typeface="Arial" pitchFamily="34" charset="0"/>
              <a:buChar char="•"/>
            </a:pPr>
            <a:r>
              <a:rPr lang="en-AU" sz="1200" kern="1200" dirty="0" smtClean="0">
                <a:solidFill>
                  <a:schemeClr val="tx1"/>
                </a:solidFill>
                <a:ea typeface="+mn-ea"/>
                <a:cs typeface="+mn-cs"/>
              </a:rPr>
              <a:t>Raising legitimate concerns with new suppliers or partners immediately they are detected – as opposed to allowing things to remain unaddressed</a:t>
            </a:r>
          </a:p>
          <a:p>
            <a:pPr marL="171450" indent="-171450">
              <a:buFont typeface="Arial" pitchFamily="34" charset="0"/>
              <a:buChar char="•"/>
            </a:pPr>
            <a:r>
              <a:rPr lang="en-AU" sz="1200" kern="1200" dirty="0" smtClean="0">
                <a:solidFill>
                  <a:schemeClr val="tx1"/>
                </a:solidFill>
                <a:ea typeface="+mn-ea"/>
                <a:cs typeface="+mn-cs"/>
              </a:rPr>
              <a:t>Ceasing association with new suppliers or partners who demonstrate fraudulent intent.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 xmlns:p14="http://schemas.microsoft.com/office/powerpoint/2010/main" val="436456956"/>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role of feedback stating in </a:t>
            </a:r>
            <a:r>
              <a:rPr lang="en-AU" sz="1200" kern="1200" dirty="0" smtClean="0">
                <a:solidFill>
                  <a:schemeClr val="tx1"/>
                </a:solidFill>
                <a:ea typeface="+mn-ea"/>
                <a:cs typeface="+mn-cs"/>
              </a:rPr>
              <a:t>relation to theft minimisation feedback is intended to:</a:t>
            </a:r>
          </a:p>
          <a:p>
            <a:pPr marL="171450" indent="-171450">
              <a:buFont typeface="Arial" pitchFamily="34" charset="0"/>
              <a:buChar char="•"/>
            </a:pPr>
            <a:r>
              <a:rPr lang="en-AU" sz="1200" kern="1200" dirty="0" smtClean="0">
                <a:solidFill>
                  <a:schemeClr val="tx1"/>
                </a:solidFill>
                <a:ea typeface="+mn-ea"/>
                <a:cs typeface="+mn-cs"/>
              </a:rPr>
              <a:t>Identify new or emerging threats and risks</a:t>
            </a:r>
          </a:p>
          <a:p>
            <a:pPr marL="171450" indent="-171450">
              <a:buFont typeface="Arial" pitchFamily="34" charset="0"/>
              <a:buChar char="•"/>
            </a:pPr>
            <a:r>
              <a:rPr lang="en-AU" sz="1200" kern="1200" dirty="0" smtClean="0">
                <a:solidFill>
                  <a:schemeClr val="tx1"/>
                </a:solidFill>
                <a:ea typeface="+mn-ea"/>
                <a:cs typeface="+mn-cs"/>
              </a:rPr>
              <a:t>Identify changed risks and threats</a:t>
            </a:r>
          </a:p>
          <a:p>
            <a:pPr marL="171450" indent="-171450">
              <a:buFont typeface="Arial" pitchFamily="34" charset="0"/>
              <a:buChar char="•"/>
            </a:pPr>
            <a:r>
              <a:rPr lang="en-AU" sz="1200" kern="1200" dirty="0" smtClean="0">
                <a:solidFill>
                  <a:schemeClr val="tx1"/>
                </a:solidFill>
                <a:ea typeface="+mn-ea"/>
                <a:cs typeface="+mn-cs"/>
              </a:rPr>
              <a:t>Describe and locate identified risks/threats</a:t>
            </a:r>
          </a:p>
          <a:p>
            <a:pPr marL="171450" indent="-171450">
              <a:buFont typeface="Arial" pitchFamily="34" charset="0"/>
              <a:buChar char="•"/>
            </a:pPr>
            <a:r>
              <a:rPr lang="en-AU" sz="1200" kern="1200" dirty="0" smtClean="0">
                <a:solidFill>
                  <a:schemeClr val="tx1"/>
                </a:solidFill>
                <a:ea typeface="+mn-ea"/>
                <a:cs typeface="+mn-cs"/>
              </a:rPr>
              <a:t>Provide insight into the potential provided by each issue – in terms of likelihood and consequence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 xmlns:p14="http://schemas.microsoft.com/office/powerpoint/2010/main" val="1918870725"/>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role of feedback in this context:</a:t>
            </a:r>
          </a:p>
          <a:p>
            <a:pPr marL="171450" indent="-171450">
              <a:buFont typeface="Arial" pitchFamily="34" charset="0"/>
              <a:buChar char="•"/>
            </a:pPr>
            <a:r>
              <a:rPr lang="en-AU" sz="1200" kern="1200" dirty="0" smtClean="0">
                <a:solidFill>
                  <a:schemeClr val="tx1"/>
                </a:solidFill>
                <a:ea typeface="+mn-ea"/>
                <a:cs typeface="+mn-cs"/>
              </a:rPr>
              <a:t>Determine the effectiveness of existing theft minimisation protocols</a:t>
            </a:r>
          </a:p>
          <a:p>
            <a:pPr marL="171450" indent="-171450">
              <a:buFont typeface="Arial" pitchFamily="34" charset="0"/>
              <a:buChar char="•"/>
            </a:pPr>
            <a:r>
              <a:rPr lang="en-AU" sz="1200" kern="1200" dirty="0" smtClean="0">
                <a:solidFill>
                  <a:schemeClr val="tx1"/>
                </a:solidFill>
                <a:ea typeface="+mn-ea"/>
                <a:cs typeface="+mn-cs"/>
              </a:rPr>
              <a:t>Evaluate customer satisfaction with current theft minimisation advice and procedures</a:t>
            </a:r>
          </a:p>
          <a:p>
            <a:pPr marL="171450" indent="-171450">
              <a:buFont typeface="Arial" pitchFamily="34" charset="0"/>
              <a:buChar char="•"/>
            </a:pPr>
            <a:r>
              <a:rPr lang="en-AU" sz="1200" kern="1200" dirty="0" smtClean="0">
                <a:solidFill>
                  <a:schemeClr val="tx1"/>
                </a:solidFill>
                <a:ea typeface="+mn-ea"/>
                <a:cs typeface="+mn-cs"/>
              </a:rPr>
              <a:t>Comprise a vital element of a formal theft minimisation review and evaluation process</a:t>
            </a:r>
          </a:p>
          <a:p>
            <a:pPr marL="171450" indent="-171450">
              <a:buFont typeface="Arial" pitchFamily="34" charset="0"/>
              <a:buChar char="•"/>
            </a:pPr>
            <a:r>
              <a:rPr lang="en-AU" sz="1200" kern="1200" dirty="0" smtClean="0">
                <a:solidFill>
                  <a:schemeClr val="tx1"/>
                </a:solidFill>
                <a:ea typeface="+mn-ea"/>
                <a:cs typeface="+mn-cs"/>
              </a:rPr>
              <a:t>Form the basis of changes to theft minimisation policies and SOPs.</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management of a travel/tour business to attend and talk to students about how and why they seek feedback on security and theft issues and explain how they have used the feedback to improve service delivery/products provided.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 xmlns:p14="http://schemas.microsoft.com/office/powerpoint/2010/main" val="2263954236"/>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Trainer state</a:t>
            </a:r>
            <a:r>
              <a:rPr lang="en-AU" sz="1200" kern="1200" dirty="0" smtClean="0">
                <a:solidFill>
                  <a:schemeClr val="tx1"/>
                </a:solidFill>
                <a:ea typeface="+mn-ea"/>
                <a:cs typeface="+mn-cs"/>
              </a:rPr>
              <a:t>s it is standard practice to seek feedback from a variety of sources covering all relevant parties or stakeholders (known as 360˚ feedback)</a:t>
            </a:r>
            <a:r>
              <a:rPr lang="en-AU" sz="1200" kern="1200" baseline="0" dirty="0" smtClean="0">
                <a:solidFill>
                  <a:schemeClr val="tx1"/>
                </a:solidFill>
                <a:ea typeface="+mn-ea"/>
                <a:cs typeface="+mn-cs"/>
              </a:rPr>
              <a:t> highlighting feedback </a:t>
            </a:r>
            <a:r>
              <a:rPr lang="en-AU" sz="1200" kern="1200" dirty="0" smtClean="0">
                <a:solidFill>
                  <a:schemeClr val="tx1"/>
                </a:solidFill>
                <a:ea typeface="+mn-ea"/>
                <a:cs typeface="+mn-cs"/>
              </a:rPr>
              <a:t>regarding security and theft issues may be sourced from:</a:t>
            </a:r>
          </a:p>
          <a:p>
            <a:pPr marL="171450" indent="-171450">
              <a:buFont typeface="Arial" pitchFamily="34" charset="0"/>
              <a:buChar char="•"/>
            </a:pPr>
            <a:r>
              <a:rPr lang="en-AU" sz="1200" kern="1200" dirty="0" smtClean="0">
                <a:solidFill>
                  <a:schemeClr val="tx1"/>
                </a:solidFill>
                <a:ea typeface="+mn-ea"/>
                <a:cs typeface="+mn-cs"/>
              </a:rPr>
              <a:t>Staff who accompany tours – hosts, escorts, guides, drivers</a:t>
            </a:r>
          </a:p>
          <a:p>
            <a:pPr marL="171450" indent="-171450">
              <a:buFont typeface="Arial" pitchFamily="34" charset="0"/>
              <a:buChar char="•"/>
            </a:pPr>
            <a:r>
              <a:rPr lang="en-AU" sz="1200" kern="1200" dirty="0" smtClean="0">
                <a:solidFill>
                  <a:schemeClr val="tx1"/>
                </a:solidFill>
                <a:ea typeface="+mn-ea"/>
                <a:cs typeface="+mn-cs"/>
              </a:rPr>
              <a:t>Office staff</a:t>
            </a:r>
          </a:p>
          <a:p>
            <a:pPr marL="171450" indent="-171450">
              <a:buFont typeface="Arial" pitchFamily="34" charset="0"/>
              <a:buChar char="•"/>
            </a:pPr>
            <a:r>
              <a:rPr lang="en-AU" sz="1200" kern="1200" dirty="0" smtClean="0">
                <a:solidFill>
                  <a:schemeClr val="tx1"/>
                </a:solidFill>
                <a:ea typeface="+mn-ea"/>
                <a:cs typeface="+mn-cs"/>
              </a:rPr>
              <a:t>Security staff</a:t>
            </a:r>
          </a:p>
          <a:p>
            <a:pPr marL="171450" indent="-171450">
              <a:buFont typeface="Arial" pitchFamily="34" charset="0"/>
              <a:buChar char="•"/>
            </a:pPr>
            <a:r>
              <a:rPr lang="en-AU" sz="1200" kern="1200" dirty="0" smtClean="0">
                <a:solidFill>
                  <a:schemeClr val="tx1"/>
                </a:solidFill>
                <a:ea typeface="+mn-ea"/>
                <a:cs typeface="+mn-cs"/>
              </a:rPr>
              <a:t>Customers – who go on-tour; who visit the office to make enquiries and make purchases; who undertake online transactions with the business</a:t>
            </a:r>
          </a:p>
          <a:p>
            <a:pPr marL="171450" indent="-171450">
              <a:buFont typeface="Arial" pitchFamily="34" charset="0"/>
              <a:buChar char="•"/>
            </a:pPr>
            <a:r>
              <a:rPr lang="en-AU" sz="1200" kern="1200" dirty="0" smtClean="0">
                <a:solidFill>
                  <a:schemeClr val="tx1"/>
                </a:solidFill>
                <a:ea typeface="+mn-ea"/>
                <a:cs typeface="+mn-cs"/>
              </a:rPr>
              <a:t>External service providers – including the range of businesses involved in supporting the tours, trips and travel offerings of the business:</a:t>
            </a:r>
          </a:p>
          <a:p>
            <a:pPr marL="628650" lvl="1" indent="-171450">
              <a:buFont typeface="Arial" pitchFamily="34" charset="0"/>
              <a:buChar char="•"/>
            </a:pPr>
            <a:r>
              <a:rPr lang="en-AU" sz="1200" kern="1200" dirty="0" smtClean="0">
                <a:solidFill>
                  <a:schemeClr val="tx1"/>
                </a:solidFill>
                <a:ea typeface="+mn-ea"/>
                <a:cs typeface="+mn-cs"/>
              </a:rPr>
              <a:t>Carriers</a:t>
            </a:r>
          </a:p>
          <a:p>
            <a:pPr marL="628650" lvl="1" indent="-171450">
              <a:buFont typeface="Arial" pitchFamily="34" charset="0"/>
              <a:buChar char="•"/>
            </a:pPr>
            <a:r>
              <a:rPr lang="en-AU" sz="1200" kern="1200" dirty="0" smtClean="0">
                <a:solidFill>
                  <a:schemeClr val="tx1"/>
                </a:solidFill>
                <a:ea typeface="+mn-ea"/>
                <a:cs typeface="+mn-cs"/>
              </a:rPr>
              <a:t>Accommodation venues</a:t>
            </a:r>
          </a:p>
          <a:p>
            <a:pPr marL="628650" lvl="1" indent="-171450">
              <a:buFont typeface="Arial" pitchFamily="34" charset="0"/>
              <a:buChar char="•"/>
            </a:pPr>
            <a:r>
              <a:rPr lang="en-AU" sz="1200" kern="1200" dirty="0" smtClean="0">
                <a:solidFill>
                  <a:schemeClr val="tx1"/>
                </a:solidFill>
                <a:ea typeface="+mn-ea"/>
                <a:cs typeface="+mn-cs"/>
              </a:rPr>
              <a:t>Food and beverage providers</a:t>
            </a:r>
          </a:p>
          <a:p>
            <a:pPr marL="628650" lvl="1" indent="-171450">
              <a:buFont typeface="Arial" pitchFamily="34" charset="0"/>
              <a:buChar char="•"/>
            </a:pPr>
            <a:r>
              <a:rPr lang="en-AU" sz="1200" kern="1200" dirty="0" smtClean="0">
                <a:solidFill>
                  <a:schemeClr val="tx1"/>
                </a:solidFill>
                <a:ea typeface="+mn-ea"/>
                <a:cs typeface="+mn-cs"/>
              </a:rPr>
              <a:t>Insurers</a:t>
            </a:r>
          </a:p>
          <a:p>
            <a:pPr marL="628650" lvl="1" indent="-171450">
              <a:buFont typeface="Arial" pitchFamily="34" charset="0"/>
              <a:buChar char="•"/>
            </a:pPr>
            <a:r>
              <a:rPr lang="en-AU" sz="1200" kern="1200" dirty="0" smtClean="0">
                <a:solidFill>
                  <a:schemeClr val="tx1"/>
                </a:solidFill>
                <a:ea typeface="+mn-ea"/>
                <a:cs typeface="+mn-cs"/>
              </a:rPr>
              <a:t>Subsidiary booking agencies</a:t>
            </a:r>
          </a:p>
          <a:p>
            <a:pPr marL="628650" lvl="1" indent="-171450">
              <a:buFont typeface="Arial" pitchFamily="34" charset="0"/>
              <a:buChar char="•"/>
            </a:pPr>
            <a:r>
              <a:rPr lang="en-AU" sz="1200" kern="1200" dirty="0" smtClean="0">
                <a:solidFill>
                  <a:schemeClr val="tx1"/>
                </a:solidFill>
                <a:ea typeface="+mn-ea"/>
                <a:cs typeface="+mn-cs"/>
              </a:rPr>
              <a:t>Attractions</a:t>
            </a:r>
          </a:p>
          <a:p>
            <a:pPr marL="171450" indent="-171450">
              <a:buFont typeface="Arial" pitchFamily="34" charset="0"/>
              <a:buChar char="•"/>
            </a:pPr>
            <a:r>
              <a:rPr lang="en-AU" sz="1200" kern="1200" dirty="0" smtClean="0">
                <a:solidFill>
                  <a:schemeClr val="tx1"/>
                </a:solidFill>
                <a:ea typeface="+mn-ea"/>
                <a:cs typeface="+mn-cs"/>
              </a:rPr>
              <a:t>Authorities – police, embassies, government departments (involved with travel and tourism, international affairs and similar)</a:t>
            </a:r>
          </a:p>
          <a:p>
            <a:pPr marL="171450" indent="-171450">
              <a:buFont typeface="Arial" pitchFamily="34" charset="0"/>
              <a:buChar char="•"/>
            </a:pPr>
            <a:r>
              <a:rPr lang="en-AU" sz="1200" kern="1200" dirty="0" smtClean="0">
                <a:solidFill>
                  <a:schemeClr val="tx1"/>
                </a:solidFill>
                <a:ea typeface="+mn-ea"/>
                <a:cs typeface="+mn-cs"/>
              </a:rPr>
              <a:t>Industry peak bodies.</a:t>
            </a:r>
          </a:p>
          <a:p>
            <a:pPr>
              <a:buFont typeface="Arial" pitchFamily="34" charset="0"/>
              <a:buChar char="•"/>
            </a:pPr>
            <a:endParaRPr lang="en-US" sz="1200" kern="1200" dirty="0" smtClean="0">
              <a:solidFill>
                <a:schemeClr val="tx1"/>
              </a:solidFill>
              <a:ea typeface="+mn-ea"/>
              <a:cs typeface="+mn-cs"/>
            </a:endParaRPr>
          </a:p>
          <a:p>
            <a:pPr>
              <a:buFont typeface="Arial" pitchFamily="34" charset="0"/>
              <a:buNone/>
            </a:pPr>
            <a:r>
              <a:rPr lang="en-US" sz="1200" b="1" kern="1200" dirty="0" smtClean="0">
                <a:solidFill>
                  <a:schemeClr val="tx1"/>
                </a:solidFill>
                <a:ea typeface="+mn-ea"/>
                <a:cs typeface="+mn-cs"/>
              </a:rPr>
              <a:t>Class Activity</a:t>
            </a:r>
            <a:r>
              <a:rPr lang="en-US" b="1" dirty="0" smtClean="0"/>
              <a:t> – Guest Speaker</a:t>
            </a:r>
            <a:endParaRPr lang="en-US" sz="1200" b="1" kern="1200" dirty="0" smtClean="0">
              <a:solidFill>
                <a:schemeClr val="tx1"/>
              </a:solidFill>
              <a:ea typeface="+mn-ea"/>
              <a:cs typeface="+mn-cs"/>
            </a:endParaRPr>
          </a:p>
          <a:p>
            <a:pPr>
              <a:buFont typeface="Arial" pitchFamily="34" charset="0"/>
              <a:buNone/>
            </a:pPr>
            <a:r>
              <a:rPr lang="en-US" sz="1200" b="0" kern="1200" dirty="0" smtClean="0">
                <a:solidFill>
                  <a:schemeClr val="tx1"/>
                </a:solidFill>
                <a:ea typeface="+mn-ea"/>
                <a:cs typeface="+mn-cs"/>
              </a:rPr>
              <a:t>Trainer arranges for a Guest Speaker from industry peak body, agency or authority, or industry service provider to attend and talk to students about the role they can play to assist businesses with their reviews and revisions regarding theft minimisation.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 xmlns:p14="http://schemas.microsoft.com/office/powerpoint/2010/main" val="100938117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ways in which feedback stating it can be obtained </a:t>
            </a:r>
            <a:r>
              <a:rPr lang="en-AU" sz="1200" kern="1200" dirty="0" smtClean="0">
                <a:solidFill>
                  <a:schemeClr val="tx1"/>
                </a:solidFill>
                <a:ea typeface="+mn-ea"/>
                <a:cs typeface="+mn-cs"/>
              </a:rPr>
              <a:t>in the following ways:</a:t>
            </a:r>
          </a:p>
          <a:p>
            <a:pPr marL="171450" indent="-171450">
              <a:buFont typeface="Arial" pitchFamily="34" charset="0"/>
              <a:buChar char="•"/>
            </a:pPr>
            <a:r>
              <a:rPr lang="en-AU" sz="1200" kern="1200" dirty="0" smtClean="0">
                <a:solidFill>
                  <a:schemeClr val="tx1"/>
                </a:solidFill>
                <a:ea typeface="+mn-ea"/>
                <a:cs typeface="+mn-cs"/>
              </a:rPr>
              <a:t>Verbal feedback – which may be obtained:</a:t>
            </a:r>
          </a:p>
          <a:p>
            <a:pPr marL="628650" lvl="1" indent="-171450">
              <a:buFont typeface="Arial" pitchFamily="34" charset="0"/>
              <a:buChar char="•"/>
            </a:pPr>
            <a:r>
              <a:rPr lang="en-AU" sz="1200" kern="1200" dirty="0" smtClean="0">
                <a:solidFill>
                  <a:schemeClr val="tx1"/>
                </a:solidFill>
                <a:ea typeface="+mn-ea"/>
                <a:cs typeface="+mn-cs"/>
              </a:rPr>
              <a:t>When farewelling departing customers</a:t>
            </a:r>
          </a:p>
          <a:p>
            <a:pPr marL="628650" lvl="1" indent="-171450">
              <a:buFont typeface="Arial" pitchFamily="34" charset="0"/>
              <a:buChar char="•"/>
            </a:pPr>
            <a:r>
              <a:rPr lang="en-AU" sz="1200" kern="1200" dirty="0" smtClean="0">
                <a:solidFill>
                  <a:schemeClr val="tx1"/>
                </a:solidFill>
                <a:ea typeface="+mn-ea"/>
                <a:cs typeface="+mn-cs"/>
              </a:rPr>
              <a:t>While talking to customers on their return from a trip/tour</a:t>
            </a:r>
          </a:p>
          <a:p>
            <a:pPr marL="628650" lvl="1" indent="-171450">
              <a:buFont typeface="Arial" pitchFamily="34" charset="0"/>
              <a:buChar char="•"/>
            </a:pPr>
            <a:r>
              <a:rPr lang="en-AU" sz="1200" kern="1200" dirty="0" smtClean="0">
                <a:solidFill>
                  <a:schemeClr val="tx1"/>
                </a:solidFill>
                <a:ea typeface="+mn-ea"/>
                <a:cs typeface="+mn-cs"/>
              </a:rPr>
              <a:t>During formal staff de-briefings following a tour</a:t>
            </a:r>
          </a:p>
          <a:p>
            <a:pPr marL="628650" lvl="1" indent="-171450">
              <a:buFont typeface="Arial" pitchFamily="34" charset="0"/>
              <a:buChar char="•"/>
            </a:pPr>
            <a:r>
              <a:rPr lang="en-AU" sz="1200" kern="1200" dirty="0" smtClean="0">
                <a:solidFill>
                  <a:schemeClr val="tx1"/>
                </a:solidFill>
                <a:ea typeface="+mn-ea"/>
                <a:cs typeface="+mn-cs"/>
              </a:rPr>
              <a:t>Listening to talks at industry events</a:t>
            </a:r>
          </a:p>
          <a:p>
            <a:pPr marL="628650" lvl="1" indent="-171450">
              <a:buFont typeface="Arial" pitchFamily="34" charset="0"/>
              <a:buChar char="•"/>
            </a:pPr>
            <a:r>
              <a:rPr lang="en-AU" sz="1200" kern="1200" dirty="0" smtClean="0">
                <a:solidFill>
                  <a:schemeClr val="tx1"/>
                </a:solidFill>
                <a:ea typeface="+mn-ea"/>
                <a:cs typeface="+mn-cs"/>
              </a:rPr>
              <a:t>As a result of talking to industry contacts</a:t>
            </a:r>
          </a:p>
          <a:p>
            <a:pPr marL="171450" indent="-171450">
              <a:buFont typeface="Arial" pitchFamily="34" charset="0"/>
              <a:buChar char="•"/>
            </a:pPr>
            <a:r>
              <a:rPr lang="en-AU" sz="1200" kern="1200" dirty="0" smtClean="0">
                <a:solidFill>
                  <a:schemeClr val="tx1"/>
                </a:solidFill>
                <a:ea typeface="+mn-ea"/>
                <a:cs typeface="+mn-cs"/>
              </a:rPr>
              <a:t>Written feedback – which may be provided:</a:t>
            </a:r>
          </a:p>
          <a:p>
            <a:pPr marL="628650" lvl="1" indent="-171450">
              <a:buFont typeface="Arial" pitchFamily="34" charset="0"/>
              <a:buChar char="•"/>
            </a:pPr>
            <a:r>
              <a:rPr lang="en-AU" sz="1200" kern="1200" dirty="0" smtClean="0">
                <a:solidFill>
                  <a:schemeClr val="tx1"/>
                </a:solidFill>
                <a:ea typeface="+mn-ea"/>
                <a:cs typeface="+mn-cs"/>
              </a:rPr>
              <a:t>By customers completing hand-written ‘Customer Comment’ cards</a:t>
            </a:r>
          </a:p>
          <a:p>
            <a:pPr marL="628650" lvl="1" indent="-171450">
              <a:buFont typeface="Arial" pitchFamily="34" charset="0"/>
              <a:buChar char="•"/>
            </a:pPr>
            <a:r>
              <a:rPr lang="en-AU" sz="1200" kern="1200" dirty="0" smtClean="0">
                <a:solidFill>
                  <a:schemeClr val="tx1"/>
                </a:solidFill>
                <a:ea typeface="+mn-ea"/>
                <a:cs typeface="+mn-cs"/>
              </a:rPr>
              <a:t>By customers completing online feedback</a:t>
            </a:r>
          </a:p>
          <a:p>
            <a:pPr marL="628650" lvl="1" indent="-171450">
              <a:buFont typeface="Arial" pitchFamily="34" charset="0"/>
              <a:buChar char="•"/>
            </a:pPr>
            <a:r>
              <a:rPr lang="en-AU" sz="1200" kern="1200" dirty="0" smtClean="0">
                <a:solidFill>
                  <a:schemeClr val="tx1"/>
                </a:solidFill>
                <a:ea typeface="+mn-ea"/>
                <a:cs typeface="+mn-cs"/>
              </a:rPr>
              <a:t>By staff completing required ‘end of tour’ reports</a:t>
            </a:r>
          </a:p>
          <a:p>
            <a:pPr marL="628650" lvl="1" indent="-171450">
              <a:buFont typeface="Arial" pitchFamily="34" charset="0"/>
              <a:buChar char="•"/>
            </a:pPr>
            <a:r>
              <a:rPr lang="en-AU" sz="1200" kern="1200" dirty="0" smtClean="0">
                <a:solidFill>
                  <a:schemeClr val="tx1"/>
                </a:solidFill>
                <a:ea typeface="+mn-ea"/>
                <a:cs typeface="+mn-cs"/>
              </a:rPr>
              <a:t>By external security providers submitting weekly/monthly reports updating the business about new/emerging threats they have identified</a:t>
            </a:r>
          </a:p>
          <a:p>
            <a:pPr marL="628650" lvl="1" indent="-171450">
              <a:buFont typeface="Arial" pitchFamily="34" charset="0"/>
              <a:buChar char="•"/>
            </a:pPr>
            <a:r>
              <a:rPr lang="en-AU" sz="1200" kern="1200" dirty="0" smtClean="0">
                <a:solidFill>
                  <a:schemeClr val="tx1"/>
                </a:solidFill>
                <a:ea typeface="+mn-ea"/>
                <a:cs typeface="+mn-cs"/>
              </a:rPr>
              <a:t>Through industry reports generated by peak bodies or in industry magazines</a:t>
            </a:r>
          </a:p>
          <a:p>
            <a:pPr marL="628650" lvl="1" indent="-171450">
              <a:buFont typeface="Arial" pitchFamily="34" charset="0"/>
              <a:buChar char="•"/>
            </a:pPr>
            <a:r>
              <a:rPr lang="en-AU" sz="1200" kern="1200" dirty="0" smtClean="0">
                <a:solidFill>
                  <a:schemeClr val="tx1"/>
                </a:solidFill>
                <a:ea typeface="+mn-ea"/>
                <a:cs typeface="+mn-cs"/>
              </a:rPr>
              <a:t>By reading ‘recognised’ blogs which have industry credibility</a:t>
            </a:r>
          </a:p>
          <a:p>
            <a:pPr marL="171450" indent="-171450">
              <a:buFont typeface="Arial" pitchFamily="34" charset="0"/>
              <a:buChar char="•"/>
            </a:pPr>
            <a:r>
              <a:rPr lang="en-AU" sz="1200" kern="1200" dirty="0" smtClean="0">
                <a:solidFill>
                  <a:schemeClr val="tx1"/>
                </a:solidFill>
                <a:ea typeface="+mn-ea"/>
                <a:cs typeface="+mn-cs"/>
              </a:rPr>
              <a:t>Photographic or moving image evidence – as captured by:</a:t>
            </a:r>
          </a:p>
          <a:p>
            <a:pPr marL="628650" lvl="1" indent="-171450">
              <a:buFont typeface="Arial" pitchFamily="34" charset="0"/>
              <a:buChar char="•"/>
            </a:pPr>
            <a:r>
              <a:rPr lang="en-AU" sz="1200" kern="1200" dirty="0" smtClean="0">
                <a:solidFill>
                  <a:schemeClr val="tx1"/>
                </a:solidFill>
                <a:ea typeface="+mn-ea"/>
                <a:cs typeface="+mn-cs"/>
              </a:rPr>
              <a:t>Staff and/or customers while on-tour – using cell phones or video cameras</a:t>
            </a:r>
          </a:p>
          <a:p>
            <a:pPr marL="628650" lvl="1" indent="-171450">
              <a:buFont typeface="Arial" pitchFamily="34" charset="0"/>
              <a:buChar char="•"/>
            </a:pPr>
            <a:r>
              <a:rPr lang="en-AU" sz="1200" kern="1200" dirty="0" smtClean="0">
                <a:solidFill>
                  <a:schemeClr val="tx1"/>
                </a:solidFill>
                <a:ea typeface="+mn-ea"/>
                <a:cs typeface="+mn-cs"/>
              </a:rPr>
              <a:t>Internal CCTV</a:t>
            </a:r>
          </a:p>
          <a:p>
            <a:pPr marL="628650" lvl="1" indent="-171450">
              <a:buFont typeface="Arial" pitchFamily="34" charset="0"/>
              <a:buChar char="•"/>
            </a:pPr>
            <a:r>
              <a:rPr lang="en-AU" sz="1200" kern="1200" dirty="0" smtClean="0">
                <a:solidFill>
                  <a:schemeClr val="tx1"/>
                </a:solidFill>
                <a:ea typeface="+mn-ea"/>
                <a:cs typeface="+mn-cs"/>
              </a:rPr>
              <a:t>You or other staff during investigation/research into potential theft situations and threats.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extLst>
      <p:ext uri="{BB962C8B-B14F-4D97-AF65-F5344CB8AC3E}">
        <p14:creationId xmlns="" xmlns:p14="http://schemas.microsoft.com/office/powerpoint/2010/main" val="3668336046"/>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basics of reviews stating </a:t>
            </a:r>
            <a:r>
              <a:rPr lang="en-AU" sz="1200" kern="1200" dirty="0" smtClean="0">
                <a:solidFill>
                  <a:schemeClr val="tx1"/>
                </a:solidFill>
                <a:ea typeface="+mn-ea"/>
                <a:cs typeface="+mn-cs"/>
              </a:rPr>
              <a:t>it must be a standard requirement all theft minimisation policies and procedures are:</a:t>
            </a:r>
          </a:p>
          <a:p>
            <a:pPr marL="171450" indent="-171450">
              <a:buFont typeface="Arial" pitchFamily="34" charset="0"/>
              <a:buChar char="•"/>
            </a:pPr>
            <a:r>
              <a:rPr lang="en-AU" sz="1200" kern="1200" dirty="0" smtClean="0">
                <a:solidFill>
                  <a:schemeClr val="tx1"/>
                </a:solidFill>
                <a:ea typeface="+mn-ea"/>
                <a:cs typeface="+mn-cs"/>
              </a:rPr>
              <a:t>Reviewed on some regular basis, regardless – such as ‘every six months’ or ‘annually’</a:t>
            </a:r>
          </a:p>
          <a:p>
            <a:pPr marL="171450" indent="-171450">
              <a:buFont typeface="Arial" pitchFamily="34" charset="0"/>
              <a:buChar char="•"/>
            </a:pPr>
            <a:r>
              <a:rPr lang="en-AU" sz="1200" kern="1200" dirty="0" smtClean="0">
                <a:solidFill>
                  <a:schemeClr val="tx1"/>
                </a:solidFill>
                <a:ea typeface="+mn-ea"/>
                <a:cs typeface="+mn-cs"/>
              </a:rPr>
              <a:t>Reviewed when there has been an incident, theft, theft attempt, serious complaint, loss or other nominated event/occurrence</a:t>
            </a:r>
          </a:p>
          <a:p>
            <a:pPr marL="171450" indent="-171450">
              <a:buFont typeface="Arial" pitchFamily="34" charset="0"/>
              <a:buChar char="•"/>
            </a:pPr>
            <a:r>
              <a:rPr lang="en-AU" sz="1200" kern="1200" dirty="0" smtClean="0">
                <a:solidFill>
                  <a:schemeClr val="tx1"/>
                </a:solidFill>
                <a:ea typeface="+mn-ea"/>
                <a:cs typeface="+mn-cs"/>
              </a:rPr>
              <a:t>Reviewed by nominated persons </a:t>
            </a:r>
          </a:p>
          <a:p>
            <a:pPr marL="171450" indent="-171450">
              <a:buFont typeface="Arial" pitchFamily="34" charset="0"/>
              <a:buChar char="•"/>
            </a:pPr>
            <a:r>
              <a:rPr lang="en-AU" sz="1200" kern="1200" dirty="0" smtClean="0">
                <a:solidFill>
                  <a:schemeClr val="tx1"/>
                </a:solidFill>
                <a:ea typeface="+mn-ea"/>
                <a:cs typeface="+mn-cs"/>
              </a:rPr>
              <a:t>Revised as necessary – based on the findings of the review (see next slide)</a:t>
            </a:r>
          </a:p>
          <a:p>
            <a:pPr marL="171450" indent="-171450">
              <a:buFont typeface="Arial" pitchFamily="34" charset="0"/>
              <a:buChar char="•"/>
            </a:pPr>
            <a:r>
              <a:rPr lang="en-AU" sz="1200" kern="1200" dirty="0" smtClean="0">
                <a:solidFill>
                  <a:schemeClr val="tx1"/>
                </a:solidFill>
                <a:ea typeface="+mn-ea"/>
                <a:cs typeface="+mn-cs"/>
              </a:rPr>
              <a:t>Presented in draft form following review for approval by nominated people – staff, stakeholders, team members, focus groups of customers, authorities, insurers, head office.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extLst>
      <p:ext uri="{BB962C8B-B14F-4D97-AF65-F5344CB8AC3E}">
        <p14:creationId xmlns="" xmlns:p14="http://schemas.microsoft.com/office/powerpoint/2010/main" val="2016910563"/>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elements of the review process noting in </a:t>
            </a:r>
            <a:r>
              <a:rPr lang="en-AU" sz="1200" kern="1200" dirty="0" smtClean="0">
                <a:solidFill>
                  <a:schemeClr val="tx1"/>
                </a:solidFill>
                <a:ea typeface="+mn-ea"/>
                <a:cs typeface="+mn-cs"/>
              </a:rPr>
              <a:t>practical terms the review entails:</a:t>
            </a:r>
          </a:p>
          <a:p>
            <a:pPr marL="171450" indent="-171450">
              <a:buFont typeface="Arial" pitchFamily="34" charset="0"/>
              <a:buChar char="•"/>
            </a:pPr>
            <a:r>
              <a:rPr lang="en-AU" sz="1200" kern="1200" dirty="0" smtClean="0">
                <a:solidFill>
                  <a:schemeClr val="tx1"/>
                </a:solidFill>
                <a:ea typeface="+mn-ea"/>
                <a:cs typeface="+mn-cs"/>
              </a:rPr>
              <a:t>Reading and understanding existing protocols</a:t>
            </a:r>
          </a:p>
          <a:p>
            <a:pPr marL="171450" indent="-171450">
              <a:buFont typeface="Arial" pitchFamily="34" charset="0"/>
              <a:buChar char="•"/>
            </a:pPr>
            <a:r>
              <a:rPr lang="en-AU" sz="1200" kern="1200" dirty="0" smtClean="0">
                <a:solidFill>
                  <a:schemeClr val="tx1"/>
                </a:solidFill>
                <a:ea typeface="+mn-ea"/>
                <a:cs typeface="+mn-cs"/>
              </a:rPr>
              <a:t>Analysing the effectiveness of current protocols</a:t>
            </a:r>
          </a:p>
          <a:p>
            <a:pPr marL="171450" indent="-171450">
              <a:buFont typeface="Arial" pitchFamily="34" charset="0"/>
              <a:buChar char="•"/>
            </a:pPr>
            <a:r>
              <a:rPr lang="en-AU" sz="1200" kern="1200" dirty="0" smtClean="0">
                <a:solidFill>
                  <a:schemeClr val="tx1"/>
                </a:solidFill>
                <a:ea typeface="+mn-ea"/>
                <a:cs typeface="+mn-cs"/>
              </a:rPr>
              <a:t>Identifying the context the business is operating in</a:t>
            </a:r>
          </a:p>
          <a:p>
            <a:pPr marL="171450" indent="-171450">
              <a:buFont typeface="Arial" pitchFamily="34" charset="0"/>
              <a:buChar char="•"/>
            </a:pPr>
            <a:r>
              <a:rPr lang="en-AU" sz="1200" kern="1200" dirty="0" smtClean="0">
                <a:solidFill>
                  <a:schemeClr val="tx1"/>
                </a:solidFill>
                <a:ea typeface="+mn-ea"/>
                <a:cs typeface="+mn-cs"/>
              </a:rPr>
              <a:t>Evaluating the on-going applicability/relevance of what currently exists</a:t>
            </a:r>
          </a:p>
          <a:p>
            <a:pPr marL="171450" indent="-171450">
              <a:buFont typeface="Arial" pitchFamily="34" charset="0"/>
              <a:buChar char="•"/>
            </a:pPr>
            <a:r>
              <a:rPr lang="en-AU" sz="1200" kern="1200" dirty="0" smtClean="0">
                <a:solidFill>
                  <a:schemeClr val="tx1"/>
                </a:solidFill>
                <a:ea typeface="+mn-ea"/>
                <a:cs typeface="+mn-cs"/>
              </a:rPr>
              <a:t>Identifying what needs to change – and why it needs to change.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extLst>
      <p:ext uri="{BB962C8B-B14F-4D97-AF65-F5344CB8AC3E}">
        <p14:creationId xmlns="" xmlns:p14="http://schemas.microsoft.com/office/powerpoint/2010/main" val="1273243047"/>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a:t>
            </a:r>
            <a:r>
              <a:rPr lang="en-US" baseline="0" dirty="0" smtClean="0"/>
              <a:t> keys in reviewing policies and procedures:</a:t>
            </a:r>
          </a:p>
          <a:p>
            <a:pPr marL="171450" indent="-171450">
              <a:buFont typeface="Arial" pitchFamily="34" charset="0"/>
              <a:buChar char="•"/>
            </a:pPr>
            <a:r>
              <a:rPr lang="en-AU" sz="1200" kern="1200" dirty="0" smtClean="0">
                <a:solidFill>
                  <a:schemeClr val="tx1"/>
                </a:solidFill>
                <a:ea typeface="+mn-ea"/>
                <a:cs typeface="+mn-cs"/>
              </a:rPr>
              <a:t>Reviewing the plans of the business – to verify policies and procedures align with where the company wants to go</a:t>
            </a:r>
          </a:p>
          <a:p>
            <a:pPr marL="171450" indent="-171450">
              <a:buFont typeface="Arial" pitchFamily="34" charset="0"/>
              <a:buChar char="•"/>
            </a:pPr>
            <a:r>
              <a:rPr lang="en-AU" sz="1200" kern="1200" dirty="0" smtClean="0">
                <a:solidFill>
                  <a:schemeClr val="tx1"/>
                </a:solidFill>
                <a:ea typeface="+mn-ea"/>
                <a:cs typeface="+mn-cs"/>
              </a:rPr>
              <a:t>Observing current operations – to gain first-hand evidence to use as the basis for analysis, and so this experience can be integrated with input from other sources</a:t>
            </a:r>
          </a:p>
          <a:p>
            <a:pPr marL="171450" indent="-171450">
              <a:buFont typeface="Arial" pitchFamily="34" charset="0"/>
              <a:buChar char="•"/>
            </a:pPr>
            <a:r>
              <a:rPr lang="en-AU" sz="1200" kern="1200" dirty="0" smtClean="0">
                <a:solidFill>
                  <a:schemeClr val="tx1"/>
                </a:solidFill>
                <a:ea typeface="+mn-ea"/>
                <a:cs typeface="+mn-cs"/>
              </a:rPr>
              <a:t>Participating in tours – to see operations through the eyes of customers</a:t>
            </a:r>
          </a:p>
          <a:p>
            <a:pPr marL="171450" indent="-171450">
              <a:buFont typeface="Arial" pitchFamily="34" charset="0"/>
              <a:buChar char="•"/>
            </a:pPr>
            <a:r>
              <a:rPr lang="en-AU" sz="1200" kern="1200" dirty="0" smtClean="0">
                <a:solidFill>
                  <a:schemeClr val="tx1"/>
                </a:solidFill>
                <a:ea typeface="+mn-ea"/>
                <a:cs typeface="+mn-cs"/>
              </a:rPr>
              <a:t>Using ‘Mystery Shopper’ on a tour – and task them with (for example) trying to steal something, or with being a deliberate, intentional or ‘easy’ target for theft</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manager/owner of a travel/tour business to attend and discuss their protocols for reviewing and revising theft minimisation protocols.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extLst>
      <p:ext uri="{BB962C8B-B14F-4D97-AF65-F5344CB8AC3E}">
        <p14:creationId xmlns="" xmlns:p14="http://schemas.microsoft.com/office/powerpoint/2010/main" val="651131670"/>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a:t>
            </a:r>
            <a:r>
              <a:rPr lang="en-US" baseline="0" dirty="0" smtClean="0"/>
              <a:t>keys in reviewing policies and procedures:</a:t>
            </a:r>
          </a:p>
          <a:p>
            <a:pPr marL="171450" indent="-171450">
              <a:buFont typeface="Arial" pitchFamily="34" charset="0"/>
              <a:buChar char="•"/>
            </a:pPr>
            <a:r>
              <a:rPr lang="en-AU" sz="1200" kern="1200" dirty="0" smtClean="0">
                <a:solidFill>
                  <a:schemeClr val="tx1"/>
                </a:solidFill>
                <a:ea typeface="+mn-ea"/>
                <a:cs typeface="+mn-cs"/>
              </a:rPr>
              <a:t>Talking to staff and key stakeholders – to obtain their theft-related input</a:t>
            </a:r>
          </a:p>
          <a:p>
            <a:pPr marL="171450" indent="-171450">
              <a:buFont typeface="Arial" pitchFamily="34" charset="0"/>
              <a:buChar char="•"/>
            </a:pPr>
            <a:r>
              <a:rPr lang="en-AU" sz="1200" kern="1200" dirty="0" smtClean="0">
                <a:solidFill>
                  <a:schemeClr val="tx1"/>
                </a:solidFill>
                <a:ea typeface="+mn-ea"/>
                <a:cs typeface="+mn-cs"/>
              </a:rPr>
              <a:t>Conferring with others in the industry (your ‘network of contacts’) – to determine what they see as threats, and identify how they are addressing them via their policies and procedures</a:t>
            </a:r>
          </a:p>
          <a:p>
            <a:pPr marL="171450" indent="-171450">
              <a:buFont typeface="Arial" pitchFamily="34" charset="0"/>
              <a:buChar char="•"/>
            </a:pPr>
            <a:r>
              <a:rPr lang="en-AU" sz="1200" kern="1200" dirty="0" smtClean="0">
                <a:solidFill>
                  <a:schemeClr val="tx1"/>
                </a:solidFill>
                <a:ea typeface="+mn-ea"/>
                <a:cs typeface="+mn-cs"/>
              </a:rPr>
              <a:t>Referencing accepted standards, industry criteria, benchmarks and Codes of Practice – with the intention of using these as the basis for formulating new or revised policies and procedures</a:t>
            </a:r>
          </a:p>
          <a:p>
            <a:pPr marL="171450" indent="-171450">
              <a:buFont typeface="Arial" pitchFamily="34" charset="0"/>
              <a:buChar char="•"/>
            </a:pPr>
            <a:r>
              <a:rPr lang="en-AU" sz="1200" kern="1200" dirty="0" smtClean="0">
                <a:solidFill>
                  <a:schemeClr val="tx1"/>
                </a:solidFill>
                <a:ea typeface="+mn-ea"/>
                <a:cs typeface="+mn-cs"/>
              </a:rPr>
              <a:t>Employing expertise from outside the business to look into the business – to analyse operations, identify threats, evaluate existing theft minimisation protocols and recommend new/alternative strategies</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extLst>
      <p:ext uri="{BB962C8B-B14F-4D97-AF65-F5344CB8AC3E}">
        <p14:creationId xmlns="" xmlns:p14="http://schemas.microsoft.com/office/powerpoint/2010/main" val="294447117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a:t>
            </a:r>
            <a:r>
              <a:rPr lang="en-US" baseline="0" dirty="0" smtClean="0"/>
              <a:t>keys in reviewing policies and procedures:</a:t>
            </a:r>
          </a:p>
          <a:p>
            <a:pPr marL="171450" indent="-171450">
              <a:buFont typeface="Arial" pitchFamily="34" charset="0"/>
              <a:buChar char="•"/>
            </a:pPr>
            <a:r>
              <a:rPr lang="en-AU" sz="1200" kern="1200" dirty="0" smtClean="0">
                <a:solidFill>
                  <a:schemeClr val="tx1"/>
                </a:solidFill>
                <a:ea typeface="+mn-ea"/>
                <a:cs typeface="+mn-cs"/>
              </a:rPr>
              <a:t>Surveying individual customers and targeted customer groups – to determine what they identify as issues and what they offer as solutions to them</a:t>
            </a:r>
          </a:p>
          <a:p>
            <a:pPr marL="171450" indent="-171450">
              <a:buFont typeface="Arial" pitchFamily="34" charset="0"/>
              <a:buChar char="•"/>
            </a:pPr>
            <a:r>
              <a:rPr lang="en-AU" sz="1200" kern="1200" dirty="0" smtClean="0">
                <a:solidFill>
                  <a:schemeClr val="tx1"/>
                </a:solidFill>
                <a:ea typeface="+mn-ea"/>
                <a:cs typeface="+mn-cs"/>
              </a:rPr>
              <a:t>Identifying, considering and comparing alternatives for action – to address actual and potential issues/deficiencies.</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extLst>
      <p:ext uri="{BB962C8B-B14F-4D97-AF65-F5344CB8AC3E}">
        <p14:creationId xmlns="" xmlns:p14="http://schemas.microsoft.com/office/powerpoint/2010/main" val="330630654"/>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provides context for amending theft minimisation protocols advising the </a:t>
            </a:r>
            <a:r>
              <a:rPr lang="en-AU" sz="1200" kern="1200" dirty="0" smtClean="0">
                <a:solidFill>
                  <a:schemeClr val="tx1"/>
                </a:solidFill>
                <a:ea typeface="+mn-ea"/>
                <a:cs typeface="+mn-cs"/>
              </a:rPr>
              <a:t>following points need to be taken into account when amending theft minimisation policies and procedures:</a:t>
            </a:r>
          </a:p>
          <a:p>
            <a:pPr marL="171450" indent="-171450">
              <a:buFont typeface="Arial" pitchFamily="34" charset="0"/>
              <a:buChar char="•"/>
            </a:pPr>
            <a:r>
              <a:rPr lang="en-AU" sz="1200" kern="1200" dirty="0" smtClean="0">
                <a:solidFill>
                  <a:schemeClr val="tx1"/>
                </a:solidFill>
                <a:ea typeface="+mn-ea"/>
                <a:cs typeface="+mn-cs"/>
              </a:rPr>
              <a:t>All action taken should be supported by evidence</a:t>
            </a:r>
          </a:p>
          <a:p>
            <a:pPr marL="171450" indent="-171450">
              <a:buFont typeface="Arial" pitchFamily="34" charset="0"/>
              <a:buChar char="•"/>
            </a:pPr>
            <a:r>
              <a:rPr lang="en-AU" sz="1200" kern="1200" dirty="0" smtClean="0">
                <a:solidFill>
                  <a:schemeClr val="tx1"/>
                </a:solidFill>
                <a:ea typeface="+mn-ea"/>
                <a:cs typeface="+mn-cs"/>
              </a:rPr>
              <a:t>Action taken must be approved by management prior to implementation</a:t>
            </a:r>
          </a:p>
          <a:p>
            <a:pPr marL="171450" indent="-171450">
              <a:buFont typeface="Arial" pitchFamily="34" charset="0"/>
              <a:buChar char="•"/>
            </a:pPr>
            <a:r>
              <a:rPr lang="en-AU" sz="1200" kern="1200" dirty="0" smtClean="0">
                <a:solidFill>
                  <a:schemeClr val="tx1"/>
                </a:solidFill>
                <a:ea typeface="+mn-ea"/>
                <a:cs typeface="+mn-cs"/>
              </a:rPr>
              <a:t>A cost-benefit analysis may need to precede final adoption of amendments</a:t>
            </a:r>
          </a:p>
          <a:p>
            <a:pPr marL="171450" indent="-171450">
              <a:buFont typeface="Arial" pitchFamily="34" charset="0"/>
              <a:buChar char="•"/>
            </a:pPr>
            <a:r>
              <a:rPr lang="en-AU" sz="1200" kern="1200" dirty="0" smtClean="0">
                <a:solidFill>
                  <a:schemeClr val="tx1"/>
                </a:solidFill>
                <a:ea typeface="+mn-ea"/>
                <a:cs typeface="+mn-cs"/>
              </a:rPr>
              <a:t>Changes must be communicated to all staff and external stakeholders</a:t>
            </a:r>
          </a:p>
          <a:p>
            <a:pPr marL="171450" indent="-171450">
              <a:buFont typeface="Arial" pitchFamily="34" charset="0"/>
              <a:buChar char="•"/>
            </a:pPr>
            <a:r>
              <a:rPr lang="en-AU" sz="1200" kern="1200" dirty="0" smtClean="0">
                <a:solidFill>
                  <a:schemeClr val="tx1"/>
                </a:solidFill>
                <a:ea typeface="+mn-ea"/>
                <a:cs typeface="+mn-cs"/>
              </a:rPr>
              <a:t>It is important to apply version control protocols to all documentation to ensure currency of items</a:t>
            </a:r>
          </a:p>
          <a:p>
            <a:pPr marL="171450" indent="-171450">
              <a:buFont typeface="Arial" pitchFamily="34" charset="0"/>
              <a:buChar char="•"/>
            </a:pPr>
            <a:r>
              <a:rPr lang="en-AU" sz="1200" kern="1200" dirty="0" smtClean="0">
                <a:solidFill>
                  <a:schemeClr val="tx1"/>
                </a:solidFill>
                <a:ea typeface="+mn-ea"/>
                <a:cs typeface="+mn-cs"/>
              </a:rPr>
              <a:t>All changes need to be communicated – there is no point making changes unless those impacted by them are advised of the amendments and provided with advice to enable compliance.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extLst>
      <p:ext uri="{BB962C8B-B14F-4D97-AF65-F5344CB8AC3E}">
        <p14:creationId xmlns="" xmlns:p14="http://schemas.microsoft.com/office/powerpoint/2010/main" val="3002594223"/>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presents possible practical action required to </a:t>
            </a:r>
            <a:r>
              <a:rPr lang="en-AU" sz="1200" kern="1200" dirty="0" smtClean="0">
                <a:solidFill>
                  <a:schemeClr val="tx1"/>
                </a:solidFill>
                <a:ea typeface="+mn-ea"/>
                <a:cs typeface="+mn-cs"/>
              </a:rPr>
              <a:t>amend theft minimisation protocols:</a:t>
            </a:r>
          </a:p>
          <a:p>
            <a:pPr marL="171450" indent="-171450">
              <a:buFont typeface="Arial" pitchFamily="34" charset="0"/>
              <a:buChar char="•"/>
            </a:pPr>
            <a:r>
              <a:rPr lang="en-AU" sz="1200" kern="1200" dirty="0" smtClean="0">
                <a:solidFill>
                  <a:schemeClr val="tx1"/>
                </a:solidFill>
                <a:ea typeface="+mn-ea"/>
                <a:cs typeface="+mn-cs"/>
              </a:rPr>
              <a:t>Upgrading security equipment and systems – which may mean:</a:t>
            </a:r>
          </a:p>
          <a:p>
            <a:pPr marL="628650" lvl="1" indent="-171450">
              <a:buFont typeface="Arial" pitchFamily="34" charset="0"/>
              <a:buChar char="•"/>
            </a:pPr>
            <a:r>
              <a:rPr lang="en-AU" sz="1200" kern="1200" dirty="0" smtClean="0">
                <a:solidFill>
                  <a:schemeClr val="tx1"/>
                </a:solidFill>
                <a:ea typeface="+mn-ea"/>
                <a:cs typeface="+mn-cs"/>
              </a:rPr>
              <a:t>Installing more modern technology</a:t>
            </a:r>
          </a:p>
          <a:p>
            <a:pPr marL="628650" lvl="1" indent="-171450">
              <a:buFont typeface="Arial" pitchFamily="34" charset="0"/>
              <a:buChar char="•"/>
            </a:pPr>
            <a:r>
              <a:rPr lang="en-AU" sz="1200" kern="1200" dirty="0" smtClean="0">
                <a:solidFill>
                  <a:schemeClr val="tx1"/>
                </a:solidFill>
                <a:ea typeface="+mn-ea"/>
                <a:cs typeface="+mn-cs"/>
              </a:rPr>
              <a:t>Adding extra items to the existing infrastructure</a:t>
            </a:r>
          </a:p>
          <a:p>
            <a:pPr marL="171450" indent="-171450">
              <a:buFont typeface="Arial" pitchFamily="34" charset="0"/>
              <a:buChar char="•"/>
            </a:pPr>
            <a:r>
              <a:rPr lang="en-AU" sz="1200" kern="1200" dirty="0" smtClean="0">
                <a:solidFill>
                  <a:schemeClr val="tx1"/>
                </a:solidFill>
                <a:ea typeface="+mn-ea"/>
                <a:cs typeface="+mn-cs"/>
              </a:rPr>
              <a:t>Revising existing policies and procedures to address changed circumstances</a:t>
            </a:r>
          </a:p>
          <a:p>
            <a:pPr marL="171450" indent="-171450">
              <a:buFont typeface="Arial" pitchFamily="34" charset="0"/>
              <a:buChar char="•"/>
            </a:pPr>
            <a:r>
              <a:rPr lang="en-AU" sz="1200" kern="1200" dirty="0" smtClean="0">
                <a:solidFill>
                  <a:schemeClr val="tx1"/>
                </a:solidFill>
                <a:ea typeface="+mn-ea"/>
                <a:cs typeface="+mn-cs"/>
              </a:rPr>
              <a:t>Disseminating new policies and procedures to address newly identified threats</a:t>
            </a:r>
          </a:p>
          <a:p>
            <a:pPr marL="171450" indent="-171450">
              <a:buFont typeface="Arial" pitchFamily="34" charset="0"/>
              <a:buChar char="•"/>
            </a:pPr>
            <a:r>
              <a:rPr lang="en-AU" sz="1200" kern="1200" dirty="0" smtClean="0">
                <a:solidFill>
                  <a:schemeClr val="tx1"/>
                </a:solidFill>
                <a:ea typeface="+mn-ea"/>
                <a:cs typeface="+mn-cs"/>
              </a:rPr>
              <a:t>Integrating new protocols into:</a:t>
            </a:r>
          </a:p>
          <a:p>
            <a:pPr marL="628650" lvl="1" indent="-171450">
              <a:buFont typeface="Arial" pitchFamily="34" charset="0"/>
              <a:buChar char="•"/>
            </a:pPr>
            <a:r>
              <a:rPr lang="en-AU" sz="1200" kern="1200" dirty="0" smtClean="0">
                <a:solidFill>
                  <a:schemeClr val="tx1"/>
                </a:solidFill>
                <a:ea typeface="+mn-ea"/>
                <a:cs typeface="+mn-cs"/>
              </a:rPr>
              <a:t>Organisational induction and orientation</a:t>
            </a:r>
          </a:p>
          <a:p>
            <a:pPr marL="628650" lvl="1" indent="-171450">
              <a:buFont typeface="Arial" pitchFamily="34" charset="0"/>
              <a:buChar char="•"/>
            </a:pPr>
            <a:r>
              <a:rPr lang="en-AU" sz="1200" kern="1200" dirty="0" smtClean="0">
                <a:solidFill>
                  <a:schemeClr val="tx1"/>
                </a:solidFill>
                <a:ea typeface="+mn-ea"/>
                <a:cs typeface="+mn-cs"/>
              </a:rPr>
              <a:t>Formal internal training</a:t>
            </a:r>
          </a:p>
          <a:p>
            <a:pPr marL="628650" lvl="1" indent="-171450">
              <a:buFont typeface="Arial" pitchFamily="34" charset="0"/>
              <a:buChar char="•"/>
            </a:pPr>
            <a:r>
              <a:rPr lang="en-AU" sz="1200" kern="1200" dirty="0" smtClean="0">
                <a:solidFill>
                  <a:schemeClr val="tx1"/>
                </a:solidFill>
                <a:ea typeface="+mn-ea"/>
                <a:cs typeface="+mn-cs"/>
              </a:rPr>
              <a:t>Workplace manuals, checklists and other documents</a:t>
            </a:r>
          </a:p>
          <a:p>
            <a:pPr marL="628650" lvl="1" indent="-171450">
              <a:buFont typeface="Arial" pitchFamily="34" charset="0"/>
              <a:buChar char="•"/>
            </a:pPr>
            <a:r>
              <a:rPr lang="en-AU" sz="1200" kern="1200" dirty="0" smtClean="0">
                <a:solidFill>
                  <a:schemeClr val="tx1"/>
                </a:solidFill>
                <a:ea typeface="+mn-ea"/>
                <a:cs typeface="+mn-cs"/>
              </a:rPr>
              <a:t>Standard workplace practice – by explaining new/revised protocols to staff, scheduling a period for training and implementation, and supporting the changes with necessary time and other resources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extLst>
      <p:ext uri="{BB962C8B-B14F-4D97-AF65-F5344CB8AC3E}">
        <p14:creationId xmlns="" xmlns:p14="http://schemas.microsoft.com/office/powerpoint/2010/main" val="3927912514"/>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possible practical action required to </a:t>
            </a:r>
            <a:r>
              <a:rPr lang="en-AU" sz="1200" kern="1200" dirty="0" smtClean="0">
                <a:solidFill>
                  <a:schemeClr val="tx1"/>
                </a:solidFill>
                <a:ea typeface="+mn-ea"/>
                <a:cs typeface="+mn-cs"/>
              </a:rPr>
              <a:t>amend theft minimisation protocols:</a:t>
            </a:r>
          </a:p>
          <a:p>
            <a:pPr marL="171450" indent="-171450">
              <a:buFont typeface="Arial" pitchFamily="34" charset="0"/>
              <a:buChar char="•"/>
            </a:pPr>
            <a:r>
              <a:rPr lang="en-AU" sz="1200" kern="1200" dirty="0" smtClean="0">
                <a:solidFill>
                  <a:schemeClr val="tx1"/>
                </a:solidFill>
                <a:ea typeface="+mn-ea"/>
                <a:cs typeface="+mn-cs"/>
              </a:rPr>
              <a:t>Changing role of security staff – which may entail:</a:t>
            </a:r>
          </a:p>
          <a:p>
            <a:pPr marL="628650" lvl="1" indent="-171450">
              <a:buFont typeface="Arial" pitchFamily="34" charset="0"/>
              <a:buChar char="•"/>
            </a:pPr>
            <a:r>
              <a:rPr lang="en-AU" sz="1200" kern="1200" dirty="0" smtClean="0">
                <a:solidFill>
                  <a:schemeClr val="tx1"/>
                </a:solidFill>
                <a:ea typeface="+mn-ea"/>
                <a:cs typeface="+mn-cs"/>
              </a:rPr>
              <a:t>Increasing number of security staff, or their hours</a:t>
            </a:r>
          </a:p>
          <a:p>
            <a:pPr marL="628650" lvl="1" indent="-171450">
              <a:buFont typeface="Arial" pitchFamily="34" charset="0"/>
              <a:buChar char="•"/>
            </a:pPr>
            <a:r>
              <a:rPr lang="en-AU" sz="1200" kern="1200" dirty="0" smtClean="0">
                <a:solidFill>
                  <a:schemeClr val="tx1"/>
                </a:solidFill>
                <a:ea typeface="+mn-ea"/>
                <a:cs typeface="+mn-cs"/>
              </a:rPr>
              <a:t>Altering the times they work</a:t>
            </a:r>
          </a:p>
          <a:p>
            <a:pPr marL="628650" lvl="1" indent="-171450">
              <a:buFont typeface="Arial" pitchFamily="34" charset="0"/>
              <a:buChar char="•"/>
            </a:pPr>
            <a:r>
              <a:rPr lang="en-AU" sz="1200" kern="1200" dirty="0" smtClean="0">
                <a:solidFill>
                  <a:schemeClr val="tx1"/>
                </a:solidFill>
                <a:ea typeface="+mn-ea"/>
                <a:cs typeface="+mn-cs"/>
              </a:rPr>
              <a:t>Engaging external security contractors</a:t>
            </a:r>
          </a:p>
          <a:p>
            <a:pPr marL="628650" lvl="1" indent="-171450">
              <a:buFont typeface="Arial" pitchFamily="34" charset="0"/>
              <a:buChar char="•"/>
            </a:pPr>
            <a:r>
              <a:rPr lang="en-AU" sz="1200" kern="1200" dirty="0" smtClean="0">
                <a:solidFill>
                  <a:schemeClr val="tx1"/>
                </a:solidFill>
                <a:ea typeface="+mn-ea"/>
                <a:cs typeface="+mn-cs"/>
              </a:rPr>
              <a:t>Changing the focus of the work they do – patrols, inspections, checks, targets</a:t>
            </a:r>
          </a:p>
          <a:p>
            <a:pPr marL="628650" lvl="1" indent="-171450">
              <a:buFont typeface="Arial" pitchFamily="34" charset="0"/>
              <a:buChar char="•"/>
            </a:pPr>
            <a:r>
              <a:rPr lang="en-AU" sz="1200" kern="1200" dirty="0" smtClean="0">
                <a:solidFill>
                  <a:schemeClr val="tx1"/>
                </a:solidFill>
                <a:ea typeface="+mn-ea"/>
                <a:cs typeface="+mn-cs"/>
              </a:rPr>
              <a:t>Shifting from a high-profile presence (Static Guard) to a covert workplace presence (Loss Prevention Officer), or </a:t>
            </a:r>
            <a:r>
              <a:rPr lang="en-AU" sz="1200" i="1" kern="1200" dirty="0" smtClean="0">
                <a:solidFill>
                  <a:schemeClr val="tx1"/>
                </a:solidFill>
                <a:ea typeface="+mn-ea"/>
                <a:cs typeface="+mn-cs"/>
              </a:rPr>
              <a:t>vice versa</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Engaging the services of security professionals.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extLst>
      <p:ext uri="{BB962C8B-B14F-4D97-AF65-F5344CB8AC3E}">
        <p14:creationId xmlns="" xmlns:p14="http://schemas.microsoft.com/office/powerpoint/2010/main" val="2671553916"/>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extLst>
      <p:ext uri="{BB962C8B-B14F-4D97-AF65-F5344CB8AC3E}">
        <p14:creationId xmlns="" xmlns:p14="http://schemas.microsoft.com/office/powerpoint/2010/main" val="1440291036"/>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extLst>
      <p:ext uri="{BB962C8B-B14F-4D97-AF65-F5344CB8AC3E}">
        <p14:creationId xmlns="" xmlns:p14="http://schemas.microsoft.com/office/powerpoint/2010/main" val="2896134160"/>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extLst>
      <p:ext uri="{BB962C8B-B14F-4D97-AF65-F5344CB8AC3E}">
        <p14:creationId xmlns="" xmlns:p14="http://schemas.microsoft.com/office/powerpoint/2010/main" val="693991513"/>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extLst>
      <p:ext uri="{BB962C8B-B14F-4D97-AF65-F5344CB8AC3E}">
        <p14:creationId xmlns="" xmlns:p14="http://schemas.microsoft.com/office/powerpoint/2010/main" val="487945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1/28/2015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1/28/2015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1/28/2015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1/28/2015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1/28/2015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1/28/2015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1/28/2015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1/28/2015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1/28/2015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microsoft.com/office/2007/relationships/hdphoto" Target="../media/hdphoto1.wdp"/></Relationships>
</file>

<file path=ppt/slides/_rels/slide95.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20141" y="620688"/>
            <a:ext cx="6480048" cy="792088"/>
          </a:xfrm>
        </p:spPr>
        <p:txBody>
          <a:bodyPr>
            <a:normAutofit/>
          </a:bodyPr>
          <a:lstStyle/>
          <a:p>
            <a:r>
              <a:rPr lang="en-AU" sz="4000" dirty="0">
                <a:ln w="5000" cmpd="sng">
                  <a:noFill/>
                  <a:prstDash val="solid"/>
                </a:ln>
                <a:solidFill>
                  <a:srgbClr val="FF6600"/>
                </a:solidFill>
                <a:latin typeface="Helvetica" pitchFamily="34" charset="0"/>
              </a:rPr>
              <a:t>MINIMISE </a:t>
            </a:r>
            <a:r>
              <a:rPr lang="en-AU" sz="4000" dirty="0" smtClean="0">
                <a:ln w="5000" cmpd="sng">
                  <a:noFill/>
                  <a:prstDash val="solid"/>
                </a:ln>
                <a:solidFill>
                  <a:srgbClr val="FF6600"/>
                </a:solidFill>
                <a:latin typeface="Helvetica" pitchFamily="34" charset="0"/>
              </a:rPr>
              <a:t>THEFT</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4572000" y="1556792"/>
            <a:ext cx="3837412" cy="494366"/>
          </a:xfrm>
        </p:spPr>
        <p:txBody>
          <a:bodyPr>
            <a:normAutofit/>
          </a:bodyPr>
          <a:lstStyle/>
          <a:p>
            <a:r>
              <a:rPr lang="en-US" b="1" dirty="0" smtClean="0">
                <a:latin typeface="Helvetica" pitchFamily="34" charset="0"/>
              </a:rPr>
              <a:t>Unit Code: </a:t>
            </a:r>
            <a:r>
              <a:rPr lang="en-AU" b="1" dirty="0"/>
              <a:t>D2.TGA.CL6.05</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a:t>
            </a:fld>
            <a:endParaRPr lang="en-US" dirty="0">
              <a:latin typeface="Helvetica" pitchFamily="34" charset="0"/>
            </a:endParaRPr>
          </a:p>
        </p:txBody>
      </p:sp>
      <p:grpSp>
        <p:nvGrpSpPr>
          <p:cNvPr id="8" name="Group 7"/>
          <p:cNvGrpSpPr/>
          <p:nvPr/>
        </p:nvGrpSpPr>
        <p:grpSpPr>
          <a:xfrm>
            <a:off x="899592" y="2276872"/>
            <a:ext cx="5565600" cy="4208400"/>
            <a:chOff x="0" y="0"/>
            <a:chExt cx="7585544" cy="6098650"/>
          </a:xfrm>
        </p:grpSpPr>
        <p:pic>
          <p:nvPicPr>
            <p:cNvPr id="9" name="Picture 8"/>
            <p:cNvPicPr>
              <a:picLocks noChangeAspect="1"/>
            </p:cNvPicPr>
            <p:nvPr/>
          </p:nvPicPr>
          <p:blipFill rotWithShape="1">
            <a:blip r:embed="rId3" cstate="print">
              <a:extLst>
                <a:ext uri="{28A0092B-C50C-407E-A947-70E740481C1C}">
                  <a14:useLocalDpi xmlns=""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 xmlns:a14="http://schemas.microsoft.com/office/drawing/2010/main"/>
              </a:ext>
            </a:extLst>
          </p:spPr>
        </p:pic>
        <p:pic>
          <p:nvPicPr>
            <p:cNvPr id="10" name="Picture 9"/>
            <p:cNvPicPr>
              <a:picLocks noChangeAspect="1"/>
            </p:cNvPicPr>
            <p:nvPr/>
          </p:nvPicPr>
          <p:blipFill rotWithShape="1">
            <a:blip r:embed="rId4" cstate="print">
              <a:extLst>
                <a:ext uri="{28A0092B-C50C-407E-A947-70E740481C1C}">
                  <a14:useLocalDpi xmlns=""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 xmlns:a14="http://schemas.microsoft.com/office/drawing/2010/main"/>
              </a:ext>
            </a:extLst>
          </p:spPr>
        </p:pic>
        <p:pic>
          <p:nvPicPr>
            <p:cNvPr id="11" name="Picture 10"/>
            <p:cNvPicPr>
              <a:picLocks noChangeAspect="1"/>
            </p:cNvPicPr>
            <p:nvPr/>
          </p:nvPicPr>
          <p:blipFill rotWithShape="1">
            <a:blip r:embed="rId5" cstate="print">
              <a:extLst>
                <a:ext uri="{28A0092B-C50C-407E-A947-70E740481C1C}">
                  <a14:useLocalDpi xmlns=""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 xmlns:a14="http://schemas.microsoft.com/office/drawing/2010/main"/>
              </a:ext>
            </a:extLst>
          </p:spPr>
        </p:pic>
        <p:pic>
          <p:nvPicPr>
            <p:cNvPr id="12" name="Picture 11"/>
            <p:cNvPicPr>
              <a:picLocks noChangeAspect="1"/>
            </p:cNvPicPr>
            <p:nvPr/>
          </p:nvPicPr>
          <p:blipFill rotWithShape="1">
            <a:blip r:embed="rId6" cstate="print">
              <a:extLst>
                <a:ext uri="{28A0092B-C50C-407E-A947-70E740481C1C}">
                  <a14:useLocalDpi xmlns=""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 xmlns:a14="http://schemas.microsoft.com/office/drawing/2010/main"/>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Minimise theft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320480"/>
          </a:xfrm>
        </p:spPr>
        <p:txBody>
          <a:bodyPr>
            <a:normAutofit lnSpcReduction="10000"/>
          </a:bodyPr>
          <a:lstStyle/>
          <a:p>
            <a:pPr marL="0" indent="0">
              <a:spcBef>
                <a:spcPts val="600"/>
              </a:spcBef>
              <a:spcAft>
                <a:spcPts val="1200"/>
              </a:spcAft>
              <a:buNone/>
            </a:pPr>
            <a:r>
              <a:rPr lang="en-US" sz="2000" dirty="0" smtClean="0">
                <a:latin typeface="Helvetica" pitchFamily="34" charset="0"/>
              </a:rPr>
              <a:t>This Unit comprises five Elements:</a:t>
            </a:r>
          </a:p>
          <a:p>
            <a:pPr marL="358775" indent="-358775">
              <a:spcBef>
                <a:spcPts val="600"/>
              </a:spcBef>
              <a:spcAft>
                <a:spcPts val="1200"/>
              </a:spcAft>
              <a:buNone/>
            </a:pPr>
            <a:r>
              <a:rPr lang="en-US" sz="2000" dirty="0" smtClean="0">
                <a:latin typeface="Helvetica" pitchFamily="34" charset="0"/>
              </a:rPr>
              <a:t>1. 	Define the theft risks facing the organisation</a:t>
            </a:r>
          </a:p>
          <a:p>
            <a:pPr marL="358775" indent="-358775">
              <a:spcBef>
                <a:spcPts val="600"/>
              </a:spcBef>
              <a:spcAft>
                <a:spcPts val="1200"/>
              </a:spcAft>
              <a:buNone/>
            </a:pPr>
            <a:r>
              <a:rPr lang="en-US" sz="2000" dirty="0" smtClean="0">
                <a:latin typeface="Helvetica" pitchFamily="34" charset="0"/>
              </a:rPr>
              <a:t>2. 	Establish theft minimisation protocols</a:t>
            </a:r>
          </a:p>
          <a:p>
            <a:pPr marL="358775" indent="-358775">
              <a:spcBef>
                <a:spcPts val="600"/>
              </a:spcBef>
              <a:spcAft>
                <a:spcPts val="1200"/>
              </a:spcAft>
              <a:buNone/>
            </a:pPr>
            <a:r>
              <a:rPr lang="en-US" sz="2000" dirty="0" smtClean="0">
                <a:latin typeface="Helvetica" pitchFamily="34" charset="0"/>
              </a:rPr>
              <a:t>3. 	Utilise established internal and external theft minimisation protocols</a:t>
            </a:r>
          </a:p>
          <a:p>
            <a:pPr marL="358775" indent="-358775">
              <a:spcBef>
                <a:spcPts val="600"/>
              </a:spcBef>
              <a:spcAft>
                <a:spcPts val="1200"/>
              </a:spcAft>
              <a:buNone/>
            </a:pPr>
            <a:r>
              <a:rPr lang="en-US" sz="2000" dirty="0" smtClean="0">
                <a:latin typeface="Helvetica" pitchFamily="34" charset="0"/>
              </a:rPr>
              <a:t>4. 	Provide theft minimisation advice and services to customers</a:t>
            </a:r>
          </a:p>
          <a:p>
            <a:pPr marL="358775" indent="-358775">
              <a:spcBef>
                <a:spcPts val="600"/>
              </a:spcBef>
              <a:spcAft>
                <a:spcPts val="1200"/>
              </a:spcAft>
              <a:buNone/>
            </a:pPr>
            <a:r>
              <a:rPr lang="en-US" sz="2000" dirty="0" smtClean="0">
                <a:latin typeface="Helvetica" pitchFamily="34" charset="0"/>
              </a:rPr>
              <a:t>5. 	Monitor theft-related issues.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742350" y="2061088"/>
            <a:ext cx="2574066"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093915"/>
          </a:xfrm>
        </p:spPr>
        <p:txBody>
          <a:bodyPr>
            <a:normAutofit fontScale="92500" lnSpcReduction="10000"/>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rgbClr val="00B050"/>
              </a:buClr>
            </a:pPr>
            <a:r>
              <a:rPr lang="en-US" sz="2200" dirty="0" smtClean="0"/>
              <a:t>Oral questions</a:t>
            </a:r>
          </a:p>
          <a:p>
            <a:pPr marL="360000" indent="-360000">
              <a:spcBef>
                <a:spcPts val="600"/>
              </a:spcBef>
              <a:spcAft>
                <a:spcPts val="1200"/>
              </a:spcAft>
              <a:buClr>
                <a:srgbClr val="00B050"/>
              </a:buClr>
            </a:pPr>
            <a:r>
              <a:rPr lang="en-US" sz="2200" dirty="0" smtClean="0"/>
              <a:t>Written questions</a:t>
            </a:r>
          </a:p>
          <a:p>
            <a:pPr marL="360000" indent="-360000">
              <a:spcBef>
                <a:spcPts val="600"/>
              </a:spcBef>
              <a:spcAft>
                <a:spcPts val="1200"/>
              </a:spcAft>
              <a:buClr>
                <a:srgbClr val="00B050"/>
              </a:buClr>
            </a:pPr>
            <a:r>
              <a:rPr lang="en-US" sz="2200" dirty="0" smtClean="0"/>
              <a:t>Work projects</a:t>
            </a:r>
          </a:p>
          <a:p>
            <a:pPr marL="360000" indent="-360000">
              <a:spcBef>
                <a:spcPts val="600"/>
              </a:spcBef>
              <a:spcAft>
                <a:spcPts val="1200"/>
              </a:spcAft>
              <a:buClr>
                <a:srgbClr val="00B050"/>
              </a:buClr>
            </a:pPr>
            <a:r>
              <a:rPr lang="en-US" sz="2200" dirty="0" smtClean="0"/>
              <a:t>Workplace observation of practical skills</a:t>
            </a:r>
          </a:p>
          <a:p>
            <a:pPr marL="360000" indent="-360000">
              <a:spcBef>
                <a:spcPts val="600"/>
              </a:spcBef>
              <a:spcAft>
                <a:spcPts val="1200"/>
              </a:spcAft>
              <a:buClr>
                <a:srgbClr val="00B050"/>
              </a:buClr>
            </a:pPr>
            <a:r>
              <a:rPr lang="en-US" sz="2200" dirty="0" smtClean="0"/>
              <a:t>Practical exercises</a:t>
            </a:r>
          </a:p>
          <a:p>
            <a:pPr marL="360000" indent="-360000">
              <a:spcBef>
                <a:spcPts val="600"/>
              </a:spcBef>
              <a:spcAft>
                <a:spcPts val="1200"/>
              </a:spcAft>
              <a:buClr>
                <a:srgbClr val="00B050"/>
              </a:buClr>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292080" y="1993763"/>
            <a:ext cx="2560320" cy="170444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 Define the theft risks facing the organisation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433224"/>
          </a:xfrm>
        </p:spPr>
        <p:txBody>
          <a:bodyPr>
            <a:normAutofit lnSpcReduction="10000"/>
          </a:bodyPr>
          <a:lstStyle/>
          <a:p>
            <a:pPr marL="0" indent="0">
              <a:spcBef>
                <a:spcPts val="600"/>
              </a:spcBef>
              <a:spcAft>
                <a:spcPts val="1200"/>
              </a:spcAft>
              <a:buNone/>
            </a:pPr>
            <a:r>
              <a:rPr lang="en-US" sz="2000" dirty="0" smtClean="0">
                <a:latin typeface="Helvetica" pitchFamily="34" charset="0"/>
              </a:rPr>
              <a:t>Performance Criteria for this Element are:</a:t>
            </a:r>
          </a:p>
          <a:p>
            <a:pPr marL="360000" indent="-360000">
              <a:spcBef>
                <a:spcPts val="600"/>
              </a:spcBef>
              <a:spcAft>
                <a:spcPts val="1200"/>
              </a:spcAft>
            </a:pPr>
            <a:r>
              <a:rPr lang="en-US" sz="2000" dirty="0" smtClean="0">
                <a:latin typeface="Helvetica" pitchFamily="34" charset="0"/>
              </a:rPr>
              <a:t>Identify internal theft opportunities</a:t>
            </a:r>
          </a:p>
          <a:p>
            <a:pPr marL="360000" indent="-360000">
              <a:spcBef>
                <a:spcPts val="600"/>
              </a:spcBef>
              <a:spcAft>
                <a:spcPts val="1200"/>
              </a:spcAft>
            </a:pPr>
            <a:r>
              <a:rPr lang="en-US" sz="2000" dirty="0" smtClean="0">
                <a:latin typeface="Helvetica" pitchFamily="34" charset="0"/>
              </a:rPr>
              <a:t>Identify personnel who may be involved in internal theft</a:t>
            </a:r>
          </a:p>
          <a:p>
            <a:pPr marL="360000" indent="-360000">
              <a:spcBef>
                <a:spcPts val="600"/>
              </a:spcBef>
              <a:spcAft>
                <a:spcPts val="1200"/>
              </a:spcAft>
            </a:pPr>
            <a:r>
              <a:rPr lang="en-US" sz="2000" dirty="0" smtClean="0">
                <a:latin typeface="Helvetica" pitchFamily="34" charset="0"/>
              </a:rPr>
              <a:t>Identify external theft opportunities</a:t>
            </a:r>
          </a:p>
          <a:p>
            <a:pPr marL="360000" indent="-360000">
              <a:spcBef>
                <a:spcPts val="600"/>
              </a:spcBef>
              <a:spcAft>
                <a:spcPts val="1200"/>
              </a:spcAft>
            </a:pPr>
            <a:r>
              <a:rPr lang="en-US" sz="2000" dirty="0" smtClean="0">
                <a:latin typeface="Helvetica" pitchFamily="34" charset="0"/>
              </a:rPr>
              <a:t>Identify personnel who may be involved in external theft</a:t>
            </a:r>
          </a:p>
          <a:p>
            <a:pPr marL="360000" indent="-360000">
              <a:spcBef>
                <a:spcPts val="600"/>
              </a:spcBef>
              <a:spcAft>
                <a:spcPts val="1200"/>
              </a:spcAft>
            </a:pPr>
            <a:r>
              <a:rPr lang="en-US" sz="2000" dirty="0" smtClean="0">
                <a:latin typeface="Helvetica" pitchFamily="34" charset="0"/>
              </a:rPr>
              <a:t>Identify on tour theft threats.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a:stretch/>
        </p:blipFill>
        <p:spPr>
          <a:xfrm>
            <a:off x="5220072" y="2132856"/>
            <a:ext cx="2460832" cy="324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internal theft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Internal theft – theft by staff/employees.</a:t>
            </a:r>
          </a:p>
          <a:p>
            <a:pPr marL="0" indent="0">
              <a:spcBef>
                <a:spcPts val="600"/>
              </a:spcBef>
              <a:spcAft>
                <a:spcPts val="1200"/>
              </a:spcAft>
              <a:buNone/>
            </a:pPr>
            <a:r>
              <a:rPr lang="en-US" sz="2000" dirty="0" smtClean="0">
                <a:latin typeface="Helvetica" pitchFamily="34" charset="0"/>
              </a:rPr>
              <a:t>May be of:</a:t>
            </a:r>
          </a:p>
          <a:p>
            <a:pPr marL="360000" indent="-360000">
              <a:spcBef>
                <a:spcPts val="600"/>
              </a:spcBef>
              <a:spcAft>
                <a:spcPts val="1200"/>
              </a:spcAft>
            </a:pPr>
            <a:r>
              <a:rPr lang="en-US" sz="2000" dirty="0" smtClean="0">
                <a:latin typeface="Helvetica" pitchFamily="34" charset="0"/>
              </a:rPr>
              <a:t>Money</a:t>
            </a:r>
          </a:p>
          <a:p>
            <a:pPr marL="360000" indent="-360000">
              <a:spcBef>
                <a:spcPts val="600"/>
              </a:spcBef>
              <a:spcAft>
                <a:spcPts val="1200"/>
              </a:spcAft>
            </a:pPr>
            <a:r>
              <a:rPr lang="en-US" sz="2000" dirty="0" smtClean="0">
                <a:latin typeface="Helvetica" pitchFamily="34" charset="0"/>
              </a:rPr>
              <a:t>Property</a:t>
            </a:r>
          </a:p>
          <a:p>
            <a:pPr marL="360000" indent="-360000">
              <a:spcBef>
                <a:spcPts val="600"/>
              </a:spcBef>
              <a:spcAft>
                <a:spcPts val="1200"/>
              </a:spcAft>
            </a:pPr>
            <a:r>
              <a:rPr lang="en-US" sz="2000" dirty="0" smtClean="0">
                <a:latin typeface="Helvetica" pitchFamily="34" charset="0"/>
              </a:rPr>
              <a:t>Time</a:t>
            </a:r>
          </a:p>
          <a:p>
            <a:pPr marL="360000" indent="-360000">
              <a:spcBef>
                <a:spcPts val="600"/>
              </a:spcBef>
              <a:spcAft>
                <a:spcPts val="1200"/>
              </a:spcAft>
            </a:pPr>
            <a:r>
              <a:rPr lang="en-US" sz="2000" dirty="0" smtClean="0">
                <a:latin typeface="Helvetica" pitchFamily="34" charset="0"/>
              </a:rPr>
              <a:t>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572498" y="1988840"/>
            <a:ext cx="3506662" cy="298948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internal theft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Travel and tour businesses are attractive because:</a:t>
            </a:r>
          </a:p>
          <a:p>
            <a:pPr marL="360000" indent="-360000">
              <a:spcBef>
                <a:spcPts val="600"/>
              </a:spcBef>
              <a:spcAft>
                <a:spcPts val="1200"/>
              </a:spcAft>
            </a:pPr>
            <a:r>
              <a:rPr lang="en-US" sz="2200" dirty="0" smtClean="0">
                <a:latin typeface="Helvetica" pitchFamily="34" charset="0"/>
              </a:rPr>
              <a:t>They have cash on the premises</a:t>
            </a:r>
          </a:p>
          <a:p>
            <a:pPr marL="360000" indent="-360000">
              <a:spcBef>
                <a:spcPts val="600"/>
              </a:spcBef>
              <a:spcAft>
                <a:spcPts val="1200"/>
              </a:spcAft>
            </a:pPr>
            <a:r>
              <a:rPr lang="en-US" sz="2200" dirty="0" smtClean="0">
                <a:latin typeface="Helvetica" pitchFamily="34" charset="0"/>
              </a:rPr>
              <a:t>They process credit cards</a:t>
            </a:r>
          </a:p>
          <a:p>
            <a:pPr marL="360000" indent="-360000">
              <a:spcBef>
                <a:spcPts val="600"/>
              </a:spcBef>
              <a:spcAft>
                <a:spcPts val="1200"/>
              </a:spcAft>
            </a:pPr>
            <a:r>
              <a:rPr lang="en-US" sz="2200" dirty="0" smtClean="0">
                <a:latin typeface="Helvetica" pitchFamily="34" charset="0"/>
              </a:rPr>
              <a:t>They have tickets and vouchers</a:t>
            </a:r>
          </a:p>
          <a:p>
            <a:pPr marL="360000" indent="-360000">
              <a:spcBef>
                <a:spcPts val="600"/>
              </a:spcBef>
              <a:spcAft>
                <a:spcPts val="1200"/>
              </a:spcAft>
            </a:pPr>
            <a:r>
              <a:rPr lang="en-US" sz="2200" dirty="0" smtClean="0">
                <a:latin typeface="Helvetica" pitchFamily="34" charset="0"/>
              </a:rPr>
              <a:t>They house lots of items people can use in their everyday lives.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076056" y="1844824"/>
            <a:ext cx="2520000" cy="378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internal theft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Things that might be stolen:</a:t>
            </a:r>
          </a:p>
          <a:p>
            <a:pPr marL="360000" indent="-360000">
              <a:spcBef>
                <a:spcPts val="600"/>
              </a:spcBef>
              <a:spcAft>
                <a:spcPts val="1200"/>
              </a:spcAft>
            </a:pPr>
            <a:r>
              <a:rPr lang="en-US" sz="2200" dirty="0" smtClean="0">
                <a:latin typeface="Helvetica" pitchFamily="34" charset="0"/>
              </a:rPr>
              <a:t>Cash</a:t>
            </a:r>
          </a:p>
          <a:p>
            <a:pPr marL="360000" indent="-360000">
              <a:spcBef>
                <a:spcPts val="600"/>
              </a:spcBef>
              <a:spcAft>
                <a:spcPts val="1200"/>
              </a:spcAft>
            </a:pPr>
            <a:r>
              <a:rPr lang="en-US" sz="2200" dirty="0" smtClean="0">
                <a:latin typeface="Helvetica" pitchFamily="34" charset="0"/>
              </a:rPr>
              <a:t>Tickets and vouchers</a:t>
            </a:r>
          </a:p>
          <a:p>
            <a:pPr marL="360000" indent="-360000">
              <a:spcBef>
                <a:spcPts val="600"/>
              </a:spcBef>
              <a:spcAft>
                <a:spcPts val="1200"/>
              </a:spcAft>
            </a:pPr>
            <a:r>
              <a:rPr lang="en-US" sz="2200" dirty="0" smtClean="0">
                <a:latin typeface="Helvetica" pitchFamily="34" charset="0"/>
              </a:rPr>
              <a:t>Assets and physical resources</a:t>
            </a:r>
          </a:p>
          <a:p>
            <a:pPr marL="360000" indent="-360000">
              <a:spcBef>
                <a:spcPts val="600"/>
              </a:spcBef>
              <a:spcAft>
                <a:spcPts val="1200"/>
              </a:spcAft>
            </a:pPr>
            <a:r>
              <a:rPr lang="en-US" sz="2200" dirty="0" smtClean="0">
                <a:latin typeface="Helvetica" pitchFamily="34" charset="0"/>
              </a:rPr>
              <a:t>Stock</a:t>
            </a:r>
          </a:p>
          <a:p>
            <a:pPr marL="360000" indent="-360000">
              <a:spcBef>
                <a:spcPts val="600"/>
              </a:spcBef>
              <a:spcAft>
                <a:spcPts val="1200"/>
              </a:spcAft>
            </a:pPr>
            <a:r>
              <a:rPr lang="en-US" sz="2200" dirty="0" smtClean="0">
                <a:latin typeface="Helvetica" pitchFamily="34" charset="0"/>
              </a:rPr>
              <a:t>Business data</a:t>
            </a:r>
          </a:p>
          <a:p>
            <a:pPr marL="360000" indent="-360000">
              <a:spcBef>
                <a:spcPts val="600"/>
              </a:spcBef>
              <a:spcAft>
                <a:spcPts val="1200"/>
              </a:spcAft>
            </a:pPr>
            <a:r>
              <a:rPr lang="en-US" sz="2200" dirty="0" smtClean="0">
                <a:latin typeface="Helvetica" pitchFamily="34" charset="0"/>
              </a:rPr>
              <a:t>Identity</a:t>
            </a:r>
          </a:p>
          <a:p>
            <a:pPr marL="360000" indent="-360000">
              <a:spcBef>
                <a:spcPts val="600"/>
              </a:spcBef>
              <a:spcAft>
                <a:spcPts val="1200"/>
              </a:spcAft>
            </a:pPr>
            <a:r>
              <a:rPr lang="en-US" sz="2200" dirty="0" smtClean="0">
                <a:latin typeface="Helvetica" pitchFamily="34" charset="0"/>
              </a:rPr>
              <a:t>‘Discounts’ to friends and family.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572000"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personnel who may be involved in internal theft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312368" cy="4093915"/>
          </a:xfrm>
        </p:spPr>
        <p:txBody>
          <a:bodyPr>
            <a:normAutofit/>
          </a:bodyPr>
          <a:lstStyle/>
          <a:p>
            <a:pPr marL="360000" indent="-360000">
              <a:spcBef>
                <a:spcPts val="600"/>
              </a:spcBef>
              <a:spcAft>
                <a:spcPts val="1200"/>
              </a:spcAft>
            </a:pPr>
            <a:r>
              <a:rPr lang="en-US" sz="2000" dirty="0" smtClean="0">
                <a:latin typeface="Helvetica" pitchFamily="34" charset="0"/>
              </a:rPr>
              <a:t>Anyone can be a thief</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Male or female</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Any age</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Any race.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sp>
        <p:nvSpPr>
          <p:cNvPr id="5" name="TextBox 4"/>
          <p:cNvSpPr txBox="1"/>
          <p:nvPr/>
        </p:nvSpPr>
        <p:spPr>
          <a:xfrm>
            <a:off x="5004048" y="1916832"/>
            <a:ext cx="3149352" cy="1200329"/>
          </a:xfrm>
          <a:prstGeom prst="rect">
            <a:avLst/>
          </a:prstGeom>
          <a:noFill/>
          <a:ln>
            <a:solidFill>
              <a:srgbClr val="FF6600"/>
            </a:solidFill>
          </a:ln>
        </p:spPr>
        <p:txBody>
          <a:bodyPr wrap="square" rtlCol="0">
            <a:spAutoFit/>
          </a:bodyPr>
          <a:lstStyle/>
          <a:p>
            <a:r>
              <a:rPr lang="en-US" dirty="0">
                <a:latin typeface="Helvetica" pitchFamily="34" charset="0"/>
              </a:rPr>
              <a:t>There is no one ‘model’ or ‘profile’ for people who may steal from a business.</a:t>
            </a:r>
          </a:p>
          <a:p>
            <a:endParaRPr lang="en-AU" dirty="0">
              <a:latin typeface="Helvetica" pitchFamily="34" charset="0"/>
            </a:endParaRPr>
          </a:p>
        </p:txBody>
      </p:sp>
      <p:pic>
        <p:nvPicPr>
          <p:cNvPr id="6" name="Picture 5"/>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2915816" y="2462644"/>
            <a:ext cx="2736304" cy="36484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personnel who may be involved in internal theft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Business owners/managers have opinions about who may steal based on:</a:t>
            </a:r>
          </a:p>
          <a:p>
            <a:pPr marL="360000" indent="-360000">
              <a:spcBef>
                <a:spcPts val="600"/>
              </a:spcBef>
              <a:spcAft>
                <a:spcPts val="1200"/>
              </a:spcAft>
            </a:pPr>
            <a:r>
              <a:rPr lang="en-US" sz="2000" dirty="0" smtClean="0">
                <a:latin typeface="Helvetica" pitchFamily="34" charset="0"/>
              </a:rPr>
              <a:t>Experience </a:t>
            </a:r>
          </a:p>
          <a:p>
            <a:pPr marL="360000" indent="-360000">
              <a:spcBef>
                <a:spcPts val="600"/>
              </a:spcBef>
              <a:spcAft>
                <a:spcPts val="1200"/>
              </a:spcAft>
            </a:pPr>
            <a:r>
              <a:rPr lang="en-US" sz="2000" dirty="0" smtClean="0">
                <a:latin typeface="Helvetica" pitchFamily="34" charset="0"/>
              </a:rPr>
              <a:t>Other hearsay evidence.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20072" y="1988840"/>
            <a:ext cx="2040000" cy="30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personnel who may be involved in internal theft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Internal thieves may be:</a:t>
            </a:r>
          </a:p>
          <a:p>
            <a:pPr marL="360000" indent="-360000">
              <a:spcBef>
                <a:spcPts val="600"/>
              </a:spcBef>
              <a:spcAft>
                <a:spcPts val="1200"/>
              </a:spcAft>
            </a:pPr>
            <a:r>
              <a:rPr lang="en-US" sz="2000" dirty="0" smtClean="0">
                <a:latin typeface="Helvetica" pitchFamily="34" charset="0"/>
              </a:rPr>
              <a:t>Managers and/or supervisors</a:t>
            </a:r>
          </a:p>
          <a:p>
            <a:pPr marL="360000" indent="-360000">
              <a:spcBef>
                <a:spcPts val="600"/>
              </a:spcBef>
              <a:spcAft>
                <a:spcPts val="1200"/>
              </a:spcAft>
            </a:pPr>
            <a:r>
              <a:rPr lang="en-US" sz="2000" dirty="0" smtClean="0">
                <a:latin typeface="Helvetica" pitchFamily="34" charset="0"/>
              </a:rPr>
              <a:t>Retail sales staff</a:t>
            </a:r>
          </a:p>
          <a:p>
            <a:pPr marL="360000" indent="-360000">
              <a:spcBef>
                <a:spcPts val="600"/>
              </a:spcBef>
              <a:spcAft>
                <a:spcPts val="1200"/>
              </a:spcAft>
            </a:pPr>
            <a:r>
              <a:rPr lang="en-US" sz="2000" dirty="0" smtClean="0">
                <a:latin typeface="Helvetica" pitchFamily="34" charset="0"/>
              </a:rPr>
              <a:t>Travel consultants</a:t>
            </a:r>
          </a:p>
          <a:p>
            <a:pPr marL="360000" indent="-360000">
              <a:spcBef>
                <a:spcPts val="600"/>
              </a:spcBef>
              <a:spcAft>
                <a:spcPts val="1200"/>
              </a:spcAft>
            </a:pPr>
            <a:r>
              <a:rPr lang="en-US" sz="2000" dirty="0" smtClean="0">
                <a:latin typeface="Helvetica" pitchFamily="34" charset="0"/>
              </a:rPr>
              <a:t>Accounting staff</a:t>
            </a:r>
          </a:p>
          <a:p>
            <a:pPr marL="360000" indent="-360000">
              <a:spcBef>
                <a:spcPts val="600"/>
              </a:spcBef>
              <a:spcAft>
                <a:spcPts val="1200"/>
              </a:spcAft>
            </a:pPr>
            <a:r>
              <a:rPr lang="en-US" sz="2000" dirty="0" smtClean="0">
                <a:latin typeface="Helvetica" pitchFamily="34" charset="0"/>
              </a:rPr>
              <a:t>Security staff/guards</a:t>
            </a:r>
          </a:p>
          <a:p>
            <a:pPr marL="360000" indent="-360000">
              <a:spcBef>
                <a:spcPts val="600"/>
              </a:spcBef>
              <a:spcAft>
                <a:spcPts val="1200"/>
              </a:spcAft>
            </a:pPr>
            <a:r>
              <a:rPr lang="en-US" sz="2000" dirty="0" smtClean="0">
                <a:latin typeface="Helvetica" pitchFamily="34" charset="0"/>
              </a:rPr>
              <a:t>Cleaners.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20072" y="1988840"/>
            <a:ext cx="2040000" cy="30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external theft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572000" y="1556793"/>
            <a:ext cx="3507160" cy="864096"/>
          </a:xfrm>
          <a:ln>
            <a:solidFill>
              <a:srgbClr val="FF6600"/>
            </a:solidFill>
          </a:ln>
        </p:spPr>
        <p:txBody>
          <a:bodyPr>
            <a:normAutofit fontScale="77500" lnSpcReduction="20000"/>
          </a:bodyPr>
          <a:lstStyle/>
          <a:p>
            <a:pPr marL="0" indent="0" algn="ctr">
              <a:spcBef>
                <a:spcPts val="600"/>
              </a:spcBef>
              <a:spcAft>
                <a:spcPts val="1200"/>
              </a:spcAft>
              <a:buNone/>
            </a:pPr>
            <a:r>
              <a:rPr lang="en-US" sz="2600" dirty="0" smtClean="0">
                <a:latin typeface="Helvetica" pitchFamily="34" charset="0"/>
              </a:rPr>
              <a:t>External theft = stealing by those from outside the business.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1331640" y="1772816"/>
            <a:ext cx="2094876" cy="306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external theft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Theft opportunities for external thieves include:</a:t>
            </a:r>
          </a:p>
          <a:p>
            <a:pPr marL="360000" indent="-360000">
              <a:spcBef>
                <a:spcPts val="600"/>
              </a:spcBef>
              <a:spcAft>
                <a:spcPts val="1200"/>
              </a:spcAft>
            </a:pPr>
            <a:r>
              <a:rPr lang="en-US" sz="2200" dirty="0" smtClean="0">
                <a:latin typeface="Helvetica" pitchFamily="34" charset="0"/>
              </a:rPr>
              <a:t>Cash</a:t>
            </a:r>
          </a:p>
          <a:p>
            <a:pPr marL="360000" indent="-360000">
              <a:spcBef>
                <a:spcPts val="600"/>
              </a:spcBef>
              <a:spcAft>
                <a:spcPts val="1200"/>
              </a:spcAft>
            </a:pPr>
            <a:r>
              <a:rPr lang="en-US" sz="2200" dirty="0" smtClean="0">
                <a:latin typeface="Helvetica" pitchFamily="34" charset="0"/>
              </a:rPr>
              <a:t>Tickets</a:t>
            </a:r>
          </a:p>
          <a:p>
            <a:pPr marL="360000" indent="-360000">
              <a:spcBef>
                <a:spcPts val="600"/>
              </a:spcBef>
              <a:spcAft>
                <a:spcPts val="1200"/>
              </a:spcAft>
            </a:pPr>
            <a:r>
              <a:rPr lang="en-US" sz="2200" dirty="0" smtClean="0">
                <a:latin typeface="Helvetica" pitchFamily="34" charset="0"/>
              </a:rPr>
              <a:t>Vouchers/coupons</a:t>
            </a:r>
          </a:p>
          <a:p>
            <a:pPr marL="360000" indent="-360000">
              <a:spcBef>
                <a:spcPts val="600"/>
              </a:spcBef>
              <a:spcAft>
                <a:spcPts val="1200"/>
              </a:spcAft>
            </a:pPr>
            <a:r>
              <a:rPr lang="en-US" sz="2200" dirty="0" smtClean="0">
                <a:latin typeface="Helvetica" pitchFamily="34" charset="0"/>
              </a:rPr>
              <a:t>Assets – fixtures and fittings, information and business data, stock, food and beverages,  promotional items, merchandise.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92080" y="2492896"/>
            <a:ext cx="3261514"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external theft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Points to note - external thieves may:</a:t>
            </a:r>
          </a:p>
          <a:p>
            <a:pPr marL="360000" indent="-360000">
              <a:spcBef>
                <a:spcPts val="600"/>
              </a:spcBef>
              <a:spcAft>
                <a:spcPts val="1200"/>
              </a:spcAft>
            </a:pPr>
            <a:r>
              <a:rPr lang="en-US" sz="2200" dirty="0" smtClean="0">
                <a:latin typeface="Helvetica" pitchFamily="34" charset="0"/>
              </a:rPr>
              <a:t>Be more opportunistic</a:t>
            </a:r>
          </a:p>
          <a:p>
            <a:pPr marL="360000" indent="-360000">
              <a:spcBef>
                <a:spcPts val="600"/>
              </a:spcBef>
              <a:spcAft>
                <a:spcPts val="1200"/>
              </a:spcAft>
            </a:pPr>
            <a:r>
              <a:rPr lang="en-US" sz="2200" dirty="0" smtClean="0">
                <a:latin typeface="Helvetica" pitchFamily="34" charset="0"/>
              </a:rPr>
              <a:t>Take things ‘on impulse’</a:t>
            </a:r>
          </a:p>
          <a:p>
            <a:pPr marL="360000" indent="-360000">
              <a:spcBef>
                <a:spcPts val="600"/>
              </a:spcBef>
              <a:spcAft>
                <a:spcPts val="1200"/>
              </a:spcAft>
            </a:pPr>
            <a:r>
              <a:rPr lang="en-US" sz="2200" dirty="0" smtClean="0">
                <a:latin typeface="Helvetica" pitchFamily="34" charset="0"/>
              </a:rPr>
              <a:t>Steal items to ‘convert’ to cash</a:t>
            </a:r>
          </a:p>
          <a:p>
            <a:pPr marL="360000" indent="-360000">
              <a:spcBef>
                <a:spcPts val="600"/>
              </a:spcBef>
              <a:spcAft>
                <a:spcPts val="1200"/>
              </a:spcAft>
            </a:pPr>
            <a:r>
              <a:rPr lang="en-US" sz="2200" dirty="0" smtClean="0">
                <a:latin typeface="Helvetica" pitchFamily="34" charset="0"/>
              </a:rPr>
              <a:t>Steal things they may not even be able to use or sell</a:t>
            </a:r>
          </a:p>
          <a:p>
            <a:pPr marL="360000" indent="-360000">
              <a:spcBef>
                <a:spcPts val="600"/>
              </a:spcBef>
              <a:spcAft>
                <a:spcPts val="1200"/>
              </a:spcAft>
            </a:pPr>
            <a:r>
              <a:rPr lang="en-US" sz="2200" dirty="0" smtClean="0">
                <a:latin typeface="Helvetica" pitchFamily="34" charset="0"/>
              </a:rPr>
              <a:t>Take low-value items/amounts of cash.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860032" y="1988840"/>
            <a:ext cx="2295000" cy="306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personnel who may be involved in external theft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External thieves may include:</a:t>
            </a:r>
          </a:p>
          <a:p>
            <a:pPr marL="360000" indent="-360000">
              <a:spcBef>
                <a:spcPts val="600"/>
              </a:spcBef>
              <a:spcAft>
                <a:spcPts val="1200"/>
              </a:spcAft>
            </a:pPr>
            <a:r>
              <a:rPr lang="en-US" sz="2200" dirty="0" smtClean="0">
                <a:latin typeface="Helvetica" pitchFamily="34" charset="0"/>
              </a:rPr>
              <a:t>Customers</a:t>
            </a:r>
          </a:p>
          <a:p>
            <a:pPr marL="360000" indent="-360000">
              <a:spcBef>
                <a:spcPts val="600"/>
              </a:spcBef>
              <a:spcAft>
                <a:spcPts val="1200"/>
              </a:spcAft>
            </a:pPr>
            <a:r>
              <a:rPr lang="en-US" sz="2200" dirty="0" smtClean="0">
                <a:latin typeface="Helvetica" pitchFamily="34" charset="0"/>
              </a:rPr>
              <a:t>Friends and family of customers</a:t>
            </a:r>
          </a:p>
          <a:p>
            <a:pPr marL="360000" indent="-360000">
              <a:spcBef>
                <a:spcPts val="600"/>
              </a:spcBef>
              <a:spcAft>
                <a:spcPts val="1200"/>
              </a:spcAft>
            </a:pPr>
            <a:r>
              <a:rPr lang="en-US" sz="2200" dirty="0" smtClean="0">
                <a:latin typeface="Helvetica" pitchFamily="34" charset="0"/>
              </a:rPr>
              <a:t>Sales representatives</a:t>
            </a:r>
          </a:p>
          <a:p>
            <a:pPr marL="360000" indent="-360000">
              <a:spcBef>
                <a:spcPts val="600"/>
              </a:spcBef>
              <a:spcAft>
                <a:spcPts val="1200"/>
              </a:spcAft>
            </a:pPr>
            <a:r>
              <a:rPr lang="en-US" sz="2200" dirty="0" smtClean="0">
                <a:latin typeface="Helvetica" pitchFamily="34" charset="0"/>
              </a:rPr>
              <a:t>Contractors</a:t>
            </a:r>
          </a:p>
          <a:p>
            <a:pPr marL="360000" indent="-360000">
              <a:spcBef>
                <a:spcPts val="600"/>
              </a:spcBef>
              <a:spcAft>
                <a:spcPts val="1200"/>
              </a:spcAft>
            </a:pPr>
            <a:r>
              <a:rPr lang="en-US" sz="2200" dirty="0" smtClean="0">
                <a:latin typeface="Helvetica" pitchFamily="34" charset="0"/>
              </a:rPr>
              <a:t>Suppliers and vendors – delivery drivers, staff who supply stock.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572000" y="1844824"/>
            <a:ext cx="2039805" cy="306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on tour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‘On tour’ is a tour where you lead/guide a tour.</a:t>
            </a:r>
          </a:p>
          <a:p>
            <a:pPr marL="0" indent="0">
              <a:spcBef>
                <a:spcPts val="600"/>
              </a:spcBef>
              <a:spcAft>
                <a:spcPts val="1200"/>
              </a:spcAft>
              <a:buNone/>
            </a:pPr>
            <a:r>
              <a:rPr lang="en-US" sz="2000" dirty="0" smtClean="0">
                <a:latin typeface="Helvetica" pitchFamily="34" charset="0"/>
              </a:rPr>
              <a:t>The trip/tour may be:</a:t>
            </a:r>
          </a:p>
          <a:p>
            <a:pPr marL="360000" indent="-360000">
              <a:spcBef>
                <a:spcPts val="600"/>
              </a:spcBef>
              <a:spcAft>
                <a:spcPts val="1200"/>
              </a:spcAft>
            </a:pPr>
            <a:r>
              <a:rPr lang="en-US" sz="2000" dirty="0" smtClean="0">
                <a:latin typeface="Helvetica" pitchFamily="34" charset="0"/>
              </a:rPr>
              <a:t>Walking or vehicle-based</a:t>
            </a:r>
          </a:p>
          <a:p>
            <a:pPr marL="360000" indent="-360000">
              <a:spcBef>
                <a:spcPts val="600"/>
              </a:spcBef>
              <a:spcAft>
                <a:spcPts val="1200"/>
              </a:spcAft>
            </a:pPr>
            <a:r>
              <a:rPr lang="en-US" sz="2000" dirty="0" smtClean="0">
                <a:latin typeface="Helvetica" pitchFamily="34" charset="0"/>
              </a:rPr>
              <a:t>Short or long duration</a:t>
            </a:r>
          </a:p>
          <a:p>
            <a:pPr marL="360000" indent="-360000">
              <a:spcBef>
                <a:spcPts val="600"/>
              </a:spcBef>
              <a:spcAft>
                <a:spcPts val="1200"/>
              </a:spcAft>
            </a:pPr>
            <a:r>
              <a:rPr lang="en-US" sz="2000" dirty="0" smtClean="0">
                <a:latin typeface="Helvetica" pitchFamily="34" charset="0"/>
              </a:rPr>
              <a:t>Feature venue-based or tented accommodation</a:t>
            </a:r>
          </a:p>
          <a:p>
            <a:pPr marL="360000" indent="-360000">
              <a:spcBef>
                <a:spcPts val="600"/>
              </a:spcBef>
              <a:spcAft>
                <a:spcPts val="1200"/>
              </a:spcAft>
            </a:pPr>
            <a:r>
              <a:rPr lang="en-US" sz="2000" dirty="0" smtClean="0">
                <a:latin typeface="Helvetica" pitchFamily="34" charset="0"/>
              </a:rPr>
              <a:t>Visit local or distant locations.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43878" y="1988840"/>
            <a:ext cx="3238678"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on tour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‘On tour’ threats may include:</a:t>
            </a:r>
          </a:p>
          <a:p>
            <a:pPr marL="360000" indent="-360000">
              <a:spcBef>
                <a:spcPts val="600"/>
              </a:spcBef>
              <a:spcAft>
                <a:spcPts val="1200"/>
              </a:spcAft>
            </a:pPr>
            <a:r>
              <a:rPr lang="en-US" sz="2200" dirty="0" smtClean="0">
                <a:latin typeface="Helvetica" pitchFamily="34" charset="0"/>
              </a:rPr>
              <a:t>Theft of organisational assets – food and beverages, goods and equipment, vehicles, camping equipment, vouchers and tickets, petty cash</a:t>
            </a:r>
          </a:p>
          <a:p>
            <a:pPr marL="360000" indent="-360000">
              <a:spcBef>
                <a:spcPts val="600"/>
              </a:spcBef>
              <a:spcAft>
                <a:spcPts val="1200"/>
              </a:spcAft>
            </a:pPr>
            <a:r>
              <a:rPr lang="en-US" sz="2200" dirty="0" smtClean="0">
                <a:latin typeface="Helvetica" pitchFamily="34" charset="0"/>
              </a:rPr>
              <a:t>Theft of client belongings – cash, valuables, documentation, credit cards.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508104" y="270892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on tour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Tourist guides need to:</a:t>
            </a:r>
          </a:p>
          <a:p>
            <a:pPr marL="360000" indent="-360000">
              <a:spcBef>
                <a:spcPts val="600"/>
              </a:spcBef>
              <a:spcAft>
                <a:spcPts val="1200"/>
              </a:spcAft>
            </a:pPr>
            <a:r>
              <a:rPr lang="en-US" sz="2200" dirty="0" smtClean="0">
                <a:latin typeface="Helvetica" pitchFamily="34" charset="0"/>
              </a:rPr>
              <a:t>Expect the risks</a:t>
            </a:r>
          </a:p>
          <a:p>
            <a:pPr marL="360000" indent="-360000">
              <a:spcBef>
                <a:spcPts val="600"/>
              </a:spcBef>
              <a:spcAft>
                <a:spcPts val="1200"/>
              </a:spcAft>
            </a:pPr>
            <a:r>
              <a:rPr lang="en-US" sz="2200" dirty="0" smtClean="0">
                <a:latin typeface="Helvetica" pitchFamily="34" charset="0"/>
              </a:rPr>
              <a:t>Realise employers have protocols to follow if events occur</a:t>
            </a:r>
          </a:p>
          <a:p>
            <a:pPr marL="360000" indent="-360000">
              <a:spcBef>
                <a:spcPts val="600"/>
              </a:spcBef>
              <a:spcAft>
                <a:spcPts val="1200"/>
              </a:spcAft>
            </a:pPr>
            <a:r>
              <a:rPr lang="en-US" sz="2200" dirty="0" smtClean="0">
                <a:latin typeface="Helvetica" pitchFamily="34" charset="0"/>
              </a:rPr>
              <a:t>Give advice to tour group members about risks</a:t>
            </a:r>
          </a:p>
          <a:p>
            <a:pPr marL="360000" indent="-360000">
              <a:spcBef>
                <a:spcPts val="600"/>
              </a:spcBef>
              <a:spcAft>
                <a:spcPts val="1200"/>
              </a:spcAft>
            </a:pPr>
            <a:r>
              <a:rPr lang="en-US" sz="2200" dirty="0" smtClean="0">
                <a:latin typeface="Helvetica" pitchFamily="34" charset="0"/>
              </a:rPr>
              <a:t>Highlight insecure/unsafe areas</a:t>
            </a:r>
          </a:p>
          <a:p>
            <a:pPr marL="360000" indent="-360000">
              <a:spcBef>
                <a:spcPts val="600"/>
              </a:spcBef>
              <a:spcAft>
                <a:spcPts val="1200"/>
              </a:spcAft>
            </a:pPr>
            <a:r>
              <a:rPr lang="en-US" sz="2200" dirty="0" smtClean="0">
                <a:latin typeface="Helvetica" pitchFamily="34" charset="0"/>
              </a:rPr>
              <a:t>Explain company responses.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345360" y="1844824"/>
            <a:ext cx="2858550" cy="306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Aft>
                <a:spcPts val="1200"/>
              </a:spcAft>
              <a:buNone/>
            </a:pPr>
            <a:r>
              <a:rPr lang="en-AU" sz="2200" dirty="0" smtClean="0">
                <a:latin typeface="Helvetica" pitchFamily="34" charset="0"/>
              </a:rPr>
              <a:t>When defining the thefts risks facing the organisation</a:t>
            </a:r>
            <a:r>
              <a:rPr lang="en-US" sz="2200" dirty="0" smtClean="0">
                <a:latin typeface="Helvetica" pitchFamily="34" charset="0"/>
              </a:rPr>
              <a:t>:</a:t>
            </a:r>
          </a:p>
          <a:p>
            <a:r>
              <a:rPr lang="en-AU" sz="2200" dirty="0" smtClean="0">
                <a:latin typeface="Helvetica" pitchFamily="34" charset="0"/>
              </a:rPr>
              <a:t>Appreciate the wide range of people who are potential thieves</a:t>
            </a:r>
            <a:endParaRPr lang="en-AU" sz="2400" dirty="0" smtClean="0"/>
          </a:p>
          <a:p>
            <a:r>
              <a:rPr lang="en-AU" sz="2200" dirty="0" smtClean="0">
                <a:latin typeface="Helvetica" pitchFamily="34" charset="0"/>
              </a:rPr>
              <a:t>Recognise those external to the business who pose a potential external theft risk</a:t>
            </a:r>
            <a:endParaRPr lang="en-AU" sz="2400" dirty="0" smtClean="0"/>
          </a:p>
          <a:p>
            <a:r>
              <a:rPr lang="en-AU" sz="2200" dirty="0" smtClean="0">
                <a:latin typeface="Helvetica" pitchFamily="34" charset="0"/>
              </a:rPr>
              <a:t>Identify items likely to be attractive to thieves</a:t>
            </a:r>
            <a:endParaRPr lang="en-US" sz="22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92080" y="1988840"/>
            <a:ext cx="1968136" cy="30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Understand there is no standard profile for internal or external thieves – they can be literally anyone</a:t>
            </a:r>
          </a:p>
          <a:p>
            <a:r>
              <a:rPr lang="en-AU" sz="2000" dirty="0" smtClean="0">
                <a:latin typeface="Helvetica" pitchFamily="34" charset="0"/>
              </a:rPr>
              <a:t>Accept some businesses will have their own thoughts (often based on personal/previous experience) about who thieves may be</a:t>
            </a:r>
            <a:endParaRPr lang="en-US" sz="20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716016" y="1844824"/>
            <a:ext cx="2612475" cy="306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Realise some people will steal anything, regardless of its actual value</a:t>
            </a:r>
          </a:p>
          <a:p>
            <a:r>
              <a:rPr lang="en-AU" sz="2000" dirty="0" smtClean="0">
                <a:latin typeface="Helvetica" pitchFamily="34" charset="0"/>
              </a:rPr>
              <a:t>Theft threats while ‘on tour’ are different to the theft risks present in a retail travel/tour office-based business situation.</a:t>
            </a:r>
            <a:endParaRPr lang="en-US" sz="20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20072" y="1844824"/>
            <a:ext cx="1993371" cy="306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 Establish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752528" cy="4608512"/>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lnSpc>
                <a:spcPct val="110000"/>
              </a:lnSpc>
              <a:spcBef>
                <a:spcPts val="600"/>
              </a:spcBef>
              <a:spcAft>
                <a:spcPts val="600"/>
              </a:spcAft>
            </a:pPr>
            <a:r>
              <a:rPr lang="en-US" sz="2200" dirty="0" smtClean="0">
                <a:latin typeface="Helvetica" pitchFamily="34" charset="0"/>
              </a:rPr>
              <a:t>Research information relating to theft minimisation</a:t>
            </a:r>
          </a:p>
          <a:p>
            <a:pPr marL="360000" indent="-360000">
              <a:lnSpc>
                <a:spcPct val="110000"/>
              </a:lnSpc>
              <a:spcBef>
                <a:spcPts val="600"/>
              </a:spcBef>
              <a:spcAft>
                <a:spcPts val="600"/>
              </a:spcAft>
            </a:pPr>
            <a:r>
              <a:rPr lang="en-US" sz="2200" dirty="0" smtClean="0">
                <a:latin typeface="Helvetica" pitchFamily="34" charset="0"/>
              </a:rPr>
              <a:t>Review existing theft minimisation protocols</a:t>
            </a:r>
          </a:p>
          <a:p>
            <a:pPr marL="360000" indent="-360000">
              <a:lnSpc>
                <a:spcPct val="110000"/>
              </a:lnSpc>
              <a:spcBef>
                <a:spcPts val="600"/>
              </a:spcBef>
              <a:spcAft>
                <a:spcPts val="600"/>
              </a:spcAft>
            </a:pPr>
            <a:r>
              <a:rPr lang="en-US" sz="2200" dirty="0" smtClean="0">
                <a:latin typeface="Helvetica" pitchFamily="34" charset="0"/>
              </a:rPr>
              <a:t>Identify security systems and equipment to assist with identified theft minimisation needs</a:t>
            </a:r>
          </a:p>
          <a:p>
            <a:pPr marL="360000" indent="-360000">
              <a:lnSpc>
                <a:spcPct val="110000"/>
              </a:lnSpc>
              <a:spcBef>
                <a:spcPts val="600"/>
              </a:spcBef>
              <a:spcAft>
                <a:spcPts val="600"/>
              </a:spcAft>
            </a:pPr>
            <a:r>
              <a:rPr lang="en-US" sz="2200" dirty="0" smtClean="0">
                <a:latin typeface="Helvetica" pitchFamily="34" charset="0"/>
              </a:rPr>
              <a:t>Generate organisational theft policy</a:t>
            </a:r>
          </a:p>
          <a:p>
            <a:pPr marL="360000" indent="-360000">
              <a:lnSpc>
                <a:spcPct val="110000"/>
              </a:lnSpc>
              <a:spcBef>
                <a:spcPts val="600"/>
              </a:spcBef>
              <a:spcAft>
                <a:spcPts val="600"/>
              </a:spcAft>
            </a:pPr>
            <a:r>
              <a:rPr lang="en-US" sz="2200" dirty="0" smtClean="0">
                <a:latin typeface="Helvetica" pitchFamily="34" charset="0"/>
              </a:rPr>
              <a:t>Prepare theft minimisation procedures</a:t>
            </a:r>
          </a:p>
          <a:p>
            <a:pPr marL="360000" indent="-360000">
              <a:spcBef>
                <a:spcPts val="600"/>
              </a:spcBef>
              <a:spcAft>
                <a:spcPts val="1200"/>
              </a:spcAft>
              <a:buNone/>
            </a:pPr>
            <a:r>
              <a:rPr lang="en-US" sz="1400"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148064" y="2019282"/>
            <a:ext cx="2200596" cy="306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 Establish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Ensure compliance with imposed requirements</a:t>
            </a:r>
          </a:p>
          <a:p>
            <a:pPr marL="360000" indent="-360000">
              <a:spcBef>
                <a:spcPts val="600"/>
              </a:spcBef>
              <a:spcAft>
                <a:spcPts val="1200"/>
              </a:spcAft>
            </a:pPr>
            <a:r>
              <a:rPr lang="en-US" sz="2000" dirty="0" smtClean="0">
                <a:latin typeface="Helvetica" pitchFamily="34" charset="0"/>
              </a:rPr>
              <a:t>Produce documentation to support theft minimisation  protocols</a:t>
            </a:r>
          </a:p>
          <a:p>
            <a:pPr marL="360000" indent="-360000">
              <a:spcBef>
                <a:spcPts val="600"/>
              </a:spcBef>
              <a:spcAft>
                <a:spcPts val="1200"/>
              </a:spcAft>
            </a:pPr>
            <a:r>
              <a:rPr lang="en-US" sz="2000" dirty="0" smtClean="0">
                <a:latin typeface="Helvetica" pitchFamily="34" charset="0"/>
              </a:rPr>
              <a:t>Trial and revise theft minimisation  protocols</a:t>
            </a:r>
          </a:p>
          <a:p>
            <a:pPr marL="360000" indent="-360000">
              <a:spcBef>
                <a:spcPts val="600"/>
              </a:spcBef>
              <a:spcAft>
                <a:spcPts val="1200"/>
              </a:spcAft>
            </a:pPr>
            <a:r>
              <a:rPr lang="en-US" sz="2000" dirty="0" smtClean="0">
                <a:latin typeface="Helvetica" pitchFamily="34" charset="0"/>
              </a:rPr>
              <a:t>Communicate theft minimisation  protocols and requirements to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92080" y="2132856"/>
            <a:ext cx="2211182" cy="3060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information relating to theft minimisation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888432" cy="4093915"/>
          </a:xfrm>
        </p:spPr>
        <p:txBody>
          <a:bodyPr>
            <a:normAutofit/>
          </a:bodyPr>
          <a:lstStyle/>
          <a:p>
            <a:pPr marL="0" indent="0">
              <a:spcBef>
                <a:spcPts val="600"/>
              </a:spcBef>
              <a:spcAft>
                <a:spcPts val="1200"/>
              </a:spcAft>
              <a:buNone/>
            </a:pPr>
            <a:r>
              <a:rPr lang="en-US" sz="2000" dirty="0" smtClean="0">
                <a:latin typeface="Helvetica" pitchFamily="34" charset="0"/>
              </a:rPr>
              <a:t>Research options:</a:t>
            </a:r>
          </a:p>
          <a:p>
            <a:pPr marL="360000" indent="-360000">
              <a:spcBef>
                <a:spcPts val="600"/>
              </a:spcBef>
              <a:spcAft>
                <a:spcPts val="1200"/>
              </a:spcAft>
            </a:pPr>
            <a:r>
              <a:rPr lang="en-US" sz="2000" dirty="0" smtClean="0">
                <a:latin typeface="Helvetica" pitchFamily="34" charset="0"/>
              </a:rPr>
              <a:t>Researching online:</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Industry websites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Key word searches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Relevant articles and blogs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73400" y="1988840"/>
            <a:ext cx="2880000"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information relating to theft minimisation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Networking:</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Industry groups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Industry publications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Events, seminars and conferences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Meetings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13483" y="1990209"/>
            <a:ext cx="3240000"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information relating to theft minimisation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Engaging external professional organisations</a:t>
            </a:r>
          </a:p>
          <a:p>
            <a:pPr marL="360000" indent="-360000">
              <a:spcBef>
                <a:spcPts val="600"/>
              </a:spcBef>
              <a:spcAft>
                <a:spcPts val="1200"/>
              </a:spcAft>
            </a:pPr>
            <a:r>
              <a:rPr lang="en-US" sz="2000" dirty="0" smtClean="0">
                <a:latin typeface="Helvetica" pitchFamily="34" charset="0"/>
              </a:rPr>
              <a:t>Reviewing and analysing the workplace</a:t>
            </a:r>
          </a:p>
          <a:p>
            <a:pPr marL="360000" indent="-360000">
              <a:spcBef>
                <a:spcPts val="600"/>
              </a:spcBef>
              <a:spcAft>
                <a:spcPts val="1200"/>
              </a:spcAft>
            </a:pPr>
            <a:r>
              <a:rPr lang="en-US" sz="2000" dirty="0" smtClean="0">
                <a:latin typeface="Helvetica" pitchFamily="34" charset="0"/>
              </a:rPr>
              <a:t>Contacting local police for advice.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92080" y="1961136"/>
            <a:ext cx="2129760" cy="3060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existing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Reasons to review existing protocols:</a:t>
            </a:r>
          </a:p>
          <a:p>
            <a:pPr marL="360000" indent="-360000">
              <a:spcBef>
                <a:spcPts val="600"/>
              </a:spcBef>
              <a:spcAft>
                <a:spcPts val="1200"/>
              </a:spcAft>
            </a:pPr>
            <a:r>
              <a:rPr lang="en-US" sz="2200" dirty="0" smtClean="0">
                <a:latin typeface="Helvetica" pitchFamily="34" charset="0"/>
              </a:rPr>
              <a:t>To know what is in place already – why it was introduced, when, and what it involves</a:t>
            </a:r>
          </a:p>
          <a:p>
            <a:pPr marL="360000" indent="-360000">
              <a:spcBef>
                <a:spcPts val="600"/>
              </a:spcBef>
              <a:spcAft>
                <a:spcPts val="1200"/>
              </a:spcAft>
            </a:pPr>
            <a:r>
              <a:rPr lang="en-US" sz="2200" dirty="0" smtClean="0">
                <a:latin typeface="Helvetica" pitchFamily="34" charset="0"/>
              </a:rPr>
              <a:t>To gain awareness of the roles of others in relation to theft</a:t>
            </a:r>
          </a:p>
          <a:p>
            <a:pPr marL="360000" indent="-360000">
              <a:spcBef>
                <a:spcPts val="600"/>
              </a:spcBef>
              <a:spcAft>
                <a:spcPts val="1200"/>
              </a:spcAft>
            </a:pPr>
            <a:r>
              <a:rPr lang="en-US" sz="2200" dirty="0" smtClean="0">
                <a:latin typeface="Helvetica" pitchFamily="34" charset="0"/>
              </a:rPr>
              <a:t>To determine if what exists is effective or not.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92080" y="1988840"/>
            <a:ext cx="2040000" cy="30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existing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Main steps in the review process:</a:t>
            </a:r>
          </a:p>
          <a:p>
            <a:pPr marL="360000" indent="-360000">
              <a:spcBef>
                <a:spcPts val="600"/>
              </a:spcBef>
              <a:spcAft>
                <a:spcPts val="1200"/>
              </a:spcAft>
            </a:pPr>
            <a:r>
              <a:rPr lang="en-US" sz="2000" dirty="0" smtClean="0">
                <a:latin typeface="Helvetica" pitchFamily="34" charset="0"/>
              </a:rPr>
              <a:t>Obtaining, reading and analysing relevant documents</a:t>
            </a:r>
          </a:p>
          <a:p>
            <a:pPr marL="360000" indent="-360000">
              <a:spcBef>
                <a:spcPts val="600"/>
              </a:spcBef>
              <a:spcAft>
                <a:spcPts val="1200"/>
              </a:spcAft>
            </a:pPr>
            <a:r>
              <a:rPr lang="en-US" sz="2000" dirty="0" smtClean="0">
                <a:latin typeface="Helvetica" pitchFamily="34" charset="0"/>
              </a:rPr>
              <a:t>Speaking with relevant people</a:t>
            </a:r>
          </a:p>
          <a:p>
            <a:pPr marL="360000" indent="-360000">
              <a:spcBef>
                <a:spcPts val="600"/>
              </a:spcBef>
              <a:spcAft>
                <a:spcPts val="1200"/>
              </a:spcAft>
            </a:pPr>
            <a:r>
              <a:rPr lang="en-US" sz="2000" dirty="0" smtClean="0">
                <a:latin typeface="Helvetica" pitchFamily="34" charset="0"/>
              </a:rPr>
              <a:t>Determining topics/issues which emerge.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078288" y="2541801"/>
            <a:ext cx="2383474" cy="3060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security systems and equipment to assist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The ‘3D Approach’:</a:t>
            </a:r>
          </a:p>
          <a:p>
            <a:pPr marL="360000" indent="-360000">
              <a:spcBef>
                <a:spcPts val="600"/>
              </a:spcBef>
              <a:spcAft>
                <a:spcPts val="1200"/>
              </a:spcAft>
            </a:pPr>
            <a:r>
              <a:rPr lang="en-US" sz="2000" dirty="0" smtClean="0">
                <a:latin typeface="Helvetica" pitchFamily="34" charset="0"/>
              </a:rPr>
              <a:t>Deter</a:t>
            </a:r>
          </a:p>
          <a:p>
            <a:pPr marL="360000" indent="-360000">
              <a:spcBef>
                <a:spcPts val="600"/>
              </a:spcBef>
              <a:spcAft>
                <a:spcPts val="1200"/>
              </a:spcAft>
            </a:pPr>
            <a:r>
              <a:rPr lang="en-US" sz="2000" dirty="0" smtClean="0">
                <a:latin typeface="Helvetica" pitchFamily="34" charset="0"/>
              </a:rPr>
              <a:t>Deny</a:t>
            </a:r>
          </a:p>
          <a:p>
            <a:pPr marL="360000" indent="-360000">
              <a:spcBef>
                <a:spcPts val="600"/>
              </a:spcBef>
              <a:spcAft>
                <a:spcPts val="1200"/>
              </a:spcAft>
            </a:pPr>
            <a:r>
              <a:rPr lang="en-US" sz="2000" dirty="0" smtClean="0">
                <a:latin typeface="Helvetica" pitchFamily="34" charset="0"/>
              </a:rPr>
              <a:t>Delay.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graphicFrame>
        <p:nvGraphicFramePr>
          <p:cNvPr id="5" name="Diagram 4"/>
          <p:cNvGraphicFramePr/>
          <p:nvPr>
            <p:extLst>
              <p:ext uri="{D42A27DB-BD31-4B8C-83A1-F6EECF244321}">
                <p14:modId xmlns="" xmlns:p14="http://schemas.microsoft.com/office/powerpoint/2010/main" val="3565113263"/>
              </p:ext>
            </p:extLst>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security systems and equipment to assist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High levels of service are an excellent theft minimisation practice:</a:t>
            </a:r>
          </a:p>
          <a:p>
            <a:pPr marL="360000" indent="-360000">
              <a:spcBef>
                <a:spcPts val="600"/>
              </a:spcBef>
              <a:spcAft>
                <a:spcPts val="1200"/>
              </a:spcAft>
            </a:pPr>
            <a:r>
              <a:rPr lang="en-US" sz="2000" dirty="0" smtClean="0">
                <a:latin typeface="Helvetica" pitchFamily="34" charset="0"/>
              </a:rPr>
              <a:t>Interacting with customers means they know they have been seen/noticed</a:t>
            </a:r>
          </a:p>
          <a:p>
            <a:pPr marL="360000" indent="-360000">
              <a:spcBef>
                <a:spcPts val="600"/>
              </a:spcBef>
              <a:spcAft>
                <a:spcPts val="1200"/>
              </a:spcAft>
            </a:pPr>
            <a:r>
              <a:rPr lang="en-US" sz="2000" dirty="0" smtClean="0">
                <a:latin typeface="Helvetica" pitchFamily="34" charset="0"/>
              </a:rPr>
              <a:t>Talking with people and making eye contact is good service and a good deterrent.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20072" y="1988840"/>
            <a:ext cx="2156635" cy="3060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security systems and equipment to assist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Common ways to deter thieves:</a:t>
            </a:r>
          </a:p>
          <a:p>
            <a:pPr marL="360000" indent="-360000">
              <a:spcBef>
                <a:spcPts val="600"/>
              </a:spcBef>
              <a:spcAft>
                <a:spcPts val="1200"/>
              </a:spcAft>
            </a:pPr>
            <a:r>
              <a:rPr lang="en-US" sz="2000" dirty="0" smtClean="0">
                <a:latin typeface="Helvetica" pitchFamily="34" charset="0"/>
              </a:rPr>
              <a:t>Use security systems and anti-theft devices</a:t>
            </a:r>
          </a:p>
          <a:p>
            <a:pPr marL="360000" indent="-360000">
              <a:spcBef>
                <a:spcPts val="600"/>
              </a:spcBef>
              <a:spcAft>
                <a:spcPts val="1200"/>
              </a:spcAft>
            </a:pPr>
            <a:r>
              <a:rPr lang="en-US" sz="2000" dirty="0" smtClean="0">
                <a:latin typeface="Helvetica" pitchFamily="34" charset="0"/>
              </a:rPr>
              <a:t>Use Static Guards</a:t>
            </a:r>
          </a:p>
          <a:p>
            <a:pPr marL="360000" indent="-360000">
              <a:spcBef>
                <a:spcPts val="600"/>
              </a:spcBef>
              <a:spcAft>
                <a:spcPts val="1200"/>
              </a:spcAft>
            </a:pPr>
            <a:r>
              <a:rPr lang="en-US" sz="2000" dirty="0" smtClean="0">
                <a:latin typeface="Helvetica" pitchFamily="34" charset="0"/>
              </a:rPr>
              <a:t>Take legal action.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32040" y="2060848"/>
            <a:ext cx="3226666"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security systems and equipment to assist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Common ways to deny access:</a:t>
            </a:r>
          </a:p>
          <a:p>
            <a:pPr marL="360000" indent="-360000">
              <a:spcBef>
                <a:spcPts val="600"/>
              </a:spcBef>
              <a:spcAft>
                <a:spcPts val="1200"/>
              </a:spcAft>
            </a:pPr>
            <a:r>
              <a:rPr lang="en-US" sz="2200" dirty="0" smtClean="0">
                <a:latin typeface="Helvetica" pitchFamily="34" charset="0"/>
              </a:rPr>
              <a:t>Display cases with key only access</a:t>
            </a:r>
          </a:p>
          <a:p>
            <a:pPr marL="360000" indent="-360000">
              <a:spcBef>
                <a:spcPts val="600"/>
              </a:spcBef>
              <a:spcAft>
                <a:spcPts val="1200"/>
              </a:spcAft>
            </a:pPr>
            <a:r>
              <a:rPr lang="en-US" sz="2200" dirty="0" smtClean="0">
                <a:latin typeface="Helvetica" pitchFamily="34" charset="0"/>
              </a:rPr>
              <a:t>Ties or wraps attached to items</a:t>
            </a:r>
          </a:p>
          <a:p>
            <a:pPr marL="360000" indent="-360000">
              <a:spcBef>
                <a:spcPts val="600"/>
              </a:spcBef>
              <a:spcAft>
                <a:spcPts val="1200"/>
              </a:spcAft>
            </a:pPr>
            <a:r>
              <a:rPr lang="en-US" sz="2200" dirty="0" smtClean="0">
                <a:latin typeface="Helvetica" pitchFamily="34" charset="0"/>
              </a:rPr>
              <a:t>Chains or ropes to prevent removal</a:t>
            </a:r>
          </a:p>
          <a:p>
            <a:pPr marL="360000" indent="-360000">
              <a:spcBef>
                <a:spcPts val="600"/>
              </a:spcBef>
              <a:spcAft>
                <a:spcPts val="1200"/>
              </a:spcAft>
            </a:pPr>
            <a:r>
              <a:rPr lang="en-US" sz="2200" dirty="0" smtClean="0">
                <a:latin typeface="Helvetica" pitchFamily="34" charset="0"/>
              </a:rPr>
              <a:t>Physical barriers to restrict access.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6" name="Picture 5"/>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644008" y="2060848"/>
            <a:ext cx="4050000" cy="3240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security systems and equipment to assist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Common ways to delay thieves:</a:t>
            </a:r>
          </a:p>
          <a:p>
            <a:pPr marL="360000" indent="-360000">
              <a:spcBef>
                <a:spcPts val="600"/>
              </a:spcBef>
              <a:spcAft>
                <a:spcPts val="1200"/>
              </a:spcAft>
            </a:pPr>
            <a:r>
              <a:rPr lang="en-US" sz="2000" dirty="0" smtClean="0">
                <a:latin typeface="Helvetica" pitchFamily="34" charset="0"/>
              </a:rPr>
              <a:t>Excellent customer service – meaning they are always aware they are being ‘watched’ so they spend longer in the area</a:t>
            </a:r>
          </a:p>
          <a:p>
            <a:pPr marL="360000" indent="-360000">
              <a:spcBef>
                <a:spcPts val="600"/>
              </a:spcBef>
              <a:spcAft>
                <a:spcPts val="1200"/>
              </a:spcAft>
            </a:pPr>
            <a:r>
              <a:rPr lang="en-US" sz="2000" dirty="0" smtClean="0">
                <a:latin typeface="Helvetica" pitchFamily="34" charset="0"/>
              </a:rPr>
              <a:t>Use of safes.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13400" y="2015088"/>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Generate organisational theft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‘Policies’:</a:t>
            </a:r>
          </a:p>
          <a:p>
            <a:pPr marL="360000" indent="-360000">
              <a:spcBef>
                <a:spcPts val="600"/>
              </a:spcBef>
              <a:spcAft>
                <a:spcPts val="1200"/>
              </a:spcAft>
            </a:pPr>
            <a:r>
              <a:rPr lang="en-US" sz="2000" dirty="0" smtClean="0">
                <a:latin typeface="Helvetica" pitchFamily="34" charset="0"/>
              </a:rPr>
              <a:t>Are statements of intent, principle or direction</a:t>
            </a:r>
          </a:p>
          <a:p>
            <a:pPr marL="360000" indent="-360000">
              <a:spcBef>
                <a:spcPts val="600"/>
              </a:spcBef>
              <a:spcAft>
                <a:spcPts val="1200"/>
              </a:spcAft>
            </a:pPr>
            <a:r>
              <a:rPr lang="en-US" sz="2000" dirty="0" smtClean="0">
                <a:latin typeface="Helvetica" pitchFamily="34" charset="0"/>
              </a:rPr>
              <a:t>Set the scene for action</a:t>
            </a:r>
          </a:p>
          <a:p>
            <a:pPr marL="360000" indent="-360000">
              <a:spcBef>
                <a:spcPts val="600"/>
              </a:spcBef>
              <a:spcAft>
                <a:spcPts val="1200"/>
              </a:spcAft>
            </a:pPr>
            <a:r>
              <a:rPr lang="en-US" sz="2000" dirty="0" smtClean="0">
                <a:latin typeface="Helvetica" pitchFamily="34" charset="0"/>
              </a:rPr>
              <a:t>Are the rules of the business</a:t>
            </a:r>
          </a:p>
          <a:p>
            <a:pPr marL="360000" indent="-360000">
              <a:spcBef>
                <a:spcPts val="600"/>
              </a:spcBef>
              <a:spcAft>
                <a:spcPts val="1200"/>
              </a:spcAft>
            </a:pPr>
            <a:r>
              <a:rPr lang="en-US" sz="2000" dirty="0" smtClean="0">
                <a:latin typeface="Helvetica" pitchFamily="34" charset="0"/>
              </a:rPr>
              <a:t>Allow the organisation to achieve its goals.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705847" y="1628800"/>
            <a:ext cx="4438153" cy="337743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Generate organisational theft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Keys in generating theft policy:</a:t>
            </a:r>
          </a:p>
          <a:p>
            <a:pPr marL="360000" indent="-360000">
              <a:spcBef>
                <a:spcPts val="600"/>
              </a:spcBef>
              <a:spcAft>
                <a:spcPts val="1200"/>
              </a:spcAft>
            </a:pPr>
            <a:r>
              <a:rPr lang="en-US" sz="2000" dirty="0" smtClean="0">
                <a:latin typeface="Helvetica" pitchFamily="34" charset="0"/>
              </a:rPr>
              <a:t>Must be in writing</a:t>
            </a:r>
          </a:p>
          <a:p>
            <a:pPr marL="360000" indent="-360000">
              <a:spcBef>
                <a:spcPts val="600"/>
              </a:spcBef>
              <a:spcAft>
                <a:spcPts val="1200"/>
              </a:spcAft>
            </a:pPr>
            <a:r>
              <a:rPr lang="en-US" sz="2000" dirty="0" smtClean="0">
                <a:latin typeface="Helvetica" pitchFamily="34" charset="0"/>
              </a:rPr>
              <a:t>Must integrate research findings</a:t>
            </a:r>
          </a:p>
          <a:p>
            <a:pPr marL="360000" indent="-360000">
              <a:spcBef>
                <a:spcPts val="600"/>
              </a:spcBef>
              <a:spcAft>
                <a:spcPts val="1200"/>
              </a:spcAft>
            </a:pPr>
            <a:r>
              <a:rPr lang="en-US" sz="2000" dirty="0" smtClean="0">
                <a:latin typeface="Helvetica" pitchFamily="34" charset="0"/>
              </a:rPr>
              <a:t>Must determine responsibilities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20072" y="1978089"/>
            <a:ext cx="2160000" cy="3240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Generate organisational theft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Must identify</a:t>
            </a:r>
            <a:r>
              <a:rPr lang="en-AU" sz="2000" dirty="0" smtClean="0"/>
              <a:t> </a:t>
            </a:r>
            <a:r>
              <a:rPr lang="en-AU" sz="2000" dirty="0" smtClean="0">
                <a:latin typeface="Helvetica" pitchFamily="34" charset="0"/>
              </a:rPr>
              <a:t>tolerance, if any, for identified instances of theft</a:t>
            </a:r>
            <a:endParaRPr lang="en-US" sz="2000" dirty="0" smtClean="0">
              <a:latin typeface="Helvetica" pitchFamily="34" charset="0"/>
            </a:endParaRPr>
          </a:p>
          <a:p>
            <a:pPr marL="360000" indent="-360000">
              <a:spcBef>
                <a:spcPts val="600"/>
              </a:spcBef>
              <a:spcAft>
                <a:spcPts val="1200"/>
              </a:spcAft>
            </a:pPr>
            <a:r>
              <a:rPr lang="en-US" sz="2000" dirty="0" smtClean="0">
                <a:latin typeface="Helvetica" pitchFamily="34" charset="0"/>
              </a:rPr>
              <a:t>Must </a:t>
            </a:r>
            <a:r>
              <a:rPr lang="en-AU" sz="2000" dirty="0" smtClean="0">
                <a:latin typeface="Helvetica" pitchFamily="34" charset="0"/>
              </a:rPr>
              <a:t>explain courses of action to be taken when theft is identified</a:t>
            </a:r>
            <a:endParaRPr lang="en-US" sz="2000" dirty="0" smtClean="0">
              <a:latin typeface="Helvetica" pitchFamily="34" charset="0"/>
            </a:endParaRPr>
          </a:p>
          <a:p>
            <a:pPr marL="360000" indent="-360000">
              <a:spcBef>
                <a:spcPts val="600"/>
              </a:spcBef>
              <a:spcAft>
                <a:spcPts val="1200"/>
              </a:spcAft>
            </a:pPr>
            <a:r>
              <a:rPr lang="en-US" sz="2000" dirty="0" smtClean="0">
                <a:latin typeface="Helvetica" pitchFamily="34" charset="0"/>
              </a:rPr>
              <a:t>Must </a:t>
            </a:r>
            <a:r>
              <a:rPr lang="en-AU" sz="2000" dirty="0" smtClean="0">
                <a:latin typeface="Helvetica" pitchFamily="34" charset="0"/>
              </a:rPr>
              <a:t>specify</a:t>
            </a:r>
            <a:r>
              <a:rPr lang="en-AU" sz="2000" dirty="0" smtClean="0"/>
              <a:t> </a:t>
            </a:r>
            <a:r>
              <a:rPr lang="en-AU" sz="2000" dirty="0" smtClean="0">
                <a:latin typeface="Helvetica" pitchFamily="34" charset="0"/>
              </a:rPr>
              <a:t>documentation to be completed to support the policy and related procedures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a:stretch/>
        </p:blipFill>
        <p:spPr>
          <a:xfrm>
            <a:off x="5796136" y="1916832"/>
            <a:ext cx="1656184" cy="366926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Generate organisational theft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Must </a:t>
            </a:r>
            <a:r>
              <a:rPr lang="en-AU" sz="2000" dirty="0" smtClean="0">
                <a:latin typeface="Helvetica" pitchFamily="34" charset="0"/>
              </a:rPr>
              <a:t>allocate budget to support theft minimisation activity</a:t>
            </a:r>
            <a:endParaRPr lang="en-US" sz="2000" dirty="0" smtClean="0">
              <a:latin typeface="Helvetica" pitchFamily="34" charset="0"/>
            </a:endParaRPr>
          </a:p>
          <a:p>
            <a:pPr marL="360000" indent="-360000">
              <a:spcBef>
                <a:spcPts val="600"/>
              </a:spcBef>
              <a:spcAft>
                <a:spcPts val="1200"/>
              </a:spcAft>
            </a:pPr>
            <a:r>
              <a:rPr lang="en-US" sz="2000" dirty="0" smtClean="0">
                <a:latin typeface="Helvetica" pitchFamily="34" charset="0"/>
              </a:rPr>
              <a:t>Must </a:t>
            </a:r>
            <a:r>
              <a:rPr lang="en-AU" sz="2000" dirty="0" smtClean="0">
                <a:latin typeface="Helvetica" pitchFamily="34" charset="0"/>
              </a:rPr>
              <a:t>identify dates – implementation, transition, review</a:t>
            </a:r>
          </a:p>
          <a:p>
            <a:pPr marL="360000" indent="-360000">
              <a:spcBef>
                <a:spcPts val="600"/>
              </a:spcBef>
              <a:spcAft>
                <a:spcPts val="1200"/>
              </a:spcAft>
            </a:pPr>
            <a:r>
              <a:rPr lang="en-AU" sz="2000" dirty="0" smtClean="0">
                <a:latin typeface="Helvetica" pitchFamily="34" charset="0"/>
              </a:rPr>
              <a:t>Must provide for version control</a:t>
            </a:r>
          </a:p>
          <a:p>
            <a:pPr marL="360000" indent="-360000">
              <a:spcBef>
                <a:spcPts val="600"/>
              </a:spcBef>
              <a:spcAft>
                <a:spcPts val="1200"/>
              </a:spcAft>
            </a:pPr>
            <a:r>
              <a:rPr lang="en-AU" sz="2000" dirty="0" smtClean="0">
                <a:latin typeface="Helvetica" pitchFamily="34" charset="0"/>
              </a:rPr>
              <a:t>Must integrate policies into SOPs</a:t>
            </a:r>
            <a:r>
              <a:rPr lang="en-US" sz="2000" dirty="0" smtClean="0">
                <a:latin typeface="Helvetica" pitchFamily="34" charset="0"/>
              </a:rPr>
              <a: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a:stretch/>
        </p:blipFill>
        <p:spPr>
          <a:xfrm>
            <a:off x="5292080" y="1916832"/>
            <a:ext cx="1786591" cy="41054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Generate organisational theft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Theft policies may address:</a:t>
            </a:r>
          </a:p>
          <a:p>
            <a:pPr marL="360000" indent="-360000">
              <a:spcBef>
                <a:spcPts val="600"/>
              </a:spcBef>
              <a:spcAft>
                <a:spcPts val="1200"/>
              </a:spcAft>
            </a:pPr>
            <a:r>
              <a:rPr lang="en-US" sz="2000" dirty="0" smtClean="0">
                <a:latin typeface="Helvetica" pitchFamily="34" charset="0"/>
              </a:rPr>
              <a:t>Customers</a:t>
            </a:r>
          </a:p>
          <a:p>
            <a:pPr marL="360000" indent="-360000">
              <a:spcBef>
                <a:spcPts val="600"/>
              </a:spcBef>
              <a:spcAft>
                <a:spcPts val="1200"/>
              </a:spcAft>
            </a:pPr>
            <a:r>
              <a:rPr lang="en-US" sz="2000" dirty="0" smtClean="0">
                <a:latin typeface="Helvetica" pitchFamily="34" charset="0"/>
              </a:rPr>
              <a:t>Staff</a:t>
            </a:r>
          </a:p>
          <a:p>
            <a:pPr marL="360000" indent="-360000">
              <a:spcBef>
                <a:spcPts val="600"/>
              </a:spcBef>
              <a:spcAft>
                <a:spcPts val="1200"/>
              </a:spcAft>
            </a:pPr>
            <a:r>
              <a:rPr lang="en-US" sz="2000" dirty="0" smtClean="0">
                <a:latin typeface="Helvetica" pitchFamily="34" charset="0"/>
              </a:rPr>
              <a:t>Keys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a:stretch/>
        </p:blipFill>
        <p:spPr>
          <a:xfrm>
            <a:off x="5148064" y="1556792"/>
            <a:ext cx="2101901" cy="39122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Generate organisational theft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Visitors to the business</a:t>
            </a:r>
          </a:p>
          <a:p>
            <a:pPr marL="360000" indent="-360000">
              <a:spcBef>
                <a:spcPts val="600"/>
              </a:spcBef>
              <a:spcAft>
                <a:spcPts val="1200"/>
              </a:spcAft>
            </a:pPr>
            <a:r>
              <a:rPr lang="en-US" sz="2000" dirty="0" smtClean="0">
                <a:latin typeface="Helvetica" pitchFamily="34" charset="0"/>
              </a:rPr>
              <a:t>Stock</a:t>
            </a:r>
          </a:p>
          <a:p>
            <a:pPr marL="360000" indent="-360000">
              <a:spcBef>
                <a:spcPts val="600"/>
              </a:spcBef>
              <a:spcAft>
                <a:spcPts val="1200"/>
              </a:spcAft>
            </a:pPr>
            <a:r>
              <a:rPr lang="en-US" sz="2000" dirty="0" smtClean="0">
                <a:latin typeface="Helvetica" pitchFamily="34" charset="0"/>
              </a:rPr>
              <a:t>Business performance records</a:t>
            </a:r>
          </a:p>
          <a:p>
            <a:pPr marL="360000" indent="-360000">
              <a:spcBef>
                <a:spcPts val="600"/>
              </a:spcBef>
              <a:spcAft>
                <a:spcPts val="1200"/>
              </a:spcAft>
            </a:pPr>
            <a:r>
              <a:rPr lang="en-US" sz="2000" dirty="0" smtClean="0">
                <a:latin typeface="Helvetica" pitchFamily="34" charset="0"/>
              </a:rPr>
              <a:t>Cash and non-cash transactions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572000" y="1988839"/>
            <a:ext cx="3240360" cy="276245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Generate organisational theft policy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Security systems and equipment</a:t>
            </a:r>
          </a:p>
          <a:p>
            <a:pPr marL="360000" indent="-360000">
              <a:spcBef>
                <a:spcPts val="600"/>
              </a:spcBef>
              <a:spcAft>
                <a:spcPts val="1200"/>
              </a:spcAft>
            </a:pPr>
            <a:r>
              <a:rPr lang="en-US" sz="2000" dirty="0" smtClean="0">
                <a:latin typeface="Helvetica" pitchFamily="34" charset="0"/>
              </a:rPr>
              <a:t>Locked and secured areas</a:t>
            </a:r>
          </a:p>
          <a:p>
            <a:pPr marL="360000" indent="-360000">
              <a:spcBef>
                <a:spcPts val="600"/>
              </a:spcBef>
              <a:spcAft>
                <a:spcPts val="1200"/>
              </a:spcAft>
            </a:pPr>
            <a:r>
              <a:rPr lang="en-US" sz="2000" dirty="0" smtClean="0">
                <a:latin typeface="Helvetica" pitchFamily="34" charset="0"/>
              </a:rPr>
              <a:t>Premises security</a:t>
            </a:r>
          </a:p>
          <a:p>
            <a:pPr marL="360000" indent="-360000">
              <a:spcBef>
                <a:spcPts val="600"/>
              </a:spcBef>
              <a:spcAft>
                <a:spcPts val="1200"/>
              </a:spcAft>
            </a:pPr>
            <a:r>
              <a:rPr lang="en-US" sz="2000" dirty="0" smtClean="0">
                <a:latin typeface="Helvetica" pitchFamily="34" charset="0"/>
              </a:rPr>
              <a:t>Armed hold-up.</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076056" y="1916832"/>
            <a:ext cx="3313368"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theft-minimisation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‘Procedures’:</a:t>
            </a:r>
          </a:p>
          <a:p>
            <a:pPr marL="360000" indent="-360000">
              <a:spcBef>
                <a:spcPts val="600"/>
              </a:spcBef>
              <a:spcAft>
                <a:spcPts val="1200"/>
              </a:spcAft>
            </a:pPr>
            <a:r>
              <a:rPr lang="en-US" sz="2000" dirty="0" smtClean="0">
                <a:latin typeface="Helvetica" pitchFamily="34" charset="0"/>
              </a:rPr>
              <a:t>Are statements of tasks and methods to complete a work activity</a:t>
            </a:r>
          </a:p>
          <a:p>
            <a:pPr marL="360000" indent="-360000">
              <a:spcBef>
                <a:spcPts val="600"/>
              </a:spcBef>
              <a:spcAft>
                <a:spcPts val="1200"/>
              </a:spcAft>
            </a:pPr>
            <a:r>
              <a:rPr lang="en-US" sz="2000" dirty="0" smtClean="0">
                <a:latin typeface="Helvetica" pitchFamily="34" charset="0"/>
              </a:rPr>
              <a:t>Flow from policies</a:t>
            </a:r>
          </a:p>
          <a:p>
            <a:pPr marL="360000" indent="-360000">
              <a:spcBef>
                <a:spcPts val="600"/>
              </a:spcBef>
              <a:spcAft>
                <a:spcPts val="1200"/>
              </a:spcAft>
            </a:pPr>
            <a:r>
              <a:rPr lang="en-US" sz="2000" dirty="0" smtClean="0">
                <a:latin typeface="Helvetica" pitchFamily="34" charset="0"/>
              </a:rPr>
              <a:t>SOP = Standard Operating Procedure</a:t>
            </a:r>
          </a:p>
          <a:p>
            <a:pPr marL="360000" indent="-360000">
              <a:spcBef>
                <a:spcPts val="600"/>
              </a:spcBef>
              <a:spcAft>
                <a:spcPts val="1200"/>
              </a:spcAft>
            </a:pPr>
            <a:r>
              <a:rPr lang="en-US" sz="2000" dirty="0" smtClean="0">
                <a:latin typeface="Helvetica" pitchFamily="34" charset="0"/>
              </a:rPr>
              <a:t>Differ between businesses.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a:stretch/>
        </p:blipFill>
        <p:spPr>
          <a:xfrm>
            <a:off x="5652120" y="1628800"/>
            <a:ext cx="1267655" cy="4643491"/>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theft-minimisation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Procedures are used/developed to:</a:t>
            </a:r>
          </a:p>
          <a:p>
            <a:pPr marL="360000" indent="-360000">
              <a:spcBef>
                <a:spcPts val="600"/>
              </a:spcBef>
              <a:spcAft>
                <a:spcPts val="1200"/>
              </a:spcAft>
            </a:pPr>
            <a:r>
              <a:rPr lang="en-US" sz="2000" dirty="0" smtClean="0">
                <a:latin typeface="Helvetica" pitchFamily="34" charset="0"/>
              </a:rPr>
              <a:t>Facilitate safe work</a:t>
            </a:r>
          </a:p>
          <a:p>
            <a:pPr marL="360000" indent="-360000">
              <a:spcBef>
                <a:spcPts val="600"/>
              </a:spcBef>
              <a:spcAft>
                <a:spcPts val="1200"/>
              </a:spcAft>
            </a:pPr>
            <a:r>
              <a:rPr lang="en-US" sz="2000" dirty="0" smtClean="0">
                <a:latin typeface="Helvetica" pitchFamily="34" charset="0"/>
              </a:rPr>
              <a:t>Enable consistency</a:t>
            </a:r>
          </a:p>
          <a:p>
            <a:pPr marL="360000" indent="-360000">
              <a:spcBef>
                <a:spcPts val="600"/>
              </a:spcBef>
              <a:spcAft>
                <a:spcPts val="1200"/>
              </a:spcAft>
            </a:pPr>
            <a:r>
              <a:rPr lang="en-US" sz="2000" dirty="0" smtClean="0">
                <a:latin typeface="Helvetica" pitchFamily="34" charset="0"/>
              </a:rPr>
              <a:t>Control costs</a:t>
            </a:r>
          </a:p>
          <a:p>
            <a:pPr marL="360000" indent="-360000">
              <a:spcBef>
                <a:spcPts val="600"/>
              </a:spcBef>
              <a:spcAft>
                <a:spcPts val="1200"/>
              </a:spcAft>
            </a:pPr>
            <a:r>
              <a:rPr lang="en-US" sz="2000" dirty="0" smtClean="0">
                <a:latin typeface="Helvetica" pitchFamily="34" charset="0"/>
              </a:rPr>
              <a:t>Meet business objectives</a:t>
            </a:r>
          </a:p>
          <a:p>
            <a:pPr marL="360000" indent="-360000">
              <a:spcBef>
                <a:spcPts val="600"/>
              </a:spcBef>
              <a:spcAft>
                <a:spcPts val="1200"/>
              </a:spcAft>
            </a:pPr>
            <a:r>
              <a:rPr lang="en-US" sz="2000" dirty="0" smtClean="0">
                <a:latin typeface="Helvetica" pitchFamily="34" charset="0"/>
              </a:rPr>
              <a:t>Comply with policies.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652120" y="2060848"/>
            <a:ext cx="1919808" cy="2880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theft-minimisation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24036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The ‘control cycle’:</a:t>
            </a:r>
          </a:p>
          <a:p>
            <a:pPr marL="360000" indent="-360000">
              <a:spcBef>
                <a:spcPts val="600"/>
              </a:spcBef>
              <a:spcAft>
                <a:spcPts val="1200"/>
              </a:spcAft>
            </a:pPr>
            <a:r>
              <a:rPr lang="en-US" sz="2200" dirty="0" smtClean="0">
                <a:latin typeface="Helvetica" pitchFamily="34" charset="0"/>
              </a:rPr>
              <a:t>Purchasing </a:t>
            </a:r>
          </a:p>
          <a:p>
            <a:pPr marL="360000" indent="-360000">
              <a:spcBef>
                <a:spcPts val="600"/>
              </a:spcBef>
              <a:spcAft>
                <a:spcPts val="1200"/>
              </a:spcAft>
            </a:pPr>
            <a:r>
              <a:rPr lang="en-US" sz="2200" dirty="0" smtClean="0">
                <a:latin typeface="Helvetica" pitchFamily="34" charset="0"/>
              </a:rPr>
              <a:t>Receival</a:t>
            </a:r>
          </a:p>
          <a:p>
            <a:pPr marL="360000" indent="-360000">
              <a:spcBef>
                <a:spcPts val="600"/>
              </a:spcBef>
              <a:spcAft>
                <a:spcPts val="1200"/>
              </a:spcAft>
            </a:pPr>
            <a:r>
              <a:rPr lang="en-US" sz="2200" dirty="0" smtClean="0">
                <a:latin typeface="Helvetica" pitchFamily="34" charset="0"/>
              </a:rPr>
              <a:t>Storage</a:t>
            </a:r>
          </a:p>
          <a:p>
            <a:pPr marL="360000" indent="-360000">
              <a:spcBef>
                <a:spcPts val="600"/>
              </a:spcBef>
              <a:spcAft>
                <a:spcPts val="1200"/>
              </a:spcAft>
            </a:pPr>
            <a:r>
              <a:rPr lang="en-US" sz="2200" dirty="0" smtClean="0">
                <a:latin typeface="Helvetica" pitchFamily="34" charset="0"/>
              </a:rPr>
              <a:t>Issuing</a:t>
            </a:r>
          </a:p>
          <a:p>
            <a:pPr marL="360000" indent="-360000">
              <a:spcBef>
                <a:spcPts val="600"/>
              </a:spcBef>
              <a:spcAft>
                <a:spcPts val="1200"/>
              </a:spcAft>
            </a:pPr>
            <a:r>
              <a:rPr lang="en-US" sz="2200" dirty="0" smtClean="0">
                <a:latin typeface="Helvetica" pitchFamily="34" charset="0"/>
              </a:rPr>
              <a:t>Production</a:t>
            </a:r>
          </a:p>
          <a:p>
            <a:pPr marL="360000" indent="-360000">
              <a:spcBef>
                <a:spcPts val="600"/>
              </a:spcBef>
              <a:spcAft>
                <a:spcPts val="1200"/>
              </a:spcAft>
            </a:pPr>
            <a:r>
              <a:rPr lang="en-US" sz="2200" dirty="0" smtClean="0">
                <a:latin typeface="Helvetica" pitchFamily="34" charset="0"/>
              </a:rPr>
              <a:t>Service </a:t>
            </a:r>
          </a:p>
          <a:p>
            <a:pPr marL="360000" indent="-360000">
              <a:spcBef>
                <a:spcPts val="600"/>
              </a:spcBef>
              <a:spcAft>
                <a:spcPts val="1200"/>
              </a:spcAft>
            </a:pPr>
            <a:r>
              <a:rPr lang="en-US" sz="2200" dirty="0" smtClean="0">
                <a:latin typeface="Helvetica" pitchFamily="34" charset="0"/>
              </a:rPr>
              <a:t>Sales.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graphicFrame>
        <p:nvGraphicFramePr>
          <p:cNvPr id="6" name="Diagram 5"/>
          <p:cNvGraphicFramePr/>
          <p:nvPr>
            <p:extLst>
              <p:ext uri="{D42A27DB-BD31-4B8C-83A1-F6EECF244321}">
                <p14:modId xmlns="" xmlns:p14="http://schemas.microsoft.com/office/powerpoint/2010/main" val="2618702490"/>
              </p:ext>
            </p:extLst>
          </p:nvPr>
        </p:nvGraphicFramePr>
        <p:xfrm>
          <a:off x="2555776" y="1484784"/>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theft-minimisation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040560" cy="4680520"/>
          </a:xfrm>
        </p:spPr>
        <p:txBody>
          <a:bodyPr>
            <a:noAutofit/>
          </a:bodyPr>
          <a:lstStyle/>
          <a:p>
            <a:pPr marL="0" indent="0">
              <a:lnSpc>
                <a:spcPct val="120000"/>
              </a:lnSpc>
              <a:spcBef>
                <a:spcPts val="600"/>
              </a:spcBef>
              <a:spcAft>
                <a:spcPts val="600"/>
              </a:spcAft>
              <a:buNone/>
            </a:pPr>
            <a:r>
              <a:rPr lang="en-US" sz="2000" dirty="0" smtClean="0">
                <a:latin typeface="Helvetica" pitchFamily="34" charset="0"/>
              </a:rPr>
              <a:t>Theft minimisation procedures may address:</a:t>
            </a:r>
          </a:p>
          <a:p>
            <a:pPr marL="360000" indent="-360000">
              <a:lnSpc>
                <a:spcPct val="120000"/>
              </a:lnSpc>
              <a:spcBef>
                <a:spcPts val="600"/>
              </a:spcBef>
              <a:spcAft>
                <a:spcPts val="600"/>
              </a:spcAft>
            </a:pPr>
            <a:r>
              <a:rPr lang="en-US" sz="2000" dirty="0" smtClean="0">
                <a:latin typeface="Helvetica" pitchFamily="34" charset="0"/>
              </a:rPr>
              <a:t>Procedures to optimise safety of cash</a:t>
            </a:r>
          </a:p>
          <a:p>
            <a:pPr marL="720000" indent="-360000">
              <a:spcBef>
                <a:spcPts val="200"/>
              </a:spcBef>
              <a:spcAft>
                <a:spcPts val="200"/>
              </a:spcAft>
              <a:buClr>
                <a:schemeClr val="accent1">
                  <a:lumMod val="75000"/>
                </a:schemeClr>
              </a:buClr>
              <a:buSzPct val="100000"/>
              <a:buFont typeface="Arial" pitchFamily="34" charset="0"/>
              <a:buChar char="•"/>
            </a:pPr>
            <a:r>
              <a:rPr lang="en-US" sz="2000" dirty="0" smtClean="0">
                <a:latin typeface="Helvetica" pitchFamily="34" charset="0"/>
              </a:rPr>
              <a:t>Movement of cash within premises</a:t>
            </a:r>
          </a:p>
          <a:p>
            <a:pPr marL="720000" indent="-360000">
              <a:spcBef>
                <a:spcPts val="200"/>
              </a:spcBef>
              <a:spcAft>
                <a:spcPts val="200"/>
              </a:spcAft>
              <a:buClr>
                <a:schemeClr val="accent1">
                  <a:lumMod val="75000"/>
                </a:schemeClr>
              </a:buClr>
              <a:buSzPct val="100000"/>
              <a:buFont typeface="Arial" pitchFamily="34" charset="0"/>
              <a:buChar char="•"/>
            </a:pPr>
            <a:r>
              <a:rPr lang="en-US" sz="2000" dirty="0" smtClean="0">
                <a:latin typeface="Helvetica" pitchFamily="34" charset="0"/>
              </a:rPr>
              <a:t>Removal of  cash from registers</a:t>
            </a:r>
          </a:p>
          <a:p>
            <a:pPr marL="720000" indent="-360000">
              <a:spcBef>
                <a:spcPts val="200"/>
              </a:spcBef>
              <a:spcAft>
                <a:spcPts val="200"/>
              </a:spcAft>
              <a:buClr>
                <a:schemeClr val="accent1">
                  <a:lumMod val="75000"/>
                </a:schemeClr>
              </a:buClr>
              <a:buSzPct val="100000"/>
              <a:buFont typeface="Arial" pitchFamily="34" charset="0"/>
              <a:buChar char="•"/>
            </a:pPr>
            <a:r>
              <a:rPr lang="en-US" sz="2000" dirty="0" smtClean="0">
                <a:latin typeface="Helvetica" pitchFamily="34" charset="0"/>
              </a:rPr>
              <a:t>Registering money and giving change</a:t>
            </a:r>
          </a:p>
          <a:p>
            <a:pPr marL="720000" indent="-360000">
              <a:spcBef>
                <a:spcPts val="200"/>
              </a:spcBef>
              <a:spcAft>
                <a:spcPts val="200"/>
              </a:spcAft>
              <a:buClr>
                <a:schemeClr val="accent1">
                  <a:lumMod val="75000"/>
                </a:schemeClr>
              </a:buClr>
              <a:buSzPct val="100000"/>
              <a:buFont typeface="Arial" pitchFamily="34" charset="0"/>
              <a:buChar char="•"/>
            </a:pPr>
            <a:r>
              <a:rPr lang="en-US" sz="2000" dirty="0" smtClean="0">
                <a:latin typeface="Helvetica" pitchFamily="34" charset="0"/>
              </a:rPr>
              <a:t>Banking of takings</a:t>
            </a:r>
          </a:p>
          <a:p>
            <a:pPr marL="720000" indent="-360000">
              <a:spcBef>
                <a:spcPts val="200"/>
              </a:spcBef>
              <a:spcAft>
                <a:spcPts val="200"/>
              </a:spcAft>
              <a:buClr>
                <a:schemeClr val="accent1">
                  <a:lumMod val="75000"/>
                </a:schemeClr>
              </a:buClr>
              <a:buSzPct val="100000"/>
              <a:buFont typeface="Arial" pitchFamily="34" charset="0"/>
              <a:buChar char="•"/>
            </a:pPr>
            <a:r>
              <a:rPr lang="en-US" sz="2000" dirty="0" smtClean="0">
                <a:latin typeface="Helvetica" pitchFamily="34" charset="0"/>
              </a:rPr>
              <a:t>Using of safe</a:t>
            </a:r>
            <a:r>
              <a:rPr lang="en-US" sz="2000" dirty="0">
                <a:latin typeface="Helvetica" pitchFamily="34" charset="0"/>
              </a:rPr>
              <a:t>s</a:t>
            </a:r>
            <a:endParaRPr lang="en-US" sz="2000" dirty="0" smtClean="0">
              <a:latin typeface="Helvetica" pitchFamily="34" charset="0"/>
            </a:endParaRPr>
          </a:p>
          <a:p>
            <a:pPr marL="720000" indent="-360000">
              <a:spcBef>
                <a:spcPts val="200"/>
              </a:spcBef>
              <a:spcAft>
                <a:spcPts val="200"/>
              </a:spcAft>
              <a:buClr>
                <a:schemeClr val="accent1">
                  <a:lumMod val="75000"/>
                </a:schemeClr>
              </a:buClr>
              <a:buSzPct val="100000"/>
              <a:buFont typeface="Arial" pitchFamily="34" charset="0"/>
              <a:buChar char="•"/>
            </a:pPr>
            <a:r>
              <a:rPr lang="en-US" sz="2000" dirty="0" smtClean="0">
                <a:latin typeface="Helvetica" pitchFamily="34" charset="0"/>
              </a:rPr>
              <a:t>Using ‘change floats’</a:t>
            </a:r>
          </a:p>
          <a:p>
            <a:pPr marL="720000" indent="-360000">
              <a:spcBef>
                <a:spcPts val="200"/>
              </a:spcBef>
              <a:spcAft>
                <a:spcPts val="200"/>
              </a:spcAft>
              <a:buClr>
                <a:schemeClr val="accent1">
                  <a:lumMod val="75000"/>
                </a:schemeClr>
              </a:buClr>
              <a:buSzPct val="100000"/>
              <a:buFont typeface="Arial" pitchFamily="34" charset="0"/>
              <a:buChar char="•"/>
            </a:pPr>
            <a:r>
              <a:rPr lang="en-US" sz="2000" dirty="0" smtClean="0">
                <a:latin typeface="Helvetica" pitchFamily="34" charset="0"/>
              </a:rPr>
              <a:t>Security of registers.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868144" y="2996952"/>
            <a:ext cx="2699940" cy="179996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theft-minimisation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433224"/>
          </a:xfrm>
        </p:spPr>
        <p:txBody>
          <a:bodyPr>
            <a:normAutofit fontScale="92500" lnSpcReduction="20000"/>
          </a:bodyPr>
          <a:lstStyle/>
          <a:p>
            <a:pPr marL="360000" indent="-360000">
              <a:spcBef>
                <a:spcPts val="600"/>
              </a:spcBef>
              <a:spcAft>
                <a:spcPts val="1200"/>
              </a:spcAft>
            </a:pPr>
            <a:r>
              <a:rPr lang="en-US" sz="2200" dirty="0" smtClean="0">
                <a:latin typeface="Helvetica" pitchFamily="34" charset="0"/>
              </a:rPr>
              <a:t>Procedures related to staff practices: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Staff entry and exit to workplace/s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Personal property and belongings at work</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Gifts from sales representatives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Accompanying visitors on the premises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Restricted access to nominated areas</a:t>
            </a:r>
          </a:p>
          <a:p>
            <a:pPr marL="720000" indent="-360000">
              <a:spcBef>
                <a:spcPts val="600"/>
              </a:spcBef>
              <a:spcAft>
                <a:spcPts val="1200"/>
              </a:spcAft>
              <a:buClr>
                <a:schemeClr val="accent1">
                  <a:lumMod val="75000"/>
                </a:schemeClr>
              </a:buClr>
              <a:buSzPct val="100000"/>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 xmlns:a14="http://schemas.microsoft.com/office/drawing/2010/main"/>
              </a:ext>
            </a:extLst>
          </a:blip>
          <a:srcRect/>
          <a:stretch/>
        </p:blipFill>
        <p:spPr>
          <a:xfrm>
            <a:off x="6012160" y="2492896"/>
            <a:ext cx="2749091"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theft-minimisation procedures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sp>
        <p:nvSpPr>
          <p:cNvPr id="5" name="Content Placeholder 2"/>
          <p:cNvSpPr txBox="1">
            <a:spLocks/>
          </p:cNvSpPr>
          <p:nvPr/>
        </p:nvSpPr>
        <p:spPr>
          <a:xfrm>
            <a:off x="755576" y="1988840"/>
            <a:ext cx="3960440" cy="4093915"/>
          </a:xfrm>
          <a:prstGeom prst="rect">
            <a:avLst/>
          </a:prstGeom>
        </p:spPr>
        <p:txBody>
          <a:bodyPr vert="horz">
            <a:normAutofit/>
          </a:bodyPr>
          <a:lst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360000" indent="-360000">
              <a:spcBef>
                <a:spcPts val="600"/>
              </a:spcBef>
              <a:spcAft>
                <a:spcPts val="1200"/>
              </a:spcAft>
            </a:pPr>
            <a:r>
              <a:rPr lang="en-US" sz="2000" dirty="0" smtClean="0">
                <a:latin typeface="Helvetica" pitchFamily="34" charset="0"/>
              </a:rPr>
              <a:t>‘No sales’ and ‘Void’ transactions</a:t>
            </a:r>
          </a:p>
          <a:p>
            <a:pPr marL="360000" indent="-360000">
              <a:spcBef>
                <a:spcPts val="600"/>
              </a:spcBef>
              <a:spcAft>
                <a:spcPts val="1200"/>
              </a:spcAft>
            </a:pPr>
            <a:r>
              <a:rPr lang="en-US" sz="2000" dirty="0" smtClean="0">
                <a:latin typeface="Helvetica" pitchFamily="34" charset="0"/>
              </a:rPr>
              <a:t>Time worked</a:t>
            </a:r>
          </a:p>
          <a:p>
            <a:pPr marL="360000" indent="-360000">
              <a:spcBef>
                <a:spcPts val="600"/>
              </a:spcBef>
              <a:spcAft>
                <a:spcPts val="1200"/>
              </a:spcAft>
            </a:pPr>
            <a:r>
              <a:rPr lang="en-US" sz="2000" dirty="0" smtClean="0">
                <a:latin typeface="Helvetica" pitchFamily="34" charset="0"/>
              </a:rPr>
              <a:t>Workplace resources</a:t>
            </a:r>
          </a:p>
          <a:p>
            <a:pPr marL="0" indent="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Font typeface="Wingdings 2"/>
              <a:buNone/>
            </a:pPr>
            <a:endParaRPr lang="en-US" sz="2200" dirty="0" smtClean="0">
              <a:latin typeface="Helvetica" pitchFamily="34" charset="0"/>
            </a:endParaRPr>
          </a:p>
        </p:txBody>
      </p:sp>
      <p:pic>
        <p:nvPicPr>
          <p:cNvPr id="7" name="Picture 6"/>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567242" y="1431270"/>
            <a:ext cx="2766150" cy="3240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theft-minimisation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Security of keys</a:t>
            </a:r>
          </a:p>
          <a:p>
            <a:pPr marL="360000" indent="-360000">
              <a:spcBef>
                <a:spcPts val="600"/>
              </a:spcBef>
              <a:spcAft>
                <a:spcPts val="1200"/>
              </a:spcAft>
            </a:pPr>
            <a:r>
              <a:rPr lang="en-US" sz="2000" dirty="0" smtClean="0">
                <a:latin typeface="Helvetica" pitchFamily="34" charset="0"/>
              </a:rPr>
              <a:t>Checking payment/monies received</a:t>
            </a:r>
          </a:p>
          <a:p>
            <a:pPr marL="360000" indent="-360000">
              <a:spcBef>
                <a:spcPts val="600"/>
              </a:spcBef>
              <a:spcAft>
                <a:spcPts val="1200"/>
              </a:spcAft>
            </a:pPr>
            <a:r>
              <a:rPr lang="en-US" sz="2000" dirty="0" smtClean="0">
                <a:latin typeface="Helvetica" pitchFamily="34" charset="0"/>
              </a:rPr>
              <a:t>Non-cash transactions</a:t>
            </a:r>
          </a:p>
          <a:p>
            <a:pPr marL="360000" indent="-360000">
              <a:spcBef>
                <a:spcPts val="600"/>
              </a:spcBef>
              <a:spcAft>
                <a:spcPts val="1200"/>
              </a:spcAft>
            </a:pPr>
            <a:r>
              <a:rPr lang="en-US" sz="2000" dirty="0" smtClean="0">
                <a:latin typeface="Helvetica" pitchFamily="34" charset="0"/>
              </a:rPr>
              <a:t>Checking documents and </a:t>
            </a:r>
            <a:r>
              <a:rPr lang="en-US" sz="2000" b="1" i="1" dirty="0" smtClean="0">
                <a:latin typeface="Helvetica" pitchFamily="34" charset="0"/>
              </a:rPr>
              <a:t>issuing </a:t>
            </a:r>
            <a:r>
              <a:rPr lang="en-US" sz="2000" dirty="0" smtClean="0">
                <a:latin typeface="Helvetica" pitchFamily="34" charset="0"/>
              </a:rPr>
              <a:t>cash</a:t>
            </a:r>
          </a:p>
          <a:p>
            <a:pPr marL="360000" indent="-360000">
              <a:spcBef>
                <a:spcPts val="600"/>
              </a:spcBef>
              <a:spcAft>
                <a:spcPts val="1200"/>
              </a:spcAft>
            </a:pPr>
            <a:r>
              <a:rPr lang="en-US" sz="2000" dirty="0" smtClean="0">
                <a:latin typeface="Helvetica" pitchFamily="34" charset="0"/>
              </a:rPr>
              <a:t>Document and data security</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32040" y="1988840"/>
            <a:ext cx="2880320" cy="288032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theft-minimisation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‘On tour’ security</a:t>
            </a:r>
          </a:p>
          <a:p>
            <a:pPr marL="360000" indent="-360000">
              <a:spcBef>
                <a:spcPts val="600"/>
              </a:spcBef>
              <a:spcAft>
                <a:spcPts val="1200"/>
              </a:spcAft>
            </a:pPr>
            <a:r>
              <a:rPr lang="en-US" sz="2000" dirty="0" smtClean="0">
                <a:latin typeface="Helvetica" pitchFamily="34" charset="0"/>
              </a:rPr>
              <a:t>Security systems and equipment.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364613" y="1988840"/>
            <a:ext cx="3313368"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compliance with imposed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80887" y="1997368"/>
            <a:ext cx="3991113" cy="4525963"/>
          </a:xfrm>
        </p:spPr>
        <p:txBody>
          <a:bodyPr>
            <a:normAutofit/>
          </a:bodyPr>
          <a:lstStyle/>
          <a:p>
            <a:pPr marL="0" indent="0">
              <a:spcBef>
                <a:spcPts val="600"/>
              </a:spcBef>
              <a:spcAft>
                <a:spcPts val="1200"/>
              </a:spcAft>
              <a:buNone/>
            </a:pPr>
            <a:r>
              <a:rPr lang="en-US" sz="2000" dirty="0" smtClean="0">
                <a:latin typeface="Helvetica" pitchFamily="34" charset="0"/>
              </a:rPr>
              <a:t>‘Legislation’ may impose requirements in relation to:</a:t>
            </a:r>
          </a:p>
          <a:p>
            <a:pPr marL="360000" indent="-360000">
              <a:spcBef>
                <a:spcPts val="600"/>
              </a:spcBef>
              <a:spcAft>
                <a:spcPts val="1200"/>
              </a:spcAft>
            </a:pPr>
            <a:r>
              <a:rPr lang="en-US" sz="2000" dirty="0" smtClean="0">
                <a:latin typeface="Helvetica" pitchFamily="34" charset="0"/>
              </a:rPr>
              <a:t>Privacy and confidentiality</a:t>
            </a:r>
          </a:p>
          <a:p>
            <a:pPr marL="360000" indent="-360000">
              <a:spcBef>
                <a:spcPts val="600"/>
              </a:spcBef>
              <a:spcAft>
                <a:spcPts val="1200"/>
              </a:spcAft>
            </a:pPr>
            <a:r>
              <a:rPr lang="en-US" sz="2000" dirty="0" smtClean="0">
                <a:latin typeface="Helvetica" pitchFamily="34" charset="0"/>
              </a:rPr>
              <a:t>Dealing with offenders</a:t>
            </a:r>
          </a:p>
          <a:p>
            <a:pPr marL="360000" indent="-360000">
              <a:spcBef>
                <a:spcPts val="600"/>
              </a:spcBef>
              <a:spcAft>
                <a:spcPts val="1200"/>
              </a:spcAft>
            </a:pPr>
            <a:r>
              <a:rPr lang="en-US" sz="2000" dirty="0" smtClean="0">
                <a:latin typeface="Helvetica" pitchFamily="34" charset="0"/>
              </a:rPr>
              <a:t>Business operation/s</a:t>
            </a:r>
          </a:p>
          <a:p>
            <a:pPr marL="360000" indent="-360000">
              <a:spcBef>
                <a:spcPts val="600"/>
              </a:spcBef>
              <a:spcAft>
                <a:spcPts val="1200"/>
              </a:spcAft>
            </a:pPr>
            <a:r>
              <a:rPr lang="en-US" sz="2000" dirty="0" smtClean="0">
                <a:latin typeface="Helvetica" pitchFamily="34" charset="0"/>
              </a:rPr>
              <a:t>Insurance</a:t>
            </a:r>
          </a:p>
          <a:p>
            <a:pPr marL="360000" indent="-360000">
              <a:spcBef>
                <a:spcPts val="600"/>
              </a:spcBef>
              <a:spcAft>
                <a:spcPts val="1200"/>
              </a:spcAft>
            </a:pPr>
            <a:r>
              <a:rPr lang="en-US" sz="2000" dirty="0" smtClean="0">
                <a:latin typeface="Helvetica" pitchFamily="34" charset="0"/>
              </a:rPr>
              <a:t>Duty of Care.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572000" y="2348880"/>
            <a:ext cx="2430000" cy="3240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compliance with imposed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Ways to determine legislated requirements:</a:t>
            </a:r>
          </a:p>
          <a:p>
            <a:pPr marL="360000" indent="-360000">
              <a:spcBef>
                <a:spcPts val="600"/>
              </a:spcBef>
              <a:spcAft>
                <a:spcPts val="1200"/>
              </a:spcAft>
            </a:pPr>
            <a:r>
              <a:rPr lang="en-US" sz="2200" dirty="0" smtClean="0">
                <a:latin typeface="Helvetica" pitchFamily="34" charset="0"/>
              </a:rPr>
              <a:t>Talking to management/owners</a:t>
            </a:r>
          </a:p>
          <a:p>
            <a:pPr marL="360000" indent="-360000">
              <a:spcBef>
                <a:spcPts val="600"/>
              </a:spcBef>
              <a:spcAft>
                <a:spcPts val="1200"/>
              </a:spcAft>
            </a:pPr>
            <a:r>
              <a:rPr lang="en-US" sz="2200" dirty="0" smtClean="0">
                <a:latin typeface="Helvetica" pitchFamily="34" charset="0"/>
              </a:rPr>
              <a:t>Visiting government websites</a:t>
            </a:r>
          </a:p>
          <a:p>
            <a:pPr marL="360000" indent="-360000">
              <a:spcBef>
                <a:spcPts val="600"/>
              </a:spcBef>
              <a:spcAft>
                <a:spcPts val="1200"/>
              </a:spcAft>
            </a:pPr>
            <a:r>
              <a:rPr lang="en-US" sz="2200" dirty="0" smtClean="0">
                <a:latin typeface="Helvetica" pitchFamily="34" charset="0"/>
              </a:rPr>
              <a:t>Meeting face-to-face with officials and officers</a:t>
            </a:r>
          </a:p>
          <a:p>
            <a:pPr marL="360000" indent="-360000">
              <a:spcBef>
                <a:spcPts val="600"/>
              </a:spcBef>
              <a:spcAft>
                <a:spcPts val="1200"/>
              </a:spcAft>
            </a:pPr>
            <a:r>
              <a:rPr lang="en-US" sz="2200" dirty="0" smtClean="0">
                <a:latin typeface="Helvetica" pitchFamily="34" charset="0"/>
              </a:rPr>
              <a:t>Making enquiries to peak industry bodies.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076056" y="2564904"/>
            <a:ext cx="3120000" cy="234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compliance with imposed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‘Codes’ may also impose requirements – COPs may be:</a:t>
            </a:r>
          </a:p>
          <a:p>
            <a:pPr marL="360000" indent="-360000">
              <a:spcBef>
                <a:spcPts val="600"/>
              </a:spcBef>
              <a:spcAft>
                <a:spcPts val="1200"/>
              </a:spcAft>
            </a:pPr>
            <a:r>
              <a:rPr lang="en-US" sz="2200" dirty="0" smtClean="0">
                <a:latin typeface="Helvetica" pitchFamily="34" charset="0"/>
              </a:rPr>
              <a:t>Voluntary – subscribed to by choice</a:t>
            </a:r>
          </a:p>
          <a:p>
            <a:pPr marL="360000" indent="-360000">
              <a:spcBef>
                <a:spcPts val="600"/>
              </a:spcBef>
              <a:spcAft>
                <a:spcPts val="1200"/>
              </a:spcAft>
            </a:pPr>
            <a:r>
              <a:rPr lang="en-US" sz="2200" dirty="0" smtClean="0">
                <a:latin typeface="Helvetica" pitchFamily="34" charset="0"/>
              </a:rPr>
              <a:t>Imposed – by contract</a:t>
            </a:r>
          </a:p>
          <a:p>
            <a:pPr marL="360000" indent="-360000">
              <a:spcBef>
                <a:spcPts val="600"/>
              </a:spcBef>
              <a:spcAft>
                <a:spcPts val="1200"/>
              </a:spcAft>
            </a:pPr>
            <a:r>
              <a:rPr lang="en-US" sz="2200" dirty="0" smtClean="0">
                <a:latin typeface="Helvetica" pitchFamily="34" charset="0"/>
              </a:rPr>
              <a:t>Mandatory – by virtue of legislation</a:t>
            </a:r>
          </a:p>
          <a:p>
            <a:pPr marL="360000" indent="-360000">
              <a:spcBef>
                <a:spcPts val="600"/>
              </a:spcBef>
              <a:spcAft>
                <a:spcPts val="1200"/>
              </a:spcAft>
            </a:pPr>
            <a:r>
              <a:rPr lang="en-US" sz="2200" dirty="0" smtClean="0">
                <a:latin typeface="Helvetica" pitchFamily="34" charset="0"/>
              </a:rPr>
              <a:t>‘Code of Conduct’</a:t>
            </a:r>
          </a:p>
          <a:p>
            <a:pPr marL="360000" indent="-360000">
              <a:spcBef>
                <a:spcPts val="600"/>
              </a:spcBef>
              <a:spcAft>
                <a:spcPts val="1200"/>
              </a:spcAft>
            </a:pPr>
            <a:r>
              <a:rPr lang="en-US" sz="2200" dirty="0" smtClean="0">
                <a:latin typeface="Helvetica" pitchFamily="34" charset="0"/>
              </a:rPr>
              <a:t>‘Code of Ethics’.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148064" y="1988840"/>
            <a:ext cx="2160000" cy="3240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compliance with imposed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‘Best Practice’ may impose requirements relating to:</a:t>
            </a:r>
          </a:p>
          <a:p>
            <a:pPr marL="360000" indent="-360000">
              <a:spcBef>
                <a:spcPts val="600"/>
              </a:spcBef>
              <a:spcAft>
                <a:spcPts val="1200"/>
              </a:spcAft>
            </a:pPr>
            <a:r>
              <a:rPr lang="en-US" sz="2200" dirty="0" smtClean="0">
                <a:latin typeface="Helvetica" pitchFamily="34" charset="0"/>
              </a:rPr>
              <a:t>Development of policies and procedures</a:t>
            </a:r>
          </a:p>
          <a:p>
            <a:pPr marL="360000" indent="-360000">
              <a:spcBef>
                <a:spcPts val="600"/>
              </a:spcBef>
              <a:spcAft>
                <a:spcPts val="1200"/>
              </a:spcAft>
            </a:pPr>
            <a:r>
              <a:rPr lang="en-US" sz="2200" dirty="0" smtClean="0">
                <a:latin typeface="Helvetica" pitchFamily="34" charset="0"/>
              </a:rPr>
              <a:t>Communication of protocols</a:t>
            </a:r>
          </a:p>
          <a:p>
            <a:pPr marL="360000" indent="-360000">
              <a:spcBef>
                <a:spcPts val="600"/>
              </a:spcBef>
              <a:spcAft>
                <a:spcPts val="1200"/>
              </a:spcAft>
            </a:pPr>
            <a:r>
              <a:rPr lang="en-US" sz="2200" dirty="0" smtClean="0">
                <a:latin typeface="Helvetica" pitchFamily="34" charset="0"/>
              </a:rPr>
              <a:t>Maintenance of currency and effectiveness</a:t>
            </a:r>
          </a:p>
          <a:p>
            <a:pPr marL="360000" indent="-360000">
              <a:spcBef>
                <a:spcPts val="600"/>
              </a:spcBef>
              <a:spcAft>
                <a:spcPts val="1200"/>
              </a:spcAft>
            </a:pPr>
            <a:r>
              <a:rPr lang="en-US" sz="2200" dirty="0" smtClean="0">
                <a:latin typeface="Helvetica" pitchFamily="34" charset="0"/>
              </a:rPr>
              <a:t>Use of technology and equipment</a:t>
            </a:r>
          </a:p>
          <a:p>
            <a:pPr marL="360000" indent="-360000">
              <a:spcBef>
                <a:spcPts val="600"/>
              </a:spcBef>
              <a:spcAft>
                <a:spcPts val="1200"/>
              </a:spcAft>
            </a:pPr>
            <a:r>
              <a:rPr lang="en-US" sz="2200" dirty="0" smtClean="0">
                <a:latin typeface="Helvetica" pitchFamily="34" charset="0"/>
              </a:rPr>
              <a:t>Recording and documentation.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004048" y="1844824"/>
            <a:ext cx="2560189" cy="3240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compliance with imposed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‘Industry accepted standards’ may impose requirements – they are used by individual operators to:</a:t>
            </a:r>
          </a:p>
          <a:p>
            <a:pPr marL="360000" indent="-360000">
              <a:spcBef>
                <a:spcPts val="600"/>
              </a:spcBef>
              <a:spcAft>
                <a:spcPts val="1200"/>
              </a:spcAft>
            </a:pPr>
            <a:r>
              <a:rPr lang="en-US" sz="2200" dirty="0" smtClean="0">
                <a:latin typeface="Helvetica" pitchFamily="34" charset="0"/>
              </a:rPr>
              <a:t>Professionalise the industry/the business</a:t>
            </a:r>
          </a:p>
          <a:p>
            <a:pPr marL="360000" indent="-360000">
              <a:spcBef>
                <a:spcPts val="600"/>
              </a:spcBef>
              <a:spcAft>
                <a:spcPts val="1200"/>
              </a:spcAft>
            </a:pPr>
            <a:r>
              <a:rPr lang="en-US" sz="2200" dirty="0" smtClean="0">
                <a:latin typeface="Helvetica" pitchFamily="34" charset="0"/>
              </a:rPr>
              <a:t>Give customers confidence in the business</a:t>
            </a:r>
          </a:p>
          <a:p>
            <a:pPr marL="360000" indent="-360000">
              <a:spcBef>
                <a:spcPts val="600"/>
              </a:spcBef>
              <a:spcAft>
                <a:spcPts val="1200"/>
              </a:spcAft>
            </a:pPr>
            <a:r>
              <a:rPr lang="en-US" sz="2200" dirty="0" smtClean="0">
                <a:latin typeface="Helvetica" pitchFamily="34" charset="0"/>
              </a:rPr>
              <a:t>Provide a basis for operations</a:t>
            </a:r>
          </a:p>
          <a:p>
            <a:pPr marL="360000" indent="-360000">
              <a:spcBef>
                <a:spcPts val="600"/>
              </a:spcBef>
              <a:spcAft>
                <a:spcPts val="1200"/>
              </a:spcAft>
            </a:pPr>
            <a:r>
              <a:rPr lang="en-US" sz="2200" dirty="0" smtClean="0">
                <a:latin typeface="Helvetica" pitchFamily="34" charset="0"/>
              </a:rPr>
              <a:t>Prescribe performance parameters</a:t>
            </a:r>
          </a:p>
          <a:p>
            <a:pPr marL="360000" indent="-360000">
              <a:spcBef>
                <a:spcPts val="600"/>
              </a:spcBef>
              <a:spcAft>
                <a:spcPts val="1200"/>
              </a:spcAft>
            </a:pPr>
            <a:r>
              <a:rPr lang="en-US" sz="2200" dirty="0" smtClean="0">
                <a:latin typeface="Helvetica" pitchFamily="34" charset="0"/>
              </a:rPr>
              <a:t>Set a benchmark.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20072" y="2636912"/>
            <a:ext cx="3240360" cy="216024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compliance with imposed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‘Industry standards’ may address:</a:t>
            </a:r>
          </a:p>
          <a:p>
            <a:pPr marL="360000" indent="-360000">
              <a:spcBef>
                <a:spcPts val="600"/>
              </a:spcBef>
              <a:spcAft>
                <a:spcPts val="1200"/>
              </a:spcAft>
            </a:pPr>
            <a:r>
              <a:rPr lang="en-US" sz="2200" dirty="0" smtClean="0">
                <a:latin typeface="Helvetica" pitchFamily="34" charset="0"/>
              </a:rPr>
              <a:t>Use of guards on tour</a:t>
            </a:r>
          </a:p>
          <a:p>
            <a:pPr marL="360000" indent="-360000">
              <a:spcBef>
                <a:spcPts val="600"/>
              </a:spcBef>
              <a:spcAft>
                <a:spcPts val="1200"/>
              </a:spcAft>
            </a:pPr>
            <a:r>
              <a:rPr lang="en-US" sz="2200" dirty="0" smtClean="0">
                <a:latin typeface="Helvetica" pitchFamily="34" charset="0"/>
              </a:rPr>
              <a:t>Compliance with legislation</a:t>
            </a:r>
          </a:p>
          <a:p>
            <a:pPr marL="360000" indent="-360000">
              <a:spcBef>
                <a:spcPts val="600"/>
              </a:spcBef>
              <a:spcAft>
                <a:spcPts val="1200"/>
              </a:spcAft>
            </a:pPr>
            <a:r>
              <a:rPr lang="en-US" sz="2200" dirty="0" smtClean="0">
                <a:latin typeface="Helvetica" pitchFamily="34" charset="0"/>
              </a:rPr>
              <a:t>Involvement of authorities when theft occurs</a:t>
            </a:r>
          </a:p>
          <a:p>
            <a:pPr marL="360000" indent="-360000">
              <a:spcBef>
                <a:spcPts val="600"/>
              </a:spcBef>
              <a:spcAft>
                <a:spcPts val="1200"/>
              </a:spcAft>
            </a:pPr>
            <a:r>
              <a:rPr lang="en-US" sz="2200" dirty="0" smtClean="0">
                <a:latin typeface="Helvetica" pitchFamily="34" charset="0"/>
              </a:rPr>
              <a:t>Sharing information</a:t>
            </a:r>
          </a:p>
          <a:p>
            <a:pPr marL="360000" indent="-360000">
              <a:spcBef>
                <a:spcPts val="600"/>
              </a:spcBef>
              <a:spcAft>
                <a:spcPts val="1200"/>
              </a:spcAft>
            </a:pPr>
            <a:r>
              <a:rPr lang="en-US" sz="2200" dirty="0" smtClean="0">
                <a:latin typeface="Helvetica" pitchFamily="34" charset="0"/>
              </a:rPr>
              <a:t>Date and information protection</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 xmlns:a14="http://schemas.microsoft.com/office/drawing/2010/main"/>
              </a:ext>
            </a:extLst>
          </a:blip>
          <a:srcRect/>
          <a:stretch/>
        </p:blipFill>
        <p:spPr>
          <a:xfrm>
            <a:off x="5292080" y="2420888"/>
            <a:ext cx="3008093" cy="260711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compliance with imposed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Bag checks</a:t>
            </a:r>
          </a:p>
          <a:p>
            <a:pPr marL="360000" indent="-360000">
              <a:spcBef>
                <a:spcPts val="600"/>
              </a:spcBef>
              <a:spcAft>
                <a:spcPts val="1200"/>
              </a:spcAft>
            </a:pPr>
            <a:r>
              <a:rPr lang="en-US" sz="2000" dirty="0" smtClean="0">
                <a:latin typeface="Helvetica" pitchFamily="34" charset="0"/>
              </a:rPr>
              <a:t>Risk management</a:t>
            </a:r>
          </a:p>
          <a:p>
            <a:pPr marL="360000" indent="-360000">
              <a:spcBef>
                <a:spcPts val="600"/>
              </a:spcBef>
              <a:spcAft>
                <a:spcPts val="1200"/>
              </a:spcAft>
            </a:pPr>
            <a:r>
              <a:rPr lang="en-US" sz="2000" dirty="0" smtClean="0">
                <a:latin typeface="Helvetica" pitchFamily="34" charset="0"/>
              </a:rPr>
              <a:t>Accreditation</a:t>
            </a:r>
          </a:p>
          <a:p>
            <a:pPr marL="360000" indent="-360000">
              <a:spcBef>
                <a:spcPts val="600"/>
              </a:spcBef>
              <a:spcAft>
                <a:spcPts val="1200"/>
              </a:spcAft>
            </a:pPr>
            <a:r>
              <a:rPr lang="en-US" sz="2000" dirty="0" smtClean="0">
                <a:latin typeface="Helvetica" pitchFamily="34" charset="0"/>
              </a:rPr>
              <a:t>QA</a:t>
            </a:r>
          </a:p>
          <a:p>
            <a:pPr marL="360000" indent="-360000">
              <a:spcBef>
                <a:spcPts val="600"/>
              </a:spcBef>
              <a:spcAft>
                <a:spcPts val="1200"/>
              </a:spcAft>
            </a:pPr>
            <a:r>
              <a:rPr lang="en-US" sz="2000" dirty="0" smtClean="0">
                <a:latin typeface="Helvetica" pitchFamily="34" charset="0"/>
              </a:rPr>
              <a:t>CI</a:t>
            </a:r>
          </a:p>
          <a:p>
            <a:pPr marL="360000" indent="-360000">
              <a:spcBef>
                <a:spcPts val="600"/>
              </a:spcBef>
              <a:spcAft>
                <a:spcPts val="1200"/>
              </a:spcAft>
            </a:pPr>
            <a:r>
              <a:rPr lang="en-US" sz="2000" dirty="0" smtClean="0">
                <a:latin typeface="Helvetica" pitchFamily="34" charset="0"/>
              </a:rPr>
              <a:t>Membership of industry body.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076056" y="2564904"/>
            <a:ext cx="3261219"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compliance with imposed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Thefts need to be reported/recorded:</a:t>
            </a:r>
          </a:p>
          <a:p>
            <a:pPr marL="360000" indent="-360000">
              <a:spcBef>
                <a:spcPts val="600"/>
              </a:spcBef>
              <a:spcAft>
                <a:spcPts val="1200"/>
              </a:spcAft>
            </a:pPr>
            <a:r>
              <a:rPr lang="en-US" sz="2200" dirty="0" smtClean="0">
                <a:latin typeface="Helvetica" pitchFamily="34" charset="0"/>
              </a:rPr>
              <a:t>Minor theft may only require verbal report</a:t>
            </a:r>
          </a:p>
          <a:p>
            <a:pPr marL="360000" indent="-360000">
              <a:spcBef>
                <a:spcPts val="600"/>
              </a:spcBef>
              <a:spcAft>
                <a:spcPts val="1200"/>
              </a:spcAft>
            </a:pPr>
            <a:r>
              <a:rPr lang="en-US" sz="2200" dirty="0" smtClean="0">
                <a:latin typeface="Helvetica" pitchFamily="34" charset="0"/>
              </a:rPr>
              <a:t>Major/significant loss requires written record/report</a:t>
            </a:r>
          </a:p>
          <a:p>
            <a:pPr marL="360000" indent="-360000">
              <a:spcBef>
                <a:spcPts val="600"/>
              </a:spcBef>
              <a:spcAft>
                <a:spcPts val="1200"/>
              </a:spcAft>
            </a:pPr>
            <a:r>
              <a:rPr lang="en-US" sz="2200" dirty="0" smtClean="0">
                <a:latin typeface="Helvetica" pitchFamily="34" charset="0"/>
              </a:rPr>
              <a:t>Businesses use a ‘Loss Report’ (or similar – ‘Incident Report’) form to record thefts/loss</a:t>
            </a:r>
          </a:p>
          <a:p>
            <a:pPr marL="360000" indent="-360000">
              <a:spcBef>
                <a:spcPts val="600"/>
              </a:spcBef>
              <a:spcAft>
                <a:spcPts val="1200"/>
              </a:spcAft>
            </a:pPr>
            <a:r>
              <a:rPr lang="en-US" sz="2200" dirty="0" smtClean="0">
                <a:latin typeface="Helvetica" pitchFamily="34" charset="0"/>
              </a:rPr>
              <a:t>All information on reports must be accurate and honest.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a:stretch/>
        </p:blipFill>
        <p:spPr>
          <a:xfrm>
            <a:off x="4605682" y="2348880"/>
            <a:ext cx="2520435" cy="3240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compliance with imposed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320480"/>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When completing theft record/report:</a:t>
            </a:r>
          </a:p>
          <a:p>
            <a:pPr marL="360000" indent="-360000">
              <a:spcBef>
                <a:spcPts val="600"/>
              </a:spcBef>
              <a:spcAft>
                <a:spcPts val="1200"/>
              </a:spcAft>
            </a:pPr>
            <a:r>
              <a:rPr lang="en-US" sz="2200" dirty="0" smtClean="0">
                <a:latin typeface="Helvetica" pitchFamily="34" charset="0"/>
              </a:rPr>
              <a:t>Identify where loss occurred</a:t>
            </a:r>
          </a:p>
          <a:p>
            <a:pPr marL="360000" indent="-360000">
              <a:spcBef>
                <a:spcPts val="600"/>
              </a:spcBef>
              <a:spcAft>
                <a:spcPts val="1200"/>
              </a:spcAft>
            </a:pPr>
            <a:r>
              <a:rPr lang="en-US" sz="2200" dirty="0" smtClean="0">
                <a:latin typeface="Helvetica" pitchFamily="34" charset="0"/>
              </a:rPr>
              <a:t>Identify when loss occurred</a:t>
            </a:r>
          </a:p>
          <a:p>
            <a:pPr marL="360000" indent="-360000">
              <a:spcBef>
                <a:spcPts val="600"/>
              </a:spcBef>
              <a:spcAft>
                <a:spcPts val="1200"/>
              </a:spcAft>
            </a:pPr>
            <a:r>
              <a:rPr lang="en-US" sz="2200" dirty="0" smtClean="0">
                <a:latin typeface="Helvetica" pitchFamily="34" charset="0"/>
              </a:rPr>
              <a:t>Identify what was stolen</a:t>
            </a:r>
          </a:p>
          <a:p>
            <a:pPr marL="360000" indent="-360000">
              <a:spcBef>
                <a:spcPts val="600"/>
              </a:spcBef>
              <a:spcAft>
                <a:spcPts val="1200"/>
              </a:spcAft>
            </a:pPr>
            <a:r>
              <a:rPr lang="en-US" sz="2200" dirty="0" smtClean="0">
                <a:latin typeface="Helvetica" pitchFamily="34" charset="0"/>
              </a:rPr>
              <a:t>Give your personal details/contact information</a:t>
            </a:r>
          </a:p>
          <a:p>
            <a:pPr marL="360000" indent="-360000">
              <a:spcBef>
                <a:spcPts val="600"/>
              </a:spcBef>
              <a:spcAft>
                <a:spcPts val="1200"/>
              </a:spcAft>
            </a:pPr>
            <a:r>
              <a:rPr lang="en-US" sz="2200" dirty="0" smtClean="0">
                <a:latin typeface="Helvetica" pitchFamily="34" charset="0"/>
              </a:rPr>
              <a:t>Provide names/contact details of witnesses</a:t>
            </a:r>
          </a:p>
          <a:p>
            <a:pPr marL="360000" indent="-360000">
              <a:spcBef>
                <a:spcPts val="600"/>
              </a:spcBef>
              <a:spcAft>
                <a:spcPts val="1200"/>
              </a:spcAft>
            </a:pPr>
            <a:r>
              <a:rPr lang="en-US" sz="2200" dirty="0" smtClean="0">
                <a:latin typeface="Helvetica" pitchFamily="34" charset="0"/>
              </a:rPr>
              <a:t>Describe your thoughts about what happened.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148064" y="270892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compliance with imposed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After competing a Theft Report:</a:t>
            </a:r>
          </a:p>
          <a:p>
            <a:pPr marL="360000" indent="-360000">
              <a:spcBef>
                <a:spcPts val="600"/>
              </a:spcBef>
              <a:spcAft>
                <a:spcPts val="1200"/>
              </a:spcAft>
            </a:pPr>
            <a:r>
              <a:rPr lang="en-US" sz="2000" dirty="0" smtClean="0">
                <a:latin typeface="Helvetica" pitchFamily="34" charset="0"/>
              </a:rPr>
              <a:t>Keep a copy for future reference</a:t>
            </a:r>
          </a:p>
          <a:p>
            <a:pPr marL="360000" indent="-360000">
              <a:spcBef>
                <a:spcPts val="600"/>
              </a:spcBef>
              <a:spcAft>
                <a:spcPts val="1200"/>
              </a:spcAft>
            </a:pPr>
            <a:r>
              <a:rPr lang="en-US" sz="2000" dirty="0" smtClean="0">
                <a:latin typeface="Helvetica" pitchFamily="34" charset="0"/>
              </a:rPr>
              <a:t>Forward original promptly to nominated person</a:t>
            </a:r>
          </a:p>
          <a:p>
            <a:pPr marL="360000" indent="-360000">
              <a:spcBef>
                <a:spcPts val="600"/>
              </a:spcBef>
              <a:spcAft>
                <a:spcPts val="1200"/>
              </a:spcAft>
            </a:pPr>
            <a:r>
              <a:rPr lang="en-US" sz="2000" dirty="0" smtClean="0">
                <a:latin typeface="Helvetica" pitchFamily="34" charset="0"/>
              </a:rPr>
              <a:t>Be ready to clarify, explain and/or add to the report.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427984" y="1844824"/>
            <a:ext cx="4194821" cy="3240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Produce documentation to support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Documentation must be produced to support theft minimisation protocols in order to:</a:t>
            </a:r>
          </a:p>
          <a:p>
            <a:pPr marL="360000" indent="-360000">
              <a:spcBef>
                <a:spcPts val="600"/>
              </a:spcBef>
              <a:spcAft>
                <a:spcPts val="1200"/>
              </a:spcAft>
            </a:pPr>
            <a:r>
              <a:rPr lang="en-US" sz="2000" dirty="0" smtClean="0">
                <a:latin typeface="Helvetica" pitchFamily="34" charset="0"/>
              </a:rPr>
              <a:t>Formalise all business SOPs</a:t>
            </a:r>
          </a:p>
          <a:p>
            <a:pPr marL="360000" indent="-360000">
              <a:spcBef>
                <a:spcPts val="600"/>
              </a:spcBef>
              <a:spcAft>
                <a:spcPts val="1200"/>
              </a:spcAft>
            </a:pPr>
            <a:r>
              <a:rPr lang="en-US" sz="2000" dirty="0" smtClean="0">
                <a:latin typeface="Helvetica" pitchFamily="34" charset="0"/>
              </a:rPr>
              <a:t>Underpin staff training</a:t>
            </a:r>
          </a:p>
          <a:p>
            <a:pPr marL="360000" indent="-360000">
              <a:spcBef>
                <a:spcPts val="600"/>
              </a:spcBef>
              <a:spcAft>
                <a:spcPts val="1200"/>
              </a:spcAft>
            </a:pPr>
            <a:r>
              <a:rPr lang="en-US" sz="2000" dirty="0" smtClean="0">
                <a:latin typeface="Helvetica" pitchFamily="34" charset="0"/>
              </a:rPr>
              <a:t>Inform others/stakeholders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20072" y="1916832"/>
            <a:ext cx="2705745" cy="3240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Produce documentation to support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Meet compliance requirements</a:t>
            </a:r>
          </a:p>
          <a:p>
            <a:pPr marL="360000" indent="-360000">
              <a:spcBef>
                <a:spcPts val="600"/>
              </a:spcBef>
              <a:spcAft>
                <a:spcPts val="1200"/>
              </a:spcAft>
            </a:pPr>
            <a:r>
              <a:rPr lang="en-US" sz="2000" dirty="0" smtClean="0">
                <a:latin typeface="Helvetica" pitchFamily="34" charset="0"/>
              </a:rPr>
              <a:t>Facilitate inclusion in internal handbooks/manuals</a:t>
            </a:r>
          </a:p>
          <a:p>
            <a:pPr marL="360000" indent="-360000">
              <a:spcBef>
                <a:spcPts val="600"/>
              </a:spcBef>
              <a:spcAft>
                <a:spcPts val="1200"/>
              </a:spcAft>
            </a:pPr>
            <a:r>
              <a:rPr lang="en-US" sz="2000" dirty="0" smtClean="0">
                <a:latin typeface="Helvetica" pitchFamily="34" charset="0"/>
              </a:rPr>
              <a:t>Use as the basis for other protocols/documents</a:t>
            </a:r>
          </a:p>
          <a:p>
            <a:pPr marL="360000" indent="-360000">
              <a:spcBef>
                <a:spcPts val="600"/>
              </a:spcBef>
              <a:spcAft>
                <a:spcPts val="1200"/>
              </a:spcAft>
            </a:pPr>
            <a:r>
              <a:rPr lang="en-US" sz="2000" dirty="0" smtClean="0">
                <a:latin typeface="Helvetica" pitchFamily="34" charset="0"/>
              </a:rPr>
              <a:t>Ensure everyone receives/understands the same thing.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572000" y="2204864"/>
            <a:ext cx="4060150" cy="3240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Produce documentation to support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Documents used include:</a:t>
            </a:r>
          </a:p>
          <a:p>
            <a:pPr marL="360000" indent="-360000">
              <a:spcBef>
                <a:spcPts val="600"/>
              </a:spcBef>
              <a:spcAft>
                <a:spcPts val="1200"/>
              </a:spcAft>
            </a:pPr>
            <a:r>
              <a:rPr lang="en-US" sz="2000" dirty="0" smtClean="0">
                <a:latin typeface="Helvetica" pitchFamily="34" charset="0"/>
              </a:rPr>
              <a:t>Forms relating to cash handling</a:t>
            </a:r>
          </a:p>
          <a:p>
            <a:pPr marL="360000" indent="-360000">
              <a:spcBef>
                <a:spcPts val="600"/>
              </a:spcBef>
              <a:spcAft>
                <a:spcPts val="1200"/>
              </a:spcAft>
            </a:pPr>
            <a:r>
              <a:rPr lang="en-US" sz="2000" dirty="0" smtClean="0">
                <a:latin typeface="Helvetica" pitchFamily="34" charset="0"/>
              </a:rPr>
              <a:t>Inspection checklists</a:t>
            </a:r>
          </a:p>
          <a:p>
            <a:pPr marL="360000" indent="-360000">
              <a:spcBef>
                <a:spcPts val="600"/>
              </a:spcBef>
              <a:spcAft>
                <a:spcPts val="1200"/>
              </a:spcAft>
            </a:pPr>
            <a:r>
              <a:rPr lang="en-US" sz="2000" dirty="0" smtClean="0">
                <a:latin typeface="Helvetica" pitchFamily="34" charset="0"/>
              </a:rPr>
              <a:t>Recording and reporting forms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788024" y="1844824"/>
            <a:ext cx="2502720" cy="3240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Produce documentation to support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Documents to control stock:</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Requisitions </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Stock-take sheets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Bin cards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Transfer sheets </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Damaged Goods sheets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Tickets and Vouchers.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148064" y="2132856"/>
            <a:ext cx="2430000" cy="3240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Trial and revise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Trialling theft minimisation protocols may include:</a:t>
            </a:r>
          </a:p>
          <a:p>
            <a:pPr marL="360000" indent="-360000">
              <a:spcBef>
                <a:spcPts val="600"/>
              </a:spcBef>
              <a:spcAft>
                <a:spcPts val="1200"/>
              </a:spcAft>
            </a:pPr>
            <a:r>
              <a:rPr lang="en-AU" sz="2200" dirty="0" smtClean="0">
                <a:latin typeface="Helvetica" pitchFamily="34" charset="0"/>
              </a:rPr>
              <a:t>Planning for identified/potential theft events</a:t>
            </a:r>
          </a:p>
          <a:p>
            <a:pPr marL="360000" indent="-360000">
              <a:spcBef>
                <a:spcPts val="600"/>
              </a:spcBef>
              <a:spcAft>
                <a:spcPts val="1200"/>
              </a:spcAft>
            </a:pPr>
            <a:r>
              <a:rPr lang="en-AU" sz="2200" dirty="0" smtClean="0">
                <a:latin typeface="Helvetica" pitchFamily="34" charset="0"/>
              </a:rPr>
              <a:t>Planning introduction of identified theft minimisation protocols</a:t>
            </a:r>
          </a:p>
          <a:p>
            <a:pPr marL="360000" indent="-360000">
              <a:spcBef>
                <a:spcPts val="600"/>
              </a:spcBef>
              <a:spcAft>
                <a:spcPts val="1200"/>
              </a:spcAft>
            </a:pPr>
            <a:r>
              <a:rPr lang="en-AU" sz="2200" dirty="0" smtClean="0">
                <a:latin typeface="Helvetica" pitchFamily="34" charset="0"/>
              </a:rPr>
              <a:t>Advising staff in relation to the trial</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572000" y="1988840"/>
            <a:ext cx="4212468" cy="280831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Trial and revise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AU" sz="2000" dirty="0" smtClean="0">
                <a:latin typeface="Helvetica" pitchFamily="34" charset="0"/>
              </a:rPr>
              <a:t>Testing systems and equipment under real working conditions</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Recording outcomes of the trial.</a:t>
            </a:r>
            <a:endParaRPr lang="en-US" sz="20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BFAF8"/>
              </a:clrFrom>
              <a:clrTo>
                <a:srgbClr val="FBFAF8">
                  <a:alpha val="0"/>
                </a:srgbClr>
              </a:clrTo>
            </a:clrChange>
            <a:extLst>
              <a:ext uri="{28A0092B-C50C-407E-A947-70E740481C1C}">
                <a14:useLocalDpi xmlns="" xmlns:a14="http://schemas.microsoft.com/office/drawing/2010/main"/>
              </a:ext>
            </a:extLst>
          </a:blip>
          <a:stretch>
            <a:fillRect/>
          </a:stretch>
        </p:blipFill>
        <p:spPr>
          <a:xfrm>
            <a:off x="3851920" y="1700808"/>
            <a:ext cx="4860000" cy="3240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Trial and revise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320480"/>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Evaluation of trials of theft minimisation protocols:</a:t>
            </a:r>
          </a:p>
          <a:p>
            <a:pPr marL="360000" indent="-360000">
              <a:spcBef>
                <a:spcPts val="600"/>
              </a:spcBef>
              <a:spcAft>
                <a:spcPts val="1200"/>
              </a:spcAft>
            </a:pPr>
            <a:r>
              <a:rPr lang="en-US" sz="2200" dirty="0" smtClean="0">
                <a:latin typeface="Helvetica" pitchFamily="34" charset="0"/>
              </a:rPr>
              <a:t>Requires asking and consideration or relevant questions – for example: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How well/badly did they work?</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What needs to be changed?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Was the test/trial ‘realistic’?</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a:stretch/>
        </p:blipFill>
        <p:spPr>
          <a:xfrm>
            <a:off x="5004048" y="2276872"/>
            <a:ext cx="2863379" cy="3240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Trial and revise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Activities required when revising theft minimisation protocols after they have been trialled may require:</a:t>
            </a:r>
          </a:p>
          <a:p>
            <a:pPr marL="360000" indent="-360000">
              <a:spcBef>
                <a:spcPts val="600"/>
              </a:spcBef>
              <a:spcAft>
                <a:spcPts val="1200"/>
              </a:spcAft>
            </a:pPr>
            <a:r>
              <a:rPr lang="en-US" sz="2000" dirty="0" smtClean="0">
                <a:latin typeface="Helvetica" pitchFamily="34" charset="0"/>
              </a:rPr>
              <a:t>Refining the initiative</a:t>
            </a:r>
          </a:p>
          <a:p>
            <a:pPr marL="360000" indent="-360000">
              <a:spcBef>
                <a:spcPts val="600"/>
              </a:spcBef>
              <a:spcAft>
                <a:spcPts val="1200"/>
              </a:spcAft>
            </a:pPr>
            <a:r>
              <a:rPr lang="en-US" sz="2000" dirty="0" smtClean="0">
                <a:latin typeface="Helvetica" pitchFamily="34" charset="0"/>
              </a:rPr>
              <a:t>Producing a revised plan</a:t>
            </a:r>
          </a:p>
          <a:p>
            <a:pPr marL="360000" indent="-360000">
              <a:spcBef>
                <a:spcPts val="600"/>
              </a:spcBef>
              <a:spcAft>
                <a:spcPts val="1200"/>
              </a:spcAft>
            </a:pPr>
            <a:r>
              <a:rPr lang="en-US" sz="2000" dirty="0" smtClean="0">
                <a:latin typeface="Helvetica" pitchFamily="34" charset="0"/>
              </a:rPr>
              <a:t>Communicating the revised plan</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148064" y="2132856"/>
            <a:ext cx="2332800" cy="3240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Trial and revise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165923"/>
          </a:xfrm>
        </p:spPr>
        <p:txBody>
          <a:bodyPr>
            <a:normAutofit/>
          </a:bodyPr>
          <a:lstStyle/>
          <a:p>
            <a:pPr marL="360000" indent="-360000">
              <a:spcBef>
                <a:spcPts val="600"/>
              </a:spcBef>
              <a:spcAft>
                <a:spcPts val="1200"/>
              </a:spcAft>
            </a:pPr>
            <a:r>
              <a:rPr lang="en-US" sz="2000" dirty="0" smtClean="0">
                <a:latin typeface="Helvetica" pitchFamily="34" charset="0"/>
              </a:rPr>
              <a:t>Conducting a second trial using the revised plan/initiative</a:t>
            </a:r>
          </a:p>
          <a:p>
            <a:pPr marL="360000" indent="-360000">
              <a:spcBef>
                <a:spcPts val="600"/>
              </a:spcBef>
              <a:spcAft>
                <a:spcPts val="1200"/>
              </a:spcAft>
            </a:pPr>
            <a:r>
              <a:rPr lang="en-US" sz="2000" dirty="0" smtClean="0">
                <a:latin typeface="Helvetica" pitchFamily="34" charset="0"/>
              </a:rPr>
              <a:t>Monitoring the outcome and capturing data</a:t>
            </a:r>
          </a:p>
          <a:p>
            <a:pPr marL="360000" indent="-360000">
              <a:spcBef>
                <a:spcPts val="600"/>
              </a:spcBef>
              <a:spcAft>
                <a:spcPts val="1200"/>
              </a:spcAft>
            </a:pPr>
            <a:r>
              <a:rPr lang="en-US" sz="2000" dirty="0" smtClean="0">
                <a:latin typeface="Helvetica" pitchFamily="34" charset="0"/>
              </a:rPr>
              <a:t>Evaluating results</a:t>
            </a:r>
          </a:p>
          <a:p>
            <a:pPr marL="360000" indent="-360000">
              <a:spcBef>
                <a:spcPts val="600"/>
              </a:spcBef>
              <a:spcAft>
                <a:spcPts val="1200"/>
              </a:spcAft>
            </a:pPr>
            <a:r>
              <a:rPr lang="en-US" sz="2000" dirty="0" smtClean="0">
                <a:latin typeface="Helvetica" pitchFamily="34" charset="0"/>
              </a:rPr>
              <a:t>Integrating finding into revised SOPs.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148064" y="2204864"/>
            <a:ext cx="2336936" cy="3240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theft minimisation protocols to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320480"/>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Ways to communicate protocols and requirements:</a:t>
            </a:r>
          </a:p>
          <a:p>
            <a:pPr marL="360000" indent="-360000">
              <a:spcBef>
                <a:spcPts val="600"/>
              </a:spcBef>
              <a:spcAft>
                <a:spcPts val="1200"/>
              </a:spcAft>
            </a:pPr>
            <a:r>
              <a:rPr lang="en-AU" sz="2200" dirty="0" smtClean="0">
                <a:latin typeface="Helvetica" pitchFamily="34" charset="0"/>
              </a:rPr>
              <a:t>Integrate new and/or revised anti-theft measures into existing in-house training and/or induction programs</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Provide training</a:t>
            </a:r>
          </a:p>
          <a:p>
            <a:pPr marL="360000" indent="-360000">
              <a:spcBef>
                <a:spcPts val="600"/>
              </a:spcBef>
              <a:spcAft>
                <a:spcPts val="1200"/>
              </a:spcAft>
            </a:pPr>
            <a:r>
              <a:rPr lang="en-US" sz="2200" dirty="0" smtClean="0">
                <a:latin typeface="Helvetica" pitchFamily="34" charset="0"/>
              </a:rPr>
              <a:t>Conduct demonstrations</a:t>
            </a:r>
          </a:p>
          <a:p>
            <a:pPr marL="360000" indent="-360000">
              <a:spcBef>
                <a:spcPts val="600"/>
              </a:spcBef>
              <a:spcAft>
                <a:spcPts val="1200"/>
              </a:spcAft>
            </a:pPr>
            <a:r>
              <a:rPr lang="en-US" sz="2200" dirty="0" smtClean="0">
                <a:latin typeface="Helvetica" pitchFamily="34" charset="0"/>
              </a:rPr>
              <a:t>Provide hard-copy support materials</a:t>
            </a:r>
          </a:p>
          <a:p>
            <a:pPr marL="360000" indent="-360000">
              <a:spcBef>
                <a:spcPts val="600"/>
              </a:spcBef>
              <a:spcAft>
                <a:spcPts val="1200"/>
              </a:spcAft>
            </a:pPr>
            <a:r>
              <a:rPr lang="en-US" sz="2200" dirty="0" smtClean="0">
                <a:latin typeface="Helvetica" pitchFamily="34" charset="0"/>
              </a:rPr>
              <a:t>Conduct mock exercises/drills.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870331"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When establishing theft minimisation protocols:</a:t>
            </a:r>
          </a:p>
          <a:p>
            <a:pPr marL="360000" indent="-360000">
              <a:spcBef>
                <a:spcPts val="600"/>
              </a:spcBef>
              <a:spcAft>
                <a:spcPts val="1200"/>
              </a:spcAft>
            </a:pPr>
            <a:r>
              <a:rPr lang="en-AU" sz="2200" dirty="0" smtClean="0">
                <a:latin typeface="Helvetica" pitchFamily="34" charset="0"/>
              </a:rPr>
              <a:t>Research options by looking internally at the business and seeking external input and advice</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Review protocols which already exist in the business to determine of they are adequate or require updating </a:t>
            </a:r>
          </a:p>
          <a:p>
            <a:pPr marL="360000" indent="-360000">
              <a:spcBef>
                <a:spcPts val="600"/>
              </a:spcBef>
              <a:spcAft>
                <a:spcPts val="1200"/>
              </a:spcAft>
            </a:pPr>
            <a:r>
              <a:rPr lang="en-AU" sz="2200" dirty="0" smtClean="0">
                <a:latin typeface="Helvetica" pitchFamily="34" charset="0"/>
              </a:rPr>
              <a:t>Ensure the process embraces understanding of the 3D approach – Deter, Deny, Delay</a:t>
            </a:r>
          </a:p>
          <a:p>
            <a:pPr marL="360000" indent="-360000">
              <a:spcBef>
                <a:spcPts val="600"/>
              </a:spcBef>
              <a:spcAft>
                <a:spcPts val="1200"/>
              </a:spcAft>
              <a:buNone/>
            </a:pPr>
            <a:r>
              <a:rPr lang="en-US" sz="1400"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CFCFE"/>
              </a:clrFrom>
              <a:clrTo>
                <a:srgbClr val="FCFCFE">
                  <a:alpha val="0"/>
                </a:srgbClr>
              </a:clrTo>
            </a:clrChange>
            <a:extLst>
              <a:ext uri="{28A0092B-C50C-407E-A947-70E740481C1C}">
                <a14:useLocalDpi xmlns="" xmlns:a14="http://schemas.microsoft.com/office/drawing/2010/main"/>
              </a:ext>
            </a:extLst>
          </a:blip>
          <a:srcRect/>
          <a:stretch/>
        </p:blipFill>
        <p:spPr>
          <a:xfrm>
            <a:off x="5220072" y="2060847"/>
            <a:ext cx="1394373" cy="408352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680520"/>
          </a:xfrm>
        </p:spPr>
        <p:txBody>
          <a:bodyPr>
            <a:normAutofit fontScale="92500" lnSpcReduction="10000"/>
          </a:bodyPr>
          <a:lstStyle/>
          <a:p>
            <a:pPr marL="360000" indent="-360000">
              <a:spcBef>
                <a:spcPts val="600"/>
              </a:spcBef>
              <a:spcAft>
                <a:spcPts val="1200"/>
              </a:spcAft>
            </a:pPr>
            <a:r>
              <a:rPr lang="en-AU" sz="2200" dirty="0" smtClean="0">
                <a:latin typeface="Helvetica" pitchFamily="34" charset="0"/>
              </a:rPr>
              <a:t>Integrate high levels of customer service into theft minimisation protocols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Generate theft-related policies to reflect goals of the business and underpin procedures developed</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Prepare, trial and revise practical, effective and viable procedures which enable attainment of the objectives of the theft minimisation policy/policies</a:t>
            </a:r>
            <a:endParaRPr lang="en-US" sz="22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932040" y="2204864"/>
            <a:ext cx="2716085" cy="32400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433224"/>
          </a:xfrm>
        </p:spPr>
        <p:txBody>
          <a:bodyPr>
            <a:normAutofit fontScale="92500" lnSpcReduction="10000"/>
          </a:bodyPr>
          <a:lstStyle/>
          <a:p>
            <a:pPr marL="360000" indent="-360000">
              <a:spcBef>
                <a:spcPts val="600"/>
              </a:spcBef>
              <a:spcAft>
                <a:spcPts val="1200"/>
              </a:spcAft>
            </a:pPr>
            <a:r>
              <a:rPr lang="en-AU" sz="2200" dirty="0" smtClean="0">
                <a:latin typeface="Helvetica" pitchFamily="34" charset="0"/>
              </a:rPr>
              <a:t>Appreciate how knowledge of the ‘control cycle’ concept guides development of protocols</a:t>
            </a:r>
          </a:p>
          <a:p>
            <a:pPr marL="360000" indent="-360000">
              <a:spcBef>
                <a:spcPts val="600"/>
              </a:spcBef>
              <a:spcAft>
                <a:spcPts val="1200"/>
              </a:spcAft>
            </a:pPr>
            <a:r>
              <a:rPr lang="en-AU" sz="2200" dirty="0" smtClean="0">
                <a:latin typeface="Helvetica" pitchFamily="34" charset="0"/>
              </a:rPr>
              <a:t>Inform staff of policies and procedures and train them in implementation</a:t>
            </a:r>
          </a:p>
          <a:p>
            <a:pPr marL="360000" indent="-360000">
              <a:spcBef>
                <a:spcPts val="600"/>
              </a:spcBef>
              <a:spcAft>
                <a:spcPts val="1200"/>
              </a:spcAft>
            </a:pPr>
            <a:r>
              <a:rPr lang="en-AU" sz="2200" dirty="0" smtClean="0">
                <a:latin typeface="Helvetica" pitchFamily="34" charset="0"/>
              </a:rPr>
              <a:t>Monitor staff performance in relation to implementation</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Develop and distribute hard-copy materials to enable and support theft minimisation protocols</a:t>
            </a:r>
            <a:r>
              <a:rPr lang="en-US" sz="2200" dirty="0" smtClean="0">
                <a:latin typeface="Helvetica" pitchFamily="34" charset="0"/>
              </a:rPr>
              <a: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a:stretch/>
        </p:blipFill>
        <p:spPr>
          <a:xfrm>
            <a:off x="4572000" y="2420888"/>
            <a:ext cx="1988951" cy="32400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Autofit/>
          </a:bodyPr>
          <a:lstStyle/>
          <a:p>
            <a:r>
              <a:rPr lang="en-US" sz="3400" b="1" dirty="0" smtClean="0">
                <a:solidFill>
                  <a:srgbClr val="FF6600"/>
                </a:solidFill>
                <a:latin typeface="Helvetica" pitchFamily="34" charset="0"/>
              </a:rPr>
              <a:t>Element 3 – Utilise internal and external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AU" sz="2200" dirty="0" smtClean="0">
                <a:latin typeface="Helvetica" pitchFamily="34" charset="0"/>
              </a:rPr>
              <a:t>Initiate and apply identified theft minimisation protocols in accordance with established procedures and plans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Engage the services of loss prevention officers</a:t>
            </a:r>
          </a:p>
          <a:p>
            <a:pPr marL="360000" indent="-360000">
              <a:spcBef>
                <a:spcPts val="600"/>
              </a:spcBef>
              <a:spcAft>
                <a:spcPts val="1200"/>
              </a:spcAft>
            </a:pPr>
            <a:r>
              <a:rPr lang="en-AU" sz="2200" dirty="0" smtClean="0">
                <a:latin typeface="Helvetica" pitchFamily="34" charset="0"/>
              </a:rPr>
              <a:t>Install and activate security systems and anti-theft equipment in accordance with identified requirements</a:t>
            </a:r>
          </a:p>
          <a:p>
            <a:pPr marL="360000" indent="-360000">
              <a:spcBef>
                <a:spcPts val="600"/>
              </a:spcBef>
              <a:spcAft>
                <a:spcPts val="1200"/>
              </a:spcAft>
              <a:buNone/>
            </a:pPr>
            <a:r>
              <a:rPr lang="en-US" sz="1800"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860032" y="2204864"/>
            <a:ext cx="3913044" cy="3240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AU" sz="2000" dirty="0" smtClean="0">
                <a:latin typeface="Helvetica" pitchFamily="34" charset="0"/>
              </a:rPr>
              <a:t>Provide for special access and entry provisions</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Verify and validate all cash and stock transactions</a:t>
            </a:r>
          </a:p>
          <a:p>
            <a:pPr marL="360000" indent="-360000">
              <a:spcBef>
                <a:spcPts val="600"/>
              </a:spcBef>
              <a:spcAft>
                <a:spcPts val="1200"/>
              </a:spcAft>
            </a:pPr>
            <a:r>
              <a:rPr lang="en-AU" sz="2000" dirty="0" smtClean="0">
                <a:latin typeface="Helvetica" pitchFamily="34" charset="0"/>
              </a:rPr>
              <a:t>Observe people to identify suspicious behaviour</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Take action where theft is observed or believed to be occurring</a:t>
            </a:r>
            <a:r>
              <a:rPr lang="en-US" sz="2000" dirty="0" smtClean="0">
                <a:latin typeface="Helvetica" pitchFamily="34" charset="0"/>
              </a:rPr>
              <a: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076056" y="2636912"/>
            <a:ext cx="3261219" cy="2160000"/>
          </a:xfrm>
          <a:prstGeom prst="rect">
            <a:avLst/>
          </a:prstGeom>
          <a:ln>
            <a:noFill/>
          </a:ln>
          <a:effectLst>
            <a:outerShdw blurRad="292100" dist="139700" dir="2700000" algn="tl" rotWithShape="0">
              <a:srgbClr val="333333">
                <a:alpha val="65000"/>
              </a:srgbClr>
            </a:outerShdw>
          </a:effectLst>
        </p:spPr>
      </p:pic>
      <p:sp>
        <p:nvSpPr>
          <p:cNvPr id="7" name="Title 1"/>
          <p:cNvSpPr>
            <a:spLocks noGrp="1"/>
          </p:cNvSpPr>
          <p:nvPr>
            <p:ph type="title"/>
          </p:nvPr>
        </p:nvSpPr>
        <p:spPr>
          <a:xfrm>
            <a:off x="611560" y="332656"/>
            <a:ext cx="8136904" cy="1143000"/>
          </a:xfrm>
        </p:spPr>
        <p:txBody>
          <a:bodyPr>
            <a:noAutofit/>
          </a:bodyPr>
          <a:lstStyle/>
          <a:p>
            <a:r>
              <a:rPr lang="en-US" sz="3400" b="1" dirty="0" smtClean="0">
                <a:solidFill>
                  <a:srgbClr val="FF6600"/>
                </a:solidFill>
                <a:latin typeface="Helvetica" pitchFamily="34" charset="0"/>
              </a:rPr>
              <a:t>Element 3 – Utilise internal and external theft minimisation protocols</a:t>
            </a:r>
            <a:endParaRPr lang="en-US" sz="3400" b="1" dirty="0">
              <a:solidFill>
                <a:srgbClr val="FF6600"/>
              </a:solidFill>
              <a:latin typeface="Helvetica"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Initiate and apply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Initiating and applying protocols involves:</a:t>
            </a:r>
          </a:p>
          <a:p>
            <a:pPr marL="360000" indent="-360000">
              <a:spcBef>
                <a:spcPts val="600"/>
              </a:spcBef>
              <a:spcAft>
                <a:spcPts val="1200"/>
              </a:spcAft>
            </a:pPr>
            <a:r>
              <a:rPr lang="en-US" sz="2000" dirty="0" smtClean="0">
                <a:latin typeface="Helvetica" pitchFamily="34" charset="0"/>
              </a:rPr>
              <a:t>Following established practices and procedures</a:t>
            </a:r>
          </a:p>
          <a:p>
            <a:pPr marL="360000" indent="-360000">
              <a:spcBef>
                <a:spcPts val="600"/>
              </a:spcBef>
              <a:spcAft>
                <a:spcPts val="1200"/>
              </a:spcAft>
            </a:pPr>
            <a:r>
              <a:rPr lang="en-US" sz="2000" dirty="0" smtClean="0">
                <a:latin typeface="Helvetica" pitchFamily="34" charset="0"/>
              </a:rPr>
              <a:t>Completing required documentation</a:t>
            </a:r>
          </a:p>
          <a:p>
            <a:pPr marL="360000" indent="-360000">
              <a:spcBef>
                <a:spcPts val="600"/>
              </a:spcBef>
              <a:spcAft>
                <a:spcPts val="1200"/>
              </a:spcAft>
            </a:pPr>
            <a:r>
              <a:rPr lang="en-US" sz="2000" dirty="0" smtClean="0">
                <a:latin typeface="Helvetica" pitchFamily="34" charset="0"/>
              </a:rPr>
              <a:t>Monitoring security systems and devices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32040" y="2348880"/>
            <a:ext cx="3313368"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Initiate and apply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360000" indent="-360000">
              <a:spcBef>
                <a:spcPts val="600"/>
              </a:spcBef>
              <a:spcAft>
                <a:spcPts val="1200"/>
              </a:spcAft>
            </a:pPr>
            <a:r>
              <a:rPr lang="en-AU" sz="2200" dirty="0" smtClean="0">
                <a:latin typeface="Helvetica" pitchFamily="34" charset="0"/>
              </a:rPr>
              <a:t>Implementing identified theft minimisation procedures for cash, cash handling and transactions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Implementing identified theft minimisation procedures for tickets and vouchers</a:t>
            </a:r>
          </a:p>
          <a:p>
            <a:pPr marL="360000" indent="-360000">
              <a:spcBef>
                <a:spcPts val="600"/>
              </a:spcBef>
              <a:spcAft>
                <a:spcPts val="1200"/>
              </a:spcAft>
            </a:pPr>
            <a:r>
              <a:rPr lang="en-AU" sz="2200" dirty="0" smtClean="0">
                <a:latin typeface="Helvetica" pitchFamily="34" charset="0"/>
              </a:rPr>
              <a:t>Implementing identified theft minimisation procedures for the control of keys</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6" name="Picture 5"/>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111552" y="2564904"/>
            <a:ext cx="4032448" cy="2670843"/>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Initiate and apply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AU" sz="2000" dirty="0" smtClean="0">
                <a:latin typeface="Helvetica" pitchFamily="34" charset="0"/>
              </a:rPr>
              <a:t>Implementing identified theft minimisation procedures relating to organisational assets</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Implementing identified theft minimisation procedures relating to stock and supplies.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364088" y="2204864"/>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Initiate and apply theft minimisation protocols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AU" sz="2000" dirty="0" smtClean="0">
                <a:latin typeface="Helvetica" pitchFamily="34" charset="0"/>
              </a:rPr>
              <a:t>Implementing identified theft minimisation procedures for the protection of business data</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Implementing identified theft minimisation procedures relating to identify theft.</a:t>
            </a:r>
            <a:endParaRPr lang="en-US" sz="20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20072" y="2132856"/>
            <a:ext cx="3130435"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Engage the service of Loss Prevention Officers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Preventing stealing/shoplifting = ‘loss prevention’.</a:t>
            </a:r>
          </a:p>
          <a:p>
            <a:pPr marL="0" indent="0">
              <a:spcBef>
                <a:spcPts val="600"/>
              </a:spcBef>
              <a:spcAft>
                <a:spcPts val="1200"/>
              </a:spcAft>
              <a:buNone/>
            </a:pPr>
            <a:r>
              <a:rPr lang="en-US" sz="2200" dirty="0" smtClean="0">
                <a:latin typeface="Helvetica" pitchFamily="34" charset="0"/>
              </a:rPr>
              <a:t>Many businesses use Loss Prevention Officers:</a:t>
            </a:r>
          </a:p>
          <a:p>
            <a:pPr marL="360000" indent="-360000">
              <a:lnSpc>
                <a:spcPct val="120000"/>
              </a:lnSpc>
              <a:spcBef>
                <a:spcPts val="400"/>
              </a:spcBef>
              <a:spcAft>
                <a:spcPts val="400"/>
              </a:spcAft>
            </a:pPr>
            <a:r>
              <a:rPr lang="en-US" sz="2200" dirty="0" smtClean="0">
                <a:latin typeface="Helvetica" pitchFamily="34" charset="0"/>
              </a:rPr>
              <a:t>In plainclothes to detect shoplifters</a:t>
            </a:r>
          </a:p>
          <a:p>
            <a:pPr marL="360000" indent="-360000">
              <a:lnSpc>
                <a:spcPct val="120000"/>
              </a:lnSpc>
              <a:spcBef>
                <a:spcPts val="400"/>
              </a:spcBef>
              <a:spcAft>
                <a:spcPts val="400"/>
              </a:spcAft>
            </a:pPr>
            <a:r>
              <a:rPr lang="en-US" sz="2200" dirty="0" smtClean="0">
                <a:latin typeface="Helvetica" pitchFamily="34" charset="0"/>
              </a:rPr>
              <a:t>In conjunction with Static Guards</a:t>
            </a:r>
          </a:p>
          <a:p>
            <a:pPr marL="360000" indent="-360000">
              <a:lnSpc>
                <a:spcPct val="120000"/>
              </a:lnSpc>
              <a:spcBef>
                <a:spcPts val="400"/>
              </a:spcBef>
              <a:spcAft>
                <a:spcPts val="400"/>
              </a:spcAft>
            </a:pPr>
            <a:r>
              <a:rPr lang="en-US" sz="2200" dirty="0" smtClean="0">
                <a:latin typeface="Helvetica" pitchFamily="34" charset="0"/>
              </a:rPr>
              <a:t>At random times/locations</a:t>
            </a:r>
          </a:p>
          <a:p>
            <a:pPr marL="360000" indent="-360000">
              <a:lnSpc>
                <a:spcPct val="120000"/>
              </a:lnSpc>
              <a:spcBef>
                <a:spcPts val="400"/>
              </a:spcBef>
              <a:spcAft>
                <a:spcPts val="400"/>
              </a:spcAft>
            </a:pPr>
            <a:r>
              <a:rPr lang="en-US" sz="2200" dirty="0" smtClean="0">
                <a:latin typeface="Helvetica" pitchFamily="34" charset="0"/>
              </a:rPr>
              <a:t>Using different people at various times</a:t>
            </a:r>
          </a:p>
          <a:p>
            <a:pPr marL="360000" indent="-360000">
              <a:lnSpc>
                <a:spcPct val="120000"/>
              </a:lnSpc>
              <a:spcBef>
                <a:spcPts val="400"/>
              </a:spcBef>
              <a:spcAft>
                <a:spcPts val="400"/>
              </a:spcAft>
            </a:pPr>
            <a:r>
              <a:rPr lang="en-US" sz="2200" dirty="0" smtClean="0">
                <a:latin typeface="Helvetica" pitchFamily="34" charset="0"/>
              </a:rPr>
              <a:t>Whose identity is kept secret even from staff.</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364088" y="2924944"/>
            <a:ext cx="3156988"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Install and activate security systems and antitheft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888432"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‘Technology’:</a:t>
            </a:r>
          </a:p>
          <a:p>
            <a:pPr marL="360000" indent="-360000">
              <a:spcBef>
                <a:spcPts val="600"/>
              </a:spcBef>
              <a:spcAft>
                <a:spcPts val="1200"/>
              </a:spcAft>
            </a:pPr>
            <a:r>
              <a:rPr lang="en-US" sz="2200" dirty="0" smtClean="0">
                <a:latin typeface="Helvetica" pitchFamily="34" charset="0"/>
              </a:rPr>
              <a:t>Where there is clear ‘line of sight’ CCTV, alarms, pressure pads, motion sensors and mirrors may be used</a:t>
            </a:r>
          </a:p>
          <a:p>
            <a:pPr marL="360000" indent="-360000">
              <a:spcBef>
                <a:spcPts val="600"/>
              </a:spcBef>
              <a:spcAft>
                <a:spcPts val="1200"/>
              </a:spcAft>
            </a:pPr>
            <a:r>
              <a:rPr lang="en-US" sz="2200" dirty="0" smtClean="0">
                <a:latin typeface="Helvetica" pitchFamily="34" charset="0"/>
              </a:rPr>
              <a:t>CCTV ‘domes’ are sometimes used to give the impression cameras exist where there are none</a:t>
            </a:r>
          </a:p>
          <a:p>
            <a:pPr marL="360000" indent="-360000">
              <a:spcBef>
                <a:spcPts val="600"/>
              </a:spcBef>
              <a:spcAft>
                <a:spcPts val="1200"/>
              </a:spcAft>
            </a:pPr>
            <a:r>
              <a:rPr lang="en-US" sz="2200" dirty="0" smtClean="0">
                <a:latin typeface="Helvetica" pitchFamily="34" charset="0"/>
              </a:rPr>
              <a:t>Posters/signage usually advises customers these items are being used.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364088" y="2708920"/>
            <a:ext cx="3313368"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Install and activate security systems and antitheft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PA systems = Public Address systems.</a:t>
            </a:r>
          </a:p>
          <a:p>
            <a:pPr marL="0" indent="0">
              <a:spcBef>
                <a:spcPts val="600"/>
              </a:spcBef>
              <a:spcAft>
                <a:spcPts val="1200"/>
              </a:spcAft>
              <a:buNone/>
            </a:pPr>
            <a:r>
              <a:rPr lang="en-US" sz="2200" dirty="0" smtClean="0">
                <a:latin typeface="Helvetica" pitchFamily="34" charset="0"/>
              </a:rPr>
              <a:t>Can be used:</a:t>
            </a:r>
          </a:p>
          <a:p>
            <a:pPr marL="360000" indent="-360000">
              <a:spcBef>
                <a:spcPts val="600"/>
              </a:spcBef>
              <a:spcAft>
                <a:spcPts val="1200"/>
              </a:spcAft>
            </a:pPr>
            <a:r>
              <a:rPr lang="en-US" sz="2200" dirty="0" smtClean="0">
                <a:latin typeface="Helvetica" pitchFamily="34" charset="0"/>
              </a:rPr>
              <a:t>To broadcast messages giving the impressions guards/security staff exist</a:t>
            </a:r>
          </a:p>
          <a:p>
            <a:pPr marL="360000" indent="-360000">
              <a:spcBef>
                <a:spcPts val="600"/>
              </a:spcBef>
              <a:spcAft>
                <a:spcPts val="1200"/>
              </a:spcAft>
            </a:pPr>
            <a:r>
              <a:rPr lang="en-US" sz="2200" dirty="0" smtClean="0">
                <a:latin typeface="Helvetica" pitchFamily="34" charset="0"/>
              </a:rPr>
              <a:t>To summon help in the event of an incident</a:t>
            </a:r>
          </a:p>
          <a:p>
            <a:pPr marL="360000" indent="-360000">
              <a:spcBef>
                <a:spcPts val="600"/>
              </a:spcBef>
              <a:spcAft>
                <a:spcPts val="1200"/>
              </a:spcAft>
            </a:pPr>
            <a:r>
              <a:rPr lang="en-US" sz="2200" dirty="0" smtClean="0">
                <a:latin typeface="Helvetica" pitchFamily="34" charset="0"/>
              </a:rPr>
              <a:t>To assist with emergencies/evacuations</a:t>
            </a:r>
          </a:p>
          <a:p>
            <a:pPr marL="360000" indent="-360000">
              <a:spcBef>
                <a:spcPts val="600"/>
              </a:spcBef>
              <a:spcAft>
                <a:spcPts val="1200"/>
              </a:spcAft>
            </a:pPr>
            <a:r>
              <a:rPr lang="en-US" sz="2200" dirty="0" smtClean="0">
                <a:latin typeface="Helvetica" pitchFamily="34" charset="0"/>
              </a:rPr>
              <a:t>To sell/promote products, services and packages.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148064" y="2348880"/>
            <a:ext cx="2151940" cy="32400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Install and activate security systems and antitheft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EAS = Electronic Article Surveillance.</a:t>
            </a:r>
          </a:p>
          <a:p>
            <a:pPr marL="0" indent="0">
              <a:spcBef>
                <a:spcPts val="600"/>
              </a:spcBef>
              <a:spcAft>
                <a:spcPts val="1200"/>
              </a:spcAft>
              <a:buNone/>
            </a:pPr>
            <a:r>
              <a:rPr lang="en-US" sz="2000" dirty="0" smtClean="0">
                <a:latin typeface="Helvetica" pitchFamily="34" charset="0"/>
              </a:rPr>
              <a:t>RFID – Radio Frequency Identification.</a:t>
            </a:r>
          </a:p>
          <a:p>
            <a:pPr marL="0" indent="0">
              <a:spcBef>
                <a:spcPts val="600"/>
              </a:spcBef>
              <a:spcAft>
                <a:spcPts val="1200"/>
              </a:spcAft>
              <a:buNone/>
            </a:pPr>
            <a:r>
              <a:rPr lang="en-US" sz="2000" dirty="0" smtClean="0">
                <a:latin typeface="Helvetica" pitchFamily="34" charset="0"/>
              </a:rPr>
              <a:t>EAS is attached to goods and needs to be removed by the business before the product leaves the store or a dye bomb or audible alarm will activate.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 xmlns:a14="http://schemas.microsoft.com/office/drawing/2010/main"/>
              </a:ext>
            </a:extLst>
          </a:blip>
          <a:srcRect/>
          <a:stretch/>
        </p:blipFill>
        <p:spPr>
          <a:xfrm>
            <a:off x="4788024" y="1916832"/>
            <a:ext cx="3860467" cy="3240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Install and activate security systems and antitheft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888432" cy="4093915"/>
          </a:xfrm>
        </p:spPr>
        <p:txBody>
          <a:bodyPr>
            <a:normAutofit/>
          </a:bodyPr>
          <a:lstStyle/>
          <a:p>
            <a:pPr marL="0" indent="0">
              <a:spcBef>
                <a:spcPts val="600"/>
              </a:spcBef>
              <a:spcAft>
                <a:spcPts val="1200"/>
              </a:spcAft>
              <a:buNone/>
            </a:pPr>
            <a:r>
              <a:rPr lang="en-US" sz="2000" dirty="0" smtClean="0">
                <a:latin typeface="Helvetica" pitchFamily="34" charset="0"/>
              </a:rPr>
              <a:t>‘Physical barriers’ restrict/deny access to products:</a:t>
            </a:r>
          </a:p>
          <a:p>
            <a:pPr marL="360000" indent="-360000">
              <a:spcBef>
                <a:spcPts val="600"/>
              </a:spcBef>
              <a:spcAft>
                <a:spcPts val="1200"/>
              </a:spcAft>
            </a:pPr>
            <a:r>
              <a:rPr lang="en-US" sz="2000" dirty="0" smtClean="0">
                <a:latin typeface="Helvetica" pitchFamily="34" charset="0"/>
              </a:rPr>
              <a:t>Doors  and locks</a:t>
            </a:r>
          </a:p>
          <a:p>
            <a:pPr marL="360000" indent="-360000">
              <a:spcBef>
                <a:spcPts val="600"/>
              </a:spcBef>
              <a:spcAft>
                <a:spcPts val="1200"/>
              </a:spcAft>
            </a:pPr>
            <a:r>
              <a:rPr lang="en-US" sz="2000" dirty="0" smtClean="0">
                <a:latin typeface="Helvetica" pitchFamily="34" charset="0"/>
              </a:rPr>
              <a:t>Turnstiles and ropes</a:t>
            </a:r>
          </a:p>
          <a:p>
            <a:pPr marL="360000" indent="-360000">
              <a:spcBef>
                <a:spcPts val="600"/>
              </a:spcBef>
              <a:spcAft>
                <a:spcPts val="1200"/>
              </a:spcAft>
            </a:pPr>
            <a:r>
              <a:rPr lang="en-US" sz="2000" dirty="0" smtClean="0">
                <a:latin typeface="Helvetica" pitchFamily="34" charset="0"/>
              </a:rPr>
              <a:t>Gates and booms</a:t>
            </a:r>
          </a:p>
          <a:p>
            <a:pPr marL="360000" indent="-360000">
              <a:spcBef>
                <a:spcPts val="600"/>
              </a:spcBef>
              <a:spcAft>
                <a:spcPts val="1200"/>
              </a:spcAft>
            </a:pPr>
            <a:r>
              <a:rPr lang="en-US" sz="2000" dirty="0" smtClean="0">
                <a:latin typeface="Helvetica" pitchFamily="34" charset="0"/>
              </a:rPr>
              <a:t>Partitions and chains.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004048" y="1844824"/>
            <a:ext cx="4463739" cy="4463739"/>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Install and activate security systems and antitheft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Keys in installation and activation:</a:t>
            </a:r>
          </a:p>
          <a:p>
            <a:pPr marL="360000" indent="-360000">
              <a:spcBef>
                <a:spcPts val="600"/>
              </a:spcBef>
              <a:spcAft>
                <a:spcPts val="1200"/>
              </a:spcAft>
            </a:pPr>
            <a:r>
              <a:rPr lang="en-US" sz="2200" dirty="0" smtClean="0">
                <a:latin typeface="Helvetica" pitchFamily="34" charset="0"/>
              </a:rPr>
              <a:t>Follow manufacturer’s instructions</a:t>
            </a:r>
          </a:p>
          <a:p>
            <a:pPr marL="360000" indent="-360000">
              <a:spcBef>
                <a:spcPts val="600"/>
              </a:spcBef>
              <a:spcAft>
                <a:spcPts val="1200"/>
              </a:spcAft>
            </a:pPr>
            <a:r>
              <a:rPr lang="en-US" sz="2200" dirty="0" smtClean="0">
                <a:latin typeface="Helvetica" pitchFamily="34" charset="0"/>
              </a:rPr>
              <a:t>Undertake necessary training</a:t>
            </a:r>
          </a:p>
          <a:p>
            <a:pPr marL="360000" indent="-360000">
              <a:spcBef>
                <a:spcPts val="600"/>
              </a:spcBef>
              <a:spcAft>
                <a:spcPts val="1200"/>
              </a:spcAft>
            </a:pPr>
            <a:r>
              <a:rPr lang="en-US" sz="2200" dirty="0" smtClean="0">
                <a:latin typeface="Helvetica" pitchFamily="34" charset="0"/>
              </a:rPr>
              <a:t>Practice</a:t>
            </a:r>
          </a:p>
          <a:p>
            <a:pPr marL="360000" indent="-360000">
              <a:spcBef>
                <a:spcPts val="600"/>
              </a:spcBef>
              <a:spcAft>
                <a:spcPts val="1200"/>
              </a:spcAft>
            </a:pPr>
            <a:r>
              <a:rPr lang="en-US" sz="2200" dirty="0" smtClean="0">
                <a:latin typeface="Helvetica" pitchFamily="34" charset="0"/>
              </a:rPr>
              <a:t>Engage in regular monitoring</a:t>
            </a:r>
          </a:p>
          <a:p>
            <a:pPr marL="360000" indent="-360000">
              <a:spcBef>
                <a:spcPts val="600"/>
              </a:spcBef>
              <a:spcAft>
                <a:spcPts val="1200"/>
              </a:spcAft>
            </a:pPr>
            <a:r>
              <a:rPr lang="en-US" sz="2200" dirty="0" smtClean="0">
                <a:latin typeface="Helvetica" pitchFamily="34" charset="0"/>
              </a:rPr>
              <a:t>Service and maintain systems and equipment</a:t>
            </a:r>
          </a:p>
          <a:p>
            <a:pPr marL="360000" indent="-360000">
              <a:spcBef>
                <a:spcPts val="600"/>
              </a:spcBef>
              <a:spcAft>
                <a:spcPts val="1200"/>
              </a:spcAft>
            </a:pPr>
            <a:r>
              <a:rPr lang="en-US" sz="2200" dirty="0" smtClean="0">
                <a:latin typeface="Helvetica" pitchFamily="34" charset="0"/>
              </a:rPr>
              <a:t>Learn the ‘alerts’ and ‘alarms’.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724128" y="2420888"/>
            <a:ext cx="2302787" cy="32400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for special access and entry provisions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Controlling access and entry refers to:</a:t>
            </a:r>
          </a:p>
          <a:p>
            <a:pPr marL="360000" indent="-360000">
              <a:spcBef>
                <a:spcPts val="600"/>
              </a:spcBef>
              <a:spcAft>
                <a:spcPts val="1200"/>
              </a:spcAft>
            </a:pPr>
            <a:r>
              <a:rPr lang="en-US" sz="2000" dirty="0" smtClean="0">
                <a:latin typeface="Helvetica" pitchFamily="34" charset="0"/>
              </a:rPr>
              <a:t>Restricting times when people have access</a:t>
            </a:r>
          </a:p>
          <a:p>
            <a:pPr marL="360000" indent="-360000">
              <a:spcBef>
                <a:spcPts val="600"/>
              </a:spcBef>
              <a:spcAft>
                <a:spcPts val="1200"/>
              </a:spcAft>
            </a:pPr>
            <a:r>
              <a:rPr lang="en-US" sz="2000" dirty="0" smtClean="0">
                <a:latin typeface="Helvetica" pitchFamily="34" charset="0"/>
              </a:rPr>
              <a:t>Limiting people who can access/enter an area</a:t>
            </a:r>
          </a:p>
          <a:p>
            <a:pPr marL="360000" indent="-360000">
              <a:spcBef>
                <a:spcPts val="600"/>
              </a:spcBef>
              <a:spcAft>
                <a:spcPts val="1200"/>
              </a:spcAft>
            </a:pPr>
            <a:r>
              <a:rPr lang="en-US" sz="2000" dirty="0" smtClean="0">
                <a:latin typeface="Helvetica" pitchFamily="34" charset="0"/>
              </a:rPr>
              <a:t>Governing entry to restricted areas within the business.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 xmlns:a14="http://schemas.microsoft.com/office/drawing/2010/main"/>
              </a:ext>
            </a:extLst>
          </a:blip>
          <a:srcRect/>
          <a:stretch/>
        </p:blipFill>
        <p:spPr>
          <a:xfrm>
            <a:off x="5436096" y="2348880"/>
            <a:ext cx="3024336" cy="241946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for special access and entry provisions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Special access/entry provisions may include:</a:t>
            </a:r>
          </a:p>
          <a:p>
            <a:pPr marL="360000" indent="-360000">
              <a:spcBef>
                <a:spcPts val="600"/>
              </a:spcBef>
              <a:spcAft>
                <a:spcPts val="1200"/>
              </a:spcAft>
            </a:pPr>
            <a:r>
              <a:rPr lang="en-US" sz="2200" dirty="0" smtClean="0">
                <a:latin typeface="Helvetica" pitchFamily="34" charset="0"/>
              </a:rPr>
              <a:t>Nominating authorised access times for certain areas of the business – ‘Access only between 8:00AM – 9:00AM’</a:t>
            </a:r>
          </a:p>
          <a:p>
            <a:pPr marL="360000" indent="-360000">
              <a:spcBef>
                <a:spcPts val="600"/>
              </a:spcBef>
              <a:spcAft>
                <a:spcPts val="1200"/>
              </a:spcAft>
            </a:pPr>
            <a:r>
              <a:rPr lang="en-US" sz="2200" dirty="0" smtClean="0">
                <a:latin typeface="Helvetica" pitchFamily="34" charset="0"/>
              </a:rPr>
              <a:t>Establishing system of security protocols (password protection and user names) to protect data</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 xmlns:a14="http://schemas.microsoft.com/office/drawing/2010/main"/>
              </a:ext>
            </a:extLst>
          </a:blip>
          <a:srcRect/>
          <a:stretch/>
        </p:blipFill>
        <p:spPr>
          <a:xfrm>
            <a:off x="5220072" y="2348880"/>
            <a:ext cx="3293368" cy="2467968"/>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542" y="60807"/>
            <a:ext cx="7467600" cy="1143000"/>
          </a:xfrm>
        </p:spPr>
        <p:txBody>
          <a:bodyPr>
            <a:normAutofit/>
          </a:bodyPr>
          <a:lstStyle/>
          <a:p>
            <a:r>
              <a:rPr lang="en-US" sz="3400" b="1" dirty="0" smtClean="0">
                <a:solidFill>
                  <a:srgbClr val="FF6600"/>
                </a:solidFill>
                <a:latin typeface="Helvetica" pitchFamily="34" charset="0"/>
              </a:rPr>
              <a:t>Provide for special access and entry provisions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Restricting staff and public access to nominated areas</a:t>
            </a:r>
          </a:p>
          <a:p>
            <a:pPr marL="360000" indent="-360000">
              <a:spcBef>
                <a:spcPts val="600"/>
              </a:spcBef>
              <a:spcAft>
                <a:spcPts val="1200"/>
              </a:spcAft>
            </a:pPr>
            <a:r>
              <a:rPr lang="en-US" sz="2000" dirty="0" smtClean="0">
                <a:latin typeface="Helvetica" pitchFamily="34" charset="0"/>
              </a:rPr>
              <a:t>Allocating keys to locked areas.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 xmlns:a14="http://schemas.microsoft.com/office/drawing/2010/main"/>
              </a:ext>
            </a:extLst>
          </a:blip>
          <a:srcRect/>
          <a:stretch/>
        </p:blipFill>
        <p:spPr>
          <a:xfrm>
            <a:off x="5220072" y="2060848"/>
            <a:ext cx="3024336" cy="241946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and validate all cash and stock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Keys are:</a:t>
            </a:r>
          </a:p>
          <a:p>
            <a:pPr marL="360000" indent="-360000">
              <a:spcBef>
                <a:spcPts val="600"/>
              </a:spcBef>
              <a:spcAft>
                <a:spcPts val="1200"/>
              </a:spcAft>
            </a:pPr>
            <a:r>
              <a:rPr lang="en-US" sz="2000" dirty="0" smtClean="0">
                <a:latin typeface="Helvetica" pitchFamily="34" charset="0"/>
              </a:rPr>
              <a:t>Checking documentation</a:t>
            </a:r>
          </a:p>
          <a:p>
            <a:pPr marL="360000" indent="-360000">
              <a:spcBef>
                <a:spcPts val="600"/>
              </a:spcBef>
              <a:spcAft>
                <a:spcPts val="1200"/>
              </a:spcAft>
            </a:pPr>
            <a:r>
              <a:rPr lang="en-US" sz="2000" dirty="0" smtClean="0">
                <a:latin typeface="Helvetica" pitchFamily="34" charset="0"/>
              </a:rPr>
              <a:t>Conducting stock takes</a:t>
            </a:r>
          </a:p>
          <a:p>
            <a:pPr marL="360000" indent="-360000">
              <a:spcBef>
                <a:spcPts val="600"/>
              </a:spcBef>
              <a:spcAft>
                <a:spcPts val="1200"/>
              </a:spcAft>
            </a:pPr>
            <a:r>
              <a:rPr lang="en-US" sz="2000" dirty="0" smtClean="0">
                <a:latin typeface="Helvetica" pitchFamily="34" charset="0"/>
              </a:rPr>
              <a:t>Matching cash/sales to documentation</a:t>
            </a:r>
          </a:p>
          <a:p>
            <a:pPr marL="360000" indent="-360000">
              <a:spcBef>
                <a:spcPts val="600"/>
              </a:spcBef>
              <a:spcAft>
                <a:spcPts val="1200"/>
              </a:spcAft>
            </a:pPr>
            <a:r>
              <a:rPr lang="en-US" sz="2000" dirty="0" smtClean="0">
                <a:latin typeface="Helvetica" pitchFamily="34" charset="0"/>
              </a:rPr>
              <a:t>Investigating variances.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92080" y="1916832"/>
            <a:ext cx="2381575"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and validate all cash and stock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‘Checking documentation’ involves:</a:t>
            </a:r>
          </a:p>
          <a:p>
            <a:pPr marL="360000" indent="-360000">
              <a:spcBef>
                <a:spcPts val="600"/>
              </a:spcBef>
              <a:spcAft>
                <a:spcPts val="1200"/>
              </a:spcAft>
            </a:pPr>
            <a:r>
              <a:rPr lang="en-US" sz="2200" dirty="0" smtClean="0">
                <a:latin typeface="Helvetica" pitchFamily="34" charset="0"/>
              </a:rPr>
              <a:t>Ensuring Purchase Orders are competed for all purchases</a:t>
            </a:r>
          </a:p>
          <a:p>
            <a:pPr marL="360000" indent="-360000">
              <a:spcBef>
                <a:spcPts val="600"/>
              </a:spcBef>
              <a:spcAft>
                <a:spcPts val="1200"/>
              </a:spcAft>
            </a:pPr>
            <a:r>
              <a:rPr lang="en-US" sz="2200" dirty="0" smtClean="0">
                <a:latin typeface="Helvetica" pitchFamily="34" charset="0"/>
              </a:rPr>
              <a:t>Checking </a:t>
            </a:r>
            <a:r>
              <a:rPr lang="en-US" sz="2200" b="1" i="1" dirty="0" smtClean="0">
                <a:latin typeface="Helvetica" pitchFamily="34" charset="0"/>
              </a:rPr>
              <a:t>delivery </a:t>
            </a:r>
            <a:r>
              <a:rPr lang="en-US" sz="2200" dirty="0" smtClean="0">
                <a:latin typeface="Helvetica" pitchFamily="34" charset="0"/>
              </a:rPr>
              <a:t>documentation</a:t>
            </a:r>
          </a:p>
          <a:p>
            <a:pPr marL="360000" indent="-360000">
              <a:spcBef>
                <a:spcPts val="600"/>
              </a:spcBef>
              <a:spcAft>
                <a:spcPts val="1200"/>
              </a:spcAft>
            </a:pPr>
            <a:r>
              <a:rPr lang="en-US" sz="2200" dirty="0" smtClean="0">
                <a:latin typeface="Helvetica" pitchFamily="34" charset="0"/>
              </a:rPr>
              <a:t>Checking </a:t>
            </a:r>
            <a:r>
              <a:rPr lang="en-US" sz="2200" b="1" i="1" dirty="0" smtClean="0">
                <a:latin typeface="Helvetica" pitchFamily="34" charset="0"/>
              </a:rPr>
              <a:t>internal </a:t>
            </a:r>
            <a:r>
              <a:rPr lang="en-US" sz="2200" dirty="0" smtClean="0">
                <a:latin typeface="Helvetica" pitchFamily="34" charset="0"/>
              </a:rPr>
              <a:t>documentation</a:t>
            </a:r>
          </a:p>
          <a:p>
            <a:pPr marL="360000" indent="-360000">
              <a:spcBef>
                <a:spcPts val="600"/>
              </a:spcBef>
              <a:spcAft>
                <a:spcPts val="1200"/>
              </a:spcAft>
            </a:pPr>
            <a:r>
              <a:rPr lang="en-US" sz="2200" dirty="0" smtClean="0">
                <a:latin typeface="Helvetica" pitchFamily="34" charset="0"/>
              </a:rPr>
              <a:t>Checking </a:t>
            </a:r>
            <a:r>
              <a:rPr lang="en-US" sz="2200" b="1" i="1" dirty="0" smtClean="0">
                <a:latin typeface="Helvetica" pitchFamily="34" charset="0"/>
              </a:rPr>
              <a:t>sales </a:t>
            </a:r>
            <a:r>
              <a:rPr lang="en-US" sz="2200" dirty="0" smtClean="0">
                <a:latin typeface="Helvetica" pitchFamily="34" charset="0"/>
              </a:rPr>
              <a:t>documentation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004048" y="2060848"/>
            <a:ext cx="2160000"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and validate all cash and stock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Conducting stock takes – undertaken to:</a:t>
            </a:r>
          </a:p>
          <a:p>
            <a:pPr marL="360000" indent="-360000">
              <a:spcBef>
                <a:spcPts val="600"/>
              </a:spcBef>
              <a:spcAft>
                <a:spcPts val="1200"/>
              </a:spcAft>
            </a:pPr>
            <a:r>
              <a:rPr lang="en-US" sz="2200" dirty="0" smtClean="0">
                <a:latin typeface="Helvetica" pitchFamily="34" charset="0"/>
              </a:rPr>
              <a:t>Count and record stock-on-hand</a:t>
            </a:r>
          </a:p>
          <a:p>
            <a:pPr marL="360000" indent="-360000">
              <a:spcBef>
                <a:spcPts val="600"/>
              </a:spcBef>
              <a:spcAft>
                <a:spcPts val="1200"/>
              </a:spcAft>
            </a:pPr>
            <a:r>
              <a:rPr lang="en-US" sz="2200" dirty="0" smtClean="0">
                <a:latin typeface="Helvetica" pitchFamily="34" charset="0"/>
              </a:rPr>
              <a:t>Allow comparison between ‘expected’ stock and ‘actual; stock levels/inventory</a:t>
            </a:r>
          </a:p>
          <a:p>
            <a:pPr marL="360000" indent="-360000">
              <a:spcBef>
                <a:spcPts val="600"/>
              </a:spcBef>
              <a:spcAft>
                <a:spcPts val="1200"/>
              </a:spcAft>
            </a:pPr>
            <a:r>
              <a:rPr lang="en-US" sz="2200" dirty="0" smtClean="0">
                <a:latin typeface="Helvetica" pitchFamily="34" charset="0"/>
              </a:rPr>
              <a:t>Track movement of stock</a:t>
            </a:r>
          </a:p>
          <a:p>
            <a:pPr marL="360000" indent="-360000">
              <a:spcBef>
                <a:spcPts val="600"/>
              </a:spcBef>
              <a:spcAft>
                <a:spcPts val="1200"/>
              </a:spcAft>
            </a:pPr>
            <a:r>
              <a:rPr lang="en-US" sz="2200" dirty="0" smtClean="0">
                <a:latin typeface="Helvetica" pitchFamily="34" charset="0"/>
              </a:rPr>
              <a:t>Allow business performance figures to be calculated</a:t>
            </a:r>
          </a:p>
          <a:p>
            <a:pPr marL="360000" indent="-360000">
              <a:spcBef>
                <a:spcPts val="600"/>
              </a:spcBef>
              <a:spcAft>
                <a:spcPts val="1200"/>
              </a:spcAft>
            </a:pPr>
            <a:r>
              <a:rPr lang="en-US" sz="2200" dirty="0" smtClean="0">
                <a:latin typeface="Helvetica" pitchFamily="34" charset="0"/>
              </a:rPr>
              <a:t>Identify missing stock.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508104" y="2060848"/>
            <a:ext cx="2083909"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and validate all cash and stock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Procedures for conducting stock takes:</a:t>
            </a:r>
          </a:p>
          <a:p>
            <a:pPr marL="360000" indent="-360000">
              <a:spcBef>
                <a:spcPts val="600"/>
              </a:spcBef>
              <a:spcAft>
                <a:spcPts val="1200"/>
              </a:spcAft>
            </a:pPr>
            <a:r>
              <a:rPr lang="en-US" sz="2200" dirty="0" smtClean="0">
                <a:latin typeface="Helvetica" pitchFamily="34" charset="0"/>
              </a:rPr>
              <a:t>Conduct </a:t>
            </a:r>
            <a:r>
              <a:rPr lang="en-US" sz="2200" b="1" i="1" dirty="0" smtClean="0">
                <a:latin typeface="Helvetica" pitchFamily="34" charset="0"/>
              </a:rPr>
              <a:t>regular </a:t>
            </a:r>
            <a:r>
              <a:rPr lang="en-US" sz="2200" dirty="0" smtClean="0">
                <a:latin typeface="Helvetica" pitchFamily="34" charset="0"/>
              </a:rPr>
              <a:t>stock takes</a:t>
            </a:r>
          </a:p>
          <a:p>
            <a:pPr marL="360000" indent="-360000">
              <a:spcBef>
                <a:spcPts val="600"/>
              </a:spcBef>
              <a:spcAft>
                <a:spcPts val="1200"/>
              </a:spcAft>
            </a:pPr>
            <a:r>
              <a:rPr lang="en-US" sz="2200" dirty="0" smtClean="0">
                <a:latin typeface="Helvetica" pitchFamily="34" charset="0"/>
              </a:rPr>
              <a:t>Also do </a:t>
            </a:r>
            <a:r>
              <a:rPr lang="en-US" sz="2200" b="1" i="1" dirty="0" smtClean="0">
                <a:latin typeface="Helvetica" pitchFamily="34" charset="0"/>
              </a:rPr>
              <a:t>random </a:t>
            </a:r>
            <a:r>
              <a:rPr lang="en-US" sz="2200" dirty="0" smtClean="0">
                <a:latin typeface="Helvetica" pitchFamily="34" charset="0"/>
              </a:rPr>
              <a:t>stock takes</a:t>
            </a:r>
          </a:p>
          <a:p>
            <a:pPr marL="360000" indent="-360000">
              <a:spcBef>
                <a:spcPts val="600"/>
              </a:spcBef>
              <a:spcAft>
                <a:spcPts val="1200"/>
              </a:spcAft>
            </a:pPr>
            <a:r>
              <a:rPr lang="en-US" sz="2200" dirty="0" smtClean="0">
                <a:latin typeface="Helvetica" pitchFamily="34" charset="0"/>
              </a:rPr>
              <a:t>Work in pairs </a:t>
            </a:r>
          </a:p>
          <a:p>
            <a:pPr marL="360000" indent="-360000">
              <a:spcBef>
                <a:spcPts val="600"/>
              </a:spcBef>
              <a:spcAft>
                <a:spcPts val="1200"/>
              </a:spcAft>
            </a:pPr>
            <a:r>
              <a:rPr lang="en-US" sz="2200" dirty="0" smtClean="0">
                <a:latin typeface="Helvetica" pitchFamily="34" charset="0"/>
              </a:rPr>
              <a:t>Use internally-prepared stock sheets</a:t>
            </a:r>
          </a:p>
          <a:p>
            <a:pPr marL="360000" indent="-360000">
              <a:spcBef>
                <a:spcPts val="600"/>
              </a:spcBef>
              <a:spcAft>
                <a:spcPts val="1200"/>
              </a:spcAft>
            </a:pPr>
            <a:r>
              <a:rPr lang="en-US" sz="2200" dirty="0" smtClean="0">
                <a:latin typeface="Helvetica" pitchFamily="34" charset="0"/>
              </a:rPr>
              <a:t>Count all items</a:t>
            </a:r>
          </a:p>
          <a:p>
            <a:pPr marL="360000" indent="-360000">
              <a:spcBef>
                <a:spcPts val="600"/>
              </a:spcBef>
              <a:spcAft>
                <a:spcPts val="1200"/>
              </a:spcAft>
            </a:pPr>
            <a:r>
              <a:rPr lang="en-US" sz="2200" dirty="0" smtClean="0">
                <a:latin typeface="Helvetica" pitchFamily="34" charset="0"/>
              </a:rPr>
              <a:t>Stock take when business is closed.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652120" y="2493256"/>
            <a:ext cx="2376000" cy="32400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and validate all cash and stock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59" y="1988840"/>
            <a:ext cx="5688633" cy="4320480"/>
          </a:xfrm>
        </p:spPr>
        <p:txBody>
          <a:bodyPr>
            <a:normAutofit/>
          </a:bodyPr>
          <a:lstStyle/>
          <a:p>
            <a:pPr marL="0" indent="0">
              <a:spcBef>
                <a:spcPts val="600"/>
              </a:spcBef>
              <a:spcAft>
                <a:spcPts val="1200"/>
              </a:spcAft>
              <a:buNone/>
            </a:pPr>
            <a:r>
              <a:rPr lang="en-US" sz="2000" dirty="0" smtClean="0">
                <a:latin typeface="Helvetica" pitchFamily="34" charset="0"/>
              </a:rPr>
              <a:t>Matching cash/sales to documentation:</a:t>
            </a:r>
          </a:p>
          <a:p>
            <a:pPr marL="360000" indent="-360000">
              <a:spcBef>
                <a:spcPts val="600"/>
              </a:spcBef>
              <a:spcAft>
                <a:spcPts val="600"/>
              </a:spcAft>
            </a:pPr>
            <a:r>
              <a:rPr lang="en-US" sz="2000" dirty="0" smtClean="0">
                <a:latin typeface="Helvetica" pitchFamily="34" charset="0"/>
              </a:rPr>
              <a:t>Make sure all legitimate charges have been included</a:t>
            </a:r>
          </a:p>
          <a:p>
            <a:pPr marL="360000" indent="-360000">
              <a:spcBef>
                <a:spcPts val="600"/>
              </a:spcBef>
              <a:spcAft>
                <a:spcPts val="600"/>
              </a:spcAft>
            </a:pPr>
            <a:r>
              <a:rPr lang="en-US" sz="2000" dirty="0" smtClean="0">
                <a:latin typeface="Helvetica" pitchFamily="34" charset="0"/>
              </a:rPr>
              <a:t>Double-check sub-totals and totals</a:t>
            </a:r>
          </a:p>
          <a:p>
            <a:pPr marL="360000" indent="-360000">
              <a:spcBef>
                <a:spcPts val="600"/>
              </a:spcBef>
              <a:spcAft>
                <a:spcPts val="600"/>
              </a:spcAft>
            </a:pPr>
            <a:r>
              <a:rPr lang="en-US" sz="2000" dirty="0" smtClean="0">
                <a:latin typeface="Helvetica" pitchFamily="34" charset="0"/>
              </a:rPr>
              <a:t>Verify cash handed to you as payment</a:t>
            </a:r>
          </a:p>
          <a:p>
            <a:pPr marL="360000" indent="-360000">
              <a:spcBef>
                <a:spcPts val="600"/>
              </a:spcBef>
              <a:spcAft>
                <a:spcPts val="600"/>
              </a:spcAft>
            </a:pPr>
            <a:r>
              <a:rPr lang="en-US" sz="2000" dirty="0" smtClean="0">
                <a:latin typeface="Helvetica" pitchFamily="34" charset="0"/>
              </a:rPr>
              <a:t>Count all money when giving change</a:t>
            </a:r>
          </a:p>
          <a:p>
            <a:pPr marL="360000" indent="-360000">
              <a:spcBef>
                <a:spcPts val="600"/>
              </a:spcBef>
              <a:spcAft>
                <a:spcPts val="600"/>
              </a:spcAft>
            </a:pPr>
            <a:r>
              <a:rPr lang="en-US" sz="2000" dirty="0" smtClean="0">
                <a:latin typeface="Helvetica" pitchFamily="34" charset="0"/>
              </a:rPr>
              <a:t>Accept payment only in authorised currencies</a:t>
            </a:r>
          </a:p>
          <a:p>
            <a:pPr marL="360000" indent="-360000">
              <a:spcBef>
                <a:spcPts val="600"/>
              </a:spcBef>
              <a:spcAft>
                <a:spcPts val="600"/>
              </a:spcAft>
            </a:pPr>
            <a:r>
              <a:rPr lang="en-US" sz="2000" dirty="0" smtClean="0">
                <a:latin typeface="Helvetica" pitchFamily="34" charset="0"/>
              </a:rPr>
              <a:t>Issue receipts for all cash/payment received</a:t>
            </a:r>
          </a:p>
          <a:p>
            <a:pPr marL="360000" indent="-360000">
              <a:spcBef>
                <a:spcPts val="600"/>
              </a:spcBef>
              <a:spcAft>
                <a:spcPts val="600"/>
              </a:spcAft>
            </a:pPr>
            <a:r>
              <a:rPr lang="en-US" sz="2000" dirty="0" smtClean="0">
                <a:latin typeface="Helvetica" pitchFamily="34" charset="0"/>
              </a:rPr>
              <a:t>Never </a:t>
            </a:r>
            <a:r>
              <a:rPr lang="en-US" sz="2000" b="1" i="1" dirty="0" smtClean="0">
                <a:latin typeface="Helvetica" pitchFamily="34" charset="0"/>
              </a:rPr>
              <a:t>pay out </a:t>
            </a:r>
            <a:r>
              <a:rPr lang="en-US" sz="2000" dirty="0" smtClean="0">
                <a:latin typeface="Helvetica" pitchFamily="34" charset="0"/>
              </a:rPr>
              <a:t>cash on behalf of the business.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a:stretch/>
        </p:blipFill>
        <p:spPr>
          <a:xfrm>
            <a:off x="6570712" y="2204864"/>
            <a:ext cx="2573288" cy="3065209"/>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Verify and validate all cash and stock transactions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680520"/>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Investigating variances – all discrepancies must be followed up to:</a:t>
            </a:r>
          </a:p>
          <a:p>
            <a:pPr marL="360000" indent="-360000">
              <a:spcBef>
                <a:spcPts val="600"/>
              </a:spcBef>
              <a:spcAft>
                <a:spcPts val="1200"/>
              </a:spcAft>
            </a:pPr>
            <a:r>
              <a:rPr lang="en-US" sz="2200" dirty="0" smtClean="0">
                <a:latin typeface="Helvetica" pitchFamily="34" charset="0"/>
              </a:rPr>
              <a:t>Confirm a variance actually exists</a:t>
            </a:r>
          </a:p>
          <a:p>
            <a:pPr marL="360000" indent="-360000">
              <a:spcBef>
                <a:spcPts val="600"/>
              </a:spcBef>
              <a:spcAft>
                <a:spcPts val="1200"/>
              </a:spcAft>
            </a:pPr>
            <a:r>
              <a:rPr lang="en-US" sz="2200" dirty="0" smtClean="0">
                <a:latin typeface="Helvetica" pitchFamily="34" charset="0"/>
              </a:rPr>
              <a:t>Identify amount and type of variance</a:t>
            </a:r>
          </a:p>
          <a:p>
            <a:pPr marL="360000" indent="-360000">
              <a:spcBef>
                <a:spcPts val="600"/>
              </a:spcBef>
              <a:spcAft>
                <a:spcPts val="1200"/>
              </a:spcAft>
            </a:pPr>
            <a:r>
              <a:rPr lang="en-US" sz="2200" dirty="0" smtClean="0">
                <a:latin typeface="Helvetica" pitchFamily="34" charset="0"/>
              </a:rPr>
              <a:t>Determine when and how it occurred</a:t>
            </a:r>
          </a:p>
          <a:p>
            <a:pPr marL="360000" indent="-360000">
              <a:spcBef>
                <a:spcPts val="600"/>
              </a:spcBef>
              <a:spcAft>
                <a:spcPts val="1200"/>
              </a:spcAft>
            </a:pPr>
            <a:r>
              <a:rPr lang="en-US" sz="2200" dirty="0" smtClean="0">
                <a:latin typeface="Helvetica" pitchFamily="34" charset="0"/>
              </a:rPr>
              <a:t>Work out remedial action to take</a:t>
            </a:r>
          </a:p>
          <a:p>
            <a:pPr marL="360000" indent="-360000">
              <a:spcBef>
                <a:spcPts val="600"/>
              </a:spcBef>
              <a:spcAft>
                <a:spcPts val="1200"/>
              </a:spcAft>
            </a:pPr>
            <a:r>
              <a:rPr lang="en-US" sz="2200" dirty="0" smtClean="0">
                <a:latin typeface="Helvetica" pitchFamily="34" charset="0"/>
              </a:rPr>
              <a:t>Enable/underpinning internal reporting.</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55475" y="1988840"/>
            <a:ext cx="2160000"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Observe people to identify suspicious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People who need to be monitored:</a:t>
            </a:r>
          </a:p>
          <a:p>
            <a:pPr marL="360000" indent="-360000">
              <a:spcBef>
                <a:spcPts val="600"/>
              </a:spcBef>
              <a:spcAft>
                <a:spcPts val="1200"/>
              </a:spcAft>
            </a:pPr>
            <a:r>
              <a:rPr lang="en-US" sz="2000" dirty="0" smtClean="0">
                <a:latin typeface="Helvetica" pitchFamily="34" charset="0"/>
              </a:rPr>
              <a:t>Staff</a:t>
            </a:r>
          </a:p>
          <a:p>
            <a:pPr marL="360000" indent="-360000">
              <a:spcBef>
                <a:spcPts val="600"/>
              </a:spcBef>
              <a:spcAft>
                <a:spcPts val="1200"/>
              </a:spcAft>
            </a:pPr>
            <a:r>
              <a:rPr lang="en-US" sz="2000" dirty="0" smtClean="0">
                <a:latin typeface="Helvetica" pitchFamily="34" charset="0"/>
              </a:rPr>
              <a:t>Customers</a:t>
            </a:r>
          </a:p>
          <a:p>
            <a:pPr marL="360000" indent="-360000">
              <a:spcBef>
                <a:spcPts val="600"/>
              </a:spcBef>
              <a:spcAft>
                <a:spcPts val="1200"/>
              </a:spcAft>
            </a:pPr>
            <a:r>
              <a:rPr lang="en-US" sz="2000" dirty="0" smtClean="0">
                <a:latin typeface="Helvetica" pitchFamily="34" charset="0"/>
              </a:rPr>
              <a:t>Delivery drivers</a:t>
            </a:r>
          </a:p>
          <a:p>
            <a:pPr marL="360000" indent="-360000">
              <a:spcBef>
                <a:spcPts val="600"/>
              </a:spcBef>
              <a:spcAft>
                <a:spcPts val="1200"/>
              </a:spcAft>
            </a:pPr>
            <a:r>
              <a:rPr lang="en-US" sz="2000" dirty="0" smtClean="0">
                <a:latin typeface="Helvetica" pitchFamily="34" charset="0"/>
              </a:rPr>
              <a:t>Service technicians</a:t>
            </a:r>
          </a:p>
          <a:p>
            <a:pPr marL="360000" indent="-360000">
              <a:spcBef>
                <a:spcPts val="600"/>
              </a:spcBef>
              <a:spcAft>
                <a:spcPts val="1200"/>
              </a:spcAft>
            </a:pPr>
            <a:r>
              <a:rPr lang="en-US" sz="2000" dirty="0" smtClean="0">
                <a:latin typeface="Helvetica" pitchFamily="34" charset="0"/>
              </a:rPr>
              <a:t>Visitors</a:t>
            </a:r>
          </a:p>
          <a:p>
            <a:pPr marL="360000" indent="-360000">
              <a:spcBef>
                <a:spcPts val="600"/>
              </a:spcBef>
              <a:spcAft>
                <a:spcPts val="1200"/>
              </a:spcAft>
            </a:pPr>
            <a:r>
              <a:rPr lang="en-US" sz="2000" dirty="0" smtClean="0">
                <a:latin typeface="Helvetica" pitchFamily="34" charset="0"/>
              </a:rPr>
              <a:t>Members of the public.</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716016" y="234888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Observe people to identify suspicious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Activities involved in monitoring people:</a:t>
            </a:r>
          </a:p>
          <a:p>
            <a:pPr marL="360000" indent="-360000">
              <a:spcBef>
                <a:spcPts val="600"/>
              </a:spcBef>
              <a:spcAft>
                <a:spcPts val="1200"/>
              </a:spcAft>
            </a:pPr>
            <a:r>
              <a:rPr lang="en-US" sz="2000" dirty="0" smtClean="0">
                <a:latin typeface="Helvetica" pitchFamily="34" charset="0"/>
              </a:rPr>
              <a:t>Keeping an eye on surveillance equipment</a:t>
            </a:r>
          </a:p>
          <a:p>
            <a:pPr marL="360000" indent="-360000">
              <a:spcBef>
                <a:spcPts val="600"/>
              </a:spcBef>
              <a:spcAft>
                <a:spcPts val="1200"/>
              </a:spcAft>
            </a:pPr>
            <a:r>
              <a:rPr lang="en-US" sz="2000" dirty="0" smtClean="0">
                <a:latin typeface="Helvetica" pitchFamily="34" charset="0"/>
              </a:rPr>
              <a:t>Engaging in personal observations</a:t>
            </a:r>
          </a:p>
          <a:p>
            <a:pPr marL="360000" indent="-360000">
              <a:spcBef>
                <a:spcPts val="600"/>
              </a:spcBef>
              <a:spcAft>
                <a:spcPts val="1200"/>
              </a:spcAft>
            </a:pPr>
            <a:r>
              <a:rPr lang="en-US" sz="2000" dirty="0" smtClean="0">
                <a:latin typeface="Helvetica" pitchFamily="34" charset="0"/>
              </a:rPr>
              <a:t>Making contact with those who enter the business.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92080" y="2636912"/>
            <a:ext cx="3240276"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Observe people to identify suspicious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536504"/>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Unusual or suspicious situations:</a:t>
            </a:r>
          </a:p>
          <a:p>
            <a:pPr marL="360000" indent="-360000">
              <a:spcBef>
                <a:spcPts val="600"/>
              </a:spcBef>
              <a:spcAft>
                <a:spcPts val="1200"/>
              </a:spcAft>
            </a:pPr>
            <a:r>
              <a:rPr lang="en-US" sz="2200" dirty="0" smtClean="0">
                <a:latin typeface="Helvetica" pitchFamily="34" charset="0"/>
              </a:rPr>
              <a:t>People in areas they should not be</a:t>
            </a:r>
          </a:p>
          <a:p>
            <a:pPr marL="360000" indent="-360000">
              <a:spcBef>
                <a:spcPts val="600"/>
              </a:spcBef>
              <a:spcAft>
                <a:spcPts val="1200"/>
              </a:spcAft>
            </a:pPr>
            <a:r>
              <a:rPr lang="en-US" sz="2200" dirty="0" smtClean="0">
                <a:latin typeface="Helvetica" pitchFamily="34" charset="0"/>
              </a:rPr>
              <a:t>‘Nervous’ delivery drivers</a:t>
            </a:r>
          </a:p>
          <a:p>
            <a:pPr marL="360000" indent="-360000">
              <a:spcBef>
                <a:spcPts val="600"/>
              </a:spcBef>
              <a:spcAft>
                <a:spcPts val="1200"/>
              </a:spcAft>
            </a:pPr>
            <a:r>
              <a:rPr lang="en-US" sz="2200" dirty="0" smtClean="0">
                <a:latin typeface="Helvetica" pitchFamily="34" charset="0"/>
              </a:rPr>
              <a:t>Anyone unable to or annoyed at providing identification</a:t>
            </a:r>
          </a:p>
          <a:p>
            <a:pPr marL="360000" indent="-360000">
              <a:spcBef>
                <a:spcPts val="600"/>
              </a:spcBef>
              <a:spcAft>
                <a:spcPts val="1200"/>
              </a:spcAft>
            </a:pPr>
            <a:r>
              <a:rPr lang="en-US" sz="2200" dirty="0" smtClean="0">
                <a:latin typeface="Helvetica" pitchFamily="34" charset="0"/>
              </a:rPr>
              <a:t>Workers in the business who are unknown to you</a:t>
            </a:r>
          </a:p>
          <a:p>
            <a:pPr marL="360000" indent="-360000">
              <a:spcBef>
                <a:spcPts val="600"/>
              </a:spcBef>
              <a:spcAft>
                <a:spcPts val="1200"/>
              </a:spcAft>
            </a:pPr>
            <a:r>
              <a:rPr lang="en-US" sz="2200" dirty="0" smtClean="0">
                <a:latin typeface="Helvetica" pitchFamily="34" charset="0"/>
              </a:rPr>
              <a:t>Customers who appear anxious when you approach them</a:t>
            </a:r>
          </a:p>
          <a:p>
            <a:pPr marL="360000" indent="-360000">
              <a:spcBef>
                <a:spcPts val="600"/>
              </a:spcBef>
              <a:spcAft>
                <a:spcPts val="1200"/>
              </a:spcAft>
            </a:pPr>
            <a:r>
              <a:rPr lang="en-US" sz="2200" dirty="0" smtClean="0">
                <a:latin typeface="Helvetica" pitchFamily="34" charset="0"/>
              </a:rPr>
              <a:t>Those who spend a long time ‘just browsing’.</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BEBA8EAE-BF5A-486C-A8C5-ECC9F3942E4B}">
                <a14:imgProps xmlns="" xmlns:a14="http://schemas.microsoft.com/office/drawing/2010/main">
                  <a14:imgLayer r:embed="rId4">
                    <a14:imgEffect>
                      <a14:backgroundRemoval t="235" b="100000" l="496" r="97706">
                        <a14:foregroundMark x1="19260" y1="78838" x2="19260" y2="78838"/>
                        <a14:foregroundMark x1="16140" y1="74677" x2="16140" y2="74677"/>
                        <a14:foregroundMark x1="13226" y1="80955" x2="13226" y2="80955"/>
                        <a14:foregroundMark x1="12813" y1="87256" x2="12813" y2="87256"/>
                        <a14:foregroundMark x1="9155" y1="89372" x2="9155" y2="89372"/>
                        <a14:foregroundMark x1="5414" y1="95674" x2="5414" y2="95674"/>
                        <a14:foregroundMark x1="4464" y1="98260" x2="4464" y2="98260"/>
                        <a14:foregroundMark x1="18620" y1="92923" x2="18620" y2="92923"/>
                      </a14:backgroundRemoval>
                    </a14:imgEffect>
                  </a14:imgLayer>
                </a14:imgProps>
              </a:ext>
              <a:ext uri="{28A0092B-C50C-407E-A947-70E740481C1C}">
                <a14:useLocalDpi xmlns="" xmlns:a14="http://schemas.microsoft.com/office/drawing/2010/main"/>
              </a:ext>
            </a:extLst>
          </a:blip>
          <a:srcRect/>
          <a:stretch/>
        </p:blipFill>
        <p:spPr>
          <a:xfrm>
            <a:off x="5148064" y="1844824"/>
            <a:ext cx="3686794" cy="32400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Observe people to identify suspicious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It is important to remember:</a:t>
            </a:r>
          </a:p>
          <a:p>
            <a:pPr marL="360000" indent="-360000">
              <a:spcBef>
                <a:spcPts val="600"/>
              </a:spcBef>
              <a:spcAft>
                <a:spcPts val="1200"/>
              </a:spcAft>
            </a:pPr>
            <a:r>
              <a:rPr lang="en-US" sz="2200" dirty="0" smtClean="0">
                <a:latin typeface="Helvetica" pitchFamily="34" charset="0"/>
              </a:rPr>
              <a:t>There is no single profile of a suspicious person</a:t>
            </a:r>
          </a:p>
          <a:p>
            <a:pPr marL="360000" indent="-360000">
              <a:spcBef>
                <a:spcPts val="600"/>
              </a:spcBef>
              <a:spcAft>
                <a:spcPts val="1200"/>
              </a:spcAft>
            </a:pPr>
            <a:r>
              <a:rPr lang="en-US" sz="2200" dirty="0" smtClean="0">
                <a:latin typeface="Helvetica" pitchFamily="34" charset="0"/>
              </a:rPr>
              <a:t>You should report </a:t>
            </a:r>
            <a:r>
              <a:rPr lang="en-US" sz="2200" b="1" i="1" dirty="0" smtClean="0">
                <a:latin typeface="Helvetica" pitchFamily="34" charset="0"/>
              </a:rPr>
              <a:t>all instances </a:t>
            </a:r>
            <a:r>
              <a:rPr lang="en-US" sz="2200" dirty="0" smtClean="0">
                <a:latin typeface="Helvetica" pitchFamily="34" charset="0"/>
              </a:rPr>
              <a:t>you believe to be suspicious</a:t>
            </a:r>
          </a:p>
          <a:p>
            <a:pPr marL="360000" indent="-360000">
              <a:spcBef>
                <a:spcPts val="600"/>
              </a:spcBef>
              <a:spcAft>
                <a:spcPts val="1200"/>
              </a:spcAft>
            </a:pPr>
            <a:r>
              <a:rPr lang="en-US" sz="2200" dirty="0" smtClean="0">
                <a:latin typeface="Helvetica" pitchFamily="34" charset="0"/>
              </a:rPr>
              <a:t>All thieves are competent liars and will have a ready and plausible excuse/reason for doing what they are doing or being where they have been found.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20072" y="270892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action where theft is observed or believed to be occurring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Taking action means:</a:t>
            </a:r>
          </a:p>
          <a:p>
            <a:pPr marL="360000" indent="-360000">
              <a:spcBef>
                <a:spcPts val="600"/>
              </a:spcBef>
              <a:spcAft>
                <a:spcPts val="1200"/>
              </a:spcAft>
            </a:pPr>
            <a:r>
              <a:rPr lang="en-US" sz="2000" dirty="0" smtClean="0">
                <a:latin typeface="Helvetica" pitchFamily="34" charset="0"/>
              </a:rPr>
              <a:t>Following internal policies and procedures</a:t>
            </a:r>
          </a:p>
          <a:p>
            <a:pPr marL="360000" indent="-360000">
              <a:spcBef>
                <a:spcPts val="600"/>
              </a:spcBef>
              <a:spcAft>
                <a:spcPts val="1200"/>
              </a:spcAft>
            </a:pPr>
            <a:r>
              <a:rPr lang="en-US" sz="2000" dirty="0" smtClean="0">
                <a:latin typeface="Helvetica" pitchFamily="34" charset="0"/>
              </a:rPr>
              <a:t>Emphasis must be on prevention and deterrence rather than ‘taking action’.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716016" y="2415797"/>
            <a:ext cx="2451370" cy="32400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action where theft is observed or believed to be occurring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752528"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Points to consider:</a:t>
            </a:r>
          </a:p>
          <a:p>
            <a:pPr marL="360000" indent="-360000">
              <a:spcBef>
                <a:spcPts val="600"/>
              </a:spcBef>
              <a:spcAft>
                <a:spcPts val="1200"/>
              </a:spcAft>
            </a:pPr>
            <a:r>
              <a:rPr lang="en-US" sz="2200" dirty="0" smtClean="0">
                <a:latin typeface="Helvetica" pitchFamily="34" charset="0"/>
              </a:rPr>
              <a:t>Identify </a:t>
            </a:r>
            <a:r>
              <a:rPr lang="en-US" sz="2200" b="1" i="1" dirty="0" smtClean="0">
                <a:latin typeface="Helvetica" pitchFamily="34" charset="0"/>
              </a:rPr>
              <a:t>in advance </a:t>
            </a:r>
            <a:r>
              <a:rPr lang="en-US" sz="2200" dirty="0" smtClean="0">
                <a:latin typeface="Helvetica" pitchFamily="34" charset="0"/>
              </a:rPr>
              <a:t>what you will do when a situation occurs: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Where you </a:t>
            </a:r>
            <a:r>
              <a:rPr lang="en-US" sz="2200" i="1" dirty="0" smtClean="0">
                <a:latin typeface="Helvetica" pitchFamily="34" charset="0"/>
              </a:rPr>
              <a:t>suspect </a:t>
            </a:r>
            <a:r>
              <a:rPr lang="en-US" sz="2200" dirty="0" smtClean="0">
                <a:latin typeface="Helvetica" pitchFamily="34" charset="0"/>
              </a:rPr>
              <a:t>something has happened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Where you </a:t>
            </a:r>
            <a:r>
              <a:rPr lang="en-US" sz="2200" i="1" dirty="0" smtClean="0">
                <a:latin typeface="Helvetica" pitchFamily="34" charset="0"/>
              </a:rPr>
              <a:t>know </a:t>
            </a:r>
            <a:r>
              <a:rPr lang="en-US" sz="2200" dirty="0" smtClean="0">
                <a:latin typeface="Helvetica" pitchFamily="34" charset="0"/>
              </a:rPr>
              <a:t>something has happened</a:t>
            </a:r>
          </a:p>
          <a:p>
            <a:pPr marL="360000" indent="-360000">
              <a:spcBef>
                <a:spcPts val="600"/>
              </a:spcBef>
              <a:spcAft>
                <a:spcPts val="1200"/>
              </a:spcAft>
            </a:pPr>
            <a:r>
              <a:rPr lang="en-US" sz="2200" dirty="0" smtClean="0">
                <a:latin typeface="Helvetica" pitchFamily="34" charset="0"/>
              </a:rPr>
              <a:t>Be prepared to defend action taken in Court</a:t>
            </a:r>
          </a:p>
          <a:p>
            <a:pPr marL="360000" indent="-360000">
              <a:spcBef>
                <a:spcPts val="600"/>
              </a:spcBef>
              <a:spcAft>
                <a:spcPts val="1200"/>
              </a:spcAft>
            </a:pPr>
            <a:r>
              <a:rPr lang="en-US" sz="2200" dirty="0" smtClean="0">
                <a:latin typeface="Helvetica" pitchFamily="34" charset="0"/>
              </a:rPr>
              <a:t>People who are wrongly accused or detained may sue you or the business.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6156176" y="2132856"/>
            <a:ext cx="2460269" cy="3240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action where theft is observed or believed to be occurring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536504"/>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It is important to notify others immediately you identify a situation – this may mean:</a:t>
            </a:r>
          </a:p>
          <a:p>
            <a:pPr marL="360000" indent="-360000">
              <a:spcBef>
                <a:spcPts val="600"/>
              </a:spcBef>
              <a:spcAft>
                <a:spcPts val="1200"/>
              </a:spcAft>
            </a:pPr>
            <a:r>
              <a:rPr lang="en-US" sz="2200" dirty="0" smtClean="0">
                <a:latin typeface="Helvetica" pitchFamily="34" charset="0"/>
              </a:rPr>
              <a:t>Advising supervisor/management</a:t>
            </a:r>
          </a:p>
          <a:p>
            <a:pPr marL="360000" indent="-360000">
              <a:spcBef>
                <a:spcPts val="600"/>
              </a:spcBef>
              <a:spcAft>
                <a:spcPts val="1200"/>
              </a:spcAft>
            </a:pPr>
            <a:r>
              <a:rPr lang="en-US" sz="2200" dirty="0" smtClean="0">
                <a:latin typeface="Helvetica" pitchFamily="34" charset="0"/>
              </a:rPr>
              <a:t>Telling another staff member or a senior employee</a:t>
            </a:r>
          </a:p>
          <a:p>
            <a:pPr marL="360000" indent="-360000">
              <a:spcBef>
                <a:spcPts val="600"/>
              </a:spcBef>
              <a:spcAft>
                <a:spcPts val="1200"/>
              </a:spcAft>
            </a:pPr>
            <a:r>
              <a:rPr lang="en-US" sz="2200" dirty="0" smtClean="0">
                <a:latin typeface="Helvetica" pitchFamily="34" charset="0"/>
              </a:rPr>
              <a:t>Talking to internal security staff/guards</a:t>
            </a:r>
          </a:p>
          <a:p>
            <a:pPr marL="360000" indent="-360000">
              <a:spcBef>
                <a:spcPts val="600"/>
              </a:spcBef>
              <a:spcAft>
                <a:spcPts val="1200"/>
              </a:spcAft>
            </a:pPr>
            <a:r>
              <a:rPr lang="en-US" sz="2200" dirty="0" smtClean="0">
                <a:latin typeface="Helvetica" pitchFamily="34" charset="0"/>
              </a:rPr>
              <a:t>Calling police</a:t>
            </a:r>
          </a:p>
          <a:p>
            <a:pPr marL="360000" indent="-360000">
              <a:spcBef>
                <a:spcPts val="600"/>
              </a:spcBef>
              <a:spcAft>
                <a:spcPts val="1200"/>
              </a:spcAft>
            </a:pPr>
            <a:r>
              <a:rPr lang="en-US" sz="2200" dirty="0" smtClean="0">
                <a:latin typeface="Helvetica" pitchFamily="34" charset="0"/>
              </a:rPr>
              <a:t>Contacting your security provider.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508104" y="2132856"/>
            <a:ext cx="2160000"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action where theft is observed or believed to be occurring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Intervening to limit loss – points to note:</a:t>
            </a:r>
          </a:p>
          <a:p>
            <a:pPr marL="360000" indent="-360000">
              <a:spcBef>
                <a:spcPts val="600"/>
              </a:spcBef>
              <a:spcAft>
                <a:spcPts val="1200"/>
              </a:spcAft>
            </a:pPr>
            <a:r>
              <a:rPr lang="en-US" sz="2200" dirty="0" smtClean="0">
                <a:latin typeface="Helvetica" pitchFamily="34" charset="0"/>
              </a:rPr>
              <a:t>Only intervene if comfortable in doing so</a:t>
            </a:r>
          </a:p>
          <a:p>
            <a:pPr marL="360000" indent="-360000">
              <a:spcBef>
                <a:spcPts val="600"/>
              </a:spcBef>
              <a:spcAft>
                <a:spcPts val="1200"/>
              </a:spcAft>
            </a:pPr>
            <a:r>
              <a:rPr lang="en-US" sz="2200" dirty="0" smtClean="0">
                <a:latin typeface="Helvetica" pitchFamily="34" charset="0"/>
              </a:rPr>
              <a:t>Never put yourself in harm’s way</a:t>
            </a:r>
          </a:p>
          <a:p>
            <a:pPr marL="360000" indent="-360000">
              <a:spcBef>
                <a:spcPts val="600"/>
              </a:spcBef>
              <a:spcAft>
                <a:spcPts val="1200"/>
              </a:spcAft>
            </a:pPr>
            <a:r>
              <a:rPr lang="en-US" sz="2200" dirty="0" smtClean="0">
                <a:latin typeface="Helvetica" pitchFamily="34" charset="0"/>
              </a:rPr>
              <a:t>Follow house protocols</a:t>
            </a:r>
          </a:p>
          <a:p>
            <a:pPr marL="360000" indent="-360000">
              <a:spcBef>
                <a:spcPts val="600"/>
              </a:spcBef>
              <a:spcAft>
                <a:spcPts val="1200"/>
              </a:spcAft>
            </a:pPr>
            <a:r>
              <a:rPr lang="en-US" sz="2200" dirty="0" smtClean="0">
                <a:latin typeface="Helvetica" pitchFamily="34" charset="0"/>
              </a:rPr>
              <a:t>Practice before you do it in ‘real life’ </a:t>
            </a:r>
          </a:p>
          <a:p>
            <a:pPr marL="360000" indent="-360000">
              <a:spcBef>
                <a:spcPts val="600"/>
              </a:spcBef>
              <a:spcAft>
                <a:spcPts val="1200"/>
              </a:spcAft>
            </a:pPr>
            <a:r>
              <a:rPr lang="en-US" sz="2200" dirty="0" smtClean="0">
                <a:latin typeface="Helvetica" pitchFamily="34" charset="0"/>
              </a:rPr>
              <a:t>Have some one watch you when you intervene so they can assist if necessary.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20072" y="1988840"/>
            <a:ext cx="2430000" cy="32400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action where theft is observed or believed to be occurring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a:bodyPr>
          <a:lstStyle/>
          <a:p>
            <a:pPr marL="0" indent="0">
              <a:spcBef>
                <a:spcPts val="600"/>
              </a:spcBef>
              <a:spcAft>
                <a:spcPts val="1200"/>
              </a:spcAft>
              <a:buNone/>
            </a:pPr>
            <a:r>
              <a:rPr lang="en-US" sz="2200" dirty="0" smtClean="0">
                <a:latin typeface="Helvetica" pitchFamily="34" charset="0"/>
              </a:rPr>
              <a:t>Presenting a physical presence:</a:t>
            </a:r>
          </a:p>
          <a:p>
            <a:pPr marL="360000" indent="-360000">
              <a:spcBef>
                <a:spcPts val="600"/>
              </a:spcBef>
              <a:spcAft>
                <a:spcPts val="1200"/>
              </a:spcAft>
            </a:pPr>
            <a:r>
              <a:rPr lang="en-US" sz="2200" dirty="0" smtClean="0">
                <a:latin typeface="Helvetica" pitchFamily="34" charset="0"/>
              </a:rPr>
              <a:t>This can prevent/deter a theft</a:t>
            </a:r>
          </a:p>
          <a:p>
            <a:pPr marL="360000" indent="-360000">
              <a:spcBef>
                <a:spcPts val="600"/>
              </a:spcBef>
              <a:spcAft>
                <a:spcPts val="1200"/>
              </a:spcAft>
            </a:pPr>
            <a:r>
              <a:rPr lang="en-US" sz="2200" dirty="0" smtClean="0">
                <a:latin typeface="Helvetica" pitchFamily="34" charset="0"/>
              </a:rPr>
              <a:t>Only do it if safe to do so</a:t>
            </a:r>
          </a:p>
          <a:p>
            <a:pPr marL="360000" indent="-360000">
              <a:spcBef>
                <a:spcPts val="600"/>
              </a:spcBef>
              <a:spcAft>
                <a:spcPts val="1200"/>
              </a:spcAft>
            </a:pPr>
            <a:r>
              <a:rPr lang="en-US" sz="2200" dirty="0" smtClean="0">
                <a:latin typeface="Helvetica" pitchFamily="34" charset="0"/>
              </a:rPr>
              <a:t>Advise others of what your are doing</a:t>
            </a:r>
          </a:p>
          <a:p>
            <a:pPr marL="360000" indent="-360000">
              <a:spcBef>
                <a:spcPts val="600"/>
              </a:spcBef>
              <a:spcAft>
                <a:spcPts val="1200"/>
              </a:spcAft>
            </a:pPr>
            <a:r>
              <a:rPr lang="en-US" sz="2200" dirty="0" smtClean="0">
                <a:latin typeface="Helvetica" pitchFamily="34" charset="0"/>
              </a:rPr>
              <a:t>Can/should be done by more than one staff member.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92080" y="1988840"/>
            <a:ext cx="2218106" cy="324000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action where theft is observed or believed to be occurring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Capturing evidence may involve:</a:t>
            </a:r>
          </a:p>
          <a:p>
            <a:pPr marL="360000" indent="-360000">
              <a:spcBef>
                <a:spcPts val="600"/>
              </a:spcBef>
              <a:spcAft>
                <a:spcPts val="1200"/>
              </a:spcAft>
            </a:pPr>
            <a:r>
              <a:rPr lang="en-US" sz="2200" dirty="0" smtClean="0">
                <a:latin typeface="Helvetica" pitchFamily="34" charset="0"/>
              </a:rPr>
              <a:t>Activating security cameras</a:t>
            </a:r>
          </a:p>
          <a:p>
            <a:pPr marL="360000" indent="-360000">
              <a:spcBef>
                <a:spcPts val="600"/>
              </a:spcBef>
              <a:spcAft>
                <a:spcPts val="1200"/>
              </a:spcAft>
            </a:pPr>
            <a:r>
              <a:rPr lang="en-US" sz="2200" dirty="0" smtClean="0">
                <a:latin typeface="Helvetica" pitchFamily="34" charset="0"/>
              </a:rPr>
              <a:t>Memorising facts and noting details</a:t>
            </a:r>
          </a:p>
          <a:p>
            <a:pPr marL="360000" indent="-360000">
              <a:spcBef>
                <a:spcPts val="600"/>
              </a:spcBef>
              <a:spcAft>
                <a:spcPts val="1200"/>
              </a:spcAft>
            </a:pPr>
            <a:r>
              <a:rPr lang="en-US" sz="2200" dirty="0" smtClean="0">
                <a:latin typeface="Helvetica" pitchFamily="34" charset="0"/>
              </a:rPr>
              <a:t>Making hand-written notes</a:t>
            </a:r>
          </a:p>
          <a:p>
            <a:pPr marL="360000" indent="-360000">
              <a:spcBef>
                <a:spcPts val="600"/>
              </a:spcBef>
              <a:spcAft>
                <a:spcPts val="1200"/>
              </a:spcAft>
            </a:pPr>
            <a:r>
              <a:rPr lang="en-US" sz="2200" dirty="0" smtClean="0">
                <a:latin typeface="Helvetica" pitchFamily="34" charset="0"/>
              </a:rPr>
              <a:t>Taking photographs/video footage</a:t>
            </a:r>
          </a:p>
          <a:p>
            <a:pPr marL="360000" indent="-360000">
              <a:spcBef>
                <a:spcPts val="600"/>
              </a:spcBef>
              <a:spcAft>
                <a:spcPts val="1200"/>
              </a:spcAft>
            </a:pPr>
            <a:r>
              <a:rPr lang="en-US" sz="2200" dirty="0" smtClean="0">
                <a:latin typeface="Helvetica" pitchFamily="34" charset="0"/>
              </a:rPr>
              <a:t>Identifying potential witnesses.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427982" y="1844824"/>
            <a:ext cx="2523679" cy="32400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action where theft is observed or believed to be occurring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Conducting ‘bag searches’:</a:t>
            </a:r>
          </a:p>
          <a:p>
            <a:pPr marL="360000" indent="-360000">
              <a:spcBef>
                <a:spcPts val="600"/>
              </a:spcBef>
              <a:spcAft>
                <a:spcPts val="1200"/>
              </a:spcAft>
            </a:pPr>
            <a:r>
              <a:rPr lang="en-US" sz="2200" dirty="0" smtClean="0">
                <a:latin typeface="Helvetica" pitchFamily="34" charset="0"/>
              </a:rPr>
              <a:t>Not all businesses conduct bag searches</a:t>
            </a:r>
          </a:p>
          <a:p>
            <a:pPr marL="360000" indent="-360000">
              <a:spcBef>
                <a:spcPts val="600"/>
              </a:spcBef>
              <a:spcAft>
                <a:spcPts val="1200"/>
              </a:spcAft>
            </a:pPr>
            <a:r>
              <a:rPr lang="en-US" sz="2200" dirty="0" smtClean="0">
                <a:latin typeface="Helvetica" pitchFamily="34" charset="0"/>
              </a:rPr>
              <a:t>Signs should be in place advising bag searches are a condition of entry</a:t>
            </a:r>
          </a:p>
          <a:p>
            <a:pPr marL="360000" indent="-360000">
              <a:spcBef>
                <a:spcPts val="600"/>
              </a:spcBef>
              <a:spcAft>
                <a:spcPts val="1200"/>
              </a:spcAft>
            </a:pPr>
            <a:r>
              <a:rPr lang="en-US" sz="2200" dirty="0" smtClean="0">
                <a:latin typeface="Helvetica" pitchFamily="34" charset="0"/>
              </a:rPr>
              <a:t>Customers </a:t>
            </a:r>
            <a:r>
              <a:rPr lang="en-US" sz="2200" b="1" i="1" dirty="0" smtClean="0">
                <a:latin typeface="Helvetica" pitchFamily="34" charset="0"/>
              </a:rPr>
              <a:t>must never be forced </a:t>
            </a:r>
            <a:r>
              <a:rPr lang="en-US" sz="2200" dirty="0" smtClean="0">
                <a:latin typeface="Helvetica" pitchFamily="34" charset="0"/>
              </a:rPr>
              <a:t>to subject to a bag search</a:t>
            </a:r>
          </a:p>
          <a:p>
            <a:pPr marL="360000" indent="-360000">
              <a:spcBef>
                <a:spcPts val="600"/>
              </a:spcBef>
              <a:spcAft>
                <a:spcPts val="1200"/>
              </a:spcAft>
            </a:pPr>
            <a:r>
              <a:rPr lang="en-US" sz="2200" dirty="0" smtClean="0">
                <a:latin typeface="Helvetica" pitchFamily="34" charset="0"/>
              </a:rPr>
              <a:t>‘Handbags’ are usually not searched</a:t>
            </a:r>
          </a:p>
          <a:p>
            <a:pPr marL="360000" indent="-360000">
              <a:spcBef>
                <a:spcPts val="600"/>
              </a:spcBef>
              <a:spcAft>
                <a:spcPts val="1200"/>
              </a:spcAft>
              <a:buNone/>
            </a:pPr>
            <a:r>
              <a:rPr lang="en-US" sz="1800"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004048" y="2636912"/>
            <a:ext cx="3261219"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action where theft is observed or believed to be occurring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Customer service is vital</a:t>
            </a:r>
          </a:p>
          <a:p>
            <a:pPr marL="360000" indent="-360000">
              <a:spcBef>
                <a:spcPts val="600"/>
              </a:spcBef>
              <a:spcAft>
                <a:spcPts val="1200"/>
              </a:spcAft>
            </a:pPr>
            <a:r>
              <a:rPr lang="en-US" sz="2000" dirty="0" smtClean="0">
                <a:latin typeface="Helvetica" pitchFamily="34" charset="0"/>
              </a:rPr>
              <a:t>Ask </a:t>
            </a:r>
            <a:r>
              <a:rPr lang="en-US" sz="2000" i="1" dirty="0" smtClean="0">
                <a:latin typeface="Helvetica" pitchFamily="34" charset="0"/>
              </a:rPr>
              <a:t>customer </a:t>
            </a:r>
            <a:r>
              <a:rPr lang="en-US" sz="2000" dirty="0" smtClean="0">
                <a:latin typeface="Helvetica" pitchFamily="34" charset="0"/>
              </a:rPr>
              <a:t>to open their bag/s</a:t>
            </a:r>
          </a:p>
          <a:p>
            <a:pPr marL="360000" indent="-360000">
              <a:spcBef>
                <a:spcPts val="600"/>
              </a:spcBef>
              <a:spcAft>
                <a:spcPts val="1200"/>
              </a:spcAft>
            </a:pPr>
            <a:r>
              <a:rPr lang="en-US" sz="2000" dirty="0" smtClean="0">
                <a:latin typeface="Helvetica" pitchFamily="34" charset="0"/>
              </a:rPr>
              <a:t>Do not touch bag or contents</a:t>
            </a:r>
          </a:p>
          <a:p>
            <a:pPr marL="360000" indent="-360000">
              <a:spcBef>
                <a:spcPts val="600"/>
              </a:spcBef>
              <a:spcAft>
                <a:spcPts val="1200"/>
              </a:spcAft>
            </a:pPr>
            <a:r>
              <a:rPr lang="en-US" sz="2000" dirty="0" smtClean="0">
                <a:latin typeface="Helvetica" pitchFamily="34" charset="0"/>
              </a:rPr>
              <a:t>Realise customers can refuse a bag search and all you can do is ask them to leave.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860032" y="1988840"/>
            <a:ext cx="2430000" cy="324000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action where theft is observed or believed to be occurring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Apprehending offenders:</a:t>
            </a:r>
          </a:p>
          <a:p>
            <a:pPr marL="360000" indent="-360000">
              <a:spcBef>
                <a:spcPts val="600"/>
              </a:spcBef>
              <a:spcAft>
                <a:spcPts val="1200"/>
              </a:spcAft>
            </a:pPr>
            <a:r>
              <a:rPr lang="en-US" sz="2000" dirty="0" smtClean="0">
                <a:latin typeface="Helvetica" pitchFamily="34" charset="0"/>
              </a:rPr>
              <a:t>General advice is ‘Do not apprehend anyone’</a:t>
            </a:r>
          </a:p>
          <a:p>
            <a:pPr marL="360000" indent="-360000">
              <a:spcBef>
                <a:spcPts val="600"/>
              </a:spcBef>
              <a:spcAft>
                <a:spcPts val="1200"/>
              </a:spcAft>
            </a:pPr>
            <a:r>
              <a:rPr lang="en-US" sz="2000" dirty="0" smtClean="0">
                <a:latin typeface="Helvetica" pitchFamily="34" charset="0"/>
              </a:rPr>
              <a:t>Leave this to management or police</a:t>
            </a:r>
          </a:p>
          <a:p>
            <a:pPr marL="360000" indent="-360000">
              <a:spcBef>
                <a:spcPts val="600"/>
              </a:spcBef>
              <a:spcAft>
                <a:spcPts val="1200"/>
              </a:spcAft>
            </a:pPr>
            <a:r>
              <a:rPr lang="en-US" sz="2000" dirty="0" smtClean="0">
                <a:latin typeface="Helvetica" pitchFamily="34" charset="0"/>
              </a:rPr>
              <a:t>Those wrongfully arrested/detained may sue</a:t>
            </a:r>
          </a:p>
          <a:p>
            <a:pPr marL="360000" indent="-360000">
              <a:spcBef>
                <a:spcPts val="600"/>
              </a:spcBef>
              <a:spcAft>
                <a:spcPts val="1200"/>
              </a:spcAft>
            </a:pPr>
            <a:r>
              <a:rPr lang="en-US" sz="2000" dirty="0" smtClean="0">
                <a:latin typeface="Helvetica" pitchFamily="34" charset="0"/>
              </a:rPr>
              <a:t>Check with your employer to determine what applies.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00089" y="1988840"/>
            <a:ext cx="3156988"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433224"/>
          </a:xfrm>
        </p:spPr>
        <p:txBody>
          <a:bodyPr>
            <a:normAutofit lnSpcReduction="10000"/>
          </a:bodyPr>
          <a:lstStyle/>
          <a:p>
            <a:pPr marL="0" indent="0">
              <a:spcBef>
                <a:spcPts val="600"/>
              </a:spcBef>
              <a:spcAft>
                <a:spcPts val="1200"/>
              </a:spcAft>
              <a:buNone/>
            </a:pPr>
            <a:r>
              <a:rPr lang="en-AU" sz="2000" dirty="0" smtClean="0">
                <a:latin typeface="Helvetica" pitchFamily="34" charset="0"/>
              </a:rPr>
              <a:t>When utilising established internal and external theft minimisation protocols</a:t>
            </a:r>
            <a:r>
              <a:rPr lang="en-US" sz="2000" dirty="0" smtClean="0">
                <a:latin typeface="Helvetica" pitchFamily="34" charset="0"/>
              </a:rPr>
              <a:t>:</a:t>
            </a:r>
          </a:p>
          <a:p>
            <a:r>
              <a:rPr lang="en-AU" sz="2000" dirty="0" smtClean="0">
                <a:latin typeface="Helvetica" pitchFamily="34" charset="0"/>
              </a:rPr>
              <a:t>Ensure you know/have read and understood all current versions of all protocols </a:t>
            </a:r>
          </a:p>
          <a:p>
            <a:r>
              <a:rPr lang="en-AU" sz="2000" dirty="0" smtClean="0">
                <a:latin typeface="Helvetica" pitchFamily="34" charset="0"/>
              </a:rPr>
              <a:t>Implement policies and procedures as required</a:t>
            </a:r>
          </a:p>
          <a:p>
            <a:r>
              <a:rPr lang="en-AU" sz="2000" dirty="0" smtClean="0">
                <a:latin typeface="Helvetica" pitchFamily="34" charset="0"/>
              </a:rPr>
              <a:t>Use common sense and seek advice from management when unsure about what to do</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572000" y="1844824"/>
            <a:ext cx="2159795" cy="324000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r>
              <a:rPr lang="en-AU" sz="2200" dirty="0" smtClean="0">
                <a:latin typeface="Helvetica" pitchFamily="34" charset="0"/>
              </a:rPr>
              <a:t>Engage the services of Loss Prevention Officers to assist in deterring and reducing internal theft</a:t>
            </a:r>
          </a:p>
          <a:p>
            <a:r>
              <a:rPr lang="en-AU" sz="2200" dirty="0" smtClean="0">
                <a:latin typeface="Helvetica" pitchFamily="34" charset="0"/>
              </a:rPr>
              <a:t>Install, activate and actively monitor a range of surveillance devices and alarms</a:t>
            </a:r>
          </a:p>
          <a:p>
            <a:r>
              <a:rPr lang="en-AU" sz="2200" dirty="0" smtClean="0">
                <a:latin typeface="Helvetica" pitchFamily="34" charset="0"/>
              </a:rPr>
              <a:t>Restrict access to the business especially to back-of-house areas and to stock/inventory</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572000" y="2505797"/>
            <a:ext cx="2160000" cy="324000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525963"/>
          </a:xfrm>
        </p:spPr>
        <p:txBody>
          <a:bodyPr>
            <a:normAutofit/>
          </a:bodyPr>
          <a:lstStyle/>
          <a:p>
            <a:r>
              <a:rPr lang="en-AU" sz="2000" dirty="0" smtClean="0">
                <a:latin typeface="Helvetica" pitchFamily="34" charset="0"/>
              </a:rPr>
              <a:t>Pay special attention to ensure every transaction involving cash and/or stock is correct, accurate, recorded and verifiable</a:t>
            </a:r>
          </a:p>
          <a:p>
            <a:r>
              <a:rPr lang="en-AU" sz="2000" dirty="0" smtClean="0">
                <a:latin typeface="Helvetica" pitchFamily="34" charset="0"/>
              </a:rPr>
              <a:t>Ensure required documents are used to track and record transactions</a:t>
            </a:r>
          </a:p>
          <a:p>
            <a:r>
              <a:rPr lang="en-AU" sz="2000" dirty="0" smtClean="0">
                <a:latin typeface="Helvetica" pitchFamily="34" charset="0"/>
              </a:rPr>
              <a:t>Conduct and use regular stock takes as a control mechanism</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13400" y="1988840"/>
            <a:ext cx="3240000"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Observe people to identify suspicious behaviour and investigate/respond as necessary</a:t>
            </a:r>
          </a:p>
          <a:p>
            <a:r>
              <a:rPr lang="en-AU" sz="2000" dirty="0" smtClean="0">
                <a:latin typeface="Helvetica" pitchFamily="34" charset="0"/>
              </a:rPr>
              <a:t>Take responsible and safe action in response to all instances of suspected or actual theft</a:t>
            </a:r>
          </a:p>
          <a:p>
            <a:r>
              <a:rPr lang="en-AU" sz="2000" dirty="0" smtClean="0">
                <a:latin typeface="Helvetica" pitchFamily="34" charset="0"/>
              </a:rPr>
              <a:t>Capture evidence where an event has occurred</a:t>
            </a:r>
          </a:p>
          <a:p>
            <a:r>
              <a:rPr lang="en-AU" sz="2000" dirty="0" smtClean="0">
                <a:latin typeface="Helvetica" pitchFamily="34" charset="0"/>
              </a:rPr>
              <a:t>Avoid making arrests. </a:t>
            </a:r>
            <a:endParaRPr lang="en-US" sz="20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92080" y="1988840"/>
            <a:ext cx="2160000" cy="324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Autofit/>
          </a:bodyPr>
          <a:lstStyle/>
          <a:p>
            <a:r>
              <a:rPr lang="en-US" sz="3400" b="1" dirty="0" smtClean="0">
                <a:solidFill>
                  <a:srgbClr val="FF6600"/>
                </a:solidFill>
                <a:latin typeface="Helvetica" pitchFamily="34" charset="0"/>
              </a:rPr>
              <a:t>Element 4 – Provide theft minimisation advice and services to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680520"/>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Develop information for customers in relation to protecting them against theft while travelling/on tour</a:t>
            </a:r>
          </a:p>
          <a:p>
            <a:pPr marL="360000" indent="-360000">
              <a:spcBef>
                <a:spcPts val="600"/>
              </a:spcBef>
              <a:spcAft>
                <a:spcPts val="1200"/>
              </a:spcAft>
            </a:pPr>
            <a:r>
              <a:rPr lang="en-US" sz="2200" dirty="0" smtClean="0">
                <a:latin typeface="Helvetica" pitchFamily="34" charset="0"/>
              </a:rPr>
              <a:t>Disseminate customer theft minimisation advice</a:t>
            </a:r>
          </a:p>
          <a:p>
            <a:pPr marL="360000" indent="-360000">
              <a:spcBef>
                <a:spcPts val="600"/>
              </a:spcBef>
              <a:spcAft>
                <a:spcPts val="1200"/>
              </a:spcAft>
            </a:pPr>
            <a:r>
              <a:rPr lang="en-US" sz="2200" dirty="0" smtClean="0">
                <a:latin typeface="Helvetica" pitchFamily="34" charset="0"/>
              </a:rPr>
              <a:t>Provide hosting and escorting services to customers on tour </a:t>
            </a:r>
          </a:p>
          <a:p>
            <a:pPr marL="360000" indent="-360000">
              <a:spcBef>
                <a:spcPts val="600"/>
              </a:spcBef>
              <a:spcAft>
                <a:spcPts val="1200"/>
              </a:spcAft>
            </a:pPr>
            <a:r>
              <a:rPr lang="en-US" sz="2200" dirty="0" smtClean="0">
                <a:latin typeface="Helvetica" pitchFamily="34" charset="0"/>
              </a:rPr>
              <a:t>Provide on tour safe-keeping facilities for tour group members.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345360" y="1844824"/>
            <a:ext cx="3026700" cy="324000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Sources of information:</a:t>
            </a:r>
          </a:p>
          <a:p>
            <a:pPr marL="360000" indent="-360000">
              <a:spcBef>
                <a:spcPts val="600"/>
              </a:spcBef>
              <a:spcAft>
                <a:spcPts val="1200"/>
              </a:spcAft>
            </a:pPr>
            <a:r>
              <a:rPr lang="en-US" sz="2200" dirty="0" smtClean="0">
                <a:latin typeface="Helvetica" pitchFamily="34" charset="0"/>
              </a:rPr>
              <a:t>Government websites</a:t>
            </a:r>
          </a:p>
          <a:p>
            <a:pPr marL="360000" indent="-360000">
              <a:spcBef>
                <a:spcPts val="600"/>
              </a:spcBef>
              <a:spcAft>
                <a:spcPts val="1200"/>
              </a:spcAft>
            </a:pPr>
            <a:r>
              <a:rPr lang="en-US" sz="2200" dirty="0" smtClean="0">
                <a:latin typeface="Helvetica" pitchFamily="34" charset="0"/>
              </a:rPr>
              <a:t>Employees who have recently visited the destinations and/or been on similar trips and tours</a:t>
            </a:r>
          </a:p>
          <a:p>
            <a:pPr marL="360000" indent="-360000">
              <a:spcBef>
                <a:spcPts val="600"/>
              </a:spcBef>
              <a:spcAft>
                <a:spcPts val="1200"/>
              </a:spcAft>
            </a:pPr>
            <a:r>
              <a:rPr lang="en-US" sz="2200" dirty="0" smtClean="0">
                <a:latin typeface="Helvetica" pitchFamily="34" charset="0"/>
              </a:rPr>
              <a:t>Industry associations</a:t>
            </a:r>
          </a:p>
          <a:p>
            <a:pPr marL="360000" indent="-360000">
              <a:spcBef>
                <a:spcPts val="600"/>
              </a:spcBef>
              <a:spcAft>
                <a:spcPts val="1200"/>
              </a:spcAft>
            </a:pPr>
            <a:r>
              <a:rPr lang="en-US" sz="2200" dirty="0" smtClean="0">
                <a:latin typeface="Helvetica" pitchFamily="34" charset="0"/>
              </a:rPr>
              <a:t>Industry blogs</a:t>
            </a:r>
          </a:p>
          <a:p>
            <a:pPr marL="360000" indent="-360000">
              <a:spcBef>
                <a:spcPts val="600"/>
              </a:spcBef>
              <a:spcAft>
                <a:spcPts val="1200"/>
              </a:spcAft>
            </a:pPr>
            <a:r>
              <a:rPr lang="en-US" sz="2200" dirty="0" smtClean="0">
                <a:latin typeface="Helvetica" pitchFamily="34" charset="0"/>
              </a:rPr>
              <a:t>Customers who have returned from trips and tours</a:t>
            </a:r>
          </a:p>
          <a:p>
            <a:pPr marL="360000" indent="-360000">
              <a:spcBef>
                <a:spcPts val="600"/>
              </a:spcBef>
              <a:spcAft>
                <a:spcPts val="1200"/>
              </a:spcAft>
            </a:pPr>
            <a:r>
              <a:rPr lang="en-US" sz="2200" dirty="0" smtClean="0">
                <a:latin typeface="Helvetica" pitchFamily="34" charset="0"/>
              </a:rPr>
              <a:t>Police – local police and police at destinations.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364088" y="2996952"/>
            <a:ext cx="3240000"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Advice/information provided to customers who are going on tour/travelling should:</a:t>
            </a:r>
          </a:p>
          <a:p>
            <a:pPr marL="360000" indent="-360000">
              <a:spcBef>
                <a:spcPts val="600"/>
              </a:spcBef>
              <a:spcAft>
                <a:spcPts val="1200"/>
              </a:spcAft>
            </a:pPr>
            <a:r>
              <a:rPr lang="en-US" sz="2000" dirty="0" smtClean="0">
                <a:latin typeface="Helvetica" pitchFamily="34" charset="0"/>
              </a:rPr>
              <a:t>Warn them of known dangers </a:t>
            </a:r>
          </a:p>
          <a:p>
            <a:pPr marL="360000" indent="-360000">
              <a:spcBef>
                <a:spcPts val="600"/>
              </a:spcBef>
              <a:spcAft>
                <a:spcPts val="1200"/>
              </a:spcAft>
            </a:pPr>
            <a:r>
              <a:rPr lang="en-US" sz="2000" dirty="0" smtClean="0">
                <a:latin typeface="Helvetica" pitchFamily="34" charset="0"/>
              </a:rPr>
              <a:t>Tell about known illegal business practices</a:t>
            </a:r>
          </a:p>
          <a:p>
            <a:pPr marL="360000" indent="-360000">
              <a:spcBef>
                <a:spcPts val="600"/>
              </a:spcBef>
              <a:spcAft>
                <a:spcPts val="1200"/>
              </a:spcAft>
            </a:pPr>
            <a:r>
              <a:rPr lang="en-US" sz="2000" dirty="0" smtClean="0">
                <a:latin typeface="Helvetica" pitchFamily="34" charset="0"/>
              </a:rPr>
              <a:t>Notify of previous occurrences</a:t>
            </a:r>
          </a:p>
          <a:p>
            <a:pPr marL="360000" indent="-360000">
              <a:spcBef>
                <a:spcPts val="600"/>
              </a:spcBef>
              <a:spcAft>
                <a:spcPts val="1200"/>
              </a:spcAft>
            </a:pPr>
            <a:r>
              <a:rPr lang="en-US" sz="2000" dirty="0" smtClean="0">
                <a:latin typeface="Helvetica" pitchFamily="34" charset="0"/>
              </a:rPr>
              <a:t>Describe practices to prevent/guard against known dangers/risks.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13400" y="1988840"/>
            <a:ext cx="3240000"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888432"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Information provided to customers should address:</a:t>
            </a:r>
          </a:p>
          <a:p>
            <a:pPr marL="360000" indent="-360000">
              <a:spcBef>
                <a:spcPts val="600"/>
              </a:spcBef>
              <a:spcAft>
                <a:spcPts val="1200"/>
              </a:spcAft>
            </a:pPr>
            <a:r>
              <a:rPr lang="en-US" sz="2200" dirty="0" smtClean="0">
                <a:latin typeface="Helvetica" pitchFamily="34" charset="0"/>
              </a:rPr>
              <a:t>Businesses to avoid</a:t>
            </a:r>
          </a:p>
          <a:p>
            <a:pPr marL="360000" indent="-360000">
              <a:spcBef>
                <a:spcPts val="600"/>
              </a:spcBef>
              <a:spcAft>
                <a:spcPts val="1200"/>
              </a:spcAft>
            </a:pPr>
            <a:r>
              <a:rPr lang="en-US" sz="2200" dirty="0" smtClean="0">
                <a:latin typeface="Helvetica" pitchFamily="34" charset="0"/>
              </a:rPr>
              <a:t>Carrying of cash on their person</a:t>
            </a:r>
          </a:p>
          <a:p>
            <a:pPr marL="360000" indent="-360000">
              <a:spcBef>
                <a:spcPts val="600"/>
              </a:spcBef>
              <a:spcAft>
                <a:spcPts val="1200"/>
              </a:spcAft>
            </a:pPr>
            <a:r>
              <a:rPr lang="en-US" sz="2200" dirty="0" smtClean="0">
                <a:latin typeface="Helvetica" pitchFamily="34" charset="0"/>
              </a:rPr>
              <a:t>Using safety deposit facilities in venues</a:t>
            </a:r>
          </a:p>
          <a:p>
            <a:pPr marL="360000" indent="-360000">
              <a:spcBef>
                <a:spcPts val="600"/>
              </a:spcBef>
              <a:spcAft>
                <a:spcPts val="1200"/>
              </a:spcAft>
            </a:pPr>
            <a:r>
              <a:rPr lang="en-US" sz="2200" dirty="0" smtClean="0">
                <a:latin typeface="Helvetica" pitchFamily="34" charset="0"/>
              </a:rPr>
              <a:t>Packing of cases</a:t>
            </a:r>
          </a:p>
          <a:p>
            <a:pPr marL="360000" indent="-360000">
              <a:spcBef>
                <a:spcPts val="600"/>
              </a:spcBef>
              <a:spcAft>
                <a:spcPts val="1200"/>
              </a:spcAft>
            </a:pPr>
            <a:r>
              <a:rPr lang="en-US" sz="2200" dirty="0" smtClean="0">
                <a:latin typeface="Helvetica" pitchFamily="34" charset="0"/>
              </a:rPr>
              <a:t>Contact details of authorities in different countries</a:t>
            </a:r>
          </a:p>
          <a:p>
            <a:pPr marL="360000" indent="-360000">
              <a:spcBef>
                <a:spcPts val="600"/>
              </a:spcBef>
              <a:spcAft>
                <a:spcPts val="1200"/>
              </a:spcAft>
              <a:buNone/>
            </a:pPr>
            <a:r>
              <a:rPr lang="en-US" sz="1800"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716016" y="2013584"/>
            <a:ext cx="3363144" cy="2522358"/>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Known scams</a:t>
            </a:r>
          </a:p>
          <a:p>
            <a:pPr marL="360000" indent="-360000">
              <a:spcBef>
                <a:spcPts val="600"/>
              </a:spcBef>
              <a:spcAft>
                <a:spcPts val="1200"/>
              </a:spcAft>
            </a:pPr>
            <a:r>
              <a:rPr lang="en-US" sz="2000" dirty="0" smtClean="0">
                <a:latin typeface="Helvetica" pitchFamily="34" charset="0"/>
              </a:rPr>
              <a:t>Items targetted by thieves at different destinations.</a:t>
            </a:r>
          </a:p>
          <a:p>
            <a:pPr marL="360000" indent="-360000">
              <a:spcBef>
                <a:spcPts val="600"/>
              </a:spcBef>
              <a:spcAft>
                <a:spcPts val="1200"/>
              </a:spcAft>
            </a:pPr>
            <a:r>
              <a:rPr lang="en-US" sz="2000" dirty="0" smtClean="0">
                <a:latin typeface="Helvetica" pitchFamily="34" charset="0"/>
              </a:rPr>
              <a:t>Action to take if they become a victim of theft</a:t>
            </a:r>
          </a:p>
          <a:p>
            <a:pPr marL="360000" indent="-360000">
              <a:spcBef>
                <a:spcPts val="600"/>
              </a:spcBef>
              <a:spcAft>
                <a:spcPts val="1200"/>
              </a:spcAft>
            </a:pPr>
            <a:r>
              <a:rPr lang="en-US" sz="2000" dirty="0" smtClean="0">
                <a:latin typeface="Helvetica" pitchFamily="34" charset="0"/>
              </a:rPr>
              <a:t>Travel insurance.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716016" y="1994640"/>
            <a:ext cx="3252135"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Advice about businesses to avoid:</a:t>
            </a:r>
          </a:p>
          <a:p>
            <a:pPr marL="360000" indent="-360000">
              <a:spcBef>
                <a:spcPts val="600"/>
              </a:spcBef>
              <a:spcAft>
                <a:spcPts val="1200"/>
              </a:spcAft>
            </a:pPr>
            <a:r>
              <a:rPr lang="en-US" sz="2200" dirty="0" smtClean="0">
                <a:latin typeface="Helvetica" pitchFamily="34" charset="0"/>
              </a:rPr>
              <a:t>Identify geographic areas/districts to avoid</a:t>
            </a:r>
          </a:p>
          <a:p>
            <a:pPr marL="360000" indent="-360000">
              <a:spcBef>
                <a:spcPts val="600"/>
              </a:spcBef>
              <a:spcAft>
                <a:spcPts val="1200"/>
              </a:spcAft>
            </a:pPr>
            <a:r>
              <a:rPr lang="en-US" sz="2200" dirty="0" smtClean="0">
                <a:latin typeface="Helvetica" pitchFamily="34" charset="0"/>
              </a:rPr>
              <a:t>Describe locations to stay away from</a:t>
            </a:r>
          </a:p>
          <a:p>
            <a:pPr marL="360000" indent="-360000">
              <a:spcBef>
                <a:spcPts val="600"/>
              </a:spcBef>
              <a:spcAft>
                <a:spcPts val="1200"/>
              </a:spcAft>
            </a:pPr>
            <a:r>
              <a:rPr lang="en-US" sz="2200" dirty="0" smtClean="0">
                <a:latin typeface="Helvetica" pitchFamily="34" charset="0"/>
              </a:rPr>
              <a:t>Name known businesses to avoid</a:t>
            </a:r>
          </a:p>
          <a:p>
            <a:pPr marL="360000" indent="-360000">
              <a:spcBef>
                <a:spcPts val="600"/>
              </a:spcBef>
              <a:spcAft>
                <a:spcPts val="1200"/>
              </a:spcAft>
            </a:pPr>
            <a:r>
              <a:rPr lang="en-US" sz="2200" dirty="0" smtClean="0">
                <a:latin typeface="Helvetica" pitchFamily="34" charset="0"/>
              </a:rPr>
              <a:t>List common products/services associated with problems</a:t>
            </a:r>
          </a:p>
          <a:p>
            <a:pPr marL="360000" indent="-360000">
              <a:spcBef>
                <a:spcPts val="600"/>
              </a:spcBef>
              <a:spcAft>
                <a:spcPts val="1200"/>
              </a:spcAft>
            </a:pPr>
            <a:r>
              <a:rPr lang="en-US" sz="2200" dirty="0" smtClean="0">
                <a:latin typeface="Helvetica" pitchFamily="34" charset="0"/>
              </a:rPr>
              <a:t>Give examples of previous problems encountered by customers.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20069" y="1844824"/>
            <a:ext cx="2110626" cy="32400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Advice about carrying cash on their person:</a:t>
            </a:r>
          </a:p>
          <a:p>
            <a:pPr marL="360000" indent="-360000">
              <a:spcBef>
                <a:spcPts val="600"/>
              </a:spcBef>
              <a:spcAft>
                <a:spcPts val="1200"/>
              </a:spcAft>
            </a:pPr>
            <a:r>
              <a:rPr lang="en-US" sz="2000" dirty="0" smtClean="0">
                <a:latin typeface="Helvetica" pitchFamily="34" charset="0"/>
              </a:rPr>
              <a:t>What advice would you give to customers in this regard?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6" name="Picture 5"/>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rot="20813819">
            <a:off x="3599479" y="3129984"/>
            <a:ext cx="4022670" cy="268178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433224"/>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Advice about use of safety deposit facilities at venues:</a:t>
            </a:r>
          </a:p>
          <a:p>
            <a:pPr marL="360000" indent="-360000">
              <a:spcBef>
                <a:spcPts val="600"/>
              </a:spcBef>
              <a:spcAft>
                <a:spcPts val="1200"/>
              </a:spcAft>
            </a:pPr>
            <a:r>
              <a:rPr lang="en-US" sz="2200" dirty="0" smtClean="0">
                <a:latin typeface="Helvetica" pitchFamily="34" charset="0"/>
              </a:rPr>
              <a:t>List venues with facilities</a:t>
            </a:r>
          </a:p>
          <a:p>
            <a:pPr marL="360000" indent="-360000">
              <a:spcBef>
                <a:spcPts val="600"/>
              </a:spcBef>
              <a:spcAft>
                <a:spcPts val="1200"/>
              </a:spcAft>
            </a:pPr>
            <a:r>
              <a:rPr lang="en-US" sz="2200" dirty="0" smtClean="0">
                <a:latin typeface="Helvetica" pitchFamily="34" charset="0"/>
              </a:rPr>
              <a:t>Describe facilities and how to use them</a:t>
            </a:r>
          </a:p>
          <a:p>
            <a:pPr marL="360000" indent="-360000">
              <a:spcBef>
                <a:spcPts val="600"/>
              </a:spcBef>
              <a:spcAft>
                <a:spcPts val="1200"/>
              </a:spcAft>
            </a:pPr>
            <a:r>
              <a:rPr lang="en-US" sz="2200" dirty="0" smtClean="0">
                <a:latin typeface="Helvetica" pitchFamily="34" charset="0"/>
              </a:rPr>
              <a:t>Indicate fees charged (if applicable) by venues</a:t>
            </a:r>
          </a:p>
          <a:p>
            <a:pPr marL="360000" indent="-360000">
              <a:spcBef>
                <a:spcPts val="600"/>
              </a:spcBef>
              <a:spcAft>
                <a:spcPts val="1200"/>
              </a:spcAft>
            </a:pPr>
            <a:r>
              <a:rPr lang="en-US" sz="2200" dirty="0" smtClean="0">
                <a:latin typeface="Helvetica" pitchFamily="34" charset="0"/>
              </a:rPr>
              <a:t>Highlight limits of liabilities of venues</a:t>
            </a:r>
          </a:p>
          <a:p>
            <a:pPr marL="360000" indent="-360000">
              <a:spcBef>
                <a:spcPts val="600"/>
              </a:spcBef>
              <a:spcAft>
                <a:spcPts val="1200"/>
              </a:spcAft>
            </a:pPr>
            <a:r>
              <a:rPr lang="en-US" sz="2200" dirty="0" smtClean="0">
                <a:latin typeface="Helvetica" pitchFamily="34" charset="0"/>
              </a:rPr>
              <a:t>Identify items which it is best </a:t>
            </a:r>
            <a:r>
              <a:rPr lang="en-US" sz="2200" b="1" dirty="0" smtClean="0">
                <a:latin typeface="Helvetica" pitchFamily="34" charset="0"/>
              </a:rPr>
              <a:t>not </a:t>
            </a:r>
            <a:r>
              <a:rPr lang="en-US" sz="2200" dirty="0" smtClean="0">
                <a:latin typeface="Helvetica" pitchFamily="34" charset="0"/>
              </a:rPr>
              <a:t>to deposit in venue facilities.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199160" y="2045452"/>
            <a:ext cx="288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Advice about packing of cases:</a:t>
            </a:r>
          </a:p>
          <a:p>
            <a:pPr marL="360000" indent="-360000">
              <a:spcBef>
                <a:spcPts val="600"/>
              </a:spcBef>
              <a:spcAft>
                <a:spcPts val="1200"/>
              </a:spcAft>
            </a:pPr>
            <a:r>
              <a:rPr lang="en-US" sz="2200" dirty="0" smtClean="0">
                <a:latin typeface="Helvetica" pitchFamily="34" charset="0"/>
              </a:rPr>
              <a:t>Not placing travel documentation in cases</a:t>
            </a:r>
          </a:p>
          <a:p>
            <a:pPr marL="360000" indent="-360000">
              <a:spcBef>
                <a:spcPts val="600"/>
              </a:spcBef>
              <a:spcAft>
                <a:spcPts val="1200"/>
              </a:spcAft>
            </a:pPr>
            <a:r>
              <a:rPr lang="en-US" sz="2200" dirty="0" smtClean="0">
                <a:latin typeface="Helvetica" pitchFamily="34" charset="0"/>
              </a:rPr>
              <a:t>Spreading valuable items amongst cases</a:t>
            </a:r>
          </a:p>
          <a:p>
            <a:pPr marL="360000" indent="-360000">
              <a:spcBef>
                <a:spcPts val="600"/>
              </a:spcBef>
              <a:spcAft>
                <a:spcPts val="1200"/>
              </a:spcAft>
            </a:pPr>
            <a:r>
              <a:rPr lang="en-US" sz="2200" dirty="0" smtClean="0">
                <a:latin typeface="Helvetica" pitchFamily="34" charset="0"/>
              </a:rPr>
              <a:t>Recommending sturdy luggage</a:t>
            </a:r>
          </a:p>
          <a:p>
            <a:pPr marL="360000" indent="-360000">
              <a:spcBef>
                <a:spcPts val="600"/>
              </a:spcBef>
              <a:spcAft>
                <a:spcPts val="1200"/>
              </a:spcAft>
            </a:pPr>
            <a:r>
              <a:rPr lang="en-US" sz="2200" dirty="0" smtClean="0">
                <a:latin typeface="Helvetica" pitchFamily="34" charset="0"/>
              </a:rPr>
              <a:t>Stressing need for name tags</a:t>
            </a:r>
          </a:p>
          <a:p>
            <a:pPr marL="360000" indent="-360000">
              <a:spcBef>
                <a:spcPts val="600"/>
              </a:spcBef>
              <a:spcAft>
                <a:spcPts val="1200"/>
              </a:spcAft>
            </a:pPr>
            <a:r>
              <a:rPr lang="en-US" sz="2200" dirty="0" smtClean="0">
                <a:latin typeface="Helvetica" pitchFamily="34" charset="0"/>
              </a:rPr>
              <a:t>Suggesting lockable cases</a:t>
            </a:r>
          </a:p>
          <a:p>
            <a:pPr marL="360000" indent="-360000">
              <a:spcBef>
                <a:spcPts val="600"/>
              </a:spcBef>
              <a:spcAft>
                <a:spcPts val="1200"/>
              </a:spcAft>
            </a:pPr>
            <a:r>
              <a:rPr lang="en-US" sz="2200" dirty="0" smtClean="0">
                <a:latin typeface="Helvetica" pitchFamily="34" charset="0"/>
              </a:rPr>
              <a:t>Mentioning plastic wrapping of cases.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32040" y="2004426"/>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Advice about contact details of authorities in different countries:</a:t>
            </a:r>
          </a:p>
          <a:p>
            <a:pPr marL="360000" indent="-360000">
              <a:spcBef>
                <a:spcPts val="600"/>
              </a:spcBef>
              <a:spcAft>
                <a:spcPts val="1200"/>
              </a:spcAft>
            </a:pPr>
            <a:r>
              <a:rPr lang="en-US" sz="2000" dirty="0" smtClean="0">
                <a:latin typeface="Helvetica" pitchFamily="34" charset="0"/>
              </a:rPr>
              <a:t>Supply list of authorities and their contact details</a:t>
            </a:r>
          </a:p>
          <a:p>
            <a:pPr marL="360000" indent="-360000">
              <a:spcBef>
                <a:spcPts val="600"/>
              </a:spcBef>
              <a:spcAft>
                <a:spcPts val="1200"/>
              </a:spcAft>
            </a:pPr>
            <a:r>
              <a:rPr lang="en-US" sz="2000" dirty="0" smtClean="0">
                <a:latin typeface="Helvetica" pitchFamily="34" charset="0"/>
              </a:rPr>
              <a:t>Provide a map with locations indicated.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4716016" y="1988840"/>
            <a:ext cx="3363144" cy="2522358"/>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Advice about known scams:</a:t>
            </a:r>
          </a:p>
          <a:p>
            <a:pPr marL="360000" indent="-360000">
              <a:spcBef>
                <a:spcPts val="600"/>
              </a:spcBef>
              <a:spcAft>
                <a:spcPts val="1200"/>
              </a:spcAft>
            </a:pPr>
            <a:r>
              <a:rPr lang="en-US" sz="2000" dirty="0" smtClean="0">
                <a:latin typeface="Helvetica" pitchFamily="34" charset="0"/>
              </a:rPr>
              <a:t>Describe scams</a:t>
            </a:r>
          </a:p>
          <a:p>
            <a:pPr marL="360000" indent="-360000">
              <a:spcBef>
                <a:spcPts val="600"/>
              </a:spcBef>
              <a:spcAft>
                <a:spcPts val="1200"/>
              </a:spcAft>
            </a:pPr>
            <a:r>
              <a:rPr lang="en-US" sz="2000" dirty="0" smtClean="0">
                <a:latin typeface="Helvetica" pitchFamily="34" charset="0"/>
              </a:rPr>
              <a:t>Identify warning signs</a:t>
            </a:r>
          </a:p>
          <a:p>
            <a:pPr marL="360000" indent="-360000">
              <a:spcBef>
                <a:spcPts val="600"/>
              </a:spcBef>
              <a:spcAft>
                <a:spcPts val="1200"/>
              </a:spcAft>
            </a:pPr>
            <a:r>
              <a:rPr lang="en-US" sz="2000" dirty="0" smtClean="0">
                <a:latin typeface="Helvetica" pitchFamily="34" charset="0"/>
              </a:rPr>
              <a:t>Explain action to take if targetted </a:t>
            </a:r>
          </a:p>
          <a:p>
            <a:pPr marL="360000" indent="-360000">
              <a:spcBef>
                <a:spcPts val="600"/>
              </a:spcBef>
              <a:spcAft>
                <a:spcPts val="1200"/>
              </a:spcAft>
            </a:pPr>
            <a:r>
              <a:rPr lang="en-US" sz="2000" dirty="0" smtClean="0">
                <a:latin typeface="Helvetica" pitchFamily="34" charset="0"/>
              </a:rPr>
              <a:t>Explain preparation to guard against being a victim.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92080" y="2132856"/>
            <a:ext cx="2341252" cy="32400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08512"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Advice about action to take if targetted by thieves:</a:t>
            </a:r>
          </a:p>
          <a:p>
            <a:pPr marL="360000" indent="-360000">
              <a:spcBef>
                <a:spcPts val="600"/>
              </a:spcBef>
              <a:spcAft>
                <a:spcPts val="1200"/>
              </a:spcAft>
            </a:pPr>
            <a:r>
              <a:rPr lang="en-US" sz="2200" dirty="0" smtClean="0">
                <a:latin typeface="Helvetica" pitchFamily="34" charset="0"/>
              </a:rPr>
              <a:t>Name items which have been targetted at destinations</a:t>
            </a:r>
          </a:p>
          <a:p>
            <a:pPr marL="360000" indent="-360000">
              <a:spcBef>
                <a:spcPts val="600"/>
              </a:spcBef>
              <a:spcAft>
                <a:spcPts val="1200"/>
              </a:spcAft>
            </a:pPr>
            <a:r>
              <a:rPr lang="en-US" sz="2200" dirty="0" smtClean="0">
                <a:latin typeface="Helvetica" pitchFamily="34" charset="0"/>
              </a:rPr>
              <a:t>Describe theft prevention protocols</a:t>
            </a:r>
          </a:p>
          <a:p>
            <a:pPr marL="360000" indent="-360000">
              <a:spcBef>
                <a:spcPts val="600"/>
              </a:spcBef>
              <a:spcAft>
                <a:spcPts val="1200"/>
              </a:spcAft>
            </a:pPr>
            <a:r>
              <a:rPr lang="en-US" sz="2200" dirty="0" smtClean="0">
                <a:latin typeface="Helvetica" pitchFamily="34" charset="0"/>
              </a:rPr>
              <a:t>Explain immediate and follow-up action to take</a:t>
            </a:r>
          </a:p>
          <a:p>
            <a:pPr marL="360000" indent="-360000">
              <a:spcBef>
                <a:spcPts val="600"/>
              </a:spcBef>
              <a:spcAft>
                <a:spcPts val="1200"/>
              </a:spcAft>
            </a:pPr>
            <a:r>
              <a:rPr lang="en-US" sz="2200" dirty="0" smtClean="0">
                <a:latin typeface="Helvetica" pitchFamily="34" charset="0"/>
              </a:rPr>
              <a:t>Encourage people not to flaunt items which have been previous targets for theft</a:t>
            </a:r>
          </a:p>
          <a:p>
            <a:pPr marL="360000" indent="-360000">
              <a:spcBef>
                <a:spcPts val="600"/>
              </a:spcBef>
              <a:spcAft>
                <a:spcPts val="1200"/>
              </a:spcAft>
            </a:pPr>
            <a:r>
              <a:rPr lang="en-US" sz="2200" dirty="0" smtClean="0">
                <a:latin typeface="Helvetica" pitchFamily="34" charset="0"/>
              </a:rPr>
              <a:t>Suggest re-consideration of whether targetted items </a:t>
            </a:r>
            <a:r>
              <a:rPr lang="en-US" sz="2200" b="1" dirty="0" smtClean="0">
                <a:latin typeface="Helvetica" pitchFamily="34" charset="0"/>
              </a:rPr>
              <a:t>need </a:t>
            </a:r>
            <a:r>
              <a:rPr lang="en-US" sz="2200" dirty="0" smtClean="0">
                <a:latin typeface="Helvetica" pitchFamily="34" charset="0"/>
              </a:rPr>
              <a:t>to be taken.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796136" y="2060848"/>
            <a:ext cx="2255040" cy="32400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Advice to take if becoming a victim of theft:</a:t>
            </a:r>
          </a:p>
          <a:p>
            <a:pPr marL="360000" indent="-360000">
              <a:spcBef>
                <a:spcPts val="600"/>
              </a:spcBef>
              <a:spcAft>
                <a:spcPts val="1200"/>
              </a:spcAft>
            </a:pPr>
            <a:r>
              <a:rPr lang="en-US" sz="2200" dirty="0" smtClean="0">
                <a:latin typeface="Helvetica" pitchFamily="34" charset="0"/>
              </a:rPr>
              <a:t>Recommend not retaliating</a:t>
            </a:r>
          </a:p>
          <a:p>
            <a:pPr marL="360000" indent="-360000">
              <a:spcBef>
                <a:spcPts val="600"/>
              </a:spcBef>
              <a:spcAft>
                <a:spcPts val="1200"/>
              </a:spcAft>
            </a:pPr>
            <a:r>
              <a:rPr lang="en-US" sz="2200" dirty="0" smtClean="0">
                <a:latin typeface="Helvetica" pitchFamily="34" charset="0"/>
              </a:rPr>
              <a:t>Stress need to report incident to authorities</a:t>
            </a:r>
          </a:p>
          <a:p>
            <a:pPr marL="360000" indent="-360000">
              <a:spcBef>
                <a:spcPts val="600"/>
              </a:spcBef>
              <a:spcAft>
                <a:spcPts val="1200"/>
              </a:spcAft>
            </a:pPr>
            <a:r>
              <a:rPr lang="en-US" sz="2200" dirty="0" smtClean="0">
                <a:latin typeface="Helvetica" pitchFamily="34" charset="0"/>
              </a:rPr>
              <a:t>Highlight need to report full details if incident and items stolen</a:t>
            </a:r>
          </a:p>
          <a:p>
            <a:pPr marL="360000" indent="-360000">
              <a:spcBef>
                <a:spcPts val="600"/>
              </a:spcBef>
              <a:spcAft>
                <a:spcPts val="1200"/>
              </a:spcAft>
            </a:pPr>
            <a:r>
              <a:rPr lang="en-US" sz="2200" dirty="0" smtClean="0">
                <a:latin typeface="Helvetica" pitchFamily="34" charset="0"/>
              </a:rPr>
              <a:t>Encourage taking notes and photo of scene</a:t>
            </a:r>
          </a:p>
          <a:p>
            <a:pPr marL="360000" indent="-360000">
              <a:spcBef>
                <a:spcPts val="600"/>
              </a:spcBef>
              <a:spcAft>
                <a:spcPts val="1200"/>
              </a:spcAft>
            </a:pPr>
            <a:r>
              <a:rPr lang="en-US" sz="2200" dirty="0" smtClean="0">
                <a:latin typeface="Helvetica" pitchFamily="34" charset="0"/>
              </a:rPr>
              <a:t>Suggest travel insurance.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076056" y="1941490"/>
            <a:ext cx="2218106" cy="32400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information for travelling/on tour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Advice about travel insurance:</a:t>
            </a:r>
          </a:p>
          <a:p>
            <a:pPr marL="360000" indent="-360000">
              <a:spcBef>
                <a:spcPts val="600"/>
              </a:spcBef>
              <a:spcAft>
                <a:spcPts val="1200"/>
              </a:spcAft>
            </a:pPr>
            <a:r>
              <a:rPr lang="en-US" sz="2200" dirty="0" smtClean="0">
                <a:latin typeface="Helvetica" pitchFamily="34" charset="0"/>
              </a:rPr>
              <a:t>Describe options available</a:t>
            </a:r>
          </a:p>
          <a:p>
            <a:pPr marL="360000" indent="-360000">
              <a:spcBef>
                <a:spcPts val="600"/>
              </a:spcBef>
              <a:spcAft>
                <a:spcPts val="1200"/>
              </a:spcAft>
            </a:pPr>
            <a:r>
              <a:rPr lang="en-US" sz="2200" dirty="0" smtClean="0">
                <a:latin typeface="Helvetica" pitchFamily="34" charset="0"/>
              </a:rPr>
              <a:t>Give quotes for policies </a:t>
            </a:r>
          </a:p>
          <a:p>
            <a:pPr marL="360000" indent="-360000">
              <a:spcBef>
                <a:spcPts val="600"/>
              </a:spcBef>
              <a:spcAft>
                <a:spcPts val="1200"/>
              </a:spcAft>
            </a:pPr>
            <a:r>
              <a:rPr lang="en-US" sz="2200" dirty="0" smtClean="0">
                <a:latin typeface="Helvetica" pitchFamily="34" charset="0"/>
              </a:rPr>
              <a:t>Highlight reasons/benefits of buying travel insurance</a:t>
            </a:r>
          </a:p>
          <a:p>
            <a:pPr marL="360000" indent="-360000">
              <a:spcBef>
                <a:spcPts val="600"/>
              </a:spcBef>
              <a:spcAft>
                <a:spcPts val="1200"/>
              </a:spcAft>
            </a:pPr>
            <a:r>
              <a:rPr lang="en-US" sz="2200" dirty="0" smtClean="0">
                <a:latin typeface="Helvetica" pitchFamily="34" charset="0"/>
              </a:rPr>
              <a:t>Describe coverage and claim procedure</a:t>
            </a:r>
          </a:p>
          <a:p>
            <a:pPr marL="360000" indent="-360000">
              <a:spcBef>
                <a:spcPts val="600"/>
              </a:spcBef>
              <a:spcAft>
                <a:spcPts val="1200"/>
              </a:spcAft>
            </a:pPr>
            <a:r>
              <a:rPr lang="en-US" sz="2200" dirty="0" smtClean="0">
                <a:latin typeface="Helvetica" pitchFamily="34" charset="0"/>
              </a:rPr>
              <a:t>List exclusions and explain ‘terms and conditions’</a:t>
            </a:r>
          </a:p>
          <a:p>
            <a:pPr marL="360000" indent="-360000">
              <a:spcBef>
                <a:spcPts val="600"/>
              </a:spcBef>
              <a:spcAft>
                <a:spcPts val="1200"/>
              </a:spcAft>
            </a:pPr>
            <a:r>
              <a:rPr lang="en-US" sz="2200" dirty="0" smtClean="0">
                <a:latin typeface="Helvetica" pitchFamily="34" charset="0"/>
              </a:rPr>
              <a:t>Detail application process.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716016" y="2415797"/>
            <a:ext cx="2523679" cy="324000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Disseminate customer theft minimisation advice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Comprehensive theft minimisation advice needs to be provided to customers on order to:</a:t>
            </a:r>
          </a:p>
          <a:p>
            <a:pPr marL="360000" indent="-360000">
              <a:spcBef>
                <a:spcPts val="600"/>
              </a:spcBef>
              <a:spcAft>
                <a:spcPts val="1200"/>
              </a:spcAft>
            </a:pPr>
            <a:r>
              <a:rPr lang="en-US" sz="2000" dirty="0" smtClean="0">
                <a:latin typeface="Helvetica" pitchFamily="34" charset="0"/>
              </a:rPr>
              <a:t>Discharge common law ‘Duty of Care’ obligations</a:t>
            </a:r>
          </a:p>
          <a:p>
            <a:pPr marL="360000" indent="-360000">
              <a:spcBef>
                <a:spcPts val="600"/>
              </a:spcBef>
              <a:spcAft>
                <a:spcPts val="1200"/>
              </a:spcAft>
            </a:pPr>
            <a:r>
              <a:rPr lang="en-US" sz="2000" dirty="0" smtClean="0">
                <a:latin typeface="Helvetica" pitchFamily="34" charset="0"/>
              </a:rPr>
              <a:t>Enhance customer satisfaction levels with the service they receive.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364088" y="1990919"/>
            <a:ext cx="2160000" cy="324000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Disseminate customer theft minimisation advice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Information/advice is usually provided:</a:t>
            </a:r>
          </a:p>
          <a:p>
            <a:pPr marL="360000" indent="-360000">
              <a:spcBef>
                <a:spcPts val="600"/>
              </a:spcBef>
              <a:spcAft>
                <a:spcPts val="1200"/>
              </a:spcAft>
            </a:pPr>
            <a:r>
              <a:rPr lang="en-US" sz="2000" dirty="0" smtClean="0">
                <a:latin typeface="Helvetica" pitchFamily="34" charset="0"/>
              </a:rPr>
              <a:t>Verbally</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and/or</a:t>
            </a:r>
          </a:p>
          <a:p>
            <a:pPr marL="360000" indent="-360000">
              <a:spcBef>
                <a:spcPts val="600"/>
              </a:spcBef>
              <a:spcAft>
                <a:spcPts val="1200"/>
              </a:spcAft>
            </a:pPr>
            <a:r>
              <a:rPr lang="en-US" sz="2000" dirty="0" smtClean="0">
                <a:latin typeface="Helvetica" pitchFamily="34" charset="0"/>
              </a:rPr>
              <a:t>In written form.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20072" y="1988840"/>
            <a:ext cx="2283495" cy="324000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hosting and escort services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Tour hosts = tour escorts:</a:t>
            </a:r>
          </a:p>
          <a:p>
            <a:pPr marL="360000" indent="-360000">
              <a:spcBef>
                <a:spcPts val="600"/>
              </a:spcBef>
              <a:spcAft>
                <a:spcPts val="1200"/>
              </a:spcAft>
            </a:pPr>
            <a:r>
              <a:rPr lang="en-US" sz="2000" dirty="0" smtClean="0">
                <a:latin typeface="Helvetica" pitchFamily="34" charset="0"/>
              </a:rPr>
              <a:t>No legal definition of what they are/what they do</a:t>
            </a:r>
          </a:p>
          <a:p>
            <a:pPr marL="360000" indent="-360000">
              <a:spcBef>
                <a:spcPts val="600"/>
              </a:spcBef>
              <a:spcAft>
                <a:spcPts val="1200"/>
              </a:spcAft>
            </a:pPr>
            <a:r>
              <a:rPr lang="en-US" sz="2000" dirty="0" smtClean="0">
                <a:latin typeface="Helvetica" pitchFamily="34" charset="0"/>
              </a:rPr>
              <a:t>Their role and responsibilities can vary between employers</a:t>
            </a:r>
          </a:p>
          <a:p>
            <a:pPr marL="360000" indent="-360000">
              <a:spcBef>
                <a:spcPts val="600"/>
              </a:spcBef>
              <a:spcAft>
                <a:spcPts val="1200"/>
              </a:spcAft>
            </a:pPr>
            <a:r>
              <a:rPr lang="en-US" sz="2000" dirty="0" smtClean="0">
                <a:latin typeface="Helvetica" pitchFamily="34" charset="0"/>
              </a:rPr>
              <a:t>They are not (exactly) the same as Tourist Guides even though  their job will/may require them to include some of these duties.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13400" y="1986010"/>
            <a:ext cx="3240000"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hosting and escort services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‘Escorted tours’ generally include:</a:t>
            </a:r>
          </a:p>
          <a:p>
            <a:pPr marL="360000" indent="-360000">
              <a:spcBef>
                <a:spcPts val="600"/>
              </a:spcBef>
              <a:spcAft>
                <a:spcPts val="1200"/>
              </a:spcAft>
            </a:pPr>
            <a:r>
              <a:rPr lang="en-US" sz="2000" dirty="0" smtClean="0">
                <a:latin typeface="Helvetica" pitchFamily="34" charset="0"/>
              </a:rPr>
              <a:t>Longer duration travel</a:t>
            </a:r>
          </a:p>
          <a:p>
            <a:pPr marL="360000" indent="-360000">
              <a:spcBef>
                <a:spcPts val="600"/>
              </a:spcBef>
              <a:spcAft>
                <a:spcPts val="1200"/>
              </a:spcAft>
            </a:pPr>
            <a:r>
              <a:rPr lang="en-US" sz="2000" dirty="0" smtClean="0">
                <a:latin typeface="Helvetica" pitchFamily="34" charset="0"/>
              </a:rPr>
              <a:t>Travel to foreign countries</a:t>
            </a:r>
          </a:p>
          <a:p>
            <a:pPr marL="360000" indent="-360000">
              <a:spcBef>
                <a:spcPts val="600"/>
              </a:spcBef>
              <a:spcAft>
                <a:spcPts val="1200"/>
              </a:spcAft>
            </a:pPr>
            <a:r>
              <a:rPr lang="en-US" sz="2000" dirty="0" smtClean="0">
                <a:latin typeface="Helvetica" pitchFamily="34" charset="0"/>
              </a:rPr>
              <a:t>Prestige trips.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15158" y="1988840"/>
            <a:ext cx="3261229"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hosting and escort services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Roles and responsibilities of Tour Escorts/Hosts may include:</a:t>
            </a:r>
          </a:p>
          <a:p>
            <a:pPr marL="360000" indent="-360000">
              <a:spcBef>
                <a:spcPts val="600"/>
              </a:spcBef>
              <a:spcAft>
                <a:spcPts val="600"/>
              </a:spcAft>
            </a:pPr>
            <a:r>
              <a:rPr lang="en-US" sz="2200" dirty="0" smtClean="0">
                <a:latin typeface="Helvetica" pitchFamily="34" charset="0"/>
              </a:rPr>
              <a:t>Accompanying tour group members</a:t>
            </a:r>
          </a:p>
          <a:p>
            <a:pPr marL="360000" indent="-360000">
              <a:spcBef>
                <a:spcPts val="600"/>
              </a:spcBef>
              <a:spcAft>
                <a:spcPts val="600"/>
              </a:spcAft>
            </a:pPr>
            <a:r>
              <a:rPr lang="en-US" sz="2200" dirty="0" smtClean="0">
                <a:latin typeface="Helvetica" pitchFamily="34" charset="0"/>
              </a:rPr>
              <a:t>Providing information</a:t>
            </a:r>
          </a:p>
          <a:p>
            <a:pPr marL="360000" indent="-360000">
              <a:spcBef>
                <a:spcPts val="600"/>
              </a:spcBef>
              <a:spcAft>
                <a:spcPts val="600"/>
              </a:spcAft>
            </a:pPr>
            <a:r>
              <a:rPr lang="en-US" sz="2200" dirty="0" smtClean="0">
                <a:latin typeface="Helvetica" pitchFamily="34" charset="0"/>
              </a:rPr>
              <a:t>Facilitating social interactions within the tour group</a:t>
            </a:r>
          </a:p>
          <a:p>
            <a:pPr marL="360000" indent="-360000">
              <a:spcBef>
                <a:spcPts val="600"/>
              </a:spcBef>
              <a:spcAft>
                <a:spcPts val="600"/>
              </a:spcAft>
            </a:pPr>
            <a:r>
              <a:rPr lang="en-US" sz="2200" dirty="0" smtClean="0">
                <a:latin typeface="Helvetica" pitchFamily="34" charset="0"/>
              </a:rPr>
              <a:t>Making sure tour group members are not confused while on tour</a:t>
            </a:r>
          </a:p>
          <a:p>
            <a:pPr marL="360000" indent="-360000">
              <a:spcBef>
                <a:spcPts val="600"/>
              </a:spcBef>
              <a:spcAft>
                <a:spcPts val="600"/>
              </a:spcAft>
            </a:pPr>
            <a:r>
              <a:rPr lang="en-US" sz="2200" dirty="0" smtClean="0">
                <a:latin typeface="Helvetica" pitchFamily="34" charset="0"/>
              </a:rPr>
              <a:t>Advising of local requirements and conditions</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92080" y="2564904"/>
            <a:ext cx="3238678"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hosting and escort services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20000"/>
          </a:bodyPr>
          <a:lstStyle/>
          <a:p>
            <a:pPr marL="360000" indent="-360000">
              <a:spcBef>
                <a:spcPts val="600"/>
              </a:spcBef>
              <a:spcAft>
                <a:spcPts val="1200"/>
              </a:spcAft>
            </a:pPr>
            <a:r>
              <a:rPr lang="en-US" sz="2200" dirty="0" smtClean="0">
                <a:latin typeface="Helvetica" pitchFamily="34" charset="0"/>
              </a:rPr>
              <a:t>Responding to general travel-related questions</a:t>
            </a:r>
          </a:p>
          <a:p>
            <a:pPr marL="360000" indent="-360000">
              <a:spcBef>
                <a:spcPts val="600"/>
              </a:spcBef>
              <a:spcAft>
                <a:spcPts val="1200"/>
              </a:spcAft>
            </a:pPr>
            <a:r>
              <a:rPr lang="en-US" sz="2200" dirty="0" smtClean="0">
                <a:latin typeface="Helvetica" pitchFamily="34" charset="0"/>
              </a:rPr>
              <a:t>Providing protection for people and property</a:t>
            </a:r>
          </a:p>
          <a:p>
            <a:pPr marL="360000" indent="-360000">
              <a:spcBef>
                <a:spcPts val="600"/>
              </a:spcBef>
              <a:spcAft>
                <a:spcPts val="1200"/>
              </a:spcAft>
            </a:pPr>
            <a:r>
              <a:rPr lang="en-US" sz="2200" dirty="0" smtClean="0">
                <a:latin typeface="Helvetica" pitchFamily="34" charset="0"/>
              </a:rPr>
              <a:t>Monitoring actions/behaviour, language and interactions between tour group members</a:t>
            </a:r>
          </a:p>
          <a:p>
            <a:pPr marL="360000" indent="-360000">
              <a:spcBef>
                <a:spcPts val="600"/>
              </a:spcBef>
              <a:spcAft>
                <a:spcPts val="1200"/>
              </a:spcAft>
            </a:pPr>
            <a:r>
              <a:rPr lang="en-US" sz="2200" dirty="0" smtClean="0">
                <a:latin typeface="Helvetica" pitchFamily="34" charset="0"/>
              </a:rPr>
              <a:t>Giving physical assistance</a:t>
            </a:r>
          </a:p>
          <a:p>
            <a:pPr marL="360000" indent="-360000">
              <a:spcBef>
                <a:spcPts val="600"/>
              </a:spcBef>
              <a:spcAft>
                <a:spcPts val="1200"/>
              </a:spcAft>
            </a:pPr>
            <a:r>
              <a:rPr lang="en-US" sz="2200" dirty="0" smtClean="0">
                <a:latin typeface="Helvetica" pitchFamily="34" charset="0"/>
              </a:rPr>
              <a:t>Registering people on arrival at venues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 xmlns:a14="http://schemas.microsoft.com/office/drawing/2010/main"/>
              </a:ext>
            </a:extLst>
          </a:blip>
          <a:srcRect/>
          <a:stretch/>
        </p:blipFill>
        <p:spPr>
          <a:xfrm>
            <a:off x="5292080" y="2132856"/>
            <a:ext cx="3021149" cy="3240000"/>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hosting and escort services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360000" indent="-360000">
              <a:spcBef>
                <a:spcPts val="600"/>
              </a:spcBef>
              <a:spcAft>
                <a:spcPts val="1200"/>
              </a:spcAft>
            </a:pPr>
            <a:r>
              <a:rPr lang="en-US" sz="2200" dirty="0" smtClean="0">
                <a:latin typeface="Helvetica" pitchFamily="34" charset="0"/>
              </a:rPr>
              <a:t>Issuing vouchers, coupons and tickets</a:t>
            </a:r>
          </a:p>
          <a:p>
            <a:pPr marL="360000" indent="-360000">
              <a:spcBef>
                <a:spcPts val="600"/>
              </a:spcBef>
              <a:spcAft>
                <a:spcPts val="1200"/>
              </a:spcAft>
            </a:pPr>
            <a:r>
              <a:rPr lang="en-US" sz="2200" dirty="0" smtClean="0">
                <a:latin typeface="Helvetica" pitchFamily="34" charset="0"/>
              </a:rPr>
              <a:t>Checking tourist/traveller paperwork is correctly completed</a:t>
            </a:r>
          </a:p>
          <a:p>
            <a:pPr marL="360000" indent="-360000">
              <a:spcBef>
                <a:spcPts val="600"/>
              </a:spcBef>
              <a:spcAft>
                <a:spcPts val="1200"/>
              </a:spcAft>
            </a:pPr>
            <a:r>
              <a:rPr lang="en-US" sz="2200" dirty="0" smtClean="0">
                <a:latin typeface="Helvetica" pitchFamily="34" charset="0"/>
              </a:rPr>
              <a:t>Handling giving of tips to staff at destinations/venues</a:t>
            </a:r>
          </a:p>
          <a:p>
            <a:pPr marL="360000" indent="-360000">
              <a:spcBef>
                <a:spcPts val="600"/>
              </a:spcBef>
              <a:spcAft>
                <a:spcPts val="1200"/>
              </a:spcAft>
            </a:pPr>
            <a:r>
              <a:rPr lang="en-US" sz="2200" dirty="0" smtClean="0">
                <a:latin typeface="Helvetica" pitchFamily="34" charset="0"/>
              </a:rPr>
              <a:t>Dealing with emergencies</a:t>
            </a:r>
          </a:p>
          <a:p>
            <a:pPr marL="360000" indent="-360000">
              <a:spcBef>
                <a:spcPts val="600"/>
              </a:spcBef>
              <a:spcAft>
                <a:spcPts val="1200"/>
              </a:spcAft>
            </a:pPr>
            <a:r>
              <a:rPr lang="en-US" sz="2200" dirty="0" smtClean="0">
                <a:latin typeface="Helvetica" pitchFamily="34" charset="0"/>
              </a:rPr>
              <a:t>Leading, directing and managing the trip</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val="0"/>
              </a:ext>
            </a:extLst>
          </a:blip>
          <a:stretch>
            <a:fillRect/>
          </a:stretch>
        </p:blipFill>
        <p:spPr>
          <a:xfrm>
            <a:off x="5868144" y="1988840"/>
            <a:ext cx="2241939" cy="3240000"/>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hosting and escort services on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360000" indent="-360000">
              <a:spcBef>
                <a:spcPts val="600"/>
              </a:spcBef>
              <a:spcAft>
                <a:spcPts val="1200"/>
              </a:spcAft>
            </a:pPr>
            <a:r>
              <a:rPr lang="en-US" sz="2200" dirty="0" smtClean="0">
                <a:latin typeface="Helvetica" pitchFamily="34" charset="0"/>
              </a:rPr>
              <a:t>Negotiating deals on behalf of the group/individuals in the group</a:t>
            </a:r>
          </a:p>
          <a:p>
            <a:pPr marL="360000" indent="-360000">
              <a:spcBef>
                <a:spcPts val="600"/>
              </a:spcBef>
              <a:spcAft>
                <a:spcPts val="1200"/>
              </a:spcAft>
            </a:pPr>
            <a:r>
              <a:rPr lang="en-US" sz="2200" dirty="0" smtClean="0">
                <a:latin typeface="Helvetica" pitchFamily="34" charset="0"/>
              </a:rPr>
              <a:t>Managing and resolving conflict </a:t>
            </a:r>
          </a:p>
          <a:p>
            <a:pPr marL="360000" indent="-360000">
              <a:spcBef>
                <a:spcPts val="600"/>
              </a:spcBef>
              <a:spcAft>
                <a:spcPts val="1200"/>
              </a:spcAft>
            </a:pPr>
            <a:r>
              <a:rPr lang="en-US" sz="2200" dirty="0" smtClean="0">
                <a:latin typeface="Helvetica" pitchFamily="34" charset="0"/>
              </a:rPr>
              <a:t>Liaising with local operators and businesses</a:t>
            </a:r>
          </a:p>
          <a:p>
            <a:pPr marL="360000" indent="-360000">
              <a:spcBef>
                <a:spcPts val="600"/>
              </a:spcBef>
              <a:spcAft>
                <a:spcPts val="1200"/>
              </a:spcAft>
            </a:pPr>
            <a:r>
              <a:rPr lang="en-US" sz="2200" dirty="0" smtClean="0">
                <a:latin typeface="Helvetica" pitchFamily="34" charset="0"/>
              </a:rPr>
              <a:t>Providing on-tour safe-keeping facilities</a:t>
            </a:r>
          </a:p>
          <a:p>
            <a:pPr marL="360000" indent="-360000">
              <a:spcBef>
                <a:spcPts val="600"/>
              </a:spcBef>
              <a:spcAft>
                <a:spcPts val="1200"/>
              </a:spcAft>
            </a:pPr>
            <a:r>
              <a:rPr lang="en-US" sz="2200" dirty="0" smtClean="0">
                <a:latin typeface="Helvetica" pitchFamily="34" charset="0"/>
              </a:rPr>
              <a:t>Other tasks ‘as required’: cooking, setting up camp, driving.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val="0"/>
              </a:ext>
            </a:extLst>
          </a:blip>
          <a:stretch>
            <a:fillRect/>
          </a:stretch>
        </p:blipFill>
        <p:spPr>
          <a:xfrm>
            <a:off x="5508104" y="1700808"/>
            <a:ext cx="2736304" cy="4104456"/>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on tour safe-keeping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Items needing to be protected/secured on tour include:</a:t>
            </a:r>
          </a:p>
          <a:p>
            <a:pPr marL="360000" indent="-360000">
              <a:spcBef>
                <a:spcPts val="600"/>
              </a:spcBef>
              <a:spcAft>
                <a:spcPts val="1200"/>
              </a:spcAft>
            </a:pPr>
            <a:r>
              <a:rPr lang="en-US" sz="2000" dirty="0" smtClean="0">
                <a:latin typeface="Helvetica" pitchFamily="34" charset="0"/>
              </a:rPr>
              <a:t>All belongings of all tour group members</a:t>
            </a:r>
          </a:p>
          <a:p>
            <a:pPr marL="360000" indent="-360000">
              <a:spcBef>
                <a:spcPts val="600"/>
              </a:spcBef>
              <a:spcAft>
                <a:spcPts val="1200"/>
              </a:spcAft>
            </a:pPr>
            <a:r>
              <a:rPr lang="en-US" sz="2000" dirty="0" smtClean="0">
                <a:latin typeface="Helvetica" pitchFamily="34" charset="0"/>
              </a:rPr>
              <a:t>All organisational resources and items</a:t>
            </a:r>
          </a:p>
          <a:p>
            <a:pPr marL="360000" indent="-360000">
              <a:spcBef>
                <a:spcPts val="600"/>
              </a:spcBef>
              <a:spcAft>
                <a:spcPts val="1200"/>
              </a:spcAft>
            </a:pPr>
            <a:r>
              <a:rPr lang="en-US" sz="2000" dirty="0" smtClean="0">
                <a:latin typeface="Helvetica" pitchFamily="34" charset="0"/>
              </a:rPr>
              <a:t>All items hired by tour group members or the tour/travel company.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220072" y="1971182"/>
            <a:ext cx="2156409"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on tour safe-keeping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Practices for safe-keeping of items on tour will:</a:t>
            </a:r>
          </a:p>
          <a:p>
            <a:pPr marL="360000" indent="-360000">
              <a:spcBef>
                <a:spcPts val="600"/>
              </a:spcBef>
              <a:spcAft>
                <a:spcPts val="1200"/>
              </a:spcAft>
            </a:pPr>
            <a:r>
              <a:rPr lang="en-US" sz="2000" dirty="0" smtClean="0">
                <a:latin typeface="Helvetica" pitchFamily="34" charset="0"/>
              </a:rPr>
              <a:t>Be determined by location, conditions and circumstances</a:t>
            </a:r>
          </a:p>
          <a:p>
            <a:pPr marL="360000" indent="-360000">
              <a:spcBef>
                <a:spcPts val="600"/>
              </a:spcBef>
              <a:spcAft>
                <a:spcPts val="1200"/>
              </a:spcAft>
            </a:pPr>
            <a:r>
              <a:rPr lang="en-US" sz="2000" dirty="0" smtClean="0">
                <a:latin typeface="Helvetica" pitchFamily="34" charset="0"/>
              </a:rPr>
              <a:t>Require ‘common sense’</a:t>
            </a:r>
          </a:p>
          <a:p>
            <a:pPr marL="360000" indent="-360000">
              <a:spcBef>
                <a:spcPts val="600"/>
              </a:spcBef>
              <a:spcAft>
                <a:spcPts val="1200"/>
              </a:spcAft>
            </a:pPr>
            <a:r>
              <a:rPr lang="en-US" sz="2000" dirty="0" smtClean="0">
                <a:latin typeface="Helvetica" pitchFamily="34" charset="0"/>
              </a:rPr>
              <a:t>Demand adherence to organisational protocols.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92080" y="1993852"/>
            <a:ext cx="1968136" cy="30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on tour safe-keeping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433224"/>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Optimum protection requires ‘advice’ and ‘action’:</a:t>
            </a:r>
          </a:p>
          <a:p>
            <a:pPr marL="360000" indent="-360000">
              <a:spcBef>
                <a:spcPts val="600"/>
              </a:spcBef>
              <a:spcAft>
                <a:spcPts val="1200"/>
              </a:spcAft>
            </a:pPr>
            <a:r>
              <a:rPr lang="en-US" sz="2200" dirty="0" smtClean="0">
                <a:latin typeface="Helvetica" pitchFamily="34" charset="0"/>
              </a:rPr>
              <a:t>Brief all tour group members before the trip/tour about the threats, risks and dangers as well as preventative measures and action to take</a:t>
            </a:r>
          </a:p>
          <a:p>
            <a:pPr marL="360000" indent="-360000">
              <a:spcBef>
                <a:spcPts val="600"/>
              </a:spcBef>
              <a:spcAft>
                <a:spcPts val="1200"/>
              </a:spcAft>
            </a:pPr>
            <a:r>
              <a:rPr lang="en-US" sz="2200" dirty="0" smtClean="0">
                <a:latin typeface="Helvetica" pitchFamily="34" charset="0"/>
              </a:rPr>
              <a:t>Ask continuous questions requesting tour group members to undertake basic checks on belongings and other people in the group</a:t>
            </a:r>
          </a:p>
          <a:p>
            <a:pPr marL="360000" indent="-360000">
              <a:spcBef>
                <a:spcPts val="600"/>
              </a:spcBef>
              <a:spcAft>
                <a:spcPts val="1200"/>
              </a:spcAft>
              <a:buNone/>
            </a:pPr>
            <a:r>
              <a:rPr lang="en-US" sz="1600"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716016" y="2132856"/>
            <a:ext cx="3920683" cy="306000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on tour safe-keeping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888432" cy="4093915"/>
          </a:xfrm>
        </p:spPr>
        <p:txBody>
          <a:bodyPr>
            <a:normAutofit fontScale="92500"/>
          </a:bodyPr>
          <a:lstStyle/>
          <a:p>
            <a:pPr marL="360000" indent="-360000">
              <a:spcBef>
                <a:spcPts val="600"/>
              </a:spcBef>
              <a:spcAft>
                <a:spcPts val="1200"/>
              </a:spcAft>
            </a:pPr>
            <a:r>
              <a:rPr lang="en-US" sz="2200" dirty="0" smtClean="0">
                <a:latin typeface="Helvetica" pitchFamily="34" charset="0"/>
              </a:rPr>
              <a:t>Check to ensure items are not forgotten when departing vehicles or other locations</a:t>
            </a:r>
          </a:p>
          <a:p>
            <a:pPr marL="360000" indent="-360000">
              <a:spcBef>
                <a:spcPts val="600"/>
              </a:spcBef>
              <a:spcAft>
                <a:spcPts val="1200"/>
              </a:spcAft>
            </a:pPr>
            <a:r>
              <a:rPr lang="en-US" sz="2200" dirty="0" smtClean="0">
                <a:latin typeface="Helvetica" pitchFamily="34" charset="0"/>
              </a:rPr>
              <a:t>Provide relevant security-related advice at appropriate times and locations</a:t>
            </a:r>
          </a:p>
          <a:p>
            <a:pPr marL="360000" indent="-360000">
              <a:spcBef>
                <a:spcPts val="600"/>
              </a:spcBef>
              <a:spcAft>
                <a:spcPts val="1200"/>
              </a:spcAft>
            </a:pPr>
            <a:r>
              <a:rPr lang="en-US" sz="2200" dirty="0" smtClean="0">
                <a:latin typeface="Helvetica" pitchFamily="34" charset="0"/>
              </a:rPr>
              <a:t>Liaise with all providers</a:t>
            </a:r>
          </a:p>
          <a:p>
            <a:pPr marL="360000" indent="-360000">
              <a:spcBef>
                <a:spcPts val="600"/>
              </a:spcBef>
              <a:spcAft>
                <a:spcPts val="1200"/>
              </a:spcAft>
            </a:pPr>
            <a:r>
              <a:rPr lang="en-US" sz="2200" dirty="0" smtClean="0">
                <a:latin typeface="Helvetica" pitchFamily="34" charset="0"/>
              </a:rPr>
              <a:t>Use on-board safes</a:t>
            </a:r>
          </a:p>
          <a:p>
            <a:pPr marL="360000" indent="-360000">
              <a:spcBef>
                <a:spcPts val="600"/>
              </a:spcBef>
              <a:spcAft>
                <a:spcPts val="1200"/>
              </a:spcAft>
            </a:pPr>
            <a:r>
              <a:rPr lang="en-US" sz="2200" dirty="0" smtClean="0">
                <a:latin typeface="Helvetica" pitchFamily="34" charset="0"/>
              </a:rPr>
              <a:t>Lock vehicles.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004048" y="1772816"/>
            <a:ext cx="2039796" cy="3060000"/>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When </a:t>
            </a:r>
            <a:r>
              <a:rPr lang="en-AU" sz="2200" dirty="0" smtClean="0">
                <a:latin typeface="Helvetica" pitchFamily="34" charset="0"/>
              </a:rPr>
              <a:t>providing theft minimisation advice and service to customers</a:t>
            </a:r>
            <a:r>
              <a:rPr lang="en-US" sz="2200" dirty="0" smtClean="0">
                <a:latin typeface="Helvetica" pitchFamily="34" charset="0"/>
              </a:rPr>
              <a:t>:</a:t>
            </a:r>
          </a:p>
          <a:p>
            <a:r>
              <a:rPr lang="en-AU" sz="2200" dirty="0" smtClean="0">
                <a:latin typeface="Helvetica" pitchFamily="34" charset="0"/>
              </a:rPr>
              <a:t>Warn them of dangers and known previous events</a:t>
            </a:r>
          </a:p>
          <a:p>
            <a:r>
              <a:rPr lang="en-AU" sz="2200" dirty="0" smtClean="0">
                <a:latin typeface="Helvetica" pitchFamily="34" charset="0"/>
              </a:rPr>
              <a:t>Seek information about previous events from a wide range of sources</a:t>
            </a:r>
          </a:p>
          <a:p>
            <a:r>
              <a:rPr lang="en-AU" sz="2200" dirty="0" smtClean="0">
                <a:latin typeface="Helvetica" pitchFamily="34" charset="0"/>
              </a:rPr>
              <a:t>Give advice relevant to individual needs, destinations and particular circumstances as well as generic warnings and advice/information</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572000" y="2564904"/>
            <a:ext cx="2719409" cy="3060000"/>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Distribute handouts to supplement verbal advice</a:t>
            </a:r>
          </a:p>
          <a:p>
            <a:r>
              <a:rPr lang="en-AU" sz="2000" dirty="0" smtClean="0">
                <a:latin typeface="Helvetica" pitchFamily="34" charset="0"/>
              </a:rPr>
              <a:t>Recognise the role of hosting and escorting services to customers on tour.</a:t>
            </a:r>
          </a:p>
          <a:p>
            <a:r>
              <a:rPr lang="en-AU" sz="2000" dirty="0" smtClean="0">
                <a:latin typeface="Helvetica" pitchFamily="34" charset="0"/>
              </a:rPr>
              <a:t>Develop and apply protocols for safe-keeping of property belonging to tour group members while on tour</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92080" y="2564904"/>
            <a:ext cx="2032388" cy="306000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r>
              <a:rPr lang="en-AU" sz="2000" dirty="0" smtClean="0">
                <a:latin typeface="Helvetica" pitchFamily="34" charset="0"/>
              </a:rPr>
              <a:t>Urge constant vigilance</a:t>
            </a:r>
          </a:p>
          <a:p>
            <a:r>
              <a:rPr lang="en-AU" sz="2000" dirty="0" smtClean="0">
                <a:latin typeface="Helvetica" pitchFamily="34" charset="0"/>
              </a:rPr>
              <a:t>Combine ‘advice’ and ‘action’</a:t>
            </a:r>
            <a:endParaRPr lang="en-US" sz="20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t="8890" b="4433"/>
          <a:stretch/>
        </p:blipFill>
        <p:spPr>
          <a:xfrm>
            <a:off x="4644008" y="1988840"/>
            <a:ext cx="2464093" cy="3204000"/>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5 - Monitor theft-related issues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Investigate instances where theft has occurred</a:t>
            </a:r>
          </a:p>
          <a:p>
            <a:pPr marL="360000" indent="-360000">
              <a:spcBef>
                <a:spcPts val="600"/>
              </a:spcBef>
              <a:spcAft>
                <a:spcPts val="1200"/>
              </a:spcAft>
            </a:pPr>
            <a:r>
              <a:rPr lang="en-US" sz="2200" dirty="0" smtClean="0">
                <a:latin typeface="Helvetica" pitchFamily="34" charset="0"/>
              </a:rPr>
              <a:t>Take legal action in response to identified theft events</a:t>
            </a:r>
          </a:p>
          <a:p>
            <a:pPr marL="360000" indent="-360000">
              <a:spcBef>
                <a:spcPts val="600"/>
              </a:spcBef>
              <a:spcAft>
                <a:spcPts val="1200"/>
              </a:spcAft>
            </a:pPr>
            <a:r>
              <a:rPr lang="en-US" sz="2200" dirty="0" smtClean="0">
                <a:latin typeface="Helvetica" pitchFamily="34" charset="0"/>
              </a:rPr>
              <a:t>Identify changes to operations that affect theft potential</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835625" y="2019519"/>
            <a:ext cx="3698775" cy="306000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Monitor theft-related issues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Seek feedback on security and theft issues</a:t>
            </a:r>
          </a:p>
          <a:p>
            <a:pPr marL="360000" indent="-360000">
              <a:spcBef>
                <a:spcPts val="600"/>
              </a:spcBef>
              <a:spcAft>
                <a:spcPts val="1200"/>
              </a:spcAft>
            </a:pPr>
            <a:r>
              <a:rPr lang="en-US" sz="2000" dirty="0" smtClean="0">
                <a:latin typeface="Helvetica" pitchFamily="34" charset="0"/>
              </a:rPr>
              <a:t>Review theft minimisation policy and procedure</a:t>
            </a:r>
          </a:p>
          <a:p>
            <a:pPr marL="360000" indent="-360000">
              <a:spcBef>
                <a:spcPts val="600"/>
              </a:spcBef>
              <a:spcAft>
                <a:spcPts val="1200"/>
              </a:spcAft>
            </a:pPr>
            <a:r>
              <a:rPr lang="en-US" sz="2000" dirty="0" smtClean="0">
                <a:latin typeface="Helvetica" pitchFamily="34" charset="0"/>
              </a:rPr>
              <a:t>Amend theft minimisation protocols as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a:stretch/>
        </p:blipFill>
        <p:spPr>
          <a:xfrm>
            <a:off x="5220072" y="2505797"/>
            <a:ext cx="2385619" cy="3060000"/>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Investigate instances where theft has occurred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Primary responses to on tour theft:</a:t>
            </a:r>
          </a:p>
          <a:p>
            <a:pPr marL="360000" indent="-360000">
              <a:spcBef>
                <a:spcPts val="600"/>
              </a:spcBef>
              <a:spcAft>
                <a:spcPts val="1200"/>
              </a:spcAft>
            </a:pPr>
            <a:r>
              <a:rPr lang="en-US" sz="2200" dirty="0" smtClean="0">
                <a:latin typeface="Helvetica" pitchFamily="34" charset="0"/>
              </a:rPr>
              <a:t>Guarantee everyone’s safety as first priority</a:t>
            </a:r>
          </a:p>
          <a:p>
            <a:pPr marL="360000" indent="-360000">
              <a:spcBef>
                <a:spcPts val="600"/>
              </a:spcBef>
              <a:spcAft>
                <a:spcPts val="1200"/>
              </a:spcAft>
            </a:pPr>
            <a:r>
              <a:rPr lang="en-US" sz="2200" dirty="0" smtClean="0">
                <a:latin typeface="Helvetica" pitchFamily="34" charset="0"/>
              </a:rPr>
              <a:t>Take action to prevent further loss</a:t>
            </a:r>
          </a:p>
          <a:p>
            <a:pPr marL="360000" indent="-360000">
              <a:spcBef>
                <a:spcPts val="600"/>
              </a:spcBef>
              <a:spcAft>
                <a:spcPts val="1200"/>
              </a:spcAft>
            </a:pPr>
            <a:r>
              <a:rPr lang="en-US" sz="2200" dirty="0" smtClean="0">
                <a:latin typeface="Helvetica" pitchFamily="34" charset="0"/>
              </a:rPr>
              <a:t>Advise others in group about situation</a:t>
            </a:r>
          </a:p>
          <a:p>
            <a:pPr marL="360000" indent="-360000">
              <a:spcBef>
                <a:spcPts val="600"/>
              </a:spcBef>
              <a:spcAft>
                <a:spcPts val="1200"/>
              </a:spcAft>
            </a:pPr>
            <a:r>
              <a:rPr lang="en-US" sz="2200" dirty="0" smtClean="0">
                <a:latin typeface="Helvetica" pitchFamily="34" charset="0"/>
              </a:rPr>
              <a:t>Report the incident</a:t>
            </a:r>
          </a:p>
          <a:p>
            <a:pPr marL="360000" indent="-360000">
              <a:spcBef>
                <a:spcPts val="600"/>
              </a:spcBef>
              <a:spcAft>
                <a:spcPts val="1200"/>
              </a:spcAft>
            </a:pPr>
            <a:r>
              <a:rPr lang="en-US" sz="2200" dirty="0" smtClean="0">
                <a:latin typeface="Helvetica" pitchFamily="34" charset="0"/>
              </a:rPr>
              <a:t>Capture relevant 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724128" y="1988840"/>
            <a:ext cx="2040000" cy="30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Investigate instances where theft has occurred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39"/>
            <a:ext cx="5256584" cy="4622026"/>
          </a:xfrm>
        </p:spPr>
        <p:txBody>
          <a:bodyPr>
            <a:noAutofit/>
          </a:bodyPr>
          <a:lstStyle/>
          <a:p>
            <a:pPr marL="0" indent="0">
              <a:spcBef>
                <a:spcPts val="600"/>
              </a:spcBef>
              <a:spcAft>
                <a:spcPts val="1200"/>
              </a:spcAft>
              <a:buNone/>
            </a:pPr>
            <a:r>
              <a:rPr lang="en-US" sz="2000" dirty="0" smtClean="0">
                <a:latin typeface="Helvetica" pitchFamily="34" charset="0"/>
              </a:rPr>
              <a:t>Investigating an on tour theft:</a:t>
            </a:r>
          </a:p>
          <a:p>
            <a:pPr marL="360000" indent="-360000">
              <a:spcBef>
                <a:spcPts val="600"/>
              </a:spcBef>
              <a:spcAft>
                <a:spcPts val="600"/>
              </a:spcAft>
            </a:pPr>
            <a:r>
              <a:rPr lang="en-US" sz="2000" dirty="0" smtClean="0">
                <a:latin typeface="Helvetica" pitchFamily="34" charset="0"/>
              </a:rPr>
              <a:t>Identifying the circumstances of the event</a:t>
            </a:r>
          </a:p>
          <a:p>
            <a:pPr marL="360000" indent="-360000">
              <a:spcBef>
                <a:spcPts val="600"/>
              </a:spcBef>
              <a:spcAft>
                <a:spcPts val="600"/>
              </a:spcAft>
            </a:pPr>
            <a:r>
              <a:rPr lang="en-US" sz="2000" dirty="0" smtClean="0">
                <a:latin typeface="Helvetica" pitchFamily="34" charset="0"/>
              </a:rPr>
              <a:t>Identifying the people and items involved</a:t>
            </a:r>
          </a:p>
          <a:p>
            <a:pPr marL="360000" indent="-360000">
              <a:spcBef>
                <a:spcPts val="600"/>
              </a:spcBef>
              <a:spcAft>
                <a:spcPts val="600"/>
              </a:spcAft>
            </a:pPr>
            <a:r>
              <a:rPr lang="en-US" sz="2000" dirty="0" smtClean="0">
                <a:latin typeface="Helvetica" pitchFamily="34" charset="0"/>
              </a:rPr>
              <a:t>Identifying how the theft could have been prevented</a:t>
            </a:r>
          </a:p>
          <a:p>
            <a:pPr marL="360000" indent="-360000">
              <a:spcBef>
                <a:spcPts val="600"/>
              </a:spcBef>
              <a:spcAft>
                <a:spcPts val="600"/>
              </a:spcAft>
            </a:pPr>
            <a:r>
              <a:rPr lang="en-US" sz="2000" dirty="0" smtClean="0">
                <a:latin typeface="Helvetica" pitchFamily="34" charset="0"/>
              </a:rPr>
              <a:t>Determining the effect of the theft on the company</a:t>
            </a:r>
          </a:p>
          <a:p>
            <a:pPr marL="360000" indent="-360000">
              <a:spcBef>
                <a:spcPts val="600"/>
              </a:spcBef>
              <a:spcAft>
                <a:spcPts val="600"/>
              </a:spcAft>
            </a:pPr>
            <a:r>
              <a:rPr lang="en-US" sz="2000" dirty="0" smtClean="0">
                <a:latin typeface="Helvetica" pitchFamily="34" charset="0"/>
              </a:rPr>
              <a:t>Including external assistance in considering the event</a:t>
            </a:r>
          </a:p>
          <a:p>
            <a:pPr marL="360000" indent="-360000">
              <a:spcBef>
                <a:spcPts val="600"/>
              </a:spcBef>
              <a:spcAft>
                <a:spcPts val="600"/>
              </a:spcAft>
            </a:pPr>
            <a:r>
              <a:rPr lang="en-US" sz="2000" dirty="0" smtClean="0">
                <a:latin typeface="Helvetica" pitchFamily="34" charset="0"/>
              </a:rPr>
              <a:t>Identifying cost of preventing recurrence.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t="14119"/>
          <a:stretch/>
        </p:blipFill>
        <p:spPr>
          <a:xfrm>
            <a:off x="6633617" y="2132856"/>
            <a:ext cx="2510383" cy="3240000"/>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Investigate instances where theft has occurred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Investigating circumstances of a theft event:</a:t>
            </a:r>
          </a:p>
          <a:p>
            <a:pPr marL="360000" indent="-360000">
              <a:spcBef>
                <a:spcPts val="600"/>
              </a:spcBef>
              <a:spcAft>
                <a:spcPts val="1200"/>
              </a:spcAft>
            </a:pPr>
            <a:r>
              <a:rPr lang="en-US" sz="2000" dirty="0" smtClean="0">
                <a:latin typeface="Helvetica" pitchFamily="34" charset="0"/>
              </a:rPr>
              <a:t>Take photographs</a:t>
            </a:r>
          </a:p>
          <a:p>
            <a:pPr marL="360000" indent="-360000">
              <a:spcBef>
                <a:spcPts val="600"/>
              </a:spcBef>
              <a:spcAft>
                <a:spcPts val="1200"/>
              </a:spcAft>
            </a:pPr>
            <a:r>
              <a:rPr lang="en-US" sz="2000" dirty="0" smtClean="0">
                <a:latin typeface="Helvetica" pitchFamily="34" charset="0"/>
              </a:rPr>
              <a:t>Talk to the victim/s</a:t>
            </a:r>
          </a:p>
          <a:p>
            <a:pPr marL="360000" indent="-360000">
              <a:spcBef>
                <a:spcPts val="600"/>
              </a:spcBef>
              <a:spcAft>
                <a:spcPts val="1200"/>
              </a:spcAft>
            </a:pPr>
            <a:r>
              <a:rPr lang="en-US" sz="2000" dirty="0" smtClean="0">
                <a:latin typeface="Helvetica" pitchFamily="34" charset="0"/>
              </a:rPr>
              <a:t>Identify and record the facts.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20072" y="2007814"/>
            <a:ext cx="2160000"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Investigate instances where theft has occurred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Identifying the people and items involved:</a:t>
            </a:r>
          </a:p>
          <a:p>
            <a:pPr marL="360000" indent="-360000">
              <a:spcBef>
                <a:spcPts val="600"/>
              </a:spcBef>
              <a:spcAft>
                <a:spcPts val="1200"/>
              </a:spcAft>
            </a:pPr>
            <a:r>
              <a:rPr lang="en-US" sz="2200" dirty="0" smtClean="0">
                <a:latin typeface="Helvetica" pitchFamily="34" charset="0"/>
              </a:rPr>
              <a:t>Record their name and contact details</a:t>
            </a:r>
          </a:p>
          <a:p>
            <a:pPr marL="360000" indent="-360000">
              <a:spcBef>
                <a:spcPts val="600"/>
              </a:spcBef>
              <a:spcAft>
                <a:spcPts val="1200"/>
              </a:spcAft>
            </a:pPr>
            <a:r>
              <a:rPr lang="en-US" sz="2200" dirty="0" smtClean="0">
                <a:latin typeface="Helvetica" pitchFamily="34" charset="0"/>
              </a:rPr>
              <a:t>Obtain description of items stolen</a:t>
            </a:r>
          </a:p>
          <a:p>
            <a:pPr marL="360000" indent="-360000">
              <a:spcBef>
                <a:spcPts val="600"/>
              </a:spcBef>
              <a:spcAft>
                <a:spcPts val="1200"/>
              </a:spcAft>
            </a:pPr>
            <a:r>
              <a:rPr lang="en-US" sz="2200" dirty="0" smtClean="0">
                <a:latin typeface="Helvetica" pitchFamily="34" charset="0"/>
              </a:rPr>
              <a:t>Obtain value for stolen items</a:t>
            </a:r>
          </a:p>
          <a:p>
            <a:pPr marL="360000" indent="-360000">
              <a:spcBef>
                <a:spcPts val="600"/>
              </a:spcBef>
              <a:spcAft>
                <a:spcPts val="1200"/>
              </a:spcAft>
            </a:pPr>
            <a:r>
              <a:rPr lang="en-US" sz="2200" dirty="0" smtClean="0">
                <a:latin typeface="Helvetica" pitchFamily="34" charset="0"/>
              </a:rPr>
              <a:t>Determine if they were insured</a:t>
            </a:r>
          </a:p>
          <a:p>
            <a:pPr marL="360000" indent="-360000">
              <a:spcBef>
                <a:spcPts val="600"/>
              </a:spcBef>
              <a:spcAft>
                <a:spcPts val="1200"/>
              </a:spcAft>
            </a:pPr>
            <a:r>
              <a:rPr lang="en-US" sz="2200" dirty="0" smtClean="0">
                <a:latin typeface="Helvetica" pitchFamily="34" charset="0"/>
              </a:rPr>
              <a:t>Obtain details of suspects or offenders.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CFCFE"/>
              </a:clrFrom>
              <a:clrTo>
                <a:srgbClr val="FCFCFE">
                  <a:alpha val="0"/>
                </a:srgbClr>
              </a:clrTo>
            </a:clrChange>
            <a:extLst>
              <a:ext uri="{28A0092B-C50C-407E-A947-70E740481C1C}">
                <a14:useLocalDpi xmlns="" xmlns:a14="http://schemas.microsoft.com/office/drawing/2010/main"/>
              </a:ext>
            </a:extLst>
          </a:blip>
          <a:srcRect/>
          <a:stretch/>
        </p:blipFill>
        <p:spPr>
          <a:xfrm>
            <a:off x="6012160" y="1909800"/>
            <a:ext cx="1512000" cy="3780000"/>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Investigate instances where theft has occurred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a:bodyPr>
          <a:lstStyle/>
          <a:p>
            <a:pPr marL="0" indent="0">
              <a:spcBef>
                <a:spcPts val="600"/>
              </a:spcBef>
              <a:spcAft>
                <a:spcPts val="1200"/>
              </a:spcAft>
              <a:buNone/>
            </a:pPr>
            <a:r>
              <a:rPr lang="en-US" sz="2200" dirty="0" smtClean="0">
                <a:latin typeface="Helvetica" pitchFamily="34" charset="0"/>
              </a:rPr>
              <a:t>Identifying how the theft could have been prevented:</a:t>
            </a:r>
          </a:p>
          <a:p>
            <a:pPr marL="360000" indent="-360000">
              <a:spcBef>
                <a:spcPts val="600"/>
              </a:spcBef>
              <a:spcAft>
                <a:spcPts val="1200"/>
              </a:spcAft>
            </a:pPr>
            <a:r>
              <a:rPr lang="en-US" sz="2200" dirty="0" smtClean="0">
                <a:latin typeface="Helvetica" pitchFamily="34" charset="0"/>
              </a:rPr>
              <a:t>Explanations about how to prevent recurrence must be ‘viable’</a:t>
            </a:r>
          </a:p>
          <a:p>
            <a:pPr marL="360000" indent="-360000">
              <a:spcBef>
                <a:spcPts val="600"/>
              </a:spcBef>
              <a:spcAft>
                <a:spcPts val="1200"/>
              </a:spcAft>
            </a:pPr>
            <a:r>
              <a:rPr lang="en-US" sz="2200" dirty="0" smtClean="0">
                <a:latin typeface="Helvetica" pitchFamily="34" charset="0"/>
              </a:rPr>
              <a:t>The reality is many instances could not have been prevented</a:t>
            </a:r>
          </a:p>
          <a:p>
            <a:pPr marL="360000" indent="-360000">
              <a:spcBef>
                <a:spcPts val="600"/>
              </a:spcBef>
              <a:spcAft>
                <a:spcPts val="1200"/>
              </a:spcAft>
            </a:pPr>
            <a:r>
              <a:rPr lang="en-US" sz="2200" dirty="0" smtClean="0">
                <a:latin typeface="Helvetica" pitchFamily="34" charset="0"/>
              </a:rPr>
              <a:t>Recommendations must include future action to take.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CFCFC"/>
              </a:clrFrom>
              <a:clrTo>
                <a:srgbClr val="FCFCFC">
                  <a:alpha val="0"/>
                </a:srgbClr>
              </a:clrTo>
            </a:clrChange>
            <a:extLst>
              <a:ext uri="{28A0092B-C50C-407E-A947-70E740481C1C}">
                <a14:useLocalDpi xmlns="" xmlns:a14="http://schemas.microsoft.com/office/drawing/2010/main"/>
              </a:ext>
            </a:extLst>
          </a:blip>
          <a:srcRect/>
          <a:stretch/>
        </p:blipFill>
        <p:spPr>
          <a:xfrm>
            <a:off x="6181050" y="1922816"/>
            <a:ext cx="1415286" cy="3774096"/>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Investigate instances where theft has occurred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Determining the effect of the theft on the company requires evaluation of the event in terms of:</a:t>
            </a:r>
          </a:p>
          <a:p>
            <a:pPr marL="360000" indent="-360000">
              <a:spcBef>
                <a:spcPts val="600"/>
              </a:spcBef>
              <a:spcAft>
                <a:spcPts val="1200"/>
              </a:spcAft>
            </a:pPr>
            <a:r>
              <a:rPr lang="en-US" sz="2200" dirty="0" smtClean="0">
                <a:latin typeface="Helvetica" pitchFamily="34" charset="0"/>
              </a:rPr>
              <a:t>Is there any legal liability?</a:t>
            </a:r>
          </a:p>
          <a:p>
            <a:pPr marL="360000" indent="-360000">
              <a:spcBef>
                <a:spcPts val="600"/>
              </a:spcBef>
              <a:spcAft>
                <a:spcPts val="1200"/>
              </a:spcAft>
            </a:pPr>
            <a:r>
              <a:rPr lang="en-US" sz="2200" dirty="0" smtClean="0">
                <a:latin typeface="Helvetica" pitchFamily="34" charset="0"/>
              </a:rPr>
              <a:t>Should an insurance claim be lodged?</a:t>
            </a:r>
          </a:p>
          <a:p>
            <a:pPr marL="360000" indent="-360000">
              <a:spcBef>
                <a:spcPts val="600"/>
              </a:spcBef>
              <a:spcAft>
                <a:spcPts val="1200"/>
              </a:spcAft>
            </a:pPr>
            <a:r>
              <a:rPr lang="en-US" sz="2200" dirty="0" smtClean="0">
                <a:latin typeface="Helvetica" pitchFamily="34" charset="0"/>
              </a:rPr>
              <a:t>Should protocols be revised?</a:t>
            </a:r>
          </a:p>
          <a:p>
            <a:pPr marL="360000" indent="-360000">
              <a:spcBef>
                <a:spcPts val="600"/>
              </a:spcBef>
              <a:spcAft>
                <a:spcPts val="1200"/>
              </a:spcAft>
            </a:pPr>
            <a:r>
              <a:rPr lang="en-US" sz="2200" dirty="0" smtClean="0">
                <a:latin typeface="Helvetica" pitchFamily="34" charset="0"/>
              </a:rPr>
              <a:t>Is there a need to update advice to customers?</a:t>
            </a:r>
          </a:p>
          <a:p>
            <a:pPr marL="360000" indent="-360000">
              <a:spcBef>
                <a:spcPts val="600"/>
              </a:spcBef>
              <a:spcAft>
                <a:spcPts val="1200"/>
              </a:spcAft>
            </a:pPr>
            <a:r>
              <a:rPr lang="en-US" sz="2200" dirty="0" smtClean="0">
                <a:latin typeface="Helvetica" pitchFamily="34" charset="0"/>
              </a:rPr>
              <a:t>Will there be media attention?</a:t>
            </a:r>
          </a:p>
          <a:p>
            <a:pPr marL="360000" indent="-360000">
              <a:spcBef>
                <a:spcPts val="600"/>
              </a:spcBef>
              <a:spcAft>
                <a:spcPts val="1200"/>
              </a:spcAft>
            </a:pPr>
            <a:r>
              <a:rPr lang="en-US" sz="2200" dirty="0" smtClean="0">
                <a:latin typeface="Helvetica" pitchFamily="34" charset="0"/>
              </a:rPr>
              <a:t>Should compensation be offered?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CFCFC"/>
              </a:clrFrom>
              <a:clrTo>
                <a:srgbClr val="FCFCFC">
                  <a:alpha val="0"/>
                </a:srgbClr>
              </a:clrTo>
            </a:clrChange>
            <a:extLst>
              <a:ext uri="{28A0092B-C50C-407E-A947-70E740481C1C}">
                <a14:useLocalDpi xmlns="" xmlns:a14="http://schemas.microsoft.com/office/drawing/2010/main"/>
              </a:ext>
            </a:extLst>
          </a:blip>
          <a:stretch>
            <a:fillRect/>
          </a:stretch>
        </p:blipFill>
        <p:spPr>
          <a:xfrm>
            <a:off x="6000036" y="1772816"/>
            <a:ext cx="1800200" cy="270030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Investigate instances where theft has occurred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Including external assistance in considering the event – this may be required in ‘serious’ or ‘significant’ cases and may necessitate communication with:</a:t>
            </a:r>
          </a:p>
          <a:p>
            <a:pPr marL="360000" indent="-360000">
              <a:spcBef>
                <a:spcPts val="600"/>
              </a:spcBef>
              <a:spcAft>
                <a:spcPts val="1200"/>
              </a:spcAft>
            </a:pPr>
            <a:r>
              <a:rPr lang="en-US" sz="2200" dirty="0" smtClean="0">
                <a:latin typeface="Helvetica" pitchFamily="34" charset="0"/>
              </a:rPr>
              <a:t>Police, ambulance and/or hospital</a:t>
            </a:r>
          </a:p>
          <a:p>
            <a:pPr marL="360000" indent="-360000">
              <a:spcBef>
                <a:spcPts val="600"/>
              </a:spcBef>
              <a:spcAft>
                <a:spcPts val="1200"/>
              </a:spcAft>
            </a:pPr>
            <a:r>
              <a:rPr lang="en-US" sz="2200" dirty="0" smtClean="0">
                <a:latin typeface="Helvetica" pitchFamily="34" charset="0"/>
              </a:rPr>
              <a:t>Insurance companies</a:t>
            </a:r>
          </a:p>
          <a:p>
            <a:pPr marL="360000" indent="-360000">
              <a:spcBef>
                <a:spcPts val="600"/>
              </a:spcBef>
              <a:spcAft>
                <a:spcPts val="1200"/>
              </a:spcAft>
            </a:pPr>
            <a:r>
              <a:rPr lang="en-US" sz="2200" dirty="0" smtClean="0">
                <a:latin typeface="Helvetica" pitchFamily="34" charset="0"/>
              </a:rPr>
              <a:t>Private security providers</a:t>
            </a:r>
          </a:p>
          <a:p>
            <a:pPr marL="360000" indent="-360000">
              <a:spcBef>
                <a:spcPts val="600"/>
              </a:spcBef>
              <a:spcAft>
                <a:spcPts val="1200"/>
              </a:spcAft>
            </a:pPr>
            <a:r>
              <a:rPr lang="en-US" sz="2200" dirty="0" smtClean="0">
                <a:latin typeface="Helvetica" pitchFamily="34" charset="0"/>
              </a:rPr>
              <a:t>Host business where theft occurred</a:t>
            </a:r>
          </a:p>
          <a:p>
            <a:pPr marL="360000" indent="-360000">
              <a:spcBef>
                <a:spcPts val="600"/>
              </a:spcBef>
              <a:spcAft>
                <a:spcPts val="1200"/>
              </a:spcAft>
            </a:pPr>
            <a:r>
              <a:rPr lang="en-US" sz="2200" dirty="0" smtClean="0">
                <a:latin typeface="Helvetica" pitchFamily="34" charset="0"/>
              </a:rPr>
              <a:t>Witnesses</a:t>
            </a:r>
          </a:p>
          <a:p>
            <a:pPr marL="360000" indent="-360000">
              <a:spcBef>
                <a:spcPts val="600"/>
              </a:spcBef>
              <a:spcAft>
                <a:spcPts val="1200"/>
              </a:spcAft>
            </a:pPr>
            <a:r>
              <a:rPr lang="en-US" sz="2200" dirty="0" smtClean="0">
                <a:latin typeface="Helvetica" pitchFamily="34" charset="0"/>
              </a:rPr>
              <a:t>Others outside the tour who were also impacted.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292080" y="2010385"/>
            <a:ext cx="2160000"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Investigate instances where theft has occurred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Identifying cost of preventing recurrence should look at:</a:t>
            </a:r>
          </a:p>
          <a:p>
            <a:pPr marL="360000" indent="-360000">
              <a:spcBef>
                <a:spcPts val="600"/>
              </a:spcBef>
              <a:spcAft>
                <a:spcPts val="1200"/>
              </a:spcAft>
            </a:pPr>
            <a:r>
              <a:rPr lang="en-US" sz="2200" dirty="0" smtClean="0">
                <a:latin typeface="Helvetica" pitchFamily="34" charset="0"/>
              </a:rPr>
              <a:t>Cost of time/labour to address issue/s</a:t>
            </a:r>
          </a:p>
          <a:p>
            <a:pPr marL="360000" indent="-360000">
              <a:spcBef>
                <a:spcPts val="600"/>
              </a:spcBef>
              <a:spcAft>
                <a:spcPts val="1200"/>
              </a:spcAft>
            </a:pPr>
            <a:r>
              <a:rPr lang="en-US" sz="2200" dirty="0" smtClean="0">
                <a:latin typeface="Helvetica" pitchFamily="34" charset="0"/>
              </a:rPr>
              <a:t>Cost of resources</a:t>
            </a:r>
          </a:p>
          <a:p>
            <a:pPr marL="360000" indent="-360000">
              <a:spcBef>
                <a:spcPts val="600"/>
              </a:spcBef>
              <a:spcAft>
                <a:spcPts val="1200"/>
              </a:spcAft>
            </a:pPr>
            <a:r>
              <a:rPr lang="en-US" sz="2200" dirty="0" smtClean="0">
                <a:latin typeface="Helvetica" pitchFamily="34" charset="0"/>
              </a:rPr>
              <a:t>Cost of premiums</a:t>
            </a:r>
          </a:p>
          <a:p>
            <a:pPr marL="360000" indent="-360000">
              <a:spcBef>
                <a:spcPts val="600"/>
              </a:spcBef>
              <a:spcAft>
                <a:spcPts val="1200"/>
              </a:spcAft>
            </a:pPr>
            <a:r>
              <a:rPr lang="en-US" sz="2200" dirty="0" smtClean="0">
                <a:latin typeface="Helvetica" pitchFamily="34" charset="0"/>
              </a:rPr>
              <a:t>Cost of revising advertising</a:t>
            </a:r>
          </a:p>
          <a:p>
            <a:pPr marL="360000" indent="-360000">
              <a:spcBef>
                <a:spcPts val="600"/>
              </a:spcBef>
              <a:spcAft>
                <a:spcPts val="1200"/>
              </a:spcAft>
            </a:pPr>
            <a:r>
              <a:rPr lang="en-US" sz="2200" dirty="0" smtClean="0">
                <a:latin typeface="Helvetica" pitchFamily="34" charset="0"/>
              </a:rPr>
              <a:t>Cost involved in revising Terms and Conditions.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076056" y="1772816"/>
            <a:ext cx="2462400" cy="3780000"/>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Investigate instances where theft has occurred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There is a need to investigate thefts to:</a:t>
            </a:r>
          </a:p>
          <a:p>
            <a:pPr marL="360000" indent="-360000">
              <a:spcBef>
                <a:spcPts val="600"/>
              </a:spcBef>
              <a:spcAft>
                <a:spcPts val="1200"/>
              </a:spcAft>
            </a:pPr>
            <a:r>
              <a:rPr lang="en-US" sz="2200" dirty="0" smtClean="0">
                <a:latin typeface="Helvetica" pitchFamily="34" charset="0"/>
              </a:rPr>
              <a:t>Optimise chance of recovering stolen items</a:t>
            </a:r>
          </a:p>
          <a:p>
            <a:pPr marL="360000" indent="-360000">
              <a:spcBef>
                <a:spcPts val="600"/>
              </a:spcBef>
              <a:spcAft>
                <a:spcPts val="1200"/>
              </a:spcAft>
            </a:pPr>
            <a:r>
              <a:rPr lang="en-US" sz="2200" dirty="0" smtClean="0">
                <a:latin typeface="Helvetica" pitchFamily="34" charset="0"/>
              </a:rPr>
              <a:t>Assist local authorities </a:t>
            </a:r>
          </a:p>
          <a:p>
            <a:pPr marL="360000" indent="-360000">
              <a:spcBef>
                <a:spcPts val="600"/>
              </a:spcBef>
              <a:spcAft>
                <a:spcPts val="1200"/>
              </a:spcAft>
            </a:pPr>
            <a:r>
              <a:rPr lang="en-US" sz="2200" dirty="0" smtClean="0">
                <a:latin typeface="Helvetica" pitchFamily="34" charset="0"/>
              </a:rPr>
              <a:t>Facilitate completion of insurance claims</a:t>
            </a:r>
          </a:p>
          <a:p>
            <a:pPr marL="360000" indent="-360000">
              <a:spcBef>
                <a:spcPts val="600"/>
              </a:spcBef>
              <a:spcAft>
                <a:spcPts val="1200"/>
              </a:spcAft>
            </a:pPr>
            <a:r>
              <a:rPr lang="en-US" sz="2200" dirty="0" smtClean="0">
                <a:latin typeface="Helvetica" pitchFamily="34" charset="0"/>
              </a:rPr>
              <a:t>Demonstrate professionalism</a:t>
            </a:r>
          </a:p>
          <a:p>
            <a:pPr marL="360000" indent="-360000">
              <a:spcBef>
                <a:spcPts val="600"/>
              </a:spcBef>
              <a:spcAft>
                <a:spcPts val="1200"/>
              </a:spcAft>
            </a:pPr>
            <a:r>
              <a:rPr lang="en-US" sz="2200" dirty="0" smtClean="0">
                <a:latin typeface="Helvetica" pitchFamily="34" charset="0"/>
              </a:rPr>
              <a:t>Meet expectations</a:t>
            </a:r>
          </a:p>
          <a:p>
            <a:pPr marL="360000" indent="-360000">
              <a:spcBef>
                <a:spcPts val="600"/>
              </a:spcBef>
              <a:spcAft>
                <a:spcPts val="1200"/>
              </a:spcAft>
            </a:pPr>
            <a:r>
              <a:rPr lang="en-US" sz="2200" dirty="0" smtClean="0">
                <a:latin typeface="Helvetica" pitchFamily="34" charset="0"/>
              </a:rPr>
              <a:t>Prevent recurrence.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580112" y="1556792"/>
            <a:ext cx="2894448" cy="4024824"/>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legal action in response to identified theft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Not all theft results in legal action because:</a:t>
            </a:r>
          </a:p>
          <a:p>
            <a:pPr marL="360000" indent="-360000">
              <a:spcBef>
                <a:spcPts val="600"/>
              </a:spcBef>
              <a:spcAft>
                <a:spcPts val="1200"/>
              </a:spcAft>
            </a:pPr>
            <a:r>
              <a:rPr lang="en-US" sz="2000" dirty="0" smtClean="0">
                <a:latin typeface="Helvetica" pitchFamily="34" charset="0"/>
              </a:rPr>
              <a:t>Legal action is expensive</a:t>
            </a:r>
          </a:p>
          <a:p>
            <a:pPr marL="360000" indent="-360000">
              <a:spcBef>
                <a:spcPts val="600"/>
              </a:spcBef>
              <a:spcAft>
                <a:spcPts val="1200"/>
              </a:spcAft>
            </a:pPr>
            <a:r>
              <a:rPr lang="en-US" sz="2000" dirty="0" smtClean="0">
                <a:latin typeface="Helvetica" pitchFamily="34" charset="0"/>
              </a:rPr>
              <a:t>There is no guarantee of success</a:t>
            </a:r>
          </a:p>
          <a:p>
            <a:pPr marL="360000" indent="-360000">
              <a:spcBef>
                <a:spcPts val="600"/>
              </a:spcBef>
              <a:spcAft>
                <a:spcPts val="1200"/>
              </a:spcAft>
            </a:pPr>
            <a:r>
              <a:rPr lang="en-US" sz="2000" dirty="0" smtClean="0">
                <a:latin typeface="Helvetica" pitchFamily="34" charset="0"/>
              </a:rPr>
              <a:t>It is time consuming</a:t>
            </a:r>
          </a:p>
          <a:p>
            <a:pPr marL="360000" indent="-360000">
              <a:spcBef>
                <a:spcPts val="600"/>
              </a:spcBef>
              <a:spcAft>
                <a:spcPts val="1200"/>
              </a:spcAft>
            </a:pPr>
            <a:r>
              <a:rPr lang="en-US" sz="2000" dirty="0" smtClean="0">
                <a:latin typeface="Helvetica" pitchFamily="34" charset="0"/>
              </a:rPr>
              <a:t>Sometimes it’s just easier to accept the loss and move 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20072" y="1844824"/>
            <a:ext cx="2773455" cy="3838114"/>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legal action in response to identified theft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Where company is insured standard practice is:</a:t>
            </a:r>
          </a:p>
          <a:p>
            <a:pPr marL="360000" indent="-360000">
              <a:spcBef>
                <a:spcPts val="600"/>
              </a:spcBef>
              <a:spcAft>
                <a:spcPts val="1200"/>
              </a:spcAft>
            </a:pPr>
            <a:r>
              <a:rPr lang="en-US" sz="2000" dirty="0" smtClean="0">
                <a:latin typeface="Helvetica" pitchFamily="34" charset="0"/>
              </a:rPr>
              <a:t>Rely on the insurance policy and make a claim</a:t>
            </a:r>
          </a:p>
          <a:p>
            <a:pPr marL="360000" indent="-360000">
              <a:spcBef>
                <a:spcPts val="600"/>
              </a:spcBef>
              <a:spcAft>
                <a:spcPts val="1200"/>
              </a:spcAft>
            </a:pPr>
            <a:r>
              <a:rPr lang="en-US" sz="2000" dirty="0" smtClean="0">
                <a:latin typeface="Helvetica" pitchFamily="34" charset="0"/>
              </a:rPr>
              <a:t>Allow insurance company to take legal action if they want to.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20072" y="1700808"/>
            <a:ext cx="3034952" cy="4080282"/>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Take legal action in response to identified theft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Pre-requisites for taking legal action:</a:t>
            </a:r>
          </a:p>
          <a:p>
            <a:pPr marL="360000" indent="-360000">
              <a:spcBef>
                <a:spcPts val="600"/>
              </a:spcBef>
              <a:spcAft>
                <a:spcPts val="1200"/>
              </a:spcAft>
            </a:pPr>
            <a:r>
              <a:rPr lang="en-US" sz="2000" dirty="0" smtClean="0">
                <a:latin typeface="Helvetica" pitchFamily="34" charset="0"/>
              </a:rPr>
              <a:t>Obtain professional legal advice</a:t>
            </a:r>
          </a:p>
          <a:p>
            <a:pPr marL="360000" indent="-360000">
              <a:spcBef>
                <a:spcPts val="600"/>
              </a:spcBef>
              <a:spcAft>
                <a:spcPts val="1200"/>
              </a:spcAft>
            </a:pPr>
            <a:r>
              <a:rPr lang="en-US" sz="2000" dirty="0" smtClean="0">
                <a:latin typeface="Helvetica" pitchFamily="34" charset="0"/>
              </a:rPr>
              <a:t>Document everything related to the theft</a:t>
            </a:r>
          </a:p>
          <a:p>
            <a:pPr marL="360000" indent="-360000">
              <a:spcBef>
                <a:spcPts val="600"/>
              </a:spcBef>
              <a:spcAft>
                <a:spcPts val="1200"/>
              </a:spcAft>
            </a:pPr>
            <a:r>
              <a:rPr lang="en-US" sz="2000" dirty="0" smtClean="0">
                <a:latin typeface="Helvetica" pitchFamily="34" charset="0"/>
              </a:rPr>
              <a:t>Establish a file for the action.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42087" y="1967157"/>
            <a:ext cx="3239677"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changes to operations that affect theft potential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Ongoing attention needs to be paid to identifying changes that affect theft potential:</a:t>
            </a:r>
          </a:p>
          <a:p>
            <a:pPr marL="360000" indent="-360000">
              <a:spcBef>
                <a:spcPts val="600"/>
              </a:spcBef>
              <a:spcAft>
                <a:spcPts val="1200"/>
              </a:spcAft>
            </a:pPr>
            <a:r>
              <a:rPr lang="en-US" sz="2000" dirty="0" smtClean="0">
                <a:latin typeface="Helvetica" pitchFamily="34" charset="0"/>
              </a:rPr>
              <a:t>Not all changes require the same treatment/attention</a:t>
            </a:r>
          </a:p>
          <a:p>
            <a:pPr marL="360000" indent="-360000">
              <a:spcBef>
                <a:spcPts val="600"/>
              </a:spcBef>
              <a:spcAft>
                <a:spcPts val="1200"/>
              </a:spcAft>
            </a:pPr>
            <a:r>
              <a:rPr lang="en-US" sz="2000" dirty="0" smtClean="0">
                <a:latin typeface="Helvetica" pitchFamily="34" charset="0"/>
              </a:rPr>
              <a:t>Always consider how changes impact insurance coverage.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13723" y="1988840"/>
            <a:ext cx="3239677"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changes to operations that affect theft potential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9248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Effective analysis = investigating and identifying:</a:t>
            </a:r>
          </a:p>
          <a:p>
            <a:pPr marL="360000" indent="-360000">
              <a:spcBef>
                <a:spcPts val="600"/>
              </a:spcBef>
              <a:spcAft>
                <a:spcPts val="1200"/>
              </a:spcAft>
            </a:pPr>
            <a:r>
              <a:rPr lang="en-US" sz="2200" dirty="0" smtClean="0">
                <a:latin typeface="Helvetica" pitchFamily="34" charset="0"/>
              </a:rPr>
              <a:t>Changes to business layout</a:t>
            </a:r>
          </a:p>
          <a:p>
            <a:pPr marL="360000" indent="-360000">
              <a:spcBef>
                <a:spcPts val="600"/>
              </a:spcBef>
              <a:spcAft>
                <a:spcPts val="1200"/>
              </a:spcAft>
            </a:pPr>
            <a:r>
              <a:rPr lang="en-US" sz="2200" dirty="0" smtClean="0">
                <a:latin typeface="Helvetica" pitchFamily="34" charset="0"/>
              </a:rPr>
              <a:t>New/revised processes</a:t>
            </a:r>
          </a:p>
          <a:p>
            <a:pPr marL="360000" indent="-360000">
              <a:spcBef>
                <a:spcPts val="600"/>
              </a:spcBef>
              <a:spcAft>
                <a:spcPts val="1200"/>
              </a:spcAft>
            </a:pPr>
            <a:r>
              <a:rPr lang="en-US" sz="2200" dirty="0" smtClean="0">
                <a:latin typeface="Helvetica" pitchFamily="34" charset="0"/>
              </a:rPr>
              <a:t>New/revised products or services</a:t>
            </a:r>
          </a:p>
          <a:p>
            <a:pPr marL="360000" indent="-360000">
              <a:spcBef>
                <a:spcPts val="600"/>
              </a:spcBef>
              <a:spcAft>
                <a:spcPts val="1200"/>
              </a:spcAft>
            </a:pPr>
            <a:r>
              <a:rPr lang="en-US" sz="2200" dirty="0" smtClean="0">
                <a:latin typeface="Helvetica" pitchFamily="34" charset="0"/>
              </a:rPr>
              <a:t>Staff changes</a:t>
            </a:r>
          </a:p>
          <a:p>
            <a:pPr marL="360000" indent="-360000">
              <a:spcBef>
                <a:spcPts val="600"/>
              </a:spcBef>
              <a:spcAft>
                <a:spcPts val="1200"/>
              </a:spcAft>
            </a:pPr>
            <a:r>
              <a:rPr lang="en-US" sz="2200" dirty="0" smtClean="0">
                <a:latin typeface="Helvetica" pitchFamily="34" charset="0"/>
              </a:rPr>
              <a:t>New locations</a:t>
            </a:r>
          </a:p>
          <a:p>
            <a:pPr marL="360000" indent="-360000">
              <a:spcBef>
                <a:spcPts val="600"/>
              </a:spcBef>
              <a:spcAft>
                <a:spcPts val="1200"/>
              </a:spcAft>
            </a:pPr>
            <a:r>
              <a:rPr lang="en-US" sz="2200" dirty="0" smtClean="0">
                <a:latin typeface="Helvetica" pitchFamily="34" charset="0"/>
              </a:rPr>
              <a:t>New suppliers or business partners.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134869" y="1628800"/>
            <a:ext cx="2944291" cy="3780000"/>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changes to operations that affect theft potential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If business layout changes there may be a need to:</a:t>
            </a:r>
          </a:p>
          <a:p>
            <a:pPr marL="360000" indent="-360000">
              <a:spcBef>
                <a:spcPts val="600"/>
              </a:spcBef>
              <a:spcAft>
                <a:spcPts val="1200"/>
              </a:spcAft>
            </a:pPr>
            <a:r>
              <a:rPr lang="en-US" sz="2200" dirty="0" smtClean="0">
                <a:latin typeface="Helvetica" pitchFamily="34" charset="0"/>
              </a:rPr>
              <a:t>Modify/restrict access and egress points</a:t>
            </a:r>
          </a:p>
          <a:p>
            <a:pPr marL="360000" indent="-360000">
              <a:spcBef>
                <a:spcPts val="600"/>
              </a:spcBef>
              <a:spcAft>
                <a:spcPts val="1200"/>
              </a:spcAft>
            </a:pPr>
            <a:r>
              <a:rPr lang="en-US" sz="2200" dirty="0" smtClean="0">
                <a:latin typeface="Helvetica" pitchFamily="34" charset="0"/>
              </a:rPr>
              <a:t>Re-locate displays and merchandise</a:t>
            </a:r>
          </a:p>
          <a:p>
            <a:pPr marL="360000" indent="-360000">
              <a:spcBef>
                <a:spcPts val="600"/>
              </a:spcBef>
              <a:spcAft>
                <a:spcPts val="1200"/>
              </a:spcAft>
            </a:pPr>
            <a:r>
              <a:rPr lang="en-US" sz="2200" dirty="0" smtClean="0">
                <a:latin typeface="Helvetica" pitchFamily="34" charset="0"/>
              </a:rPr>
              <a:t>Limit movement of public</a:t>
            </a:r>
          </a:p>
          <a:p>
            <a:pPr marL="360000" indent="-360000">
              <a:spcBef>
                <a:spcPts val="600"/>
              </a:spcBef>
              <a:spcAft>
                <a:spcPts val="1200"/>
              </a:spcAft>
            </a:pPr>
            <a:r>
              <a:rPr lang="en-US" sz="2200" dirty="0" smtClean="0">
                <a:latin typeface="Helvetica" pitchFamily="34" charset="0"/>
              </a:rPr>
              <a:t>Define ‘off limits’ area/s</a:t>
            </a:r>
          </a:p>
          <a:p>
            <a:pPr marL="360000" indent="-360000">
              <a:spcBef>
                <a:spcPts val="600"/>
              </a:spcBef>
              <a:spcAft>
                <a:spcPts val="1200"/>
              </a:spcAft>
            </a:pPr>
            <a:r>
              <a:rPr lang="en-US" sz="2200" dirty="0" smtClean="0">
                <a:latin typeface="Helvetica" pitchFamily="34" charset="0"/>
              </a:rPr>
              <a:t>Moving cash to a secure location.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220072" y="1628800"/>
            <a:ext cx="2587788" cy="3780000"/>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changes to operations that affect theft potential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Changes to processes may require:</a:t>
            </a:r>
          </a:p>
          <a:p>
            <a:pPr marL="360000" indent="-360000">
              <a:spcBef>
                <a:spcPts val="600"/>
              </a:spcBef>
              <a:spcAft>
                <a:spcPts val="1200"/>
              </a:spcAft>
            </a:pPr>
            <a:r>
              <a:rPr lang="en-US" sz="2200" dirty="0" smtClean="0">
                <a:latin typeface="Helvetica" pitchFamily="34" charset="0"/>
              </a:rPr>
              <a:t>Development and communication of new/revised SOPs</a:t>
            </a:r>
          </a:p>
          <a:p>
            <a:pPr marL="360000" indent="-360000">
              <a:spcBef>
                <a:spcPts val="600"/>
              </a:spcBef>
              <a:spcAft>
                <a:spcPts val="1200"/>
              </a:spcAft>
            </a:pPr>
            <a:r>
              <a:rPr lang="en-US" sz="2200" dirty="0" smtClean="0">
                <a:latin typeface="Helvetica" pitchFamily="34" charset="0"/>
              </a:rPr>
              <a:t>Training to support new/revised processes</a:t>
            </a:r>
          </a:p>
          <a:p>
            <a:pPr marL="360000" indent="-360000">
              <a:spcBef>
                <a:spcPts val="600"/>
              </a:spcBef>
              <a:spcAft>
                <a:spcPts val="1200"/>
              </a:spcAft>
            </a:pPr>
            <a:r>
              <a:rPr lang="en-US" sz="2200" dirty="0" smtClean="0">
                <a:latin typeface="Helvetica" pitchFamily="34" charset="0"/>
              </a:rPr>
              <a:t>Integration of ‘lessons learned’ into new SOPs</a:t>
            </a:r>
          </a:p>
          <a:p>
            <a:pPr marL="360000" indent="-360000">
              <a:spcBef>
                <a:spcPts val="600"/>
              </a:spcBef>
              <a:spcAft>
                <a:spcPts val="1200"/>
              </a:spcAft>
            </a:pPr>
            <a:r>
              <a:rPr lang="en-US" sz="2200" dirty="0" smtClean="0">
                <a:latin typeface="Helvetica" pitchFamily="34" charset="0"/>
              </a:rPr>
              <a:t>Implementation of support systems and technology</a:t>
            </a:r>
          </a:p>
          <a:p>
            <a:pPr marL="360000" indent="-360000">
              <a:spcBef>
                <a:spcPts val="600"/>
              </a:spcBef>
              <a:spcAft>
                <a:spcPts val="1200"/>
              </a:spcAft>
            </a:pPr>
            <a:r>
              <a:rPr lang="en-US" sz="2200" dirty="0" smtClean="0">
                <a:latin typeface="Helvetica" pitchFamily="34" charset="0"/>
              </a:rPr>
              <a:t>Analysis of practice to determine of new/changed risk or threat has been introduced.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73400" y="1988840"/>
            <a:ext cx="2880000"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changes to operations that affect theft potential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544616" cy="4680520"/>
          </a:xfrm>
        </p:spPr>
        <p:txBody>
          <a:bodyPr>
            <a:normAutofit fontScale="92500" lnSpcReduction="20000"/>
          </a:bodyPr>
          <a:lstStyle/>
          <a:p>
            <a:pPr marL="0" indent="0">
              <a:lnSpc>
                <a:spcPct val="120000"/>
              </a:lnSpc>
              <a:spcBef>
                <a:spcPts val="600"/>
              </a:spcBef>
              <a:spcAft>
                <a:spcPts val="600"/>
              </a:spcAft>
              <a:buNone/>
            </a:pPr>
            <a:r>
              <a:rPr lang="en-US" sz="2200" dirty="0" smtClean="0">
                <a:latin typeface="Helvetica" pitchFamily="34" charset="0"/>
              </a:rPr>
              <a:t>Changes to products and services may require:</a:t>
            </a:r>
          </a:p>
          <a:p>
            <a:pPr marL="360000" indent="-360000">
              <a:lnSpc>
                <a:spcPct val="120000"/>
              </a:lnSpc>
              <a:spcBef>
                <a:spcPts val="400"/>
              </a:spcBef>
              <a:spcAft>
                <a:spcPts val="400"/>
              </a:spcAft>
            </a:pPr>
            <a:r>
              <a:rPr lang="en-US" sz="2200" dirty="0" smtClean="0">
                <a:latin typeface="Helvetica" pitchFamily="34" charset="0"/>
              </a:rPr>
              <a:t>Advising against their introduction where threats, risks or dangers can be identified</a:t>
            </a:r>
          </a:p>
          <a:p>
            <a:pPr marL="360000" indent="-360000">
              <a:lnSpc>
                <a:spcPct val="120000"/>
              </a:lnSpc>
              <a:spcBef>
                <a:spcPts val="400"/>
              </a:spcBef>
              <a:spcAft>
                <a:spcPts val="400"/>
              </a:spcAft>
            </a:pPr>
            <a:r>
              <a:rPr lang="en-US" sz="2200" dirty="0" smtClean="0">
                <a:latin typeface="Helvetica" pitchFamily="34" charset="0"/>
              </a:rPr>
              <a:t>Suggesting new/revised theft minimisation protocols</a:t>
            </a:r>
          </a:p>
          <a:p>
            <a:pPr marL="360000" indent="-360000">
              <a:lnSpc>
                <a:spcPct val="120000"/>
              </a:lnSpc>
              <a:spcBef>
                <a:spcPts val="400"/>
              </a:spcBef>
              <a:spcAft>
                <a:spcPts val="400"/>
              </a:spcAft>
            </a:pPr>
            <a:r>
              <a:rPr lang="en-US" sz="2200" dirty="0" smtClean="0">
                <a:latin typeface="Helvetica" pitchFamily="34" charset="0"/>
              </a:rPr>
              <a:t>Monitoring high risk products and provision of payments more closely</a:t>
            </a:r>
          </a:p>
          <a:p>
            <a:pPr marL="360000" indent="-360000">
              <a:lnSpc>
                <a:spcPct val="120000"/>
              </a:lnSpc>
              <a:spcBef>
                <a:spcPts val="400"/>
              </a:spcBef>
              <a:spcAft>
                <a:spcPts val="400"/>
              </a:spcAft>
            </a:pPr>
            <a:r>
              <a:rPr lang="en-US" sz="2200" dirty="0" smtClean="0">
                <a:latin typeface="Helvetica" pitchFamily="34" charset="0"/>
              </a:rPr>
              <a:t>Installing new/extra security systems and devices </a:t>
            </a:r>
          </a:p>
          <a:p>
            <a:pPr marL="360000" indent="-360000">
              <a:lnSpc>
                <a:spcPct val="120000"/>
              </a:lnSpc>
              <a:spcBef>
                <a:spcPts val="400"/>
              </a:spcBef>
              <a:spcAft>
                <a:spcPts val="400"/>
              </a:spcAft>
            </a:pPr>
            <a:r>
              <a:rPr lang="en-US" sz="2200" dirty="0" smtClean="0">
                <a:latin typeface="Helvetica" pitchFamily="34" charset="0"/>
              </a:rPr>
              <a:t>Employing extra security staff</a:t>
            </a:r>
          </a:p>
          <a:p>
            <a:pPr marL="360000" indent="-360000">
              <a:lnSpc>
                <a:spcPct val="120000"/>
              </a:lnSpc>
              <a:spcBef>
                <a:spcPts val="400"/>
              </a:spcBef>
              <a:spcAft>
                <a:spcPts val="400"/>
              </a:spcAft>
            </a:pPr>
            <a:r>
              <a:rPr lang="en-US" sz="2200" dirty="0" smtClean="0">
                <a:latin typeface="Helvetica" pitchFamily="34" charset="0"/>
              </a:rPr>
              <a:t>Placing warning/advisory signs in the business to deter theft.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6989226" y="3356992"/>
            <a:ext cx="2154774" cy="1655944"/>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changes to operations that affect theft potential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752528"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Staff changes may require:</a:t>
            </a:r>
          </a:p>
          <a:p>
            <a:pPr marL="360000" indent="-360000">
              <a:spcBef>
                <a:spcPts val="600"/>
              </a:spcBef>
              <a:spcAft>
                <a:spcPts val="1200"/>
              </a:spcAft>
            </a:pPr>
            <a:r>
              <a:rPr lang="en-US" sz="2200" dirty="0" smtClean="0">
                <a:latin typeface="Helvetica" pitchFamily="34" charset="0"/>
              </a:rPr>
              <a:t>Counting/reconciling registers whenever there is a change of staff</a:t>
            </a:r>
          </a:p>
          <a:p>
            <a:pPr marL="360000" indent="-360000">
              <a:spcBef>
                <a:spcPts val="600"/>
              </a:spcBef>
              <a:spcAft>
                <a:spcPts val="1200"/>
              </a:spcAft>
            </a:pPr>
            <a:r>
              <a:rPr lang="en-US" sz="2200" dirty="0" smtClean="0">
                <a:latin typeface="Helvetica" pitchFamily="34" charset="0"/>
              </a:rPr>
              <a:t>Including theft minimisation training within standard Induction and Orientation programmes for new </a:t>
            </a:r>
            <a:br>
              <a:rPr lang="en-US" sz="2200" dirty="0" smtClean="0">
                <a:latin typeface="Helvetica" pitchFamily="34" charset="0"/>
              </a:rPr>
            </a:br>
            <a:r>
              <a:rPr lang="en-US" sz="2200" dirty="0" smtClean="0">
                <a:latin typeface="Helvetica" pitchFamily="34" charset="0"/>
              </a:rPr>
              <a:t>staff</a:t>
            </a:r>
          </a:p>
          <a:p>
            <a:pPr marL="360000" indent="-360000">
              <a:spcBef>
                <a:spcPts val="600"/>
              </a:spcBef>
              <a:spcAft>
                <a:spcPts val="1200"/>
              </a:spcAft>
            </a:pPr>
            <a:r>
              <a:rPr lang="en-US" sz="2200" dirty="0" smtClean="0">
                <a:latin typeface="Helvetica" pitchFamily="34" charset="0"/>
              </a:rPr>
              <a:t>Advising staff about security systems being used</a:t>
            </a:r>
          </a:p>
          <a:p>
            <a:pPr marL="360000" indent="-360000">
              <a:spcBef>
                <a:spcPts val="600"/>
              </a:spcBef>
              <a:spcAft>
                <a:spcPts val="1200"/>
              </a:spcAft>
            </a:pPr>
            <a:r>
              <a:rPr lang="en-US" sz="2200" dirty="0" smtClean="0">
                <a:latin typeface="Helvetica" pitchFamily="34" charset="0"/>
              </a:rPr>
              <a:t>Clearly identifying what is regarded as ‘theft’ by staff</a:t>
            </a:r>
          </a:p>
          <a:p>
            <a:pPr marL="360000" indent="-360000">
              <a:spcBef>
                <a:spcPts val="600"/>
              </a:spcBef>
              <a:spcAft>
                <a:spcPts val="1200"/>
              </a:spcAft>
            </a:pPr>
            <a:r>
              <a:rPr lang="en-US" sz="2200" dirty="0" smtClean="0">
                <a:latin typeface="Helvetica" pitchFamily="34" charset="0"/>
              </a:rPr>
              <a:t>Taking action whenever staff are identified as having stolen.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796136" y="2492896"/>
            <a:ext cx="2831988" cy="1887992"/>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changes to operations that affect theft potential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08512" cy="4536504"/>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New locations or destinations may require:</a:t>
            </a:r>
          </a:p>
          <a:p>
            <a:pPr marL="360000" indent="-360000">
              <a:spcBef>
                <a:spcPts val="600"/>
              </a:spcBef>
              <a:spcAft>
                <a:spcPts val="1200"/>
              </a:spcAft>
            </a:pPr>
            <a:r>
              <a:rPr lang="en-US" sz="2200" dirty="0" smtClean="0">
                <a:latin typeface="Helvetica" pitchFamily="34" charset="0"/>
              </a:rPr>
              <a:t>Visiting the locations/destinations </a:t>
            </a:r>
            <a:br>
              <a:rPr lang="en-US" sz="2200" dirty="0" smtClean="0">
                <a:latin typeface="Helvetica" pitchFamily="34" charset="0"/>
              </a:rPr>
            </a:br>
            <a:r>
              <a:rPr lang="en-US" sz="2200" dirty="0" smtClean="0">
                <a:latin typeface="Helvetica" pitchFamily="34" charset="0"/>
              </a:rPr>
              <a:t>to gain first-hand experience</a:t>
            </a:r>
          </a:p>
          <a:p>
            <a:pPr marL="360000" indent="-360000">
              <a:spcBef>
                <a:spcPts val="600"/>
              </a:spcBef>
              <a:spcAft>
                <a:spcPts val="1200"/>
              </a:spcAft>
            </a:pPr>
            <a:r>
              <a:rPr lang="en-US" sz="2200" dirty="0" smtClean="0">
                <a:latin typeface="Helvetica" pitchFamily="34" charset="0"/>
              </a:rPr>
              <a:t>Liaising with others to obtain information</a:t>
            </a:r>
          </a:p>
          <a:p>
            <a:pPr marL="360000" indent="-360000">
              <a:spcBef>
                <a:spcPts val="600"/>
              </a:spcBef>
              <a:spcAft>
                <a:spcPts val="1200"/>
              </a:spcAft>
            </a:pPr>
            <a:r>
              <a:rPr lang="en-US" sz="2200" dirty="0" smtClean="0">
                <a:latin typeface="Helvetica" pitchFamily="34" charset="0"/>
              </a:rPr>
              <a:t>Producing new warnings/advice</a:t>
            </a:r>
          </a:p>
          <a:p>
            <a:pPr marL="360000" indent="-360000">
              <a:spcBef>
                <a:spcPts val="600"/>
              </a:spcBef>
              <a:spcAft>
                <a:spcPts val="1200"/>
              </a:spcAft>
            </a:pPr>
            <a:r>
              <a:rPr lang="en-US" sz="2200" dirty="0" smtClean="0">
                <a:latin typeface="Helvetica" pitchFamily="34" charset="0"/>
              </a:rPr>
              <a:t>Increasing/altering security arrangements</a:t>
            </a:r>
          </a:p>
          <a:p>
            <a:pPr marL="360000" indent="-360000">
              <a:spcBef>
                <a:spcPts val="600"/>
              </a:spcBef>
              <a:spcAft>
                <a:spcPts val="1200"/>
              </a:spcAft>
            </a:pPr>
            <a:r>
              <a:rPr lang="en-US" sz="2200" dirty="0" smtClean="0">
                <a:latin typeface="Helvetica" pitchFamily="34" charset="0"/>
              </a:rPr>
              <a:t>Recommending avoidance of places where there is unacceptable risk/threats.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20072" y="1999722"/>
            <a:ext cx="2943867" cy="1962578"/>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changes to operations that affect theft potential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6336704" cy="4608512"/>
          </a:xfrm>
        </p:spPr>
        <p:txBody>
          <a:bodyPr>
            <a:normAutofit fontScale="92500" lnSpcReduction="20000"/>
          </a:bodyPr>
          <a:lstStyle/>
          <a:p>
            <a:pPr marL="0" indent="0">
              <a:lnSpc>
                <a:spcPct val="120000"/>
              </a:lnSpc>
              <a:spcBef>
                <a:spcPts val="600"/>
              </a:spcBef>
              <a:spcAft>
                <a:spcPts val="600"/>
              </a:spcAft>
              <a:buNone/>
            </a:pPr>
            <a:r>
              <a:rPr lang="en-US" sz="2200" dirty="0" smtClean="0">
                <a:latin typeface="Helvetica" pitchFamily="34" charset="0"/>
              </a:rPr>
              <a:t>New suppliers or business partners may necessitate:</a:t>
            </a:r>
          </a:p>
          <a:p>
            <a:pPr marL="360000" indent="-360000">
              <a:lnSpc>
                <a:spcPct val="120000"/>
              </a:lnSpc>
              <a:spcBef>
                <a:spcPts val="600"/>
              </a:spcBef>
              <a:spcAft>
                <a:spcPts val="600"/>
              </a:spcAft>
            </a:pPr>
            <a:r>
              <a:rPr lang="en-US" sz="2200" dirty="0" smtClean="0">
                <a:latin typeface="Helvetica" pitchFamily="34" charset="0"/>
              </a:rPr>
              <a:t>Visiting their premises, business, headquarters</a:t>
            </a:r>
          </a:p>
          <a:p>
            <a:pPr marL="360000" indent="-360000">
              <a:lnSpc>
                <a:spcPct val="120000"/>
              </a:lnSpc>
              <a:spcBef>
                <a:spcPts val="600"/>
              </a:spcBef>
              <a:spcAft>
                <a:spcPts val="600"/>
              </a:spcAft>
            </a:pPr>
            <a:r>
              <a:rPr lang="en-US" sz="2200" dirty="0" smtClean="0">
                <a:latin typeface="Helvetica" pitchFamily="34" charset="0"/>
              </a:rPr>
              <a:t>Advising them of your orientation to theft</a:t>
            </a:r>
          </a:p>
          <a:p>
            <a:pPr marL="360000" indent="-360000">
              <a:lnSpc>
                <a:spcPct val="120000"/>
              </a:lnSpc>
              <a:spcBef>
                <a:spcPts val="600"/>
              </a:spcBef>
              <a:spcAft>
                <a:spcPts val="600"/>
              </a:spcAft>
            </a:pPr>
            <a:r>
              <a:rPr lang="en-US" sz="2200" dirty="0" smtClean="0">
                <a:latin typeface="Helvetica" pitchFamily="34" charset="0"/>
              </a:rPr>
              <a:t>Insisting they implement theft minimisation protocols</a:t>
            </a:r>
          </a:p>
          <a:p>
            <a:pPr marL="360000" indent="-360000">
              <a:lnSpc>
                <a:spcPct val="120000"/>
              </a:lnSpc>
              <a:spcBef>
                <a:spcPts val="600"/>
              </a:spcBef>
              <a:spcAft>
                <a:spcPts val="600"/>
              </a:spcAft>
            </a:pPr>
            <a:r>
              <a:rPr lang="en-US" sz="2200" dirty="0" smtClean="0">
                <a:latin typeface="Helvetica" pitchFamily="34" charset="0"/>
              </a:rPr>
              <a:t>Regularly checking their activities within your business</a:t>
            </a:r>
          </a:p>
          <a:p>
            <a:pPr marL="360000" indent="-360000">
              <a:lnSpc>
                <a:spcPct val="120000"/>
              </a:lnSpc>
              <a:spcBef>
                <a:spcPts val="600"/>
              </a:spcBef>
              <a:spcAft>
                <a:spcPts val="600"/>
              </a:spcAft>
            </a:pPr>
            <a:r>
              <a:rPr lang="en-US" sz="2200" dirty="0" smtClean="0">
                <a:latin typeface="Helvetica" pitchFamily="34" charset="0"/>
              </a:rPr>
              <a:t>Raising legitimate concerns as soon as they are noted</a:t>
            </a:r>
          </a:p>
          <a:p>
            <a:pPr marL="360000" indent="-360000">
              <a:lnSpc>
                <a:spcPct val="120000"/>
              </a:lnSpc>
              <a:spcBef>
                <a:spcPts val="600"/>
              </a:spcBef>
              <a:spcAft>
                <a:spcPts val="600"/>
              </a:spcAft>
            </a:pPr>
            <a:r>
              <a:rPr lang="en-US" sz="2200" dirty="0" smtClean="0">
                <a:latin typeface="Helvetica" pitchFamily="34" charset="0"/>
              </a:rPr>
              <a:t>Ceasing association with those who demonstrate fraudulent intent.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6984335" y="3140968"/>
            <a:ext cx="2159665" cy="143992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Seek feedback on security and theft issues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lnSpcReduction="10000"/>
          </a:bodyPr>
          <a:lstStyle/>
          <a:p>
            <a:pPr marL="0" indent="0">
              <a:spcBef>
                <a:spcPts val="600"/>
              </a:spcBef>
              <a:spcAft>
                <a:spcPts val="1200"/>
              </a:spcAft>
              <a:buNone/>
            </a:pPr>
            <a:r>
              <a:rPr lang="en-US" sz="2000" dirty="0" smtClean="0">
                <a:latin typeface="Helvetica" pitchFamily="34" charset="0"/>
              </a:rPr>
              <a:t>Role of feedback in this context is intended to:</a:t>
            </a:r>
          </a:p>
          <a:p>
            <a:pPr marL="360000" indent="-360000">
              <a:spcBef>
                <a:spcPts val="600"/>
              </a:spcBef>
              <a:spcAft>
                <a:spcPts val="1200"/>
              </a:spcAft>
            </a:pPr>
            <a:r>
              <a:rPr lang="en-US" sz="2000" dirty="0" smtClean="0">
                <a:latin typeface="Helvetica" pitchFamily="34" charset="0"/>
              </a:rPr>
              <a:t>Identify new or emerging threats/risks</a:t>
            </a:r>
          </a:p>
          <a:p>
            <a:pPr marL="360000" indent="-360000">
              <a:spcBef>
                <a:spcPts val="600"/>
              </a:spcBef>
              <a:spcAft>
                <a:spcPts val="1200"/>
              </a:spcAft>
            </a:pPr>
            <a:r>
              <a:rPr lang="en-US" sz="2000" dirty="0" smtClean="0">
                <a:latin typeface="Helvetica" pitchFamily="34" charset="0"/>
              </a:rPr>
              <a:t>Identify changed threats/risks</a:t>
            </a:r>
          </a:p>
          <a:p>
            <a:pPr marL="360000" indent="-360000">
              <a:spcBef>
                <a:spcPts val="600"/>
              </a:spcBef>
              <a:spcAft>
                <a:spcPts val="1200"/>
              </a:spcAft>
            </a:pPr>
            <a:r>
              <a:rPr lang="en-US" sz="2000" dirty="0" smtClean="0">
                <a:latin typeface="Helvetica" pitchFamily="34" charset="0"/>
              </a:rPr>
              <a:t>Describe and locate threats/risks</a:t>
            </a:r>
          </a:p>
          <a:p>
            <a:pPr marL="360000" indent="-360000">
              <a:spcBef>
                <a:spcPts val="600"/>
              </a:spcBef>
              <a:spcAft>
                <a:spcPts val="1200"/>
              </a:spcAft>
            </a:pPr>
            <a:r>
              <a:rPr lang="en-US" sz="2000" dirty="0" smtClean="0">
                <a:latin typeface="Helvetica" pitchFamily="34" charset="0"/>
              </a:rPr>
              <a:t>Provide insight into each threat/risk</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273400" y="1988840"/>
            <a:ext cx="2880000"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Seek feedback on security and theft issues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Determine effectiveness of current theft minimisation protocols</a:t>
            </a:r>
          </a:p>
          <a:p>
            <a:pPr marL="360000" indent="-360000">
              <a:spcBef>
                <a:spcPts val="600"/>
              </a:spcBef>
              <a:spcAft>
                <a:spcPts val="1200"/>
              </a:spcAft>
            </a:pPr>
            <a:r>
              <a:rPr lang="en-US" sz="2000" dirty="0" smtClean="0">
                <a:latin typeface="Helvetica" pitchFamily="34" charset="0"/>
              </a:rPr>
              <a:t>Evaluate satisfaction with current situation</a:t>
            </a:r>
          </a:p>
          <a:p>
            <a:pPr marL="360000" indent="-360000">
              <a:spcBef>
                <a:spcPts val="600"/>
              </a:spcBef>
              <a:spcAft>
                <a:spcPts val="1200"/>
              </a:spcAft>
            </a:pPr>
            <a:r>
              <a:rPr lang="en-US" sz="2000" dirty="0" smtClean="0">
                <a:latin typeface="Helvetica" pitchFamily="34" charset="0"/>
              </a:rPr>
              <a:t>Underpin review and evaluation processes</a:t>
            </a:r>
          </a:p>
          <a:p>
            <a:pPr marL="360000" indent="-360000">
              <a:spcBef>
                <a:spcPts val="600"/>
              </a:spcBef>
              <a:spcAft>
                <a:spcPts val="1200"/>
              </a:spcAft>
            </a:pPr>
            <a:r>
              <a:rPr lang="en-US" sz="2000" dirty="0" smtClean="0">
                <a:latin typeface="Helvetica" pitchFamily="34" charset="0"/>
              </a:rPr>
              <a:t>Provide a basis for generating new/revised protocols.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644008" y="1772816"/>
            <a:ext cx="2777512" cy="3780000"/>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Seek feedback on security and theft issues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360</a:t>
            </a:r>
            <a:r>
              <a:rPr lang="en-US" sz="2000" dirty="0" smtClean="0"/>
              <a:t>⁰ feedback should be sought from</a:t>
            </a:r>
            <a:r>
              <a:rPr lang="en-US" sz="2000" dirty="0" smtClean="0">
                <a:latin typeface="Helvetica" pitchFamily="34" charset="0"/>
              </a:rPr>
              <a:t>:</a:t>
            </a:r>
          </a:p>
          <a:p>
            <a:pPr marL="360000" indent="-360000">
              <a:spcBef>
                <a:spcPts val="600"/>
              </a:spcBef>
              <a:spcAft>
                <a:spcPts val="1200"/>
              </a:spcAft>
            </a:pPr>
            <a:r>
              <a:rPr lang="en-US" sz="2000" dirty="0" smtClean="0">
                <a:latin typeface="Helvetica" pitchFamily="34" charset="0"/>
              </a:rPr>
              <a:t>Tour and office staff</a:t>
            </a:r>
          </a:p>
          <a:p>
            <a:pPr marL="360000" indent="-360000">
              <a:spcBef>
                <a:spcPts val="600"/>
              </a:spcBef>
              <a:spcAft>
                <a:spcPts val="1200"/>
              </a:spcAft>
            </a:pPr>
            <a:r>
              <a:rPr lang="en-US" sz="2000" dirty="0" smtClean="0">
                <a:latin typeface="Helvetica" pitchFamily="34" charset="0"/>
              </a:rPr>
              <a:t>Security staff</a:t>
            </a:r>
          </a:p>
          <a:p>
            <a:pPr marL="360000" indent="-360000">
              <a:spcBef>
                <a:spcPts val="600"/>
              </a:spcBef>
              <a:spcAft>
                <a:spcPts val="1200"/>
              </a:spcAft>
            </a:pPr>
            <a:r>
              <a:rPr lang="en-US" sz="2000" dirty="0" smtClean="0">
                <a:latin typeface="Helvetica" pitchFamily="34" charset="0"/>
              </a:rPr>
              <a:t>Customers</a:t>
            </a:r>
          </a:p>
          <a:p>
            <a:pPr marL="360000" indent="-360000">
              <a:spcBef>
                <a:spcPts val="600"/>
              </a:spcBef>
              <a:spcAft>
                <a:spcPts val="1200"/>
              </a:spcAft>
            </a:pPr>
            <a:r>
              <a:rPr lang="en-US" sz="2000" dirty="0" smtClean="0">
                <a:latin typeface="Helvetica" pitchFamily="34" charset="0"/>
              </a:rPr>
              <a:t>External providers</a:t>
            </a:r>
          </a:p>
          <a:p>
            <a:pPr marL="360000" indent="-360000">
              <a:spcBef>
                <a:spcPts val="600"/>
              </a:spcBef>
              <a:spcAft>
                <a:spcPts val="1200"/>
              </a:spcAft>
            </a:pPr>
            <a:r>
              <a:rPr lang="en-US" sz="2000" dirty="0" smtClean="0">
                <a:latin typeface="Helvetica" pitchFamily="34" charset="0"/>
              </a:rPr>
              <a:t>Authorities</a:t>
            </a:r>
          </a:p>
          <a:p>
            <a:pPr marL="360000" indent="-360000">
              <a:spcBef>
                <a:spcPts val="600"/>
              </a:spcBef>
              <a:spcAft>
                <a:spcPts val="1200"/>
              </a:spcAft>
            </a:pPr>
            <a:r>
              <a:rPr lang="en-US" sz="2000" dirty="0" smtClean="0">
                <a:latin typeface="Helvetica" pitchFamily="34" charset="0"/>
              </a:rPr>
              <a:t>Industry peak bodies.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162</a:t>
            </a:fld>
            <a:endParaRPr lang="en-US" dirty="0">
              <a:latin typeface="Helvetica" pitchFamily="34" charset="0"/>
            </a:endParaRPr>
          </a:p>
        </p:txBody>
      </p:sp>
      <p:pic>
        <p:nvPicPr>
          <p:cNvPr id="6" name="Picture 5"/>
          <p:cNvPicPr>
            <a:picLocks noChangeAspect="1"/>
          </p:cNvPicPr>
          <p:nvPr/>
        </p:nvPicPr>
        <p:blipFill rotWithShape="1">
          <a:blip r:embed="rId3" cstate="print">
            <a:extLst>
              <a:ext uri="{28A0092B-C50C-407E-A947-70E740481C1C}">
                <a14:useLocalDpi xmlns="" xmlns:a14="http://schemas.microsoft.com/office/drawing/2010/main" val="0"/>
              </a:ext>
            </a:extLst>
          </a:blip>
          <a:srcRect l="20075" t="13357" r="16138"/>
          <a:stretch/>
        </p:blipFill>
        <p:spPr>
          <a:xfrm>
            <a:off x="5436096" y="2420888"/>
            <a:ext cx="2942260" cy="257670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Seek feedback on security and theft issues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Feedback may be obtained through:</a:t>
            </a:r>
          </a:p>
          <a:p>
            <a:pPr marL="360000" indent="-360000">
              <a:spcBef>
                <a:spcPts val="600"/>
              </a:spcBef>
              <a:spcAft>
                <a:spcPts val="1200"/>
              </a:spcAft>
            </a:pPr>
            <a:r>
              <a:rPr lang="en-US" sz="2000" dirty="0" smtClean="0">
                <a:latin typeface="Helvetica" pitchFamily="34" charset="0"/>
              </a:rPr>
              <a:t>Verbal feedback</a:t>
            </a:r>
          </a:p>
          <a:p>
            <a:pPr marL="360000" indent="-360000">
              <a:spcBef>
                <a:spcPts val="600"/>
              </a:spcBef>
              <a:spcAft>
                <a:spcPts val="1200"/>
              </a:spcAft>
            </a:pPr>
            <a:r>
              <a:rPr lang="en-US" sz="2000" dirty="0" smtClean="0">
                <a:latin typeface="Helvetica" pitchFamily="34" charset="0"/>
              </a:rPr>
              <a:t>Written feedback</a:t>
            </a:r>
          </a:p>
          <a:p>
            <a:pPr marL="360000" indent="-360000">
              <a:spcBef>
                <a:spcPts val="600"/>
              </a:spcBef>
              <a:spcAft>
                <a:spcPts val="1200"/>
              </a:spcAft>
            </a:pPr>
            <a:r>
              <a:rPr lang="en-US" sz="2000" dirty="0" smtClean="0">
                <a:latin typeface="Helvetica" pitchFamily="34" charset="0"/>
              </a:rPr>
              <a:t>Photographic or moving image evidence.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5076056" y="1844824"/>
            <a:ext cx="2520000" cy="3780000"/>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theft minimisation policy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608512"/>
          </a:xfrm>
        </p:spPr>
        <p:txBody>
          <a:bodyPr>
            <a:normAutofit/>
          </a:bodyPr>
          <a:lstStyle/>
          <a:p>
            <a:pPr marL="0" indent="0">
              <a:spcBef>
                <a:spcPts val="600"/>
              </a:spcBef>
              <a:spcAft>
                <a:spcPts val="1200"/>
              </a:spcAft>
              <a:buNone/>
            </a:pPr>
            <a:r>
              <a:rPr lang="en-US" sz="2000" dirty="0" smtClean="0">
                <a:latin typeface="Helvetica" pitchFamily="34" charset="0"/>
              </a:rPr>
              <a:t>Basic requirements for all policies and procedures – they must be:</a:t>
            </a:r>
          </a:p>
          <a:p>
            <a:pPr marL="360000" indent="-360000">
              <a:spcBef>
                <a:spcPts val="600"/>
              </a:spcBef>
              <a:spcAft>
                <a:spcPts val="1200"/>
              </a:spcAft>
            </a:pPr>
            <a:r>
              <a:rPr lang="en-US" sz="2000" dirty="0" smtClean="0">
                <a:latin typeface="Helvetica" pitchFamily="34" charset="0"/>
              </a:rPr>
              <a:t>Reviewed on a regular basis</a:t>
            </a:r>
          </a:p>
          <a:p>
            <a:pPr marL="360000" indent="-360000">
              <a:spcBef>
                <a:spcPts val="600"/>
              </a:spcBef>
              <a:spcAft>
                <a:spcPts val="1200"/>
              </a:spcAft>
            </a:pPr>
            <a:r>
              <a:rPr lang="en-US" sz="2000" dirty="0" smtClean="0">
                <a:latin typeface="Helvetica" pitchFamily="34" charset="0"/>
              </a:rPr>
              <a:t>Reviewed after incident/event</a:t>
            </a:r>
          </a:p>
          <a:p>
            <a:pPr marL="360000" indent="-360000">
              <a:spcBef>
                <a:spcPts val="600"/>
              </a:spcBef>
              <a:spcAft>
                <a:spcPts val="1200"/>
              </a:spcAft>
            </a:pPr>
            <a:r>
              <a:rPr lang="en-US" sz="2000" dirty="0" smtClean="0">
                <a:latin typeface="Helvetica" pitchFamily="34" charset="0"/>
              </a:rPr>
              <a:t>Reviewed by nominated person/s</a:t>
            </a:r>
          </a:p>
          <a:p>
            <a:pPr marL="360000" indent="-360000">
              <a:spcBef>
                <a:spcPts val="600"/>
              </a:spcBef>
              <a:spcAft>
                <a:spcPts val="1200"/>
              </a:spcAft>
            </a:pPr>
            <a:r>
              <a:rPr lang="en-US" sz="2000" dirty="0" smtClean="0">
                <a:latin typeface="Helvetica" pitchFamily="34" charset="0"/>
              </a:rPr>
              <a:t>Revised as necessary</a:t>
            </a:r>
          </a:p>
          <a:p>
            <a:pPr marL="360000" indent="-360000">
              <a:spcBef>
                <a:spcPts val="600"/>
              </a:spcBef>
              <a:spcAft>
                <a:spcPts val="1200"/>
              </a:spcAft>
            </a:pPr>
            <a:r>
              <a:rPr lang="en-US" sz="2000" dirty="0" smtClean="0">
                <a:latin typeface="Helvetica" pitchFamily="34" charset="0"/>
              </a:rPr>
              <a:t>Presented in revised draft form for approval.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tretch>
            <a:fillRect/>
          </a:stretch>
        </p:blipFill>
        <p:spPr>
          <a:xfrm>
            <a:off x="4835625" y="2019519"/>
            <a:ext cx="3698775" cy="3060000"/>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theft minimisation policy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824536" cy="4433224"/>
          </a:xfrm>
        </p:spPr>
        <p:txBody>
          <a:bodyPr>
            <a:normAutofit lnSpcReduction="10000"/>
          </a:bodyPr>
          <a:lstStyle/>
          <a:p>
            <a:pPr marL="0" indent="0">
              <a:spcBef>
                <a:spcPts val="600"/>
              </a:spcBef>
              <a:spcAft>
                <a:spcPts val="600"/>
              </a:spcAft>
              <a:buNone/>
            </a:pPr>
            <a:r>
              <a:rPr lang="en-US" sz="2000" dirty="0" smtClean="0">
                <a:latin typeface="Helvetica" pitchFamily="34" charset="0"/>
              </a:rPr>
              <a:t>The review process entails:</a:t>
            </a:r>
          </a:p>
          <a:p>
            <a:pPr marL="360000" indent="-360000">
              <a:spcBef>
                <a:spcPts val="600"/>
              </a:spcBef>
              <a:spcAft>
                <a:spcPts val="600"/>
              </a:spcAft>
            </a:pPr>
            <a:r>
              <a:rPr lang="en-US" sz="2000" dirty="0" smtClean="0">
                <a:latin typeface="Helvetica" pitchFamily="34" charset="0"/>
              </a:rPr>
              <a:t>Reading and understanding </a:t>
            </a:r>
            <a:r>
              <a:rPr lang="en-US" sz="2000" i="1" dirty="0" smtClean="0">
                <a:latin typeface="Helvetica" pitchFamily="34" charset="0"/>
              </a:rPr>
              <a:t>existing </a:t>
            </a:r>
            <a:r>
              <a:rPr lang="en-US" sz="2000" dirty="0" smtClean="0">
                <a:latin typeface="Helvetica" pitchFamily="34" charset="0"/>
              </a:rPr>
              <a:t>protocols</a:t>
            </a:r>
          </a:p>
          <a:p>
            <a:pPr marL="360000" indent="-360000">
              <a:spcBef>
                <a:spcPts val="600"/>
              </a:spcBef>
              <a:spcAft>
                <a:spcPts val="600"/>
              </a:spcAft>
            </a:pPr>
            <a:r>
              <a:rPr lang="en-US" sz="2000" dirty="0" smtClean="0">
                <a:latin typeface="Helvetica" pitchFamily="34" charset="0"/>
              </a:rPr>
              <a:t>Analysing effectiveness of current protocols</a:t>
            </a:r>
          </a:p>
          <a:p>
            <a:pPr marL="360000" indent="-360000">
              <a:spcBef>
                <a:spcPts val="600"/>
              </a:spcBef>
              <a:spcAft>
                <a:spcPts val="600"/>
              </a:spcAft>
            </a:pPr>
            <a:r>
              <a:rPr lang="en-US" sz="2000" dirty="0" smtClean="0">
                <a:latin typeface="Helvetica" pitchFamily="34" charset="0"/>
              </a:rPr>
              <a:t>Identifying the environment (customers, markets, regulations, competition) the business is </a:t>
            </a:r>
            <a:br>
              <a:rPr lang="en-US" sz="2000" dirty="0" smtClean="0">
                <a:latin typeface="Helvetica" pitchFamily="34" charset="0"/>
              </a:rPr>
            </a:br>
            <a:r>
              <a:rPr lang="en-US" sz="2000" dirty="0" smtClean="0">
                <a:latin typeface="Helvetica" pitchFamily="34" charset="0"/>
              </a:rPr>
              <a:t>operating in</a:t>
            </a:r>
          </a:p>
          <a:p>
            <a:pPr marL="360000" indent="-360000">
              <a:spcBef>
                <a:spcPts val="600"/>
              </a:spcBef>
              <a:spcAft>
                <a:spcPts val="600"/>
              </a:spcAft>
            </a:pPr>
            <a:r>
              <a:rPr lang="en-US" sz="2000" dirty="0" smtClean="0">
                <a:latin typeface="Helvetica" pitchFamily="34" charset="0"/>
              </a:rPr>
              <a:t>Evaluating applicability/relevance of what currently exists</a:t>
            </a:r>
          </a:p>
          <a:p>
            <a:pPr marL="360000" indent="-360000">
              <a:spcBef>
                <a:spcPts val="600"/>
              </a:spcBef>
              <a:spcAft>
                <a:spcPts val="600"/>
              </a:spcAft>
            </a:pPr>
            <a:r>
              <a:rPr lang="en-US" sz="2000" dirty="0" smtClean="0">
                <a:latin typeface="Helvetica" pitchFamily="34" charset="0"/>
              </a:rPr>
              <a:t>Identifying what needs to change and </a:t>
            </a:r>
            <a:r>
              <a:rPr lang="en-US" sz="2000" b="1" i="1" dirty="0" smtClean="0">
                <a:latin typeface="Helvetica" pitchFamily="34" charset="0"/>
              </a:rPr>
              <a:t>why </a:t>
            </a:r>
            <a:r>
              <a:rPr lang="en-US" sz="2000" dirty="0" smtClean="0">
                <a:latin typeface="Helvetica" pitchFamily="34" charset="0"/>
              </a:rPr>
              <a:t>that change is necessary.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165</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 xmlns:a14="http://schemas.microsoft.com/office/drawing/2010/main"/>
              </a:ext>
            </a:extLst>
          </a:blip>
          <a:srcRect/>
          <a:stretch/>
        </p:blipFill>
        <p:spPr>
          <a:xfrm>
            <a:off x="6156176" y="2348880"/>
            <a:ext cx="2385619" cy="3060000"/>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theft minimisation policy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Keys in reviewing policies and procedures:</a:t>
            </a:r>
          </a:p>
          <a:p>
            <a:pPr marL="360000" indent="-360000">
              <a:spcBef>
                <a:spcPts val="600"/>
              </a:spcBef>
              <a:spcAft>
                <a:spcPts val="1200"/>
              </a:spcAft>
            </a:pPr>
            <a:r>
              <a:rPr lang="en-US" sz="2000" dirty="0" smtClean="0">
                <a:latin typeface="Helvetica" pitchFamily="34" charset="0"/>
              </a:rPr>
              <a:t>Review business plans</a:t>
            </a:r>
          </a:p>
          <a:p>
            <a:pPr marL="360000" indent="-360000">
              <a:spcBef>
                <a:spcPts val="600"/>
              </a:spcBef>
              <a:spcAft>
                <a:spcPts val="1200"/>
              </a:spcAft>
            </a:pPr>
            <a:r>
              <a:rPr lang="en-US" sz="2000" dirty="0" smtClean="0">
                <a:latin typeface="Helvetica" pitchFamily="34" charset="0"/>
              </a:rPr>
              <a:t>Observe current operations</a:t>
            </a:r>
          </a:p>
          <a:p>
            <a:pPr marL="360000" indent="-360000">
              <a:spcBef>
                <a:spcPts val="600"/>
              </a:spcBef>
              <a:spcAft>
                <a:spcPts val="1200"/>
              </a:spcAft>
            </a:pPr>
            <a:r>
              <a:rPr lang="en-US" sz="2000" dirty="0" smtClean="0">
                <a:latin typeface="Helvetica" pitchFamily="34" charset="0"/>
              </a:rPr>
              <a:t>Participate in the tours, trips and travel conducted by the business</a:t>
            </a:r>
          </a:p>
          <a:p>
            <a:pPr marL="360000" indent="-360000">
              <a:spcBef>
                <a:spcPts val="600"/>
              </a:spcBef>
              <a:spcAft>
                <a:spcPts val="1200"/>
              </a:spcAft>
            </a:pPr>
            <a:r>
              <a:rPr lang="en-US" sz="2000" dirty="0" smtClean="0">
                <a:latin typeface="Helvetica" pitchFamily="34" charset="0"/>
              </a:rPr>
              <a:t>Use ‘Mystery Shoppers’</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724128" y="1988840"/>
            <a:ext cx="2040000" cy="30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theft minimisation policy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Talk to staff and stakeholders</a:t>
            </a:r>
          </a:p>
          <a:p>
            <a:pPr marL="360000" indent="-360000">
              <a:spcBef>
                <a:spcPts val="600"/>
              </a:spcBef>
              <a:spcAft>
                <a:spcPts val="1200"/>
              </a:spcAft>
            </a:pPr>
            <a:r>
              <a:rPr lang="en-US" sz="2000" dirty="0" smtClean="0">
                <a:latin typeface="Helvetica" pitchFamily="34" charset="0"/>
              </a:rPr>
              <a:t>Confer with industry contacts/networks of contacts</a:t>
            </a:r>
          </a:p>
          <a:p>
            <a:pPr marL="360000" indent="-360000">
              <a:spcBef>
                <a:spcPts val="600"/>
              </a:spcBef>
              <a:spcAft>
                <a:spcPts val="1200"/>
              </a:spcAft>
            </a:pPr>
            <a:r>
              <a:rPr lang="en-US" sz="2000" dirty="0" smtClean="0">
                <a:latin typeface="Helvetica" pitchFamily="34" charset="0"/>
              </a:rPr>
              <a:t>Reference relevant industry standards</a:t>
            </a:r>
          </a:p>
          <a:p>
            <a:pPr marL="360000" indent="-360000">
              <a:spcBef>
                <a:spcPts val="600"/>
              </a:spcBef>
              <a:spcAft>
                <a:spcPts val="1200"/>
              </a:spcAft>
            </a:pPr>
            <a:r>
              <a:rPr lang="en-US" sz="2000" dirty="0" smtClean="0">
                <a:latin typeface="Helvetica" pitchFamily="34" charset="0"/>
              </a:rPr>
              <a:t>Use outside expertise</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5148064" y="2505797"/>
            <a:ext cx="2036165" cy="3060000"/>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theft minimisation policy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Survey customers</a:t>
            </a:r>
          </a:p>
          <a:p>
            <a:pPr marL="360000" indent="-360000">
              <a:spcBef>
                <a:spcPts val="600"/>
              </a:spcBef>
              <a:spcAft>
                <a:spcPts val="1200"/>
              </a:spcAft>
            </a:pPr>
            <a:r>
              <a:rPr lang="en-US" sz="2000" dirty="0" smtClean="0">
                <a:latin typeface="Helvetica" pitchFamily="34" charset="0"/>
              </a:rPr>
              <a:t>Identify, consider and compare alternatives for action.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a:off x="4913400" y="1988840"/>
            <a:ext cx="3240000" cy="21600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Amend theft minimisation protocols, as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Important considerations when amending protocols:</a:t>
            </a:r>
          </a:p>
          <a:p>
            <a:pPr marL="360000" indent="-360000">
              <a:spcBef>
                <a:spcPts val="600"/>
              </a:spcBef>
              <a:spcAft>
                <a:spcPts val="1200"/>
              </a:spcAft>
            </a:pPr>
            <a:r>
              <a:rPr lang="en-US" sz="2200" dirty="0" smtClean="0">
                <a:latin typeface="Helvetica" pitchFamily="34" charset="0"/>
              </a:rPr>
              <a:t>All action taken must be supported by evidence</a:t>
            </a:r>
          </a:p>
          <a:p>
            <a:pPr marL="360000" indent="-360000">
              <a:spcBef>
                <a:spcPts val="600"/>
              </a:spcBef>
              <a:spcAft>
                <a:spcPts val="1200"/>
              </a:spcAft>
            </a:pPr>
            <a:r>
              <a:rPr lang="en-US" sz="2200" dirty="0" smtClean="0">
                <a:latin typeface="Helvetica" pitchFamily="34" charset="0"/>
              </a:rPr>
              <a:t>Action taken must be approved by management</a:t>
            </a:r>
          </a:p>
          <a:p>
            <a:pPr marL="360000" indent="-360000">
              <a:spcBef>
                <a:spcPts val="600"/>
              </a:spcBef>
              <a:spcAft>
                <a:spcPts val="1200"/>
              </a:spcAft>
            </a:pPr>
            <a:r>
              <a:rPr lang="en-US" sz="2200" dirty="0" smtClean="0">
                <a:latin typeface="Helvetica" pitchFamily="34" charset="0"/>
              </a:rPr>
              <a:t>A cost-benefit analysis may be required</a:t>
            </a:r>
          </a:p>
          <a:p>
            <a:pPr marL="360000" indent="-360000">
              <a:spcBef>
                <a:spcPts val="600"/>
              </a:spcBef>
              <a:spcAft>
                <a:spcPts val="1200"/>
              </a:spcAft>
            </a:pPr>
            <a:r>
              <a:rPr lang="en-US" sz="2200" dirty="0" smtClean="0">
                <a:latin typeface="Helvetica" pitchFamily="34" charset="0"/>
              </a:rPr>
              <a:t>Changes need to be communicated</a:t>
            </a:r>
          </a:p>
          <a:p>
            <a:pPr marL="360000" indent="-360000">
              <a:spcBef>
                <a:spcPts val="600"/>
              </a:spcBef>
              <a:spcAft>
                <a:spcPts val="1200"/>
              </a:spcAft>
            </a:pPr>
            <a:r>
              <a:rPr lang="en-US" sz="2200" dirty="0" smtClean="0">
                <a:latin typeface="Helvetica" pitchFamily="34" charset="0"/>
              </a:rPr>
              <a:t>Version controls need to be applied.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169</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CFCFE"/>
              </a:clrFrom>
              <a:clrTo>
                <a:srgbClr val="FCFCFE">
                  <a:alpha val="0"/>
                </a:srgbClr>
              </a:clrTo>
            </a:clrChange>
            <a:extLst>
              <a:ext uri="{28A0092B-C50C-407E-A947-70E740481C1C}">
                <a14:useLocalDpi xmlns="" xmlns:a14="http://schemas.microsoft.com/office/drawing/2010/main"/>
              </a:ext>
            </a:extLst>
          </a:blip>
          <a:srcRect/>
          <a:stretch/>
        </p:blipFill>
        <p:spPr>
          <a:xfrm>
            <a:off x="6012160" y="1909800"/>
            <a:ext cx="1512000" cy="3780000"/>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Amend theft minimisation protocols, as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Practical action to amend theft minimisation protocols:</a:t>
            </a:r>
          </a:p>
          <a:p>
            <a:pPr marL="360000" indent="-360000">
              <a:spcBef>
                <a:spcPts val="600"/>
              </a:spcBef>
              <a:spcAft>
                <a:spcPts val="1200"/>
              </a:spcAft>
            </a:pPr>
            <a:r>
              <a:rPr lang="en-US" sz="2200" dirty="0" smtClean="0">
                <a:latin typeface="Helvetica" pitchFamily="34" charset="0"/>
              </a:rPr>
              <a:t>Upgrading equipment and systems</a:t>
            </a:r>
          </a:p>
          <a:p>
            <a:pPr marL="360000" indent="-360000">
              <a:spcBef>
                <a:spcPts val="600"/>
              </a:spcBef>
              <a:spcAft>
                <a:spcPts val="1200"/>
              </a:spcAft>
            </a:pPr>
            <a:r>
              <a:rPr lang="en-US" sz="2200" dirty="0" smtClean="0">
                <a:latin typeface="Helvetica" pitchFamily="34" charset="0"/>
              </a:rPr>
              <a:t>Revising policies and procedures to reflect changed circumstances</a:t>
            </a:r>
          </a:p>
          <a:p>
            <a:pPr marL="360000" indent="-360000">
              <a:spcBef>
                <a:spcPts val="600"/>
              </a:spcBef>
              <a:spcAft>
                <a:spcPts val="1200"/>
              </a:spcAft>
            </a:pPr>
            <a:r>
              <a:rPr lang="en-US" sz="2200" dirty="0" smtClean="0">
                <a:latin typeface="Helvetica" pitchFamily="34" charset="0"/>
              </a:rPr>
              <a:t>Disseminating new protocols</a:t>
            </a:r>
          </a:p>
          <a:p>
            <a:pPr marL="360000" indent="-360000">
              <a:spcBef>
                <a:spcPts val="600"/>
              </a:spcBef>
              <a:spcAft>
                <a:spcPts val="1200"/>
              </a:spcAft>
            </a:pPr>
            <a:r>
              <a:rPr lang="en-US" sz="2200" dirty="0" smtClean="0">
                <a:latin typeface="Helvetica" pitchFamily="34" charset="0"/>
              </a:rPr>
              <a:t>Integrating new protocols into standard workplace operations and practices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170</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CFCFC"/>
              </a:clrFrom>
              <a:clrTo>
                <a:srgbClr val="FCFCFC">
                  <a:alpha val="0"/>
                </a:srgbClr>
              </a:clrTo>
            </a:clrChange>
            <a:extLst>
              <a:ext uri="{28A0092B-C50C-407E-A947-70E740481C1C}">
                <a14:useLocalDpi xmlns="" xmlns:a14="http://schemas.microsoft.com/office/drawing/2010/main"/>
              </a:ext>
            </a:extLst>
          </a:blip>
          <a:srcRect/>
          <a:stretch/>
        </p:blipFill>
        <p:spPr>
          <a:xfrm>
            <a:off x="6181050" y="1922816"/>
            <a:ext cx="1415286" cy="3774096"/>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Amend theft minimisation protocols, as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888432" cy="4093915"/>
          </a:xfrm>
        </p:spPr>
        <p:txBody>
          <a:bodyPr>
            <a:normAutofit/>
          </a:bodyPr>
          <a:lstStyle/>
          <a:p>
            <a:pPr marL="360000" indent="-360000">
              <a:spcBef>
                <a:spcPts val="600"/>
              </a:spcBef>
              <a:spcAft>
                <a:spcPts val="1200"/>
              </a:spcAft>
            </a:pPr>
            <a:r>
              <a:rPr lang="en-US" sz="2000" dirty="0" smtClean="0">
                <a:latin typeface="Helvetica" pitchFamily="34" charset="0"/>
              </a:rPr>
              <a:t>Altering the role of security staff</a:t>
            </a:r>
          </a:p>
          <a:p>
            <a:pPr marL="360000" indent="-360000">
              <a:spcBef>
                <a:spcPts val="600"/>
              </a:spcBef>
              <a:spcAft>
                <a:spcPts val="1200"/>
              </a:spcAft>
            </a:pPr>
            <a:r>
              <a:rPr lang="en-US" sz="2000" dirty="0" smtClean="0">
                <a:latin typeface="Helvetica" pitchFamily="34" charset="0"/>
              </a:rPr>
              <a:t>Engaging external security professionals.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171</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 xmlns:a14="http://schemas.microsoft.com/office/drawing/2010/main" val="0"/>
              </a:ext>
            </a:extLst>
          </a:blip>
          <a:srcRect l="20075" t="13357" r="16138"/>
          <a:stretch/>
        </p:blipFill>
        <p:spPr>
          <a:xfrm>
            <a:off x="4572000" y="2004426"/>
            <a:ext cx="2942260" cy="257670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When monitoring theft-related issues:</a:t>
            </a:r>
          </a:p>
          <a:p>
            <a:r>
              <a:rPr lang="en-AU" sz="2000" dirty="0" smtClean="0">
                <a:latin typeface="Helvetica" pitchFamily="34" charset="0"/>
              </a:rPr>
              <a:t>Respond promptly to reported/identified theft</a:t>
            </a:r>
          </a:p>
          <a:p>
            <a:r>
              <a:rPr lang="en-AU" sz="2000" dirty="0" smtClean="0">
                <a:latin typeface="Helvetica" pitchFamily="34" charset="0"/>
              </a:rPr>
              <a:t>Personal safety is the priority – protect people above property</a:t>
            </a:r>
          </a:p>
          <a:p>
            <a:r>
              <a:rPr lang="en-AU" sz="2000" dirty="0" smtClean="0">
                <a:latin typeface="Helvetica" pitchFamily="34" charset="0"/>
              </a:rPr>
              <a:t>Investigate the event</a:t>
            </a:r>
            <a:endParaRPr lang="en-US" sz="20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4839160" y="2015088"/>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Capture evidence</a:t>
            </a:r>
          </a:p>
          <a:p>
            <a:r>
              <a:rPr lang="en-AU" sz="2000" dirty="0" smtClean="0">
                <a:latin typeface="Helvetica" pitchFamily="34" charset="0"/>
              </a:rPr>
              <a:t>Factor in the impact of the event on the tour (at the moment) and on the business (into the future)</a:t>
            </a:r>
          </a:p>
          <a:p>
            <a:r>
              <a:rPr lang="en-AU" sz="2000" dirty="0" smtClean="0">
                <a:latin typeface="Helvetica" pitchFamily="34" charset="0"/>
              </a:rPr>
              <a:t>Be prepared to call for external assistance</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4788024" y="1772816"/>
            <a:ext cx="2568240" cy="3240000"/>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Take action to prevent recurrence</a:t>
            </a:r>
          </a:p>
          <a:p>
            <a:r>
              <a:rPr lang="en-AU" sz="2000" dirty="0" smtClean="0">
                <a:latin typeface="Helvetica" pitchFamily="34" charset="0"/>
              </a:rPr>
              <a:t>Be prepared to take legal action in response to an event</a:t>
            </a:r>
          </a:p>
          <a:p>
            <a:r>
              <a:rPr lang="en-AU" sz="2000" dirty="0" smtClean="0">
                <a:latin typeface="Helvetica" pitchFamily="34" charset="0"/>
              </a:rPr>
              <a:t>Constantly monitor changes to operations, the workplace and the general business environment to identify potential for extra/added theft threats</a:t>
            </a:r>
            <a:endParaRPr lang="en-US" sz="20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148064" y="1844824"/>
            <a:ext cx="2460269" cy="3240000"/>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Think ‘prevention’ as the primary response</a:t>
            </a:r>
          </a:p>
          <a:p>
            <a:r>
              <a:rPr lang="en-AU" sz="2000" dirty="0" smtClean="0">
                <a:latin typeface="Helvetica" pitchFamily="34" charset="0"/>
              </a:rPr>
              <a:t>Obtain feedback from others about threats and possible prevention and solutions</a:t>
            </a:r>
          </a:p>
          <a:p>
            <a:r>
              <a:rPr lang="en-AU" sz="2000" dirty="0" smtClean="0">
                <a:latin typeface="Helvetica" pitchFamily="34" charset="0"/>
              </a:rPr>
              <a:t>Undertake regular reviews of all relevant policies and procedures</a:t>
            </a:r>
          </a:p>
          <a:p>
            <a:r>
              <a:rPr lang="en-AU" sz="2000" dirty="0" smtClean="0">
                <a:latin typeface="Helvetica" pitchFamily="34" charset="0"/>
              </a:rPr>
              <a:t>Revise, replace or initiate policies and procedures as/if required.</a:t>
            </a: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 xmlns:a14="http://schemas.microsoft.com/office/drawing/2010/main" val="0"/>
              </a:ext>
            </a:extLst>
          </a:blip>
          <a:stretch>
            <a:fillRect/>
          </a:stretch>
        </p:blipFill>
        <p:spPr>
          <a:xfrm>
            <a:off x="4860032" y="1844824"/>
            <a:ext cx="2451370" cy="3240000"/>
          </a:xfrm>
          <a:prstGeom prst="rect">
            <a:avLst/>
          </a:prstGeom>
        </p:spPr>
      </p:pic>
    </p:spTree>
  </p:cSld>
  <p:clrMapOvr>
    <a:masterClrMapping/>
  </p:clrMapOvr>
</p:sld>
</file>

<file path=ppt/theme/theme1.xml><?xml version="1.0" encoding="utf-8"?>
<a:theme xmlns:a="http://schemas.openxmlformats.org/drawingml/2006/main" name="PPT_Template_11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PPT_Template_110214</Template>
  <TotalTime>4492</TotalTime>
  <Words>28675</Words>
  <Application>Microsoft Office PowerPoint</Application>
  <PresentationFormat>On-screen Show (4:3)</PresentationFormat>
  <Paragraphs>2945</Paragraphs>
  <Slides>175</Slides>
  <Notes>175</Notes>
  <HiddenSlides>0</HiddenSlides>
  <MMClips>0</MMClips>
  <ScaleCrop>false</ScaleCrop>
  <HeadingPairs>
    <vt:vector size="4" baseType="variant">
      <vt:variant>
        <vt:lpstr>Theme</vt:lpstr>
      </vt:variant>
      <vt:variant>
        <vt:i4>1</vt:i4>
      </vt:variant>
      <vt:variant>
        <vt:lpstr>Slide Titles</vt:lpstr>
      </vt:variant>
      <vt:variant>
        <vt:i4>175</vt:i4>
      </vt:variant>
    </vt:vector>
  </HeadingPairs>
  <TitlesOfParts>
    <vt:vector size="176" baseType="lpstr">
      <vt:lpstr>PPT_Template_110214</vt:lpstr>
      <vt:lpstr>MINIMISE THEFT</vt:lpstr>
      <vt:lpstr>Minimise theft</vt:lpstr>
      <vt:lpstr>Assessment</vt:lpstr>
      <vt:lpstr>Element 1 – Define the theft risks facing the organisation</vt:lpstr>
      <vt:lpstr>Identify internal theft opportunities</vt:lpstr>
      <vt:lpstr>Identify internal theft opportunities</vt:lpstr>
      <vt:lpstr>Identify internal theft opportunities</vt:lpstr>
      <vt:lpstr>Identify personnel who may be involved in internal theft</vt:lpstr>
      <vt:lpstr>Identify personnel who may be involved in internal theft</vt:lpstr>
      <vt:lpstr>Identify personnel who may be involved in internal theft</vt:lpstr>
      <vt:lpstr>Identify external theft opportunities</vt:lpstr>
      <vt:lpstr>Identify external theft opportunities</vt:lpstr>
      <vt:lpstr>Identify external theft opportunities</vt:lpstr>
      <vt:lpstr>Identify personnel who may be involved in external theft</vt:lpstr>
      <vt:lpstr>Identify on tour threats</vt:lpstr>
      <vt:lpstr>Identify on tour threats</vt:lpstr>
      <vt:lpstr>Identify on tour threats</vt:lpstr>
      <vt:lpstr>Summary – Element 1</vt:lpstr>
      <vt:lpstr>Summary – Element 1</vt:lpstr>
      <vt:lpstr>Summary – Element 1</vt:lpstr>
      <vt:lpstr>Element 2 – Establish theft minimisation protocols</vt:lpstr>
      <vt:lpstr>Element 2 – Establish theft minimisation protocols</vt:lpstr>
      <vt:lpstr>Research information relating to theft minimisation</vt:lpstr>
      <vt:lpstr>Research information relating to theft minimisation</vt:lpstr>
      <vt:lpstr>Research information relating to theft minimisation</vt:lpstr>
      <vt:lpstr>Review existing theft minimisation protocols</vt:lpstr>
      <vt:lpstr>Review existing theft minimisation protocols</vt:lpstr>
      <vt:lpstr>Identify security systems and equipment to assist</vt:lpstr>
      <vt:lpstr>Identify security systems and equipment to assist</vt:lpstr>
      <vt:lpstr>Identify security systems and equipment to assist</vt:lpstr>
      <vt:lpstr>Identify security systems and equipment to assist</vt:lpstr>
      <vt:lpstr>Identify security systems and equipment to assist</vt:lpstr>
      <vt:lpstr>Generate organisational theft policy</vt:lpstr>
      <vt:lpstr>Generate organisational theft policy</vt:lpstr>
      <vt:lpstr>Generate organisational theft policy</vt:lpstr>
      <vt:lpstr>Generate organisational theft policy</vt:lpstr>
      <vt:lpstr>Generate organisational theft policy</vt:lpstr>
      <vt:lpstr>Generate organisational theft policy</vt:lpstr>
      <vt:lpstr>Generate organisational theft policy</vt:lpstr>
      <vt:lpstr>Prepare theft-minimisation procedures</vt:lpstr>
      <vt:lpstr>Prepare theft-minimisation procedures</vt:lpstr>
      <vt:lpstr>Prepare theft-minimisation procedures</vt:lpstr>
      <vt:lpstr>Prepare theft-minimisation procedures</vt:lpstr>
      <vt:lpstr>Prepare theft-minimisation procedures</vt:lpstr>
      <vt:lpstr>Prepare theft-minimisation procedures</vt:lpstr>
      <vt:lpstr>Prepare theft-minimisation procedures</vt:lpstr>
      <vt:lpstr>Prepare theft-minimisation procedures</vt:lpstr>
      <vt:lpstr>Ensure compliance with imposed requirements</vt:lpstr>
      <vt:lpstr>Ensure compliance with imposed requirements</vt:lpstr>
      <vt:lpstr>Ensure compliance with imposed requirements</vt:lpstr>
      <vt:lpstr>Ensure compliance with imposed requirements</vt:lpstr>
      <vt:lpstr>Ensure compliance with imposed requirements</vt:lpstr>
      <vt:lpstr>Ensure compliance with imposed requirements</vt:lpstr>
      <vt:lpstr>Ensure compliance with imposed requirements</vt:lpstr>
      <vt:lpstr>Ensure compliance with imposed requirements</vt:lpstr>
      <vt:lpstr>Ensure compliance with imposed requirements</vt:lpstr>
      <vt:lpstr>Ensure compliance with imposed requirements</vt:lpstr>
      <vt:lpstr>Produce documentation to support theft minimisation protocols</vt:lpstr>
      <vt:lpstr>Produce documentation to support theft minimisation protocols</vt:lpstr>
      <vt:lpstr>Produce documentation to support theft minimisation protocols</vt:lpstr>
      <vt:lpstr>Produce documentation to support theft minimisation protocols</vt:lpstr>
      <vt:lpstr>Trial and revise theft minimisation protocols</vt:lpstr>
      <vt:lpstr>Trial and revise theft minimisation protocols</vt:lpstr>
      <vt:lpstr>Trial and revise theft minimisation protocols</vt:lpstr>
      <vt:lpstr>Trial and revise theft minimisation protocols</vt:lpstr>
      <vt:lpstr>Trial and revise theft minimisation protocols</vt:lpstr>
      <vt:lpstr>Communicate theft minimisation protocols to staff</vt:lpstr>
      <vt:lpstr>Summary – Element 2</vt:lpstr>
      <vt:lpstr>Summary – Element 2</vt:lpstr>
      <vt:lpstr>Summary – Element 2</vt:lpstr>
      <vt:lpstr>Element 3 – Utilise internal and external theft minimisation protocols</vt:lpstr>
      <vt:lpstr>Element 3 – Utilise internal and external theft minimisation protocols</vt:lpstr>
      <vt:lpstr>Initiate and apply theft minimisation protocols</vt:lpstr>
      <vt:lpstr>Initiate and apply theft minimisation protocols</vt:lpstr>
      <vt:lpstr>Initiate and apply theft minimisation protocols</vt:lpstr>
      <vt:lpstr>Initiate and apply theft minimisation protocols</vt:lpstr>
      <vt:lpstr>Engage the service of Loss Prevention Officers</vt:lpstr>
      <vt:lpstr>Install and activate security systems and antitheft equipment</vt:lpstr>
      <vt:lpstr>Install and activate security systems and antitheft equipment</vt:lpstr>
      <vt:lpstr>Install and activate security systems and antitheft equipment</vt:lpstr>
      <vt:lpstr>Install and activate security systems and antitheft equipment</vt:lpstr>
      <vt:lpstr>Install and activate security systems and antitheft equipment</vt:lpstr>
      <vt:lpstr>Provide for special access and entry provisions</vt:lpstr>
      <vt:lpstr>Provide for special access and entry provisions</vt:lpstr>
      <vt:lpstr>Provide for special access and entry provisions</vt:lpstr>
      <vt:lpstr>Verify and validate all cash and stock transactions</vt:lpstr>
      <vt:lpstr>Verify and validate all cash and stock transactions</vt:lpstr>
      <vt:lpstr>Verify and validate all cash and stock transactions</vt:lpstr>
      <vt:lpstr>Verify and validate all cash and stock transactions</vt:lpstr>
      <vt:lpstr>Verify and validate all cash and stock transactions</vt:lpstr>
      <vt:lpstr>Verify and validate all cash and stock transactions</vt:lpstr>
      <vt:lpstr>Observe people to identify suspicious behaviour</vt:lpstr>
      <vt:lpstr>Observe people to identify suspicious behaviour</vt:lpstr>
      <vt:lpstr>Observe people to identify suspicious behaviour</vt:lpstr>
      <vt:lpstr>Observe people to identify suspicious behaviour</vt:lpstr>
      <vt:lpstr>Take action where theft is observed or believed to be occurring</vt:lpstr>
      <vt:lpstr>Take action where theft is observed or believed to be occurring</vt:lpstr>
      <vt:lpstr>Take action where theft is observed or believed to be occurring</vt:lpstr>
      <vt:lpstr>Take action where theft is observed or believed to be occurring</vt:lpstr>
      <vt:lpstr>Take action where theft is observed or believed to be occurring</vt:lpstr>
      <vt:lpstr>Take action where theft is observed or believed to be occurring</vt:lpstr>
      <vt:lpstr>Take action where theft is observed or believed to be occurring</vt:lpstr>
      <vt:lpstr>Take action where theft is observed or believed to be occurring</vt:lpstr>
      <vt:lpstr>Take action where theft is observed or believed to be occurring</vt:lpstr>
      <vt:lpstr>Summary – Element 3</vt:lpstr>
      <vt:lpstr>Summary – Element 3</vt:lpstr>
      <vt:lpstr>Summary – Element 3</vt:lpstr>
      <vt:lpstr>Summary – Element 3</vt:lpstr>
      <vt:lpstr>Element 4 – Provide theft minimisation advice and services to customers</vt:lpstr>
      <vt:lpstr>Develop information for travelling/on tour customers</vt:lpstr>
      <vt:lpstr>Develop information for travelling/on tour customers</vt:lpstr>
      <vt:lpstr>Develop information for travelling/on tour customers</vt:lpstr>
      <vt:lpstr>Develop information for travelling/on tour customers</vt:lpstr>
      <vt:lpstr>Develop information for travelling/on tour customers</vt:lpstr>
      <vt:lpstr>Develop information for travelling/on tour customers</vt:lpstr>
      <vt:lpstr>Develop information for travelling/on tour customers</vt:lpstr>
      <vt:lpstr>Develop information for travelling/on tour customers</vt:lpstr>
      <vt:lpstr>Develop information for travelling/on tour customers</vt:lpstr>
      <vt:lpstr>Develop information for travelling/on tour customers</vt:lpstr>
      <vt:lpstr>Develop information for travelling/on tour customers</vt:lpstr>
      <vt:lpstr>Develop information for travelling/on tour customers</vt:lpstr>
      <vt:lpstr>Develop information for travelling/on tour customers</vt:lpstr>
      <vt:lpstr>Disseminate customer theft minimisation advice</vt:lpstr>
      <vt:lpstr>Disseminate customer theft minimisation advice</vt:lpstr>
      <vt:lpstr>Provide hosting and escort services on tour</vt:lpstr>
      <vt:lpstr>Provide hosting and escort services on tour</vt:lpstr>
      <vt:lpstr>Provide hosting and escort services on tour</vt:lpstr>
      <vt:lpstr>Provide hosting and escort services on tour</vt:lpstr>
      <vt:lpstr>Provide hosting and escort services on tour</vt:lpstr>
      <vt:lpstr>Provide hosting and escort services on tour</vt:lpstr>
      <vt:lpstr>Provide on tour safe-keeping facilities</vt:lpstr>
      <vt:lpstr>Provide on tour safe-keeping facilities</vt:lpstr>
      <vt:lpstr>Provide on tour safe-keeping facilities</vt:lpstr>
      <vt:lpstr>Provide on tour safe-keeping facilities</vt:lpstr>
      <vt:lpstr>Summary – Element 4</vt:lpstr>
      <vt:lpstr>Summary – Element 4</vt:lpstr>
      <vt:lpstr>Summary – Element 4</vt:lpstr>
      <vt:lpstr>Element 5 - Monitor theft-related issues</vt:lpstr>
      <vt:lpstr>Monitor theft-related issues</vt:lpstr>
      <vt:lpstr>Investigate instances where theft has occurred</vt:lpstr>
      <vt:lpstr>Investigate instances where theft has occurred</vt:lpstr>
      <vt:lpstr>Investigate instances where theft has occurred</vt:lpstr>
      <vt:lpstr>Investigate instances where theft has occurred</vt:lpstr>
      <vt:lpstr>Investigate instances where theft has occurred</vt:lpstr>
      <vt:lpstr>Investigate instances where theft has occurred</vt:lpstr>
      <vt:lpstr>Investigate instances where theft has occurred</vt:lpstr>
      <vt:lpstr>Investigate instances where theft has occurred</vt:lpstr>
      <vt:lpstr>Investigate instances where theft has occurred</vt:lpstr>
      <vt:lpstr>Take legal action in response to identified theft events</vt:lpstr>
      <vt:lpstr>Take legal action in response to identified theft events</vt:lpstr>
      <vt:lpstr>Take legal action in response to identified theft events</vt:lpstr>
      <vt:lpstr>Identify changes to operations that affect theft potential</vt:lpstr>
      <vt:lpstr>Identify changes to operations that affect theft potential</vt:lpstr>
      <vt:lpstr>Identify changes to operations that affect theft potential</vt:lpstr>
      <vt:lpstr>Identify changes to operations that affect theft potential</vt:lpstr>
      <vt:lpstr>Identify changes to operations that affect theft potential</vt:lpstr>
      <vt:lpstr>Identify changes to operations that affect theft potential</vt:lpstr>
      <vt:lpstr>Identify changes to operations that affect theft potential</vt:lpstr>
      <vt:lpstr>Identify changes to operations that affect theft potential</vt:lpstr>
      <vt:lpstr>Seek feedback on security and theft issues</vt:lpstr>
      <vt:lpstr>Seek feedback on security and theft issues</vt:lpstr>
      <vt:lpstr>Seek feedback on security and theft issues</vt:lpstr>
      <vt:lpstr>Seek feedback on security and theft issues</vt:lpstr>
      <vt:lpstr>Review theft minimisation policy and procedures</vt:lpstr>
      <vt:lpstr>Review theft minimisation policy and procedures</vt:lpstr>
      <vt:lpstr>Review theft minimisation policy and procedures</vt:lpstr>
      <vt:lpstr>Review theft minimisation policy and procedures</vt:lpstr>
      <vt:lpstr>Review theft minimisation policy and procedures</vt:lpstr>
      <vt:lpstr>Amend theft minimisation protocols, as required</vt:lpstr>
      <vt:lpstr>Amend theft minimisation protocols, as required</vt:lpstr>
      <vt:lpstr>Amend theft minimisation protocols, as required</vt:lpstr>
      <vt:lpstr>Summary – Element 5</vt:lpstr>
      <vt:lpstr>Summary – Element 5</vt:lpstr>
      <vt:lpstr>Summary – Element 5</vt:lpstr>
      <vt:lpstr>Summary – Element 5</vt:lpstr>
    </vt:vector>
  </TitlesOfParts>
  <Company>William Angliss TAFE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Mai Vu</dc:creator>
  <cp:lastModifiedBy>Daniel James Chee</cp:lastModifiedBy>
  <cp:revision>188</cp:revision>
  <dcterms:created xsi:type="dcterms:W3CDTF">2014-02-11T04:26:39Z</dcterms:created>
  <dcterms:modified xsi:type="dcterms:W3CDTF">2015-01-28T11:43:12Z</dcterms:modified>
</cp:coreProperties>
</file>