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00"/>
  </p:notesMasterIdLst>
  <p:handoutMasterIdLst>
    <p:handoutMasterId r:id="rId201"/>
  </p:handoutMasterIdLst>
  <p:sldIdLst>
    <p:sldId id="256" r:id="rId2"/>
    <p:sldId id="257" r:id="rId3"/>
    <p:sldId id="296" r:id="rId4"/>
    <p:sldId id="259" r:id="rId5"/>
    <p:sldId id="260" r:id="rId6"/>
    <p:sldId id="262" r:id="rId7"/>
    <p:sldId id="312" r:id="rId8"/>
    <p:sldId id="313" r:id="rId9"/>
    <p:sldId id="413" r:id="rId10"/>
    <p:sldId id="414" r:id="rId11"/>
    <p:sldId id="415" r:id="rId12"/>
    <p:sldId id="416" r:id="rId13"/>
    <p:sldId id="417" r:id="rId14"/>
    <p:sldId id="418" r:id="rId15"/>
    <p:sldId id="419" r:id="rId16"/>
    <p:sldId id="420" r:id="rId17"/>
    <p:sldId id="421" r:id="rId18"/>
    <p:sldId id="422" r:id="rId19"/>
    <p:sldId id="423" r:id="rId20"/>
    <p:sldId id="397" r:id="rId21"/>
    <p:sldId id="297" r:id="rId22"/>
    <p:sldId id="314" r:id="rId23"/>
    <p:sldId id="424" r:id="rId24"/>
    <p:sldId id="316" r:id="rId25"/>
    <p:sldId id="317" r:id="rId26"/>
    <p:sldId id="318" r:id="rId27"/>
    <p:sldId id="298" r:id="rId28"/>
    <p:sldId id="319" r:id="rId29"/>
    <p:sldId id="435" r:id="rId30"/>
    <p:sldId id="436" r:id="rId31"/>
    <p:sldId id="320" r:id="rId32"/>
    <p:sldId id="425" r:id="rId33"/>
    <p:sldId id="426" r:id="rId34"/>
    <p:sldId id="427" r:id="rId35"/>
    <p:sldId id="428" r:id="rId36"/>
    <p:sldId id="429" r:id="rId37"/>
    <p:sldId id="430" r:id="rId38"/>
    <p:sldId id="431" r:id="rId39"/>
    <p:sldId id="432" r:id="rId40"/>
    <p:sldId id="299" r:id="rId41"/>
    <p:sldId id="437" r:id="rId42"/>
    <p:sldId id="438" r:id="rId43"/>
    <p:sldId id="439" r:id="rId44"/>
    <p:sldId id="440" r:id="rId45"/>
    <p:sldId id="441" r:id="rId46"/>
    <p:sldId id="442" r:id="rId47"/>
    <p:sldId id="443" r:id="rId48"/>
    <p:sldId id="444" r:id="rId49"/>
    <p:sldId id="445" r:id="rId50"/>
    <p:sldId id="300" r:id="rId51"/>
    <p:sldId id="446" r:id="rId52"/>
    <p:sldId id="447" r:id="rId53"/>
    <p:sldId id="448" r:id="rId54"/>
    <p:sldId id="449" r:id="rId55"/>
    <p:sldId id="301" r:id="rId56"/>
    <p:sldId id="325" r:id="rId57"/>
    <p:sldId id="450" r:id="rId58"/>
    <p:sldId id="451" r:id="rId59"/>
    <p:sldId id="452" r:id="rId60"/>
    <p:sldId id="302" r:id="rId61"/>
    <p:sldId id="327" r:id="rId62"/>
    <p:sldId id="453" r:id="rId63"/>
    <p:sldId id="454" r:id="rId64"/>
    <p:sldId id="455" r:id="rId65"/>
    <p:sldId id="456" r:id="rId66"/>
    <p:sldId id="457" r:id="rId67"/>
    <p:sldId id="303" r:id="rId68"/>
    <p:sldId id="329" r:id="rId69"/>
    <p:sldId id="330" r:id="rId70"/>
    <p:sldId id="331" r:id="rId71"/>
    <p:sldId id="332" r:id="rId72"/>
    <p:sldId id="304" r:id="rId73"/>
    <p:sldId id="305" r:id="rId74"/>
    <p:sldId id="306" r:id="rId75"/>
    <p:sldId id="333" r:id="rId76"/>
    <p:sldId id="334" r:id="rId77"/>
    <p:sldId id="458" r:id="rId78"/>
    <p:sldId id="307" r:id="rId79"/>
    <p:sldId id="473" r:id="rId80"/>
    <p:sldId id="474" r:id="rId81"/>
    <p:sldId id="475" r:id="rId82"/>
    <p:sldId id="308" r:id="rId83"/>
    <p:sldId id="337" r:id="rId84"/>
    <p:sldId id="482" r:id="rId85"/>
    <p:sldId id="483" r:id="rId86"/>
    <p:sldId id="484" r:id="rId87"/>
    <p:sldId id="485" r:id="rId88"/>
    <p:sldId id="309" r:id="rId89"/>
    <p:sldId id="339" r:id="rId90"/>
    <p:sldId id="340" r:id="rId91"/>
    <p:sldId id="491" r:id="rId92"/>
    <p:sldId id="492" r:id="rId93"/>
    <p:sldId id="493" r:id="rId94"/>
    <p:sldId id="494" r:id="rId95"/>
    <p:sldId id="310" r:id="rId96"/>
    <p:sldId id="341" r:id="rId97"/>
    <p:sldId id="497" r:id="rId98"/>
    <p:sldId id="498" r:id="rId99"/>
    <p:sldId id="499" r:id="rId100"/>
    <p:sldId id="500" r:id="rId101"/>
    <p:sldId id="501" r:id="rId102"/>
    <p:sldId id="502" r:id="rId103"/>
    <p:sldId id="503" r:id="rId104"/>
    <p:sldId id="504" r:id="rId105"/>
    <p:sldId id="311" r:id="rId106"/>
    <p:sldId id="349" r:id="rId107"/>
    <p:sldId id="350" r:id="rId108"/>
    <p:sldId id="351" r:id="rId109"/>
    <p:sldId id="263" r:id="rId110"/>
    <p:sldId id="264" r:id="rId111"/>
    <p:sldId id="265" r:id="rId112"/>
    <p:sldId id="511" r:id="rId113"/>
    <p:sldId id="512" r:id="rId114"/>
    <p:sldId id="266" r:id="rId115"/>
    <p:sldId id="354" r:id="rId116"/>
    <p:sldId id="526" r:id="rId117"/>
    <p:sldId id="527" r:id="rId118"/>
    <p:sldId id="541" r:id="rId119"/>
    <p:sldId id="542" r:id="rId120"/>
    <p:sldId id="543" r:id="rId121"/>
    <p:sldId id="544" r:id="rId122"/>
    <p:sldId id="545" r:id="rId123"/>
    <p:sldId id="546" r:id="rId124"/>
    <p:sldId id="547" r:id="rId125"/>
    <p:sldId id="548" r:id="rId126"/>
    <p:sldId id="343" r:id="rId127"/>
    <p:sldId id="358" r:id="rId128"/>
    <p:sldId id="359" r:id="rId129"/>
    <p:sldId id="344" r:id="rId130"/>
    <p:sldId id="562" r:id="rId131"/>
    <p:sldId id="563" r:id="rId132"/>
    <p:sldId id="564" r:id="rId133"/>
    <p:sldId id="565" r:id="rId134"/>
    <p:sldId id="566" r:id="rId135"/>
    <p:sldId id="567" r:id="rId136"/>
    <p:sldId id="568" r:id="rId137"/>
    <p:sldId id="569" r:id="rId138"/>
    <p:sldId id="570" r:id="rId139"/>
    <p:sldId id="571" r:id="rId140"/>
    <p:sldId id="572" r:id="rId141"/>
    <p:sldId id="573" r:id="rId142"/>
    <p:sldId id="574" r:id="rId143"/>
    <p:sldId id="575" r:id="rId144"/>
    <p:sldId id="345" r:id="rId145"/>
    <p:sldId id="580" r:id="rId146"/>
    <p:sldId id="592" r:id="rId147"/>
    <p:sldId id="593" r:id="rId148"/>
    <p:sldId id="594" r:id="rId149"/>
    <p:sldId id="363" r:id="rId150"/>
    <p:sldId id="364" r:id="rId151"/>
    <p:sldId id="376" r:id="rId152"/>
    <p:sldId id="377" r:id="rId153"/>
    <p:sldId id="378" r:id="rId154"/>
    <p:sldId id="365" r:id="rId155"/>
    <p:sldId id="366" r:id="rId156"/>
    <p:sldId id="379" r:id="rId157"/>
    <p:sldId id="380" r:id="rId158"/>
    <p:sldId id="367" r:id="rId159"/>
    <p:sldId id="381" r:id="rId160"/>
    <p:sldId id="595" r:id="rId161"/>
    <p:sldId id="596" r:id="rId162"/>
    <p:sldId id="597" r:id="rId163"/>
    <p:sldId id="598" r:id="rId164"/>
    <p:sldId id="599" r:id="rId165"/>
    <p:sldId id="600" r:id="rId166"/>
    <p:sldId id="368" r:id="rId167"/>
    <p:sldId id="604" r:id="rId168"/>
    <p:sldId id="605" r:id="rId169"/>
    <p:sldId id="606" r:id="rId170"/>
    <p:sldId id="369" r:id="rId171"/>
    <p:sldId id="385" r:id="rId172"/>
    <p:sldId id="612" r:id="rId173"/>
    <p:sldId id="370" r:id="rId174"/>
    <p:sldId id="387" r:id="rId175"/>
    <p:sldId id="371" r:id="rId176"/>
    <p:sldId id="346" r:id="rId177"/>
    <p:sldId id="613" r:id="rId178"/>
    <p:sldId id="614" r:id="rId179"/>
    <p:sldId id="615" r:id="rId180"/>
    <p:sldId id="616" r:id="rId181"/>
    <p:sldId id="617" r:id="rId182"/>
    <p:sldId id="618" r:id="rId183"/>
    <p:sldId id="619" r:id="rId184"/>
    <p:sldId id="620" r:id="rId185"/>
    <p:sldId id="621" r:id="rId186"/>
    <p:sldId id="622" r:id="rId187"/>
    <p:sldId id="623" r:id="rId188"/>
    <p:sldId id="388" r:id="rId189"/>
    <p:sldId id="630" r:id="rId190"/>
    <p:sldId id="631" r:id="rId191"/>
    <p:sldId id="632" r:id="rId192"/>
    <p:sldId id="389" r:id="rId193"/>
    <p:sldId id="638" r:id="rId194"/>
    <p:sldId id="639" r:id="rId195"/>
    <p:sldId id="640" r:id="rId196"/>
    <p:sldId id="347" r:id="rId197"/>
    <p:sldId id="348" r:id="rId198"/>
    <p:sldId id="396" r:id="rId199"/>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73" autoAdjust="0"/>
    <p:restoredTop sz="83153" autoAdjust="0"/>
  </p:normalViewPr>
  <p:slideViewPr>
    <p:cSldViewPr>
      <p:cViewPr varScale="1">
        <p:scale>
          <a:sx n="80" d="100"/>
          <a:sy n="80" d="100"/>
        </p:scale>
        <p:origin x="-138" y="-78"/>
      </p:cViewPr>
      <p:guideLst>
        <p:guide orient="horz" pos="2160"/>
        <p:guide pos="2880"/>
      </p:guideLst>
    </p:cSldViewPr>
  </p:slideViewPr>
  <p:outlineViewPr>
    <p:cViewPr>
      <p:scale>
        <a:sx n="33" d="100"/>
        <a:sy n="33" d="100"/>
      </p:scale>
      <p:origin x="0" y="16296"/>
    </p:cViewPr>
  </p:outlineViewPr>
  <p:notesTextViewPr>
    <p:cViewPr>
      <p:scale>
        <a:sx n="100" d="100"/>
        <a:sy n="100" d="100"/>
      </p:scale>
      <p:origin x="0" y="1242"/>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1" Type="http://schemas.openxmlformats.org/officeDocument/2006/relationships/handoutMaster" Target="handoutMasters/handout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3/31/2014</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35105254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3/31/2014</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926374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openlearn.open.ac.uk/mod/oucontent/view.php?id=397321" TargetMode="External"/><Relationship Id="rId2" Type="http://schemas.openxmlformats.org/officeDocument/2006/relationships/slide" Target="../slides/slide62.xml"/><Relationship Id="rId1" Type="http://schemas.openxmlformats.org/officeDocument/2006/relationships/notesMaster" Target="../notesMasters/notesMaster1.xml"/><Relationship Id="rId5" Type="http://schemas.openxmlformats.org/officeDocument/2006/relationships/hyperlink" Target="http://humanresources.about.com/od/jobdescriptions/Job_Descriptions_Free_Samples_Examples.htm" TargetMode="External"/><Relationship Id="rId4" Type="http://schemas.openxmlformats.org/officeDocument/2006/relationships/hyperlink" Target="http://www.businessballs.com/jobdescription.htm" TargetMode="Externa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www.jobcyclone.com/business_directory.php" TargetMode="External"/><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3" Type="http://schemas.openxmlformats.org/officeDocument/2006/relationships/hyperlink" Target="http://www.panpacific.com/en/singapore/offers/index.html?override_form=38" TargetMode="External"/><Relationship Id="rId7" Type="http://schemas.openxmlformats.org/officeDocument/2006/relationships/hyperlink" Target="http://skorcareer.com.my/blog/15-popular-job-and-recruitment-websites-in-malaysia/2008/01/15/" TargetMode="External"/><Relationship Id="rId2" Type="http://schemas.openxmlformats.org/officeDocument/2006/relationships/slide" Target="../slides/slide91.xml"/><Relationship Id="rId1" Type="http://schemas.openxmlformats.org/officeDocument/2006/relationships/notesMaster" Target="../notesMasters/notesMaster1.xml"/><Relationship Id="rId6" Type="http://schemas.openxmlformats.org/officeDocument/2006/relationships/hyperlink" Target="http://www.escapeartist.com/jobs31/japan.htm" TargetMode="External"/><Relationship Id="rId5" Type="http://schemas.openxmlformats.org/officeDocument/2006/relationships/hyperlink" Target="http://www.orientpacific.com/goldrec.htm" TargetMode="External"/><Relationship Id="rId4" Type="http://schemas.openxmlformats.org/officeDocument/2006/relationships/hyperlink" Target="http://www.asianjobsite.co.uk/" TargetMode="Externa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3" Type="http://schemas.openxmlformats.org/officeDocument/2006/relationships/hyperlink" Target="http://www.careersfair.com/" TargetMode="External"/><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3" Type="http://schemas.openxmlformats.org/officeDocument/2006/relationships/hyperlink" Target="http://www.vibehotels.com.au/default.asp?page=/about-vibe/careers-at-vibe-hotels/employment-application-form" TargetMode="External"/><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trainees this Unit comprises five Elements, as listed on the slide explaining:</a:t>
            </a:r>
          </a:p>
          <a:p>
            <a:r>
              <a:rPr lang="en-AU" sz="1200" kern="1200" baseline="0" dirty="0" smtClean="0">
                <a:solidFill>
                  <a:schemeClr val="tx1"/>
                </a:solidFill>
                <a:latin typeface="+mn-lt"/>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latin typeface="+mn-lt"/>
                <a:ea typeface="+mn-ea"/>
                <a:cs typeface="+mn-cs"/>
              </a:rPr>
              <a:t>• Trainees can obtain more detail from their Trainee Manual</a:t>
            </a:r>
          </a:p>
          <a:p>
            <a:r>
              <a:rPr lang="en-AU" sz="1200" kern="1200" baseline="0" dirty="0" smtClean="0">
                <a:solidFill>
                  <a:schemeClr val="tx1"/>
                </a:solidFill>
                <a:latin typeface="+mn-lt"/>
                <a:ea typeface="+mn-ea"/>
                <a:cs typeface="+mn-cs"/>
              </a:rPr>
              <a:t>• At times the course presents advice and information about various protocols.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latin typeface="+mn-lt"/>
                <a:ea typeface="+mn-ea"/>
                <a:cs typeface="+mn-cs"/>
              </a:rPr>
              <a:t>Trainer advises trainees that assessment for this Unit may take several forms. All are aimed at verifying they have achieved competency for the Unit as required.</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identifies for trainees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continues to identify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latin typeface="+mn-lt"/>
                <a:ea typeface="+mn-ea"/>
                <a:cs typeface="+mn-cs"/>
              </a:rPr>
              <a:t>Class Activity – General Discussion</a:t>
            </a:r>
          </a:p>
          <a:p>
            <a:r>
              <a:rPr lang="en-AU" sz="1200" kern="1200" baseline="0" dirty="0" smtClean="0">
                <a:solidFill>
                  <a:schemeClr val="tx1"/>
                </a:solidFill>
                <a:latin typeface="+mn-lt"/>
                <a:ea typeface="+mn-ea"/>
                <a:cs typeface="+mn-cs"/>
              </a:rPr>
              <a:t>Trainer leads a general class discussion on identifying staffing needs by asking questions such as:</a:t>
            </a:r>
          </a:p>
          <a:p>
            <a:pPr>
              <a:buFont typeface="Arial" pitchFamily="34" charset="0"/>
              <a:buChar char="•"/>
            </a:pPr>
            <a:r>
              <a:rPr lang="en-AU" sz="1200" kern="1200" baseline="0" dirty="0" smtClean="0">
                <a:solidFill>
                  <a:schemeClr val="tx1"/>
                </a:solidFill>
                <a:latin typeface="+mn-lt"/>
                <a:ea typeface="+mn-ea"/>
                <a:cs typeface="+mn-cs"/>
              </a:rPr>
              <a:t> What policies and procedures do you think apply in workplaces to the staffing process?</a:t>
            </a:r>
          </a:p>
          <a:p>
            <a:pPr>
              <a:buFont typeface="Arial" pitchFamily="34" charset="0"/>
              <a:buChar char="•"/>
            </a:pPr>
            <a:r>
              <a:rPr lang="en-AU" sz="1200" kern="1200" baseline="0" dirty="0" smtClean="0">
                <a:solidFill>
                  <a:schemeClr val="tx1"/>
                </a:solidFill>
                <a:latin typeface="+mn-lt"/>
                <a:ea typeface="+mn-ea"/>
                <a:cs typeface="+mn-cs"/>
              </a:rPr>
              <a:t> What do you think is ‘the staffing process’?</a:t>
            </a:r>
          </a:p>
          <a:p>
            <a:pPr>
              <a:buFont typeface="Arial" pitchFamily="34" charset="0"/>
              <a:buChar char="•"/>
            </a:pPr>
            <a:r>
              <a:rPr lang="en-AU" sz="1200" kern="1200" baseline="0" dirty="0" smtClean="0">
                <a:solidFill>
                  <a:schemeClr val="tx1"/>
                </a:solidFill>
                <a:latin typeface="+mn-lt"/>
                <a:ea typeface="+mn-ea"/>
                <a:cs typeface="+mn-cs"/>
              </a:rPr>
              <a:t> What internal factors within businesses might impact on staffing needs?</a:t>
            </a:r>
          </a:p>
          <a:p>
            <a:pPr>
              <a:buFont typeface="Arial" pitchFamily="34" charset="0"/>
              <a:buChar char="•"/>
            </a:pPr>
            <a:r>
              <a:rPr lang="en-AU" sz="1200" kern="1200" baseline="0" dirty="0" smtClean="0">
                <a:solidFill>
                  <a:schemeClr val="tx1"/>
                </a:solidFill>
                <a:latin typeface="+mn-lt"/>
                <a:ea typeface="+mn-ea"/>
                <a:cs typeface="+mn-cs"/>
              </a:rPr>
              <a:t> What factors outside a business might affect staffing requirements?</a:t>
            </a:r>
          </a:p>
          <a:p>
            <a:pPr>
              <a:buFont typeface="Arial" pitchFamily="34" charset="0"/>
              <a:buChar char="•"/>
            </a:pPr>
            <a:r>
              <a:rPr lang="en-AU" sz="1200" kern="1200" baseline="0" dirty="0" smtClean="0">
                <a:solidFill>
                  <a:schemeClr val="tx1"/>
                </a:solidFill>
                <a:latin typeface="+mn-lt"/>
                <a:ea typeface="+mn-ea"/>
                <a:cs typeface="+mn-cs"/>
              </a:rPr>
              <a:t> What experience do you have with workplace monitoring of staff performance? How was it undertaken? Why  do you think it was done?</a:t>
            </a:r>
          </a:p>
          <a:p>
            <a:pPr>
              <a:buFont typeface="Arial" pitchFamily="34" charset="0"/>
              <a:buChar char="•"/>
            </a:pPr>
            <a:r>
              <a:rPr lang="en-AU" sz="1200" kern="1200" baseline="0" dirty="0" smtClean="0">
                <a:solidFill>
                  <a:schemeClr val="tx1"/>
                </a:solidFill>
                <a:latin typeface="+mn-lt"/>
                <a:ea typeface="+mn-ea"/>
                <a:cs typeface="+mn-cs"/>
              </a:rPr>
              <a:t> What do you think is an ‘organisational chart’? Why might a business create an organisational chart?</a:t>
            </a:r>
          </a:p>
          <a:p>
            <a:pPr>
              <a:buFont typeface="Arial" pitchFamily="34" charset="0"/>
              <a:buChar char="•"/>
            </a:pPr>
            <a:r>
              <a:rPr lang="en-AU" sz="1200" kern="1200" baseline="0" dirty="0" smtClean="0">
                <a:solidFill>
                  <a:schemeClr val="tx1"/>
                </a:solidFill>
                <a:latin typeface="+mn-lt"/>
                <a:ea typeface="+mn-ea"/>
                <a:cs typeface="+mn-cs"/>
              </a:rPr>
              <a:t> What is a ‘job analysis’ and why would a business undertake them?</a:t>
            </a:r>
          </a:p>
          <a:p>
            <a:pPr>
              <a:buFont typeface="Arial" pitchFamily="34" charset="0"/>
              <a:buChar char="•"/>
            </a:pPr>
            <a:r>
              <a:rPr lang="en-AU" sz="1200" kern="1200" baseline="0" dirty="0" smtClean="0">
                <a:solidFill>
                  <a:schemeClr val="tx1"/>
                </a:solidFill>
                <a:latin typeface="+mn-lt"/>
                <a:ea typeface="+mn-ea"/>
                <a:cs typeface="+mn-cs"/>
              </a:rPr>
              <a:t> What is a ‘job description’ and how does it differ to a ‘job specification’?</a:t>
            </a:r>
          </a:p>
          <a:p>
            <a:pPr>
              <a:buFont typeface="Arial" pitchFamily="34" charset="0"/>
              <a:buChar char="•"/>
            </a:pPr>
            <a:r>
              <a:rPr lang="en-AU" sz="1200" kern="1200" baseline="0" dirty="0" smtClean="0">
                <a:solidFill>
                  <a:schemeClr val="tx1"/>
                </a:solidFill>
                <a:latin typeface="+mn-lt"/>
                <a:ea typeface="+mn-ea"/>
                <a:cs typeface="+mn-cs"/>
              </a:rPr>
              <a:t> Why would a business create a job description and a job specification for job vacancies?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a:t>
            </a:r>
            <a:r>
              <a:rPr lang="en-AU" sz="1200" kern="1200" baseline="0" dirty="0" smtClean="0">
                <a:solidFill>
                  <a:schemeClr val="tx1"/>
                </a:solidFill>
                <a:latin typeface="+mn-lt"/>
                <a:ea typeface="+mn-ea"/>
                <a:cs typeface="+mn-cs"/>
              </a:rPr>
              <a:t> instructs trainees no</a:t>
            </a:r>
            <a:r>
              <a:rPr lang="en-AU" sz="1200" kern="1200" dirty="0" smtClean="0">
                <a:solidFill>
                  <a:schemeClr val="tx1"/>
                </a:solidFill>
                <a:latin typeface="+mn-lt"/>
                <a:ea typeface="+mn-ea"/>
                <a:cs typeface="+mn-cs"/>
              </a:rPr>
              <a:t> effective action in relation to the recruitment and selection of staff can occur until the enterprise policies and procedures relating to the staffing process are understood.</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Staffing policies and procedures will vary between workplaces based on:</a:t>
            </a:r>
          </a:p>
          <a:p>
            <a:pPr>
              <a:buFont typeface="Arial" pitchFamily="34" charset="0"/>
              <a:buChar char="•"/>
            </a:pPr>
            <a:r>
              <a:rPr lang="en-AU" sz="1200" kern="1200" dirty="0" smtClean="0">
                <a:solidFill>
                  <a:schemeClr val="tx1"/>
                </a:solidFill>
                <a:latin typeface="+mn-lt"/>
                <a:ea typeface="+mn-ea"/>
                <a:cs typeface="+mn-cs"/>
              </a:rPr>
              <a:t> Their previous experiences with staff recruitment and selection – previous experience will influence what is contained in the policies and procedures. The current policies will be drafted to prevent repeating mistakes made before.</a:t>
            </a:r>
          </a:p>
          <a:p>
            <a:pPr>
              <a:buFont typeface="Arial" pitchFamily="34" charset="0"/>
              <a:buChar char="•"/>
            </a:pPr>
            <a:r>
              <a:rPr lang="en-AU" sz="1200" kern="1200" dirty="0" smtClean="0">
                <a:solidFill>
                  <a:schemeClr val="tx1"/>
                </a:solidFill>
                <a:latin typeface="+mn-lt"/>
                <a:ea typeface="+mn-ea"/>
                <a:cs typeface="+mn-cs"/>
              </a:rPr>
              <a:t> The size of the business – smaller businesses tend to be more informal</a:t>
            </a:r>
            <a:r>
              <a:rPr lang="en-AU" sz="1200" kern="1200" baseline="0" dirty="0" smtClean="0">
                <a:solidFill>
                  <a:schemeClr val="tx1"/>
                </a:solidFill>
                <a:latin typeface="+mn-lt"/>
                <a:ea typeface="+mn-ea"/>
                <a:cs typeface="+mn-cs"/>
              </a:rPr>
              <a:t> whilst</a:t>
            </a:r>
            <a:r>
              <a:rPr lang="en-AU" sz="1200" kern="1200" dirty="0" smtClean="0">
                <a:solidFill>
                  <a:schemeClr val="tx1"/>
                </a:solidFill>
                <a:latin typeface="+mn-lt"/>
                <a:ea typeface="+mn-ea"/>
                <a:cs typeface="+mn-cs"/>
              </a:rPr>
              <a:t> larger businesses tend to be more regimented</a:t>
            </a:r>
          </a:p>
          <a:p>
            <a:pPr>
              <a:buFont typeface="Arial" pitchFamily="34" charset="0"/>
              <a:buChar char="•"/>
            </a:pPr>
            <a:r>
              <a:rPr lang="en-AU" sz="1200" kern="1200" dirty="0" smtClean="0">
                <a:solidFill>
                  <a:schemeClr val="tx1"/>
                </a:solidFill>
                <a:latin typeface="+mn-lt"/>
                <a:ea typeface="+mn-ea"/>
                <a:cs typeface="+mn-cs"/>
              </a:rPr>
              <a:t> Personal preferences of the owner – an owner-operated business will reflect the personal orientations of the owner,</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 company-owned business is likely to have more structured and more formal policies and procedures</a:t>
            </a:r>
          </a:p>
          <a:p>
            <a:pPr>
              <a:buFont typeface="Arial" pitchFamily="34" charset="0"/>
              <a:buChar char="•"/>
            </a:pPr>
            <a:r>
              <a:rPr lang="en-AU" sz="1200" kern="1200" dirty="0" smtClean="0">
                <a:solidFill>
                  <a:schemeClr val="tx1"/>
                </a:solidFill>
                <a:latin typeface="+mn-lt"/>
                <a:ea typeface="+mn-ea"/>
                <a:cs typeface="+mn-cs"/>
              </a:rPr>
              <a:t> Legal requirements applying to individual business types or  industry sectors – to ensure compliance with relevant employment laws.</a:t>
            </a:r>
          </a:p>
          <a:p>
            <a:pPr>
              <a:buFont typeface="Arial" pitchFamily="34" charset="0"/>
              <a:buChar char="•"/>
            </a:pP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to trainees examples of possible staffing policies and procedures used by employers:</a:t>
            </a:r>
          </a:p>
          <a:p>
            <a:r>
              <a:rPr lang="en-AU" sz="1200" b="1" i="1" kern="1200" dirty="0" smtClean="0">
                <a:solidFill>
                  <a:schemeClr val="tx1"/>
                </a:solidFill>
                <a:latin typeface="+mn-lt"/>
                <a:ea typeface="+mn-ea"/>
                <a:cs typeface="+mn-cs"/>
              </a:rPr>
              <a:t>Job advertising</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This may address:</a:t>
            </a:r>
          </a:p>
          <a:p>
            <a:pPr lvl="1">
              <a:buFont typeface="Arial" pitchFamily="34" charset="0"/>
              <a:buChar char="•"/>
            </a:pPr>
            <a:r>
              <a:rPr lang="en-AU" sz="1200" kern="1200" dirty="0" smtClean="0">
                <a:solidFill>
                  <a:schemeClr val="tx1"/>
                </a:solidFill>
                <a:latin typeface="+mn-lt"/>
                <a:ea typeface="+mn-ea"/>
                <a:cs typeface="+mn-cs"/>
              </a:rPr>
              <a:t> Information that may and may not be included in a job advertisement – some employers:</a:t>
            </a:r>
          </a:p>
          <a:p>
            <a:pPr lvl="2">
              <a:buFont typeface="Arial" pitchFamily="34" charset="0"/>
              <a:buChar char="•"/>
            </a:pPr>
            <a:r>
              <a:rPr lang="en-AU" sz="1200" kern="1200" dirty="0" smtClean="0">
                <a:solidFill>
                  <a:schemeClr val="tx1"/>
                </a:solidFill>
                <a:latin typeface="+mn-lt"/>
                <a:ea typeface="+mn-ea"/>
                <a:cs typeface="+mn-cs"/>
              </a:rPr>
              <a:t>Will not want the name of their business included in advertisements – so applicants and others do not know who is advertising for staff</a:t>
            </a:r>
          </a:p>
          <a:p>
            <a:pPr lvl="2">
              <a:buFont typeface="Arial" pitchFamily="34" charset="0"/>
              <a:buChar char="•"/>
            </a:pPr>
            <a:r>
              <a:rPr lang="en-AU" sz="1200" kern="1200" dirty="0" smtClean="0">
                <a:solidFill>
                  <a:schemeClr val="tx1"/>
                </a:solidFill>
                <a:latin typeface="+mn-lt"/>
                <a:ea typeface="+mn-ea"/>
                <a:cs typeface="+mn-cs"/>
              </a:rPr>
              <a:t>Will not want their telephone number included – to avoid the need to respond to numerous calls enquiring about the job</a:t>
            </a:r>
          </a:p>
          <a:p>
            <a:pPr lvl="2">
              <a:buFont typeface="Arial" pitchFamily="34" charset="0"/>
              <a:buChar char="•"/>
            </a:pPr>
            <a:r>
              <a:rPr lang="en-AU" sz="1200" kern="1200" dirty="0" smtClean="0">
                <a:solidFill>
                  <a:schemeClr val="tx1"/>
                </a:solidFill>
                <a:latin typeface="+mn-lt"/>
                <a:ea typeface="+mn-ea"/>
                <a:cs typeface="+mn-cs"/>
              </a:rPr>
              <a:t>Will not want their address included – to prevent applicants calling in in-person to make enquiries</a:t>
            </a:r>
          </a:p>
          <a:p>
            <a:pPr lvl="1">
              <a:buFont typeface="Arial" pitchFamily="34" charset="0"/>
              <a:buChar char="•"/>
            </a:pPr>
            <a:r>
              <a:rPr lang="en-AU" sz="1200" kern="1200" dirty="0" smtClean="0">
                <a:solidFill>
                  <a:schemeClr val="tx1"/>
                </a:solidFill>
                <a:latin typeface="+mn-lt"/>
                <a:ea typeface="+mn-ea"/>
                <a:cs typeface="+mn-cs"/>
              </a:rPr>
              <a:t> The newspapers in which job advertisements are to be lodged – including:</a:t>
            </a:r>
          </a:p>
          <a:p>
            <a:pPr lvl="2">
              <a:buFont typeface="Arial" pitchFamily="34" charset="0"/>
              <a:buChar char="•"/>
            </a:pPr>
            <a:r>
              <a:rPr lang="en-AU" sz="1200" kern="1200" dirty="0" smtClean="0">
                <a:solidFill>
                  <a:schemeClr val="tx1"/>
                </a:solidFill>
                <a:latin typeface="+mn-lt"/>
                <a:ea typeface="+mn-ea"/>
                <a:cs typeface="+mn-cs"/>
              </a:rPr>
              <a:t> Type and size of advertisements</a:t>
            </a:r>
          </a:p>
          <a:p>
            <a:pPr lvl="2">
              <a:buFont typeface="Arial" pitchFamily="34" charset="0"/>
              <a:buChar char="•"/>
            </a:pPr>
            <a:r>
              <a:rPr lang="en-AU" sz="1200" kern="1200" dirty="0" smtClean="0">
                <a:solidFill>
                  <a:schemeClr val="tx1"/>
                </a:solidFill>
                <a:latin typeface="+mn-lt"/>
                <a:ea typeface="+mn-ea"/>
                <a:cs typeface="+mn-cs"/>
              </a:rPr>
              <a:t> Use of company logo</a:t>
            </a:r>
          </a:p>
          <a:p>
            <a:pPr lvl="2">
              <a:buFont typeface="Arial" pitchFamily="34" charset="0"/>
              <a:buChar char="•"/>
            </a:pPr>
            <a:r>
              <a:rPr lang="en-AU" sz="1200" kern="1200" dirty="0" smtClean="0">
                <a:solidFill>
                  <a:schemeClr val="tx1"/>
                </a:solidFill>
                <a:latin typeface="+mn-lt"/>
                <a:ea typeface="+mn-ea"/>
                <a:cs typeface="+mn-cs"/>
              </a:rPr>
              <a:t> Days of the week the advertisement is to run</a:t>
            </a:r>
          </a:p>
          <a:p>
            <a:pPr lvl="2">
              <a:buFont typeface="Arial" pitchFamily="34" charset="0"/>
              <a:buChar char="•"/>
            </a:pPr>
            <a:r>
              <a:rPr lang="en-AU" sz="1200" kern="1200" dirty="0" smtClean="0">
                <a:solidFill>
                  <a:schemeClr val="tx1"/>
                </a:solidFill>
                <a:latin typeface="+mn-lt"/>
                <a:ea typeface="+mn-ea"/>
                <a:cs typeface="+mn-cs"/>
              </a:rPr>
              <a:t> Duration of advertising period – for example, one week or a fortnight</a:t>
            </a:r>
          </a:p>
          <a:p>
            <a:pPr lvl="1">
              <a:buFont typeface="Arial" pitchFamily="34" charset="0"/>
              <a:buChar char="•"/>
            </a:pPr>
            <a:r>
              <a:rPr lang="en-AU" sz="1200" kern="1200" dirty="0" smtClean="0">
                <a:solidFill>
                  <a:schemeClr val="tx1"/>
                </a:solidFill>
                <a:latin typeface="+mn-lt"/>
                <a:ea typeface="+mn-ea"/>
                <a:cs typeface="+mn-cs"/>
              </a:rPr>
              <a:t> Job recruitment agencies to be used – and the information to be given to them about the vacancy</a:t>
            </a:r>
          </a:p>
          <a:p>
            <a:pPr lvl="1">
              <a:buFont typeface="Arial" pitchFamily="34" charset="0"/>
              <a:buChar char="•"/>
            </a:pPr>
            <a:r>
              <a:rPr lang="en-AU" sz="1200" kern="1200" dirty="0" smtClean="0">
                <a:solidFill>
                  <a:schemeClr val="tx1"/>
                </a:solidFill>
                <a:latin typeface="+mn-lt"/>
                <a:ea typeface="+mn-ea"/>
                <a:cs typeface="+mn-cs"/>
              </a:rPr>
              <a:t> Online recruitment to be undertaken – identifying websites to be used and not to be used.</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US" dirty="0" smtClean="0"/>
              <a:t> </a:t>
            </a:r>
            <a:r>
              <a:rPr lang="en-AU" sz="1200" b="1" i="1" kern="1200" dirty="0" smtClean="0">
                <a:solidFill>
                  <a:schemeClr val="tx1"/>
                </a:solidFill>
                <a:latin typeface="+mn-lt"/>
                <a:ea typeface="+mn-ea"/>
                <a:cs typeface="+mn-cs"/>
              </a:rPr>
              <a:t>Internal staff promotions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This may address:</a:t>
            </a:r>
          </a:p>
          <a:p>
            <a:pPr lvl="1">
              <a:buFont typeface="Arial" pitchFamily="34" charset="0"/>
              <a:buChar char="•"/>
            </a:pPr>
            <a:r>
              <a:rPr lang="en-AU" sz="1200" kern="1200" dirty="0" smtClean="0">
                <a:solidFill>
                  <a:schemeClr val="tx1"/>
                </a:solidFill>
                <a:latin typeface="+mn-lt"/>
                <a:ea typeface="+mn-ea"/>
                <a:cs typeface="+mn-cs"/>
              </a:rPr>
              <a:t> A statement all vacant positions must be advertised externally.</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done to ensure the company cannot be accused of failing</a:t>
            </a:r>
            <a:r>
              <a:rPr lang="en-AU" sz="1200" kern="1200" baseline="0" dirty="0" smtClean="0">
                <a:solidFill>
                  <a:schemeClr val="tx1"/>
                </a:solidFill>
                <a:latin typeface="+mn-lt"/>
                <a:ea typeface="+mn-ea"/>
                <a:cs typeface="+mn-cs"/>
              </a:rPr>
              <a:t> to address EO obligations or to source the most suitable employee</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A statement the enterprise will attempt to fill all vacant positions from within before advertising externally.</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alternative is designed to demonstrate to staff the employer will reward staff effort and excellence, recognise training</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responsibilities undertaken and qualifications and abilities of staff. This gives staff a career path within the business and helps the employer retain staff</a:t>
            </a:r>
          </a:p>
          <a:p>
            <a:pPr lvl="1">
              <a:buFont typeface="Arial" pitchFamily="34" charset="0"/>
              <a:buChar char="•"/>
            </a:pPr>
            <a:r>
              <a:rPr lang="en-AU" sz="1200" kern="1200" dirty="0" smtClean="0">
                <a:solidFill>
                  <a:schemeClr val="tx1"/>
                </a:solidFill>
                <a:latin typeface="+mn-lt"/>
                <a:ea typeface="+mn-ea"/>
                <a:cs typeface="+mn-cs"/>
              </a:rPr>
              <a:t> Criteria for determining whether a job should be advertised externally or not.</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Staff training</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This will cover:</a:t>
            </a:r>
          </a:p>
          <a:p>
            <a:pPr lvl="1">
              <a:buFont typeface="Arial" pitchFamily="34" charset="0"/>
              <a:buChar char="•"/>
            </a:pPr>
            <a:r>
              <a:rPr lang="en-AU" sz="1200" kern="1200" dirty="0" smtClean="0">
                <a:solidFill>
                  <a:schemeClr val="tx1"/>
                </a:solidFill>
                <a:latin typeface="+mn-lt"/>
                <a:ea typeface="+mn-ea"/>
                <a:cs typeface="+mn-cs"/>
              </a:rPr>
              <a:t> The basic induction training all new employees are required to undertake on joining the enterprise</a:t>
            </a:r>
          </a:p>
          <a:p>
            <a:pPr lvl="1">
              <a:buFont typeface="Arial" pitchFamily="34" charset="0"/>
              <a:buChar char="•"/>
            </a:pPr>
            <a:r>
              <a:rPr lang="en-AU" sz="1200" kern="1200" dirty="0" smtClean="0">
                <a:solidFill>
                  <a:schemeClr val="tx1"/>
                </a:solidFill>
                <a:latin typeface="+mn-lt"/>
                <a:ea typeface="+mn-ea"/>
                <a:cs typeface="+mn-cs"/>
              </a:rPr>
              <a:t> Pre-requisite training for nominated positions to ensure staff have:</a:t>
            </a:r>
          </a:p>
          <a:p>
            <a:pPr lvl="2">
              <a:buFont typeface="Arial" pitchFamily="34" charset="0"/>
              <a:buChar char="•"/>
            </a:pPr>
            <a:r>
              <a:rPr lang="en-AU" sz="1200" kern="1200" dirty="0" smtClean="0">
                <a:solidFill>
                  <a:schemeClr val="tx1"/>
                </a:solidFill>
                <a:latin typeface="+mn-lt"/>
                <a:ea typeface="+mn-ea"/>
                <a:cs typeface="+mn-cs"/>
              </a:rPr>
              <a:t> Complied with legally imposed training or certification requirements</a:t>
            </a:r>
          </a:p>
          <a:p>
            <a:pPr lvl="2">
              <a:buFont typeface="Arial" pitchFamily="34" charset="0"/>
              <a:buChar char="•"/>
            </a:pPr>
            <a:r>
              <a:rPr lang="en-AU" sz="1200" kern="1200" dirty="0" smtClean="0">
                <a:solidFill>
                  <a:schemeClr val="tx1"/>
                </a:solidFill>
                <a:latin typeface="+mn-lt"/>
                <a:ea typeface="+mn-ea"/>
                <a:cs typeface="+mn-cs"/>
              </a:rPr>
              <a:t> Learned the necessary basic skills and knowledge to enable them to discharge their designated tasks and responsibilities.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may include:</a:t>
            </a:r>
          </a:p>
          <a:p>
            <a:pPr lvl="3">
              <a:buFont typeface="Arial" pitchFamily="34" charset="0"/>
              <a:buChar char="•"/>
            </a:pPr>
            <a:r>
              <a:rPr lang="en-AU" sz="1200" kern="1200" dirty="0" smtClean="0">
                <a:solidFill>
                  <a:schemeClr val="tx1"/>
                </a:solidFill>
                <a:latin typeface="+mn-lt"/>
                <a:ea typeface="+mn-ea"/>
                <a:cs typeface="+mn-cs"/>
              </a:rPr>
              <a:t> Customer service skills</a:t>
            </a:r>
          </a:p>
          <a:p>
            <a:pPr lvl="3">
              <a:buFont typeface="Arial" pitchFamily="34" charset="0"/>
              <a:buChar char="•"/>
            </a:pPr>
            <a:r>
              <a:rPr lang="en-AU" sz="1200" kern="1200" dirty="0" smtClean="0">
                <a:solidFill>
                  <a:schemeClr val="tx1"/>
                </a:solidFill>
                <a:latin typeface="+mn-lt"/>
                <a:ea typeface="+mn-ea"/>
                <a:cs typeface="+mn-cs"/>
              </a:rPr>
              <a:t> Technical work such as operating equipment and systems</a:t>
            </a:r>
          </a:p>
          <a:p>
            <a:pPr lvl="3">
              <a:buFont typeface="Arial" pitchFamily="34" charset="0"/>
              <a:buChar char="•"/>
            </a:pPr>
            <a:r>
              <a:rPr lang="en-AU" sz="1200" kern="1200" dirty="0" smtClean="0">
                <a:solidFill>
                  <a:schemeClr val="tx1"/>
                </a:solidFill>
                <a:latin typeface="+mn-lt"/>
                <a:ea typeface="+mn-ea"/>
                <a:cs typeface="+mn-cs"/>
              </a:rPr>
              <a:t> Completing documentation</a:t>
            </a:r>
          </a:p>
          <a:p>
            <a:pPr lvl="3">
              <a:buFont typeface="Arial" pitchFamily="34" charset="0"/>
              <a:buChar char="•"/>
            </a:pPr>
            <a:r>
              <a:rPr lang="en-AU" sz="1200" kern="1200" dirty="0" smtClean="0">
                <a:solidFill>
                  <a:schemeClr val="tx1"/>
                </a:solidFill>
                <a:latin typeface="+mn-lt"/>
                <a:ea typeface="+mn-ea"/>
                <a:cs typeface="+mn-cs"/>
              </a:rPr>
              <a:t> Cash handling</a:t>
            </a:r>
          </a:p>
          <a:p>
            <a:pPr lvl="3">
              <a:buFont typeface="Arial" pitchFamily="34" charset="0"/>
              <a:buChar char="•"/>
            </a:pPr>
            <a:r>
              <a:rPr lang="en-AU" sz="1200" kern="1200" dirty="0" smtClean="0">
                <a:solidFill>
                  <a:schemeClr val="tx1"/>
                </a:solidFill>
                <a:latin typeface="+mn-lt"/>
                <a:ea typeface="+mn-ea"/>
                <a:cs typeface="+mn-cs"/>
              </a:rPr>
              <a:t> Workplace security</a:t>
            </a:r>
          </a:p>
          <a:p>
            <a:pPr lvl="3">
              <a:buFont typeface="Arial" pitchFamily="34" charset="0"/>
              <a:buChar char="•"/>
            </a:pPr>
            <a:r>
              <a:rPr lang="en-AU" sz="1200" kern="1200" dirty="0" smtClean="0">
                <a:solidFill>
                  <a:schemeClr val="tx1"/>
                </a:solidFill>
                <a:latin typeface="+mn-lt"/>
                <a:ea typeface="+mn-ea"/>
                <a:cs typeface="+mn-cs"/>
              </a:rPr>
              <a:t> Occupational health and security</a:t>
            </a:r>
          </a:p>
          <a:p>
            <a:pPr lvl="1">
              <a:buFont typeface="Arial" pitchFamily="34" charset="0"/>
              <a:buChar char="•"/>
            </a:pPr>
            <a:r>
              <a:rPr lang="en-AU" sz="1200" kern="1200" dirty="0" smtClean="0">
                <a:solidFill>
                  <a:schemeClr val="tx1"/>
                </a:solidFill>
                <a:latin typeface="+mn-lt"/>
                <a:ea typeface="+mn-ea"/>
                <a:cs typeface="+mn-cs"/>
              </a:rPr>
              <a:t> The commitment of the enterprise towards training – in terms of time allowed for staff to undertake training, training costs the enterprise will pay for if staff attend external training.</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Remuneration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This may provide details on:</a:t>
            </a:r>
          </a:p>
          <a:p>
            <a:pPr lvl="1">
              <a:buFont typeface="Arial" pitchFamily="34" charset="0"/>
              <a:buChar char="•"/>
            </a:pPr>
            <a:r>
              <a:rPr lang="en-AU" sz="1200" kern="1200" dirty="0" smtClean="0">
                <a:solidFill>
                  <a:schemeClr val="tx1"/>
                </a:solidFill>
                <a:latin typeface="+mn-lt"/>
                <a:ea typeface="+mn-ea"/>
                <a:cs typeface="+mn-cs"/>
              </a:rPr>
              <a:t> Pay rates for different staff – on an hourly, weekly, fortnightly or annual basis</a:t>
            </a:r>
          </a:p>
          <a:p>
            <a:pPr lvl="1">
              <a:buFont typeface="Arial" pitchFamily="34" charset="0"/>
              <a:buChar char="•"/>
            </a:pPr>
            <a:r>
              <a:rPr lang="en-AU" sz="1200" kern="1200" dirty="0" smtClean="0">
                <a:solidFill>
                  <a:schemeClr val="tx1"/>
                </a:solidFill>
                <a:latin typeface="+mn-lt"/>
                <a:ea typeface="+mn-ea"/>
                <a:cs typeface="+mn-cs"/>
              </a:rPr>
              <a:t> Overtime payments – including when they apply</a:t>
            </a:r>
          </a:p>
          <a:p>
            <a:pPr lvl="1">
              <a:buFont typeface="Arial" pitchFamily="34" charset="0"/>
              <a:buChar char="•"/>
            </a:pPr>
            <a:r>
              <a:rPr lang="en-AU" sz="1200" kern="1200" dirty="0" smtClean="0">
                <a:solidFill>
                  <a:schemeClr val="tx1"/>
                </a:solidFill>
                <a:latin typeface="+mn-lt"/>
                <a:ea typeface="+mn-ea"/>
                <a:cs typeface="+mn-cs"/>
              </a:rPr>
              <a:t> Pay rates for holiday periods – and any designated ‘penalty periods’ (which may include weekend work, late night work, early morning work).</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Probationary period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 probationary period occurs when a new employee starts work with an employer. It is commonly a three month period during which:</a:t>
            </a:r>
          </a:p>
          <a:p>
            <a:pPr lvl="1">
              <a:buFont typeface="Arial" pitchFamily="34" charset="0"/>
              <a:buChar char="•"/>
            </a:pPr>
            <a:r>
              <a:rPr lang="en-AU" sz="1200" kern="1200" dirty="0" smtClean="0">
                <a:solidFill>
                  <a:schemeClr val="tx1"/>
                </a:solidFill>
                <a:latin typeface="+mn-lt"/>
                <a:ea typeface="+mn-ea"/>
                <a:cs typeface="+mn-cs"/>
              </a:rPr>
              <a:t> The employer can determine whether or not they are going to continue employing the new staff member</a:t>
            </a:r>
          </a:p>
          <a:p>
            <a:pPr lvl="1">
              <a:buFont typeface="Arial" pitchFamily="34" charset="0"/>
              <a:buChar char="•"/>
            </a:pPr>
            <a:r>
              <a:rPr lang="en-AU" sz="1200" kern="1200" dirty="0" smtClean="0">
                <a:solidFill>
                  <a:schemeClr val="tx1"/>
                </a:solidFill>
                <a:latin typeface="+mn-lt"/>
                <a:ea typeface="+mn-ea"/>
                <a:cs typeface="+mn-cs"/>
              </a:rPr>
              <a:t> The new employee is ‘on probation’ – their work and they themselves are under scrutiny to see if they measure up</a:t>
            </a:r>
          </a:p>
          <a:p>
            <a:pPr lvl="1">
              <a:buFont typeface="Arial" pitchFamily="34" charset="0"/>
              <a:buChar char="•"/>
            </a:pPr>
            <a:r>
              <a:rPr lang="en-AU" sz="1200" kern="1200" dirty="0" smtClean="0">
                <a:solidFill>
                  <a:schemeClr val="tx1"/>
                </a:solidFill>
                <a:latin typeface="+mn-lt"/>
                <a:ea typeface="+mn-ea"/>
                <a:cs typeface="+mn-cs"/>
              </a:rPr>
              <a:t> The employer is entitled to dismiss them without being concerned about unfair dismissal accusations being levelled at them</a:t>
            </a:r>
          </a:p>
          <a:p>
            <a:pPr lvl="1">
              <a:buFont typeface="Arial" pitchFamily="34" charset="0"/>
              <a:buChar char="•"/>
            </a:pPr>
            <a:r>
              <a:rPr lang="en-AU" sz="1200" kern="1200" dirty="0" smtClean="0">
                <a:solidFill>
                  <a:schemeClr val="tx1"/>
                </a:solidFill>
                <a:latin typeface="+mn-lt"/>
                <a:ea typeface="+mn-ea"/>
                <a:cs typeface="+mn-cs"/>
              </a:rPr>
              <a:t> The employee can elect to leave the employer.</a:t>
            </a:r>
          </a:p>
          <a:p>
            <a:pPr>
              <a:buFont typeface="Arial" pitchFamily="34" charset="0"/>
              <a:buChar char="•"/>
            </a:pPr>
            <a:r>
              <a:rPr lang="en-AU" sz="1200" kern="1200" dirty="0" smtClean="0">
                <a:solidFill>
                  <a:schemeClr val="tx1"/>
                </a:solidFill>
                <a:latin typeface="+mn-lt"/>
                <a:ea typeface="+mn-ea"/>
                <a:cs typeface="+mn-cs"/>
              </a:rPr>
              <a:t> Some enterprises do not have probationary periods, and some have periods longer then three months.</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Terms and conditions of employment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These set out the working conditions of the staff such as:</a:t>
            </a:r>
          </a:p>
          <a:p>
            <a:pPr lvl="1">
              <a:buFont typeface="Arial" pitchFamily="34" charset="0"/>
              <a:buChar char="•"/>
            </a:pPr>
            <a:r>
              <a:rPr lang="en-AU" sz="1200" kern="1200" dirty="0" smtClean="0">
                <a:solidFill>
                  <a:schemeClr val="tx1"/>
                </a:solidFill>
                <a:latin typeface="+mn-lt"/>
                <a:ea typeface="+mn-ea"/>
                <a:cs typeface="+mn-cs"/>
              </a:rPr>
              <a:t> When they are entitled to rest breaks and meal breaks</a:t>
            </a:r>
          </a:p>
          <a:p>
            <a:pPr lvl="1">
              <a:buFont typeface="Arial" pitchFamily="34" charset="0"/>
              <a:buChar char="•"/>
            </a:pPr>
            <a:r>
              <a:rPr lang="en-AU" sz="1200" kern="1200" dirty="0" smtClean="0">
                <a:solidFill>
                  <a:schemeClr val="tx1"/>
                </a:solidFill>
                <a:latin typeface="+mn-lt"/>
                <a:ea typeface="+mn-ea"/>
                <a:cs typeface="+mn-cs"/>
              </a:rPr>
              <a:t> Length of the working day – hours worked per week</a:t>
            </a:r>
          </a:p>
          <a:p>
            <a:pPr lvl="1">
              <a:buFont typeface="Arial" pitchFamily="34" charset="0"/>
              <a:buChar char="•"/>
            </a:pPr>
            <a:r>
              <a:rPr lang="en-AU" sz="1200" kern="1200" dirty="0" smtClean="0">
                <a:solidFill>
                  <a:schemeClr val="tx1"/>
                </a:solidFill>
                <a:latin typeface="+mn-lt"/>
                <a:ea typeface="+mn-ea"/>
                <a:cs typeface="+mn-cs"/>
              </a:rPr>
              <a:t> Entitlements to sick leave – both paid and unpaid</a:t>
            </a:r>
          </a:p>
          <a:p>
            <a:pPr lvl="1">
              <a:buFont typeface="Arial" pitchFamily="34" charset="0"/>
              <a:buChar char="•"/>
            </a:pPr>
            <a:r>
              <a:rPr lang="en-AU" sz="1200" kern="1200" dirty="0" smtClean="0">
                <a:solidFill>
                  <a:schemeClr val="tx1"/>
                </a:solidFill>
                <a:latin typeface="+mn-lt"/>
                <a:ea typeface="+mn-ea"/>
                <a:cs typeface="+mn-cs"/>
              </a:rPr>
              <a:t> Holiday entitlements and annual leave</a:t>
            </a:r>
          </a:p>
          <a:p>
            <a:pPr lvl="1">
              <a:buFont typeface="Arial" pitchFamily="34" charset="0"/>
              <a:buChar char="•"/>
            </a:pPr>
            <a:r>
              <a:rPr lang="en-AU" sz="1200" kern="1200" dirty="0" smtClean="0">
                <a:solidFill>
                  <a:schemeClr val="tx1"/>
                </a:solidFill>
                <a:latin typeface="+mn-lt"/>
                <a:ea typeface="+mn-ea"/>
                <a:cs typeface="+mn-cs"/>
              </a:rPr>
              <a:t> Superannuation.</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Benefits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Not all enterprises offer ‘benefits’ to workers. Where benefits are offered:</a:t>
            </a:r>
          </a:p>
          <a:p>
            <a:pPr>
              <a:buFont typeface="Arial" pitchFamily="34" charset="0"/>
              <a:buChar char="•"/>
            </a:pPr>
            <a:r>
              <a:rPr lang="en-AU" sz="1200" kern="1200" dirty="0" smtClean="0">
                <a:solidFill>
                  <a:schemeClr val="tx1"/>
                </a:solidFill>
                <a:latin typeface="+mn-lt"/>
                <a:ea typeface="+mn-ea"/>
                <a:cs typeface="+mn-cs"/>
              </a:rPr>
              <a:t> There is usually a qualifying period – commonly the employee must have completed their probation period, or have worked for one year</a:t>
            </a:r>
          </a:p>
          <a:p>
            <a:pPr>
              <a:buFont typeface="Arial" pitchFamily="34" charset="0"/>
              <a:buChar char="•"/>
            </a:pPr>
            <a:r>
              <a:rPr lang="en-AU" sz="1200" kern="1200" dirty="0" smtClean="0">
                <a:solidFill>
                  <a:schemeClr val="tx1"/>
                </a:solidFill>
                <a:latin typeface="+mn-lt"/>
                <a:ea typeface="+mn-ea"/>
                <a:cs typeface="+mn-cs"/>
              </a:rPr>
              <a:t> They may relate to:</a:t>
            </a:r>
          </a:p>
          <a:p>
            <a:pPr lvl="1">
              <a:buFont typeface="Arial" pitchFamily="34" charset="0"/>
              <a:buChar char="•"/>
            </a:pPr>
            <a:r>
              <a:rPr lang="en-AU" sz="1200" kern="1200" dirty="0" smtClean="0">
                <a:solidFill>
                  <a:schemeClr val="tx1"/>
                </a:solidFill>
                <a:latin typeface="+mn-lt"/>
                <a:ea typeface="+mn-ea"/>
                <a:cs typeface="+mn-cs"/>
              </a:rPr>
              <a:t> Discounts when buying enterprise products or services</a:t>
            </a:r>
          </a:p>
          <a:p>
            <a:pPr lvl="1">
              <a:buFont typeface="Arial" pitchFamily="34" charset="0"/>
              <a:buChar char="•"/>
            </a:pPr>
            <a:r>
              <a:rPr lang="en-AU" sz="1200" kern="1200" dirty="0" smtClean="0">
                <a:solidFill>
                  <a:schemeClr val="tx1"/>
                </a:solidFill>
                <a:latin typeface="+mn-lt"/>
                <a:ea typeface="+mn-ea"/>
                <a:cs typeface="+mn-cs"/>
              </a:rPr>
              <a:t> Access to certain products or services in the workplace</a:t>
            </a:r>
          </a:p>
          <a:p>
            <a:pPr lvl="1">
              <a:buFont typeface="Arial" pitchFamily="34" charset="0"/>
              <a:buChar char="•"/>
            </a:pPr>
            <a:r>
              <a:rPr lang="en-AU" sz="1200" kern="1200" dirty="0" smtClean="0">
                <a:solidFill>
                  <a:schemeClr val="tx1"/>
                </a:solidFill>
                <a:latin typeface="+mn-lt"/>
                <a:ea typeface="+mn-ea"/>
                <a:cs typeface="+mn-cs"/>
              </a:rPr>
              <a:t> Additional training or opportunities </a:t>
            </a:r>
          </a:p>
          <a:p>
            <a:pPr lvl="1">
              <a:buFont typeface="Arial" pitchFamily="34" charset="0"/>
              <a:buChar char="•"/>
            </a:pPr>
            <a:r>
              <a:rPr lang="en-AU" sz="1200" kern="1200" dirty="0" smtClean="0">
                <a:solidFill>
                  <a:schemeClr val="tx1"/>
                </a:solidFill>
                <a:latin typeface="+mn-lt"/>
                <a:ea typeface="+mn-ea"/>
                <a:cs typeface="+mn-cs"/>
              </a:rPr>
              <a:t> Workplace awards and rewards – for effort or achievement.</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General staff behaviour and presentation </a:t>
            </a:r>
            <a:r>
              <a:rPr lang="en-AU" sz="1200" b="0" i="0" kern="1200" dirty="0" smtClean="0">
                <a:solidFill>
                  <a:schemeClr val="tx1"/>
                </a:solidFill>
                <a:latin typeface="+mn-lt"/>
                <a:ea typeface="+mn-ea"/>
                <a:cs typeface="+mn-cs"/>
              </a:rPr>
              <a:t>– may be two separate policies</a:t>
            </a:r>
          </a:p>
          <a:p>
            <a:pPr>
              <a:buFont typeface="Arial" pitchFamily="34" charset="0"/>
              <a:buChar char="•"/>
            </a:pPr>
            <a:r>
              <a:rPr lang="en-AU" sz="1200" kern="1200" dirty="0" smtClean="0">
                <a:solidFill>
                  <a:schemeClr val="tx1"/>
                </a:solidFill>
                <a:latin typeface="+mn-lt"/>
                <a:ea typeface="+mn-ea"/>
                <a:cs typeface="+mn-cs"/>
              </a:rPr>
              <a:t> There is commonly a raft of policies dictating enterprise expectations in relation to:</a:t>
            </a:r>
          </a:p>
          <a:p>
            <a:pPr lvl="1">
              <a:buFont typeface="Arial" pitchFamily="34" charset="0"/>
              <a:buChar char="•"/>
            </a:pPr>
            <a:r>
              <a:rPr lang="en-AU" sz="1200" kern="1200" dirty="0" smtClean="0">
                <a:solidFill>
                  <a:schemeClr val="tx1"/>
                </a:solidFill>
                <a:latin typeface="+mn-lt"/>
                <a:ea typeface="+mn-ea"/>
                <a:cs typeface="+mn-cs"/>
              </a:rPr>
              <a:t> Uniform – wearing,</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cleaning,</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laundering and replacement of uniform</a:t>
            </a:r>
          </a:p>
          <a:p>
            <a:pPr lvl="1">
              <a:buFont typeface="Arial" pitchFamily="34" charset="0"/>
              <a:buChar char="•"/>
            </a:pPr>
            <a:r>
              <a:rPr lang="en-AU" sz="1200" kern="1200" dirty="0" smtClean="0">
                <a:solidFill>
                  <a:schemeClr val="tx1"/>
                </a:solidFill>
                <a:latin typeface="+mn-lt"/>
                <a:ea typeface="+mn-ea"/>
                <a:cs typeface="+mn-cs"/>
              </a:rPr>
              <a:t> Personal presentation –personal hygiene, hair, facial hair, wearing of make-up and jewellery, grooming and deportment</a:t>
            </a:r>
          </a:p>
          <a:p>
            <a:pPr lvl="1">
              <a:buFont typeface="Arial" pitchFamily="34" charset="0"/>
              <a:buChar char="•"/>
            </a:pPr>
            <a:r>
              <a:rPr lang="en-AU" sz="1200" kern="1200" dirty="0" smtClean="0">
                <a:solidFill>
                  <a:schemeClr val="tx1"/>
                </a:solidFill>
                <a:latin typeface="+mn-lt"/>
                <a:ea typeface="+mn-ea"/>
                <a:cs typeface="+mn-cs"/>
              </a:rPr>
              <a:t> Smoking – some businesses will ban smoking totally during work hours,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some venues will require staff to brush their teeth or use mints after smoking and before serving customers</a:t>
            </a:r>
          </a:p>
          <a:p>
            <a:pPr lvl="1">
              <a:buFont typeface="Arial" pitchFamily="34" charset="0"/>
              <a:buChar char="•"/>
            </a:pPr>
            <a:r>
              <a:rPr lang="en-AU" sz="1200" kern="1200" dirty="0" smtClean="0">
                <a:solidFill>
                  <a:schemeClr val="tx1"/>
                </a:solidFill>
                <a:latin typeface="+mn-lt"/>
                <a:ea typeface="+mn-ea"/>
                <a:cs typeface="+mn-cs"/>
              </a:rPr>
              <a:t> Tact and diplomacy – this is especially important for staff who have direct contact with customers and the common requirement is all employees are expected to use tact and discretion when dealing with all people (including suppliers, agents, other staff)</a:t>
            </a:r>
          </a:p>
          <a:p>
            <a:pPr lvl="1">
              <a:buFont typeface="Arial" pitchFamily="34" charset="0"/>
              <a:buChar char="•"/>
            </a:pPr>
            <a:r>
              <a:rPr lang="en-AU" sz="1200" kern="1200" dirty="0" smtClean="0">
                <a:solidFill>
                  <a:schemeClr val="tx1"/>
                </a:solidFill>
                <a:latin typeface="+mn-lt"/>
                <a:ea typeface="+mn-ea"/>
                <a:cs typeface="+mn-cs"/>
              </a:rPr>
              <a:t> Sickness – every enterprise will require staff to notify the business as soon as possible if they are unable to attend work for any reason, including illness. Some enterprises may require staff who are unable to work due to illness to provide a medical certificate proving they were ill. In food handling situations, many employers require those directly involved in the handling of food (other than food in sealed containers) to supply a medical certificate stating as a food worker they are fit to return to work and food handling duties.</a:t>
            </a:r>
          </a:p>
          <a:p>
            <a:pPr lvl="1">
              <a:buFont typeface="Arial" pitchFamily="34" charset="0"/>
              <a:buChar char="•"/>
            </a:pPr>
            <a:r>
              <a:rPr lang="en-AU" sz="1200" kern="1200" dirty="0" smtClean="0">
                <a:solidFill>
                  <a:schemeClr val="tx1"/>
                </a:solidFill>
                <a:latin typeface="+mn-lt"/>
                <a:ea typeface="+mn-ea"/>
                <a:cs typeface="+mn-cs"/>
              </a:rPr>
              <a:t> Attendance and punctuality – most venues will require employees to:</a:t>
            </a:r>
          </a:p>
          <a:p>
            <a:pPr lvl="2">
              <a:buFont typeface="Arial" pitchFamily="34" charset="0"/>
              <a:buChar char="•"/>
            </a:pPr>
            <a:r>
              <a:rPr lang="en-AU" sz="1200" kern="1200" dirty="0" smtClean="0">
                <a:solidFill>
                  <a:schemeClr val="tx1"/>
                </a:solidFill>
                <a:latin typeface="+mn-lt"/>
                <a:ea typeface="+mn-ea"/>
                <a:cs typeface="+mn-cs"/>
              </a:rPr>
              <a:t> Come to work on time as indicated by the official roster</a:t>
            </a:r>
          </a:p>
          <a:p>
            <a:pPr lvl="2">
              <a:buFont typeface="Arial" pitchFamily="34" charset="0"/>
              <a:buChar char="•"/>
            </a:pPr>
            <a:r>
              <a:rPr lang="en-AU" sz="1200" kern="1200" dirty="0" smtClean="0">
                <a:solidFill>
                  <a:schemeClr val="tx1"/>
                </a:solidFill>
                <a:latin typeface="+mn-lt"/>
                <a:ea typeface="+mn-ea"/>
                <a:cs typeface="+mn-cs"/>
              </a:rPr>
              <a:t> Remain at work until their rostered time for breaks or departure</a:t>
            </a:r>
          </a:p>
          <a:p>
            <a:pPr lvl="2">
              <a:buFont typeface="Arial" pitchFamily="34" charset="0"/>
              <a:buChar char="•"/>
            </a:pPr>
            <a:r>
              <a:rPr lang="en-AU" sz="1200" kern="1200" dirty="0" smtClean="0">
                <a:solidFill>
                  <a:schemeClr val="tx1"/>
                </a:solidFill>
                <a:latin typeface="+mn-lt"/>
                <a:ea typeface="+mn-ea"/>
                <a:cs typeface="+mn-cs"/>
              </a:rPr>
              <a:t> Work reasonable amounts of overtime as requested by their employer</a:t>
            </a:r>
          </a:p>
          <a:p>
            <a:pPr lvl="2">
              <a:buFont typeface="Arial" pitchFamily="34" charset="0"/>
              <a:buChar char="•"/>
            </a:pPr>
            <a:r>
              <a:rPr lang="en-AU" sz="1200" kern="1200" dirty="0" smtClean="0">
                <a:solidFill>
                  <a:schemeClr val="tx1"/>
                </a:solidFill>
                <a:latin typeface="+mn-lt"/>
                <a:ea typeface="+mn-ea"/>
                <a:cs typeface="+mn-cs"/>
              </a:rPr>
              <a:t> Not leave work when dealing with a customer</a:t>
            </a:r>
          </a:p>
          <a:p>
            <a:pPr lvl="2">
              <a:buFont typeface="Arial" pitchFamily="34" charset="0"/>
              <a:buChar char="•"/>
            </a:pPr>
            <a:r>
              <a:rPr lang="en-AU" sz="1200" kern="1200" dirty="0" smtClean="0">
                <a:solidFill>
                  <a:schemeClr val="tx1"/>
                </a:solidFill>
                <a:latin typeface="+mn-lt"/>
                <a:ea typeface="+mn-ea"/>
                <a:cs typeface="+mn-cs"/>
              </a:rPr>
              <a:t> Notify management as soon as possible if unable to attend work for any reason</a:t>
            </a:r>
          </a:p>
          <a:p>
            <a:pPr lvl="1">
              <a:buFont typeface="Arial" pitchFamily="34" charset="0"/>
              <a:buChar char="•"/>
            </a:pPr>
            <a:r>
              <a:rPr lang="en-AU" sz="1200" kern="1200" dirty="0" smtClean="0">
                <a:solidFill>
                  <a:schemeClr val="tx1"/>
                </a:solidFill>
                <a:latin typeface="+mn-lt"/>
                <a:ea typeface="+mn-ea"/>
                <a:cs typeface="+mn-cs"/>
              </a:rPr>
              <a:t> Use of company property – most venues prohibit staff from using company property for personal use or gain. This means:</a:t>
            </a:r>
          </a:p>
          <a:p>
            <a:pPr lvl="2">
              <a:buFont typeface="Arial" pitchFamily="34" charset="0"/>
              <a:buChar char="•"/>
            </a:pPr>
            <a:r>
              <a:rPr lang="en-AU" sz="1200" kern="1200" dirty="0" smtClean="0">
                <a:solidFill>
                  <a:schemeClr val="tx1"/>
                </a:solidFill>
                <a:latin typeface="+mn-lt"/>
                <a:ea typeface="+mn-ea"/>
                <a:cs typeface="+mn-cs"/>
              </a:rPr>
              <a:t> Workplace telephones cannot be used for private calls</a:t>
            </a:r>
          </a:p>
          <a:p>
            <a:pPr lvl="2">
              <a:buFont typeface="Arial" pitchFamily="34" charset="0"/>
              <a:buChar char="•"/>
            </a:pPr>
            <a:r>
              <a:rPr lang="en-AU" sz="1200" kern="1200" dirty="0" smtClean="0">
                <a:solidFill>
                  <a:schemeClr val="tx1"/>
                </a:solidFill>
                <a:latin typeface="+mn-lt"/>
                <a:ea typeface="+mn-ea"/>
                <a:cs typeface="+mn-cs"/>
              </a:rPr>
              <a:t> Workplace computers and internet cannot be used for private purposes</a:t>
            </a:r>
          </a:p>
          <a:p>
            <a:pPr lvl="2">
              <a:buFont typeface="Arial" pitchFamily="34" charset="0"/>
              <a:buChar char="•"/>
            </a:pPr>
            <a:r>
              <a:rPr lang="en-AU" sz="1200" kern="1200" dirty="0" smtClean="0">
                <a:solidFill>
                  <a:schemeClr val="tx1"/>
                </a:solidFill>
                <a:latin typeface="+mn-lt"/>
                <a:ea typeface="+mn-ea"/>
                <a:cs typeface="+mn-cs"/>
              </a:rPr>
              <a:t> Products and services (such as but not limited to food, beverages, stationery, tickets, complimentary guest items) cannot be used or taken by staff – this is regarded as stealing and may lead to instant dismissal and criminal; prosecution.</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Composition of interview and selection panels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Enterprises often provide explicit direction regarding:</a:t>
            </a:r>
          </a:p>
          <a:p>
            <a:pPr lvl="1">
              <a:buFont typeface="Arial" pitchFamily="34" charset="0"/>
              <a:buChar char="•"/>
            </a:pPr>
            <a:r>
              <a:rPr lang="en-AU" sz="1200" kern="1200" dirty="0" smtClean="0">
                <a:solidFill>
                  <a:schemeClr val="tx1"/>
                </a:solidFill>
                <a:latin typeface="+mn-lt"/>
                <a:ea typeface="+mn-ea"/>
                <a:cs typeface="+mn-cs"/>
              </a:rPr>
              <a:t> The number of people who must be present when a job interview is conducted – the number may vary with the type of job for which the interview is being conducted</a:t>
            </a:r>
          </a:p>
          <a:p>
            <a:pPr lvl="1">
              <a:buFont typeface="Arial" pitchFamily="34" charset="0"/>
              <a:buChar char="•"/>
            </a:pPr>
            <a:r>
              <a:rPr lang="en-AU" sz="1200" kern="1200" dirty="0" smtClean="0">
                <a:solidFill>
                  <a:schemeClr val="tx1"/>
                </a:solidFill>
                <a:latin typeface="+mn-lt"/>
                <a:ea typeface="+mn-ea"/>
                <a:cs typeface="+mn-cs"/>
              </a:rPr>
              <a:t> The experience or position of those who are to comprise the interview panel</a:t>
            </a:r>
          </a:p>
          <a:p>
            <a:pPr lvl="1">
              <a:buFont typeface="Arial" pitchFamily="34" charset="0"/>
              <a:buChar char="•"/>
            </a:pPr>
            <a:r>
              <a:rPr lang="en-AU" sz="1200" kern="1200" dirty="0" smtClean="0">
                <a:solidFill>
                  <a:schemeClr val="tx1"/>
                </a:solidFill>
                <a:latin typeface="+mn-lt"/>
                <a:ea typeface="+mn-ea"/>
                <a:cs typeface="+mn-cs"/>
              </a:rPr>
              <a:t> The role to be played by each person on the panel.</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Designated authorities for hiring staff</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When job interviews have been conducted and a decision has been made about who to hire, a recommendation may need to be passed to a higher authority (such as the business owner or manager) so they can make the final hiring decision.</a:t>
            </a:r>
          </a:p>
          <a:p>
            <a:pPr>
              <a:buFont typeface="Arial" pitchFamily="34" charset="0"/>
              <a:buChar char="•"/>
            </a:pPr>
            <a:r>
              <a:rPr lang="en-AU" sz="1200" kern="1200" dirty="0" smtClean="0">
                <a:solidFill>
                  <a:schemeClr val="tx1"/>
                </a:solidFill>
                <a:latin typeface="+mn-lt"/>
                <a:ea typeface="+mn-ea"/>
                <a:cs typeface="+mn-cs"/>
              </a:rPr>
              <a:t> Policies and procedures in this regard may stipulate:</a:t>
            </a:r>
          </a:p>
          <a:p>
            <a:pPr lvl="1">
              <a:buFont typeface="Arial" pitchFamily="34" charset="0"/>
              <a:buChar char="•"/>
            </a:pPr>
            <a:r>
              <a:rPr lang="en-AU" sz="1200" kern="1200" dirty="0" smtClean="0">
                <a:solidFill>
                  <a:schemeClr val="tx1"/>
                </a:solidFill>
                <a:latin typeface="+mn-lt"/>
                <a:ea typeface="+mn-ea"/>
                <a:cs typeface="+mn-cs"/>
              </a:rPr>
              <a:t> Timeframe for notification</a:t>
            </a:r>
          </a:p>
          <a:p>
            <a:pPr lvl="1">
              <a:buFont typeface="Arial" pitchFamily="34" charset="0"/>
              <a:buChar char="•"/>
            </a:pPr>
            <a:r>
              <a:rPr lang="en-AU" sz="1200" kern="1200" dirty="0" smtClean="0">
                <a:solidFill>
                  <a:schemeClr val="tx1"/>
                </a:solidFill>
                <a:latin typeface="+mn-lt"/>
                <a:ea typeface="+mn-ea"/>
                <a:cs typeface="+mn-cs"/>
              </a:rPr>
              <a:t> Information/documentation to accompany the recommendation – such as CV, results of tests administered, interview sheets</a:t>
            </a:r>
          </a:p>
          <a:p>
            <a:pPr lvl="1">
              <a:buFont typeface="Arial" pitchFamily="34" charset="0"/>
              <a:buChar char="•"/>
            </a:pPr>
            <a:r>
              <a:rPr lang="en-AU" sz="1200" kern="1200" dirty="0" smtClean="0">
                <a:solidFill>
                  <a:schemeClr val="tx1"/>
                </a:solidFill>
                <a:latin typeface="+mn-lt"/>
                <a:ea typeface="+mn-ea"/>
                <a:cs typeface="+mn-cs"/>
              </a:rPr>
              <a:t> Nominated persons with authority to make the ultimate hiring decision.</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Discretionary power</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In some enterprises nominated people (such as Supervisors, Department Managers and Heads of Divisions) may be given discretionary power to make on-the-spot decisions in an interview situation (or as part of employment negotiations) to:</a:t>
            </a:r>
          </a:p>
          <a:p>
            <a:pPr lvl="1">
              <a:buFont typeface="Arial" pitchFamily="34" charset="0"/>
              <a:buChar char="•"/>
            </a:pPr>
            <a:r>
              <a:rPr lang="en-AU" sz="1200" kern="1200" dirty="0" smtClean="0">
                <a:solidFill>
                  <a:schemeClr val="tx1"/>
                </a:solidFill>
                <a:latin typeface="+mn-lt"/>
                <a:ea typeface="+mn-ea"/>
                <a:cs typeface="+mn-cs"/>
              </a:rPr>
              <a:t> Negotiate remuneration with individual applicants – where, for example, the enterprise wants to engage an applicant who appears reluctant or who has skills, experience and ability the business desperately wants to obtain</a:t>
            </a:r>
          </a:p>
          <a:p>
            <a:pPr lvl="1">
              <a:buFont typeface="Arial" pitchFamily="34" charset="0"/>
              <a:buChar char="•"/>
            </a:pPr>
            <a:r>
              <a:rPr lang="en-AU" sz="1200" kern="1200" dirty="0" smtClean="0">
                <a:solidFill>
                  <a:schemeClr val="tx1"/>
                </a:solidFill>
                <a:latin typeface="+mn-lt"/>
                <a:ea typeface="+mn-ea"/>
                <a:cs typeface="+mn-cs"/>
              </a:rPr>
              <a:t> Negotiate conditions of employment – which may embrace issues such as:</a:t>
            </a:r>
          </a:p>
          <a:p>
            <a:pPr lvl="2">
              <a:buFont typeface="Arial" pitchFamily="34" charset="0"/>
              <a:buChar char="•"/>
            </a:pPr>
            <a:r>
              <a:rPr lang="en-AU" sz="1200" kern="1200" dirty="0" smtClean="0">
                <a:solidFill>
                  <a:schemeClr val="tx1"/>
                </a:solidFill>
                <a:latin typeface="+mn-lt"/>
                <a:ea typeface="+mn-ea"/>
                <a:cs typeface="+mn-cs"/>
              </a:rPr>
              <a:t> Bonuses – sometimes linked to negotiated KPIs</a:t>
            </a:r>
          </a:p>
          <a:p>
            <a:pPr lvl="2">
              <a:buFont typeface="Arial" pitchFamily="34" charset="0"/>
              <a:buChar char="•"/>
            </a:pPr>
            <a:r>
              <a:rPr lang="en-AU" sz="1200" kern="1200" dirty="0" smtClean="0">
                <a:solidFill>
                  <a:schemeClr val="tx1"/>
                </a:solidFill>
                <a:latin typeface="+mn-lt"/>
                <a:ea typeface="+mn-ea"/>
                <a:cs typeface="+mn-cs"/>
              </a:rPr>
              <a:t> Days and hours of work – to accommodate those with other commitments, or a need to only work a limited number of hours per week </a:t>
            </a:r>
          </a:p>
          <a:p>
            <a:pPr lvl="2">
              <a:buFont typeface="Arial" pitchFamily="34" charset="0"/>
              <a:buChar char="•"/>
            </a:pPr>
            <a:r>
              <a:rPr lang="en-AU" sz="1200" kern="1200" dirty="0" smtClean="0">
                <a:solidFill>
                  <a:schemeClr val="tx1"/>
                </a:solidFill>
                <a:latin typeface="+mn-lt"/>
                <a:ea typeface="+mn-ea"/>
                <a:cs typeface="+mn-cs"/>
              </a:rPr>
              <a:t> Benefits – which can cover a wide range of items depending on the job (such as such as travel, a car, telephone allowance, uniform/dress allowance, accommodation, subscription to magazines, attendance at conferences).</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and explain to trainees possible workplace staffing policies and procedures:</a:t>
            </a:r>
          </a:p>
          <a:p>
            <a:r>
              <a:rPr lang="en-AU" sz="1200" b="1" i="1" kern="1200" dirty="0" smtClean="0">
                <a:solidFill>
                  <a:schemeClr val="tx1"/>
                </a:solidFill>
                <a:latin typeface="+mn-lt"/>
                <a:ea typeface="+mn-ea"/>
                <a:cs typeface="+mn-cs"/>
              </a:rPr>
              <a:t>Legislation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All enterprises will make statements requiring their operations to align with relevant in-country legislation at it applies to matters such as:</a:t>
            </a:r>
          </a:p>
          <a:p>
            <a:pPr lvl="1">
              <a:buFont typeface="Arial" pitchFamily="34" charset="0"/>
              <a:buChar char="•"/>
            </a:pPr>
            <a:r>
              <a:rPr lang="en-AU" sz="1200" kern="1200" dirty="0" smtClean="0">
                <a:solidFill>
                  <a:schemeClr val="tx1"/>
                </a:solidFill>
                <a:latin typeface="+mn-lt"/>
                <a:ea typeface="+mn-ea"/>
                <a:cs typeface="+mn-cs"/>
              </a:rPr>
              <a:t> Industrial relations (IR) – setting out the protocols for dealing with industrial disputes and pay claims</a:t>
            </a:r>
          </a:p>
          <a:p>
            <a:pPr lvl="1">
              <a:buFont typeface="Arial" pitchFamily="34" charset="0"/>
              <a:buChar char="•"/>
            </a:pPr>
            <a:r>
              <a:rPr lang="en-AU" sz="1200" kern="1200" dirty="0" smtClean="0">
                <a:solidFill>
                  <a:schemeClr val="tx1"/>
                </a:solidFill>
                <a:latin typeface="+mn-lt"/>
                <a:ea typeface="+mn-ea"/>
                <a:cs typeface="+mn-cs"/>
              </a:rPr>
              <a:t> Equal opportunity and diversity – to ensure workers are free from discrimination in relation to:</a:t>
            </a:r>
          </a:p>
          <a:p>
            <a:pPr lvl="2">
              <a:buFont typeface="Arial" pitchFamily="34" charset="0"/>
              <a:buChar char="•"/>
            </a:pPr>
            <a:r>
              <a:rPr lang="en-AU" sz="1200" kern="1200" dirty="0" smtClean="0">
                <a:solidFill>
                  <a:schemeClr val="tx1"/>
                </a:solidFill>
                <a:latin typeface="+mn-lt"/>
                <a:ea typeface="+mn-ea"/>
                <a:cs typeface="+mn-cs"/>
              </a:rPr>
              <a:t> Employment</a:t>
            </a:r>
          </a:p>
          <a:p>
            <a:pPr lvl="2">
              <a:buFont typeface="Arial" pitchFamily="34" charset="0"/>
              <a:buChar char="•"/>
            </a:pPr>
            <a:r>
              <a:rPr lang="en-AU" sz="1200" kern="1200" dirty="0" smtClean="0">
                <a:solidFill>
                  <a:schemeClr val="tx1"/>
                </a:solidFill>
                <a:latin typeface="+mn-lt"/>
                <a:ea typeface="+mn-ea"/>
                <a:cs typeface="+mn-cs"/>
              </a:rPr>
              <a:t> Promotion</a:t>
            </a:r>
          </a:p>
          <a:p>
            <a:pPr lvl="2">
              <a:buFont typeface="Arial" pitchFamily="34" charset="0"/>
              <a:buChar char="•"/>
            </a:pPr>
            <a:r>
              <a:rPr lang="en-AU" sz="1200" kern="1200" dirty="0" smtClean="0">
                <a:solidFill>
                  <a:schemeClr val="tx1"/>
                </a:solidFill>
                <a:latin typeface="+mn-lt"/>
                <a:ea typeface="+mn-ea"/>
                <a:cs typeface="+mn-cs"/>
              </a:rPr>
              <a:t> Training</a:t>
            </a:r>
          </a:p>
          <a:p>
            <a:pPr lvl="2">
              <a:buFont typeface="Arial" pitchFamily="34" charset="0"/>
              <a:buChar char="•"/>
            </a:pPr>
            <a:r>
              <a:rPr lang="en-AU" sz="1200" kern="1200" dirty="0" smtClean="0">
                <a:solidFill>
                  <a:schemeClr val="tx1"/>
                </a:solidFill>
                <a:latin typeface="+mn-lt"/>
                <a:ea typeface="+mn-ea"/>
                <a:cs typeface="+mn-cs"/>
              </a:rPr>
              <a:t> Discipline</a:t>
            </a:r>
          </a:p>
          <a:p>
            <a:pPr lvl="2">
              <a:buFont typeface="Arial" pitchFamily="34" charset="0"/>
              <a:buChar char="•"/>
            </a:pPr>
            <a:r>
              <a:rPr lang="en-AU" sz="1200" kern="1200" dirty="0" smtClean="0">
                <a:solidFill>
                  <a:schemeClr val="tx1"/>
                </a:solidFill>
                <a:latin typeface="+mn-lt"/>
                <a:ea typeface="+mn-ea"/>
                <a:cs typeface="+mn-cs"/>
              </a:rPr>
              <a:t> Dismissal.</a:t>
            </a:r>
          </a:p>
          <a:p>
            <a:pPr lvl="2">
              <a:buFont typeface="Arial" pitchFamily="34" charset="0"/>
              <a:buNone/>
            </a:pPr>
            <a:r>
              <a:rPr lang="en-AU" sz="1200" kern="1200" dirty="0" smtClean="0">
                <a:solidFill>
                  <a:schemeClr val="tx1"/>
                </a:solidFill>
                <a:latin typeface="+mn-lt"/>
                <a:ea typeface="+mn-ea"/>
                <a:cs typeface="+mn-cs"/>
              </a:rPr>
              <a:t>Employers will want staff to be treated fairly regardless of their age, ethnicity, gender or age.</a:t>
            </a:r>
          </a:p>
          <a:p>
            <a:pPr lvl="1">
              <a:buFont typeface="Arial" pitchFamily="34" charset="0"/>
              <a:buChar char="•"/>
            </a:pPr>
            <a:r>
              <a:rPr lang="en-AU" sz="1200" kern="1200" dirty="0" smtClean="0">
                <a:solidFill>
                  <a:schemeClr val="tx1"/>
                </a:solidFill>
                <a:latin typeface="+mn-lt"/>
                <a:ea typeface="+mn-ea"/>
                <a:cs typeface="+mn-cs"/>
              </a:rPr>
              <a:t> Registration for insurance and superannuation – and payment of relevant premiums and contributions.</a:t>
            </a:r>
          </a:p>
          <a:p>
            <a:pPr>
              <a:buFont typeface="Arial" pitchFamily="34" charset="0"/>
              <a:buNone/>
            </a:pPr>
            <a:endParaRPr lang="en-US" dirty="0" smtClean="0"/>
          </a:p>
          <a:p>
            <a:pPr>
              <a:buFont typeface="Arial" pitchFamily="34" charset="0"/>
              <a:buNone/>
            </a:pPr>
            <a:r>
              <a:rPr lang="en-AU" sz="1200" b="1" kern="1200" dirty="0" smtClean="0">
                <a:solidFill>
                  <a:schemeClr val="tx1"/>
                </a:solidFill>
                <a:latin typeface="+mn-lt"/>
                <a:ea typeface="+mn-ea"/>
                <a:cs typeface="+mn-cs"/>
              </a:rPr>
              <a:t>Class Activity – Handout and Discussion</a:t>
            </a:r>
          </a:p>
          <a:p>
            <a:pPr>
              <a:buFont typeface="Arial" pitchFamily="34" charset="0"/>
              <a:buNone/>
            </a:pPr>
            <a:r>
              <a:rPr lang="en-AU" sz="1200" b="0" kern="1200" dirty="0" smtClean="0">
                <a:solidFill>
                  <a:schemeClr val="tx1"/>
                </a:solidFill>
                <a:latin typeface="+mn-lt"/>
                <a:ea typeface="+mn-ea"/>
                <a:cs typeface="+mn-cs"/>
              </a:rPr>
              <a:t>Trainer obtains</a:t>
            </a:r>
            <a:r>
              <a:rPr lang="en-AU" sz="1200" b="0" kern="1200" baseline="0" dirty="0" smtClean="0">
                <a:solidFill>
                  <a:schemeClr val="tx1"/>
                </a:solidFill>
                <a:latin typeface="+mn-lt"/>
                <a:ea typeface="+mn-ea"/>
                <a:cs typeface="+mn-cs"/>
              </a:rPr>
              <a:t> sample staffing policy and procedures relating to the above staffing topic, and:</a:t>
            </a:r>
          </a:p>
          <a:p>
            <a:pPr>
              <a:buFont typeface="Arial" pitchFamily="34" charset="0"/>
              <a:buChar char="•"/>
            </a:pPr>
            <a:r>
              <a:rPr lang="en-AU" sz="1200" b="0" kern="1200" dirty="0" smtClean="0">
                <a:solidFill>
                  <a:schemeClr val="tx1"/>
                </a:solidFill>
                <a:latin typeface="+mn-lt"/>
                <a:ea typeface="+mn-ea"/>
                <a:cs typeface="+mn-cs"/>
              </a:rPr>
              <a:t> Distributes to trainees</a:t>
            </a:r>
          </a:p>
          <a:p>
            <a:pPr>
              <a:buFont typeface="Arial" pitchFamily="34" charset="0"/>
              <a:buChar char="•"/>
            </a:pPr>
            <a:r>
              <a:rPr lang="en-AU" sz="1200" b="0" kern="1200" dirty="0" smtClean="0">
                <a:solidFill>
                  <a:schemeClr val="tx1"/>
                </a:solidFill>
                <a:latin typeface="+mn-lt"/>
                <a:ea typeface="+mn-ea"/>
                <a:cs typeface="+mn-cs"/>
              </a:rPr>
              <a:t> Discusses contents explaining why policy requirements are included in the document.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it </a:t>
            </a:r>
            <a:r>
              <a:rPr lang="en-AU" sz="1200" kern="1200" dirty="0" smtClean="0">
                <a:solidFill>
                  <a:schemeClr val="tx1"/>
                </a:solidFill>
                <a:latin typeface="+mn-lt"/>
                <a:ea typeface="+mn-ea"/>
                <a:cs typeface="+mn-cs"/>
              </a:rPr>
              <a:t>is important for them understand enterprise policies and procedures as they provide guidance for their thinking and action.</a:t>
            </a:r>
            <a:r>
              <a:rPr lang="en-AU" sz="1200" kern="1200" baseline="0" dirty="0" smtClean="0">
                <a:solidFill>
                  <a:schemeClr val="tx1"/>
                </a:solidFill>
                <a:latin typeface="+mn-lt"/>
                <a:ea typeface="+mn-ea"/>
                <a:cs typeface="+mn-cs"/>
              </a:rPr>
              <a:t> They also </a:t>
            </a:r>
            <a:r>
              <a:rPr lang="en-AU" sz="1200" kern="1200" dirty="0" smtClean="0">
                <a:solidFill>
                  <a:schemeClr val="tx1"/>
                </a:solidFill>
                <a:latin typeface="+mn-lt"/>
                <a:ea typeface="+mn-ea"/>
                <a:cs typeface="+mn-cs"/>
              </a:rPr>
              <a:t>give parameters within which they are expected to operate. </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sound knowledge of these policies and procedures will:</a:t>
            </a:r>
          </a:p>
          <a:p>
            <a:pPr>
              <a:buFont typeface="Arial" pitchFamily="34" charset="0"/>
              <a:buChar char="•"/>
            </a:pPr>
            <a:r>
              <a:rPr lang="en-AU" sz="1200" kern="1200" dirty="0" smtClean="0">
                <a:solidFill>
                  <a:schemeClr val="tx1"/>
                </a:solidFill>
                <a:latin typeface="+mn-lt"/>
                <a:ea typeface="+mn-ea"/>
                <a:cs typeface="+mn-cs"/>
              </a:rPr>
              <a:t> Enable them to make decisions in relation to staff recruitment and selection – through knowing what is or not allowed</a:t>
            </a:r>
          </a:p>
          <a:p>
            <a:pPr>
              <a:buFont typeface="Arial" pitchFamily="34" charset="0"/>
              <a:buChar char="•"/>
            </a:pPr>
            <a:r>
              <a:rPr lang="en-AU" sz="1200" kern="1200" dirty="0" smtClean="0">
                <a:solidFill>
                  <a:schemeClr val="tx1"/>
                </a:solidFill>
                <a:latin typeface="+mn-lt"/>
                <a:ea typeface="+mn-ea"/>
                <a:cs typeface="+mn-cs"/>
              </a:rPr>
              <a:t> Allow them to answer questions about employment in the workplace – such as those asked by job applicants, staff seeking promotion or management who question workplace decisions made by supervisors</a:t>
            </a:r>
          </a:p>
          <a:p>
            <a:pPr>
              <a:buFont typeface="Arial" pitchFamily="34" charset="0"/>
              <a:buChar char="•"/>
            </a:pPr>
            <a:r>
              <a:rPr lang="en-AU" sz="1200" kern="1200" dirty="0" smtClean="0">
                <a:solidFill>
                  <a:schemeClr val="tx1"/>
                </a:solidFill>
                <a:latin typeface="+mn-lt"/>
                <a:ea typeface="+mn-ea"/>
                <a:cs typeface="+mn-cs"/>
              </a:rPr>
              <a:t> Ensure staffing activities align with enterprise requirements – which are embodied in the policies and procedures and which, in turn, reflect the strategic goals and direction of the enterprise.</a:t>
            </a:r>
          </a:p>
          <a:p>
            <a:pPr>
              <a:buFont typeface="Arial" pitchFamily="34" charset="0"/>
              <a:buNone/>
            </a:pPr>
            <a:endParaRPr lang="en-US" dirty="0" smtClean="0"/>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a:t>
            </a:r>
            <a:r>
              <a:rPr lang="en-US" baseline="0" dirty="0" smtClean="0"/>
              <a:t> trainees </a:t>
            </a:r>
            <a:r>
              <a:rPr lang="en-AU" sz="1200" kern="1200" dirty="0" smtClean="0">
                <a:solidFill>
                  <a:schemeClr val="tx1"/>
                </a:solidFill>
                <a:latin typeface="+mn-lt"/>
                <a:ea typeface="+mn-ea"/>
                <a:cs typeface="+mn-cs"/>
              </a:rPr>
              <a:t>they can obtain a detailed understanding of the policies and procedures at their workplace by a combination of the following approaches:</a:t>
            </a:r>
          </a:p>
          <a:p>
            <a:pPr>
              <a:buFont typeface="Arial" pitchFamily="34" charset="0"/>
              <a:buChar char="•"/>
            </a:pPr>
            <a:r>
              <a:rPr lang="en-AU" sz="1200" kern="1200" dirty="0" smtClean="0">
                <a:solidFill>
                  <a:schemeClr val="tx1"/>
                </a:solidFill>
                <a:latin typeface="+mn-lt"/>
                <a:ea typeface="+mn-ea"/>
                <a:cs typeface="+mn-cs"/>
              </a:rPr>
              <a:t> Reading hard copy policies and procedures provided by the enterprise – such as in Employee Handbooks and Policy and Procedure Manuals</a:t>
            </a:r>
          </a:p>
          <a:p>
            <a:pPr>
              <a:buFont typeface="Arial" pitchFamily="34" charset="0"/>
              <a:buChar char="•"/>
            </a:pPr>
            <a:r>
              <a:rPr lang="en-AU" sz="1200" kern="1200" dirty="0" smtClean="0">
                <a:solidFill>
                  <a:schemeClr val="tx1"/>
                </a:solidFill>
                <a:latin typeface="+mn-lt"/>
                <a:ea typeface="+mn-ea"/>
                <a:cs typeface="+mn-cs"/>
              </a:rPr>
              <a:t> Accessing the intranet – of enterprises where internal company information is available electronically</a:t>
            </a:r>
          </a:p>
          <a:p>
            <a:pPr>
              <a:buFont typeface="Arial" pitchFamily="34" charset="0"/>
              <a:buChar char="•"/>
            </a:pPr>
            <a:r>
              <a:rPr lang="en-AU" sz="1200" kern="1200" dirty="0" smtClean="0">
                <a:solidFill>
                  <a:schemeClr val="tx1"/>
                </a:solidFill>
                <a:latin typeface="+mn-lt"/>
                <a:ea typeface="+mn-ea"/>
                <a:cs typeface="+mn-cs"/>
              </a:rPr>
              <a:t> Attending internal training sessions – focussing on interpreting and applying enterprise policies and procedures</a:t>
            </a:r>
          </a:p>
          <a:p>
            <a:pPr>
              <a:buFont typeface="Arial" pitchFamily="34" charset="0"/>
              <a:buChar char="•"/>
            </a:pPr>
            <a:r>
              <a:rPr lang="en-AU" sz="1200" kern="1200" dirty="0" smtClean="0">
                <a:solidFill>
                  <a:schemeClr val="tx1"/>
                </a:solidFill>
                <a:latin typeface="+mn-lt"/>
                <a:ea typeface="+mn-ea"/>
                <a:cs typeface="+mn-cs"/>
              </a:rPr>
              <a:t> Talking to Managers and more experienced staff – to gain an appreciation of their understanding of what is required</a:t>
            </a:r>
          </a:p>
          <a:p>
            <a:pPr>
              <a:buFont typeface="Arial" pitchFamily="34" charset="0"/>
              <a:buChar char="•"/>
            </a:pPr>
            <a:r>
              <a:rPr lang="en-AU" sz="1200" kern="1200" dirty="0" smtClean="0">
                <a:solidFill>
                  <a:schemeClr val="tx1"/>
                </a:solidFill>
                <a:latin typeface="+mn-lt"/>
                <a:ea typeface="+mn-ea"/>
                <a:cs typeface="+mn-cs"/>
              </a:rPr>
              <a:t> Asking questions – to help understand any ambiguous aspects.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latin typeface="+mn-lt"/>
                <a:ea typeface="+mn-ea"/>
                <a:cs typeface="+mn-cs"/>
              </a:rPr>
              <a:t>states to trainees before staff are hired or dismissed there must be an analysis of internal and external factors impacting the business and the need for staff.</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Whenever staff are engaged or made redundant, there must be a valid reason for that action.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explains this Section identifies internal issues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within a business:</a:t>
            </a:r>
          </a:p>
          <a:p>
            <a:pPr>
              <a:buFont typeface="Arial" pitchFamily="34" charset="0"/>
              <a:buChar char="•"/>
            </a:pPr>
            <a:r>
              <a:rPr lang="en-AU" sz="1200" kern="1200" dirty="0" smtClean="0">
                <a:solidFill>
                  <a:schemeClr val="tx1"/>
                </a:solidFill>
                <a:latin typeface="+mn-lt"/>
                <a:ea typeface="+mn-ea"/>
                <a:cs typeface="+mn-cs"/>
              </a:rPr>
              <a:t> Labour budget – it is important to know:</a:t>
            </a:r>
          </a:p>
          <a:p>
            <a:pPr lvl="1">
              <a:buFont typeface="Arial" pitchFamily="34" charset="0"/>
              <a:buChar char="•"/>
            </a:pPr>
            <a:r>
              <a:rPr lang="en-AU" sz="1200" kern="1200" dirty="0" smtClean="0">
                <a:solidFill>
                  <a:schemeClr val="tx1"/>
                </a:solidFill>
                <a:latin typeface="+mn-lt"/>
                <a:ea typeface="+mn-ea"/>
                <a:cs typeface="+mn-cs"/>
              </a:rPr>
              <a:t> How much is available?</a:t>
            </a:r>
          </a:p>
          <a:p>
            <a:pPr lvl="1">
              <a:buFont typeface="Arial" pitchFamily="34" charset="0"/>
              <a:buChar char="•"/>
            </a:pPr>
            <a:r>
              <a:rPr lang="en-AU" sz="1200" kern="1200" dirty="0" smtClean="0">
                <a:solidFill>
                  <a:schemeClr val="tx1"/>
                </a:solidFill>
                <a:latin typeface="+mn-lt"/>
                <a:ea typeface="+mn-ea"/>
                <a:cs typeface="+mn-cs"/>
              </a:rPr>
              <a:t> Can more be spent on wages if revenue increases?</a:t>
            </a:r>
          </a:p>
          <a:p>
            <a:pPr lvl="1">
              <a:buFont typeface="Arial" pitchFamily="34" charset="0"/>
              <a:buChar char="•"/>
            </a:pPr>
            <a:r>
              <a:rPr lang="en-AU" sz="1200" kern="1200" dirty="0" smtClean="0">
                <a:solidFill>
                  <a:schemeClr val="tx1"/>
                </a:solidFill>
                <a:latin typeface="+mn-lt"/>
                <a:ea typeface="+mn-ea"/>
                <a:cs typeface="+mn-cs"/>
              </a:rPr>
              <a:t> Can more be spent next period if savings have been made previously?</a:t>
            </a:r>
          </a:p>
          <a:p>
            <a:pPr lvl="1">
              <a:buFont typeface="Arial" pitchFamily="34" charset="0"/>
              <a:buChar char="•"/>
            </a:pPr>
            <a:r>
              <a:rPr lang="en-AU" sz="1200" kern="1200" dirty="0" smtClean="0">
                <a:solidFill>
                  <a:schemeClr val="tx1"/>
                </a:solidFill>
                <a:latin typeface="+mn-lt"/>
                <a:ea typeface="+mn-ea"/>
                <a:cs typeface="+mn-cs"/>
              </a:rPr>
              <a:t> Can more be spent in one department if savings have been made in another</a:t>
            </a:r>
            <a:r>
              <a:rPr lang="en-AU" sz="1200" kern="1200" baseline="0" dirty="0" smtClean="0">
                <a:solidFill>
                  <a:schemeClr val="tx1"/>
                </a:solidFill>
                <a:latin typeface="+mn-lt"/>
                <a:ea typeface="+mn-ea"/>
                <a:cs typeface="+mn-cs"/>
              </a:rPr>
              <a:t> department?</a:t>
            </a:r>
          </a:p>
          <a:p>
            <a:pPr lvl="1">
              <a:buFont typeface="Arial" pitchFamily="34" charset="0"/>
              <a:buChar char="•"/>
            </a:pPr>
            <a:r>
              <a:rPr lang="en-AU" sz="1200" kern="1200" baseline="0" dirty="0" smtClean="0">
                <a:solidFill>
                  <a:schemeClr val="tx1"/>
                </a:solidFill>
                <a:latin typeface="+mn-lt"/>
                <a:ea typeface="+mn-ea"/>
                <a:cs typeface="+mn-cs"/>
              </a:rPr>
              <a:t> What impact does a public holiday have on the money allocated to wages? Is extra money allocated to allow for payment of penalty rates?</a:t>
            </a:r>
          </a:p>
          <a:p>
            <a:pPr lvl="1">
              <a:buFont typeface="Arial" pitchFamily="34" charset="0"/>
              <a:buChar char="•"/>
            </a:pPr>
            <a:r>
              <a:rPr lang="en-AU" sz="1200" kern="1200" baseline="0" dirty="0" smtClean="0">
                <a:solidFill>
                  <a:schemeClr val="tx1"/>
                </a:solidFill>
                <a:latin typeface="+mn-lt"/>
                <a:ea typeface="+mn-ea"/>
                <a:cs typeface="+mn-cs"/>
              </a:rPr>
              <a:t> What is the wages period? A week, fortnight or other? </a:t>
            </a:r>
          </a:p>
          <a:p>
            <a:pPr lvl="0">
              <a:buFont typeface="Arial" pitchFamily="34" charset="0"/>
              <a:buChar char="•"/>
            </a:pPr>
            <a:r>
              <a:rPr lang="en-AU" sz="1200" kern="1200" baseline="0" dirty="0" smtClean="0">
                <a:solidFill>
                  <a:schemeClr val="tx1"/>
                </a:solidFill>
                <a:latin typeface="+mn-lt"/>
                <a:ea typeface="+mn-ea"/>
                <a:cs typeface="+mn-cs"/>
              </a:rPr>
              <a:t> Existing staff:</a:t>
            </a:r>
          </a:p>
          <a:p>
            <a:pPr lvl="1">
              <a:buFont typeface="Arial" pitchFamily="34" charset="0"/>
              <a:buChar char="•"/>
            </a:pPr>
            <a:r>
              <a:rPr lang="en-AU" sz="1200" kern="1200" dirty="0" smtClean="0">
                <a:solidFill>
                  <a:schemeClr val="tx1"/>
                </a:solidFill>
                <a:latin typeface="+mn-lt"/>
                <a:ea typeface="+mn-ea"/>
                <a:cs typeface="+mn-cs"/>
              </a:rPr>
              <a:t> Who are they?</a:t>
            </a:r>
          </a:p>
          <a:p>
            <a:pPr lvl="1">
              <a:buFont typeface="Arial" pitchFamily="34" charset="0"/>
              <a:buChar char="•"/>
            </a:pPr>
            <a:r>
              <a:rPr lang="en-AU" sz="1200" kern="1200" dirty="0" smtClean="0">
                <a:solidFill>
                  <a:schemeClr val="tx1"/>
                </a:solidFill>
                <a:latin typeface="+mn-lt"/>
                <a:ea typeface="+mn-ea"/>
                <a:cs typeface="+mn-cs"/>
              </a:rPr>
              <a:t> How many are there?</a:t>
            </a:r>
          </a:p>
          <a:p>
            <a:pPr lvl="1">
              <a:buFont typeface="Arial" pitchFamily="34" charset="0"/>
              <a:buChar char="•"/>
            </a:pPr>
            <a:r>
              <a:rPr lang="en-AU" sz="1200" kern="1200" dirty="0" smtClean="0">
                <a:solidFill>
                  <a:schemeClr val="tx1"/>
                </a:solidFill>
                <a:latin typeface="+mn-lt"/>
                <a:ea typeface="+mn-ea"/>
                <a:cs typeface="+mn-cs"/>
              </a:rPr>
              <a:t> How many hours do they work?</a:t>
            </a:r>
          </a:p>
          <a:p>
            <a:pPr lvl="1">
              <a:buFont typeface="Arial" pitchFamily="34" charset="0"/>
              <a:buChar char="•"/>
            </a:pPr>
            <a:r>
              <a:rPr lang="en-AU" sz="1200" kern="1200" dirty="0" smtClean="0">
                <a:solidFill>
                  <a:schemeClr val="tx1"/>
                </a:solidFill>
                <a:latin typeface="+mn-lt"/>
                <a:ea typeface="+mn-ea"/>
                <a:cs typeface="+mn-cs"/>
              </a:rPr>
              <a:t> What can they do and not do?</a:t>
            </a:r>
          </a:p>
          <a:p>
            <a:pPr lvl="0">
              <a:buFont typeface="Arial" pitchFamily="34" charset="0"/>
              <a:buChar char="•"/>
            </a:pPr>
            <a:r>
              <a:rPr lang="en-AU" sz="1200" kern="1200" dirty="0" smtClean="0">
                <a:solidFill>
                  <a:schemeClr val="tx1"/>
                </a:solidFill>
                <a:latin typeface="+mn-lt"/>
                <a:ea typeface="+mn-ea"/>
                <a:cs typeface="+mn-cs"/>
              </a:rPr>
              <a:t> Service standards:</a:t>
            </a:r>
          </a:p>
          <a:p>
            <a:pPr lvl="1">
              <a:buFont typeface="Arial" pitchFamily="34" charset="0"/>
              <a:buChar char="•"/>
            </a:pPr>
            <a:r>
              <a:rPr lang="en-AU" sz="1200" kern="1200" dirty="0" smtClean="0">
                <a:solidFill>
                  <a:schemeClr val="tx1"/>
                </a:solidFill>
                <a:latin typeface="+mn-lt"/>
                <a:ea typeface="+mn-ea"/>
                <a:cs typeface="+mn-cs"/>
              </a:rPr>
              <a:t> What do management expect and what do customers expect?</a:t>
            </a:r>
          </a:p>
          <a:p>
            <a:pPr lvl="1">
              <a:buFont typeface="Arial" pitchFamily="34" charset="0"/>
              <a:buChar char="•"/>
            </a:pPr>
            <a:r>
              <a:rPr lang="en-AU" sz="1200" kern="1200" dirty="0" smtClean="0">
                <a:solidFill>
                  <a:schemeClr val="tx1"/>
                </a:solidFill>
                <a:latin typeface="+mn-lt"/>
                <a:ea typeface="+mn-ea"/>
                <a:cs typeface="+mn-cs"/>
              </a:rPr>
              <a:t> What are non-negotiable requirements regarding staffing levels? For example, one waiter to every 15 guests; one Room Attendant for every 12 rooms to be cleaned; ‘No customer should wait more than 30 seconds before being</a:t>
            </a:r>
            <a:r>
              <a:rPr lang="en-AU" sz="1200" kern="1200" baseline="0" dirty="0" smtClean="0">
                <a:solidFill>
                  <a:schemeClr val="tx1"/>
                </a:solidFill>
                <a:latin typeface="+mn-lt"/>
                <a:ea typeface="+mn-ea"/>
                <a:cs typeface="+mn-cs"/>
              </a:rPr>
              <a:t> served’</a:t>
            </a:r>
          </a:p>
          <a:p>
            <a:pPr lvl="0">
              <a:buFont typeface="Arial" pitchFamily="34" charset="0"/>
              <a:buChar char="•"/>
            </a:pPr>
            <a:r>
              <a:rPr lang="en-AU" sz="1200" kern="1200" dirty="0" smtClean="0">
                <a:solidFill>
                  <a:schemeClr val="tx1"/>
                </a:solidFill>
                <a:latin typeface="+mn-lt"/>
                <a:ea typeface="+mn-ea"/>
                <a:cs typeface="+mn-cs"/>
              </a:rPr>
              <a:t> Trading hours:</a:t>
            </a:r>
          </a:p>
          <a:p>
            <a:pPr lvl="1">
              <a:buFont typeface="Arial" pitchFamily="34" charset="0"/>
              <a:buChar char="•"/>
            </a:pPr>
            <a:r>
              <a:rPr lang="en-AU" sz="1200" kern="1200" dirty="0" smtClean="0">
                <a:solidFill>
                  <a:schemeClr val="tx1"/>
                </a:solidFill>
                <a:latin typeface="+mn-lt"/>
                <a:ea typeface="+mn-ea"/>
                <a:cs typeface="+mn-cs"/>
              </a:rPr>
              <a:t> When does the business open and shut?</a:t>
            </a:r>
          </a:p>
          <a:p>
            <a:pPr lvl="1">
              <a:buFont typeface="Arial" pitchFamily="34" charset="0"/>
              <a:buChar char="•"/>
            </a:pPr>
            <a:r>
              <a:rPr lang="en-AU" sz="1200" kern="1200" dirty="0" smtClean="0">
                <a:solidFill>
                  <a:schemeClr val="tx1"/>
                </a:solidFill>
                <a:latin typeface="+mn-lt"/>
                <a:ea typeface="+mn-ea"/>
                <a:cs typeface="+mn-cs"/>
              </a:rPr>
              <a:t> Can staff be ‘staggered’ at opening and closing times?</a:t>
            </a:r>
          </a:p>
          <a:p>
            <a:pPr lvl="1">
              <a:buFont typeface="Arial" pitchFamily="34" charset="0"/>
              <a:buChar char="•"/>
            </a:pPr>
            <a:endParaRPr lang="en-AU" sz="1200" kern="1200" dirty="0" smtClean="0">
              <a:solidFill>
                <a:schemeClr val="tx1"/>
              </a:solidFill>
              <a:latin typeface="+mn-lt"/>
              <a:ea typeface="+mn-ea"/>
              <a:cs typeface="+mn-cs"/>
            </a:endParaRPr>
          </a:p>
          <a:p>
            <a:pPr lvl="1">
              <a:buFont typeface="Arial" pitchFamily="34" charset="0"/>
              <a:buChar char="•"/>
            </a:pP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t>
            </a:r>
            <a:r>
              <a:rPr lang="en-AU" sz="1200" kern="1200" dirty="0" smtClean="0">
                <a:solidFill>
                  <a:schemeClr val="tx1"/>
                </a:solidFill>
                <a:latin typeface="+mn-lt"/>
                <a:ea typeface="+mn-ea"/>
                <a:cs typeface="+mn-cs"/>
              </a:rPr>
              <a:t>continues to explain and identify internal issues impacting on staffing needs for a business or department: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Volume of customers:</a:t>
            </a:r>
          </a:p>
          <a:p>
            <a:pPr lvl="1">
              <a:buFont typeface="Arial" pitchFamily="34" charset="0"/>
              <a:buChar char="•"/>
            </a:pPr>
            <a:r>
              <a:rPr lang="en-AU" sz="1200" kern="1200" dirty="0" smtClean="0">
                <a:solidFill>
                  <a:schemeClr val="tx1"/>
                </a:solidFill>
                <a:latin typeface="+mn-lt"/>
                <a:ea typeface="+mn-ea"/>
                <a:cs typeface="+mn-cs"/>
              </a:rPr>
              <a:t> The aim should be to match the number of staff to the number of customers needing to be served. Proper staffing is often referred to as the ‘art of having the right people, in the right place, in the right numbers, at the right time.’</a:t>
            </a:r>
          </a:p>
          <a:p>
            <a:pPr lvl="1">
              <a:buFont typeface="Arial" pitchFamily="34" charset="0"/>
              <a:buChar char="•"/>
            </a:pPr>
            <a:r>
              <a:rPr lang="en-AU" sz="1200" kern="1200" dirty="0" smtClean="0">
                <a:solidFill>
                  <a:schemeClr val="tx1"/>
                </a:solidFill>
                <a:latin typeface="+mn-lt"/>
                <a:ea typeface="+mn-ea"/>
                <a:cs typeface="+mn-cs"/>
              </a:rPr>
              <a:t> The aim of this focus is ‘to serve the customer’ as distinct from ‘take money’.</a:t>
            </a:r>
          </a:p>
          <a:p>
            <a:pPr lvl="1">
              <a:buFont typeface="Arial" pitchFamily="34" charset="0"/>
              <a:buChar char="•"/>
            </a:pPr>
            <a:r>
              <a:rPr lang="en-AU" sz="1200" kern="1200" dirty="0" smtClean="0">
                <a:solidFill>
                  <a:schemeClr val="tx1"/>
                </a:solidFill>
                <a:latin typeface="+mn-lt"/>
                <a:ea typeface="+mn-ea"/>
                <a:cs typeface="+mn-cs"/>
              </a:rPr>
              <a:t> In many cases, there will be a need for staff to be working even where no immediate revenue is generated, such as when:</a:t>
            </a:r>
          </a:p>
          <a:p>
            <a:pPr lvl="2">
              <a:buFont typeface="Arial" pitchFamily="34" charset="0"/>
              <a:buChar char="•"/>
            </a:pPr>
            <a:r>
              <a:rPr lang="en-AU" sz="1200" kern="1200" dirty="0" smtClean="0">
                <a:solidFill>
                  <a:schemeClr val="tx1"/>
                </a:solidFill>
                <a:latin typeface="+mn-lt"/>
                <a:ea typeface="+mn-ea"/>
                <a:cs typeface="+mn-cs"/>
              </a:rPr>
              <a:t> Providing sales advice – which may or may not result in a sale</a:t>
            </a:r>
          </a:p>
          <a:p>
            <a:pPr lvl="2">
              <a:buFont typeface="Arial" pitchFamily="34" charset="0"/>
              <a:buChar char="•"/>
            </a:pPr>
            <a:r>
              <a:rPr lang="en-AU" sz="1200" kern="1200" dirty="0" smtClean="0">
                <a:solidFill>
                  <a:schemeClr val="tx1"/>
                </a:solidFill>
                <a:latin typeface="+mn-lt"/>
                <a:ea typeface="+mn-ea"/>
                <a:cs typeface="+mn-cs"/>
              </a:rPr>
              <a:t> Promoting products and services – where the intention may be to raise awareness as opposed to generate sales</a:t>
            </a:r>
          </a:p>
          <a:p>
            <a:pPr lvl="2">
              <a:buFont typeface="Arial" pitchFamily="34" charset="0"/>
              <a:buChar char="•"/>
            </a:pPr>
            <a:r>
              <a:rPr lang="en-AU" sz="1200" kern="1200" dirty="0" smtClean="0">
                <a:solidFill>
                  <a:schemeClr val="tx1"/>
                </a:solidFill>
                <a:latin typeface="+mn-lt"/>
                <a:ea typeface="+mn-ea"/>
                <a:cs typeface="+mn-cs"/>
              </a:rPr>
              <a:t> Providing service expected by customers as part of something they have already purchased – for example, security and maintenance is expected by customers when they buy an accommodation package but these departments do not generate revenue.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Peak demand:</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May occur on an hourly basis, certain days of the week, time of the month</a:t>
            </a:r>
            <a:r>
              <a:rPr lang="en-AU" sz="1200" kern="1200" baseline="0" dirty="0" smtClean="0">
                <a:solidFill>
                  <a:schemeClr val="tx1"/>
                </a:solidFill>
                <a:latin typeface="+mn-lt"/>
                <a:ea typeface="+mn-ea"/>
                <a:cs typeface="+mn-cs"/>
              </a:rPr>
              <a:t> or year, or a particular season</a:t>
            </a:r>
          </a:p>
          <a:p>
            <a:pPr lvl="1">
              <a:buFont typeface="Arial" pitchFamily="34" charset="0"/>
              <a:buChar char="•"/>
            </a:pP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Service standards must be considered – if a waiting time of three minutes before being attended to by a sales adviser is acceptable then the level of staff needs to reflect this rather than provide an ‘immediate’ service with no waiting</a:t>
            </a:r>
          </a:p>
          <a:p>
            <a:pPr lvl="1">
              <a:buFont typeface="Arial" pitchFamily="34" charset="0"/>
              <a:buChar char="•"/>
            </a:pPr>
            <a:r>
              <a:rPr lang="en-AU" sz="1200" kern="1200" dirty="0" smtClean="0">
                <a:solidFill>
                  <a:schemeClr val="tx1"/>
                </a:solidFill>
                <a:latin typeface="+mn-lt"/>
                <a:ea typeface="+mn-ea"/>
                <a:cs typeface="+mn-cs"/>
              </a:rPr>
              <a:t> Low demand periods should reflect correspondingly reduced staffing levels – it is inadvisable to only consider ‘peak’ demand without identifying and responding to low demands times</a:t>
            </a:r>
            <a:endParaRPr lang="en-AU" sz="1400" kern="1200" dirty="0" smtClean="0">
              <a:solidFill>
                <a:schemeClr val="tx1"/>
              </a:solidFill>
              <a:latin typeface="+mn-lt"/>
              <a:ea typeface="+mn-ea"/>
              <a:cs typeface="+mn-cs"/>
            </a:endParaRPr>
          </a:p>
          <a:p>
            <a:pPr>
              <a:buFont typeface="Arial" pitchFamily="34" charset="0"/>
              <a:buChar char="•"/>
            </a:pPr>
            <a:r>
              <a:rPr lang="en-US" dirty="0" smtClean="0"/>
              <a:t> Nature &amp; type of customers:</a:t>
            </a:r>
          </a:p>
          <a:p>
            <a:pPr lvl="1">
              <a:buFont typeface="Arial" pitchFamily="34" charset="0"/>
              <a:buChar char="•"/>
            </a:pPr>
            <a:r>
              <a:rPr lang="en-AU" sz="1200" kern="1200" dirty="0" smtClean="0">
                <a:solidFill>
                  <a:schemeClr val="tx1"/>
                </a:solidFill>
                <a:latin typeface="+mn-lt"/>
                <a:ea typeface="+mn-ea"/>
                <a:cs typeface="+mn-cs"/>
              </a:rPr>
              <a:t> Issues to be considered in this regard include:</a:t>
            </a:r>
          </a:p>
          <a:p>
            <a:pPr lvl="2">
              <a:buFont typeface="Arial" pitchFamily="34" charset="0"/>
              <a:buChar char="•"/>
            </a:pPr>
            <a:r>
              <a:rPr lang="en-AU" sz="1200" kern="1200" dirty="0" smtClean="0">
                <a:solidFill>
                  <a:schemeClr val="tx1"/>
                </a:solidFill>
                <a:latin typeface="+mn-lt"/>
                <a:ea typeface="+mn-ea"/>
                <a:cs typeface="+mn-cs"/>
              </a:rPr>
              <a:t> Safety – most businesses require a minimum of two staff after a certain time at night for the safety of employees</a:t>
            </a:r>
          </a:p>
          <a:p>
            <a:pPr lvl="2">
              <a:buFont typeface="Arial" pitchFamily="34" charset="0"/>
              <a:buChar char="•"/>
            </a:pPr>
            <a:r>
              <a:rPr lang="en-AU" sz="1200" kern="1200" dirty="0" smtClean="0">
                <a:solidFill>
                  <a:schemeClr val="tx1"/>
                </a:solidFill>
                <a:latin typeface="+mn-lt"/>
                <a:ea typeface="+mn-ea"/>
                <a:cs typeface="+mn-cs"/>
              </a:rPr>
              <a:t> Whether alcohol is involved – where liquor service and consumption occurs this can indicate:</a:t>
            </a:r>
          </a:p>
          <a:p>
            <a:pPr lvl="3">
              <a:buFont typeface="Arial" pitchFamily="34" charset="0"/>
              <a:buChar char="•"/>
            </a:pPr>
            <a:r>
              <a:rPr lang="en-AU" sz="1200" kern="1200" dirty="0" smtClean="0">
                <a:solidFill>
                  <a:schemeClr val="tx1"/>
                </a:solidFill>
                <a:latin typeface="+mn-lt"/>
                <a:ea typeface="+mn-ea"/>
                <a:cs typeface="+mn-cs"/>
              </a:rPr>
              <a:t> A need for more staff</a:t>
            </a:r>
          </a:p>
          <a:p>
            <a:pPr lvl="3">
              <a:buFont typeface="Arial" pitchFamily="34" charset="0"/>
              <a:buChar char="•"/>
            </a:pPr>
            <a:r>
              <a:rPr lang="en-AU" sz="1200" kern="1200" dirty="0" smtClean="0">
                <a:solidFill>
                  <a:schemeClr val="tx1"/>
                </a:solidFill>
                <a:latin typeface="+mn-lt"/>
                <a:ea typeface="+mn-ea"/>
                <a:cs typeface="+mn-cs"/>
              </a:rPr>
              <a:t> A need for security staff</a:t>
            </a:r>
          </a:p>
          <a:p>
            <a:pPr lvl="1">
              <a:buFont typeface="Arial" pitchFamily="34" charset="0"/>
              <a:buChar char="•"/>
            </a:pPr>
            <a:r>
              <a:rPr lang="en-AU" sz="1200" kern="1200" dirty="0" smtClean="0">
                <a:solidFill>
                  <a:schemeClr val="tx1"/>
                </a:solidFill>
                <a:latin typeface="+mn-lt"/>
                <a:ea typeface="+mn-ea"/>
                <a:cs typeface="+mn-cs"/>
              </a:rPr>
              <a:t> Age of customers – where young people are targeted there can be a need for more staff because:</a:t>
            </a:r>
          </a:p>
          <a:p>
            <a:pPr lvl="2">
              <a:buFont typeface="Arial" pitchFamily="34" charset="0"/>
              <a:buChar char="•"/>
            </a:pPr>
            <a:r>
              <a:rPr lang="en-AU" sz="1200" kern="1200" dirty="0" smtClean="0">
                <a:solidFill>
                  <a:schemeClr val="tx1"/>
                </a:solidFill>
                <a:latin typeface="+mn-lt"/>
                <a:ea typeface="+mn-ea"/>
                <a:cs typeface="+mn-cs"/>
              </a:rPr>
              <a:t> They tend to spend more than other customers</a:t>
            </a:r>
          </a:p>
          <a:p>
            <a:pPr lvl="2">
              <a:buFont typeface="Arial" pitchFamily="34" charset="0"/>
              <a:buChar char="•"/>
            </a:pPr>
            <a:r>
              <a:rPr lang="en-AU" sz="1200" kern="1200" dirty="0" smtClean="0">
                <a:solidFill>
                  <a:schemeClr val="tx1"/>
                </a:solidFill>
                <a:latin typeface="+mn-lt"/>
                <a:ea typeface="+mn-ea"/>
                <a:cs typeface="+mn-cs"/>
              </a:rPr>
              <a:t> They demand faster service</a:t>
            </a:r>
          </a:p>
          <a:p>
            <a:pPr lvl="2">
              <a:buFont typeface="Arial" pitchFamily="34" charset="0"/>
              <a:buChar char="•"/>
            </a:pPr>
            <a:r>
              <a:rPr lang="en-AU" sz="1200" kern="1200" dirty="0" smtClean="0">
                <a:solidFill>
                  <a:schemeClr val="tx1"/>
                </a:solidFill>
                <a:latin typeface="+mn-lt"/>
                <a:ea typeface="+mn-ea"/>
                <a:cs typeface="+mn-cs"/>
              </a:rPr>
              <a:t> They tend to cause more problems in liquor venues</a:t>
            </a:r>
          </a:p>
          <a:p>
            <a:pPr lvl="1">
              <a:buFont typeface="Arial" pitchFamily="34" charset="0"/>
              <a:buChar char="•"/>
            </a:pPr>
            <a:r>
              <a:rPr lang="en-AU" sz="1200" kern="1200" dirty="0" smtClean="0">
                <a:solidFill>
                  <a:schemeClr val="tx1"/>
                </a:solidFill>
                <a:latin typeface="+mn-lt"/>
                <a:ea typeface="+mn-ea"/>
                <a:cs typeface="+mn-cs"/>
              </a:rPr>
              <a:t> The potential for repeat business – where there is a chance the current customers will become repeat customers, venues tend to provide more staff to provide better service. Where customers are not expected to become repeat customers, there can be a case for the provision of fewer staff meaning slower service.</a:t>
            </a:r>
          </a:p>
          <a:p>
            <a:pPr lvl="1">
              <a:buFont typeface="Arial" pitchFamily="34" charset="0"/>
              <a:buChar char="•"/>
            </a:pPr>
            <a:r>
              <a:rPr lang="en-AU" sz="1200" kern="1200" dirty="0" smtClean="0">
                <a:solidFill>
                  <a:schemeClr val="tx1"/>
                </a:solidFill>
                <a:latin typeface="+mn-lt"/>
                <a:ea typeface="+mn-ea"/>
                <a:cs typeface="+mn-cs"/>
              </a:rPr>
              <a:t> Business people demand more prompt attention than other customers because their time is more valuable</a:t>
            </a:r>
          </a:p>
          <a:p>
            <a:pPr>
              <a:buFont typeface="Arial" pitchFamily="34" charset="0"/>
              <a:buChar char="•"/>
            </a:pPr>
            <a:r>
              <a:rPr lang="en-US" dirty="0" smtClean="0"/>
              <a:t> The business itself:</a:t>
            </a:r>
          </a:p>
          <a:p>
            <a:pPr lvl="1">
              <a:buFont typeface="Arial" pitchFamily="34" charset="0"/>
              <a:buChar char="•"/>
            </a:pPr>
            <a:r>
              <a:rPr lang="en-AU" sz="1200" kern="1200" dirty="0" smtClean="0">
                <a:solidFill>
                  <a:schemeClr val="tx1"/>
                </a:solidFill>
                <a:latin typeface="+mn-lt"/>
                <a:ea typeface="+mn-ea"/>
                <a:cs typeface="+mn-cs"/>
              </a:rPr>
              <a:t> There is always a need to consider the business itself when identifying internal factors impacting on staffing. Important considerations are:</a:t>
            </a:r>
          </a:p>
          <a:p>
            <a:pPr lvl="1">
              <a:buFont typeface="Arial" pitchFamily="34" charset="0"/>
              <a:buChar char="•"/>
            </a:pPr>
            <a:r>
              <a:rPr lang="en-AU" sz="1200" kern="1200" dirty="0" smtClean="0">
                <a:solidFill>
                  <a:schemeClr val="tx1"/>
                </a:solidFill>
                <a:latin typeface="+mn-lt"/>
                <a:ea typeface="+mn-ea"/>
                <a:cs typeface="+mn-cs"/>
              </a:rPr>
              <a:t> Directions the business wishes to take – this relates to departures from their past activities in terms of:</a:t>
            </a:r>
          </a:p>
          <a:p>
            <a:pPr lvl="2">
              <a:buFont typeface="Arial" pitchFamily="34" charset="0"/>
              <a:buChar char="•"/>
            </a:pPr>
            <a:r>
              <a:rPr lang="en-AU" sz="1200" kern="1200" dirty="0" smtClean="0">
                <a:solidFill>
                  <a:schemeClr val="tx1"/>
                </a:solidFill>
                <a:latin typeface="+mn-lt"/>
                <a:ea typeface="+mn-ea"/>
                <a:cs typeface="+mn-cs"/>
              </a:rPr>
              <a:t> Target markets – different markets require different skill sets from staff</a:t>
            </a:r>
          </a:p>
          <a:p>
            <a:pPr lvl="2">
              <a:buFont typeface="Arial" pitchFamily="34" charset="0"/>
              <a:buChar char="•"/>
            </a:pPr>
            <a:r>
              <a:rPr lang="en-AU" sz="1200" kern="1200" dirty="0" smtClean="0">
                <a:solidFill>
                  <a:schemeClr val="tx1"/>
                </a:solidFill>
                <a:latin typeface="+mn-lt"/>
                <a:ea typeface="+mn-ea"/>
                <a:cs typeface="+mn-cs"/>
              </a:rPr>
              <a:t> Service levels and standards – higher service standards generally require more staff and better trained staff</a:t>
            </a:r>
          </a:p>
          <a:p>
            <a:pPr lvl="2">
              <a:buFont typeface="Arial" pitchFamily="34" charset="0"/>
              <a:buChar char="•"/>
            </a:pPr>
            <a:r>
              <a:rPr lang="en-AU" sz="1200" kern="1200" dirty="0" smtClean="0">
                <a:solidFill>
                  <a:schemeClr val="tx1"/>
                </a:solidFill>
                <a:latin typeface="+mn-lt"/>
                <a:ea typeface="+mn-ea"/>
                <a:cs typeface="+mn-cs"/>
              </a:rPr>
              <a:t> Services and products provided – an increased number or type of products</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services requires staff with commensurate skills to provide them</a:t>
            </a:r>
          </a:p>
          <a:p>
            <a:pPr lvl="1">
              <a:buFont typeface="Arial" pitchFamily="34" charset="0"/>
              <a:buChar char="•"/>
            </a:pPr>
            <a:r>
              <a:rPr lang="en-AU" sz="1200" kern="1200" dirty="0" smtClean="0">
                <a:solidFill>
                  <a:schemeClr val="tx1"/>
                </a:solidFill>
                <a:latin typeface="+mn-lt"/>
                <a:ea typeface="+mn-ea"/>
                <a:cs typeface="+mn-cs"/>
              </a:rPr>
              <a:t>   The existing reputation and image of the business – in general (unless the business has set itself new directions, or been taken over by new owners) most enterprises will seek to maintain their reputation and image, meaning:</a:t>
            </a:r>
          </a:p>
          <a:p>
            <a:pPr lvl="2">
              <a:buFont typeface="Arial" pitchFamily="34" charset="0"/>
              <a:buChar char="•"/>
            </a:pPr>
            <a:r>
              <a:rPr lang="en-AU" sz="1200" kern="1200" dirty="0" smtClean="0">
                <a:solidFill>
                  <a:schemeClr val="tx1"/>
                </a:solidFill>
                <a:latin typeface="+mn-lt"/>
                <a:ea typeface="+mn-ea"/>
                <a:cs typeface="+mn-cs"/>
              </a:rPr>
              <a:t> Great attention needs to be paid to monitoring changes in staffing levels to determine how these are impacting on customer perceptions about service delivery.</a:t>
            </a:r>
            <a:r>
              <a:rPr lang="en-AU" sz="1200" kern="1200" baseline="0" dirty="0" smtClean="0">
                <a:solidFill>
                  <a:schemeClr val="tx1"/>
                </a:solidFill>
                <a:latin typeface="+mn-lt"/>
                <a:ea typeface="+mn-ea"/>
                <a:cs typeface="+mn-cs"/>
              </a:rPr>
              <a:t> A</a:t>
            </a:r>
            <a:r>
              <a:rPr lang="en-AU" sz="1200" kern="1200" dirty="0" smtClean="0">
                <a:solidFill>
                  <a:schemeClr val="tx1"/>
                </a:solidFill>
                <a:latin typeface="+mn-lt"/>
                <a:ea typeface="+mn-ea"/>
                <a:cs typeface="+mn-cs"/>
              </a:rPr>
              <a:t>re customers still happy with service levels? Or have they noticed a drop in standards since one less staff member was rostered to serve them?</a:t>
            </a:r>
          </a:p>
          <a:p>
            <a:pPr lvl="2">
              <a:buFont typeface="Arial" pitchFamily="34" charset="0"/>
              <a:buChar char="•"/>
            </a:pPr>
            <a:r>
              <a:rPr lang="en-AU" sz="1200" kern="1200" dirty="0" smtClean="0">
                <a:solidFill>
                  <a:schemeClr val="tx1"/>
                </a:solidFill>
                <a:latin typeface="+mn-lt"/>
                <a:ea typeface="+mn-ea"/>
                <a:cs typeface="+mn-cs"/>
              </a:rPr>
              <a:t> Special attention needs to be paid to staffing levels (and personnel) when new opposition businesses open up, and when existing competition businesses launch new promotional campaign. It is often at these times when existing customers can be persuaded to leave and try the other business, especially if they believe the service they have receiving is sub-standard.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t>
            </a:r>
            <a:r>
              <a:rPr lang="en-AU" sz="1200" kern="1200" dirty="0" smtClean="0">
                <a:solidFill>
                  <a:schemeClr val="tx1"/>
                </a:solidFill>
                <a:latin typeface="+mn-lt"/>
                <a:ea typeface="+mn-ea"/>
                <a:cs typeface="+mn-cs"/>
              </a:rPr>
              <a:t>continues to explain and identify internal issues impacting on staffing needs for a business or department: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Service offered:</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 style of service offered can determine the need for certain numbers of staff or</a:t>
            </a:r>
            <a:r>
              <a:rPr lang="en-AU" sz="1200" kern="1200" baseline="0" dirty="0" smtClean="0">
                <a:solidFill>
                  <a:schemeClr val="tx1"/>
                </a:solidFill>
                <a:latin typeface="+mn-lt"/>
                <a:ea typeface="+mn-ea"/>
                <a:cs typeface="+mn-cs"/>
              </a:rPr>
              <a:t> the skills they require:</a:t>
            </a:r>
          </a:p>
          <a:p>
            <a:pPr lvl="2"/>
            <a:r>
              <a:rPr lang="en-AU" sz="1200" kern="1200" dirty="0" smtClean="0">
                <a:solidFill>
                  <a:schemeClr val="tx1"/>
                </a:solidFill>
                <a:latin typeface="+mn-lt"/>
                <a:ea typeface="+mn-ea"/>
                <a:cs typeface="+mn-cs"/>
              </a:rPr>
              <a:t>For example:</a:t>
            </a:r>
          </a:p>
          <a:p>
            <a:pPr lvl="2">
              <a:buFont typeface="Arial" pitchFamily="34" charset="0"/>
              <a:buChar char="•"/>
            </a:pPr>
            <a:r>
              <a:rPr lang="en-AU" sz="1200" kern="1200" dirty="0" smtClean="0">
                <a:solidFill>
                  <a:schemeClr val="tx1"/>
                </a:solidFill>
                <a:latin typeface="+mn-lt"/>
                <a:ea typeface="+mn-ea"/>
                <a:cs typeface="+mn-cs"/>
              </a:rPr>
              <a:t> Plated service – is the most common service style where food is placed onto plates in the kitchen and carried to the tables by waiting staff</a:t>
            </a:r>
          </a:p>
          <a:p>
            <a:pPr lvl="2">
              <a:buFont typeface="Arial" pitchFamily="34" charset="0"/>
              <a:buChar char="•"/>
            </a:pPr>
            <a:r>
              <a:rPr lang="en-AU" sz="1200" kern="1200" dirty="0" smtClean="0">
                <a:solidFill>
                  <a:schemeClr val="tx1"/>
                </a:solidFill>
                <a:latin typeface="+mn-lt"/>
                <a:ea typeface="+mn-ea"/>
                <a:cs typeface="+mn-cs"/>
              </a:rPr>
              <a:t> Silver service – is a high quality service style requiring more staff (and crockery, cutlery and equipment) where an empty plate is placed in front of the guest and food is silver served (using tongs or spoon and fork) from service trays onto the individual guest plates</a:t>
            </a:r>
          </a:p>
          <a:p>
            <a:pPr lvl="2">
              <a:buFont typeface="Arial" pitchFamily="34" charset="0"/>
              <a:buChar char="•"/>
            </a:pPr>
            <a:r>
              <a:rPr lang="en-AU" sz="1200" kern="1200" dirty="0" smtClean="0">
                <a:solidFill>
                  <a:schemeClr val="tx1"/>
                </a:solidFill>
                <a:latin typeface="+mn-lt"/>
                <a:ea typeface="+mn-ea"/>
                <a:cs typeface="+mn-cs"/>
              </a:rPr>
              <a:t> Gueridon service – includes (but is not limited to) the cooking of dishes at the table and the silver service of vegetables, sauces and garnishes onto individual guest plates at the table</a:t>
            </a:r>
          </a:p>
          <a:p>
            <a:pPr lvl="2">
              <a:buFont typeface="Arial" pitchFamily="34" charset="0"/>
              <a:buChar char="•"/>
            </a:pPr>
            <a:r>
              <a:rPr lang="en-AU" sz="1200" kern="1200" dirty="0" smtClean="0">
                <a:solidFill>
                  <a:schemeClr val="tx1"/>
                </a:solidFill>
                <a:latin typeface="+mn-lt"/>
                <a:ea typeface="+mn-ea"/>
                <a:cs typeface="+mn-cs"/>
              </a:rPr>
              <a:t> Smorgasbords or buffets – allow, or require, guests to serve themselves. This service style can require less waiting staff but may not be exactly what target market wants in terms of food service.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Equipment used:</a:t>
            </a:r>
          </a:p>
          <a:p>
            <a:pPr lvl="1">
              <a:buFont typeface="Arial" pitchFamily="34" charset="0"/>
              <a:buChar char="•"/>
            </a:pPr>
            <a:r>
              <a:rPr lang="en-AU" sz="1200" kern="1200" dirty="0" smtClean="0">
                <a:solidFill>
                  <a:schemeClr val="tx1"/>
                </a:solidFill>
                <a:latin typeface="+mn-lt"/>
                <a:ea typeface="+mn-ea"/>
                <a:cs typeface="+mn-cs"/>
              </a:rPr>
              <a:t>There is a need to ensure sufficient suitably trained and competent staff to operate whatever systems, technology or equipment in use at the venue. Factors involved are:</a:t>
            </a:r>
          </a:p>
          <a:p>
            <a:pPr lvl="2">
              <a:buFont typeface="Arial" pitchFamily="34" charset="0"/>
              <a:buChar char="•"/>
            </a:pPr>
            <a:r>
              <a:rPr lang="en-AU" sz="1200" kern="1200" dirty="0" smtClean="0">
                <a:solidFill>
                  <a:schemeClr val="tx1"/>
                </a:solidFill>
                <a:latin typeface="+mn-lt"/>
                <a:ea typeface="+mn-ea"/>
                <a:cs typeface="+mn-cs"/>
              </a:rPr>
              <a:t> The need for sufficient original training – and up-date training as required</a:t>
            </a:r>
          </a:p>
          <a:p>
            <a:pPr lvl="2">
              <a:buFont typeface="Arial" pitchFamily="34" charset="0"/>
              <a:buChar char="•"/>
            </a:pPr>
            <a:r>
              <a:rPr lang="en-AU" sz="1200" kern="1200" dirty="0" smtClean="0">
                <a:solidFill>
                  <a:schemeClr val="tx1"/>
                </a:solidFill>
                <a:latin typeface="+mn-lt"/>
                <a:ea typeface="+mn-ea"/>
                <a:cs typeface="+mn-cs"/>
              </a:rPr>
              <a:t> The need to train sufficient numbers to ensure the systems, technology or equipment can be operated when required</a:t>
            </a:r>
          </a:p>
          <a:p>
            <a:pPr lvl="2">
              <a:buFont typeface="Arial" pitchFamily="34" charset="0"/>
              <a:buChar char="•"/>
            </a:pPr>
            <a:r>
              <a:rPr lang="en-AU" sz="1200" kern="1200" dirty="0" smtClean="0">
                <a:solidFill>
                  <a:schemeClr val="tx1"/>
                </a:solidFill>
                <a:latin typeface="+mn-lt"/>
                <a:ea typeface="+mn-ea"/>
                <a:cs typeface="+mn-cs"/>
              </a:rPr>
              <a:t> The need for trained staff in order to meet:</a:t>
            </a:r>
          </a:p>
          <a:p>
            <a:pPr lvl="3">
              <a:buFont typeface="Arial" pitchFamily="34" charset="0"/>
              <a:buChar char="•"/>
            </a:pPr>
            <a:r>
              <a:rPr lang="en-AU" sz="1200" kern="1200" dirty="0" smtClean="0">
                <a:solidFill>
                  <a:schemeClr val="tx1"/>
                </a:solidFill>
                <a:latin typeface="+mn-lt"/>
                <a:ea typeface="+mn-ea"/>
                <a:cs typeface="+mn-cs"/>
              </a:rPr>
              <a:t> Warranty and guarantee requirements</a:t>
            </a:r>
          </a:p>
          <a:p>
            <a:pPr lvl="3">
              <a:buFont typeface="Arial" pitchFamily="34" charset="0"/>
              <a:buChar char="•"/>
            </a:pPr>
            <a:r>
              <a:rPr lang="en-AU" sz="1200" kern="1200" dirty="0" smtClean="0">
                <a:solidFill>
                  <a:schemeClr val="tx1"/>
                </a:solidFill>
                <a:latin typeface="+mn-lt"/>
                <a:ea typeface="+mn-ea"/>
                <a:cs typeface="+mn-cs"/>
              </a:rPr>
              <a:t> Compliance requirements</a:t>
            </a:r>
          </a:p>
          <a:p>
            <a:pPr lvl="3">
              <a:buFont typeface="Arial" pitchFamily="34" charset="0"/>
              <a:buChar char="•"/>
            </a:pPr>
            <a:r>
              <a:rPr lang="en-AU" sz="1200" kern="1200" dirty="0" smtClean="0">
                <a:solidFill>
                  <a:schemeClr val="tx1"/>
                </a:solidFill>
                <a:latin typeface="+mn-lt"/>
                <a:ea typeface="+mn-ea"/>
                <a:cs typeface="+mn-cs"/>
              </a:rPr>
              <a:t> Safety and insurance requirements</a:t>
            </a:r>
          </a:p>
          <a:p>
            <a:pPr lvl="2">
              <a:buFont typeface="Arial" pitchFamily="34" charset="0"/>
              <a:buChar char="•"/>
            </a:pPr>
            <a:r>
              <a:rPr lang="en-AU" sz="1200" kern="1200" dirty="0" smtClean="0">
                <a:solidFill>
                  <a:schemeClr val="tx1"/>
                </a:solidFill>
                <a:latin typeface="+mn-lt"/>
                <a:ea typeface="+mn-ea"/>
                <a:cs typeface="+mn-cs"/>
              </a:rPr>
              <a:t> The need for planned transitions – from existing systems, technology or equipment to new systems, technology or equipment, allowing time for staff to become familiar with new or upgraded items.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Promises made:</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There must always be sufficient and competent staff to:</a:t>
            </a:r>
          </a:p>
          <a:p>
            <a:pPr marL="914400" marR="0" lvl="2"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Keep promises made in advertisements about service offering</a:t>
            </a:r>
          </a:p>
          <a:p>
            <a:pPr marL="914400" marR="0" lvl="2"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Enable contractual obligations to be complied with</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Coverage of staff movement:</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There must always be plans in place to address expected staff absences (due to leave entitlements, training, rostered time off) and unexpected staff absences (such as illness, accidents at work, the need to transfer staff to another department).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mentions to trainees external factors must also be considered when considering staffing needs explaining there is a need to look at:</a:t>
            </a:r>
          </a:p>
          <a:p>
            <a:pPr>
              <a:buFont typeface="Arial" pitchFamily="34" charset="0"/>
              <a:buChar char="•"/>
            </a:pPr>
            <a:r>
              <a:rPr lang="en-US" dirty="0" smtClean="0"/>
              <a:t> The external business environment – see following slide</a:t>
            </a:r>
          </a:p>
          <a:p>
            <a:pPr>
              <a:buFont typeface="Arial" pitchFamily="34" charset="0"/>
              <a:buChar char="•"/>
            </a:pPr>
            <a:r>
              <a:rPr lang="en-US" dirty="0" smtClean="0"/>
              <a:t> Customer expectations – covered on later slides</a:t>
            </a:r>
          </a:p>
          <a:p>
            <a:pPr>
              <a:buFont typeface="Arial" pitchFamily="34" charset="0"/>
              <a:buChar char="•"/>
            </a:pPr>
            <a:r>
              <a:rPr lang="en-US" dirty="0" smtClean="0"/>
              <a:t> Emerging trends – covered on later slides</a:t>
            </a:r>
          </a:p>
          <a:p>
            <a:pPr>
              <a:buFont typeface="Arial" pitchFamily="34" charset="0"/>
              <a:buChar char="•"/>
            </a:pPr>
            <a:r>
              <a:rPr lang="en-US" dirty="0" smtClean="0"/>
              <a:t> Changes in legislation and technology – covered on later slides</a:t>
            </a:r>
          </a:p>
          <a:p>
            <a:pPr>
              <a:buFont typeface="Arial" pitchFamily="34" charset="0"/>
              <a:buChar char="•"/>
            </a:pPr>
            <a:r>
              <a:rPr lang="en-US" dirty="0" smtClean="0"/>
              <a:t> Availability of staff – covered on later slides.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w</a:t>
            </a:r>
            <a:r>
              <a:rPr lang="en-AU" sz="1200" kern="1200" dirty="0" smtClean="0">
                <a:solidFill>
                  <a:schemeClr val="tx1"/>
                </a:solidFill>
                <a:latin typeface="+mn-lt"/>
                <a:ea typeface="+mn-ea"/>
                <a:cs typeface="+mn-cs"/>
              </a:rPr>
              <a:t>hen considering staffing needs they must always look </a:t>
            </a:r>
            <a:r>
              <a:rPr lang="en-AU" sz="1200" b="1" kern="1200" dirty="0" smtClean="0">
                <a:solidFill>
                  <a:schemeClr val="tx1"/>
                </a:solidFill>
                <a:latin typeface="+mn-lt"/>
                <a:ea typeface="+mn-ea"/>
                <a:cs typeface="+mn-cs"/>
              </a:rPr>
              <a:t>outside </a:t>
            </a:r>
            <a:r>
              <a:rPr lang="en-AU" sz="1200" kern="1200" dirty="0" smtClean="0">
                <a:solidFill>
                  <a:schemeClr val="tx1"/>
                </a:solidFill>
                <a:latin typeface="+mn-lt"/>
                <a:ea typeface="+mn-ea"/>
                <a:cs typeface="+mn-cs"/>
              </a:rPr>
              <a:t>the organisation. An important consideration is the external business environment in which the enterprise is operating in:</a:t>
            </a:r>
          </a:p>
          <a:p>
            <a:pPr lvl="0">
              <a:buFont typeface="Arial" pitchFamily="34" charset="0"/>
              <a:buChar char="•"/>
            </a:pPr>
            <a:r>
              <a:rPr lang="en-AU" sz="1200" kern="1200" dirty="0" smtClean="0">
                <a:solidFill>
                  <a:schemeClr val="tx1"/>
                </a:solidFill>
                <a:latin typeface="+mn-lt"/>
                <a:ea typeface="+mn-ea"/>
                <a:cs typeface="+mn-cs"/>
              </a:rPr>
              <a:t> Evaluation and analysis of the competition – questions to be answered include:</a:t>
            </a:r>
          </a:p>
          <a:p>
            <a:pPr lvl="1">
              <a:buFont typeface="Arial" pitchFamily="34" charset="0"/>
              <a:buChar char="•"/>
            </a:pPr>
            <a:r>
              <a:rPr lang="en-AU" sz="1200" kern="1200" dirty="0" smtClean="0">
                <a:solidFill>
                  <a:schemeClr val="tx1"/>
                </a:solidFill>
                <a:latin typeface="+mn-lt"/>
                <a:ea typeface="+mn-ea"/>
                <a:cs typeface="+mn-cs"/>
              </a:rPr>
              <a:t> Is competition growing, staying the same or decreasing?</a:t>
            </a:r>
          </a:p>
          <a:p>
            <a:pPr lvl="1">
              <a:buFont typeface="Arial" pitchFamily="34" charset="0"/>
              <a:buChar char="•"/>
            </a:pPr>
            <a:r>
              <a:rPr lang="en-AU" sz="1200" kern="1200" dirty="0" smtClean="0">
                <a:solidFill>
                  <a:schemeClr val="tx1"/>
                </a:solidFill>
                <a:latin typeface="+mn-lt"/>
                <a:ea typeface="+mn-ea"/>
                <a:cs typeface="+mn-cs"/>
              </a:rPr>
              <a:t> What activities are being undertaken by the competition to increase their market share?</a:t>
            </a:r>
          </a:p>
          <a:p>
            <a:pPr lvl="2">
              <a:buFont typeface="Arial" pitchFamily="34" charset="0"/>
              <a:buChar char="•"/>
            </a:pPr>
            <a:r>
              <a:rPr lang="en-AU" sz="1200" kern="1200" dirty="0" smtClean="0">
                <a:solidFill>
                  <a:schemeClr val="tx1"/>
                </a:solidFill>
                <a:latin typeface="+mn-lt"/>
                <a:ea typeface="+mn-ea"/>
                <a:cs typeface="+mn-cs"/>
              </a:rPr>
              <a:t> Are they cutting prices?</a:t>
            </a:r>
          </a:p>
          <a:p>
            <a:pPr lvl="2">
              <a:buFont typeface="Arial" pitchFamily="34" charset="0"/>
              <a:buChar char="•"/>
            </a:pPr>
            <a:r>
              <a:rPr lang="en-AU" sz="1200" kern="1200" dirty="0" smtClean="0">
                <a:solidFill>
                  <a:schemeClr val="tx1"/>
                </a:solidFill>
                <a:latin typeface="+mn-lt"/>
                <a:ea typeface="+mn-ea"/>
                <a:cs typeface="+mn-cs"/>
              </a:rPr>
              <a:t> Are they advertising more?</a:t>
            </a:r>
          </a:p>
          <a:p>
            <a:pPr lvl="2">
              <a:buFont typeface="Arial" pitchFamily="34" charset="0"/>
              <a:buChar char="•"/>
            </a:pPr>
            <a:r>
              <a:rPr lang="en-AU" sz="1200" kern="1200" dirty="0" smtClean="0">
                <a:solidFill>
                  <a:schemeClr val="tx1"/>
                </a:solidFill>
                <a:latin typeface="+mn-lt"/>
                <a:ea typeface="+mn-ea"/>
                <a:cs typeface="+mn-cs"/>
              </a:rPr>
              <a:t> Are they offering a better service or products?</a:t>
            </a:r>
          </a:p>
          <a:p>
            <a:pPr lvl="1">
              <a:buFont typeface="Arial" pitchFamily="34" charset="0"/>
              <a:buChar char="•"/>
            </a:pPr>
            <a:r>
              <a:rPr lang="en-AU" sz="1200" kern="1200" dirty="0" smtClean="0">
                <a:solidFill>
                  <a:schemeClr val="tx1"/>
                </a:solidFill>
                <a:latin typeface="+mn-lt"/>
                <a:ea typeface="+mn-ea"/>
                <a:cs typeface="+mn-cs"/>
              </a:rPr>
              <a:t> What does it appear needs to be done to combat this opposition activity? Is the answer really a staffing response (more staff,</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more qualified staff, more personable staff,</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more competent staff), or is the answer totally unrelated to staffing. Therefore other issues need to be addressed (lower prices, increased value-for-money, better inclusions in packages)</a:t>
            </a:r>
          </a:p>
          <a:p>
            <a:pPr lvl="0">
              <a:buFont typeface="Arial" pitchFamily="34" charset="0"/>
              <a:buChar char="•"/>
            </a:pPr>
            <a:r>
              <a:rPr lang="en-AU" sz="1200" kern="1200" dirty="0" smtClean="0">
                <a:solidFill>
                  <a:schemeClr val="tx1"/>
                </a:solidFill>
                <a:latin typeface="+mn-lt"/>
                <a:ea typeface="+mn-ea"/>
                <a:cs typeface="+mn-cs"/>
              </a:rPr>
              <a:t> The state of the economy – taking into consideration:</a:t>
            </a:r>
          </a:p>
          <a:p>
            <a:pPr lvl="1">
              <a:buFont typeface="Arial" pitchFamily="34" charset="0"/>
              <a:buChar char="•"/>
            </a:pPr>
            <a:r>
              <a:rPr lang="en-AU" sz="1200" kern="1200" dirty="0" smtClean="0">
                <a:solidFill>
                  <a:schemeClr val="tx1"/>
                </a:solidFill>
                <a:latin typeface="+mn-lt"/>
                <a:ea typeface="+mn-ea"/>
                <a:cs typeface="+mn-cs"/>
              </a:rPr>
              <a:t> Local employment rates</a:t>
            </a:r>
          </a:p>
          <a:p>
            <a:pPr lvl="1">
              <a:buFont typeface="Arial" pitchFamily="34" charset="0"/>
              <a:buChar char="•"/>
            </a:pPr>
            <a:r>
              <a:rPr lang="en-AU" sz="1200" kern="1200" dirty="0" smtClean="0">
                <a:solidFill>
                  <a:schemeClr val="tx1"/>
                </a:solidFill>
                <a:latin typeface="+mn-lt"/>
                <a:ea typeface="+mn-ea"/>
                <a:cs typeface="+mn-cs"/>
              </a:rPr>
              <a:t> Availability of credit </a:t>
            </a:r>
          </a:p>
          <a:p>
            <a:pPr lvl="1">
              <a:buFont typeface="Arial" pitchFamily="34" charset="0"/>
              <a:buChar char="•"/>
            </a:pPr>
            <a:r>
              <a:rPr lang="en-AU" sz="1200" kern="1200" dirty="0" smtClean="0">
                <a:solidFill>
                  <a:schemeClr val="tx1"/>
                </a:solidFill>
                <a:latin typeface="+mn-lt"/>
                <a:ea typeface="+mn-ea"/>
                <a:cs typeface="+mn-cs"/>
              </a:rPr>
              <a:t> Exchange rates</a:t>
            </a:r>
          </a:p>
          <a:p>
            <a:pPr lvl="1">
              <a:buFont typeface="Arial" pitchFamily="34" charset="0"/>
              <a:buChar char="•"/>
            </a:pPr>
            <a:r>
              <a:rPr lang="en-AU" sz="1200" kern="1200" dirty="0" smtClean="0">
                <a:solidFill>
                  <a:schemeClr val="tx1"/>
                </a:solidFill>
                <a:latin typeface="+mn-lt"/>
                <a:ea typeface="+mn-ea"/>
                <a:cs typeface="+mn-cs"/>
              </a:rPr>
              <a:t> Levels of disposable income</a:t>
            </a:r>
          </a:p>
          <a:p>
            <a:pPr>
              <a:buFont typeface="Arial" pitchFamily="34" charset="0"/>
              <a:buChar char="•"/>
            </a:pPr>
            <a:r>
              <a:rPr lang="en-AU" sz="1200" kern="1200" dirty="0" smtClean="0">
                <a:solidFill>
                  <a:schemeClr val="tx1"/>
                </a:solidFill>
                <a:latin typeface="+mn-lt"/>
                <a:ea typeface="+mn-ea"/>
                <a:cs typeface="+mn-cs"/>
              </a:rPr>
              <a:t> Consideration of the countries and economies of the countries from which customers are drawn.</a:t>
            </a:r>
            <a:r>
              <a:rPr lang="en-AU" sz="1200" kern="1200" baseline="0" dirty="0" smtClean="0">
                <a:solidFill>
                  <a:schemeClr val="tx1"/>
                </a:solidFill>
                <a:latin typeface="+mn-lt"/>
                <a:ea typeface="+mn-ea"/>
                <a:cs typeface="+mn-cs"/>
              </a:rPr>
              <a:t> W</a:t>
            </a:r>
            <a:r>
              <a:rPr lang="en-AU" sz="1200" kern="1200" dirty="0" smtClean="0">
                <a:solidFill>
                  <a:schemeClr val="tx1"/>
                </a:solidFill>
                <a:latin typeface="+mn-lt"/>
                <a:ea typeface="+mn-ea"/>
                <a:cs typeface="+mn-cs"/>
              </a:rPr>
              <a:t>here the enterprise relies heavily on revenue from international customers, the state of their currency and economy are important issues to take into account.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to trainees </a:t>
            </a:r>
            <a:r>
              <a:rPr lang="en-AU" dirty="0" smtClean="0"/>
              <a:t>all </a:t>
            </a:r>
            <a:r>
              <a:rPr lang="en-AU" sz="1200" kern="1200" dirty="0" smtClean="0">
                <a:solidFill>
                  <a:schemeClr val="tx1"/>
                </a:solidFill>
                <a:latin typeface="+mn-lt"/>
                <a:ea typeface="+mn-ea"/>
                <a:cs typeface="+mn-cs"/>
              </a:rPr>
              <a:t>businesses should strive to be customer-focused.</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All efforts should be concentrated on delivering products and services deemed by the customers to be important </a:t>
            </a:r>
            <a:r>
              <a:rPr lang="en-AU" sz="1200" i="1" kern="1200" dirty="0" smtClean="0">
                <a:solidFill>
                  <a:schemeClr val="tx1"/>
                </a:solidFill>
                <a:latin typeface="+mn-lt"/>
                <a:ea typeface="+mn-ea"/>
                <a:cs typeface="+mn-cs"/>
              </a:rPr>
              <a:t>to them. </a:t>
            </a:r>
            <a:endParaRPr lang="en-AU" sz="1200" kern="1200" dirty="0" smtClean="0">
              <a:solidFill>
                <a:schemeClr val="tx1"/>
              </a:solidFill>
              <a:latin typeface="+mn-lt"/>
              <a:ea typeface="+mn-ea"/>
              <a:cs typeface="+mn-cs"/>
            </a:endParaRP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highlights being customer-focused is a very marketing oriented way to do business. It requires the enterprise to engage in market research to help a business stay in touch with its customers and determine what it is they need – ways to capture this information from customers include:</a:t>
            </a:r>
          </a:p>
          <a:p>
            <a:pPr>
              <a:buFont typeface="Arial" pitchFamily="34" charset="0"/>
              <a:buChar char="•"/>
            </a:pPr>
            <a:r>
              <a:rPr lang="en-AU" sz="1200" kern="1200" dirty="0" smtClean="0">
                <a:solidFill>
                  <a:schemeClr val="tx1"/>
                </a:solidFill>
                <a:latin typeface="+mn-lt"/>
                <a:ea typeface="+mn-ea"/>
                <a:cs typeface="+mn-cs"/>
              </a:rPr>
              <a:t> Talking to customers – to get their input and feedback</a:t>
            </a:r>
          </a:p>
          <a:p>
            <a:pPr>
              <a:buFont typeface="Arial" pitchFamily="34" charset="0"/>
              <a:buChar char="•"/>
            </a:pPr>
            <a:r>
              <a:rPr lang="en-AU" sz="1200" kern="1200" dirty="0" smtClean="0">
                <a:solidFill>
                  <a:schemeClr val="tx1"/>
                </a:solidFill>
                <a:latin typeface="+mn-lt"/>
                <a:ea typeface="+mn-ea"/>
                <a:cs typeface="+mn-cs"/>
              </a:rPr>
              <a:t> Offer ‘Customer Comment’ cards for customers to complete – and encourage them to fill them in, and read them when they are submitted</a:t>
            </a:r>
          </a:p>
          <a:p>
            <a:pPr>
              <a:buFont typeface="Arial" pitchFamily="34" charset="0"/>
              <a:buChar char="•"/>
            </a:pPr>
            <a:r>
              <a:rPr lang="en-AU" sz="1200" kern="1200" dirty="0" smtClean="0">
                <a:solidFill>
                  <a:schemeClr val="tx1"/>
                </a:solidFill>
                <a:latin typeface="+mn-lt"/>
                <a:ea typeface="+mn-ea"/>
                <a:cs typeface="+mn-cs"/>
              </a:rPr>
              <a:t> Have a ‘Contact Us’ facility on the website</a:t>
            </a:r>
          </a:p>
          <a:p>
            <a:pPr>
              <a:buFont typeface="Arial" pitchFamily="34" charset="0"/>
              <a:buChar char="•"/>
            </a:pPr>
            <a:r>
              <a:rPr lang="en-AU" sz="1200" kern="1200" dirty="0" smtClean="0">
                <a:solidFill>
                  <a:schemeClr val="tx1"/>
                </a:solidFill>
                <a:latin typeface="+mn-lt"/>
                <a:ea typeface="+mn-ea"/>
                <a:cs typeface="+mn-cs"/>
              </a:rPr>
              <a:t> Use focus groups – to discuss targeted issues</a:t>
            </a:r>
          </a:p>
          <a:p>
            <a:pPr>
              <a:buFont typeface="Arial" pitchFamily="34" charset="0"/>
              <a:buChar char="•"/>
            </a:pPr>
            <a:r>
              <a:rPr lang="en-AU" sz="1200" kern="1200" dirty="0" smtClean="0">
                <a:solidFill>
                  <a:schemeClr val="tx1"/>
                </a:solidFill>
                <a:latin typeface="+mn-lt"/>
                <a:ea typeface="+mn-ea"/>
                <a:cs typeface="+mn-cs"/>
              </a:rPr>
              <a:t> Pay attention to complaints made and compliments given</a:t>
            </a:r>
          </a:p>
          <a:p>
            <a:pPr>
              <a:buFont typeface="Arial" pitchFamily="34" charset="0"/>
              <a:buChar char="•"/>
            </a:pPr>
            <a:r>
              <a:rPr lang="en-AU" sz="1200" kern="1200" dirty="0" smtClean="0">
                <a:solidFill>
                  <a:schemeClr val="tx1"/>
                </a:solidFill>
                <a:latin typeface="+mn-lt"/>
                <a:ea typeface="+mn-ea"/>
                <a:cs typeface="+mn-cs"/>
              </a:rPr>
              <a:t> Produce and administer questionnaires</a:t>
            </a:r>
          </a:p>
          <a:p>
            <a:pPr>
              <a:buFont typeface="Arial" pitchFamily="34" charset="0"/>
              <a:buChar char="•"/>
            </a:pPr>
            <a:r>
              <a:rPr lang="en-AU" sz="1200" kern="1200" dirty="0" smtClean="0">
                <a:solidFill>
                  <a:schemeClr val="tx1"/>
                </a:solidFill>
                <a:latin typeface="+mn-lt"/>
                <a:ea typeface="+mn-ea"/>
                <a:cs typeface="+mn-cs"/>
              </a:rPr>
              <a:t> Observe customers – look at their body language and listen to comments they make.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indicates to trainees they must be constantly looking to identify new and emerging trends in the marketplace so they can take advantage of opportunities highlighting many of these trends require:</a:t>
            </a:r>
          </a:p>
          <a:p>
            <a:pPr>
              <a:buFont typeface="Arial" pitchFamily="34" charset="0"/>
              <a:buChar char="•"/>
            </a:pPr>
            <a:r>
              <a:rPr lang="en-US" dirty="0" smtClean="0"/>
              <a:t> More staff – or loess staff. For example, self-catering may allow fewer cooks or waiters to be hired</a:t>
            </a:r>
          </a:p>
          <a:p>
            <a:pPr>
              <a:buFont typeface="Arial" pitchFamily="34" charset="0"/>
              <a:buChar char="•"/>
            </a:pPr>
            <a:r>
              <a:rPr lang="en-US" dirty="0" smtClean="0"/>
              <a:t> Staff with different skill sets – different skills, experience, knowledge and abilities</a:t>
            </a:r>
          </a:p>
          <a:p>
            <a:pPr>
              <a:buFont typeface="Arial" pitchFamily="34" charset="0"/>
              <a:buChar char="•"/>
            </a:pPr>
            <a:r>
              <a:rPr lang="en-US" dirty="0" smtClean="0"/>
              <a:t> Staff at different times of the day – to meet differing customer needs at different</a:t>
            </a:r>
            <a:r>
              <a:rPr lang="en-US" baseline="0" dirty="0" smtClean="0"/>
              <a:t> times</a:t>
            </a:r>
            <a:r>
              <a:rPr lang="en-US" dirty="0" smtClean="0"/>
              <a:t>.</a:t>
            </a:r>
          </a:p>
          <a:p>
            <a:pPr>
              <a:buFont typeface="Arial" pitchFamily="34" charset="0"/>
              <a:buNone/>
            </a:pPr>
            <a:endParaRPr lang="en-US" dirty="0" smtClean="0"/>
          </a:p>
          <a:p>
            <a:pPr>
              <a:buFont typeface="Arial" pitchFamily="34" charset="0"/>
              <a:buNone/>
            </a:pPr>
            <a:r>
              <a:rPr lang="en-US" dirty="0" smtClean="0"/>
              <a:t>Trainer identifies examples of recent trends:</a:t>
            </a:r>
          </a:p>
          <a:p>
            <a:pPr>
              <a:buFont typeface="Arial" pitchFamily="34" charset="0"/>
              <a:buChar char="•"/>
            </a:pPr>
            <a:r>
              <a:rPr lang="en-AU" sz="1200" kern="1200" dirty="0" smtClean="0">
                <a:solidFill>
                  <a:schemeClr val="tx1"/>
                </a:solidFill>
                <a:latin typeface="+mn-lt"/>
                <a:ea typeface="+mn-ea"/>
                <a:cs typeface="+mn-cs"/>
              </a:rPr>
              <a:t> Increase in international travel and tourism</a:t>
            </a:r>
          </a:p>
          <a:p>
            <a:pPr>
              <a:buFont typeface="Arial" pitchFamily="34" charset="0"/>
              <a:buChar char="•"/>
            </a:pPr>
            <a:r>
              <a:rPr lang="en-AU" sz="1200" kern="1200" dirty="0" smtClean="0">
                <a:solidFill>
                  <a:schemeClr val="tx1"/>
                </a:solidFill>
                <a:latin typeface="+mn-lt"/>
                <a:ea typeface="+mn-ea"/>
                <a:cs typeface="+mn-cs"/>
              </a:rPr>
              <a:t> Increase in frequent short holidays rather than a single, longer duration holiday</a:t>
            </a:r>
          </a:p>
          <a:p>
            <a:pPr>
              <a:buFont typeface="Arial" pitchFamily="34" charset="0"/>
              <a:buChar char="•"/>
            </a:pPr>
            <a:r>
              <a:rPr lang="en-AU" sz="1200" kern="1200" dirty="0" smtClean="0">
                <a:solidFill>
                  <a:schemeClr val="tx1"/>
                </a:solidFill>
                <a:latin typeface="+mn-lt"/>
                <a:ea typeface="+mn-ea"/>
                <a:cs typeface="+mn-cs"/>
              </a:rPr>
              <a:t> Increase in women who are travelling for business</a:t>
            </a:r>
          </a:p>
          <a:p>
            <a:pPr>
              <a:buFont typeface="Arial" pitchFamily="34" charset="0"/>
              <a:buChar char="•"/>
            </a:pPr>
            <a:r>
              <a:rPr lang="en-AU" sz="1200" kern="1200" dirty="0" smtClean="0">
                <a:solidFill>
                  <a:schemeClr val="tx1"/>
                </a:solidFill>
                <a:latin typeface="+mn-lt"/>
                <a:ea typeface="+mn-ea"/>
                <a:cs typeface="+mn-cs"/>
              </a:rPr>
              <a:t> Growth in new tourism markets – such as eco-tourism, action tourism, medical tourism.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changes </a:t>
            </a:r>
            <a:r>
              <a:rPr lang="en-AU" sz="1200" kern="1200" dirty="0" smtClean="0">
                <a:solidFill>
                  <a:schemeClr val="tx1"/>
                </a:solidFill>
                <a:latin typeface="+mn-lt"/>
                <a:ea typeface="+mn-ea"/>
                <a:cs typeface="+mn-cs"/>
              </a:rPr>
              <a:t>in legislation have the potential to impact on staffing as follows:</a:t>
            </a:r>
          </a:p>
          <a:p>
            <a:pPr>
              <a:buFont typeface="Arial" pitchFamily="34" charset="0"/>
              <a:buChar char="•"/>
            </a:pPr>
            <a:r>
              <a:rPr lang="en-AU" sz="1200" kern="1200" dirty="0" smtClean="0">
                <a:solidFill>
                  <a:schemeClr val="tx1"/>
                </a:solidFill>
                <a:latin typeface="+mn-lt"/>
                <a:ea typeface="+mn-ea"/>
                <a:cs typeface="+mn-cs"/>
              </a:rPr>
              <a:t> There can be a need to train staff about the new legislation – what it means to their everyday workplace responsibilities, what different compliance obligations are provided for, and how their work needs to change to comply</a:t>
            </a:r>
          </a:p>
          <a:p>
            <a:pPr>
              <a:buFont typeface="Arial" pitchFamily="34" charset="0"/>
              <a:buChar char="•"/>
            </a:pPr>
            <a:r>
              <a:rPr lang="en-AU" sz="1200" kern="1200" dirty="0" smtClean="0">
                <a:solidFill>
                  <a:schemeClr val="tx1"/>
                </a:solidFill>
                <a:latin typeface="+mn-lt"/>
                <a:ea typeface="+mn-ea"/>
                <a:cs typeface="+mn-cs"/>
              </a:rPr>
              <a:t> There can be a need for staff  to obtain mandatory licences, certificates or qualifications</a:t>
            </a:r>
          </a:p>
          <a:p>
            <a:pPr>
              <a:buFont typeface="Arial" pitchFamily="34" charset="0"/>
              <a:buChar char="•"/>
            </a:pPr>
            <a:r>
              <a:rPr lang="en-AU" sz="1200" kern="1200" dirty="0" smtClean="0">
                <a:solidFill>
                  <a:schemeClr val="tx1"/>
                </a:solidFill>
                <a:latin typeface="+mn-lt"/>
                <a:ea typeface="+mn-ea"/>
                <a:cs typeface="+mn-cs"/>
              </a:rPr>
              <a:t> There may be a need for staff to update or refresh existing licences, certificates or qualifications</a:t>
            </a:r>
          </a:p>
          <a:p>
            <a:pPr>
              <a:buFont typeface="Arial" pitchFamily="34" charset="0"/>
              <a:buChar char="•"/>
            </a:pPr>
            <a:r>
              <a:rPr lang="en-AU" sz="1200" kern="1200" dirty="0" smtClean="0">
                <a:solidFill>
                  <a:schemeClr val="tx1"/>
                </a:solidFill>
                <a:latin typeface="+mn-lt"/>
                <a:ea typeface="+mn-ea"/>
                <a:cs typeface="+mn-cs"/>
              </a:rPr>
              <a:t> There may be a need for staff to provide evidence they have completed mandatory training</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courses</a:t>
            </a:r>
          </a:p>
          <a:p>
            <a:pPr>
              <a:buFont typeface="Arial" pitchFamily="34" charset="0"/>
              <a:buChar char="•"/>
            </a:pPr>
            <a:r>
              <a:rPr lang="en-AU" sz="1200" kern="1200" dirty="0" smtClean="0">
                <a:solidFill>
                  <a:schemeClr val="tx1"/>
                </a:solidFill>
                <a:latin typeface="+mn-lt"/>
                <a:ea typeface="+mn-ea"/>
                <a:cs typeface="+mn-cs"/>
              </a:rPr>
              <a:t> Staff who were previously employed in a legal capacity may need to be removed from their position – where legislation means their age prohibits them from working as a result of legislative changes, or their qualification is now deemed to be out-of-date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no longer recognised.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changes </a:t>
            </a:r>
            <a:r>
              <a:rPr lang="en-AU" sz="1200" kern="1200" dirty="0" smtClean="0">
                <a:solidFill>
                  <a:schemeClr val="tx1"/>
                </a:solidFill>
                <a:latin typeface="+mn-lt"/>
                <a:ea typeface="+mn-ea"/>
                <a:cs typeface="+mn-cs"/>
              </a:rPr>
              <a:t>in technology have the potential to impact on staffing as follows:</a:t>
            </a:r>
          </a:p>
          <a:p>
            <a:pPr>
              <a:buFont typeface="Arial" pitchFamily="34" charset="0"/>
              <a:buChar char="•"/>
            </a:pPr>
            <a:r>
              <a:rPr lang="en-AU" sz="1200" kern="1200" dirty="0" smtClean="0">
                <a:solidFill>
                  <a:schemeClr val="tx1"/>
                </a:solidFill>
                <a:latin typeface="+mn-lt"/>
                <a:ea typeface="+mn-ea"/>
                <a:cs typeface="+mn-cs"/>
              </a:rPr>
              <a:t> The need for training, certification and experience on the new equipment, technology or systems – this may involve:</a:t>
            </a:r>
          </a:p>
          <a:p>
            <a:pPr lvl="1">
              <a:buFont typeface="Arial" pitchFamily="34" charset="0"/>
              <a:buChar char="•"/>
            </a:pPr>
            <a:r>
              <a:rPr lang="en-US" sz="1200" kern="1200" dirty="0" smtClean="0">
                <a:solidFill>
                  <a:schemeClr val="tx1"/>
                </a:solidFill>
                <a:latin typeface="+mn-lt"/>
                <a:ea typeface="+mn-ea"/>
                <a:cs typeface="+mn-cs"/>
              </a:rPr>
              <a:t> In-house training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External training by a private training provider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Arrangements with suppliers for them to provide on-site training and commissioning of the new system</a:t>
            </a:r>
            <a:r>
              <a:rPr lang="en-US" sz="1200" kern="1200" baseline="0" dirty="0" smtClean="0">
                <a:solidFill>
                  <a:schemeClr val="tx1"/>
                </a:solidFill>
                <a:latin typeface="+mn-lt"/>
                <a:ea typeface="+mn-ea"/>
                <a:cs typeface="+mn-cs"/>
              </a:rPr>
              <a:t> or </a:t>
            </a:r>
            <a:r>
              <a:rPr lang="en-US" sz="1200" kern="1200" dirty="0" smtClean="0">
                <a:solidFill>
                  <a:schemeClr val="tx1"/>
                </a:solidFill>
                <a:latin typeface="+mn-lt"/>
                <a:ea typeface="+mn-ea"/>
                <a:cs typeface="+mn-cs"/>
              </a:rPr>
              <a:t>equipment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 need for staff to be able to explain new equipment, technology or systems to customers – and help them use it</a:t>
            </a:r>
          </a:p>
          <a:p>
            <a:pPr>
              <a:buFont typeface="Arial" pitchFamily="34" charset="0"/>
              <a:buChar char="•"/>
            </a:pPr>
            <a:r>
              <a:rPr lang="en-AU" sz="1200" kern="1200" dirty="0" smtClean="0">
                <a:solidFill>
                  <a:schemeClr val="tx1"/>
                </a:solidFill>
                <a:latin typeface="+mn-lt"/>
                <a:ea typeface="+mn-ea"/>
                <a:cs typeface="+mn-cs"/>
              </a:rPr>
              <a:t> The need for integrating existing work practices into the requirements of the new equipment, technology or systems.</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to trainees there is a need to consider the type and amount of suitable staff available to undertake the required tasks as and when required.</a:t>
            </a:r>
          </a:p>
          <a:p>
            <a:pPr>
              <a:buFont typeface="Arial" pitchFamily="34" charset="0"/>
              <a:buNone/>
            </a:pPr>
            <a:endParaRPr lang="en-US" dirty="0" smtClean="0"/>
          </a:p>
          <a:p>
            <a:r>
              <a:rPr lang="en-US" dirty="0" smtClean="0"/>
              <a:t>Trainer explains when there is a </a:t>
            </a:r>
            <a:r>
              <a:rPr lang="en-AU" sz="1200" kern="1200" dirty="0" smtClean="0">
                <a:solidFill>
                  <a:schemeClr val="tx1"/>
                </a:solidFill>
                <a:latin typeface="+mn-lt"/>
                <a:ea typeface="+mn-ea"/>
                <a:cs typeface="+mn-cs"/>
              </a:rPr>
              <a:t>lack of suitable local staff this may mean a need for trainees to:</a:t>
            </a:r>
          </a:p>
          <a:p>
            <a:pPr lvl="0">
              <a:buFont typeface="Arial" pitchFamily="34" charset="0"/>
              <a:buChar char="•"/>
            </a:pPr>
            <a:r>
              <a:rPr lang="en-AU" sz="1200" kern="1200" dirty="0" smtClean="0">
                <a:solidFill>
                  <a:schemeClr val="tx1"/>
                </a:solidFill>
                <a:latin typeface="+mn-lt"/>
                <a:ea typeface="+mn-ea"/>
                <a:cs typeface="+mn-cs"/>
              </a:rPr>
              <a:t> To advertise for staff more widely – such as internationally or out of the local area</a:t>
            </a:r>
          </a:p>
          <a:p>
            <a:pPr lvl="0">
              <a:buFont typeface="Arial" pitchFamily="34" charset="0"/>
              <a:buChar char="•"/>
            </a:pPr>
            <a:r>
              <a:rPr lang="en-AU" sz="1200" kern="1200" dirty="0" smtClean="0">
                <a:solidFill>
                  <a:schemeClr val="tx1"/>
                </a:solidFill>
                <a:latin typeface="+mn-lt"/>
                <a:ea typeface="+mn-ea"/>
                <a:cs typeface="+mn-cs"/>
              </a:rPr>
              <a:t> To simplify tasks – so less qualified or experienced people can undertake them</a:t>
            </a:r>
          </a:p>
          <a:p>
            <a:pPr lvl="0">
              <a:buFont typeface="Arial" pitchFamily="34" charset="0"/>
              <a:buChar char="•"/>
            </a:pPr>
            <a:r>
              <a:rPr lang="en-AU" sz="1200" kern="1200" dirty="0" smtClean="0">
                <a:solidFill>
                  <a:schemeClr val="tx1"/>
                </a:solidFill>
                <a:latin typeface="+mn-lt"/>
                <a:ea typeface="+mn-ea"/>
                <a:cs typeface="+mn-cs"/>
              </a:rPr>
              <a:t> To offer more money – to attract suitable applicants</a:t>
            </a:r>
          </a:p>
          <a:p>
            <a:pPr lvl="0">
              <a:buFont typeface="Arial" pitchFamily="34" charset="0"/>
              <a:buChar char="•"/>
            </a:pPr>
            <a:r>
              <a:rPr lang="en-AU" sz="1200" kern="1200" dirty="0" smtClean="0">
                <a:solidFill>
                  <a:schemeClr val="tx1"/>
                </a:solidFill>
                <a:latin typeface="+mn-lt"/>
                <a:ea typeface="+mn-ea"/>
                <a:cs typeface="+mn-cs"/>
              </a:rPr>
              <a:t> To improve working conditions – to make the workplace more attractive for the right staff</a:t>
            </a:r>
          </a:p>
          <a:p>
            <a:pPr>
              <a:buFont typeface="Arial" pitchFamily="34" charset="0"/>
              <a:buChar char="•"/>
            </a:pPr>
            <a:r>
              <a:rPr lang="en-AU" sz="1200" kern="1200" dirty="0" smtClean="0">
                <a:solidFill>
                  <a:schemeClr val="tx1"/>
                </a:solidFill>
                <a:latin typeface="+mn-lt"/>
                <a:ea typeface="+mn-ea"/>
                <a:cs typeface="+mn-cs"/>
              </a:rPr>
              <a:t> There is a need to offer more in-house training – to develop a body of suitable trained staff</a:t>
            </a:r>
          </a:p>
          <a:p>
            <a:pPr>
              <a:buFont typeface="Arial" pitchFamily="34" charset="0"/>
              <a:buChar char="•"/>
            </a:pPr>
            <a:r>
              <a:rPr lang="en-AU" sz="1200" kern="1200" dirty="0" smtClean="0">
                <a:solidFill>
                  <a:schemeClr val="tx1"/>
                </a:solidFill>
                <a:latin typeface="+mn-lt"/>
                <a:ea typeface="+mn-ea"/>
                <a:cs typeface="+mn-cs"/>
              </a:rPr>
              <a:t> A need to work with authorities, local employer bodies and agencies to:</a:t>
            </a:r>
          </a:p>
          <a:p>
            <a:pPr lvl="1">
              <a:buFont typeface="Arial" pitchFamily="34" charset="0"/>
              <a:buChar char="•"/>
            </a:pPr>
            <a:r>
              <a:rPr lang="en-US" sz="1200" kern="1200" dirty="0" smtClean="0">
                <a:solidFill>
                  <a:schemeClr val="tx1"/>
                </a:solidFill>
                <a:latin typeface="+mn-lt"/>
                <a:ea typeface="+mn-ea"/>
                <a:cs typeface="+mn-cs"/>
              </a:rPr>
              <a:t> Promote vocational training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Encourage people to engage with vocational training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Offer more vocational training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Facilitate the movement of trained, experienced and qualified people into the local industry.</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t>
            </a:r>
            <a:r>
              <a:rPr lang="en-AU" sz="1200" kern="1200" dirty="0" smtClean="0">
                <a:solidFill>
                  <a:schemeClr val="tx1"/>
                </a:solidFill>
                <a:latin typeface="+mn-lt"/>
                <a:ea typeface="+mn-ea"/>
                <a:cs typeface="+mn-cs"/>
              </a:rPr>
              <a:t>the study of workplace performance is a field in its own right however it is important for them to monitor the workplace performance of their staff to:</a:t>
            </a:r>
          </a:p>
          <a:p>
            <a:pPr>
              <a:buFont typeface="Arial" pitchFamily="34" charset="0"/>
              <a:buChar char="•"/>
            </a:pPr>
            <a:r>
              <a:rPr lang="en-AU" sz="1200" kern="1200" dirty="0" smtClean="0">
                <a:solidFill>
                  <a:schemeClr val="tx1"/>
                </a:solidFill>
                <a:latin typeface="+mn-lt"/>
                <a:ea typeface="+mn-ea"/>
                <a:cs typeface="+mn-cs"/>
              </a:rPr>
              <a:t> Identify those who need help – or training or support</a:t>
            </a:r>
          </a:p>
          <a:p>
            <a:pPr>
              <a:buFont typeface="Arial" pitchFamily="34" charset="0"/>
              <a:buChar char="•"/>
            </a:pPr>
            <a:r>
              <a:rPr lang="en-AU" sz="1200" kern="1200" dirty="0" smtClean="0">
                <a:solidFill>
                  <a:schemeClr val="tx1"/>
                </a:solidFill>
                <a:latin typeface="+mn-lt"/>
                <a:ea typeface="+mn-ea"/>
                <a:cs typeface="+mn-cs"/>
              </a:rPr>
              <a:t> Help determine whether actual outcomes are person-based or related to other issues – such as poor layout, malfunctioning equipment, ineffective SOPs</a:t>
            </a:r>
          </a:p>
          <a:p>
            <a:pPr>
              <a:buFont typeface="Arial" pitchFamily="34" charset="0"/>
              <a:buChar char="•"/>
            </a:pPr>
            <a:r>
              <a:rPr lang="en-AU" sz="1200" kern="1200" dirty="0" smtClean="0">
                <a:solidFill>
                  <a:schemeClr val="tx1"/>
                </a:solidFill>
                <a:latin typeface="+mn-lt"/>
                <a:ea typeface="+mn-ea"/>
                <a:cs typeface="+mn-cs"/>
              </a:rPr>
              <a:t> Identify good performance – so it can be recognised or rewarded</a:t>
            </a:r>
          </a:p>
          <a:p>
            <a:pPr>
              <a:buFont typeface="Arial" pitchFamily="34" charset="0"/>
              <a:buChar char="•"/>
            </a:pPr>
            <a:r>
              <a:rPr lang="en-AU" sz="1200" kern="1200" dirty="0" smtClean="0">
                <a:solidFill>
                  <a:schemeClr val="tx1"/>
                </a:solidFill>
                <a:latin typeface="+mn-lt"/>
                <a:ea typeface="+mn-ea"/>
                <a:cs typeface="+mn-cs"/>
              </a:rPr>
              <a:t> Identify staff who may be suitable for promotion – or extra responsibilities or a new position</a:t>
            </a:r>
          </a:p>
          <a:p>
            <a:pPr>
              <a:buFont typeface="Arial" pitchFamily="34" charset="0"/>
              <a:buChar char="•"/>
            </a:pPr>
            <a:r>
              <a:rPr lang="en-AU" sz="1200" kern="1200" dirty="0" smtClean="0">
                <a:solidFill>
                  <a:schemeClr val="tx1"/>
                </a:solidFill>
                <a:latin typeface="+mn-lt"/>
                <a:ea typeface="+mn-ea"/>
                <a:cs typeface="+mn-cs"/>
              </a:rPr>
              <a:t> Remind staff their performance at work is under scrutiny – which encourages them to perform at their best.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indicates to trainees ‘statistical analysis’ is a very common approach taken by workplaces to monitor</a:t>
            </a:r>
            <a:r>
              <a:rPr lang="en-US" baseline="0" dirty="0" smtClean="0"/>
              <a:t> staff performance, presenting the three basic steps used in this approach:</a:t>
            </a:r>
          </a:p>
          <a:p>
            <a:pPr>
              <a:buFont typeface="Arial" pitchFamily="34" charset="0"/>
              <a:buChar char="•"/>
            </a:pPr>
            <a:r>
              <a:rPr lang="en-AU" sz="1200" kern="1200" dirty="0" smtClean="0">
                <a:solidFill>
                  <a:schemeClr val="tx1"/>
                </a:solidFill>
                <a:latin typeface="+mn-lt"/>
                <a:ea typeface="+mn-ea"/>
                <a:cs typeface="+mn-cs"/>
              </a:rPr>
              <a:t> Step 1: Determine ‘expected’ (or ‘projected’) figures for labour – which may include consideration of a multitude of staff-related expenditures and associated issues such as:</a:t>
            </a:r>
          </a:p>
          <a:p>
            <a:pPr lvl="1">
              <a:buFont typeface="Arial" pitchFamily="34" charset="0"/>
              <a:buChar char="•"/>
            </a:pPr>
            <a:r>
              <a:rPr lang="en-AU" sz="1200" kern="1200" dirty="0" smtClean="0">
                <a:solidFill>
                  <a:schemeClr val="tx1"/>
                </a:solidFill>
                <a:latin typeface="+mn-lt"/>
                <a:ea typeface="+mn-ea"/>
                <a:cs typeface="+mn-cs"/>
              </a:rPr>
              <a:t> Wage costs – what will they be for the period under consideration (the forecast period). This occurs </a:t>
            </a:r>
            <a:r>
              <a:rPr lang="en-AU" sz="1200" b="1" kern="1200" dirty="0" smtClean="0">
                <a:solidFill>
                  <a:schemeClr val="tx1"/>
                </a:solidFill>
                <a:latin typeface="+mn-lt"/>
                <a:ea typeface="+mn-ea"/>
                <a:cs typeface="+mn-cs"/>
              </a:rPr>
              <a:t>before </a:t>
            </a:r>
            <a:r>
              <a:rPr lang="en-AU" sz="1200" kern="1200" dirty="0" smtClean="0">
                <a:solidFill>
                  <a:schemeClr val="tx1"/>
                </a:solidFill>
                <a:latin typeface="+mn-lt"/>
                <a:ea typeface="+mn-ea"/>
                <a:cs typeface="+mn-cs"/>
              </a:rPr>
              <a:t>the period</a:t>
            </a:r>
            <a:r>
              <a:rPr lang="en-AU" sz="1200" kern="1200" baseline="0" dirty="0" smtClean="0">
                <a:solidFill>
                  <a:schemeClr val="tx1"/>
                </a:solidFill>
                <a:latin typeface="+mn-lt"/>
                <a:ea typeface="+mn-ea"/>
                <a:cs typeface="+mn-cs"/>
              </a:rPr>
              <a:t> in question occurs.</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Training costs</a:t>
            </a:r>
          </a:p>
          <a:p>
            <a:pPr lvl="1">
              <a:buFont typeface="Arial" pitchFamily="34" charset="0"/>
              <a:buChar char="•"/>
            </a:pPr>
            <a:r>
              <a:rPr lang="en-AU" sz="1200" kern="1200" dirty="0" smtClean="0">
                <a:solidFill>
                  <a:schemeClr val="tx1"/>
                </a:solidFill>
                <a:latin typeface="+mn-lt"/>
                <a:ea typeface="+mn-ea"/>
                <a:cs typeface="+mn-cs"/>
              </a:rPr>
              <a:t> Uniform costs</a:t>
            </a:r>
          </a:p>
          <a:p>
            <a:pPr lvl="1">
              <a:buFont typeface="Arial" pitchFamily="34" charset="0"/>
              <a:buChar char="•"/>
            </a:pPr>
            <a:r>
              <a:rPr lang="en-AU" sz="1200" kern="1200" dirty="0" smtClean="0">
                <a:solidFill>
                  <a:schemeClr val="tx1"/>
                </a:solidFill>
                <a:latin typeface="+mn-lt"/>
                <a:ea typeface="+mn-ea"/>
                <a:cs typeface="+mn-cs"/>
              </a:rPr>
              <a:t> Number of staff employed</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hours worked</a:t>
            </a:r>
          </a:p>
          <a:p>
            <a:pPr lvl="1">
              <a:buFont typeface="Arial" pitchFamily="34" charset="0"/>
              <a:buChar char="•"/>
            </a:pPr>
            <a:r>
              <a:rPr lang="en-AU" sz="1200" kern="1200" dirty="0" smtClean="0">
                <a:solidFill>
                  <a:schemeClr val="tx1"/>
                </a:solidFill>
                <a:latin typeface="+mn-lt"/>
                <a:ea typeface="+mn-ea"/>
                <a:cs typeface="+mn-cs"/>
              </a:rPr>
              <a:t> Number of staff achieving nominated licences, certificates or qualifications in a given period</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Step 2: Calculate the ‘actual’ figures for the nominated areas – based on actual information and data. This occurs </a:t>
            </a:r>
            <a:r>
              <a:rPr lang="en-AU" sz="1200" b="1" kern="1200" dirty="0" smtClean="0">
                <a:solidFill>
                  <a:schemeClr val="tx1"/>
                </a:solidFill>
                <a:latin typeface="+mn-lt"/>
                <a:ea typeface="+mn-ea"/>
                <a:cs typeface="+mn-cs"/>
              </a:rPr>
              <a:t>after </a:t>
            </a:r>
            <a:r>
              <a:rPr lang="en-AU" sz="1200" kern="1200" dirty="0" smtClean="0">
                <a:solidFill>
                  <a:schemeClr val="tx1"/>
                </a:solidFill>
                <a:latin typeface="+mn-lt"/>
                <a:ea typeface="+mn-ea"/>
                <a:cs typeface="+mn-cs"/>
              </a:rPr>
              <a:t>the period</a:t>
            </a:r>
            <a:r>
              <a:rPr lang="en-AU" sz="1200" kern="1200" baseline="0" dirty="0" smtClean="0">
                <a:solidFill>
                  <a:schemeClr val="tx1"/>
                </a:solidFill>
                <a:latin typeface="+mn-lt"/>
                <a:ea typeface="+mn-ea"/>
                <a:cs typeface="+mn-cs"/>
              </a:rPr>
              <a:t> in question occurs.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Step 3: Compare ‘expected’ figures against ‘actual’ figures – to determine the extent to which targets were achieved and where the figures were above or below projections.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the ability to calculate ‘labour cost percentage’ is vital for anyone with staffing-related responsibilities, identifying:</a:t>
            </a:r>
          </a:p>
          <a:p>
            <a:pPr>
              <a:buFont typeface="Arial" pitchFamily="34" charset="0"/>
              <a:buChar char="•"/>
            </a:pPr>
            <a:r>
              <a:rPr lang="en-AU" sz="1200" kern="1200" dirty="0" smtClean="0">
                <a:solidFill>
                  <a:schemeClr val="tx1"/>
                </a:solidFill>
                <a:latin typeface="+mn-lt"/>
                <a:ea typeface="+mn-ea"/>
                <a:cs typeface="+mn-cs"/>
              </a:rPr>
              <a:t> Labour cost percentage is the percentage of revenue that represents the cost of labour to generate those sales</a:t>
            </a:r>
            <a:endParaRPr lang="en-US" dirty="0" smtClean="0"/>
          </a:p>
          <a:p>
            <a:pPr>
              <a:buFont typeface="Arial" pitchFamily="34" charset="0"/>
              <a:buChar char="•"/>
            </a:pPr>
            <a:r>
              <a:rPr lang="en-US" dirty="0" smtClean="0"/>
              <a:t> The formulae for calculating labour cost percentage is:</a:t>
            </a:r>
          </a:p>
          <a:p>
            <a:pPr lvl="1"/>
            <a:r>
              <a:rPr lang="en-AU" sz="1200" u="sng" kern="1200" dirty="0" smtClean="0">
                <a:solidFill>
                  <a:schemeClr val="tx1"/>
                </a:solidFill>
                <a:latin typeface="+mn-lt"/>
                <a:ea typeface="+mn-ea"/>
                <a:cs typeface="+mn-cs"/>
              </a:rPr>
              <a:t>Labour cost</a:t>
            </a:r>
            <a:r>
              <a:rPr lang="en-AU" sz="1200" kern="1200" dirty="0" smtClean="0">
                <a:solidFill>
                  <a:schemeClr val="tx1"/>
                </a:solidFill>
                <a:latin typeface="+mn-lt"/>
                <a:ea typeface="+mn-ea"/>
                <a:cs typeface="+mn-cs"/>
              </a:rPr>
              <a:t>	x	</a:t>
            </a:r>
            <a:r>
              <a:rPr lang="en-AU" sz="1200" u="sng" kern="1200" dirty="0" smtClean="0">
                <a:solidFill>
                  <a:schemeClr val="tx1"/>
                </a:solidFill>
                <a:latin typeface="+mn-lt"/>
                <a:ea typeface="+mn-ea"/>
                <a:cs typeface="+mn-cs"/>
              </a:rPr>
              <a:t>100</a:t>
            </a:r>
            <a:endParaRPr lang="en-AU" sz="1200" kern="1200" dirty="0" smtClean="0">
              <a:solidFill>
                <a:schemeClr val="tx1"/>
              </a:solidFill>
              <a:latin typeface="+mn-lt"/>
              <a:ea typeface="+mn-ea"/>
              <a:cs typeface="+mn-cs"/>
            </a:endParaRPr>
          </a:p>
          <a:p>
            <a:pPr lvl="1"/>
            <a:r>
              <a:rPr lang="en-AU" sz="1200" kern="1200" dirty="0" smtClean="0">
                <a:solidFill>
                  <a:schemeClr val="tx1"/>
                </a:solidFill>
                <a:latin typeface="+mn-lt"/>
                <a:ea typeface="+mn-ea"/>
                <a:cs typeface="+mn-cs"/>
              </a:rPr>
              <a:t>    Sales		  1</a:t>
            </a:r>
          </a:p>
          <a:p>
            <a:pPr>
              <a:buFont typeface="Arial" pitchFamily="34" charset="0"/>
              <a:buChar char="•"/>
            </a:pPr>
            <a:r>
              <a:rPr lang="en-US" dirty="0" smtClean="0"/>
              <a:t> An example of calculating labour cost percentage – assume</a:t>
            </a:r>
            <a:r>
              <a:rPr lang="en-US" baseline="0" dirty="0" smtClean="0"/>
              <a:t> 2250 is cost of labour for the period; sales were 8550:</a:t>
            </a:r>
            <a:endParaRPr lang="en-US" dirty="0" smtClean="0"/>
          </a:p>
          <a:p>
            <a:pPr lvl="1"/>
            <a:r>
              <a:rPr lang="en-AU" sz="1200" u="sng" kern="1200" dirty="0" smtClean="0">
                <a:solidFill>
                  <a:schemeClr val="tx1"/>
                </a:solidFill>
                <a:latin typeface="+mn-lt"/>
                <a:ea typeface="+mn-ea"/>
                <a:cs typeface="+mn-cs"/>
              </a:rPr>
              <a:t>2250</a:t>
            </a:r>
            <a:r>
              <a:rPr lang="en-AU" sz="1200" kern="1200" dirty="0" smtClean="0">
                <a:solidFill>
                  <a:schemeClr val="tx1"/>
                </a:solidFill>
                <a:latin typeface="+mn-lt"/>
                <a:ea typeface="+mn-ea"/>
                <a:cs typeface="+mn-cs"/>
              </a:rPr>
              <a:t>	X  </a:t>
            </a:r>
            <a:r>
              <a:rPr lang="en-AU" sz="1200" u="sng" kern="1200" dirty="0" smtClean="0">
                <a:solidFill>
                  <a:schemeClr val="tx1"/>
                </a:solidFill>
                <a:latin typeface="+mn-lt"/>
                <a:ea typeface="+mn-ea"/>
                <a:cs typeface="+mn-cs"/>
              </a:rPr>
              <a:t>100    </a:t>
            </a:r>
            <a:r>
              <a:rPr lang="en-AU" sz="1200" kern="1200" dirty="0" smtClean="0">
                <a:solidFill>
                  <a:schemeClr val="tx1"/>
                </a:solidFill>
                <a:latin typeface="+mn-lt"/>
                <a:ea typeface="+mn-ea"/>
                <a:cs typeface="+mn-cs"/>
              </a:rPr>
              <a:t>=	26.3% labour cost percentage</a:t>
            </a:r>
          </a:p>
          <a:p>
            <a:pPr lvl="1"/>
            <a:r>
              <a:rPr lang="en-AU" sz="1200" kern="1200" dirty="0" smtClean="0">
                <a:solidFill>
                  <a:schemeClr val="tx1"/>
                </a:solidFill>
                <a:latin typeface="+mn-lt"/>
                <a:ea typeface="+mn-ea"/>
                <a:cs typeface="+mn-cs"/>
              </a:rPr>
              <a:t>8550	     1</a:t>
            </a:r>
          </a:p>
          <a:p>
            <a:pPr>
              <a:buFont typeface="Arial" pitchFamily="34" charset="0"/>
              <a:buNone/>
            </a:pPr>
            <a:endParaRPr lang="en-US" dirty="0" smtClean="0"/>
          </a:p>
          <a:p>
            <a:pPr>
              <a:buFont typeface="Arial" pitchFamily="34" charset="0"/>
              <a:buNone/>
            </a:pPr>
            <a:r>
              <a:rPr lang="en-US" b="1" dirty="0" smtClean="0"/>
              <a:t>Class Activity – Individual exercises</a:t>
            </a:r>
          </a:p>
          <a:p>
            <a:pPr>
              <a:buFont typeface="Arial" pitchFamily="34" charset="0"/>
              <a:buNone/>
            </a:pPr>
            <a:r>
              <a:rPr lang="en-US" b="0" dirty="0" smtClean="0"/>
              <a:t>Trainer develops</a:t>
            </a:r>
            <a:r>
              <a:rPr lang="en-US" b="0" baseline="0" dirty="0" smtClean="0"/>
              <a:t> a series of exercises (10 – 15) for trainees to calculate labour cost percentages, and:</a:t>
            </a:r>
          </a:p>
          <a:p>
            <a:pPr>
              <a:buFont typeface="Arial" pitchFamily="34" charset="0"/>
              <a:buChar char="•"/>
            </a:pPr>
            <a:r>
              <a:rPr lang="en-US" b="0" baseline="0" dirty="0" smtClean="0"/>
              <a:t> Distributes them to trainees</a:t>
            </a:r>
          </a:p>
          <a:p>
            <a:pPr>
              <a:buFont typeface="Arial" pitchFamily="34" charset="0"/>
              <a:buChar char="•"/>
            </a:pPr>
            <a:r>
              <a:rPr lang="en-US" b="0" baseline="0" dirty="0" smtClean="0"/>
              <a:t> Provides calculators</a:t>
            </a:r>
          </a:p>
          <a:p>
            <a:pPr>
              <a:buFont typeface="Arial" pitchFamily="34" charset="0"/>
              <a:buChar char="•"/>
            </a:pPr>
            <a:r>
              <a:rPr lang="en-US" b="0" baseline="0" dirty="0" smtClean="0"/>
              <a:t> Asks trainees to calculate the labour cost percentages for the given exercises</a:t>
            </a:r>
          </a:p>
          <a:p>
            <a:pPr>
              <a:buFont typeface="Arial" pitchFamily="34" charset="0"/>
              <a:buChar char="•"/>
            </a:pPr>
            <a:r>
              <a:rPr lang="en-US" b="0" baseline="0" dirty="0" smtClean="0"/>
              <a:t> Assists trainees as required</a:t>
            </a:r>
          </a:p>
          <a:p>
            <a:pPr>
              <a:buFont typeface="Arial" pitchFamily="34" charset="0"/>
              <a:buChar char="•"/>
            </a:pPr>
            <a:r>
              <a:rPr lang="en-US" b="0" baseline="0" dirty="0" smtClean="0"/>
              <a:t> Provides answers.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information</a:t>
            </a:r>
            <a:r>
              <a:rPr lang="en-US" baseline="0" dirty="0" smtClean="0"/>
              <a:t> to trainees about labour cost percentages:</a:t>
            </a:r>
          </a:p>
          <a:p>
            <a:pPr>
              <a:buFont typeface="Arial" pitchFamily="34" charset="0"/>
              <a:buChar char="•"/>
            </a:pPr>
            <a:r>
              <a:rPr lang="en-US" baseline="0" dirty="0" smtClean="0"/>
              <a:t> Identifying instances where labour cost percentages are ‘over budget’ and ‘under budget’</a:t>
            </a:r>
          </a:p>
          <a:p>
            <a:pPr>
              <a:buFont typeface="Arial" pitchFamily="34" charset="0"/>
              <a:buChar char="•"/>
            </a:pPr>
            <a:r>
              <a:rPr lang="en-US" baseline="0" dirty="0" smtClean="0"/>
              <a:t> Highlighting all rosters should be costed before being distributed to staff – to ensure they fall within allowable labour cost limits</a:t>
            </a:r>
          </a:p>
          <a:p>
            <a:pPr>
              <a:buFont typeface="Arial" pitchFamily="34" charset="0"/>
              <a:buChar char="•"/>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provides information</a:t>
            </a:r>
            <a:r>
              <a:rPr lang="en-US" baseline="0" dirty="0" smtClean="0"/>
              <a:t> to trainees about situations where labour cost percentages are too high/over budget.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aseline="0" dirty="0" smtClean="0"/>
              <a:t>Possible causes are:</a:t>
            </a:r>
          </a:p>
          <a:p>
            <a:pPr>
              <a:buFont typeface="Arial" pitchFamily="34" charset="0"/>
              <a:buChar char="•"/>
            </a:pPr>
            <a:r>
              <a:rPr lang="en-AU" sz="1200" kern="1200" dirty="0" smtClean="0">
                <a:solidFill>
                  <a:schemeClr val="tx1"/>
                </a:solidFill>
                <a:latin typeface="+mn-lt"/>
                <a:ea typeface="+mn-ea"/>
                <a:cs typeface="+mn-cs"/>
              </a:rPr>
              <a:t> There are too many staff –all staff have started work at the same time instead of using ‘staggered’ starts,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the estimation of staff numbers required were wrong</a:t>
            </a:r>
          </a:p>
          <a:p>
            <a:pPr>
              <a:buFont typeface="Arial" pitchFamily="34" charset="0"/>
              <a:buChar char="•"/>
            </a:pPr>
            <a:r>
              <a:rPr lang="en-AU" sz="1200" kern="1200" dirty="0" smtClean="0">
                <a:solidFill>
                  <a:schemeClr val="tx1"/>
                </a:solidFill>
                <a:latin typeface="+mn-lt"/>
                <a:ea typeface="+mn-ea"/>
                <a:cs typeface="+mn-cs"/>
              </a:rPr>
              <a:t> The way they are rostered is inefficient – staff are being paid excessive overtime or penalty rates because they are being asked to work hours outside those normally provided for </a:t>
            </a:r>
          </a:p>
          <a:p>
            <a:pPr>
              <a:buFont typeface="Arial" pitchFamily="34" charset="0"/>
              <a:buChar char="•"/>
            </a:pPr>
            <a:r>
              <a:rPr lang="en-AU" sz="1200" kern="1200" dirty="0" smtClean="0">
                <a:solidFill>
                  <a:schemeClr val="tx1"/>
                </a:solidFill>
                <a:latin typeface="+mn-lt"/>
                <a:ea typeface="+mn-ea"/>
                <a:cs typeface="+mn-cs"/>
              </a:rPr>
              <a:t> Revenue has not matched expectations – the business has not attracted the sales anticipated for the period in question</a:t>
            </a:r>
          </a:p>
          <a:p>
            <a:pPr>
              <a:buFont typeface="Arial" pitchFamily="34" charset="0"/>
              <a:buChar char="•"/>
            </a:pPr>
            <a:r>
              <a:rPr lang="en-AU" sz="1200" kern="1200" dirty="0" smtClean="0">
                <a:solidFill>
                  <a:schemeClr val="tx1"/>
                </a:solidFill>
                <a:latin typeface="+mn-lt"/>
                <a:ea typeface="+mn-ea"/>
                <a:cs typeface="+mn-cs"/>
              </a:rPr>
              <a:t> Insufficient allocation of funds for labour – in reality, the department or workplace may be under-resourced in terms of staff and the work they are expected to do and the standard they are expected to maintain</a:t>
            </a:r>
          </a:p>
          <a:p>
            <a:pPr>
              <a:buFont typeface="Arial" pitchFamily="34" charset="0"/>
              <a:buChar char="•"/>
            </a:pPr>
            <a:r>
              <a:rPr lang="en-AU" sz="1200" kern="1200" dirty="0" smtClean="0">
                <a:solidFill>
                  <a:schemeClr val="tx1"/>
                </a:solidFill>
                <a:latin typeface="+mn-lt"/>
                <a:ea typeface="+mn-ea"/>
                <a:cs typeface="+mn-cs"/>
              </a:rPr>
              <a:t> An unexpected workplace event – such as an accident, emergency, incident involving an injury to staff (meaning they have had to leave work) resulting in a situation where staff have had to be paid overtime</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penalty rates</a:t>
            </a:r>
          </a:p>
          <a:p>
            <a:pPr>
              <a:buFont typeface="Arial" pitchFamily="34" charset="0"/>
              <a:buChar char="•"/>
            </a:pPr>
            <a:r>
              <a:rPr lang="en-AU" sz="1200" kern="1200" dirty="0" smtClean="0">
                <a:solidFill>
                  <a:schemeClr val="tx1"/>
                </a:solidFill>
                <a:latin typeface="+mn-lt"/>
                <a:ea typeface="+mn-ea"/>
                <a:cs typeface="+mn-cs"/>
              </a:rPr>
              <a:t> Public holidays – requiring the business to pay higher hourly rates to staff.</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to trainees ‘quantitative and qualitative analysis’ compares statistical data against soft data.</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a:t>
            </a:r>
            <a:r>
              <a:rPr lang="en-AU" sz="1200" kern="1200" baseline="0" dirty="0" smtClean="0">
                <a:solidFill>
                  <a:schemeClr val="tx1"/>
                </a:solidFill>
                <a:latin typeface="+mn-lt"/>
                <a:ea typeface="+mn-ea"/>
                <a:cs typeface="+mn-cs"/>
              </a:rPr>
              <a:t> differs </a:t>
            </a:r>
            <a:r>
              <a:rPr lang="en-AU" sz="1200" kern="1200" dirty="0" smtClean="0">
                <a:solidFill>
                  <a:schemeClr val="tx1"/>
                </a:solidFill>
                <a:latin typeface="+mn-lt"/>
                <a:ea typeface="+mn-ea"/>
                <a:cs typeface="+mn-cs"/>
              </a:rPr>
              <a:t>from labour cost percentage which is a purely statistical analysis.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style of analysis may consider issues such as:</a:t>
            </a:r>
          </a:p>
          <a:p>
            <a:pPr>
              <a:buFont typeface="Arial" pitchFamily="34" charset="0"/>
              <a:buChar char="•"/>
            </a:pPr>
            <a:r>
              <a:rPr lang="en-AU" sz="1200" kern="1200" dirty="0" smtClean="0">
                <a:solidFill>
                  <a:schemeClr val="tx1"/>
                </a:solidFill>
                <a:latin typeface="+mn-lt"/>
                <a:ea typeface="+mn-ea"/>
                <a:cs typeface="+mn-cs"/>
              </a:rPr>
              <a:t> Level of absenteeism compared to different staffing levels – asking questions such as ‘Is the high workload when staffing levels have been cut causing staff to stay away from work?’</a:t>
            </a:r>
          </a:p>
          <a:p>
            <a:pPr>
              <a:buFont typeface="Arial" pitchFamily="34" charset="0"/>
              <a:buChar char="•"/>
            </a:pPr>
            <a:r>
              <a:rPr lang="en-AU" sz="1200" kern="1200" dirty="0" smtClean="0">
                <a:solidFill>
                  <a:schemeClr val="tx1"/>
                </a:solidFill>
                <a:latin typeface="+mn-lt"/>
                <a:ea typeface="+mn-ea"/>
                <a:cs typeface="+mn-cs"/>
              </a:rPr>
              <a:t> Level of staff departure – ‘Are reduced staffing levels forcing staff to leave and go and work elsewhere?’</a:t>
            </a:r>
          </a:p>
          <a:p>
            <a:pPr>
              <a:buFont typeface="Arial" pitchFamily="34" charset="0"/>
              <a:buChar char="•"/>
            </a:pPr>
            <a:r>
              <a:rPr lang="en-AU" sz="1200" kern="1200" dirty="0" smtClean="0">
                <a:solidFill>
                  <a:schemeClr val="tx1"/>
                </a:solidFill>
                <a:latin typeface="+mn-lt"/>
                <a:ea typeface="+mn-ea"/>
                <a:cs typeface="+mn-cs"/>
              </a:rPr>
              <a:t> Type of customer complaints when staffing levels are varied – ‘Is there a reduction in complaints or a change in the nature of the complaints when extra staff are employed?’</a:t>
            </a:r>
          </a:p>
          <a:p>
            <a:pPr>
              <a:buFont typeface="Arial" pitchFamily="34" charset="0"/>
              <a:buChar char="•"/>
            </a:pPr>
            <a:r>
              <a:rPr lang="en-AU" sz="1200" kern="1200" dirty="0" smtClean="0">
                <a:solidFill>
                  <a:schemeClr val="tx1"/>
                </a:solidFill>
                <a:latin typeface="+mn-lt"/>
                <a:ea typeface="+mn-ea"/>
                <a:cs typeface="+mn-cs"/>
              </a:rPr>
              <a:t> Wastage – ‘is there more/less waste when staffing levels change?’ ‘Are different things wasted?’</a:t>
            </a:r>
          </a:p>
          <a:p>
            <a:pPr>
              <a:buFont typeface="Arial" pitchFamily="34" charset="0"/>
              <a:buChar char="•"/>
            </a:pPr>
            <a:r>
              <a:rPr lang="en-AU" sz="1200" kern="1200" dirty="0" smtClean="0">
                <a:solidFill>
                  <a:schemeClr val="tx1"/>
                </a:solidFill>
                <a:latin typeface="+mn-lt"/>
                <a:ea typeface="+mn-ea"/>
                <a:cs typeface="+mn-cs"/>
              </a:rPr>
              <a:t> Damage – ‘What happens to levels and types of damage done to workplace equipment when staffing levels change?’</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the </a:t>
            </a:r>
            <a:r>
              <a:rPr lang="en-AU" sz="1200" kern="1200" dirty="0" smtClean="0">
                <a:solidFill>
                  <a:schemeClr val="tx1"/>
                </a:solidFill>
                <a:latin typeface="+mn-lt"/>
                <a:ea typeface="+mn-ea"/>
                <a:cs typeface="+mn-cs"/>
              </a:rPr>
              <a:t>basics of conducting a qualitative and quantitative analysis are:</a:t>
            </a:r>
          </a:p>
          <a:p>
            <a:pPr>
              <a:buFont typeface="Arial" pitchFamily="34" charset="0"/>
              <a:buChar char="•"/>
            </a:pPr>
            <a:r>
              <a:rPr lang="en-AU" sz="1200" kern="1200" dirty="0" smtClean="0">
                <a:solidFill>
                  <a:schemeClr val="tx1"/>
                </a:solidFill>
                <a:latin typeface="+mn-lt"/>
                <a:ea typeface="+mn-ea"/>
                <a:cs typeface="+mn-cs"/>
              </a:rPr>
              <a:t> Obtain baseline data from the venue or department for a known situation – where staff levels, workload and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revenue is known. This data should cover:</a:t>
            </a:r>
          </a:p>
          <a:p>
            <a:pPr lvl="1">
              <a:buFont typeface="Arial" pitchFamily="34" charset="0"/>
              <a:buChar char="•"/>
            </a:pPr>
            <a:r>
              <a:rPr lang="en-AU" sz="1200" kern="1200" dirty="0" smtClean="0">
                <a:solidFill>
                  <a:schemeClr val="tx1"/>
                </a:solidFill>
                <a:latin typeface="+mn-lt"/>
                <a:ea typeface="+mn-ea"/>
                <a:cs typeface="+mn-cs"/>
              </a:rPr>
              <a:t> Quantitative data – figures, statistics, percentages, totals, ratios</a:t>
            </a:r>
          </a:p>
          <a:p>
            <a:pPr lvl="1">
              <a:buFont typeface="Arial" pitchFamily="34" charset="0"/>
              <a:buChar char="•"/>
            </a:pPr>
            <a:r>
              <a:rPr lang="en-AU" sz="1200" kern="1200" dirty="0" smtClean="0">
                <a:solidFill>
                  <a:schemeClr val="tx1"/>
                </a:solidFill>
                <a:latin typeface="+mn-lt"/>
                <a:ea typeface="+mn-ea"/>
                <a:cs typeface="+mn-cs"/>
              </a:rPr>
              <a:t> Qualitative data – input as a result of discussions with staff and customers</a:t>
            </a:r>
          </a:p>
          <a:p>
            <a:pPr>
              <a:buFont typeface="Arial" pitchFamily="34" charset="0"/>
              <a:buChar char="•"/>
            </a:pPr>
            <a:r>
              <a:rPr lang="en-AU" sz="1200" kern="1200" dirty="0" smtClean="0">
                <a:solidFill>
                  <a:schemeClr val="tx1"/>
                </a:solidFill>
                <a:latin typeface="+mn-lt"/>
                <a:ea typeface="+mn-ea"/>
                <a:cs typeface="+mn-cs"/>
              </a:rPr>
              <a:t> Compare this data to data produced when staffing levels or</a:t>
            </a:r>
            <a:r>
              <a:rPr lang="en-AU" sz="1200" kern="1200" baseline="0" dirty="0" smtClean="0">
                <a:solidFill>
                  <a:schemeClr val="tx1"/>
                </a:solidFill>
                <a:latin typeface="+mn-lt"/>
                <a:ea typeface="+mn-ea"/>
                <a:cs typeface="+mn-cs"/>
              </a:rPr>
              <a:t> the mix of staff changes </a:t>
            </a:r>
            <a:r>
              <a:rPr lang="en-AU" sz="1200" kern="1200" dirty="0" smtClean="0">
                <a:solidFill>
                  <a:schemeClr val="tx1"/>
                </a:solidFill>
                <a:latin typeface="+mn-lt"/>
                <a:ea typeface="+mn-ea"/>
                <a:cs typeface="+mn-cs"/>
              </a:rPr>
              <a:t>(names of staff,</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age of staff,</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gender of staff,</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new staff and experienced staff)</a:t>
            </a:r>
          </a:p>
          <a:p>
            <a:pPr>
              <a:buFont typeface="Arial" pitchFamily="34" charset="0"/>
              <a:buChar char="•"/>
            </a:pPr>
            <a:r>
              <a:rPr lang="en-AU" sz="1200" kern="1200" dirty="0" smtClean="0">
                <a:solidFill>
                  <a:schemeClr val="tx1"/>
                </a:solidFill>
                <a:latin typeface="+mn-lt"/>
                <a:ea typeface="+mn-ea"/>
                <a:cs typeface="+mn-cs"/>
              </a:rPr>
              <a:t> Determine ‘cause and effect’ results – identifying how changes to staff levels impact workplace issues.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a:t>
            </a:r>
            <a:r>
              <a:rPr lang="en-AU" sz="1200" kern="1200" dirty="0" smtClean="0">
                <a:solidFill>
                  <a:schemeClr val="tx1"/>
                </a:solidFill>
                <a:latin typeface="+mn-lt"/>
                <a:ea typeface="+mn-ea"/>
                <a:cs typeface="+mn-cs"/>
              </a:rPr>
              <a:t>benchmarking is the process of identifying the best practices and standards that apply to their industry, and comparing what happens in their workplace against that ‘benchmark’:</a:t>
            </a:r>
          </a:p>
          <a:p>
            <a:pPr>
              <a:buFont typeface="Arial" pitchFamily="34" charset="0"/>
              <a:buChar char="•"/>
            </a:pPr>
            <a:r>
              <a:rPr lang="en-AU" sz="1200" kern="1200" dirty="0" smtClean="0">
                <a:solidFill>
                  <a:schemeClr val="tx1"/>
                </a:solidFill>
                <a:latin typeface="+mn-lt"/>
                <a:ea typeface="+mn-ea"/>
                <a:cs typeface="+mn-cs"/>
              </a:rPr>
              <a:t> Comparing the workplace to world standards</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practices = external benchmarking</a:t>
            </a:r>
          </a:p>
          <a:p>
            <a:pPr>
              <a:buFont typeface="Arial" pitchFamily="34" charset="0"/>
              <a:buChar char="•"/>
            </a:pPr>
            <a:r>
              <a:rPr lang="en-AU" sz="1200" kern="1200" dirty="0" smtClean="0">
                <a:solidFill>
                  <a:schemeClr val="tx1"/>
                </a:solidFill>
                <a:latin typeface="+mn-lt"/>
                <a:ea typeface="+mn-ea"/>
                <a:cs typeface="+mn-cs"/>
              </a:rPr>
              <a:t> Internal benchmarking refers to using the same approach but comparing current evidence against previous evidence from the enterprise, or against data from other properties in the chain to which the venue belongs</a:t>
            </a:r>
          </a:p>
          <a:p>
            <a:pPr>
              <a:buFont typeface="Arial" pitchFamily="34" charset="0"/>
              <a:buChar char="•"/>
            </a:pPr>
            <a:r>
              <a:rPr lang="en-AU" sz="1200" kern="1200" dirty="0" smtClean="0">
                <a:solidFill>
                  <a:schemeClr val="tx1"/>
                </a:solidFill>
                <a:latin typeface="+mn-lt"/>
                <a:ea typeface="+mn-ea"/>
                <a:cs typeface="+mn-cs"/>
              </a:rPr>
              <a:t> The results of the comparison provide the basis for remedial, or other action, as required so the organisation can attain the standard represented by the adopted benchmark </a:t>
            </a:r>
          </a:p>
          <a:p>
            <a:pPr>
              <a:buFont typeface="Arial" pitchFamily="34" charset="0"/>
              <a:buChar char="•"/>
            </a:pPr>
            <a:r>
              <a:rPr lang="en-AU" sz="1200" kern="1200" dirty="0" smtClean="0">
                <a:solidFill>
                  <a:schemeClr val="tx1"/>
                </a:solidFill>
                <a:latin typeface="+mn-lt"/>
                <a:ea typeface="+mn-ea"/>
                <a:cs typeface="+mn-cs"/>
              </a:rPr>
              <a:t> Benchmarking is very popular and effective as it is one way of judging the organisation against the reality of the marketplace, and against previous performance.</a:t>
            </a:r>
          </a:p>
          <a:p>
            <a:pPr>
              <a:buFont typeface="Arial" pitchFamily="34" charset="0"/>
              <a:buChar char="•"/>
            </a:pPr>
            <a:r>
              <a:rPr lang="en-AU" sz="1200" kern="1200" dirty="0" smtClean="0">
                <a:solidFill>
                  <a:schemeClr val="tx1"/>
                </a:solidFill>
                <a:latin typeface="+mn-lt"/>
                <a:ea typeface="+mn-ea"/>
                <a:cs typeface="+mn-cs"/>
              </a:rPr>
              <a:t> Benchmarking could be used to monitor staff performance as follows:</a:t>
            </a:r>
          </a:p>
          <a:p>
            <a:pPr lvl="1">
              <a:buFont typeface="Arial" pitchFamily="34" charset="0"/>
              <a:buChar char="•"/>
            </a:pPr>
            <a:r>
              <a:rPr lang="en-AU" sz="1200" kern="1200" dirty="0" smtClean="0">
                <a:solidFill>
                  <a:schemeClr val="tx1"/>
                </a:solidFill>
                <a:latin typeface="+mn-lt"/>
                <a:ea typeface="+mn-ea"/>
                <a:cs typeface="+mn-cs"/>
              </a:rPr>
              <a:t> Comparing the number of rooms serviced by room attendants against the number of room serviced by room attendants in another venue</a:t>
            </a:r>
          </a:p>
          <a:p>
            <a:pPr lvl="1">
              <a:buFont typeface="Arial" pitchFamily="34" charset="0"/>
              <a:buChar char="•"/>
            </a:pPr>
            <a:r>
              <a:rPr lang="en-AU" sz="1200" kern="1200" dirty="0" smtClean="0">
                <a:solidFill>
                  <a:schemeClr val="tx1"/>
                </a:solidFill>
                <a:latin typeface="+mn-lt"/>
                <a:ea typeface="+mn-ea"/>
                <a:cs typeface="+mn-cs"/>
              </a:rPr>
              <a:t> Comparing the number of customers or tables served by the waiting staff at the venue against the statistics for service provided across the chain by Head Office</a:t>
            </a:r>
          </a:p>
          <a:p>
            <a:pPr lvl="1">
              <a:buFont typeface="Arial" pitchFamily="34" charset="0"/>
              <a:buChar char="•"/>
            </a:pPr>
            <a:r>
              <a:rPr lang="en-AU" sz="1200" kern="1200" dirty="0" smtClean="0">
                <a:solidFill>
                  <a:schemeClr val="tx1"/>
                </a:solidFill>
                <a:latin typeface="+mn-lt"/>
                <a:ea typeface="+mn-ea"/>
                <a:cs typeface="+mn-cs"/>
              </a:rPr>
              <a:t> Comparing the number or value sales made by staff against statistics released by an industry peak body or as a result of research by a government agency. </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suitable and senior industry person with experience at managing staff to attend and talk to trainees about:</a:t>
            </a:r>
          </a:p>
          <a:p>
            <a:pPr>
              <a:buFont typeface="Arial" pitchFamily="34" charset="0"/>
              <a:buChar char="•"/>
            </a:pPr>
            <a:r>
              <a:rPr lang="en-US" b="0" dirty="0" smtClean="0"/>
              <a:t> Their role and responsibilities</a:t>
            </a:r>
          </a:p>
          <a:p>
            <a:pPr>
              <a:buFont typeface="Arial" pitchFamily="34" charset="0"/>
              <a:buChar char="•"/>
            </a:pPr>
            <a:r>
              <a:rPr lang="en-US" b="0" dirty="0" smtClean="0"/>
              <a:t> How they obtained the job they now have</a:t>
            </a:r>
          </a:p>
          <a:p>
            <a:pPr>
              <a:buFont typeface="Arial" pitchFamily="34" charset="0"/>
              <a:buChar char="•"/>
            </a:pPr>
            <a:r>
              <a:rPr lang="en-US" b="0" dirty="0" smtClean="0"/>
              <a:t> How they determine staffing requirements for nominated areas for given times (covering internal and external factors they consider)</a:t>
            </a:r>
          </a:p>
          <a:p>
            <a:pPr>
              <a:buFont typeface="Arial" pitchFamily="34" charset="0"/>
              <a:buChar char="•"/>
            </a:pPr>
            <a:r>
              <a:rPr lang="en-US" b="0" dirty="0" smtClean="0"/>
              <a:t> How they establish and monitor staff budgets.</a:t>
            </a:r>
          </a:p>
          <a:p>
            <a:pPr>
              <a:buFont typeface="Arial" pitchFamily="34" charset="0"/>
              <a:buNone/>
            </a:pPr>
            <a:endParaRPr lang="en-US" b="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they may also undertake formal or informal research</a:t>
            </a:r>
            <a:r>
              <a:rPr lang="en-US" baseline="0" dirty="0" smtClean="0"/>
              <a:t> t</a:t>
            </a:r>
            <a:r>
              <a:rPr lang="en-US" dirty="0" smtClean="0"/>
              <a:t>o monitor workplace staffing performance.</a:t>
            </a:r>
          </a:p>
          <a:p>
            <a:endParaRPr lang="en-US" dirty="0" smtClean="0"/>
          </a:p>
          <a:p>
            <a:r>
              <a:rPr lang="en-US" dirty="0" smtClean="0"/>
              <a:t>T</a:t>
            </a:r>
            <a:r>
              <a:rPr lang="en-AU" sz="1200" kern="1200" dirty="0" smtClean="0">
                <a:solidFill>
                  <a:schemeClr val="tx1"/>
                </a:solidFill>
                <a:latin typeface="+mn-lt"/>
                <a:ea typeface="+mn-ea"/>
                <a:cs typeface="+mn-cs"/>
              </a:rPr>
              <a:t>his technique requires them to do one or both of the following:</a:t>
            </a:r>
          </a:p>
          <a:p>
            <a:pPr>
              <a:buFont typeface="Arial" pitchFamily="34" charset="0"/>
              <a:buChar char="•"/>
            </a:pPr>
            <a:r>
              <a:rPr lang="en-AU" sz="1200" kern="1200" dirty="0" smtClean="0">
                <a:solidFill>
                  <a:schemeClr val="tx1"/>
                </a:solidFill>
                <a:latin typeface="+mn-lt"/>
                <a:ea typeface="+mn-ea"/>
                <a:cs typeface="+mn-cs"/>
              </a:rPr>
              <a:t> Make a conscious effort to capture feedback provided by customers – this refers to unsolicited feedback provided (for example):</a:t>
            </a:r>
          </a:p>
          <a:p>
            <a:pPr lvl="1">
              <a:buFont typeface="Arial" pitchFamily="34" charset="0"/>
              <a:buChar char="•"/>
            </a:pPr>
            <a:r>
              <a:rPr lang="en-AU" sz="1200" kern="1200" dirty="0" smtClean="0">
                <a:solidFill>
                  <a:schemeClr val="tx1"/>
                </a:solidFill>
                <a:latin typeface="+mn-lt"/>
                <a:ea typeface="+mn-ea"/>
                <a:cs typeface="+mn-cs"/>
              </a:rPr>
              <a:t> When talking with customers</a:t>
            </a:r>
          </a:p>
          <a:p>
            <a:pPr lvl="1">
              <a:buFont typeface="Arial" pitchFamily="34" charset="0"/>
              <a:buChar char="•"/>
            </a:pPr>
            <a:r>
              <a:rPr lang="en-AU" sz="1200" kern="1200" dirty="0" smtClean="0">
                <a:solidFill>
                  <a:schemeClr val="tx1"/>
                </a:solidFill>
                <a:latin typeface="+mn-lt"/>
                <a:ea typeface="+mn-ea"/>
                <a:cs typeface="+mn-cs"/>
              </a:rPr>
              <a:t> Overheard from guest conversations</a:t>
            </a:r>
          </a:p>
          <a:p>
            <a:pPr lvl="1">
              <a:buFont typeface="Arial" pitchFamily="34" charset="0"/>
              <a:buChar char="•"/>
            </a:pPr>
            <a:r>
              <a:rPr lang="en-AU" sz="1200" kern="1200" dirty="0" smtClean="0">
                <a:solidFill>
                  <a:schemeClr val="tx1"/>
                </a:solidFill>
                <a:latin typeface="+mn-lt"/>
                <a:ea typeface="+mn-ea"/>
                <a:cs typeface="+mn-cs"/>
              </a:rPr>
              <a:t> Provided on Customer Comment cards, or on the website </a:t>
            </a:r>
          </a:p>
          <a:p>
            <a:pPr lvl="1">
              <a:buFont typeface="Arial" pitchFamily="34" charset="0"/>
              <a:buChar char="•"/>
            </a:pPr>
            <a:r>
              <a:rPr lang="en-AU" sz="1200" kern="1200" dirty="0" smtClean="0">
                <a:solidFill>
                  <a:schemeClr val="tx1"/>
                </a:solidFill>
                <a:latin typeface="+mn-lt"/>
                <a:ea typeface="+mn-ea"/>
                <a:cs typeface="+mn-cs"/>
              </a:rPr>
              <a:t> In the form of compliments or complaints</a:t>
            </a:r>
          </a:p>
          <a:p>
            <a:pPr>
              <a:buFont typeface="Arial" pitchFamily="34" charset="0"/>
              <a:buChar char="•"/>
            </a:pPr>
            <a:r>
              <a:rPr lang="en-AU" sz="1200" kern="1200" dirty="0" smtClean="0">
                <a:solidFill>
                  <a:schemeClr val="tx1"/>
                </a:solidFill>
                <a:latin typeface="+mn-lt"/>
                <a:ea typeface="+mn-ea"/>
                <a:cs typeface="+mn-cs"/>
              </a:rPr>
              <a:t> Deliberately investigate matters relevant to identified staffing issues – this may include:</a:t>
            </a:r>
          </a:p>
          <a:p>
            <a:pPr lvl="1">
              <a:buFont typeface="Arial" pitchFamily="34" charset="0"/>
              <a:buChar char="•"/>
            </a:pPr>
            <a:r>
              <a:rPr lang="en-AU" sz="1200" kern="1200" dirty="0" smtClean="0">
                <a:solidFill>
                  <a:schemeClr val="tx1"/>
                </a:solidFill>
                <a:latin typeface="+mn-lt"/>
                <a:ea typeface="+mn-ea"/>
                <a:cs typeface="+mn-cs"/>
              </a:rPr>
              <a:t> Using focus groups to discuss service levels at different staffing levels</a:t>
            </a:r>
          </a:p>
          <a:p>
            <a:pPr lvl="1">
              <a:buFont typeface="Arial" pitchFamily="34" charset="0"/>
              <a:buChar char="•"/>
            </a:pPr>
            <a:r>
              <a:rPr lang="en-AU" sz="1200" kern="1200" dirty="0" smtClean="0">
                <a:solidFill>
                  <a:schemeClr val="tx1"/>
                </a:solidFill>
                <a:latin typeface="+mn-lt"/>
                <a:ea typeface="+mn-ea"/>
                <a:cs typeface="+mn-cs"/>
              </a:rPr>
              <a:t> Observing service delivery provided by staff at different staffing levels – to identify how changes in staff levels impact on interpersonal skills used by workers, the customer experience, delays in service</a:t>
            </a:r>
          </a:p>
          <a:p>
            <a:pPr lvl="1">
              <a:buFont typeface="Arial" pitchFamily="34" charset="0"/>
              <a:buChar char="•"/>
            </a:pPr>
            <a:r>
              <a:rPr lang="en-AU" sz="1200" kern="1200" dirty="0" smtClean="0">
                <a:solidFill>
                  <a:schemeClr val="tx1"/>
                </a:solidFill>
                <a:latin typeface="+mn-lt"/>
                <a:ea typeface="+mn-ea"/>
                <a:cs typeface="+mn-cs"/>
              </a:rPr>
              <a:t> Reading trade magazines and research reports relating to staffing and its relation to a variety of issues such as service standards, repeat business, customer satisfaction, staff or customer attrition rates.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to trainees </a:t>
            </a:r>
            <a:r>
              <a:rPr lang="en-AU" sz="1200" kern="1200" dirty="0" smtClean="0">
                <a:solidFill>
                  <a:schemeClr val="tx1"/>
                </a:solidFill>
                <a:latin typeface="+mn-lt"/>
                <a:ea typeface="+mn-ea"/>
                <a:cs typeface="+mn-cs"/>
              </a:rPr>
              <a:t>from time to time, it can be beneficial or necessary to consult with ‘other stakeholders’ in relation to staffing needs.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 ‘Stakeholders’ can include: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Owners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Board of Directors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Shareholders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Senior management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Supervisors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Staff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Customers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Suppliers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to trainees </a:t>
            </a:r>
            <a:r>
              <a:rPr lang="en-AU" sz="1200" kern="1200" dirty="0" smtClean="0">
                <a:solidFill>
                  <a:schemeClr val="tx1"/>
                </a:solidFill>
                <a:latin typeface="+mn-lt"/>
                <a:ea typeface="+mn-ea"/>
                <a:cs typeface="+mn-cs"/>
              </a:rPr>
              <a:t>many SMEs are owner-operated. It is often the owner who makes most of the operational decisions regarding the business.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Some of these decisions are based on sound reason, facts and strategic thinking, and many others are based on simple personal preference or an individual desire to do something.</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Where trainees work for an owner-operator it is a sound plan to meet regularly with this person to share concerns and idea. A meeting once per week is good – a daily meeting is even better.</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Owners should be consulted in relation to staff because they may:</a:t>
            </a:r>
          </a:p>
          <a:p>
            <a:pPr>
              <a:buFont typeface="Arial" pitchFamily="34" charset="0"/>
              <a:buChar char="•"/>
            </a:pPr>
            <a:r>
              <a:rPr lang="en-AU" sz="1200" kern="1200" dirty="0" smtClean="0">
                <a:solidFill>
                  <a:schemeClr val="tx1"/>
                </a:solidFill>
                <a:latin typeface="+mn-lt"/>
                <a:ea typeface="+mn-ea"/>
                <a:cs typeface="+mn-cs"/>
              </a:rPr>
              <a:t> Know the financial state of the business and whether or not is can afford to hire extra staff – or whether it needs to shed staff</a:t>
            </a:r>
          </a:p>
          <a:p>
            <a:pPr>
              <a:buFont typeface="Arial" pitchFamily="34" charset="0"/>
              <a:buChar char="•"/>
            </a:pPr>
            <a:r>
              <a:rPr lang="en-AU" sz="1200" kern="1200" dirty="0" smtClean="0">
                <a:solidFill>
                  <a:schemeClr val="tx1"/>
                </a:solidFill>
                <a:latin typeface="+mn-lt"/>
                <a:ea typeface="+mn-ea"/>
                <a:cs typeface="+mn-cs"/>
              </a:rPr>
              <a:t> Have a personal desire to get rid of a certain staff member – and replace them with someone else they have identified</a:t>
            </a:r>
          </a:p>
          <a:p>
            <a:pPr>
              <a:buFont typeface="Arial" pitchFamily="34" charset="0"/>
              <a:buChar char="•"/>
            </a:pPr>
            <a:r>
              <a:rPr lang="en-AU" sz="1200" kern="1200" dirty="0" smtClean="0">
                <a:solidFill>
                  <a:schemeClr val="tx1"/>
                </a:solidFill>
                <a:latin typeface="+mn-lt"/>
                <a:ea typeface="+mn-ea"/>
                <a:cs typeface="+mn-cs"/>
              </a:rPr>
              <a:t> Have a plan to take the business in a new direction – which could implications for numbers of staff required, their experience and skill sets.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b="0" kern="1200" dirty="0" smtClean="0">
                <a:solidFill>
                  <a:schemeClr val="tx1"/>
                </a:solidFill>
                <a:latin typeface="+mn-lt"/>
                <a:ea typeface="+mn-ea"/>
                <a:cs typeface="+mn-cs"/>
              </a:rPr>
              <a:t>tells trainees the Board of Directors (‘the Board’) has responsibility for the long-term performance and viability of the business. The day-to-day running of the enterprise rests with managers and middle level management.</a:t>
            </a:r>
            <a:endParaRPr lang="en-AU" sz="1200" b="1" kern="1200" dirty="0" smtClean="0">
              <a:solidFill>
                <a:schemeClr val="tx1"/>
              </a:solidFill>
              <a:latin typeface="+mn-lt"/>
              <a:ea typeface="+mn-ea"/>
              <a:cs typeface="+mn-cs"/>
            </a:endParaRPr>
          </a:p>
          <a:p>
            <a:endParaRPr lang="en-AU" sz="1200" b="0"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Trainer explains the Board of Directors should be consulted in relation to staffing needs because: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They will know the strategic plans, goals and objectives for the business – and staffing efforts must align with and support these. For example, they may be:</a:t>
            </a:r>
          </a:p>
          <a:p>
            <a:pPr lvl="1">
              <a:buFont typeface="Arial" pitchFamily="34" charset="0"/>
              <a:buChar char="•"/>
            </a:pPr>
            <a:r>
              <a:rPr lang="en-AU" sz="1200" kern="1200" dirty="0" smtClean="0">
                <a:solidFill>
                  <a:schemeClr val="tx1"/>
                </a:solidFill>
                <a:latin typeface="+mn-lt"/>
                <a:ea typeface="+mn-ea"/>
                <a:cs typeface="+mn-cs"/>
              </a:rPr>
              <a:t> Down-sizing the business because of concerns about the state of the economy or other considerations</a:t>
            </a:r>
          </a:p>
          <a:p>
            <a:pPr lvl="1">
              <a:buFont typeface="Arial" pitchFamily="34" charset="0"/>
              <a:buChar char="•"/>
            </a:pPr>
            <a:r>
              <a:rPr lang="en-AU" sz="1200" kern="1200" dirty="0" smtClean="0">
                <a:solidFill>
                  <a:schemeClr val="tx1"/>
                </a:solidFill>
                <a:latin typeface="+mn-lt"/>
                <a:ea typeface="+mn-ea"/>
                <a:cs typeface="+mn-cs"/>
              </a:rPr>
              <a:t> Expanding the business – on the basis of various identified opportunities</a:t>
            </a:r>
          </a:p>
          <a:p>
            <a:pPr lvl="1">
              <a:buFont typeface="Arial" pitchFamily="34" charset="0"/>
              <a:buChar char="•"/>
            </a:pPr>
            <a:r>
              <a:rPr lang="en-AU" sz="1200" kern="1200" dirty="0" smtClean="0">
                <a:solidFill>
                  <a:schemeClr val="tx1"/>
                </a:solidFill>
                <a:latin typeface="+mn-lt"/>
                <a:ea typeface="+mn-ea"/>
                <a:cs typeface="+mn-cs"/>
              </a:rPr>
              <a:t> Changing the positioning of the business in the marketplace – requiring a different approach in terms of staff attitude, experience capability</a:t>
            </a:r>
          </a:p>
          <a:p>
            <a:pPr lvl="1">
              <a:buFont typeface="Arial" pitchFamily="34" charset="0"/>
              <a:buChar char="•"/>
            </a:pPr>
            <a:r>
              <a:rPr lang="en-AU" sz="1200" kern="1200" dirty="0" smtClean="0">
                <a:solidFill>
                  <a:schemeClr val="tx1"/>
                </a:solidFill>
                <a:latin typeface="+mn-lt"/>
                <a:ea typeface="+mn-ea"/>
                <a:cs typeface="+mn-cs"/>
              </a:rPr>
              <a:t> Introducing new departments, products, services or facilities into the venue – requiring staff with different skill sets</a:t>
            </a:r>
          </a:p>
          <a:p>
            <a:pPr>
              <a:buFont typeface="Arial" pitchFamily="34" charset="0"/>
              <a:buChar char="•"/>
            </a:pPr>
            <a:r>
              <a:rPr lang="en-AU" sz="1200" kern="1200" dirty="0" smtClean="0">
                <a:solidFill>
                  <a:schemeClr val="tx1"/>
                </a:solidFill>
                <a:latin typeface="+mn-lt"/>
                <a:ea typeface="+mn-ea"/>
                <a:cs typeface="+mn-cs"/>
              </a:rPr>
              <a:t> They may need to approve certain staffing plans – after they have analysed them</a:t>
            </a:r>
          </a:p>
          <a:p>
            <a:pPr>
              <a:buFont typeface="Arial" pitchFamily="34" charset="0"/>
              <a:buChar char="•"/>
            </a:pPr>
            <a:r>
              <a:rPr lang="en-AU" sz="1200" kern="1200" dirty="0" smtClean="0">
                <a:solidFill>
                  <a:schemeClr val="tx1"/>
                </a:solidFill>
                <a:latin typeface="+mn-lt"/>
                <a:ea typeface="+mn-ea"/>
                <a:cs typeface="+mn-cs"/>
              </a:rPr>
              <a:t> There can be a requirement to make a formal presentation to the Board on nominated occasions – such as at all Board Meetings, specified meetings or the AGM</a:t>
            </a:r>
          </a:p>
          <a:p>
            <a:pPr>
              <a:buFont typeface="Arial" pitchFamily="34" charset="0"/>
              <a:buChar char="•"/>
            </a:pPr>
            <a:r>
              <a:rPr lang="en-AU" sz="1200" kern="1200" dirty="0" smtClean="0">
                <a:solidFill>
                  <a:schemeClr val="tx1"/>
                </a:solidFill>
                <a:latin typeface="+mn-lt"/>
                <a:ea typeface="+mn-ea"/>
                <a:cs typeface="+mn-cs"/>
              </a:rPr>
              <a:t> The labour budget is frequently one of the biggest, ongoing expenses any enterprise runs – so they have a distinct interest in how these budgets are performing:</a:t>
            </a:r>
          </a:p>
          <a:p>
            <a:pPr lvl="1">
              <a:buFont typeface="Arial" pitchFamily="34" charset="0"/>
              <a:buChar char="•"/>
            </a:pPr>
            <a:r>
              <a:rPr lang="en-AU" sz="1200" kern="1200" dirty="0" smtClean="0">
                <a:solidFill>
                  <a:schemeClr val="tx1"/>
                </a:solidFill>
                <a:latin typeface="+mn-lt"/>
                <a:ea typeface="+mn-ea"/>
                <a:cs typeface="+mn-cs"/>
              </a:rPr>
              <a:t> Against projections</a:t>
            </a:r>
          </a:p>
          <a:p>
            <a:pPr lvl="1">
              <a:buFont typeface="Arial" pitchFamily="34" charset="0"/>
              <a:buChar char="•"/>
            </a:pPr>
            <a:r>
              <a:rPr lang="en-AU" sz="1200" kern="1200" dirty="0" smtClean="0">
                <a:solidFill>
                  <a:schemeClr val="tx1"/>
                </a:solidFill>
                <a:latin typeface="+mn-lt"/>
                <a:ea typeface="+mn-ea"/>
                <a:cs typeface="+mn-cs"/>
              </a:rPr>
              <a:t> Against same time, last year figures</a:t>
            </a:r>
          </a:p>
          <a:p>
            <a:pPr lvl="1">
              <a:buFont typeface="Arial" pitchFamily="34" charset="0"/>
              <a:buChar char="•"/>
            </a:pPr>
            <a:r>
              <a:rPr lang="en-AU" sz="1200" kern="1200" dirty="0" smtClean="0">
                <a:solidFill>
                  <a:schemeClr val="tx1"/>
                </a:solidFill>
                <a:latin typeface="+mn-lt"/>
                <a:ea typeface="+mn-ea"/>
                <a:cs typeface="+mn-cs"/>
              </a:rPr>
              <a:t> Against revenue</a:t>
            </a:r>
          </a:p>
          <a:p>
            <a:pPr lvl="1">
              <a:buFont typeface="Arial" pitchFamily="34" charset="0"/>
              <a:buChar char="•"/>
            </a:pPr>
            <a:r>
              <a:rPr lang="en-AU" sz="1200" kern="1200" dirty="0" smtClean="0">
                <a:solidFill>
                  <a:schemeClr val="tx1"/>
                </a:solidFill>
                <a:latin typeface="+mn-lt"/>
                <a:ea typeface="+mn-ea"/>
                <a:cs typeface="+mn-cs"/>
              </a:rPr>
              <a:t> By comparison with other properties in the same chain</a:t>
            </a:r>
          </a:p>
          <a:p>
            <a:pPr lvl="1">
              <a:buFont typeface="Arial" pitchFamily="34" charset="0"/>
              <a:buChar char="•"/>
            </a:pPr>
            <a:r>
              <a:rPr lang="en-AU" sz="1200" kern="1200" dirty="0" smtClean="0">
                <a:solidFill>
                  <a:schemeClr val="tx1"/>
                </a:solidFill>
                <a:latin typeface="+mn-lt"/>
                <a:ea typeface="+mn-ea"/>
                <a:cs typeface="+mn-cs"/>
              </a:rPr>
              <a:t> In total – on a YTD basis.</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a:t>
            </a:r>
            <a:r>
              <a:rPr lang="en-AU" dirty="0" smtClean="0"/>
              <a:t>shareholders</a:t>
            </a:r>
            <a:r>
              <a:rPr lang="en-AU" sz="1200" b="0" kern="1200" dirty="0" smtClean="0">
                <a:solidFill>
                  <a:schemeClr val="tx1"/>
                </a:solidFill>
                <a:latin typeface="+mn-lt"/>
                <a:ea typeface="+mn-ea"/>
                <a:cs typeface="+mn-cs"/>
              </a:rPr>
              <a:t>’ may be public or private, explaining:</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Public shareholders are those who have bought shares in the business on the Stock Exchange. It will never be trainees job to report to these people, or consult with them. The Board of Directors will do this.</a:t>
            </a:r>
            <a:endParaRPr lang="en-AU" sz="1200" b="1" kern="1200" dirty="0" smtClean="0">
              <a:solidFill>
                <a:schemeClr val="tx1"/>
              </a:solidFill>
              <a:latin typeface="+mn-lt"/>
              <a:ea typeface="+mn-ea"/>
              <a:cs typeface="+mn-cs"/>
            </a:endParaRPr>
          </a:p>
          <a:p>
            <a:pPr>
              <a:buFont typeface="Arial" pitchFamily="34" charset="0"/>
              <a:buChar char="•"/>
            </a:pPr>
            <a:r>
              <a:rPr lang="en-AU" sz="1200" b="0" kern="1200" dirty="0" smtClean="0">
                <a:solidFill>
                  <a:schemeClr val="tx1"/>
                </a:solidFill>
                <a:latin typeface="+mn-lt"/>
                <a:ea typeface="+mn-ea"/>
                <a:cs typeface="+mn-cs"/>
              </a:rPr>
              <a:t> Private shareholders are individual who have a stake in the business – they are often family of the person who founded the business or friends or selected investors.</a:t>
            </a:r>
            <a:endParaRPr lang="en-AU" sz="1200" b="1" kern="1200" dirty="0" smtClean="0">
              <a:solidFill>
                <a:schemeClr val="tx1"/>
              </a:solidFill>
              <a:latin typeface="+mn-lt"/>
              <a:ea typeface="+mn-ea"/>
              <a:cs typeface="+mn-cs"/>
            </a:endParaRPr>
          </a:p>
          <a:p>
            <a:endParaRPr lang="en-AU" sz="1200" b="0"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Trainer states there may be a need to consult with these people when:</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Significant events relating to staffing are being considered – such as:</a:t>
            </a:r>
          </a:p>
          <a:p>
            <a:pPr lvl="1">
              <a:buFont typeface="Arial" pitchFamily="34" charset="0"/>
              <a:buChar char="•"/>
            </a:pPr>
            <a:r>
              <a:rPr lang="en-AU" sz="1200" kern="1200" dirty="0" smtClean="0">
                <a:solidFill>
                  <a:schemeClr val="tx1"/>
                </a:solidFill>
                <a:latin typeface="+mn-lt"/>
                <a:ea typeface="+mn-ea"/>
                <a:cs typeface="+mn-cs"/>
              </a:rPr>
              <a:t> Large scale redundancies</a:t>
            </a:r>
          </a:p>
          <a:p>
            <a:pPr lvl="1">
              <a:buFont typeface="Arial" pitchFamily="34" charset="0"/>
              <a:buChar char="•"/>
            </a:pPr>
            <a:r>
              <a:rPr lang="en-AU" sz="1200" kern="1200" dirty="0" smtClean="0">
                <a:solidFill>
                  <a:schemeClr val="tx1"/>
                </a:solidFill>
                <a:latin typeface="+mn-lt"/>
                <a:ea typeface="+mn-ea"/>
                <a:cs typeface="+mn-cs"/>
              </a:rPr>
              <a:t> Response to a major industrial relations issue</a:t>
            </a:r>
          </a:p>
          <a:p>
            <a:pPr lvl="1">
              <a:buFont typeface="Arial" pitchFamily="34" charset="0"/>
              <a:buChar char="•"/>
            </a:pPr>
            <a:r>
              <a:rPr lang="en-AU" sz="1200" kern="1200" dirty="0" smtClean="0">
                <a:solidFill>
                  <a:schemeClr val="tx1"/>
                </a:solidFill>
                <a:latin typeface="+mn-lt"/>
                <a:ea typeface="+mn-ea"/>
                <a:cs typeface="+mn-cs"/>
              </a:rPr>
              <a:t> Across-the-board pay rises</a:t>
            </a:r>
          </a:p>
          <a:p>
            <a:pPr lvl="1">
              <a:buFont typeface="Arial" pitchFamily="34" charset="0"/>
              <a:buChar char="•"/>
            </a:pPr>
            <a:r>
              <a:rPr lang="en-AU" sz="1200" kern="1200" dirty="0" smtClean="0">
                <a:solidFill>
                  <a:schemeClr val="tx1"/>
                </a:solidFill>
                <a:latin typeface="+mn-lt"/>
                <a:ea typeface="+mn-ea"/>
                <a:cs typeface="+mn-cs"/>
              </a:rPr>
              <a:t> Costly improvements to working conditions.</a:t>
            </a:r>
          </a:p>
          <a:p>
            <a:pPr lvl="0">
              <a:buFont typeface="Arial" pitchFamily="34" charset="0"/>
              <a:buChar char="•"/>
            </a:pPr>
            <a:r>
              <a:rPr lang="en-AU" sz="1200" kern="1200" dirty="0" smtClean="0">
                <a:solidFill>
                  <a:schemeClr val="tx1"/>
                </a:solidFill>
                <a:latin typeface="+mn-lt"/>
                <a:ea typeface="+mn-ea"/>
                <a:cs typeface="+mn-cs"/>
              </a:rPr>
              <a:t> The reputation or image of the enterprise is likely to be impacted by the staffing decisions being considered due to personal image and reputation</a:t>
            </a:r>
          </a:p>
          <a:p>
            <a:pPr>
              <a:buFont typeface="Arial" pitchFamily="34" charset="0"/>
              <a:buChar char="•"/>
            </a:pPr>
            <a:r>
              <a:rPr lang="en-AU" sz="1200" kern="1200" dirty="0" smtClean="0">
                <a:solidFill>
                  <a:schemeClr val="tx1"/>
                </a:solidFill>
                <a:latin typeface="+mn-lt"/>
                <a:ea typeface="+mn-ea"/>
                <a:cs typeface="+mn-cs"/>
              </a:rPr>
              <a:t> A staffing issue arises with the potential to gain external attention – and impact on how ‘the public’ regard the enterprise. This may be an unfair dismissal allegation, an allegation of harassment or an alleged breach of EO legislation and requirements.</a:t>
            </a:r>
          </a:p>
          <a:p>
            <a:pPr>
              <a:buFont typeface="Arial" pitchFamily="34" charset="0"/>
              <a:buNone/>
            </a:pPr>
            <a:r>
              <a:rPr lang="en-AU" sz="1200" kern="1200" dirty="0" smtClean="0">
                <a:solidFill>
                  <a:schemeClr val="tx1"/>
                </a:solidFill>
                <a:latin typeface="+mn-lt"/>
                <a:ea typeface="+mn-ea"/>
                <a:cs typeface="+mn-cs"/>
              </a:rPr>
              <a:t> </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t>
            </a:r>
            <a:r>
              <a:rPr lang="en-AU" sz="1200" kern="1200" dirty="0" smtClean="0">
                <a:solidFill>
                  <a:schemeClr val="tx1"/>
                </a:solidFill>
                <a:latin typeface="+mn-lt"/>
                <a:ea typeface="+mn-ea"/>
                <a:cs typeface="+mn-cs"/>
              </a:rPr>
              <a:t>suggests to trainees shareholders should be consulted because:</a:t>
            </a:r>
          </a:p>
          <a:p>
            <a:pPr lvl="0">
              <a:buFont typeface="Arial" pitchFamily="34" charset="0"/>
              <a:buChar char="•"/>
            </a:pPr>
            <a:r>
              <a:rPr lang="en-AU" sz="1200" kern="1200" dirty="0" smtClean="0">
                <a:solidFill>
                  <a:schemeClr val="tx1"/>
                </a:solidFill>
                <a:latin typeface="+mn-lt"/>
                <a:ea typeface="+mn-ea"/>
                <a:cs typeface="+mn-cs"/>
              </a:rPr>
              <a:t> It is their money at risk – and they are therefore entitled to an opinion</a:t>
            </a:r>
          </a:p>
          <a:p>
            <a:pPr lvl="0">
              <a:buFont typeface="Arial" pitchFamily="34" charset="0"/>
              <a:buChar char="•"/>
            </a:pPr>
            <a:r>
              <a:rPr lang="en-AU" sz="1200" kern="1200" dirty="0" smtClean="0">
                <a:solidFill>
                  <a:schemeClr val="tx1"/>
                </a:solidFill>
                <a:latin typeface="+mn-lt"/>
                <a:ea typeface="+mn-ea"/>
                <a:cs typeface="+mn-cs"/>
              </a:rPr>
              <a:t> They can have ultimate authority – to approve or reject proposed action</a:t>
            </a:r>
          </a:p>
          <a:p>
            <a:pPr lvl="0">
              <a:buFont typeface="Arial" pitchFamily="34" charset="0"/>
              <a:buChar char="•"/>
            </a:pPr>
            <a:r>
              <a:rPr lang="en-AU" sz="1200" kern="1200" dirty="0" smtClean="0">
                <a:solidFill>
                  <a:schemeClr val="tx1"/>
                </a:solidFill>
                <a:latin typeface="+mn-lt"/>
                <a:ea typeface="+mn-ea"/>
                <a:cs typeface="+mn-cs"/>
              </a:rPr>
              <a:t> They may be able to provide valuable alternate insight into an issue – and contribute a different way of thinking throwing a fresh perspective on a topic.</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a:t>
            </a:r>
            <a:r>
              <a:rPr lang="en-US" baseline="0" dirty="0" smtClean="0"/>
              <a:t> for trainees </a:t>
            </a:r>
            <a:r>
              <a:rPr lang="en-AU" sz="1200" kern="1200" dirty="0" smtClean="0">
                <a:solidFill>
                  <a:schemeClr val="tx1"/>
                </a:solidFill>
                <a:latin typeface="+mn-lt"/>
                <a:ea typeface="+mn-ea"/>
                <a:cs typeface="+mn-cs"/>
              </a:rPr>
              <a:t>senior </a:t>
            </a:r>
            <a:r>
              <a:rPr lang="en-AU" sz="1200" b="0" kern="1200" dirty="0" smtClean="0">
                <a:solidFill>
                  <a:schemeClr val="tx1"/>
                </a:solidFill>
                <a:latin typeface="+mn-lt"/>
                <a:ea typeface="+mn-ea"/>
                <a:cs typeface="+mn-cs"/>
              </a:rPr>
              <a:t>management can include:</a:t>
            </a:r>
            <a:endParaRPr lang="en-AU" sz="1200" b="1"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Department managers</a:t>
            </a:r>
          </a:p>
          <a:p>
            <a:pPr>
              <a:buFont typeface="Arial" pitchFamily="34" charset="0"/>
              <a:buChar char="•"/>
            </a:pPr>
            <a:r>
              <a:rPr lang="en-AU" sz="1200" kern="1200" dirty="0" smtClean="0">
                <a:solidFill>
                  <a:schemeClr val="tx1"/>
                </a:solidFill>
                <a:latin typeface="+mn-lt"/>
                <a:ea typeface="+mn-ea"/>
                <a:cs typeface="+mn-cs"/>
              </a:rPr>
              <a:t> Division or section managers</a:t>
            </a:r>
          </a:p>
          <a:p>
            <a:pPr>
              <a:buFont typeface="Arial" pitchFamily="34" charset="0"/>
              <a:buChar char="•"/>
            </a:pPr>
            <a:r>
              <a:rPr lang="en-AU" sz="1200" kern="1200" dirty="0" smtClean="0">
                <a:solidFill>
                  <a:schemeClr val="tx1"/>
                </a:solidFill>
                <a:latin typeface="+mn-lt"/>
                <a:ea typeface="+mn-ea"/>
                <a:cs typeface="+mn-cs"/>
              </a:rPr>
              <a:t> Nominated managers from Head Office.</a:t>
            </a:r>
          </a:p>
          <a:p>
            <a:pPr>
              <a:buFont typeface="Arial" pitchFamily="34" charset="0"/>
              <a:buChar char="•"/>
            </a:pPr>
            <a:r>
              <a:rPr lang="en-AU" sz="1200" kern="1200" dirty="0" smtClean="0">
                <a:solidFill>
                  <a:schemeClr val="tx1"/>
                </a:solidFill>
                <a:latin typeface="+mn-lt"/>
                <a:ea typeface="+mn-ea"/>
                <a:cs typeface="+mn-cs"/>
              </a:rPr>
              <a:t> Supervisors are not senior managers.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recommends to trainees senior management may need to be consulted over staffing needs because:</a:t>
            </a:r>
          </a:p>
          <a:p>
            <a:pPr>
              <a:buFont typeface="Arial" pitchFamily="34" charset="0"/>
              <a:buChar char="•"/>
            </a:pPr>
            <a:r>
              <a:rPr lang="en-AU" sz="1200" kern="1200" dirty="0" smtClean="0">
                <a:solidFill>
                  <a:schemeClr val="tx1"/>
                </a:solidFill>
                <a:latin typeface="+mn-lt"/>
                <a:ea typeface="+mn-ea"/>
                <a:cs typeface="+mn-cs"/>
              </a:rPr>
              <a:t> Enterprise policy dictates they must be consulted with – on nominated issues, or on a regular basis (say, every three or six months)</a:t>
            </a:r>
          </a:p>
          <a:p>
            <a:pPr>
              <a:buFont typeface="Arial" pitchFamily="34" charset="0"/>
              <a:buChar char="•"/>
            </a:pPr>
            <a:r>
              <a:rPr lang="en-AU" sz="1200" kern="1200" dirty="0" smtClean="0">
                <a:solidFill>
                  <a:schemeClr val="tx1"/>
                </a:solidFill>
                <a:latin typeface="+mn-lt"/>
                <a:ea typeface="+mn-ea"/>
                <a:cs typeface="+mn-cs"/>
              </a:rPr>
              <a:t> They form the nucleus of the group who provide direction for the day-to-day operation of the business – balancing the:</a:t>
            </a:r>
          </a:p>
          <a:p>
            <a:pPr lvl="1">
              <a:buFont typeface="Arial" pitchFamily="34" charset="0"/>
              <a:buChar char="•"/>
            </a:pPr>
            <a:r>
              <a:rPr lang="en-US" sz="1200" kern="1200" dirty="0" smtClean="0">
                <a:solidFill>
                  <a:schemeClr val="tx1"/>
                </a:solidFill>
                <a:latin typeface="+mn-lt"/>
                <a:ea typeface="+mn-ea"/>
                <a:cs typeface="+mn-cs"/>
              </a:rPr>
              <a:t> Strategic goals and objectives of the business, and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Day-to-day imperatives of the workplace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They usually have extensive experience in relation to staffing – either at the venue, elsewhere within the industry or at other properties within the chain</a:t>
            </a:r>
          </a:p>
          <a:p>
            <a:pPr>
              <a:buFont typeface="Arial" pitchFamily="34" charset="0"/>
              <a:buChar char="•"/>
            </a:pPr>
            <a:r>
              <a:rPr lang="en-AU" sz="1200" kern="1200" dirty="0" smtClean="0">
                <a:solidFill>
                  <a:schemeClr val="tx1"/>
                </a:solidFill>
                <a:latin typeface="+mn-lt"/>
                <a:ea typeface="+mn-ea"/>
                <a:cs typeface="+mn-cs"/>
              </a:rPr>
              <a:t> They are more readily available and accessible than the Board of Directors – buy usually have similar knowledge and information that the Board does.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trainees </a:t>
            </a:r>
            <a:r>
              <a:rPr lang="en-AU" dirty="0" smtClean="0"/>
              <a:t>supervisors </a:t>
            </a:r>
            <a:r>
              <a:rPr lang="en-AU" sz="1200" kern="1200" dirty="0" smtClean="0">
                <a:solidFill>
                  <a:schemeClr val="tx1"/>
                </a:solidFill>
                <a:latin typeface="+mn-lt"/>
                <a:ea typeface="+mn-ea"/>
                <a:cs typeface="+mn-cs"/>
              </a:rPr>
              <a:t>may be regarded as middle-level managers.</a:t>
            </a:r>
            <a:r>
              <a:rPr lang="en-AU" sz="1200" kern="1200" baseline="0" dirty="0" smtClean="0">
                <a:solidFill>
                  <a:schemeClr val="tx1"/>
                </a:solidFill>
                <a:latin typeface="+mn-lt"/>
                <a:ea typeface="+mn-ea"/>
                <a:cs typeface="+mn-cs"/>
              </a:rPr>
              <a:t> </a:t>
            </a:r>
          </a:p>
          <a:p>
            <a:endParaRPr lang="en-AU" sz="1200" kern="1200" baseline="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They should be consulted regarding staffing matters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in their area to:</a:t>
            </a:r>
          </a:p>
          <a:p>
            <a:pPr>
              <a:buFont typeface="Arial" pitchFamily="34" charset="0"/>
              <a:buChar char="•"/>
            </a:pPr>
            <a:r>
              <a:rPr lang="en-AU" sz="1200" kern="1200" dirty="0" smtClean="0">
                <a:solidFill>
                  <a:schemeClr val="tx1"/>
                </a:solidFill>
                <a:latin typeface="+mn-lt"/>
                <a:ea typeface="+mn-ea"/>
                <a:cs typeface="+mn-cs"/>
              </a:rPr>
              <a:t> Enable them to provide first-hand and relevant information about:</a:t>
            </a:r>
          </a:p>
          <a:p>
            <a:pPr lvl="1">
              <a:buFont typeface="Arial" pitchFamily="34" charset="0"/>
              <a:buChar char="•"/>
            </a:pPr>
            <a:r>
              <a:rPr lang="en-AU" sz="1200" kern="1200" dirty="0" smtClean="0">
                <a:solidFill>
                  <a:schemeClr val="tx1"/>
                </a:solidFill>
                <a:latin typeface="+mn-lt"/>
                <a:ea typeface="+mn-ea"/>
                <a:cs typeface="+mn-cs"/>
              </a:rPr>
              <a:t> Workplace needs</a:t>
            </a:r>
          </a:p>
          <a:p>
            <a:pPr lvl="1">
              <a:buFont typeface="Arial" pitchFamily="34" charset="0"/>
              <a:buChar char="•"/>
            </a:pPr>
            <a:r>
              <a:rPr lang="en-AU" sz="1200" kern="1200" dirty="0" smtClean="0">
                <a:solidFill>
                  <a:schemeClr val="tx1"/>
                </a:solidFill>
                <a:latin typeface="+mn-lt"/>
                <a:ea typeface="+mn-ea"/>
                <a:cs typeface="+mn-cs"/>
              </a:rPr>
              <a:t> Service provision</a:t>
            </a:r>
          </a:p>
          <a:p>
            <a:pPr lvl="1">
              <a:buFont typeface="Arial" pitchFamily="34" charset="0"/>
              <a:buChar char="•"/>
            </a:pPr>
            <a:r>
              <a:rPr lang="en-AU" sz="1200" kern="1200" dirty="0" smtClean="0">
                <a:solidFill>
                  <a:schemeClr val="tx1"/>
                </a:solidFill>
                <a:latin typeface="+mn-lt"/>
                <a:ea typeface="+mn-ea"/>
                <a:cs typeface="+mn-cs"/>
              </a:rPr>
              <a:t> Allied issues not already considered –they may be able to show how reducing the hours of a certain staff member is likely to have flow-on, unseen impacts in other important areas</a:t>
            </a:r>
          </a:p>
          <a:p>
            <a:pPr lvl="1">
              <a:buFont typeface="Arial" pitchFamily="34" charset="0"/>
              <a:buChar char="•"/>
            </a:pPr>
            <a:r>
              <a:rPr lang="en-AU" sz="1200" kern="1200" dirty="0" smtClean="0">
                <a:solidFill>
                  <a:schemeClr val="tx1"/>
                </a:solidFill>
                <a:latin typeface="+mn-lt"/>
                <a:ea typeface="+mn-ea"/>
                <a:cs typeface="+mn-cs"/>
              </a:rPr>
              <a:t> Feedback from staff about staffing action – that has been proposed, or has been implemented</a:t>
            </a:r>
          </a:p>
          <a:p>
            <a:pPr>
              <a:buFont typeface="Arial" pitchFamily="34" charset="0"/>
              <a:buChar char="•"/>
            </a:pPr>
            <a:r>
              <a:rPr lang="en-AU" sz="1200" kern="1200" dirty="0" smtClean="0">
                <a:solidFill>
                  <a:schemeClr val="tx1"/>
                </a:solidFill>
                <a:latin typeface="+mn-lt"/>
                <a:ea typeface="+mn-ea"/>
                <a:cs typeface="+mn-cs"/>
              </a:rPr>
              <a:t> Learn from their knowledge and experience relating to the staffing topic being considered – most supervisors have an extensive working knowledge about the area for which they have responsibility</a:t>
            </a:r>
          </a:p>
          <a:p>
            <a:pPr>
              <a:buFont typeface="Arial" pitchFamily="34" charset="0"/>
              <a:buChar char="•"/>
            </a:pPr>
            <a:r>
              <a:rPr lang="en-AU" sz="1200" kern="1200" dirty="0" smtClean="0">
                <a:solidFill>
                  <a:schemeClr val="tx1"/>
                </a:solidFill>
                <a:latin typeface="+mn-lt"/>
                <a:ea typeface="+mn-ea"/>
                <a:cs typeface="+mn-cs"/>
              </a:rPr>
              <a:t> Demonstrate intention to work with them and include them in decision making impacting their staff – it is best to work with these people in a cooperative and collaboratively manner. In many cases, when a supervisor is convinced a staffing change is a good idea, they will convince their staff likewise. Unfortunately, the reverse is also true!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t>
            </a:r>
            <a:r>
              <a:rPr lang="en-AU" sz="1200" kern="1200" dirty="0" smtClean="0">
                <a:solidFill>
                  <a:schemeClr val="tx1"/>
                </a:solidFill>
                <a:latin typeface="+mn-lt"/>
                <a:ea typeface="+mn-ea"/>
                <a:cs typeface="+mn-cs"/>
              </a:rPr>
              <a:t>workers are often the forgotten stakeholders when staffing decisions are made.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Too many people make staffing decisions and then impose these on employees, on a take-it-or-leave-it’ basis, and this is to be avoided.</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tells</a:t>
            </a:r>
            <a:r>
              <a:rPr lang="en-AU" sz="1200" kern="1200" baseline="0" dirty="0" smtClean="0">
                <a:solidFill>
                  <a:schemeClr val="tx1"/>
                </a:solidFill>
                <a:latin typeface="+mn-lt"/>
                <a:ea typeface="+mn-ea"/>
                <a:cs typeface="+mn-cs"/>
              </a:rPr>
              <a:t> trainees </a:t>
            </a:r>
            <a:r>
              <a:rPr lang="en-AU" sz="1200" kern="1200" dirty="0" smtClean="0">
                <a:solidFill>
                  <a:schemeClr val="tx1"/>
                </a:solidFill>
                <a:latin typeface="+mn-lt"/>
                <a:ea typeface="+mn-ea"/>
                <a:cs typeface="+mn-cs"/>
              </a:rPr>
              <a:t>staff impacted by staffing decisions should be consulted to:</a:t>
            </a:r>
          </a:p>
          <a:p>
            <a:pPr>
              <a:buFont typeface="Arial" pitchFamily="34" charset="0"/>
              <a:buChar char="•"/>
            </a:pPr>
            <a:r>
              <a:rPr lang="en-AU" sz="1200" kern="1200" dirty="0" smtClean="0">
                <a:solidFill>
                  <a:schemeClr val="tx1"/>
                </a:solidFill>
                <a:latin typeface="+mn-lt"/>
                <a:ea typeface="+mn-ea"/>
                <a:cs typeface="+mn-cs"/>
              </a:rPr>
              <a:t> Identify suggestions they have for action – arguably staff are best placed to identify staffing issues and make recommendations for how they can best be addressed</a:t>
            </a:r>
          </a:p>
          <a:p>
            <a:pPr>
              <a:buFont typeface="Arial" pitchFamily="34" charset="0"/>
              <a:buChar char="•"/>
            </a:pPr>
            <a:r>
              <a:rPr lang="en-AU" sz="1200" kern="1200" dirty="0" smtClean="0">
                <a:solidFill>
                  <a:schemeClr val="tx1"/>
                </a:solidFill>
                <a:latin typeface="+mn-lt"/>
                <a:ea typeface="+mn-ea"/>
                <a:cs typeface="+mn-cs"/>
              </a:rPr>
              <a:t> Provide guidance for the final decision – in terms of:</a:t>
            </a:r>
          </a:p>
          <a:p>
            <a:pPr lvl="1">
              <a:buFont typeface="Arial" pitchFamily="34" charset="0"/>
              <a:buChar char="•"/>
            </a:pPr>
            <a:r>
              <a:rPr lang="en-US" sz="1200" kern="1200" dirty="0" smtClean="0">
                <a:solidFill>
                  <a:schemeClr val="tx1"/>
                </a:solidFill>
                <a:latin typeface="+mn-lt"/>
                <a:ea typeface="+mn-ea"/>
                <a:cs typeface="+mn-cs"/>
              </a:rPr>
              <a:t> How to effectively implement new ideas relating to staffing levels or changes to staffing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When to introduce changes</a:t>
            </a:r>
            <a:r>
              <a:rPr lang="en-US" sz="1200" kern="1200" baseline="0" dirty="0" smtClean="0">
                <a:solidFill>
                  <a:schemeClr val="tx1"/>
                </a:solidFill>
                <a:latin typeface="+mn-lt"/>
                <a:ea typeface="+mn-ea"/>
                <a:cs typeface="+mn-cs"/>
              </a:rPr>
              <a:t> and </a:t>
            </a:r>
            <a:r>
              <a:rPr lang="en-US" sz="1200" kern="1200" dirty="0" smtClean="0">
                <a:solidFill>
                  <a:schemeClr val="tx1"/>
                </a:solidFill>
                <a:latin typeface="+mn-lt"/>
                <a:ea typeface="+mn-ea"/>
                <a:cs typeface="+mn-cs"/>
              </a:rPr>
              <a:t>new ideas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Identification of potential problems related to change and how to overcome them</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Demonstrate respect for them as a valuable resource – many businesses will state staff are their most important asset but do relatively little to demonstrate this orientation</a:t>
            </a:r>
          </a:p>
          <a:p>
            <a:pPr>
              <a:buFont typeface="Arial" pitchFamily="34" charset="0"/>
              <a:buChar char="•"/>
            </a:pPr>
            <a:r>
              <a:rPr lang="en-AU" sz="1200" kern="1200" dirty="0" smtClean="0">
                <a:solidFill>
                  <a:schemeClr val="tx1"/>
                </a:solidFill>
                <a:latin typeface="+mn-lt"/>
                <a:ea typeface="+mn-ea"/>
                <a:cs typeface="+mn-cs"/>
              </a:rPr>
              <a:t> Gain support for a staffing initiative – by explaining the proposal and explaining how it benefits staff (by making their work easier, safer; by saving resources; by providing increased job security, or potential for more hours,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overtime or promotion.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instructs trainees </a:t>
            </a:r>
            <a:r>
              <a:rPr lang="en-AU" sz="1200" kern="1200" dirty="0" smtClean="0">
                <a:solidFill>
                  <a:schemeClr val="tx1"/>
                </a:solidFill>
                <a:latin typeface="+mn-lt"/>
                <a:ea typeface="+mn-ea"/>
                <a:cs typeface="+mn-cs"/>
              </a:rPr>
              <a:t>that for some staffing considerations it can be useful to consult with stakeholders </a:t>
            </a:r>
            <a:r>
              <a:rPr lang="en-AU" sz="1200" b="1" kern="1200" dirty="0" smtClean="0">
                <a:solidFill>
                  <a:schemeClr val="tx1"/>
                </a:solidFill>
                <a:latin typeface="+mn-lt"/>
                <a:ea typeface="+mn-ea"/>
                <a:cs typeface="+mn-cs"/>
              </a:rPr>
              <a:t>before or after </a:t>
            </a:r>
            <a:r>
              <a:rPr lang="en-AU" sz="1200" kern="1200" dirty="0" smtClean="0">
                <a:solidFill>
                  <a:schemeClr val="tx1"/>
                </a:solidFill>
                <a:latin typeface="+mn-lt"/>
                <a:ea typeface="+mn-ea"/>
                <a:cs typeface="+mn-cs"/>
              </a:rPr>
              <a:t>making the necessary decisions.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states </a:t>
            </a:r>
            <a:r>
              <a:rPr lang="en-AU" sz="1200" b="1" kern="1200" dirty="0" smtClean="0">
                <a:solidFill>
                  <a:schemeClr val="tx1"/>
                </a:solidFill>
                <a:latin typeface="+mn-lt"/>
                <a:ea typeface="+mn-ea"/>
                <a:cs typeface="+mn-cs"/>
              </a:rPr>
              <a:t>before </a:t>
            </a:r>
            <a:r>
              <a:rPr lang="en-AU" sz="1200" kern="1200" dirty="0" smtClean="0">
                <a:solidFill>
                  <a:schemeClr val="tx1"/>
                </a:solidFill>
                <a:latin typeface="+mn-lt"/>
                <a:ea typeface="+mn-ea"/>
                <a:cs typeface="+mn-cs"/>
              </a:rPr>
              <a:t>making a staffing decision (such as reducing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increasing staffing levels,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hiring someone in a new role,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raining staff in nominated new skills):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It can be worthwhile talking to customers and asking them:</a:t>
            </a:r>
          </a:p>
          <a:p>
            <a:pPr lvl="1">
              <a:buFont typeface="Arial" pitchFamily="34" charset="0"/>
              <a:buChar char="•"/>
            </a:pPr>
            <a:r>
              <a:rPr lang="en-AU" sz="1200" kern="1200" dirty="0" smtClean="0">
                <a:solidFill>
                  <a:schemeClr val="tx1"/>
                </a:solidFill>
                <a:latin typeface="+mn-lt"/>
                <a:ea typeface="+mn-ea"/>
                <a:cs typeface="+mn-cs"/>
              </a:rPr>
              <a:t> What they want</a:t>
            </a:r>
          </a:p>
          <a:p>
            <a:pPr lvl="1">
              <a:buFont typeface="Arial" pitchFamily="34" charset="0"/>
              <a:buChar char="•"/>
            </a:pPr>
            <a:r>
              <a:rPr lang="en-AU" sz="1200" kern="1200" dirty="0" smtClean="0">
                <a:solidFill>
                  <a:schemeClr val="tx1"/>
                </a:solidFill>
                <a:latin typeface="+mn-lt"/>
                <a:ea typeface="+mn-ea"/>
                <a:cs typeface="+mn-cs"/>
              </a:rPr>
              <a:t> How the changes would impact on their relationship with the enterprise</a:t>
            </a:r>
          </a:p>
          <a:p>
            <a:pPr lvl="1">
              <a:buFont typeface="Arial" pitchFamily="34" charset="0"/>
              <a:buChar char="•"/>
            </a:pPr>
            <a:r>
              <a:rPr lang="en-AU" sz="1200" kern="1200" dirty="0" smtClean="0">
                <a:solidFill>
                  <a:schemeClr val="tx1"/>
                </a:solidFill>
                <a:latin typeface="+mn-lt"/>
                <a:ea typeface="+mn-ea"/>
                <a:cs typeface="+mn-cs"/>
              </a:rPr>
              <a:t> How the changes would impact their spending</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attendance patterns.</a:t>
            </a:r>
          </a:p>
          <a:p>
            <a:pPr>
              <a:buFont typeface="Arial" pitchFamily="34" charset="0"/>
              <a:buChar char="•"/>
            </a:pPr>
            <a:r>
              <a:rPr lang="en-AU" sz="1200" kern="1200" dirty="0" smtClean="0">
                <a:solidFill>
                  <a:schemeClr val="tx1"/>
                </a:solidFill>
                <a:latin typeface="+mn-lt"/>
                <a:ea typeface="+mn-ea"/>
                <a:cs typeface="+mn-cs"/>
              </a:rPr>
              <a:t> Always be alert to the potential customers to believe their contributions will be acted on once they have made them. Customers can become disappointed and resentful if what they contribute does not materialise into reality. In short, consulting with has the capacity to be counter-productive.</a:t>
            </a:r>
          </a:p>
          <a:p>
            <a:pPr>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Trainer further states </a:t>
            </a:r>
            <a:r>
              <a:rPr lang="en-AU" sz="1200" b="1" kern="1200" dirty="0" smtClean="0">
                <a:solidFill>
                  <a:schemeClr val="tx1"/>
                </a:solidFill>
                <a:latin typeface="+mn-lt"/>
                <a:ea typeface="+mn-ea"/>
                <a:cs typeface="+mn-cs"/>
              </a:rPr>
              <a:t>after </a:t>
            </a:r>
            <a:r>
              <a:rPr lang="en-AU" sz="1200" kern="1200" dirty="0" smtClean="0">
                <a:solidFill>
                  <a:schemeClr val="tx1"/>
                </a:solidFill>
                <a:latin typeface="+mn-lt"/>
                <a:ea typeface="+mn-ea"/>
                <a:cs typeface="+mn-cs"/>
              </a:rPr>
              <a:t>staffing changes have been implemented, customer can be re-interviewed to determine:</a:t>
            </a:r>
          </a:p>
          <a:p>
            <a:pPr>
              <a:buFont typeface="Arial" pitchFamily="34" charset="0"/>
              <a:buChar char="•"/>
            </a:pPr>
            <a:r>
              <a:rPr lang="en-AU" sz="1200" kern="1200" dirty="0" smtClean="0">
                <a:solidFill>
                  <a:schemeClr val="tx1"/>
                </a:solidFill>
                <a:latin typeface="+mn-lt"/>
                <a:ea typeface="+mn-ea"/>
                <a:cs typeface="+mn-cs"/>
              </a:rPr>
              <a:t> Levels of satisfaction – are they more</a:t>
            </a:r>
            <a:r>
              <a:rPr lang="en-AU" sz="1200" kern="1200" baseline="0" dirty="0" smtClean="0">
                <a:solidFill>
                  <a:schemeClr val="tx1"/>
                </a:solidFill>
                <a:latin typeface="+mn-lt"/>
                <a:ea typeface="+mn-ea"/>
                <a:cs typeface="+mn-cs"/>
              </a:rPr>
              <a:t> or l</a:t>
            </a:r>
            <a:r>
              <a:rPr lang="en-AU" sz="1200" kern="1200" dirty="0" smtClean="0">
                <a:solidFill>
                  <a:schemeClr val="tx1"/>
                </a:solidFill>
                <a:latin typeface="+mn-lt"/>
                <a:ea typeface="+mn-ea"/>
                <a:cs typeface="+mn-cs"/>
              </a:rPr>
              <a:t>ess satisfied? About what? Why? </a:t>
            </a:r>
          </a:p>
          <a:p>
            <a:pPr>
              <a:buFont typeface="Arial" pitchFamily="34" charset="0"/>
              <a:buChar char="•"/>
            </a:pPr>
            <a:r>
              <a:rPr lang="en-AU" sz="1200" kern="1200" dirty="0" smtClean="0">
                <a:solidFill>
                  <a:schemeClr val="tx1"/>
                </a:solidFill>
                <a:latin typeface="+mn-lt"/>
                <a:ea typeface="+mn-ea"/>
                <a:cs typeface="+mn-cs"/>
              </a:rPr>
              <a:t> Changes in spending as a result – are they buying the same or different things as a result of staffing changes? Are they spending more</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less? Why? </a:t>
            </a:r>
          </a:p>
          <a:p>
            <a:pPr>
              <a:buFont typeface="Arial" pitchFamily="34" charset="0"/>
              <a:buChar char="•"/>
            </a:pPr>
            <a:r>
              <a:rPr lang="en-AU" sz="1200" kern="1200" dirty="0" smtClean="0">
                <a:solidFill>
                  <a:schemeClr val="tx1"/>
                </a:solidFill>
                <a:latin typeface="+mn-lt"/>
                <a:ea typeface="+mn-ea"/>
                <a:cs typeface="+mn-cs"/>
              </a:rPr>
              <a:t> Suggestions for further staffing-related change – what do they think needs to change to make things better?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a:t>
            </a:r>
            <a:r>
              <a:rPr lang="en-AU" sz="1200" kern="1200" dirty="0" smtClean="0">
                <a:solidFill>
                  <a:schemeClr val="tx1"/>
                </a:solidFill>
                <a:latin typeface="+mn-lt"/>
                <a:ea typeface="+mn-ea"/>
                <a:cs typeface="+mn-cs"/>
              </a:rPr>
              <a:t>suppliers are rarely consulted in relation to staffing needs but may be contacted in relation to:</a:t>
            </a:r>
          </a:p>
          <a:p>
            <a:pPr>
              <a:buFont typeface="Arial" pitchFamily="34" charset="0"/>
              <a:buChar char="•"/>
            </a:pPr>
            <a:r>
              <a:rPr lang="en-AU" sz="1200" kern="1200" dirty="0" smtClean="0">
                <a:solidFill>
                  <a:schemeClr val="tx1"/>
                </a:solidFill>
                <a:latin typeface="+mn-lt"/>
                <a:ea typeface="+mn-ea"/>
                <a:cs typeface="+mn-cs"/>
              </a:rPr>
              <a:t> Identifying what is happening in other businesses – the fact suppliers deal with so many similar businesses means they can provide useful insight into what others are doing and not doing</a:t>
            </a:r>
          </a:p>
          <a:p>
            <a:pPr>
              <a:buFont typeface="Arial" pitchFamily="34" charset="0"/>
              <a:buChar char="•"/>
            </a:pPr>
            <a:r>
              <a:rPr lang="en-AU" sz="1200" kern="1200" dirty="0" smtClean="0">
                <a:solidFill>
                  <a:schemeClr val="tx1"/>
                </a:solidFill>
                <a:latin typeface="+mn-lt"/>
                <a:ea typeface="+mn-ea"/>
                <a:cs typeface="+mn-cs"/>
              </a:rPr>
              <a:t> Sourcing staff – to perform designated tasks.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Staff who are dissatisfied often tell delivery drivers and sales representatives and these people can be effective in finding suitable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staff</a:t>
            </a:r>
          </a:p>
          <a:p>
            <a:pPr>
              <a:buFont typeface="Arial" pitchFamily="34" charset="0"/>
              <a:buChar char="•"/>
            </a:pPr>
            <a:r>
              <a:rPr lang="en-AU" sz="1200" kern="1200" dirty="0" smtClean="0">
                <a:solidFill>
                  <a:schemeClr val="tx1"/>
                </a:solidFill>
                <a:latin typeface="+mn-lt"/>
                <a:ea typeface="+mn-ea"/>
                <a:cs typeface="+mn-cs"/>
              </a:rPr>
              <a:t> Providing information about what workplace staff (those who order stock, and deal with accounts) need to know – in order to facilitate a better relationship and smoother work flow between the business and theirs. Demonstrating willingness</a:t>
            </a:r>
            <a:r>
              <a:rPr lang="en-AU" sz="1200" kern="1200" baseline="0" dirty="0" smtClean="0">
                <a:solidFill>
                  <a:schemeClr val="tx1"/>
                </a:solidFill>
                <a:latin typeface="+mn-lt"/>
                <a:ea typeface="+mn-ea"/>
                <a:cs typeface="+mn-cs"/>
              </a:rPr>
              <a:t> to work with suppliers usually means they will respond by being more willing to do likewise</a:t>
            </a:r>
            <a:r>
              <a:rPr lang="en-AU" sz="1200" kern="1200" dirty="0" smtClean="0">
                <a:solidFill>
                  <a:schemeClr val="tx1"/>
                </a:solidFill>
                <a:latin typeface="+mn-lt"/>
                <a:ea typeface="+mn-ea"/>
                <a:cs typeface="+mn-cs"/>
              </a:rPr>
              <a:t>.</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to trainees </a:t>
            </a:r>
            <a:r>
              <a:rPr lang="en-AU" sz="1200" kern="1200" dirty="0" smtClean="0">
                <a:solidFill>
                  <a:schemeClr val="tx1"/>
                </a:solidFill>
                <a:latin typeface="+mn-lt"/>
                <a:ea typeface="+mn-ea"/>
                <a:cs typeface="+mn-cs"/>
              </a:rPr>
              <a:t>an organisational chart (sometimes known as an ‘organisation chart’) is a paper-based or electronic document setting out the hierarchical relationship between all the working positions within the enterprise identifying:</a:t>
            </a:r>
          </a:p>
          <a:p>
            <a:pPr>
              <a:buFont typeface="Arial" pitchFamily="34" charset="0"/>
              <a:buChar char="•"/>
            </a:pPr>
            <a:r>
              <a:rPr lang="en-AU" sz="1200" kern="1200" dirty="0" smtClean="0">
                <a:solidFill>
                  <a:schemeClr val="tx1"/>
                </a:solidFill>
                <a:latin typeface="+mn-lt"/>
                <a:ea typeface="+mn-ea"/>
                <a:cs typeface="+mn-cs"/>
              </a:rPr>
              <a:t> Who is responsible to who – the ‘lines of authority’</a:t>
            </a:r>
          </a:p>
          <a:p>
            <a:pPr>
              <a:buFont typeface="Arial" pitchFamily="34" charset="0"/>
              <a:buChar char="•"/>
            </a:pPr>
            <a:r>
              <a:rPr lang="en-AU" sz="1200" kern="1200" dirty="0" smtClean="0">
                <a:solidFill>
                  <a:schemeClr val="tx1"/>
                </a:solidFill>
                <a:latin typeface="+mn-lt"/>
                <a:ea typeface="+mn-ea"/>
                <a:cs typeface="+mn-cs"/>
              </a:rPr>
              <a:t> The official lines of communication within the venue – the ‘lines of communication’</a:t>
            </a:r>
          </a:p>
          <a:p>
            <a:pPr>
              <a:buFont typeface="Arial" pitchFamily="34" charset="0"/>
              <a:buChar char="•"/>
            </a:pPr>
            <a:r>
              <a:rPr lang="en-AU" sz="1200" kern="1200" dirty="0" smtClean="0">
                <a:solidFill>
                  <a:schemeClr val="tx1"/>
                </a:solidFill>
                <a:latin typeface="+mn-lt"/>
                <a:ea typeface="+mn-ea"/>
                <a:cs typeface="+mn-cs"/>
              </a:rPr>
              <a:t> Possible career paths for people within the enterprise.</a:t>
            </a:r>
          </a:p>
          <a:p>
            <a:pPr>
              <a:buFont typeface="Arial" pitchFamily="34" charset="0"/>
              <a:buChar char="•"/>
            </a:pPr>
            <a:r>
              <a:rPr lang="en-AU" sz="1200" kern="1200" dirty="0" smtClean="0">
                <a:solidFill>
                  <a:schemeClr val="tx1"/>
                </a:solidFill>
                <a:latin typeface="+mn-lt"/>
                <a:ea typeface="+mn-ea"/>
                <a:cs typeface="+mn-cs"/>
              </a:rPr>
              <a:t> The positions within the business – by title </a:t>
            </a:r>
          </a:p>
          <a:p>
            <a:pPr>
              <a:buFont typeface="Arial" pitchFamily="34" charset="0"/>
              <a:buChar char="•"/>
            </a:pPr>
            <a:r>
              <a:rPr lang="en-AU" sz="1200" kern="1200" dirty="0" smtClean="0">
                <a:solidFill>
                  <a:schemeClr val="tx1"/>
                </a:solidFill>
                <a:latin typeface="+mn-lt"/>
                <a:ea typeface="+mn-ea"/>
                <a:cs typeface="+mn-cs"/>
              </a:rPr>
              <a:t> The numbers of positions –</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some charts identify the number of identical positions and some do not. Charts may show six separate boxes for six food waiters or there may be one box stating ‘Food waiters (6)’.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latin typeface="+mn-lt"/>
                <a:ea typeface="+mn-ea"/>
                <a:cs typeface="+mn-cs"/>
              </a:rPr>
              <a:t>tells trainees more about organisational charts advising:</a:t>
            </a:r>
          </a:p>
          <a:p>
            <a:pPr>
              <a:buFont typeface="Arial" pitchFamily="34" charset="0"/>
              <a:buChar char="•"/>
            </a:pPr>
            <a:r>
              <a:rPr lang="en-AU" sz="1200" kern="1200" dirty="0" smtClean="0">
                <a:solidFill>
                  <a:schemeClr val="tx1"/>
                </a:solidFill>
                <a:latin typeface="+mn-lt"/>
                <a:ea typeface="+mn-ea"/>
                <a:cs typeface="+mn-cs"/>
              </a:rPr>
              <a:t> Most establishments have a ‘top down’ organisational chart with senior management at the top of the chart and lower-level managers, supervisors and other employees shown below them. This is the traditional approach to creating organisational charts.</a:t>
            </a:r>
            <a:r>
              <a:rPr lang="en-AU" sz="1200" kern="1200" baseline="0" dirty="0" smtClean="0">
                <a:solidFill>
                  <a:schemeClr val="tx1"/>
                </a:solidFill>
                <a:latin typeface="+mn-lt"/>
                <a:ea typeface="+mn-ea"/>
                <a:cs typeface="+mn-cs"/>
              </a:rPr>
              <a:t> It is</a:t>
            </a:r>
            <a:r>
              <a:rPr lang="en-AU" sz="1200" kern="1200" dirty="0" smtClean="0">
                <a:solidFill>
                  <a:schemeClr val="tx1"/>
                </a:solidFill>
                <a:latin typeface="+mn-lt"/>
                <a:ea typeface="+mn-ea"/>
                <a:cs typeface="+mn-cs"/>
              </a:rPr>
              <a:t> arguably the most common</a:t>
            </a:r>
          </a:p>
          <a:p>
            <a:pPr>
              <a:buFont typeface="Arial" pitchFamily="34" charset="0"/>
              <a:buChar char="•"/>
            </a:pPr>
            <a:r>
              <a:rPr lang="en-AU" sz="1200" kern="1200" dirty="0" smtClean="0">
                <a:solidFill>
                  <a:schemeClr val="tx1"/>
                </a:solidFill>
                <a:latin typeface="+mn-lt"/>
                <a:ea typeface="+mn-ea"/>
                <a:cs typeface="+mn-cs"/>
              </a:rPr>
              <a:t> More modern thinking prefers the organisational chart to be a more ‘equitable’ in nature and features senior management on the left-hand side of the chart with lower-level managers, supervisors and other employees shown fanning out to the right-hand side. This indicates a less hierarchical approach to the business and intends to demonstrate the team-orientation to the operation of the business</a:t>
            </a:r>
          </a:p>
          <a:p>
            <a:pPr>
              <a:buFont typeface="Arial" pitchFamily="34" charset="0"/>
              <a:buChar char="•"/>
            </a:pPr>
            <a:r>
              <a:rPr lang="en-AU" sz="1200" kern="1200" dirty="0" smtClean="0">
                <a:solidFill>
                  <a:schemeClr val="tx1"/>
                </a:solidFill>
                <a:latin typeface="+mn-lt"/>
                <a:ea typeface="+mn-ea"/>
                <a:cs typeface="+mn-cs"/>
              </a:rPr>
              <a:t> Some business prepare an inverted organisational chart with senior management at the bottom of the chart and a pyramid of lower-level managers, supervisors and other employees shown rising up from them and showing ‘Customers’ at the top This is intended to indicate that it is the staff who are the keys to the organisation and that management exists to support their endeavours – as opposed to traditional</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organisational charts</a:t>
            </a:r>
          </a:p>
          <a:p>
            <a:pPr>
              <a:buFont typeface="Arial" pitchFamily="34" charset="0"/>
              <a:buNone/>
            </a:pPr>
            <a:endParaRPr lang="en-US" dirty="0" smtClean="0"/>
          </a:p>
          <a:p>
            <a:pPr>
              <a:buFont typeface="Arial" pitchFamily="34" charset="0"/>
              <a:buNone/>
            </a:pPr>
            <a:r>
              <a:rPr lang="en-US" b="1" dirty="0" smtClean="0"/>
              <a:t>Class Activity – Handouts </a:t>
            </a:r>
          </a:p>
          <a:p>
            <a:pPr>
              <a:buFont typeface="Arial" pitchFamily="34" charset="0"/>
              <a:buNone/>
            </a:pPr>
            <a:r>
              <a:rPr lang="en-US" b="0" dirty="0" smtClean="0"/>
              <a:t>Trainer obtains a range of different organisational charts and different types of organisational charts and:</a:t>
            </a:r>
          </a:p>
          <a:p>
            <a:pPr>
              <a:buFont typeface="Arial" pitchFamily="34" charset="0"/>
              <a:buChar char="•"/>
            </a:pPr>
            <a:r>
              <a:rPr lang="en-US" b="0" dirty="0" smtClean="0"/>
              <a:t> Distributes same to trainees</a:t>
            </a:r>
          </a:p>
          <a:p>
            <a:pPr>
              <a:buFont typeface="Arial" pitchFamily="34" charset="0"/>
              <a:buChar char="•"/>
            </a:pPr>
            <a:r>
              <a:rPr lang="en-US" b="0" dirty="0" smtClean="0"/>
              <a:t> Discusses same with the reference to:</a:t>
            </a:r>
          </a:p>
          <a:p>
            <a:pPr lvl="1">
              <a:buFont typeface="Arial" pitchFamily="34" charset="0"/>
              <a:buChar char="•"/>
            </a:pPr>
            <a:r>
              <a:rPr lang="en-US" b="0" dirty="0" smtClean="0"/>
              <a:t> Positions identified</a:t>
            </a:r>
          </a:p>
          <a:p>
            <a:pPr lvl="1">
              <a:buFont typeface="Arial" pitchFamily="34" charset="0"/>
              <a:buChar char="•"/>
            </a:pPr>
            <a:r>
              <a:rPr lang="en-US" b="0" dirty="0" smtClean="0"/>
              <a:t> Relationships between positions</a:t>
            </a:r>
          </a:p>
          <a:p>
            <a:pPr lvl="1">
              <a:buFont typeface="Arial" pitchFamily="34" charset="0"/>
              <a:buChar char="•"/>
            </a:pPr>
            <a:r>
              <a:rPr lang="en-US" b="0" dirty="0" smtClean="0"/>
              <a:t> Terminology used</a:t>
            </a:r>
          </a:p>
          <a:p>
            <a:pPr lvl="1">
              <a:buFont typeface="Arial" pitchFamily="34" charset="0"/>
              <a:buChar char="•"/>
            </a:pPr>
            <a:r>
              <a:rPr lang="en-US" b="0" dirty="0" smtClean="0"/>
              <a:t> Number of positions identified</a:t>
            </a:r>
          </a:p>
          <a:p>
            <a:pPr lvl="1">
              <a:buFont typeface="Arial" pitchFamily="34" charset="0"/>
              <a:buChar char="•"/>
            </a:pPr>
            <a:r>
              <a:rPr lang="en-US" b="0" dirty="0" smtClean="0"/>
              <a:t> Lines of authority and communication shown. </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a:t>
            </a:r>
            <a:r>
              <a:rPr lang="en-US" baseline="0" dirty="0" smtClean="0"/>
              <a:t> </a:t>
            </a:r>
            <a:r>
              <a:rPr lang="en-AU" sz="1200" kern="1200" dirty="0" smtClean="0">
                <a:solidFill>
                  <a:schemeClr val="tx1"/>
                </a:solidFill>
                <a:latin typeface="+mn-lt"/>
                <a:ea typeface="+mn-ea"/>
                <a:cs typeface="+mn-cs"/>
              </a:rPr>
              <a:t>organisational charts can be imperfect because:</a:t>
            </a:r>
          </a:p>
          <a:p>
            <a:pPr>
              <a:buFont typeface="Arial" pitchFamily="34" charset="0"/>
              <a:buChar char="•"/>
            </a:pPr>
            <a:r>
              <a:rPr lang="en-AU" sz="1200" kern="1200" dirty="0" smtClean="0">
                <a:solidFill>
                  <a:schemeClr val="tx1"/>
                </a:solidFill>
                <a:latin typeface="+mn-lt"/>
                <a:ea typeface="+mn-ea"/>
                <a:cs typeface="+mn-cs"/>
              </a:rPr>
              <a:t> Businesses often change their workforce structure but forget to update their organisational chart to reflect these changes</a:t>
            </a:r>
            <a:r>
              <a:rPr lang="en-AU" sz="1200" kern="1200" baseline="0" dirty="0" smtClean="0">
                <a:solidFill>
                  <a:schemeClr val="tx1"/>
                </a:solidFill>
                <a:latin typeface="+mn-lt"/>
                <a:ea typeface="+mn-ea"/>
                <a:cs typeface="+mn-cs"/>
              </a:rPr>
              <a:t> meaning</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 It is often out-of-date</a:t>
            </a:r>
          </a:p>
          <a:p>
            <a:pPr lvl="1">
              <a:buFont typeface="Arial" pitchFamily="34" charset="0"/>
              <a:buChar char="•"/>
            </a:pPr>
            <a:r>
              <a:rPr lang="en-AU" sz="1200" kern="1200" dirty="0" smtClean="0">
                <a:solidFill>
                  <a:schemeClr val="tx1"/>
                </a:solidFill>
                <a:latin typeface="+mn-lt"/>
                <a:ea typeface="+mn-ea"/>
                <a:cs typeface="+mn-cs"/>
              </a:rPr>
              <a:t> People have little faith in something that is partially quite obviously wrong</a:t>
            </a:r>
          </a:p>
          <a:p>
            <a:pPr>
              <a:buFont typeface="Arial" pitchFamily="34" charset="0"/>
              <a:buChar char="•"/>
            </a:pPr>
            <a:r>
              <a:rPr lang="en-AU" sz="1200" kern="1200" dirty="0" smtClean="0">
                <a:solidFill>
                  <a:schemeClr val="tx1"/>
                </a:solidFill>
                <a:latin typeface="+mn-lt"/>
                <a:ea typeface="+mn-ea"/>
                <a:cs typeface="+mn-cs"/>
              </a:rPr>
              <a:t> Workers do not like been depicted as being below management – where a top-down structure is used</a:t>
            </a:r>
          </a:p>
          <a:p>
            <a:pPr>
              <a:buFont typeface="Arial" pitchFamily="34" charset="0"/>
              <a:buChar char="•"/>
            </a:pPr>
            <a:r>
              <a:rPr lang="en-AU" sz="1200" kern="1200" dirty="0" smtClean="0">
                <a:solidFill>
                  <a:schemeClr val="tx1"/>
                </a:solidFill>
                <a:latin typeface="+mn-lt"/>
                <a:ea typeface="+mn-ea"/>
                <a:cs typeface="+mn-cs"/>
              </a:rPr>
              <a:t> The lines of communication indicated by the organisational chart are always compromised – by the ‘Grapevine’ (see later slide)</a:t>
            </a:r>
          </a:p>
          <a:p>
            <a:pPr>
              <a:buFont typeface="Arial" pitchFamily="34" charset="0"/>
              <a:buChar char="•"/>
            </a:pPr>
            <a:r>
              <a:rPr lang="en-AU" sz="1200" kern="1200" dirty="0" smtClean="0">
                <a:solidFill>
                  <a:schemeClr val="tx1"/>
                </a:solidFill>
                <a:latin typeface="+mn-lt"/>
                <a:ea typeface="+mn-ea"/>
                <a:cs typeface="+mn-cs"/>
              </a:rPr>
              <a:t> The lines of authority shown on the chart are not always complied with – because adhering to them would take too long to make decisions that are required immediately</a:t>
            </a:r>
          </a:p>
          <a:p>
            <a:pPr>
              <a:buFont typeface="Arial" pitchFamily="34" charset="0"/>
              <a:buChar char="•"/>
            </a:pPr>
            <a:r>
              <a:rPr lang="en-AU" sz="1200" kern="1200" dirty="0" smtClean="0">
                <a:solidFill>
                  <a:schemeClr val="tx1"/>
                </a:solidFill>
                <a:latin typeface="+mn-lt"/>
                <a:ea typeface="+mn-ea"/>
                <a:cs typeface="+mn-cs"/>
              </a:rPr>
              <a:t> No chart can ever reflect the dynamic nature and personal working relationships that exist in any workplace – the lines shown on a chart can never illustrate the level of cooperation between two positions or departments.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a:t>
            </a:r>
            <a:r>
              <a:rPr lang="en-AU" sz="1200" kern="1200" dirty="0" smtClean="0">
                <a:solidFill>
                  <a:schemeClr val="tx1"/>
                </a:solidFill>
                <a:latin typeface="+mn-lt"/>
                <a:ea typeface="+mn-ea"/>
                <a:cs typeface="+mn-cs"/>
              </a:rPr>
              <a:t>to make use of their organisational chart effectively they need to:</a:t>
            </a:r>
          </a:p>
          <a:p>
            <a:pPr>
              <a:buFont typeface="Arial" pitchFamily="34" charset="0"/>
              <a:buChar char="•"/>
            </a:pPr>
            <a:r>
              <a:rPr lang="en-AU" sz="1200" kern="1200" dirty="0" smtClean="0">
                <a:solidFill>
                  <a:schemeClr val="tx1"/>
                </a:solidFill>
                <a:latin typeface="+mn-lt"/>
                <a:ea typeface="+mn-ea"/>
                <a:cs typeface="+mn-cs"/>
              </a:rPr>
              <a:t> Know who the department heads, managers and supervisors are – these are the key players to consult with and obtain advice and input from</a:t>
            </a:r>
          </a:p>
          <a:p>
            <a:pPr>
              <a:buFont typeface="Arial" pitchFamily="34" charset="0"/>
              <a:buChar char="•"/>
            </a:pPr>
            <a:r>
              <a:rPr lang="en-AU" sz="1200" kern="1200" dirty="0" smtClean="0">
                <a:solidFill>
                  <a:schemeClr val="tx1"/>
                </a:solidFill>
                <a:latin typeface="+mn-lt"/>
                <a:ea typeface="+mn-ea"/>
                <a:cs typeface="+mn-cs"/>
              </a:rPr>
              <a:t> Know the actual positions and people they have responsibility for – so personal knowledge is embedded in the reality of the workplace and does not simply exist as a disembodied and impersonal chart </a:t>
            </a:r>
          </a:p>
          <a:p>
            <a:pPr>
              <a:buFont typeface="Arial" pitchFamily="34" charset="0"/>
              <a:buChar char="•"/>
            </a:pPr>
            <a:r>
              <a:rPr lang="en-AU" sz="1200" kern="1200" dirty="0" smtClean="0">
                <a:solidFill>
                  <a:schemeClr val="tx1"/>
                </a:solidFill>
                <a:latin typeface="+mn-lt"/>
                <a:ea typeface="+mn-ea"/>
                <a:cs typeface="+mn-cs"/>
              </a:rPr>
              <a:t> Know who they report to and who has authority over them – in case there is a need to go above them for help or approval</a:t>
            </a:r>
          </a:p>
          <a:p>
            <a:pPr>
              <a:buFont typeface="Arial" pitchFamily="34" charset="0"/>
              <a:buChar char="•"/>
            </a:pPr>
            <a:r>
              <a:rPr lang="en-AU" sz="1200" kern="1200" dirty="0" smtClean="0">
                <a:solidFill>
                  <a:schemeClr val="tx1"/>
                </a:solidFill>
                <a:latin typeface="+mn-lt"/>
                <a:ea typeface="+mn-ea"/>
                <a:cs typeface="+mn-cs"/>
              </a:rPr>
              <a:t> Know if the chart is current – an out-dated chart is confusing and can be worse then no chart at all</a:t>
            </a:r>
          </a:p>
          <a:p>
            <a:pPr>
              <a:buFont typeface="Arial" pitchFamily="34" charset="0"/>
              <a:buChar char="•"/>
            </a:pPr>
            <a:r>
              <a:rPr lang="en-AU" sz="1200" kern="1200" dirty="0" smtClean="0">
                <a:solidFill>
                  <a:schemeClr val="tx1"/>
                </a:solidFill>
                <a:latin typeface="+mn-lt"/>
                <a:ea typeface="+mn-ea"/>
                <a:cs typeface="+mn-cs"/>
              </a:rPr>
              <a:t> Obtain permission to alter the organisational chart – never make changes unless they have been approved by the owner, senior management or the Board</a:t>
            </a:r>
          </a:p>
          <a:p>
            <a:pPr>
              <a:buFont typeface="Arial" pitchFamily="34" charset="0"/>
              <a:buChar char="•"/>
            </a:pPr>
            <a:r>
              <a:rPr lang="en-AU" sz="1200" kern="1200" dirty="0" smtClean="0">
                <a:solidFill>
                  <a:schemeClr val="tx1"/>
                </a:solidFill>
                <a:latin typeface="+mn-lt"/>
                <a:ea typeface="+mn-ea"/>
                <a:cs typeface="+mn-cs"/>
              </a:rPr>
              <a:t> Strive to balance responsibilities – try not to over-load one position</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with too many responsibilities or tasks on the chart. Prepare a draft first and be prepared to revise it</a:t>
            </a:r>
          </a:p>
          <a:p>
            <a:pPr>
              <a:buFont typeface="Arial" pitchFamily="34" charset="0"/>
              <a:buChar char="•"/>
            </a:pPr>
            <a:r>
              <a:rPr lang="en-AU" sz="1200" kern="1200" dirty="0" smtClean="0">
                <a:solidFill>
                  <a:schemeClr val="tx1"/>
                </a:solidFill>
                <a:latin typeface="+mn-lt"/>
                <a:ea typeface="+mn-ea"/>
                <a:cs typeface="+mn-cs"/>
              </a:rPr>
              <a:t> Revise and update the chart whenever staff changes are made – in terms of:</a:t>
            </a:r>
          </a:p>
          <a:p>
            <a:pPr lvl="1">
              <a:buFont typeface="Arial" pitchFamily="34" charset="0"/>
              <a:buChar char="•"/>
            </a:pPr>
            <a:r>
              <a:rPr lang="en-AU" sz="1200" kern="1200" dirty="0" smtClean="0">
                <a:solidFill>
                  <a:schemeClr val="tx1"/>
                </a:solidFill>
                <a:latin typeface="+mn-lt"/>
                <a:ea typeface="+mn-ea"/>
                <a:cs typeface="+mn-cs"/>
              </a:rPr>
              <a:t> Staff numbers – where these are listed ion the organisational chart.</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should be a standard rule staff numbers are shown somewhere on the chart</a:t>
            </a:r>
          </a:p>
          <a:p>
            <a:pPr lvl="1">
              <a:buFont typeface="Arial" pitchFamily="34" charset="0"/>
              <a:buChar char="•"/>
            </a:pPr>
            <a:r>
              <a:rPr lang="en-AU" sz="1200" kern="1200" dirty="0" smtClean="0">
                <a:solidFill>
                  <a:schemeClr val="tx1"/>
                </a:solidFill>
                <a:latin typeface="+mn-lt"/>
                <a:ea typeface="+mn-ea"/>
                <a:cs typeface="+mn-cs"/>
              </a:rPr>
              <a:t> Names given to positions – existing positions can sometimes be re-titled</a:t>
            </a:r>
          </a:p>
          <a:p>
            <a:pPr lvl="1">
              <a:buFont typeface="Arial" pitchFamily="34" charset="0"/>
              <a:buChar char="•"/>
            </a:pPr>
            <a:r>
              <a:rPr lang="en-AU" sz="1200" kern="1200" dirty="0" smtClean="0">
                <a:solidFill>
                  <a:schemeClr val="tx1"/>
                </a:solidFill>
                <a:latin typeface="+mn-lt"/>
                <a:ea typeface="+mn-ea"/>
                <a:cs typeface="+mn-cs"/>
              </a:rPr>
              <a:t> New positions added to the chart</a:t>
            </a:r>
          </a:p>
          <a:p>
            <a:pPr lvl="1">
              <a:buFont typeface="Arial" pitchFamily="34" charset="0"/>
              <a:buChar char="•"/>
            </a:pPr>
            <a:r>
              <a:rPr lang="en-AU" sz="1200" kern="1200" dirty="0" smtClean="0">
                <a:solidFill>
                  <a:schemeClr val="tx1"/>
                </a:solidFill>
                <a:latin typeface="+mn-lt"/>
                <a:ea typeface="+mn-ea"/>
                <a:cs typeface="+mn-cs"/>
              </a:rPr>
              <a:t> Positions removed from the chart – including those where positions may have been combined</a:t>
            </a:r>
          </a:p>
          <a:p>
            <a:pPr>
              <a:buFont typeface="Arial" pitchFamily="34" charset="0"/>
              <a:buChar char="•"/>
            </a:pPr>
            <a:r>
              <a:rPr lang="en-AU" sz="1200" kern="1200" dirty="0" smtClean="0">
                <a:solidFill>
                  <a:schemeClr val="tx1"/>
                </a:solidFill>
                <a:latin typeface="+mn-lt"/>
                <a:ea typeface="+mn-ea"/>
                <a:cs typeface="+mn-cs"/>
              </a:rPr>
              <a:t> Making sure revised charts are:</a:t>
            </a:r>
          </a:p>
          <a:p>
            <a:pPr lvl="1">
              <a:buFont typeface="Arial" pitchFamily="34" charset="0"/>
              <a:buChar char="•"/>
            </a:pPr>
            <a:r>
              <a:rPr lang="en-AU" sz="1200" kern="1200" dirty="0" smtClean="0">
                <a:solidFill>
                  <a:schemeClr val="tx1"/>
                </a:solidFill>
                <a:latin typeface="+mn-lt"/>
                <a:ea typeface="+mn-ea"/>
                <a:cs typeface="+mn-cs"/>
              </a:rPr>
              <a:t> Included in Staff Handbooks</a:t>
            </a:r>
          </a:p>
          <a:p>
            <a:pPr lvl="1">
              <a:buFont typeface="Arial" pitchFamily="34" charset="0"/>
              <a:buChar char="•"/>
            </a:pPr>
            <a:r>
              <a:rPr lang="en-AU" sz="1200" kern="1200" dirty="0" smtClean="0">
                <a:solidFill>
                  <a:schemeClr val="tx1"/>
                </a:solidFill>
                <a:latin typeface="+mn-lt"/>
                <a:ea typeface="+mn-ea"/>
                <a:cs typeface="+mn-cs"/>
              </a:rPr>
              <a:t> Posted in required locations throughout the business</a:t>
            </a:r>
          </a:p>
          <a:p>
            <a:pPr lvl="1">
              <a:buFont typeface="Arial" pitchFamily="34" charset="0"/>
              <a:buChar char="•"/>
            </a:pPr>
            <a:r>
              <a:rPr lang="en-AU" sz="1200" kern="1200" dirty="0" smtClean="0">
                <a:solidFill>
                  <a:schemeClr val="tx1"/>
                </a:solidFill>
                <a:latin typeface="+mn-lt"/>
                <a:ea typeface="+mn-ea"/>
                <a:cs typeface="+mn-cs"/>
              </a:rPr>
              <a:t> Provided to management.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advice to trainees about ‘the grapevine’.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grapevine is the term used to refer to the informal lines of communication within a business.</a:t>
            </a:r>
            <a:r>
              <a:rPr lang="en-AU" sz="1200" kern="1200" baseline="0" dirty="0" smtClean="0">
                <a:solidFill>
                  <a:schemeClr val="tx1"/>
                </a:solidFill>
                <a:latin typeface="+mn-lt"/>
                <a:ea typeface="+mn-ea"/>
                <a:cs typeface="+mn-cs"/>
              </a:rPr>
              <a:t> It </a:t>
            </a:r>
            <a:r>
              <a:rPr lang="en-AU" sz="1200" kern="1200" dirty="0" smtClean="0">
                <a:solidFill>
                  <a:schemeClr val="tx1"/>
                </a:solidFill>
                <a:latin typeface="+mn-lt"/>
                <a:ea typeface="+mn-ea"/>
                <a:cs typeface="+mn-cs"/>
              </a:rPr>
              <a:t>is an effective informal network of communication that many believe is essential for success of any organisation.  </a:t>
            </a:r>
          </a:p>
          <a:p>
            <a:pPr>
              <a:buFont typeface="Arial" pitchFamily="34" charset="0"/>
              <a:buChar char="•"/>
            </a:pPr>
            <a:r>
              <a:rPr lang="en-AU" sz="1200" kern="1200" dirty="0" smtClean="0">
                <a:solidFill>
                  <a:schemeClr val="tx1"/>
                </a:solidFill>
                <a:latin typeface="+mn-lt"/>
                <a:ea typeface="+mn-ea"/>
                <a:cs typeface="+mn-cs"/>
              </a:rPr>
              <a:t> The grapevine operates side-by-side with the formal lines of communication and allows staff to communicate informally with each other.  It speeds up many essential communications and ensures no gaps exist in the formal structure through which excellent customer service, vital internal information, or communication may fall. Specific job descriptions may not show anyone or any position is specifically responsible for (for example) opening doors for customers  but the grapevine will see this as necessary and ensure it gets done – all without management input.</a:t>
            </a:r>
          </a:p>
          <a:p>
            <a:pPr lvl="1">
              <a:buFont typeface="Arial" pitchFamily="34" charset="0"/>
              <a:buChar char="•"/>
            </a:pPr>
            <a:r>
              <a:rPr lang="en-AU" sz="1200" kern="1200" dirty="0" smtClean="0">
                <a:solidFill>
                  <a:schemeClr val="tx1"/>
                </a:solidFill>
                <a:latin typeface="+mn-lt"/>
                <a:ea typeface="+mn-ea"/>
                <a:cs typeface="+mn-cs"/>
              </a:rPr>
              <a:t> As another example, there may be an emergency in the establishment. It would take too long for management to communicate with staff through the official lines of communication as shown on the organisational chart but the grapevine will pick up on the crisis, and deal with it instantaneously.</a:t>
            </a:r>
          </a:p>
          <a:p>
            <a:pPr>
              <a:buFont typeface="Arial" pitchFamily="34" charset="0"/>
              <a:buChar char="•"/>
            </a:pPr>
            <a:r>
              <a:rPr lang="en-AU" sz="1200" kern="1200" dirty="0" smtClean="0">
                <a:solidFill>
                  <a:schemeClr val="tx1"/>
                </a:solidFill>
                <a:latin typeface="+mn-lt"/>
                <a:ea typeface="+mn-ea"/>
                <a:cs typeface="+mn-cs"/>
              </a:rPr>
              <a:t> An effective manager accepts the presence of the grapevine and learns to use it their advantage by tapping into it, using it and supplying it with information.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to trainees </a:t>
            </a:r>
            <a:r>
              <a:rPr lang="en-AU" sz="1200" kern="1200" dirty="0" smtClean="0">
                <a:solidFill>
                  <a:schemeClr val="tx1"/>
                </a:solidFill>
                <a:latin typeface="+mn-lt"/>
                <a:ea typeface="+mn-ea"/>
                <a:cs typeface="+mn-cs"/>
              </a:rPr>
              <a:t>a standard requirement to undertake a job analysis for every position identified on the organisational chart.</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job analysis is the gathering all the relevant facts, details and information about a job and it is done to:</a:t>
            </a:r>
          </a:p>
          <a:p>
            <a:pPr>
              <a:buFont typeface="Arial" pitchFamily="34" charset="0"/>
              <a:buChar char="•"/>
            </a:pPr>
            <a:r>
              <a:rPr lang="en-AU" sz="1200" kern="1200" dirty="0" smtClean="0">
                <a:solidFill>
                  <a:schemeClr val="tx1"/>
                </a:solidFill>
                <a:latin typeface="+mn-lt"/>
                <a:ea typeface="+mn-ea"/>
                <a:cs typeface="+mn-cs"/>
              </a:rPr>
              <a:t> Identify all the tasks and duties – involved in carrying out the job in question </a:t>
            </a:r>
          </a:p>
          <a:p>
            <a:pPr>
              <a:buFont typeface="Arial" pitchFamily="34" charset="0"/>
              <a:buChar char="•"/>
            </a:pPr>
            <a:r>
              <a:rPr lang="en-AU" sz="1200" kern="1200" dirty="0" smtClean="0">
                <a:solidFill>
                  <a:schemeClr val="tx1"/>
                </a:solidFill>
                <a:latin typeface="+mn-lt"/>
                <a:ea typeface="+mn-ea"/>
                <a:cs typeface="+mn-cs"/>
              </a:rPr>
              <a:t> Determine and describe how all those tasks are linked together – and executed </a:t>
            </a:r>
          </a:p>
          <a:p>
            <a:pPr>
              <a:buFont typeface="Arial" pitchFamily="34" charset="0"/>
              <a:buChar char="•"/>
            </a:pPr>
            <a:r>
              <a:rPr lang="en-AU" sz="1200" kern="1200" dirty="0" smtClean="0">
                <a:solidFill>
                  <a:schemeClr val="tx1"/>
                </a:solidFill>
                <a:latin typeface="+mn-lt"/>
                <a:ea typeface="+mn-ea"/>
                <a:cs typeface="+mn-cs"/>
              </a:rPr>
              <a:t> Identify the precise nature of the skills, qualifications and experience – needed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to do the job.</a:t>
            </a:r>
          </a:p>
          <a:p>
            <a:pPr>
              <a:buFont typeface="Arial" pitchFamily="34" charset="0"/>
              <a:buChar char="•"/>
            </a:pPr>
            <a:r>
              <a:rPr lang="en-AU" sz="1200" kern="1200" dirty="0" smtClean="0">
                <a:solidFill>
                  <a:schemeClr val="tx1"/>
                </a:solidFill>
                <a:latin typeface="+mn-lt"/>
                <a:ea typeface="+mn-ea"/>
                <a:cs typeface="+mn-cs"/>
              </a:rPr>
              <a:t> Identify peripheral – but nonetheless vital issues – such as: </a:t>
            </a:r>
          </a:p>
          <a:p>
            <a:pPr lvl="1">
              <a:buFont typeface="Arial" pitchFamily="34" charset="0"/>
              <a:buChar char="•"/>
            </a:pPr>
            <a:r>
              <a:rPr lang="en-AU" sz="1200" kern="1200" dirty="0" smtClean="0">
                <a:solidFill>
                  <a:schemeClr val="tx1"/>
                </a:solidFill>
                <a:latin typeface="+mn-lt"/>
                <a:ea typeface="+mn-ea"/>
                <a:cs typeface="+mn-cs"/>
              </a:rPr>
              <a:t> Authority limits of the job – scope of authority</a:t>
            </a:r>
          </a:p>
          <a:p>
            <a:pPr lvl="1">
              <a:buFont typeface="Arial" pitchFamily="34" charset="0"/>
              <a:buChar char="•"/>
            </a:pPr>
            <a:r>
              <a:rPr lang="en-AU" sz="1200" kern="1200" dirty="0" smtClean="0">
                <a:solidFill>
                  <a:schemeClr val="tx1"/>
                </a:solidFill>
                <a:latin typeface="+mn-lt"/>
                <a:ea typeface="+mn-ea"/>
                <a:cs typeface="+mn-cs"/>
              </a:rPr>
              <a:t> Operational relationships between the job and other departments</a:t>
            </a:r>
          </a:p>
          <a:p>
            <a:pPr lvl="1">
              <a:buFont typeface="Arial" pitchFamily="34" charset="0"/>
              <a:buChar char="•"/>
            </a:pPr>
            <a:r>
              <a:rPr lang="en-AU" sz="1200" kern="1200" dirty="0" smtClean="0">
                <a:solidFill>
                  <a:schemeClr val="tx1"/>
                </a:solidFill>
                <a:latin typeface="+mn-lt"/>
                <a:ea typeface="+mn-ea"/>
                <a:cs typeface="+mn-cs"/>
              </a:rPr>
              <a:t> Positional responsibilities accompanying the job.</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why they need to undertake a job analysis for every position highlighting:</a:t>
            </a:r>
          </a:p>
          <a:p>
            <a:pPr>
              <a:buFont typeface="Arial" pitchFamily="34" charset="0"/>
              <a:buChar char="•"/>
            </a:pPr>
            <a:r>
              <a:rPr lang="en-US" dirty="0" smtClean="0"/>
              <a:t> Knowledge about the requirements of a job is critical to selecting the right person for the job – correct selection can never occur unless there is comprehensive</a:t>
            </a:r>
            <a:r>
              <a:rPr lang="en-US" baseline="0" dirty="0" smtClean="0"/>
              <a:t> and current knowledge about the job to be done. The job forms the basis of Key Selection Criteria for the job, which in turn forms the basis for recruitment advertising</a:t>
            </a:r>
          </a:p>
          <a:p>
            <a:pPr>
              <a:buFont typeface="Arial" pitchFamily="34" charset="0"/>
              <a:buChar char="•"/>
            </a:pPr>
            <a:r>
              <a:rPr lang="en-US" baseline="0" dirty="0" smtClean="0"/>
              <a:t> The results of a job analysis forms the basis for creating a Job Statement –a Job Description and Job Specification combined.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encourages trainees to ensure the </a:t>
            </a:r>
            <a:r>
              <a:rPr lang="en-AU" sz="1200" kern="1200" dirty="0" smtClean="0">
                <a:solidFill>
                  <a:schemeClr val="tx1"/>
                </a:solidFill>
                <a:latin typeface="+mn-lt"/>
                <a:ea typeface="+mn-ea"/>
                <a:cs typeface="+mn-cs"/>
              </a:rPr>
              <a:t>end result of any job analysis they undertake should give them comprehensive and current answers to the following:</a:t>
            </a:r>
          </a:p>
          <a:p>
            <a:pPr>
              <a:buFont typeface="Arial" pitchFamily="34" charset="0"/>
              <a:buChar char="•"/>
            </a:pPr>
            <a:r>
              <a:rPr lang="en-AU" sz="1200" kern="1200" dirty="0" smtClean="0">
                <a:solidFill>
                  <a:schemeClr val="tx1"/>
                </a:solidFill>
                <a:latin typeface="+mn-lt"/>
                <a:ea typeface="+mn-ea"/>
                <a:cs typeface="+mn-cs"/>
              </a:rPr>
              <a:t> What work does the position do? What are tasks, responsibilities and duties of the position?</a:t>
            </a:r>
          </a:p>
          <a:p>
            <a:pPr>
              <a:buFont typeface="Arial" pitchFamily="34" charset="0"/>
              <a:buChar char="•"/>
            </a:pPr>
            <a:r>
              <a:rPr lang="en-AU" sz="1200" kern="1200" dirty="0" smtClean="0">
                <a:solidFill>
                  <a:schemeClr val="tx1"/>
                </a:solidFill>
                <a:latin typeface="+mn-lt"/>
                <a:ea typeface="+mn-ea"/>
                <a:cs typeface="+mn-cs"/>
              </a:rPr>
              <a:t> When is the work done? Or when does it need to be done?</a:t>
            </a:r>
          </a:p>
          <a:p>
            <a:pPr>
              <a:buFont typeface="Arial" pitchFamily="34" charset="0"/>
              <a:buChar char="•"/>
            </a:pPr>
            <a:r>
              <a:rPr lang="en-AU" sz="1200" kern="1200" dirty="0" smtClean="0">
                <a:solidFill>
                  <a:schemeClr val="tx1"/>
                </a:solidFill>
                <a:latin typeface="+mn-lt"/>
                <a:ea typeface="+mn-ea"/>
                <a:cs typeface="+mn-cs"/>
              </a:rPr>
              <a:t> Where in the enterprise is the work undertaken?</a:t>
            </a:r>
          </a:p>
          <a:p>
            <a:pPr>
              <a:buFont typeface="Arial" pitchFamily="34" charset="0"/>
              <a:buChar char="•"/>
            </a:pPr>
            <a:r>
              <a:rPr lang="en-AU" sz="1200" kern="1200" dirty="0" smtClean="0">
                <a:solidFill>
                  <a:schemeClr val="tx1"/>
                </a:solidFill>
                <a:latin typeface="+mn-lt"/>
                <a:ea typeface="+mn-ea"/>
                <a:cs typeface="+mn-cs"/>
              </a:rPr>
              <a:t> What are the range of requirements a worker needs in order to do the job as required?</a:t>
            </a:r>
          </a:p>
          <a:p>
            <a:pPr>
              <a:buFont typeface="Arial" pitchFamily="34" charset="0"/>
              <a:buChar char="•"/>
            </a:pPr>
            <a:r>
              <a:rPr lang="en-AU" sz="1200" kern="1200" dirty="0" smtClean="0">
                <a:solidFill>
                  <a:schemeClr val="tx1"/>
                </a:solidFill>
                <a:latin typeface="+mn-lt"/>
                <a:ea typeface="+mn-ea"/>
                <a:cs typeface="+mn-cs"/>
              </a:rPr>
              <a:t> What are the working conditions relating to the position?</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obtains</a:t>
            </a:r>
            <a:r>
              <a:rPr lang="en-US" b="0" baseline="0" dirty="0" smtClean="0"/>
              <a:t> a range of job analysis documents and:</a:t>
            </a:r>
          </a:p>
          <a:p>
            <a:pPr>
              <a:buFont typeface="Arial" pitchFamily="34" charset="0"/>
              <a:buChar char="•"/>
            </a:pPr>
            <a:r>
              <a:rPr lang="en-US" b="0" baseline="0" dirty="0" smtClean="0"/>
              <a:t> Distributes same to trainees</a:t>
            </a:r>
          </a:p>
          <a:p>
            <a:pPr>
              <a:buFont typeface="Arial" pitchFamily="34" charset="0"/>
              <a:buChar char="•"/>
            </a:pPr>
            <a:r>
              <a:rPr lang="en-US" b="0" baseline="0" dirty="0" smtClean="0"/>
              <a:t> Discusses them</a:t>
            </a:r>
          </a:p>
          <a:p>
            <a:pPr>
              <a:buFont typeface="Arial" pitchFamily="34" charset="0"/>
              <a:buChar char="•"/>
            </a:pPr>
            <a:r>
              <a:rPr lang="en-US" b="0" baseline="0" dirty="0" smtClean="0"/>
              <a:t> Highlights points of similarity and difference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teaches trainees </a:t>
            </a:r>
            <a:r>
              <a:rPr lang="en-AU" sz="1200" kern="1200" dirty="0" smtClean="0">
                <a:solidFill>
                  <a:schemeClr val="tx1"/>
                </a:solidFill>
                <a:latin typeface="+mn-lt"/>
                <a:ea typeface="+mn-ea"/>
                <a:cs typeface="+mn-cs"/>
              </a:rPr>
              <a:t>there are several ways to produce an effective and comprehensive job analysis.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Each option is easy to apply and does not require special knowledge or skills but there is a need for a genuine desire to obtain the necessary information.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presents the following techniques for gathering relevant information stressing a combination of techniques always produces the best result:</a:t>
            </a:r>
          </a:p>
          <a:p>
            <a:r>
              <a:rPr lang="en-AU" sz="1200" b="1" kern="1200" dirty="0" smtClean="0">
                <a:solidFill>
                  <a:schemeClr val="tx1"/>
                </a:solidFill>
                <a:latin typeface="+mn-lt"/>
                <a:ea typeface="+mn-ea"/>
                <a:cs typeface="+mn-cs"/>
              </a:rPr>
              <a:t>Personal observation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This involves watching the job as it happens and taking notes to record the duties and tasks involved</a:t>
            </a:r>
          </a:p>
          <a:p>
            <a:pPr>
              <a:buFont typeface="Arial" pitchFamily="34" charset="0"/>
              <a:buChar char="•"/>
            </a:pPr>
            <a:r>
              <a:rPr lang="en-AU" sz="1200" kern="1200" dirty="0" smtClean="0">
                <a:solidFill>
                  <a:schemeClr val="tx1"/>
                </a:solidFill>
                <a:latin typeface="+mn-lt"/>
                <a:ea typeface="+mn-ea"/>
                <a:cs typeface="+mn-cs"/>
              </a:rPr>
              <a:t> It sounds a very basic thing to do, but it is surprising how revealing this exercise can be because the nature jobs tend to change over time</a:t>
            </a:r>
          </a:p>
          <a:p>
            <a:r>
              <a:rPr lang="en-AU" sz="1200" b="1" kern="1200" dirty="0" smtClean="0">
                <a:solidFill>
                  <a:schemeClr val="tx1"/>
                </a:solidFill>
                <a:latin typeface="+mn-lt"/>
                <a:ea typeface="+mn-ea"/>
                <a:cs typeface="+mn-cs"/>
              </a:rPr>
              <a:t>Encouraging feedback from staff</a:t>
            </a:r>
            <a:r>
              <a:rPr lang="en-AU" sz="1200" kern="1200" dirty="0" smtClean="0">
                <a:solidFill>
                  <a:schemeClr val="tx1"/>
                </a:solidFill>
                <a:latin typeface="+mn-lt"/>
                <a:ea typeface="+mn-ea"/>
                <a:cs typeface="+mn-cs"/>
              </a:rPr>
              <a:t> </a:t>
            </a:r>
          </a:p>
          <a:p>
            <a:pPr>
              <a:buFont typeface="Arial" pitchFamily="34" charset="0"/>
              <a:buChar char="•"/>
            </a:pPr>
            <a:r>
              <a:rPr lang="en-AU" sz="1200" kern="1200" dirty="0" smtClean="0">
                <a:solidFill>
                  <a:schemeClr val="tx1"/>
                </a:solidFill>
                <a:latin typeface="+mn-lt"/>
                <a:ea typeface="+mn-ea"/>
                <a:cs typeface="+mn-cs"/>
              </a:rPr>
              <a:t> This requires talking to staff to get their inside views of the task(s) involved. Questions should include:</a:t>
            </a:r>
          </a:p>
          <a:p>
            <a:pPr lvl="1">
              <a:buFont typeface="Arial" pitchFamily="34" charset="0"/>
              <a:buChar char="•"/>
            </a:pPr>
            <a:r>
              <a:rPr lang="en-AU" sz="1200" kern="1200" dirty="0" smtClean="0">
                <a:solidFill>
                  <a:schemeClr val="tx1"/>
                </a:solidFill>
                <a:latin typeface="+mn-lt"/>
                <a:ea typeface="+mn-ea"/>
                <a:cs typeface="+mn-cs"/>
              </a:rPr>
              <a:t> How has the job changed?  </a:t>
            </a:r>
          </a:p>
          <a:p>
            <a:pPr lvl="1">
              <a:buFont typeface="Arial" pitchFamily="34" charset="0"/>
              <a:buChar char="•"/>
            </a:pPr>
            <a:r>
              <a:rPr lang="en-AU" sz="1200" kern="1200" dirty="0" smtClean="0">
                <a:solidFill>
                  <a:schemeClr val="tx1"/>
                </a:solidFill>
                <a:latin typeface="+mn-lt"/>
                <a:ea typeface="+mn-ea"/>
                <a:cs typeface="+mn-cs"/>
              </a:rPr>
              <a:t> What does the job entail now?</a:t>
            </a:r>
          </a:p>
          <a:p>
            <a:pPr lvl="1">
              <a:buFont typeface="Arial" pitchFamily="34" charset="0"/>
              <a:buChar char="•"/>
            </a:pPr>
            <a:r>
              <a:rPr lang="en-AU" sz="1200" kern="1200" dirty="0" smtClean="0">
                <a:solidFill>
                  <a:schemeClr val="tx1"/>
                </a:solidFill>
                <a:latin typeface="+mn-lt"/>
                <a:ea typeface="+mn-ea"/>
                <a:cs typeface="+mn-cs"/>
              </a:rPr>
              <a:t> What tasks have to be completed? </a:t>
            </a:r>
          </a:p>
          <a:p>
            <a:pPr lvl="1">
              <a:buFont typeface="Arial" pitchFamily="34" charset="0"/>
              <a:buChar char="•"/>
            </a:pPr>
            <a:r>
              <a:rPr lang="en-AU" sz="1200" kern="1200" dirty="0" smtClean="0">
                <a:solidFill>
                  <a:schemeClr val="tx1"/>
                </a:solidFill>
                <a:latin typeface="+mn-lt"/>
                <a:ea typeface="+mn-ea"/>
                <a:cs typeface="+mn-cs"/>
              </a:rPr>
              <a:t> How is time spent in the job today compared to previously?  </a:t>
            </a:r>
          </a:p>
          <a:p>
            <a:pPr lvl="1">
              <a:buFont typeface="Arial" pitchFamily="34" charset="0"/>
              <a:buChar char="•"/>
            </a:pPr>
            <a:r>
              <a:rPr lang="en-AU" sz="1200" kern="1200" dirty="0" smtClean="0">
                <a:solidFill>
                  <a:schemeClr val="tx1"/>
                </a:solidFill>
                <a:latin typeface="+mn-lt"/>
                <a:ea typeface="+mn-ea"/>
                <a:cs typeface="+mn-cs"/>
              </a:rPr>
              <a:t> What skills and knowledge are needed to do the job well? </a:t>
            </a:r>
          </a:p>
          <a:p>
            <a:pPr>
              <a:buFont typeface="Arial" pitchFamily="34" charset="0"/>
              <a:buChar char="•"/>
            </a:pPr>
            <a:r>
              <a:rPr lang="en-AU" sz="1200" kern="1200" dirty="0" smtClean="0">
                <a:solidFill>
                  <a:schemeClr val="tx1"/>
                </a:solidFill>
                <a:latin typeface="+mn-lt"/>
                <a:ea typeface="+mn-ea"/>
                <a:cs typeface="+mn-cs"/>
              </a:rPr>
              <a:t> These questions may be asked verbally or answered may be captured using a question sheet which the staff are asked to reply to.</a:t>
            </a:r>
          </a:p>
          <a:p>
            <a:r>
              <a:rPr lang="en-AU" sz="1200" b="1" kern="1200" dirty="0" smtClean="0">
                <a:solidFill>
                  <a:schemeClr val="tx1"/>
                </a:solidFill>
                <a:latin typeface="+mn-lt"/>
                <a:ea typeface="+mn-ea"/>
                <a:cs typeface="+mn-cs"/>
              </a:rPr>
              <a:t>Talking to supervisors and others within the management network</a:t>
            </a:r>
            <a:r>
              <a:rPr lang="en-AU" sz="1200" kern="1200" dirty="0" smtClean="0">
                <a:solidFill>
                  <a:schemeClr val="tx1"/>
                </a:solidFill>
                <a:latin typeface="+mn-lt"/>
                <a:ea typeface="+mn-ea"/>
                <a:cs typeface="+mn-cs"/>
              </a:rPr>
              <a:t> </a:t>
            </a:r>
          </a:p>
          <a:p>
            <a:pPr>
              <a:buFont typeface="Arial" pitchFamily="34" charset="0"/>
              <a:buChar char="•"/>
            </a:pPr>
            <a:r>
              <a:rPr lang="en-AU" sz="1200" kern="1200" dirty="0" smtClean="0">
                <a:solidFill>
                  <a:schemeClr val="tx1"/>
                </a:solidFill>
                <a:latin typeface="+mn-lt"/>
                <a:ea typeface="+mn-ea"/>
                <a:cs typeface="+mn-cs"/>
              </a:rPr>
              <a:t> This entails seeking information from management level personnel about what happens in the department. Questions should address:</a:t>
            </a:r>
          </a:p>
          <a:p>
            <a:pPr lvl="1">
              <a:buFont typeface="Arial" pitchFamily="34" charset="0"/>
              <a:buChar char="•"/>
            </a:pPr>
            <a:r>
              <a:rPr lang="en-AU" sz="1200" kern="1200" dirty="0" smtClean="0">
                <a:solidFill>
                  <a:schemeClr val="tx1"/>
                </a:solidFill>
                <a:latin typeface="+mn-lt"/>
                <a:ea typeface="+mn-ea"/>
                <a:cs typeface="+mn-cs"/>
              </a:rPr>
              <a:t> What do they need from the department in terms of service and products?</a:t>
            </a:r>
          </a:p>
          <a:p>
            <a:pPr lvl="1">
              <a:buFont typeface="Arial" pitchFamily="34" charset="0"/>
              <a:buChar char="•"/>
            </a:pPr>
            <a:r>
              <a:rPr lang="en-AU" sz="1200" kern="1200" dirty="0" smtClean="0">
                <a:solidFill>
                  <a:schemeClr val="tx1"/>
                </a:solidFill>
                <a:latin typeface="+mn-lt"/>
                <a:ea typeface="+mn-ea"/>
                <a:cs typeface="+mn-cs"/>
              </a:rPr>
              <a:t> How do they depend on a department and what it produces in order for them to be able to do their job properly?</a:t>
            </a:r>
          </a:p>
          <a:p>
            <a:pPr lvl="1">
              <a:buFont typeface="Arial" pitchFamily="34" charset="0"/>
              <a:buChar char="•"/>
            </a:pPr>
            <a:r>
              <a:rPr lang="en-AU" sz="1200" kern="1200" dirty="0" smtClean="0">
                <a:solidFill>
                  <a:schemeClr val="tx1"/>
                </a:solidFill>
                <a:latin typeface="+mn-lt"/>
                <a:ea typeface="+mn-ea"/>
                <a:cs typeface="+mn-cs"/>
              </a:rPr>
              <a:t> What needs changing in order for there to be an improvement?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to trainees techniques for undertaking an effective and current job</a:t>
            </a:r>
            <a:r>
              <a:rPr lang="en-US" baseline="0" dirty="0" smtClean="0"/>
              <a:t> analysis:</a:t>
            </a:r>
          </a:p>
          <a:p>
            <a:r>
              <a:rPr lang="en-AU" sz="1200" b="1" kern="1200" dirty="0" smtClean="0">
                <a:solidFill>
                  <a:schemeClr val="tx1"/>
                </a:solidFill>
                <a:latin typeface="+mn-lt"/>
                <a:ea typeface="+mn-ea"/>
                <a:cs typeface="+mn-cs"/>
              </a:rPr>
              <a:t>Considering ‘best practice’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This means investigating industry-recognised or approved steps, procedures, and protocols seen as producing the best available result in terms of (for example) productivity, safety, waste elimination, service standards, speed or cost saving.</a:t>
            </a:r>
          </a:p>
          <a:p>
            <a:pPr>
              <a:buFont typeface="Arial" pitchFamily="34" charset="0"/>
              <a:buChar char="•"/>
            </a:pPr>
            <a:r>
              <a:rPr lang="en-AU" sz="1200" kern="1200" dirty="0" smtClean="0">
                <a:solidFill>
                  <a:schemeClr val="tx1"/>
                </a:solidFill>
                <a:latin typeface="+mn-lt"/>
                <a:ea typeface="+mn-ea"/>
                <a:cs typeface="+mn-cs"/>
              </a:rPr>
              <a:t> Consideration of what currently exists elsewhere as best practice should address:</a:t>
            </a:r>
          </a:p>
          <a:p>
            <a:pPr lvl="1">
              <a:buFont typeface="Arial" pitchFamily="34" charset="0"/>
              <a:buChar char="•"/>
            </a:pPr>
            <a:r>
              <a:rPr lang="en-AU" sz="1200" kern="1200" dirty="0" smtClean="0">
                <a:solidFill>
                  <a:schemeClr val="tx1"/>
                </a:solidFill>
                <a:latin typeface="+mn-lt"/>
                <a:ea typeface="+mn-ea"/>
                <a:cs typeface="+mn-cs"/>
              </a:rPr>
              <a:t> What could/should change in the workplace in terms of what is currently occurring?</a:t>
            </a:r>
          </a:p>
          <a:p>
            <a:pPr lvl="1">
              <a:buFont typeface="Arial" pitchFamily="34" charset="0"/>
              <a:buChar char="•"/>
            </a:pPr>
            <a:r>
              <a:rPr lang="en-AU" sz="1200" kern="1200" dirty="0" smtClean="0">
                <a:solidFill>
                  <a:schemeClr val="tx1"/>
                </a:solidFill>
                <a:latin typeface="+mn-lt"/>
                <a:ea typeface="+mn-ea"/>
                <a:cs typeface="+mn-cs"/>
              </a:rPr>
              <a:t> What would be involved in making these changes (cost, time, resources, training)?</a:t>
            </a:r>
          </a:p>
          <a:p>
            <a:pPr lvl="1">
              <a:buFont typeface="Arial" pitchFamily="34" charset="0"/>
              <a:buChar char="•"/>
            </a:pPr>
            <a:r>
              <a:rPr lang="en-AU" sz="1200" kern="1200" dirty="0" smtClean="0">
                <a:solidFill>
                  <a:schemeClr val="tx1"/>
                </a:solidFill>
                <a:latin typeface="+mn-lt"/>
                <a:ea typeface="+mn-ea"/>
                <a:cs typeface="+mn-cs"/>
              </a:rPr>
              <a:t> How can these changes be implemented or introduced?</a:t>
            </a:r>
          </a:p>
          <a:p>
            <a:r>
              <a:rPr lang="en-AU" sz="1200" b="1" kern="1200" dirty="0" smtClean="0">
                <a:solidFill>
                  <a:schemeClr val="tx1"/>
                </a:solidFill>
                <a:latin typeface="+mn-lt"/>
                <a:ea typeface="+mn-ea"/>
                <a:cs typeface="+mn-cs"/>
              </a:rPr>
              <a:t>Reading existing job analysis documentation</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This is done to help determine how the current job has altered in terms of what is happening </a:t>
            </a:r>
            <a:r>
              <a:rPr lang="en-AU" sz="1200" i="1" kern="1200" dirty="0" smtClean="0">
                <a:solidFill>
                  <a:schemeClr val="tx1"/>
                </a:solidFill>
                <a:latin typeface="+mn-lt"/>
                <a:ea typeface="+mn-ea"/>
                <a:cs typeface="+mn-cs"/>
              </a:rPr>
              <a:t>now</a:t>
            </a:r>
          </a:p>
          <a:p>
            <a:pPr>
              <a:buFont typeface="Arial" pitchFamily="34" charset="0"/>
              <a:buChar char="•"/>
            </a:pPr>
            <a:r>
              <a:rPr lang="en-AU" sz="1200" kern="1200" dirty="0" smtClean="0">
                <a:solidFill>
                  <a:schemeClr val="tx1"/>
                </a:solidFill>
                <a:latin typeface="+mn-lt"/>
                <a:ea typeface="+mn-ea"/>
                <a:cs typeface="+mn-cs"/>
              </a:rPr>
              <a:t> The previous job analysis gives a useful reference point, or baseline on which to evaluate the changes that have taken place in terms of the requirements for each position.</a:t>
            </a:r>
          </a:p>
          <a:p>
            <a:r>
              <a:rPr lang="en-AU" sz="1200" b="1" kern="1200" dirty="0" smtClean="0">
                <a:solidFill>
                  <a:schemeClr val="tx1"/>
                </a:solidFill>
                <a:latin typeface="+mn-lt"/>
                <a:ea typeface="+mn-ea"/>
                <a:cs typeface="+mn-cs"/>
              </a:rPr>
              <a:t>Reading existing job specifications and job descriptions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These documents provide excellent detail regarding individual jobs for the purposes of comparison with what is currently happening.</a:t>
            </a:r>
          </a:p>
          <a:p>
            <a:pPr>
              <a:buFont typeface="Arial" pitchFamily="34" charset="0"/>
              <a:buChar char="•"/>
            </a:pPr>
            <a:r>
              <a:rPr lang="en-AU" sz="1200" kern="1200" dirty="0" smtClean="0">
                <a:solidFill>
                  <a:schemeClr val="tx1"/>
                </a:solidFill>
                <a:latin typeface="+mn-lt"/>
                <a:ea typeface="+mn-ea"/>
                <a:cs typeface="+mn-cs"/>
              </a:rPr>
              <a:t> See slides in following</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Section (‘Prepare job specifications and job descriptions for identified positions’) for more detail</a:t>
            </a:r>
          </a:p>
          <a:p>
            <a:pPr>
              <a:buFont typeface="Arial" pitchFamily="34" charset="0"/>
              <a:buChar char="•"/>
            </a:pPr>
            <a:r>
              <a:rPr lang="en-AU" sz="1200" kern="1200" dirty="0" smtClean="0">
                <a:solidFill>
                  <a:schemeClr val="tx1"/>
                </a:solidFill>
                <a:latin typeface="+mn-lt"/>
                <a:ea typeface="+mn-ea"/>
                <a:cs typeface="+mn-cs"/>
              </a:rPr>
              <a:t> Two important points to bear in mind when deciding to use these as a means of undertaking a job analysis are:</a:t>
            </a:r>
          </a:p>
          <a:p>
            <a:pPr lvl="1">
              <a:buFont typeface="Arial" pitchFamily="34" charset="0"/>
              <a:buChar char="•"/>
            </a:pPr>
            <a:r>
              <a:rPr lang="en-AU" sz="1200" kern="1200" dirty="0" smtClean="0">
                <a:solidFill>
                  <a:schemeClr val="tx1"/>
                </a:solidFill>
                <a:latin typeface="+mn-lt"/>
                <a:ea typeface="+mn-ea"/>
                <a:cs typeface="+mn-cs"/>
              </a:rPr>
              <a:t> They often do not exist – many job positions operate quite effectively within a venue without their being any formal job specification or job description for the role</a:t>
            </a:r>
          </a:p>
          <a:p>
            <a:pPr lvl="1">
              <a:buFont typeface="Arial" pitchFamily="34" charset="0"/>
              <a:buChar char="•"/>
            </a:pPr>
            <a:r>
              <a:rPr lang="en-AU" sz="1200" kern="1200" dirty="0" smtClean="0">
                <a:solidFill>
                  <a:schemeClr val="tx1"/>
                </a:solidFill>
                <a:latin typeface="+mn-lt"/>
                <a:ea typeface="+mn-ea"/>
                <a:cs typeface="+mn-cs"/>
              </a:rPr>
              <a:t> Many are out-of-date – it is important to check when they were produced as it is common for the position to have changed significantly without any similar change to the job documentation.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tells</a:t>
            </a:r>
            <a:r>
              <a:rPr lang="en-US" baseline="0" dirty="0" smtClean="0"/>
              <a:t> trainees in</a:t>
            </a:r>
            <a:r>
              <a:rPr lang="en-AU" sz="1200" kern="1200" dirty="0" smtClean="0">
                <a:solidFill>
                  <a:schemeClr val="tx1"/>
                </a:solidFill>
                <a:latin typeface="+mn-lt"/>
                <a:ea typeface="+mn-ea"/>
                <a:cs typeface="+mn-cs"/>
              </a:rPr>
              <a:t> order to gain a definite understanding about any position in the organisation it is imperative a current job specification and description are produced based on information identified in the job analysis.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presents the concept of ‘Job Statement’ to trainees:</a:t>
            </a:r>
          </a:p>
          <a:p>
            <a:pPr>
              <a:buFont typeface="Arial" pitchFamily="34" charset="0"/>
              <a:buChar char="•"/>
            </a:pPr>
            <a:r>
              <a:rPr lang="en-AU" sz="1200" kern="1200" dirty="0" smtClean="0">
                <a:solidFill>
                  <a:schemeClr val="tx1"/>
                </a:solidFill>
                <a:latin typeface="+mn-lt"/>
                <a:ea typeface="+mn-ea"/>
                <a:cs typeface="+mn-cs"/>
              </a:rPr>
              <a:t> The Job Statement is a document combining the Job Description and Job Specification</a:t>
            </a:r>
          </a:p>
          <a:p>
            <a:pPr>
              <a:buFont typeface="Arial" pitchFamily="34" charset="0"/>
              <a:buChar char="•"/>
            </a:pPr>
            <a:r>
              <a:rPr lang="en-AU" sz="1200" kern="1200" dirty="0" smtClean="0">
                <a:solidFill>
                  <a:schemeClr val="tx1"/>
                </a:solidFill>
                <a:latin typeface="+mn-lt"/>
                <a:ea typeface="+mn-ea"/>
                <a:cs typeface="+mn-cs"/>
              </a:rPr>
              <a:t> Not all enterprises have a Job Statement even though they may have both a Job Description and Job Specification</a:t>
            </a:r>
          </a:p>
          <a:p>
            <a:pPr>
              <a:buFont typeface="Arial" pitchFamily="34" charset="0"/>
              <a:buChar char="•"/>
            </a:pPr>
            <a:r>
              <a:rPr lang="en-AU" sz="1200" kern="1200" dirty="0" smtClean="0">
                <a:solidFill>
                  <a:schemeClr val="tx1"/>
                </a:solidFill>
                <a:latin typeface="+mn-lt"/>
                <a:ea typeface="+mn-ea"/>
                <a:cs typeface="+mn-cs"/>
              </a:rPr>
              <a:t> The Job Description may be known as the ‘Position Description’ (or PD)</a:t>
            </a:r>
          </a:p>
          <a:p>
            <a:pPr>
              <a:buFont typeface="Arial" pitchFamily="34" charset="0"/>
              <a:buChar char="•"/>
            </a:pPr>
            <a:r>
              <a:rPr lang="en-AU" sz="1200" kern="1200" dirty="0" smtClean="0">
                <a:solidFill>
                  <a:schemeClr val="tx1"/>
                </a:solidFill>
                <a:latin typeface="+mn-lt"/>
                <a:ea typeface="+mn-ea"/>
                <a:cs typeface="+mn-cs"/>
              </a:rPr>
              <a:t> The Job Specification is also known as the Person Specification</a:t>
            </a:r>
          </a:p>
          <a:p>
            <a:pPr>
              <a:buFont typeface="Arial" pitchFamily="34" charset="0"/>
              <a:buChar char="•"/>
            </a:pPr>
            <a:r>
              <a:rPr lang="en-AU" sz="1200" kern="1200" dirty="0" smtClean="0">
                <a:solidFill>
                  <a:schemeClr val="tx1"/>
                </a:solidFill>
                <a:latin typeface="+mn-lt"/>
                <a:ea typeface="+mn-ea"/>
                <a:cs typeface="+mn-cs"/>
              </a:rPr>
              <a:t> When a comprehensive and accurate Job Statement has been developed the business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will be in a much better position to determine what type of worker to recruit because there will have a much better understanding of what the job entails and the requirements needing to be filled  </a:t>
            </a:r>
          </a:p>
          <a:p>
            <a:pPr>
              <a:buFont typeface="Arial" pitchFamily="34" charset="0"/>
              <a:buChar char="•"/>
            </a:pPr>
            <a:r>
              <a:rPr lang="en-AU" sz="1200" kern="1200" dirty="0" smtClean="0">
                <a:solidFill>
                  <a:schemeClr val="tx1"/>
                </a:solidFill>
                <a:latin typeface="+mn-lt"/>
                <a:ea typeface="+mn-ea"/>
                <a:cs typeface="+mn-cs"/>
              </a:rPr>
              <a:t> Lack of sound, comprehensive and current knowledge about a position means a business risks starting the recruitment process with only a vague idea of what it is the person is required to do and this is obviously not a good idea.</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a:t>
            </a:r>
            <a:r>
              <a:rPr lang="en-AU" sz="1200" kern="1200" dirty="0" smtClean="0">
                <a:solidFill>
                  <a:schemeClr val="tx1"/>
                </a:solidFill>
                <a:latin typeface="+mn-lt"/>
                <a:ea typeface="+mn-ea"/>
                <a:cs typeface="+mn-cs"/>
              </a:rPr>
              <a:t>the job analysis helps describe the type of person best suited to the job under consideration.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addresses the </a:t>
            </a:r>
            <a:r>
              <a:rPr lang="en-AU" sz="1200" i="1" kern="1200" dirty="0" smtClean="0">
                <a:solidFill>
                  <a:schemeClr val="tx1"/>
                </a:solidFill>
                <a:latin typeface="+mn-lt"/>
                <a:ea typeface="+mn-ea"/>
                <a:cs typeface="+mn-cs"/>
              </a:rPr>
              <a:t>human qualities</a:t>
            </a:r>
            <a:r>
              <a:rPr lang="en-AU" sz="1200" kern="1200" dirty="0" smtClean="0">
                <a:solidFill>
                  <a:schemeClr val="tx1"/>
                </a:solidFill>
                <a:latin typeface="+mn-lt"/>
                <a:ea typeface="+mn-ea"/>
                <a:cs typeface="+mn-cs"/>
              </a:rPr>
              <a:t> the best person for the job would possess.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Following are examples of what might be contained in a job specification:</a:t>
            </a:r>
          </a:p>
          <a:p>
            <a:pPr>
              <a:buFont typeface="Arial" pitchFamily="34" charset="0"/>
              <a:buChar char="•"/>
            </a:pPr>
            <a:r>
              <a:rPr lang="en-AU" sz="1200" kern="1200" dirty="0" smtClean="0">
                <a:solidFill>
                  <a:schemeClr val="tx1"/>
                </a:solidFill>
                <a:latin typeface="+mn-lt"/>
                <a:ea typeface="+mn-ea"/>
                <a:cs typeface="+mn-cs"/>
              </a:rPr>
              <a:t> Title of the job – to ensure everyone can identify the job being talked about</a:t>
            </a:r>
          </a:p>
          <a:p>
            <a:pPr>
              <a:buFont typeface="Arial" pitchFamily="34" charset="0"/>
              <a:buChar char="•"/>
            </a:pPr>
            <a:r>
              <a:rPr lang="en-AU" sz="1200" kern="1200" dirty="0" smtClean="0">
                <a:solidFill>
                  <a:schemeClr val="tx1"/>
                </a:solidFill>
                <a:latin typeface="+mn-lt"/>
                <a:ea typeface="+mn-ea"/>
                <a:cs typeface="+mn-cs"/>
              </a:rPr>
              <a:t> Minimum level of education – what level of secondary, or tertiary schooling is required, if indeed there is such a requirement? What level of literacy or numeracy does the position demand?</a:t>
            </a:r>
          </a:p>
          <a:p>
            <a:pPr>
              <a:buFont typeface="Arial" pitchFamily="34" charset="0"/>
              <a:buChar char="•"/>
            </a:pPr>
            <a:r>
              <a:rPr lang="en-AU" sz="1200" kern="1200" dirty="0" smtClean="0">
                <a:solidFill>
                  <a:schemeClr val="tx1"/>
                </a:solidFill>
                <a:latin typeface="+mn-lt"/>
                <a:ea typeface="+mn-ea"/>
                <a:cs typeface="+mn-cs"/>
              </a:rPr>
              <a:t> Any specialised education</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training – is there a need for a special Certificate or trade qualifications? </a:t>
            </a:r>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dirty="0" smtClean="0"/>
              <a:t>Class Activity – Handouts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obtains</a:t>
            </a:r>
            <a:r>
              <a:rPr lang="en-US" b="0" baseline="0" dirty="0" smtClean="0"/>
              <a:t> a number of Job Statements, Job Descriptions and Job  Specifications for relevant labour divisions, and: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Hands them out to trainees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Identifies, describes and discusses documentation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Questions trainees regarding:</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How accurate do they think they are?</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information do they contain that the trainees did not think they would contain?</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Why is the information provided actually listed in each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telling trainees about job specifications:</a:t>
            </a:r>
          </a:p>
          <a:p>
            <a:pPr>
              <a:buFont typeface="Arial" pitchFamily="34" charset="0"/>
              <a:buChar char="•"/>
            </a:pPr>
            <a:r>
              <a:rPr lang="en-AU" sz="1200" kern="1200" dirty="0" smtClean="0">
                <a:solidFill>
                  <a:schemeClr val="tx1"/>
                </a:solidFill>
                <a:latin typeface="+mn-lt"/>
                <a:ea typeface="+mn-ea"/>
                <a:cs typeface="+mn-cs"/>
              </a:rPr>
              <a:t> Work experience – is actual, practical work experience necessary? If so, where should this experience have been gained and how much of it should there be? Should the person have had a set amount of experience in a certain business, department, trade or establishment type? Must they be familiar with certain things, certain pieces of equipment, or particular brands of machines?</a:t>
            </a:r>
          </a:p>
          <a:p>
            <a:pPr>
              <a:buFont typeface="Arial" pitchFamily="34" charset="0"/>
              <a:buChar char="•"/>
            </a:pPr>
            <a:r>
              <a:rPr lang="en-AU" sz="1200" kern="1200" dirty="0" smtClean="0">
                <a:solidFill>
                  <a:schemeClr val="tx1"/>
                </a:solidFill>
                <a:latin typeface="+mn-lt"/>
                <a:ea typeface="+mn-ea"/>
                <a:cs typeface="+mn-cs"/>
              </a:rPr>
              <a:t> Personal attributes – is it important they have, for example, attention to detail? Must they be ‘self-starters’? Must they be able to work unsupervised? Be reliable? Be prepared to work shift work?</a:t>
            </a:r>
          </a:p>
          <a:p>
            <a:pPr>
              <a:buFont typeface="Arial" pitchFamily="34" charset="0"/>
              <a:buChar char="•"/>
            </a:pPr>
            <a:r>
              <a:rPr lang="en-AU" sz="1200" kern="1200" dirty="0" smtClean="0">
                <a:solidFill>
                  <a:schemeClr val="tx1"/>
                </a:solidFill>
                <a:latin typeface="+mn-lt"/>
                <a:ea typeface="+mn-ea"/>
                <a:cs typeface="+mn-cs"/>
              </a:rPr>
              <a:t> Physical effort required – what degree of fitness or strength is needed?  Is there heavy lifting? Will they have to spend time on their feet?</a:t>
            </a:r>
          </a:p>
          <a:p>
            <a:pPr>
              <a:buFont typeface="Arial" pitchFamily="34" charset="0"/>
              <a:buChar char="•"/>
            </a:pPr>
            <a:r>
              <a:rPr lang="en-AU" sz="1200" kern="1200" dirty="0" smtClean="0">
                <a:solidFill>
                  <a:schemeClr val="tx1"/>
                </a:solidFill>
                <a:latin typeface="+mn-lt"/>
                <a:ea typeface="+mn-ea"/>
                <a:cs typeface="+mn-cs"/>
              </a:rPr>
              <a:t> Interpersonal skills – our industry relies heavily on individuals who are ‘people persons’.</a:t>
            </a:r>
            <a:r>
              <a:rPr lang="en-AU" sz="1200" kern="1200" baseline="0" dirty="0" smtClean="0">
                <a:solidFill>
                  <a:schemeClr val="tx1"/>
                </a:solidFill>
                <a:latin typeface="+mn-lt"/>
                <a:ea typeface="+mn-ea"/>
                <a:cs typeface="+mn-cs"/>
              </a:rPr>
              <a:t> D</a:t>
            </a:r>
            <a:r>
              <a:rPr lang="en-AU" sz="1200" kern="1200" dirty="0" smtClean="0">
                <a:solidFill>
                  <a:schemeClr val="tx1"/>
                </a:solidFill>
                <a:latin typeface="+mn-lt"/>
                <a:ea typeface="+mn-ea"/>
                <a:cs typeface="+mn-cs"/>
              </a:rPr>
              <a:t>oes this job call for a significant amount of this ability?</a:t>
            </a:r>
          </a:p>
          <a:p>
            <a:pPr>
              <a:buFont typeface="Arial" pitchFamily="34" charset="0"/>
              <a:buNone/>
            </a:pPr>
            <a:endParaRPr lang="en-US" dirty="0" smtClean="0"/>
          </a:p>
          <a:p>
            <a:pPr>
              <a:buFont typeface="Arial" pitchFamily="34" charset="0"/>
              <a:buNone/>
            </a:pPr>
            <a:r>
              <a:rPr lang="en-US" b="1" dirty="0" smtClean="0"/>
              <a:t>Class Activity – Individual Exercise</a:t>
            </a:r>
          </a:p>
          <a:p>
            <a:pPr>
              <a:buFont typeface="Arial" pitchFamily="34" charset="0"/>
              <a:buNone/>
            </a:pPr>
            <a:r>
              <a:rPr lang="en-US" b="0" dirty="0" smtClean="0"/>
              <a:t>Trainer:</a:t>
            </a:r>
          </a:p>
          <a:p>
            <a:pPr>
              <a:buFont typeface="Arial" pitchFamily="34" charset="0"/>
              <a:buChar char="•"/>
            </a:pPr>
            <a:r>
              <a:rPr lang="en-US" b="0" dirty="0" smtClean="0"/>
              <a:t> Hands out several</a:t>
            </a:r>
            <a:r>
              <a:rPr lang="en-US" b="0" baseline="0" dirty="0" smtClean="0"/>
              <a:t> examples of Job Specifications (these may ones used in previous Class Activity)</a:t>
            </a:r>
          </a:p>
          <a:p>
            <a:pPr>
              <a:buFont typeface="Arial" pitchFamily="34" charset="0"/>
              <a:buChar char="•"/>
            </a:pPr>
            <a:r>
              <a:rPr lang="en-US" b="0" baseline="0" dirty="0" smtClean="0"/>
              <a:t> Identifies several job positions relevant to the </a:t>
            </a:r>
            <a:r>
              <a:rPr lang="en-US" b="0" baseline="0" dirty="0" err="1" smtClean="0"/>
              <a:t>labour</a:t>
            </a:r>
            <a:r>
              <a:rPr lang="en-US" b="0" baseline="0" dirty="0" smtClean="0"/>
              <a:t> division</a:t>
            </a:r>
          </a:p>
          <a:p>
            <a:pPr>
              <a:buFont typeface="Arial" pitchFamily="34" charset="0"/>
              <a:buChar char="•"/>
            </a:pPr>
            <a:r>
              <a:rPr lang="en-US" b="0" baseline="0" dirty="0" smtClean="0"/>
              <a:t> Allocates one position to each trainee</a:t>
            </a:r>
          </a:p>
          <a:p>
            <a:pPr>
              <a:buFont typeface="Arial" pitchFamily="34" charset="0"/>
              <a:buChar char="•"/>
            </a:pPr>
            <a:r>
              <a:rPr lang="en-US" b="0" baseline="0" dirty="0" smtClean="0"/>
              <a:t> Asks individual trainees to prepare a sample Job Specification for the position they have been allocated – trainees may be given access to text books, internet and other resources. </a:t>
            </a:r>
          </a:p>
          <a:p>
            <a:pPr>
              <a:buFont typeface="Arial" pitchFamily="34" charset="0"/>
              <a:buChar char="•"/>
            </a:pPr>
            <a:r>
              <a:rPr lang="en-US" sz="1200" b="0" kern="1200" baseline="0" dirty="0" smtClean="0">
                <a:solidFill>
                  <a:schemeClr val="tx1"/>
                </a:solidFill>
                <a:latin typeface="+mn-lt"/>
                <a:ea typeface="+mn-ea"/>
                <a:cs typeface="+mn-cs"/>
              </a:rPr>
              <a:t> </a:t>
            </a:r>
            <a:r>
              <a:rPr lang="en-AU" sz="1200" b="0" kern="1200" baseline="0" dirty="0" smtClean="0">
                <a:solidFill>
                  <a:schemeClr val="tx1"/>
                </a:solidFill>
                <a:latin typeface="+mn-lt"/>
                <a:ea typeface="+mn-ea"/>
                <a:cs typeface="+mn-cs"/>
              </a:rPr>
              <a:t>Assists </a:t>
            </a:r>
            <a:r>
              <a:rPr lang="en-US" b="0" baseline="0" dirty="0" smtClean="0"/>
              <a:t>trainees as required</a:t>
            </a:r>
          </a:p>
          <a:p>
            <a:pPr>
              <a:buFont typeface="Arial" pitchFamily="34" charset="0"/>
              <a:buChar char="•"/>
            </a:pPr>
            <a:r>
              <a:rPr lang="en-US" b="0" baseline="0" dirty="0" smtClean="0"/>
              <a:t> Provides feedback on their finished Job Specification.</a:t>
            </a:r>
          </a:p>
          <a:p>
            <a:pPr>
              <a:buFont typeface="Arial" pitchFamily="34" charset="0"/>
              <a:buNone/>
            </a:pPr>
            <a:r>
              <a:rPr lang="en-US" b="0" baseline="0" dirty="0" smtClean="0"/>
              <a:t>Internet sites potentially useful to trainees may include:</a:t>
            </a:r>
          </a:p>
          <a:p>
            <a:pPr lvl="0"/>
            <a:r>
              <a:rPr lang="en-AU" sz="1200" u="sng" kern="1200" dirty="0" smtClean="0">
                <a:solidFill>
                  <a:schemeClr val="tx1"/>
                </a:solidFill>
                <a:latin typeface="+mn-lt"/>
                <a:ea typeface="+mn-ea"/>
                <a:cs typeface="+mn-cs"/>
                <a:hlinkClick r:id="rId3"/>
              </a:rPr>
              <a:t>http://openlearn.open.ac.uk/mod/oucontent/view.php?id=397321</a:t>
            </a:r>
            <a:endParaRPr lang="en-AU" sz="1200" kern="1200" dirty="0" smtClean="0">
              <a:solidFill>
                <a:schemeClr val="tx1"/>
              </a:solidFill>
              <a:latin typeface="+mn-lt"/>
              <a:ea typeface="+mn-ea"/>
              <a:cs typeface="+mn-cs"/>
            </a:endParaRPr>
          </a:p>
          <a:p>
            <a:pPr lvl="0"/>
            <a:r>
              <a:rPr lang="en-AU" sz="1200" u="sng" kern="1200" dirty="0" smtClean="0">
                <a:solidFill>
                  <a:schemeClr val="tx1"/>
                </a:solidFill>
                <a:latin typeface="+mn-lt"/>
                <a:ea typeface="+mn-ea"/>
                <a:cs typeface="+mn-cs"/>
                <a:hlinkClick r:id="rId4"/>
              </a:rPr>
              <a:t>http://www.businessballs.com/jobdescription.htm</a:t>
            </a:r>
            <a:r>
              <a:rPr lang="en-AU" sz="1200" kern="1200" dirty="0" smtClean="0">
                <a:solidFill>
                  <a:schemeClr val="tx1"/>
                </a:solidFill>
                <a:latin typeface="+mn-lt"/>
                <a:ea typeface="+mn-ea"/>
                <a:cs typeface="+mn-cs"/>
              </a:rPr>
              <a:t> </a:t>
            </a:r>
          </a:p>
          <a:p>
            <a:pPr lvl="0">
              <a:buFont typeface="Arial" pitchFamily="34" charset="0"/>
              <a:buNone/>
            </a:pPr>
            <a:r>
              <a:rPr lang="en-AU" sz="1200" u="sng" kern="1200" dirty="0" smtClean="0">
                <a:solidFill>
                  <a:schemeClr val="tx1"/>
                </a:solidFill>
                <a:latin typeface="+mn-lt"/>
                <a:ea typeface="+mn-ea"/>
                <a:cs typeface="+mn-cs"/>
                <a:hlinkClick r:id="rId5"/>
              </a:rPr>
              <a:t>http://humanresources.about.com/od/jobdescriptions/Job_Descriptions_Free_Samples_Examples.htm</a:t>
            </a:r>
            <a:r>
              <a:rPr lang="en-AU" sz="1200" kern="1200" dirty="0" smtClean="0">
                <a:solidFill>
                  <a:schemeClr val="tx1"/>
                </a:solidFill>
                <a:latin typeface="+mn-lt"/>
                <a:ea typeface="+mn-ea"/>
                <a:cs typeface="+mn-cs"/>
              </a:rPr>
              <a:t> </a:t>
            </a:r>
          </a:p>
          <a:p>
            <a:pPr>
              <a:buFont typeface="Arial" pitchFamily="34" charset="0"/>
              <a:buNone/>
            </a:pPr>
            <a:endParaRPr lang="en-US" b="0" baseline="0" dirty="0" smtClean="0"/>
          </a:p>
          <a:p>
            <a:pPr>
              <a:buFont typeface="Arial" pitchFamily="34" charset="0"/>
              <a:buChar cha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another important document to be produced to assist with staffing is the Job Description.</a:t>
            </a:r>
          </a:p>
          <a:p>
            <a:pPr>
              <a:buFont typeface="Arial" pitchFamily="34" charset="0"/>
              <a:buNone/>
            </a:pPr>
            <a:endParaRPr lang="en-US" dirty="0" smtClean="0"/>
          </a:p>
          <a:p>
            <a:pPr>
              <a:buFont typeface="Arial" pitchFamily="34" charset="0"/>
              <a:buNone/>
            </a:pPr>
            <a:r>
              <a:rPr lang="en-US" dirty="0" smtClean="0"/>
              <a:t>These must be comprehensive, current and produced and updated on a regular basis.</a:t>
            </a:r>
          </a:p>
          <a:p>
            <a:pPr>
              <a:buFont typeface="Arial" pitchFamily="34" charset="0"/>
              <a:buNone/>
            </a:pPr>
            <a:endParaRPr lang="en-US" dirty="0" smtClean="0"/>
          </a:p>
          <a:p>
            <a:pPr>
              <a:buFont typeface="Arial" pitchFamily="34" charset="0"/>
              <a:buNone/>
            </a:pPr>
            <a:r>
              <a:rPr lang="en-US" dirty="0" smtClean="0"/>
              <a:t>A Job Description </a:t>
            </a:r>
            <a:r>
              <a:rPr lang="en-AU" sz="1200" kern="1200" dirty="0" smtClean="0">
                <a:solidFill>
                  <a:schemeClr val="tx1"/>
                </a:solidFill>
                <a:latin typeface="+mn-lt"/>
                <a:ea typeface="+mn-ea"/>
                <a:cs typeface="+mn-cs"/>
              </a:rPr>
              <a:t>identifies what the job is all about:</a:t>
            </a:r>
          </a:p>
          <a:p>
            <a:pPr>
              <a:buFont typeface="Arial" pitchFamily="34" charset="0"/>
              <a:buChar char="•"/>
            </a:pPr>
            <a:r>
              <a:rPr lang="en-AU" sz="1200" kern="1200" dirty="0" smtClean="0">
                <a:solidFill>
                  <a:schemeClr val="tx1"/>
                </a:solidFill>
                <a:latin typeface="+mn-lt"/>
                <a:ea typeface="+mn-ea"/>
                <a:cs typeface="+mn-cs"/>
              </a:rPr>
              <a:t> Title of the job – to ensure everyone knows the exact position to which the description applies</a:t>
            </a:r>
          </a:p>
          <a:p>
            <a:pPr>
              <a:buFont typeface="Arial" pitchFamily="34" charset="0"/>
              <a:buChar char="•"/>
            </a:pPr>
            <a:r>
              <a:rPr lang="en-AU" sz="1200" kern="1200" dirty="0" smtClean="0">
                <a:solidFill>
                  <a:schemeClr val="tx1"/>
                </a:solidFill>
                <a:latin typeface="+mn-lt"/>
                <a:ea typeface="+mn-ea"/>
                <a:cs typeface="+mn-cs"/>
              </a:rPr>
              <a:t> Location of the job – a description of the department where the job is located.</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n some properties this may include the actual address of the job. There may be an added indication as to whether the position is front-of-house or back-of-house.</a:t>
            </a:r>
          </a:p>
          <a:p>
            <a:pPr>
              <a:buFont typeface="Arial" pitchFamily="34" charset="0"/>
              <a:buChar char="•"/>
            </a:pPr>
            <a:r>
              <a:rPr lang="en-AU" sz="1200" kern="1200" dirty="0" smtClean="0">
                <a:solidFill>
                  <a:schemeClr val="tx1"/>
                </a:solidFill>
                <a:latin typeface="+mn-lt"/>
                <a:ea typeface="+mn-ea"/>
                <a:cs typeface="+mn-cs"/>
              </a:rPr>
              <a:t> Job responsibilities – this lists responsibilities which attach to the job including:</a:t>
            </a:r>
          </a:p>
          <a:p>
            <a:pPr lvl="1">
              <a:buFont typeface="Arial" pitchFamily="34" charset="0"/>
              <a:buChar char="•"/>
            </a:pPr>
            <a:r>
              <a:rPr lang="en-AU" sz="1200" kern="1200" dirty="0" smtClean="0">
                <a:solidFill>
                  <a:schemeClr val="tx1"/>
                </a:solidFill>
                <a:latin typeface="+mn-lt"/>
                <a:ea typeface="+mn-ea"/>
                <a:cs typeface="+mn-cs"/>
              </a:rPr>
              <a:t> Occupational </a:t>
            </a:r>
            <a:r>
              <a:rPr lang="en-AU" sz="1200" kern="1200" dirty="0" smtClean="0">
                <a:solidFill>
                  <a:schemeClr val="tx1"/>
                </a:solidFill>
                <a:latin typeface="+mn-lt"/>
                <a:ea typeface="+mn-ea"/>
                <a:cs typeface="+mn-cs"/>
              </a:rPr>
              <a:t>safety and health responsibilities </a:t>
            </a: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Supervision of others </a:t>
            </a:r>
          </a:p>
          <a:p>
            <a:pPr lvl="1">
              <a:buFont typeface="Arial" pitchFamily="34" charset="0"/>
              <a:buChar char="•"/>
            </a:pPr>
            <a:r>
              <a:rPr lang="en-AU" sz="1200" kern="1200" dirty="0" smtClean="0">
                <a:solidFill>
                  <a:schemeClr val="tx1"/>
                </a:solidFill>
                <a:latin typeface="+mn-lt"/>
                <a:ea typeface="+mn-ea"/>
                <a:cs typeface="+mn-cs"/>
              </a:rPr>
              <a:t> Performing banking duties</a:t>
            </a:r>
          </a:p>
          <a:p>
            <a:pPr lvl="1">
              <a:buFont typeface="Arial" pitchFamily="34" charset="0"/>
              <a:buChar char="•"/>
            </a:pPr>
            <a:r>
              <a:rPr lang="en-AU" sz="1200" kern="1200" dirty="0" smtClean="0">
                <a:solidFill>
                  <a:schemeClr val="tx1"/>
                </a:solidFill>
                <a:latin typeface="+mn-lt"/>
                <a:ea typeface="+mn-ea"/>
                <a:cs typeface="+mn-cs"/>
              </a:rPr>
              <a:t> Being responsible for ordering stock</a:t>
            </a:r>
          </a:p>
          <a:p>
            <a:pPr lvl="1">
              <a:buFont typeface="Arial" pitchFamily="34" charset="0"/>
              <a:buChar char="•"/>
            </a:pPr>
            <a:r>
              <a:rPr lang="en-AU" sz="1200" kern="1200" dirty="0" smtClean="0">
                <a:solidFill>
                  <a:schemeClr val="tx1"/>
                </a:solidFill>
                <a:latin typeface="+mn-lt"/>
                <a:ea typeface="+mn-ea"/>
                <a:cs typeface="+mn-cs"/>
              </a:rPr>
              <a:t> Balancing registers at the end of trade.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explaining contents of Job Description:</a:t>
            </a:r>
          </a:p>
          <a:p>
            <a:pPr>
              <a:buFont typeface="Arial" pitchFamily="34" charset="0"/>
              <a:buChar char="•"/>
            </a:pPr>
            <a:r>
              <a:rPr lang="en-AU" sz="1200" kern="1200" dirty="0" smtClean="0">
                <a:solidFill>
                  <a:schemeClr val="tx1"/>
                </a:solidFill>
                <a:latin typeface="+mn-lt"/>
                <a:ea typeface="+mn-ea"/>
                <a:cs typeface="+mn-cs"/>
              </a:rPr>
              <a:t> Day-to-day duties of the job –it is a description of all work this position needs to do. Constructing this part of the Job Description will take a lot of time in order to determine the work requirements. The document should accurately reflect all the tasks the employee is expected to do in the course of their work.</a:t>
            </a:r>
            <a:r>
              <a:rPr lang="en-AU" sz="1200" kern="1200" baseline="0" dirty="0" smtClean="0">
                <a:solidFill>
                  <a:schemeClr val="tx1"/>
                </a:solidFill>
                <a:latin typeface="+mn-lt"/>
                <a:ea typeface="+mn-ea"/>
                <a:cs typeface="+mn-cs"/>
              </a:rPr>
              <a:t> Examples </a:t>
            </a:r>
            <a:r>
              <a:rPr lang="en-AU" sz="1200" kern="1200" dirty="0" smtClean="0">
                <a:solidFill>
                  <a:schemeClr val="tx1"/>
                </a:solidFill>
                <a:latin typeface="+mn-lt"/>
                <a:ea typeface="+mn-ea"/>
                <a:cs typeface="+mn-cs"/>
              </a:rPr>
              <a:t>include:</a:t>
            </a:r>
          </a:p>
          <a:p>
            <a:pPr lvl="1">
              <a:buFont typeface="Arial" pitchFamily="34" charset="0"/>
              <a:buChar char="•"/>
            </a:pPr>
            <a:r>
              <a:rPr lang="en-AU" sz="1200" kern="1200" dirty="0" smtClean="0">
                <a:solidFill>
                  <a:schemeClr val="tx1"/>
                </a:solidFill>
                <a:latin typeface="+mn-lt"/>
                <a:ea typeface="+mn-ea"/>
                <a:cs typeface="+mn-cs"/>
              </a:rPr>
              <a:t> Customer service </a:t>
            </a:r>
          </a:p>
          <a:p>
            <a:pPr lvl="1">
              <a:buFont typeface="Arial" pitchFamily="34" charset="0"/>
              <a:buChar char="•"/>
            </a:pPr>
            <a:r>
              <a:rPr lang="en-AU" sz="1200" kern="1200" dirty="0" smtClean="0">
                <a:solidFill>
                  <a:schemeClr val="tx1"/>
                </a:solidFill>
                <a:latin typeface="+mn-lt"/>
                <a:ea typeface="+mn-ea"/>
                <a:cs typeface="+mn-cs"/>
              </a:rPr>
              <a:t> Selling </a:t>
            </a:r>
          </a:p>
          <a:p>
            <a:pPr lvl="1">
              <a:buFont typeface="Arial" pitchFamily="34" charset="0"/>
              <a:buChar char="•"/>
            </a:pPr>
            <a:r>
              <a:rPr lang="en-AU" sz="1200" kern="1200" dirty="0" smtClean="0">
                <a:solidFill>
                  <a:schemeClr val="tx1"/>
                </a:solidFill>
                <a:latin typeface="+mn-lt"/>
                <a:ea typeface="+mn-ea"/>
                <a:cs typeface="+mn-cs"/>
              </a:rPr>
              <a:t> Cash register operation </a:t>
            </a:r>
          </a:p>
          <a:p>
            <a:pPr lvl="1">
              <a:buFont typeface="Arial" pitchFamily="34" charset="0"/>
              <a:buChar char="•"/>
            </a:pPr>
            <a:r>
              <a:rPr lang="en-AU" sz="1200" kern="1200" dirty="0" smtClean="0">
                <a:solidFill>
                  <a:schemeClr val="tx1"/>
                </a:solidFill>
                <a:latin typeface="+mn-lt"/>
                <a:ea typeface="+mn-ea"/>
                <a:cs typeface="+mn-cs"/>
              </a:rPr>
              <a:t> Stock-taking </a:t>
            </a:r>
          </a:p>
          <a:p>
            <a:pPr lvl="1">
              <a:buFont typeface="Arial" pitchFamily="34" charset="0"/>
              <a:buChar char="•"/>
            </a:pPr>
            <a:r>
              <a:rPr lang="en-AU" sz="1200" kern="1200" dirty="0" smtClean="0">
                <a:solidFill>
                  <a:schemeClr val="tx1"/>
                </a:solidFill>
                <a:latin typeface="+mn-lt"/>
                <a:ea typeface="+mn-ea"/>
                <a:cs typeface="+mn-cs"/>
              </a:rPr>
              <a:t> Pouring draught beer </a:t>
            </a:r>
          </a:p>
          <a:p>
            <a:pPr lvl="1">
              <a:buFont typeface="Arial" pitchFamily="34" charset="0"/>
              <a:buChar char="•"/>
            </a:pPr>
            <a:r>
              <a:rPr lang="en-AU" sz="1200" kern="1200" dirty="0" smtClean="0">
                <a:solidFill>
                  <a:schemeClr val="tx1"/>
                </a:solidFill>
                <a:latin typeface="+mn-lt"/>
                <a:ea typeface="+mn-ea"/>
                <a:cs typeface="+mn-cs"/>
              </a:rPr>
              <a:t> Tapping beer kegs and managing the cellar</a:t>
            </a:r>
          </a:p>
          <a:p>
            <a:pPr lvl="1">
              <a:buFont typeface="Arial" pitchFamily="34" charset="0"/>
              <a:buChar char="•"/>
            </a:pPr>
            <a:r>
              <a:rPr lang="en-AU" sz="1200" kern="1200" dirty="0" smtClean="0">
                <a:solidFill>
                  <a:schemeClr val="tx1"/>
                </a:solidFill>
                <a:latin typeface="+mn-lt"/>
                <a:ea typeface="+mn-ea"/>
                <a:cs typeface="+mn-cs"/>
              </a:rPr>
              <a:t> Stocking shelves</a:t>
            </a:r>
          </a:p>
          <a:p>
            <a:pPr lvl="1">
              <a:buFont typeface="Arial" pitchFamily="34" charset="0"/>
              <a:buChar char="•"/>
            </a:pPr>
            <a:r>
              <a:rPr lang="en-AU" sz="1200" kern="1200" dirty="0" smtClean="0">
                <a:solidFill>
                  <a:schemeClr val="tx1"/>
                </a:solidFill>
                <a:latin typeface="+mn-lt"/>
                <a:ea typeface="+mn-ea"/>
                <a:cs typeface="+mn-cs"/>
              </a:rPr>
              <a:t> Serving food</a:t>
            </a:r>
          </a:p>
          <a:p>
            <a:pPr lvl="1">
              <a:buFont typeface="Arial" pitchFamily="34" charset="0"/>
              <a:buChar char="•"/>
            </a:pPr>
            <a:r>
              <a:rPr lang="en-AU" sz="1200" kern="1200" dirty="0" smtClean="0">
                <a:solidFill>
                  <a:schemeClr val="tx1"/>
                </a:solidFill>
                <a:latin typeface="+mn-lt"/>
                <a:ea typeface="+mn-ea"/>
                <a:cs typeface="+mn-cs"/>
              </a:rPr>
              <a:t> Mixing drinks.</a:t>
            </a:r>
          </a:p>
          <a:p>
            <a:pPr>
              <a:buFont typeface="Arial" pitchFamily="34" charset="0"/>
              <a:buChar char="•"/>
            </a:pPr>
            <a:r>
              <a:rPr lang="en-AU" sz="1200" kern="1200" dirty="0" smtClean="0">
                <a:solidFill>
                  <a:schemeClr val="tx1"/>
                </a:solidFill>
                <a:latin typeface="+mn-lt"/>
                <a:ea typeface="+mn-ea"/>
                <a:cs typeface="+mn-cs"/>
              </a:rPr>
              <a:t> Job title of the person the position reports to – this indicates who the position will be responsible to. This person should have had significant input into job analysis and subsequent construction of the Job Specification and Job Description</a:t>
            </a:r>
          </a:p>
          <a:p>
            <a:pPr>
              <a:buFont typeface="Arial" pitchFamily="34" charset="0"/>
              <a:buChar char="•"/>
            </a:pPr>
            <a:r>
              <a:rPr lang="en-AU" sz="1200" kern="1200" dirty="0" smtClean="0">
                <a:solidFill>
                  <a:schemeClr val="tx1"/>
                </a:solidFill>
                <a:latin typeface="+mn-lt"/>
                <a:ea typeface="+mn-ea"/>
                <a:cs typeface="+mn-cs"/>
              </a:rPr>
              <a:t> Number of people supervised – if the position is responsible to oversee the work of others, this section indicates the supervisory extent of the position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explaining contents of Job Description:</a:t>
            </a:r>
          </a:p>
          <a:p>
            <a:pPr>
              <a:buFont typeface="Arial" pitchFamily="34" charset="0"/>
              <a:buChar char="•"/>
            </a:pPr>
            <a:r>
              <a:rPr lang="en-AU" sz="1200" kern="1200" dirty="0" smtClean="0">
                <a:solidFill>
                  <a:schemeClr val="tx1"/>
                </a:solidFill>
                <a:latin typeface="+mn-lt"/>
                <a:ea typeface="+mn-ea"/>
                <a:cs typeface="+mn-cs"/>
              </a:rPr>
              <a:t> Working conditions – it may describe a location (an office, laundry, nightclub environment) and atmosphere (noisy, people-based/interactive, inside or outside)</a:t>
            </a:r>
          </a:p>
          <a:p>
            <a:pPr>
              <a:buFont typeface="Arial" pitchFamily="34" charset="0"/>
              <a:buChar char="•"/>
            </a:pPr>
            <a:r>
              <a:rPr lang="en-AU" sz="1200" kern="1200" dirty="0" smtClean="0">
                <a:solidFill>
                  <a:schemeClr val="tx1"/>
                </a:solidFill>
                <a:latin typeface="+mn-lt"/>
                <a:ea typeface="+mn-ea"/>
                <a:cs typeface="+mn-cs"/>
              </a:rPr>
              <a:t> Workplace hazards – specifying any potentially dangerous equipment, working conditions, working environment or work practices</a:t>
            </a:r>
          </a:p>
          <a:p>
            <a:pPr>
              <a:buFont typeface="Arial" pitchFamily="34" charset="0"/>
              <a:buChar char="•"/>
            </a:pPr>
            <a:r>
              <a:rPr lang="en-AU" sz="1200" kern="1200" dirty="0" smtClean="0">
                <a:solidFill>
                  <a:schemeClr val="tx1"/>
                </a:solidFill>
                <a:latin typeface="+mn-lt"/>
                <a:ea typeface="+mn-ea"/>
                <a:cs typeface="+mn-cs"/>
              </a:rPr>
              <a:t> Special work procedures to be followed –unique work and protocols designed to accommodate:</a:t>
            </a:r>
          </a:p>
          <a:p>
            <a:pPr lvl="1">
              <a:buFont typeface="Arial" pitchFamily="34" charset="0"/>
              <a:buChar char="•"/>
            </a:pPr>
            <a:r>
              <a:rPr lang="en-AU" sz="1200" kern="1200" dirty="0" smtClean="0">
                <a:solidFill>
                  <a:schemeClr val="tx1"/>
                </a:solidFill>
                <a:latin typeface="+mn-lt"/>
                <a:ea typeface="+mn-ea"/>
                <a:cs typeface="+mn-cs"/>
              </a:rPr>
              <a:t> Individual workplace layout</a:t>
            </a:r>
          </a:p>
          <a:p>
            <a:pPr lvl="1">
              <a:buFont typeface="Arial" pitchFamily="34" charset="0"/>
              <a:buChar char="•"/>
            </a:pPr>
            <a:r>
              <a:rPr lang="en-AU" sz="1200" kern="1200" dirty="0" smtClean="0">
                <a:solidFill>
                  <a:schemeClr val="tx1"/>
                </a:solidFill>
                <a:latin typeface="+mn-lt"/>
                <a:ea typeface="+mn-ea"/>
                <a:cs typeface="+mn-cs"/>
              </a:rPr>
              <a:t> Product standards or service levels</a:t>
            </a:r>
          </a:p>
          <a:p>
            <a:pPr lvl="1">
              <a:buFont typeface="Arial" pitchFamily="34" charset="0"/>
              <a:buChar char="•"/>
            </a:pPr>
            <a:r>
              <a:rPr lang="en-AU" sz="1200" kern="1200" dirty="0" smtClean="0">
                <a:solidFill>
                  <a:schemeClr val="tx1"/>
                </a:solidFill>
                <a:latin typeface="+mn-lt"/>
                <a:ea typeface="+mn-ea"/>
                <a:cs typeface="+mn-cs"/>
              </a:rPr>
              <a:t> Integration of one job or procedure with another in the workplace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explaining contents of Job Description:</a:t>
            </a:r>
          </a:p>
          <a:p>
            <a:pPr>
              <a:buFont typeface="Arial" pitchFamily="34" charset="0"/>
              <a:buChar char="•"/>
            </a:pPr>
            <a:r>
              <a:rPr lang="en-AU" sz="1200" kern="1200" dirty="0" smtClean="0">
                <a:solidFill>
                  <a:schemeClr val="tx1"/>
                </a:solidFill>
                <a:latin typeface="+mn-lt"/>
                <a:ea typeface="+mn-ea"/>
                <a:cs typeface="+mn-cs"/>
              </a:rPr>
              <a:t> Equipment used – this varies enormously and can involve specifying a certain type of equipment</a:t>
            </a:r>
          </a:p>
          <a:p>
            <a:pPr>
              <a:buFont typeface="Arial" pitchFamily="34" charset="0"/>
              <a:buChar char="•"/>
            </a:pPr>
            <a:r>
              <a:rPr lang="en-AU" sz="1200" kern="1200" dirty="0" smtClean="0">
                <a:solidFill>
                  <a:schemeClr val="tx1"/>
                </a:solidFill>
                <a:latin typeface="+mn-lt"/>
                <a:ea typeface="+mn-ea"/>
                <a:cs typeface="+mn-cs"/>
              </a:rPr>
              <a:t> Output standards required –identification of what is expected of each staff member in terms of quality and quantity standards relating to their workplace performance. This also informs potential staff members of what will be expected of them and lets them know in advance how their performance will be assessed</a:t>
            </a:r>
          </a:p>
          <a:p>
            <a:pPr>
              <a:buFont typeface="Arial" pitchFamily="34" charset="0"/>
              <a:buChar char="•"/>
            </a:pPr>
            <a:r>
              <a:rPr lang="en-AU" sz="1200" kern="1200" dirty="0" smtClean="0">
                <a:solidFill>
                  <a:schemeClr val="tx1"/>
                </a:solidFill>
                <a:latin typeface="+mn-lt"/>
                <a:ea typeface="+mn-ea"/>
                <a:cs typeface="+mn-cs"/>
              </a:rPr>
              <a:t> Type of work measurement methods used – this may not be so much a concern of small businesses but critical where pay rises are linked to productivity, so it is clear exactly how productivity will be judged when it comes time to assess worker issues such as individual contribution to overall performance and determine associated matters such as pay rises, promotions, extra hours, further responsibilities and training. </a:t>
            </a:r>
          </a:p>
          <a:p>
            <a:pPr>
              <a:buFont typeface="Arial" pitchFamily="34" charset="0"/>
              <a:buNone/>
            </a:pPr>
            <a:endParaRPr lang="en-US" dirty="0" smtClean="0"/>
          </a:p>
          <a:p>
            <a:pPr>
              <a:buFont typeface="Arial" pitchFamily="34" charset="0"/>
              <a:buNone/>
            </a:pPr>
            <a:r>
              <a:rPr lang="en-US" b="1" dirty="0" smtClean="0"/>
              <a:t>Class Activity – Individual Exercise</a:t>
            </a:r>
          </a:p>
          <a:p>
            <a:pPr>
              <a:buFont typeface="Arial" pitchFamily="34" charset="0"/>
              <a:buNone/>
            </a:pPr>
            <a:r>
              <a:rPr lang="en-US" b="0" dirty="0" smtClean="0"/>
              <a:t>Trainer:</a:t>
            </a:r>
          </a:p>
          <a:p>
            <a:pPr>
              <a:buFont typeface="Arial" pitchFamily="34" charset="0"/>
              <a:buChar char="•"/>
            </a:pPr>
            <a:r>
              <a:rPr lang="en-US" b="0" dirty="0" smtClean="0"/>
              <a:t> Hands out several</a:t>
            </a:r>
            <a:r>
              <a:rPr lang="en-US" b="0" baseline="0" dirty="0" smtClean="0"/>
              <a:t> examples of Job Descriptions (these may ones used in previous Class Activity)</a:t>
            </a:r>
          </a:p>
          <a:p>
            <a:pPr>
              <a:buFont typeface="Arial" pitchFamily="34" charset="0"/>
              <a:buChar char="•"/>
            </a:pPr>
            <a:r>
              <a:rPr lang="en-US" b="0" baseline="0" dirty="0" smtClean="0"/>
              <a:t> Identifies several job positions relevant to the </a:t>
            </a:r>
            <a:r>
              <a:rPr lang="en-US" b="0" baseline="0" dirty="0" err="1" smtClean="0"/>
              <a:t>labour</a:t>
            </a:r>
            <a:r>
              <a:rPr lang="en-US" b="0" baseline="0" dirty="0" smtClean="0"/>
              <a:t> division</a:t>
            </a:r>
          </a:p>
          <a:p>
            <a:pPr>
              <a:buFont typeface="Arial" pitchFamily="34" charset="0"/>
              <a:buChar char="•"/>
            </a:pPr>
            <a:r>
              <a:rPr lang="en-US" b="0" baseline="0" dirty="0" smtClean="0"/>
              <a:t> Allocates one position to each trainee</a:t>
            </a:r>
          </a:p>
          <a:p>
            <a:pPr>
              <a:buFont typeface="Arial" pitchFamily="34" charset="0"/>
              <a:buChar char="•"/>
            </a:pPr>
            <a:r>
              <a:rPr lang="en-US" b="0" baseline="0" dirty="0" smtClean="0"/>
              <a:t> Asks individual trainees to prepare a sample Job Description for the position they have been allocated – trainees may be given access to text books, internet and other resources</a:t>
            </a:r>
          </a:p>
          <a:p>
            <a:pPr>
              <a:buFont typeface="Arial" pitchFamily="34" charset="0"/>
              <a:buChar char="•"/>
            </a:pPr>
            <a:r>
              <a:rPr lang="en-US" b="0" baseline="0" dirty="0" smtClean="0"/>
              <a:t> Assists trainees as required</a:t>
            </a:r>
          </a:p>
          <a:p>
            <a:pPr>
              <a:buFont typeface="Arial" pitchFamily="34" charset="0"/>
              <a:buChar char="•"/>
            </a:pPr>
            <a:r>
              <a:rPr lang="en-US" b="0" baseline="0" dirty="0" smtClean="0"/>
              <a:t> Provides feedback on their finished Job Description .</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latin typeface="+mn-lt"/>
                <a:ea typeface="+mn-ea"/>
                <a:cs typeface="+mn-cs"/>
              </a:rPr>
              <a:t>trainee</a:t>
            </a:r>
            <a:r>
              <a:rPr lang="en-US" b="0" dirty="0" smtClean="0"/>
              <a:t>s questions regarding staff recruitment:</a:t>
            </a:r>
          </a:p>
          <a:p>
            <a:pPr>
              <a:buFont typeface="Arial" pitchFamily="34" charset="0"/>
              <a:buChar char="•"/>
            </a:pPr>
            <a:r>
              <a:rPr lang="en-US" b="0" baseline="0" dirty="0" smtClean="0"/>
              <a:t> What does ‘staff recruitment’ mean?</a:t>
            </a:r>
          </a:p>
          <a:p>
            <a:pPr>
              <a:buFont typeface="Arial" pitchFamily="34" charset="0"/>
              <a:buChar char="•"/>
            </a:pPr>
            <a:r>
              <a:rPr lang="en-US" b="0" baseline="0" dirty="0" smtClean="0"/>
              <a:t> How might a business recruit staff? What potential sources of staff are there for organisations to tap into?</a:t>
            </a:r>
          </a:p>
          <a:p>
            <a:pPr>
              <a:buFont typeface="Arial" pitchFamily="34" charset="0"/>
              <a:buChar char="•"/>
            </a:pPr>
            <a:r>
              <a:rPr lang="en-US" b="0" baseline="0" dirty="0" smtClean="0"/>
              <a:t> How do businesses advertise for staff?</a:t>
            </a:r>
          </a:p>
          <a:p>
            <a:pPr>
              <a:buFont typeface="Arial" pitchFamily="34" charset="0"/>
              <a:buChar char="•"/>
            </a:pPr>
            <a:r>
              <a:rPr lang="en-US" b="0" baseline="0" dirty="0" smtClean="0"/>
              <a:t> What is a ‘recruitment agency? What do they do? How do they operate?</a:t>
            </a:r>
          </a:p>
          <a:p>
            <a:pPr>
              <a:buFont typeface="Arial" pitchFamily="34" charset="0"/>
              <a:buChar char="•"/>
            </a:pPr>
            <a:r>
              <a:rPr lang="en-US" b="0" baseline="0" dirty="0" smtClean="0"/>
              <a:t> What is online recruitment? What experience have you had with it?</a:t>
            </a:r>
          </a:p>
          <a:p>
            <a:pPr>
              <a:buFont typeface="Arial" pitchFamily="34" charset="0"/>
              <a:buChar char="•"/>
            </a:pPr>
            <a:r>
              <a:rPr lang="en-US" b="0" baseline="0" dirty="0" smtClean="0"/>
              <a:t> What do you think is meant by the term ‘key selection criteria’?</a:t>
            </a:r>
          </a:p>
          <a:p>
            <a:pPr>
              <a:buFont typeface="Arial" pitchFamily="34" charset="0"/>
              <a:buChar char="•"/>
            </a:pPr>
            <a:r>
              <a:rPr lang="en-US" b="0" baseline="0" dirty="0" smtClean="0"/>
              <a:t> What types of job advertisements have you seen in newspapers? Can you think of any that were particularly good or bad? Why did you think they were good or bad?</a:t>
            </a:r>
          </a:p>
          <a:p>
            <a:pPr>
              <a:buFont typeface="Arial" pitchFamily="34" charset="0"/>
              <a:buChar char="•"/>
            </a:pPr>
            <a:endParaRPr lang="en-US" b="0" baseline="0" dirty="0" smtClean="0"/>
          </a:p>
          <a:p>
            <a:pPr>
              <a:buFont typeface="Arial" pitchFamily="34" charset="0"/>
              <a:buChar char="•"/>
            </a:pPr>
            <a:endParaRPr lang="en-US" b="0"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t>
            </a:r>
            <a:r>
              <a:rPr lang="en-AU" sz="1200" kern="1200" dirty="0" smtClean="0">
                <a:solidFill>
                  <a:schemeClr val="tx1"/>
                </a:solidFill>
                <a:latin typeface="+mn-lt"/>
                <a:ea typeface="+mn-ea"/>
                <a:cs typeface="+mn-cs"/>
              </a:rPr>
              <a:t>all staff recruitment must be targeted to identified needs.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 factors to be considered when deciding what types of jobs to recruit staff for include:</a:t>
            </a:r>
          </a:p>
          <a:p>
            <a:pPr>
              <a:buFont typeface="Arial" pitchFamily="34" charset="0"/>
              <a:buChar char="•"/>
            </a:pPr>
            <a:r>
              <a:rPr lang="en-AU" sz="1200" kern="1200" dirty="0" smtClean="0">
                <a:solidFill>
                  <a:schemeClr val="tx1"/>
                </a:solidFill>
                <a:latin typeface="+mn-lt"/>
                <a:ea typeface="+mn-ea"/>
                <a:cs typeface="+mn-cs"/>
              </a:rPr>
              <a:t> Information contained in the Job Descriptions – these are central to the decision and the primary tool to use</a:t>
            </a:r>
          </a:p>
          <a:p>
            <a:pPr>
              <a:buFont typeface="Arial" pitchFamily="34" charset="0"/>
              <a:buChar char="•"/>
            </a:pPr>
            <a:r>
              <a:rPr lang="en-AU" sz="1200" kern="1200" dirty="0" smtClean="0">
                <a:solidFill>
                  <a:schemeClr val="tx1"/>
                </a:solidFill>
                <a:latin typeface="+mn-lt"/>
                <a:ea typeface="+mn-ea"/>
                <a:cs typeface="+mn-cs"/>
              </a:rPr>
              <a:t> Integration of the required work to be done with other positions within the business to ensure:</a:t>
            </a:r>
          </a:p>
          <a:p>
            <a:pPr lvl="1">
              <a:buFont typeface="Arial" pitchFamily="34" charset="0"/>
              <a:buChar char="•"/>
            </a:pPr>
            <a:r>
              <a:rPr lang="en-AU" sz="1200" kern="1200" dirty="0" smtClean="0">
                <a:solidFill>
                  <a:schemeClr val="tx1"/>
                </a:solidFill>
                <a:latin typeface="+mn-lt"/>
                <a:ea typeface="+mn-ea"/>
                <a:cs typeface="+mn-cs"/>
              </a:rPr>
              <a:t> Seamless joining of new staff into the existing workplace and with current staff</a:t>
            </a:r>
          </a:p>
          <a:p>
            <a:pPr lvl="1">
              <a:buFont typeface="Arial" pitchFamily="34" charset="0"/>
              <a:buChar char="•"/>
            </a:pPr>
            <a:r>
              <a:rPr lang="en-AU" sz="1200" kern="1200" dirty="0" smtClean="0">
                <a:solidFill>
                  <a:schemeClr val="tx1"/>
                </a:solidFill>
                <a:latin typeface="+mn-lt"/>
                <a:ea typeface="+mn-ea"/>
                <a:cs typeface="+mn-cs"/>
              </a:rPr>
              <a:t> Optimisation of the use of equipment, time and other resources – the arrival of new staff should improve productivity and output rather than negatively impact it</a:t>
            </a:r>
          </a:p>
          <a:p>
            <a:pPr>
              <a:buFont typeface="Arial" pitchFamily="34" charset="0"/>
              <a:buChar char="•"/>
            </a:pPr>
            <a:r>
              <a:rPr lang="en-AU" sz="1200" kern="1200" dirty="0" smtClean="0">
                <a:solidFill>
                  <a:schemeClr val="tx1"/>
                </a:solidFill>
                <a:latin typeface="+mn-lt"/>
                <a:ea typeface="+mn-ea"/>
                <a:cs typeface="+mn-cs"/>
              </a:rPr>
              <a:t> Owner preference – in SMEs the business owner may have personal thoughts about staff required based on no other reason than a personal liking for a certain position</a:t>
            </a:r>
          </a:p>
          <a:p>
            <a:pPr>
              <a:buFont typeface="Arial" pitchFamily="34" charset="0"/>
              <a:buChar char="•"/>
            </a:pPr>
            <a:r>
              <a:rPr lang="en-AU" sz="1200" kern="1200" dirty="0" smtClean="0">
                <a:solidFill>
                  <a:schemeClr val="tx1"/>
                </a:solidFill>
                <a:latin typeface="+mn-lt"/>
                <a:ea typeface="+mn-ea"/>
                <a:cs typeface="+mn-cs"/>
              </a:rPr>
              <a:t> Complaints received from customers – where complaints have identified slow or poor service or products these are the areas to which attention should be focussed when hiring new staff</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trainees with topics needing to be considered when identifying types of vacancies to be advertised: </a:t>
            </a:r>
          </a:p>
          <a:p>
            <a:pPr>
              <a:buFont typeface="Arial" pitchFamily="34" charset="0"/>
              <a:buChar char="•"/>
            </a:pPr>
            <a:r>
              <a:rPr lang="en-AU" sz="1200" kern="1200" dirty="0" smtClean="0">
                <a:solidFill>
                  <a:schemeClr val="tx1"/>
                </a:solidFill>
                <a:latin typeface="+mn-lt"/>
                <a:ea typeface="+mn-ea"/>
                <a:cs typeface="+mn-cs"/>
              </a:rPr>
              <a:t> Levels of business performance – checking internal records can reveal positions where recruitment needs to occur based on indicators such as falling sales, decreasing traffic, reduced bookings</a:t>
            </a:r>
          </a:p>
          <a:p>
            <a:pPr>
              <a:buFont typeface="Arial" pitchFamily="34" charset="0"/>
              <a:buChar char="•"/>
            </a:pPr>
            <a:r>
              <a:rPr lang="en-AU" sz="1200" kern="1200" dirty="0" smtClean="0">
                <a:solidFill>
                  <a:schemeClr val="tx1"/>
                </a:solidFill>
                <a:latin typeface="+mn-lt"/>
                <a:ea typeface="+mn-ea"/>
                <a:cs typeface="+mn-cs"/>
              </a:rPr>
              <a:t> Strategic business direction – where, for example, the enterprise has decided to enter into the fine dining market there can be a need to recruit waiters with silver service skills, waiters with gueridon service skills, a sommelier or a maître d’hôtel  </a:t>
            </a:r>
          </a:p>
          <a:p>
            <a:pPr>
              <a:buFont typeface="Arial" pitchFamily="34" charset="0"/>
              <a:buChar char="•"/>
            </a:pPr>
            <a:r>
              <a:rPr lang="en-AU" sz="1200" kern="1200" dirty="0" smtClean="0">
                <a:solidFill>
                  <a:schemeClr val="tx1"/>
                </a:solidFill>
                <a:latin typeface="+mn-lt"/>
                <a:ea typeface="+mn-ea"/>
                <a:cs typeface="+mn-cs"/>
              </a:rPr>
              <a:t> New products and services – for example, providing:</a:t>
            </a:r>
          </a:p>
          <a:p>
            <a:pPr lvl="1">
              <a:buFont typeface="Arial" pitchFamily="34" charset="0"/>
              <a:buChar char="•"/>
            </a:pPr>
            <a:r>
              <a:rPr lang="en-AU" sz="1200" kern="1200" dirty="0" smtClean="0">
                <a:solidFill>
                  <a:schemeClr val="tx1"/>
                </a:solidFill>
                <a:latin typeface="+mn-lt"/>
                <a:ea typeface="+mn-ea"/>
                <a:cs typeface="+mn-cs"/>
              </a:rPr>
              <a:t> In-room service of meals (room service) will necessitate hiring staff able to serve breakfast, lunch, dinners and suppers to guests in their room</a:t>
            </a:r>
          </a:p>
          <a:p>
            <a:pPr lvl="1">
              <a:buFont typeface="Arial" pitchFamily="34" charset="0"/>
              <a:buChar char="•"/>
            </a:pPr>
            <a:r>
              <a:rPr lang="en-AU" sz="1200" kern="1200" dirty="0" smtClean="0">
                <a:solidFill>
                  <a:schemeClr val="tx1"/>
                </a:solidFill>
                <a:latin typeface="+mn-lt"/>
                <a:ea typeface="+mn-ea"/>
                <a:cs typeface="+mn-cs"/>
              </a:rPr>
              <a:t> Five-star service may mean the venue has to engage the services of a Concierge, porters, dining room hosts, lifeguards at the swimming pool and doormen</a:t>
            </a:r>
          </a:p>
          <a:p>
            <a:pPr>
              <a:buFont typeface="Arial" pitchFamily="34" charset="0"/>
              <a:buChar char="•"/>
            </a:pPr>
            <a:r>
              <a:rPr lang="en-AU" sz="1200" kern="1200" dirty="0" smtClean="0">
                <a:solidFill>
                  <a:schemeClr val="tx1"/>
                </a:solidFill>
                <a:latin typeface="+mn-lt"/>
                <a:ea typeface="+mn-ea"/>
                <a:cs typeface="+mn-cs"/>
              </a:rPr>
              <a:t> Revisions to previous allocation of responsibilities and tasks – while these should be reflected in revised job descriptions and specifications this is not always the case. For example, where a business is under new management, or decides to re-structure its organisational chart, there can be a need to recruit staff for certain departments who are multi-skilled to give the organisation more flexibility and cost-effective use of staff.</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to trainees factors to consider when determining the number of positions</a:t>
            </a:r>
            <a:r>
              <a:rPr lang="en-US" baseline="0" dirty="0" smtClean="0"/>
              <a:t> to be advertised and filled:</a:t>
            </a:r>
          </a:p>
          <a:p>
            <a:pPr>
              <a:buFont typeface="Arial" pitchFamily="34" charset="0"/>
              <a:buChar char="•"/>
            </a:pPr>
            <a:r>
              <a:rPr lang="en-AU" sz="1200" kern="1200" dirty="0" smtClean="0">
                <a:solidFill>
                  <a:schemeClr val="tx1"/>
                </a:solidFill>
                <a:latin typeface="+mn-lt"/>
                <a:ea typeface="+mn-ea"/>
                <a:cs typeface="+mn-cs"/>
              </a:rPr>
              <a:t> Advertised and expected service levels – there is a distinct relationship between staff levels and the standard of service provided to customers.  If the business venue advertises high-quality service it will charge accordingly and customers expect this to be refected in actual service delivery</a:t>
            </a:r>
          </a:p>
          <a:p>
            <a:pPr>
              <a:buFont typeface="Arial" pitchFamily="34" charset="0"/>
              <a:buChar char="•"/>
            </a:pPr>
            <a:r>
              <a:rPr lang="en-AU" sz="1200" kern="1200" dirty="0" smtClean="0">
                <a:solidFill>
                  <a:schemeClr val="tx1"/>
                </a:solidFill>
                <a:latin typeface="+mn-lt"/>
                <a:ea typeface="+mn-ea"/>
                <a:cs typeface="+mn-cs"/>
              </a:rPr>
              <a:t> Peaks and troughs of trade – recruitment of extra staff for high-demand times is to be expected</a:t>
            </a:r>
          </a:p>
          <a:p>
            <a:pPr>
              <a:buFont typeface="Arial" pitchFamily="34" charset="0"/>
              <a:buChar char="•"/>
            </a:pPr>
            <a:r>
              <a:rPr lang="en-AU" sz="1200" kern="1200" dirty="0" smtClean="0">
                <a:solidFill>
                  <a:schemeClr val="tx1"/>
                </a:solidFill>
                <a:latin typeface="+mn-lt"/>
                <a:ea typeface="+mn-ea"/>
                <a:cs typeface="+mn-cs"/>
              </a:rPr>
              <a:t> Waiting times – sufficient staff will need to be engaged to ensure the maximum acceptable waiting times for service to customers is not exceeded</a:t>
            </a:r>
          </a:p>
          <a:p>
            <a:pPr>
              <a:buFont typeface="Arial" pitchFamily="34" charset="0"/>
              <a:buChar char="•"/>
            </a:pPr>
            <a:r>
              <a:rPr lang="en-AU" sz="1200" kern="1200" dirty="0" smtClean="0">
                <a:solidFill>
                  <a:schemeClr val="tx1"/>
                </a:solidFill>
                <a:latin typeface="+mn-lt"/>
                <a:ea typeface="+mn-ea"/>
                <a:cs typeface="+mn-cs"/>
              </a:rPr>
              <a:t> Trading times – the longer the business is open, the greater the potential for more staff.</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to trainees factors to consider when determining the number of positions</a:t>
            </a:r>
            <a:r>
              <a:rPr lang="en-US" baseline="0" dirty="0" smtClean="0"/>
              <a:t> to be advertised and filled:</a:t>
            </a:r>
          </a:p>
          <a:p>
            <a:pPr>
              <a:buFont typeface="Arial" pitchFamily="34" charset="0"/>
              <a:buChar char="•"/>
            </a:pPr>
            <a:r>
              <a:rPr lang="en-AU" sz="1200" kern="1200" dirty="0" smtClean="0">
                <a:solidFill>
                  <a:schemeClr val="tx1"/>
                </a:solidFill>
                <a:latin typeface="+mn-lt"/>
                <a:ea typeface="+mn-ea"/>
                <a:cs typeface="+mn-cs"/>
              </a:rPr>
              <a:t> Labour budget – the link between staffing costs and revenue must always be a major consideration. No business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ever has unlimited scope to hire and pay for staff</a:t>
            </a:r>
          </a:p>
          <a:p>
            <a:pPr>
              <a:buFont typeface="Arial" pitchFamily="34" charset="0"/>
              <a:buChar char="•"/>
            </a:pPr>
            <a:r>
              <a:rPr lang="en-AU" sz="1200" kern="1200" dirty="0" smtClean="0">
                <a:solidFill>
                  <a:schemeClr val="tx1"/>
                </a:solidFill>
                <a:latin typeface="+mn-lt"/>
                <a:ea typeface="+mn-ea"/>
                <a:cs typeface="+mn-cs"/>
              </a:rPr>
              <a:t> Statements made on the organisational chart – if the chart identifies twenty room attendants, then the maximum number who can be hired is twenty unless there is special dispensation from management to hire more</a:t>
            </a:r>
          </a:p>
          <a:p>
            <a:pPr>
              <a:buFont typeface="Arial" pitchFamily="34" charset="0"/>
              <a:buChar char="•"/>
            </a:pPr>
            <a:r>
              <a:rPr lang="en-AU" sz="1200" kern="1200" dirty="0" smtClean="0">
                <a:solidFill>
                  <a:schemeClr val="tx1"/>
                </a:solidFill>
                <a:latin typeface="+mn-lt"/>
                <a:ea typeface="+mn-ea"/>
                <a:cs typeface="+mn-cs"/>
              </a:rPr>
              <a:t> Personal knowledge about upcoming events –knowledge about other businesses in the industry, their activities, historical information,</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local events</a:t>
            </a:r>
            <a:r>
              <a:rPr lang="en-AU" sz="1200" kern="1200" baseline="0" dirty="0" smtClean="0">
                <a:solidFill>
                  <a:schemeClr val="tx1"/>
                </a:solidFill>
                <a:latin typeface="+mn-lt"/>
                <a:ea typeface="+mn-ea"/>
                <a:cs typeface="+mn-cs"/>
              </a:rPr>
              <a:t> (business, </a:t>
            </a:r>
            <a:r>
              <a:rPr lang="en-AU" sz="1200" kern="1200" dirty="0" smtClean="0">
                <a:solidFill>
                  <a:schemeClr val="tx1"/>
                </a:solidFill>
                <a:latin typeface="+mn-lt"/>
                <a:ea typeface="+mn-ea"/>
                <a:cs typeface="+mn-cs"/>
              </a:rPr>
              <a:t>sporting, religious) and customer demand on the venue at these times</a:t>
            </a:r>
          </a:p>
          <a:p>
            <a:pPr>
              <a:buFont typeface="Arial" pitchFamily="34" charset="0"/>
              <a:buChar char="•"/>
            </a:pPr>
            <a:r>
              <a:rPr lang="en-AU" sz="1200" kern="1200" dirty="0" smtClean="0">
                <a:solidFill>
                  <a:schemeClr val="tx1"/>
                </a:solidFill>
                <a:latin typeface="+mn-lt"/>
                <a:ea typeface="+mn-ea"/>
                <a:cs typeface="+mn-cs"/>
              </a:rPr>
              <a:t> Contractual obligations – where a business has entered into a contract with a customer,</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all promises made regarding type and numbers of staff must be met.</a:t>
            </a:r>
          </a:p>
          <a:p>
            <a:pPr>
              <a:buFont typeface="Arial" pitchFamily="34" charset="0"/>
              <a:buNone/>
            </a:pPr>
            <a:endParaRPr lang="en-US" baseline="0" dirty="0" smtClean="0"/>
          </a:p>
          <a:p>
            <a:pPr>
              <a:buFont typeface="Arial" pitchFamily="34" charset="0"/>
              <a:buNone/>
            </a:pPr>
            <a:r>
              <a:rPr lang="en-US" b="1" baseline="0" dirty="0" smtClean="0"/>
              <a:t>Class Activity – Guest Speaker</a:t>
            </a:r>
          </a:p>
          <a:p>
            <a:pPr>
              <a:buFont typeface="Arial" pitchFamily="34" charset="0"/>
              <a:buNone/>
            </a:pPr>
            <a:r>
              <a:rPr lang="en-US" b="0" baseline="0" dirty="0" smtClean="0"/>
              <a:t>Trainer arranges for a senior industry person with experience with staffing matters to visit and:</a:t>
            </a:r>
          </a:p>
          <a:p>
            <a:pPr>
              <a:buFont typeface="Arial" pitchFamily="34" charset="0"/>
              <a:buChar char="•"/>
            </a:pPr>
            <a:r>
              <a:rPr lang="en-US" b="0" baseline="0" dirty="0" smtClean="0"/>
              <a:t> Talk to trainees about their job, what it entails, what they do, who they liaise with</a:t>
            </a:r>
          </a:p>
          <a:p>
            <a:pPr>
              <a:buFont typeface="Arial" pitchFamily="34" charset="0"/>
              <a:buChar char="•"/>
            </a:pPr>
            <a:r>
              <a:rPr lang="en-US" b="0" baseline="0" dirty="0" smtClean="0"/>
              <a:t> Explain challenges their job presents to them with reference to actual workplace events</a:t>
            </a:r>
          </a:p>
          <a:p>
            <a:pPr>
              <a:buFont typeface="Arial" pitchFamily="34" charset="0"/>
              <a:buChar char="•"/>
            </a:pPr>
            <a:r>
              <a:rPr lang="en-US" b="0" baseline="0" dirty="0" smtClean="0"/>
              <a:t> Discuss the factors they take into account when determining the type and numbers of vacancies to advertise</a:t>
            </a:r>
          </a:p>
          <a:p>
            <a:pPr>
              <a:buFont typeface="Arial" pitchFamily="34" charset="0"/>
              <a:buChar char="•"/>
            </a:pPr>
            <a:r>
              <a:rPr lang="en-US" b="0" baseline="0" dirty="0" smtClean="0"/>
              <a:t> Identify others they speak with before a final advertising decision for job vacancies is made</a:t>
            </a:r>
          </a:p>
          <a:p>
            <a:pPr>
              <a:buFont typeface="Arial" pitchFamily="34" charset="0"/>
              <a:buChar char="•"/>
            </a:pPr>
            <a:r>
              <a:rPr lang="en-US" b="0" baseline="0" dirty="0" smtClean="0"/>
              <a:t> Describe the options they use for advertising vacancies and sourcing staff.</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a:t>
            </a:r>
            <a:r>
              <a:rPr lang="en-AU" sz="1200" kern="1200" dirty="0" smtClean="0">
                <a:solidFill>
                  <a:schemeClr val="tx1"/>
                </a:solidFill>
                <a:latin typeface="+mn-lt"/>
                <a:ea typeface="+mn-ea"/>
                <a:cs typeface="+mn-cs"/>
              </a:rPr>
              <a:t>before interviews for positions are conducted, key selection criteria for the vacancies must be developed highlighting:</a:t>
            </a:r>
          </a:p>
          <a:p>
            <a:pPr>
              <a:buFont typeface="Arial" pitchFamily="34" charset="0"/>
              <a:buChar char="•"/>
            </a:pPr>
            <a:r>
              <a:rPr lang="en-AU" sz="1200" kern="1200" dirty="0" smtClean="0">
                <a:solidFill>
                  <a:schemeClr val="tx1"/>
                </a:solidFill>
                <a:latin typeface="+mn-lt"/>
                <a:ea typeface="+mn-ea"/>
                <a:cs typeface="+mn-cs"/>
              </a:rPr>
              <a:t> Key selection criteria (KSC) are also known simply as ‘selection criteria’</a:t>
            </a:r>
          </a:p>
          <a:p>
            <a:pPr>
              <a:buFont typeface="Arial" pitchFamily="34" charset="0"/>
              <a:buChar char="•"/>
            </a:pPr>
            <a:r>
              <a:rPr lang="en-AU" sz="1200" kern="1200" dirty="0" smtClean="0">
                <a:solidFill>
                  <a:schemeClr val="tx1"/>
                </a:solidFill>
                <a:latin typeface="+mn-lt"/>
                <a:ea typeface="+mn-ea"/>
                <a:cs typeface="+mn-cs"/>
              </a:rPr>
              <a:t> During the job analysis, all the tasks involved in the position being analysed would have been identified – for every position these tasks could be classified as major tasks and lesser sub-tasks. The main tasks of the job will be used to determine the key selection criteria for the job. In effect KSC are the major elements of the position</a:t>
            </a:r>
          </a:p>
          <a:p>
            <a:pPr>
              <a:buFont typeface="Arial" pitchFamily="34" charset="0"/>
              <a:buChar char="•"/>
            </a:pPr>
            <a:r>
              <a:rPr lang="en-AU" sz="1200" kern="1200" dirty="0" smtClean="0">
                <a:solidFill>
                  <a:schemeClr val="tx1"/>
                </a:solidFill>
                <a:latin typeface="+mn-lt"/>
                <a:ea typeface="+mn-ea"/>
                <a:cs typeface="+mn-cs"/>
              </a:rPr>
              <a:t> KSC may include stand-alone requirements of the job or they can be a combination of </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Job Description and Job Specification</a:t>
            </a:r>
            <a:r>
              <a:rPr lang="en-AU" sz="1200" kern="1200" baseline="0" dirty="0" smtClean="0">
                <a:solidFill>
                  <a:schemeClr val="tx1"/>
                </a:solidFill>
                <a:latin typeface="+mn-lt"/>
                <a:ea typeface="+mn-ea"/>
                <a:cs typeface="+mn-cs"/>
              </a:rPr>
              <a:t> information</a:t>
            </a:r>
            <a:r>
              <a:rPr lang="en-AU" sz="1200" kern="1200" dirty="0" smtClean="0">
                <a:solidFill>
                  <a:schemeClr val="tx1"/>
                </a:solidFill>
                <a:latin typeface="+mn-lt"/>
                <a:ea typeface="+mn-ea"/>
                <a:cs typeface="+mn-cs"/>
              </a:rPr>
              <a:t> drawn together into a single statement.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Other important aspects of the job can also form elements of the selection criteria</a:t>
            </a:r>
            <a:r>
              <a:rPr lang="en-AU" sz="1200" kern="1200" baseline="0" dirty="0" smtClean="0">
                <a:solidFill>
                  <a:schemeClr val="tx1"/>
                </a:solidFill>
                <a:latin typeface="+mn-lt"/>
                <a:ea typeface="+mn-ea"/>
                <a:cs typeface="+mn-cs"/>
              </a:rPr>
              <a:t>, including</a:t>
            </a:r>
            <a:r>
              <a:rPr lang="en-AU" sz="1200" kern="1200" dirty="0" smtClean="0">
                <a:solidFill>
                  <a:schemeClr val="tx1"/>
                </a:solidFill>
                <a:latin typeface="+mn-lt"/>
                <a:ea typeface="+mn-ea"/>
                <a:cs typeface="+mn-cs"/>
              </a:rPr>
              <a:t>:</a:t>
            </a:r>
          </a:p>
          <a:p>
            <a:pPr lvl="1">
              <a:buFont typeface="Arial" pitchFamily="34" charset="0"/>
              <a:buChar char="•"/>
            </a:pPr>
            <a:r>
              <a:rPr lang="en-AU" sz="1200" kern="1200" dirty="0" smtClean="0">
                <a:solidFill>
                  <a:schemeClr val="tx1"/>
                </a:solidFill>
                <a:latin typeface="+mn-lt"/>
                <a:ea typeface="+mn-ea"/>
                <a:cs typeface="+mn-cs"/>
              </a:rPr>
              <a:t> The need for a driver’s licence for some jobs</a:t>
            </a:r>
          </a:p>
          <a:p>
            <a:pPr lvl="1">
              <a:buFont typeface="Arial" pitchFamily="34" charset="0"/>
              <a:buChar char="•"/>
            </a:pPr>
            <a:r>
              <a:rPr lang="en-AU" sz="1200" kern="1200" dirty="0" smtClean="0">
                <a:solidFill>
                  <a:schemeClr val="tx1"/>
                </a:solidFill>
                <a:latin typeface="+mn-lt"/>
                <a:ea typeface="+mn-ea"/>
                <a:cs typeface="+mn-cs"/>
              </a:rPr>
              <a:t> Need for a Responsible Service of Alcohol certificate </a:t>
            </a:r>
          </a:p>
          <a:p>
            <a:pPr lvl="1">
              <a:buFont typeface="Arial" pitchFamily="34" charset="0"/>
              <a:buChar char="•"/>
            </a:pPr>
            <a:r>
              <a:rPr lang="en-AU" sz="1200" kern="1200" dirty="0" smtClean="0">
                <a:solidFill>
                  <a:schemeClr val="tx1"/>
                </a:solidFill>
                <a:latin typeface="+mn-lt"/>
                <a:ea typeface="+mn-ea"/>
                <a:cs typeface="+mn-cs"/>
              </a:rPr>
              <a:t> Ability to work weekends and nights.</a:t>
            </a:r>
          </a:p>
          <a:p>
            <a:pPr>
              <a:buFont typeface="Arial" pitchFamily="34" charset="0"/>
              <a:buChar char="•"/>
            </a:pPr>
            <a:r>
              <a:rPr lang="en-AU" sz="1200" kern="1200" dirty="0" smtClean="0">
                <a:solidFill>
                  <a:schemeClr val="tx1"/>
                </a:solidFill>
                <a:latin typeface="+mn-lt"/>
                <a:ea typeface="+mn-ea"/>
                <a:cs typeface="+mn-cs"/>
              </a:rPr>
              <a:t> KSC can be seen as the non-negotiable elements of the job, the requirements which must be fulfilled by anyone obtaining the job</a:t>
            </a:r>
          </a:p>
          <a:p>
            <a:pPr>
              <a:buFont typeface="Arial" pitchFamily="34" charset="0"/>
              <a:buChar char="•"/>
            </a:pPr>
            <a:r>
              <a:rPr lang="en-AU" sz="1200" kern="1200" dirty="0" smtClean="0">
                <a:solidFill>
                  <a:schemeClr val="tx1"/>
                </a:solidFill>
                <a:latin typeface="+mn-lt"/>
                <a:ea typeface="+mn-ea"/>
                <a:cs typeface="+mn-cs"/>
              </a:rPr>
              <a:t> When the candidates for the position are being interviewed, their applications should be judged by how well they measure up to these criteria.</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better the fit between the applicant and the selection criteria, the better the chances of them getting the job.</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trainees with additional information about KSC stating </a:t>
            </a:r>
            <a:r>
              <a:rPr lang="en-AU" sz="1200" kern="1200" dirty="0" smtClean="0">
                <a:solidFill>
                  <a:schemeClr val="tx1"/>
                </a:solidFill>
                <a:latin typeface="+mn-lt"/>
                <a:ea typeface="+mn-ea"/>
                <a:cs typeface="+mn-cs"/>
              </a:rPr>
              <a:t>Key Selection Criteria should be:</a:t>
            </a:r>
          </a:p>
          <a:p>
            <a:pPr>
              <a:buFont typeface="Arial" pitchFamily="34" charset="0"/>
              <a:buChar char="•"/>
            </a:pPr>
            <a:r>
              <a:rPr lang="en-AU" sz="1200" kern="1200" dirty="0" smtClean="0">
                <a:solidFill>
                  <a:schemeClr val="tx1"/>
                </a:solidFill>
                <a:latin typeface="+mn-lt"/>
                <a:ea typeface="+mn-ea"/>
                <a:cs typeface="+mn-cs"/>
              </a:rPr>
              <a:t> Put in writing – giving clarity for each position.</a:t>
            </a:r>
            <a:r>
              <a:rPr lang="en-AU" sz="1200" kern="1200" baseline="0" dirty="0" smtClean="0">
                <a:solidFill>
                  <a:schemeClr val="tx1"/>
                </a:solidFill>
                <a:latin typeface="+mn-lt"/>
                <a:ea typeface="+mn-ea"/>
                <a:cs typeface="+mn-cs"/>
              </a:rPr>
              <a:t> It is not enough they exist simply in the minds of managers, owners or supervisors</a:t>
            </a:r>
            <a:r>
              <a:rPr lang="en-AU" sz="1200" kern="1200" dirty="0" smtClean="0">
                <a:solidFill>
                  <a:schemeClr val="tx1"/>
                </a:solidFill>
                <a:latin typeface="+mn-lt"/>
                <a:ea typeface="+mn-ea"/>
                <a:cs typeface="+mn-cs"/>
              </a:rPr>
              <a:t> </a:t>
            </a:r>
          </a:p>
          <a:p>
            <a:pPr>
              <a:buFont typeface="Arial" pitchFamily="34" charset="0"/>
              <a:buChar char="•"/>
            </a:pPr>
            <a:r>
              <a:rPr lang="en-AU" sz="1200" kern="1200" dirty="0" smtClean="0">
                <a:solidFill>
                  <a:schemeClr val="tx1"/>
                </a:solidFill>
                <a:latin typeface="+mn-lt"/>
                <a:ea typeface="+mn-ea"/>
                <a:cs typeface="+mn-cs"/>
              </a:rPr>
              <a:t> Developed in conjunction with:</a:t>
            </a:r>
          </a:p>
          <a:p>
            <a:pPr lvl="1">
              <a:buFont typeface="Arial" pitchFamily="34" charset="0"/>
              <a:buChar char="•"/>
            </a:pPr>
            <a:r>
              <a:rPr lang="en-US" sz="1200" kern="1200" dirty="0" smtClean="0">
                <a:solidFill>
                  <a:schemeClr val="tx1"/>
                </a:solidFill>
                <a:latin typeface="+mn-lt"/>
                <a:ea typeface="+mn-ea"/>
                <a:cs typeface="+mn-cs"/>
              </a:rPr>
              <a:t> Management and owners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Supervisors – of the department where the employee will work and other allied supervisors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Staff – impacted by the work the position does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Shared with the people who will interview job applicants – and make the decision about the selection of the successful job applicant for the job vacancy so they know what these minimum requirements are. </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advising trainees about KSC explaining:</a:t>
            </a:r>
          </a:p>
          <a:p>
            <a:pPr>
              <a:buFont typeface="Arial" pitchFamily="34" charset="0"/>
              <a:buChar char="•"/>
            </a:pPr>
            <a:r>
              <a:rPr lang="en-AU" sz="1200" kern="1200" dirty="0" smtClean="0">
                <a:solidFill>
                  <a:schemeClr val="tx1"/>
                </a:solidFill>
                <a:latin typeface="+mn-lt"/>
                <a:ea typeface="+mn-ea"/>
                <a:cs typeface="+mn-cs"/>
              </a:rPr>
              <a:t> The exact nature of the KSC will vary between positions and between enterprises</a:t>
            </a:r>
            <a:endParaRPr lang="en-AU" sz="1200" kern="1200" baseline="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In general KSC will address:</a:t>
            </a:r>
          </a:p>
          <a:p>
            <a:pPr lvl="1">
              <a:buFont typeface="Arial" pitchFamily="34" charset="0"/>
              <a:buChar char="•"/>
            </a:pPr>
            <a:r>
              <a:rPr lang="en-AU" sz="1200" kern="1200" dirty="0" smtClean="0">
                <a:solidFill>
                  <a:schemeClr val="tx1"/>
                </a:solidFill>
                <a:latin typeface="+mn-lt"/>
                <a:ea typeface="+mn-ea"/>
                <a:cs typeface="+mn-cs"/>
              </a:rPr>
              <a:t> Competencies – these are the skills required to discharge the requirements of the position as identified in the job analysis</a:t>
            </a:r>
          </a:p>
          <a:p>
            <a:pPr lvl="1">
              <a:buFont typeface="Arial" pitchFamily="34" charset="0"/>
              <a:buChar char="•"/>
            </a:pPr>
            <a:r>
              <a:rPr lang="en-AU" sz="1200" kern="1200" dirty="0" smtClean="0">
                <a:solidFill>
                  <a:schemeClr val="tx1"/>
                </a:solidFill>
                <a:latin typeface="+mn-lt"/>
                <a:ea typeface="+mn-ea"/>
                <a:cs typeface="+mn-cs"/>
              </a:rPr>
              <a:t> Experience – which can be written to reflect the needs of the position in terms of, as appropriate:</a:t>
            </a:r>
          </a:p>
          <a:p>
            <a:pPr lvl="2">
              <a:buFont typeface="Arial" pitchFamily="34" charset="0"/>
              <a:buChar char="•"/>
            </a:pPr>
            <a:r>
              <a:rPr lang="en-US" sz="1200" kern="1200" dirty="0" smtClean="0">
                <a:solidFill>
                  <a:schemeClr val="tx1"/>
                </a:solidFill>
                <a:latin typeface="+mn-lt"/>
                <a:ea typeface="+mn-ea"/>
                <a:cs typeface="+mn-cs"/>
              </a:rPr>
              <a:t> Number of years experience – in an industry sector. Care must be exercised to ensure this KSC does not </a:t>
            </a:r>
            <a:r>
              <a:rPr lang="en-US" sz="1200" i="1" kern="1200" dirty="0" smtClean="0">
                <a:solidFill>
                  <a:schemeClr val="tx1"/>
                </a:solidFill>
                <a:latin typeface="+mn-lt"/>
                <a:ea typeface="+mn-ea"/>
                <a:cs typeface="+mn-cs"/>
              </a:rPr>
              <a:t>indirectly</a:t>
            </a:r>
            <a:r>
              <a:rPr lang="en-US" sz="1200" kern="1200" dirty="0" smtClean="0">
                <a:solidFill>
                  <a:schemeClr val="tx1"/>
                </a:solidFill>
                <a:latin typeface="+mn-lt"/>
                <a:ea typeface="+mn-ea"/>
                <a:cs typeface="+mn-cs"/>
              </a:rPr>
              <a:t> breach EO requirements (for example, a KSC requiring 20 years experience automatically excludes selection of people under the age of 40 years and thus is discriminatory)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Time using a nominated system, item of equipment or technology</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Context – stating (for example) the successful candidate must have experience ‘dealing with people’, ‘selling packages to corporate clients’ or ‘supervising waiting staff’</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advising trainees about KSC explaining:</a:t>
            </a:r>
          </a:p>
          <a:p>
            <a:pPr>
              <a:buFont typeface="Arial" pitchFamily="34" charset="0"/>
              <a:buChar char="•"/>
            </a:pPr>
            <a:r>
              <a:rPr lang="en-AU" sz="1200" kern="1200" dirty="0" smtClean="0">
                <a:solidFill>
                  <a:schemeClr val="tx1"/>
                </a:solidFill>
                <a:latin typeface="+mn-lt"/>
                <a:ea typeface="+mn-ea"/>
                <a:cs typeface="+mn-cs"/>
              </a:rPr>
              <a:t> Qualifications – detailing the formal credentials required for the position. These qualifications may be legal or internal requirements</a:t>
            </a:r>
          </a:p>
          <a:p>
            <a:pPr>
              <a:buFont typeface="Arial" pitchFamily="34" charset="0"/>
              <a:buChar char="•"/>
            </a:pPr>
            <a:r>
              <a:rPr lang="en-AU" sz="1200" kern="1200" dirty="0" smtClean="0">
                <a:solidFill>
                  <a:schemeClr val="tx1"/>
                </a:solidFill>
                <a:latin typeface="+mn-lt"/>
                <a:ea typeface="+mn-ea"/>
                <a:cs typeface="+mn-cs"/>
              </a:rPr>
              <a:t> Compatibility –the need for any new staff to integrate smoothly into the existing staffing arrangements and structure of the business. The ability of new employees to ‘fit in’ and ‘get on’ with existing staff cannot be stressed too strongly</a:t>
            </a:r>
          </a:p>
          <a:p>
            <a:pPr>
              <a:buFont typeface="Arial" pitchFamily="34" charset="0"/>
              <a:buChar char="•"/>
            </a:pPr>
            <a:r>
              <a:rPr lang="en-AU" sz="1200" kern="1200" dirty="0" smtClean="0">
                <a:solidFill>
                  <a:schemeClr val="tx1"/>
                </a:solidFill>
                <a:latin typeface="+mn-lt"/>
                <a:ea typeface="+mn-ea"/>
                <a:cs typeface="+mn-cs"/>
              </a:rPr>
              <a:t> KSC are also used as the basis for preparing Interview Rating Sheets</a:t>
            </a:r>
          </a:p>
          <a:p>
            <a:pPr>
              <a:buFont typeface="Arial" pitchFamily="34" charset="0"/>
              <a:buNone/>
            </a:pPr>
            <a:endParaRPr lang="en-US" dirty="0" smtClean="0"/>
          </a:p>
          <a:p>
            <a:pPr>
              <a:buFont typeface="Arial" pitchFamily="34" charset="0"/>
              <a:buNone/>
            </a:pPr>
            <a:r>
              <a:rPr lang="en-US" b="1" dirty="0" smtClean="0"/>
              <a:t>Class Activity (1) – Handouts</a:t>
            </a:r>
          </a:p>
          <a:p>
            <a:pPr>
              <a:buFont typeface="Arial" pitchFamily="34" charset="0"/>
              <a:buNone/>
            </a:pPr>
            <a:r>
              <a:rPr lang="en-US" b="0" dirty="0" smtClean="0"/>
              <a:t>Trainer obtains a number of KSC for a variety of positions and the job description (or job analysis documentation) on which they were based and:</a:t>
            </a:r>
          </a:p>
          <a:p>
            <a:pPr>
              <a:buFont typeface="Arial" pitchFamily="34" charset="0"/>
              <a:buChar char="•"/>
            </a:pPr>
            <a:r>
              <a:rPr lang="en-US" b="0" dirty="0" smtClean="0"/>
              <a:t> Distributes same to trainees</a:t>
            </a:r>
          </a:p>
          <a:p>
            <a:pPr>
              <a:buFont typeface="Arial" pitchFamily="34" charset="0"/>
              <a:buChar char="•"/>
            </a:pPr>
            <a:r>
              <a:rPr lang="en-US" b="0" dirty="0" smtClean="0"/>
              <a:t> Discusses and explains each KSC</a:t>
            </a:r>
          </a:p>
          <a:p>
            <a:pPr>
              <a:buFont typeface="Arial" pitchFamily="34" charset="0"/>
              <a:buChar char="•"/>
            </a:pPr>
            <a:r>
              <a:rPr lang="en-US" b="0" dirty="0" smtClean="0"/>
              <a:t> Relates establishment of KSC to supporting job analysis</a:t>
            </a:r>
            <a:r>
              <a:rPr lang="en-US" b="0" baseline="0" dirty="0" smtClean="0"/>
              <a:t> or job description identifying why each KSC has been chosen as a KSC.</a:t>
            </a:r>
          </a:p>
          <a:p>
            <a:pPr>
              <a:buFont typeface="Arial" pitchFamily="34" charset="0"/>
              <a:buChar char="•"/>
            </a:pPr>
            <a:endParaRPr lang="en-US" b="0" baseline="0" dirty="0" smtClean="0"/>
          </a:p>
          <a:p>
            <a:pPr>
              <a:buFont typeface="Arial" pitchFamily="34" charset="0"/>
              <a:buNone/>
            </a:pPr>
            <a:r>
              <a:rPr lang="en-US" b="1" baseline="0" dirty="0" smtClean="0"/>
              <a:t>Class Activity (2) – Individual Exercise</a:t>
            </a:r>
          </a:p>
          <a:p>
            <a:pPr>
              <a:buFont typeface="Arial" pitchFamily="34" charset="0"/>
              <a:buNone/>
            </a:pPr>
            <a:r>
              <a:rPr lang="en-US" b="0" dirty="0" smtClean="0"/>
              <a:t>Trainer:</a:t>
            </a:r>
          </a:p>
          <a:p>
            <a:pPr>
              <a:buFont typeface="Arial" pitchFamily="34" charset="0"/>
              <a:buChar char="•"/>
            </a:pPr>
            <a:r>
              <a:rPr lang="en-US" b="0" dirty="0" smtClean="0"/>
              <a:t> Hands out several</a:t>
            </a:r>
            <a:r>
              <a:rPr lang="en-US" b="0" baseline="0" dirty="0" smtClean="0"/>
              <a:t> examples of KSC and associated Job Analysis documentation or Job Description (these may ones used in the above Class Activity)</a:t>
            </a:r>
          </a:p>
          <a:p>
            <a:pPr>
              <a:buFont typeface="Arial" pitchFamily="34" charset="0"/>
              <a:buChar char="•"/>
            </a:pPr>
            <a:r>
              <a:rPr lang="en-US" b="0" baseline="0" dirty="0" smtClean="0"/>
              <a:t> Identifies several job positions relevant to the </a:t>
            </a:r>
            <a:r>
              <a:rPr lang="en-US" b="0" baseline="0" dirty="0" err="1" smtClean="0"/>
              <a:t>labour</a:t>
            </a:r>
            <a:r>
              <a:rPr lang="en-US" b="0" baseline="0" dirty="0" smtClean="0"/>
              <a:t> division</a:t>
            </a:r>
          </a:p>
          <a:p>
            <a:pPr>
              <a:buFont typeface="Arial" pitchFamily="34" charset="0"/>
              <a:buChar char="•"/>
            </a:pPr>
            <a:r>
              <a:rPr lang="en-US" b="0" baseline="0" dirty="0" smtClean="0"/>
              <a:t> Allocates one position to each trainee</a:t>
            </a:r>
          </a:p>
          <a:p>
            <a:pPr>
              <a:buFont typeface="Arial" pitchFamily="34" charset="0"/>
              <a:buChar char="•"/>
            </a:pPr>
            <a:r>
              <a:rPr lang="en-US" b="0" baseline="0" dirty="0" smtClean="0"/>
              <a:t> Asks individual trainees to prepare sample KSC for the position they have been allocated – trainees may be given access to text books, internet and other resources. </a:t>
            </a:r>
          </a:p>
          <a:p>
            <a:pPr>
              <a:buFont typeface="Arial" pitchFamily="34" charset="0"/>
              <a:buChar char="•"/>
            </a:pPr>
            <a:r>
              <a:rPr lang="en-US" sz="1200" b="0" kern="1200" baseline="0" dirty="0" smtClean="0">
                <a:solidFill>
                  <a:schemeClr val="tx1"/>
                </a:solidFill>
                <a:latin typeface="+mn-lt"/>
                <a:ea typeface="+mn-ea"/>
                <a:cs typeface="+mn-cs"/>
              </a:rPr>
              <a:t> </a:t>
            </a:r>
            <a:r>
              <a:rPr lang="en-AU" sz="1200" b="0" kern="1200" baseline="0" dirty="0" smtClean="0">
                <a:solidFill>
                  <a:schemeClr val="tx1"/>
                </a:solidFill>
                <a:latin typeface="+mn-lt"/>
                <a:ea typeface="+mn-ea"/>
                <a:cs typeface="+mn-cs"/>
              </a:rPr>
              <a:t>Assists </a:t>
            </a:r>
            <a:r>
              <a:rPr lang="en-US" b="0" baseline="0" dirty="0" smtClean="0"/>
              <a:t>trainees as required</a:t>
            </a:r>
          </a:p>
          <a:p>
            <a:pPr>
              <a:buFont typeface="Arial" pitchFamily="34" charset="0"/>
              <a:buChar char="•"/>
            </a:pPr>
            <a:r>
              <a:rPr lang="en-US" b="0" baseline="0" dirty="0" smtClean="0"/>
              <a:t> Provides feedback on their finished KSC.</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highlights to trainees </a:t>
            </a:r>
            <a:r>
              <a:rPr lang="en-AU" sz="1200" kern="1200" dirty="0" smtClean="0">
                <a:solidFill>
                  <a:schemeClr val="tx1"/>
                </a:solidFill>
                <a:latin typeface="+mn-lt"/>
                <a:ea typeface="+mn-ea"/>
                <a:cs typeface="+mn-cs"/>
              </a:rPr>
              <a:t>authority to recruit staff rests with very few people in any enterprise.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Sometimes only one person has the authority to permit the recruitment of staff.</a:t>
            </a:r>
          </a:p>
          <a:p>
            <a:pPr>
              <a:buFont typeface="Arial" pitchFamily="34" charset="0"/>
              <a:buNone/>
            </a:pPr>
            <a:endParaRPr lang="en-US" dirty="0" smtClean="0"/>
          </a:p>
          <a:p>
            <a:pPr>
              <a:buFont typeface="Arial" pitchFamily="34" charset="0"/>
              <a:buNone/>
            </a:pPr>
            <a:r>
              <a:rPr lang="en-US" dirty="0" smtClean="0"/>
              <a:t>Trainer further explains to trainees:</a:t>
            </a:r>
          </a:p>
          <a:p>
            <a:pPr>
              <a:buFont typeface="Arial" pitchFamily="34" charset="0"/>
              <a:buChar char="•"/>
            </a:pPr>
            <a:r>
              <a:rPr lang="en-AU" sz="1200" kern="1200" dirty="0" smtClean="0">
                <a:solidFill>
                  <a:schemeClr val="tx1"/>
                </a:solidFill>
                <a:latin typeface="+mn-lt"/>
                <a:ea typeface="+mn-ea"/>
                <a:cs typeface="+mn-cs"/>
              </a:rPr>
              <a:t> As they progress in the industry, they will find they have an increasing amount of discretionary authority. This means there will be more and more things they are allowed to make decisions about without having to consult anyone else</a:t>
            </a:r>
          </a:p>
          <a:p>
            <a:pPr>
              <a:buFont typeface="Arial" pitchFamily="34" charset="0"/>
              <a:buChar char="•"/>
            </a:pPr>
            <a:r>
              <a:rPr lang="en-AU" sz="1200" kern="1200" dirty="0" smtClean="0">
                <a:solidFill>
                  <a:schemeClr val="tx1"/>
                </a:solidFill>
                <a:latin typeface="+mn-lt"/>
                <a:ea typeface="+mn-ea"/>
                <a:cs typeface="+mn-cs"/>
              </a:rPr>
              <a:t> They will have to earn the confidence of management before this happens – based on their workplace  decisions and actions</a:t>
            </a:r>
          </a:p>
          <a:p>
            <a:pPr>
              <a:buFont typeface="Arial" pitchFamily="34" charset="0"/>
              <a:buChar char="•"/>
            </a:pPr>
            <a:r>
              <a:rPr lang="en-AU" sz="1200" kern="1200" dirty="0" smtClean="0">
                <a:solidFill>
                  <a:schemeClr val="tx1"/>
                </a:solidFill>
                <a:latin typeface="+mn-lt"/>
                <a:ea typeface="+mn-ea"/>
                <a:cs typeface="+mn-cs"/>
              </a:rPr>
              <a:t> They will never be allowed to make any hiring decisions early in their career – they will </a:t>
            </a:r>
            <a:r>
              <a:rPr lang="en-AU" sz="1200" b="1" kern="1200" dirty="0" smtClean="0">
                <a:solidFill>
                  <a:schemeClr val="tx1"/>
                </a:solidFill>
                <a:latin typeface="+mn-lt"/>
                <a:ea typeface="+mn-ea"/>
                <a:cs typeface="+mn-cs"/>
              </a:rPr>
              <a:t>always </a:t>
            </a:r>
            <a:r>
              <a:rPr lang="en-AU" sz="1200" kern="1200" dirty="0" smtClean="0">
                <a:solidFill>
                  <a:schemeClr val="tx1"/>
                </a:solidFill>
                <a:latin typeface="+mn-lt"/>
                <a:ea typeface="+mn-ea"/>
                <a:cs typeface="+mn-cs"/>
              </a:rPr>
              <a:t>have to seek permission to hire and fire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staff.</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trainees </a:t>
            </a:r>
            <a:r>
              <a:rPr lang="en-AU" sz="1200" kern="1200" dirty="0" smtClean="0">
                <a:solidFill>
                  <a:schemeClr val="tx1"/>
                </a:solidFill>
                <a:latin typeface="+mn-lt"/>
                <a:ea typeface="+mn-ea"/>
                <a:cs typeface="+mn-cs"/>
              </a:rPr>
              <a:t>approval to hire staff may be:</a:t>
            </a:r>
          </a:p>
          <a:p>
            <a:pPr>
              <a:buFont typeface="Arial" pitchFamily="34" charset="0"/>
              <a:buChar char="•"/>
            </a:pPr>
            <a:r>
              <a:rPr lang="en-AU" sz="1200" kern="1200" dirty="0" smtClean="0">
                <a:solidFill>
                  <a:schemeClr val="tx1"/>
                </a:solidFill>
                <a:latin typeface="+mn-lt"/>
                <a:ea typeface="+mn-ea"/>
                <a:cs typeface="+mn-cs"/>
              </a:rPr>
              <a:t> Verbal approval only – this is common in most enterprises. It means there is no written authorisation given, at all</a:t>
            </a:r>
          </a:p>
          <a:p>
            <a:pPr>
              <a:buFont typeface="Arial" pitchFamily="34" charset="0"/>
              <a:buChar char="•"/>
            </a:pPr>
            <a:r>
              <a:rPr lang="en-AU" sz="1200" kern="1200" dirty="0" smtClean="0">
                <a:solidFill>
                  <a:schemeClr val="tx1"/>
                </a:solidFill>
                <a:latin typeface="+mn-lt"/>
                <a:ea typeface="+mn-ea"/>
                <a:cs typeface="+mn-cs"/>
              </a:rPr>
              <a:t> Written approval – a formal document identifying relevant key points:</a:t>
            </a:r>
          </a:p>
          <a:p>
            <a:pPr lvl="1">
              <a:buFont typeface="Arial" pitchFamily="34" charset="0"/>
              <a:buChar char="•"/>
            </a:pPr>
            <a:r>
              <a:rPr lang="en-US" sz="1200" kern="1200" dirty="0" smtClean="0">
                <a:solidFill>
                  <a:schemeClr val="tx1"/>
                </a:solidFill>
                <a:latin typeface="+mn-lt"/>
                <a:ea typeface="+mn-ea"/>
                <a:cs typeface="+mn-cs"/>
              </a:rPr>
              <a:t> The positions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Numbers of staff for whom recruitment permission is granted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Department recruitment applies to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Remuneration for each position for which authorisation is given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Timelines – for recruitment and selection. </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a:t>
            </a:r>
            <a:r>
              <a:rPr lang="en-AU" sz="1200" kern="1200" dirty="0" smtClean="0">
                <a:solidFill>
                  <a:schemeClr val="tx1"/>
                </a:solidFill>
                <a:latin typeface="+mn-lt"/>
                <a:ea typeface="+mn-ea"/>
                <a:cs typeface="+mn-cs"/>
              </a:rPr>
              <a:t>in order to obtain approval to hire staff they may need to:</a:t>
            </a:r>
          </a:p>
          <a:p>
            <a:pPr>
              <a:buFont typeface="Arial" pitchFamily="34" charset="0"/>
              <a:buChar char="•"/>
            </a:pPr>
            <a:r>
              <a:rPr lang="en-AU" sz="1200" kern="1200" dirty="0" smtClean="0">
                <a:solidFill>
                  <a:schemeClr val="tx1"/>
                </a:solidFill>
                <a:latin typeface="+mn-lt"/>
                <a:ea typeface="+mn-ea"/>
                <a:cs typeface="+mn-cs"/>
              </a:rPr>
              <a:t> Verbally discuss the need for staff with management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 this may involve:</a:t>
            </a:r>
          </a:p>
          <a:p>
            <a:pPr lvl="1">
              <a:buFont typeface="Arial" pitchFamily="34" charset="0"/>
              <a:buChar char="•"/>
            </a:pPr>
            <a:r>
              <a:rPr lang="en-AU" sz="1200" kern="1200" dirty="0" smtClean="0">
                <a:solidFill>
                  <a:schemeClr val="tx1"/>
                </a:solidFill>
                <a:latin typeface="+mn-lt"/>
                <a:ea typeface="+mn-ea"/>
                <a:cs typeface="+mn-cs"/>
              </a:rPr>
              <a:t> Explaining why staff are needed</a:t>
            </a:r>
          </a:p>
          <a:p>
            <a:pPr lvl="1">
              <a:buFont typeface="Arial" pitchFamily="34" charset="0"/>
              <a:buChar char="•"/>
            </a:pPr>
            <a:r>
              <a:rPr lang="en-AU" sz="1200" kern="1200" dirty="0" smtClean="0">
                <a:solidFill>
                  <a:schemeClr val="tx1"/>
                </a:solidFill>
                <a:latin typeface="+mn-lt"/>
                <a:ea typeface="+mn-ea"/>
                <a:cs typeface="+mn-cs"/>
              </a:rPr>
              <a:t> Making recommendations about numbers, job types and sometimes suitable</a:t>
            </a:r>
            <a:r>
              <a:rPr lang="en-AU" sz="1200" kern="1200" baseline="0" dirty="0" smtClean="0">
                <a:solidFill>
                  <a:schemeClr val="tx1"/>
                </a:solidFill>
                <a:latin typeface="+mn-lt"/>
                <a:ea typeface="+mn-ea"/>
                <a:cs typeface="+mn-cs"/>
              </a:rPr>
              <a:t> people to promote, hire or train</a:t>
            </a:r>
          </a:p>
          <a:p>
            <a:pPr lvl="1">
              <a:buFont typeface="Arial" pitchFamily="34" charset="0"/>
              <a:buChar char="•"/>
            </a:pPr>
            <a:r>
              <a:rPr lang="en-AU" sz="1200" kern="1200" baseline="0" dirty="0" smtClean="0">
                <a:solidFill>
                  <a:schemeClr val="tx1"/>
                </a:solidFill>
                <a:latin typeface="+mn-lt"/>
                <a:ea typeface="+mn-ea"/>
                <a:cs typeface="+mn-cs"/>
              </a:rPr>
              <a:t> Justifying and defending proposals made to management</a:t>
            </a:r>
          </a:p>
          <a:p>
            <a:pPr lvl="1">
              <a:buFont typeface="Arial" pitchFamily="34" charset="0"/>
              <a:buChar char="•"/>
            </a:pPr>
            <a:r>
              <a:rPr lang="en-AU" sz="1200" kern="1200" baseline="0" dirty="0" smtClean="0">
                <a:solidFill>
                  <a:schemeClr val="tx1"/>
                </a:solidFill>
                <a:latin typeface="+mn-lt"/>
                <a:ea typeface="+mn-ea"/>
                <a:cs typeface="+mn-cs"/>
              </a:rPr>
              <a:t> Detailing the costs involved – in advertising and labour costs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Make a formal presentation – identifying the need for identified staff</a:t>
            </a:r>
          </a:p>
          <a:p>
            <a:pPr>
              <a:buFont typeface="Arial" pitchFamily="34" charset="0"/>
              <a:buChar char="•"/>
            </a:pPr>
            <a:r>
              <a:rPr lang="en-AU" sz="1200" kern="1200" dirty="0" smtClean="0">
                <a:solidFill>
                  <a:schemeClr val="tx1"/>
                </a:solidFill>
                <a:latin typeface="+mn-lt"/>
                <a:ea typeface="+mn-ea"/>
                <a:cs typeface="+mn-cs"/>
              </a:rPr>
              <a:t> Demonstrate compliance with internal enterprise policies – in recruitment and selection activities.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there </a:t>
            </a:r>
            <a:r>
              <a:rPr lang="en-AU" sz="1200" kern="1200" dirty="0" smtClean="0">
                <a:solidFill>
                  <a:schemeClr val="tx1"/>
                </a:solidFill>
                <a:latin typeface="+mn-lt"/>
                <a:ea typeface="+mn-ea"/>
                <a:cs typeface="+mn-cs"/>
              </a:rPr>
              <a:t>is always a need for trainees to comply with enterprise policies in relation to recruitment.</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policies may embrace:</a:t>
            </a:r>
          </a:p>
          <a:p>
            <a:pPr>
              <a:buFont typeface="Arial" pitchFamily="34" charset="0"/>
              <a:buChar char="•"/>
            </a:pPr>
            <a:r>
              <a:rPr lang="en-AU" sz="1200" kern="1200" dirty="0" smtClean="0">
                <a:solidFill>
                  <a:schemeClr val="tx1"/>
                </a:solidFill>
                <a:latin typeface="+mn-lt"/>
                <a:ea typeface="+mn-ea"/>
                <a:cs typeface="+mn-cs"/>
              </a:rPr>
              <a:t> Approval processes for additional recruitment –from senior</a:t>
            </a:r>
            <a:r>
              <a:rPr lang="en-AU" sz="1200" kern="1200" baseline="0" dirty="0" smtClean="0">
                <a:solidFill>
                  <a:schemeClr val="tx1"/>
                </a:solidFill>
                <a:latin typeface="+mn-lt"/>
                <a:ea typeface="+mn-ea"/>
                <a:cs typeface="+mn-cs"/>
              </a:rPr>
              <a:t> management or Head Office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Approval processes in relation to advertised remuneration – some businesses steer away from specifying remuneration in their advertisements.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Sometimes the salary range for supervisors, managers and executives may be advertised but hourly pay rates for bar staff, waiting staff, room attendants and other operational-level staff cannot be advertised.</a:t>
            </a:r>
          </a:p>
          <a:p>
            <a:pPr>
              <a:buFont typeface="Arial" pitchFamily="34" charset="0"/>
              <a:buChar char="•"/>
            </a:pPr>
            <a:r>
              <a:rPr lang="en-AU" sz="1200" kern="1200" dirty="0" smtClean="0">
                <a:solidFill>
                  <a:schemeClr val="tx1"/>
                </a:solidFill>
                <a:latin typeface="+mn-lt"/>
                <a:ea typeface="+mn-ea"/>
                <a:cs typeface="+mn-cs"/>
              </a:rPr>
              <a:t> Required profile of potential employees – are management are prepared to employ trainees for a certain position or whether they want fully-trained and experienced staff. Some businesses have a standard orientation to new staff: </a:t>
            </a:r>
          </a:p>
          <a:p>
            <a:pPr lvl="1">
              <a:buFont typeface="Arial" pitchFamily="34" charset="0"/>
              <a:buChar char="•"/>
            </a:pPr>
            <a:r>
              <a:rPr lang="en-AU" sz="1200" kern="1200" dirty="0" smtClean="0">
                <a:solidFill>
                  <a:schemeClr val="tx1"/>
                </a:solidFill>
                <a:latin typeface="+mn-lt"/>
                <a:ea typeface="+mn-ea"/>
                <a:cs typeface="+mn-cs"/>
              </a:rPr>
              <a:t> Some say they want </a:t>
            </a:r>
            <a:r>
              <a:rPr lang="en-AU" sz="1200" i="1" kern="1200" dirty="0" smtClean="0">
                <a:solidFill>
                  <a:schemeClr val="tx1"/>
                </a:solidFill>
                <a:latin typeface="+mn-lt"/>
                <a:ea typeface="+mn-ea"/>
                <a:cs typeface="+mn-cs"/>
              </a:rPr>
              <a:t>untrained</a:t>
            </a:r>
            <a:r>
              <a:rPr lang="en-AU" sz="1200" kern="1200" dirty="0" smtClean="0">
                <a:solidFill>
                  <a:schemeClr val="tx1"/>
                </a:solidFill>
                <a:latin typeface="+mn-lt"/>
                <a:ea typeface="+mn-ea"/>
                <a:cs typeface="+mn-cs"/>
              </a:rPr>
              <a:t> staff so they can teach them the way their organisation operates, do not come with inherent bad habits or other baggage from previous employers. Where government provides a wage subsidy (plus other benefits) for trainee positions, this can be a significant factor in determining who is targeted for a nominated position. </a:t>
            </a:r>
          </a:p>
          <a:p>
            <a:pPr lvl="1">
              <a:buFont typeface="Arial" pitchFamily="34" charset="0"/>
              <a:buChar char="•"/>
            </a:pPr>
            <a:r>
              <a:rPr lang="en-AU" sz="1200" kern="1200" dirty="0" smtClean="0">
                <a:solidFill>
                  <a:schemeClr val="tx1"/>
                </a:solidFill>
                <a:latin typeface="+mn-lt"/>
                <a:ea typeface="+mn-ea"/>
                <a:cs typeface="+mn-cs"/>
              </a:rPr>
              <a:t> On the other hand, some businesses will say they only ever employ fully-trained staff because this saves then time and money on training, plus they are 100% work ready when they arrive.</a:t>
            </a:r>
          </a:p>
          <a:p>
            <a:pPr lvl="1">
              <a:buFont typeface="Arial" pitchFamily="34" charset="0"/>
              <a:buChar char="•"/>
            </a:pPr>
            <a:r>
              <a:rPr lang="en-AU" sz="1200" kern="1200" dirty="0" smtClean="0">
                <a:solidFill>
                  <a:schemeClr val="tx1"/>
                </a:solidFill>
                <a:latin typeface="+mn-lt"/>
                <a:ea typeface="+mn-ea"/>
                <a:cs typeface="+mn-cs"/>
              </a:rPr>
              <a:t> Another variation is to aim for a blend of new</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staff with experienced</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fully-trained staff. Some workplaces will also aim for a </a:t>
            </a:r>
            <a:r>
              <a:rPr lang="en-AU" sz="1200" i="1" kern="1200" dirty="0" smtClean="0">
                <a:solidFill>
                  <a:schemeClr val="tx1"/>
                </a:solidFill>
                <a:latin typeface="+mn-lt"/>
                <a:ea typeface="+mn-ea"/>
                <a:cs typeface="+mn-cs"/>
              </a:rPr>
              <a:t>gender</a:t>
            </a:r>
            <a:r>
              <a:rPr lang="en-AU" sz="1200" kern="1200" dirty="0" smtClean="0">
                <a:solidFill>
                  <a:schemeClr val="tx1"/>
                </a:solidFill>
                <a:latin typeface="+mn-lt"/>
                <a:ea typeface="+mn-ea"/>
                <a:cs typeface="+mn-cs"/>
              </a:rPr>
              <a:t> balance, and a balance between different </a:t>
            </a:r>
            <a:r>
              <a:rPr lang="en-AU" sz="1200" i="1" kern="1200" dirty="0" smtClean="0">
                <a:solidFill>
                  <a:schemeClr val="tx1"/>
                </a:solidFill>
                <a:latin typeface="+mn-lt"/>
                <a:ea typeface="+mn-ea"/>
                <a:cs typeface="+mn-cs"/>
              </a:rPr>
              <a:t>ethnic backgrounds</a:t>
            </a:r>
            <a:r>
              <a:rPr lang="en-AU" sz="1200" kern="1200" dirty="0" smtClean="0">
                <a:solidFill>
                  <a:schemeClr val="tx1"/>
                </a:solidFill>
                <a:latin typeface="+mn-lt"/>
                <a:ea typeface="+mn-ea"/>
                <a:cs typeface="+mn-cs"/>
              </a:rPr>
              <a:t> to maximise the languages spoken.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provide information to trainees regarding the need to </a:t>
            </a:r>
            <a:r>
              <a:rPr lang="en-AU" sz="1200" kern="1200" dirty="0" smtClean="0">
                <a:solidFill>
                  <a:schemeClr val="tx1"/>
                </a:solidFill>
                <a:latin typeface="+mn-lt"/>
                <a:ea typeface="+mn-ea"/>
                <a:cs typeface="+mn-cs"/>
              </a:rPr>
              <a:t>to comply with enterprise policies in relation to recruitment, which may include:</a:t>
            </a:r>
            <a:endParaRPr lang="en-US" dirty="0" smtClean="0"/>
          </a:p>
          <a:p>
            <a:pPr>
              <a:buFont typeface="Arial" pitchFamily="34" charset="0"/>
              <a:buChar char="•"/>
            </a:pPr>
            <a:r>
              <a:rPr lang="en-AU" sz="1200" kern="1200" dirty="0" smtClean="0">
                <a:solidFill>
                  <a:schemeClr val="tx1"/>
                </a:solidFill>
                <a:latin typeface="+mn-lt"/>
                <a:ea typeface="+mn-ea"/>
                <a:cs typeface="+mn-cs"/>
              </a:rPr>
              <a:t> Nature and content of job advertisements – some premises will insist their telephone number or even name of the business is not included in advertisements</a:t>
            </a:r>
          </a:p>
          <a:p>
            <a:pPr>
              <a:buFont typeface="Arial" pitchFamily="34" charset="0"/>
              <a:buChar char="•"/>
            </a:pPr>
            <a:r>
              <a:rPr lang="en-AU" sz="1200" kern="1200" dirty="0" smtClean="0">
                <a:solidFill>
                  <a:schemeClr val="tx1"/>
                </a:solidFill>
                <a:latin typeface="+mn-lt"/>
                <a:ea typeface="+mn-ea"/>
                <a:cs typeface="+mn-cs"/>
              </a:rPr>
              <a:t> Nature and content of communications with applicants – there is often a standard protocol for those wishing to apply for a job, and this is usually spelled out in the advertisements. Examples may include:</a:t>
            </a:r>
          </a:p>
          <a:p>
            <a:pPr lvl="1">
              <a:buFont typeface="Arial" pitchFamily="34" charset="0"/>
              <a:buChar char="•"/>
            </a:pPr>
            <a:r>
              <a:rPr lang="en-US" sz="1200" kern="1200" dirty="0" smtClean="0">
                <a:solidFill>
                  <a:schemeClr val="tx1"/>
                </a:solidFill>
                <a:latin typeface="+mn-lt"/>
                <a:ea typeface="+mn-ea"/>
                <a:cs typeface="+mn-cs"/>
              </a:rPr>
              <a:t>‘For more information, phone the Office Manager’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‘For a position description, phone the Personnel department on …’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‘Those wishing to apply should forward three hand-written copies of a current </a:t>
            </a:r>
            <a:r>
              <a:rPr lang="en-US" sz="1200" i="1" kern="1200" dirty="0" smtClean="0">
                <a:solidFill>
                  <a:schemeClr val="tx1"/>
                </a:solidFill>
                <a:latin typeface="+mn-lt"/>
                <a:ea typeface="+mn-ea"/>
                <a:cs typeface="+mn-cs"/>
              </a:rPr>
              <a:t>curriculum vitae</a:t>
            </a:r>
            <a:r>
              <a:rPr lang="en-US" sz="1200" kern="1200" dirty="0" smtClean="0">
                <a:solidFill>
                  <a:schemeClr val="tx1"/>
                </a:solidFill>
                <a:latin typeface="+mn-lt"/>
                <a:ea typeface="+mn-ea"/>
                <a:cs typeface="+mn-cs"/>
              </a:rPr>
              <a:t> to the Head Housekeeper before close of business on Friday, 4th July’.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Use of different media in the recruitment process – establishments traditionally use the printed media (predominantly newspapers) whilst other businesses use a range of options. See next Section ‘Identify sources of staff’ for more detail on options.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provide information to trainees regarding the need to </a:t>
            </a:r>
            <a:r>
              <a:rPr lang="en-AU" sz="1200" kern="1200" dirty="0" smtClean="0">
                <a:solidFill>
                  <a:schemeClr val="tx1"/>
                </a:solidFill>
                <a:latin typeface="+mn-lt"/>
                <a:ea typeface="+mn-ea"/>
                <a:cs typeface="+mn-cs"/>
              </a:rPr>
              <a:t>to comply with enterprise policies in relation to recruitment,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including:</a:t>
            </a:r>
          </a:p>
          <a:p>
            <a:pPr>
              <a:buFont typeface="Arial" pitchFamily="34" charset="0"/>
              <a:buChar char="•"/>
            </a:pPr>
            <a:r>
              <a:rPr lang="en-AU" sz="1200" kern="1200" dirty="0" smtClean="0">
                <a:solidFill>
                  <a:schemeClr val="tx1"/>
                </a:solidFill>
                <a:latin typeface="+mn-lt"/>
                <a:ea typeface="+mn-ea"/>
                <a:cs typeface="+mn-cs"/>
              </a:rPr>
              <a:t> Promoting internally – a business may have a policy of recruiting for higher-level positions from within the company before any external advertisements or searches are undertaken. This policy can act as a motivator for existing staff and demonstrate there is a career path available in the organisation for employees who want to progress.</a:t>
            </a:r>
          </a:p>
          <a:p>
            <a:pPr>
              <a:buFont typeface="Arial" pitchFamily="34" charset="0"/>
              <a:buChar char="•"/>
            </a:pPr>
            <a:r>
              <a:rPr lang="en-AU" sz="1200" kern="1200" dirty="0" smtClean="0">
                <a:solidFill>
                  <a:schemeClr val="tx1"/>
                </a:solidFill>
                <a:latin typeface="+mn-lt"/>
                <a:ea typeface="+mn-ea"/>
                <a:cs typeface="+mn-cs"/>
              </a:rPr>
              <a:t> Converting casual staff to part-time, or converting part-time to full-time – as opposed to hiring new staff. Again, this policy provides existing staff with job security and demonstrates to workers management value them and are prepared to reward them for good work. Converting existing staff may also save time and expense associated with induction and basic training</a:t>
            </a:r>
          </a:p>
          <a:p>
            <a:pPr>
              <a:buFont typeface="Arial" pitchFamily="34" charset="0"/>
              <a:buChar char="•"/>
            </a:pPr>
            <a:r>
              <a:rPr lang="en-AU" sz="1200" kern="1200" dirty="0" smtClean="0">
                <a:solidFill>
                  <a:schemeClr val="tx1"/>
                </a:solidFill>
                <a:latin typeface="+mn-lt"/>
                <a:ea typeface="+mn-ea"/>
                <a:cs typeface="+mn-cs"/>
              </a:rPr>
              <a:t> Participants in interview panels – not all interviews are conducted using a </a:t>
            </a:r>
            <a:r>
              <a:rPr lang="en-AU" sz="1200" i="1" kern="1200" dirty="0" smtClean="0">
                <a:solidFill>
                  <a:schemeClr val="tx1"/>
                </a:solidFill>
                <a:latin typeface="+mn-lt"/>
                <a:ea typeface="+mn-ea"/>
                <a:cs typeface="+mn-cs"/>
              </a:rPr>
              <a:t>panel</a:t>
            </a:r>
            <a:r>
              <a:rPr lang="en-AU" sz="1200" kern="1200" dirty="0" smtClean="0">
                <a:solidFill>
                  <a:schemeClr val="tx1"/>
                </a:solidFill>
                <a:latin typeface="+mn-lt"/>
                <a:ea typeface="+mn-ea"/>
                <a:cs typeface="+mn-cs"/>
              </a:rPr>
              <a:t> format.</a:t>
            </a:r>
            <a:r>
              <a:rPr lang="en-AU" sz="1200" kern="1200" baseline="0" dirty="0" smtClean="0">
                <a:solidFill>
                  <a:schemeClr val="tx1"/>
                </a:solidFill>
                <a:latin typeface="+mn-lt"/>
                <a:ea typeface="+mn-ea"/>
                <a:cs typeface="+mn-cs"/>
              </a:rPr>
              <a:t> M</a:t>
            </a:r>
            <a:r>
              <a:rPr lang="en-AU" sz="1200" kern="1200" dirty="0" smtClean="0">
                <a:solidFill>
                  <a:schemeClr val="tx1"/>
                </a:solidFill>
                <a:latin typeface="+mn-lt"/>
                <a:ea typeface="+mn-ea"/>
                <a:cs typeface="+mn-cs"/>
              </a:rPr>
              <a:t>any industry interviews are one-on-one interviews between the department supervisor and the individual job applicant. Where interview panels are used it is common for the supervising manager to be on the panel together with at least one other staff member from the area under consideration. When panels are used, panels of two to three people are normal.</a:t>
            </a:r>
          </a:p>
          <a:p>
            <a:pPr>
              <a:buFont typeface="Arial" pitchFamily="34" charset="0"/>
              <a:buChar char="•"/>
            </a:pPr>
            <a:r>
              <a:rPr lang="en-AU" sz="1200" kern="1200" dirty="0" smtClean="0">
                <a:solidFill>
                  <a:schemeClr val="tx1"/>
                </a:solidFill>
                <a:latin typeface="+mn-lt"/>
                <a:ea typeface="+mn-ea"/>
                <a:cs typeface="+mn-cs"/>
              </a:rPr>
              <a:t> Timing and nature of induction programs – these must be conducted early on, and will vary from a quick tour around the department, to a fuller, one to two day affair covering the entire premises. More on this on later slides.</a:t>
            </a:r>
          </a:p>
          <a:p>
            <a:pPr>
              <a:buFont typeface="Arial" pitchFamily="34" charset="0"/>
              <a:buChar char="•"/>
            </a:pPr>
            <a:r>
              <a:rPr lang="en-AU" sz="1200" kern="1200" dirty="0" smtClean="0">
                <a:solidFill>
                  <a:schemeClr val="tx1"/>
                </a:solidFill>
                <a:latin typeface="+mn-lt"/>
                <a:ea typeface="+mn-ea"/>
                <a:cs typeface="+mn-cs"/>
              </a:rPr>
              <a:t> Role of different personnel within the recruitment, selection and induction process – these responsibilities may be shared within the one establishment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may be focused within the one individual or concentrated within one department.</a:t>
            </a: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tells trainees </a:t>
            </a:r>
            <a:r>
              <a:rPr lang="en-AU" sz="1200" kern="1200" dirty="0" smtClean="0">
                <a:solidFill>
                  <a:schemeClr val="tx1"/>
                </a:solidFill>
                <a:latin typeface="+mn-lt"/>
                <a:ea typeface="+mn-ea"/>
                <a:cs typeface="+mn-cs"/>
              </a:rPr>
              <a:t>new staff may be recruited from a variety of sources.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The preferred sources of staff are based on a combination of factors:</a:t>
            </a:r>
          </a:p>
          <a:p>
            <a:pPr>
              <a:buFont typeface="Arial" pitchFamily="34" charset="0"/>
              <a:buChar char="•"/>
            </a:pPr>
            <a:r>
              <a:rPr lang="en-AU" sz="1200" kern="1200" dirty="0" smtClean="0">
                <a:solidFill>
                  <a:schemeClr val="tx1"/>
                </a:solidFill>
                <a:latin typeface="+mn-lt"/>
                <a:ea typeface="+mn-ea"/>
                <a:cs typeface="+mn-cs"/>
              </a:rPr>
              <a:t> Experience – with what is effective and what is not.  Every business has experience with what options have worked for them in the past.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Businesses tend to re-use options that have worked in the past, and resulted in the hiring of good staff, quickly at an acceptable time and with minimum effort. This highlights many businesses tend to not pay sufficient attention to a critical aspect of staffing – the recruitment process.</a:t>
            </a:r>
          </a:p>
          <a:p>
            <a:pPr>
              <a:buFont typeface="Arial" pitchFamily="34" charset="0"/>
              <a:buChar char="•"/>
            </a:pPr>
            <a:r>
              <a:rPr lang="en-AU" sz="1200" kern="1200" dirty="0" smtClean="0">
                <a:solidFill>
                  <a:schemeClr val="tx1"/>
                </a:solidFill>
                <a:latin typeface="+mn-lt"/>
                <a:ea typeface="+mn-ea"/>
                <a:cs typeface="+mn-cs"/>
              </a:rPr>
              <a:t> Cost – employers will seek to minimise the cost of recruiting staff</a:t>
            </a:r>
          </a:p>
          <a:p>
            <a:pPr>
              <a:buFont typeface="Arial" pitchFamily="34" charset="0"/>
              <a:buChar char="•"/>
            </a:pPr>
            <a:r>
              <a:rPr lang="en-AU" sz="1200" kern="1200" dirty="0" smtClean="0">
                <a:solidFill>
                  <a:schemeClr val="tx1"/>
                </a:solidFill>
                <a:latin typeface="+mn-lt"/>
                <a:ea typeface="+mn-ea"/>
                <a:cs typeface="+mn-cs"/>
              </a:rPr>
              <a:t> Time – most businesses will prefer to spend less time of staff recruitment than more time.</a:t>
            </a:r>
          </a:p>
          <a:p>
            <a:pPr>
              <a:buFont typeface="Arial" pitchFamily="34" charset="0"/>
              <a:buNone/>
            </a:pPr>
            <a:r>
              <a:rPr lang="en-AU" sz="1200" kern="1200" dirty="0" smtClean="0">
                <a:solidFill>
                  <a:schemeClr val="tx1"/>
                </a:solidFill>
                <a:latin typeface="+mn-lt"/>
                <a:ea typeface="+mn-ea"/>
                <a:cs typeface="+mn-cs"/>
              </a:rPr>
              <a:t>Trainer emphasises to trainees when</a:t>
            </a:r>
            <a:r>
              <a:rPr lang="en-AU" sz="1200" kern="1200" baseline="0" dirty="0" smtClean="0">
                <a:solidFill>
                  <a:schemeClr val="tx1"/>
                </a:solidFill>
                <a:latin typeface="+mn-lt"/>
                <a:ea typeface="+mn-ea"/>
                <a:cs typeface="+mn-cs"/>
              </a:rPr>
              <a:t> they </a:t>
            </a:r>
            <a:r>
              <a:rPr lang="en-AU" sz="1200" kern="1200" dirty="0" smtClean="0">
                <a:solidFill>
                  <a:schemeClr val="tx1"/>
                </a:solidFill>
                <a:latin typeface="+mn-lt"/>
                <a:ea typeface="+mn-ea"/>
                <a:cs typeface="+mn-cs"/>
              </a:rPr>
              <a:t>start recruiting staff, they will be expected to conform with standard workplace practice in this regard.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trainees to options for sourcing new staff presenting media advertisements as the first option:</a:t>
            </a:r>
          </a:p>
          <a:p>
            <a:pPr>
              <a:buFont typeface="Arial" pitchFamily="34" charset="0"/>
              <a:buChar char="•"/>
            </a:pPr>
            <a:r>
              <a:rPr lang="en-AU" sz="1200" kern="1200" dirty="0" smtClean="0">
                <a:solidFill>
                  <a:schemeClr val="tx1"/>
                </a:solidFill>
                <a:latin typeface="+mn-lt"/>
                <a:ea typeface="+mn-ea"/>
                <a:cs typeface="+mn-cs"/>
              </a:rPr>
              <a:t> The most common media for placement of job vacancy advertisements are newspapers. These are usually local mainstream newspapers but can include international newspapers and smaller circulation local newspapers.</a:t>
            </a:r>
          </a:p>
          <a:p>
            <a:pPr>
              <a:buFont typeface="Arial" pitchFamily="34" charset="0"/>
              <a:buChar char="•"/>
            </a:pPr>
            <a:r>
              <a:rPr lang="en-AU" sz="1200" kern="1200" dirty="0" smtClean="0">
                <a:solidFill>
                  <a:schemeClr val="tx1"/>
                </a:solidFill>
                <a:latin typeface="+mn-lt"/>
                <a:ea typeface="+mn-ea"/>
                <a:cs typeface="+mn-cs"/>
              </a:rPr>
              <a:t> Some premises will use a very brief two to five lines in the ‘Situations Vacant’ section of the local (regional)</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newspapers whilst others will place large, display advertisements prominently featuring the name and logo of the property. The more prestigious the advertisement, the larger the property tends to be</a:t>
            </a:r>
          </a:p>
          <a:p>
            <a:pPr>
              <a:buFont typeface="Arial" pitchFamily="34" charset="0"/>
              <a:buChar char="•"/>
            </a:pPr>
            <a:r>
              <a:rPr lang="en-AU" sz="1200" kern="1200" dirty="0" smtClean="0">
                <a:solidFill>
                  <a:schemeClr val="tx1"/>
                </a:solidFill>
                <a:latin typeface="+mn-lt"/>
                <a:ea typeface="+mn-ea"/>
                <a:cs typeface="+mn-cs"/>
              </a:rPr>
              <a:t> Care and attention should be taken with the construction and wording of job vacancy advertisements as they should assist in the screening process of applicants. For example, if a position necessitates night work this should be spelled out in the advertisement. If applicants must be able to speak English, this too should be mentioned.</a:t>
            </a:r>
          </a:p>
          <a:p>
            <a:pPr>
              <a:buFont typeface="Arial" pitchFamily="34" charset="0"/>
              <a:buChar char="•"/>
            </a:pPr>
            <a:r>
              <a:rPr lang="en-AU" sz="1200" kern="1200" dirty="0" smtClean="0">
                <a:solidFill>
                  <a:schemeClr val="tx1"/>
                </a:solidFill>
                <a:latin typeface="+mn-lt"/>
                <a:ea typeface="+mn-ea"/>
                <a:cs typeface="+mn-cs"/>
              </a:rPr>
              <a:t> In rare instances a business may elect to use radio or television to recruit staff but these options are relatively expensive and tend only to be used when other avenues for recruiting staff have failed or there is an urgent need for employees. </a:t>
            </a:r>
          </a:p>
          <a:p>
            <a:pPr>
              <a:buFont typeface="Arial" pitchFamily="34" charset="0"/>
              <a:buChar char="•"/>
            </a:pPr>
            <a:r>
              <a:rPr lang="en-AU" sz="1200" kern="1200" dirty="0" smtClean="0">
                <a:solidFill>
                  <a:schemeClr val="tx1"/>
                </a:solidFill>
                <a:latin typeface="+mn-lt"/>
                <a:ea typeface="+mn-ea"/>
                <a:cs typeface="+mn-cs"/>
              </a:rPr>
              <a:t> Businesses can also elect to advertise job vacancies in trade magazines.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trainees with information about job agencies and recruitment agencies</a:t>
            </a:r>
            <a:r>
              <a:rPr lang="en-US" baseline="0" dirty="0" smtClean="0"/>
              <a:t> as possible sources of staff:</a:t>
            </a:r>
            <a:endParaRPr lang="en-US" dirty="0" smtClean="0"/>
          </a:p>
          <a:p>
            <a:pPr>
              <a:buFont typeface="Arial" pitchFamily="34" charset="0"/>
              <a:buChar char="•"/>
            </a:pPr>
            <a:r>
              <a:rPr lang="en-AU" sz="1200" kern="1200" dirty="0" smtClean="0">
                <a:solidFill>
                  <a:schemeClr val="tx1"/>
                </a:solidFill>
                <a:latin typeface="+mn-lt"/>
                <a:ea typeface="+mn-ea"/>
                <a:cs typeface="+mn-cs"/>
              </a:rPr>
              <a:t> These are businesses specialising in the recruitment of staff for businesses. They can be government-funded organisations or private enterprise operations.</a:t>
            </a:r>
          </a:p>
          <a:p>
            <a:pPr>
              <a:buFont typeface="Arial" pitchFamily="34" charset="0"/>
              <a:buChar char="•"/>
            </a:pPr>
            <a:r>
              <a:rPr lang="en-AU" sz="1200" kern="1200" dirty="0" smtClean="0">
                <a:solidFill>
                  <a:schemeClr val="tx1"/>
                </a:solidFill>
                <a:latin typeface="+mn-lt"/>
                <a:ea typeface="+mn-ea"/>
                <a:cs typeface="+mn-cs"/>
              </a:rPr>
              <a:t> Most establishments will use the services of only one employment agency with</a:t>
            </a:r>
            <a:r>
              <a:rPr lang="en-AU" sz="1200" kern="1200" baseline="0" dirty="0" smtClean="0">
                <a:solidFill>
                  <a:schemeClr val="tx1"/>
                </a:solidFill>
                <a:latin typeface="+mn-lt"/>
                <a:ea typeface="+mn-ea"/>
                <a:cs typeface="+mn-cs"/>
              </a:rPr>
              <a:t> whom </a:t>
            </a:r>
            <a:r>
              <a:rPr lang="en-AU" sz="1200" kern="1200" dirty="0" smtClean="0">
                <a:solidFill>
                  <a:schemeClr val="tx1"/>
                </a:solidFill>
                <a:latin typeface="+mn-lt"/>
                <a:ea typeface="+mn-ea"/>
                <a:cs typeface="+mn-cs"/>
              </a:rPr>
              <a:t>they have worked with before and have demonstrated success.</a:t>
            </a:r>
          </a:p>
          <a:p>
            <a:pPr>
              <a:buFont typeface="Arial" pitchFamily="34" charset="0"/>
              <a:buChar char="•"/>
            </a:pPr>
            <a:r>
              <a:rPr lang="en-AU" sz="1200" kern="1200" dirty="0" smtClean="0">
                <a:solidFill>
                  <a:schemeClr val="tx1"/>
                </a:solidFill>
                <a:latin typeface="+mn-lt"/>
                <a:ea typeface="+mn-ea"/>
                <a:cs typeface="+mn-cs"/>
              </a:rPr>
              <a:t> Most agencies will strive to develop an on-going relationship with any business using their services and are eager to identify and meet specific needs. There is a need to know what the business requires (in terms of staff required – refer ‘Job Statement information and Key Selection Criteria information) and what specific workplace needs are.</a:t>
            </a:r>
          </a:p>
          <a:p>
            <a:pPr>
              <a:buFont typeface="Arial" pitchFamily="34" charset="0"/>
              <a:buChar char="•"/>
            </a:pPr>
            <a:r>
              <a:rPr lang="en-AU" sz="1200" kern="1200" dirty="0" smtClean="0">
                <a:solidFill>
                  <a:schemeClr val="tx1"/>
                </a:solidFill>
                <a:latin typeface="+mn-lt"/>
                <a:ea typeface="+mn-ea"/>
                <a:cs typeface="+mn-cs"/>
              </a:rPr>
              <a:t> When dealing with these agencies they recruit and screen potential staff on behalf of the business, evaluating them against criteria provided to them by</a:t>
            </a:r>
            <a:r>
              <a:rPr lang="en-AU" sz="1200" kern="1200" baseline="0" dirty="0" smtClean="0">
                <a:solidFill>
                  <a:schemeClr val="tx1"/>
                </a:solidFill>
                <a:latin typeface="+mn-lt"/>
                <a:ea typeface="+mn-ea"/>
                <a:cs typeface="+mn-cs"/>
              </a:rPr>
              <a:t> the business</a:t>
            </a:r>
            <a:r>
              <a:rPr lang="en-AU" sz="1200" kern="1200" dirty="0" smtClean="0">
                <a:solidFill>
                  <a:schemeClr val="tx1"/>
                </a:solidFill>
                <a:latin typeface="+mn-lt"/>
                <a:ea typeface="+mn-ea"/>
                <a:cs typeface="+mn-cs"/>
              </a:rPr>
              <a:t>. They then ‘refer’ (or ‘forward’) applicants they believe meet specified requirements and are worthy of an interview.</a:t>
            </a:r>
          </a:p>
          <a:p>
            <a:pPr>
              <a:buFont typeface="Arial" pitchFamily="34" charset="0"/>
              <a:buChar char="•"/>
            </a:pPr>
            <a:r>
              <a:rPr lang="en-AU" sz="1200" kern="1200" dirty="0" smtClean="0">
                <a:solidFill>
                  <a:schemeClr val="tx1"/>
                </a:solidFill>
                <a:latin typeface="+mn-lt"/>
                <a:ea typeface="+mn-ea"/>
                <a:cs typeface="+mn-cs"/>
              </a:rPr>
              <a:t> The final decision about whether or not to hire staff who are referred rests with the business. There is no obligation to employ anyone who is referred.</a:t>
            </a:r>
          </a:p>
          <a:p>
            <a:pPr>
              <a:buFont typeface="Arial" pitchFamily="34" charset="0"/>
              <a:buChar char="•"/>
            </a:pPr>
            <a:r>
              <a:rPr lang="en-AU" sz="1200" kern="1200" dirty="0" smtClean="0">
                <a:solidFill>
                  <a:schemeClr val="tx1"/>
                </a:solidFill>
                <a:latin typeface="+mn-lt"/>
                <a:ea typeface="+mn-ea"/>
                <a:cs typeface="+mn-cs"/>
              </a:rPr>
              <a:t> Some agencies will require a contract to be signed before using their services, and some will not.</a:t>
            </a:r>
          </a:p>
          <a:p>
            <a:pPr>
              <a:buFont typeface="Arial" pitchFamily="34" charset="0"/>
              <a:buChar char="•"/>
            </a:pPr>
            <a:r>
              <a:rPr lang="en-AU" sz="1200" kern="1200" dirty="0" smtClean="0">
                <a:solidFill>
                  <a:schemeClr val="tx1"/>
                </a:solidFill>
                <a:latin typeface="+mn-lt"/>
                <a:ea typeface="+mn-ea"/>
                <a:cs typeface="+mn-cs"/>
              </a:rPr>
              <a:t> Some government services may be free but commercial organisations will charge for their services.</a:t>
            </a:r>
          </a:p>
          <a:p>
            <a:pPr>
              <a:buFont typeface="Arial" pitchFamily="34" charset="0"/>
              <a:buChar char="•"/>
            </a:pPr>
            <a:r>
              <a:rPr lang="en-AU" sz="1200" kern="1200" dirty="0" smtClean="0">
                <a:solidFill>
                  <a:schemeClr val="tx1"/>
                </a:solidFill>
                <a:latin typeface="+mn-lt"/>
                <a:ea typeface="+mn-ea"/>
                <a:cs typeface="+mn-cs"/>
              </a:rPr>
              <a:t> Some agencies are industry-specific and others are general.</a:t>
            </a:r>
            <a:r>
              <a:rPr lang="en-AU" sz="1200" kern="1200" baseline="0" dirty="0" smtClean="0">
                <a:solidFill>
                  <a:schemeClr val="tx1"/>
                </a:solidFill>
                <a:latin typeface="+mn-lt"/>
                <a:ea typeface="+mn-ea"/>
                <a:cs typeface="+mn-cs"/>
              </a:rPr>
              <a:t> S</a:t>
            </a:r>
            <a:r>
              <a:rPr lang="en-AU" sz="1200" kern="1200" dirty="0" smtClean="0">
                <a:solidFill>
                  <a:schemeClr val="tx1"/>
                </a:solidFill>
                <a:latin typeface="+mn-lt"/>
                <a:ea typeface="+mn-ea"/>
                <a:cs typeface="+mn-cs"/>
              </a:rPr>
              <a:t>ome agencies will specialise only in recruiting staff for the hospitality, food, travel business and no other industry type.</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(1) – Small Group Research Exercise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provides trainees with internet access and local/national telephone books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and asks them – in small groups – to research possible recruitment agencies suitable for them to use.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suggest trainees visit  </a:t>
            </a:r>
            <a:r>
              <a:rPr lang="en-AU" sz="1200" u="sng" kern="1200" dirty="0" smtClean="0">
                <a:solidFill>
                  <a:schemeClr val="tx1"/>
                </a:solidFill>
                <a:latin typeface="+mn-lt"/>
                <a:ea typeface="+mn-ea"/>
                <a:cs typeface="+mn-cs"/>
                <a:hlinkClick r:id="rId3"/>
              </a:rPr>
              <a:t>http://www.jobcyclone.com/business_directory.php</a:t>
            </a:r>
            <a:r>
              <a:rPr lang="en-AU" sz="1200" kern="1200" dirty="0" smtClean="0">
                <a:solidFill>
                  <a:schemeClr val="tx1"/>
                </a:solidFill>
                <a:latin typeface="+mn-lt"/>
                <a:ea typeface="+mn-ea"/>
                <a:cs typeface="+mn-cs"/>
              </a:rPr>
              <a:t>  as a starting point for employment agencies that may be of use, or do a search on the web or in the telephone book for ‘employment agencies’ or ‘recruitment agencies’.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checks the agencies trainees have identified and contributes relevant other agencies the trainees have not identified.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US" b="1" dirty="0" smtClean="0"/>
              <a:t>Class Activity (2) – Guest Speaker</a:t>
            </a:r>
          </a:p>
          <a:p>
            <a:pPr>
              <a:buFont typeface="Arial" pitchFamily="34" charset="0"/>
              <a:buNone/>
            </a:pPr>
            <a:r>
              <a:rPr lang="en-US" b="0" dirty="0" smtClean="0"/>
              <a:t>Trainer arranges for a representative from a suitable recruitment agency to visit and talk to trainees about:</a:t>
            </a:r>
          </a:p>
          <a:p>
            <a:pPr>
              <a:buFont typeface="Arial" pitchFamily="34" charset="0"/>
              <a:buChar char="•"/>
            </a:pPr>
            <a:r>
              <a:rPr lang="en-US" b="0" dirty="0" smtClean="0"/>
              <a:t> Services provided to industry</a:t>
            </a:r>
          </a:p>
          <a:p>
            <a:pPr>
              <a:buFont typeface="Arial" pitchFamily="34" charset="0"/>
              <a:buChar char="•"/>
            </a:pPr>
            <a:r>
              <a:rPr lang="en-US" b="0" dirty="0" smtClean="0"/>
              <a:t> Fees and charges, if applicable</a:t>
            </a:r>
          </a:p>
          <a:p>
            <a:pPr>
              <a:buFont typeface="Arial" pitchFamily="34" charset="0"/>
              <a:buChar char="•"/>
            </a:pPr>
            <a:r>
              <a:rPr lang="en-US" b="0" dirty="0" smtClean="0"/>
              <a:t> Information the agency needs in order to recruit and refer suitable staff</a:t>
            </a:r>
          </a:p>
          <a:p>
            <a:pPr>
              <a:buFont typeface="Arial" pitchFamily="34" charset="0"/>
              <a:buChar char="•"/>
            </a:pPr>
            <a:r>
              <a:rPr lang="en-US" b="0" dirty="0" smtClean="0"/>
              <a:t> Guarantees about staff referred or hired</a:t>
            </a:r>
          </a:p>
          <a:p>
            <a:pPr>
              <a:buFont typeface="Arial" pitchFamily="34" charset="0"/>
              <a:buChar char="•"/>
            </a:pPr>
            <a:r>
              <a:rPr lang="en-US" b="0" dirty="0" smtClean="0"/>
              <a:t> What businesses can/should do to optimise the work the agency does on behalf of</a:t>
            </a:r>
            <a:r>
              <a:rPr lang="en-US" b="0" baseline="0" dirty="0" smtClean="0"/>
              <a:t> the business</a:t>
            </a:r>
          </a:p>
          <a:p>
            <a:pPr>
              <a:buFont typeface="Arial" pitchFamily="34" charset="0"/>
              <a:buChar char="•"/>
            </a:pPr>
            <a:r>
              <a:rPr lang="en-US" b="0" baseline="0" dirty="0" smtClean="0"/>
              <a:t> Documentation associated with the recruitment process and the relationship between agency and employer.</a:t>
            </a:r>
          </a:p>
          <a:p>
            <a:pPr>
              <a:buFont typeface="Arial" pitchFamily="34" charset="0"/>
              <a:buNone/>
            </a:pPr>
            <a:endParaRPr lang="en-US" b="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a:t>
            </a:r>
            <a:r>
              <a:rPr lang="en-AU" sz="1200" kern="1200" dirty="0" smtClean="0">
                <a:solidFill>
                  <a:schemeClr val="tx1"/>
                </a:solidFill>
                <a:latin typeface="+mn-lt"/>
                <a:ea typeface="+mn-ea"/>
                <a:cs typeface="+mn-cs"/>
              </a:rPr>
              <a:t>there has been an explosion in the use of the internet to recruit staff explaining:</a:t>
            </a:r>
          </a:p>
          <a:p>
            <a:pPr>
              <a:buFont typeface="Arial" pitchFamily="34" charset="0"/>
              <a:buChar char="•"/>
            </a:pPr>
            <a:r>
              <a:rPr lang="en-AU" sz="1200" kern="1200" dirty="0" smtClean="0">
                <a:solidFill>
                  <a:schemeClr val="tx1"/>
                </a:solidFill>
                <a:latin typeface="+mn-lt"/>
                <a:ea typeface="+mn-ea"/>
                <a:cs typeface="+mn-cs"/>
              </a:rPr>
              <a:t> Businesses often include a ‘Work with Us’ section on their website, advertising vacancies available and explaining how to apply</a:t>
            </a:r>
          </a:p>
          <a:p>
            <a:pPr>
              <a:buFont typeface="Arial" pitchFamily="34" charset="0"/>
              <a:buChar char="•"/>
            </a:pPr>
            <a:r>
              <a:rPr lang="en-AU" sz="1200" kern="1200" dirty="0" smtClean="0">
                <a:solidFill>
                  <a:schemeClr val="tx1"/>
                </a:solidFill>
                <a:latin typeface="+mn-lt"/>
                <a:ea typeface="+mn-ea"/>
                <a:cs typeface="+mn-cs"/>
              </a:rPr>
              <a:t> Alternatively there are several recognised and effective businesses operating on the internet – all require employers to register (and pay a fee) before lodging vacancies. </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Small Group Internet Research</a:t>
            </a:r>
          </a:p>
          <a:p>
            <a:r>
              <a:rPr lang="en-AU" sz="1200" kern="1200" dirty="0" smtClean="0">
                <a:solidFill>
                  <a:schemeClr val="tx1"/>
                </a:solidFill>
                <a:latin typeface="+mn-lt"/>
                <a:ea typeface="+mn-ea"/>
                <a:cs typeface="+mn-cs"/>
              </a:rPr>
              <a:t>Trainer provides internet access to trainees and asks them to:</a:t>
            </a:r>
          </a:p>
          <a:p>
            <a:pPr>
              <a:buFont typeface="Arial" pitchFamily="34" charset="0"/>
              <a:buChar char="•"/>
            </a:pPr>
            <a:r>
              <a:rPr lang="en-AU" sz="1200" kern="1200" dirty="0" smtClean="0">
                <a:solidFill>
                  <a:schemeClr val="tx1"/>
                </a:solidFill>
                <a:latin typeface="+mn-lt"/>
                <a:ea typeface="+mn-ea"/>
                <a:cs typeface="+mn-cs"/>
              </a:rPr>
              <a:t> Find relevant industry</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websites featuring job vacancies on the business website</a:t>
            </a:r>
          </a:p>
          <a:p>
            <a:pPr>
              <a:buFont typeface="Arial" pitchFamily="34" charset="0"/>
              <a:buChar char="•"/>
            </a:pPr>
            <a:r>
              <a:rPr lang="en-AU" sz="1200" kern="1200" dirty="0" smtClean="0">
                <a:solidFill>
                  <a:schemeClr val="tx1"/>
                </a:solidFill>
                <a:latin typeface="+mn-lt"/>
                <a:ea typeface="+mn-ea"/>
                <a:cs typeface="+mn-cs"/>
              </a:rPr>
              <a:t> Find, and investigate the operation of, at least three online recruitment agencies.</a:t>
            </a:r>
          </a:p>
          <a:p>
            <a:pPr>
              <a:buFont typeface="Arial" pitchFamily="34" charset="0"/>
              <a:buNone/>
            </a:pPr>
            <a:r>
              <a:rPr lang="en-AU" sz="1200" kern="1200" dirty="0" smtClean="0">
                <a:solidFill>
                  <a:schemeClr val="tx1"/>
                </a:solidFill>
                <a:latin typeface="+mn-lt"/>
                <a:ea typeface="+mn-ea"/>
                <a:cs typeface="+mn-cs"/>
              </a:rPr>
              <a:t>Trainer suggests the websites listed below (plus others as applicable to individual industries or geographic locations) as a starting point:</a:t>
            </a:r>
          </a:p>
          <a:p>
            <a:r>
              <a:rPr lang="en-AU" sz="1200" u="sng" kern="1200" dirty="0" smtClean="0">
                <a:solidFill>
                  <a:schemeClr val="tx1"/>
                </a:solidFill>
                <a:latin typeface="+mn-lt"/>
                <a:ea typeface="+mn-ea"/>
                <a:cs typeface="+mn-cs"/>
                <a:hlinkClick r:id="rId3"/>
              </a:rPr>
              <a:t>http://www.panpacific.com/en/singapore/offers/index.html?override_form=38</a:t>
            </a:r>
            <a:r>
              <a:rPr lang="en-AU" sz="1200" kern="1200" dirty="0" smtClean="0">
                <a:solidFill>
                  <a:schemeClr val="tx1"/>
                </a:solidFill>
                <a:latin typeface="+mn-lt"/>
                <a:ea typeface="+mn-ea"/>
                <a:cs typeface="+mn-cs"/>
              </a:rPr>
              <a:t> </a:t>
            </a:r>
            <a:endParaRPr lang="en-AU" sz="1200" u="sng" kern="1200" dirty="0" smtClean="0">
              <a:solidFill>
                <a:schemeClr val="tx1"/>
              </a:solidFill>
              <a:latin typeface="+mn-lt"/>
              <a:ea typeface="+mn-ea"/>
              <a:cs typeface="+mn-cs"/>
              <a:hlinkClick r:id="rId4"/>
            </a:endParaRPr>
          </a:p>
          <a:p>
            <a:r>
              <a:rPr lang="en-AU" sz="1200" u="sng" kern="1200" dirty="0" smtClean="0">
                <a:solidFill>
                  <a:schemeClr val="tx1"/>
                </a:solidFill>
                <a:latin typeface="+mn-lt"/>
                <a:ea typeface="+mn-ea"/>
                <a:cs typeface="+mn-cs"/>
                <a:hlinkClick r:id="rId4"/>
              </a:rPr>
              <a:t>http://www.asianjobsite.co.uk/</a:t>
            </a:r>
            <a:r>
              <a:rPr lang="en-AU" sz="1200" kern="1200" dirty="0" smtClean="0">
                <a:solidFill>
                  <a:schemeClr val="tx1"/>
                </a:solidFill>
                <a:latin typeface="+mn-lt"/>
                <a:ea typeface="+mn-ea"/>
                <a:cs typeface="+mn-cs"/>
              </a:rPr>
              <a:t> </a:t>
            </a:r>
          </a:p>
          <a:p>
            <a:r>
              <a:rPr lang="en-AU" sz="1200" u="sng" kern="1200" dirty="0" smtClean="0">
                <a:solidFill>
                  <a:schemeClr val="tx1"/>
                </a:solidFill>
                <a:latin typeface="+mn-lt"/>
                <a:ea typeface="+mn-ea"/>
                <a:cs typeface="+mn-cs"/>
                <a:hlinkClick r:id="rId5"/>
              </a:rPr>
              <a:t>http://www.orientpacific.com/goldrec.htm</a:t>
            </a:r>
            <a:r>
              <a:rPr lang="en-AU" sz="1200" kern="1200" dirty="0" smtClean="0">
                <a:solidFill>
                  <a:schemeClr val="tx1"/>
                </a:solidFill>
                <a:latin typeface="+mn-lt"/>
                <a:ea typeface="+mn-ea"/>
                <a:cs typeface="+mn-cs"/>
              </a:rPr>
              <a:t> </a:t>
            </a:r>
          </a:p>
          <a:p>
            <a:r>
              <a:rPr lang="en-AU" sz="1200" u="sng" kern="1200" dirty="0" smtClean="0">
                <a:solidFill>
                  <a:schemeClr val="tx1"/>
                </a:solidFill>
                <a:latin typeface="+mn-lt"/>
                <a:ea typeface="+mn-ea"/>
                <a:cs typeface="+mn-cs"/>
                <a:hlinkClick r:id="rId6"/>
              </a:rPr>
              <a:t>http://www.escapeartist.com/jobs31/japan.htm</a:t>
            </a:r>
            <a:r>
              <a:rPr lang="en-AU" sz="1200" kern="1200" dirty="0" smtClean="0">
                <a:solidFill>
                  <a:schemeClr val="tx1"/>
                </a:solidFill>
                <a:latin typeface="+mn-lt"/>
                <a:ea typeface="+mn-ea"/>
                <a:cs typeface="+mn-cs"/>
              </a:rPr>
              <a:t> </a:t>
            </a:r>
          </a:p>
          <a:p>
            <a:r>
              <a:rPr lang="en-AU" sz="1200" u="sng" kern="1200" dirty="0" smtClean="0">
                <a:solidFill>
                  <a:schemeClr val="tx1"/>
                </a:solidFill>
                <a:latin typeface="+mn-lt"/>
                <a:ea typeface="+mn-ea"/>
                <a:cs typeface="+mn-cs"/>
                <a:hlinkClick r:id="rId7"/>
              </a:rPr>
              <a:t>http://skorcareer.com.my/blog/15-popular-job-and-recruitment-websites-in-malaysia/2008/01/15/</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to trainees </a:t>
            </a:r>
            <a:r>
              <a:rPr lang="en-AU" sz="1200" kern="1200" dirty="0" smtClean="0">
                <a:solidFill>
                  <a:schemeClr val="tx1"/>
                </a:solidFill>
                <a:latin typeface="+mn-lt"/>
                <a:ea typeface="+mn-ea"/>
                <a:cs typeface="+mn-cs"/>
              </a:rPr>
              <a:t>every business should be alert to the potential for recruiting employees from within their own organisation.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There are many benefits associated with recruiting someone to a position who already knows about the company</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its operations,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terminology, practices and knows other staff, management and customers.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Trainer informs trainees internal recruitment may include:</a:t>
            </a:r>
          </a:p>
          <a:p>
            <a:pPr>
              <a:buFont typeface="Arial" pitchFamily="34" charset="0"/>
              <a:buChar char="•"/>
            </a:pPr>
            <a:r>
              <a:rPr lang="en-AU" sz="1200" kern="1200" dirty="0" smtClean="0">
                <a:solidFill>
                  <a:schemeClr val="tx1"/>
                </a:solidFill>
                <a:latin typeface="+mn-lt"/>
                <a:ea typeface="+mn-ea"/>
                <a:cs typeface="+mn-cs"/>
              </a:rPr>
              <a:t> Speaking to individuals known to be interested or who have mentioned a desire to extend themselves or change roles</a:t>
            </a:r>
          </a:p>
          <a:p>
            <a:pPr>
              <a:buFont typeface="Arial" pitchFamily="34" charset="0"/>
              <a:buChar char="•"/>
            </a:pPr>
            <a:r>
              <a:rPr lang="en-AU" sz="1200" kern="1200" dirty="0" smtClean="0">
                <a:solidFill>
                  <a:schemeClr val="tx1"/>
                </a:solidFill>
                <a:latin typeface="+mn-lt"/>
                <a:ea typeface="+mn-ea"/>
                <a:cs typeface="+mn-cs"/>
              </a:rPr>
              <a:t> Posting an advertisement in the staff room</a:t>
            </a:r>
          </a:p>
          <a:p>
            <a:pPr>
              <a:buFont typeface="Arial" pitchFamily="34" charset="0"/>
              <a:buChar char="•"/>
            </a:pPr>
            <a:r>
              <a:rPr lang="en-AU" sz="1200" kern="1200" dirty="0" smtClean="0">
                <a:solidFill>
                  <a:schemeClr val="tx1"/>
                </a:solidFill>
                <a:latin typeface="+mn-lt"/>
                <a:ea typeface="+mn-ea"/>
                <a:cs typeface="+mn-cs"/>
              </a:rPr>
              <a:t> Mentioning the vacancy at staff meetings and briefings</a:t>
            </a:r>
          </a:p>
          <a:p>
            <a:pPr>
              <a:buFont typeface="Arial" pitchFamily="34" charset="0"/>
              <a:buChar char="•"/>
            </a:pPr>
            <a:r>
              <a:rPr lang="en-AU" sz="1200" kern="1200" dirty="0" smtClean="0">
                <a:solidFill>
                  <a:schemeClr val="tx1"/>
                </a:solidFill>
                <a:latin typeface="+mn-lt"/>
                <a:ea typeface="+mn-ea"/>
                <a:cs typeface="+mn-cs"/>
              </a:rPr>
              <a:t> Enclosing a copy of the job advertisement in pay envelopes.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t>
            </a:r>
            <a:r>
              <a:rPr lang="en-AU" sz="1200" kern="1200" dirty="0" smtClean="0">
                <a:solidFill>
                  <a:schemeClr val="tx1"/>
                </a:solidFill>
                <a:latin typeface="+mn-lt"/>
                <a:ea typeface="+mn-ea"/>
                <a:cs typeface="+mn-cs"/>
              </a:rPr>
              <a:t>many excellent staff can be sourced from training institutions specialising in their particular industry, or labour division:</a:t>
            </a:r>
          </a:p>
          <a:p>
            <a:pPr>
              <a:buFont typeface="Arial" pitchFamily="34" charset="0"/>
              <a:buChar char="•"/>
            </a:pPr>
            <a:r>
              <a:rPr lang="en-AU" sz="1200" kern="1200" dirty="0" smtClean="0">
                <a:solidFill>
                  <a:schemeClr val="tx1"/>
                </a:solidFill>
                <a:latin typeface="+mn-lt"/>
                <a:ea typeface="+mn-ea"/>
                <a:cs typeface="+mn-cs"/>
              </a:rPr>
              <a:t> Contact staff at the school and advise them of business needs – this can result in the school referring an excellent worker who has already demonstrated an interest in the industry and who will already have some necessary skills</a:t>
            </a:r>
          </a:p>
          <a:p>
            <a:pPr>
              <a:buFont typeface="Arial" pitchFamily="34" charset="0"/>
              <a:buChar char="•"/>
            </a:pPr>
            <a:r>
              <a:rPr lang="en-AU" sz="1200" kern="1200" dirty="0" smtClean="0">
                <a:solidFill>
                  <a:schemeClr val="tx1"/>
                </a:solidFill>
                <a:latin typeface="+mn-lt"/>
                <a:ea typeface="+mn-ea"/>
                <a:cs typeface="+mn-cs"/>
              </a:rPr>
              <a:t> Forming this type of working relationship can be mutually beneficial and is something many businesses strive to do in order to:</a:t>
            </a:r>
          </a:p>
          <a:p>
            <a:pPr lvl="1">
              <a:buFont typeface="Arial" pitchFamily="34" charset="0"/>
              <a:buChar char="•"/>
            </a:pPr>
            <a:r>
              <a:rPr lang="en-AU" sz="1200" kern="1200" dirty="0" smtClean="0">
                <a:solidFill>
                  <a:schemeClr val="tx1"/>
                </a:solidFill>
                <a:latin typeface="+mn-lt"/>
                <a:ea typeface="+mn-ea"/>
                <a:cs typeface="+mn-cs"/>
              </a:rPr>
              <a:t> Help train the next generation of workers</a:t>
            </a:r>
          </a:p>
          <a:p>
            <a:pPr lvl="1">
              <a:buFont typeface="Arial" pitchFamily="34" charset="0"/>
              <a:buChar char="•"/>
            </a:pPr>
            <a:r>
              <a:rPr lang="en-AU" sz="1200" kern="1200" dirty="0" smtClean="0">
                <a:solidFill>
                  <a:schemeClr val="tx1"/>
                </a:solidFill>
                <a:latin typeface="+mn-lt"/>
                <a:ea typeface="+mn-ea"/>
                <a:cs typeface="+mn-cs"/>
              </a:rPr>
              <a:t> Guarantee an ongoing supply of trained staff</a:t>
            </a:r>
          </a:p>
          <a:p>
            <a:pPr lvl="1">
              <a:buFont typeface="Arial" pitchFamily="34" charset="0"/>
              <a:buChar char="•"/>
            </a:pPr>
            <a:r>
              <a:rPr lang="en-AU" sz="1200" kern="1200" dirty="0" smtClean="0">
                <a:solidFill>
                  <a:schemeClr val="tx1"/>
                </a:solidFill>
                <a:latin typeface="+mn-lt"/>
                <a:ea typeface="+mn-ea"/>
                <a:cs typeface="+mn-cs"/>
              </a:rPr>
              <a:t> Give something back to their country and industry.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further sources of staff may be:</a:t>
            </a:r>
          </a:p>
          <a:p>
            <a:r>
              <a:rPr lang="en-AU" sz="1200" b="1" kern="1200" dirty="0" smtClean="0">
                <a:solidFill>
                  <a:schemeClr val="tx1"/>
                </a:solidFill>
                <a:latin typeface="+mn-lt"/>
                <a:ea typeface="+mn-ea"/>
                <a:cs typeface="+mn-cs"/>
              </a:rPr>
              <a:t>Personal networks of industry  contacts</a:t>
            </a:r>
          </a:p>
          <a:p>
            <a:pPr>
              <a:buFont typeface="Arial" pitchFamily="34" charset="0"/>
              <a:buChar char="•"/>
            </a:pPr>
            <a:r>
              <a:rPr lang="en-AU" sz="1200" kern="1200" dirty="0" smtClean="0">
                <a:solidFill>
                  <a:schemeClr val="tx1"/>
                </a:solidFill>
                <a:latin typeface="+mn-lt"/>
                <a:ea typeface="+mn-ea"/>
                <a:cs typeface="+mn-cs"/>
              </a:rPr>
              <a:t> This involves using personal industry network to help identify potential applicants</a:t>
            </a:r>
          </a:p>
          <a:p>
            <a:pPr>
              <a:buFont typeface="Arial" pitchFamily="34" charset="0"/>
              <a:buChar char="•"/>
            </a:pPr>
            <a:r>
              <a:rPr lang="en-AU" sz="1200" kern="1200" dirty="0" smtClean="0">
                <a:solidFill>
                  <a:schemeClr val="tx1"/>
                </a:solidFill>
                <a:latin typeface="+mn-lt"/>
                <a:ea typeface="+mn-ea"/>
                <a:cs typeface="+mn-cs"/>
              </a:rPr>
              <a:t> As experience builds in the industry more contacts will be developed who can assist in identifying individuals who are looking for work</a:t>
            </a:r>
          </a:p>
          <a:p>
            <a:pPr>
              <a:buFont typeface="Arial" pitchFamily="34" charset="0"/>
              <a:buChar char="•"/>
            </a:pPr>
            <a:r>
              <a:rPr lang="en-AU" sz="1200" kern="1200" dirty="0" smtClean="0">
                <a:solidFill>
                  <a:schemeClr val="tx1"/>
                </a:solidFill>
                <a:latin typeface="+mn-lt"/>
                <a:ea typeface="+mn-ea"/>
                <a:cs typeface="+mn-cs"/>
              </a:rPr>
              <a:t> Never be shy about contacting these people and advising them of needs</a:t>
            </a:r>
          </a:p>
          <a:p>
            <a:pPr>
              <a:buFont typeface="Arial" pitchFamily="34" charset="0"/>
              <a:buChar char="•"/>
            </a:pPr>
            <a:r>
              <a:rPr lang="en-AU" sz="1200" kern="1200" dirty="0" smtClean="0">
                <a:solidFill>
                  <a:schemeClr val="tx1"/>
                </a:solidFill>
                <a:latin typeface="+mn-lt"/>
                <a:ea typeface="+mn-ea"/>
                <a:cs typeface="+mn-cs"/>
              </a:rPr>
              <a:t> The industry frowns on one business ‘poaching’ staff from another business.</a:t>
            </a:r>
          </a:p>
          <a:p>
            <a:r>
              <a:rPr lang="en-AU" sz="1200" b="1" kern="1200" dirty="0" smtClean="0">
                <a:solidFill>
                  <a:schemeClr val="tx1"/>
                </a:solidFill>
                <a:latin typeface="+mn-lt"/>
                <a:ea typeface="+mn-ea"/>
                <a:cs typeface="+mn-cs"/>
              </a:rPr>
              <a:t>Talking to workplace staff</a:t>
            </a:r>
          </a:p>
          <a:p>
            <a:pPr>
              <a:buFont typeface="Arial" pitchFamily="34" charset="0"/>
              <a:buChar char="•"/>
            </a:pPr>
            <a:r>
              <a:rPr lang="en-AU" sz="1200" kern="1200" dirty="0" smtClean="0">
                <a:solidFill>
                  <a:schemeClr val="tx1"/>
                </a:solidFill>
                <a:latin typeface="+mn-lt"/>
                <a:ea typeface="+mn-ea"/>
                <a:cs typeface="+mn-cs"/>
              </a:rPr>
              <a:t> This is allied to ‘internal advertising’ but different</a:t>
            </a:r>
          </a:p>
          <a:p>
            <a:pPr>
              <a:buFont typeface="Arial" pitchFamily="34" charset="0"/>
              <a:buChar char="•"/>
            </a:pPr>
            <a:r>
              <a:rPr lang="en-AU" sz="1200" kern="1200" dirty="0" smtClean="0">
                <a:solidFill>
                  <a:schemeClr val="tx1"/>
                </a:solidFill>
                <a:latin typeface="+mn-lt"/>
                <a:ea typeface="+mn-ea"/>
                <a:cs typeface="+mn-cs"/>
              </a:rPr>
              <a:t> It means:</a:t>
            </a:r>
          </a:p>
          <a:p>
            <a:pPr lvl="1">
              <a:buFont typeface="Arial" pitchFamily="34" charset="0"/>
              <a:buChar char="•"/>
            </a:pPr>
            <a:r>
              <a:rPr lang="en-AU" sz="1200" kern="1200" dirty="0" smtClean="0">
                <a:solidFill>
                  <a:schemeClr val="tx1"/>
                </a:solidFill>
                <a:latin typeface="+mn-lt"/>
                <a:ea typeface="+mn-ea"/>
                <a:cs typeface="+mn-cs"/>
              </a:rPr>
              <a:t> Talking to in-house trainers – and asking them to identify staff with the potential to undertake work for positions where vacancies exist</a:t>
            </a:r>
          </a:p>
          <a:p>
            <a:pPr lvl="1">
              <a:buFont typeface="Arial" pitchFamily="34" charset="0"/>
              <a:buChar char="•"/>
            </a:pPr>
            <a:r>
              <a:rPr lang="en-AU" sz="1200" kern="1200" dirty="0" smtClean="0">
                <a:solidFill>
                  <a:schemeClr val="tx1"/>
                </a:solidFill>
                <a:latin typeface="+mn-lt"/>
                <a:ea typeface="+mn-ea"/>
                <a:cs typeface="+mn-cs"/>
              </a:rPr>
              <a:t> Talking to other supervisors – to see if they have staff who may be suitable, and looking for, a change in position</a:t>
            </a:r>
          </a:p>
          <a:p>
            <a:pPr lvl="1">
              <a:buFont typeface="Arial" pitchFamily="34" charset="0"/>
              <a:buChar char="•"/>
            </a:pPr>
            <a:r>
              <a:rPr lang="en-AU" sz="1200" kern="1200" dirty="0" smtClean="0">
                <a:solidFill>
                  <a:schemeClr val="tx1"/>
                </a:solidFill>
                <a:latin typeface="+mn-lt"/>
                <a:ea typeface="+mn-ea"/>
                <a:cs typeface="+mn-cs"/>
              </a:rPr>
              <a:t> Observing staff – to identify possible applicants based on their workplace performance</a:t>
            </a:r>
          </a:p>
          <a:p>
            <a:pPr lvl="1">
              <a:buFont typeface="Arial" pitchFamily="34" charset="0"/>
              <a:buChar char="•"/>
            </a:pPr>
            <a:r>
              <a:rPr lang="en-AU" sz="1200" kern="1200" dirty="0" smtClean="0">
                <a:solidFill>
                  <a:schemeClr val="tx1"/>
                </a:solidFill>
                <a:latin typeface="+mn-lt"/>
                <a:ea typeface="+mn-ea"/>
                <a:cs typeface="+mn-cs"/>
              </a:rPr>
              <a:t> Analysing workplace performance assessments – where formal staff assessments are conducted in the workplace, the documentation associated with these can indicate potential applicants.</a:t>
            </a:r>
          </a:p>
          <a:p>
            <a:r>
              <a:rPr lang="en-AU" sz="1200" b="1" kern="1200" dirty="0" smtClean="0">
                <a:solidFill>
                  <a:schemeClr val="tx1"/>
                </a:solidFill>
                <a:latin typeface="+mn-lt"/>
                <a:ea typeface="+mn-ea"/>
                <a:cs typeface="+mn-cs"/>
              </a:rPr>
              <a:t>Considering those who have already registered for work</a:t>
            </a:r>
          </a:p>
          <a:p>
            <a:pPr>
              <a:buFont typeface="Arial" pitchFamily="34" charset="0"/>
              <a:buChar char="•"/>
            </a:pPr>
            <a:r>
              <a:rPr lang="en-AU" sz="1200" kern="1200" dirty="0" smtClean="0">
                <a:solidFill>
                  <a:schemeClr val="tx1"/>
                </a:solidFill>
                <a:latin typeface="+mn-lt"/>
                <a:ea typeface="+mn-ea"/>
                <a:cs typeface="+mn-cs"/>
              </a:rPr>
              <a:t> Many enterprises encourage people who are looking for work to complete a standard application form for work even where no identified vacancy exists</a:t>
            </a:r>
          </a:p>
          <a:p>
            <a:pPr>
              <a:buFont typeface="Arial" pitchFamily="34" charset="0"/>
              <a:buChar char="•"/>
            </a:pPr>
            <a:r>
              <a:rPr lang="en-AU" sz="1200" kern="1200" dirty="0" smtClean="0">
                <a:solidFill>
                  <a:schemeClr val="tx1"/>
                </a:solidFill>
                <a:latin typeface="+mn-lt"/>
                <a:ea typeface="+mn-ea"/>
                <a:cs typeface="+mn-cs"/>
              </a:rPr>
              <a:t> These forms are then kept on file and used/referred to as a staffing source when workers are required</a:t>
            </a:r>
          </a:p>
          <a:p>
            <a:pPr>
              <a:buFont typeface="Arial" pitchFamily="34" charset="0"/>
              <a:buChar char="•"/>
            </a:pPr>
            <a:r>
              <a:rPr lang="en-AU" sz="1200" kern="1200" dirty="0" smtClean="0">
                <a:solidFill>
                  <a:schemeClr val="tx1"/>
                </a:solidFill>
                <a:latin typeface="+mn-lt"/>
                <a:ea typeface="+mn-ea"/>
                <a:cs typeface="+mn-cs"/>
              </a:rPr>
              <a:t> Some businesses also retain applications of those who applied for vacancies in the past but were unsuccessful in gaining a job.</a:t>
            </a:r>
          </a:p>
          <a:p>
            <a:r>
              <a:rPr lang="en-AU" sz="1200" b="1" kern="1200" dirty="0" smtClean="0">
                <a:solidFill>
                  <a:schemeClr val="tx1"/>
                </a:solidFill>
                <a:latin typeface="+mn-lt"/>
                <a:ea typeface="+mn-ea"/>
                <a:cs typeface="+mn-cs"/>
              </a:rPr>
              <a:t>Participating in career fairs</a:t>
            </a:r>
          </a:p>
          <a:p>
            <a:pPr>
              <a:buFont typeface="Arial" pitchFamily="34" charset="0"/>
              <a:buChar char="•"/>
            </a:pPr>
            <a:r>
              <a:rPr lang="en-AU" sz="1200" kern="1200" dirty="0" smtClean="0">
                <a:solidFill>
                  <a:schemeClr val="tx1"/>
                </a:solidFill>
                <a:latin typeface="+mn-lt"/>
                <a:ea typeface="+mn-ea"/>
                <a:cs typeface="+mn-cs"/>
              </a:rPr>
              <a:t> Some businesses participate in regular trade or career fairs as a means of recruiting staff. These fairs are commonly aimed at school leavers but also attract interest from the general public, both those who are unemployed and these seeking a career change.</a:t>
            </a:r>
          </a:p>
          <a:p>
            <a:pPr>
              <a:buFont typeface="Arial" pitchFamily="34" charset="0"/>
              <a:buChar char="•"/>
            </a:pPr>
            <a:r>
              <a:rPr lang="en-AU" sz="1200" kern="1200" dirty="0" smtClean="0">
                <a:solidFill>
                  <a:schemeClr val="tx1"/>
                </a:solidFill>
                <a:latin typeface="+mn-lt"/>
                <a:ea typeface="+mn-ea"/>
                <a:cs typeface="+mn-cs"/>
              </a:rPr>
              <a:t> Much planning is required for these to be successfully used as a recruitment tool and there is, of course a significant expense incurred for participation: booths/stands have to be manned, advertising (including the event packages) have to be prepared and the overall image of the establishment has to be maintained.</a:t>
            </a:r>
          </a:p>
          <a:p>
            <a:pPr>
              <a:buFont typeface="Arial" pitchFamily="34" charset="0"/>
              <a:buChar char="•"/>
            </a:pPr>
            <a:r>
              <a:rPr lang="en-AU" sz="1200" kern="1200" dirty="0" smtClean="0">
                <a:solidFill>
                  <a:schemeClr val="tx1"/>
                </a:solidFill>
                <a:latin typeface="+mn-lt"/>
                <a:ea typeface="+mn-ea"/>
                <a:cs typeface="+mn-cs"/>
              </a:rPr>
              <a:t> Use of career fairs as a recruitment tool is ineffective as a </a:t>
            </a:r>
            <a:r>
              <a:rPr lang="en-AU" sz="1200" i="1" kern="1200" dirty="0" smtClean="0">
                <a:solidFill>
                  <a:schemeClr val="tx1"/>
                </a:solidFill>
                <a:latin typeface="+mn-lt"/>
                <a:ea typeface="+mn-ea"/>
                <a:cs typeface="+mn-cs"/>
              </a:rPr>
              <a:t>short-term </a:t>
            </a:r>
            <a:r>
              <a:rPr lang="en-AU" sz="1200" kern="1200" dirty="0" smtClean="0">
                <a:solidFill>
                  <a:schemeClr val="tx1"/>
                </a:solidFill>
                <a:latin typeface="+mn-lt"/>
                <a:ea typeface="+mn-ea"/>
                <a:cs typeface="+mn-cs"/>
              </a:rPr>
              <a:t>recruitment solution because most of these events have quite long lead-times (up to six months), however they can be very useful as part of an overall recruitment strategy seeking to actively seek out job applicants and keep the name of the establishment in the minds of job seekers</a:t>
            </a:r>
          </a:p>
          <a:p>
            <a:pPr>
              <a:buFont typeface="Arial" pitchFamily="34" charset="0"/>
              <a:buChar char="•"/>
            </a:pPr>
            <a:r>
              <a:rPr lang="en-AU" sz="1200" kern="1200" dirty="0" smtClean="0">
                <a:solidFill>
                  <a:schemeClr val="tx1"/>
                </a:solidFill>
                <a:latin typeface="+mn-lt"/>
                <a:ea typeface="+mn-ea"/>
                <a:cs typeface="+mn-cs"/>
              </a:rPr>
              <a:t> Some recruitment agencies will act as agents</a:t>
            </a:r>
            <a:r>
              <a:rPr lang="en-AU" sz="1200" kern="1200" baseline="0" dirty="0" smtClean="0">
                <a:solidFill>
                  <a:schemeClr val="tx1"/>
                </a:solidFill>
                <a:latin typeface="+mn-lt"/>
                <a:ea typeface="+mn-ea"/>
                <a:cs typeface="+mn-cs"/>
              </a:rPr>
              <a:t> at career fairs – for </a:t>
            </a:r>
            <a:r>
              <a:rPr lang="en-AU" sz="1200" kern="1200" dirty="0" smtClean="0">
                <a:solidFill>
                  <a:schemeClr val="tx1"/>
                </a:solidFill>
                <a:latin typeface="+mn-lt"/>
                <a:ea typeface="+mn-ea"/>
                <a:cs typeface="+mn-cs"/>
              </a:rPr>
              <a:t>a fee, they will promote an establishment as an employer and answer questions and register applicants on their behalf</a:t>
            </a:r>
          </a:p>
          <a:p>
            <a:pPr>
              <a:buFont typeface="Arial" pitchFamily="34" charset="0"/>
              <a:buChar char="•"/>
            </a:pPr>
            <a:r>
              <a:rPr lang="en-AU" sz="1200" kern="1200" dirty="0" smtClean="0">
                <a:solidFill>
                  <a:schemeClr val="tx1"/>
                </a:solidFill>
                <a:latin typeface="+mn-lt"/>
                <a:ea typeface="+mn-ea"/>
                <a:cs typeface="+mn-cs"/>
              </a:rPr>
              <a:t> Careers fairs can be industry-specific or generic, and frequently feature employment agencies, schools and various government bodies. They usually feature career advice, tips on how to apply for jobs, writing applications and CVs, interview techniques and how to gain work experience.</a:t>
            </a:r>
          </a:p>
          <a:p>
            <a:pPr>
              <a:buFont typeface="Arial" pitchFamily="34" charset="0"/>
              <a:buChar char="•"/>
            </a:pPr>
            <a:r>
              <a:rPr lang="en-AU" sz="1200" kern="1200" dirty="0" smtClean="0">
                <a:solidFill>
                  <a:schemeClr val="tx1"/>
                </a:solidFill>
                <a:latin typeface="+mn-lt"/>
                <a:ea typeface="+mn-ea"/>
                <a:cs typeface="+mn-cs"/>
              </a:rPr>
              <a:t> Online ‘career fairs’ have also become popular. </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 Internet Research</a:t>
            </a:r>
          </a:p>
          <a:p>
            <a:pPr>
              <a:buFont typeface="Arial" pitchFamily="34" charset="0"/>
              <a:buNone/>
            </a:pPr>
            <a:r>
              <a:rPr lang="en-AU" sz="1200" b="0" kern="1200" dirty="0" smtClean="0">
                <a:solidFill>
                  <a:schemeClr val="tx1"/>
                </a:solidFill>
                <a:latin typeface="+mn-lt"/>
                <a:ea typeface="+mn-ea"/>
                <a:cs typeface="+mn-cs"/>
              </a:rPr>
              <a:t>Trainer provides access to the internet and visits </a:t>
            </a:r>
            <a:r>
              <a:rPr lang="en-AU" sz="1200" u="sng" kern="1200" dirty="0" smtClean="0">
                <a:solidFill>
                  <a:schemeClr val="tx1"/>
                </a:solidFill>
                <a:latin typeface="+mn-lt"/>
                <a:ea typeface="+mn-ea"/>
                <a:cs typeface="+mn-cs"/>
                <a:hlinkClick r:id="rId3"/>
              </a:rPr>
              <a:t>http://www.careersfair.com/</a:t>
            </a:r>
            <a:r>
              <a:rPr lang="en-AU" sz="1200" kern="1200" dirty="0" smtClean="0">
                <a:solidFill>
                  <a:schemeClr val="tx1"/>
                </a:solidFill>
                <a:latin typeface="+mn-lt"/>
                <a:ea typeface="+mn-ea"/>
                <a:cs typeface="+mn-cs"/>
              </a:rPr>
              <a:t> as an example of what is available and what is offered asking trainees to:</a:t>
            </a:r>
          </a:p>
          <a:p>
            <a:pPr>
              <a:buFont typeface="Arial" pitchFamily="34" charset="0"/>
              <a:buChar char="•"/>
            </a:pPr>
            <a:r>
              <a:rPr lang="en-AU" sz="1200" kern="1200" dirty="0" smtClean="0">
                <a:solidFill>
                  <a:schemeClr val="tx1"/>
                </a:solidFill>
                <a:latin typeface="+mn-lt"/>
                <a:ea typeface="+mn-ea"/>
                <a:cs typeface="+mn-cs"/>
              </a:rPr>
              <a:t> Identify upcoming items of interest</a:t>
            </a:r>
          </a:p>
          <a:p>
            <a:pPr>
              <a:buFont typeface="Arial" pitchFamily="34" charset="0"/>
              <a:buChar char="•"/>
            </a:pPr>
            <a:r>
              <a:rPr lang="en-AU" sz="1200" kern="1200" dirty="0" smtClean="0">
                <a:solidFill>
                  <a:schemeClr val="tx1"/>
                </a:solidFill>
                <a:latin typeface="+mn-lt"/>
                <a:ea typeface="+mn-ea"/>
                <a:cs typeface="+mn-cs"/>
              </a:rPr>
              <a:t> Identify how to register interest</a:t>
            </a:r>
          </a:p>
          <a:p>
            <a:pPr>
              <a:buFont typeface="Arial" pitchFamily="34" charset="0"/>
              <a:buChar char="•"/>
            </a:pPr>
            <a:r>
              <a:rPr lang="en-AU" sz="1200" kern="1200" dirty="0" smtClean="0">
                <a:solidFill>
                  <a:schemeClr val="tx1"/>
                </a:solidFill>
                <a:latin typeface="+mn-lt"/>
                <a:ea typeface="+mn-ea"/>
                <a:cs typeface="+mn-cs"/>
              </a:rPr>
              <a:t> Identify costs associated with participating</a:t>
            </a:r>
          </a:p>
          <a:p>
            <a:pPr>
              <a:buFont typeface="Arial" pitchFamily="34" charset="0"/>
              <a:buChar char="•"/>
            </a:pPr>
            <a:r>
              <a:rPr lang="en-AU" sz="1200" kern="1200" dirty="0" smtClean="0">
                <a:solidFill>
                  <a:schemeClr val="tx1"/>
                </a:solidFill>
                <a:latin typeface="+mn-lt"/>
                <a:ea typeface="+mn-ea"/>
                <a:cs typeface="+mn-cs"/>
              </a:rPr>
              <a:t> Identify what they believe they would need to arrange in order for a business to effectively participate in a career fair to optimise its use as a source of new staff.</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indicates to trainees the </a:t>
            </a:r>
            <a:r>
              <a:rPr lang="en-AU" sz="1200" kern="1200" dirty="0" smtClean="0">
                <a:solidFill>
                  <a:schemeClr val="tx1"/>
                </a:solidFill>
                <a:latin typeface="+mn-lt"/>
                <a:ea typeface="+mn-ea"/>
                <a:cs typeface="+mn-cs"/>
              </a:rPr>
              <a:t>effective recruitment of staff through the media and recruitment agencies: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Is based on the provision of suitable advertisements or information to them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Must reflect business image – and align with how the company wants to project itself in public</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May require advertisements and engagement with recruitment agencies to be authorised by management – before any action is taken  or commitments made.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for trainees </a:t>
            </a:r>
            <a:r>
              <a:rPr lang="en-AU" sz="1200" kern="1200" dirty="0" smtClean="0">
                <a:solidFill>
                  <a:schemeClr val="tx1"/>
                </a:solidFill>
                <a:latin typeface="+mn-lt"/>
                <a:ea typeface="+mn-ea"/>
                <a:cs typeface="+mn-cs"/>
              </a:rPr>
              <a:t>points to consider when writing a job advertisement include:</a:t>
            </a:r>
          </a:p>
          <a:p>
            <a:pPr>
              <a:buFont typeface="Arial" pitchFamily="34" charset="0"/>
              <a:buChar char="•"/>
            </a:pPr>
            <a:r>
              <a:rPr lang="en-AU" sz="1200" kern="1200" dirty="0" smtClean="0">
                <a:solidFill>
                  <a:schemeClr val="tx1"/>
                </a:solidFill>
                <a:latin typeface="+mn-lt"/>
                <a:ea typeface="+mn-ea"/>
                <a:cs typeface="+mn-cs"/>
              </a:rPr>
              <a:t> Business name and contact details – check with the business first however because some establishments prefer not to advertise their name as it can cause too many calls to be made to the premises.</a:t>
            </a:r>
          </a:p>
          <a:p>
            <a:pPr>
              <a:buFont typeface="Arial" pitchFamily="34" charset="0"/>
              <a:buChar char="•"/>
            </a:pPr>
            <a:r>
              <a:rPr lang="en-AU" sz="1200" kern="1200" dirty="0" smtClean="0">
                <a:solidFill>
                  <a:schemeClr val="tx1"/>
                </a:solidFill>
                <a:latin typeface="+mn-lt"/>
                <a:ea typeface="+mn-ea"/>
                <a:cs typeface="+mn-cs"/>
              </a:rPr>
              <a:t> Businesses may want to include the address and telephone number – or there may be a requirement </a:t>
            </a:r>
            <a:r>
              <a:rPr lang="en-AU" sz="1200" b="1" kern="1200" dirty="0" smtClean="0">
                <a:solidFill>
                  <a:schemeClr val="tx1"/>
                </a:solidFill>
                <a:latin typeface="+mn-lt"/>
                <a:ea typeface="+mn-ea"/>
                <a:cs typeface="+mn-cs"/>
              </a:rPr>
              <a:t>not </a:t>
            </a:r>
            <a:r>
              <a:rPr lang="en-AU" sz="1200" kern="1200" dirty="0" smtClean="0">
                <a:solidFill>
                  <a:schemeClr val="tx1"/>
                </a:solidFill>
                <a:latin typeface="+mn-lt"/>
                <a:ea typeface="+mn-ea"/>
                <a:cs typeface="+mn-cs"/>
              </a:rPr>
              <a:t>to do so.</a:t>
            </a:r>
          </a:p>
          <a:p>
            <a:pPr>
              <a:buFont typeface="Arial" pitchFamily="34" charset="0"/>
              <a:buChar char="•"/>
            </a:pPr>
            <a:r>
              <a:rPr lang="en-AU" sz="1200" kern="1200" dirty="0" smtClean="0">
                <a:solidFill>
                  <a:schemeClr val="tx1"/>
                </a:solidFill>
                <a:latin typeface="+mn-lt"/>
                <a:ea typeface="+mn-ea"/>
                <a:cs typeface="+mn-cs"/>
              </a:rPr>
              <a:t> Job title and job description – providing a brief outline of the tasks required to be carried out. This may need to be highlighted as it is often the element of the advertisement that attracts the attention of potential applicants.</a:t>
            </a:r>
          </a:p>
          <a:p>
            <a:pPr>
              <a:buFont typeface="Arial" pitchFamily="34" charset="0"/>
              <a:buChar char="•"/>
            </a:pPr>
            <a:r>
              <a:rPr lang="en-AU" sz="1200" kern="1200" dirty="0" smtClean="0">
                <a:solidFill>
                  <a:schemeClr val="tx1"/>
                </a:solidFill>
                <a:latin typeface="+mn-lt"/>
                <a:ea typeface="+mn-ea"/>
                <a:cs typeface="+mn-cs"/>
              </a:rPr>
              <a:t> Description of the ideal applicant – this must be based on the job description and detail experience, skills, personal qualities and qualifications. It is important this is an accurate and honest depiction of what is required as it enables the advertisement itself to screen out inappropriate applicants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present </a:t>
            </a:r>
            <a:r>
              <a:rPr lang="en-AU" sz="1200" kern="1200" dirty="0" smtClean="0">
                <a:solidFill>
                  <a:schemeClr val="tx1"/>
                </a:solidFill>
                <a:latin typeface="+mn-lt"/>
                <a:ea typeface="+mn-ea"/>
                <a:cs typeface="+mn-cs"/>
              </a:rPr>
              <a:t>points to consider when writing a job advertisement:</a:t>
            </a:r>
          </a:p>
          <a:p>
            <a:pPr>
              <a:buFont typeface="Arial" pitchFamily="34" charset="0"/>
              <a:buChar char="•"/>
            </a:pPr>
            <a:r>
              <a:rPr lang="en-AU" sz="1200" kern="1200" dirty="0" smtClean="0">
                <a:solidFill>
                  <a:schemeClr val="tx1"/>
                </a:solidFill>
                <a:latin typeface="+mn-lt"/>
                <a:ea typeface="+mn-ea"/>
                <a:cs typeface="+mn-cs"/>
              </a:rPr>
              <a:t> The basis on which the person will be employed – permanent or casual, full-time or part-time. If there are a set number of hours per week this should be included. If there is the potential for overtime it is good to include this too.</a:t>
            </a:r>
          </a:p>
          <a:p>
            <a:pPr>
              <a:buFont typeface="Arial" pitchFamily="34" charset="0"/>
              <a:buChar char="•"/>
            </a:pPr>
            <a:r>
              <a:rPr lang="en-AU" sz="1200" kern="1200" dirty="0" smtClean="0">
                <a:solidFill>
                  <a:schemeClr val="tx1"/>
                </a:solidFill>
                <a:latin typeface="+mn-lt"/>
                <a:ea typeface="+mn-ea"/>
                <a:cs typeface="+mn-cs"/>
              </a:rPr>
              <a:t> Benefits of the job – this will depend sometimes on the position being advertised.</a:t>
            </a:r>
            <a:r>
              <a:rPr lang="en-AU" sz="1200" kern="1200" baseline="0" dirty="0" smtClean="0">
                <a:solidFill>
                  <a:schemeClr val="tx1"/>
                </a:solidFill>
                <a:latin typeface="+mn-lt"/>
                <a:ea typeface="+mn-ea"/>
                <a:cs typeface="+mn-cs"/>
              </a:rPr>
              <a:t> S</a:t>
            </a:r>
            <a:r>
              <a:rPr lang="en-AU" sz="1200" kern="1200" dirty="0" smtClean="0">
                <a:solidFill>
                  <a:schemeClr val="tx1"/>
                </a:solidFill>
                <a:latin typeface="+mn-lt"/>
                <a:ea typeface="+mn-ea"/>
                <a:cs typeface="+mn-cs"/>
              </a:rPr>
              <a:t>ome establishments only include this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information for management level jobs. Information that might be included may relate to pay rates, flexible hours, free parking, employee discounts </a:t>
            </a:r>
          </a:p>
          <a:p>
            <a:pPr>
              <a:buFont typeface="Arial" pitchFamily="34" charset="0"/>
              <a:buChar char="•"/>
            </a:pPr>
            <a:r>
              <a:rPr lang="en-AU" sz="1200" kern="1200" dirty="0" smtClean="0">
                <a:solidFill>
                  <a:schemeClr val="tx1"/>
                </a:solidFill>
                <a:latin typeface="+mn-lt"/>
                <a:ea typeface="+mn-ea"/>
                <a:cs typeface="+mn-cs"/>
              </a:rPr>
              <a:t> Indication of how to apply – as and where appropriate give contact details including name of person to contact, a telephone number, fax number, email address or postal address. Indicate whether or not the applicant is to telephone or write for an application form.</a:t>
            </a:r>
          </a:p>
          <a:p>
            <a:pPr>
              <a:buFont typeface="Arial" pitchFamily="34" charset="0"/>
              <a:buChar char="•"/>
            </a:pPr>
            <a:r>
              <a:rPr lang="en-AU" sz="1200" kern="1200" dirty="0" smtClean="0">
                <a:solidFill>
                  <a:schemeClr val="tx1"/>
                </a:solidFill>
                <a:latin typeface="+mn-lt"/>
                <a:ea typeface="+mn-ea"/>
                <a:cs typeface="+mn-cs"/>
              </a:rPr>
              <a:t> Tell applicants if the selection criteria are available to them and indicate if hand-written or computer-generated applications are required.</a:t>
            </a:r>
          </a:p>
          <a:p>
            <a:pPr>
              <a:buFont typeface="Arial" pitchFamily="34" charset="0"/>
              <a:buChar char="•"/>
            </a:pPr>
            <a:r>
              <a:rPr lang="en-AU" sz="1200" kern="1200" dirty="0" smtClean="0">
                <a:solidFill>
                  <a:schemeClr val="tx1"/>
                </a:solidFill>
                <a:latin typeface="+mn-lt"/>
                <a:ea typeface="+mn-ea"/>
                <a:cs typeface="+mn-cs"/>
              </a:rPr>
              <a:t> Some organisations also offer tips on applying for positions with the company.</a:t>
            </a:r>
          </a:p>
          <a:p>
            <a:pPr>
              <a:buFont typeface="Arial" pitchFamily="34" charset="0"/>
              <a:buChar char="•"/>
            </a:pPr>
            <a:r>
              <a:rPr lang="en-AU" sz="1200" kern="1200" dirty="0" smtClean="0">
                <a:solidFill>
                  <a:schemeClr val="tx1"/>
                </a:solidFill>
                <a:latin typeface="+mn-lt"/>
                <a:ea typeface="+mn-ea"/>
                <a:cs typeface="+mn-cs"/>
              </a:rPr>
              <a:t> Closing date for applications.</a:t>
            </a:r>
          </a:p>
          <a:p>
            <a:endParaRPr lang="en-AU" sz="1200"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Class Activity – Handouts</a:t>
            </a:r>
          </a:p>
          <a:p>
            <a:r>
              <a:rPr lang="en-AU" sz="1200" b="0" kern="1200" dirty="0" smtClean="0">
                <a:solidFill>
                  <a:schemeClr val="tx1"/>
                </a:solidFill>
                <a:latin typeface="+mn-lt"/>
                <a:ea typeface="+mn-ea"/>
                <a:cs typeface="+mn-cs"/>
              </a:rPr>
              <a:t>Trainer assembles a wide range of newspaper job vacancy advertisements relevant to the trainee cohort and:</a:t>
            </a:r>
          </a:p>
          <a:p>
            <a:pPr>
              <a:buFont typeface="Arial" pitchFamily="34" charset="0"/>
              <a:buChar char="•"/>
            </a:pPr>
            <a:r>
              <a:rPr lang="en-AU" sz="1200" b="0" kern="1200" dirty="0" smtClean="0">
                <a:solidFill>
                  <a:schemeClr val="tx1"/>
                </a:solidFill>
                <a:latin typeface="+mn-lt"/>
                <a:ea typeface="+mn-ea"/>
                <a:cs typeface="+mn-cs"/>
              </a:rPr>
              <a:t> Distributes and discusses them</a:t>
            </a:r>
          </a:p>
          <a:p>
            <a:pPr>
              <a:buFont typeface="Arial" pitchFamily="34" charset="0"/>
              <a:buChar char="•"/>
            </a:pPr>
            <a:r>
              <a:rPr lang="en-AU" sz="1200" b="0" kern="1200" dirty="0" smtClean="0">
                <a:solidFill>
                  <a:schemeClr val="tx1"/>
                </a:solidFill>
                <a:latin typeface="+mn-lt"/>
                <a:ea typeface="+mn-ea"/>
                <a:cs typeface="+mn-cs"/>
              </a:rPr>
              <a:t> Asks trainees to evaluate them from the point of view of a person seeking employment:</a:t>
            </a:r>
          </a:p>
          <a:p>
            <a:pPr lvl="1">
              <a:buFont typeface="Arial" pitchFamily="34" charset="0"/>
              <a:buChar char="•"/>
            </a:pPr>
            <a:r>
              <a:rPr lang="en-AU" sz="1200" b="0" kern="1200" baseline="0" dirty="0" smtClean="0">
                <a:solidFill>
                  <a:schemeClr val="tx1"/>
                </a:solidFill>
                <a:latin typeface="+mn-lt"/>
                <a:ea typeface="+mn-ea"/>
                <a:cs typeface="+mn-cs"/>
              </a:rPr>
              <a:t> How good or bad are they? </a:t>
            </a:r>
          </a:p>
          <a:p>
            <a:pPr lvl="1">
              <a:buFont typeface="Arial" pitchFamily="34" charset="0"/>
              <a:buChar char="•"/>
            </a:pPr>
            <a:r>
              <a:rPr lang="en-AU" sz="1200" b="0" kern="1200" baseline="0" dirty="0" smtClean="0">
                <a:solidFill>
                  <a:schemeClr val="tx1"/>
                </a:solidFill>
                <a:latin typeface="+mn-lt"/>
                <a:ea typeface="+mn-ea"/>
                <a:cs typeface="+mn-cs"/>
              </a:rPr>
              <a:t> Do they provide enough information?</a:t>
            </a:r>
          </a:p>
          <a:p>
            <a:pPr lvl="1">
              <a:buFont typeface="Arial" pitchFamily="34" charset="0"/>
              <a:buChar char="•"/>
            </a:pPr>
            <a:r>
              <a:rPr lang="en-AU" sz="1200" b="0" kern="1200" baseline="0" dirty="0" smtClean="0">
                <a:solidFill>
                  <a:schemeClr val="tx1"/>
                </a:solidFill>
                <a:latin typeface="+mn-lt"/>
                <a:ea typeface="+mn-ea"/>
                <a:cs typeface="+mn-cs"/>
              </a:rPr>
              <a:t> What extra information should have been included?</a:t>
            </a:r>
          </a:p>
          <a:p>
            <a:pPr lvl="1">
              <a:buFont typeface="Arial" pitchFamily="34" charset="0"/>
              <a:buChar char="•"/>
            </a:pPr>
            <a:r>
              <a:rPr lang="en-AU" sz="1200" b="0" kern="1200" baseline="0" dirty="0" smtClean="0">
                <a:solidFill>
                  <a:schemeClr val="tx1"/>
                </a:solidFill>
                <a:latin typeface="+mn-lt"/>
                <a:ea typeface="+mn-ea"/>
                <a:cs typeface="+mn-cs"/>
              </a:rPr>
              <a:t> Which adverts seem most effective and why?</a:t>
            </a:r>
          </a:p>
          <a:p>
            <a:pPr lvl="0">
              <a:buFont typeface="Arial" pitchFamily="34" charset="0"/>
              <a:buChar char="•"/>
            </a:pPr>
            <a:r>
              <a:rPr lang="en-AU" sz="1200" b="0" kern="1200" baseline="0" dirty="0" smtClean="0">
                <a:solidFill>
                  <a:schemeClr val="tx1"/>
                </a:solidFill>
                <a:latin typeface="+mn-lt"/>
                <a:ea typeface="+mn-ea"/>
                <a:cs typeface="+mn-cs"/>
              </a:rPr>
              <a:t> Highlights the media used</a:t>
            </a:r>
          </a:p>
          <a:p>
            <a:pPr lvl="0">
              <a:buFont typeface="Arial" pitchFamily="34" charset="0"/>
              <a:buChar char="•"/>
            </a:pPr>
            <a:r>
              <a:rPr lang="en-AU" sz="1200" b="0" kern="1200" baseline="0" dirty="0" smtClean="0">
                <a:solidFill>
                  <a:schemeClr val="tx1"/>
                </a:solidFill>
                <a:latin typeface="+mn-lt"/>
                <a:ea typeface="+mn-ea"/>
                <a:cs typeface="+mn-cs"/>
              </a:rPr>
              <a:t> Examines the days of the week the advertisements are lodged.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the following are tips to assist them write better job vacancy advertisements:</a:t>
            </a:r>
          </a:p>
          <a:p>
            <a:pPr>
              <a:buFont typeface="Arial" pitchFamily="34" charset="0"/>
              <a:buChar char="•"/>
            </a:pPr>
            <a:r>
              <a:rPr lang="en-AU" sz="1200" kern="1200" dirty="0" smtClean="0">
                <a:solidFill>
                  <a:schemeClr val="tx1"/>
                </a:solidFill>
                <a:latin typeface="+mn-lt"/>
                <a:ea typeface="+mn-ea"/>
                <a:cs typeface="+mn-cs"/>
              </a:rPr>
              <a:t> Write clearly – avoid jargon and enterprise-specific terminology</a:t>
            </a:r>
          </a:p>
          <a:p>
            <a:pPr>
              <a:buFont typeface="Arial" pitchFamily="34" charset="0"/>
              <a:buChar char="•"/>
            </a:pPr>
            <a:r>
              <a:rPr lang="en-AU" sz="1200" kern="1200" dirty="0" smtClean="0">
                <a:solidFill>
                  <a:schemeClr val="tx1"/>
                </a:solidFill>
                <a:latin typeface="+mn-lt"/>
                <a:ea typeface="+mn-ea"/>
                <a:cs typeface="+mn-cs"/>
              </a:rPr>
              <a:t> Write a draft – and be prepared to revise and revise it</a:t>
            </a:r>
          </a:p>
          <a:p>
            <a:pPr>
              <a:buFont typeface="Arial" pitchFamily="34" charset="0"/>
              <a:buChar char="•"/>
            </a:pPr>
            <a:r>
              <a:rPr lang="en-AU" sz="1200" kern="1200" dirty="0" smtClean="0">
                <a:solidFill>
                  <a:schemeClr val="tx1"/>
                </a:solidFill>
                <a:latin typeface="+mn-lt"/>
                <a:ea typeface="+mn-ea"/>
                <a:cs typeface="+mn-cs"/>
              </a:rPr>
              <a:t> Refer to previous similar advertisements – and use them as a basis</a:t>
            </a:r>
          </a:p>
          <a:p>
            <a:pPr>
              <a:buFont typeface="Arial" pitchFamily="34" charset="0"/>
              <a:buChar char="•"/>
            </a:pPr>
            <a:r>
              <a:rPr lang="en-AU" sz="1200" kern="1200" dirty="0" smtClean="0">
                <a:solidFill>
                  <a:schemeClr val="tx1"/>
                </a:solidFill>
                <a:latin typeface="+mn-lt"/>
                <a:ea typeface="+mn-ea"/>
                <a:cs typeface="+mn-cs"/>
              </a:rPr>
              <a:t> Include relevant information from the most recent job analysis – to help identify what the job involves and to help screen out unsuitable applicants</a:t>
            </a:r>
          </a:p>
          <a:p>
            <a:pPr>
              <a:buFont typeface="Arial" pitchFamily="34" charset="0"/>
              <a:buChar char="•"/>
            </a:pPr>
            <a:r>
              <a:rPr lang="en-AU" sz="1200" kern="1200" dirty="0" smtClean="0">
                <a:solidFill>
                  <a:schemeClr val="tx1"/>
                </a:solidFill>
                <a:latin typeface="+mn-lt"/>
                <a:ea typeface="+mn-ea"/>
                <a:cs typeface="+mn-cs"/>
              </a:rPr>
              <a:t> Name a contact person – so applicants can ask questions or obtain further information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Read the advertisement from the perspective of an applicant – try to see the advertisement through their eyes. Consider asking someone else to read the draft advertisement and provide feedback</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trainees with tips on writing job vacancy advertisements:</a:t>
            </a:r>
          </a:p>
          <a:p>
            <a:pPr>
              <a:buFont typeface="Arial" pitchFamily="34" charset="0"/>
              <a:buChar char="•"/>
            </a:pPr>
            <a:r>
              <a:rPr lang="en-AU" sz="1200" kern="1200" dirty="0" smtClean="0">
                <a:solidFill>
                  <a:schemeClr val="tx1"/>
                </a:solidFill>
                <a:latin typeface="+mn-lt"/>
                <a:ea typeface="+mn-ea"/>
                <a:cs typeface="+mn-cs"/>
              </a:rPr>
              <a:t> Do not waffle – stick to the necessary points. Do not load the advertisement with irrelevancies</a:t>
            </a:r>
          </a:p>
          <a:p>
            <a:pPr>
              <a:buFont typeface="Arial" pitchFamily="34" charset="0"/>
              <a:buChar char="•"/>
            </a:pPr>
            <a:r>
              <a:rPr lang="en-AU" sz="1200" kern="1200" dirty="0" smtClean="0">
                <a:solidFill>
                  <a:schemeClr val="tx1"/>
                </a:solidFill>
                <a:latin typeface="+mn-lt"/>
                <a:ea typeface="+mn-ea"/>
                <a:cs typeface="+mn-cs"/>
              </a:rPr>
              <a:t> Consider alternative ways for applicants to respond – options include:</a:t>
            </a:r>
          </a:p>
          <a:p>
            <a:pPr lvl="1">
              <a:buFont typeface="Arial" pitchFamily="34" charset="0"/>
              <a:buChar char="•"/>
            </a:pPr>
            <a:r>
              <a:rPr lang="en-US" sz="1200" kern="1200" dirty="0" smtClean="0">
                <a:solidFill>
                  <a:schemeClr val="tx1"/>
                </a:solidFill>
                <a:latin typeface="+mn-lt"/>
                <a:ea typeface="+mn-ea"/>
                <a:cs typeface="+mn-cs"/>
              </a:rPr>
              <a:t> Paper-based application form – useful where it is important for applicants to have good hand-writing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Online application form – at company website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Hand-deliver application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Post applications – to designated address, agency or box number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Fax application through to given number or agency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Sell the benefits of the job – highlight pay and conditions</a:t>
            </a:r>
          </a:p>
          <a:p>
            <a:pPr>
              <a:buFont typeface="Arial" pitchFamily="34" charset="0"/>
              <a:buChar char="•"/>
            </a:pPr>
            <a:r>
              <a:rPr lang="en-AU" sz="1200" kern="1200" dirty="0" smtClean="0">
                <a:solidFill>
                  <a:schemeClr val="tx1"/>
                </a:solidFill>
                <a:latin typeface="+mn-lt"/>
                <a:ea typeface="+mn-ea"/>
                <a:cs typeface="+mn-cs"/>
              </a:rPr>
              <a:t> Point to additional information available – tell people where they can go or what they should to obtain (where available) KSC, tips on applying, website for the organisation.</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representative from a local newspaper to attend and:</a:t>
            </a:r>
          </a:p>
          <a:p>
            <a:pPr>
              <a:buFont typeface="Arial" pitchFamily="34" charset="0"/>
              <a:buChar char="•"/>
            </a:pPr>
            <a:r>
              <a:rPr lang="en-US" b="0" dirty="0" smtClean="0"/>
              <a:t> Explain job vacancy advertising options available through the newspaper</a:t>
            </a:r>
          </a:p>
          <a:p>
            <a:pPr>
              <a:buFont typeface="Arial" pitchFamily="34" charset="0"/>
              <a:buChar char="•"/>
            </a:pPr>
            <a:r>
              <a:rPr lang="en-US" b="0" dirty="0" smtClean="0"/>
              <a:t> Discuss costs</a:t>
            </a:r>
          </a:p>
          <a:p>
            <a:pPr>
              <a:buFont typeface="Arial" pitchFamily="34" charset="0"/>
              <a:buChar char="•"/>
            </a:pPr>
            <a:r>
              <a:rPr lang="en-US" b="0" dirty="0" smtClean="0"/>
              <a:t> Give an opinion about frequency of placing job vacancy advertising </a:t>
            </a:r>
          </a:p>
          <a:p>
            <a:pPr>
              <a:buFont typeface="Arial" pitchFamily="34" charset="0"/>
              <a:buChar char="•"/>
            </a:pPr>
            <a:r>
              <a:rPr lang="en-US" b="0" dirty="0" smtClean="0"/>
              <a:t> Explain the reach and penetration of the newspaper</a:t>
            </a:r>
          </a:p>
          <a:p>
            <a:pPr>
              <a:buFont typeface="Arial" pitchFamily="34" charset="0"/>
              <a:buChar char="•"/>
            </a:pPr>
            <a:r>
              <a:rPr lang="en-US" b="0" dirty="0" smtClean="0"/>
              <a:t> Provide market research analysis of the impact advertising through the newspaper gives to advertisers</a:t>
            </a:r>
          </a:p>
          <a:p>
            <a:pPr>
              <a:buFont typeface="Arial" pitchFamily="34" charset="0"/>
              <a:buChar char="•"/>
            </a:pPr>
            <a:r>
              <a:rPr lang="en-US" b="0" dirty="0" smtClean="0"/>
              <a:t> Explain special deal – for multiple adverts and repeat runs</a:t>
            </a:r>
          </a:p>
          <a:p>
            <a:pPr>
              <a:buFont typeface="Arial" pitchFamily="34" charset="0"/>
              <a:buChar char="•"/>
            </a:pPr>
            <a:r>
              <a:rPr lang="en-US" b="0" dirty="0" smtClean="0"/>
              <a:t> Provide tips on advertising in the press</a:t>
            </a:r>
          </a:p>
          <a:p>
            <a:pPr>
              <a:buFont typeface="Arial" pitchFamily="34" charset="0"/>
              <a:buChar char="•"/>
            </a:pPr>
            <a:r>
              <a:rPr lang="en-US" b="0" dirty="0" smtClean="0"/>
              <a:t> Explain relevant legislation needing to be complied with when placing a job vacancy advertisement in the newspaper</a:t>
            </a:r>
          </a:p>
          <a:p>
            <a:pPr>
              <a:buFont typeface="Arial" pitchFamily="34" charset="0"/>
              <a:buChar char="•"/>
            </a:pPr>
            <a:r>
              <a:rPr lang="en-US" b="0" dirty="0" smtClean="0"/>
              <a:t> Distribute examples</a:t>
            </a:r>
            <a:r>
              <a:rPr lang="en-US" b="0" baseline="0" dirty="0" smtClean="0"/>
              <a:t> of good and bad </a:t>
            </a:r>
            <a:r>
              <a:rPr lang="en-US" b="0" dirty="0" smtClean="0"/>
              <a:t>job vacancy advertising .</a:t>
            </a:r>
          </a:p>
          <a:p>
            <a:pPr>
              <a:buFont typeface="Arial" pitchFamily="34" charset="0"/>
              <a:buChar char="•"/>
            </a:pPr>
            <a:endParaRPr lang="en-US" b="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for trainees additional points to consider when advertising job vacancies:</a:t>
            </a:r>
          </a:p>
          <a:p>
            <a:pPr>
              <a:buFont typeface="Arial" pitchFamily="34" charset="0"/>
              <a:buChar char="•"/>
            </a:pPr>
            <a:r>
              <a:rPr lang="en-AU" sz="1200" kern="1200" dirty="0" smtClean="0">
                <a:solidFill>
                  <a:schemeClr val="tx1"/>
                </a:solidFill>
                <a:latin typeface="+mn-lt"/>
                <a:ea typeface="+mn-ea"/>
                <a:cs typeface="+mn-cs"/>
              </a:rPr>
              <a:t> It is also important to check with the source to be used to identify any special requirements they may have: common requirements can relate to size, terminology allowed, time by which advertisements have to be lodged, quality of the finished product, use of company logos.</a:t>
            </a:r>
          </a:p>
          <a:p>
            <a:pPr>
              <a:buFont typeface="Arial" pitchFamily="34" charset="0"/>
              <a:buChar char="•"/>
            </a:pPr>
            <a:r>
              <a:rPr lang="en-AU" sz="1200" kern="1200" dirty="0" smtClean="0">
                <a:solidFill>
                  <a:schemeClr val="tx1"/>
                </a:solidFill>
                <a:latin typeface="+mn-lt"/>
                <a:ea typeface="+mn-ea"/>
                <a:cs typeface="+mn-cs"/>
              </a:rPr>
              <a:t> Check with management to determine how much money is available – for the placement of advertisements. This can dictate the medium to be used, the placement of the advertisement in that medium, how many times it runs and the size of the advertisements.</a:t>
            </a:r>
          </a:p>
          <a:p>
            <a:pPr>
              <a:buFont typeface="Arial" pitchFamily="34" charset="0"/>
              <a:buChar char="•"/>
            </a:pPr>
            <a:r>
              <a:rPr lang="en-AU" sz="1200" kern="1200" dirty="0" smtClean="0">
                <a:solidFill>
                  <a:schemeClr val="tx1"/>
                </a:solidFill>
                <a:latin typeface="+mn-lt"/>
                <a:ea typeface="+mn-ea"/>
                <a:cs typeface="+mn-cs"/>
              </a:rPr>
              <a:t> It is always worthwhile getting someone else to proof-read any job vacancy advertisement – to ensure its accuracy and identify whether or not any important information has been omitted.</a:t>
            </a:r>
          </a:p>
          <a:p>
            <a:pPr>
              <a:buFont typeface="Arial" pitchFamily="34" charset="0"/>
              <a:buChar char="•"/>
            </a:pPr>
            <a:r>
              <a:rPr lang="en-US" dirty="0" smtClean="0"/>
              <a:t> Create and make application forms available – </a:t>
            </a:r>
            <a:r>
              <a:rPr lang="en-US" sz="1200" kern="1200" dirty="0" smtClean="0">
                <a:solidFill>
                  <a:schemeClr val="tx1"/>
                </a:solidFill>
                <a:latin typeface="+mn-lt"/>
                <a:ea typeface="+mn-ea"/>
                <a:cs typeface="+mn-cs"/>
              </a:rPr>
              <a:t>at the reception desk, via phone or fax or on the Internet.</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sz="1200" b="1" kern="1200" dirty="0" smtClean="0">
                <a:solidFill>
                  <a:schemeClr val="tx1"/>
                </a:solidFill>
                <a:latin typeface="+mn-lt"/>
                <a:ea typeface="+mn-ea"/>
                <a:cs typeface="+mn-cs"/>
              </a:rPr>
              <a:t>Class Activity – Group Research</a:t>
            </a:r>
          </a:p>
          <a:p>
            <a:pPr>
              <a:buFont typeface="Arial" pitchFamily="34" charset="0"/>
              <a:buNone/>
            </a:pPr>
            <a:r>
              <a:rPr lang="en-US" sz="1200" b="0" kern="1200" dirty="0" smtClean="0">
                <a:solidFill>
                  <a:schemeClr val="tx1"/>
                </a:solidFill>
                <a:latin typeface="+mn-lt"/>
                <a:ea typeface="+mn-ea"/>
                <a:cs typeface="+mn-cs"/>
              </a:rPr>
              <a:t>Trainer provides internet access to trainees and asks them to:</a:t>
            </a:r>
          </a:p>
          <a:p>
            <a:pPr>
              <a:buFont typeface="Arial" pitchFamily="34" charset="0"/>
              <a:buChar char="•"/>
            </a:pPr>
            <a:r>
              <a:rPr lang="en-US" sz="1200" b="0" kern="1200" dirty="0" smtClean="0">
                <a:solidFill>
                  <a:schemeClr val="tx1"/>
                </a:solidFill>
                <a:latin typeface="+mn-lt"/>
                <a:ea typeface="+mn-ea"/>
                <a:cs typeface="+mn-cs"/>
              </a:rPr>
              <a:t> Find examples of online application</a:t>
            </a:r>
            <a:r>
              <a:rPr lang="en-US" dirty="0" smtClean="0"/>
              <a:t> forms relevant to the industry type</a:t>
            </a:r>
            <a:r>
              <a:rPr lang="en-US" baseline="0" dirty="0" smtClean="0"/>
              <a:t> </a:t>
            </a:r>
            <a:r>
              <a:rPr lang="en-US" dirty="0" smtClean="0"/>
              <a:t>of the trainee cohort</a:t>
            </a:r>
          </a:p>
          <a:p>
            <a:pPr>
              <a:buFont typeface="Arial" pitchFamily="34" charset="0"/>
              <a:buChar char="•"/>
            </a:pPr>
            <a:r>
              <a:rPr lang="en-US" dirty="0" smtClean="0"/>
              <a:t> </a:t>
            </a:r>
            <a:r>
              <a:rPr lang="en-US" sz="1200" kern="1200" dirty="0" smtClean="0">
                <a:solidFill>
                  <a:schemeClr val="tx1"/>
                </a:solidFill>
                <a:latin typeface="+mn-lt"/>
                <a:ea typeface="+mn-ea"/>
                <a:cs typeface="+mn-cs"/>
              </a:rPr>
              <a:t>Visit </a:t>
            </a:r>
            <a:r>
              <a:rPr lang="en-US" sz="1200" u="sng" kern="1200" dirty="0" smtClean="0">
                <a:solidFill>
                  <a:schemeClr val="tx1"/>
                </a:solidFill>
                <a:latin typeface="+mn-lt"/>
                <a:ea typeface="+mn-ea"/>
                <a:cs typeface="+mn-cs"/>
                <a:hlinkClick r:id="rId3"/>
              </a:rPr>
              <a:t>http://www.vibehotels.com.au/default.asp?page=/about-vibe/careers-at-vibe-hotels/employment-application-form</a:t>
            </a:r>
            <a:r>
              <a:rPr lang="en-AU" sz="1200" kern="1200" dirty="0" smtClean="0">
                <a:solidFill>
                  <a:schemeClr val="tx1"/>
                </a:solidFill>
                <a:latin typeface="+mn-lt"/>
                <a:ea typeface="+mn-ea"/>
                <a:cs typeface="+mn-cs"/>
              </a:rPr>
              <a:t> </a:t>
            </a:r>
            <a:r>
              <a:rPr lang="en-US" sz="1200" kern="1200" dirty="0" smtClean="0">
                <a:solidFill>
                  <a:schemeClr val="tx1"/>
                </a:solidFill>
                <a:latin typeface="+mn-lt"/>
                <a:ea typeface="+mn-ea"/>
                <a:cs typeface="+mn-cs"/>
              </a:rPr>
              <a:t>to view an example of an online application form relevant to the hospitality industry.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some businesses develop an ‘event’ or ‘information’ package to support their efforts at recruiting staff.</a:t>
            </a:r>
          </a:p>
          <a:p>
            <a:pPr>
              <a:buFont typeface="Arial" pitchFamily="34" charset="0"/>
              <a:buNone/>
            </a:pPr>
            <a:endParaRPr lang="en-US" dirty="0" smtClean="0"/>
          </a:p>
          <a:p>
            <a:pPr>
              <a:buFont typeface="Arial" pitchFamily="34" charset="0"/>
              <a:buNone/>
            </a:pPr>
            <a:r>
              <a:rPr lang="en-US" dirty="0" smtClean="0"/>
              <a:t>This package may contain:</a:t>
            </a:r>
          </a:p>
          <a:p>
            <a:pPr>
              <a:buFont typeface="Arial" pitchFamily="34" charset="0"/>
              <a:buChar char="•"/>
            </a:pPr>
            <a:r>
              <a:rPr lang="en-AU" sz="1200" kern="1200" dirty="0" smtClean="0">
                <a:solidFill>
                  <a:schemeClr val="tx1"/>
                </a:solidFill>
                <a:latin typeface="+mn-lt"/>
                <a:ea typeface="+mn-ea"/>
                <a:cs typeface="+mn-cs"/>
              </a:rPr>
              <a:t> Details about the history of the business – where,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when and who started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it</a:t>
            </a:r>
          </a:p>
          <a:p>
            <a:pPr>
              <a:buFont typeface="Arial" pitchFamily="34" charset="0"/>
              <a:buChar char="•"/>
            </a:pPr>
            <a:r>
              <a:rPr lang="en-AU" sz="1200" kern="1200" dirty="0" smtClean="0">
                <a:solidFill>
                  <a:schemeClr val="tx1"/>
                </a:solidFill>
                <a:latin typeface="+mn-lt"/>
                <a:ea typeface="+mn-ea"/>
                <a:cs typeface="+mn-cs"/>
              </a:rPr>
              <a:t> Statistics – outlining size and scope of the business, number of people served, number of staff employed</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turnover </a:t>
            </a:r>
          </a:p>
          <a:p>
            <a:pPr>
              <a:buFont typeface="Arial" pitchFamily="34" charset="0"/>
              <a:buChar char="•"/>
            </a:pPr>
            <a:r>
              <a:rPr lang="en-AU" sz="1200" kern="1200" dirty="0" smtClean="0">
                <a:solidFill>
                  <a:schemeClr val="tx1"/>
                </a:solidFill>
                <a:latin typeface="+mn-lt"/>
                <a:ea typeface="+mn-ea"/>
                <a:cs typeface="+mn-cs"/>
              </a:rPr>
              <a:t> Awards – detailing any industry awards or prizes the business has one over the years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identify to trainees the content of an information package that could be used to support recruitment activities:</a:t>
            </a:r>
          </a:p>
          <a:p>
            <a:pPr>
              <a:buFont typeface="Arial" pitchFamily="34" charset="0"/>
              <a:buChar char="•"/>
            </a:pPr>
            <a:r>
              <a:rPr lang="en-AU" sz="1200" kern="1200" dirty="0" smtClean="0">
                <a:solidFill>
                  <a:schemeClr val="tx1"/>
                </a:solidFill>
                <a:latin typeface="+mn-lt"/>
                <a:ea typeface="+mn-ea"/>
                <a:cs typeface="+mn-cs"/>
              </a:rPr>
              <a:t> Rates – sample menus, wine lists, room rates, schedules, time tables </a:t>
            </a:r>
          </a:p>
          <a:p>
            <a:pPr>
              <a:buFont typeface="Arial" pitchFamily="34" charset="0"/>
              <a:buChar char="•"/>
            </a:pPr>
            <a:r>
              <a:rPr lang="en-AU" sz="1200" kern="1200" dirty="0" smtClean="0">
                <a:solidFill>
                  <a:schemeClr val="tx1"/>
                </a:solidFill>
                <a:latin typeface="+mn-lt"/>
                <a:ea typeface="+mn-ea"/>
                <a:cs typeface="+mn-cs"/>
              </a:rPr>
              <a:t> Locations of the business – detailing where the organisation has properties, outlets, offices or agencies</a:t>
            </a:r>
          </a:p>
          <a:p>
            <a:pPr>
              <a:buFont typeface="Arial" pitchFamily="34" charset="0"/>
              <a:buChar char="•"/>
            </a:pPr>
            <a:r>
              <a:rPr lang="en-AU" sz="1200" kern="1200" dirty="0" smtClean="0">
                <a:solidFill>
                  <a:schemeClr val="tx1"/>
                </a:solidFill>
                <a:latin typeface="+mn-lt"/>
                <a:ea typeface="+mn-ea"/>
                <a:cs typeface="+mn-cs"/>
              </a:rPr>
              <a:t> Career paths – outlining the positions available for employees within the business</a:t>
            </a:r>
          </a:p>
          <a:p>
            <a:pPr>
              <a:buFont typeface="Arial" pitchFamily="34" charset="0"/>
              <a:buChar char="•"/>
            </a:pPr>
            <a:r>
              <a:rPr lang="en-AU" sz="1200" kern="1200" dirty="0" smtClean="0">
                <a:solidFill>
                  <a:schemeClr val="tx1"/>
                </a:solidFill>
                <a:latin typeface="+mn-lt"/>
                <a:ea typeface="+mn-ea"/>
                <a:cs typeface="+mn-cs"/>
              </a:rPr>
              <a:t> Policies – containing essentials of the specific employment-related company policies</a:t>
            </a:r>
          </a:p>
          <a:p>
            <a:pPr>
              <a:buFont typeface="Arial" pitchFamily="34" charset="0"/>
              <a:buChar char="•"/>
            </a:pPr>
            <a:r>
              <a:rPr lang="en-AU" sz="1200" kern="1200" dirty="0" smtClean="0">
                <a:solidFill>
                  <a:schemeClr val="tx1"/>
                </a:solidFill>
                <a:latin typeface="+mn-lt"/>
                <a:ea typeface="+mn-ea"/>
                <a:cs typeface="+mn-cs"/>
              </a:rPr>
              <a:t> Photographs – showing the facilities and thereby indicating the expected (dress and personal presentation) standards required from employees.</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obtains information kits used to support recruit activities for businesses and:</a:t>
            </a:r>
          </a:p>
          <a:p>
            <a:pPr>
              <a:buFont typeface="Arial" pitchFamily="34" charset="0"/>
              <a:buChar char="•"/>
            </a:pPr>
            <a:r>
              <a:rPr lang="en-US" b="0" dirty="0" smtClean="0"/>
              <a:t> Distributes then to trainees</a:t>
            </a:r>
          </a:p>
          <a:p>
            <a:pPr>
              <a:buFont typeface="Arial" pitchFamily="34" charset="0"/>
              <a:buChar char="•"/>
            </a:pPr>
            <a:r>
              <a:rPr lang="en-US" b="0" dirty="0" smtClean="0"/>
              <a:t> Asks them to discuss and critique them</a:t>
            </a:r>
          </a:p>
          <a:p>
            <a:pPr>
              <a:buFont typeface="Arial" pitchFamily="34" charset="0"/>
              <a:buChar char="•"/>
            </a:pPr>
            <a:r>
              <a:rPr lang="en-US" b="0" dirty="0" smtClean="0"/>
              <a:t> Identify why inclusions have been included – why was the information included?</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emphasises </a:t>
            </a:r>
            <a:r>
              <a:rPr lang="en-AU" sz="1200" kern="1200" dirty="0" smtClean="0">
                <a:solidFill>
                  <a:schemeClr val="tx1"/>
                </a:solidFill>
                <a:latin typeface="+mn-lt"/>
                <a:ea typeface="+mn-ea"/>
                <a:cs typeface="+mn-cs"/>
              </a:rPr>
              <a:t>it is necessary for them to identify and become familiar with the specific legal obligations imposed on employment advertisers.</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Job vacancy advertisements should:</a:t>
            </a:r>
          </a:p>
          <a:p>
            <a:pPr>
              <a:buFont typeface="Arial" pitchFamily="34" charset="0"/>
              <a:buChar char="•"/>
            </a:pPr>
            <a:r>
              <a:rPr lang="en-AU" sz="1200" kern="1200" dirty="0" smtClean="0">
                <a:solidFill>
                  <a:schemeClr val="tx1"/>
                </a:solidFill>
                <a:latin typeface="+mn-lt"/>
                <a:ea typeface="+mn-ea"/>
                <a:cs typeface="+mn-cs"/>
              </a:rPr>
              <a:t> Make it clear all people with the right skills, qualifications and experience will be considered for the position – thereby indicating compliance with EO requirements </a:t>
            </a:r>
          </a:p>
          <a:p>
            <a:pPr>
              <a:buFont typeface="Arial" pitchFamily="34" charset="0"/>
              <a:buChar char="•"/>
            </a:pPr>
            <a:r>
              <a:rPr lang="en-AU" sz="1200" kern="1200" dirty="0" smtClean="0">
                <a:solidFill>
                  <a:schemeClr val="tx1"/>
                </a:solidFill>
                <a:latin typeface="+mn-lt"/>
                <a:ea typeface="+mn-ea"/>
                <a:cs typeface="+mn-cs"/>
              </a:rPr>
              <a:t> Mention any flexible working arrangements in place or that will be considered for the right person – to highlight preparedness to hire mature age people, working parents and care-givers. </a:t>
            </a:r>
          </a:p>
          <a:p>
            <a:pPr>
              <a:buFont typeface="Arial" pitchFamily="34" charset="0"/>
              <a:buChar char="•"/>
            </a:pPr>
            <a:r>
              <a:rPr lang="en-AU" sz="1200" kern="1200" dirty="0" smtClean="0">
                <a:solidFill>
                  <a:schemeClr val="tx1"/>
                </a:solidFill>
                <a:latin typeface="+mn-lt"/>
                <a:ea typeface="+mn-ea"/>
                <a:cs typeface="+mn-cs"/>
              </a:rPr>
              <a:t> Avoid words such as ‘young’ and ‘mature’ as well as specifying age ranges or limits are unlawful – so the wording of the advertisement is age-neutral. If looking for mature age workers, consider replacing the terms 'senior' or ‘mature person’ with ‘experienced’, or ‘able to work unsupervised’. </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 Guest Speaker</a:t>
            </a:r>
          </a:p>
          <a:p>
            <a:pPr>
              <a:buFont typeface="Arial" pitchFamily="34" charset="0"/>
              <a:buNone/>
            </a:pPr>
            <a:r>
              <a:rPr lang="en-AU" sz="1200" b="0" kern="1200" dirty="0" smtClean="0">
                <a:solidFill>
                  <a:schemeClr val="tx1"/>
                </a:solidFill>
                <a:latin typeface="+mn-lt"/>
                <a:ea typeface="+mn-ea"/>
                <a:cs typeface="+mn-cs"/>
              </a:rPr>
              <a:t>Trainer arranges for a relevant recruitment agency</a:t>
            </a:r>
            <a:r>
              <a:rPr lang="en-AU" sz="1200" b="0" kern="1200" baseline="0" dirty="0" smtClean="0">
                <a:solidFill>
                  <a:schemeClr val="tx1"/>
                </a:solidFill>
                <a:latin typeface="+mn-lt"/>
                <a:ea typeface="+mn-ea"/>
                <a:cs typeface="+mn-cs"/>
              </a:rPr>
              <a:t> </a:t>
            </a:r>
            <a:r>
              <a:rPr lang="en-AU" sz="1200" b="0" kern="1200" dirty="0" smtClean="0">
                <a:solidFill>
                  <a:schemeClr val="tx1"/>
                </a:solidFill>
                <a:latin typeface="+mn-lt"/>
                <a:ea typeface="+mn-ea"/>
                <a:cs typeface="+mn-cs"/>
              </a:rPr>
              <a:t>to attend and:</a:t>
            </a:r>
          </a:p>
          <a:p>
            <a:pPr>
              <a:buFont typeface="Arial" pitchFamily="34" charset="0"/>
              <a:buChar char="•"/>
            </a:pPr>
            <a:r>
              <a:rPr lang="en-AU" sz="1200" b="0" kern="1200" dirty="0" smtClean="0">
                <a:solidFill>
                  <a:schemeClr val="tx1"/>
                </a:solidFill>
                <a:latin typeface="+mn-lt"/>
                <a:ea typeface="+mn-ea"/>
                <a:cs typeface="+mn-cs"/>
              </a:rPr>
              <a:t> Identify local legislation to be complied with when advertising job vacancies</a:t>
            </a:r>
          </a:p>
          <a:p>
            <a:pPr>
              <a:buFont typeface="Arial" pitchFamily="34" charset="0"/>
              <a:buChar char="•"/>
            </a:pPr>
            <a:r>
              <a:rPr lang="en-AU" sz="1200" b="0" kern="1200" dirty="0" smtClean="0">
                <a:solidFill>
                  <a:schemeClr val="tx1"/>
                </a:solidFill>
                <a:latin typeface="+mn-lt"/>
                <a:ea typeface="+mn-ea"/>
                <a:cs typeface="+mn-cs"/>
              </a:rPr>
              <a:t> Distribute information sheets and similar providing advice on how to prepare a legally compliant job vacancy advertisement</a:t>
            </a:r>
          </a:p>
          <a:p>
            <a:pPr>
              <a:buFont typeface="Arial" pitchFamily="34" charset="0"/>
              <a:buChar char="•"/>
            </a:pPr>
            <a:r>
              <a:rPr lang="en-AU" sz="1200" b="0" kern="1200" dirty="0" smtClean="0">
                <a:solidFill>
                  <a:schemeClr val="tx1"/>
                </a:solidFill>
                <a:latin typeface="+mn-lt"/>
                <a:ea typeface="+mn-ea"/>
                <a:cs typeface="+mn-cs"/>
              </a:rPr>
              <a:t> Lead trainees on a guided tour of their website.</a:t>
            </a:r>
          </a:p>
          <a:p>
            <a:pPr>
              <a:buFont typeface="Arial" pitchFamily="34" charset="0"/>
              <a:buNone/>
            </a:pP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to trainees the possible legal issues they need to comply with when writing a job vacancy advertisement:</a:t>
            </a:r>
          </a:p>
          <a:p>
            <a:pPr>
              <a:buFont typeface="Arial" pitchFamily="34" charset="0"/>
              <a:buChar char="•"/>
            </a:pPr>
            <a:r>
              <a:rPr lang="en-AU" sz="1200" kern="1200" dirty="0" smtClean="0">
                <a:solidFill>
                  <a:schemeClr val="tx1"/>
                </a:solidFill>
                <a:latin typeface="+mn-lt"/>
                <a:ea typeface="+mn-ea"/>
                <a:cs typeface="+mn-cs"/>
              </a:rPr>
              <a:t> Avoid any reference to race, religion, marital</a:t>
            </a:r>
            <a:r>
              <a:rPr lang="en-AU" sz="1200" kern="1200" baseline="0" dirty="0" smtClean="0">
                <a:solidFill>
                  <a:schemeClr val="tx1"/>
                </a:solidFill>
                <a:latin typeface="+mn-lt"/>
                <a:ea typeface="+mn-ea"/>
                <a:cs typeface="+mn-cs"/>
              </a:rPr>
              <a:t> &amp; </a:t>
            </a:r>
            <a:r>
              <a:rPr lang="en-AU" sz="1200" kern="1200" dirty="0" smtClean="0">
                <a:solidFill>
                  <a:schemeClr val="tx1"/>
                </a:solidFill>
                <a:latin typeface="+mn-lt"/>
                <a:ea typeface="+mn-ea"/>
                <a:cs typeface="+mn-cs"/>
              </a:rPr>
              <a:t>parental status or other personal characteristics – focus the advertisement on the specific skills and qualifications required. </a:t>
            </a:r>
          </a:p>
          <a:p>
            <a:pPr>
              <a:buFont typeface="Arial" pitchFamily="34" charset="0"/>
              <a:buChar char="•"/>
            </a:pPr>
            <a:r>
              <a:rPr lang="en-AU" sz="1200" kern="1200" dirty="0" smtClean="0">
                <a:solidFill>
                  <a:schemeClr val="tx1"/>
                </a:solidFill>
                <a:latin typeface="+mn-lt"/>
                <a:ea typeface="+mn-ea"/>
                <a:cs typeface="+mn-cs"/>
              </a:rPr>
              <a:t> Include a statement such as 'we are an age-friendly organisation' or 'people of all ages are encouraged to apply' – to demonstrate there is no age-based discrimination</a:t>
            </a:r>
          </a:p>
          <a:p>
            <a:pPr>
              <a:buFont typeface="Arial" pitchFamily="34" charset="0"/>
              <a:buChar char="•"/>
            </a:pPr>
            <a:r>
              <a:rPr lang="en-AU" sz="1200" kern="1200" dirty="0" smtClean="0">
                <a:solidFill>
                  <a:schemeClr val="tx1"/>
                </a:solidFill>
                <a:latin typeface="+mn-lt"/>
                <a:ea typeface="+mn-ea"/>
                <a:cs typeface="+mn-cs"/>
              </a:rPr>
              <a:t> Contain gender-neutral terminology –for example use ‘Supervisor’ instead of ‘Foreman’, use ‘Room Attendant’ instead of ‘House Maid’ and use ’Waiting staff’ instead ‘Waitresses’.</a:t>
            </a:r>
          </a:p>
          <a:p>
            <a:pPr>
              <a:buFont typeface="Arial" pitchFamily="34" charset="0"/>
              <a:buNone/>
            </a:pPr>
            <a:endParaRPr lang="en-US" dirty="0" smtClean="0"/>
          </a:p>
          <a:p>
            <a:pPr>
              <a:buFont typeface="Arial" pitchFamily="34" charset="0"/>
              <a:buNone/>
            </a:pPr>
            <a:r>
              <a:rPr lang="en-US" b="1" dirty="0" smtClean="0"/>
              <a:t>Class Activity – Individual Exercise</a:t>
            </a:r>
          </a:p>
          <a:p>
            <a:pPr>
              <a:buFont typeface="Arial" pitchFamily="34" charset="0"/>
              <a:buNone/>
            </a:pPr>
            <a:r>
              <a:rPr lang="en-US" b="0" dirty="0" smtClean="0"/>
              <a:t>Trainer identifies a range of job positions relevant to the trainee cohort and:</a:t>
            </a:r>
          </a:p>
          <a:p>
            <a:pPr>
              <a:buFont typeface="Arial" pitchFamily="34" charset="0"/>
              <a:buChar char="•"/>
            </a:pPr>
            <a:r>
              <a:rPr lang="en-US" b="0" dirty="0" smtClean="0"/>
              <a:t> Allocates one per trainee</a:t>
            </a:r>
          </a:p>
          <a:p>
            <a:pPr>
              <a:buFont typeface="Arial" pitchFamily="34" charset="0"/>
              <a:buChar char="•"/>
            </a:pPr>
            <a:r>
              <a:rPr lang="en-US" b="0" dirty="0" smtClean="0"/>
              <a:t> Asks them to write an effective job vacancy advertisements suitable for placement in the local newspaper</a:t>
            </a:r>
          </a:p>
          <a:p>
            <a:pPr>
              <a:buFont typeface="Arial" pitchFamily="34" charset="0"/>
              <a:buChar char="•"/>
            </a:pPr>
            <a:r>
              <a:rPr lang="en-US" b="0" dirty="0" smtClean="0"/>
              <a:t> Provides feedback on the advertisements created.</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dirty="0" smtClean="0"/>
              <a:t>Trainer asks </a:t>
            </a:r>
            <a:r>
              <a:rPr lang="en-AU" sz="1200" kern="1200" baseline="0" dirty="0" smtClean="0">
                <a:solidFill>
                  <a:schemeClr val="tx1"/>
                </a:solidFill>
                <a:latin typeface="+mn-lt"/>
                <a:ea typeface="+mn-ea"/>
                <a:cs typeface="+mn-cs"/>
              </a:rPr>
              <a:t>trainee</a:t>
            </a:r>
            <a:r>
              <a:rPr lang="en-US" b="0" dirty="0" smtClean="0"/>
              <a:t>s questions regarding staff interviews asking questions such as: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experience have you had with job interviews?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is meant by the term ‘short-listing’?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are ‘references’ and how do they differ from ‘referees’?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Why would a workplace check references and referees of job applicants?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is meant by a ‘panel interview’?</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dirty="0" smtClean="0"/>
              <a:t> What testing procedures</a:t>
            </a:r>
            <a:r>
              <a:rPr lang="en-US" b="0" baseline="0" dirty="0" smtClean="0"/>
              <a:t> might be associated with interviewing and selecting staff? Why might these tests be applied?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baseline="0" dirty="0" smtClean="0"/>
              <a:t> Why would a business file job application documentation and interview documentation? What might be included in terms of these documents? How and where might they file this documentation?</a:t>
            </a:r>
            <a:endParaRPr lang="en-US" b="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introduces this part of the course to trainees stating </a:t>
            </a:r>
            <a:r>
              <a:rPr lang="en-AU" sz="1200" kern="1200" dirty="0" smtClean="0">
                <a:solidFill>
                  <a:schemeClr val="tx1"/>
                </a:solidFill>
                <a:latin typeface="+mn-lt"/>
                <a:ea typeface="+mn-ea"/>
                <a:cs typeface="+mn-cs"/>
              </a:rPr>
              <a:t>when advertisements for positions have been lodged there will be a need to accept applications for those vacancies advising:</a:t>
            </a:r>
          </a:p>
          <a:p>
            <a:pPr>
              <a:buFont typeface="Arial" pitchFamily="34" charset="0"/>
              <a:buChar char="•"/>
            </a:pPr>
            <a:r>
              <a:rPr lang="en-AU" sz="1200" kern="1200" dirty="0" smtClean="0">
                <a:solidFill>
                  <a:schemeClr val="tx1"/>
                </a:solidFill>
                <a:latin typeface="+mn-lt"/>
                <a:ea typeface="+mn-ea"/>
                <a:cs typeface="+mn-cs"/>
              </a:rPr>
              <a:t> After advertisements have been lodged with the media, and after vacancies have been listed with recruitment agencies applications will begin to arrive – the arrival of applications can be almost immediate</a:t>
            </a:r>
          </a:p>
          <a:p>
            <a:pPr>
              <a:buFont typeface="Arial" pitchFamily="34" charset="0"/>
              <a:buChar char="•"/>
            </a:pPr>
            <a:r>
              <a:rPr lang="en-AU" sz="1200" kern="1200" dirty="0" smtClean="0">
                <a:solidFill>
                  <a:schemeClr val="tx1"/>
                </a:solidFill>
                <a:latin typeface="+mn-lt"/>
                <a:ea typeface="+mn-ea"/>
                <a:cs typeface="+mn-cs"/>
              </a:rPr>
              <a:t> Expect a regular stream of telephone calls and queries in relation to the position being advertised – expect these even where advertisements have not given the name of the business or provided a contact telephone number. Many job applicants can work out where a job vacancy is located by ‘reading between the lines’ of the advertisement: </a:t>
            </a:r>
          </a:p>
          <a:p>
            <a:pPr lvl="1">
              <a:buFont typeface="Arial" pitchFamily="34" charset="0"/>
              <a:buChar char="•"/>
            </a:pPr>
            <a:r>
              <a:rPr lang="en-AU" sz="1200" kern="1200" dirty="0" smtClean="0">
                <a:solidFill>
                  <a:schemeClr val="tx1"/>
                </a:solidFill>
                <a:latin typeface="+mn-lt"/>
                <a:ea typeface="+mn-ea"/>
                <a:cs typeface="+mn-cs"/>
              </a:rPr>
              <a:t> Expect calls from potential applicants – seeking more information</a:t>
            </a:r>
          </a:p>
          <a:p>
            <a:pPr lvl="1">
              <a:buFont typeface="Arial" pitchFamily="34" charset="0"/>
              <a:buChar char="•"/>
            </a:pPr>
            <a:r>
              <a:rPr lang="en-AU" sz="1200" kern="1200" dirty="0" smtClean="0">
                <a:solidFill>
                  <a:schemeClr val="tx1"/>
                </a:solidFill>
                <a:latin typeface="+mn-lt"/>
                <a:ea typeface="+mn-ea"/>
                <a:cs typeface="+mn-cs"/>
              </a:rPr>
              <a:t> Expect calls or queries from recruitment agencies – wanting clarification of issues raised by applicants</a:t>
            </a:r>
          </a:p>
          <a:p>
            <a:pPr>
              <a:buFont typeface="Arial" pitchFamily="34" charset="0"/>
              <a:buChar char="•"/>
            </a:pPr>
            <a:r>
              <a:rPr lang="en-AU" sz="1200" kern="1200" dirty="0" smtClean="0">
                <a:solidFill>
                  <a:schemeClr val="tx1"/>
                </a:solidFill>
                <a:latin typeface="+mn-lt"/>
                <a:ea typeface="+mn-ea"/>
                <a:cs typeface="+mn-cs"/>
              </a:rPr>
              <a:t> After responding to questions, the primary aim of this stage in the recruitment process is to accept all incoming applications.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trainees with advice regarding taking applications:</a:t>
            </a:r>
          </a:p>
          <a:p>
            <a:pPr>
              <a:buFont typeface="Arial" pitchFamily="34" charset="0"/>
              <a:buChar char="•"/>
            </a:pPr>
            <a:r>
              <a:rPr lang="en-AU" sz="1200" kern="1200" dirty="0" smtClean="0">
                <a:solidFill>
                  <a:schemeClr val="tx1"/>
                </a:solidFill>
                <a:latin typeface="+mn-lt"/>
                <a:ea typeface="+mn-ea"/>
                <a:cs typeface="+mn-cs"/>
              </a:rPr>
              <a:t> Despite clear and obvious instructions about applications – for example, that they must be mailed in</a:t>
            </a:r>
          </a:p>
          <a:p>
            <a:pPr>
              <a:buFont typeface="Arial" pitchFamily="34" charset="0"/>
              <a:buChar char="•"/>
            </a:pPr>
            <a:r>
              <a:rPr lang="en-AU" sz="1200" kern="1200" dirty="0" smtClean="0">
                <a:solidFill>
                  <a:schemeClr val="tx1"/>
                </a:solidFill>
                <a:latin typeface="+mn-lt"/>
                <a:ea typeface="+mn-ea"/>
                <a:cs typeface="+mn-cs"/>
              </a:rPr>
              <a:t> Many applicants will hand-deliver their application where they believe their actual personal appearance may positively influence a hiring decision.</a:t>
            </a:r>
          </a:p>
          <a:p>
            <a:pPr>
              <a:buFont typeface="Arial" pitchFamily="34" charset="0"/>
              <a:buChar char="•"/>
            </a:pPr>
            <a:r>
              <a:rPr lang="en-AU" sz="1200" kern="1200" dirty="0" smtClean="0">
                <a:solidFill>
                  <a:schemeClr val="tx1"/>
                </a:solidFill>
                <a:latin typeface="+mn-lt"/>
                <a:ea typeface="+mn-ea"/>
                <a:cs typeface="+mn-cs"/>
              </a:rPr>
              <a:t> Sometimes, all applications not complying with stated application requirements to the letter are rejected out-of-hand.</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is an understandable approach (“Can’t they even follow simple instructions?”), but it may mean very good people are overlooked</a:t>
            </a:r>
          </a:p>
          <a:p>
            <a:pPr>
              <a:buFont typeface="Arial" pitchFamily="34" charset="0"/>
              <a:buChar char="•"/>
            </a:pPr>
            <a:r>
              <a:rPr lang="en-AU" sz="1200" kern="1200" dirty="0" smtClean="0">
                <a:solidFill>
                  <a:schemeClr val="tx1"/>
                </a:solidFill>
                <a:latin typeface="+mn-lt"/>
                <a:ea typeface="+mn-ea"/>
                <a:cs typeface="+mn-cs"/>
              </a:rPr>
              <a:t> It is a good practice for all applications to go to a central point for ease of administration and in order to facilitate the keeping of records about who, and how many, have applied.  </a:t>
            </a:r>
          </a:p>
          <a:p>
            <a:pPr>
              <a:buFont typeface="Arial" pitchFamily="34" charset="0"/>
              <a:buChar char="•"/>
            </a:pPr>
            <a:r>
              <a:rPr lang="en-AU" sz="1200" kern="1200" dirty="0" smtClean="0">
                <a:solidFill>
                  <a:schemeClr val="tx1"/>
                </a:solidFill>
                <a:latin typeface="+mn-lt"/>
                <a:ea typeface="+mn-ea"/>
                <a:cs typeface="+mn-cs"/>
              </a:rPr>
              <a:t> A simple register of applicants should be used – to record who has applied, how they applied, and when they applied. A ruled up exercise book with suitable headings or an electronic document is all that is needed</a:t>
            </a:r>
          </a:p>
          <a:p>
            <a:pPr>
              <a:buFont typeface="Arial" pitchFamily="34" charset="0"/>
              <a:buChar char="•"/>
            </a:pPr>
            <a:r>
              <a:rPr lang="en-AU" sz="1200" kern="1200" dirty="0" smtClean="0">
                <a:solidFill>
                  <a:schemeClr val="tx1"/>
                </a:solidFill>
                <a:latin typeface="+mn-lt"/>
                <a:ea typeface="+mn-ea"/>
                <a:cs typeface="+mn-cs"/>
              </a:rPr>
              <a:t> When the closing date</a:t>
            </a:r>
            <a:r>
              <a:rPr lang="en-AU" sz="1200" kern="1200" baseline="0" dirty="0" smtClean="0">
                <a:solidFill>
                  <a:schemeClr val="tx1"/>
                </a:solidFill>
                <a:latin typeface="+mn-lt"/>
                <a:ea typeface="+mn-ea"/>
                <a:cs typeface="+mn-cs"/>
              </a:rPr>
              <a:t> arrives</a:t>
            </a:r>
            <a:r>
              <a:rPr lang="en-AU" sz="1200" kern="1200" dirty="0" smtClean="0">
                <a:solidFill>
                  <a:schemeClr val="tx1"/>
                </a:solidFill>
                <a:latin typeface="+mn-lt"/>
                <a:ea typeface="+mn-ea"/>
                <a:cs typeface="+mn-cs"/>
              </a:rPr>
              <a:t>, all the applicants can then be processed.</a:t>
            </a:r>
            <a:r>
              <a:rPr lang="en-AU" sz="1200" kern="1200" baseline="0" dirty="0" smtClean="0">
                <a:solidFill>
                  <a:schemeClr val="tx1"/>
                </a:solidFill>
                <a:latin typeface="+mn-lt"/>
                <a:ea typeface="+mn-ea"/>
                <a:cs typeface="+mn-cs"/>
              </a:rPr>
              <a:t> Normally </a:t>
            </a:r>
            <a:r>
              <a:rPr lang="en-AU" sz="1200" kern="1200" dirty="0" smtClean="0">
                <a:solidFill>
                  <a:schemeClr val="tx1"/>
                </a:solidFill>
                <a:latin typeface="+mn-lt"/>
                <a:ea typeface="+mn-ea"/>
                <a:cs typeface="+mn-cs"/>
              </a:rPr>
              <a:t>applications are assessed more or less as they arrive. This initial processing simply means assessing every application to ascertain whether or not the person actually matches the selection criteria.</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is not unknown for people with little or no alignment with stated experience or qualifications to nonetheless apply: if they do measure up, their application passes to the next stage (‘short-listing’).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advise trainees regarding the accepting of job applications stating:</a:t>
            </a:r>
          </a:p>
          <a:p>
            <a:pPr>
              <a:buFont typeface="Arial" pitchFamily="34" charset="0"/>
              <a:buChar char="•"/>
            </a:pPr>
            <a:r>
              <a:rPr lang="en-AU" sz="1200" kern="1200" dirty="0" smtClean="0">
                <a:solidFill>
                  <a:schemeClr val="tx1"/>
                </a:solidFill>
                <a:latin typeface="+mn-lt"/>
                <a:ea typeface="+mn-ea"/>
                <a:cs typeface="+mn-cs"/>
              </a:rPr>
              <a:t> If an application does not meet the basic requirements, it is rejected at this stage and a letter of ‘Thanks and regret’ is sent to the applicant.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sooner this is done, the better. A letter of ‘Thanks and Regret’ thanks the applicant for applying but regrets in this instance their application is unsuccessful. Sending these letters to unsuccessful applicants is sound business practice and also assists in PR for the venue.</a:t>
            </a:r>
          </a:p>
          <a:p>
            <a:pPr>
              <a:buFont typeface="Arial" pitchFamily="34" charset="0"/>
              <a:buChar char="•"/>
            </a:pPr>
            <a:r>
              <a:rPr lang="en-AU" sz="1200" kern="1200" dirty="0" smtClean="0">
                <a:solidFill>
                  <a:schemeClr val="tx1"/>
                </a:solidFill>
                <a:latin typeface="+mn-lt"/>
                <a:ea typeface="+mn-ea"/>
                <a:cs typeface="+mn-cs"/>
              </a:rPr>
              <a:t> Some businesses will also send back the actual application, including resumé – check what applies in the workplace</a:t>
            </a:r>
          </a:p>
          <a:p>
            <a:pPr>
              <a:buFont typeface="Arial" pitchFamily="34" charset="0"/>
              <a:buChar char="•"/>
            </a:pPr>
            <a:r>
              <a:rPr lang="en-AU" sz="1200" kern="1200" dirty="0" smtClean="0">
                <a:solidFill>
                  <a:schemeClr val="tx1"/>
                </a:solidFill>
                <a:latin typeface="+mn-lt"/>
                <a:ea typeface="+mn-ea"/>
                <a:cs typeface="+mn-cs"/>
              </a:rPr>
              <a:t> Some businesses will retain the application and keep it on file for future reference – especially where the applicant is deemed to be suitable for other work</a:t>
            </a:r>
          </a:p>
          <a:p>
            <a:pPr>
              <a:buFont typeface="Arial" pitchFamily="34" charset="0"/>
              <a:buChar char="•"/>
            </a:pPr>
            <a:r>
              <a:rPr lang="en-AU" sz="1200" kern="1200" dirty="0" smtClean="0">
                <a:solidFill>
                  <a:schemeClr val="tx1"/>
                </a:solidFill>
                <a:latin typeface="+mn-lt"/>
                <a:ea typeface="+mn-ea"/>
                <a:cs typeface="+mn-cs"/>
              </a:rPr>
              <a:t> Applications may also be kept on file in case:</a:t>
            </a:r>
          </a:p>
          <a:p>
            <a:pPr lvl="1">
              <a:buFont typeface="Arial" pitchFamily="34" charset="0"/>
              <a:buChar char="•"/>
            </a:pPr>
            <a:r>
              <a:rPr lang="en-AU" sz="1200" kern="1200" dirty="0" smtClean="0">
                <a:solidFill>
                  <a:schemeClr val="tx1"/>
                </a:solidFill>
                <a:latin typeface="+mn-lt"/>
                <a:ea typeface="+mn-ea"/>
                <a:cs typeface="+mn-cs"/>
              </a:rPr>
              <a:t> The person selected for the position does not accept the offer</a:t>
            </a:r>
          </a:p>
          <a:p>
            <a:pPr lvl="1">
              <a:buFont typeface="Arial" pitchFamily="34" charset="0"/>
              <a:buChar char="•"/>
            </a:pPr>
            <a:r>
              <a:rPr lang="en-AU" sz="1200" kern="1200" dirty="0" smtClean="0">
                <a:solidFill>
                  <a:schemeClr val="tx1"/>
                </a:solidFill>
                <a:latin typeface="+mn-lt"/>
                <a:ea typeface="+mn-ea"/>
                <a:cs typeface="+mn-cs"/>
              </a:rPr>
              <a:t> Extra staff for the same position (or similar) are required.</a:t>
            </a:r>
          </a:p>
          <a:p>
            <a:r>
              <a:rPr lang="en-AU" sz="1200" kern="1200" dirty="0" smtClean="0">
                <a:solidFill>
                  <a:schemeClr val="tx1"/>
                </a:solidFill>
                <a:latin typeface="+mn-lt"/>
                <a:ea typeface="+mn-ea"/>
                <a:cs typeface="+mn-cs"/>
              </a:rPr>
              <a:t> </a:t>
            </a:r>
          </a:p>
          <a:p>
            <a:pPr>
              <a:buFont typeface="Arial" pitchFamily="34" charset="0"/>
              <a:buNone/>
            </a:pPr>
            <a:r>
              <a:rPr lang="en-US" b="1" dirty="0" smtClean="0"/>
              <a:t>Class Activity (1) – Handout</a:t>
            </a:r>
          </a:p>
          <a:p>
            <a:pPr>
              <a:buFont typeface="Arial" pitchFamily="34" charset="0"/>
              <a:buNone/>
            </a:pPr>
            <a:r>
              <a:rPr lang="en-US" b="0" dirty="0" smtClean="0"/>
              <a:t>Trainer obtains a sample Letter of ‘Thanks</a:t>
            </a:r>
            <a:r>
              <a:rPr lang="en-US" b="0" baseline="0" dirty="0" smtClean="0"/>
              <a:t> and Regret’ and:</a:t>
            </a:r>
          </a:p>
          <a:p>
            <a:pPr>
              <a:buFont typeface="Arial" pitchFamily="34" charset="0"/>
              <a:buChar char="•"/>
            </a:pPr>
            <a:r>
              <a:rPr lang="en-US" b="0" baseline="0" dirty="0" smtClean="0"/>
              <a:t> Shares with trainees</a:t>
            </a:r>
          </a:p>
          <a:p>
            <a:pPr>
              <a:buFont typeface="Arial" pitchFamily="34" charset="0"/>
              <a:buChar char="•"/>
            </a:pPr>
            <a:r>
              <a:rPr lang="en-US" b="0" baseline="0" dirty="0" smtClean="0"/>
              <a:t> Discusses contents of the letter explaining the purpose of each paragraph</a:t>
            </a:r>
          </a:p>
          <a:p>
            <a:pPr>
              <a:buFont typeface="Arial" pitchFamily="34" charset="0"/>
              <a:buChar char="•"/>
            </a:pPr>
            <a:r>
              <a:rPr lang="en-US" b="0" baseline="0" dirty="0" smtClean="0"/>
              <a:t> Asks trainees for their feedback on the letter.</a:t>
            </a:r>
          </a:p>
          <a:p>
            <a:pPr>
              <a:buFont typeface="Arial" pitchFamily="34" charset="0"/>
              <a:buChar char="•"/>
            </a:pPr>
            <a:endParaRPr lang="en-US" b="0" baseline="0" dirty="0" smtClean="0"/>
          </a:p>
          <a:p>
            <a:pPr>
              <a:buFont typeface="Arial" pitchFamily="34" charset="0"/>
              <a:buNone/>
            </a:pPr>
            <a:r>
              <a:rPr lang="en-US" b="1" baseline="0" dirty="0" smtClean="0"/>
              <a:t>Class Activity (2) – Individual Exercise</a:t>
            </a:r>
          </a:p>
          <a:p>
            <a:pPr>
              <a:buFont typeface="Arial" pitchFamily="34" charset="0"/>
              <a:buNone/>
            </a:pPr>
            <a:r>
              <a:rPr lang="en-US" b="0" baseline="0" dirty="0" smtClean="0"/>
              <a:t>Trainer provides trainees with basic details of an applicant who has been deemed unsuitable for a job and asks trainees to draft a Letter of Thanks and Regret to send to this person.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to trainees </a:t>
            </a:r>
            <a:r>
              <a:rPr lang="en-AU" sz="1200" kern="1200" dirty="0" smtClean="0">
                <a:solidFill>
                  <a:schemeClr val="tx1"/>
                </a:solidFill>
                <a:latin typeface="+mn-lt"/>
                <a:ea typeface="+mn-ea"/>
                <a:cs typeface="+mn-cs"/>
              </a:rPr>
              <a:t>short-listing applicants is the process of developing a list of applicants who will proceed through to the interview stage of the selection process, advising them.</a:t>
            </a:r>
          </a:p>
          <a:p>
            <a:pPr>
              <a:buFont typeface="Arial" pitchFamily="34" charset="0"/>
              <a:buChar char="•"/>
            </a:pPr>
            <a:r>
              <a:rPr lang="en-AU" sz="1200" kern="1200" dirty="0" smtClean="0">
                <a:solidFill>
                  <a:schemeClr val="tx1"/>
                </a:solidFill>
                <a:latin typeface="+mn-lt"/>
                <a:ea typeface="+mn-ea"/>
                <a:cs typeface="+mn-cs"/>
              </a:rPr>
              <a:t> Applicants may pass an initial screening but still not make it to the short-list</a:t>
            </a:r>
          </a:p>
          <a:p>
            <a:pPr>
              <a:buFont typeface="Arial" pitchFamily="34" charset="0"/>
              <a:buChar char="•"/>
            </a:pPr>
            <a:r>
              <a:rPr lang="en-AU" sz="1200" kern="1200" dirty="0" smtClean="0">
                <a:solidFill>
                  <a:schemeClr val="tx1"/>
                </a:solidFill>
                <a:latin typeface="+mn-lt"/>
                <a:ea typeface="+mn-ea"/>
                <a:cs typeface="+mn-cs"/>
              </a:rPr>
              <a:t> Practices for short-listing may involve (depending on the position involved):</a:t>
            </a:r>
          </a:p>
          <a:p>
            <a:pPr lvl="1">
              <a:buFont typeface="Arial" pitchFamily="34" charset="0"/>
              <a:buChar char="•"/>
            </a:pPr>
            <a:r>
              <a:rPr lang="en-AU" sz="1200" kern="1200" dirty="0" smtClean="0">
                <a:solidFill>
                  <a:schemeClr val="tx1"/>
                </a:solidFill>
                <a:latin typeface="+mn-lt"/>
                <a:ea typeface="+mn-ea"/>
                <a:cs typeface="+mn-cs"/>
              </a:rPr>
              <a:t> A brief reading of the Covering Letter sent in by the applicant – to gauge their suitability and gain an overview of their experience</a:t>
            </a:r>
          </a:p>
          <a:p>
            <a:pPr lvl="1">
              <a:buFont typeface="Arial" pitchFamily="34" charset="0"/>
              <a:buChar char="•"/>
            </a:pPr>
            <a:r>
              <a:rPr lang="en-AU" sz="1200" kern="1200" dirty="0" smtClean="0">
                <a:solidFill>
                  <a:schemeClr val="tx1"/>
                </a:solidFill>
                <a:latin typeface="+mn-lt"/>
                <a:ea typeface="+mn-ea"/>
                <a:cs typeface="+mn-cs"/>
              </a:rPr>
              <a:t> A brief reading of their CV – to determine the extent to which their experience, qualifications and other relevant factors meet the key selection criteria for the position</a:t>
            </a:r>
          </a:p>
          <a:p>
            <a:pPr lvl="1">
              <a:buFont typeface="Arial" pitchFamily="34" charset="0"/>
              <a:buChar char="•"/>
            </a:pPr>
            <a:r>
              <a:rPr lang="en-AU" sz="1200" kern="1200" dirty="0" smtClean="0">
                <a:solidFill>
                  <a:schemeClr val="tx1"/>
                </a:solidFill>
                <a:latin typeface="+mn-lt"/>
                <a:ea typeface="+mn-ea"/>
                <a:cs typeface="+mn-cs"/>
              </a:rPr>
              <a:t> A brief reading of the business ‘Application form’ – where such a document is required to be completed by applicants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identify for trainees activities involved in short-listing applications:</a:t>
            </a:r>
          </a:p>
          <a:p>
            <a:pPr>
              <a:buFont typeface="Arial" pitchFamily="34" charset="0"/>
              <a:buChar char="•"/>
            </a:pPr>
            <a:r>
              <a:rPr lang="en-AU" sz="1200" kern="1200" dirty="0" smtClean="0">
                <a:solidFill>
                  <a:schemeClr val="tx1"/>
                </a:solidFill>
                <a:latin typeface="+mn-lt"/>
                <a:ea typeface="+mn-ea"/>
                <a:cs typeface="+mn-cs"/>
              </a:rPr>
              <a:t> A brief perusal of accompanying documentation – such as references and copies of certificates</a:t>
            </a:r>
          </a:p>
          <a:p>
            <a:pPr>
              <a:buFont typeface="Arial" pitchFamily="34" charset="0"/>
              <a:buChar char="•"/>
            </a:pPr>
            <a:r>
              <a:rPr lang="en-AU" sz="1200" kern="1200" dirty="0" smtClean="0">
                <a:solidFill>
                  <a:schemeClr val="tx1"/>
                </a:solidFill>
                <a:latin typeface="+mn-lt"/>
                <a:ea typeface="+mn-ea"/>
                <a:cs typeface="+mn-cs"/>
              </a:rPr>
              <a:t> Updating the register applicants –</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to identify applicants who have been rejected at this stage</a:t>
            </a:r>
          </a:p>
          <a:p>
            <a:pPr>
              <a:buFont typeface="Arial" pitchFamily="34" charset="0"/>
              <a:buChar char="•"/>
            </a:pPr>
            <a:r>
              <a:rPr lang="en-AU" sz="1200" kern="1200" dirty="0" smtClean="0">
                <a:solidFill>
                  <a:schemeClr val="tx1"/>
                </a:solidFill>
                <a:latin typeface="+mn-lt"/>
                <a:ea typeface="+mn-ea"/>
                <a:cs typeface="+mn-cs"/>
              </a:rPr>
              <a:t> Filing suitable applications – for later use in the interview process. </a:t>
            </a:r>
          </a:p>
          <a:p>
            <a:pPr>
              <a:buFont typeface="Arial" pitchFamily="34" charset="0"/>
              <a:buChar char="•"/>
            </a:pPr>
            <a:r>
              <a:rPr lang="en-AU" sz="1200" kern="1200" dirty="0" smtClean="0">
                <a:solidFill>
                  <a:schemeClr val="tx1"/>
                </a:solidFill>
                <a:latin typeface="+mn-lt"/>
                <a:ea typeface="+mn-ea"/>
                <a:cs typeface="+mn-cs"/>
              </a:rPr>
              <a:t> In reality, the more senior the position, the more extensive the short-listing activities are likely to be.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informs trainees in some cases there can also be a need to undertake other activities as part of the short-listing process:</a:t>
            </a:r>
          </a:p>
          <a:p>
            <a:pPr>
              <a:buFont typeface="Arial" pitchFamily="34" charset="0"/>
              <a:buChar char="•"/>
            </a:pPr>
            <a:r>
              <a:rPr lang="en-AU" sz="1200" kern="1200" dirty="0" smtClean="0">
                <a:solidFill>
                  <a:schemeClr val="tx1"/>
                </a:solidFill>
                <a:latin typeface="+mn-lt"/>
                <a:ea typeface="+mn-ea"/>
                <a:cs typeface="+mn-cs"/>
              </a:rPr>
              <a:t> Contact a potentially useful applicant – to seek more information</a:t>
            </a:r>
          </a:p>
          <a:p>
            <a:pPr>
              <a:buFont typeface="Arial" pitchFamily="34" charset="0"/>
              <a:buChar char="•"/>
            </a:pPr>
            <a:r>
              <a:rPr lang="en-AU" sz="1200" kern="1200" dirty="0" smtClean="0">
                <a:solidFill>
                  <a:schemeClr val="tx1"/>
                </a:solidFill>
                <a:latin typeface="+mn-lt"/>
                <a:ea typeface="+mn-ea"/>
                <a:cs typeface="+mn-cs"/>
              </a:rPr>
              <a:t> Contact the applicant – to clarify something in their application</a:t>
            </a:r>
          </a:p>
          <a:p>
            <a:pPr>
              <a:buFont typeface="Arial" pitchFamily="34" charset="0"/>
              <a:buChar char="•"/>
            </a:pPr>
            <a:r>
              <a:rPr lang="en-AU" sz="1200" kern="1200" dirty="0" smtClean="0">
                <a:solidFill>
                  <a:schemeClr val="tx1"/>
                </a:solidFill>
                <a:latin typeface="+mn-lt"/>
                <a:ea typeface="+mn-ea"/>
                <a:cs typeface="+mn-cs"/>
              </a:rPr>
              <a:t> Contact the recruitment agency – to obtain different information and to capture their impression about the applicant.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following short-listing:</a:t>
            </a:r>
          </a:p>
          <a:p>
            <a:pPr>
              <a:buFont typeface="Arial" pitchFamily="34" charset="0"/>
              <a:buChar char="•"/>
            </a:pPr>
            <a:r>
              <a:rPr lang="en-US" dirty="0" smtClean="0"/>
              <a:t> Successful applicants will need to be advised of interview date, time and location – or one will need to be negotiated with them. More on this on later</a:t>
            </a:r>
            <a:r>
              <a:rPr lang="en-US" baseline="0" dirty="0" smtClean="0"/>
              <a:t> slides</a:t>
            </a:r>
          </a:p>
          <a:p>
            <a:pPr>
              <a:buFont typeface="Arial" pitchFamily="34" charset="0"/>
              <a:buChar char="•"/>
            </a:pPr>
            <a:r>
              <a:rPr lang="en-US" baseline="0" dirty="0" smtClean="0"/>
              <a:t> Unsuccessful applicants may have a Letter of Thanks and Regret sent to them – as previously identified</a:t>
            </a:r>
          </a:p>
          <a:p>
            <a:pPr>
              <a:buFont typeface="Arial" pitchFamily="34" charset="0"/>
              <a:buChar char="•"/>
            </a:pPr>
            <a:r>
              <a:rPr lang="en-US" baseline="0" dirty="0" smtClean="0"/>
              <a:t> Files will be updated – to reflect those who have been short-listed and rejected, and to identify interview date and time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trainees </a:t>
            </a:r>
            <a:r>
              <a:rPr lang="en-AU" sz="1200" kern="1200" dirty="0" smtClean="0">
                <a:solidFill>
                  <a:schemeClr val="tx1"/>
                </a:solidFill>
                <a:latin typeface="+mn-lt"/>
                <a:ea typeface="+mn-ea"/>
                <a:cs typeface="+mn-cs"/>
              </a:rPr>
              <a:t>references are written testimonials about the applicant provided by those who know the applicant.</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can include past employers, previous co-workers, community leaders,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religious people</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club officials:</a:t>
            </a:r>
          </a:p>
          <a:p>
            <a:pPr>
              <a:buFont typeface="Arial" pitchFamily="34" charset="0"/>
              <a:buChar char="•"/>
            </a:pPr>
            <a:r>
              <a:rPr lang="en-AU" sz="1200" kern="1200" dirty="0" smtClean="0">
                <a:solidFill>
                  <a:schemeClr val="tx1"/>
                </a:solidFill>
                <a:latin typeface="+mn-lt"/>
                <a:ea typeface="+mn-ea"/>
                <a:cs typeface="+mn-cs"/>
              </a:rPr>
              <a:t> References are usually type-written and presented on letterhead paper as a way of proving they are written by the person providing the reference</a:t>
            </a:r>
          </a:p>
          <a:p>
            <a:pPr>
              <a:buFont typeface="Arial" pitchFamily="34" charset="0"/>
              <a:buChar char="•"/>
            </a:pPr>
            <a:r>
              <a:rPr lang="en-AU" sz="1200" kern="1200" dirty="0" smtClean="0">
                <a:solidFill>
                  <a:schemeClr val="tx1"/>
                </a:solidFill>
                <a:latin typeface="+mn-lt"/>
                <a:ea typeface="+mn-ea"/>
                <a:cs typeface="+mn-cs"/>
              </a:rPr>
              <a:t> References usually contain details and information about:</a:t>
            </a:r>
          </a:p>
          <a:p>
            <a:pPr lvl="1">
              <a:buFont typeface="Arial" pitchFamily="34" charset="0"/>
              <a:buChar char="•"/>
            </a:pPr>
            <a:r>
              <a:rPr lang="en-AU" sz="1200" kern="1200" dirty="0" smtClean="0">
                <a:solidFill>
                  <a:schemeClr val="tx1"/>
                </a:solidFill>
                <a:latin typeface="+mn-lt"/>
                <a:ea typeface="+mn-ea"/>
                <a:cs typeface="+mn-cs"/>
              </a:rPr>
              <a:t> Date when reference was written</a:t>
            </a:r>
          </a:p>
          <a:p>
            <a:pPr lvl="1">
              <a:buFont typeface="Arial" pitchFamily="34" charset="0"/>
              <a:buChar char="•"/>
            </a:pPr>
            <a:r>
              <a:rPr lang="en-AU" sz="1200" kern="1200" dirty="0" smtClean="0">
                <a:solidFill>
                  <a:schemeClr val="tx1"/>
                </a:solidFill>
                <a:latin typeface="+mn-lt"/>
                <a:ea typeface="+mn-ea"/>
                <a:cs typeface="+mn-cs"/>
              </a:rPr>
              <a:t> Name and position of the person writing the reference</a:t>
            </a:r>
          </a:p>
          <a:p>
            <a:pPr lvl="1">
              <a:buFont typeface="Arial" pitchFamily="34" charset="0"/>
              <a:buChar char="•"/>
            </a:pPr>
            <a:r>
              <a:rPr lang="en-AU" sz="1200" kern="1200" dirty="0" smtClean="0">
                <a:solidFill>
                  <a:schemeClr val="tx1"/>
                </a:solidFill>
                <a:latin typeface="+mn-lt"/>
                <a:ea typeface="+mn-ea"/>
                <a:cs typeface="+mn-cs"/>
              </a:rPr>
              <a:t> How long the person has known the applicant</a:t>
            </a:r>
          </a:p>
          <a:p>
            <a:pPr lvl="1">
              <a:buFont typeface="Arial" pitchFamily="34" charset="0"/>
              <a:buChar char="•"/>
            </a:pPr>
            <a:r>
              <a:rPr lang="en-AU" sz="1200" kern="1200" dirty="0" smtClean="0">
                <a:solidFill>
                  <a:schemeClr val="tx1"/>
                </a:solidFill>
                <a:latin typeface="+mn-lt"/>
                <a:ea typeface="+mn-ea"/>
                <a:cs typeface="+mn-cs"/>
              </a:rPr>
              <a:t> Their character and reliability – making statements about their hard-working nature, how well they performed their job, and how sorry the previous employer was to see them leave.</a:t>
            </a:r>
          </a:p>
          <a:p>
            <a:pPr>
              <a:buFont typeface="Arial" pitchFamily="34" charset="0"/>
              <a:buChar char="•"/>
            </a:pPr>
            <a:r>
              <a:rPr lang="en-AU" sz="1200" kern="1200" dirty="0" smtClean="0">
                <a:solidFill>
                  <a:schemeClr val="tx1"/>
                </a:solidFill>
                <a:latin typeface="+mn-lt"/>
                <a:ea typeface="+mn-ea"/>
                <a:cs typeface="+mn-cs"/>
              </a:rPr>
              <a:t> These comments may be work-related or social (remember those applying for their first job will not be able to provide work references because they have not held a job before).</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obtains a selection of references (with names of people blocked out) and:</a:t>
            </a:r>
          </a:p>
          <a:p>
            <a:pPr>
              <a:buFont typeface="Arial" pitchFamily="34" charset="0"/>
              <a:buChar char="•"/>
            </a:pPr>
            <a:r>
              <a:rPr lang="en-US" b="0" dirty="0" smtClean="0"/>
              <a:t> Distributes them to trainees to read</a:t>
            </a:r>
          </a:p>
          <a:p>
            <a:pPr>
              <a:buFont typeface="Arial" pitchFamily="34" charset="0"/>
              <a:buChar char="•"/>
            </a:pPr>
            <a:r>
              <a:rPr lang="en-US" b="0" dirty="0" smtClean="0"/>
              <a:t> Asks trainees their opinions about them – what do the references tell them about the person?</a:t>
            </a:r>
          </a:p>
          <a:p>
            <a:pPr>
              <a:buFont typeface="Arial" pitchFamily="34" charset="0"/>
              <a:buChar char="•"/>
            </a:pPr>
            <a:r>
              <a:rPr lang="en-US" b="0" dirty="0" smtClean="0"/>
              <a:t> Points to the fact there is never a bad reference – they are all written in glowing terms.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trainees to concept of ‘Statement of Employment’ stating:</a:t>
            </a:r>
          </a:p>
          <a:p>
            <a:pPr>
              <a:buFont typeface="Arial" pitchFamily="34" charset="0"/>
              <a:buChar char="•"/>
            </a:pPr>
            <a:r>
              <a:rPr lang="en-AU" sz="1200" kern="1200" dirty="0" smtClean="0">
                <a:solidFill>
                  <a:schemeClr val="tx1"/>
                </a:solidFill>
                <a:latin typeface="+mn-lt"/>
                <a:ea typeface="+mn-ea"/>
                <a:cs typeface="+mn-cs"/>
              </a:rPr>
              <a:t> Some businesses refuse to provide ‘references’ to employees as a SOP – this means they do not provide written references for any staff members </a:t>
            </a:r>
          </a:p>
          <a:p>
            <a:pPr>
              <a:buFont typeface="Arial" pitchFamily="34" charset="0"/>
              <a:buChar char="•"/>
            </a:pPr>
            <a:r>
              <a:rPr lang="en-AU" sz="1200" kern="1200" dirty="0" smtClean="0">
                <a:solidFill>
                  <a:schemeClr val="tx1"/>
                </a:solidFill>
                <a:latin typeface="+mn-lt"/>
                <a:ea typeface="+mn-ea"/>
                <a:cs typeface="+mn-cs"/>
              </a:rPr>
              <a:t> Such businesses will only provide a ‘Statement of Employment’ which is a </a:t>
            </a:r>
            <a:r>
              <a:rPr lang="en-AU" sz="1200" i="1" kern="1200" dirty="0" smtClean="0">
                <a:solidFill>
                  <a:schemeClr val="tx1"/>
                </a:solidFill>
                <a:latin typeface="+mn-lt"/>
                <a:ea typeface="+mn-ea"/>
                <a:cs typeface="+mn-cs"/>
              </a:rPr>
              <a:t>pro forma</a:t>
            </a:r>
            <a:r>
              <a:rPr lang="en-AU" sz="1200" kern="1200" dirty="0" smtClean="0">
                <a:solidFill>
                  <a:schemeClr val="tx1"/>
                </a:solidFill>
                <a:latin typeface="+mn-lt"/>
                <a:ea typeface="+mn-ea"/>
                <a:cs typeface="+mn-cs"/>
              </a:rPr>
              <a:t> document giving only basic information about the employee and providing no individual/personal information at all – the Statement of Employment will simply provide:</a:t>
            </a:r>
          </a:p>
          <a:p>
            <a:pPr lvl="1">
              <a:buFont typeface="Arial" pitchFamily="34" charset="0"/>
              <a:buChar char="•"/>
            </a:pPr>
            <a:r>
              <a:rPr lang="en-AU" sz="1200" kern="1200" dirty="0" smtClean="0">
                <a:solidFill>
                  <a:schemeClr val="tx1"/>
                </a:solidFill>
                <a:latin typeface="+mn-lt"/>
                <a:ea typeface="+mn-ea"/>
                <a:cs typeface="+mn-cs"/>
              </a:rPr>
              <a:t> Employee name</a:t>
            </a:r>
          </a:p>
          <a:p>
            <a:pPr lvl="1">
              <a:buFont typeface="Arial" pitchFamily="34" charset="0"/>
              <a:buChar char="•"/>
            </a:pPr>
            <a:r>
              <a:rPr lang="en-AU" sz="1200" kern="1200" dirty="0" smtClean="0">
                <a:solidFill>
                  <a:schemeClr val="tx1"/>
                </a:solidFill>
                <a:latin typeface="+mn-lt"/>
                <a:ea typeface="+mn-ea"/>
                <a:cs typeface="+mn-cs"/>
              </a:rPr>
              <a:t> Employer name</a:t>
            </a:r>
          </a:p>
          <a:p>
            <a:pPr lvl="1">
              <a:buFont typeface="Arial" pitchFamily="34" charset="0"/>
              <a:buChar char="•"/>
            </a:pPr>
            <a:r>
              <a:rPr lang="en-AU" sz="1200" kern="1200" dirty="0" smtClean="0">
                <a:solidFill>
                  <a:schemeClr val="tx1"/>
                </a:solidFill>
                <a:latin typeface="+mn-lt"/>
                <a:ea typeface="+mn-ea"/>
                <a:cs typeface="+mn-cs"/>
              </a:rPr>
              <a:t> Positions held by the employee</a:t>
            </a:r>
          </a:p>
          <a:p>
            <a:pPr lvl="1">
              <a:buFont typeface="Arial" pitchFamily="34" charset="0"/>
              <a:buChar char="•"/>
            </a:pPr>
            <a:r>
              <a:rPr lang="en-AU" sz="1200" kern="1200" dirty="0" smtClean="0">
                <a:solidFill>
                  <a:schemeClr val="tx1"/>
                </a:solidFill>
                <a:latin typeface="+mn-lt"/>
                <a:ea typeface="+mn-ea"/>
                <a:cs typeface="+mn-cs"/>
              </a:rPr>
              <a:t> Time period employed in each position.</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obtains a selection of Statements of Attainment (with names of people blocked out) and:</a:t>
            </a:r>
          </a:p>
          <a:p>
            <a:pPr>
              <a:buFont typeface="Arial" pitchFamily="34" charset="0"/>
              <a:buChar char="•"/>
            </a:pPr>
            <a:r>
              <a:rPr lang="en-US" b="0" dirty="0" smtClean="0"/>
              <a:t> Distributes them to trainees to read</a:t>
            </a:r>
          </a:p>
          <a:p>
            <a:pPr>
              <a:buFont typeface="Arial" pitchFamily="34" charset="0"/>
              <a:buChar char="•"/>
            </a:pPr>
            <a:r>
              <a:rPr lang="en-US" b="0" dirty="0" smtClean="0"/>
              <a:t> Highlights</a:t>
            </a:r>
            <a:r>
              <a:rPr lang="en-US" b="0" baseline="0" dirty="0" smtClean="0"/>
              <a:t> differences between these and written references</a:t>
            </a:r>
          </a:p>
          <a:p>
            <a:pPr>
              <a:buFont typeface="Arial" pitchFamily="34" charset="0"/>
              <a:buChar char="•"/>
            </a:pPr>
            <a:r>
              <a:rPr lang="en-US" b="0" baseline="0" dirty="0" smtClean="0"/>
              <a:t> Asks trainees why employers may elect to only write Statements of Employment for ex-employees rather than References.</a:t>
            </a:r>
          </a:p>
          <a:p>
            <a:pPr>
              <a:buFont typeface="Arial" pitchFamily="34" charset="0"/>
              <a:buNone/>
            </a:pPr>
            <a:r>
              <a:rPr lang="en-US" b="1" i="1" baseline="0" dirty="0" smtClean="0"/>
              <a:t>Possible answers</a:t>
            </a:r>
          </a:p>
          <a:p>
            <a:pPr>
              <a:buFont typeface="Arial" pitchFamily="34" charset="0"/>
              <a:buChar char="•"/>
            </a:pPr>
            <a:r>
              <a:rPr lang="en-US" b="0" i="0" baseline="0" dirty="0" smtClean="0"/>
              <a:t> Writing references takes too long</a:t>
            </a:r>
          </a:p>
          <a:p>
            <a:pPr>
              <a:buFont typeface="Arial" pitchFamily="34" charset="0"/>
              <a:buChar char="•"/>
            </a:pPr>
            <a:r>
              <a:rPr lang="en-US" b="0" i="0" baseline="0" dirty="0" smtClean="0"/>
              <a:t> They can be difficult to research and write</a:t>
            </a:r>
          </a:p>
          <a:p>
            <a:pPr>
              <a:buFont typeface="Arial" pitchFamily="34" charset="0"/>
              <a:buChar char="•"/>
            </a:pPr>
            <a:r>
              <a:rPr lang="en-US" b="0" i="0" baseline="0" dirty="0" smtClean="0"/>
              <a:t> As written documents they could be used by the ex-employee as the basis for legal action (libel).</a:t>
            </a:r>
            <a:endParaRPr lang="en-US" b="0" i="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a:t>
            </a:r>
            <a:r>
              <a:rPr lang="en-AU" sz="1200" kern="1200" dirty="0" smtClean="0">
                <a:solidFill>
                  <a:schemeClr val="tx1"/>
                </a:solidFill>
                <a:latin typeface="+mn-lt"/>
                <a:ea typeface="+mn-ea"/>
                <a:cs typeface="+mn-cs"/>
              </a:rPr>
              <a:t>referees may be seen as:</a:t>
            </a:r>
          </a:p>
          <a:p>
            <a:pPr>
              <a:buFont typeface="Arial" pitchFamily="34" charset="0"/>
              <a:buChar char="•"/>
            </a:pPr>
            <a:r>
              <a:rPr lang="en-AU" sz="1200" kern="1200" dirty="0" smtClean="0">
                <a:solidFill>
                  <a:schemeClr val="tx1"/>
                </a:solidFill>
                <a:latin typeface="+mn-lt"/>
                <a:ea typeface="+mn-ea"/>
                <a:cs typeface="+mn-cs"/>
              </a:rPr>
              <a:t> Anyone who has provided a written reference</a:t>
            </a:r>
          </a:p>
          <a:p>
            <a:pPr>
              <a:buFont typeface="Arial" pitchFamily="34" charset="0"/>
              <a:buChar char="•"/>
            </a:pPr>
            <a:r>
              <a:rPr lang="en-AU" sz="1200" kern="1200" dirty="0" smtClean="0">
                <a:solidFill>
                  <a:schemeClr val="tx1"/>
                </a:solidFill>
                <a:latin typeface="+mn-lt"/>
                <a:ea typeface="+mn-ea"/>
                <a:cs typeface="+mn-cs"/>
              </a:rPr>
              <a:t> A person who has not written a reference but is prepared to speak to a prospective employer about the applicant</a:t>
            </a:r>
          </a:p>
          <a:p>
            <a:pPr>
              <a:buFont typeface="Arial" pitchFamily="34" charset="0"/>
              <a:buNone/>
            </a:pPr>
            <a:endParaRPr lang="en-US" dirty="0" smtClean="0"/>
          </a:p>
          <a:p>
            <a:r>
              <a:rPr lang="en-AU" sz="1200" kern="1200" dirty="0" smtClean="0">
                <a:solidFill>
                  <a:schemeClr val="tx1"/>
                </a:solidFill>
                <a:latin typeface="+mn-lt"/>
                <a:ea typeface="+mn-ea"/>
                <a:cs typeface="+mn-cs"/>
              </a:rPr>
              <a:t>Trainer tells trainees many people will not provide a written reference but are happy to be referees because:</a:t>
            </a:r>
          </a:p>
          <a:p>
            <a:pPr>
              <a:buFont typeface="Arial" pitchFamily="34" charset="0"/>
              <a:buChar char="•"/>
            </a:pPr>
            <a:r>
              <a:rPr lang="en-AU" sz="1200" kern="1200" dirty="0" smtClean="0">
                <a:solidFill>
                  <a:schemeClr val="tx1"/>
                </a:solidFill>
                <a:latin typeface="+mn-lt"/>
                <a:ea typeface="+mn-ea"/>
                <a:cs typeface="+mn-cs"/>
              </a:rPr>
              <a:t> They do not know how to write a reference or do not know what to put into one</a:t>
            </a:r>
          </a:p>
          <a:p>
            <a:pPr>
              <a:buFont typeface="Arial" pitchFamily="34" charset="0"/>
              <a:buChar char="•"/>
            </a:pPr>
            <a:r>
              <a:rPr lang="en-AU" sz="1200" kern="1200" dirty="0" smtClean="0">
                <a:solidFill>
                  <a:schemeClr val="tx1"/>
                </a:solidFill>
                <a:latin typeface="+mn-lt"/>
                <a:ea typeface="+mn-ea"/>
                <a:cs typeface="+mn-cs"/>
              </a:rPr>
              <a:t> They are too busy to do so </a:t>
            </a:r>
          </a:p>
          <a:p>
            <a:pPr>
              <a:buFont typeface="Arial" pitchFamily="34" charset="0"/>
              <a:buChar char="•"/>
            </a:pPr>
            <a:r>
              <a:rPr lang="en-AU" sz="1200" kern="1200" dirty="0" smtClean="0">
                <a:solidFill>
                  <a:schemeClr val="tx1"/>
                </a:solidFill>
                <a:latin typeface="+mn-lt"/>
                <a:ea typeface="+mn-ea"/>
                <a:cs typeface="+mn-cs"/>
              </a:rPr>
              <a:t> They have nothing positive to say about the person who has asked for a reference.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to trainees to </a:t>
            </a:r>
            <a:r>
              <a:rPr lang="en-AU" sz="1200" kern="1200" dirty="0" smtClean="0">
                <a:solidFill>
                  <a:schemeClr val="tx1"/>
                </a:solidFill>
                <a:latin typeface="+mn-lt"/>
                <a:ea typeface="+mn-ea"/>
                <a:cs typeface="+mn-cs"/>
              </a:rPr>
              <a:t>check references or referees.</a:t>
            </a:r>
            <a:r>
              <a:rPr lang="en-AU" sz="1200" kern="1200" baseline="0" dirty="0" smtClean="0">
                <a:solidFill>
                  <a:schemeClr val="tx1"/>
                </a:solidFill>
                <a:latin typeface="+mn-lt"/>
                <a:ea typeface="+mn-ea"/>
                <a:cs typeface="+mn-cs"/>
              </a:rPr>
              <a:t> </a:t>
            </a:r>
          </a:p>
          <a:p>
            <a:endParaRPr lang="en-AU" sz="1200" kern="1200" baseline="0" dirty="0" smtClean="0">
              <a:solidFill>
                <a:schemeClr val="tx1"/>
              </a:solidFill>
              <a:latin typeface="+mn-lt"/>
              <a:ea typeface="+mn-ea"/>
              <a:cs typeface="+mn-cs"/>
            </a:endParaRPr>
          </a:p>
          <a:p>
            <a:r>
              <a:rPr lang="en-AU" sz="1200" kern="1200" baseline="0" dirty="0" smtClean="0">
                <a:solidFill>
                  <a:schemeClr val="tx1"/>
                </a:solidFill>
                <a:latin typeface="+mn-lt"/>
                <a:ea typeface="+mn-ea"/>
                <a:cs typeface="+mn-cs"/>
              </a:rPr>
              <a:t>This involves </a:t>
            </a:r>
            <a:r>
              <a:rPr lang="en-AU" sz="1200" kern="1200" dirty="0" smtClean="0">
                <a:solidFill>
                  <a:schemeClr val="tx1"/>
                </a:solidFill>
                <a:latin typeface="+mn-lt"/>
                <a:ea typeface="+mn-ea"/>
                <a:cs typeface="+mn-cs"/>
              </a:rPr>
              <a:t>contacting the people who have been listed on the resumé as referees or those who have provided a written reference.</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are checked:</a:t>
            </a:r>
          </a:p>
          <a:p>
            <a:pPr>
              <a:buFont typeface="Arial" pitchFamily="34" charset="0"/>
              <a:buChar char="•"/>
            </a:pPr>
            <a:r>
              <a:rPr lang="en-AU" sz="1200" kern="1200" dirty="0" smtClean="0">
                <a:solidFill>
                  <a:schemeClr val="tx1"/>
                </a:solidFill>
                <a:latin typeface="+mn-lt"/>
                <a:ea typeface="+mn-ea"/>
                <a:cs typeface="+mn-cs"/>
              </a:rPr>
              <a:t> Before interview as part of the short-listing process – to determine whether or not some applicants are worthy of an interview or not</a:t>
            </a:r>
          </a:p>
          <a:p>
            <a:pPr>
              <a:buFont typeface="Arial" pitchFamily="34" charset="0"/>
              <a:buChar char="•"/>
            </a:pPr>
            <a:r>
              <a:rPr lang="en-AU" sz="1200" kern="1200" dirty="0" smtClean="0">
                <a:solidFill>
                  <a:schemeClr val="tx1"/>
                </a:solidFill>
                <a:latin typeface="+mn-lt"/>
                <a:ea typeface="+mn-ea"/>
                <a:cs typeface="+mn-cs"/>
              </a:rPr>
              <a:t> After the interview – to help determine the selected applicant from all those deemed suitable. Doing checks at this point reduces the number of checks that have to be made and the time taken in checking references.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stresses </a:t>
            </a:r>
            <a:r>
              <a:rPr lang="en-AU" sz="1200" kern="1200" dirty="0" smtClean="0">
                <a:solidFill>
                  <a:schemeClr val="tx1"/>
                </a:solidFill>
                <a:latin typeface="+mn-lt"/>
                <a:ea typeface="+mn-ea"/>
                <a:cs typeface="+mn-cs"/>
              </a:rPr>
              <a:t>it is important for trainees to check references and referees because:</a:t>
            </a:r>
          </a:p>
          <a:p>
            <a:pPr>
              <a:buFont typeface="Arial" pitchFamily="34" charset="0"/>
              <a:buChar char="•"/>
            </a:pPr>
            <a:r>
              <a:rPr lang="en-AU" sz="1200" kern="1200" dirty="0" smtClean="0">
                <a:solidFill>
                  <a:schemeClr val="tx1"/>
                </a:solidFill>
                <a:latin typeface="+mn-lt"/>
                <a:ea typeface="+mn-ea"/>
                <a:cs typeface="+mn-cs"/>
              </a:rPr>
              <a:t> Modern technology has made it easy for computer literate applicants to generate false reference documentation – there is therefore a need to be able to:</a:t>
            </a:r>
          </a:p>
          <a:p>
            <a:pPr lvl="1">
              <a:buFont typeface="Arial" pitchFamily="34" charset="0"/>
              <a:buChar char="•"/>
            </a:pPr>
            <a:r>
              <a:rPr lang="en-US" sz="1200" kern="1200" dirty="0" smtClean="0">
                <a:solidFill>
                  <a:schemeClr val="tx1"/>
                </a:solidFill>
                <a:latin typeface="+mn-lt"/>
                <a:ea typeface="+mn-ea"/>
                <a:cs typeface="+mn-cs"/>
              </a:rPr>
              <a:t> Verify the applicant has worked for the </a:t>
            </a:r>
            <a:r>
              <a:rPr lang="en-US" sz="1200" kern="1200" dirty="0" err="1" smtClean="0">
                <a:solidFill>
                  <a:schemeClr val="tx1"/>
                </a:solidFill>
                <a:latin typeface="+mn-lt"/>
                <a:ea typeface="+mn-ea"/>
                <a:cs typeface="+mn-cs"/>
              </a:rPr>
              <a:t>organisation</a:t>
            </a:r>
            <a:r>
              <a:rPr lang="en-US" sz="1200" kern="1200" dirty="0" smtClean="0">
                <a:solidFill>
                  <a:schemeClr val="tx1"/>
                </a:solidFill>
                <a:latin typeface="+mn-lt"/>
                <a:ea typeface="+mn-ea"/>
                <a:cs typeface="+mn-cs"/>
              </a:rPr>
              <a:t> stated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Validate they have performed the roles they have claimed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Validate claims made about their ability or experience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No-one has ever written a bad reference – all references seem to speak in glowing terms about the applicant. As the old saying states ‘No-one has read a bad reference’. This check enables discussion person-to-person with the individual who wrote the reference – and they are often more honest and forthcoming when questioned directly about the person in question</a:t>
            </a:r>
          </a:p>
          <a:p>
            <a:pPr>
              <a:buFont typeface="Arial" pitchFamily="34" charset="0"/>
              <a:buChar char="•"/>
            </a:pPr>
            <a:r>
              <a:rPr lang="en-AU" sz="1200" kern="1200" dirty="0" smtClean="0">
                <a:solidFill>
                  <a:schemeClr val="tx1"/>
                </a:solidFill>
                <a:latin typeface="+mn-lt"/>
                <a:ea typeface="+mn-ea"/>
                <a:cs typeface="+mn-cs"/>
              </a:rPr>
              <a:t> There is a need to be able to verify with the referee:</a:t>
            </a:r>
          </a:p>
          <a:p>
            <a:pPr lvl="1">
              <a:buFont typeface="Arial" pitchFamily="34" charset="0"/>
              <a:buChar char="•"/>
            </a:pPr>
            <a:r>
              <a:rPr lang="en-US" sz="1200" kern="1200" dirty="0" smtClean="0">
                <a:solidFill>
                  <a:schemeClr val="tx1"/>
                </a:solidFill>
                <a:latin typeface="+mn-lt"/>
                <a:ea typeface="+mn-ea"/>
                <a:cs typeface="+mn-cs"/>
              </a:rPr>
              <a:t> Statements made in written references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Claims made by the applicant.</a:t>
            </a: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different workplaces have different approaches to reference and referee checks:</a:t>
            </a:r>
          </a:p>
          <a:p>
            <a:pPr lvl="0">
              <a:buFont typeface="Arial" pitchFamily="34" charset="0"/>
              <a:buChar char="•"/>
            </a:pPr>
            <a:r>
              <a:rPr lang="en-AU" sz="1200" kern="1200" dirty="0" smtClean="0">
                <a:solidFill>
                  <a:schemeClr val="tx1"/>
                </a:solidFill>
                <a:latin typeface="+mn-lt"/>
                <a:ea typeface="+mn-ea"/>
                <a:cs typeface="+mn-cs"/>
              </a:rPr>
              <a:t> Not all employers will check references or referees – they may believe it takes too long to do, or they may feel it will not be of any benefit</a:t>
            </a:r>
          </a:p>
          <a:p>
            <a:pPr lvl="0">
              <a:buFont typeface="Arial" pitchFamily="34" charset="0"/>
              <a:buChar char="•"/>
            </a:pPr>
            <a:r>
              <a:rPr lang="en-AU" sz="1200" kern="1200" dirty="0" smtClean="0">
                <a:solidFill>
                  <a:schemeClr val="tx1"/>
                </a:solidFill>
                <a:latin typeface="+mn-lt"/>
                <a:ea typeface="+mn-ea"/>
                <a:cs typeface="+mn-cs"/>
              </a:rPr>
              <a:t> Some businesses will only check written references – that is, they will contact the person who wrote the reference</a:t>
            </a:r>
          </a:p>
          <a:p>
            <a:pPr lvl="0">
              <a:buFont typeface="Arial" pitchFamily="34" charset="0"/>
              <a:buChar char="•"/>
            </a:pPr>
            <a:r>
              <a:rPr lang="en-AU" sz="1200" kern="1200" dirty="0" smtClean="0">
                <a:solidFill>
                  <a:schemeClr val="tx1"/>
                </a:solidFill>
                <a:latin typeface="+mn-lt"/>
                <a:ea typeface="+mn-ea"/>
                <a:cs typeface="+mn-cs"/>
              </a:rPr>
              <a:t> Some businesses will check both written references and those people included as ‘verbal’ referees</a:t>
            </a:r>
          </a:p>
          <a:p>
            <a:pPr lvl="0">
              <a:buFont typeface="Arial" pitchFamily="34" charset="0"/>
              <a:buChar char="•"/>
            </a:pPr>
            <a:r>
              <a:rPr lang="en-AU" sz="1200" kern="1200" dirty="0" smtClean="0">
                <a:solidFill>
                  <a:schemeClr val="tx1"/>
                </a:solidFill>
                <a:latin typeface="+mn-lt"/>
                <a:ea typeface="+mn-ea"/>
                <a:cs typeface="+mn-cs"/>
              </a:rPr>
              <a:t> All applications should have either references or referees checked – checking both is preferable but not always possible for example, a referee may be overseas, they may have left the job where they wrote the reference or they may have passed away.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t>
            </a:r>
            <a:r>
              <a:rPr lang="en-AU" sz="1200" kern="1200" dirty="0" smtClean="0">
                <a:solidFill>
                  <a:schemeClr val="tx1"/>
                </a:solidFill>
                <a:latin typeface="+mn-lt"/>
                <a:ea typeface="+mn-ea"/>
                <a:cs typeface="+mn-cs"/>
              </a:rPr>
              <a:t>when checking references and referees:</a:t>
            </a:r>
          </a:p>
          <a:p>
            <a:pPr>
              <a:buFont typeface="Arial" pitchFamily="34" charset="0"/>
              <a:buChar char="•"/>
            </a:pPr>
            <a:r>
              <a:rPr lang="en-AU" sz="1200" kern="1200" dirty="0" smtClean="0">
                <a:solidFill>
                  <a:schemeClr val="tx1"/>
                </a:solidFill>
                <a:latin typeface="+mn-lt"/>
                <a:ea typeface="+mn-ea"/>
                <a:cs typeface="+mn-cs"/>
              </a:rPr>
              <a:t> Telephone contact is the most useful and effective method to use</a:t>
            </a:r>
          </a:p>
          <a:p>
            <a:pPr>
              <a:buFont typeface="Arial" pitchFamily="34" charset="0"/>
              <a:buChar char="•"/>
            </a:pPr>
            <a:r>
              <a:rPr lang="en-AU" sz="1200" kern="1200" dirty="0" smtClean="0">
                <a:solidFill>
                  <a:schemeClr val="tx1"/>
                </a:solidFill>
                <a:latin typeface="+mn-lt"/>
                <a:ea typeface="+mn-ea"/>
                <a:cs typeface="+mn-cs"/>
              </a:rPr>
              <a:t> Identify self by name, position and explain purpose of call them – it is standard practice for applicants to advise referees they have used them for a job application, so they should be expecting a call</a:t>
            </a:r>
          </a:p>
          <a:p>
            <a:pPr>
              <a:buFont typeface="Arial" pitchFamily="34" charset="0"/>
              <a:buChar char="•"/>
            </a:pPr>
            <a:r>
              <a:rPr lang="en-AU" sz="1200" kern="1200" dirty="0" smtClean="0">
                <a:solidFill>
                  <a:schemeClr val="tx1"/>
                </a:solidFill>
                <a:latin typeface="+mn-lt"/>
                <a:ea typeface="+mn-ea"/>
                <a:cs typeface="+mn-cs"/>
              </a:rPr>
              <a:t> Enquire if they are prepared</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have the time to answer some questions about the applicant</a:t>
            </a:r>
          </a:p>
          <a:p>
            <a:pPr>
              <a:buFont typeface="Arial" pitchFamily="34" charset="0"/>
              <a:buChar char="•"/>
            </a:pPr>
            <a:r>
              <a:rPr lang="en-AU" sz="1200" kern="1200" dirty="0" smtClean="0">
                <a:solidFill>
                  <a:schemeClr val="tx1"/>
                </a:solidFill>
                <a:latin typeface="+mn-lt"/>
                <a:ea typeface="+mn-ea"/>
                <a:cs typeface="+mn-cs"/>
              </a:rPr>
              <a:t> Thank them for their time.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to trainees checking references and referees requires: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Generation of questions to reflect what needs to be clarified, verified or validated about the applicant – these questions need to be prepared before the telephone call</a:t>
            </a:r>
          </a:p>
          <a:p>
            <a:pPr>
              <a:buFont typeface="Arial" pitchFamily="34" charset="0"/>
              <a:buChar char="•"/>
            </a:pPr>
            <a:r>
              <a:rPr lang="en-US" dirty="0" smtClean="0"/>
              <a:t> Many questions to be asked </a:t>
            </a:r>
            <a:r>
              <a:rPr lang="en-AU" sz="1200" kern="1200" dirty="0" smtClean="0">
                <a:solidFill>
                  <a:schemeClr val="tx1"/>
                </a:solidFill>
                <a:latin typeface="+mn-lt"/>
                <a:ea typeface="+mn-ea"/>
                <a:cs typeface="+mn-cs"/>
              </a:rPr>
              <a:t>such as:</a:t>
            </a:r>
          </a:p>
          <a:p>
            <a:pPr lvl="1">
              <a:buFont typeface="Arial" pitchFamily="34" charset="0"/>
              <a:buChar char="•"/>
            </a:pPr>
            <a:r>
              <a:rPr lang="en-AU" sz="1200" kern="1200" dirty="0" smtClean="0">
                <a:solidFill>
                  <a:schemeClr val="tx1"/>
                </a:solidFill>
                <a:latin typeface="+mn-lt"/>
                <a:ea typeface="+mn-ea"/>
                <a:cs typeface="+mn-cs"/>
              </a:rPr>
              <a:t> What was the applicant’s work ethic like?</a:t>
            </a:r>
          </a:p>
          <a:p>
            <a:pPr lvl="1">
              <a:buFont typeface="Arial" pitchFamily="34" charset="0"/>
              <a:buChar char="•"/>
            </a:pPr>
            <a:r>
              <a:rPr lang="en-AU" sz="1200" kern="1200" dirty="0" smtClean="0">
                <a:solidFill>
                  <a:schemeClr val="tx1"/>
                </a:solidFill>
                <a:latin typeface="+mn-lt"/>
                <a:ea typeface="+mn-ea"/>
                <a:cs typeface="+mn-cs"/>
              </a:rPr>
              <a:t> Were they punctual, reliable, honest?</a:t>
            </a:r>
          </a:p>
          <a:p>
            <a:pPr lvl="1">
              <a:buFont typeface="Arial" pitchFamily="34" charset="0"/>
              <a:buChar char="•"/>
            </a:pPr>
            <a:r>
              <a:rPr lang="en-AU" sz="1200" kern="1200" dirty="0" smtClean="0">
                <a:solidFill>
                  <a:schemeClr val="tx1"/>
                </a:solidFill>
                <a:latin typeface="+mn-lt"/>
                <a:ea typeface="+mn-ea"/>
                <a:cs typeface="+mn-cs"/>
              </a:rPr>
              <a:t> Did they get on well with other staff?</a:t>
            </a:r>
          </a:p>
          <a:p>
            <a:pPr lvl="1">
              <a:buFont typeface="Arial" pitchFamily="34" charset="0"/>
              <a:buChar char="•"/>
            </a:pPr>
            <a:r>
              <a:rPr lang="en-AU" sz="1200" kern="1200" dirty="0" smtClean="0">
                <a:solidFill>
                  <a:schemeClr val="tx1"/>
                </a:solidFill>
                <a:latin typeface="+mn-lt"/>
                <a:ea typeface="+mn-ea"/>
                <a:cs typeface="+mn-cs"/>
              </a:rPr>
              <a:t> Did they get on well with customers?</a:t>
            </a:r>
          </a:p>
          <a:p>
            <a:pPr lvl="1">
              <a:buFont typeface="Arial" pitchFamily="34" charset="0"/>
              <a:buChar char="•"/>
            </a:pPr>
            <a:r>
              <a:rPr lang="en-AU" sz="1200" kern="1200" dirty="0" smtClean="0">
                <a:solidFill>
                  <a:schemeClr val="tx1"/>
                </a:solidFill>
                <a:latin typeface="+mn-lt"/>
                <a:ea typeface="+mn-ea"/>
                <a:cs typeface="+mn-cs"/>
              </a:rPr>
              <a:t> Why did they leave?</a:t>
            </a:r>
          </a:p>
          <a:p>
            <a:pPr lvl="1">
              <a:buFont typeface="Arial" pitchFamily="34" charset="0"/>
              <a:buChar char="•"/>
            </a:pPr>
            <a:r>
              <a:rPr lang="en-AU" sz="1200" kern="1200" dirty="0" smtClean="0">
                <a:solidFill>
                  <a:schemeClr val="tx1"/>
                </a:solidFill>
                <a:latin typeface="+mn-lt"/>
                <a:ea typeface="+mn-ea"/>
                <a:cs typeface="+mn-cs"/>
              </a:rPr>
              <a:t> Were you sorry to see them go?</a:t>
            </a:r>
          </a:p>
          <a:p>
            <a:pPr lvl="1">
              <a:buFont typeface="Arial" pitchFamily="34" charset="0"/>
              <a:buChar char="•"/>
            </a:pPr>
            <a:r>
              <a:rPr lang="en-AU" sz="1200" kern="1200" dirty="0" smtClean="0">
                <a:solidFill>
                  <a:schemeClr val="tx1"/>
                </a:solidFill>
                <a:latin typeface="+mn-lt"/>
                <a:ea typeface="+mn-ea"/>
                <a:cs typeface="+mn-cs"/>
              </a:rPr>
              <a:t> Would you employ them again?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Recording responses given by referees when asked the questions – to make sure nothing</a:t>
            </a:r>
            <a:r>
              <a:rPr lang="en-AU" sz="1200" kern="1200" baseline="0" dirty="0" smtClean="0">
                <a:solidFill>
                  <a:schemeClr val="tx1"/>
                </a:solidFill>
                <a:latin typeface="+mn-lt"/>
                <a:ea typeface="+mn-ea"/>
                <a:cs typeface="+mn-cs"/>
              </a:rPr>
              <a:t> important is forgotten</a:t>
            </a:r>
            <a:r>
              <a:rPr lang="en-AU" sz="1200" kern="1200" dirty="0" smtClean="0">
                <a:solidFill>
                  <a:schemeClr val="tx1"/>
                </a:solidFill>
                <a:latin typeface="+mn-lt"/>
                <a:ea typeface="+mn-ea"/>
                <a:cs typeface="+mn-cs"/>
              </a:rPr>
              <a: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tells trainees all </a:t>
            </a:r>
            <a:r>
              <a:rPr lang="en-AU" sz="1200" kern="1200" dirty="0" smtClean="0">
                <a:solidFill>
                  <a:schemeClr val="tx1"/>
                </a:solidFill>
                <a:latin typeface="+mn-lt"/>
                <a:ea typeface="+mn-ea"/>
                <a:cs typeface="+mn-cs"/>
              </a:rPr>
              <a:t>applicants short-listed for a position will need to be contacted so a date and time for interview can be arranged emphasising: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Notification should take place as soon as possible -= in case applicant</a:t>
            </a:r>
            <a:r>
              <a:rPr lang="en-AU" sz="1200" kern="1200" baseline="0" dirty="0" smtClean="0">
                <a:solidFill>
                  <a:schemeClr val="tx1"/>
                </a:solidFill>
                <a:latin typeface="+mn-lt"/>
                <a:ea typeface="+mn-ea"/>
                <a:cs typeface="+mn-cs"/>
              </a:rPr>
              <a:t> takes another job</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 Contact should be via method approved by the workplace – telephone is most common and effective as it enables person-to-person communication, is quick and inexpensive. Other options may include email, fax or face-to-face.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notifying an applicant about an interview should address:</a:t>
            </a:r>
          </a:p>
          <a:p>
            <a:pPr>
              <a:buFont typeface="Arial" pitchFamily="34" charset="0"/>
              <a:buChar char="•"/>
            </a:pPr>
            <a:r>
              <a:rPr lang="en-AU" sz="1200" kern="1200" dirty="0" smtClean="0">
                <a:solidFill>
                  <a:schemeClr val="tx1"/>
                </a:solidFill>
                <a:latin typeface="+mn-lt"/>
                <a:ea typeface="+mn-ea"/>
                <a:cs typeface="+mn-cs"/>
              </a:rPr>
              <a:t> Date and time of the interview</a:t>
            </a:r>
          </a:p>
          <a:p>
            <a:pPr>
              <a:buFont typeface="Arial" pitchFamily="34" charset="0"/>
              <a:buChar char="•"/>
            </a:pPr>
            <a:r>
              <a:rPr lang="en-AU" sz="1200" kern="1200" dirty="0" smtClean="0">
                <a:solidFill>
                  <a:schemeClr val="tx1"/>
                </a:solidFill>
                <a:latin typeface="+mn-lt"/>
                <a:ea typeface="+mn-ea"/>
                <a:cs typeface="+mn-cs"/>
              </a:rPr>
              <a:t> Location – where the interview will take place.</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may include a street address, a floor number or even a specific room name within the business</a:t>
            </a:r>
          </a:p>
          <a:p>
            <a:pPr>
              <a:buFont typeface="Arial" pitchFamily="34" charset="0"/>
              <a:buChar char="•"/>
            </a:pPr>
            <a:r>
              <a:rPr lang="en-AU" sz="1200" kern="1200" dirty="0" smtClean="0">
                <a:solidFill>
                  <a:schemeClr val="tx1"/>
                </a:solidFill>
                <a:latin typeface="+mn-lt"/>
                <a:ea typeface="+mn-ea"/>
                <a:cs typeface="+mn-cs"/>
              </a:rPr>
              <a:t> What they should bring – this may be originals of certificates or examples of work</a:t>
            </a:r>
          </a:p>
          <a:p>
            <a:pPr>
              <a:buFont typeface="Arial" pitchFamily="34" charset="0"/>
              <a:buChar char="•"/>
            </a:pPr>
            <a:r>
              <a:rPr lang="en-AU" sz="1200" kern="1200" dirty="0" smtClean="0">
                <a:solidFill>
                  <a:schemeClr val="tx1"/>
                </a:solidFill>
                <a:latin typeface="+mn-lt"/>
                <a:ea typeface="+mn-ea"/>
                <a:cs typeface="+mn-cs"/>
              </a:rPr>
              <a:t> Expected length of the interview – start and finish time</a:t>
            </a:r>
          </a:p>
          <a:p>
            <a:pPr>
              <a:buFont typeface="Arial" pitchFamily="34" charset="0"/>
              <a:buChar char="•"/>
            </a:pPr>
            <a:r>
              <a:rPr lang="en-AU" sz="1200" kern="1200" dirty="0" smtClean="0">
                <a:solidFill>
                  <a:schemeClr val="tx1"/>
                </a:solidFill>
                <a:latin typeface="+mn-lt"/>
                <a:ea typeface="+mn-ea"/>
                <a:cs typeface="+mn-cs"/>
              </a:rPr>
              <a:t> Format of the interview – is it a one-to-one interview? If it is a panel interview, supply the number on the panel, their names or their position within the organisation.</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suggests to trainees when notifying applicants regarding interviews they should:</a:t>
            </a:r>
          </a:p>
          <a:p>
            <a:pPr>
              <a:buFont typeface="Arial" pitchFamily="34" charset="0"/>
              <a:buChar char="•"/>
            </a:pPr>
            <a:r>
              <a:rPr lang="en-US" dirty="0" smtClean="0"/>
              <a:t> Be prepared to negotiate a time and date</a:t>
            </a:r>
          </a:p>
          <a:p>
            <a:pPr>
              <a:buFont typeface="Arial" pitchFamily="34" charset="0"/>
              <a:buChar char="•"/>
            </a:pPr>
            <a:r>
              <a:rPr lang="en-US" dirty="0" smtClean="0"/>
              <a:t> Advise candidate about what is available to assist them at the interview – such as KSC,</a:t>
            </a:r>
            <a:r>
              <a:rPr lang="en-US" baseline="0" dirty="0" smtClean="0"/>
              <a:t> </a:t>
            </a:r>
            <a:r>
              <a:rPr lang="en-US" dirty="0" smtClean="0"/>
              <a:t>workplace information packs,</a:t>
            </a:r>
            <a:r>
              <a:rPr lang="en-US" baseline="0" dirty="0" smtClean="0"/>
              <a:t> </a:t>
            </a:r>
            <a:r>
              <a:rPr lang="en-US" dirty="0" smtClean="0"/>
              <a:t>‘Tips on Interviews’</a:t>
            </a:r>
            <a:r>
              <a:rPr lang="en-US" baseline="0" dirty="0" smtClean="0"/>
              <a:t> and </a:t>
            </a:r>
            <a:r>
              <a:rPr lang="en-US" dirty="0" smtClean="0"/>
              <a:t>Job Descriptions.</a:t>
            </a:r>
          </a:p>
          <a:p>
            <a:pPr>
              <a:buFont typeface="Arial" pitchFamily="34" charset="0"/>
              <a:buChar char="•"/>
            </a:pPr>
            <a:endParaRPr lang="en-US" dirty="0" smtClean="0"/>
          </a:p>
          <a:p>
            <a:pPr>
              <a:buFont typeface="Arial" pitchFamily="34" charset="0"/>
              <a:buNone/>
            </a:pPr>
            <a:r>
              <a:rPr lang="en-US" b="1" dirty="0" smtClean="0"/>
              <a:t>Class Activity – Handouts </a:t>
            </a:r>
          </a:p>
          <a:p>
            <a:pPr>
              <a:buFont typeface="Arial" pitchFamily="34" charset="0"/>
              <a:buNone/>
            </a:pPr>
            <a:r>
              <a:rPr lang="en-US" b="0" dirty="0" smtClean="0"/>
              <a:t>Trainer obtains sample business ‘information packs’ and ‘tips on interviews’ sheets, and:</a:t>
            </a:r>
          </a:p>
          <a:p>
            <a:pPr>
              <a:buFont typeface="Arial" pitchFamily="34" charset="0"/>
              <a:buChar char="•"/>
            </a:pPr>
            <a:r>
              <a:rPr lang="en-US" b="0" dirty="0" smtClean="0"/>
              <a:t> Hands them out to trainees</a:t>
            </a:r>
          </a:p>
          <a:p>
            <a:pPr>
              <a:buFont typeface="Arial" pitchFamily="34" charset="0"/>
              <a:buChar char="•"/>
            </a:pPr>
            <a:r>
              <a:rPr lang="en-US" b="0" dirty="0" smtClean="0"/>
              <a:t> Discusses contents</a:t>
            </a:r>
          </a:p>
          <a:p>
            <a:pPr>
              <a:buFont typeface="Arial" pitchFamily="34" charset="0"/>
              <a:buChar char="•"/>
            </a:pPr>
            <a:r>
              <a:rPr lang="en-US" b="0" dirty="0" smtClean="0"/>
              <a:t> Explains why these are provided</a:t>
            </a:r>
          </a:p>
          <a:p>
            <a:pPr>
              <a:buFont typeface="Arial" pitchFamily="34" charset="0"/>
              <a:buChar char="•"/>
            </a:pPr>
            <a:r>
              <a:rPr lang="en-US" b="0" dirty="0" smtClean="0"/>
              <a:t> Seeks</a:t>
            </a:r>
            <a:r>
              <a:rPr lang="en-US" b="0" baseline="0" dirty="0" smtClean="0"/>
              <a:t> feedback from trainees on their benefit to the enterprise and the applicants.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advises trainees conducting the interview is the </a:t>
            </a:r>
            <a:r>
              <a:rPr lang="en-AU" sz="1200" kern="1200" dirty="0" smtClean="0">
                <a:solidFill>
                  <a:schemeClr val="tx1"/>
                </a:solidFill>
                <a:latin typeface="+mn-lt"/>
                <a:ea typeface="+mn-ea"/>
                <a:cs typeface="+mn-cs"/>
              </a:rPr>
              <a:t>most high-profile aspect of the recruitment and selection process stressing:</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There is a need to undertake lots of planning and preparation in order to conduct an effective interview – no effective interview can ever take place unless appropriate planning and preparation has occurred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There is usually a need to involve several other workplace personnel in the planning and preparation – as well as the actual interview itself.</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t>
            </a:r>
            <a:r>
              <a:rPr lang="en-AU" sz="1200" kern="1200" dirty="0" smtClean="0">
                <a:solidFill>
                  <a:schemeClr val="tx1"/>
                </a:solidFill>
                <a:latin typeface="+mn-lt"/>
                <a:ea typeface="+mn-ea"/>
                <a:cs typeface="+mn-cs"/>
              </a:rPr>
              <a:t>interview arrangements (‘planning and preparation’) may include:</a:t>
            </a:r>
          </a:p>
          <a:p>
            <a:pPr>
              <a:buFont typeface="Arial" pitchFamily="34" charset="0"/>
              <a:buChar char="•"/>
            </a:pPr>
            <a:r>
              <a:rPr lang="en-AU" sz="1200" kern="1200" dirty="0" smtClean="0">
                <a:solidFill>
                  <a:schemeClr val="tx1"/>
                </a:solidFill>
                <a:latin typeface="+mn-lt"/>
                <a:ea typeface="+mn-ea"/>
                <a:cs typeface="+mn-cs"/>
              </a:rPr>
              <a:t> Booking a room for the interviews – such as the Board room, an office or a section of an unused dining room or bar closed to the public and free of wandering staff </a:t>
            </a:r>
          </a:p>
          <a:p>
            <a:pPr>
              <a:buFont typeface="Arial" pitchFamily="34" charset="0"/>
              <a:buChar char="•"/>
            </a:pPr>
            <a:r>
              <a:rPr lang="en-AU" sz="1200" kern="1200" dirty="0" smtClean="0">
                <a:solidFill>
                  <a:schemeClr val="tx1"/>
                </a:solidFill>
                <a:latin typeface="+mn-lt"/>
                <a:ea typeface="+mn-ea"/>
                <a:cs typeface="+mn-cs"/>
              </a:rPr>
              <a:t> Determining the time to be allowed for each interview and allowing for breaks to be scheduled between each interview so interviews can be reviewed and evaluated and interviewers can discuss the candidate for the job</a:t>
            </a:r>
          </a:p>
          <a:p>
            <a:pPr>
              <a:buFont typeface="Arial" pitchFamily="34" charset="0"/>
              <a:buChar char="•"/>
            </a:pPr>
            <a:r>
              <a:rPr lang="en-AU" sz="1200" kern="1200" dirty="0" smtClean="0">
                <a:solidFill>
                  <a:schemeClr val="tx1"/>
                </a:solidFill>
                <a:latin typeface="+mn-lt"/>
                <a:ea typeface="+mn-ea"/>
                <a:cs typeface="+mn-cs"/>
              </a:rPr>
              <a:t> Scheduling the actual interviews – with short-listed applicants</a:t>
            </a:r>
          </a:p>
          <a:p>
            <a:pPr>
              <a:buFont typeface="Arial" pitchFamily="34" charset="0"/>
              <a:buChar char="•"/>
            </a:pPr>
            <a:r>
              <a:rPr lang="en-AU" sz="1200" kern="1200" dirty="0" smtClean="0">
                <a:solidFill>
                  <a:schemeClr val="tx1"/>
                </a:solidFill>
                <a:latin typeface="+mn-lt"/>
                <a:ea typeface="+mn-ea"/>
                <a:cs typeface="+mn-cs"/>
              </a:rPr>
              <a:t> Identifying who will conduct</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participate in the interviews – it is common practice to ensure a gender balance on all interview panels wherever possible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advice to trainees regarding planning and preparation for interviews:</a:t>
            </a:r>
          </a:p>
          <a:p>
            <a:pPr>
              <a:buFont typeface="Arial" pitchFamily="34" charset="0"/>
              <a:buChar char="•"/>
            </a:pPr>
            <a:r>
              <a:rPr lang="en-AU" sz="1200" kern="1200" dirty="0" smtClean="0">
                <a:solidFill>
                  <a:schemeClr val="tx1"/>
                </a:solidFill>
                <a:latin typeface="+mn-lt"/>
                <a:ea typeface="+mn-ea"/>
                <a:cs typeface="+mn-cs"/>
              </a:rPr>
              <a:t> Pre-reading and digesting all appropriate resumés – to be sure interviewers are familiar with the applicant and their background</a:t>
            </a:r>
          </a:p>
          <a:p>
            <a:pPr>
              <a:buFont typeface="Arial" pitchFamily="34" charset="0"/>
              <a:buChar char="•"/>
            </a:pPr>
            <a:r>
              <a:rPr lang="en-AU" sz="1200" kern="1200" dirty="0" smtClean="0">
                <a:solidFill>
                  <a:schemeClr val="tx1"/>
                </a:solidFill>
                <a:latin typeface="+mn-lt"/>
                <a:ea typeface="+mn-ea"/>
                <a:cs typeface="+mn-cs"/>
              </a:rPr>
              <a:t> Facilitating a meeting between all members of the interview panel or group to:</a:t>
            </a:r>
          </a:p>
          <a:p>
            <a:pPr lvl="1">
              <a:buFont typeface="Arial" pitchFamily="34" charset="0"/>
              <a:buChar char="•"/>
            </a:pPr>
            <a:r>
              <a:rPr lang="en-US" sz="1200" kern="1200" dirty="0" smtClean="0">
                <a:solidFill>
                  <a:schemeClr val="tx1"/>
                </a:solidFill>
                <a:latin typeface="+mn-lt"/>
                <a:ea typeface="+mn-ea"/>
                <a:cs typeface="+mn-cs"/>
              </a:rPr>
              <a:t> Identify the specific format of the interview – see next slide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Identify the questions to be asked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Clarify the relevant job description, job specification and selection criteria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Identify who will lead the interview, welcome the applicant, and terminate the interview</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Identify who will ask which questions, and in which order</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Arranging catering (such as coffee, tea or iced water), where required.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the </a:t>
            </a:r>
            <a:r>
              <a:rPr lang="en-US" sz="1200" kern="1200" dirty="0" smtClean="0">
                <a:solidFill>
                  <a:schemeClr val="tx1"/>
                </a:solidFill>
                <a:latin typeface="+mn-lt"/>
                <a:ea typeface="+mn-ea"/>
                <a:cs typeface="+mn-cs"/>
              </a:rPr>
              <a:t>basic job interview options are: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One-to-one interviews – common where the position is for a lower level position and where the person conducting the interview (often the owner, manager of a supervisor) believes they are best placed to determine the best applicant. This interview involves the applicant sitting face-to-face with the interviewer and responding to their questions. This style of interview is quick, requires only one person to be involved but suffers potentially from lack of objectivity. It is very common in smaller, owner-operated businesses</a:t>
            </a:r>
          </a:p>
          <a:p>
            <a:pPr>
              <a:buFont typeface="Arial" pitchFamily="34" charset="0"/>
              <a:buChar char="•"/>
            </a:pPr>
            <a:r>
              <a:rPr lang="en-AU" sz="1200" kern="1200" dirty="0" smtClean="0">
                <a:solidFill>
                  <a:schemeClr val="tx1"/>
                </a:solidFill>
                <a:latin typeface="+mn-lt"/>
                <a:ea typeface="+mn-ea"/>
                <a:cs typeface="+mn-cs"/>
              </a:rPr>
              <a:t> The panel interview – where a number of people (three to five is common) interview one applicant at a time</a:t>
            </a:r>
          </a:p>
          <a:p>
            <a:pPr>
              <a:buFont typeface="Arial" pitchFamily="34" charset="0"/>
              <a:buChar char="•"/>
            </a:pPr>
            <a:r>
              <a:rPr lang="en-AU" sz="1200" kern="1200" dirty="0" smtClean="0">
                <a:solidFill>
                  <a:schemeClr val="tx1"/>
                </a:solidFill>
                <a:latin typeface="+mn-lt"/>
                <a:ea typeface="+mn-ea"/>
                <a:cs typeface="+mn-cs"/>
              </a:rPr>
              <a:t> The group interview – where a number of applicants are interviewed simultaneously by a range of interviewers. Note: some people refer to a ‘panel’ interview as a ‘group’ interview so be sure to determine what term is used in the workplace to avoid confusion.</a:t>
            </a:r>
          </a:p>
          <a:p>
            <a:pPr>
              <a:buFont typeface="Arial" pitchFamily="34" charset="0"/>
              <a:buChar char="•"/>
            </a:pPr>
            <a:r>
              <a:rPr lang="en-AU" sz="1200" kern="1200" dirty="0" smtClean="0">
                <a:solidFill>
                  <a:schemeClr val="tx1"/>
                </a:solidFill>
                <a:latin typeface="+mn-lt"/>
                <a:ea typeface="+mn-ea"/>
                <a:cs typeface="+mn-cs"/>
              </a:rPr>
              <a:t> Telephone interview – where one or more people use a tele-conference (of some format – for example, Skype or Lynch) to interview applicants. Telephone interviews are difficult (and arguably of minimum use) for both interviewers and interviewees as both are commonly not familiar with either conducting them or participating in them.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to trainees that </a:t>
            </a:r>
            <a:r>
              <a:rPr lang="en-AU" sz="1200" kern="1200" dirty="0" smtClean="0">
                <a:solidFill>
                  <a:schemeClr val="tx1"/>
                </a:solidFill>
                <a:latin typeface="+mn-lt"/>
                <a:ea typeface="+mn-ea"/>
                <a:cs typeface="+mn-cs"/>
              </a:rPr>
              <a:t>in much the same way applicants are short-listed for interview, an interview may be also used to determine if an applicant moves to the next ‘round of interviews’, explaining:</a:t>
            </a:r>
          </a:p>
          <a:p>
            <a:pPr>
              <a:buFont typeface="Arial" pitchFamily="34" charset="0"/>
              <a:buChar char="•"/>
            </a:pPr>
            <a:r>
              <a:rPr lang="en-AU" sz="1200" kern="1200" dirty="0" smtClean="0">
                <a:solidFill>
                  <a:schemeClr val="tx1"/>
                </a:solidFill>
                <a:latin typeface="+mn-lt"/>
                <a:ea typeface="+mn-ea"/>
                <a:cs typeface="+mn-cs"/>
              </a:rPr>
              <a:t> This is not especially common but the practice of ‘interview rounds’ does exist with it being most used for middle-to-higher level positions.</a:t>
            </a:r>
          </a:p>
          <a:p>
            <a:pPr>
              <a:buFont typeface="Arial" pitchFamily="34" charset="0"/>
              <a:buChar char="•"/>
            </a:pPr>
            <a:r>
              <a:rPr lang="en-AU" sz="1200" kern="1200" dirty="0" smtClean="0">
                <a:solidFill>
                  <a:schemeClr val="tx1"/>
                </a:solidFill>
                <a:latin typeface="+mn-lt"/>
                <a:ea typeface="+mn-ea"/>
                <a:cs typeface="+mn-cs"/>
              </a:rPr>
              <a:t> The first interview (the first ‘round of interviews’) will involve all those who were short-listed. The interview enables interviewers to meet the applicants, ask some questions and form an opinion. Applicants are usually asked the same questions and evaluated against the same criteria.</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focus of the first round questions is ‘can this person do the job?’</a:t>
            </a:r>
          </a:p>
          <a:p>
            <a:pPr>
              <a:buFont typeface="Arial" pitchFamily="34" charset="0"/>
              <a:buChar char="•"/>
            </a:pPr>
            <a:r>
              <a:rPr lang="en-AU" sz="1200" kern="1200" dirty="0" smtClean="0">
                <a:solidFill>
                  <a:schemeClr val="tx1"/>
                </a:solidFill>
                <a:latin typeface="+mn-lt"/>
                <a:ea typeface="+mn-ea"/>
                <a:cs typeface="+mn-cs"/>
              </a:rPr>
              <a:t> Traditionally, a number of applicants are rejected by the interviewers after this first interview for a variety of reasons. Those remaining may be asked to undertake a designated test</a:t>
            </a:r>
            <a:r>
              <a:rPr lang="en-AU" sz="1200" kern="1200" baseline="0" dirty="0" smtClean="0">
                <a:solidFill>
                  <a:schemeClr val="tx1"/>
                </a:solidFill>
                <a:latin typeface="+mn-lt"/>
                <a:ea typeface="+mn-ea"/>
                <a:cs typeface="+mn-cs"/>
              </a:rPr>
              <a:t> or task. T</a:t>
            </a:r>
            <a:r>
              <a:rPr lang="en-AU" sz="1200" kern="1200" dirty="0" smtClean="0">
                <a:solidFill>
                  <a:schemeClr val="tx1"/>
                </a:solidFill>
                <a:latin typeface="+mn-lt"/>
                <a:ea typeface="+mn-ea"/>
                <a:cs typeface="+mn-cs"/>
              </a:rPr>
              <a:t>heir performance may determine if they are asked to attend a second interview (the ‘second round of interviews’)</a:t>
            </a:r>
          </a:p>
          <a:p>
            <a:pPr>
              <a:buFont typeface="Arial" pitchFamily="34" charset="0"/>
              <a:buChar char="•"/>
            </a:pPr>
            <a:r>
              <a:rPr lang="en-AU" sz="1200" kern="1200" dirty="0" smtClean="0">
                <a:solidFill>
                  <a:schemeClr val="tx1"/>
                </a:solidFill>
                <a:latin typeface="+mn-lt"/>
                <a:ea typeface="+mn-ea"/>
                <a:cs typeface="+mn-cs"/>
              </a:rPr>
              <a:t> The second round of interviews focuses more on the individual applicants and questions tend to address their individual ability, history, suitability, attitude, knowledge, and expertise. The focus of this round therefore tends to be ‘why should I employ you for this job?’</a:t>
            </a:r>
          </a:p>
          <a:p>
            <a:pPr>
              <a:buFont typeface="Arial" pitchFamily="34" charset="0"/>
              <a:buChar char="•"/>
            </a:pPr>
            <a:r>
              <a:rPr lang="en-AU" sz="1200" kern="1200" dirty="0" smtClean="0">
                <a:solidFill>
                  <a:schemeClr val="tx1"/>
                </a:solidFill>
                <a:latin typeface="+mn-lt"/>
                <a:ea typeface="+mn-ea"/>
                <a:cs typeface="+mn-cs"/>
              </a:rPr>
              <a:t> At the end of this second round, more applicants are commonly rejected</a:t>
            </a:r>
          </a:p>
          <a:p>
            <a:pPr>
              <a:buFont typeface="Arial" pitchFamily="34" charset="0"/>
              <a:buChar char="•"/>
            </a:pPr>
            <a:r>
              <a:rPr lang="en-AU" sz="1200" kern="1200" dirty="0" smtClean="0">
                <a:solidFill>
                  <a:schemeClr val="tx1"/>
                </a:solidFill>
                <a:latin typeface="+mn-lt"/>
                <a:ea typeface="+mn-ea"/>
                <a:cs typeface="+mn-cs"/>
              </a:rPr>
              <a:t>The third round is the final interview where ‘more difficult’ issued and questions are covered. It is the outcome of this ‘round of interview’ which determines the successful candidate for the job.</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recommends to trainees they should accommodate ‘special needs’ applicants if the workplace wants</a:t>
            </a:r>
            <a:r>
              <a:rPr lang="en-US" baseline="0" dirty="0" smtClean="0"/>
              <a:t> to discharge its EO obligations suggesting </a:t>
            </a:r>
            <a:r>
              <a:rPr lang="en-AU" sz="1200" kern="1200" dirty="0" smtClean="0">
                <a:solidFill>
                  <a:schemeClr val="tx1"/>
                </a:solidFill>
                <a:latin typeface="+mn-lt"/>
                <a:ea typeface="+mn-ea"/>
                <a:cs typeface="+mn-cs"/>
              </a:rPr>
              <a:t>possible responses to special needs can include:</a:t>
            </a:r>
          </a:p>
          <a:p>
            <a:pPr>
              <a:buFont typeface="Arial" pitchFamily="34" charset="0"/>
              <a:buChar char="•"/>
            </a:pPr>
            <a:r>
              <a:rPr lang="en-AU" sz="1200" kern="1200" dirty="0" smtClean="0">
                <a:solidFill>
                  <a:schemeClr val="tx1"/>
                </a:solidFill>
                <a:latin typeface="+mn-lt"/>
                <a:ea typeface="+mn-ea"/>
                <a:cs typeface="+mn-cs"/>
              </a:rPr>
              <a:t> Scheduling the interview at an appropriate time for the candidate – to accommodate their transport and other needs</a:t>
            </a:r>
          </a:p>
          <a:p>
            <a:pPr>
              <a:buFont typeface="Arial" pitchFamily="34" charset="0"/>
              <a:buChar char="•"/>
            </a:pPr>
            <a:r>
              <a:rPr lang="en-AU" sz="1200" kern="1200" dirty="0" smtClean="0">
                <a:solidFill>
                  <a:schemeClr val="tx1"/>
                </a:solidFill>
                <a:latin typeface="+mn-lt"/>
                <a:ea typeface="+mn-ea"/>
                <a:cs typeface="+mn-cs"/>
              </a:rPr>
              <a:t> Providing certain documentation in large print – for vision impaired applicants</a:t>
            </a:r>
          </a:p>
          <a:p>
            <a:pPr>
              <a:buFont typeface="Arial" pitchFamily="34" charset="0"/>
              <a:buChar char="•"/>
            </a:pPr>
            <a:r>
              <a:rPr lang="en-AU" sz="1200" kern="1200" dirty="0" smtClean="0">
                <a:solidFill>
                  <a:schemeClr val="tx1"/>
                </a:solidFill>
                <a:latin typeface="+mn-lt"/>
                <a:ea typeface="+mn-ea"/>
                <a:cs typeface="+mn-cs"/>
              </a:rPr>
              <a:t> Providing easy access or car parking to facilitate attendance at the interview for wheelchair</a:t>
            </a:r>
            <a:r>
              <a:rPr lang="en-AU" sz="1200" kern="1200" baseline="0" dirty="0" smtClean="0">
                <a:solidFill>
                  <a:schemeClr val="tx1"/>
                </a:solidFill>
                <a:latin typeface="+mn-lt"/>
                <a:ea typeface="+mn-ea"/>
                <a:cs typeface="+mn-cs"/>
              </a:rPr>
              <a:t> applicants</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Determining if there is a need for assistive technology and taking steps to provide it where necessary.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make recommendation to trainees about what they might do at interviews to accommodate ‘special needs’ applicants:</a:t>
            </a:r>
          </a:p>
          <a:p>
            <a:pPr>
              <a:buFont typeface="Arial" pitchFamily="34" charset="0"/>
              <a:buChar char="•"/>
            </a:pPr>
            <a:r>
              <a:rPr lang="en-AU" sz="1200" kern="1200" dirty="0" smtClean="0">
                <a:solidFill>
                  <a:schemeClr val="tx1"/>
                </a:solidFill>
                <a:latin typeface="+mn-lt"/>
                <a:ea typeface="+mn-ea"/>
                <a:cs typeface="+mn-cs"/>
              </a:rPr>
              <a:t> Preparing to be sensitive to individual needs at the interview – such as focussing on looking directly at a person who lip reads</a:t>
            </a:r>
          </a:p>
          <a:p>
            <a:pPr>
              <a:buFont typeface="Arial" pitchFamily="34" charset="0"/>
              <a:buChar char="•"/>
            </a:pPr>
            <a:r>
              <a:rPr lang="en-AU" sz="1200" kern="1200" dirty="0" smtClean="0">
                <a:solidFill>
                  <a:schemeClr val="tx1"/>
                </a:solidFill>
                <a:latin typeface="+mn-lt"/>
                <a:ea typeface="+mn-ea"/>
                <a:cs typeface="+mn-cs"/>
              </a:rPr>
              <a:t> Preparing and using visual materials and diagrams in cases where written material is inappropriate</a:t>
            </a:r>
          </a:p>
          <a:p>
            <a:pPr>
              <a:buFont typeface="Arial" pitchFamily="34" charset="0"/>
              <a:buChar char="•"/>
            </a:pPr>
            <a:r>
              <a:rPr lang="en-AU" sz="1200" kern="1200" dirty="0" smtClean="0">
                <a:solidFill>
                  <a:schemeClr val="tx1"/>
                </a:solidFill>
                <a:latin typeface="+mn-lt"/>
                <a:ea typeface="+mn-ea"/>
                <a:cs typeface="+mn-cs"/>
              </a:rPr>
              <a:t> Using an interpreter, as appropriate – including sign language</a:t>
            </a:r>
          </a:p>
          <a:p>
            <a:pPr>
              <a:buFont typeface="Arial" pitchFamily="34" charset="0"/>
              <a:buChar char="•"/>
            </a:pPr>
            <a:r>
              <a:rPr lang="en-AU" sz="1200" kern="1200" dirty="0" smtClean="0">
                <a:solidFill>
                  <a:schemeClr val="tx1"/>
                </a:solidFill>
                <a:latin typeface="+mn-lt"/>
                <a:ea typeface="+mn-ea"/>
                <a:cs typeface="+mn-cs"/>
              </a:rPr>
              <a:t> Allowing support persons to accompany the person being interviewed</a:t>
            </a:r>
          </a:p>
          <a:p>
            <a:pPr>
              <a:buFont typeface="Arial" pitchFamily="34" charset="0"/>
              <a:buChar char="•"/>
            </a:pPr>
            <a:r>
              <a:rPr lang="en-AU" sz="1200" kern="1200" dirty="0" smtClean="0">
                <a:solidFill>
                  <a:schemeClr val="tx1"/>
                </a:solidFill>
                <a:latin typeface="+mn-lt"/>
                <a:ea typeface="+mn-ea"/>
                <a:cs typeface="+mn-cs"/>
              </a:rPr>
              <a:t> Including a ‘special needs’ person as part of the interview panel.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interview</a:t>
            </a:r>
            <a:r>
              <a:rPr lang="en-US" baseline="0" dirty="0" smtClean="0"/>
              <a:t> basics to trainees:</a:t>
            </a:r>
          </a:p>
          <a:p>
            <a:pPr>
              <a:buFont typeface="Arial" pitchFamily="34" charset="0"/>
              <a:buChar char="•"/>
            </a:pPr>
            <a:r>
              <a:rPr lang="en-AU" sz="1200" kern="1200" dirty="0" smtClean="0">
                <a:solidFill>
                  <a:schemeClr val="tx1"/>
                </a:solidFill>
                <a:latin typeface="+mn-lt"/>
                <a:ea typeface="+mn-ea"/>
                <a:cs typeface="+mn-cs"/>
              </a:rPr>
              <a:t> Whether the selection interview is one-on-one or a panel type it should be structured and have a focus.</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must never simply be a ‘get-together’ for a pleasant chat where anything and everything is discussed. The time spent in conducting interviews is another of the considerable expenses associated with staff hiring. </a:t>
            </a:r>
          </a:p>
          <a:p>
            <a:pPr>
              <a:buFont typeface="Arial" pitchFamily="34" charset="0"/>
              <a:buChar char="•"/>
            </a:pPr>
            <a:r>
              <a:rPr lang="en-AU" sz="1200" kern="1200" dirty="0" smtClean="0">
                <a:solidFill>
                  <a:schemeClr val="tx1"/>
                </a:solidFill>
                <a:latin typeface="+mn-lt"/>
                <a:ea typeface="+mn-ea"/>
                <a:cs typeface="+mn-cs"/>
              </a:rPr>
              <a:t> Those involved must realise interviewing is a difficult task and give it the proper attention it deserves and prepare adequately for it – no-one can never just walk into an interview situation ‘cold’ and expect to be effective. Effective interviews </a:t>
            </a:r>
            <a:r>
              <a:rPr lang="en-AU" sz="1200" b="1" kern="1200" dirty="0" smtClean="0">
                <a:solidFill>
                  <a:schemeClr val="tx1"/>
                </a:solidFill>
                <a:latin typeface="+mn-lt"/>
                <a:ea typeface="+mn-ea"/>
                <a:cs typeface="+mn-cs"/>
              </a:rPr>
              <a:t>never </a:t>
            </a:r>
            <a:r>
              <a:rPr lang="en-AU" sz="1200" kern="1200" dirty="0" smtClean="0">
                <a:solidFill>
                  <a:schemeClr val="tx1"/>
                </a:solidFill>
                <a:latin typeface="+mn-lt"/>
                <a:ea typeface="+mn-ea"/>
                <a:cs typeface="+mn-cs"/>
              </a:rPr>
              <a:t>just happen. There is a need to prepare and organise so there is a very clear idea of what is intended to be achieved with each interviewee at each interview.</a:t>
            </a:r>
          </a:p>
          <a:p>
            <a:pPr>
              <a:buFont typeface="Arial" pitchFamily="34" charset="0"/>
              <a:buChar char="•"/>
            </a:pPr>
            <a:r>
              <a:rPr lang="en-AU" sz="1200" kern="1200" dirty="0" smtClean="0">
                <a:solidFill>
                  <a:schemeClr val="tx1"/>
                </a:solidFill>
                <a:latin typeface="+mn-lt"/>
                <a:ea typeface="+mn-ea"/>
                <a:cs typeface="+mn-cs"/>
              </a:rPr>
              <a:t> A list of questions needs to be prepared, and the qualities and attitudes being sought for the vacancy being interviewed for need to be clarified.  </a:t>
            </a:r>
          </a:p>
          <a:p>
            <a:pPr>
              <a:buFont typeface="Arial" pitchFamily="34" charset="0"/>
              <a:buChar char="•"/>
            </a:pPr>
            <a:r>
              <a:rPr lang="en-AU" sz="1200" kern="1200" dirty="0" smtClean="0">
                <a:solidFill>
                  <a:schemeClr val="tx1"/>
                </a:solidFill>
                <a:latin typeface="+mn-lt"/>
                <a:ea typeface="+mn-ea"/>
                <a:cs typeface="+mn-cs"/>
              </a:rPr>
              <a:t> Many interviewers use a checklist to guide them during interviews – a list setting out areas (for example) such as personal appearance, interests, long range goals, personal ideas as to how to improve XYZ, or how to achieve ABC, and the applicant’s manner</a:t>
            </a:r>
          </a:p>
          <a:p>
            <a:pPr>
              <a:buFont typeface="Arial" pitchFamily="34" charset="0"/>
              <a:buChar char="•"/>
            </a:pPr>
            <a:r>
              <a:rPr lang="en-AU" sz="1200" kern="1200" dirty="0" smtClean="0">
                <a:solidFill>
                  <a:schemeClr val="tx1"/>
                </a:solidFill>
                <a:latin typeface="+mn-lt"/>
                <a:ea typeface="+mn-ea"/>
                <a:cs typeface="+mn-cs"/>
              </a:rPr>
              <a:t> An ‘Interview rating Sheet’ may need to be prepared – to use as an objective basis for recording candidate responses during the interview and making the final selection of the successful applicant.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latin typeface="+mn-lt"/>
                <a:ea typeface="+mn-ea"/>
                <a:cs typeface="+mn-cs"/>
              </a:rPr>
              <a:t>tells trainees prior to each interview those conducting the interview must ensure they have:</a:t>
            </a:r>
          </a:p>
          <a:p>
            <a:pPr>
              <a:buFont typeface="Arial" pitchFamily="34" charset="0"/>
              <a:buChar char="•"/>
            </a:pPr>
            <a:r>
              <a:rPr lang="en-AU" sz="1200" kern="1200" dirty="0" smtClean="0">
                <a:solidFill>
                  <a:schemeClr val="tx1"/>
                </a:solidFill>
                <a:latin typeface="+mn-lt"/>
                <a:ea typeface="+mn-ea"/>
                <a:cs typeface="+mn-cs"/>
              </a:rPr>
              <a:t> Notified each applicant well in advance of where and when the interview is to be conducted – this may have to be negotiated with the applicant especially where they are already employed by someone else, so flexibility, discretion and tact is needed</a:t>
            </a:r>
          </a:p>
          <a:p>
            <a:pPr>
              <a:buFont typeface="Arial" pitchFamily="34" charset="0"/>
              <a:buChar char="•"/>
            </a:pPr>
            <a:r>
              <a:rPr lang="en-AU" sz="1200" kern="1200" dirty="0" smtClean="0">
                <a:solidFill>
                  <a:schemeClr val="tx1"/>
                </a:solidFill>
                <a:latin typeface="+mn-lt"/>
                <a:ea typeface="+mn-ea"/>
                <a:cs typeface="+mn-cs"/>
              </a:rPr>
              <a:t> Informed candidates of what they need to bring with them – such as  originals of photocopied submissions,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certificates, samples, photos of work</a:t>
            </a:r>
            <a:r>
              <a:rPr lang="en-AU" sz="1200" kern="1200" baseline="0" dirty="0" smtClean="0">
                <a:solidFill>
                  <a:schemeClr val="tx1"/>
                </a:solidFill>
                <a:latin typeface="+mn-lt"/>
                <a:ea typeface="+mn-ea"/>
                <a:cs typeface="+mn-cs"/>
              </a:rPr>
              <a:t> or </a:t>
            </a:r>
            <a:r>
              <a:rPr lang="en-AU" sz="1200" kern="1200" dirty="0" smtClean="0">
                <a:solidFill>
                  <a:schemeClr val="tx1"/>
                </a:solidFill>
                <a:latin typeface="+mn-lt"/>
                <a:ea typeface="+mn-ea"/>
                <a:cs typeface="+mn-cs"/>
              </a:rPr>
              <a:t>additional references</a:t>
            </a:r>
          </a:p>
          <a:p>
            <a:pPr>
              <a:buFont typeface="Arial" pitchFamily="34" charset="0"/>
              <a:buChar char="•"/>
            </a:pPr>
            <a:r>
              <a:rPr lang="en-AU" sz="1200" kern="1200" dirty="0" smtClean="0">
                <a:solidFill>
                  <a:schemeClr val="tx1"/>
                </a:solidFill>
                <a:latin typeface="+mn-lt"/>
                <a:ea typeface="+mn-ea"/>
                <a:cs typeface="+mn-cs"/>
              </a:rPr>
              <a:t> Pre-read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the applicant’s original submission – together with any reports generated by others involved in the selection process (regarding possible need for practical tests, further telephone or other checks, queries to be raised during the interview, or perceived anomalies with a resumé requiring clarification)</a:t>
            </a:r>
          </a:p>
          <a:p>
            <a:pPr>
              <a:buFont typeface="Arial" pitchFamily="34" charset="0"/>
              <a:buChar char="•"/>
            </a:pPr>
            <a:r>
              <a:rPr lang="en-AU" sz="1200" kern="1200" dirty="0" smtClean="0">
                <a:solidFill>
                  <a:schemeClr val="tx1"/>
                </a:solidFill>
                <a:latin typeface="+mn-lt"/>
                <a:ea typeface="+mn-ea"/>
                <a:cs typeface="+mn-cs"/>
              </a:rPr>
              <a:t> Pre-read the job description and job specification for the job in question – so as to be familiar with what is required and to ensure the thinking of the interviewers is not out-of-date with reality, or out of synch with the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advertised requirements of the position</a:t>
            </a:r>
          </a:p>
          <a:p>
            <a:pPr>
              <a:buFont typeface="Arial" pitchFamily="34" charset="0"/>
              <a:buChar char="•"/>
            </a:pPr>
            <a:r>
              <a:rPr lang="en-AU" sz="1200" kern="1200" dirty="0" smtClean="0">
                <a:solidFill>
                  <a:schemeClr val="tx1"/>
                </a:solidFill>
                <a:latin typeface="+mn-lt"/>
                <a:ea typeface="+mn-ea"/>
                <a:cs typeface="+mn-cs"/>
              </a:rPr>
              <a:t> Pre-read the Key Selection Criteria – to reinforce familiarity with non-negotiable requirements of the position</a:t>
            </a:r>
          </a:p>
          <a:p>
            <a:pPr>
              <a:buFont typeface="Arial" pitchFamily="34" charset="0"/>
              <a:buChar char="•"/>
            </a:pPr>
            <a:r>
              <a:rPr lang="en-AU" sz="1200" kern="1200" dirty="0" smtClean="0">
                <a:solidFill>
                  <a:schemeClr val="tx1"/>
                </a:solidFill>
                <a:latin typeface="+mn-lt"/>
                <a:ea typeface="+mn-ea"/>
                <a:cs typeface="+mn-cs"/>
              </a:rPr>
              <a:t> Arranged for a quiet, undisturbed, comfortable, non-threatening environment in which to conduct the interview</a:t>
            </a:r>
          </a:p>
          <a:p>
            <a:pPr>
              <a:buFont typeface="Arial" pitchFamily="34" charset="0"/>
              <a:buChar char="•"/>
            </a:pPr>
            <a:r>
              <a:rPr lang="en-AU" sz="1200" kern="1200" dirty="0" smtClean="0">
                <a:solidFill>
                  <a:schemeClr val="tx1"/>
                </a:solidFill>
                <a:latin typeface="+mn-lt"/>
                <a:ea typeface="+mn-ea"/>
                <a:cs typeface="+mn-cs"/>
              </a:rPr>
              <a:t> Where a panel interview is to be used, determine who will take various roles in the interview – working out who will welcome the candidate, who will introduce the other members on the panel, who will ask which questions, who will go first, who will close the interview.</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suitable HR manager (or similar) to attend and:</a:t>
            </a:r>
          </a:p>
          <a:p>
            <a:pPr>
              <a:buFont typeface="Arial" pitchFamily="34" charset="0"/>
              <a:buChar char="•"/>
            </a:pPr>
            <a:r>
              <a:rPr lang="en-US" b="0" dirty="0" smtClean="0"/>
              <a:t> Discuss their views on</a:t>
            </a:r>
            <a:r>
              <a:rPr lang="en-US" b="0" baseline="0" dirty="0" smtClean="0"/>
              <a:t> interviewing applications for vacancies</a:t>
            </a:r>
          </a:p>
          <a:p>
            <a:pPr>
              <a:buFont typeface="Arial" pitchFamily="34" charset="0"/>
              <a:buChar char="•"/>
            </a:pPr>
            <a:r>
              <a:rPr lang="en-US" b="0" baseline="0" dirty="0" smtClean="0"/>
              <a:t> Present details of the planning and preparation they do prior to an interview</a:t>
            </a:r>
          </a:p>
          <a:p>
            <a:pPr>
              <a:buFont typeface="Arial" pitchFamily="34" charset="0"/>
              <a:buChar char="•"/>
            </a:pPr>
            <a:r>
              <a:rPr lang="en-US" b="0" baseline="0" dirty="0" smtClean="0"/>
              <a:t> Provide examples of documentation they use related to interviews</a:t>
            </a:r>
          </a:p>
          <a:p>
            <a:pPr>
              <a:buFont typeface="Arial" pitchFamily="34" charset="0"/>
              <a:buChar char="•"/>
            </a:pPr>
            <a:r>
              <a:rPr lang="en-US" b="0" baseline="0" dirty="0" smtClean="0"/>
              <a:t> Give opinions and tips on effective interview techniques.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describes for trainees the practices that should occur at</a:t>
            </a:r>
            <a:r>
              <a:rPr lang="en-US" baseline="0" dirty="0" smtClean="0"/>
              <a:t> the start of an interview.</a:t>
            </a:r>
          </a:p>
          <a:p>
            <a:pPr>
              <a:buFont typeface="Arial" pitchFamily="34" charset="0"/>
              <a:buNone/>
            </a:pPr>
            <a:endParaRPr lang="en-AU" sz="1200" kern="1200" dirty="0" smtClean="0">
              <a:solidFill>
                <a:schemeClr val="tx1"/>
              </a:solidFill>
              <a:latin typeface="+mn-lt"/>
              <a:ea typeface="+mn-ea"/>
              <a:cs typeface="+mn-cs"/>
            </a:endParaRPr>
          </a:p>
          <a:p>
            <a:pPr lvl="1">
              <a:buFont typeface="Arial" pitchFamily="34" charset="0"/>
              <a:buChar char="•"/>
            </a:pPr>
            <a:r>
              <a:rPr lang="en-AU" sz="1200" kern="1200" dirty="0" smtClean="0">
                <a:solidFill>
                  <a:schemeClr val="tx1"/>
                </a:solidFill>
                <a:latin typeface="+mn-lt"/>
                <a:ea typeface="+mn-ea"/>
                <a:cs typeface="+mn-cs"/>
              </a:rPr>
              <a:t> Greet the applicant – this must be done to demonstrate it is a pleasure to see them (body language is obviously very important, and what is said at this stage may also have been planned in advance in order to send the right message).</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is vital this greeting does not send the message the process is being rushed, interviewers are upset or under any sort of other pressure.</a:t>
            </a:r>
          </a:p>
          <a:p>
            <a:pPr lvl="1">
              <a:buFont typeface="Arial" pitchFamily="34" charset="0"/>
              <a:buChar char="•"/>
            </a:pPr>
            <a:r>
              <a:rPr lang="en-AU" sz="1200" kern="1200" dirty="0" smtClean="0">
                <a:solidFill>
                  <a:schemeClr val="tx1"/>
                </a:solidFill>
                <a:latin typeface="+mn-lt"/>
                <a:ea typeface="+mn-ea"/>
                <a:cs typeface="+mn-cs"/>
              </a:rPr>
              <a:t> Smile and offer a hand to shake hands with the candidate.</a:t>
            </a:r>
            <a:r>
              <a:rPr lang="en-AU" sz="1200" kern="1200" baseline="0" dirty="0" smtClean="0">
                <a:solidFill>
                  <a:schemeClr val="tx1"/>
                </a:solidFill>
                <a:latin typeface="+mn-lt"/>
                <a:ea typeface="+mn-ea"/>
                <a:cs typeface="+mn-cs"/>
              </a:rPr>
              <a:t> A</a:t>
            </a:r>
            <a:r>
              <a:rPr lang="en-AU" sz="1200" kern="1200" dirty="0" smtClean="0">
                <a:solidFill>
                  <a:schemeClr val="tx1"/>
                </a:solidFill>
                <a:latin typeface="+mn-lt"/>
                <a:ea typeface="+mn-ea"/>
                <a:cs typeface="+mn-cs"/>
              </a:rPr>
              <a:t>lways be prepared for the candidate to offer their hand.</a:t>
            </a:r>
          </a:p>
          <a:p>
            <a:pPr lvl="1">
              <a:buFont typeface="Arial" pitchFamily="34" charset="0"/>
              <a:buChar char="•"/>
            </a:pPr>
            <a:r>
              <a:rPr lang="en-AU" sz="1200" kern="1200" dirty="0" smtClean="0">
                <a:solidFill>
                  <a:schemeClr val="tx1"/>
                </a:solidFill>
                <a:latin typeface="+mn-lt"/>
                <a:ea typeface="+mn-ea"/>
                <a:cs typeface="+mn-cs"/>
              </a:rPr>
              <a:t> Put the applicant at ease – timing for the interview should allow a minute or two to provide some time for the interviewee to settle down and adjust to the strange surroundings of an interview situation.  The candidate needs a moment to sum things up – consider offering a beverage in this space, or even engaging in some small talk about the weather </a:t>
            </a:r>
          </a:p>
          <a:p>
            <a:pPr lvl="1">
              <a:buFont typeface="Arial" pitchFamily="34" charset="0"/>
              <a:buChar char="•"/>
            </a:pPr>
            <a:r>
              <a:rPr lang="en-AU" sz="1200" kern="1200" dirty="0" smtClean="0">
                <a:solidFill>
                  <a:schemeClr val="tx1"/>
                </a:solidFill>
                <a:latin typeface="+mn-lt"/>
                <a:ea typeface="+mn-ea"/>
                <a:cs typeface="+mn-cs"/>
              </a:rPr>
              <a:t> Introduce self – and all other people who are on the interview panel. Make sure this is done clearly and without rushing.</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is important the candidate hears what is said and understands who the panel are. </a:t>
            </a:r>
          </a:p>
          <a:p>
            <a:pPr lvl="1">
              <a:buFont typeface="Arial" pitchFamily="34" charset="0"/>
              <a:buChar char="•"/>
            </a:pPr>
            <a:r>
              <a:rPr lang="en-AU" sz="1200" kern="1200" dirty="0" smtClean="0">
                <a:solidFill>
                  <a:schemeClr val="tx1"/>
                </a:solidFill>
                <a:latin typeface="+mn-lt"/>
                <a:ea typeface="+mn-ea"/>
                <a:cs typeface="+mn-cs"/>
              </a:rPr>
              <a:t> Give people’s names and their position within the business together with a quick word as to why they are part of the interview team. The names used when introductions are made should indicate the tenor and formality of the interview.</a:t>
            </a:r>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to trainees points to note when conducting the interview proper:</a:t>
            </a:r>
          </a:p>
          <a:p>
            <a:pPr>
              <a:buFont typeface="Arial" pitchFamily="34" charset="0"/>
              <a:buChar char="•"/>
            </a:pPr>
            <a:r>
              <a:rPr lang="en-AU" sz="1200" kern="1200" dirty="0" smtClean="0">
                <a:solidFill>
                  <a:schemeClr val="tx1"/>
                </a:solidFill>
                <a:latin typeface="+mn-lt"/>
                <a:ea typeface="+mn-ea"/>
                <a:cs typeface="+mn-cs"/>
              </a:rPr>
              <a:t> Prove familiarisation with applicant’s application and background by reference to their application form</a:t>
            </a:r>
            <a:r>
              <a:rPr lang="en-AU" sz="1200" kern="1200" baseline="0" dirty="0" smtClean="0">
                <a:solidFill>
                  <a:schemeClr val="tx1"/>
                </a:solidFill>
                <a:latin typeface="+mn-lt"/>
                <a:ea typeface="+mn-ea"/>
                <a:cs typeface="+mn-cs"/>
              </a:rPr>
              <a:t> or </a:t>
            </a:r>
            <a:r>
              <a:rPr lang="en-AU" sz="1200" kern="1200" dirty="0" err="1" smtClean="0">
                <a:solidFill>
                  <a:schemeClr val="tx1"/>
                </a:solidFill>
                <a:latin typeface="+mn-lt"/>
                <a:ea typeface="+mn-ea"/>
                <a:cs typeface="+mn-cs"/>
              </a:rPr>
              <a:t>resumé</a:t>
            </a:r>
            <a:r>
              <a:rPr lang="en-AU" sz="1200" kern="1200" dirty="0" smtClean="0">
                <a:solidFill>
                  <a:schemeClr val="tx1"/>
                </a:solidFill>
                <a:latin typeface="+mn-lt"/>
                <a:ea typeface="+mn-ea"/>
                <a:cs typeface="+mn-cs"/>
              </a:rPr>
              <a:t> – it is usual to compliment them on some aspect of their achievement or their application, experience or qualifications</a:t>
            </a:r>
          </a:p>
          <a:p>
            <a:pPr>
              <a:buFont typeface="Arial" pitchFamily="34" charset="0"/>
              <a:buChar char="•"/>
            </a:pPr>
            <a:r>
              <a:rPr lang="en-AU" sz="1200" kern="1200" dirty="0" smtClean="0">
                <a:solidFill>
                  <a:schemeClr val="tx1"/>
                </a:solidFill>
                <a:latin typeface="+mn-lt"/>
                <a:ea typeface="+mn-ea"/>
                <a:cs typeface="+mn-cs"/>
              </a:rPr>
              <a:t> State what the purpose of the interview is – options may include to obtain more in-depth information to use as the basis for final selection, to flesh out areas not fully addressed in a previous interview</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to gauge their interest in and commitment to a certain area.</a:t>
            </a:r>
            <a:r>
              <a:rPr lang="en-AU" sz="1200" kern="1200" baseline="0" dirty="0" smtClean="0">
                <a:solidFill>
                  <a:schemeClr val="tx1"/>
                </a:solidFill>
                <a:latin typeface="+mn-lt"/>
                <a:ea typeface="+mn-ea"/>
                <a:cs typeface="+mn-cs"/>
              </a:rPr>
              <a:t> A</a:t>
            </a:r>
            <a:r>
              <a:rPr lang="en-AU" sz="1200" kern="1200" dirty="0" smtClean="0">
                <a:solidFill>
                  <a:schemeClr val="tx1"/>
                </a:solidFill>
                <a:latin typeface="+mn-lt"/>
                <a:ea typeface="+mn-ea"/>
                <a:cs typeface="+mn-cs"/>
              </a:rPr>
              <a:t> quick review of the job description can be successfully used to achieve this. This part of the interview is also the usual time to ensure the candidate is aware of any non-negotiable aspects, or ‘challenging’ parts, of the job. Even where this information has been provided in job advertisements, on the application form or selection criteria it is important it is repeated here.</a:t>
            </a:r>
          </a:p>
          <a:p>
            <a:pPr>
              <a:buFont typeface="Arial" pitchFamily="34" charset="0"/>
              <a:buChar char="•"/>
            </a:pPr>
            <a:r>
              <a:rPr lang="en-AU" sz="1200" kern="1200" dirty="0" smtClean="0">
                <a:solidFill>
                  <a:schemeClr val="tx1"/>
                </a:solidFill>
                <a:latin typeface="+mn-lt"/>
                <a:ea typeface="+mn-ea"/>
                <a:cs typeface="+mn-cs"/>
              </a:rPr>
              <a:t> It may also be appropriate to provide a brief background of the organisation to help ‘set the scene’ for the interview – this can include a very brief outline of things such as where the business is heading and the scope and nature of proposed expansion. </a:t>
            </a:r>
          </a:p>
          <a:p>
            <a:pPr>
              <a:buFont typeface="Arial" pitchFamily="34" charset="0"/>
              <a:buChar char="•"/>
            </a:pPr>
            <a:r>
              <a:rPr lang="en-AU" sz="1200" kern="1200" dirty="0" smtClean="0">
                <a:solidFill>
                  <a:schemeClr val="tx1"/>
                </a:solidFill>
                <a:latin typeface="+mn-lt"/>
                <a:ea typeface="+mn-ea"/>
                <a:cs typeface="+mn-cs"/>
              </a:rPr>
              <a:t> Check the applicant is legally entitled to work – this is an important part of the process as the business does not want to waste time or money by hiring someone who is not legally entitled to work</a:t>
            </a:r>
          </a:p>
          <a:p>
            <a:pPr>
              <a:buFont typeface="Arial" pitchFamily="34" charset="0"/>
              <a:buChar char="•"/>
            </a:pPr>
            <a:r>
              <a:rPr lang="en-AU" sz="1200" kern="1200" dirty="0" smtClean="0">
                <a:solidFill>
                  <a:schemeClr val="tx1"/>
                </a:solidFill>
                <a:latin typeface="+mn-lt"/>
                <a:ea typeface="+mn-ea"/>
                <a:cs typeface="+mn-cs"/>
              </a:rPr>
              <a:t> When asking questions to the candidate, be direct and clear but try to avoid closed questions (those which can be answered with a simple ‘yes’ or ‘no’) – ask plenty of the ‘how’ and ‘why’ type questions which get the interviewee talking </a:t>
            </a:r>
          </a:p>
          <a:p>
            <a:pPr>
              <a:buFont typeface="Arial" pitchFamily="34" charset="0"/>
              <a:buChar char="•"/>
            </a:pPr>
            <a:r>
              <a:rPr lang="en-AU" sz="1200" kern="1200" dirty="0" smtClean="0">
                <a:solidFill>
                  <a:schemeClr val="tx1"/>
                </a:solidFill>
                <a:latin typeface="+mn-lt"/>
                <a:ea typeface="+mn-ea"/>
                <a:cs typeface="+mn-cs"/>
              </a:rPr>
              <a:t> Questions should have been designed to gain specific insight into areas of ‘concern’ identified as part of the short-listing process (there may be unexplained gaps in their employment history [why weren’t they employed for that period?]; they may have changed jobs every four months [why have they changed jobs with such regularity?]). These questions should focus on the applicant’s personality, ability, skills and suitability for the position.</a:t>
            </a:r>
          </a:p>
          <a:p>
            <a:pPr>
              <a:buFont typeface="Arial" pitchFamily="34" charset="0"/>
              <a:buNone/>
            </a:pPr>
            <a:endParaRPr lang="en-US" dirty="0" smtClean="0"/>
          </a:p>
          <a:p>
            <a:pPr>
              <a:buFont typeface="Arial" pitchFamily="34" charset="0"/>
              <a:buNone/>
            </a:pPr>
            <a:r>
              <a:rPr lang="en-US" b="1" dirty="0" smtClean="0"/>
              <a:t>Class Activity – Demonstration (Mock interview)</a:t>
            </a:r>
          </a:p>
          <a:p>
            <a:pPr>
              <a:buFont typeface="Arial" pitchFamily="34" charset="0"/>
              <a:buNone/>
            </a:pPr>
            <a:r>
              <a:rPr lang="en-US" b="0" dirty="0" smtClean="0"/>
              <a:t>Trainer arranges for experienced people (from the Training Institute or an</a:t>
            </a:r>
            <a:r>
              <a:rPr lang="en-US" b="0" baseline="0" dirty="0" smtClean="0"/>
              <a:t> industry workplace) to:</a:t>
            </a:r>
          </a:p>
          <a:p>
            <a:pPr>
              <a:buFont typeface="Arial" pitchFamily="34" charset="0"/>
              <a:buChar char="•"/>
            </a:pPr>
            <a:r>
              <a:rPr lang="en-US" b="0" baseline="0" dirty="0" smtClean="0"/>
              <a:t> Attend class</a:t>
            </a:r>
          </a:p>
          <a:p>
            <a:pPr>
              <a:buFont typeface="Arial" pitchFamily="34" charset="0"/>
              <a:buChar char="•"/>
            </a:pPr>
            <a:r>
              <a:rPr lang="en-US" b="0" baseline="0" dirty="0" smtClean="0"/>
              <a:t> Describe a job they will be interviewing for</a:t>
            </a:r>
          </a:p>
          <a:p>
            <a:pPr>
              <a:buFont typeface="Arial" pitchFamily="34" charset="0"/>
              <a:buChar char="•"/>
            </a:pPr>
            <a:r>
              <a:rPr lang="en-US" b="0" baseline="0" dirty="0" smtClean="0"/>
              <a:t> Arrange the room as required – explaining why this is being done the way it is</a:t>
            </a:r>
          </a:p>
          <a:p>
            <a:pPr>
              <a:buFont typeface="Arial" pitchFamily="34" charset="0"/>
              <a:buChar char="•"/>
            </a:pPr>
            <a:r>
              <a:rPr lang="en-US" b="0" baseline="0" dirty="0" smtClean="0"/>
              <a:t> Show/explain any prepared questions or documentation to be used throughout the demonstration</a:t>
            </a:r>
          </a:p>
          <a:p>
            <a:pPr>
              <a:buFont typeface="Arial" pitchFamily="34" charset="0"/>
              <a:buChar char="•"/>
            </a:pPr>
            <a:r>
              <a:rPr lang="en-US" b="0" baseline="0" dirty="0" smtClean="0"/>
              <a:t> Conduct the interview – welcoming the ‘interviewee’, asking planned questions and follow-up questions, demonstrating techniques they apply when interviewing staff</a:t>
            </a:r>
          </a:p>
          <a:p>
            <a:pPr>
              <a:buFont typeface="Arial" pitchFamily="34" charset="0"/>
              <a:buChar char="•"/>
            </a:pPr>
            <a:r>
              <a:rPr lang="en-US" b="0" baseline="0" dirty="0" smtClean="0"/>
              <a:t> De-brief after the  mock interview – explaining what they did and why they did it</a:t>
            </a:r>
          </a:p>
          <a:p>
            <a:pPr>
              <a:buFont typeface="Arial" pitchFamily="34" charset="0"/>
              <a:buChar char="•"/>
            </a:pPr>
            <a:r>
              <a:rPr lang="en-US" b="0" baseline="0" dirty="0" smtClean="0"/>
              <a:t> Answer questions from trainees.</a:t>
            </a:r>
          </a:p>
          <a:p>
            <a:pPr>
              <a:buFont typeface="Arial" pitchFamily="34" charset="0"/>
              <a:buNone/>
            </a:pPr>
            <a:r>
              <a:rPr lang="en-US" b="0" baseline="0" dirty="0" smtClean="0"/>
              <a:t>Trainer may elect to video-tape the mock interview for later analysis.</a:t>
            </a:r>
          </a:p>
          <a:p>
            <a:pPr>
              <a:buFont typeface="Arial" pitchFamily="34" charset="0"/>
              <a:buChar char="•"/>
            </a:pPr>
            <a:endParaRPr lang="en-US" b="0" baseline="0" dirty="0" smtClean="0"/>
          </a:p>
          <a:p>
            <a:pPr>
              <a:buFont typeface="Arial" pitchFamily="34" charset="0"/>
              <a:buChar char="•"/>
            </a:pPr>
            <a:endParaRPr lang="en-US" b="0" baseline="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to trainees points to note when conducting the interview proper:</a:t>
            </a:r>
          </a:p>
          <a:p>
            <a:pPr>
              <a:buFont typeface="Arial" pitchFamily="34" charset="0"/>
              <a:buChar char="•"/>
            </a:pPr>
            <a:r>
              <a:rPr lang="en-AU" sz="1200" kern="1200" dirty="0" smtClean="0">
                <a:solidFill>
                  <a:schemeClr val="tx1"/>
                </a:solidFill>
                <a:latin typeface="+mn-lt"/>
                <a:ea typeface="+mn-ea"/>
                <a:cs typeface="+mn-cs"/>
              </a:rPr>
              <a:t> Where specific answers to questions are required do not be afraid to re-state the question if a direct answer is not forthcoming from the applicant.</a:t>
            </a:r>
            <a:r>
              <a:rPr lang="en-AU" sz="1200" kern="1200" baseline="0" dirty="0" smtClean="0">
                <a:solidFill>
                  <a:schemeClr val="tx1"/>
                </a:solidFill>
                <a:latin typeface="+mn-lt"/>
                <a:ea typeface="+mn-ea"/>
                <a:cs typeface="+mn-cs"/>
              </a:rPr>
              <a:t> B</a:t>
            </a:r>
            <a:r>
              <a:rPr lang="en-AU" sz="1200" kern="1200" dirty="0" smtClean="0">
                <a:solidFill>
                  <a:schemeClr val="tx1"/>
                </a:solidFill>
                <a:latin typeface="+mn-lt"/>
                <a:ea typeface="+mn-ea"/>
                <a:cs typeface="+mn-cs"/>
              </a:rPr>
              <a:t>e on the look out for any reluctance to respond directly to questions especially where previous work or working relationships are concerned</a:t>
            </a:r>
          </a:p>
          <a:p>
            <a:pPr>
              <a:buFont typeface="Arial" pitchFamily="34" charset="0"/>
              <a:buChar char="•"/>
            </a:pPr>
            <a:r>
              <a:rPr lang="en-AU" sz="1200" kern="1200" dirty="0" smtClean="0">
                <a:solidFill>
                  <a:schemeClr val="tx1"/>
                </a:solidFill>
                <a:latin typeface="+mn-lt"/>
                <a:ea typeface="+mn-ea"/>
                <a:cs typeface="+mn-cs"/>
              </a:rPr>
              <a:t> Remember to keep quiet. When a question has been asked let the applicant answer it and listen to what they say.</a:t>
            </a:r>
            <a:r>
              <a:rPr lang="en-AU" sz="1200" kern="1200" baseline="0" dirty="0" smtClean="0">
                <a:solidFill>
                  <a:schemeClr val="tx1"/>
                </a:solidFill>
                <a:latin typeface="+mn-lt"/>
                <a:ea typeface="+mn-ea"/>
                <a:cs typeface="+mn-cs"/>
              </a:rPr>
              <a:t> D</a:t>
            </a:r>
            <a:r>
              <a:rPr lang="en-AU" sz="1200" kern="1200" dirty="0" smtClean="0">
                <a:solidFill>
                  <a:schemeClr val="tx1"/>
                </a:solidFill>
                <a:latin typeface="+mn-lt"/>
                <a:ea typeface="+mn-ea"/>
                <a:cs typeface="+mn-cs"/>
              </a:rPr>
              <a:t>o not rush them and never finish their sentences for them. Do not interrupt. Many interviewers see interviews as an opportunity for them to talk or to show off their knowledge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and this is to be avoided. The intent of the interview is to get the </a:t>
            </a:r>
            <a:r>
              <a:rPr lang="en-AU" sz="1200" i="1" kern="1200" dirty="0" smtClean="0">
                <a:solidFill>
                  <a:schemeClr val="tx1"/>
                </a:solidFill>
                <a:latin typeface="+mn-lt"/>
                <a:ea typeface="+mn-ea"/>
                <a:cs typeface="+mn-cs"/>
              </a:rPr>
              <a:t>applicant</a:t>
            </a:r>
            <a:r>
              <a:rPr lang="en-AU" sz="1200" kern="1200" dirty="0" smtClean="0">
                <a:solidFill>
                  <a:schemeClr val="tx1"/>
                </a:solidFill>
                <a:latin typeface="+mn-lt"/>
                <a:ea typeface="+mn-ea"/>
                <a:cs typeface="+mn-cs"/>
              </a:rPr>
              <a:t> talking, and to find out about them.</a:t>
            </a:r>
          </a:p>
          <a:p>
            <a:pPr>
              <a:buFont typeface="Arial" pitchFamily="34" charset="0"/>
              <a:buChar char="•"/>
            </a:pPr>
            <a:r>
              <a:rPr lang="en-AU" sz="1200" kern="1200" dirty="0" smtClean="0">
                <a:solidFill>
                  <a:schemeClr val="tx1"/>
                </a:solidFill>
                <a:latin typeface="+mn-lt"/>
                <a:ea typeface="+mn-ea"/>
                <a:cs typeface="+mn-cs"/>
              </a:rPr>
              <a:t> Try not to unfairly influence the applicant’s answers by giving off hints as to personal preferences, prejudices or bias.</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 intention is to identify the applicant’s thoughts and attitudes, not to get them to modify their opinions to accord with beliefs of the interviewers</a:t>
            </a:r>
          </a:p>
          <a:p>
            <a:pPr>
              <a:buFont typeface="Arial" pitchFamily="34" charset="0"/>
              <a:buChar char="•"/>
            </a:pPr>
            <a:r>
              <a:rPr lang="en-AU" sz="1200" kern="1200" dirty="0" smtClean="0">
                <a:solidFill>
                  <a:schemeClr val="tx1"/>
                </a:solidFill>
                <a:latin typeface="+mn-lt"/>
                <a:ea typeface="+mn-ea"/>
                <a:cs typeface="+mn-cs"/>
              </a:rPr>
              <a:t> Take notes if this will help – some people believe it only serves to make the applicant nervous, but many feel it is the only way to accurately record answers which are uncovered and the only way to obtain a useful record of events for later reference and decision-making after the interview.</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to trainees points to note when conducting the interview proper:</a:t>
            </a:r>
          </a:p>
          <a:p>
            <a:pPr>
              <a:buFont typeface="Arial" pitchFamily="34" charset="0"/>
              <a:buChar char="•"/>
            </a:pPr>
            <a:r>
              <a:rPr lang="en-AU" sz="1200" kern="1200" dirty="0" smtClean="0">
                <a:solidFill>
                  <a:schemeClr val="tx1"/>
                </a:solidFill>
                <a:latin typeface="+mn-lt"/>
                <a:ea typeface="+mn-ea"/>
                <a:cs typeface="+mn-cs"/>
              </a:rPr>
              <a:t> Do not adopt a dominating position during the interview – the applicant is nervous enough without being made to feel more uncomfortable by obvious signs of evident authority.</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In addition:</a:t>
            </a:r>
          </a:p>
          <a:p>
            <a:pPr lvl="1">
              <a:buFont typeface="Arial" pitchFamily="34" charset="0"/>
              <a:buChar char="•"/>
            </a:pPr>
            <a:r>
              <a:rPr lang="en-US" sz="1200" kern="1200" dirty="0" smtClean="0">
                <a:solidFill>
                  <a:schemeClr val="tx1"/>
                </a:solidFill>
                <a:latin typeface="+mn-lt"/>
                <a:ea typeface="+mn-ea"/>
                <a:cs typeface="+mn-cs"/>
              </a:rPr>
              <a:t> Do not stand while the applicant sits </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 not have them looking into the sun so they are unable to see properly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Do not ignore them while they talk – by attending to paperwork, adding up figures, or reading the newspaper.</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Follow the plan of the pre-determined structure of the interview – cover all the topics identified yet remain flexible enough to follow up any matters requiring extra attention. </a:t>
            </a:r>
          </a:p>
          <a:p>
            <a:pPr>
              <a:buFont typeface="Arial" pitchFamily="34" charset="0"/>
              <a:buChar char="•"/>
            </a:pPr>
            <a:r>
              <a:rPr lang="en-AU" sz="1200" kern="1200" dirty="0" smtClean="0">
                <a:solidFill>
                  <a:schemeClr val="tx1"/>
                </a:solidFill>
                <a:latin typeface="+mn-lt"/>
                <a:ea typeface="+mn-ea"/>
                <a:cs typeface="+mn-cs"/>
              </a:rPr>
              <a:t> It is good practice to make sure all applicants are asked the same standard battery of questions, even though certain applicants may be asked additional ones</a:t>
            </a:r>
          </a:p>
          <a:p>
            <a:pPr>
              <a:buFont typeface="Arial" pitchFamily="34" charset="0"/>
              <a:buChar char="•"/>
            </a:pPr>
            <a:r>
              <a:rPr lang="en-AU" sz="1200" kern="1200" dirty="0" smtClean="0">
                <a:solidFill>
                  <a:schemeClr val="tx1"/>
                </a:solidFill>
                <a:latin typeface="+mn-lt"/>
                <a:ea typeface="+mn-ea"/>
                <a:cs typeface="+mn-cs"/>
              </a:rPr>
              <a:t> Encourage the applicant to clarify questions they are unclear about, and provide a time for them to ask questions of their own.</a:t>
            </a:r>
            <a:r>
              <a:rPr lang="en-AU" sz="1200" kern="1200" baseline="0" dirty="0" smtClean="0">
                <a:solidFill>
                  <a:schemeClr val="tx1"/>
                </a:solidFill>
                <a:latin typeface="+mn-lt"/>
                <a:ea typeface="+mn-ea"/>
                <a:cs typeface="+mn-cs"/>
              </a:rPr>
              <a:t> R</a:t>
            </a:r>
            <a:r>
              <a:rPr lang="en-AU" sz="1200" kern="1200" dirty="0" smtClean="0">
                <a:solidFill>
                  <a:schemeClr val="tx1"/>
                </a:solidFill>
                <a:latin typeface="+mn-lt"/>
                <a:ea typeface="+mn-ea"/>
                <a:cs typeface="+mn-cs"/>
              </a:rPr>
              <a:t>emember the interview is a two-way thing.</a:t>
            </a:r>
            <a:r>
              <a:rPr lang="en-AU" sz="1200" kern="1200" baseline="0" dirty="0" smtClean="0">
                <a:solidFill>
                  <a:schemeClr val="tx1"/>
                </a:solidFill>
                <a:latin typeface="+mn-lt"/>
                <a:ea typeface="+mn-ea"/>
                <a:cs typeface="+mn-cs"/>
              </a:rPr>
              <a:t> N</a:t>
            </a:r>
            <a:r>
              <a:rPr lang="en-AU" sz="1200" kern="1200" dirty="0" smtClean="0">
                <a:solidFill>
                  <a:schemeClr val="tx1"/>
                </a:solidFill>
                <a:latin typeface="+mn-lt"/>
                <a:ea typeface="+mn-ea"/>
                <a:cs typeface="+mn-cs"/>
              </a:rPr>
              <a:t>ot only is the business interviewing them but they are also working out whether or not they want to become an employee</a:t>
            </a:r>
          </a:p>
          <a:p>
            <a:pPr>
              <a:buFont typeface="Arial" pitchFamily="34" charset="0"/>
              <a:buChar char="•"/>
            </a:pPr>
            <a:r>
              <a:rPr lang="en-AU" sz="1200" kern="1200" dirty="0" smtClean="0">
                <a:solidFill>
                  <a:schemeClr val="tx1"/>
                </a:solidFill>
                <a:latin typeface="+mn-lt"/>
                <a:ea typeface="+mn-ea"/>
                <a:cs typeface="+mn-cs"/>
              </a:rPr>
              <a:t> Adhere to scheduled times – finish the interview so the next one can begin on time. Try to avoid</a:t>
            </a:r>
            <a:r>
              <a:rPr lang="en-AU" sz="1200" kern="1200" baseline="0" dirty="0" smtClean="0">
                <a:solidFill>
                  <a:schemeClr val="tx1"/>
                </a:solidFill>
                <a:latin typeface="+mn-lt"/>
                <a:ea typeface="+mn-ea"/>
                <a:cs typeface="+mn-cs"/>
              </a:rPr>
              <a:t> running over time.</a:t>
            </a:r>
            <a:endParaRPr lang="en-AU" sz="1200" kern="1200" dirty="0" smtClean="0">
              <a:solidFill>
                <a:schemeClr val="tx1"/>
              </a:solidFill>
              <a:latin typeface="+mn-lt"/>
              <a:ea typeface="+mn-ea"/>
              <a:cs typeface="+mn-cs"/>
            </a:endParaRP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trainees with advice regarding closing</a:t>
            </a:r>
            <a:r>
              <a:rPr lang="en-US" baseline="0" dirty="0" smtClean="0"/>
              <a:t> a job vacancy interview:</a:t>
            </a:r>
          </a:p>
          <a:p>
            <a:pPr>
              <a:buFont typeface="Arial" pitchFamily="34" charset="0"/>
              <a:buChar char="•"/>
            </a:pPr>
            <a:r>
              <a:rPr lang="en-AU" sz="1200" kern="1200" dirty="0" smtClean="0">
                <a:solidFill>
                  <a:schemeClr val="tx1"/>
                </a:solidFill>
                <a:latin typeface="+mn-lt"/>
                <a:ea typeface="+mn-ea"/>
                <a:cs typeface="+mn-cs"/>
              </a:rPr>
              <a:t> Ask applicant if they have any further questions – and doing this in a way that encourages</a:t>
            </a:r>
            <a:r>
              <a:rPr lang="en-AU" sz="1200" kern="1200" baseline="0" dirty="0" smtClean="0">
                <a:solidFill>
                  <a:schemeClr val="tx1"/>
                </a:solidFill>
                <a:latin typeface="+mn-lt"/>
                <a:ea typeface="+mn-ea"/>
                <a:cs typeface="+mn-cs"/>
              </a:rPr>
              <a:t> them to ask</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Ask when the applicant is available to begin work if hired – it is advisable to ask this question of all candidates to prevent the applicant getting false hopes of being hired</a:t>
            </a:r>
          </a:p>
          <a:p>
            <a:pPr>
              <a:buFont typeface="Arial" pitchFamily="34" charset="0"/>
              <a:buChar char="•"/>
            </a:pPr>
            <a:r>
              <a:rPr lang="en-AU" sz="1200" kern="1200" dirty="0" smtClean="0">
                <a:solidFill>
                  <a:schemeClr val="tx1"/>
                </a:solidFill>
                <a:latin typeface="+mn-lt"/>
                <a:ea typeface="+mn-ea"/>
                <a:cs typeface="+mn-cs"/>
              </a:rPr>
              <a:t> Seek commitment from the applicant in terms of the tenure of the job – this requires a question seeking confirmation from the candidate they are willing and able to work the term required for the position</a:t>
            </a:r>
          </a:p>
          <a:p>
            <a:pPr>
              <a:buFont typeface="Arial" pitchFamily="34" charset="0"/>
              <a:buChar char="•"/>
            </a:pPr>
            <a:r>
              <a:rPr lang="en-AU" sz="1200" kern="1200" dirty="0" smtClean="0">
                <a:solidFill>
                  <a:schemeClr val="tx1"/>
                </a:solidFill>
                <a:latin typeface="+mn-lt"/>
                <a:ea typeface="+mn-ea"/>
                <a:cs typeface="+mn-cs"/>
              </a:rPr>
              <a:t> Ask applicant about pay expectations – this may be appropriate in some interviews and not in others: in some interviews, the plan may have already included a statement regarding the pay the position attracts so a question might be asked as to whether or not this pay rate meets their expectations.   In many cases pay rates are commonly offered on a take-it-or-leave-it basis. There is usually little or no room for pay negotiation but this should be addressed on a case-by-case basis, and there is an absolute</a:t>
            </a:r>
            <a:r>
              <a:rPr lang="en-AU" sz="1200" kern="1200" baseline="0" dirty="0" smtClean="0">
                <a:solidFill>
                  <a:schemeClr val="tx1"/>
                </a:solidFill>
                <a:latin typeface="+mn-lt"/>
                <a:ea typeface="+mn-ea"/>
                <a:cs typeface="+mn-cs"/>
              </a:rPr>
              <a:t> need </a:t>
            </a:r>
            <a:r>
              <a:rPr lang="en-AU" sz="1200" kern="1200" dirty="0" smtClean="0">
                <a:solidFill>
                  <a:schemeClr val="tx1"/>
                </a:solidFill>
                <a:latin typeface="+mn-lt"/>
                <a:ea typeface="+mn-ea"/>
                <a:cs typeface="+mn-cs"/>
              </a:rPr>
              <a:t>to be aware of any limitations applying to authority to make a financial</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commitment on behalf of the organisation.</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may be that </a:t>
            </a:r>
            <a:r>
              <a:rPr lang="en-AU" sz="1200" kern="1200" dirty="0" err="1" smtClean="0">
                <a:solidFill>
                  <a:schemeClr val="tx1"/>
                </a:solidFill>
                <a:latin typeface="+mn-lt"/>
                <a:ea typeface="+mn-ea"/>
                <a:cs typeface="+mn-cs"/>
              </a:rPr>
              <a:t>managementare</a:t>
            </a:r>
            <a:r>
              <a:rPr lang="en-AU" sz="1200" kern="1200" dirty="0" smtClean="0">
                <a:solidFill>
                  <a:schemeClr val="tx1"/>
                </a:solidFill>
                <a:latin typeface="+mn-lt"/>
                <a:ea typeface="+mn-ea"/>
                <a:cs typeface="+mn-cs"/>
              </a:rPr>
              <a:t> the only ones authorised to negotiate remuneration.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trainees with advice regarding closing</a:t>
            </a:r>
            <a:r>
              <a:rPr lang="en-US" baseline="0" dirty="0" smtClean="0"/>
              <a:t> a job vacancy interview:</a:t>
            </a:r>
          </a:p>
          <a:p>
            <a:pPr>
              <a:buFont typeface="Arial" pitchFamily="34" charset="0"/>
              <a:buChar char="•"/>
            </a:pPr>
            <a:r>
              <a:rPr lang="en-AU" sz="1200" kern="1200" dirty="0" smtClean="0">
                <a:solidFill>
                  <a:schemeClr val="tx1"/>
                </a:solidFill>
                <a:latin typeface="+mn-lt"/>
                <a:ea typeface="+mn-ea"/>
                <a:cs typeface="+mn-cs"/>
              </a:rPr>
              <a:t> Let them know what will happen next – they should be informed as to when they will be notified about how they went, and how they will be notified. Advise them if they are required to undertake any further selection processes such as practical tests or a medical examination</a:t>
            </a:r>
          </a:p>
          <a:p>
            <a:pPr>
              <a:buFont typeface="Arial" pitchFamily="34" charset="0"/>
              <a:buChar char="•"/>
            </a:pPr>
            <a:r>
              <a:rPr lang="en-AU" sz="1200" kern="1200" dirty="0" smtClean="0">
                <a:solidFill>
                  <a:schemeClr val="tx1"/>
                </a:solidFill>
                <a:latin typeface="+mn-lt"/>
                <a:ea typeface="+mn-ea"/>
                <a:cs typeface="+mn-cs"/>
              </a:rPr>
              <a:t> Confirm their contact information – even though they have submitted a resumé, people do re-locate and they do lose phones and change phone numbers. It is useful to verify at this stage to verify their current contact details. Where the candidate is currently working with another employer it can also be beneficial to clarify whether or not it is appropriate to contact them at work</a:t>
            </a:r>
          </a:p>
          <a:p>
            <a:pPr>
              <a:buFont typeface="Arial" pitchFamily="34" charset="0"/>
              <a:buChar char="•"/>
            </a:pPr>
            <a:r>
              <a:rPr lang="en-AU" sz="1200" kern="1200" dirty="0" smtClean="0">
                <a:solidFill>
                  <a:schemeClr val="tx1"/>
                </a:solidFill>
                <a:latin typeface="+mn-lt"/>
                <a:ea typeface="+mn-ea"/>
                <a:cs typeface="+mn-cs"/>
              </a:rPr>
              <a:t> Thank for their time in attending the interview – this demonstrates respect for their effort and is obviously the polite and correct thing to do.</a:t>
            </a:r>
            <a:r>
              <a:rPr lang="en-AU" sz="1200" kern="1200" baseline="0" dirty="0" smtClean="0">
                <a:solidFill>
                  <a:schemeClr val="tx1"/>
                </a:solidFill>
                <a:latin typeface="+mn-lt"/>
                <a:ea typeface="+mn-ea"/>
                <a:cs typeface="+mn-cs"/>
              </a:rPr>
              <a:t> D</a:t>
            </a:r>
            <a:r>
              <a:rPr lang="en-AU" sz="1200" kern="1200" dirty="0" smtClean="0">
                <a:solidFill>
                  <a:schemeClr val="tx1"/>
                </a:solidFill>
                <a:latin typeface="+mn-lt"/>
                <a:ea typeface="+mn-ea"/>
                <a:cs typeface="+mn-cs"/>
              </a:rPr>
              <a:t>etermine before-hand whether there will be a hand-shake with applicants as they leave.</a:t>
            </a:r>
          </a:p>
          <a:p>
            <a:pPr>
              <a:buFont typeface="Arial" pitchFamily="34" charset="0"/>
              <a:buNone/>
            </a:pPr>
            <a:endParaRPr lang="en-US" baseline="0" dirty="0" smtClean="0"/>
          </a:p>
          <a:p>
            <a:pPr>
              <a:buFont typeface="Arial" pitchFamily="34" charset="0"/>
              <a:buNone/>
            </a:pPr>
            <a:r>
              <a:rPr lang="en-US" b="1" baseline="0" dirty="0" smtClean="0"/>
              <a:t>Class Activity – Role Plays: Panel Interviews (Mock Interviews)</a:t>
            </a:r>
          </a:p>
          <a:p>
            <a:pPr>
              <a:buFont typeface="Arial" pitchFamily="34" charset="0"/>
              <a:buNone/>
            </a:pPr>
            <a:r>
              <a:rPr lang="en-US" b="0" baseline="0" dirty="0" smtClean="0"/>
              <a:t>Trainer prepares several scenarios suitable for trainees to enact a mock interview role  play by identifying for a variety of job vacancies:</a:t>
            </a:r>
          </a:p>
          <a:p>
            <a:pPr>
              <a:buFont typeface="Arial" pitchFamily="34" charset="0"/>
              <a:buChar char="•"/>
            </a:pPr>
            <a:r>
              <a:rPr lang="en-US" b="0" baseline="0" dirty="0" smtClean="0"/>
              <a:t> Position to be applied for</a:t>
            </a:r>
          </a:p>
          <a:p>
            <a:pPr>
              <a:buFont typeface="Arial" pitchFamily="34" charset="0"/>
              <a:buChar char="•"/>
            </a:pPr>
            <a:r>
              <a:rPr lang="en-US" b="0" baseline="0" dirty="0" smtClean="0"/>
              <a:t> Remuneration</a:t>
            </a:r>
          </a:p>
          <a:p>
            <a:pPr>
              <a:buFont typeface="Arial" pitchFamily="34" charset="0"/>
              <a:buChar char="•"/>
            </a:pPr>
            <a:r>
              <a:rPr lang="en-US" b="0" baseline="0" dirty="0" smtClean="0"/>
              <a:t> Job description and job specification</a:t>
            </a:r>
          </a:p>
          <a:p>
            <a:pPr>
              <a:buFont typeface="Arial" pitchFamily="34" charset="0"/>
              <a:buChar char="•"/>
            </a:pPr>
            <a:r>
              <a:rPr lang="en-US" b="0" baseline="0" dirty="0" smtClean="0"/>
              <a:t> KSC</a:t>
            </a:r>
          </a:p>
          <a:p>
            <a:pPr>
              <a:buFont typeface="Arial" pitchFamily="34" charset="0"/>
              <a:buChar char="•"/>
            </a:pPr>
            <a:r>
              <a:rPr lang="en-US" b="0" baseline="0" dirty="0" smtClean="0"/>
              <a:t> Interview rating sheet.</a:t>
            </a:r>
          </a:p>
          <a:p>
            <a:pPr>
              <a:buFont typeface="Arial" pitchFamily="34" charset="0"/>
              <a:buNone/>
            </a:pPr>
            <a:r>
              <a:rPr lang="en-US" b="0" baseline="0" dirty="0" smtClean="0"/>
              <a:t>Trainer distributes above information to selected small groups (‘interview panels’) of trainees and asks them to:</a:t>
            </a:r>
          </a:p>
          <a:p>
            <a:pPr>
              <a:buFont typeface="Arial" pitchFamily="34" charset="0"/>
              <a:buChar char="•"/>
            </a:pPr>
            <a:r>
              <a:rPr lang="en-US" b="0" baseline="0" dirty="0" smtClean="0"/>
              <a:t> Study the material/information provided</a:t>
            </a:r>
          </a:p>
          <a:p>
            <a:pPr>
              <a:buFont typeface="Arial" pitchFamily="34" charset="0"/>
              <a:buChar char="•"/>
            </a:pPr>
            <a:r>
              <a:rPr lang="en-US" b="0" baseline="0" dirty="0" smtClean="0"/>
              <a:t> Prepare questions for the interview</a:t>
            </a:r>
          </a:p>
          <a:p>
            <a:pPr>
              <a:buFont typeface="Arial" pitchFamily="34" charset="0"/>
              <a:buChar char="•"/>
            </a:pPr>
            <a:r>
              <a:rPr lang="en-US" b="0" baseline="0" dirty="0" smtClean="0"/>
              <a:t> Determine the structure of the interview</a:t>
            </a:r>
          </a:p>
          <a:p>
            <a:pPr>
              <a:buFont typeface="Arial" pitchFamily="34" charset="0"/>
              <a:buChar char="•"/>
            </a:pPr>
            <a:r>
              <a:rPr lang="en-US" b="0" baseline="0" dirty="0" smtClean="0"/>
              <a:t> Conduct the interview with trainer playing role of candidate.</a:t>
            </a:r>
          </a:p>
          <a:p>
            <a:pPr>
              <a:buFont typeface="Arial" pitchFamily="34" charset="0"/>
              <a:buNone/>
            </a:pPr>
            <a:r>
              <a:rPr lang="en-US" b="0" baseline="0" dirty="0" smtClean="0"/>
              <a:t>Trainer may video-tape the mock interview for later playback, discussion and analysis.</a:t>
            </a:r>
          </a:p>
          <a:p>
            <a:pPr>
              <a:buFont typeface="Arial" pitchFamily="34" charset="0"/>
              <a:buNone/>
            </a:pPr>
            <a:r>
              <a:rPr lang="en-US" b="0" baseline="0" dirty="0" smtClean="0"/>
              <a:t>Trainer to provide feedback to trainees on their performance during the mock interviews.</a:t>
            </a:r>
          </a:p>
          <a:p>
            <a:pPr>
              <a:buFont typeface="Arial" pitchFamily="34" charset="0"/>
              <a:buChar char="•"/>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to trainees it</a:t>
            </a:r>
            <a:r>
              <a:rPr lang="en-US" baseline="0" dirty="0" smtClean="0"/>
              <a:t> is </a:t>
            </a:r>
            <a:r>
              <a:rPr lang="en-AU" sz="1200" kern="1200" dirty="0" smtClean="0">
                <a:solidFill>
                  <a:schemeClr val="tx1"/>
                </a:solidFill>
                <a:latin typeface="+mn-lt"/>
                <a:ea typeface="+mn-ea"/>
                <a:cs typeface="+mn-cs"/>
              </a:rPr>
              <a:t>standard procedure </a:t>
            </a:r>
            <a:r>
              <a:rPr lang="en-AU" sz="1200" b="1" kern="1200" dirty="0" smtClean="0">
                <a:solidFill>
                  <a:schemeClr val="tx1"/>
                </a:solidFill>
                <a:latin typeface="+mn-lt"/>
                <a:ea typeface="+mn-ea"/>
                <a:cs typeface="+mn-cs"/>
              </a:rPr>
              <a:t>in some businesses </a:t>
            </a:r>
            <a:r>
              <a:rPr lang="en-AU" sz="1200" kern="1200" dirty="0" smtClean="0">
                <a:solidFill>
                  <a:schemeClr val="tx1"/>
                </a:solidFill>
                <a:latin typeface="+mn-lt"/>
                <a:ea typeface="+mn-ea"/>
                <a:cs typeface="+mn-cs"/>
              </a:rPr>
              <a:t>for nominated vacancies to require successful applicants to undertake relevant testing before they are hired highlighting:</a:t>
            </a:r>
          </a:p>
          <a:p>
            <a:pPr>
              <a:buFont typeface="Arial" pitchFamily="34" charset="0"/>
              <a:buChar char="•"/>
            </a:pPr>
            <a:r>
              <a:rPr lang="en-AU" sz="1200" kern="1200" dirty="0" smtClean="0">
                <a:solidFill>
                  <a:schemeClr val="tx1"/>
                </a:solidFill>
                <a:latin typeface="+mn-lt"/>
                <a:ea typeface="+mn-ea"/>
                <a:cs typeface="+mn-cs"/>
              </a:rPr>
              <a:t> There is a great difference between businesses in relation to the tests they apply to job applicants</a:t>
            </a:r>
          </a:p>
          <a:p>
            <a:pPr>
              <a:buFont typeface="Arial" pitchFamily="34" charset="0"/>
              <a:buChar char="•"/>
            </a:pPr>
            <a:r>
              <a:rPr lang="en-AU" sz="1200" kern="1200" dirty="0" smtClean="0">
                <a:solidFill>
                  <a:schemeClr val="tx1"/>
                </a:solidFill>
                <a:latin typeface="+mn-lt"/>
                <a:ea typeface="+mn-ea"/>
                <a:cs typeface="+mn-cs"/>
              </a:rPr>
              <a:t> Some organisations apply no testing at all </a:t>
            </a:r>
          </a:p>
          <a:p>
            <a:pPr>
              <a:buFont typeface="Arial" pitchFamily="34" charset="0"/>
              <a:buChar char="•"/>
            </a:pPr>
            <a:r>
              <a:rPr lang="en-AU" sz="1200" kern="1200" dirty="0" smtClean="0">
                <a:solidFill>
                  <a:schemeClr val="tx1"/>
                </a:solidFill>
                <a:latin typeface="+mn-lt"/>
                <a:ea typeface="+mn-ea"/>
                <a:cs typeface="+mn-cs"/>
              </a:rPr>
              <a:t> Others require a standard test for every candidate who has passed the interview process regardless of who they are, the position they are applying for, their age, their background or industry experience</a:t>
            </a:r>
          </a:p>
          <a:p>
            <a:pPr>
              <a:buFont typeface="Arial" pitchFamily="34" charset="0"/>
              <a:buChar char="•"/>
            </a:pPr>
            <a:r>
              <a:rPr lang="en-AU" sz="1200" kern="1200" dirty="0" smtClean="0">
                <a:solidFill>
                  <a:schemeClr val="tx1"/>
                </a:solidFill>
                <a:latin typeface="+mn-lt"/>
                <a:ea typeface="+mn-ea"/>
                <a:cs typeface="+mn-cs"/>
              </a:rPr>
              <a:t> Some apply selective testing – only testing where they feel it is necessary or advisable, or there is some concern about a candidate and their ability or status</a:t>
            </a:r>
          </a:p>
          <a:p>
            <a:pPr>
              <a:buFont typeface="Arial" pitchFamily="34" charset="0"/>
              <a:buChar char="•"/>
            </a:pPr>
            <a:r>
              <a:rPr lang="en-AU" sz="1200" kern="1200" dirty="0" smtClean="0">
                <a:solidFill>
                  <a:schemeClr val="tx1"/>
                </a:solidFill>
                <a:latin typeface="+mn-lt"/>
                <a:ea typeface="+mn-ea"/>
                <a:cs typeface="+mn-cs"/>
              </a:rPr>
              <a:t> Testing is usually done after interview and only applied to those candidates the enterprise feels they want to employ – testing other candidates is time consuming and potentially quite expensive.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 explains to trainees tests are conducted to:</a:t>
            </a:r>
          </a:p>
          <a:p>
            <a:pPr>
              <a:buFont typeface="Arial" pitchFamily="34" charset="0"/>
              <a:buChar char="•"/>
            </a:pPr>
            <a:r>
              <a:rPr lang="en-AU" sz="1200" kern="1200" dirty="0" smtClean="0">
                <a:solidFill>
                  <a:schemeClr val="tx1"/>
                </a:solidFill>
                <a:latin typeface="+mn-lt"/>
                <a:ea typeface="+mn-ea"/>
                <a:cs typeface="+mn-cs"/>
              </a:rPr>
              <a:t> Determine competency levels – these are the ‘trade’ or ‘technical ‘tests designed to identify skill and the need for on-the-job training, up-skilling or top-up training. </a:t>
            </a:r>
          </a:p>
          <a:p>
            <a:pPr lvl="1">
              <a:buFont typeface="Arial" pitchFamily="34" charset="0"/>
              <a:buChar char="•"/>
            </a:pPr>
            <a:r>
              <a:rPr lang="en-AU" sz="1200" kern="1200" dirty="0" smtClean="0">
                <a:solidFill>
                  <a:schemeClr val="tx1"/>
                </a:solidFill>
                <a:latin typeface="+mn-lt"/>
                <a:ea typeface="+mn-ea"/>
                <a:cs typeface="+mn-cs"/>
              </a:rPr>
              <a:t> These tests are conducted in the business, using workplace equipment, items and ingredients. Tests are observed by workplace management who produce a written or verbal report on the skills of the individual.</a:t>
            </a:r>
          </a:p>
          <a:p>
            <a:pPr lvl="1">
              <a:buFont typeface="Arial" pitchFamily="34" charset="0"/>
              <a:buChar char="•"/>
            </a:pPr>
            <a:r>
              <a:rPr lang="en-AU" sz="1200" kern="1200" dirty="0" smtClean="0">
                <a:solidFill>
                  <a:schemeClr val="tx1"/>
                </a:solidFill>
                <a:latin typeface="+mn-lt"/>
                <a:ea typeface="+mn-ea"/>
                <a:cs typeface="+mn-cs"/>
              </a:rPr>
              <a:t> Tests require the applicant to demonstrate one or more aspects of the job they are applying for in order, most commonly, to prove they have skills they have claimed. </a:t>
            </a:r>
          </a:p>
          <a:p>
            <a:pPr lvl="1">
              <a:buFont typeface="Arial" pitchFamily="34" charset="0"/>
              <a:buChar char="•"/>
            </a:pPr>
            <a:r>
              <a:rPr lang="en-AU" sz="1200" kern="1200" dirty="0" smtClean="0">
                <a:solidFill>
                  <a:schemeClr val="tx1"/>
                </a:solidFill>
                <a:latin typeface="+mn-lt"/>
                <a:ea typeface="+mn-ea"/>
                <a:cs typeface="+mn-cs"/>
              </a:rPr>
              <a:t> In some organisations, applicants are paid for their time when they undertake these mandatory tests.</a:t>
            </a:r>
          </a:p>
          <a:p>
            <a:pPr>
              <a:buFont typeface="Arial" pitchFamily="34" charset="0"/>
              <a:buChar char="•"/>
            </a:pPr>
            <a:r>
              <a:rPr lang="en-AU" sz="1200" kern="1200" dirty="0" smtClean="0">
                <a:solidFill>
                  <a:schemeClr val="tx1"/>
                </a:solidFill>
                <a:latin typeface="+mn-lt"/>
                <a:ea typeface="+mn-ea"/>
                <a:cs typeface="+mn-cs"/>
              </a:rPr>
              <a:t> Prove the health of the applicant:</a:t>
            </a:r>
          </a:p>
          <a:p>
            <a:pPr lvl="1">
              <a:buFont typeface="Arial" pitchFamily="34" charset="0"/>
              <a:buChar char="•"/>
            </a:pPr>
            <a:r>
              <a:rPr lang="en-AU" sz="1200" kern="1200" dirty="0" smtClean="0">
                <a:solidFill>
                  <a:schemeClr val="tx1"/>
                </a:solidFill>
                <a:latin typeface="+mn-lt"/>
                <a:ea typeface="+mn-ea"/>
                <a:cs typeface="+mn-cs"/>
              </a:rPr>
              <a:t> These are standard medical tests where the applicant is sent to a medical practitioner to have relevant tests conducted.</a:t>
            </a:r>
          </a:p>
          <a:p>
            <a:pPr lvl="1">
              <a:buFont typeface="Arial" pitchFamily="34" charset="0"/>
              <a:buChar char="•"/>
            </a:pPr>
            <a:r>
              <a:rPr lang="en-AU" sz="1200" kern="1200" dirty="0" smtClean="0">
                <a:solidFill>
                  <a:schemeClr val="tx1"/>
                </a:solidFill>
                <a:latin typeface="+mn-lt"/>
                <a:ea typeface="+mn-ea"/>
                <a:cs typeface="+mn-cs"/>
              </a:rPr>
              <a:t> Medical testing may be applied to identify any pre-existing injury or health condition</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to verify the applicant’s fitness for work. </a:t>
            </a:r>
          </a:p>
          <a:p>
            <a:pPr lvl="1">
              <a:buFont typeface="Arial" pitchFamily="34" charset="0"/>
              <a:buChar char="•"/>
            </a:pPr>
            <a:r>
              <a:rPr lang="en-AU" sz="1200" kern="1200" dirty="0" smtClean="0">
                <a:solidFill>
                  <a:schemeClr val="tx1"/>
                </a:solidFill>
                <a:latin typeface="+mn-lt"/>
                <a:ea typeface="+mn-ea"/>
                <a:cs typeface="+mn-cs"/>
              </a:rPr>
              <a:t> A written report is provided by the medical practitioner to management.</a:t>
            </a:r>
          </a:p>
          <a:p>
            <a:pPr lvl="0">
              <a:buFont typeface="Arial" pitchFamily="34" charset="0"/>
              <a:buChar char="•"/>
            </a:pPr>
            <a:r>
              <a:rPr lang="en-AU" sz="1200" kern="1200" dirty="0" smtClean="0">
                <a:solidFill>
                  <a:schemeClr val="tx1"/>
                </a:solidFill>
                <a:latin typeface="+mn-lt"/>
                <a:ea typeface="+mn-ea"/>
                <a:cs typeface="+mn-cs"/>
              </a:rPr>
              <a:t> Identify drugs and/or alcohol:</a:t>
            </a:r>
          </a:p>
          <a:p>
            <a:pPr lvl="1">
              <a:buFont typeface="Arial" pitchFamily="34" charset="0"/>
              <a:buChar char="•"/>
            </a:pPr>
            <a:r>
              <a:rPr lang="en-AU" sz="1200" kern="1200" dirty="0" smtClean="0">
                <a:solidFill>
                  <a:schemeClr val="tx1"/>
                </a:solidFill>
                <a:latin typeface="+mn-lt"/>
                <a:ea typeface="+mn-ea"/>
                <a:cs typeface="+mn-cs"/>
              </a:rPr>
              <a:t> More and more businesses are screening employees to identify if they are affected by drugs or alcohol</a:t>
            </a:r>
          </a:p>
          <a:p>
            <a:pPr lvl="1">
              <a:buFont typeface="Arial" pitchFamily="34" charset="0"/>
              <a:buChar char="•"/>
            </a:pPr>
            <a:r>
              <a:rPr lang="en-AU" sz="1200" kern="1200" dirty="0" smtClean="0">
                <a:solidFill>
                  <a:schemeClr val="tx1"/>
                </a:solidFill>
                <a:latin typeface="+mn-lt"/>
                <a:ea typeface="+mn-ea"/>
                <a:cs typeface="+mn-cs"/>
              </a:rPr>
              <a:t> Companies using this approach often have a ‘zero tolerance’ policy meaning any positive result means a potential job offer is withdrawn.</a:t>
            </a:r>
          </a:p>
          <a:p>
            <a:pPr lvl="0">
              <a:buFont typeface="Arial" pitchFamily="34" charset="0"/>
              <a:buChar char="•"/>
            </a:pPr>
            <a:r>
              <a:rPr lang="en-AU" sz="1200" kern="1200" dirty="0" smtClean="0">
                <a:solidFill>
                  <a:schemeClr val="tx1"/>
                </a:solidFill>
                <a:latin typeface="+mn-lt"/>
                <a:ea typeface="+mn-ea"/>
                <a:cs typeface="+mn-cs"/>
              </a:rPr>
              <a:t> Profile the person – by administering a battery</a:t>
            </a:r>
            <a:r>
              <a:rPr lang="en-AU" sz="1200" kern="1200" baseline="0" dirty="0" smtClean="0">
                <a:solidFill>
                  <a:schemeClr val="tx1"/>
                </a:solidFill>
                <a:latin typeface="+mn-lt"/>
                <a:ea typeface="+mn-ea"/>
                <a:cs typeface="+mn-cs"/>
              </a:rPr>
              <a:t> of tests/questions to determine the personality profile of the person. This can be useful in matching a person to a job role their personality is best suited to, and can give an insight into the best ways to communicate with or manage the individual</a:t>
            </a:r>
            <a:endParaRPr lang="en-AU"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tells trainees </a:t>
            </a:r>
            <a:r>
              <a:rPr lang="en-AU" sz="1200" kern="1200" dirty="0" smtClean="0">
                <a:solidFill>
                  <a:schemeClr val="tx1"/>
                </a:solidFill>
                <a:latin typeface="+mn-lt"/>
                <a:ea typeface="+mn-ea"/>
                <a:cs typeface="+mn-cs"/>
              </a:rPr>
              <a:t>after interviews have been conducted or testing has occurred, various internal processing and filing activities may occur.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Always follow house policies or established workplace practice when filing application</a:t>
            </a:r>
            <a:r>
              <a:rPr lang="en-AU" sz="1200" kern="1200" baseline="0" dirty="0" smtClean="0">
                <a:solidFill>
                  <a:schemeClr val="tx1"/>
                </a:solidFill>
                <a:latin typeface="+mn-lt"/>
                <a:ea typeface="+mn-ea"/>
                <a:cs typeface="+mn-cs"/>
              </a:rPr>
              <a:t> and interview </a:t>
            </a:r>
            <a:r>
              <a:rPr lang="en-AU" sz="1200" kern="1200" dirty="0" smtClean="0">
                <a:solidFill>
                  <a:schemeClr val="tx1"/>
                </a:solidFill>
                <a:latin typeface="+mn-lt"/>
                <a:ea typeface="+mn-ea"/>
                <a:cs typeface="+mn-cs"/>
              </a:rPr>
              <a:t>documentation including:</a:t>
            </a:r>
            <a:endParaRPr lang="en-AU" sz="1200" kern="1200" baseline="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Create a file for each vacancy that has been interviewed for – this may be a suspension file in a filing cabinet </a:t>
            </a:r>
          </a:p>
          <a:p>
            <a:pPr>
              <a:buFont typeface="Arial" pitchFamily="34" charset="0"/>
              <a:buChar char="•"/>
            </a:pPr>
            <a:r>
              <a:rPr lang="en-AU" sz="1200" kern="1200" dirty="0" smtClean="0">
                <a:solidFill>
                  <a:schemeClr val="tx1"/>
                </a:solidFill>
                <a:latin typeface="+mn-lt"/>
                <a:ea typeface="+mn-ea"/>
                <a:cs typeface="+mn-cs"/>
              </a:rPr>
              <a:t> Create a separate file for each candidate interviewed – this may be a manilla folder for each applicant </a:t>
            </a:r>
          </a:p>
          <a:p>
            <a:pPr>
              <a:buFont typeface="Arial" pitchFamily="34" charset="0"/>
              <a:buChar char="•"/>
            </a:pPr>
            <a:r>
              <a:rPr lang="en-AU" sz="1200" kern="1200" dirty="0" smtClean="0">
                <a:solidFill>
                  <a:schemeClr val="tx1"/>
                </a:solidFill>
                <a:latin typeface="+mn-lt"/>
                <a:ea typeface="+mn-ea"/>
                <a:cs typeface="+mn-cs"/>
              </a:rPr>
              <a:t> Write on the cover of each manilla folder information about the contents of the file – such as:</a:t>
            </a:r>
          </a:p>
          <a:p>
            <a:pPr lvl="1">
              <a:buFont typeface="Arial" pitchFamily="34" charset="0"/>
              <a:buChar char="•"/>
            </a:pPr>
            <a:r>
              <a:rPr lang="en-US" sz="1200" kern="1200" dirty="0" smtClean="0">
                <a:solidFill>
                  <a:schemeClr val="tx1"/>
                </a:solidFill>
                <a:latin typeface="+mn-lt"/>
                <a:ea typeface="+mn-ea"/>
                <a:cs typeface="+mn-cs"/>
              </a:rPr>
              <a:t> Name of the applicant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Name of every document contained in the file – for example:</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Application form</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Resumé</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Names of copies of certificates accompanying the application</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Date application received</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Create or update a register of applications – this provides an overview of the names of applicants and the number of applications received.</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his can be used to decide whether or not the vacancy needs to be re-advertised before interviews are conducted or people selected.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activities involved in </a:t>
            </a:r>
            <a:r>
              <a:rPr lang="en-AU" sz="1200" kern="1200" dirty="0" smtClean="0">
                <a:solidFill>
                  <a:schemeClr val="tx1"/>
                </a:solidFill>
                <a:latin typeface="+mn-lt"/>
                <a:ea typeface="+mn-ea"/>
                <a:cs typeface="+mn-cs"/>
              </a:rPr>
              <a:t>converting ‘application’ files to ‘interviewed’ files may involve:</a:t>
            </a:r>
          </a:p>
          <a:p>
            <a:pPr lvl="0">
              <a:buFont typeface="Arial" pitchFamily="34" charset="0"/>
              <a:buChar char="•"/>
            </a:pPr>
            <a:r>
              <a:rPr lang="en-US" sz="1200" kern="1200" dirty="0" smtClean="0">
                <a:solidFill>
                  <a:schemeClr val="tx1"/>
                </a:solidFill>
                <a:latin typeface="+mn-lt"/>
                <a:ea typeface="+mn-ea"/>
                <a:cs typeface="+mn-cs"/>
              </a:rPr>
              <a:t> Culling files of those who were not interviewed: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Returning to applicants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Shredding</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Sending letters of ‘Thanks and Regret’</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Retaining and converting files of all those who were interviewed – regardless of whether they received a job offer or not.</a:t>
            </a:r>
            <a:r>
              <a:rPr lang="en-US" sz="1200" kern="1200" baseline="0" dirty="0" smtClean="0">
                <a:solidFill>
                  <a:schemeClr val="tx1"/>
                </a:solidFill>
                <a:latin typeface="+mn-lt"/>
                <a:ea typeface="+mn-ea"/>
                <a:cs typeface="+mn-cs"/>
              </a:rPr>
              <a:t> T</a:t>
            </a:r>
            <a:r>
              <a:rPr lang="en-US" sz="1200" kern="1200" dirty="0" smtClean="0">
                <a:solidFill>
                  <a:schemeClr val="tx1"/>
                </a:solidFill>
                <a:latin typeface="+mn-lt"/>
                <a:ea typeface="+mn-ea"/>
                <a:cs typeface="+mn-cs"/>
              </a:rPr>
              <a:t>his is what is meant by keeping an application ‘on file’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Identifying new documents added to the file on the cover of the file – these documents may include ‘Interview rating sheets’ from the interview process as completed by interviewers. It is common practice in many establishments for all notes made during the actual interviews to be filed for future reference.  </a:t>
            </a:r>
          </a:p>
          <a:p>
            <a:pPr>
              <a:buFont typeface="Arial" pitchFamily="34" charset="0"/>
              <a:buChar char="•"/>
            </a:pPr>
            <a:r>
              <a:rPr lang="en-AU" sz="1200" kern="1200" dirty="0" smtClean="0">
                <a:solidFill>
                  <a:schemeClr val="tx1"/>
                </a:solidFill>
                <a:latin typeface="+mn-lt"/>
                <a:ea typeface="+mn-ea"/>
                <a:cs typeface="+mn-cs"/>
              </a:rPr>
              <a:t> These notes may be required to guide future deliberations, but may also be useful as reference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if an unsuccessful applicant alleges impropriety or lodges an appeal with authorities.</a:t>
            </a:r>
          </a:p>
          <a:p>
            <a:pPr>
              <a:buFont typeface="Arial" pitchFamily="34" charset="0"/>
              <a:buChar char="•"/>
            </a:pPr>
            <a:r>
              <a:rPr lang="en-AU" sz="1200" kern="1200" dirty="0" smtClean="0">
                <a:solidFill>
                  <a:schemeClr val="tx1"/>
                </a:solidFill>
                <a:latin typeface="+mn-lt"/>
                <a:ea typeface="+mn-ea"/>
                <a:cs typeface="+mn-cs"/>
              </a:rPr>
              <a:t> Update files as required – such as when results of tests and reference checks have been completed</a:t>
            </a:r>
          </a:p>
          <a:p>
            <a:pPr>
              <a:buFont typeface="Arial" pitchFamily="34" charset="0"/>
              <a:buChar char="•"/>
            </a:pPr>
            <a:r>
              <a:rPr lang="en-AU" sz="1200" kern="1200" dirty="0" smtClean="0">
                <a:solidFill>
                  <a:schemeClr val="tx1"/>
                </a:solidFill>
                <a:latin typeface="+mn-lt"/>
                <a:ea typeface="+mn-ea"/>
                <a:cs typeface="+mn-cs"/>
              </a:rPr>
              <a:t> Maintain the file according to house policy – that is, keeping the file for a nominated time period.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when </a:t>
            </a:r>
            <a:r>
              <a:rPr lang="en-AU" sz="1200" kern="1200" dirty="0" smtClean="0">
                <a:solidFill>
                  <a:schemeClr val="tx1"/>
                </a:solidFill>
                <a:latin typeface="+mn-lt"/>
                <a:ea typeface="+mn-ea"/>
                <a:cs typeface="+mn-cs"/>
              </a:rPr>
              <a:t>filing the materials identified on previous slides they may also be required to: </a:t>
            </a:r>
          </a:p>
          <a:p>
            <a:pPr>
              <a:buFont typeface="Arial" pitchFamily="34" charset="0"/>
              <a:buChar char="•"/>
            </a:pPr>
            <a:r>
              <a:rPr lang="en-AU" sz="1200" kern="1200" dirty="0" smtClean="0">
                <a:solidFill>
                  <a:schemeClr val="tx1"/>
                </a:solidFill>
                <a:latin typeface="+mn-lt"/>
                <a:ea typeface="+mn-ea"/>
                <a:cs typeface="+mn-cs"/>
              </a:rPr>
              <a:t> Detail a list of all the 'Thanks and Regret' letters that were sent – who they were sent to, when and how they were sent</a:t>
            </a:r>
          </a:p>
          <a:p>
            <a:pPr>
              <a:buFont typeface="Arial" pitchFamily="34" charset="0"/>
              <a:buChar char="•"/>
            </a:pPr>
            <a:r>
              <a:rPr lang="en-AU" sz="1200" kern="1200" dirty="0" smtClean="0">
                <a:solidFill>
                  <a:schemeClr val="tx1"/>
                </a:solidFill>
                <a:latin typeface="+mn-lt"/>
                <a:ea typeface="+mn-ea"/>
                <a:cs typeface="+mn-cs"/>
              </a:rPr>
              <a:t> Forward all applications that 'just missed out' to the Personnel department, or various department heads – so a pool of potential staff for future use can be generated.</a:t>
            </a:r>
          </a:p>
          <a:p>
            <a:pPr>
              <a:buFont typeface="Arial" pitchFamily="34" charset="0"/>
              <a:buChar char="•"/>
            </a:pPr>
            <a:r>
              <a:rPr lang="en-AU" sz="1200" kern="1200" dirty="0" smtClean="0">
                <a:solidFill>
                  <a:schemeClr val="tx1"/>
                </a:solidFill>
                <a:latin typeface="+mn-lt"/>
                <a:ea typeface="+mn-ea"/>
                <a:cs typeface="+mn-cs"/>
              </a:rPr>
              <a:t> Photocopy and forward all the details and documents of the successful applicants to the Human Resources Department or the department manager – for them to use as the basis for staring up an HR file for each new employee</a:t>
            </a:r>
          </a:p>
          <a:p>
            <a:pPr>
              <a:buFont typeface="Arial" pitchFamily="34" charset="0"/>
              <a:buChar char="•"/>
            </a:pPr>
            <a:r>
              <a:rPr lang="en-AU" sz="1200" kern="1200" dirty="0" smtClean="0">
                <a:solidFill>
                  <a:schemeClr val="tx1"/>
                </a:solidFill>
                <a:latin typeface="+mn-lt"/>
                <a:ea typeface="+mn-ea"/>
                <a:cs typeface="+mn-cs"/>
              </a:rPr>
              <a:t> Notify all relevant departments as necessary regarding the employment of a new person –so they can begin their work obtaining name badges, generating identity codes, obtaining uniforms, registering for induction and orientation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latin typeface="+mn-lt"/>
                <a:ea typeface="+mn-ea"/>
                <a:cs typeface="+mn-cs"/>
              </a:rPr>
              <a:t>trainee</a:t>
            </a:r>
            <a:r>
              <a:rPr lang="en-US" dirty="0" smtClean="0"/>
              <a:t>s the Performance Criteria for this Element, as listed on the slide.</a:t>
            </a:r>
          </a:p>
          <a:p>
            <a:pPr>
              <a:buFont typeface="Arial" pitchFamily="34" charset="0"/>
              <a:buNone/>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latin typeface="+mn-lt"/>
                <a:ea typeface="+mn-ea"/>
                <a:cs typeface="+mn-cs"/>
              </a:rPr>
              <a:t>trainee</a:t>
            </a:r>
            <a:r>
              <a:rPr lang="en-US" b="0" dirty="0" smtClean="0"/>
              <a:t>s questions regarding staff selection asking questions such as:</a:t>
            </a:r>
          </a:p>
          <a:p>
            <a:pPr>
              <a:buFont typeface="Arial" pitchFamily="34" charset="0"/>
              <a:buChar char="•"/>
            </a:pPr>
            <a:r>
              <a:rPr lang="en-US" b="0" dirty="0" smtClean="0"/>
              <a:t> On what basis should a hiring</a:t>
            </a:r>
            <a:r>
              <a:rPr lang="en-US" b="0" baseline="0" dirty="0" smtClean="0"/>
              <a:t> decision be based?</a:t>
            </a:r>
          </a:p>
          <a:p>
            <a:pPr>
              <a:buFont typeface="Arial" pitchFamily="34" charset="0"/>
              <a:buChar char="•"/>
            </a:pPr>
            <a:r>
              <a:rPr lang="en-US" b="0" baseline="0" dirty="0" smtClean="0"/>
              <a:t> How are successful applicants notified they have been successful in gaining employment?</a:t>
            </a:r>
          </a:p>
          <a:p>
            <a:pPr>
              <a:buFont typeface="Arial" pitchFamily="34" charset="0"/>
              <a:buChar char="•"/>
            </a:pPr>
            <a:r>
              <a:rPr lang="en-US" b="0" baseline="0" dirty="0" smtClean="0"/>
              <a:t> What is a ‘Letter of Thanks and Regret’?</a:t>
            </a:r>
          </a:p>
          <a:p>
            <a:pPr>
              <a:buFont typeface="Arial" pitchFamily="34" charset="0"/>
              <a:buChar char="•"/>
            </a:pPr>
            <a:r>
              <a:rPr lang="en-US" b="0" baseline="0" dirty="0" smtClean="0"/>
              <a:t> How do workplaces formalise the offer of a job to an applicant?</a:t>
            </a:r>
          </a:p>
          <a:p>
            <a:pPr>
              <a:buFont typeface="Arial" pitchFamily="34" charset="0"/>
              <a:buChar char="•"/>
            </a:pPr>
            <a:r>
              <a:rPr lang="en-US" b="0" baseline="0" dirty="0" smtClean="0"/>
              <a:t> What follow-up activities might be involved when a new staff member has been selected? </a:t>
            </a: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t>
            </a:r>
            <a:r>
              <a:rPr lang="en-AU" sz="1200" kern="1200" dirty="0" smtClean="0">
                <a:solidFill>
                  <a:schemeClr val="tx1"/>
                </a:solidFill>
                <a:latin typeface="+mn-lt"/>
                <a:ea typeface="+mn-ea"/>
                <a:cs typeface="+mn-cs"/>
              </a:rPr>
              <a:t>selection of staff to fill job vacancies should be based on picking the best staff for the job by comparing them to the predetermined key selection criteria for the position.</a:t>
            </a:r>
          </a:p>
          <a:p>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stage of the process involves:</a:t>
            </a:r>
          </a:p>
          <a:p>
            <a:pPr>
              <a:buFont typeface="Arial" pitchFamily="34" charset="0"/>
              <a:buChar char="•"/>
            </a:pPr>
            <a:r>
              <a:rPr lang="en-AU" sz="1200" kern="1200" dirty="0" smtClean="0">
                <a:solidFill>
                  <a:schemeClr val="tx1"/>
                </a:solidFill>
                <a:latin typeface="+mn-lt"/>
                <a:ea typeface="+mn-ea"/>
                <a:cs typeface="+mn-cs"/>
              </a:rPr>
              <a:t> Comparing the applicant with the internally generated job analysis, description and specification – and assessing the relevant suitability of each applicant on this basis</a:t>
            </a:r>
          </a:p>
          <a:p>
            <a:pPr>
              <a:buFont typeface="Arial" pitchFamily="34" charset="0"/>
              <a:buChar char="•"/>
            </a:pPr>
            <a:r>
              <a:rPr lang="en-AU" sz="1200" kern="1200" dirty="0" smtClean="0">
                <a:solidFill>
                  <a:schemeClr val="tx1"/>
                </a:solidFill>
                <a:latin typeface="+mn-lt"/>
                <a:ea typeface="+mn-ea"/>
                <a:cs typeface="+mn-cs"/>
              </a:rPr>
              <a:t> Reviewing the interview process and contemplating information obtained from the applicant, as well as opinions and impressions gained by the interviewers – this allows for ‘new information’ discovered at the interview</a:t>
            </a:r>
            <a:r>
              <a:rPr lang="en-AU" sz="1200" kern="1200" baseline="0" dirty="0" smtClean="0">
                <a:solidFill>
                  <a:schemeClr val="tx1"/>
                </a:solidFill>
                <a:latin typeface="+mn-lt"/>
                <a:ea typeface="+mn-ea"/>
                <a:cs typeface="+mn-cs"/>
              </a:rPr>
              <a:t> to be taken into account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Rating the applicants into priority order - who is the best candidate? Second-best? Remember the first choice may reject the job offer, may have got another job, or may be waiting for a better offer so it is always useful to pick the ‘top three’</a:t>
            </a:r>
          </a:p>
          <a:p>
            <a:pPr>
              <a:buFont typeface="Arial" pitchFamily="34" charset="0"/>
              <a:buChar char="•"/>
            </a:pPr>
            <a:r>
              <a:rPr lang="en-AU" sz="1200" kern="1200" dirty="0" smtClean="0">
                <a:solidFill>
                  <a:schemeClr val="tx1"/>
                </a:solidFill>
                <a:latin typeface="+mn-lt"/>
                <a:ea typeface="+mn-ea"/>
                <a:cs typeface="+mn-cs"/>
              </a:rPr>
              <a:t> Determining if an offer should be made to a candidate – or if whether there should be more interviews or re-advertising for the position.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it is useful</a:t>
            </a:r>
            <a:r>
              <a:rPr lang="en-US" baseline="0" dirty="0" smtClean="0"/>
              <a:t> </a:t>
            </a:r>
            <a:r>
              <a:rPr lang="en-AU" sz="1200" kern="1200" dirty="0" smtClean="0">
                <a:solidFill>
                  <a:schemeClr val="tx1"/>
                </a:solidFill>
                <a:latin typeface="+mn-lt"/>
                <a:ea typeface="+mn-ea"/>
                <a:cs typeface="+mn-cs"/>
              </a:rPr>
              <a:t>to use an Interview rating Sheet to rate every applicant against the selection criteria:</a:t>
            </a:r>
          </a:p>
          <a:p>
            <a:pPr>
              <a:buFont typeface="Arial" pitchFamily="34" charset="0"/>
              <a:buChar char="•"/>
            </a:pPr>
            <a:r>
              <a:rPr lang="en-AU" sz="1200" kern="1200" dirty="0" smtClean="0">
                <a:solidFill>
                  <a:schemeClr val="tx1"/>
                </a:solidFill>
                <a:latin typeface="+mn-lt"/>
                <a:ea typeface="+mn-ea"/>
                <a:cs typeface="+mn-cs"/>
              </a:rPr>
              <a:t> All scores given to an applicant for each criterion are totalled – the one with the biggest score gets the job</a:t>
            </a:r>
          </a:p>
          <a:p>
            <a:pPr>
              <a:buFont typeface="Arial" pitchFamily="34" charset="0"/>
              <a:buChar char="•"/>
            </a:pPr>
            <a:r>
              <a:rPr lang="en-AU" sz="1200" kern="1200" dirty="0" smtClean="0">
                <a:solidFill>
                  <a:schemeClr val="tx1"/>
                </a:solidFill>
                <a:latin typeface="+mn-lt"/>
                <a:ea typeface="+mn-ea"/>
                <a:cs typeface="+mn-cs"/>
              </a:rPr>
              <a:t> Every member of the interview panel should complete their own Interview rating Sheet – and scores are totalled for all interviewers at the end of the interview</a:t>
            </a:r>
          </a:p>
          <a:p>
            <a:pPr>
              <a:buFont typeface="Arial" pitchFamily="34" charset="0"/>
              <a:buChar char="•"/>
            </a:pPr>
            <a:r>
              <a:rPr lang="en-AU" sz="1200" kern="1200" dirty="0" smtClean="0">
                <a:solidFill>
                  <a:schemeClr val="tx1"/>
                </a:solidFill>
                <a:latin typeface="+mn-lt"/>
                <a:ea typeface="+mn-ea"/>
                <a:cs typeface="+mn-cs"/>
              </a:rPr>
              <a:t> This rating scheme is usually a one page form attached to the file of the applicant.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The file will contain the applicant’s resumé plus any application form, covering letter and copies of any qualifications and references submitted. It may also contain notes made by those who have conducted reference checks.</a:t>
            </a:r>
          </a:p>
          <a:p>
            <a:pPr>
              <a:buFont typeface="Arial" pitchFamily="34" charset="0"/>
              <a:buChar char="•"/>
            </a:pPr>
            <a:r>
              <a:rPr lang="en-AU" sz="1200" kern="1200" dirty="0" smtClean="0">
                <a:solidFill>
                  <a:schemeClr val="tx1"/>
                </a:solidFill>
                <a:latin typeface="+mn-lt"/>
                <a:ea typeface="+mn-ea"/>
                <a:cs typeface="+mn-cs"/>
              </a:rPr>
              <a:t> This rating form could also be used during the actual interview process to help record information obtained from the applicant during the interview. They are useful as they help compare ‘like with like’ by ‘forcing’ comparison of different people using the same reference points.</a:t>
            </a:r>
          </a:p>
          <a:p>
            <a:pPr>
              <a:buFont typeface="Arial" pitchFamily="34" charset="0"/>
              <a:buChar char="•"/>
            </a:pPr>
            <a:r>
              <a:rPr lang="en-AU" sz="1200" kern="1200" dirty="0" smtClean="0">
                <a:solidFill>
                  <a:schemeClr val="tx1"/>
                </a:solidFill>
                <a:latin typeface="+mn-lt"/>
                <a:ea typeface="+mn-ea"/>
                <a:cs typeface="+mn-cs"/>
              </a:rPr>
              <a:t> This approach can also be used to determine which applicants are short-listed.</a:t>
            </a:r>
          </a:p>
          <a:p>
            <a:pPr>
              <a:buFont typeface="Arial" pitchFamily="34" charset="0"/>
              <a:buNone/>
            </a:pPr>
            <a:endParaRPr lang="en-AU" sz="1200" kern="1200" dirty="0" smtClean="0">
              <a:solidFill>
                <a:schemeClr val="tx1"/>
              </a:solidFill>
              <a:latin typeface="+mn-lt"/>
              <a:ea typeface="+mn-ea"/>
              <a:cs typeface="+mn-cs"/>
            </a:endParaRPr>
          </a:p>
          <a:p>
            <a:pPr>
              <a:buFont typeface="Arial" pitchFamily="34" charset="0"/>
              <a:buNone/>
            </a:pPr>
            <a:r>
              <a:rPr lang="en-AU" sz="1200" b="1" kern="1200" dirty="0" smtClean="0">
                <a:solidFill>
                  <a:schemeClr val="tx1"/>
                </a:solidFill>
                <a:latin typeface="+mn-lt"/>
                <a:ea typeface="+mn-ea"/>
                <a:cs typeface="+mn-cs"/>
              </a:rPr>
              <a:t>Class Activity – Handouts</a:t>
            </a:r>
          </a:p>
          <a:p>
            <a:pPr>
              <a:buFont typeface="Arial" pitchFamily="34" charset="0"/>
              <a:buNone/>
            </a:pPr>
            <a:r>
              <a:rPr lang="en-AU" sz="1200" b="0" kern="1200" dirty="0" smtClean="0">
                <a:solidFill>
                  <a:schemeClr val="tx1"/>
                </a:solidFill>
                <a:latin typeface="+mn-lt"/>
                <a:ea typeface="+mn-ea"/>
                <a:cs typeface="+mn-cs"/>
              </a:rPr>
              <a:t>Trainer copies two sample Interview Rating Sheet provided in Trainee Manual:</a:t>
            </a:r>
          </a:p>
          <a:p>
            <a:pPr>
              <a:buFont typeface="Arial" pitchFamily="34" charset="0"/>
              <a:buChar char="•"/>
            </a:pPr>
            <a:r>
              <a:rPr lang="en-AU" sz="1200" b="0" kern="1200" dirty="0" smtClean="0">
                <a:solidFill>
                  <a:schemeClr val="tx1"/>
                </a:solidFill>
                <a:latin typeface="+mn-lt"/>
                <a:ea typeface="+mn-ea"/>
                <a:cs typeface="+mn-cs"/>
              </a:rPr>
              <a:t> Blank ‘Grand Hotel Interview Rating Sheet’</a:t>
            </a:r>
          </a:p>
          <a:p>
            <a:pPr>
              <a:buFont typeface="Arial" pitchFamily="34" charset="0"/>
              <a:buChar char="•"/>
            </a:pPr>
            <a:r>
              <a:rPr lang="en-AU" sz="1200" b="0" kern="1200" dirty="0" smtClean="0">
                <a:solidFill>
                  <a:schemeClr val="tx1"/>
                </a:solidFill>
                <a:latin typeface="+mn-lt"/>
                <a:ea typeface="+mn-ea"/>
                <a:cs typeface="+mn-cs"/>
              </a:rPr>
              <a:t> Completed ‘Grand Hotel Interview Rating Sheet’ for the position of Gaming Room Attendant, completed by Sally Kilpatrick.</a:t>
            </a:r>
          </a:p>
          <a:p>
            <a:pPr>
              <a:buFont typeface="Arial" pitchFamily="34" charset="0"/>
              <a:buNone/>
            </a:pPr>
            <a:r>
              <a:rPr lang="en-AU" sz="1200" b="0" kern="1200" dirty="0" smtClean="0">
                <a:solidFill>
                  <a:schemeClr val="tx1"/>
                </a:solidFill>
                <a:latin typeface="+mn-lt"/>
                <a:ea typeface="+mn-ea"/>
                <a:cs typeface="+mn-cs"/>
              </a:rPr>
              <a:t>Trainer:</a:t>
            </a:r>
          </a:p>
          <a:p>
            <a:pPr>
              <a:buFont typeface="Arial" pitchFamily="34" charset="0"/>
              <a:buChar char="•"/>
            </a:pPr>
            <a:r>
              <a:rPr lang="en-AU" sz="1200" b="0" kern="1200" dirty="0" smtClean="0">
                <a:solidFill>
                  <a:schemeClr val="tx1"/>
                </a:solidFill>
                <a:latin typeface="+mn-lt"/>
                <a:ea typeface="+mn-ea"/>
                <a:cs typeface="+mn-cs"/>
              </a:rPr>
              <a:t> Distributes blank copy and:</a:t>
            </a:r>
          </a:p>
          <a:p>
            <a:pPr lvl="1">
              <a:buFont typeface="Arial" pitchFamily="34" charset="0"/>
              <a:buChar char="•"/>
            </a:pPr>
            <a:r>
              <a:rPr lang="en-AU" sz="1200" b="0" kern="1200" dirty="0" smtClean="0">
                <a:solidFill>
                  <a:schemeClr val="tx1"/>
                </a:solidFill>
                <a:latin typeface="+mn-lt"/>
                <a:ea typeface="+mn-ea"/>
                <a:cs typeface="+mn-cs"/>
              </a:rPr>
              <a:t> Explains how the sheet is used by interviewers to score candidates</a:t>
            </a:r>
          </a:p>
          <a:p>
            <a:pPr lvl="1">
              <a:buFont typeface="Arial" pitchFamily="34" charset="0"/>
              <a:buChar char="•"/>
            </a:pPr>
            <a:r>
              <a:rPr lang="en-AU" sz="1200" b="0" kern="1200" dirty="0" smtClean="0">
                <a:solidFill>
                  <a:schemeClr val="tx1"/>
                </a:solidFill>
                <a:latin typeface="+mn-lt"/>
                <a:ea typeface="+mn-ea"/>
                <a:cs typeface="+mn-cs"/>
              </a:rPr>
              <a:t> Explains all the sections of the sheet</a:t>
            </a:r>
          </a:p>
          <a:p>
            <a:pPr lvl="1">
              <a:buFont typeface="Arial" pitchFamily="34" charset="0"/>
              <a:buChar char="•"/>
            </a:pPr>
            <a:r>
              <a:rPr lang="en-AU" sz="1200" b="0" kern="1200" dirty="0" smtClean="0">
                <a:solidFill>
                  <a:schemeClr val="tx1"/>
                </a:solidFill>
                <a:latin typeface="+mn-lt"/>
                <a:ea typeface="+mn-ea"/>
                <a:cs typeface="+mn-cs"/>
              </a:rPr>
              <a:t> Discusses need for interviewers to determine criteria to be used</a:t>
            </a:r>
          </a:p>
          <a:p>
            <a:pPr lvl="1">
              <a:buFont typeface="Arial" pitchFamily="34" charset="0"/>
              <a:buChar char="•"/>
            </a:pPr>
            <a:r>
              <a:rPr lang="en-AU" sz="1200" b="0" kern="1200" dirty="0" smtClean="0">
                <a:solidFill>
                  <a:schemeClr val="tx1"/>
                </a:solidFill>
                <a:latin typeface="+mn-lt"/>
                <a:ea typeface="+mn-ea"/>
                <a:cs typeface="+mn-cs"/>
              </a:rPr>
              <a:t> Identifies how KSC can be integrated into this form  </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Distributes completed copy and:</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Describes how it has been completed</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Asks trainees to identify who should be offered the job on the basis of the Interview Rating Sheet (Answer: Nicole North)</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Asks trainees who is second-best choice (Answer: Will Williams)</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latin typeface="+mn-lt"/>
                <a:ea typeface="+mn-ea"/>
                <a:cs typeface="+mn-cs"/>
              </a:rPr>
              <a:t> Asks trainees who is least preferable choice (Answer: Carla Young). </a:t>
            </a:r>
          </a:p>
          <a:p>
            <a:pPr lvl="0">
              <a:buFont typeface="Arial" pitchFamily="34" charset="0"/>
              <a:buChar char="•"/>
            </a:pPr>
            <a:endParaRPr lang="en-AU" sz="1200" b="0" kern="1200" dirty="0" smtClean="0">
              <a:solidFill>
                <a:schemeClr val="tx1"/>
              </a:solidFill>
              <a:latin typeface="+mn-lt"/>
              <a:ea typeface="+mn-ea"/>
              <a:cs typeface="+mn-cs"/>
            </a:endParaRPr>
          </a:p>
          <a:p>
            <a:pPr lvl="1">
              <a:buFont typeface="Arial" pitchFamily="34" charset="0"/>
              <a:buChar char="•"/>
            </a:pPr>
            <a:endParaRPr lang="en-AU" sz="1200" b="0" kern="1200" dirty="0" smtClean="0">
              <a:solidFill>
                <a:schemeClr val="tx1"/>
              </a:solidFill>
              <a:latin typeface="+mn-lt"/>
              <a:ea typeface="+mn-ea"/>
              <a:cs typeface="+mn-cs"/>
            </a:endParaRPr>
          </a:p>
          <a:p>
            <a:pPr>
              <a:buFont typeface="Arial" pitchFamily="34" charset="0"/>
              <a:buNone/>
            </a:pPr>
            <a:endParaRPr lang="en-AU" sz="1200" b="1"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trainees other considerations that may need to be factored in after an interview before selecting the best candidate for the job.</a:t>
            </a:r>
          </a:p>
          <a:p>
            <a:endParaRPr lang="en-US" dirty="0" smtClean="0"/>
          </a:p>
          <a:p>
            <a:r>
              <a:rPr lang="en-US" dirty="0" smtClean="0"/>
              <a:t>Scores on the Interview Rating Sheet may be a guide</a:t>
            </a:r>
            <a:r>
              <a:rPr lang="en-US" baseline="0" dirty="0" smtClean="0"/>
              <a:t> </a:t>
            </a:r>
            <a:r>
              <a:rPr lang="en-US" dirty="0" smtClean="0"/>
              <a:t>as to who should get the job as other factors may also impact:</a:t>
            </a:r>
          </a:p>
          <a:p>
            <a:pPr>
              <a:buFont typeface="Arial" pitchFamily="34" charset="0"/>
              <a:buChar char="•"/>
            </a:pPr>
            <a:r>
              <a:rPr lang="en-AU" sz="1200" kern="1200" dirty="0" smtClean="0">
                <a:solidFill>
                  <a:schemeClr val="tx1"/>
                </a:solidFill>
                <a:latin typeface="+mn-lt"/>
                <a:ea typeface="+mn-ea"/>
                <a:cs typeface="+mn-cs"/>
              </a:rPr>
              <a:t> Where notes have been made during the interview, these should be reviewed – usually extra comment will be added on the basis of feelings, reflections and observations regarding the applicant and these can be the cause of concern, or help to verify the most highly-rated candidate really is the best choice</a:t>
            </a:r>
          </a:p>
          <a:p>
            <a:pPr>
              <a:buFont typeface="Arial" pitchFamily="34" charset="0"/>
              <a:buChar char="•"/>
            </a:pPr>
            <a:r>
              <a:rPr lang="en-AU" sz="1200" kern="1200" dirty="0" smtClean="0">
                <a:solidFill>
                  <a:schemeClr val="tx1"/>
                </a:solidFill>
                <a:latin typeface="+mn-lt"/>
                <a:ea typeface="+mn-ea"/>
                <a:cs typeface="+mn-cs"/>
              </a:rPr>
              <a:t> Where panel interviews are being conducted it is best for panel members to complete and review their individual notes before they engage in discussion because the discussion may influence the notes they make</a:t>
            </a:r>
          </a:p>
          <a:p>
            <a:pPr>
              <a:buFont typeface="Arial" pitchFamily="34" charset="0"/>
              <a:buChar char="•"/>
            </a:pPr>
            <a:r>
              <a:rPr lang="en-AU" sz="1200" kern="1200" dirty="0" smtClean="0">
                <a:solidFill>
                  <a:schemeClr val="tx1"/>
                </a:solidFill>
                <a:latin typeface="+mn-lt"/>
                <a:ea typeface="+mn-ea"/>
                <a:cs typeface="+mn-cs"/>
              </a:rPr>
              <a:t> The notes made should be included, along with the rating sheet, in the interview file that has been created for each candidate. These documents can provide a useful basis for reference in the future and also assist in selecting an alternate employee where the first person chosen for the job refuses the job offer made to them.</a:t>
            </a:r>
          </a:p>
          <a:p>
            <a:pPr>
              <a:buFont typeface="Arial" pitchFamily="34" charset="0"/>
              <a:buNone/>
            </a:pPr>
            <a:endParaRPr lang="en-US" dirty="0" smtClean="0"/>
          </a:p>
          <a:p>
            <a:pPr>
              <a:buFont typeface="Arial" pitchFamily="34" charset="0"/>
              <a:buNone/>
            </a:pPr>
            <a:r>
              <a:rPr lang="en-US" b="1" dirty="0" smtClean="0"/>
              <a:t>Class Activity – Individual Exercise</a:t>
            </a:r>
          </a:p>
          <a:p>
            <a:pPr>
              <a:buFont typeface="Arial" pitchFamily="34" charset="0"/>
              <a:buNone/>
            </a:pPr>
            <a:r>
              <a:rPr lang="en-US" b="0" dirty="0" smtClean="0"/>
              <a:t>Trainer identifies one work position for each trainee and asks them to:</a:t>
            </a:r>
          </a:p>
          <a:p>
            <a:pPr>
              <a:buFont typeface="Arial" pitchFamily="34" charset="0"/>
              <a:buChar char="•"/>
            </a:pPr>
            <a:r>
              <a:rPr lang="en-US" b="0" dirty="0" smtClean="0"/>
              <a:t> Prepare a job description and job specification for the position</a:t>
            </a:r>
          </a:p>
          <a:p>
            <a:pPr>
              <a:buFont typeface="Arial" pitchFamily="34" charset="0"/>
              <a:buChar char="•"/>
            </a:pPr>
            <a:r>
              <a:rPr lang="en-US" b="0" dirty="0" smtClean="0"/>
              <a:t> Develop KSC for the position</a:t>
            </a:r>
          </a:p>
          <a:p>
            <a:pPr>
              <a:buFont typeface="Arial" pitchFamily="34" charset="0"/>
              <a:buChar char="•"/>
            </a:pPr>
            <a:r>
              <a:rPr lang="en-US" b="0" dirty="0" smtClean="0"/>
              <a:t> Create an</a:t>
            </a:r>
            <a:r>
              <a:rPr lang="en-US" b="0" baseline="0" dirty="0" smtClean="0"/>
              <a:t> Interview Rating Sheet for the position.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a:t>
            </a:r>
            <a:r>
              <a:rPr lang="en-US" baseline="0" dirty="0" smtClean="0"/>
              <a:t> the selection of many staff is done on other factors including:</a:t>
            </a:r>
          </a:p>
          <a:p>
            <a:pPr>
              <a:buFont typeface="Arial" pitchFamily="34" charset="0"/>
              <a:buChar char="•"/>
            </a:pPr>
            <a:r>
              <a:rPr lang="en-AU" sz="1200" kern="1200" dirty="0" smtClean="0">
                <a:solidFill>
                  <a:schemeClr val="tx1"/>
                </a:solidFill>
                <a:latin typeface="+mn-lt"/>
                <a:ea typeface="+mn-ea"/>
                <a:cs typeface="+mn-cs"/>
              </a:rPr>
              <a:t> Will the best candidate ‘fit in’ with the existing staff and with the organisation overall. While this consideration is not, on the surface, a very detached or professional one it can be critical in terms of maintaining the unity and cohesion of existing teams and in preserving the ‘happy and harmonious workplace’ that already exist. It may be counter-productive to hire someone who appears to be an excellent choice for the job but who upsets and annoys all the other staff, potentially creating management problems, causing other staff to leave and lowering both productivity and staff morale.</a:t>
            </a:r>
          </a:p>
          <a:p>
            <a:pPr>
              <a:buFont typeface="Arial" pitchFamily="34" charset="0"/>
              <a:buChar char="•"/>
            </a:pPr>
            <a:r>
              <a:rPr lang="en-AU" sz="1200" kern="1200" dirty="0" smtClean="0">
                <a:solidFill>
                  <a:schemeClr val="tx1"/>
                </a:solidFill>
                <a:latin typeface="+mn-lt"/>
                <a:ea typeface="+mn-ea"/>
                <a:cs typeface="+mn-cs"/>
              </a:rPr>
              <a:t> This means many interviews are conducted within an environment where interviewers are consistently asking themselves questions such as:</a:t>
            </a:r>
          </a:p>
          <a:p>
            <a:pPr lvl="1">
              <a:buFont typeface="Arial" pitchFamily="34" charset="0"/>
              <a:buChar char="•"/>
            </a:pPr>
            <a:r>
              <a:rPr lang="en-AU" sz="1200" kern="1200" dirty="0" smtClean="0">
                <a:solidFill>
                  <a:schemeClr val="tx1"/>
                </a:solidFill>
                <a:latin typeface="+mn-lt"/>
                <a:ea typeface="+mn-ea"/>
                <a:cs typeface="+mn-cs"/>
              </a:rPr>
              <a:t> “Could I work with this person?”</a:t>
            </a:r>
          </a:p>
          <a:p>
            <a:pPr lvl="1">
              <a:buFont typeface="Arial" pitchFamily="34" charset="0"/>
              <a:buChar char="•"/>
            </a:pPr>
            <a:r>
              <a:rPr lang="en-AU" sz="1200" kern="1200" dirty="0" smtClean="0">
                <a:solidFill>
                  <a:schemeClr val="tx1"/>
                </a:solidFill>
                <a:latin typeface="+mn-lt"/>
                <a:ea typeface="+mn-ea"/>
                <a:cs typeface="+mn-cs"/>
              </a:rPr>
              <a:t> “How will other staff get on with this person?”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informs trainees </a:t>
            </a:r>
            <a:r>
              <a:rPr lang="en-AU" sz="1200" kern="1200" dirty="0" smtClean="0">
                <a:solidFill>
                  <a:schemeClr val="tx1"/>
                </a:solidFill>
                <a:latin typeface="+mn-lt"/>
                <a:ea typeface="+mn-ea"/>
                <a:cs typeface="+mn-cs"/>
              </a:rPr>
              <a:t>when all applicants have been interviewed, or otherwise assessed, it is usual to make an employment offer to the successful applicant(s):</a:t>
            </a:r>
          </a:p>
          <a:p>
            <a:pPr>
              <a:buFont typeface="Arial" pitchFamily="34" charset="0"/>
              <a:buChar char="•"/>
            </a:pPr>
            <a:r>
              <a:rPr lang="en-AU" sz="1200" kern="1200" dirty="0" smtClean="0">
                <a:solidFill>
                  <a:schemeClr val="tx1"/>
                </a:solidFill>
                <a:latin typeface="+mn-lt"/>
                <a:ea typeface="+mn-ea"/>
                <a:cs typeface="+mn-cs"/>
              </a:rPr>
              <a:t> A telephone call is the usual way to do this – but other options may be approved by workplace management</a:t>
            </a:r>
          </a:p>
          <a:p>
            <a:pPr>
              <a:buFont typeface="Arial" pitchFamily="34" charset="0"/>
              <a:buChar char="•"/>
            </a:pPr>
            <a:r>
              <a:rPr lang="en-AU" sz="1200" kern="1200" dirty="0" smtClean="0">
                <a:solidFill>
                  <a:schemeClr val="tx1"/>
                </a:solidFill>
                <a:latin typeface="+mn-lt"/>
                <a:ea typeface="+mn-ea"/>
                <a:cs typeface="+mn-cs"/>
              </a:rPr>
              <a:t> The offer should be accompanies by a formal ‘Letter of Appointment’ – see next slides</a:t>
            </a:r>
          </a:p>
          <a:p>
            <a:pPr>
              <a:buFont typeface="Arial" pitchFamily="34" charset="0"/>
              <a:buChar char="•"/>
            </a:pPr>
            <a:r>
              <a:rPr lang="en-AU" sz="1200" kern="1200" dirty="0" smtClean="0">
                <a:solidFill>
                  <a:schemeClr val="tx1"/>
                </a:solidFill>
                <a:latin typeface="+mn-lt"/>
                <a:ea typeface="+mn-ea"/>
                <a:cs typeface="+mn-cs"/>
              </a:rPr>
              <a:t> Any offers must accommodate the requirements of enterprise policies and comply with any applicable legal requirements.</a:t>
            </a:r>
          </a:p>
          <a:p>
            <a:pPr>
              <a:buFont typeface="Arial" pitchFamily="34" charset="0"/>
              <a:buChar char="•"/>
            </a:pPr>
            <a:r>
              <a:rPr lang="en-AU" sz="1200" kern="1200" dirty="0" smtClean="0">
                <a:solidFill>
                  <a:schemeClr val="tx1"/>
                </a:solidFill>
                <a:latin typeface="+mn-lt"/>
                <a:ea typeface="+mn-ea"/>
                <a:cs typeface="+mn-cs"/>
              </a:rPr>
              <a:t> Whilst it is common practice to notify all unsuccessful applicants as soon as possible after a hiring decision has been made, it is also common to keep the ‘next best’ two or three applicants in reserve in case the first choice does not take up the job offer.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the use of a ‘Letter of Offer’ (also known as a ‘Letter of Appointment’):</a:t>
            </a:r>
          </a:p>
          <a:p>
            <a:pPr>
              <a:buFont typeface="Arial" pitchFamily="34" charset="0"/>
              <a:buChar char="•"/>
            </a:pPr>
            <a:r>
              <a:rPr lang="en-AU" sz="1200" kern="1200" dirty="0" smtClean="0">
                <a:solidFill>
                  <a:schemeClr val="tx1"/>
                </a:solidFill>
                <a:latin typeface="+mn-lt"/>
                <a:ea typeface="+mn-ea"/>
                <a:cs typeface="+mn-cs"/>
              </a:rPr>
              <a:t> In addition to a verbal offer of employment, employers should provide the successful candidate with a written offer – but not all employers do so unless there is a legal obligation to do so</a:t>
            </a:r>
          </a:p>
          <a:p>
            <a:pPr>
              <a:buFont typeface="Arial" pitchFamily="34" charset="0"/>
              <a:buChar char="•"/>
            </a:pPr>
            <a:r>
              <a:rPr lang="en-AU" sz="1200" kern="1200" dirty="0" smtClean="0">
                <a:solidFill>
                  <a:schemeClr val="tx1"/>
                </a:solidFill>
                <a:latin typeface="+mn-lt"/>
                <a:ea typeface="+mn-ea"/>
                <a:cs typeface="+mn-cs"/>
              </a:rPr>
              <a:t> In some cases, this may be a draft work contract, but a Letter of Offer, or Letter of Appointment is also a popular option.</a:t>
            </a:r>
          </a:p>
          <a:p>
            <a:pPr>
              <a:buFont typeface="Arial" pitchFamily="34" charset="0"/>
              <a:buChar char="•"/>
            </a:pPr>
            <a:r>
              <a:rPr lang="en-AU" sz="1200" kern="1200" dirty="0" smtClean="0">
                <a:solidFill>
                  <a:schemeClr val="tx1"/>
                </a:solidFill>
                <a:latin typeface="+mn-lt"/>
                <a:ea typeface="+mn-ea"/>
                <a:cs typeface="+mn-cs"/>
              </a:rPr>
              <a:t> A draft work contract will align with existing workplace contracts, tailor-made for the individual position and is commonly prepared by the HR office.</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trainees a</a:t>
            </a:r>
            <a:r>
              <a:rPr lang="en-AU" sz="1200" kern="1200" dirty="0" smtClean="0">
                <a:solidFill>
                  <a:schemeClr val="tx1"/>
                </a:solidFill>
                <a:latin typeface="+mn-lt"/>
                <a:ea typeface="+mn-ea"/>
                <a:cs typeface="+mn-cs"/>
              </a:rPr>
              <a:t> Letter of Appointment should include information such as:</a:t>
            </a:r>
          </a:p>
          <a:p>
            <a:pPr>
              <a:buFont typeface="Arial" pitchFamily="34" charset="0"/>
              <a:buChar char="•"/>
            </a:pPr>
            <a:r>
              <a:rPr lang="en-AU" sz="1200" kern="1200" dirty="0" smtClean="0">
                <a:solidFill>
                  <a:schemeClr val="tx1"/>
                </a:solidFill>
                <a:latin typeface="+mn-lt"/>
                <a:ea typeface="+mn-ea"/>
                <a:cs typeface="+mn-cs"/>
              </a:rPr>
              <a:t> When the successful candidate is expected to commence their employment – a day, date and time</a:t>
            </a:r>
          </a:p>
          <a:p>
            <a:pPr>
              <a:buFont typeface="Arial" pitchFamily="34" charset="0"/>
              <a:buChar char="•"/>
            </a:pPr>
            <a:r>
              <a:rPr lang="en-AU" sz="1200" kern="1200" dirty="0" smtClean="0">
                <a:solidFill>
                  <a:schemeClr val="tx1"/>
                </a:solidFill>
                <a:latin typeface="+mn-lt"/>
                <a:ea typeface="+mn-ea"/>
                <a:cs typeface="+mn-cs"/>
              </a:rPr>
              <a:t> The physical location where work is to comment – naming the business, giving a street address and the name of a department where the person will work or attend for initial induction</a:t>
            </a:r>
          </a:p>
          <a:p>
            <a:pPr>
              <a:buFont typeface="Arial" pitchFamily="34" charset="0"/>
              <a:buChar char="•"/>
            </a:pPr>
            <a:r>
              <a:rPr lang="en-AU" sz="1200" kern="1200" dirty="0" smtClean="0">
                <a:solidFill>
                  <a:schemeClr val="tx1"/>
                </a:solidFill>
                <a:latin typeface="+mn-lt"/>
                <a:ea typeface="+mn-ea"/>
                <a:cs typeface="+mn-cs"/>
              </a:rPr>
              <a:t> Identification of any award or agreement the person is to be engaged under – so they understand their conditions of employment</a:t>
            </a:r>
          </a:p>
          <a:p>
            <a:pPr>
              <a:buFont typeface="Arial" pitchFamily="34" charset="0"/>
              <a:buChar char="•"/>
            </a:pPr>
            <a:r>
              <a:rPr lang="en-AU" sz="1200" kern="1200" dirty="0" smtClean="0">
                <a:solidFill>
                  <a:schemeClr val="tx1"/>
                </a:solidFill>
                <a:latin typeface="+mn-lt"/>
                <a:ea typeface="+mn-ea"/>
                <a:cs typeface="+mn-cs"/>
              </a:rPr>
              <a:t> The job classification and employment status attaching to the position the person is being offered – for example ‘Beverage waiter – full-time’, or ‘Receptionist – part-time’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advise trainees regarding contents of a Letter of Application:</a:t>
            </a:r>
          </a:p>
          <a:p>
            <a:pPr>
              <a:buFont typeface="Arial" pitchFamily="34" charset="0"/>
              <a:buChar char="•"/>
            </a:pPr>
            <a:r>
              <a:rPr lang="en-AU" sz="1200" kern="1200" dirty="0" smtClean="0">
                <a:solidFill>
                  <a:schemeClr val="tx1"/>
                </a:solidFill>
                <a:latin typeface="+mn-lt"/>
                <a:ea typeface="+mn-ea"/>
                <a:cs typeface="+mn-cs"/>
              </a:rPr>
              <a:t> Details of any applicable probationary period – three months is a common term</a:t>
            </a:r>
          </a:p>
          <a:p>
            <a:pPr>
              <a:buFont typeface="Arial" pitchFamily="34" charset="0"/>
              <a:buChar char="•"/>
            </a:pPr>
            <a:r>
              <a:rPr lang="en-AU" sz="1200" kern="1200" dirty="0" smtClean="0">
                <a:solidFill>
                  <a:schemeClr val="tx1"/>
                </a:solidFill>
                <a:latin typeface="+mn-lt"/>
                <a:ea typeface="+mn-ea"/>
                <a:cs typeface="+mn-cs"/>
              </a:rPr>
              <a:t> Entitlements relating to annual leave and sick leave</a:t>
            </a:r>
          </a:p>
          <a:p>
            <a:pPr>
              <a:buFont typeface="Arial" pitchFamily="34" charset="0"/>
              <a:buChar char="•"/>
            </a:pPr>
            <a:r>
              <a:rPr lang="en-AU" sz="1200" kern="1200" dirty="0" smtClean="0">
                <a:solidFill>
                  <a:schemeClr val="tx1"/>
                </a:solidFill>
                <a:latin typeface="+mn-lt"/>
                <a:ea typeface="+mn-ea"/>
                <a:cs typeface="+mn-cs"/>
              </a:rPr>
              <a:t> Specified hours of work identifying start and finish times,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hours per week or fortnight</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or shift work. A statement is often included indicating ‘reasonable overtime’ is to be worked</a:t>
            </a:r>
          </a:p>
          <a:p>
            <a:pPr>
              <a:buFont typeface="Arial" pitchFamily="34" charset="0"/>
              <a:buChar char="•"/>
            </a:pPr>
            <a:r>
              <a:rPr lang="en-AU" sz="1200" kern="1200" dirty="0" smtClean="0">
                <a:solidFill>
                  <a:schemeClr val="tx1"/>
                </a:solidFill>
                <a:latin typeface="+mn-lt"/>
                <a:ea typeface="+mn-ea"/>
                <a:cs typeface="+mn-cs"/>
              </a:rPr>
              <a:t> Remuneration details specifying:</a:t>
            </a:r>
          </a:p>
          <a:p>
            <a:pPr lvl="1">
              <a:buFont typeface="Arial" pitchFamily="34" charset="0"/>
              <a:buChar char="•"/>
            </a:pPr>
            <a:r>
              <a:rPr lang="en-US" sz="1200" kern="1200" dirty="0" smtClean="0">
                <a:solidFill>
                  <a:schemeClr val="tx1"/>
                </a:solidFill>
                <a:latin typeface="+mn-lt"/>
                <a:ea typeface="+mn-ea"/>
                <a:cs typeface="+mn-cs"/>
              </a:rPr>
              <a:t> Pay per week</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or hour</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Day on which wages are paid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Method of payment for wages detailing if payment is made in cash, by cheque or via direct deposit into bank account</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Advice regarding legislated obligations – such as superannuation, taxation and other issues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advise trainees regarding contents of a Letter of Application:</a:t>
            </a:r>
          </a:p>
          <a:p>
            <a:pPr>
              <a:buFont typeface="Arial" pitchFamily="34" charset="0"/>
              <a:buChar char="•"/>
            </a:pPr>
            <a:r>
              <a:rPr lang="en-AU" sz="1200" kern="1200" dirty="0" smtClean="0">
                <a:solidFill>
                  <a:schemeClr val="tx1"/>
                </a:solidFill>
                <a:latin typeface="+mn-lt"/>
                <a:ea typeface="+mn-ea"/>
                <a:cs typeface="+mn-cs"/>
              </a:rPr>
              <a:t> A short-form job description – providing the basic duties required by the position. This should reflect what was discussed at the interview.</a:t>
            </a:r>
          </a:p>
          <a:p>
            <a:pPr>
              <a:buFont typeface="Arial" pitchFamily="34" charset="0"/>
              <a:buChar char="•"/>
            </a:pPr>
            <a:r>
              <a:rPr lang="en-AU" sz="1200" kern="1200" dirty="0" smtClean="0">
                <a:solidFill>
                  <a:schemeClr val="tx1"/>
                </a:solidFill>
                <a:latin typeface="+mn-lt"/>
                <a:ea typeface="+mn-ea"/>
                <a:cs typeface="+mn-cs"/>
              </a:rPr>
              <a:t> A brief description of the main duties involved</a:t>
            </a:r>
          </a:p>
          <a:p>
            <a:pPr>
              <a:buFont typeface="Arial" pitchFamily="34" charset="0"/>
              <a:buChar char="•"/>
            </a:pPr>
            <a:r>
              <a:rPr lang="en-AU" sz="1200" kern="1200" dirty="0" smtClean="0">
                <a:solidFill>
                  <a:schemeClr val="tx1"/>
                </a:solidFill>
                <a:latin typeface="+mn-lt"/>
                <a:ea typeface="+mn-ea"/>
                <a:cs typeface="+mn-cs"/>
              </a:rPr>
              <a:t> A date indicating when the  offer is valid to – and therefore when it expires, and when the offer will lapse</a:t>
            </a:r>
          </a:p>
          <a:p>
            <a:pPr>
              <a:buFont typeface="Arial" pitchFamily="34" charset="0"/>
              <a:buChar char="•"/>
            </a:pPr>
            <a:r>
              <a:rPr lang="en-AU" sz="1200" kern="1200" dirty="0" smtClean="0">
                <a:solidFill>
                  <a:schemeClr val="tx1"/>
                </a:solidFill>
                <a:latin typeface="+mn-lt"/>
                <a:ea typeface="+mn-ea"/>
                <a:cs typeface="+mn-cs"/>
              </a:rPr>
              <a:t> Action the applicant needs to take in order to accept the offer.</a:t>
            </a:r>
          </a:p>
          <a:p>
            <a:pPr>
              <a:buFont typeface="Arial" pitchFamily="34" charset="0"/>
              <a:buNone/>
            </a:pPr>
            <a:endParaRPr lang="en-US" dirty="0" smtClean="0"/>
          </a:p>
          <a:p>
            <a:pPr>
              <a:buFont typeface="Arial" pitchFamily="34" charset="0"/>
              <a:buNone/>
            </a:pPr>
            <a:r>
              <a:rPr lang="en-US" b="1" dirty="0" smtClean="0"/>
              <a:t>Class Activity – Handout </a:t>
            </a:r>
          </a:p>
          <a:p>
            <a:pPr>
              <a:buFont typeface="Arial" pitchFamily="34" charset="0"/>
              <a:buNone/>
            </a:pPr>
            <a:r>
              <a:rPr lang="en-US" b="0" dirty="0" smtClean="0"/>
              <a:t>Trainer obtains sample Letter of Appointment</a:t>
            </a:r>
            <a:r>
              <a:rPr lang="en-US" b="0" baseline="0" dirty="0" smtClean="0"/>
              <a:t> or </a:t>
            </a:r>
            <a:r>
              <a:rPr lang="en-US" b="0" dirty="0" smtClean="0"/>
              <a:t>draft work contract and:</a:t>
            </a:r>
          </a:p>
          <a:p>
            <a:pPr>
              <a:buFont typeface="Arial" pitchFamily="34" charset="0"/>
              <a:buChar char="•"/>
            </a:pPr>
            <a:r>
              <a:rPr lang="en-US" b="0" dirty="0" smtClean="0"/>
              <a:t> Distributes to trainees</a:t>
            </a:r>
          </a:p>
          <a:p>
            <a:pPr>
              <a:buFont typeface="Arial" pitchFamily="34" charset="0"/>
              <a:buChar char="•"/>
            </a:pPr>
            <a:r>
              <a:rPr lang="en-US" b="0" dirty="0" smtClean="0"/>
              <a:t> Discusses the contents of the document</a:t>
            </a:r>
          </a:p>
          <a:p>
            <a:pPr>
              <a:buFont typeface="Arial" pitchFamily="34" charset="0"/>
              <a:buChar char="•"/>
            </a:pPr>
            <a:r>
              <a:rPr lang="en-US" b="0" dirty="0" smtClean="0"/>
              <a:t> Explains why each statement</a:t>
            </a:r>
            <a:r>
              <a:rPr lang="en-US" b="0" baseline="0" dirty="0" smtClean="0"/>
              <a:t> </a:t>
            </a:r>
            <a:r>
              <a:rPr lang="en-US" b="0" dirty="0" smtClean="0"/>
              <a:t>is provided.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adds other important points for trainees to note when notifying successful applicants:</a:t>
            </a:r>
          </a:p>
          <a:p>
            <a:pPr>
              <a:buFont typeface="Arial" pitchFamily="34" charset="0"/>
              <a:buChar char="•"/>
            </a:pPr>
            <a:r>
              <a:rPr lang="en-AU" sz="1200" kern="1200" dirty="0" smtClean="0">
                <a:solidFill>
                  <a:schemeClr val="tx1"/>
                </a:solidFill>
                <a:latin typeface="+mn-lt"/>
                <a:ea typeface="+mn-ea"/>
                <a:cs typeface="+mn-cs"/>
              </a:rPr>
              <a:t> Only authorised personnel can make job offers – official approval from management may be required before making an offer</a:t>
            </a:r>
          </a:p>
          <a:p>
            <a:pPr>
              <a:buFont typeface="Arial" pitchFamily="34" charset="0"/>
              <a:buChar char="•"/>
            </a:pPr>
            <a:r>
              <a:rPr lang="en-AU" sz="1200" kern="1200" dirty="0" smtClean="0">
                <a:solidFill>
                  <a:schemeClr val="tx1"/>
                </a:solidFill>
                <a:latin typeface="+mn-lt"/>
                <a:ea typeface="+mn-ea"/>
                <a:cs typeface="+mn-cs"/>
              </a:rPr>
              <a:t> Management should read and approve Letters of Appointment before they are distributed – to ensure they are correct and to make sure they agree with what is contained in them</a:t>
            </a:r>
          </a:p>
          <a:p>
            <a:pPr>
              <a:buFont typeface="Arial" pitchFamily="34" charset="0"/>
              <a:buChar char="•"/>
            </a:pPr>
            <a:r>
              <a:rPr lang="en-AU" sz="1200" kern="1200" dirty="0" smtClean="0">
                <a:solidFill>
                  <a:schemeClr val="tx1"/>
                </a:solidFill>
                <a:latin typeface="+mn-lt"/>
                <a:ea typeface="+mn-ea"/>
                <a:cs typeface="+mn-cs"/>
              </a:rPr>
              <a:t> A copy of the Letter of Appointment should be included in the relevant file for the applicant – with dates identifying when the Letter was given and when the offer expires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advising trainees about additional points to note when notifying successful applicants:</a:t>
            </a:r>
          </a:p>
          <a:p>
            <a:pPr>
              <a:buFont typeface="Arial" pitchFamily="34" charset="0"/>
              <a:buChar char="•"/>
            </a:pPr>
            <a:r>
              <a:rPr lang="en-AU" sz="1200" kern="1200" dirty="0" smtClean="0">
                <a:solidFill>
                  <a:schemeClr val="tx1"/>
                </a:solidFill>
                <a:latin typeface="+mn-lt"/>
                <a:ea typeface="+mn-ea"/>
                <a:cs typeface="+mn-cs"/>
              </a:rPr>
              <a:t> Details of the selection process must be kept private – only those actually involved in the selection process should know how the choice of the successful applicant occurred</a:t>
            </a:r>
          </a:p>
          <a:p>
            <a:pPr>
              <a:buFont typeface="Arial" pitchFamily="34" charset="0"/>
              <a:buChar char="•"/>
            </a:pPr>
            <a:r>
              <a:rPr lang="en-AU" sz="1200" kern="1200" dirty="0" smtClean="0">
                <a:solidFill>
                  <a:schemeClr val="tx1"/>
                </a:solidFill>
                <a:latin typeface="+mn-lt"/>
                <a:ea typeface="+mn-ea"/>
                <a:cs typeface="+mn-cs"/>
              </a:rPr>
              <a:t> Some organisations will allow the Letter of Appointment to be taken away from the workplace</a:t>
            </a:r>
          </a:p>
          <a:p>
            <a:pPr>
              <a:buFont typeface="Arial" pitchFamily="34" charset="0"/>
              <a:buChar char="•"/>
            </a:pPr>
            <a:r>
              <a:rPr lang="en-AU" sz="1200" kern="1200" dirty="0" smtClean="0">
                <a:solidFill>
                  <a:schemeClr val="tx1"/>
                </a:solidFill>
                <a:latin typeface="+mn-lt"/>
                <a:ea typeface="+mn-ea"/>
                <a:cs typeface="+mn-cs"/>
              </a:rPr>
              <a:t> If the Letter of Offer is emailed or posted to the applicant it is a good idea to contact them to ensure they have received it – this is also an opportunity to respond to any queries the candidate may have.</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local industrial relations official to attend and:</a:t>
            </a:r>
          </a:p>
          <a:p>
            <a:pPr>
              <a:buFont typeface="Arial" pitchFamily="34" charset="0"/>
              <a:buChar char="•"/>
            </a:pPr>
            <a:r>
              <a:rPr lang="en-US" b="0" dirty="0" smtClean="0"/>
              <a:t> Talk to trainees about:</a:t>
            </a:r>
          </a:p>
          <a:p>
            <a:pPr lvl="1">
              <a:buFont typeface="Arial" pitchFamily="34" charset="0"/>
              <a:buChar char="•"/>
            </a:pPr>
            <a:r>
              <a:rPr lang="en-US" b="0" dirty="0" smtClean="0"/>
              <a:t> Requirements to be observed when offering employment to a person</a:t>
            </a:r>
          </a:p>
          <a:p>
            <a:pPr lvl="1">
              <a:buFont typeface="Arial" pitchFamily="34" charset="0"/>
              <a:buChar char="•"/>
            </a:pPr>
            <a:r>
              <a:rPr lang="en-US" b="0" dirty="0" smtClean="0"/>
              <a:t> Issues that cannot be included in an offer</a:t>
            </a:r>
          </a:p>
          <a:p>
            <a:pPr lvl="1">
              <a:buFont typeface="Arial" pitchFamily="34" charset="0"/>
              <a:buChar char="•"/>
            </a:pPr>
            <a:r>
              <a:rPr lang="en-US" b="0" dirty="0" smtClean="0"/>
              <a:t> Probationary periods</a:t>
            </a:r>
          </a:p>
          <a:p>
            <a:pPr lvl="1">
              <a:buFont typeface="Arial" pitchFamily="34" charset="0"/>
              <a:buChar char="•"/>
            </a:pPr>
            <a:r>
              <a:rPr lang="en-US" b="0" dirty="0" smtClean="0"/>
              <a:t> Their experience with good and bad offers, and those that have been illegal</a:t>
            </a:r>
          </a:p>
          <a:p>
            <a:pPr lvl="0">
              <a:buFont typeface="Arial" pitchFamily="34" charset="0"/>
              <a:buChar char="•"/>
            </a:pPr>
            <a:r>
              <a:rPr lang="en-US" b="0" dirty="0" smtClean="0"/>
              <a:t> Distribute to trainees:</a:t>
            </a:r>
          </a:p>
          <a:p>
            <a:pPr lvl="1">
              <a:buFont typeface="Arial" pitchFamily="34" charset="0"/>
              <a:buChar char="•"/>
            </a:pPr>
            <a:r>
              <a:rPr lang="en-US" b="0" dirty="0" smtClean="0"/>
              <a:t> Copies of relevant legislation,</a:t>
            </a:r>
            <a:r>
              <a:rPr lang="en-US" b="0" baseline="0" dirty="0" smtClean="0"/>
              <a:t> fact sheets, information</a:t>
            </a:r>
          </a:p>
          <a:p>
            <a:pPr lvl="1">
              <a:buFont typeface="Arial" pitchFamily="34" charset="0"/>
              <a:buChar char="•"/>
            </a:pPr>
            <a:r>
              <a:rPr lang="en-US" b="0" baseline="0" dirty="0" smtClean="0"/>
              <a:t> Sample Letters of Offer or work contracts</a:t>
            </a:r>
          </a:p>
          <a:p>
            <a:pPr lvl="1">
              <a:buFont typeface="Arial" pitchFamily="34" charset="0"/>
              <a:buChar char="•"/>
            </a:pPr>
            <a:r>
              <a:rPr lang="en-US" b="0" baseline="0" dirty="0" smtClean="0"/>
              <a:t> Contact details for later follow-up by trainees if required.</a:t>
            </a:r>
            <a:endParaRPr lang="en-US" b="0" dirty="0" smtClean="0"/>
          </a:p>
          <a:p>
            <a:pPr marL="228600" lvl="0" indent="-228600">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tells trainees it is </a:t>
            </a:r>
            <a:r>
              <a:rPr lang="en-AU" sz="1200" kern="1200" dirty="0" smtClean="0">
                <a:solidFill>
                  <a:schemeClr val="tx1"/>
                </a:solidFill>
                <a:latin typeface="+mn-lt"/>
                <a:ea typeface="+mn-ea"/>
                <a:cs typeface="+mn-cs"/>
              </a:rPr>
              <a:t>standard ‘best practice’ business practice is to notify applicants who have been unsuccessful in gaining employment.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The most common method of notifying applicants they have not been successful in obtaining employment is to send them a Letter of Thanks and Regret which is a standard ‘template’ letter on company letterhead paper which usually contains the following:</a:t>
            </a:r>
          </a:p>
          <a:p>
            <a:pPr>
              <a:buFont typeface="Arial" pitchFamily="34" charset="0"/>
              <a:buChar char="•"/>
            </a:pPr>
            <a:r>
              <a:rPr lang="en-AU" sz="1200" kern="1200" dirty="0" smtClean="0">
                <a:solidFill>
                  <a:schemeClr val="tx1"/>
                </a:solidFill>
                <a:latin typeface="+mn-lt"/>
                <a:ea typeface="+mn-ea"/>
                <a:cs typeface="+mn-cs"/>
              </a:rPr>
              <a:t> Date</a:t>
            </a:r>
          </a:p>
          <a:p>
            <a:pPr>
              <a:buFont typeface="Arial" pitchFamily="34" charset="0"/>
              <a:buChar char="•"/>
            </a:pPr>
            <a:r>
              <a:rPr lang="en-AU" sz="1200" kern="1200" dirty="0" smtClean="0">
                <a:solidFill>
                  <a:schemeClr val="tx1"/>
                </a:solidFill>
                <a:latin typeface="+mn-lt"/>
                <a:ea typeface="+mn-ea"/>
                <a:cs typeface="+mn-cs"/>
              </a:rPr>
              <a:t> Thanks for the application</a:t>
            </a:r>
          </a:p>
          <a:p>
            <a:pPr>
              <a:buFont typeface="Arial" pitchFamily="34" charset="0"/>
              <a:buChar char="•"/>
            </a:pPr>
            <a:r>
              <a:rPr lang="en-AU" sz="1200" kern="1200" dirty="0" smtClean="0">
                <a:solidFill>
                  <a:schemeClr val="tx1"/>
                </a:solidFill>
                <a:latin typeface="+mn-lt"/>
                <a:ea typeface="+mn-ea"/>
                <a:cs typeface="+mn-cs"/>
              </a:rPr>
              <a:t> Identification of the position applied for – because some people can apply for multiple positions</a:t>
            </a:r>
          </a:p>
          <a:p>
            <a:pPr>
              <a:buFont typeface="Arial" pitchFamily="34" charset="0"/>
              <a:buChar char="•"/>
            </a:pPr>
            <a:r>
              <a:rPr lang="en-AU" sz="1200" kern="1200" dirty="0" smtClean="0">
                <a:solidFill>
                  <a:schemeClr val="tx1"/>
                </a:solidFill>
                <a:latin typeface="+mn-lt"/>
                <a:ea typeface="+mn-ea"/>
                <a:cs typeface="+mn-cs"/>
              </a:rPr>
              <a:t> A statement advising in this instance their application has been unsuccessful</a:t>
            </a:r>
          </a:p>
          <a:p>
            <a:pPr>
              <a:buFont typeface="Arial" pitchFamily="34" charset="0"/>
              <a:buChar char="•"/>
            </a:pPr>
            <a:r>
              <a:rPr lang="en-AU" sz="1200" kern="1200" dirty="0" smtClean="0">
                <a:solidFill>
                  <a:schemeClr val="tx1"/>
                </a:solidFill>
                <a:latin typeface="+mn-lt"/>
                <a:ea typeface="+mn-ea"/>
                <a:cs typeface="+mn-cs"/>
              </a:rPr>
              <a:t> Further statements such as:</a:t>
            </a:r>
          </a:p>
          <a:p>
            <a:pPr lvl="0">
              <a:buFont typeface="Arial" pitchFamily="34" charset="0"/>
              <a:buChar char="•"/>
            </a:pPr>
            <a:r>
              <a:rPr lang="en-US" sz="1200" kern="1200" dirty="0" smtClean="0">
                <a:solidFill>
                  <a:schemeClr val="tx1"/>
                </a:solidFill>
                <a:latin typeface="+mn-lt"/>
                <a:ea typeface="+mn-ea"/>
                <a:cs typeface="+mn-cs"/>
              </a:rPr>
              <a:t> Encouragement in their job seeking activities</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Encouragement to apply for other positions at the organization as they are advertised.</a:t>
            </a: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trainees Letters of Thanks and Regret may, if the enterprise offers them, make mention of de-briefing interviews for unsuccessful candidates.</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sz="1200" kern="1200" dirty="0" smtClean="0">
                <a:solidFill>
                  <a:schemeClr val="tx1"/>
                </a:solidFill>
                <a:latin typeface="+mn-lt"/>
                <a:ea typeface="+mn-ea"/>
                <a:cs typeface="+mn-cs"/>
              </a:rPr>
              <a:t>Where they are offered they may be: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Offered to all unsuccessful applicants – this is unlikely but certainly a good PR exercise and potentially beneficial where sufficient skilled staff are available as the interview can direct applicants regarding the skills and experience they need to gain before making another application</a:t>
            </a:r>
          </a:p>
          <a:p>
            <a:pPr>
              <a:buFont typeface="Arial" pitchFamily="34" charset="0"/>
              <a:buChar char="•"/>
            </a:pPr>
            <a:r>
              <a:rPr lang="en-AU" sz="1200" kern="1200" dirty="0" smtClean="0">
                <a:solidFill>
                  <a:schemeClr val="tx1"/>
                </a:solidFill>
                <a:latin typeface="+mn-lt"/>
                <a:ea typeface="+mn-ea"/>
                <a:cs typeface="+mn-cs"/>
              </a:rPr>
              <a:t> Offered only to internal company staff  who have applied for a promotion</a:t>
            </a:r>
          </a:p>
          <a:p>
            <a:pPr>
              <a:buFont typeface="Arial" pitchFamily="34" charset="0"/>
              <a:buChar char="•"/>
            </a:pPr>
            <a:r>
              <a:rPr lang="en-AU" sz="1200" kern="1200" dirty="0" smtClean="0">
                <a:solidFill>
                  <a:schemeClr val="tx1"/>
                </a:solidFill>
                <a:latin typeface="+mn-lt"/>
                <a:ea typeface="+mn-ea"/>
                <a:cs typeface="+mn-cs"/>
              </a:rPr>
              <a:t> Offered only to selected applicants based on their potential to be useful to the company in the future.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 </a:t>
            </a:r>
            <a:r>
              <a:rPr lang="en-AU" sz="1200" kern="1200" dirty="0" smtClean="0">
                <a:solidFill>
                  <a:schemeClr val="tx1"/>
                </a:solidFill>
                <a:latin typeface="+mn-lt"/>
                <a:ea typeface="+mn-ea"/>
                <a:cs typeface="+mn-cs"/>
              </a:rPr>
              <a:t>the de-briefing interview will:</a:t>
            </a:r>
          </a:p>
          <a:p>
            <a:pPr>
              <a:buFont typeface="Arial" pitchFamily="34" charset="0"/>
              <a:buChar char="•"/>
            </a:pPr>
            <a:r>
              <a:rPr lang="en-AU" sz="1200" kern="1200" dirty="0" smtClean="0">
                <a:solidFill>
                  <a:schemeClr val="tx1"/>
                </a:solidFill>
                <a:latin typeface="+mn-lt"/>
                <a:ea typeface="+mn-ea"/>
                <a:cs typeface="+mn-cs"/>
              </a:rPr>
              <a:t> Be conducted by one of the people on the interview panel – so there is first-hand feedback on the applicant’s performance at the interview</a:t>
            </a:r>
          </a:p>
          <a:p>
            <a:pPr>
              <a:buFont typeface="Arial" pitchFamily="34" charset="0"/>
              <a:buChar char="•"/>
            </a:pPr>
            <a:r>
              <a:rPr lang="en-AU" sz="1200" kern="1200" dirty="0" smtClean="0">
                <a:solidFill>
                  <a:schemeClr val="tx1"/>
                </a:solidFill>
                <a:latin typeface="+mn-lt"/>
                <a:ea typeface="+mn-ea"/>
                <a:cs typeface="+mn-cs"/>
              </a:rPr>
              <a:t> Provide feedback on how the applicant presented – and conducted themselves at the interview</a:t>
            </a:r>
          </a:p>
          <a:p>
            <a:pPr>
              <a:buFont typeface="Arial" pitchFamily="34" charset="0"/>
              <a:buChar char="•"/>
            </a:pPr>
            <a:r>
              <a:rPr lang="en-AU" sz="1200" kern="1200" dirty="0" smtClean="0">
                <a:solidFill>
                  <a:schemeClr val="tx1"/>
                </a:solidFill>
                <a:latin typeface="+mn-lt"/>
                <a:ea typeface="+mn-ea"/>
                <a:cs typeface="+mn-cs"/>
              </a:rPr>
              <a:t> Provide advice – regarding their CV and their physical response to the job vacancy advertisement or directions</a:t>
            </a:r>
          </a:p>
          <a:p>
            <a:pPr>
              <a:buFont typeface="Arial" pitchFamily="34" charset="0"/>
              <a:buChar char="•"/>
            </a:pPr>
            <a:r>
              <a:rPr lang="en-AU" sz="1200" kern="1200" dirty="0" smtClean="0">
                <a:solidFill>
                  <a:schemeClr val="tx1"/>
                </a:solidFill>
                <a:latin typeface="+mn-lt"/>
                <a:ea typeface="+mn-ea"/>
                <a:cs typeface="+mn-cs"/>
              </a:rPr>
              <a:t> Provide tips and advice – on how their next interview may be more positive</a:t>
            </a:r>
          </a:p>
          <a:p>
            <a:pPr>
              <a:buFont typeface="Arial" pitchFamily="34" charset="0"/>
              <a:buChar char="•"/>
            </a:pPr>
            <a:r>
              <a:rPr lang="en-AU" sz="1200" kern="1200" dirty="0" smtClean="0">
                <a:solidFill>
                  <a:schemeClr val="tx1"/>
                </a:solidFill>
                <a:latin typeface="+mn-lt"/>
                <a:ea typeface="+mn-ea"/>
                <a:cs typeface="+mn-cs"/>
              </a:rPr>
              <a:t> Identify issues or questions not covered well by the applicant</a:t>
            </a:r>
          </a:p>
          <a:p>
            <a:pPr>
              <a:buFont typeface="Arial" pitchFamily="34" charset="0"/>
              <a:buChar char="•"/>
            </a:pPr>
            <a:r>
              <a:rPr lang="en-AU" sz="1200" kern="1200" dirty="0" smtClean="0">
                <a:solidFill>
                  <a:schemeClr val="tx1"/>
                </a:solidFill>
                <a:latin typeface="+mn-lt"/>
                <a:ea typeface="+mn-ea"/>
                <a:cs typeface="+mn-cs"/>
              </a:rPr>
              <a:t> Encourage the person to continue applying for work</a:t>
            </a:r>
          </a:p>
          <a:p>
            <a:pPr>
              <a:buFont typeface="Arial" pitchFamily="34" charset="0"/>
              <a:buChar char="•"/>
            </a:pPr>
            <a:r>
              <a:rPr lang="en-AU" sz="1200" kern="1200" dirty="0" smtClean="0">
                <a:solidFill>
                  <a:schemeClr val="tx1"/>
                </a:solidFill>
                <a:latin typeface="+mn-lt"/>
                <a:ea typeface="+mn-ea"/>
                <a:cs typeface="+mn-cs"/>
              </a:rPr>
              <a:t> Give advice on what they need to do to address identified gasp in their skills, knowledge or experience.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unacceptable ways of enterprises notifying unsuccessful candidates.</a:t>
            </a:r>
          </a:p>
          <a:p>
            <a:pPr>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sz="1200" kern="1200" dirty="0" smtClean="0">
                <a:solidFill>
                  <a:schemeClr val="tx1"/>
                </a:solidFill>
                <a:latin typeface="+mn-lt"/>
                <a:ea typeface="+mn-ea"/>
                <a:cs typeface="+mn-cs"/>
              </a:rPr>
              <a:t>All company policies regarding notifying unsuccessful applicants as they apply to their workplace must be adhered to advising the following may apply:</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Email notification is approved in some businesses</a:t>
            </a:r>
          </a:p>
          <a:p>
            <a:pPr>
              <a:buFont typeface="Arial" pitchFamily="34" charset="0"/>
              <a:buChar char="•"/>
            </a:pPr>
            <a:r>
              <a:rPr lang="en-AU" sz="1200" kern="1200" dirty="0" smtClean="0">
                <a:solidFill>
                  <a:schemeClr val="tx1"/>
                </a:solidFill>
                <a:latin typeface="+mn-lt"/>
                <a:ea typeface="+mn-ea"/>
                <a:cs typeface="+mn-cs"/>
              </a:rPr>
              <a:t> Telephone notification is usually not used – as this can involve discussion with the applicant about why they were unsuccessful</a:t>
            </a:r>
          </a:p>
          <a:p>
            <a:pPr>
              <a:buFont typeface="Arial" pitchFamily="34" charset="0"/>
              <a:buChar char="•"/>
            </a:pPr>
            <a:r>
              <a:rPr lang="en-AU" sz="1200" kern="1200" dirty="0" smtClean="0">
                <a:solidFill>
                  <a:schemeClr val="tx1"/>
                </a:solidFill>
                <a:latin typeface="+mn-lt"/>
                <a:ea typeface="+mn-ea"/>
                <a:cs typeface="+mn-cs"/>
              </a:rPr>
              <a:t> The use of texting/SMS is generally unacceptable.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informs trainees </a:t>
            </a:r>
            <a:r>
              <a:rPr lang="en-AU" sz="1200" kern="1200" dirty="0" smtClean="0">
                <a:solidFill>
                  <a:schemeClr val="tx1"/>
                </a:solidFill>
                <a:latin typeface="+mn-lt"/>
                <a:ea typeface="+mn-ea"/>
                <a:cs typeface="+mn-cs"/>
              </a:rPr>
              <a:t>when a Letter of Appointment (or similar) has been sent to a successful applicant there can be need to follow-up in order to:</a:t>
            </a:r>
          </a:p>
          <a:p>
            <a:pPr>
              <a:buFont typeface="Arial" pitchFamily="34" charset="0"/>
              <a:buChar char="•"/>
            </a:pPr>
            <a:r>
              <a:rPr lang="en-AU" sz="1200" kern="1200" dirty="0" smtClean="0">
                <a:solidFill>
                  <a:schemeClr val="tx1"/>
                </a:solidFill>
                <a:latin typeface="+mn-lt"/>
                <a:ea typeface="+mn-ea"/>
                <a:cs typeface="+mn-cs"/>
              </a:rPr>
              <a:t> Obtain original copies of documents presented at interviews – so they can be photocopied and included in the Personnel file for the person. Documents may include:</a:t>
            </a:r>
          </a:p>
          <a:p>
            <a:pPr lvl="1">
              <a:buFont typeface="Arial" pitchFamily="34" charset="0"/>
              <a:buChar char="•"/>
            </a:pPr>
            <a:r>
              <a:rPr lang="en-US" sz="1200" kern="1200" dirty="0" smtClean="0">
                <a:solidFill>
                  <a:schemeClr val="tx1"/>
                </a:solidFill>
                <a:latin typeface="+mn-lt"/>
                <a:ea typeface="+mn-ea"/>
                <a:cs typeface="+mn-cs"/>
              </a:rPr>
              <a:t> Birth certificate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Work permit/visa</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Qualifications, credentials and licences </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Explain details of the job offer, contract or other ‘work instrument’.</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is to be expected </a:t>
            </a:r>
            <a:r>
              <a:rPr lang="en-AU" sz="1200" b="1" kern="1200" dirty="0" smtClean="0">
                <a:solidFill>
                  <a:schemeClr val="tx1"/>
                </a:solidFill>
                <a:latin typeface="+mn-lt"/>
                <a:ea typeface="+mn-ea"/>
                <a:cs typeface="+mn-cs"/>
              </a:rPr>
              <a:t>every</a:t>
            </a:r>
            <a:r>
              <a:rPr lang="en-AU" sz="1200" kern="1200" dirty="0" smtClean="0">
                <a:solidFill>
                  <a:schemeClr val="tx1"/>
                </a:solidFill>
                <a:latin typeface="+mn-lt"/>
                <a:ea typeface="+mn-ea"/>
                <a:cs typeface="+mn-cs"/>
              </a:rPr>
              <a:t> successful job applicant will have questions of some sort about at least one or two aspects of their new employment. This applies even to successful applicants who have previously worked at the business but are transferring to a new job or position.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advise trainees about possible follow-up activities once a Letter of Offer has been sent to a successful applicant:</a:t>
            </a:r>
          </a:p>
          <a:p>
            <a:pPr>
              <a:buFont typeface="Arial" pitchFamily="34" charset="0"/>
              <a:buChar char="•"/>
            </a:pPr>
            <a:r>
              <a:rPr lang="en-AU" sz="1200" kern="1200" dirty="0" smtClean="0">
                <a:solidFill>
                  <a:schemeClr val="tx1"/>
                </a:solidFill>
                <a:latin typeface="+mn-lt"/>
                <a:ea typeface="+mn-ea"/>
                <a:cs typeface="+mn-cs"/>
              </a:rPr>
              <a:t> Confirm acceptance of the job offer – this may:</a:t>
            </a:r>
          </a:p>
          <a:p>
            <a:pPr lvl="1">
              <a:buFont typeface="Arial" pitchFamily="34" charset="0"/>
              <a:buChar char="•"/>
            </a:pPr>
            <a:r>
              <a:rPr lang="en-AU" sz="1200" kern="1200" dirty="0" smtClean="0">
                <a:solidFill>
                  <a:schemeClr val="tx1"/>
                </a:solidFill>
                <a:latin typeface="+mn-lt"/>
                <a:ea typeface="+mn-ea"/>
                <a:cs typeface="+mn-cs"/>
              </a:rPr>
              <a:t> Be an unconditional acceptance of what has been offered in the formal offer of employment</a:t>
            </a:r>
          </a:p>
          <a:p>
            <a:pPr lvl="1">
              <a:buFont typeface="Arial" pitchFamily="34" charset="0"/>
              <a:buChar char="•"/>
            </a:pPr>
            <a:r>
              <a:rPr lang="en-AU" sz="1200" kern="1200" dirty="0" smtClean="0">
                <a:solidFill>
                  <a:schemeClr val="tx1"/>
                </a:solidFill>
                <a:latin typeface="+mn-lt"/>
                <a:ea typeface="+mn-ea"/>
                <a:cs typeface="+mn-cs"/>
              </a:rPr>
              <a:t> Require negotiation of terms, conditions or pay rates. It is important only those with the necessary authority are involved in these negotiations</a:t>
            </a:r>
          </a:p>
          <a:p>
            <a:pPr lvl="1">
              <a:buFont typeface="Arial" pitchFamily="34" charset="0"/>
              <a:buChar char="•"/>
            </a:pPr>
            <a:r>
              <a:rPr lang="en-AU" sz="1200" kern="1200" dirty="0" smtClean="0">
                <a:solidFill>
                  <a:schemeClr val="tx1"/>
                </a:solidFill>
                <a:latin typeface="+mn-lt"/>
                <a:ea typeface="+mn-ea"/>
                <a:cs typeface="+mn-cs"/>
              </a:rPr>
              <a:t> Be a simple verbal acceptance</a:t>
            </a:r>
          </a:p>
          <a:p>
            <a:pPr lvl="1">
              <a:buFont typeface="Arial" pitchFamily="34" charset="0"/>
              <a:buChar char="•"/>
            </a:pPr>
            <a:r>
              <a:rPr lang="en-AU" sz="1200" kern="1200" dirty="0" smtClean="0">
                <a:solidFill>
                  <a:schemeClr val="tx1"/>
                </a:solidFill>
                <a:latin typeface="+mn-lt"/>
                <a:ea typeface="+mn-ea"/>
                <a:cs typeface="+mn-cs"/>
              </a:rPr>
              <a:t> Require the formal signing of the Letter of Appointment or other employment instrument</a:t>
            </a:r>
          </a:p>
          <a:p>
            <a:pPr lvl="1">
              <a:buFont typeface="Arial" pitchFamily="34" charset="0"/>
              <a:buChar char="•"/>
            </a:pPr>
            <a:r>
              <a:rPr lang="en-AU" sz="1200" kern="1200" dirty="0" smtClean="0">
                <a:solidFill>
                  <a:schemeClr val="tx1"/>
                </a:solidFill>
                <a:latin typeface="+mn-lt"/>
                <a:ea typeface="+mn-ea"/>
                <a:cs typeface="+mn-cs"/>
              </a:rPr>
              <a:t> Require the signature to be ‘witnessed’ by a designated person within the employing workplace</a:t>
            </a:r>
          </a:p>
          <a:p>
            <a:pPr lvl="1">
              <a:buFont typeface="Arial" pitchFamily="34" charset="0"/>
              <a:buChar char="•"/>
            </a:pPr>
            <a:r>
              <a:rPr lang="en-AU" sz="1200" kern="1200" dirty="0" smtClean="0">
                <a:solidFill>
                  <a:schemeClr val="tx1"/>
                </a:solidFill>
                <a:latin typeface="+mn-lt"/>
                <a:ea typeface="+mn-ea"/>
                <a:cs typeface="+mn-cs"/>
              </a:rPr>
              <a:t> Require the signed document to be photocopied and:</a:t>
            </a:r>
          </a:p>
          <a:p>
            <a:pPr lvl="2">
              <a:buFont typeface="Arial" pitchFamily="34" charset="0"/>
              <a:buChar char="•"/>
            </a:pPr>
            <a:r>
              <a:rPr lang="en-AU" sz="1200" kern="1200" dirty="0" smtClean="0">
                <a:solidFill>
                  <a:schemeClr val="tx1"/>
                </a:solidFill>
                <a:latin typeface="+mn-lt"/>
                <a:ea typeface="+mn-ea"/>
                <a:cs typeface="+mn-cs"/>
              </a:rPr>
              <a:t> Forwarded to Personnel/HR – so they can initiate payment and other internal requirements applying to the engagement of new staff</a:t>
            </a:r>
          </a:p>
          <a:p>
            <a:pPr lvl="2">
              <a:buFont typeface="Arial" pitchFamily="34" charset="0"/>
              <a:buChar char="•"/>
            </a:pPr>
            <a:r>
              <a:rPr lang="en-AU" sz="1200" kern="1200" dirty="0" smtClean="0">
                <a:solidFill>
                  <a:schemeClr val="tx1"/>
                </a:solidFill>
                <a:latin typeface="+mn-lt"/>
                <a:ea typeface="+mn-ea"/>
                <a:cs typeface="+mn-cs"/>
              </a:rPr>
              <a:t> Added to the existing Personnel file for the individual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completes advising trainees about possible follow-up activities once a Letter of Offer has been sent to a successful applicant:</a:t>
            </a:r>
          </a:p>
          <a:p>
            <a:pPr>
              <a:buFont typeface="Arial" pitchFamily="34" charset="0"/>
              <a:buChar char="•"/>
            </a:pPr>
            <a:r>
              <a:rPr lang="en-AU" sz="1200" kern="1200" dirty="0" smtClean="0">
                <a:solidFill>
                  <a:schemeClr val="tx1"/>
                </a:solidFill>
                <a:latin typeface="+mn-lt"/>
                <a:ea typeface="+mn-ea"/>
                <a:cs typeface="+mn-cs"/>
              </a:rPr>
              <a:t> Offer the job to another applicant – if the first choice of the selection panel refuses the job offer which may entail:</a:t>
            </a:r>
          </a:p>
          <a:p>
            <a:pPr lvl="1">
              <a:buFont typeface="Arial" pitchFamily="34" charset="0"/>
              <a:buChar char="•"/>
            </a:pPr>
            <a:r>
              <a:rPr lang="en-AU" sz="1200" kern="1200" dirty="0" smtClean="0">
                <a:solidFill>
                  <a:schemeClr val="tx1"/>
                </a:solidFill>
                <a:latin typeface="+mn-lt"/>
                <a:ea typeface="+mn-ea"/>
                <a:cs typeface="+mn-cs"/>
              </a:rPr>
              <a:t> Contacting the interview person for their advice about who to offer the job to</a:t>
            </a:r>
          </a:p>
          <a:p>
            <a:pPr lvl="1">
              <a:buFont typeface="Arial" pitchFamily="34" charset="0"/>
              <a:buChar char="•"/>
            </a:pPr>
            <a:r>
              <a:rPr lang="en-AU" sz="1200" kern="1200" dirty="0" smtClean="0">
                <a:solidFill>
                  <a:schemeClr val="tx1"/>
                </a:solidFill>
                <a:latin typeface="+mn-lt"/>
                <a:ea typeface="+mn-ea"/>
                <a:cs typeface="+mn-cs"/>
              </a:rPr>
              <a:t> Reviewing the interview rating sheets to identify the ‘next best’ applicant</a:t>
            </a:r>
          </a:p>
          <a:p>
            <a:pPr lvl="1">
              <a:buFont typeface="Arial" pitchFamily="34" charset="0"/>
              <a:buChar char="•"/>
            </a:pPr>
            <a:r>
              <a:rPr lang="en-AU" sz="1200" kern="1200" dirty="0" smtClean="0">
                <a:solidFill>
                  <a:schemeClr val="tx1"/>
                </a:solidFill>
                <a:latin typeface="+mn-lt"/>
                <a:ea typeface="+mn-ea"/>
                <a:cs typeface="+mn-cs"/>
              </a:rPr>
              <a:t> Obtaining permission to make the offer to a nominated person</a:t>
            </a:r>
          </a:p>
          <a:p>
            <a:pPr lvl="1">
              <a:buFont typeface="Arial" pitchFamily="34" charset="0"/>
              <a:buChar char="•"/>
            </a:pPr>
            <a:r>
              <a:rPr lang="en-AU" sz="1200" kern="1200" dirty="0" smtClean="0">
                <a:solidFill>
                  <a:schemeClr val="tx1"/>
                </a:solidFill>
                <a:latin typeface="+mn-lt"/>
                <a:ea typeface="+mn-ea"/>
                <a:cs typeface="+mn-cs"/>
              </a:rPr>
              <a:t> Producing or organising for an alternate Letter of Appointment, contract or employment instrument to be drafted – changes may need to be made to an existing document in terms of:</a:t>
            </a:r>
          </a:p>
          <a:p>
            <a:pPr lvl="2">
              <a:buFont typeface="Arial" pitchFamily="34" charset="0"/>
              <a:buChar char="•"/>
            </a:pPr>
            <a:r>
              <a:rPr lang="en-AU" sz="1200" kern="1200" dirty="0" smtClean="0">
                <a:solidFill>
                  <a:schemeClr val="tx1"/>
                </a:solidFill>
                <a:latin typeface="+mn-lt"/>
                <a:ea typeface="+mn-ea"/>
                <a:cs typeface="+mn-cs"/>
              </a:rPr>
              <a:t> Dates – starting date, date for accepting the offer</a:t>
            </a:r>
          </a:p>
          <a:p>
            <a:pPr lvl="2">
              <a:buFont typeface="Arial" pitchFamily="34" charset="0"/>
              <a:buChar char="•"/>
            </a:pPr>
            <a:r>
              <a:rPr lang="en-AU" sz="1200" kern="1200" dirty="0" smtClean="0">
                <a:solidFill>
                  <a:schemeClr val="tx1"/>
                </a:solidFill>
                <a:latin typeface="+mn-lt"/>
                <a:ea typeface="+mn-ea"/>
                <a:cs typeface="+mn-cs"/>
              </a:rPr>
              <a:t> Name</a:t>
            </a:r>
          </a:p>
          <a:p>
            <a:pPr lvl="2">
              <a:buFont typeface="Arial" pitchFamily="34" charset="0"/>
              <a:buChar char="•"/>
            </a:pPr>
            <a:r>
              <a:rPr lang="en-AU" sz="1200" kern="1200" dirty="0" smtClean="0">
                <a:solidFill>
                  <a:schemeClr val="tx1"/>
                </a:solidFill>
                <a:latin typeface="+mn-lt"/>
                <a:ea typeface="+mn-ea"/>
                <a:cs typeface="+mn-cs"/>
              </a:rPr>
              <a:t> Remuneration – the alternate candidate may be offered a higher or lower rate than first identified.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continues to identify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latin typeface="+mn-lt"/>
                <a:ea typeface="+mn-ea"/>
                <a:cs typeface="+mn-cs"/>
              </a:rPr>
              <a:t>Class Activity – General Discussion</a:t>
            </a:r>
          </a:p>
          <a:p>
            <a:r>
              <a:rPr lang="en-AU" sz="1200" kern="1200" baseline="0" dirty="0" smtClean="0">
                <a:solidFill>
                  <a:schemeClr val="tx1"/>
                </a:solidFill>
                <a:latin typeface="+mn-lt"/>
                <a:ea typeface="+mn-ea"/>
                <a:cs typeface="+mn-cs"/>
              </a:rPr>
              <a:t>Trainer leads a general class discussion on reviewing induction and orientation by asking questions such as:</a:t>
            </a:r>
          </a:p>
          <a:p>
            <a:pPr>
              <a:buFont typeface="Arial" pitchFamily="34" charset="0"/>
              <a:buChar char="•"/>
            </a:pPr>
            <a:r>
              <a:rPr lang="en-AU" sz="1200" kern="1200" baseline="0" dirty="0" smtClean="0">
                <a:solidFill>
                  <a:schemeClr val="tx1"/>
                </a:solidFill>
                <a:latin typeface="+mn-lt"/>
                <a:ea typeface="+mn-ea"/>
                <a:cs typeface="+mn-cs"/>
              </a:rPr>
              <a:t> What is an induction and orientation session? Why are they conducted and what do they cover?</a:t>
            </a:r>
          </a:p>
          <a:p>
            <a:pPr>
              <a:buFont typeface="Arial" pitchFamily="34" charset="0"/>
              <a:buChar char="•"/>
            </a:pPr>
            <a:r>
              <a:rPr lang="en-AU" sz="1200" kern="1200" baseline="0" dirty="0" smtClean="0">
                <a:solidFill>
                  <a:schemeClr val="tx1"/>
                </a:solidFill>
                <a:latin typeface="+mn-lt"/>
                <a:ea typeface="+mn-ea"/>
                <a:cs typeface="+mn-cs"/>
              </a:rPr>
              <a:t> What experience do you have in relation to being inducted into a new workplace? What was involved? How long did it take? Who did it?</a:t>
            </a:r>
          </a:p>
          <a:p>
            <a:pPr>
              <a:buFont typeface="Arial" pitchFamily="34" charset="0"/>
              <a:buChar char="•"/>
            </a:pPr>
            <a:r>
              <a:rPr lang="en-AU" sz="1200" kern="1200" baseline="0" dirty="0" smtClean="0">
                <a:solidFill>
                  <a:schemeClr val="tx1"/>
                </a:solidFill>
                <a:latin typeface="+mn-lt"/>
                <a:ea typeface="+mn-ea"/>
                <a:cs typeface="+mn-cs"/>
              </a:rPr>
              <a:t> Why is there a need to review induction and orientation sessions?</a:t>
            </a:r>
          </a:p>
          <a:p>
            <a:pPr>
              <a:buFont typeface="Arial" pitchFamily="34" charset="0"/>
              <a:buChar char="•"/>
            </a:pPr>
            <a:r>
              <a:rPr lang="en-AU" sz="1200" kern="1200" baseline="0" dirty="0" smtClean="0">
                <a:solidFill>
                  <a:schemeClr val="tx1"/>
                </a:solidFill>
                <a:latin typeface="+mn-lt"/>
                <a:ea typeface="+mn-ea"/>
                <a:cs typeface="+mn-cs"/>
              </a:rPr>
              <a:t> Who might be involved in such a review?</a:t>
            </a:r>
          </a:p>
          <a:p>
            <a:pPr>
              <a:buFont typeface="Arial" pitchFamily="34" charset="0"/>
              <a:buChar char="•"/>
            </a:pPr>
            <a:r>
              <a:rPr lang="en-AU" sz="1200" kern="1200" baseline="0" dirty="0" smtClean="0">
                <a:solidFill>
                  <a:schemeClr val="tx1"/>
                </a:solidFill>
                <a:latin typeface="+mn-lt"/>
                <a:ea typeface="+mn-ea"/>
                <a:cs typeface="+mn-cs"/>
              </a:rPr>
              <a:t> How often should these reviews take place?</a:t>
            </a:r>
          </a:p>
          <a:p>
            <a:pPr>
              <a:buFont typeface="Arial" pitchFamily="34" charset="0"/>
              <a:buChar char="•"/>
            </a:pPr>
            <a:r>
              <a:rPr lang="en-AU" sz="1200" kern="1200" baseline="0" dirty="0" smtClean="0">
                <a:solidFill>
                  <a:schemeClr val="tx1"/>
                </a:solidFill>
                <a:latin typeface="+mn-lt"/>
                <a:ea typeface="+mn-ea"/>
                <a:cs typeface="+mn-cs"/>
              </a:rPr>
              <a:t> What topics should be addressed as part of these reviews</a:t>
            </a:r>
          </a:p>
          <a:p>
            <a:pPr>
              <a:buFont typeface="Arial" pitchFamily="34" charset="0"/>
              <a:buChar char="•"/>
            </a:pPr>
            <a:endParaRPr lang="en-AU" sz="1200" kern="1200" baseline="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to trainees </a:t>
            </a:r>
            <a:r>
              <a:rPr lang="en-AU" sz="1200" kern="1200" dirty="0" smtClean="0">
                <a:solidFill>
                  <a:schemeClr val="tx1"/>
                </a:solidFill>
                <a:latin typeface="+mn-lt"/>
                <a:ea typeface="+mn-ea"/>
                <a:cs typeface="+mn-cs"/>
              </a:rPr>
              <a:t>it is standard business practice for all new employees to be given some form of induction program (also known as ‘induction and orientation’ programs or sessions).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Trainer emphasis basic requirements for inductions:</a:t>
            </a:r>
          </a:p>
          <a:p>
            <a:pPr>
              <a:buFont typeface="Arial" pitchFamily="34" charset="0"/>
              <a:buChar char="•"/>
            </a:pPr>
            <a:r>
              <a:rPr lang="en-AU" sz="1200" kern="1200" dirty="0" smtClean="0">
                <a:solidFill>
                  <a:schemeClr val="tx1"/>
                </a:solidFill>
                <a:latin typeface="+mn-lt"/>
                <a:ea typeface="+mn-ea"/>
                <a:cs typeface="+mn-cs"/>
              </a:rPr>
              <a:t> They must be planned – it is vital to know what needs to be presented, who will be involved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and when things will happen</a:t>
            </a:r>
          </a:p>
          <a:p>
            <a:pPr>
              <a:buFont typeface="Arial" pitchFamily="34" charset="0"/>
              <a:buChar char="•"/>
            </a:pPr>
            <a:r>
              <a:rPr lang="en-AU" sz="1200" kern="1200" dirty="0" smtClean="0">
                <a:solidFill>
                  <a:schemeClr val="tx1"/>
                </a:solidFill>
                <a:latin typeface="+mn-lt"/>
                <a:ea typeface="+mn-ea"/>
                <a:cs typeface="+mn-cs"/>
              </a:rPr>
              <a:t> Many things need to be planned – see following slides for examples</a:t>
            </a:r>
          </a:p>
          <a:p>
            <a:pPr>
              <a:buFont typeface="Arial" pitchFamily="34" charset="0"/>
              <a:buChar char="•"/>
            </a:pPr>
            <a:r>
              <a:rPr lang="en-AU" sz="1200" kern="1200" dirty="0" smtClean="0">
                <a:solidFill>
                  <a:schemeClr val="tx1"/>
                </a:solidFill>
                <a:latin typeface="+mn-lt"/>
                <a:ea typeface="+mn-ea"/>
                <a:cs typeface="+mn-cs"/>
              </a:rPr>
              <a:t> The induction and orientation must give a positive impression to new staff on their first day with their new employer</a:t>
            </a:r>
          </a:p>
          <a:p>
            <a:pPr>
              <a:buFont typeface="Arial" pitchFamily="34" charset="0"/>
              <a:buChar char="•"/>
            </a:pPr>
            <a:r>
              <a:rPr lang="en-AU" sz="1200" kern="1200" dirty="0" smtClean="0">
                <a:solidFill>
                  <a:schemeClr val="tx1"/>
                </a:solidFill>
                <a:latin typeface="+mn-lt"/>
                <a:ea typeface="+mn-ea"/>
                <a:cs typeface="+mn-cs"/>
              </a:rPr>
              <a:t> In organisations where induction and orientations are well-prepared and conducted on a regular basis, much of what is required will already be available and all that is required is to use what already exists</a:t>
            </a:r>
          </a:p>
          <a:p>
            <a:pPr>
              <a:buFont typeface="Arial" pitchFamily="34" charset="0"/>
              <a:buChar char="•"/>
            </a:pPr>
            <a:r>
              <a:rPr lang="en-AU" sz="1200" kern="1200" dirty="0" smtClean="0">
                <a:solidFill>
                  <a:schemeClr val="tx1"/>
                </a:solidFill>
                <a:latin typeface="+mn-lt"/>
                <a:ea typeface="+mn-ea"/>
                <a:cs typeface="+mn-cs"/>
              </a:rPr>
              <a:t> Where little exists in the way of formal induction and orientation sessions much more will need to be organised and prepared.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talks to trainees about timing requirements for induction and orientation sessions stating:</a:t>
            </a:r>
          </a:p>
          <a:p>
            <a:pPr>
              <a:buFont typeface="Arial" pitchFamily="34" charset="0"/>
              <a:buChar char="•"/>
            </a:pPr>
            <a:r>
              <a:rPr lang="en-AU" sz="1200" kern="1200" dirty="0" smtClean="0">
                <a:solidFill>
                  <a:schemeClr val="tx1"/>
                </a:solidFill>
                <a:latin typeface="+mn-lt"/>
                <a:ea typeface="+mn-ea"/>
                <a:cs typeface="+mn-cs"/>
              </a:rPr>
              <a:t> The amount of time allocated to Induction and Orientation sessions/programs varies enormously from 10 – 15 minutes through to a day or more (or even two weeks) in some larger premises</a:t>
            </a:r>
          </a:p>
          <a:p>
            <a:pPr>
              <a:buFont typeface="Arial" pitchFamily="34" charset="0"/>
              <a:buChar char="•"/>
            </a:pPr>
            <a:r>
              <a:rPr lang="en-AU" sz="1200" kern="1200" dirty="0" smtClean="0">
                <a:solidFill>
                  <a:schemeClr val="tx1"/>
                </a:solidFill>
                <a:latin typeface="+mn-lt"/>
                <a:ea typeface="+mn-ea"/>
                <a:cs typeface="+mn-cs"/>
              </a:rPr>
              <a:t> The more planning and preparation that goes into these programs, the more effective they will be </a:t>
            </a:r>
          </a:p>
          <a:p>
            <a:pPr>
              <a:buFont typeface="Arial" pitchFamily="34" charset="0"/>
              <a:buChar char="•"/>
            </a:pPr>
            <a:r>
              <a:rPr lang="en-AU" sz="1200" kern="1200" dirty="0" smtClean="0">
                <a:solidFill>
                  <a:schemeClr val="tx1"/>
                </a:solidFill>
                <a:latin typeface="+mn-lt"/>
                <a:ea typeface="+mn-ea"/>
                <a:cs typeface="+mn-cs"/>
              </a:rPr>
              <a:t> Certainly no effective induction program simply ‘happens’ of its own accord</a:t>
            </a:r>
          </a:p>
          <a:p>
            <a:pPr>
              <a:buFont typeface="Arial" pitchFamily="34" charset="0"/>
              <a:buChar char="•"/>
            </a:pPr>
            <a:r>
              <a:rPr lang="en-AU" sz="1200" kern="1200" dirty="0" smtClean="0">
                <a:solidFill>
                  <a:schemeClr val="tx1"/>
                </a:solidFill>
                <a:latin typeface="+mn-lt"/>
                <a:ea typeface="+mn-ea"/>
                <a:cs typeface="+mn-cs"/>
              </a:rPr>
              <a:t> The longer the period for the induction and orientation, the more there will be included in the program</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session so the more need there is for planning.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trainees there should be a familiar face at the start of all induction and orientation sessions:</a:t>
            </a:r>
          </a:p>
          <a:p>
            <a:pPr>
              <a:buFont typeface="Arial" pitchFamily="34" charset="0"/>
              <a:buChar char="•"/>
            </a:pPr>
            <a:r>
              <a:rPr lang="en-AU" sz="1200" kern="1200" dirty="0" smtClean="0">
                <a:solidFill>
                  <a:schemeClr val="tx1"/>
                </a:solidFill>
                <a:latin typeface="+mn-lt"/>
                <a:ea typeface="+mn-ea"/>
                <a:cs typeface="+mn-cs"/>
              </a:rPr>
              <a:t> Whilst practicalities vary between establishments, it is a positive start to a new employee’s association with their new employer if someone present at the interview is there to welcome them on their first day. </a:t>
            </a:r>
          </a:p>
          <a:p>
            <a:pPr>
              <a:buFont typeface="Arial" pitchFamily="34" charset="0"/>
              <a:buChar char="•"/>
            </a:pPr>
            <a:r>
              <a:rPr lang="en-AU" sz="1200" kern="1200" dirty="0" smtClean="0">
                <a:solidFill>
                  <a:schemeClr val="tx1"/>
                </a:solidFill>
                <a:latin typeface="+mn-lt"/>
                <a:ea typeface="+mn-ea"/>
                <a:cs typeface="+mn-cs"/>
              </a:rPr>
              <a:t> This provides a familiar face to greet the new employee and demonstrate a personal interest in their welfare and in their association with the business.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to trainees an important element of every induction and orientation program is the provision of OHS information to new staff:</a:t>
            </a:r>
          </a:p>
          <a:p>
            <a:pPr>
              <a:buFont typeface="Arial" pitchFamily="34" charset="0"/>
              <a:buChar char="•"/>
            </a:pPr>
            <a:r>
              <a:rPr lang="en-AU" sz="1200" kern="1200" dirty="0" smtClean="0">
                <a:solidFill>
                  <a:schemeClr val="tx1"/>
                </a:solidFill>
                <a:latin typeface="+mn-lt"/>
                <a:ea typeface="+mn-ea"/>
                <a:cs typeface="+mn-cs"/>
              </a:rPr>
              <a:t> This is done to allow operators to discharge their legal obligations in relation to informing staff about potentially dangerous situations</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procedures and relevant OHS requirements to be followed</a:t>
            </a:r>
          </a:p>
          <a:p>
            <a:pPr>
              <a:buFont typeface="Arial" pitchFamily="34" charset="0"/>
              <a:buChar char="•"/>
            </a:pPr>
            <a:r>
              <a:rPr lang="en-AU" sz="1200" kern="1200" dirty="0" smtClean="0">
                <a:solidFill>
                  <a:schemeClr val="tx1"/>
                </a:solidFill>
                <a:latin typeface="+mn-lt"/>
                <a:ea typeface="+mn-ea"/>
                <a:cs typeface="+mn-cs"/>
              </a:rPr>
              <a:t> Basic OHS requirements covered as part of the Induction can include:</a:t>
            </a:r>
          </a:p>
          <a:p>
            <a:pPr lvl="1">
              <a:buFont typeface="Arial" pitchFamily="34" charset="0"/>
              <a:buChar char="•"/>
            </a:pPr>
            <a:r>
              <a:rPr lang="en-AU" sz="1200" kern="1200" dirty="0" smtClean="0">
                <a:solidFill>
                  <a:schemeClr val="tx1"/>
                </a:solidFill>
                <a:latin typeface="+mn-lt"/>
                <a:ea typeface="+mn-ea"/>
                <a:cs typeface="+mn-cs"/>
              </a:rPr>
              <a:t> Provision of OHS policies and procedures</a:t>
            </a:r>
          </a:p>
          <a:p>
            <a:pPr lvl="1">
              <a:buFont typeface="Arial" pitchFamily="34" charset="0"/>
              <a:buChar char="•"/>
            </a:pPr>
            <a:r>
              <a:rPr lang="en-AU" sz="1200" kern="1200" dirty="0" smtClean="0">
                <a:solidFill>
                  <a:schemeClr val="tx1"/>
                </a:solidFill>
                <a:latin typeface="+mn-lt"/>
                <a:ea typeface="+mn-ea"/>
                <a:cs typeface="+mn-cs"/>
              </a:rPr>
              <a:t> Presentation and description of safe work practices</a:t>
            </a:r>
          </a:p>
          <a:p>
            <a:pPr lvl="1">
              <a:buFont typeface="Arial" pitchFamily="34" charset="0"/>
              <a:buChar char="•"/>
            </a:pPr>
            <a:r>
              <a:rPr lang="en-AU" sz="1200" kern="1200" dirty="0" smtClean="0">
                <a:solidFill>
                  <a:schemeClr val="tx1"/>
                </a:solidFill>
                <a:latin typeface="+mn-lt"/>
                <a:ea typeface="+mn-ea"/>
                <a:cs typeface="+mn-cs"/>
              </a:rPr>
              <a:t> Identification of location of first aid kits, accident registers, fire extinguishers</a:t>
            </a:r>
            <a:r>
              <a:rPr lang="en-AU" sz="1200" kern="1200" baseline="0" dirty="0" smtClean="0">
                <a:solidFill>
                  <a:schemeClr val="tx1"/>
                </a:solidFill>
                <a:latin typeface="+mn-lt"/>
                <a:ea typeface="+mn-ea"/>
                <a:cs typeface="+mn-cs"/>
              </a:rPr>
              <a:t> and</a:t>
            </a:r>
            <a:r>
              <a:rPr lang="en-AU" sz="1200" kern="1200" dirty="0" smtClean="0">
                <a:solidFill>
                  <a:schemeClr val="tx1"/>
                </a:solidFill>
                <a:latin typeface="+mn-lt"/>
                <a:ea typeface="+mn-ea"/>
                <a:cs typeface="+mn-cs"/>
              </a:rPr>
              <a:t> evacuation plans</a:t>
            </a:r>
          </a:p>
          <a:p>
            <a:pPr lvl="1">
              <a:buFont typeface="Arial" pitchFamily="34" charset="0"/>
              <a:buChar char="•"/>
            </a:pPr>
            <a:r>
              <a:rPr lang="en-AU" sz="1200" kern="1200" dirty="0" smtClean="0">
                <a:solidFill>
                  <a:schemeClr val="tx1"/>
                </a:solidFill>
                <a:latin typeface="+mn-lt"/>
                <a:ea typeface="+mn-ea"/>
                <a:cs typeface="+mn-cs"/>
              </a:rPr>
              <a:t> Explanation of OHS structures (committees and representatives) within the business.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a:t>
            </a:r>
            <a:r>
              <a:rPr lang="en-US" baseline="0" dirty="0" smtClean="0"/>
              <a:t> in addition to what has already been identified an induction and orientation session needs to include:</a:t>
            </a:r>
          </a:p>
          <a:p>
            <a:pPr>
              <a:buFont typeface="Arial" pitchFamily="34" charset="0"/>
              <a:buChar char="•"/>
            </a:pPr>
            <a:r>
              <a:rPr lang="en-US" dirty="0" smtClean="0"/>
              <a:t> A semi-socialising</a:t>
            </a:r>
            <a:r>
              <a:rPr lang="en-US" baseline="0" dirty="0" smtClean="0"/>
              <a:t> experience – getting to know other staff, putting a name to a face and learning their roles</a:t>
            </a:r>
          </a:p>
          <a:p>
            <a:pPr>
              <a:buFont typeface="Arial" pitchFamily="34" charset="0"/>
              <a:buChar char="•"/>
            </a:pPr>
            <a:r>
              <a:rPr lang="en-US" baseline="0" dirty="0" smtClean="0"/>
              <a:t> Establishment-wide policies and procedures – such as where to park, general staff-related staff policies, standard operating procedures for generic tasks</a:t>
            </a:r>
          </a:p>
          <a:p>
            <a:pPr>
              <a:buFont typeface="Arial" pitchFamily="34" charset="0"/>
              <a:buChar char="•"/>
            </a:pPr>
            <a:r>
              <a:rPr lang="en-US" baseline="0" dirty="0" smtClean="0"/>
              <a:t> Names of best person to contact for work-related queries and their contact details</a:t>
            </a:r>
          </a:p>
          <a:p>
            <a:pPr>
              <a:buFont typeface="Arial" pitchFamily="34" charset="0"/>
              <a:buChar char="•"/>
            </a:pPr>
            <a:r>
              <a:rPr lang="en-US" baseline="0" dirty="0" smtClean="0"/>
              <a:t> Specific other topic – see following slides.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instructs</a:t>
            </a:r>
            <a:r>
              <a:rPr lang="en-US" baseline="0" dirty="0" smtClean="0"/>
              <a:t> trainees about the contents of a formal induction and orientation session;</a:t>
            </a:r>
          </a:p>
          <a:p>
            <a:pPr>
              <a:buFont typeface="Arial" pitchFamily="34" charset="0"/>
              <a:buChar char="•"/>
            </a:pPr>
            <a:r>
              <a:rPr lang="en-AU" sz="1200" kern="1200" dirty="0" smtClean="0">
                <a:solidFill>
                  <a:schemeClr val="tx1"/>
                </a:solidFill>
                <a:latin typeface="+mn-lt"/>
                <a:ea typeface="+mn-ea"/>
                <a:cs typeface="+mn-cs"/>
              </a:rPr>
              <a:t> Completion of necessary paperwork – covering internal and legislative requirements, such as:</a:t>
            </a:r>
          </a:p>
          <a:p>
            <a:pPr lvl="1">
              <a:buFont typeface="Arial" pitchFamily="34" charset="0"/>
              <a:buChar char="•"/>
            </a:pPr>
            <a:r>
              <a:rPr lang="en-AU" sz="1200" kern="1200" dirty="0" smtClean="0">
                <a:solidFill>
                  <a:schemeClr val="tx1"/>
                </a:solidFill>
                <a:latin typeface="+mn-lt"/>
                <a:ea typeface="+mn-ea"/>
                <a:cs typeface="+mn-cs"/>
              </a:rPr>
              <a:t> Offer of employment letter (if not already signed</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completed)</a:t>
            </a:r>
          </a:p>
          <a:p>
            <a:pPr lvl="1">
              <a:buFont typeface="Arial" pitchFamily="34" charset="0"/>
              <a:buChar char="•"/>
            </a:pPr>
            <a:r>
              <a:rPr lang="en-AU" sz="1200" kern="1200" dirty="0" smtClean="0">
                <a:solidFill>
                  <a:schemeClr val="tx1"/>
                </a:solidFill>
                <a:latin typeface="+mn-lt"/>
                <a:ea typeface="+mn-ea"/>
                <a:cs typeface="+mn-cs"/>
              </a:rPr>
              <a:t> Staff uniform form </a:t>
            </a:r>
          </a:p>
          <a:p>
            <a:pPr lvl="1">
              <a:buFont typeface="Arial" pitchFamily="34" charset="0"/>
              <a:buChar char="•"/>
            </a:pPr>
            <a:r>
              <a:rPr lang="en-AU" sz="1200" kern="1200" dirty="0" smtClean="0">
                <a:solidFill>
                  <a:schemeClr val="tx1"/>
                </a:solidFill>
                <a:latin typeface="+mn-lt"/>
                <a:ea typeface="+mn-ea"/>
                <a:cs typeface="+mn-cs"/>
              </a:rPr>
              <a:t> Personal details form including identification of ‘next of kin’</a:t>
            </a:r>
          </a:p>
          <a:p>
            <a:pPr lvl="1">
              <a:buFont typeface="Arial" pitchFamily="34" charset="0"/>
              <a:buChar char="•"/>
            </a:pPr>
            <a:r>
              <a:rPr lang="en-AU" sz="1200" kern="1200" dirty="0" smtClean="0">
                <a:solidFill>
                  <a:schemeClr val="tx1"/>
                </a:solidFill>
                <a:latin typeface="+mn-lt"/>
                <a:ea typeface="+mn-ea"/>
                <a:cs typeface="+mn-cs"/>
              </a:rPr>
              <a:t> Bank account details form – for payment of wages into the bank</a:t>
            </a:r>
          </a:p>
          <a:p>
            <a:pPr lvl="1">
              <a:buFont typeface="Arial" pitchFamily="34" charset="0"/>
              <a:buChar char="•"/>
            </a:pPr>
            <a:r>
              <a:rPr lang="en-AU" sz="1200" kern="1200" dirty="0" smtClean="0">
                <a:solidFill>
                  <a:schemeClr val="tx1"/>
                </a:solidFill>
                <a:latin typeface="+mn-lt"/>
                <a:ea typeface="+mn-ea"/>
                <a:cs typeface="+mn-cs"/>
              </a:rPr>
              <a:t> Personal taxation form</a:t>
            </a:r>
          </a:p>
          <a:p>
            <a:pPr lvl="1">
              <a:buFont typeface="Arial" pitchFamily="34" charset="0"/>
              <a:buChar char="•"/>
            </a:pPr>
            <a:r>
              <a:rPr lang="en-AU" sz="1200" kern="1200" dirty="0" smtClean="0">
                <a:solidFill>
                  <a:schemeClr val="tx1"/>
                </a:solidFill>
                <a:latin typeface="+mn-lt"/>
                <a:ea typeface="+mn-ea"/>
                <a:cs typeface="+mn-cs"/>
              </a:rPr>
              <a:t> Superannuation application form  </a:t>
            </a:r>
          </a:p>
          <a:p>
            <a:pPr>
              <a:buFont typeface="Arial" pitchFamily="34" charset="0"/>
              <a:buChar char="•"/>
            </a:pPr>
            <a:r>
              <a:rPr lang="en-AU" sz="1200" kern="1200" dirty="0" smtClean="0">
                <a:solidFill>
                  <a:schemeClr val="tx1"/>
                </a:solidFill>
                <a:latin typeface="+mn-lt"/>
                <a:ea typeface="+mn-ea"/>
                <a:cs typeface="+mn-cs"/>
              </a:rPr>
              <a:t> 'Need to know' information – names of key staff, location of toilets and change room, where staff can park their cars,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how to sign in at the beginning of work, where company policies and procedures are located. This may require:</a:t>
            </a:r>
          </a:p>
          <a:p>
            <a:pPr lvl="1">
              <a:buFont typeface="Arial" pitchFamily="34" charset="0"/>
              <a:buChar char="•"/>
            </a:pPr>
            <a:r>
              <a:rPr lang="en-US" sz="1200" kern="1200" dirty="0" smtClean="0">
                <a:solidFill>
                  <a:schemeClr val="tx1"/>
                </a:solidFill>
                <a:latin typeface="+mn-lt"/>
                <a:ea typeface="+mn-ea"/>
                <a:cs typeface="+mn-cs"/>
              </a:rPr>
              <a:t> Arrangement of access to workplace intranet</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Distribution of copies of policies and procedures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Handing out staff employee manual</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Tour of the workplace – to show the extent of the business, the physical relationship of one area to another, and to allow the new staff member to become  more aware about the total nature of the business. Some businesses include a 'Tour Checklist' the new staff member ticks off as they visit certain areas of the property, to ensure they get to see all the necessary areas.</a:t>
            </a:r>
          </a:p>
          <a:p>
            <a:pPr>
              <a:buFont typeface="Arial" pitchFamily="34" charset="0"/>
              <a:buNone/>
            </a:pPr>
            <a:endParaRPr lang="en-US" dirty="0" smtClean="0"/>
          </a:p>
          <a:p>
            <a:pPr>
              <a:buFont typeface="Arial" pitchFamily="34" charset="0"/>
              <a:buNone/>
            </a:pPr>
            <a:r>
              <a:rPr lang="en-US" b="1" dirty="0" smtClean="0"/>
              <a:t>Class Activity – Handouts </a:t>
            </a:r>
          </a:p>
          <a:p>
            <a:pPr>
              <a:buFont typeface="Arial" pitchFamily="34" charset="0"/>
              <a:buNone/>
            </a:pPr>
            <a:r>
              <a:rPr lang="en-US" b="0" dirty="0" smtClean="0"/>
              <a:t>Trainer obtains sample documentation as identified on this slide and:</a:t>
            </a:r>
          </a:p>
          <a:p>
            <a:pPr>
              <a:buFont typeface="Arial" pitchFamily="34" charset="0"/>
              <a:buChar char="•"/>
            </a:pPr>
            <a:r>
              <a:rPr lang="en-US" b="0" dirty="0" smtClean="0"/>
              <a:t> Distributes to trainees</a:t>
            </a:r>
          </a:p>
          <a:p>
            <a:pPr>
              <a:buFont typeface="Arial" pitchFamily="34" charset="0"/>
              <a:buChar char="•"/>
            </a:pPr>
            <a:r>
              <a:rPr lang="en-US" b="0" dirty="0" smtClean="0"/>
              <a:t> Discusses and explains their role</a:t>
            </a:r>
          </a:p>
          <a:p>
            <a:pPr>
              <a:buFont typeface="Arial" pitchFamily="34" charset="0"/>
              <a:buChar char="•"/>
            </a:pPr>
            <a:r>
              <a:rPr lang="en-US" b="0" dirty="0" smtClean="0"/>
              <a:t> Tells trainees where these forms may be obtained.</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examples of what needs to be covered in an induction and orientation session:</a:t>
            </a:r>
          </a:p>
          <a:p>
            <a:pPr>
              <a:buFont typeface="Arial" pitchFamily="34" charset="0"/>
              <a:buChar char="•"/>
            </a:pPr>
            <a:r>
              <a:rPr lang="en-AU" sz="1200" kern="1200" dirty="0" smtClean="0">
                <a:solidFill>
                  <a:schemeClr val="tx1"/>
                </a:solidFill>
                <a:latin typeface="+mn-lt"/>
                <a:ea typeface="+mn-ea"/>
                <a:cs typeface="+mn-cs"/>
              </a:rPr>
              <a:t> Meeting with managers, supervisors and co-workers – to introduce the new member and enable them to put a face to the name</a:t>
            </a:r>
          </a:p>
          <a:p>
            <a:pPr>
              <a:buFont typeface="Arial" pitchFamily="34" charset="0"/>
              <a:buChar char="•"/>
            </a:pPr>
            <a:r>
              <a:rPr lang="en-AU" sz="1200" kern="1200" dirty="0" smtClean="0">
                <a:solidFill>
                  <a:schemeClr val="tx1"/>
                </a:solidFill>
                <a:latin typeface="+mn-lt"/>
                <a:ea typeface="+mn-ea"/>
                <a:cs typeface="+mn-cs"/>
              </a:rPr>
              <a:t> Allocation of uniform and relevant badges – issuing of the name badge and uniforms. This may include fittings or ordering of new uniform.</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 copy of the 'staff uniform policy' may also accompany this, together with a sheet explaining the charges for replacement uniform items.</a:t>
            </a:r>
          </a:p>
          <a:p>
            <a:pPr>
              <a:buFont typeface="Arial" pitchFamily="34" charset="0"/>
              <a:buChar char="•"/>
            </a:pPr>
            <a:r>
              <a:rPr lang="en-AU" sz="1200" kern="1200" dirty="0" smtClean="0">
                <a:solidFill>
                  <a:schemeClr val="tx1"/>
                </a:solidFill>
                <a:latin typeface="+mn-lt"/>
                <a:ea typeface="+mn-ea"/>
                <a:cs typeface="+mn-cs"/>
              </a:rPr>
              <a:t> Detailed department</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position induction – explaining how the new staff member’s role fits in with other roles in the business and how the department collaborates with other departments to achieve overall organisation aims,</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identification of where materials</a:t>
            </a:r>
            <a:r>
              <a:rPr lang="en-AU" sz="1200" kern="1200" baseline="0" dirty="0" smtClean="0">
                <a:solidFill>
                  <a:schemeClr val="tx1"/>
                </a:solidFill>
                <a:latin typeface="+mn-lt"/>
                <a:ea typeface="+mn-ea"/>
                <a:cs typeface="+mn-cs"/>
              </a:rPr>
              <a:t>,</a:t>
            </a:r>
            <a:r>
              <a:rPr lang="en-AU" sz="1200" kern="1200" dirty="0" smtClean="0">
                <a:solidFill>
                  <a:schemeClr val="tx1"/>
                </a:solidFill>
                <a:latin typeface="+mn-lt"/>
                <a:ea typeface="+mn-ea"/>
                <a:cs typeface="+mn-cs"/>
              </a:rPr>
              <a:t> utensils and other work requisites are located</a:t>
            </a:r>
          </a:p>
          <a:p>
            <a:pPr>
              <a:buFont typeface="Arial" pitchFamily="34" charset="0"/>
              <a:buChar char="•"/>
            </a:pPr>
            <a:r>
              <a:rPr lang="en-AU" sz="1200" kern="1200" dirty="0" smtClean="0">
                <a:solidFill>
                  <a:schemeClr val="tx1"/>
                </a:solidFill>
                <a:latin typeface="+mn-lt"/>
                <a:ea typeface="+mn-ea"/>
                <a:cs typeface="+mn-cs"/>
              </a:rPr>
              <a:t> Expectations of the role – setting out what is expected from the employee by management, customers and other staff</a:t>
            </a:r>
          </a:p>
          <a:p>
            <a:pPr>
              <a:buFont typeface="Arial" pitchFamily="34" charset="0"/>
              <a:buChar char="•"/>
            </a:pPr>
            <a:r>
              <a:rPr lang="en-AU" sz="1200" kern="1200" dirty="0" smtClean="0">
                <a:solidFill>
                  <a:schemeClr val="tx1"/>
                </a:solidFill>
                <a:latin typeface="+mn-lt"/>
                <a:ea typeface="+mn-ea"/>
                <a:cs typeface="+mn-cs"/>
              </a:rPr>
              <a:t> Coverage of details in the relevant job description – explaining and clarifying aspects of the job as it applies to the individual. This is a detailed, point-by-point coverage and explanation of the job further explaining the job that has already been briefly addressed during the interview process. This explanation is intended to highlight vital aspects of the job and every aspect considered important.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examples of what needs to be covered in an induction and orientation session:</a:t>
            </a:r>
          </a:p>
          <a:p>
            <a:pPr>
              <a:buFont typeface="Arial" pitchFamily="34" charset="0"/>
              <a:buChar char="•"/>
            </a:pPr>
            <a:r>
              <a:rPr lang="en-AU" sz="1200" kern="1200" dirty="0" smtClean="0">
                <a:solidFill>
                  <a:schemeClr val="tx1"/>
                </a:solidFill>
                <a:latin typeface="+mn-lt"/>
                <a:ea typeface="+mn-ea"/>
                <a:cs typeface="+mn-cs"/>
              </a:rPr>
              <a:t> Distribution of a copy of roster – so the new staff member knows when they are expected to attend for work, when their breaks are, which days are Rostered Days Off</a:t>
            </a:r>
          </a:p>
          <a:p>
            <a:pPr>
              <a:buFont typeface="Arial" pitchFamily="34" charset="0"/>
              <a:buChar char="•"/>
            </a:pPr>
            <a:r>
              <a:rPr lang="en-AU" sz="1200" kern="1200" dirty="0" smtClean="0">
                <a:solidFill>
                  <a:schemeClr val="tx1"/>
                </a:solidFill>
                <a:latin typeface="+mn-lt"/>
                <a:ea typeface="+mn-ea"/>
                <a:cs typeface="+mn-cs"/>
              </a:rPr>
              <a:t> Distribution of a list containing establishment-based terminology – this can be a physical checklist to explain establishment-specific terms and in-house short-hand or accepted abbreviations. For example, most businesses have specific operations abbreviations</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terms</a:t>
            </a:r>
          </a:p>
          <a:p>
            <a:pPr>
              <a:buFont typeface="Arial" pitchFamily="34" charset="0"/>
              <a:buChar char="•"/>
            </a:pPr>
            <a:r>
              <a:rPr lang="en-AU" sz="1200" kern="1200" dirty="0" smtClean="0">
                <a:solidFill>
                  <a:schemeClr val="tx1"/>
                </a:solidFill>
                <a:latin typeface="+mn-lt"/>
                <a:ea typeface="+mn-ea"/>
                <a:cs typeface="+mn-cs"/>
              </a:rPr>
              <a:t> A written explanation of the operation of the business – this may cover an explanation of the range of products and services offered, any future plans for expansion, an overview of the different markets serviced, presentation of customer profiles, a list of the hours of operation of different departments</a:t>
            </a:r>
            <a:r>
              <a:rPr lang="en-AU" sz="1200" kern="1200" baseline="0" dirty="0" smtClean="0">
                <a:solidFill>
                  <a:schemeClr val="tx1"/>
                </a:solidFill>
                <a:latin typeface="+mn-lt"/>
                <a:ea typeface="+mn-ea"/>
                <a:cs typeface="+mn-cs"/>
              </a:rPr>
              <a:t> and </a:t>
            </a:r>
            <a:r>
              <a:rPr lang="en-AU" sz="1200" kern="1200" dirty="0" smtClean="0">
                <a:solidFill>
                  <a:schemeClr val="tx1"/>
                </a:solidFill>
                <a:latin typeface="+mn-lt"/>
                <a:ea typeface="+mn-ea"/>
                <a:cs typeface="+mn-cs"/>
              </a:rPr>
              <a:t>services, how payment is accepted throughout the venue, and even our terms of trade. There is really no end to what can be covered here, and this list is very much something that grows and changes with the business.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examples of what needs to be covered in an induction and orientation session:</a:t>
            </a:r>
          </a:p>
          <a:p>
            <a:pPr>
              <a:buFont typeface="Arial" pitchFamily="34" charset="0"/>
              <a:buChar char="•"/>
            </a:pPr>
            <a:r>
              <a:rPr lang="en-AU" sz="1200" kern="1200" dirty="0" smtClean="0">
                <a:solidFill>
                  <a:schemeClr val="tx1"/>
                </a:solidFill>
                <a:latin typeface="+mn-lt"/>
                <a:ea typeface="+mn-ea"/>
                <a:cs typeface="+mn-cs"/>
              </a:rPr>
              <a:t> Explanation of safety and security issues – notification of the emphasis the venue places on the safety and security of staff and customers,  explanation of where first aid kits, fire extinguishers, fire blankets, alarms and evacuation plans are located. This may also be accompanied by company policies on  evacuations, robberies and other security and emergency situations.</a:t>
            </a:r>
          </a:p>
          <a:p>
            <a:pPr>
              <a:buFont typeface="Arial" pitchFamily="34" charset="0"/>
              <a:buChar char="•"/>
            </a:pPr>
            <a:r>
              <a:rPr lang="en-AU" sz="1200" kern="1200" dirty="0" smtClean="0">
                <a:solidFill>
                  <a:schemeClr val="tx1"/>
                </a:solidFill>
                <a:latin typeface="+mn-lt"/>
                <a:ea typeface="+mn-ea"/>
                <a:cs typeface="+mn-cs"/>
              </a:rPr>
              <a:t> Explanation of company benefits – an explanation of staff discounts available, opportunities for promotion within the company, training provided by the company and how to take advantage of it, together with the limits that apply in each instance</a:t>
            </a:r>
          </a:p>
          <a:p>
            <a:pPr>
              <a:buFont typeface="Arial" pitchFamily="34" charset="0"/>
              <a:buChar char="•"/>
            </a:pPr>
            <a:r>
              <a:rPr lang="en-AU" sz="1200" kern="1200" dirty="0" smtClean="0">
                <a:solidFill>
                  <a:schemeClr val="tx1"/>
                </a:solidFill>
                <a:latin typeface="+mn-lt"/>
                <a:ea typeface="+mn-ea"/>
                <a:cs typeface="+mn-cs"/>
              </a:rPr>
              <a:t> Explanation of any workplace awards that may exist – such as 'Employee of the Month', how to win it and what it consists of </a:t>
            </a:r>
          </a:p>
          <a:p>
            <a:pPr>
              <a:buFont typeface="Arial" pitchFamily="34" charset="0"/>
              <a:buChar char="•"/>
            </a:pPr>
            <a:r>
              <a:rPr lang="en-AU" sz="1200" kern="1200" dirty="0" smtClean="0">
                <a:solidFill>
                  <a:schemeClr val="tx1"/>
                </a:solidFill>
                <a:latin typeface="+mn-lt"/>
                <a:ea typeface="+mn-ea"/>
                <a:cs typeface="+mn-cs"/>
              </a:rPr>
              <a:t> Information about performance appraisals– explanation and definition of what these involve, when they will take place, how they are administered and what they are used for. Important in this regard is presentation and explanation of any KPIs the employee will be evaluated against.</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hese could include revenue generated, number of rooms serviced, number of people served, number of meals served or other indicators appropriate to the individual job role.</a:t>
            </a:r>
          </a:p>
          <a:p>
            <a:pPr>
              <a:buFont typeface="Arial" pitchFamily="34" charset="0"/>
              <a:buChar char="•"/>
            </a:pPr>
            <a:r>
              <a:rPr lang="en-AU" sz="1200" kern="1200" dirty="0" smtClean="0">
                <a:solidFill>
                  <a:schemeClr val="tx1"/>
                </a:solidFill>
                <a:latin typeface="+mn-lt"/>
                <a:ea typeface="+mn-ea"/>
                <a:cs typeface="+mn-cs"/>
              </a:rPr>
              <a:t> When new staff members start their work, it is common to allocate them a person to be their workplace mentor who they can turn to for advice, information, guidance and further information.</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the induction and orientation should also address the ‘culture’ of the workplace:</a:t>
            </a:r>
          </a:p>
          <a:p>
            <a:pPr>
              <a:buFont typeface="Arial" pitchFamily="34" charset="0"/>
              <a:buChar char="•"/>
            </a:pPr>
            <a:r>
              <a:rPr lang="en-AU" sz="1200" kern="1200" dirty="0" smtClean="0">
                <a:solidFill>
                  <a:schemeClr val="tx1"/>
                </a:solidFill>
                <a:latin typeface="+mn-lt"/>
                <a:ea typeface="+mn-ea"/>
                <a:cs typeface="+mn-cs"/>
              </a:rPr>
              <a:t> The culture of the organisation is generally described as representing ‘the way we do things around here’. It is important information for a new employee to help them ‘fit in’ with the workers who are already in the organisation.</a:t>
            </a:r>
          </a:p>
          <a:p>
            <a:pPr>
              <a:buFont typeface="Arial" pitchFamily="34" charset="0"/>
              <a:buChar char="•"/>
            </a:pPr>
            <a:r>
              <a:rPr lang="en-AU" sz="1200" kern="1200" dirty="0" smtClean="0">
                <a:solidFill>
                  <a:schemeClr val="tx1"/>
                </a:solidFill>
                <a:latin typeface="+mn-lt"/>
                <a:ea typeface="+mn-ea"/>
                <a:cs typeface="+mn-cs"/>
              </a:rPr>
              <a:t> This information may involve:</a:t>
            </a:r>
          </a:p>
          <a:p>
            <a:pPr lvl="1">
              <a:buFont typeface="Arial" pitchFamily="34" charset="0"/>
              <a:buChar char="•"/>
            </a:pPr>
            <a:r>
              <a:rPr lang="en-AU" sz="1200" kern="1200" dirty="0" smtClean="0">
                <a:solidFill>
                  <a:schemeClr val="tx1"/>
                </a:solidFill>
                <a:latin typeface="+mn-lt"/>
                <a:ea typeface="+mn-ea"/>
                <a:cs typeface="+mn-cs"/>
              </a:rPr>
              <a:t> Consideration and discussion of the Mission Statement of the business</a:t>
            </a:r>
          </a:p>
          <a:p>
            <a:pPr lvl="1">
              <a:buFont typeface="Arial" pitchFamily="34" charset="0"/>
              <a:buChar char="•"/>
            </a:pPr>
            <a:r>
              <a:rPr lang="en-AU" sz="1200" kern="1200" dirty="0" smtClean="0">
                <a:solidFill>
                  <a:schemeClr val="tx1"/>
                </a:solidFill>
                <a:latin typeface="+mn-lt"/>
                <a:ea typeface="+mn-ea"/>
                <a:cs typeface="+mn-cs"/>
              </a:rPr>
              <a:t> Explanation of the Vision Statement</a:t>
            </a:r>
          </a:p>
          <a:p>
            <a:pPr lvl="1">
              <a:buFont typeface="Arial" pitchFamily="34" charset="0"/>
              <a:buChar char="•"/>
            </a:pPr>
            <a:r>
              <a:rPr lang="en-AU" sz="1200" kern="1200" dirty="0" smtClean="0">
                <a:solidFill>
                  <a:schemeClr val="tx1"/>
                </a:solidFill>
                <a:latin typeface="+mn-lt"/>
                <a:ea typeface="+mn-ea"/>
                <a:cs typeface="+mn-cs"/>
              </a:rPr>
              <a:t> Explanation of company Values</a:t>
            </a:r>
          </a:p>
          <a:p>
            <a:pPr lvl="1">
              <a:buFont typeface="Arial" pitchFamily="34" charset="0"/>
              <a:buChar char="•"/>
            </a:pPr>
            <a:r>
              <a:rPr lang="en-AU" sz="1200" kern="1200" dirty="0" smtClean="0">
                <a:solidFill>
                  <a:schemeClr val="tx1"/>
                </a:solidFill>
                <a:latin typeface="+mn-lt"/>
                <a:ea typeface="+mn-ea"/>
                <a:cs typeface="+mn-cs"/>
              </a:rPr>
              <a:t> Description of the work ethic of the business</a:t>
            </a:r>
          </a:p>
          <a:p>
            <a:pPr lvl="1">
              <a:buFont typeface="Arial" pitchFamily="34" charset="0"/>
              <a:buChar char="•"/>
            </a:pPr>
            <a:r>
              <a:rPr lang="en-AU" sz="1200" kern="1200" dirty="0" smtClean="0">
                <a:solidFill>
                  <a:schemeClr val="tx1"/>
                </a:solidFill>
                <a:latin typeface="+mn-lt"/>
                <a:ea typeface="+mn-ea"/>
                <a:cs typeface="+mn-cs"/>
              </a:rPr>
              <a:t> Explanation of the ‘grapevine’ within the venue</a:t>
            </a:r>
          </a:p>
          <a:p>
            <a:pPr lvl="1">
              <a:buFont typeface="Arial" pitchFamily="34" charset="0"/>
              <a:buChar char="•"/>
            </a:pPr>
            <a:r>
              <a:rPr lang="en-AU" sz="1200" kern="1200" dirty="0" smtClean="0">
                <a:solidFill>
                  <a:schemeClr val="tx1"/>
                </a:solidFill>
                <a:latin typeface="+mn-lt"/>
                <a:ea typeface="+mn-ea"/>
                <a:cs typeface="+mn-cs"/>
              </a:rPr>
              <a:t> Identification of social opportunities (such as clubs) within the staff network.</a:t>
            </a:r>
          </a:p>
          <a:p>
            <a:pPr>
              <a:buFont typeface="Arial" pitchFamily="34" charset="0"/>
              <a:buNone/>
            </a:pPr>
            <a:endParaRPr lang="en-US" dirty="0" smtClean="0"/>
          </a:p>
          <a:p>
            <a:pPr>
              <a:buFont typeface="Arial" pitchFamily="34" charset="0"/>
              <a:buNone/>
            </a:pPr>
            <a:r>
              <a:rPr lang="en-US" b="1" dirty="0" smtClean="0"/>
              <a:t>Class Activity – Handouts </a:t>
            </a:r>
          </a:p>
          <a:p>
            <a:pPr>
              <a:buFont typeface="Arial" pitchFamily="34" charset="0"/>
              <a:buNone/>
            </a:pPr>
            <a:r>
              <a:rPr lang="en-US" b="0" dirty="0" smtClean="0"/>
              <a:t>Trainer obtains sample documentation as identified on this slide and:</a:t>
            </a:r>
          </a:p>
          <a:p>
            <a:pPr>
              <a:buFont typeface="Arial" pitchFamily="34" charset="0"/>
              <a:buChar char="•"/>
            </a:pPr>
            <a:r>
              <a:rPr lang="en-US" b="0" dirty="0" smtClean="0"/>
              <a:t> Distributes to trainees</a:t>
            </a:r>
          </a:p>
          <a:p>
            <a:pPr>
              <a:buFont typeface="Arial" pitchFamily="34" charset="0"/>
              <a:buChar char="•"/>
            </a:pPr>
            <a:r>
              <a:rPr lang="en-US" b="0" dirty="0" smtClean="0"/>
              <a:t> Discusses and explains their role</a:t>
            </a:r>
          </a:p>
          <a:p>
            <a:pPr>
              <a:buFont typeface="Arial" pitchFamily="34" charset="0"/>
              <a:buChar char="•"/>
            </a:pPr>
            <a:r>
              <a:rPr lang="en-US" b="0" dirty="0" smtClean="0"/>
              <a:t> Tells trainees how these may be developed.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further considerations when planning an induction and orientation:</a:t>
            </a:r>
          </a:p>
          <a:p>
            <a:pPr>
              <a:buFont typeface="Arial" pitchFamily="34" charset="0"/>
              <a:buChar char="•"/>
            </a:pPr>
            <a:r>
              <a:rPr lang="en-AU" sz="1200" kern="1200" dirty="0" smtClean="0">
                <a:solidFill>
                  <a:schemeClr val="tx1"/>
                </a:solidFill>
                <a:latin typeface="+mn-lt"/>
                <a:ea typeface="+mn-ea"/>
                <a:cs typeface="+mn-cs"/>
              </a:rPr>
              <a:t> When planning an induction for a staff member it is important to liaise with operational colleagues to ensure the induction is implemented in a manner minimising operational disruption.</a:t>
            </a:r>
          </a:p>
          <a:p>
            <a:pPr>
              <a:buFont typeface="Arial" pitchFamily="34" charset="0"/>
              <a:buChar char="•"/>
            </a:pPr>
            <a:r>
              <a:rPr lang="en-AU" sz="1200" kern="1200" dirty="0" smtClean="0">
                <a:solidFill>
                  <a:schemeClr val="tx1"/>
                </a:solidFill>
                <a:latin typeface="+mn-lt"/>
                <a:ea typeface="+mn-ea"/>
                <a:cs typeface="+mn-cs"/>
              </a:rPr>
              <a:t> Two common considerations relating to the timing of the induction for a new staff member are:</a:t>
            </a:r>
          </a:p>
          <a:p>
            <a:pPr lvl="1">
              <a:buFont typeface="Arial" pitchFamily="34" charset="0"/>
              <a:buChar char="•"/>
            </a:pPr>
            <a:r>
              <a:rPr lang="en-AU" sz="1200" kern="1200" dirty="0" smtClean="0">
                <a:solidFill>
                  <a:schemeClr val="tx1"/>
                </a:solidFill>
                <a:latin typeface="+mn-lt"/>
                <a:ea typeface="+mn-ea"/>
                <a:cs typeface="+mn-cs"/>
              </a:rPr>
              <a:t> The hour of the day the induction is to take place</a:t>
            </a:r>
          </a:p>
          <a:p>
            <a:pPr lvl="1">
              <a:buFont typeface="Arial" pitchFamily="34" charset="0"/>
              <a:buChar char="•"/>
            </a:pPr>
            <a:r>
              <a:rPr lang="en-AU" sz="1200" kern="1200" dirty="0" smtClean="0">
                <a:solidFill>
                  <a:schemeClr val="tx1"/>
                </a:solidFill>
                <a:latin typeface="+mn-lt"/>
                <a:ea typeface="+mn-ea"/>
                <a:cs typeface="+mn-cs"/>
              </a:rPr>
              <a:t> The particular day of the week the induction will take place. </a:t>
            </a:r>
          </a:p>
          <a:p>
            <a:pPr lvl="1">
              <a:buFont typeface="Arial" pitchFamily="34" charset="0"/>
              <a:buNone/>
            </a:pPr>
            <a:r>
              <a:rPr lang="en-AU" sz="1200" kern="1200" dirty="0" smtClean="0">
                <a:solidFill>
                  <a:schemeClr val="tx1"/>
                </a:solidFill>
                <a:latin typeface="+mn-lt"/>
                <a:ea typeface="+mn-ea"/>
                <a:cs typeface="+mn-cs"/>
              </a:rPr>
              <a:t> This obviously has implications for determining the ‘first day’ for the new employee: it is not a good idea to conduct an induction at a busy time on a traditionally busy day. </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relevant industry</a:t>
            </a:r>
            <a:r>
              <a:rPr lang="en-US" b="0" baseline="0" dirty="0" smtClean="0"/>
              <a:t> </a:t>
            </a:r>
            <a:r>
              <a:rPr lang="en-US" b="0" dirty="0" smtClean="0"/>
              <a:t>manager to visit trainees to:</a:t>
            </a:r>
          </a:p>
          <a:p>
            <a:pPr>
              <a:buFont typeface="Arial" pitchFamily="34" charset="0"/>
              <a:buChar char="•"/>
            </a:pPr>
            <a:r>
              <a:rPr lang="en-US" b="0" dirty="0" smtClean="0"/>
              <a:t> Discuss their role and responsibilities and how they came</a:t>
            </a:r>
            <a:r>
              <a:rPr lang="en-US" b="0" baseline="0" dirty="0" smtClean="0"/>
              <a:t> to be where they are</a:t>
            </a:r>
          </a:p>
          <a:p>
            <a:pPr>
              <a:buFont typeface="Arial" pitchFamily="34" charset="0"/>
              <a:buChar char="•"/>
            </a:pPr>
            <a:r>
              <a:rPr lang="en-US" b="0" baseline="0" dirty="0" smtClean="0"/>
              <a:t> Explain the preparation they do for an induction and orientation session</a:t>
            </a:r>
          </a:p>
          <a:p>
            <a:pPr>
              <a:buFont typeface="Arial" pitchFamily="34" charset="0"/>
              <a:buChar char="•"/>
            </a:pPr>
            <a:r>
              <a:rPr lang="en-US" b="0" baseline="0" dirty="0" smtClean="0"/>
              <a:t> Present generic material used as part of an induction and orientation session</a:t>
            </a:r>
          </a:p>
          <a:p>
            <a:pPr>
              <a:buFont typeface="Arial" pitchFamily="34" charset="0"/>
              <a:buChar char="•"/>
            </a:pPr>
            <a:r>
              <a:rPr lang="en-US" b="0" baseline="0" dirty="0" smtClean="0"/>
              <a:t> Explain how they tailor-make induction and orientation sessions to cater for different job positions</a:t>
            </a:r>
          </a:p>
          <a:p>
            <a:pPr>
              <a:buFont typeface="Arial" pitchFamily="34" charset="0"/>
              <a:buChar char="•"/>
            </a:pPr>
            <a:r>
              <a:rPr lang="en-US" b="0" baseline="0" dirty="0" smtClean="0"/>
              <a:t> Identify how long an induction and orientation session takes and when they conduct them</a:t>
            </a:r>
          </a:p>
          <a:p>
            <a:pPr>
              <a:buFont typeface="Arial" pitchFamily="34" charset="0"/>
              <a:buChar char="•"/>
            </a:pPr>
            <a:r>
              <a:rPr lang="en-US" b="0" baseline="0" dirty="0" smtClean="0"/>
              <a:t> Identify the activities comprising a induction and orientation session.</a:t>
            </a:r>
          </a:p>
          <a:p>
            <a:pPr>
              <a:buFont typeface="Arial" pitchFamily="34" charset="0"/>
              <a:buChar char="•"/>
            </a:pPr>
            <a:endParaRPr lang="en-US" b="0" baseline="0" dirty="0" smtClean="0"/>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further considerations when planning an induction and orientation:</a:t>
            </a:r>
          </a:p>
          <a:p>
            <a:pPr>
              <a:buFont typeface="Arial" pitchFamily="34" charset="0"/>
              <a:buChar char="•"/>
            </a:pPr>
            <a:r>
              <a:rPr lang="en-AU" sz="1200" kern="1200" dirty="0" smtClean="0">
                <a:solidFill>
                  <a:schemeClr val="tx1"/>
                </a:solidFill>
                <a:latin typeface="+mn-lt"/>
                <a:ea typeface="+mn-ea"/>
                <a:cs typeface="+mn-cs"/>
              </a:rPr>
              <a:t> The smooth flow of information – it is important to think through the proposed induction session so as to check the flow of information to the new staff member.  Is there a readily understandable and sequential flow of information or is the information being presented in a random, confusing and disjointed fashion?</a:t>
            </a:r>
          </a:p>
          <a:p>
            <a:pPr>
              <a:buFont typeface="Arial" pitchFamily="34" charset="0"/>
              <a:buChar char="•"/>
            </a:pPr>
            <a:r>
              <a:rPr lang="en-AU" sz="1200" kern="1200" dirty="0" smtClean="0">
                <a:solidFill>
                  <a:schemeClr val="tx1"/>
                </a:solidFill>
                <a:latin typeface="+mn-lt"/>
                <a:ea typeface="+mn-ea"/>
                <a:cs typeface="+mn-cs"/>
              </a:rPr>
              <a:t> Allowing time for the new staff member to ask questions and clarify information – it must be remembered the induction and orientation program should be viewed as an opportunity for the new staff member to ask questions in order to clarify their issues and to find out further information they deem necessary. An effective induction program will feature plenty of encouragement to the new person to ask questions, and plenty of time for their questions to be addressed</a:t>
            </a:r>
          </a:p>
          <a:p>
            <a:pPr>
              <a:buFont typeface="Arial" pitchFamily="34" charset="0"/>
              <a:buChar char="•"/>
            </a:pPr>
            <a:r>
              <a:rPr lang="en-AU" sz="1200" kern="1200" dirty="0" smtClean="0">
                <a:solidFill>
                  <a:schemeClr val="tx1"/>
                </a:solidFill>
                <a:latin typeface="+mn-lt"/>
                <a:ea typeface="+mn-ea"/>
                <a:cs typeface="+mn-cs"/>
              </a:rPr>
              <a:t> Allocating adequate time for covering the essentials – a common problem with induction programs is they are often too rushed. This can be a problem because a new staff member is not likely to complain or question being hurried through their first day at work. They will usually just keep quiet and learn nothing, hoping to pick things up as they go. Where this happens the induction really has been a waste of time and can even be regarded as counter-productive.</a:t>
            </a:r>
          </a:p>
          <a:p>
            <a:pPr>
              <a:buFont typeface="Arial" pitchFamily="34" charset="0"/>
              <a:buChar char="•"/>
            </a:pPr>
            <a:r>
              <a:rPr lang="en-AU" sz="1200" kern="1200" dirty="0" smtClean="0">
                <a:solidFill>
                  <a:schemeClr val="tx1"/>
                </a:solidFill>
                <a:latin typeface="+mn-lt"/>
                <a:ea typeface="+mn-ea"/>
                <a:cs typeface="+mn-cs"/>
              </a:rPr>
              <a:t> Ensuring the availability of key staff – this is a difficult thing to organise and very often will require the new staff member take several days to meet all the people seen as 'key' for their role. Given all staff have time off, other duties to perform, may be sick or on annual leave, it is not surprising few new staff get to meet all 'key' people on their first day. The important point to bear in mind is there is a need to identify who these key staff are, and then ensure they are introduced to the new person as soon as possible. This will often involve following-up people many days after the initial induction to introduce them to others.</a:t>
            </a:r>
          </a:p>
          <a:p>
            <a:pPr>
              <a:buFont typeface="Arial" pitchFamily="34" charset="0"/>
              <a:buNone/>
            </a:pPr>
            <a:endParaRPr lang="en-US" dirty="0" smtClean="0"/>
          </a:p>
          <a:p>
            <a:pPr>
              <a:buFont typeface="Arial" pitchFamily="34" charset="0"/>
              <a:buNone/>
            </a:pPr>
            <a:r>
              <a:rPr lang="en-US" b="1" dirty="0" smtClean="0"/>
              <a:t>Class Activity – Small Group Exercise</a:t>
            </a:r>
          </a:p>
          <a:p>
            <a:pPr>
              <a:buFont typeface="Arial" pitchFamily="34" charset="0"/>
              <a:buNone/>
            </a:pPr>
            <a:r>
              <a:rPr lang="en-US" b="0" dirty="0" smtClean="0"/>
              <a:t>Trainer divides trainees into small groups and allocates one job position to each group and asks them to develop an induction and orientation session for the nominated job position.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trainees</a:t>
            </a:r>
            <a:r>
              <a:rPr lang="en-US" baseline="0" dirty="0" smtClean="0"/>
              <a:t> their </a:t>
            </a:r>
            <a:r>
              <a:rPr lang="en-AU" sz="1200" kern="1200" dirty="0" smtClean="0">
                <a:solidFill>
                  <a:schemeClr val="tx1"/>
                </a:solidFill>
                <a:latin typeface="+mn-lt"/>
                <a:ea typeface="+mn-ea"/>
                <a:cs typeface="+mn-cs"/>
              </a:rPr>
              <a:t>role may to conduct induction and orientation for new staff explaining important things to consider when personally conducting induction and orientation sessions are:</a:t>
            </a:r>
          </a:p>
          <a:p>
            <a:pPr lvl="0">
              <a:buFont typeface="Arial" pitchFamily="34" charset="0"/>
              <a:buChar char="•"/>
            </a:pPr>
            <a:r>
              <a:rPr lang="en-AU" sz="1200" kern="1200" dirty="0" smtClean="0">
                <a:solidFill>
                  <a:schemeClr val="tx1"/>
                </a:solidFill>
                <a:latin typeface="+mn-lt"/>
                <a:ea typeface="+mn-ea"/>
                <a:cs typeface="+mn-cs"/>
              </a:rPr>
              <a:t> There is only one opportunity to make a positive impression in the mind of the new staff member.</a:t>
            </a:r>
          </a:p>
          <a:p>
            <a:pPr lvl="0">
              <a:buFont typeface="Arial" pitchFamily="34" charset="0"/>
              <a:buChar char="•"/>
            </a:pPr>
            <a:r>
              <a:rPr lang="en-AU" sz="1200" kern="1200" dirty="0" smtClean="0">
                <a:solidFill>
                  <a:schemeClr val="tx1"/>
                </a:solidFill>
                <a:latin typeface="+mn-lt"/>
                <a:ea typeface="+mn-ea"/>
                <a:cs typeface="+mn-cs"/>
              </a:rPr>
              <a:t> Arrive early for the session and ensure all the necessary preparations have been made. One of the biggest mistakes is to arrive late for the session and keep the new staff member waiting beyond the advised starting time for the session. This immediately sends a poor message to them about how they are valued</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and starts their relationship with the company on a negative footing.</a:t>
            </a:r>
          </a:p>
          <a:p>
            <a:pPr lvl="0">
              <a:buFont typeface="Arial" pitchFamily="34" charset="0"/>
              <a:buChar char="•"/>
            </a:pPr>
            <a:r>
              <a:rPr lang="en-AU" sz="1200" kern="1200" dirty="0" smtClean="0">
                <a:solidFill>
                  <a:schemeClr val="tx1"/>
                </a:solidFill>
                <a:latin typeface="+mn-lt"/>
                <a:ea typeface="+mn-ea"/>
                <a:cs typeface="+mn-cs"/>
              </a:rPr>
              <a:t> Welcome the new staff member when they arrive for their induction and:</a:t>
            </a:r>
          </a:p>
          <a:p>
            <a:pPr lvl="1">
              <a:buFont typeface="Arial" pitchFamily="34" charset="0"/>
              <a:buChar char="•"/>
            </a:pPr>
            <a:r>
              <a:rPr lang="en-US" sz="1200" kern="1200" dirty="0" smtClean="0">
                <a:solidFill>
                  <a:schemeClr val="tx1"/>
                </a:solidFill>
                <a:latin typeface="+mn-lt"/>
                <a:ea typeface="+mn-ea"/>
                <a:cs typeface="+mn-cs"/>
              </a:rPr>
              <a:t> Introduce self – where necessary</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Try to make them fee at ease</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Congratulate them on securing the job</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Express appropriate sentiments: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 look forward to working with you”</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 hope you have a long and fruitful relationship with the business”</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 think you will have a rewarding, challenging and interesting time with us”.</a:t>
            </a:r>
            <a:endParaRPr lang="en-AU" sz="1200" kern="1200" dirty="0" smtClean="0">
              <a:solidFill>
                <a:schemeClr val="tx1"/>
              </a:solidFill>
              <a:latin typeface="+mn-lt"/>
              <a:ea typeface="+mn-ea"/>
              <a:cs typeface="+mn-cs"/>
            </a:endParaRPr>
          </a:p>
          <a:p>
            <a:pPr lvl="0">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advice to</a:t>
            </a:r>
            <a:r>
              <a:rPr lang="en-US" baseline="0" dirty="0" smtClean="0"/>
              <a:t> trainees regarding conduct of induction and orientation sessions:</a:t>
            </a:r>
          </a:p>
          <a:p>
            <a:pPr lvl="0">
              <a:buFont typeface="Arial" pitchFamily="34" charset="0"/>
              <a:buChar char="•"/>
            </a:pPr>
            <a:r>
              <a:rPr lang="en-US" sz="1200" kern="1200" dirty="0" smtClean="0">
                <a:solidFill>
                  <a:schemeClr val="tx1"/>
                </a:solidFill>
                <a:latin typeface="+mn-lt"/>
                <a:ea typeface="+mn-ea"/>
                <a:cs typeface="+mn-cs"/>
              </a:rPr>
              <a:t> Explain what the induction and orientation will cover</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Identify how long the session will take</a:t>
            </a:r>
            <a:endParaRPr lang="en-AU" sz="1200" kern="1200" dirty="0" smtClean="0">
              <a:solidFill>
                <a:schemeClr val="tx1"/>
              </a:solidFill>
              <a:latin typeface="+mn-lt"/>
              <a:ea typeface="+mn-ea"/>
              <a:cs typeface="+mn-cs"/>
            </a:endParaRPr>
          </a:p>
          <a:p>
            <a:pPr lvl="0">
              <a:buFont typeface="Arial" pitchFamily="34" charset="0"/>
              <a:buChar char="•"/>
            </a:pPr>
            <a:r>
              <a:rPr lang="en-US" sz="1200" kern="1200" dirty="0" smtClean="0">
                <a:solidFill>
                  <a:schemeClr val="tx1"/>
                </a:solidFill>
                <a:latin typeface="+mn-lt"/>
                <a:ea typeface="+mn-ea"/>
                <a:cs typeface="+mn-cs"/>
              </a:rPr>
              <a:t> Encourage them to ask as many questions as they want</a:t>
            </a:r>
          </a:p>
          <a:p>
            <a:pPr>
              <a:buFont typeface="Arial" pitchFamily="34" charset="0"/>
              <a:buChar char="•"/>
            </a:pPr>
            <a:r>
              <a:rPr lang="en-AU" sz="1200" kern="1200" dirty="0" smtClean="0">
                <a:solidFill>
                  <a:schemeClr val="tx1"/>
                </a:solidFill>
                <a:latin typeface="+mn-lt"/>
                <a:ea typeface="+mn-ea"/>
                <a:cs typeface="+mn-cs"/>
              </a:rPr>
              <a:t> Follow the plan – it is important to adhere to the plan developed for the induction and orientation session. Departing from this plan raises the risk important information will be forgotten, and can also mean the new employee is provided with too much information and feels overwhelmed.</a:t>
            </a:r>
          </a:p>
          <a:p>
            <a:pPr>
              <a:buFont typeface="Arial" pitchFamily="34" charset="0"/>
              <a:buChar char="•"/>
            </a:pPr>
            <a:r>
              <a:rPr lang="en-AU" sz="1200" kern="1200" dirty="0" smtClean="0">
                <a:solidFill>
                  <a:schemeClr val="tx1"/>
                </a:solidFill>
                <a:latin typeface="+mn-lt"/>
                <a:ea typeface="+mn-ea"/>
                <a:cs typeface="+mn-cs"/>
              </a:rPr>
              <a:t> Given the need to follow the plan for the session, the person conducting the induction must be flexible. If the plan is to enter a certain area and show the new person around, identify pieces of equipment and locate certain stock items, but there are an uncharacteristically large number of customers in the area and the staff are under obvious pressure, then the tour must be re-scheduled (even to a different day)</a:t>
            </a:r>
          </a:p>
          <a:p>
            <a:pPr>
              <a:buFont typeface="Arial" pitchFamily="34" charset="0"/>
              <a:buChar char="•"/>
            </a:pPr>
            <a:r>
              <a:rPr lang="en-AU" sz="1200" kern="1200" dirty="0" smtClean="0">
                <a:solidFill>
                  <a:schemeClr val="tx1"/>
                </a:solidFill>
                <a:latin typeface="+mn-lt"/>
                <a:ea typeface="+mn-ea"/>
                <a:cs typeface="+mn-cs"/>
              </a:rPr>
              <a:t> Concentrate on the new employee – the focus of the session must be the new staff member. Do not allow other things (telephone calls, other tasks, questions from other staff) to intrude and de-value the session.</a:t>
            </a:r>
          </a:p>
          <a:p>
            <a:pPr lvl="0">
              <a:buFont typeface="Arial" pitchFamily="34" charset="0"/>
              <a:buChar cha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advice to</a:t>
            </a:r>
            <a:r>
              <a:rPr lang="en-US" baseline="0" dirty="0" smtClean="0"/>
              <a:t> trainees regarding conduct of induction and orientation sessions:</a:t>
            </a:r>
          </a:p>
          <a:p>
            <a:pPr>
              <a:buFont typeface="Arial" pitchFamily="34" charset="0"/>
              <a:buChar char="•"/>
            </a:pPr>
            <a:r>
              <a:rPr lang="en-AU" sz="1200" kern="1200" dirty="0" smtClean="0">
                <a:solidFill>
                  <a:schemeClr val="tx1"/>
                </a:solidFill>
                <a:latin typeface="+mn-lt"/>
                <a:ea typeface="+mn-ea"/>
                <a:cs typeface="+mn-cs"/>
              </a:rPr>
              <a:t> Do not rush – try to avoid giving the impression:</a:t>
            </a:r>
          </a:p>
          <a:p>
            <a:pPr lvl="1">
              <a:buFont typeface="Arial" pitchFamily="34" charset="0"/>
              <a:buChar char="•"/>
            </a:pPr>
            <a:r>
              <a:rPr lang="en-US" sz="1200" kern="1200" dirty="0" smtClean="0">
                <a:solidFill>
                  <a:schemeClr val="tx1"/>
                </a:solidFill>
                <a:latin typeface="+mn-lt"/>
                <a:ea typeface="+mn-ea"/>
                <a:cs typeface="+mn-cs"/>
              </a:rPr>
              <a:t> There are more important things to do</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The induction session is a</a:t>
            </a:r>
            <a:r>
              <a:rPr lang="en-US" sz="1200" kern="1200" baseline="0" dirty="0" smtClean="0">
                <a:solidFill>
                  <a:schemeClr val="tx1"/>
                </a:solidFill>
                <a:latin typeface="+mn-lt"/>
                <a:ea typeface="+mn-ea"/>
                <a:cs typeface="+mn-cs"/>
              </a:rPr>
              <a:t> </a:t>
            </a:r>
            <a:r>
              <a:rPr lang="en-US" sz="1200" kern="1200" dirty="0" smtClean="0">
                <a:solidFill>
                  <a:schemeClr val="tx1"/>
                </a:solidFill>
                <a:latin typeface="+mn-lt"/>
                <a:ea typeface="+mn-ea"/>
                <a:cs typeface="+mn-cs"/>
              </a:rPr>
              <a:t>chore.</a:t>
            </a:r>
            <a:endParaRPr lang="en-AU"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Try not to drown the employee with information.</a:t>
            </a:r>
            <a:r>
              <a:rPr lang="en-AU" sz="1200" kern="1200" baseline="0" dirty="0" smtClean="0">
                <a:solidFill>
                  <a:schemeClr val="tx1"/>
                </a:solidFill>
                <a:latin typeface="+mn-lt"/>
                <a:ea typeface="+mn-ea"/>
                <a:cs typeface="+mn-cs"/>
              </a:rPr>
              <a:t> I</a:t>
            </a:r>
            <a:r>
              <a:rPr lang="en-AU" sz="1200" kern="1200" dirty="0" smtClean="0">
                <a:solidFill>
                  <a:schemeClr val="tx1"/>
                </a:solidFill>
                <a:latin typeface="+mn-lt"/>
                <a:ea typeface="+mn-ea"/>
                <a:cs typeface="+mn-cs"/>
              </a:rPr>
              <a:t>t is easy for new staff to be overwhelmed by a mass of information. Stick to the plan.</a:t>
            </a:r>
          </a:p>
          <a:p>
            <a:pPr>
              <a:buFont typeface="Arial" pitchFamily="34" charset="0"/>
              <a:buChar char="•"/>
            </a:pPr>
            <a:r>
              <a:rPr lang="en-AU" sz="1200" kern="1200" dirty="0" smtClean="0">
                <a:solidFill>
                  <a:schemeClr val="tx1"/>
                </a:solidFill>
                <a:latin typeface="+mn-lt"/>
                <a:ea typeface="+mn-ea"/>
                <a:cs typeface="+mn-cs"/>
              </a:rPr>
              <a:t> Give personal insight – in addition to ‘structured’ information. Give the new staff member the benefit of personal experience and knowledge. Make sure</a:t>
            </a:r>
            <a:r>
              <a:rPr lang="en-AU"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nothing is said of a negative nature about the business, its practices, staff or management.</a:t>
            </a:r>
          </a:p>
          <a:p>
            <a:pPr>
              <a:buFont typeface="Arial" pitchFamily="34" charset="0"/>
              <a:buChar char="•"/>
            </a:pPr>
            <a:r>
              <a:rPr lang="en-AU" sz="1200" kern="1200" dirty="0" smtClean="0">
                <a:solidFill>
                  <a:schemeClr val="tx1"/>
                </a:solidFill>
                <a:latin typeface="+mn-lt"/>
                <a:ea typeface="+mn-ea"/>
                <a:cs typeface="+mn-cs"/>
              </a:rPr>
              <a:t> Try to ensure privacy – when policies and practices have to be explained, when job requirements and expectations and similar are explained.</a:t>
            </a:r>
            <a:r>
              <a:rPr lang="en-AU" sz="1200" kern="1200" baseline="0" dirty="0" smtClean="0">
                <a:solidFill>
                  <a:schemeClr val="tx1"/>
                </a:solidFill>
                <a:latin typeface="+mn-lt"/>
                <a:ea typeface="+mn-ea"/>
                <a:cs typeface="+mn-cs"/>
              </a:rPr>
              <a:t> T</a:t>
            </a:r>
            <a:r>
              <a:rPr lang="en-AU" sz="1200" kern="1200" dirty="0" smtClean="0">
                <a:solidFill>
                  <a:schemeClr val="tx1"/>
                </a:solidFill>
                <a:latin typeface="+mn-lt"/>
                <a:ea typeface="+mn-ea"/>
                <a:cs typeface="+mn-cs"/>
              </a:rPr>
              <a:t>ry to conduct these discussions in a location where there are no other staff or customers. This encourages the new person to ask questions and respects their right to privacy.</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provide advice to</a:t>
            </a:r>
            <a:r>
              <a:rPr lang="en-US" baseline="0" dirty="0" smtClean="0"/>
              <a:t> trainees regarding conduct of induction and orientation sessions:</a:t>
            </a:r>
          </a:p>
          <a:p>
            <a:pPr>
              <a:buFont typeface="Arial" pitchFamily="34" charset="0"/>
              <a:buChar char="•"/>
            </a:pPr>
            <a:r>
              <a:rPr lang="en-AU" sz="1200" kern="1200" dirty="0" smtClean="0">
                <a:solidFill>
                  <a:schemeClr val="tx1"/>
                </a:solidFill>
                <a:latin typeface="+mn-lt"/>
                <a:ea typeface="+mn-ea"/>
                <a:cs typeface="+mn-cs"/>
              </a:rPr>
              <a:t> Answer all questions asked – honestly and comprehensively. Be prepared to find out answers where they are not known.</a:t>
            </a:r>
          </a:p>
          <a:p>
            <a:pPr>
              <a:buFont typeface="Arial" pitchFamily="34" charset="0"/>
              <a:buChar char="•"/>
            </a:pPr>
            <a:r>
              <a:rPr lang="en-AU" sz="1200" kern="1200" dirty="0" smtClean="0">
                <a:solidFill>
                  <a:schemeClr val="tx1"/>
                </a:solidFill>
                <a:latin typeface="+mn-lt"/>
                <a:ea typeface="+mn-ea"/>
                <a:cs typeface="+mn-cs"/>
              </a:rPr>
              <a:t> Read through relevant documents with the new staff member – to ensure they understand what is required. Important points should be emphasised.</a:t>
            </a:r>
          </a:p>
          <a:p>
            <a:pPr>
              <a:buFont typeface="Arial" pitchFamily="34" charset="0"/>
              <a:buChar char="•"/>
            </a:pPr>
            <a:r>
              <a:rPr lang="en-AU" sz="1200" kern="1200" dirty="0" smtClean="0">
                <a:solidFill>
                  <a:schemeClr val="tx1"/>
                </a:solidFill>
                <a:latin typeface="+mn-lt"/>
                <a:ea typeface="+mn-ea"/>
                <a:cs typeface="+mn-cs"/>
              </a:rPr>
              <a:t> Try to avoid group inductions and orientations – group sessions may appear attractive in that they can save time but the reality is often certain members of the group are overlooked or do not receive proper attention or receive the necessary information. Many group inductions are a waste of time and effort, serving no more useful purpose than ‘ticking the box’ that an induction has been provided.</a:t>
            </a:r>
          </a:p>
          <a:p>
            <a:pPr>
              <a:buFont typeface="Arial" pitchFamily="34" charset="0"/>
              <a:buChar char="•"/>
            </a:pPr>
            <a:r>
              <a:rPr lang="en-AU" sz="1200" kern="1200" dirty="0" smtClean="0">
                <a:solidFill>
                  <a:schemeClr val="tx1"/>
                </a:solidFill>
                <a:latin typeface="+mn-lt"/>
                <a:ea typeface="+mn-ea"/>
                <a:cs typeface="+mn-cs"/>
              </a:rPr>
              <a:t> Do whatever is appropriate to facilitate integration of the new employee into existing structures and the existing workforce – show them the operation of the department/staff; explain and show what they are expected to do.</a:t>
            </a:r>
            <a:r>
              <a:rPr lang="en-AU" sz="1200" kern="1200" baseline="0" dirty="0" smtClean="0">
                <a:solidFill>
                  <a:schemeClr val="tx1"/>
                </a:solidFill>
                <a:latin typeface="+mn-lt"/>
                <a:ea typeface="+mn-ea"/>
                <a:cs typeface="+mn-cs"/>
              </a:rPr>
              <a:t> P</a:t>
            </a:r>
            <a:r>
              <a:rPr lang="en-AU" sz="1200" kern="1200" dirty="0" smtClean="0">
                <a:solidFill>
                  <a:schemeClr val="tx1"/>
                </a:solidFill>
                <a:latin typeface="+mn-lt"/>
                <a:ea typeface="+mn-ea"/>
                <a:cs typeface="+mn-cs"/>
              </a:rPr>
              <a:t>ersonalise the experience</a:t>
            </a:r>
          </a:p>
          <a:p>
            <a:pPr>
              <a:buFont typeface="Arial" pitchFamily="34" charset="0"/>
              <a:buChar char="•"/>
            </a:pPr>
            <a:r>
              <a:rPr lang="en-AU" sz="1200" kern="1200" dirty="0" smtClean="0">
                <a:solidFill>
                  <a:schemeClr val="tx1"/>
                </a:solidFill>
                <a:latin typeface="+mn-lt"/>
                <a:ea typeface="+mn-ea"/>
                <a:cs typeface="+mn-cs"/>
              </a:rPr>
              <a:t> Ask for feedback on the contents of the induction and orientation program and on your performance in conducing it.</a:t>
            </a:r>
          </a:p>
          <a:p>
            <a:pPr>
              <a:buFont typeface="Arial" pitchFamily="34" charset="0"/>
              <a:buNone/>
            </a:pPr>
            <a:endParaRPr lang="en-US" baseline="0" dirty="0" smtClean="0"/>
          </a:p>
          <a:p>
            <a:pPr>
              <a:buFont typeface="Arial" pitchFamily="34" charset="0"/>
              <a:buNone/>
            </a:pPr>
            <a:r>
              <a:rPr lang="en-US" b="1" baseline="0" dirty="0" smtClean="0"/>
              <a:t>Class Activity – Excursion</a:t>
            </a:r>
          </a:p>
          <a:p>
            <a:pPr>
              <a:buFont typeface="Arial" pitchFamily="34" charset="0"/>
              <a:buNone/>
            </a:pPr>
            <a:r>
              <a:rPr lang="en-US" b="0" baseline="0" dirty="0" smtClean="0"/>
              <a:t>Trainer arranges for trainees to visit a local enterprise and:</a:t>
            </a:r>
          </a:p>
          <a:p>
            <a:pPr>
              <a:buFont typeface="Arial" pitchFamily="34" charset="0"/>
              <a:buChar char="•"/>
            </a:pPr>
            <a:r>
              <a:rPr lang="en-US" b="0" baseline="0" dirty="0" smtClean="0"/>
              <a:t> Talk to management about staff recruitment, selection and induction and orientation sessions</a:t>
            </a:r>
          </a:p>
          <a:p>
            <a:pPr>
              <a:buFont typeface="Arial" pitchFamily="34" charset="0"/>
              <a:buChar char="•"/>
            </a:pPr>
            <a:r>
              <a:rPr lang="en-US" b="0" baseline="0" dirty="0" smtClean="0"/>
              <a:t> View management offices where they work and see the facilities they have to work with</a:t>
            </a:r>
          </a:p>
          <a:p>
            <a:pPr>
              <a:buFont typeface="Arial" pitchFamily="34" charset="0"/>
              <a:buChar char="•"/>
            </a:pPr>
            <a:r>
              <a:rPr lang="en-US" b="0" baseline="0" dirty="0" smtClean="0"/>
              <a:t> View relevant management policies and procedures related to staffing functions</a:t>
            </a:r>
          </a:p>
          <a:p>
            <a:pPr>
              <a:buFont typeface="Arial" pitchFamily="34" charset="0"/>
              <a:buChar char="•"/>
            </a:pPr>
            <a:r>
              <a:rPr lang="en-US" b="0" baseline="0" dirty="0" smtClean="0"/>
              <a:t> Observe a hiring interview – if possible (or a mock interview)</a:t>
            </a:r>
          </a:p>
          <a:p>
            <a:pPr>
              <a:buFont typeface="Arial" pitchFamily="34" charset="0"/>
              <a:buChar char="•"/>
            </a:pPr>
            <a:r>
              <a:rPr lang="en-US" b="0" baseline="0" dirty="0" smtClean="0"/>
              <a:t> Participate in a mock induction and orientation session.</a:t>
            </a:r>
          </a:p>
          <a:p>
            <a:pPr>
              <a:buFont typeface="Arial" pitchFamily="34" charset="0"/>
              <a:buChar char="•"/>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suggests to trainees </a:t>
            </a:r>
            <a:r>
              <a:rPr lang="en-AU" sz="1200" kern="1200" dirty="0" smtClean="0">
                <a:solidFill>
                  <a:schemeClr val="tx1"/>
                </a:solidFill>
                <a:latin typeface="+mn-lt"/>
                <a:ea typeface="+mn-ea"/>
                <a:cs typeface="+mn-cs"/>
              </a:rPr>
              <a:t>in the same way other activities of the business should be subject to regular review, so too should the provision of induction and orientation sessions highlighting:</a:t>
            </a:r>
          </a:p>
          <a:p>
            <a:pPr>
              <a:buFont typeface="Arial" pitchFamily="34" charset="0"/>
              <a:buChar char="•"/>
            </a:pPr>
            <a:r>
              <a:rPr lang="en-AU" sz="1200" kern="1200" dirty="0" smtClean="0">
                <a:solidFill>
                  <a:schemeClr val="tx1"/>
                </a:solidFill>
                <a:latin typeface="+mn-lt"/>
                <a:ea typeface="+mn-ea"/>
                <a:cs typeface="+mn-cs"/>
              </a:rPr>
              <a:t> Inductions and orientations should be reviewed:</a:t>
            </a:r>
          </a:p>
          <a:p>
            <a:pPr lvl="1">
              <a:buFont typeface="Arial" pitchFamily="34" charset="0"/>
              <a:buChar char="•"/>
            </a:pPr>
            <a:r>
              <a:rPr lang="en-AU" sz="1200" kern="1200" dirty="0" smtClean="0">
                <a:solidFill>
                  <a:schemeClr val="tx1"/>
                </a:solidFill>
                <a:latin typeface="+mn-lt"/>
                <a:ea typeface="+mn-ea"/>
                <a:cs typeface="+mn-cs"/>
              </a:rPr>
              <a:t> At least annually, or</a:t>
            </a:r>
          </a:p>
          <a:p>
            <a:pPr lvl="1">
              <a:buFont typeface="Arial" pitchFamily="34" charset="0"/>
              <a:buChar char="•"/>
            </a:pPr>
            <a:r>
              <a:rPr lang="en-AU" sz="1200" kern="1200" dirty="0" smtClean="0">
                <a:solidFill>
                  <a:schemeClr val="tx1"/>
                </a:solidFill>
                <a:latin typeface="+mn-lt"/>
                <a:ea typeface="+mn-ea"/>
                <a:cs typeface="+mn-cs"/>
              </a:rPr>
              <a:t> Following a valid complaint from a new employee about their induction and orientation, or</a:t>
            </a:r>
          </a:p>
          <a:p>
            <a:pPr lvl="1">
              <a:buFont typeface="Arial" pitchFamily="34" charset="0"/>
              <a:buChar char="•"/>
            </a:pPr>
            <a:r>
              <a:rPr lang="en-AU" sz="1200" kern="1200" dirty="0" smtClean="0">
                <a:solidFill>
                  <a:schemeClr val="tx1"/>
                </a:solidFill>
                <a:latin typeface="+mn-lt"/>
                <a:ea typeface="+mn-ea"/>
                <a:cs typeface="+mn-cs"/>
              </a:rPr>
              <a:t> Following the first induction and orientation session for a newly created position.</a:t>
            </a:r>
          </a:p>
          <a:p>
            <a:pPr>
              <a:buFont typeface="Arial" pitchFamily="34" charset="0"/>
              <a:buChar char="•"/>
            </a:pPr>
            <a:r>
              <a:rPr lang="en-AU" sz="1200" kern="1200" dirty="0" smtClean="0">
                <a:solidFill>
                  <a:schemeClr val="tx1"/>
                </a:solidFill>
                <a:latin typeface="+mn-lt"/>
                <a:ea typeface="+mn-ea"/>
                <a:cs typeface="+mn-cs"/>
              </a:rPr>
              <a:t> The key to reviewing induction and orientation sessions is to ensure appropriate action must be taken to address all legitimate concerns. There is no point conducting a review and then failing to act to on the identified issues.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provide trainees with advice regarding reviewing induction &amp; orientation sessions:</a:t>
            </a:r>
          </a:p>
          <a:p>
            <a:pPr>
              <a:buFont typeface="Arial" pitchFamily="34" charset="0"/>
              <a:buChar char="•"/>
            </a:pPr>
            <a:r>
              <a:rPr lang="en-AU" sz="1200" kern="1200" dirty="0" smtClean="0">
                <a:solidFill>
                  <a:schemeClr val="tx1"/>
                </a:solidFill>
                <a:latin typeface="+mn-lt"/>
                <a:ea typeface="+mn-ea"/>
                <a:cs typeface="+mn-cs"/>
              </a:rPr>
              <a:t> They should involve all those involved in the session which in practice this means the review should solicit input from:</a:t>
            </a:r>
          </a:p>
          <a:p>
            <a:pPr lvl="1">
              <a:buFont typeface="Arial" pitchFamily="34" charset="0"/>
              <a:buChar char="•"/>
            </a:pPr>
            <a:r>
              <a:rPr lang="en-AU" sz="1200" kern="1200" dirty="0" smtClean="0">
                <a:solidFill>
                  <a:schemeClr val="tx1"/>
                </a:solidFill>
                <a:latin typeface="+mn-lt"/>
                <a:ea typeface="+mn-ea"/>
                <a:cs typeface="+mn-cs"/>
              </a:rPr>
              <a:t> Management </a:t>
            </a:r>
          </a:p>
          <a:p>
            <a:pPr lvl="1">
              <a:buFont typeface="Arial" pitchFamily="34" charset="0"/>
              <a:buChar char="•"/>
            </a:pPr>
            <a:r>
              <a:rPr lang="en-AU" sz="1200" kern="1200" dirty="0" smtClean="0">
                <a:solidFill>
                  <a:schemeClr val="tx1"/>
                </a:solidFill>
                <a:latin typeface="+mn-lt"/>
                <a:ea typeface="+mn-ea"/>
                <a:cs typeface="+mn-cs"/>
              </a:rPr>
              <a:t> Co-workers</a:t>
            </a:r>
          </a:p>
          <a:p>
            <a:pPr lvl="1">
              <a:buFont typeface="Arial" pitchFamily="34" charset="0"/>
              <a:buChar char="•"/>
            </a:pPr>
            <a:r>
              <a:rPr lang="en-AU" sz="1200" kern="1200" dirty="0" smtClean="0">
                <a:solidFill>
                  <a:schemeClr val="tx1"/>
                </a:solidFill>
                <a:latin typeface="+mn-lt"/>
                <a:ea typeface="+mn-ea"/>
                <a:cs typeface="+mn-cs"/>
              </a:rPr>
              <a:t> Supervisors</a:t>
            </a:r>
          </a:p>
          <a:p>
            <a:pPr lvl="1">
              <a:buFont typeface="Arial" pitchFamily="34" charset="0"/>
              <a:buChar char="•"/>
            </a:pPr>
            <a:r>
              <a:rPr lang="en-AU" sz="1200" kern="1200" dirty="0" smtClean="0">
                <a:solidFill>
                  <a:schemeClr val="tx1"/>
                </a:solidFill>
                <a:latin typeface="+mn-lt"/>
                <a:ea typeface="+mn-ea"/>
                <a:cs typeface="+mn-cs"/>
              </a:rPr>
              <a:t> Past inductees</a:t>
            </a:r>
          </a:p>
          <a:p>
            <a:pPr lvl="1">
              <a:buFont typeface="Arial" pitchFamily="34" charset="0"/>
              <a:buChar char="•"/>
            </a:pPr>
            <a:r>
              <a:rPr lang="en-AU" sz="1200" kern="1200" dirty="0" smtClean="0">
                <a:solidFill>
                  <a:schemeClr val="tx1"/>
                </a:solidFill>
                <a:latin typeface="+mn-lt"/>
                <a:ea typeface="+mn-ea"/>
                <a:cs typeface="+mn-cs"/>
              </a:rPr>
              <a:t> Anyone who conducts the induction and orientation.</a:t>
            </a:r>
          </a:p>
          <a:p>
            <a:pPr>
              <a:buFont typeface="Arial" pitchFamily="34" charset="0"/>
              <a:buChar char="•"/>
            </a:pPr>
            <a:r>
              <a:rPr lang="en-AU" sz="1200" kern="1200" dirty="0" smtClean="0">
                <a:solidFill>
                  <a:schemeClr val="tx1"/>
                </a:solidFill>
                <a:latin typeface="+mn-lt"/>
                <a:ea typeface="+mn-ea"/>
                <a:cs typeface="+mn-cs"/>
              </a:rPr>
              <a:t> Consider planning and preparation undertake – was there sufficient time and effort put into this phase of the induction? Often, a poor induction can be traced back to poor planning and preparation</a:t>
            </a:r>
          </a:p>
          <a:p>
            <a:pPr>
              <a:buFont typeface="Arial" pitchFamily="34" charset="0"/>
              <a:buChar char="•"/>
            </a:pPr>
            <a:r>
              <a:rPr lang="en-AU" sz="1200" kern="1200" dirty="0" smtClean="0">
                <a:solidFill>
                  <a:schemeClr val="tx1"/>
                </a:solidFill>
                <a:latin typeface="+mn-lt"/>
                <a:ea typeface="+mn-ea"/>
                <a:cs typeface="+mn-cs"/>
              </a:rPr>
              <a:t> Consider time allocated – was there sufficient time allocated to actually conducting the induction? Or was it too rushed?</a:t>
            </a:r>
          </a:p>
          <a:p>
            <a:pPr>
              <a:buFont typeface="Arial" pitchFamily="34" charset="0"/>
              <a:buChar char="•"/>
            </a:pPr>
            <a:r>
              <a:rPr lang="en-AU" sz="1200" kern="1200" dirty="0" smtClean="0">
                <a:solidFill>
                  <a:schemeClr val="tx1"/>
                </a:solidFill>
                <a:latin typeface="+mn-lt"/>
                <a:ea typeface="+mn-ea"/>
                <a:cs typeface="+mn-cs"/>
              </a:rPr>
              <a:t> Consider timing of the induction – was it conducted on the best day? At the most appropriate time, or at a time when things were too busy and key staff were unavailable because of this?</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provide trainees with advice regarding reviewing induction &amp; orientation sessions:</a:t>
            </a:r>
          </a:p>
          <a:p>
            <a:pPr>
              <a:buFont typeface="Arial" pitchFamily="34" charset="0"/>
              <a:buChar char="•"/>
            </a:pPr>
            <a:r>
              <a:rPr lang="en-AU" sz="1200" kern="1200" dirty="0" smtClean="0">
                <a:solidFill>
                  <a:schemeClr val="tx1"/>
                </a:solidFill>
                <a:latin typeface="+mn-lt"/>
                <a:ea typeface="+mn-ea"/>
                <a:cs typeface="+mn-cs"/>
              </a:rPr>
              <a:t> Consider sequence of the induction activities – the correct items may have been addressed by the session but were items presented in the most effective order? Is there a need to re-arrange some items to enhance learning and make the session more productive?</a:t>
            </a:r>
          </a:p>
          <a:p>
            <a:pPr>
              <a:buFont typeface="Arial" pitchFamily="34" charset="0"/>
              <a:buChar char="•"/>
            </a:pPr>
            <a:r>
              <a:rPr lang="en-AU" sz="1200" kern="1200" dirty="0" smtClean="0">
                <a:solidFill>
                  <a:schemeClr val="tx1"/>
                </a:solidFill>
                <a:latin typeface="+mn-lt"/>
                <a:ea typeface="+mn-ea"/>
                <a:cs typeface="+mn-cs"/>
              </a:rPr>
              <a:t> Consider content of the induction session – were all the necessary things covered? Were there gaps in the content provided needing attention so the new staff member is better informed or made aware of necessary (and perhaps, legislated) workplace requirements. Content is a very large area for consideration as part of the review and should examine:</a:t>
            </a:r>
          </a:p>
          <a:p>
            <a:pPr lvl="1">
              <a:buFont typeface="Arial" pitchFamily="34" charset="0"/>
              <a:buChar char="•"/>
            </a:pPr>
            <a:r>
              <a:rPr lang="en-US" sz="1200" kern="1200" dirty="0" smtClean="0">
                <a:solidFill>
                  <a:schemeClr val="tx1"/>
                </a:solidFill>
                <a:latin typeface="+mn-lt"/>
                <a:ea typeface="+mn-ea"/>
                <a:cs typeface="+mn-cs"/>
              </a:rPr>
              <a:t> Contents of documents provided</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Contents of presentations given by key personnel to new staff</a:t>
            </a:r>
            <a:endParaRPr lang="en-AU" sz="1200" kern="1200" dirty="0" smtClean="0">
              <a:solidFill>
                <a:schemeClr val="tx1"/>
              </a:solidFill>
              <a:latin typeface="+mn-lt"/>
              <a:ea typeface="+mn-ea"/>
              <a:cs typeface="+mn-cs"/>
            </a:endParaRPr>
          </a:p>
          <a:p>
            <a:pPr lvl="1">
              <a:buFont typeface="Arial" pitchFamily="34" charset="0"/>
              <a:buChar char="•"/>
            </a:pPr>
            <a:r>
              <a:rPr lang="en-US" sz="1200" kern="1200" dirty="0" smtClean="0">
                <a:solidFill>
                  <a:schemeClr val="tx1"/>
                </a:solidFill>
                <a:latin typeface="+mn-lt"/>
                <a:ea typeface="+mn-ea"/>
                <a:cs typeface="+mn-cs"/>
              </a:rPr>
              <a:t> Items/issues covered by the actual orientation and induction process.</a:t>
            </a:r>
            <a:endParaRPr lang="en-AU" sz="1200" kern="1200" dirty="0" smtClean="0">
              <a:solidFill>
                <a:schemeClr val="tx1"/>
              </a:solidFill>
              <a:latin typeface="+mn-lt"/>
              <a:ea typeface="+mn-ea"/>
              <a:cs typeface="+mn-cs"/>
            </a:endParaRPr>
          </a:p>
          <a:p>
            <a:pPr lvl="2">
              <a:buFont typeface="Arial" pitchFamily="34" charset="0"/>
              <a:buChar char="•"/>
            </a:pPr>
            <a:r>
              <a:rPr lang="en-US" sz="1200" kern="1200" dirty="0" smtClean="0">
                <a:solidFill>
                  <a:schemeClr val="tx1"/>
                </a:solidFill>
                <a:latin typeface="+mn-lt"/>
                <a:ea typeface="+mn-ea"/>
                <a:cs typeface="+mn-cs"/>
              </a:rPr>
              <a:t> Basic questions are: </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 Were things missing?</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 Was printed material legible?</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 Have things changed in the workplace necessitating amendments to previous induction sessions?</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 Can unnecessary things be removed from the induction?</a:t>
            </a:r>
            <a:endParaRPr lang="en-AU" sz="1200" kern="1200" dirty="0" smtClean="0">
              <a:solidFill>
                <a:schemeClr val="tx1"/>
              </a:solidFill>
              <a:latin typeface="+mn-lt"/>
              <a:ea typeface="+mn-ea"/>
              <a:cs typeface="+mn-cs"/>
            </a:endParaRPr>
          </a:p>
          <a:p>
            <a:pPr lvl="3">
              <a:buFont typeface="Arial" pitchFamily="34" charset="0"/>
              <a:buChar char="•"/>
            </a:pPr>
            <a:r>
              <a:rPr lang="en-US" sz="1200" kern="1200" dirty="0" smtClean="0">
                <a:solidFill>
                  <a:schemeClr val="tx1"/>
                </a:solidFill>
                <a:latin typeface="+mn-lt"/>
                <a:ea typeface="+mn-ea"/>
                <a:cs typeface="+mn-cs"/>
              </a:rPr>
              <a:t> Should there be a different emphasis to existing content? For example, perhaps more time should be allocated to X and less time to Y</a:t>
            </a:r>
            <a:endParaRPr lang="en-AU" sz="1200" kern="1200" dirty="0" smtClean="0">
              <a:solidFill>
                <a:schemeClr val="tx1"/>
              </a:solidFill>
              <a:latin typeface="+mn-lt"/>
              <a:ea typeface="+mn-ea"/>
              <a:cs typeface="+mn-cs"/>
            </a:endParaRP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to provide trainees with advice regarding reviewing induction &amp; orientation sessions:</a:t>
            </a:r>
          </a:p>
          <a:p>
            <a:pPr>
              <a:buFont typeface="Arial" pitchFamily="34" charset="0"/>
              <a:buChar char="•"/>
            </a:pPr>
            <a:r>
              <a:rPr lang="en-AU" sz="1200" kern="1200" dirty="0" smtClean="0">
                <a:solidFill>
                  <a:schemeClr val="tx1"/>
                </a:solidFill>
                <a:latin typeface="+mn-lt"/>
                <a:ea typeface="+mn-ea"/>
                <a:cs typeface="+mn-cs"/>
              </a:rPr>
              <a:t> Consider items handed out as part of the induction – were all the necessary items distributed? Were they current? Did they contain errors or were they incomplete?</a:t>
            </a:r>
          </a:p>
          <a:p>
            <a:pPr>
              <a:buFont typeface="Arial" pitchFamily="34" charset="0"/>
              <a:buChar char="•"/>
            </a:pPr>
            <a:r>
              <a:rPr lang="en-AU" sz="1200" kern="1200" dirty="0" smtClean="0">
                <a:solidFill>
                  <a:schemeClr val="tx1"/>
                </a:solidFill>
                <a:latin typeface="+mn-lt"/>
                <a:ea typeface="+mn-ea"/>
                <a:cs typeface="+mn-cs"/>
              </a:rPr>
              <a:t> Consider person conducting the orientation – looking at whether or not the individual conducting these sessions is the right person for the job. Many people believe conducting an induction session is beneath them and they begrudge doing them. This obviously does not make for effective or positive sessions</a:t>
            </a:r>
          </a:p>
          <a:p>
            <a:pPr>
              <a:buFont typeface="Arial" pitchFamily="34" charset="0"/>
              <a:buChar char="•"/>
            </a:pPr>
            <a:r>
              <a:rPr lang="en-AU" sz="1200" kern="1200" dirty="0" smtClean="0">
                <a:solidFill>
                  <a:schemeClr val="tx1"/>
                </a:solidFill>
                <a:latin typeface="+mn-lt"/>
                <a:ea typeface="+mn-ea"/>
                <a:cs typeface="+mn-cs"/>
              </a:rPr>
              <a:t> Consider feedback from participants – anything a past inductee mentions as an issue for them should be considered. Where there are </a:t>
            </a:r>
            <a:r>
              <a:rPr lang="en-AU" sz="1200" i="1" kern="1200" dirty="0" smtClean="0">
                <a:solidFill>
                  <a:schemeClr val="tx1"/>
                </a:solidFill>
                <a:latin typeface="+mn-lt"/>
                <a:ea typeface="+mn-ea"/>
                <a:cs typeface="+mn-cs"/>
              </a:rPr>
              <a:t>multiple</a:t>
            </a:r>
            <a:r>
              <a:rPr lang="en-AU" sz="1200" kern="1200" dirty="0" smtClean="0">
                <a:solidFill>
                  <a:schemeClr val="tx1"/>
                </a:solidFill>
                <a:latin typeface="+mn-lt"/>
                <a:ea typeface="+mn-ea"/>
                <a:cs typeface="+mn-cs"/>
              </a:rPr>
              <a:t> mentions of the same issue, certainly attention must be paid to this area.</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latin typeface="+mn-lt"/>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3/31/2014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3/31/2014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3/31/2014</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3/31/2014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3/31/2014</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4.tif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70.tiff"/><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73.jpeg"/><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692696"/>
            <a:ext cx="7344816" cy="1285884"/>
          </a:xfrm>
        </p:spPr>
        <p:txBody>
          <a:bodyPr>
            <a:normAutofit fontScale="90000"/>
          </a:bodyPr>
          <a:lstStyle/>
          <a:p>
            <a:r>
              <a:rPr lang="en-US" sz="4000" dirty="0" smtClean="0">
                <a:ln w="5000" cmpd="sng">
                  <a:noFill/>
                  <a:prstDash val="solid"/>
                </a:ln>
                <a:solidFill>
                  <a:srgbClr val="FF6600"/>
                </a:solidFill>
                <a:latin typeface="Helvetica" pitchFamily="34" charset="0"/>
              </a:rPr>
              <a:t>RECRUIT AND SELECT STAFF</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1857356" y="1988840"/>
            <a:ext cx="6480048" cy="1225846"/>
          </a:xfrm>
        </p:spPr>
        <p:txBody>
          <a:bodyPr>
            <a:noAutofit/>
          </a:bodyPr>
          <a:lstStyle/>
          <a:p>
            <a:r>
              <a:rPr lang="en-US" sz="2400" b="1" dirty="0" smtClean="0">
                <a:latin typeface="Helvetica" pitchFamily="34" charset="0"/>
                <a:cs typeface="Helvetica" pitchFamily="34" charset="0"/>
              </a:rPr>
              <a:t>Unit Code: </a:t>
            </a:r>
            <a:r>
              <a:rPr lang="en-AU" sz="2400" b="1" dirty="0" smtClean="0">
                <a:latin typeface="Helvetica" pitchFamily="34" charset="0"/>
                <a:cs typeface="Helvetica" pitchFamily="34" charset="0"/>
              </a:rPr>
              <a:t>D1.HML.CL10.15 </a:t>
            </a:r>
          </a:p>
          <a:p>
            <a:r>
              <a:rPr lang="en-AU" sz="2400" b="1" dirty="0" smtClean="0">
                <a:latin typeface="Helvetica" pitchFamily="34" charset="0"/>
                <a:cs typeface="Helvetica" pitchFamily="34" charset="0"/>
              </a:rPr>
              <a:t>D1.HRM.CL9.10 </a:t>
            </a:r>
          </a:p>
          <a:p>
            <a:r>
              <a:rPr lang="en-AU" sz="2400" b="1" dirty="0" smtClean="0">
                <a:latin typeface="Helvetica" pitchFamily="34" charset="0"/>
                <a:cs typeface="Helvetica" pitchFamily="34" charset="0"/>
              </a:rPr>
              <a:t>D2.TRM.CL9.20</a:t>
            </a:r>
            <a:endParaRPr lang="en-US" sz="2400" b="1" dirty="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5" name="Picture 4" descr="iStock_000007055099XSmall.jpg"/>
          <p:cNvPicPr>
            <a:picLocks noChangeAspect="1"/>
          </p:cNvPicPr>
          <p:nvPr/>
        </p:nvPicPr>
        <p:blipFill>
          <a:blip r:embed="rId3" cstate="print"/>
          <a:stretch>
            <a:fillRect/>
          </a:stretch>
        </p:blipFill>
        <p:spPr>
          <a:xfrm>
            <a:off x="1043608" y="1988840"/>
            <a:ext cx="2711054" cy="406179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Recruit and select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This unit comprises five Elements:</a:t>
            </a:r>
          </a:p>
          <a:p>
            <a:pPr marL="360000" indent="-360000">
              <a:spcBef>
                <a:spcPts val="600"/>
              </a:spcBef>
              <a:spcAft>
                <a:spcPts val="1200"/>
              </a:spcAft>
            </a:pPr>
            <a:r>
              <a:rPr lang="en-US" sz="2200" b="1" dirty="0" smtClean="0">
                <a:latin typeface="Helvetica" pitchFamily="34" charset="0"/>
              </a:rPr>
              <a:t>Identify staffing needs</a:t>
            </a:r>
          </a:p>
          <a:p>
            <a:pPr marL="360000" indent="-360000">
              <a:spcBef>
                <a:spcPts val="600"/>
              </a:spcBef>
              <a:spcAft>
                <a:spcPts val="1200"/>
              </a:spcAft>
            </a:pPr>
            <a:r>
              <a:rPr lang="en-US" sz="2200" b="1" dirty="0" smtClean="0">
                <a:latin typeface="Helvetica" pitchFamily="34" charset="0"/>
              </a:rPr>
              <a:t>Recruit staff</a:t>
            </a:r>
          </a:p>
          <a:p>
            <a:pPr marL="360000" indent="-360000">
              <a:spcBef>
                <a:spcPts val="600"/>
              </a:spcBef>
              <a:spcAft>
                <a:spcPts val="1200"/>
              </a:spcAft>
            </a:pPr>
            <a:r>
              <a:rPr lang="en-US" sz="2200" b="1" dirty="0" smtClean="0">
                <a:latin typeface="Helvetica" pitchFamily="34" charset="0"/>
              </a:rPr>
              <a:t>Interview staff</a:t>
            </a:r>
          </a:p>
          <a:p>
            <a:pPr marL="360000" indent="-360000">
              <a:spcBef>
                <a:spcPts val="600"/>
              </a:spcBef>
              <a:spcAft>
                <a:spcPts val="1200"/>
              </a:spcAft>
            </a:pPr>
            <a:r>
              <a:rPr lang="en-US" sz="2200" b="1" dirty="0" smtClean="0">
                <a:latin typeface="Helvetica" pitchFamily="34" charset="0"/>
              </a:rPr>
              <a:t>Select staff</a:t>
            </a:r>
          </a:p>
          <a:p>
            <a:pPr marL="360000" indent="-360000">
              <a:spcBef>
                <a:spcPts val="600"/>
              </a:spcBef>
              <a:spcAft>
                <a:spcPts val="1200"/>
              </a:spcAft>
            </a:pPr>
            <a:r>
              <a:rPr lang="en-US" sz="2200" b="1" dirty="0" smtClean="0">
                <a:latin typeface="Helvetica" pitchFamily="34" charset="0"/>
              </a:rPr>
              <a:t>Implement induction and                                          orientation session or program.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5" name="Picture 4" descr="MP900386131[1].JPG"/>
          <p:cNvPicPr>
            <a:picLocks noChangeAspect="1"/>
          </p:cNvPicPr>
          <p:nvPr/>
        </p:nvPicPr>
        <p:blipFill>
          <a:blip r:embed="rId3" cstate="print"/>
          <a:stretch>
            <a:fillRect/>
          </a:stretch>
        </p:blipFill>
        <p:spPr>
          <a:xfrm>
            <a:off x="6444208" y="3140968"/>
            <a:ext cx="2006352" cy="300952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Assessment for this unit may include:</a:t>
            </a:r>
          </a:p>
          <a:p>
            <a:pPr marL="360000" indent="-360000">
              <a:spcBef>
                <a:spcPts val="600"/>
              </a:spcBef>
              <a:spcAft>
                <a:spcPts val="1200"/>
              </a:spcAft>
            </a:pPr>
            <a:r>
              <a:rPr lang="en-US" sz="2200" b="1" dirty="0" smtClean="0">
                <a:latin typeface="Helvetica" pitchFamily="34" charset="0"/>
              </a:rPr>
              <a:t>Oral questions</a:t>
            </a:r>
          </a:p>
          <a:p>
            <a:pPr marL="360000" indent="-360000">
              <a:spcBef>
                <a:spcPts val="600"/>
              </a:spcBef>
              <a:spcAft>
                <a:spcPts val="1200"/>
              </a:spcAft>
            </a:pPr>
            <a:r>
              <a:rPr lang="en-US" sz="2200" b="1" dirty="0" smtClean="0">
                <a:latin typeface="Helvetica" pitchFamily="34" charset="0"/>
              </a:rPr>
              <a:t>Written questions</a:t>
            </a:r>
          </a:p>
          <a:p>
            <a:pPr marL="360000" indent="-360000">
              <a:spcBef>
                <a:spcPts val="600"/>
              </a:spcBef>
              <a:spcAft>
                <a:spcPts val="1200"/>
              </a:spcAft>
            </a:pPr>
            <a:r>
              <a:rPr lang="en-US" sz="2200" b="1" dirty="0" smtClean="0">
                <a:latin typeface="Helvetica" pitchFamily="34" charset="0"/>
              </a:rPr>
              <a:t>Work projects</a:t>
            </a:r>
          </a:p>
          <a:p>
            <a:pPr marL="360000" indent="-360000">
              <a:spcBef>
                <a:spcPts val="600"/>
              </a:spcBef>
              <a:spcAft>
                <a:spcPts val="1200"/>
              </a:spcAft>
            </a:pPr>
            <a:r>
              <a:rPr lang="en-US" sz="2200" b="1" dirty="0" smtClean="0">
                <a:latin typeface="Helvetica" pitchFamily="34" charset="0"/>
              </a:rPr>
              <a:t>Workplace observation of practical skills</a:t>
            </a:r>
          </a:p>
          <a:p>
            <a:pPr marL="360000" indent="-360000">
              <a:spcBef>
                <a:spcPts val="600"/>
              </a:spcBef>
              <a:spcAft>
                <a:spcPts val="1200"/>
              </a:spcAft>
            </a:pPr>
            <a:r>
              <a:rPr lang="en-US" sz="2200" b="1" dirty="0" smtClean="0">
                <a:latin typeface="Helvetica" pitchFamily="34" charset="0"/>
              </a:rPr>
              <a:t>Practical exercises</a:t>
            </a:r>
          </a:p>
          <a:p>
            <a:pPr marL="360000" indent="-360000">
              <a:spcBef>
                <a:spcPts val="600"/>
              </a:spcBef>
              <a:spcAft>
                <a:spcPts val="1200"/>
              </a:spcAft>
            </a:pPr>
            <a:r>
              <a:rPr lang="en-US" sz="2200" b="1" dirty="0" smtClean="0">
                <a:latin typeface="Helvetica" pitchFamily="34" charset="0"/>
              </a:rPr>
              <a:t>Formal report from employer.</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4" descr="j0442488.jpg"/>
          <p:cNvPicPr>
            <a:picLocks noChangeAspect="1"/>
          </p:cNvPicPr>
          <p:nvPr/>
        </p:nvPicPr>
        <p:blipFill>
          <a:blip r:embed="rId3" cstate="print"/>
          <a:stretch>
            <a:fillRect/>
          </a:stretch>
        </p:blipFill>
        <p:spPr>
          <a:xfrm>
            <a:off x="6588224" y="3573016"/>
            <a:ext cx="1939873" cy="2527907"/>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0" indent="0">
              <a:spcBef>
                <a:spcPts val="600"/>
              </a:spcBef>
              <a:spcAft>
                <a:spcPts val="1200"/>
              </a:spcAft>
              <a:buNone/>
            </a:pPr>
            <a:r>
              <a:rPr lang="en-US" sz="2200" b="1" dirty="0" smtClean="0">
                <a:latin typeface="Helvetica" pitchFamily="34" charset="0"/>
              </a:rPr>
              <a:t>Performance Criteria for this Element are: </a:t>
            </a:r>
          </a:p>
          <a:p>
            <a:pPr marL="360000" indent="-360000">
              <a:spcBef>
                <a:spcPts val="600"/>
              </a:spcBef>
              <a:spcAft>
                <a:spcPts val="1200"/>
              </a:spcAft>
            </a:pPr>
            <a:r>
              <a:rPr lang="en-US" sz="2200" b="1" dirty="0" smtClean="0">
                <a:latin typeface="Helvetica" pitchFamily="34" charset="0"/>
              </a:rPr>
              <a:t>Obtain &amp; read enterprise policies &amp; procedures in relation to the staffing process</a:t>
            </a:r>
          </a:p>
          <a:p>
            <a:pPr marL="360000" indent="-360000">
              <a:spcBef>
                <a:spcPts val="600"/>
              </a:spcBef>
              <a:spcAft>
                <a:spcPts val="1200"/>
              </a:spcAft>
            </a:pPr>
            <a:r>
              <a:rPr lang="en-US" sz="2200" b="1" dirty="0" smtClean="0">
                <a:latin typeface="Helvetica" pitchFamily="34" charset="0"/>
              </a:rPr>
              <a:t>Identify internal factors that impact on staffing needs</a:t>
            </a:r>
          </a:p>
          <a:p>
            <a:pPr marL="360000" indent="-360000">
              <a:spcBef>
                <a:spcPts val="600"/>
              </a:spcBef>
              <a:spcAft>
                <a:spcPts val="1200"/>
              </a:spcAft>
            </a:pPr>
            <a:r>
              <a:rPr lang="en-US" sz="2200" b="1" dirty="0" smtClean="0">
                <a:latin typeface="Helvetica" pitchFamily="34" charset="0"/>
              </a:rPr>
              <a:t>Identify external factors that impact on staffing needs</a:t>
            </a:r>
          </a:p>
          <a:p>
            <a:pPr marL="360000" indent="-360000">
              <a:spcBef>
                <a:spcPts val="600"/>
              </a:spcBef>
              <a:spcAft>
                <a:spcPts val="1200"/>
              </a:spcAft>
            </a:pPr>
            <a:r>
              <a:rPr lang="en-US" sz="2200" b="1" dirty="0" smtClean="0">
                <a:latin typeface="Helvetica" pitchFamily="34" charset="0"/>
              </a:rPr>
              <a:t>Describe techniques to monitor workplace performance</a:t>
            </a:r>
          </a:p>
          <a:p>
            <a:pPr marL="360000" indent="-360000">
              <a:spcBef>
                <a:spcPts val="600"/>
              </a:spcBef>
              <a:spcAft>
                <a:spcPts val="1200"/>
              </a:spcAft>
            </a:pPr>
            <a:r>
              <a:rPr lang="en-US" sz="2200" b="1" dirty="0" smtClean="0">
                <a:latin typeface="Helvetica" pitchFamily="34" charset="0"/>
              </a:rPr>
              <a:t>Consult with stakeholders                                                  to determine staffing needs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pic>
        <p:nvPicPr>
          <p:cNvPr id="5" name="Picture 4" descr="j0438585.jpg"/>
          <p:cNvPicPr>
            <a:picLocks noChangeAspect="1"/>
          </p:cNvPicPr>
          <p:nvPr/>
        </p:nvPicPr>
        <p:blipFill>
          <a:blip r:embed="rId3" cstate="print"/>
          <a:stretch>
            <a:fillRect/>
          </a:stretch>
        </p:blipFill>
        <p:spPr>
          <a:xfrm>
            <a:off x="6193574" y="4797152"/>
            <a:ext cx="2371213" cy="1574034"/>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Describe &amp; quantify staffing requirements by position &amp; locate them within an </a:t>
            </a:r>
            <a:r>
              <a:rPr lang="en-AU" sz="2200" b="1" dirty="0" smtClean="0">
                <a:latin typeface="Helvetica" pitchFamily="34" charset="0"/>
              </a:rPr>
              <a:t>organisational</a:t>
            </a:r>
            <a:r>
              <a:rPr lang="en-US" sz="2200" b="1" dirty="0" smtClean="0">
                <a:latin typeface="Helvetica" pitchFamily="34" charset="0"/>
              </a:rPr>
              <a:t> chart</a:t>
            </a:r>
          </a:p>
          <a:p>
            <a:pPr marL="360000" indent="-360000">
              <a:spcBef>
                <a:spcPts val="600"/>
              </a:spcBef>
              <a:spcAft>
                <a:spcPts val="1200"/>
              </a:spcAft>
            </a:pPr>
            <a:r>
              <a:rPr lang="en-US" sz="2200" b="1" dirty="0" smtClean="0">
                <a:latin typeface="Helvetica" pitchFamily="34" charset="0"/>
              </a:rPr>
              <a:t>Undertake a job analysis of each identified position</a:t>
            </a:r>
          </a:p>
          <a:p>
            <a:pPr marL="360000" indent="-360000">
              <a:spcBef>
                <a:spcPts val="600"/>
              </a:spcBef>
              <a:spcAft>
                <a:spcPts val="1200"/>
              </a:spcAft>
            </a:pPr>
            <a:r>
              <a:rPr lang="en-US" sz="2200" b="1" dirty="0" smtClean="0">
                <a:latin typeface="Helvetica" pitchFamily="34" charset="0"/>
              </a:rPr>
              <a:t>Prepare job specifications and job descriptions for identified positions.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5" name="Picture 4" descr="j0409469.jpg"/>
          <p:cNvPicPr>
            <a:picLocks noChangeAspect="1"/>
          </p:cNvPicPr>
          <p:nvPr/>
        </p:nvPicPr>
        <p:blipFill>
          <a:blip r:embed="rId3" cstate="print"/>
          <a:stretch>
            <a:fillRect/>
          </a:stretch>
        </p:blipFill>
        <p:spPr>
          <a:xfrm>
            <a:off x="5580156" y="4077072"/>
            <a:ext cx="3172356" cy="2116557"/>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You must learn your workplace staffing policies &amp; procedures.</a:t>
            </a:r>
          </a:p>
          <a:p>
            <a:pPr marL="0" indent="0">
              <a:spcBef>
                <a:spcPts val="600"/>
              </a:spcBef>
              <a:spcAft>
                <a:spcPts val="1200"/>
              </a:spcAft>
              <a:buNone/>
            </a:pPr>
            <a:r>
              <a:rPr lang="en-US" sz="2200" b="1" dirty="0" smtClean="0">
                <a:latin typeface="Helvetica" pitchFamily="34" charset="0"/>
              </a:rPr>
              <a:t>These will vary between employers based on:</a:t>
            </a:r>
          </a:p>
          <a:p>
            <a:pPr marL="360000" indent="-360000">
              <a:spcBef>
                <a:spcPts val="600"/>
              </a:spcBef>
              <a:spcAft>
                <a:spcPts val="1200"/>
              </a:spcAft>
            </a:pPr>
            <a:r>
              <a:rPr lang="en-US" sz="2200" b="1" dirty="0" smtClean="0">
                <a:latin typeface="Helvetica" pitchFamily="34" charset="0"/>
              </a:rPr>
              <a:t>Their experience</a:t>
            </a:r>
          </a:p>
          <a:p>
            <a:pPr marL="360000" indent="-360000">
              <a:spcBef>
                <a:spcPts val="600"/>
              </a:spcBef>
              <a:spcAft>
                <a:spcPts val="1200"/>
              </a:spcAft>
            </a:pPr>
            <a:r>
              <a:rPr lang="en-US" sz="2200" b="1" dirty="0" smtClean="0">
                <a:latin typeface="Helvetica" pitchFamily="34" charset="0"/>
              </a:rPr>
              <a:t>Size of the operation</a:t>
            </a:r>
          </a:p>
          <a:p>
            <a:pPr marL="360000" indent="-360000">
              <a:spcBef>
                <a:spcPts val="600"/>
              </a:spcBef>
              <a:spcAft>
                <a:spcPts val="1200"/>
              </a:spcAft>
            </a:pPr>
            <a:r>
              <a:rPr lang="en-US" sz="2200" b="1" dirty="0" smtClean="0">
                <a:latin typeface="Helvetica" pitchFamily="34" charset="0"/>
              </a:rPr>
              <a:t>Ownership</a:t>
            </a:r>
          </a:p>
          <a:p>
            <a:pPr marL="360000" indent="-360000">
              <a:spcBef>
                <a:spcPts val="600"/>
              </a:spcBef>
              <a:spcAft>
                <a:spcPts val="1200"/>
              </a:spcAft>
            </a:pPr>
            <a:r>
              <a:rPr lang="en-US" sz="2200" b="1" dirty="0" smtClean="0">
                <a:latin typeface="Helvetica" pitchFamily="34" charset="0"/>
              </a:rPr>
              <a:t>Legal (‘compliance’) requirements.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5" name="Picture 4" descr="MP900178584[1].JPG"/>
          <p:cNvPicPr>
            <a:picLocks noChangeAspect="1"/>
          </p:cNvPicPr>
          <p:nvPr/>
        </p:nvPicPr>
        <p:blipFill>
          <a:blip r:embed="rId3" cstate="print"/>
          <a:stretch>
            <a:fillRect/>
          </a:stretch>
        </p:blipFill>
        <p:spPr>
          <a:xfrm>
            <a:off x="5763930" y="4221088"/>
            <a:ext cx="2897717" cy="1922152"/>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Job advertising policies and procedures may include:</a:t>
            </a:r>
          </a:p>
          <a:p>
            <a:pPr marL="360000" indent="-360000">
              <a:spcBef>
                <a:spcPts val="600"/>
              </a:spcBef>
              <a:spcAft>
                <a:spcPts val="1200"/>
              </a:spcAft>
            </a:pPr>
            <a:r>
              <a:rPr lang="en-US" sz="2200" b="1" dirty="0" smtClean="0">
                <a:latin typeface="Helvetica" pitchFamily="34" charset="0"/>
              </a:rPr>
              <a:t>Job advertising, addressing:</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What is to be included &amp; excluded in advertisements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Media to be used to advertise vacancies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Recruitment agencies to be used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Type of online job vacancy </a:t>
            </a:r>
            <a:br>
              <a:rPr lang="en-US" sz="2200" b="1" dirty="0" smtClean="0">
                <a:latin typeface="Helvetica" pitchFamily="34" charset="0"/>
              </a:rPr>
            </a:br>
            <a:r>
              <a:rPr lang="en-US" sz="2200" b="1" dirty="0" smtClean="0">
                <a:latin typeface="Helvetica" pitchFamily="34" charset="0"/>
              </a:rPr>
              <a:t>advertising.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 name="Picture 4" descr="Table Setting.jpg"/>
          <p:cNvPicPr>
            <a:picLocks noChangeAspect="1"/>
          </p:cNvPicPr>
          <p:nvPr/>
        </p:nvPicPr>
        <p:blipFill>
          <a:blip r:embed="rId3" cstate="print"/>
          <a:stretch>
            <a:fillRect/>
          </a:stretch>
        </p:blipFill>
        <p:spPr>
          <a:xfrm>
            <a:off x="6229259" y="4293096"/>
            <a:ext cx="2551997" cy="1709838"/>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Internal promotion of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Requiring all vacancies to be externally advertised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Requiring internal staff are considered before external advertising occurs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This policy will spell out the criteria                                      for determining when a vacancy                                      should be advertised externally.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descr="11111.jpg"/>
          <p:cNvPicPr>
            <a:picLocks noChangeAspect="1"/>
          </p:cNvPicPr>
          <p:nvPr/>
        </p:nvPicPr>
        <p:blipFill>
          <a:blip r:embed="rId3" cstate="print"/>
          <a:stretch>
            <a:fillRect/>
          </a:stretch>
        </p:blipFill>
        <p:spPr>
          <a:xfrm>
            <a:off x="6516216" y="3429000"/>
            <a:ext cx="1838925" cy="2753223"/>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Staff training:</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Stating basic induction requirements for all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specific training for individual roles and positions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Presenting the company commitment to                          training in terms of time &amp; money.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descr="_94_08_38%.jpg"/>
          <p:cNvPicPr>
            <a:picLocks noChangeAspect="1"/>
          </p:cNvPicPr>
          <p:nvPr/>
        </p:nvPicPr>
        <p:blipFill>
          <a:blip r:embed="rId3" cstate="print"/>
          <a:stretch>
            <a:fillRect/>
          </a:stretch>
        </p:blipFill>
        <p:spPr>
          <a:xfrm>
            <a:off x="6804248" y="3573016"/>
            <a:ext cx="1626864" cy="2461047"/>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Remuneration: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pay rates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&amp; explaining overtime rates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holiday &amp; other pay rates.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4" descr="MP900423616[1].JPG"/>
          <p:cNvPicPr>
            <a:picLocks noChangeAspect="1"/>
          </p:cNvPicPr>
          <p:nvPr/>
        </p:nvPicPr>
        <p:blipFill>
          <a:blip r:embed="rId3" cstate="print"/>
          <a:stretch>
            <a:fillRect/>
          </a:stretch>
        </p:blipFill>
        <p:spPr>
          <a:xfrm>
            <a:off x="5508104" y="4005064"/>
            <a:ext cx="3167295" cy="211070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Probationary period: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Indicating duration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Stating rights of both employer &amp; employee during this time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Some employers have                                               probationary periods.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descr="1111.jpg"/>
          <p:cNvPicPr>
            <a:picLocks noChangeAspect="1"/>
          </p:cNvPicPr>
          <p:nvPr/>
        </p:nvPicPr>
        <p:blipFill>
          <a:blip r:embed="rId3" cstate="print"/>
          <a:stretch>
            <a:fillRect/>
          </a:stretch>
        </p:blipFill>
        <p:spPr>
          <a:xfrm>
            <a:off x="5724128" y="3861048"/>
            <a:ext cx="3060192" cy="224332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525963"/>
          </a:xfrm>
        </p:spPr>
        <p:txBody>
          <a:bodyPr>
            <a:normAutofit/>
          </a:bodyPr>
          <a:lstStyle/>
          <a:p>
            <a:pPr marL="360000" indent="-360000">
              <a:spcBef>
                <a:spcPts val="600"/>
              </a:spcBef>
              <a:spcAft>
                <a:spcPts val="1200"/>
              </a:spcAft>
            </a:pPr>
            <a:r>
              <a:rPr lang="en-US" sz="2200" b="1" dirty="0" smtClean="0">
                <a:latin typeface="Helvetica" pitchFamily="34" charset="0"/>
              </a:rPr>
              <a:t>Terms &amp; conditions of employment:</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when rest &amp; meal breaks can be taken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Hours to be worked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Sick &amp; other leave or pay entitlements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Superannuation.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 name="Picture 4" descr="DSC02667.JPG"/>
          <p:cNvPicPr>
            <a:picLocks noChangeAspect="1"/>
          </p:cNvPicPr>
          <p:nvPr/>
        </p:nvPicPr>
        <p:blipFill>
          <a:blip r:embed="rId3" cstate="print"/>
          <a:stretch>
            <a:fillRect/>
          </a:stretch>
        </p:blipFill>
        <p:spPr>
          <a:xfrm>
            <a:off x="5724128" y="4149080"/>
            <a:ext cx="2741516" cy="1833389"/>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Benefits: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Stating ‘qualifying period’ before they apply</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who they apply to</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Describing the benefits available.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 name="Picture 4" descr="MP910220981[1].JPG"/>
          <p:cNvPicPr>
            <a:picLocks noChangeAspect="1"/>
          </p:cNvPicPr>
          <p:nvPr/>
        </p:nvPicPr>
        <p:blipFill>
          <a:blip r:embed="rId3" cstate="print"/>
          <a:stretch>
            <a:fillRect/>
          </a:stretch>
        </p:blipFill>
        <p:spPr>
          <a:xfrm>
            <a:off x="6588224" y="3212976"/>
            <a:ext cx="1952262" cy="2924944"/>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General staff behaviour &amp; presentation: </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Uniform &amp; personal presentation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Smoking</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Tact &amp; diplomacy</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Obligations on staff when they are ill</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Attendance &amp; punctuality</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Use of company property.</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5" name="Picture 4" descr="4.jpg"/>
          <p:cNvPicPr>
            <a:picLocks noChangeAspect="1"/>
          </p:cNvPicPr>
          <p:nvPr/>
        </p:nvPicPr>
        <p:blipFill>
          <a:blip r:embed="rId3" cstate="print"/>
          <a:stretch>
            <a:fillRect/>
          </a:stretch>
        </p:blipFill>
        <p:spPr>
          <a:xfrm>
            <a:off x="6516216" y="3068960"/>
            <a:ext cx="2019455" cy="3014464"/>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Interview &amp; selection panels: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the format of the interview</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Detailing number of people on interview panels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Describing the role of interviewers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Specifying roles of interviewers                                during interview &amp; selection.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descr="MP900422777[1].JPG"/>
          <p:cNvPicPr>
            <a:picLocks noChangeAspect="1"/>
          </p:cNvPicPr>
          <p:nvPr/>
        </p:nvPicPr>
        <p:blipFill>
          <a:blip r:embed="rId3" cstate="print"/>
          <a:stretch>
            <a:fillRect/>
          </a:stretch>
        </p:blipFill>
        <p:spPr>
          <a:xfrm>
            <a:off x="6156176" y="3789040"/>
            <a:ext cx="2420888" cy="242088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Designated authorities for hiring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personnel with ultimate authority to approve new staff</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Describing relevant protocols                                         when hiring new employees.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descr="MP900424431[1].JPG"/>
          <p:cNvPicPr>
            <a:picLocks noChangeAspect="1"/>
          </p:cNvPicPr>
          <p:nvPr/>
        </p:nvPicPr>
        <p:blipFill>
          <a:blip r:embed="rId3" cstate="print"/>
          <a:stretch>
            <a:fillRect/>
          </a:stretch>
        </p:blipFill>
        <p:spPr>
          <a:xfrm>
            <a:off x="6516216" y="3141810"/>
            <a:ext cx="2001308" cy="299611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Discretionary power:</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Specifying authority of nominated individuals to negotiate remuneration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Identifying authority of nominated individuals to negotiate conditions of employment.</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descr="MP900422804[1].JPG"/>
          <p:cNvPicPr>
            <a:picLocks noChangeAspect="1"/>
          </p:cNvPicPr>
          <p:nvPr/>
        </p:nvPicPr>
        <p:blipFill>
          <a:blip r:embed="rId3" cstate="print"/>
          <a:stretch>
            <a:fillRect/>
          </a:stretch>
        </p:blipFill>
        <p:spPr>
          <a:xfrm>
            <a:off x="5940152" y="4005064"/>
            <a:ext cx="2420888" cy="242088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Legislation: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Setting out protocols for dealing with IR issues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Providing direction for complying with EO &amp; diversity requirements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Detailing responsibilities for registering                          with necessary authorities.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5" name="Picture 4" descr="MP900408864[1].JPG"/>
          <p:cNvPicPr>
            <a:picLocks noChangeAspect="1"/>
          </p:cNvPicPr>
          <p:nvPr/>
        </p:nvPicPr>
        <p:blipFill>
          <a:blip r:embed="rId3" cstate="print"/>
          <a:stretch>
            <a:fillRect/>
          </a:stretch>
        </p:blipFill>
        <p:spPr>
          <a:xfrm>
            <a:off x="6444208" y="4149080"/>
            <a:ext cx="2276872" cy="2276872"/>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You must know exactly what your policies &amp; procedures contain because:</a:t>
            </a:r>
          </a:p>
          <a:p>
            <a:pPr marL="360000" indent="-360000">
              <a:spcBef>
                <a:spcPts val="600"/>
              </a:spcBef>
              <a:spcAft>
                <a:spcPts val="1200"/>
              </a:spcAft>
            </a:pPr>
            <a:r>
              <a:rPr lang="en-US" sz="2200" b="1" dirty="0" smtClean="0">
                <a:latin typeface="Helvetica" pitchFamily="34" charset="0"/>
              </a:rPr>
              <a:t>They govern actions</a:t>
            </a:r>
          </a:p>
          <a:p>
            <a:pPr marL="360000" indent="-360000">
              <a:spcBef>
                <a:spcPts val="600"/>
              </a:spcBef>
              <a:spcAft>
                <a:spcPts val="1200"/>
              </a:spcAft>
            </a:pPr>
            <a:r>
              <a:rPr lang="en-US" sz="2200" b="1" dirty="0" smtClean="0">
                <a:latin typeface="Helvetica" pitchFamily="34" charset="0"/>
              </a:rPr>
              <a:t>They stipulate what you cannot do</a:t>
            </a:r>
          </a:p>
          <a:p>
            <a:pPr marL="360000" indent="-360000">
              <a:spcBef>
                <a:spcPts val="600"/>
              </a:spcBef>
              <a:spcAft>
                <a:spcPts val="1200"/>
              </a:spcAft>
            </a:pPr>
            <a:r>
              <a:rPr lang="en-US" sz="2200" b="1" dirty="0" smtClean="0">
                <a:latin typeface="Helvetica" pitchFamily="34" charset="0"/>
              </a:rPr>
              <a:t>They enable you to answer questions</a:t>
            </a:r>
          </a:p>
          <a:p>
            <a:pPr marL="360000" indent="-360000">
              <a:spcBef>
                <a:spcPts val="600"/>
              </a:spcBef>
              <a:spcAft>
                <a:spcPts val="1200"/>
              </a:spcAft>
            </a:pPr>
            <a:r>
              <a:rPr lang="en-US" sz="2200" b="1" dirty="0" smtClean="0">
                <a:latin typeface="Helvetica" pitchFamily="34" charset="0"/>
              </a:rPr>
              <a:t>They provide the basis for aligning                                     staff with business goals.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descr="IMG_2232.jpg"/>
          <p:cNvPicPr>
            <a:picLocks noChangeAspect="1"/>
          </p:cNvPicPr>
          <p:nvPr/>
        </p:nvPicPr>
        <p:blipFill>
          <a:blip r:embed="rId3" cstate="print"/>
          <a:stretch>
            <a:fillRect/>
          </a:stretch>
        </p:blipFill>
        <p:spPr>
          <a:xfrm>
            <a:off x="6588224" y="3573016"/>
            <a:ext cx="1923678" cy="2564904"/>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&amp; read enterprise staffing policies &amp;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Ways to learn about your workplace staffing policies &amp; procedures:</a:t>
            </a:r>
          </a:p>
          <a:p>
            <a:pPr marL="360000" indent="-360000">
              <a:spcBef>
                <a:spcPts val="600"/>
              </a:spcBef>
              <a:spcAft>
                <a:spcPts val="1200"/>
              </a:spcAft>
            </a:pPr>
            <a:r>
              <a:rPr lang="en-US" sz="2200" b="1" dirty="0" smtClean="0">
                <a:latin typeface="Helvetica" pitchFamily="34" charset="0"/>
              </a:rPr>
              <a:t>Read them</a:t>
            </a:r>
          </a:p>
          <a:p>
            <a:pPr marL="360000" indent="-360000">
              <a:spcBef>
                <a:spcPts val="600"/>
              </a:spcBef>
              <a:spcAft>
                <a:spcPts val="1200"/>
              </a:spcAft>
            </a:pPr>
            <a:r>
              <a:rPr lang="en-US" sz="2200" b="1" dirty="0" smtClean="0">
                <a:latin typeface="Helvetica" pitchFamily="34" charset="0"/>
              </a:rPr>
              <a:t>Use the intranet</a:t>
            </a:r>
          </a:p>
          <a:p>
            <a:pPr marL="360000" indent="-360000">
              <a:spcBef>
                <a:spcPts val="600"/>
              </a:spcBef>
              <a:spcAft>
                <a:spcPts val="1200"/>
              </a:spcAft>
            </a:pPr>
            <a:r>
              <a:rPr lang="en-US" sz="2200" b="1" dirty="0" smtClean="0">
                <a:latin typeface="Helvetica" pitchFamily="34" charset="0"/>
              </a:rPr>
              <a:t>Attend relevant internal training</a:t>
            </a:r>
          </a:p>
          <a:p>
            <a:pPr marL="360000" indent="-360000">
              <a:spcBef>
                <a:spcPts val="600"/>
              </a:spcBef>
              <a:spcAft>
                <a:spcPts val="1200"/>
              </a:spcAft>
            </a:pPr>
            <a:r>
              <a:rPr lang="en-US" sz="2200" b="1" dirty="0" smtClean="0">
                <a:latin typeface="Helvetica" pitchFamily="34" charset="0"/>
              </a:rPr>
              <a:t>Talk to management</a:t>
            </a:r>
          </a:p>
          <a:p>
            <a:pPr marL="360000" indent="-360000">
              <a:spcBef>
                <a:spcPts val="600"/>
              </a:spcBef>
              <a:spcAft>
                <a:spcPts val="1200"/>
              </a:spcAft>
            </a:pPr>
            <a:r>
              <a:rPr lang="en-US" sz="2200" b="1" dirty="0" smtClean="0">
                <a:latin typeface="Helvetica" pitchFamily="34" charset="0"/>
              </a:rPr>
              <a:t>Ask lots of questions.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descr="00385537.jpg"/>
          <p:cNvPicPr>
            <a:picLocks noChangeAspect="1"/>
          </p:cNvPicPr>
          <p:nvPr/>
        </p:nvPicPr>
        <p:blipFill>
          <a:blip r:embed="rId3" cstate="print"/>
          <a:stretch>
            <a:fillRect/>
          </a:stretch>
        </p:blipFill>
        <p:spPr>
          <a:xfrm>
            <a:off x="6228184" y="2996952"/>
            <a:ext cx="2183131" cy="3056384"/>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internal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Possible internal factors impacting on staffing levels:</a:t>
            </a:r>
          </a:p>
          <a:p>
            <a:pPr marL="360000" indent="-360000">
              <a:spcBef>
                <a:spcPts val="600"/>
              </a:spcBef>
              <a:spcAft>
                <a:spcPts val="1200"/>
              </a:spcAft>
            </a:pPr>
            <a:r>
              <a:rPr lang="en-US" sz="2200" b="1" dirty="0" err="1" smtClean="0">
                <a:latin typeface="Helvetica" pitchFamily="34" charset="0"/>
              </a:rPr>
              <a:t>Labour</a:t>
            </a:r>
            <a:r>
              <a:rPr lang="en-US" sz="2200" b="1" dirty="0" smtClean="0">
                <a:latin typeface="Helvetica" pitchFamily="34" charset="0"/>
              </a:rPr>
              <a:t> budget</a:t>
            </a:r>
          </a:p>
          <a:p>
            <a:pPr marL="360000" indent="-360000">
              <a:spcBef>
                <a:spcPts val="600"/>
              </a:spcBef>
              <a:spcAft>
                <a:spcPts val="1200"/>
              </a:spcAft>
            </a:pPr>
            <a:r>
              <a:rPr lang="en-US" sz="2200" b="1" dirty="0" smtClean="0">
                <a:latin typeface="Helvetica" pitchFamily="34" charset="0"/>
              </a:rPr>
              <a:t>Existing staff</a:t>
            </a:r>
          </a:p>
          <a:p>
            <a:pPr marL="360000" indent="-360000">
              <a:spcBef>
                <a:spcPts val="600"/>
              </a:spcBef>
              <a:spcAft>
                <a:spcPts val="1200"/>
              </a:spcAft>
            </a:pPr>
            <a:r>
              <a:rPr lang="en-US" sz="2200" b="1" dirty="0" smtClean="0">
                <a:latin typeface="Helvetica" pitchFamily="34" charset="0"/>
              </a:rPr>
              <a:t>Service standards</a:t>
            </a:r>
          </a:p>
          <a:p>
            <a:pPr marL="360000" indent="-360000">
              <a:spcBef>
                <a:spcPts val="600"/>
              </a:spcBef>
              <a:spcAft>
                <a:spcPts val="1200"/>
              </a:spcAft>
            </a:pPr>
            <a:r>
              <a:rPr lang="en-US" sz="2200" b="1" dirty="0" smtClean="0">
                <a:latin typeface="Helvetica" pitchFamily="34" charset="0"/>
              </a:rPr>
              <a:t>Trading hours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6" name="Picture 5" descr="j0442522.jpg"/>
          <p:cNvPicPr>
            <a:picLocks noChangeAspect="1"/>
          </p:cNvPicPr>
          <p:nvPr/>
        </p:nvPicPr>
        <p:blipFill>
          <a:blip r:embed="rId3" cstate="print"/>
          <a:stretch>
            <a:fillRect/>
          </a:stretch>
        </p:blipFill>
        <p:spPr>
          <a:xfrm>
            <a:off x="5148064" y="3861048"/>
            <a:ext cx="3167844" cy="2111896"/>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internal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Volume of customers</a:t>
            </a:r>
          </a:p>
          <a:p>
            <a:pPr marL="360000" indent="-360000">
              <a:spcBef>
                <a:spcPts val="600"/>
              </a:spcBef>
              <a:spcAft>
                <a:spcPts val="1200"/>
              </a:spcAft>
            </a:pPr>
            <a:r>
              <a:rPr lang="en-US" sz="2200" b="1" dirty="0" smtClean="0">
                <a:latin typeface="Helvetica" pitchFamily="34" charset="0"/>
              </a:rPr>
              <a:t>Peak demand</a:t>
            </a:r>
          </a:p>
          <a:p>
            <a:pPr marL="360000" indent="-360000">
              <a:spcBef>
                <a:spcPts val="600"/>
              </a:spcBef>
              <a:spcAft>
                <a:spcPts val="1200"/>
              </a:spcAft>
            </a:pPr>
            <a:r>
              <a:rPr lang="en-US" sz="2200" b="1" dirty="0" smtClean="0">
                <a:latin typeface="Helvetica" pitchFamily="34" charset="0"/>
              </a:rPr>
              <a:t>Nature &amp; type of customers</a:t>
            </a:r>
          </a:p>
          <a:p>
            <a:pPr marL="360000" indent="-360000">
              <a:spcBef>
                <a:spcPts val="600"/>
              </a:spcBef>
              <a:spcAft>
                <a:spcPts val="1200"/>
              </a:spcAft>
            </a:pPr>
            <a:r>
              <a:rPr lang="en-US" sz="2200" b="1" dirty="0" smtClean="0">
                <a:latin typeface="Helvetica" pitchFamily="34" charset="0"/>
              </a:rPr>
              <a:t>The business itself</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4" descr="j0382696.jpg"/>
          <p:cNvPicPr>
            <a:picLocks noChangeAspect="1"/>
          </p:cNvPicPr>
          <p:nvPr/>
        </p:nvPicPr>
        <p:blipFill>
          <a:blip r:embed="rId3" cstate="print"/>
          <a:stretch>
            <a:fillRect/>
          </a:stretch>
        </p:blipFill>
        <p:spPr>
          <a:xfrm>
            <a:off x="4716016" y="3501008"/>
            <a:ext cx="3603645" cy="2574032"/>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internal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Service offered</a:t>
            </a:r>
          </a:p>
          <a:p>
            <a:pPr marL="360000" indent="-360000">
              <a:spcBef>
                <a:spcPts val="600"/>
              </a:spcBef>
              <a:spcAft>
                <a:spcPts val="1200"/>
              </a:spcAft>
            </a:pPr>
            <a:r>
              <a:rPr lang="en-US" sz="2200" b="1" dirty="0" smtClean="0">
                <a:latin typeface="Helvetica" pitchFamily="34" charset="0"/>
              </a:rPr>
              <a:t>Equipment used</a:t>
            </a:r>
          </a:p>
          <a:p>
            <a:pPr marL="360000" indent="-360000">
              <a:spcBef>
                <a:spcPts val="600"/>
              </a:spcBef>
              <a:spcAft>
                <a:spcPts val="1200"/>
              </a:spcAft>
            </a:pPr>
            <a:r>
              <a:rPr lang="en-US" sz="2200" b="1" dirty="0" smtClean="0">
                <a:latin typeface="Helvetica" pitchFamily="34" charset="0"/>
              </a:rPr>
              <a:t>Promises made to customers</a:t>
            </a:r>
          </a:p>
          <a:p>
            <a:pPr marL="360000" indent="-360000">
              <a:spcBef>
                <a:spcPts val="600"/>
              </a:spcBef>
              <a:spcAft>
                <a:spcPts val="1200"/>
              </a:spcAft>
            </a:pPr>
            <a:r>
              <a:rPr lang="en-US" sz="2200" b="1" dirty="0" smtClean="0">
                <a:latin typeface="Helvetica" pitchFamily="34" charset="0"/>
              </a:rPr>
              <a:t>Coverage of staff movement.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00409015.jpg"/>
          <p:cNvPicPr>
            <a:picLocks noChangeAspect="1"/>
          </p:cNvPicPr>
          <p:nvPr/>
        </p:nvPicPr>
        <p:blipFill>
          <a:blip r:embed="rId3" cstate="print"/>
          <a:stretch>
            <a:fillRect/>
          </a:stretch>
        </p:blipFill>
        <p:spPr>
          <a:xfrm>
            <a:off x="5508104" y="3140968"/>
            <a:ext cx="2839006" cy="2852936"/>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External factors must be taken into account when considering staffing needs:</a:t>
            </a:r>
          </a:p>
          <a:p>
            <a:pPr marL="0" indent="0">
              <a:spcBef>
                <a:spcPts val="600"/>
              </a:spcBef>
              <a:spcAft>
                <a:spcPts val="1200"/>
              </a:spcAft>
              <a:buNone/>
            </a:pPr>
            <a:r>
              <a:rPr lang="en-US" sz="2200" b="1" dirty="0" smtClean="0">
                <a:latin typeface="Helvetica" pitchFamily="34" charset="0"/>
              </a:rPr>
              <a:t>Areas to consider:</a:t>
            </a:r>
          </a:p>
          <a:p>
            <a:pPr marL="360000" indent="-360000">
              <a:spcBef>
                <a:spcPts val="600"/>
              </a:spcBef>
              <a:spcAft>
                <a:spcPts val="1200"/>
              </a:spcAft>
            </a:pPr>
            <a:r>
              <a:rPr lang="en-US" sz="2200" b="1" dirty="0" smtClean="0">
                <a:latin typeface="Helvetica" pitchFamily="34" charset="0"/>
              </a:rPr>
              <a:t>The external business environment</a:t>
            </a:r>
          </a:p>
          <a:p>
            <a:pPr marL="360000" indent="-360000">
              <a:spcBef>
                <a:spcPts val="600"/>
              </a:spcBef>
              <a:spcAft>
                <a:spcPts val="1200"/>
              </a:spcAft>
            </a:pPr>
            <a:r>
              <a:rPr lang="en-US" sz="2200" b="1" dirty="0" smtClean="0">
                <a:latin typeface="Helvetica" pitchFamily="34" charset="0"/>
              </a:rPr>
              <a:t>Customer expectations</a:t>
            </a:r>
          </a:p>
          <a:p>
            <a:pPr marL="360000" indent="-360000">
              <a:spcBef>
                <a:spcPts val="600"/>
              </a:spcBef>
              <a:spcAft>
                <a:spcPts val="1200"/>
              </a:spcAft>
            </a:pPr>
            <a:r>
              <a:rPr lang="en-US" sz="2200" b="1" dirty="0" smtClean="0">
                <a:latin typeface="Helvetica" pitchFamily="34" charset="0"/>
              </a:rPr>
              <a:t>Emerging trends</a:t>
            </a:r>
          </a:p>
          <a:p>
            <a:pPr marL="360000" indent="-360000">
              <a:spcBef>
                <a:spcPts val="600"/>
              </a:spcBef>
              <a:spcAft>
                <a:spcPts val="1200"/>
              </a:spcAft>
            </a:pPr>
            <a:r>
              <a:rPr lang="en-US" sz="2200" b="1" dirty="0" smtClean="0">
                <a:latin typeface="Helvetica" pitchFamily="34" charset="0"/>
              </a:rPr>
              <a:t>Changes in legislation &amp; technology</a:t>
            </a:r>
          </a:p>
          <a:p>
            <a:pPr marL="360000" indent="-360000">
              <a:spcBef>
                <a:spcPts val="600"/>
              </a:spcBef>
              <a:spcAft>
                <a:spcPts val="1200"/>
              </a:spcAft>
            </a:pPr>
            <a:r>
              <a:rPr lang="en-US" sz="2200" b="1" dirty="0" smtClean="0">
                <a:latin typeface="Helvetica" pitchFamily="34" charset="0"/>
              </a:rPr>
              <a:t>Availability of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descr="00385575.jpg"/>
          <p:cNvPicPr>
            <a:picLocks noChangeAspect="1"/>
          </p:cNvPicPr>
          <p:nvPr/>
        </p:nvPicPr>
        <p:blipFill>
          <a:blip r:embed="rId3" cstate="print"/>
          <a:stretch>
            <a:fillRect/>
          </a:stretch>
        </p:blipFill>
        <p:spPr>
          <a:xfrm>
            <a:off x="6732240" y="3429000"/>
            <a:ext cx="1853952" cy="2595533"/>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Look at the external business environment:</a:t>
            </a:r>
          </a:p>
          <a:p>
            <a:pPr marL="360000" indent="-360000">
              <a:spcBef>
                <a:spcPts val="600"/>
              </a:spcBef>
              <a:spcAft>
                <a:spcPts val="1200"/>
              </a:spcAft>
            </a:pPr>
            <a:r>
              <a:rPr lang="en-AU" sz="2200" b="1" dirty="0" smtClean="0">
                <a:latin typeface="Helvetica" pitchFamily="34" charset="0"/>
              </a:rPr>
              <a:t>Evaluation &amp; analysis of the competition</a:t>
            </a:r>
            <a:endParaRPr lang="en-US" sz="2200" b="1" dirty="0" smtClean="0">
              <a:latin typeface="Helvetica" pitchFamily="34" charset="0"/>
            </a:endParaRPr>
          </a:p>
          <a:p>
            <a:pPr marL="360000" indent="-360000">
              <a:spcBef>
                <a:spcPts val="600"/>
              </a:spcBef>
              <a:spcAft>
                <a:spcPts val="1200"/>
              </a:spcAft>
            </a:pPr>
            <a:r>
              <a:rPr lang="en-AU" sz="2200" b="1" dirty="0" smtClean="0">
                <a:latin typeface="Helvetica" pitchFamily="34" charset="0"/>
              </a:rPr>
              <a:t>The state of the economy</a:t>
            </a:r>
          </a:p>
          <a:p>
            <a:pPr marL="360000" indent="-360000">
              <a:spcBef>
                <a:spcPts val="600"/>
              </a:spcBef>
              <a:spcAft>
                <a:spcPts val="1200"/>
              </a:spcAft>
            </a:pPr>
            <a:r>
              <a:rPr lang="en-AU" sz="2200" b="1" dirty="0" smtClean="0">
                <a:latin typeface="Helvetica" pitchFamily="34" charset="0"/>
              </a:rPr>
              <a:t>Consideration of customer’s                                         countries and economies.</a:t>
            </a: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descr="00305762.jpg"/>
          <p:cNvPicPr>
            <a:picLocks noChangeAspect="1"/>
          </p:cNvPicPr>
          <p:nvPr/>
        </p:nvPicPr>
        <p:blipFill>
          <a:blip r:embed="rId3" cstate="print"/>
          <a:stretch>
            <a:fillRect/>
          </a:stretch>
        </p:blipFill>
        <p:spPr>
          <a:xfrm>
            <a:off x="6516216" y="2636912"/>
            <a:ext cx="1901952" cy="36576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b="1" dirty="0" smtClean="0">
                <a:latin typeface="Helvetica" pitchFamily="34" charset="0"/>
              </a:rPr>
              <a:t>Customer expectations:</a:t>
            </a:r>
          </a:p>
          <a:p>
            <a:pPr marL="360000" indent="-360000">
              <a:spcBef>
                <a:spcPts val="600"/>
              </a:spcBef>
              <a:spcAft>
                <a:spcPts val="1200"/>
              </a:spcAft>
            </a:pPr>
            <a:r>
              <a:rPr lang="en-US" sz="2200" b="1" dirty="0" smtClean="0">
                <a:latin typeface="Helvetica" pitchFamily="34" charset="0"/>
              </a:rPr>
              <a:t>Talking to customers</a:t>
            </a:r>
          </a:p>
          <a:p>
            <a:pPr marL="360000" indent="-360000">
              <a:spcBef>
                <a:spcPts val="600"/>
              </a:spcBef>
              <a:spcAft>
                <a:spcPts val="1200"/>
              </a:spcAft>
            </a:pPr>
            <a:r>
              <a:rPr lang="en-US" sz="2200" b="1" dirty="0" smtClean="0">
                <a:latin typeface="Helvetica" pitchFamily="34" charset="0"/>
              </a:rPr>
              <a:t>Making ‘Customer Comment’ cards available</a:t>
            </a:r>
          </a:p>
          <a:p>
            <a:pPr marL="360000" indent="-360000">
              <a:spcBef>
                <a:spcPts val="600"/>
              </a:spcBef>
              <a:spcAft>
                <a:spcPts val="1200"/>
              </a:spcAft>
            </a:pPr>
            <a:r>
              <a:rPr lang="en-US" sz="2200" b="1" dirty="0" smtClean="0">
                <a:latin typeface="Helvetica" pitchFamily="34" charset="0"/>
              </a:rPr>
              <a:t>Providing an online feedback option</a:t>
            </a:r>
          </a:p>
          <a:p>
            <a:pPr marL="360000" indent="-360000">
              <a:spcBef>
                <a:spcPts val="600"/>
              </a:spcBef>
              <a:spcAft>
                <a:spcPts val="1200"/>
              </a:spcAft>
            </a:pPr>
            <a:r>
              <a:rPr lang="en-US" sz="2200" b="1" dirty="0" smtClean="0">
                <a:latin typeface="Helvetica" pitchFamily="34" charset="0"/>
              </a:rPr>
              <a:t>Using focus groups</a:t>
            </a:r>
          </a:p>
          <a:p>
            <a:pPr marL="360000" indent="-360000">
              <a:spcBef>
                <a:spcPts val="600"/>
              </a:spcBef>
              <a:spcAft>
                <a:spcPts val="1200"/>
              </a:spcAft>
            </a:pPr>
            <a:r>
              <a:rPr lang="en-US" sz="2200" b="1" dirty="0" smtClean="0">
                <a:latin typeface="Helvetica" pitchFamily="34" charset="0"/>
              </a:rPr>
              <a:t>Paying attention to complaints &amp; compliments</a:t>
            </a:r>
          </a:p>
          <a:p>
            <a:pPr marL="360000" indent="-360000">
              <a:spcBef>
                <a:spcPts val="600"/>
              </a:spcBef>
              <a:spcAft>
                <a:spcPts val="1200"/>
              </a:spcAft>
            </a:pPr>
            <a:r>
              <a:rPr lang="en-US" sz="2200" b="1" dirty="0" smtClean="0">
                <a:latin typeface="Helvetica" pitchFamily="34" charset="0"/>
              </a:rPr>
              <a:t>Undertaking market research</a:t>
            </a:r>
          </a:p>
          <a:p>
            <a:pPr marL="360000" indent="-360000">
              <a:spcBef>
                <a:spcPts val="600"/>
              </a:spcBef>
              <a:spcAft>
                <a:spcPts val="1200"/>
              </a:spcAft>
            </a:pPr>
            <a:r>
              <a:rPr lang="en-US" sz="2200" b="1" dirty="0" smtClean="0">
                <a:latin typeface="Helvetica" pitchFamily="34" charset="0"/>
              </a:rPr>
              <a:t>Observing customers.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5" name="Picture 4" descr="00316817.jpg"/>
          <p:cNvPicPr>
            <a:picLocks noChangeAspect="1"/>
          </p:cNvPicPr>
          <p:nvPr/>
        </p:nvPicPr>
        <p:blipFill>
          <a:blip r:embed="rId3" cstate="print"/>
          <a:stretch>
            <a:fillRect/>
          </a:stretch>
        </p:blipFill>
        <p:spPr>
          <a:xfrm>
            <a:off x="6876256" y="3573016"/>
            <a:ext cx="1766325" cy="264948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Emerging trends may indicate a need for:</a:t>
            </a:r>
          </a:p>
          <a:p>
            <a:pPr marL="360000" indent="-360000">
              <a:spcBef>
                <a:spcPts val="600"/>
              </a:spcBef>
              <a:spcAft>
                <a:spcPts val="1200"/>
              </a:spcAft>
            </a:pPr>
            <a:r>
              <a:rPr lang="en-US" sz="2200" b="1" dirty="0" smtClean="0">
                <a:latin typeface="Helvetica" pitchFamily="34" charset="0"/>
              </a:rPr>
              <a:t>More or less staff</a:t>
            </a:r>
          </a:p>
          <a:p>
            <a:pPr marL="360000" indent="-360000">
              <a:spcBef>
                <a:spcPts val="600"/>
              </a:spcBef>
              <a:spcAft>
                <a:spcPts val="1200"/>
              </a:spcAft>
            </a:pPr>
            <a:r>
              <a:rPr lang="en-US" sz="2200" b="1" dirty="0" smtClean="0">
                <a:latin typeface="Helvetica" pitchFamily="34" charset="0"/>
              </a:rPr>
              <a:t>Staff with different skill sets</a:t>
            </a:r>
          </a:p>
          <a:p>
            <a:pPr marL="360000" indent="-360000">
              <a:spcBef>
                <a:spcPts val="600"/>
              </a:spcBef>
              <a:spcAft>
                <a:spcPts val="1200"/>
              </a:spcAft>
            </a:pPr>
            <a:r>
              <a:rPr lang="en-US" sz="2200" b="1" dirty="0" smtClean="0">
                <a:latin typeface="Helvetica" pitchFamily="34" charset="0"/>
              </a:rPr>
              <a:t>Staff at different times.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5" name="Picture 4" descr="00443055.jpg"/>
          <p:cNvPicPr>
            <a:picLocks noChangeAspect="1"/>
          </p:cNvPicPr>
          <p:nvPr/>
        </p:nvPicPr>
        <p:blipFill>
          <a:blip r:embed="rId3" cstate="print"/>
          <a:stretch>
            <a:fillRect/>
          </a:stretch>
        </p:blipFill>
        <p:spPr>
          <a:xfrm>
            <a:off x="6372200" y="3068960"/>
            <a:ext cx="2006224" cy="2996952"/>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525963"/>
          </a:xfrm>
        </p:spPr>
        <p:txBody>
          <a:bodyPr>
            <a:normAutofit/>
          </a:bodyPr>
          <a:lstStyle/>
          <a:p>
            <a:pPr marL="0" indent="0">
              <a:spcBef>
                <a:spcPts val="600"/>
              </a:spcBef>
              <a:spcAft>
                <a:spcPts val="1200"/>
              </a:spcAft>
              <a:buNone/>
            </a:pPr>
            <a:r>
              <a:rPr lang="en-US" sz="2200" b="1" dirty="0" smtClean="0">
                <a:latin typeface="Helvetica" pitchFamily="34" charset="0"/>
              </a:rPr>
              <a:t>Changes in legislation may mean:</a:t>
            </a:r>
          </a:p>
          <a:p>
            <a:pPr marL="360000" indent="-360000">
              <a:spcBef>
                <a:spcPts val="600"/>
              </a:spcBef>
              <a:spcAft>
                <a:spcPts val="1200"/>
              </a:spcAft>
            </a:pPr>
            <a:r>
              <a:rPr lang="en-US" sz="2200" b="1" dirty="0" smtClean="0">
                <a:latin typeface="Helvetica" pitchFamily="34" charset="0"/>
              </a:rPr>
              <a:t>Need to train staff about new legislated requirements</a:t>
            </a:r>
          </a:p>
          <a:p>
            <a:pPr marL="360000" indent="-360000">
              <a:spcBef>
                <a:spcPts val="600"/>
              </a:spcBef>
              <a:spcAft>
                <a:spcPts val="1200"/>
              </a:spcAft>
            </a:pPr>
            <a:r>
              <a:rPr lang="en-US" sz="2200" b="1" dirty="0" smtClean="0">
                <a:latin typeface="Helvetica" pitchFamily="34" charset="0"/>
              </a:rPr>
              <a:t>Need for staff to get licences, certificates or qualifications</a:t>
            </a:r>
          </a:p>
          <a:p>
            <a:pPr marL="360000" indent="-360000">
              <a:spcBef>
                <a:spcPts val="600"/>
              </a:spcBef>
              <a:spcAft>
                <a:spcPts val="1200"/>
              </a:spcAft>
            </a:pPr>
            <a:r>
              <a:rPr lang="en-US" sz="2200" b="1" dirty="0" smtClean="0">
                <a:latin typeface="Helvetica" pitchFamily="34" charset="0"/>
              </a:rPr>
              <a:t>Need to update staff training</a:t>
            </a:r>
          </a:p>
          <a:p>
            <a:pPr marL="360000" indent="-360000">
              <a:spcBef>
                <a:spcPts val="600"/>
              </a:spcBef>
              <a:spcAft>
                <a:spcPts val="1200"/>
              </a:spcAft>
            </a:pPr>
            <a:r>
              <a:rPr lang="en-US" sz="2200" b="1" dirty="0" smtClean="0">
                <a:latin typeface="Helvetica" pitchFamily="34" charset="0"/>
              </a:rPr>
              <a:t>Need for staff to provide proof of                                        claims they have credentials</a:t>
            </a:r>
          </a:p>
          <a:p>
            <a:pPr marL="360000" indent="-360000">
              <a:spcBef>
                <a:spcPts val="600"/>
              </a:spcBef>
              <a:spcAft>
                <a:spcPts val="1200"/>
              </a:spcAft>
            </a:pPr>
            <a:r>
              <a:rPr lang="en-US" sz="2200" b="1" dirty="0" smtClean="0">
                <a:latin typeface="Helvetica" pitchFamily="34" charset="0"/>
              </a:rPr>
              <a:t>Need to remove some staff from                                      previous positions.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5" name="Picture 4" descr="00302917.jpg"/>
          <p:cNvPicPr>
            <a:picLocks noChangeAspect="1"/>
          </p:cNvPicPr>
          <p:nvPr/>
        </p:nvPicPr>
        <p:blipFill>
          <a:blip r:embed="rId3" cstate="print"/>
          <a:stretch>
            <a:fillRect/>
          </a:stretch>
        </p:blipFill>
        <p:spPr>
          <a:xfrm>
            <a:off x="6228184" y="3501008"/>
            <a:ext cx="1992700" cy="2793504"/>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Changes in technology:</a:t>
            </a:r>
          </a:p>
          <a:p>
            <a:pPr marL="360000" indent="-360000">
              <a:spcBef>
                <a:spcPts val="600"/>
              </a:spcBef>
              <a:spcAft>
                <a:spcPts val="1200"/>
              </a:spcAft>
            </a:pPr>
            <a:r>
              <a:rPr lang="en-US" sz="2200" b="1" dirty="0" smtClean="0">
                <a:latin typeface="Helvetica" pitchFamily="34" charset="0"/>
              </a:rPr>
              <a:t>Need for staff training, certification or experience</a:t>
            </a:r>
          </a:p>
          <a:p>
            <a:pPr marL="360000" indent="-360000">
              <a:spcBef>
                <a:spcPts val="600"/>
              </a:spcBef>
              <a:spcAft>
                <a:spcPts val="1200"/>
              </a:spcAft>
            </a:pPr>
            <a:r>
              <a:rPr lang="en-US" sz="2200" b="1" dirty="0" smtClean="0">
                <a:latin typeface="Helvetica" pitchFamily="34" charset="0"/>
              </a:rPr>
              <a:t>Need for staff to be able to demonstrate new technology to customers</a:t>
            </a:r>
          </a:p>
          <a:p>
            <a:pPr marL="360000" indent="-360000">
              <a:spcBef>
                <a:spcPts val="600"/>
              </a:spcBef>
              <a:spcAft>
                <a:spcPts val="1200"/>
              </a:spcAft>
            </a:pPr>
            <a:r>
              <a:rPr lang="en-US" sz="2200" b="1" dirty="0" smtClean="0">
                <a:latin typeface="Helvetica" pitchFamily="34" charset="0"/>
              </a:rPr>
              <a:t>Need to integrate new technology                                        with existing technology.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00443202.jpg"/>
          <p:cNvPicPr>
            <a:picLocks noChangeAspect="1"/>
          </p:cNvPicPr>
          <p:nvPr/>
        </p:nvPicPr>
        <p:blipFill>
          <a:blip r:embed="rId3" cstate="print"/>
          <a:stretch>
            <a:fillRect/>
          </a:stretch>
        </p:blipFill>
        <p:spPr>
          <a:xfrm>
            <a:off x="5580112" y="4149080"/>
            <a:ext cx="2961330" cy="1970732"/>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external factors that impact on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Where there is a lack of suitable, local staff:</a:t>
            </a:r>
          </a:p>
          <a:p>
            <a:pPr marL="360000" indent="-360000">
              <a:spcBef>
                <a:spcPts val="600"/>
              </a:spcBef>
              <a:spcAft>
                <a:spcPts val="1200"/>
              </a:spcAft>
            </a:pPr>
            <a:r>
              <a:rPr lang="en-US" sz="2200" b="1" dirty="0" smtClean="0">
                <a:latin typeface="Helvetica" pitchFamily="34" charset="0"/>
              </a:rPr>
              <a:t>Advertise more widely</a:t>
            </a:r>
          </a:p>
          <a:p>
            <a:pPr marL="360000" indent="-360000">
              <a:spcBef>
                <a:spcPts val="600"/>
              </a:spcBef>
              <a:spcAft>
                <a:spcPts val="1200"/>
              </a:spcAft>
            </a:pPr>
            <a:r>
              <a:rPr lang="en-US" sz="2200" b="1" dirty="0" smtClean="0">
                <a:latin typeface="Helvetica" pitchFamily="34" charset="0"/>
              </a:rPr>
              <a:t>Simplify tasks</a:t>
            </a:r>
          </a:p>
          <a:p>
            <a:pPr marL="360000" indent="-360000">
              <a:spcBef>
                <a:spcPts val="600"/>
              </a:spcBef>
              <a:spcAft>
                <a:spcPts val="1200"/>
              </a:spcAft>
            </a:pPr>
            <a:r>
              <a:rPr lang="en-US" sz="2200" b="1" dirty="0" smtClean="0">
                <a:latin typeface="Helvetica" pitchFamily="34" charset="0"/>
              </a:rPr>
              <a:t>Offer more money</a:t>
            </a:r>
          </a:p>
          <a:p>
            <a:pPr marL="360000" indent="-360000">
              <a:spcBef>
                <a:spcPts val="600"/>
              </a:spcBef>
              <a:spcAft>
                <a:spcPts val="1200"/>
              </a:spcAft>
            </a:pPr>
            <a:r>
              <a:rPr lang="en-US" sz="2200" b="1" dirty="0" smtClean="0">
                <a:latin typeface="Helvetica" pitchFamily="34" charset="0"/>
              </a:rPr>
              <a:t>Improve working conditions</a:t>
            </a:r>
          </a:p>
          <a:p>
            <a:pPr marL="360000" indent="-360000">
              <a:spcBef>
                <a:spcPts val="600"/>
              </a:spcBef>
              <a:spcAft>
                <a:spcPts val="1200"/>
              </a:spcAft>
            </a:pPr>
            <a:r>
              <a:rPr lang="en-US" sz="2200" b="1" dirty="0" smtClean="0">
                <a:latin typeface="Helvetica" pitchFamily="34" charset="0"/>
              </a:rPr>
              <a:t>Work with authorities to grow the                                     local pool of suitable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5" name="Picture 4" descr="1.jpg"/>
          <p:cNvPicPr>
            <a:picLocks noChangeAspect="1"/>
          </p:cNvPicPr>
          <p:nvPr/>
        </p:nvPicPr>
        <p:blipFill>
          <a:blip r:embed="rId3" cstate="print"/>
          <a:stretch>
            <a:fillRect/>
          </a:stretch>
        </p:blipFill>
        <p:spPr>
          <a:xfrm>
            <a:off x="5796136" y="4077072"/>
            <a:ext cx="2996952" cy="1997968"/>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b="1" dirty="0" smtClean="0">
                <a:latin typeface="Helvetica" pitchFamily="34" charset="0"/>
              </a:rPr>
              <a:t>You need to monitor workplace performance of staff to:</a:t>
            </a:r>
          </a:p>
          <a:p>
            <a:pPr>
              <a:spcBef>
                <a:spcPts val="1200"/>
              </a:spcBef>
              <a:spcAft>
                <a:spcPts val="600"/>
              </a:spcAft>
            </a:pPr>
            <a:r>
              <a:rPr lang="en-AU" sz="2200" b="1" dirty="0" smtClean="0">
                <a:latin typeface="Helvetica" pitchFamily="34" charset="0"/>
              </a:rPr>
              <a:t>Identify those who need help</a:t>
            </a:r>
          </a:p>
          <a:p>
            <a:pPr>
              <a:spcBef>
                <a:spcPts val="1200"/>
              </a:spcBef>
              <a:spcAft>
                <a:spcPts val="600"/>
              </a:spcAft>
            </a:pPr>
            <a:r>
              <a:rPr lang="en-AU" sz="2200" b="1" dirty="0" smtClean="0">
                <a:latin typeface="Helvetica" pitchFamily="34" charset="0"/>
              </a:rPr>
              <a:t>Help determine whether actual outcomes are                  person-based or related to other issues</a:t>
            </a:r>
          </a:p>
          <a:p>
            <a:pPr>
              <a:spcBef>
                <a:spcPts val="1200"/>
              </a:spcBef>
              <a:spcAft>
                <a:spcPts val="600"/>
              </a:spcAft>
            </a:pPr>
            <a:r>
              <a:rPr lang="en-AU" sz="2200" b="1" dirty="0" smtClean="0">
                <a:latin typeface="Helvetica" pitchFamily="34" charset="0"/>
              </a:rPr>
              <a:t>Identify good performance</a:t>
            </a:r>
          </a:p>
          <a:p>
            <a:pPr>
              <a:spcBef>
                <a:spcPts val="1200"/>
              </a:spcBef>
              <a:spcAft>
                <a:spcPts val="600"/>
              </a:spcAft>
            </a:pPr>
            <a:r>
              <a:rPr lang="en-AU" sz="2200" b="1" dirty="0" smtClean="0">
                <a:latin typeface="Helvetica" pitchFamily="34" charset="0"/>
              </a:rPr>
              <a:t>Identify staff who may be suitable                                           for promotion</a:t>
            </a:r>
          </a:p>
          <a:p>
            <a:pPr>
              <a:spcBef>
                <a:spcPts val="1200"/>
              </a:spcBef>
              <a:spcAft>
                <a:spcPts val="600"/>
              </a:spcAft>
            </a:pPr>
            <a:r>
              <a:rPr lang="en-AU" sz="2200" b="1" dirty="0" smtClean="0">
                <a:latin typeface="Helvetica" pitchFamily="34" charset="0"/>
              </a:rPr>
              <a:t>Remind staff their performance                                          at work is under scrutiny.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6" name="Picture 5" descr="24.jpg"/>
          <p:cNvPicPr>
            <a:picLocks noChangeAspect="1"/>
          </p:cNvPicPr>
          <p:nvPr/>
        </p:nvPicPr>
        <p:blipFill>
          <a:blip r:embed="rId3" cstate="print"/>
          <a:stretch>
            <a:fillRect/>
          </a:stretch>
        </p:blipFill>
        <p:spPr>
          <a:xfrm>
            <a:off x="6732240" y="3356992"/>
            <a:ext cx="1971216" cy="2942456"/>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Statistical analysis is commonly used to monitor workplace performance:</a:t>
            </a:r>
          </a:p>
          <a:p>
            <a:pPr marL="360000" indent="-360000">
              <a:spcBef>
                <a:spcPts val="600"/>
              </a:spcBef>
              <a:spcAft>
                <a:spcPts val="1200"/>
              </a:spcAft>
            </a:pPr>
            <a:r>
              <a:rPr lang="en-US" sz="2200" b="1" dirty="0" smtClean="0">
                <a:latin typeface="Helvetica" pitchFamily="34" charset="0"/>
              </a:rPr>
              <a:t>Step 1: Determine ‘expected’ figures for labour</a:t>
            </a:r>
          </a:p>
          <a:p>
            <a:pPr marL="360000" indent="-360000">
              <a:spcBef>
                <a:spcPts val="600"/>
              </a:spcBef>
              <a:spcAft>
                <a:spcPts val="1200"/>
              </a:spcAft>
            </a:pPr>
            <a:r>
              <a:rPr lang="en-US" sz="2200" b="1" dirty="0" smtClean="0">
                <a:latin typeface="Helvetica" pitchFamily="34" charset="0"/>
              </a:rPr>
              <a:t>Step 2: Calculate ‘actual’ figures</a:t>
            </a:r>
          </a:p>
          <a:p>
            <a:pPr marL="360000" indent="-360000">
              <a:spcBef>
                <a:spcPts val="600"/>
              </a:spcBef>
              <a:spcAft>
                <a:spcPts val="1200"/>
              </a:spcAft>
            </a:pPr>
            <a:r>
              <a:rPr lang="en-US" sz="2200" b="1" dirty="0" smtClean="0">
                <a:latin typeface="Helvetica" pitchFamily="34" charset="0"/>
              </a:rPr>
              <a:t>Step 3: Compare ‘expected’ against ‘actual’.</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descr="5.jpg"/>
          <p:cNvPicPr>
            <a:picLocks noChangeAspect="1"/>
          </p:cNvPicPr>
          <p:nvPr/>
        </p:nvPicPr>
        <p:blipFill>
          <a:blip r:embed="rId3" cstate="print"/>
          <a:stretch>
            <a:fillRect/>
          </a:stretch>
        </p:blipFill>
        <p:spPr>
          <a:xfrm>
            <a:off x="5364088" y="4149080"/>
            <a:ext cx="3212524" cy="2137221"/>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US" sz="2200" b="1" dirty="0" smtClean="0">
                <a:latin typeface="Helvetica" pitchFamily="34" charset="0"/>
              </a:rPr>
              <a:t>Labour cost percentage = </a:t>
            </a:r>
            <a:r>
              <a:rPr lang="en-AU" sz="2200" b="1" dirty="0" smtClean="0">
                <a:latin typeface="Helvetica" pitchFamily="34" charset="0"/>
              </a:rPr>
              <a:t>the percentage of revenue that represents the cost of labour to generate those sales.</a:t>
            </a:r>
          </a:p>
          <a:p>
            <a:pPr marL="360000" indent="-360000">
              <a:spcBef>
                <a:spcPts val="600"/>
              </a:spcBef>
              <a:spcAft>
                <a:spcPts val="1200"/>
              </a:spcAft>
              <a:buNone/>
            </a:pPr>
            <a:r>
              <a:rPr lang="en-US" sz="2200" b="1" dirty="0" smtClean="0">
                <a:latin typeface="Helvetica" pitchFamily="34" charset="0"/>
              </a:rPr>
              <a:t>Formulae:</a:t>
            </a: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r>
              <a:rPr lang="en-AU" sz="2200" b="1" dirty="0" smtClean="0">
                <a:latin typeface="Helvetica" pitchFamily="34" charset="0"/>
              </a:rPr>
              <a:t>Example:</a:t>
            </a:r>
            <a:r>
              <a:rPr lang="en-AU" sz="2400" b="1" dirty="0" smtClean="0"/>
              <a:t>	</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graphicFrame>
        <p:nvGraphicFramePr>
          <p:cNvPr id="8" name="Table 7"/>
          <p:cNvGraphicFramePr>
            <a:graphicFrameLocks noGrp="1"/>
          </p:cNvGraphicFramePr>
          <p:nvPr/>
        </p:nvGraphicFramePr>
        <p:xfrm>
          <a:off x="2267744" y="2636912"/>
          <a:ext cx="3035300" cy="771144"/>
        </p:xfrm>
        <a:graphic>
          <a:graphicData uri="http://schemas.openxmlformats.org/drawingml/2006/table">
            <a:tbl>
              <a:tblPr/>
              <a:tblGrid>
                <a:gridCol w="1816100"/>
                <a:gridCol w="609600"/>
                <a:gridCol w="609600"/>
              </a:tblGrid>
              <a:tr h="385572">
                <a:tc>
                  <a:txBody>
                    <a:bodyPr/>
                    <a:lstStyle/>
                    <a:p>
                      <a:pPr algn="ctr">
                        <a:lnSpc>
                          <a:spcPct val="115000"/>
                        </a:lnSpc>
                        <a:spcAft>
                          <a:spcPts val="0"/>
                        </a:spcAft>
                      </a:pPr>
                      <a:r>
                        <a:rPr lang="en-AU" sz="2200" b="1" dirty="0">
                          <a:solidFill>
                            <a:srgbClr val="000000"/>
                          </a:solidFill>
                          <a:latin typeface="Helvetica"/>
                          <a:ea typeface="Times New Roman"/>
                          <a:cs typeface="Times New Roman"/>
                        </a:rPr>
                        <a:t>Labour cost</a:t>
                      </a:r>
                      <a:endParaRPr lang="en-AU" sz="1100" dirty="0">
                        <a:latin typeface="Calibri"/>
                        <a:ea typeface="Calibri"/>
                        <a:cs typeface="Times New Roman"/>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en-AU" sz="2200" b="1">
                          <a:solidFill>
                            <a:srgbClr val="000000"/>
                          </a:solidFill>
                          <a:latin typeface="Helvetica"/>
                          <a:ea typeface="Times New Roman"/>
                          <a:cs typeface="Times New Roman"/>
                        </a:rPr>
                        <a:t>X</a:t>
                      </a:r>
                      <a:endParaRPr lang="en-AU" sz="1100">
                        <a:latin typeface="Calibri"/>
                        <a:ea typeface="Calibri"/>
                        <a:cs typeface="Times New Roman"/>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en-AU" sz="2200" b="1" dirty="0">
                          <a:solidFill>
                            <a:srgbClr val="000000"/>
                          </a:solidFill>
                          <a:latin typeface="Helvetica"/>
                          <a:ea typeface="Times New Roman"/>
                          <a:cs typeface="Times New Roman"/>
                        </a:rPr>
                        <a:t>100</a:t>
                      </a:r>
                      <a:endParaRPr lang="en-AU" sz="1100" dirty="0">
                        <a:latin typeface="Calibri"/>
                        <a:ea typeface="Calibri"/>
                        <a:cs typeface="Times New Roman"/>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solidFill>
                      <a:srgbClr val="FFFFFF"/>
                    </a:solidFill>
                  </a:tcPr>
                </a:tc>
              </a:tr>
              <a:tr h="361950">
                <a:tc>
                  <a:txBody>
                    <a:bodyPr/>
                    <a:lstStyle/>
                    <a:p>
                      <a:pPr algn="ctr">
                        <a:lnSpc>
                          <a:spcPct val="115000"/>
                        </a:lnSpc>
                        <a:spcAft>
                          <a:spcPts val="0"/>
                        </a:spcAft>
                      </a:pPr>
                      <a:r>
                        <a:rPr lang="en-AU" sz="2200" b="1" dirty="0">
                          <a:solidFill>
                            <a:srgbClr val="000000"/>
                          </a:solidFill>
                          <a:latin typeface="Helvetica"/>
                          <a:ea typeface="Times New Roman"/>
                          <a:cs typeface="Times New Roman"/>
                        </a:rPr>
                        <a:t>Sales</a:t>
                      </a:r>
                      <a:endParaRPr lang="en-AU" sz="1100" dirty="0">
                        <a:latin typeface="Calibri"/>
                        <a:ea typeface="Calibri"/>
                        <a:cs typeface="Times New Roman"/>
                      </a:endParaRPr>
                    </a:p>
                  </a:txBody>
                  <a:tcPr marL="68580" marR="68580" marT="0" marB="0" anchor="b">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algn="ctr">
                        <a:lnSpc>
                          <a:spcPct val="115000"/>
                        </a:lnSpc>
                        <a:spcAft>
                          <a:spcPts val="0"/>
                        </a:spcAft>
                      </a:pPr>
                      <a:r>
                        <a:rPr lang="en-AU" sz="1100">
                          <a:solidFill>
                            <a:srgbClr val="000000"/>
                          </a:solidFill>
                          <a:latin typeface="Calibri"/>
                          <a:ea typeface="Times New Roman"/>
                          <a:cs typeface="Times New Roman"/>
                        </a:rPr>
                        <a:t> </a:t>
                      </a:r>
                      <a:endParaRPr lang="en-AU" sz="1100">
                        <a:latin typeface="Calibri"/>
                        <a:ea typeface="Calibri"/>
                        <a:cs typeface="Times New Roman"/>
                      </a:endParaRPr>
                    </a:p>
                  </a:txBody>
                  <a:tcPr marL="68580" marR="68580" marT="0" marB="0" anchor="b">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algn="ctr">
                        <a:lnSpc>
                          <a:spcPct val="115000"/>
                        </a:lnSpc>
                        <a:spcAft>
                          <a:spcPts val="0"/>
                        </a:spcAft>
                      </a:pPr>
                      <a:r>
                        <a:rPr lang="en-AU" sz="2200" b="1" dirty="0">
                          <a:solidFill>
                            <a:srgbClr val="000000"/>
                          </a:solidFill>
                          <a:latin typeface="Helvetica"/>
                          <a:ea typeface="Times New Roman"/>
                          <a:cs typeface="Times New Roman"/>
                        </a:rPr>
                        <a:t>1</a:t>
                      </a:r>
                      <a:endParaRPr lang="en-AU" sz="1100" dirty="0">
                        <a:latin typeface="Calibri"/>
                        <a:ea typeface="Calibri"/>
                        <a:cs typeface="Times New Roman"/>
                      </a:endParaRPr>
                    </a:p>
                  </a:txBody>
                  <a:tcPr marL="68580" marR="68580" marT="0" marB="0" anchor="b">
                    <a:lnL>
                      <a:noFill/>
                    </a:lnL>
                    <a:lnR>
                      <a:noFill/>
                    </a:lnR>
                    <a:lnT w="19050" cap="flat" cmpd="sng" algn="ctr">
                      <a:solidFill>
                        <a:srgbClr val="000000"/>
                      </a:solidFill>
                      <a:prstDash val="solid"/>
                      <a:round/>
                      <a:headEnd type="none" w="med" len="med"/>
                      <a:tailEnd type="none" w="med" len="med"/>
                    </a:lnT>
                    <a:lnB>
                      <a:noFill/>
                    </a:lnB>
                    <a:solidFill>
                      <a:srgbClr val="FFFFFF"/>
                    </a:solidFill>
                  </a:tcPr>
                </a:tc>
              </a:tr>
            </a:tbl>
          </a:graphicData>
        </a:graphic>
      </p:graphicFrame>
      <p:graphicFrame>
        <p:nvGraphicFramePr>
          <p:cNvPr id="9" name="Table 8"/>
          <p:cNvGraphicFramePr>
            <a:graphicFrameLocks noGrp="1"/>
          </p:cNvGraphicFramePr>
          <p:nvPr/>
        </p:nvGraphicFramePr>
        <p:xfrm>
          <a:off x="2195736" y="3789040"/>
          <a:ext cx="4470400" cy="771144"/>
        </p:xfrm>
        <a:graphic>
          <a:graphicData uri="http://schemas.openxmlformats.org/drawingml/2006/table">
            <a:tbl>
              <a:tblPr/>
              <a:tblGrid>
                <a:gridCol w="1816100"/>
                <a:gridCol w="609600"/>
                <a:gridCol w="609600"/>
                <a:gridCol w="1435100"/>
              </a:tblGrid>
              <a:tr h="361950">
                <a:tc>
                  <a:txBody>
                    <a:bodyPr/>
                    <a:lstStyle/>
                    <a:p>
                      <a:pPr algn="ctr">
                        <a:lnSpc>
                          <a:spcPct val="115000"/>
                        </a:lnSpc>
                        <a:spcAft>
                          <a:spcPts val="0"/>
                        </a:spcAft>
                      </a:pPr>
                      <a:r>
                        <a:rPr lang="en-AU" sz="2200" b="1" dirty="0">
                          <a:solidFill>
                            <a:srgbClr val="000000"/>
                          </a:solidFill>
                          <a:latin typeface="Helvetica"/>
                          <a:ea typeface="Times New Roman"/>
                          <a:cs typeface="Times New Roman"/>
                        </a:rPr>
                        <a:t>2250</a:t>
                      </a:r>
                      <a:endParaRPr lang="en-AU" sz="1100" dirty="0">
                        <a:latin typeface="Calibri"/>
                        <a:ea typeface="Calibri"/>
                        <a:cs typeface="Times New Roman"/>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en-AU" sz="2200" b="1">
                          <a:solidFill>
                            <a:srgbClr val="000000"/>
                          </a:solidFill>
                          <a:latin typeface="Helvetica"/>
                          <a:ea typeface="Times New Roman"/>
                          <a:cs typeface="Times New Roman"/>
                        </a:rPr>
                        <a:t>x</a:t>
                      </a:r>
                      <a:endParaRPr lang="en-AU" sz="1100">
                        <a:latin typeface="Calibri"/>
                        <a:ea typeface="Calibri"/>
                        <a:cs typeface="Times New Roman"/>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solidFill>
                      <a:srgbClr val="FFFFFF"/>
                    </a:solidFill>
                  </a:tcPr>
                </a:tc>
                <a:tc>
                  <a:txBody>
                    <a:bodyPr/>
                    <a:lstStyle/>
                    <a:p>
                      <a:pPr algn="ctr">
                        <a:lnSpc>
                          <a:spcPct val="115000"/>
                        </a:lnSpc>
                        <a:spcAft>
                          <a:spcPts val="0"/>
                        </a:spcAft>
                      </a:pPr>
                      <a:r>
                        <a:rPr lang="en-AU" sz="2200" b="1">
                          <a:solidFill>
                            <a:srgbClr val="000000"/>
                          </a:solidFill>
                          <a:latin typeface="Helvetica"/>
                          <a:ea typeface="Times New Roman"/>
                          <a:cs typeface="Times New Roman"/>
                        </a:rPr>
                        <a:t>100</a:t>
                      </a:r>
                      <a:endParaRPr lang="en-AU" sz="1100">
                        <a:latin typeface="Calibri"/>
                        <a:ea typeface="Calibri"/>
                        <a:cs typeface="Times New Roman"/>
                      </a:endParaRPr>
                    </a:p>
                  </a:txBody>
                  <a:tcPr marL="68580" marR="68580" marT="0" marB="0" anchor="b">
                    <a:lnL>
                      <a:noFill/>
                    </a:lnL>
                    <a:lnR>
                      <a:noFill/>
                    </a:lnR>
                    <a:lnT>
                      <a:noFill/>
                    </a:lnT>
                    <a:lnB w="19050" cap="flat" cmpd="sng" algn="ctr">
                      <a:solidFill>
                        <a:srgbClr val="000000"/>
                      </a:solidFill>
                      <a:prstDash val="solid"/>
                      <a:round/>
                      <a:headEnd type="none" w="med" len="med"/>
                      <a:tailEnd type="none" w="med" len="med"/>
                    </a:lnB>
                    <a:solidFill>
                      <a:srgbClr val="FFFFFF"/>
                    </a:solidFill>
                  </a:tcPr>
                </a:tc>
                <a:tc rowSpan="2">
                  <a:txBody>
                    <a:bodyPr/>
                    <a:lstStyle/>
                    <a:p>
                      <a:pPr>
                        <a:lnSpc>
                          <a:spcPct val="115000"/>
                        </a:lnSpc>
                        <a:spcAft>
                          <a:spcPts val="0"/>
                        </a:spcAft>
                      </a:pPr>
                      <a:r>
                        <a:rPr lang="en-AU" sz="2200" b="1">
                          <a:solidFill>
                            <a:srgbClr val="000000"/>
                          </a:solidFill>
                          <a:latin typeface="Helvetica"/>
                          <a:ea typeface="Times New Roman"/>
                          <a:cs typeface="Times New Roman"/>
                        </a:rPr>
                        <a:t>=26.3%</a:t>
                      </a:r>
                      <a:endParaRPr lang="en-AU" sz="1100">
                        <a:latin typeface="Calibri"/>
                        <a:ea typeface="Calibri"/>
                        <a:cs typeface="Times New Roman"/>
                      </a:endParaRPr>
                    </a:p>
                  </a:txBody>
                  <a:tcPr marL="68580" marR="68580" marT="0" marB="0" anchor="ctr">
                    <a:lnL>
                      <a:noFill/>
                    </a:lnL>
                    <a:lnR>
                      <a:noFill/>
                    </a:lnR>
                    <a:lnT>
                      <a:noFill/>
                    </a:lnT>
                    <a:lnB>
                      <a:noFill/>
                    </a:lnB>
                    <a:solidFill>
                      <a:srgbClr val="FFFFFF"/>
                    </a:solidFill>
                  </a:tcPr>
                </a:tc>
              </a:tr>
              <a:tr h="361950">
                <a:tc>
                  <a:txBody>
                    <a:bodyPr/>
                    <a:lstStyle/>
                    <a:p>
                      <a:pPr algn="ctr">
                        <a:lnSpc>
                          <a:spcPct val="115000"/>
                        </a:lnSpc>
                        <a:spcAft>
                          <a:spcPts val="0"/>
                        </a:spcAft>
                      </a:pPr>
                      <a:r>
                        <a:rPr lang="en-AU" sz="2200" b="1">
                          <a:solidFill>
                            <a:srgbClr val="000000"/>
                          </a:solidFill>
                          <a:latin typeface="Helvetica"/>
                          <a:ea typeface="Times New Roman"/>
                          <a:cs typeface="Times New Roman"/>
                        </a:rPr>
                        <a:t>8550</a:t>
                      </a:r>
                      <a:endParaRPr lang="en-AU" sz="1100">
                        <a:latin typeface="Calibri"/>
                        <a:ea typeface="Calibri"/>
                        <a:cs typeface="Times New Roman"/>
                      </a:endParaRPr>
                    </a:p>
                  </a:txBody>
                  <a:tcPr marL="68580" marR="68580" marT="0" marB="0" anchor="b">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algn="ctr">
                        <a:lnSpc>
                          <a:spcPct val="115000"/>
                        </a:lnSpc>
                        <a:spcAft>
                          <a:spcPts val="0"/>
                        </a:spcAft>
                      </a:pPr>
                      <a:r>
                        <a:rPr lang="en-AU" sz="1100" dirty="0">
                          <a:solidFill>
                            <a:srgbClr val="000000"/>
                          </a:solidFill>
                          <a:latin typeface="Calibri"/>
                          <a:ea typeface="Times New Roman"/>
                          <a:cs typeface="Times New Roman"/>
                        </a:rPr>
                        <a:t> </a:t>
                      </a:r>
                      <a:endParaRPr lang="en-AU" sz="1100" dirty="0">
                        <a:latin typeface="Calibri"/>
                        <a:ea typeface="Calibri"/>
                        <a:cs typeface="Times New Roman"/>
                      </a:endParaRPr>
                    </a:p>
                  </a:txBody>
                  <a:tcPr marL="68580" marR="68580" marT="0" marB="0" anchor="b">
                    <a:lnL>
                      <a:noFill/>
                    </a:lnL>
                    <a:lnR>
                      <a:noFill/>
                    </a:lnR>
                    <a:lnT w="19050" cap="flat" cmpd="sng" algn="ctr">
                      <a:solidFill>
                        <a:srgbClr val="000000"/>
                      </a:solidFill>
                      <a:prstDash val="solid"/>
                      <a:round/>
                      <a:headEnd type="none" w="med" len="med"/>
                      <a:tailEnd type="none" w="med" len="med"/>
                    </a:lnT>
                    <a:lnB>
                      <a:noFill/>
                    </a:lnB>
                    <a:solidFill>
                      <a:srgbClr val="FFFFFF"/>
                    </a:solidFill>
                  </a:tcPr>
                </a:tc>
                <a:tc>
                  <a:txBody>
                    <a:bodyPr/>
                    <a:lstStyle/>
                    <a:p>
                      <a:pPr algn="ctr">
                        <a:lnSpc>
                          <a:spcPct val="115000"/>
                        </a:lnSpc>
                        <a:spcAft>
                          <a:spcPts val="0"/>
                        </a:spcAft>
                      </a:pPr>
                      <a:r>
                        <a:rPr lang="en-AU" sz="2200" b="1" dirty="0">
                          <a:solidFill>
                            <a:srgbClr val="000000"/>
                          </a:solidFill>
                          <a:latin typeface="Helvetica"/>
                          <a:ea typeface="Times New Roman"/>
                          <a:cs typeface="Times New Roman"/>
                        </a:rPr>
                        <a:t>1</a:t>
                      </a:r>
                      <a:endParaRPr lang="en-AU" sz="1100" dirty="0">
                        <a:latin typeface="Calibri"/>
                        <a:ea typeface="Calibri"/>
                        <a:cs typeface="Times New Roman"/>
                      </a:endParaRPr>
                    </a:p>
                  </a:txBody>
                  <a:tcPr marL="68580" marR="68580" marT="0" marB="0" anchor="b">
                    <a:lnL>
                      <a:noFill/>
                    </a:lnL>
                    <a:lnR>
                      <a:noFill/>
                    </a:lnR>
                    <a:lnT w="19050" cap="flat" cmpd="sng" algn="ctr">
                      <a:solidFill>
                        <a:srgbClr val="000000"/>
                      </a:solidFill>
                      <a:prstDash val="solid"/>
                      <a:round/>
                      <a:headEnd type="none" w="med" len="med"/>
                      <a:tailEnd type="none" w="med" len="med"/>
                    </a:lnT>
                    <a:lnB>
                      <a:noFill/>
                    </a:lnB>
                    <a:solidFill>
                      <a:srgbClr val="FFFFFF"/>
                    </a:solidFill>
                  </a:tcPr>
                </a:tc>
                <a:tc vMerge="1">
                  <a:txBody>
                    <a:bodyPr/>
                    <a:lstStyle/>
                    <a:p>
                      <a:endParaRPr lang="en-AU"/>
                    </a:p>
                  </a:txBody>
                  <a:tcPr/>
                </a:tc>
              </a:tr>
            </a:tbl>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In relation to labour cost percentage:</a:t>
            </a:r>
          </a:p>
          <a:p>
            <a:pPr marL="360000" indent="-360000">
              <a:spcBef>
                <a:spcPts val="600"/>
              </a:spcBef>
              <a:spcAft>
                <a:spcPts val="1200"/>
              </a:spcAft>
            </a:pPr>
            <a:r>
              <a:rPr lang="en-US" sz="2200" b="1" dirty="0" smtClean="0">
                <a:latin typeface="Helvetica" pitchFamily="34" charset="0"/>
              </a:rPr>
              <a:t>If labour budget = 26.3% &amp; actual labour cost percentage was 25%, this means you are ‘under budget’</a:t>
            </a:r>
          </a:p>
          <a:p>
            <a:pPr marL="360000" indent="-360000">
              <a:spcBef>
                <a:spcPts val="600"/>
              </a:spcBef>
              <a:spcAft>
                <a:spcPts val="1200"/>
              </a:spcAft>
            </a:pPr>
            <a:r>
              <a:rPr lang="en-US" sz="2200" b="1" dirty="0" smtClean="0">
                <a:latin typeface="Helvetica" pitchFamily="34" charset="0"/>
              </a:rPr>
              <a:t>If labour budget = 26.3% &amp; actual labour cost percentage was 28%, this means you are ‘over budget’.</a:t>
            </a:r>
          </a:p>
          <a:p>
            <a:pPr marL="360000" indent="-360000">
              <a:spcBef>
                <a:spcPts val="600"/>
              </a:spcBef>
              <a:spcAft>
                <a:spcPts val="1200"/>
              </a:spcAft>
            </a:pPr>
            <a:r>
              <a:rPr lang="en-US" sz="2200" b="1" dirty="0" smtClean="0">
                <a:latin typeface="Helvetica" pitchFamily="34" charset="0"/>
              </a:rPr>
              <a:t>Cost rosters before using them.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4" descr="00341915.jpg"/>
          <p:cNvPicPr>
            <a:picLocks noChangeAspect="1"/>
          </p:cNvPicPr>
          <p:nvPr/>
        </p:nvPicPr>
        <p:blipFill>
          <a:blip r:embed="rId3" cstate="print"/>
          <a:stretch>
            <a:fillRect/>
          </a:stretch>
        </p:blipFill>
        <p:spPr>
          <a:xfrm>
            <a:off x="5638660" y="4221088"/>
            <a:ext cx="2950979" cy="2105032"/>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Where labour costs are too high/over budget:</a:t>
            </a:r>
          </a:p>
          <a:p>
            <a:pPr marL="360000" indent="-360000">
              <a:spcBef>
                <a:spcPts val="600"/>
              </a:spcBef>
              <a:spcAft>
                <a:spcPts val="1200"/>
              </a:spcAft>
            </a:pPr>
            <a:r>
              <a:rPr lang="en-US" sz="2200" b="1" dirty="0" smtClean="0">
                <a:latin typeface="Helvetica" pitchFamily="34" charset="0"/>
              </a:rPr>
              <a:t>There may have been too many staff rostered to work</a:t>
            </a:r>
          </a:p>
          <a:p>
            <a:pPr marL="360000" indent="-360000">
              <a:spcBef>
                <a:spcPts val="600"/>
              </a:spcBef>
              <a:spcAft>
                <a:spcPts val="1200"/>
              </a:spcAft>
            </a:pPr>
            <a:r>
              <a:rPr lang="en-US" sz="2200" b="1" dirty="0" smtClean="0">
                <a:latin typeface="Helvetica" pitchFamily="34" charset="0"/>
              </a:rPr>
              <a:t>Inefficient </a:t>
            </a:r>
            <a:r>
              <a:rPr lang="en-US" sz="2200" b="1" dirty="0" err="1" smtClean="0">
                <a:latin typeface="Helvetica" pitchFamily="34" charset="0"/>
              </a:rPr>
              <a:t>rostering</a:t>
            </a:r>
            <a:endParaRPr lang="en-US" sz="2200" b="1" dirty="0" smtClean="0">
              <a:latin typeface="Helvetica" pitchFamily="34" charset="0"/>
            </a:endParaRPr>
          </a:p>
          <a:p>
            <a:pPr marL="360000" indent="-360000">
              <a:spcBef>
                <a:spcPts val="600"/>
              </a:spcBef>
              <a:spcAft>
                <a:spcPts val="1200"/>
              </a:spcAft>
            </a:pPr>
            <a:r>
              <a:rPr lang="en-US" sz="2200" b="1" dirty="0" smtClean="0">
                <a:latin typeface="Helvetica" pitchFamily="34" charset="0"/>
              </a:rPr>
              <a:t>Sales were below expectations</a:t>
            </a:r>
          </a:p>
          <a:p>
            <a:pPr marL="360000" indent="-360000">
              <a:spcBef>
                <a:spcPts val="600"/>
              </a:spcBef>
              <a:spcAft>
                <a:spcPts val="1200"/>
              </a:spcAft>
            </a:pPr>
            <a:r>
              <a:rPr lang="en-US" sz="2200" b="1" dirty="0" smtClean="0">
                <a:latin typeface="Helvetica" pitchFamily="34" charset="0"/>
              </a:rPr>
              <a:t>Management has allocated insufficient labour funds</a:t>
            </a:r>
          </a:p>
          <a:p>
            <a:pPr marL="360000" indent="-360000">
              <a:spcBef>
                <a:spcPts val="600"/>
              </a:spcBef>
              <a:spcAft>
                <a:spcPts val="1200"/>
              </a:spcAft>
            </a:pPr>
            <a:r>
              <a:rPr lang="en-US" sz="2200" b="1" dirty="0" smtClean="0">
                <a:latin typeface="Helvetica" pitchFamily="34" charset="0"/>
              </a:rPr>
              <a:t>May have been a ‘workplace event’</a:t>
            </a:r>
          </a:p>
          <a:p>
            <a:pPr marL="360000" indent="-360000">
              <a:spcBef>
                <a:spcPts val="600"/>
              </a:spcBef>
              <a:spcAft>
                <a:spcPts val="1200"/>
              </a:spcAft>
            </a:pPr>
            <a:r>
              <a:rPr lang="en-US" sz="2200" b="1" dirty="0" smtClean="0">
                <a:latin typeface="Helvetica" pitchFamily="34" charset="0"/>
              </a:rPr>
              <a:t>May relate to ‘public holidays.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4" descr="00302923.jpg"/>
          <p:cNvPicPr>
            <a:picLocks noChangeAspect="1"/>
          </p:cNvPicPr>
          <p:nvPr/>
        </p:nvPicPr>
        <p:blipFill>
          <a:blip r:embed="rId3" cstate="print"/>
          <a:stretch>
            <a:fillRect/>
          </a:stretch>
        </p:blipFill>
        <p:spPr>
          <a:xfrm>
            <a:off x="6359415" y="4581128"/>
            <a:ext cx="2446249" cy="1744991"/>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Quantitative &amp; qualitative analysis compares ‘hard’ data with ‘soft’ data considering:</a:t>
            </a:r>
          </a:p>
          <a:p>
            <a:pPr marL="360000" indent="-360000">
              <a:spcBef>
                <a:spcPts val="600"/>
              </a:spcBef>
              <a:spcAft>
                <a:spcPts val="1200"/>
              </a:spcAft>
            </a:pPr>
            <a:r>
              <a:rPr lang="en-US" sz="2200" b="1" dirty="0" smtClean="0">
                <a:latin typeface="Helvetica" pitchFamily="34" charset="0"/>
              </a:rPr>
              <a:t>Levels of absenteeism against different staffing levels</a:t>
            </a:r>
          </a:p>
          <a:p>
            <a:pPr marL="360000" indent="-360000">
              <a:spcBef>
                <a:spcPts val="600"/>
              </a:spcBef>
              <a:spcAft>
                <a:spcPts val="1200"/>
              </a:spcAft>
            </a:pPr>
            <a:r>
              <a:rPr lang="en-US" sz="2200" b="1" dirty="0" smtClean="0">
                <a:latin typeface="Helvetica" pitchFamily="34" charset="0"/>
              </a:rPr>
              <a:t>Level of staff departing the organisation</a:t>
            </a:r>
          </a:p>
          <a:p>
            <a:pPr marL="360000" indent="-360000">
              <a:spcBef>
                <a:spcPts val="600"/>
              </a:spcBef>
              <a:spcAft>
                <a:spcPts val="1200"/>
              </a:spcAft>
            </a:pPr>
            <a:r>
              <a:rPr lang="en-US" sz="2200" b="1" dirty="0" smtClean="0">
                <a:latin typeface="Helvetica" pitchFamily="34" charset="0"/>
              </a:rPr>
              <a:t>Complaints matched against staffing levels</a:t>
            </a:r>
          </a:p>
          <a:p>
            <a:pPr marL="360000" indent="-360000">
              <a:spcBef>
                <a:spcPts val="600"/>
              </a:spcBef>
              <a:spcAft>
                <a:spcPts val="1200"/>
              </a:spcAft>
            </a:pPr>
            <a:r>
              <a:rPr lang="en-US" sz="2200" b="1" dirty="0" smtClean="0">
                <a:latin typeface="Helvetica" pitchFamily="34" charset="0"/>
              </a:rPr>
              <a:t>Wastage</a:t>
            </a:r>
          </a:p>
          <a:p>
            <a:pPr marL="360000" indent="-360000">
              <a:spcBef>
                <a:spcPts val="600"/>
              </a:spcBef>
              <a:spcAft>
                <a:spcPts val="1200"/>
              </a:spcAft>
            </a:pPr>
            <a:r>
              <a:rPr lang="en-US" sz="2200" b="1" dirty="0" smtClean="0">
                <a:latin typeface="Helvetica" pitchFamily="34" charset="0"/>
              </a:rPr>
              <a:t>Damage.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5" name="Picture 4" descr="00396162.jpg"/>
          <p:cNvPicPr>
            <a:picLocks noChangeAspect="1"/>
          </p:cNvPicPr>
          <p:nvPr/>
        </p:nvPicPr>
        <p:blipFill>
          <a:blip r:embed="rId3" cstate="print"/>
          <a:stretch>
            <a:fillRect/>
          </a:stretch>
        </p:blipFill>
        <p:spPr>
          <a:xfrm>
            <a:off x="7020272" y="3573016"/>
            <a:ext cx="1770504" cy="2666171"/>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525963"/>
          </a:xfrm>
        </p:spPr>
        <p:txBody>
          <a:bodyPr>
            <a:normAutofit/>
          </a:bodyPr>
          <a:lstStyle/>
          <a:p>
            <a:pPr marL="0" indent="0">
              <a:spcBef>
                <a:spcPts val="600"/>
              </a:spcBef>
              <a:spcAft>
                <a:spcPts val="1200"/>
              </a:spcAft>
              <a:buNone/>
            </a:pPr>
            <a:r>
              <a:rPr lang="en-AU" sz="2200" b="1" dirty="0" smtClean="0">
                <a:latin typeface="Helvetica" pitchFamily="34" charset="0"/>
              </a:rPr>
              <a:t>Basics of conducting a qualitative and quantitative analysis</a:t>
            </a:r>
            <a:r>
              <a:rPr lang="en-US" sz="2200" b="1" dirty="0" smtClean="0">
                <a:latin typeface="Helvetica" pitchFamily="34" charset="0"/>
              </a:rPr>
              <a:t>:</a:t>
            </a:r>
          </a:p>
          <a:p>
            <a:pPr marL="360000" indent="-360000">
              <a:spcBef>
                <a:spcPts val="600"/>
              </a:spcBef>
              <a:spcAft>
                <a:spcPts val="1200"/>
              </a:spcAft>
            </a:pPr>
            <a:r>
              <a:rPr lang="en-US" sz="2200" b="1" dirty="0" smtClean="0">
                <a:latin typeface="Helvetica" pitchFamily="34" charset="0"/>
              </a:rPr>
              <a:t>Obtain baseline data</a:t>
            </a:r>
          </a:p>
          <a:p>
            <a:pPr marL="360000" indent="-360000">
              <a:spcBef>
                <a:spcPts val="600"/>
              </a:spcBef>
              <a:spcAft>
                <a:spcPts val="1200"/>
              </a:spcAft>
            </a:pPr>
            <a:r>
              <a:rPr lang="en-US" sz="2200" b="1" dirty="0" smtClean="0">
                <a:latin typeface="Helvetica" pitchFamily="34" charset="0"/>
              </a:rPr>
              <a:t>Compare changes to baseline data when staffing levels change</a:t>
            </a:r>
          </a:p>
          <a:p>
            <a:pPr marL="360000" indent="-360000">
              <a:spcBef>
                <a:spcPts val="600"/>
              </a:spcBef>
              <a:spcAft>
                <a:spcPts val="1200"/>
              </a:spcAft>
            </a:pPr>
            <a:r>
              <a:rPr lang="en-US" sz="2200" b="1" dirty="0" smtClean="0">
                <a:latin typeface="Helvetica" pitchFamily="34" charset="0"/>
              </a:rPr>
              <a:t>Determine ‘cause and effect’ results.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5" name="Picture 4" descr="00385423.jpg"/>
          <p:cNvPicPr>
            <a:picLocks noChangeAspect="1"/>
          </p:cNvPicPr>
          <p:nvPr/>
        </p:nvPicPr>
        <p:blipFill>
          <a:blip r:embed="rId3" cstate="print"/>
          <a:stretch>
            <a:fillRect/>
          </a:stretch>
        </p:blipFill>
        <p:spPr>
          <a:xfrm>
            <a:off x="6516216" y="3501008"/>
            <a:ext cx="2080263" cy="2912368"/>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‘Benchmarking’ = </a:t>
            </a:r>
            <a:r>
              <a:rPr lang="en-AU" sz="2200" b="1" dirty="0" smtClean="0">
                <a:latin typeface="Helvetica" pitchFamily="34" charset="0"/>
              </a:rPr>
              <a:t>identifying best practices &amp; comparing them to what happens in the workplace</a:t>
            </a:r>
            <a:r>
              <a:rPr lang="en-US" sz="2200" b="1" dirty="0" smtClean="0">
                <a:latin typeface="Helvetica" pitchFamily="34" charset="0"/>
              </a:rPr>
              <a:t>:</a:t>
            </a:r>
          </a:p>
          <a:p>
            <a:pPr marL="360000" indent="-360000">
              <a:spcBef>
                <a:spcPts val="600"/>
              </a:spcBef>
              <a:spcAft>
                <a:spcPts val="1200"/>
              </a:spcAft>
            </a:pPr>
            <a:r>
              <a:rPr lang="en-US" sz="2200" b="1" dirty="0" smtClean="0">
                <a:latin typeface="Helvetica" pitchFamily="34" charset="0"/>
              </a:rPr>
              <a:t>May be internal or external</a:t>
            </a:r>
          </a:p>
          <a:p>
            <a:pPr marL="360000" indent="-360000">
              <a:spcBef>
                <a:spcPts val="600"/>
              </a:spcBef>
              <a:spcAft>
                <a:spcPts val="1200"/>
              </a:spcAft>
            </a:pPr>
            <a:r>
              <a:rPr lang="en-US" sz="2200" b="1" dirty="0" smtClean="0">
                <a:latin typeface="Helvetica" pitchFamily="34" charset="0"/>
              </a:rPr>
              <a:t>Provides basis for management action</a:t>
            </a:r>
          </a:p>
          <a:p>
            <a:pPr marL="360000" indent="-360000">
              <a:spcBef>
                <a:spcPts val="600"/>
              </a:spcBef>
              <a:spcAft>
                <a:spcPts val="1200"/>
              </a:spcAft>
            </a:pPr>
            <a:r>
              <a:rPr lang="en-US" sz="2200" b="1" dirty="0" smtClean="0">
                <a:latin typeface="Helvetica" pitchFamily="34" charset="0"/>
              </a:rPr>
              <a:t>Can be used to monitor staff performance.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5" name="Picture 4" descr="00386815.jpg"/>
          <p:cNvPicPr>
            <a:picLocks noChangeAspect="1"/>
          </p:cNvPicPr>
          <p:nvPr/>
        </p:nvPicPr>
        <p:blipFill>
          <a:blip r:embed="rId3" cstate="print"/>
          <a:stretch>
            <a:fillRect/>
          </a:stretch>
        </p:blipFill>
        <p:spPr>
          <a:xfrm>
            <a:off x="5868144" y="4317098"/>
            <a:ext cx="2865512" cy="1910342"/>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techniques to monitor workplace performance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You may use formal or informal research:</a:t>
            </a:r>
          </a:p>
          <a:p>
            <a:pPr marL="360000" indent="-360000">
              <a:spcBef>
                <a:spcPts val="600"/>
              </a:spcBef>
              <a:spcAft>
                <a:spcPts val="1200"/>
              </a:spcAft>
            </a:pPr>
            <a:r>
              <a:rPr lang="en-AU" sz="2200" b="1" dirty="0" smtClean="0">
                <a:latin typeface="Helvetica" pitchFamily="34" charset="0"/>
              </a:rPr>
              <a:t>Make a conscious effort to capture feedback provided by customers</a:t>
            </a:r>
            <a:endParaRPr lang="en-US" sz="2200" b="1" dirty="0" smtClean="0">
              <a:latin typeface="Helvetica" pitchFamily="34" charset="0"/>
            </a:endParaRPr>
          </a:p>
          <a:p>
            <a:pPr marL="360000" indent="-360000">
              <a:spcBef>
                <a:spcPts val="600"/>
              </a:spcBef>
              <a:spcAft>
                <a:spcPts val="1200"/>
              </a:spcAft>
            </a:pPr>
            <a:r>
              <a:rPr lang="en-AU" sz="2200" b="1" dirty="0" smtClean="0">
                <a:latin typeface="Helvetica" pitchFamily="34" charset="0"/>
              </a:rPr>
              <a:t>Investigate matters relevant to staffing issues.</a:t>
            </a: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descr="MP900402222[1].JPG"/>
          <p:cNvPicPr>
            <a:picLocks noChangeAspect="1"/>
          </p:cNvPicPr>
          <p:nvPr/>
        </p:nvPicPr>
        <p:blipFill>
          <a:blip r:embed="rId3" cstate="print"/>
          <a:stretch>
            <a:fillRect/>
          </a:stretch>
        </p:blipFill>
        <p:spPr>
          <a:xfrm>
            <a:off x="5613302" y="3933056"/>
            <a:ext cx="2991961" cy="2401072"/>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fontScale="92500" lnSpcReduction="20000"/>
          </a:bodyPr>
          <a:lstStyle/>
          <a:p>
            <a:pPr marL="0" indent="0">
              <a:spcBef>
                <a:spcPts val="600"/>
              </a:spcBef>
              <a:spcAft>
                <a:spcPts val="1200"/>
              </a:spcAft>
              <a:buNone/>
            </a:pPr>
            <a:r>
              <a:rPr lang="en-US" sz="2400" b="1" dirty="0" smtClean="0">
                <a:latin typeface="Helvetica" pitchFamily="34" charset="0"/>
              </a:rPr>
              <a:t>You may need to consult with stakeholders about staffing needs:</a:t>
            </a:r>
          </a:p>
          <a:p>
            <a:pPr marL="360000" indent="-360000">
              <a:spcBef>
                <a:spcPts val="600"/>
              </a:spcBef>
              <a:spcAft>
                <a:spcPts val="1200"/>
              </a:spcAft>
            </a:pPr>
            <a:r>
              <a:rPr lang="en-US" sz="2400" b="1" dirty="0" smtClean="0">
                <a:latin typeface="Helvetica" pitchFamily="34" charset="0"/>
              </a:rPr>
              <a:t>Owners</a:t>
            </a:r>
          </a:p>
          <a:p>
            <a:pPr marL="360000" indent="-360000">
              <a:spcBef>
                <a:spcPts val="600"/>
              </a:spcBef>
              <a:spcAft>
                <a:spcPts val="1200"/>
              </a:spcAft>
            </a:pPr>
            <a:r>
              <a:rPr lang="en-US" sz="2400" b="1" dirty="0" smtClean="0">
                <a:latin typeface="Helvetica" pitchFamily="34" charset="0"/>
              </a:rPr>
              <a:t>Board of Directors</a:t>
            </a:r>
          </a:p>
          <a:p>
            <a:pPr marL="360000" indent="-360000">
              <a:spcBef>
                <a:spcPts val="600"/>
              </a:spcBef>
              <a:spcAft>
                <a:spcPts val="1200"/>
              </a:spcAft>
            </a:pPr>
            <a:r>
              <a:rPr lang="en-US" sz="2400" b="1" dirty="0" smtClean="0">
                <a:latin typeface="Helvetica" pitchFamily="34" charset="0"/>
              </a:rPr>
              <a:t>Shareholders</a:t>
            </a:r>
          </a:p>
          <a:p>
            <a:pPr marL="360000" indent="-360000">
              <a:spcBef>
                <a:spcPts val="600"/>
              </a:spcBef>
              <a:spcAft>
                <a:spcPts val="1200"/>
              </a:spcAft>
            </a:pPr>
            <a:r>
              <a:rPr lang="en-US" sz="2400" b="1" dirty="0" smtClean="0">
                <a:latin typeface="Helvetica" pitchFamily="34" charset="0"/>
              </a:rPr>
              <a:t>Senior management</a:t>
            </a:r>
          </a:p>
          <a:p>
            <a:pPr marL="360000" indent="-360000">
              <a:spcBef>
                <a:spcPts val="600"/>
              </a:spcBef>
              <a:spcAft>
                <a:spcPts val="1200"/>
              </a:spcAft>
            </a:pPr>
            <a:r>
              <a:rPr lang="en-US" sz="2400" b="1" dirty="0" smtClean="0">
                <a:latin typeface="Helvetica" pitchFamily="34" charset="0"/>
              </a:rPr>
              <a:t>Supervisors</a:t>
            </a:r>
          </a:p>
          <a:p>
            <a:pPr marL="360000" indent="-360000">
              <a:spcBef>
                <a:spcPts val="600"/>
              </a:spcBef>
              <a:spcAft>
                <a:spcPts val="1200"/>
              </a:spcAft>
            </a:pPr>
            <a:r>
              <a:rPr lang="en-US" sz="2400" b="1" dirty="0" smtClean="0">
                <a:latin typeface="Helvetica" pitchFamily="34" charset="0"/>
              </a:rPr>
              <a:t>Customers</a:t>
            </a:r>
          </a:p>
          <a:p>
            <a:pPr marL="360000" indent="-360000">
              <a:spcBef>
                <a:spcPts val="600"/>
              </a:spcBef>
              <a:spcAft>
                <a:spcPts val="1200"/>
              </a:spcAft>
            </a:pPr>
            <a:r>
              <a:rPr lang="en-US" sz="2400" b="1" dirty="0" smtClean="0">
                <a:latin typeface="Helvetica" pitchFamily="34" charset="0"/>
              </a:rPr>
              <a:t>Suppliers.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 name="Picture 4" descr="00284912.jpg"/>
          <p:cNvPicPr>
            <a:picLocks noChangeAspect="1"/>
          </p:cNvPicPr>
          <p:nvPr/>
        </p:nvPicPr>
        <p:blipFill>
          <a:blip r:embed="rId3" cstate="print"/>
          <a:stretch>
            <a:fillRect/>
          </a:stretch>
        </p:blipFill>
        <p:spPr>
          <a:xfrm>
            <a:off x="4788024" y="3645024"/>
            <a:ext cx="3657600" cy="2420112"/>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Meet with owners:</a:t>
            </a:r>
          </a:p>
          <a:p>
            <a:pPr marL="360000" indent="-360000">
              <a:spcBef>
                <a:spcPts val="600"/>
              </a:spcBef>
              <a:spcAft>
                <a:spcPts val="1200"/>
              </a:spcAft>
            </a:pPr>
            <a:r>
              <a:rPr lang="en-US" sz="2200" b="1" dirty="0" smtClean="0">
                <a:latin typeface="Helvetica" pitchFamily="34" charset="0"/>
              </a:rPr>
              <a:t>Regularly</a:t>
            </a:r>
          </a:p>
          <a:p>
            <a:pPr marL="360000" indent="-360000">
              <a:spcBef>
                <a:spcPts val="600"/>
              </a:spcBef>
              <a:spcAft>
                <a:spcPts val="1200"/>
              </a:spcAft>
            </a:pPr>
            <a:r>
              <a:rPr lang="en-US" sz="2200" b="1" dirty="0" smtClean="0">
                <a:latin typeface="Helvetica" pitchFamily="34" charset="0"/>
              </a:rPr>
              <a:t>Because they have financial information you do not have</a:t>
            </a:r>
          </a:p>
          <a:p>
            <a:pPr marL="360000" indent="-360000">
              <a:spcBef>
                <a:spcPts val="600"/>
              </a:spcBef>
              <a:spcAft>
                <a:spcPts val="1200"/>
              </a:spcAft>
            </a:pPr>
            <a:r>
              <a:rPr lang="en-US" sz="2200" b="1" dirty="0" smtClean="0">
                <a:latin typeface="Helvetica" pitchFamily="34" charset="0"/>
              </a:rPr>
              <a:t>Because they may want to remove a certain staff member</a:t>
            </a:r>
          </a:p>
          <a:p>
            <a:pPr marL="360000" indent="-360000">
              <a:spcBef>
                <a:spcPts val="600"/>
              </a:spcBef>
              <a:spcAft>
                <a:spcPts val="1200"/>
              </a:spcAft>
            </a:pPr>
            <a:r>
              <a:rPr lang="en-US" sz="2200" b="1" dirty="0" smtClean="0">
                <a:latin typeface="Helvetica" pitchFamily="34" charset="0"/>
              </a:rPr>
              <a:t>Because they may want to                                              move their business in a new </a:t>
            </a:r>
            <a:br>
              <a:rPr lang="en-US" sz="2200" b="1" dirty="0" smtClean="0">
                <a:latin typeface="Helvetica" pitchFamily="34" charset="0"/>
              </a:rPr>
            </a:br>
            <a:r>
              <a:rPr lang="en-US" sz="2200" b="1" dirty="0" smtClean="0">
                <a:latin typeface="Helvetica" pitchFamily="34" charset="0"/>
              </a:rPr>
              <a:t>direction.</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5" name="Picture 4" descr="00316772.jpg"/>
          <p:cNvPicPr>
            <a:picLocks noChangeAspect="1"/>
          </p:cNvPicPr>
          <p:nvPr/>
        </p:nvPicPr>
        <p:blipFill>
          <a:blip r:embed="rId3" cstate="print"/>
          <a:stretch>
            <a:fillRect/>
          </a:stretch>
        </p:blipFill>
        <p:spPr>
          <a:xfrm>
            <a:off x="6076128" y="4509120"/>
            <a:ext cx="2585520" cy="1736608"/>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Consult with ‘the Board’ to:</a:t>
            </a:r>
          </a:p>
          <a:p>
            <a:pPr marL="360000" indent="-360000">
              <a:spcBef>
                <a:spcPts val="600"/>
              </a:spcBef>
              <a:spcAft>
                <a:spcPts val="1200"/>
              </a:spcAft>
            </a:pPr>
            <a:r>
              <a:rPr lang="en-US" sz="2200" b="1" dirty="0" smtClean="0">
                <a:latin typeface="Helvetica" pitchFamily="34" charset="0"/>
              </a:rPr>
              <a:t>Understand strategic goals &amp; plans</a:t>
            </a:r>
          </a:p>
          <a:p>
            <a:pPr marL="360000" indent="-360000">
              <a:spcBef>
                <a:spcPts val="600"/>
              </a:spcBef>
              <a:spcAft>
                <a:spcPts val="1200"/>
              </a:spcAft>
            </a:pPr>
            <a:r>
              <a:rPr lang="en-AU" sz="2200" b="1" dirty="0" smtClean="0">
                <a:latin typeface="Helvetica" pitchFamily="34" charset="0"/>
              </a:rPr>
              <a:t>Approve certain staffing plans </a:t>
            </a:r>
            <a:endParaRPr lang="en-US" sz="2200" b="1" dirty="0" smtClean="0">
              <a:latin typeface="Helvetica" pitchFamily="34" charset="0"/>
            </a:endParaRPr>
          </a:p>
          <a:p>
            <a:pPr marL="360000" indent="-360000">
              <a:spcBef>
                <a:spcPts val="600"/>
              </a:spcBef>
              <a:spcAft>
                <a:spcPts val="1200"/>
              </a:spcAft>
            </a:pPr>
            <a:r>
              <a:rPr lang="en-US" sz="2200" b="1" dirty="0" smtClean="0">
                <a:latin typeface="Helvetica" pitchFamily="34" charset="0"/>
              </a:rPr>
              <a:t>Meet </a:t>
            </a:r>
            <a:r>
              <a:rPr lang="en-US" sz="2200" b="1" dirty="0" err="1" smtClean="0">
                <a:latin typeface="Helvetica" pitchFamily="34" charset="0"/>
              </a:rPr>
              <a:t>organisational</a:t>
            </a:r>
            <a:r>
              <a:rPr lang="en-US" sz="2200" b="1" dirty="0" smtClean="0">
                <a:latin typeface="Helvetica" pitchFamily="34" charset="0"/>
              </a:rPr>
              <a:t> compliance</a:t>
            </a:r>
          </a:p>
          <a:p>
            <a:pPr marL="360000" indent="-360000">
              <a:spcBef>
                <a:spcPts val="600"/>
              </a:spcBef>
              <a:spcAft>
                <a:spcPts val="1200"/>
              </a:spcAft>
            </a:pPr>
            <a:r>
              <a:rPr lang="en-US" sz="2200" b="1" dirty="0" smtClean="0">
                <a:latin typeface="Helvetica" pitchFamily="34" charset="0"/>
              </a:rPr>
              <a:t>Communicate </a:t>
            </a:r>
            <a:r>
              <a:rPr lang="en-US" sz="2200" b="1" dirty="0" err="1" smtClean="0">
                <a:latin typeface="Helvetica" pitchFamily="34" charset="0"/>
              </a:rPr>
              <a:t>labour</a:t>
            </a:r>
            <a:r>
              <a:rPr lang="en-US" sz="2200" b="1" dirty="0" smtClean="0">
                <a:latin typeface="Helvetica" pitchFamily="34" charset="0"/>
              </a:rPr>
              <a:t> budget and                                    related decisions.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5" name="Picture 4" descr="00341396.jpg"/>
          <p:cNvPicPr>
            <a:picLocks noChangeAspect="1"/>
          </p:cNvPicPr>
          <p:nvPr/>
        </p:nvPicPr>
        <p:blipFill>
          <a:blip r:embed="rId3" cstate="print"/>
          <a:stretch>
            <a:fillRect/>
          </a:stretch>
        </p:blipFill>
        <p:spPr>
          <a:xfrm>
            <a:off x="6372200" y="3284984"/>
            <a:ext cx="2105032" cy="2950979"/>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Shareholders may need to be consulted when:</a:t>
            </a:r>
          </a:p>
          <a:p>
            <a:pPr marL="360000" indent="-360000">
              <a:spcBef>
                <a:spcPts val="600"/>
              </a:spcBef>
              <a:spcAft>
                <a:spcPts val="1200"/>
              </a:spcAft>
            </a:pPr>
            <a:r>
              <a:rPr lang="en-US" sz="2200" b="1" dirty="0" smtClean="0">
                <a:latin typeface="Helvetica" pitchFamily="34" charset="0"/>
              </a:rPr>
              <a:t>Significant staffing decisions are being considered</a:t>
            </a:r>
          </a:p>
          <a:p>
            <a:pPr marL="360000" indent="-360000">
              <a:spcBef>
                <a:spcPts val="600"/>
              </a:spcBef>
              <a:spcAft>
                <a:spcPts val="1200"/>
              </a:spcAft>
            </a:pPr>
            <a:r>
              <a:rPr lang="en-US" sz="2200" b="1" dirty="0" smtClean="0">
                <a:latin typeface="Helvetica" pitchFamily="34" charset="0"/>
              </a:rPr>
              <a:t>Business image may be impacted by staffing decisions</a:t>
            </a:r>
          </a:p>
          <a:p>
            <a:pPr marL="360000" indent="-360000">
              <a:spcBef>
                <a:spcPts val="600"/>
              </a:spcBef>
              <a:spcAft>
                <a:spcPts val="1200"/>
              </a:spcAft>
            </a:pPr>
            <a:r>
              <a:rPr lang="en-US" sz="2200" b="1" dirty="0" smtClean="0">
                <a:latin typeface="Helvetica" pitchFamily="34" charset="0"/>
              </a:rPr>
              <a:t>There is a staff issue with the                                           potential to gain public attention.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5" name="Picture 4" descr="00302919.jpg"/>
          <p:cNvPicPr>
            <a:picLocks noChangeAspect="1"/>
          </p:cNvPicPr>
          <p:nvPr/>
        </p:nvPicPr>
        <p:blipFill>
          <a:blip r:embed="rId3" cstate="print"/>
          <a:stretch>
            <a:fillRect/>
          </a:stretch>
        </p:blipFill>
        <p:spPr>
          <a:xfrm>
            <a:off x="6372200" y="3617432"/>
            <a:ext cx="1961016" cy="2749088"/>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buNone/>
            </a:pPr>
            <a:r>
              <a:rPr lang="en-US" sz="2200" b="1" dirty="0" smtClean="0">
                <a:latin typeface="Helvetica" pitchFamily="34" charset="0"/>
              </a:rPr>
              <a:t>Shareholders should be consulted because:</a:t>
            </a:r>
          </a:p>
          <a:p>
            <a:pPr marL="360000" indent="-360000">
              <a:spcBef>
                <a:spcPts val="600"/>
              </a:spcBef>
              <a:spcAft>
                <a:spcPts val="1200"/>
              </a:spcAft>
            </a:pPr>
            <a:r>
              <a:rPr lang="en-US" sz="2200" b="1" dirty="0" smtClean="0">
                <a:latin typeface="Helvetica" pitchFamily="34" charset="0"/>
              </a:rPr>
              <a:t>Their investment is at risk</a:t>
            </a:r>
          </a:p>
          <a:p>
            <a:pPr marL="360000" indent="-360000">
              <a:spcBef>
                <a:spcPts val="600"/>
              </a:spcBef>
              <a:spcAft>
                <a:spcPts val="1200"/>
              </a:spcAft>
            </a:pPr>
            <a:r>
              <a:rPr lang="en-US" sz="2200" b="1" dirty="0" smtClean="0">
                <a:latin typeface="Helvetica" pitchFamily="34" charset="0"/>
              </a:rPr>
              <a:t>They may have ultimate authority</a:t>
            </a:r>
          </a:p>
          <a:p>
            <a:pPr marL="360000" indent="-360000">
              <a:spcBef>
                <a:spcPts val="600"/>
              </a:spcBef>
              <a:spcAft>
                <a:spcPts val="1200"/>
              </a:spcAft>
            </a:pPr>
            <a:r>
              <a:rPr lang="en-US" sz="2200" b="1" dirty="0" smtClean="0">
                <a:latin typeface="Helvetica" pitchFamily="34" charset="0"/>
              </a:rPr>
              <a:t>They may be able to suggest a better alternative.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5" name="Picture 4" descr="00316798.jpg"/>
          <p:cNvPicPr>
            <a:picLocks noChangeAspect="1"/>
          </p:cNvPicPr>
          <p:nvPr/>
        </p:nvPicPr>
        <p:blipFill>
          <a:blip r:embed="rId3" cstate="print"/>
          <a:stretch>
            <a:fillRect/>
          </a:stretch>
        </p:blipFill>
        <p:spPr>
          <a:xfrm>
            <a:off x="5508104" y="4260692"/>
            <a:ext cx="2937520" cy="1924076"/>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Senior management may need to be consulted because:</a:t>
            </a:r>
          </a:p>
          <a:p>
            <a:pPr marL="360000" indent="-360000">
              <a:spcBef>
                <a:spcPts val="600"/>
              </a:spcBef>
              <a:spcAft>
                <a:spcPts val="1200"/>
              </a:spcAft>
            </a:pPr>
            <a:r>
              <a:rPr lang="en-US" sz="2200" b="1" dirty="0" smtClean="0">
                <a:latin typeface="Helvetica" pitchFamily="34" charset="0"/>
              </a:rPr>
              <a:t>There is a policy requirements to do so</a:t>
            </a:r>
          </a:p>
          <a:p>
            <a:pPr marL="360000" indent="-360000">
              <a:spcBef>
                <a:spcPts val="600"/>
              </a:spcBef>
              <a:spcAft>
                <a:spcPts val="1200"/>
              </a:spcAft>
            </a:pPr>
            <a:r>
              <a:rPr lang="en-US" sz="2200" b="1" dirty="0" smtClean="0">
                <a:latin typeface="Helvetica" pitchFamily="34" charset="0"/>
              </a:rPr>
              <a:t>They provide day-to-day direction &amp; have day-to-day responsibility for the business</a:t>
            </a:r>
          </a:p>
          <a:p>
            <a:pPr marL="360000" indent="-360000">
              <a:spcBef>
                <a:spcPts val="600"/>
              </a:spcBef>
              <a:spcAft>
                <a:spcPts val="1200"/>
              </a:spcAft>
            </a:pPr>
            <a:r>
              <a:rPr lang="en-US" sz="2200" b="1" dirty="0" smtClean="0">
                <a:latin typeface="Helvetica" pitchFamily="34" charset="0"/>
              </a:rPr>
              <a:t>They have good staffing experience</a:t>
            </a:r>
          </a:p>
          <a:p>
            <a:pPr marL="360000" indent="-360000">
              <a:spcBef>
                <a:spcPts val="600"/>
              </a:spcBef>
              <a:spcAft>
                <a:spcPts val="1200"/>
              </a:spcAft>
            </a:pPr>
            <a:r>
              <a:rPr lang="en-US" sz="2200" b="1" dirty="0" smtClean="0">
                <a:latin typeface="Helvetica" pitchFamily="34" charset="0"/>
              </a:rPr>
              <a:t>They are readily accessible.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5" name="Picture 4" descr="00399181.jpg"/>
          <p:cNvPicPr>
            <a:picLocks noChangeAspect="1"/>
          </p:cNvPicPr>
          <p:nvPr/>
        </p:nvPicPr>
        <p:blipFill>
          <a:blip r:embed="rId3" cstate="print"/>
          <a:stretch>
            <a:fillRect/>
          </a:stretch>
        </p:blipFill>
        <p:spPr>
          <a:xfrm>
            <a:off x="5148064" y="4293096"/>
            <a:ext cx="3578442" cy="2044824"/>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525963"/>
          </a:xfrm>
        </p:spPr>
        <p:txBody>
          <a:bodyPr>
            <a:normAutofit/>
          </a:bodyPr>
          <a:lstStyle/>
          <a:p>
            <a:pPr marL="0" indent="0">
              <a:spcBef>
                <a:spcPts val="600"/>
              </a:spcBef>
              <a:spcAft>
                <a:spcPts val="1200"/>
              </a:spcAft>
              <a:buNone/>
            </a:pPr>
            <a:r>
              <a:rPr lang="en-US" sz="2200" b="1" dirty="0" smtClean="0">
                <a:latin typeface="Helvetica" pitchFamily="34" charset="0"/>
              </a:rPr>
              <a:t>Supervisors should be consulted on staffing to:</a:t>
            </a:r>
          </a:p>
          <a:p>
            <a:pPr marL="360000" indent="-360000">
              <a:spcBef>
                <a:spcPts val="600"/>
              </a:spcBef>
              <a:spcAft>
                <a:spcPts val="1200"/>
              </a:spcAft>
            </a:pPr>
            <a:r>
              <a:rPr lang="en-US" sz="2200" b="1" dirty="0" smtClean="0">
                <a:latin typeface="Helvetica" pitchFamily="34" charset="0"/>
              </a:rPr>
              <a:t>Enable them to make first-hand input on workplace issues</a:t>
            </a:r>
          </a:p>
          <a:p>
            <a:pPr marL="360000" indent="-360000">
              <a:spcBef>
                <a:spcPts val="600"/>
              </a:spcBef>
              <a:spcAft>
                <a:spcPts val="1200"/>
              </a:spcAft>
            </a:pPr>
            <a:r>
              <a:rPr lang="en-US" sz="2200" b="1" dirty="0" smtClean="0">
                <a:latin typeface="Helvetica" pitchFamily="34" charset="0"/>
              </a:rPr>
              <a:t>Learn from their knowledge &amp; experience</a:t>
            </a:r>
          </a:p>
          <a:p>
            <a:pPr marL="360000" indent="-360000">
              <a:spcBef>
                <a:spcPts val="600"/>
              </a:spcBef>
              <a:spcAft>
                <a:spcPts val="1200"/>
              </a:spcAft>
            </a:pPr>
            <a:r>
              <a:rPr lang="en-US" sz="2200" b="1" dirty="0" smtClean="0">
                <a:latin typeface="Helvetica" pitchFamily="34" charset="0"/>
              </a:rPr>
              <a:t>Demonstrate intention to work                                  cooperatively with them.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5" name="Picture 4" descr="Culinary Academy_017.jpg"/>
          <p:cNvPicPr>
            <a:picLocks noChangeAspect="1"/>
          </p:cNvPicPr>
          <p:nvPr/>
        </p:nvPicPr>
        <p:blipFill>
          <a:blip r:embed="rId3" cstate="print"/>
          <a:stretch>
            <a:fillRect/>
          </a:stretch>
        </p:blipFill>
        <p:spPr>
          <a:xfrm>
            <a:off x="6444208" y="3356992"/>
            <a:ext cx="1991226" cy="2996952"/>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Staff should be consulted about staffing to:</a:t>
            </a:r>
          </a:p>
          <a:p>
            <a:pPr marL="360000" indent="-360000">
              <a:spcBef>
                <a:spcPts val="600"/>
              </a:spcBef>
              <a:spcAft>
                <a:spcPts val="1200"/>
              </a:spcAft>
            </a:pPr>
            <a:r>
              <a:rPr lang="en-US" sz="2200" b="1" dirty="0" smtClean="0">
                <a:latin typeface="Helvetica" pitchFamily="34" charset="0"/>
              </a:rPr>
              <a:t>Identify suggestions for action</a:t>
            </a:r>
          </a:p>
          <a:p>
            <a:pPr marL="360000" indent="-360000">
              <a:spcBef>
                <a:spcPts val="600"/>
              </a:spcBef>
              <a:spcAft>
                <a:spcPts val="1200"/>
              </a:spcAft>
            </a:pPr>
            <a:r>
              <a:rPr lang="en-US" sz="2200" b="1" dirty="0" smtClean="0">
                <a:latin typeface="Helvetica" pitchFamily="34" charset="0"/>
              </a:rPr>
              <a:t>Provide guidance for decisions</a:t>
            </a:r>
          </a:p>
          <a:p>
            <a:pPr marL="360000" indent="-360000">
              <a:spcBef>
                <a:spcPts val="600"/>
              </a:spcBef>
              <a:spcAft>
                <a:spcPts val="1200"/>
              </a:spcAft>
            </a:pPr>
            <a:r>
              <a:rPr lang="en-US" sz="2200" b="1" dirty="0" smtClean="0">
                <a:latin typeface="Helvetica" pitchFamily="34" charset="0"/>
              </a:rPr>
              <a:t>Demonstrate respect for them</a:t>
            </a:r>
          </a:p>
          <a:p>
            <a:pPr marL="360000" indent="-360000">
              <a:spcBef>
                <a:spcPts val="600"/>
              </a:spcBef>
              <a:spcAft>
                <a:spcPts val="1200"/>
              </a:spcAft>
            </a:pPr>
            <a:r>
              <a:rPr lang="en-US" sz="2200" b="1" dirty="0" smtClean="0">
                <a:latin typeface="Helvetica" pitchFamily="34" charset="0"/>
              </a:rPr>
              <a:t>Gain support for initiatives.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5" name="Picture 4" descr="Cooking.jpg"/>
          <p:cNvPicPr>
            <a:picLocks noChangeAspect="1"/>
          </p:cNvPicPr>
          <p:nvPr/>
        </p:nvPicPr>
        <p:blipFill>
          <a:blip r:embed="rId3" cstate="print"/>
          <a:stretch>
            <a:fillRect/>
          </a:stretch>
        </p:blipFill>
        <p:spPr>
          <a:xfrm>
            <a:off x="5220072" y="3789040"/>
            <a:ext cx="3221245" cy="2351509"/>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752528"/>
          </a:xfrm>
        </p:spPr>
        <p:txBody>
          <a:bodyPr>
            <a:noAutofit/>
          </a:bodyPr>
          <a:lstStyle/>
          <a:p>
            <a:pPr marL="0" indent="0">
              <a:spcBef>
                <a:spcPts val="600"/>
              </a:spcBef>
              <a:spcAft>
                <a:spcPts val="1200"/>
              </a:spcAft>
              <a:buNone/>
            </a:pPr>
            <a:r>
              <a:rPr lang="en-US" sz="2200" b="1" dirty="0" smtClean="0">
                <a:latin typeface="Helvetica" pitchFamily="34" charset="0"/>
              </a:rPr>
              <a:t>Consult customers </a:t>
            </a:r>
            <a:r>
              <a:rPr lang="en-US" sz="2200" b="1" i="1" dirty="0" smtClean="0">
                <a:latin typeface="Helvetica" pitchFamily="34" charset="0"/>
              </a:rPr>
              <a:t>before </a:t>
            </a:r>
            <a:r>
              <a:rPr lang="en-US" sz="2200" b="1" dirty="0" smtClean="0">
                <a:latin typeface="Helvetica" pitchFamily="34" charset="0"/>
              </a:rPr>
              <a:t>a staffing decision is made:</a:t>
            </a:r>
          </a:p>
          <a:p>
            <a:pPr marL="360000" indent="-360000">
              <a:spcBef>
                <a:spcPts val="600"/>
              </a:spcBef>
              <a:spcAft>
                <a:spcPts val="1200"/>
              </a:spcAft>
            </a:pPr>
            <a:r>
              <a:rPr lang="en-US" sz="2200" b="1" dirty="0" smtClean="0">
                <a:latin typeface="Helvetica" pitchFamily="34" charset="0"/>
              </a:rPr>
              <a:t>Talk to them &amp; ask questions</a:t>
            </a:r>
          </a:p>
          <a:p>
            <a:pPr marL="360000" indent="-360000">
              <a:spcBef>
                <a:spcPts val="600"/>
              </a:spcBef>
              <a:spcAft>
                <a:spcPts val="1200"/>
              </a:spcAft>
            </a:pPr>
            <a:r>
              <a:rPr lang="en-US" sz="2200" b="1" dirty="0" smtClean="0">
                <a:latin typeface="Helvetica" pitchFamily="34" charset="0"/>
              </a:rPr>
              <a:t>Be aware they may believe their suggestions will always be acted on.</a:t>
            </a:r>
          </a:p>
          <a:p>
            <a:pPr marL="360000" indent="-360000">
              <a:spcBef>
                <a:spcPts val="600"/>
              </a:spcBef>
              <a:spcAft>
                <a:spcPts val="1200"/>
              </a:spcAft>
              <a:buNone/>
            </a:pPr>
            <a:r>
              <a:rPr lang="en-US" sz="2200" b="1" dirty="0" smtClean="0">
                <a:latin typeface="Helvetica" pitchFamily="34" charset="0"/>
              </a:rPr>
              <a:t>After action has been taken, research &amp; consult again:</a:t>
            </a:r>
          </a:p>
          <a:p>
            <a:pPr marL="360000" indent="-360000">
              <a:spcBef>
                <a:spcPts val="600"/>
              </a:spcBef>
              <a:spcAft>
                <a:spcPts val="1200"/>
              </a:spcAft>
            </a:pPr>
            <a:r>
              <a:rPr lang="en-US" sz="2200" b="1" dirty="0" smtClean="0">
                <a:latin typeface="Helvetica" pitchFamily="34" charset="0"/>
              </a:rPr>
              <a:t>How satisfied are they?</a:t>
            </a:r>
          </a:p>
          <a:p>
            <a:pPr marL="360000" indent="-360000">
              <a:spcBef>
                <a:spcPts val="600"/>
              </a:spcBef>
              <a:spcAft>
                <a:spcPts val="1200"/>
              </a:spcAft>
            </a:pPr>
            <a:r>
              <a:rPr lang="en-US" sz="2200" b="1" dirty="0" smtClean="0">
                <a:latin typeface="Helvetica" pitchFamily="34" charset="0"/>
              </a:rPr>
              <a:t>How has their spending changed?</a:t>
            </a:r>
          </a:p>
          <a:p>
            <a:pPr marL="360000" indent="-360000">
              <a:spcBef>
                <a:spcPts val="600"/>
              </a:spcBef>
              <a:spcAft>
                <a:spcPts val="1200"/>
              </a:spcAft>
            </a:pPr>
            <a:r>
              <a:rPr lang="en-US" sz="2200" b="1" dirty="0" smtClean="0">
                <a:latin typeface="Helvetica" pitchFamily="34" charset="0"/>
              </a:rPr>
              <a:t>Any suggestions for future                                              staffing changes?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5" name="Picture 4" descr="Event 26.JPG"/>
          <p:cNvPicPr>
            <a:picLocks noChangeAspect="1"/>
          </p:cNvPicPr>
          <p:nvPr/>
        </p:nvPicPr>
        <p:blipFill>
          <a:blip r:embed="rId3" cstate="print"/>
          <a:stretch>
            <a:fillRect/>
          </a:stretch>
        </p:blipFill>
        <p:spPr>
          <a:xfrm>
            <a:off x="5796136" y="4437112"/>
            <a:ext cx="2743745" cy="1837116"/>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Consult with stakeholders to determine staffing needs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24536"/>
          </a:xfrm>
        </p:spPr>
        <p:txBody>
          <a:bodyPr>
            <a:normAutofit/>
          </a:bodyPr>
          <a:lstStyle/>
          <a:p>
            <a:pPr marL="0" indent="0">
              <a:spcBef>
                <a:spcPts val="600"/>
              </a:spcBef>
              <a:spcAft>
                <a:spcPts val="1200"/>
              </a:spcAft>
              <a:buNone/>
            </a:pPr>
            <a:r>
              <a:rPr lang="en-US" sz="2200" b="1" dirty="0" smtClean="0">
                <a:latin typeface="Helvetica" pitchFamily="34" charset="0"/>
              </a:rPr>
              <a:t>Consulting with suppliers may occur to:</a:t>
            </a:r>
          </a:p>
          <a:p>
            <a:pPr marL="360000" indent="-360000">
              <a:spcBef>
                <a:spcPts val="600"/>
              </a:spcBef>
              <a:spcAft>
                <a:spcPts val="1200"/>
              </a:spcAft>
            </a:pPr>
            <a:r>
              <a:rPr lang="en-US" sz="2200" b="1" dirty="0" smtClean="0">
                <a:latin typeface="Helvetica" pitchFamily="34" charset="0"/>
              </a:rPr>
              <a:t>Identify what is happening at other business</a:t>
            </a:r>
          </a:p>
          <a:p>
            <a:pPr marL="360000" indent="-360000">
              <a:spcBef>
                <a:spcPts val="600"/>
              </a:spcBef>
              <a:spcAft>
                <a:spcPts val="1200"/>
              </a:spcAft>
            </a:pPr>
            <a:r>
              <a:rPr lang="en-US" sz="2200" b="1" dirty="0" smtClean="0">
                <a:latin typeface="Helvetica" pitchFamily="34" charset="0"/>
              </a:rPr>
              <a:t>Help with finding new staff</a:t>
            </a:r>
          </a:p>
          <a:p>
            <a:pPr marL="360000" indent="-360000">
              <a:spcBef>
                <a:spcPts val="600"/>
              </a:spcBef>
              <a:spcAft>
                <a:spcPts val="1200"/>
              </a:spcAft>
            </a:pPr>
            <a:r>
              <a:rPr lang="en-US" sz="2200" b="1" dirty="0" smtClean="0">
                <a:latin typeface="Helvetica" pitchFamily="34" charset="0"/>
              </a:rPr>
              <a:t>Determine what workplace staff                                              need to know.</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5" name="Picture 4" descr="MP900184902[1].JPG"/>
          <p:cNvPicPr>
            <a:picLocks noChangeAspect="1"/>
          </p:cNvPicPr>
          <p:nvPr/>
        </p:nvPicPr>
        <p:blipFill>
          <a:blip r:embed="rId3" cstate="print"/>
          <a:stretch>
            <a:fillRect/>
          </a:stretch>
        </p:blipFill>
        <p:spPr>
          <a:xfrm>
            <a:off x="6516216" y="3140968"/>
            <a:ext cx="1981968" cy="3002982"/>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Describe staffing requirements &amp; locate on organisational chart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24536"/>
          </a:xfrm>
        </p:spPr>
        <p:txBody>
          <a:bodyPr>
            <a:normAutofit/>
          </a:bodyPr>
          <a:lstStyle/>
          <a:p>
            <a:pPr marL="0" indent="0">
              <a:spcBef>
                <a:spcPts val="600"/>
              </a:spcBef>
              <a:spcAft>
                <a:spcPts val="1200"/>
              </a:spcAft>
              <a:buNone/>
            </a:pPr>
            <a:r>
              <a:rPr lang="en-US" sz="2200" b="1" dirty="0" smtClean="0">
                <a:latin typeface="Helvetica" pitchFamily="34" charset="0"/>
              </a:rPr>
              <a:t>‘Organisational charts’ show relationship between all positions, identifying:</a:t>
            </a:r>
          </a:p>
          <a:p>
            <a:pPr marL="360000" indent="-360000">
              <a:spcBef>
                <a:spcPts val="600"/>
              </a:spcBef>
              <a:spcAft>
                <a:spcPts val="1200"/>
              </a:spcAft>
            </a:pPr>
            <a:r>
              <a:rPr lang="en-US" sz="2200" b="1" dirty="0" smtClean="0">
                <a:latin typeface="Helvetica" pitchFamily="34" charset="0"/>
              </a:rPr>
              <a:t>Who is responsible to who</a:t>
            </a:r>
          </a:p>
          <a:p>
            <a:pPr marL="360000" indent="-360000">
              <a:spcBef>
                <a:spcPts val="600"/>
              </a:spcBef>
              <a:spcAft>
                <a:spcPts val="1200"/>
              </a:spcAft>
            </a:pPr>
            <a:r>
              <a:rPr lang="en-US" sz="2200" b="1" dirty="0" smtClean="0">
                <a:latin typeface="Helvetica" pitchFamily="34" charset="0"/>
              </a:rPr>
              <a:t>Official lines of communication</a:t>
            </a:r>
          </a:p>
          <a:p>
            <a:pPr marL="360000" indent="-360000">
              <a:spcBef>
                <a:spcPts val="600"/>
              </a:spcBef>
              <a:spcAft>
                <a:spcPts val="1200"/>
              </a:spcAft>
            </a:pPr>
            <a:r>
              <a:rPr lang="en-US" sz="2200" b="1" dirty="0" smtClean="0">
                <a:latin typeface="Helvetica" pitchFamily="34" charset="0"/>
              </a:rPr>
              <a:t>Possible career paths</a:t>
            </a:r>
          </a:p>
          <a:p>
            <a:pPr marL="360000" indent="-360000">
              <a:spcBef>
                <a:spcPts val="600"/>
              </a:spcBef>
              <a:spcAft>
                <a:spcPts val="1200"/>
              </a:spcAft>
            </a:pPr>
            <a:r>
              <a:rPr lang="en-US" sz="2200" b="1" dirty="0" smtClean="0">
                <a:latin typeface="Helvetica" pitchFamily="34" charset="0"/>
              </a:rPr>
              <a:t>Number of positions.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descr="j0409400.jpg"/>
          <p:cNvPicPr>
            <a:picLocks noChangeAspect="1"/>
          </p:cNvPicPr>
          <p:nvPr/>
        </p:nvPicPr>
        <p:blipFill>
          <a:blip r:embed="rId3" cstate="print"/>
          <a:stretch>
            <a:fillRect/>
          </a:stretch>
        </p:blipFill>
        <p:spPr>
          <a:xfrm>
            <a:off x="5940152" y="3429000"/>
            <a:ext cx="2554885" cy="2564904"/>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Describe staffing requirements &amp; locate on organisational chart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b="1" dirty="0" smtClean="0">
                <a:latin typeface="Helvetica" pitchFamily="34" charset="0"/>
              </a:rPr>
              <a:t>Organisational charts can be presented in three main ways:</a:t>
            </a:r>
          </a:p>
          <a:p>
            <a:pPr marL="360000" indent="-360000">
              <a:spcBef>
                <a:spcPts val="600"/>
              </a:spcBef>
              <a:spcAft>
                <a:spcPts val="1200"/>
              </a:spcAft>
            </a:pPr>
            <a:r>
              <a:rPr lang="en-US" sz="2200" b="1" dirty="0" smtClean="0">
                <a:latin typeface="Helvetica" pitchFamily="34" charset="0"/>
              </a:rPr>
              <a:t>Top-down – the most common: managers at the top; supervisors in the middle; operational staff at the bottom</a:t>
            </a:r>
          </a:p>
          <a:p>
            <a:pPr marL="360000" indent="-360000">
              <a:spcBef>
                <a:spcPts val="600"/>
              </a:spcBef>
              <a:spcAft>
                <a:spcPts val="1200"/>
              </a:spcAft>
            </a:pPr>
            <a:r>
              <a:rPr lang="en-US" sz="2200" b="1" dirty="0" smtClean="0">
                <a:latin typeface="Helvetica" pitchFamily="34" charset="0"/>
              </a:rPr>
              <a:t>Horizontal – with managers at the left, and supervisors &amp; operational staff flowing the right-hand side</a:t>
            </a:r>
          </a:p>
          <a:p>
            <a:pPr marL="360000" indent="-360000">
              <a:spcBef>
                <a:spcPts val="600"/>
              </a:spcBef>
              <a:spcAft>
                <a:spcPts val="1200"/>
              </a:spcAft>
            </a:pPr>
            <a:r>
              <a:rPr lang="en-US" sz="2200" b="1" dirty="0" smtClean="0">
                <a:latin typeface="Helvetica" pitchFamily="34" charset="0"/>
              </a:rPr>
              <a:t>Bottom-up – with managers at the bottom, supervisors above them, operational staff above supervisors and customers at the top.</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Describe staffing requirements &amp; locate on organisational chart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rmAutofit/>
          </a:bodyPr>
          <a:lstStyle/>
          <a:p>
            <a:pPr marL="0" indent="0">
              <a:spcBef>
                <a:spcPts val="600"/>
              </a:spcBef>
              <a:spcAft>
                <a:spcPts val="1200"/>
              </a:spcAft>
              <a:buNone/>
            </a:pPr>
            <a:r>
              <a:rPr lang="en-US" sz="2200" b="1" dirty="0" smtClean="0">
                <a:latin typeface="Helvetica" pitchFamily="34" charset="0"/>
              </a:rPr>
              <a:t>Organisational charts are imperfect because:</a:t>
            </a:r>
          </a:p>
          <a:p>
            <a:pPr marL="360000" indent="-360000">
              <a:spcBef>
                <a:spcPts val="600"/>
              </a:spcBef>
              <a:spcAft>
                <a:spcPts val="1200"/>
              </a:spcAft>
            </a:pPr>
            <a:r>
              <a:rPr lang="en-US" sz="2200" b="1" dirty="0" smtClean="0">
                <a:latin typeface="Helvetica" pitchFamily="34" charset="0"/>
              </a:rPr>
              <a:t>They quickly get out-of-date</a:t>
            </a:r>
          </a:p>
          <a:p>
            <a:pPr marL="360000" indent="-360000">
              <a:spcBef>
                <a:spcPts val="600"/>
              </a:spcBef>
              <a:spcAft>
                <a:spcPts val="1200"/>
              </a:spcAft>
            </a:pPr>
            <a:r>
              <a:rPr lang="en-US" sz="2200" b="1" dirty="0" smtClean="0">
                <a:latin typeface="Helvetica" pitchFamily="34" charset="0"/>
              </a:rPr>
              <a:t>Workers do not like being shown ‘below’ management</a:t>
            </a:r>
          </a:p>
          <a:p>
            <a:pPr marL="360000" indent="-360000">
              <a:spcBef>
                <a:spcPts val="600"/>
              </a:spcBef>
              <a:spcAft>
                <a:spcPts val="1200"/>
              </a:spcAft>
            </a:pPr>
            <a:r>
              <a:rPr lang="en-US" sz="2200" b="1" dirty="0" smtClean="0">
                <a:latin typeface="Helvetica" pitchFamily="34" charset="0"/>
              </a:rPr>
              <a:t>Lines of communication are always compromised</a:t>
            </a:r>
          </a:p>
          <a:p>
            <a:pPr marL="360000" indent="-360000">
              <a:spcBef>
                <a:spcPts val="600"/>
              </a:spcBef>
              <a:spcAft>
                <a:spcPts val="1200"/>
              </a:spcAft>
            </a:pPr>
            <a:r>
              <a:rPr lang="en-US" sz="2200" b="1" dirty="0" smtClean="0">
                <a:latin typeface="Helvetica" pitchFamily="34" charset="0"/>
              </a:rPr>
              <a:t>Lines of authority are not always obeyed</a:t>
            </a:r>
          </a:p>
          <a:p>
            <a:pPr marL="360000" indent="-360000">
              <a:spcBef>
                <a:spcPts val="600"/>
              </a:spcBef>
              <a:spcAft>
                <a:spcPts val="1200"/>
              </a:spcAft>
            </a:pPr>
            <a:r>
              <a:rPr lang="en-US" sz="2200" b="1" dirty="0" smtClean="0">
                <a:latin typeface="Helvetica" pitchFamily="34" charset="0"/>
              </a:rPr>
              <a:t>They can never reflect the dynamic nature of the workplace.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Describe staffing requirements &amp; locate on organisational chart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4824536"/>
          </a:xfrm>
        </p:spPr>
        <p:txBody>
          <a:bodyPr>
            <a:noAutofit/>
          </a:bodyPr>
          <a:lstStyle/>
          <a:p>
            <a:pPr marL="0" indent="0">
              <a:spcBef>
                <a:spcPts val="600"/>
              </a:spcBef>
              <a:spcAft>
                <a:spcPts val="1200"/>
              </a:spcAft>
              <a:buNone/>
            </a:pPr>
            <a:r>
              <a:rPr lang="en-US" sz="2200" b="1" dirty="0" smtClean="0">
                <a:latin typeface="Helvetica" pitchFamily="34" charset="0"/>
              </a:rPr>
              <a:t>To make best use of your organisational chart:</a:t>
            </a:r>
          </a:p>
          <a:p>
            <a:pPr marL="360000" indent="-360000">
              <a:spcBef>
                <a:spcPts val="600"/>
              </a:spcBef>
              <a:spcAft>
                <a:spcPts val="1200"/>
              </a:spcAft>
            </a:pPr>
            <a:r>
              <a:rPr lang="en-US" sz="2200" b="1" dirty="0" smtClean="0">
                <a:latin typeface="Helvetica" pitchFamily="34" charset="0"/>
              </a:rPr>
              <a:t>Determine department heads, managers &amp; supervisors</a:t>
            </a:r>
          </a:p>
          <a:p>
            <a:pPr marL="360000" indent="-360000">
              <a:spcBef>
                <a:spcPts val="600"/>
              </a:spcBef>
              <a:spcAft>
                <a:spcPts val="1200"/>
              </a:spcAft>
            </a:pPr>
            <a:r>
              <a:rPr lang="en-US" sz="2200" b="1" dirty="0" smtClean="0">
                <a:latin typeface="Helvetica" pitchFamily="34" charset="0"/>
              </a:rPr>
              <a:t>Identify who they have responsibility for</a:t>
            </a:r>
          </a:p>
          <a:p>
            <a:pPr marL="360000" indent="-360000">
              <a:spcBef>
                <a:spcPts val="600"/>
              </a:spcBef>
              <a:spcAft>
                <a:spcPts val="1200"/>
              </a:spcAft>
            </a:pPr>
            <a:r>
              <a:rPr lang="en-US" sz="2200" b="1" dirty="0" smtClean="0">
                <a:latin typeface="Helvetica" pitchFamily="34" charset="0"/>
              </a:rPr>
              <a:t>Know who they report to &amp; who has authority over them</a:t>
            </a:r>
          </a:p>
          <a:p>
            <a:pPr marL="360000" indent="-360000">
              <a:spcBef>
                <a:spcPts val="600"/>
              </a:spcBef>
              <a:spcAft>
                <a:spcPts val="1200"/>
              </a:spcAft>
            </a:pPr>
            <a:r>
              <a:rPr lang="en-US" sz="2200" b="1" dirty="0" smtClean="0">
                <a:latin typeface="Helvetica" pitchFamily="34" charset="0"/>
              </a:rPr>
              <a:t>Find out if chart is current</a:t>
            </a:r>
          </a:p>
          <a:p>
            <a:pPr marL="360000" indent="-360000">
              <a:spcBef>
                <a:spcPts val="600"/>
              </a:spcBef>
              <a:spcAft>
                <a:spcPts val="1200"/>
              </a:spcAft>
            </a:pPr>
            <a:r>
              <a:rPr lang="en-US" sz="2200" b="1" dirty="0" smtClean="0">
                <a:latin typeface="Helvetica" pitchFamily="34" charset="0"/>
              </a:rPr>
              <a:t>Obtain permission to amend the chart</a:t>
            </a:r>
          </a:p>
          <a:p>
            <a:pPr marL="360000" indent="-360000">
              <a:spcBef>
                <a:spcPts val="600"/>
              </a:spcBef>
              <a:spcAft>
                <a:spcPts val="1200"/>
              </a:spcAft>
            </a:pPr>
            <a:r>
              <a:rPr lang="en-US" sz="2200" b="1" dirty="0" smtClean="0">
                <a:latin typeface="Helvetica" pitchFamily="34" charset="0"/>
              </a:rPr>
              <a:t>Revise &amp; update when necessary</a:t>
            </a:r>
          </a:p>
          <a:p>
            <a:pPr marL="360000" indent="-360000">
              <a:spcBef>
                <a:spcPts val="600"/>
              </a:spcBef>
              <a:spcAft>
                <a:spcPts val="1200"/>
              </a:spcAft>
            </a:pPr>
            <a:r>
              <a:rPr lang="en-US" sz="2200" b="1" dirty="0" smtClean="0">
                <a:latin typeface="Helvetica" pitchFamily="34" charset="0"/>
              </a:rPr>
              <a:t>Update documents containing </a:t>
            </a:r>
            <a:r>
              <a:rPr lang="en-US" sz="2200" b="1" dirty="0" err="1" smtClean="0">
                <a:latin typeface="Helvetica" pitchFamily="34" charset="0"/>
              </a:rPr>
              <a:t>organisational</a:t>
            </a:r>
            <a:r>
              <a:rPr lang="en-US" sz="2200" b="1" dirty="0" smtClean="0">
                <a:latin typeface="Helvetica" pitchFamily="34" charset="0"/>
              </a:rPr>
              <a:t> chart.</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Describe staffing requirements &amp; locate on organisational chart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968552"/>
          </a:xfrm>
        </p:spPr>
        <p:txBody>
          <a:bodyPr>
            <a:normAutofit/>
          </a:bodyPr>
          <a:lstStyle/>
          <a:p>
            <a:pPr marL="0" indent="0">
              <a:spcBef>
                <a:spcPts val="600"/>
              </a:spcBef>
              <a:spcAft>
                <a:spcPts val="1200"/>
              </a:spcAft>
              <a:buNone/>
            </a:pPr>
            <a:r>
              <a:rPr lang="en-US" sz="2200" b="1" dirty="0" smtClean="0">
                <a:latin typeface="Helvetica" pitchFamily="34" charset="0"/>
              </a:rPr>
              <a:t>The ‘grapevine’:</a:t>
            </a:r>
          </a:p>
          <a:p>
            <a:pPr marL="360000" indent="-360000">
              <a:spcBef>
                <a:spcPts val="600"/>
              </a:spcBef>
              <a:spcAft>
                <a:spcPts val="1200"/>
              </a:spcAft>
            </a:pPr>
            <a:r>
              <a:rPr lang="en-US" sz="2200" b="1" dirty="0" smtClean="0">
                <a:latin typeface="Helvetica" pitchFamily="34" charset="0"/>
              </a:rPr>
              <a:t>Informal lines of communication in the business</a:t>
            </a:r>
          </a:p>
          <a:p>
            <a:pPr marL="360000" indent="-360000">
              <a:spcBef>
                <a:spcPts val="600"/>
              </a:spcBef>
              <a:spcAft>
                <a:spcPts val="1200"/>
              </a:spcAft>
            </a:pPr>
            <a:r>
              <a:rPr lang="en-US" sz="2200" b="1" dirty="0" smtClean="0">
                <a:latin typeface="Helvetica" pitchFamily="34" charset="0"/>
              </a:rPr>
              <a:t>Operates side-by-side with organisational chart</a:t>
            </a:r>
          </a:p>
          <a:p>
            <a:pPr marL="360000" indent="-360000">
              <a:spcBef>
                <a:spcPts val="600"/>
              </a:spcBef>
              <a:spcAft>
                <a:spcPts val="1200"/>
              </a:spcAft>
            </a:pPr>
            <a:r>
              <a:rPr lang="en-US" sz="2200" b="1" dirty="0" smtClean="0">
                <a:latin typeface="Helvetica" pitchFamily="34" charset="0"/>
              </a:rPr>
              <a:t>Accept &amp; recognise its presence</a:t>
            </a:r>
          </a:p>
          <a:p>
            <a:pPr marL="360000" indent="-360000">
              <a:spcBef>
                <a:spcPts val="600"/>
              </a:spcBef>
              <a:spcAft>
                <a:spcPts val="1200"/>
              </a:spcAft>
            </a:pPr>
            <a:r>
              <a:rPr lang="en-US" sz="2200" b="1" dirty="0" smtClean="0">
                <a:latin typeface="Helvetica" pitchFamily="34" charset="0"/>
              </a:rPr>
              <a:t>Tap into it &amp; use 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5" name="Picture 4" descr="MP900409103[1].JPG"/>
          <p:cNvPicPr>
            <a:picLocks noChangeAspect="1"/>
          </p:cNvPicPr>
          <p:nvPr/>
        </p:nvPicPr>
        <p:blipFill>
          <a:blip r:embed="rId3" cstate="print"/>
          <a:stretch>
            <a:fillRect/>
          </a:stretch>
        </p:blipFill>
        <p:spPr>
          <a:xfrm>
            <a:off x="5868144" y="3717032"/>
            <a:ext cx="2564904" cy="2564904"/>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Undertake a job analysis of each identified position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24536"/>
          </a:xfrm>
        </p:spPr>
        <p:txBody>
          <a:bodyPr>
            <a:normAutofit/>
          </a:bodyPr>
          <a:lstStyle/>
          <a:p>
            <a:pPr marL="0" indent="0">
              <a:spcBef>
                <a:spcPts val="600"/>
              </a:spcBef>
              <a:spcAft>
                <a:spcPts val="1200"/>
              </a:spcAft>
              <a:buNone/>
            </a:pPr>
            <a:r>
              <a:rPr lang="en-US" sz="2200" b="1" dirty="0" smtClean="0">
                <a:latin typeface="Helvetica" pitchFamily="34" charset="0"/>
              </a:rPr>
              <a:t>Job analysis = gathering of all facts, details &amp; information about a job &amp; how it is done.</a:t>
            </a:r>
          </a:p>
          <a:p>
            <a:pPr marL="0" indent="0">
              <a:spcBef>
                <a:spcPts val="600"/>
              </a:spcBef>
              <a:spcAft>
                <a:spcPts val="1200"/>
              </a:spcAft>
              <a:buNone/>
            </a:pPr>
            <a:r>
              <a:rPr lang="en-US" sz="2200" b="1" dirty="0" smtClean="0">
                <a:latin typeface="Helvetica" pitchFamily="34" charset="0"/>
              </a:rPr>
              <a:t>A job analysis is done to:</a:t>
            </a:r>
          </a:p>
          <a:p>
            <a:pPr marL="360000" indent="-360000">
              <a:spcBef>
                <a:spcPts val="600"/>
              </a:spcBef>
              <a:spcAft>
                <a:spcPts val="1200"/>
              </a:spcAft>
            </a:pPr>
            <a:r>
              <a:rPr lang="en-US" sz="2200" b="1" dirty="0" smtClean="0">
                <a:latin typeface="Helvetica" pitchFamily="34" charset="0"/>
              </a:rPr>
              <a:t>Identify all the tasks &amp; duties</a:t>
            </a:r>
          </a:p>
          <a:p>
            <a:pPr marL="360000" indent="-360000">
              <a:spcBef>
                <a:spcPts val="600"/>
              </a:spcBef>
              <a:spcAft>
                <a:spcPts val="1200"/>
              </a:spcAft>
            </a:pPr>
            <a:r>
              <a:rPr lang="en-US" sz="2200" b="1" dirty="0" smtClean="0">
                <a:latin typeface="Helvetica" pitchFamily="34" charset="0"/>
              </a:rPr>
              <a:t>Define how all the above are linked</a:t>
            </a:r>
          </a:p>
          <a:p>
            <a:pPr marL="360000" indent="-360000">
              <a:spcBef>
                <a:spcPts val="600"/>
              </a:spcBef>
              <a:spcAft>
                <a:spcPts val="1200"/>
              </a:spcAft>
            </a:pPr>
            <a:r>
              <a:rPr lang="en-US" sz="2200" b="1" dirty="0" smtClean="0">
                <a:latin typeface="Helvetica" pitchFamily="34" charset="0"/>
              </a:rPr>
              <a:t>Identify the skills, qualifications &amp;                                  experience required</a:t>
            </a:r>
          </a:p>
          <a:p>
            <a:pPr marL="360000" indent="-360000">
              <a:spcBef>
                <a:spcPts val="600"/>
              </a:spcBef>
              <a:spcAft>
                <a:spcPts val="1200"/>
              </a:spcAft>
            </a:pPr>
            <a:r>
              <a:rPr lang="en-US" sz="2200" b="1" dirty="0" smtClean="0">
                <a:latin typeface="Helvetica" pitchFamily="34" charset="0"/>
              </a:rPr>
              <a:t>Peripheral but relevant issues                                        authority limits, relationships                                     &amp; responsibilities.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5" name="Picture 4" descr="00341415.jpg"/>
          <p:cNvPicPr>
            <a:picLocks noChangeAspect="1"/>
          </p:cNvPicPr>
          <p:nvPr/>
        </p:nvPicPr>
        <p:blipFill>
          <a:blip r:embed="rId3" cstate="print"/>
          <a:stretch>
            <a:fillRect/>
          </a:stretch>
        </p:blipFill>
        <p:spPr>
          <a:xfrm>
            <a:off x="6444208" y="3284984"/>
            <a:ext cx="2105032" cy="2950979"/>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467600" cy="1143000"/>
          </a:xfrm>
        </p:spPr>
        <p:txBody>
          <a:bodyPr>
            <a:normAutofit/>
          </a:bodyPr>
          <a:lstStyle/>
          <a:p>
            <a:r>
              <a:rPr lang="en-US" sz="3400" b="1" dirty="0" smtClean="0">
                <a:solidFill>
                  <a:srgbClr val="FF6600"/>
                </a:solidFill>
                <a:latin typeface="Helvetica" pitchFamily="34" charset="0"/>
              </a:rPr>
              <a:t>Undertake a job analysis of each identified position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Job analysis is important as it:</a:t>
            </a:r>
          </a:p>
          <a:p>
            <a:pPr marL="360000" indent="-360000">
              <a:spcBef>
                <a:spcPts val="600"/>
              </a:spcBef>
              <a:spcAft>
                <a:spcPts val="1200"/>
              </a:spcAft>
            </a:pPr>
            <a:r>
              <a:rPr lang="en-US" sz="2200" b="1" dirty="0" smtClean="0">
                <a:latin typeface="Helvetica" pitchFamily="34" charset="0"/>
              </a:rPr>
              <a:t>It provides essential information required for job vacancy advertising and selection</a:t>
            </a:r>
          </a:p>
          <a:p>
            <a:pPr marL="360000" indent="-360000">
              <a:spcBef>
                <a:spcPts val="600"/>
              </a:spcBef>
              <a:spcAft>
                <a:spcPts val="1200"/>
              </a:spcAft>
            </a:pPr>
            <a:r>
              <a:rPr lang="en-US" sz="2200" b="1" dirty="0" smtClean="0">
                <a:latin typeface="Helvetica" pitchFamily="34" charset="0"/>
              </a:rPr>
              <a:t>It forms the basis for the development of the Job Description &amp; the Job Specification.</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 name="Picture 4" descr="00401762.jpg"/>
          <p:cNvPicPr>
            <a:picLocks noChangeAspect="1"/>
          </p:cNvPicPr>
          <p:nvPr/>
        </p:nvPicPr>
        <p:blipFill>
          <a:blip r:embed="rId3" cstate="print"/>
          <a:stretch>
            <a:fillRect/>
          </a:stretch>
        </p:blipFill>
        <p:spPr>
          <a:xfrm>
            <a:off x="5616410" y="4221088"/>
            <a:ext cx="3145061" cy="2095888"/>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Undertake a job analysis of each identified position</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descr="00316823.jpg"/>
          <p:cNvPicPr>
            <a:picLocks noChangeAspect="1"/>
          </p:cNvPicPr>
          <p:nvPr/>
        </p:nvPicPr>
        <p:blipFill>
          <a:blip r:embed="rId3" cstate="print"/>
          <a:stretch>
            <a:fillRect/>
          </a:stretch>
        </p:blipFill>
        <p:spPr>
          <a:xfrm>
            <a:off x="7449683" y="3645024"/>
            <a:ext cx="1694317" cy="2541476"/>
          </a:xfrm>
          <a:prstGeom prst="rect">
            <a:avLst/>
          </a:prstGeom>
        </p:spPr>
      </p:pic>
      <p:sp>
        <p:nvSpPr>
          <p:cNvPr id="6" name="Content Placeholder 2"/>
          <p:cNvSpPr txBox="1">
            <a:spLocks/>
          </p:cNvSpPr>
          <p:nvPr/>
        </p:nvSpPr>
        <p:spPr>
          <a:xfrm>
            <a:off x="539552" y="1556792"/>
            <a:ext cx="8136904" cy="4896544"/>
          </a:xfrm>
          <a:prstGeom prst="rect">
            <a:avLst/>
          </a:prstGeom>
        </p:spPr>
        <p:txBody>
          <a:bodyPr vert="horz">
            <a:normAutofit lnSpcReduction="10000"/>
          </a:bodyPr>
          <a:lstStyle/>
          <a:p>
            <a:pPr>
              <a:spcBef>
                <a:spcPts val="600"/>
              </a:spcBef>
              <a:spcAft>
                <a:spcPts val="1200"/>
              </a:spcAft>
            </a:pPr>
            <a:r>
              <a:rPr lang="en-US" sz="2200" b="1" dirty="0" smtClean="0">
                <a:latin typeface="Helvetica" pitchFamily="34" charset="0"/>
              </a:rPr>
              <a:t>The job analysis must answer questions such as:</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What work does the position do? </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What are tasks, responsibilities and duties of the position?</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When is the work done? </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Where in the enterprise is the work done?</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What are the range of requirements a worker  </a:t>
            </a:r>
            <a:br>
              <a:rPr lang="en-AU" sz="2200" b="1" dirty="0" smtClean="0">
                <a:latin typeface="Helvetica" pitchFamily="34" charset="0"/>
              </a:rPr>
            </a:br>
            <a:r>
              <a:rPr lang="en-AU" sz="2200" b="1" dirty="0" smtClean="0">
                <a:latin typeface="Helvetica" pitchFamily="34" charset="0"/>
              </a:rPr>
              <a:t>needs in order to do the job as required?</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What are working conditions of the position?</a:t>
            </a:r>
          </a:p>
          <a:p>
            <a:pPr marL="360000" marR="0" lvl="0" indent="-360000" algn="l" defTabSz="914400" rtl="0" eaLnBrk="1" fontAlgn="auto" latinLnBrk="0" hangingPunct="1">
              <a:lnSpc>
                <a:spcPct val="100000"/>
              </a:lnSpc>
              <a:spcBef>
                <a:spcPts val="600"/>
              </a:spcBef>
              <a:spcAft>
                <a:spcPts val="1200"/>
              </a:spcAft>
              <a:buClr>
                <a:schemeClr val="accent1"/>
              </a:buClr>
              <a:buSzPct val="80000"/>
              <a:buFont typeface="Wingdings 2"/>
              <a:buNone/>
              <a:tabLst/>
              <a:defRPr/>
            </a:pPr>
            <a:r>
              <a:rPr kumimoji="0" lang="en-US" sz="2200" b="1" i="0" u="none" strike="noStrike" kern="1200" cap="none" spc="0" normalizeH="0" baseline="0" noProof="0" dirty="0" smtClean="0">
                <a:ln>
                  <a:noFill/>
                </a:ln>
                <a:solidFill>
                  <a:schemeClr val="tx1"/>
                </a:solidFill>
                <a:effectLst/>
                <a:uLnTx/>
                <a:uFillTx/>
                <a:latin typeface="Helvetica" pitchFamily="34" charset="0"/>
                <a:ea typeface="+mn-ea"/>
                <a:cs typeface="+mn-cs"/>
              </a:rPr>
              <a:t>(continue)</a:t>
            </a:r>
          </a:p>
          <a:p>
            <a:pPr marL="360000" marR="0" lvl="0" indent="-360000" algn="l" defTabSz="914400" rtl="0" eaLnBrk="1" fontAlgn="auto" latinLnBrk="0" hangingPunct="1">
              <a:lnSpc>
                <a:spcPct val="100000"/>
              </a:lnSpc>
              <a:spcBef>
                <a:spcPts val="600"/>
              </a:spcBef>
              <a:spcAft>
                <a:spcPts val="1200"/>
              </a:spcAft>
              <a:buClr>
                <a:schemeClr val="accent1"/>
              </a:buClr>
              <a:buSzPct val="80000"/>
              <a:buFont typeface="Wingdings 2"/>
              <a:buNone/>
              <a:tabLst/>
              <a:defRPr/>
            </a:pPr>
            <a:endParaRPr kumimoji="0" lang="en-US"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a:p>
            <a:pPr marL="360000" marR="0" lvl="0" indent="-360000" algn="l" defTabSz="914400" rtl="0" eaLnBrk="1" fontAlgn="auto" latinLnBrk="0" hangingPunct="1">
              <a:lnSpc>
                <a:spcPct val="100000"/>
              </a:lnSpc>
              <a:spcBef>
                <a:spcPts val="600"/>
              </a:spcBef>
              <a:spcAft>
                <a:spcPts val="1200"/>
              </a:spcAft>
              <a:buClr>
                <a:schemeClr val="accent1"/>
              </a:buClr>
              <a:buSzPct val="80000"/>
              <a:buFont typeface="Wingdings 2"/>
              <a:buNone/>
              <a:tabLst/>
              <a:defRPr/>
            </a:pPr>
            <a:endParaRPr kumimoji="0" lang="en-US" sz="2200" b="1" i="0" u="none" strike="noStrike" kern="1200" cap="none" spc="0" normalizeH="0" baseline="0" noProof="0" dirty="0" smtClean="0">
              <a:ln>
                <a:noFill/>
              </a:ln>
              <a:solidFill>
                <a:schemeClr val="tx1"/>
              </a:solidFill>
              <a:effectLst/>
              <a:uLnTx/>
              <a:uFillTx/>
              <a:latin typeface="Helvetica" pitchFamily="34" charset="0"/>
              <a:ea typeface="+mn-ea"/>
              <a:cs typeface="+mn-cs"/>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Undertake a job analysis of each identified position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 job analysis can be done by:</a:t>
            </a:r>
          </a:p>
          <a:p>
            <a:pPr marL="360000" indent="-360000">
              <a:spcBef>
                <a:spcPts val="600"/>
              </a:spcBef>
              <a:spcAft>
                <a:spcPts val="1200"/>
              </a:spcAft>
            </a:pPr>
            <a:r>
              <a:rPr lang="en-US" sz="2200" b="1" dirty="0" smtClean="0">
                <a:latin typeface="Helvetica" pitchFamily="34" charset="0"/>
              </a:rPr>
              <a:t>Watching what happens</a:t>
            </a:r>
          </a:p>
          <a:p>
            <a:pPr marL="360000" indent="-360000">
              <a:spcBef>
                <a:spcPts val="600"/>
              </a:spcBef>
              <a:spcAft>
                <a:spcPts val="1200"/>
              </a:spcAft>
            </a:pPr>
            <a:r>
              <a:rPr lang="en-US" sz="2200" b="1" dirty="0" smtClean="0">
                <a:latin typeface="Helvetica" pitchFamily="34" charset="0"/>
              </a:rPr>
              <a:t>Encouraging feedback from staff</a:t>
            </a:r>
          </a:p>
          <a:p>
            <a:pPr marL="360000" indent="-360000">
              <a:spcBef>
                <a:spcPts val="600"/>
              </a:spcBef>
              <a:spcAft>
                <a:spcPts val="1200"/>
              </a:spcAft>
            </a:pPr>
            <a:r>
              <a:rPr lang="en-US" sz="2200" b="1" dirty="0" smtClean="0">
                <a:latin typeface="Helvetica" pitchFamily="34" charset="0"/>
              </a:rPr>
              <a:t>Talking to other supervisors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5" name="Picture 4" descr="Picture6.tif"/>
          <p:cNvPicPr>
            <a:picLocks noChangeAspect="1"/>
          </p:cNvPicPr>
          <p:nvPr/>
        </p:nvPicPr>
        <p:blipFill>
          <a:blip r:embed="rId3" cstate="print"/>
          <a:stretch>
            <a:fillRect/>
          </a:stretch>
        </p:blipFill>
        <p:spPr>
          <a:xfrm>
            <a:off x="6444208" y="2780409"/>
            <a:ext cx="2219727" cy="3331591"/>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Undertake a job analysis of each identified position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525963"/>
          </a:xfrm>
        </p:spPr>
        <p:txBody>
          <a:bodyPr>
            <a:normAutofit/>
          </a:bodyPr>
          <a:lstStyle/>
          <a:p>
            <a:pPr marL="360000" indent="-360000">
              <a:spcBef>
                <a:spcPts val="600"/>
              </a:spcBef>
              <a:spcAft>
                <a:spcPts val="1200"/>
              </a:spcAft>
            </a:pPr>
            <a:r>
              <a:rPr lang="en-US" sz="2200" b="1" dirty="0" smtClean="0">
                <a:latin typeface="Helvetica" pitchFamily="34" charset="0"/>
              </a:rPr>
              <a:t>Considering ‘best practice’</a:t>
            </a:r>
          </a:p>
          <a:p>
            <a:pPr marL="360000" indent="-360000">
              <a:spcBef>
                <a:spcPts val="600"/>
              </a:spcBef>
              <a:spcAft>
                <a:spcPts val="1200"/>
              </a:spcAft>
            </a:pPr>
            <a:r>
              <a:rPr lang="en-US" sz="2200" b="1" dirty="0" smtClean="0">
                <a:latin typeface="Helvetica" pitchFamily="34" charset="0"/>
              </a:rPr>
              <a:t>Reading existing job analysis information</a:t>
            </a:r>
          </a:p>
          <a:p>
            <a:pPr marL="360000" indent="-360000">
              <a:spcBef>
                <a:spcPts val="600"/>
              </a:spcBef>
              <a:spcAft>
                <a:spcPts val="1200"/>
              </a:spcAft>
            </a:pPr>
            <a:r>
              <a:rPr lang="en-US" sz="2200" b="1" dirty="0" smtClean="0">
                <a:latin typeface="Helvetica" pitchFamily="34" charset="0"/>
              </a:rPr>
              <a:t>Reading existing job descriptions &amp; job specifications.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5" name="Picture 4" descr="00227474.jpg"/>
          <p:cNvPicPr>
            <a:picLocks noChangeAspect="1"/>
          </p:cNvPicPr>
          <p:nvPr/>
        </p:nvPicPr>
        <p:blipFill>
          <a:blip r:embed="rId3" cstate="print"/>
          <a:stretch>
            <a:fillRect/>
          </a:stretch>
        </p:blipFill>
        <p:spPr>
          <a:xfrm>
            <a:off x="5321416" y="4149080"/>
            <a:ext cx="3124207" cy="210884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job specifications and job descriptions for identified positions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 ‘Job Statement’ = a document combining Job Description &amp; Job Specification: </a:t>
            </a:r>
          </a:p>
          <a:p>
            <a:pPr marL="360000" indent="-360000">
              <a:spcBef>
                <a:spcPts val="600"/>
              </a:spcBef>
              <a:spcAft>
                <a:spcPts val="1200"/>
              </a:spcAft>
            </a:pPr>
            <a:r>
              <a:rPr lang="en-US" sz="2200" b="1" dirty="0" smtClean="0">
                <a:latin typeface="Helvetica" pitchFamily="34" charset="0"/>
              </a:rPr>
              <a:t>Not all businesses have them</a:t>
            </a:r>
          </a:p>
          <a:p>
            <a:pPr marL="360000" indent="-360000">
              <a:spcBef>
                <a:spcPts val="600"/>
              </a:spcBef>
              <a:spcAft>
                <a:spcPts val="1200"/>
              </a:spcAft>
            </a:pPr>
            <a:r>
              <a:rPr lang="en-US" sz="2200" b="1" dirty="0" smtClean="0">
                <a:latin typeface="Helvetica" pitchFamily="34" charset="0"/>
              </a:rPr>
              <a:t>They may be called different names – PD; Person Specification </a:t>
            </a:r>
          </a:p>
          <a:p>
            <a:pPr marL="360000" indent="-360000">
              <a:spcBef>
                <a:spcPts val="600"/>
              </a:spcBef>
              <a:spcAft>
                <a:spcPts val="1200"/>
              </a:spcAft>
            </a:pPr>
            <a:r>
              <a:rPr lang="en-US" sz="2200" b="1" dirty="0" smtClean="0">
                <a:latin typeface="Helvetica" pitchFamily="34" charset="0"/>
              </a:rPr>
              <a:t>Will provide a better understanding of the required job and person</a:t>
            </a:r>
          </a:p>
          <a:p>
            <a:pPr marL="360000" indent="-360000">
              <a:spcBef>
                <a:spcPts val="600"/>
              </a:spcBef>
              <a:spcAft>
                <a:spcPts val="1200"/>
              </a:spcAft>
            </a:pPr>
            <a:r>
              <a:rPr lang="en-US" sz="2200" b="1" dirty="0" smtClean="0">
                <a:latin typeface="Helvetica" pitchFamily="34" charset="0"/>
              </a:rPr>
              <a:t>Lack of this knowledge usually results in the wrong person being selected for a vacancy.</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job specifications and job descriptions for identified positions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0" indent="0">
              <a:spcBef>
                <a:spcPts val="600"/>
              </a:spcBef>
              <a:spcAft>
                <a:spcPts val="1200"/>
              </a:spcAft>
              <a:buNone/>
            </a:pPr>
            <a:r>
              <a:rPr lang="en-US" sz="2200" b="1" dirty="0" smtClean="0">
                <a:latin typeface="Helvetica" pitchFamily="34" charset="0"/>
              </a:rPr>
              <a:t>Job specification = details the human qualities required for the position &amp; should contain:</a:t>
            </a:r>
          </a:p>
          <a:p>
            <a:pPr marL="360000" indent="-360000">
              <a:spcBef>
                <a:spcPts val="600"/>
              </a:spcBef>
              <a:spcAft>
                <a:spcPts val="1200"/>
              </a:spcAft>
            </a:pPr>
            <a:r>
              <a:rPr lang="en-US" sz="2200" b="1" dirty="0" smtClean="0">
                <a:latin typeface="Helvetica" pitchFamily="34" charset="0"/>
              </a:rPr>
              <a:t>Title of the job</a:t>
            </a:r>
          </a:p>
          <a:p>
            <a:pPr marL="360000" indent="-360000">
              <a:spcBef>
                <a:spcPts val="600"/>
              </a:spcBef>
              <a:spcAft>
                <a:spcPts val="1200"/>
              </a:spcAft>
            </a:pPr>
            <a:r>
              <a:rPr lang="en-US" sz="2200" b="1" dirty="0" smtClean="0">
                <a:latin typeface="Helvetica" pitchFamily="34" charset="0"/>
              </a:rPr>
              <a:t>Minimum level of education</a:t>
            </a:r>
          </a:p>
          <a:p>
            <a:pPr marL="360000" indent="-360000">
              <a:spcBef>
                <a:spcPts val="600"/>
              </a:spcBef>
              <a:spcAft>
                <a:spcPts val="1200"/>
              </a:spcAft>
            </a:pPr>
            <a:r>
              <a:rPr lang="en-US" sz="2200" b="1" dirty="0" smtClean="0">
                <a:latin typeface="Helvetica" pitchFamily="34" charset="0"/>
              </a:rPr>
              <a:t>Specialised training required</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5" name="Picture 4" descr="00438693.jpg"/>
          <p:cNvPicPr>
            <a:picLocks noChangeAspect="1"/>
          </p:cNvPicPr>
          <p:nvPr/>
        </p:nvPicPr>
        <p:blipFill>
          <a:blip r:embed="rId3" cstate="print"/>
          <a:stretch>
            <a:fillRect/>
          </a:stretch>
        </p:blipFill>
        <p:spPr>
          <a:xfrm>
            <a:off x="5472100" y="4077072"/>
            <a:ext cx="3092388" cy="2061592"/>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job specifications and job descriptions for identified positions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Work-related experience</a:t>
            </a:r>
          </a:p>
          <a:p>
            <a:pPr marL="360000" indent="-360000">
              <a:spcBef>
                <a:spcPts val="600"/>
              </a:spcBef>
              <a:spcAft>
                <a:spcPts val="1200"/>
              </a:spcAft>
            </a:pPr>
            <a:r>
              <a:rPr lang="en-US" sz="2200" b="1" dirty="0" smtClean="0">
                <a:latin typeface="Helvetica" pitchFamily="34" charset="0"/>
              </a:rPr>
              <a:t>Personal attributes required</a:t>
            </a:r>
          </a:p>
          <a:p>
            <a:pPr marL="360000" indent="-360000">
              <a:spcBef>
                <a:spcPts val="600"/>
              </a:spcBef>
              <a:spcAft>
                <a:spcPts val="1200"/>
              </a:spcAft>
            </a:pPr>
            <a:r>
              <a:rPr lang="en-US" sz="2200" b="1" dirty="0" smtClean="0">
                <a:latin typeface="Helvetica" pitchFamily="34" charset="0"/>
              </a:rPr>
              <a:t>Physical effort required to do the job</a:t>
            </a:r>
          </a:p>
          <a:p>
            <a:pPr marL="360000" indent="-360000">
              <a:spcBef>
                <a:spcPts val="600"/>
              </a:spcBef>
              <a:spcAft>
                <a:spcPts val="1200"/>
              </a:spcAft>
            </a:pPr>
            <a:r>
              <a:rPr lang="en-US" sz="2200" b="1" dirty="0" smtClean="0">
                <a:latin typeface="Helvetica" pitchFamily="34" charset="0"/>
              </a:rPr>
              <a:t>Interpersonal skills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5" name="Picture 4" descr="00443432.jpg"/>
          <p:cNvPicPr>
            <a:picLocks noChangeAspect="1"/>
          </p:cNvPicPr>
          <p:nvPr/>
        </p:nvPicPr>
        <p:blipFill>
          <a:blip r:embed="rId3" cstate="print"/>
          <a:stretch>
            <a:fillRect/>
          </a:stretch>
        </p:blipFill>
        <p:spPr>
          <a:xfrm>
            <a:off x="6732240" y="3140968"/>
            <a:ext cx="2000664" cy="2997461"/>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job specifications and job descriptions for identified positions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8136904" cy="4680520"/>
          </a:xfrm>
        </p:spPr>
        <p:txBody>
          <a:bodyPr>
            <a:normAutofit/>
          </a:bodyPr>
          <a:lstStyle/>
          <a:p>
            <a:pPr marL="0" indent="0">
              <a:spcBef>
                <a:spcPts val="600"/>
              </a:spcBef>
              <a:spcAft>
                <a:spcPts val="1200"/>
              </a:spcAft>
              <a:buNone/>
            </a:pPr>
            <a:r>
              <a:rPr lang="en-US" sz="2200" b="1" dirty="0" smtClean="0">
                <a:latin typeface="Helvetica" pitchFamily="34" charset="0"/>
              </a:rPr>
              <a:t>Job Description = information about what the job is all about:</a:t>
            </a:r>
          </a:p>
          <a:p>
            <a:pPr marL="360000" indent="-360000">
              <a:spcBef>
                <a:spcPts val="600"/>
              </a:spcBef>
              <a:spcAft>
                <a:spcPts val="1200"/>
              </a:spcAft>
            </a:pPr>
            <a:r>
              <a:rPr lang="en-US" sz="2200" b="1" dirty="0" smtClean="0">
                <a:latin typeface="Helvetica" pitchFamily="34" charset="0"/>
              </a:rPr>
              <a:t>Job title</a:t>
            </a:r>
          </a:p>
          <a:p>
            <a:pPr marL="360000" indent="-360000">
              <a:spcBef>
                <a:spcPts val="600"/>
              </a:spcBef>
              <a:spcAft>
                <a:spcPts val="1200"/>
              </a:spcAft>
            </a:pPr>
            <a:r>
              <a:rPr lang="en-US" sz="2200" b="1" dirty="0" smtClean="0">
                <a:latin typeface="Helvetica" pitchFamily="34" charset="0"/>
              </a:rPr>
              <a:t>Location of the job</a:t>
            </a:r>
          </a:p>
          <a:p>
            <a:pPr marL="360000" indent="-360000">
              <a:spcBef>
                <a:spcPts val="600"/>
              </a:spcBef>
              <a:spcAft>
                <a:spcPts val="1200"/>
              </a:spcAft>
            </a:pPr>
            <a:r>
              <a:rPr lang="en-US" sz="2200" b="1" dirty="0" smtClean="0">
                <a:latin typeface="Helvetica" pitchFamily="34" charset="0"/>
              </a:rPr>
              <a:t>Job responsibilities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5" name="Picture 4" descr="MP900185034[1].JPG"/>
          <p:cNvPicPr>
            <a:picLocks noChangeAspect="1"/>
          </p:cNvPicPr>
          <p:nvPr/>
        </p:nvPicPr>
        <p:blipFill>
          <a:blip r:embed="rId3" cstate="print"/>
          <a:stretch>
            <a:fillRect/>
          </a:stretch>
        </p:blipFill>
        <p:spPr>
          <a:xfrm>
            <a:off x="6349156" y="2852936"/>
            <a:ext cx="2257611" cy="3369568"/>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job specifications and job descriptions for identified positions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360000" indent="-360000">
              <a:spcBef>
                <a:spcPts val="600"/>
              </a:spcBef>
              <a:spcAft>
                <a:spcPts val="1200"/>
              </a:spcAft>
            </a:pPr>
            <a:r>
              <a:rPr lang="en-US" sz="2200" b="1" dirty="0" smtClean="0">
                <a:latin typeface="Helvetica" pitchFamily="34" charset="0"/>
              </a:rPr>
              <a:t>Day-to-day tasks of the position</a:t>
            </a:r>
          </a:p>
          <a:p>
            <a:pPr marL="360000" indent="-360000">
              <a:spcBef>
                <a:spcPts val="600"/>
              </a:spcBef>
              <a:spcAft>
                <a:spcPts val="1200"/>
              </a:spcAft>
            </a:pPr>
            <a:r>
              <a:rPr lang="en-US" sz="2200" b="1" dirty="0" smtClean="0">
                <a:latin typeface="Helvetica" pitchFamily="34" charset="0"/>
              </a:rPr>
              <a:t>Job title the position reports to</a:t>
            </a:r>
          </a:p>
          <a:p>
            <a:pPr marL="360000" indent="-360000">
              <a:spcBef>
                <a:spcPts val="600"/>
              </a:spcBef>
              <a:spcAft>
                <a:spcPts val="1200"/>
              </a:spcAft>
            </a:pPr>
            <a:r>
              <a:rPr lang="en-US" sz="2200" b="1" dirty="0" smtClean="0">
                <a:latin typeface="Helvetica" pitchFamily="34" charset="0"/>
              </a:rPr>
              <a:t>Number of people supervised by the position</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5" name="Picture 4" descr="MP900409079[1].JPG"/>
          <p:cNvPicPr>
            <a:picLocks noChangeAspect="1"/>
          </p:cNvPicPr>
          <p:nvPr/>
        </p:nvPicPr>
        <p:blipFill>
          <a:blip r:embed="rId3" cstate="print"/>
          <a:stretch>
            <a:fillRect/>
          </a:stretch>
        </p:blipFill>
        <p:spPr>
          <a:xfrm>
            <a:off x="5940152" y="3717032"/>
            <a:ext cx="2492896" cy="2492896"/>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job specifications and job descriptions for identified positions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360000" indent="-360000">
              <a:spcBef>
                <a:spcPts val="600"/>
              </a:spcBef>
              <a:spcAft>
                <a:spcPts val="1200"/>
              </a:spcAft>
            </a:pPr>
            <a:r>
              <a:rPr lang="en-US" sz="2200" b="1" dirty="0" smtClean="0">
                <a:latin typeface="Helvetica" pitchFamily="34" charset="0"/>
              </a:rPr>
              <a:t>Working conditions</a:t>
            </a:r>
          </a:p>
          <a:p>
            <a:pPr marL="360000" indent="-360000">
              <a:spcBef>
                <a:spcPts val="600"/>
              </a:spcBef>
              <a:spcAft>
                <a:spcPts val="1200"/>
              </a:spcAft>
            </a:pPr>
            <a:r>
              <a:rPr lang="en-US" sz="2200" b="1" dirty="0" smtClean="0">
                <a:latin typeface="Helvetica" pitchFamily="34" charset="0"/>
              </a:rPr>
              <a:t>Workplace hazards</a:t>
            </a:r>
          </a:p>
          <a:p>
            <a:pPr marL="360000" indent="-360000">
              <a:spcBef>
                <a:spcPts val="600"/>
              </a:spcBef>
              <a:spcAft>
                <a:spcPts val="1200"/>
              </a:spcAft>
            </a:pPr>
            <a:r>
              <a:rPr lang="en-US" sz="2200" b="1" dirty="0" smtClean="0">
                <a:latin typeface="Helvetica" pitchFamily="34" charset="0"/>
              </a:rPr>
              <a:t>Special work procedures to be followed</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5" name="Picture 4" descr="MP900422746[1].JPG"/>
          <p:cNvPicPr>
            <a:picLocks noChangeAspect="1"/>
          </p:cNvPicPr>
          <p:nvPr/>
        </p:nvPicPr>
        <p:blipFill>
          <a:blip r:embed="rId3" cstate="print"/>
          <a:stretch>
            <a:fillRect/>
          </a:stretch>
        </p:blipFill>
        <p:spPr>
          <a:xfrm>
            <a:off x="5868144" y="3573016"/>
            <a:ext cx="2562399" cy="2564904"/>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job specifications and job descriptions for identified positions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Equipment, technology, systems used in the job</a:t>
            </a:r>
          </a:p>
          <a:p>
            <a:pPr marL="360000" indent="-360000">
              <a:spcBef>
                <a:spcPts val="600"/>
              </a:spcBef>
              <a:spcAft>
                <a:spcPts val="1200"/>
              </a:spcAft>
            </a:pPr>
            <a:r>
              <a:rPr lang="en-US" sz="2200" b="1" dirty="0" smtClean="0">
                <a:latin typeface="Helvetica" pitchFamily="34" charset="0"/>
              </a:rPr>
              <a:t>Output standards required</a:t>
            </a:r>
          </a:p>
          <a:p>
            <a:pPr marL="360000" indent="-360000">
              <a:spcBef>
                <a:spcPts val="600"/>
              </a:spcBef>
              <a:spcAft>
                <a:spcPts val="1200"/>
              </a:spcAft>
            </a:pPr>
            <a:r>
              <a:rPr lang="en-US" sz="2200" b="1" dirty="0" smtClean="0">
                <a:latin typeface="Helvetica" pitchFamily="34" charset="0"/>
              </a:rPr>
              <a:t>Type of work measurement used for the work performed.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5" name="Picture 4" descr="werribee013_RT8.jpg"/>
          <p:cNvPicPr>
            <a:picLocks noChangeAspect="1"/>
          </p:cNvPicPr>
          <p:nvPr/>
        </p:nvPicPr>
        <p:blipFill>
          <a:blip r:embed="rId3" cstate="print"/>
          <a:stretch>
            <a:fillRect/>
          </a:stretch>
        </p:blipFill>
        <p:spPr>
          <a:xfrm>
            <a:off x="5076056" y="3789040"/>
            <a:ext cx="3383868" cy="2255912"/>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When identifying staffing needs:</a:t>
            </a:r>
          </a:p>
          <a:p>
            <a:r>
              <a:rPr lang="en-AU" sz="2200" b="1" dirty="0" smtClean="0">
                <a:latin typeface="Helvetica" pitchFamily="34" charset="0"/>
              </a:rPr>
              <a:t>Obtain, read &amp; understand all internal policies &amp; procedures relating to staffing matters</a:t>
            </a:r>
          </a:p>
          <a:p>
            <a:endParaRPr lang="en-AU" sz="2200" b="1" dirty="0" smtClean="0">
              <a:latin typeface="Helvetica" pitchFamily="34" charset="0"/>
            </a:endParaRPr>
          </a:p>
          <a:p>
            <a:r>
              <a:rPr lang="en-AU" sz="2200" b="1" dirty="0" smtClean="0">
                <a:latin typeface="Helvetica" pitchFamily="34" charset="0"/>
              </a:rPr>
              <a:t>Realise other people will rely on you for advice regarding staffing issues</a:t>
            </a:r>
          </a:p>
          <a:p>
            <a:endParaRPr lang="en-AU" sz="2200" b="1" dirty="0" smtClean="0">
              <a:latin typeface="Helvetica" pitchFamily="34" charset="0"/>
            </a:endParaRPr>
          </a:p>
          <a:p>
            <a:r>
              <a:rPr lang="en-AU" sz="2200" b="1" dirty="0" smtClean="0">
                <a:latin typeface="Helvetica" pitchFamily="34" charset="0"/>
              </a:rPr>
              <a:t>Obtain specific information about labour budgets, how much is available &amp; how labour budget is calculated</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Determine if you have the authority to move labour expenses</a:t>
            </a:r>
          </a:p>
          <a:p>
            <a:endParaRPr lang="en-AU" sz="2200" b="1" dirty="0" smtClean="0">
              <a:latin typeface="Helvetica" pitchFamily="34" charset="0"/>
            </a:endParaRPr>
          </a:p>
          <a:p>
            <a:r>
              <a:rPr lang="en-AU" sz="2200" b="1" dirty="0" smtClean="0">
                <a:latin typeface="Helvetica" pitchFamily="34" charset="0"/>
              </a:rPr>
              <a:t>Get to know existing staff</a:t>
            </a:r>
          </a:p>
          <a:p>
            <a:endParaRPr lang="en-AU" sz="2200" b="1" dirty="0" smtClean="0">
              <a:latin typeface="Helvetica" pitchFamily="34" charset="0"/>
            </a:endParaRPr>
          </a:p>
          <a:p>
            <a:r>
              <a:rPr lang="en-AU" sz="2200" b="1" dirty="0" smtClean="0">
                <a:latin typeface="Helvetica" pitchFamily="34" charset="0"/>
              </a:rPr>
              <a:t>Learn the service standards for the workplace &amp; management and customer expectations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5" name="Picture 4" descr="Conf.jpg"/>
          <p:cNvPicPr>
            <a:picLocks noChangeAspect="1"/>
          </p:cNvPicPr>
          <p:nvPr/>
        </p:nvPicPr>
        <p:blipFill>
          <a:blip r:embed="rId3" cstate="print"/>
          <a:stretch>
            <a:fillRect/>
          </a:stretch>
        </p:blipFill>
        <p:spPr>
          <a:xfrm>
            <a:off x="5652120" y="4437112"/>
            <a:ext cx="2953536" cy="1969024"/>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Become familiar with trading hours, busy periods, volume &amp; types of customers</a:t>
            </a:r>
          </a:p>
          <a:p>
            <a:endParaRPr lang="en-AU" sz="2200" b="1" dirty="0" smtClean="0">
              <a:latin typeface="Helvetica" pitchFamily="34" charset="0"/>
            </a:endParaRPr>
          </a:p>
          <a:p>
            <a:r>
              <a:rPr lang="en-AU" sz="2200" b="1" dirty="0" smtClean="0">
                <a:latin typeface="Helvetica" pitchFamily="34" charset="0"/>
              </a:rPr>
              <a:t>Actively research current &amp; projected staff movements</a:t>
            </a:r>
          </a:p>
          <a:p>
            <a:endParaRPr lang="en-AU" sz="2200" b="1" dirty="0" smtClean="0">
              <a:latin typeface="Helvetica" pitchFamily="34" charset="0"/>
            </a:endParaRPr>
          </a:p>
          <a:p>
            <a:r>
              <a:rPr lang="en-AU" sz="2200" b="1" dirty="0" smtClean="0">
                <a:latin typeface="Helvetica" pitchFamily="34" charset="0"/>
              </a:rPr>
              <a:t>Identify internal &amp; external factors impacting on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5" name="Picture 4" descr="F and B 2.JPG"/>
          <p:cNvPicPr>
            <a:picLocks noChangeAspect="1"/>
          </p:cNvPicPr>
          <p:nvPr/>
        </p:nvPicPr>
        <p:blipFill>
          <a:blip r:embed="rId3" cstate="print"/>
          <a:stretch>
            <a:fillRect/>
          </a:stretch>
        </p:blipFill>
        <p:spPr>
          <a:xfrm>
            <a:off x="5796136" y="4365104"/>
            <a:ext cx="2960673" cy="1984627"/>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Determine the future direction of the business &amp; relevant changes in markets, market position, image &amp; allied operational factors</a:t>
            </a:r>
          </a:p>
          <a:p>
            <a:endParaRPr lang="en-AU" sz="2200" b="1" dirty="0" smtClean="0">
              <a:latin typeface="Helvetica" pitchFamily="34" charset="0"/>
            </a:endParaRPr>
          </a:p>
          <a:p>
            <a:r>
              <a:rPr lang="en-AU" sz="2200" b="1" dirty="0" smtClean="0">
                <a:latin typeface="Helvetica" pitchFamily="34" charset="0"/>
              </a:rPr>
              <a:t>Factor in changes in technology or legislation impacting the business</a:t>
            </a:r>
          </a:p>
          <a:p>
            <a:endParaRPr lang="en-AU" sz="2200" b="1" dirty="0" smtClean="0">
              <a:latin typeface="Helvetica" pitchFamily="34" charset="0"/>
            </a:endParaRPr>
          </a:p>
          <a:p>
            <a:r>
              <a:rPr lang="en-AU" sz="2200" b="1" dirty="0" smtClean="0">
                <a:latin typeface="Helvetica" pitchFamily="34" charset="0"/>
              </a:rPr>
              <a:t>Monitor staff performance using                                 qualitative &amp; quantitative analysis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5" name="Picture 4" descr="j0409601.jpg"/>
          <p:cNvPicPr>
            <a:picLocks noChangeAspect="1"/>
          </p:cNvPicPr>
          <p:nvPr/>
        </p:nvPicPr>
        <p:blipFill>
          <a:blip r:embed="rId3" cstate="print"/>
          <a:stretch>
            <a:fillRect/>
          </a:stretch>
        </p:blipFill>
        <p:spPr>
          <a:xfrm>
            <a:off x="6084168" y="4293096"/>
            <a:ext cx="2629301" cy="1754237"/>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Consult with management &amp; relevant others to determine future staff needs</a:t>
            </a:r>
          </a:p>
          <a:p>
            <a:endParaRPr lang="en-AU" sz="2200" b="1" dirty="0" smtClean="0">
              <a:latin typeface="Helvetica" pitchFamily="34" charset="0"/>
            </a:endParaRPr>
          </a:p>
          <a:p>
            <a:r>
              <a:rPr lang="en-AU" sz="2200" b="1" dirty="0" smtClean="0">
                <a:latin typeface="Helvetica" pitchFamily="34" charset="0"/>
              </a:rPr>
              <a:t>Use an organisational chart to assist with staff planning &amp; positioning of staff</a:t>
            </a:r>
          </a:p>
          <a:p>
            <a:endParaRPr lang="en-AU" sz="2200" b="1" dirty="0" smtClean="0">
              <a:latin typeface="Helvetica" pitchFamily="34" charset="0"/>
            </a:endParaRPr>
          </a:p>
          <a:p>
            <a:r>
              <a:rPr lang="en-AU" sz="2200" b="1" dirty="0" smtClean="0">
                <a:latin typeface="Helvetica" pitchFamily="34" charset="0"/>
              </a:rPr>
              <a:t>Undertake job analyses as the basis for preparing current &amp; comprehensive job descriptions &amp; job specifications.</a:t>
            </a: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5" name="Picture 4" descr="j0438551.jpg"/>
          <p:cNvPicPr>
            <a:picLocks noChangeAspect="1"/>
          </p:cNvPicPr>
          <p:nvPr/>
        </p:nvPicPr>
        <p:blipFill>
          <a:blip r:embed="rId3" cstate="print"/>
          <a:stretch>
            <a:fillRect/>
          </a:stretch>
        </p:blipFill>
        <p:spPr>
          <a:xfrm>
            <a:off x="6228184" y="4725556"/>
            <a:ext cx="2336304" cy="1559761"/>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Recruit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 for this Element are:</a:t>
            </a:r>
          </a:p>
          <a:p>
            <a:pPr marL="360000" indent="-360000">
              <a:spcBef>
                <a:spcPts val="600"/>
              </a:spcBef>
              <a:spcAft>
                <a:spcPts val="1200"/>
              </a:spcAft>
            </a:pPr>
            <a:r>
              <a:rPr lang="en-US" sz="2200" b="1" dirty="0" smtClean="0">
                <a:latin typeface="Helvetica" pitchFamily="34" charset="0"/>
              </a:rPr>
              <a:t>Identify &amp; quantify positions to be advertised</a:t>
            </a:r>
          </a:p>
          <a:p>
            <a:pPr marL="360000" indent="-360000">
              <a:spcBef>
                <a:spcPts val="600"/>
              </a:spcBef>
              <a:spcAft>
                <a:spcPts val="1200"/>
              </a:spcAft>
            </a:pPr>
            <a:r>
              <a:rPr lang="en-US" sz="2200" b="1" dirty="0" smtClean="0">
                <a:latin typeface="Helvetica" pitchFamily="34" charset="0"/>
              </a:rPr>
              <a:t>Develop key selection criteria for each position to be advertised</a:t>
            </a:r>
          </a:p>
          <a:p>
            <a:pPr marL="360000" indent="-360000">
              <a:spcBef>
                <a:spcPts val="600"/>
              </a:spcBef>
              <a:spcAft>
                <a:spcPts val="1200"/>
              </a:spcAft>
            </a:pPr>
            <a:r>
              <a:rPr lang="en-US" sz="2200" b="1" dirty="0" smtClean="0">
                <a:latin typeface="Helvetica" pitchFamily="34" charset="0"/>
              </a:rPr>
              <a:t>Obtain authority to recruit staff</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5" name="Picture 4" descr="j0438585.jpg"/>
          <p:cNvPicPr>
            <a:picLocks noChangeAspect="1"/>
          </p:cNvPicPr>
          <p:nvPr/>
        </p:nvPicPr>
        <p:blipFill>
          <a:blip r:embed="rId3" cstate="print"/>
          <a:stretch>
            <a:fillRect/>
          </a:stretch>
        </p:blipFill>
        <p:spPr>
          <a:xfrm>
            <a:off x="5436096" y="4221088"/>
            <a:ext cx="3128392" cy="2076656"/>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Recruit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Identify sources of staff</a:t>
            </a:r>
          </a:p>
          <a:p>
            <a:pPr marL="360000" indent="-360000">
              <a:spcBef>
                <a:spcPts val="600"/>
              </a:spcBef>
              <a:spcAft>
                <a:spcPts val="1200"/>
              </a:spcAft>
            </a:pPr>
            <a:r>
              <a:rPr lang="en-US" sz="2200" b="1" dirty="0" smtClean="0">
                <a:latin typeface="Helvetica" pitchFamily="34" charset="0"/>
              </a:rPr>
              <a:t>Develop &amp; lodge job advertisements with identified sources of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5" name="Picture 4" descr="j0411831.jpg"/>
          <p:cNvPicPr>
            <a:picLocks noChangeAspect="1"/>
          </p:cNvPicPr>
          <p:nvPr/>
        </p:nvPicPr>
        <p:blipFill>
          <a:blip r:embed="rId3" cstate="print"/>
          <a:stretch>
            <a:fillRect/>
          </a:stretch>
        </p:blipFill>
        <p:spPr>
          <a:xfrm>
            <a:off x="5148064" y="3645024"/>
            <a:ext cx="3275349" cy="2182713"/>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&amp; quantify positions to be advertised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4525963"/>
          </a:xfrm>
        </p:spPr>
        <p:txBody>
          <a:bodyPr>
            <a:normAutofit/>
          </a:bodyPr>
          <a:lstStyle/>
          <a:p>
            <a:pPr marL="0" indent="0">
              <a:spcBef>
                <a:spcPts val="600"/>
              </a:spcBef>
              <a:spcAft>
                <a:spcPts val="1200"/>
              </a:spcAft>
              <a:buNone/>
            </a:pPr>
            <a:r>
              <a:rPr lang="en-US" sz="2200" b="1" dirty="0" smtClean="0">
                <a:latin typeface="Helvetica" pitchFamily="34" charset="0"/>
              </a:rPr>
              <a:t>Factor to consider when deciding jobs to recruit for:</a:t>
            </a:r>
          </a:p>
          <a:p>
            <a:pPr marL="360000" indent="-360000">
              <a:spcBef>
                <a:spcPts val="600"/>
              </a:spcBef>
              <a:spcAft>
                <a:spcPts val="1200"/>
              </a:spcAft>
            </a:pPr>
            <a:r>
              <a:rPr lang="en-US" sz="2200" b="1" dirty="0" smtClean="0">
                <a:latin typeface="Helvetica" pitchFamily="34" charset="0"/>
              </a:rPr>
              <a:t>Information in Job Descriptions</a:t>
            </a:r>
          </a:p>
          <a:p>
            <a:pPr marL="360000" indent="-360000">
              <a:spcBef>
                <a:spcPts val="600"/>
              </a:spcBef>
              <a:spcAft>
                <a:spcPts val="1200"/>
              </a:spcAft>
            </a:pPr>
            <a:r>
              <a:rPr lang="en-US" sz="2200" b="1" dirty="0" smtClean="0">
                <a:latin typeface="Helvetica" pitchFamily="34" charset="0"/>
              </a:rPr>
              <a:t>Integration of work to be done with existing staff</a:t>
            </a:r>
          </a:p>
          <a:p>
            <a:pPr marL="360000" indent="-360000">
              <a:spcBef>
                <a:spcPts val="600"/>
              </a:spcBef>
              <a:spcAft>
                <a:spcPts val="1200"/>
              </a:spcAft>
            </a:pPr>
            <a:r>
              <a:rPr lang="en-US" sz="2200" b="1" dirty="0" smtClean="0">
                <a:latin typeface="Helvetica" pitchFamily="34" charset="0"/>
              </a:rPr>
              <a:t>Owner preference</a:t>
            </a:r>
          </a:p>
          <a:p>
            <a:pPr marL="360000" indent="-360000">
              <a:spcBef>
                <a:spcPts val="600"/>
              </a:spcBef>
              <a:spcAft>
                <a:spcPts val="1200"/>
              </a:spcAft>
            </a:pPr>
            <a:r>
              <a:rPr lang="en-US" sz="2200" b="1" dirty="0" smtClean="0">
                <a:latin typeface="Helvetica" pitchFamily="34" charset="0"/>
              </a:rPr>
              <a:t>Complaints received from customers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5" name="Picture 4" descr="MP900431755[1].JPG"/>
          <p:cNvPicPr>
            <a:picLocks noChangeAspect="1"/>
          </p:cNvPicPr>
          <p:nvPr/>
        </p:nvPicPr>
        <p:blipFill>
          <a:blip r:embed="rId3" cstate="print"/>
          <a:stretch>
            <a:fillRect/>
          </a:stretch>
        </p:blipFill>
        <p:spPr>
          <a:xfrm>
            <a:off x="5796136" y="4221088"/>
            <a:ext cx="3059240" cy="2038697"/>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&amp; quantify positions to be advertised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360000" indent="-360000">
              <a:spcBef>
                <a:spcPts val="600"/>
              </a:spcBef>
              <a:spcAft>
                <a:spcPts val="1200"/>
              </a:spcAft>
            </a:pPr>
            <a:r>
              <a:rPr lang="en-US" sz="2200" b="1" dirty="0" smtClean="0">
                <a:latin typeface="Helvetica" pitchFamily="34" charset="0"/>
              </a:rPr>
              <a:t>Levels of business performance</a:t>
            </a:r>
          </a:p>
          <a:p>
            <a:pPr marL="360000" indent="-360000">
              <a:spcBef>
                <a:spcPts val="600"/>
              </a:spcBef>
              <a:spcAft>
                <a:spcPts val="1200"/>
              </a:spcAft>
            </a:pPr>
            <a:r>
              <a:rPr lang="en-US" sz="2200" b="1" dirty="0" smtClean="0">
                <a:latin typeface="Helvetica" pitchFamily="34" charset="0"/>
              </a:rPr>
              <a:t>Strategic business direction</a:t>
            </a:r>
          </a:p>
          <a:p>
            <a:pPr marL="360000" indent="-360000">
              <a:spcBef>
                <a:spcPts val="600"/>
              </a:spcBef>
              <a:spcAft>
                <a:spcPts val="1200"/>
              </a:spcAft>
            </a:pPr>
            <a:r>
              <a:rPr lang="en-US" sz="2200" b="1" dirty="0" smtClean="0">
                <a:latin typeface="Helvetica" pitchFamily="34" charset="0"/>
              </a:rPr>
              <a:t>New products or services</a:t>
            </a:r>
          </a:p>
          <a:p>
            <a:pPr marL="360000" indent="-360000">
              <a:spcBef>
                <a:spcPts val="600"/>
              </a:spcBef>
              <a:spcAft>
                <a:spcPts val="1200"/>
              </a:spcAft>
            </a:pPr>
            <a:r>
              <a:rPr lang="en-US" sz="2200" b="1" dirty="0" smtClean="0">
                <a:latin typeface="Helvetica" pitchFamily="34" charset="0"/>
              </a:rPr>
              <a:t>Revisions to previous allocation                                                      of tasks to positions.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5" name="Picture 4" descr="00341457.jpg"/>
          <p:cNvPicPr>
            <a:picLocks noChangeAspect="1"/>
          </p:cNvPicPr>
          <p:nvPr/>
        </p:nvPicPr>
        <p:blipFill>
          <a:blip r:embed="rId3" cstate="print"/>
          <a:stretch>
            <a:fillRect/>
          </a:stretch>
        </p:blipFill>
        <p:spPr>
          <a:xfrm>
            <a:off x="6372200" y="3026562"/>
            <a:ext cx="2177040" cy="3051925"/>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&amp; quantify positions to be advertised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752528"/>
          </a:xfrm>
        </p:spPr>
        <p:txBody>
          <a:bodyPr>
            <a:normAutofit/>
          </a:bodyPr>
          <a:lstStyle/>
          <a:p>
            <a:pPr marL="0" indent="0">
              <a:spcBef>
                <a:spcPts val="600"/>
              </a:spcBef>
              <a:spcAft>
                <a:spcPts val="1200"/>
              </a:spcAft>
              <a:buNone/>
            </a:pPr>
            <a:r>
              <a:rPr lang="en-US" sz="2200" b="1" dirty="0" smtClean="0">
                <a:latin typeface="Helvetica" pitchFamily="34" charset="0"/>
              </a:rPr>
              <a:t>Factors to consider when determining number of jobs to be advertised:</a:t>
            </a:r>
          </a:p>
          <a:p>
            <a:pPr marL="360000" indent="-360000">
              <a:spcBef>
                <a:spcPts val="600"/>
              </a:spcBef>
              <a:spcAft>
                <a:spcPts val="1200"/>
              </a:spcAft>
            </a:pPr>
            <a:r>
              <a:rPr lang="en-US" sz="2200" b="1" dirty="0" smtClean="0">
                <a:latin typeface="Helvetica" pitchFamily="34" charset="0"/>
              </a:rPr>
              <a:t>Service levels</a:t>
            </a:r>
          </a:p>
          <a:p>
            <a:pPr marL="360000" indent="-360000">
              <a:spcBef>
                <a:spcPts val="600"/>
              </a:spcBef>
              <a:spcAft>
                <a:spcPts val="1200"/>
              </a:spcAft>
            </a:pPr>
            <a:r>
              <a:rPr lang="en-US" sz="2200" b="1" dirty="0" smtClean="0">
                <a:latin typeface="Helvetica" pitchFamily="34" charset="0"/>
              </a:rPr>
              <a:t>Peaks &amp; troughs of trade</a:t>
            </a:r>
          </a:p>
          <a:p>
            <a:pPr marL="360000" indent="-360000">
              <a:spcBef>
                <a:spcPts val="600"/>
              </a:spcBef>
              <a:spcAft>
                <a:spcPts val="1200"/>
              </a:spcAft>
            </a:pPr>
            <a:r>
              <a:rPr lang="en-US" sz="2200" b="1" dirty="0" smtClean="0">
                <a:latin typeface="Helvetica" pitchFamily="34" charset="0"/>
              </a:rPr>
              <a:t>Waiting times</a:t>
            </a:r>
          </a:p>
          <a:p>
            <a:pPr marL="360000" indent="-360000">
              <a:spcBef>
                <a:spcPts val="600"/>
              </a:spcBef>
              <a:spcAft>
                <a:spcPts val="1200"/>
              </a:spcAft>
            </a:pPr>
            <a:r>
              <a:rPr lang="en-US" sz="2200" b="1" dirty="0" smtClean="0">
                <a:latin typeface="Helvetica" pitchFamily="34" charset="0"/>
              </a:rPr>
              <a:t>Trading times</a:t>
            </a:r>
          </a:p>
          <a:p>
            <a:pPr marL="360000" indent="-360000">
              <a:spcBef>
                <a:spcPts val="600"/>
              </a:spcBef>
              <a:spcAft>
                <a:spcPts val="1200"/>
              </a:spcAft>
              <a:buNone/>
            </a:pPr>
            <a:r>
              <a:rPr lang="en-US" sz="2200" b="1" dirty="0" smtClean="0">
                <a:latin typeface="Helvetica" pitchFamily="34" charset="0"/>
              </a:rPr>
              <a:t>(continue)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5" name="Picture 4" descr="Event 31.JPG"/>
          <p:cNvPicPr>
            <a:picLocks noChangeAspect="1"/>
          </p:cNvPicPr>
          <p:nvPr/>
        </p:nvPicPr>
        <p:blipFill>
          <a:blip r:embed="rId3" cstate="print"/>
          <a:stretch>
            <a:fillRect/>
          </a:stretch>
        </p:blipFill>
        <p:spPr>
          <a:xfrm>
            <a:off x="5364088" y="3933056"/>
            <a:ext cx="3167844" cy="2111896"/>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&amp; quantify positions to be advertised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525963"/>
          </a:xfrm>
        </p:spPr>
        <p:txBody>
          <a:bodyPr>
            <a:normAutofit/>
          </a:bodyPr>
          <a:lstStyle/>
          <a:p>
            <a:pPr marL="360000" indent="-360000">
              <a:spcBef>
                <a:spcPts val="600"/>
              </a:spcBef>
              <a:spcAft>
                <a:spcPts val="1200"/>
              </a:spcAft>
            </a:pPr>
            <a:r>
              <a:rPr lang="en-US" sz="2200" b="1" dirty="0" err="1" smtClean="0">
                <a:latin typeface="Helvetica" pitchFamily="34" charset="0"/>
              </a:rPr>
              <a:t>Labour</a:t>
            </a:r>
            <a:r>
              <a:rPr lang="en-US" sz="2200" b="1" dirty="0" smtClean="0">
                <a:latin typeface="Helvetica" pitchFamily="34" charset="0"/>
              </a:rPr>
              <a:t> budget</a:t>
            </a:r>
          </a:p>
          <a:p>
            <a:pPr marL="360000" indent="-360000">
              <a:spcBef>
                <a:spcPts val="600"/>
              </a:spcBef>
              <a:spcAft>
                <a:spcPts val="1200"/>
              </a:spcAft>
            </a:pPr>
            <a:r>
              <a:rPr lang="en-US" sz="2200" b="1" dirty="0" smtClean="0">
                <a:latin typeface="Helvetica" pitchFamily="34" charset="0"/>
              </a:rPr>
              <a:t>Organisational chart requirements</a:t>
            </a:r>
          </a:p>
          <a:p>
            <a:pPr marL="360000" indent="-360000">
              <a:spcBef>
                <a:spcPts val="600"/>
              </a:spcBef>
              <a:spcAft>
                <a:spcPts val="1200"/>
              </a:spcAft>
            </a:pPr>
            <a:r>
              <a:rPr lang="en-US" sz="2200" b="1" dirty="0" smtClean="0">
                <a:latin typeface="Helvetica" pitchFamily="34" charset="0"/>
              </a:rPr>
              <a:t>Personal knowledge about the business, local area, upcoming events &amp; historical data</a:t>
            </a:r>
          </a:p>
          <a:p>
            <a:pPr marL="360000" indent="-360000">
              <a:spcBef>
                <a:spcPts val="600"/>
              </a:spcBef>
              <a:spcAft>
                <a:spcPts val="1200"/>
              </a:spcAft>
            </a:pPr>
            <a:r>
              <a:rPr lang="en-US" sz="2200" b="1" dirty="0" smtClean="0">
                <a:latin typeface="Helvetica" pitchFamily="34" charset="0"/>
              </a:rPr>
              <a:t>Contractual obligations.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5" name="Picture 4" descr="F1100031_75%.jpg"/>
          <p:cNvPicPr>
            <a:picLocks noChangeAspect="1"/>
          </p:cNvPicPr>
          <p:nvPr/>
        </p:nvPicPr>
        <p:blipFill>
          <a:blip r:embed="rId3" cstate="print"/>
          <a:stretch>
            <a:fillRect/>
          </a:stretch>
        </p:blipFill>
        <p:spPr>
          <a:xfrm>
            <a:off x="6516216" y="3429000"/>
            <a:ext cx="1745674" cy="2607176"/>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key selection criteria for each position to be advertised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525963"/>
          </a:xfrm>
        </p:spPr>
        <p:txBody>
          <a:bodyPr>
            <a:normAutofit/>
          </a:bodyPr>
          <a:lstStyle/>
          <a:p>
            <a:pPr marL="0" indent="0">
              <a:spcBef>
                <a:spcPts val="600"/>
              </a:spcBef>
              <a:spcAft>
                <a:spcPts val="1200"/>
              </a:spcAft>
              <a:buNone/>
            </a:pPr>
            <a:r>
              <a:rPr lang="en-US" sz="2200" b="1" dirty="0" smtClean="0">
                <a:latin typeface="Helvetica" pitchFamily="34" charset="0"/>
              </a:rPr>
              <a:t>Key Selection Criteria (KSC or ‘Selection Criteria’):</a:t>
            </a:r>
          </a:p>
          <a:p>
            <a:pPr marL="360000" indent="-360000">
              <a:spcBef>
                <a:spcPts val="600"/>
              </a:spcBef>
              <a:spcAft>
                <a:spcPts val="1200"/>
              </a:spcAft>
            </a:pPr>
            <a:r>
              <a:rPr lang="en-US" sz="2200" b="1" dirty="0" smtClean="0">
                <a:latin typeface="Helvetica" pitchFamily="34" charset="0"/>
              </a:rPr>
              <a:t>Must be developed before advertising vacancies or interviews</a:t>
            </a:r>
          </a:p>
          <a:p>
            <a:pPr marL="360000" indent="-360000">
              <a:spcBef>
                <a:spcPts val="600"/>
              </a:spcBef>
              <a:spcAft>
                <a:spcPts val="1200"/>
              </a:spcAft>
            </a:pPr>
            <a:r>
              <a:rPr lang="en-US" sz="2200" b="1" dirty="0" smtClean="0">
                <a:latin typeface="Helvetica" pitchFamily="34" charset="0"/>
              </a:rPr>
              <a:t>Must be based on Job Statement</a:t>
            </a:r>
          </a:p>
          <a:p>
            <a:pPr marL="360000" indent="-360000">
              <a:spcBef>
                <a:spcPts val="600"/>
              </a:spcBef>
              <a:spcAft>
                <a:spcPts val="1200"/>
              </a:spcAft>
            </a:pPr>
            <a:r>
              <a:rPr lang="en-US" sz="2200" b="1" dirty="0" smtClean="0">
                <a:latin typeface="Helvetica" pitchFamily="34" charset="0"/>
              </a:rPr>
              <a:t>Must reflect the major requirements of the position</a:t>
            </a:r>
          </a:p>
          <a:p>
            <a:pPr marL="360000" indent="-360000">
              <a:spcBef>
                <a:spcPts val="600"/>
              </a:spcBef>
              <a:spcAft>
                <a:spcPts val="1200"/>
              </a:spcAft>
            </a:pPr>
            <a:r>
              <a:rPr lang="en-US" sz="2200" b="1" dirty="0" smtClean="0">
                <a:latin typeface="Helvetica" pitchFamily="34" charset="0"/>
              </a:rPr>
              <a:t>They are non-negotiable requirements.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00409033.jpg"/>
          <p:cNvPicPr>
            <a:picLocks noChangeAspect="1"/>
          </p:cNvPicPr>
          <p:nvPr/>
        </p:nvPicPr>
        <p:blipFill>
          <a:blip r:embed="rId3" cstate="print"/>
          <a:stretch>
            <a:fillRect/>
          </a:stretch>
        </p:blipFill>
        <p:spPr>
          <a:xfrm>
            <a:off x="6588224" y="4293096"/>
            <a:ext cx="1988840" cy="198884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key selection criteria for each position to be advertised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0" indent="0">
              <a:spcBef>
                <a:spcPts val="600"/>
              </a:spcBef>
              <a:spcAft>
                <a:spcPts val="1200"/>
              </a:spcAft>
              <a:buNone/>
            </a:pPr>
            <a:r>
              <a:rPr lang="en-US" sz="2200" b="1" dirty="0" smtClean="0">
                <a:latin typeface="Helvetica" pitchFamily="34" charset="0"/>
              </a:rPr>
              <a:t>KSC should:</a:t>
            </a:r>
          </a:p>
          <a:p>
            <a:pPr marL="360000" indent="-360000">
              <a:spcBef>
                <a:spcPts val="600"/>
              </a:spcBef>
              <a:spcAft>
                <a:spcPts val="1200"/>
              </a:spcAft>
            </a:pPr>
            <a:r>
              <a:rPr lang="en-US" sz="2200" b="1" dirty="0" smtClean="0">
                <a:latin typeface="Helvetica" pitchFamily="34" charset="0"/>
              </a:rPr>
              <a:t>Be in writing</a:t>
            </a:r>
          </a:p>
          <a:p>
            <a:pPr marL="360000" indent="-360000">
              <a:spcBef>
                <a:spcPts val="600"/>
              </a:spcBef>
              <a:spcAft>
                <a:spcPts val="1200"/>
              </a:spcAft>
            </a:pPr>
            <a:r>
              <a:rPr lang="en-US" sz="2200" b="1" dirty="0" smtClean="0">
                <a:latin typeface="Helvetica" pitchFamily="34" charset="0"/>
              </a:rPr>
              <a:t>Developed in conjunction with relevant others</a:t>
            </a:r>
          </a:p>
          <a:p>
            <a:pPr marL="360000" indent="-360000">
              <a:spcBef>
                <a:spcPts val="600"/>
              </a:spcBef>
              <a:spcAft>
                <a:spcPts val="1200"/>
              </a:spcAft>
            </a:pPr>
            <a:r>
              <a:rPr lang="en-US" sz="2200" b="1" dirty="0" smtClean="0">
                <a:latin typeface="Helvetica" pitchFamily="34" charset="0"/>
              </a:rPr>
              <a:t>Shared with those who will interview applicants.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5" name="Picture 4" descr="00408870.jpg"/>
          <p:cNvPicPr>
            <a:picLocks noChangeAspect="1"/>
          </p:cNvPicPr>
          <p:nvPr/>
        </p:nvPicPr>
        <p:blipFill>
          <a:blip r:embed="rId3" cstate="print"/>
          <a:stretch>
            <a:fillRect/>
          </a:stretch>
        </p:blipFill>
        <p:spPr>
          <a:xfrm>
            <a:off x="5940152" y="4005064"/>
            <a:ext cx="2492896" cy="2492896"/>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key selection criteria for each position to be advertised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752528"/>
          </a:xfrm>
        </p:spPr>
        <p:txBody>
          <a:bodyPr>
            <a:normAutofit/>
          </a:bodyPr>
          <a:lstStyle/>
          <a:p>
            <a:pPr marL="0" indent="0">
              <a:spcBef>
                <a:spcPts val="600"/>
              </a:spcBef>
              <a:spcAft>
                <a:spcPts val="1200"/>
              </a:spcAft>
              <a:buNone/>
            </a:pPr>
            <a:r>
              <a:rPr lang="en-US" sz="2200" b="1" dirty="0" smtClean="0">
                <a:latin typeface="Helvetica" pitchFamily="34" charset="0"/>
              </a:rPr>
              <a:t>Key Selection Criteria:</a:t>
            </a:r>
          </a:p>
          <a:p>
            <a:pPr marL="360000" indent="-360000">
              <a:spcBef>
                <a:spcPts val="600"/>
              </a:spcBef>
              <a:spcAft>
                <a:spcPts val="1200"/>
              </a:spcAft>
            </a:pPr>
            <a:r>
              <a:rPr lang="en-US" sz="2200" b="1" dirty="0" smtClean="0">
                <a:latin typeface="Helvetica" pitchFamily="34" charset="0"/>
              </a:rPr>
              <a:t>Vary between businesses</a:t>
            </a:r>
          </a:p>
          <a:p>
            <a:pPr marL="360000" indent="-360000">
              <a:spcBef>
                <a:spcPts val="600"/>
              </a:spcBef>
              <a:spcAft>
                <a:spcPts val="1200"/>
              </a:spcAft>
            </a:pPr>
            <a:r>
              <a:rPr lang="en-US" sz="2200" b="1" dirty="0" smtClean="0">
                <a:latin typeface="Helvetica" pitchFamily="34" charset="0"/>
              </a:rPr>
              <a:t>Will address:</a:t>
            </a:r>
          </a:p>
          <a:p>
            <a:pPr marL="661752" lvl="1" indent="-360000">
              <a:spcBef>
                <a:spcPts val="600"/>
              </a:spcBef>
              <a:spcAft>
                <a:spcPts val="1200"/>
              </a:spcAft>
            </a:pPr>
            <a:r>
              <a:rPr lang="en-US" sz="2200" b="1" dirty="0" smtClean="0">
                <a:latin typeface="Helvetica" pitchFamily="34" charset="0"/>
              </a:rPr>
              <a:t>Competencies</a:t>
            </a:r>
          </a:p>
          <a:p>
            <a:pPr marL="661752" lvl="1" indent="-360000">
              <a:spcBef>
                <a:spcPts val="600"/>
              </a:spcBef>
              <a:spcAft>
                <a:spcPts val="1200"/>
              </a:spcAft>
            </a:pPr>
            <a:r>
              <a:rPr lang="en-US" sz="2200" b="1" dirty="0" smtClean="0">
                <a:latin typeface="Helvetica" pitchFamily="34" charset="0"/>
              </a:rPr>
              <a:t>Experience</a:t>
            </a:r>
          </a:p>
          <a:p>
            <a:pPr marL="0" lvl="1" indent="0">
              <a:spcBef>
                <a:spcPts val="600"/>
              </a:spcBef>
              <a:spcAft>
                <a:spcPts val="1200"/>
              </a:spcAft>
              <a:buNone/>
            </a:pPr>
            <a:r>
              <a:rPr lang="en-US" sz="2200" b="1" dirty="0" smtClean="0">
                <a:latin typeface="Helvetica" pitchFamily="34" charset="0"/>
              </a:rPr>
              <a:t>(Continue)</a:t>
            </a:r>
          </a:p>
          <a:p>
            <a:pPr marL="661752" lvl="1"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5" name="Picture 4" descr="00402960.jpg"/>
          <p:cNvPicPr>
            <a:picLocks noChangeAspect="1"/>
          </p:cNvPicPr>
          <p:nvPr/>
        </p:nvPicPr>
        <p:blipFill>
          <a:blip r:embed="rId3" cstate="print"/>
          <a:stretch>
            <a:fillRect/>
          </a:stretch>
        </p:blipFill>
        <p:spPr>
          <a:xfrm>
            <a:off x="5220072" y="4077072"/>
            <a:ext cx="2996952" cy="1997968"/>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key selection criteria for each position to be advertised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Qualifications</a:t>
            </a:r>
          </a:p>
          <a:p>
            <a:pPr marL="360000" indent="-360000">
              <a:spcBef>
                <a:spcPts val="600"/>
              </a:spcBef>
              <a:spcAft>
                <a:spcPts val="1200"/>
              </a:spcAft>
            </a:pPr>
            <a:r>
              <a:rPr lang="en-US" sz="2200" b="1" dirty="0" smtClean="0">
                <a:latin typeface="Helvetica" pitchFamily="34" charset="0"/>
              </a:rPr>
              <a:t>Compatibility</a:t>
            </a:r>
          </a:p>
          <a:p>
            <a:pPr marL="360000" indent="-360000">
              <a:spcBef>
                <a:spcPts val="600"/>
              </a:spcBef>
              <a:spcAft>
                <a:spcPts val="1200"/>
              </a:spcAft>
            </a:pPr>
            <a:r>
              <a:rPr lang="en-US" sz="2200" b="1" dirty="0" smtClean="0">
                <a:latin typeface="Helvetica" pitchFamily="34" charset="0"/>
              </a:rPr>
              <a:t>Form the basis of ‘Interview Rating Sheets’.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6" name="Picture 5" descr="MP900185080[1].JPG"/>
          <p:cNvPicPr>
            <a:picLocks noChangeAspect="1"/>
          </p:cNvPicPr>
          <p:nvPr/>
        </p:nvPicPr>
        <p:blipFill>
          <a:blip r:embed="rId3" cstate="print"/>
          <a:stretch>
            <a:fillRect/>
          </a:stretch>
        </p:blipFill>
        <p:spPr>
          <a:xfrm>
            <a:off x="6735840" y="3789040"/>
            <a:ext cx="1726912" cy="2577480"/>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authority to recruit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824536"/>
          </a:xfrm>
        </p:spPr>
        <p:txBody>
          <a:bodyPr>
            <a:normAutofit/>
          </a:bodyPr>
          <a:lstStyle/>
          <a:p>
            <a:pPr marL="0" indent="0">
              <a:spcBef>
                <a:spcPts val="600"/>
              </a:spcBef>
              <a:spcAft>
                <a:spcPts val="1200"/>
              </a:spcAft>
              <a:buNone/>
            </a:pPr>
            <a:r>
              <a:rPr lang="en-US" sz="2200" b="1" dirty="0" smtClean="0">
                <a:latin typeface="Helvetica" pitchFamily="34" charset="0"/>
              </a:rPr>
              <a:t>Authority to recruit staff for any business commonly rests with limited personnel:</a:t>
            </a:r>
          </a:p>
          <a:p>
            <a:pPr marL="360000" indent="-360000">
              <a:spcBef>
                <a:spcPts val="600"/>
              </a:spcBef>
              <a:spcAft>
                <a:spcPts val="1200"/>
              </a:spcAft>
            </a:pPr>
            <a:r>
              <a:rPr lang="en-US" sz="2200" b="1" dirty="0" smtClean="0">
                <a:latin typeface="Helvetica" pitchFamily="34" charset="0"/>
              </a:rPr>
              <a:t>May rest with owner or manager</a:t>
            </a:r>
          </a:p>
          <a:p>
            <a:pPr marL="360000" indent="-360000">
              <a:spcBef>
                <a:spcPts val="600"/>
              </a:spcBef>
              <a:spcAft>
                <a:spcPts val="1200"/>
              </a:spcAft>
            </a:pPr>
            <a:r>
              <a:rPr lang="en-US" sz="2200" b="1" dirty="0" smtClean="0">
                <a:latin typeface="Helvetica" pitchFamily="34" charset="0"/>
              </a:rPr>
              <a:t>You will have little or no authority when you start</a:t>
            </a:r>
          </a:p>
          <a:p>
            <a:pPr marL="360000" indent="-360000">
              <a:spcBef>
                <a:spcPts val="600"/>
              </a:spcBef>
              <a:spcAft>
                <a:spcPts val="1200"/>
              </a:spcAft>
            </a:pPr>
            <a:r>
              <a:rPr lang="en-US" sz="2200" b="1" dirty="0" smtClean="0">
                <a:latin typeface="Helvetica" pitchFamily="34" charset="0"/>
              </a:rPr>
              <a:t>You will have to earn management/owner confidence</a:t>
            </a:r>
          </a:p>
          <a:p>
            <a:pPr marL="360000" indent="-360000">
              <a:spcBef>
                <a:spcPts val="600"/>
              </a:spcBef>
              <a:spcAft>
                <a:spcPts val="1200"/>
              </a:spcAft>
            </a:pPr>
            <a:r>
              <a:rPr lang="en-US" sz="2200" b="1" dirty="0" smtClean="0">
                <a:latin typeface="Helvetica" pitchFamily="34" charset="0"/>
              </a:rPr>
              <a:t>To begin with you will always need                                      permission to ‘hire or fire’.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5" name="Picture 4" descr="00439597.png"/>
          <p:cNvPicPr>
            <a:picLocks noChangeAspect="1"/>
          </p:cNvPicPr>
          <p:nvPr/>
        </p:nvPicPr>
        <p:blipFill>
          <a:blip r:embed="rId3" cstate="print"/>
          <a:stretch>
            <a:fillRect/>
          </a:stretch>
        </p:blipFill>
        <p:spPr>
          <a:xfrm>
            <a:off x="6804248" y="4437112"/>
            <a:ext cx="1452262" cy="2162944"/>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authority to recruit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0" indent="0">
              <a:spcBef>
                <a:spcPts val="600"/>
              </a:spcBef>
              <a:spcAft>
                <a:spcPts val="1200"/>
              </a:spcAft>
              <a:buNone/>
            </a:pPr>
            <a:r>
              <a:rPr lang="en-US" sz="2200" b="1" dirty="0" smtClean="0">
                <a:latin typeface="Helvetica" pitchFamily="34" charset="0"/>
              </a:rPr>
              <a:t>Approval to hire staff may be given:</a:t>
            </a:r>
          </a:p>
          <a:p>
            <a:pPr marL="360000" indent="-360000">
              <a:spcBef>
                <a:spcPts val="600"/>
              </a:spcBef>
              <a:spcAft>
                <a:spcPts val="1200"/>
              </a:spcAft>
            </a:pPr>
            <a:r>
              <a:rPr lang="en-US" sz="2200" b="1" dirty="0" smtClean="0">
                <a:latin typeface="Helvetica" pitchFamily="34" charset="0"/>
              </a:rPr>
              <a:t>Only in verbal form – no supporting documentation necessary</a:t>
            </a:r>
          </a:p>
          <a:p>
            <a:pPr marL="360000" indent="-360000">
              <a:spcBef>
                <a:spcPts val="600"/>
              </a:spcBef>
              <a:spcAft>
                <a:spcPts val="1200"/>
              </a:spcAft>
            </a:pPr>
            <a:r>
              <a:rPr lang="en-US" sz="2200" b="1" dirty="0" smtClean="0">
                <a:latin typeface="Helvetica" pitchFamily="34" charset="0"/>
              </a:rPr>
              <a:t>Only in written form – detailing the position &amp; other key points.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5" name="Picture 4" descr="00443186.jpg"/>
          <p:cNvPicPr>
            <a:picLocks noChangeAspect="1"/>
          </p:cNvPicPr>
          <p:nvPr/>
        </p:nvPicPr>
        <p:blipFill>
          <a:blip r:embed="rId3" cstate="print"/>
          <a:stretch>
            <a:fillRect/>
          </a:stretch>
        </p:blipFill>
        <p:spPr>
          <a:xfrm>
            <a:off x="5654032" y="4149080"/>
            <a:ext cx="2961330" cy="1970732"/>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authority to recruit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24536"/>
          </a:xfrm>
        </p:spPr>
        <p:txBody>
          <a:bodyPr>
            <a:normAutofit/>
          </a:bodyPr>
          <a:lstStyle/>
          <a:p>
            <a:pPr marL="0" indent="0">
              <a:spcBef>
                <a:spcPts val="600"/>
              </a:spcBef>
              <a:spcAft>
                <a:spcPts val="1200"/>
              </a:spcAft>
              <a:buNone/>
            </a:pPr>
            <a:r>
              <a:rPr lang="en-US" sz="2200" dirty="0" smtClean="0">
                <a:latin typeface="Helvetica" pitchFamily="34" charset="0"/>
              </a:rPr>
              <a:t>In </a:t>
            </a:r>
            <a:r>
              <a:rPr lang="en-US" sz="2200" b="1" dirty="0" smtClean="0">
                <a:latin typeface="Helvetica" pitchFamily="34" charset="0"/>
              </a:rPr>
              <a:t>order to obtain permission to hire staff you may need to:</a:t>
            </a:r>
          </a:p>
          <a:p>
            <a:pPr marL="360000" indent="-360000">
              <a:spcBef>
                <a:spcPts val="600"/>
              </a:spcBef>
              <a:spcAft>
                <a:spcPts val="1200"/>
              </a:spcAft>
            </a:pPr>
            <a:r>
              <a:rPr lang="en-US" sz="2200" b="1" dirty="0" smtClean="0">
                <a:latin typeface="Helvetica" pitchFamily="34" charset="0"/>
              </a:rPr>
              <a:t>Discuss things with management</a:t>
            </a:r>
          </a:p>
          <a:p>
            <a:pPr marL="360000" indent="-360000">
              <a:spcBef>
                <a:spcPts val="600"/>
              </a:spcBef>
              <a:spcAft>
                <a:spcPts val="1200"/>
              </a:spcAft>
            </a:pPr>
            <a:r>
              <a:rPr lang="en-US" sz="2200" b="1" dirty="0" smtClean="0">
                <a:latin typeface="Helvetica" pitchFamily="34" charset="0"/>
              </a:rPr>
              <a:t>Make a formal presentation</a:t>
            </a:r>
          </a:p>
          <a:p>
            <a:pPr marL="360000" indent="-360000">
              <a:spcBef>
                <a:spcPts val="600"/>
              </a:spcBef>
              <a:spcAft>
                <a:spcPts val="1200"/>
              </a:spcAft>
            </a:pPr>
            <a:r>
              <a:rPr lang="en-US" sz="2200" b="1" dirty="0" smtClean="0">
                <a:latin typeface="Helvetica" pitchFamily="34" charset="0"/>
              </a:rPr>
              <a:t>Demonstrate compliance with workplace policies.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5" name="Picture 4" descr="00422152.jpg"/>
          <p:cNvPicPr>
            <a:picLocks noChangeAspect="1"/>
          </p:cNvPicPr>
          <p:nvPr/>
        </p:nvPicPr>
        <p:blipFill>
          <a:blip r:embed="rId3" cstate="print"/>
          <a:stretch>
            <a:fillRect/>
          </a:stretch>
        </p:blipFill>
        <p:spPr>
          <a:xfrm>
            <a:off x="5436096" y="4149080"/>
            <a:ext cx="2839069" cy="1887537"/>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authority to recruit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824536"/>
          </a:xfrm>
        </p:spPr>
        <p:txBody>
          <a:bodyPr>
            <a:normAutofit/>
          </a:bodyPr>
          <a:lstStyle/>
          <a:p>
            <a:pPr marL="0" indent="0">
              <a:spcBef>
                <a:spcPts val="600"/>
              </a:spcBef>
              <a:spcAft>
                <a:spcPts val="1200"/>
              </a:spcAft>
              <a:buNone/>
            </a:pPr>
            <a:r>
              <a:rPr lang="en-US" sz="2200" b="1" dirty="0" smtClean="0">
                <a:latin typeface="Helvetica" pitchFamily="34" charset="0"/>
              </a:rPr>
              <a:t>You must always comply with workplace recruitment policies, which may relate to:</a:t>
            </a:r>
          </a:p>
          <a:p>
            <a:pPr marL="360000" indent="-360000">
              <a:spcBef>
                <a:spcPts val="600"/>
              </a:spcBef>
              <a:spcAft>
                <a:spcPts val="1200"/>
              </a:spcAft>
            </a:pPr>
            <a:r>
              <a:rPr lang="en-US" sz="2200" b="1" dirty="0" smtClean="0">
                <a:latin typeface="Helvetica" pitchFamily="34" charset="0"/>
              </a:rPr>
              <a:t>Requirements for approval for extra staff</a:t>
            </a:r>
          </a:p>
          <a:p>
            <a:pPr marL="360000" indent="-360000">
              <a:spcBef>
                <a:spcPts val="600"/>
              </a:spcBef>
              <a:spcAft>
                <a:spcPts val="1200"/>
              </a:spcAft>
            </a:pPr>
            <a:r>
              <a:rPr lang="en-US" sz="2200" b="1" dirty="0" smtClean="0">
                <a:latin typeface="Helvetica" pitchFamily="34" charset="0"/>
              </a:rPr>
              <a:t>Requirements for approval for advertising remuneration in job vacancy advertisements</a:t>
            </a:r>
          </a:p>
          <a:p>
            <a:pPr marL="360000" indent="-360000">
              <a:spcBef>
                <a:spcPts val="600"/>
              </a:spcBef>
              <a:spcAft>
                <a:spcPts val="1200"/>
              </a:spcAft>
            </a:pPr>
            <a:r>
              <a:rPr lang="en-US" sz="2200" b="1" dirty="0" smtClean="0">
                <a:latin typeface="Helvetica" pitchFamily="34" charset="0"/>
              </a:rPr>
              <a:t>Preferences in relation to the                                              required profile of job applicants</a:t>
            </a:r>
          </a:p>
          <a:p>
            <a:pPr marL="360000" lvl="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5" name="Picture 4" descr="00302936.jpg"/>
          <p:cNvPicPr>
            <a:picLocks noChangeAspect="1"/>
          </p:cNvPicPr>
          <p:nvPr/>
        </p:nvPicPr>
        <p:blipFill>
          <a:blip r:embed="rId3" cstate="print"/>
          <a:stretch>
            <a:fillRect/>
          </a:stretch>
        </p:blipFill>
        <p:spPr>
          <a:xfrm>
            <a:off x="6660232" y="3933056"/>
            <a:ext cx="1672984" cy="2345305"/>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authority to recruit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24536"/>
          </a:xfrm>
        </p:spPr>
        <p:txBody>
          <a:bodyPr>
            <a:normAutofit/>
          </a:bodyPr>
          <a:lstStyle/>
          <a:p>
            <a:pPr marL="360000" indent="-360000">
              <a:spcBef>
                <a:spcPts val="600"/>
              </a:spcBef>
              <a:spcAft>
                <a:spcPts val="1200"/>
              </a:spcAft>
            </a:pPr>
            <a:r>
              <a:rPr lang="en-US" sz="2200" b="1" dirty="0" smtClean="0">
                <a:latin typeface="Helvetica" pitchFamily="34" charset="0"/>
              </a:rPr>
              <a:t>Nature &amp; content of job vacancy advertisements</a:t>
            </a:r>
          </a:p>
          <a:p>
            <a:pPr marL="360000" indent="-360000">
              <a:spcBef>
                <a:spcPts val="600"/>
              </a:spcBef>
              <a:spcAft>
                <a:spcPts val="1200"/>
              </a:spcAft>
            </a:pPr>
            <a:r>
              <a:rPr lang="en-US" sz="2200" b="1" dirty="0" smtClean="0">
                <a:latin typeface="Helvetica" pitchFamily="34" charset="0"/>
              </a:rPr>
              <a:t>Nature &amp; content of communication with job seekers</a:t>
            </a:r>
          </a:p>
          <a:p>
            <a:pPr marL="360000" indent="-360000">
              <a:spcBef>
                <a:spcPts val="600"/>
              </a:spcBef>
              <a:spcAft>
                <a:spcPts val="1200"/>
              </a:spcAft>
            </a:pPr>
            <a:r>
              <a:rPr lang="en-US" sz="2200" b="1" dirty="0" smtClean="0">
                <a:latin typeface="Helvetica" pitchFamily="34" charset="0"/>
              </a:rPr>
              <a:t>Use of different media or options in the process of advertising for new staff</a:t>
            </a:r>
          </a:p>
          <a:p>
            <a:pPr marL="360000" lvl="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5" name="Picture 4" descr="00438525.jpg"/>
          <p:cNvPicPr>
            <a:picLocks noChangeAspect="1"/>
          </p:cNvPicPr>
          <p:nvPr/>
        </p:nvPicPr>
        <p:blipFill>
          <a:blip r:embed="rId3" cstate="print"/>
          <a:stretch>
            <a:fillRect/>
          </a:stretch>
        </p:blipFill>
        <p:spPr>
          <a:xfrm>
            <a:off x="5328084" y="4005064"/>
            <a:ext cx="3092388" cy="2061592"/>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authority to recruit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752528"/>
          </a:xfrm>
        </p:spPr>
        <p:txBody>
          <a:bodyPr>
            <a:normAutofit/>
          </a:bodyPr>
          <a:lstStyle/>
          <a:p>
            <a:pPr marL="360000" indent="-360000">
              <a:spcBef>
                <a:spcPts val="600"/>
              </a:spcBef>
              <a:spcAft>
                <a:spcPts val="1200"/>
              </a:spcAft>
            </a:pPr>
            <a:r>
              <a:rPr lang="en-US" sz="2200" b="1" dirty="0" smtClean="0">
                <a:latin typeface="Helvetica" pitchFamily="34" charset="0"/>
              </a:rPr>
              <a:t>Consideration of existing staff suitable for promotion</a:t>
            </a:r>
          </a:p>
          <a:p>
            <a:pPr marL="360000" indent="-360000">
              <a:spcBef>
                <a:spcPts val="600"/>
              </a:spcBef>
              <a:spcAft>
                <a:spcPts val="1200"/>
              </a:spcAft>
            </a:pPr>
            <a:r>
              <a:rPr lang="en-US" sz="2200" b="1" dirty="0" smtClean="0">
                <a:latin typeface="Helvetica" pitchFamily="34" charset="0"/>
              </a:rPr>
              <a:t>Consideration of converting staff status</a:t>
            </a:r>
          </a:p>
          <a:p>
            <a:pPr marL="360000" indent="-360000">
              <a:spcBef>
                <a:spcPts val="600"/>
              </a:spcBef>
              <a:spcAft>
                <a:spcPts val="1200"/>
              </a:spcAft>
            </a:pPr>
            <a:r>
              <a:rPr lang="en-US" sz="2200" b="1" dirty="0" smtClean="0">
                <a:latin typeface="Helvetica" pitchFamily="34" charset="0"/>
              </a:rPr>
              <a:t>People who will conduct the job interviews</a:t>
            </a:r>
          </a:p>
          <a:p>
            <a:pPr marL="360000" indent="-360000">
              <a:spcBef>
                <a:spcPts val="600"/>
              </a:spcBef>
              <a:spcAft>
                <a:spcPts val="1200"/>
              </a:spcAft>
            </a:pPr>
            <a:r>
              <a:rPr lang="en-US" sz="2200" b="1" dirty="0" smtClean="0">
                <a:latin typeface="Helvetica" pitchFamily="34" charset="0"/>
              </a:rPr>
              <a:t>Nature of induction &amp; orientation programs</a:t>
            </a:r>
          </a:p>
          <a:p>
            <a:pPr marL="360000" indent="-360000">
              <a:spcBef>
                <a:spcPts val="600"/>
              </a:spcBef>
              <a:spcAft>
                <a:spcPts val="1200"/>
              </a:spcAft>
            </a:pPr>
            <a:r>
              <a:rPr lang="en-US" sz="2200" b="1" dirty="0" smtClean="0">
                <a:latin typeface="Helvetica" pitchFamily="34" charset="0"/>
              </a:rPr>
              <a:t>Role of personnel in the overall process.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5" name="Picture 4" descr="00409035.jpg"/>
          <p:cNvPicPr>
            <a:picLocks noChangeAspect="1"/>
          </p:cNvPicPr>
          <p:nvPr/>
        </p:nvPicPr>
        <p:blipFill>
          <a:blip r:embed="rId3" cstate="print"/>
          <a:stretch>
            <a:fillRect/>
          </a:stretch>
        </p:blipFill>
        <p:spPr>
          <a:xfrm>
            <a:off x="6588224" y="4077072"/>
            <a:ext cx="1988840" cy="1988840"/>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sources of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24536"/>
          </a:xfrm>
        </p:spPr>
        <p:txBody>
          <a:bodyPr>
            <a:normAutofit/>
          </a:bodyPr>
          <a:lstStyle/>
          <a:p>
            <a:pPr marL="0" indent="0">
              <a:spcBef>
                <a:spcPts val="600"/>
              </a:spcBef>
              <a:spcAft>
                <a:spcPts val="1200"/>
              </a:spcAft>
              <a:buNone/>
            </a:pPr>
            <a:r>
              <a:rPr lang="en-US" sz="2200" b="1" dirty="0" smtClean="0">
                <a:latin typeface="Helvetica" pitchFamily="34" charset="0"/>
              </a:rPr>
              <a:t>Each workplace will have its own preferences for recruiting staff based on:</a:t>
            </a:r>
          </a:p>
          <a:p>
            <a:pPr marL="360000" indent="-360000">
              <a:spcBef>
                <a:spcPts val="600"/>
              </a:spcBef>
              <a:spcAft>
                <a:spcPts val="1200"/>
              </a:spcAft>
            </a:pPr>
            <a:r>
              <a:rPr lang="en-US" sz="2200" b="1" dirty="0" smtClean="0">
                <a:latin typeface="Helvetica" pitchFamily="34" charset="0"/>
              </a:rPr>
              <a:t>Their previous experience</a:t>
            </a:r>
          </a:p>
          <a:p>
            <a:pPr marL="360000" indent="-360000">
              <a:spcBef>
                <a:spcPts val="600"/>
              </a:spcBef>
              <a:spcAft>
                <a:spcPts val="1200"/>
              </a:spcAft>
            </a:pPr>
            <a:r>
              <a:rPr lang="en-US" sz="2200" b="1" dirty="0" smtClean="0">
                <a:latin typeface="Helvetica" pitchFamily="34" charset="0"/>
              </a:rPr>
              <a:t>Cost</a:t>
            </a:r>
          </a:p>
          <a:p>
            <a:pPr marL="360000" indent="-360000">
              <a:spcBef>
                <a:spcPts val="600"/>
              </a:spcBef>
              <a:spcAft>
                <a:spcPts val="1200"/>
              </a:spcAft>
            </a:pPr>
            <a:r>
              <a:rPr lang="en-US" sz="2200" b="1" dirty="0" smtClean="0">
                <a:latin typeface="Helvetica" pitchFamily="34" charset="0"/>
              </a:rPr>
              <a:t>Time.</a:t>
            </a:r>
          </a:p>
          <a:p>
            <a:pPr marL="360000" indent="-360000">
              <a:spcBef>
                <a:spcPts val="600"/>
              </a:spcBef>
              <a:spcAft>
                <a:spcPts val="1200"/>
              </a:spcAft>
              <a:buNone/>
            </a:pPr>
            <a:r>
              <a:rPr lang="en-US" sz="2200" b="1" i="1" dirty="0" smtClean="0">
                <a:latin typeface="Helvetica" pitchFamily="34" charset="0"/>
              </a:rPr>
              <a:t>You should align with existing preferences                               when you start advertising for staff.</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5" name="Picture 4" descr="00446975.jpg"/>
          <p:cNvPicPr>
            <a:picLocks noChangeAspect="1"/>
          </p:cNvPicPr>
          <p:nvPr/>
        </p:nvPicPr>
        <p:blipFill>
          <a:blip r:embed="rId3" cstate="print"/>
          <a:stretch>
            <a:fillRect/>
          </a:stretch>
        </p:blipFill>
        <p:spPr>
          <a:xfrm>
            <a:off x="6156176" y="4509120"/>
            <a:ext cx="2660940" cy="1775346"/>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sources of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752528"/>
          </a:xfrm>
        </p:spPr>
        <p:txBody>
          <a:bodyPr>
            <a:normAutofit/>
          </a:bodyPr>
          <a:lstStyle/>
          <a:p>
            <a:pPr marL="0" indent="0">
              <a:spcBef>
                <a:spcPts val="600"/>
              </a:spcBef>
              <a:spcAft>
                <a:spcPts val="1200"/>
              </a:spcAft>
              <a:buNone/>
            </a:pPr>
            <a:r>
              <a:rPr lang="en-US" sz="2200" b="1" dirty="0" smtClean="0">
                <a:latin typeface="Helvetica" pitchFamily="34" charset="0"/>
              </a:rPr>
              <a:t>Media advertisements for staff:</a:t>
            </a:r>
          </a:p>
          <a:p>
            <a:pPr marL="360000" indent="-360000">
              <a:spcBef>
                <a:spcPts val="600"/>
              </a:spcBef>
              <a:spcAft>
                <a:spcPts val="1200"/>
              </a:spcAft>
            </a:pPr>
            <a:r>
              <a:rPr lang="en-US" sz="2200" b="1" dirty="0" smtClean="0">
                <a:latin typeface="Helvetica" pitchFamily="34" charset="0"/>
              </a:rPr>
              <a:t>Most common option – newspapers</a:t>
            </a:r>
          </a:p>
          <a:p>
            <a:pPr marL="360000" indent="-360000">
              <a:spcBef>
                <a:spcPts val="600"/>
              </a:spcBef>
              <a:spcAft>
                <a:spcPts val="1200"/>
              </a:spcAft>
            </a:pPr>
            <a:r>
              <a:rPr lang="en-US" sz="2200" b="1" dirty="0" smtClean="0">
                <a:latin typeface="Helvetica" pitchFamily="34" charset="0"/>
              </a:rPr>
              <a:t>Must be written to help screen applicants</a:t>
            </a:r>
          </a:p>
          <a:p>
            <a:pPr marL="360000" indent="-360000">
              <a:spcBef>
                <a:spcPts val="600"/>
              </a:spcBef>
              <a:spcAft>
                <a:spcPts val="1200"/>
              </a:spcAft>
            </a:pPr>
            <a:r>
              <a:rPr lang="en-US" sz="2200" b="1" dirty="0" smtClean="0">
                <a:latin typeface="Helvetica" pitchFamily="34" charset="0"/>
              </a:rPr>
              <a:t>Radio or TV.</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5" name="Picture 4" descr="00385532.jpg"/>
          <p:cNvPicPr>
            <a:picLocks noChangeAspect="1"/>
          </p:cNvPicPr>
          <p:nvPr/>
        </p:nvPicPr>
        <p:blipFill>
          <a:blip r:embed="rId3" cstate="print"/>
          <a:stretch>
            <a:fillRect/>
          </a:stretch>
        </p:blipFill>
        <p:spPr>
          <a:xfrm>
            <a:off x="6670518" y="3429000"/>
            <a:ext cx="1987681" cy="2782754"/>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sources of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208912" cy="5040560"/>
          </a:xfrm>
        </p:spPr>
        <p:txBody>
          <a:bodyPr>
            <a:normAutofit/>
          </a:bodyPr>
          <a:lstStyle/>
          <a:p>
            <a:pPr marL="0" indent="0">
              <a:spcBef>
                <a:spcPts val="600"/>
              </a:spcBef>
              <a:spcAft>
                <a:spcPts val="1200"/>
              </a:spcAft>
              <a:buNone/>
            </a:pPr>
            <a:r>
              <a:rPr lang="en-US" sz="2200" b="1" dirty="0" smtClean="0">
                <a:latin typeface="Helvetica" pitchFamily="34" charset="0"/>
              </a:rPr>
              <a:t>Recruitment agencies:</a:t>
            </a:r>
          </a:p>
          <a:p>
            <a:pPr marL="360000" indent="-360000">
              <a:spcBef>
                <a:spcPts val="600"/>
              </a:spcBef>
              <a:spcAft>
                <a:spcPts val="1200"/>
              </a:spcAft>
            </a:pPr>
            <a:r>
              <a:rPr lang="en-US" sz="2200" b="1" dirty="0" smtClean="0">
                <a:latin typeface="Helvetica" pitchFamily="34" charset="0"/>
              </a:rPr>
              <a:t>Specialise in recruiting staff for a third party</a:t>
            </a:r>
          </a:p>
          <a:p>
            <a:pPr marL="360000" indent="-360000">
              <a:spcBef>
                <a:spcPts val="600"/>
              </a:spcBef>
              <a:spcAft>
                <a:spcPts val="1200"/>
              </a:spcAft>
            </a:pPr>
            <a:r>
              <a:rPr lang="en-US" sz="2200" b="1" dirty="0" smtClean="0">
                <a:latin typeface="Helvetica" pitchFamily="34" charset="0"/>
              </a:rPr>
              <a:t>Government or private enterprise</a:t>
            </a:r>
          </a:p>
          <a:p>
            <a:pPr marL="360000" indent="-360000">
              <a:spcBef>
                <a:spcPts val="600"/>
              </a:spcBef>
              <a:spcAft>
                <a:spcPts val="1200"/>
              </a:spcAft>
            </a:pPr>
            <a:r>
              <a:rPr lang="en-US" sz="2200" b="1" dirty="0" smtClean="0">
                <a:latin typeface="Helvetica" pitchFamily="34" charset="0"/>
              </a:rPr>
              <a:t>You need to tell them exactly what you want</a:t>
            </a:r>
          </a:p>
          <a:p>
            <a:pPr marL="360000" indent="-360000">
              <a:spcBef>
                <a:spcPts val="600"/>
              </a:spcBef>
              <a:spcAft>
                <a:spcPts val="1200"/>
              </a:spcAft>
            </a:pPr>
            <a:r>
              <a:rPr lang="en-US" sz="2200" b="1" dirty="0" smtClean="0">
                <a:latin typeface="Helvetica" pitchFamily="34" charset="0"/>
              </a:rPr>
              <a:t>Refer suitable candidates for consideration</a:t>
            </a:r>
          </a:p>
          <a:p>
            <a:pPr marL="360000" indent="-360000">
              <a:spcBef>
                <a:spcPts val="600"/>
              </a:spcBef>
              <a:spcAft>
                <a:spcPts val="1200"/>
              </a:spcAft>
            </a:pPr>
            <a:r>
              <a:rPr lang="en-US" sz="2200" b="1" dirty="0" smtClean="0">
                <a:latin typeface="Helvetica" pitchFamily="34" charset="0"/>
              </a:rPr>
              <a:t>It is your decision about whether to hire referrals or not</a:t>
            </a:r>
          </a:p>
          <a:p>
            <a:pPr marL="360000" indent="-360000">
              <a:spcBef>
                <a:spcPts val="600"/>
              </a:spcBef>
              <a:spcAft>
                <a:spcPts val="1200"/>
              </a:spcAft>
            </a:pPr>
            <a:r>
              <a:rPr lang="en-US" sz="2200" b="1" dirty="0" smtClean="0">
                <a:latin typeface="Helvetica" pitchFamily="34" charset="0"/>
              </a:rPr>
              <a:t>A contract may need to be signed</a:t>
            </a:r>
          </a:p>
          <a:p>
            <a:pPr marL="360000" indent="-360000">
              <a:spcBef>
                <a:spcPts val="600"/>
              </a:spcBef>
              <a:spcAft>
                <a:spcPts val="1200"/>
              </a:spcAft>
            </a:pPr>
            <a:r>
              <a:rPr lang="en-US" sz="2200" b="1" dirty="0" smtClean="0">
                <a:latin typeface="Helvetica" pitchFamily="34" charset="0"/>
              </a:rPr>
              <a:t>Fees for finding staff may apply</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5" name="Picture 4" descr="00399315.jpg"/>
          <p:cNvPicPr>
            <a:picLocks noChangeAspect="1"/>
          </p:cNvPicPr>
          <p:nvPr/>
        </p:nvPicPr>
        <p:blipFill>
          <a:blip r:embed="rId3" cstate="print"/>
          <a:stretch>
            <a:fillRect/>
          </a:stretch>
        </p:blipFill>
        <p:spPr>
          <a:xfrm>
            <a:off x="6300192" y="4917090"/>
            <a:ext cx="2317284" cy="1544253"/>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sources of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0" indent="0">
              <a:spcBef>
                <a:spcPts val="600"/>
              </a:spcBef>
              <a:spcAft>
                <a:spcPts val="1200"/>
              </a:spcAft>
              <a:buNone/>
            </a:pPr>
            <a:r>
              <a:rPr lang="en-US" sz="2200" b="1" dirty="0" smtClean="0">
                <a:latin typeface="Helvetica" pitchFamily="34" charset="0"/>
              </a:rPr>
              <a:t>The Internet can be used to source staff by:</a:t>
            </a:r>
          </a:p>
          <a:p>
            <a:pPr marL="360000" indent="-360000">
              <a:spcBef>
                <a:spcPts val="600"/>
              </a:spcBef>
              <a:spcAft>
                <a:spcPts val="1200"/>
              </a:spcAft>
            </a:pPr>
            <a:r>
              <a:rPr lang="en-US" sz="2200" b="1" dirty="0" smtClean="0">
                <a:latin typeface="Helvetica" pitchFamily="34" charset="0"/>
              </a:rPr>
              <a:t>Advertising vacancies on the business’s website – ‘Vacancies’, ‘Careers at XYZ’, ‘Work with Us’</a:t>
            </a:r>
          </a:p>
          <a:p>
            <a:pPr marL="360000" indent="-360000">
              <a:spcBef>
                <a:spcPts val="600"/>
              </a:spcBef>
              <a:spcAft>
                <a:spcPts val="1200"/>
              </a:spcAft>
            </a:pPr>
            <a:r>
              <a:rPr lang="en-US" sz="2200" b="1" dirty="0" smtClean="0">
                <a:latin typeface="Helvetica" pitchFamily="34" charset="0"/>
              </a:rPr>
              <a:t>Using online recruitment agencies.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5" name="Picture 4" descr="00422342.jpg"/>
          <p:cNvPicPr>
            <a:picLocks noChangeAspect="1"/>
          </p:cNvPicPr>
          <p:nvPr/>
        </p:nvPicPr>
        <p:blipFill>
          <a:blip r:embed="rId3" cstate="print"/>
          <a:stretch>
            <a:fillRect/>
          </a:stretch>
        </p:blipFill>
        <p:spPr>
          <a:xfrm>
            <a:off x="5652120" y="4077072"/>
            <a:ext cx="2951186" cy="1966689"/>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sources of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752528"/>
          </a:xfrm>
        </p:spPr>
        <p:txBody>
          <a:bodyPr>
            <a:normAutofit/>
          </a:bodyPr>
          <a:lstStyle/>
          <a:p>
            <a:pPr marL="0" indent="0">
              <a:spcBef>
                <a:spcPts val="600"/>
              </a:spcBef>
              <a:spcAft>
                <a:spcPts val="1200"/>
              </a:spcAft>
              <a:buNone/>
            </a:pPr>
            <a:r>
              <a:rPr lang="en-US" sz="2200" b="1" dirty="0" smtClean="0">
                <a:latin typeface="Helvetica" pitchFamily="34" charset="0"/>
              </a:rPr>
              <a:t>Internal sourcing of staff within the workplace may include:</a:t>
            </a:r>
          </a:p>
          <a:p>
            <a:pPr marL="360000" indent="-360000">
              <a:spcBef>
                <a:spcPts val="600"/>
              </a:spcBef>
              <a:spcAft>
                <a:spcPts val="1200"/>
              </a:spcAft>
            </a:pPr>
            <a:r>
              <a:rPr lang="en-US" sz="2200" b="1" dirty="0" smtClean="0">
                <a:latin typeface="Helvetica" pitchFamily="34" charset="0"/>
              </a:rPr>
              <a:t>Talking to staff</a:t>
            </a:r>
          </a:p>
          <a:p>
            <a:pPr marL="360000" indent="-360000">
              <a:spcBef>
                <a:spcPts val="600"/>
              </a:spcBef>
              <a:spcAft>
                <a:spcPts val="1200"/>
              </a:spcAft>
            </a:pPr>
            <a:r>
              <a:rPr lang="en-US" sz="2200" b="1" dirty="0" smtClean="0">
                <a:latin typeface="Helvetica" pitchFamily="34" charset="0"/>
              </a:rPr>
              <a:t>Posting vacancy advertisement in staff room</a:t>
            </a:r>
          </a:p>
          <a:p>
            <a:pPr marL="360000" indent="-360000">
              <a:spcBef>
                <a:spcPts val="600"/>
              </a:spcBef>
              <a:spcAft>
                <a:spcPts val="1200"/>
              </a:spcAft>
            </a:pPr>
            <a:r>
              <a:rPr lang="en-US" sz="2200" b="1" dirty="0" smtClean="0">
                <a:latin typeface="Helvetica" pitchFamily="34" charset="0"/>
              </a:rPr>
              <a:t>Verbal mention at staff meetings</a:t>
            </a:r>
          </a:p>
          <a:p>
            <a:pPr marL="360000" indent="-360000">
              <a:spcBef>
                <a:spcPts val="600"/>
              </a:spcBef>
              <a:spcAft>
                <a:spcPts val="1200"/>
              </a:spcAft>
            </a:pPr>
            <a:r>
              <a:rPr lang="en-US" sz="2200" b="1" dirty="0" smtClean="0">
                <a:latin typeface="Helvetica" pitchFamily="34" charset="0"/>
              </a:rPr>
              <a:t>Inserting advertisements into                                             staff pay envelope.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5" name="Picture 4" descr="00385588.jpg"/>
          <p:cNvPicPr>
            <a:picLocks noChangeAspect="1"/>
          </p:cNvPicPr>
          <p:nvPr/>
        </p:nvPicPr>
        <p:blipFill>
          <a:blip r:embed="rId3" cstate="print"/>
          <a:stretch>
            <a:fillRect/>
          </a:stretch>
        </p:blipFill>
        <p:spPr>
          <a:xfrm>
            <a:off x="6588224" y="3457803"/>
            <a:ext cx="1905386" cy="2667541"/>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sources of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Consider using vocational training institutions as a source of staff:</a:t>
            </a:r>
          </a:p>
          <a:p>
            <a:pPr marL="360000" indent="-360000">
              <a:spcBef>
                <a:spcPts val="600"/>
              </a:spcBef>
              <a:spcAft>
                <a:spcPts val="1200"/>
              </a:spcAft>
            </a:pPr>
            <a:r>
              <a:rPr lang="en-US" sz="2200" b="1" dirty="0" smtClean="0">
                <a:latin typeface="Helvetica" pitchFamily="34" charset="0"/>
              </a:rPr>
              <a:t>Talk to staff at the institute about your needs</a:t>
            </a:r>
          </a:p>
          <a:p>
            <a:pPr marL="360000" indent="-360000">
              <a:spcBef>
                <a:spcPts val="600"/>
              </a:spcBef>
              <a:spcAft>
                <a:spcPts val="1200"/>
              </a:spcAft>
            </a:pPr>
            <a:r>
              <a:rPr lang="en-US" sz="2200" b="1" dirty="0" smtClean="0">
                <a:latin typeface="Helvetica" pitchFamily="34" charset="0"/>
              </a:rPr>
              <a:t>Can refer people with a demonstrated interest and skills</a:t>
            </a:r>
          </a:p>
          <a:p>
            <a:pPr marL="360000" indent="-360000">
              <a:spcBef>
                <a:spcPts val="600"/>
              </a:spcBef>
              <a:spcAft>
                <a:spcPts val="1200"/>
              </a:spcAft>
            </a:pPr>
            <a:r>
              <a:rPr lang="en-US" sz="2200" b="1" dirty="0" smtClean="0">
                <a:latin typeface="Helvetica" pitchFamily="34" charset="0"/>
              </a:rPr>
              <a:t>Can help provide an ongoing pool of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5" name="Picture 4" descr="events2.jpg"/>
          <p:cNvPicPr>
            <a:picLocks noChangeAspect="1"/>
          </p:cNvPicPr>
          <p:nvPr/>
        </p:nvPicPr>
        <p:blipFill>
          <a:blip r:embed="rId3" cstate="print"/>
          <a:stretch>
            <a:fillRect/>
          </a:stretch>
        </p:blipFill>
        <p:spPr>
          <a:xfrm>
            <a:off x="5508104" y="4365104"/>
            <a:ext cx="3048000" cy="2033016"/>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sources of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Other sources of staff can include:</a:t>
            </a:r>
          </a:p>
          <a:p>
            <a:pPr marL="360000" indent="-360000">
              <a:spcBef>
                <a:spcPts val="600"/>
              </a:spcBef>
              <a:spcAft>
                <a:spcPts val="1200"/>
              </a:spcAft>
            </a:pPr>
            <a:r>
              <a:rPr lang="en-US" sz="2200" b="1" dirty="0" smtClean="0">
                <a:latin typeface="Helvetica" pitchFamily="34" charset="0"/>
              </a:rPr>
              <a:t>Personal network of industry contacts</a:t>
            </a:r>
          </a:p>
          <a:p>
            <a:pPr marL="360000" indent="-360000">
              <a:spcBef>
                <a:spcPts val="600"/>
              </a:spcBef>
              <a:spcAft>
                <a:spcPts val="1200"/>
              </a:spcAft>
            </a:pPr>
            <a:r>
              <a:rPr lang="en-US" sz="2200" b="1" dirty="0" smtClean="0">
                <a:latin typeface="Helvetica" pitchFamily="34" charset="0"/>
              </a:rPr>
              <a:t>Talking to workplace staff</a:t>
            </a:r>
          </a:p>
          <a:p>
            <a:pPr marL="360000" indent="-360000">
              <a:spcBef>
                <a:spcPts val="600"/>
              </a:spcBef>
              <a:spcAft>
                <a:spcPts val="1200"/>
              </a:spcAft>
            </a:pPr>
            <a:r>
              <a:rPr lang="en-US" sz="2200" b="1" dirty="0" smtClean="0">
                <a:latin typeface="Helvetica" pitchFamily="34" charset="0"/>
              </a:rPr>
              <a:t>Considering people who have already registered for employment</a:t>
            </a:r>
          </a:p>
          <a:p>
            <a:pPr marL="360000" indent="-360000">
              <a:spcBef>
                <a:spcPts val="600"/>
              </a:spcBef>
              <a:spcAft>
                <a:spcPts val="1200"/>
              </a:spcAft>
            </a:pPr>
            <a:r>
              <a:rPr lang="en-US" sz="2200" b="1" dirty="0" smtClean="0">
                <a:latin typeface="Helvetica" pitchFamily="34" charset="0"/>
              </a:rPr>
              <a:t>Career fairs.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5" name="Picture 4" descr="IMG_7192.JPG"/>
          <p:cNvPicPr>
            <a:picLocks noChangeAspect="1"/>
          </p:cNvPicPr>
          <p:nvPr/>
        </p:nvPicPr>
        <p:blipFill>
          <a:blip r:embed="rId3" cstate="print"/>
          <a:stretch>
            <a:fillRect/>
          </a:stretch>
        </p:blipFill>
        <p:spPr>
          <a:xfrm>
            <a:off x="5868144" y="4149080"/>
            <a:ext cx="2651787" cy="1988840"/>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968552"/>
          </a:xfrm>
        </p:spPr>
        <p:txBody>
          <a:bodyPr>
            <a:normAutofit/>
          </a:bodyPr>
          <a:lstStyle/>
          <a:p>
            <a:pPr marL="0" indent="0">
              <a:spcBef>
                <a:spcPts val="600"/>
              </a:spcBef>
              <a:spcAft>
                <a:spcPts val="1200"/>
              </a:spcAft>
              <a:buNone/>
            </a:pPr>
            <a:r>
              <a:rPr lang="en-US" sz="2200" b="1" dirty="0" smtClean="0">
                <a:latin typeface="Helvetica" pitchFamily="34" charset="0"/>
              </a:rPr>
              <a:t>Effective recruitment through media or recruitment agencies:</a:t>
            </a:r>
          </a:p>
          <a:p>
            <a:pPr marL="360000" indent="-360000">
              <a:spcBef>
                <a:spcPts val="600"/>
              </a:spcBef>
              <a:spcAft>
                <a:spcPts val="1200"/>
              </a:spcAft>
            </a:pPr>
            <a:r>
              <a:rPr lang="en-US" sz="2200" b="1" dirty="0" smtClean="0">
                <a:latin typeface="Helvetica" pitchFamily="34" charset="0"/>
              </a:rPr>
              <a:t>Relies on providing sufficient &amp; appropriate information</a:t>
            </a:r>
          </a:p>
          <a:p>
            <a:pPr marL="360000" indent="-360000">
              <a:spcBef>
                <a:spcPts val="600"/>
              </a:spcBef>
              <a:spcAft>
                <a:spcPts val="1200"/>
              </a:spcAft>
            </a:pPr>
            <a:r>
              <a:rPr lang="en-US" sz="2200" b="1" dirty="0" smtClean="0">
                <a:latin typeface="Helvetica" pitchFamily="34" charset="0"/>
              </a:rPr>
              <a:t>Needs to align with the public image of the business</a:t>
            </a:r>
          </a:p>
          <a:p>
            <a:pPr marL="360000" indent="-360000">
              <a:spcBef>
                <a:spcPts val="600"/>
              </a:spcBef>
              <a:spcAft>
                <a:spcPts val="1200"/>
              </a:spcAft>
            </a:pPr>
            <a:r>
              <a:rPr lang="en-US" sz="2200" b="1" dirty="0" smtClean="0">
                <a:latin typeface="Helvetica" pitchFamily="34" charset="0"/>
              </a:rPr>
              <a:t>Often requires management approval                                   before action is taken.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5" name="Picture 4" descr="IMG_2434.JPG"/>
          <p:cNvPicPr>
            <a:picLocks noChangeAspect="1"/>
          </p:cNvPicPr>
          <p:nvPr/>
        </p:nvPicPr>
        <p:blipFill>
          <a:blip r:embed="rId3" cstate="print"/>
          <a:stretch>
            <a:fillRect/>
          </a:stretch>
        </p:blipFill>
        <p:spPr>
          <a:xfrm>
            <a:off x="6732240" y="3861048"/>
            <a:ext cx="1923678" cy="2564904"/>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896544"/>
          </a:xfrm>
        </p:spPr>
        <p:txBody>
          <a:bodyPr>
            <a:normAutofit/>
          </a:bodyPr>
          <a:lstStyle/>
          <a:p>
            <a:pPr marL="0" indent="0">
              <a:spcBef>
                <a:spcPts val="600"/>
              </a:spcBef>
              <a:spcAft>
                <a:spcPts val="1200"/>
              </a:spcAft>
              <a:buNone/>
            </a:pPr>
            <a:r>
              <a:rPr lang="en-US" sz="2200" b="1" dirty="0" smtClean="0">
                <a:latin typeface="Helvetica" pitchFamily="34" charset="0"/>
              </a:rPr>
              <a:t>Consider the following when writing a job advertisement:</a:t>
            </a:r>
          </a:p>
          <a:p>
            <a:pPr marL="360000" indent="-360000">
              <a:spcBef>
                <a:spcPts val="600"/>
              </a:spcBef>
              <a:spcAft>
                <a:spcPts val="1200"/>
              </a:spcAft>
            </a:pPr>
            <a:r>
              <a:rPr lang="en-US" sz="2200" b="1" dirty="0" smtClean="0">
                <a:latin typeface="Helvetica" pitchFamily="34" charset="0"/>
              </a:rPr>
              <a:t>Include business name or contact details?</a:t>
            </a:r>
          </a:p>
          <a:p>
            <a:pPr marL="360000" indent="-360000">
              <a:spcBef>
                <a:spcPts val="600"/>
              </a:spcBef>
              <a:spcAft>
                <a:spcPts val="1200"/>
              </a:spcAft>
            </a:pPr>
            <a:r>
              <a:rPr lang="en-US" sz="2200" b="1" dirty="0" smtClean="0">
                <a:latin typeface="Helvetica" pitchFamily="34" charset="0"/>
              </a:rPr>
              <a:t>Include address or telephone number?</a:t>
            </a:r>
          </a:p>
          <a:p>
            <a:pPr marL="360000" indent="-360000">
              <a:spcBef>
                <a:spcPts val="600"/>
              </a:spcBef>
              <a:spcAft>
                <a:spcPts val="1200"/>
              </a:spcAft>
            </a:pPr>
            <a:r>
              <a:rPr lang="en-US" sz="2200" b="1" dirty="0" smtClean="0">
                <a:latin typeface="Helvetica" pitchFamily="34" charset="0"/>
              </a:rPr>
              <a:t>Put in job title &amp; Job Description</a:t>
            </a:r>
          </a:p>
          <a:p>
            <a:pPr marL="360000" indent="-360000">
              <a:spcBef>
                <a:spcPts val="600"/>
              </a:spcBef>
              <a:spcAft>
                <a:spcPts val="1200"/>
              </a:spcAft>
            </a:pPr>
            <a:r>
              <a:rPr lang="en-US" sz="2200" b="1" dirty="0" smtClean="0">
                <a:latin typeface="Helvetica" pitchFamily="34" charset="0"/>
              </a:rPr>
              <a:t>Outline of ideal applicant</a:t>
            </a:r>
          </a:p>
          <a:p>
            <a:pPr marL="360000" lvl="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5" name="Picture 4" descr="j0409469.jpg"/>
          <p:cNvPicPr>
            <a:picLocks noChangeAspect="1"/>
          </p:cNvPicPr>
          <p:nvPr/>
        </p:nvPicPr>
        <p:blipFill>
          <a:blip r:embed="rId3" cstate="print"/>
          <a:stretch>
            <a:fillRect/>
          </a:stretch>
        </p:blipFill>
        <p:spPr>
          <a:xfrm>
            <a:off x="5472354" y="4005064"/>
            <a:ext cx="3061012" cy="2042269"/>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4824536"/>
          </a:xfrm>
        </p:spPr>
        <p:txBody>
          <a:bodyPr>
            <a:normAutofit/>
          </a:bodyPr>
          <a:lstStyle/>
          <a:p>
            <a:pPr marL="360000" indent="-360000">
              <a:spcBef>
                <a:spcPts val="600"/>
              </a:spcBef>
              <a:spcAft>
                <a:spcPts val="1200"/>
              </a:spcAft>
            </a:pPr>
            <a:r>
              <a:rPr lang="en-US" sz="2200" b="1" dirty="0" smtClean="0">
                <a:latin typeface="Helvetica" pitchFamily="34" charset="0"/>
              </a:rPr>
              <a:t>Basis of employment</a:t>
            </a:r>
          </a:p>
          <a:p>
            <a:pPr marL="360000" indent="-360000">
              <a:spcBef>
                <a:spcPts val="600"/>
              </a:spcBef>
              <a:spcAft>
                <a:spcPts val="1200"/>
              </a:spcAft>
            </a:pPr>
            <a:r>
              <a:rPr lang="en-US" sz="2200" b="1" dirty="0" smtClean="0">
                <a:latin typeface="Helvetica" pitchFamily="34" charset="0"/>
              </a:rPr>
              <a:t>Job benefits</a:t>
            </a:r>
          </a:p>
          <a:p>
            <a:pPr marL="360000" indent="-360000">
              <a:spcBef>
                <a:spcPts val="600"/>
              </a:spcBef>
              <a:spcAft>
                <a:spcPts val="1200"/>
              </a:spcAft>
            </a:pPr>
            <a:r>
              <a:rPr lang="en-US" sz="2200" b="1" dirty="0" smtClean="0">
                <a:latin typeface="Helvetica" pitchFamily="34" charset="0"/>
              </a:rPr>
              <a:t>How to apply</a:t>
            </a:r>
          </a:p>
          <a:p>
            <a:pPr marL="360000" indent="-360000">
              <a:spcBef>
                <a:spcPts val="600"/>
              </a:spcBef>
              <a:spcAft>
                <a:spcPts val="1200"/>
              </a:spcAft>
            </a:pPr>
            <a:r>
              <a:rPr lang="en-US" sz="2200" b="1" dirty="0" smtClean="0">
                <a:latin typeface="Helvetica" pitchFamily="34" charset="0"/>
              </a:rPr>
              <a:t>If selection criteria (KSC) are available</a:t>
            </a:r>
          </a:p>
          <a:p>
            <a:pPr marL="360000" indent="-360000">
              <a:spcBef>
                <a:spcPts val="600"/>
              </a:spcBef>
              <a:spcAft>
                <a:spcPts val="1200"/>
              </a:spcAft>
            </a:pPr>
            <a:r>
              <a:rPr lang="en-US" sz="2200" b="1" dirty="0" smtClean="0">
                <a:latin typeface="Helvetica" pitchFamily="34" charset="0"/>
              </a:rPr>
              <a:t>If ‘application tips’ are available</a:t>
            </a:r>
          </a:p>
          <a:p>
            <a:pPr marL="360000" indent="-360000">
              <a:spcBef>
                <a:spcPts val="600"/>
              </a:spcBef>
              <a:spcAft>
                <a:spcPts val="1200"/>
              </a:spcAft>
            </a:pPr>
            <a:r>
              <a:rPr lang="en-US" sz="2200" b="1" dirty="0" smtClean="0">
                <a:latin typeface="Helvetica" pitchFamily="34" charset="0"/>
              </a:rPr>
              <a:t>Closing date for applications.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5" name="Picture 4" descr="2.jpg"/>
          <p:cNvPicPr>
            <a:picLocks noChangeAspect="1"/>
          </p:cNvPicPr>
          <p:nvPr/>
        </p:nvPicPr>
        <p:blipFill>
          <a:blip r:embed="rId3" cstate="print"/>
          <a:stretch>
            <a:fillRect/>
          </a:stretch>
        </p:blipFill>
        <p:spPr>
          <a:xfrm>
            <a:off x="6372200" y="2816404"/>
            <a:ext cx="2127928" cy="3195012"/>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280920" cy="4968552"/>
          </a:xfrm>
        </p:spPr>
        <p:txBody>
          <a:bodyPr>
            <a:normAutofit/>
          </a:bodyPr>
          <a:lstStyle/>
          <a:p>
            <a:pPr marL="0" indent="0">
              <a:spcBef>
                <a:spcPts val="600"/>
              </a:spcBef>
              <a:spcAft>
                <a:spcPts val="1200"/>
              </a:spcAft>
              <a:buNone/>
            </a:pPr>
            <a:r>
              <a:rPr lang="en-US" sz="2200" b="1" dirty="0" smtClean="0">
                <a:latin typeface="Helvetica" pitchFamily="34" charset="0"/>
              </a:rPr>
              <a:t>Tips for writing effective job vacancy advertisements:</a:t>
            </a:r>
          </a:p>
          <a:p>
            <a:pPr marL="360000" indent="-360000">
              <a:spcBef>
                <a:spcPts val="600"/>
              </a:spcBef>
              <a:spcAft>
                <a:spcPts val="1200"/>
              </a:spcAft>
            </a:pPr>
            <a:r>
              <a:rPr lang="en-US" sz="2200" b="1" dirty="0" smtClean="0">
                <a:latin typeface="Helvetica" pitchFamily="34" charset="0"/>
              </a:rPr>
              <a:t>Write clearly</a:t>
            </a:r>
          </a:p>
          <a:p>
            <a:pPr marL="360000" indent="-360000">
              <a:spcBef>
                <a:spcPts val="600"/>
              </a:spcBef>
              <a:spcAft>
                <a:spcPts val="1200"/>
              </a:spcAft>
            </a:pPr>
            <a:r>
              <a:rPr lang="en-US" sz="2200" b="1" dirty="0" smtClean="0">
                <a:latin typeface="Helvetica" pitchFamily="34" charset="0"/>
              </a:rPr>
              <a:t>Write a draft - &amp; revise it</a:t>
            </a:r>
          </a:p>
          <a:p>
            <a:pPr marL="360000" indent="-360000">
              <a:spcBef>
                <a:spcPts val="600"/>
              </a:spcBef>
              <a:spcAft>
                <a:spcPts val="1200"/>
              </a:spcAft>
            </a:pPr>
            <a:r>
              <a:rPr lang="en-US" sz="2200" b="1" dirty="0" smtClean="0">
                <a:latin typeface="Helvetica" pitchFamily="34" charset="0"/>
              </a:rPr>
              <a:t>Refer to previous similar advertisements</a:t>
            </a:r>
          </a:p>
          <a:p>
            <a:pPr marL="360000" indent="-360000">
              <a:spcBef>
                <a:spcPts val="600"/>
              </a:spcBef>
              <a:spcAft>
                <a:spcPts val="1200"/>
              </a:spcAft>
            </a:pPr>
            <a:r>
              <a:rPr lang="en-US" sz="2200" b="1" dirty="0" smtClean="0">
                <a:latin typeface="Helvetica" pitchFamily="34" charset="0"/>
              </a:rPr>
              <a:t>Include relevant &amp; current information                               about the job</a:t>
            </a:r>
          </a:p>
          <a:p>
            <a:pPr marL="360000" indent="-360000">
              <a:spcBef>
                <a:spcPts val="600"/>
              </a:spcBef>
              <a:spcAft>
                <a:spcPts val="1200"/>
              </a:spcAft>
            </a:pPr>
            <a:r>
              <a:rPr lang="en-US" sz="2200" b="1" dirty="0" smtClean="0">
                <a:latin typeface="Helvetica" pitchFamily="34" charset="0"/>
              </a:rPr>
              <a:t>Name a contact person</a:t>
            </a:r>
          </a:p>
          <a:p>
            <a:pPr marL="360000" indent="-360000">
              <a:spcBef>
                <a:spcPts val="600"/>
              </a:spcBef>
              <a:spcAft>
                <a:spcPts val="1200"/>
              </a:spcAft>
            </a:pPr>
            <a:r>
              <a:rPr lang="en-US" sz="2200" b="1" dirty="0" smtClean="0">
                <a:latin typeface="Helvetica" pitchFamily="34" charset="0"/>
              </a:rPr>
              <a:t>See  it through the eyes of an applicant</a:t>
            </a:r>
          </a:p>
          <a:p>
            <a:pPr marL="360000" lvl="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5" name="Picture 4" descr="20.jpg"/>
          <p:cNvPicPr>
            <a:picLocks noChangeAspect="1"/>
          </p:cNvPicPr>
          <p:nvPr/>
        </p:nvPicPr>
        <p:blipFill>
          <a:blip r:embed="rId3" cstate="print"/>
          <a:stretch>
            <a:fillRect/>
          </a:stretch>
        </p:blipFill>
        <p:spPr>
          <a:xfrm>
            <a:off x="6876256" y="3501008"/>
            <a:ext cx="1911763" cy="2870448"/>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4968552"/>
          </a:xfrm>
        </p:spPr>
        <p:txBody>
          <a:bodyPr>
            <a:normAutofit/>
          </a:bodyPr>
          <a:lstStyle/>
          <a:p>
            <a:pPr marL="360000" indent="-360000">
              <a:spcBef>
                <a:spcPts val="600"/>
              </a:spcBef>
              <a:spcAft>
                <a:spcPts val="1200"/>
              </a:spcAft>
            </a:pPr>
            <a:r>
              <a:rPr lang="en-US" sz="2200" b="1" dirty="0" smtClean="0">
                <a:latin typeface="Helvetica" pitchFamily="34" charset="0"/>
              </a:rPr>
              <a:t>Do not waffle</a:t>
            </a:r>
          </a:p>
          <a:p>
            <a:pPr marL="360000" indent="-360000">
              <a:spcBef>
                <a:spcPts val="600"/>
              </a:spcBef>
              <a:spcAft>
                <a:spcPts val="1200"/>
              </a:spcAft>
            </a:pPr>
            <a:r>
              <a:rPr lang="en-US" sz="2200" b="1" dirty="0" smtClean="0">
                <a:latin typeface="Helvetica" pitchFamily="34" charset="0"/>
              </a:rPr>
              <a:t>Provide different ways for candidates to apply</a:t>
            </a:r>
          </a:p>
          <a:p>
            <a:pPr marL="360000" indent="-360000">
              <a:spcBef>
                <a:spcPts val="600"/>
              </a:spcBef>
              <a:spcAft>
                <a:spcPts val="1200"/>
              </a:spcAft>
            </a:pPr>
            <a:r>
              <a:rPr lang="en-US" sz="2200" b="1" dirty="0" smtClean="0">
                <a:latin typeface="Helvetica" pitchFamily="34" charset="0"/>
              </a:rPr>
              <a:t>Sell the benefits of the position</a:t>
            </a:r>
          </a:p>
          <a:p>
            <a:pPr marL="360000" indent="-360000">
              <a:spcBef>
                <a:spcPts val="600"/>
              </a:spcBef>
              <a:spcAft>
                <a:spcPts val="1200"/>
              </a:spcAft>
            </a:pPr>
            <a:r>
              <a:rPr lang="en-US" sz="2200" b="1" dirty="0" smtClean="0">
                <a:latin typeface="Helvetica" pitchFamily="34" charset="0"/>
              </a:rPr>
              <a:t>Direct readers to additional information.</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5" name="Picture 4" descr="00227474.jpg"/>
          <p:cNvPicPr>
            <a:picLocks noChangeAspect="1"/>
          </p:cNvPicPr>
          <p:nvPr/>
        </p:nvPicPr>
        <p:blipFill>
          <a:blip r:embed="rId3" cstate="print"/>
          <a:stretch>
            <a:fillRect/>
          </a:stretch>
        </p:blipFill>
        <p:spPr>
          <a:xfrm>
            <a:off x="5750798" y="4221088"/>
            <a:ext cx="2910850" cy="1964824"/>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896544"/>
          </a:xfrm>
        </p:spPr>
        <p:txBody>
          <a:bodyPr>
            <a:normAutofit/>
          </a:bodyPr>
          <a:lstStyle/>
          <a:p>
            <a:pPr marL="0" indent="0">
              <a:spcBef>
                <a:spcPts val="600"/>
              </a:spcBef>
              <a:spcAft>
                <a:spcPts val="1200"/>
              </a:spcAft>
              <a:buNone/>
            </a:pPr>
            <a:r>
              <a:rPr lang="en-US" sz="2200" b="1" dirty="0" smtClean="0">
                <a:latin typeface="Helvetica" pitchFamily="34" charset="0"/>
              </a:rPr>
              <a:t>Also:</a:t>
            </a:r>
          </a:p>
          <a:p>
            <a:pPr marL="360000" indent="-360000">
              <a:spcBef>
                <a:spcPts val="600"/>
              </a:spcBef>
              <a:spcAft>
                <a:spcPts val="1200"/>
              </a:spcAft>
            </a:pPr>
            <a:r>
              <a:rPr lang="en-US" sz="2200" b="1" dirty="0" smtClean="0">
                <a:latin typeface="Helvetica" pitchFamily="34" charset="0"/>
              </a:rPr>
              <a:t>Check with media to identify any requirements they have about lodging job vacancy advertisements</a:t>
            </a:r>
          </a:p>
          <a:p>
            <a:pPr marL="360000" indent="-360000">
              <a:spcBef>
                <a:spcPts val="600"/>
              </a:spcBef>
              <a:spcAft>
                <a:spcPts val="1200"/>
              </a:spcAft>
            </a:pPr>
            <a:r>
              <a:rPr lang="en-US" sz="2200" b="1" dirty="0" smtClean="0">
                <a:latin typeface="Helvetica" pitchFamily="34" charset="0"/>
              </a:rPr>
              <a:t>Find out budget available for advertising</a:t>
            </a:r>
          </a:p>
          <a:p>
            <a:pPr marL="360000" indent="-360000">
              <a:spcBef>
                <a:spcPts val="600"/>
              </a:spcBef>
              <a:spcAft>
                <a:spcPts val="1200"/>
              </a:spcAft>
            </a:pPr>
            <a:r>
              <a:rPr lang="en-US" sz="2200" b="1" dirty="0" smtClean="0">
                <a:latin typeface="Helvetica" pitchFamily="34" charset="0"/>
              </a:rPr>
              <a:t>Have your advertisement proof-read by someone else</a:t>
            </a:r>
          </a:p>
          <a:p>
            <a:pPr marL="360000" indent="-360000">
              <a:spcBef>
                <a:spcPts val="600"/>
              </a:spcBef>
              <a:spcAft>
                <a:spcPts val="1200"/>
              </a:spcAft>
            </a:pPr>
            <a:r>
              <a:rPr lang="en-US" sz="2200" b="1" dirty="0" smtClean="0">
                <a:latin typeface="Helvetica" pitchFamily="34" charset="0"/>
              </a:rPr>
              <a:t>Make application forms available.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5" name="Picture 4" descr="00443249.jpg"/>
          <p:cNvPicPr>
            <a:picLocks noChangeAspect="1"/>
          </p:cNvPicPr>
          <p:nvPr/>
        </p:nvPicPr>
        <p:blipFill>
          <a:blip r:embed="rId3" cstate="print"/>
          <a:stretch>
            <a:fillRect/>
          </a:stretch>
        </p:blipFill>
        <p:spPr>
          <a:xfrm>
            <a:off x="5580112" y="4293096"/>
            <a:ext cx="3055371" cy="2030923"/>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968552"/>
          </a:xfrm>
        </p:spPr>
        <p:txBody>
          <a:bodyPr>
            <a:normAutofit/>
          </a:bodyPr>
          <a:lstStyle/>
          <a:p>
            <a:pPr marL="0" indent="0">
              <a:spcBef>
                <a:spcPts val="600"/>
              </a:spcBef>
              <a:spcAft>
                <a:spcPts val="1200"/>
              </a:spcAft>
              <a:buNone/>
            </a:pPr>
            <a:r>
              <a:rPr lang="en-US" sz="2200" b="1" dirty="0" smtClean="0">
                <a:latin typeface="Helvetica" pitchFamily="34" charset="0"/>
              </a:rPr>
              <a:t>An information package can assist recruitment efforts &amp; may contain:</a:t>
            </a:r>
          </a:p>
          <a:p>
            <a:pPr marL="360000" indent="-360000">
              <a:spcBef>
                <a:spcPts val="600"/>
              </a:spcBef>
              <a:spcAft>
                <a:spcPts val="1200"/>
              </a:spcAft>
            </a:pPr>
            <a:r>
              <a:rPr lang="en-US" sz="2200" b="1" dirty="0" smtClean="0">
                <a:latin typeface="Helvetica" pitchFamily="34" charset="0"/>
              </a:rPr>
              <a:t>Details of the history of the business</a:t>
            </a:r>
          </a:p>
          <a:p>
            <a:pPr marL="360000" indent="-360000">
              <a:spcBef>
                <a:spcPts val="600"/>
              </a:spcBef>
              <a:spcAft>
                <a:spcPts val="1200"/>
              </a:spcAft>
            </a:pPr>
            <a:r>
              <a:rPr lang="en-US" sz="2200" b="1" dirty="0" smtClean="0">
                <a:latin typeface="Helvetica" pitchFamily="34" charset="0"/>
              </a:rPr>
              <a:t>Statistics about the business</a:t>
            </a:r>
          </a:p>
          <a:p>
            <a:pPr marL="360000" indent="-360000">
              <a:spcBef>
                <a:spcPts val="600"/>
              </a:spcBef>
              <a:spcAft>
                <a:spcPts val="1200"/>
              </a:spcAft>
            </a:pPr>
            <a:r>
              <a:rPr lang="en-US" sz="2200" b="1" dirty="0" smtClean="0">
                <a:latin typeface="Helvetica" pitchFamily="34" charset="0"/>
              </a:rPr>
              <a:t>Awards the business has won or achieved</a:t>
            </a:r>
          </a:p>
          <a:p>
            <a:pPr marL="360000" lvl="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5" name="Picture 4" descr="00302923.jpg"/>
          <p:cNvPicPr>
            <a:picLocks noChangeAspect="1"/>
          </p:cNvPicPr>
          <p:nvPr/>
        </p:nvPicPr>
        <p:blipFill>
          <a:blip r:embed="rId3" cstate="print"/>
          <a:stretch>
            <a:fillRect/>
          </a:stretch>
        </p:blipFill>
        <p:spPr>
          <a:xfrm>
            <a:off x="6244335" y="4365104"/>
            <a:ext cx="2345305" cy="1672984"/>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360000" indent="-360000">
              <a:spcBef>
                <a:spcPts val="600"/>
              </a:spcBef>
              <a:spcAft>
                <a:spcPts val="1200"/>
              </a:spcAft>
            </a:pPr>
            <a:r>
              <a:rPr lang="en-US" sz="2200" b="1" dirty="0" smtClean="0">
                <a:latin typeface="Helvetica" pitchFamily="34" charset="0"/>
              </a:rPr>
              <a:t>Information about what the business sells to its customers</a:t>
            </a:r>
          </a:p>
          <a:p>
            <a:pPr marL="360000" indent="-360000">
              <a:spcBef>
                <a:spcPts val="600"/>
              </a:spcBef>
              <a:spcAft>
                <a:spcPts val="1200"/>
              </a:spcAft>
            </a:pPr>
            <a:r>
              <a:rPr lang="en-US" sz="2200" b="1" dirty="0" smtClean="0">
                <a:latin typeface="Helvetica" pitchFamily="34" charset="0"/>
              </a:rPr>
              <a:t>Location of the business</a:t>
            </a:r>
          </a:p>
          <a:p>
            <a:pPr marL="360000" indent="-360000">
              <a:spcBef>
                <a:spcPts val="600"/>
              </a:spcBef>
              <a:spcAft>
                <a:spcPts val="1200"/>
              </a:spcAft>
            </a:pPr>
            <a:r>
              <a:rPr lang="en-US" sz="2200" b="1" dirty="0" smtClean="0">
                <a:latin typeface="Helvetica" pitchFamily="34" charset="0"/>
              </a:rPr>
              <a:t>Career paths</a:t>
            </a:r>
          </a:p>
          <a:p>
            <a:pPr marL="360000" indent="-360000">
              <a:spcBef>
                <a:spcPts val="600"/>
              </a:spcBef>
              <a:spcAft>
                <a:spcPts val="1200"/>
              </a:spcAft>
            </a:pPr>
            <a:r>
              <a:rPr lang="en-US" sz="2200" b="1" dirty="0" smtClean="0">
                <a:latin typeface="Helvetica" pitchFamily="34" charset="0"/>
              </a:rPr>
              <a:t>Policies</a:t>
            </a:r>
          </a:p>
          <a:p>
            <a:pPr marL="360000" indent="-360000">
              <a:spcBef>
                <a:spcPts val="600"/>
              </a:spcBef>
              <a:spcAft>
                <a:spcPts val="1200"/>
              </a:spcAft>
            </a:pPr>
            <a:r>
              <a:rPr lang="en-US" sz="2200" b="1" dirty="0" smtClean="0">
                <a:latin typeface="Helvetica" pitchFamily="34" charset="0"/>
              </a:rPr>
              <a:t>Photographs.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5" name="Picture 4" descr="MP900428030[1].JPG"/>
          <p:cNvPicPr>
            <a:picLocks noChangeAspect="1"/>
          </p:cNvPicPr>
          <p:nvPr/>
        </p:nvPicPr>
        <p:blipFill>
          <a:blip r:embed="rId3" cstate="print"/>
          <a:stretch>
            <a:fillRect/>
          </a:stretch>
        </p:blipFill>
        <p:spPr>
          <a:xfrm>
            <a:off x="5868144" y="3429000"/>
            <a:ext cx="2492896" cy="2492896"/>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0" indent="0">
              <a:spcBef>
                <a:spcPts val="600"/>
              </a:spcBef>
              <a:spcAft>
                <a:spcPts val="1200"/>
              </a:spcAft>
              <a:buNone/>
            </a:pPr>
            <a:r>
              <a:rPr lang="en-US" sz="2200" b="1" dirty="0" smtClean="0">
                <a:latin typeface="Helvetica" pitchFamily="34" charset="0"/>
              </a:rPr>
              <a:t>Legislation may impose an obligation to:</a:t>
            </a:r>
          </a:p>
          <a:p>
            <a:pPr marL="360000" indent="-360000">
              <a:spcBef>
                <a:spcPts val="600"/>
              </a:spcBef>
              <a:spcAft>
                <a:spcPts val="1200"/>
              </a:spcAft>
            </a:pPr>
            <a:r>
              <a:rPr lang="en-US" sz="2200" b="1" dirty="0" smtClean="0">
                <a:latin typeface="Helvetica" pitchFamily="34" charset="0"/>
              </a:rPr>
              <a:t>Comply with EO requirements</a:t>
            </a:r>
          </a:p>
          <a:p>
            <a:pPr marL="360000" indent="-360000">
              <a:spcBef>
                <a:spcPts val="600"/>
              </a:spcBef>
              <a:spcAft>
                <a:spcPts val="1200"/>
              </a:spcAft>
            </a:pPr>
            <a:r>
              <a:rPr lang="en-US" sz="2200" b="1" dirty="0" smtClean="0">
                <a:latin typeface="Helvetica" pitchFamily="34" charset="0"/>
              </a:rPr>
              <a:t>Mention flexible working arrangements available</a:t>
            </a:r>
          </a:p>
          <a:p>
            <a:pPr marL="360000" indent="-360000">
              <a:spcBef>
                <a:spcPts val="600"/>
              </a:spcBef>
              <a:spcAft>
                <a:spcPts val="1200"/>
              </a:spcAft>
            </a:pPr>
            <a:r>
              <a:rPr lang="en-US" sz="2200" b="1" dirty="0" smtClean="0">
                <a:latin typeface="Helvetica" pitchFamily="34" charset="0"/>
              </a:rPr>
              <a:t>Avoid age discrimination</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5" name="Picture 4" descr="MP900409393[1].JPG"/>
          <p:cNvPicPr>
            <a:picLocks noChangeAspect="1"/>
          </p:cNvPicPr>
          <p:nvPr/>
        </p:nvPicPr>
        <p:blipFill>
          <a:blip r:embed="rId3" cstate="print"/>
          <a:stretch>
            <a:fillRect/>
          </a:stretch>
        </p:blipFill>
        <p:spPr>
          <a:xfrm>
            <a:off x="6444208" y="3284984"/>
            <a:ext cx="1999084" cy="2997163"/>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Develop &amp; lodge job advertisements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525963"/>
          </a:xfrm>
        </p:spPr>
        <p:txBody>
          <a:bodyPr>
            <a:normAutofit/>
          </a:bodyPr>
          <a:lstStyle/>
          <a:p>
            <a:pPr marL="360000" indent="-360000">
              <a:spcBef>
                <a:spcPts val="600"/>
              </a:spcBef>
              <a:spcAft>
                <a:spcPts val="1200"/>
              </a:spcAft>
            </a:pPr>
            <a:r>
              <a:rPr lang="en-US" sz="2200" b="1" dirty="0" smtClean="0">
                <a:latin typeface="Helvetica" pitchFamily="34" charset="0"/>
              </a:rPr>
              <a:t>Avoid any form of discrimination</a:t>
            </a:r>
          </a:p>
          <a:p>
            <a:pPr marL="360000" indent="-360000">
              <a:spcBef>
                <a:spcPts val="600"/>
              </a:spcBef>
              <a:spcAft>
                <a:spcPts val="1200"/>
              </a:spcAft>
            </a:pPr>
            <a:r>
              <a:rPr lang="en-US" sz="2200" b="1" dirty="0" smtClean="0">
                <a:latin typeface="Helvetica" pitchFamily="34" charset="0"/>
              </a:rPr>
              <a:t>Make a definite statement ‘We are an equal opportunity employer’</a:t>
            </a:r>
          </a:p>
          <a:p>
            <a:pPr marL="360000" indent="-360000">
              <a:spcBef>
                <a:spcPts val="600"/>
              </a:spcBef>
              <a:spcAft>
                <a:spcPts val="1200"/>
              </a:spcAft>
            </a:pPr>
            <a:r>
              <a:rPr lang="en-US" sz="2200" b="1" dirty="0" smtClean="0">
                <a:latin typeface="Helvetica" pitchFamily="34" charset="0"/>
              </a:rPr>
              <a:t>Use gender-neutral terminology</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5" name="Picture 4" descr="MP900442941[1].JPG"/>
          <p:cNvPicPr>
            <a:picLocks noChangeAspect="1"/>
          </p:cNvPicPr>
          <p:nvPr/>
        </p:nvPicPr>
        <p:blipFill>
          <a:blip r:embed="rId3" cstate="print"/>
          <a:stretch>
            <a:fillRect/>
          </a:stretch>
        </p:blipFill>
        <p:spPr>
          <a:xfrm>
            <a:off x="5292080" y="4005064"/>
            <a:ext cx="3234690" cy="2152650"/>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When recruiting staff:</a:t>
            </a:r>
          </a:p>
          <a:p>
            <a:r>
              <a:rPr lang="en-AU" sz="2200" b="1" dirty="0" smtClean="0">
                <a:latin typeface="Helvetica" pitchFamily="34" charset="0"/>
              </a:rPr>
              <a:t>Be certain about vacancies for positions &amp; staff numbers</a:t>
            </a:r>
          </a:p>
          <a:p>
            <a:endParaRPr lang="en-AU" sz="2200" b="1" dirty="0" smtClean="0">
              <a:latin typeface="Helvetica" pitchFamily="34" charset="0"/>
            </a:endParaRPr>
          </a:p>
          <a:p>
            <a:r>
              <a:rPr lang="en-AU" sz="2200" b="1" dirty="0" smtClean="0">
                <a:latin typeface="Helvetica" pitchFamily="34" charset="0"/>
              </a:rPr>
              <a:t>Prepare Key Selection Criteria for each vacancy based on analysis &amp; individual workplace requirements</a:t>
            </a:r>
          </a:p>
          <a:p>
            <a:endParaRPr lang="en-AU" sz="2200" b="1" dirty="0" smtClean="0">
              <a:latin typeface="Helvetica" pitchFamily="34" charset="0"/>
            </a:endParaRPr>
          </a:p>
          <a:p>
            <a:r>
              <a:rPr lang="en-AU" sz="2200" b="1" dirty="0" smtClean="0">
                <a:latin typeface="Helvetica" pitchFamily="34" charset="0"/>
              </a:rPr>
              <a:t>Ensure appropriate authority is obtained to advertise vacancies, recruit applicants &amp; engage new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Comply with house policies &amp; established practice when advertising for staff</a:t>
            </a:r>
          </a:p>
          <a:p>
            <a:endParaRPr lang="en-AU" sz="2200" b="1" dirty="0" smtClean="0">
              <a:latin typeface="Helvetica" pitchFamily="34" charset="0"/>
            </a:endParaRPr>
          </a:p>
          <a:p>
            <a:r>
              <a:rPr lang="en-AU" sz="2200" b="1" dirty="0" smtClean="0">
                <a:latin typeface="Helvetica" pitchFamily="34" charset="0"/>
              </a:rPr>
              <a:t>Consider multiple advertising options – media, online, recruitment agencies, internal sourcing, contacting trade schools, participating in trade fairs</a:t>
            </a:r>
          </a:p>
          <a:p>
            <a:endParaRPr lang="en-AU" sz="2200" b="1" dirty="0" smtClean="0">
              <a:latin typeface="Helvetica" pitchFamily="34" charset="0"/>
            </a:endParaRPr>
          </a:p>
          <a:p>
            <a:r>
              <a:rPr lang="en-AU" sz="2200" b="1" dirty="0" smtClean="0">
                <a:latin typeface="Helvetica" pitchFamily="34" charset="0"/>
              </a:rPr>
              <a:t>Use personal contacts &amp;                                            industry networks</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5" name="Picture 4" descr="00406622.jpg"/>
          <p:cNvPicPr>
            <a:picLocks noChangeAspect="1"/>
          </p:cNvPicPr>
          <p:nvPr/>
        </p:nvPicPr>
        <p:blipFill>
          <a:blip r:embed="rId3" cstate="print"/>
          <a:stretch>
            <a:fillRect/>
          </a:stretch>
        </p:blipFill>
        <p:spPr>
          <a:xfrm>
            <a:off x="5544402" y="4221088"/>
            <a:ext cx="3145061" cy="2095888"/>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Review previous job applicants</a:t>
            </a:r>
          </a:p>
          <a:p>
            <a:endParaRPr lang="en-AU" sz="2200" b="1" dirty="0" smtClean="0">
              <a:latin typeface="Helvetica" pitchFamily="34" charset="0"/>
            </a:endParaRPr>
          </a:p>
          <a:p>
            <a:r>
              <a:rPr lang="en-AU" sz="2200" b="1" dirty="0" smtClean="0">
                <a:latin typeface="Helvetica" pitchFamily="34" charset="0"/>
              </a:rPr>
              <a:t>Develop suitable advertisements that will provide sufficient information to help inform applicants but also cull inappropriate or unsuitable applications</a:t>
            </a:r>
          </a:p>
          <a:p>
            <a:endParaRPr lang="en-AU" sz="2200" b="1" dirty="0" smtClean="0">
              <a:latin typeface="Helvetica" pitchFamily="34" charset="0"/>
            </a:endParaRPr>
          </a:p>
          <a:p>
            <a:r>
              <a:rPr lang="en-AU" sz="2200" b="1" dirty="0" smtClean="0">
                <a:latin typeface="Helvetica" pitchFamily="34" charset="0"/>
              </a:rPr>
              <a:t>Provide necessary job vacancy information to assist recruitment agencies work effectively </a:t>
            </a:r>
            <a:br>
              <a:rPr lang="en-AU" sz="2200" b="1" dirty="0" smtClean="0">
                <a:latin typeface="Helvetica" pitchFamily="34" charset="0"/>
              </a:rPr>
            </a:br>
            <a:r>
              <a:rPr lang="en-AU" sz="2200" b="1" dirty="0" smtClean="0">
                <a:latin typeface="Helvetica" pitchFamily="34" charset="0"/>
              </a:rPr>
              <a:t>for you</a:t>
            </a: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5" name="Picture 4" descr="00399929.jpg"/>
          <p:cNvPicPr>
            <a:picLocks noChangeAspect="1"/>
          </p:cNvPicPr>
          <p:nvPr/>
        </p:nvPicPr>
        <p:blipFill>
          <a:blip r:embed="rId3" cstate="print"/>
          <a:stretch>
            <a:fillRect/>
          </a:stretch>
        </p:blipFill>
        <p:spPr>
          <a:xfrm>
            <a:off x="7092280" y="4328627"/>
            <a:ext cx="1433711" cy="2149517"/>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Only make public information authorised by management</a:t>
            </a:r>
          </a:p>
          <a:p>
            <a:endParaRPr lang="en-AU" sz="2200" b="1" dirty="0" smtClean="0">
              <a:latin typeface="Helvetica" pitchFamily="34" charset="0"/>
            </a:endParaRPr>
          </a:p>
          <a:p>
            <a:r>
              <a:rPr lang="en-AU" sz="2200" b="1" dirty="0" smtClean="0">
                <a:latin typeface="Helvetica" pitchFamily="34" charset="0"/>
              </a:rPr>
              <a:t>Ensure compliance with employment-related legislation.</a:t>
            </a: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5" name="Picture 4" descr="00382815.jpg"/>
          <p:cNvPicPr>
            <a:picLocks noChangeAspect="1"/>
          </p:cNvPicPr>
          <p:nvPr/>
        </p:nvPicPr>
        <p:blipFill>
          <a:blip r:embed="rId3" cstate="print"/>
          <a:stretch>
            <a:fillRect/>
          </a:stretch>
        </p:blipFill>
        <p:spPr>
          <a:xfrm>
            <a:off x="5580112" y="4005064"/>
            <a:ext cx="3000374" cy="2143124"/>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Interview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4752528"/>
          </a:xfrm>
        </p:spPr>
        <p:txBody>
          <a:bodyPr>
            <a:normAutofit/>
          </a:bodyPr>
          <a:lstStyle/>
          <a:p>
            <a:pPr marL="0" indent="0">
              <a:spcBef>
                <a:spcPts val="600"/>
              </a:spcBef>
              <a:spcAft>
                <a:spcPts val="1200"/>
              </a:spcAft>
              <a:buNone/>
            </a:pPr>
            <a:r>
              <a:rPr lang="en-US" sz="2200" b="1" dirty="0" smtClean="0">
                <a:latin typeface="Helvetica" pitchFamily="34" charset="0"/>
              </a:rPr>
              <a:t>Performance Criteria for this Element are:</a:t>
            </a:r>
          </a:p>
          <a:p>
            <a:pPr marL="360000" indent="-360000">
              <a:spcBef>
                <a:spcPts val="600"/>
              </a:spcBef>
              <a:spcAft>
                <a:spcPts val="1200"/>
              </a:spcAft>
            </a:pPr>
            <a:r>
              <a:rPr lang="en-US" sz="2200" b="1" dirty="0" smtClean="0">
                <a:latin typeface="Helvetica" pitchFamily="34" charset="0"/>
              </a:rPr>
              <a:t>Accept job applications</a:t>
            </a:r>
          </a:p>
          <a:p>
            <a:pPr marL="360000" indent="-360000">
              <a:spcBef>
                <a:spcPts val="600"/>
              </a:spcBef>
              <a:spcAft>
                <a:spcPts val="1200"/>
              </a:spcAft>
            </a:pPr>
            <a:r>
              <a:rPr lang="en-US" sz="2200" b="1" dirty="0" smtClean="0">
                <a:latin typeface="Helvetica" pitchFamily="34" charset="0"/>
              </a:rPr>
              <a:t>Short-list applicants</a:t>
            </a:r>
          </a:p>
          <a:p>
            <a:pPr marL="360000" indent="-360000">
              <a:spcBef>
                <a:spcPts val="600"/>
              </a:spcBef>
              <a:spcAft>
                <a:spcPts val="1200"/>
              </a:spcAft>
            </a:pPr>
            <a:r>
              <a:rPr lang="en-US" sz="2200" b="1" dirty="0" smtClean="0">
                <a:latin typeface="Helvetica" pitchFamily="34" charset="0"/>
              </a:rPr>
              <a:t>Check references &amp; referees</a:t>
            </a:r>
          </a:p>
          <a:p>
            <a:pPr marL="360000" lvl="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6" name="Picture 5" descr="j0402310.jpg"/>
          <p:cNvPicPr>
            <a:picLocks noChangeAspect="1"/>
          </p:cNvPicPr>
          <p:nvPr/>
        </p:nvPicPr>
        <p:blipFill>
          <a:blip r:embed="rId3" cstate="print"/>
          <a:stretch>
            <a:fillRect/>
          </a:stretch>
        </p:blipFill>
        <p:spPr>
          <a:xfrm>
            <a:off x="5857884" y="3914778"/>
            <a:ext cx="2879414" cy="2303532"/>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Interview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24536"/>
          </a:xfrm>
        </p:spPr>
        <p:txBody>
          <a:bodyPr>
            <a:normAutofit/>
          </a:bodyPr>
          <a:lstStyle/>
          <a:p>
            <a:pPr marL="360000" indent="-360000">
              <a:spcBef>
                <a:spcPts val="600"/>
              </a:spcBef>
              <a:spcAft>
                <a:spcPts val="1200"/>
              </a:spcAft>
            </a:pPr>
            <a:r>
              <a:rPr lang="en-US" sz="2200" b="1" dirty="0" smtClean="0">
                <a:latin typeface="Helvetica" pitchFamily="34" charset="0"/>
              </a:rPr>
              <a:t>Notify applicant of interview</a:t>
            </a:r>
          </a:p>
          <a:p>
            <a:pPr marL="360000" indent="-360000">
              <a:spcBef>
                <a:spcPts val="600"/>
              </a:spcBef>
              <a:spcAft>
                <a:spcPts val="1200"/>
              </a:spcAft>
            </a:pPr>
            <a:r>
              <a:rPr lang="en-US" sz="2200" b="1" dirty="0" smtClean="0">
                <a:latin typeface="Helvetica" pitchFamily="34" charset="0"/>
              </a:rPr>
              <a:t>Conduct job interview</a:t>
            </a:r>
          </a:p>
          <a:p>
            <a:pPr marL="360000" indent="-360000">
              <a:spcBef>
                <a:spcPts val="600"/>
              </a:spcBef>
              <a:spcAft>
                <a:spcPts val="1200"/>
              </a:spcAft>
            </a:pPr>
            <a:r>
              <a:rPr lang="en-US" sz="2200" b="1" dirty="0" smtClean="0">
                <a:latin typeface="Helvetica" pitchFamily="34" charset="0"/>
              </a:rPr>
              <a:t>Apply relevant testing procedures</a:t>
            </a:r>
          </a:p>
          <a:p>
            <a:pPr marL="360000" indent="-360000">
              <a:spcBef>
                <a:spcPts val="600"/>
              </a:spcBef>
              <a:spcAft>
                <a:spcPts val="1200"/>
              </a:spcAft>
            </a:pPr>
            <a:r>
              <a:rPr lang="en-US" sz="2200" b="1" dirty="0" smtClean="0">
                <a:latin typeface="Helvetica" pitchFamily="34" charset="0"/>
              </a:rPr>
              <a:t>File application &amp; interview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6" name="Picture 5" descr="00409035.jpg"/>
          <p:cNvPicPr>
            <a:picLocks noChangeAspect="1"/>
          </p:cNvPicPr>
          <p:nvPr/>
        </p:nvPicPr>
        <p:blipFill>
          <a:blip r:embed="rId3" cstate="print"/>
          <a:stretch>
            <a:fillRect/>
          </a:stretch>
        </p:blipFill>
        <p:spPr>
          <a:xfrm>
            <a:off x="5796136" y="3861048"/>
            <a:ext cx="2564904" cy="2564904"/>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Accept job applications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0" indent="0">
              <a:spcBef>
                <a:spcPts val="600"/>
              </a:spcBef>
              <a:spcAft>
                <a:spcPts val="1200"/>
              </a:spcAft>
              <a:buNone/>
            </a:pPr>
            <a:r>
              <a:rPr lang="en-US" sz="2200" b="1" dirty="0" smtClean="0">
                <a:latin typeface="Helvetica" pitchFamily="34" charset="0"/>
              </a:rPr>
              <a:t>Once a vacancy has been advertised :</a:t>
            </a:r>
          </a:p>
          <a:p>
            <a:pPr marL="360000" indent="-360000">
              <a:spcBef>
                <a:spcPts val="600"/>
              </a:spcBef>
              <a:spcAft>
                <a:spcPts val="1200"/>
              </a:spcAft>
            </a:pPr>
            <a:r>
              <a:rPr lang="en-US" sz="2200" b="1" dirty="0" smtClean="0">
                <a:latin typeface="Helvetica" pitchFamily="34" charset="0"/>
              </a:rPr>
              <a:t>Expect applications immediately</a:t>
            </a:r>
          </a:p>
          <a:p>
            <a:pPr marL="360000" indent="-360000">
              <a:spcBef>
                <a:spcPts val="600"/>
              </a:spcBef>
              <a:spcAft>
                <a:spcPts val="1200"/>
              </a:spcAft>
            </a:pPr>
            <a:r>
              <a:rPr lang="en-US" sz="2200" b="1" dirty="0" smtClean="0">
                <a:latin typeface="Helvetica" pitchFamily="34" charset="0"/>
              </a:rPr>
              <a:t>Expect calls &amp; queries from job-seekers &amp; recruitment agencies</a:t>
            </a:r>
          </a:p>
          <a:p>
            <a:pPr marL="360000" indent="-360000">
              <a:spcBef>
                <a:spcPts val="600"/>
              </a:spcBef>
              <a:spcAft>
                <a:spcPts val="1200"/>
              </a:spcAft>
            </a:pPr>
            <a:r>
              <a:rPr lang="en-US" sz="2200" b="1" dirty="0" smtClean="0">
                <a:latin typeface="Helvetica" pitchFamily="34" charset="0"/>
              </a:rPr>
              <a:t>Accept &amp; file the applications.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5" name="Picture 4" descr="00409672.jpg"/>
          <p:cNvPicPr>
            <a:picLocks noChangeAspect="1"/>
          </p:cNvPicPr>
          <p:nvPr/>
        </p:nvPicPr>
        <p:blipFill>
          <a:blip r:embed="rId3" cstate="print"/>
          <a:stretch>
            <a:fillRect/>
          </a:stretch>
        </p:blipFill>
        <p:spPr>
          <a:xfrm>
            <a:off x="5868144" y="3501008"/>
            <a:ext cx="2564904" cy="2564904"/>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Accept job applications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0" indent="0">
              <a:spcBef>
                <a:spcPts val="600"/>
              </a:spcBef>
              <a:spcAft>
                <a:spcPts val="1200"/>
              </a:spcAft>
              <a:buNone/>
            </a:pPr>
            <a:r>
              <a:rPr lang="en-US" sz="2200" b="1" dirty="0" smtClean="0">
                <a:latin typeface="Helvetica" pitchFamily="34" charset="0"/>
              </a:rPr>
              <a:t>When taking applications:</a:t>
            </a:r>
          </a:p>
          <a:p>
            <a:pPr marL="360000" indent="-360000">
              <a:spcBef>
                <a:spcPts val="600"/>
              </a:spcBef>
              <a:spcAft>
                <a:spcPts val="1200"/>
              </a:spcAft>
            </a:pPr>
            <a:r>
              <a:rPr lang="en-US" sz="2200" b="1" dirty="0" smtClean="0">
                <a:latin typeface="Helvetica" pitchFamily="34" charset="0"/>
              </a:rPr>
              <a:t>Understand good applications can arrive by alternate means</a:t>
            </a:r>
          </a:p>
          <a:p>
            <a:pPr marL="360000" indent="-360000">
              <a:spcBef>
                <a:spcPts val="600"/>
              </a:spcBef>
              <a:spcAft>
                <a:spcPts val="1200"/>
              </a:spcAft>
            </a:pPr>
            <a:r>
              <a:rPr lang="en-US" sz="2200" b="1" dirty="0" smtClean="0">
                <a:latin typeface="Helvetica" pitchFamily="34" charset="0"/>
              </a:rPr>
              <a:t>They should be recorded</a:t>
            </a:r>
          </a:p>
          <a:p>
            <a:pPr marL="360000" indent="-360000">
              <a:spcBef>
                <a:spcPts val="600"/>
              </a:spcBef>
              <a:spcAft>
                <a:spcPts val="1200"/>
              </a:spcAft>
            </a:pPr>
            <a:r>
              <a:rPr lang="en-US" sz="2200" b="1" dirty="0" smtClean="0">
                <a:latin typeface="Helvetica" pitchFamily="34" charset="0"/>
              </a:rPr>
              <a:t>Applications can be processed ‘as they arrive’ or when ‘closing date’ for applications arrives</a:t>
            </a:r>
          </a:p>
          <a:p>
            <a:pPr marL="360000" lvl="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6" name="Picture 5" descr="00227474.jpg"/>
          <p:cNvPicPr>
            <a:picLocks noChangeAspect="1"/>
          </p:cNvPicPr>
          <p:nvPr/>
        </p:nvPicPr>
        <p:blipFill>
          <a:blip r:embed="rId3" cstate="print"/>
          <a:stretch>
            <a:fillRect/>
          </a:stretch>
        </p:blipFill>
        <p:spPr>
          <a:xfrm>
            <a:off x="6068166" y="4581128"/>
            <a:ext cx="2377458" cy="1604784"/>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Accept job applications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896544"/>
          </a:xfrm>
        </p:spPr>
        <p:txBody>
          <a:bodyPr>
            <a:normAutofit/>
          </a:bodyPr>
          <a:lstStyle/>
          <a:p>
            <a:pPr marL="360000" indent="-360000">
              <a:spcBef>
                <a:spcPts val="600"/>
              </a:spcBef>
              <a:spcAft>
                <a:spcPts val="1200"/>
              </a:spcAft>
            </a:pPr>
            <a:r>
              <a:rPr lang="en-US" sz="2200" b="1" dirty="0" smtClean="0">
                <a:latin typeface="Helvetica" pitchFamily="34" charset="0"/>
              </a:rPr>
              <a:t>Unsuitable applicants can be rejected at this stage</a:t>
            </a:r>
          </a:p>
          <a:p>
            <a:pPr marL="360000" indent="-360000">
              <a:spcBef>
                <a:spcPts val="600"/>
              </a:spcBef>
              <a:spcAft>
                <a:spcPts val="1200"/>
              </a:spcAft>
            </a:pPr>
            <a:r>
              <a:rPr lang="en-US" sz="2200" b="1" dirty="0" smtClean="0">
                <a:latin typeface="Helvetica" pitchFamily="34" charset="0"/>
              </a:rPr>
              <a:t>A ‘Letter of Thanks and Regret’ should be sent</a:t>
            </a:r>
          </a:p>
          <a:p>
            <a:pPr marL="360000" indent="-360000">
              <a:spcBef>
                <a:spcPts val="600"/>
              </a:spcBef>
              <a:spcAft>
                <a:spcPts val="1200"/>
              </a:spcAft>
            </a:pPr>
            <a:r>
              <a:rPr lang="en-US" sz="2200" b="1" dirty="0" smtClean="0">
                <a:latin typeface="Helvetica" pitchFamily="34" charset="0"/>
              </a:rPr>
              <a:t>Some businesses also return applicant’s CV</a:t>
            </a:r>
          </a:p>
          <a:p>
            <a:pPr marL="360000" indent="-360000">
              <a:spcBef>
                <a:spcPts val="600"/>
              </a:spcBef>
              <a:spcAft>
                <a:spcPts val="1200"/>
              </a:spcAft>
            </a:pPr>
            <a:r>
              <a:rPr lang="en-US" sz="2200" b="1" dirty="0" smtClean="0">
                <a:latin typeface="Helvetica" pitchFamily="34" charset="0"/>
              </a:rPr>
              <a:t>Some businesses retain all applications.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5" name="Picture 4" descr="00341415.jpg"/>
          <p:cNvPicPr>
            <a:picLocks noChangeAspect="1"/>
          </p:cNvPicPr>
          <p:nvPr/>
        </p:nvPicPr>
        <p:blipFill>
          <a:blip r:embed="rId3" cstate="print"/>
          <a:stretch>
            <a:fillRect/>
          </a:stretch>
        </p:blipFill>
        <p:spPr>
          <a:xfrm>
            <a:off x="6588224" y="3573016"/>
            <a:ext cx="1894708" cy="2656133"/>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Short-list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896544"/>
          </a:xfrm>
        </p:spPr>
        <p:txBody>
          <a:bodyPr>
            <a:normAutofit/>
          </a:bodyPr>
          <a:lstStyle/>
          <a:p>
            <a:pPr marL="0" indent="0">
              <a:spcBef>
                <a:spcPts val="600"/>
              </a:spcBef>
              <a:spcAft>
                <a:spcPts val="1200"/>
              </a:spcAft>
              <a:buNone/>
            </a:pPr>
            <a:r>
              <a:rPr lang="en-US" sz="2200" b="1" dirty="0" smtClean="0">
                <a:latin typeface="Helvetica" pitchFamily="34" charset="0"/>
              </a:rPr>
              <a:t>‘Short-listing’ = </a:t>
            </a:r>
            <a:r>
              <a:rPr lang="en-AU" sz="2200" b="1" dirty="0" smtClean="0">
                <a:latin typeface="Helvetica" pitchFamily="34" charset="0"/>
              </a:rPr>
              <a:t>the process of developing a list of applicants who will proceed through to the interview stage of the selection process</a:t>
            </a:r>
            <a:r>
              <a:rPr lang="en-US" sz="2200" b="1" dirty="0" smtClean="0">
                <a:latin typeface="Helvetica" pitchFamily="34" charset="0"/>
              </a:rPr>
              <a:t>:</a:t>
            </a:r>
          </a:p>
          <a:p>
            <a:pPr marL="360000" indent="-360000">
              <a:spcBef>
                <a:spcPts val="600"/>
              </a:spcBef>
              <a:spcAft>
                <a:spcPts val="1200"/>
              </a:spcAft>
            </a:pPr>
            <a:r>
              <a:rPr lang="en-US" sz="2200" b="1" dirty="0" smtClean="0">
                <a:latin typeface="Helvetica" pitchFamily="34" charset="0"/>
              </a:rPr>
              <a:t>Not all suitable applications are short-listed</a:t>
            </a:r>
          </a:p>
          <a:p>
            <a:pPr marL="360000" indent="-360000">
              <a:spcBef>
                <a:spcPts val="600"/>
              </a:spcBef>
              <a:spcAft>
                <a:spcPts val="1200"/>
              </a:spcAft>
            </a:pPr>
            <a:r>
              <a:rPr lang="en-US" sz="2200" b="1" dirty="0" smtClean="0">
                <a:latin typeface="Helvetica" pitchFamily="34" charset="0"/>
              </a:rPr>
              <a:t>Determining who will be short-listed may involve: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Reading ‘Covering letter’ of application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Brief reading of CV</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Brief reading of application form</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5" name="Picture 4" descr="00396162.jpg"/>
          <p:cNvPicPr>
            <a:picLocks noChangeAspect="1"/>
          </p:cNvPicPr>
          <p:nvPr/>
        </p:nvPicPr>
        <p:blipFill>
          <a:blip r:embed="rId3" cstate="print"/>
          <a:stretch>
            <a:fillRect/>
          </a:stretch>
        </p:blipFill>
        <p:spPr>
          <a:xfrm>
            <a:off x="7000892" y="3857628"/>
            <a:ext cx="1554480" cy="2340864"/>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Short-list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0" indent="0">
              <a:spcBef>
                <a:spcPts val="600"/>
              </a:spcBef>
              <a:spcAft>
                <a:spcPts val="1200"/>
              </a:spcAft>
              <a:buClr>
                <a:schemeClr val="accent1">
                  <a:lumMod val="75000"/>
                </a:schemeClr>
              </a:buClr>
              <a:buSzPct val="100000"/>
              <a:buNone/>
            </a:pPr>
            <a:r>
              <a:rPr lang="en-US" sz="2200" b="1" dirty="0" smtClean="0">
                <a:latin typeface="Helvetica" pitchFamily="34" charset="0"/>
              </a:rPr>
              <a:t>Brief reading of ‘accompanying documentation’:</a:t>
            </a:r>
          </a:p>
          <a:p>
            <a:pPr marL="360000" indent="-360000">
              <a:spcBef>
                <a:spcPts val="600"/>
              </a:spcBef>
              <a:spcAft>
                <a:spcPts val="1200"/>
              </a:spcAft>
            </a:pPr>
            <a:r>
              <a:rPr lang="en-US" sz="2200" b="1" dirty="0" smtClean="0">
                <a:latin typeface="Helvetica" pitchFamily="34" charset="0"/>
              </a:rPr>
              <a:t>Update the application register</a:t>
            </a:r>
          </a:p>
          <a:p>
            <a:pPr marL="360000" indent="-360000">
              <a:spcBef>
                <a:spcPts val="600"/>
              </a:spcBef>
              <a:spcAft>
                <a:spcPts val="1200"/>
              </a:spcAft>
            </a:pPr>
            <a:r>
              <a:rPr lang="en-US" sz="2200" b="1" dirty="0" smtClean="0">
                <a:latin typeface="Helvetica" pitchFamily="34" charset="0"/>
              </a:rPr>
              <a:t>File applications</a:t>
            </a:r>
          </a:p>
          <a:p>
            <a:pPr marL="360000" indent="-360000">
              <a:spcBef>
                <a:spcPts val="600"/>
              </a:spcBef>
              <a:spcAft>
                <a:spcPts val="1200"/>
              </a:spcAft>
            </a:pPr>
            <a:r>
              <a:rPr lang="en-US" sz="2200" b="1" dirty="0" smtClean="0">
                <a:latin typeface="Helvetica" pitchFamily="34" charset="0"/>
              </a:rPr>
              <a:t>Senior positions receive more attention in this process.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5" name="Picture 4" descr="00430758.jpg"/>
          <p:cNvPicPr>
            <a:picLocks noChangeAspect="1"/>
          </p:cNvPicPr>
          <p:nvPr/>
        </p:nvPicPr>
        <p:blipFill>
          <a:blip r:embed="rId3" cstate="print"/>
          <a:stretch>
            <a:fillRect/>
          </a:stretch>
        </p:blipFill>
        <p:spPr>
          <a:xfrm>
            <a:off x="6000760" y="4286256"/>
            <a:ext cx="2738874" cy="1814504"/>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Short-list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0" indent="0">
              <a:spcBef>
                <a:spcPts val="600"/>
              </a:spcBef>
              <a:spcAft>
                <a:spcPts val="1200"/>
              </a:spcAft>
              <a:buNone/>
            </a:pPr>
            <a:r>
              <a:rPr lang="en-US" sz="2200" b="1" dirty="0" smtClean="0">
                <a:latin typeface="Helvetica" pitchFamily="34" charset="0"/>
              </a:rPr>
              <a:t>You may also need to:</a:t>
            </a:r>
          </a:p>
          <a:p>
            <a:pPr marL="360000" indent="-360000">
              <a:spcBef>
                <a:spcPts val="600"/>
              </a:spcBef>
              <a:spcAft>
                <a:spcPts val="1200"/>
              </a:spcAft>
            </a:pPr>
            <a:r>
              <a:rPr lang="en-US" sz="2200" b="1" dirty="0" smtClean="0">
                <a:latin typeface="Helvetica" pitchFamily="34" charset="0"/>
              </a:rPr>
              <a:t>Contact the applicant in-person to:</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Obtain more information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Clarify an ambiguous point in their application</a:t>
            </a:r>
          </a:p>
          <a:p>
            <a:pPr marL="360000" indent="-360000">
              <a:spcBef>
                <a:spcPts val="600"/>
              </a:spcBef>
              <a:spcAft>
                <a:spcPts val="1200"/>
              </a:spcAft>
            </a:pPr>
            <a:r>
              <a:rPr lang="en-US" sz="2200" b="1" dirty="0" smtClean="0">
                <a:latin typeface="Helvetica" pitchFamily="34" charset="0"/>
              </a:rPr>
              <a:t>Contact the recruitment agency – for extra information &amp; their impression about an individual candidate.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5" name="Picture 4" descr="j0400269.jpg"/>
          <p:cNvPicPr>
            <a:picLocks noChangeAspect="1"/>
          </p:cNvPicPr>
          <p:nvPr/>
        </p:nvPicPr>
        <p:blipFill>
          <a:blip r:embed="rId3" cstate="print"/>
          <a:stretch>
            <a:fillRect/>
          </a:stretch>
        </p:blipFill>
        <p:spPr>
          <a:xfrm>
            <a:off x="7164288" y="4581128"/>
            <a:ext cx="1446386" cy="1808424"/>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Short-list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lgn="ctr">
              <a:spcBef>
                <a:spcPts val="600"/>
              </a:spcBef>
              <a:spcAft>
                <a:spcPts val="1200"/>
              </a:spcAft>
              <a:buNone/>
            </a:pPr>
            <a:r>
              <a:rPr lang="en-US" sz="2200" b="1" dirty="0" smtClean="0">
                <a:latin typeface="Helvetica" pitchFamily="34" charset="0"/>
              </a:rPr>
              <a:t>Successful applicants who have been short-listed will need to be advised of interview details.</a:t>
            </a:r>
          </a:p>
          <a:p>
            <a:pPr marL="0" indent="0" algn="ctr">
              <a:spcBef>
                <a:spcPts val="600"/>
              </a:spcBef>
              <a:spcAft>
                <a:spcPts val="1200"/>
              </a:spcAft>
              <a:buNone/>
            </a:pPr>
            <a:endParaRPr lang="en-US" sz="2200" b="1" dirty="0" smtClean="0">
              <a:latin typeface="Helvetica" pitchFamily="34" charset="0"/>
            </a:endParaRPr>
          </a:p>
          <a:p>
            <a:pPr marL="0" indent="0" algn="ctr">
              <a:spcBef>
                <a:spcPts val="600"/>
              </a:spcBef>
              <a:spcAft>
                <a:spcPts val="1200"/>
              </a:spcAft>
              <a:buNone/>
            </a:pPr>
            <a:r>
              <a:rPr lang="en-US" sz="2200" b="1" dirty="0" smtClean="0">
                <a:latin typeface="Helvetica" pitchFamily="34" charset="0"/>
              </a:rPr>
              <a:t>Unsuccessful applicants will have ‘Letter of Thanks &amp; Regret’ sent to them.</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6" name="Picture 5" descr="j0410121.jpg"/>
          <p:cNvPicPr>
            <a:picLocks noChangeAspect="1"/>
          </p:cNvPicPr>
          <p:nvPr/>
        </p:nvPicPr>
        <p:blipFill>
          <a:blip r:embed="rId3" cstate="print"/>
          <a:stretch>
            <a:fillRect/>
          </a:stretch>
        </p:blipFill>
        <p:spPr>
          <a:xfrm>
            <a:off x="6804248" y="3717032"/>
            <a:ext cx="1753650" cy="2636912"/>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references &amp; referees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208912" cy="5301208"/>
          </a:xfrm>
        </p:spPr>
        <p:txBody>
          <a:bodyPr>
            <a:normAutofit/>
          </a:bodyPr>
          <a:lstStyle/>
          <a:p>
            <a:pPr marL="0" indent="0">
              <a:spcBef>
                <a:spcPts val="600"/>
              </a:spcBef>
              <a:spcAft>
                <a:spcPts val="1200"/>
              </a:spcAft>
              <a:buNone/>
            </a:pPr>
            <a:r>
              <a:rPr lang="en-US" sz="2200" b="1" dirty="0" smtClean="0">
                <a:latin typeface="Helvetica" pitchFamily="34" charset="0"/>
              </a:rPr>
              <a:t>‘References = </a:t>
            </a:r>
            <a:r>
              <a:rPr lang="en-AU" sz="2200" b="1" dirty="0" smtClean="0">
                <a:latin typeface="Helvetica" pitchFamily="34" charset="0"/>
              </a:rPr>
              <a:t>written testimonials about the applicant provided by those who know the applicant</a:t>
            </a:r>
            <a:r>
              <a:rPr lang="en-US" sz="2200" b="1" dirty="0" smtClean="0">
                <a:latin typeface="Helvetica" pitchFamily="34" charset="0"/>
              </a:rPr>
              <a:t>:</a:t>
            </a:r>
          </a:p>
          <a:p>
            <a:pPr marL="360000" indent="-360000">
              <a:spcBef>
                <a:spcPts val="600"/>
              </a:spcBef>
              <a:spcAft>
                <a:spcPts val="1200"/>
              </a:spcAft>
            </a:pPr>
            <a:r>
              <a:rPr lang="en-US" sz="2200" b="1" dirty="0" smtClean="0">
                <a:latin typeface="Helvetica" pitchFamily="34" charset="0"/>
              </a:rPr>
              <a:t>Usually typed on letterhead</a:t>
            </a:r>
          </a:p>
          <a:p>
            <a:pPr marL="360000" indent="-360000">
              <a:spcBef>
                <a:spcPts val="600"/>
              </a:spcBef>
              <a:spcAft>
                <a:spcPts val="1200"/>
              </a:spcAft>
            </a:pPr>
            <a:r>
              <a:rPr lang="en-US" sz="2200" b="1" dirty="0" smtClean="0">
                <a:latin typeface="Helvetica" pitchFamily="34" charset="0"/>
              </a:rPr>
              <a:t>Contain: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Date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Name &amp; position of person writing the reference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How long person has known applicant</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Details of their character &amp; reliability.</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5" name="Picture 4" descr="j0438585.jpg"/>
          <p:cNvPicPr>
            <a:picLocks noChangeAspect="1"/>
          </p:cNvPicPr>
          <p:nvPr/>
        </p:nvPicPr>
        <p:blipFill>
          <a:blip r:embed="rId3" cstate="print"/>
          <a:stretch>
            <a:fillRect/>
          </a:stretch>
        </p:blipFill>
        <p:spPr>
          <a:xfrm>
            <a:off x="6372200" y="2492896"/>
            <a:ext cx="2153030" cy="1429202"/>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references &amp; referees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968552"/>
          </a:xfrm>
        </p:spPr>
        <p:txBody>
          <a:bodyPr>
            <a:normAutofit/>
          </a:bodyPr>
          <a:lstStyle/>
          <a:p>
            <a:pPr marL="0" indent="0">
              <a:spcBef>
                <a:spcPts val="600"/>
              </a:spcBef>
              <a:spcAft>
                <a:spcPts val="1200"/>
              </a:spcAft>
              <a:buNone/>
            </a:pPr>
            <a:r>
              <a:rPr lang="en-US" sz="2200" b="1" dirty="0" smtClean="0">
                <a:latin typeface="Helvetica" pitchFamily="34" charset="0"/>
              </a:rPr>
              <a:t>‘Statement of Employment’:</a:t>
            </a:r>
          </a:p>
          <a:p>
            <a:pPr marL="360000" indent="-360000">
              <a:spcBef>
                <a:spcPts val="600"/>
              </a:spcBef>
              <a:spcAft>
                <a:spcPts val="1200"/>
              </a:spcAft>
            </a:pPr>
            <a:r>
              <a:rPr lang="en-US" sz="2200" b="1" dirty="0" smtClean="0">
                <a:latin typeface="Helvetica" pitchFamily="34" charset="0"/>
              </a:rPr>
              <a:t>Some employers will not provide a reference – only a Statement of Employment detailing basic information: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Employee name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Employer name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Position/s held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Start &amp; finish dates.</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6" name="Picture 5" descr="MP900423018[1].JPG"/>
          <p:cNvPicPr>
            <a:picLocks noChangeAspect="1"/>
          </p:cNvPicPr>
          <p:nvPr/>
        </p:nvPicPr>
        <p:blipFill>
          <a:blip r:embed="rId3" cstate="print"/>
          <a:stretch>
            <a:fillRect/>
          </a:stretch>
        </p:blipFill>
        <p:spPr>
          <a:xfrm>
            <a:off x="5580112" y="3429000"/>
            <a:ext cx="2780928" cy="2780928"/>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references &amp; referees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968552"/>
          </a:xfrm>
        </p:spPr>
        <p:txBody>
          <a:bodyPr>
            <a:normAutofit/>
          </a:bodyPr>
          <a:lstStyle/>
          <a:p>
            <a:pPr marL="0" indent="0">
              <a:spcBef>
                <a:spcPts val="600"/>
              </a:spcBef>
              <a:spcAft>
                <a:spcPts val="1200"/>
              </a:spcAft>
              <a:buNone/>
            </a:pPr>
            <a:r>
              <a:rPr lang="en-US" sz="2200" b="1" dirty="0" smtClean="0">
                <a:latin typeface="Helvetica" pitchFamily="34" charset="0"/>
              </a:rPr>
              <a:t>‘Referee’ may be:</a:t>
            </a:r>
          </a:p>
          <a:p>
            <a:pPr marL="360000" indent="-360000">
              <a:spcBef>
                <a:spcPts val="600"/>
              </a:spcBef>
              <a:spcAft>
                <a:spcPts val="1200"/>
              </a:spcAft>
            </a:pPr>
            <a:r>
              <a:rPr lang="en-US" sz="2200" b="1" dirty="0" smtClean="0">
                <a:latin typeface="Helvetica" pitchFamily="34" charset="0"/>
              </a:rPr>
              <a:t>Someone who has written a reference</a:t>
            </a:r>
          </a:p>
          <a:p>
            <a:pPr marL="360000" indent="-360000">
              <a:spcBef>
                <a:spcPts val="600"/>
              </a:spcBef>
              <a:spcAft>
                <a:spcPts val="1200"/>
              </a:spcAft>
            </a:pPr>
            <a:r>
              <a:rPr lang="en-US" sz="2200" b="1" dirty="0" smtClean="0">
                <a:latin typeface="Helvetica" pitchFamily="34" charset="0"/>
              </a:rPr>
              <a:t>Someone prepared to speak on behalf of an applicant but who has not written a reference</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6" name="Picture 5" descr="MP900422149[1].JPG"/>
          <p:cNvPicPr>
            <a:picLocks noChangeAspect="1"/>
          </p:cNvPicPr>
          <p:nvPr/>
        </p:nvPicPr>
        <p:blipFill>
          <a:blip r:embed="rId3" cstate="print"/>
          <a:stretch>
            <a:fillRect/>
          </a:stretch>
        </p:blipFill>
        <p:spPr>
          <a:xfrm>
            <a:off x="5220072" y="3861048"/>
            <a:ext cx="3380609" cy="2247577"/>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references &amp; referees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752528"/>
          </a:xfrm>
        </p:spPr>
        <p:txBody>
          <a:bodyPr>
            <a:normAutofit/>
          </a:bodyPr>
          <a:lstStyle/>
          <a:p>
            <a:pPr marL="0" indent="0">
              <a:spcBef>
                <a:spcPts val="600"/>
              </a:spcBef>
              <a:spcAft>
                <a:spcPts val="1200"/>
              </a:spcAft>
              <a:buNone/>
            </a:pPr>
            <a:r>
              <a:rPr lang="en-US" sz="2200" b="1" dirty="0" smtClean="0">
                <a:latin typeface="Helvetica" pitchFamily="34" charset="0"/>
              </a:rPr>
              <a:t>Checking references means contacting the person who has written a reference.</a:t>
            </a:r>
          </a:p>
          <a:p>
            <a:pPr marL="0" indent="0">
              <a:spcBef>
                <a:spcPts val="600"/>
              </a:spcBef>
              <a:spcAft>
                <a:spcPts val="1200"/>
              </a:spcAft>
              <a:buNone/>
            </a:pPr>
            <a:r>
              <a:rPr lang="en-US" sz="2200" b="1" dirty="0" smtClean="0">
                <a:latin typeface="Helvetica" pitchFamily="34" charset="0"/>
              </a:rPr>
              <a:t>Checks may be undertaken: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Before interview</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After interview.</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5" name="Picture 4" descr="MP900422989[1].JPG"/>
          <p:cNvPicPr>
            <a:picLocks noChangeAspect="1"/>
          </p:cNvPicPr>
          <p:nvPr/>
        </p:nvPicPr>
        <p:blipFill>
          <a:blip r:embed="rId3" cstate="print"/>
          <a:stretch>
            <a:fillRect/>
          </a:stretch>
        </p:blipFill>
        <p:spPr>
          <a:xfrm>
            <a:off x="6300192" y="3068960"/>
            <a:ext cx="2315028" cy="2996952"/>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references &amp; referees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968552"/>
          </a:xfrm>
        </p:spPr>
        <p:txBody>
          <a:bodyPr>
            <a:normAutofit/>
          </a:bodyPr>
          <a:lstStyle/>
          <a:p>
            <a:pPr marL="0" indent="0">
              <a:spcBef>
                <a:spcPts val="600"/>
              </a:spcBef>
              <a:spcAft>
                <a:spcPts val="1200"/>
              </a:spcAft>
              <a:buNone/>
            </a:pPr>
            <a:r>
              <a:rPr lang="en-US" sz="2200" b="1" dirty="0" smtClean="0">
                <a:latin typeface="Helvetica" pitchFamily="34" charset="0"/>
              </a:rPr>
              <a:t>References &amp; referees must be checked:</a:t>
            </a:r>
          </a:p>
          <a:p>
            <a:pPr marL="360000" indent="-360000">
              <a:spcBef>
                <a:spcPts val="600"/>
              </a:spcBef>
              <a:spcAft>
                <a:spcPts val="1200"/>
              </a:spcAft>
            </a:pPr>
            <a:r>
              <a:rPr lang="en-US" sz="2200" b="1" dirty="0" smtClean="0">
                <a:latin typeface="Helvetica" pitchFamily="34" charset="0"/>
              </a:rPr>
              <a:t>To make sure references are genuine</a:t>
            </a:r>
          </a:p>
          <a:p>
            <a:pPr marL="360000" indent="-360000">
              <a:spcBef>
                <a:spcPts val="600"/>
              </a:spcBef>
              <a:spcAft>
                <a:spcPts val="1200"/>
              </a:spcAft>
            </a:pPr>
            <a:r>
              <a:rPr lang="en-US" sz="2200" b="1" dirty="0" smtClean="0">
                <a:latin typeface="Helvetica" pitchFamily="34" charset="0"/>
              </a:rPr>
              <a:t>To check if all the positive statements are, in fact, true</a:t>
            </a:r>
          </a:p>
          <a:p>
            <a:pPr marL="360000" indent="-360000">
              <a:spcBef>
                <a:spcPts val="600"/>
              </a:spcBef>
              <a:spcAft>
                <a:spcPts val="1200"/>
              </a:spcAft>
            </a:pPr>
            <a:r>
              <a:rPr lang="en-US" sz="2200" b="1" dirty="0" smtClean="0">
                <a:latin typeface="Helvetica" pitchFamily="34" charset="0"/>
              </a:rPr>
              <a:t>To verify claims made by the applicant.</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5" name="Picture 4" descr="MP900444381[1].JPG"/>
          <p:cNvPicPr>
            <a:picLocks noChangeAspect="1"/>
          </p:cNvPicPr>
          <p:nvPr/>
        </p:nvPicPr>
        <p:blipFill>
          <a:blip r:embed="rId3" cstate="print"/>
          <a:stretch>
            <a:fillRect/>
          </a:stretch>
        </p:blipFill>
        <p:spPr>
          <a:xfrm>
            <a:off x="6516216" y="3471330"/>
            <a:ext cx="2176274" cy="2815934"/>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references &amp; referees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5" name="Picture 4" descr="00443226.jpg"/>
          <p:cNvPicPr>
            <a:picLocks noChangeAspect="1"/>
          </p:cNvPicPr>
          <p:nvPr/>
        </p:nvPicPr>
        <p:blipFill>
          <a:blip r:embed="rId3" cstate="print"/>
          <a:stretch>
            <a:fillRect/>
          </a:stretch>
        </p:blipFill>
        <p:spPr>
          <a:xfrm>
            <a:off x="6228184" y="4653136"/>
            <a:ext cx="2429169" cy="1616585"/>
          </a:xfrm>
          <a:prstGeom prst="rect">
            <a:avLst/>
          </a:prstGeom>
        </p:spPr>
      </p:pic>
      <p:sp>
        <p:nvSpPr>
          <p:cNvPr id="6" name="Content Placeholder 2"/>
          <p:cNvSpPr txBox="1">
            <a:spLocks/>
          </p:cNvSpPr>
          <p:nvPr/>
        </p:nvSpPr>
        <p:spPr>
          <a:xfrm>
            <a:off x="611560" y="1556792"/>
            <a:ext cx="8136904" cy="4896544"/>
          </a:xfrm>
          <a:prstGeom prst="rect">
            <a:avLst/>
          </a:prstGeom>
        </p:spPr>
        <p:txBody>
          <a:bodyPr vert="horz">
            <a:normAutofit/>
          </a:bodyPr>
          <a:lstStyle/>
          <a:p>
            <a:pPr>
              <a:spcBef>
                <a:spcPts val="600"/>
              </a:spcBef>
              <a:spcAft>
                <a:spcPts val="1200"/>
              </a:spcAft>
            </a:pPr>
            <a:r>
              <a:rPr lang="en-US" sz="2200" b="1" dirty="0" smtClean="0">
                <a:latin typeface="Helvetica" pitchFamily="34" charset="0"/>
              </a:rPr>
              <a:t>Check what applies in your workplace:</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Not all employers will do any of these checks</a:t>
            </a:r>
          </a:p>
          <a:p>
            <a:pPr marL="360000" lvl="0" indent="-360000">
              <a:spcBef>
                <a:spcPts val="600"/>
              </a:spcBef>
              <a:spcAft>
                <a:spcPts val="1200"/>
              </a:spcAft>
              <a:buClr>
                <a:schemeClr val="accent1"/>
              </a:buClr>
              <a:buSzPct val="80000"/>
              <a:buFont typeface="Wingdings 2"/>
              <a:buChar char=""/>
            </a:pPr>
            <a:r>
              <a:rPr lang="en-AU" sz="2200" b="1" dirty="0" smtClean="0">
                <a:latin typeface="Helvetica" pitchFamily="34" charset="0"/>
              </a:rPr>
              <a:t>Some businesses will only check written references</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Some businesses will check references &amp; referees</a:t>
            </a:r>
          </a:p>
          <a:p>
            <a:pPr marL="360000" indent="-360000">
              <a:spcBef>
                <a:spcPts val="600"/>
              </a:spcBef>
              <a:spcAft>
                <a:spcPts val="1200"/>
              </a:spcAft>
              <a:buClr>
                <a:schemeClr val="accent1"/>
              </a:buClr>
              <a:buSzPct val="80000"/>
              <a:buFont typeface="Wingdings 2"/>
              <a:buChar char=""/>
            </a:pPr>
            <a:r>
              <a:rPr lang="en-AU" sz="2200" b="1" dirty="0" smtClean="0">
                <a:latin typeface="Helvetica" pitchFamily="34" charset="0"/>
              </a:rPr>
              <a:t>All applications should have either references or referees checked.</a:t>
            </a: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references &amp; referees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0" indent="0">
              <a:spcBef>
                <a:spcPts val="600"/>
              </a:spcBef>
              <a:spcAft>
                <a:spcPts val="1200"/>
              </a:spcAft>
              <a:buNone/>
            </a:pPr>
            <a:r>
              <a:rPr lang="en-US" sz="2200" b="1" dirty="0" smtClean="0">
                <a:latin typeface="Helvetica" pitchFamily="34" charset="0"/>
              </a:rPr>
              <a:t>When checking references/referees:</a:t>
            </a:r>
          </a:p>
          <a:p>
            <a:pPr marL="360000" indent="-360000">
              <a:spcBef>
                <a:spcPts val="600"/>
              </a:spcBef>
              <a:spcAft>
                <a:spcPts val="1200"/>
              </a:spcAft>
            </a:pPr>
            <a:r>
              <a:rPr lang="en-US" sz="2200" b="1" dirty="0" smtClean="0">
                <a:latin typeface="Helvetica" pitchFamily="34" charset="0"/>
              </a:rPr>
              <a:t>Use the telephone</a:t>
            </a:r>
          </a:p>
          <a:p>
            <a:pPr marL="360000" indent="-360000">
              <a:spcBef>
                <a:spcPts val="600"/>
              </a:spcBef>
              <a:spcAft>
                <a:spcPts val="1200"/>
              </a:spcAft>
            </a:pPr>
            <a:r>
              <a:rPr lang="en-US" sz="2200" b="1" dirty="0" smtClean="0">
                <a:latin typeface="Helvetica" pitchFamily="34" charset="0"/>
              </a:rPr>
              <a:t>Identify yourself to the referee</a:t>
            </a:r>
          </a:p>
          <a:p>
            <a:pPr marL="360000" indent="-360000">
              <a:spcBef>
                <a:spcPts val="600"/>
              </a:spcBef>
              <a:spcAft>
                <a:spcPts val="1200"/>
              </a:spcAft>
            </a:pPr>
            <a:r>
              <a:rPr lang="en-US" sz="2200" b="1" dirty="0" smtClean="0">
                <a:latin typeface="Helvetica" pitchFamily="34" charset="0"/>
              </a:rPr>
              <a:t>Explain purpose of call</a:t>
            </a:r>
          </a:p>
          <a:p>
            <a:pPr marL="360000" indent="-360000">
              <a:spcBef>
                <a:spcPts val="600"/>
              </a:spcBef>
              <a:spcAft>
                <a:spcPts val="1200"/>
              </a:spcAft>
            </a:pPr>
            <a:r>
              <a:rPr lang="en-US" sz="2200" b="1" dirty="0" smtClean="0">
                <a:latin typeface="Helvetica" pitchFamily="34" charset="0"/>
              </a:rPr>
              <a:t>Thank them for their time &amp; assistance.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5" name="Picture 4" descr="j0443101.jpg"/>
          <p:cNvPicPr>
            <a:picLocks noChangeAspect="1"/>
          </p:cNvPicPr>
          <p:nvPr/>
        </p:nvPicPr>
        <p:blipFill>
          <a:blip r:embed="rId3" cstate="print"/>
          <a:stretch>
            <a:fillRect/>
          </a:stretch>
        </p:blipFill>
        <p:spPr>
          <a:xfrm>
            <a:off x="6156176" y="4653136"/>
            <a:ext cx="2433162" cy="1619242"/>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references &amp; referees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0" indent="0">
              <a:spcBef>
                <a:spcPts val="600"/>
              </a:spcBef>
              <a:spcAft>
                <a:spcPts val="1200"/>
              </a:spcAft>
              <a:buNone/>
            </a:pPr>
            <a:r>
              <a:rPr lang="en-US" sz="2200" b="1" dirty="0" smtClean="0">
                <a:latin typeface="Helvetica" pitchFamily="34" charset="0"/>
              </a:rPr>
              <a:t>When checking references/referees:</a:t>
            </a:r>
          </a:p>
          <a:p>
            <a:pPr marL="360000" indent="-360000">
              <a:spcBef>
                <a:spcPts val="600"/>
              </a:spcBef>
              <a:spcAft>
                <a:spcPts val="1200"/>
              </a:spcAft>
            </a:pPr>
            <a:r>
              <a:rPr lang="en-US" sz="2200" b="1" dirty="0" smtClean="0">
                <a:latin typeface="Helvetica" pitchFamily="34" charset="0"/>
              </a:rPr>
              <a:t>Plan questions before contact</a:t>
            </a:r>
          </a:p>
          <a:p>
            <a:pPr marL="360000" indent="-360000">
              <a:spcBef>
                <a:spcPts val="600"/>
              </a:spcBef>
              <a:spcAft>
                <a:spcPts val="1200"/>
              </a:spcAft>
            </a:pPr>
            <a:r>
              <a:rPr lang="en-US" sz="2200" b="1" dirty="0" smtClean="0">
                <a:latin typeface="Helvetica" pitchFamily="34" charset="0"/>
              </a:rPr>
              <a:t>Ask lots of questions</a:t>
            </a:r>
          </a:p>
          <a:p>
            <a:pPr marL="360000" indent="-360000">
              <a:spcBef>
                <a:spcPts val="600"/>
              </a:spcBef>
              <a:spcAft>
                <a:spcPts val="1200"/>
              </a:spcAft>
            </a:pPr>
            <a:r>
              <a:rPr lang="en-US" sz="2200" b="1" dirty="0" smtClean="0">
                <a:latin typeface="Helvetica" pitchFamily="34" charset="0"/>
              </a:rPr>
              <a:t>Record responses.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5" name="Picture 4" descr="j0402569.jpg"/>
          <p:cNvPicPr>
            <a:picLocks noChangeAspect="1"/>
          </p:cNvPicPr>
          <p:nvPr/>
        </p:nvPicPr>
        <p:blipFill>
          <a:blip r:embed="rId3" cstate="print"/>
          <a:stretch>
            <a:fillRect/>
          </a:stretch>
        </p:blipFill>
        <p:spPr>
          <a:xfrm>
            <a:off x="6228184" y="2924944"/>
            <a:ext cx="2081784" cy="3121152"/>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applicant of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968552"/>
          </a:xfrm>
        </p:spPr>
        <p:txBody>
          <a:bodyPr>
            <a:normAutofit/>
          </a:bodyPr>
          <a:lstStyle/>
          <a:p>
            <a:pPr marL="0" indent="0">
              <a:spcBef>
                <a:spcPts val="600"/>
              </a:spcBef>
              <a:spcAft>
                <a:spcPts val="1200"/>
              </a:spcAft>
              <a:buNone/>
            </a:pPr>
            <a:r>
              <a:rPr lang="en-US" sz="2200" b="1" dirty="0" smtClean="0">
                <a:latin typeface="Helvetica" pitchFamily="34" charset="0"/>
              </a:rPr>
              <a:t>When advising applicants they have been granted an interview:</a:t>
            </a:r>
          </a:p>
          <a:p>
            <a:pPr marL="360000" indent="-360000">
              <a:spcBef>
                <a:spcPts val="600"/>
              </a:spcBef>
              <a:spcAft>
                <a:spcPts val="1200"/>
              </a:spcAft>
            </a:pPr>
            <a:r>
              <a:rPr lang="en-US" sz="2200" b="1" dirty="0" smtClean="0">
                <a:latin typeface="Helvetica" pitchFamily="34" charset="0"/>
              </a:rPr>
              <a:t>Do so as soon as possible</a:t>
            </a:r>
          </a:p>
          <a:p>
            <a:pPr marL="360000" indent="-360000">
              <a:spcBef>
                <a:spcPts val="600"/>
              </a:spcBef>
              <a:spcAft>
                <a:spcPts val="1200"/>
              </a:spcAft>
            </a:pPr>
            <a:r>
              <a:rPr lang="en-US" sz="2200" b="1" dirty="0" smtClean="0">
                <a:latin typeface="Helvetica" pitchFamily="34" charset="0"/>
              </a:rPr>
              <a:t>Contact them using approved method: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Telephone – most common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Email</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Fax – to home address.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5" name="Picture 4" descr="00400330.jpg"/>
          <p:cNvPicPr>
            <a:picLocks noChangeAspect="1"/>
          </p:cNvPicPr>
          <p:nvPr/>
        </p:nvPicPr>
        <p:blipFill>
          <a:blip r:embed="rId3" cstate="print"/>
          <a:stretch>
            <a:fillRect/>
          </a:stretch>
        </p:blipFill>
        <p:spPr>
          <a:xfrm>
            <a:off x="5929322" y="4143380"/>
            <a:ext cx="2915510" cy="1942914"/>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applicant of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Notifying an applicant about an interview should address:</a:t>
            </a:r>
          </a:p>
          <a:p>
            <a:pPr marL="360000" indent="-360000">
              <a:spcBef>
                <a:spcPts val="600"/>
              </a:spcBef>
              <a:spcAft>
                <a:spcPts val="1200"/>
              </a:spcAft>
            </a:pPr>
            <a:r>
              <a:rPr lang="en-US" sz="2200" b="1" dirty="0" smtClean="0">
                <a:latin typeface="Helvetica" pitchFamily="34" charset="0"/>
              </a:rPr>
              <a:t>Date &amp; time</a:t>
            </a:r>
          </a:p>
          <a:p>
            <a:pPr marL="360000" indent="-360000">
              <a:spcBef>
                <a:spcPts val="600"/>
              </a:spcBef>
              <a:spcAft>
                <a:spcPts val="1200"/>
              </a:spcAft>
            </a:pPr>
            <a:r>
              <a:rPr lang="en-US" sz="2200" b="1" dirty="0" smtClean="0">
                <a:latin typeface="Helvetica" pitchFamily="34" charset="0"/>
              </a:rPr>
              <a:t>Location</a:t>
            </a:r>
          </a:p>
          <a:p>
            <a:pPr marL="360000" indent="-360000">
              <a:spcBef>
                <a:spcPts val="600"/>
              </a:spcBef>
              <a:spcAft>
                <a:spcPts val="1200"/>
              </a:spcAft>
            </a:pPr>
            <a:r>
              <a:rPr lang="en-US" sz="2200" b="1" dirty="0" smtClean="0">
                <a:latin typeface="Helvetica" pitchFamily="34" charset="0"/>
              </a:rPr>
              <a:t>What they should bring with them</a:t>
            </a:r>
          </a:p>
          <a:p>
            <a:pPr marL="360000" indent="-360000">
              <a:spcBef>
                <a:spcPts val="600"/>
              </a:spcBef>
              <a:spcAft>
                <a:spcPts val="1200"/>
              </a:spcAft>
            </a:pPr>
            <a:r>
              <a:rPr lang="en-US" sz="2200" b="1" dirty="0" smtClean="0">
                <a:latin typeface="Helvetica" pitchFamily="34" charset="0"/>
              </a:rPr>
              <a:t>Duration of interview</a:t>
            </a:r>
          </a:p>
          <a:p>
            <a:pPr marL="360000" indent="-360000">
              <a:spcBef>
                <a:spcPts val="600"/>
              </a:spcBef>
              <a:spcAft>
                <a:spcPts val="1200"/>
              </a:spcAft>
            </a:pPr>
            <a:r>
              <a:rPr lang="en-US" sz="2200" b="1" dirty="0" smtClean="0">
                <a:latin typeface="Helvetica" pitchFamily="34" charset="0"/>
              </a:rPr>
              <a:t>Interview format.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5" name="Picture 4" descr="00438693.jpg"/>
          <p:cNvPicPr>
            <a:picLocks noChangeAspect="1"/>
          </p:cNvPicPr>
          <p:nvPr/>
        </p:nvPicPr>
        <p:blipFill>
          <a:blip r:embed="rId3" cstate="print"/>
          <a:stretch>
            <a:fillRect/>
          </a:stretch>
        </p:blipFill>
        <p:spPr>
          <a:xfrm>
            <a:off x="5652120" y="4005064"/>
            <a:ext cx="2882349" cy="1921566"/>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applicant of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Other issues to consider:</a:t>
            </a:r>
          </a:p>
          <a:p>
            <a:pPr marL="360000" indent="-360000">
              <a:spcBef>
                <a:spcPts val="600"/>
              </a:spcBef>
              <a:spcAft>
                <a:spcPts val="1200"/>
              </a:spcAft>
            </a:pPr>
            <a:r>
              <a:rPr lang="en-US" sz="2200" b="1" dirty="0" smtClean="0">
                <a:latin typeface="Helvetica" pitchFamily="34" charset="0"/>
              </a:rPr>
              <a:t>There may be a need to negotiate time &amp; date of the interview</a:t>
            </a:r>
          </a:p>
          <a:p>
            <a:pPr marL="360000" indent="-360000">
              <a:spcBef>
                <a:spcPts val="600"/>
              </a:spcBef>
              <a:spcAft>
                <a:spcPts val="1200"/>
              </a:spcAft>
            </a:pPr>
            <a:r>
              <a:rPr lang="en-US" sz="2200" b="1" dirty="0" smtClean="0">
                <a:latin typeface="Helvetica" pitchFamily="34" charset="0"/>
              </a:rPr>
              <a:t>Advise candidates of any workplace-based </a:t>
            </a:r>
            <a:br>
              <a:rPr lang="en-US" sz="2200" b="1" dirty="0" smtClean="0">
                <a:latin typeface="Helvetica" pitchFamily="34" charset="0"/>
              </a:rPr>
            </a:br>
            <a:r>
              <a:rPr lang="en-US" sz="2200" b="1" dirty="0" smtClean="0">
                <a:latin typeface="Helvetica" pitchFamily="34" charset="0"/>
              </a:rPr>
              <a:t>material available to them to assist</a:t>
            </a:r>
            <a:br>
              <a:rPr lang="en-US" sz="2200" b="1" dirty="0" smtClean="0">
                <a:latin typeface="Helvetica" pitchFamily="34" charset="0"/>
              </a:rPr>
            </a:br>
            <a:r>
              <a:rPr lang="en-US" sz="2200" b="1" dirty="0" smtClean="0">
                <a:latin typeface="Helvetica" pitchFamily="34" charset="0"/>
              </a:rPr>
              <a:t> with the interview.</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5" name="Picture 4" descr="Business Man.JPG"/>
          <p:cNvPicPr>
            <a:picLocks noChangeAspect="1"/>
          </p:cNvPicPr>
          <p:nvPr/>
        </p:nvPicPr>
        <p:blipFill>
          <a:blip r:embed="rId3" cstate="print"/>
          <a:stretch>
            <a:fillRect/>
          </a:stretch>
        </p:blipFill>
        <p:spPr>
          <a:xfrm>
            <a:off x="6444208" y="3429000"/>
            <a:ext cx="1850467" cy="2780928"/>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0" indent="0">
              <a:spcBef>
                <a:spcPts val="600"/>
              </a:spcBef>
              <a:spcAft>
                <a:spcPts val="1200"/>
              </a:spcAft>
              <a:buNone/>
            </a:pPr>
            <a:r>
              <a:rPr lang="en-US" sz="2200" b="1" dirty="0" smtClean="0">
                <a:latin typeface="Helvetica" pitchFamily="34" charset="0"/>
              </a:rPr>
              <a:t>Conducting a job interview:</a:t>
            </a:r>
          </a:p>
          <a:p>
            <a:pPr marL="360000" indent="-360000">
              <a:spcBef>
                <a:spcPts val="600"/>
              </a:spcBef>
              <a:spcAft>
                <a:spcPts val="1200"/>
              </a:spcAft>
            </a:pPr>
            <a:r>
              <a:rPr lang="en-US" sz="2200" b="1" dirty="0" smtClean="0">
                <a:latin typeface="Helvetica" pitchFamily="34" charset="0"/>
              </a:rPr>
              <a:t>Requires much planning &amp; preparation</a:t>
            </a:r>
          </a:p>
          <a:p>
            <a:pPr marL="360000" indent="-360000">
              <a:spcBef>
                <a:spcPts val="600"/>
              </a:spcBef>
              <a:spcAft>
                <a:spcPts val="1200"/>
              </a:spcAft>
            </a:pPr>
            <a:r>
              <a:rPr lang="en-US" sz="2200" b="1" dirty="0" smtClean="0">
                <a:latin typeface="Helvetica" pitchFamily="34" charset="0"/>
              </a:rPr>
              <a:t>Usually requires involvement of several internal personnel.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5" name="Picture 4" descr="Business Woman 1.JPG"/>
          <p:cNvPicPr>
            <a:picLocks noChangeAspect="1"/>
          </p:cNvPicPr>
          <p:nvPr/>
        </p:nvPicPr>
        <p:blipFill>
          <a:blip r:embed="rId3" cstate="print"/>
          <a:stretch>
            <a:fillRect/>
          </a:stretch>
        </p:blipFill>
        <p:spPr>
          <a:xfrm>
            <a:off x="6588224" y="3356992"/>
            <a:ext cx="2042128" cy="3068960"/>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24536"/>
          </a:xfrm>
        </p:spPr>
        <p:txBody>
          <a:bodyPr>
            <a:normAutofit/>
          </a:bodyPr>
          <a:lstStyle/>
          <a:p>
            <a:pPr marL="0" indent="0">
              <a:spcBef>
                <a:spcPts val="600"/>
              </a:spcBef>
              <a:spcAft>
                <a:spcPts val="1200"/>
              </a:spcAft>
              <a:buNone/>
            </a:pPr>
            <a:r>
              <a:rPr lang="en-US" sz="2200" b="1" dirty="0" smtClean="0">
                <a:latin typeface="Helvetica" pitchFamily="34" charset="0"/>
              </a:rPr>
              <a:t>Planning &amp; preparation can include:</a:t>
            </a:r>
          </a:p>
          <a:p>
            <a:pPr marL="360000" indent="-360000">
              <a:spcBef>
                <a:spcPts val="600"/>
              </a:spcBef>
              <a:spcAft>
                <a:spcPts val="1200"/>
              </a:spcAft>
            </a:pPr>
            <a:r>
              <a:rPr lang="en-US" sz="2200" b="1" dirty="0" smtClean="0">
                <a:latin typeface="Helvetica" pitchFamily="34" charset="0"/>
              </a:rPr>
              <a:t>Booking room for interviews</a:t>
            </a:r>
          </a:p>
          <a:p>
            <a:pPr marL="360000" indent="-360000">
              <a:spcBef>
                <a:spcPts val="600"/>
              </a:spcBef>
              <a:spcAft>
                <a:spcPts val="1200"/>
              </a:spcAft>
            </a:pPr>
            <a:r>
              <a:rPr lang="en-US" sz="2200" b="1" dirty="0" smtClean="0">
                <a:latin typeface="Helvetica" pitchFamily="34" charset="0"/>
              </a:rPr>
              <a:t>Determining duration of interviews</a:t>
            </a:r>
          </a:p>
          <a:p>
            <a:pPr marL="360000" indent="-360000">
              <a:spcBef>
                <a:spcPts val="600"/>
              </a:spcBef>
              <a:spcAft>
                <a:spcPts val="1200"/>
              </a:spcAft>
            </a:pPr>
            <a:r>
              <a:rPr lang="en-US" sz="2200" b="1" dirty="0" smtClean="0">
                <a:latin typeface="Helvetica" pitchFamily="34" charset="0"/>
              </a:rPr>
              <a:t>Scheduling interviews with applicants</a:t>
            </a:r>
          </a:p>
          <a:p>
            <a:pPr marL="360000" indent="-360000">
              <a:spcBef>
                <a:spcPts val="600"/>
              </a:spcBef>
              <a:spcAft>
                <a:spcPts val="1200"/>
              </a:spcAft>
            </a:pPr>
            <a:r>
              <a:rPr lang="en-US" sz="2200" b="1" dirty="0" smtClean="0">
                <a:latin typeface="Helvetica" pitchFamily="34" charset="0"/>
              </a:rPr>
              <a:t>Identifying who will conduct the interviews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5" name="Picture 4" descr="00438736.jpg"/>
          <p:cNvPicPr>
            <a:picLocks noChangeAspect="1"/>
          </p:cNvPicPr>
          <p:nvPr/>
        </p:nvPicPr>
        <p:blipFill>
          <a:blip r:embed="rId3" cstate="print"/>
          <a:stretch>
            <a:fillRect/>
          </a:stretch>
        </p:blipFill>
        <p:spPr>
          <a:xfrm>
            <a:off x="6012160" y="4365104"/>
            <a:ext cx="2759968" cy="2069976"/>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1200"/>
              </a:spcBef>
              <a:spcAft>
                <a:spcPts val="600"/>
              </a:spcAft>
            </a:pPr>
            <a:r>
              <a:rPr lang="en-AU" sz="2200" b="1" dirty="0" smtClean="0">
                <a:latin typeface="Helvetica" pitchFamily="34" charset="0"/>
              </a:rPr>
              <a:t>Pre-reading &amp; digesting all appropriate </a:t>
            </a:r>
            <a:r>
              <a:rPr lang="en-AU" sz="2200" b="1" dirty="0" err="1" smtClean="0">
                <a:latin typeface="Helvetica" pitchFamily="34" charset="0"/>
              </a:rPr>
              <a:t>resumés</a:t>
            </a:r>
            <a:endParaRPr lang="en-AU" sz="2200" b="1" dirty="0" smtClean="0">
              <a:latin typeface="Helvetica" pitchFamily="34" charset="0"/>
            </a:endParaRPr>
          </a:p>
          <a:p>
            <a:pPr>
              <a:spcBef>
                <a:spcPts val="1200"/>
              </a:spcBef>
              <a:spcAft>
                <a:spcPts val="600"/>
              </a:spcAft>
            </a:pPr>
            <a:r>
              <a:rPr lang="en-AU" sz="2200" b="1" dirty="0" smtClean="0">
                <a:latin typeface="Helvetica" pitchFamily="34" charset="0"/>
              </a:rPr>
              <a:t>Determine necessary protocols, roles &amp; responsibilities in the interviews</a:t>
            </a:r>
          </a:p>
          <a:p>
            <a:pPr>
              <a:spcBef>
                <a:spcPts val="1200"/>
              </a:spcBef>
              <a:spcAft>
                <a:spcPts val="600"/>
              </a:spcAft>
            </a:pPr>
            <a:r>
              <a:rPr lang="en-AU" sz="2200" b="1" dirty="0" smtClean="0">
                <a:latin typeface="Helvetica" pitchFamily="34" charset="0"/>
              </a:rPr>
              <a:t>Arranging catering</a:t>
            </a:r>
            <a:r>
              <a:rPr lang="en-US" sz="2200" b="1" dirty="0" smtClean="0">
                <a:latin typeface="Helvetica" pitchFamily="34" charset="0"/>
              </a:rPr>
              <a:t>.</a:t>
            </a:r>
            <a:endParaRPr lang="en-AU"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5" name="Picture 4" descr="MP900423030[1].JPG"/>
          <p:cNvPicPr>
            <a:picLocks noChangeAspect="1"/>
          </p:cNvPicPr>
          <p:nvPr/>
        </p:nvPicPr>
        <p:blipFill>
          <a:blip r:embed="rId3" cstate="print"/>
          <a:stretch>
            <a:fillRect/>
          </a:stretch>
        </p:blipFill>
        <p:spPr>
          <a:xfrm>
            <a:off x="5940152" y="3501008"/>
            <a:ext cx="2492896" cy="2492896"/>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0" indent="0">
              <a:spcBef>
                <a:spcPts val="600"/>
              </a:spcBef>
              <a:spcAft>
                <a:spcPts val="1200"/>
              </a:spcAft>
              <a:buNone/>
            </a:pPr>
            <a:r>
              <a:rPr lang="en-US" sz="2200" b="1" dirty="0" smtClean="0">
                <a:latin typeface="Helvetica" pitchFamily="34" charset="0"/>
              </a:rPr>
              <a:t>Basic interview formats:</a:t>
            </a:r>
          </a:p>
          <a:p>
            <a:pPr marL="360000" indent="-360000">
              <a:spcBef>
                <a:spcPts val="600"/>
              </a:spcBef>
              <a:spcAft>
                <a:spcPts val="1200"/>
              </a:spcAft>
            </a:pPr>
            <a:r>
              <a:rPr lang="en-US" sz="2200" b="1" dirty="0" smtClean="0">
                <a:latin typeface="Helvetica" pitchFamily="34" charset="0"/>
              </a:rPr>
              <a:t>One-on-one interviews</a:t>
            </a:r>
          </a:p>
          <a:p>
            <a:pPr marL="360000" indent="-360000">
              <a:spcBef>
                <a:spcPts val="600"/>
              </a:spcBef>
              <a:spcAft>
                <a:spcPts val="1200"/>
              </a:spcAft>
            </a:pPr>
            <a:r>
              <a:rPr lang="en-US" sz="2200" b="1" dirty="0" smtClean="0">
                <a:latin typeface="Helvetica" pitchFamily="34" charset="0"/>
              </a:rPr>
              <a:t>Panel interview</a:t>
            </a:r>
          </a:p>
          <a:p>
            <a:pPr marL="360000" indent="-360000">
              <a:spcBef>
                <a:spcPts val="600"/>
              </a:spcBef>
              <a:spcAft>
                <a:spcPts val="1200"/>
              </a:spcAft>
            </a:pPr>
            <a:r>
              <a:rPr lang="en-US" sz="2200" b="1" dirty="0" smtClean="0">
                <a:latin typeface="Helvetica" pitchFamily="34" charset="0"/>
              </a:rPr>
              <a:t>Group interview</a:t>
            </a:r>
          </a:p>
          <a:p>
            <a:pPr marL="360000" indent="-360000">
              <a:spcBef>
                <a:spcPts val="600"/>
              </a:spcBef>
              <a:spcAft>
                <a:spcPts val="1200"/>
              </a:spcAft>
            </a:pPr>
            <a:r>
              <a:rPr lang="en-US" sz="2200" b="1" dirty="0" smtClean="0">
                <a:latin typeface="Helvetica" pitchFamily="34" charset="0"/>
              </a:rPr>
              <a:t>Telephone interview.</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5" name="Picture 4" descr="MP900422804[1].JPG"/>
          <p:cNvPicPr>
            <a:picLocks noChangeAspect="1"/>
          </p:cNvPicPr>
          <p:nvPr/>
        </p:nvPicPr>
        <p:blipFill>
          <a:blip r:embed="rId3" cstate="print"/>
          <a:stretch>
            <a:fillRect/>
          </a:stretch>
        </p:blipFill>
        <p:spPr>
          <a:xfrm>
            <a:off x="5868144" y="3356992"/>
            <a:ext cx="2420888" cy="2420888"/>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96544"/>
          </a:xfrm>
        </p:spPr>
        <p:txBody>
          <a:bodyPr>
            <a:normAutofit/>
          </a:bodyPr>
          <a:lstStyle/>
          <a:p>
            <a:pPr marL="0" indent="0">
              <a:spcBef>
                <a:spcPts val="600"/>
              </a:spcBef>
              <a:spcAft>
                <a:spcPts val="1200"/>
              </a:spcAft>
              <a:buNone/>
            </a:pPr>
            <a:r>
              <a:rPr lang="en-US" sz="2200" b="1" dirty="0" smtClean="0">
                <a:latin typeface="Helvetica" pitchFamily="34" charset="0"/>
              </a:rPr>
              <a:t>Your workplace may use ‘rounds of interviews’:</a:t>
            </a:r>
          </a:p>
          <a:p>
            <a:pPr marL="360000" indent="-360000">
              <a:spcBef>
                <a:spcPts val="600"/>
              </a:spcBef>
              <a:spcAft>
                <a:spcPts val="1200"/>
              </a:spcAft>
            </a:pPr>
            <a:r>
              <a:rPr lang="en-US" sz="2200" b="1" dirty="0" smtClean="0">
                <a:latin typeface="Helvetica" pitchFamily="34" charset="0"/>
              </a:rPr>
              <a:t>First round = interviews with all who were short-listed</a:t>
            </a:r>
          </a:p>
          <a:p>
            <a:pPr marL="360000" indent="-360000">
              <a:spcBef>
                <a:spcPts val="600"/>
              </a:spcBef>
              <a:spcAft>
                <a:spcPts val="1200"/>
              </a:spcAft>
            </a:pPr>
            <a:r>
              <a:rPr lang="en-US" sz="2200" b="1" dirty="0" smtClean="0">
                <a:latin typeface="Helvetica" pitchFamily="34" charset="0"/>
              </a:rPr>
              <a:t>Second round =  candidates may undertake a test or more in-depth interview</a:t>
            </a:r>
          </a:p>
          <a:p>
            <a:pPr marL="360000" indent="-360000">
              <a:spcBef>
                <a:spcPts val="600"/>
              </a:spcBef>
              <a:spcAft>
                <a:spcPts val="1200"/>
              </a:spcAft>
            </a:pPr>
            <a:r>
              <a:rPr lang="en-US" sz="2200" b="1" dirty="0" smtClean="0">
                <a:latin typeface="Helvetica" pitchFamily="34" charset="0"/>
              </a:rPr>
              <a:t>Third round = final interview where hiring decision is made.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5" name="Picture 4" descr="MP900443061[1].JPG"/>
          <p:cNvPicPr>
            <a:picLocks noChangeAspect="1"/>
          </p:cNvPicPr>
          <p:nvPr/>
        </p:nvPicPr>
        <p:blipFill>
          <a:blip r:embed="rId3" cstate="print"/>
          <a:stretch>
            <a:fillRect/>
          </a:stretch>
        </p:blipFill>
        <p:spPr>
          <a:xfrm>
            <a:off x="6012160" y="4509120"/>
            <a:ext cx="2587752" cy="172212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968552"/>
          </a:xfrm>
        </p:spPr>
        <p:txBody>
          <a:bodyPr>
            <a:normAutofit/>
          </a:bodyPr>
          <a:lstStyle/>
          <a:p>
            <a:pPr marL="0" indent="0">
              <a:spcBef>
                <a:spcPts val="600"/>
              </a:spcBef>
              <a:spcAft>
                <a:spcPts val="1200"/>
              </a:spcAft>
              <a:buNone/>
            </a:pPr>
            <a:r>
              <a:rPr lang="en-US" sz="2200" b="1" dirty="0" smtClean="0">
                <a:latin typeface="Helvetica" pitchFamily="34" charset="0"/>
              </a:rPr>
              <a:t>‘Special needs’ considerations may include:</a:t>
            </a:r>
          </a:p>
          <a:p>
            <a:pPr>
              <a:spcBef>
                <a:spcPts val="1200"/>
              </a:spcBef>
              <a:spcAft>
                <a:spcPts val="600"/>
              </a:spcAft>
            </a:pPr>
            <a:r>
              <a:rPr lang="en-AU" sz="2200" b="1" dirty="0" smtClean="0">
                <a:latin typeface="Helvetica" pitchFamily="34" charset="0"/>
              </a:rPr>
              <a:t>Scheduling interview at an appropriate times</a:t>
            </a:r>
          </a:p>
          <a:p>
            <a:pPr>
              <a:spcBef>
                <a:spcPts val="1200"/>
              </a:spcBef>
              <a:spcAft>
                <a:spcPts val="600"/>
              </a:spcAft>
            </a:pPr>
            <a:r>
              <a:rPr lang="en-AU" sz="2200" b="1" dirty="0" smtClean="0">
                <a:latin typeface="Helvetica" pitchFamily="34" charset="0"/>
              </a:rPr>
              <a:t>Providing documentation in large print</a:t>
            </a:r>
          </a:p>
          <a:p>
            <a:pPr>
              <a:spcBef>
                <a:spcPts val="1200"/>
              </a:spcBef>
              <a:spcAft>
                <a:spcPts val="600"/>
              </a:spcAft>
            </a:pPr>
            <a:r>
              <a:rPr lang="en-AU" sz="2200" b="1" dirty="0" smtClean="0">
                <a:latin typeface="Helvetica" pitchFamily="34" charset="0"/>
              </a:rPr>
              <a:t>Providing easy access or car parking</a:t>
            </a:r>
          </a:p>
          <a:p>
            <a:pPr>
              <a:spcBef>
                <a:spcPts val="1200"/>
              </a:spcBef>
              <a:spcAft>
                <a:spcPts val="600"/>
              </a:spcAft>
            </a:pPr>
            <a:r>
              <a:rPr lang="en-AU" sz="2200" b="1" dirty="0" smtClean="0">
                <a:latin typeface="Helvetica" pitchFamily="34" charset="0"/>
              </a:rPr>
              <a:t>Determining if there is a need for                               assistive technology</a:t>
            </a:r>
          </a:p>
          <a:p>
            <a:pPr>
              <a:spcBef>
                <a:spcPts val="1200"/>
              </a:spcBef>
              <a:spcAft>
                <a:spcPts val="600"/>
              </a:spcAft>
              <a:buNone/>
            </a:pPr>
            <a:r>
              <a:rPr lang="en-US" sz="2200" b="1" dirty="0" smtClean="0">
                <a:latin typeface="Helvetica" pitchFamily="34" charset="0"/>
              </a:rPr>
              <a:t>(Continue)</a:t>
            </a:r>
          </a:p>
          <a:p>
            <a:pPr>
              <a:spcBef>
                <a:spcPts val="1200"/>
              </a:spcBef>
              <a:spcAft>
                <a:spcPts val="600"/>
              </a:spcAft>
              <a:buNone/>
            </a:pPr>
            <a:endParaRPr lang="en-AU"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5" name="Picture 4" descr="MP900382676[1].JPG"/>
          <p:cNvPicPr>
            <a:picLocks noChangeAspect="1"/>
          </p:cNvPicPr>
          <p:nvPr/>
        </p:nvPicPr>
        <p:blipFill>
          <a:blip r:embed="rId3" cstate="print"/>
          <a:stretch>
            <a:fillRect/>
          </a:stretch>
        </p:blipFill>
        <p:spPr>
          <a:xfrm>
            <a:off x="6444208" y="3212976"/>
            <a:ext cx="1977394" cy="2768352"/>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360000" indent="-360000">
              <a:spcBef>
                <a:spcPts val="600"/>
              </a:spcBef>
              <a:spcAft>
                <a:spcPts val="1200"/>
              </a:spcAft>
            </a:pPr>
            <a:r>
              <a:rPr lang="en-US" sz="2200" b="1" dirty="0" smtClean="0">
                <a:latin typeface="Helvetica" pitchFamily="34" charset="0"/>
              </a:rPr>
              <a:t>Being sensitive to individual need</a:t>
            </a:r>
          </a:p>
          <a:p>
            <a:pPr marL="360000" indent="-360000">
              <a:spcBef>
                <a:spcPts val="600"/>
              </a:spcBef>
              <a:spcAft>
                <a:spcPts val="1200"/>
              </a:spcAft>
            </a:pPr>
            <a:r>
              <a:rPr lang="en-US" sz="2200" b="1" dirty="0" smtClean="0">
                <a:latin typeface="Helvetica" pitchFamily="34" charset="0"/>
              </a:rPr>
              <a:t>Preparing alternative documentation to suit applicant needs</a:t>
            </a:r>
          </a:p>
          <a:p>
            <a:pPr marL="360000" indent="-360000">
              <a:spcBef>
                <a:spcPts val="600"/>
              </a:spcBef>
              <a:spcAft>
                <a:spcPts val="1200"/>
              </a:spcAft>
            </a:pPr>
            <a:r>
              <a:rPr lang="en-US" sz="2200" b="1" dirty="0" smtClean="0">
                <a:latin typeface="Helvetica" pitchFamily="34" charset="0"/>
              </a:rPr>
              <a:t>Using an interpreter</a:t>
            </a:r>
          </a:p>
          <a:p>
            <a:pPr marL="360000" indent="-360000">
              <a:spcBef>
                <a:spcPts val="600"/>
              </a:spcBef>
              <a:spcAft>
                <a:spcPts val="1200"/>
              </a:spcAft>
            </a:pPr>
            <a:r>
              <a:rPr lang="en-US" sz="2200" b="1" dirty="0" smtClean="0">
                <a:latin typeface="Helvetica" pitchFamily="34" charset="0"/>
              </a:rPr>
              <a:t>Permitting support persons at interview</a:t>
            </a:r>
          </a:p>
          <a:p>
            <a:pPr marL="360000" indent="-360000">
              <a:spcBef>
                <a:spcPts val="600"/>
              </a:spcBef>
              <a:spcAft>
                <a:spcPts val="1200"/>
              </a:spcAft>
            </a:pPr>
            <a:r>
              <a:rPr lang="en-US" sz="2200" b="1" dirty="0" smtClean="0">
                <a:latin typeface="Helvetica" pitchFamily="34" charset="0"/>
              </a:rPr>
              <a:t>Including a ‘special needs’ staff member on the interview team</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5" name="Picture 4" descr="MP900443187[1].JPG"/>
          <p:cNvPicPr>
            <a:picLocks noChangeAspect="1"/>
          </p:cNvPicPr>
          <p:nvPr/>
        </p:nvPicPr>
        <p:blipFill>
          <a:blip r:embed="rId3" cstate="print"/>
          <a:stretch>
            <a:fillRect/>
          </a:stretch>
        </p:blipFill>
        <p:spPr>
          <a:xfrm>
            <a:off x="6156176" y="4725144"/>
            <a:ext cx="2587752" cy="1722120"/>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5040560"/>
          </a:xfrm>
        </p:spPr>
        <p:txBody>
          <a:bodyPr>
            <a:normAutofit/>
          </a:bodyPr>
          <a:lstStyle/>
          <a:p>
            <a:pPr marL="0" indent="0">
              <a:spcBef>
                <a:spcPts val="600"/>
              </a:spcBef>
              <a:spcAft>
                <a:spcPts val="1200"/>
              </a:spcAft>
              <a:buNone/>
            </a:pPr>
            <a:r>
              <a:rPr lang="en-US" sz="2200" b="1" dirty="0" smtClean="0">
                <a:latin typeface="Helvetica" pitchFamily="34" charset="0"/>
              </a:rPr>
              <a:t>Interview basics include:</a:t>
            </a:r>
          </a:p>
          <a:p>
            <a:pPr marL="360000" indent="-360000">
              <a:spcBef>
                <a:spcPts val="600"/>
              </a:spcBef>
              <a:spcAft>
                <a:spcPts val="1200"/>
              </a:spcAft>
            </a:pPr>
            <a:r>
              <a:rPr lang="en-US" sz="2200" b="1" dirty="0" smtClean="0">
                <a:latin typeface="Helvetica" pitchFamily="34" charset="0"/>
              </a:rPr>
              <a:t>There must be a purpose for the interview</a:t>
            </a:r>
          </a:p>
          <a:p>
            <a:pPr marL="360000" indent="-360000">
              <a:spcBef>
                <a:spcPts val="600"/>
              </a:spcBef>
              <a:spcAft>
                <a:spcPts val="1200"/>
              </a:spcAft>
            </a:pPr>
            <a:r>
              <a:rPr lang="en-US" sz="2200" b="1" dirty="0" smtClean="0">
                <a:latin typeface="Helvetica" pitchFamily="34" charset="0"/>
              </a:rPr>
              <a:t>Realise interviewing is difficult &amp; does not just ‘happen’</a:t>
            </a:r>
          </a:p>
          <a:p>
            <a:pPr marL="360000" indent="-360000">
              <a:spcBef>
                <a:spcPts val="600"/>
              </a:spcBef>
              <a:spcAft>
                <a:spcPts val="1200"/>
              </a:spcAft>
            </a:pPr>
            <a:r>
              <a:rPr lang="en-US" sz="2200" b="1" dirty="0" smtClean="0">
                <a:latin typeface="Helvetica" pitchFamily="34" charset="0"/>
              </a:rPr>
              <a:t>A list of questions need to be prepared</a:t>
            </a:r>
          </a:p>
          <a:p>
            <a:pPr marL="360000" indent="-360000">
              <a:spcBef>
                <a:spcPts val="600"/>
              </a:spcBef>
              <a:spcAft>
                <a:spcPts val="1200"/>
              </a:spcAft>
            </a:pPr>
            <a:r>
              <a:rPr lang="en-US" sz="2200" b="1" dirty="0" smtClean="0">
                <a:latin typeface="Helvetica" pitchFamily="34" charset="0"/>
              </a:rPr>
              <a:t>A checklist may be used to assist conduct of interviews</a:t>
            </a:r>
          </a:p>
          <a:p>
            <a:pPr marL="360000" indent="-360000">
              <a:spcBef>
                <a:spcPts val="600"/>
              </a:spcBef>
              <a:spcAft>
                <a:spcPts val="1200"/>
              </a:spcAft>
            </a:pPr>
            <a:r>
              <a:rPr lang="en-US" sz="2200" b="1" dirty="0" smtClean="0">
                <a:latin typeface="Helvetica" pitchFamily="34" charset="0"/>
              </a:rPr>
              <a:t>An ‘Interview Rating Sheet’ may need                                      to be created</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5" name="Picture 4" descr="MP900443214[1].JPG"/>
          <p:cNvPicPr>
            <a:picLocks noChangeAspect="1"/>
          </p:cNvPicPr>
          <p:nvPr/>
        </p:nvPicPr>
        <p:blipFill>
          <a:blip r:embed="rId3" cstate="print"/>
          <a:stretch>
            <a:fillRect/>
          </a:stretch>
        </p:blipFill>
        <p:spPr>
          <a:xfrm>
            <a:off x="7164288" y="4365104"/>
            <a:ext cx="1375519" cy="2060848"/>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968552"/>
          </a:xfrm>
        </p:spPr>
        <p:txBody>
          <a:bodyPr>
            <a:normAutofit/>
          </a:bodyPr>
          <a:lstStyle/>
          <a:p>
            <a:pPr marL="0" indent="0">
              <a:spcBef>
                <a:spcPts val="600"/>
              </a:spcBef>
              <a:spcAft>
                <a:spcPts val="1200"/>
              </a:spcAft>
              <a:buNone/>
            </a:pPr>
            <a:r>
              <a:rPr lang="en-US" sz="2200" b="1" dirty="0" smtClean="0">
                <a:latin typeface="Helvetica" pitchFamily="34" charset="0"/>
              </a:rPr>
              <a:t>Before interviews staff involved must ensure:</a:t>
            </a:r>
          </a:p>
          <a:p>
            <a:pPr marL="360000" indent="-360000">
              <a:spcBef>
                <a:spcPts val="600"/>
              </a:spcBef>
              <a:spcAft>
                <a:spcPts val="1200"/>
              </a:spcAft>
            </a:pPr>
            <a:r>
              <a:rPr lang="en-US" sz="2200" b="1" dirty="0" smtClean="0">
                <a:latin typeface="Helvetica" pitchFamily="34" charset="0"/>
              </a:rPr>
              <a:t>Applicants have been notified &amp; advised about what to bring</a:t>
            </a:r>
          </a:p>
          <a:p>
            <a:pPr marL="360000" indent="-360000">
              <a:spcBef>
                <a:spcPts val="600"/>
              </a:spcBef>
              <a:spcAft>
                <a:spcPts val="1200"/>
              </a:spcAft>
            </a:pPr>
            <a:r>
              <a:rPr lang="en-US" sz="2200" b="1" dirty="0" smtClean="0">
                <a:latin typeface="Helvetica" pitchFamily="34" charset="0"/>
              </a:rPr>
              <a:t>Applications have been read</a:t>
            </a:r>
          </a:p>
          <a:p>
            <a:pPr marL="360000" indent="-360000">
              <a:spcBef>
                <a:spcPts val="600"/>
              </a:spcBef>
              <a:spcAft>
                <a:spcPts val="1200"/>
              </a:spcAft>
            </a:pPr>
            <a:r>
              <a:rPr lang="en-US" sz="2200" b="1" dirty="0" smtClean="0">
                <a:latin typeface="Helvetica" pitchFamily="34" charset="0"/>
              </a:rPr>
              <a:t>Job Description &amp; Specification have been read</a:t>
            </a:r>
          </a:p>
          <a:p>
            <a:pPr marL="360000" indent="-360000">
              <a:spcBef>
                <a:spcPts val="600"/>
              </a:spcBef>
              <a:spcAft>
                <a:spcPts val="1200"/>
              </a:spcAft>
            </a:pPr>
            <a:r>
              <a:rPr lang="en-US" sz="2200" b="1" dirty="0" smtClean="0">
                <a:latin typeface="Helvetica" pitchFamily="34" charset="0"/>
              </a:rPr>
              <a:t>KSC have been read</a:t>
            </a:r>
          </a:p>
          <a:p>
            <a:pPr marL="360000" indent="-360000">
              <a:spcBef>
                <a:spcPts val="600"/>
              </a:spcBef>
              <a:spcAft>
                <a:spcPts val="1200"/>
              </a:spcAft>
            </a:pPr>
            <a:r>
              <a:rPr lang="en-US" sz="2200" b="1" dirty="0" smtClean="0">
                <a:latin typeface="Helvetica" pitchFamily="34" charset="0"/>
              </a:rPr>
              <a:t>An appropriate interview location is ready</a:t>
            </a:r>
          </a:p>
          <a:p>
            <a:pPr marL="360000" indent="-360000">
              <a:spcBef>
                <a:spcPts val="600"/>
              </a:spcBef>
              <a:spcAft>
                <a:spcPts val="1200"/>
              </a:spcAft>
            </a:pPr>
            <a:r>
              <a:rPr lang="en-US" sz="2200" b="1" dirty="0" smtClean="0">
                <a:latin typeface="Helvetica" pitchFamily="34" charset="0"/>
              </a:rPr>
              <a:t>Interviewee roles have been clarified</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5" name="Picture 4" descr="j0442488.jpg"/>
          <p:cNvPicPr>
            <a:picLocks noChangeAspect="1"/>
          </p:cNvPicPr>
          <p:nvPr/>
        </p:nvPicPr>
        <p:blipFill>
          <a:blip r:embed="rId3" cstate="print"/>
          <a:stretch>
            <a:fillRect/>
          </a:stretch>
        </p:blipFill>
        <p:spPr>
          <a:xfrm>
            <a:off x="7207802" y="4437112"/>
            <a:ext cx="1435714" cy="1870922"/>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752528"/>
          </a:xfrm>
        </p:spPr>
        <p:txBody>
          <a:bodyPr>
            <a:normAutofit/>
          </a:bodyPr>
          <a:lstStyle/>
          <a:p>
            <a:pPr marL="0" indent="0">
              <a:spcBef>
                <a:spcPts val="600"/>
              </a:spcBef>
              <a:spcAft>
                <a:spcPts val="1200"/>
              </a:spcAft>
              <a:buNone/>
            </a:pPr>
            <a:r>
              <a:rPr lang="en-US" sz="2200" b="1" dirty="0" smtClean="0">
                <a:latin typeface="Helvetica" pitchFamily="34" charset="0"/>
              </a:rPr>
              <a:t>At the start of the interview:</a:t>
            </a:r>
          </a:p>
          <a:p>
            <a:pPr marL="360000" indent="-360000">
              <a:spcBef>
                <a:spcPts val="600"/>
              </a:spcBef>
              <a:spcAft>
                <a:spcPts val="1200"/>
              </a:spcAft>
            </a:pPr>
            <a:r>
              <a:rPr lang="en-US" sz="2200" b="1" dirty="0" smtClean="0">
                <a:latin typeface="Helvetica" pitchFamily="34" charset="0"/>
              </a:rPr>
              <a:t>Greet the applicant &amp; welcome them</a:t>
            </a:r>
          </a:p>
          <a:p>
            <a:pPr marL="360000" indent="-360000">
              <a:spcBef>
                <a:spcPts val="600"/>
              </a:spcBef>
              <a:spcAft>
                <a:spcPts val="1200"/>
              </a:spcAft>
            </a:pPr>
            <a:r>
              <a:rPr lang="en-US" sz="2200" b="1" dirty="0" smtClean="0">
                <a:latin typeface="Helvetica" pitchFamily="34" charset="0"/>
              </a:rPr>
              <a:t>Smile – shake hands</a:t>
            </a:r>
          </a:p>
          <a:p>
            <a:pPr marL="360000" indent="-360000">
              <a:spcBef>
                <a:spcPts val="600"/>
              </a:spcBef>
              <a:spcAft>
                <a:spcPts val="1200"/>
              </a:spcAft>
            </a:pPr>
            <a:r>
              <a:rPr lang="en-US" sz="2200" b="1" dirty="0" smtClean="0">
                <a:latin typeface="Helvetica" pitchFamily="34" charset="0"/>
              </a:rPr>
              <a:t>Put applicant at ease</a:t>
            </a:r>
          </a:p>
          <a:p>
            <a:pPr marL="360000" indent="-360000">
              <a:spcBef>
                <a:spcPts val="600"/>
              </a:spcBef>
              <a:spcAft>
                <a:spcPts val="1200"/>
              </a:spcAft>
            </a:pPr>
            <a:r>
              <a:rPr lang="en-US" sz="2200" b="1" dirty="0" smtClean="0">
                <a:latin typeface="Helvetica" pitchFamily="34" charset="0"/>
              </a:rPr>
              <a:t>Introduce self</a:t>
            </a:r>
          </a:p>
          <a:p>
            <a:pPr marL="360000" indent="-360000">
              <a:spcBef>
                <a:spcPts val="600"/>
              </a:spcBef>
              <a:spcAft>
                <a:spcPts val="1200"/>
              </a:spcAft>
            </a:pPr>
            <a:r>
              <a:rPr lang="en-US" sz="2200" b="1" dirty="0" smtClean="0">
                <a:latin typeface="Helvetica" pitchFamily="34" charset="0"/>
              </a:rPr>
              <a:t>Introduce other interviewers.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5" name="Picture 4" descr="j0430803.jpg"/>
          <p:cNvPicPr>
            <a:picLocks noChangeAspect="1"/>
          </p:cNvPicPr>
          <p:nvPr/>
        </p:nvPicPr>
        <p:blipFill>
          <a:blip r:embed="rId3" cstate="print"/>
          <a:stretch>
            <a:fillRect/>
          </a:stretch>
        </p:blipFill>
        <p:spPr>
          <a:xfrm>
            <a:off x="5500694" y="4000504"/>
            <a:ext cx="3186536" cy="2135975"/>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24536"/>
          </a:xfrm>
        </p:spPr>
        <p:txBody>
          <a:bodyPr>
            <a:normAutofit/>
          </a:bodyPr>
          <a:lstStyle/>
          <a:p>
            <a:pPr marL="0" indent="0">
              <a:spcBef>
                <a:spcPts val="600"/>
              </a:spcBef>
              <a:spcAft>
                <a:spcPts val="1200"/>
              </a:spcAft>
              <a:buNone/>
            </a:pPr>
            <a:r>
              <a:rPr lang="en-US" sz="2200" b="1" dirty="0" smtClean="0">
                <a:latin typeface="Helvetica" pitchFamily="34" charset="0"/>
              </a:rPr>
              <a:t>When conducting the main part of the interview:</a:t>
            </a:r>
          </a:p>
          <a:p>
            <a:pPr marL="360000" indent="-360000">
              <a:spcBef>
                <a:spcPts val="600"/>
              </a:spcBef>
              <a:spcAft>
                <a:spcPts val="1200"/>
              </a:spcAft>
            </a:pPr>
            <a:r>
              <a:rPr lang="en-US" sz="2200" b="1" dirty="0" smtClean="0">
                <a:latin typeface="Helvetica" pitchFamily="34" charset="0"/>
              </a:rPr>
              <a:t>Show you have read the application</a:t>
            </a:r>
          </a:p>
          <a:p>
            <a:pPr marL="360000" indent="-360000">
              <a:spcBef>
                <a:spcPts val="600"/>
              </a:spcBef>
              <a:spcAft>
                <a:spcPts val="1200"/>
              </a:spcAft>
            </a:pPr>
            <a:r>
              <a:rPr lang="en-US" sz="2200" b="1" dirty="0" smtClean="0">
                <a:latin typeface="Helvetica" pitchFamily="34" charset="0"/>
              </a:rPr>
              <a:t>State purpose of the interview</a:t>
            </a:r>
          </a:p>
          <a:p>
            <a:pPr marL="360000" indent="-360000">
              <a:spcBef>
                <a:spcPts val="600"/>
              </a:spcBef>
              <a:spcAft>
                <a:spcPts val="1200"/>
              </a:spcAft>
            </a:pPr>
            <a:r>
              <a:rPr lang="en-US" sz="2200" b="1" dirty="0" smtClean="0">
                <a:latin typeface="Helvetica" pitchFamily="34" charset="0"/>
              </a:rPr>
              <a:t>Provide brief outline of the business?</a:t>
            </a:r>
          </a:p>
          <a:p>
            <a:pPr marL="360000" indent="-360000">
              <a:spcBef>
                <a:spcPts val="600"/>
              </a:spcBef>
              <a:spcAft>
                <a:spcPts val="1200"/>
              </a:spcAft>
            </a:pPr>
            <a:r>
              <a:rPr lang="en-US" sz="2200" b="1" dirty="0" smtClean="0">
                <a:latin typeface="Helvetica" pitchFamily="34" charset="0"/>
              </a:rPr>
              <a:t>Check legal entitlement to work</a:t>
            </a:r>
          </a:p>
          <a:p>
            <a:pPr marL="360000" indent="-360000">
              <a:spcBef>
                <a:spcPts val="600"/>
              </a:spcBef>
              <a:spcAft>
                <a:spcPts val="1200"/>
              </a:spcAft>
            </a:pPr>
            <a:r>
              <a:rPr lang="en-US" sz="2200" b="1" dirty="0" smtClean="0">
                <a:latin typeface="Helvetica" pitchFamily="34" charset="0"/>
              </a:rPr>
              <a:t>Ask ‘open’ questions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5" name="Picture 4" descr="j0438551.jpg"/>
          <p:cNvPicPr>
            <a:picLocks noChangeAspect="1"/>
          </p:cNvPicPr>
          <p:nvPr/>
        </p:nvPicPr>
        <p:blipFill>
          <a:blip r:embed="rId3" cstate="print"/>
          <a:stretch>
            <a:fillRect/>
          </a:stretch>
        </p:blipFill>
        <p:spPr>
          <a:xfrm>
            <a:off x="6012160" y="4365104"/>
            <a:ext cx="2661110" cy="1776608"/>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680520"/>
          </a:xfrm>
        </p:spPr>
        <p:txBody>
          <a:bodyPr>
            <a:normAutofit/>
          </a:bodyPr>
          <a:lstStyle/>
          <a:p>
            <a:pPr marL="360000" indent="-360000">
              <a:spcBef>
                <a:spcPts val="600"/>
              </a:spcBef>
              <a:spcAft>
                <a:spcPts val="1200"/>
              </a:spcAft>
            </a:pPr>
            <a:r>
              <a:rPr lang="en-US" sz="2200" b="1" dirty="0" smtClean="0">
                <a:latin typeface="Helvetica" pitchFamily="34" charset="0"/>
              </a:rPr>
              <a:t>Re-state questions, if required</a:t>
            </a:r>
          </a:p>
          <a:p>
            <a:pPr marL="360000" indent="-360000">
              <a:spcBef>
                <a:spcPts val="600"/>
              </a:spcBef>
              <a:spcAft>
                <a:spcPts val="1200"/>
              </a:spcAft>
            </a:pPr>
            <a:r>
              <a:rPr lang="en-US" sz="2200" b="1" dirty="0" smtClean="0">
                <a:latin typeface="Helvetica" pitchFamily="34" charset="0"/>
              </a:rPr>
              <a:t>Keep quiet and do not interrupt</a:t>
            </a:r>
          </a:p>
          <a:p>
            <a:pPr marL="360000" indent="-360000">
              <a:spcBef>
                <a:spcPts val="600"/>
              </a:spcBef>
              <a:spcAft>
                <a:spcPts val="1200"/>
              </a:spcAft>
            </a:pPr>
            <a:r>
              <a:rPr lang="en-US" sz="2200" b="1" dirty="0" smtClean="0">
                <a:latin typeface="Helvetica" pitchFamily="34" charset="0"/>
              </a:rPr>
              <a:t>Do not influence candidate’s answers</a:t>
            </a:r>
          </a:p>
          <a:p>
            <a:pPr marL="360000" indent="-360000">
              <a:spcBef>
                <a:spcPts val="600"/>
              </a:spcBef>
              <a:spcAft>
                <a:spcPts val="1200"/>
              </a:spcAft>
            </a:pPr>
            <a:r>
              <a:rPr lang="en-US" sz="2200" b="1" dirty="0" smtClean="0">
                <a:latin typeface="Helvetica" pitchFamily="34" charset="0"/>
              </a:rPr>
              <a:t>Take notes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5" name="Picture 4" descr="00402960.jpg"/>
          <p:cNvPicPr>
            <a:picLocks noChangeAspect="1"/>
          </p:cNvPicPr>
          <p:nvPr/>
        </p:nvPicPr>
        <p:blipFill>
          <a:blip r:embed="rId3" cstate="print"/>
          <a:stretch>
            <a:fillRect/>
          </a:stretch>
        </p:blipFill>
        <p:spPr>
          <a:xfrm>
            <a:off x="5220072" y="3861048"/>
            <a:ext cx="3104964" cy="2069976"/>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360000" indent="-360000">
              <a:spcBef>
                <a:spcPts val="600"/>
              </a:spcBef>
              <a:spcAft>
                <a:spcPts val="1200"/>
              </a:spcAft>
            </a:pPr>
            <a:r>
              <a:rPr lang="en-US" sz="2200" b="1" dirty="0" smtClean="0">
                <a:latin typeface="Helvetica" pitchFamily="34" charset="0"/>
              </a:rPr>
              <a:t>Do not ‘dominate’ the interview or the applicant</a:t>
            </a:r>
          </a:p>
          <a:p>
            <a:pPr marL="360000" indent="-360000">
              <a:spcBef>
                <a:spcPts val="600"/>
              </a:spcBef>
              <a:spcAft>
                <a:spcPts val="1200"/>
              </a:spcAft>
            </a:pPr>
            <a:r>
              <a:rPr lang="en-US" sz="2200" b="1" dirty="0" smtClean="0">
                <a:latin typeface="Helvetica" pitchFamily="34" charset="0"/>
              </a:rPr>
              <a:t>Follow the pre-prepared structure for the interview</a:t>
            </a:r>
          </a:p>
          <a:p>
            <a:pPr marL="360000" indent="-360000">
              <a:spcBef>
                <a:spcPts val="600"/>
              </a:spcBef>
              <a:spcAft>
                <a:spcPts val="1200"/>
              </a:spcAft>
            </a:pPr>
            <a:r>
              <a:rPr lang="en-US" sz="2200" b="1" dirty="0" smtClean="0">
                <a:latin typeface="Helvetica" pitchFamily="34" charset="0"/>
              </a:rPr>
              <a:t>Ask everyone the same basic set of questions</a:t>
            </a:r>
          </a:p>
          <a:p>
            <a:pPr marL="360000" indent="-360000">
              <a:spcBef>
                <a:spcPts val="600"/>
              </a:spcBef>
              <a:spcAft>
                <a:spcPts val="1200"/>
              </a:spcAft>
            </a:pPr>
            <a:r>
              <a:rPr lang="en-US" sz="2200" b="1" dirty="0" smtClean="0">
                <a:latin typeface="Helvetica" pitchFamily="34" charset="0"/>
              </a:rPr>
              <a:t>Encourage applicants to clarify what they do not understand</a:t>
            </a:r>
          </a:p>
          <a:p>
            <a:pPr marL="360000" indent="-360000">
              <a:spcBef>
                <a:spcPts val="600"/>
              </a:spcBef>
              <a:spcAft>
                <a:spcPts val="1200"/>
              </a:spcAft>
            </a:pPr>
            <a:r>
              <a:rPr lang="en-US" sz="2200" b="1" dirty="0" smtClean="0">
                <a:latin typeface="Helvetica" pitchFamily="34" charset="0"/>
              </a:rPr>
              <a:t>Adhere to scheduled times.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5" name="Picture 4" descr="00422152.jpg"/>
          <p:cNvPicPr>
            <a:picLocks noChangeAspect="1"/>
          </p:cNvPicPr>
          <p:nvPr/>
        </p:nvPicPr>
        <p:blipFill>
          <a:blip r:embed="rId3" cstate="print"/>
          <a:stretch>
            <a:fillRect/>
          </a:stretch>
        </p:blipFill>
        <p:spPr>
          <a:xfrm>
            <a:off x="5508104" y="4221088"/>
            <a:ext cx="3055685" cy="2031553"/>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824536"/>
          </a:xfrm>
        </p:spPr>
        <p:txBody>
          <a:bodyPr>
            <a:normAutofit/>
          </a:bodyPr>
          <a:lstStyle/>
          <a:p>
            <a:pPr marL="0" indent="0">
              <a:spcBef>
                <a:spcPts val="600"/>
              </a:spcBef>
              <a:spcAft>
                <a:spcPts val="1200"/>
              </a:spcAft>
              <a:buNone/>
            </a:pPr>
            <a:r>
              <a:rPr lang="en-US" sz="2200" b="1" dirty="0" smtClean="0">
                <a:latin typeface="Helvetica" pitchFamily="34" charset="0"/>
              </a:rPr>
              <a:t>When closing a job interview:</a:t>
            </a:r>
          </a:p>
          <a:p>
            <a:pPr marL="360000" indent="-360000">
              <a:spcBef>
                <a:spcPts val="600"/>
              </a:spcBef>
              <a:spcAft>
                <a:spcPts val="1200"/>
              </a:spcAft>
            </a:pPr>
            <a:r>
              <a:rPr lang="en-US" sz="2200" b="1" dirty="0" smtClean="0">
                <a:latin typeface="Helvetica" pitchFamily="34" charset="0"/>
              </a:rPr>
              <a:t>Ask applicant if they have any questions</a:t>
            </a:r>
          </a:p>
          <a:p>
            <a:pPr marL="360000" indent="-360000">
              <a:spcBef>
                <a:spcPts val="600"/>
              </a:spcBef>
              <a:spcAft>
                <a:spcPts val="1200"/>
              </a:spcAft>
            </a:pPr>
            <a:r>
              <a:rPr lang="en-US" sz="2200" b="1" dirty="0" smtClean="0">
                <a:latin typeface="Helvetica" pitchFamily="34" charset="0"/>
              </a:rPr>
              <a:t>Ask when they can start work, if selected</a:t>
            </a:r>
          </a:p>
          <a:p>
            <a:pPr marL="360000" indent="-360000">
              <a:spcBef>
                <a:spcPts val="600"/>
              </a:spcBef>
              <a:spcAft>
                <a:spcPts val="1200"/>
              </a:spcAft>
            </a:pPr>
            <a:r>
              <a:rPr lang="en-US" sz="2200" b="1" dirty="0" smtClean="0">
                <a:latin typeface="Helvetica" pitchFamily="34" charset="0"/>
              </a:rPr>
              <a:t>Seek commitment to job hours being offered</a:t>
            </a:r>
          </a:p>
          <a:p>
            <a:pPr marL="360000" indent="-360000">
              <a:spcBef>
                <a:spcPts val="600"/>
              </a:spcBef>
              <a:spcAft>
                <a:spcPts val="1200"/>
              </a:spcAft>
            </a:pPr>
            <a:r>
              <a:rPr lang="en-US" sz="2200" b="1" dirty="0" smtClean="0">
                <a:latin typeface="Helvetica" pitchFamily="34" charset="0"/>
              </a:rPr>
              <a:t>Ask about pay expectations.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5" name="Picture 4" descr="00316772.jpg"/>
          <p:cNvPicPr>
            <a:picLocks noChangeAspect="1"/>
          </p:cNvPicPr>
          <p:nvPr/>
        </p:nvPicPr>
        <p:blipFill>
          <a:blip r:embed="rId3" cstate="print"/>
          <a:stretch>
            <a:fillRect/>
          </a:stretch>
        </p:blipFill>
        <p:spPr>
          <a:xfrm>
            <a:off x="5610488" y="4149080"/>
            <a:ext cx="2907144" cy="1952632"/>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job interview</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Advise them about what will happen next</a:t>
            </a:r>
          </a:p>
          <a:p>
            <a:pPr marL="360000" indent="-360000">
              <a:spcBef>
                <a:spcPts val="600"/>
              </a:spcBef>
              <a:spcAft>
                <a:spcPts val="1200"/>
              </a:spcAft>
            </a:pPr>
            <a:r>
              <a:rPr lang="en-US" sz="2200" b="1" dirty="0" smtClean="0">
                <a:latin typeface="Helvetica" pitchFamily="34" charset="0"/>
              </a:rPr>
              <a:t>Are there tests</a:t>
            </a:r>
          </a:p>
          <a:p>
            <a:pPr marL="360000" indent="-360000">
              <a:spcBef>
                <a:spcPts val="600"/>
              </a:spcBef>
              <a:spcAft>
                <a:spcPts val="1200"/>
              </a:spcAft>
            </a:pPr>
            <a:r>
              <a:rPr lang="en-US" sz="2200" b="1" dirty="0" smtClean="0">
                <a:latin typeface="Helvetica" pitchFamily="34" charset="0"/>
              </a:rPr>
              <a:t>Confirm their contact details</a:t>
            </a:r>
          </a:p>
          <a:p>
            <a:pPr marL="360000" indent="-360000">
              <a:spcBef>
                <a:spcPts val="600"/>
              </a:spcBef>
              <a:spcAft>
                <a:spcPts val="1200"/>
              </a:spcAft>
            </a:pPr>
            <a:r>
              <a:rPr lang="en-US" sz="2200" b="1" dirty="0" smtClean="0">
                <a:latin typeface="Helvetica" pitchFamily="34" charset="0"/>
              </a:rPr>
              <a:t>Thank them.</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5" name="Picture 4" descr="00443186.jpg"/>
          <p:cNvPicPr>
            <a:picLocks noChangeAspect="1"/>
          </p:cNvPicPr>
          <p:nvPr/>
        </p:nvPicPr>
        <p:blipFill>
          <a:blip r:embed="rId3" cstate="print"/>
          <a:stretch>
            <a:fillRect/>
          </a:stretch>
        </p:blipFill>
        <p:spPr>
          <a:xfrm>
            <a:off x="5221219" y="3861048"/>
            <a:ext cx="3394143" cy="2258764"/>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relevant testing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0" indent="0">
              <a:spcBef>
                <a:spcPts val="600"/>
              </a:spcBef>
              <a:spcAft>
                <a:spcPts val="1200"/>
              </a:spcAft>
              <a:buNone/>
            </a:pPr>
            <a:r>
              <a:rPr lang="en-US" sz="2200" b="1" dirty="0" smtClean="0">
                <a:latin typeface="Helvetica" pitchFamily="34" charset="0"/>
              </a:rPr>
              <a:t>Some businesses require applicants to successfully pass tests before they are hired:</a:t>
            </a:r>
          </a:p>
          <a:p>
            <a:pPr marL="360000" indent="-360000">
              <a:spcBef>
                <a:spcPts val="600"/>
              </a:spcBef>
              <a:spcAft>
                <a:spcPts val="1200"/>
              </a:spcAft>
            </a:pPr>
            <a:r>
              <a:rPr lang="en-US" sz="2200" b="1" dirty="0" smtClean="0">
                <a:latin typeface="Helvetica" pitchFamily="34" charset="0"/>
              </a:rPr>
              <a:t>There is very wide degree of variance regarding testing</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Some never test applicants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Some tests all who pass interview</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Some apply testing in a selective manner</a:t>
            </a:r>
          </a:p>
          <a:p>
            <a:pPr marL="360000" indent="-360000">
              <a:spcBef>
                <a:spcPts val="600"/>
              </a:spcBef>
              <a:spcAft>
                <a:spcPts val="1200"/>
              </a:spcAft>
            </a:pPr>
            <a:r>
              <a:rPr lang="en-US" sz="2200" b="1" dirty="0" smtClean="0">
                <a:latin typeface="Helvetica" pitchFamily="34" charset="0"/>
              </a:rPr>
              <a:t>Commonly testing is done after the interview &amp; only applied to ‘successful’ candidates</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relevant testing procedures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Testing is done to:</a:t>
            </a:r>
          </a:p>
          <a:p>
            <a:pPr marL="360000" indent="-360000">
              <a:spcBef>
                <a:spcPts val="600"/>
              </a:spcBef>
              <a:spcAft>
                <a:spcPts val="1200"/>
              </a:spcAft>
            </a:pPr>
            <a:r>
              <a:rPr lang="en-US" sz="2200" b="1" dirty="0" smtClean="0">
                <a:latin typeface="Helvetica" pitchFamily="34" charset="0"/>
              </a:rPr>
              <a:t>Determine competency levels</a:t>
            </a:r>
          </a:p>
          <a:p>
            <a:pPr marL="360000" indent="-360000">
              <a:spcBef>
                <a:spcPts val="600"/>
              </a:spcBef>
              <a:spcAft>
                <a:spcPts val="1200"/>
              </a:spcAft>
            </a:pPr>
            <a:r>
              <a:rPr lang="en-US" sz="2200" b="1" dirty="0" smtClean="0">
                <a:latin typeface="Helvetica" pitchFamily="34" charset="0"/>
              </a:rPr>
              <a:t>Prove health of the applicant</a:t>
            </a:r>
          </a:p>
          <a:p>
            <a:pPr marL="360000" indent="-360000">
              <a:spcBef>
                <a:spcPts val="600"/>
              </a:spcBef>
              <a:spcAft>
                <a:spcPts val="1200"/>
              </a:spcAft>
            </a:pPr>
            <a:r>
              <a:rPr lang="en-US" sz="2200" b="1" dirty="0" smtClean="0">
                <a:latin typeface="Helvetica" pitchFamily="34" charset="0"/>
              </a:rPr>
              <a:t>Identify drugs or alcohol</a:t>
            </a:r>
          </a:p>
          <a:p>
            <a:pPr marL="360000" indent="-360000">
              <a:spcBef>
                <a:spcPts val="600"/>
              </a:spcBef>
              <a:spcAft>
                <a:spcPts val="1200"/>
              </a:spcAft>
            </a:pPr>
            <a:r>
              <a:rPr lang="en-US" sz="2200" b="1" dirty="0" smtClean="0">
                <a:latin typeface="Helvetica" pitchFamily="34" charset="0"/>
              </a:rPr>
              <a:t>‘Profile’ the person.</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5" name="Picture 4" descr="MP900422579[1].JPG"/>
          <p:cNvPicPr>
            <a:picLocks noChangeAspect="1"/>
          </p:cNvPicPr>
          <p:nvPr/>
        </p:nvPicPr>
        <p:blipFill>
          <a:blip r:embed="rId3" cstate="print"/>
          <a:stretch>
            <a:fillRect/>
          </a:stretch>
        </p:blipFill>
        <p:spPr>
          <a:xfrm>
            <a:off x="6228184" y="3039469"/>
            <a:ext cx="2188032" cy="3242467"/>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File application &amp; interview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4896544"/>
          </a:xfrm>
        </p:spPr>
        <p:txBody>
          <a:bodyPr>
            <a:normAutofit/>
          </a:bodyPr>
          <a:lstStyle/>
          <a:p>
            <a:pPr marL="0" indent="0">
              <a:spcBef>
                <a:spcPts val="600"/>
              </a:spcBef>
              <a:spcAft>
                <a:spcPts val="1200"/>
              </a:spcAft>
              <a:buNone/>
            </a:pPr>
            <a:r>
              <a:rPr lang="en-US" sz="2200" b="1" dirty="0" smtClean="0">
                <a:latin typeface="Helvetica" pitchFamily="34" charset="0"/>
              </a:rPr>
              <a:t>After interviews, file  application documentation :</a:t>
            </a:r>
          </a:p>
          <a:p>
            <a:pPr marL="360000" indent="-360000">
              <a:spcBef>
                <a:spcPts val="600"/>
              </a:spcBef>
              <a:spcAft>
                <a:spcPts val="1200"/>
              </a:spcAft>
            </a:pPr>
            <a:r>
              <a:rPr lang="en-US" sz="2200" b="1" dirty="0" smtClean="0">
                <a:latin typeface="Helvetica" pitchFamily="34" charset="0"/>
              </a:rPr>
              <a:t>Create a file for each position advertised</a:t>
            </a:r>
          </a:p>
          <a:p>
            <a:pPr marL="360000" indent="-360000">
              <a:spcBef>
                <a:spcPts val="600"/>
              </a:spcBef>
              <a:spcAft>
                <a:spcPts val="1200"/>
              </a:spcAft>
            </a:pPr>
            <a:r>
              <a:rPr lang="en-US" sz="2200" b="1" dirty="0" smtClean="0">
                <a:latin typeface="Helvetica" pitchFamily="34" charset="0"/>
              </a:rPr>
              <a:t>Create one file for each candidate interviewed – containing:</a:t>
            </a:r>
          </a:p>
          <a:p>
            <a:pPr marL="661752" lvl="1" indent="-360000">
              <a:spcBef>
                <a:spcPts val="600"/>
              </a:spcBef>
              <a:spcAft>
                <a:spcPts val="1200"/>
              </a:spcAft>
            </a:pPr>
            <a:r>
              <a:rPr lang="en-US" sz="2200" b="1" dirty="0" smtClean="0">
                <a:latin typeface="Helvetica" pitchFamily="34" charset="0"/>
              </a:rPr>
              <a:t>Name of applicant</a:t>
            </a:r>
          </a:p>
          <a:p>
            <a:pPr marL="661752" lvl="1" indent="-360000">
              <a:spcBef>
                <a:spcPts val="600"/>
              </a:spcBef>
              <a:spcAft>
                <a:spcPts val="1200"/>
              </a:spcAft>
            </a:pPr>
            <a:r>
              <a:rPr lang="en-US" sz="2200" b="1" dirty="0" smtClean="0">
                <a:latin typeface="Helvetica" pitchFamily="34" charset="0"/>
              </a:rPr>
              <a:t>Documents in file</a:t>
            </a:r>
          </a:p>
          <a:p>
            <a:pPr marL="661752" lvl="1" indent="-360000">
              <a:spcBef>
                <a:spcPts val="600"/>
              </a:spcBef>
              <a:spcAft>
                <a:spcPts val="1200"/>
              </a:spcAft>
            </a:pPr>
            <a:r>
              <a:rPr lang="en-US" sz="2200" b="1" dirty="0" smtClean="0">
                <a:latin typeface="Helvetica" pitchFamily="34" charset="0"/>
              </a:rPr>
              <a:t>Date application received</a:t>
            </a:r>
          </a:p>
          <a:p>
            <a:pPr marL="360000" indent="-360000">
              <a:spcBef>
                <a:spcPts val="600"/>
              </a:spcBef>
              <a:spcAft>
                <a:spcPts val="1200"/>
              </a:spcAft>
            </a:pPr>
            <a:r>
              <a:rPr lang="en-US" sz="2200" b="1" dirty="0" smtClean="0">
                <a:latin typeface="Helvetica" pitchFamily="34" charset="0"/>
              </a:rPr>
              <a:t>Create or update register of applicants.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6" name="Picture 5" descr="j0422619.jpg"/>
          <p:cNvPicPr>
            <a:picLocks noChangeAspect="1"/>
          </p:cNvPicPr>
          <p:nvPr/>
        </p:nvPicPr>
        <p:blipFill>
          <a:blip r:embed="rId3" cstate="print"/>
          <a:stretch>
            <a:fillRect/>
          </a:stretch>
        </p:blipFill>
        <p:spPr>
          <a:xfrm>
            <a:off x="6929454" y="3429000"/>
            <a:ext cx="1863720" cy="2786058"/>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File application &amp; interview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136904" cy="5040560"/>
          </a:xfrm>
        </p:spPr>
        <p:txBody>
          <a:bodyPr>
            <a:normAutofit/>
          </a:bodyPr>
          <a:lstStyle/>
          <a:p>
            <a:pPr marL="0" indent="0">
              <a:spcBef>
                <a:spcPts val="600"/>
              </a:spcBef>
              <a:spcAft>
                <a:spcPts val="1200"/>
              </a:spcAft>
              <a:buNone/>
            </a:pPr>
            <a:r>
              <a:rPr lang="en-US" sz="2200" b="1" dirty="0" smtClean="0">
                <a:latin typeface="Helvetica" pitchFamily="34" charset="0"/>
              </a:rPr>
              <a:t>Converting ‘application’ files to ‘interviewed’ files may involve:</a:t>
            </a:r>
          </a:p>
          <a:p>
            <a:pPr marL="360000" indent="-360000">
              <a:spcBef>
                <a:spcPts val="600"/>
              </a:spcBef>
              <a:spcAft>
                <a:spcPts val="1200"/>
              </a:spcAft>
            </a:pPr>
            <a:r>
              <a:rPr lang="en-US" sz="2200" b="1" dirty="0" smtClean="0">
                <a:latin typeface="Helvetica" pitchFamily="34" charset="0"/>
              </a:rPr>
              <a:t>Culling files of those not interviewed</a:t>
            </a:r>
          </a:p>
          <a:p>
            <a:pPr marL="360000" indent="-360000">
              <a:spcBef>
                <a:spcPts val="600"/>
              </a:spcBef>
              <a:spcAft>
                <a:spcPts val="1200"/>
              </a:spcAft>
            </a:pPr>
            <a:r>
              <a:rPr lang="en-US" sz="2200" b="1" dirty="0" smtClean="0">
                <a:latin typeface="Helvetica" pitchFamily="34" charset="0"/>
              </a:rPr>
              <a:t>Re-using ‘application’ files as basis for ‘post-interview’ files</a:t>
            </a:r>
          </a:p>
          <a:p>
            <a:pPr marL="360000" indent="-360000">
              <a:spcBef>
                <a:spcPts val="600"/>
              </a:spcBef>
              <a:spcAft>
                <a:spcPts val="1200"/>
              </a:spcAft>
            </a:pPr>
            <a:r>
              <a:rPr lang="en-US" sz="2200" b="1" dirty="0" smtClean="0">
                <a:latin typeface="Helvetica" pitchFamily="34" charset="0"/>
              </a:rPr>
              <a:t>Noting new file documents on file cover</a:t>
            </a:r>
          </a:p>
          <a:p>
            <a:pPr marL="360000" indent="-360000">
              <a:spcBef>
                <a:spcPts val="600"/>
              </a:spcBef>
              <a:spcAft>
                <a:spcPts val="1200"/>
              </a:spcAft>
            </a:pPr>
            <a:r>
              <a:rPr lang="en-US" sz="2200" b="1" dirty="0" smtClean="0">
                <a:latin typeface="Helvetica" pitchFamily="34" charset="0"/>
              </a:rPr>
              <a:t>Updating files with other material as necessary</a:t>
            </a:r>
          </a:p>
          <a:p>
            <a:pPr marL="360000" indent="-360000">
              <a:spcBef>
                <a:spcPts val="600"/>
              </a:spcBef>
              <a:spcAft>
                <a:spcPts val="1200"/>
              </a:spcAft>
            </a:pPr>
            <a:r>
              <a:rPr lang="en-US" sz="2200" b="1" dirty="0" smtClean="0">
                <a:latin typeface="Helvetica" pitchFamily="34" charset="0"/>
              </a:rPr>
              <a:t>Maintaining file according to                                                    house protocols.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5" name="Picture 4" descr="00382815.jpg"/>
          <p:cNvPicPr>
            <a:picLocks noChangeAspect="1"/>
          </p:cNvPicPr>
          <p:nvPr/>
        </p:nvPicPr>
        <p:blipFill>
          <a:blip r:embed="rId3" cstate="print"/>
          <a:stretch>
            <a:fillRect/>
          </a:stretch>
        </p:blipFill>
        <p:spPr>
          <a:xfrm>
            <a:off x="6300192" y="4561368"/>
            <a:ext cx="2415190" cy="1725135"/>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File application &amp; interview documentation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525963"/>
          </a:xfrm>
        </p:spPr>
        <p:txBody>
          <a:bodyPr>
            <a:normAutofit/>
          </a:bodyPr>
          <a:lstStyle/>
          <a:p>
            <a:pPr marL="0" indent="0">
              <a:spcBef>
                <a:spcPts val="600"/>
              </a:spcBef>
              <a:spcAft>
                <a:spcPts val="1200"/>
              </a:spcAft>
              <a:buNone/>
            </a:pPr>
            <a:r>
              <a:rPr lang="en-US" sz="2200" b="1" dirty="0" smtClean="0">
                <a:latin typeface="Helvetica" pitchFamily="34" charset="0"/>
              </a:rPr>
              <a:t>Filing may also require you to:</a:t>
            </a:r>
          </a:p>
          <a:p>
            <a:pPr>
              <a:spcBef>
                <a:spcPts val="1200"/>
              </a:spcBef>
              <a:spcAft>
                <a:spcPts val="600"/>
              </a:spcAft>
            </a:pPr>
            <a:r>
              <a:rPr lang="en-AU" sz="2200" b="1" dirty="0" smtClean="0">
                <a:latin typeface="Helvetica" pitchFamily="34" charset="0"/>
              </a:rPr>
              <a:t>Detail all 'Thanks and Regret' letters sent </a:t>
            </a:r>
          </a:p>
          <a:p>
            <a:pPr>
              <a:spcBef>
                <a:spcPts val="1200"/>
              </a:spcBef>
              <a:spcAft>
                <a:spcPts val="600"/>
              </a:spcAft>
            </a:pPr>
            <a:r>
              <a:rPr lang="en-AU" sz="2200" b="1" dirty="0" smtClean="0">
                <a:latin typeface="Helvetica" pitchFamily="34" charset="0"/>
              </a:rPr>
              <a:t>Forward all applications that 'just missed out' to Personnel or various department heads</a:t>
            </a:r>
          </a:p>
          <a:p>
            <a:pPr>
              <a:spcBef>
                <a:spcPts val="1200"/>
              </a:spcBef>
              <a:spcAft>
                <a:spcPts val="600"/>
              </a:spcAft>
            </a:pPr>
            <a:r>
              <a:rPr lang="en-AU" sz="2200" b="1" dirty="0" smtClean="0">
                <a:latin typeface="Helvetica" pitchFamily="34" charset="0"/>
              </a:rPr>
              <a:t>Photocopy &amp; forward documents of successful applicants to HRD</a:t>
            </a:r>
          </a:p>
          <a:p>
            <a:pPr>
              <a:spcBef>
                <a:spcPts val="1200"/>
              </a:spcBef>
              <a:spcAft>
                <a:spcPts val="600"/>
              </a:spcAft>
            </a:pPr>
            <a:r>
              <a:rPr lang="en-AU" sz="2200" b="1" dirty="0" smtClean="0">
                <a:latin typeface="Helvetica" pitchFamily="34" charset="0"/>
              </a:rPr>
              <a:t>Notify departments as necessary                                    regarding employment of a </a:t>
            </a:r>
            <a:br>
              <a:rPr lang="en-AU" sz="2200" b="1" dirty="0" smtClean="0">
                <a:latin typeface="Helvetica" pitchFamily="34" charset="0"/>
              </a:rPr>
            </a:br>
            <a:r>
              <a:rPr lang="en-AU" sz="2200" b="1" dirty="0" smtClean="0">
                <a:latin typeface="Helvetica" pitchFamily="34" charset="0"/>
              </a:rPr>
              <a:t>new person.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5" name="Picture 4" descr="j0442356.jpg"/>
          <p:cNvPicPr>
            <a:picLocks noChangeAspect="1"/>
          </p:cNvPicPr>
          <p:nvPr/>
        </p:nvPicPr>
        <p:blipFill>
          <a:blip r:embed="rId3" cstate="print"/>
          <a:stretch>
            <a:fillRect/>
          </a:stretch>
        </p:blipFill>
        <p:spPr>
          <a:xfrm>
            <a:off x="6156176" y="4437112"/>
            <a:ext cx="2651787" cy="1988840"/>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When interviewing staff:</a:t>
            </a:r>
          </a:p>
          <a:p>
            <a:pPr>
              <a:spcBef>
                <a:spcPts val="1200"/>
              </a:spcBef>
              <a:spcAft>
                <a:spcPts val="600"/>
              </a:spcAft>
            </a:pPr>
            <a:r>
              <a:rPr lang="en-AU" sz="2200" b="1" dirty="0" smtClean="0">
                <a:latin typeface="Helvetica" pitchFamily="34" charset="0"/>
              </a:rPr>
              <a:t>File all applications in accordance with house policy</a:t>
            </a:r>
          </a:p>
          <a:p>
            <a:pPr>
              <a:spcBef>
                <a:spcPts val="1200"/>
              </a:spcBef>
              <a:spcAft>
                <a:spcPts val="600"/>
              </a:spcAft>
            </a:pPr>
            <a:r>
              <a:rPr lang="en-AU" sz="2200" b="1" dirty="0" smtClean="0">
                <a:latin typeface="Helvetica" pitchFamily="34" charset="0"/>
              </a:rPr>
              <a:t>Short-list applicants</a:t>
            </a:r>
          </a:p>
          <a:p>
            <a:pPr>
              <a:spcBef>
                <a:spcPts val="1200"/>
              </a:spcBef>
              <a:spcAft>
                <a:spcPts val="600"/>
              </a:spcAft>
            </a:pPr>
            <a:r>
              <a:rPr lang="en-AU" sz="2200" b="1" dirty="0" smtClean="0">
                <a:latin typeface="Helvetica" pitchFamily="34" charset="0"/>
              </a:rPr>
              <a:t>Only forward appropriate                                            applicants for interview</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5" name="Picture 4" descr="j0409026.jpg"/>
          <p:cNvPicPr>
            <a:picLocks noChangeAspect="1"/>
          </p:cNvPicPr>
          <p:nvPr/>
        </p:nvPicPr>
        <p:blipFill>
          <a:blip r:embed="rId3" cstate="print"/>
          <a:stretch>
            <a:fillRect/>
          </a:stretch>
        </p:blipFill>
        <p:spPr>
          <a:xfrm>
            <a:off x="5940152" y="3429000"/>
            <a:ext cx="2492896" cy="2492896"/>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600"/>
              </a:spcAft>
            </a:pPr>
            <a:r>
              <a:rPr lang="en-AU" sz="2200" b="1" dirty="0" smtClean="0">
                <a:latin typeface="Helvetica" pitchFamily="34" charset="0"/>
              </a:rPr>
              <a:t>Advise unsuccessful applicants with a Letter of ‘Thanks &amp; regret’</a:t>
            </a:r>
          </a:p>
          <a:p>
            <a:pPr>
              <a:spcBef>
                <a:spcPts val="1200"/>
              </a:spcBef>
              <a:spcAft>
                <a:spcPts val="600"/>
              </a:spcAft>
            </a:pPr>
            <a:r>
              <a:rPr lang="en-AU" sz="2200" b="1" dirty="0" smtClean="0">
                <a:latin typeface="Helvetica" pitchFamily="34" charset="0"/>
              </a:rPr>
              <a:t>Follow-up as required</a:t>
            </a:r>
          </a:p>
          <a:p>
            <a:pPr>
              <a:spcBef>
                <a:spcPts val="1200"/>
              </a:spcBef>
              <a:spcAft>
                <a:spcPts val="600"/>
              </a:spcAft>
            </a:pPr>
            <a:r>
              <a:rPr lang="en-AU" sz="2200" b="1" dirty="0" smtClean="0">
                <a:latin typeface="Helvetica" pitchFamily="34" charset="0"/>
              </a:rPr>
              <a:t>Check references or referees in accordance with establishment protocols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5" name="Picture 4" descr="j0422149.jpg"/>
          <p:cNvPicPr>
            <a:picLocks noChangeAspect="1"/>
          </p:cNvPicPr>
          <p:nvPr/>
        </p:nvPicPr>
        <p:blipFill>
          <a:blip r:embed="rId3" cstate="print"/>
          <a:stretch>
            <a:fillRect/>
          </a:stretch>
        </p:blipFill>
        <p:spPr>
          <a:xfrm>
            <a:off x="5436096" y="4077072"/>
            <a:ext cx="3163993" cy="2103561"/>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1200"/>
              </a:spcBef>
              <a:spcAft>
                <a:spcPts val="600"/>
              </a:spcAft>
            </a:pPr>
            <a:r>
              <a:rPr lang="en-AU" sz="2200" b="1" dirty="0" smtClean="0">
                <a:latin typeface="Helvetica" pitchFamily="34" charset="0"/>
              </a:rPr>
              <a:t>Schedule interviews – by time, date &amp; applicant name</a:t>
            </a:r>
          </a:p>
          <a:p>
            <a:pPr>
              <a:spcBef>
                <a:spcPts val="1200"/>
              </a:spcBef>
              <a:spcAft>
                <a:spcPts val="600"/>
              </a:spcAft>
            </a:pPr>
            <a:r>
              <a:rPr lang="en-AU" sz="2200" b="1" dirty="0" smtClean="0">
                <a:latin typeface="Helvetica" pitchFamily="34" charset="0"/>
              </a:rPr>
              <a:t>Advise short-listed applicants of time, date, location &amp; nature of job interview and what to bring </a:t>
            </a:r>
          </a:p>
          <a:p>
            <a:pPr>
              <a:spcBef>
                <a:spcPts val="1200"/>
              </a:spcBef>
              <a:spcAft>
                <a:spcPts val="600"/>
              </a:spcAft>
            </a:pPr>
            <a:r>
              <a:rPr lang="en-AU" sz="2200" b="1" dirty="0" smtClean="0">
                <a:latin typeface="Helvetica" pitchFamily="34" charset="0"/>
              </a:rPr>
              <a:t>Plan &amp; prepare for the job interview involving all those who will be involved in determining questions to be asked, roles for interviewers &amp; other interview-specific issues</a:t>
            </a: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5" name="Picture 4" descr="j0444333.jpg"/>
          <p:cNvPicPr>
            <a:picLocks noChangeAspect="1"/>
          </p:cNvPicPr>
          <p:nvPr/>
        </p:nvPicPr>
        <p:blipFill>
          <a:blip r:embed="rId3" cstate="print"/>
          <a:stretch>
            <a:fillRect/>
          </a:stretch>
        </p:blipFill>
        <p:spPr>
          <a:xfrm>
            <a:off x="5796136" y="4437112"/>
            <a:ext cx="2987824" cy="1988363"/>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Arrange the interview room</a:t>
            </a:r>
          </a:p>
          <a:p>
            <a:endParaRPr lang="en-AU" sz="2200" b="1" dirty="0" smtClean="0">
              <a:latin typeface="Helvetica" pitchFamily="34" charset="0"/>
            </a:endParaRPr>
          </a:p>
          <a:p>
            <a:r>
              <a:rPr lang="en-AU" sz="2200" b="1" dirty="0" smtClean="0">
                <a:latin typeface="Helvetica" pitchFamily="34" charset="0"/>
              </a:rPr>
              <a:t>Ready yourself for the interview by reading relevant materials, KSC, rating sheet, job description</a:t>
            </a:r>
          </a:p>
          <a:p>
            <a:endParaRPr lang="en-AU" sz="2200" b="1" dirty="0" smtClean="0">
              <a:latin typeface="Helvetica" pitchFamily="34" charset="0"/>
            </a:endParaRPr>
          </a:p>
          <a:p>
            <a:r>
              <a:rPr lang="en-AU" sz="2200" b="1" dirty="0" smtClean="0">
                <a:latin typeface="Helvetica" pitchFamily="34" charset="0"/>
              </a:rPr>
              <a:t>Interview applicants</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5" name="Picture 4" descr="00433150.jpg"/>
          <p:cNvPicPr>
            <a:picLocks noChangeAspect="1"/>
          </p:cNvPicPr>
          <p:nvPr/>
        </p:nvPicPr>
        <p:blipFill>
          <a:blip r:embed="rId3" cstate="print"/>
          <a:stretch>
            <a:fillRect/>
          </a:stretch>
        </p:blipFill>
        <p:spPr>
          <a:xfrm>
            <a:off x="5148064" y="3933056"/>
            <a:ext cx="3200400" cy="2133600"/>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Apply associated tests as necessary to help determine most suitable applicant</a:t>
            </a:r>
          </a:p>
          <a:p>
            <a:endParaRPr lang="en-AU" sz="2200" b="1" dirty="0" smtClean="0">
              <a:latin typeface="Helvetica" pitchFamily="34" charset="0"/>
            </a:endParaRPr>
          </a:p>
          <a:p>
            <a:r>
              <a:rPr lang="en-AU" sz="2200" b="1" dirty="0" smtClean="0">
                <a:latin typeface="Helvetica" pitchFamily="34" charset="0"/>
              </a:rPr>
              <a:t>File all application &amp; interview materials for later use in accordance with house practice.</a:t>
            </a: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6" name="Picture 5" descr="00446863.jpg"/>
          <p:cNvPicPr>
            <a:picLocks noChangeAspect="1"/>
          </p:cNvPicPr>
          <p:nvPr/>
        </p:nvPicPr>
        <p:blipFill>
          <a:blip r:embed="rId3" cstate="print"/>
          <a:stretch>
            <a:fillRect/>
          </a:stretch>
        </p:blipFill>
        <p:spPr>
          <a:xfrm>
            <a:off x="6372200" y="3573016"/>
            <a:ext cx="2198278" cy="2924944"/>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Select staff</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24536"/>
          </a:xfrm>
        </p:spPr>
        <p:txBody>
          <a:bodyPr>
            <a:normAutofit/>
          </a:bodyPr>
          <a:lstStyle/>
          <a:p>
            <a:pPr marL="0" indent="0">
              <a:spcBef>
                <a:spcPts val="600"/>
              </a:spcBef>
              <a:spcAft>
                <a:spcPts val="1200"/>
              </a:spcAft>
              <a:buNone/>
            </a:pPr>
            <a:r>
              <a:rPr lang="en-US" sz="2200" b="1" dirty="0" smtClean="0">
                <a:latin typeface="Helvetica" pitchFamily="34" charset="0"/>
              </a:rPr>
              <a:t>Performance Criteria for this Element are:</a:t>
            </a:r>
          </a:p>
          <a:p>
            <a:pPr marL="360000" indent="-360000">
              <a:spcBef>
                <a:spcPts val="600"/>
              </a:spcBef>
              <a:spcAft>
                <a:spcPts val="1200"/>
              </a:spcAft>
            </a:pPr>
            <a:r>
              <a:rPr lang="en-US" sz="2200" b="1" dirty="0" smtClean="0">
                <a:latin typeface="Helvetica" pitchFamily="34" charset="0"/>
              </a:rPr>
              <a:t>Choose successful applicants using pre-defined criteria</a:t>
            </a:r>
          </a:p>
          <a:p>
            <a:pPr marL="360000" indent="-360000">
              <a:spcBef>
                <a:spcPts val="600"/>
              </a:spcBef>
              <a:spcAft>
                <a:spcPts val="1200"/>
              </a:spcAft>
            </a:pPr>
            <a:r>
              <a:rPr lang="en-US" sz="2200" b="1" dirty="0" smtClean="0">
                <a:latin typeface="Helvetica" pitchFamily="34" charset="0"/>
              </a:rPr>
              <a:t>Notify successful applicants &amp; make formal job offer</a:t>
            </a:r>
          </a:p>
          <a:p>
            <a:pPr marL="360000" indent="-360000">
              <a:spcBef>
                <a:spcPts val="600"/>
              </a:spcBef>
              <a:spcAft>
                <a:spcPts val="1200"/>
              </a:spcAft>
            </a:pPr>
            <a:r>
              <a:rPr lang="en-US" sz="2200" b="1" dirty="0" smtClean="0">
                <a:latin typeface="Helvetica" pitchFamily="34" charset="0"/>
              </a:rPr>
              <a:t>Notify unsuccessful applicants</a:t>
            </a:r>
          </a:p>
          <a:p>
            <a:pPr marL="360000" indent="-360000">
              <a:spcBef>
                <a:spcPts val="600"/>
              </a:spcBef>
              <a:spcAft>
                <a:spcPts val="1200"/>
              </a:spcAft>
            </a:pPr>
            <a:r>
              <a:rPr lang="en-US" sz="2200" b="1" dirty="0" smtClean="0">
                <a:latin typeface="Helvetica" pitchFamily="34" charset="0"/>
              </a:rPr>
              <a:t>Follow-up as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5" name="Picture 4" descr="00433151.jpg"/>
          <p:cNvPicPr>
            <a:picLocks noChangeAspect="1"/>
          </p:cNvPicPr>
          <p:nvPr/>
        </p:nvPicPr>
        <p:blipFill>
          <a:blip r:embed="rId3" cstate="print"/>
          <a:stretch>
            <a:fillRect/>
          </a:stretch>
        </p:blipFill>
        <p:spPr>
          <a:xfrm>
            <a:off x="5652120" y="4149080"/>
            <a:ext cx="2984376" cy="1989584"/>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Choose successful applicant using pre-defined criteria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968552"/>
          </a:xfrm>
        </p:spPr>
        <p:txBody>
          <a:bodyPr>
            <a:normAutofit/>
          </a:bodyPr>
          <a:lstStyle/>
          <a:p>
            <a:pPr marL="0" indent="0">
              <a:spcBef>
                <a:spcPts val="600"/>
              </a:spcBef>
              <a:spcAft>
                <a:spcPts val="1200"/>
              </a:spcAft>
              <a:buNone/>
            </a:pPr>
            <a:r>
              <a:rPr lang="en-US" sz="2200" b="1" dirty="0" smtClean="0">
                <a:latin typeface="Helvetica" pitchFamily="34" charset="0"/>
              </a:rPr>
              <a:t>You must select the best person for the job based on KSC: </a:t>
            </a:r>
          </a:p>
          <a:p>
            <a:pPr>
              <a:spcBef>
                <a:spcPts val="1200"/>
              </a:spcBef>
              <a:spcAft>
                <a:spcPts val="600"/>
              </a:spcAft>
            </a:pPr>
            <a:r>
              <a:rPr lang="en-AU" sz="2200" b="1" dirty="0" smtClean="0">
                <a:latin typeface="Helvetica" pitchFamily="34" charset="0"/>
              </a:rPr>
              <a:t>Comparing the applicant with the job analysis, description &amp; specification</a:t>
            </a:r>
          </a:p>
          <a:p>
            <a:pPr>
              <a:spcBef>
                <a:spcPts val="1200"/>
              </a:spcBef>
              <a:spcAft>
                <a:spcPts val="600"/>
              </a:spcAft>
            </a:pPr>
            <a:r>
              <a:rPr lang="en-AU" sz="2200" b="1" dirty="0" smtClean="0">
                <a:latin typeface="Helvetica" pitchFamily="34" charset="0"/>
              </a:rPr>
              <a:t>Reviewing the interview</a:t>
            </a:r>
          </a:p>
          <a:p>
            <a:pPr>
              <a:spcBef>
                <a:spcPts val="1200"/>
              </a:spcBef>
              <a:spcAft>
                <a:spcPts val="600"/>
              </a:spcAft>
            </a:pPr>
            <a:r>
              <a:rPr lang="en-AU" sz="2200" b="1" dirty="0" smtClean="0">
                <a:latin typeface="Helvetica" pitchFamily="34" charset="0"/>
              </a:rPr>
              <a:t>Consider impressions &amp; opinions</a:t>
            </a:r>
          </a:p>
          <a:p>
            <a:pPr>
              <a:spcBef>
                <a:spcPts val="1200"/>
              </a:spcBef>
              <a:spcAft>
                <a:spcPts val="600"/>
              </a:spcAft>
            </a:pPr>
            <a:r>
              <a:rPr lang="en-AU" sz="2200" b="1" dirty="0" smtClean="0">
                <a:latin typeface="Helvetica" pitchFamily="34" charset="0"/>
              </a:rPr>
              <a:t>Rating the applicants into priority order</a:t>
            </a:r>
          </a:p>
          <a:p>
            <a:pPr>
              <a:spcBef>
                <a:spcPts val="1200"/>
              </a:spcBef>
              <a:spcAft>
                <a:spcPts val="600"/>
              </a:spcAft>
            </a:pPr>
            <a:r>
              <a:rPr lang="en-AU" sz="2200" b="1" dirty="0" smtClean="0">
                <a:latin typeface="Helvetica" pitchFamily="34" charset="0"/>
              </a:rPr>
              <a:t>Determining if an offer should be made.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5" name="Picture 4" descr="00302917.jpg"/>
          <p:cNvPicPr>
            <a:picLocks noChangeAspect="1"/>
          </p:cNvPicPr>
          <p:nvPr/>
        </p:nvPicPr>
        <p:blipFill>
          <a:blip r:embed="rId3" cstate="print"/>
          <a:stretch>
            <a:fillRect/>
          </a:stretch>
        </p:blipFill>
        <p:spPr>
          <a:xfrm>
            <a:off x="6474450" y="3212976"/>
            <a:ext cx="2146797" cy="3009528"/>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Choose successful applicant using pre-defined criteria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968552"/>
          </a:xfrm>
        </p:spPr>
        <p:txBody>
          <a:bodyPr>
            <a:normAutofit/>
          </a:bodyPr>
          <a:lstStyle/>
          <a:p>
            <a:pPr marL="0" indent="0">
              <a:spcBef>
                <a:spcPts val="600"/>
              </a:spcBef>
              <a:spcAft>
                <a:spcPts val="1200"/>
              </a:spcAft>
              <a:buNone/>
            </a:pPr>
            <a:r>
              <a:rPr lang="en-US" sz="2200" b="1" dirty="0" smtClean="0">
                <a:latin typeface="Helvetica" pitchFamily="34" charset="0"/>
              </a:rPr>
              <a:t>An ‘Interview Rating Sheet’:</a:t>
            </a:r>
          </a:p>
          <a:p>
            <a:pPr marL="360000" indent="-360000">
              <a:spcBef>
                <a:spcPts val="600"/>
              </a:spcBef>
              <a:spcAft>
                <a:spcPts val="1200"/>
              </a:spcAft>
            </a:pPr>
            <a:r>
              <a:rPr lang="en-US" sz="2200" b="1" dirty="0" smtClean="0">
                <a:latin typeface="Helvetica" pitchFamily="34" charset="0"/>
              </a:rPr>
              <a:t>Rates each applicant </a:t>
            </a:r>
          </a:p>
          <a:p>
            <a:pPr marL="360000" indent="-360000">
              <a:spcBef>
                <a:spcPts val="600"/>
              </a:spcBef>
              <a:spcAft>
                <a:spcPts val="1200"/>
              </a:spcAft>
            </a:pPr>
            <a:r>
              <a:rPr lang="en-US" sz="2200" b="1" dirty="0" smtClean="0">
                <a:latin typeface="Helvetica" pitchFamily="34" charset="0"/>
              </a:rPr>
              <a:t>Scores out of a maximum number (10)</a:t>
            </a:r>
          </a:p>
          <a:p>
            <a:pPr marL="360000" indent="-360000">
              <a:spcBef>
                <a:spcPts val="600"/>
              </a:spcBef>
              <a:spcAft>
                <a:spcPts val="1200"/>
              </a:spcAft>
            </a:pPr>
            <a:r>
              <a:rPr lang="en-US" sz="2200" b="1" dirty="0" smtClean="0">
                <a:latin typeface="Helvetica" pitchFamily="34" charset="0"/>
              </a:rPr>
              <a:t>Completed by each interviewer for each applicant</a:t>
            </a:r>
          </a:p>
          <a:p>
            <a:pPr marL="360000" indent="-360000">
              <a:spcBef>
                <a:spcPts val="600"/>
              </a:spcBef>
              <a:spcAft>
                <a:spcPts val="1200"/>
              </a:spcAft>
            </a:pPr>
            <a:r>
              <a:rPr lang="en-US" sz="2200" b="1" dirty="0" smtClean="0">
                <a:latin typeface="Helvetica" pitchFamily="34" charset="0"/>
              </a:rPr>
              <a:t>Forms part of the file for each candidate</a:t>
            </a:r>
          </a:p>
          <a:p>
            <a:pPr marL="360000" indent="-360000">
              <a:spcBef>
                <a:spcPts val="600"/>
              </a:spcBef>
              <a:spcAft>
                <a:spcPts val="1200"/>
              </a:spcAft>
            </a:pPr>
            <a:r>
              <a:rPr lang="en-US" sz="2200" b="1" dirty="0" smtClean="0">
                <a:latin typeface="Helvetica" pitchFamily="34" charset="0"/>
              </a:rPr>
              <a:t>Helps interviewers compare like with like</a:t>
            </a:r>
          </a:p>
          <a:p>
            <a:pPr marL="360000" indent="-360000">
              <a:spcBef>
                <a:spcPts val="600"/>
              </a:spcBef>
              <a:spcAft>
                <a:spcPts val="1200"/>
              </a:spcAft>
            </a:pPr>
            <a:r>
              <a:rPr lang="en-US" sz="2200" b="1" dirty="0" smtClean="0">
                <a:latin typeface="Helvetica" pitchFamily="34" charset="0"/>
              </a:rPr>
              <a:t>May be used to assist with short-listing applicants</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Choose successful applicant using pre-defined criteria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968552"/>
          </a:xfrm>
        </p:spPr>
        <p:txBody>
          <a:bodyPr>
            <a:normAutofit/>
          </a:bodyPr>
          <a:lstStyle/>
          <a:p>
            <a:pPr marL="0" indent="0">
              <a:spcBef>
                <a:spcPts val="600"/>
              </a:spcBef>
              <a:spcAft>
                <a:spcPts val="1200"/>
              </a:spcAft>
              <a:buNone/>
            </a:pPr>
            <a:r>
              <a:rPr lang="en-US" sz="2200" b="1" dirty="0" smtClean="0">
                <a:latin typeface="Helvetica" pitchFamily="34" charset="0"/>
              </a:rPr>
              <a:t>After the interview:</a:t>
            </a:r>
          </a:p>
          <a:p>
            <a:pPr marL="360000" indent="-360000">
              <a:spcBef>
                <a:spcPts val="600"/>
              </a:spcBef>
              <a:spcAft>
                <a:spcPts val="1200"/>
              </a:spcAft>
            </a:pPr>
            <a:r>
              <a:rPr lang="en-US" sz="2200" b="1" dirty="0" smtClean="0">
                <a:latin typeface="Helvetica" pitchFamily="34" charset="0"/>
              </a:rPr>
              <a:t>Use Interview Rating Sheet as a guide only</a:t>
            </a:r>
          </a:p>
          <a:p>
            <a:pPr marL="360000" indent="-360000">
              <a:spcBef>
                <a:spcPts val="600"/>
              </a:spcBef>
              <a:spcAft>
                <a:spcPts val="1200"/>
              </a:spcAft>
            </a:pPr>
            <a:r>
              <a:rPr lang="en-US" sz="2200" b="1" dirty="0" smtClean="0">
                <a:latin typeface="Helvetica" pitchFamily="34" charset="0"/>
              </a:rPr>
              <a:t>Refer to interview notes</a:t>
            </a:r>
          </a:p>
          <a:p>
            <a:pPr marL="360000" indent="-360000">
              <a:spcBef>
                <a:spcPts val="600"/>
              </a:spcBef>
              <a:spcAft>
                <a:spcPts val="1200"/>
              </a:spcAft>
            </a:pPr>
            <a:r>
              <a:rPr lang="en-US" sz="2200" b="1" dirty="0" smtClean="0">
                <a:latin typeface="Helvetica" pitchFamily="34" charset="0"/>
              </a:rPr>
              <a:t>Complete the notes before discussing the candidate</a:t>
            </a:r>
          </a:p>
          <a:p>
            <a:pPr marL="360000" indent="-360000">
              <a:spcBef>
                <a:spcPts val="600"/>
              </a:spcBef>
              <a:spcAft>
                <a:spcPts val="1200"/>
              </a:spcAft>
            </a:pPr>
            <a:r>
              <a:rPr lang="en-US" sz="2200" b="1" dirty="0" smtClean="0">
                <a:latin typeface="Helvetica" pitchFamily="34" charset="0"/>
              </a:rPr>
              <a:t>Use Rating Sheets &amp; notes as basis for deciding successful candidate</a:t>
            </a:r>
          </a:p>
          <a:p>
            <a:pPr marL="360000" indent="-360000">
              <a:spcBef>
                <a:spcPts val="600"/>
              </a:spcBef>
              <a:spcAft>
                <a:spcPts val="1200"/>
              </a:spcAft>
            </a:pPr>
            <a:r>
              <a:rPr lang="en-US" sz="2200" b="1" dirty="0" smtClean="0">
                <a:latin typeface="Helvetica" pitchFamily="34" charset="0"/>
              </a:rPr>
              <a:t>File Interview Rating Sheets &amp; notes.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5" name="Picture 4" descr="00430758.jpg"/>
          <p:cNvPicPr>
            <a:picLocks noChangeAspect="1"/>
          </p:cNvPicPr>
          <p:nvPr/>
        </p:nvPicPr>
        <p:blipFill>
          <a:blip r:embed="rId3" cstate="print"/>
          <a:stretch>
            <a:fillRect/>
          </a:stretch>
        </p:blipFill>
        <p:spPr>
          <a:xfrm>
            <a:off x="6228184" y="4509120"/>
            <a:ext cx="2289482" cy="1516782"/>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Choose successful applicant using pre-defined criteria</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896544"/>
          </a:xfrm>
        </p:spPr>
        <p:txBody>
          <a:bodyPr>
            <a:normAutofit/>
          </a:bodyPr>
          <a:lstStyle/>
          <a:p>
            <a:pPr marL="0" indent="0">
              <a:spcBef>
                <a:spcPts val="600"/>
              </a:spcBef>
              <a:spcAft>
                <a:spcPts val="1200"/>
              </a:spcAft>
              <a:buNone/>
            </a:pPr>
            <a:r>
              <a:rPr lang="en-US" sz="2200" b="1" dirty="0" smtClean="0">
                <a:latin typeface="Helvetica" pitchFamily="34" charset="0"/>
              </a:rPr>
              <a:t>Hiring decisions are sometimes made on the basis of ‘other’ considerations:</a:t>
            </a:r>
          </a:p>
          <a:p>
            <a:pPr marL="360000" indent="-360000">
              <a:spcBef>
                <a:spcPts val="600"/>
              </a:spcBef>
              <a:spcAft>
                <a:spcPts val="1200"/>
              </a:spcAft>
            </a:pPr>
            <a:r>
              <a:rPr lang="en-US" sz="2200" b="1" dirty="0" smtClean="0">
                <a:latin typeface="Helvetica" pitchFamily="34" charset="0"/>
              </a:rPr>
              <a:t>Does the interview panel think the person will fit in with existing staff?</a:t>
            </a:r>
          </a:p>
          <a:p>
            <a:pPr marL="360000" indent="-360000">
              <a:spcBef>
                <a:spcPts val="600"/>
              </a:spcBef>
              <a:spcAft>
                <a:spcPts val="1200"/>
              </a:spcAft>
            </a:pPr>
            <a:r>
              <a:rPr lang="en-US" sz="2200" b="1" dirty="0" smtClean="0">
                <a:latin typeface="Helvetica" pitchFamily="34" charset="0"/>
              </a:rPr>
              <a:t>“Could I work with this person?”</a:t>
            </a:r>
          </a:p>
          <a:p>
            <a:pPr marL="360000" indent="-360000">
              <a:spcBef>
                <a:spcPts val="600"/>
              </a:spcBef>
              <a:spcAft>
                <a:spcPts val="1200"/>
              </a:spcAft>
            </a:pPr>
            <a:r>
              <a:rPr lang="en-US" sz="2200" b="1" dirty="0" smtClean="0">
                <a:latin typeface="Helvetica" pitchFamily="34" charset="0"/>
              </a:rPr>
              <a:t>“How will the other staff get on with them?”</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5" name="Picture 4" descr="00302923.jpg"/>
          <p:cNvPicPr>
            <a:picLocks noChangeAspect="1"/>
          </p:cNvPicPr>
          <p:nvPr/>
        </p:nvPicPr>
        <p:blipFill>
          <a:blip r:embed="rId3" cstate="print"/>
          <a:stretch>
            <a:fillRect/>
          </a:stretch>
        </p:blipFill>
        <p:spPr>
          <a:xfrm>
            <a:off x="6374218" y="4581128"/>
            <a:ext cx="2143413" cy="1528968"/>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successful applicants &amp; make formal job offer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4968552"/>
          </a:xfrm>
        </p:spPr>
        <p:txBody>
          <a:bodyPr>
            <a:normAutofit/>
          </a:bodyPr>
          <a:lstStyle/>
          <a:p>
            <a:pPr marL="0" indent="0">
              <a:spcBef>
                <a:spcPts val="600"/>
              </a:spcBef>
              <a:spcAft>
                <a:spcPts val="1200"/>
              </a:spcAft>
              <a:buNone/>
            </a:pPr>
            <a:r>
              <a:rPr lang="en-US" sz="2200" b="1" dirty="0" smtClean="0">
                <a:latin typeface="Helvetica" pitchFamily="34" charset="0"/>
              </a:rPr>
              <a:t>When the successful candidate has been selected they must be advised of this:</a:t>
            </a:r>
          </a:p>
          <a:p>
            <a:pPr marL="360000" indent="-360000">
              <a:spcBef>
                <a:spcPts val="600"/>
              </a:spcBef>
              <a:spcAft>
                <a:spcPts val="1200"/>
              </a:spcAft>
            </a:pPr>
            <a:r>
              <a:rPr lang="en-US" sz="2200" b="1" dirty="0" smtClean="0">
                <a:latin typeface="Helvetica" pitchFamily="34" charset="0"/>
              </a:rPr>
              <a:t>A telephone call is the usual method</a:t>
            </a:r>
          </a:p>
          <a:p>
            <a:pPr marL="360000" indent="-360000">
              <a:spcBef>
                <a:spcPts val="600"/>
              </a:spcBef>
              <a:spcAft>
                <a:spcPts val="1200"/>
              </a:spcAft>
            </a:pPr>
            <a:r>
              <a:rPr lang="en-US" sz="2200" b="1" dirty="0" smtClean="0">
                <a:latin typeface="Helvetica" pitchFamily="34" charset="0"/>
              </a:rPr>
              <a:t>A formal ‘Letter of Offer’ should also be provided</a:t>
            </a:r>
          </a:p>
          <a:p>
            <a:pPr marL="360000" indent="-360000">
              <a:spcBef>
                <a:spcPts val="600"/>
              </a:spcBef>
              <a:spcAft>
                <a:spcPts val="1200"/>
              </a:spcAft>
            </a:pPr>
            <a:r>
              <a:rPr lang="en-US" sz="2200" b="1" dirty="0" smtClean="0">
                <a:latin typeface="Helvetica" pitchFamily="34" charset="0"/>
              </a:rPr>
              <a:t>All enterprise policies &amp; procedures                                   must be complied with.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5" name="Picture 4" descr="j0422791.jpg"/>
          <p:cNvPicPr>
            <a:picLocks noChangeAspect="1"/>
          </p:cNvPicPr>
          <p:nvPr/>
        </p:nvPicPr>
        <p:blipFill>
          <a:blip r:embed="rId3" cstate="print"/>
          <a:stretch>
            <a:fillRect/>
          </a:stretch>
        </p:blipFill>
        <p:spPr>
          <a:xfrm>
            <a:off x="6300192" y="3861048"/>
            <a:ext cx="2204864" cy="2204864"/>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successful applicants &amp; make formal job offer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968552"/>
          </a:xfrm>
        </p:spPr>
        <p:txBody>
          <a:bodyPr>
            <a:normAutofit/>
          </a:bodyPr>
          <a:lstStyle/>
          <a:p>
            <a:pPr marL="0" indent="0">
              <a:spcBef>
                <a:spcPts val="600"/>
              </a:spcBef>
              <a:spcAft>
                <a:spcPts val="1200"/>
              </a:spcAft>
              <a:buNone/>
            </a:pPr>
            <a:r>
              <a:rPr lang="en-US" sz="2200" b="1" dirty="0" smtClean="0">
                <a:latin typeface="Helvetica" pitchFamily="34" charset="0"/>
              </a:rPr>
              <a:t>Letter of Offer:</a:t>
            </a:r>
          </a:p>
          <a:p>
            <a:pPr marL="360000" indent="-360000">
              <a:spcBef>
                <a:spcPts val="600"/>
              </a:spcBef>
              <a:spcAft>
                <a:spcPts val="1200"/>
              </a:spcAft>
            </a:pPr>
            <a:r>
              <a:rPr lang="en-US" sz="2200" b="1" dirty="0" smtClean="0">
                <a:latin typeface="Helvetica" pitchFamily="34" charset="0"/>
              </a:rPr>
              <a:t>Also known as ‘Letter of Appointment’</a:t>
            </a:r>
          </a:p>
          <a:p>
            <a:pPr marL="360000" indent="-360000">
              <a:spcBef>
                <a:spcPts val="600"/>
              </a:spcBef>
              <a:spcAft>
                <a:spcPts val="1200"/>
              </a:spcAft>
            </a:pPr>
            <a:r>
              <a:rPr lang="en-US" sz="2200" b="1" dirty="0" smtClean="0">
                <a:latin typeface="Helvetica" pitchFamily="34" charset="0"/>
              </a:rPr>
              <a:t>Are not used by all employers</a:t>
            </a:r>
          </a:p>
          <a:p>
            <a:pPr marL="360000" indent="-360000">
              <a:spcBef>
                <a:spcPts val="600"/>
              </a:spcBef>
              <a:spcAft>
                <a:spcPts val="1200"/>
              </a:spcAft>
            </a:pPr>
            <a:r>
              <a:rPr lang="en-US" sz="2200" b="1" dirty="0" smtClean="0">
                <a:latin typeface="Helvetica" pitchFamily="34" charset="0"/>
              </a:rPr>
              <a:t>May be a draft work contract</a:t>
            </a:r>
          </a:p>
          <a:p>
            <a:pPr marL="360000" indent="-360000">
              <a:spcBef>
                <a:spcPts val="600"/>
              </a:spcBef>
              <a:spcAft>
                <a:spcPts val="1200"/>
              </a:spcAft>
            </a:pPr>
            <a:r>
              <a:rPr lang="en-US" sz="2200" b="1" dirty="0" smtClean="0">
                <a:latin typeface="Helvetica" pitchFamily="34" charset="0"/>
              </a:rPr>
              <a:t>Meet all workplace &amp; legal requirements.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5" name="Picture 4" descr="j0409469.jpg"/>
          <p:cNvPicPr>
            <a:picLocks noChangeAspect="1"/>
          </p:cNvPicPr>
          <p:nvPr/>
        </p:nvPicPr>
        <p:blipFill>
          <a:blip r:embed="rId3" cstate="print"/>
          <a:stretch>
            <a:fillRect/>
          </a:stretch>
        </p:blipFill>
        <p:spPr>
          <a:xfrm>
            <a:off x="5580112" y="4293096"/>
            <a:ext cx="3168940" cy="2114277"/>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successful applicants &amp; make formal job offer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0" indent="0">
              <a:spcBef>
                <a:spcPts val="600"/>
              </a:spcBef>
              <a:spcAft>
                <a:spcPts val="1200"/>
              </a:spcAft>
              <a:buNone/>
            </a:pPr>
            <a:r>
              <a:rPr lang="en-US" sz="2200" b="1" dirty="0" smtClean="0">
                <a:latin typeface="Helvetica" pitchFamily="34" charset="0"/>
              </a:rPr>
              <a:t>The Letter of Appointment should include information such as:</a:t>
            </a:r>
          </a:p>
          <a:p>
            <a:pPr marL="360000" indent="-360000">
              <a:spcBef>
                <a:spcPts val="600"/>
              </a:spcBef>
              <a:spcAft>
                <a:spcPts val="1200"/>
              </a:spcAft>
            </a:pPr>
            <a:r>
              <a:rPr lang="en-US" sz="2200" b="1" dirty="0" smtClean="0">
                <a:latin typeface="Helvetica" pitchFamily="34" charset="0"/>
              </a:rPr>
              <a:t>Start date &amp; time</a:t>
            </a:r>
          </a:p>
          <a:p>
            <a:pPr marL="360000" indent="-360000">
              <a:spcBef>
                <a:spcPts val="600"/>
              </a:spcBef>
              <a:spcAft>
                <a:spcPts val="1200"/>
              </a:spcAft>
            </a:pPr>
            <a:r>
              <a:rPr lang="en-US" sz="2200" b="1" dirty="0" smtClean="0">
                <a:latin typeface="Helvetica" pitchFamily="34" charset="0"/>
              </a:rPr>
              <a:t>Start location</a:t>
            </a:r>
          </a:p>
          <a:p>
            <a:pPr marL="360000" indent="-360000">
              <a:spcBef>
                <a:spcPts val="600"/>
              </a:spcBef>
              <a:spcAft>
                <a:spcPts val="1200"/>
              </a:spcAft>
            </a:pPr>
            <a:r>
              <a:rPr lang="en-US" sz="2200" b="1" dirty="0" smtClean="0">
                <a:latin typeface="Helvetica" pitchFamily="34" charset="0"/>
              </a:rPr>
              <a:t>Name of award  they are being employed under</a:t>
            </a:r>
          </a:p>
          <a:p>
            <a:pPr marL="360000" indent="-360000">
              <a:spcBef>
                <a:spcPts val="600"/>
              </a:spcBef>
              <a:spcAft>
                <a:spcPts val="1200"/>
              </a:spcAft>
            </a:pPr>
            <a:r>
              <a:rPr lang="en-US" sz="2200" b="1" dirty="0" smtClean="0">
                <a:latin typeface="Helvetica" pitchFamily="34" charset="0"/>
              </a:rPr>
              <a:t>Job classification &amp; employment status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5" name="Picture 4" descr="cookery1.jpg"/>
          <p:cNvPicPr>
            <a:picLocks noChangeAspect="1"/>
          </p:cNvPicPr>
          <p:nvPr/>
        </p:nvPicPr>
        <p:blipFill>
          <a:blip r:embed="rId3" cstate="print"/>
          <a:stretch>
            <a:fillRect/>
          </a:stretch>
        </p:blipFill>
        <p:spPr>
          <a:xfrm>
            <a:off x="7236296" y="3861048"/>
            <a:ext cx="1575366" cy="2353324"/>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successful applicants &amp; make formal job offer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8064896" cy="4824536"/>
          </a:xfrm>
        </p:spPr>
        <p:txBody>
          <a:bodyPr>
            <a:normAutofit/>
          </a:bodyPr>
          <a:lstStyle/>
          <a:p>
            <a:pPr marL="360000" indent="-360000">
              <a:spcBef>
                <a:spcPts val="600"/>
              </a:spcBef>
              <a:spcAft>
                <a:spcPts val="1200"/>
              </a:spcAft>
            </a:pPr>
            <a:r>
              <a:rPr lang="en-US" sz="2200" b="1" dirty="0" smtClean="0">
                <a:latin typeface="Helvetica" pitchFamily="34" charset="0"/>
              </a:rPr>
              <a:t>Details of probationary period</a:t>
            </a:r>
          </a:p>
          <a:p>
            <a:pPr marL="360000" indent="-360000">
              <a:spcBef>
                <a:spcPts val="600"/>
              </a:spcBef>
              <a:spcAft>
                <a:spcPts val="1200"/>
              </a:spcAft>
            </a:pPr>
            <a:r>
              <a:rPr lang="en-US" sz="2200" b="1" dirty="0" smtClean="0">
                <a:latin typeface="Helvetica" pitchFamily="34" charset="0"/>
              </a:rPr>
              <a:t>Leave entitlements</a:t>
            </a:r>
          </a:p>
          <a:p>
            <a:pPr marL="360000" indent="-360000">
              <a:spcBef>
                <a:spcPts val="600"/>
              </a:spcBef>
              <a:spcAft>
                <a:spcPts val="1200"/>
              </a:spcAft>
            </a:pPr>
            <a:r>
              <a:rPr lang="en-US" sz="2200" b="1" dirty="0" smtClean="0">
                <a:latin typeface="Helvetica" pitchFamily="34" charset="0"/>
              </a:rPr>
              <a:t>Specified hours of work</a:t>
            </a:r>
          </a:p>
          <a:p>
            <a:pPr marL="360000" indent="-360000">
              <a:spcBef>
                <a:spcPts val="600"/>
              </a:spcBef>
              <a:spcAft>
                <a:spcPts val="1200"/>
              </a:spcAft>
            </a:pPr>
            <a:r>
              <a:rPr lang="en-US" sz="2200" b="1" dirty="0" smtClean="0">
                <a:latin typeface="Helvetica" pitchFamily="34" charset="0"/>
              </a:rPr>
              <a:t>Remuneration details</a:t>
            </a:r>
          </a:p>
          <a:p>
            <a:pPr marL="360000" indent="-360000">
              <a:spcBef>
                <a:spcPts val="600"/>
              </a:spcBef>
              <a:spcAft>
                <a:spcPts val="1200"/>
              </a:spcAft>
            </a:pPr>
            <a:r>
              <a:rPr lang="en-US" sz="2200" b="1" dirty="0" smtClean="0">
                <a:latin typeface="Helvetica" pitchFamily="34" charset="0"/>
              </a:rPr>
              <a:t>Advice regarding legislated obligations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5" name="Picture 4" descr="events2.jpg"/>
          <p:cNvPicPr>
            <a:picLocks noChangeAspect="1"/>
          </p:cNvPicPr>
          <p:nvPr/>
        </p:nvPicPr>
        <p:blipFill>
          <a:blip r:embed="rId3" cstate="print"/>
          <a:stretch>
            <a:fillRect/>
          </a:stretch>
        </p:blipFill>
        <p:spPr>
          <a:xfrm>
            <a:off x="5940152" y="4461234"/>
            <a:ext cx="2687960" cy="1792869"/>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successful applicants &amp; make formal job offer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92888" cy="4896544"/>
          </a:xfrm>
        </p:spPr>
        <p:txBody>
          <a:bodyPr>
            <a:normAutofit/>
          </a:bodyPr>
          <a:lstStyle/>
          <a:p>
            <a:pPr marL="360000" indent="-360000">
              <a:spcBef>
                <a:spcPts val="600"/>
              </a:spcBef>
              <a:spcAft>
                <a:spcPts val="1200"/>
              </a:spcAft>
            </a:pPr>
            <a:r>
              <a:rPr lang="en-US" sz="2200" b="1" dirty="0" smtClean="0">
                <a:latin typeface="Helvetica" pitchFamily="34" charset="0"/>
              </a:rPr>
              <a:t>Short-form job description</a:t>
            </a:r>
          </a:p>
          <a:p>
            <a:pPr marL="360000" indent="-360000">
              <a:spcBef>
                <a:spcPts val="600"/>
              </a:spcBef>
              <a:spcAft>
                <a:spcPts val="1200"/>
              </a:spcAft>
            </a:pPr>
            <a:r>
              <a:rPr lang="en-US" sz="2200" b="1" dirty="0" smtClean="0">
                <a:latin typeface="Helvetica" pitchFamily="34" charset="0"/>
              </a:rPr>
              <a:t>Brief description of main duties</a:t>
            </a:r>
          </a:p>
          <a:p>
            <a:pPr marL="360000" indent="-360000">
              <a:spcBef>
                <a:spcPts val="600"/>
              </a:spcBef>
              <a:spcAft>
                <a:spcPts val="1200"/>
              </a:spcAft>
            </a:pPr>
            <a:r>
              <a:rPr lang="en-US" sz="2200" b="1" dirty="0" smtClean="0">
                <a:latin typeface="Helvetica" pitchFamily="34" charset="0"/>
              </a:rPr>
              <a:t>Date offer is valid to</a:t>
            </a:r>
          </a:p>
          <a:p>
            <a:pPr marL="360000" indent="-360000">
              <a:spcBef>
                <a:spcPts val="600"/>
              </a:spcBef>
              <a:spcAft>
                <a:spcPts val="1200"/>
              </a:spcAft>
            </a:pPr>
            <a:r>
              <a:rPr lang="en-US" sz="2200" b="1" dirty="0" smtClean="0">
                <a:latin typeface="Helvetica" pitchFamily="34" charset="0"/>
              </a:rPr>
              <a:t>Action needed to accept the offer.</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5" name="Picture 4" descr="22.jpg"/>
          <p:cNvPicPr>
            <a:picLocks noChangeAspect="1"/>
          </p:cNvPicPr>
          <p:nvPr/>
        </p:nvPicPr>
        <p:blipFill>
          <a:blip r:embed="rId3" cstate="print"/>
          <a:stretch>
            <a:fillRect/>
          </a:stretch>
        </p:blipFill>
        <p:spPr>
          <a:xfrm>
            <a:off x="5220072" y="4077072"/>
            <a:ext cx="3320988" cy="2213992"/>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successful applicants &amp; make formal job offer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752528"/>
          </a:xfrm>
        </p:spPr>
        <p:txBody>
          <a:bodyPr>
            <a:normAutofit/>
          </a:bodyPr>
          <a:lstStyle/>
          <a:p>
            <a:pPr marL="0" indent="0">
              <a:spcBef>
                <a:spcPts val="600"/>
              </a:spcBef>
              <a:spcAft>
                <a:spcPts val="1200"/>
              </a:spcAft>
              <a:buNone/>
            </a:pPr>
            <a:r>
              <a:rPr lang="en-US" sz="2200" b="1" dirty="0" smtClean="0">
                <a:latin typeface="Helvetica" pitchFamily="34" charset="0"/>
              </a:rPr>
              <a:t>When making offers of employment, remember:</a:t>
            </a:r>
          </a:p>
          <a:p>
            <a:pPr>
              <a:spcBef>
                <a:spcPts val="1200"/>
              </a:spcBef>
              <a:spcAft>
                <a:spcPts val="600"/>
              </a:spcAft>
            </a:pPr>
            <a:r>
              <a:rPr lang="en-AU" sz="2200" b="1" dirty="0" smtClean="0">
                <a:latin typeface="Helvetica" pitchFamily="34" charset="0"/>
              </a:rPr>
              <a:t>Only authorised personnel can make job offers</a:t>
            </a:r>
          </a:p>
          <a:p>
            <a:pPr>
              <a:spcBef>
                <a:spcPts val="1200"/>
              </a:spcBef>
              <a:spcAft>
                <a:spcPts val="600"/>
              </a:spcAft>
            </a:pPr>
            <a:r>
              <a:rPr lang="en-AU" sz="2200" b="1" dirty="0" smtClean="0">
                <a:latin typeface="Helvetica" pitchFamily="34" charset="0"/>
              </a:rPr>
              <a:t>Management should read &amp; approve Letters of Appointment before they are distributed</a:t>
            </a:r>
          </a:p>
          <a:p>
            <a:pPr>
              <a:spcBef>
                <a:spcPts val="1200"/>
              </a:spcBef>
              <a:spcAft>
                <a:spcPts val="600"/>
              </a:spcAft>
            </a:pPr>
            <a:r>
              <a:rPr lang="en-AU" sz="2200" b="1" dirty="0" smtClean="0">
                <a:latin typeface="Helvetica" pitchFamily="34" charset="0"/>
              </a:rPr>
              <a:t>A copy of the Letter of Appointment should be included in applicant file</a:t>
            </a:r>
          </a:p>
          <a:p>
            <a:pPr>
              <a:spcBef>
                <a:spcPts val="1200"/>
              </a:spcBef>
              <a:spcAft>
                <a:spcPts val="600"/>
              </a:spcAft>
              <a:buNone/>
            </a:pPr>
            <a:r>
              <a:rPr lang="en-US" sz="2200" b="1" dirty="0" smtClean="0">
                <a:latin typeface="Helvetica" pitchFamily="34" charset="0"/>
              </a:rPr>
              <a:t>(Continue)</a:t>
            </a:r>
            <a:endParaRPr lang="en-AU" sz="2200" b="1"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5" name="Picture 4" descr="19.jpg"/>
          <p:cNvPicPr>
            <a:picLocks noChangeAspect="1"/>
          </p:cNvPicPr>
          <p:nvPr/>
        </p:nvPicPr>
        <p:blipFill>
          <a:blip r:embed="rId3" cstate="print"/>
          <a:stretch>
            <a:fillRect/>
          </a:stretch>
        </p:blipFill>
        <p:spPr>
          <a:xfrm>
            <a:off x="5436096" y="4149080"/>
            <a:ext cx="3104964" cy="2069976"/>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successful applicants &amp; make formal job offer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360000" indent="-360000">
              <a:spcBef>
                <a:spcPts val="600"/>
              </a:spcBef>
              <a:spcAft>
                <a:spcPts val="1200"/>
              </a:spcAft>
            </a:pPr>
            <a:r>
              <a:rPr lang="en-US" sz="2200" b="1" dirty="0" smtClean="0">
                <a:latin typeface="Helvetica" pitchFamily="34" charset="0"/>
              </a:rPr>
              <a:t>Keep reasons for selection confidential</a:t>
            </a:r>
          </a:p>
          <a:p>
            <a:pPr marL="360000" indent="-360000">
              <a:spcBef>
                <a:spcPts val="600"/>
              </a:spcBef>
              <a:spcAft>
                <a:spcPts val="1200"/>
              </a:spcAft>
            </a:pPr>
            <a:r>
              <a:rPr lang="en-US" sz="2200" b="1" dirty="0" smtClean="0">
                <a:latin typeface="Helvetica" pitchFamily="34" charset="0"/>
              </a:rPr>
              <a:t>Verify if Letter of Offer or draft work contract to be taken off the premises</a:t>
            </a:r>
          </a:p>
          <a:p>
            <a:pPr marL="360000" indent="-360000">
              <a:spcBef>
                <a:spcPts val="600"/>
              </a:spcBef>
              <a:spcAft>
                <a:spcPts val="1200"/>
              </a:spcAft>
            </a:pPr>
            <a:r>
              <a:rPr lang="en-US" sz="2200" b="1" dirty="0" smtClean="0">
                <a:latin typeface="Helvetica" pitchFamily="34" charset="0"/>
              </a:rPr>
              <a:t>Make contact with everyone who has been sent an offer.</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5" name="Picture 4" descr="21.jpg"/>
          <p:cNvPicPr>
            <a:picLocks noChangeAspect="1"/>
          </p:cNvPicPr>
          <p:nvPr/>
        </p:nvPicPr>
        <p:blipFill>
          <a:blip r:embed="rId3" cstate="print"/>
          <a:stretch>
            <a:fillRect/>
          </a:stretch>
        </p:blipFill>
        <p:spPr>
          <a:xfrm>
            <a:off x="5436096" y="4221088"/>
            <a:ext cx="2791552" cy="1892052"/>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unsuccessful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968552"/>
          </a:xfrm>
        </p:spPr>
        <p:txBody>
          <a:bodyPr>
            <a:normAutofit fontScale="92500"/>
          </a:bodyPr>
          <a:lstStyle/>
          <a:p>
            <a:pPr marL="0" indent="0">
              <a:spcBef>
                <a:spcPts val="600"/>
              </a:spcBef>
              <a:spcAft>
                <a:spcPts val="1200"/>
              </a:spcAft>
              <a:buNone/>
            </a:pPr>
            <a:r>
              <a:rPr lang="en-US" sz="2400" b="1" dirty="0" smtClean="0">
                <a:latin typeface="Helvetica" pitchFamily="34" charset="0"/>
              </a:rPr>
              <a:t>Most common method of advising unsuccessful candidates is by sending a Letter of Thanks &amp; Regret:</a:t>
            </a:r>
          </a:p>
          <a:p>
            <a:pPr marL="360000" indent="-360000">
              <a:spcBef>
                <a:spcPts val="600"/>
              </a:spcBef>
              <a:spcAft>
                <a:spcPts val="1200"/>
              </a:spcAft>
            </a:pPr>
            <a:r>
              <a:rPr lang="en-US" sz="2400" b="1" dirty="0" smtClean="0">
                <a:latin typeface="Helvetica" pitchFamily="34" charset="0"/>
              </a:rPr>
              <a:t>On letterhead</a:t>
            </a:r>
          </a:p>
          <a:p>
            <a:pPr marL="360000" indent="-360000">
              <a:spcBef>
                <a:spcPts val="600"/>
              </a:spcBef>
              <a:spcAft>
                <a:spcPts val="1200"/>
              </a:spcAft>
            </a:pPr>
            <a:r>
              <a:rPr lang="en-US" sz="2400" b="1" dirty="0" smtClean="0">
                <a:latin typeface="Helvetica" pitchFamily="34" charset="0"/>
              </a:rPr>
              <a:t>Containing:</a:t>
            </a:r>
          </a:p>
          <a:p>
            <a:pPr marL="720000" indent="-360000">
              <a:spcBef>
                <a:spcPts val="600"/>
              </a:spcBef>
              <a:spcAft>
                <a:spcPts val="1200"/>
              </a:spcAft>
              <a:buClr>
                <a:schemeClr val="accent1">
                  <a:lumMod val="75000"/>
                </a:schemeClr>
              </a:buClr>
              <a:buSzPct val="100000"/>
              <a:buFont typeface="Arial" pitchFamily="34" charset="0"/>
              <a:buChar char="•"/>
            </a:pPr>
            <a:r>
              <a:rPr lang="en-US" sz="2400" b="1" dirty="0" smtClean="0">
                <a:latin typeface="Helvetica" pitchFamily="34" charset="0"/>
              </a:rPr>
              <a:t>Date</a:t>
            </a:r>
          </a:p>
          <a:p>
            <a:pPr marL="720000" indent="-360000">
              <a:spcBef>
                <a:spcPts val="600"/>
              </a:spcBef>
              <a:spcAft>
                <a:spcPts val="1200"/>
              </a:spcAft>
              <a:buClr>
                <a:schemeClr val="accent1">
                  <a:lumMod val="75000"/>
                </a:schemeClr>
              </a:buClr>
              <a:buSzPct val="100000"/>
              <a:buFont typeface="Arial" pitchFamily="34" charset="0"/>
              <a:buChar char="•"/>
            </a:pPr>
            <a:r>
              <a:rPr lang="en-US" sz="2400" b="1" dirty="0" smtClean="0">
                <a:latin typeface="Helvetica" pitchFamily="34" charset="0"/>
              </a:rPr>
              <a:t>Thanks</a:t>
            </a:r>
          </a:p>
          <a:p>
            <a:pPr marL="720000" indent="-360000">
              <a:spcBef>
                <a:spcPts val="600"/>
              </a:spcBef>
              <a:spcAft>
                <a:spcPts val="1200"/>
              </a:spcAft>
              <a:buClr>
                <a:schemeClr val="accent1">
                  <a:lumMod val="75000"/>
                </a:schemeClr>
              </a:buClr>
              <a:buSzPct val="100000"/>
              <a:buFont typeface="Arial" pitchFamily="34" charset="0"/>
              <a:buChar char="•"/>
            </a:pPr>
            <a:r>
              <a:rPr lang="en-US" sz="2400" b="1" dirty="0" smtClean="0">
                <a:latin typeface="Helvetica" pitchFamily="34" charset="0"/>
              </a:rPr>
              <a:t>Name of position applied for</a:t>
            </a:r>
          </a:p>
          <a:p>
            <a:pPr marL="720000" indent="-360000">
              <a:spcBef>
                <a:spcPts val="600"/>
              </a:spcBef>
              <a:spcAft>
                <a:spcPts val="1200"/>
              </a:spcAft>
              <a:buClr>
                <a:schemeClr val="accent1">
                  <a:lumMod val="75000"/>
                </a:schemeClr>
              </a:buClr>
              <a:buSzPct val="100000"/>
              <a:buFont typeface="Arial" pitchFamily="34" charset="0"/>
              <a:buChar char="•"/>
            </a:pPr>
            <a:r>
              <a:rPr lang="en-US" sz="2400" b="1" dirty="0" smtClean="0">
                <a:latin typeface="Helvetica" pitchFamily="34" charset="0"/>
              </a:rPr>
              <a:t>Statement they have been unsuccessful</a:t>
            </a:r>
          </a:p>
          <a:p>
            <a:pPr marL="720000" indent="-360000">
              <a:spcBef>
                <a:spcPts val="600"/>
              </a:spcBef>
              <a:spcAft>
                <a:spcPts val="1200"/>
              </a:spcAft>
              <a:buClr>
                <a:schemeClr val="accent1">
                  <a:lumMod val="75000"/>
                </a:schemeClr>
              </a:buClr>
              <a:buSzPct val="100000"/>
              <a:buFont typeface="Arial" pitchFamily="34" charset="0"/>
              <a:buChar char="•"/>
            </a:pPr>
            <a:r>
              <a:rPr lang="en-US" sz="2400" b="1" dirty="0" smtClean="0">
                <a:latin typeface="Helvetica" pitchFamily="34" charset="0"/>
              </a:rPr>
              <a:t>Encouragement statements.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5" name="Picture 4" descr="20.jpg"/>
          <p:cNvPicPr>
            <a:picLocks noChangeAspect="1"/>
          </p:cNvPicPr>
          <p:nvPr/>
        </p:nvPicPr>
        <p:blipFill>
          <a:blip r:embed="rId3" cstate="print"/>
          <a:stretch>
            <a:fillRect/>
          </a:stretch>
        </p:blipFill>
        <p:spPr>
          <a:xfrm>
            <a:off x="6876256" y="3501008"/>
            <a:ext cx="1815846" cy="2726432"/>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unsuccessful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De-briefing interviews may be offered to unsuccessful applicants – where they are offered they may be:</a:t>
            </a:r>
          </a:p>
          <a:p>
            <a:pPr marL="360000" indent="-360000">
              <a:spcBef>
                <a:spcPts val="600"/>
              </a:spcBef>
              <a:spcAft>
                <a:spcPts val="1200"/>
              </a:spcAft>
            </a:pPr>
            <a:r>
              <a:rPr lang="en-US" sz="2200" b="1" dirty="0" smtClean="0">
                <a:latin typeface="Helvetica" pitchFamily="34" charset="0"/>
              </a:rPr>
              <a:t>Offered to all unsuccessful applicants</a:t>
            </a:r>
          </a:p>
          <a:p>
            <a:pPr marL="360000" indent="-360000">
              <a:spcBef>
                <a:spcPts val="600"/>
              </a:spcBef>
              <a:spcAft>
                <a:spcPts val="1200"/>
              </a:spcAft>
            </a:pPr>
            <a:r>
              <a:rPr lang="en-US" sz="2200" b="1" dirty="0" smtClean="0">
                <a:latin typeface="Helvetica" pitchFamily="34" charset="0"/>
              </a:rPr>
              <a:t>Offered only to internal company staff</a:t>
            </a:r>
          </a:p>
          <a:p>
            <a:pPr marL="360000" indent="-360000">
              <a:spcBef>
                <a:spcPts val="600"/>
              </a:spcBef>
              <a:spcAft>
                <a:spcPts val="1200"/>
              </a:spcAft>
            </a:pPr>
            <a:r>
              <a:rPr lang="en-US" sz="2200" b="1" dirty="0" smtClean="0">
                <a:latin typeface="Helvetica" pitchFamily="34" charset="0"/>
              </a:rPr>
              <a:t>Offered only to selected applicants.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5" name="Picture 4" descr="00422152.jpg"/>
          <p:cNvPicPr>
            <a:picLocks noChangeAspect="1"/>
          </p:cNvPicPr>
          <p:nvPr/>
        </p:nvPicPr>
        <p:blipFill>
          <a:blip r:embed="rId3" cstate="print"/>
          <a:stretch>
            <a:fillRect/>
          </a:stretch>
        </p:blipFill>
        <p:spPr>
          <a:xfrm>
            <a:off x="5508104" y="4221088"/>
            <a:ext cx="3055685" cy="2031553"/>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unsuccessful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968552"/>
          </a:xfrm>
        </p:spPr>
        <p:txBody>
          <a:bodyPr>
            <a:normAutofit/>
          </a:bodyPr>
          <a:lstStyle/>
          <a:p>
            <a:pPr marL="0" indent="0">
              <a:spcBef>
                <a:spcPts val="600"/>
              </a:spcBef>
              <a:spcAft>
                <a:spcPts val="1200"/>
              </a:spcAft>
              <a:buNone/>
            </a:pPr>
            <a:r>
              <a:rPr lang="en-US" sz="2200" b="1" dirty="0" smtClean="0">
                <a:latin typeface="Helvetica" pitchFamily="34" charset="0"/>
              </a:rPr>
              <a:t>The de-briefing interview will:</a:t>
            </a:r>
          </a:p>
          <a:p>
            <a:pPr marL="360000" indent="-360000">
              <a:spcBef>
                <a:spcPts val="600"/>
              </a:spcBef>
              <a:spcAft>
                <a:spcPts val="1200"/>
              </a:spcAft>
            </a:pPr>
            <a:r>
              <a:rPr lang="en-US" sz="2200" b="1" dirty="0" smtClean="0">
                <a:latin typeface="Helvetica" pitchFamily="34" charset="0"/>
              </a:rPr>
              <a:t>Be conducted by an interviewer</a:t>
            </a:r>
          </a:p>
          <a:p>
            <a:pPr marL="360000" indent="-360000">
              <a:spcBef>
                <a:spcPts val="600"/>
              </a:spcBef>
              <a:spcAft>
                <a:spcPts val="1200"/>
              </a:spcAft>
            </a:pPr>
            <a:r>
              <a:rPr lang="en-US" sz="2200" b="1" dirty="0" smtClean="0">
                <a:latin typeface="Helvetica" pitchFamily="34" charset="0"/>
              </a:rPr>
              <a:t>Provide feedback on personal presentation &amp; conduct</a:t>
            </a:r>
          </a:p>
          <a:p>
            <a:pPr marL="360000" indent="-360000">
              <a:spcBef>
                <a:spcPts val="600"/>
              </a:spcBef>
              <a:spcAft>
                <a:spcPts val="1200"/>
              </a:spcAft>
            </a:pPr>
            <a:r>
              <a:rPr lang="en-US" sz="2200" b="1" dirty="0" smtClean="0">
                <a:latin typeface="Helvetica" pitchFamily="34" charset="0"/>
              </a:rPr>
              <a:t>Provide advice &amp; tips for future applications</a:t>
            </a:r>
          </a:p>
          <a:p>
            <a:pPr marL="360000" indent="-360000">
              <a:spcBef>
                <a:spcPts val="600"/>
              </a:spcBef>
              <a:spcAft>
                <a:spcPts val="1200"/>
              </a:spcAft>
            </a:pPr>
            <a:r>
              <a:rPr lang="en-US" sz="2200" b="1" dirty="0" smtClean="0">
                <a:latin typeface="Helvetica" pitchFamily="34" charset="0"/>
              </a:rPr>
              <a:t>Identify issues not covered well by the                               applicant at the interview</a:t>
            </a:r>
          </a:p>
          <a:p>
            <a:pPr marL="360000" indent="-360000">
              <a:spcBef>
                <a:spcPts val="600"/>
              </a:spcBef>
              <a:spcAft>
                <a:spcPts val="1200"/>
              </a:spcAft>
            </a:pPr>
            <a:r>
              <a:rPr lang="en-US" sz="2200" b="1" dirty="0" smtClean="0">
                <a:latin typeface="Helvetica" pitchFamily="34" charset="0"/>
              </a:rPr>
              <a:t>Provide encouragement</a:t>
            </a:r>
          </a:p>
          <a:p>
            <a:pPr marL="360000" indent="-360000">
              <a:spcBef>
                <a:spcPts val="600"/>
              </a:spcBef>
              <a:spcAft>
                <a:spcPts val="1200"/>
              </a:spcAft>
            </a:pPr>
            <a:r>
              <a:rPr lang="en-US" sz="2200" b="1" dirty="0" smtClean="0">
                <a:latin typeface="Helvetica" pitchFamily="34" charset="0"/>
              </a:rPr>
              <a:t>Advise of ‘next steps’.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5" name="Picture 4" descr="00341396.jpg"/>
          <p:cNvPicPr>
            <a:picLocks noChangeAspect="1"/>
          </p:cNvPicPr>
          <p:nvPr/>
        </p:nvPicPr>
        <p:blipFill>
          <a:blip r:embed="rId3" cstate="print"/>
          <a:stretch>
            <a:fillRect/>
          </a:stretch>
        </p:blipFill>
        <p:spPr>
          <a:xfrm>
            <a:off x="6804248" y="3789040"/>
            <a:ext cx="1600976" cy="2244359"/>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Notify unsuccessful applicants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968552"/>
          </a:xfrm>
        </p:spPr>
        <p:txBody>
          <a:bodyPr>
            <a:normAutofit/>
          </a:bodyPr>
          <a:lstStyle/>
          <a:p>
            <a:pPr marL="0" indent="0">
              <a:spcBef>
                <a:spcPts val="600"/>
              </a:spcBef>
              <a:spcAft>
                <a:spcPts val="1200"/>
              </a:spcAft>
              <a:buNone/>
            </a:pPr>
            <a:r>
              <a:rPr lang="en-US" sz="2200" b="1" dirty="0" smtClean="0">
                <a:latin typeface="Helvetica" pitchFamily="34" charset="0"/>
              </a:rPr>
              <a:t>Unacceptable notification to unsuccessful applicants:</a:t>
            </a:r>
          </a:p>
          <a:p>
            <a:pPr marL="360000" indent="-360000">
              <a:spcBef>
                <a:spcPts val="600"/>
              </a:spcBef>
              <a:spcAft>
                <a:spcPts val="1200"/>
              </a:spcAft>
            </a:pPr>
            <a:r>
              <a:rPr lang="en-US" sz="2200" b="1" dirty="0" smtClean="0">
                <a:latin typeface="Helvetica" pitchFamily="34" charset="0"/>
              </a:rPr>
              <a:t>Anything prohibited by company policy</a:t>
            </a:r>
          </a:p>
          <a:p>
            <a:pPr marL="360000" indent="-360000">
              <a:spcBef>
                <a:spcPts val="600"/>
              </a:spcBef>
              <a:spcAft>
                <a:spcPts val="1200"/>
              </a:spcAft>
            </a:pPr>
            <a:r>
              <a:rPr lang="en-US" sz="2200" b="1" dirty="0" smtClean="0">
                <a:latin typeface="Helvetica" pitchFamily="34" charset="0"/>
              </a:rPr>
              <a:t>Email is acceptable in some businesses but not others</a:t>
            </a:r>
          </a:p>
          <a:p>
            <a:pPr marL="360000" indent="-360000">
              <a:spcBef>
                <a:spcPts val="600"/>
              </a:spcBef>
              <a:spcAft>
                <a:spcPts val="1200"/>
              </a:spcAft>
            </a:pPr>
            <a:r>
              <a:rPr lang="en-US" sz="2200" b="1" dirty="0" smtClean="0">
                <a:latin typeface="Helvetica" pitchFamily="34" charset="0"/>
              </a:rPr>
              <a:t>Telephone is normally not used</a:t>
            </a:r>
          </a:p>
          <a:p>
            <a:pPr marL="360000" indent="-360000">
              <a:spcBef>
                <a:spcPts val="600"/>
              </a:spcBef>
              <a:spcAft>
                <a:spcPts val="1200"/>
              </a:spcAft>
            </a:pPr>
            <a:r>
              <a:rPr lang="en-US" sz="2200" b="1" dirty="0" smtClean="0">
                <a:latin typeface="Helvetica" pitchFamily="34" charset="0"/>
              </a:rPr>
              <a:t>Texting/SMS is unacceptable.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5" name="Picture 4" descr="00387518.jpg"/>
          <p:cNvPicPr>
            <a:picLocks noChangeAspect="1"/>
          </p:cNvPicPr>
          <p:nvPr/>
        </p:nvPicPr>
        <p:blipFill>
          <a:blip r:embed="rId3" cstate="print"/>
          <a:stretch>
            <a:fillRect/>
          </a:stretch>
        </p:blipFill>
        <p:spPr>
          <a:xfrm>
            <a:off x="5912560" y="4221088"/>
            <a:ext cx="2749088" cy="1961016"/>
          </a:xfrm>
          <a:prstGeom prst="rect">
            <a:avLst/>
          </a:prstGeom>
        </p:spPr>
      </p:pic>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Follow-up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After an offer has been made to an applicant you may need to follow-up to:</a:t>
            </a:r>
          </a:p>
          <a:p>
            <a:pPr marL="360000" indent="-360000">
              <a:spcBef>
                <a:spcPts val="600"/>
              </a:spcBef>
              <a:spcAft>
                <a:spcPts val="1200"/>
              </a:spcAft>
            </a:pPr>
            <a:r>
              <a:rPr lang="en-US" sz="2200" b="1" dirty="0" smtClean="0">
                <a:latin typeface="Helvetica" pitchFamily="34" charset="0"/>
              </a:rPr>
              <a:t>Obtain originals of documents</a:t>
            </a:r>
          </a:p>
          <a:p>
            <a:pPr marL="360000" indent="-360000">
              <a:spcBef>
                <a:spcPts val="600"/>
              </a:spcBef>
              <a:spcAft>
                <a:spcPts val="1200"/>
              </a:spcAft>
            </a:pPr>
            <a:r>
              <a:rPr lang="en-US" sz="2200" b="1" dirty="0" smtClean="0">
                <a:latin typeface="Helvetica" pitchFamily="34" charset="0"/>
              </a:rPr>
              <a:t>Explain details of the offer</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5" name="Picture 4" descr="00195824.wmf"/>
          <p:cNvPicPr>
            <a:picLocks noChangeAspect="1"/>
          </p:cNvPicPr>
          <p:nvPr/>
        </p:nvPicPr>
        <p:blipFill>
          <a:blip r:embed="rId3" cstate="print"/>
          <a:stretch>
            <a:fillRect/>
          </a:stretch>
        </p:blipFill>
        <p:spPr>
          <a:xfrm>
            <a:off x="5868144" y="3288918"/>
            <a:ext cx="2455841" cy="2440934"/>
          </a:xfrm>
          <a:prstGeom prst="rect">
            <a:avLst/>
          </a:prstGeom>
        </p:spPr>
      </p:pic>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Follow-up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Confirm offer has been received:</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In accordance with protocols applying in the individual workplace:</a:t>
            </a:r>
          </a:p>
          <a:p>
            <a:pPr marL="1021752" lvl="1"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Verbal acknowledgement</a:t>
            </a:r>
          </a:p>
          <a:p>
            <a:pPr marL="1021752" lvl="1"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Written acceptance</a:t>
            </a:r>
          </a:p>
          <a:p>
            <a:pPr marL="1021752" lvl="1"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Negotiation of terms</a:t>
            </a:r>
          </a:p>
          <a:p>
            <a:pPr marL="1021752" lvl="1"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Witnessing of signature</a:t>
            </a:r>
          </a:p>
          <a:p>
            <a:pPr marL="0" lvl="1" indent="0">
              <a:spcBef>
                <a:spcPts val="600"/>
              </a:spcBef>
              <a:spcAft>
                <a:spcPts val="1200"/>
              </a:spcAft>
              <a:buClr>
                <a:schemeClr val="accent1">
                  <a:lumMod val="75000"/>
                </a:schemeClr>
              </a:buClr>
              <a:buSzPct val="100000"/>
              <a:buNone/>
            </a:pPr>
            <a:r>
              <a:rPr lang="en-US" sz="2200" b="1" dirty="0" smtClean="0">
                <a:latin typeface="Helvetica" pitchFamily="34" charset="0"/>
              </a:rPr>
              <a:t>(Continue)</a:t>
            </a:r>
          </a:p>
          <a:p>
            <a:pPr marL="0" lvl="1" indent="0">
              <a:spcBef>
                <a:spcPts val="600"/>
              </a:spcBef>
              <a:spcAft>
                <a:spcPts val="1200"/>
              </a:spcAft>
              <a:buClr>
                <a:schemeClr val="accent1">
                  <a:lumMod val="75000"/>
                </a:schemeClr>
              </a:buClr>
              <a:buSzPct val="100000"/>
              <a:buNone/>
            </a:pPr>
            <a:endParaRPr lang="en-US" sz="2200" b="1" dirty="0" smtClean="0">
              <a:latin typeface="Helvetica" pitchFamily="34" charset="0"/>
            </a:endParaRPr>
          </a:p>
          <a:p>
            <a:pPr marL="1021752" lvl="1"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5" name="Picture 4" descr="MP900422237[1].JPG"/>
          <p:cNvPicPr>
            <a:picLocks noChangeAspect="1"/>
          </p:cNvPicPr>
          <p:nvPr/>
        </p:nvPicPr>
        <p:blipFill>
          <a:blip r:embed="rId3" cstate="print"/>
          <a:stretch>
            <a:fillRect/>
          </a:stretch>
        </p:blipFill>
        <p:spPr>
          <a:xfrm>
            <a:off x="5652120" y="4077072"/>
            <a:ext cx="2934702" cy="2194148"/>
          </a:xfrm>
          <a:prstGeom prst="rect">
            <a:avLst/>
          </a:prstGeom>
        </p:spPr>
      </p:pic>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Follow-up as required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Offer a rejected offer to another applicant:</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Seeking direction from interview panel</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Obtaining necessary permission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Updating files.</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5" name="Picture 4" descr="MP900422149[1].JPG"/>
          <p:cNvPicPr>
            <a:picLocks noChangeAspect="1"/>
          </p:cNvPicPr>
          <p:nvPr/>
        </p:nvPicPr>
        <p:blipFill>
          <a:blip r:embed="rId3" cstate="print"/>
          <a:stretch>
            <a:fillRect/>
          </a:stretch>
        </p:blipFill>
        <p:spPr>
          <a:xfrm>
            <a:off x="5292080" y="4005064"/>
            <a:ext cx="3163993" cy="2103561"/>
          </a:xfrm>
          <a:prstGeom prst="rect">
            <a:avLst/>
          </a:prstGeom>
        </p:spPr>
      </p:pic>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When selecting staff:</a:t>
            </a:r>
          </a:p>
          <a:p>
            <a:r>
              <a:rPr lang="en-AU" sz="2200" b="1" dirty="0" smtClean="0">
                <a:latin typeface="Helvetica" pitchFamily="34" charset="0"/>
              </a:rPr>
              <a:t>Aim to choose the best person for each vacancy based on objective information</a:t>
            </a:r>
          </a:p>
          <a:p>
            <a:endParaRPr lang="en-AU" sz="2200" b="1" dirty="0" smtClean="0">
              <a:latin typeface="Helvetica" pitchFamily="34" charset="0"/>
            </a:endParaRPr>
          </a:p>
          <a:p>
            <a:r>
              <a:rPr lang="en-AU" sz="2200" b="1" dirty="0" smtClean="0">
                <a:latin typeface="Helvetica" pitchFamily="34" charset="0"/>
              </a:rPr>
              <a:t>Observe legal requirements relating to EO in employment</a:t>
            </a:r>
          </a:p>
          <a:p>
            <a:endParaRPr lang="en-AU" sz="2200" b="1" dirty="0" smtClean="0">
              <a:latin typeface="Helvetica" pitchFamily="34" charset="0"/>
            </a:endParaRPr>
          </a:p>
          <a:p>
            <a:r>
              <a:rPr lang="en-AU" sz="2200" b="1" dirty="0" smtClean="0">
                <a:latin typeface="Helvetica" pitchFamily="34" charset="0"/>
              </a:rPr>
              <a:t>Take notes at the interview &amp;                                     compare interviewers thoughts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6" name="Picture 5" descr="MP900422247[1].JPG"/>
          <p:cNvPicPr>
            <a:picLocks noChangeAspect="1"/>
          </p:cNvPicPr>
          <p:nvPr/>
        </p:nvPicPr>
        <p:blipFill>
          <a:blip r:embed="rId3" cstate="print"/>
          <a:stretch>
            <a:fillRect/>
          </a:stretch>
        </p:blipFill>
        <p:spPr>
          <a:xfrm>
            <a:off x="6804248" y="3717032"/>
            <a:ext cx="1849426" cy="2780928"/>
          </a:xfrm>
          <a:prstGeom prst="rect">
            <a:avLst/>
          </a:prstGeom>
        </p:spPr>
      </p:pic>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Retain the names &amp; details of suitable applicants until the preferred choice has accepted the job offer</a:t>
            </a:r>
          </a:p>
          <a:p>
            <a:endParaRPr lang="en-AU" sz="2200" b="1" dirty="0" smtClean="0">
              <a:latin typeface="Helvetica" pitchFamily="34" charset="0"/>
            </a:endParaRPr>
          </a:p>
          <a:p>
            <a:r>
              <a:rPr lang="en-AU" sz="2200" b="1" dirty="0" smtClean="0">
                <a:latin typeface="Helvetica" pitchFamily="34" charset="0"/>
              </a:rPr>
              <a:t>Notify unsuccessful applicants and process notifications</a:t>
            </a:r>
          </a:p>
          <a:p>
            <a:endParaRPr lang="en-AU" sz="2200" b="1" dirty="0" smtClean="0">
              <a:latin typeface="Helvetica" pitchFamily="34" charset="0"/>
            </a:endParaRPr>
          </a:p>
          <a:p>
            <a:r>
              <a:rPr lang="en-AU" sz="2200" b="1" dirty="0" smtClean="0">
                <a:latin typeface="Helvetica" pitchFamily="34" charset="0"/>
              </a:rPr>
              <a:t>Issue a Letter of Appointment to formalise all job offers</a:t>
            </a:r>
          </a:p>
          <a:p>
            <a:endParaRPr lang="en-AU" sz="2200" b="1" dirty="0" smtClean="0">
              <a:latin typeface="Helvetica" pitchFamily="34" charset="0"/>
            </a:endParaRPr>
          </a:p>
          <a:p>
            <a:r>
              <a:rPr lang="en-AU" sz="2200" b="1" dirty="0" smtClean="0">
                <a:latin typeface="Helvetica" pitchFamily="34" charset="0"/>
              </a:rPr>
              <a:t>Follow-up after job offers have been                                made and accepted.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5" name="Picture 4" descr="MP900430506[1].JPG"/>
          <p:cNvPicPr>
            <a:picLocks noChangeAspect="1"/>
          </p:cNvPicPr>
          <p:nvPr/>
        </p:nvPicPr>
        <p:blipFill>
          <a:blip r:embed="rId3" cstate="print"/>
          <a:stretch>
            <a:fillRect/>
          </a:stretch>
        </p:blipFill>
        <p:spPr>
          <a:xfrm>
            <a:off x="6588224" y="4509120"/>
            <a:ext cx="1988840" cy="1988840"/>
          </a:xfrm>
          <a:prstGeom prst="rect">
            <a:avLst/>
          </a:prstGeom>
        </p:spPr>
      </p:pic>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Implement induction &amp; orientation session or program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 for this Element are:</a:t>
            </a:r>
          </a:p>
          <a:p>
            <a:pPr marL="360000" indent="-360000">
              <a:spcBef>
                <a:spcPts val="600"/>
              </a:spcBef>
              <a:spcAft>
                <a:spcPts val="1200"/>
              </a:spcAft>
            </a:pPr>
            <a:r>
              <a:rPr lang="en-US" sz="2200" b="1" dirty="0" smtClean="0">
                <a:latin typeface="Helvetica" pitchFamily="34" charset="0"/>
              </a:rPr>
              <a:t>Plan the induction &amp; orientation session</a:t>
            </a:r>
          </a:p>
          <a:p>
            <a:pPr marL="360000" indent="-360000">
              <a:spcBef>
                <a:spcPts val="600"/>
              </a:spcBef>
              <a:spcAft>
                <a:spcPts val="1200"/>
              </a:spcAft>
            </a:pPr>
            <a:r>
              <a:rPr lang="en-US" sz="2200" b="1" dirty="0" smtClean="0">
                <a:latin typeface="Helvetica" pitchFamily="34" charset="0"/>
              </a:rPr>
              <a:t>Conduct the induction &amp; orientation session</a:t>
            </a:r>
          </a:p>
          <a:p>
            <a:pPr marL="360000" indent="-360000">
              <a:spcBef>
                <a:spcPts val="600"/>
              </a:spcBef>
              <a:spcAft>
                <a:spcPts val="1200"/>
              </a:spcAft>
            </a:pPr>
            <a:r>
              <a:rPr lang="en-US" sz="2200" b="1" dirty="0" smtClean="0">
                <a:latin typeface="Helvetica" pitchFamily="34" charset="0"/>
              </a:rPr>
              <a:t>Review the induction &amp; orientation session.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5" name="Picture 4" descr="00443202.jpg"/>
          <p:cNvPicPr>
            <a:picLocks noChangeAspect="1"/>
          </p:cNvPicPr>
          <p:nvPr/>
        </p:nvPicPr>
        <p:blipFill>
          <a:blip r:embed="rId3" cstate="print"/>
          <a:stretch>
            <a:fillRect/>
          </a:stretch>
        </p:blipFill>
        <p:spPr>
          <a:xfrm>
            <a:off x="5500694" y="3929066"/>
            <a:ext cx="3043230" cy="2025236"/>
          </a:xfrm>
          <a:prstGeom prst="rect">
            <a:avLst/>
          </a:prstGeom>
        </p:spPr>
      </p:pic>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All new employees should undertake an ‘Induction &amp; Orientation session’:</a:t>
            </a:r>
          </a:p>
          <a:p>
            <a:pPr marL="360000" indent="-360000">
              <a:spcBef>
                <a:spcPts val="600"/>
              </a:spcBef>
              <a:spcAft>
                <a:spcPts val="1200"/>
              </a:spcAft>
            </a:pPr>
            <a:r>
              <a:rPr lang="en-US" sz="2200" b="1" dirty="0" smtClean="0">
                <a:latin typeface="Helvetica" pitchFamily="34" charset="0"/>
              </a:rPr>
              <a:t>All inductions must be planned</a:t>
            </a:r>
          </a:p>
          <a:p>
            <a:pPr marL="360000" indent="-360000">
              <a:spcBef>
                <a:spcPts val="600"/>
              </a:spcBef>
              <a:spcAft>
                <a:spcPts val="1200"/>
              </a:spcAft>
            </a:pPr>
            <a:r>
              <a:rPr lang="en-US" sz="2200" b="1" dirty="0" smtClean="0">
                <a:latin typeface="Helvetica" pitchFamily="34" charset="0"/>
              </a:rPr>
              <a:t>Many items need to be covered</a:t>
            </a:r>
          </a:p>
          <a:p>
            <a:pPr marL="360000" indent="-360000">
              <a:spcBef>
                <a:spcPts val="600"/>
              </a:spcBef>
              <a:spcAft>
                <a:spcPts val="1200"/>
              </a:spcAft>
            </a:pPr>
            <a:r>
              <a:rPr lang="en-US" sz="2200" b="1" dirty="0" smtClean="0">
                <a:latin typeface="Helvetica" pitchFamily="34" charset="0"/>
              </a:rPr>
              <a:t>A positive experience for staff on their first day</a:t>
            </a:r>
          </a:p>
          <a:p>
            <a:pPr marL="360000" indent="-360000">
              <a:spcBef>
                <a:spcPts val="600"/>
              </a:spcBef>
              <a:spcAft>
                <a:spcPts val="1200"/>
              </a:spcAft>
            </a:pPr>
            <a:r>
              <a:rPr lang="en-US" sz="2200" b="1" dirty="0" smtClean="0">
                <a:latin typeface="Helvetica" pitchFamily="34" charset="0"/>
              </a:rPr>
              <a:t>Use existing or new induction &amp;                                   orientation material.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5" name="Picture 4" descr="00401762.jpg"/>
          <p:cNvPicPr>
            <a:picLocks noChangeAspect="1"/>
          </p:cNvPicPr>
          <p:nvPr/>
        </p:nvPicPr>
        <p:blipFill>
          <a:blip r:embed="rId3" cstate="print"/>
          <a:stretch>
            <a:fillRect/>
          </a:stretch>
        </p:blipFill>
        <p:spPr>
          <a:xfrm>
            <a:off x="5796136" y="4293096"/>
            <a:ext cx="2915510" cy="1942914"/>
          </a:xfrm>
          <a:prstGeom prst="rect">
            <a:avLst/>
          </a:prstGeom>
        </p:spPr>
      </p:pic>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Timing requirements for inductions &amp; orientations:</a:t>
            </a:r>
          </a:p>
          <a:p>
            <a:pPr marL="360000" indent="-360000">
              <a:spcBef>
                <a:spcPts val="600"/>
              </a:spcBef>
              <a:spcAft>
                <a:spcPts val="1200"/>
              </a:spcAft>
            </a:pPr>
            <a:r>
              <a:rPr lang="en-US" sz="2200" b="1" dirty="0" smtClean="0">
                <a:latin typeface="Helvetica" pitchFamily="34" charset="0"/>
              </a:rPr>
              <a:t>Time allowed varies widely 10 minutes – 2 weeks</a:t>
            </a:r>
          </a:p>
          <a:p>
            <a:pPr marL="360000" indent="-360000">
              <a:spcBef>
                <a:spcPts val="600"/>
              </a:spcBef>
              <a:spcAft>
                <a:spcPts val="1200"/>
              </a:spcAft>
            </a:pPr>
            <a:r>
              <a:rPr lang="en-US" sz="2200" b="1" dirty="0" smtClean="0">
                <a:latin typeface="Helvetica" pitchFamily="34" charset="0"/>
              </a:rPr>
              <a:t>Planning is essential for effectiveness</a:t>
            </a:r>
          </a:p>
          <a:p>
            <a:pPr marL="360000" indent="-360000">
              <a:spcBef>
                <a:spcPts val="600"/>
              </a:spcBef>
              <a:spcAft>
                <a:spcPts val="1200"/>
              </a:spcAft>
            </a:pPr>
            <a:r>
              <a:rPr lang="en-US" sz="2200" b="1" dirty="0" smtClean="0">
                <a:latin typeface="Helvetica" pitchFamily="34" charset="0"/>
              </a:rPr>
              <a:t>Longer induction &amp; orientation sessions require more planning.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5" name="Picture 4" descr="00390123.jpg"/>
          <p:cNvPicPr>
            <a:picLocks noChangeAspect="1"/>
          </p:cNvPicPr>
          <p:nvPr/>
        </p:nvPicPr>
        <p:blipFill>
          <a:blip r:embed="rId3" cstate="print"/>
          <a:stretch>
            <a:fillRect/>
          </a:stretch>
        </p:blipFill>
        <p:spPr>
          <a:xfrm>
            <a:off x="5796136" y="4077072"/>
            <a:ext cx="2764904" cy="1972298"/>
          </a:xfrm>
          <a:prstGeom prst="rect">
            <a:avLst/>
          </a:prstGeom>
        </p:spPr>
      </p:pic>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There should be a familiar face at the start of every induction &amp; orientation session:</a:t>
            </a:r>
          </a:p>
          <a:p>
            <a:pPr marL="360000" indent="-360000">
              <a:spcBef>
                <a:spcPts val="600"/>
              </a:spcBef>
              <a:spcAft>
                <a:spcPts val="1200"/>
              </a:spcAft>
            </a:pPr>
            <a:r>
              <a:rPr lang="en-US" sz="2200" b="1" dirty="0" smtClean="0">
                <a:latin typeface="Helvetica" pitchFamily="34" charset="0"/>
              </a:rPr>
              <a:t>Try to include someone who was on the interview panel</a:t>
            </a:r>
          </a:p>
          <a:p>
            <a:pPr marL="360000" indent="-360000">
              <a:spcBef>
                <a:spcPts val="600"/>
              </a:spcBef>
              <a:spcAft>
                <a:spcPts val="1200"/>
              </a:spcAft>
            </a:pPr>
            <a:r>
              <a:rPr lang="en-US" sz="2200" b="1" dirty="0" smtClean="0">
                <a:latin typeface="Helvetica" pitchFamily="34" charset="0"/>
              </a:rPr>
              <a:t>Greet the new employee on arrival</a:t>
            </a:r>
          </a:p>
          <a:p>
            <a:pPr marL="360000" indent="-360000">
              <a:spcBef>
                <a:spcPts val="600"/>
              </a:spcBef>
              <a:spcAft>
                <a:spcPts val="1200"/>
              </a:spcAft>
            </a:pPr>
            <a:r>
              <a:rPr lang="en-US" sz="2200" b="1" dirty="0" smtClean="0">
                <a:latin typeface="Helvetica" pitchFamily="34" charset="0"/>
              </a:rPr>
              <a:t>Make a positive comment about their                                 expected association with the business</a:t>
            </a:r>
            <a:r>
              <a:rPr lang="en-US" sz="2200" dirty="0" smtClean="0">
                <a:latin typeface="Helvetica" pitchFamily="34" charset="0"/>
              </a:rPr>
              <a:t>.</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5" name="Picture 4" descr="00409605.jpg"/>
          <p:cNvPicPr>
            <a:picLocks noChangeAspect="1"/>
          </p:cNvPicPr>
          <p:nvPr/>
        </p:nvPicPr>
        <p:blipFill>
          <a:blip r:embed="rId3" cstate="print"/>
          <a:stretch>
            <a:fillRect/>
          </a:stretch>
        </p:blipFill>
        <p:spPr>
          <a:xfrm>
            <a:off x="6588224" y="3321251"/>
            <a:ext cx="1974753" cy="2960685"/>
          </a:xfrm>
          <a:prstGeom prst="rect">
            <a:avLst/>
          </a:prstGeom>
        </p:spPr>
      </p:pic>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OHS considerations must be covered in every induction &amp; orientation:</a:t>
            </a:r>
          </a:p>
          <a:p>
            <a:pPr marL="360000" indent="-360000">
              <a:spcBef>
                <a:spcPts val="600"/>
              </a:spcBef>
              <a:spcAft>
                <a:spcPts val="1200"/>
              </a:spcAft>
            </a:pPr>
            <a:r>
              <a:rPr lang="en-US" sz="2200" b="1" dirty="0" smtClean="0">
                <a:latin typeface="Helvetica" pitchFamily="34" charset="0"/>
              </a:rPr>
              <a:t>Need for of a safe workplace</a:t>
            </a:r>
          </a:p>
          <a:p>
            <a:pPr marL="360000" indent="-360000">
              <a:spcBef>
                <a:spcPts val="600"/>
              </a:spcBef>
              <a:spcAft>
                <a:spcPts val="1200"/>
              </a:spcAft>
            </a:pPr>
            <a:r>
              <a:rPr lang="en-US" sz="2200" b="1" dirty="0" smtClean="0">
                <a:latin typeface="Helvetica" pitchFamily="34" charset="0"/>
              </a:rPr>
              <a:t>To present workplace OHS policies &amp; procedures</a:t>
            </a:r>
          </a:p>
          <a:p>
            <a:pPr marL="360000" indent="-360000">
              <a:spcBef>
                <a:spcPts val="600"/>
              </a:spcBef>
              <a:spcAft>
                <a:spcPts val="1200"/>
              </a:spcAft>
            </a:pPr>
            <a:r>
              <a:rPr lang="en-US" sz="2200" b="1" dirty="0" smtClean="0">
                <a:latin typeface="Helvetica" pitchFamily="34" charset="0"/>
              </a:rPr>
              <a:t>To present safe work practices</a:t>
            </a:r>
          </a:p>
          <a:p>
            <a:pPr marL="360000" indent="-360000">
              <a:spcBef>
                <a:spcPts val="600"/>
              </a:spcBef>
              <a:spcAft>
                <a:spcPts val="1200"/>
              </a:spcAft>
            </a:pPr>
            <a:r>
              <a:rPr lang="en-US" sz="2200" b="1" dirty="0" smtClean="0">
                <a:latin typeface="Helvetica" pitchFamily="34" charset="0"/>
              </a:rPr>
              <a:t>To identify OHS support infrastructure</a:t>
            </a:r>
          </a:p>
          <a:p>
            <a:pPr marL="360000" indent="-360000">
              <a:spcBef>
                <a:spcPts val="600"/>
              </a:spcBef>
              <a:spcAft>
                <a:spcPts val="1200"/>
              </a:spcAft>
            </a:pPr>
            <a:r>
              <a:rPr lang="en-US" sz="2200" b="1" dirty="0" smtClean="0">
                <a:latin typeface="Helvetica" pitchFamily="34" charset="0"/>
              </a:rPr>
              <a:t>To explain OHS internal workplace </a:t>
            </a:r>
            <a:br>
              <a:rPr lang="en-US" sz="2200" b="1" dirty="0" smtClean="0">
                <a:latin typeface="Helvetica" pitchFamily="34" charset="0"/>
              </a:rPr>
            </a:br>
            <a:r>
              <a:rPr lang="en-US" sz="2200" b="1" dirty="0" smtClean="0">
                <a:latin typeface="Helvetica" pitchFamily="34" charset="0"/>
              </a:rPr>
              <a:t>structures.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5" name="Picture 4" descr="00432558.png"/>
          <p:cNvPicPr>
            <a:picLocks noChangeAspect="1"/>
          </p:cNvPicPr>
          <p:nvPr/>
        </p:nvPicPr>
        <p:blipFill>
          <a:blip r:embed="rId3" cstate="print"/>
          <a:stretch>
            <a:fillRect/>
          </a:stretch>
        </p:blipFill>
        <p:spPr>
          <a:xfrm>
            <a:off x="6444208" y="3789040"/>
            <a:ext cx="2285714" cy="2285714"/>
          </a:xfrm>
          <a:prstGeom prst="rect">
            <a:avLst/>
          </a:prstGeom>
        </p:spPr>
      </p:pic>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Inductions &amp; orientations also need to include:</a:t>
            </a:r>
          </a:p>
          <a:p>
            <a:pPr marL="360000" indent="-360000">
              <a:spcBef>
                <a:spcPts val="600"/>
              </a:spcBef>
              <a:spcAft>
                <a:spcPts val="1200"/>
              </a:spcAft>
            </a:pPr>
            <a:r>
              <a:rPr lang="en-US" sz="2200" b="1" dirty="0" smtClean="0">
                <a:latin typeface="Helvetica" pitchFamily="34" charset="0"/>
              </a:rPr>
              <a:t>A semi-socialising experience</a:t>
            </a:r>
          </a:p>
          <a:p>
            <a:pPr marL="360000" indent="-360000">
              <a:spcBef>
                <a:spcPts val="600"/>
              </a:spcBef>
              <a:spcAft>
                <a:spcPts val="1200"/>
              </a:spcAft>
            </a:pPr>
            <a:r>
              <a:rPr lang="en-US" sz="2200" b="1" dirty="0" smtClean="0">
                <a:latin typeface="Helvetica" pitchFamily="34" charset="0"/>
              </a:rPr>
              <a:t>Establishment-wide policies &amp; procedures</a:t>
            </a:r>
          </a:p>
          <a:p>
            <a:pPr marL="360000" indent="-360000">
              <a:spcBef>
                <a:spcPts val="600"/>
              </a:spcBef>
              <a:spcAft>
                <a:spcPts val="1200"/>
              </a:spcAft>
            </a:pPr>
            <a:r>
              <a:rPr lang="en-US" sz="2200" b="1" dirty="0" smtClean="0">
                <a:latin typeface="Helvetica" pitchFamily="34" charset="0"/>
              </a:rPr>
              <a:t>Who is the best person to contact</a:t>
            </a:r>
          </a:p>
          <a:p>
            <a:pPr marL="360000" indent="-360000">
              <a:spcBef>
                <a:spcPts val="600"/>
              </a:spcBef>
              <a:spcAft>
                <a:spcPts val="1200"/>
              </a:spcAft>
            </a:pPr>
            <a:r>
              <a:rPr lang="en-US" sz="2200" b="1" dirty="0" smtClean="0">
                <a:latin typeface="Helvetica" pitchFamily="34" charset="0"/>
              </a:rPr>
              <a:t>Specific other topics.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5" name="Picture 4" descr="MP900382691[1].JPG"/>
          <p:cNvPicPr>
            <a:picLocks noChangeAspect="1"/>
          </p:cNvPicPr>
          <p:nvPr/>
        </p:nvPicPr>
        <p:blipFill>
          <a:blip r:embed="rId3" cstate="print"/>
          <a:stretch>
            <a:fillRect/>
          </a:stretch>
        </p:blipFill>
        <p:spPr>
          <a:xfrm>
            <a:off x="5580112" y="4149080"/>
            <a:ext cx="2998778" cy="2141984"/>
          </a:xfrm>
          <a:prstGeom prst="rect">
            <a:avLst/>
          </a:prstGeom>
        </p:spPr>
      </p:pic>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Formal induction &amp; orientation sessions must address:</a:t>
            </a:r>
          </a:p>
          <a:p>
            <a:pPr marL="360000" indent="-360000">
              <a:spcBef>
                <a:spcPts val="600"/>
              </a:spcBef>
              <a:spcAft>
                <a:spcPts val="1200"/>
              </a:spcAft>
            </a:pPr>
            <a:r>
              <a:rPr lang="en-US" sz="2200" b="1" dirty="0" smtClean="0">
                <a:latin typeface="Helvetica" pitchFamily="34" charset="0"/>
              </a:rPr>
              <a:t>Completion of necessary paperwork</a:t>
            </a:r>
          </a:p>
          <a:p>
            <a:pPr marL="360000" indent="-360000">
              <a:spcBef>
                <a:spcPts val="600"/>
              </a:spcBef>
              <a:spcAft>
                <a:spcPts val="1200"/>
              </a:spcAft>
            </a:pPr>
            <a:r>
              <a:rPr lang="en-US" sz="2200" b="1" dirty="0" smtClean="0">
                <a:latin typeface="Helvetica" pitchFamily="34" charset="0"/>
              </a:rPr>
              <a:t>‘Need to know’ information</a:t>
            </a:r>
          </a:p>
          <a:p>
            <a:pPr marL="360000" indent="-360000">
              <a:spcBef>
                <a:spcPts val="600"/>
              </a:spcBef>
              <a:spcAft>
                <a:spcPts val="1200"/>
              </a:spcAft>
            </a:pPr>
            <a:r>
              <a:rPr lang="en-US" sz="2200" b="1" dirty="0" smtClean="0">
                <a:latin typeface="Helvetica" pitchFamily="34" charset="0"/>
              </a:rPr>
              <a:t>Tour of the workplace</a:t>
            </a:r>
          </a:p>
          <a:p>
            <a:pPr marL="360000" indent="-360000">
              <a:spcBef>
                <a:spcPts val="600"/>
              </a:spcBef>
              <a:spcAft>
                <a:spcPts val="1200"/>
              </a:spcAft>
              <a:buNone/>
            </a:pPr>
            <a:r>
              <a:rPr lang="en-US" sz="2200" b="1" dirty="0" smtClean="0">
                <a:latin typeface="Helvetica" pitchFamily="34" charset="0"/>
              </a:rPr>
              <a:t>(continue)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5" name="Picture 4" descr="MP900443214[1].JPG"/>
          <p:cNvPicPr>
            <a:picLocks noChangeAspect="1"/>
          </p:cNvPicPr>
          <p:nvPr/>
        </p:nvPicPr>
        <p:blipFill>
          <a:blip r:embed="rId3" cstate="print"/>
          <a:stretch>
            <a:fillRect/>
          </a:stretch>
        </p:blipFill>
        <p:spPr>
          <a:xfrm>
            <a:off x="6300192" y="2924944"/>
            <a:ext cx="2144680" cy="3213230"/>
          </a:xfrm>
          <a:prstGeom prst="rect">
            <a:avLst/>
          </a:prstGeom>
        </p:spPr>
      </p:pic>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Meeting with management, supervisors &amp; co-workers</a:t>
            </a:r>
          </a:p>
          <a:p>
            <a:pPr marL="360000" indent="-360000">
              <a:spcBef>
                <a:spcPts val="600"/>
              </a:spcBef>
              <a:spcAft>
                <a:spcPts val="1200"/>
              </a:spcAft>
            </a:pPr>
            <a:r>
              <a:rPr lang="en-US" sz="2200" b="1" dirty="0" smtClean="0">
                <a:latin typeface="Helvetica" pitchFamily="34" charset="0"/>
              </a:rPr>
              <a:t>Allocation of uniform</a:t>
            </a:r>
          </a:p>
          <a:p>
            <a:pPr marL="360000" indent="-360000">
              <a:spcBef>
                <a:spcPts val="600"/>
              </a:spcBef>
              <a:spcAft>
                <a:spcPts val="1200"/>
              </a:spcAft>
            </a:pPr>
            <a:r>
              <a:rPr lang="en-US" sz="2200" b="1" dirty="0" smtClean="0">
                <a:latin typeface="Helvetica" pitchFamily="34" charset="0"/>
              </a:rPr>
              <a:t>Detailed department and position induction</a:t>
            </a:r>
          </a:p>
          <a:p>
            <a:pPr marL="360000" indent="-360000">
              <a:spcBef>
                <a:spcPts val="600"/>
              </a:spcBef>
              <a:spcAft>
                <a:spcPts val="1200"/>
              </a:spcAft>
            </a:pPr>
            <a:r>
              <a:rPr lang="en-US" sz="2200" b="1" dirty="0" smtClean="0">
                <a:latin typeface="Helvetica" pitchFamily="34" charset="0"/>
              </a:rPr>
              <a:t>Expectations of the role</a:t>
            </a:r>
          </a:p>
          <a:p>
            <a:pPr marL="360000" indent="-360000">
              <a:spcBef>
                <a:spcPts val="600"/>
              </a:spcBef>
              <a:spcAft>
                <a:spcPts val="1200"/>
              </a:spcAft>
            </a:pPr>
            <a:r>
              <a:rPr lang="en-US" sz="2200" b="1" dirty="0" smtClean="0">
                <a:latin typeface="Helvetica" pitchFamily="34" charset="0"/>
              </a:rPr>
              <a:t>Coverage of job description</a:t>
            </a:r>
          </a:p>
          <a:p>
            <a:pPr marL="360000" indent="-360000">
              <a:spcBef>
                <a:spcPts val="600"/>
              </a:spcBef>
              <a:spcAft>
                <a:spcPts val="1200"/>
              </a:spcAft>
              <a:buNone/>
            </a:pPr>
            <a:r>
              <a:rPr lang="en-US" sz="2200" b="1" dirty="0" smtClean="0">
                <a:latin typeface="Helvetica" pitchFamily="34" charset="0"/>
              </a:rPr>
              <a:t>(continue)</a:t>
            </a:r>
            <a:endParaRPr lang="en-US" sz="2200" dirty="0" smtClean="0">
              <a:latin typeface="Helvetica" pitchFamily="34" charset="0"/>
            </a:endParaRP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5" name="Picture 4" descr="MP900424428[1].JPG"/>
          <p:cNvPicPr>
            <a:picLocks noChangeAspect="1"/>
          </p:cNvPicPr>
          <p:nvPr/>
        </p:nvPicPr>
        <p:blipFill>
          <a:blip r:embed="rId3" cstate="print"/>
          <a:stretch>
            <a:fillRect/>
          </a:stretch>
        </p:blipFill>
        <p:spPr>
          <a:xfrm>
            <a:off x="5364088" y="3933056"/>
            <a:ext cx="3295947" cy="2417886"/>
          </a:xfrm>
          <a:prstGeom prst="rect">
            <a:avLst/>
          </a:prstGeom>
        </p:spPr>
      </p:pic>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525963"/>
          </a:xfrm>
        </p:spPr>
        <p:txBody>
          <a:bodyPr>
            <a:normAutofit/>
          </a:bodyPr>
          <a:lstStyle/>
          <a:p>
            <a:pPr marL="360000" indent="-360000">
              <a:spcBef>
                <a:spcPts val="600"/>
              </a:spcBef>
              <a:spcAft>
                <a:spcPts val="1200"/>
              </a:spcAft>
            </a:pPr>
            <a:r>
              <a:rPr lang="en-US" sz="2200" b="1" dirty="0" smtClean="0">
                <a:latin typeface="Helvetica" pitchFamily="34" charset="0"/>
              </a:rPr>
              <a:t>Copy of roster</a:t>
            </a:r>
          </a:p>
          <a:p>
            <a:pPr marL="360000" indent="-360000">
              <a:spcBef>
                <a:spcPts val="600"/>
              </a:spcBef>
              <a:spcAft>
                <a:spcPts val="1200"/>
              </a:spcAft>
            </a:pPr>
            <a:r>
              <a:rPr lang="en-US" sz="2200" b="1" dirty="0" smtClean="0">
                <a:latin typeface="Helvetica" pitchFamily="34" charset="0"/>
              </a:rPr>
              <a:t>Enterprise-based terminology, acronyms &amp; abbreviations</a:t>
            </a:r>
          </a:p>
          <a:p>
            <a:pPr marL="360000" indent="-360000">
              <a:spcBef>
                <a:spcPts val="600"/>
              </a:spcBef>
              <a:spcAft>
                <a:spcPts val="1200"/>
              </a:spcAft>
            </a:pPr>
            <a:r>
              <a:rPr lang="en-US" sz="2200" b="1" dirty="0" smtClean="0">
                <a:latin typeface="Helvetica" pitchFamily="34" charset="0"/>
              </a:rPr>
              <a:t>Explanation of the operation of the business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5" name="Picture 4" descr="MP900428032[1].JPG"/>
          <p:cNvPicPr>
            <a:picLocks noChangeAspect="1"/>
          </p:cNvPicPr>
          <p:nvPr/>
        </p:nvPicPr>
        <p:blipFill>
          <a:blip r:embed="rId3" cstate="print"/>
          <a:stretch>
            <a:fillRect/>
          </a:stretch>
        </p:blipFill>
        <p:spPr>
          <a:xfrm>
            <a:off x="5724128" y="3861048"/>
            <a:ext cx="2666070" cy="2132856"/>
          </a:xfrm>
          <a:prstGeom prst="rect">
            <a:avLst/>
          </a:prstGeom>
        </p:spPr>
      </p:pic>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Safety &amp; security issues</a:t>
            </a:r>
          </a:p>
          <a:p>
            <a:pPr marL="360000" indent="-360000">
              <a:spcBef>
                <a:spcPts val="600"/>
              </a:spcBef>
              <a:spcAft>
                <a:spcPts val="1200"/>
              </a:spcAft>
            </a:pPr>
            <a:r>
              <a:rPr lang="en-US" sz="2200" b="1" dirty="0" smtClean="0">
                <a:latin typeface="Helvetica" pitchFamily="34" charset="0"/>
              </a:rPr>
              <a:t>Company benefits</a:t>
            </a:r>
          </a:p>
          <a:p>
            <a:pPr marL="360000" indent="-360000">
              <a:spcBef>
                <a:spcPts val="600"/>
              </a:spcBef>
              <a:spcAft>
                <a:spcPts val="1200"/>
              </a:spcAft>
            </a:pPr>
            <a:r>
              <a:rPr lang="en-US" sz="2200" b="1" dirty="0" smtClean="0">
                <a:latin typeface="Helvetica" pitchFamily="34" charset="0"/>
              </a:rPr>
              <a:t>Workplace awards</a:t>
            </a:r>
          </a:p>
          <a:p>
            <a:pPr marL="360000" indent="-360000">
              <a:spcBef>
                <a:spcPts val="600"/>
              </a:spcBef>
              <a:spcAft>
                <a:spcPts val="1200"/>
              </a:spcAft>
            </a:pPr>
            <a:r>
              <a:rPr lang="en-US" sz="2200" b="1" dirty="0" smtClean="0">
                <a:latin typeface="Helvetica" pitchFamily="34" charset="0"/>
              </a:rPr>
              <a:t>Performance appraisals</a:t>
            </a:r>
          </a:p>
          <a:p>
            <a:pPr marL="360000" indent="-360000">
              <a:spcBef>
                <a:spcPts val="600"/>
              </a:spcBef>
              <a:spcAft>
                <a:spcPts val="1200"/>
              </a:spcAft>
            </a:pPr>
            <a:r>
              <a:rPr lang="en-US" sz="2200" b="1" dirty="0" smtClean="0">
                <a:latin typeface="Helvetica" pitchFamily="34" charset="0"/>
              </a:rPr>
              <a:t>Allocation of a ‘buddy’.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184</a:t>
            </a:fld>
            <a:endParaRPr lang="en-US" dirty="0"/>
          </a:p>
        </p:txBody>
      </p:sp>
      <p:pic>
        <p:nvPicPr>
          <p:cNvPr id="5" name="Picture 4" descr="MP900423066[1].JPG"/>
          <p:cNvPicPr>
            <a:picLocks noChangeAspect="1"/>
          </p:cNvPicPr>
          <p:nvPr/>
        </p:nvPicPr>
        <p:blipFill>
          <a:blip r:embed="rId3" cstate="print"/>
          <a:stretch>
            <a:fillRect/>
          </a:stretch>
        </p:blipFill>
        <p:spPr>
          <a:xfrm>
            <a:off x="6084168" y="3356992"/>
            <a:ext cx="2397246" cy="2420888"/>
          </a:xfrm>
          <a:prstGeom prst="rect">
            <a:avLst/>
          </a:prstGeom>
        </p:spPr>
      </p:pic>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b="1" dirty="0" smtClean="0">
                <a:latin typeface="Helvetica" pitchFamily="34" charset="0"/>
              </a:rPr>
              <a:t>Also a need to address the ‘culture’ of the workplace:</a:t>
            </a:r>
          </a:p>
          <a:p>
            <a:pPr marL="360000" indent="-360000">
              <a:spcBef>
                <a:spcPts val="600"/>
              </a:spcBef>
              <a:spcAft>
                <a:spcPts val="1200"/>
              </a:spcAft>
            </a:pPr>
            <a:r>
              <a:rPr lang="en-US" sz="2200" b="1" dirty="0" smtClean="0">
                <a:latin typeface="Helvetica" pitchFamily="34" charset="0"/>
              </a:rPr>
              <a:t>This is ‘the way we do things around here’</a:t>
            </a:r>
          </a:p>
          <a:p>
            <a:pPr marL="360000" indent="-360000">
              <a:spcBef>
                <a:spcPts val="600"/>
              </a:spcBef>
              <a:spcAft>
                <a:spcPts val="1200"/>
              </a:spcAft>
            </a:pPr>
            <a:r>
              <a:rPr lang="en-US" sz="2200" b="1" dirty="0" smtClean="0">
                <a:latin typeface="Helvetica" pitchFamily="34" charset="0"/>
              </a:rPr>
              <a:t>Could include: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Mission &amp; Vision Statements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Value Statement</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Work ethic</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The ‘grapevine’</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Workplace social opportunities.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185</a:t>
            </a:fld>
            <a:endParaRPr lang="en-US" dirty="0"/>
          </a:p>
        </p:txBody>
      </p:sp>
      <p:pic>
        <p:nvPicPr>
          <p:cNvPr id="5" name="Picture 4" descr="MP900427683[1].JPG"/>
          <p:cNvPicPr>
            <a:picLocks noChangeAspect="1"/>
          </p:cNvPicPr>
          <p:nvPr/>
        </p:nvPicPr>
        <p:blipFill>
          <a:blip r:embed="rId3" cstate="print"/>
          <a:stretch>
            <a:fillRect/>
          </a:stretch>
        </p:blipFill>
        <p:spPr>
          <a:xfrm>
            <a:off x="5868144" y="3933056"/>
            <a:ext cx="2834949" cy="2132856"/>
          </a:xfrm>
          <a:prstGeom prst="rect">
            <a:avLst/>
          </a:prstGeom>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Further considerations:</a:t>
            </a:r>
          </a:p>
          <a:p>
            <a:pPr marL="360000" indent="-360000">
              <a:spcBef>
                <a:spcPts val="600"/>
              </a:spcBef>
              <a:spcAft>
                <a:spcPts val="1200"/>
              </a:spcAft>
            </a:pPr>
            <a:r>
              <a:rPr lang="en-US" sz="2200" b="1" dirty="0" smtClean="0">
                <a:latin typeface="Helvetica" pitchFamily="34" charset="0"/>
              </a:rPr>
              <a:t>Liaise with other staff &amp; supervisors</a:t>
            </a:r>
          </a:p>
          <a:p>
            <a:pPr marL="360000" indent="-360000">
              <a:spcBef>
                <a:spcPts val="600"/>
              </a:spcBef>
              <a:spcAft>
                <a:spcPts val="1200"/>
              </a:spcAft>
            </a:pPr>
            <a:r>
              <a:rPr lang="en-US" sz="2200" b="1" dirty="0" smtClean="0">
                <a:latin typeface="Helvetica" pitchFamily="34" charset="0"/>
              </a:rPr>
              <a:t>Plan the timing for the session:</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Hour of day</a:t>
            </a:r>
          </a:p>
          <a:p>
            <a:pPr marL="720000" indent="-360000">
              <a:spcBef>
                <a:spcPts val="600"/>
              </a:spcBef>
              <a:spcAft>
                <a:spcPts val="1200"/>
              </a:spcAft>
              <a:buClr>
                <a:schemeClr val="accent1">
                  <a:lumMod val="75000"/>
                </a:schemeClr>
              </a:buClr>
              <a:buSzPct val="100000"/>
              <a:buFont typeface="Arial" pitchFamily="34" charset="0"/>
              <a:buChar char="•"/>
            </a:pPr>
            <a:r>
              <a:rPr lang="en-US" sz="2200" b="1" dirty="0" smtClean="0">
                <a:latin typeface="Helvetica" pitchFamily="34" charset="0"/>
              </a:rPr>
              <a:t>Day of week</a:t>
            </a:r>
          </a:p>
          <a:p>
            <a:pPr marL="0" indent="0">
              <a:spcBef>
                <a:spcPts val="600"/>
              </a:spcBef>
              <a:spcAft>
                <a:spcPts val="1200"/>
              </a:spcAft>
              <a:buClr>
                <a:schemeClr val="accent1">
                  <a:lumMod val="75000"/>
                </a:schemeClr>
              </a:buClr>
              <a:buSzPct val="100000"/>
              <a:buNone/>
            </a:pPr>
            <a:r>
              <a:rPr lang="en-US" sz="2200" b="1" dirty="0" smtClean="0">
                <a:latin typeface="Helvetica" pitchFamily="34" charset="0"/>
              </a:rPr>
              <a:t>(continue)</a:t>
            </a:r>
            <a:endParaRPr lang="en-US" sz="2200" dirty="0" smtClean="0">
              <a:latin typeface="Helvetica" pitchFamily="34" charset="0"/>
            </a:endParaRPr>
          </a:p>
          <a:p>
            <a:pPr marL="720000" indent="-360000">
              <a:spcBef>
                <a:spcPts val="600"/>
              </a:spcBef>
              <a:spcAft>
                <a:spcPts val="1200"/>
              </a:spcAft>
              <a:buClr>
                <a:schemeClr val="accent1">
                  <a:lumMod val="75000"/>
                </a:schemeClr>
              </a:buClr>
              <a:buSzPct val="100000"/>
              <a:buNone/>
            </a:pPr>
            <a:endParaRPr lang="en-US" sz="2200" b="1"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186</a:t>
            </a:fld>
            <a:endParaRPr lang="en-US" dirty="0"/>
          </a:p>
        </p:txBody>
      </p:sp>
      <p:pic>
        <p:nvPicPr>
          <p:cNvPr id="5" name="Picture 4" descr="MP900446452[1].JPG"/>
          <p:cNvPicPr>
            <a:picLocks noChangeAspect="1"/>
          </p:cNvPicPr>
          <p:nvPr/>
        </p:nvPicPr>
        <p:blipFill>
          <a:blip r:embed="rId3" cstate="print"/>
          <a:stretch>
            <a:fillRect/>
          </a:stretch>
        </p:blipFill>
        <p:spPr>
          <a:xfrm>
            <a:off x="5724128" y="3212976"/>
            <a:ext cx="2564904" cy="2564904"/>
          </a:xfrm>
          <a:prstGeom prst="rect">
            <a:avLst/>
          </a:prstGeom>
        </p:spPr>
      </p:pic>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Ensure smooth flow of information during the session</a:t>
            </a:r>
          </a:p>
          <a:p>
            <a:pPr marL="360000" indent="-360000">
              <a:spcBef>
                <a:spcPts val="600"/>
              </a:spcBef>
              <a:spcAft>
                <a:spcPts val="1200"/>
              </a:spcAft>
            </a:pPr>
            <a:r>
              <a:rPr lang="en-US" sz="2200" b="1" dirty="0" smtClean="0">
                <a:latin typeface="Helvetica" pitchFamily="34" charset="0"/>
              </a:rPr>
              <a:t>Factor in time for employee questions</a:t>
            </a:r>
          </a:p>
          <a:p>
            <a:pPr marL="360000" indent="-360000">
              <a:spcBef>
                <a:spcPts val="600"/>
              </a:spcBef>
              <a:spcAft>
                <a:spcPts val="1200"/>
              </a:spcAft>
            </a:pPr>
            <a:r>
              <a:rPr lang="en-US" sz="2200" b="1" dirty="0" smtClean="0">
                <a:latin typeface="Helvetica" pitchFamily="34" charset="0"/>
              </a:rPr>
              <a:t>Allocate plenty of time to cover the essentials</a:t>
            </a:r>
          </a:p>
          <a:p>
            <a:pPr marL="360000" indent="-360000">
              <a:spcBef>
                <a:spcPts val="600"/>
              </a:spcBef>
              <a:spcAft>
                <a:spcPts val="1200"/>
              </a:spcAft>
            </a:pPr>
            <a:r>
              <a:rPr lang="en-US" sz="2200" b="1" dirty="0" smtClean="0">
                <a:latin typeface="Helvetica" pitchFamily="34" charset="0"/>
              </a:rPr>
              <a:t>Ensure key staff are available.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187</a:t>
            </a:fld>
            <a:endParaRPr lang="en-US" dirty="0"/>
          </a:p>
        </p:txBody>
      </p:sp>
      <p:pic>
        <p:nvPicPr>
          <p:cNvPr id="5" name="Picture 4" descr="MP900427762[1].JPG"/>
          <p:cNvPicPr>
            <a:picLocks noChangeAspect="1"/>
          </p:cNvPicPr>
          <p:nvPr/>
        </p:nvPicPr>
        <p:blipFill>
          <a:blip r:embed="rId3" cstate="print"/>
          <a:stretch>
            <a:fillRect/>
          </a:stretch>
        </p:blipFill>
        <p:spPr>
          <a:xfrm>
            <a:off x="5508104" y="3789040"/>
            <a:ext cx="3295947" cy="2417886"/>
          </a:xfrm>
          <a:prstGeom prst="rect">
            <a:avLst/>
          </a:prstGeom>
        </p:spPr>
      </p:pic>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848872" cy="4525963"/>
          </a:xfrm>
        </p:spPr>
        <p:txBody>
          <a:bodyPr>
            <a:normAutofit/>
          </a:bodyPr>
          <a:lstStyle/>
          <a:p>
            <a:pPr marL="0" indent="0">
              <a:spcBef>
                <a:spcPts val="600"/>
              </a:spcBef>
              <a:spcAft>
                <a:spcPts val="1200"/>
              </a:spcAft>
              <a:buNone/>
            </a:pPr>
            <a:r>
              <a:rPr lang="en-US" sz="2200" b="1" dirty="0" smtClean="0">
                <a:latin typeface="Helvetica" pitchFamily="34" charset="0"/>
              </a:rPr>
              <a:t>When conducting an induction &amp; orientation session:</a:t>
            </a:r>
          </a:p>
          <a:p>
            <a:pPr marL="360000" indent="-360000">
              <a:spcBef>
                <a:spcPts val="600"/>
              </a:spcBef>
              <a:spcAft>
                <a:spcPts val="1200"/>
              </a:spcAft>
            </a:pPr>
            <a:r>
              <a:rPr lang="en-US" sz="2200" b="1" dirty="0" smtClean="0">
                <a:latin typeface="Helvetica" pitchFamily="34" charset="0"/>
              </a:rPr>
              <a:t>You only have once chance to make a positive impression</a:t>
            </a:r>
          </a:p>
          <a:p>
            <a:pPr marL="360000" indent="-360000">
              <a:spcBef>
                <a:spcPts val="600"/>
              </a:spcBef>
              <a:spcAft>
                <a:spcPts val="1200"/>
              </a:spcAft>
            </a:pPr>
            <a:r>
              <a:rPr lang="en-US" sz="2200" b="1" dirty="0" smtClean="0">
                <a:latin typeface="Helvetica" pitchFamily="34" charset="0"/>
              </a:rPr>
              <a:t>Arrive early – never keep new staff waiting</a:t>
            </a:r>
          </a:p>
          <a:p>
            <a:pPr marL="360000" indent="-360000">
              <a:spcBef>
                <a:spcPts val="600"/>
              </a:spcBef>
              <a:spcAft>
                <a:spcPts val="1200"/>
              </a:spcAft>
            </a:pPr>
            <a:r>
              <a:rPr lang="en-US" sz="2200" b="1" dirty="0" smtClean="0">
                <a:latin typeface="Helvetica" pitchFamily="34" charset="0"/>
              </a:rPr>
              <a:t>Welcome them</a:t>
            </a:r>
          </a:p>
          <a:p>
            <a:pPr marL="360000" indent="-360000">
              <a:spcBef>
                <a:spcPts val="600"/>
              </a:spcBef>
              <a:spcAft>
                <a:spcPts val="1200"/>
              </a:spcAft>
            </a:pPr>
            <a:r>
              <a:rPr lang="en-US" sz="2200" b="1" dirty="0" smtClean="0">
                <a:latin typeface="Helvetica" pitchFamily="34" charset="0"/>
              </a:rPr>
              <a:t>Express appropriate sentiments</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188</a:t>
            </a:fld>
            <a:endParaRPr lang="en-US" dirty="0"/>
          </a:p>
        </p:txBody>
      </p:sp>
      <p:pic>
        <p:nvPicPr>
          <p:cNvPr id="5" name="Picture 4" descr="MP900442995[1].JPG"/>
          <p:cNvPicPr>
            <a:picLocks noChangeAspect="1"/>
          </p:cNvPicPr>
          <p:nvPr/>
        </p:nvPicPr>
        <p:blipFill>
          <a:blip r:embed="rId3" cstate="print"/>
          <a:stretch>
            <a:fillRect/>
          </a:stretch>
        </p:blipFill>
        <p:spPr>
          <a:xfrm>
            <a:off x="6516216" y="3429000"/>
            <a:ext cx="2147212" cy="2854613"/>
          </a:xfrm>
          <a:prstGeom prst="rect">
            <a:avLst/>
          </a:prstGeom>
        </p:spPr>
      </p:pic>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752528"/>
          </a:xfrm>
        </p:spPr>
        <p:txBody>
          <a:bodyPr>
            <a:normAutofit/>
          </a:bodyPr>
          <a:lstStyle/>
          <a:p>
            <a:pPr marL="360000" indent="-360000">
              <a:spcBef>
                <a:spcPts val="600"/>
              </a:spcBef>
              <a:spcAft>
                <a:spcPts val="1200"/>
              </a:spcAft>
            </a:pPr>
            <a:r>
              <a:rPr lang="en-US" sz="2200" b="1" dirty="0" smtClean="0">
                <a:latin typeface="Helvetica" pitchFamily="34" charset="0"/>
              </a:rPr>
              <a:t>Explain what orientation will cover</a:t>
            </a:r>
          </a:p>
          <a:p>
            <a:pPr marL="360000" indent="-360000">
              <a:spcBef>
                <a:spcPts val="600"/>
              </a:spcBef>
              <a:spcAft>
                <a:spcPts val="1200"/>
              </a:spcAft>
            </a:pPr>
            <a:r>
              <a:rPr lang="en-US" sz="2200" b="1" dirty="0" smtClean="0">
                <a:latin typeface="Helvetica" pitchFamily="34" charset="0"/>
              </a:rPr>
              <a:t>Tell them how long it will take</a:t>
            </a:r>
          </a:p>
          <a:p>
            <a:pPr marL="360000" indent="-360000">
              <a:spcBef>
                <a:spcPts val="600"/>
              </a:spcBef>
              <a:spcAft>
                <a:spcPts val="1200"/>
              </a:spcAft>
            </a:pPr>
            <a:r>
              <a:rPr lang="en-US" sz="2200" b="1" dirty="0" smtClean="0">
                <a:latin typeface="Helvetica" pitchFamily="34" charset="0"/>
              </a:rPr>
              <a:t>Encourage questions</a:t>
            </a:r>
          </a:p>
          <a:p>
            <a:pPr marL="360000" indent="-360000">
              <a:spcBef>
                <a:spcPts val="600"/>
              </a:spcBef>
              <a:spcAft>
                <a:spcPts val="1200"/>
              </a:spcAft>
            </a:pPr>
            <a:r>
              <a:rPr lang="en-US" sz="2200" b="1" dirty="0" smtClean="0">
                <a:latin typeface="Helvetica" pitchFamily="34" charset="0"/>
              </a:rPr>
              <a:t>Stick to the plan for the session</a:t>
            </a:r>
          </a:p>
          <a:p>
            <a:pPr marL="360000" indent="-360000">
              <a:spcBef>
                <a:spcPts val="600"/>
              </a:spcBef>
              <a:spcAft>
                <a:spcPts val="1200"/>
              </a:spcAft>
            </a:pPr>
            <a:r>
              <a:rPr lang="en-US" sz="2200" b="1" dirty="0" smtClean="0">
                <a:latin typeface="Helvetica" pitchFamily="34" charset="0"/>
              </a:rPr>
              <a:t>Be flexible</a:t>
            </a:r>
          </a:p>
          <a:p>
            <a:pPr marL="360000" indent="-360000">
              <a:spcBef>
                <a:spcPts val="600"/>
              </a:spcBef>
              <a:spcAft>
                <a:spcPts val="1200"/>
              </a:spcAft>
            </a:pPr>
            <a:r>
              <a:rPr lang="en-US" sz="2200" b="1" dirty="0" smtClean="0">
                <a:latin typeface="Helvetica" pitchFamily="34" charset="0"/>
              </a:rPr>
              <a:t>Focus on the new employee</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189</a:t>
            </a:fld>
            <a:endParaRPr lang="en-US" dirty="0"/>
          </a:p>
        </p:txBody>
      </p:sp>
      <p:pic>
        <p:nvPicPr>
          <p:cNvPr id="5" name="Picture 4" descr="MP900442889[1].JPG"/>
          <p:cNvPicPr>
            <a:picLocks noChangeAspect="1"/>
          </p:cNvPicPr>
          <p:nvPr/>
        </p:nvPicPr>
        <p:blipFill>
          <a:blip r:embed="rId3" cstate="print"/>
          <a:stretch>
            <a:fillRect/>
          </a:stretch>
        </p:blipFill>
        <p:spPr>
          <a:xfrm>
            <a:off x="5364088" y="4005064"/>
            <a:ext cx="3476232" cy="2271517"/>
          </a:xfrm>
          <a:prstGeom prst="rect">
            <a:avLst/>
          </a:prstGeom>
        </p:spPr>
      </p:pic>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Do not rush</a:t>
            </a:r>
          </a:p>
          <a:p>
            <a:pPr marL="360000" indent="-360000">
              <a:spcBef>
                <a:spcPts val="600"/>
              </a:spcBef>
              <a:spcAft>
                <a:spcPts val="1200"/>
              </a:spcAft>
            </a:pPr>
            <a:r>
              <a:rPr lang="en-US" sz="2200" b="1" dirty="0" smtClean="0">
                <a:latin typeface="Helvetica" pitchFamily="34" charset="0"/>
              </a:rPr>
              <a:t>Do not drown the employee with information</a:t>
            </a:r>
          </a:p>
          <a:p>
            <a:pPr marL="360000" indent="-360000">
              <a:spcBef>
                <a:spcPts val="600"/>
              </a:spcBef>
              <a:spcAft>
                <a:spcPts val="1200"/>
              </a:spcAft>
            </a:pPr>
            <a:r>
              <a:rPr lang="en-US" sz="2200" b="1" dirty="0" smtClean="0">
                <a:latin typeface="Helvetica" pitchFamily="34" charset="0"/>
              </a:rPr>
              <a:t>Provide personal insight</a:t>
            </a:r>
          </a:p>
          <a:p>
            <a:pPr marL="360000" indent="-360000">
              <a:spcBef>
                <a:spcPts val="600"/>
              </a:spcBef>
              <a:spcAft>
                <a:spcPts val="1200"/>
              </a:spcAft>
            </a:pPr>
            <a:r>
              <a:rPr lang="en-US" sz="2200" b="1" dirty="0" smtClean="0">
                <a:latin typeface="Helvetica" pitchFamily="34" charset="0"/>
              </a:rPr>
              <a:t>Try to ensure privacy</a:t>
            </a:r>
          </a:p>
          <a:p>
            <a:pPr marL="360000" indent="-360000">
              <a:spcBef>
                <a:spcPts val="600"/>
              </a:spcBef>
              <a:spcAft>
                <a:spcPts val="1200"/>
              </a:spcAft>
              <a:buNone/>
            </a:pPr>
            <a:r>
              <a:rPr lang="en-US" sz="2200" b="1" dirty="0" smtClean="0">
                <a:latin typeface="Helvetica" pitchFamily="34" charset="0"/>
              </a:rPr>
              <a:t>(continue)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190</a:t>
            </a:fld>
            <a:endParaRPr lang="en-US" dirty="0"/>
          </a:p>
        </p:txBody>
      </p:sp>
      <p:pic>
        <p:nvPicPr>
          <p:cNvPr id="5" name="Picture 4" descr="00178856.jpg"/>
          <p:cNvPicPr>
            <a:picLocks noChangeAspect="1"/>
          </p:cNvPicPr>
          <p:nvPr/>
        </p:nvPicPr>
        <p:blipFill>
          <a:blip r:embed="rId3" cstate="print"/>
          <a:stretch>
            <a:fillRect/>
          </a:stretch>
        </p:blipFill>
        <p:spPr>
          <a:xfrm>
            <a:off x="5004048" y="3573016"/>
            <a:ext cx="3657600" cy="2444496"/>
          </a:xfrm>
          <a:prstGeom prst="rect">
            <a:avLst/>
          </a:prstGeom>
        </p:spPr>
      </p:pic>
    </p:spTree>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Conduct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Answer all questions asked by new employee</a:t>
            </a:r>
          </a:p>
          <a:p>
            <a:pPr marL="360000" indent="-360000">
              <a:spcBef>
                <a:spcPts val="600"/>
              </a:spcBef>
              <a:spcAft>
                <a:spcPts val="1200"/>
              </a:spcAft>
            </a:pPr>
            <a:r>
              <a:rPr lang="en-US" sz="2200" b="1" dirty="0" smtClean="0">
                <a:latin typeface="Helvetica" pitchFamily="34" charset="0"/>
              </a:rPr>
              <a:t>Read through important documents with them</a:t>
            </a:r>
          </a:p>
          <a:p>
            <a:pPr marL="360000" indent="-360000">
              <a:spcBef>
                <a:spcPts val="600"/>
              </a:spcBef>
              <a:spcAft>
                <a:spcPts val="1200"/>
              </a:spcAft>
            </a:pPr>
            <a:r>
              <a:rPr lang="en-US" sz="2200" b="1" dirty="0" smtClean="0">
                <a:latin typeface="Helvetica" pitchFamily="34" charset="0"/>
              </a:rPr>
              <a:t>Avoid ‘group’ inductions</a:t>
            </a:r>
          </a:p>
          <a:p>
            <a:pPr marL="360000" indent="-360000">
              <a:spcBef>
                <a:spcPts val="600"/>
              </a:spcBef>
              <a:spcAft>
                <a:spcPts val="1200"/>
              </a:spcAft>
            </a:pPr>
            <a:r>
              <a:rPr lang="en-US" sz="2200" b="1" dirty="0" smtClean="0">
                <a:latin typeface="Helvetica" pitchFamily="34" charset="0"/>
              </a:rPr>
              <a:t>Facilitate integration of new employee with existing structures &amp; workforce</a:t>
            </a:r>
          </a:p>
          <a:p>
            <a:pPr marL="360000" indent="-360000">
              <a:spcBef>
                <a:spcPts val="600"/>
              </a:spcBef>
              <a:spcAft>
                <a:spcPts val="1200"/>
              </a:spcAft>
            </a:pPr>
            <a:r>
              <a:rPr lang="en-US" sz="2200" b="1" dirty="0" smtClean="0">
                <a:latin typeface="Helvetica" pitchFamily="34" charset="0"/>
              </a:rPr>
              <a:t>Seek feedback on the induction &amp; orientation.</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191</a:t>
            </a:fld>
            <a:endParaRPr lang="en-US" dirty="0"/>
          </a:p>
        </p:txBody>
      </p:sp>
      <p:pic>
        <p:nvPicPr>
          <p:cNvPr id="5" name="Picture 4" descr="11111.jpg"/>
          <p:cNvPicPr>
            <a:picLocks noChangeAspect="1"/>
          </p:cNvPicPr>
          <p:nvPr/>
        </p:nvPicPr>
        <p:blipFill>
          <a:blip r:embed="rId3" cstate="print"/>
          <a:stretch>
            <a:fillRect/>
          </a:stretch>
        </p:blipFill>
        <p:spPr>
          <a:xfrm>
            <a:off x="7212654" y="4005064"/>
            <a:ext cx="1647084" cy="2466000"/>
          </a:xfrm>
          <a:prstGeom prst="rect">
            <a:avLst/>
          </a:prstGeom>
        </p:spPr>
      </p:pic>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Reviews of induction &amp; orientations:</a:t>
            </a:r>
          </a:p>
          <a:p>
            <a:pPr marL="360000" indent="-360000">
              <a:spcBef>
                <a:spcPts val="600"/>
              </a:spcBef>
              <a:spcAft>
                <a:spcPts val="1200"/>
              </a:spcAft>
            </a:pPr>
            <a:r>
              <a:rPr lang="en-US" sz="2200" b="1" dirty="0" smtClean="0">
                <a:latin typeface="Helvetica" pitchFamily="34" charset="0"/>
              </a:rPr>
              <a:t>Should take place regularly or when a need to do so arises</a:t>
            </a:r>
          </a:p>
          <a:p>
            <a:pPr marL="360000" indent="-360000">
              <a:spcBef>
                <a:spcPts val="600"/>
              </a:spcBef>
              <a:spcAft>
                <a:spcPts val="1200"/>
              </a:spcAft>
            </a:pPr>
            <a:r>
              <a:rPr lang="en-US" sz="2200" b="1" dirty="0" smtClean="0">
                <a:latin typeface="Helvetica" pitchFamily="34" charset="0"/>
              </a:rPr>
              <a:t>Must result in necessary action being taken</a:t>
            </a:r>
          </a:p>
          <a:p>
            <a:pPr marL="360000" indent="-360000">
              <a:spcBef>
                <a:spcPts val="600"/>
              </a:spcBef>
              <a:spcAft>
                <a:spcPts val="1200"/>
              </a:spcAft>
              <a:buNone/>
            </a:pPr>
            <a:r>
              <a:rPr lang="en-US" sz="2200" b="1" dirty="0" smtClean="0">
                <a:latin typeface="Helvetica" pitchFamily="34" charset="0"/>
              </a:rPr>
              <a:t>(continue)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192</a:t>
            </a:fld>
            <a:endParaRPr lang="en-US" dirty="0"/>
          </a:p>
        </p:txBody>
      </p:sp>
      <p:pic>
        <p:nvPicPr>
          <p:cNvPr id="5" name="Picture 4" descr="Events 4.bmp"/>
          <p:cNvPicPr>
            <a:picLocks noChangeAspect="1"/>
          </p:cNvPicPr>
          <p:nvPr/>
        </p:nvPicPr>
        <p:blipFill>
          <a:blip r:embed="rId3" cstate="print"/>
          <a:stretch>
            <a:fillRect/>
          </a:stretch>
        </p:blipFill>
        <p:spPr>
          <a:xfrm>
            <a:off x="5436096" y="4149080"/>
            <a:ext cx="3080522" cy="1933444"/>
          </a:xfrm>
          <a:prstGeom prst="rect">
            <a:avLst/>
          </a:prstGeom>
        </p:spPr>
      </p:pic>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Should solicit input from all those involved in the conduct of the sessions</a:t>
            </a:r>
          </a:p>
          <a:p>
            <a:pPr marL="360000" indent="-360000">
              <a:spcBef>
                <a:spcPts val="600"/>
              </a:spcBef>
              <a:spcAft>
                <a:spcPts val="1200"/>
              </a:spcAft>
            </a:pPr>
            <a:r>
              <a:rPr lang="en-US" sz="2200" b="1" dirty="0" smtClean="0">
                <a:latin typeface="Helvetica" pitchFamily="34" charset="0"/>
              </a:rPr>
              <a:t>Should consider planning &amp; preparation</a:t>
            </a:r>
          </a:p>
          <a:p>
            <a:pPr marL="360000" indent="-360000">
              <a:spcBef>
                <a:spcPts val="600"/>
              </a:spcBef>
              <a:spcAft>
                <a:spcPts val="1200"/>
              </a:spcAft>
            </a:pPr>
            <a:r>
              <a:rPr lang="en-US" sz="2200" b="1" dirty="0" smtClean="0">
                <a:latin typeface="Helvetica" pitchFamily="34" charset="0"/>
              </a:rPr>
              <a:t>Should consider time allocated</a:t>
            </a:r>
          </a:p>
          <a:p>
            <a:pPr marL="360000" indent="-360000">
              <a:spcBef>
                <a:spcPts val="600"/>
              </a:spcBef>
              <a:spcAft>
                <a:spcPts val="1200"/>
              </a:spcAft>
            </a:pPr>
            <a:r>
              <a:rPr lang="en-US" sz="2200" b="1" dirty="0" smtClean="0">
                <a:latin typeface="Helvetica" pitchFamily="34" charset="0"/>
              </a:rPr>
              <a:t>Should consider timing of session</a:t>
            </a:r>
          </a:p>
          <a:p>
            <a:pPr marL="360000" indent="-360000">
              <a:spcBef>
                <a:spcPts val="600"/>
              </a:spcBef>
              <a:spcAft>
                <a:spcPts val="1200"/>
              </a:spcAft>
              <a:buNone/>
            </a:pPr>
            <a:r>
              <a:rPr lang="en-US" sz="2200" b="1" dirty="0" smtClean="0">
                <a:latin typeface="Helvetica" pitchFamily="34" charset="0"/>
              </a:rPr>
              <a:t>(continue)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193</a:t>
            </a:fld>
            <a:endParaRPr lang="en-US" dirty="0"/>
          </a:p>
        </p:txBody>
      </p:sp>
      <p:pic>
        <p:nvPicPr>
          <p:cNvPr id="5" name="Picture 4" descr="March 2005  503_RT8.TIF"/>
          <p:cNvPicPr>
            <a:picLocks noChangeAspect="1"/>
          </p:cNvPicPr>
          <p:nvPr/>
        </p:nvPicPr>
        <p:blipFill>
          <a:blip r:embed="rId3" cstate="print"/>
          <a:stretch>
            <a:fillRect/>
          </a:stretch>
        </p:blipFill>
        <p:spPr>
          <a:xfrm>
            <a:off x="5364088" y="4005064"/>
            <a:ext cx="3275856" cy="2183904"/>
          </a:xfrm>
          <a:prstGeom prst="rect">
            <a:avLst/>
          </a:prstGeom>
        </p:spPr>
      </p:pic>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Should consider sequence of induction activities</a:t>
            </a:r>
          </a:p>
          <a:p>
            <a:pPr marL="360000" indent="-360000">
              <a:spcBef>
                <a:spcPts val="600"/>
              </a:spcBef>
              <a:spcAft>
                <a:spcPts val="1200"/>
              </a:spcAft>
            </a:pPr>
            <a:r>
              <a:rPr lang="en-US" sz="2200" b="1" dirty="0" smtClean="0">
                <a:latin typeface="Helvetica" pitchFamily="34" charset="0"/>
              </a:rPr>
              <a:t>Should consider content of the induction</a:t>
            </a:r>
          </a:p>
          <a:p>
            <a:pPr marL="360000" indent="-360000">
              <a:spcBef>
                <a:spcPts val="600"/>
              </a:spcBef>
              <a:spcAft>
                <a:spcPts val="1200"/>
              </a:spcAft>
              <a:buNone/>
            </a:pPr>
            <a:r>
              <a:rPr lang="en-US" sz="2200" b="1" dirty="0" smtClean="0">
                <a:latin typeface="Helvetica" pitchFamily="34" charset="0"/>
              </a:rPr>
              <a:t>(continue)</a:t>
            </a:r>
          </a:p>
          <a:p>
            <a:pPr marL="360000" indent="-360000">
              <a:spcBef>
                <a:spcPts val="600"/>
              </a:spcBef>
              <a:spcAft>
                <a:spcPts val="1200"/>
              </a:spcAft>
              <a:buNone/>
            </a:pP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194</a:t>
            </a:fld>
            <a:endParaRPr lang="en-US" dirty="0"/>
          </a:p>
        </p:txBody>
      </p:sp>
      <p:pic>
        <p:nvPicPr>
          <p:cNvPr id="6" name="Picture 5" descr="Events.JPG"/>
          <p:cNvPicPr>
            <a:picLocks noChangeAspect="1"/>
          </p:cNvPicPr>
          <p:nvPr/>
        </p:nvPicPr>
        <p:blipFill>
          <a:blip r:embed="rId3" cstate="print"/>
          <a:stretch>
            <a:fillRect/>
          </a:stretch>
        </p:blipFill>
        <p:spPr>
          <a:xfrm>
            <a:off x="5076056" y="3861048"/>
            <a:ext cx="3487835" cy="2316547"/>
          </a:xfrm>
          <a:prstGeom prst="rect">
            <a:avLst/>
          </a:prstGeom>
        </p:spPr>
      </p:pic>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the induction &amp; orientation session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b="1" dirty="0" smtClean="0">
                <a:latin typeface="Helvetica" pitchFamily="34" charset="0"/>
              </a:rPr>
              <a:t>Should consider items distributed as part of the session</a:t>
            </a:r>
          </a:p>
          <a:p>
            <a:pPr marL="360000" indent="-360000">
              <a:spcBef>
                <a:spcPts val="600"/>
              </a:spcBef>
              <a:spcAft>
                <a:spcPts val="1200"/>
              </a:spcAft>
            </a:pPr>
            <a:r>
              <a:rPr lang="en-US" sz="2200" b="1" dirty="0" smtClean="0">
                <a:latin typeface="Helvetica" pitchFamily="34" charset="0"/>
              </a:rPr>
              <a:t>Should consider the people conducting the session</a:t>
            </a:r>
          </a:p>
          <a:p>
            <a:pPr marL="360000" indent="-360000">
              <a:spcBef>
                <a:spcPts val="600"/>
              </a:spcBef>
              <a:spcAft>
                <a:spcPts val="1200"/>
              </a:spcAft>
            </a:pPr>
            <a:r>
              <a:rPr lang="en-US" sz="2200" b="1" dirty="0" smtClean="0">
                <a:latin typeface="Helvetica" pitchFamily="34" charset="0"/>
              </a:rPr>
              <a:t>Should consider new employees feedback.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195</a:t>
            </a:fld>
            <a:endParaRPr lang="en-US" dirty="0"/>
          </a:p>
        </p:txBody>
      </p:sp>
      <p:pic>
        <p:nvPicPr>
          <p:cNvPr id="6" name="Picture 5" descr="MP900422989[1].JPG"/>
          <p:cNvPicPr>
            <a:picLocks noChangeAspect="1"/>
          </p:cNvPicPr>
          <p:nvPr/>
        </p:nvPicPr>
        <p:blipFill>
          <a:blip r:embed="rId3" cstate="print"/>
          <a:stretch>
            <a:fillRect/>
          </a:stretch>
        </p:blipFill>
        <p:spPr>
          <a:xfrm>
            <a:off x="6732240" y="3844298"/>
            <a:ext cx="1827357" cy="2365630"/>
          </a:xfrm>
          <a:prstGeom prst="rect">
            <a:avLst/>
          </a:prstGeom>
        </p:spPr>
      </p:pic>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When implementing induction &amp; orientation session or program:</a:t>
            </a:r>
          </a:p>
          <a:p>
            <a:r>
              <a:rPr lang="en-AU" sz="2200" b="1" dirty="0" smtClean="0">
                <a:latin typeface="Helvetica" pitchFamily="34" charset="0"/>
              </a:rPr>
              <a:t>Prepare for every session</a:t>
            </a:r>
          </a:p>
          <a:p>
            <a:endParaRPr lang="en-AU" sz="2200" b="1" dirty="0" smtClean="0">
              <a:latin typeface="Helvetica" pitchFamily="34" charset="0"/>
            </a:endParaRPr>
          </a:p>
          <a:p>
            <a:r>
              <a:rPr lang="en-AU" sz="2200" b="1" dirty="0" smtClean="0">
                <a:latin typeface="Helvetica" pitchFamily="34" charset="0"/>
              </a:rPr>
              <a:t>Ensure the induction refects workplace                                     &amp; individual employee need</a:t>
            </a:r>
          </a:p>
          <a:p>
            <a:endParaRPr lang="en-AU" sz="2200" b="1" dirty="0" smtClean="0">
              <a:latin typeface="Helvetica" pitchFamily="34" charset="0"/>
            </a:endParaRPr>
          </a:p>
          <a:p>
            <a:r>
              <a:rPr lang="en-AU" sz="2200" b="1" dirty="0" smtClean="0">
                <a:latin typeface="Helvetica" pitchFamily="34" charset="0"/>
              </a:rPr>
              <a:t>Make sure OHS considerations                                               are addressed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196</a:t>
            </a:fld>
            <a:endParaRPr lang="en-US" dirty="0"/>
          </a:p>
        </p:txBody>
      </p:sp>
      <p:pic>
        <p:nvPicPr>
          <p:cNvPr id="5" name="Picture 4" descr="MP900431692[1].JPG"/>
          <p:cNvPicPr>
            <a:picLocks noChangeAspect="1"/>
          </p:cNvPicPr>
          <p:nvPr/>
        </p:nvPicPr>
        <p:blipFill>
          <a:blip r:embed="rId3" cstate="print"/>
          <a:stretch>
            <a:fillRect/>
          </a:stretch>
        </p:blipFill>
        <p:spPr>
          <a:xfrm>
            <a:off x="6300192" y="4005064"/>
            <a:ext cx="2348880" cy="2348880"/>
          </a:xfrm>
          <a:prstGeom prst="rect">
            <a:avLst/>
          </a:prstGeom>
        </p:spPr>
      </p:pic>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Prepare all necessary paperwork</a:t>
            </a:r>
          </a:p>
          <a:p>
            <a:endParaRPr lang="en-AU" sz="2200" b="1" dirty="0" smtClean="0">
              <a:latin typeface="Helvetica" pitchFamily="34" charset="0"/>
            </a:endParaRPr>
          </a:p>
          <a:p>
            <a:r>
              <a:rPr lang="en-AU" sz="2200" b="1" dirty="0" smtClean="0">
                <a:latin typeface="Helvetica" pitchFamily="34" charset="0"/>
              </a:rPr>
              <a:t>Arrange a tour of the workplace &amp; meetings with key staff</a:t>
            </a:r>
          </a:p>
          <a:p>
            <a:endParaRPr lang="en-AU" sz="2200" b="1" dirty="0" smtClean="0">
              <a:latin typeface="Helvetica" pitchFamily="34" charset="0"/>
            </a:endParaRPr>
          </a:p>
          <a:p>
            <a:r>
              <a:rPr lang="en-AU" sz="2200" b="1" dirty="0" smtClean="0">
                <a:latin typeface="Helvetica" pitchFamily="34" charset="0"/>
              </a:rPr>
              <a:t>Provide a roster, explanation of the company, details of the work required &amp; expectations of the position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197</a:t>
            </a:fld>
            <a:endParaRPr lang="en-US" dirty="0"/>
          </a:p>
        </p:txBody>
      </p:sp>
      <p:pic>
        <p:nvPicPr>
          <p:cNvPr id="5" name="Picture 4" descr="MP900431745[1].JPG"/>
          <p:cNvPicPr>
            <a:picLocks noChangeAspect="1"/>
          </p:cNvPicPr>
          <p:nvPr/>
        </p:nvPicPr>
        <p:blipFill>
          <a:blip r:embed="rId3" cstate="print"/>
          <a:stretch>
            <a:fillRect/>
          </a:stretch>
        </p:blipFill>
        <p:spPr>
          <a:xfrm>
            <a:off x="6372200" y="4509120"/>
            <a:ext cx="2547339" cy="1902544"/>
          </a:xfrm>
          <a:prstGeom prst="rect">
            <a:avLst/>
          </a:prstGeom>
        </p:spPr>
      </p:pic>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r>
              <a:rPr lang="en-AU" sz="2200" b="1" dirty="0" smtClean="0">
                <a:latin typeface="Helvetica" pitchFamily="34" charset="0"/>
              </a:rPr>
              <a:t>Give details of the position</a:t>
            </a:r>
          </a:p>
          <a:p>
            <a:endParaRPr lang="en-AU" sz="2200" b="1" dirty="0" smtClean="0">
              <a:latin typeface="Helvetica" pitchFamily="34" charset="0"/>
            </a:endParaRPr>
          </a:p>
          <a:p>
            <a:r>
              <a:rPr lang="en-AU" sz="2200" b="1" dirty="0" smtClean="0">
                <a:latin typeface="Helvetica" pitchFamily="34" charset="0"/>
              </a:rPr>
              <a:t>Conduct the actual orientation in-line with planning</a:t>
            </a:r>
          </a:p>
          <a:p>
            <a:endParaRPr lang="en-AU" sz="2200" b="1" dirty="0" smtClean="0">
              <a:latin typeface="Helvetica" pitchFamily="34" charset="0"/>
            </a:endParaRPr>
          </a:p>
          <a:p>
            <a:r>
              <a:rPr lang="en-AU" sz="2200" b="1" dirty="0" smtClean="0">
                <a:latin typeface="Helvetica" pitchFamily="34" charset="0"/>
              </a:rPr>
              <a:t>Review induction &amp; orientation sessions.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198</a:t>
            </a:fld>
            <a:endParaRPr lang="en-US" dirty="0"/>
          </a:p>
        </p:txBody>
      </p:sp>
      <p:pic>
        <p:nvPicPr>
          <p:cNvPr id="5" name="Picture 4" descr="MP900442941[1].JPG"/>
          <p:cNvPicPr>
            <a:picLocks noChangeAspect="1"/>
          </p:cNvPicPr>
          <p:nvPr/>
        </p:nvPicPr>
        <p:blipFill>
          <a:blip r:embed="rId3" cstate="print"/>
          <a:stretch>
            <a:fillRect/>
          </a:stretch>
        </p:blipFill>
        <p:spPr>
          <a:xfrm>
            <a:off x="5508104" y="4077072"/>
            <a:ext cx="3234690" cy="215265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Recruit &amp; select staff ASEAN PPT">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Recruit &amp; select staff ASEAN PPT</Template>
  <TotalTime>3927</TotalTime>
  <Words>39997</Words>
  <Application>Microsoft Office PowerPoint</Application>
  <PresentationFormat>On-screen Show (4:3)</PresentationFormat>
  <Paragraphs>3409</Paragraphs>
  <Slides>198</Slides>
  <Notes>198</Notes>
  <HiddenSlides>0</HiddenSlides>
  <MMClips>0</MMClips>
  <ScaleCrop>false</ScaleCrop>
  <HeadingPairs>
    <vt:vector size="4" baseType="variant">
      <vt:variant>
        <vt:lpstr>Theme</vt:lpstr>
      </vt:variant>
      <vt:variant>
        <vt:i4>1</vt:i4>
      </vt:variant>
      <vt:variant>
        <vt:lpstr>Slide Titles</vt:lpstr>
      </vt:variant>
      <vt:variant>
        <vt:i4>198</vt:i4>
      </vt:variant>
    </vt:vector>
  </HeadingPairs>
  <TitlesOfParts>
    <vt:vector size="199" baseType="lpstr">
      <vt:lpstr>Recruit &amp; select staff ASEAN PPT</vt:lpstr>
      <vt:lpstr>RECRUIT AND SELECT STAFF</vt:lpstr>
      <vt:lpstr>Recruit and select staff</vt:lpstr>
      <vt:lpstr>Assessment</vt:lpstr>
      <vt:lpstr>Identify staffing needs</vt:lpstr>
      <vt:lpstr>Identify staffing needs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Obtain &amp; read enterprise staffing policies &amp; procedures</vt:lpstr>
      <vt:lpstr>Identify internal factors that impact on staffing needs</vt:lpstr>
      <vt:lpstr>Identify internal factors that impact on staffing needs</vt:lpstr>
      <vt:lpstr>Identify internal factors that impact on staffing needs</vt:lpstr>
      <vt:lpstr>Identify external factors that impact on staffing needs</vt:lpstr>
      <vt:lpstr>Identify external factors that impact on staffing needs</vt:lpstr>
      <vt:lpstr>Identify external factors that impact on staffing needs</vt:lpstr>
      <vt:lpstr>Identify external factors that impact on staffing needs</vt:lpstr>
      <vt:lpstr>Identify external factors that impact on staffing needs</vt:lpstr>
      <vt:lpstr>Identify external factors that impact on staffing needs</vt:lpstr>
      <vt:lpstr>Identify external factors that impact on staffing needs</vt:lpstr>
      <vt:lpstr>Describe techniques to monitor workplace performance</vt:lpstr>
      <vt:lpstr>Describe techniques to monitor workplace performance</vt:lpstr>
      <vt:lpstr>Describe techniques to monitor workplace performance</vt:lpstr>
      <vt:lpstr>Describe techniques to monitor workplace performance</vt:lpstr>
      <vt:lpstr>Describe techniques to monitor workplace performance</vt:lpstr>
      <vt:lpstr>Describe techniques to monitor workplace performance</vt:lpstr>
      <vt:lpstr>Describe techniques to monitor workplace performance</vt:lpstr>
      <vt:lpstr>Describe techniques to monitor workplace performance</vt:lpstr>
      <vt:lpstr>Describe techniques to monitor workplace performance</vt:lpstr>
      <vt:lpstr>Consult with stakeholders to determine staffing needs</vt:lpstr>
      <vt:lpstr>Consult with stakeholders to determine staffing needs</vt:lpstr>
      <vt:lpstr>Consult with stakeholders to determine staffing needs</vt:lpstr>
      <vt:lpstr>Consult with stakeholders to determine staffing needs</vt:lpstr>
      <vt:lpstr>Consult with stakeholders to determine staffing needs</vt:lpstr>
      <vt:lpstr>Consult with stakeholders to determine staffing needs</vt:lpstr>
      <vt:lpstr>Consult with stakeholders to determine staffing needs</vt:lpstr>
      <vt:lpstr>Consult with stakeholders to determine staffing needs</vt:lpstr>
      <vt:lpstr>Consult with stakeholders to determine staffing needs</vt:lpstr>
      <vt:lpstr>Consult with stakeholders to determine staffing needs</vt:lpstr>
      <vt:lpstr>Describe staffing requirements &amp; locate on organisational chart</vt:lpstr>
      <vt:lpstr>Describe staffing requirements &amp; locate on organisational chart</vt:lpstr>
      <vt:lpstr>Describe staffing requirements &amp; locate on organisational chart</vt:lpstr>
      <vt:lpstr>Describe staffing requirements &amp; locate on organisational chart</vt:lpstr>
      <vt:lpstr>Describe staffing requirements &amp; locate on organisational chart</vt:lpstr>
      <vt:lpstr>Undertake a job analysis of each identified position</vt:lpstr>
      <vt:lpstr>Undertake a job analysis of each identified position</vt:lpstr>
      <vt:lpstr>Undertake a job analysis of each identified position</vt:lpstr>
      <vt:lpstr>Undertake a job analysis of each identified position</vt:lpstr>
      <vt:lpstr>Undertake a job analysis of each identified position</vt:lpstr>
      <vt:lpstr>Prepare job specifications and job descriptions for identified positions</vt:lpstr>
      <vt:lpstr>Prepare job specifications and job descriptions for identified positions</vt:lpstr>
      <vt:lpstr>Prepare job specifications and job descriptions for identified positions</vt:lpstr>
      <vt:lpstr>Prepare job specifications and job descriptions for identified positions</vt:lpstr>
      <vt:lpstr>Prepare job specifications and job descriptions for identified positions</vt:lpstr>
      <vt:lpstr>Prepare job specifications and job descriptions for identified positions</vt:lpstr>
      <vt:lpstr>Prepare job specifications and job descriptions for identified positions</vt:lpstr>
      <vt:lpstr>Summary – Element 1</vt:lpstr>
      <vt:lpstr>Summary – Element 1</vt:lpstr>
      <vt:lpstr>Summary – Element 1</vt:lpstr>
      <vt:lpstr>Summary – Element 1</vt:lpstr>
      <vt:lpstr>Summary – Element 1</vt:lpstr>
      <vt:lpstr>Recruit staff</vt:lpstr>
      <vt:lpstr>Recruit staff</vt:lpstr>
      <vt:lpstr>Identify &amp; quantify positions to be advertised</vt:lpstr>
      <vt:lpstr>Identify &amp; quantify positions to be advertised</vt:lpstr>
      <vt:lpstr>Identify &amp; quantify positions to be advertised</vt:lpstr>
      <vt:lpstr>Identify &amp; quantify positions to be advertised</vt:lpstr>
      <vt:lpstr>Develop key selection criteria for each position to be advertised</vt:lpstr>
      <vt:lpstr>Develop key selection criteria for each position to be advertised</vt:lpstr>
      <vt:lpstr>Develop key selection criteria for each position to be advertised</vt:lpstr>
      <vt:lpstr>Develop key selection criteria for each position to be advertised</vt:lpstr>
      <vt:lpstr>Obtain authority to recruit staff</vt:lpstr>
      <vt:lpstr>Obtain authority to recruit staff</vt:lpstr>
      <vt:lpstr>Obtain authority to recruit staff</vt:lpstr>
      <vt:lpstr>Obtain authority to recruit staff</vt:lpstr>
      <vt:lpstr>Obtain authority to recruit staff</vt:lpstr>
      <vt:lpstr>Obtain authority to recruit staff</vt:lpstr>
      <vt:lpstr>Identify sources of staff</vt:lpstr>
      <vt:lpstr>Identify sources of staff</vt:lpstr>
      <vt:lpstr>Identify sources of staff</vt:lpstr>
      <vt:lpstr>Identify sources of staff</vt:lpstr>
      <vt:lpstr>Identify sources of staff</vt:lpstr>
      <vt:lpstr>Identify sources of staff</vt:lpstr>
      <vt:lpstr>Identify sources of staff</vt:lpstr>
      <vt:lpstr>Develop &amp; lodge job advertisements</vt:lpstr>
      <vt:lpstr>Develop &amp; lodge job advertisements</vt:lpstr>
      <vt:lpstr>Develop &amp; lodge job advertisements</vt:lpstr>
      <vt:lpstr>Develop &amp; lodge job advertisements</vt:lpstr>
      <vt:lpstr>Develop &amp; lodge job advertisements</vt:lpstr>
      <vt:lpstr>Develop &amp; lodge job advertisements</vt:lpstr>
      <vt:lpstr>Develop &amp; lodge job advertisements</vt:lpstr>
      <vt:lpstr>Develop &amp; lodge job advertisements</vt:lpstr>
      <vt:lpstr>Develop &amp; lodge job advertisements</vt:lpstr>
      <vt:lpstr>Develop &amp; lodge job advertisements</vt:lpstr>
      <vt:lpstr>Summary – Element 2</vt:lpstr>
      <vt:lpstr>Summary – Element 2</vt:lpstr>
      <vt:lpstr>Summary – Element 2</vt:lpstr>
      <vt:lpstr>Summary – Element 2</vt:lpstr>
      <vt:lpstr>Interview staff</vt:lpstr>
      <vt:lpstr>Interview staff</vt:lpstr>
      <vt:lpstr>Accept job applications</vt:lpstr>
      <vt:lpstr>Accept job applications</vt:lpstr>
      <vt:lpstr>Accept job applications</vt:lpstr>
      <vt:lpstr>Short-list applicants</vt:lpstr>
      <vt:lpstr>Short-list applicants</vt:lpstr>
      <vt:lpstr>Short-list applicants</vt:lpstr>
      <vt:lpstr>Short-list applicants</vt:lpstr>
      <vt:lpstr>Check references &amp; referees</vt:lpstr>
      <vt:lpstr>Check references &amp; referees</vt:lpstr>
      <vt:lpstr>Check references &amp; referees</vt:lpstr>
      <vt:lpstr>Check references &amp; referees</vt:lpstr>
      <vt:lpstr>Check references &amp; referees</vt:lpstr>
      <vt:lpstr>Check references &amp; referees</vt:lpstr>
      <vt:lpstr>Check references &amp; referees</vt:lpstr>
      <vt:lpstr>Check references &amp; referees</vt:lpstr>
      <vt:lpstr>Notify applicant of interview</vt:lpstr>
      <vt:lpstr>Notify applicant of interview</vt:lpstr>
      <vt:lpstr>Notify applicant of interview</vt:lpstr>
      <vt:lpstr>Conduct job interview</vt:lpstr>
      <vt:lpstr>Conduct job interview</vt:lpstr>
      <vt:lpstr>Conduct job interview</vt:lpstr>
      <vt:lpstr>Conduct job interview</vt:lpstr>
      <vt:lpstr>Conduct job interview</vt:lpstr>
      <vt:lpstr>Conduct job interview</vt:lpstr>
      <vt:lpstr>Conduct job interview</vt:lpstr>
      <vt:lpstr>Conduct job interview</vt:lpstr>
      <vt:lpstr>Conduct job interview</vt:lpstr>
      <vt:lpstr>Conduct job interview</vt:lpstr>
      <vt:lpstr>Conduct job interview</vt:lpstr>
      <vt:lpstr>Conduct job interview</vt:lpstr>
      <vt:lpstr>Conduct job interview</vt:lpstr>
      <vt:lpstr>Conduct job interview</vt:lpstr>
      <vt:lpstr>Conduct job interview</vt:lpstr>
      <vt:lpstr>Apply relevant testing procedures</vt:lpstr>
      <vt:lpstr>Apply relevant testing procedures</vt:lpstr>
      <vt:lpstr>File application &amp; interview documentation</vt:lpstr>
      <vt:lpstr>File application &amp; interview documentation</vt:lpstr>
      <vt:lpstr>File application &amp; interview documentation</vt:lpstr>
      <vt:lpstr>Summary – Element 3</vt:lpstr>
      <vt:lpstr>Summary – Element 3</vt:lpstr>
      <vt:lpstr>Summary – Element 3</vt:lpstr>
      <vt:lpstr>Summary – Element 3</vt:lpstr>
      <vt:lpstr>Summary – Element 3</vt:lpstr>
      <vt:lpstr>Select staff</vt:lpstr>
      <vt:lpstr>Choose successful applicant using pre-defined criteria</vt:lpstr>
      <vt:lpstr>Choose successful applicant using pre-defined criteria</vt:lpstr>
      <vt:lpstr>Choose successful applicant using pre-defined criteria</vt:lpstr>
      <vt:lpstr>Choose successful applicant using pre-defined criteria</vt:lpstr>
      <vt:lpstr>Notify successful applicants &amp; make formal job offer</vt:lpstr>
      <vt:lpstr>Notify successful applicants &amp; make formal job offer</vt:lpstr>
      <vt:lpstr>Notify successful applicants &amp; make formal job offer</vt:lpstr>
      <vt:lpstr>Notify successful applicants &amp; make formal job offer</vt:lpstr>
      <vt:lpstr>Notify successful applicants &amp; make formal job offer</vt:lpstr>
      <vt:lpstr>Notify successful applicants &amp; make formal job offer</vt:lpstr>
      <vt:lpstr>Notify successful applicants &amp; make formal job offer</vt:lpstr>
      <vt:lpstr>Notify unsuccessful applicants</vt:lpstr>
      <vt:lpstr>Notify unsuccessful applicants</vt:lpstr>
      <vt:lpstr>Notify unsuccessful applicants</vt:lpstr>
      <vt:lpstr>Notify unsuccessful applicants</vt:lpstr>
      <vt:lpstr>Follow-up as required</vt:lpstr>
      <vt:lpstr>Follow-up as required</vt:lpstr>
      <vt:lpstr>Follow-up as required</vt:lpstr>
      <vt:lpstr>Summary – Element 4</vt:lpstr>
      <vt:lpstr>Summary – Element 4</vt:lpstr>
      <vt:lpstr>Implement induction &amp; orientation session or program</vt:lpstr>
      <vt:lpstr>Plan the induction &amp; orientation session</vt:lpstr>
      <vt:lpstr>Plan the induction &amp; orientation session</vt:lpstr>
      <vt:lpstr>Plan the induction &amp; orientation session</vt:lpstr>
      <vt:lpstr>Plan the induction &amp; orientation session</vt:lpstr>
      <vt:lpstr>Plan the induction &amp; orientation session</vt:lpstr>
      <vt:lpstr>Plan the induction &amp; orientation session</vt:lpstr>
      <vt:lpstr>Plan the induction &amp; orientation session</vt:lpstr>
      <vt:lpstr>Plan the induction &amp; orientation session</vt:lpstr>
      <vt:lpstr>Plan the induction &amp; orientation session</vt:lpstr>
      <vt:lpstr>Plan the induction &amp; orientation session</vt:lpstr>
      <vt:lpstr>Plan the induction &amp; orientation session</vt:lpstr>
      <vt:lpstr>Plan the induction &amp; orientation session</vt:lpstr>
      <vt:lpstr>Conduct the induction &amp; orientation session</vt:lpstr>
      <vt:lpstr>Conduct the induction &amp; orientation session</vt:lpstr>
      <vt:lpstr>Conduct the induction &amp; orientation session</vt:lpstr>
      <vt:lpstr>Conduct the induction &amp; orientation session</vt:lpstr>
      <vt:lpstr>Review the induction &amp; orientation session</vt:lpstr>
      <vt:lpstr>Review the induction &amp; orientation session</vt:lpstr>
      <vt:lpstr>Review the induction &amp; orientation session</vt:lpstr>
      <vt:lpstr>Review the induction &amp; orientation session</vt:lpstr>
      <vt:lpstr>Summary – Element 5</vt:lpstr>
      <vt:lpstr>Summary – Element 5</vt:lpstr>
      <vt:lpstr>Summary – Element 5</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RECRUIT AND SELECT STAFF</dc:title>
  <dc:creator>Jenny</dc:creator>
  <cp:lastModifiedBy>Kaly Quach</cp:lastModifiedBy>
  <cp:revision>392</cp:revision>
  <dcterms:created xsi:type="dcterms:W3CDTF">2011-06-11T01:57:59Z</dcterms:created>
  <dcterms:modified xsi:type="dcterms:W3CDTF">2014-03-30T23:36:21Z</dcterms:modified>
</cp:coreProperties>
</file>