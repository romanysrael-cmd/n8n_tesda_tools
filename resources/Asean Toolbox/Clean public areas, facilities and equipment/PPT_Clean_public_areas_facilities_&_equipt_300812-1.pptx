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4"/>
  </p:notesMasterIdLst>
  <p:handoutMasterIdLst>
    <p:handoutMasterId r:id="rId185"/>
  </p:handoutMasterIdLst>
  <p:sldIdLst>
    <p:sldId id="256" r:id="rId2"/>
    <p:sldId id="257" r:id="rId3"/>
    <p:sldId id="261" r:id="rId4"/>
    <p:sldId id="258" r:id="rId5"/>
    <p:sldId id="259" r:id="rId6"/>
    <p:sldId id="263" r:id="rId7"/>
    <p:sldId id="260" r:id="rId8"/>
    <p:sldId id="262" r:id="rId9"/>
    <p:sldId id="264" r:id="rId10"/>
    <p:sldId id="268" r:id="rId11"/>
    <p:sldId id="266" r:id="rId12"/>
    <p:sldId id="267" r:id="rId13"/>
    <p:sldId id="265" r:id="rId14"/>
    <p:sldId id="269" r:id="rId15"/>
    <p:sldId id="270" r:id="rId16"/>
    <p:sldId id="271" r:id="rId17"/>
    <p:sldId id="272" r:id="rId18"/>
    <p:sldId id="273" r:id="rId19"/>
    <p:sldId id="274" r:id="rId20"/>
    <p:sldId id="277" r:id="rId21"/>
    <p:sldId id="278" r:id="rId22"/>
    <p:sldId id="279" r:id="rId23"/>
    <p:sldId id="276" r:id="rId24"/>
    <p:sldId id="275" r:id="rId25"/>
    <p:sldId id="280" r:id="rId26"/>
    <p:sldId id="281" r:id="rId27"/>
    <p:sldId id="282" r:id="rId28"/>
    <p:sldId id="283" r:id="rId29"/>
    <p:sldId id="284" r:id="rId30"/>
    <p:sldId id="285" r:id="rId31"/>
    <p:sldId id="286" r:id="rId32"/>
    <p:sldId id="287" r:id="rId33"/>
    <p:sldId id="288" r:id="rId34"/>
    <p:sldId id="289" r:id="rId35"/>
    <p:sldId id="291" r:id="rId36"/>
    <p:sldId id="290"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30" r:id="rId74"/>
    <p:sldId id="329" r:id="rId75"/>
    <p:sldId id="331" r:id="rId76"/>
    <p:sldId id="332" r:id="rId77"/>
    <p:sldId id="333" r:id="rId78"/>
    <p:sldId id="334" r:id="rId79"/>
    <p:sldId id="474" r:id="rId80"/>
    <p:sldId id="475" r:id="rId81"/>
    <p:sldId id="478" r:id="rId82"/>
    <p:sldId id="476"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4" r:id="rId102"/>
    <p:sldId id="353" r:id="rId103"/>
    <p:sldId id="355" r:id="rId104"/>
    <p:sldId id="356" r:id="rId105"/>
    <p:sldId id="357" r:id="rId106"/>
    <p:sldId id="358" r:id="rId107"/>
    <p:sldId id="360" r:id="rId108"/>
    <p:sldId id="361" r:id="rId109"/>
    <p:sldId id="363" r:id="rId110"/>
    <p:sldId id="362" r:id="rId111"/>
    <p:sldId id="364" r:id="rId112"/>
    <p:sldId id="365" r:id="rId113"/>
    <p:sldId id="366" r:id="rId114"/>
    <p:sldId id="367" r:id="rId115"/>
    <p:sldId id="368" r:id="rId116"/>
    <p:sldId id="369" r:id="rId117"/>
    <p:sldId id="371" r:id="rId118"/>
    <p:sldId id="380" r:id="rId119"/>
    <p:sldId id="381" r:id="rId120"/>
    <p:sldId id="382" r:id="rId121"/>
    <p:sldId id="383" r:id="rId122"/>
    <p:sldId id="385" r:id="rId123"/>
    <p:sldId id="386" r:id="rId124"/>
    <p:sldId id="387" r:id="rId125"/>
    <p:sldId id="377" r:id="rId126"/>
    <p:sldId id="379" r:id="rId127"/>
    <p:sldId id="388" r:id="rId128"/>
    <p:sldId id="389" r:id="rId129"/>
    <p:sldId id="390" r:id="rId130"/>
    <p:sldId id="404" r:id="rId131"/>
    <p:sldId id="405" r:id="rId132"/>
    <p:sldId id="391" r:id="rId133"/>
    <p:sldId id="393" r:id="rId134"/>
    <p:sldId id="406" r:id="rId135"/>
    <p:sldId id="407" r:id="rId136"/>
    <p:sldId id="394" r:id="rId137"/>
    <p:sldId id="395" r:id="rId138"/>
    <p:sldId id="408" r:id="rId139"/>
    <p:sldId id="409" r:id="rId140"/>
    <p:sldId id="410" r:id="rId141"/>
    <p:sldId id="411" r:id="rId142"/>
    <p:sldId id="412" r:id="rId143"/>
    <p:sldId id="413" r:id="rId144"/>
    <p:sldId id="414" r:id="rId145"/>
    <p:sldId id="416" r:id="rId146"/>
    <p:sldId id="403" r:id="rId147"/>
    <p:sldId id="417" r:id="rId148"/>
    <p:sldId id="418" r:id="rId149"/>
    <p:sldId id="419" r:id="rId150"/>
    <p:sldId id="420" r:id="rId151"/>
    <p:sldId id="440" r:id="rId152"/>
    <p:sldId id="441" r:id="rId153"/>
    <p:sldId id="423" r:id="rId154"/>
    <p:sldId id="424" r:id="rId155"/>
    <p:sldId id="442" r:id="rId156"/>
    <p:sldId id="443" r:id="rId157"/>
    <p:sldId id="438" r:id="rId158"/>
    <p:sldId id="439" r:id="rId159"/>
    <p:sldId id="444" r:id="rId160"/>
    <p:sldId id="445" r:id="rId161"/>
    <p:sldId id="446" r:id="rId162"/>
    <p:sldId id="449" r:id="rId163"/>
    <p:sldId id="455" r:id="rId164"/>
    <p:sldId id="450" r:id="rId165"/>
    <p:sldId id="451" r:id="rId166"/>
    <p:sldId id="456" r:id="rId167"/>
    <p:sldId id="457" r:id="rId168"/>
    <p:sldId id="453" r:id="rId169"/>
    <p:sldId id="454" r:id="rId170"/>
    <p:sldId id="458" r:id="rId171"/>
    <p:sldId id="459" r:id="rId172"/>
    <p:sldId id="460" r:id="rId173"/>
    <p:sldId id="469" r:id="rId174"/>
    <p:sldId id="461" r:id="rId175"/>
    <p:sldId id="463" r:id="rId176"/>
    <p:sldId id="470" r:id="rId177"/>
    <p:sldId id="471" r:id="rId178"/>
    <p:sldId id="472" r:id="rId179"/>
    <p:sldId id="464" r:id="rId180"/>
    <p:sldId id="467" r:id="rId181"/>
    <p:sldId id="468" r:id="rId182"/>
    <p:sldId id="473" r:id="rId18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06" autoAdjust="0"/>
    <p:restoredTop sz="75838" autoAdjust="0"/>
  </p:normalViewPr>
  <p:slideViewPr>
    <p:cSldViewPr>
      <p:cViewPr varScale="1">
        <p:scale>
          <a:sx n="70" d="100"/>
          <a:sy n="70" d="100"/>
        </p:scale>
        <p:origin x="193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3/12/2015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3005676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3/12/2015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957158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 trainees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904001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an introduction and seven Elements, as listed on this slide and the next slide explaining:</a:t>
            </a:r>
          </a:p>
          <a:p>
            <a:r>
              <a:rPr lang="en-AU" sz="1200" kern="1200" baseline="0" dirty="0" smtClean="0">
                <a:solidFill>
                  <a:schemeClr val="tx1"/>
                </a:solidFill>
                <a:ea typeface="+mn-ea"/>
                <a:cs typeface="+mn-cs"/>
              </a:rPr>
              <a:t>The introduction serves to provide detailed information relating to the cleaning of public areas. </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744306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an introduction and seven Elements, as listed on this slide and the previous slide explaining:</a:t>
            </a:r>
          </a:p>
          <a:p>
            <a:r>
              <a:rPr lang="en-AU" sz="1200" kern="1200" baseline="0" dirty="0" smtClean="0">
                <a:solidFill>
                  <a:schemeClr val="tx1"/>
                </a:solidFill>
                <a:ea typeface="+mn-ea"/>
                <a:cs typeface="+mn-cs"/>
              </a:rPr>
              <a:t>The introduction serves to provide detailed information relating to the cleaning of public areas. </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583659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730609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 ‘public area’?</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Who cleans a ‘public area’?</a:t>
            </a:r>
          </a:p>
          <a:p>
            <a:pPr>
              <a:buFont typeface="Arial" pitchFamily="34" charset="0"/>
              <a:buChar char="•"/>
            </a:pPr>
            <a:r>
              <a:rPr lang="en-AU" sz="1200" kern="1200" baseline="0" dirty="0" smtClean="0">
                <a:solidFill>
                  <a:schemeClr val="tx1"/>
                </a:solidFill>
                <a:ea typeface="+mn-ea"/>
                <a:cs typeface="+mn-cs"/>
              </a:rPr>
              <a:t>What types of cleaning need to be performed?</a:t>
            </a:r>
          </a:p>
          <a:p>
            <a:pPr>
              <a:buFont typeface="Arial" pitchFamily="34" charset="0"/>
              <a:buChar char="•"/>
            </a:pPr>
            <a:r>
              <a:rPr lang="en-AU" sz="1200" kern="1200" baseline="0" dirty="0" smtClean="0">
                <a:solidFill>
                  <a:schemeClr val="tx1"/>
                </a:solidFill>
                <a:ea typeface="+mn-ea"/>
                <a:cs typeface="+mn-cs"/>
              </a:rPr>
              <a:t>What is needed to be able to do this cleaning?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593294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Clarification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The introduction provides detailed information regarding cleaning. It applies to general cleaning.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Hence the introduction is quite extensive.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The elements of competency relates to specific types of cleaning. These will be smaller as they discuss separate cleaning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807104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a:buFont typeface="Arial" pitchFamily="34" charset="0"/>
              <a:buNone/>
            </a:pPr>
            <a:endParaRPr lang="en-US" dirty="0" smtClean="0"/>
          </a:p>
          <a:p>
            <a:pPr>
              <a:buFont typeface="Arial" pitchFamily="34" charset="0"/>
              <a:buNone/>
            </a:pPr>
            <a:r>
              <a:rPr lang="en-US" dirty="0" smtClean="0"/>
              <a:t>Introduce</a:t>
            </a:r>
            <a:r>
              <a:rPr lang="en-US" baseline="0" dirty="0" smtClean="0"/>
              <a:t> the points. These will be covered during the introduction.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665714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a:buFont typeface="Arial" pitchFamily="34" charset="0"/>
              <a:buNone/>
            </a:pPr>
            <a:endParaRPr lang="en-US" dirty="0" smtClean="0"/>
          </a:p>
          <a:p>
            <a:pPr>
              <a:buFont typeface="Arial" pitchFamily="34" charset="0"/>
              <a:buNone/>
            </a:pPr>
            <a:r>
              <a:rPr lang="en-US" dirty="0" smtClean="0"/>
              <a:t>Introduce</a:t>
            </a:r>
            <a:r>
              <a:rPr lang="en-US" baseline="0" dirty="0" smtClean="0"/>
              <a:t> the points. These will be covered during the introduction.</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048337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As a customer, what level of cleanliness do you expect at a hotel?</a:t>
            </a:r>
          </a:p>
          <a:p>
            <a:pPr>
              <a:buFont typeface="Arial" pitchFamily="34" charset="0"/>
              <a:buChar char="•"/>
            </a:pPr>
            <a:r>
              <a:rPr lang="en-AU" sz="1200" b="0" kern="1200" baseline="0" dirty="0" smtClean="0">
                <a:solidFill>
                  <a:schemeClr val="tx1"/>
                </a:solidFill>
                <a:ea typeface="+mn-ea"/>
                <a:cs typeface="+mn-cs"/>
              </a:rPr>
              <a:t>What will you accept and not accept?</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058954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included in each of these terms?</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71845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difference between a ‘private’ and ‘public’ area?</a:t>
            </a:r>
          </a:p>
          <a:p>
            <a:pPr>
              <a:buFont typeface="Arial" pitchFamily="34" charset="0"/>
              <a:buChar char="•"/>
            </a:pPr>
            <a:r>
              <a:rPr lang="en-AU" sz="1200" b="0" kern="1200" baseline="0" dirty="0" smtClean="0">
                <a:solidFill>
                  <a:schemeClr val="tx1"/>
                </a:solidFill>
                <a:ea typeface="+mn-ea"/>
                <a:cs typeface="+mn-cs"/>
              </a:rPr>
              <a:t>What areas are considered ‘private’ and who can access these?</a:t>
            </a:r>
          </a:p>
          <a:p>
            <a:pPr>
              <a:buFont typeface="Arial" pitchFamily="34" charset="0"/>
              <a:buChar char="•"/>
            </a:pPr>
            <a:r>
              <a:rPr lang="en-AU" sz="1200" b="0" kern="1200" baseline="0" dirty="0" smtClean="0">
                <a:solidFill>
                  <a:schemeClr val="tx1"/>
                </a:solidFill>
                <a:ea typeface="+mn-ea"/>
                <a:cs typeface="+mn-cs"/>
              </a:rPr>
              <a:t>What makes the locations in this slide ‘public’ areas?</a:t>
            </a:r>
          </a:p>
          <a:p>
            <a:pPr>
              <a:buFont typeface="Arial" pitchFamily="34" charset="0"/>
              <a:buChar char="•"/>
            </a:pPr>
            <a:r>
              <a:rPr lang="en-AU" sz="1200" b="0" kern="1200" baseline="0" dirty="0" smtClean="0">
                <a:solidFill>
                  <a:schemeClr val="tx1"/>
                </a:solidFill>
                <a:ea typeface="+mn-ea"/>
                <a:cs typeface="+mn-cs"/>
              </a:rPr>
              <a:t>Discuss the types of cleaning and  cleaning expectations to be undertaken in each of these locations.</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697021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makes the locations in this slide ‘public’ areas?</a:t>
            </a:r>
          </a:p>
          <a:p>
            <a:pPr>
              <a:buFont typeface="Arial" pitchFamily="34" charset="0"/>
              <a:buChar char="•"/>
            </a:pPr>
            <a:r>
              <a:rPr lang="en-AU" sz="1200" b="0" kern="1200" baseline="0" dirty="0" smtClean="0">
                <a:solidFill>
                  <a:schemeClr val="tx1"/>
                </a:solidFill>
                <a:ea typeface="+mn-ea"/>
                <a:cs typeface="+mn-cs"/>
              </a:rPr>
              <a:t>Discuss the types of cleaning and  cleaning expectations to be undertaken in each of these locations.</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958260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cleaning activities need to be performed to keep facilities clean?</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073376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Think about a city hotel and a resort.</a:t>
            </a:r>
          </a:p>
          <a:p>
            <a:pPr>
              <a:buFont typeface="Arial" pitchFamily="34" charset="0"/>
              <a:buNone/>
            </a:pPr>
            <a:r>
              <a:rPr lang="en-AU" sz="1200" b="0" kern="1200" baseline="0" dirty="0" smtClean="0">
                <a:solidFill>
                  <a:schemeClr val="tx1"/>
                </a:solidFill>
                <a:ea typeface="+mn-ea"/>
                <a:cs typeface="+mn-cs"/>
              </a:rPr>
              <a:t>In each of these types of establishments:</a:t>
            </a:r>
          </a:p>
          <a:p>
            <a:pPr>
              <a:buFont typeface="Arial" pitchFamily="34" charset="0"/>
              <a:buChar char="•"/>
            </a:pPr>
            <a:r>
              <a:rPr lang="en-AU" sz="1200" b="0" kern="1200" baseline="0" dirty="0" smtClean="0">
                <a:solidFill>
                  <a:schemeClr val="tx1"/>
                </a:solidFill>
                <a:ea typeface="+mn-ea"/>
                <a:cs typeface="+mn-cs"/>
              </a:rPr>
              <a:t>How many of each would exist?</a:t>
            </a:r>
          </a:p>
          <a:p>
            <a:pPr>
              <a:buFont typeface="Arial" pitchFamily="34" charset="0"/>
              <a:buChar char="•"/>
            </a:pPr>
            <a:r>
              <a:rPr lang="en-AU" sz="1200" b="0" kern="1200" baseline="0" dirty="0" smtClean="0">
                <a:solidFill>
                  <a:schemeClr val="tx1"/>
                </a:solidFill>
                <a:ea typeface="+mn-ea"/>
                <a:cs typeface="+mn-cs"/>
              </a:rPr>
              <a:t>Where would they be located?</a:t>
            </a:r>
          </a:p>
          <a:p>
            <a:pPr>
              <a:buFont typeface="Arial" pitchFamily="34" charset="0"/>
              <a:buChar char="•"/>
            </a:pPr>
            <a:r>
              <a:rPr lang="en-AU" sz="1200" b="0" kern="1200" baseline="0" dirty="0" smtClean="0">
                <a:solidFill>
                  <a:schemeClr val="tx1"/>
                </a:solidFill>
                <a:ea typeface="+mn-ea"/>
                <a:cs typeface="+mn-cs"/>
              </a:rPr>
              <a:t>Are they indoors or outdoors?</a:t>
            </a:r>
          </a:p>
          <a:p>
            <a:pPr>
              <a:buFont typeface="Arial" pitchFamily="34" charset="0"/>
              <a:buChar char="•"/>
            </a:pPr>
            <a:r>
              <a:rPr lang="en-AU" sz="1200" b="0" kern="1200" baseline="0" dirty="0" smtClean="0">
                <a:solidFill>
                  <a:schemeClr val="tx1"/>
                </a:solidFill>
                <a:ea typeface="+mn-ea"/>
                <a:cs typeface="+mn-cs"/>
              </a:rPr>
              <a:t>Are they in public view?</a:t>
            </a:r>
          </a:p>
          <a:p>
            <a:pPr>
              <a:buFont typeface="Arial" pitchFamily="34" charset="0"/>
              <a:buChar char="•"/>
            </a:pPr>
            <a:r>
              <a:rPr lang="en-AU" sz="1200" b="0" kern="1200" baseline="0" dirty="0" smtClean="0">
                <a:solidFill>
                  <a:schemeClr val="tx1"/>
                </a:solidFill>
                <a:ea typeface="+mn-ea"/>
                <a:cs typeface="+mn-cs"/>
              </a:rPr>
              <a:t>Who is responsible for cleaning them?</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347347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types of equipment do customers use?</a:t>
            </a:r>
          </a:p>
          <a:p>
            <a:pPr>
              <a:buFont typeface="Arial" pitchFamily="34" charset="0"/>
              <a:buChar char="•"/>
            </a:pPr>
            <a:r>
              <a:rPr lang="en-AU" sz="1200" b="0" kern="1200" baseline="0" dirty="0" smtClean="0">
                <a:solidFill>
                  <a:schemeClr val="tx1"/>
                </a:solidFill>
                <a:ea typeface="+mn-ea"/>
                <a:cs typeface="+mn-cs"/>
              </a:rPr>
              <a:t>How are they cleaned?</a:t>
            </a:r>
          </a:p>
          <a:p>
            <a:pPr>
              <a:buFont typeface="Arial" pitchFamily="34" charset="0"/>
              <a:buChar char="•"/>
            </a:pPr>
            <a:r>
              <a:rPr lang="en-AU" sz="1200" b="0" kern="1200" baseline="0" dirty="0" smtClean="0">
                <a:solidFill>
                  <a:schemeClr val="tx1"/>
                </a:solidFill>
                <a:ea typeface="+mn-ea"/>
                <a:cs typeface="+mn-cs"/>
              </a:rPr>
              <a:t>Who cleans them?</a:t>
            </a:r>
          </a:p>
          <a:p>
            <a:pPr>
              <a:buFont typeface="Arial" pitchFamily="34" charset="0"/>
              <a:buChar char="•"/>
            </a:pPr>
            <a:r>
              <a:rPr lang="en-AU" sz="1200" b="0" kern="1200" baseline="0" dirty="0" smtClean="0">
                <a:solidFill>
                  <a:schemeClr val="tx1"/>
                </a:solidFill>
                <a:ea typeface="+mn-ea"/>
                <a:cs typeface="+mn-cs"/>
              </a:rPr>
              <a:t>When should they be cleaned?</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309148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cleaning equipment exist?</a:t>
            </a:r>
          </a:p>
          <a:p>
            <a:pPr>
              <a:buFont typeface="Arial" pitchFamily="34" charset="0"/>
              <a:buChar char="•"/>
            </a:pPr>
            <a:r>
              <a:rPr lang="en-AU" sz="1200" b="0" kern="1200" baseline="0" dirty="0" smtClean="0">
                <a:solidFill>
                  <a:schemeClr val="tx1"/>
                </a:solidFill>
                <a:ea typeface="+mn-ea"/>
                <a:cs typeface="+mn-cs"/>
              </a:rPr>
              <a:t>What is their purpose?</a:t>
            </a:r>
          </a:p>
          <a:p>
            <a:pPr>
              <a:buFont typeface="Arial" pitchFamily="34" charset="0"/>
              <a:buChar char="•"/>
            </a:pPr>
            <a:r>
              <a:rPr lang="en-AU" sz="1200" b="0" kern="1200" baseline="0" dirty="0" smtClean="0">
                <a:solidFill>
                  <a:schemeClr val="tx1"/>
                </a:solidFill>
                <a:ea typeface="+mn-ea"/>
                <a:cs typeface="+mn-cs"/>
              </a:rPr>
              <a:t>Where can you get these from?</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837845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examples of each?</a:t>
            </a:r>
          </a:p>
          <a:p>
            <a:pPr>
              <a:buFont typeface="Arial" pitchFamily="34" charset="0"/>
              <a:buChar char="•"/>
            </a:pPr>
            <a:r>
              <a:rPr lang="en-AU" sz="1200" b="0" kern="1200" baseline="0" dirty="0" smtClean="0">
                <a:solidFill>
                  <a:schemeClr val="tx1"/>
                </a:solidFill>
                <a:ea typeface="+mn-ea"/>
                <a:cs typeface="+mn-cs"/>
              </a:rPr>
              <a:t>What are the benefits of each?</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75743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US" sz="1200" dirty="0" smtClean="0">
                <a:latin typeface="Helvetica" pitchFamily="34" charset="0"/>
              </a:rPr>
              <a:t>Dusting mops – to clean skirting boards and polished surfaces</a:t>
            </a:r>
            <a:endParaRPr lang="en-AU" sz="1200" dirty="0" smtClean="0">
              <a:latin typeface="Helvetica" pitchFamily="34" charset="0"/>
            </a:endParaRPr>
          </a:p>
          <a:p>
            <a:pPr lvl="0">
              <a:spcBef>
                <a:spcPts val="600"/>
              </a:spcBef>
              <a:spcAft>
                <a:spcPts val="1200"/>
              </a:spcAft>
              <a:buFont typeface="Arial" pitchFamily="34" charset="0"/>
              <a:buChar char="•"/>
            </a:pPr>
            <a:r>
              <a:rPr lang="en-US" sz="1200" dirty="0" smtClean="0">
                <a:latin typeface="Helvetica" pitchFamily="34" charset="0"/>
              </a:rPr>
              <a:t>Polishing mops – for buffing and polishing</a:t>
            </a:r>
            <a:endParaRPr lang="en-AU" sz="1200" dirty="0" smtClean="0">
              <a:latin typeface="Helvetica" pitchFamily="34" charset="0"/>
            </a:endParaRPr>
          </a:p>
          <a:p>
            <a:pPr lvl="0">
              <a:spcBef>
                <a:spcPts val="600"/>
              </a:spcBef>
              <a:spcAft>
                <a:spcPts val="1200"/>
              </a:spcAft>
              <a:buFont typeface="Arial" pitchFamily="34" charset="0"/>
              <a:buChar char="•"/>
            </a:pPr>
            <a:r>
              <a:rPr lang="en-US" sz="1200" dirty="0" smtClean="0">
                <a:latin typeface="Helvetica" pitchFamily="34" charset="0"/>
              </a:rPr>
              <a:t>Washing mops – to wash floor surfaces or apply sealant to floors that have been stripped and need to be re-sealed.</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499367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brush used for?</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7489150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PPE used for?</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136247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PPE used for?</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827925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PPE used for?</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888012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garbage</a:t>
            </a:r>
            <a:r>
              <a:rPr lang="en-AU" sz="1200" baseline="0" dirty="0" smtClean="0">
                <a:latin typeface="Helvetica" pitchFamily="34" charset="0"/>
              </a:rPr>
              <a:t> receptacles are there?</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often are they cleaned?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Who does this?</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Is recycling options available?</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8219287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each type of equipment used for?</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384913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the purpose of each type of electrical equipment listed in this slide.</a:t>
            </a:r>
          </a:p>
          <a:p>
            <a:pPr lvl="0">
              <a:spcBef>
                <a:spcPts val="600"/>
              </a:spcBef>
              <a:spcAft>
                <a:spcPts val="1200"/>
              </a:spcAft>
              <a:buFont typeface="Arial" pitchFamily="34" charset="0"/>
              <a:buChar char="•"/>
            </a:pPr>
            <a:endParaRPr lang="en-AU" sz="1200" dirty="0" smtClean="0">
              <a:latin typeface="Helvetica" pitchFamily="34" charset="0"/>
            </a:endParaRPr>
          </a:p>
          <a:p>
            <a:pPr lvl="0">
              <a:spcBef>
                <a:spcPts val="600"/>
              </a:spcBef>
              <a:spcAft>
                <a:spcPts val="1200"/>
              </a:spcAft>
              <a:buFont typeface="Arial" pitchFamily="34" charset="0"/>
              <a:buNone/>
            </a:pPr>
            <a:r>
              <a:rPr lang="en-AU" sz="1200" b="0" kern="1200" baseline="0" dirty="0" smtClean="0">
                <a:solidFill>
                  <a:schemeClr val="tx1"/>
                </a:solidFill>
                <a:latin typeface="Helvetica" pitchFamily="34" charset="0"/>
                <a:ea typeface="+mn-ea"/>
                <a:cs typeface="+mn-cs"/>
              </a:rPr>
              <a:t>Trainer may get the audience to conduct a research exercise to:</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Get a detailed description (also refer to the manual notes)</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Identify the benefits</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Identify the different types available</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Identify where these can be obtained?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much these cost?</a:t>
            </a:r>
          </a:p>
          <a:p>
            <a:pPr lvl="0">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656285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Not only is equipment needed in public areas, attendants</a:t>
            </a:r>
            <a:r>
              <a:rPr lang="en-AU" sz="1200" baseline="0" dirty="0" smtClean="0">
                <a:latin typeface="Helvetica" pitchFamily="34" charset="0"/>
              </a:rPr>
              <a:t> must also replace essential toiletries as well.</a:t>
            </a:r>
            <a:endParaRPr lang="en-AU" sz="1200" dirty="0" smtClean="0">
              <a:latin typeface="Helvetica" pitchFamily="34" charset="0"/>
            </a:endParaRPr>
          </a:p>
          <a:p>
            <a:pPr lvl="0">
              <a:spcBef>
                <a:spcPts val="600"/>
              </a:spcBef>
              <a:spcAft>
                <a:spcPts val="1200"/>
              </a:spcAft>
              <a:buFont typeface="Arial" pitchFamily="34" charset="0"/>
              <a:buChar char="•"/>
            </a:pPr>
            <a:r>
              <a:rPr lang="en-AU" sz="1200" b="0" kern="1200" baseline="0" dirty="0" smtClean="0">
                <a:solidFill>
                  <a:schemeClr val="tx1"/>
                </a:solidFill>
                <a:ea typeface="+mn-ea"/>
                <a:cs typeface="+mn-cs"/>
              </a:rPr>
              <a:t>Where are these items required?</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998187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b="0" kern="1200" baseline="0" dirty="0" smtClean="0">
                <a:solidFill>
                  <a:schemeClr val="tx1"/>
                </a:solidFill>
                <a:ea typeface="+mn-ea"/>
                <a:cs typeface="+mn-cs"/>
              </a:rPr>
              <a:t>How do you control towels in public areas to ensure:</a:t>
            </a:r>
          </a:p>
          <a:p>
            <a:pPr marL="228600" lvl="0" indent="-228600">
              <a:spcBef>
                <a:spcPts val="600"/>
              </a:spcBef>
              <a:spcAft>
                <a:spcPts val="1200"/>
              </a:spcAft>
              <a:buFont typeface="Arial" pitchFamily="34" charset="0"/>
              <a:buAutoNum type="alphaLcParenR"/>
            </a:pPr>
            <a:r>
              <a:rPr lang="en-AU" sz="1200" b="0" kern="1200" baseline="0" dirty="0" smtClean="0">
                <a:solidFill>
                  <a:schemeClr val="tx1"/>
                </a:solidFill>
                <a:ea typeface="+mn-ea"/>
                <a:cs typeface="+mn-cs"/>
              </a:rPr>
              <a:t>They are not stolen?</a:t>
            </a:r>
          </a:p>
          <a:p>
            <a:pPr marL="228600" lvl="0" indent="-228600">
              <a:spcBef>
                <a:spcPts val="600"/>
              </a:spcBef>
              <a:spcAft>
                <a:spcPts val="1200"/>
              </a:spcAft>
              <a:buFont typeface="Arial" pitchFamily="34" charset="0"/>
              <a:buAutoNum type="alphaLcParenR"/>
            </a:pPr>
            <a:r>
              <a:rPr lang="en-AU" sz="1200" b="0" kern="1200" baseline="0" dirty="0" smtClean="0">
                <a:solidFill>
                  <a:schemeClr val="tx1"/>
                </a:solidFill>
                <a:ea typeface="+mn-ea"/>
                <a:cs typeface="+mn-cs"/>
              </a:rPr>
              <a:t>They are returned to the allocated collection point?</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550279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Demonstration</a:t>
            </a:r>
          </a:p>
          <a:p>
            <a:endParaRPr lang="en-AU" sz="1200" b="1" kern="1200" baseline="0" dirty="0" smtClean="0">
              <a:solidFill>
                <a:schemeClr val="tx1"/>
              </a:solidFill>
              <a:ea typeface="+mn-ea"/>
              <a:cs typeface="+mn-cs"/>
            </a:endParaRPr>
          </a:p>
          <a:p>
            <a:pPr marL="228600" lvl="0" indent="-228600">
              <a:spcBef>
                <a:spcPts val="600"/>
              </a:spcBef>
              <a:spcAft>
                <a:spcPts val="1200"/>
              </a:spcAft>
              <a:buFont typeface="Arial" pitchFamily="34" charset="0"/>
              <a:buChar char="•"/>
            </a:pPr>
            <a:r>
              <a:rPr lang="en-AU" sz="1200" b="0" kern="1200" baseline="0" dirty="0" smtClean="0">
                <a:solidFill>
                  <a:schemeClr val="tx1"/>
                </a:solidFill>
                <a:ea typeface="+mn-ea"/>
                <a:cs typeface="+mn-cs"/>
              </a:rPr>
              <a:t>Why is it important to make sure items are clean, ready and safe to use?</a:t>
            </a:r>
          </a:p>
          <a:p>
            <a:pPr marL="228600" lvl="0" indent="-228600">
              <a:spcBef>
                <a:spcPts val="600"/>
              </a:spcBef>
              <a:spcAft>
                <a:spcPts val="1200"/>
              </a:spcAft>
              <a:buFont typeface="Arial" pitchFamily="34" charset="0"/>
              <a:buChar char="•"/>
            </a:pPr>
            <a:r>
              <a:rPr lang="en-AU" sz="1200" b="0" kern="1200" baseline="0" dirty="0" smtClean="0">
                <a:solidFill>
                  <a:schemeClr val="tx1"/>
                </a:solidFill>
                <a:ea typeface="+mn-ea"/>
                <a:cs typeface="+mn-cs"/>
              </a:rPr>
              <a:t>Where can you access manufacturer’s instructions</a:t>
            </a:r>
          </a:p>
          <a:p>
            <a:pPr marL="228600" lvl="0" indent="-228600">
              <a:spcBef>
                <a:spcPts val="600"/>
              </a:spcBef>
              <a:spcAft>
                <a:spcPts val="1200"/>
              </a:spcAft>
              <a:buFont typeface="Arial" pitchFamily="34" charset="0"/>
              <a:buAutoNum type="alphaLcParenR"/>
            </a:pPr>
            <a:endParaRPr lang="en-AU" sz="1200" b="0" kern="1200" baseline="0" dirty="0" smtClean="0">
              <a:solidFill>
                <a:schemeClr val="tx1"/>
              </a:solidFill>
              <a:ea typeface="+mn-ea"/>
              <a:cs typeface="+mn-cs"/>
            </a:endParaRPr>
          </a:p>
          <a:p>
            <a:pPr marL="228600" lvl="0" indent="-228600">
              <a:spcBef>
                <a:spcPts val="600"/>
              </a:spcBef>
              <a:spcAft>
                <a:spcPts val="1200"/>
              </a:spcAft>
              <a:buFont typeface="Arial" pitchFamily="34" charset="0"/>
              <a:buNone/>
            </a:pPr>
            <a:r>
              <a:rPr lang="en-AU" sz="1200" b="0" kern="1200" baseline="0" dirty="0" smtClean="0">
                <a:solidFill>
                  <a:schemeClr val="tx1"/>
                </a:solidFill>
                <a:ea typeface="+mn-ea"/>
                <a:cs typeface="+mn-cs"/>
              </a:rPr>
              <a:t>Trainer to demonstrate how to check an electrical item using manufacturer’s instructions.</a:t>
            </a:r>
          </a:p>
          <a:p>
            <a:pPr marL="228600" lvl="0" indent="-228600">
              <a:spcBef>
                <a:spcPts val="600"/>
              </a:spcBef>
              <a:spcAft>
                <a:spcPts val="1200"/>
              </a:spcAft>
              <a:buFont typeface="Arial" pitchFamily="34" charset="0"/>
              <a:buNone/>
            </a:pPr>
            <a:r>
              <a:rPr lang="en-AU" sz="1200" b="0" kern="1200" baseline="0" dirty="0" smtClean="0">
                <a:solidFill>
                  <a:schemeClr val="tx1"/>
                </a:solidFill>
                <a:ea typeface="+mn-ea"/>
                <a:cs typeface="+mn-cs"/>
              </a:rPr>
              <a:t>Trainer may want to show how to access manufacturer’s instructions via the internet. (if no paper format is available)</a:t>
            </a:r>
          </a:p>
          <a:p>
            <a:pPr marL="228600" lvl="0" indent="-228600">
              <a:spcBef>
                <a:spcPts val="600"/>
              </a:spcBef>
              <a:spcAft>
                <a:spcPts val="1200"/>
              </a:spcAft>
              <a:buFont typeface="Arial" pitchFamily="34" charset="0"/>
              <a:buAutoNum type="alphaLcParenR"/>
            </a:pPr>
            <a:endParaRPr lang="en-AU" sz="1200" b="0" kern="1200" baseline="0" dirty="0" smtClean="0">
              <a:solidFill>
                <a:schemeClr val="tx1"/>
              </a:solidFill>
              <a:ea typeface="+mn-ea"/>
              <a:cs typeface="+mn-cs"/>
            </a:endParaRPr>
          </a:p>
          <a:p>
            <a:pPr marL="228600" lvl="0" indent="-228600">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2533121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Demonstration</a:t>
            </a:r>
          </a:p>
          <a:p>
            <a:endParaRPr lang="en-AU" sz="1200" b="1" kern="1200" baseline="0" dirty="0" smtClean="0">
              <a:solidFill>
                <a:schemeClr val="tx1"/>
              </a:solidFill>
              <a:ea typeface="+mn-ea"/>
              <a:cs typeface="+mn-cs"/>
            </a:endParaRPr>
          </a:p>
          <a:p>
            <a:pPr marL="228600" lvl="0" indent="-228600">
              <a:spcBef>
                <a:spcPts val="600"/>
              </a:spcBef>
              <a:spcAft>
                <a:spcPts val="1200"/>
              </a:spcAft>
              <a:buFont typeface="Arial" pitchFamily="34" charset="0"/>
              <a:buChar char="•"/>
            </a:pPr>
            <a:r>
              <a:rPr lang="en-AU" sz="1200" b="0" kern="1200" baseline="0" dirty="0" smtClean="0">
                <a:solidFill>
                  <a:schemeClr val="tx1"/>
                </a:solidFill>
                <a:ea typeface="+mn-ea"/>
                <a:cs typeface="+mn-cs"/>
              </a:rPr>
              <a:t>How can you do these checks?</a:t>
            </a:r>
          </a:p>
          <a:p>
            <a:pPr marL="228600" lvl="0" indent="-228600">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0960634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Demonstration</a:t>
            </a:r>
          </a:p>
          <a:p>
            <a:endParaRPr lang="en-AU" sz="1200" b="1" kern="1200" baseline="0" dirty="0" smtClean="0">
              <a:solidFill>
                <a:schemeClr val="tx1"/>
              </a:solidFill>
              <a:ea typeface="+mn-ea"/>
              <a:cs typeface="+mn-cs"/>
            </a:endParaRPr>
          </a:p>
          <a:p>
            <a:pPr marL="228600" lvl="0" indent="-228600">
              <a:spcBef>
                <a:spcPts val="600"/>
              </a:spcBef>
              <a:spcAft>
                <a:spcPts val="1200"/>
              </a:spcAft>
              <a:buFont typeface="Arial" pitchFamily="34" charset="0"/>
              <a:buChar char="•"/>
            </a:pPr>
            <a:r>
              <a:rPr lang="en-AU" sz="1200" b="0" kern="1200" baseline="0" dirty="0" smtClean="0">
                <a:solidFill>
                  <a:schemeClr val="tx1"/>
                </a:solidFill>
                <a:ea typeface="+mn-ea"/>
                <a:cs typeface="+mn-cs"/>
              </a:rPr>
              <a:t>What else would you check?</a:t>
            </a:r>
          </a:p>
          <a:p>
            <a:pPr marL="228600" lvl="0" indent="-22860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lvl="0"/>
            <a:r>
              <a:rPr lang="en-US" sz="1200" kern="1200" dirty="0" smtClean="0">
                <a:solidFill>
                  <a:schemeClr val="tx1"/>
                </a:solidFill>
                <a:ea typeface="+mn-ea"/>
                <a:cs typeface="+mn-cs"/>
              </a:rPr>
              <a:t>Equipment does not have any jagged parts, edges that can cause injury.</a:t>
            </a:r>
            <a:endParaRPr lang="en-AU" sz="1200" kern="1200" dirty="0" smtClean="0">
              <a:solidFill>
                <a:schemeClr val="tx1"/>
              </a:solidFill>
              <a:ea typeface="+mn-ea"/>
              <a:cs typeface="+mn-cs"/>
            </a:endParaRPr>
          </a:p>
          <a:p>
            <a:pPr lvl="0"/>
            <a:r>
              <a:rPr lang="en-US" sz="1200" kern="1200" dirty="0" smtClean="0">
                <a:solidFill>
                  <a:schemeClr val="tx1"/>
                </a:solidFill>
                <a:ea typeface="+mn-ea"/>
                <a:cs typeface="+mn-cs"/>
              </a:rPr>
              <a:t>Damage to equipment has not affected its operational safety.</a:t>
            </a:r>
            <a:endParaRPr lang="en-AU" sz="1200" kern="1200" dirty="0" smtClean="0">
              <a:solidFill>
                <a:schemeClr val="tx1"/>
              </a:solidFill>
              <a:ea typeface="+mn-ea"/>
              <a:cs typeface="+mn-cs"/>
            </a:endParaRPr>
          </a:p>
          <a:p>
            <a:pPr lvl="0"/>
            <a:r>
              <a:rPr lang="en-US" sz="1200" kern="1200" dirty="0" smtClean="0">
                <a:solidFill>
                  <a:schemeClr val="tx1"/>
                </a:solidFill>
                <a:ea typeface="+mn-ea"/>
                <a:cs typeface="+mn-cs"/>
              </a:rPr>
              <a:t>Check and clean the exterior of cleaning equipment – to enhance presentation and project a positive image for the company when seen by patrons. Cleaning equipment must be clean itself.</a:t>
            </a:r>
            <a:endParaRPr lang="en-AU" sz="1200" kern="1200" dirty="0" smtClean="0">
              <a:solidFill>
                <a:schemeClr val="tx1"/>
              </a:solidFill>
              <a:ea typeface="+mn-ea"/>
              <a:cs typeface="+mn-cs"/>
            </a:endParaRPr>
          </a:p>
          <a:p>
            <a:pPr lvl="0"/>
            <a:r>
              <a:rPr lang="en-US" sz="1200" kern="1200" dirty="0" smtClean="0">
                <a:solidFill>
                  <a:schemeClr val="tx1"/>
                </a:solidFill>
                <a:ea typeface="+mn-ea"/>
                <a:cs typeface="+mn-cs"/>
              </a:rPr>
              <a:t>Ensure mop head looks presentable - customers will be able to see these if you are working in public areas and may infer a lack of cleanliness in other parts of the establishment. </a:t>
            </a:r>
            <a:endParaRPr lang="en-AU" sz="1200" kern="1200" dirty="0" smtClean="0">
              <a:solidFill>
                <a:schemeClr val="tx1"/>
              </a:solidFill>
              <a:ea typeface="+mn-ea"/>
              <a:cs typeface="+mn-cs"/>
            </a:endParaRPr>
          </a:p>
          <a:p>
            <a:pPr lvl="0"/>
            <a:r>
              <a:rPr lang="en-US" sz="1200" kern="1200" dirty="0" smtClean="0">
                <a:solidFill>
                  <a:schemeClr val="tx1"/>
                </a:solidFill>
                <a:ea typeface="+mn-ea"/>
                <a:cs typeface="+mn-cs"/>
              </a:rPr>
              <a:t>Buckets should be free of leaks, not smelly and have secure handles.</a:t>
            </a:r>
            <a:endParaRPr lang="en-AU" sz="1200" kern="1200" dirty="0" smtClean="0">
              <a:solidFill>
                <a:schemeClr val="tx1"/>
              </a:solidFill>
              <a:ea typeface="+mn-ea"/>
              <a:cs typeface="+mn-cs"/>
            </a:endParaRPr>
          </a:p>
          <a:p>
            <a:pPr lvl="0"/>
            <a:r>
              <a:rPr lang="en-US" sz="1200" kern="1200" dirty="0" smtClean="0">
                <a:solidFill>
                  <a:schemeClr val="tx1"/>
                </a:solidFill>
                <a:ea typeface="+mn-ea"/>
                <a:cs typeface="+mn-cs"/>
              </a:rPr>
              <a:t>Check and clear around the rollers on mop buckets to avoid the build up of debris and fibers from the mop.</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Items to be used need to sufficient in number – you need to have enough cleaning cloths, disposable gloves etc to get the job done.</a:t>
            </a:r>
            <a:endParaRPr lang="en-AU" sz="1200" b="0" kern="1200" baseline="0" dirty="0" smtClean="0">
              <a:solidFill>
                <a:schemeClr val="tx1"/>
              </a:solidFill>
              <a:ea typeface="+mn-ea"/>
              <a:cs typeface="+mn-cs"/>
            </a:endParaRPr>
          </a:p>
          <a:p>
            <a:pPr marL="228600" lvl="0" indent="-228600">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757841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Demonstration</a:t>
            </a:r>
          </a:p>
          <a:p>
            <a:endParaRPr lang="en-AU" sz="1200" b="1" kern="1200" baseline="0" dirty="0" smtClean="0">
              <a:solidFill>
                <a:schemeClr val="tx1"/>
              </a:solidFill>
              <a:ea typeface="+mn-ea"/>
              <a:cs typeface="+mn-cs"/>
            </a:endParaRPr>
          </a:p>
          <a:p>
            <a:pPr marL="228600" lvl="0" indent="-228600">
              <a:spcBef>
                <a:spcPts val="600"/>
              </a:spcBef>
              <a:spcAft>
                <a:spcPts val="1200"/>
              </a:spcAft>
              <a:buFont typeface="Arial" pitchFamily="34" charset="0"/>
              <a:buChar char="•"/>
            </a:pPr>
            <a:r>
              <a:rPr lang="en-AU" sz="1200" b="0" kern="1200" baseline="0" dirty="0" smtClean="0">
                <a:solidFill>
                  <a:schemeClr val="tx1"/>
                </a:solidFill>
                <a:ea typeface="+mn-ea"/>
                <a:cs typeface="+mn-cs"/>
              </a:rPr>
              <a:t>What else would you check?</a:t>
            </a:r>
          </a:p>
          <a:p>
            <a:pPr marL="228600" lvl="0" indent="-22860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Items must be appropriate for task – many instances of damage or injury have resulted from trying to complete a cleaning job without the right tools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Make sure all necessary attachments for vacuum cleaners, polishers and other equipment are taken with you before leaving the cleaning store to enable you to complete the intended task. This saves time and effort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All electrically-powered and battery-powered items must be used strictly in accordance with manufacturer’s instructions. If you don’t know how to use an item either read the instructions or ask an experienced staff member to show you what to do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A standard check with any piece of electrical equipment is to ensure the electrical cord is safe to use – not frayed or broken and with no wires exposed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Make sure any battery-operated equipment is adequately charged before using it. Low battery power can adversely affect cleaning performance and causes time loss when the job has to be interrupted to remedy the situation.</a:t>
            </a:r>
            <a:endParaRPr lang="en-AU" sz="1200" kern="1200" dirty="0" smtClean="0">
              <a:solidFill>
                <a:schemeClr val="tx1"/>
              </a:solidFill>
              <a:ea typeface="+mn-ea"/>
              <a:cs typeface="+mn-cs"/>
            </a:endParaRPr>
          </a:p>
          <a:p>
            <a:pPr marL="228600" lvl="0" indent="-228600">
              <a:spcBef>
                <a:spcPts val="600"/>
              </a:spcBef>
              <a:spcAft>
                <a:spcPts val="1200"/>
              </a:spcAft>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821599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When is the best time to clean public areas to ensure minimal customer inconvenience?</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41441015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else would</a:t>
            </a:r>
            <a:r>
              <a:rPr lang="en-AU" sz="1200" baseline="0" dirty="0" smtClean="0">
                <a:latin typeface="Helvetica" pitchFamily="34" charset="0"/>
              </a:rPr>
              <a:t> you need to consider?</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6754769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areas of a hotel never close?</a:t>
            </a:r>
          </a:p>
          <a:p>
            <a:pPr lvl="0">
              <a:spcBef>
                <a:spcPts val="600"/>
              </a:spcBef>
              <a:spcAft>
                <a:spcPts val="1200"/>
              </a:spcAft>
              <a:buFont typeface="Arial" pitchFamily="34" charset="0"/>
              <a:buChar char="•"/>
            </a:pPr>
            <a:r>
              <a:rPr lang="en-AU" sz="1200" baseline="0" dirty="0" smtClean="0">
                <a:latin typeface="Helvetica" pitchFamily="34" charset="0"/>
              </a:rPr>
              <a:t>When is immediate cleaning required, regardless of how busy an area is?</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can you clean these areas keeping customer inconvenience to a minimum?</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8416342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types of cleaning are noisy? What can you do to reduce the noise?</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types of smells and pollution are created?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What can you do when you have to close an area for cleaning (toilet) which customers need to use?</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7818399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a:t>
            </a:r>
            <a:r>
              <a:rPr lang="en-AU" sz="1200" baseline="0" dirty="0" smtClean="0">
                <a:latin typeface="Helvetica" pitchFamily="34" charset="0"/>
              </a:rPr>
              <a:t> are some examples in delays in cleaning can cause service to be delayed?</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lvl="0"/>
            <a:r>
              <a:rPr lang="en-US" sz="1200" kern="1200" dirty="0" smtClean="0">
                <a:solidFill>
                  <a:schemeClr val="tx1"/>
                </a:solidFill>
                <a:ea typeface="+mn-ea"/>
                <a:cs typeface="+mn-cs"/>
              </a:rPr>
              <a:t>By not accommodating unforeseen operational issues into the sequence in which areas are to be cleaned, or into the extent of cleaning to be provided. For example:</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A dining room due to be cleaned at 9:30PM is still full of in-house guests who are dining there, spending well and enjoying themselves. Go ahead and do other cleaning duties now and return at 11:00PM to do the dining room</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A lobby area due for a full clean is found to be teeming with 300 check-in guests who have just arrived with their luggage on several buses. Just do a spot clean, empty the bins and tidy things up. Leave the vacuum cleaning and scheduled cleaning of the drapes until tomorrow.</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3070793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other ways can you keep customer inconvenience</a:t>
            </a:r>
            <a:r>
              <a:rPr lang="en-AU" sz="1200" baseline="0" dirty="0" smtClean="0">
                <a:latin typeface="Helvetica" pitchFamily="34" charset="0"/>
              </a:rPr>
              <a:t> to a minimum?</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Think back to when you were a customer. What cleaning activities caused an inconvenience? What could be changed?</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9520271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Observation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Trainer to take the audience for a tour around the complex,</a:t>
            </a:r>
            <a:r>
              <a:rPr lang="en-AU" sz="1200" baseline="0" dirty="0" smtClean="0">
                <a:latin typeface="Helvetica" pitchFamily="34" charset="0"/>
              </a:rPr>
              <a:t> especially in public areas, to identify types of hazards in the workplace or hospitality environment.</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5989138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the cause of thee hazards?</a:t>
            </a:r>
          </a:p>
          <a:p>
            <a:pPr lvl="0">
              <a:spcBef>
                <a:spcPts val="600"/>
              </a:spcBef>
              <a:spcAft>
                <a:spcPts val="1200"/>
              </a:spcAft>
              <a:buFont typeface="Arial" pitchFamily="34" charset="0"/>
              <a:buChar char="•"/>
            </a:pPr>
            <a:r>
              <a:rPr lang="en-AU" sz="1200" dirty="0" smtClean="0">
                <a:latin typeface="Helvetica" pitchFamily="34" charset="0"/>
              </a:rPr>
              <a:t>Where are these hazards normally found?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can they prevented?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As a cleaner, how can you remove these hazards?</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086541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lvl="0">
              <a:spcBef>
                <a:spcPts val="600"/>
              </a:spcBef>
              <a:spcAft>
                <a:spcPts val="1200"/>
              </a:spcAft>
              <a:buFont typeface="Arial" pitchFamily="34" charset="0"/>
              <a:buChar char="•"/>
            </a:pPr>
            <a:r>
              <a:rPr lang="en-AU" sz="1200" dirty="0" smtClean="0">
                <a:latin typeface="Helvetica" pitchFamily="34" charset="0"/>
              </a:rPr>
              <a:t>What is the cause of thee hazards?</a:t>
            </a:r>
          </a:p>
          <a:p>
            <a:pPr lvl="0">
              <a:spcBef>
                <a:spcPts val="600"/>
              </a:spcBef>
              <a:spcAft>
                <a:spcPts val="1200"/>
              </a:spcAft>
              <a:buFont typeface="Arial" pitchFamily="34" charset="0"/>
              <a:buChar char="•"/>
            </a:pPr>
            <a:r>
              <a:rPr lang="en-AU" sz="1200" dirty="0" smtClean="0">
                <a:latin typeface="Helvetica" pitchFamily="34" charset="0"/>
              </a:rPr>
              <a:t>Where are these hazards normally found?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How can they prevented?</a:t>
            </a:r>
          </a:p>
          <a:p>
            <a:pPr lvl="0">
              <a:spcBef>
                <a:spcPts val="600"/>
              </a:spcBef>
              <a:spcAft>
                <a:spcPts val="1200"/>
              </a:spcAft>
              <a:buFont typeface="Arial" pitchFamily="34" charset="0"/>
              <a:buChar char="•"/>
            </a:pPr>
            <a:r>
              <a:rPr lang="en-AU" sz="1200" b="0" kern="1200" baseline="0" dirty="0" smtClean="0">
                <a:solidFill>
                  <a:schemeClr val="tx1"/>
                </a:solidFill>
                <a:latin typeface="Helvetica" pitchFamily="34" charset="0"/>
                <a:ea typeface="+mn-ea"/>
                <a:cs typeface="+mn-cs"/>
              </a:rPr>
              <a:t>As a cleaner, how can you remove these hazards?</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4544889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marL="0" marR="0" lvl="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activities</a:t>
            </a:r>
            <a:r>
              <a:rPr lang="en-AU" sz="1200" baseline="0" dirty="0" smtClean="0">
                <a:latin typeface="Helvetica" pitchFamily="34" charset="0"/>
              </a:rPr>
              <a:t> are involved in each of the </a:t>
            </a:r>
            <a:r>
              <a:rPr lang="en-AU" sz="1200" b="0" baseline="0" dirty="0" smtClean="0">
                <a:latin typeface="Helvetica" pitchFamily="34" charset="0"/>
              </a:rPr>
              <a:t>b</a:t>
            </a:r>
            <a:r>
              <a:rPr lang="en-AU" sz="1200" b="0" dirty="0" smtClean="0"/>
              <a:t>asic preparation procedures?</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r>
              <a:rPr lang="en-AU" sz="1200" dirty="0" smtClean="0"/>
              <a:t>When preparing to clean an area the following should be applied where necessary:</a:t>
            </a:r>
          </a:p>
          <a:p>
            <a:pPr lvl="0">
              <a:buFont typeface="Arial" pitchFamily="34" charset="0"/>
              <a:buChar char="•"/>
            </a:pPr>
            <a:r>
              <a:rPr lang="en-US" sz="1200" dirty="0" smtClean="0"/>
              <a:t>Never take chances if you think you may harm or injure yourself, another person or property. Never start a cleaning job if you are concerned for your personal safety. You should also immediately stop any cleaning job where you believe a danger exists</a:t>
            </a:r>
            <a:endParaRPr lang="en-AU" sz="1200" dirty="0" smtClean="0"/>
          </a:p>
          <a:p>
            <a:pPr lvl="0">
              <a:buFont typeface="Arial" pitchFamily="34" charset="0"/>
              <a:buChar char="•"/>
            </a:pPr>
            <a:r>
              <a:rPr lang="en-US" sz="1200" dirty="0" smtClean="0"/>
              <a:t>Make sure you have all the necessary equipment and materials before you start to do the job properly and completely. Some jobs such as stripping and re-sealing a floor can’t be stopped and started</a:t>
            </a:r>
            <a:endParaRPr lang="en-AU" sz="1200" dirty="0" smtClean="0"/>
          </a:p>
          <a:p>
            <a:pPr lvl="0">
              <a:buFont typeface="Arial" pitchFamily="34" charset="0"/>
              <a:buChar char="•"/>
            </a:pPr>
            <a:r>
              <a:rPr lang="en-US" sz="1200" dirty="0" smtClean="0"/>
              <a:t>Move items that pose a hazard, that might get damaged during the cleaning process or get in the way of the cleaning process and slow the job down. Items that may need to be moved or removed may include guest property as well as enterprise assets. </a:t>
            </a:r>
            <a:endParaRPr lang="en-AU" sz="1200" dirty="0" smtClean="0"/>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4981639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marL="0" marR="0" lvl="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activities</a:t>
            </a:r>
            <a:r>
              <a:rPr lang="en-AU" sz="1200" baseline="0" dirty="0" smtClean="0">
                <a:latin typeface="Helvetica" pitchFamily="34" charset="0"/>
              </a:rPr>
              <a:t> are involved in each of the </a:t>
            </a:r>
            <a:r>
              <a:rPr lang="en-AU" sz="1200" b="0" baseline="0" dirty="0" smtClean="0">
                <a:latin typeface="Helvetica" pitchFamily="34" charset="0"/>
              </a:rPr>
              <a:t>b</a:t>
            </a:r>
            <a:r>
              <a:rPr lang="en-AU" sz="1200" b="0" dirty="0" smtClean="0"/>
              <a:t>asic preparation procedures?</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US" sz="1200" dirty="0" smtClean="0"/>
              <a:t>Where items have to be moved to allow the cleaning to be done, the items that have to be moved must be removed to a place that doesn’t cause them to become hazards such as tripping hazards, obstructions in their own right somewhere else</a:t>
            </a:r>
            <a:endParaRPr lang="en-AU" sz="1200" dirty="0" smtClean="0"/>
          </a:p>
          <a:p>
            <a:pPr lvl="0">
              <a:buFont typeface="Arial" pitchFamily="34" charset="0"/>
              <a:buChar char="•"/>
            </a:pPr>
            <a:r>
              <a:rPr lang="en-US" sz="1200" dirty="0" smtClean="0"/>
              <a:t>Ensure the security of any items that have been moved. Keep them in-sight, keep them behind locked doors, put them out of temptation’s way</a:t>
            </a:r>
            <a:endParaRPr lang="en-AU" sz="1200" dirty="0" smtClean="0"/>
          </a:p>
          <a:p>
            <a:pPr lvl="0">
              <a:buFont typeface="Arial" pitchFamily="34" charset="0"/>
              <a:buChar char="•"/>
            </a:pPr>
            <a:r>
              <a:rPr lang="en-US" sz="1200" dirty="0" smtClean="0"/>
              <a:t>Replace items that have been moved when the job has been completed</a:t>
            </a:r>
            <a:endParaRPr lang="en-AU" sz="1200" dirty="0" smtClean="0"/>
          </a:p>
          <a:p>
            <a:pPr lvl="0">
              <a:buFont typeface="Arial" pitchFamily="34" charset="0"/>
              <a:buChar char="•"/>
            </a:pPr>
            <a:r>
              <a:rPr lang="en-US" sz="1200" dirty="0" smtClean="0"/>
              <a:t>Lock doors where necessary to maintain security – if you had to unlock a door at night to enter a bar, a room  then you should lock that door again once you are inside. This is not so much to lock yourself in, but to lock potential offenders, thieves, out</a:t>
            </a:r>
            <a:endParaRPr lang="en-AU" sz="1200" dirty="0" smtClean="0"/>
          </a:p>
          <a:p>
            <a:pPr lvl="0">
              <a:buFont typeface="Arial" pitchFamily="34" charset="0"/>
              <a:buChar char="•"/>
            </a:pPr>
            <a:r>
              <a:rPr lang="en-US" sz="1200" dirty="0" smtClean="0"/>
              <a:t>Turn off alarms when entering an alarmed area.</a:t>
            </a:r>
            <a:endParaRPr lang="en-AU" sz="1200" dirty="0" smtClean="0"/>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1088221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marL="0" marR="0" lvl="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What activities</a:t>
            </a:r>
            <a:r>
              <a:rPr lang="en-AU" sz="1200" baseline="0" dirty="0" smtClean="0">
                <a:latin typeface="Helvetica" pitchFamily="34" charset="0"/>
              </a:rPr>
              <a:t> are involved in each of the </a:t>
            </a:r>
            <a:r>
              <a:rPr lang="en-AU" sz="1200" b="0" dirty="0" smtClean="0"/>
              <a:t>preparatory</a:t>
            </a:r>
            <a:r>
              <a:rPr lang="en-AU" sz="1200" b="0" baseline="0" dirty="0" smtClean="0"/>
              <a:t> cleaning tasks</a:t>
            </a:r>
            <a:r>
              <a:rPr lang="en-AU" sz="1200" b="0" dirty="0" smtClean="0"/>
              <a:t>?</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Moving the cleaning equipment and materials into a position that will enable them to be readily used – close to the job but not interfering with the work that needs to be done</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Walking over the area and picking up any loose rubbish – papers, discarded boxes, large items, by hand and putting them into a rubbish receptacle</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Sweeping the area – to remove dust. In some cases ‘sweeping’ may be the entire cleaning job that needs to be done but in many cases, sweeping can be seen as a preparatory task for others jobs such as wet mopping, stripping etc</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Setting up or assembling any equipment that needs to be put together</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Mixing any chemicals or preparing chemicals and cleaning agents that will be needed</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Deciding where to start the job, the physical direction the work will take and where the job will conclude. This is often vital with cleaning tasks because you often don’t want to walk over surfaces that have just been mopped, re-sealed and you have to make sure you don’t trap your self into a corner. Working from the furthest point back to the entry door is a usual work direction.</a:t>
            </a:r>
            <a:endParaRPr lang="en-AU" sz="1200" kern="120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8141766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marL="0" marR="0" lvl="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dirty="0" smtClean="0">
                <a:latin typeface="Helvetica" pitchFamily="34" charset="0"/>
              </a:rPr>
              <a:t>When should</a:t>
            </a:r>
            <a:r>
              <a:rPr lang="en-AU" sz="1200" baseline="0" dirty="0" smtClean="0">
                <a:latin typeface="Helvetica" pitchFamily="34" charset="0"/>
              </a:rPr>
              <a:t> cleaning signs be used?</a:t>
            </a:r>
          </a:p>
          <a:p>
            <a:pPr marL="0" marR="0" lvl="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baseline="0" dirty="0" smtClean="0">
                <a:latin typeface="Helvetica" pitchFamily="34" charset="0"/>
              </a:rPr>
              <a:t>Where should they be placed?</a:t>
            </a:r>
            <a:endParaRPr lang="en-AU" sz="1200" b="0" dirty="0" smtClean="0"/>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r>
              <a:rPr lang="en-AU" sz="1200" dirty="0" smtClean="0"/>
              <a:t>Signage and barriers serve three purposes:</a:t>
            </a:r>
          </a:p>
          <a:p>
            <a:pPr lvl="0">
              <a:buFont typeface="Arial" pitchFamily="34" charset="0"/>
              <a:buChar char="•"/>
            </a:pPr>
            <a:r>
              <a:rPr lang="en-US" sz="1200" dirty="0" smtClean="0"/>
              <a:t>They warn people of danger – reducing the risk of injury due to slipping</a:t>
            </a:r>
            <a:endParaRPr lang="en-AU" sz="1200" dirty="0" smtClean="0"/>
          </a:p>
          <a:p>
            <a:pPr lvl="0">
              <a:buFont typeface="Arial" pitchFamily="34" charset="0"/>
              <a:buChar char="•"/>
            </a:pPr>
            <a:r>
              <a:rPr lang="en-US" sz="1200" dirty="0" smtClean="0"/>
              <a:t>They help keep people away from the work area – which allows us to work unimpeded and keeps their feet off surfaces that need to dry</a:t>
            </a:r>
            <a:endParaRPr lang="en-AU" sz="1200" dirty="0" smtClean="0"/>
          </a:p>
          <a:p>
            <a:pPr lvl="0">
              <a:buFont typeface="Arial" pitchFamily="34" charset="0"/>
              <a:buChar char="•"/>
            </a:pPr>
            <a:r>
              <a:rPr lang="en-US" sz="1200" dirty="0" smtClean="0"/>
              <a:t>They are evidence that the establishment has discharged its duty of care obligation to others.</a:t>
            </a:r>
            <a:endParaRPr lang="en-AU" sz="1200" dirty="0" smtClean="0"/>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4424248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physical barriers can be used?</a:t>
            </a:r>
          </a:p>
          <a:p>
            <a:pPr>
              <a:buFont typeface="Arial" pitchFamily="34" charset="0"/>
              <a:buChar char="•"/>
            </a:pPr>
            <a:r>
              <a:rPr lang="en-AU" sz="1200" b="0" kern="1200" baseline="0" dirty="0" smtClean="0">
                <a:solidFill>
                  <a:schemeClr val="tx1"/>
                </a:solidFill>
                <a:ea typeface="+mn-ea"/>
                <a:cs typeface="+mn-cs"/>
              </a:rPr>
              <a:t>What other workplace signage may be required?</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r>
              <a:rPr lang="en-AU" sz="1200" dirty="0" smtClean="0"/>
              <a:t>The following points should be followed with reference to barricades and safety signs:</a:t>
            </a:r>
          </a:p>
          <a:p>
            <a:r>
              <a:rPr lang="en-US" sz="1200" dirty="0" smtClean="0"/>
              <a:t>•‘Slippery When Wet’ signs must be used when mopping or working with a slippery surface – there must be sufficient of these signs to provide suitable and adequate warning to anyone who may enter the cleaning area from any direction. They must be sufficient to be ‘readily visible’</a:t>
            </a:r>
            <a:endParaRPr lang="en-AU" sz="1200" dirty="0" smtClean="0"/>
          </a:p>
          <a:p>
            <a:r>
              <a:rPr lang="en-US" sz="1200" dirty="0" smtClean="0"/>
              <a:t>•</a:t>
            </a:r>
            <a:r>
              <a:rPr lang="en-US" sz="1200" baseline="0" dirty="0" smtClean="0"/>
              <a:t> </a:t>
            </a:r>
            <a:r>
              <a:rPr lang="en-US" sz="1200" dirty="0" smtClean="0"/>
              <a:t>During cleaning, ‘Cleaning in Progress’ signs should be posted as a warning to patrons and staff in the same way that Slippery When Wet signs are posted</a:t>
            </a:r>
            <a:endParaRPr lang="en-AU" sz="1200" dirty="0" smtClean="0"/>
          </a:p>
          <a:p>
            <a:r>
              <a:rPr lang="en-US" sz="1200" dirty="0" smtClean="0"/>
              <a:t>•</a:t>
            </a:r>
            <a:r>
              <a:rPr lang="en-US" sz="1200" baseline="0" dirty="0" smtClean="0"/>
              <a:t> </a:t>
            </a:r>
            <a:r>
              <a:rPr lang="en-US" sz="1200" dirty="0" smtClean="0"/>
              <a:t>Physical barriers and physical restraints (purpose-built safety barriers) may be used to restrict access to a site</a:t>
            </a:r>
            <a:endParaRPr lang="en-AU" sz="1200" dirty="0" smtClean="0"/>
          </a:p>
          <a:p>
            <a:r>
              <a:rPr lang="en-US" sz="1200" dirty="0" smtClean="0"/>
              <a:t>•</a:t>
            </a:r>
            <a:r>
              <a:rPr lang="en-US" sz="1200" baseline="0" dirty="0" smtClean="0"/>
              <a:t> </a:t>
            </a:r>
            <a:r>
              <a:rPr lang="en-US" sz="1200" dirty="0" smtClean="0"/>
              <a:t>Locked doors are another practical way of denying access to areas and rooms</a:t>
            </a:r>
            <a:endParaRPr lang="en-AU" sz="1200" dirty="0" smtClean="0"/>
          </a:p>
          <a:p>
            <a:r>
              <a:rPr lang="en-US" sz="1200" dirty="0" smtClean="0"/>
              <a:t>•</a:t>
            </a:r>
            <a:r>
              <a:rPr lang="en-US" sz="1200" baseline="0" dirty="0" smtClean="0"/>
              <a:t> </a:t>
            </a:r>
            <a:r>
              <a:rPr lang="en-US" sz="1200" dirty="0" smtClean="0"/>
              <a:t>Your workplace may have other signage that they require you to erect when cleaning is being done – often the signs that are available will depend on the company from whom they were bought.</a:t>
            </a:r>
            <a:endParaRPr lang="en-AU" sz="1200" dirty="0" smtClean="0"/>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6145804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common examples where people do NOT use equipment correctly? </a:t>
            </a:r>
          </a:p>
          <a:p>
            <a:pPr>
              <a:buFont typeface="Arial" pitchFamily="34" charset="0"/>
              <a:buChar char="•"/>
            </a:pPr>
            <a:r>
              <a:rPr lang="en-AU" sz="1200" b="0" kern="1200" baseline="0" dirty="0" smtClean="0">
                <a:solidFill>
                  <a:schemeClr val="tx1"/>
                </a:solidFill>
                <a:ea typeface="+mn-ea"/>
                <a:cs typeface="+mn-cs"/>
              </a:rPr>
              <a:t>Why do they do this?</a:t>
            </a:r>
          </a:p>
          <a:p>
            <a:pPr>
              <a:buFont typeface="Arial" pitchFamily="34" charset="0"/>
              <a:buChar char="•"/>
            </a:pPr>
            <a:r>
              <a:rPr lang="en-AU" sz="1200" b="0" kern="1200" baseline="0" dirty="0" smtClean="0">
                <a:solidFill>
                  <a:schemeClr val="tx1"/>
                </a:solidFill>
                <a:ea typeface="+mn-ea"/>
                <a:cs typeface="+mn-cs"/>
              </a:rPr>
              <a:t>How can you ensure staff use equipment correctly?</a:t>
            </a:r>
          </a:p>
          <a:p>
            <a:pPr lvl="0">
              <a:spcBef>
                <a:spcPts val="600"/>
              </a:spcBef>
              <a:spcAft>
                <a:spcPts val="1200"/>
              </a:spcAft>
              <a:buFont typeface="Arial" pitchFamily="34" charset="0"/>
              <a:buChar char="•"/>
            </a:pPr>
            <a:endParaRPr lang="en-AU" sz="1200" b="0" kern="1200" baseline="0" dirty="0" smtClean="0">
              <a:solidFill>
                <a:schemeClr val="tx1"/>
              </a:solidFill>
              <a:ea typeface="+mn-ea"/>
              <a:cs typeface="+mn-cs"/>
            </a:endParaRPr>
          </a:p>
          <a:p>
            <a:pPr lvl="0">
              <a:buFont typeface="Arial" pitchFamily="34" charset="0"/>
              <a:buChar char="•"/>
            </a:pPr>
            <a:r>
              <a:rPr lang="en-US" sz="1200" dirty="0" smtClean="0"/>
              <a:t>Don’t use an ordinary vacuum cleaner to soak or clear away liquid – you must use one that is classified as a wet vacuum cleaner</a:t>
            </a:r>
            <a:endParaRPr lang="en-AU" sz="1200" dirty="0" smtClean="0"/>
          </a:p>
          <a:p>
            <a:pPr lvl="0">
              <a:buFont typeface="Arial" pitchFamily="34" charset="0"/>
              <a:buChar char="•"/>
            </a:pPr>
            <a:r>
              <a:rPr lang="en-US" sz="1200" dirty="0" smtClean="0"/>
              <a:t>As soon as a fault has been identified it must be reported – not only is this a genuine safety concern, but it may also impact on the effectiveness of the item and render it less than totally efficient</a:t>
            </a:r>
            <a:endParaRPr lang="en-AU" sz="1200" dirty="0" smtClean="0"/>
          </a:p>
          <a:p>
            <a:pPr lvl="0">
              <a:buFont typeface="Arial" pitchFamily="34" charset="0"/>
              <a:buChar char="•"/>
            </a:pPr>
            <a:r>
              <a:rPr lang="en-US" sz="1200" dirty="0" smtClean="0"/>
              <a:t>The right equipment should only be used on the surface it was designed to clean, in accordance with the manufacturer’s instructions – avoid trying to ‘make do’ with what you’ve got: if you need a special item to clean a certain item/area then you should obtain what is needed and not ‘force’ what you have got to do the job</a:t>
            </a:r>
            <a:endParaRPr lang="en-AU" sz="1200" dirty="0" smtClean="0"/>
          </a:p>
          <a:p>
            <a:pPr lvl="0">
              <a:buFont typeface="Arial" pitchFamily="34" charset="0"/>
              <a:buChar char="•"/>
            </a:pPr>
            <a:r>
              <a:rPr lang="en-US" sz="1200" dirty="0" smtClean="0"/>
              <a:t>Follow manufacturer’s instructions.</a:t>
            </a:r>
            <a:endParaRPr lang="en-AU" sz="1200" b="0" kern="1200" baseline="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0206081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Employer responsibilities</a:t>
            </a:r>
          </a:p>
          <a:p>
            <a:r>
              <a:rPr lang="en-AU" sz="1200" kern="1200" dirty="0" smtClean="0">
                <a:solidFill>
                  <a:schemeClr val="tx1"/>
                </a:solidFill>
                <a:ea typeface="+mn-ea"/>
                <a:cs typeface="+mn-cs"/>
              </a:rPr>
              <a:t>Employer OHS responsibilities may include:</a:t>
            </a:r>
          </a:p>
          <a:p>
            <a:pPr lvl="0">
              <a:buFont typeface="Arial" pitchFamily="34" charset="0"/>
              <a:buChar char="•"/>
            </a:pPr>
            <a:r>
              <a:rPr lang="en-US" sz="1200" kern="1200" dirty="0" smtClean="0">
                <a:solidFill>
                  <a:schemeClr val="tx1"/>
                </a:solidFill>
                <a:ea typeface="+mn-ea"/>
                <a:cs typeface="+mn-cs"/>
              </a:rPr>
              <a:t>Providing safety training and clear safety rules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Encouraging a Workplace OHS Committee – the aim of the committee is to identify areas in the workplace where changes should be made so as to create a safer working environment: this may include upgrading equipment, equipment training and safety matters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Maintaining an injury register - so that accidents are logged for insurance and monitoring purposes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Adhering to all workplace agreements that include reference to OHS matters, issues, protection, training, qualified personnel etc.</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1106138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Employee responsibilities</a:t>
            </a:r>
          </a:p>
          <a:p>
            <a:r>
              <a:rPr lang="en-AU" sz="1200" dirty="0" smtClean="0"/>
              <a:t>OHS workplace obligations imposed on staff include:</a:t>
            </a:r>
          </a:p>
          <a:p>
            <a:pPr lvl="0">
              <a:buFont typeface="Arial" pitchFamily="34" charset="0"/>
              <a:buChar char="•"/>
            </a:pPr>
            <a:r>
              <a:rPr lang="en-US" sz="1200" dirty="0" smtClean="0"/>
              <a:t>Working in a way that ensures personal safety, and the safety of others including colleagues and customers – this is a legal responsibility to look after your personal welfare and includes the requirement to avoid engaging in activities that can compromise or jeopardise the safety of others including playing around in the workplace</a:t>
            </a:r>
            <a:endParaRPr lang="en-AU" sz="1200" dirty="0" smtClean="0"/>
          </a:p>
          <a:p>
            <a:pPr lvl="0">
              <a:buFont typeface="Arial" pitchFamily="34" charset="0"/>
              <a:buChar char="•"/>
            </a:pPr>
            <a:r>
              <a:rPr lang="en-US" sz="1200" dirty="0" smtClean="0"/>
              <a:t>Using safety equipment strictly in accordance with the manufacturer’s instructions – which means avoiding taking short-cuts and avoiding the belief that you have found a better way to do things</a:t>
            </a:r>
            <a:endParaRPr lang="en-AU" sz="1200" dirty="0" smtClean="0"/>
          </a:p>
          <a:p>
            <a:pPr lvl="0">
              <a:buFont typeface="Arial" pitchFamily="34" charset="0"/>
              <a:buChar char="•"/>
            </a:pPr>
            <a:r>
              <a:rPr lang="en-US" sz="1200" dirty="0" smtClean="0"/>
              <a:t>Using all personal protective equipment and clothing when and where required and in a correct manner – this means using items such as goggles, masks, gloves, guards every time they are required, no exceptions</a:t>
            </a:r>
            <a:endParaRPr lang="en-AU" sz="1200" dirty="0" smtClean="0"/>
          </a:p>
          <a:p>
            <a:pPr lvl="0">
              <a:buFont typeface="Arial" pitchFamily="34" charset="0"/>
              <a:buChar char="•"/>
            </a:pPr>
            <a:r>
              <a:rPr lang="en-US" sz="1200" dirty="0" smtClean="0"/>
              <a:t>Following all occupational health and safety regulations in-line with establishment requirements. A fundamental for doing this is to know what these requirements are: if you don’t know or aren’t told. Ask!</a:t>
            </a:r>
            <a:endParaRPr lang="en-AU" sz="1200" dirty="0" smtClean="0"/>
          </a:p>
          <a:p>
            <a:pPr lvl="0">
              <a:buFont typeface="Arial" pitchFamily="34" charset="0"/>
              <a:buChar char="•"/>
            </a:pPr>
            <a:r>
              <a:rPr lang="en-US" sz="1200" dirty="0" smtClean="0"/>
              <a:t>Reporting accidents, injuries or illness to the appropriate person – so that help can be provided where needed or appropriate action taken to prevent an accident from occurring where a hazard has been reported, prevent a repeat event occurring, minimise damage, loss or injury</a:t>
            </a:r>
            <a:endParaRPr lang="en-AU" sz="1200" dirty="0" smtClean="0"/>
          </a:p>
          <a:p>
            <a:pPr lvl="0">
              <a:buFont typeface="Arial" pitchFamily="34" charset="0"/>
              <a:buChar char="•"/>
            </a:pPr>
            <a:r>
              <a:rPr lang="en-US" sz="1200" dirty="0" smtClean="0"/>
              <a:t>Reporting any equipment in need of repair.</a:t>
            </a:r>
            <a:endParaRPr lang="en-AU" sz="1200"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812098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legal requirements must staff follow?</a:t>
            </a:r>
          </a:p>
          <a:p>
            <a:pPr>
              <a:buFont typeface="Arial" pitchFamily="34" charset="0"/>
              <a:buChar char="•"/>
            </a:pPr>
            <a:r>
              <a:rPr lang="en-AU" sz="1200" b="0" kern="1200" baseline="0" dirty="0" smtClean="0">
                <a:solidFill>
                  <a:schemeClr val="tx1"/>
                </a:solidFill>
                <a:ea typeface="+mn-ea"/>
                <a:cs typeface="+mn-cs"/>
              </a:rPr>
              <a:t>What organisational responsibilities do staff have in relation to safety in the workplace?</a:t>
            </a:r>
          </a:p>
          <a:p>
            <a:pPr lvl="0">
              <a:buFont typeface="Arial" pitchFamily="34" charset="0"/>
              <a:buChar char="•"/>
            </a:pPr>
            <a:endParaRPr lang="en-AU" sz="1200"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4774125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and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equipment can help assist with manual handling?</a:t>
            </a:r>
          </a:p>
          <a:p>
            <a:pPr>
              <a:buFont typeface="Arial" pitchFamily="34" charset="0"/>
              <a:buChar char="•"/>
            </a:pPr>
            <a:r>
              <a:rPr lang="en-AU" sz="1200" b="0" kern="1200" baseline="0" dirty="0" smtClean="0">
                <a:solidFill>
                  <a:schemeClr val="tx1"/>
                </a:solidFill>
                <a:ea typeface="+mn-ea"/>
                <a:cs typeface="+mn-cs"/>
              </a:rPr>
              <a:t>What techniques should be used to correctly handle items?</a:t>
            </a:r>
          </a:p>
          <a:p>
            <a:pPr>
              <a:buFont typeface="Arial" pitchFamily="34" charset="0"/>
              <a:buNone/>
            </a:pPr>
            <a:r>
              <a:rPr lang="en-AU" sz="1200" b="0" kern="1200" baseline="0" dirty="0" smtClean="0">
                <a:solidFill>
                  <a:schemeClr val="tx1"/>
                </a:solidFill>
                <a:ea typeface="+mn-ea"/>
                <a:cs typeface="+mn-cs"/>
              </a:rPr>
              <a:t>Trainer to demonstrate correct manual handling techniques.</a:t>
            </a:r>
          </a:p>
          <a:p>
            <a:pPr lvl="0">
              <a:buFont typeface="Arial" pitchFamily="34" charset="0"/>
              <a:buChar char="•"/>
            </a:pPr>
            <a:endParaRPr lang="en-AU" sz="1200"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45166525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Key points to remember when engaged in manual handling activities are:</a:t>
            </a:r>
          </a:p>
          <a:p>
            <a:pPr lvl="0">
              <a:buFont typeface="Arial" pitchFamily="34" charset="0"/>
              <a:buChar char="•"/>
            </a:pPr>
            <a:r>
              <a:rPr lang="en-US" sz="1200" dirty="0" smtClean="0"/>
              <a:t>Get a risk assessment done on any job you believe poses a threat or hazard – involve your Health and Safety representatives and Committee. (where applicable)</a:t>
            </a:r>
            <a:endParaRPr lang="en-AU" sz="1200" dirty="0" smtClean="0"/>
          </a:p>
          <a:p>
            <a:pPr lvl="0">
              <a:buFont typeface="Arial" pitchFamily="34" charset="0"/>
              <a:buChar char="•"/>
            </a:pPr>
            <a:r>
              <a:rPr lang="en-US" sz="1200" dirty="0" smtClean="0"/>
              <a:t>Push cleaning trolleys and cleaning equipment; don’t pull it. It is important for you to see where you are going</a:t>
            </a:r>
            <a:endParaRPr lang="en-AU" sz="1200" dirty="0" smtClean="0"/>
          </a:p>
          <a:p>
            <a:pPr lvl="0">
              <a:buFont typeface="Arial" pitchFamily="34" charset="0"/>
              <a:buChar char="•"/>
            </a:pPr>
            <a:r>
              <a:rPr lang="en-US" sz="1200" dirty="0" smtClean="0"/>
              <a:t>Always stock items in their designated place on the trolley - it is best to position heavy items on the bottom to prevent the trolley from overturning. If you are not sure where things go – ask!</a:t>
            </a:r>
            <a:endParaRPr lang="en-AU" sz="1200" dirty="0" smtClean="0"/>
          </a:p>
          <a:p>
            <a:pPr lvl="0">
              <a:buFont typeface="Arial" pitchFamily="34" charset="0"/>
              <a:buChar char="•"/>
            </a:pPr>
            <a:r>
              <a:rPr lang="en-US" sz="1200" dirty="0" smtClean="0"/>
              <a:t>Never lift anything on your own that weighs over 16 kg – this is a recommendation from OHS authorities. There are no maximum weight restrictions as the current approach to workplace safety is to assess every lifting need on an individual basis and use the most appropriate technique depending on the type of load, how far it has to be moved, the size of the load etc. Chemicals can be delivered in drums of 25 litres and 20 </a:t>
            </a:r>
            <a:r>
              <a:rPr lang="en-US" sz="1200" dirty="0" err="1" smtClean="0"/>
              <a:t>kgs</a:t>
            </a:r>
            <a:endParaRPr lang="en-AU" sz="1200" dirty="0" smtClean="0"/>
          </a:p>
          <a:p>
            <a:pPr lvl="0">
              <a:buFont typeface="Arial" pitchFamily="34" charset="0"/>
              <a:buChar char="•"/>
            </a:pPr>
            <a:r>
              <a:rPr lang="en-US" sz="1200" dirty="0" smtClean="0"/>
              <a:t>Be prepared to ask for help when needed – this may be a request for help such as to do a ‘team lift’ or a request for information. You must also be prepared to provide help when required.</a:t>
            </a:r>
            <a:endParaRPr lang="en-AU" sz="1200" dirty="0" smtClean="0"/>
          </a:p>
          <a:p>
            <a:pPr lvl="0">
              <a:buFont typeface="Arial" pitchFamily="34" charset="0"/>
              <a:buChar char="•"/>
            </a:pPr>
            <a:endParaRPr lang="en-AU" sz="1200" dirty="0" smtClean="0"/>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1997373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chemical training is needed?</a:t>
            </a:r>
          </a:p>
          <a:p>
            <a:pPr>
              <a:buFont typeface="Arial" pitchFamily="34" charset="0"/>
              <a:buChar char="•"/>
            </a:pPr>
            <a:r>
              <a:rPr lang="en-AU" sz="1200" b="0" kern="1200" baseline="0" dirty="0" smtClean="0">
                <a:solidFill>
                  <a:schemeClr val="tx1"/>
                </a:solidFill>
                <a:ea typeface="+mn-ea"/>
                <a:cs typeface="+mn-cs"/>
              </a:rPr>
              <a:t>Who should provide this training?</a:t>
            </a:r>
          </a:p>
          <a:p>
            <a:pPr>
              <a:buFont typeface="Arial" pitchFamily="34" charset="0"/>
              <a:buChar char="•"/>
            </a:pPr>
            <a:r>
              <a:rPr lang="en-AU" sz="1200" b="0" kern="1200" baseline="0" dirty="0" smtClean="0">
                <a:solidFill>
                  <a:schemeClr val="tx1"/>
                </a:solidFill>
                <a:ea typeface="+mn-ea"/>
                <a:cs typeface="+mn-cs"/>
              </a:rPr>
              <a:t>What safety equipment is needed when handling chemicals?</a:t>
            </a:r>
          </a:p>
          <a:p>
            <a:pPr>
              <a:buFont typeface="Arial" pitchFamily="34" charset="0"/>
              <a:buChar char="•"/>
            </a:pPr>
            <a:r>
              <a:rPr lang="en-AU" sz="1200" b="0" kern="1200" baseline="0" dirty="0" smtClean="0">
                <a:solidFill>
                  <a:schemeClr val="tx1"/>
                </a:solidFill>
                <a:ea typeface="+mn-ea"/>
                <a:cs typeface="+mn-cs"/>
              </a:rPr>
              <a:t>What protective equipment is helpful when handling chemicals?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4073231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Demonstration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show and explain contents of </a:t>
            </a:r>
            <a:r>
              <a:rPr lang="en-AU" sz="1200" dirty="0" smtClean="0">
                <a:latin typeface="Helvetica" pitchFamily="34" charset="0"/>
              </a:rPr>
              <a:t>Material Safety Data Sheets.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2662065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internet research</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get trainers to:</a:t>
            </a:r>
          </a:p>
          <a:p>
            <a:pPr marL="228600" indent="-228600">
              <a:buFont typeface="Arial" pitchFamily="34" charset="0"/>
              <a:buAutoNum type="alphaLcParenR"/>
            </a:pPr>
            <a:r>
              <a:rPr lang="en-AU" sz="1200" b="0" kern="1200" baseline="0" dirty="0" smtClean="0">
                <a:solidFill>
                  <a:schemeClr val="tx1"/>
                </a:solidFill>
                <a:ea typeface="+mn-ea"/>
                <a:cs typeface="+mn-cs"/>
              </a:rPr>
              <a:t>Conduct internet research on major chemical suppliers</a:t>
            </a:r>
          </a:p>
          <a:p>
            <a:pPr marL="228600" indent="-228600">
              <a:buFont typeface="Arial" pitchFamily="34" charset="0"/>
              <a:buAutoNum type="alphaLcParenR"/>
            </a:pPr>
            <a:r>
              <a:rPr lang="en-AU" sz="1200" b="0" kern="1200" baseline="0" dirty="0" smtClean="0">
                <a:solidFill>
                  <a:schemeClr val="tx1"/>
                </a:solidFill>
                <a:ea typeface="+mn-ea"/>
                <a:cs typeface="+mn-cs"/>
              </a:rPr>
              <a:t>Identify types of chemicals they provide</a:t>
            </a:r>
          </a:p>
          <a:p>
            <a:pPr marL="228600" indent="-228600">
              <a:buFont typeface="Arial" pitchFamily="34" charset="0"/>
              <a:buAutoNum type="alphaLcParenR"/>
            </a:pPr>
            <a:r>
              <a:rPr lang="en-AU" sz="1200" b="0" kern="1200" baseline="0" dirty="0" smtClean="0">
                <a:solidFill>
                  <a:schemeClr val="tx1"/>
                </a:solidFill>
                <a:ea typeface="+mn-ea"/>
                <a:cs typeface="+mn-cs"/>
              </a:rPr>
              <a:t>Prepare a list of chemicals and cleaning agents under each of these headings.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4067503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Which chemicals are usually diluted?</a:t>
            </a:r>
          </a:p>
          <a:p>
            <a:pPr>
              <a:buFont typeface="Arial" pitchFamily="34" charset="0"/>
              <a:buChar char="•"/>
            </a:pPr>
            <a:r>
              <a:rPr lang="en-AU" sz="1200" b="0" kern="1200" baseline="0" dirty="0" smtClean="0">
                <a:solidFill>
                  <a:schemeClr val="tx1"/>
                </a:solidFill>
                <a:ea typeface="+mn-ea"/>
                <a:cs typeface="+mn-cs"/>
              </a:rPr>
              <a:t>What is the ratio of chemical to water?</a:t>
            </a:r>
          </a:p>
          <a:p>
            <a:pPr>
              <a:buFont typeface="Arial" pitchFamily="34" charset="0"/>
              <a:buChar char="•"/>
            </a:pPr>
            <a:r>
              <a:rPr lang="en-AU" sz="1200" b="0" kern="1200" baseline="0" dirty="0" smtClean="0">
                <a:solidFill>
                  <a:schemeClr val="tx1"/>
                </a:solidFill>
                <a:ea typeface="+mn-ea"/>
                <a:cs typeface="+mn-cs"/>
              </a:rPr>
              <a:t>How do you measure ratios?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6781338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Demonstration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show and explain workplace procedures used in hotels in relation to using chemicals.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964761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benefits of using water as a cleaning agent?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0965726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benefits of using soap as a cleaning agent?</a:t>
            </a:r>
          </a:p>
          <a:p>
            <a:pPr>
              <a:buFont typeface="Arial" pitchFamily="34" charset="0"/>
              <a:buChar char="•"/>
            </a:pPr>
            <a:r>
              <a:rPr lang="en-AU" sz="1200" b="0" kern="1200" baseline="0" dirty="0" smtClean="0">
                <a:solidFill>
                  <a:schemeClr val="tx1"/>
                </a:solidFill>
                <a:ea typeface="+mn-ea"/>
                <a:cs typeface="+mn-cs"/>
              </a:rPr>
              <a:t>What do you need to do to remove soap from surfaces?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089168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polishes you use in your everyday life?</a:t>
            </a:r>
          </a:p>
          <a:p>
            <a:pPr>
              <a:buFont typeface="Arial" pitchFamily="34" charset="0"/>
              <a:buChar char="•"/>
            </a:pPr>
            <a:r>
              <a:rPr lang="en-AU" sz="1200" b="0" kern="1200" baseline="0" dirty="0" smtClean="0">
                <a:solidFill>
                  <a:schemeClr val="tx1"/>
                </a:solidFill>
                <a:ea typeface="+mn-ea"/>
                <a:cs typeface="+mn-cs"/>
              </a:rPr>
              <a:t>What polishes do you use in the workplace?</a:t>
            </a:r>
          </a:p>
          <a:p>
            <a:pPr>
              <a:buFont typeface="Arial" pitchFamily="34" charset="0"/>
              <a:buChar char="•"/>
            </a:pPr>
            <a:r>
              <a:rPr lang="en-AU" sz="1200" b="0" kern="1200" baseline="0" dirty="0" smtClean="0">
                <a:solidFill>
                  <a:schemeClr val="tx1"/>
                </a:solidFill>
                <a:ea typeface="+mn-ea"/>
                <a:cs typeface="+mn-cs"/>
              </a:rPr>
              <a:t>What are the benefits of polishes?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2824877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abrasives you use in your everyday life?</a:t>
            </a:r>
          </a:p>
          <a:p>
            <a:pPr>
              <a:buFont typeface="Arial" pitchFamily="34" charset="0"/>
              <a:buChar char="•"/>
            </a:pPr>
            <a:r>
              <a:rPr lang="en-AU" sz="1200" b="0" kern="1200" baseline="0" dirty="0" smtClean="0">
                <a:solidFill>
                  <a:schemeClr val="tx1"/>
                </a:solidFill>
                <a:ea typeface="+mn-ea"/>
                <a:cs typeface="+mn-cs"/>
              </a:rPr>
              <a:t>What abrasives do you use in the workplace?</a:t>
            </a:r>
          </a:p>
          <a:p>
            <a:pPr>
              <a:buFont typeface="Arial" pitchFamily="34" charset="0"/>
              <a:buChar char="•"/>
            </a:pPr>
            <a:r>
              <a:rPr lang="en-AU" sz="1200" b="0" kern="1200" baseline="0" dirty="0" smtClean="0">
                <a:solidFill>
                  <a:schemeClr val="tx1"/>
                </a:solidFill>
                <a:ea typeface="+mn-ea"/>
                <a:cs typeface="+mn-cs"/>
              </a:rPr>
              <a:t>What are the benefits of abrasives?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9531910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abrasives you use in your everyday life?</a:t>
            </a:r>
          </a:p>
          <a:p>
            <a:pPr>
              <a:buFont typeface="Arial" pitchFamily="34" charset="0"/>
              <a:buChar char="•"/>
            </a:pPr>
            <a:r>
              <a:rPr lang="en-AU" sz="1200" b="0" kern="1200" baseline="0" dirty="0" smtClean="0">
                <a:solidFill>
                  <a:schemeClr val="tx1"/>
                </a:solidFill>
                <a:ea typeface="+mn-ea"/>
                <a:cs typeface="+mn-cs"/>
              </a:rPr>
              <a:t>What abrasives do you use in the workplace?</a:t>
            </a:r>
          </a:p>
          <a:p>
            <a:pPr>
              <a:buFont typeface="Arial" pitchFamily="34" charset="0"/>
              <a:buChar char="•"/>
            </a:pPr>
            <a:r>
              <a:rPr lang="en-AU" sz="1200" b="0" kern="1200" baseline="0" dirty="0" smtClean="0">
                <a:solidFill>
                  <a:schemeClr val="tx1"/>
                </a:solidFill>
                <a:ea typeface="+mn-ea"/>
                <a:cs typeface="+mn-cs"/>
              </a:rPr>
              <a:t>What are the benefits of abrasives?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provide examples of each type of detergent as identified in this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7540051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solvents you use in your everyday life?</a:t>
            </a:r>
          </a:p>
          <a:p>
            <a:pPr>
              <a:buFont typeface="Arial" pitchFamily="34" charset="0"/>
              <a:buChar char="•"/>
            </a:pPr>
            <a:r>
              <a:rPr lang="en-AU" sz="1200" b="0" kern="1200" baseline="0" dirty="0" smtClean="0">
                <a:solidFill>
                  <a:schemeClr val="tx1"/>
                </a:solidFill>
                <a:ea typeface="+mn-ea"/>
                <a:cs typeface="+mn-cs"/>
              </a:rPr>
              <a:t>What solvents do you use in the workplace?</a:t>
            </a:r>
          </a:p>
          <a:p>
            <a:pPr>
              <a:buFont typeface="Arial" pitchFamily="34" charset="0"/>
              <a:buChar char="•"/>
            </a:pPr>
            <a:r>
              <a:rPr lang="en-AU" sz="1200" b="0" kern="1200" baseline="0" dirty="0" smtClean="0">
                <a:solidFill>
                  <a:schemeClr val="tx1"/>
                </a:solidFill>
                <a:ea typeface="+mn-ea"/>
                <a:cs typeface="+mn-cs"/>
              </a:rPr>
              <a:t>What are the benefits of solvents?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provide examples of solvents explaining their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55083782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disinfectants you use in your everyday life?</a:t>
            </a:r>
          </a:p>
          <a:p>
            <a:pPr>
              <a:buFont typeface="Arial" pitchFamily="34" charset="0"/>
              <a:buChar char="•"/>
            </a:pPr>
            <a:r>
              <a:rPr lang="en-AU" sz="1200" b="0" kern="1200" baseline="0" dirty="0" smtClean="0">
                <a:solidFill>
                  <a:schemeClr val="tx1"/>
                </a:solidFill>
                <a:ea typeface="+mn-ea"/>
                <a:cs typeface="+mn-cs"/>
              </a:rPr>
              <a:t>What disinfectants do you use in the workplace?</a:t>
            </a:r>
          </a:p>
          <a:p>
            <a:pPr>
              <a:buFont typeface="Arial" pitchFamily="34" charset="0"/>
              <a:buChar char="•"/>
            </a:pPr>
            <a:r>
              <a:rPr lang="en-AU" sz="1200" b="0" kern="1200" baseline="0" dirty="0" smtClean="0">
                <a:solidFill>
                  <a:schemeClr val="tx1"/>
                </a:solidFill>
                <a:ea typeface="+mn-ea"/>
                <a:cs typeface="+mn-cs"/>
              </a:rPr>
              <a:t>What are the benefits of disinfectants?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provide examples of disinfectants explaining their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3444062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deodorisers you use in your everyday life?</a:t>
            </a:r>
          </a:p>
          <a:p>
            <a:pPr>
              <a:buFont typeface="Arial" pitchFamily="34" charset="0"/>
              <a:buChar char="•"/>
            </a:pPr>
            <a:r>
              <a:rPr lang="en-AU" sz="1200" b="0" kern="1200" baseline="0" dirty="0" smtClean="0">
                <a:solidFill>
                  <a:schemeClr val="tx1"/>
                </a:solidFill>
                <a:ea typeface="+mn-ea"/>
                <a:cs typeface="+mn-cs"/>
              </a:rPr>
              <a:t>What deodorisers do you use in the workplace?</a:t>
            </a:r>
          </a:p>
          <a:p>
            <a:pPr>
              <a:buFont typeface="Arial" pitchFamily="34" charset="0"/>
              <a:buChar char="•"/>
            </a:pPr>
            <a:r>
              <a:rPr lang="en-AU" sz="1200" b="0" kern="1200" baseline="0" dirty="0" smtClean="0">
                <a:solidFill>
                  <a:schemeClr val="tx1"/>
                </a:solidFill>
                <a:ea typeface="+mn-ea"/>
                <a:cs typeface="+mn-cs"/>
              </a:rPr>
              <a:t>What are the benefits of deodorisers?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provide examples of deodorisers explaining their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1626314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Demonstration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some specialised cleaning agents you use in your everyday life?</a:t>
            </a:r>
          </a:p>
          <a:p>
            <a:pPr>
              <a:buFont typeface="Arial" pitchFamily="34" charset="0"/>
              <a:buChar char="•"/>
            </a:pPr>
            <a:r>
              <a:rPr lang="en-AU" sz="1200" b="0" kern="1200" baseline="0" dirty="0" smtClean="0">
                <a:solidFill>
                  <a:schemeClr val="tx1"/>
                </a:solidFill>
                <a:ea typeface="+mn-ea"/>
                <a:cs typeface="+mn-cs"/>
              </a:rPr>
              <a:t>What specialised cleaning agents do you use in the workplace?</a:t>
            </a:r>
          </a:p>
          <a:p>
            <a:pPr>
              <a:buFont typeface="Arial" pitchFamily="34" charset="0"/>
              <a:buChar char="•"/>
            </a:pPr>
            <a:r>
              <a:rPr lang="en-AU" sz="1200" b="0" kern="1200" baseline="0" dirty="0" smtClean="0">
                <a:solidFill>
                  <a:schemeClr val="tx1"/>
                </a:solidFill>
                <a:ea typeface="+mn-ea"/>
                <a:cs typeface="+mn-cs"/>
              </a:rPr>
              <a:t>What are the benefits of specialised cleaning agents?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provide examples of specialised cleaning agents explaining their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4330219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and research</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other ways a company can be environmentally friendly?</a:t>
            </a:r>
          </a:p>
          <a:p>
            <a:pPr>
              <a:buFont typeface="Arial" pitchFamily="34" charset="0"/>
              <a:buNone/>
            </a:pPr>
            <a:r>
              <a:rPr lang="en-AU" sz="1200" b="0" kern="1200" baseline="0" dirty="0" smtClean="0">
                <a:solidFill>
                  <a:schemeClr val="tx1"/>
                </a:solidFill>
                <a:ea typeface="+mn-ea"/>
                <a:cs typeface="+mn-cs"/>
              </a:rPr>
              <a:t>The trainer may wish to get the audience to research other environmental trends and make a presentation to the class.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0780721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 and Explanation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equipment and cleaning agents are used to clean each of these surfaces?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The Trainer does not need to go into too much detail. Let the audience know, the specific techniques for cleaning each of these surfaces will be explained in each of the Elements of Competency.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69811544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normal procedure for disposing of garbage?</a:t>
            </a:r>
          </a:p>
          <a:p>
            <a:pPr>
              <a:buFont typeface="Arial" pitchFamily="34" charset="0"/>
              <a:buChar char="•"/>
            </a:pPr>
            <a:r>
              <a:rPr lang="en-AU" sz="1200" b="0" kern="1200" baseline="0" dirty="0" smtClean="0">
                <a:solidFill>
                  <a:schemeClr val="tx1"/>
                </a:solidFill>
                <a:ea typeface="+mn-ea"/>
                <a:cs typeface="+mn-cs"/>
              </a:rPr>
              <a:t>What are common items for recycling and how is this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5253636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types of liquid garbage?</a:t>
            </a:r>
          </a:p>
          <a:p>
            <a:pPr>
              <a:buFont typeface="Arial" pitchFamily="34" charset="0"/>
              <a:buChar char="•"/>
            </a:pPr>
            <a:r>
              <a:rPr lang="en-AU" sz="1200" b="0" kern="1200" baseline="0" dirty="0" smtClean="0">
                <a:solidFill>
                  <a:schemeClr val="tx1"/>
                </a:solidFill>
                <a:ea typeface="+mn-ea"/>
                <a:cs typeface="+mn-cs"/>
              </a:rPr>
              <a:t>How do you dispose of liquid garbage?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5140800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procedures for disposing of chemicals in most hospitality businesses?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2477060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happens if PPE equipment is damaged?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403856579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equipment needs to be cleaned?</a:t>
            </a:r>
          </a:p>
          <a:p>
            <a:pPr>
              <a:buFont typeface="Arial" pitchFamily="34" charset="0"/>
              <a:buChar char="•"/>
            </a:pPr>
            <a:r>
              <a:rPr lang="en-AU" sz="1200" b="0" kern="1200" baseline="0" dirty="0" smtClean="0">
                <a:solidFill>
                  <a:schemeClr val="tx1"/>
                </a:solidFill>
                <a:ea typeface="+mn-ea"/>
                <a:cs typeface="+mn-cs"/>
              </a:rPr>
              <a:t>Who does it?</a:t>
            </a:r>
          </a:p>
          <a:p>
            <a:pPr>
              <a:buFont typeface="Arial" pitchFamily="34" charset="0"/>
              <a:buChar char="•"/>
            </a:pPr>
            <a:r>
              <a:rPr lang="en-AU" sz="1200" b="0" kern="1200" baseline="0" dirty="0" smtClean="0">
                <a:solidFill>
                  <a:schemeClr val="tx1"/>
                </a:solidFill>
                <a:ea typeface="+mn-ea"/>
                <a:cs typeface="+mn-cs"/>
              </a:rPr>
              <a:t>What are the procedures for cleaning equipment after use?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2992821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clean each type of equipment?</a:t>
            </a:r>
          </a:p>
          <a:p>
            <a:pPr>
              <a:buFont typeface="Arial" pitchFamily="34" charset="0"/>
              <a:buChar char="•"/>
            </a:pPr>
            <a:r>
              <a:rPr lang="en-AU" sz="1200" b="0" kern="1200" baseline="0" dirty="0" smtClean="0">
                <a:solidFill>
                  <a:schemeClr val="tx1"/>
                </a:solidFill>
                <a:ea typeface="+mn-ea"/>
                <a:cs typeface="+mn-cs"/>
              </a:rPr>
              <a:t>What else do you need to do to get it ready for the next shift?</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Please refer to the Training manual which identifies how to clean each type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23438250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Where is equipment normally stored?</a:t>
            </a:r>
          </a:p>
          <a:p>
            <a:pPr>
              <a:buFont typeface="Arial" pitchFamily="34" charset="0"/>
              <a:buChar char="•"/>
            </a:pPr>
            <a:r>
              <a:rPr lang="en-AU" sz="1200" b="0" kern="1200" baseline="0" dirty="0" smtClean="0">
                <a:solidFill>
                  <a:schemeClr val="tx1"/>
                </a:solidFill>
                <a:ea typeface="+mn-ea"/>
                <a:cs typeface="+mn-cs"/>
              </a:rPr>
              <a:t>Who has access to this area?</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7616630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Where is equipment normally stored?</a:t>
            </a:r>
          </a:p>
          <a:p>
            <a:pPr>
              <a:buFont typeface="Arial" pitchFamily="34" charset="0"/>
              <a:buChar char="•"/>
            </a:pPr>
            <a:r>
              <a:rPr lang="en-AU" sz="1200" b="0" kern="1200" baseline="0" dirty="0" smtClean="0">
                <a:solidFill>
                  <a:schemeClr val="tx1"/>
                </a:solidFill>
                <a:ea typeface="+mn-ea"/>
                <a:cs typeface="+mn-cs"/>
              </a:rPr>
              <a:t>Who has access to this area?</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52074727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important of each of these guidelines when storing chemicals?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7723269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important of each of these guidelines when storing chemicals?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420107742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important of each of these guidelines when storing chemicals?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42682614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228600" indent="-228600">
              <a:buFont typeface="Arial" pitchFamily="34" charset="0"/>
              <a:buAutoNum type="alphaLcParenBoth"/>
            </a:pPr>
            <a:r>
              <a:rPr lang="en-AU" sz="1200" b="0" kern="1200" baseline="0" dirty="0" smtClean="0">
                <a:solidFill>
                  <a:schemeClr val="tx1"/>
                </a:solidFill>
                <a:ea typeface="+mn-ea"/>
                <a:cs typeface="+mn-cs"/>
              </a:rPr>
              <a:t>Make a list of some of the things a public area cleaner would be expected to do in the gardens.</a:t>
            </a:r>
          </a:p>
          <a:p>
            <a:pPr marL="228600" indent="-228600">
              <a:buFont typeface="Arial" pitchFamily="34" charset="0"/>
              <a:buAutoNum type="alphaLcParenBoth"/>
            </a:pPr>
            <a:r>
              <a:rPr lang="en-AU" sz="1200" b="0" kern="1200" baseline="0" dirty="0" smtClean="0">
                <a:solidFill>
                  <a:schemeClr val="tx1"/>
                </a:solidFill>
                <a:ea typeface="+mn-ea"/>
                <a:cs typeface="+mn-cs"/>
              </a:rPr>
              <a:t>Which of these tasks would be better done by a gardener?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5777071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228600" indent="-228600">
              <a:buFont typeface="Arial" pitchFamily="34" charset="0"/>
              <a:buAutoNum type="alphaLcParenBoth"/>
            </a:pPr>
            <a:r>
              <a:rPr lang="en-AU" sz="1200" b="0" kern="1200" baseline="0" dirty="0" smtClean="0">
                <a:solidFill>
                  <a:schemeClr val="tx1"/>
                </a:solidFill>
                <a:ea typeface="+mn-ea"/>
                <a:cs typeface="+mn-cs"/>
              </a:rPr>
              <a:t>Make a list of some of the things a public area cleaner would be expected to do in the pool area.</a:t>
            </a:r>
          </a:p>
          <a:p>
            <a:pPr marL="228600" indent="-228600">
              <a:buFont typeface="Arial" pitchFamily="34" charset="0"/>
              <a:buAutoNum type="alphaLcParenBoth"/>
            </a:pPr>
            <a:r>
              <a:rPr lang="en-AU" sz="1200" b="0" kern="1200" baseline="0" dirty="0" smtClean="0">
                <a:solidFill>
                  <a:schemeClr val="tx1"/>
                </a:solidFill>
                <a:ea typeface="+mn-ea"/>
                <a:cs typeface="+mn-cs"/>
              </a:rPr>
              <a:t>Which of these tasks would be better done by a pool cleaning contractor?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23989988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pPr marL="228600" indent="-228600">
              <a:buFont typeface="Arial" pitchFamily="34" charset="0"/>
              <a:buNone/>
            </a:pPr>
            <a:endParaRPr lang="en-AU" sz="1200" b="1" kern="1200" baseline="0" dirty="0" smtClean="0">
              <a:solidFill>
                <a:schemeClr val="tx1"/>
              </a:solidFill>
              <a:ea typeface="+mn-ea"/>
              <a:cs typeface="+mn-cs"/>
            </a:endParaRPr>
          </a:p>
          <a:p>
            <a:pPr marL="228600" indent="-228600">
              <a:buFont typeface="Arial" pitchFamily="34" charset="0"/>
              <a:buNone/>
            </a:pPr>
            <a:r>
              <a:rPr lang="en-AU" sz="1200" b="0" kern="1200" baseline="0" dirty="0" smtClean="0">
                <a:solidFill>
                  <a:schemeClr val="tx1"/>
                </a:solidFill>
                <a:ea typeface="+mn-ea"/>
                <a:cs typeface="+mn-cs"/>
              </a:rPr>
              <a:t>Make a list of some of the things a public area cleaner would be expected to do in the car park and driveways areas.</a:t>
            </a:r>
          </a:p>
          <a:p>
            <a:pPr marL="228600" indent="-228600">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57749213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pPr marL="228600" indent="-228600">
              <a:buFont typeface="Arial" pitchFamily="34" charset="0"/>
              <a:buNone/>
            </a:pPr>
            <a:endParaRPr lang="en-AU" sz="1200" b="1" kern="1200" baseline="0" dirty="0" smtClean="0">
              <a:solidFill>
                <a:schemeClr val="tx1"/>
              </a:solidFill>
              <a:ea typeface="+mn-ea"/>
              <a:cs typeface="+mn-cs"/>
            </a:endParaRPr>
          </a:p>
          <a:p>
            <a:pPr marL="228600" indent="-228600">
              <a:buFont typeface="Arial" pitchFamily="34" charset="0"/>
              <a:buNone/>
            </a:pPr>
            <a:r>
              <a:rPr lang="en-AU" sz="1200" b="0" kern="1200" baseline="0" dirty="0" smtClean="0">
                <a:solidFill>
                  <a:schemeClr val="tx1"/>
                </a:solidFill>
                <a:ea typeface="+mn-ea"/>
                <a:cs typeface="+mn-cs"/>
              </a:rPr>
              <a:t>Observe the presence of fire equipment and smoke detectors in the public areas or your workplace or a local hotel.  How many did you see?</a:t>
            </a:r>
          </a:p>
          <a:p>
            <a:pPr marL="228600" indent="-228600">
              <a:buFont typeface="Arial" pitchFamily="34" charset="0"/>
              <a:buNone/>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8809940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AU" sz="1200" b="1" kern="1200" baseline="0" dirty="0" smtClean="0">
                <a:solidFill>
                  <a:schemeClr val="tx1"/>
                </a:solidFill>
                <a:ea typeface="+mn-ea"/>
                <a:cs typeface="+mn-cs"/>
              </a:rPr>
              <a:t>Class Activity – Recap</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The trainer may wise to conduct a recap of the topics covered in this introduction including:</a:t>
            </a:r>
          </a:p>
          <a:p>
            <a:pPr marL="0" indent="0">
              <a:spcBef>
                <a:spcPts val="600"/>
              </a:spcBef>
              <a:spcAft>
                <a:spcPts val="1200"/>
              </a:spcAft>
              <a:buFont typeface="Arial" pitchFamily="34" charset="0"/>
              <a:buChar char="•"/>
            </a:pPr>
            <a:r>
              <a:rPr lang="en-AU" sz="1200" dirty="0" smtClean="0">
                <a:latin typeface="Helvetica" pitchFamily="34" charset="0"/>
              </a:rPr>
              <a:t>Understanding public areas, facilities and equipment</a:t>
            </a:r>
          </a:p>
          <a:p>
            <a:pPr marL="0" indent="0">
              <a:spcBef>
                <a:spcPts val="600"/>
              </a:spcBef>
              <a:spcAft>
                <a:spcPts val="1200"/>
              </a:spcAft>
              <a:buFont typeface="Arial" pitchFamily="34" charset="0"/>
              <a:buChar char="•"/>
            </a:pPr>
            <a:r>
              <a:rPr lang="en-AU" sz="1200" dirty="0" smtClean="0">
                <a:latin typeface="Helvetica" pitchFamily="34" charset="0"/>
              </a:rPr>
              <a:t>Types of cleaning equipment</a:t>
            </a:r>
          </a:p>
          <a:p>
            <a:pPr marL="0" indent="0">
              <a:spcBef>
                <a:spcPts val="600"/>
              </a:spcBef>
              <a:spcAft>
                <a:spcPts val="1200"/>
              </a:spcAft>
              <a:buFont typeface="Arial" pitchFamily="34" charset="0"/>
              <a:buChar char="•"/>
            </a:pPr>
            <a:r>
              <a:rPr lang="en-AU" sz="1200" dirty="0" smtClean="0">
                <a:latin typeface="Helvetica" pitchFamily="34" charset="0"/>
              </a:rPr>
              <a:t>Preparing the work area</a:t>
            </a:r>
          </a:p>
          <a:p>
            <a:pPr marL="0" indent="0">
              <a:spcBef>
                <a:spcPts val="600"/>
              </a:spcBef>
              <a:spcAft>
                <a:spcPts val="1200"/>
              </a:spcAft>
              <a:buFont typeface="Arial" pitchFamily="34" charset="0"/>
              <a:buChar char="•"/>
            </a:pPr>
            <a:r>
              <a:rPr lang="en-AU" sz="1200" dirty="0" smtClean="0">
                <a:latin typeface="Helvetica" pitchFamily="34" charset="0"/>
              </a:rPr>
              <a:t>Using equipment correctly and safely</a:t>
            </a:r>
          </a:p>
          <a:p>
            <a:pPr marL="0" indent="0">
              <a:spcBef>
                <a:spcPts val="600"/>
              </a:spcBef>
              <a:spcAft>
                <a:spcPts val="1200"/>
              </a:spcAft>
              <a:buFont typeface="Arial" pitchFamily="34" charset="0"/>
              <a:buChar char="•"/>
            </a:pPr>
            <a:r>
              <a:rPr lang="en-AU" sz="1200" dirty="0" smtClean="0">
                <a:latin typeface="Helvetica" pitchFamily="34" charset="0"/>
              </a:rPr>
              <a:t>Types of cleaning agents and chemicals</a:t>
            </a:r>
          </a:p>
          <a:p>
            <a:pPr marL="0" indent="0">
              <a:spcBef>
                <a:spcPts val="600"/>
              </a:spcBef>
              <a:spcAft>
                <a:spcPts val="1200"/>
              </a:spcAft>
              <a:buFont typeface="Arial" pitchFamily="34" charset="0"/>
              <a:buChar char="•"/>
            </a:pPr>
            <a:r>
              <a:rPr lang="en-AU" sz="1200" dirty="0" smtClean="0">
                <a:latin typeface="Helvetica" pitchFamily="34" charset="0"/>
              </a:rPr>
              <a:t>Types of surfaces to be cleaned</a:t>
            </a:r>
          </a:p>
          <a:p>
            <a:pPr marL="0" indent="0">
              <a:spcBef>
                <a:spcPts val="600"/>
              </a:spcBef>
              <a:spcAft>
                <a:spcPts val="1200"/>
              </a:spcAft>
              <a:buFont typeface="Arial" pitchFamily="34" charset="0"/>
              <a:buChar char="•"/>
            </a:pPr>
            <a:r>
              <a:rPr lang="en-AU" sz="1200" dirty="0" smtClean="0">
                <a:latin typeface="Helvetica" pitchFamily="34" charset="0"/>
              </a:rPr>
              <a:t>Disposal of garbage and used chemicals </a:t>
            </a:r>
          </a:p>
          <a:p>
            <a:pPr marL="0" indent="0">
              <a:spcBef>
                <a:spcPts val="600"/>
              </a:spcBef>
              <a:spcAft>
                <a:spcPts val="1200"/>
              </a:spcAft>
              <a:buFont typeface="Arial" pitchFamily="34" charset="0"/>
              <a:buChar char="•"/>
            </a:pPr>
            <a:r>
              <a:rPr lang="en-AU" sz="1200" dirty="0" smtClean="0">
                <a:latin typeface="Helvetica" pitchFamily="34" charset="0"/>
              </a:rPr>
              <a:t>Cleaning and maintaining PPE</a:t>
            </a:r>
          </a:p>
          <a:p>
            <a:pPr marL="0" indent="0">
              <a:spcBef>
                <a:spcPts val="600"/>
              </a:spcBef>
              <a:spcAft>
                <a:spcPts val="1200"/>
              </a:spcAft>
              <a:buFont typeface="Arial" pitchFamily="34" charset="0"/>
              <a:buChar char="•"/>
            </a:pPr>
            <a:r>
              <a:rPr lang="en-AU" sz="1200" dirty="0" smtClean="0">
                <a:latin typeface="Helvetica" pitchFamily="34" charset="0"/>
              </a:rPr>
              <a:t>Cleaning equipment after use</a:t>
            </a:r>
          </a:p>
          <a:p>
            <a:pPr marL="0" indent="0">
              <a:spcBef>
                <a:spcPts val="600"/>
              </a:spcBef>
              <a:spcAft>
                <a:spcPts val="1200"/>
              </a:spcAft>
              <a:buFont typeface="Arial" pitchFamily="34" charset="0"/>
              <a:buChar char="•"/>
            </a:pPr>
            <a:r>
              <a:rPr lang="en-AU" sz="1200" dirty="0" smtClean="0">
                <a:latin typeface="Helvetica" pitchFamily="34" charset="0"/>
              </a:rPr>
              <a:t>Storing equipment and chemicals safely.</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4719177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leather items are located in public areas?</a:t>
            </a:r>
          </a:p>
          <a:p>
            <a:pPr>
              <a:buFont typeface="Arial" pitchFamily="34" charset="0"/>
              <a:buChar char="•"/>
            </a:pPr>
            <a:r>
              <a:rPr lang="en-AU" sz="1200" kern="1200" baseline="0" dirty="0" smtClean="0">
                <a:solidFill>
                  <a:schemeClr val="tx1"/>
                </a:solidFill>
                <a:ea typeface="+mn-ea"/>
                <a:cs typeface="+mn-cs"/>
              </a:rPr>
              <a:t>How do you clean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70254971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34267739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keep leather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4275613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preventative maintenance can you perform?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41451963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equipment items identified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11762217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cleaning agents identified used for?</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dirty="0" smtClean="0"/>
              <a:t>Leather Protection Cream  - is a leather conditioner is used to protect leather that repels stains and protects the surface from wear and tear. It feeds, protects and re-instates the smell into old and new leather items.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24292029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3202806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81083850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388165857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181979219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40148597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fabric items are located in public areas?</a:t>
            </a:r>
          </a:p>
          <a:p>
            <a:pPr>
              <a:buFont typeface="Arial" pitchFamily="34" charset="0"/>
              <a:buChar char="•"/>
            </a:pPr>
            <a:r>
              <a:rPr lang="en-AU" sz="1200" kern="1200" baseline="0" dirty="0" smtClean="0">
                <a:solidFill>
                  <a:schemeClr val="tx1"/>
                </a:solidFill>
                <a:ea typeface="+mn-ea"/>
                <a:cs typeface="+mn-cs"/>
              </a:rPr>
              <a:t>How do you clean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26058301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4555034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keep fabric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141650271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equipment items identified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94962283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cleaning agents identified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25917326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activities need to be done when preparing the work area?</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74853122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Where should cushions be placed to ensure they don’t go missing or get dirty themselves?</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55515358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395125021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55832077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94532106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Internet research</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get audience to identify:</a:t>
            </a:r>
          </a:p>
          <a:p>
            <a:pPr marL="228600" indent="-228600">
              <a:buAutoNum type="alphaLcParenR"/>
            </a:pPr>
            <a:r>
              <a:rPr lang="en-AU" sz="1200" b="0" kern="1200" baseline="0" dirty="0" smtClean="0">
                <a:solidFill>
                  <a:schemeClr val="tx1"/>
                </a:solidFill>
                <a:ea typeface="+mn-ea"/>
                <a:cs typeface="+mn-cs"/>
              </a:rPr>
              <a:t>Local companies that deep clean fabric upholstery</a:t>
            </a:r>
          </a:p>
          <a:p>
            <a:pPr marL="228600" indent="-228600">
              <a:buAutoNum type="alphaLcParenR"/>
            </a:pPr>
            <a:r>
              <a:rPr lang="en-AU" sz="1200" b="0" kern="1200" baseline="0" dirty="0" smtClean="0">
                <a:solidFill>
                  <a:schemeClr val="tx1"/>
                </a:solidFill>
                <a:ea typeface="+mn-ea"/>
                <a:cs typeface="+mn-cs"/>
              </a:rPr>
              <a:t>How much it costs?</a:t>
            </a:r>
          </a:p>
          <a:p>
            <a:pPr marL="228600" indent="-228600">
              <a:buAutoNum type="alphaLcParenR"/>
            </a:pPr>
            <a:r>
              <a:rPr lang="en-AU" sz="1200" b="0" kern="1200" baseline="0" dirty="0" smtClean="0">
                <a:solidFill>
                  <a:schemeClr val="tx1"/>
                </a:solidFill>
                <a:ea typeface="+mn-ea"/>
                <a:cs typeface="+mn-cs"/>
              </a:rPr>
              <a:t>Where is it done? (at hotel or at their location)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6214336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54333606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9390641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considerations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429115861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63761467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65899158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glass surfaces are located in public areas?</a:t>
            </a:r>
          </a:p>
          <a:p>
            <a:pPr>
              <a:buFont typeface="Arial" pitchFamily="34" charset="0"/>
              <a:buChar char="•"/>
            </a:pPr>
            <a:r>
              <a:rPr lang="en-AU" sz="1200" kern="1200" baseline="0" dirty="0" smtClean="0">
                <a:solidFill>
                  <a:schemeClr val="tx1"/>
                </a:solidFill>
                <a:ea typeface="+mn-ea"/>
                <a:cs typeface="+mn-cs"/>
              </a:rPr>
              <a:t>How do you clean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65700303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25337938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different types of glass items are located in a hotel?</a:t>
            </a:r>
          </a:p>
          <a:p>
            <a:pPr>
              <a:buFont typeface="Arial" pitchFamily="34" charset="0"/>
              <a:buChar char="•"/>
            </a:pPr>
            <a:r>
              <a:rPr lang="en-AU" sz="1200" b="0" kern="1200" baseline="0" dirty="0" smtClean="0">
                <a:solidFill>
                  <a:schemeClr val="tx1"/>
                </a:solidFill>
                <a:ea typeface="+mn-ea"/>
                <a:cs typeface="+mn-cs"/>
              </a:rPr>
              <a:t>How do you keep glass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78212444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equipment items identified used for?</a:t>
            </a:r>
          </a:p>
          <a:p>
            <a:pPr>
              <a:buFont typeface="Arial" pitchFamily="34" charset="0"/>
              <a:buNone/>
            </a:pPr>
            <a:r>
              <a:rPr lang="en-AU" sz="1200" b="0" kern="1200" baseline="0" dirty="0" smtClean="0">
                <a:solidFill>
                  <a:schemeClr val="tx1"/>
                </a:solidFill>
                <a:ea typeface="+mn-ea"/>
                <a:cs typeface="+mn-cs"/>
              </a:rPr>
              <a:t>Please refer to the manual for detailed comment relating to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78134827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Internet research</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common types of commercial window cleaners?</a:t>
            </a:r>
          </a:p>
          <a:p>
            <a:pPr>
              <a:buFont typeface="Arial" pitchFamily="34" charset="0"/>
              <a:buChar char="•"/>
            </a:pPr>
            <a:r>
              <a:rPr lang="en-AU" sz="1200" b="0" kern="1200" baseline="0" dirty="0" smtClean="0">
                <a:solidFill>
                  <a:schemeClr val="tx1"/>
                </a:solidFill>
                <a:ea typeface="+mn-ea"/>
                <a:cs typeface="+mn-cs"/>
              </a:rPr>
              <a:t>How can you make your own window cleaner? What ingredients are in it? (This may be a good internet research session)</a:t>
            </a:r>
          </a:p>
          <a:p>
            <a:pPr>
              <a:buFont typeface="Arial" pitchFamily="34" charset="0"/>
              <a:buChar char="•"/>
            </a:pPr>
            <a:r>
              <a:rPr lang="en-AU" sz="1200" b="0" kern="1200" baseline="0" dirty="0" smtClean="0">
                <a:solidFill>
                  <a:schemeClr val="tx1"/>
                </a:solidFill>
                <a:ea typeface="+mn-ea"/>
                <a:cs typeface="+mn-cs"/>
              </a:rPr>
              <a:t>What is each of the cleaning agents identified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88489194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No discussion required.</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17401187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5766911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404907397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3833777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89849743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335313047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42713663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93033280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4388761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considerations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395765226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40294852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ceiling, surfaces and fittings are located in public areas?</a:t>
            </a:r>
          </a:p>
          <a:p>
            <a:pPr>
              <a:buFont typeface="Arial" pitchFamily="34" charset="0"/>
              <a:buChar char="•"/>
            </a:pPr>
            <a:r>
              <a:rPr lang="en-AU" sz="1200" kern="1200" baseline="0" dirty="0" smtClean="0">
                <a:solidFill>
                  <a:schemeClr val="tx1"/>
                </a:solidFill>
                <a:ea typeface="+mn-ea"/>
                <a:cs typeface="+mn-cs"/>
              </a:rPr>
              <a:t>How do you clean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47667832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2547669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keep ceilings and walls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333980427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keep each of these surface types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425844933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you keep fittings clean?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65155325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equipment items identified used for?</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Please refer to the manual for detailed comment relating to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261285641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76877724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Do you need to dust or polish each of these areas differently?</a:t>
            </a:r>
          </a:p>
          <a:p>
            <a:pPr>
              <a:buFont typeface="Arial" pitchFamily="34" charset="0"/>
              <a:buChar char="•"/>
            </a:pPr>
            <a:r>
              <a:rPr lang="en-AU" sz="1200" b="0" kern="1200" baseline="0" dirty="0" smtClean="0">
                <a:solidFill>
                  <a:schemeClr val="tx1"/>
                </a:solidFill>
                <a:ea typeface="+mn-ea"/>
                <a:cs typeface="+mn-cs"/>
              </a:rPr>
              <a:t>Is there any specific preparation you would need to do in relation to each of these items before they could be dusted or polished?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392740331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Do you need to dust or polish each of these areas differently?</a:t>
            </a:r>
          </a:p>
          <a:p>
            <a:pPr>
              <a:buFont typeface="Arial" pitchFamily="34" charset="0"/>
              <a:buChar char="•"/>
            </a:pPr>
            <a:r>
              <a:rPr lang="en-AU" sz="1200" b="0" kern="1200" baseline="0" dirty="0" smtClean="0">
                <a:solidFill>
                  <a:schemeClr val="tx1"/>
                </a:solidFill>
                <a:ea typeface="+mn-ea"/>
                <a:cs typeface="+mn-cs"/>
              </a:rPr>
              <a:t>Is there any specific preparation you would need to do in relation to each of these items before they could be dusted or polished?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485812533"/>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226080938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 and/or demonstration</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discuss steps and/or provide a demonstration.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95497964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the purpose of vacuuming?</a:t>
            </a:r>
          </a:p>
          <a:p>
            <a:pPr>
              <a:spcBef>
                <a:spcPts val="600"/>
              </a:spcBef>
              <a:spcAft>
                <a:spcPts val="1200"/>
              </a:spcAft>
              <a:buFont typeface="Arial" pitchFamily="34" charset="0"/>
              <a:buChar char="•"/>
            </a:pP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40410761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vacuuming.</a:t>
            </a:r>
            <a:endParaRPr lang="en-AU" sz="1200" baseline="0" dirty="0" smtClean="0">
              <a:latin typeface="Helvetica" pitchFamily="34" charset="0"/>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406821102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amenities are normally supplied in the vanity area?</a:t>
            </a:r>
          </a:p>
          <a:p>
            <a:pPr>
              <a:spcBef>
                <a:spcPts val="600"/>
              </a:spcBef>
              <a:spcAft>
                <a:spcPts val="1200"/>
              </a:spcAft>
              <a:buFont typeface="Arial" pitchFamily="34" charset="0"/>
              <a:buChar char="•"/>
            </a:pPr>
            <a:r>
              <a:rPr lang="en-AU" sz="1200" baseline="0" dirty="0" smtClean="0">
                <a:latin typeface="Helvetica" pitchFamily="34" charset="0"/>
              </a:rPr>
              <a:t>What are appropriate amenities for men?</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are appropriate amenities for women?</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95760702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Members of audience to practice cleaning a vanity area.</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171634965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Members of audience to practice cleaning a vanity area.</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250979643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cleaning a shower.</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104136316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cleaning a toilet.</a:t>
            </a:r>
            <a:endParaRPr lang="en-AU" sz="1200" kern="1200" dirty="0" smtClean="0">
              <a:solidFill>
                <a:schemeClr val="tx1"/>
              </a:solidFill>
              <a:ea typeface="+mn-ea"/>
              <a:cs typeface="+mn-cs"/>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251277456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cleaning a bin.</a:t>
            </a:r>
            <a:endParaRPr lang="en-AU" sz="1200" kern="1200" dirty="0" smtClean="0">
              <a:solidFill>
                <a:schemeClr val="tx1"/>
              </a:solidFill>
              <a:ea typeface="+mn-ea"/>
              <a:cs typeface="+mn-cs"/>
            </a:endParaRPr>
          </a:p>
          <a:p>
            <a:pPr lvl="0">
              <a:spcBef>
                <a:spcPts val="600"/>
              </a:spcBef>
              <a:spcAft>
                <a:spcPts val="600"/>
              </a:spcAft>
            </a:pPr>
            <a:endParaRPr lang="en-US" sz="120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277510485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34490680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1465611593"/>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wet cleaning?</a:t>
            </a:r>
          </a:p>
          <a:p>
            <a:pPr>
              <a:buFont typeface="Arial" pitchFamily="34" charset="0"/>
              <a:buChar char="•"/>
            </a:pPr>
            <a:r>
              <a:rPr lang="en-AU" sz="1200" kern="1200" baseline="0" dirty="0" smtClean="0">
                <a:solidFill>
                  <a:schemeClr val="tx1"/>
                </a:solidFill>
                <a:ea typeface="+mn-ea"/>
                <a:cs typeface="+mn-cs"/>
              </a:rPr>
              <a:t>What does it involve?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521887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325221531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areas have wet surfaces and how do you clean them?</a:t>
            </a:r>
          </a:p>
          <a:p>
            <a:pPr>
              <a:buFont typeface="Arial" pitchFamily="34" charset="0"/>
              <a:buChar char="•"/>
            </a:pPr>
            <a:r>
              <a:rPr lang="en-AU" sz="1200" b="0" kern="1200" baseline="0" dirty="0" smtClean="0">
                <a:solidFill>
                  <a:schemeClr val="tx1"/>
                </a:solidFill>
                <a:ea typeface="+mn-ea"/>
                <a:cs typeface="+mn-cs"/>
              </a:rPr>
              <a:t>What areas require water to clean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76277857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best way to clean these types of surfaces?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47835157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Discuss the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606849256"/>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each of the equipment items identified used for?</a:t>
            </a:r>
          </a:p>
          <a:p>
            <a:pPr>
              <a:buFont typeface="Arial" pitchFamily="34" charset="0"/>
              <a:buNone/>
            </a:pPr>
            <a:r>
              <a:rPr lang="en-AU" sz="1200" b="0" kern="1200" baseline="0" dirty="0" smtClean="0">
                <a:solidFill>
                  <a:schemeClr val="tx1"/>
                </a:solidFill>
                <a:ea typeface="+mn-ea"/>
                <a:cs typeface="+mn-cs"/>
              </a:rPr>
              <a:t>Please refer to the manual for detailed comment relating to each piece of equipment.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2441917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2852175894"/>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mopping.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229195628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mopping.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83987640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22966542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39584018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pressure washing?</a:t>
            </a:r>
          </a:p>
          <a:p>
            <a:pPr>
              <a:buFont typeface="Arial" pitchFamily="34" charset="0"/>
              <a:buChar char="•"/>
            </a:pPr>
            <a:r>
              <a:rPr lang="en-AU" sz="1200" kern="1200" baseline="0" dirty="0" smtClean="0">
                <a:solidFill>
                  <a:schemeClr val="tx1"/>
                </a:solidFill>
                <a:ea typeface="+mn-ea"/>
                <a:cs typeface="+mn-cs"/>
              </a:rPr>
              <a:t>What does it involve?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263993584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417974948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equipment can you use to pressure wash?</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88730888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Research activity</a:t>
            </a:r>
          </a:p>
          <a:p>
            <a:pPr>
              <a:buFont typeface="Arial" pitchFamily="34" charset="0"/>
              <a:buNone/>
            </a:pPr>
            <a:endParaRPr lang="en-AU" sz="1200" b="1" kern="1200" baseline="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Trainer to get the audience to conduct research into:</a:t>
            </a:r>
          </a:p>
          <a:p>
            <a:pPr marL="228600" indent="-228600">
              <a:buFont typeface="Arial" pitchFamily="34" charset="0"/>
              <a:buChar char="•"/>
            </a:pPr>
            <a:r>
              <a:rPr lang="en-AU" sz="1200" b="0" kern="1200" baseline="0" dirty="0" smtClean="0">
                <a:solidFill>
                  <a:schemeClr val="tx1"/>
                </a:solidFill>
                <a:ea typeface="+mn-ea"/>
                <a:cs typeface="+mn-cs"/>
              </a:rPr>
              <a:t>Different types of machines used to pressure wash</a:t>
            </a:r>
          </a:p>
          <a:p>
            <a:pPr marL="228600" indent="-228600">
              <a:buFont typeface="Arial" pitchFamily="34" charset="0"/>
              <a:buChar char="•"/>
            </a:pPr>
            <a:r>
              <a:rPr lang="en-AU" sz="1200" b="0" kern="1200" baseline="0" dirty="0" smtClean="0">
                <a:solidFill>
                  <a:schemeClr val="tx1"/>
                </a:solidFill>
                <a:ea typeface="+mn-ea"/>
                <a:cs typeface="+mn-cs"/>
              </a:rPr>
              <a:t>Costs</a:t>
            </a:r>
          </a:p>
          <a:p>
            <a:pPr marL="228600" indent="-228600">
              <a:buFont typeface="Arial" pitchFamily="34" charset="0"/>
              <a:buChar char="•"/>
            </a:pPr>
            <a:r>
              <a:rPr lang="en-AU" sz="1200" b="0" kern="1200" baseline="0" dirty="0" smtClean="0">
                <a:solidFill>
                  <a:schemeClr val="tx1"/>
                </a:solidFill>
                <a:ea typeface="+mn-ea"/>
                <a:cs typeface="+mn-cs"/>
              </a:rPr>
              <a:t>Benefits and purpose.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275128788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200" dirty="0" smtClean="0"/>
              <a:t>Film removers – used for removing layers of dirt and grim using a light pressure clean. This includes the cleaning of cars, paths, roads (main driveway) and outdoor areas</a:t>
            </a:r>
          </a:p>
          <a:p>
            <a:pPr lvl="0">
              <a:buFont typeface="Arial" pitchFamily="34" charset="0"/>
              <a:buChar char="•"/>
            </a:pPr>
            <a:r>
              <a:rPr lang="en-AU" sz="1200" dirty="0" smtClean="0"/>
              <a:t>Degreasers - used for removing heavy greaser and industrial cleaning.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10737315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2346132292"/>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pressure cleaning.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394589098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pressure cleaning.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376667649"/>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Demonstration</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Trainer to demonstrate and explain why steps are done as identified in the slide.</a:t>
            </a:r>
          </a:p>
          <a:p>
            <a:pPr>
              <a:spcBef>
                <a:spcPts val="600"/>
              </a:spcBef>
              <a:spcAft>
                <a:spcPts val="1200"/>
              </a:spcAft>
              <a:buFont typeface="Arial" pitchFamily="34" charset="0"/>
              <a:buNone/>
            </a:pPr>
            <a:endParaRPr lang="en-AU" sz="1200" kern="1200" baseline="0" dirty="0" smtClean="0">
              <a:solidFill>
                <a:schemeClr val="tx1"/>
              </a:solidFill>
              <a:latin typeface="Helvetica" pitchFamily="34" charset="0"/>
              <a:ea typeface="+mn-ea"/>
              <a:cs typeface="+mn-cs"/>
            </a:endParaRPr>
          </a:p>
          <a:p>
            <a:pPr>
              <a:spcBef>
                <a:spcPts val="600"/>
              </a:spcBef>
              <a:spcAft>
                <a:spcPts val="1200"/>
              </a:spcAft>
              <a:buFont typeface="Arial" pitchFamily="34" charset="0"/>
              <a:buNone/>
            </a:pPr>
            <a:r>
              <a:rPr lang="en-AU" sz="1200" kern="1200" baseline="0" dirty="0" smtClean="0">
                <a:solidFill>
                  <a:schemeClr val="tx1"/>
                </a:solidFill>
                <a:latin typeface="Helvetica" pitchFamily="34" charset="0"/>
                <a:ea typeface="+mn-ea"/>
                <a:cs typeface="+mn-cs"/>
              </a:rPr>
              <a:t>Audience members to practice pressure cleaning.</a:t>
            </a:r>
            <a:endParaRPr lang="en-AU" sz="1200" kern="120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31733627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1331399493"/>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397270440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high level cleaning?</a:t>
            </a:r>
          </a:p>
          <a:p>
            <a:pPr>
              <a:buFont typeface="Arial" pitchFamily="34" charset="0"/>
              <a:buChar char="•"/>
            </a:pPr>
            <a:r>
              <a:rPr lang="en-AU" sz="1200" kern="1200" baseline="0" dirty="0" smtClean="0">
                <a:solidFill>
                  <a:schemeClr val="tx1"/>
                </a:solidFill>
                <a:ea typeface="+mn-ea"/>
                <a:cs typeface="+mn-cs"/>
              </a:rPr>
              <a:t>What does it involve?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296506123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414982778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types of equipment can you use to undertake high level cleaning?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30488385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would you clean each of these items?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124423050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Research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each type of equipment used for?</a:t>
            </a:r>
          </a:p>
          <a:p>
            <a:pPr>
              <a:buFont typeface="Arial" pitchFamily="34" charset="0"/>
              <a:buChar char="•"/>
            </a:pPr>
            <a:r>
              <a:rPr lang="en-AU" sz="1200" b="0" kern="1200" baseline="0" dirty="0" smtClean="0">
                <a:solidFill>
                  <a:schemeClr val="tx1"/>
                </a:solidFill>
                <a:ea typeface="+mn-ea"/>
                <a:cs typeface="+mn-cs"/>
              </a:rPr>
              <a:t>What other equipment could you use to perform high level cleaning?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305699748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354145941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324044476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350580496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are these points important?</a:t>
            </a:r>
          </a:p>
          <a:p>
            <a:pPr>
              <a:buFont typeface="Arial" pitchFamily="34" charset="0"/>
              <a:buChar char="•"/>
            </a:pPr>
            <a:r>
              <a:rPr lang="en-AU" sz="1200" b="0" kern="1200" baseline="0" dirty="0" smtClean="0">
                <a:solidFill>
                  <a:schemeClr val="tx1"/>
                </a:solidFill>
                <a:ea typeface="+mn-ea"/>
                <a:cs typeface="+mn-cs"/>
              </a:rPr>
              <a:t>What can you cover items with?</a:t>
            </a:r>
          </a:p>
          <a:p>
            <a:endParaRPr lang="en-AU" sz="1200" b="1" kern="1200" baseline="0" dirty="0" smtClean="0">
              <a:solidFill>
                <a:schemeClr val="tx1"/>
              </a:solidFill>
              <a:ea typeface="+mn-ea"/>
              <a:cs typeface="+mn-cs"/>
            </a:endParaRPr>
          </a:p>
          <a:p>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170415073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Research activity</a:t>
            </a:r>
          </a:p>
          <a:p>
            <a:endParaRPr lang="en-AU" sz="1200" b="1" kern="1200" baseline="0" dirty="0" smtClean="0">
              <a:solidFill>
                <a:schemeClr val="tx1"/>
              </a:solidFill>
              <a:ea typeface="+mn-ea"/>
              <a:cs typeface="+mn-cs"/>
            </a:endParaRPr>
          </a:p>
          <a:p>
            <a:r>
              <a:rPr lang="en-AU" sz="1200" b="0" kern="1200" baseline="0" dirty="0" smtClean="0">
                <a:solidFill>
                  <a:schemeClr val="tx1"/>
                </a:solidFill>
                <a:ea typeface="+mn-ea"/>
                <a:cs typeface="+mn-cs"/>
              </a:rPr>
              <a:t>Trainer to get audience to conduct research activity to answer the questions in the slide.</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None/>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458228623"/>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317205429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 steps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each of the steps mentioned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895075576"/>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thanks the class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1670041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3/12/2015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3/12/2015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3/12/2015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3/12/2015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3/12/2015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ec.europa.eu/enterprise/chemicals/legislation/detergents/index_en.htm"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gi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78.jpeg"/></Relationships>
</file>

<file path=ppt/slides/_rels/slide8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0.wmf"/></Relationships>
</file>

<file path=ppt/slides/_rels/slide81.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8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www.pressurewashersdirect.com/Images/Karcher-K2.425-Pressure-Washer/i6274.html" TargetMode="External"/><Relationship Id="rId2" Type="http://schemas.openxmlformats.org/officeDocument/2006/relationships/notesSlide" Target="../notesSlides/notesSlide162.xml"/><Relationship Id="rId1" Type="http://schemas.openxmlformats.org/officeDocument/2006/relationships/slideLayout" Target="../slideLayouts/slideLayout2.xml"/><Relationship Id="rId4" Type="http://schemas.openxmlformats.org/officeDocument/2006/relationships/image" Target="../media/image145.jpeg"/></Relationships>
</file>

<file path=ppt/slides/_rels/slide16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hyperlink" Target="http://www.pressurewashersdirect.com/Images/Karcher-K2.425-Pressure-Washer/i6274.html" TargetMode="External"/><Relationship Id="rId2" Type="http://schemas.openxmlformats.org/officeDocument/2006/relationships/notesSlide" Target="../notesSlides/notesSlide169.xml"/><Relationship Id="rId1" Type="http://schemas.openxmlformats.org/officeDocument/2006/relationships/slideLayout" Target="../slideLayouts/slideLayout2.xml"/><Relationship Id="rId4" Type="http://schemas.openxmlformats.org/officeDocument/2006/relationships/image" Target="../media/image145.jpeg"/></Relationships>
</file>

<file path=ppt/slides/_rels/slide170.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1.gif"/><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51.gif"/><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54.gif"/><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1604" y="1071546"/>
            <a:ext cx="6837238" cy="1285884"/>
          </a:xfrm>
        </p:spPr>
        <p:txBody>
          <a:bodyPr>
            <a:normAutofit fontScale="90000"/>
          </a:bodyPr>
          <a:lstStyle/>
          <a:p>
            <a:r>
              <a:rPr lang="en-AU" sz="4000" dirty="0" smtClean="0">
                <a:ln w="5000" cmpd="sng">
                  <a:noFill/>
                  <a:prstDash val="solid"/>
                </a:ln>
                <a:solidFill>
                  <a:srgbClr val="FF6600"/>
                </a:solidFill>
                <a:latin typeface="Helvetica" pitchFamily="34" charset="0"/>
              </a:rPr>
              <a:t>Clean public areas, facilities and equipment</a:t>
            </a:r>
            <a:br>
              <a:rPr lang="en-AU" sz="4000" dirty="0" smtClean="0">
                <a:ln w="5000" cmpd="sng">
                  <a:noFill/>
                  <a:prstDash val="solid"/>
                </a:ln>
                <a:solidFill>
                  <a:srgbClr val="FF6600"/>
                </a:solidFill>
                <a:latin typeface="Helvetica" pitchFamily="34" charset="0"/>
              </a:rPr>
            </a:br>
            <a:r>
              <a:rPr lang="en-US" sz="4000" dirty="0" smtClean="0">
                <a:ln w="5000" cmpd="sng">
                  <a:noFill/>
                  <a:prstDash val="solid"/>
                </a:ln>
                <a:solidFill>
                  <a:srgbClr val="FF6600"/>
                </a:solidFill>
                <a:latin typeface="Helvetica" pitchFamily="34" charset="0"/>
              </a:rPr>
              <a:t> </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857356" y="2428868"/>
            <a:ext cx="6480048" cy="357190"/>
          </a:xfrm>
        </p:spPr>
        <p:txBody>
          <a:bodyPr/>
          <a:lstStyle/>
          <a:p>
            <a:r>
              <a:rPr lang="en-US" b="1" dirty="0" smtClean="0">
                <a:latin typeface="Helvetica" pitchFamily="34" charset="0"/>
              </a:rPr>
              <a:t>D1.HHK.CL3.02</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6" name="Picture 2" descr="C:\Documents and Settings\danielc\Desktop\PHOTOS\Theme Park 2010\Cleaning.jpg"/>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2214546" y="3071810"/>
            <a:ext cx="4857752" cy="2452419"/>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an introduction and seven Elements:</a:t>
            </a:r>
          </a:p>
          <a:p>
            <a:pPr marL="360000" indent="-360000">
              <a:spcBef>
                <a:spcPts val="600"/>
              </a:spcBef>
              <a:spcAft>
                <a:spcPts val="1200"/>
              </a:spcAft>
            </a:pPr>
            <a:r>
              <a:rPr lang="en-US" sz="2200" dirty="0" smtClean="0">
                <a:latin typeface="Helvetica" pitchFamily="34" charset="0"/>
              </a:rPr>
              <a:t>Introduction</a:t>
            </a:r>
          </a:p>
          <a:p>
            <a:pPr marL="360000" indent="-360000">
              <a:spcBef>
                <a:spcPts val="600"/>
              </a:spcBef>
              <a:spcAft>
                <a:spcPts val="1200"/>
              </a:spcAft>
            </a:pPr>
            <a:r>
              <a:rPr lang="en-AU" sz="2200" dirty="0" smtClean="0">
                <a:latin typeface="Helvetica" pitchFamily="34" charset="0"/>
              </a:rPr>
              <a:t>Apply leather upholstery cleaning techniques</a:t>
            </a:r>
          </a:p>
          <a:p>
            <a:pPr marL="360000" indent="-360000">
              <a:spcBef>
                <a:spcPts val="600"/>
              </a:spcBef>
              <a:spcAft>
                <a:spcPts val="1200"/>
              </a:spcAft>
            </a:pPr>
            <a:r>
              <a:rPr lang="en-AU" sz="2200" dirty="0" smtClean="0">
                <a:latin typeface="Helvetica" pitchFamily="34" charset="0"/>
              </a:rPr>
              <a:t>Apply fabric upholstery cleaning techniques</a:t>
            </a:r>
          </a:p>
          <a:p>
            <a:pPr marL="360000" indent="-360000">
              <a:spcBef>
                <a:spcPts val="600"/>
              </a:spcBef>
              <a:spcAft>
                <a:spcPts val="1200"/>
              </a:spcAft>
            </a:pPr>
            <a:r>
              <a:rPr lang="en-AU" sz="2200" dirty="0" smtClean="0">
                <a:latin typeface="Helvetica" pitchFamily="34" charset="0"/>
              </a:rPr>
              <a:t>Apply glass surfaces cleaning techniques.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6" descr="http://homedecor7.com/wp-content/uploads/2011/10/Leather-Armachairs5.jpg"/>
          <p:cNvPicPr/>
          <p:nvPr/>
        </p:nvPicPr>
        <p:blipFill>
          <a:blip r:embed="rId3" cstate="print"/>
          <a:srcRect/>
          <a:stretch>
            <a:fillRect/>
          </a:stretch>
        </p:blipFill>
        <p:spPr bwMode="auto">
          <a:xfrm>
            <a:off x="3714744" y="4357694"/>
            <a:ext cx="1857388" cy="17145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an introduction and seven Elements:</a:t>
            </a:r>
          </a:p>
          <a:p>
            <a:pPr marL="360000" indent="-360000">
              <a:spcBef>
                <a:spcPts val="600"/>
              </a:spcBef>
              <a:spcAft>
                <a:spcPts val="1200"/>
              </a:spcAft>
            </a:pPr>
            <a:r>
              <a:rPr lang="en-AU" sz="2200" dirty="0" smtClean="0">
                <a:latin typeface="Helvetica" pitchFamily="34" charset="0"/>
              </a:rPr>
              <a:t>Apply ceilings, surfaces and fittings cleaning techniques </a:t>
            </a:r>
          </a:p>
          <a:p>
            <a:pPr marL="360000" indent="-360000">
              <a:spcBef>
                <a:spcPts val="600"/>
              </a:spcBef>
              <a:spcAft>
                <a:spcPts val="1200"/>
              </a:spcAft>
            </a:pPr>
            <a:r>
              <a:rPr lang="en-AU" sz="2200" dirty="0" smtClean="0">
                <a:latin typeface="Helvetica" pitchFamily="34" charset="0"/>
              </a:rPr>
              <a:t>Apply wet area cleaning techniques</a:t>
            </a:r>
          </a:p>
          <a:p>
            <a:pPr marL="360000" indent="-360000">
              <a:spcBef>
                <a:spcPts val="600"/>
              </a:spcBef>
              <a:spcAft>
                <a:spcPts val="1200"/>
              </a:spcAft>
            </a:pPr>
            <a:r>
              <a:rPr lang="en-AU" sz="2200" dirty="0" smtClean="0">
                <a:latin typeface="Helvetica" pitchFamily="34" charset="0"/>
              </a:rPr>
              <a:t>Apply pressure washing techniques</a:t>
            </a:r>
          </a:p>
          <a:p>
            <a:pPr marL="360000" indent="-360000">
              <a:spcBef>
                <a:spcPts val="600"/>
              </a:spcBef>
              <a:spcAft>
                <a:spcPts val="1200"/>
              </a:spcAft>
            </a:pPr>
            <a:r>
              <a:rPr lang="en-AU" sz="2200" dirty="0" smtClean="0">
                <a:latin typeface="Helvetica" pitchFamily="34" charset="0"/>
              </a:rPr>
              <a:t>Apply high level cleaning techniques.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4" descr="http://www.cleanfreak.com/Qstore/custom/24_inch_scrubber_lg.jpg"/>
          <p:cNvPicPr/>
          <p:nvPr/>
        </p:nvPicPr>
        <p:blipFill>
          <a:blip r:embed="rId3" cstate="print"/>
          <a:srcRect/>
          <a:stretch>
            <a:fillRect/>
          </a:stretch>
        </p:blipFill>
        <p:spPr bwMode="auto">
          <a:xfrm>
            <a:off x="6286512" y="2928934"/>
            <a:ext cx="1877131" cy="21327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7" name="Picture 6" descr="MP900385508[1].JPG"/>
          <p:cNvPicPr/>
          <p:nvPr/>
        </p:nvPicPr>
        <p:blipFill>
          <a:blip r:embed="rId3" cstate="print"/>
          <a:stretch>
            <a:fillRect/>
          </a:stretch>
        </p:blipFill>
        <p:spPr>
          <a:xfrm>
            <a:off x="5786446" y="2000240"/>
            <a:ext cx="2187302" cy="166590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Public Areas, Facilities and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buNone/>
            </a:pPr>
            <a:endParaRPr lang="en-AU" sz="4000" dirty="0" smtClean="0">
              <a:solidFill>
                <a:srgbClr val="FF6600"/>
              </a:solidFill>
            </a:endParaRPr>
          </a:p>
          <a:p>
            <a:pPr marL="0">
              <a:buNone/>
            </a:pPr>
            <a:r>
              <a:rPr lang="en-AU" sz="4000" b="1" dirty="0" smtClean="0">
                <a:solidFill>
                  <a:srgbClr val="FF6600"/>
                </a:solidFill>
              </a:rPr>
              <a:t>Introduction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5" descr="http://www.pbp1.com/Property/DetailImage/SFS101-Detail-Property.gif"/>
          <p:cNvPicPr/>
          <p:nvPr/>
        </p:nvPicPr>
        <p:blipFill>
          <a:blip r:embed="rId3" cstate="print"/>
          <a:srcRect/>
          <a:stretch>
            <a:fillRect/>
          </a:stretch>
        </p:blipFill>
        <p:spPr bwMode="auto">
          <a:xfrm>
            <a:off x="4357686" y="2000240"/>
            <a:ext cx="2000994" cy="26425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The </a:t>
            </a:r>
            <a:r>
              <a:rPr lang="en-AU" sz="2200" u="sng" dirty="0" smtClean="0">
                <a:latin typeface="Helvetica" pitchFamily="34" charset="0"/>
              </a:rPr>
              <a:t>introduction</a:t>
            </a:r>
            <a:r>
              <a:rPr lang="en-AU" sz="2200" i="1" dirty="0" smtClean="0">
                <a:latin typeface="Helvetica" pitchFamily="34" charset="0"/>
              </a:rPr>
              <a:t> </a:t>
            </a:r>
            <a:r>
              <a:rPr lang="en-AU" sz="2200" dirty="0" smtClean="0">
                <a:latin typeface="Helvetica" pitchFamily="34" charset="0"/>
              </a:rPr>
              <a:t>is to give a detailed understanding regarding all aspects of cleaning public areas, facilities and equipment as it relates to </a:t>
            </a:r>
            <a:r>
              <a:rPr lang="en-AU" sz="2200" u="sng" dirty="0" smtClean="0">
                <a:latin typeface="Helvetica" pitchFamily="34" charset="0"/>
              </a:rPr>
              <a:t>general cleaning</a:t>
            </a:r>
            <a:r>
              <a:rPr lang="en-AU" sz="2200" dirty="0" smtClean="0">
                <a:latin typeface="Helvetica" pitchFamily="34" charset="0"/>
              </a:rPr>
              <a:t>.</a:t>
            </a:r>
          </a:p>
          <a:p>
            <a:pPr marL="0" indent="0">
              <a:spcBef>
                <a:spcPts val="600"/>
              </a:spcBef>
              <a:spcAft>
                <a:spcPts val="1200"/>
              </a:spcAft>
              <a:buNone/>
            </a:pPr>
            <a:r>
              <a:rPr lang="en-AU" sz="2200" dirty="0" smtClean="0">
                <a:latin typeface="Helvetica" pitchFamily="34" charset="0"/>
              </a:rPr>
              <a:t>The </a:t>
            </a:r>
            <a:r>
              <a:rPr lang="en-AU" sz="2200" u="sng" dirty="0" smtClean="0">
                <a:latin typeface="Helvetica" pitchFamily="34" charset="0"/>
              </a:rPr>
              <a:t>elements of competency </a:t>
            </a:r>
            <a:r>
              <a:rPr lang="en-AU" sz="2200" dirty="0" smtClean="0">
                <a:latin typeface="Helvetica" pitchFamily="34" charset="0"/>
              </a:rPr>
              <a:t>will describe </a:t>
            </a:r>
            <a:br>
              <a:rPr lang="en-AU" sz="2200" dirty="0" smtClean="0">
                <a:latin typeface="Helvetica" pitchFamily="34" charset="0"/>
              </a:rPr>
            </a:br>
            <a:r>
              <a:rPr lang="en-AU" sz="2200" dirty="0" smtClean="0">
                <a:latin typeface="Helvetica" pitchFamily="34" charset="0"/>
              </a:rPr>
              <a:t>how to undertake cleaning activities relating </a:t>
            </a:r>
            <a:br>
              <a:rPr lang="en-AU" sz="2200" dirty="0" smtClean="0">
                <a:latin typeface="Helvetica" pitchFamily="34" charset="0"/>
              </a:rPr>
            </a:br>
            <a:r>
              <a:rPr lang="en-AU" sz="2200" dirty="0" smtClean="0">
                <a:latin typeface="Helvetica" pitchFamily="34" charset="0"/>
              </a:rPr>
              <a:t>to </a:t>
            </a:r>
            <a:r>
              <a:rPr lang="en-AU" sz="2200" u="sng" dirty="0" smtClean="0">
                <a:latin typeface="Helvetica" pitchFamily="34" charset="0"/>
              </a:rPr>
              <a:t>specific types of cleaning</a:t>
            </a:r>
            <a:r>
              <a:rPr lang="en-AU" sz="2200" dirty="0" smtClean="0">
                <a:latin typeface="Helvetica" pitchFamily="34" charset="0"/>
              </a:rPr>
              <a:t>.</a:t>
            </a:r>
          </a:p>
          <a:p>
            <a:pPr marL="0" indent="0">
              <a:spcBef>
                <a:spcPts val="600"/>
              </a:spcBef>
              <a:spcAft>
                <a:spcPts val="1200"/>
              </a:spcAft>
            </a:pPr>
            <a:endParaRPr lang="en-AU" sz="2200" dirty="0" smtClean="0">
              <a:latin typeface="Helvetica" pitchFamily="34" charset="0"/>
            </a:endParaRPr>
          </a:p>
          <a:p>
            <a:pPr marL="0" indent="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MP900399942.JPG"/>
          <p:cNvPicPr>
            <a:picLocks noChangeAspect="1"/>
          </p:cNvPicPr>
          <p:nvPr/>
        </p:nvPicPr>
        <p:blipFill>
          <a:blip r:embed="rId3" cstate="print"/>
          <a:stretch>
            <a:fillRect/>
          </a:stretch>
        </p:blipFill>
        <p:spPr>
          <a:xfrm>
            <a:off x="6572264" y="2714620"/>
            <a:ext cx="1544948" cy="231629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0" indent="0">
              <a:spcBef>
                <a:spcPts val="600"/>
              </a:spcBef>
              <a:spcAft>
                <a:spcPts val="1200"/>
              </a:spcAft>
              <a:buNone/>
            </a:pPr>
            <a:r>
              <a:rPr lang="en-AU" sz="2200" dirty="0" smtClean="0">
                <a:latin typeface="Helvetica" pitchFamily="34" charset="0"/>
              </a:rPr>
              <a:t>The purpose of the introduction is to provide detailed information relating to:</a:t>
            </a:r>
          </a:p>
          <a:p>
            <a:pPr marL="0" indent="-457200">
              <a:spcBef>
                <a:spcPts val="600"/>
              </a:spcBef>
              <a:spcAft>
                <a:spcPts val="1200"/>
              </a:spcAft>
            </a:pPr>
            <a:r>
              <a:rPr lang="en-AU" sz="2200" dirty="0" smtClean="0">
                <a:latin typeface="Helvetica" pitchFamily="34" charset="0"/>
              </a:rPr>
              <a:t>Understanding public areas, facilities and equipment</a:t>
            </a:r>
          </a:p>
          <a:p>
            <a:pPr marL="0" indent="-457200">
              <a:spcBef>
                <a:spcPts val="600"/>
              </a:spcBef>
              <a:spcAft>
                <a:spcPts val="1200"/>
              </a:spcAft>
            </a:pPr>
            <a:r>
              <a:rPr lang="en-AU" sz="2200" dirty="0" smtClean="0">
                <a:latin typeface="Helvetica" pitchFamily="34" charset="0"/>
              </a:rPr>
              <a:t>Types of cleaning equipment</a:t>
            </a:r>
          </a:p>
          <a:p>
            <a:pPr marL="0" indent="-457200">
              <a:spcBef>
                <a:spcPts val="600"/>
              </a:spcBef>
              <a:spcAft>
                <a:spcPts val="1200"/>
              </a:spcAft>
            </a:pPr>
            <a:r>
              <a:rPr lang="en-AU" sz="2200" dirty="0" smtClean="0">
                <a:latin typeface="Helvetica" pitchFamily="34" charset="0"/>
              </a:rPr>
              <a:t>Preparing the work area</a:t>
            </a:r>
          </a:p>
          <a:p>
            <a:pPr marL="0" indent="-457200">
              <a:spcBef>
                <a:spcPts val="600"/>
              </a:spcBef>
              <a:spcAft>
                <a:spcPts val="1200"/>
              </a:spcAft>
            </a:pPr>
            <a:r>
              <a:rPr lang="en-AU" sz="2200" dirty="0" smtClean="0">
                <a:latin typeface="Helvetica" pitchFamily="34" charset="0"/>
              </a:rPr>
              <a:t>Using equipment correctly and safely</a:t>
            </a:r>
          </a:p>
          <a:p>
            <a:pPr marL="0" indent="-457200">
              <a:spcBef>
                <a:spcPts val="600"/>
              </a:spcBef>
              <a:spcAft>
                <a:spcPts val="1200"/>
              </a:spcAft>
            </a:pPr>
            <a:r>
              <a:rPr lang="en-AU" sz="2200" dirty="0" smtClean="0">
                <a:latin typeface="Helvetica" pitchFamily="34" charset="0"/>
              </a:rPr>
              <a:t>Types of cleaning agents and chemicals.</a:t>
            </a:r>
          </a:p>
          <a:p>
            <a:pPr marL="0" indent="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8" name="Picture 7" descr="MP900341784[1].JPG"/>
          <p:cNvPicPr/>
          <p:nvPr/>
        </p:nvPicPr>
        <p:blipFill>
          <a:blip r:embed="rId3" cstate="print"/>
          <a:stretch>
            <a:fillRect/>
          </a:stretch>
        </p:blipFill>
        <p:spPr>
          <a:xfrm>
            <a:off x="6715140" y="3143248"/>
            <a:ext cx="1500198" cy="186750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The purpose of the introduction is to provide detailed information relating to:</a:t>
            </a:r>
          </a:p>
          <a:p>
            <a:pPr marL="0" indent="-457200">
              <a:spcBef>
                <a:spcPts val="600"/>
              </a:spcBef>
              <a:spcAft>
                <a:spcPts val="1200"/>
              </a:spcAft>
            </a:pPr>
            <a:r>
              <a:rPr lang="en-AU" sz="2200" dirty="0" smtClean="0">
                <a:latin typeface="Helvetica" pitchFamily="34" charset="0"/>
              </a:rPr>
              <a:t>Types of surfaces to be cleaned</a:t>
            </a:r>
          </a:p>
          <a:p>
            <a:pPr marL="0" indent="-457200">
              <a:spcBef>
                <a:spcPts val="600"/>
              </a:spcBef>
              <a:spcAft>
                <a:spcPts val="1200"/>
              </a:spcAft>
            </a:pPr>
            <a:r>
              <a:rPr lang="en-AU" sz="2200" dirty="0" smtClean="0">
                <a:latin typeface="Helvetica" pitchFamily="34" charset="0"/>
              </a:rPr>
              <a:t>Disposal of garbage and used chemicals </a:t>
            </a:r>
          </a:p>
          <a:p>
            <a:pPr marL="0" indent="-457200">
              <a:spcBef>
                <a:spcPts val="600"/>
              </a:spcBef>
              <a:spcAft>
                <a:spcPts val="1200"/>
              </a:spcAft>
            </a:pPr>
            <a:r>
              <a:rPr lang="en-AU" sz="2200" dirty="0" smtClean="0">
                <a:latin typeface="Helvetica" pitchFamily="34" charset="0"/>
              </a:rPr>
              <a:t>Cleaning and maintaining PPE</a:t>
            </a:r>
          </a:p>
          <a:p>
            <a:pPr marL="0" indent="-457200">
              <a:spcBef>
                <a:spcPts val="600"/>
              </a:spcBef>
              <a:spcAft>
                <a:spcPts val="1200"/>
              </a:spcAft>
            </a:pPr>
            <a:r>
              <a:rPr lang="en-AU" sz="2200" dirty="0" smtClean="0">
                <a:latin typeface="Helvetica" pitchFamily="34" charset="0"/>
              </a:rPr>
              <a:t>Cleaning equipment after use</a:t>
            </a:r>
          </a:p>
          <a:p>
            <a:pPr marL="0" indent="-457200">
              <a:spcBef>
                <a:spcPts val="600"/>
              </a:spcBef>
              <a:spcAft>
                <a:spcPts val="1200"/>
              </a:spcAft>
            </a:pPr>
            <a:r>
              <a:rPr lang="en-AU" sz="2200" dirty="0" smtClean="0">
                <a:latin typeface="Helvetica" pitchFamily="34" charset="0"/>
              </a:rPr>
              <a:t>Storing equipment and chemicals safely.</a:t>
            </a:r>
          </a:p>
          <a:p>
            <a:pPr marL="0" indent="0">
              <a:spcBef>
                <a:spcPts val="600"/>
              </a:spcBef>
              <a:spcAft>
                <a:spcPts val="1200"/>
              </a:spcAft>
            </a:pPr>
            <a:endParaRPr lang="en-AU" sz="2200" dirty="0" smtClean="0">
              <a:latin typeface="Helvetica" pitchFamily="34" charset="0"/>
            </a:endParaRPr>
          </a:p>
          <a:p>
            <a:pPr marL="0" indent="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MP900427796[1].JPG"/>
          <p:cNvPicPr/>
          <p:nvPr/>
        </p:nvPicPr>
        <p:blipFill>
          <a:blip r:embed="rId3" cstate="print"/>
          <a:stretch>
            <a:fillRect/>
          </a:stretch>
        </p:blipFill>
        <p:spPr>
          <a:xfrm>
            <a:off x="6500826" y="2714620"/>
            <a:ext cx="1639994" cy="221457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Introduction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One of the basic requirements that a customer of a hospitality business has is that an organisation is clean and tidy. </a:t>
            </a:r>
          </a:p>
          <a:p>
            <a:pPr marL="0">
              <a:spcBef>
                <a:spcPts val="600"/>
              </a:spcBef>
              <a:spcAft>
                <a:spcPts val="1200"/>
              </a:spcAft>
              <a:buNone/>
            </a:pPr>
            <a:r>
              <a:rPr lang="en-AU" sz="2200" dirty="0" smtClean="0">
                <a:latin typeface="Helvetica" pitchFamily="34" charset="0"/>
              </a:rPr>
              <a:t>It must:</a:t>
            </a:r>
          </a:p>
          <a:p>
            <a:pPr>
              <a:spcBef>
                <a:spcPts val="600"/>
              </a:spcBef>
              <a:spcAft>
                <a:spcPts val="1200"/>
              </a:spcAft>
            </a:pPr>
            <a:r>
              <a:rPr lang="en-AU" sz="2200" dirty="0" smtClean="0">
                <a:latin typeface="Helvetica" pitchFamily="34" charset="0"/>
              </a:rPr>
              <a:t>Match and exceeds cleanliness found </a:t>
            </a:r>
            <a:br>
              <a:rPr lang="en-AU" sz="2200" dirty="0" smtClean="0">
                <a:latin typeface="Helvetica" pitchFamily="34" charset="0"/>
              </a:rPr>
            </a:br>
            <a:r>
              <a:rPr lang="en-AU" sz="2200" dirty="0" smtClean="0">
                <a:latin typeface="Helvetica" pitchFamily="34" charset="0"/>
              </a:rPr>
              <a:t>in a normal household</a:t>
            </a:r>
          </a:p>
          <a:p>
            <a:pPr>
              <a:spcBef>
                <a:spcPts val="600"/>
              </a:spcBef>
              <a:spcAft>
                <a:spcPts val="1200"/>
              </a:spcAft>
            </a:pPr>
            <a:r>
              <a:rPr lang="en-AU" sz="2200" dirty="0" smtClean="0">
                <a:latin typeface="Helvetica" pitchFamily="34" charset="0"/>
              </a:rPr>
              <a:t>Look clean and tidy</a:t>
            </a:r>
          </a:p>
          <a:p>
            <a:pPr>
              <a:spcBef>
                <a:spcPts val="600"/>
              </a:spcBef>
              <a:spcAft>
                <a:spcPts val="1200"/>
              </a:spcAft>
            </a:pPr>
            <a:r>
              <a:rPr lang="en-AU" sz="2200" dirty="0" smtClean="0">
                <a:latin typeface="Helvetica" pitchFamily="34" charset="0"/>
              </a:rPr>
              <a:t>Be aesthetically pleasing</a:t>
            </a:r>
          </a:p>
          <a:p>
            <a:pPr>
              <a:spcBef>
                <a:spcPts val="600"/>
              </a:spcBef>
              <a:spcAft>
                <a:spcPts val="1200"/>
              </a:spcAft>
            </a:pPr>
            <a:r>
              <a:rPr lang="en-AU" sz="2200" dirty="0" smtClean="0"/>
              <a:t>Be</a:t>
            </a:r>
            <a:r>
              <a:rPr lang="en-AU" sz="2200" dirty="0" smtClean="0">
                <a:latin typeface="Helvetica" pitchFamily="34" charset="0"/>
              </a:rPr>
              <a:t> free from dangers that can                           pose a hygiene or safety risk.</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Foyer 6.jpg"/>
          <p:cNvPicPr/>
          <p:nvPr/>
        </p:nvPicPr>
        <p:blipFill>
          <a:blip r:embed="rId3" cstate="print"/>
          <a:stretch>
            <a:fillRect/>
          </a:stretch>
        </p:blipFill>
        <p:spPr>
          <a:xfrm>
            <a:off x="6072198" y="2714620"/>
            <a:ext cx="2059732" cy="165758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Key definitions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Before we can start to discuss cleaning methods involved, it is important to identify and discuss these three key terms:</a:t>
            </a:r>
          </a:p>
          <a:p>
            <a:pPr lvl="0">
              <a:spcBef>
                <a:spcPts val="600"/>
              </a:spcBef>
              <a:spcAft>
                <a:spcPts val="1200"/>
              </a:spcAft>
            </a:pPr>
            <a:r>
              <a:rPr lang="en-AU" sz="2200" dirty="0" smtClean="0">
                <a:latin typeface="Helvetica" pitchFamily="34" charset="0"/>
              </a:rPr>
              <a:t>Public areas</a:t>
            </a:r>
          </a:p>
          <a:p>
            <a:pPr lvl="0">
              <a:spcBef>
                <a:spcPts val="600"/>
              </a:spcBef>
              <a:spcAft>
                <a:spcPts val="1200"/>
              </a:spcAft>
            </a:pPr>
            <a:r>
              <a:rPr lang="en-AU" sz="2200" dirty="0" smtClean="0">
                <a:latin typeface="Helvetica" pitchFamily="34" charset="0"/>
              </a:rPr>
              <a:t>Facilities</a:t>
            </a:r>
          </a:p>
          <a:p>
            <a:pPr lvl="0">
              <a:spcBef>
                <a:spcPts val="600"/>
              </a:spcBef>
              <a:spcAft>
                <a:spcPts val="1200"/>
              </a:spcAft>
            </a:pPr>
            <a:r>
              <a:rPr lang="en-AU" sz="2200" dirty="0" smtClean="0">
                <a:latin typeface="Helvetica" pitchFamily="34" charset="0"/>
              </a:rPr>
              <a:t>Equipment.</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124_2498.JPG"/>
          <p:cNvPicPr/>
          <p:nvPr/>
        </p:nvPicPr>
        <p:blipFill>
          <a:blip r:embed="rId3" cstate="print"/>
          <a:stretch>
            <a:fillRect/>
          </a:stretch>
        </p:blipFill>
        <p:spPr>
          <a:xfrm>
            <a:off x="5357818" y="2857496"/>
            <a:ext cx="2604120" cy="186308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Public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 public space is any area within a hospitality organisation that is readily available for all customers to enjoy.</a:t>
            </a:r>
          </a:p>
          <a:p>
            <a:pPr>
              <a:spcBef>
                <a:spcPts val="600"/>
              </a:spcBef>
              <a:spcAft>
                <a:spcPts val="1200"/>
              </a:spcAft>
              <a:buNone/>
            </a:pPr>
            <a:r>
              <a:rPr lang="en-AU" sz="2200" dirty="0" smtClean="0">
                <a:latin typeface="Helvetica" pitchFamily="34" charset="0"/>
              </a:rPr>
              <a:t>Public areas include:</a:t>
            </a:r>
          </a:p>
          <a:p>
            <a:pPr lvl="0">
              <a:spcBef>
                <a:spcPts val="600"/>
              </a:spcBef>
              <a:spcAft>
                <a:spcPts val="1200"/>
              </a:spcAft>
            </a:pPr>
            <a:r>
              <a:rPr lang="en-AU" sz="2200" dirty="0" smtClean="0">
                <a:latin typeface="Helvetica" pitchFamily="34" charset="0"/>
              </a:rPr>
              <a:t>Lobby</a:t>
            </a:r>
          </a:p>
          <a:p>
            <a:pPr lvl="0">
              <a:spcBef>
                <a:spcPts val="600"/>
              </a:spcBef>
              <a:spcAft>
                <a:spcPts val="1200"/>
              </a:spcAft>
            </a:pPr>
            <a:r>
              <a:rPr lang="en-AU" sz="2200" dirty="0" smtClean="0">
                <a:latin typeface="Helvetica" pitchFamily="34" charset="0"/>
              </a:rPr>
              <a:t>Restaurants</a:t>
            </a:r>
          </a:p>
          <a:p>
            <a:pPr lvl="0">
              <a:spcBef>
                <a:spcPts val="600"/>
              </a:spcBef>
              <a:spcAft>
                <a:spcPts val="1200"/>
              </a:spcAft>
            </a:pPr>
            <a:r>
              <a:rPr lang="en-AU" sz="2200" dirty="0" smtClean="0">
                <a:latin typeface="Helvetica" pitchFamily="34" charset="0"/>
              </a:rPr>
              <a:t>Bars</a:t>
            </a:r>
          </a:p>
          <a:p>
            <a:pPr lvl="0">
              <a:spcBef>
                <a:spcPts val="600"/>
              </a:spcBef>
              <a:spcAft>
                <a:spcPts val="1200"/>
              </a:spcAft>
            </a:pPr>
            <a:r>
              <a:rPr lang="en-AU" sz="2200" dirty="0" smtClean="0">
                <a:latin typeface="Helvetica" pitchFamily="34" charset="0"/>
              </a:rPr>
              <a:t>Outlet shops.</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125_2595.JPG"/>
          <p:cNvPicPr>
            <a:picLocks noChangeAspect="1"/>
          </p:cNvPicPr>
          <p:nvPr/>
        </p:nvPicPr>
        <p:blipFill>
          <a:blip r:embed="rId3" cstate="print"/>
          <a:stretch>
            <a:fillRect/>
          </a:stretch>
        </p:blipFill>
        <p:spPr>
          <a:xfrm>
            <a:off x="5000628" y="3000372"/>
            <a:ext cx="2843808" cy="213285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Public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Public areas include:</a:t>
            </a:r>
          </a:p>
          <a:p>
            <a:pPr lvl="0">
              <a:spcBef>
                <a:spcPts val="600"/>
              </a:spcBef>
              <a:spcAft>
                <a:spcPts val="1200"/>
              </a:spcAft>
            </a:pPr>
            <a:r>
              <a:rPr lang="en-AU" sz="2200" dirty="0" smtClean="0">
                <a:latin typeface="Helvetica" pitchFamily="34" charset="0"/>
              </a:rPr>
              <a:t>Elevators</a:t>
            </a:r>
          </a:p>
          <a:p>
            <a:pPr lvl="0">
              <a:spcBef>
                <a:spcPts val="600"/>
              </a:spcBef>
              <a:spcAft>
                <a:spcPts val="1200"/>
              </a:spcAft>
            </a:pPr>
            <a:r>
              <a:rPr lang="en-AU" sz="2200" dirty="0" smtClean="0">
                <a:latin typeface="Helvetica" pitchFamily="34" charset="0"/>
              </a:rPr>
              <a:t>Public toilets</a:t>
            </a:r>
          </a:p>
          <a:p>
            <a:pPr lvl="0">
              <a:spcBef>
                <a:spcPts val="600"/>
              </a:spcBef>
              <a:spcAft>
                <a:spcPts val="1200"/>
              </a:spcAft>
            </a:pPr>
            <a:r>
              <a:rPr lang="en-AU" sz="2200" dirty="0" smtClean="0">
                <a:latin typeface="Helvetica" pitchFamily="34" charset="0"/>
              </a:rPr>
              <a:t>Corridors</a:t>
            </a:r>
          </a:p>
          <a:p>
            <a:pPr lvl="0">
              <a:spcBef>
                <a:spcPts val="600"/>
              </a:spcBef>
              <a:spcAft>
                <a:spcPts val="1200"/>
              </a:spcAft>
            </a:pPr>
            <a:r>
              <a:rPr lang="en-AU" sz="2200" dirty="0" smtClean="0">
                <a:latin typeface="Helvetica" pitchFamily="34" charset="0"/>
              </a:rPr>
              <a:t>Gardens</a:t>
            </a:r>
          </a:p>
          <a:p>
            <a:pPr lvl="0">
              <a:spcBef>
                <a:spcPts val="600"/>
              </a:spcBef>
              <a:spcAft>
                <a:spcPts val="1200"/>
              </a:spcAft>
            </a:pPr>
            <a:r>
              <a:rPr lang="en-AU" sz="2200" dirty="0" smtClean="0">
                <a:latin typeface="Helvetica" pitchFamily="34" charset="0"/>
              </a:rPr>
              <a:t>Swimming pools</a:t>
            </a:r>
          </a:p>
          <a:p>
            <a:pPr lvl="0">
              <a:spcBef>
                <a:spcPts val="600"/>
              </a:spcBef>
              <a:spcAft>
                <a:spcPts val="1200"/>
              </a:spcAft>
            </a:pPr>
            <a:r>
              <a:rPr lang="en-AU" sz="2200" dirty="0" smtClean="0">
                <a:latin typeface="Helvetica" pitchFamily="34" charset="0"/>
              </a:rPr>
              <a:t>Gymnasiums</a:t>
            </a:r>
          </a:p>
          <a:p>
            <a:pPr>
              <a:spcBef>
                <a:spcPts val="600"/>
              </a:spcBef>
              <a:spcAft>
                <a:spcPts val="1200"/>
              </a:spcAft>
            </a:pPr>
            <a:r>
              <a:rPr lang="en-AU" sz="2200" dirty="0" smtClean="0">
                <a:latin typeface="Helvetica" pitchFamily="34" charset="0"/>
              </a:rPr>
              <a:t>Play areas</a:t>
            </a:r>
          </a:p>
          <a:p>
            <a:pPr>
              <a:spcBef>
                <a:spcPts val="600"/>
              </a:spcBef>
              <a:spcAft>
                <a:spcPts val="1200"/>
              </a:spcAft>
            </a:pPr>
            <a:r>
              <a:rPr lang="en-AU" sz="2200" dirty="0" smtClean="0"/>
              <a:t>Car park</a:t>
            </a:r>
            <a:endParaRPr lang="en-AU" sz="2200"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127_2794.JPG"/>
          <p:cNvPicPr/>
          <p:nvPr/>
        </p:nvPicPr>
        <p:blipFill>
          <a:blip r:embed="rId3" cstate="print"/>
          <a:stretch>
            <a:fillRect/>
          </a:stretch>
        </p:blipFill>
        <p:spPr>
          <a:xfrm>
            <a:off x="5072066" y="2428868"/>
            <a:ext cx="2845470" cy="200689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Facilities are aspects of products and services within these public areas. </a:t>
            </a:r>
          </a:p>
          <a:p>
            <a:pPr>
              <a:spcBef>
                <a:spcPts val="600"/>
              </a:spcBef>
              <a:spcAft>
                <a:spcPts val="1200"/>
              </a:spcAft>
              <a:buNone/>
            </a:pPr>
            <a:r>
              <a:rPr lang="en-AU" sz="2200" dirty="0" smtClean="0">
                <a:latin typeface="Helvetica" pitchFamily="34" charset="0"/>
              </a:rPr>
              <a:t>It can include:</a:t>
            </a:r>
          </a:p>
          <a:p>
            <a:pPr lvl="0">
              <a:spcBef>
                <a:spcPts val="600"/>
              </a:spcBef>
              <a:spcAft>
                <a:spcPts val="1200"/>
              </a:spcAft>
            </a:pPr>
            <a:r>
              <a:rPr lang="en-AU" sz="2200" u="sng" dirty="0" smtClean="0">
                <a:latin typeface="Helvetica" pitchFamily="34" charset="0"/>
              </a:rPr>
              <a:t>Furniture</a:t>
            </a:r>
            <a:r>
              <a:rPr lang="en-AU" sz="2200" dirty="0" smtClean="0">
                <a:latin typeface="Helvetica" pitchFamily="34" charset="0"/>
              </a:rPr>
              <a:t> commonly refers to items in the room that are movable including tables, chairs and sundecks</a:t>
            </a:r>
          </a:p>
          <a:p>
            <a:pPr lvl="0">
              <a:spcBef>
                <a:spcPts val="600"/>
              </a:spcBef>
              <a:spcAft>
                <a:spcPts val="1200"/>
              </a:spcAft>
            </a:pPr>
            <a:r>
              <a:rPr lang="en-AU" sz="2200" u="sng" dirty="0" smtClean="0">
                <a:latin typeface="Helvetica" pitchFamily="34" charset="0"/>
              </a:rPr>
              <a:t>Fixtures</a:t>
            </a:r>
            <a:r>
              <a:rPr lang="en-AU" sz="2200" dirty="0" smtClean="0">
                <a:latin typeface="Helvetica" pitchFamily="34" charset="0"/>
              </a:rPr>
              <a:t> refer to items that are attached including heaters, air-conditioners and lights</a:t>
            </a:r>
          </a:p>
          <a:p>
            <a:pPr lvl="0">
              <a:spcBef>
                <a:spcPts val="600"/>
              </a:spcBef>
              <a:spcAft>
                <a:spcPts val="1200"/>
              </a:spcAft>
            </a:pPr>
            <a:r>
              <a:rPr lang="en-AU" sz="2200" u="sng" dirty="0" smtClean="0">
                <a:latin typeface="Helvetica" pitchFamily="34" charset="0"/>
              </a:rPr>
              <a:t>Fittings</a:t>
            </a:r>
            <a:r>
              <a:rPr lang="en-AU" sz="2200" dirty="0" smtClean="0">
                <a:latin typeface="Helvetica" pitchFamily="34" charset="0"/>
              </a:rPr>
              <a:t> refers to taps, pipes and                               electrical aspects of a public space.</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8" name="Picture 7" descr="MP900423126[1].JPG"/>
          <p:cNvPicPr/>
          <p:nvPr/>
        </p:nvPicPr>
        <p:blipFill>
          <a:blip r:embed="rId3" cstate="print"/>
          <a:stretch>
            <a:fillRect/>
          </a:stretch>
        </p:blipFill>
        <p:spPr>
          <a:xfrm>
            <a:off x="6143636" y="4643446"/>
            <a:ext cx="1809353" cy="152132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Equipment is defined as the items within the public area that are used, their by customers or staff.</a:t>
            </a:r>
          </a:p>
          <a:p>
            <a:pPr>
              <a:spcBef>
                <a:spcPts val="600"/>
              </a:spcBef>
              <a:spcAft>
                <a:spcPts val="1200"/>
              </a:spcAft>
              <a:buNone/>
            </a:pPr>
            <a:r>
              <a:rPr lang="en-AU" sz="2200" dirty="0" smtClean="0">
                <a:latin typeface="Helvetica" pitchFamily="34" charset="0"/>
              </a:rPr>
              <a:t>Examples of equipment can used </a:t>
            </a:r>
            <a:r>
              <a:rPr lang="en-AU" sz="2200" u="sng" dirty="0" smtClean="0">
                <a:latin typeface="Helvetica" pitchFamily="34" charset="0"/>
              </a:rPr>
              <a:t>by staff</a:t>
            </a:r>
            <a:r>
              <a:rPr lang="en-AU" sz="2200" dirty="0" smtClean="0">
                <a:latin typeface="Helvetica" pitchFamily="34" charset="0"/>
              </a:rPr>
              <a:t> include:</a:t>
            </a:r>
          </a:p>
          <a:p>
            <a:pPr lvl="0">
              <a:spcBef>
                <a:spcPts val="600"/>
              </a:spcBef>
              <a:spcAft>
                <a:spcPts val="1200"/>
              </a:spcAft>
            </a:pPr>
            <a:r>
              <a:rPr lang="en-AU" sz="2200" dirty="0" smtClean="0">
                <a:latin typeface="Helvetica" pitchFamily="34" charset="0"/>
              </a:rPr>
              <a:t>Buffet areas</a:t>
            </a:r>
          </a:p>
          <a:p>
            <a:pPr lvl="0">
              <a:spcBef>
                <a:spcPts val="600"/>
              </a:spcBef>
              <a:spcAft>
                <a:spcPts val="1200"/>
              </a:spcAft>
            </a:pPr>
            <a:r>
              <a:rPr lang="en-AU" sz="2200" dirty="0" smtClean="0">
                <a:latin typeface="Helvetica" pitchFamily="34" charset="0"/>
              </a:rPr>
              <a:t>Kitchen equipment.</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126_2602.JPG"/>
          <p:cNvPicPr>
            <a:picLocks noChangeAspect="1"/>
          </p:cNvPicPr>
          <p:nvPr/>
        </p:nvPicPr>
        <p:blipFill>
          <a:blip r:embed="rId3" cstate="print"/>
          <a:stretch>
            <a:fillRect/>
          </a:stretch>
        </p:blipFill>
        <p:spPr>
          <a:xfrm>
            <a:off x="5000628" y="3286124"/>
            <a:ext cx="2667019" cy="200026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Examples of leisure equipment used </a:t>
            </a:r>
            <a:r>
              <a:rPr lang="en-AU" sz="2200" u="sng" dirty="0" smtClean="0">
                <a:latin typeface="Helvetica" pitchFamily="34" charset="0"/>
              </a:rPr>
              <a:t>by customers</a:t>
            </a:r>
            <a:r>
              <a:rPr lang="en-AU" sz="2200" dirty="0" smtClean="0">
                <a:latin typeface="Helvetica" pitchFamily="34" charset="0"/>
              </a:rPr>
              <a:t> include:</a:t>
            </a:r>
          </a:p>
          <a:p>
            <a:pPr lvl="0">
              <a:spcBef>
                <a:spcPts val="600"/>
              </a:spcBef>
              <a:spcAft>
                <a:spcPts val="1200"/>
              </a:spcAft>
            </a:pPr>
            <a:r>
              <a:rPr lang="en-AU" sz="2200" dirty="0" smtClean="0">
                <a:latin typeface="Helvetica" pitchFamily="34" charset="0"/>
              </a:rPr>
              <a:t>Games – board games, ping pong tables</a:t>
            </a:r>
          </a:p>
          <a:p>
            <a:pPr lvl="0">
              <a:spcBef>
                <a:spcPts val="600"/>
              </a:spcBef>
              <a:spcAft>
                <a:spcPts val="1200"/>
              </a:spcAft>
            </a:pPr>
            <a:r>
              <a:rPr lang="en-AU" sz="2200" dirty="0" smtClean="0">
                <a:latin typeface="Helvetica" pitchFamily="34" charset="0"/>
              </a:rPr>
              <a:t>Sporting goods – golf clubs</a:t>
            </a:r>
          </a:p>
          <a:p>
            <a:pPr lvl="0">
              <a:spcBef>
                <a:spcPts val="600"/>
              </a:spcBef>
              <a:spcAft>
                <a:spcPts val="1200"/>
              </a:spcAft>
            </a:pPr>
            <a:r>
              <a:rPr lang="en-AU" sz="2200" dirty="0" smtClean="0">
                <a:latin typeface="Helvetica" pitchFamily="34" charset="0"/>
              </a:rPr>
              <a:t>Gym equipment – water tanks, weights, </a:t>
            </a:r>
            <a:br>
              <a:rPr lang="en-AU" sz="2200" dirty="0" smtClean="0">
                <a:latin typeface="Helvetica" pitchFamily="34" charset="0"/>
              </a:rPr>
            </a:br>
            <a:r>
              <a:rPr lang="en-AU" sz="2200" dirty="0" smtClean="0">
                <a:latin typeface="Helvetica" pitchFamily="34" charset="0"/>
              </a:rPr>
              <a:t>machines</a:t>
            </a:r>
          </a:p>
          <a:p>
            <a:pPr lvl="0">
              <a:spcBef>
                <a:spcPts val="600"/>
              </a:spcBef>
              <a:spcAft>
                <a:spcPts val="1200"/>
              </a:spcAft>
            </a:pPr>
            <a:r>
              <a:rPr lang="en-AU" sz="2200" dirty="0" smtClean="0">
                <a:latin typeface="Helvetica" pitchFamily="34" charset="0"/>
              </a:rPr>
              <a:t>Pool equipment – inflatable equipment and balls</a:t>
            </a:r>
          </a:p>
          <a:p>
            <a:pPr lvl="0">
              <a:spcBef>
                <a:spcPts val="600"/>
              </a:spcBef>
              <a:spcAft>
                <a:spcPts val="1200"/>
              </a:spcAft>
            </a:pPr>
            <a:r>
              <a:rPr lang="en-AU" sz="2200" dirty="0" smtClean="0">
                <a:latin typeface="Helvetica" pitchFamily="34" charset="0"/>
              </a:rPr>
              <a:t>Leisure machinery - jet skis, boats</a:t>
            </a:r>
          </a:p>
          <a:p>
            <a:pPr lvl="0">
              <a:spcBef>
                <a:spcPts val="600"/>
              </a:spcBef>
              <a:spcAft>
                <a:spcPts val="1200"/>
              </a:spcAft>
            </a:pPr>
            <a:r>
              <a:rPr lang="en-AU" sz="2200" dirty="0" smtClean="0">
                <a:latin typeface="Helvetica" pitchFamily="34" charset="0"/>
              </a:rPr>
              <a:t>Playground equipment</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MP900422190[1].JPG"/>
          <p:cNvPicPr/>
          <p:nvPr/>
        </p:nvPicPr>
        <p:blipFill>
          <a:blip r:embed="rId3" cstate="print"/>
          <a:stretch>
            <a:fillRect/>
          </a:stretch>
        </p:blipFill>
        <p:spPr>
          <a:xfrm>
            <a:off x="6858016" y="2285992"/>
            <a:ext cx="1289050" cy="193357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Types of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The type of cleaning equipment found in businesses will vary.</a:t>
            </a:r>
          </a:p>
          <a:p>
            <a:pPr marL="0">
              <a:spcBef>
                <a:spcPts val="600"/>
              </a:spcBef>
              <a:spcAft>
                <a:spcPts val="1200"/>
              </a:spcAft>
              <a:buNone/>
            </a:pPr>
            <a:r>
              <a:rPr lang="en-AU" sz="2200" dirty="0" smtClean="0">
                <a:latin typeface="Helvetica" pitchFamily="34" charset="0"/>
              </a:rPr>
              <a:t>Generally, commercial or industrial equipment is better be cause it is:</a:t>
            </a:r>
          </a:p>
          <a:p>
            <a:pPr lvl="0">
              <a:spcBef>
                <a:spcPts val="600"/>
              </a:spcBef>
              <a:spcAft>
                <a:spcPts val="1200"/>
              </a:spcAft>
            </a:pPr>
            <a:r>
              <a:rPr lang="en-US" sz="2200" dirty="0" smtClean="0">
                <a:latin typeface="Helvetica" pitchFamily="34" charset="0"/>
              </a:rPr>
              <a:t>Sturdier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Larger capacity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Fitted with larger electric motors.</a:t>
            </a:r>
            <a:endParaRPr lang="en-AU" sz="2200"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http://image.made-in-china.com/2f0j00OMtaLCERaAop/Industrial-Vacuum-Cleaner-PF-series-.jpg"/>
          <p:cNvPicPr/>
          <p:nvPr/>
        </p:nvPicPr>
        <p:blipFill>
          <a:blip r:embed="rId3" cstate="print"/>
          <a:srcRect/>
          <a:stretch>
            <a:fillRect/>
          </a:stretch>
        </p:blipFill>
        <p:spPr bwMode="auto">
          <a:xfrm>
            <a:off x="5857884" y="3000372"/>
            <a:ext cx="2078397" cy="22145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Types of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Cleaning equipment is commonly divided into two categories:</a:t>
            </a:r>
          </a:p>
          <a:p>
            <a:pPr marL="0">
              <a:spcBef>
                <a:spcPts val="600"/>
              </a:spcBef>
              <a:spcAft>
                <a:spcPts val="1200"/>
              </a:spcAft>
            </a:pPr>
            <a:r>
              <a:rPr lang="en-AU" sz="2200" dirty="0" smtClean="0">
                <a:latin typeface="Helvetica" pitchFamily="34" charset="0"/>
              </a:rPr>
              <a:t>Manual Cleaning Equipment</a:t>
            </a:r>
          </a:p>
          <a:p>
            <a:pPr marL="0">
              <a:spcBef>
                <a:spcPts val="600"/>
              </a:spcBef>
              <a:spcAft>
                <a:spcPts val="1200"/>
              </a:spcAft>
            </a:pPr>
            <a:r>
              <a:rPr lang="en-AU" sz="2200" dirty="0" smtClean="0">
                <a:latin typeface="Helvetica" pitchFamily="34" charset="0"/>
              </a:rPr>
              <a:t>Electrically Powered Equipment.</a:t>
            </a: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http://www.free-press-release.com/uploads/news/2010/02/23/1266947836_img0.jpg"/>
          <p:cNvPicPr/>
          <p:nvPr/>
        </p:nvPicPr>
        <p:blipFill>
          <a:blip r:embed="rId3" cstate="print"/>
          <a:srcRect/>
          <a:stretch>
            <a:fillRect/>
          </a:stretch>
        </p:blipFill>
        <p:spPr bwMode="auto">
          <a:xfrm>
            <a:off x="5715008" y="2571744"/>
            <a:ext cx="1858888" cy="247915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Mops</a:t>
            </a:r>
          </a:p>
          <a:p>
            <a:pPr>
              <a:spcBef>
                <a:spcPts val="600"/>
              </a:spcBef>
              <a:spcAft>
                <a:spcPts val="1200"/>
              </a:spcAft>
              <a:buNone/>
            </a:pPr>
            <a:r>
              <a:rPr lang="en-AU" sz="2200" dirty="0" smtClean="0">
                <a:latin typeface="Helvetica" pitchFamily="34" charset="0"/>
              </a:rPr>
              <a:t>The three main types of mops are:</a:t>
            </a:r>
            <a:r>
              <a:rPr lang="en-AU" sz="2200" b="1" dirty="0" smtClean="0">
                <a:latin typeface="Helvetica" pitchFamily="34" charset="0"/>
              </a:rPr>
              <a: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Dusting mops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Polishing mops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Washing mops.</a:t>
            </a:r>
            <a:endParaRPr lang="en-AU" sz="2200"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MP900385501[1].JPG"/>
          <p:cNvPicPr/>
          <p:nvPr/>
        </p:nvPicPr>
        <p:blipFill>
          <a:blip r:embed="rId3" cstate="print"/>
          <a:stretch>
            <a:fillRect/>
          </a:stretch>
        </p:blipFill>
        <p:spPr>
          <a:xfrm>
            <a:off x="6000760" y="2786058"/>
            <a:ext cx="1847081" cy="2380481"/>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Brooms and brushes</a:t>
            </a:r>
          </a:p>
          <a:p>
            <a:pPr>
              <a:spcBef>
                <a:spcPts val="600"/>
              </a:spcBef>
              <a:spcAft>
                <a:spcPts val="600"/>
              </a:spcAft>
              <a:buNone/>
            </a:pPr>
            <a:r>
              <a:rPr lang="en-US" sz="2200" dirty="0" smtClean="0">
                <a:latin typeface="Helvetica" pitchFamily="34" charset="0"/>
              </a:rPr>
              <a:t>The most common types of brooms and brushes are:</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Carpet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Scrubbing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Sink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Silk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Toilet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Wall brush</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Soft broom</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Hand brush</a:t>
            </a:r>
            <a:endParaRPr lang="en-AU" sz="2200"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MP900386973[1].JPG"/>
          <p:cNvPicPr/>
          <p:nvPr/>
        </p:nvPicPr>
        <p:blipFill>
          <a:blip r:embed="rId3" cstate="print">
            <a:duotone>
              <a:prstClr val="black"/>
              <a:srgbClr val="D9C3A5">
                <a:tint val="50000"/>
                <a:satMod val="180000"/>
              </a:srgbClr>
            </a:duotone>
          </a:blip>
          <a:stretch>
            <a:fillRect/>
          </a:stretch>
        </p:blipFill>
        <p:spPr>
          <a:xfrm>
            <a:off x="5137570" y="3143248"/>
            <a:ext cx="2405840" cy="185738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Personal protective equipment (PPE)</a:t>
            </a:r>
          </a:p>
          <a:p>
            <a:pPr lvl="0">
              <a:spcBef>
                <a:spcPts val="600"/>
              </a:spcBef>
              <a:spcAft>
                <a:spcPts val="1200"/>
              </a:spcAft>
            </a:pPr>
            <a:r>
              <a:rPr lang="en-US" sz="2200" dirty="0" smtClean="0">
                <a:latin typeface="Helvetica" pitchFamily="34" charset="0"/>
              </a:rPr>
              <a:t>Overalls, jackets and aprons (material aprons and PVC aprons)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Thick rubber gloves, PVC gloves, gauntlets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Cotton glove inserts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Breathing apparatus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Waterproof clothing and footwear/rubber boots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Eye protection, safety glasses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Enclosed shoes and steel-capped boots</a:t>
            </a: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MP900175520[1].JPG"/>
          <p:cNvPicPr/>
          <p:nvPr/>
        </p:nvPicPr>
        <p:blipFill>
          <a:blip r:embed="rId3" cstate="print"/>
          <a:stretch>
            <a:fillRect/>
          </a:stretch>
        </p:blipFill>
        <p:spPr>
          <a:xfrm>
            <a:off x="7143768" y="2857496"/>
            <a:ext cx="1387971" cy="207719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Personal protective equipment (PPE)</a:t>
            </a:r>
          </a:p>
          <a:p>
            <a:pPr lvl="0">
              <a:spcBef>
                <a:spcPts val="600"/>
              </a:spcBef>
              <a:spcAft>
                <a:spcPts val="1200"/>
              </a:spcAft>
            </a:pPr>
            <a:r>
              <a:rPr lang="en-US" sz="2200" dirty="0" smtClean="0">
                <a:latin typeface="Helvetica" pitchFamily="34" charset="0"/>
              </a:rPr>
              <a:t>Safety hats, hard hats, headwear and helmets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Goggles and face masks</a:t>
            </a:r>
            <a:r>
              <a:rPr lang="en-US" sz="2200" b="1" dirty="0" smtClean="0">
                <a:latin typeface="Helvetica" pitchFamily="34" charset="0"/>
              </a:rPr>
              <a: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Uniform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RCD devices.</a:t>
            </a:r>
            <a:endParaRPr lang="en-AU"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http://photo-dictionary.com/photofiles/list/1510/2034safety_goggles.jpg"/>
          <p:cNvPicPr/>
          <p:nvPr/>
        </p:nvPicPr>
        <p:blipFill>
          <a:blip r:embed="rId3" cstate="print"/>
          <a:srcRect/>
          <a:stretch>
            <a:fillRect/>
          </a:stretch>
        </p:blipFill>
        <p:spPr bwMode="auto">
          <a:xfrm>
            <a:off x="5500694" y="2786058"/>
            <a:ext cx="2409230" cy="18777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Personal protective equipment (PPE)</a:t>
            </a:r>
          </a:p>
          <a:p>
            <a:pPr marL="0">
              <a:spcBef>
                <a:spcPts val="600"/>
              </a:spcBef>
              <a:spcAft>
                <a:spcPts val="1200"/>
              </a:spcAft>
              <a:buNone/>
            </a:pPr>
            <a:r>
              <a:rPr lang="en-AU" sz="2200" dirty="0" smtClean="0">
                <a:latin typeface="Helvetica" pitchFamily="34" charset="0"/>
              </a:rPr>
              <a:t>Where staff are required to work outside in the elements, PPE can include:</a:t>
            </a:r>
          </a:p>
          <a:p>
            <a:pPr>
              <a:spcBef>
                <a:spcPts val="600"/>
              </a:spcBef>
              <a:spcAft>
                <a:spcPts val="1200"/>
              </a:spcAft>
            </a:pPr>
            <a:r>
              <a:rPr lang="en-AU" sz="2200" dirty="0" smtClean="0">
                <a:latin typeface="Helvetica" pitchFamily="34" charset="0"/>
              </a:rPr>
              <a:t> Sun hats/broad brimmed hats</a:t>
            </a:r>
          </a:p>
          <a:p>
            <a:pPr>
              <a:spcBef>
                <a:spcPts val="600"/>
              </a:spcBef>
              <a:spcAft>
                <a:spcPts val="1200"/>
              </a:spcAft>
            </a:pPr>
            <a:r>
              <a:rPr lang="en-AU" sz="2200" dirty="0" smtClean="0">
                <a:latin typeface="Helvetica" pitchFamily="34" charset="0"/>
              </a:rPr>
              <a:t>Sun glasses </a:t>
            </a:r>
          </a:p>
          <a:p>
            <a:pPr>
              <a:spcBef>
                <a:spcPts val="600"/>
              </a:spcBef>
              <a:spcAft>
                <a:spcPts val="1200"/>
              </a:spcAft>
            </a:pPr>
            <a:r>
              <a:rPr lang="en-AU" sz="2200" dirty="0" smtClean="0">
                <a:latin typeface="Helvetica" pitchFamily="34" charset="0"/>
              </a:rPr>
              <a:t>Sun protection</a:t>
            </a:r>
          </a:p>
          <a:p>
            <a:pPr>
              <a:spcBef>
                <a:spcPts val="600"/>
              </a:spcBef>
              <a:spcAft>
                <a:spcPts val="1200"/>
              </a:spcAft>
            </a:pPr>
            <a:r>
              <a:rPr lang="en-AU" sz="2200" dirty="0" smtClean="0">
                <a:latin typeface="Helvetica" pitchFamily="34" charset="0"/>
              </a:rPr>
              <a:t>Rain coats </a:t>
            </a:r>
          </a:p>
          <a:p>
            <a:pPr>
              <a:spcBef>
                <a:spcPts val="600"/>
              </a:spcBef>
              <a:spcAft>
                <a:spcPts val="1200"/>
              </a:spcAft>
            </a:pPr>
            <a:r>
              <a:rPr lang="en-AU" sz="2200" dirty="0" smtClean="0">
                <a:latin typeface="Helvetica" pitchFamily="34" charset="0"/>
              </a:rPr>
              <a:t>Warm clothing</a:t>
            </a:r>
            <a:endParaRPr lang="en-US" sz="2200" dirty="0" smtClean="0">
              <a:latin typeface="Helvetica" pitchFamily="34" charset="0"/>
            </a:endParaRPr>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Sun.png"/>
          <p:cNvPicPr>
            <a:picLocks noChangeAspect="1"/>
          </p:cNvPicPr>
          <p:nvPr/>
        </p:nvPicPr>
        <p:blipFill>
          <a:blip r:embed="rId3" cstate="print"/>
          <a:stretch>
            <a:fillRect/>
          </a:stretch>
        </p:blipFill>
        <p:spPr>
          <a:xfrm>
            <a:off x="5857884" y="3143248"/>
            <a:ext cx="2056413" cy="182936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Garbage receptacles</a:t>
            </a:r>
          </a:p>
          <a:p>
            <a:pPr marL="0" indent="0">
              <a:spcBef>
                <a:spcPts val="600"/>
              </a:spcBef>
              <a:spcAft>
                <a:spcPts val="1200"/>
              </a:spcAft>
              <a:buNone/>
            </a:pPr>
            <a:r>
              <a:rPr lang="en-AU" sz="2200" dirty="0" smtClean="0">
                <a:latin typeface="Helvetica" pitchFamily="34" charset="0"/>
              </a:rPr>
              <a:t>Nearly all cleaning tasks will require you to gather and dispose of debris, rubbish and waste.</a:t>
            </a:r>
          </a:p>
          <a:p>
            <a:pPr>
              <a:spcBef>
                <a:spcPts val="600"/>
              </a:spcBef>
              <a:spcAft>
                <a:spcPts val="1200"/>
              </a:spcAft>
              <a:buNone/>
            </a:pPr>
            <a:r>
              <a:rPr lang="en-AU" sz="2200" dirty="0" smtClean="0">
                <a:latin typeface="Helvetica" pitchFamily="34" charset="0"/>
              </a:rPr>
              <a:t>The ‘receptacle’ may be:</a:t>
            </a:r>
          </a:p>
          <a:p>
            <a:pPr lvl="0">
              <a:spcBef>
                <a:spcPts val="600"/>
              </a:spcBef>
              <a:spcAft>
                <a:spcPts val="1200"/>
              </a:spcAft>
            </a:pPr>
            <a:r>
              <a:rPr lang="en-US" sz="2200" dirty="0" smtClean="0">
                <a:latin typeface="Helvetica" pitchFamily="34" charset="0"/>
              </a:rPr>
              <a:t>A solid item –such as a bin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disposable plastic bag – usually heavy-duty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bin liner placed inside a garbage receptacle                        that is built-in to a cleaning trolley</a:t>
            </a:r>
            <a:endParaRPr lang="en-AU" sz="2200" dirty="0" smtClean="0">
              <a:latin typeface="Helvetica" pitchFamily="34" charset="0"/>
            </a:endParaRPr>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IMG_1740.jpg"/>
          <p:cNvPicPr/>
          <p:nvPr/>
        </p:nvPicPr>
        <p:blipFill>
          <a:blip r:embed="rId3" cstate="print"/>
          <a:stretch>
            <a:fillRect/>
          </a:stretch>
        </p:blipFill>
        <p:spPr>
          <a:xfrm>
            <a:off x="6929454" y="3071810"/>
            <a:ext cx="1406742" cy="171451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Manual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Other types of equipment include:</a:t>
            </a:r>
          </a:p>
          <a:p>
            <a:pPr>
              <a:spcBef>
                <a:spcPts val="600"/>
              </a:spcBef>
              <a:spcAft>
                <a:spcPts val="1200"/>
              </a:spcAft>
            </a:pPr>
            <a:r>
              <a:rPr lang="en-AU" sz="2200" dirty="0" smtClean="0">
                <a:latin typeface="Helvetica" pitchFamily="34" charset="0"/>
              </a:rPr>
              <a:t>Cloths and sponges</a:t>
            </a:r>
          </a:p>
          <a:p>
            <a:pPr>
              <a:spcBef>
                <a:spcPts val="600"/>
              </a:spcBef>
              <a:spcAft>
                <a:spcPts val="1200"/>
              </a:spcAft>
            </a:pPr>
            <a:r>
              <a:rPr lang="en-AU" sz="2200" dirty="0" smtClean="0">
                <a:latin typeface="Helvetica" pitchFamily="34" charset="0"/>
              </a:rPr>
              <a:t>Buckets</a:t>
            </a:r>
          </a:p>
          <a:p>
            <a:pPr>
              <a:spcBef>
                <a:spcPts val="600"/>
              </a:spcBef>
              <a:spcAft>
                <a:spcPts val="1200"/>
              </a:spcAft>
            </a:pPr>
            <a:r>
              <a:rPr lang="en-US" sz="2200" dirty="0" smtClean="0">
                <a:latin typeface="Helvetica" pitchFamily="34" charset="0"/>
              </a:rPr>
              <a:t>Warning signs</a:t>
            </a:r>
          </a:p>
          <a:p>
            <a:pPr>
              <a:spcBef>
                <a:spcPts val="600"/>
              </a:spcBef>
              <a:spcAft>
                <a:spcPts val="1200"/>
              </a:spcAft>
            </a:pPr>
            <a:r>
              <a:rPr lang="en-US" sz="2200" dirty="0" smtClean="0">
                <a:latin typeface="Helvetica" pitchFamily="34" charset="0"/>
              </a:rPr>
              <a:t>Dust pans</a:t>
            </a:r>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8" name="Picture 7" descr="MP900386468[1].JPG"/>
          <p:cNvPicPr/>
          <p:nvPr/>
        </p:nvPicPr>
        <p:blipFill>
          <a:blip r:embed="rId3" cstate="print"/>
          <a:stretch>
            <a:fillRect/>
          </a:stretch>
        </p:blipFill>
        <p:spPr>
          <a:xfrm>
            <a:off x="5286380" y="2214554"/>
            <a:ext cx="1730767" cy="242889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Electrical cleaning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Vacuum cleaners</a:t>
            </a:r>
          </a:p>
          <a:p>
            <a:pPr>
              <a:spcBef>
                <a:spcPts val="600"/>
              </a:spcBef>
              <a:spcAft>
                <a:spcPts val="1200"/>
              </a:spcAft>
            </a:pPr>
            <a:r>
              <a:rPr lang="en-AU" sz="2200" dirty="0" smtClean="0">
                <a:latin typeface="Helvetica" pitchFamily="34" charset="0"/>
              </a:rPr>
              <a:t>Carpet shampoo machines</a:t>
            </a:r>
          </a:p>
          <a:p>
            <a:pPr>
              <a:spcBef>
                <a:spcPts val="600"/>
              </a:spcBef>
              <a:spcAft>
                <a:spcPts val="1200"/>
              </a:spcAft>
            </a:pPr>
            <a:r>
              <a:rPr lang="en-AU" sz="2200" dirty="0" smtClean="0">
                <a:latin typeface="Helvetica" pitchFamily="34" charset="0"/>
              </a:rPr>
              <a:t>Floor polishers</a:t>
            </a:r>
          </a:p>
          <a:p>
            <a:pPr>
              <a:spcBef>
                <a:spcPts val="600"/>
              </a:spcBef>
              <a:spcAft>
                <a:spcPts val="1200"/>
              </a:spcAft>
            </a:pPr>
            <a:r>
              <a:rPr lang="en-AU" sz="2200" dirty="0" smtClean="0">
                <a:latin typeface="Helvetica" pitchFamily="34" charset="0"/>
              </a:rPr>
              <a:t>Scrubbing machines</a:t>
            </a:r>
          </a:p>
          <a:p>
            <a:pPr>
              <a:spcBef>
                <a:spcPts val="600"/>
              </a:spcBef>
              <a:spcAft>
                <a:spcPts val="1200"/>
              </a:spcAft>
            </a:pPr>
            <a:r>
              <a:rPr lang="en-AU" sz="2200" dirty="0" smtClean="0">
                <a:latin typeface="Helvetica" pitchFamily="34" charset="0"/>
              </a:rPr>
              <a:t>Floor machines</a:t>
            </a: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9" name="Picture 8" descr="http://www.discount-carpet-cleaning-machines.com/images/burnisher.jpg"/>
          <p:cNvPicPr/>
          <p:nvPr/>
        </p:nvPicPr>
        <p:blipFill>
          <a:blip r:embed="rId3" cstate="print"/>
          <a:srcRect/>
          <a:stretch>
            <a:fillRect/>
          </a:stretch>
        </p:blipFill>
        <p:spPr bwMode="auto">
          <a:xfrm>
            <a:off x="5357818" y="2000240"/>
            <a:ext cx="1948607" cy="23985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Equipment complementary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5301208"/>
          </a:xfrm>
        </p:spPr>
        <p:txBody>
          <a:bodyPr>
            <a:normAutofit lnSpcReduction="10000"/>
          </a:bodyPr>
          <a:lstStyle/>
          <a:p>
            <a:pPr>
              <a:spcBef>
                <a:spcPts val="600"/>
              </a:spcBef>
              <a:spcAft>
                <a:spcPts val="1200"/>
              </a:spcAft>
              <a:buNone/>
            </a:pPr>
            <a:r>
              <a:rPr lang="en-US" sz="2200" b="1" dirty="0" smtClean="0">
                <a:latin typeface="Helvetica" pitchFamily="34" charset="0"/>
              </a:rPr>
              <a:t>Toiletries</a:t>
            </a:r>
            <a:endParaRPr lang="en-AU" sz="2200" dirty="0" smtClean="0">
              <a:latin typeface="Helvetica" pitchFamily="34" charset="0"/>
            </a:endParaRPr>
          </a:p>
          <a:p>
            <a:pPr marL="0">
              <a:spcBef>
                <a:spcPts val="600"/>
              </a:spcBef>
              <a:spcAft>
                <a:spcPts val="1200"/>
              </a:spcAft>
              <a:buNone/>
            </a:pPr>
            <a:r>
              <a:rPr lang="en-US" sz="2200" dirty="0" smtClean="0">
                <a:latin typeface="Helvetica" pitchFamily="34" charset="0"/>
              </a:rPr>
              <a:t>There are items that need to be replenished in public area rest rooms and include: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Toilet paper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Tissues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Sanitary bags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Rubbish bags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Soap</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Hand towels – cloth or paper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Shampoo and conditioners</a:t>
            </a:r>
            <a:endParaRPr lang="en-AU" sz="2200" dirty="0" smtClean="0">
              <a:latin typeface="Helvetica" pitchFamily="34" charset="0"/>
            </a:endParaRP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MP900174909[1].JPG"/>
          <p:cNvPicPr/>
          <p:nvPr/>
        </p:nvPicPr>
        <p:blipFill>
          <a:blip r:embed="rId3" cstate="print"/>
          <a:stretch>
            <a:fillRect/>
          </a:stretch>
        </p:blipFill>
        <p:spPr>
          <a:xfrm>
            <a:off x="6072198" y="2857496"/>
            <a:ext cx="1861170" cy="217968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Equipment complementary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Towels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Beach towels for the pool</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Towels for public showers</a:t>
            </a:r>
            <a:endParaRPr lang="en-AU" sz="2200" dirty="0" smtClean="0">
              <a:latin typeface="Helvetica" pitchFamily="34" charset="0"/>
            </a:endParaRPr>
          </a:p>
          <a:p>
            <a:pPr>
              <a:spcBef>
                <a:spcPts val="600"/>
              </a:spcBef>
              <a:spcAft>
                <a:spcPts val="1200"/>
              </a:spcAft>
              <a:buNone/>
            </a:pPr>
            <a:r>
              <a:rPr lang="en-US" sz="2200" b="1" dirty="0" smtClean="0">
                <a:latin typeface="Helvetica" pitchFamily="34" charset="0"/>
              </a:rPr>
              <a:t>Replacement items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Batteries to replace worn or stolen batteries                     in remote control units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Light globes to replace lights</a:t>
            </a:r>
            <a:endParaRPr lang="en-AU" sz="2200" dirty="0" smtClean="0">
              <a:latin typeface="Helvetica" pitchFamily="34" charset="0"/>
            </a:endParaRP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6" descr="MP900337391[1].JPG"/>
          <p:cNvPicPr/>
          <p:nvPr/>
        </p:nvPicPr>
        <p:blipFill>
          <a:blip r:embed="rId3" cstate="print"/>
          <a:stretch>
            <a:fillRect/>
          </a:stretch>
        </p:blipFill>
        <p:spPr>
          <a:xfrm>
            <a:off x="6072198" y="1643050"/>
            <a:ext cx="1340917" cy="2006898"/>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Check equipment is clean, ready and safe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Before using any item of cleaning equipment it must be standard practice to check to make sure the item is:</a:t>
            </a:r>
          </a:p>
          <a:p>
            <a:pPr>
              <a:spcBef>
                <a:spcPts val="600"/>
              </a:spcBef>
              <a:spcAft>
                <a:spcPts val="1200"/>
              </a:spcAft>
            </a:pPr>
            <a:r>
              <a:rPr lang="en-AU" sz="2200" dirty="0" smtClean="0">
                <a:latin typeface="Helvetica" pitchFamily="34" charset="0"/>
              </a:rPr>
              <a:t>In a clean condition </a:t>
            </a:r>
          </a:p>
          <a:p>
            <a:pPr>
              <a:spcBef>
                <a:spcPts val="600"/>
              </a:spcBef>
              <a:spcAft>
                <a:spcPts val="1200"/>
              </a:spcAft>
            </a:pPr>
            <a:r>
              <a:rPr lang="en-AU" sz="2200" dirty="0" smtClean="0">
                <a:latin typeface="Helvetica" pitchFamily="34" charset="0"/>
              </a:rPr>
              <a:t>Ready to use with all necessary attachments</a:t>
            </a:r>
          </a:p>
          <a:p>
            <a:pPr>
              <a:spcBef>
                <a:spcPts val="600"/>
              </a:spcBef>
              <a:spcAft>
                <a:spcPts val="1200"/>
              </a:spcAft>
            </a:pPr>
            <a:r>
              <a:rPr lang="en-AU" sz="2200" dirty="0" smtClean="0">
                <a:latin typeface="Helvetica" pitchFamily="34" charset="0"/>
              </a:rPr>
              <a:t>Safe to use.</a:t>
            </a:r>
          </a:p>
          <a:p>
            <a:pPr>
              <a:spcBef>
                <a:spcPts val="600"/>
              </a:spcBef>
              <a:spcAft>
                <a:spcPts val="1200"/>
              </a:spcAft>
              <a:buNone/>
            </a:pPr>
            <a:r>
              <a:rPr lang="en-AU" sz="2200" dirty="0" smtClean="0">
                <a:latin typeface="Helvetica" pitchFamily="34" charset="0"/>
              </a:rPr>
              <a:t>Refer to manufacturer’s instructions</a:t>
            </a: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http://www.floorbuffers.com/Qstore/custom/nacecare_20_lg.jpg"/>
          <p:cNvPicPr/>
          <p:nvPr/>
        </p:nvPicPr>
        <p:blipFill>
          <a:blip r:embed="rId3" cstate="print"/>
          <a:srcRect/>
          <a:stretch>
            <a:fillRect/>
          </a:stretch>
        </p:blipFill>
        <p:spPr bwMode="auto">
          <a:xfrm>
            <a:off x="6858016" y="3000372"/>
            <a:ext cx="1445692" cy="19337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Check equipment is clean, ready and safe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checks</a:t>
            </a:r>
          </a:p>
          <a:p>
            <a:pPr>
              <a:spcBef>
                <a:spcPts val="600"/>
              </a:spcBef>
              <a:spcAft>
                <a:spcPts val="1200"/>
              </a:spcAft>
              <a:buNone/>
            </a:pPr>
            <a:r>
              <a:rPr lang="en-AU" sz="2200" dirty="0" smtClean="0">
                <a:latin typeface="Helvetica" pitchFamily="34" charset="0"/>
              </a:rPr>
              <a:t>Checking is important for a number of reasons:</a:t>
            </a:r>
          </a:p>
          <a:p>
            <a:pPr lvl="0">
              <a:spcBef>
                <a:spcPts val="600"/>
              </a:spcBef>
              <a:spcAft>
                <a:spcPts val="1200"/>
              </a:spcAft>
            </a:pPr>
            <a:r>
              <a:rPr lang="en-US" sz="2200" dirty="0" smtClean="0">
                <a:latin typeface="Helvetica" pitchFamily="34" charset="0"/>
              </a:rPr>
              <a:t>To avoid mixing chemicals from </a:t>
            </a:r>
            <a:br>
              <a:rPr lang="en-US" sz="2200" dirty="0" smtClean="0">
                <a:latin typeface="Helvetica" pitchFamily="34" charset="0"/>
              </a:rPr>
            </a:br>
            <a:r>
              <a:rPr lang="en-US" sz="2200" dirty="0" smtClean="0">
                <a:latin typeface="Helvetica" pitchFamily="34" charset="0"/>
              </a:rPr>
              <a:t>equipment to equipment </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avoid transferring dirt or grime from </a:t>
            </a:r>
            <a:br>
              <a:rPr lang="en-US" sz="2200" dirty="0" smtClean="0">
                <a:latin typeface="Helvetica" pitchFamily="34" charset="0"/>
              </a:rPr>
            </a:br>
            <a:r>
              <a:rPr lang="en-US" sz="2200" dirty="0" smtClean="0">
                <a:latin typeface="Helvetica" pitchFamily="34" charset="0"/>
              </a:rPr>
              <a:t>one surface to another</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stop transportation of bacteria from                         one surface to another</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avoid accident and injury</a:t>
            </a:r>
            <a:endParaRPr lang="en-AU" sz="2200" dirty="0" smtClean="0">
              <a:latin typeface="Helvetica" pitchFamily="34" charset="0"/>
            </a:endParaRP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descr="view details"/>
          <p:cNvPicPr/>
          <p:nvPr/>
        </p:nvPicPr>
        <p:blipFill>
          <a:blip r:embed="rId3" cstate="print"/>
          <a:srcRect/>
          <a:stretch>
            <a:fillRect/>
          </a:stretch>
        </p:blipFill>
        <p:spPr bwMode="auto">
          <a:xfrm>
            <a:off x="6643702" y="2714620"/>
            <a:ext cx="1685425" cy="1607781"/>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Check equipment is clean, ready and safe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5301208"/>
          </a:xfrm>
        </p:spPr>
        <p:txBody>
          <a:bodyPr>
            <a:normAutofit/>
          </a:bodyPr>
          <a:lstStyle/>
          <a:p>
            <a:pPr>
              <a:spcBef>
                <a:spcPts val="600"/>
              </a:spcBef>
              <a:spcAft>
                <a:spcPts val="1200"/>
              </a:spcAft>
              <a:buNone/>
            </a:pPr>
            <a:r>
              <a:rPr lang="en-AU" sz="2200" b="1" dirty="0" smtClean="0">
                <a:latin typeface="Helvetica" pitchFamily="34" charset="0"/>
              </a:rPr>
              <a:t>What do I need to check? </a:t>
            </a:r>
          </a:p>
          <a:p>
            <a:pPr>
              <a:spcBef>
                <a:spcPts val="600"/>
              </a:spcBef>
              <a:spcAft>
                <a:spcPts val="1200"/>
              </a:spcAft>
            </a:pPr>
            <a:r>
              <a:rPr lang="en-US" sz="2200" dirty="0" smtClean="0">
                <a:latin typeface="Helvetica" pitchFamily="34" charset="0"/>
              </a:rPr>
              <a:t>Equipment does not have any jagged parts, edges that can cause injury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Damage to equipment has not affected its operational safety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Check and clean the exterior of cleaning equipment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Ensure equipment points in contact with surfaces clean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Free of leaks, smells or loose attachments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Items to be used need to sufficient in number</a:t>
            </a:r>
            <a:endParaRPr lang="en-AU" sz="2200" b="1"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8" name="Picture 7" descr="http://www.cleanfreak.com/Qstore/custom/24_inch_scrubber_lg.jpg"/>
          <p:cNvPicPr/>
          <p:nvPr/>
        </p:nvPicPr>
        <p:blipFill>
          <a:blip r:embed="rId3" cstate="print"/>
          <a:srcRect/>
          <a:stretch>
            <a:fillRect/>
          </a:stretch>
        </p:blipFill>
        <p:spPr bwMode="auto">
          <a:xfrm>
            <a:off x="7572396" y="5072074"/>
            <a:ext cx="1419225"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Check equipment is clean, ready and safe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What do I need to check? </a:t>
            </a:r>
          </a:p>
          <a:p>
            <a:pPr lvl="0">
              <a:spcBef>
                <a:spcPts val="600"/>
              </a:spcBef>
              <a:spcAft>
                <a:spcPts val="1200"/>
              </a:spcAft>
            </a:pPr>
            <a:r>
              <a:rPr lang="en-US" sz="2200" dirty="0" smtClean="0">
                <a:latin typeface="Helvetica" pitchFamily="34" charset="0"/>
              </a:rPr>
              <a:t>Items must be appropriate for task</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Make sure all necessary attachments for equipment are taken with you</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Used strictly in accordance with manufacturer’s instructions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Ensure electrical cord is safe to use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Ensure battery-operated equipment is                               fully charged</a:t>
            </a: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MP900386460[1].JPG"/>
          <p:cNvPicPr/>
          <p:nvPr/>
        </p:nvPicPr>
        <p:blipFill>
          <a:blip r:embed="rId3" cstate="print"/>
          <a:stretch>
            <a:fillRect/>
          </a:stretch>
        </p:blipFill>
        <p:spPr>
          <a:xfrm>
            <a:off x="7020272" y="4365104"/>
            <a:ext cx="1702296" cy="175716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Minimise customer inconvenience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Common sense must be used when scheduling and performing cleaning tasks. </a:t>
            </a:r>
          </a:p>
          <a:p>
            <a:pPr>
              <a:spcBef>
                <a:spcPts val="600"/>
              </a:spcBef>
              <a:spcAft>
                <a:spcPts val="1200"/>
              </a:spcAft>
              <a:buNone/>
            </a:pPr>
            <a:r>
              <a:rPr lang="en-AU" sz="2200" dirty="0" smtClean="0">
                <a:latin typeface="Helvetica" pitchFamily="34" charset="0"/>
              </a:rPr>
              <a:t>Two things to think about are:</a:t>
            </a:r>
          </a:p>
          <a:p>
            <a:pPr>
              <a:spcBef>
                <a:spcPts val="600"/>
              </a:spcBef>
              <a:spcAft>
                <a:spcPts val="1200"/>
              </a:spcAft>
            </a:pPr>
            <a:r>
              <a:rPr lang="en-AU" sz="2200" dirty="0" smtClean="0">
                <a:latin typeface="Helvetica" pitchFamily="34" charset="0"/>
              </a:rPr>
              <a:t> Timing</a:t>
            </a:r>
          </a:p>
          <a:p>
            <a:pPr>
              <a:spcBef>
                <a:spcPts val="600"/>
              </a:spcBef>
              <a:spcAft>
                <a:spcPts val="1200"/>
              </a:spcAft>
            </a:pPr>
            <a:r>
              <a:rPr lang="en-AU" sz="2200" dirty="0" smtClean="0">
                <a:latin typeface="Helvetica" pitchFamily="34" charset="0"/>
              </a:rPr>
              <a:t> Site availability</a:t>
            </a: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7" name="Picture 6" descr="MP900383000[1].JPG"/>
          <p:cNvPicPr/>
          <p:nvPr/>
        </p:nvPicPr>
        <p:blipFill>
          <a:blip r:embed="rId3" cstate="print"/>
          <a:stretch>
            <a:fillRect/>
          </a:stretch>
        </p:blipFill>
        <p:spPr>
          <a:xfrm>
            <a:off x="5929322" y="3071810"/>
            <a:ext cx="2062336" cy="1536179"/>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Consider:</a:t>
            </a:r>
          </a:p>
          <a:p>
            <a:pPr lvl="0">
              <a:spcBef>
                <a:spcPts val="600"/>
              </a:spcBef>
              <a:spcAft>
                <a:spcPts val="1200"/>
              </a:spcAft>
            </a:pPr>
            <a:r>
              <a:rPr lang="en-US" sz="2200" dirty="0" smtClean="0">
                <a:latin typeface="Helvetica" pitchFamily="34" charset="0"/>
              </a:rPr>
              <a:t>Can the job be completed before the area is needed?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Are there enough staff to handle the job to get it done on time?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Have you got the right chemicals and </a:t>
            </a:r>
            <a:br>
              <a:rPr lang="en-US" sz="2200" dirty="0" smtClean="0">
                <a:latin typeface="Helvetica" pitchFamily="34" charset="0"/>
              </a:rPr>
            </a:br>
            <a:r>
              <a:rPr lang="en-US" sz="2200" dirty="0" smtClean="0">
                <a:latin typeface="Helvetica" pitchFamily="34" charset="0"/>
              </a:rPr>
              <a:t>enough of them to allow the job to be </a:t>
            </a:r>
            <a:br>
              <a:rPr lang="en-US" sz="2200" dirty="0" smtClean="0">
                <a:latin typeface="Helvetica" pitchFamily="34" charset="0"/>
              </a:rPr>
            </a:br>
            <a:r>
              <a:rPr lang="en-US" sz="2200" dirty="0" smtClean="0">
                <a:latin typeface="Helvetica" pitchFamily="34" charset="0"/>
              </a:rPr>
              <a:t>started and finished without interruption?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All the supervisors, clients and users                                   are happy for the intended work to proceed?</a:t>
            </a:r>
            <a:endParaRPr lang="en-AU" sz="2200" dirty="0" smtClean="0">
              <a:latin typeface="Helvetica" pitchFamily="34" charset="0"/>
            </a:endParaRPr>
          </a:p>
          <a:p>
            <a:pPr>
              <a:buNone/>
            </a:pPr>
            <a:endParaRPr lang="en-AU" sz="2200" b="1" dirty="0" smtClean="0"/>
          </a:p>
          <a:p>
            <a:endParaRPr lang="en-AU" sz="2200" b="1" dirty="0" smtClean="0"/>
          </a:p>
          <a:p>
            <a:endParaRPr lang="en-AU" sz="2200" b="1" dirty="0" smtClean="0"/>
          </a:p>
          <a:p>
            <a:endParaRPr lang="en-AU" sz="2200" b="1" dirty="0" smtClean="0"/>
          </a:p>
          <a:p>
            <a:endParaRPr lang="en-US" sz="2200" dirty="0" smtClean="0"/>
          </a:p>
          <a:p>
            <a:pPr>
              <a:buNone/>
            </a:pPr>
            <a:endParaRPr lang="en-AU" sz="2200" dirty="0" smtClean="0"/>
          </a:p>
          <a:p>
            <a:pPr lvl="0">
              <a:spcBef>
                <a:spcPts val="600"/>
              </a:spcBef>
              <a:spcAft>
                <a:spcPts val="1200"/>
              </a:spcAft>
              <a:buNone/>
            </a:pPr>
            <a:endParaRPr lang="en-AU" sz="2200" dirty="0" smtClean="0">
              <a:latin typeface="Helvetica" pitchFamily="34" charset="0"/>
            </a:endParaRPr>
          </a:p>
          <a:p>
            <a:pPr lvl="0"/>
            <a:endParaRPr lang="en-AU" sz="2200" dirty="0" smtClean="0"/>
          </a:p>
          <a:p>
            <a:pPr lvl="0">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MP900444333.JPG"/>
          <p:cNvPicPr>
            <a:picLocks noChangeAspect="1"/>
          </p:cNvPicPr>
          <p:nvPr/>
        </p:nvPicPr>
        <p:blipFill>
          <a:blip r:embed="rId3" cstate="print"/>
          <a:stretch>
            <a:fillRect/>
          </a:stretch>
        </p:blipFill>
        <p:spPr>
          <a:xfrm>
            <a:off x="6286512" y="3357562"/>
            <a:ext cx="1866921" cy="124241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Whilst it is good to clean when areas are closed, in hotels this is not always the case</a:t>
            </a:r>
          </a:p>
          <a:p>
            <a:pPr marL="0">
              <a:spcBef>
                <a:spcPts val="600"/>
              </a:spcBef>
              <a:spcAft>
                <a:spcPts val="1200"/>
              </a:spcAft>
              <a:buNone/>
            </a:pPr>
            <a:r>
              <a:rPr lang="en-AU" sz="2200" dirty="0" smtClean="0">
                <a:latin typeface="Helvetica" pitchFamily="34" charset="0"/>
              </a:rPr>
              <a:t>Also there will be times when cleaning must be done while people are in the area</a:t>
            </a:r>
            <a:endParaRPr lang="en-AU" sz="2200" b="1" dirty="0" smtClean="0">
              <a:latin typeface="Helvetica" pitchFamily="34" charset="0"/>
            </a:endParaRPr>
          </a:p>
          <a:p>
            <a:endParaRPr lang="en-AU" sz="2400" b="1" dirty="0" smtClean="0"/>
          </a:p>
          <a:p>
            <a:pPr>
              <a:buNone/>
            </a:pPr>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imgHvThumb" descr="Happy stick-person mopping up spilled liquid"/>
          <p:cNvPicPr/>
          <p:nvPr/>
        </p:nvPicPr>
        <p:blipFill>
          <a:blip r:embed="rId3" cstate="print"/>
          <a:srcRect/>
          <a:stretch>
            <a:fillRect/>
          </a:stretch>
        </p:blipFill>
        <p:spPr bwMode="auto">
          <a:xfrm>
            <a:off x="3786182" y="3714752"/>
            <a:ext cx="2143140" cy="2143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Cleaning disruptions for customers</a:t>
            </a:r>
          </a:p>
          <a:p>
            <a:pPr>
              <a:spcBef>
                <a:spcPts val="600"/>
              </a:spcBef>
              <a:spcAft>
                <a:spcPts val="1200"/>
              </a:spcAft>
              <a:buNone/>
            </a:pPr>
            <a:r>
              <a:rPr lang="en-AU" sz="2200" dirty="0" smtClean="0">
                <a:latin typeface="Helvetica" pitchFamily="34" charset="0"/>
              </a:rPr>
              <a:t>Cleaning duties can disrupt customers:</a:t>
            </a:r>
          </a:p>
          <a:p>
            <a:pPr>
              <a:spcBef>
                <a:spcPts val="600"/>
              </a:spcBef>
              <a:spcAft>
                <a:spcPts val="1200"/>
              </a:spcAft>
            </a:pPr>
            <a:r>
              <a:rPr lang="en-US" sz="2200" dirty="0" smtClean="0">
                <a:latin typeface="Helvetica" pitchFamily="34" charset="0"/>
              </a:rPr>
              <a:t>As a result of noise caused during the </a:t>
            </a:r>
            <a:br>
              <a:rPr lang="en-US" sz="2200" dirty="0" smtClean="0">
                <a:latin typeface="Helvetica" pitchFamily="34" charset="0"/>
              </a:rPr>
            </a:br>
            <a:r>
              <a:rPr lang="en-US" sz="2200" dirty="0" smtClean="0">
                <a:latin typeface="Helvetica" pitchFamily="34" charset="0"/>
              </a:rPr>
              <a:t>cleaning activities </a:t>
            </a:r>
          </a:p>
          <a:p>
            <a:pPr>
              <a:spcBef>
                <a:spcPts val="600"/>
              </a:spcBef>
              <a:spcAft>
                <a:spcPts val="1200"/>
              </a:spcAft>
            </a:pPr>
            <a:r>
              <a:rPr lang="en-US" sz="2200" dirty="0" smtClean="0">
                <a:latin typeface="Helvetica" pitchFamily="34" charset="0"/>
              </a:rPr>
              <a:t>Cleaning smells and pollution</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By providing a physical obstruction to them                      when they are moving about</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Through unwanted interruption to their                             activities in the room where you are cleaning</a:t>
            </a:r>
            <a:endParaRPr lang="en-AU" sz="2200" dirty="0" smtClean="0">
              <a:latin typeface="Helvetica" pitchFamily="34" charset="0"/>
            </a:endParaRPr>
          </a:p>
          <a:p>
            <a:endParaRPr lang="en-AU" sz="2400" b="1" dirty="0" smtClean="0"/>
          </a:p>
          <a:p>
            <a:pPr>
              <a:buNone/>
            </a:pPr>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http://ecx.images-amazon.com/images/I/31UqL8%2BxZ7L._SL500_AA300_.jpg"/>
          <p:cNvPicPr/>
          <p:nvPr/>
        </p:nvPicPr>
        <p:blipFill>
          <a:blip r:embed="rId3" cstate="print"/>
          <a:srcRect/>
          <a:stretch>
            <a:fillRect/>
          </a:stretch>
        </p:blipFill>
        <p:spPr bwMode="auto">
          <a:xfrm>
            <a:off x="6429388" y="1928802"/>
            <a:ext cx="1849388" cy="21374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Cleaning disruptions for staff and business operations</a:t>
            </a:r>
          </a:p>
          <a:p>
            <a:pPr marL="0">
              <a:spcBef>
                <a:spcPts val="600"/>
              </a:spcBef>
              <a:spcAft>
                <a:spcPts val="1200"/>
              </a:spcAft>
              <a:buNone/>
            </a:pPr>
            <a:r>
              <a:rPr lang="en-AU" sz="2200" dirty="0" smtClean="0">
                <a:latin typeface="Helvetica" pitchFamily="34" charset="0"/>
              </a:rPr>
              <a:t>Cleaning duties can disrupt the work of other staff and the operation of the business:</a:t>
            </a:r>
          </a:p>
          <a:p>
            <a:pPr lvl="0">
              <a:spcBef>
                <a:spcPts val="600"/>
              </a:spcBef>
              <a:spcAft>
                <a:spcPts val="1200"/>
              </a:spcAft>
            </a:pPr>
            <a:r>
              <a:rPr lang="en-US" sz="2200" dirty="0" smtClean="0">
                <a:latin typeface="Helvetica" pitchFamily="34" charset="0"/>
              </a:rPr>
              <a:t>By not being completed by the scheduled time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When cleaning staff and cleaning equipment are present in areas when other staff are delivering service to patrons</a:t>
            </a:r>
            <a:endParaRPr lang="en-AU" sz="2200" dirty="0" smtClean="0">
              <a:latin typeface="Helvetica" pitchFamily="34" charset="0"/>
            </a:endParaRPr>
          </a:p>
          <a:p>
            <a:r>
              <a:rPr lang="en-AU" sz="2200" dirty="0" smtClean="0">
                <a:latin typeface="Helvetica" pitchFamily="34" charset="0"/>
              </a:rPr>
              <a:t>By not accommodating unforeseen operational issues into the sequence in which areas are to be cleaned</a:t>
            </a:r>
            <a:endParaRPr lang="en-AU" sz="2200" b="1" dirty="0" smtClean="0">
              <a:latin typeface="Helvetica" pitchFamily="34" charset="0"/>
            </a:endParaRPr>
          </a:p>
          <a:p>
            <a:pPr>
              <a:buNone/>
            </a:pPr>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8" name="Picture 7" descr="114_1441.JPG"/>
          <p:cNvPicPr/>
          <p:nvPr/>
        </p:nvPicPr>
        <p:blipFill>
          <a:blip r:embed="rId3" cstate="print"/>
          <a:stretch>
            <a:fillRect/>
          </a:stretch>
        </p:blipFill>
        <p:spPr>
          <a:xfrm>
            <a:off x="3571868" y="5286388"/>
            <a:ext cx="1536700" cy="1152525"/>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Minimise customer inconvenience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You can further minimise interruption or disruption by:</a:t>
            </a:r>
          </a:p>
          <a:p>
            <a:pPr lvl="0">
              <a:spcBef>
                <a:spcPts val="600"/>
              </a:spcBef>
              <a:spcAft>
                <a:spcPts val="1200"/>
              </a:spcAft>
            </a:pPr>
            <a:r>
              <a:rPr lang="en-US" sz="2200" dirty="0" smtClean="0">
                <a:latin typeface="Helvetica" pitchFamily="34" charset="0"/>
              </a:rPr>
              <a:t>Observing ‘Do Not Disturb’ signs on guest rooms if you are cleaning them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Keeping noise to a minimum when moving around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Conversing quietly with other staff and guests. </a:t>
            </a:r>
            <a:br>
              <a:rPr lang="en-US" sz="2200" dirty="0" smtClean="0">
                <a:latin typeface="Helvetica" pitchFamily="34" charset="0"/>
              </a:rPr>
            </a:br>
            <a:r>
              <a:rPr lang="en-US" sz="2200" dirty="0" smtClean="0">
                <a:latin typeface="Helvetica" pitchFamily="34" charset="0"/>
              </a:rPr>
              <a:t>Only converse with patrons when they initiate the discussion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Keeping trolleys and cleaning equipment                            out of high traffic areas</a:t>
            </a:r>
            <a:endParaRPr lang="en-AU" sz="2200" dirty="0" smtClean="0">
              <a:latin typeface="Helvetica" pitchFamily="34" charset="0"/>
            </a:endParaRP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descr="MP900431800[1].JPG"/>
          <p:cNvPicPr>
            <a:picLocks noChangeAspect="1"/>
          </p:cNvPicPr>
          <p:nvPr/>
        </p:nvPicPr>
        <p:blipFill>
          <a:blip r:embed="rId3" cstate="print"/>
          <a:stretch>
            <a:fillRect/>
          </a:stretch>
        </p:blipFill>
        <p:spPr>
          <a:xfrm>
            <a:off x="7572396" y="3286124"/>
            <a:ext cx="1048268" cy="1571636"/>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 hazards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Before an area can be cleaned it must be assessed and prepared and cleared of any items and hazards.</a:t>
            </a:r>
          </a:p>
          <a:p>
            <a:pPr>
              <a:spcBef>
                <a:spcPts val="600"/>
              </a:spcBef>
              <a:spcAft>
                <a:spcPts val="1200"/>
              </a:spcAft>
            </a:pPr>
            <a:r>
              <a:rPr lang="en-AU" sz="2200" dirty="0" smtClean="0">
                <a:latin typeface="Helvetica" pitchFamily="34" charset="0"/>
              </a:rPr>
              <a:t>What is a hazard?</a:t>
            </a:r>
          </a:p>
          <a:p>
            <a:pPr>
              <a:spcBef>
                <a:spcPts val="600"/>
              </a:spcBef>
              <a:spcAft>
                <a:spcPts val="1200"/>
              </a:spcAft>
            </a:pPr>
            <a:r>
              <a:rPr lang="en-AU" sz="2200" dirty="0" smtClean="0">
                <a:latin typeface="Helvetica" pitchFamily="34" charset="0"/>
              </a:rPr>
              <a:t>What type of hazards exist?</a:t>
            </a:r>
          </a:p>
          <a:p>
            <a:pPr>
              <a:spcBef>
                <a:spcPts val="600"/>
              </a:spcBef>
              <a:spcAft>
                <a:spcPts val="1200"/>
              </a:spcAft>
            </a:pPr>
            <a:r>
              <a:rPr lang="en-AU" sz="2200" dirty="0" smtClean="0">
                <a:latin typeface="Helvetica" pitchFamily="34" charset="0"/>
              </a:rPr>
              <a:t>How can you identify them?</a:t>
            </a:r>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6" descr="http://4.bp.blogspot.com/_UUpL1wE3yP8/TBZe5ajON5I/AAAAAAAACz8/E3ZrzGM6uc4/s1600/Frayed+Electrical+Cord.jpg"/>
          <p:cNvPicPr/>
          <p:nvPr/>
        </p:nvPicPr>
        <p:blipFill>
          <a:blip r:embed="rId3" cstate="print"/>
          <a:srcRect/>
          <a:stretch>
            <a:fillRect/>
          </a:stretch>
        </p:blipFill>
        <p:spPr bwMode="auto">
          <a:xfrm>
            <a:off x="5572132" y="3214686"/>
            <a:ext cx="2206823" cy="14897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hazards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Spillages of food and liquids or all types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Breakages of packages, individual items, glass containers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Wet or slippery surfaces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Broken or damaged furniture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Fumes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Blood, human waste, needles, syringes                          and surgical dressings</a:t>
            </a:r>
            <a:endParaRPr lang="en-AU" sz="2200" dirty="0" smtClean="0">
              <a:latin typeface="Helvetica" pitchFamily="34" charset="0"/>
            </a:endParaRPr>
          </a:p>
          <a:p>
            <a:pPr>
              <a:buNone/>
            </a:pPr>
            <a:endParaRPr lang="en-AU" sz="2200" dirty="0" smtClean="0"/>
          </a:p>
          <a:p>
            <a:pPr>
              <a:buNone/>
            </a:pPr>
            <a:endParaRPr lang="en-AU" sz="2200" b="1" dirty="0" smtClean="0"/>
          </a:p>
          <a:p>
            <a:endParaRPr lang="en-AU" sz="2200" b="1" dirty="0" smtClean="0"/>
          </a:p>
          <a:p>
            <a:endParaRPr lang="en-AU" sz="2200" b="1" dirty="0" smtClean="0"/>
          </a:p>
          <a:p>
            <a:endParaRPr lang="en-AU" sz="2200" b="1" dirty="0" smtClean="0"/>
          </a:p>
          <a:p>
            <a:endParaRPr lang="en-US" sz="2200" dirty="0" smtClean="0"/>
          </a:p>
          <a:p>
            <a:pPr>
              <a:buNone/>
            </a:pPr>
            <a:endParaRPr lang="en-AU" sz="2200" dirty="0" smtClean="0"/>
          </a:p>
          <a:p>
            <a:pPr lvl="0">
              <a:spcBef>
                <a:spcPts val="600"/>
              </a:spcBef>
              <a:spcAft>
                <a:spcPts val="1200"/>
              </a:spcAft>
              <a:buNone/>
            </a:pPr>
            <a:endParaRPr lang="en-AU" sz="2200" dirty="0" smtClean="0">
              <a:latin typeface="Helvetica" pitchFamily="34" charset="0"/>
            </a:endParaRPr>
          </a:p>
          <a:p>
            <a:pPr lvl="0"/>
            <a:endParaRPr lang="en-AU" sz="2200" dirty="0" smtClean="0"/>
          </a:p>
          <a:p>
            <a:pPr lvl="0">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http://www.cnmonline.co.uk/images/P/wet-floor-sign.jpg"/>
          <p:cNvPicPr/>
          <p:nvPr/>
        </p:nvPicPr>
        <p:blipFill>
          <a:blip r:embed="rId3" cstate="print"/>
          <a:srcRect/>
          <a:stretch>
            <a:fillRect/>
          </a:stretch>
        </p:blipFill>
        <p:spPr bwMode="auto">
          <a:xfrm>
            <a:off x="6072198" y="3286124"/>
            <a:ext cx="2098402" cy="18188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hazards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Used condoms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Sharp objects including syringes, knives, blades and skewers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Broken glass – from windows, </a:t>
            </a:r>
            <a:br>
              <a:rPr lang="en-US" sz="2200" dirty="0" smtClean="0">
                <a:latin typeface="Helvetica" pitchFamily="34" charset="0"/>
              </a:rPr>
            </a:br>
            <a:r>
              <a:rPr lang="en-US" sz="2200" dirty="0" smtClean="0">
                <a:latin typeface="Helvetica" pitchFamily="34" charset="0"/>
              </a:rPr>
              <a:t>glassware, mirrors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Fat and oil</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Hot utensils and surfaces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Sharp food scraps such as bones                                     and crustacean shells</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6" name="Picture 5" descr="http://www.bitchdujour.com/wp-content/uploads/2008/10/brokenglass.jpg"/>
          <p:cNvPicPr/>
          <p:nvPr/>
        </p:nvPicPr>
        <p:blipFill>
          <a:blip r:embed="rId3" cstate="print"/>
          <a:srcRect/>
          <a:stretch>
            <a:fillRect/>
          </a:stretch>
        </p:blipFill>
        <p:spPr bwMode="auto">
          <a:xfrm>
            <a:off x="6357950" y="3389144"/>
            <a:ext cx="1928220" cy="16592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Basic preparation procedures</a:t>
            </a:r>
          </a:p>
          <a:p>
            <a:pPr lvl="0">
              <a:spcBef>
                <a:spcPts val="600"/>
              </a:spcBef>
              <a:spcAft>
                <a:spcPts val="600"/>
              </a:spcAft>
            </a:pPr>
            <a:r>
              <a:rPr lang="en-US" sz="2200" dirty="0" smtClean="0">
                <a:latin typeface="Helvetica" pitchFamily="34" charset="0"/>
              </a:rPr>
              <a:t>Never take chances if you think you may harm or injure yourself, another person or property</a:t>
            </a:r>
          </a:p>
          <a:p>
            <a:pPr lvl="0">
              <a:spcBef>
                <a:spcPts val="600"/>
              </a:spcBef>
              <a:spcAft>
                <a:spcPts val="600"/>
              </a:spcAft>
            </a:pPr>
            <a:r>
              <a:rPr lang="en-US" sz="2200" dirty="0" smtClean="0">
                <a:latin typeface="Helvetica" pitchFamily="34" charset="0"/>
              </a:rPr>
              <a:t>Never start a cleaning job if you are concerned </a:t>
            </a:r>
            <a:br>
              <a:rPr lang="en-US" sz="2200" dirty="0" smtClean="0">
                <a:latin typeface="Helvetica" pitchFamily="34" charset="0"/>
              </a:rPr>
            </a:br>
            <a:r>
              <a:rPr lang="en-US" sz="2200" dirty="0" smtClean="0">
                <a:latin typeface="Helvetica" pitchFamily="34" charset="0"/>
              </a:rPr>
              <a:t>for your personal safety </a:t>
            </a:r>
          </a:p>
          <a:p>
            <a:pPr lvl="0">
              <a:spcBef>
                <a:spcPts val="600"/>
              </a:spcBef>
              <a:spcAft>
                <a:spcPts val="600"/>
              </a:spcAft>
            </a:pPr>
            <a:r>
              <a:rPr lang="en-US" sz="2200" dirty="0" smtClean="0">
                <a:latin typeface="Helvetica" pitchFamily="34" charset="0"/>
              </a:rPr>
              <a:t>immediately stop any cleaning job where you                 believe a danger exists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Have all the necessary equipment and materials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Move items that pose a hazard, that might get damaged during the cleaning process</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7" name="Picture 6" descr="MP900314372[1].JPG"/>
          <p:cNvPicPr>
            <a:picLocks noChangeAspect="1"/>
          </p:cNvPicPr>
          <p:nvPr/>
        </p:nvPicPr>
        <p:blipFill>
          <a:blip r:embed="rId3" cstate="print"/>
          <a:stretch>
            <a:fillRect/>
          </a:stretch>
        </p:blipFill>
        <p:spPr>
          <a:xfrm>
            <a:off x="7215206" y="2714620"/>
            <a:ext cx="1113820" cy="236145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Basic preparation procedures</a:t>
            </a:r>
          </a:p>
          <a:p>
            <a:pPr lvl="0">
              <a:spcBef>
                <a:spcPts val="600"/>
              </a:spcBef>
              <a:spcAft>
                <a:spcPts val="600"/>
              </a:spcAft>
            </a:pPr>
            <a:r>
              <a:rPr lang="en-US" sz="2100" dirty="0" smtClean="0">
                <a:latin typeface="Helvetica" pitchFamily="34" charset="0"/>
              </a:rPr>
              <a:t>Move items ensuring they don’t become hazards such as tripping hazards, obstructions in their own right somewhere else</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Ensure the security of any items that have been moved. Keep them in-sight, keep them behind locked doors, put them out of temptation’s way</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Replace items that have been moved when the                 job has been completed</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Lock doors where necessary to maintain security</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Turn off alarms when entering an alarmed area</a:t>
            </a:r>
            <a:endParaRPr lang="en-AU" sz="2100" dirty="0" smtClean="0">
              <a:latin typeface="Helvetica" pitchFamily="34" charset="0"/>
            </a:endParaRPr>
          </a:p>
          <a:p>
            <a:pPr>
              <a:buNone/>
            </a:pPr>
            <a:endParaRPr lang="en-AU" sz="2100" dirty="0" smtClean="0"/>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IMG_2128.jpg"/>
          <p:cNvPicPr/>
          <p:nvPr/>
        </p:nvPicPr>
        <p:blipFill>
          <a:blip r:embed="rId3" cstate="print"/>
          <a:stretch>
            <a:fillRect/>
          </a:stretch>
        </p:blipFill>
        <p:spPr>
          <a:xfrm>
            <a:off x="7358082" y="4286256"/>
            <a:ext cx="1228725" cy="163830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Preparatory cleaning tasks</a:t>
            </a:r>
          </a:p>
          <a:p>
            <a:pPr lvl="0">
              <a:spcBef>
                <a:spcPts val="600"/>
              </a:spcBef>
              <a:spcAft>
                <a:spcPts val="1200"/>
              </a:spcAft>
            </a:pPr>
            <a:r>
              <a:rPr lang="en-US" sz="2200" dirty="0" smtClean="0">
                <a:latin typeface="Helvetica" pitchFamily="34" charset="0"/>
              </a:rPr>
              <a:t>Moving the cleaning equipment and materials into a close position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Walking over the area and picking up any loose rubbish</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Sweeping the area</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Setting up or assembling equipment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Mixing or preparing chemicals and cleaning agents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Deciding where to start the job, the physical direction the work will take and where the job will conclude </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5" descr="MP900386463[1].JPG"/>
          <p:cNvPicPr/>
          <p:nvPr/>
        </p:nvPicPr>
        <p:blipFill>
          <a:blip r:embed="rId3" cstate="print"/>
          <a:stretch>
            <a:fillRect/>
          </a:stretch>
        </p:blipFill>
        <p:spPr>
          <a:xfrm>
            <a:off x="7715272" y="3714752"/>
            <a:ext cx="923925" cy="12954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Barricade the work area or place safety warning signs </a:t>
            </a:r>
          </a:p>
          <a:p>
            <a:pPr>
              <a:spcBef>
                <a:spcPts val="600"/>
              </a:spcBef>
              <a:spcAft>
                <a:spcPts val="1200"/>
              </a:spcAft>
              <a:buNone/>
            </a:pPr>
            <a:r>
              <a:rPr lang="en-AU" sz="2200" dirty="0" smtClean="0">
                <a:latin typeface="Helvetica" pitchFamily="34" charset="0"/>
              </a:rPr>
              <a:t>Signage and barriers serve three purposes:</a:t>
            </a:r>
          </a:p>
          <a:p>
            <a:pPr lvl="0">
              <a:spcBef>
                <a:spcPts val="600"/>
              </a:spcBef>
              <a:spcAft>
                <a:spcPts val="1200"/>
              </a:spcAft>
            </a:pPr>
            <a:r>
              <a:rPr lang="en-US" sz="2200" dirty="0" smtClean="0">
                <a:latin typeface="Helvetica" pitchFamily="34" charset="0"/>
              </a:rPr>
              <a:t>They warn people of danger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They help keep people away from the work area</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They are evidence that the establishment has discharged its duty of care obligation to others</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7" name="Picture 6" descr="http://static.seton.net.au/media/catalog/product/cache/1/image/5e06319eda06f020e43594a9c230972d/S0271.jpg"/>
          <p:cNvPicPr/>
          <p:nvPr/>
        </p:nvPicPr>
        <p:blipFill>
          <a:blip r:embed="rId3" cstate="print"/>
          <a:srcRect/>
          <a:stretch>
            <a:fillRect/>
          </a:stretch>
        </p:blipFill>
        <p:spPr bwMode="auto">
          <a:xfrm>
            <a:off x="4071934" y="4714884"/>
            <a:ext cx="1181100" cy="1581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Prepare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Barricade the work area or place safety warning signs </a:t>
            </a:r>
          </a:p>
          <a:p>
            <a:pPr marL="0">
              <a:spcBef>
                <a:spcPts val="600"/>
              </a:spcBef>
              <a:spcAft>
                <a:spcPts val="1200"/>
              </a:spcAft>
              <a:buNone/>
            </a:pPr>
            <a:r>
              <a:rPr lang="en-AU" sz="2200" dirty="0" smtClean="0">
                <a:latin typeface="Helvetica" pitchFamily="34" charset="0"/>
              </a:rPr>
              <a:t>The following points should be followed with reference to barricades and safety signs:</a:t>
            </a:r>
          </a:p>
          <a:p>
            <a:pPr>
              <a:spcBef>
                <a:spcPts val="600"/>
              </a:spcBef>
              <a:spcAft>
                <a:spcPts val="1200"/>
              </a:spcAft>
            </a:pPr>
            <a:r>
              <a:rPr lang="en-US" sz="2200" dirty="0" smtClean="0">
                <a:latin typeface="Helvetica" pitchFamily="34" charset="0"/>
              </a:rPr>
              <a:t>‘Slippery When Wet’ signs must be used when mopping or working with a slippery surface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‘Cleaning in Progress’ signs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Use of physical barriers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Locked doors to deny access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Other workplace signage</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http://safety-signs-catalogue.com/images/caution_cleaning_in_progress.jpg"/>
          <p:cNvPicPr/>
          <p:nvPr/>
        </p:nvPicPr>
        <p:blipFill>
          <a:blip r:embed="rId3" cstate="print"/>
          <a:srcRect/>
          <a:stretch>
            <a:fillRect/>
          </a:stretch>
        </p:blipFill>
        <p:spPr bwMode="auto">
          <a:xfrm>
            <a:off x="6643702" y="3714752"/>
            <a:ext cx="1285884" cy="15892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301208"/>
          </a:xfrm>
        </p:spPr>
        <p:txBody>
          <a:bodyPr>
            <a:normAutofit/>
          </a:bodyPr>
          <a:lstStyle/>
          <a:p>
            <a:pPr marL="0">
              <a:spcBef>
                <a:spcPts val="600"/>
              </a:spcBef>
              <a:spcAft>
                <a:spcPts val="1200"/>
              </a:spcAft>
              <a:buNone/>
            </a:pPr>
            <a:r>
              <a:rPr lang="en-AU" sz="2200" dirty="0" smtClean="0">
                <a:latin typeface="Helvetica" pitchFamily="34" charset="0"/>
              </a:rPr>
              <a:t>All cleaning equipment should be used correctly, and only used for the purpose for which it was intended. </a:t>
            </a:r>
          </a:p>
          <a:p>
            <a:pPr lvl="0">
              <a:spcBef>
                <a:spcPts val="600"/>
              </a:spcBef>
              <a:spcAft>
                <a:spcPts val="1200"/>
              </a:spcAft>
            </a:pPr>
            <a:r>
              <a:rPr lang="en-US" sz="2200" dirty="0" smtClean="0">
                <a:latin typeface="Helvetica" pitchFamily="34" charset="0"/>
              </a:rPr>
              <a:t>Don’t use an ordinary vacuum cleaner to soak or clear away liquid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 soon as a fault has been identified it must be reported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right equipment should only be                                   used on the surface it was designed to clean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Follow manufacturer’s instructions</a:t>
            </a:r>
            <a:endParaRPr lang="en-AU" sz="2200" dirty="0" smtClean="0">
              <a:latin typeface="Helvetica" pitchFamily="34" charset="0"/>
            </a:endParaRPr>
          </a:p>
          <a:p>
            <a:pPr>
              <a:buNone/>
            </a:pPr>
            <a:endParaRPr lang="en-AU" sz="2200" dirty="0" smtClean="0"/>
          </a:p>
          <a:p>
            <a:pPr>
              <a:buNone/>
            </a:pPr>
            <a:endParaRPr lang="en-AU" sz="2200" b="1" dirty="0" smtClean="0"/>
          </a:p>
          <a:p>
            <a:endParaRPr lang="en-AU" sz="2200" b="1" dirty="0" smtClean="0"/>
          </a:p>
          <a:p>
            <a:endParaRPr lang="en-AU" sz="2200" b="1" dirty="0" smtClean="0"/>
          </a:p>
          <a:p>
            <a:endParaRPr lang="en-AU" sz="2200" b="1" dirty="0" smtClean="0"/>
          </a:p>
          <a:p>
            <a:endParaRPr lang="en-US" sz="2200" dirty="0" smtClean="0"/>
          </a:p>
          <a:p>
            <a:pPr>
              <a:buNone/>
            </a:pPr>
            <a:endParaRPr lang="en-AU" sz="2200" dirty="0" smtClean="0"/>
          </a:p>
          <a:p>
            <a:pPr lvl="0">
              <a:spcBef>
                <a:spcPts val="600"/>
              </a:spcBef>
              <a:spcAft>
                <a:spcPts val="1200"/>
              </a:spcAft>
              <a:buNone/>
            </a:pPr>
            <a:endParaRPr lang="en-AU" sz="2200" dirty="0" smtClean="0">
              <a:latin typeface="Helvetica" pitchFamily="34" charset="0"/>
            </a:endParaRPr>
          </a:p>
          <a:p>
            <a:pPr lvl="0"/>
            <a:endParaRPr lang="en-AU" sz="2200" dirty="0" smtClean="0"/>
          </a:p>
          <a:p>
            <a:pPr lvl="0">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7" name="Picture 6" descr="MP900386132[1].JPG"/>
          <p:cNvPicPr/>
          <p:nvPr/>
        </p:nvPicPr>
        <p:blipFill>
          <a:blip r:embed="rId3" cstate="print"/>
          <a:stretch>
            <a:fillRect/>
          </a:stretch>
        </p:blipFill>
        <p:spPr>
          <a:xfrm>
            <a:off x="7092280" y="4149080"/>
            <a:ext cx="1671310" cy="208634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Employer responsibilities</a:t>
            </a:r>
          </a:p>
          <a:p>
            <a:pPr>
              <a:spcBef>
                <a:spcPts val="600"/>
              </a:spcBef>
              <a:spcAft>
                <a:spcPts val="1200"/>
              </a:spcAft>
              <a:buNone/>
            </a:pPr>
            <a:r>
              <a:rPr lang="en-AU" sz="2200" dirty="0" smtClean="0">
                <a:latin typeface="Helvetica" pitchFamily="34" charset="0"/>
              </a:rPr>
              <a:t>Employer OHS responsibilities may include:</a:t>
            </a:r>
          </a:p>
          <a:p>
            <a:pPr lvl="0">
              <a:spcBef>
                <a:spcPts val="600"/>
              </a:spcBef>
              <a:spcAft>
                <a:spcPts val="1200"/>
              </a:spcAft>
            </a:pPr>
            <a:r>
              <a:rPr lang="en-US" sz="2200" dirty="0" smtClean="0">
                <a:latin typeface="Helvetica" pitchFamily="34" charset="0"/>
              </a:rPr>
              <a:t>Providing safety training and clear safety rules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Encouraging a Workplace OHS Committee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Maintaining an injury register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Adhering to all workplace agreements that                            include reference to OHS matters, issues,                   protection, training, qualified personnel</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descr="MP900175432[1].JPG"/>
          <p:cNvPicPr/>
          <p:nvPr/>
        </p:nvPicPr>
        <p:blipFill>
          <a:blip r:embed="rId3" cstate="print"/>
          <a:stretch>
            <a:fillRect/>
          </a:stretch>
        </p:blipFill>
        <p:spPr>
          <a:xfrm>
            <a:off x="7000892" y="2786058"/>
            <a:ext cx="1352988" cy="172553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Employee responsibilities</a:t>
            </a:r>
          </a:p>
          <a:p>
            <a:pPr>
              <a:spcBef>
                <a:spcPts val="600"/>
              </a:spcBef>
              <a:spcAft>
                <a:spcPts val="600"/>
              </a:spcAft>
              <a:buNone/>
            </a:pPr>
            <a:r>
              <a:rPr lang="en-AU" sz="2100" dirty="0" smtClean="0">
                <a:latin typeface="Helvetica" pitchFamily="34" charset="0"/>
              </a:rPr>
              <a:t>OHS workplace obligations imposed on staff include:</a:t>
            </a:r>
          </a:p>
          <a:p>
            <a:pPr lvl="0">
              <a:spcBef>
                <a:spcPts val="600"/>
              </a:spcBef>
              <a:spcAft>
                <a:spcPts val="600"/>
              </a:spcAft>
            </a:pPr>
            <a:r>
              <a:rPr lang="en-US" sz="2100" dirty="0" smtClean="0">
                <a:latin typeface="Helvetica" pitchFamily="34" charset="0"/>
              </a:rPr>
              <a:t>Working in a way that ensures personal safety, and the safety of others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Using safety equipment strictly in accordance </a:t>
            </a:r>
            <a:br>
              <a:rPr lang="en-US" sz="2100" dirty="0" smtClean="0">
                <a:latin typeface="Helvetica" pitchFamily="34" charset="0"/>
              </a:rPr>
            </a:br>
            <a:r>
              <a:rPr lang="en-US" sz="2100" dirty="0" smtClean="0">
                <a:latin typeface="Helvetica" pitchFamily="34" charset="0"/>
              </a:rPr>
              <a:t>with the manufacturer’s instructions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Using all personal protective equipment and clothing</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Following all occupational health and safety regulations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Reporting accidents, injuries or illness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Reporting any equipment in need of repair</a:t>
            </a:r>
            <a:endParaRPr lang="en-AU" sz="2100" dirty="0" smtClean="0">
              <a:latin typeface="Helvetica" pitchFamily="34" charset="0"/>
            </a:endParaRPr>
          </a:p>
          <a:p>
            <a:pPr>
              <a:buNone/>
            </a:pPr>
            <a:endParaRPr lang="en-AU" sz="2100" dirty="0" smtClean="0"/>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7" name="Picture 6" descr="MP900178951[1].JPG"/>
          <p:cNvPicPr>
            <a:picLocks noChangeAspect="1"/>
          </p:cNvPicPr>
          <p:nvPr/>
        </p:nvPicPr>
        <p:blipFill>
          <a:blip r:embed="rId3" cstate="print"/>
          <a:stretch>
            <a:fillRect/>
          </a:stretch>
        </p:blipFill>
        <p:spPr>
          <a:xfrm>
            <a:off x="6858016" y="2928934"/>
            <a:ext cx="1723289" cy="115747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Employee responsibilities</a:t>
            </a:r>
          </a:p>
          <a:p>
            <a:pPr marL="0">
              <a:spcBef>
                <a:spcPts val="600"/>
              </a:spcBef>
              <a:spcAft>
                <a:spcPts val="1200"/>
              </a:spcAft>
              <a:buNone/>
            </a:pPr>
            <a:r>
              <a:rPr lang="en-US" sz="2200" dirty="0" smtClean="0">
                <a:latin typeface="Helvetica" pitchFamily="34" charset="0"/>
              </a:rPr>
              <a:t>Adhering to all workers’ compensation laws and regulations including:</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Complying with reporting requirements in relation to the accident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Participating in Return To Work programs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Not interfering or getting in the way of a                        person who is trying to assist another in need</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MP900422288[1].JPG"/>
          <p:cNvPicPr>
            <a:picLocks noChangeAspect="1"/>
          </p:cNvPicPr>
          <p:nvPr/>
        </p:nvPicPr>
        <p:blipFill>
          <a:blip r:embed="rId3" cstate="print"/>
          <a:stretch>
            <a:fillRect/>
          </a:stretch>
        </p:blipFill>
        <p:spPr>
          <a:xfrm>
            <a:off x="7072330" y="3357562"/>
            <a:ext cx="1772816" cy="177281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Safe manual handling practices</a:t>
            </a:r>
          </a:p>
          <a:p>
            <a:pPr marL="0">
              <a:spcBef>
                <a:spcPts val="600"/>
              </a:spcBef>
              <a:spcAft>
                <a:spcPts val="600"/>
              </a:spcAft>
              <a:buNone/>
            </a:pPr>
            <a:r>
              <a:rPr lang="en-AU" sz="2200" dirty="0" smtClean="0">
                <a:latin typeface="Helvetica" pitchFamily="34" charset="0"/>
              </a:rPr>
              <a:t>Manual handling activities are the main cause of injuries in the workplace including:</a:t>
            </a:r>
          </a:p>
          <a:p>
            <a:pPr lvl="0">
              <a:spcBef>
                <a:spcPts val="600"/>
              </a:spcBef>
              <a:spcAft>
                <a:spcPts val="600"/>
              </a:spcAft>
            </a:pPr>
            <a:r>
              <a:rPr lang="en-US" sz="2200" dirty="0" smtClean="0">
                <a:latin typeface="Helvetica" pitchFamily="34" charset="0"/>
              </a:rPr>
              <a:t>Lifting – of equipment, chemical containers, cartons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Carrying – items from storage areas to cleaning trolleys, moving items to work areas </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Pulling – boxes and cartons forward in storage                  areas, moving cleaning equipment</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Pushing –trolleys and cleaning equipment</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http://www.hcct.org.uk/wordpress/wp-content/uploads/2010/06/princ_manhan.jpg"/>
          <p:cNvPicPr/>
          <p:nvPr/>
        </p:nvPicPr>
        <p:blipFill>
          <a:blip r:embed="rId3" cstate="print"/>
          <a:srcRect/>
          <a:stretch>
            <a:fillRect/>
          </a:stretch>
        </p:blipFill>
        <p:spPr bwMode="auto">
          <a:xfrm>
            <a:off x="7500958" y="3643314"/>
            <a:ext cx="1478657" cy="14786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Use equipment safely and correctly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Safe manual handling practices</a:t>
            </a:r>
          </a:p>
          <a:p>
            <a:pPr marL="0">
              <a:spcBef>
                <a:spcPts val="600"/>
              </a:spcBef>
              <a:spcAft>
                <a:spcPts val="600"/>
              </a:spcAft>
              <a:buNone/>
            </a:pPr>
            <a:r>
              <a:rPr lang="en-AU" sz="2100" dirty="0" smtClean="0">
                <a:latin typeface="Helvetica" pitchFamily="34" charset="0"/>
              </a:rPr>
              <a:t>Key points to remember when engaged in manual handling activities are:</a:t>
            </a:r>
          </a:p>
          <a:p>
            <a:pPr lvl="0">
              <a:spcBef>
                <a:spcPts val="600"/>
              </a:spcBef>
              <a:spcAft>
                <a:spcPts val="600"/>
              </a:spcAft>
            </a:pPr>
            <a:r>
              <a:rPr lang="en-US" sz="2100" dirty="0" smtClean="0">
                <a:latin typeface="Helvetica" pitchFamily="34" charset="0"/>
              </a:rPr>
              <a:t>Get a risk assessment done on any job you believe poses a threat or hazard</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Push cleaning trolleys and cleaning equipment;                    don’t pull them</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Always stock items in their designated                                 place on the trolley</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Never lift anything on your own that                                     weighs over 16 kg</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Be prepared to ask for help when needed</a:t>
            </a:r>
            <a:endParaRPr lang="en-AU" sz="2100" dirty="0" smtClean="0">
              <a:latin typeface="Helvetica" pitchFamily="34" charset="0"/>
            </a:endParaRPr>
          </a:p>
          <a:p>
            <a:pPr>
              <a:buNone/>
            </a:pPr>
            <a:endParaRPr lang="en-AU" sz="2100" dirty="0" smtClean="0"/>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http://shorecliffe-training.com/wp-content/uploads/2010/11/lifting1-266x300.gif"/>
          <p:cNvPicPr/>
          <p:nvPr/>
        </p:nvPicPr>
        <p:blipFill>
          <a:blip r:embed="rId3" cstate="print"/>
          <a:srcRect/>
          <a:stretch>
            <a:fillRect/>
          </a:stretch>
        </p:blipFill>
        <p:spPr bwMode="auto">
          <a:xfrm>
            <a:off x="7072330" y="3643314"/>
            <a:ext cx="1482849" cy="16447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Safe handling of chemicals</a:t>
            </a:r>
          </a:p>
          <a:p>
            <a:pPr marL="0">
              <a:spcBef>
                <a:spcPts val="600"/>
              </a:spcBef>
              <a:spcAft>
                <a:spcPts val="1200"/>
              </a:spcAft>
              <a:buNone/>
            </a:pPr>
            <a:r>
              <a:rPr lang="en-AU" sz="2200" dirty="0" smtClean="0">
                <a:latin typeface="Helvetica" pitchFamily="34" charset="0"/>
              </a:rPr>
              <a:t>Whenever you are required to deal with chemicals employers are under a legal obligation to provide you with:</a:t>
            </a:r>
          </a:p>
          <a:p>
            <a:pPr lvl="0">
              <a:spcBef>
                <a:spcPts val="600"/>
              </a:spcBef>
              <a:spcAft>
                <a:spcPts val="1200"/>
              </a:spcAft>
            </a:pPr>
            <a:r>
              <a:rPr lang="en-US" sz="2200" dirty="0" smtClean="0">
                <a:latin typeface="Helvetica" pitchFamily="34" charset="0"/>
              </a:rPr>
              <a:t>Appropriate and sufficient training and information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Adequate monitoring and supervision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Necessary safety equipment and protective clothing</a:t>
            </a:r>
          </a:p>
          <a:p>
            <a:pPr lvl="0">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8" name="Picture 7" descr="http://www.el3mentsofwellness.com/wp-content/uploads/2011/05/Cleaning263x300.jpg"/>
          <p:cNvPicPr/>
          <p:nvPr/>
        </p:nvPicPr>
        <p:blipFill>
          <a:blip r:embed="rId3" cstate="print"/>
          <a:srcRect/>
          <a:stretch>
            <a:fillRect/>
          </a:stretch>
        </p:blipFill>
        <p:spPr bwMode="auto">
          <a:xfrm>
            <a:off x="3643306" y="4786322"/>
            <a:ext cx="1477645" cy="1685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Material Safety Data Sheets</a:t>
            </a:r>
          </a:p>
          <a:p>
            <a:pPr>
              <a:spcBef>
                <a:spcPts val="600"/>
              </a:spcBef>
              <a:spcAft>
                <a:spcPts val="1200"/>
              </a:spcAft>
            </a:pPr>
            <a:r>
              <a:rPr lang="en-AU" sz="2100" dirty="0" smtClean="0">
                <a:latin typeface="Helvetica" pitchFamily="34" charset="0"/>
              </a:rPr>
              <a:t>Employers are also required to ensure that all chemicals used in the workplace are accompanied by a Material Safety Data Sheet (MSDS) covering issues including:</a:t>
            </a:r>
          </a:p>
          <a:p>
            <a:pPr lvl="0">
              <a:spcBef>
                <a:spcPts val="600"/>
              </a:spcBef>
              <a:spcAft>
                <a:spcPts val="1200"/>
              </a:spcAft>
            </a:pPr>
            <a:r>
              <a:rPr lang="en-US" sz="2100" dirty="0" smtClean="0">
                <a:latin typeface="Helvetica" pitchFamily="34" charset="0"/>
              </a:rPr>
              <a:t>Product classification</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Storage requirements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Transportation regulations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Safe handling procedures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First aid</a:t>
            </a:r>
            <a:endParaRPr lang="en-AU" sz="2100" dirty="0" smtClean="0">
              <a:latin typeface="Helvetica" pitchFamily="34" charset="0"/>
            </a:endParaRPr>
          </a:p>
          <a:p>
            <a:pPr>
              <a:buNone/>
            </a:pPr>
            <a:endParaRPr lang="en-AU" sz="2100" dirty="0" smtClean="0"/>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4" descr="http://www.ozoneapplications.com/info/ozone_msds.jpg"/>
          <p:cNvPicPr/>
          <p:nvPr/>
        </p:nvPicPr>
        <p:blipFill>
          <a:blip r:embed="rId3" cstate="print"/>
          <a:srcRect/>
          <a:stretch>
            <a:fillRect/>
          </a:stretch>
        </p:blipFill>
        <p:spPr bwMode="auto">
          <a:xfrm>
            <a:off x="5357818" y="3429000"/>
            <a:ext cx="1661170" cy="21290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Selecting and preparing chemicals for use</a:t>
            </a:r>
          </a:p>
          <a:p>
            <a:pPr>
              <a:spcBef>
                <a:spcPts val="600"/>
              </a:spcBef>
              <a:spcAft>
                <a:spcPts val="1200"/>
              </a:spcAft>
              <a:buNone/>
            </a:pPr>
            <a:r>
              <a:rPr lang="en-AU" sz="2200" dirty="0" smtClean="0">
                <a:latin typeface="Helvetica" pitchFamily="34" charset="0"/>
              </a:rPr>
              <a:t>Chemicals may be delivered in:</a:t>
            </a:r>
          </a:p>
          <a:p>
            <a:pPr lvl="0">
              <a:spcBef>
                <a:spcPts val="600"/>
              </a:spcBef>
              <a:spcAft>
                <a:spcPts val="1200"/>
              </a:spcAft>
            </a:pPr>
            <a:r>
              <a:rPr lang="en-US" sz="2200" dirty="0" smtClean="0">
                <a:latin typeface="Helvetica" pitchFamily="34" charset="0"/>
              </a:rPr>
              <a:t>Liquid form – most detergents, cleaners, sanitisers, and disinfectants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Dry/powder form – some detergents come in this dry/powder form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Aerosol form – for pesticides and deodorisers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Paste form – polishes</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MP900341784[1].JPG"/>
          <p:cNvPicPr/>
          <p:nvPr/>
        </p:nvPicPr>
        <p:blipFill>
          <a:blip r:embed="rId3" cstate="print"/>
          <a:stretch>
            <a:fillRect/>
          </a:stretch>
        </p:blipFill>
        <p:spPr>
          <a:xfrm>
            <a:off x="7429520" y="3643314"/>
            <a:ext cx="1077827" cy="151292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Dilute properly</a:t>
            </a:r>
          </a:p>
          <a:p>
            <a:pPr>
              <a:spcBef>
                <a:spcPts val="600"/>
              </a:spcBef>
              <a:spcAft>
                <a:spcPts val="1200"/>
              </a:spcAft>
            </a:pPr>
            <a:r>
              <a:rPr lang="en-AU" sz="2200" dirty="0" smtClean="0">
                <a:latin typeface="Helvetica" pitchFamily="34" charset="0"/>
              </a:rPr>
              <a:t>Read the label and use the chemical correctly</a:t>
            </a:r>
          </a:p>
          <a:p>
            <a:pPr>
              <a:spcBef>
                <a:spcPts val="600"/>
              </a:spcBef>
              <a:spcAft>
                <a:spcPts val="1200"/>
              </a:spcAft>
            </a:pPr>
            <a:r>
              <a:rPr lang="en-AU" sz="2200" dirty="0" smtClean="0">
                <a:latin typeface="Helvetica" pitchFamily="34" charset="0"/>
              </a:rPr>
              <a:t>Some chemicals will be used undiluted</a:t>
            </a:r>
          </a:p>
          <a:p>
            <a:pPr>
              <a:spcBef>
                <a:spcPts val="600"/>
              </a:spcBef>
              <a:spcAft>
                <a:spcPts val="1200"/>
              </a:spcAft>
            </a:pPr>
            <a:r>
              <a:rPr lang="en-AU" sz="2200" dirty="0" smtClean="0">
                <a:latin typeface="Helvetica" pitchFamily="34" charset="0"/>
              </a:rPr>
              <a:t>Always measure chemicals, never guess at how much you are using.</a:t>
            </a:r>
          </a:p>
          <a:p>
            <a:pPr>
              <a:spcBef>
                <a:spcPts val="600"/>
              </a:spcBef>
              <a:spcAft>
                <a:spcPts val="1200"/>
              </a:spcAft>
            </a:pPr>
            <a:r>
              <a:rPr lang="en-AU" sz="2200" dirty="0" smtClean="0">
                <a:latin typeface="Helvetica" pitchFamily="34" charset="0"/>
              </a:rPr>
              <a:t>Always follow the manufacturer’s instructions</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8" name="Picture 7" descr="MP900439325[1].JPG"/>
          <p:cNvPicPr>
            <a:picLocks noChangeAspect="1"/>
          </p:cNvPicPr>
          <p:nvPr/>
        </p:nvPicPr>
        <p:blipFill>
          <a:blip r:embed="rId3" cstate="print"/>
          <a:stretch>
            <a:fillRect/>
          </a:stretch>
        </p:blipFill>
        <p:spPr>
          <a:xfrm>
            <a:off x="3643306" y="4786322"/>
            <a:ext cx="2120280" cy="1407462"/>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Follow relevant work procedures</a:t>
            </a:r>
          </a:p>
          <a:p>
            <a:pPr marL="0">
              <a:spcBef>
                <a:spcPts val="600"/>
              </a:spcBef>
              <a:spcAft>
                <a:spcPts val="1200"/>
              </a:spcAft>
              <a:buNone/>
            </a:pPr>
            <a:r>
              <a:rPr lang="en-AU" sz="2200" dirty="0" smtClean="0">
                <a:latin typeface="Helvetica" pitchFamily="34" charset="0"/>
              </a:rPr>
              <a:t>Where the employer has specific, written directions that relate to selection, preparation and application of chemicals these must be followed.</a:t>
            </a:r>
          </a:p>
          <a:p>
            <a:pPr>
              <a:spcBef>
                <a:spcPts val="600"/>
              </a:spcBef>
              <a:spcAft>
                <a:spcPts val="1200"/>
              </a:spcAft>
              <a:buNone/>
            </a:pPr>
            <a:r>
              <a:rPr lang="en-AU" sz="2200" dirty="0" smtClean="0">
                <a:latin typeface="Helvetica" pitchFamily="34" charset="0"/>
              </a:rPr>
              <a:t>They can take the form of:</a:t>
            </a:r>
          </a:p>
          <a:p>
            <a:pPr>
              <a:spcBef>
                <a:spcPts val="600"/>
              </a:spcBef>
              <a:spcAft>
                <a:spcPts val="1200"/>
              </a:spcAft>
            </a:pPr>
            <a:r>
              <a:rPr lang="en-US" sz="2200" dirty="0" smtClean="0">
                <a:latin typeface="Helvetica" pitchFamily="34" charset="0"/>
              </a:rPr>
              <a:t>Job Instructions </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Checklists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Job Safety Analysis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Work Instructions</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http://newenglandcondo.com/content_images/ma/articleImages/7.jpg"/>
          <p:cNvPicPr/>
          <p:nvPr/>
        </p:nvPicPr>
        <p:blipFill>
          <a:blip r:embed="rId3" cstate="print"/>
          <a:srcRect/>
          <a:stretch>
            <a:fillRect/>
          </a:stretch>
        </p:blipFill>
        <p:spPr bwMode="auto">
          <a:xfrm>
            <a:off x="5429256" y="3571876"/>
            <a:ext cx="2160249" cy="17421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Water</a:t>
            </a:r>
          </a:p>
          <a:p>
            <a:pPr>
              <a:spcBef>
                <a:spcPts val="600"/>
              </a:spcBef>
              <a:spcAft>
                <a:spcPts val="1200"/>
              </a:spcAft>
            </a:pPr>
            <a:r>
              <a:rPr lang="en-AU" sz="2200" dirty="0" smtClean="0">
                <a:latin typeface="Helvetica" pitchFamily="34" charset="0"/>
              </a:rPr>
              <a:t>Used to dilute chemicals</a:t>
            </a:r>
          </a:p>
          <a:p>
            <a:pPr lvl="0">
              <a:spcBef>
                <a:spcPts val="600"/>
              </a:spcBef>
              <a:spcAft>
                <a:spcPts val="1200"/>
              </a:spcAft>
            </a:pPr>
            <a:r>
              <a:rPr lang="en-US" sz="2200" dirty="0" smtClean="0">
                <a:latin typeface="Helvetica" pitchFamily="34" charset="0"/>
              </a:rPr>
              <a:t>Loosen and dissolve dirt and grime from surfaces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Rinse surfaces and cleaning equipment</a:t>
            </a:r>
          </a:p>
          <a:p>
            <a:pPr lvl="0">
              <a:spcBef>
                <a:spcPts val="600"/>
              </a:spcBef>
              <a:spcAft>
                <a:spcPts val="1200"/>
              </a:spcAft>
            </a:pPr>
            <a:r>
              <a:rPr lang="en-US" sz="2200" dirty="0" smtClean="0">
                <a:latin typeface="Helvetica" pitchFamily="34" charset="0"/>
              </a:rPr>
              <a:t>Always use clean water</a:t>
            </a:r>
            <a:endParaRPr lang="en-AU" sz="2200" dirty="0" smtClean="0">
              <a:latin typeface="Helvetica" pitchFamily="34" charset="0"/>
            </a:endParaRP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MP900399942.JPG"/>
          <p:cNvPicPr/>
          <p:nvPr/>
        </p:nvPicPr>
        <p:blipFill>
          <a:blip r:embed="rId3" cstate="print"/>
          <a:stretch>
            <a:fillRect/>
          </a:stretch>
        </p:blipFill>
        <p:spPr>
          <a:xfrm>
            <a:off x="6500826" y="3500438"/>
            <a:ext cx="1417212" cy="1714512"/>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Soap</a:t>
            </a:r>
          </a:p>
          <a:p>
            <a:pPr>
              <a:spcBef>
                <a:spcPts val="600"/>
              </a:spcBef>
              <a:spcAft>
                <a:spcPts val="1200"/>
              </a:spcAft>
            </a:pPr>
            <a:r>
              <a:rPr lang="en-AU" sz="2200" dirty="0" smtClean="0">
                <a:latin typeface="Helvetica" pitchFamily="34" charset="0"/>
              </a:rPr>
              <a:t>Generally, soap is made from animal fats and caustic soda</a:t>
            </a:r>
          </a:p>
          <a:p>
            <a:pPr>
              <a:spcBef>
                <a:spcPts val="600"/>
              </a:spcBef>
              <a:spcAft>
                <a:spcPts val="1200"/>
              </a:spcAft>
            </a:pPr>
            <a:r>
              <a:rPr lang="en-AU" sz="2200" dirty="0" smtClean="0">
                <a:latin typeface="Helvetica" pitchFamily="34" charset="0"/>
              </a:rPr>
              <a:t>Soap can be an effective cleaning agent for some surfaces, but it can leave an unacceptable and unattractive residue </a:t>
            </a:r>
          </a:p>
          <a:p>
            <a:pPr>
              <a:spcBef>
                <a:spcPts val="600"/>
              </a:spcBef>
              <a:spcAft>
                <a:spcPts val="1200"/>
              </a:spcAft>
            </a:pPr>
            <a:r>
              <a:rPr lang="en-AU" sz="2200" dirty="0" smtClean="0">
                <a:latin typeface="Helvetica" pitchFamily="34" charset="0"/>
              </a:rPr>
              <a:t>In general terms, soap is not used for                             cleaning equipment and surfaces</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MP900337383[1].JPG"/>
          <p:cNvPicPr/>
          <p:nvPr/>
        </p:nvPicPr>
        <p:blipFill>
          <a:blip r:embed="rId3" cstate="print"/>
          <a:stretch>
            <a:fillRect/>
          </a:stretch>
        </p:blipFill>
        <p:spPr>
          <a:xfrm>
            <a:off x="7286644" y="2928934"/>
            <a:ext cx="1238090" cy="1576553"/>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Polishes</a:t>
            </a:r>
          </a:p>
          <a:p>
            <a:pPr>
              <a:spcBef>
                <a:spcPts val="600"/>
              </a:spcBef>
              <a:spcAft>
                <a:spcPts val="1200"/>
              </a:spcAft>
            </a:pPr>
            <a:r>
              <a:rPr lang="en-AU" sz="2200" dirty="0" smtClean="0">
                <a:latin typeface="Helvetica" pitchFamily="34" charset="0"/>
              </a:rPr>
              <a:t>Polish can come as a paste, liquid or cream form</a:t>
            </a:r>
          </a:p>
          <a:p>
            <a:pPr>
              <a:spcBef>
                <a:spcPts val="600"/>
              </a:spcBef>
              <a:spcAft>
                <a:spcPts val="1200"/>
              </a:spcAft>
            </a:pPr>
            <a:r>
              <a:rPr lang="en-AU" sz="2200" dirty="0" smtClean="0">
                <a:latin typeface="Helvetica" pitchFamily="34" charset="0"/>
              </a:rPr>
              <a:t>Polish protects surfaces and forms a barrier against liquids that may harm the surface</a:t>
            </a:r>
          </a:p>
          <a:p>
            <a:pPr>
              <a:spcBef>
                <a:spcPts val="600"/>
              </a:spcBef>
              <a:spcAft>
                <a:spcPts val="1200"/>
              </a:spcAft>
            </a:pPr>
            <a:r>
              <a:rPr lang="en-AU" sz="2200" u="sng" dirty="0" smtClean="0">
                <a:latin typeface="Helvetica" pitchFamily="34" charset="0"/>
              </a:rPr>
              <a:t>Spirit-based polishes</a:t>
            </a:r>
            <a:r>
              <a:rPr lang="en-AU" sz="2200" dirty="0" smtClean="0">
                <a:latin typeface="Helvetica" pitchFamily="34" charset="0"/>
              </a:rPr>
              <a:t> are generally used for metal surfaces as well as windows and mirrors</a:t>
            </a:r>
          </a:p>
          <a:p>
            <a:pPr>
              <a:spcBef>
                <a:spcPts val="600"/>
              </a:spcBef>
              <a:spcAft>
                <a:spcPts val="1200"/>
              </a:spcAft>
            </a:pPr>
            <a:r>
              <a:rPr lang="en-AU" sz="2200" u="sng" dirty="0" smtClean="0">
                <a:latin typeface="Helvetica" pitchFamily="34" charset="0"/>
              </a:rPr>
              <a:t>Oil-based polishes</a:t>
            </a:r>
            <a:r>
              <a:rPr lang="en-AU" sz="2200" dirty="0" smtClean="0">
                <a:latin typeface="Helvetica" pitchFamily="34" charset="0"/>
              </a:rPr>
              <a:t> are generally used for leather, wood, synthetic flooring, linoleum and tiles</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6" name="Picture 5" descr="My homemade scouring powder"/>
          <p:cNvPicPr/>
          <p:nvPr/>
        </p:nvPicPr>
        <p:blipFill>
          <a:blip r:embed="rId3" cstate="print"/>
          <a:srcRect/>
          <a:stretch>
            <a:fillRect/>
          </a:stretch>
        </p:blipFill>
        <p:spPr bwMode="auto">
          <a:xfrm>
            <a:off x="3714744" y="5357826"/>
            <a:ext cx="1511052" cy="13597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Abrasives</a:t>
            </a:r>
          </a:p>
          <a:p>
            <a:pPr>
              <a:spcBef>
                <a:spcPts val="600"/>
              </a:spcBef>
              <a:spcAft>
                <a:spcPts val="1200"/>
              </a:spcAft>
            </a:pPr>
            <a:r>
              <a:rPr lang="en-AU" sz="2200" dirty="0" smtClean="0">
                <a:latin typeface="Helvetica" pitchFamily="34" charset="0"/>
              </a:rPr>
              <a:t>Abrasive cleaning agents are available in powder, cream or paste forms</a:t>
            </a:r>
          </a:p>
          <a:p>
            <a:pPr>
              <a:spcBef>
                <a:spcPts val="600"/>
              </a:spcBef>
              <a:spcAft>
                <a:spcPts val="1200"/>
              </a:spcAft>
            </a:pPr>
            <a:r>
              <a:rPr lang="en-AU" sz="2200" dirty="0" smtClean="0">
                <a:latin typeface="Helvetica" pitchFamily="34" charset="0"/>
              </a:rPr>
              <a:t>They are used for scouring and cleaning </a:t>
            </a:r>
            <a:br>
              <a:rPr lang="en-AU" sz="2200" dirty="0" smtClean="0">
                <a:latin typeface="Helvetica" pitchFamily="34" charset="0"/>
              </a:rPr>
            </a:br>
            <a:r>
              <a:rPr lang="en-AU" sz="2200" dirty="0" smtClean="0">
                <a:latin typeface="Helvetica" pitchFamily="34" charset="0"/>
              </a:rPr>
              <a:t>ceramic or enamel surfaces</a:t>
            </a:r>
          </a:p>
          <a:p>
            <a:pPr>
              <a:spcBef>
                <a:spcPts val="600"/>
              </a:spcBef>
              <a:spcAft>
                <a:spcPts val="1200"/>
              </a:spcAft>
            </a:pPr>
            <a:r>
              <a:rPr lang="en-AU" sz="2200" dirty="0" smtClean="0">
                <a:latin typeface="Helvetica" pitchFamily="34" charset="0"/>
              </a:rPr>
              <a:t>An example of such a surface is the toilet                               bowl or the shower base </a:t>
            </a:r>
          </a:p>
          <a:p>
            <a:pPr>
              <a:spcBef>
                <a:spcPts val="600"/>
              </a:spcBef>
              <a:spcAft>
                <a:spcPts val="1200"/>
              </a:spcAft>
            </a:pPr>
            <a:r>
              <a:rPr lang="en-AU" sz="2200" dirty="0" smtClean="0">
                <a:latin typeface="Helvetica" pitchFamily="34" charset="0"/>
              </a:rPr>
              <a:t>Abrasive cleaners must not be used on                                     surfaces that scratch easily</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7" name="Picture 6" descr="000221_0_jpg.jpg"/>
          <p:cNvPicPr>
            <a:picLocks noChangeAspect="1"/>
          </p:cNvPicPr>
          <p:nvPr/>
        </p:nvPicPr>
        <p:blipFill>
          <a:blip r:embed="rId3" cstate="print"/>
          <a:srcRect l="16299" r="18506"/>
          <a:stretch>
            <a:fillRect/>
          </a:stretch>
        </p:blipFill>
        <p:spPr>
          <a:xfrm>
            <a:off x="6715140" y="2857496"/>
            <a:ext cx="1428760" cy="2191519"/>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Detergents</a:t>
            </a:r>
          </a:p>
          <a:p>
            <a:pPr>
              <a:spcBef>
                <a:spcPts val="600"/>
              </a:spcBef>
              <a:spcAft>
                <a:spcPts val="1200"/>
              </a:spcAft>
            </a:pPr>
            <a:r>
              <a:rPr lang="en-AU" sz="2200" dirty="0" smtClean="0">
                <a:latin typeface="Helvetica" pitchFamily="34" charset="0"/>
              </a:rPr>
              <a:t>Detergents are chemical-based and can vary in strength </a:t>
            </a:r>
          </a:p>
          <a:p>
            <a:pPr>
              <a:spcBef>
                <a:spcPts val="600"/>
              </a:spcBef>
              <a:spcAft>
                <a:spcPts val="1200"/>
              </a:spcAft>
            </a:pPr>
            <a:r>
              <a:rPr lang="en-AU" sz="2200" u="sng" dirty="0" smtClean="0">
                <a:latin typeface="Helvetica" pitchFamily="34" charset="0"/>
              </a:rPr>
              <a:t>Acidic</a:t>
            </a:r>
            <a:r>
              <a:rPr lang="en-AU" sz="2200" dirty="0" smtClean="0">
                <a:latin typeface="Helvetica" pitchFamily="34" charset="0"/>
              </a:rPr>
              <a:t> detergents (pH of 1 to 6) should be                      used for cleaning ceramic surfaces</a:t>
            </a:r>
          </a:p>
          <a:p>
            <a:pPr>
              <a:spcBef>
                <a:spcPts val="600"/>
              </a:spcBef>
              <a:spcAft>
                <a:spcPts val="1200"/>
              </a:spcAft>
            </a:pPr>
            <a:r>
              <a:rPr lang="en-AU" sz="2200" u="sng" dirty="0" smtClean="0">
                <a:latin typeface="Helvetica" pitchFamily="34" charset="0"/>
              </a:rPr>
              <a:t>Neutral </a:t>
            </a:r>
            <a:r>
              <a:rPr lang="en-AU" sz="2200" dirty="0" smtClean="0">
                <a:latin typeface="Helvetica" pitchFamily="34" charset="0"/>
              </a:rPr>
              <a:t>detergents (pH of 7) are useful for                        general cleaning</a:t>
            </a:r>
          </a:p>
          <a:p>
            <a:pPr>
              <a:spcBef>
                <a:spcPts val="600"/>
              </a:spcBef>
              <a:spcAft>
                <a:spcPts val="1200"/>
              </a:spcAft>
            </a:pPr>
            <a:r>
              <a:rPr lang="en-AU" sz="2200" u="sng" dirty="0" smtClean="0">
                <a:latin typeface="Helvetica" pitchFamily="34" charset="0"/>
              </a:rPr>
              <a:t>Alkaline </a:t>
            </a:r>
            <a:r>
              <a:rPr lang="en-AU" sz="2200" dirty="0" smtClean="0">
                <a:latin typeface="Helvetica" pitchFamily="34" charset="0"/>
              </a:rPr>
              <a:t>detergents (pH of 8 to 14) should be used only for specialist tasks, as they can be corrosive and have the ability to damage a surface</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Detergent ">
            <a:hlinkClick r:id="rId3"/>
          </p:cNvPr>
          <p:cNvPicPr/>
          <p:nvPr/>
        </p:nvPicPr>
        <p:blipFill>
          <a:blip r:embed="rId4" cstate="print"/>
          <a:srcRect/>
          <a:stretch>
            <a:fillRect/>
          </a:stretch>
        </p:blipFill>
        <p:spPr bwMode="auto">
          <a:xfrm>
            <a:off x="6876256" y="3000372"/>
            <a:ext cx="1461552" cy="13712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Solvents</a:t>
            </a:r>
          </a:p>
          <a:p>
            <a:pPr>
              <a:spcBef>
                <a:spcPts val="600"/>
              </a:spcBef>
              <a:spcAft>
                <a:spcPts val="1200"/>
              </a:spcAft>
            </a:pPr>
            <a:r>
              <a:rPr lang="en-AU" sz="2200" dirty="0" smtClean="0">
                <a:latin typeface="Helvetica" pitchFamily="34" charset="0"/>
              </a:rPr>
              <a:t>Solvent-based detergents will dissolve heavy grease and oil</a:t>
            </a:r>
          </a:p>
          <a:p>
            <a:pPr>
              <a:spcBef>
                <a:spcPts val="600"/>
              </a:spcBef>
              <a:spcAft>
                <a:spcPts val="1200"/>
              </a:spcAft>
            </a:pPr>
            <a:r>
              <a:rPr lang="en-AU" sz="2200" dirty="0" smtClean="0">
                <a:latin typeface="Helvetica" pitchFamily="34" charset="0"/>
              </a:rPr>
              <a:t>It is most important to realise that not all surfaces can be cleaned with solvent detergents</a:t>
            </a:r>
          </a:p>
          <a:p>
            <a:pPr>
              <a:spcBef>
                <a:spcPts val="600"/>
              </a:spcBef>
              <a:spcAft>
                <a:spcPts val="1200"/>
              </a:spcAft>
            </a:pPr>
            <a:r>
              <a:rPr lang="en-AU" sz="2200" dirty="0" smtClean="0">
                <a:latin typeface="Helvetica" pitchFamily="34" charset="0"/>
              </a:rPr>
              <a:t>Surfaces that have been cleaned with                            solvents must be rinsed thoroughly to                                     remove any harmful residue</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7" name="Picture 6" descr="poliya_img_allche_cleaning_solvents01.jpg"/>
          <p:cNvPicPr>
            <a:picLocks noChangeAspect="1"/>
          </p:cNvPicPr>
          <p:nvPr/>
        </p:nvPicPr>
        <p:blipFill>
          <a:blip r:embed="rId3" cstate="print"/>
          <a:stretch>
            <a:fillRect/>
          </a:stretch>
        </p:blipFill>
        <p:spPr>
          <a:xfrm>
            <a:off x="6357950" y="3643314"/>
            <a:ext cx="1445905" cy="1571636"/>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Disinfectants</a:t>
            </a:r>
          </a:p>
          <a:p>
            <a:pPr>
              <a:spcBef>
                <a:spcPts val="600"/>
              </a:spcBef>
              <a:spcAft>
                <a:spcPts val="1200"/>
              </a:spcAft>
            </a:pPr>
            <a:r>
              <a:rPr lang="en-AU" sz="2200" dirty="0" smtClean="0">
                <a:latin typeface="Helvetica" pitchFamily="34" charset="0"/>
              </a:rPr>
              <a:t>Disinfectants are cleaning agents that destroy disease-carrying micro-organisms. </a:t>
            </a:r>
          </a:p>
          <a:p>
            <a:pPr>
              <a:spcBef>
                <a:spcPts val="600"/>
              </a:spcBef>
              <a:spcAft>
                <a:spcPts val="1200"/>
              </a:spcAft>
            </a:pPr>
            <a:r>
              <a:rPr lang="en-AU" sz="2200" dirty="0" smtClean="0">
                <a:latin typeface="Helvetica" pitchFamily="34" charset="0"/>
              </a:rPr>
              <a:t>Disinfectants have a strong scent and so are </a:t>
            </a:r>
            <a:br>
              <a:rPr lang="en-AU" sz="2200" dirty="0" smtClean="0">
                <a:latin typeface="Helvetica" pitchFamily="34" charset="0"/>
              </a:rPr>
            </a:br>
            <a:r>
              <a:rPr lang="en-AU" sz="2200" dirty="0" smtClean="0">
                <a:latin typeface="Helvetica" pitchFamily="34" charset="0"/>
              </a:rPr>
              <a:t>not suitable for use in a kitchen or any food </a:t>
            </a:r>
            <a:br>
              <a:rPr lang="en-AU" sz="2200" dirty="0" smtClean="0">
                <a:latin typeface="Helvetica" pitchFamily="34" charset="0"/>
              </a:rPr>
            </a:br>
            <a:r>
              <a:rPr lang="en-AU" sz="2200" dirty="0" smtClean="0">
                <a:latin typeface="Helvetica" pitchFamily="34" charset="0"/>
              </a:rPr>
              <a:t>area</a:t>
            </a:r>
          </a:p>
          <a:p>
            <a:pPr>
              <a:spcBef>
                <a:spcPts val="600"/>
              </a:spcBef>
              <a:spcAft>
                <a:spcPts val="1200"/>
              </a:spcAft>
            </a:pPr>
            <a:r>
              <a:rPr lang="en-AU" sz="2200" dirty="0" smtClean="0">
                <a:latin typeface="Helvetica" pitchFamily="34" charset="0"/>
              </a:rPr>
              <a:t>Disinfectants should be used only in the toilet, bathroom and change areas</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5" descr="MP900437306[1].JPG"/>
          <p:cNvPicPr/>
          <p:nvPr/>
        </p:nvPicPr>
        <p:blipFill>
          <a:blip r:embed="rId3" cstate="print"/>
          <a:stretch>
            <a:fillRect/>
          </a:stretch>
        </p:blipFill>
        <p:spPr>
          <a:xfrm>
            <a:off x="6858016" y="2714620"/>
            <a:ext cx="1535430" cy="2047875"/>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Deodorisers</a:t>
            </a:r>
          </a:p>
          <a:p>
            <a:pPr>
              <a:spcBef>
                <a:spcPts val="600"/>
              </a:spcBef>
              <a:spcAft>
                <a:spcPts val="1200"/>
              </a:spcAft>
            </a:pPr>
            <a:r>
              <a:rPr lang="en-AU" sz="2200" dirty="0" smtClean="0">
                <a:latin typeface="Helvetica" pitchFamily="34" charset="0"/>
              </a:rPr>
              <a:t>Deodorisers are used to mask or eliminate unpleasant smells</a:t>
            </a:r>
          </a:p>
          <a:p>
            <a:pPr>
              <a:spcBef>
                <a:spcPts val="600"/>
              </a:spcBef>
              <a:spcAft>
                <a:spcPts val="1200"/>
              </a:spcAft>
            </a:pPr>
            <a:r>
              <a:rPr lang="en-AU" sz="2200" dirty="0" smtClean="0">
                <a:latin typeface="Helvetica" pitchFamily="34" charset="0"/>
              </a:rPr>
              <a:t>They are commonly in aerosol form and should sprayed sparingly to achieve their aim but not dominate or over-power</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MP900341784[1].JPG"/>
          <p:cNvPicPr/>
          <p:nvPr/>
        </p:nvPicPr>
        <p:blipFill>
          <a:blip r:embed="rId3" cstate="print"/>
          <a:stretch>
            <a:fillRect/>
          </a:stretch>
        </p:blipFill>
        <p:spPr>
          <a:xfrm>
            <a:off x="4071934" y="4214818"/>
            <a:ext cx="1275715" cy="17907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Autofit/>
          </a:bodyPr>
          <a:lstStyle/>
          <a:p>
            <a:pPr>
              <a:spcBef>
                <a:spcPts val="600"/>
              </a:spcBef>
              <a:spcAft>
                <a:spcPts val="1200"/>
              </a:spcAft>
              <a:buNone/>
            </a:pPr>
            <a:r>
              <a:rPr lang="en-AU" sz="2000" b="1" dirty="0" smtClean="0">
                <a:latin typeface="Helvetica" pitchFamily="34" charset="0"/>
              </a:rPr>
              <a:t>Specialised cleaning agents</a:t>
            </a:r>
          </a:p>
          <a:p>
            <a:pPr marL="0">
              <a:lnSpc>
                <a:spcPct val="110000"/>
              </a:lnSpc>
              <a:spcAft>
                <a:spcPts val="600"/>
              </a:spcAft>
              <a:buNone/>
            </a:pPr>
            <a:r>
              <a:rPr lang="en-AU" sz="2000" dirty="0" smtClean="0">
                <a:latin typeface="Helvetica" pitchFamily="34" charset="0"/>
              </a:rPr>
              <a:t>Cleaning chemicals have been developed to address specific cleaning tasks. </a:t>
            </a:r>
          </a:p>
          <a:p>
            <a:pPr marL="0">
              <a:lnSpc>
                <a:spcPct val="110000"/>
              </a:lnSpc>
              <a:spcAft>
                <a:spcPts val="600"/>
              </a:spcAft>
              <a:buNone/>
            </a:pPr>
            <a:r>
              <a:rPr lang="en-AU" sz="2000" dirty="0" smtClean="0">
                <a:latin typeface="Helvetica" pitchFamily="34" charset="0"/>
              </a:rPr>
              <a:t>These ‘specialty’ products have been developed for:</a:t>
            </a:r>
          </a:p>
          <a:p>
            <a:pPr lvl="0">
              <a:spcBef>
                <a:spcPts val="300"/>
              </a:spcBef>
              <a:spcAft>
                <a:spcPts val="600"/>
              </a:spcAft>
            </a:pPr>
            <a:r>
              <a:rPr lang="en-US" sz="2000" dirty="0" smtClean="0">
                <a:latin typeface="Helvetica" pitchFamily="34" charset="0"/>
              </a:rPr>
              <a:t>A range of floor and carpet cleaning needs</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Windows and glass</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Stainless steel </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Leather</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Aluminum</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Toilets</a:t>
            </a:r>
            <a:endParaRPr lang="en-AU" sz="2000" dirty="0" smtClean="0">
              <a:latin typeface="Helvetica" pitchFamily="34" charset="0"/>
            </a:endParaRPr>
          </a:p>
          <a:p>
            <a:pPr lvl="0">
              <a:spcBef>
                <a:spcPts val="300"/>
              </a:spcBef>
              <a:spcAft>
                <a:spcPts val="600"/>
              </a:spcAft>
            </a:pPr>
            <a:r>
              <a:rPr lang="en-US" sz="2000" dirty="0" smtClean="0">
                <a:latin typeface="Helvetica" pitchFamily="34" charset="0"/>
              </a:rPr>
              <a:t>Various laundry uses</a:t>
            </a:r>
            <a:endParaRPr lang="en-AU" sz="2000" dirty="0" smtClean="0">
              <a:latin typeface="Helvetica" pitchFamily="34" charset="0"/>
            </a:endParaRPr>
          </a:p>
          <a:p>
            <a:pPr>
              <a:spcBef>
                <a:spcPts val="300"/>
              </a:spcBef>
              <a:spcAft>
                <a:spcPts val="600"/>
              </a:spcAft>
            </a:pPr>
            <a:r>
              <a:rPr lang="en-AU" sz="2000" dirty="0" smtClean="0">
                <a:latin typeface="Helvetica" pitchFamily="34" charset="0"/>
              </a:rPr>
              <a:t>Cleaning specific equipment and areas</a:t>
            </a:r>
          </a:p>
          <a:p>
            <a:pPr>
              <a:buNone/>
            </a:pPr>
            <a:endParaRPr lang="en-AU" sz="2000" b="1" dirty="0" smtClean="0"/>
          </a:p>
          <a:p>
            <a:endParaRPr lang="en-AU" sz="2000" b="1" dirty="0" smtClean="0"/>
          </a:p>
          <a:p>
            <a:endParaRPr lang="en-AU" sz="2000" b="1" dirty="0" smtClean="0"/>
          </a:p>
          <a:p>
            <a:endParaRPr lang="en-AU" sz="2000" b="1" dirty="0" smtClean="0"/>
          </a:p>
          <a:p>
            <a:endParaRPr lang="en-US" sz="2000" dirty="0" smtClean="0"/>
          </a:p>
          <a:p>
            <a:pPr>
              <a:buNone/>
            </a:pPr>
            <a:endParaRPr lang="en-AU" sz="2000" dirty="0" smtClean="0"/>
          </a:p>
          <a:p>
            <a:pPr lvl="0">
              <a:spcBef>
                <a:spcPts val="600"/>
              </a:spcBef>
              <a:spcAft>
                <a:spcPts val="1200"/>
              </a:spcAft>
              <a:buNone/>
            </a:pPr>
            <a:endParaRPr lang="en-AU" sz="2000" dirty="0" smtClean="0">
              <a:latin typeface="Helvetica" pitchFamily="34" charset="0"/>
            </a:endParaRPr>
          </a:p>
          <a:p>
            <a:pPr lvl="0"/>
            <a:endParaRPr lang="en-AU" sz="2000" dirty="0" smtClean="0"/>
          </a:p>
          <a:p>
            <a:pPr lvl="0">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http://www.windowcleaner.ie/images/pic_3.jpg"/>
          <p:cNvPicPr/>
          <p:nvPr/>
        </p:nvPicPr>
        <p:blipFill>
          <a:blip r:embed="rId3" cstate="print"/>
          <a:srcRect/>
          <a:stretch>
            <a:fillRect/>
          </a:stretch>
        </p:blipFill>
        <p:spPr bwMode="auto">
          <a:xfrm>
            <a:off x="6357950" y="3643314"/>
            <a:ext cx="1495425" cy="1590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Types of cleaning agents and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Environmental issues</a:t>
            </a:r>
          </a:p>
          <a:p>
            <a:pPr marL="0">
              <a:spcBef>
                <a:spcPts val="600"/>
              </a:spcBef>
              <a:spcAft>
                <a:spcPts val="600"/>
              </a:spcAft>
              <a:buNone/>
            </a:pPr>
            <a:r>
              <a:rPr lang="en-AU" sz="2100" dirty="0" smtClean="0">
                <a:latin typeface="Helvetica" pitchFamily="34" charset="0"/>
              </a:rPr>
              <a:t>As businesses seek to reduce their pollution levels, carbon footprints and overall energy usage, there has been growing concern about the use of chemicals.</a:t>
            </a:r>
          </a:p>
          <a:p>
            <a:pPr lvl="0">
              <a:spcBef>
                <a:spcPts val="600"/>
              </a:spcBef>
              <a:spcAft>
                <a:spcPts val="600"/>
              </a:spcAft>
            </a:pPr>
            <a:r>
              <a:rPr lang="en-US" sz="2100" dirty="0" smtClean="0">
                <a:latin typeface="Helvetica" pitchFamily="34" charset="0"/>
              </a:rPr>
              <a:t>Monitoring the green chemical movement</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Seeking environmentally-friendly chemicals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Training staff in the correct usage of chemicals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Securing the chemical store</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Disposing of chemicals in environmentally                  sensitive ways</a:t>
            </a:r>
            <a:endParaRPr lang="en-AU" sz="2100" dirty="0" smtClean="0">
              <a:latin typeface="Helvetica" pitchFamily="34" charset="0"/>
            </a:endParaRPr>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MP900437196[1].JPG"/>
          <p:cNvPicPr/>
          <p:nvPr/>
        </p:nvPicPr>
        <p:blipFill>
          <a:blip r:embed="rId3" cstate="print"/>
          <a:stretch>
            <a:fillRect/>
          </a:stretch>
        </p:blipFill>
        <p:spPr>
          <a:xfrm>
            <a:off x="6929454" y="3214686"/>
            <a:ext cx="1618283" cy="2105769"/>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Types of surface to be cleaned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dirty="0" smtClean="0">
                <a:latin typeface="Helvetica" pitchFamily="34" charset="0"/>
              </a:rPr>
              <a:t>There are a number of different surfaces that need to be cleaned in public areas.</a:t>
            </a:r>
          </a:p>
          <a:p>
            <a:pPr marL="0">
              <a:spcBef>
                <a:spcPts val="600"/>
              </a:spcBef>
              <a:spcAft>
                <a:spcPts val="1200"/>
              </a:spcAft>
              <a:buNone/>
            </a:pPr>
            <a:r>
              <a:rPr lang="en-AU" sz="2100" dirty="0" smtClean="0">
                <a:latin typeface="Helvetica" pitchFamily="34" charset="0"/>
              </a:rPr>
              <a:t>Common surfaces to be cleaned within a hospitality organisation include, but not limited to:</a:t>
            </a:r>
          </a:p>
          <a:p>
            <a:pPr lvl="0">
              <a:spcBef>
                <a:spcPts val="600"/>
              </a:spcBef>
              <a:spcAft>
                <a:spcPts val="1200"/>
              </a:spcAft>
            </a:pPr>
            <a:r>
              <a:rPr lang="en-AU" sz="2100" dirty="0" smtClean="0">
                <a:latin typeface="Helvetica" pitchFamily="34" charset="0"/>
              </a:rPr>
              <a:t>Leather upholstery – chairs and couches</a:t>
            </a:r>
          </a:p>
          <a:p>
            <a:pPr lvl="0">
              <a:spcBef>
                <a:spcPts val="600"/>
              </a:spcBef>
              <a:spcAft>
                <a:spcPts val="1200"/>
              </a:spcAft>
            </a:pPr>
            <a:r>
              <a:rPr lang="en-AU" sz="2100" dirty="0" smtClean="0">
                <a:latin typeface="Helvetica" pitchFamily="34" charset="0"/>
              </a:rPr>
              <a:t>Fabric upholstery – curtains, chairs, couches</a:t>
            </a:r>
          </a:p>
          <a:p>
            <a:pPr lvl="0">
              <a:spcBef>
                <a:spcPts val="600"/>
              </a:spcBef>
              <a:spcAft>
                <a:spcPts val="1200"/>
              </a:spcAft>
            </a:pPr>
            <a:r>
              <a:rPr lang="en-AU" sz="2100" dirty="0" smtClean="0">
                <a:latin typeface="Helvetica" pitchFamily="34" charset="0"/>
              </a:rPr>
              <a:t>Glass surfaces – mirrors, windows and glass </a:t>
            </a:r>
            <a:br>
              <a:rPr lang="en-AU" sz="2100" dirty="0" smtClean="0">
                <a:latin typeface="Helvetica" pitchFamily="34" charset="0"/>
              </a:rPr>
            </a:br>
            <a:r>
              <a:rPr lang="en-AU" sz="2100" dirty="0" smtClean="0">
                <a:latin typeface="Helvetica" pitchFamily="34" charset="0"/>
              </a:rPr>
              <a:t>tables</a:t>
            </a:r>
          </a:p>
          <a:p>
            <a:pPr lvl="0">
              <a:spcBef>
                <a:spcPts val="600"/>
              </a:spcBef>
              <a:spcAft>
                <a:spcPts val="1200"/>
              </a:spcAft>
            </a:pPr>
            <a:r>
              <a:rPr lang="en-AU" sz="2100" dirty="0" smtClean="0">
                <a:latin typeface="Helvetica" pitchFamily="34" charset="0"/>
              </a:rPr>
              <a:t>Ceilings, walls, surfaces and fittings</a:t>
            </a:r>
          </a:p>
          <a:p>
            <a:pPr lvl="0">
              <a:spcBef>
                <a:spcPts val="600"/>
              </a:spcBef>
              <a:spcAft>
                <a:spcPts val="1200"/>
              </a:spcAft>
            </a:pPr>
            <a:r>
              <a:rPr lang="en-AU" sz="2100" dirty="0" smtClean="0">
                <a:latin typeface="Helvetica" pitchFamily="34" charset="0"/>
              </a:rPr>
              <a:t>Wet areas – floors</a:t>
            </a:r>
          </a:p>
          <a:p>
            <a:pPr>
              <a:buNone/>
            </a:pPr>
            <a:endParaRPr lang="en-AU" sz="2100" b="1"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MP900427796[1].JPG"/>
          <p:cNvPicPr/>
          <p:nvPr/>
        </p:nvPicPr>
        <p:blipFill>
          <a:blip r:embed="rId3" cstate="print"/>
          <a:stretch>
            <a:fillRect/>
          </a:stretch>
        </p:blipFill>
        <p:spPr>
          <a:xfrm>
            <a:off x="6929454" y="2928934"/>
            <a:ext cx="1257300" cy="188595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Disposal of garbage and used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Garbage must be transported safely to the appropriate garbage location, usually a dump master.</a:t>
            </a:r>
          </a:p>
          <a:p>
            <a:pPr>
              <a:spcBef>
                <a:spcPts val="600"/>
              </a:spcBef>
              <a:spcAft>
                <a:spcPts val="1200"/>
              </a:spcAft>
            </a:pPr>
            <a:r>
              <a:rPr lang="en-AU" sz="2200" dirty="0" smtClean="0">
                <a:latin typeface="Helvetica" pitchFamily="34" charset="0"/>
              </a:rPr>
              <a:t>Near the dump master there may be a number of recycling stations– paper, plastics, cans</a:t>
            </a:r>
          </a:p>
          <a:p>
            <a:pPr>
              <a:spcBef>
                <a:spcPts val="600"/>
              </a:spcBef>
              <a:spcAft>
                <a:spcPts val="1200"/>
              </a:spcAft>
            </a:pPr>
            <a:r>
              <a:rPr lang="en-AU" sz="2200" dirty="0" smtClean="0">
                <a:latin typeface="Helvetica" pitchFamily="34" charset="0"/>
              </a:rPr>
              <a:t>Protective clothing should be worn</a:t>
            </a:r>
          </a:p>
          <a:p>
            <a:pPr>
              <a:buNone/>
            </a:pPr>
            <a:endParaRPr lang="en-AU" sz="2400" dirty="0" smtClean="0"/>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1229017066_skp.jpg"/>
          <p:cNvPicPr>
            <a:picLocks noChangeAspect="1"/>
          </p:cNvPicPr>
          <p:nvPr/>
        </p:nvPicPr>
        <p:blipFill>
          <a:blip r:embed="rId3" cstate="print"/>
          <a:stretch>
            <a:fillRect/>
          </a:stretch>
        </p:blipFill>
        <p:spPr>
          <a:xfrm>
            <a:off x="3357554" y="4071942"/>
            <a:ext cx="2213056" cy="2069207"/>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Disposal of garbage and used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Disposal of garbage</a:t>
            </a:r>
          </a:p>
          <a:p>
            <a:pPr>
              <a:spcBef>
                <a:spcPts val="600"/>
              </a:spcBef>
              <a:spcAft>
                <a:spcPts val="1200"/>
              </a:spcAft>
            </a:pPr>
            <a:r>
              <a:rPr lang="en-AU" sz="2200" dirty="0" smtClean="0">
                <a:latin typeface="Helvetica" pitchFamily="34" charset="0"/>
              </a:rPr>
              <a:t>Remove all garbage on a daily basis</a:t>
            </a:r>
          </a:p>
          <a:p>
            <a:pPr lvl="0">
              <a:spcBef>
                <a:spcPts val="600"/>
              </a:spcBef>
              <a:spcAft>
                <a:spcPts val="1200"/>
              </a:spcAft>
            </a:pPr>
            <a:r>
              <a:rPr lang="en-US" sz="2200" dirty="0" smtClean="0">
                <a:latin typeface="Helvetica" pitchFamily="34" charset="0"/>
              </a:rPr>
              <a:t>Comply with any recycling protocols the business has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Make sure all rubbish goes into the bins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Close lids to bins after using them</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Liquid waste will be separated from solid waste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Wash hands after handling rubbish</a:t>
            </a:r>
          </a:p>
          <a:p>
            <a:pPr>
              <a:buNone/>
            </a:pPr>
            <a:endParaRPr lang="en-AU" sz="2400" b="1" dirty="0" smtClean="0"/>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MP900437389[1].JPG"/>
          <p:cNvPicPr/>
          <p:nvPr/>
        </p:nvPicPr>
        <p:blipFill>
          <a:blip r:embed="rId3" cstate="print"/>
          <a:stretch>
            <a:fillRect/>
          </a:stretch>
        </p:blipFill>
        <p:spPr>
          <a:xfrm>
            <a:off x="7215206" y="3286124"/>
            <a:ext cx="1390650" cy="2085975"/>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r>
              <a:rPr lang="en-US" sz="3600" b="1" dirty="0" smtClean="0">
                <a:solidFill>
                  <a:srgbClr val="FF6600"/>
                </a:solidFill>
                <a:latin typeface="Helvetica" pitchFamily="34" charset="0"/>
              </a:rPr>
              <a:t>Disposal of garbage and used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Disposal of chemicals</a:t>
            </a:r>
          </a:p>
          <a:p>
            <a:pPr>
              <a:spcBef>
                <a:spcPts val="600"/>
              </a:spcBef>
              <a:spcAft>
                <a:spcPts val="600"/>
              </a:spcAft>
              <a:buNone/>
            </a:pPr>
            <a:r>
              <a:rPr lang="en-AU" sz="2100" dirty="0" smtClean="0">
                <a:latin typeface="Helvetica" pitchFamily="34" charset="0"/>
              </a:rPr>
              <a:t>When cleaning, handling and disposing of chemicals:</a:t>
            </a:r>
          </a:p>
          <a:p>
            <a:pPr>
              <a:spcBef>
                <a:spcPts val="600"/>
              </a:spcBef>
              <a:spcAft>
                <a:spcPts val="600"/>
              </a:spcAft>
            </a:pPr>
            <a:r>
              <a:rPr lang="en-US" sz="2100" dirty="0" smtClean="0">
                <a:latin typeface="Helvetica" pitchFamily="34" charset="0"/>
              </a:rPr>
              <a:t>Always wear PPE</a:t>
            </a:r>
            <a:endParaRPr lang="en-AU" sz="2100" dirty="0" smtClean="0">
              <a:latin typeface="Helvetica" pitchFamily="34" charset="0"/>
            </a:endParaRPr>
          </a:p>
          <a:p>
            <a:pPr>
              <a:spcBef>
                <a:spcPts val="600"/>
              </a:spcBef>
              <a:spcAft>
                <a:spcPts val="600"/>
              </a:spcAft>
            </a:pPr>
            <a:r>
              <a:rPr lang="en-US" sz="2100" dirty="0" smtClean="0">
                <a:latin typeface="Helvetica" pitchFamily="34" charset="0"/>
              </a:rPr>
              <a:t>When spilt, chemicals should be initially soaked up with sand, earth or some kind of designated absorbent material</a:t>
            </a:r>
            <a:endParaRPr lang="en-AU" sz="2100" dirty="0" smtClean="0">
              <a:latin typeface="Helvetica" pitchFamily="34" charset="0"/>
            </a:endParaRPr>
          </a:p>
          <a:p>
            <a:pPr>
              <a:spcBef>
                <a:spcPts val="600"/>
              </a:spcBef>
              <a:spcAft>
                <a:spcPts val="600"/>
              </a:spcAft>
            </a:pPr>
            <a:r>
              <a:rPr lang="en-AU" sz="2100" dirty="0" smtClean="0">
                <a:latin typeface="Helvetica" pitchFamily="34" charset="0"/>
              </a:rPr>
              <a:t>Left-over chemicals in undiluted form must never be disposed of down a sink</a:t>
            </a:r>
          </a:p>
          <a:p>
            <a:pPr>
              <a:spcBef>
                <a:spcPts val="600"/>
              </a:spcBef>
              <a:spcAft>
                <a:spcPts val="600"/>
              </a:spcAft>
            </a:pPr>
            <a:r>
              <a:rPr lang="en-US" sz="2100" dirty="0" smtClean="0">
                <a:latin typeface="Helvetica" pitchFamily="34" charset="0"/>
              </a:rPr>
              <a:t>Take to designated collection sites </a:t>
            </a:r>
            <a:endParaRPr lang="en-AU" sz="2100" dirty="0" smtClean="0">
              <a:latin typeface="Helvetica" pitchFamily="34" charset="0"/>
            </a:endParaRPr>
          </a:p>
          <a:p>
            <a:pPr>
              <a:spcBef>
                <a:spcPts val="600"/>
              </a:spcBef>
              <a:spcAft>
                <a:spcPts val="600"/>
              </a:spcAft>
            </a:pPr>
            <a:r>
              <a:rPr lang="en-AU" sz="2100" dirty="0" smtClean="0">
                <a:latin typeface="Helvetica" pitchFamily="34" charset="0"/>
              </a:rPr>
              <a:t>Or arrange collected by specialists</a:t>
            </a:r>
            <a:endParaRPr lang="en-AU" sz="2100" b="1" dirty="0" smtClean="0">
              <a:latin typeface="Helvetica" pitchFamily="34" charset="0"/>
            </a:endParaRPr>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US" sz="2100" dirty="0" smtClean="0"/>
          </a:p>
          <a:p>
            <a:pPr>
              <a:spcBef>
                <a:spcPts val="600"/>
              </a:spcBef>
              <a:spcAft>
                <a:spcPts val="600"/>
              </a:spcAft>
              <a:buNone/>
            </a:pPr>
            <a:endParaRPr lang="en-AU" sz="2100" dirty="0" smtClean="0"/>
          </a:p>
          <a:p>
            <a:pPr lvl="0">
              <a:spcBef>
                <a:spcPts val="600"/>
              </a:spcBef>
              <a:spcAft>
                <a:spcPts val="600"/>
              </a:spcAft>
              <a:buNone/>
            </a:pPr>
            <a:endParaRPr lang="en-AU" sz="2100" dirty="0" smtClean="0">
              <a:latin typeface="Helvetica" pitchFamily="34" charset="0"/>
            </a:endParaRPr>
          </a:p>
          <a:p>
            <a:pPr lvl="0">
              <a:spcBef>
                <a:spcPts val="600"/>
              </a:spcBef>
              <a:spcAft>
                <a:spcPts val="600"/>
              </a:spcAft>
            </a:pPr>
            <a:endParaRPr lang="en-AU" sz="2100" dirty="0" smtClean="0"/>
          </a:p>
          <a:p>
            <a:pPr lvl="0">
              <a:spcBef>
                <a:spcPts val="600"/>
              </a:spcBef>
              <a:spcAft>
                <a:spcPts val="600"/>
              </a:spcAft>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http://waste.pages.tcnj.edu/files/2009/12/Chemical-Waste-1.gif"/>
          <p:cNvPicPr/>
          <p:nvPr/>
        </p:nvPicPr>
        <p:blipFill>
          <a:blip r:embed="rId3" cstate="print"/>
          <a:srcRect/>
          <a:stretch>
            <a:fillRect/>
          </a:stretch>
        </p:blipFill>
        <p:spPr bwMode="auto">
          <a:xfrm>
            <a:off x="5929322" y="4857760"/>
            <a:ext cx="2000252" cy="13573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and check PPE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dirty="0" smtClean="0">
                <a:latin typeface="Helvetica" pitchFamily="34" charset="0"/>
              </a:rPr>
              <a:t>All equipment and PPE must be cleaned before being stored.</a:t>
            </a:r>
          </a:p>
          <a:p>
            <a:pPr marL="0">
              <a:spcBef>
                <a:spcPts val="600"/>
              </a:spcBef>
              <a:spcAft>
                <a:spcPts val="1200"/>
              </a:spcAft>
              <a:buNone/>
            </a:pPr>
            <a:r>
              <a:rPr lang="en-AU" sz="2100" dirty="0" smtClean="0">
                <a:latin typeface="Helvetica" pitchFamily="34" charset="0"/>
              </a:rPr>
              <a:t>This is to enable it to be ready for immediate use and to reduce the chance of being affected by chemicals.</a:t>
            </a:r>
          </a:p>
          <a:p>
            <a:pPr>
              <a:spcBef>
                <a:spcPts val="600"/>
              </a:spcBef>
              <a:spcAft>
                <a:spcPts val="1200"/>
              </a:spcAft>
              <a:buNone/>
            </a:pPr>
            <a:r>
              <a:rPr lang="en-AU" sz="2100" dirty="0" smtClean="0">
                <a:latin typeface="Helvetica" pitchFamily="34" charset="0"/>
              </a:rPr>
              <a:t>Standard PPE checks include: </a:t>
            </a:r>
          </a:p>
          <a:p>
            <a:pPr>
              <a:spcBef>
                <a:spcPts val="600"/>
              </a:spcBef>
              <a:spcAft>
                <a:spcPts val="1200"/>
              </a:spcAft>
            </a:pPr>
            <a:r>
              <a:rPr lang="en-US" sz="2100" dirty="0" smtClean="0">
                <a:latin typeface="Helvetica" pitchFamily="34" charset="0"/>
              </a:rPr>
              <a:t>Checking for rips and tears to gloves and aprons</a:t>
            </a:r>
            <a:endParaRPr lang="en-AU" sz="2100" dirty="0" smtClean="0">
              <a:latin typeface="Helvetica" pitchFamily="34" charset="0"/>
            </a:endParaRPr>
          </a:p>
          <a:p>
            <a:pPr>
              <a:spcBef>
                <a:spcPts val="600"/>
              </a:spcBef>
              <a:spcAft>
                <a:spcPts val="1200"/>
              </a:spcAft>
            </a:pPr>
            <a:r>
              <a:rPr lang="en-US" sz="2100" dirty="0" smtClean="0">
                <a:latin typeface="Helvetica" pitchFamily="34" charset="0"/>
              </a:rPr>
              <a:t>Checking for holes and leaks in safety shoes</a:t>
            </a:r>
            <a:endParaRPr lang="en-AU" sz="2100" dirty="0" smtClean="0">
              <a:latin typeface="Helvetica" pitchFamily="34" charset="0"/>
            </a:endParaRPr>
          </a:p>
          <a:p>
            <a:pPr>
              <a:spcBef>
                <a:spcPts val="600"/>
              </a:spcBef>
              <a:spcAft>
                <a:spcPts val="1200"/>
              </a:spcAft>
            </a:pPr>
            <a:r>
              <a:rPr lang="en-US" sz="2100" dirty="0" smtClean="0">
                <a:latin typeface="Helvetica" pitchFamily="34" charset="0"/>
              </a:rPr>
              <a:t>Verifying the integrity of safety glasses</a:t>
            </a:r>
            <a:endParaRPr lang="en-AU" sz="2100" dirty="0" smtClean="0">
              <a:latin typeface="Helvetica" pitchFamily="34" charset="0"/>
            </a:endParaRPr>
          </a:p>
          <a:p>
            <a:pPr>
              <a:spcBef>
                <a:spcPts val="600"/>
              </a:spcBef>
              <a:spcAft>
                <a:spcPts val="1200"/>
              </a:spcAft>
            </a:pPr>
            <a:r>
              <a:rPr lang="en-US" sz="2100" dirty="0" smtClean="0">
                <a:latin typeface="Helvetica" pitchFamily="34" charset="0"/>
              </a:rPr>
              <a:t>Replacing the filters in respirators</a:t>
            </a:r>
            <a:endParaRPr lang="en-AU" sz="2100" dirty="0" smtClean="0">
              <a:latin typeface="Helvetica" pitchFamily="34" charset="0"/>
            </a:endParaRPr>
          </a:p>
          <a:p>
            <a:endParaRPr lang="en-AU" sz="2100" dirty="0" smtClean="0"/>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MP900175520[1].JPG"/>
          <p:cNvPicPr/>
          <p:nvPr/>
        </p:nvPicPr>
        <p:blipFill>
          <a:blip r:embed="rId3" cstate="print"/>
          <a:stretch>
            <a:fillRect/>
          </a:stretch>
        </p:blipFill>
        <p:spPr>
          <a:xfrm>
            <a:off x="7215206" y="3071810"/>
            <a:ext cx="1009015" cy="150495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equipment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It is important for all equipment to be cleaned after every use</a:t>
            </a:r>
          </a:p>
          <a:p>
            <a:pPr>
              <a:spcBef>
                <a:spcPts val="600"/>
              </a:spcBef>
              <a:spcAft>
                <a:spcPts val="1200"/>
              </a:spcAft>
            </a:pPr>
            <a:r>
              <a:rPr lang="en-AU" sz="2200" dirty="0" smtClean="0">
                <a:latin typeface="Helvetica" pitchFamily="34" charset="0"/>
              </a:rPr>
              <a:t>This will ensure that dirt and grime from a previous cleaning task is not transferred on to another surface </a:t>
            </a:r>
          </a:p>
          <a:p>
            <a:pPr>
              <a:spcBef>
                <a:spcPts val="600"/>
              </a:spcBef>
              <a:spcAft>
                <a:spcPts val="1200"/>
              </a:spcAft>
            </a:pPr>
            <a:r>
              <a:rPr lang="en-AU" sz="2200" dirty="0" smtClean="0">
                <a:latin typeface="Helvetica" pitchFamily="34" charset="0"/>
              </a:rPr>
              <a:t>Follow manufacturer’s instructions</a:t>
            </a: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6" descr="poliya_img_allche_cleaning_solvents01.jpg"/>
          <p:cNvPicPr>
            <a:picLocks noChangeAspect="1"/>
          </p:cNvPicPr>
          <p:nvPr/>
        </p:nvPicPr>
        <p:blipFill>
          <a:blip r:embed="rId3" cstate="print"/>
          <a:stretch>
            <a:fillRect/>
          </a:stretch>
        </p:blipFill>
        <p:spPr>
          <a:xfrm>
            <a:off x="3692282" y="4214818"/>
            <a:ext cx="1759436" cy="191243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equipment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How do you clean the following types of equipment?</a:t>
            </a:r>
          </a:p>
          <a:p>
            <a:pPr>
              <a:spcBef>
                <a:spcPts val="600"/>
              </a:spcBef>
              <a:spcAft>
                <a:spcPts val="600"/>
              </a:spcAft>
            </a:pPr>
            <a:r>
              <a:rPr lang="en-AU" sz="2200" dirty="0" smtClean="0">
                <a:latin typeface="Helvetica" pitchFamily="34" charset="0"/>
              </a:rPr>
              <a:t>Mops</a:t>
            </a:r>
          </a:p>
          <a:p>
            <a:pPr>
              <a:spcBef>
                <a:spcPts val="600"/>
              </a:spcBef>
              <a:spcAft>
                <a:spcPts val="600"/>
              </a:spcAft>
            </a:pPr>
            <a:r>
              <a:rPr lang="en-AU" sz="2200" dirty="0" smtClean="0">
                <a:latin typeface="Helvetica" pitchFamily="34" charset="0"/>
              </a:rPr>
              <a:t>Dusters</a:t>
            </a:r>
          </a:p>
          <a:p>
            <a:pPr>
              <a:spcBef>
                <a:spcPts val="600"/>
              </a:spcBef>
              <a:spcAft>
                <a:spcPts val="600"/>
              </a:spcAft>
            </a:pPr>
            <a:r>
              <a:rPr lang="en-AU" sz="2200" dirty="0" smtClean="0">
                <a:latin typeface="Helvetica" pitchFamily="34" charset="0"/>
              </a:rPr>
              <a:t>Brooms and brushes</a:t>
            </a:r>
          </a:p>
          <a:p>
            <a:pPr>
              <a:spcBef>
                <a:spcPts val="600"/>
              </a:spcBef>
              <a:spcAft>
                <a:spcPts val="600"/>
              </a:spcAft>
            </a:pPr>
            <a:r>
              <a:rPr lang="en-AU" sz="2200" dirty="0" smtClean="0">
                <a:latin typeface="Helvetica" pitchFamily="34" charset="0"/>
              </a:rPr>
              <a:t>Cloths and sponges</a:t>
            </a:r>
          </a:p>
          <a:p>
            <a:pPr>
              <a:spcBef>
                <a:spcPts val="600"/>
              </a:spcBef>
              <a:spcAft>
                <a:spcPts val="600"/>
              </a:spcAft>
            </a:pPr>
            <a:r>
              <a:rPr lang="en-AU" sz="2200" dirty="0" smtClean="0">
                <a:latin typeface="Helvetica" pitchFamily="34" charset="0"/>
              </a:rPr>
              <a:t>Buckets</a:t>
            </a:r>
          </a:p>
          <a:p>
            <a:pPr>
              <a:spcBef>
                <a:spcPts val="600"/>
              </a:spcBef>
              <a:spcAft>
                <a:spcPts val="600"/>
              </a:spcAft>
            </a:pPr>
            <a:r>
              <a:rPr lang="en-AU" sz="2200" dirty="0" smtClean="0">
                <a:latin typeface="Helvetica" pitchFamily="34" charset="0"/>
              </a:rPr>
              <a:t>Vacuum cleaners</a:t>
            </a:r>
          </a:p>
          <a:p>
            <a:pPr>
              <a:spcBef>
                <a:spcPts val="600"/>
              </a:spcBef>
              <a:spcAft>
                <a:spcPts val="600"/>
              </a:spcAft>
            </a:pPr>
            <a:r>
              <a:rPr lang="en-AU" sz="2200" dirty="0" smtClean="0">
                <a:latin typeface="Helvetica" pitchFamily="34" charset="0"/>
              </a:rPr>
              <a:t>Carpet shampoo machines</a:t>
            </a:r>
          </a:p>
          <a:p>
            <a:pPr>
              <a:spcBef>
                <a:spcPts val="600"/>
              </a:spcBef>
              <a:spcAft>
                <a:spcPts val="600"/>
              </a:spcAft>
            </a:pPr>
            <a:r>
              <a:rPr lang="en-AU" sz="2200" dirty="0" smtClean="0">
                <a:latin typeface="Helvetica" pitchFamily="34" charset="0"/>
              </a:rPr>
              <a:t>Floor machines</a:t>
            </a:r>
          </a:p>
          <a:p>
            <a:pPr>
              <a:spcBef>
                <a:spcPts val="600"/>
              </a:spcBef>
              <a:spcAft>
                <a:spcPts val="600"/>
              </a:spcAft>
            </a:pPr>
            <a:endParaRPr lang="en-AU" sz="2200" dirty="0" smtClean="0">
              <a:latin typeface="Helvetica" pitchFamily="34" charset="0"/>
            </a:endParaRPr>
          </a:p>
          <a:p>
            <a:pPr>
              <a:spcBef>
                <a:spcPts val="600"/>
              </a:spcBef>
              <a:spcAft>
                <a:spcPts val="600"/>
              </a:spcAft>
            </a:pPr>
            <a:endParaRPr lang="en-AU" sz="2400" b="1" dirty="0" smtClean="0"/>
          </a:p>
          <a:p>
            <a:pPr>
              <a:spcBef>
                <a:spcPts val="600"/>
              </a:spcBef>
              <a:spcAft>
                <a:spcPts val="600"/>
              </a:spcAft>
            </a:pPr>
            <a:endParaRPr lang="en-AU" sz="2400" b="1" dirty="0" smtClean="0"/>
          </a:p>
          <a:p>
            <a:pPr>
              <a:spcBef>
                <a:spcPts val="600"/>
              </a:spcBef>
              <a:spcAft>
                <a:spcPts val="600"/>
              </a:spcAft>
            </a:pPr>
            <a:endParaRPr lang="en-AU" sz="2400" b="1" dirty="0" smtClean="0"/>
          </a:p>
          <a:p>
            <a:pPr>
              <a:spcBef>
                <a:spcPts val="600"/>
              </a:spcBef>
              <a:spcAft>
                <a:spcPts val="600"/>
              </a:spcAft>
            </a:pPr>
            <a:endParaRPr lang="en-US" sz="2400" dirty="0" smtClean="0"/>
          </a:p>
          <a:p>
            <a:pPr>
              <a:spcBef>
                <a:spcPts val="600"/>
              </a:spcBef>
              <a:spcAft>
                <a:spcPts val="600"/>
              </a:spcAft>
              <a:buNone/>
            </a:pPr>
            <a:endParaRPr lang="en-AU" sz="2400" dirty="0" smtClean="0"/>
          </a:p>
          <a:p>
            <a:pPr lvl="0">
              <a:spcBef>
                <a:spcPts val="600"/>
              </a:spcBef>
              <a:spcAft>
                <a:spcPts val="600"/>
              </a:spcAft>
              <a:buNone/>
            </a:pPr>
            <a:endParaRPr lang="en-AU" sz="2200" dirty="0" smtClean="0">
              <a:latin typeface="Helvetica" pitchFamily="34" charset="0"/>
            </a:endParaRPr>
          </a:p>
          <a:p>
            <a:pPr lvl="0">
              <a:spcBef>
                <a:spcPts val="600"/>
              </a:spcBef>
              <a:spcAft>
                <a:spcPts val="600"/>
              </a:spcAft>
            </a:pPr>
            <a:endParaRPr lang="en-AU" sz="2400" dirty="0" smtClean="0"/>
          </a:p>
          <a:p>
            <a:pPr lvl="0">
              <a:spcBef>
                <a:spcPts val="600"/>
              </a:spcBef>
              <a:spcAft>
                <a:spcPts val="6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6" name="Picture 5" descr="MP900385501[1].JPG"/>
          <p:cNvPicPr/>
          <p:nvPr/>
        </p:nvPicPr>
        <p:blipFill>
          <a:blip r:embed="rId3" cstate="print"/>
          <a:stretch>
            <a:fillRect/>
          </a:stretch>
        </p:blipFill>
        <p:spPr>
          <a:xfrm>
            <a:off x="6286512" y="2714620"/>
            <a:ext cx="1390650" cy="1952625"/>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Store equipment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dirty="0" smtClean="0">
                <a:latin typeface="Helvetica" pitchFamily="34" charset="0"/>
              </a:rPr>
              <a:t>All cleaning equipment will have an allocated storage area. </a:t>
            </a:r>
          </a:p>
          <a:p>
            <a:pPr marL="0">
              <a:spcBef>
                <a:spcPts val="600"/>
              </a:spcBef>
              <a:spcAft>
                <a:spcPts val="1200"/>
              </a:spcAft>
              <a:buNone/>
            </a:pPr>
            <a:r>
              <a:rPr lang="en-AU" sz="2100" dirty="0" smtClean="0">
                <a:latin typeface="Helvetica" pitchFamily="34" charset="0"/>
              </a:rPr>
              <a:t>Equipment must be returned to this area after use </a:t>
            </a:r>
          </a:p>
          <a:p>
            <a:pPr marL="0">
              <a:spcBef>
                <a:spcPts val="600"/>
              </a:spcBef>
              <a:spcAft>
                <a:spcPts val="1200"/>
              </a:spcAft>
              <a:buNone/>
            </a:pPr>
            <a:r>
              <a:rPr lang="en-AU" sz="2100" dirty="0" smtClean="0">
                <a:latin typeface="Helvetica" pitchFamily="34" charset="0"/>
              </a:rPr>
              <a:t>Cleaning equipment cannot be left ‘just anywhere’ after it has been used because:</a:t>
            </a:r>
          </a:p>
          <a:p>
            <a:pPr lvl="0">
              <a:spcBef>
                <a:spcPts val="600"/>
              </a:spcBef>
              <a:spcAft>
                <a:spcPts val="1200"/>
              </a:spcAft>
            </a:pPr>
            <a:r>
              <a:rPr lang="en-US" sz="2100" dirty="0" smtClean="0">
                <a:latin typeface="Helvetica" pitchFamily="34" charset="0"/>
              </a:rPr>
              <a:t>It may be stolen</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It may be a hazard in terms of an                               obstruction or a tripping hazard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Others may need to use it and they will                              go to where it should be</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8" name="Picture 7" descr="http://www.fminnovations.com.au/uploads/images/typical_cleaning_storeroom.png"/>
          <p:cNvPicPr/>
          <p:nvPr/>
        </p:nvPicPr>
        <p:blipFill>
          <a:blip r:embed="rId3" cstate="print"/>
          <a:srcRect/>
          <a:stretch>
            <a:fillRect/>
          </a:stretch>
        </p:blipFill>
        <p:spPr bwMode="auto">
          <a:xfrm>
            <a:off x="6143636" y="3286124"/>
            <a:ext cx="2075681" cy="15369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Store equipment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301208"/>
          </a:xfrm>
        </p:spPr>
        <p:txBody>
          <a:bodyPr>
            <a:normAutofit/>
          </a:bodyPr>
          <a:lstStyle/>
          <a:p>
            <a:pPr>
              <a:spcBef>
                <a:spcPts val="600"/>
              </a:spcBef>
              <a:spcAft>
                <a:spcPts val="1200"/>
              </a:spcAft>
              <a:buNone/>
            </a:pPr>
            <a:r>
              <a:rPr lang="en-AU" sz="2100" b="1" dirty="0" smtClean="0">
                <a:latin typeface="Helvetica" pitchFamily="34" charset="0"/>
              </a:rPr>
              <a:t>Location for storage</a:t>
            </a:r>
          </a:p>
          <a:p>
            <a:pPr>
              <a:spcBef>
                <a:spcPts val="600"/>
              </a:spcBef>
              <a:spcAft>
                <a:spcPts val="1200"/>
              </a:spcAft>
            </a:pPr>
            <a:r>
              <a:rPr lang="en-AU" sz="2100" dirty="0" smtClean="0">
                <a:latin typeface="Helvetica" pitchFamily="34" charset="0"/>
              </a:rPr>
              <a:t>A property can have several small storerooms throughout the property. Normally this is one per department or one per floor</a:t>
            </a:r>
          </a:p>
          <a:p>
            <a:pPr>
              <a:spcBef>
                <a:spcPts val="600"/>
              </a:spcBef>
              <a:spcAft>
                <a:spcPts val="1200"/>
              </a:spcAft>
            </a:pPr>
            <a:r>
              <a:rPr lang="en-AU" sz="2100" dirty="0" smtClean="0">
                <a:latin typeface="Helvetica" pitchFamily="34" charset="0"/>
              </a:rPr>
              <a:t>Larger electrically-powered equipment may be stored in another location due to size</a:t>
            </a:r>
          </a:p>
          <a:p>
            <a:pPr>
              <a:spcBef>
                <a:spcPts val="600"/>
              </a:spcBef>
              <a:spcAft>
                <a:spcPts val="1200"/>
              </a:spcAft>
            </a:pPr>
            <a:r>
              <a:rPr lang="en-AU" sz="2100" dirty="0" smtClean="0">
                <a:latin typeface="Helvetica" pitchFamily="34" charset="0"/>
              </a:rPr>
              <a:t>These storage areas should all be back-of-house locations and fitted with locks to prevent unauthorised access to equipment </a:t>
            </a:r>
          </a:p>
          <a:p>
            <a:pPr>
              <a:spcBef>
                <a:spcPts val="600"/>
              </a:spcBef>
              <a:spcAft>
                <a:spcPts val="1200"/>
              </a:spcAft>
            </a:pPr>
            <a:r>
              <a:rPr lang="en-AU" sz="2100" dirty="0" smtClean="0">
                <a:latin typeface="Helvetica" pitchFamily="34" charset="0"/>
              </a:rPr>
              <a:t>Make sure the store is locked when you leave it</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locked_door.jpg"/>
          <p:cNvPicPr>
            <a:picLocks noChangeAspect="1"/>
          </p:cNvPicPr>
          <p:nvPr/>
        </p:nvPicPr>
        <p:blipFill>
          <a:blip r:embed="rId3" cstate="print"/>
          <a:stretch>
            <a:fillRect/>
          </a:stretch>
        </p:blipFill>
        <p:spPr>
          <a:xfrm>
            <a:off x="6929454" y="4857760"/>
            <a:ext cx="1987589" cy="1285884"/>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Store chemicals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US" sz="2100" b="1" dirty="0" smtClean="0">
                <a:latin typeface="Helvetica" pitchFamily="34" charset="0"/>
              </a:rPr>
              <a:t>Guidelines for storing chemicals</a:t>
            </a:r>
          </a:p>
          <a:p>
            <a:pPr>
              <a:spcBef>
                <a:spcPts val="600"/>
              </a:spcBef>
              <a:spcAft>
                <a:spcPts val="1200"/>
              </a:spcAft>
            </a:pPr>
            <a:r>
              <a:rPr lang="en-US" sz="2100" dirty="0" smtClean="0">
                <a:latin typeface="Helvetica" pitchFamily="34" charset="0"/>
              </a:rPr>
              <a:t>Keep in a storeroom away from other products </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A register should be maintained to record items in accordance with legislated requirements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The store room for chemicals must be well lit </a:t>
            </a:r>
            <a:br>
              <a:rPr lang="en-US" sz="2100" dirty="0" smtClean="0">
                <a:latin typeface="Helvetica" pitchFamily="34" charset="0"/>
              </a:rPr>
            </a:br>
            <a:r>
              <a:rPr lang="en-US" sz="2100" dirty="0" smtClean="0">
                <a:latin typeface="Helvetica" pitchFamily="34" charset="0"/>
              </a:rPr>
              <a:t>and ventilated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The room should only be used for storing </a:t>
            </a:r>
            <a:br>
              <a:rPr lang="en-US" sz="2100" dirty="0" smtClean="0">
                <a:latin typeface="Helvetica" pitchFamily="34" charset="0"/>
              </a:rPr>
            </a:br>
            <a:r>
              <a:rPr lang="en-US" sz="2100" dirty="0" smtClean="0">
                <a:latin typeface="Helvetica" pitchFamily="34" charset="0"/>
              </a:rPr>
              <a:t>chemicals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Heavy containers must be stored on lower                      shelves to avoid the need for lifting, and to                        minimise the chance of spills</a:t>
            </a: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8" name="Picture 7" descr="chemical_storage_closed.jpg"/>
          <p:cNvPicPr>
            <a:picLocks noChangeAspect="1"/>
          </p:cNvPicPr>
          <p:nvPr/>
        </p:nvPicPr>
        <p:blipFill>
          <a:blip r:embed="rId3" cstate="print"/>
          <a:stretch>
            <a:fillRect/>
          </a:stretch>
        </p:blipFill>
        <p:spPr>
          <a:xfrm>
            <a:off x="6697316" y="3214686"/>
            <a:ext cx="2446684" cy="1432743"/>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Store chemicals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US" sz="2100" b="1" dirty="0" smtClean="0">
                <a:latin typeface="Helvetica" pitchFamily="34" charset="0"/>
              </a:rPr>
              <a:t>Guidelines for storing chemicals</a:t>
            </a:r>
          </a:p>
          <a:p>
            <a:pPr lvl="0">
              <a:spcBef>
                <a:spcPts val="600"/>
              </a:spcBef>
              <a:spcAft>
                <a:spcPts val="1200"/>
              </a:spcAft>
            </a:pPr>
            <a:r>
              <a:rPr lang="en-US" sz="2100" dirty="0" smtClean="0">
                <a:latin typeface="Helvetica" pitchFamily="34" charset="0"/>
              </a:rPr>
              <a:t>Keep containers well sealed and labeled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Have MSDS and first aid directions and resources posted in the area</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Keep away from a naked flame or excessive </a:t>
            </a:r>
            <a:br>
              <a:rPr lang="en-US" sz="2100" dirty="0" smtClean="0">
                <a:latin typeface="Helvetica" pitchFamily="34" charset="0"/>
              </a:rPr>
            </a:br>
            <a:r>
              <a:rPr lang="en-US" sz="2100" dirty="0" smtClean="0">
                <a:latin typeface="Helvetica" pitchFamily="34" charset="0"/>
              </a:rPr>
              <a:t>heat</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Product usage charts should be close to the </a:t>
            </a:r>
            <a:br>
              <a:rPr lang="en-US" sz="2100" dirty="0" smtClean="0">
                <a:latin typeface="Helvetica" pitchFamily="34" charset="0"/>
              </a:rPr>
            </a:br>
            <a:r>
              <a:rPr lang="en-US" sz="2100" dirty="0" smtClean="0">
                <a:latin typeface="Helvetica" pitchFamily="34" charset="0"/>
              </a:rPr>
              <a:t>chemicals for easy and clear reference purposes </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Instructions for safe chemical handling must                        be posted</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5" name="Picture 4" descr="0,1020,961412,00.jpg"/>
          <p:cNvPicPr>
            <a:picLocks noChangeAspect="1"/>
          </p:cNvPicPr>
          <p:nvPr/>
        </p:nvPicPr>
        <p:blipFill>
          <a:blip r:embed="rId3" cstate="print"/>
          <a:stretch>
            <a:fillRect/>
          </a:stretch>
        </p:blipFill>
        <p:spPr>
          <a:xfrm>
            <a:off x="7000892" y="3286124"/>
            <a:ext cx="1426448" cy="1426448"/>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Store chemicals after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US" sz="2100" b="1" dirty="0" smtClean="0">
                <a:latin typeface="Helvetica" pitchFamily="34" charset="0"/>
              </a:rPr>
              <a:t>Guidelines for storing chemicals</a:t>
            </a:r>
          </a:p>
          <a:p>
            <a:pPr lvl="0">
              <a:spcBef>
                <a:spcPts val="600"/>
              </a:spcBef>
              <a:spcAft>
                <a:spcPts val="1200"/>
              </a:spcAft>
            </a:pPr>
            <a:r>
              <a:rPr lang="en-US" sz="2100" dirty="0" smtClean="0">
                <a:latin typeface="Helvetica" pitchFamily="34" charset="0"/>
              </a:rPr>
              <a:t>Necessary PPE should be present</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Never store chemicals or cleaning agents in food containers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Never store chemicals with food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Do not allow customers to come into contact with chemicals, or entry into the chemicals storage area</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Never mix chemicals together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Ensure measuring devices for chemicals                         are not used for any other purpose</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Tec2202_th.jpg"/>
          <p:cNvPicPr>
            <a:picLocks noChangeAspect="1"/>
          </p:cNvPicPr>
          <p:nvPr/>
        </p:nvPicPr>
        <p:blipFill>
          <a:blip r:embed="rId3" cstate="print"/>
          <a:stretch>
            <a:fillRect/>
          </a:stretch>
        </p:blipFill>
        <p:spPr>
          <a:xfrm>
            <a:off x="7286644" y="2643182"/>
            <a:ext cx="1228656" cy="1479302"/>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936104"/>
          </a:xfrm>
        </p:spPr>
        <p:txBody>
          <a:bodyPr>
            <a:normAutofit/>
          </a:bodyPr>
          <a:lstStyle/>
          <a:p>
            <a:r>
              <a:rPr lang="en-US" sz="3600" b="1" dirty="0" smtClean="0">
                <a:solidFill>
                  <a:srgbClr val="FF6600"/>
                </a:solidFill>
              </a:rPr>
              <a:t>Cleaning public areas</a:t>
            </a:r>
            <a:endParaRPr lang="en-US" sz="3600" b="1" dirty="0">
              <a:solidFill>
                <a:srgbClr val="FF6600"/>
              </a:solidFill>
            </a:endParaRPr>
          </a:p>
        </p:txBody>
      </p:sp>
      <p:sp>
        <p:nvSpPr>
          <p:cNvPr id="3" name="Content Placeholder 2"/>
          <p:cNvSpPr>
            <a:spLocks noGrp="1"/>
          </p:cNvSpPr>
          <p:nvPr>
            <p:ph idx="1"/>
          </p:nvPr>
        </p:nvSpPr>
        <p:spPr>
          <a:xfrm>
            <a:off x="642910" y="1268760"/>
            <a:ext cx="7467600" cy="5589240"/>
          </a:xfrm>
        </p:spPr>
        <p:txBody>
          <a:bodyPr>
            <a:normAutofit/>
          </a:bodyPr>
          <a:lstStyle/>
          <a:p>
            <a:pPr lvl="0">
              <a:spcBef>
                <a:spcPts val="600"/>
              </a:spcBef>
              <a:spcAft>
                <a:spcPts val="600"/>
              </a:spcAft>
              <a:buNone/>
            </a:pPr>
            <a:r>
              <a:rPr lang="en-US" sz="2100" b="1" dirty="0" smtClean="0">
                <a:latin typeface="Helvetica" pitchFamily="34" charset="0"/>
              </a:rPr>
              <a:t>Gardens</a:t>
            </a:r>
          </a:p>
          <a:p>
            <a:pPr lvl="0">
              <a:spcBef>
                <a:spcPts val="600"/>
              </a:spcBef>
              <a:spcAft>
                <a:spcPts val="600"/>
              </a:spcAft>
            </a:pPr>
            <a:r>
              <a:rPr lang="en-US" sz="2100" dirty="0" smtClean="0"/>
              <a:t>Gardens influence the ambiance of the property</a:t>
            </a:r>
            <a:endParaRPr lang="en-AU" sz="2100" dirty="0" smtClean="0">
              <a:latin typeface="Helvetica" pitchFamily="34" charset="0"/>
            </a:endParaRPr>
          </a:p>
          <a:p>
            <a:pPr lvl="0">
              <a:spcBef>
                <a:spcPts val="600"/>
              </a:spcBef>
              <a:spcAft>
                <a:spcPts val="600"/>
              </a:spcAft>
            </a:pPr>
            <a:r>
              <a:rPr lang="en-AU" sz="2100" dirty="0" smtClean="0">
                <a:latin typeface="Helvetica" pitchFamily="34" charset="0"/>
              </a:rPr>
              <a:t>Need to be </a:t>
            </a:r>
            <a:r>
              <a:rPr lang="en-AU" sz="2100" dirty="0" smtClean="0"/>
              <a:t>clean and </a:t>
            </a:r>
            <a:r>
              <a:rPr lang="en-AU" sz="2100" dirty="0" smtClean="0">
                <a:latin typeface="Helvetica" pitchFamily="34" charset="0"/>
              </a:rPr>
              <a:t>attractive </a:t>
            </a:r>
          </a:p>
          <a:p>
            <a:pPr lvl="0">
              <a:spcBef>
                <a:spcPts val="600"/>
              </a:spcBef>
              <a:spcAft>
                <a:spcPts val="600"/>
              </a:spcAft>
            </a:pPr>
            <a:r>
              <a:rPr lang="en-US" sz="2100" dirty="0" smtClean="0"/>
              <a:t>Some properties have gardeners – others use the public area cleaner.</a:t>
            </a:r>
            <a:endParaRPr lang="en-AU" sz="2100" dirty="0" smtClean="0">
              <a:latin typeface="Helvetica" pitchFamily="34" charset="0"/>
            </a:endParaRPr>
          </a:p>
          <a:p>
            <a:pPr lvl="0">
              <a:spcBef>
                <a:spcPts val="600"/>
              </a:spcBef>
              <a:spcAft>
                <a:spcPts val="600"/>
              </a:spcAft>
              <a:buNone/>
            </a:pPr>
            <a:r>
              <a:rPr lang="en-AU" sz="2100" dirty="0" smtClean="0">
                <a:latin typeface="Helvetica" pitchFamily="34" charset="0"/>
              </a:rPr>
              <a:t>Gardening responsibilities can include:</a:t>
            </a:r>
          </a:p>
          <a:p>
            <a:pPr>
              <a:spcBef>
                <a:spcPts val="600"/>
              </a:spcBef>
              <a:spcAft>
                <a:spcPts val="600"/>
              </a:spcAft>
            </a:pPr>
            <a:r>
              <a:rPr lang="en-AU" sz="2100" dirty="0" smtClean="0"/>
              <a:t>Caring for grass and plants</a:t>
            </a:r>
          </a:p>
          <a:p>
            <a:pPr>
              <a:spcBef>
                <a:spcPts val="600"/>
              </a:spcBef>
              <a:spcAft>
                <a:spcPts val="600"/>
              </a:spcAft>
            </a:pPr>
            <a:r>
              <a:rPr lang="en-AU" sz="2100" dirty="0" smtClean="0">
                <a:latin typeface="Helvetica" pitchFamily="34" charset="0"/>
              </a:rPr>
              <a:t>Keeping the gardens neat and tidy</a:t>
            </a:r>
          </a:p>
          <a:p>
            <a:pPr>
              <a:spcBef>
                <a:spcPts val="600"/>
              </a:spcBef>
              <a:spcAft>
                <a:spcPts val="600"/>
              </a:spcAft>
            </a:pPr>
            <a:r>
              <a:rPr lang="en-AU" sz="2100" dirty="0" smtClean="0"/>
              <a:t>Maintaining gardening equipment &amp; machinery</a:t>
            </a:r>
          </a:p>
          <a:p>
            <a:pPr>
              <a:spcBef>
                <a:spcPts val="600"/>
              </a:spcBef>
              <a:spcAft>
                <a:spcPts val="600"/>
              </a:spcAft>
            </a:pPr>
            <a:r>
              <a:rPr lang="en-AU" sz="2100" dirty="0" smtClean="0"/>
              <a:t>Maintaining a safe working environment.</a:t>
            </a:r>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Tec2202_th.jpg"/>
          <p:cNvPicPr>
            <a:picLocks noChangeAspect="1"/>
          </p:cNvPicPr>
          <p:nvPr/>
        </p:nvPicPr>
        <p:blipFill>
          <a:blip r:embed="rId3" cstate="print"/>
          <a:stretch>
            <a:fillRect/>
          </a:stretch>
        </p:blipFill>
        <p:spPr>
          <a:xfrm>
            <a:off x="7236296" y="3140968"/>
            <a:ext cx="1228656" cy="1228656"/>
          </a:xfrm>
          <a:prstGeom prst="rect">
            <a:avLst/>
          </a:prstGeom>
        </p:spPr>
      </p:pic>
      <p:pic>
        <p:nvPicPr>
          <p:cNvPr id="6" name="Picture 5" descr="MP900432754.JPG"/>
          <p:cNvPicPr>
            <a:picLocks noChangeAspect="1"/>
          </p:cNvPicPr>
          <p:nvPr/>
        </p:nvPicPr>
        <p:blipFill>
          <a:blip r:embed="rId4" cstate="print"/>
          <a:stretch>
            <a:fillRect/>
          </a:stretch>
        </p:blipFill>
        <p:spPr>
          <a:xfrm>
            <a:off x="6916033" y="4502076"/>
            <a:ext cx="1832431" cy="1375196"/>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936104"/>
          </a:xfrm>
        </p:spPr>
        <p:txBody>
          <a:bodyPr>
            <a:normAutofit/>
          </a:bodyPr>
          <a:lstStyle/>
          <a:p>
            <a:r>
              <a:rPr lang="en-US" sz="3600" b="1" dirty="0" smtClean="0">
                <a:solidFill>
                  <a:srgbClr val="FF6600"/>
                </a:solidFill>
              </a:rPr>
              <a:t>Cleaning public areas</a:t>
            </a:r>
            <a:endParaRPr lang="en-US" sz="3600" b="1" dirty="0">
              <a:solidFill>
                <a:srgbClr val="FF6600"/>
              </a:solidFill>
            </a:endParaRPr>
          </a:p>
        </p:txBody>
      </p:sp>
      <p:sp>
        <p:nvSpPr>
          <p:cNvPr id="3" name="Content Placeholder 2"/>
          <p:cNvSpPr>
            <a:spLocks noGrp="1"/>
          </p:cNvSpPr>
          <p:nvPr>
            <p:ph idx="1"/>
          </p:nvPr>
        </p:nvSpPr>
        <p:spPr>
          <a:xfrm>
            <a:off x="642910" y="1412776"/>
            <a:ext cx="7467600" cy="5445224"/>
          </a:xfrm>
        </p:spPr>
        <p:txBody>
          <a:bodyPr>
            <a:normAutofit/>
          </a:bodyPr>
          <a:lstStyle/>
          <a:p>
            <a:pPr lvl="0">
              <a:spcBef>
                <a:spcPts val="600"/>
              </a:spcBef>
              <a:spcAft>
                <a:spcPts val="600"/>
              </a:spcAft>
              <a:buNone/>
            </a:pPr>
            <a:r>
              <a:rPr lang="en-US" sz="2100" b="1" dirty="0" smtClean="0"/>
              <a:t>Swimming pools</a:t>
            </a:r>
            <a:endParaRPr lang="en-US" sz="2100" b="1" dirty="0" smtClean="0">
              <a:latin typeface="Helvetica" pitchFamily="34" charset="0"/>
            </a:endParaRPr>
          </a:p>
          <a:p>
            <a:pPr lvl="0">
              <a:spcBef>
                <a:spcPts val="600"/>
              </a:spcBef>
              <a:spcAft>
                <a:spcPts val="600"/>
              </a:spcAft>
            </a:pPr>
            <a:r>
              <a:rPr lang="en-AU" sz="2100" dirty="0" smtClean="0">
                <a:latin typeface="Helvetica" pitchFamily="34" charset="0"/>
              </a:rPr>
              <a:t>The pool is a major attraction for guests</a:t>
            </a:r>
          </a:p>
          <a:p>
            <a:pPr lvl="0">
              <a:spcBef>
                <a:spcPts val="600"/>
              </a:spcBef>
              <a:spcAft>
                <a:spcPts val="600"/>
              </a:spcAft>
            </a:pPr>
            <a:r>
              <a:rPr lang="en-AU" sz="2100" dirty="0" smtClean="0">
                <a:latin typeface="Helvetica" pitchFamily="34" charset="0"/>
              </a:rPr>
              <a:t>Pools need to be </a:t>
            </a:r>
            <a:r>
              <a:rPr lang="en-AU" sz="2100" dirty="0" smtClean="0"/>
              <a:t>clean and properly maintained.</a:t>
            </a:r>
            <a:r>
              <a:rPr lang="en-AU" sz="2100" dirty="0" smtClean="0">
                <a:latin typeface="Helvetica" pitchFamily="34" charset="0"/>
              </a:rPr>
              <a:t> </a:t>
            </a:r>
          </a:p>
          <a:p>
            <a:pPr lvl="0">
              <a:spcBef>
                <a:spcPts val="600"/>
              </a:spcBef>
              <a:spcAft>
                <a:spcPts val="600"/>
              </a:spcAft>
              <a:buNone/>
            </a:pPr>
            <a:r>
              <a:rPr lang="en-AU" sz="2100" dirty="0" smtClean="0">
                <a:latin typeface="Helvetica" pitchFamily="34" charset="0"/>
              </a:rPr>
              <a:t>Pool cleaning tasks can include:</a:t>
            </a:r>
          </a:p>
          <a:p>
            <a:pPr>
              <a:spcBef>
                <a:spcPts val="600"/>
              </a:spcBef>
              <a:spcAft>
                <a:spcPts val="600"/>
              </a:spcAft>
            </a:pPr>
            <a:r>
              <a:rPr lang="en-AU" sz="2100" dirty="0" smtClean="0"/>
              <a:t>Removing leaves, algae and vacuuming </a:t>
            </a:r>
          </a:p>
          <a:p>
            <a:pPr>
              <a:spcBef>
                <a:spcPts val="600"/>
              </a:spcBef>
              <a:spcAft>
                <a:spcPts val="600"/>
              </a:spcAft>
            </a:pPr>
            <a:r>
              <a:rPr lang="en-AU" sz="2100" dirty="0" smtClean="0">
                <a:latin typeface="Helvetica" pitchFamily="34" charset="0"/>
              </a:rPr>
              <a:t>Keeping water sanitised</a:t>
            </a:r>
          </a:p>
          <a:p>
            <a:pPr>
              <a:spcBef>
                <a:spcPts val="600"/>
              </a:spcBef>
              <a:spcAft>
                <a:spcPts val="600"/>
              </a:spcAft>
            </a:pPr>
            <a:r>
              <a:rPr lang="en-AU" sz="2100" dirty="0" smtClean="0"/>
              <a:t>Checking filter and maintaining lighting</a:t>
            </a:r>
          </a:p>
          <a:p>
            <a:pPr>
              <a:spcBef>
                <a:spcPts val="600"/>
              </a:spcBef>
              <a:spcAft>
                <a:spcPts val="600"/>
              </a:spcAft>
            </a:pPr>
            <a:r>
              <a:rPr lang="en-AU" sz="2100" dirty="0" smtClean="0"/>
              <a:t>Using and storing pool chemicals correctly</a:t>
            </a:r>
          </a:p>
          <a:p>
            <a:pPr>
              <a:spcBef>
                <a:spcPts val="600"/>
              </a:spcBef>
              <a:spcAft>
                <a:spcPts val="600"/>
              </a:spcAft>
            </a:pPr>
            <a:r>
              <a:rPr lang="en-AU" sz="2100" dirty="0" smtClean="0"/>
              <a:t>Keeping the pool environs clean and tidy.</a:t>
            </a:r>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Tec2202_th.jpg"/>
          <p:cNvPicPr>
            <a:picLocks noChangeAspect="1"/>
          </p:cNvPicPr>
          <p:nvPr/>
        </p:nvPicPr>
        <p:blipFill>
          <a:blip r:embed="rId3" cstate="print"/>
          <a:stretch>
            <a:fillRect/>
          </a:stretch>
        </p:blipFill>
        <p:spPr>
          <a:xfrm>
            <a:off x="6660232" y="4221088"/>
            <a:ext cx="1836921" cy="1224136"/>
          </a:xfrm>
          <a:prstGeom prst="rect">
            <a:avLst/>
          </a:prstGeom>
        </p:spPr>
      </p:pic>
      <p:pic>
        <p:nvPicPr>
          <p:cNvPr id="6" name="Picture 5" descr="MC900023541.WMF"/>
          <p:cNvPicPr>
            <a:picLocks noChangeAspect="1"/>
          </p:cNvPicPr>
          <p:nvPr/>
        </p:nvPicPr>
        <p:blipFill>
          <a:blip r:embed="rId4" cstate="print"/>
          <a:stretch>
            <a:fillRect/>
          </a:stretch>
        </p:blipFill>
        <p:spPr>
          <a:xfrm>
            <a:off x="7020272" y="2852936"/>
            <a:ext cx="1284498" cy="1171422"/>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rPr>
              <a:t>Cleaning public areas</a:t>
            </a:r>
            <a:endParaRPr lang="en-US" sz="3600" b="1" dirty="0">
              <a:solidFill>
                <a:srgbClr val="FF6600"/>
              </a:solidFill>
            </a:endParaRPr>
          </a:p>
        </p:txBody>
      </p:sp>
      <p:sp>
        <p:nvSpPr>
          <p:cNvPr id="3" name="Content Placeholder 2"/>
          <p:cNvSpPr>
            <a:spLocks noGrp="1"/>
          </p:cNvSpPr>
          <p:nvPr>
            <p:ph idx="1"/>
          </p:nvPr>
        </p:nvSpPr>
        <p:spPr>
          <a:xfrm>
            <a:off x="642910" y="1556792"/>
            <a:ext cx="7467600" cy="5301208"/>
          </a:xfrm>
        </p:spPr>
        <p:txBody>
          <a:bodyPr>
            <a:normAutofit/>
          </a:bodyPr>
          <a:lstStyle/>
          <a:p>
            <a:pPr lvl="0">
              <a:spcBef>
                <a:spcPts val="600"/>
              </a:spcBef>
              <a:spcAft>
                <a:spcPts val="1200"/>
              </a:spcAft>
              <a:buNone/>
            </a:pPr>
            <a:r>
              <a:rPr lang="en-AU" sz="2100" b="1" dirty="0" smtClean="0"/>
              <a:t>Car parks and driveways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The hotel entrance is the first point of contact for guests</a:t>
            </a:r>
          </a:p>
          <a:p>
            <a:pPr lvl="0">
              <a:spcBef>
                <a:spcPts val="600"/>
              </a:spcBef>
              <a:spcAft>
                <a:spcPts val="1200"/>
              </a:spcAft>
            </a:pPr>
            <a:r>
              <a:rPr lang="en-AU" sz="2100" dirty="0" smtClean="0"/>
              <a:t>It </a:t>
            </a:r>
            <a:r>
              <a:rPr lang="en-AU" sz="2100" dirty="0" smtClean="0">
                <a:latin typeface="Helvetica" pitchFamily="34" charset="0"/>
              </a:rPr>
              <a:t> needs to be </a:t>
            </a:r>
            <a:r>
              <a:rPr lang="en-AU" sz="2100" dirty="0" smtClean="0"/>
              <a:t>clean and properly maintained.</a:t>
            </a:r>
            <a:endParaRPr lang="en-AU" sz="2100" dirty="0" smtClean="0">
              <a:latin typeface="Helvetica" pitchFamily="34" charset="0"/>
            </a:endParaRPr>
          </a:p>
          <a:p>
            <a:pPr lvl="0">
              <a:spcBef>
                <a:spcPts val="600"/>
              </a:spcBef>
              <a:spcAft>
                <a:spcPts val="1200"/>
              </a:spcAft>
              <a:buNone/>
            </a:pPr>
            <a:r>
              <a:rPr lang="en-AU" sz="2100" dirty="0" smtClean="0">
                <a:latin typeface="Helvetica" pitchFamily="34" charset="0"/>
              </a:rPr>
              <a:t>Tasks can include:</a:t>
            </a:r>
          </a:p>
          <a:p>
            <a:pPr>
              <a:spcBef>
                <a:spcPts val="600"/>
              </a:spcBef>
              <a:spcAft>
                <a:spcPts val="1200"/>
              </a:spcAft>
            </a:pPr>
            <a:r>
              <a:rPr lang="en-AU" sz="2100" dirty="0" smtClean="0"/>
              <a:t>Keeping driveways clear of rubbish and clean </a:t>
            </a:r>
          </a:p>
          <a:p>
            <a:pPr>
              <a:spcBef>
                <a:spcPts val="600"/>
              </a:spcBef>
              <a:spcAft>
                <a:spcPts val="1200"/>
              </a:spcAft>
            </a:pPr>
            <a:r>
              <a:rPr lang="en-AU" sz="2100" dirty="0" smtClean="0"/>
              <a:t>Keeping car park clean and tidy</a:t>
            </a:r>
            <a:endParaRPr lang="en-AU" sz="2100" dirty="0" smtClean="0">
              <a:latin typeface="Helvetica" pitchFamily="34" charset="0"/>
            </a:endParaRPr>
          </a:p>
          <a:p>
            <a:pPr>
              <a:spcBef>
                <a:spcPts val="600"/>
              </a:spcBef>
              <a:spcAft>
                <a:spcPts val="1200"/>
              </a:spcAft>
            </a:pPr>
            <a:r>
              <a:rPr lang="en-AU" sz="2100" dirty="0" smtClean="0"/>
              <a:t>Making sure all equipment is in working order</a:t>
            </a:r>
          </a:p>
          <a:p>
            <a:pPr>
              <a:spcBef>
                <a:spcPts val="600"/>
              </a:spcBef>
              <a:spcAft>
                <a:spcPts val="1200"/>
              </a:spcAft>
            </a:pPr>
            <a:r>
              <a:rPr lang="en-AU" sz="2100" dirty="0" smtClean="0"/>
              <a:t>Making sure all vehicles are secure.</a:t>
            </a:r>
          </a:p>
          <a:p>
            <a:pPr>
              <a:spcBef>
                <a:spcPts val="600"/>
              </a:spcBef>
              <a:spcAft>
                <a:spcPts val="1200"/>
              </a:spcAft>
              <a:buNone/>
            </a:pPr>
            <a:endParaRPr lang="en-AU" sz="2100" dirty="0" smtClean="0"/>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4" descr="Tec2202_th.jpg"/>
          <p:cNvPicPr>
            <a:picLocks noChangeAspect="1"/>
          </p:cNvPicPr>
          <p:nvPr/>
        </p:nvPicPr>
        <p:blipFill>
          <a:blip r:embed="rId3" cstate="print"/>
          <a:stretch>
            <a:fillRect/>
          </a:stretch>
        </p:blipFill>
        <p:spPr>
          <a:xfrm>
            <a:off x="6660232" y="3789040"/>
            <a:ext cx="2248778" cy="178624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c2202_th.jpg"/>
          <p:cNvPicPr>
            <a:picLocks noChangeAspect="1"/>
          </p:cNvPicPr>
          <p:nvPr/>
        </p:nvPicPr>
        <p:blipFill>
          <a:blip r:embed="rId3" cstate="print"/>
          <a:stretch>
            <a:fillRect/>
          </a:stretch>
        </p:blipFill>
        <p:spPr>
          <a:xfrm>
            <a:off x="7517119" y="1988840"/>
            <a:ext cx="1626881" cy="2601698"/>
          </a:xfrm>
          <a:prstGeom prst="rect">
            <a:avLst/>
          </a:prstGeom>
        </p:spPr>
      </p:pic>
      <p:sp>
        <p:nvSpPr>
          <p:cNvPr id="2" name="Title 1"/>
          <p:cNvSpPr>
            <a:spLocks noGrp="1"/>
          </p:cNvSpPr>
          <p:nvPr>
            <p:ph type="title"/>
          </p:nvPr>
        </p:nvSpPr>
        <p:spPr>
          <a:xfrm>
            <a:off x="611560" y="332656"/>
            <a:ext cx="7992888" cy="792088"/>
          </a:xfrm>
        </p:spPr>
        <p:txBody>
          <a:bodyPr>
            <a:normAutofit/>
          </a:bodyPr>
          <a:lstStyle/>
          <a:p>
            <a:r>
              <a:rPr lang="en-US" sz="3600" b="1" dirty="0" smtClean="0">
                <a:solidFill>
                  <a:srgbClr val="FF6600"/>
                </a:solidFill>
              </a:rPr>
              <a:t>Cleaning public areas</a:t>
            </a:r>
            <a:endParaRPr lang="en-US" sz="3600" b="1" dirty="0">
              <a:solidFill>
                <a:srgbClr val="FF6600"/>
              </a:solidFill>
            </a:endParaRPr>
          </a:p>
        </p:txBody>
      </p:sp>
      <p:sp>
        <p:nvSpPr>
          <p:cNvPr id="3" name="Content Placeholder 2"/>
          <p:cNvSpPr>
            <a:spLocks noGrp="1"/>
          </p:cNvSpPr>
          <p:nvPr>
            <p:ph idx="1"/>
          </p:nvPr>
        </p:nvSpPr>
        <p:spPr>
          <a:xfrm>
            <a:off x="642910" y="1268760"/>
            <a:ext cx="7467600" cy="5589240"/>
          </a:xfrm>
        </p:spPr>
        <p:txBody>
          <a:bodyPr>
            <a:normAutofit/>
          </a:bodyPr>
          <a:lstStyle/>
          <a:p>
            <a:pPr lvl="0">
              <a:spcBef>
                <a:spcPts val="600"/>
              </a:spcBef>
              <a:spcAft>
                <a:spcPts val="600"/>
              </a:spcAft>
              <a:buNone/>
            </a:pPr>
            <a:r>
              <a:rPr lang="en-US" sz="2100" b="1" dirty="0" smtClean="0"/>
              <a:t>Fire equipment and smoke detectors</a:t>
            </a:r>
            <a:endParaRPr lang="en-US" sz="2100" b="1" dirty="0" smtClean="0">
              <a:latin typeface="Helvetica" pitchFamily="34" charset="0"/>
            </a:endParaRPr>
          </a:p>
          <a:p>
            <a:pPr lvl="0">
              <a:spcBef>
                <a:spcPts val="600"/>
              </a:spcBef>
              <a:spcAft>
                <a:spcPts val="600"/>
              </a:spcAft>
            </a:pPr>
            <a:r>
              <a:rPr lang="en-AU" sz="2100" dirty="0" smtClean="0"/>
              <a:t>Fire equipment is often located in public areas</a:t>
            </a:r>
            <a:endParaRPr lang="en-AU" sz="2100" dirty="0" smtClean="0">
              <a:latin typeface="Helvetica" pitchFamily="34" charset="0"/>
            </a:endParaRPr>
          </a:p>
          <a:p>
            <a:pPr lvl="0">
              <a:spcBef>
                <a:spcPts val="600"/>
              </a:spcBef>
              <a:spcAft>
                <a:spcPts val="600"/>
              </a:spcAft>
            </a:pPr>
            <a:r>
              <a:rPr lang="en-AU" sz="2100" dirty="0" smtClean="0"/>
              <a:t>They need to be checked to see they are operational</a:t>
            </a:r>
          </a:p>
          <a:p>
            <a:pPr lvl="0">
              <a:spcBef>
                <a:spcPts val="600"/>
              </a:spcBef>
              <a:spcAft>
                <a:spcPts val="600"/>
              </a:spcAft>
            </a:pPr>
            <a:r>
              <a:rPr lang="en-AU" sz="2100" dirty="0" smtClean="0">
                <a:latin typeface="Helvetica" pitchFamily="34" charset="0"/>
              </a:rPr>
              <a:t>Smoke detectors are often placed in public areas</a:t>
            </a:r>
          </a:p>
          <a:p>
            <a:pPr lvl="0">
              <a:spcBef>
                <a:spcPts val="600"/>
              </a:spcBef>
              <a:spcAft>
                <a:spcPts val="600"/>
              </a:spcAft>
            </a:pPr>
            <a:r>
              <a:rPr lang="en-AU" sz="2100" dirty="0" smtClean="0"/>
              <a:t>They need to be checked once a month.</a:t>
            </a:r>
          </a:p>
          <a:p>
            <a:pPr lvl="0">
              <a:spcBef>
                <a:spcPts val="600"/>
              </a:spcBef>
              <a:spcAft>
                <a:spcPts val="600"/>
              </a:spcAft>
              <a:buNone/>
            </a:pPr>
            <a:r>
              <a:rPr lang="en-AU" sz="2100" dirty="0" smtClean="0"/>
              <a:t>To test a smoke detector: </a:t>
            </a:r>
          </a:p>
          <a:p>
            <a:pPr>
              <a:spcBef>
                <a:spcPts val="600"/>
              </a:spcBef>
              <a:spcAft>
                <a:spcPts val="600"/>
              </a:spcAft>
            </a:pPr>
            <a:r>
              <a:rPr lang="en-AU" sz="2100" dirty="0" smtClean="0">
                <a:latin typeface="Helvetica" pitchFamily="34" charset="0"/>
              </a:rPr>
              <a:t>Press the test button and check for beep or ring</a:t>
            </a:r>
          </a:p>
          <a:p>
            <a:pPr>
              <a:spcBef>
                <a:spcPts val="600"/>
              </a:spcBef>
              <a:spcAft>
                <a:spcPts val="600"/>
              </a:spcAft>
            </a:pPr>
            <a:r>
              <a:rPr lang="en-AU" sz="2100" dirty="0" smtClean="0"/>
              <a:t>If the detector chirps or beeps off and on then it is time to change the battery</a:t>
            </a:r>
          </a:p>
          <a:p>
            <a:pPr>
              <a:spcBef>
                <a:spcPts val="600"/>
              </a:spcBef>
              <a:spcAft>
                <a:spcPts val="600"/>
              </a:spcAft>
            </a:pPr>
            <a:r>
              <a:rPr lang="en-AU" sz="2100" dirty="0" smtClean="0"/>
              <a:t>When checking smoke detectors also check that sprinkler heads are operational and not broken.</a:t>
            </a:r>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6" name="Picture 5" descr="MP900341707.JPG"/>
          <p:cNvPicPr>
            <a:picLocks noChangeAspect="1"/>
          </p:cNvPicPr>
          <p:nvPr/>
        </p:nvPicPr>
        <p:blipFill>
          <a:blip r:embed="rId4" cstate="print"/>
          <a:stretch>
            <a:fillRect/>
          </a:stretch>
        </p:blipFill>
        <p:spPr>
          <a:xfrm>
            <a:off x="7596336" y="908720"/>
            <a:ext cx="1425017" cy="1016512"/>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Conclusion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Conclusion of Introduction</a:t>
            </a:r>
          </a:p>
          <a:p>
            <a:pPr>
              <a:spcBef>
                <a:spcPts val="600"/>
              </a:spcBef>
              <a:spcAft>
                <a:spcPts val="1200"/>
              </a:spcAft>
            </a:pPr>
            <a:r>
              <a:rPr lang="en-AU" sz="2100" dirty="0" smtClean="0">
                <a:latin typeface="Helvetica" pitchFamily="34" charset="0"/>
              </a:rPr>
              <a:t>In conclusion, this introduction provided detailed information when it comes to general cleaning functions performed by public area cleaners.</a:t>
            </a:r>
          </a:p>
          <a:p>
            <a:pPr>
              <a:spcBef>
                <a:spcPts val="600"/>
              </a:spcBef>
              <a:spcAft>
                <a:spcPts val="1200"/>
              </a:spcAft>
            </a:pPr>
            <a:r>
              <a:rPr lang="en-AU" sz="2100" dirty="0" smtClean="0">
                <a:latin typeface="Helvetica" pitchFamily="34" charset="0"/>
              </a:rPr>
              <a:t>Each of the following sections will detail procedures for different and specific types of cleaning</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8Q819CAE7G8EDCA51Z0RMCAYHHSHGCAIVH6EZCA1FANB6CAEEG6QRCAYXQD3ICARIDR6KCAKHIRJ7CAQD4MK2CALUNLA2CADGQ7MTCAGFFLFNCA7UTPTMCARFSMUOCAYV9F7DCATY7QRTCASGOAUMCACV36UD.jpg"/>
          <p:cNvPicPr>
            <a:picLocks noChangeAspect="1"/>
          </p:cNvPicPr>
          <p:nvPr/>
        </p:nvPicPr>
        <p:blipFill>
          <a:blip r:embed="rId3" cstate="print"/>
          <a:stretch>
            <a:fillRect/>
          </a:stretch>
        </p:blipFill>
        <p:spPr>
          <a:xfrm>
            <a:off x="3857620" y="4357694"/>
            <a:ext cx="1932822" cy="1658663"/>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3600" b="1" dirty="0" smtClean="0">
                <a:solidFill>
                  <a:srgbClr val="FF6600"/>
                </a:solidFill>
              </a:rPr>
              <a:t>Element 1:</a:t>
            </a:r>
          </a:p>
          <a:p>
            <a:pPr marL="0">
              <a:buNone/>
            </a:pPr>
            <a:r>
              <a:rPr lang="en-AU" sz="3600" b="1" dirty="0" smtClean="0">
                <a:solidFill>
                  <a:srgbClr val="FF6600"/>
                </a:solidFill>
              </a:rPr>
              <a:t>Apply leather upholstery cleaning techniques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6" name="Picture 5" descr="NaplesLeatherChair_Alt.jpg"/>
          <p:cNvPicPr>
            <a:picLocks noChangeAspect="1"/>
          </p:cNvPicPr>
          <p:nvPr/>
        </p:nvPicPr>
        <p:blipFill>
          <a:blip r:embed="rId3" cstate="print"/>
          <a:stretch>
            <a:fillRect/>
          </a:stretch>
        </p:blipFill>
        <p:spPr>
          <a:xfrm>
            <a:off x="5143504" y="3214686"/>
            <a:ext cx="2466410" cy="2114947"/>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Apply leather upholstery cleaning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leather upholstery to be cleaned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upholstery</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7" name="Picture 6" descr="booth.jpg"/>
          <p:cNvPicPr>
            <a:picLocks noChangeAspect="1"/>
          </p:cNvPicPr>
          <p:nvPr/>
        </p:nvPicPr>
        <p:blipFill>
          <a:blip r:embed="rId3" cstate="print"/>
          <a:stretch>
            <a:fillRect/>
          </a:stretch>
        </p:blipFill>
        <p:spPr>
          <a:xfrm>
            <a:off x="5643570" y="3429000"/>
            <a:ext cx="2762917" cy="145797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Leather upholstered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Leather is a popular soft and durable material that is commonly used in furniture. </a:t>
            </a:r>
          </a:p>
          <a:p>
            <a:pPr marL="0">
              <a:spcBef>
                <a:spcPts val="600"/>
              </a:spcBef>
              <a:spcAft>
                <a:spcPts val="1200"/>
              </a:spcAft>
              <a:buNone/>
            </a:pPr>
            <a:r>
              <a:rPr lang="en-AU" sz="2200" dirty="0" smtClean="0">
                <a:latin typeface="Helvetica" pitchFamily="34" charset="0"/>
              </a:rPr>
              <a:t>Leather covered furniture is normally used in chairs and booths in restaurants as it:</a:t>
            </a:r>
          </a:p>
          <a:p>
            <a:pPr>
              <a:spcBef>
                <a:spcPts val="600"/>
              </a:spcBef>
              <a:spcAft>
                <a:spcPts val="1200"/>
              </a:spcAft>
            </a:pPr>
            <a:r>
              <a:rPr lang="en-AU" sz="2200" dirty="0" smtClean="0">
                <a:latin typeface="Helvetica" pitchFamily="34" charset="0"/>
              </a:rPr>
              <a:t>Look great</a:t>
            </a:r>
          </a:p>
          <a:p>
            <a:pPr>
              <a:spcBef>
                <a:spcPts val="600"/>
              </a:spcBef>
              <a:spcAft>
                <a:spcPts val="1200"/>
              </a:spcAft>
            </a:pPr>
            <a:r>
              <a:rPr lang="en-AU" sz="2200" dirty="0" smtClean="0">
                <a:latin typeface="Helvetica" pitchFamily="34" charset="0"/>
              </a:rPr>
              <a:t>Can resist most spills</a:t>
            </a:r>
          </a:p>
          <a:p>
            <a:pPr>
              <a:spcBef>
                <a:spcPts val="600"/>
              </a:spcBef>
              <a:spcAft>
                <a:spcPts val="1200"/>
              </a:spcAft>
            </a:pPr>
            <a:r>
              <a:rPr lang="en-AU" sz="2200" dirty="0" smtClean="0">
                <a:latin typeface="Helvetica" pitchFamily="34" charset="0"/>
              </a:rPr>
              <a:t>Is easy to clean</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6" name="Picture 5" descr="MP900448319[1].JPG"/>
          <p:cNvPicPr/>
          <p:nvPr/>
        </p:nvPicPr>
        <p:blipFill>
          <a:blip r:embed="rId3" cstate="print"/>
          <a:stretch>
            <a:fillRect/>
          </a:stretch>
        </p:blipFill>
        <p:spPr>
          <a:xfrm>
            <a:off x="5572132" y="3214686"/>
            <a:ext cx="2384276" cy="197356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Leather upholstered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Preventative maintenance</a:t>
            </a:r>
          </a:p>
          <a:p>
            <a:pPr>
              <a:spcBef>
                <a:spcPts val="600"/>
              </a:spcBef>
              <a:spcAft>
                <a:spcPts val="1200"/>
              </a:spcAft>
            </a:pPr>
            <a:r>
              <a:rPr lang="en-AU" sz="2200" dirty="0" smtClean="0">
                <a:latin typeface="Helvetica" pitchFamily="34" charset="0"/>
              </a:rPr>
              <a:t>As leather is a durable substance, most cleaning to be performed will be as an on-going preventative maintenance</a:t>
            </a:r>
          </a:p>
          <a:p>
            <a:pPr>
              <a:spcBef>
                <a:spcPts val="600"/>
              </a:spcBef>
              <a:spcAft>
                <a:spcPts val="1200"/>
              </a:spcAft>
            </a:pPr>
            <a:r>
              <a:rPr lang="en-AU" sz="2200" dirty="0" smtClean="0">
                <a:latin typeface="Helvetica" pitchFamily="34" charset="0"/>
              </a:rPr>
              <a:t>Should be checked daily</a:t>
            </a:r>
          </a:p>
          <a:p>
            <a:pPr>
              <a:spcBef>
                <a:spcPts val="600"/>
              </a:spcBef>
              <a:spcAft>
                <a:spcPts val="1200"/>
              </a:spcAft>
            </a:pPr>
            <a:r>
              <a:rPr lang="en-AU" sz="2200" dirty="0" smtClean="0">
                <a:latin typeface="Helvetica" pitchFamily="34" charset="0"/>
              </a:rPr>
              <a:t>Should be wiped daily</a:t>
            </a:r>
          </a:p>
          <a:p>
            <a:pPr>
              <a:spcBef>
                <a:spcPts val="600"/>
              </a:spcBef>
              <a:spcAft>
                <a:spcPts val="1200"/>
              </a:spcAft>
            </a:pPr>
            <a:r>
              <a:rPr lang="en-AU" sz="2200" dirty="0" smtClean="0">
                <a:latin typeface="Helvetica" pitchFamily="34" charset="0"/>
              </a:rPr>
              <a:t>Kept out of direct sunlight to prevent drying and cracking the leather</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7" name="Picture 6" descr="http://leathercouches.co.za/images/leather_couches/leather_couch_inyanga_2-1_kudu_oxblood.jpg"/>
          <p:cNvPicPr/>
          <p:nvPr/>
        </p:nvPicPr>
        <p:blipFill>
          <a:blip r:embed="rId3" cstate="print"/>
          <a:srcRect/>
          <a:stretch>
            <a:fillRect/>
          </a:stretch>
        </p:blipFill>
        <p:spPr bwMode="auto">
          <a:xfrm>
            <a:off x="6143636" y="3143248"/>
            <a:ext cx="2194173" cy="114109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Equipment required to clean leather</a:t>
            </a:r>
          </a:p>
          <a:p>
            <a:pPr lvl="0">
              <a:spcBef>
                <a:spcPts val="600"/>
              </a:spcBef>
              <a:spcAft>
                <a:spcPts val="1200"/>
              </a:spcAft>
            </a:pPr>
            <a:r>
              <a:rPr lang="en-AU" sz="2200" dirty="0" smtClean="0">
                <a:latin typeface="Helvetica" pitchFamily="34" charset="0"/>
              </a:rPr>
              <a:t>Vacuum cleaner</a:t>
            </a:r>
          </a:p>
          <a:p>
            <a:pPr lvl="0">
              <a:spcBef>
                <a:spcPts val="600"/>
              </a:spcBef>
              <a:spcAft>
                <a:spcPts val="1200"/>
              </a:spcAft>
            </a:pPr>
            <a:r>
              <a:rPr lang="en-AU" sz="2200" dirty="0" smtClean="0">
                <a:latin typeface="Helvetica" pitchFamily="34" charset="0"/>
              </a:rPr>
              <a:t>Bucket</a:t>
            </a:r>
          </a:p>
          <a:p>
            <a:pPr lvl="0">
              <a:spcBef>
                <a:spcPts val="600"/>
              </a:spcBef>
              <a:spcAft>
                <a:spcPts val="1200"/>
              </a:spcAft>
            </a:pPr>
            <a:r>
              <a:rPr lang="en-AU" sz="2200" dirty="0" smtClean="0">
                <a:latin typeface="Helvetica" pitchFamily="34" charset="0"/>
              </a:rPr>
              <a:t>Soft cloth for cleaning</a:t>
            </a:r>
          </a:p>
          <a:p>
            <a:pPr lvl="0">
              <a:spcBef>
                <a:spcPts val="600"/>
              </a:spcBef>
              <a:spcAft>
                <a:spcPts val="1200"/>
              </a:spcAft>
            </a:pPr>
            <a:r>
              <a:rPr lang="en-AU" sz="2200" dirty="0" smtClean="0">
                <a:latin typeface="Helvetica" pitchFamily="34" charset="0"/>
              </a:rPr>
              <a:t>Soft bristled toothbrushes</a:t>
            </a:r>
          </a:p>
          <a:p>
            <a:pPr lvl="0">
              <a:spcBef>
                <a:spcPts val="600"/>
              </a:spcBef>
              <a:spcAft>
                <a:spcPts val="1200"/>
              </a:spcAft>
            </a:pPr>
            <a:r>
              <a:rPr lang="en-AU" sz="2200" dirty="0" smtClean="0">
                <a:latin typeface="Helvetica" pitchFamily="34" charset="0"/>
              </a:rPr>
              <a:t>Soft cloth for buffing or polishing</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6" name="Picture 5" descr="MP900448582[1].JPG"/>
          <p:cNvPicPr/>
          <p:nvPr/>
        </p:nvPicPr>
        <p:blipFill>
          <a:blip r:embed="rId3" cstate="print"/>
          <a:stretch>
            <a:fillRect/>
          </a:stretch>
        </p:blipFill>
        <p:spPr>
          <a:xfrm>
            <a:off x="6072198" y="2357430"/>
            <a:ext cx="1885553" cy="1880791"/>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Cleaning agents required to clean leather</a:t>
            </a:r>
          </a:p>
          <a:p>
            <a:pPr marL="0">
              <a:spcBef>
                <a:spcPts val="600"/>
              </a:spcBef>
              <a:spcAft>
                <a:spcPts val="1200"/>
              </a:spcAft>
              <a:buNone/>
            </a:pPr>
            <a:r>
              <a:rPr lang="en-AU" sz="2200" dirty="0" smtClean="0">
                <a:latin typeface="Helvetica" pitchFamily="34" charset="0"/>
              </a:rPr>
              <a:t>Due to the nature of leather, more often that not, strong chemicals are not used.</a:t>
            </a:r>
          </a:p>
          <a:p>
            <a:pPr lvl="0">
              <a:spcBef>
                <a:spcPts val="600"/>
              </a:spcBef>
              <a:spcAft>
                <a:spcPts val="1200"/>
              </a:spcAft>
            </a:pPr>
            <a:r>
              <a:rPr lang="en-AU" sz="2200" dirty="0" smtClean="0">
                <a:latin typeface="Helvetica" pitchFamily="34" charset="0"/>
              </a:rPr>
              <a:t>Water</a:t>
            </a:r>
          </a:p>
          <a:p>
            <a:pPr lvl="0">
              <a:spcBef>
                <a:spcPts val="600"/>
              </a:spcBef>
              <a:spcAft>
                <a:spcPts val="1200"/>
              </a:spcAft>
            </a:pPr>
            <a:r>
              <a:rPr lang="en-AU" sz="2200" dirty="0" smtClean="0">
                <a:latin typeface="Helvetica" pitchFamily="34" charset="0"/>
              </a:rPr>
              <a:t>Moisturizing soap </a:t>
            </a:r>
          </a:p>
          <a:p>
            <a:pPr lvl="0">
              <a:spcBef>
                <a:spcPts val="600"/>
              </a:spcBef>
              <a:spcAft>
                <a:spcPts val="1200"/>
              </a:spcAft>
            </a:pPr>
            <a:r>
              <a:rPr lang="en-AU" sz="2200" dirty="0" smtClean="0">
                <a:latin typeface="Helvetica" pitchFamily="34" charset="0"/>
              </a:rPr>
              <a:t>Rubbing alcohol</a:t>
            </a:r>
          </a:p>
          <a:p>
            <a:pPr lvl="0">
              <a:spcBef>
                <a:spcPts val="600"/>
              </a:spcBef>
              <a:spcAft>
                <a:spcPts val="1200"/>
              </a:spcAft>
            </a:pPr>
            <a:r>
              <a:rPr lang="en-AU" sz="2200" dirty="0" smtClean="0">
                <a:latin typeface="Helvetica" pitchFamily="34" charset="0"/>
              </a:rPr>
              <a:t>Products recommended by a                                      manufacturer</a:t>
            </a:r>
            <a:br>
              <a:rPr lang="en-AU" sz="2200" dirty="0" smtClean="0">
                <a:latin typeface="Helvetica" pitchFamily="34" charset="0"/>
              </a:rPr>
            </a:b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7" name="Picture 6" descr="cleaning_leather-sofas.jpg"/>
          <p:cNvPicPr>
            <a:picLocks noChangeAspect="1"/>
          </p:cNvPicPr>
          <p:nvPr/>
        </p:nvPicPr>
        <p:blipFill>
          <a:blip r:embed="rId3" cstate="print"/>
          <a:stretch>
            <a:fillRect/>
          </a:stretch>
        </p:blipFill>
        <p:spPr>
          <a:xfrm>
            <a:off x="5500694" y="3214686"/>
            <a:ext cx="2476500" cy="1609725"/>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leather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Immediate cleaning</a:t>
            </a:r>
          </a:p>
          <a:p>
            <a:pPr>
              <a:spcBef>
                <a:spcPts val="600"/>
              </a:spcBef>
              <a:spcAft>
                <a:spcPts val="600"/>
              </a:spcAft>
            </a:pPr>
            <a:r>
              <a:rPr lang="en-AU" sz="2200" dirty="0" smtClean="0">
                <a:latin typeface="Helvetica" pitchFamily="34" charset="0"/>
              </a:rPr>
              <a:t>Use a moisturizing soap</a:t>
            </a:r>
          </a:p>
          <a:p>
            <a:pPr>
              <a:spcBef>
                <a:spcPts val="600"/>
              </a:spcBef>
              <a:spcAft>
                <a:spcPts val="600"/>
              </a:spcAft>
            </a:pPr>
            <a:r>
              <a:rPr lang="en-AU" sz="2200" dirty="0" smtClean="0">
                <a:latin typeface="Helvetica" pitchFamily="34" charset="0"/>
              </a:rPr>
              <a:t>Lather on with a soft cloth</a:t>
            </a:r>
          </a:p>
          <a:p>
            <a:pPr>
              <a:spcBef>
                <a:spcPts val="600"/>
              </a:spcBef>
              <a:spcAft>
                <a:spcPts val="600"/>
              </a:spcAft>
            </a:pPr>
            <a:r>
              <a:rPr lang="en-AU" sz="2200" dirty="0" smtClean="0">
                <a:latin typeface="Helvetica" pitchFamily="34" charset="0"/>
              </a:rPr>
              <a:t>Wash the item to remove dirt and grime</a:t>
            </a:r>
          </a:p>
          <a:p>
            <a:pPr>
              <a:spcBef>
                <a:spcPts val="600"/>
              </a:spcBef>
              <a:spcAft>
                <a:spcPts val="600"/>
              </a:spcAft>
            </a:pPr>
            <a:r>
              <a:rPr lang="en-AU" sz="2200" dirty="0" smtClean="0">
                <a:latin typeface="Helvetica" pitchFamily="34" charset="0"/>
              </a:rPr>
              <a:t>Do not over-wet the leather</a:t>
            </a:r>
          </a:p>
          <a:p>
            <a:pPr>
              <a:spcBef>
                <a:spcPts val="600"/>
              </a:spcBef>
              <a:spcAft>
                <a:spcPts val="600"/>
              </a:spcAft>
            </a:pPr>
            <a:r>
              <a:rPr lang="en-AU" sz="2200" dirty="0" smtClean="0">
                <a:latin typeface="Helvetica" pitchFamily="34" charset="0"/>
              </a:rPr>
              <a:t>Do not rinse after washing</a:t>
            </a:r>
          </a:p>
          <a:p>
            <a:pPr>
              <a:spcBef>
                <a:spcPts val="600"/>
              </a:spcBef>
              <a:spcAft>
                <a:spcPts val="600"/>
              </a:spcAft>
            </a:pPr>
            <a:r>
              <a:rPr lang="en-AU" sz="2200" dirty="0" smtClean="0">
                <a:latin typeface="Helvetica" pitchFamily="34" charset="0"/>
              </a:rPr>
              <a:t>Buff with a soft cloth</a:t>
            </a:r>
          </a:p>
          <a:p>
            <a:pPr>
              <a:spcBef>
                <a:spcPts val="600"/>
              </a:spcBef>
              <a:spcAft>
                <a:spcPts val="600"/>
              </a:spcAft>
            </a:pPr>
            <a:r>
              <a:rPr lang="en-AU" sz="2200" dirty="0" smtClean="0">
                <a:latin typeface="Helvetica" pitchFamily="34" charset="0"/>
              </a:rPr>
              <a:t>This allows the moisturizing soap to                           condition the leather</a:t>
            </a:r>
          </a:p>
          <a:p>
            <a:pPr>
              <a:spcBef>
                <a:spcPts val="600"/>
              </a:spcBef>
              <a:spcAft>
                <a:spcPts val="600"/>
              </a:spcAft>
            </a:pPr>
            <a:r>
              <a:rPr lang="en-AU" sz="2200" dirty="0" smtClean="0">
                <a:latin typeface="Helvetica" pitchFamily="34" charset="0"/>
              </a:rPr>
              <a:t>Polish as usual</a:t>
            </a:r>
            <a:br>
              <a:rPr lang="en-AU" sz="2200" dirty="0" smtClean="0">
                <a:latin typeface="Helvetica" pitchFamily="34" charset="0"/>
              </a:rPr>
            </a:b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6" name="Picture 5" descr="http://img1.barileatherfurniture.com/images_template/splashHead_warranty.jpg"/>
          <p:cNvPicPr/>
          <p:nvPr/>
        </p:nvPicPr>
        <p:blipFill>
          <a:blip r:embed="rId3" cstate="print"/>
          <a:srcRect/>
          <a:stretch>
            <a:fillRect/>
          </a:stretch>
        </p:blipFill>
        <p:spPr bwMode="auto">
          <a:xfrm>
            <a:off x="5357818" y="1428736"/>
            <a:ext cx="2293863" cy="142798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leather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Regular cleaning</a:t>
            </a:r>
          </a:p>
          <a:p>
            <a:pPr lvl="0">
              <a:spcBef>
                <a:spcPts val="600"/>
              </a:spcBef>
              <a:spcAft>
                <a:spcPts val="1200"/>
              </a:spcAft>
            </a:pPr>
            <a:r>
              <a:rPr lang="en-AU" sz="2100" dirty="0" smtClean="0">
                <a:latin typeface="Helvetica" pitchFamily="34" charset="0"/>
              </a:rPr>
              <a:t>Wiping of leather furniture at the end of a shift, or two or three times a week with a soft rag. </a:t>
            </a:r>
          </a:p>
          <a:p>
            <a:pPr lvl="0">
              <a:spcBef>
                <a:spcPts val="600"/>
              </a:spcBef>
              <a:spcAft>
                <a:spcPts val="1200"/>
              </a:spcAft>
            </a:pPr>
            <a:r>
              <a:rPr lang="en-AU" sz="2100" dirty="0" smtClean="0">
                <a:latin typeface="Helvetica" pitchFamily="34" charset="0"/>
              </a:rPr>
              <a:t>Leather should be dusted or wiped with clean rags two to three times a week. This will help prevent dust and dirt build up, especially in the crevices. </a:t>
            </a:r>
          </a:p>
          <a:p>
            <a:pPr lvl="0">
              <a:spcBef>
                <a:spcPts val="600"/>
              </a:spcBef>
              <a:spcAft>
                <a:spcPts val="1200"/>
              </a:spcAft>
            </a:pPr>
            <a:r>
              <a:rPr lang="en-AU" sz="2100" dirty="0" smtClean="0">
                <a:latin typeface="Helvetica" pitchFamily="34" charset="0"/>
              </a:rPr>
              <a:t>Don't rub down on your furniture too hard as you may accidentally scratch the surface.</a:t>
            </a:r>
          </a:p>
          <a:p>
            <a:pPr lvl="0">
              <a:spcBef>
                <a:spcPts val="600"/>
              </a:spcBef>
              <a:spcAft>
                <a:spcPts val="1200"/>
              </a:spcAft>
            </a:pPr>
            <a:r>
              <a:rPr lang="en-AU" sz="2100" dirty="0" smtClean="0">
                <a:latin typeface="Helvetica" pitchFamily="34" charset="0"/>
              </a:rPr>
              <a:t>Vacuum the furniture once a week using the                    vacuum's soft brush attachment</a:t>
            </a:r>
          </a:p>
          <a:p>
            <a:pPr>
              <a:spcBef>
                <a:spcPts val="600"/>
              </a:spcBef>
              <a:spcAft>
                <a:spcPts val="600"/>
              </a:spcAft>
              <a:buNone/>
            </a:pP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7" name="Picture 6" descr="http://homedecor7.com/wp-content/uploads/2011/10/Leather-Armachairs5.jpg"/>
          <p:cNvPicPr/>
          <p:nvPr/>
        </p:nvPicPr>
        <p:blipFill>
          <a:blip r:embed="rId3" cstate="print"/>
          <a:srcRect/>
          <a:stretch>
            <a:fillRect/>
          </a:stretch>
        </p:blipFill>
        <p:spPr bwMode="auto">
          <a:xfrm>
            <a:off x="6715140" y="4929198"/>
            <a:ext cx="1714512" cy="15716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leather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Removing ink from leather</a:t>
            </a:r>
          </a:p>
          <a:p>
            <a:pPr>
              <a:spcBef>
                <a:spcPts val="600"/>
              </a:spcBef>
              <a:spcAft>
                <a:spcPts val="600"/>
              </a:spcAft>
              <a:buNone/>
            </a:pPr>
            <a:r>
              <a:rPr lang="en-AU" sz="2200" dirty="0" smtClean="0">
                <a:latin typeface="Helvetica" pitchFamily="34" charset="0"/>
              </a:rPr>
              <a:t>On occasions ink from pens may spill on leather furniture. </a:t>
            </a:r>
          </a:p>
          <a:p>
            <a:pPr lvl="0">
              <a:spcBef>
                <a:spcPts val="600"/>
              </a:spcBef>
              <a:spcAft>
                <a:spcPts val="600"/>
              </a:spcAft>
            </a:pPr>
            <a:r>
              <a:rPr lang="en-AU" sz="2200" dirty="0" smtClean="0">
                <a:latin typeface="Helvetica" pitchFamily="34" charset="0"/>
              </a:rPr>
              <a:t>Dip the cotton swab into rubbing alcohol and rub over the ink stain</a:t>
            </a:r>
          </a:p>
          <a:p>
            <a:pPr lvl="0">
              <a:spcBef>
                <a:spcPts val="600"/>
              </a:spcBef>
              <a:spcAft>
                <a:spcPts val="600"/>
              </a:spcAft>
            </a:pPr>
            <a:r>
              <a:rPr lang="en-AU" sz="2200" dirty="0" smtClean="0">
                <a:latin typeface="Helvetica" pitchFamily="34" charset="0"/>
              </a:rPr>
              <a:t>Dry the area with a blow dryer</a:t>
            </a:r>
          </a:p>
          <a:p>
            <a:pPr lvl="0">
              <a:spcBef>
                <a:spcPts val="600"/>
              </a:spcBef>
              <a:spcAft>
                <a:spcPts val="600"/>
              </a:spcAft>
            </a:pPr>
            <a:r>
              <a:rPr lang="en-AU" sz="2200" dirty="0" smtClean="0">
                <a:latin typeface="Helvetica" pitchFamily="34" charset="0"/>
              </a:rPr>
              <a:t>If you still see the stain after drying, apply a                       thick coat of non-gel, non-oily cuticle remover </a:t>
            </a:r>
          </a:p>
          <a:p>
            <a:pPr lvl="0">
              <a:spcBef>
                <a:spcPts val="600"/>
              </a:spcBef>
              <a:spcAft>
                <a:spcPts val="600"/>
              </a:spcAft>
            </a:pPr>
            <a:r>
              <a:rPr lang="en-AU" sz="2200" dirty="0" smtClean="0">
                <a:latin typeface="Helvetica" pitchFamily="34" charset="0"/>
              </a:rPr>
              <a:t>Leave this on overnight and wipe off                               with a damp cloth</a:t>
            </a:r>
            <a:endParaRPr lang="en-AU" sz="2200" b="1" dirty="0" smtClean="0"/>
          </a:p>
          <a:p>
            <a:endParaRPr lang="en-AU" sz="2200" b="1" dirty="0" smtClean="0"/>
          </a:p>
          <a:p>
            <a:endParaRPr lang="en-AU" sz="2200" b="1" dirty="0" smtClean="0"/>
          </a:p>
          <a:p>
            <a:endParaRPr lang="en-US" sz="2200" dirty="0" smtClean="0"/>
          </a:p>
          <a:p>
            <a:pPr>
              <a:buNone/>
            </a:pPr>
            <a:endParaRPr lang="en-AU" sz="2200" dirty="0" smtClean="0"/>
          </a:p>
          <a:p>
            <a:pPr lvl="0">
              <a:spcBef>
                <a:spcPts val="600"/>
              </a:spcBef>
              <a:spcAft>
                <a:spcPts val="1200"/>
              </a:spcAft>
              <a:buNone/>
            </a:pPr>
            <a:endParaRPr lang="en-AU" sz="2200" dirty="0" smtClean="0">
              <a:latin typeface="Helvetica" pitchFamily="34" charset="0"/>
            </a:endParaRPr>
          </a:p>
          <a:p>
            <a:pPr lvl="0"/>
            <a:endParaRPr lang="en-AU" sz="2200" dirty="0" smtClean="0"/>
          </a:p>
          <a:p>
            <a:pPr lvl="0">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6" name="Picture 5" descr="untitled.bmp"/>
          <p:cNvPicPr/>
          <p:nvPr/>
        </p:nvPicPr>
        <p:blipFill>
          <a:blip r:embed="rId3" cstate="print"/>
          <a:stretch>
            <a:fillRect/>
          </a:stretch>
        </p:blipFill>
        <p:spPr>
          <a:xfrm>
            <a:off x="7000892" y="2928934"/>
            <a:ext cx="1384548" cy="1917948"/>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leather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Remove dark stains from light coloured furniture</a:t>
            </a:r>
          </a:p>
          <a:p>
            <a:pPr lvl="0">
              <a:spcBef>
                <a:spcPts val="600"/>
              </a:spcBef>
              <a:spcAft>
                <a:spcPts val="1200"/>
              </a:spcAft>
            </a:pPr>
            <a:r>
              <a:rPr lang="en-AU" sz="2200" dirty="0" smtClean="0">
                <a:latin typeface="Helvetica" pitchFamily="34" charset="0"/>
              </a:rPr>
              <a:t>Mix one part creme of tartar with one part lemon juice to form a paste</a:t>
            </a:r>
          </a:p>
          <a:p>
            <a:pPr lvl="0">
              <a:spcBef>
                <a:spcPts val="600"/>
              </a:spcBef>
              <a:spcAft>
                <a:spcPts val="1200"/>
              </a:spcAft>
            </a:pPr>
            <a:r>
              <a:rPr lang="en-AU" sz="2200" dirty="0" smtClean="0">
                <a:latin typeface="Helvetica" pitchFamily="34" charset="0"/>
              </a:rPr>
              <a:t>Rub this paste on the stain, leaving in place for 10 minutes; repeat this step</a:t>
            </a:r>
          </a:p>
          <a:p>
            <a:pPr lvl="0">
              <a:spcBef>
                <a:spcPts val="600"/>
              </a:spcBef>
              <a:spcAft>
                <a:spcPts val="1200"/>
              </a:spcAft>
            </a:pPr>
            <a:r>
              <a:rPr lang="en-AU" sz="2200" dirty="0" smtClean="0">
                <a:latin typeface="Helvetica" pitchFamily="34" charset="0"/>
              </a:rPr>
              <a:t>Remove with a damp sponge or a damp sponge and moisturizing soap</a:t>
            </a:r>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7" name="Picture 6" descr="cleanleathersofa.jpg"/>
          <p:cNvPicPr/>
          <p:nvPr/>
        </p:nvPicPr>
        <p:blipFill>
          <a:blip r:embed="rId3" cstate="print"/>
          <a:stretch>
            <a:fillRect/>
          </a:stretch>
        </p:blipFill>
        <p:spPr>
          <a:xfrm>
            <a:off x="4000496" y="4929198"/>
            <a:ext cx="1828800" cy="139065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Ensure furniture is dry enough to sit on</a:t>
            </a:r>
          </a:p>
          <a:p>
            <a:pPr>
              <a:spcBef>
                <a:spcPts val="600"/>
              </a:spcBef>
              <a:spcAft>
                <a:spcPts val="1200"/>
              </a:spcAft>
            </a:pPr>
            <a:r>
              <a:rPr lang="en-AU" sz="2200" dirty="0" smtClean="0">
                <a:latin typeface="Helvetica" pitchFamily="34" charset="0"/>
              </a:rPr>
              <a:t>Return cushions, blankets and other items to furniture</a:t>
            </a:r>
          </a:p>
          <a:p>
            <a:pPr>
              <a:spcBef>
                <a:spcPts val="600"/>
              </a:spcBef>
              <a:spcAft>
                <a:spcPts val="1200"/>
              </a:spcAft>
            </a:pPr>
            <a:r>
              <a:rPr lang="en-AU" sz="2200" dirty="0" smtClean="0">
                <a:latin typeface="Helvetica" pitchFamily="34" charset="0"/>
              </a:rPr>
              <a:t>Place any used cloths in a suitable place for cleaning</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Clean and store vacuum cleaner</a:t>
            </a:r>
          </a:p>
          <a:p>
            <a:pPr>
              <a:spcBef>
                <a:spcPts val="600"/>
              </a:spcBef>
              <a:spcAft>
                <a:spcPts val="1200"/>
              </a:spcAft>
            </a:pPr>
            <a:r>
              <a:rPr lang="en-AU" sz="2200" dirty="0" smtClean="0">
                <a:latin typeface="Helvetica" pitchFamily="34" charset="0"/>
              </a:rPr>
              <a:t>Place all chemicals and other substances used in a storage area out of reach of children</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8" name="Picture 7" descr="http://leathercouches.co.za/images/leather_couches/leather_couch_inyanga_2-1_kudu_oxblood.jpg"/>
          <p:cNvPicPr/>
          <p:nvPr/>
        </p:nvPicPr>
        <p:blipFill>
          <a:blip r:embed="rId3" cstate="print"/>
          <a:srcRect/>
          <a:stretch>
            <a:fillRect/>
          </a:stretch>
        </p:blipFill>
        <p:spPr bwMode="auto">
          <a:xfrm>
            <a:off x="3929058" y="5072074"/>
            <a:ext cx="2194173" cy="114109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3800" b="1" dirty="0" smtClean="0">
                <a:solidFill>
                  <a:srgbClr val="FF6600"/>
                </a:solidFill>
              </a:rPr>
              <a:t>Element 2:</a:t>
            </a:r>
          </a:p>
          <a:p>
            <a:pPr marL="0">
              <a:buNone/>
            </a:pPr>
            <a:r>
              <a:rPr lang="en-AU" sz="3800" b="1" dirty="0" smtClean="0">
                <a:solidFill>
                  <a:srgbClr val="FF6600"/>
                </a:solidFill>
              </a:rPr>
              <a:t>Apply fabric upholstery cleaning techniques</a:t>
            </a:r>
          </a:p>
          <a:p>
            <a:pPr>
              <a:spcBef>
                <a:spcPts val="600"/>
              </a:spcBef>
              <a:spcAft>
                <a:spcPts val="1200"/>
              </a:spcAft>
            </a:pPr>
            <a:endParaRPr lang="en-AU" sz="3800" b="1" dirty="0" smtClean="0">
              <a:latin typeface="Helvetica" pitchFamily="34" charset="0"/>
            </a:endParaRPr>
          </a:p>
          <a:p>
            <a:pPr>
              <a:spcBef>
                <a:spcPts val="600"/>
              </a:spcBef>
              <a:spcAft>
                <a:spcPts val="1200"/>
              </a:spcAft>
              <a:buNone/>
            </a:pPr>
            <a:endParaRPr lang="en-AU" sz="3800" b="1" dirty="0" smtClean="0">
              <a:latin typeface="Helvetica" pitchFamily="34" charset="0"/>
            </a:endParaRPr>
          </a:p>
          <a:p>
            <a:pPr lvl="0">
              <a:spcBef>
                <a:spcPts val="600"/>
              </a:spcBef>
              <a:spcAft>
                <a:spcPts val="600"/>
              </a:spcAft>
            </a:pPr>
            <a:endParaRPr lang="en-AU" sz="3800" b="1" dirty="0" smtClean="0">
              <a:latin typeface="Helvetica" pitchFamily="34" charset="0"/>
            </a:endParaRPr>
          </a:p>
          <a:p>
            <a:pPr>
              <a:buNone/>
            </a:pPr>
            <a:endParaRPr lang="en-AU" sz="3800" b="1" dirty="0" smtClean="0"/>
          </a:p>
          <a:p>
            <a:pPr lvl="0">
              <a:spcBef>
                <a:spcPts val="600"/>
              </a:spcBef>
              <a:spcAft>
                <a:spcPts val="1200"/>
              </a:spcAft>
            </a:pPr>
            <a:endParaRPr lang="en-AU" sz="3800" b="1" dirty="0" smtClean="0">
              <a:latin typeface="Helvetica" pitchFamily="34" charset="0"/>
            </a:endParaRPr>
          </a:p>
          <a:p>
            <a:pPr marL="0">
              <a:spcBef>
                <a:spcPts val="600"/>
              </a:spcBef>
              <a:spcAft>
                <a:spcPts val="1200"/>
              </a:spcAft>
              <a:buNone/>
            </a:pPr>
            <a:endParaRPr lang="en-AU" sz="38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bytype.jpg"/>
          <p:cNvPicPr>
            <a:picLocks noChangeAspect="1"/>
          </p:cNvPicPr>
          <p:nvPr/>
        </p:nvPicPr>
        <p:blipFill>
          <a:blip r:embed="rId3" cstate="print"/>
          <a:stretch>
            <a:fillRect/>
          </a:stretch>
        </p:blipFill>
        <p:spPr>
          <a:xfrm>
            <a:off x="5857884" y="3429000"/>
            <a:ext cx="2357454" cy="2357454"/>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Apply fabric upholstery cleaning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fabric upholstery to be cleaned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fabric</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fabric-walls-theater1_390.jpg"/>
          <p:cNvPicPr>
            <a:picLocks noChangeAspect="1"/>
          </p:cNvPicPr>
          <p:nvPr/>
        </p:nvPicPr>
        <p:blipFill>
          <a:blip r:embed="rId3" cstate="print"/>
          <a:stretch>
            <a:fillRect/>
          </a:stretch>
        </p:blipFill>
        <p:spPr>
          <a:xfrm>
            <a:off x="6429388" y="3357562"/>
            <a:ext cx="1857375" cy="1685925"/>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Fabric upholstered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Benefits of fabric</a:t>
            </a:r>
          </a:p>
          <a:p>
            <a:pPr marL="0">
              <a:spcBef>
                <a:spcPts val="600"/>
              </a:spcBef>
              <a:spcAft>
                <a:spcPts val="1200"/>
              </a:spcAft>
              <a:buNone/>
            </a:pPr>
            <a:r>
              <a:rPr lang="en-AU" sz="2100" dirty="0" smtClean="0">
                <a:latin typeface="Helvetica" pitchFamily="34" charset="0"/>
              </a:rPr>
              <a:t>Fabric upholstery is used on a large amount of furniture items in hotels as it allows for:</a:t>
            </a:r>
          </a:p>
          <a:p>
            <a:pPr>
              <a:spcBef>
                <a:spcPts val="600"/>
              </a:spcBef>
              <a:spcAft>
                <a:spcPts val="1200"/>
              </a:spcAft>
            </a:pPr>
            <a:r>
              <a:rPr lang="en-AU" sz="2100" dirty="0" smtClean="0">
                <a:latin typeface="Helvetica" pitchFamily="34" charset="0"/>
              </a:rPr>
              <a:t>Greater flexibilities of colour, patterns,                           designs and textures</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Normally less expensive than leather </a:t>
            </a:r>
          </a:p>
          <a:p>
            <a:pPr>
              <a:spcBef>
                <a:spcPts val="600"/>
              </a:spcBef>
              <a:spcAft>
                <a:spcPts val="1200"/>
              </a:spcAft>
            </a:pPr>
            <a:r>
              <a:rPr lang="en-AU" sz="2100" dirty="0" smtClean="0">
                <a:latin typeface="Helvetica" pitchFamily="34" charset="0"/>
              </a:rPr>
              <a:t>Easy to clean </a:t>
            </a:r>
          </a:p>
          <a:p>
            <a:pPr>
              <a:spcBef>
                <a:spcPts val="600"/>
              </a:spcBef>
              <a:spcAft>
                <a:spcPts val="1200"/>
              </a:spcAft>
            </a:pPr>
            <a:r>
              <a:rPr lang="en-AU" sz="2100" dirty="0" smtClean="0">
                <a:latin typeface="Helvetica" pitchFamily="34" charset="0"/>
              </a:rPr>
              <a:t>Has removable covers, which limits impact on operations, whilst still providing inter-changeable features</a:t>
            </a:r>
            <a:endParaRPr lang="en-AU" sz="2100" b="1"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7" name="Picture 6" descr="082508_fabric01a.jpg"/>
          <p:cNvPicPr/>
          <p:nvPr/>
        </p:nvPicPr>
        <p:blipFill>
          <a:blip r:embed="rId3" cstate="print">
            <a:lum contrast="20000"/>
          </a:blip>
          <a:stretch>
            <a:fillRect/>
          </a:stretch>
        </p:blipFill>
        <p:spPr>
          <a:xfrm>
            <a:off x="6500826" y="2928934"/>
            <a:ext cx="1667815" cy="1599724"/>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Equipment required to clean fabric</a:t>
            </a:r>
          </a:p>
          <a:p>
            <a:pPr lvl="0">
              <a:spcBef>
                <a:spcPts val="600"/>
              </a:spcBef>
              <a:spcAft>
                <a:spcPts val="1200"/>
              </a:spcAft>
            </a:pPr>
            <a:r>
              <a:rPr lang="en-AU" sz="2200" dirty="0" smtClean="0">
                <a:latin typeface="Helvetica" pitchFamily="34" charset="0"/>
              </a:rPr>
              <a:t>Vacuum cleaner</a:t>
            </a:r>
          </a:p>
          <a:p>
            <a:pPr lvl="0">
              <a:spcBef>
                <a:spcPts val="600"/>
              </a:spcBef>
              <a:spcAft>
                <a:spcPts val="1200"/>
              </a:spcAft>
            </a:pPr>
            <a:r>
              <a:rPr lang="en-AU" sz="2200" dirty="0" smtClean="0">
                <a:latin typeface="Helvetica" pitchFamily="34" charset="0"/>
              </a:rPr>
              <a:t>Bucket</a:t>
            </a:r>
          </a:p>
          <a:p>
            <a:pPr lvl="0">
              <a:spcBef>
                <a:spcPts val="600"/>
              </a:spcBef>
              <a:spcAft>
                <a:spcPts val="1200"/>
              </a:spcAft>
            </a:pPr>
            <a:r>
              <a:rPr lang="en-AU" sz="2200" dirty="0" smtClean="0">
                <a:latin typeface="Helvetica" pitchFamily="34" charset="0"/>
              </a:rPr>
              <a:t>Cloths for cleaning and washing away detergent</a:t>
            </a:r>
          </a:p>
          <a:p>
            <a:pPr lvl="0">
              <a:spcBef>
                <a:spcPts val="600"/>
              </a:spcBef>
              <a:spcAft>
                <a:spcPts val="1200"/>
              </a:spcAft>
            </a:pPr>
            <a:r>
              <a:rPr lang="en-AU" sz="2200" dirty="0" smtClean="0">
                <a:latin typeface="Helvetica" pitchFamily="34" charset="0"/>
              </a:rPr>
              <a:t>Drying machines</a:t>
            </a:r>
          </a:p>
          <a:p>
            <a:pPr lvl="0">
              <a:spcBef>
                <a:spcPts val="600"/>
              </a:spcBef>
              <a:spcAft>
                <a:spcPts val="1200"/>
              </a:spcAft>
            </a:pPr>
            <a:r>
              <a:rPr lang="en-AU" sz="2200" dirty="0" smtClean="0">
                <a:latin typeface="Helvetica" pitchFamily="34" charset="0"/>
              </a:rPr>
              <a:t>Wet furniture signs</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6" name="Picture 5" descr="MP900448582[1].JPG"/>
          <p:cNvPicPr/>
          <p:nvPr/>
        </p:nvPicPr>
        <p:blipFill>
          <a:blip r:embed="rId3" cstate="print"/>
          <a:stretch>
            <a:fillRect/>
          </a:stretch>
        </p:blipFill>
        <p:spPr>
          <a:xfrm>
            <a:off x="4572000" y="4000504"/>
            <a:ext cx="1885553" cy="1880791"/>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Cleaning agents required to clean fabric</a:t>
            </a:r>
          </a:p>
          <a:p>
            <a:pPr marL="0">
              <a:spcBef>
                <a:spcPts val="600"/>
              </a:spcBef>
              <a:spcAft>
                <a:spcPts val="1200"/>
              </a:spcAft>
              <a:buNone/>
            </a:pPr>
            <a:r>
              <a:rPr lang="en-AU" sz="2100" dirty="0" smtClean="0">
                <a:latin typeface="Helvetica" pitchFamily="34" charset="0"/>
              </a:rPr>
              <a:t>The cleaning materials used to clean fabric is quite simple and standard:</a:t>
            </a:r>
          </a:p>
          <a:p>
            <a:pPr lvl="0">
              <a:spcBef>
                <a:spcPts val="600"/>
              </a:spcBef>
              <a:spcAft>
                <a:spcPts val="1200"/>
              </a:spcAft>
            </a:pPr>
            <a:r>
              <a:rPr lang="en-AU" sz="2100" dirty="0" smtClean="0">
                <a:latin typeface="Helvetica" pitchFamily="34" charset="0"/>
              </a:rPr>
              <a:t>Liquid or powder fabric detergent or liquid washing detergent</a:t>
            </a:r>
          </a:p>
          <a:p>
            <a:pPr lvl="0">
              <a:spcBef>
                <a:spcPts val="600"/>
              </a:spcBef>
              <a:spcAft>
                <a:spcPts val="1200"/>
              </a:spcAft>
            </a:pPr>
            <a:r>
              <a:rPr lang="en-AU" sz="2100" dirty="0" smtClean="0">
                <a:latin typeface="Helvetica" pitchFamily="34" charset="0"/>
              </a:rPr>
              <a:t>Cleaning shampoo</a:t>
            </a:r>
          </a:p>
          <a:p>
            <a:pPr lvl="0">
              <a:spcBef>
                <a:spcPts val="600"/>
              </a:spcBef>
              <a:spcAft>
                <a:spcPts val="1200"/>
              </a:spcAft>
            </a:pPr>
            <a:r>
              <a:rPr lang="en-AU" sz="2100" dirty="0" smtClean="0">
                <a:latin typeface="Helvetica" pitchFamily="34" charset="0"/>
              </a:rPr>
              <a:t>Stain remover</a:t>
            </a:r>
          </a:p>
          <a:p>
            <a:pPr lvl="0">
              <a:spcBef>
                <a:spcPts val="600"/>
              </a:spcBef>
              <a:spcAft>
                <a:spcPts val="1200"/>
              </a:spcAft>
            </a:pPr>
            <a:r>
              <a:rPr lang="en-AU" sz="2100" dirty="0" smtClean="0">
                <a:latin typeface="Helvetica" pitchFamily="34" charset="0"/>
              </a:rPr>
              <a:t>Warm water</a:t>
            </a:r>
          </a:p>
          <a:p>
            <a:pPr lvl="0">
              <a:spcBef>
                <a:spcPts val="600"/>
              </a:spcBef>
              <a:spcAft>
                <a:spcPts val="1200"/>
              </a:spcAft>
            </a:pPr>
            <a:r>
              <a:rPr lang="en-AU" sz="2100" dirty="0" smtClean="0">
                <a:latin typeface="Helvetica" pitchFamily="34" charset="0"/>
              </a:rPr>
              <a:t>Products recommended by a manufacturer</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Soapy-Water-Bubbles.jpg"/>
          <p:cNvPicPr>
            <a:picLocks noChangeAspect="1"/>
          </p:cNvPicPr>
          <p:nvPr/>
        </p:nvPicPr>
        <p:blipFill>
          <a:blip r:embed="rId3" cstate="print"/>
          <a:stretch>
            <a:fillRect/>
          </a:stretch>
        </p:blipFill>
        <p:spPr>
          <a:xfrm>
            <a:off x="5929322" y="3571876"/>
            <a:ext cx="2186420" cy="164224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dirty="0" smtClean="0">
                <a:latin typeface="Helvetica" pitchFamily="34" charset="0"/>
              </a:rPr>
              <a:t>When preparing the work area for cleaning fabric upholstery, considerations include:</a:t>
            </a:r>
          </a:p>
          <a:p>
            <a:pPr>
              <a:spcBef>
                <a:spcPts val="600"/>
              </a:spcBef>
              <a:spcAft>
                <a:spcPts val="1200"/>
              </a:spcAft>
            </a:pPr>
            <a:r>
              <a:rPr lang="en-AU" sz="2100" dirty="0" smtClean="0">
                <a:latin typeface="Helvetica" pitchFamily="34" charset="0"/>
              </a:rPr>
              <a:t>Size of cleaning furniture and </a:t>
            </a:r>
          </a:p>
          <a:p>
            <a:pPr>
              <a:spcBef>
                <a:spcPts val="600"/>
              </a:spcBef>
              <a:spcAft>
                <a:spcPts val="1200"/>
              </a:spcAft>
            </a:pPr>
            <a:r>
              <a:rPr lang="en-AU" sz="2100" dirty="0" smtClean="0">
                <a:latin typeface="Helvetica" pitchFamily="34" charset="0"/>
              </a:rPr>
              <a:t>Location and frequency of use of the furniture.</a:t>
            </a:r>
          </a:p>
          <a:p>
            <a:pPr>
              <a:spcBef>
                <a:spcPts val="600"/>
              </a:spcBef>
              <a:spcAft>
                <a:spcPts val="1200"/>
              </a:spcAft>
              <a:buNone/>
            </a:pPr>
            <a:r>
              <a:rPr lang="en-AU" sz="2100" dirty="0" smtClean="0">
                <a:latin typeface="Helvetica" pitchFamily="34" charset="0"/>
              </a:rPr>
              <a:t>Firstly, it is best to conduct cleaning:</a:t>
            </a:r>
            <a:r>
              <a:rPr lang="en-AU" sz="2100" b="1" dirty="0" smtClean="0">
                <a:latin typeface="Helvetica" pitchFamily="34" charset="0"/>
              </a:rPr>
              <a:t> </a:t>
            </a:r>
          </a:p>
          <a:p>
            <a:pPr lvl="0">
              <a:spcBef>
                <a:spcPts val="600"/>
              </a:spcBef>
              <a:spcAft>
                <a:spcPts val="1200"/>
              </a:spcAft>
            </a:pPr>
            <a:r>
              <a:rPr lang="en-AU" sz="2100" dirty="0" smtClean="0">
                <a:latin typeface="Helvetica" pitchFamily="34" charset="0"/>
              </a:rPr>
              <a:t>When it will have little impact on guests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When it allows for sufficient time to dry                               before use</a:t>
            </a:r>
            <a:endParaRPr lang="en-AU" sz="2100" b="1" dirty="0" smtClean="0">
              <a:latin typeface="Helvetica" pitchFamily="34" charset="0"/>
            </a:endParaRPr>
          </a:p>
          <a:p>
            <a:pPr>
              <a:spcBef>
                <a:spcPts val="600"/>
              </a:spcBef>
              <a:spcAft>
                <a:spcPts val="600"/>
              </a:spcAft>
              <a:buNone/>
            </a:pP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7" name="Picture 6" descr="http://magentodemo.mastersallen.co.uk/media/catalog/product/cache/1/image/5e06319eda06f020e43594a9c230972d/c/o/couch.jpg"/>
          <p:cNvPicPr/>
          <p:nvPr/>
        </p:nvPicPr>
        <p:blipFill>
          <a:blip r:embed="rId3" cstate="print"/>
          <a:srcRect/>
          <a:stretch>
            <a:fillRect/>
          </a:stretch>
        </p:blipFill>
        <p:spPr bwMode="auto">
          <a:xfrm>
            <a:off x="6643702" y="3357562"/>
            <a:ext cx="1714500" cy="1714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dirty="0" smtClean="0">
                <a:latin typeface="Helvetica" pitchFamily="34" charset="0"/>
              </a:rPr>
              <a:t>Preparation tasks include:</a:t>
            </a:r>
          </a:p>
          <a:p>
            <a:pPr>
              <a:spcBef>
                <a:spcPts val="600"/>
              </a:spcBef>
              <a:spcAft>
                <a:spcPts val="1200"/>
              </a:spcAft>
            </a:pPr>
            <a:r>
              <a:rPr lang="en-AU" sz="2200" dirty="0" smtClean="0">
                <a:latin typeface="Helvetica" pitchFamily="34" charset="0"/>
              </a:rPr>
              <a:t>Place a ‘wet or caution’ sign in a suitable location to ensure customers don’t sit on the furniture whilst it is wet</a:t>
            </a:r>
          </a:p>
          <a:p>
            <a:pPr lvl="0">
              <a:spcBef>
                <a:spcPts val="600"/>
              </a:spcBef>
              <a:spcAft>
                <a:spcPts val="1200"/>
              </a:spcAft>
            </a:pPr>
            <a:r>
              <a:rPr lang="en-AU" sz="2200" dirty="0" smtClean="0">
                <a:latin typeface="Helvetica" pitchFamily="34" charset="0"/>
              </a:rPr>
              <a:t>Remove any items such as newspapers and magazines</a:t>
            </a:r>
          </a:p>
          <a:p>
            <a:pPr lvl="0">
              <a:spcBef>
                <a:spcPts val="600"/>
              </a:spcBef>
              <a:spcAft>
                <a:spcPts val="1200"/>
              </a:spcAft>
            </a:pPr>
            <a:r>
              <a:rPr lang="en-AU" sz="2200" dirty="0" smtClean="0">
                <a:latin typeface="Helvetica" pitchFamily="34" charset="0"/>
              </a:rPr>
              <a:t>Vacuum the furniture and cushions</a:t>
            </a:r>
          </a:p>
          <a:p>
            <a:pPr>
              <a:spcBef>
                <a:spcPts val="600"/>
              </a:spcBef>
              <a:spcAft>
                <a:spcPts val="600"/>
              </a:spcAft>
              <a:buNone/>
            </a:pPr>
            <a:r>
              <a:rPr lang="en-AU" sz="2200" dirty="0" smtClean="0">
                <a:latin typeface="Helvetica" pitchFamily="34" charset="0"/>
              </a:rPr>
              <a:t/>
            </a:r>
            <a:br>
              <a:rPr lang="en-AU" sz="2200" dirty="0" smtClean="0">
                <a:latin typeface="Helvetica" pitchFamily="34" charset="0"/>
              </a:rPr>
            </a:b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6" name="Picture 5" descr="caution_cleaning_in_progress.jpg"/>
          <p:cNvPicPr>
            <a:picLocks noChangeAspect="1"/>
          </p:cNvPicPr>
          <p:nvPr/>
        </p:nvPicPr>
        <p:blipFill>
          <a:blip r:embed="rId3" cstate="print"/>
          <a:stretch>
            <a:fillRect/>
          </a:stretch>
        </p:blipFill>
        <p:spPr>
          <a:xfrm>
            <a:off x="6429388" y="4000504"/>
            <a:ext cx="1504560" cy="2013219"/>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85860"/>
            <a:ext cx="7467600" cy="5301208"/>
          </a:xfrm>
        </p:spPr>
        <p:txBody>
          <a:bodyPr>
            <a:normAutofit/>
          </a:bodyPr>
          <a:lstStyle/>
          <a:p>
            <a:pPr>
              <a:spcBef>
                <a:spcPts val="600"/>
              </a:spcBef>
              <a:spcAft>
                <a:spcPts val="600"/>
              </a:spcAft>
              <a:buNone/>
            </a:pPr>
            <a:r>
              <a:rPr lang="en-AU" sz="2100" b="1" dirty="0" smtClean="0">
                <a:latin typeface="Helvetica" pitchFamily="34" charset="0"/>
              </a:rPr>
              <a:t>General cleaning</a:t>
            </a:r>
          </a:p>
          <a:p>
            <a:pPr lvl="0">
              <a:spcBef>
                <a:spcPts val="600"/>
              </a:spcBef>
              <a:spcAft>
                <a:spcPts val="600"/>
              </a:spcAft>
            </a:pPr>
            <a:r>
              <a:rPr lang="en-US" sz="2100" dirty="0" smtClean="0">
                <a:latin typeface="Helvetica" pitchFamily="34" charset="0"/>
              </a:rPr>
              <a:t>Remove any loose items from the furniture including cushions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Loosen dirt with a handheld dusting brush while using a vacuum brush attachment to remove the dust</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Vacuum all surfaces of the furniture: back, sides, arms, skirt and the platform beneath the cushions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Vacuum both sides of the loose cushions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Remove any cushions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If the fabric is removable and </a:t>
            </a:r>
            <a:br>
              <a:rPr lang="en-US" sz="2100" dirty="0" smtClean="0">
                <a:latin typeface="Helvetica" pitchFamily="34" charset="0"/>
              </a:rPr>
            </a:br>
            <a:r>
              <a:rPr lang="en-US" sz="2100" dirty="0" smtClean="0">
                <a:latin typeface="Helvetica" pitchFamily="34" charset="0"/>
              </a:rPr>
              <a:t>inter-changeable, wash separately</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6" descr="8Q819CAE7G8EDCA51Z0RMCAYHHSHGCAIVH6EZCA1FANB6CAEEG6QRCAYXQD3ICARIDR6KCAKHIRJ7CAQD4MK2CALUNLA2CADGQ7MTCAGFFLFNCA7UTPTMCARFSMUOCAYV9F7DCATY7QRTCASGOAUMCACV36UD.jpg"/>
          <p:cNvPicPr/>
          <p:nvPr/>
        </p:nvPicPr>
        <p:blipFill>
          <a:blip r:embed="rId3" cstate="print"/>
          <a:stretch>
            <a:fillRect/>
          </a:stretch>
        </p:blipFill>
        <p:spPr>
          <a:xfrm>
            <a:off x="6715140" y="4286256"/>
            <a:ext cx="1731010" cy="148590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a:spcBef>
                <a:spcPts val="600"/>
              </a:spcBef>
              <a:spcAft>
                <a:spcPts val="600"/>
              </a:spcAft>
              <a:buNone/>
            </a:pPr>
            <a:r>
              <a:rPr lang="en-AU" sz="2100" b="1" dirty="0" smtClean="0">
                <a:latin typeface="Helvetica" pitchFamily="34" charset="0"/>
              </a:rPr>
              <a:t>General cleaning</a:t>
            </a:r>
          </a:p>
          <a:p>
            <a:pPr lvl="0">
              <a:spcBef>
                <a:spcPts val="600"/>
              </a:spcBef>
              <a:spcAft>
                <a:spcPts val="600"/>
              </a:spcAft>
            </a:pPr>
            <a:r>
              <a:rPr lang="en-AU" sz="2100" dirty="0" smtClean="0">
                <a:latin typeface="Helvetica" pitchFamily="34" charset="0"/>
              </a:rPr>
              <a:t>Mix laundry or other suitable detergent with warm water</a:t>
            </a:r>
          </a:p>
          <a:p>
            <a:pPr lvl="0">
              <a:spcBef>
                <a:spcPts val="600"/>
              </a:spcBef>
              <a:spcAft>
                <a:spcPts val="600"/>
              </a:spcAft>
            </a:pPr>
            <a:r>
              <a:rPr lang="en-AU" sz="2100" dirty="0" smtClean="0">
                <a:latin typeface="Helvetica" pitchFamily="34" charset="0"/>
              </a:rPr>
              <a:t>Ensure the detergent has dissolved or has been mixed properly</a:t>
            </a:r>
          </a:p>
          <a:p>
            <a:pPr lvl="0">
              <a:spcBef>
                <a:spcPts val="600"/>
              </a:spcBef>
              <a:spcAft>
                <a:spcPts val="600"/>
              </a:spcAft>
            </a:pPr>
            <a:r>
              <a:rPr lang="en-US" sz="2100" dirty="0" smtClean="0">
                <a:latin typeface="Helvetica" pitchFamily="34" charset="0"/>
              </a:rPr>
              <a:t>Select a test area to conduct trial cleaning</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Let the trial clean dry</a:t>
            </a:r>
          </a:p>
          <a:p>
            <a:pPr lvl="0">
              <a:spcBef>
                <a:spcPts val="600"/>
              </a:spcBef>
              <a:spcAft>
                <a:spcPts val="600"/>
              </a:spcAft>
            </a:pPr>
            <a:r>
              <a:rPr lang="en-US" sz="2100" dirty="0" smtClean="0">
                <a:latin typeface="Helvetica" pitchFamily="34" charset="0"/>
              </a:rPr>
              <a:t>If fading, shrinkage or discoloration occurs, you                  may wish to have it cleaned by experts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If no problems have been identified in the trial             cleaning process, go to the next step</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6" name="Picture 5" descr="poliya_img_allche_cleaning_solvents01.jpg"/>
          <p:cNvPicPr>
            <a:picLocks noChangeAspect="1"/>
          </p:cNvPicPr>
          <p:nvPr/>
        </p:nvPicPr>
        <p:blipFill>
          <a:blip r:embed="rId3" cstate="print"/>
          <a:stretch>
            <a:fillRect/>
          </a:stretch>
        </p:blipFill>
        <p:spPr>
          <a:xfrm>
            <a:off x="7072330" y="3286124"/>
            <a:ext cx="1361952" cy="1480382"/>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357298"/>
            <a:ext cx="7467600" cy="5301208"/>
          </a:xfrm>
        </p:spPr>
        <p:txBody>
          <a:bodyPr>
            <a:normAutofit/>
          </a:bodyPr>
          <a:lstStyle/>
          <a:p>
            <a:pPr>
              <a:spcBef>
                <a:spcPts val="600"/>
              </a:spcBef>
              <a:spcAft>
                <a:spcPts val="600"/>
              </a:spcAft>
              <a:buNone/>
            </a:pPr>
            <a:r>
              <a:rPr lang="en-AU" sz="2100" b="1" dirty="0" smtClean="0">
                <a:latin typeface="Helvetica" pitchFamily="34" charset="0"/>
              </a:rPr>
              <a:t>General cleaning</a:t>
            </a:r>
          </a:p>
          <a:p>
            <a:pPr lvl="0">
              <a:spcBef>
                <a:spcPts val="600"/>
              </a:spcBef>
              <a:spcAft>
                <a:spcPts val="600"/>
              </a:spcAft>
            </a:pPr>
            <a:r>
              <a:rPr lang="en-US" sz="2100" dirty="0" smtClean="0">
                <a:latin typeface="Helvetica" pitchFamily="34" charset="0"/>
              </a:rPr>
              <a:t>Select an area on the furniture, dip cloth and rub water and detergent mix on the fabric</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Dirt or any marks will begin to remove from the fabric </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Use a clean cloth and plain water</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Rinse area with a damp cloth to ensure detergent has been removed from the fabric</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If some stains or dirt remains, you may wish to repeat steps the cleaning steps until it is suitably clean</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Allow to dry overnight</a:t>
            </a:r>
          </a:p>
          <a:p>
            <a:pPr lvl="0">
              <a:spcBef>
                <a:spcPts val="600"/>
              </a:spcBef>
              <a:spcAft>
                <a:spcPts val="600"/>
              </a:spcAft>
            </a:pPr>
            <a:r>
              <a:rPr lang="en-US" sz="2100" dirty="0" smtClean="0">
                <a:latin typeface="Helvetica" pitchFamily="34" charset="0"/>
              </a:rPr>
              <a:t>Use a professional air drier if available</a:t>
            </a: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http://img.ehowcdn.com/article-preview/ehow/images/a00/03/2j/clean-upholstered-furniture-1.8-800x800.jpg"/>
          <p:cNvPicPr/>
          <p:nvPr/>
        </p:nvPicPr>
        <p:blipFill>
          <a:blip r:embed="rId3" cstate="print"/>
          <a:srcRect/>
          <a:stretch>
            <a:fillRect/>
          </a:stretch>
        </p:blipFill>
        <p:spPr bwMode="auto">
          <a:xfrm>
            <a:off x="7336642" y="5072074"/>
            <a:ext cx="1535917" cy="11430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Deep cleaning</a:t>
            </a:r>
          </a:p>
          <a:p>
            <a:pPr marL="0">
              <a:spcBef>
                <a:spcPts val="600"/>
              </a:spcBef>
              <a:spcAft>
                <a:spcPts val="1200"/>
              </a:spcAft>
              <a:buNone/>
            </a:pPr>
            <a:r>
              <a:rPr lang="en-US" sz="2100" dirty="0" smtClean="0">
                <a:latin typeface="Helvetica" pitchFamily="34" charset="0"/>
              </a:rPr>
              <a:t>Deep cleaning your upholstered furniture can be done for a number of reasons: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Removes deep stains and accumulated dirt</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Helps to keep furniture look like as new as possible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Ensures furniture is as clean as possible, which helps keeps insects and other animals away</a:t>
            </a:r>
            <a:endParaRPr lang="en-AU" sz="2100" dirty="0" smtClean="0">
              <a:latin typeface="Helvetica" pitchFamily="34" charset="0"/>
            </a:endParaRPr>
          </a:p>
          <a:p>
            <a:pPr>
              <a:spcBef>
                <a:spcPts val="600"/>
              </a:spcBef>
              <a:spcAft>
                <a:spcPts val="1200"/>
              </a:spcAft>
            </a:pPr>
            <a:r>
              <a:rPr lang="en-US" sz="2100" dirty="0" smtClean="0">
                <a:latin typeface="Helvetica" pitchFamily="34" charset="0"/>
              </a:rPr>
              <a:t>Deep cleaning is normally done by                                    external experts</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6" name="Picture 5" descr="Blue_sofa_cleaning_3_2093913_std.jpg"/>
          <p:cNvPicPr>
            <a:picLocks noChangeAspect="1"/>
          </p:cNvPicPr>
          <p:nvPr/>
        </p:nvPicPr>
        <p:blipFill>
          <a:blip r:embed="rId3" cstate="print"/>
          <a:stretch>
            <a:fillRect/>
          </a:stretch>
        </p:blipFill>
        <p:spPr>
          <a:xfrm>
            <a:off x="6660232" y="4869160"/>
            <a:ext cx="2081808" cy="1561356"/>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Deep cleaning</a:t>
            </a:r>
          </a:p>
          <a:p>
            <a:pPr lvl="0">
              <a:spcBef>
                <a:spcPts val="600"/>
              </a:spcBef>
              <a:spcAft>
                <a:spcPts val="600"/>
              </a:spcAft>
            </a:pPr>
            <a:r>
              <a:rPr lang="en-US" sz="2100" dirty="0" smtClean="0">
                <a:latin typeface="Helvetica" pitchFamily="34" charset="0"/>
              </a:rPr>
              <a:t>Remove any blankets, covers or cushions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Conduct a thorough vacuum</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Replace the cushions back on the furniture</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Check your furniture's label for cleaning instructions before washing</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Prepare a suitable cleaning agent. This may include a specialised shampoo or stain remover</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Similar to regular cleaning, conduct a trial clean</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Ensure no further stains or other foreseeable problems have arisen</a:t>
            </a:r>
            <a:endParaRPr lang="en-AU" sz="2100" dirty="0" smtClean="0">
              <a:latin typeface="Helvetica" pitchFamily="34" charset="0"/>
            </a:endParaRPr>
          </a:p>
          <a:p>
            <a:pPr lvl="0">
              <a:spcBef>
                <a:spcPts val="600"/>
              </a:spcBef>
              <a:spcAft>
                <a:spcPts val="600"/>
              </a:spcAft>
              <a:buNone/>
            </a:pPr>
            <a:endParaRPr lang="en-AU" sz="2100" dirty="0" smtClean="0">
              <a:latin typeface="Helvetica" pitchFamily="34" charset="0"/>
            </a:endParaRPr>
          </a:p>
          <a:p>
            <a:pPr>
              <a:spcBef>
                <a:spcPts val="600"/>
              </a:spcBef>
              <a:spcAft>
                <a:spcPts val="600"/>
              </a:spcAft>
            </a:pPr>
            <a:endParaRPr lang="en-AU" sz="2100" dirty="0" smtClean="0">
              <a:latin typeface="Helvetica" pitchFamily="34" charset="0"/>
            </a:endParaRPr>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US" sz="2100" dirty="0" smtClean="0"/>
          </a:p>
          <a:p>
            <a:pPr>
              <a:spcBef>
                <a:spcPts val="600"/>
              </a:spcBef>
              <a:spcAft>
                <a:spcPts val="600"/>
              </a:spcAft>
              <a:buNone/>
            </a:pPr>
            <a:endParaRPr lang="en-AU" sz="2100" dirty="0" smtClean="0"/>
          </a:p>
          <a:p>
            <a:pPr lvl="0">
              <a:spcBef>
                <a:spcPts val="600"/>
              </a:spcBef>
              <a:spcAft>
                <a:spcPts val="600"/>
              </a:spcAft>
              <a:buNone/>
            </a:pPr>
            <a:endParaRPr lang="en-AU" sz="2100" dirty="0" smtClean="0">
              <a:latin typeface="Helvetica" pitchFamily="34" charset="0"/>
            </a:endParaRPr>
          </a:p>
          <a:p>
            <a:pPr lvl="0">
              <a:spcBef>
                <a:spcPts val="600"/>
              </a:spcBef>
              <a:spcAft>
                <a:spcPts val="600"/>
              </a:spcAft>
            </a:pPr>
            <a:endParaRPr lang="en-AU" sz="2100" dirty="0" smtClean="0"/>
          </a:p>
          <a:p>
            <a:pPr lvl="0">
              <a:spcBef>
                <a:spcPts val="600"/>
              </a:spcBef>
              <a:spcAft>
                <a:spcPts val="600"/>
              </a:spcAft>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fabric</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a:spcBef>
                <a:spcPts val="600"/>
              </a:spcBef>
              <a:spcAft>
                <a:spcPts val="600"/>
              </a:spcAft>
              <a:buNone/>
            </a:pPr>
            <a:r>
              <a:rPr lang="en-AU" sz="2100" b="1" dirty="0" smtClean="0">
                <a:latin typeface="Helvetica" pitchFamily="34" charset="0"/>
              </a:rPr>
              <a:t>Deep cleaning</a:t>
            </a:r>
          </a:p>
          <a:p>
            <a:pPr lvl="0">
              <a:spcBef>
                <a:spcPts val="600"/>
              </a:spcBef>
              <a:spcAft>
                <a:spcPts val="600"/>
              </a:spcAft>
            </a:pPr>
            <a:r>
              <a:rPr lang="en-US" sz="2100" dirty="0" smtClean="0">
                <a:latin typeface="Helvetica" pitchFamily="34" charset="0"/>
              </a:rPr>
              <a:t>Spot treat any existing stains with a suitable stain remover </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Prepare hot water and add detergent or cleaning shampoo into a large bucket. Ensure that the mixture is well mixed</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Use a rough cloth or brush to clean the upholstery but gently putting part of the cloth into the soapy solution. Do not to soak the fabric</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Use a clean damp cloth to soak up the dirty soap, and rinse with a damp cloth</a:t>
            </a:r>
            <a:endParaRPr lang="en-AU" sz="2100" dirty="0" smtClean="0">
              <a:latin typeface="Helvetica" pitchFamily="34" charset="0"/>
            </a:endParaRPr>
          </a:p>
          <a:p>
            <a:pPr>
              <a:spcBef>
                <a:spcPts val="600"/>
              </a:spcBef>
              <a:spcAft>
                <a:spcPts val="600"/>
              </a:spcAft>
            </a:pPr>
            <a:r>
              <a:rPr lang="en-US" sz="2100" dirty="0" smtClean="0">
                <a:latin typeface="Helvetica" pitchFamily="34" charset="0"/>
              </a:rPr>
              <a:t>Let the furniture dry overnight with an airing fan pointed at the wet furniture to help it dry more quickly</a:t>
            </a: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600"/>
              </a:spcAft>
            </a:pPr>
            <a:endParaRPr lang="en-AU" sz="2100" dirty="0" smtClean="0">
              <a:latin typeface="Helvetica" pitchFamily="34" charset="0"/>
            </a:endParaRPr>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US" sz="2100" dirty="0" smtClean="0"/>
          </a:p>
          <a:p>
            <a:pPr>
              <a:spcBef>
                <a:spcPts val="600"/>
              </a:spcBef>
              <a:spcAft>
                <a:spcPts val="600"/>
              </a:spcAft>
              <a:buNone/>
            </a:pPr>
            <a:endParaRPr lang="en-AU" sz="2100" dirty="0" smtClean="0"/>
          </a:p>
          <a:p>
            <a:pPr lvl="0">
              <a:spcBef>
                <a:spcPts val="600"/>
              </a:spcBef>
              <a:spcAft>
                <a:spcPts val="600"/>
              </a:spcAft>
              <a:buNone/>
            </a:pPr>
            <a:endParaRPr lang="en-AU" sz="2100" dirty="0" smtClean="0">
              <a:latin typeface="Helvetica" pitchFamily="34" charset="0"/>
            </a:endParaRPr>
          </a:p>
          <a:p>
            <a:pPr lvl="0">
              <a:spcBef>
                <a:spcPts val="600"/>
              </a:spcBef>
              <a:spcAft>
                <a:spcPts val="600"/>
              </a:spcAft>
            </a:pPr>
            <a:endParaRPr lang="en-AU" sz="2100" dirty="0" smtClean="0"/>
          </a:p>
          <a:p>
            <a:pPr lvl="0">
              <a:spcBef>
                <a:spcPts val="600"/>
              </a:spcBef>
              <a:spcAft>
                <a:spcPts val="600"/>
              </a:spcAft>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site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Considerations</a:t>
            </a:r>
          </a:p>
          <a:p>
            <a:pPr marL="0" indent="0">
              <a:spcBef>
                <a:spcPts val="600"/>
              </a:spcBef>
              <a:spcAft>
                <a:spcPts val="1200"/>
              </a:spcAft>
              <a:buNone/>
            </a:pPr>
            <a:r>
              <a:rPr lang="en-AU" sz="2200" dirty="0" smtClean="0">
                <a:latin typeface="Helvetica" pitchFamily="34" charset="0"/>
              </a:rPr>
              <a:t>Once the cleaning has taken place, whether through the process of a regular or deep clean, it is important that the furniture has: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Time to dry</a:t>
            </a:r>
          </a:p>
          <a:p>
            <a:pPr lvl="0">
              <a:spcBef>
                <a:spcPts val="600"/>
              </a:spcBef>
              <a:spcAft>
                <a:spcPts val="1200"/>
              </a:spcAft>
            </a:pPr>
            <a:r>
              <a:rPr lang="en-AU" sz="2200" dirty="0" smtClean="0">
                <a:latin typeface="Helvetica" pitchFamily="34" charset="0"/>
              </a:rPr>
              <a:t>Does not attract any dirt or dust during the                      drying process</a:t>
            </a:r>
          </a:p>
          <a:p>
            <a:pPr>
              <a:buNone/>
            </a:pP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6" name="Picture 5" descr="crystal2%20fabric%20chair.jpg"/>
          <p:cNvPicPr/>
          <p:nvPr/>
        </p:nvPicPr>
        <p:blipFill>
          <a:blip r:embed="rId3" cstate="print"/>
          <a:stretch>
            <a:fillRect/>
          </a:stretch>
        </p:blipFill>
        <p:spPr>
          <a:xfrm>
            <a:off x="6643702" y="3071810"/>
            <a:ext cx="1736973" cy="2309614"/>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site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5301208"/>
          </a:xfrm>
        </p:spPr>
        <p:txBody>
          <a:bodyPr>
            <a:normAutofit/>
          </a:bodyPr>
          <a:lstStyle/>
          <a:p>
            <a:pPr>
              <a:spcBef>
                <a:spcPts val="600"/>
              </a:spcBef>
              <a:spcAft>
                <a:spcPts val="1200"/>
              </a:spcAft>
              <a:buNone/>
            </a:pPr>
            <a:r>
              <a:rPr lang="en-AU" sz="2100" b="1" dirty="0" smtClean="0">
                <a:latin typeface="Helvetica" pitchFamily="34" charset="0"/>
              </a:rPr>
              <a:t>Steps</a:t>
            </a:r>
          </a:p>
          <a:p>
            <a:pPr marL="0">
              <a:spcBef>
                <a:spcPts val="600"/>
              </a:spcBef>
              <a:spcAft>
                <a:spcPts val="1200"/>
              </a:spcAft>
              <a:buNone/>
            </a:pPr>
            <a:r>
              <a:rPr lang="en-AU" sz="2100" dirty="0" smtClean="0">
                <a:latin typeface="Helvetica" pitchFamily="34" charset="0"/>
              </a:rPr>
              <a:t>If the furniture is to remain in its usual location, please ensure:</a:t>
            </a:r>
          </a:p>
          <a:p>
            <a:pPr lvl="0">
              <a:spcBef>
                <a:spcPts val="600"/>
              </a:spcBef>
              <a:spcAft>
                <a:spcPts val="1200"/>
              </a:spcAft>
            </a:pPr>
            <a:r>
              <a:rPr lang="en-AU" sz="2100" dirty="0" smtClean="0">
                <a:latin typeface="Helvetica" pitchFamily="34" charset="0"/>
              </a:rPr>
              <a:t>All equipment has been removed </a:t>
            </a:r>
          </a:p>
          <a:p>
            <a:pPr lvl="0">
              <a:spcBef>
                <a:spcPts val="600"/>
              </a:spcBef>
              <a:spcAft>
                <a:spcPts val="1200"/>
              </a:spcAft>
            </a:pPr>
            <a:r>
              <a:rPr lang="en-AU" sz="2100" dirty="0" smtClean="0">
                <a:latin typeface="Helvetica" pitchFamily="34" charset="0"/>
              </a:rPr>
              <a:t>All cushions, blankets and other items to be placed on the furniture is returned</a:t>
            </a:r>
          </a:p>
          <a:p>
            <a:pPr lvl="0">
              <a:spcBef>
                <a:spcPts val="600"/>
              </a:spcBef>
              <a:spcAft>
                <a:spcPts val="1200"/>
              </a:spcAft>
            </a:pPr>
            <a:r>
              <a:rPr lang="en-AU" sz="2100" dirty="0" smtClean="0">
                <a:latin typeface="Helvetica" pitchFamily="34" charset="0"/>
              </a:rPr>
              <a:t>The surrounding area is clean and dry</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7" name="Picture 6" descr="nsbulgaria.jpg"/>
          <p:cNvPicPr>
            <a:picLocks noChangeAspect="1"/>
          </p:cNvPicPr>
          <p:nvPr/>
        </p:nvPicPr>
        <p:blipFill>
          <a:blip r:embed="rId3" cstate="print"/>
          <a:stretch>
            <a:fillRect/>
          </a:stretch>
        </p:blipFill>
        <p:spPr>
          <a:xfrm>
            <a:off x="3714744" y="4643446"/>
            <a:ext cx="2167719" cy="1445146"/>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100" dirty="0" smtClean="0">
                <a:latin typeface="Helvetica" pitchFamily="34" charset="0"/>
              </a:rPr>
              <a:t>Ensure furniture is dry enough to sit on</a:t>
            </a:r>
          </a:p>
          <a:p>
            <a:pPr>
              <a:spcBef>
                <a:spcPts val="600"/>
              </a:spcBef>
              <a:spcAft>
                <a:spcPts val="1200"/>
              </a:spcAft>
            </a:pPr>
            <a:r>
              <a:rPr lang="en-AU" sz="2100" dirty="0" smtClean="0">
                <a:latin typeface="Helvetica" pitchFamily="34" charset="0"/>
              </a:rPr>
              <a:t>Return cushions, blankets and other items to furniture</a:t>
            </a:r>
          </a:p>
          <a:p>
            <a:pPr>
              <a:spcBef>
                <a:spcPts val="600"/>
              </a:spcBef>
              <a:spcAft>
                <a:spcPts val="1200"/>
              </a:spcAft>
            </a:pPr>
            <a:r>
              <a:rPr lang="en-AU" sz="2100" dirty="0" smtClean="0">
                <a:latin typeface="Helvetica" pitchFamily="34" charset="0"/>
              </a:rPr>
              <a:t>Place any used cloths in a suitable place for cleaning</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Clean and store vacuum cleaner</a:t>
            </a:r>
          </a:p>
          <a:p>
            <a:pPr>
              <a:spcBef>
                <a:spcPts val="600"/>
              </a:spcBef>
              <a:spcAft>
                <a:spcPts val="1200"/>
              </a:spcAft>
            </a:pPr>
            <a:r>
              <a:rPr lang="en-AU" sz="2100" dirty="0" smtClean="0">
                <a:latin typeface="Helvetica" pitchFamily="34" charset="0"/>
              </a:rPr>
              <a:t>Place all chemicals and other substances used in a storage area out of reach of children</a:t>
            </a:r>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Fabric-Sofa-CC-6179-.jpg"/>
          <p:cNvPicPr>
            <a:picLocks noChangeAspect="1"/>
          </p:cNvPicPr>
          <p:nvPr/>
        </p:nvPicPr>
        <p:blipFill>
          <a:blip r:embed="rId3" cstate="print"/>
          <a:stretch>
            <a:fillRect/>
          </a:stretch>
        </p:blipFill>
        <p:spPr>
          <a:xfrm>
            <a:off x="3428992" y="4572008"/>
            <a:ext cx="2115318" cy="150764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3:</a:t>
            </a:r>
          </a:p>
          <a:p>
            <a:pPr marL="0">
              <a:buNone/>
            </a:pPr>
            <a:r>
              <a:rPr lang="en-AU" sz="4000" b="1" dirty="0" smtClean="0">
                <a:solidFill>
                  <a:srgbClr val="FF6600"/>
                </a:solidFill>
              </a:rPr>
              <a:t>Apply glass surfaces cleaning techniques</a:t>
            </a:r>
          </a:p>
          <a:p>
            <a:pPr>
              <a:spcBef>
                <a:spcPts val="600"/>
              </a:spcBef>
              <a:spcAft>
                <a:spcPts val="1200"/>
              </a:spcAft>
            </a:pPr>
            <a:endParaRPr lang="en-AU" sz="2200" b="1"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lvl="0">
              <a:spcBef>
                <a:spcPts val="600"/>
              </a:spcBef>
              <a:spcAft>
                <a:spcPts val="600"/>
              </a:spcAft>
            </a:pPr>
            <a:endParaRPr lang="en-AU" sz="2200" b="1" dirty="0" smtClean="0">
              <a:latin typeface="Helvetica" pitchFamily="34" charset="0"/>
            </a:endParaRPr>
          </a:p>
          <a:p>
            <a:pPr>
              <a:buNone/>
            </a:pPr>
            <a:endParaRPr lang="en-AU" sz="2400" b="1" dirty="0" smtClean="0"/>
          </a:p>
          <a:p>
            <a:pPr lvl="0">
              <a:spcBef>
                <a:spcPts val="600"/>
              </a:spcBef>
              <a:spcAft>
                <a:spcPts val="1200"/>
              </a:spcAft>
            </a:pPr>
            <a:endParaRPr lang="en-AU" sz="2200" b="1" dirty="0" smtClean="0">
              <a:latin typeface="Helvetica" pitchFamily="34" charset="0"/>
            </a:endParaRPr>
          </a:p>
          <a:p>
            <a:pPr marL="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Picture 6" descr="NI9000_main.jpg"/>
          <p:cNvPicPr>
            <a:picLocks noChangeAspect="1"/>
          </p:cNvPicPr>
          <p:nvPr/>
        </p:nvPicPr>
        <p:blipFill>
          <a:blip r:embed="rId3" cstate="print"/>
          <a:stretch>
            <a:fillRect/>
          </a:stretch>
        </p:blipFill>
        <p:spPr>
          <a:xfrm>
            <a:off x="4714876" y="3429000"/>
            <a:ext cx="1596394" cy="2234952"/>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Apply glass surfaces cleaning techniques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glass surfaces to be cleaned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glass surfaces</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7" name="Picture 6" descr="http://www.colchester-cleaning-services.co.uk/images/pvc_window.jpg"/>
          <p:cNvPicPr/>
          <p:nvPr/>
        </p:nvPicPr>
        <p:blipFill>
          <a:blip r:embed="rId3" cstate="print"/>
          <a:srcRect/>
          <a:stretch>
            <a:fillRect/>
          </a:stretch>
        </p:blipFill>
        <p:spPr bwMode="auto">
          <a:xfrm>
            <a:off x="6000760" y="3286124"/>
            <a:ext cx="2236465" cy="20924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Fabric upholstered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Types of glass</a:t>
            </a:r>
          </a:p>
          <a:p>
            <a:pPr marL="0">
              <a:spcBef>
                <a:spcPts val="600"/>
              </a:spcBef>
              <a:spcAft>
                <a:spcPts val="1200"/>
              </a:spcAft>
              <a:buNone/>
            </a:pPr>
            <a:r>
              <a:rPr lang="en-AU" sz="2100" dirty="0" smtClean="0">
                <a:latin typeface="Helvetica" pitchFamily="34" charset="0"/>
              </a:rPr>
              <a:t>Glass is used in many hotels as it is very effective in improving the aesthetics of an area and giving the appearance of more space</a:t>
            </a:r>
            <a:endParaRPr lang="en-AU" sz="2100" b="1" dirty="0" smtClean="0">
              <a:latin typeface="Helvetica" pitchFamily="34" charset="0"/>
            </a:endParaRPr>
          </a:p>
          <a:p>
            <a:pPr>
              <a:spcBef>
                <a:spcPts val="600"/>
              </a:spcBef>
              <a:spcAft>
                <a:spcPts val="1200"/>
              </a:spcAft>
              <a:buNone/>
            </a:pPr>
            <a:r>
              <a:rPr lang="en-AU" sz="2100" dirty="0" smtClean="0">
                <a:latin typeface="Helvetica" pitchFamily="34" charset="0"/>
              </a:rPr>
              <a:t>Glass is commonly found in:</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Windows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Mirrors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Coffee tables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Showers</a:t>
            </a:r>
            <a:endParaRPr lang="en-AU" sz="2100" b="1"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 name="Picture 5" descr="62.jpg"/>
          <p:cNvPicPr>
            <a:picLocks noChangeAspect="1"/>
          </p:cNvPicPr>
          <p:nvPr/>
        </p:nvPicPr>
        <p:blipFill>
          <a:blip r:embed="rId3" cstate="print"/>
          <a:stretch>
            <a:fillRect/>
          </a:stretch>
        </p:blipFill>
        <p:spPr>
          <a:xfrm>
            <a:off x="6072198" y="3143248"/>
            <a:ext cx="1647151" cy="2141296"/>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a:spcBef>
                <a:spcPts val="600"/>
              </a:spcBef>
              <a:spcAft>
                <a:spcPts val="1200"/>
              </a:spcAft>
              <a:buNone/>
            </a:pPr>
            <a:r>
              <a:rPr lang="en-AU" sz="2100" b="1" dirty="0" smtClean="0">
                <a:latin typeface="Helvetica" pitchFamily="34" charset="0"/>
              </a:rPr>
              <a:t>Equipment required to glass surfaces</a:t>
            </a:r>
          </a:p>
          <a:p>
            <a:pPr>
              <a:spcBef>
                <a:spcPts val="600"/>
              </a:spcBef>
              <a:spcAft>
                <a:spcPts val="1200"/>
              </a:spcAft>
            </a:pPr>
            <a:r>
              <a:rPr lang="en-AU" sz="2100" dirty="0" smtClean="0">
                <a:latin typeface="Helvetica" pitchFamily="34" charset="0"/>
              </a:rPr>
              <a:t>Scrubber</a:t>
            </a:r>
          </a:p>
          <a:p>
            <a:pPr>
              <a:spcBef>
                <a:spcPts val="600"/>
              </a:spcBef>
              <a:spcAft>
                <a:spcPts val="1200"/>
              </a:spcAft>
            </a:pPr>
            <a:r>
              <a:rPr lang="en-AU" sz="2100" dirty="0" smtClean="0">
                <a:latin typeface="Helvetica" pitchFamily="34" charset="0"/>
              </a:rPr>
              <a:t>Squeegee </a:t>
            </a:r>
          </a:p>
          <a:p>
            <a:pPr>
              <a:spcBef>
                <a:spcPts val="600"/>
              </a:spcBef>
              <a:spcAft>
                <a:spcPts val="1200"/>
              </a:spcAft>
            </a:pPr>
            <a:r>
              <a:rPr lang="en-AU" sz="2100" dirty="0" smtClean="0">
                <a:latin typeface="Helvetica" pitchFamily="34" charset="0"/>
              </a:rPr>
              <a:t>Equipment belt or bucket</a:t>
            </a:r>
          </a:p>
          <a:p>
            <a:pPr>
              <a:spcBef>
                <a:spcPts val="600"/>
              </a:spcBef>
              <a:spcAft>
                <a:spcPts val="1200"/>
              </a:spcAft>
            </a:pPr>
            <a:r>
              <a:rPr lang="en-AU" sz="2100" dirty="0" smtClean="0">
                <a:latin typeface="Helvetica" pitchFamily="34" charset="0"/>
              </a:rPr>
              <a:t>Window Cleaning Buckets </a:t>
            </a:r>
          </a:p>
          <a:p>
            <a:pPr>
              <a:spcBef>
                <a:spcPts val="600"/>
              </a:spcBef>
              <a:spcAft>
                <a:spcPts val="1200"/>
              </a:spcAft>
            </a:pPr>
            <a:r>
              <a:rPr lang="en-AU" sz="2100" dirty="0" smtClean="0">
                <a:latin typeface="Helvetica" pitchFamily="34" charset="0"/>
              </a:rPr>
              <a:t>Window Scrapper</a:t>
            </a:r>
          </a:p>
          <a:p>
            <a:pPr>
              <a:spcBef>
                <a:spcPts val="600"/>
              </a:spcBef>
              <a:spcAft>
                <a:spcPts val="1200"/>
              </a:spcAft>
            </a:pPr>
            <a:r>
              <a:rPr lang="en-AU" sz="2100" dirty="0" smtClean="0">
                <a:latin typeface="Helvetica" pitchFamily="34" charset="0"/>
              </a:rPr>
              <a:t>Window Cleaning Towels </a:t>
            </a:r>
          </a:p>
          <a:p>
            <a:pPr>
              <a:spcBef>
                <a:spcPts val="600"/>
              </a:spcBef>
              <a:spcAft>
                <a:spcPts val="1200"/>
              </a:spcAft>
            </a:pPr>
            <a:r>
              <a:rPr lang="en-AU" sz="2100" dirty="0" smtClean="0">
                <a:latin typeface="Helvetica" pitchFamily="34" charset="0"/>
              </a:rPr>
              <a:t>Extension Poles</a:t>
            </a:r>
          </a:p>
          <a:p>
            <a:pPr>
              <a:spcBef>
                <a:spcPts val="600"/>
              </a:spcBef>
              <a:spcAft>
                <a:spcPts val="1200"/>
              </a:spcAft>
            </a:pPr>
            <a:r>
              <a:rPr lang="en-AU" sz="2100" dirty="0" smtClean="0">
                <a:latin typeface="Helvetica" pitchFamily="34" charset="0"/>
              </a:rPr>
              <a:t>Ladder</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7" name="Picture 6" descr="http://www.wjdennis-rcr.com/Portals/0/Squeegees/SQSS12-prod.jpg"/>
          <p:cNvPicPr/>
          <p:nvPr/>
        </p:nvPicPr>
        <p:blipFill>
          <a:blip r:embed="rId3" cstate="print"/>
          <a:srcRect/>
          <a:stretch>
            <a:fillRect/>
          </a:stretch>
        </p:blipFill>
        <p:spPr bwMode="auto">
          <a:xfrm>
            <a:off x="6143636" y="2643182"/>
            <a:ext cx="1870695" cy="22322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Cleaning agents required to clean glass surfaces</a:t>
            </a:r>
          </a:p>
          <a:p>
            <a:pPr marL="0">
              <a:spcBef>
                <a:spcPts val="600"/>
              </a:spcBef>
              <a:spcAft>
                <a:spcPts val="1200"/>
              </a:spcAft>
              <a:buNone/>
            </a:pPr>
            <a:r>
              <a:rPr lang="en-AU" sz="2200" dirty="0" smtClean="0">
                <a:latin typeface="Helvetica" pitchFamily="34" charset="0"/>
              </a:rPr>
              <a:t>The cleaning materials used to clean glass surfaces is quite simple and standard:</a:t>
            </a:r>
          </a:p>
          <a:p>
            <a:pPr lvl="0">
              <a:spcBef>
                <a:spcPts val="600"/>
              </a:spcBef>
              <a:spcAft>
                <a:spcPts val="1200"/>
              </a:spcAft>
            </a:pPr>
            <a:r>
              <a:rPr lang="en-AU" sz="2200" dirty="0" smtClean="0">
                <a:latin typeface="Helvetica" pitchFamily="34" charset="0"/>
              </a:rPr>
              <a:t>Commercial window cleaning agents</a:t>
            </a:r>
          </a:p>
          <a:p>
            <a:pPr lvl="0">
              <a:spcBef>
                <a:spcPts val="600"/>
              </a:spcBef>
              <a:spcAft>
                <a:spcPts val="1200"/>
              </a:spcAft>
            </a:pPr>
            <a:r>
              <a:rPr lang="en-AU" sz="2200" dirty="0" smtClean="0">
                <a:latin typeface="Helvetica" pitchFamily="34" charset="0"/>
              </a:rPr>
              <a:t>Homemade window cleaning liquids</a:t>
            </a:r>
          </a:p>
          <a:p>
            <a:pPr>
              <a:spcBef>
                <a:spcPts val="600"/>
              </a:spcBef>
              <a:spcAft>
                <a:spcPts val="1200"/>
              </a:spcAft>
              <a:buNone/>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7" name="Picture 6" descr="MP900437306[1].JPG"/>
          <p:cNvPicPr/>
          <p:nvPr/>
        </p:nvPicPr>
        <p:blipFill>
          <a:blip r:embed="rId3" cstate="print"/>
          <a:stretch>
            <a:fillRect/>
          </a:stretch>
        </p:blipFill>
        <p:spPr>
          <a:xfrm>
            <a:off x="6215074" y="2928934"/>
            <a:ext cx="1818506" cy="2256656"/>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5301208"/>
          </a:xfrm>
        </p:spPr>
        <p:txBody>
          <a:bodyPr>
            <a:normAutofit/>
          </a:bodyPr>
          <a:lstStyle/>
          <a:p>
            <a:pPr marL="0">
              <a:spcBef>
                <a:spcPts val="600"/>
              </a:spcBef>
              <a:spcAft>
                <a:spcPts val="1200"/>
              </a:spcAft>
              <a:buNone/>
            </a:pPr>
            <a:r>
              <a:rPr lang="en-AU" sz="2100" dirty="0" smtClean="0">
                <a:latin typeface="Helvetica" pitchFamily="34" charset="0"/>
              </a:rPr>
              <a:t>When preparing to clean, it is vital that the area in which you are going to clean is free from any obstacles that may either get in your way or may get covered in cleaning products or water.</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Remove any items off a glass surface, if you are dealing with a coffee table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Remove any furniture away from windows and unplug any items (electrical cords for lamps) that may get in the way of your walking or ladder areas</a:t>
            </a:r>
          </a:p>
          <a:p>
            <a:pPr>
              <a:spcBef>
                <a:spcPts val="600"/>
              </a:spcBef>
              <a:spcAft>
                <a:spcPts val="1200"/>
              </a:spcAft>
            </a:pPr>
            <a:r>
              <a:rPr lang="en-AU" sz="2100" dirty="0" smtClean="0">
                <a:latin typeface="Helvetica" pitchFamily="34" charset="0"/>
              </a:rPr>
              <a:t>Remove items from underneath a mirror</a:t>
            </a:r>
          </a:p>
          <a:p>
            <a:pPr>
              <a:spcBef>
                <a:spcPts val="600"/>
              </a:spcBef>
              <a:spcAft>
                <a:spcPts val="600"/>
              </a:spcAft>
              <a:buNone/>
            </a:pP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5" descr="133_3383.JPG"/>
          <p:cNvPicPr>
            <a:picLocks noChangeAspect="1"/>
          </p:cNvPicPr>
          <p:nvPr/>
        </p:nvPicPr>
        <p:blipFill>
          <a:blip r:embed="rId3" cstate="print"/>
          <a:stretch>
            <a:fillRect/>
          </a:stretch>
        </p:blipFill>
        <p:spPr>
          <a:xfrm>
            <a:off x="6715140" y="4857760"/>
            <a:ext cx="2075723" cy="1556792"/>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Cleaning a window</a:t>
            </a:r>
          </a:p>
          <a:p>
            <a:pPr>
              <a:spcBef>
                <a:spcPts val="600"/>
              </a:spcBef>
              <a:spcAft>
                <a:spcPts val="1200"/>
              </a:spcAft>
              <a:buNone/>
            </a:pPr>
            <a:r>
              <a:rPr lang="en-AU" sz="2100" u="sng" dirty="0" smtClean="0">
                <a:latin typeface="Helvetica" pitchFamily="34" charset="0"/>
              </a:rPr>
              <a:t>Scrubbing</a:t>
            </a:r>
          </a:p>
          <a:p>
            <a:pPr>
              <a:spcBef>
                <a:spcPts val="600"/>
              </a:spcBef>
              <a:spcAft>
                <a:spcPts val="1200"/>
              </a:spcAft>
            </a:pPr>
            <a:r>
              <a:rPr lang="en-AU" sz="2100" dirty="0" smtClean="0">
                <a:latin typeface="Helvetica" pitchFamily="34" charset="0"/>
              </a:rPr>
              <a:t>Look carefully at a glass surface before you start to clean</a:t>
            </a:r>
          </a:p>
          <a:p>
            <a:pPr>
              <a:spcBef>
                <a:spcPts val="600"/>
              </a:spcBef>
              <a:spcAft>
                <a:spcPts val="1200"/>
              </a:spcAft>
            </a:pPr>
            <a:r>
              <a:rPr lang="en-AU" sz="2100" dirty="0" smtClean="0">
                <a:latin typeface="Helvetica" pitchFamily="34" charset="0"/>
              </a:rPr>
              <a:t>Look for things like scratches, cracks, chips, hard water spots, paint, stucco, silicone or cement</a:t>
            </a:r>
          </a:p>
          <a:p>
            <a:pPr>
              <a:spcBef>
                <a:spcPts val="600"/>
              </a:spcBef>
              <a:spcAft>
                <a:spcPts val="1200"/>
              </a:spcAft>
            </a:pPr>
            <a:r>
              <a:rPr lang="en-AU" sz="2100" dirty="0" smtClean="0">
                <a:latin typeface="Helvetica" pitchFamily="34" charset="0"/>
              </a:rPr>
              <a:t>If very dirty, give it a pre-wash</a:t>
            </a:r>
          </a:p>
          <a:p>
            <a:pPr>
              <a:spcBef>
                <a:spcPts val="600"/>
              </a:spcBef>
              <a:spcAft>
                <a:spcPts val="1200"/>
              </a:spcAft>
            </a:pPr>
            <a:r>
              <a:rPr lang="en-AU" sz="2100" dirty="0" smtClean="0">
                <a:latin typeface="Helvetica" pitchFamily="34" charset="0"/>
              </a:rPr>
              <a:t>Using your scrubber or a natural sponge, soak the entire window</a:t>
            </a: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8" name="Picture 7" descr="view details"/>
          <p:cNvPicPr/>
          <p:nvPr/>
        </p:nvPicPr>
        <p:blipFill>
          <a:blip r:embed="rId3" cstate="print"/>
          <a:srcRect/>
          <a:stretch>
            <a:fillRect/>
          </a:stretch>
        </p:blipFill>
        <p:spPr bwMode="auto">
          <a:xfrm>
            <a:off x="6643702" y="1071546"/>
            <a:ext cx="1112515" cy="1453505"/>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a:spcBef>
                <a:spcPts val="600"/>
              </a:spcBef>
              <a:spcAft>
                <a:spcPts val="1200"/>
              </a:spcAft>
              <a:buNone/>
            </a:pPr>
            <a:r>
              <a:rPr lang="en-AU" sz="2100" b="1" dirty="0" smtClean="0">
                <a:latin typeface="Helvetica" pitchFamily="34" charset="0"/>
              </a:rPr>
              <a:t>Cleaning a window</a:t>
            </a:r>
          </a:p>
          <a:p>
            <a:pPr>
              <a:spcBef>
                <a:spcPts val="600"/>
              </a:spcBef>
              <a:spcAft>
                <a:spcPts val="1200"/>
              </a:spcAft>
              <a:buNone/>
            </a:pPr>
            <a:r>
              <a:rPr lang="en-AU" sz="2100" u="sng" dirty="0" smtClean="0">
                <a:latin typeface="Helvetica" pitchFamily="34" charset="0"/>
              </a:rPr>
              <a:t>Scrubbing</a:t>
            </a:r>
          </a:p>
          <a:p>
            <a:pPr>
              <a:spcBef>
                <a:spcPts val="600"/>
              </a:spcBef>
              <a:spcAft>
                <a:spcPts val="1200"/>
              </a:spcAft>
            </a:pPr>
            <a:r>
              <a:rPr lang="en-AU" sz="2100" dirty="0" smtClean="0">
                <a:latin typeface="Helvetica" pitchFamily="34" charset="0"/>
              </a:rPr>
              <a:t>Use your squeegee to remove the dirty water</a:t>
            </a:r>
          </a:p>
          <a:p>
            <a:pPr>
              <a:spcBef>
                <a:spcPts val="600"/>
              </a:spcBef>
              <a:spcAft>
                <a:spcPts val="1200"/>
              </a:spcAft>
            </a:pPr>
            <a:r>
              <a:rPr lang="en-AU" sz="2100" dirty="0" smtClean="0">
                <a:latin typeface="Helvetica" pitchFamily="34" charset="0"/>
              </a:rPr>
              <a:t>Rewet the window and begin to scrub</a:t>
            </a:r>
          </a:p>
          <a:p>
            <a:pPr>
              <a:spcBef>
                <a:spcPts val="600"/>
              </a:spcBef>
              <a:spcAft>
                <a:spcPts val="1200"/>
              </a:spcAft>
            </a:pPr>
            <a:r>
              <a:rPr lang="en-AU" sz="2100" dirty="0" smtClean="0">
                <a:latin typeface="Helvetica" pitchFamily="34" charset="0"/>
              </a:rPr>
              <a:t>When scrubbing a window, start with the edges</a:t>
            </a:r>
          </a:p>
          <a:p>
            <a:pPr>
              <a:spcBef>
                <a:spcPts val="600"/>
              </a:spcBef>
              <a:spcAft>
                <a:spcPts val="1200"/>
              </a:spcAft>
            </a:pPr>
            <a:r>
              <a:rPr lang="en-AU" sz="2100" dirty="0" smtClean="0">
                <a:latin typeface="Helvetica" pitchFamily="34" charset="0"/>
              </a:rPr>
              <a:t>Scrub back and forth, up and down along                            each edge</a:t>
            </a:r>
          </a:p>
          <a:p>
            <a:pPr>
              <a:spcBef>
                <a:spcPts val="600"/>
              </a:spcBef>
              <a:spcAft>
                <a:spcPts val="1200"/>
              </a:spcAft>
            </a:pPr>
            <a:r>
              <a:rPr lang="en-AU" sz="2100" dirty="0" smtClean="0">
                <a:latin typeface="Helvetica" pitchFamily="34" charset="0"/>
              </a:rPr>
              <a:t>Start scrubbing from the top and work your way                   down to the bottom using small circular motions</a:t>
            </a:r>
            <a:endParaRPr lang="en-AU" sz="2100" b="1" dirty="0" smtClean="0">
              <a:latin typeface="Helvetica" pitchFamily="34" charset="0"/>
            </a:endParaRP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5" name="Picture 4" descr="http://www.wjdennis-rcr.com/Portals/0/Squeegees/SQSS12-prod.jpg"/>
          <p:cNvPicPr/>
          <p:nvPr/>
        </p:nvPicPr>
        <p:blipFill>
          <a:blip r:embed="rId3" cstate="print"/>
          <a:srcRect/>
          <a:stretch>
            <a:fillRect/>
          </a:stretch>
        </p:blipFill>
        <p:spPr bwMode="auto">
          <a:xfrm>
            <a:off x="6928836" y="2071678"/>
            <a:ext cx="1189703" cy="15908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a:spcBef>
                <a:spcPts val="600"/>
              </a:spcBef>
              <a:spcAft>
                <a:spcPts val="600"/>
              </a:spcAft>
              <a:buNone/>
            </a:pPr>
            <a:r>
              <a:rPr lang="en-AU" sz="2000" b="1" dirty="0" smtClean="0">
                <a:latin typeface="Helvetica" pitchFamily="34" charset="0"/>
              </a:rPr>
              <a:t>Cleaning a window</a:t>
            </a:r>
          </a:p>
          <a:p>
            <a:pPr>
              <a:spcBef>
                <a:spcPts val="600"/>
              </a:spcBef>
              <a:spcAft>
                <a:spcPts val="600"/>
              </a:spcAft>
              <a:buNone/>
            </a:pPr>
            <a:r>
              <a:rPr lang="en-AU" sz="2000" u="sng" dirty="0" smtClean="0">
                <a:latin typeface="Helvetica" pitchFamily="34" charset="0"/>
              </a:rPr>
              <a:t>Scrapping</a:t>
            </a:r>
          </a:p>
          <a:p>
            <a:pPr lvl="0">
              <a:spcBef>
                <a:spcPts val="600"/>
              </a:spcBef>
              <a:spcAft>
                <a:spcPts val="600"/>
              </a:spcAft>
            </a:pPr>
            <a:r>
              <a:rPr lang="en-AU" sz="2000" dirty="0" smtClean="0">
                <a:latin typeface="Helvetica" pitchFamily="34" charset="0"/>
              </a:rPr>
              <a:t>Start with the edges</a:t>
            </a:r>
          </a:p>
          <a:p>
            <a:pPr lvl="0">
              <a:spcBef>
                <a:spcPts val="600"/>
              </a:spcBef>
              <a:spcAft>
                <a:spcPts val="600"/>
              </a:spcAft>
            </a:pPr>
            <a:r>
              <a:rPr lang="en-AU" sz="2000" dirty="0" smtClean="0">
                <a:latin typeface="Helvetica" pitchFamily="34" charset="0"/>
              </a:rPr>
              <a:t>Scrape from the inside of the window towards the outside edge</a:t>
            </a:r>
          </a:p>
          <a:p>
            <a:pPr lvl="0">
              <a:spcBef>
                <a:spcPts val="600"/>
              </a:spcBef>
              <a:spcAft>
                <a:spcPts val="600"/>
              </a:spcAft>
            </a:pPr>
            <a:r>
              <a:rPr lang="en-AU" sz="2000" dirty="0" smtClean="0">
                <a:latin typeface="Helvetica" pitchFamily="34" charset="0"/>
              </a:rPr>
              <a:t>Work all the way around the window with a one to two inch pattern</a:t>
            </a:r>
          </a:p>
          <a:p>
            <a:pPr lvl="0">
              <a:spcBef>
                <a:spcPts val="600"/>
              </a:spcBef>
              <a:spcAft>
                <a:spcPts val="600"/>
              </a:spcAft>
            </a:pPr>
            <a:r>
              <a:rPr lang="en-AU" sz="2000" dirty="0" smtClean="0">
                <a:latin typeface="Helvetica" pitchFamily="34" charset="0"/>
              </a:rPr>
              <a:t>After the edges are scraped, start from the top and work your way towards the bottom</a:t>
            </a:r>
          </a:p>
          <a:p>
            <a:pPr lvl="0">
              <a:spcBef>
                <a:spcPts val="600"/>
              </a:spcBef>
              <a:spcAft>
                <a:spcPts val="600"/>
              </a:spcAft>
            </a:pPr>
            <a:r>
              <a:rPr lang="en-AU" sz="2000" dirty="0" smtClean="0">
                <a:latin typeface="Helvetica" pitchFamily="34" charset="0"/>
              </a:rPr>
              <a:t>Scrape in a straight pattern of about four to five                    inches while overlapping each time</a:t>
            </a:r>
          </a:p>
          <a:p>
            <a:pPr lvl="0">
              <a:spcBef>
                <a:spcPts val="600"/>
              </a:spcBef>
              <a:spcAft>
                <a:spcPts val="600"/>
              </a:spcAft>
            </a:pPr>
            <a:r>
              <a:rPr lang="en-AU" sz="2000" dirty="0" smtClean="0">
                <a:latin typeface="Helvetica" pitchFamily="34" charset="0"/>
              </a:rPr>
              <a:t>If the window starts to dry out before your finished,                   wet it again and then continue where you left off</a:t>
            </a:r>
          </a:p>
          <a:p>
            <a:pPr>
              <a:spcBef>
                <a:spcPts val="600"/>
              </a:spcBef>
              <a:spcAft>
                <a:spcPts val="600"/>
              </a:spcAft>
            </a:pPr>
            <a:endParaRPr lang="en-AU" sz="2000" b="1" dirty="0" smtClean="0"/>
          </a:p>
          <a:p>
            <a:pPr>
              <a:spcBef>
                <a:spcPts val="600"/>
              </a:spcBef>
              <a:spcAft>
                <a:spcPts val="600"/>
              </a:spcAft>
            </a:pPr>
            <a:endParaRPr lang="en-AU" sz="2000" b="1" dirty="0" smtClean="0"/>
          </a:p>
          <a:p>
            <a:pPr>
              <a:spcBef>
                <a:spcPts val="600"/>
              </a:spcBef>
              <a:spcAft>
                <a:spcPts val="600"/>
              </a:spcAft>
            </a:pPr>
            <a:endParaRPr lang="en-US" sz="2000" dirty="0" smtClean="0"/>
          </a:p>
          <a:p>
            <a:pPr>
              <a:spcBef>
                <a:spcPts val="600"/>
              </a:spcBef>
              <a:spcAft>
                <a:spcPts val="600"/>
              </a:spcAft>
              <a:buNone/>
            </a:pPr>
            <a:endParaRPr lang="en-AU" sz="2000" dirty="0" smtClean="0"/>
          </a:p>
          <a:p>
            <a:pPr lvl="0">
              <a:spcBef>
                <a:spcPts val="600"/>
              </a:spcBef>
              <a:spcAft>
                <a:spcPts val="600"/>
              </a:spcAft>
              <a:buNone/>
            </a:pPr>
            <a:endParaRPr lang="en-AU" sz="2000" dirty="0" smtClean="0">
              <a:latin typeface="Helvetica" pitchFamily="34" charset="0"/>
            </a:endParaRPr>
          </a:p>
          <a:p>
            <a:pPr lvl="0">
              <a:spcBef>
                <a:spcPts val="600"/>
              </a:spcBef>
              <a:spcAft>
                <a:spcPts val="600"/>
              </a:spcAft>
            </a:pPr>
            <a:endParaRPr lang="en-AU" sz="2000" dirty="0" smtClean="0"/>
          </a:p>
          <a:p>
            <a:pPr lvl="0">
              <a:spcBef>
                <a:spcPts val="600"/>
              </a:spcBef>
              <a:spcAft>
                <a:spcPts val="600"/>
              </a:spcAft>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5" name="Picture 4" descr="http://www.toolstation.com/images/library/stock/webbig/29268.jpg"/>
          <p:cNvPicPr/>
          <p:nvPr/>
        </p:nvPicPr>
        <p:blipFill>
          <a:blip r:embed="rId3" cstate="print"/>
          <a:srcRect/>
          <a:stretch>
            <a:fillRect/>
          </a:stretch>
        </p:blipFill>
        <p:spPr bwMode="auto">
          <a:xfrm>
            <a:off x="6500826" y="1285860"/>
            <a:ext cx="1323975" cy="13239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7467600" cy="5301208"/>
          </a:xfrm>
        </p:spPr>
        <p:txBody>
          <a:bodyPr>
            <a:normAutofit/>
          </a:bodyPr>
          <a:lstStyle/>
          <a:p>
            <a:pPr>
              <a:spcBef>
                <a:spcPts val="600"/>
              </a:spcBef>
              <a:spcAft>
                <a:spcPts val="1200"/>
              </a:spcAft>
              <a:buNone/>
            </a:pPr>
            <a:r>
              <a:rPr lang="en-AU" sz="2100" b="1" dirty="0" smtClean="0">
                <a:latin typeface="Helvetica" pitchFamily="34" charset="0"/>
              </a:rPr>
              <a:t>Cleaning a window</a:t>
            </a:r>
          </a:p>
          <a:p>
            <a:pPr>
              <a:spcBef>
                <a:spcPts val="600"/>
              </a:spcBef>
              <a:spcAft>
                <a:spcPts val="1200"/>
              </a:spcAft>
              <a:buNone/>
            </a:pPr>
            <a:r>
              <a:rPr lang="en-AU" sz="2100" u="sng" dirty="0" smtClean="0">
                <a:latin typeface="Helvetica" pitchFamily="34" charset="0"/>
              </a:rPr>
              <a:t>Using a squeegee</a:t>
            </a:r>
          </a:p>
          <a:p>
            <a:pPr>
              <a:spcBef>
                <a:spcPts val="600"/>
              </a:spcBef>
              <a:spcAft>
                <a:spcPts val="1200"/>
              </a:spcAft>
            </a:pPr>
            <a:r>
              <a:rPr lang="en-AU" sz="2100" dirty="0" smtClean="0">
                <a:latin typeface="Helvetica" pitchFamily="34" charset="0"/>
              </a:rPr>
              <a:t>The entire window should be wet with soapy water</a:t>
            </a:r>
          </a:p>
          <a:p>
            <a:pPr>
              <a:spcBef>
                <a:spcPts val="600"/>
              </a:spcBef>
              <a:spcAft>
                <a:spcPts val="1200"/>
              </a:spcAft>
            </a:pPr>
            <a:r>
              <a:rPr lang="en-AU" sz="2100" dirty="0" smtClean="0">
                <a:latin typeface="Helvetica" pitchFamily="34" charset="0"/>
              </a:rPr>
              <a:t>Wrap a cleaning towels on your index finger</a:t>
            </a:r>
          </a:p>
          <a:p>
            <a:pPr>
              <a:spcBef>
                <a:spcPts val="600"/>
              </a:spcBef>
              <a:spcAft>
                <a:spcPts val="1200"/>
              </a:spcAft>
            </a:pPr>
            <a:r>
              <a:rPr lang="en-AU" sz="2100" dirty="0" smtClean="0">
                <a:latin typeface="Helvetica" pitchFamily="34" charset="0"/>
              </a:rPr>
              <a:t>Make sure it is completely dry</a:t>
            </a:r>
          </a:p>
          <a:p>
            <a:pPr>
              <a:spcBef>
                <a:spcPts val="600"/>
              </a:spcBef>
              <a:spcAft>
                <a:spcPts val="1200"/>
              </a:spcAft>
            </a:pPr>
            <a:r>
              <a:rPr lang="en-AU" sz="2100" dirty="0" smtClean="0">
                <a:latin typeface="Helvetica" pitchFamily="34" charset="0"/>
              </a:rPr>
              <a:t>Dry all sides and edges</a:t>
            </a:r>
          </a:p>
          <a:p>
            <a:pPr>
              <a:spcBef>
                <a:spcPts val="600"/>
              </a:spcBef>
              <a:spcAft>
                <a:spcPts val="1200"/>
              </a:spcAft>
            </a:pPr>
            <a:r>
              <a:rPr lang="en-AU" sz="2100" dirty="0" smtClean="0">
                <a:latin typeface="Helvetica" pitchFamily="34" charset="0"/>
              </a:rPr>
              <a:t>Take your squeegee in hand</a:t>
            </a:r>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6" name="Picture 5" descr="http://photo-dictionary.com/photofiles/list/9744/13226window_squeegee.jpg"/>
          <p:cNvPicPr/>
          <p:nvPr/>
        </p:nvPicPr>
        <p:blipFill>
          <a:blip r:embed="rId3" cstate="print"/>
          <a:srcRect/>
          <a:stretch>
            <a:fillRect/>
          </a:stretch>
        </p:blipFill>
        <p:spPr bwMode="auto">
          <a:xfrm>
            <a:off x="6084169" y="3857628"/>
            <a:ext cx="1702542" cy="12388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100" b="1" dirty="0" smtClean="0">
                <a:latin typeface="Helvetica" pitchFamily="34" charset="0"/>
              </a:rPr>
              <a:t>Cleaning a window</a:t>
            </a:r>
          </a:p>
          <a:p>
            <a:pPr>
              <a:spcBef>
                <a:spcPts val="600"/>
              </a:spcBef>
              <a:spcAft>
                <a:spcPts val="600"/>
              </a:spcAft>
              <a:buNone/>
            </a:pPr>
            <a:r>
              <a:rPr lang="en-AU" sz="2100" u="sng" dirty="0" smtClean="0">
                <a:latin typeface="Helvetica" pitchFamily="34" charset="0"/>
              </a:rPr>
              <a:t>Using a squeegee</a:t>
            </a:r>
          </a:p>
          <a:p>
            <a:pPr>
              <a:spcBef>
                <a:spcPts val="600"/>
              </a:spcBef>
              <a:spcAft>
                <a:spcPts val="600"/>
              </a:spcAft>
            </a:pPr>
            <a:r>
              <a:rPr lang="en-AU" sz="2100" dirty="0" smtClean="0">
                <a:latin typeface="Helvetica" pitchFamily="34" charset="0"/>
              </a:rPr>
              <a:t>Place the rubber blade at the top of the dry right hand edge</a:t>
            </a:r>
          </a:p>
          <a:p>
            <a:pPr>
              <a:spcBef>
                <a:spcPts val="600"/>
              </a:spcBef>
              <a:spcAft>
                <a:spcPts val="600"/>
              </a:spcAft>
            </a:pPr>
            <a:r>
              <a:rPr lang="en-AU" sz="2100" dirty="0" smtClean="0">
                <a:latin typeface="Helvetica" pitchFamily="34" charset="0"/>
              </a:rPr>
              <a:t>Pull the squeegee all the way over to the opposite side of the window</a:t>
            </a:r>
          </a:p>
          <a:p>
            <a:pPr>
              <a:spcBef>
                <a:spcPts val="600"/>
              </a:spcBef>
              <a:spcAft>
                <a:spcPts val="600"/>
              </a:spcAft>
            </a:pPr>
            <a:r>
              <a:rPr lang="en-AU" sz="2100" dirty="0" smtClean="0">
                <a:latin typeface="Helvetica" pitchFamily="34" charset="0"/>
              </a:rPr>
              <a:t>Using your towel, wipe the squeegee blade </a:t>
            </a:r>
            <a:br>
              <a:rPr lang="en-AU" sz="2100" dirty="0" smtClean="0">
                <a:latin typeface="Helvetica" pitchFamily="34" charset="0"/>
              </a:rPr>
            </a:br>
            <a:r>
              <a:rPr lang="en-AU" sz="2100" dirty="0" smtClean="0">
                <a:latin typeface="Helvetica" pitchFamily="34" charset="0"/>
              </a:rPr>
              <a:t>completely free from water</a:t>
            </a:r>
          </a:p>
          <a:p>
            <a:pPr>
              <a:spcBef>
                <a:spcPts val="600"/>
              </a:spcBef>
              <a:spcAft>
                <a:spcPts val="600"/>
              </a:spcAft>
            </a:pPr>
            <a:r>
              <a:rPr lang="en-AU" sz="2100" dirty="0" smtClean="0">
                <a:latin typeface="Helvetica" pitchFamily="34" charset="0"/>
              </a:rPr>
              <a:t>Repeat the same step to finish the lower                                      half of the window</a:t>
            </a:r>
          </a:p>
          <a:p>
            <a:pPr>
              <a:spcBef>
                <a:spcPts val="600"/>
              </a:spcBef>
              <a:spcAft>
                <a:spcPts val="600"/>
              </a:spcAft>
            </a:pPr>
            <a:r>
              <a:rPr lang="en-AU" sz="2100" dirty="0" smtClean="0">
                <a:latin typeface="Helvetica" pitchFamily="34" charset="0"/>
              </a:rPr>
              <a:t>Wipe the edges</a:t>
            </a: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http://t2.gstatic.com/images?q=tbn:ANd9GcTFJMxxFK5vC2aN2KzKGjVbKfh-I04Ptz3IYER4dgTl9l6dIhomeF4Su64"/>
          <p:cNvPicPr/>
          <p:nvPr/>
        </p:nvPicPr>
        <p:blipFill>
          <a:blip r:embed="rId3" cstate="print"/>
          <a:srcRect/>
          <a:stretch>
            <a:fillRect/>
          </a:stretch>
        </p:blipFill>
        <p:spPr bwMode="auto">
          <a:xfrm>
            <a:off x="6715140" y="4143380"/>
            <a:ext cx="2134736" cy="1428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Cleaning a mirror</a:t>
            </a:r>
          </a:p>
          <a:p>
            <a:pPr lvl="0">
              <a:spcBef>
                <a:spcPts val="600"/>
              </a:spcBef>
              <a:spcAft>
                <a:spcPts val="1200"/>
              </a:spcAft>
            </a:pPr>
            <a:r>
              <a:rPr lang="en-US" sz="2100" dirty="0" smtClean="0">
                <a:latin typeface="Helvetica" pitchFamily="34" charset="0"/>
              </a:rPr>
              <a:t>Use a glass cleaning product or combination of white or distilled vinegar and warm water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Find newspaper to use as your cleaning cloth</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Crumple the newspaper into usable sizes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Clean the mirror first to remove any heavy                      dirt or marks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Use plain water to do the pre-cleaning </a:t>
            </a: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5" name="Picture 4" descr="http://www.blogcdn.com/www.diylife.com/media/2010/09/mirror-cleaning.jpg"/>
          <p:cNvPicPr/>
          <p:nvPr/>
        </p:nvPicPr>
        <p:blipFill>
          <a:blip r:embed="rId3" cstate="print"/>
          <a:srcRect/>
          <a:stretch>
            <a:fillRect/>
          </a:stretch>
        </p:blipFill>
        <p:spPr bwMode="auto">
          <a:xfrm>
            <a:off x="6786578" y="3714752"/>
            <a:ext cx="2003281" cy="15992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357298"/>
            <a:ext cx="7467600" cy="5301208"/>
          </a:xfrm>
        </p:spPr>
        <p:txBody>
          <a:bodyPr>
            <a:normAutofit/>
          </a:bodyPr>
          <a:lstStyle/>
          <a:p>
            <a:pPr>
              <a:spcBef>
                <a:spcPts val="600"/>
              </a:spcBef>
              <a:spcAft>
                <a:spcPts val="1200"/>
              </a:spcAft>
              <a:buNone/>
            </a:pPr>
            <a:r>
              <a:rPr lang="en-AU" sz="2100" b="1" dirty="0" smtClean="0">
                <a:latin typeface="Helvetica" pitchFamily="34" charset="0"/>
              </a:rPr>
              <a:t>Cleaning a mirror</a:t>
            </a:r>
          </a:p>
          <a:p>
            <a:pPr lvl="0">
              <a:spcBef>
                <a:spcPts val="600"/>
              </a:spcBef>
              <a:spcAft>
                <a:spcPts val="1200"/>
              </a:spcAft>
            </a:pPr>
            <a:r>
              <a:rPr lang="en-US" sz="2100" dirty="0" smtClean="0">
                <a:latin typeface="Helvetica" pitchFamily="34" charset="0"/>
              </a:rPr>
              <a:t>Use a cloth with a tight weave, which is more soft and non-abrasive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Dip the newspaper into the vinegar water solution after pre-cleaning is finished</a:t>
            </a:r>
          </a:p>
          <a:p>
            <a:pPr lvl="0">
              <a:spcBef>
                <a:spcPts val="600"/>
              </a:spcBef>
              <a:spcAft>
                <a:spcPts val="1200"/>
              </a:spcAft>
            </a:pPr>
            <a:r>
              <a:rPr lang="en-US" sz="2100" dirty="0" smtClean="0">
                <a:latin typeface="Helvetica" pitchFamily="34" charset="0"/>
              </a:rPr>
              <a:t>Rub the newspaper in slow circles across the mirror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Cover the entire surface of the mirror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Go over the wet areas with a dry portion                      of newspaper</a:t>
            </a:r>
          </a:p>
          <a:p>
            <a:pPr lvl="0">
              <a:spcBef>
                <a:spcPts val="600"/>
              </a:spcBef>
              <a:spcAft>
                <a:spcPts val="1200"/>
              </a:spcAft>
            </a:pPr>
            <a:r>
              <a:rPr lang="en-US" sz="2100" dirty="0" smtClean="0">
                <a:latin typeface="Helvetica" pitchFamily="34" charset="0"/>
              </a:rPr>
              <a:t>This will leave the mirror dry and keep                             drip marks from drying onto the surface</a:t>
            </a:r>
            <a:endParaRPr lang="en-AU" sz="2100" dirty="0" smtClean="0">
              <a:latin typeface="Helvetica" pitchFamily="34" charset="0"/>
            </a:endParaRP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descr="62.jpg"/>
          <p:cNvPicPr>
            <a:picLocks noChangeAspect="1"/>
          </p:cNvPicPr>
          <p:nvPr/>
        </p:nvPicPr>
        <p:blipFill>
          <a:blip r:embed="rId3" cstate="print"/>
          <a:stretch>
            <a:fillRect/>
          </a:stretch>
        </p:blipFill>
        <p:spPr>
          <a:xfrm>
            <a:off x="7020272" y="4509120"/>
            <a:ext cx="1384216" cy="1799481"/>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Cleaning a coffee table</a:t>
            </a:r>
          </a:p>
          <a:p>
            <a:pPr lvl="0">
              <a:spcBef>
                <a:spcPts val="600"/>
              </a:spcBef>
              <a:spcAft>
                <a:spcPts val="1200"/>
              </a:spcAft>
            </a:pPr>
            <a:r>
              <a:rPr lang="en-AU" sz="2100" dirty="0" smtClean="0">
                <a:latin typeface="Helvetica" pitchFamily="34" charset="0"/>
              </a:rPr>
              <a:t>Take all items off the coffee table including flowers, ashtrays, magazines and newspapers</a:t>
            </a:r>
          </a:p>
          <a:p>
            <a:pPr lvl="0">
              <a:spcBef>
                <a:spcPts val="600"/>
              </a:spcBef>
              <a:spcAft>
                <a:spcPts val="1200"/>
              </a:spcAft>
            </a:pPr>
            <a:r>
              <a:rPr lang="en-AU" sz="2100" dirty="0" smtClean="0">
                <a:latin typeface="Helvetica" pitchFamily="34" charset="0"/>
              </a:rPr>
              <a:t>Wipe the table with a clean dry cloth to remove any dry substances</a:t>
            </a:r>
          </a:p>
          <a:p>
            <a:pPr lvl="0">
              <a:spcBef>
                <a:spcPts val="600"/>
              </a:spcBef>
              <a:spcAft>
                <a:spcPts val="1200"/>
              </a:spcAft>
            </a:pPr>
            <a:r>
              <a:rPr lang="en-AU" sz="2100" dirty="0" smtClean="0">
                <a:latin typeface="Helvetica" pitchFamily="34" charset="0"/>
              </a:rPr>
              <a:t>Spray a glass cleaner or water on the top of the table</a:t>
            </a:r>
          </a:p>
          <a:p>
            <a:pPr lvl="0">
              <a:spcBef>
                <a:spcPts val="600"/>
              </a:spcBef>
              <a:spcAft>
                <a:spcPts val="1200"/>
              </a:spcAft>
            </a:pPr>
            <a:r>
              <a:rPr lang="en-AU" sz="2100" dirty="0" smtClean="0">
                <a:latin typeface="Helvetica" pitchFamily="34" charset="0"/>
              </a:rPr>
              <a:t>Scrub the table with a cloth to remove any hard to get stains</a:t>
            </a:r>
          </a:p>
          <a:p>
            <a:pPr lvl="0">
              <a:spcBef>
                <a:spcPts val="600"/>
              </a:spcBef>
              <a:spcAft>
                <a:spcPts val="1200"/>
              </a:spcAft>
            </a:pPr>
            <a:r>
              <a:rPr lang="en-AU" sz="2100" dirty="0" smtClean="0">
                <a:latin typeface="Helvetica" pitchFamily="34" charset="0"/>
              </a:rPr>
              <a:t>Clean and dry the table with a dry cloth                        or newspaper</a:t>
            </a: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6" name="Picture 5" descr="http://img.archiexpo.com/images_ae/photo-g/contemporary-glass-coffee-table-174477.jpg"/>
          <p:cNvPicPr/>
          <p:nvPr/>
        </p:nvPicPr>
        <p:blipFill>
          <a:blip r:embed="rId3" cstate="print"/>
          <a:srcRect/>
          <a:stretch>
            <a:fillRect/>
          </a:stretch>
        </p:blipFill>
        <p:spPr bwMode="auto">
          <a:xfrm>
            <a:off x="6357950" y="4929198"/>
            <a:ext cx="2184611" cy="136070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site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Considerations</a:t>
            </a:r>
          </a:p>
          <a:p>
            <a:pPr lvl="0">
              <a:spcBef>
                <a:spcPts val="600"/>
              </a:spcBef>
              <a:spcAft>
                <a:spcPts val="1200"/>
              </a:spcAft>
            </a:pPr>
            <a:r>
              <a:rPr lang="en-AU" sz="2100" dirty="0" smtClean="0">
                <a:latin typeface="Helvetica" pitchFamily="34" charset="0"/>
              </a:rPr>
              <a:t>Remove all cleaning equipment and products</a:t>
            </a:r>
          </a:p>
          <a:p>
            <a:pPr lvl="0">
              <a:spcBef>
                <a:spcPts val="600"/>
              </a:spcBef>
              <a:spcAft>
                <a:spcPts val="1200"/>
              </a:spcAft>
            </a:pPr>
            <a:r>
              <a:rPr lang="en-AU" sz="2100" dirty="0" smtClean="0">
                <a:latin typeface="Helvetica" pitchFamily="34" charset="0"/>
              </a:rPr>
              <a:t>Ensure all surfaces are clean and dry. This is especially applies to floors which may become dirty or wet</a:t>
            </a:r>
          </a:p>
          <a:p>
            <a:pPr lvl="0">
              <a:spcBef>
                <a:spcPts val="600"/>
              </a:spcBef>
              <a:spcAft>
                <a:spcPts val="1200"/>
              </a:spcAft>
            </a:pPr>
            <a:r>
              <a:rPr lang="en-AU" sz="2100" dirty="0" smtClean="0">
                <a:latin typeface="Helvetica" pitchFamily="34" charset="0"/>
              </a:rPr>
              <a:t>Return all furniture to their original spots</a:t>
            </a:r>
          </a:p>
          <a:p>
            <a:pPr lvl="0">
              <a:spcBef>
                <a:spcPts val="600"/>
              </a:spcBef>
              <a:spcAft>
                <a:spcPts val="1200"/>
              </a:spcAft>
            </a:pPr>
            <a:r>
              <a:rPr lang="en-AU" sz="2100" dirty="0" smtClean="0">
                <a:latin typeface="Helvetica" pitchFamily="34" charset="0"/>
              </a:rPr>
              <a:t>Plug in all electrical appliances </a:t>
            </a:r>
          </a:p>
          <a:p>
            <a:pPr lvl="0">
              <a:spcBef>
                <a:spcPts val="600"/>
              </a:spcBef>
              <a:spcAft>
                <a:spcPts val="1200"/>
              </a:spcAft>
            </a:pPr>
            <a:r>
              <a:rPr lang="en-AU" sz="2100" dirty="0" smtClean="0">
                <a:latin typeface="Helvetica" pitchFamily="34" charset="0"/>
              </a:rPr>
              <a:t>Return any items to coffee tables</a:t>
            </a:r>
          </a:p>
          <a:p>
            <a:pPr lvl="0">
              <a:spcBef>
                <a:spcPts val="600"/>
              </a:spcBef>
              <a:spcAft>
                <a:spcPts val="1200"/>
              </a:spcAft>
            </a:pPr>
            <a:r>
              <a:rPr lang="en-AU" sz="2100" dirty="0" smtClean="0">
                <a:latin typeface="Helvetica" pitchFamily="34" charset="0"/>
              </a:rPr>
              <a:t>In the event of windows, return any shades or shutters to their correct position</a:t>
            </a:r>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7" name="Picture 6" descr="http://myhomezine.com/wp-content/uploads/2011/04/modern-windows-shutter.jpg"/>
          <p:cNvPicPr/>
          <p:nvPr/>
        </p:nvPicPr>
        <p:blipFill>
          <a:blip r:embed="rId3" cstate="print"/>
          <a:srcRect/>
          <a:stretch>
            <a:fillRect/>
          </a:stretch>
        </p:blipFill>
        <p:spPr bwMode="auto">
          <a:xfrm>
            <a:off x="6572264" y="3643314"/>
            <a:ext cx="1692399" cy="13209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100" dirty="0" smtClean="0">
                <a:latin typeface="Helvetica" pitchFamily="34" charset="0"/>
              </a:rPr>
              <a:t>Please place any used cloths in a suitable place for cleaning </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Place all used newspaper pieces in the rubbish bin</a:t>
            </a:r>
          </a:p>
          <a:p>
            <a:pPr lvl="0">
              <a:spcBef>
                <a:spcPts val="600"/>
              </a:spcBef>
              <a:spcAft>
                <a:spcPts val="1200"/>
              </a:spcAft>
            </a:pPr>
            <a:r>
              <a:rPr lang="en-AU" sz="2100" dirty="0" smtClean="0">
                <a:latin typeface="Helvetica" pitchFamily="34" charset="0"/>
              </a:rPr>
              <a:t>Please ensure all pieces of equipment has been cleaned out of all detergents, residual dirt and other waste products, then placed back in a suitable location for further use</a:t>
            </a:r>
          </a:p>
          <a:p>
            <a:pPr lvl="0">
              <a:spcBef>
                <a:spcPts val="600"/>
              </a:spcBef>
              <a:spcAft>
                <a:spcPts val="1200"/>
              </a:spcAft>
            </a:pPr>
            <a:r>
              <a:rPr lang="en-AU" sz="2100" dirty="0" smtClean="0">
                <a:latin typeface="Helvetica" pitchFamily="34" charset="0"/>
              </a:rPr>
              <a:t>Place all chemicals and other substances used in a storage area out of reach of children</a:t>
            </a:r>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4:</a:t>
            </a:r>
          </a:p>
          <a:p>
            <a:pPr marL="0">
              <a:buNone/>
            </a:pPr>
            <a:r>
              <a:rPr lang="en-AU" sz="4000" b="1" dirty="0" smtClean="0">
                <a:solidFill>
                  <a:srgbClr val="FF6600"/>
                </a:solidFill>
              </a:rPr>
              <a:t>Apply ceiling, surfaces and fittings cleaning techniques</a:t>
            </a:r>
          </a:p>
          <a:p>
            <a:pPr>
              <a:spcBef>
                <a:spcPts val="600"/>
              </a:spcBef>
              <a:spcAft>
                <a:spcPts val="1200"/>
              </a:spcAft>
            </a:pPr>
            <a:endParaRPr lang="en-AU" sz="2200" b="1"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lvl="0">
              <a:spcBef>
                <a:spcPts val="600"/>
              </a:spcBef>
              <a:spcAft>
                <a:spcPts val="600"/>
              </a:spcAft>
            </a:pPr>
            <a:endParaRPr lang="en-AU" sz="2200" b="1" dirty="0" smtClean="0">
              <a:latin typeface="Helvetica" pitchFamily="34" charset="0"/>
            </a:endParaRPr>
          </a:p>
          <a:p>
            <a:pPr>
              <a:buNone/>
            </a:pPr>
            <a:endParaRPr lang="en-AU" sz="2400" b="1" dirty="0" smtClean="0"/>
          </a:p>
          <a:p>
            <a:pPr lvl="0">
              <a:spcBef>
                <a:spcPts val="600"/>
              </a:spcBef>
              <a:spcAft>
                <a:spcPts val="1200"/>
              </a:spcAft>
            </a:pPr>
            <a:endParaRPr lang="en-AU" sz="2200" b="1" dirty="0" smtClean="0">
              <a:latin typeface="Helvetica" pitchFamily="34" charset="0"/>
            </a:endParaRPr>
          </a:p>
          <a:p>
            <a:pPr marL="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6" name="Picture 5" descr="134_3410.JPG"/>
          <p:cNvPicPr>
            <a:picLocks noChangeAspect="1"/>
          </p:cNvPicPr>
          <p:nvPr/>
        </p:nvPicPr>
        <p:blipFill>
          <a:blip r:embed="rId3" cstate="print"/>
          <a:stretch>
            <a:fillRect/>
          </a:stretch>
        </p:blipFill>
        <p:spPr>
          <a:xfrm>
            <a:off x="3140090" y="4000503"/>
            <a:ext cx="2863821" cy="2147865"/>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200" b="1" dirty="0" smtClean="0">
                <a:solidFill>
                  <a:srgbClr val="FF6600"/>
                </a:solidFill>
                <a:latin typeface="Helvetica" pitchFamily="34" charset="0"/>
              </a:rPr>
              <a:t>Apply ceiling, surfaces and fittings cleaning techniques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100" dirty="0" smtClean="0">
                <a:latin typeface="Helvetica" pitchFamily="34" charset="0"/>
              </a:rPr>
              <a:t>Performance Criteria for this Element are: </a:t>
            </a:r>
          </a:p>
          <a:p>
            <a:pPr>
              <a:spcBef>
                <a:spcPts val="600"/>
              </a:spcBef>
              <a:spcAft>
                <a:spcPts val="1200"/>
              </a:spcAft>
            </a:pPr>
            <a:r>
              <a:rPr lang="en-AU" sz="2100" dirty="0" smtClean="0">
                <a:latin typeface="Helvetica" pitchFamily="34" charset="0"/>
              </a:rPr>
              <a:t>Assess ceiling, surfaces and fittings surfaces to be cleaned</a:t>
            </a:r>
          </a:p>
          <a:p>
            <a:pPr>
              <a:spcBef>
                <a:spcPts val="600"/>
              </a:spcBef>
              <a:spcAft>
                <a:spcPts val="1200"/>
              </a:spcAft>
            </a:pPr>
            <a:r>
              <a:rPr lang="en-AU" sz="2100" dirty="0" smtClean="0">
                <a:latin typeface="Helvetica" pitchFamily="34" charset="0"/>
              </a:rPr>
              <a:t>Select appropriate equipment and chemicals</a:t>
            </a:r>
          </a:p>
          <a:p>
            <a:pPr>
              <a:spcBef>
                <a:spcPts val="600"/>
              </a:spcBef>
              <a:spcAft>
                <a:spcPts val="1200"/>
              </a:spcAft>
            </a:pPr>
            <a:r>
              <a:rPr lang="en-AU" sz="2100" dirty="0" smtClean="0">
                <a:latin typeface="Helvetica" pitchFamily="34" charset="0"/>
              </a:rPr>
              <a:t>Prepare work site</a:t>
            </a:r>
          </a:p>
          <a:p>
            <a:pPr>
              <a:spcBef>
                <a:spcPts val="600"/>
              </a:spcBef>
              <a:spcAft>
                <a:spcPts val="1200"/>
              </a:spcAft>
            </a:pPr>
            <a:r>
              <a:rPr lang="en-AU" sz="2100" dirty="0" smtClean="0">
                <a:latin typeface="Helvetica" pitchFamily="34" charset="0"/>
              </a:rPr>
              <a:t>Clean ceiling, surfaces and fittings </a:t>
            </a:r>
          </a:p>
          <a:p>
            <a:pPr>
              <a:spcBef>
                <a:spcPts val="600"/>
              </a:spcBef>
              <a:spcAft>
                <a:spcPts val="1200"/>
              </a:spcAft>
            </a:pPr>
            <a:r>
              <a:rPr lang="en-AU" sz="2100" dirty="0" smtClean="0">
                <a:latin typeface="Helvetica" pitchFamily="34" charset="0"/>
              </a:rPr>
              <a:t>Tidy work site</a:t>
            </a:r>
          </a:p>
          <a:p>
            <a:pPr>
              <a:spcBef>
                <a:spcPts val="600"/>
              </a:spcBef>
              <a:spcAft>
                <a:spcPts val="1200"/>
              </a:spcAft>
            </a:pPr>
            <a:r>
              <a:rPr lang="en-AU" sz="2100" dirty="0" smtClean="0">
                <a:latin typeface="Helvetica" pitchFamily="34" charset="0"/>
              </a:rPr>
              <a:t>Clean, check and store equipment </a:t>
            </a:r>
            <a:br>
              <a:rPr lang="en-AU" sz="2100" dirty="0" smtClean="0">
                <a:latin typeface="Helvetica" pitchFamily="34" charset="0"/>
              </a:rPr>
            </a:br>
            <a:r>
              <a:rPr lang="en-AU" sz="2100" dirty="0" smtClean="0">
                <a:latin typeface="Helvetica" pitchFamily="34" charset="0"/>
              </a:rPr>
              <a:t>and chemicals</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6" name="Picture 5" descr="http://verhalencommercialinteriors.com/images/interior/ceilings-walls.jpg"/>
          <p:cNvPicPr/>
          <p:nvPr/>
        </p:nvPicPr>
        <p:blipFill>
          <a:blip r:embed="rId3" cstate="print"/>
          <a:srcRect/>
          <a:stretch>
            <a:fillRect/>
          </a:stretch>
        </p:blipFill>
        <p:spPr bwMode="auto">
          <a:xfrm>
            <a:off x="6286512" y="3714752"/>
            <a:ext cx="2052439" cy="1579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Ceiling, surfaces and fittings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Ceilings and walls</a:t>
            </a:r>
            <a:endParaRPr lang="en-AU" sz="2200" dirty="0" smtClean="0">
              <a:latin typeface="Helvetica" pitchFamily="34" charset="0"/>
            </a:endParaRPr>
          </a:p>
          <a:p>
            <a:pPr>
              <a:spcBef>
                <a:spcPts val="600"/>
              </a:spcBef>
              <a:spcAft>
                <a:spcPts val="1200"/>
              </a:spcAft>
              <a:buNone/>
            </a:pPr>
            <a:r>
              <a:rPr lang="en-US" sz="2200" dirty="0" smtClean="0">
                <a:latin typeface="Helvetica" pitchFamily="34" charset="0"/>
              </a:rPr>
              <a:t>This can include all walls and ceilings: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Painted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Wooden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Wallpaper</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Skirting boards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7" name="Picture 6" descr="114_1461.JPG"/>
          <p:cNvPicPr>
            <a:picLocks noChangeAspect="1"/>
          </p:cNvPicPr>
          <p:nvPr/>
        </p:nvPicPr>
        <p:blipFill>
          <a:blip r:embed="rId3" cstate="print"/>
          <a:stretch>
            <a:fillRect/>
          </a:stretch>
        </p:blipFill>
        <p:spPr>
          <a:xfrm>
            <a:off x="5000628" y="3000372"/>
            <a:ext cx="2762270" cy="2071702"/>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Ceiling, surfaces and fittings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301208"/>
          </a:xfrm>
        </p:spPr>
        <p:txBody>
          <a:bodyPr>
            <a:normAutofit/>
          </a:bodyPr>
          <a:lstStyle/>
          <a:p>
            <a:pPr>
              <a:spcBef>
                <a:spcPts val="600"/>
              </a:spcBef>
              <a:spcAft>
                <a:spcPts val="600"/>
              </a:spcAft>
              <a:buNone/>
            </a:pPr>
            <a:r>
              <a:rPr lang="en-US" sz="2100" b="1" dirty="0" smtClean="0">
                <a:latin typeface="Helvetica" pitchFamily="34" charset="0"/>
              </a:rPr>
              <a:t>Surfaces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All furniture including fridges, tables, cupboards, ledges, bookshelves and desks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Lights and lamps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Decorations and flower vases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Public bathrooms including vanities, toilets </a:t>
            </a:r>
            <a:br>
              <a:rPr lang="en-US" sz="2100" dirty="0" smtClean="0">
                <a:latin typeface="Helvetica" pitchFamily="34" charset="0"/>
              </a:rPr>
            </a:br>
            <a:r>
              <a:rPr lang="en-US" sz="2100" dirty="0" smtClean="0">
                <a:latin typeface="Helvetica" pitchFamily="34" charset="0"/>
              </a:rPr>
              <a:t>and public showers</a:t>
            </a:r>
            <a:endParaRPr lang="en-AU" sz="2100" dirty="0" smtClean="0">
              <a:latin typeface="Helvetica" pitchFamily="34" charset="0"/>
            </a:endParaRPr>
          </a:p>
          <a:p>
            <a:pPr lvl="0">
              <a:spcBef>
                <a:spcPts val="600"/>
              </a:spcBef>
              <a:spcAft>
                <a:spcPts val="600"/>
              </a:spcAft>
            </a:pPr>
            <a:r>
              <a:rPr lang="en-US" sz="2100" dirty="0" smtClean="0">
                <a:latin typeface="Helvetica" pitchFamily="34" charset="0"/>
              </a:rPr>
              <a:t>Rubbish bins</a:t>
            </a:r>
            <a:endParaRPr lang="en-AU" sz="2100" dirty="0" smtClean="0">
              <a:latin typeface="Helvetica" pitchFamily="34" charset="0"/>
            </a:endParaRPr>
          </a:p>
          <a:p>
            <a:pPr lvl="0">
              <a:spcBef>
                <a:spcPts val="600"/>
              </a:spcBef>
              <a:spcAft>
                <a:spcPts val="600"/>
              </a:spcAft>
            </a:pPr>
            <a:r>
              <a:rPr lang="en-AU" sz="2100" dirty="0" smtClean="0">
                <a:latin typeface="Helvetica" pitchFamily="34" charset="0"/>
              </a:rPr>
              <a:t>Fixtures refer to items that are attached including heaters, air-conditioners and lights</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MP900448319[1].JPG"/>
          <p:cNvPicPr/>
          <p:nvPr/>
        </p:nvPicPr>
        <p:blipFill>
          <a:blip r:embed="rId3" cstate="print"/>
          <a:stretch>
            <a:fillRect/>
          </a:stretch>
        </p:blipFill>
        <p:spPr>
          <a:xfrm>
            <a:off x="6429388" y="2714620"/>
            <a:ext cx="1931665" cy="140779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Ceiling, surfaces and fittings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Fittings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Fittings refers to taps, pipes and electrical aspects of a public space</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7" name="Picture 6" descr="tap.jpg"/>
          <p:cNvPicPr>
            <a:picLocks noChangeAspect="1"/>
          </p:cNvPicPr>
          <p:nvPr/>
        </p:nvPicPr>
        <p:blipFill>
          <a:blip r:embed="rId3" cstate="print"/>
          <a:stretch>
            <a:fillRect/>
          </a:stretch>
        </p:blipFill>
        <p:spPr>
          <a:xfrm>
            <a:off x="5786446" y="3000372"/>
            <a:ext cx="1879104" cy="1879104"/>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357298"/>
            <a:ext cx="7467600" cy="5301208"/>
          </a:xfrm>
        </p:spPr>
        <p:txBody>
          <a:bodyPr>
            <a:normAutofit lnSpcReduction="10000"/>
          </a:bodyPr>
          <a:lstStyle/>
          <a:p>
            <a:pPr>
              <a:spcBef>
                <a:spcPts val="600"/>
              </a:spcBef>
              <a:spcAft>
                <a:spcPts val="600"/>
              </a:spcAft>
              <a:buNone/>
            </a:pPr>
            <a:r>
              <a:rPr lang="en-AU" sz="2100" b="1" dirty="0" smtClean="0">
                <a:latin typeface="Helvetica" pitchFamily="34" charset="0"/>
              </a:rPr>
              <a:t>Equipment required to ceilings, surfaces and fittings</a:t>
            </a:r>
          </a:p>
          <a:p>
            <a:pPr lvl="0">
              <a:spcBef>
                <a:spcPts val="600"/>
              </a:spcBef>
              <a:spcAft>
                <a:spcPts val="600"/>
              </a:spcAft>
            </a:pPr>
            <a:r>
              <a:rPr lang="en-AU" sz="2100" dirty="0" smtClean="0">
                <a:latin typeface="Helvetica" pitchFamily="34" charset="0"/>
              </a:rPr>
              <a:t>Mops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Brooms and brushes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Cloths and sponges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Buckets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Garbage receptacles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Gloves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Cleaning warning signs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Personal protective equipment</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Dust pans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Vacuum cleaners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Equipment complimentary items</a:t>
            </a:r>
            <a:endParaRPr lang="en-AU" sz="2100" b="1" dirty="0" smtClean="0">
              <a:latin typeface="Helvetica" pitchFamily="34" charset="0"/>
            </a:endParaRPr>
          </a:p>
          <a:p>
            <a:pPr>
              <a:spcBef>
                <a:spcPts val="600"/>
              </a:spcBef>
              <a:spcAft>
                <a:spcPts val="600"/>
              </a:spcAft>
            </a:pPr>
            <a:endParaRPr lang="en-AU" sz="2100" dirty="0" smtClean="0">
              <a:latin typeface="Helvetica" pitchFamily="34" charset="0"/>
            </a:endParaRPr>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AU" sz="2100" b="1" dirty="0" smtClean="0"/>
          </a:p>
          <a:p>
            <a:pPr>
              <a:spcBef>
                <a:spcPts val="600"/>
              </a:spcBef>
              <a:spcAft>
                <a:spcPts val="600"/>
              </a:spcAft>
            </a:pPr>
            <a:endParaRPr lang="en-US" sz="2100" dirty="0" smtClean="0"/>
          </a:p>
          <a:p>
            <a:pPr>
              <a:spcBef>
                <a:spcPts val="600"/>
              </a:spcBef>
              <a:spcAft>
                <a:spcPts val="600"/>
              </a:spcAft>
              <a:buNone/>
            </a:pPr>
            <a:endParaRPr lang="en-AU" sz="2100" dirty="0" smtClean="0"/>
          </a:p>
          <a:p>
            <a:pPr lvl="0">
              <a:spcBef>
                <a:spcPts val="600"/>
              </a:spcBef>
              <a:spcAft>
                <a:spcPts val="600"/>
              </a:spcAft>
              <a:buNone/>
            </a:pPr>
            <a:endParaRPr lang="en-AU" sz="2100" dirty="0" smtClean="0">
              <a:latin typeface="Helvetica" pitchFamily="34" charset="0"/>
            </a:endParaRPr>
          </a:p>
          <a:p>
            <a:pPr lvl="0">
              <a:spcBef>
                <a:spcPts val="600"/>
              </a:spcBef>
              <a:spcAft>
                <a:spcPts val="600"/>
              </a:spcAft>
            </a:pPr>
            <a:endParaRPr lang="en-AU" sz="2100" dirty="0" smtClean="0"/>
          </a:p>
          <a:p>
            <a:pPr lvl="0">
              <a:spcBef>
                <a:spcPts val="600"/>
              </a:spcBef>
              <a:spcAft>
                <a:spcPts val="600"/>
              </a:spcAft>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6" name="Picture 5" descr="MP900385508[1].JPG"/>
          <p:cNvPicPr/>
          <p:nvPr/>
        </p:nvPicPr>
        <p:blipFill>
          <a:blip r:embed="rId3" cstate="print"/>
          <a:stretch>
            <a:fillRect/>
          </a:stretch>
        </p:blipFill>
        <p:spPr>
          <a:xfrm>
            <a:off x="5496872" y="2857496"/>
            <a:ext cx="2300304" cy="1643074"/>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100" dirty="0" smtClean="0">
                <a:latin typeface="Helvetica" pitchFamily="34" charset="0"/>
              </a:rPr>
              <a:t>Conduct work during quiet times</a:t>
            </a:r>
          </a:p>
          <a:p>
            <a:pPr lvl="0">
              <a:spcBef>
                <a:spcPts val="600"/>
              </a:spcBef>
              <a:spcAft>
                <a:spcPts val="1200"/>
              </a:spcAft>
            </a:pPr>
            <a:r>
              <a:rPr lang="en-AU" sz="2100" dirty="0" smtClean="0">
                <a:latin typeface="Helvetica" pitchFamily="34" charset="0"/>
              </a:rPr>
              <a:t>Consider safety</a:t>
            </a:r>
          </a:p>
          <a:p>
            <a:pPr lvl="0">
              <a:spcBef>
                <a:spcPts val="600"/>
              </a:spcBef>
              <a:spcAft>
                <a:spcPts val="1200"/>
              </a:spcAft>
            </a:pPr>
            <a:r>
              <a:rPr lang="en-AU" sz="2100" dirty="0" smtClean="0">
                <a:latin typeface="Helvetica" pitchFamily="34" charset="0"/>
              </a:rPr>
              <a:t>Ensure all items are removed from the cleaning area</a:t>
            </a:r>
          </a:p>
          <a:p>
            <a:pPr lvl="0">
              <a:spcBef>
                <a:spcPts val="600"/>
              </a:spcBef>
              <a:spcAft>
                <a:spcPts val="1200"/>
              </a:spcAft>
            </a:pPr>
            <a:r>
              <a:rPr lang="en-AU" sz="2100" dirty="0" smtClean="0">
                <a:latin typeface="Helvetica" pitchFamily="34" charset="0"/>
              </a:rPr>
              <a:t>Keep all equipment and cleaning products close at hand and out of traffic areas and the reach of customers</a:t>
            </a:r>
          </a:p>
          <a:p>
            <a:pPr lvl="0">
              <a:spcBef>
                <a:spcPts val="600"/>
              </a:spcBef>
              <a:spcAft>
                <a:spcPts val="1200"/>
              </a:spcAft>
            </a:pPr>
            <a:r>
              <a:rPr lang="en-AU" sz="2100" dirty="0" smtClean="0">
                <a:latin typeface="Helvetica" pitchFamily="34" charset="0"/>
              </a:rPr>
              <a:t>Have all ‘cleaning in progress’ signs ready and visible to customers</a:t>
            </a:r>
          </a:p>
          <a:p>
            <a:pPr lvl="0">
              <a:spcBef>
                <a:spcPts val="600"/>
              </a:spcBef>
              <a:spcAft>
                <a:spcPts val="1200"/>
              </a:spcAft>
            </a:pPr>
            <a:r>
              <a:rPr lang="en-AU" sz="2100" dirty="0" smtClean="0">
                <a:latin typeface="Helvetica" pitchFamily="34" charset="0"/>
              </a:rPr>
              <a:t>Allow ample time for drying before customers will be using the area</a:t>
            </a:r>
          </a:p>
          <a:p>
            <a:pPr>
              <a:spcBef>
                <a:spcPts val="600"/>
              </a:spcBef>
              <a:spcAft>
                <a:spcPts val="1200"/>
              </a:spcAft>
              <a:buNone/>
            </a:pP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pPr>
              <a:spcBef>
                <a:spcPts val="600"/>
              </a:spcBef>
              <a:spcAft>
                <a:spcPts val="1200"/>
              </a:spcAft>
            </a:pPr>
            <a:endParaRPr lang="en-AU" sz="2100" b="1" dirty="0" smtClean="0"/>
          </a:p>
          <a:p>
            <a:pPr>
              <a:spcBef>
                <a:spcPts val="600"/>
              </a:spcBef>
              <a:spcAft>
                <a:spcPts val="1200"/>
              </a:spcAft>
            </a:pPr>
            <a:endParaRPr lang="en-AU" sz="2100" b="1" dirty="0" smtClean="0"/>
          </a:p>
          <a:p>
            <a:pPr>
              <a:spcBef>
                <a:spcPts val="600"/>
              </a:spcBef>
              <a:spcAft>
                <a:spcPts val="1200"/>
              </a:spcAft>
            </a:pPr>
            <a:endParaRPr lang="en-AU" sz="2100" b="1" dirty="0" smtClean="0"/>
          </a:p>
          <a:p>
            <a:pPr>
              <a:spcBef>
                <a:spcPts val="600"/>
              </a:spcBef>
              <a:spcAft>
                <a:spcPts val="1200"/>
              </a:spcAft>
            </a:pPr>
            <a:endParaRPr lang="en-US" sz="2100" dirty="0" smtClean="0"/>
          </a:p>
          <a:p>
            <a:pPr>
              <a:spcBef>
                <a:spcPts val="600"/>
              </a:spcBef>
              <a:spcAft>
                <a:spcPts val="1200"/>
              </a:spcAft>
              <a:buNone/>
            </a:pPr>
            <a:endParaRPr lang="en-AU" sz="2100" dirty="0" smtClean="0"/>
          </a:p>
          <a:p>
            <a:pPr lvl="0">
              <a:spcBef>
                <a:spcPts val="600"/>
              </a:spcBef>
              <a:spcAft>
                <a:spcPts val="1200"/>
              </a:spcAft>
              <a:buNone/>
            </a:pPr>
            <a:endParaRPr lang="en-AU" sz="2100" dirty="0" smtClean="0">
              <a:latin typeface="Helvetica" pitchFamily="34" charset="0"/>
            </a:endParaRPr>
          </a:p>
          <a:p>
            <a:pPr lvl="0">
              <a:spcBef>
                <a:spcPts val="600"/>
              </a:spcBef>
              <a:spcAft>
                <a:spcPts val="1200"/>
              </a:spcAft>
            </a:pPr>
            <a:endParaRPr lang="en-AU" sz="2100" dirty="0" smtClean="0"/>
          </a:p>
          <a:p>
            <a:pPr lvl="0">
              <a:spcBef>
                <a:spcPts val="600"/>
              </a:spcBef>
              <a:spcAft>
                <a:spcPts val="1200"/>
              </a:spcAft>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7" name="Picture 6" descr="caution_cleaning_in_progress.jpg"/>
          <p:cNvPicPr>
            <a:picLocks noChangeAspect="1"/>
          </p:cNvPicPr>
          <p:nvPr/>
        </p:nvPicPr>
        <p:blipFill>
          <a:blip r:embed="rId3" cstate="print"/>
          <a:stretch>
            <a:fillRect/>
          </a:stretch>
        </p:blipFill>
        <p:spPr>
          <a:xfrm>
            <a:off x="6215074" y="857232"/>
            <a:ext cx="1216528" cy="162781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Areas to dust and polish</a:t>
            </a:r>
          </a:p>
          <a:p>
            <a:pPr>
              <a:spcBef>
                <a:spcPts val="600"/>
              </a:spcBef>
              <a:spcAft>
                <a:spcPts val="1200"/>
              </a:spcAft>
              <a:buNone/>
            </a:pPr>
            <a:r>
              <a:rPr lang="en-AU" sz="2100" dirty="0" smtClean="0">
                <a:latin typeface="Helvetica" pitchFamily="34" charset="0"/>
              </a:rPr>
              <a:t>The following areas will need either dusting or polishing:</a:t>
            </a:r>
          </a:p>
          <a:p>
            <a:pPr lvl="0">
              <a:spcBef>
                <a:spcPts val="600"/>
              </a:spcBef>
              <a:spcAft>
                <a:spcPts val="1200"/>
              </a:spcAft>
            </a:pPr>
            <a:r>
              <a:rPr lang="en-US" sz="2100" dirty="0" smtClean="0">
                <a:latin typeface="Helvetica" pitchFamily="34" charset="0"/>
              </a:rPr>
              <a:t>Air conditioning vents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Doors – including top ledge and handles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Picture frames – facing glass as well as frame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Mirrors – frame and mirror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Skirting boards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Windows – glass and frames</a:t>
            </a:r>
            <a:endParaRPr lang="en-AU" sz="2100" dirty="0" smtClean="0">
              <a:latin typeface="Helvetica" pitchFamily="34" charset="0"/>
            </a:endParaRPr>
          </a:p>
          <a:p>
            <a:pPr>
              <a:spcBef>
                <a:spcPts val="600"/>
              </a:spcBef>
              <a:spcAft>
                <a:spcPts val="1200"/>
              </a:spcAft>
              <a:buNone/>
            </a:pPr>
            <a:endParaRPr lang="en-AU" sz="2100" b="1" dirty="0" smtClean="0">
              <a:latin typeface="Helvetica" pitchFamily="34" charset="0"/>
            </a:endParaRP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8" name="Picture 7" descr="174_7423.JPG"/>
          <p:cNvPicPr>
            <a:picLocks noChangeAspect="1"/>
          </p:cNvPicPr>
          <p:nvPr/>
        </p:nvPicPr>
        <p:blipFill>
          <a:blip r:embed="rId3" cstate="print"/>
          <a:stretch>
            <a:fillRect/>
          </a:stretch>
        </p:blipFill>
        <p:spPr>
          <a:xfrm>
            <a:off x="5643570" y="4500570"/>
            <a:ext cx="2095514" cy="1571636"/>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Areas to dust and polish</a:t>
            </a:r>
          </a:p>
          <a:p>
            <a:pPr lvl="0">
              <a:spcBef>
                <a:spcPts val="600"/>
              </a:spcBef>
              <a:spcAft>
                <a:spcPts val="1200"/>
              </a:spcAft>
            </a:pPr>
            <a:r>
              <a:rPr lang="en-US" sz="2100" dirty="0" smtClean="0">
                <a:latin typeface="Helvetica" pitchFamily="34" charset="0"/>
              </a:rPr>
              <a:t>Window sills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Walls – check for cobwebs and marks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Lamps – base, shade and cord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Telephone – main unit and hand receiver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Seat furniture – don’t forget to remove cushions                and check sides, legs, back and underneath</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All furniture – top, sides, legs, and underneath each item</a:t>
            </a:r>
            <a:endParaRPr lang="en-AU" sz="2100" b="1" dirty="0" smtClean="0">
              <a:latin typeface="Helvetica" pitchFamily="34" charset="0"/>
            </a:endParaRPr>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174_7416.JPG"/>
          <p:cNvPicPr>
            <a:picLocks noChangeAspect="1"/>
          </p:cNvPicPr>
          <p:nvPr/>
        </p:nvPicPr>
        <p:blipFill>
          <a:blip r:embed="rId3" cstate="print"/>
          <a:stretch>
            <a:fillRect/>
          </a:stretch>
        </p:blipFill>
        <p:spPr>
          <a:xfrm>
            <a:off x="6357950" y="2214554"/>
            <a:ext cx="1595669" cy="1196752"/>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Dusting</a:t>
            </a:r>
          </a:p>
          <a:p>
            <a:pPr>
              <a:spcBef>
                <a:spcPts val="600"/>
              </a:spcBef>
              <a:spcAft>
                <a:spcPts val="1200"/>
              </a:spcAft>
            </a:pPr>
            <a:r>
              <a:rPr lang="en-AU" sz="2100" dirty="0" smtClean="0">
                <a:latin typeface="Helvetica" pitchFamily="34" charset="0"/>
              </a:rPr>
              <a:t>The main purpose of dusting is to collect small particles of dust</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Dusting may be done with a duster or a damp lint-free cloth</a:t>
            </a:r>
          </a:p>
          <a:p>
            <a:pPr>
              <a:spcBef>
                <a:spcPts val="600"/>
              </a:spcBef>
              <a:spcAft>
                <a:spcPts val="1200"/>
              </a:spcAft>
            </a:pPr>
            <a:r>
              <a:rPr lang="en-AU" sz="2100" dirty="0" smtClean="0">
                <a:latin typeface="Helvetica" pitchFamily="34" charset="0"/>
              </a:rPr>
              <a:t>Don’t use a damp cloth if the moisture could ruin the object being cleaned</a:t>
            </a:r>
          </a:p>
          <a:p>
            <a:pPr>
              <a:spcBef>
                <a:spcPts val="600"/>
              </a:spcBef>
              <a:spcAft>
                <a:spcPts val="1200"/>
              </a:spcAft>
            </a:pPr>
            <a:r>
              <a:rPr lang="en-AU" sz="2100" dirty="0" smtClean="0">
                <a:latin typeface="Helvetica" pitchFamily="34" charset="0"/>
              </a:rPr>
              <a:t>Change the cloth when soiled</a:t>
            </a:r>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6" name="Picture 5" descr="MP900387608[1].JPG"/>
          <p:cNvPicPr/>
          <p:nvPr/>
        </p:nvPicPr>
        <p:blipFill>
          <a:blip r:embed="rId3" cstate="print"/>
          <a:stretch>
            <a:fillRect/>
          </a:stretch>
        </p:blipFill>
        <p:spPr>
          <a:xfrm>
            <a:off x="5643570" y="4572008"/>
            <a:ext cx="1975485" cy="1409700"/>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Cleaning glass surfaces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Polishing</a:t>
            </a:r>
          </a:p>
          <a:p>
            <a:pPr marL="0">
              <a:spcBef>
                <a:spcPts val="600"/>
              </a:spcBef>
              <a:spcAft>
                <a:spcPts val="1200"/>
              </a:spcAft>
              <a:buNone/>
            </a:pPr>
            <a:r>
              <a:rPr lang="en-AU" sz="2200" dirty="0" smtClean="0">
                <a:latin typeface="Helvetica" pitchFamily="34" charset="0"/>
              </a:rPr>
              <a:t>The main purpose of polishing is to clean the item and leave a shiny, reflecting finish.</a:t>
            </a:r>
          </a:p>
          <a:p>
            <a:pPr>
              <a:spcBef>
                <a:spcPts val="600"/>
              </a:spcBef>
              <a:spcAft>
                <a:spcPts val="1200"/>
              </a:spcAft>
              <a:buNone/>
            </a:pPr>
            <a:r>
              <a:rPr lang="en-AU" sz="2200" dirty="0" smtClean="0">
                <a:latin typeface="Helvetica" pitchFamily="34" charset="0"/>
              </a:rPr>
              <a:t>When polishing an item, make sure to:</a:t>
            </a:r>
          </a:p>
          <a:p>
            <a:pPr lvl="0">
              <a:spcBef>
                <a:spcPts val="600"/>
              </a:spcBef>
              <a:spcAft>
                <a:spcPts val="1200"/>
              </a:spcAft>
            </a:pPr>
            <a:r>
              <a:rPr lang="en-US" sz="2200" dirty="0" smtClean="0">
                <a:latin typeface="Helvetica" pitchFamily="34" charset="0"/>
              </a:rPr>
              <a:t>Spray the cleaning agent onto the cloth - not onto the surface to be cleaned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Buff the surface after cleaning to                                    remove any streaks</a:t>
            </a:r>
            <a:endParaRPr lang="en-AU" sz="2200"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6" name="Picture 5" descr="1226_sunshine.jpg"/>
          <p:cNvPicPr>
            <a:picLocks noChangeAspect="1"/>
          </p:cNvPicPr>
          <p:nvPr/>
        </p:nvPicPr>
        <p:blipFill>
          <a:blip r:embed="rId3" cstate="print"/>
          <a:stretch>
            <a:fillRect/>
          </a:stretch>
        </p:blipFill>
        <p:spPr>
          <a:xfrm>
            <a:off x="6000760" y="4214818"/>
            <a:ext cx="1928826" cy="1342463"/>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Vacuum floors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buNone/>
            </a:pPr>
            <a:r>
              <a:rPr lang="en-AU" sz="2200" dirty="0" smtClean="0">
                <a:latin typeface="Helvetica" pitchFamily="34" charset="0"/>
              </a:rPr>
              <a:t>All carpeted areas should be vacuumed and many non-carpeted areas including wooden floors, tiled bathroom area and linoleum floors may also require vacuuming</a:t>
            </a:r>
          </a:p>
          <a:p>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MP900383000[1].JPG"/>
          <p:cNvPicPr/>
          <p:nvPr/>
        </p:nvPicPr>
        <p:blipFill>
          <a:blip r:embed="rId3" cstate="print"/>
          <a:stretch>
            <a:fillRect/>
          </a:stretch>
        </p:blipFill>
        <p:spPr>
          <a:xfrm>
            <a:off x="3204605" y="3714752"/>
            <a:ext cx="2734791" cy="1786111"/>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Vacuum floors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100" dirty="0" smtClean="0">
                <a:latin typeface="Helvetica" pitchFamily="34" charset="0"/>
              </a:rPr>
              <a:t>Vacuuming tips:</a:t>
            </a:r>
          </a:p>
          <a:p>
            <a:pPr>
              <a:spcBef>
                <a:spcPts val="600"/>
              </a:spcBef>
              <a:spcAft>
                <a:spcPts val="1200"/>
              </a:spcAft>
            </a:pPr>
            <a:r>
              <a:rPr lang="en-AU" sz="2100" dirty="0" smtClean="0">
                <a:latin typeface="Helvetica" pitchFamily="34" charset="0"/>
              </a:rPr>
              <a:t>Try to vacuum the room starting at the furthest corner from the door and work back toward the exit</a:t>
            </a:r>
          </a:p>
          <a:p>
            <a:pPr>
              <a:spcBef>
                <a:spcPts val="600"/>
              </a:spcBef>
              <a:spcAft>
                <a:spcPts val="1200"/>
              </a:spcAft>
            </a:pPr>
            <a:r>
              <a:rPr lang="en-AU" sz="2100" dirty="0" smtClean="0">
                <a:latin typeface="Helvetica" pitchFamily="34" charset="0"/>
              </a:rPr>
              <a:t>Ensure you vacuum around and under all furniture</a:t>
            </a:r>
          </a:p>
          <a:p>
            <a:pPr>
              <a:spcBef>
                <a:spcPts val="600"/>
              </a:spcBef>
              <a:spcAft>
                <a:spcPts val="1200"/>
              </a:spcAft>
            </a:pPr>
            <a:r>
              <a:rPr lang="en-AU" sz="2100" dirty="0" smtClean="0">
                <a:latin typeface="Helvetica" pitchFamily="34" charset="0"/>
              </a:rPr>
              <a:t>Particular attention should be placed on the corners of the room, including the skirting boards</a:t>
            </a:r>
          </a:p>
          <a:p>
            <a:pPr>
              <a:spcBef>
                <a:spcPts val="600"/>
              </a:spcBef>
              <a:spcAft>
                <a:spcPts val="1200"/>
              </a:spcAft>
            </a:pPr>
            <a:r>
              <a:rPr lang="en-AU" sz="2100" dirty="0" smtClean="0">
                <a:latin typeface="Helvetica" pitchFamily="34" charset="0"/>
              </a:rPr>
              <a:t>bend your knees when cleaning under items </a:t>
            </a:r>
          </a:p>
          <a:p>
            <a:pPr>
              <a:spcBef>
                <a:spcPts val="600"/>
              </a:spcBef>
              <a:spcAft>
                <a:spcPts val="1200"/>
              </a:spcAft>
            </a:pPr>
            <a:r>
              <a:rPr lang="en-AU" sz="2100" dirty="0" smtClean="0">
                <a:latin typeface="Helvetica" pitchFamily="34" charset="0"/>
              </a:rPr>
              <a:t>Try to avoid ‘bending over’ the machine</a:t>
            </a:r>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6" name="Picture 5" descr="MP900387601[1].JPG"/>
          <p:cNvPicPr>
            <a:picLocks noChangeAspect="1"/>
          </p:cNvPicPr>
          <p:nvPr/>
        </p:nvPicPr>
        <p:blipFill>
          <a:blip r:embed="rId3" cstate="print"/>
          <a:stretch>
            <a:fillRect/>
          </a:stretch>
        </p:blipFill>
        <p:spPr>
          <a:xfrm>
            <a:off x="6786578" y="4071942"/>
            <a:ext cx="2030691" cy="144856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200" dirty="0" smtClean="0">
                <a:latin typeface="Helvetica" pitchFamily="34" charset="0"/>
              </a:rPr>
              <a:t>The vanity area normally includes:</a:t>
            </a:r>
          </a:p>
          <a:p>
            <a:pPr lvl="0">
              <a:spcBef>
                <a:spcPts val="600"/>
              </a:spcBef>
              <a:spcAft>
                <a:spcPts val="1200"/>
              </a:spcAft>
            </a:pPr>
            <a:r>
              <a:rPr lang="en-AU" sz="2200" dirty="0" smtClean="0">
                <a:latin typeface="Helvetica" pitchFamily="34" charset="0"/>
              </a:rPr>
              <a:t>Bathroom bench</a:t>
            </a:r>
          </a:p>
          <a:p>
            <a:pPr lvl="0">
              <a:spcBef>
                <a:spcPts val="600"/>
              </a:spcBef>
              <a:spcAft>
                <a:spcPts val="1200"/>
              </a:spcAft>
            </a:pPr>
            <a:r>
              <a:rPr lang="en-AU" sz="2200" dirty="0" smtClean="0">
                <a:latin typeface="Helvetica" pitchFamily="34" charset="0"/>
              </a:rPr>
              <a:t>Basins</a:t>
            </a:r>
          </a:p>
          <a:p>
            <a:pPr lvl="0">
              <a:spcBef>
                <a:spcPts val="600"/>
              </a:spcBef>
              <a:spcAft>
                <a:spcPts val="1200"/>
              </a:spcAft>
            </a:pPr>
            <a:r>
              <a:rPr lang="en-AU" sz="2200" dirty="0" smtClean="0">
                <a:latin typeface="Helvetica" pitchFamily="34" charset="0"/>
              </a:rPr>
              <a:t>Taps</a:t>
            </a:r>
          </a:p>
          <a:p>
            <a:pPr lvl="0">
              <a:spcBef>
                <a:spcPts val="600"/>
              </a:spcBef>
              <a:spcAft>
                <a:spcPts val="1200"/>
              </a:spcAft>
            </a:pPr>
            <a:r>
              <a:rPr lang="en-AU" sz="2200" dirty="0" smtClean="0">
                <a:latin typeface="Helvetica" pitchFamily="34" charset="0"/>
              </a:rPr>
              <a:t>Mirror</a:t>
            </a:r>
          </a:p>
          <a:p>
            <a:pPr lvl="0">
              <a:spcBef>
                <a:spcPts val="600"/>
              </a:spcBef>
              <a:spcAft>
                <a:spcPts val="1200"/>
              </a:spcAft>
            </a:pPr>
            <a:r>
              <a:rPr lang="en-AU" sz="2200" dirty="0" smtClean="0">
                <a:latin typeface="Helvetica" pitchFamily="34" charset="0"/>
              </a:rPr>
              <a:t>Cupboards</a:t>
            </a:r>
          </a:p>
          <a:p>
            <a:pPr lvl="0">
              <a:spcBef>
                <a:spcPts val="600"/>
              </a:spcBef>
              <a:spcAft>
                <a:spcPts val="1200"/>
              </a:spcAft>
            </a:pPr>
            <a:r>
              <a:rPr lang="en-AU" sz="2200" dirty="0" smtClean="0">
                <a:latin typeface="Helvetica" pitchFamily="34" charset="0"/>
              </a:rPr>
              <a:t>Amenities</a:t>
            </a:r>
          </a:p>
          <a:p>
            <a:pPr lvl="0">
              <a:spcBef>
                <a:spcPts val="600"/>
              </a:spcBef>
              <a:spcAft>
                <a:spcPts val="1200"/>
              </a:spcAft>
            </a:pPr>
            <a:r>
              <a:rPr lang="en-AU" sz="2200" dirty="0" smtClean="0">
                <a:latin typeface="Helvetica" pitchFamily="34" charset="0"/>
              </a:rPr>
              <a:t>Soap containers</a:t>
            </a: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7" name="Picture 6" descr="114_1466.JPG"/>
          <p:cNvPicPr/>
          <p:nvPr/>
        </p:nvPicPr>
        <p:blipFill>
          <a:blip r:embed="rId3" cstate="print"/>
          <a:stretch>
            <a:fillRect/>
          </a:stretch>
        </p:blipFill>
        <p:spPr>
          <a:xfrm>
            <a:off x="5857884" y="2714620"/>
            <a:ext cx="2084313" cy="2444105"/>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493776" indent="-457200">
              <a:spcBef>
                <a:spcPts val="600"/>
              </a:spcBef>
              <a:spcAft>
                <a:spcPts val="1200"/>
              </a:spcAft>
              <a:buSzPct val="100000"/>
              <a:buFont typeface="+mj-lt"/>
              <a:buAutoNum type="arabicPeriod"/>
            </a:pPr>
            <a:r>
              <a:rPr lang="en-GB" sz="2200" dirty="0" smtClean="0">
                <a:latin typeface="Helvetica" pitchFamily="34" charset="0"/>
              </a:rPr>
              <a:t>Clean and dry shelves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Scrub hand basin, rinse, then dry and polish with clean cloth – check plughole</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Polish fittings and taps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Clean and dry wall tiles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Clean, dry and polish bench top</a:t>
            </a: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6" name="Picture 5" descr="IMG_2349.jpg"/>
          <p:cNvPicPr/>
          <p:nvPr/>
        </p:nvPicPr>
        <p:blipFill>
          <a:blip r:embed="rId3" cstate="print"/>
          <a:stretch>
            <a:fillRect/>
          </a:stretch>
        </p:blipFill>
        <p:spPr>
          <a:xfrm>
            <a:off x="6072198" y="2928934"/>
            <a:ext cx="2101007" cy="1540942"/>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vanity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493776" indent="-457200">
              <a:spcBef>
                <a:spcPts val="600"/>
              </a:spcBef>
              <a:spcAft>
                <a:spcPts val="1200"/>
              </a:spcAft>
              <a:buSzPct val="100000"/>
              <a:buFont typeface="+mj-lt"/>
              <a:buAutoNum type="arabicPeriod" startAt="6"/>
            </a:pPr>
            <a:r>
              <a:rPr lang="en-GB" sz="2200" dirty="0" smtClean="0">
                <a:latin typeface="Helvetica" pitchFamily="34" charset="0"/>
              </a:rPr>
              <a:t>Clean and polish mirror</a:t>
            </a:r>
            <a:endParaRPr lang="en-AU" sz="2200" dirty="0" smtClean="0">
              <a:latin typeface="Helvetica" pitchFamily="34" charset="0"/>
            </a:endParaRPr>
          </a:p>
          <a:p>
            <a:pPr marL="493776" indent="-457200">
              <a:spcBef>
                <a:spcPts val="600"/>
              </a:spcBef>
              <a:spcAft>
                <a:spcPts val="1200"/>
              </a:spcAft>
              <a:buSzPct val="100000"/>
              <a:buFont typeface="+mj-lt"/>
              <a:buAutoNum type="arabicPeriod" startAt="6"/>
            </a:pPr>
            <a:r>
              <a:rPr lang="en-GB" sz="2200" dirty="0" smtClean="0">
                <a:latin typeface="Helvetica" pitchFamily="34" charset="0"/>
              </a:rPr>
              <a:t>Check under vanity for cleanliness</a:t>
            </a:r>
            <a:endParaRPr lang="en-AU" sz="2200" dirty="0" smtClean="0">
              <a:latin typeface="Helvetica" pitchFamily="34" charset="0"/>
            </a:endParaRPr>
          </a:p>
          <a:p>
            <a:pPr marL="493776" indent="-457200">
              <a:spcBef>
                <a:spcPts val="600"/>
              </a:spcBef>
              <a:spcAft>
                <a:spcPts val="1200"/>
              </a:spcAft>
              <a:buSzPct val="100000"/>
              <a:buFont typeface="+mj-lt"/>
              <a:buAutoNum type="arabicPeriod" startAt="6"/>
            </a:pPr>
            <a:r>
              <a:rPr lang="en-GB" sz="2200" dirty="0" smtClean="0">
                <a:latin typeface="Helvetica" pitchFamily="34" charset="0"/>
              </a:rPr>
              <a:t>Replenish stock – soap, tissues, facial items, shower caps </a:t>
            </a:r>
            <a:endParaRPr lang="en-AU" sz="2200" dirty="0" smtClean="0">
              <a:latin typeface="Helvetica" pitchFamily="34" charset="0"/>
            </a:endParaRPr>
          </a:p>
          <a:p>
            <a:pPr marL="493776" indent="-457200">
              <a:spcBef>
                <a:spcPts val="600"/>
              </a:spcBef>
              <a:spcAft>
                <a:spcPts val="1200"/>
              </a:spcAft>
              <a:buSzPct val="100000"/>
              <a:buFont typeface="+mj-lt"/>
              <a:buAutoNum type="arabicPeriod" startAt="6"/>
            </a:pPr>
            <a:r>
              <a:rPr lang="en-GB" sz="2200" dirty="0" smtClean="0">
                <a:latin typeface="Helvetica" pitchFamily="34" charset="0"/>
              </a:rPr>
              <a:t>Replenish towels – cloth or paper</a:t>
            </a:r>
            <a:endParaRPr lang="en-AU" sz="2200" dirty="0" smtClean="0">
              <a:latin typeface="Helvetica" pitchFamily="34" charset="0"/>
            </a:endParaRPr>
          </a:p>
          <a:p>
            <a:pPr marL="493776" indent="-457200">
              <a:spcBef>
                <a:spcPts val="600"/>
              </a:spcBef>
              <a:spcAft>
                <a:spcPts val="1200"/>
              </a:spcAft>
              <a:buSzPct val="100000"/>
              <a:buFont typeface="+mj-lt"/>
              <a:buAutoNum type="arabicPeriod" startAt="6"/>
            </a:pPr>
            <a:r>
              <a:rPr lang="en-GB" sz="2200" dirty="0" smtClean="0">
                <a:latin typeface="Helvetica" pitchFamily="34" charset="0"/>
              </a:rPr>
              <a:t>Conduct final check</a:t>
            </a: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6" name="Picture 5" descr="MP900399796[1].JPG"/>
          <p:cNvPicPr>
            <a:picLocks noChangeAspect="1"/>
          </p:cNvPicPr>
          <p:nvPr/>
        </p:nvPicPr>
        <p:blipFill>
          <a:blip r:embed="rId3" cstate="print"/>
          <a:stretch>
            <a:fillRect/>
          </a:stretch>
        </p:blipFill>
        <p:spPr>
          <a:xfrm>
            <a:off x="5857884" y="3500438"/>
            <a:ext cx="2500330" cy="166623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shower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marL="493776" indent="-457200">
              <a:spcBef>
                <a:spcPts val="600"/>
              </a:spcBef>
              <a:spcAft>
                <a:spcPts val="1200"/>
              </a:spcAft>
              <a:buSzPct val="100000"/>
              <a:buFont typeface="+mj-lt"/>
              <a:buAutoNum type="arabicPeriod"/>
            </a:pPr>
            <a:r>
              <a:rPr lang="en-GB" sz="2200" dirty="0" smtClean="0">
                <a:latin typeface="Helvetica" pitchFamily="34" charset="0"/>
              </a:rPr>
              <a:t>Wet shower basin and sides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Clean tiles and floor – check plughole for foreign matter</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Clean shower curtain – check pole is clean and all hooks are in place and working</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Rinse walls and floor thoroughly</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Polish fittings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Replenish supplies  </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Conduct final inspection – leave shower                          curtain neat and to one side</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6" name="Picture 5" descr="114_1491.JPG"/>
          <p:cNvPicPr/>
          <p:nvPr/>
        </p:nvPicPr>
        <p:blipFill>
          <a:blip r:embed="rId3" cstate="print"/>
          <a:stretch>
            <a:fillRect/>
          </a:stretch>
        </p:blipFill>
        <p:spPr>
          <a:xfrm>
            <a:off x="6804248" y="3861048"/>
            <a:ext cx="1666875" cy="2219325"/>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the toilet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493776" indent="-457200">
              <a:spcBef>
                <a:spcPts val="600"/>
              </a:spcBef>
              <a:spcAft>
                <a:spcPts val="1200"/>
              </a:spcAft>
              <a:buSzPct val="100000"/>
              <a:buFont typeface="+mj-lt"/>
              <a:buAutoNum type="arabicPeriod"/>
            </a:pPr>
            <a:r>
              <a:rPr lang="en-GB" sz="2200" dirty="0" smtClean="0">
                <a:latin typeface="Helvetica" pitchFamily="34" charset="0"/>
              </a:rPr>
              <a:t>Flush toilet to wet sides of bowl</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Pour in cleanser – leave to soak: continue with other work</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Wash lid and dry – both sides and near back hinges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Wash seat and dry – both sides and near back hinges</a:t>
            </a:r>
            <a:endParaRPr lang="en-AU" sz="2200" dirty="0" smtClean="0">
              <a:latin typeface="Helvetica" pitchFamily="34" charset="0"/>
            </a:endParaRPr>
          </a:p>
          <a:p>
            <a:pPr marL="493776" indent="-457200">
              <a:spcBef>
                <a:spcPts val="600"/>
              </a:spcBef>
              <a:spcAft>
                <a:spcPts val="1200"/>
              </a:spcAft>
              <a:buSzPct val="100000"/>
              <a:buFont typeface="+mj-lt"/>
              <a:buAutoNum type="arabicPeriod"/>
            </a:pPr>
            <a:r>
              <a:rPr lang="en-GB" sz="2200" dirty="0" smtClean="0">
                <a:latin typeface="Helvetica" pitchFamily="34" charset="0"/>
              </a:rPr>
              <a:t>Wash outsides of the bowl and dry</a:t>
            </a:r>
            <a:endParaRPr lang="en-AU" sz="2200" dirty="0" smtClean="0">
              <a:latin typeface="Helvetica" pitchFamily="34" charset="0"/>
            </a:endParaRPr>
          </a:p>
          <a:p>
            <a:pPr marL="493776" indent="-457200">
              <a:buFont typeface="+mj-lt"/>
              <a:buAutoNum type="arabicPeriod"/>
            </a:pPr>
            <a:endParaRPr lang="en-AU" sz="2400" dirty="0" smtClean="0"/>
          </a:p>
          <a:p>
            <a:pPr marL="493776" indent="-457200">
              <a:buFont typeface="+mj-lt"/>
              <a:buAutoNum type="arabicPeriod"/>
            </a:pPr>
            <a:endParaRPr lang="en-AU" sz="2400" dirty="0" smtClean="0"/>
          </a:p>
          <a:p>
            <a:pPr marL="73152" indent="-457200">
              <a:spcBef>
                <a:spcPts val="600"/>
              </a:spcBef>
              <a:spcAft>
                <a:spcPts val="1200"/>
              </a:spcAft>
              <a:buFont typeface="+mj-lt"/>
              <a:buAutoNum type="arabicPeriod"/>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7" name="Picture 6" descr="MP900422503[1].JPG"/>
          <p:cNvPicPr>
            <a:picLocks noChangeAspect="1"/>
          </p:cNvPicPr>
          <p:nvPr/>
        </p:nvPicPr>
        <p:blipFill>
          <a:blip r:embed="rId3" cstate="print"/>
          <a:stretch>
            <a:fillRect/>
          </a:stretch>
        </p:blipFill>
        <p:spPr>
          <a:xfrm>
            <a:off x="6948264" y="4077072"/>
            <a:ext cx="1516432" cy="2276872"/>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Cleaning bins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US" sz="2100" dirty="0" smtClean="0">
                <a:latin typeface="Helvetica" pitchFamily="34" charset="0"/>
              </a:rPr>
              <a:t>Waste bins should be properly cleaned by:</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Tying the bin liner around the rubbish or emptying the bin directly into your waste bag on the trolley. Remove larger and non-dangerous by hand to facilitate this process where applicable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Spraying bin with appropriate multi-purpose cleaner, inside and out</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Cleaning with the appropriate cloth</a:t>
            </a:r>
            <a:endParaRPr lang="en-AU" sz="2100" dirty="0" smtClean="0">
              <a:latin typeface="Helvetica" pitchFamily="34" charset="0"/>
            </a:endParaRPr>
          </a:p>
          <a:p>
            <a:pPr>
              <a:spcBef>
                <a:spcPts val="600"/>
              </a:spcBef>
              <a:spcAft>
                <a:spcPts val="1200"/>
              </a:spcAft>
            </a:pPr>
            <a:r>
              <a:rPr lang="en-AU" sz="2100" dirty="0" smtClean="0">
                <a:latin typeface="Helvetica" pitchFamily="34" charset="0"/>
              </a:rPr>
              <a:t>Fitting a new bin liner</a:t>
            </a:r>
          </a:p>
          <a:p>
            <a:endParaRPr lang="en-AU" sz="2100" dirty="0" smtClean="0"/>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6" name="Picture 5" descr="MP900403047[1].JPG"/>
          <p:cNvPicPr/>
          <p:nvPr/>
        </p:nvPicPr>
        <p:blipFill>
          <a:blip r:embed="rId3" cstate="print"/>
          <a:stretch>
            <a:fillRect/>
          </a:stretch>
        </p:blipFill>
        <p:spPr>
          <a:xfrm>
            <a:off x="6000760" y="4572008"/>
            <a:ext cx="1557339" cy="1285884"/>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Steps</a:t>
            </a:r>
          </a:p>
          <a:p>
            <a:pPr lvl="0">
              <a:spcBef>
                <a:spcPts val="600"/>
              </a:spcBef>
              <a:spcAft>
                <a:spcPts val="1200"/>
              </a:spcAft>
            </a:pPr>
            <a:r>
              <a:rPr lang="en-AU" sz="2100" dirty="0" smtClean="0">
                <a:latin typeface="Helvetica" pitchFamily="34" charset="0"/>
              </a:rPr>
              <a:t>Please place any used cloths in a suitable place for cleaning</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Place all used newspaper pieces in the rubbish bin</a:t>
            </a:r>
          </a:p>
          <a:p>
            <a:pPr lvl="0">
              <a:spcBef>
                <a:spcPts val="600"/>
              </a:spcBef>
              <a:spcAft>
                <a:spcPts val="1200"/>
              </a:spcAft>
            </a:pPr>
            <a:r>
              <a:rPr lang="en-AU" sz="2100" dirty="0" smtClean="0">
                <a:latin typeface="Helvetica" pitchFamily="34" charset="0"/>
              </a:rPr>
              <a:t>Ensure any rubbish taken from rubbish bins are placed in the external rubbish areas with recycling functions conducted in line with company policy. </a:t>
            </a:r>
          </a:p>
          <a:p>
            <a:pPr>
              <a:buNone/>
            </a:pPr>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6" name="Picture 5" descr="1229017066_skp.jpg"/>
          <p:cNvPicPr>
            <a:picLocks noChangeAspect="1"/>
          </p:cNvPicPr>
          <p:nvPr/>
        </p:nvPicPr>
        <p:blipFill>
          <a:blip r:embed="rId3" cstate="print"/>
          <a:stretch>
            <a:fillRect/>
          </a:stretch>
        </p:blipFill>
        <p:spPr>
          <a:xfrm>
            <a:off x="3571868" y="4786322"/>
            <a:ext cx="2059028" cy="1925191"/>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a:t>
            </a:r>
          </a:p>
          <a:p>
            <a:pPr lvl="0">
              <a:spcBef>
                <a:spcPts val="600"/>
              </a:spcBef>
              <a:spcAft>
                <a:spcPts val="1200"/>
              </a:spcAft>
            </a:pPr>
            <a:r>
              <a:rPr lang="en-AU" sz="2200" dirty="0" smtClean="0">
                <a:latin typeface="Helvetica" pitchFamily="34" charset="0"/>
              </a:rPr>
              <a:t>Please ensure all pieces of equipment has been cleaned out of all detergents, residual dirt and other waste products, then placed back in a suitable location for further use</a:t>
            </a:r>
          </a:p>
          <a:p>
            <a:pPr lvl="0">
              <a:spcBef>
                <a:spcPts val="600"/>
              </a:spcBef>
              <a:spcAft>
                <a:spcPts val="1200"/>
              </a:spcAft>
            </a:pPr>
            <a:r>
              <a:rPr lang="en-AU" sz="2200" dirty="0" smtClean="0">
                <a:latin typeface="Helvetica" pitchFamily="34" charset="0"/>
              </a:rPr>
              <a:t>Place all chemicals and other substances used in a storage area out of reach of children</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5:</a:t>
            </a:r>
          </a:p>
          <a:p>
            <a:pPr marL="0">
              <a:buNone/>
            </a:pPr>
            <a:r>
              <a:rPr lang="en-AU" sz="4000" b="1" dirty="0" smtClean="0">
                <a:solidFill>
                  <a:srgbClr val="FF6600"/>
                </a:solidFill>
              </a:rPr>
              <a:t>Apply wet area cleaning techniques</a:t>
            </a:r>
          </a:p>
          <a:p>
            <a:pPr>
              <a:spcBef>
                <a:spcPts val="600"/>
              </a:spcBef>
              <a:spcAft>
                <a:spcPts val="1200"/>
              </a:spcAft>
            </a:pPr>
            <a:endParaRPr lang="en-AU" sz="2200" b="1"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lvl="0">
              <a:spcBef>
                <a:spcPts val="600"/>
              </a:spcBef>
              <a:spcAft>
                <a:spcPts val="600"/>
              </a:spcAft>
            </a:pPr>
            <a:endParaRPr lang="en-AU" sz="2200" b="1" dirty="0" smtClean="0">
              <a:latin typeface="Helvetica" pitchFamily="34" charset="0"/>
            </a:endParaRPr>
          </a:p>
          <a:p>
            <a:pPr>
              <a:buNone/>
            </a:pPr>
            <a:endParaRPr lang="en-AU" sz="2400" b="1" dirty="0" smtClean="0"/>
          </a:p>
          <a:p>
            <a:pPr lvl="0">
              <a:spcBef>
                <a:spcPts val="600"/>
              </a:spcBef>
              <a:spcAft>
                <a:spcPts val="1200"/>
              </a:spcAft>
            </a:pPr>
            <a:endParaRPr lang="en-AU" sz="2200" b="1" dirty="0" smtClean="0">
              <a:latin typeface="Helvetica" pitchFamily="34" charset="0"/>
            </a:endParaRPr>
          </a:p>
          <a:p>
            <a:pPr marL="0">
              <a:spcBef>
                <a:spcPts val="600"/>
              </a:spcBef>
              <a:spcAft>
                <a:spcPts val="1200"/>
              </a:spcAft>
              <a:buNone/>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7" name="Picture 6" descr="tap.jpg"/>
          <p:cNvPicPr>
            <a:picLocks noChangeAspect="1"/>
          </p:cNvPicPr>
          <p:nvPr/>
        </p:nvPicPr>
        <p:blipFill>
          <a:blip r:embed="rId3" cstate="print"/>
          <a:stretch>
            <a:fillRect/>
          </a:stretch>
        </p:blipFill>
        <p:spPr>
          <a:xfrm>
            <a:off x="5857884" y="3357562"/>
            <a:ext cx="1857388" cy="1857388"/>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200" b="1" dirty="0" smtClean="0">
                <a:solidFill>
                  <a:srgbClr val="FF6600"/>
                </a:solidFill>
                <a:latin typeface="Helvetica" pitchFamily="34" charset="0"/>
              </a:rPr>
              <a:t>Apply wet area cleaning techniques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wet areas to be cleaned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wet areas</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7" name="Picture 6" descr="IMG_8529.JPG"/>
          <p:cNvPicPr>
            <a:picLocks noChangeAspect="1"/>
          </p:cNvPicPr>
          <p:nvPr/>
        </p:nvPicPr>
        <p:blipFill>
          <a:blip r:embed="rId3" cstate="print"/>
          <a:stretch>
            <a:fillRect/>
          </a:stretch>
        </p:blipFill>
        <p:spPr>
          <a:xfrm>
            <a:off x="6000760" y="3429000"/>
            <a:ext cx="2354382" cy="1765786"/>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Wet area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What is ‘wet area’ cleaning?</a:t>
            </a:r>
          </a:p>
          <a:p>
            <a:pPr marL="0">
              <a:spcBef>
                <a:spcPts val="600"/>
              </a:spcBef>
              <a:spcAft>
                <a:spcPts val="1200"/>
              </a:spcAft>
              <a:buNone/>
            </a:pPr>
            <a:r>
              <a:rPr lang="en-AU" sz="2200" dirty="0" smtClean="0">
                <a:latin typeface="Helvetica" pitchFamily="34" charset="0"/>
              </a:rPr>
              <a:t>There are many public areas in a hotel that contain wet areas. </a:t>
            </a:r>
          </a:p>
          <a:p>
            <a:pPr marL="0">
              <a:spcBef>
                <a:spcPts val="600"/>
              </a:spcBef>
              <a:spcAft>
                <a:spcPts val="1200"/>
              </a:spcAft>
              <a:buNone/>
            </a:pPr>
            <a:r>
              <a:rPr lang="en-AU" sz="2200" dirty="0" smtClean="0">
                <a:latin typeface="Helvetica" pitchFamily="34" charset="0"/>
              </a:rPr>
              <a:t>These are floor areas that can be classified as areas that either:</a:t>
            </a:r>
          </a:p>
          <a:p>
            <a:pPr lvl="0">
              <a:spcBef>
                <a:spcPts val="600"/>
              </a:spcBef>
              <a:spcAft>
                <a:spcPts val="1200"/>
              </a:spcAft>
            </a:pPr>
            <a:r>
              <a:rPr lang="en-AU" sz="2200" dirty="0" smtClean="0">
                <a:latin typeface="Helvetica" pitchFamily="34" charset="0"/>
              </a:rPr>
              <a:t>Commonly have wet surfaces</a:t>
            </a:r>
          </a:p>
          <a:p>
            <a:pPr lvl="0">
              <a:spcBef>
                <a:spcPts val="600"/>
              </a:spcBef>
              <a:spcAft>
                <a:spcPts val="1200"/>
              </a:spcAft>
            </a:pPr>
            <a:r>
              <a:rPr lang="en-AU" sz="2200" dirty="0" smtClean="0">
                <a:latin typeface="Helvetica" pitchFamily="34" charset="0"/>
              </a:rPr>
              <a:t>Requires water to clean them</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6" name="Picture 5" descr="114_1499.JPG"/>
          <p:cNvPicPr>
            <a:picLocks noChangeAspect="1"/>
          </p:cNvPicPr>
          <p:nvPr/>
        </p:nvPicPr>
        <p:blipFill>
          <a:blip r:embed="rId3" cstate="print"/>
          <a:stretch>
            <a:fillRect/>
          </a:stretch>
        </p:blipFill>
        <p:spPr>
          <a:xfrm>
            <a:off x="5857884" y="4000504"/>
            <a:ext cx="2171733" cy="1628800"/>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Wet area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57298"/>
            <a:ext cx="7467600" cy="5301208"/>
          </a:xfrm>
        </p:spPr>
        <p:txBody>
          <a:bodyPr>
            <a:normAutofit/>
          </a:bodyPr>
          <a:lstStyle/>
          <a:p>
            <a:pPr marL="0">
              <a:spcBef>
                <a:spcPts val="600"/>
              </a:spcBef>
              <a:spcAft>
                <a:spcPts val="1200"/>
              </a:spcAft>
              <a:buNone/>
            </a:pPr>
            <a:r>
              <a:rPr lang="en-AU" sz="2100" dirty="0" smtClean="0">
                <a:latin typeface="Helvetica" pitchFamily="34" charset="0"/>
              </a:rPr>
              <a:t>The types of surfaces that are usually wet or require water to clean them include: </a:t>
            </a:r>
          </a:p>
          <a:p>
            <a:pPr lvl="0">
              <a:spcBef>
                <a:spcPts val="600"/>
              </a:spcBef>
              <a:spcAft>
                <a:spcPts val="1200"/>
              </a:spcAft>
            </a:pPr>
            <a:r>
              <a:rPr lang="en-US" sz="2100" dirty="0" smtClean="0">
                <a:latin typeface="Helvetica" pitchFamily="34" charset="0"/>
              </a:rPr>
              <a:t>Wood</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Carpet</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Marble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Rubber</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Tiles</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Concrete</a:t>
            </a:r>
            <a:endParaRPr lang="en-AU" sz="2100" dirty="0" smtClean="0">
              <a:latin typeface="Helvetica" pitchFamily="34" charset="0"/>
            </a:endParaRPr>
          </a:p>
          <a:p>
            <a:pPr lvl="0">
              <a:spcBef>
                <a:spcPts val="600"/>
              </a:spcBef>
              <a:spcAft>
                <a:spcPts val="1200"/>
              </a:spcAft>
            </a:pPr>
            <a:r>
              <a:rPr lang="en-US" sz="2100" dirty="0" smtClean="0">
                <a:latin typeface="Helvetica" pitchFamily="34" charset="0"/>
              </a:rPr>
              <a:t>Vinyl</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7" name="Picture 6" descr="MP900385508[1].JPG"/>
          <p:cNvPicPr/>
          <p:nvPr/>
        </p:nvPicPr>
        <p:blipFill>
          <a:blip r:embed="rId3" cstate="print"/>
          <a:stretch>
            <a:fillRect/>
          </a:stretch>
        </p:blipFill>
        <p:spPr>
          <a:xfrm>
            <a:off x="5143504" y="2714620"/>
            <a:ext cx="2790428" cy="1819647"/>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Wet area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dirty="0" smtClean="0">
                <a:latin typeface="Helvetica" pitchFamily="34" charset="0"/>
              </a:rPr>
              <a:t>Some points to keep in mind:</a:t>
            </a:r>
          </a:p>
          <a:p>
            <a:pPr lvl="0">
              <a:spcBef>
                <a:spcPts val="600"/>
              </a:spcBef>
              <a:spcAft>
                <a:spcPts val="1200"/>
              </a:spcAft>
            </a:pPr>
            <a:r>
              <a:rPr lang="en-AU" sz="2100" dirty="0" smtClean="0">
                <a:latin typeface="Helvetica" pitchFamily="34" charset="0"/>
              </a:rPr>
              <a:t>When should it be cleaned routinely? </a:t>
            </a:r>
          </a:p>
          <a:p>
            <a:pPr lvl="0">
              <a:spcBef>
                <a:spcPts val="600"/>
              </a:spcBef>
              <a:spcAft>
                <a:spcPts val="1200"/>
              </a:spcAft>
            </a:pPr>
            <a:r>
              <a:rPr lang="en-AU" sz="2100" dirty="0" smtClean="0">
                <a:latin typeface="Helvetica" pitchFamily="34" charset="0"/>
              </a:rPr>
              <a:t>When is an ‘immediate clean required?</a:t>
            </a:r>
          </a:p>
          <a:p>
            <a:pPr lvl="0">
              <a:spcBef>
                <a:spcPts val="600"/>
              </a:spcBef>
              <a:spcAft>
                <a:spcPts val="1200"/>
              </a:spcAft>
            </a:pPr>
            <a:r>
              <a:rPr lang="en-AU" sz="2100" dirty="0" smtClean="0">
                <a:latin typeface="Helvetica" pitchFamily="34" charset="0"/>
              </a:rPr>
              <a:t>When is the most appropriate time to clean it to keep customer disruption to a minimum?</a:t>
            </a:r>
          </a:p>
          <a:p>
            <a:pPr lvl="0">
              <a:spcBef>
                <a:spcPts val="600"/>
              </a:spcBef>
              <a:spcAft>
                <a:spcPts val="1200"/>
              </a:spcAft>
            </a:pPr>
            <a:r>
              <a:rPr lang="en-AU" sz="2100" dirty="0" smtClean="0">
                <a:latin typeface="Helvetica" pitchFamily="34" charset="0"/>
              </a:rPr>
              <a:t>What do I need to clean it?</a:t>
            </a:r>
          </a:p>
          <a:p>
            <a:pPr lvl="0">
              <a:spcBef>
                <a:spcPts val="600"/>
              </a:spcBef>
              <a:spcAft>
                <a:spcPts val="1200"/>
              </a:spcAft>
            </a:pPr>
            <a:r>
              <a:rPr lang="en-AU" sz="2100" dirty="0" smtClean="0">
                <a:latin typeface="Helvetica" pitchFamily="34" charset="0"/>
              </a:rPr>
              <a:t>How do I clean it?</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8" name="Picture 7" descr="124_2498.JPG"/>
          <p:cNvPicPr>
            <a:picLocks noChangeAspect="1"/>
          </p:cNvPicPr>
          <p:nvPr/>
        </p:nvPicPr>
        <p:blipFill>
          <a:blip r:embed="rId3" cstate="print"/>
          <a:stretch>
            <a:fillRect/>
          </a:stretch>
        </p:blipFill>
        <p:spPr>
          <a:xfrm>
            <a:off x="5357818" y="4000504"/>
            <a:ext cx="2171733" cy="1628800"/>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 &amp; chemicals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Equipment required to conduct wet area cleaning</a:t>
            </a:r>
          </a:p>
          <a:p>
            <a:pPr lvl="0">
              <a:spcBef>
                <a:spcPts val="600"/>
              </a:spcBef>
              <a:spcAft>
                <a:spcPts val="1200"/>
              </a:spcAft>
            </a:pPr>
            <a:r>
              <a:rPr lang="en-AU" sz="2100" dirty="0" smtClean="0">
                <a:latin typeface="Helvetica" pitchFamily="34" charset="0"/>
              </a:rPr>
              <a:t>Mops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Brooms and brushes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Cloths and sponges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Buckets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Carpet shampoo machines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Polishers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Scrubbing machines</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Floor machines</a:t>
            </a:r>
            <a:endParaRPr lang="en-AU" sz="2100" b="1"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7" name="Picture 6" descr="http://www.cleanfreak.com/Qstore/custom/24_inch_scrubber_lg.jpg"/>
          <p:cNvPicPr/>
          <p:nvPr/>
        </p:nvPicPr>
        <p:blipFill>
          <a:blip r:embed="rId3" cstate="print"/>
          <a:srcRect/>
          <a:stretch>
            <a:fillRect/>
          </a:stretch>
        </p:blipFill>
        <p:spPr bwMode="auto">
          <a:xfrm>
            <a:off x="6000760" y="3143248"/>
            <a:ext cx="2005757" cy="18665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100" dirty="0" smtClean="0">
                <a:latin typeface="Helvetica" pitchFamily="34" charset="0"/>
              </a:rPr>
              <a:t>When preparing to clean a floor using a wet method is to ensure the floor area to be cleaned is free from any furniture or other objects</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This may involve stacking tables and chairs to a side, or placing chairs on a table so the floor area is clear</a:t>
            </a:r>
          </a:p>
          <a:p>
            <a:pPr>
              <a:spcBef>
                <a:spcPts val="600"/>
              </a:spcBef>
              <a:spcAft>
                <a:spcPts val="1200"/>
              </a:spcAft>
            </a:pPr>
            <a:r>
              <a:rPr lang="en-AU" sz="2100" dirty="0" smtClean="0">
                <a:latin typeface="Helvetica" pitchFamily="34" charset="0"/>
              </a:rPr>
              <a:t>Normally this type of cleaning is done at night when there are less customers in the public areas such as the lobby or when specific outlets are closed, such as the pool area, gymnasium and restaurants</a:t>
            </a:r>
          </a:p>
          <a:p>
            <a:pPr>
              <a:spcBef>
                <a:spcPts val="600"/>
              </a:spcBef>
              <a:spcAft>
                <a:spcPts val="600"/>
              </a:spcAft>
              <a:buNone/>
            </a:pPr>
            <a:r>
              <a:rPr lang="en-AU" sz="2100" dirty="0" smtClean="0">
                <a:latin typeface="Helvetica" pitchFamily="34" charset="0"/>
              </a:rPr>
              <a:t/>
            </a:r>
            <a:br>
              <a:rPr lang="en-AU" sz="2100" dirty="0" smtClean="0">
                <a:latin typeface="Helvetica" pitchFamily="34" charset="0"/>
              </a:rPr>
            </a:b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8" name="Picture 7" descr="127_2798.JPG"/>
          <p:cNvPicPr>
            <a:picLocks noChangeAspect="1"/>
          </p:cNvPicPr>
          <p:nvPr/>
        </p:nvPicPr>
        <p:blipFill>
          <a:blip r:embed="rId3" cstate="print"/>
          <a:stretch>
            <a:fillRect/>
          </a:stretch>
        </p:blipFill>
        <p:spPr>
          <a:xfrm>
            <a:off x="6000760" y="4857760"/>
            <a:ext cx="1979712" cy="1484784"/>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wet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85860"/>
            <a:ext cx="7467600" cy="4824536"/>
          </a:xfrm>
        </p:spPr>
        <p:txBody>
          <a:bodyPr>
            <a:normAutofit/>
          </a:bodyPr>
          <a:lstStyle/>
          <a:p>
            <a:pPr marL="493776" lvl="0" indent="-457200">
              <a:lnSpc>
                <a:spcPct val="110000"/>
              </a:lnSpc>
              <a:spcAft>
                <a:spcPts val="600"/>
              </a:spcAft>
              <a:buNone/>
            </a:pPr>
            <a:r>
              <a:rPr lang="en-US" sz="2000" b="1" dirty="0" smtClean="0">
                <a:latin typeface="Helvetica" pitchFamily="34" charset="0"/>
              </a:rPr>
              <a:t>Mopping</a:t>
            </a:r>
          </a:p>
          <a:p>
            <a:pPr marL="493776" lvl="0" indent="-457200">
              <a:lnSpc>
                <a:spcPct val="110000"/>
              </a:lnSpc>
              <a:spcAft>
                <a:spcPts val="600"/>
              </a:spcAft>
              <a:buSzPct val="100000"/>
              <a:buFont typeface="+mj-lt"/>
              <a:buAutoNum type="arabicPeriod"/>
            </a:pPr>
            <a:r>
              <a:rPr lang="en-US" sz="2000" dirty="0" smtClean="0">
                <a:latin typeface="Helvetica" pitchFamily="34" charset="0"/>
              </a:rPr>
              <a:t>Remove everything that may be on the floor such as mats, trash cans, and small pieces of furniture</a:t>
            </a:r>
            <a:endParaRPr lang="en-AU" sz="2000" dirty="0" smtClean="0">
              <a:latin typeface="Helvetica" pitchFamily="34" charset="0"/>
            </a:endParaRPr>
          </a:p>
          <a:p>
            <a:pPr marL="493776" lvl="0" indent="-457200">
              <a:lnSpc>
                <a:spcPct val="110000"/>
              </a:lnSpc>
              <a:spcAft>
                <a:spcPts val="600"/>
              </a:spcAft>
              <a:buSzPct val="100000"/>
              <a:buFont typeface="+mj-lt"/>
              <a:buAutoNum type="arabicPeriod"/>
            </a:pPr>
            <a:r>
              <a:rPr lang="en-US" sz="2000" dirty="0" smtClean="0">
                <a:latin typeface="Helvetica" pitchFamily="34" charset="0"/>
              </a:rPr>
              <a:t>Sweep the floor to remove dirt, hair, dust, and other debris</a:t>
            </a:r>
            <a:endParaRPr lang="en-AU" sz="2000" dirty="0" smtClean="0">
              <a:latin typeface="Helvetica" pitchFamily="34" charset="0"/>
            </a:endParaRPr>
          </a:p>
          <a:p>
            <a:pPr marL="493776" lvl="0" indent="-457200">
              <a:lnSpc>
                <a:spcPct val="110000"/>
              </a:lnSpc>
              <a:spcAft>
                <a:spcPts val="600"/>
              </a:spcAft>
              <a:buSzPct val="100000"/>
              <a:buFont typeface="+mj-lt"/>
              <a:buAutoNum type="arabicPeriod"/>
            </a:pPr>
            <a:r>
              <a:rPr lang="en-US" sz="2000" dirty="0" smtClean="0">
                <a:latin typeface="Helvetica" pitchFamily="34" charset="0"/>
              </a:rPr>
              <a:t>Dissolve detergent into warm water using the manufacturer's instructions for the correct water to detergent ratio</a:t>
            </a:r>
            <a:endParaRPr lang="en-AU" sz="2000" dirty="0" smtClean="0">
              <a:latin typeface="Helvetica" pitchFamily="34" charset="0"/>
            </a:endParaRPr>
          </a:p>
          <a:p>
            <a:pPr marL="493776" lvl="0" indent="-457200">
              <a:lnSpc>
                <a:spcPct val="110000"/>
              </a:lnSpc>
              <a:spcAft>
                <a:spcPts val="600"/>
              </a:spcAft>
              <a:buSzPct val="100000"/>
              <a:buFont typeface="+mj-lt"/>
              <a:buAutoNum type="arabicPeriod"/>
            </a:pPr>
            <a:r>
              <a:rPr lang="en-US" sz="2000" dirty="0" smtClean="0">
                <a:latin typeface="Helvetica" pitchFamily="34" charset="0"/>
              </a:rPr>
              <a:t>Pour the solution over the entire floor so that the solution can fill into the grout lines</a:t>
            </a:r>
            <a:endParaRPr lang="en-AU" sz="2000" dirty="0" smtClean="0">
              <a:latin typeface="Helvetica" pitchFamily="34" charset="0"/>
            </a:endParaRPr>
          </a:p>
          <a:p>
            <a:pPr marL="493776" lvl="0" indent="-457200">
              <a:lnSpc>
                <a:spcPct val="110000"/>
              </a:lnSpc>
              <a:spcAft>
                <a:spcPts val="600"/>
              </a:spcAft>
              <a:buSzPct val="100000"/>
              <a:buFont typeface="+mj-lt"/>
              <a:buAutoNum type="arabicPeriod"/>
            </a:pPr>
            <a:r>
              <a:rPr lang="en-US" sz="2000" dirty="0" smtClean="0">
                <a:latin typeface="Helvetica" pitchFamily="34" charset="0"/>
              </a:rPr>
              <a:t>Allow the solution to remain on the floor for                               15 to 20 minutes</a:t>
            </a:r>
            <a:endParaRPr lang="en-AU" sz="2000" dirty="0" smtClean="0">
              <a:latin typeface="Helvetica" pitchFamily="34" charset="0"/>
            </a:endParaRPr>
          </a:p>
          <a:p>
            <a:pPr marL="493776" lvl="0" indent="-457200">
              <a:lnSpc>
                <a:spcPct val="110000"/>
              </a:lnSpc>
              <a:spcAft>
                <a:spcPts val="600"/>
              </a:spcAft>
              <a:buSzPct val="100000"/>
              <a:buFont typeface="+mj-lt"/>
              <a:buAutoNum type="arabicPeriod"/>
            </a:pPr>
            <a:r>
              <a:rPr lang="en-US" sz="2000" dirty="0" smtClean="0">
                <a:latin typeface="Helvetica" pitchFamily="34" charset="0"/>
              </a:rPr>
              <a:t>Scrub the grout with a small medium-bristled brush</a:t>
            </a:r>
            <a:endParaRPr lang="en-AU" sz="2000" dirty="0" smtClean="0">
              <a:latin typeface="Helvetica" pitchFamily="34" charset="0"/>
            </a:endParaRPr>
          </a:p>
          <a:p>
            <a:pPr indent="-457200">
              <a:lnSpc>
                <a:spcPct val="110000"/>
              </a:lnSpc>
              <a:spcAft>
                <a:spcPts val="600"/>
              </a:spcAft>
            </a:pPr>
            <a:endParaRPr lang="en-AU" sz="2000" dirty="0" smtClean="0"/>
          </a:p>
          <a:p>
            <a:pPr indent="-457200">
              <a:lnSpc>
                <a:spcPct val="110000"/>
              </a:lnSpc>
              <a:spcAft>
                <a:spcPts val="600"/>
              </a:spcAft>
              <a:buNone/>
            </a:pPr>
            <a:endParaRPr lang="en-AU" sz="2000" dirty="0" smtClean="0"/>
          </a:p>
          <a:p>
            <a:pPr marL="0" indent="-457200">
              <a:lnSpc>
                <a:spcPct val="110000"/>
              </a:lnSpc>
              <a:spcBef>
                <a:spcPts val="600"/>
              </a:spcBef>
              <a:spcAft>
                <a:spcPts val="600"/>
              </a:spcAft>
              <a:buNone/>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descr="MP900383003[1].JPG"/>
          <p:cNvPicPr/>
          <p:nvPr/>
        </p:nvPicPr>
        <p:blipFill>
          <a:blip r:embed="rId3" cstate="print"/>
          <a:stretch>
            <a:fillRect/>
          </a:stretch>
        </p:blipFill>
        <p:spPr>
          <a:xfrm>
            <a:off x="7358082" y="4714884"/>
            <a:ext cx="1526855" cy="1090611"/>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Cleaning wet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493776" lvl="0" indent="-457200">
              <a:spcBef>
                <a:spcPts val="600"/>
              </a:spcBef>
              <a:spcAft>
                <a:spcPts val="1200"/>
              </a:spcAft>
              <a:buSzPct val="100000"/>
              <a:buFont typeface="+mj-lt"/>
              <a:buAutoNum type="arabicPeriod" startAt="7"/>
            </a:pPr>
            <a:r>
              <a:rPr lang="en-US" sz="2200" dirty="0" smtClean="0">
                <a:latin typeface="Helvetica" pitchFamily="34" charset="0"/>
              </a:rPr>
              <a:t>Rinse the floor with a mop dampened with clean water</a:t>
            </a:r>
            <a:endParaRPr lang="en-AU" sz="2200" dirty="0" smtClean="0">
              <a:latin typeface="Helvetica" pitchFamily="34" charset="0"/>
            </a:endParaRPr>
          </a:p>
          <a:p>
            <a:pPr marL="493776" lvl="0" indent="-457200">
              <a:spcBef>
                <a:spcPts val="600"/>
              </a:spcBef>
              <a:spcAft>
                <a:spcPts val="1200"/>
              </a:spcAft>
              <a:buSzPct val="100000"/>
              <a:buFont typeface="+mj-lt"/>
              <a:buAutoNum type="arabicPeriod" startAt="7"/>
            </a:pPr>
            <a:r>
              <a:rPr lang="en-US" sz="2200" dirty="0" smtClean="0">
                <a:latin typeface="Helvetica" pitchFamily="34" charset="0"/>
              </a:rPr>
              <a:t>Mix a second batch of detergent and water</a:t>
            </a:r>
            <a:endParaRPr lang="en-AU" sz="2200" dirty="0" smtClean="0">
              <a:latin typeface="Helvetica" pitchFamily="34" charset="0"/>
            </a:endParaRPr>
          </a:p>
          <a:p>
            <a:pPr marL="493776" lvl="0" indent="-457200">
              <a:spcBef>
                <a:spcPts val="600"/>
              </a:spcBef>
              <a:spcAft>
                <a:spcPts val="1200"/>
              </a:spcAft>
              <a:buSzPct val="100000"/>
              <a:buFont typeface="+mj-lt"/>
              <a:buAutoNum type="arabicPeriod" startAt="7"/>
            </a:pPr>
            <a:r>
              <a:rPr lang="en-US" sz="2200" dirty="0" smtClean="0">
                <a:latin typeface="Helvetica" pitchFamily="34" charset="0"/>
              </a:rPr>
              <a:t>Mop the entire floor with the fresh solution</a:t>
            </a:r>
            <a:endParaRPr lang="en-AU" sz="2200" dirty="0" smtClean="0">
              <a:latin typeface="Helvetica" pitchFamily="34" charset="0"/>
            </a:endParaRPr>
          </a:p>
          <a:p>
            <a:pPr marL="493776" lvl="0" indent="-457200">
              <a:spcBef>
                <a:spcPts val="600"/>
              </a:spcBef>
              <a:spcAft>
                <a:spcPts val="1200"/>
              </a:spcAft>
              <a:buSzPct val="100000"/>
              <a:buFont typeface="+mj-lt"/>
              <a:buAutoNum type="arabicPeriod" startAt="7"/>
            </a:pPr>
            <a:r>
              <a:rPr lang="en-US" sz="2200" dirty="0" smtClean="0">
                <a:latin typeface="Helvetica" pitchFamily="34" charset="0"/>
              </a:rPr>
              <a:t>Rinse the mop with clean water and mop a second time over the floor to rinse it</a:t>
            </a:r>
            <a:endParaRPr lang="en-AU" sz="2200" dirty="0" smtClean="0">
              <a:latin typeface="Helvetica" pitchFamily="34" charset="0"/>
            </a:endParaRPr>
          </a:p>
          <a:p>
            <a:pPr marL="493776" lvl="0" indent="-457200">
              <a:spcBef>
                <a:spcPts val="600"/>
              </a:spcBef>
              <a:spcAft>
                <a:spcPts val="1200"/>
              </a:spcAft>
              <a:buSzPct val="100000"/>
              <a:buFont typeface="+mj-lt"/>
              <a:buAutoNum type="arabicPeriod" startAt="7"/>
            </a:pPr>
            <a:r>
              <a:rPr lang="en-US" sz="2200" dirty="0" smtClean="0">
                <a:latin typeface="Helvetica" pitchFamily="34" charset="0"/>
              </a:rPr>
              <a:t>Use a squeegee to push residual                                  moisture to one area of the floor                                          before absorbing it with dry towels</a:t>
            </a:r>
            <a:endParaRPr lang="en-AU" sz="2200" dirty="0" smtClean="0">
              <a:latin typeface="Helvetica" pitchFamily="34" charset="0"/>
            </a:endParaRPr>
          </a:p>
          <a:p>
            <a:pPr>
              <a:buNone/>
            </a:pPr>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4" descr="MP900385501[1].JPG"/>
          <p:cNvPicPr>
            <a:picLocks noChangeAspect="1"/>
          </p:cNvPicPr>
          <p:nvPr/>
        </p:nvPicPr>
        <p:blipFill>
          <a:blip r:embed="rId3" cstate="print"/>
          <a:stretch>
            <a:fillRect/>
          </a:stretch>
        </p:blipFill>
        <p:spPr>
          <a:xfrm>
            <a:off x="6572264" y="3929066"/>
            <a:ext cx="1380757" cy="1933059"/>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100" dirty="0" smtClean="0">
                <a:latin typeface="Helvetica" pitchFamily="34" charset="0"/>
              </a:rPr>
              <a:t>At the completion of cleaning it is important to ensure the public area is left in a clean and tidy state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More importantly, the surfaces must be dry or safe for customers to use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If it absolutely essential that customers must use an area which contains a wet surface, adequate warning signs and barriers should be put into place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Once the follow is dry, all equipment and furniture should be returned to their original location and all ‘wet floor’ caution signs removed</a:t>
            </a:r>
            <a:endParaRPr lang="en-AU" sz="2100" b="1" dirty="0" smtClean="0">
              <a:latin typeface="Helvetica" pitchFamily="34" charset="0"/>
            </a:endParaRPr>
          </a:p>
          <a:p>
            <a:pPr>
              <a:buNone/>
            </a:pPr>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7" name="Picture 6" descr="http://www.pbp1.com/Property/DetailImage/SFS101-Detail-Property.gif"/>
          <p:cNvPicPr/>
          <p:nvPr/>
        </p:nvPicPr>
        <p:blipFill>
          <a:blip r:embed="rId3" cstate="print"/>
          <a:srcRect/>
          <a:stretch>
            <a:fillRect/>
          </a:stretch>
        </p:blipFill>
        <p:spPr bwMode="auto">
          <a:xfrm>
            <a:off x="7929586" y="2857496"/>
            <a:ext cx="1049660" cy="1468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Steps</a:t>
            </a:r>
          </a:p>
          <a:p>
            <a:pPr lvl="0">
              <a:spcBef>
                <a:spcPts val="600"/>
              </a:spcBef>
              <a:spcAft>
                <a:spcPts val="1200"/>
              </a:spcAft>
            </a:pPr>
            <a:r>
              <a:rPr lang="en-AU" sz="2100" dirty="0" smtClean="0">
                <a:latin typeface="Helvetica" pitchFamily="34" charset="0"/>
              </a:rPr>
              <a:t>Please place any used cloths in a suitable place for cleaning</a:t>
            </a:r>
            <a:endParaRPr lang="en-AU" sz="2100" b="1" dirty="0" smtClean="0">
              <a:latin typeface="Helvetica" pitchFamily="34" charset="0"/>
            </a:endParaRPr>
          </a:p>
          <a:p>
            <a:pPr lvl="0">
              <a:spcBef>
                <a:spcPts val="600"/>
              </a:spcBef>
              <a:spcAft>
                <a:spcPts val="1200"/>
              </a:spcAft>
            </a:pPr>
            <a:r>
              <a:rPr lang="en-AU" sz="2100" dirty="0" smtClean="0">
                <a:latin typeface="Helvetica" pitchFamily="34" charset="0"/>
              </a:rPr>
              <a:t>Please ensure all pieces of equipment has been </a:t>
            </a:r>
            <a:br>
              <a:rPr lang="en-AU" sz="2100" dirty="0" smtClean="0">
                <a:latin typeface="Helvetica" pitchFamily="34" charset="0"/>
              </a:rPr>
            </a:br>
            <a:r>
              <a:rPr lang="en-AU" sz="2100" dirty="0" smtClean="0">
                <a:latin typeface="Helvetica" pitchFamily="34" charset="0"/>
              </a:rPr>
              <a:t>cleaned out of all detergents, residual dirt and other </a:t>
            </a:r>
            <a:br>
              <a:rPr lang="en-AU" sz="2100" dirty="0" smtClean="0">
                <a:latin typeface="Helvetica" pitchFamily="34" charset="0"/>
              </a:rPr>
            </a:br>
            <a:r>
              <a:rPr lang="en-AU" sz="2100" dirty="0" smtClean="0">
                <a:latin typeface="Helvetica" pitchFamily="34" charset="0"/>
              </a:rPr>
              <a:t>waste products, then placed back in a suitable                  location for further use</a:t>
            </a:r>
          </a:p>
          <a:p>
            <a:pPr lvl="0">
              <a:spcBef>
                <a:spcPts val="600"/>
              </a:spcBef>
              <a:spcAft>
                <a:spcPts val="1200"/>
              </a:spcAft>
            </a:pPr>
            <a:r>
              <a:rPr lang="en-AU" sz="2100" dirty="0" smtClean="0">
                <a:latin typeface="Helvetica" pitchFamily="34" charset="0"/>
              </a:rPr>
              <a:t>Place all chemicals and other substances                             used in a storage area out of reach of children</a:t>
            </a:r>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6" name="Picture 5" descr="MP900386468[1].JPG"/>
          <p:cNvPicPr>
            <a:picLocks noChangeAspect="1"/>
          </p:cNvPicPr>
          <p:nvPr/>
        </p:nvPicPr>
        <p:blipFill>
          <a:blip r:embed="rId3" cstate="print"/>
          <a:stretch>
            <a:fillRect/>
          </a:stretch>
        </p:blipFill>
        <p:spPr>
          <a:xfrm>
            <a:off x="7429520" y="3000372"/>
            <a:ext cx="1458642" cy="2044824"/>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6:</a:t>
            </a:r>
          </a:p>
          <a:p>
            <a:pPr marL="0">
              <a:buNone/>
            </a:pPr>
            <a:r>
              <a:rPr lang="en-AU" sz="4000" b="1" dirty="0" smtClean="0">
                <a:solidFill>
                  <a:srgbClr val="FF6600"/>
                </a:solidFill>
              </a:rPr>
              <a:t>Apply pressure washing techniques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6" name="Picture 5" descr="http://www.landscapersplus.com/images/pages/power-washing.jpg"/>
          <p:cNvPicPr/>
          <p:nvPr/>
        </p:nvPicPr>
        <p:blipFill>
          <a:blip r:embed="rId3" cstate="print"/>
          <a:srcRect/>
          <a:stretch>
            <a:fillRect/>
          </a:stretch>
        </p:blipFill>
        <p:spPr bwMode="auto">
          <a:xfrm>
            <a:off x="4214810" y="3571876"/>
            <a:ext cx="3001630" cy="19392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200" b="1" dirty="0" smtClean="0">
                <a:solidFill>
                  <a:srgbClr val="FF6600"/>
                </a:solidFill>
                <a:latin typeface="Helvetica" pitchFamily="34" charset="0"/>
              </a:rPr>
              <a:t>Apply wet area cleaning techniques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areas to be pressure washed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areas using pressure washer</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6" name="Picture 5" descr="http://media.merchantcircle.com/23836639/Heavy%20Duty%20Pressure%20Washing%20Equipment_medium.jpeg"/>
          <p:cNvPicPr/>
          <p:nvPr/>
        </p:nvPicPr>
        <p:blipFill>
          <a:blip r:embed="rId3" cstate="print"/>
          <a:srcRect/>
          <a:stretch>
            <a:fillRect/>
          </a:stretch>
        </p:blipFill>
        <p:spPr bwMode="auto">
          <a:xfrm>
            <a:off x="6215074" y="3571876"/>
            <a:ext cx="2351574" cy="17522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Wet area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What is pressure washing?</a:t>
            </a:r>
          </a:p>
          <a:p>
            <a:pPr marL="0">
              <a:spcBef>
                <a:spcPts val="600"/>
              </a:spcBef>
              <a:spcAft>
                <a:spcPts val="1200"/>
              </a:spcAft>
              <a:buNone/>
            </a:pPr>
            <a:r>
              <a:rPr lang="en-AU" sz="2100" dirty="0" smtClean="0">
                <a:latin typeface="Helvetica" pitchFamily="34" charset="0"/>
              </a:rPr>
              <a:t>Pressure washing has become a popular cleaning method as it is a:</a:t>
            </a:r>
          </a:p>
          <a:p>
            <a:pPr>
              <a:spcBef>
                <a:spcPts val="600"/>
              </a:spcBef>
              <a:spcAft>
                <a:spcPts val="1200"/>
              </a:spcAft>
            </a:pPr>
            <a:r>
              <a:rPr lang="en-AU" sz="2100" dirty="0" smtClean="0">
                <a:latin typeface="Helvetica" pitchFamily="34" charset="0"/>
              </a:rPr>
              <a:t>Quick process </a:t>
            </a:r>
          </a:p>
          <a:p>
            <a:pPr>
              <a:spcBef>
                <a:spcPts val="600"/>
              </a:spcBef>
              <a:spcAft>
                <a:spcPts val="1200"/>
              </a:spcAft>
            </a:pPr>
            <a:r>
              <a:rPr lang="en-AU" sz="2100" dirty="0" smtClean="0">
                <a:latin typeface="Helvetica" pitchFamily="34" charset="0"/>
              </a:rPr>
              <a:t>Effective method</a:t>
            </a:r>
          </a:p>
          <a:p>
            <a:pPr>
              <a:spcBef>
                <a:spcPts val="600"/>
              </a:spcBef>
              <a:spcAft>
                <a:spcPts val="1200"/>
              </a:spcAft>
            </a:pPr>
            <a:r>
              <a:rPr lang="en-AU" sz="2100" dirty="0" smtClean="0">
                <a:latin typeface="Helvetica" pitchFamily="34" charset="0"/>
              </a:rPr>
              <a:t>Relies on a machine to do the hard work of dirt removal, rather than the exertion of manual labour.</a:t>
            </a:r>
          </a:p>
          <a:p>
            <a:pPr marL="0">
              <a:spcBef>
                <a:spcPts val="600"/>
              </a:spcBef>
              <a:spcAft>
                <a:spcPts val="1200"/>
              </a:spcAft>
              <a:buNone/>
            </a:pPr>
            <a:r>
              <a:rPr lang="en-AU" sz="2100" dirty="0" smtClean="0">
                <a:latin typeface="Helvetica" pitchFamily="34" charset="0"/>
              </a:rPr>
              <a:t>With public areas closed for small periods of time, or not at all, in many hotel outlets, cleaning methods that are quick, effective and simple will always be a preferred option </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Machine</a:t>
            </a:r>
            <a:endParaRPr lang="en-AU" sz="2100" dirty="0" smtClean="0">
              <a:latin typeface="Helvetica" pitchFamily="34" charset="0"/>
            </a:endParaRPr>
          </a:p>
          <a:p>
            <a:pPr>
              <a:spcBef>
                <a:spcPts val="600"/>
              </a:spcBef>
              <a:spcAft>
                <a:spcPts val="1200"/>
              </a:spcAft>
              <a:buNone/>
            </a:pPr>
            <a:r>
              <a:rPr lang="en-AU" sz="2100" dirty="0" smtClean="0">
                <a:latin typeface="Helvetica" pitchFamily="34" charset="0"/>
              </a:rPr>
              <a:t>There are many types of equipment.</a:t>
            </a:r>
          </a:p>
          <a:p>
            <a:pPr>
              <a:spcBef>
                <a:spcPts val="600"/>
              </a:spcBef>
              <a:spcAft>
                <a:spcPts val="1200"/>
              </a:spcAft>
              <a:buNone/>
            </a:pPr>
            <a:r>
              <a:rPr lang="en-AU" sz="2100" b="1" dirty="0" smtClean="0">
                <a:latin typeface="Helvetica" pitchFamily="34" charset="0"/>
              </a:rPr>
              <a:t>Nozzles &amp; tips</a:t>
            </a:r>
            <a:endParaRPr lang="en-AU" sz="2100" dirty="0" smtClean="0">
              <a:latin typeface="Helvetica" pitchFamily="34" charset="0"/>
            </a:endParaRPr>
          </a:p>
          <a:p>
            <a:pPr marL="0">
              <a:spcBef>
                <a:spcPts val="600"/>
              </a:spcBef>
              <a:spcAft>
                <a:spcPts val="1200"/>
              </a:spcAft>
              <a:buNone/>
            </a:pPr>
            <a:r>
              <a:rPr lang="en-AU" sz="2100" dirty="0" smtClean="0">
                <a:latin typeface="Helvetica" pitchFamily="34" charset="0"/>
              </a:rPr>
              <a:t>Most pressure cleaning machines will come with interchangeable spray tips that serve two purposes:</a:t>
            </a:r>
          </a:p>
          <a:p>
            <a:pPr lvl="0">
              <a:spcBef>
                <a:spcPts val="600"/>
              </a:spcBef>
              <a:spcAft>
                <a:spcPts val="1200"/>
              </a:spcAft>
            </a:pPr>
            <a:r>
              <a:rPr lang="en-AU" sz="2100" dirty="0" smtClean="0">
                <a:latin typeface="Helvetica" pitchFamily="34" charset="0"/>
              </a:rPr>
              <a:t>To lower the pressure and draw the detergent</a:t>
            </a:r>
          </a:p>
          <a:p>
            <a:pPr lvl="0">
              <a:spcBef>
                <a:spcPts val="600"/>
              </a:spcBef>
              <a:spcAft>
                <a:spcPts val="1200"/>
              </a:spcAft>
            </a:pPr>
            <a:r>
              <a:rPr lang="en-AU" sz="2100" dirty="0" smtClean="0">
                <a:latin typeface="Helvetica" pitchFamily="34" charset="0"/>
              </a:rPr>
              <a:t>Deliver a high pressure rinse at the different                      spray angles</a:t>
            </a: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6" name="Picture 5" descr="Karcher X Series 1600 PSI (Electric-Cold Water) Pressure Washer">
            <a:hlinkClick r:id="rId3" tooltip="&quot;Enlarge the Karcher X Series 1600 PSI (Electric-Cold Water) Pressure Washer&quot;"/>
          </p:cNvPr>
          <p:cNvPicPr/>
          <p:nvPr/>
        </p:nvPicPr>
        <p:blipFill>
          <a:blip r:embed="rId4" cstate="print"/>
          <a:srcRect/>
          <a:stretch>
            <a:fillRect/>
          </a:stretch>
        </p:blipFill>
        <p:spPr bwMode="auto">
          <a:xfrm>
            <a:off x="6143636" y="1214422"/>
            <a:ext cx="1581150" cy="1581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cleaning agents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In essence a pressure cleaning machine will use:</a:t>
            </a:r>
          </a:p>
          <a:p>
            <a:pPr>
              <a:spcBef>
                <a:spcPts val="600"/>
              </a:spcBef>
              <a:spcAft>
                <a:spcPts val="1200"/>
              </a:spcAft>
            </a:pPr>
            <a:r>
              <a:rPr lang="en-AU" sz="2200" dirty="0" smtClean="0">
                <a:latin typeface="Helvetica" pitchFamily="34" charset="0"/>
              </a:rPr>
              <a:t>A mixture of detergent and water to clean </a:t>
            </a:r>
          </a:p>
          <a:p>
            <a:pPr>
              <a:spcBef>
                <a:spcPts val="600"/>
              </a:spcBef>
              <a:spcAft>
                <a:spcPts val="1200"/>
              </a:spcAft>
            </a:pPr>
            <a:r>
              <a:rPr lang="en-AU" sz="2200" dirty="0" smtClean="0">
                <a:latin typeface="Helvetica" pitchFamily="34" charset="0"/>
              </a:rPr>
              <a:t>Water only to rinse</a:t>
            </a:r>
          </a:p>
          <a:p>
            <a:pPr>
              <a:spcBef>
                <a:spcPts val="600"/>
              </a:spcBef>
              <a:spcAft>
                <a:spcPts val="1200"/>
              </a:spcAft>
              <a:buNone/>
            </a:pPr>
            <a:r>
              <a:rPr lang="en-AU" sz="2200" dirty="0" smtClean="0">
                <a:latin typeface="Helvetica" pitchFamily="34" charset="0"/>
              </a:rPr>
              <a:t>Some other products used include:</a:t>
            </a:r>
          </a:p>
          <a:p>
            <a:pPr lvl="0">
              <a:spcBef>
                <a:spcPts val="600"/>
              </a:spcBef>
              <a:spcAft>
                <a:spcPts val="1200"/>
              </a:spcAft>
            </a:pPr>
            <a:r>
              <a:rPr lang="en-AU" sz="2200" dirty="0" smtClean="0">
                <a:latin typeface="Helvetica" pitchFamily="34" charset="0"/>
              </a:rPr>
              <a:t>Film removers</a:t>
            </a:r>
          </a:p>
          <a:p>
            <a:pPr lvl="0">
              <a:spcBef>
                <a:spcPts val="600"/>
              </a:spcBef>
              <a:spcAft>
                <a:spcPts val="1200"/>
              </a:spcAft>
            </a:pPr>
            <a:r>
              <a:rPr lang="en-AU" sz="2200" dirty="0" smtClean="0">
                <a:latin typeface="Helvetica" pitchFamily="34" charset="0"/>
              </a:rPr>
              <a:t>Degreasers</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7" name="Picture 6" descr="http://media.merchantcircle.com/23836639/Heavy%20Duty%20Pressure%20Washing%20Equipment_medium.jpeg"/>
          <p:cNvPicPr/>
          <p:nvPr/>
        </p:nvPicPr>
        <p:blipFill>
          <a:blip r:embed="rId3" cstate="print"/>
          <a:srcRect/>
          <a:stretch>
            <a:fillRect/>
          </a:stretch>
        </p:blipFill>
        <p:spPr bwMode="auto">
          <a:xfrm>
            <a:off x="6000760" y="3000372"/>
            <a:ext cx="2351574" cy="17522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100" dirty="0" smtClean="0">
                <a:latin typeface="Helvetica" pitchFamily="34" charset="0"/>
              </a:rPr>
              <a:t>When preparing work area using pressure cleaning the main thing to consider is what you are going to clean</a:t>
            </a:r>
          </a:p>
          <a:p>
            <a:pPr>
              <a:spcBef>
                <a:spcPts val="600"/>
              </a:spcBef>
              <a:spcAft>
                <a:spcPts val="1200"/>
              </a:spcAft>
            </a:pPr>
            <a:r>
              <a:rPr lang="en-AU" sz="2100" dirty="0" smtClean="0">
                <a:latin typeface="Helvetica" pitchFamily="34" charset="0"/>
              </a:rPr>
              <a:t>Care needs to be taken when pressure cleaning around windows, flowers and garden vegetation, vents, eaves or light fixtures</a:t>
            </a:r>
          </a:p>
          <a:p>
            <a:pPr>
              <a:spcBef>
                <a:spcPts val="600"/>
              </a:spcBef>
              <a:spcAft>
                <a:spcPts val="1200"/>
              </a:spcAft>
            </a:pPr>
            <a:r>
              <a:rPr lang="en-AU" sz="2100" dirty="0" smtClean="0">
                <a:latin typeface="Helvetica" pitchFamily="34" charset="0"/>
              </a:rPr>
              <a:t>Check for any holes, dents and scratches on the frame of the window that can allow water to come inside a window or property</a:t>
            </a:r>
          </a:p>
          <a:p>
            <a:pPr>
              <a:spcBef>
                <a:spcPts val="600"/>
              </a:spcBef>
              <a:spcAft>
                <a:spcPts val="1200"/>
              </a:spcAft>
            </a:pPr>
            <a:r>
              <a:rPr lang="en-AU" sz="2100" dirty="0" smtClean="0">
                <a:latin typeface="Helvetica" pitchFamily="34" charset="0"/>
              </a:rPr>
              <a:t>Close doors and turn off electronic                          automatic doors</a:t>
            </a:r>
          </a:p>
          <a:p>
            <a:pPr>
              <a:spcBef>
                <a:spcPts val="600"/>
              </a:spcBef>
              <a:spcAft>
                <a:spcPts val="600"/>
              </a:spcAft>
              <a:buNone/>
            </a:pP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6" name="Picture 5" descr="http://i01.i.aliimg.com/img/pb/996/042/239/1269573994218_hz_fileserver3_440494.jpg"/>
          <p:cNvPicPr/>
          <p:nvPr/>
        </p:nvPicPr>
        <p:blipFill>
          <a:blip r:embed="rId3" cstate="print"/>
          <a:srcRect/>
          <a:stretch>
            <a:fillRect/>
          </a:stretch>
        </p:blipFill>
        <p:spPr bwMode="auto">
          <a:xfrm>
            <a:off x="6143636" y="4572008"/>
            <a:ext cx="1793225" cy="15891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Pressure cleaning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600"/>
              </a:spcAft>
              <a:buNone/>
            </a:pPr>
            <a:r>
              <a:rPr lang="en-AU" sz="2100" dirty="0" smtClean="0">
                <a:latin typeface="Helvetica" pitchFamily="34" charset="0"/>
              </a:rPr>
              <a:t>Cleaning steps using a pressure washing machine include:</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Place any safety equipment on including closed shoes, waterproof clothing and safety glasses</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Connect the machine to a water source</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Attach the nozzle or tip and ensure it is </a:t>
            </a:r>
            <a:br>
              <a:rPr lang="en-AU" sz="2100" dirty="0" smtClean="0">
                <a:latin typeface="Helvetica" pitchFamily="34" charset="0"/>
              </a:rPr>
            </a:br>
            <a:r>
              <a:rPr lang="en-AU" sz="2100" dirty="0" smtClean="0">
                <a:latin typeface="Helvetica" pitchFamily="34" charset="0"/>
              </a:rPr>
              <a:t>correctly attached</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Start the machine</a:t>
            </a:r>
            <a:endParaRPr lang="en-AU" sz="2100" b="1" dirty="0" smtClean="0">
              <a:latin typeface="Helvetica" pitchFamily="34" charset="0"/>
            </a:endParaRPr>
          </a:p>
          <a:p>
            <a:pPr lvl="0">
              <a:spcBef>
                <a:spcPts val="600"/>
              </a:spcBef>
              <a:spcAft>
                <a:spcPts val="600"/>
              </a:spcAft>
            </a:pPr>
            <a:r>
              <a:rPr lang="en-AU" sz="2100" dirty="0" smtClean="0">
                <a:latin typeface="Helvetica" pitchFamily="34" charset="0"/>
              </a:rPr>
              <a:t>Test the power of the pressure washer</a:t>
            </a:r>
          </a:p>
          <a:p>
            <a:pPr lvl="0">
              <a:spcBef>
                <a:spcPts val="600"/>
              </a:spcBef>
              <a:spcAft>
                <a:spcPts val="600"/>
              </a:spcAft>
            </a:pPr>
            <a:r>
              <a:rPr lang="en-AU" sz="2100" dirty="0" smtClean="0">
                <a:latin typeface="Helvetica" pitchFamily="34" charset="0"/>
              </a:rPr>
              <a:t>Start spraying few feet away from any </a:t>
            </a:r>
            <a:br>
              <a:rPr lang="en-AU" sz="2100" dirty="0" smtClean="0">
                <a:latin typeface="Helvetica" pitchFamily="34" charset="0"/>
              </a:rPr>
            </a:br>
            <a:r>
              <a:rPr lang="en-AU" sz="2100" dirty="0" smtClean="0">
                <a:latin typeface="Helvetica" pitchFamily="34" charset="0"/>
              </a:rPr>
              <a:t>object</a:t>
            </a:r>
          </a:p>
          <a:p>
            <a:endParaRPr lang="en-AU" sz="2100" dirty="0" smtClean="0"/>
          </a:p>
          <a:p>
            <a:pPr>
              <a:buNone/>
            </a:pPr>
            <a:endParaRPr lang="en-AU" sz="2100" dirty="0" smtClean="0"/>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6" name="Picture 5" descr="http://www.landscapersplus.com/images/pages/power-washing.jpg"/>
          <p:cNvPicPr/>
          <p:nvPr/>
        </p:nvPicPr>
        <p:blipFill>
          <a:blip r:embed="rId3" cstate="print"/>
          <a:srcRect/>
          <a:stretch>
            <a:fillRect/>
          </a:stretch>
        </p:blipFill>
        <p:spPr bwMode="auto">
          <a:xfrm>
            <a:off x="6357950" y="3143248"/>
            <a:ext cx="2071702" cy="13144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Pressure cleaning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spcAft>
                <a:spcPts val="600"/>
              </a:spcAft>
            </a:pPr>
            <a:r>
              <a:rPr lang="en-AU" sz="2100" dirty="0" smtClean="0">
                <a:latin typeface="Helvetica" pitchFamily="34" charset="0"/>
              </a:rPr>
              <a:t>Slowly bring your wand to 3-4 feet distance from the surface you want to clean</a:t>
            </a:r>
          </a:p>
          <a:p>
            <a:pPr lvl="0">
              <a:spcAft>
                <a:spcPts val="600"/>
              </a:spcAft>
            </a:pPr>
            <a:r>
              <a:rPr lang="en-AU" sz="2100" dirty="0" smtClean="0">
                <a:latin typeface="Helvetica" pitchFamily="34" charset="0"/>
              </a:rPr>
              <a:t>Move your wand side-to-side a couple of times and check if the surface is clean</a:t>
            </a:r>
          </a:p>
          <a:p>
            <a:pPr lvl="0">
              <a:spcAft>
                <a:spcPts val="600"/>
              </a:spcAft>
            </a:pPr>
            <a:r>
              <a:rPr lang="en-AU" sz="2100" dirty="0" smtClean="0">
                <a:latin typeface="Helvetica" pitchFamily="34" charset="0"/>
              </a:rPr>
              <a:t>If additional cleaning is needed, move your wand gradually closer to the surface</a:t>
            </a:r>
          </a:p>
          <a:p>
            <a:pPr lvl="0">
              <a:spcAft>
                <a:spcPts val="600"/>
              </a:spcAft>
            </a:pPr>
            <a:r>
              <a:rPr lang="en-AU" sz="2100" dirty="0" smtClean="0">
                <a:latin typeface="Helvetica" pitchFamily="34" charset="0"/>
              </a:rPr>
              <a:t>Start to clean using a side to side motion</a:t>
            </a:r>
          </a:p>
          <a:p>
            <a:pPr lvl="0">
              <a:spcAft>
                <a:spcPts val="600"/>
              </a:spcAft>
            </a:pPr>
            <a:r>
              <a:rPr lang="en-AU" sz="2100" dirty="0" smtClean="0">
                <a:latin typeface="Helvetica" pitchFamily="34" charset="0"/>
              </a:rPr>
              <a:t>Keep the nozzle low and start closer to the body and then move the cleaning action further away until you find the right blend of pressure to clean and accuracy</a:t>
            </a:r>
            <a:endParaRPr lang="en-AU" sz="2100" b="1" dirty="0" smtClean="0">
              <a:latin typeface="Helvetica" pitchFamily="34" charset="0"/>
            </a:endParaRPr>
          </a:p>
          <a:p>
            <a:pPr lvl="0">
              <a:spcAft>
                <a:spcPts val="600"/>
              </a:spcAft>
            </a:pPr>
            <a:r>
              <a:rPr lang="en-AU" sz="2100" dirty="0" smtClean="0">
                <a:latin typeface="Helvetica" pitchFamily="34" charset="0"/>
              </a:rPr>
              <a:t>When washing walls start from the bottom and move up </a:t>
            </a:r>
            <a:endParaRPr lang="en-AU" sz="2100" b="1" dirty="0" smtClean="0">
              <a:latin typeface="Helvetica" pitchFamily="34" charset="0"/>
            </a:endParaRPr>
          </a:p>
          <a:p>
            <a:pPr>
              <a:spcAft>
                <a:spcPts val="600"/>
              </a:spcAft>
            </a:pPr>
            <a:endParaRPr lang="en-AU" sz="2100" dirty="0" smtClean="0"/>
          </a:p>
          <a:p>
            <a:pPr>
              <a:spcAft>
                <a:spcPts val="600"/>
              </a:spcAft>
              <a:buNone/>
            </a:pPr>
            <a:endParaRPr lang="en-AU" sz="2100" dirty="0" smtClean="0"/>
          </a:p>
          <a:p>
            <a:pPr marL="0">
              <a:spcBef>
                <a:spcPts val="600"/>
              </a:spcBef>
              <a:spcAft>
                <a:spcPts val="6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Pressure cleaning steps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lvl="0">
              <a:spcAft>
                <a:spcPts val="600"/>
              </a:spcAft>
            </a:pPr>
            <a:r>
              <a:rPr lang="en-AU" sz="2100" dirty="0" smtClean="0">
                <a:latin typeface="Helvetica" pitchFamily="34" charset="0"/>
              </a:rPr>
              <a:t>If you are to clean windows, clean from the side</a:t>
            </a:r>
          </a:p>
          <a:p>
            <a:pPr lvl="0">
              <a:spcAft>
                <a:spcPts val="600"/>
              </a:spcAft>
            </a:pPr>
            <a:r>
              <a:rPr lang="en-AU" sz="2100" dirty="0" smtClean="0">
                <a:latin typeface="Helvetica" pitchFamily="34" charset="0"/>
              </a:rPr>
              <a:t>Do not apply a direct ‘face-on’ contact. Check to ensure that water is not leaking inside</a:t>
            </a:r>
            <a:endParaRPr lang="en-AU" sz="2100" b="1" dirty="0" smtClean="0">
              <a:latin typeface="Helvetica" pitchFamily="34" charset="0"/>
            </a:endParaRPr>
          </a:p>
          <a:p>
            <a:pPr lvl="0">
              <a:spcAft>
                <a:spcPts val="600"/>
              </a:spcAft>
            </a:pPr>
            <a:r>
              <a:rPr lang="en-AU" sz="2100" dirty="0" smtClean="0">
                <a:latin typeface="Helvetica" pitchFamily="34" charset="0"/>
              </a:rPr>
              <a:t>When cleaning the ground, start at lower areas  and work your up </a:t>
            </a:r>
            <a:endParaRPr lang="en-AU" sz="2100" b="1" dirty="0" smtClean="0">
              <a:latin typeface="Helvetica" pitchFamily="34" charset="0"/>
            </a:endParaRPr>
          </a:p>
          <a:p>
            <a:pPr lvl="0">
              <a:spcAft>
                <a:spcPts val="600"/>
              </a:spcAft>
            </a:pPr>
            <a:r>
              <a:rPr lang="en-AU" sz="2100" dirty="0" smtClean="0">
                <a:latin typeface="Helvetica" pitchFamily="34" charset="0"/>
              </a:rPr>
              <a:t>You may need to scrub areas that a pressure cleaner cannot remove stains</a:t>
            </a:r>
            <a:endParaRPr lang="en-AU" sz="2100" b="1" dirty="0" smtClean="0">
              <a:latin typeface="Helvetica" pitchFamily="34" charset="0"/>
            </a:endParaRPr>
          </a:p>
          <a:p>
            <a:pPr lvl="0">
              <a:spcAft>
                <a:spcPts val="600"/>
              </a:spcAft>
            </a:pPr>
            <a:r>
              <a:rPr lang="en-AU" sz="2100" dirty="0" smtClean="0">
                <a:latin typeface="Helvetica" pitchFamily="34" charset="0"/>
              </a:rPr>
              <a:t>Let the cleaning solution do its work for 20 minutes. This allows for the detergent to start dissolving the dirt, but do not let it sit too long so that it dries out </a:t>
            </a:r>
          </a:p>
          <a:p>
            <a:pPr lvl="0">
              <a:spcAft>
                <a:spcPts val="600"/>
              </a:spcAft>
            </a:pPr>
            <a:r>
              <a:rPr lang="en-AU" sz="2100" dirty="0" smtClean="0">
                <a:latin typeface="Helvetica" pitchFamily="34" charset="0"/>
              </a:rPr>
              <a:t>When ready to rinse start at the top and work towards the bottom until entire area is detergent free</a:t>
            </a:r>
          </a:p>
          <a:p>
            <a:pPr>
              <a:spcAft>
                <a:spcPts val="600"/>
              </a:spcAft>
            </a:pPr>
            <a:endParaRPr lang="en-AU" sz="2100" dirty="0" smtClean="0"/>
          </a:p>
          <a:p>
            <a:pPr>
              <a:spcAft>
                <a:spcPts val="600"/>
              </a:spcAft>
              <a:buNone/>
            </a:pPr>
            <a:endParaRPr lang="en-AU" sz="2100" dirty="0" smtClean="0"/>
          </a:p>
          <a:p>
            <a:pPr marL="0">
              <a:spcBef>
                <a:spcPts val="600"/>
              </a:spcBef>
              <a:spcAft>
                <a:spcPts val="6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100" dirty="0" smtClean="0">
                <a:latin typeface="Helvetica" pitchFamily="34" charset="0"/>
              </a:rPr>
              <a:t>At the completion of cleaning it is important to ensure the public area is left in a clean and tidy state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More importantly, the surfaces must be dry or safe for customers to use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If it absolutely essential that customers must use an area which contains a wet surface, adequate warning signs and barriers should be put into place</a:t>
            </a:r>
            <a:endParaRPr lang="en-AU" sz="2100" b="1" dirty="0" smtClean="0">
              <a:latin typeface="Helvetica" pitchFamily="34" charset="0"/>
            </a:endParaRPr>
          </a:p>
          <a:p>
            <a:pPr>
              <a:spcBef>
                <a:spcPts val="600"/>
              </a:spcBef>
              <a:spcAft>
                <a:spcPts val="1200"/>
              </a:spcAft>
            </a:pPr>
            <a:r>
              <a:rPr lang="en-AU" sz="2100" dirty="0" smtClean="0">
                <a:latin typeface="Helvetica" pitchFamily="34" charset="0"/>
              </a:rPr>
              <a:t>Once the follow is dry, all equipment and furniture should be returned to their original location and all ‘wet floor’ caution signs removed</a:t>
            </a:r>
            <a:endParaRPr lang="en-AU" sz="2100" b="1" dirty="0" smtClean="0">
              <a:latin typeface="Helvetica" pitchFamily="34" charset="0"/>
            </a:endParaRPr>
          </a:p>
          <a:p>
            <a:pPr>
              <a:buNone/>
            </a:pPr>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7" name="Picture 6" descr="http://www.pbp1.com/Property/DetailImage/SFS101-Detail-Property.gif"/>
          <p:cNvPicPr/>
          <p:nvPr/>
        </p:nvPicPr>
        <p:blipFill>
          <a:blip r:embed="rId3" cstate="print"/>
          <a:srcRect/>
          <a:stretch>
            <a:fillRect/>
          </a:stretch>
        </p:blipFill>
        <p:spPr bwMode="auto">
          <a:xfrm>
            <a:off x="7929586" y="4286256"/>
            <a:ext cx="1049660" cy="1468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a:t>
            </a:r>
          </a:p>
          <a:p>
            <a:pPr lvl="0">
              <a:spcBef>
                <a:spcPts val="600"/>
              </a:spcBef>
              <a:spcAft>
                <a:spcPts val="1200"/>
              </a:spcAft>
            </a:pPr>
            <a:r>
              <a:rPr lang="en-AU" sz="2200" dirty="0" smtClean="0">
                <a:latin typeface="Helvetica" pitchFamily="34" charset="0"/>
              </a:rPr>
              <a:t>Please ensure all pieces of equipment has been cleaned out of all detergents, residual dirt and other waste products, then placed back in a suitable                  location for further use</a:t>
            </a:r>
          </a:p>
          <a:p>
            <a:pPr lvl="0">
              <a:spcBef>
                <a:spcPts val="600"/>
              </a:spcBef>
              <a:spcAft>
                <a:spcPts val="1200"/>
              </a:spcAft>
            </a:pPr>
            <a:r>
              <a:rPr lang="en-AU" sz="2200" dirty="0" smtClean="0">
                <a:latin typeface="Helvetica" pitchFamily="34" charset="0"/>
              </a:rPr>
              <a:t>Place all chemicals and other substances                             used in a storage area out of reach of children</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7" name="Picture 6" descr="Karcher X Series 1600 PSI (Electric-Cold Water) Pressure Washer">
            <a:hlinkClick r:id="rId3" tooltip="&quot;Enlarge the Karcher X Series 1600 PSI (Electric-Cold Water) Pressure Washer&quot;"/>
          </p:cNvPr>
          <p:cNvPicPr/>
          <p:nvPr/>
        </p:nvPicPr>
        <p:blipFill>
          <a:blip r:embed="rId4" cstate="print"/>
          <a:srcRect/>
          <a:stretch>
            <a:fillRect/>
          </a:stretch>
        </p:blipFill>
        <p:spPr bwMode="auto">
          <a:xfrm>
            <a:off x="3786182" y="4714884"/>
            <a:ext cx="1581150" cy="1581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7:</a:t>
            </a:r>
          </a:p>
          <a:p>
            <a:pPr marL="0">
              <a:buNone/>
            </a:pPr>
            <a:r>
              <a:rPr lang="en-AU" sz="4000" b="1" dirty="0" smtClean="0">
                <a:solidFill>
                  <a:srgbClr val="FF6600"/>
                </a:solidFill>
              </a:rPr>
              <a:t>Apply high level cleaning techniques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7" name="Picture 6" descr="ladder1.jpg"/>
          <p:cNvPicPr>
            <a:picLocks noChangeAspect="1"/>
          </p:cNvPicPr>
          <p:nvPr/>
        </p:nvPicPr>
        <p:blipFill>
          <a:blip r:embed="rId3" cstate="print"/>
          <a:stretch>
            <a:fillRect/>
          </a:stretch>
        </p:blipFill>
        <p:spPr>
          <a:xfrm>
            <a:off x="4786314" y="3429000"/>
            <a:ext cx="2192288" cy="2192288"/>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200" b="1" dirty="0" smtClean="0">
                <a:solidFill>
                  <a:srgbClr val="FF6600"/>
                </a:solidFill>
                <a:latin typeface="Helvetica" pitchFamily="34" charset="0"/>
              </a:rPr>
              <a:t>Apply wet area cleaning techniques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Assess high level areas to be cleaned</a:t>
            </a:r>
          </a:p>
          <a:p>
            <a:pPr>
              <a:spcBef>
                <a:spcPts val="600"/>
              </a:spcBef>
              <a:spcAft>
                <a:spcPts val="1200"/>
              </a:spcAft>
            </a:pPr>
            <a:r>
              <a:rPr lang="en-AU" sz="2200" dirty="0" smtClean="0">
                <a:latin typeface="Helvetica" pitchFamily="34" charset="0"/>
              </a:rPr>
              <a:t>Select appropriate equipment and chemicals</a:t>
            </a:r>
          </a:p>
          <a:p>
            <a:pPr>
              <a:spcBef>
                <a:spcPts val="600"/>
              </a:spcBef>
              <a:spcAft>
                <a:spcPts val="1200"/>
              </a:spcAft>
            </a:pPr>
            <a:r>
              <a:rPr lang="en-AU" sz="2200" dirty="0" smtClean="0">
                <a:latin typeface="Helvetica" pitchFamily="34" charset="0"/>
              </a:rPr>
              <a:t>Prepare work site</a:t>
            </a:r>
          </a:p>
          <a:p>
            <a:pPr>
              <a:spcBef>
                <a:spcPts val="600"/>
              </a:spcBef>
              <a:spcAft>
                <a:spcPts val="1200"/>
              </a:spcAft>
            </a:pPr>
            <a:r>
              <a:rPr lang="en-AU" sz="2200" dirty="0" smtClean="0">
                <a:latin typeface="Helvetica" pitchFamily="34" charset="0"/>
              </a:rPr>
              <a:t>Clean high level areas</a:t>
            </a:r>
          </a:p>
          <a:p>
            <a:pPr>
              <a:spcBef>
                <a:spcPts val="600"/>
              </a:spcBef>
              <a:spcAft>
                <a:spcPts val="1200"/>
              </a:spcAft>
            </a:pPr>
            <a:r>
              <a:rPr lang="en-AU" sz="2200" dirty="0" smtClean="0">
                <a:latin typeface="Helvetica" pitchFamily="34" charset="0"/>
              </a:rPr>
              <a:t>Tidy work site</a:t>
            </a:r>
          </a:p>
          <a:p>
            <a:pPr>
              <a:spcBef>
                <a:spcPts val="600"/>
              </a:spcBef>
              <a:spcAft>
                <a:spcPts val="1200"/>
              </a:spcAft>
            </a:pPr>
            <a:r>
              <a:rPr lang="en-AU" sz="2200" dirty="0" smtClean="0">
                <a:latin typeface="Helvetica" pitchFamily="34" charset="0"/>
              </a:rPr>
              <a:t>Clean, check and store equipment                                     and chemicals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7" name="Picture 6" descr="high-ceiling-restaurant.jpg"/>
          <p:cNvPicPr>
            <a:picLocks noChangeAspect="1"/>
          </p:cNvPicPr>
          <p:nvPr/>
        </p:nvPicPr>
        <p:blipFill>
          <a:blip r:embed="rId3" cstate="print"/>
          <a:stretch>
            <a:fillRect/>
          </a:stretch>
        </p:blipFill>
        <p:spPr>
          <a:xfrm>
            <a:off x="6215074" y="3429000"/>
            <a:ext cx="1518852" cy="2132856"/>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High level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What is high level cleaning?</a:t>
            </a:r>
          </a:p>
          <a:p>
            <a:pPr>
              <a:spcBef>
                <a:spcPts val="600"/>
              </a:spcBef>
              <a:spcAft>
                <a:spcPts val="1200"/>
              </a:spcAft>
            </a:pPr>
            <a:r>
              <a:rPr lang="en-AU" sz="2100" dirty="0" smtClean="0">
                <a:latin typeface="Helvetica" pitchFamily="34" charset="0"/>
              </a:rPr>
              <a:t>As the title suggest high level cleaning is cleaning of items which are ‘at a high level’ above the ground</a:t>
            </a:r>
          </a:p>
          <a:p>
            <a:pPr>
              <a:spcBef>
                <a:spcPts val="600"/>
              </a:spcBef>
              <a:spcAft>
                <a:spcPts val="1200"/>
              </a:spcAft>
            </a:pPr>
            <a:r>
              <a:rPr lang="en-AU" sz="2100" dirty="0" smtClean="0">
                <a:latin typeface="Helvetica" pitchFamily="34" charset="0"/>
              </a:rPr>
              <a:t>High level cleaning is more difficult that other types of cleaning identified to date and in most cases requires the use of specialised staff to perform these cleaning duties</a:t>
            </a:r>
          </a:p>
          <a:p>
            <a:pPr marL="0">
              <a:spcBef>
                <a:spcPts val="600"/>
              </a:spcBef>
              <a:spcAft>
                <a:spcPts val="1200"/>
              </a:spcAft>
              <a:buNone/>
            </a:pPr>
            <a:endParaRPr lang="en-AU" sz="2100" dirty="0" smtClean="0">
              <a:latin typeface="Helvetica" pitchFamily="34" charset="0"/>
            </a:endParaRPr>
          </a:p>
          <a:p>
            <a:pPr>
              <a:spcBef>
                <a:spcPts val="600"/>
              </a:spcBef>
              <a:spcAft>
                <a:spcPts val="1200"/>
              </a:spcAft>
              <a:buNone/>
            </a:pPr>
            <a:endParaRPr lang="en-AU" sz="2100" dirty="0" smtClean="0">
              <a:latin typeface="Helvetica" pitchFamily="34" charset="0"/>
            </a:endParaRPr>
          </a:p>
          <a:p>
            <a:endParaRPr lang="en-AU" sz="2100" b="1" dirty="0" smtClean="0"/>
          </a:p>
          <a:p>
            <a:endParaRPr lang="en-AU" sz="2100" b="1" dirty="0" smtClean="0"/>
          </a:p>
          <a:p>
            <a:endParaRPr lang="en-AU" sz="2100" b="1" dirty="0" smtClean="0"/>
          </a:p>
          <a:p>
            <a:endParaRPr lang="en-US" sz="2100" dirty="0" smtClean="0"/>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5" name="Picture 4" descr="115.jpg"/>
          <p:cNvPicPr>
            <a:picLocks noChangeAspect="1"/>
          </p:cNvPicPr>
          <p:nvPr/>
        </p:nvPicPr>
        <p:blipFill>
          <a:blip r:embed="rId3" cstate="print"/>
          <a:stretch>
            <a:fillRect/>
          </a:stretch>
        </p:blipFill>
        <p:spPr>
          <a:xfrm>
            <a:off x="3592557" y="4214818"/>
            <a:ext cx="1958886" cy="2362001"/>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600" b="1" dirty="0" smtClean="0">
                <a:solidFill>
                  <a:srgbClr val="FF6600"/>
                </a:solidFill>
                <a:latin typeface="Helvetica" pitchFamily="34" charset="0"/>
              </a:rPr>
              <a:t>High level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100" b="1" dirty="0" smtClean="0">
                <a:latin typeface="Helvetica" pitchFamily="34" charset="0"/>
              </a:rPr>
              <a:t>Types of high level cleaning</a:t>
            </a:r>
          </a:p>
          <a:p>
            <a:pPr lvl="0">
              <a:spcBef>
                <a:spcPts val="600"/>
              </a:spcBef>
              <a:spcAft>
                <a:spcPts val="1200"/>
              </a:spcAft>
            </a:pPr>
            <a:r>
              <a:rPr lang="en-AU" sz="2100" dirty="0" smtClean="0">
                <a:latin typeface="Helvetica" pitchFamily="34" charset="0"/>
              </a:rPr>
              <a:t>High level lights and chandeliers</a:t>
            </a:r>
          </a:p>
          <a:p>
            <a:pPr lvl="0">
              <a:spcBef>
                <a:spcPts val="600"/>
              </a:spcBef>
              <a:spcAft>
                <a:spcPts val="1200"/>
              </a:spcAft>
            </a:pPr>
            <a:r>
              <a:rPr lang="en-AU" sz="2100" dirty="0" smtClean="0">
                <a:latin typeface="Helvetica" pitchFamily="34" charset="0"/>
              </a:rPr>
              <a:t>High ceilings and ceiling beams</a:t>
            </a:r>
          </a:p>
          <a:p>
            <a:pPr lvl="0">
              <a:spcBef>
                <a:spcPts val="600"/>
              </a:spcBef>
              <a:spcAft>
                <a:spcPts val="1200"/>
              </a:spcAft>
            </a:pPr>
            <a:r>
              <a:rPr lang="en-AU" sz="2100" dirty="0" smtClean="0">
                <a:latin typeface="Helvetica" pitchFamily="34" charset="0"/>
              </a:rPr>
              <a:t>High exhaust extraction fans in kitchens</a:t>
            </a:r>
          </a:p>
          <a:p>
            <a:pPr lvl="0">
              <a:spcBef>
                <a:spcPts val="600"/>
              </a:spcBef>
              <a:spcAft>
                <a:spcPts val="1200"/>
              </a:spcAft>
            </a:pPr>
            <a:r>
              <a:rPr lang="en-AU" sz="2100" dirty="0" smtClean="0">
                <a:latin typeface="Helvetica" pitchFamily="34" charset="0"/>
              </a:rPr>
              <a:t>Cleaning external windows on high rise hotels </a:t>
            </a:r>
          </a:p>
          <a:p>
            <a:pPr lvl="0">
              <a:spcBef>
                <a:spcPts val="600"/>
              </a:spcBef>
              <a:spcAft>
                <a:spcPts val="1200"/>
              </a:spcAft>
            </a:pPr>
            <a:r>
              <a:rPr lang="en-AU" sz="2100" dirty="0" smtClean="0">
                <a:latin typeface="Helvetica" pitchFamily="34" charset="0"/>
              </a:rPr>
              <a:t>Skylights</a:t>
            </a:r>
          </a:p>
          <a:p>
            <a:pPr lvl="0">
              <a:spcBef>
                <a:spcPts val="600"/>
              </a:spcBef>
              <a:spcAft>
                <a:spcPts val="1200"/>
              </a:spcAft>
            </a:pPr>
            <a:r>
              <a:rPr lang="en-AU" sz="2100" dirty="0" smtClean="0">
                <a:latin typeface="Helvetica" pitchFamily="34" charset="0"/>
              </a:rPr>
              <a:t>Sculptures</a:t>
            </a:r>
          </a:p>
          <a:p>
            <a:pPr lvl="0">
              <a:spcBef>
                <a:spcPts val="600"/>
              </a:spcBef>
              <a:spcAft>
                <a:spcPts val="1200"/>
              </a:spcAft>
            </a:pPr>
            <a:r>
              <a:rPr lang="en-AU" sz="2100" dirty="0" smtClean="0">
                <a:latin typeface="Helvetica" pitchFamily="34" charset="0"/>
              </a:rPr>
              <a:t>Foyer glass</a:t>
            </a:r>
          </a:p>
          <a:p>
            <a:pPr lvl="0">
              <a:spcBef>
                <a:spcPts val="600"/>
              </a:spcBef>
              <a:spcAft>
                <a:spcPts val="1200"/>
              </a:spcAft>
            </a:pPr>
            <a:r>
              <a:rPr lang="en-AU" sz="2100" dirty="0" smtClean="0">
                <a:latin typeface="Helvetica" pitchFamily="34" charset="0"/>
              </a:rPr>
              <a:t>Signs and banners</a:t>
            </a:r>
            <a:endParaRPr lang="en-US" sz="2100" dirty="0" smtClean="0">
              <a:latin typeface="Helvetica" pitchFamily="34" charset="0"/>
            </a:endParaRPr>
          </a:p>
          <a:p>
            <a:pPr>
              <a:buNone/>
            </a:pPr>
            <a:endParaRPr lang="en-AU" sz="2100" dirty="0" smtClean="0"/>
          </a:p>
          <a:p>
            <a:pPr lvl="0">
              <a:spcBef>
                <a:spcPts val="600"/>
              </a:spcBef>
              <a:spcAft>
                <a:spcPts val="1200"/>
              </a:spcAft>
              <a:buNone/>
            </a:pPr>
            <a:endParaRPr lang="en-AU" sz="2100" dirty="0" smtClean="0">
              <a:latin typeface="Helvetica" pitchFamily="34" charset="0"/>
            </a:endParaRPr>
          </a:p>
          <a:p>
            <a:pPr lvl="0"/>
            <a:endParaRPr lang="en-AU" sz="2100" dirty="0" smtClean="0"/>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6" name="Picture 5" descr="http://spacehaggis.com/wp-content/uploads/2010/04/crystal-chandeliers-2.jpg"/>
          <p:cNvPicPr/>
          <p:nvPr/>
        </p:nvPicPr>
        <p:blipFill>
          <a:blip r:embed="rId3" cstate="print"/>
          <a:srcRect/>
          <a:stretch>
            <a:fillRect/>
          </a:stretch>
        </p:blipFill>
        <p:spPr bwMode="auto">
          <a:xfrm>
            <a:off x="6215074" y="1571612"/>
            <a:ext cx="1752600" cy="1895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Select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If the job is to be performed by a staff member, common equipment includes:</a:t>
            </a:r>
          </a:p>
          <a:p>
            <a:pPr lvl="0">
              <a:spcBef>
                <a:spcPts val="600"/>
              </a:spcBef>
              <a:spcAft>
                <a:spcPts val="1200"/>
              </a:spcAft>
            </a:pPr>
            <a:r>
              <a:rPr lang="en-AU" sz="2200" dirty="0" smtClean="0">
                <a:latin typeface="Helvetica" pitchFamily="34" charset="0"/>
              </a:rPr>
              <a:t>Ladders </a:t>
            </a:r>
          </a:p>
          <a:p>
            <a:pPr lvl="0">
              <a:spcBef>
                <a:spcPts val="600"/>
              </a:spcBef>
              <a:spcAft>
                <a:spcPts val="1200"/>
              </a:spcAft>
            </a:pPr>
            <a:r>
              <a:rPr lang="en-AU" sz="2200" dirty="0" smtClean="0">
                <a:latin typeface="Helvetica" pitchFamily="34" charset="0"/>
              </a:rPr>
              <a:t>Safety ropes</a:t>
            </a:r>
          </a:p>
          <a:p>
            <a:pPr lvl="0">
              <a:spcBef>
                <a:spcPts val="600"/>
              </a:spcBef>
              <a:spcAft>
                <a:spcPts val="1200"/>
              </a:spcAft>
            </a:pPr>
            <a:r>
              <a:rPr lang="en-AU" sz="2200" dirty="0" smtClean="0">
                <a:latin typeface="Helvetica" pitchFamily="34" charset="0"/>
              </a:rPr>
              <a:t>Extension poles</a:t>
            </a:r>
          </a:p>
          <a:p>
            <a:pPr lvl="0">
              <a:spcBef>
                <a:spcPts val="600"/>
              </a:spcBef>
              <a:spcAft>
                <a:spcPts val="1200"/>
              </a:spcAft>
            </a:pPr>
            <a:r>
              <a:rPr lang="en-AU" sz="2200" dirty="0" smtClean="0">
                <a:latin typeface="Helvetica" pitchFamily="34" charset="0"/>
              </a:rPr>
              <a:t>High pressure cleaning equipment</a:t>
            </a:r>
          </a:p>
          <a:p>
            <a:pPr lvl="0">
              <a:spcBef>
                <a:spcPts val="600"/>
              </a:spcBef>
              <a:spcAft>
                <a:spcPts val="1200"/>
              </a:spcAft>
            </a:pPr>
            <a:r>
              <a:rPr lang="en-AU" sz="2200" dirty="0" smtClean="0">
                <a:latin typeface="Helvetica" pitchFamily="34" charset="0"/>
              </a:rPr>
              <a:t>Cranes – this normally requires                              specialised staff to operate</a:t>
            </a: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7" name="Picture 6" descr="http://blog.fieldid.com/wp-content/uploads/ladder-safety.jpg"/>
          <p:cNvPicPr/>
          <p:nvPr/>
        </p:nvPicPr>
        <p:blipFill>
          <a:blip r:embed="rId3" cstate="print"/>
          <a:srcRect/>
          <a:stretch>
            <a:fillRect/>
          </a:stretch>
        </p:blipFill>
        <p:spPr bwMode="auto">
          <a:xfrm>
            <a:off x="5786446" y="2714620"/>
            <a:ext cx="2221979" cy="22642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The most important aspect is ensuring that equipment used to raise you to a certain height is safe, grounded and placed on a secure and level ground</a:t>
            </a:r>
          </a:p>
          <a:p>
            <a:pPr>
              <a:spcBef>
                <a:spcPts val="600"/>
              </a:spcBef>
              <a:spcAft>
                <a:spcPts val="1200"/>
              </a:spcAft>
            </a:pPr>
            <a:r>
              <a:rPr lang="en-AU" sz="2200" dirty="0" smtClean="0">
                <a:latin typeface="Helvetica" pitchFamily="34" charset="0"/>
              </a:rPr>
              <a:t>You need to prepare any equipment and cleaning materials in a manner that allows for each access when you are ‘at height’</a:t>
            </a:r>
          </a:p>
          <a:p>
            <a:pPr>
              <a:spcBef>
                <a:spcPts val="600"/>
              </a:spcBef>
              <a:spcAft>
                <a:spcPts val="600"/>
              </a:spcAft>
              <a:buNone/>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7" name="Picture 6" descr="http://blog.fieldid.com/wp-content/uploads/ladder-safety.jpg"/>
          <p:cNvPicPr/>
          <p:nvPr/>
        </p:nvPicPr>
        <p:blipFill>
          <a:blip r:embed="rId3" cstate="print"/>
          <a:srcRect/>
          <a:stretch>
            <a:fillRect/>
          </a:stretch>
        </p:blipFill>
        <p:spPr bwMode="auto">
          <a:xfrm>
            <a:off x="5143504" y="3786190"/>
            <a:ext cx="1752592" cy="1785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This may require the use of a cleaning tool belt containing adequate cloths and cleaning agents</a:t>
            </a:r>
          </a:p>
          <a:p>
            <a:pPr>
              <a:spcBef>
                <a:spcPts val="600"/>
              </a:spcBef>
              <a:spcAft>
                <a:spcPts val="1200"/>
              </a:spcAft>
            </a:pPr>
            <a:r>
              <a:rPr lang="en-AU" sz="2200" dirty="0" smtClean="0">
                <a:latin typeface="Helvetica" pitchFamily="34" charset="0"/>
              </a:rPr>
              <a:t>You may also need to rope off the area so that customers and staff do not wander into the space and either come in contact with ladders or have items fall on them</a:t>
            </a:r>
          </a:p>
          <a:p>
            <a:pPr>
              <a:spcBef>
                <a:spcPts val="600"/>
              </a:spcBef>
              <a:spcAft>
                <a:spcPts val="600"/>
              </a:spcAft>
              <a:buNone/>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5" name="Picture 4" descr="sk5.jpg"/>
          <p:cNvPicPr>
            <a:picLocks noChangeAspect="1"/>
          </p:cNvPicPr>
          <p:nvPr/>
        </p:nvPicPr>
        <p:blipFill>
          <a:blip r:embed="rId3" cstate="print"/>
          <a:stretch>
            <a:fillRect/>
          </a:stretch>
        </p:blipFill>
        <p:spPr>
          <a:xfrm>
            <a:off x="3500430" y="4214818"/>
            <a:ext cx="2642921" cy="2146052"/>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400" dirty="0" smtClean="0"/>
              <a:t>It </a:t>
            </a:r>
            <a:r>
              <a:rPr lang="en-AU" sz="2200" dirty="0" smtClean="0">
                <a:latin typeface="Helvetica" pitchFamily="34" charset="0"/>
              </a:rPr>
              <a:t>is also wise to have another person with you to:</a:t>
            </a:r>
          </a:p>
          <a:p>
            <a:pPr lvl="0">
              <a:spcBef>
                <a:spcPts val="600"/>
              </a:spcBef>
              <a:spcAft>
                <a:spcPts val="1200"/>
              </a:spcAft>
            </a:pPr>
            <a:r>
              <a:rPr lang="en-AU" sz="2200" dirty="0" smtClean="0">
                <a:latin typeface="Helvetica" pitchFamily="34" charset="0"/>
              </a:rPr>
              <a:t>Support the ladder</a:t>
            </a:r>
          </a:p>
          <a:p>
            <a:pPr lvl="0">
              <a:spcBef>
                <a:spcPts val="600"/>
              </a:spcBef>
              <a:spcAft>
                <a:spcPts val="1200"/>
              </a:spcAft>
            </a:pPr>
            <a:r>
              <a:rPr lang="en-AU" sz="2200" dirty="0" smtClean="0">
                <a:latin typeface="Helvetica" pitchFamily="34" charset="0"/>
              </a:rPr>
              <a:t>Pass items up and down</a:t>
            </a:r>
          </a:p>
          <a:p>
            <a:pPr lvl="0">
              <a:spcBef>
                <a:spcPts val="600"/>
              </a:spcBef>
              <a:spcAft>
                <a:spcPts val="1200"/>
              </a:spcAft>
            </a:pPr>
            <a:r>
              <a:rPr lang="en-AU" sz="2200" dirty="0" smtClean="0">
                <a:latin typeface="Helvetica" pitchFamily="34" charset="0"/>
              </a:rPr>
              <a:t>Pass comment</a:t>
            </a:r>
          </a:p>
          <a:p>
            <a:pPr lvl="0">
              <a:spcBef>
                <a:spcPts val="600"/>
              </a:spcBef>
              <a:spcAft>
                <a:spcPts val="1200"/>
              </a:spcAft>
            </a:pPr>
            <a:r>
              <a:rPr lang="en-AU" sz="2200" dirty="0" smtClean="0">
                <a:latin typeface="Helvetica" pitchFamily="34" charset="0"/>
              </a:rPr>
              <a:t>Direct passers-by</a:t>
            </a:r>
          </a:p>
          <a:p>
            <a:pPr>
              <a:spcBef>
                <a:spcPts val="600"/>
              </a:spcBef>
              <a:spcAft>
                <a:spcPts val="600"/>
              </a:spcAft>
              <a:buNone/>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6" name="Picture 5" descr="MP900422222[1].JPG"/>
          <p:cNvPicPr/>
          <p:nvPr/>
        </p:nvPicPr>
        <p:blipFill>
          <a:blip r:embed="rId3" cstate="print"/>
          <a:stretch>
            <a:fillRect/>
          </a:stretch>
        </p:blipFill>
        <p:spPr>
          <a:xfrm>
            <a:off x="5643570" y="2571744"/>
            <a:ext cx="2431529" cy="1762497"/>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Preparing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When cleaning at height, it is natural that any dirty items will fall down. </a:t>
            </a:r>
          </a:p>
          <a:p>
            <a:pPr marL="0">
              <a:spcBef>
                <a:spcPts val="600"/>
              </a:spcBef>
              <a:spcAft>
                <a:spcPts val="1200"/>
              </a:spcAft>
              <a:buNone/>
            </a:pPr>
            <a:r>
              <a:rPr lang="en-AU" sz="2200" dirty="0" smtClean="0">
                <a:latin typeface="Helvetica" pitchFamily="34" charset="0"/>
              </a:rPr>
              <a:t>Think about the furniture directly under where cleaning will take place and make necessary arrangements including:</a:t>
            </a:r>
          </a:p>
          <a:p>
            <a:pPr lvl="0">
              <a:spcBef>
                <a:spcPts val="600"/>
              </a:spcBef>
              <a:spcAft>
                <a:spcPts val="1200"/>
              </a:spcAft>
            </a:pPr>
            <a:r>
              <a:rPr lang="en-AU" sz="2200" dirty="0" smtClean="0">
                <a:latin typeface="Helvetica" pitchFamily="34" charset="0"/>
              </a:rPr>
              <a:t>Removing the item </a:t>
            </a:r>
          </a:p>
          <a:p>
            <a:pPr lvl="0">
              <a:spcBef>
                <a:spcPts val="600"/>
              </a:spcBef>
              <a:spcAft>
                <a:spcPts val="1200"/>
              </a:spcAft>
            </a:pPr>
            <a:r>
              <a:rPr lang="en-AU" sz="2200" dirty="0" smtClean="0">
                <a:latin typeface="Helvetica" pitchFamily="34" charset="0"/>
              </a:rPr>
              <a:t>Covering the item with sheets or other protective materials</a:t>
            </a:r>
          </a:p>
          <a:p>
            <a:pPr>
              <a:spcBef>
                <a:spcPts val="600"/>
              </a:spcBef>
              <a:spcAft>
                <a:spcPts val="600"/>
              </a:spcAft>
              <a:buNone/>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AU" sz="2400" b="1" dirty="0" smtClean="0"/>
          </a:p>
          <a:p>
            <a:endParaRPr lang="en-AU" sz="2400" b="1" dirty="0" smtClean="0"/>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7" name="Picture 6" descr="http://image.made-in-china.com/2f0j00VeSQhPOWAElw/Outdoor-Furniture-Cover.jpg"/>
          <p:cNvPicPr/>
          <p:nvPr/>
        </p:nvPicPr>
        <p:blipFill>
          <a:blip r:embed="rId3" cstate="print"/>
          <a:srcRect/>
          <a:stretch>
            <a:fillRect/>
          </a:stretch>
        </p:blipFill>
        <p:spPr bwMode="auto">
          <a:xfrm>
            <a:off x="3857620" y="4786322"/>
            <a:ext cx="2210172" cy="15190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High level cleaning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a:spcBef>
                <a:spcPts val="600"/>
              </a:spcBef>
              <a:spcAft>
                <a:spcPts val="1200"/>
              </a:spcAft>
              <a:buNone/>
            </a:pPr>
            <a:r>
              <a:rPr lang="en-AU" sz="2200" dirty="0" smtClean="0">
                <a:latin typeface="Helvetica" pitchFamily="34" charset="0"/>
              </a:rPr>
              <a:t>High level cleaning uses a combination of cleaning methods already identified in this power point presentation.</a:t>
            </a:r>
          </a:p>
          <a:p>
            <a:pPr marL="0">
              <a:spcBef>
                <a:spcPts val="600"/>
              </a:spcBef>
              <a:spcAft>
                <a:spcPts val="1200"/>
              </a:spcAft>
              <a:buNone/>
            </a:pPr>
            <a:r>
              <a:rPr lang="en-AU" sz="2200" b="1" dirty="0" smtClean="0">
                <a:latin typeface="Helvetica" pitchFamily="34" charset="0"/>
              </a:rPr>
              <a:t>Use of specialists</a:t>
            </a:r>
          </a:p>
          <a:p>
            <a:pPr marL="0">
              <a:spcBef>
                <a:spcPts val="600"/>
              </a:spcBef>
              <a:spcAft>
                <a:spcPts val="1200"/>
              </a:spcAft>
              <a:buNone/>
            </a:pPr>
            <a:r>
              <a:rPr lang="en-AU" sz="2200" dirty="0" smtClean="0">
                <a:latin typeface="Helvetica" pitchFamily="34" charset="0"/>
              </a:rPr>
              <a:t>In most cases high level cleaning will be </a:t>
            </a:r>
            <a:br>
              <a:rPr lang="en-AU" sz="2200" dirty="0" smtClean="0">
                <a:latin typeface="Helvetica" pitchFamily="34" charset="0"/>
              </a:rPr>
            </a:br>
            <a:r>
              <a:rPr lang="en-AU" sz="2200" dirty="0" smtClean="0">
                <a:latin typeface="Helvetica" pitchFamily="34" charset="0"/>
              </a:rPr>
              <a:t>conducted through the use of professionals.</a:t>
            </a:r>
          </a:p>
          <a:p>
            <a:pPr marL="0">
              <a:spcBef>
                <a:spcPts val="600"/>
              </a:spcBef>
              <a:spcAft>
                <a:spcPts val="1200"/>
              </a:spcAft>
            </a:pPr>
            <a:r>
              <a:rPr lang="en-AU" sz="2200" dirty="0" smtClean="0">
                <a:latin typeface="Helvetica" pitchFamily="34" charset="0"/>
              </a:rPr>
              <a:t>What specialists are there?</a:t>
            </a:r>
          </a:p>
          <a:p>
            <a:pPr marL="0">
              <a:spcBef>
                <a:spcPts val="600"/>
              </a:spcBef>
              <a:spcAft>
                <a:spcPts val="1200"/>
              </a:spcAft>
            </a:pPr>
            <a:r>
              <a:rPr lang="en-AU" sz="2200" dirty="0" smtClean="0">
                <a:latin typeface="Helvetica" pitchFamily="34" charset="0"/>
              </a:rPr>
              <a:t>What types of services do they provide?</a:t>
            </a:r>
          </a:p>
          <a:p>
            <a:pPr marL="0">
              <a:spcBef>
                <a:spcPts val="600"/>
              </a:spcBef>
              <a:spcAft>
                <a:spcPts val="600"/>
              </a:spcAft>
              <a:buNone/>
            </a:pPr>
            <a:endParaRPr lang="en-AU" sz="2200" dirty="0" smtClean="0">
              <a:latin typeface="Helvetica" pitchFamily="34" charset="0"/>
            </a:endParaRPr>
          </a:p>
          <a:p>
            <a:pPr marL="0">
              <a:spcBef>
                <a:spcPts val="600"/>
              </a:spcBef>
              <a:spcAft>
                <a:spcPts val="600"/>
              </a:spcAft>
              <a:buNone/>
            </a:pPr>
            <a:endParaRPr lang="en-AU" sz="2200"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7" name="Picture 6" descr="31060-High%20level%20page.jpg"/>
          <p:cNvPicPr>
            <a:picLocks noChangeAspect="1"/>
          </p:cNvPicPr>
          <p:nvPr/>
        </p:nvPicPr>
        <p:blipFill>
          <a:blip r:embed="rId3" cstate="print"/>
          <a:stretch>
            <a:fillRect/>
          </a:stretch>
        </p:blipFill>
        <p:spPr>
          <a:xfrm>
            <a:off x="6500826" y="2643182"/>
            <a:ext cx="1828800" cy="1371600"/>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Tidy work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You may be required to:</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Remove to coverings you have placed on furniture </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Conduct a vacuum, sweep or mop of the area</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Ensure the floor is dry</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Once the follow is dry, all equipment and furniture should be returned to their original location and all ‘wet floor’ caution signs removed</a:t>
            </a:r>
            <a:endParaRPr lang="en-AU" sz="2200" b="1" dirty="0" smtClean="0">
              <a:latin typeface="Helvetica" pitchFamily="34" charset="0"/>
            </a:endParaRPr>
          </a:p>
          <a:p>
            <a:pPr>
              <a:buNone/>
            </a:pPr>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7" name="Picture 6" descr="http://www.pbp1.com/Property/DetailImage/SFS101-Detail-Property.gif"/>
          <p:cNvPicPr/>
          <p:nvPr/>
        </p:nvPicPr>
        <p:blipFill>
          <a:blip r:embed="rId3" cstate="print"/>
          <a:srcRect/>
          <a:stretch>
            <a:fillRect/>
          </a:stretch>
        </p:blipFill>
        <p:spPr bwMode="auto">
          <a:xfrm>
            <a:off x="3786182" y="5072074"/>
            <a:ext cx="1049660" cy="14687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600" b="1" dirty="0" smtClean="0">
                <a:solidFill>
                  <a:srgbClr val="FF6600"/>
                </a:solidFill>
                <a:latin typeface="Helvetica" pitchFamily="34" charset="0"/>
              </a:rPr>
              <a:t>Clean area and store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a:t>
            </a:r>
          </a:p>
          <a:p>
            <a:pPr lvl="0">
              <a:spcBef>
                <a:spcPts val="600"/>
              </a:spcBef>
              <a:spcAft>
                <a:spcPts val="1200"/>
              </a:spcAft>
            </a:pPr>
            <a:r>
              <a:rPr lang="en-AU" sz="2200" dirty="0" smtClean="0">
                <a:latin typeface="Helvetica" pitchFamily="34" charset="0"/>
              </a:rPr>
              <a:t>Please ensure all pieces of equipment has been cleaned out of all detergents, residual dirt and other waste products, then placed back in a suitable                  location for further use</a:t>
            </a:r>
          </a:p>
          <a:p>
            <a:pPr lvl="0">
              <a:spcBef>
                <a:spcPts val="600"/>
              </a:spcBef>
              <a:spcAft>
                <a:spcPts val="1200"/>
              </a:spcAft>
            </a:pPr>
            <a:r>
              <a:rPr lang="en-AU" sz="2200" dirty="0" smtClean="0">
                <a:latin typeface="Helvetica" pitchFamily="34" charset="0"/>
              </a:rPr>
              <a:t>Place all chemicals and other substances                             used in a storage area out of reach of children</a:t>
            </a:r>
          </a:p>
          <a:p>
            <a:endParaRPr lang="en-AU" sz="2400" b="1" dirty="0" smtClean="0"/>
          </a:p>
          <a:p>
            <a:endParaRPr lang="en-US" sz="2400" dirty="0" smtClean="0"/>
          </a:p>
          <a:p>
            <a:pPr>
              <a:buNone/>
            </a:pPr>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6" name="Picture 5" descr="Tec2202_th.jpg"/>
          <p:cNvPicPr>
            <a:picLocks noChangeAspect="1"/>
          </p:cNvPicPr>
          <p:nvPr/>
        </p:nvPicPr>
        <p:blipFill>
          <a:blip r:embed="rId3" cstate="print"/>
          <a:stretch>
            <a:fillRect/>
          </a:stretch>
        </p:blipFill>
        <p:spPr>
          <a:xfrm>
            <a:off x="3813656" y="4643446"/>
            <a:ext cx="1516688" cy="1826093"/>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b="1"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7" name="Picture 6" descr="MP900314372[1].JPG"/>
          <p:cNvPicPr>
            <a:picLocks noChangeAspect="1"/>
          </p:cNvPicPr>
          <p:nvPr/>
        </p:nvPicPr>
        <p:blipFill>
          <a:blip r:embed="rId3" cstate="print"/>
          <a:stretch>
            <a:fillRect/>
          </a:stretch>
        </p:blipFill>
        <p:spPr>
          <a:xfrm>
            <a:off x="5715008" y="1785926"/>
            <a:ext cx="1725168" cy="36576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1810</TotalTime>
  <Words>15542</Words>
  <Application>Microsoft Office PowerPoint</Application>
  <PresentationFormat>On-screen Show (4:3)</PresentationFormat>
  <Paragraphs>3368</Paragraphs>
  <Slides>182</Slides>
  <Notes>182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182</vt:i4>
      </vt:variant>
    </vt:vector>
  </HeadingPairs>
  <TitlesOfParts>
    <vt:vector size="186" baseType="lpstr">
      <vt:lpstr>Arial</vt:lpstr>
      <vt:lpstr>Helvetica</vt:lpstr>
      <vt:lpstr>Wingdings 2</vt:lpstr>
      <vt:lpstr>ASEAN PPT Template 010611 MV</vt:lpstr>
      <vt:lpstr>Clean public areas, facilities and equipment  </vt:lpstr>
      <vt:lpstr>Subject Elements</vt:lpstr>
      <vt:lpstr>Subject Elements</vt:lpstr>
      <vt:lpstr>Assessment</vt:lpstr>
      <vt:lpstr>Clean Public Areas, Facilities and Equipment</vt:lpstr>
      <vt:lpstr>Introduction</vt:lpstr>
      <vt:lpstr>Introduction</vt:lpstr>
      <vt:lpstr>Introduction</vt:lpstr>
      <vt:lpstr>Introduction</vt:lpstr>
      <vt:lpstr>Key definitions</vt:lpstr>
      <vt:lpstr>Public areas</vt:lpstr>
      <vt:lpstr>Public areas</vt:lpstr>
      <vt:lpstr>Facilities</vt:lpstr>
      <vt:lpstr>Equipment</vt:lpstr>
      <vt:lpstr>Equipment</vt:lpstr>
      <vt:lpstr>Types of cleaning equipment</vt:lpstr>
      <vt:lpstr>Types of cleaning equipment</vt:lpstr>
      <vt:lpstr>Manual cleaning equipment</vt:lpstr>
      <vt:lpstr>Manual cleaning equipment</vt:lpstr>
      <vt:lpstr>Manual cleaning equipment</vt:lpstr>
      <vt:lpstr>Manual cleaning equipment</vt:lpstr>
      <vt:lpstr>Manual cleaning equipment</vt:lpstr>
      <vt:lpstr>Manual cleaning equipment</vt:lpstr>
      <vt:lpstr>Manual cleaning equipment</vt:lpstr>
      <vt:lpstr>Electrical cleaning equipment</vt:lpstr>
      <vt:lpstr>Equipment complementary items</vt:lpstr>
      <vt:lpstr>Equipment complementary items</vt:lpstr>
      <vt:lpstr>Check equipment is clean, ready and safe</vt:lpstr>
      <vt:lpstr>Check equipment is clean, ready and safe</vt:lpstr>
      <vt:lpstr>Check equipment is clean, ready and safe</vt:lpstr>
      <vt:lpstr>Check equipment is clean, ready and safe</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Prepare work area</vt:lpstr>
      <vt:lpstr>Use equipment safely and correctly</vt:lpstr>
      <vt:lpstr>Use equipment safely and correctly</vt:lpstr>
      <vt:lpstr>Use equipment safely and correctly</vt:lpstr>
      <vt:lpstr>Use equipment safely and correctly</vt:lpstr>
      <vt:lpstr>Use equipment safely and correctly</vt:lpstr>
      <vt:lpstr>Use equipment safely and correctly</vt:lpstr>
      <vt:lpstr>Cleaning agents and chemicals</vt:lpstr>
      <vt:lpstr>Cleaning agents and chemicals</vt:lpstr>
      <vt:lpstr>Cleaning agents and chemicals</vt:lpstr>
      <vt:lpstr>Cleaning agents and chemicals</vt:lpstr>
      <vt:lpstr>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cleaning agents and chemicals</vt:lpstr>
      <vt:lpstr>Types of surface to be cleaned</vt:lpstr>
      <vt:lpstr>Disposal of garbage and used chemicals</vt:lpstr>
      <vt:lpstr>Disposal of garbage and used chemicals</vt:lpstr>
      <vt:lpstr>Disposal of garbage and used chemicals</vt:lpstr>
      <vt:lpstr>Cleaning and check PPE</vt:lpstr>
      <vt:lpstr>Clean equipment after use</vt:lpstr>
      <vt:lpstr>Clean equipment after use</vt:lpstr>
      <vt:lpstr>Store equipment after use</vt:lpstr>
      <vt:lpstr>Store equipment after use</vt:lpstr>
      <vt:lpstr>Store chemicals after use</vt:lpstr>
      <vt:lpstr>Store chemicals after use</vt:lpstr>
      <vt:lpstr>Store chemicals after use</vt:lpstr>
      <vt:lpstr>Cleaning public areas</vt:lpstr>
      <vt:lpstr>Cleaning public areas</vt:lpstr>
      <vt:lpstr>Cleaning public areas</vt:lpstr>
      <vt:lpstr>Cleaning public areas</vt:lpstr>
      <vt:lpstr>Conclusion</vt:lpstr>
      <vt:lpstr>PowerPoint Presentation</vt:lpstr>
      <vt:lpstr>Apply leather upholstery cleaning techniques</vt:lpstr>
      <vt:lpstr>Leather upholstered furniture</vt:lpstr>
      <vt:lpstr>Leather upholstered furniture</vt:lpstr>
      <vt:lpstr>Select equipment &amp; chemicals</vt:lpstr>
      <vt:lpstr>Select equipment &amp; chemicals</vt:lpstr>
      <vt:lpstr>Cleaning leather</vt:lpstr>
      <vt:lpstr>Cleaning leather</vt:lpstr>
      <vt:lpstr>Cleaning leather</vt:lpstr>
      <vt:lpstr>Cleaning leather</vt:lpstr>
      <vt:lpstr>Clean area and store equipment</vt:lpstr>
      <vt:lpstr>PowerPoint Presentation</vt:lpstr>
      <vt:lpstr>Apply fabric upholstery cleaning techniques</vt:lpstr>
      <vt:lpstr>Fabric upholstered furniture</vt:lpstr>
      <vt:lpstr>Select equipment &amp; chemicals</vt:lpstr>
      <vt:lpstr>Select equipment &amp; chemicals</vt:lpstr>
      <vt:lpstr>Preparing work area</vt:lpstr>
      <vt:lpstr>Preparing work area</vt:lpstr>
      <vt:lpstr>Cleaning fabric</vt:lpstr>
      <vt:lpstr>Cleaning fabric</vt:lpstr>
      <vt:lpstr>Cleaning fabric</vt:lpstr>
      <vt:lpstr>Cleaning fabric</vt:lpstr>
      <vt:lpstr>Cleaning fabric</vt:lpstr>
      <vt:lpstr>Cleaning fabric</vt:lpstr>
      <vt:lpstr>Tidy work site</vt:lpstr>
      <vt:lpstr>Tidy work site</vt:lpstr>
      <vt:lpstr>Clean area and store equipment</vt:lpstr>
      <vt:lpstr>PowerPoint Presentation</vt:lpstr>
      <vt:lpstr>Apply glass surfaces cleaning techniques</vt:lpstr>
      <vt:lpstr>Fabric upholstered furniture</vt:lpstr>
      <vt:lpstr>Select equipment &amp; chemicals</vt:lpstr>
      <vt:lpstr>Select equipment &amp; chemicals</vt:lpstr>
      <vt:lpstr>Preparing work area</vt:lpstr>
      <vt:lpstr>Cleaning glass surfaces</vt:lpstr>
      <vt:lpstr>Cleaning glass surfaces</vt:lpstr>
      <vt:lpstr>Cleaning glass surfaces</vt:lpstr>
      <vt:lpstr>Cleaning glass surfaces</vt:lpstr>
      <vt:lpstr>Cleaning glass surfaces</vt:lpstr>
      <vt:lpstr>Cleaning glass surfaces</vt:lpstr>
      <vt:lpstr>Cleaning glass surfaces</vt:lpstr>
      <vt:lpstr>Cleaning glass surfaces</vt:lpstr>
      <vt:lpstr>Tidy work site</vt:lpstr>
      <vt:lpstr>Clean area and store equipment</vt:lpstr>
      <vt:lpstr>PowerPoint Presentation</vt:lpstr>
      <vt:lpstr>Apply ceiling, surfaces and fittings cleaning techniques</vt:lpstr>
      <vt:lpstr>Ceiling, surfaces and fittings</vt:lpstr>
      <vt:lpstr>Ceiling, surfaces and fittings</vt:lpstr>
      <vt:lpstr>Ceiling, surfaces and fittings</vt:lpstr>
      <vt:lpstr>Select equipment &amp; chemicals</vt:lpstr>
      <vt:lpstr>Preparing work area</vt:lpstr>
      <vt:lpstr>Cleaning glass surfaces</vt:lpstr>
      <vt:lpstr>Cleaning glass surfaces</vt:lpstr>
      <vt:lpstr>Cleaning glass surfaces</vt:lpstr>
      <vt:lpstr>Cleaning glass surfaces</vt:lpstr>
      <vt:lpstr>Vacuum floors</vt:lpstr>
      <vt:lpstr>Vacuum floors</vt:lpstr>
      <vt:lpstr>Cleaning the vanity area</vt:lpstr>
      <vt:lpstr>Cleaning the vanity area</vt:lpstr>
      <vt:lpstr>Cleaning the vanity area</vt:lpstr>
      <vt:lpstr>Cleaning the shower</vt:lpstr>
      <vt:lpstr>Cleaning the toilet</vt:lpstr>
      <vt:lpstr>Cleaning bins</vt:lpstr>
      <vt:lpstr>Clean area and store equipment</vt:lpstr>
      <vt:lpstr>Clean area and store equipment</vt:lpstr>
      <vt:lpstr>PowerPoint Presentation</vt:lpstr>
      <vt:lpstr>Apply wet area cleaning techniques</vt:lpstr>
      <vt:lpstr>Wet area cleaning</vt:lpstr>
      <vt:lpstr>Wet area cleaning</vt:lpstr>
      <vt:lpstr>Wet area cleaning</vt:lpstr>
      <vt:lpstr>Select equipment &amp; chemicals</vt:lpstr>
      <vt:lpstr>Preparing work area</vt:lpstr>
      <vt:lpstr>Cleaning wet areas</vt:lpstr>
      <vt:lpstr>Cleaning wet areas</vt:lpstr>
      <vt:lpstr>Tidy work area</vt:lpstr>
      <vt:lpstr>Clean area and store equipment</vt:lpstr>
      <vt:lpstr>PowerPoint Presentation</vt:lpstr>
      <vt:lpstr>Apply wet area cleaning techniques</vt:lpstr>
      <vt:lpstr>Wet area cleaning</vt:lpstr>
      <vt:lpstr>Select equipment</vt:lpstr>
      <vt:lpstr>Select cleaning agents</vt:lpstr>
      <vt:lpstr>Preparing work area</vt:lpstr>
      <vt:lpstr>Pressure cleaning steps</vt:lpstr>
      <vt:lpstr>Pressure cleaning steps</vt:lpstr>
      <vt:lpstr>Pressure cleaning steps</vt:lpstr>
      <vt:lpstr>Tidy work area</vt:lpstr>
      <vt:lpstr>Clean area and store equipment</vt:lpstr>
      <vt:lpstr>PowerPoint Presentation</vt:lpstr>
      <vt:lpstr>Apply wet area cleaning techniques</vt:lpstr>
      <vt:lpstr>High level cleaning</vt:lpstr>
      <vt:lpstr>High level cleaning</vt:lpstr>
      <vt:lpstr>Select equipment</vt:lpstr>
      <vt:lpstr>Preparing work area</vt:lpstr>
      <vt:lpstr>Preparing work area</vt:lpstr>
      <vt:lpstr>Preparing work area</vt:lpstr>
      <vt:lpstr>Preparing work area</vt:lpstr>
      <vt:lpstr>High level cleaning</vt:lpstr>
      <vt:lpstr>Tidy work area</vt:lpstr>
      <vt:lpstr>Clean area and store equipment</vt:lpstr>
      <vt:lpstr>PowerPoint Presentation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Daniel James Chee</dc:creator>
  <cp:lastModifiedBy>Carla Angelica Co</cp:lastModifiedBy>
  <cp:revision>209</cp:revision>
  <dcterms:created xsi:type="dcterms:W3CDTF">2012-01-31T00:35:56Z</dcterms:created>
  <dcterms:modified xsi:type="dcterms:W3CDTF">2015-03-12T03:50:20Z</dcterms:modified>
</cp:coreProperties>
</file>