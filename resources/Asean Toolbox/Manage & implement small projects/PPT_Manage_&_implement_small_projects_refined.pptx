
<file path=[Content_Types].xml><?xml version="1.0" encoding="utf-8"?>
<Types xmlns="http://schemas.openxmlformats.org/package/2006/content-types">
  <Override PartName="/ppt/slides/slide47.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120.xml" ContentType="application/vnd.openxmlformats-officedocument.presentationml.slide+xml"/>
  <Override PartName="/ppt/notesSlides/notesSlide38.xml" ContentType="application/vnd.openxmlformats-officedocument.presentationml.notesSlide+xml"/>
  <Override PartName="/ppt/notesSlides/notesSlide85.xml" ContentType="application/vnd.openxmlformats-officedocument.presentationml.notesSlide+xml"/>
  <Override PartName="/ppt/notesSlides/notesSlide141.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Default Extension="xml" ContentType="application/xml"/>
  <Override PartName="/ppt/slides/slide50.xml" ContentType="application/vnd.openxmlformats-officedocument.presentationml.slide+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notesSlides/notesSlide41.xml" ContentType="application/vnd.openxmlformats-officedocument.presentationml.notesSlide+xml"/>
  <Override PartName="/ppt/notesSlides/notesSlide179.xml" ContentType="application/vnd.openxmlformats-officedocument.presentationml.notesSlide+xml"/>
  <Override PartName="/ppt/slides/slide158.xml" ContentType="application/vnd.openxmlformats-officedocument.presentationml.slide+xml"/>
  <Override PartName="/ppt/slides/slide136.xml" ContentType="application/vnd.openxmlformats-officedocument.presentationml.slide+xml"/>
  <Override PartName="/ppt/slides/slide183.xml" ContentType="application/vnd.openxmlformats-officedocument.presentationml.slide+xml"/>
  <Override PartName="/ppt/notesSlides/notesSlide7.xml" ContentType="application/vnd.openxmlformats-officedocument.presentationml.notesSlide+xml"/>
  <Override PartName="/ppt/notesSlides/notesSlide157.xml" ContentType="application/vnd.openxmlformats-officedocument.presentationml.notesSlide+xml"/>
  <Override PartName="/ppt/slides/slide88.xml" ContentType="application/vnd.openxmlformats-officedocument.presentationml.slide+xml"/>
  <Override PartName="/ppt/notesSlides/notesSlide135.xml" ContentType="application/vnd.openxmlformats-officedocument.presentationml.notesSlide+xml"/>
  <Override PartName="/ppt/notesSlides/notesSlide182.xml" ContentType="application/vnd.openxmlformats-officedocument.presentationml.notesSlide+xml"/>
  <Override PartName="/ppt/slides/slide19.xml" ContentType="application/vnd.openxmlformats-officedocument.presentationml.slide+xml"/>
  <Override PartName="/ppt/slides/slide66.xml" ContentType="application/vnd.openxmlformats-officedocument.presentationml.slide+xml"/>
  <Override PartName="/ppt/slides/slide114.xml" ContentType="application/vnd.openxmlformats-officedocument.presentationml.slide+xml"/>
  <Override PartName="/ppt/slides/slide161.xml" ContentType="application/vnd.openxmlformats-officedocument.presentationml.slide+xml"/>
  <Default Extension="png" ContentType="image/png"/>
  <Override PartName="/ppt/notesSlides/notesSlide79.xml" ContentType="application/vnd.openxmlformats-officedocument.presentationml.notesSlide+xml"/>
  <Override PartName="/ppt/theme/theme2.xml" ContentType="application/vnd.openxmlformats-officedocument.theme+xml"/>
  <Override PartName="/ppt/notesSlides/notesSlide57.xml" ContentType="application/vnd.openxmlformats-officedocument.presentationml.notesSlide+xml"/>
  <Override PartName="/ppt/notesSlides/notesSlide113.xml" ContentType="application/vnd.openxmlformats-officedocument.presentationml.notesSlide+xml"/>
  <Override PartName="/ppt/notesSlides/notesSlide160.xml" ContentType="application/vnd.openxmlformats-officedocument.presentationml.notesSlide+xml"/>
  <Override PartName="/ppt/slides/slide44.xml" ContentType="application/vnd.openxmlformats-officedocument.presentationml.slide+xml"/>
  <Override PartName="/ppt/slides/slide91.xml" ContentType="application/vnd.openxmlformats-officedocument.presentationml.slide+xml"/>
  <Override PartName="/ppt/presentation.xml" ContentType="application/vnd.openxmlformats-officedocument.presentationml.presentation.main+xml"/>
  <Override PartName="/ppt/slides/slide22.xml" ContentType="application/vnd.openxmlformats-officedocument.presentationml.slide+xml"/>
  <Override PartName="/ppt/slides/slide199.xml" ContentType="application/vnd.openxmlformats-officedocument.presentationml.slide+xml"/>
  <Override PartName="/ppt/slides/slide204.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188.xml" ContentType="application/vnd.openxmlformats-officedocument.presentationml.slide+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notesSlides/notesSlide198.xml" ContentType="application/vnd.openxmlformats-officedocument.presentationml.notesSlide+xml"/>
  <Override PartName="/ppt/notesSlides/notesSlide203.xml" ContentType="application/vnd.openxmlformats-officedocument.presentationml.notesSlide+xml"/>
  <Override PartName="/ppt/slides/slide119.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Layouts/slideLayout10.xml" ContentType="application/vnd.openxmlformats-officedocument.presentationml.slideLayout+xml"/>
  <Override PartName="/ppt/notesSlides/notesSlide129.xml" ContentType="application/vnd.openxmlformats-officedocument.presentationml.notesSlide+xml"/>
  <Override PartName="/ppt/notesSlides/notesSlide176.xml" ContentType="application/vnd.openxmlformats-officedocument.presentationml.notesSlide+xml"/>
  <Override PartName="/ppt/notesSlides/notesSlide187.xml" ContentType="application/vnd.openxmlformats-officedocument.presentationml.notesSlide+xml"/>
  <Override PartName="/ppt/slides/slide108.xml" ContentType="application/vnd.openxmlformats-officedocument.presentationml.slide+xml"/>
  <Override PartName="/ppt/slides/slide155.xml" ContentType="application/vnd.openxmlformats-officedocument.presentationml.slide+xml"/>
  <Override PartName="/ppt/notesSlides/notesSlide118.xml" ContentType="application/vnd.openxmlformats-officedocument.presentationml.notesSlide+xml"/>
  <Override PartName="/ppt/notesSlides/notesSlide165.xml" ContentType="application/vnd.openxmlformats-officedocument.presentationml.notes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slides/slide191.xml" ContentType="application/vnd.openxmlformats-officedocument.presentationml.slide+xml"/>
  <Override PartName="/ppt/notesSlides/notesSlide4.xml" ContentType="application/vnd.openxmlformats-officedocument.presentationml.notesSlide+xml"/>
  <Override PartName="/ppt/notesSlides/notesSlide107.xml" ContentType="application/vnd.openxmlformats-officedocument.presentationml.notesSlide+xml"/>
  <Override PartName="/ppt/notesSlides/notesSlide154.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80.xml" ContentType="application/vnd.openxmlformats-officedocument.presentationml.slide+xml"/>
  <Override PartName="/ppt/notesSlides/notesSlide87.xml" ContentType="application/vnd.openxmlformats-officedocument.presentationml.notesSlide+xml"/>
  <Override PartName="/ppt/notesSlides/notesSlide98.xml" ContentType="application/vnd.openxmlformats-officedocument.presentationml.notesSlide+xml"/>
  <Override PartName="/ppt/notesSlides/notesSlide132.xml" ContentType="application/vnd.openxmlformats-officedocument.presentationml.notesSlide+xml"/>
  <Override PartName="/ppt/notesSlides/notesSlide143.xml" ContentType="application/vnd.openxmlformats-officedocument.presentationml.notesSlide+xml"/>
  <Override PartName="/ppt/notesSlides/notesSlide190.xml" ContentType="application/vnd.openxmlformats-officedocument.presentationml.notesSlide+xml"/>
  <Override PartName="/ppt/slides/slide27.xml" ContentType="application/vnd.openxmlformats-officedocument.presentationml.slide+xml"/>
  <Override PartName="/ppt/slides/slide74.xml" ContentType="application/vnd.openxmlformats-officedocument.presentationml.slide+xml"/>
  <Override PartName="/ppt/slides/slide111.xml" ContentType="application/vnd.openxmlformats-officedocument.presentationml.slide+xml"/>
  <Override PartName="/ppt/slides/slide209.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76.xml" ContentType="application/vnd.openxmlformats-officedocument.presentationml.notesSlide+xml"/>
  <Override PartName="/ppt/notesSlides/notesSlide121.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100.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65.xml" ContentType="application/vnd.openxmlformats-officedocument.presentationml.notesSlide+xml"/>
  <Override PartName="/ppt/notesSlides/notesSlide110.xml" ContentType="application/vnd.openxmlformats-officedocument.presentationml.notesSlide+xml"/>
  <Override PartName="/ppt/notesSlides/notesSlide208.xml" ContentType="application/vnd.openxmlformats-officedocument.presentationml.notesSlide+xml"/>
  <Override PartName="/ppt/slides/slide41.xml" ContentType="application/vnd.openxmlformats-officedocument.presentationml.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90.xml" ContentType="application/vnd.openxmlformats-officedocument.presentationml.notesSlide+xml"/>
  <Override PartName="/ppt/slides/slide30.xml" ContentType="application/vnd.openxmlformats-officedocument.presentationml.slide+xml"/>
  <Override PartName="/ppt/slides/slide149.xml" ContentType="application/vnd.openxmlformats-officedocument.presentationml.slide+xml"/>
  <Override PartName="/ppt/slides/slide196.xml" ContentType="application/vnd.openxmlformats-officedocument.presentationml.slide+xml"/>
  <Override PartName="/ppt/notesSlides/notesSlide32.xml" ContentType="application/vnd.openxmlformats-officedocument.presentationml.notesSlide+xml"/>
  <Override PartName="/ppt/slides/slide138.xml" ContentType="application/vnd.openxmlformats-officedocument.presentationml.slide+xml"/>
  <Override PartName="/ppt/slides/slide185.xml" ContentType="application/vnd.openxmlformats-officedocument.presentationml.slide+xml"/>
  <Override PartName="/ppt/slides/slide201.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48.xml" ContentType="application/vnd.openxmlformats-officedocument.presentationml.notesSlide+xml"/>
  <Override PartName="/ppt/notesSlides/notesSlide159.xml" ContentType="application/vnd.openxmlformats-officedocument.presentationml.notesSlide+xml"/>
  <Override PartName="/ppt/notesSlides/notesSlide195.xml" ContentType="application/vnd.openxmlformats-officedocument.presentationml.notesSlide+xml"/>
  <Override PartName="/ppt/notesSlides/notesSlide200.xml" ContentType="application/vnd.openxmlformats-officedocument.presentationml.notesSlide+xml"/>
  <Override PartName="/ppt/slides/slide79.xml" ContentType="application/vnd.openxmlformats-officedocument.presentationml.slide+xml"/>
  <Override PartName="/ppt/slides/slide127.xml" ContentType="application/vnd.openxmlformats-officedocument.presentationml.slide+xml"/>
  <Override PartName="/ppt/slides/slide174.xml" ContentType="application/vnd.openxmlformats-officedocument.presentationml.slide+xml"/>
  <Override PartName="/ppt/notesSlides/notesSlide10.xml" ContentType="application/vnd.openxmlformats-officedocument.presentationml.notesSlide+xml"/>
  <Override PartName="/ppt/notesSlides/notesSlide137.xml" ContentType="application/vnd.openxmlformats-officedocument.presentationml.notesSlide+xml"/>
  <Override PartName="/ppt/notesSlides/notesSlide184.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116.xml" ContentType="application/vnd.openxmlformats-officedocument.presentationml.slide+xml"/>
  <Override PartName="/ppt/slides/slide163.xml" ContentType="application/vnd.openxmlformats-officedocument.presentationml.slide+xml"/>
  <Override PartName="/ppt/slideLayouts/slideLayout9.xml" ContentType="application/vnd.openxmlformats-officedocument.presentationml.slideLayout+xml"/>
  <Override PartName="/ppt/notesSlides/notesSlide126.xml" ContentType="application/vnd.openxmlformats-officedocument.presentationml.notesSlide+xml"/>
  <Override PartName="/ppt/notesSlides/notesSlide173.xml" ContentType="application/vnd.openxmlformats-officedocument.presentationml.notesSlide+xml"/>
  <Override PartName="/ppt/slides/slide57.xml" ContentType="application/vnd.openxmlformats-officedocument.presentationml.slide+xml"/>
  <Override PartName="/ppt/slides/slide105.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104.xml" ContentType="application/vnd.openxmlformats-officedocument.presentationml.notesSlide+xml"/>
  <Override PartName="/ppt/notesSlides/notesSlide115.xml" ContentType="application/vnd.openxmlformats-officedocument.presentationml.notesSlide+xml"/>
  <Override PartName="/ppt/notesSlides/notesSlide151.xml" ContentType="application/vnd.openxmlformats-officedocument.presentationml.notesSlide+xml"/>
  <Override PartName="/ppt/notesSlides/notesSlide162.xml" ContentType="application/vnd.openxmlformats-officedocument.presentationml.notesSlide+xml"/>
  <Override PartName="/ppt/slides/slide46.xml" ContentType="application/vnd.openxmlformats-officedocument.presentationml.slide+xml"/>
  <Override PartName="/ppt/slides/slide93.xml" ContentType="application/vnd.openxmlformats-officedocument.presentationml.slide+xml"/>
  <Override PartName="/ppt/slides/slide130.xml" ContentType="application/vnd.openxmlformats-officedocument.presentationml.slide+xml"/>
  <Override PartName="/ppt/notesSlides/notesSlide48.xml" ContentType="application/vnd.openxmlformats-officedocument.presentationml.notesSlide+xml"/>
  <Override PartName="/ppt/notesSlides/notesSlide95.xml" ContentType="application/vnd.openxmlformats-officedocument.presentationml.notesSlide+xml"/>
  <Override PartName="/ppt/notesSlides/notesSlide140.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s/slide206.xml" ContentType="application/vnd.openxmlformats-officedocument.presentationml.slide+xml"/>
  <Override PartName="/ppt/notesSlides/notesSlide37.xml" ContentType="application/vnd.openxmlformats-officedocument.presentationml.notesSlide+xml"/>
  <Override PartName="/ppt/notesSlides/notesSlide84.xml" ContentType="application/vnd.openxmlformats-officedocument.presentationml.notesSlide+xml"/>
  <Override PartName="/ppt/slides/slide13.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notesSlides/notesSlide205.xml" ContentType="application/vnd.openxmlformats-officedocument.presentationml.notesSlide+xml"/>
  <Override PartName="/ppt/slides/slide168.xml" ContentType="application/vnd.openxmlformats-officedocument.presentationml.slide+xml"/>
  <Override PartName="/ppt/slides/slide179.xml" ContentType="application/vnd.openxmlformats-officedocument.presentationml.slide+xml"/>
  <Override PartName="/ppt/notesSlides/notesSlide51.xml" ContentType="application/vnd.openxmlformats-officedocument.presentationml.notesSlide+xml"/>
  <Override PartName="/ppt/notesSlides/notesSlide178.xml" ContentType="application/vnd.openxmlformats-officedocument.presentationml.notesSlide+xml"/>
  <Override PartName="/ppt/notesSlides/notesSlide189.xml" ContentType="application/vnd.openxmlformats-officedocument.presentationml.notesSlide+xml"/>
  <Override PartName="/ppt/slides/slide157.xml" ContentType="application/vnd.openxmlformats-officedocument.presentationml.slide+xml"/>
  <Override PartName="/ppt/notesSlides/notesSlide40.xml" ContentType="application/vnd.openxmlformats-officedocument.presentationml.notesSlide+xml"/>
  <Override PartName="/ppt/notesSlides/notesSlide167.xml" ContentType="application/vnd.openxmlformats-officedocument.presentationml.notesSlide+xml"/>
  <Override PartName="/ppt/slides/slide98.xml" ContentType="application/vnd.openxmlformats-officedocument.presentationml.slide+xml"/>
  <Override PartName="/ppt/slides/slide146.xml" ContentType="application/vnd.openxmlformats-officedocument.presentationml.slide+xml"/>
  <Override PartName="/ppt/slides/slide193.xml" ContentType="application/vnd.openxmlformats-officedocument.presentationml.slide+xml"/>
  <Override PartName="/ppt/notesSlides/notesSlide6.xml" ContentType="application/vnd.openxmlformats-officedocument.presentationml.notesSlide+xml"/>
  <Override PartName="/ppt/notesSlides/notesSlide109.xml" ContentType="application/vnd.openxmlformats-officedocument.presentationml.notesSlide+xml"/>
  <Override PartName="/ppt/notesSlides/notesSlide156.xml" ContentType="application/vnd.openxmlformats-officedocument.presentationml.notesSlide+xml"/>
  <Override PartName="/ppt/slides/slide87.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notesSlides/notesSlide89.xml" ContentType="application/vnd.openxmlformats-officedocument.presentationml.notesSlide+xml"/>
  <Override PartName="/ppt/notesSlides/notesSlide145.xml" ContentType="application/vnd.openxmlformats-officedocument.presentationml.notesSlide+xml"/>
  <Override PartName="/ppt/notesSlides/notesSlide192.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notesSlides/notesSlide78.xml" ContentType="application/vnd.openxmlformats-officedocument.presentationml.notesSlide+xml"/>
  <Override PartName="/ppt/notesSlides/notesSlide123.xml" ContentType="application/vnd.openxmlformats-officedocument.presentationml.notesSlide+xml"/>
  <Override PartName="/ppt/notesSlides/notesSlide134.xml" ContentType="application/vnd.openxmlformats-officedocument.presentationml.notesSlide+xml"/>
  <Override PartName="/ppt/notesSlides/notesSlide170.xml" ContentType="application/vnd.openxmlformats-officedocument.presentationml.notesSlide+xml"/>
  <Override PartName="/ppt/notesSlides/notesSlide181.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Override PartName="/ppt/notesSlides/notesSlide112.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slides/slide198.xml" ContentType="application/vnd.openxmlformats-officedocument.presentationml.slide+xml"/>
  <Override PartName="/ppt/slides/slide203.xml" ContentType="application/vnd.openxmlformats-officedocument.presentationml.slide+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notesSlides/notesSlide197.xml" ContentType="application/vnd.openxmlformats-officedocument.presentationml.notesSlide+xml"/>
  <Override PartName="/ppt/slides/slide129.xml" ContentType="application/vnd.openxmlformats-officedocument.presentationml.slide+xml"/>
  <Override PartName="/ppt/slides/slide176.xml" ContentType="application/vnd.openxmlformats-officedocument.presentationml.slide+xml"/>
  <Override PartName="/ppt/notesSlides/notesSlide12.xml" ContentType="application/vnd.openxmlformats-officedocument.presentationml.notesSlide+xml"/>
  <Override PartName="/ppt/notesSlides/notesSlide139.xml" ContentType="application/vnd.openxmlformats-officedocument.presentationml.notesSlide+xml"/>
  <Override PartName="/ppt/notesSlides/notesSlide186.xml" ContentType="application/vnd.openxmlformats-officedocument.presentationml.notesSlide+xml"/>
  <Override PartName="/ppt/notesSlides/notesSlide202.xml" ContentType="application/vnd.openxmlformats-officedocument.presentationml.notesSlide+xml"/>
  <Override PartName="/ppt/slides/slide118.xml" ContentType="application/vnd.openxmlformats-officedocument.presentationml.slide+xml"/>
  <Override PartName="/ppt/slides/slide165.xml" ContentType="application/vnd.openxmlformats-officedocument.presentationml.slide+xml"/>
  <Override PartName="/ppt/notesSlides/notesSlide128.xml" ContentType="application/vnd.openxmlformats-officedocument.presentationml.notesSlide+xml"/>
  <Override PartName="/ppt/notesSlides/notesSlide175.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90.xml" ContentType="application/vnd.openxmlformats-officedocument.presentationml.slide+xml"/>
  <Override PartName="/ppt/viewProps.xml" ContentType="application/vnd.openxmlformats-officedocument.presentationml.viewProps+xml"/>
  <Override PartName="/ppt/notesSlides/notesSlide106.xml" ContentType="application/vnd.openxmlformats-officedocument.presentationml.notesSlide+xml"/>
  <Override PartName="/ppt/notesSlides/notesSlide117.xml" ContentType="application/vnd.openxmlformats-officedocument.presentationml.notesSlide+xml"/>
  <Override PartName="/ppt/notesSlides/notesSlide153.xml" ContentType="application/vnd.openxmlformats-officedocument.presentationml.notesSlide+xml"/>
  <Override PartName="/ppt/notesSlides/notesSlide164.xml" ContentType="application/vnd.openxmlformats-officedocument.presentationml.notesSlide+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Override PartName="/ppt/notesSlides/notesSlide97.xml" ContentType="application/vnd.openxmlformats-officedocument.presentationml.notesSlide+xml"/>
  <Override PartName="/ppt/notesSlides/notesSlide142.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slides/slide208.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notesSlides/notesSlide86.xml" ContentType="application/vnd.openxmlformats-officedocument.presentationml.notesSlide+xml"/>
  <Override PartName="/ppt/notesSlides/notesSlide131.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notesSlides/notesSlide120.xml" ContentType="application/vnd.openxmlformats-officedocument.presentationml.notesSlide+xml"/>
  <Override PartName="/ppt/notesSlides/notesSlide207.xml" ContentType="application/vnd.openxmlformats-officedocument.presentationml.notesSlide+xml"/>
  <Override PartName="/ppt/slides/slide51.xml" ContentType="application/vnd.openxmlformats-officedocument.presentationml.slide+xml"/>
  <Override PartName="/ppt/notesSlides/notesSlide53.xml" ContentType="application/vnd.openxmlformats-officedocument.presentationml.notesSlide+xml"/>
  <Override PartName="/ppt/slides/slide40.xml" ContentType="application/vnd.openxmlformats-officedocument.presentationml.slide+xml"/>
  <Override PartName="/ppt/slides/slide159.xml" ContentType="application/vnd.openxmlformats-officedocument.presentationml.slide+xml"/>
  <Override PartName="/ppt/notesSlides/notesSlide42.xml" ContentType="application/vnd.openxmlformats-officedocument.presentationml.notesSlide+xml"/>
  <Override PartName="/ppt/notesSlides/notesSlide169.xml" ContentType="application/vnd.openxmlformats-officedocument.presentationml.notesSlide+xml"/>
  <Override PartName="/ppt/slides/slide148.xml" ContentType="application/vnd.openxmlformats-officedocument.presentationml.slide+xml"/>
  <Override PartName="/ppt/slides/slide195.xml" ContentType="application/vnd.openxmlformats-officedocument.presentationml.slide+xml"/>
  <Override PartName="/ppt/slides/slide200.xml" ContentType="application/vnd.openxmlformats-officedocument.presentationml.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158.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notesSlides/notesSlide147.xml" ContentType="application/vnd.openxmlformats-officedocument.presentationml.notesSlide+xml"/>
  <Override PartName="/ppt/notesSlides/notesSlide194.xml" ContentType="application/vnd.openxmlformats-officedocument.presentationml.notesSlide+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ppt/handoutMasters/handoutMaster1.xml" ContentType="application/vnd.openxmlformats-officedocument.presentationml.handoutMaster+xml"/>
  <Override PartName="/ppt/notesSlides/notesSlide125.xml" ContentType="application/vnd.openxmlformats-officedocument.presentationml.notesSlide+xml"/>
  <Override PartName="/ppt/notesSlides/notesSlide136.xml" ContentType="application/vnd.openxmlformats-officedocument.presentationml.notesSlide+xml"/>
  <Override PartName="/ppt/notesSlides/notesSlide172.xml" ContentType="application/vnd.openxmlformats-officedocument.presentationml.notesSlide+xml"/>
  <Override PartName="/ppt/notesSlides/notesSlide183.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notesSlides/notesSlide114.xml" ContentType="application/vnd.openxmlformats-officedocument.presentationml.notesSlide+xml"/>
  <Override PartName="/ppt/notesSlides/notesSlide161.xml" ContentType="application/vnd.openxmlformats-officedocument.presentationml.notesSlide+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theme/theme3.xml" ContentType="application/vnd.openxmlformats-officedocument.them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notesSlides/notesSlide150.xml" ContentType="application/vnd.openxmlformats-officedocument.presentationml.notesSlide+xml"/>
  <Override PartName="/ppt/slides/slide34.xml" ContentType="application/vnd.openxmlformats-officedocument.presentationml.slide+xml"/>
  <Override PartName="/ppt/slides/slide81.xml" ContentType="application/vnd.openxmlformats-officedocument.presentationml.slide+xml"/>
  <Override PartName="/ppt/notesSlides/notesSlide36.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slides/slide205.xml" ContentType="application/vnd.openxmlformats-officedocument.presentationml.slide+xml"/>
  <Override PartName="/ppt/notesSlides/notesSlide25.xml" ContentType="application/vnd.openxmlformats-officedocument.presentationml.notesSlide+xml"/>
  <Override PartName="/ppt/notesSlides/notesSlide72.xml" ContentType="application/vnd.openxmlformats-officedocument.presentationml.notesSlide+xml"/>
  <Override PartName="/ppt/notesSlides/notesSlide199.xml" ContentType="application/vnd.openxmlformats-officedocument.presentationml.notesSlide+xml"/>
  <Override PartName="/ppt/slides/slide12.xml" ContentType="application/vnd.openxmlformats-officedocument.presentationml.slide+xml"/>
  <Override PartName="/ppt/slides/slide178.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61.xml" ContentType="application/vnd.openxmlformats-officedocument.presentationml.notesSlide+xml"/>
  <Override PartName="/ppt/notesSlides/notesSlide188.xml" ContentType="application/vnd.openxmlformats-officedocument.presentationml.notesSlide+xml"/>
  <Override PartName="/ppt/notesSlides/notesSlide204.xml" ContentType="application/vnd.openxmlformats-officedocument.presentationml.notesSlide+xml"/>
  <Override PartName="/ppt/slides/slide167.xml" ContentType="application/vnd.openxmlformats-officedocument.presentationml.slide+xml"/>
  <Override PartName="/ppt/commentAuthors.xml" ContentType="application/vnd.openxmlformats-officedocument.presentationml.commentAuthors+xml"/>
  <Override PartName="/ppt/notesSlides/notesSlide50.xml" ContentType="application/vnd.openxmlformats-officedocument.presentationml.notesSlide+xml"/>
  <Override PartName="/ppt/notesSlides/notesSlide177.xml" ContentType="application/vnd.openxmlformats-officedocument.presentationml.notesSlide+xml"/>
  <Override PartName="/ppt/slides/slide109.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92.xml" ContentType="application/vnd.openxmlformats-officedocument.presentationml.slide+xml"/>
  <Override PartName="/ppt/notesSlides/notesSlide108.xml" ContentType="application/vnd.openxmlformats-officedocument.presentationml.notesSlide+xml"/>
  <Override PartName="/ppt/notesSlides/notesSlide119.xml" ContentType="application/vnd.openxmlformats-officedocument.presentationml.notesSlide+xml"/>
  <Override PartName="/ppt/notesSlides/notesSlide155.xml" ContentType="application/vnd.openxmlformats-officedocument.presentationml.notesSlide+xml"/>
  <Override PartName="/ppt/notesSlides/notesSlide166.xml" ContentType="application/vnd.openxmlformats-officedocument.presentationml.notesSlide+xml"/>
  <Override PartName="/ppt/slides/slide97.xml" ContentType="application/vnd.openxmlformats-officedocument.presentationml.slide+xml"/>
  <Override PartName="/ppt/slides/slide134.xml" ContentType="application/vnd.openxmlformats-officedocument.presentationml.slide+xml"/>
  <Override PartName="/ppt/slides/slide181.xml" ContentType="application/vnd.openxmlformats-officedocument.presentationml.slide+xml"/>
  <Override PartName="/ppt/notesSlides/notesSlide5.xml" ContentType="application/vnd.openxmlformats-officedocument.presentationml.notesSlide+xml"/>
  <Override PartName="/ppt/notesSlides/notesSlide99.xml" ContentType="application/vnd.openxmlformats-officedocument.presentationml.notesSlide+xml"/>
  <Override PartName="/ppt/notesSlides/notesSlide144.xml" ContentType="application/vnd.openxmlformats-officedocument.presentationml.notesSlide+xml"/>
  <Override PartName="/ppt/notesSlides/notesSlide191.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23.xml" ContentType="application/vnd.openxmlformats-officedocument.presentationml.slide+xml"/>
  <Override PartName="/ppt/slides/slide170.xml" ContentType="application/vnd.openxmlformats-officedocument.presentationml.slide+xml"/>
  <Override PartName="/ppt/notesSlides/notesSlide88.xml" ContentType="application/vnd.openxmlformats-officedocument.presentationml.notesSlide+xml"/>
  <Override PartName="/ppt/notesSlides/notesSlide133.xml" ContentType="application/vnd.openxmlformats-officedocument.presentationml.notesSlide+xml"/>
  <Override PartName="/ppt/notesSlides/notesSlide180.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notesSlides/notesSlide122.xml" ContentType="application/vnd.openxmlformats-officedocument.presentationml.notesSlide+xml"/>
  <Override PartName="/ppt/notesSlides/notesSlide209.xml" ContentType="application/vnd.openxmlformats-officedocument.presentationml.notesSlide+xml"/>
  <Override PartName="/ppt/slides/slide53.xml" ContentType="application/vnd.openxmlformats-officedocument.presentationml.slide+xml"/>
  <Default Extension="jpeg" ContentType="image/jpeg"/>
  <Override PartName="/ppt/notesSlides/notesSlide55.xml" ContentType="application/vnd.openxmlformats-officedocument.presentationml.notesSlide+xml"/>
  <Override PartName="/ppt/notesSlides/notesSlide100.xml" ContentType="application/vnd.openxmlformats-officedocument.presentationml.notesSlide+xml"/>
  <Override PartName="/ppt/notesSlides/notesSlide111.xml" ContentType="application/vnd.openxmlformats-officedocument.presentationml.notesSlide+xml"/>
  <Override PartName="/ppt/slides/slide31.xml" ContentType="application/vnd.openxmlformats-officedocument.presentationml.slide+xml"/>
  <Override PartName="/ppt/slides/slide42.xml" ContentType="application/vnd.openxmlformats-officedocument.presentationml.slide+xml"/>
  <Override PartName="/ppt/notesSlides/notesSlide44.xml" ContentType="application/vnd.openxmlformats-officedocument.presentationml.notesSlide+xml"/>
  <Override PartName="/ppt/notesSlides/notesSlide91.xml" ContentType="application/vnd.openxmlformats-officedocument.presentationml.notesSlide+xml"/>
  <Override PartName="/ppt/slides/slide20.xml" ContentType="application/vnd.openxmlformats-officedocument.presentationml.slide+xml"/>
  <Override PartName="/ppt/slides/slide197.xml" ContentType="application/vnd.openxmlformats-officedocument.presentationml.slide+xml"/>
  <Override PartName="/ppt/slides/slide202.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80.xml" ContentType="application/vnd.openxmlformats-officedocument.presentationml.notesSlide+xml"/>
  <Override PartName="/ppt/slides/slide139.xml" ContentType="application/vnd.openxmlformats-officedocument.presentationml.slide+xml"/>
  <Override PartName="/ppt/slides/slide186.xml" ContentType="application/vnd.openxmlformats-officedocument.presentationml.slide+xml"/>
  <Override PartName="/ppt/notesSlides/notesSlide11.xml" ContentType="application/vnd.openxmlformats-officedocument.presentationml.notesSlide+xml"/>
  <Override PartName="/ppt/notesSlides/notesSlide149.xml" ContentType="application/vnd.openxmlformats-officedocument.presentationml.notesSlide+xml"/>
  <Override PartName="/ppt/notesSlides/notesSlide196.xml" ContentType="application/vnd.openxmlformats-officedocument.presentationml.notesSlide+xml"/>
  <Override PartName="/ppt/notesSlides/notesSlide201.xml" ContentType="application/vnd.openxmlformats-officedocument.presentationml.notesSlide+xml"/>
  <Override PartName="/ppt/slides/slide117.xml" ContentType="application/vnd.openxmlformats-officedocument.presentationml.slide+xml"/>
  <Override PartName="/ppt/slides/slide128.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notesSlides/notesSlide127.xml" ContentType="application/vnd.openxmlformats-officedocument.presentationml.notesSlide+xml"/>
  <Override PartName="/ppt/notesSlides/notesSlide138.xml" ContentType="application/vnd.openxmlformats-officedocument.presentationml.notesSlide+xml"/>
  <Override PartName="/ppt/notesSlides/notesSlide174.xml" ContentType="application/vnd.openxmlformats-officedocument.presentationml.notesSlide+xml"/>
  <Override PartName="/ppt/notesSlides/notesSlide185.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106.xml" ContentType="application/vnd.openxmlformats-officedocument.presentationml.slide+xml"/>
  <Override PartName="/ppt/slides/slide153.xml" ContentType="application/vnd.openxmlformats-officedocument.presentationml.slide+xml"/>
  <Override PartName="/ppt/notesSlides/notesSlide116.xml" ContentType="application/vnd.openxmlformats-officedocument.presentationml.notesSlide+xml"/>
  <Override PartName="/ppt/notesSlides/notesSlide163.xml" ContentType="application/vnd.openxmlformats-officedocument.presentationml.notesSlide+xml"/>
  <Override PartName="/ppt/slides/slide58.xml" ContentType="application/vnd.openxmlformats-officedocument.presentationml.slide+xml"/>
  <Override PartName="/ppt/notesSlides/notesSlide2.xml" ContentType="application/vnd.openxmlformats-officedocument.presentationml.notesSlide+xml"/>
  <Override PartName="/ppt/notesSlides/notesSlide105.xml" ContentType="application/vnd.openxmlformats-officedocument.presentationml.notesSlide+xml"/>
  <Override PartName="/ppt/notesSlides/notesSlide15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31.xml" ContentType="application/vnd.openxmlformats-officedocument.presentationml.slide+xml"/>
  <Override PartName="/ppt/notesSlides/notesSlide49.xml" ContentType="application/vnd.openxmlformats-officedocument.presentationml.notesSlide+xml"/>
  <Override PartName="/ppt/notesSlides/notesSlide96.xml" ContentType="application/vnd.openxmlformats-officedocument.presentationml.notesSlide+xml"/>
  <Override PartName="/ppt/notesSlides/notesSlide130.xml" ContentType="application/vnd.openxmlformats-officedocument.presentationml.notesSlide+xml"/>
  <Override PartName="/ppt/slides/slide207.xml" ContentType="application/vnd.openxmlformats-officedocument.presentationml.slide+xml"/>
  <Override PartName="/ppt/notesSlides/notesSlide27.xml" ContentType="application/vnd.openxmlformats-officedocument.presentationml.notesSlide+xml"/>
  <Override PartName="/ppt/notesSlides/notesSlide74.xml" ContentType="application/vnd.openxmlformats-officedocument.presentationml.notesSlide+xml"/>
  <Override PartName="/ppt/slides/slide14.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206.xml" ContentType="application/vnd.openxmlformats-officedocument.presentationml.notesSlide+xml"/>
  <Override PartName="/ppt/slides/slide169.xml" ContentType="application/vnd.openxmlformats-officedocument.presentationml.slide+xml"/>
  <Override PartName="/ppt/tableStyles.xml" ContentType="application/vnd.openxmlformats-officedocument.presentationml.tableStyles+xml"/>
  <Override PartName="/ppt/notesSlides/notesSlide52.xml" ContentType="application/vnd.openxmlformats-officedocument.presentationml.notesSlide+xml"/>
  <Override PartName="/ppt/slides/slide147.xml" ContentType="application/vnd.openxmlformats-officedocument.presentationml.slide+xml"/>
  <Override PartName="/ppt/slides/slide194.xml" ContentType="application/vnd.openxmlformats-officedocument.presentationml.slide+xml"/>
  <Override PartName="/ppt/notesSlides/notesSlide30.xml" ContentType="application/vnd.openxmlformats-officedocument.presentationml.notesSlide+xml"/>
  <Override PartName="/ppt/notesSlides/notesSlide168.xml" ContentType="application/vnd.openxmlformats-officedocument.presentationml.notesSlide+xml"/>
  <Override PartName="/ppt/slides/slide99.xml" ContentType="application/vnd.openxmlformats-officedocument.presentationml.slide+xml"/>
  <Override PartName="/ppt/notesSlides/notesSlide146.xml" ContentType="application/vnd.openxmlformats-officedocument.presentationml.notesSlide+xml"/>
  <Override PartName="/ppt/notesSlides/notesSlide193.xml" ContentType="application/vnd.openxmlformats-officedocument.presentationml.notesSlide+xml"/>
  <Override PartName="/ppt/slides/slide77.xml" ContentType="application/vnd.openxmlformats-officedocument.presentationml.slide+xml"/>
  <Override PartName="/ppt/slides/slide125.xml" ContentType="application/vnd.openxmlformats-officedocument.presentationml.slide+xml"/>
  <Override PartName="/ppt/slides/slide172.xml" ContentType="application/vnd.openxmlformats-officedocument.presentationml.slide+xml"/>
  <Override PartName="/ppt/slides/slide5.xml" ContentType="application/vnd.openxmlformats-officedocument.presentationml.slide+xml"/>
  <Override PartName="/ppt/slides/slide103.xml" ContentType="application/vnd.openxmlformats-officedocument.presentationml.slide+xml"/>
  <Override PartName="/ppt/slides/slide150.xml" ContentType="application/vnd.openxmlformats-officedocument.presentationml.slide+xml"/>
  <Override PartName="/ppt/slideLayouts/slideLayout7.xml" ContentType="application/vnd.openxmlformats-officedocument.presentationml.slideLayout+xml"/>
  <Override PartName="/ppt/notesSlides/notesSlide68.xml" ContentType="application/vnd.openxmlformats-officedocument.presentationml.notesSlide+xml"/>
  <Override PartName="/ppt/notesSlides/notesSlide124.xml" ContentType="application/vnd.openxmlformats-officedocument.presentationml.notesSlide+xml"/>
  <Override PartName="/ppt/notesSlides/notesSlide171.xml" ContentType="application/vnd.openxmlformats-officedocument.presentationml.notesSlide+xml"/>
  <Override PartName="/ppt/slides/slide55.xml" ContentType="application/vnd.openxmlformats-officedocument.presentationml.slide+xml"/>
  <Override PartName="/ppt/notesSlides/notesSlide102.xml" ContentType="application/vnd.openxmlformats-officedocument.presentationml.notesSlide+xml"/>
  <Override PartName="/ppt/slides/slide33.xml" ContentType="application/vnd.openxmlformats-officedocument.presentationml.slide+xml"/>
  <Override PartName="/ppt/slides/slide80.xml" ContentType="application/vnd.openxmlformats-officedocument.presentationml.slide+xml"/>
  <Override PartName="/ppt/notesSlides/notesSlide46.xml" ContentType="application/vnd.openxmlformats-officedocument.presentationml.notesSlide+xml"/>
  <Override PartName="/ppt/notesSlides/notesSlide9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11"/>
  </p:notesMasterIdLst>
  <p:handoutMasterIdLst>
    <p:handoutMasterId r:id="rId212"/>
  </p:handoutMasterIdLst>
  <p:sldIdLst>
    <p:sldId id="256" r:id="rId2"/>
    <p:sldId id="257" r:id="rId3"/>
    <p:sldId id="262" r:id="rId4"/>
    <p:sldId id="258" r:id="rId5"/>
    <p:sldId id="259" r:id="rId6"/>
    <p:sldId id="260" r:id="rId7"/>
    <p:sldId id="515" r:id="rId8"/>
    <p:sldId id="516" r:id="rId9"/>
    <p:sldId id="517" r:id="rId10"/>
    <p:sldId id="519" r:id="rId11"/>
    <p:sldId id="520" r:id="rId12"/>
    <p:sldId id="521" r:id="rId13"/>
    <p:sldId id="522" r:id="rId14"/>
    <p:sldId id="523" r:id="rId15"/>
    <p:sldId id="524" r:id="rId16"/>
    <p:sldId id="525" r:id="rId17"/>
    <p:sldId id="526" r:id="rId18"/>
    <p:sldId id="527" r:id="rId19"/>
    <p:sldId id="528" r:id="rId20"/>
    <p:sldId id="529" r:id="rId21"/>
    <p:sldId id="530" r:id="rId22"/>
    <p:sldId id="531" r:id="rId23"/>
    <p:sldId id="532" r:id="rId24"/>
    <p:sldId id="533" r:id="rId25"/>
    <p:sldId id="270" r:id="rId26"/>
    <p:sldId id="541" r:id="rId27"/>
    <p:sldId id="279" r:id="rId28"/>
    <p:sldId id="280" r:id="rId29"/>
    <p:sldId id="546" r:id="rId30"/>
    <p:sldId id="547" r:id="rId31"/>
    <p:sldId id="548" r:id="rId32"/>
    <p:sldId id="549" r:id="rId33"/>
    <p:sldId id="550" r:id="rId34"/>
    <p:sldId id="551" r:id="rId35"/>
    <p:sldId id="542" r:id="rId36"/>
    <p:sldId id="543" r:id="rId37"/>
    <p:sldId id="265" r:id="rId38"/>
    <p:sldId id="285" r:id="rId39"/>
    <p:sldId id="286" r:id="rId40"/>
    <p:sldId id="287" r:id="rId41"/>
    <p:sldId id="288" r:id="rId42"/>
    <p:sldId id="289" r:id="rId43"/>
    <p:sldId id="552" r:id="rId44"/>
    <p:sldId id="290" r:id="rId45"/>
    <p:sldId id="291" r:id="rId46"/>
    <p:sldId id="266" r:id="rId47"/>
    <p:sldId id="292" r:id="rId48"/>
    <p:sldId id="293" r:id="rId49"/>
    <p:sldId id="553" r:id="rId50"/>
    <p:sldId id="554" r:id="rId51"/>
    <p:sldId id="557" r:id="rId52"/>
    <p:sldId id="558" r:id="rId53"/>
    <p:sldId id="559" r:id="rId54"/>
    <p:sldId id="555" r:id="rId55"/>
    <p:sldId id="556" r:id="rId56"/>
    <p:sldId id="560" r:id="rId57"/>
    <p:sldId id="294" r:id="rId58"/>
    <p:sldId id="295" r:id="rId59"/>
    <p:sldId id="296" r:id="rId60"/>
    <p:sldId id="297" r:id="rId61"/>
    <p:sldId id="298" r:id="rId62"/>
    <p:sldId id="561" r:id="rId63"/>
    <p:sldId id="562" r:id="rId64"/>
    <p:sldId id="563" r:id="rId65"/>
    <p:sldId id="564" r:id="rId66"/>
    <p:sldId id="565" r:id="rId67"/>
    <p:sldId id="267" r:id="rId68"/>
    <p:sldId id="566" r:id="rId69"/>
    <p:sldId id="567" r:id="rId70"/>
    <p:sldId id="568" r:id="rId71"/>
    <p:sldId id="569" r:id="rId72"/>
    <p:sldId id="300" r:id="rId73"/>
    <p:sldId id="301" r:id="rId74"/>
    <p:sldId id="302" r:id="rId75"/>
    <p:sldId id="304" r:id="rId76"/>
    <p:sldId id="268" r:id="rId77"/>
    <p:sldId id="314" r:id="rId78"/>
    <p:sldId id="315" r:id="rId79"/>
    <p:sldId id="316" r:id="rId80"/>
    <p:sldId id="317" r:id="rId81"/>
    <p:sldId id="318" r:id="rId82"/>
    <p:sldId id="319" r:id="rId83"/>
    <p:sldId id="320" r:id="rId84"/>
    <p:sldId id="570" r:id="rId85"/>
    <p:sldId id="571" r:id="rId86"/>
    <p:sldId id="572" r:id="rId87"/>
    <p:sldId id="573" r:id="rId88"/>
    <p:sldId id="269" r:id="rId89"/>
    <p:sldId id="324" r:id="rId90"/>
    <p:sldId id="325" r:id="rId91"/>
    <p:sldId id="326" r:id="rId92"/>
    <p:sldId id="327" r:id="rId93"/>
    <p:sldId id="328" r:id="rId94"/>
    <p:sldId id="307" r:id="rId95"/>
    <p:sldId id="336" r:id="rId96"/>
    <p:sldId id="337" r:id="rId97"/>
    <p:sldId id="338" r:id="rId98"/>
    <p:sldId id="574" r:id="rId99"/>
    <p:sldId id="575" r:id="rId100"/>
    <p:sldId id="579" r:id="rId101"/>
    <p:sldId id="340" r:id="rId102"/>
    <p:sldId id="576" r:id="rId103"/>
    <p:sldId id="577" r:id="rId104"/>
    <p:sldId id="578" r:id="rId105"/>
    <p:sldId id="341" r:id="rId106"/>
    <p:sldId id="342" r:id="rId107"/>
    <p:sldId id="308" r:id="rId108"/>
    <p:sldId id="343" r:id="rId109"/>
    <p:sldId id="580" r:id="rId110"/>
    <p:sldId id="344" r:id="rId111"/>
    <p:sldId id="345" r:id="rId112"/>
    <p:sldId id="581" r:id="rId113"/>
    <p:sldId id="582" r:id="rId114"/>
    <p:sldId id="583" r:id="rId115"/>
    <p:sldId id="584" r:id="rId116"/>
    <p:sldId id="585" r:id="rId117"/>
    <p:sldId id="346" r:id="rId118"/>
    <p:sldId id="347" r:id="rId119"/>
    <p:sldId id="348" r:id="rId120"/>
    <p:sldId id="349" r:id="rId121"/>
    <p:sldId id="350" r:id="rId122"/>
    <p:sldId id="351" r:id="rId123"/>
    <p:sldId id="309" r:id="rId124"/>
    <p:sldId id="352" r:id="rId125"/>
    <p:sldId id="353" r:id="rId126"/>
    <p:sldId id="310" r:id="rId127"/>
    <p:sldId id="360" r:id="rId128"/>
    <p:sldId id="311" r:id="rId129"/>
    <p:sldId id="586" r:id="rId130"/>
    <p:sldId id="593" r:id="rId131"/>
    <p:sldId id="588" r:id="rId132"/>
    <p:sldId id="590" r:id="rId133"/>
    <p:sldId id="591" r:id="rId134"/>
    <p:sldId id="592" r:id="rId135"/>
    <p:sldId id="365" r:id="rId136"/>
    <p:sldId id="312" r:id="rId137"/>
    <p:sldId id="594" r:id="rId138"/>
    <p:sldId id="595" r:id="rId139"/>
    <p:sldId id="596" r:id="rId140"/>
    <p:sldId id="597" r:id="rId141"/>
    <p:sldId id="313" r:id="rId142"/>
    <p:sldId id="377" r:id="rId143"/>
    <p:sldId id="378" r:id="rId144"/>
    <p:sldId id="379" r:id="rId145"/>
    <p:sldId id="380" r:id="rId146"/>
    <p:sldId id="598" r:id="rId147"/>
    <p:sldId id="599" r:id="rId148"/>
    <p:sldId id="361" r:id="rId149"/>
    <p:sldId id="403" r:id="rId150"/>
    <p:sldId id="404" r:id="rId151"/>
    <p:sldId id="406" r:id="rId152"/>
    <p:sldId id="407" r:id="rId153"/>
    <p:sldId id="409" r:id="rId154"/>
    <p:sldId id="363" r:id="rId155"/>
    <p:sldId id="600" r:id="rId156"/>
    <p:sldId id="601" r:id="rId157"/>
    <p:sldId id="602" r:id="rId158"/>
    <p:sldId id="603" r:id="rId159"/>
    <p:sldId id="413" r:id="rId160"/>
    <p:sldId id="414" r:id="rId161"/>
    <p:sldId id="415" r:id="rId162"/>
    <p:sldId id="399" r:id="rId163"/>
    <p:sldId id="422" r:id="rId164"/>
    <p:sldId id="423" r:id="rId165"/>
    <p:sldId id="604" r:id="rId166"/>
    <p:sldId id="605" r:id="rId167"/>
    <p:sldId id="400" r:id="rId168"/>
    <p:sldId id="430" r:id="rId169"/>
    <p:sldId id="431" r:id="rId170"/>
    <p:sldId id="432" r:id="rId171"/>
    <p:sldId id="433" r:id="rId172"/>
    <p:sldId id="401" r:id="rId173"/>
    <p:sldId id="440" r:id="rId174"/>
    <p:sldId id="442" r:id="rId175"/>
    <p:sldId id="443" r:id="rId176"/>
    <p:sldId id="402" r:id="rId177"/>
    <p:sldId id="451" r:id="rId178"/>
    <p:sldId id="459" r:id="rId179"/>
    <p:sldId id="445" r:id="rId180"/>
    <p:sldId id="460" r:id="rId181"/>
    <p:sldId id="611" r:id="rId182"/>
    <p:sldId id="461" r:id="rId183"/>
    <p:sldId id="462" r:id="rId184"/>
    <p:sldId id="463" r:id="rId185"/>
    <p:sldId id="612" r:id="rId186"/>
    <p:sldId id="447" r:id="rId187"/>
    <p:sldId id="613" r:id="rId188"/>
    <p:sldId id="614" r:id="rId189"/>
    <p:sldId id="615" r:id="rId190"/>
    <p:sldId id="616" r:id="rId191"/>
    <p:sldId id="617" r:id="rId192"/>
    <p:sldId id="469" r:id="rId193"/>
    <p:sldId id="448" r:id="rId194"/>
    <p:sldId id="619" r:id="rId195"/>
    <p:sldId id="620" r:id="rId196"/>
    <p:sldId id="621" r:id="rId197"/>
    <p:sldId id="449" r:id="rId198"/>
    <p:sldId id="484" r:id="rId199"/>
    <p:sldId id="485" r:id="rId200"/>
    <p:sldId id="486" r:id="rId201"/>
    <p:sldId id="450" r:id="rId202"/>
    <p:sldId id="491" r:id="rId203"/>
    <p:sldId id="492" r:id="rId204"/>
    <p:sldId id="364" r:id="rId205"/>
    <p:sldId id="498" r:id="rId206"/>
    <p:sldId id="499" r:id="rId207"/>
    <p:sldId id="261" r:id="rId208"/>
    <p:sldId id="507" r:id="rId209"/>
    <p:sldId id="514" r:id="rId210"/>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 initials="MSOffice"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4002" autoAdjust="0"/>
    <p:restoredTop sz="86447" autoAdjust="0"/>
  </p:normalViewPr>
  <p:slideViewPr>
    <p:cSldViewPr>
      <p:cViewPr>
        <p:scale>
          <a:sx n="80" d="100"/>
          <a:sy n="80" d="100"/>
        </p:scale>
        <p:origin x="-570" y="-3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16" Type="http://schemas.openxmlformats.org/officeDocument/2006/relationships/theme" Target="theme/theme1.xml"/><Relationship Id="rId211"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slide" Target="slides/slide205.xml"/><Relationship Id="rId201" Type="http://schemas.openxmlformats.org/officeDocument/2006/relationships/slide" Target="slides/slide200.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handoutMaster" Target="handoutMasters/handoutMaster1.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commentAuthors" Target="commentAuthor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presProps" Target="pres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viewProps" Target="viewProp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1/27/2014</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1/27/2014</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3" Type="http://schemas.openxmlformats.org/officeDocument/2006/relationships/hyperlink" Target="http://www.brighthub.com/office/project-management/articles/54894.aspx" TargetMode="External"/><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8" Type="http://schemas.openxmlformats.org/officeDocument/2006/relationships/hyperlink" Target="http://en.wikipedia.org/wiki/Gantt_chart" TargetMode="External"/><Relationship Id="rId3" Type="http://schemas.openxmlformats.org/officeDocument/2006/relationships/hyperlink" Target="http://www.hyperthot.com/pm_cscs.htm" TargetMode="External"/><Relationship Id="rId7" Type="http://schemas.openxmlformats.org/officeDocument/2006/relationships/hyperlink" Target="http://www.ganttchart.com/" TargetMode="External"/><Relationship Id="rId2" Type="http://schemas.openxmlformats.org/officeDocument/2006/relationships/slide" Target="../slides/slide74.xml"/><Relationship Id="rId1" Type="http://schemas.openxmlformats.org/officeDocument/2006/relationships/notesMaster" Target="../notesMasters/notesMaster1.xml"/><Relationship Id="rId6" Type="http://schemas.openxmlformats.org/officeDocument/2006/relationships/hyperlink" Target="http://www.netmba.com/operations/project/cpm/" TargetMode="External"/><Relationship Id="rId5" Type="http://schemas.openxmlformats.org/officeDocument/2006/relationships/hyperlink" Target="http://en.wikipedia.org/wiki/Critical_path_method" TargetMode="External"/><Relationship Id="rId4" Type="http://schemas.openxmlformats.org/officeDocument/2006/relationships/hyperlink" Target="http://www.defence.gov.au/dmo/esd/evm/DefAust5655.pdf" TargetMode="External"/><Relationship Id="rId9" Type="http://schemas.openxmlformats.org/officeDocument/2006/relationships/hyperlink" Target="http://www.mindtools.com/pages/article/newPPM_03.htm" TargetMode="External"/></Relationships>
</file>

<file path=ppt/notesSlides/_rels/notesSlide75.xml.rels><?xml version="1.0" encoding="UTF-8" standalone="yes"?>
<Relationships xmlns="http://schemas.openxmlformats.org/package/2006/relationships"><Relationship Id="rId8" Type="http://schemas.openxmlformats.org/officeDocument/2006/relationships/hyperlink" Target="http://en.wikipedia.org/wiki/Comparison_of_project_management_software" TargetMode="External"/><Relationship Id="rId3" Type="http://schemas.openxmlformats.org/officeDocument/2006/relationships/hyperlink" Target="http://www.treasury.nsw.gov.au/__data/assets/pdf_file/0005/5099/life_cycle_costings.pdf" TargetMode="External"/><Relationship Id="rId7" Type="http://schemas.openxmlformats.org/officeDocument/2006/relationships/hyperlink" Target="http://en.wikipedia.org/wiki/Project_management_software" TargetMode="External"/><Relationship Id="rId2" Type="http://schemas.openxmlformats.org/officeDocument/2006/relationships/slide" Target="../slides/slide75.xml"/><Relationship Id="rId1" Type="http://schemas.openxmlformats.org/officeDocument/2006/relationships/notesMaster" Target="../notesMasters/notesMaster1.xml"/><Relationship Id="rId6" Type="http://schemas.openxmlformats.org/officeDocument/2006/relationships/hyperlink" Target="http://en.wikipedia.org/wiki/Program_Evaluation_and_Review_Technique" TargetMode="External"/><Relationship Id="rId5" Type="http://schemas.openxmlformats.org/officeDocument/2006/relationships/hyperlink" Target="http://www.logisticsworld.com/logistics.htm" TargetMode="External"/><Relationship Id="rId4" Type="http://schemas.openxmlformats.org/officeDocument/2006/relationships/hyperlink" Target="http://www.eed.state.ak.us/facilities/publications/lccahandbook1999.pdf" TargetMode="Externa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3" Type="http://schemas.openxmlformats.org/officeDocument/2006/relationships/hyperlink" Target="http://www.hyperthot.com/pm_wbs.htm" TargetMode="External"/><Relationship Id="rId2" Type="http://schemas.openxmlformats.org/officeDocument/2006/relationships/slide" Target="../slides/slide104.xml"/><Relationship Id="rId1" Type="http://schemas.openxmlformats.org/officeDocument/2006/relationships/notesMaster" Target="../notesMasters/notesMaster1.xml"/><Relationship Id="rId4" Type="http://schemas.openxmlformats.org/officeDocument/2006/relationships/hyperlink" Target="http://www.anticlue.net/archives/000964.htm" TargetMode="Externa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3" Type="http://schemas.openxmlformats.org/officeDocument/2006/relationships/hyperlink" Target="http://en.wikipedia.org/wiki/Fault_tree_analysis" TargetMode="External"/><Relationship Id="rId2" Type="http://schemas.openxmlformats.org/officeDocument/2006/relationships/slide" Target="../slides/slide115.xml"/><Relationship Id="rId1" Type="http://schemas.openxmlformats.org/officeDocument/2006/relationships/notesMaster" Target="../notesMasters/notesMaster1.xml"/><Relationship Id="rId4" Type="http://schemas.openxmlformats.org/officeDocument/2006/relationships/hyperlink" Target="http://www.mindtools.com/pages/article/newTMC_03.htm" TargetMode="Externa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trainees to class.</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three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on planning projects by asking questions such as:</a:t>
            </a:r>
          </a:p>
          <a:p>
            <a:pPr>
              <a:buFont typeface="Arial" pitchFamily="34" charset="0"/>
              <a:buChar char="•"/>
            </a:pPr>
            <a:r>
              <a:rPr lang="en-AU" sz="1200" kern="1200" baseline="0" dirty="0" smtClean="0">
                <a:solidFill>
                  <a:schemeClr val="tx1"/>
                </a:solidFill>
                <a:ea typeface="+mn-ea"/>
                <a:cs typeface="+mn-cs"/>
              </a:rPr>
              <a:t> What small projects might a venue undertake?</a:t>
            </a:r>
          </a:p>
          <a:p>
            <a:pPr>
              <a:buFont typeface="Arial" pitchFamily="34" charset="0"/>
              <a:buChar char="•"/>
            </a:pPr>
            <a:r>
              <a:rPr lang="en-AU" sz="1200" kern="1200" baseline="0" dirty="0" smtClean="0">
                <a:solidFill>
                  <a:schemeClr val="tx1"/>
                </a:solidFill>
                <a:ea typeface="+mn-ea"/>
                <a:cs typeface="+mn-cs"/>
              </a:rPr>
              <a:t> Why are small projects important to the operation of a business?</a:t>
            </a:r>
          </a:p>
          <a:p>
            <a:pPr>
              <a:buFont typeface="Arial" pitchFamily="34" charset="0"/>
              <a:buChar char="•"/>
            </a:pPr>
            <a:r>
              <a:rPr lang="en-AU" sz="1200" kern="1200" baseline="0" dirty="0" smtClean="0">
                <a:solidFill>
                  <a:schemeClr val="tx1"/>
                </a:solidFill>
                <a:ea typeface="+mn-ea"/>
                <a:cs typeface="+mn-cs"/>
              </a:rPr>
              <a:t> What do you think is involved in planning a small project?</a:t>
            </a:r>
          </a:p>
          <a:p>
            <a:pPr>
              <a:buFont typeface="Arial" pitchFamily="34" charset="0"/>
              <a:buChar char="•"/>
            </a:pPr>
            <a:r>
              <a:rPr lang="en-AU" sz="1200" kern="1200" baseline="0" dirty="0" smtClean="0">
                <a:solidFill>
                  <a:schemeClr val="tx1"/>
                </a:solidFill>
                <a:ea typeface="+mn-ea"/>
                <a:cs typeface="+mn-cs"/>
              </a:rPr>
              <a:t> Who from outside the venue might be involved in planning activities for a small project?</a:t>
            </a:r>
          </a:p>
          <a:p>
            <a:pPr>
              <a:buFont typeface="Arial" pitchFamily="34" charset="0"/>
              <a:buChar char="•"/>
            </a:pPr>
            <a:r>
              <a:rPr lang="en-AU" sz="1200" kern="1200" baseline="0" dirty="0" smtClean="0">
                <a:solidFill>
                  <a:schemeClr val="tx1"/>
                </a:solidFill>
                <a:ea typeface="+mn-ea"/>
                <a:cs typeface="+mn-cs"/>
              </a:rPr>
              <a:t> Who from inside the venue might be involved in planning activities for a small project?</a:t>
            </a:r>
          </a:p>
          <a:p>
            <a:pPr>
              <a:buFont typeface="Arial" pitchFamily="34" charset="0"/>
              <a:buChar char="•"/>
            </a:pPr>
            <a:r>
              <a:rPr lang="en-AU" sz="1200" kern="1200" baseline="0" dirty="0" smtClean="0">
                <a:solidFill>
                  <a:schemeClr val="tx1"/>
                </a:solidFill>
                <a:ea typeface="+mn-ea"/>
                <a:cs typeface="+mn-cs"/>
              </a:rPr>
              <a:t> What plans and strategies are used as part of the planning process for a small project?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t>
            </a:r>
            <a:r>
              <a:rPr lang="en-AU" sz="1200" kern="1200" dirty="0" smtClean="0">
                <a:solidFill>
                  <a:schemeClr val="tx1"/>
                </a:solidFill>
                <a:ea typeface="+mn-ea"/>
                <a:cs typeface="+mn-cs"/>
              </a:rPr>
              <a:t>explains that, while there are no strict definitions for the terms ‘project management’, it can be seen as a series of activities undertaken by a person (or group of people) to achieve the defined/stated objectives of a project while making sure the limitations/constraints that apply to the project are observed.</a:t>
            </a:r>
          </a:p>
          <a:p>
            <a:r>
              <a:rPr lang="en-AU" sz="1200" kern="1200" dirty="0" smtClean="0">
                <a:solidFill>
                  <a:schemeClr val="tx1"/>
                </a:solidFill>
                <a:ea typeface="+mn-ea"/>
                <a:cs typeface="+mn-cs"/>
              </a:rPr>
              <a:t>The central activities involved in project management can be seen as:</a:t>
            </a:r>
          </a:p>
          <a:p>
            <a:pPr>
              <a:buFont typeface="Arial" pitchFamily="34" charset="0"/>
              <a:buChar char="•"/>
            </a:pPr>
            <a:r>
              <a:rPr lang="en-AU" sz="1200" kern="1200" dirty="0" smtClean="0">
                <a:solidFill>
                  <a:schemeClr val="tx1"/>
                </a:solidFill>
                <a:ea typeface="+mn-ea"/>
                <a:cs typeface="+mn-cs"/>
              </a:rPr>
              <a:t> Planning and preparation</a:t>
            </a:r>
          </a:p>
          <a:p>
            <a:pPr>
              <a:buFont typeface="Arial" pitchFamily="34" charset="0"/>
              <a:buChar char="•"/>
            </a:pPr>
            <a:r>
              <a:rPr lang="en-AU" sz="1200" kern="1200" dirty="0" smtClean="0">
                <a:solidFill>
                  <a:schemeClr val="tx1"/>
                </a:solidFill>
                <a:ea typeface="+mn-ea"/>
                <a:cs typeface="+mn-cs"/>
              </a:rPr>
              <a:t> Organising and arranging</a:t>
            </a:r>
          </a:p>
          <a:p>
            <a:pPr>
              <a:buFont typeface="Arial" pitchFamily="34" charset="0"/>
              <a:buChar char="•"/>
            </a:pPr>
            <a:r>
              <a:rPr lang="en-AU" sz="1200" kern="1200" dirty="0" smtClean="0">
                <a:solidFill>
                  <a:schemeClr val="tx1"/>
                </a:solidFill>
                <a:ea typeface="+mn-ea"/>
                <a:cs typeface="+mn-cs"/>
              </a:rPr>
              <a:t> Resource identification and acquisition</a:t>
            </a:r>
          </a:p>
          <a:p>
            <a:pPr>
              <a:buFont typeface="Arial" pitchFamily="34" charset="0"/>
              <a:buChar char="•"/>
            </a:pPr>
            <a:r>
              <a:rPr lang="en-AU" sz="1200" kern="1200" dirty="0" smtClean="0">
                <a:solidFill>
                  <a:schemeClr val="tx1"/>
                </a:solidFill>
                <a:ea typeface="+mn-ea"/>
                <a:cs typeface="+mn-cs"/>
              </a:rPr>
              <a:t> Project implementation and administration </a:t>
            </a:r>
          </a:p>
          <a:p>
            <a:pPr>
              <a:buFont typeface="Arial" pitchFamily="34" charset="0"/>
              <a:buChar char="•"/>
            </a:pPr>
            <a:r>
              <a:rPr lang="en-AU" sz="1200" kern="1200" dirty="0" smtClean="0">
                <a:solidFill>
                  <a:schemeClr val="tx1"/>
                </a:solidFill>
                <a:ea typeface="+mn-ea"/>
                <a:cs typeface="+mn-cs"/>
              </a:rPr>
              <a:t> Monitoring activities – before and during the project</a:t>
            </a:r>
          </a:p>
          <a:p>
            <a:pPr>
              <a:buFont typeface="Arial" pitchFamily="34" charset="0"/>
              <a:buChar char="•"/>
            </a:pPr>
            <a:r>
              <a:rPr lang="en-AU" sz="1200" kern="1200" dirty="0" smtClean="0">
                <a:solidFill>
                  <a:schemeClr val="tx1"/>
                </a:solidFill>
                <a:ea typeface="+mn-ea"/>
                <a:cs typeface="+mn-cs"/>
              </a:rPr>
              <a:t> Project evaluation – review and assessment.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defines characteristics of a project:</a:t>
            </a:r>
          </a:p>
          <a:p>
            <a:pPr>
              <a:buFont typeface="Arial" pitchFamily="34" charset="0"/>
              <a:buChar char="•"/>
            </a:pPr>
            <a:r>
              <a:rPr lang="en-AU" sz="1200" kern="1200" dirty="0" smtClean="0">
                <a:solidFill>
                  <a:schemeClr val="tx1"/>
                </a:solidFill>
                <a:ea typeface="+mn-ea"/>
                <a:cs typeface="+mn-cs"/>
              </a:rPr>
              <a:t> They are temporary/transient in nature – they do not exist as part of the everyday, ongoing activities/business of the organisation</a:t>
            </a:r>
          </a:p>
          <a:p>
            <a:pPr>
              <a:buFont typeface="Arial" pitchFamily="34" charset="0"/>
              <a:buChar char="•"/>
            </a:pPr>
            <a:r>
              <a:rPr lang="en-AU" sz="1200" kern="1200" dirty="0" smtClean="0">
                <a:solidFill>
                  <a:schemeClr val="tx1"/>
                </a:solidFill>
                <a:ea typeface="+mn-ea"/>
                <a:cs typeface="+mn-cs"/>
              </a:rPr>
              <a:t> They have a beginning – there is a start date</a:t>
            </a:r>
          </a:p>
          <a:p>
            <a:pPr>
              <a:buFont typeface="Arial" pitchFamily="34" charset="0"/>
              <a:buChar char="•"/>
            </a:pPr>
            <a:r>
              <a:rPr lang="en-AU" sz="1200" kern="1200" dirty="0" smtClean="0">
                <a:solidFill>
                  <a:schemeClr val="tx1"/>
                </a:solidFill>
                <a:ea typeface="+mn-ea"/>
                <a:cs typeface="+mn-cs"/>
              </a:rPr>
              <a:t> They have an end date – there is a final date for completion</a:t>
            </a:r>
          </a:p>
          <a:p>
            <a:pPr>
              <a:buFont typeface="Arial" pitchFamily="34" charset="0"/>
              <a:buChar char="•"/>
            </a:pPr>
            <a:r>
              <a:rPr lang="en-AU" sz="1200" kern="1200" dirty="0" smtClean="0">
                <a:solidFill>
                  <a:schemeClr val="tx1"/>
                </a:solidFill>
                <a:ea typeface="+mn-ea"/>
                <a:cs typeface="+mn-cs"/>
              </a:rPr>
              <a:t> They have stated goals/objectives – these outline/specify what the project is expected to achieve: they may be called ‘project deliverables’</a:t>
            </a:r>
          </a:p>
          <a:p>
            <a:pPr>
              <a:buFont typeface="Arial" pitchFamily="34" charset="0"/>
              <a:buChar char="•"/>
            </a:pPr>
            <a:r>
              <a:rPr lang="en-AU" sz="1200" kern="1200" dirty="0" smtClean="0">
                <a:solidFill>
                  <a:schemeClr val="tx1"/>
                </a:solidFill>
                <a:ea typeface="+mn-ea"/>
                <a:cs typeface="+mn-cs"/>
              </a:rPr>
              <a:t> They have limitations, restrictions, constraints – all projects must (for example) fit within a budget, occur within a specified physical area, only involve nominated people and/or resources</a:t>
            </a:r>
          </a:p>
          <a:p>
            <a:pPr>
              <a:buFont typeface="Arial" pitchFamily="34" charset="0"/>
              <a:buChar char="•"/>
            </a:pPr>
            <a:r>
              <a:rPr lang="en-AU" sz="1200" kern="1200" dirty="0" smtClean="0">
                <a:solidFill>
                  <a:schemeClr val="tx1"/>
                </a:solidFill>
                <a:ea typeface="+mn-ea"/>
                <a:cs typeface="+mn-cs"/>
              </a:rPr>
              <a:t> They require interaction and collaboration with others to determine and approve decisions to be made and action to be taken, to obtain relevant information and to assist in numerous ways with project management activities.</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‘small’</a:t>
            </a:r>
            <a:r>
              <a:rPr lang="en-AU" sz="1200" kern="1200" dirty="0" smtClean="0">
                <a:solidFill>
                  <a:schemeClr val="tx1"/>
                </a:solidFill>
                <a:ea typeface="+mn-ea"/>
                <a:cs typeface="+mn-cs"/>
              </a:rPr>
              <a:t> projects are limited by one or more of the following factors:</a:t>
            </a:r>
          </a:p>
          <a:p>
            <a:pPr>
              <a:buFont typeface="Arial" pitchFamily="34" charset="0"/>
              <a:buChar char="•"/>
            </a:pPr>
            <a:r>
              <a:rPr lang="en-AU" sz="1200" kern="1200" dirty="0" smtClean="0">
                <a:solidFill>
                  <a:schemeClr val="tx1"/>
                </a:solidFill>
                <a:ea typeface="+mn-ea"/>
                <a:cs typeface="+mn-cs"/>
              </a:rPr>
              <a:t> Duration – the length of time the project will take from ’start’ to ‘finish’ is comparatively short. Timeframes for small projects exists traditionally within the ‘one week’ to ‘three months’ range.</a:t>
            </a:r>
          </a:p>
          <a:p>
            <a:pPr>
              <a:buFont typeface="Arial" pitchFamily="34" charset="0"/>
              <a:buChar char="•"/>
            </a:pPr>
            <a:r>
              <a:rPr lang="en-AU" sz="1200" kern="1200" dirty="0" smtClean="0">
                <a:solidFill>
                  <a:schemeClr val="tx1"/>
                </a:solidFill>
                <a:ea typeface="+mn-ea"/>
                <a:cs typeface="+mn-cs"/>
              </a:rPr>
              <a:t> Physical resources involved – small projects generally require significantly fewer physical resources than is the case for major projects</a:t>
            </a:r>
          </a:p>
          <a:p>
            <a:pPr>
              <a:buFont typeface="Arial" pitchFamily="34" charset="0"/>
              <a:buChar char="•"/>
            </a:pPr>
            <a:r>
              <a:rPr lang="en-AU" sz="1200" kern="1200" dirty="0" smtClean="0">
                <a:solidFill>
                  <a:schemeClr val="tx1"/>
                </a:solidFill>
                <a:ea typeface="+mn-ea"/>
                <a:cs typeface="+mn-cs"/>
              </a:rPr>
              <a:t> Human resources required – a small project can sometimes involve only you in conjunction with designated external stakeholders. Sometimes the small project may require you to be assisted by a limited number of internal staff, or the involvement of workplace staff for a nominated number of hours.</a:t>
            </a:r>
          </a:p>
          <a:p>
            <a:pPr>
              <a:buFont typeface="Arial" pitchFamily="34" charset="0"/>
              <a:buChar char="•"/>
            </a:pPr>
            <a:r>
              <a:rPr lang="en-AU" sz="1200" kern="1200" dirty="0" smtClean="0">
                <a:solidFill>
                  <a:schemeClr val="tx1"/>
                </a:solidFill>
                <a:ea typeface="+mn-ea"/>
                <a:cs typeface="+mn-cs"/>
              </a:rPr>
              <a:t> Financial resources committed – generally speaking a small project generally involves less money</a:t>
            </a:r>
          </a:p>
          <a:p>
            <a:pPr>
              <a:buFont typeface="Arial" pitchFamily="34" charset="0"/>
              <a:buChar char="•"/>
            </a:pPr>
            <a:r>
              <a:rPr lang="en-AU" sz="1200" kern="1200" dirty="0" smtClean="0">
                <a:solidFill>
                  <a:schemeClr val="tx1"/>
                </a:solidFill>
                <a:ea typeface="+mn-ea"/>
                <a:cs typeface="+mn-cs"/>
              </a:rPr>
              <a:t> Information necessary – compared to large/major project a small project often requires very little information from within the organisation and from outside the organisation (from external customers, suppliers, businesses, agencies or authorities)</a:t>
            </a:r>
          </a:p>
          <a:p>
            <a:pPr>
              <a:buFont typeface="Arial" pitchFamily="34" charset="0"/>
              <a:buChar char="•"/>
            </a:pPr>
            <a:r>
              <a:rPr lang="en-AU" sz="1200" kern="1200" dirty="0" smtClean="0">
                <a:solidFill>
                  <a:schemeClr val="tx1"/>
                </a:solidFill>
                <a:ea typeface="+mn-ea"/>
                <a:cs typeface="+mn-cs"/>
              </a:rPr>
              <a:t> Complexity – small projects are usually quite simple and straightforward.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a:t>
            </a:r>
          </a:p>
          <a:p>
            <a:pPr>
              <a:buFont typeface="Arial" pitchFamily="34" charset="0"/>
              <a:buChar char="•"/>
            </a:pPr>
            <a:r>
              <a:rPr lang="en-US" dirty="0" smtClean="0"/>
              <a:t> W</a:t>
            </a:r>
            <a:r>
              <a:rPr lang="en-AU" sz="1200" kern="1200" dirty="0" smtClean="0">
                <a:solidFill>
                  <a:schemeClr val="tx1"/>
                </a:solidFill>
                <a:ea typeface="+mn-ea"/>
                <a:cs typeface="+mn-cs"/>
              </a:rPr>
              <a:t>hen managing a small project you will often be expected to also undertake your ‘normal’ workplace duties and while managing the small project</a:t>
            </a:r>
          </a:p>
          <a:p>
            <a:pPr>
              <a:buFont typeface="Arial" pitchFamily="34" charset="0"/>
              <a:buChar char="•"/>
            </a:pPr>
            <a:r>
              <a:rPr lang="en-AU" sz="1200" kern="1200" dirty="0" smtClean="0">
                <a:solidFill>
                  <a:schemeClr val="tx1"/>
                </a:solidFill>
                <a:ea typeface="+mn-ea"/>
                <a:cs typeface="+mn-cs"/>
              </a:rPr>
              <a:t> Large/major projects often have a Project Manager whereas small projects do not</a:t>
            </a:r>
          </a:p>
          <a:p>
            <a:pPr>
              <a:buFont typeface="Arial" pitchFamily="34" charset="0"/>
              <a:buChar char="•"/>
            </a:pPr>
            <a:r>
              <a:rPr lang="en-AU" sz="1200" kern="1200" dirty="0" smtClean="0">
                <a:solidFill>
                  <a:schemeClr val="tx1"/>
                </a:solidFill>
                <a:ea typeface="+mn-ea"/>
                <a:cs typeface="+mn-cs"/>
              </a:rPr>
              <a:t> This means you will need to become quickly skilled at:</a:t>
            </a:r>
          </a:p>
          <a:p>
            <a:pPr lvl="1">
              <a:buFont typeface="Arial" pitchFamily="34" charset="0"/>
              <a:buChar char="•"/>
            </a:pPr>
            <a:r>
              <a:rPr lang="en-AU" sz="1200" kern="1200" dirty="0" smtClean="0">
                <a:solidFill>
                  <a:schemeClr val="tx1"/>
                </a:solidFill>
                <a:ea typeface="+mn-ea"/>
                <a:cs typeface="+mn-cs"/>
              </a:rPr>
              <a:t> Time management – to ensure all your traditional work is completed as required, plus ensure all the requirements of the project are fulfilled</a:t>
            </a:r>
          </a:p>
          <a:p>
            <a:pPr lvl="1">
              <a:buFont typeface="Arial" pitchFamily="34" charset="0"/>
              <a:buChar char="•"/>
            </a:pPr>
            <a:r>
              <a:rPr lang="en-AU" sz="1200" kern="1200" dirty="0" smtClean="0">
                <a:solidFill>
                  <a:schemeClr val="tx1"/>
                </a:solidFill>
                <a:ea typeface="+mn-ea"/>
                <a:cs typeface="+mn-cs"/>
              </a:rPr>
              <a:t> Delegating – most supervisors/managers who are handed project management responsibilities will need to share their normal workload by delegating it to others</a:t>
            </a:r>
          </a:p>
          <a:p>
            <a:pPr lvl="1">
              <a:buFont typeface="Arial" pitchFamily="34" charset="0"/>
              <a:buChar char="•"/>
            </a:pPr>
            <a:r>
              <a:rPr lang="en-AU" sz="1200" kern="1200" dirty="0" smtClean="0">
                <a:solidFill>
                  <a:schemeClr val="tx1"/>
                </a:solidFill>
                <a:ea typeface="+mn-ea"/>
                <a:cs typeface="+mn-cs"/>
              </a:rPr>
              <a:t> Multi-tasking – developing the ability and capacity to do numerous things at the same time.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US" dirty="0" smtClean="0"/>
              <a:t>Trainer gives examples of small projects:</a:t>
            </a:r>
          </a:p>
          <a:p>
            <a:pPr>
              <a:buFont typeface="Arial" pitchFamily="34" charset="0"/>
              <a:buChar char="•"/>
            </a:pPr>
            <a:r>
              <a:rPr lang="en-AU" sz="1200" kern="1200" dirty="0" smtClean="0">
                <a:solidFill>
                  <a:schemeClr val="tx1"/>
                </a:solidFill>
                <a:ea typeface="+mn-ea"/>
                <a:cs typeface="+mn-cs"/>
              </a:rPr>
              <a:t> Conferences and meetings, promotional events and functions conducted on-site or at a remote venue for a client as a component of the MICE industry sector.</a:t>
            </a:r>
          </a:p>
          <a:p>
            <a:pPr>
              <a:buFont typeface="Arial" pitchFamily="34" charset="0"/>
              <a:buChar char="•"/>
            </a:pPr>
            <a:r>
              <a:rPr lang="en-AU" sz="1200" kern="1200" dirty="0" smtClean="0">
                <a:solidFill>
                  <a:schemeClr val="tx1"/>
                </a:solidFill>
                <a:ea typeface="+mn-ea"/>
                <a:cs typeface="+mn-cs"/>
              </a:rPr>
              <a:t> Introduction of new technology or systems into the workplace to increase efficiency, save money, meet marketplace competition, comply with a legislated obligation and/or satisfy identified customer demand</a:t>
            </a:r>
          </a:p>
          <a:p>
            <a:pPr>
              <a:buFont typeface="Arial" pitchFamily="34" charset="0"/>
              <a:buChar char="•"/>
            </a:pPr>
            <a:r>
              <a:rPr lang="en-AU" sz="1200" kern="1200" dirty="0" smtClean="0">
                <a:solidFill>
                  <a:schemeClr val="tx1"/>
                </a:solidFill>
                <a:ea typeface="+mn-ea"/>
                <a:cs typeface="+mn-cs"/>
              </a:rPr>
              <a:t> Product development which can be seen as relating to:</a:t>
            </a:r>
          </a:p>
          <a:p>
            <a:pPr lvl="1">
              <a:buFont typeface="Arial" pitchFamily="34" charset="0"/>
              <a:buChar char="•"/>
            </a:pPr>
            <a:r>
              <a:rPr lang="en-AU" sz="1200" kern="1200" dirty="0" smtClean="0">
                <a:solidFill>
                  <a:schemeClr val="tx1"/>
                </a:solidFill>
                <a:ea typeface="+mn-ea"/>
                <a:cs typeface="+mn-cs"/>
              </a:rPr>
              <a:t> The creation of a new product or the development of an upgraded product based on an existing product</a:t>
            </a:r>
          </a:p>
          <a:p>
            <a:pPr lvl="1">
              <a:buFont typeface="Arial" pitchFamily="34" charset="0"/>
              <a:buChar char="•"/>
            </a:pPr>
            <a:r>
              <a:rPr lang="en-AU" sz="1200" kern="1200" dirty="0" smtClean="0">
                <a:solidFill>
                  <a:schemeClr val="tx1"/>
                </a:solidFill>
                <a:ea typeface="+mn-ea"/>
                <a:cs typeface="+mn-cs"/>
              </a:rPr>
              <a:t> The development of packages</a:t>
            </a:r>
          </a:p>
          <a:p>
            <a:pPr lvl="1">
              <a:buFont typeface="Arial" pitchFamily="34" charset="0"/>
              <a:buChar char="•"/>
            </a:pPr>
            <a:r>
              <a:rPr lang="en-AU" sz="1200" kern="1200" dirty="0" smtClean="0">
                <a:solidFill>
                  <a:schemeClr val="tx1"/>
                </a:solidFill>
                <a:ea typeface="+mn-ea"/>
                <a:cs typeface="+mn-cs"/>
              </a:rPr>
              <a:t> Service enhancement including the development of service quality criteria</a:t>
            </a:r>
          </a:p>
          <a:p>
            <a:pPr lvl="1">
              <a:buFont typeface="Arial" pitchFamily="34" charset="0"/>
              <a:buChar char="•"/>
            </a:pPr>
            <a:r>
              <a:rPr lang="en-AU" sz="1200" kern="1200" dirty="0" smtClean="0">
                <a:solidFill>
                  <a:schemeClr val="tx1"/>
                </a:solidFill>
                <a:ea typeface="+mn-ea"/>
                <a:cs typeface="+mn-cs"/>
              </a:rPr>
              <a:t> Refurbishing</a:t>
            </a:r>
          </a:p>
          <a:p>
            <a:pPr>
              <a:buFont typeface="Arial" pitchFamily="34" charset="0"/>
              <a:buChar char="•"/>
            </a:pPr>
            <a:r>
              <a:rPr lang="en-AU" sz="1200" kern="1200" dirty="0" smtClean="0">
                <a:solidFill>
                  <a:schemeClr val="tx1"/>
                </a:solidFill>
                <a:ea typeface="+mn-ea"/>
                <a:cs typeface="+mn-cs"/>
              </a:rPr>
              <a:t> Research projects for a range of topics which may include:</a:t>
            </a:r>
          </a:p>
          <a:p>
            <a:pPr lvl="1">
              <a:buFont typeface="Arial" pitchFamily="34" charset="0"/>
              <a:buChar char="•"/>
            </a:pPr>
            <a:r>
              <a:rPr lang="en-AU" sz="1200" kern="1200" dirty="0" smtClean="0">
                <a:solidFill>
                  <a:schemeClr val="tx1"/>
                </a:solidFill>
                <a:ea typeface="+mn-ea"/>
                <a:cs typeface="+mn-cs"/>
              </a:rPr>
              <a:t> Customer satisfaction surveys</a:t>
            </a:r>
          </a:p>
          <a:p>
            <a:pPr lvl="1">
              <a:buFont typeface="Arial" pitchFamily="34" charset="0"/>
              <a:buChar char="•"/>
            </a:pPr>
            <a:r>
              <a:rPr lang="en-AU" sz="1200" kern="1200" dirty="0" smtClean="0">
                <a:solidFill>
                  <a:schemeClr val="tx1"/>
                </a:solidFill>
                <a:ea typeface="+mn-ea"/>
                <a:cs typeface="+mn-cs"/>
              </a:rPr>
              <a:t> Resource acquisition</a:t>
            </a:r>
          </a:p>
          <a:p>
            <a:pPr lvl="1">
              <a:buFont typeface="Arial" pitchFamily="34" charset="0"/>
              <a:buChar char="•"/>
            </a:pPr>
            <a:r>
              <a:rPr lang="en-AU" sz="1200" kern="1200" dirty="0" smtClean="0">
                <a:solidFill>
                  <a:schemeClr val="tx1"/>
                </a:solidFill>
                <a:ea typeface="+mn-ea"/>
                <a:cs typeface="+mn-cs"/>
              </a:rPr>
              <a:t> Legislated compliance requirements </a:t>
            </a:r>
          </a:p>
          <a:p>
            <a:pPr>
              <a:buFont typeface="Arial" pitchFamily="34" charset="0"/>
              <a:buChar char="•"/>
            </a:pPr>
            <a:r>
              <a:rPr lang="en-AU" sz="1200" kern="1200" dirty="0" smtClean="0">
                <a:solidFill>
                  <a:schemeClr val="tx1"/>
                </a:solidFill>
                <a:ea typeface="+mn-ea"/>
                <a:cs typeface="+mn-cs"/>
              </a:rPr>
              <a:t> Ongoing business projects such as taking responsibility for delivering one component of a bigger ‘major’ project, for example:</a:t>
            </a:r>
          </a:p>
          <a:p>
            <a:pPr lvl="1">
              <a:buFont typeface="Arial" pitchFamily="34" charset="0"/>
              <a:buChar char="•"/>
            </a:pPr>
            <a:r>
              <a:rPr lang="en-AU" sz="1200" kern="1200" dirty="0" smtClean="0">
                <a:solidFill>
                  <a:schemeClr val="tx1"/>
                </a:solidFill>
                <a:ea typeface="+mn-ea"/>
                <a:cs typeface="+mn-cs"/>
              </a:rPr>
              <a:t> You might have responsibility for the food and beverage elements of a function but not responsibility for staffing, security, entertainment or other aspects of the event</a:t>
            </a:r>
          </a:p>
          <a:p>
            <a:pPr lvl="1">
              <a:buFont typeface="Arial" pitchFamily="34" charset="0"/>
              <a:buChar char="•"/>
            </a:pPr>
            <a:r>
              <a:rPr lang="en-AU" sz="1200" kern="1200" dirty="0" smtClean="0">
                <a:solidFill>
                  <a:schemeClr val="tx1"/>
                </a:solidFill>
                <a:ea typeface="+mn-ea"/>
                <a:cs typeface="+mn-cs"/>
              </a:rPr>
              <a:t> You may be asked to handle the purchase of tables and chairs for a refurbished restaurant but not be involved in the planning and building stages, the decoration or the development of new menus</a:t>
            </a:r>
          </a:p>
          <a:p>
            <a:pPr lvl="1">
              <a:buFont typeface="Arial" pitchFamily="34" charset="0"/>
              <a:buChar char="•"/>
            </a:pPr>
            <a:r>
              <a:rPr lang="en-AU" sz="1200" kern="1200" dirty="0" smtClean="0">
                <a:solidFill>
                  <a:schemeClr val="tx1"/>
                </a:solidFill>
                <a:ea typeface="+mn-ea"/>
                <a:cs typeface="+mn-cs"/>
              </a:rPr>
              <a:t> You may be asked to undertake specified market research activities if the venue has embarked on a wider project to attract a new target market.</a:t>
            </a:r>
          </a:p>
          <a:p>
            <a:pPr>
              <a:buFont typeface="Arial" pitchFamily="34" charset="0"/>
              <a:buNone/>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students</a:t>
            </a:r>
            <a:r>
              <a:rPr lang="en-US" b="0" baseline="0" dirty="0" smtClean="0"/>
              <a:t> to identify and describe a range of small industry-related project identifying what is involved in each.</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highlights that </a:t>
            </a:r>
            <a:r>
              <a:rPr lang="en-AU" sz="1200" kern="1200" dirty="0" smtClean="0">
                <a:solidFill>
                  <a:schemeClr val="tx1"/>
                </a:solidFill>
                <a:ea typeface="+mn-ea"/>
                <a:cs typeface="+mn-cs"/>
              </a:rPr>
              <a:t>there is commonly a need when managing a small project to cooperate, collaborate and consult with others in relation to the project explaining there may need to consult with:</a:t>
            </a:r>
          </a:p>
          <a:p>
            <a:pPr>
              <a:buFont typeface="Arial" pitchFamily="34" charset="0"/>
              <a:buChar char="•"/>
            </a:pPr>
            <a:r>
              <a:rPr lang="en-AU" sz="1200" kern="1200" dirty="0" smtClean="0">
                <a:solidFill>
                  <a:schemeClr val="tx1"/>
                </a:solidFill>
                <a:ea typeface="+mn-ea"/>
                <a:cs typeface="+mn-cs"/>
              </a:rPr>
              <a:t> Other supervisors from other departments or sections</a:t>
            </a:r>
          </a:p>
          <a:p>
            <a:pPr>
              <a:buFont typeface="Arial" pitchFamily="34" charset="0"/>
              <a:buChar char="•"/>
            </a:pPr>
            <a:r>
              <a:rPr lang="en-AU" sz="1200" kern="1200" dirty="0" smtClean="0">
                <a:solidFill>
                  <a:schemeClr val="tx1"/>
                </a:solidFill>
                <a:ea typeface="+mn-ea"/>
                <a:cs typeface="+mn-cs"/>
              </a:rPr>
              <a:t> Managers of other divisions or areas</a:t>
            </a:r>
          </a:p>
          <a:p>
            <a:pPr>
              <a:buFont typeface="Arial" pitchFamily="34" charset="0"/>
              <a:buChar char="•"/>
            </a:pPr>
            <a:r>
              <a:rPr lang="en-AU" sz="1200" kern="1200" dirty="0" smtClean="0">
                <a:solidFill>
                  <a:schemeClr val="tx1"/>
                </a:solidFill>
                <a:ea typeface="+mn-ea"/>
                <a:cs typeface="+mn-cs"/>
              </a:rPr>
              <a:t> Owners of the business</a:t>
            </a:r>
          </a:p>
          <a:p>
            <a:pPr>
              <a:buFont typeface="Arial" pitchFamily="34" charset="0"/>
              <a:buChar char="•"/>
            </a:pPr>
            <a:r>
              <a:rPr lang="en-AU" sz="1200" kern="1200" dirty="0" smtClean="0">
                <a:solidFill>
                  <a:schemeClr val="tx1"/>
                </a:solidFill>
                <a:ea typeface="+mn-ea"/>
                <a:cs typeface="+mn-cs"/>
              </a:rPr>
              <a:t> Staff from relevant operational departments</a:t>
            </a:r>
          </a:p>
          <a:p>
            <a:pPr>
              <a:buFont typeface="Arial" pitchFamily="34" charset="0"/>
              <a:buChar char="•"/>
            </a:pPr>
            <a:r>
              <a:rPr lang="en-AU" sz="1200" kern="1200" dirty="0" smtClean="0">
                <a:solidFill>
                  <a:schemeClr val="tx1"/>
                </a:solidFill>
                <a:ea typeface="+mn-ea"/>
                <a:cs typeface="+mn-cs"/>
              </a:rPr>
              <a:t> The client where there is a person/organisation paying for an event/function</a:t>
            </a:r>
          </a:p>
          <a:p>
            <a:pPr>
              <a:buFont typeface="Arial" pitchFamily="34" charset="0"/>
              <a:buChar char="•"/>
            </a:pPr>
            <a:r>
              <a:rPr lang="en-AU" sz="1200" kern="1200" dirty="0" smtClean="0">
                <a:solidFill>
                  <a:schemeClr val="tx1"/>
                </a:solidFill>
                <a:ea typeface="+mn-ea"/>
                <a:cs typeface="+mn-cs"/>
              </a:rPr>
              <a:t> Attendees at an event/function to determine their needs, wants and preferences</a:t>
            </a:r>
          </a:p>
          <a:p>
            <a:pPr>
              <a:buFont typeface="Arial" pitchFamily="34" charset="0"/>
              <a:buChar char="•"/>
            </a:pPr>
            <a:r>
              <a:rPr lang="en-AU" sz="1200" kern="1200" dirty="0" smtClean="0">
                <a:solidFill>
                  <a:schemeClr val="tx1"/>
                </a:solidFill>
                <a:ea typeface="+mn-ea"/>
                <a:cs typeface="+mn-cs"/>
              </a:rPr>
              <a:t> Providers and suppliers – these are the businesses who sell you the goods and services needed to undertake/support the implementation of a project</a:t>
            </a:r>
          </a:p>
          <a:p>
            <a:pPr>
              <a:buFont typeface="Arial" pitchFamily="34" charset="0"/>
              <a:buChar char="•"/>
            </a:pPr>
            <a:r>
              <a:rPr lang="en-AU" sz="1200" kern="1200" dirty="0" smtClean="0">
                <a:solidFill>
                  <a:schemeClr val="tx1"/>
                </a:solidFill>
                <a:ea typeface="+mn-ea"/>
                <a:cs typeface="+mn-cs"/>
              </a:rPr>
              <a:t> Government authorities and agencies to determine legal compliance requirements, and to solicit support and assistance with implementation of the project.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ea typeface="+mn-ea"/>
                <a:cs typeface="+mn-cs"/>
              </a:rPr>
              <a:t>The requirement to consult with others frequently/usually extends beyond the vital planning phase into the implementation stages of the project.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the </a:t>
            </a:r>
            <a:r>
              <a:rPr lang="en-AU" sz="1200" kern="1200" dirty="0" smtClean="0">
                <a:solidFill>
                  <a:schemeClr val="tx1"/>
                </a:solidFill>
                <a:ea typeface="+mn-ea"/>
                <a:cs typeface="+mn-cs"/>
              </a:rPr>
              <a:t>following have proved effective in engaging with staff in project work:</a:t>
            </a:r>
          </a:p>
          <a:p>
            <a:pPr lvl="0">
              <a:buFont typeface="Arial" pitchFamily="34" charset="0"/>
              <a:buChar char="•"/>
            </a:pPr>
            <a:r>
              <a:rPr lang="en-AU" sz="1200" kern="1200" dirty="0" smtClean="0">
                <a:solidFill>
                  <a:schemeClr val="tx1"/>
                </a:solidFill>
                <a:ea typeface="+mn-ea"/>
                <a:cs typeface="+mn-cs"/>
              </a:rPr>
              <a:t> Develop dedicated project teams</a:t>
            </a:r>
          </a:p>
          <a:p>
            <a:pPr lvl="0">
              <a:buFont typeface="Arial" pitchFamily="34" charset="0"/>
              <a:buChar char="•"/>
            </a:pPr>
            <a:r>
              <a:rPr lang="en-AU" sz="1200" kern="1200" dirty="0" smtClean="0">
                <a:solidFill>
                  <a:schemeClr val="tx1"/>
                </a:solidFill>
                <a:ea typeface="+mn-ea"/>
                <a:cs typeface="+mn-cs"/>
              </a:rPr>
              <a:t> Discuss the project at staff meetings, team briefings and similar</a:t>
            </a:r>
          </a:p>
          <a:p>
            <a:pPr lvl="0">
              <a:buFont typeface="Arial" pitchFamily="34" charset="0"/>
              <a:buChar char="•"/>
            </a:pPr>
            <a:r>
              <a:rPr lang="en-AU" sz="1200" kern="1200" dirty="0" smtClean="0">
                <a:solidFill>
                  <a:schemeClr val="tx1"/>
                </a:solidFill>
                <a:ea typeface="+mn-ea"/>
                <a:cs typeface="+mn-cs"/>
              </a:rPr>
              <a:t> Hold a special staff meeting (or series of meetings) with a sole focus on the project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explaining ways to engage with staff in project work:</a:t>
            </a:r>
          </a:p>
          <a:p>
            <a:pPr lvl="0">
              <a:buFont typeface="Arial" pitchFamily="34" charset="0"/>
              <a:buChar char="•"/>
            </a:pPr>
            <a:r>
              <a:rPr lang="en-AU" sz="1200" kern="1200" dirty="0" smtClean="0">
                <a:solidFill>
                  <a:schemeClr val="tx1"/>
                </a:solidFill>
                <a:ea typeface="+mn-ea"/>
                <a:cs typeface="+mn-cs"/>
              </a:rPr>
              <a:t> Involve staff who participated in other/similar projects either at the venue or at other businesses where they have worked</a:t>
            </a:r>
          </a:p>
          <a:p>
            <a:pPr lvl="0">
              <a:buFont typeface="Arial" pitchFamily="34" charset="0"/>
              <a:buChar char="•"/>
            </a:pPr>
            <a:r>
              <a:rPr lang="en-AU" sz="1200" kern="1200" dirty="0" smtClean="0">
                <a:solidFill>
                  <a:schemeClr val="tx1"/>
                </a:solidFill>
                <a:ea typeface="+mn-ea"/>
                <a:cs typeface="+mn-cs"/>
              </a:rPr>
              <a:t> Ask/invite staff to participate – never assume staff will participate or will want to participate</a:t>
            </a:r>
          </a:p>
          <a:p>
            <a:pPr lvl="0">
              <a:buFont typeface="Arial" pitchFamily="34" charset="0"/>
              <a:buChar char="•"/>
            </a:pPr>
            <a:r>
              <a:rPr lang="en-AU" sz="1200" kern="1200" dirty="0" smtClean="0">
                <a:solidFill>
                  <a:schemeClr val="tx1"/>
                </a:solidFill>
                <a:ea typeface="+mn-ea"/>
                <a:cs typeface="+mn-cs"/>
              </a:rPr>
              <a:t> Pay staff to participate – consult and meet during work hours as opposed to expecting staff to participate in their own time</a:t>
            </a:r>
          </a:p>
          <a:p>
            <a:pPr lvl="0">
              <a:buFont typeface="Arial" pitchFamily="34" charset="0"/>
              <a:buChar char="•"/>
            </a:pPr>
            <a:r>
              <a:rPr lang="en-AU" sz="1200" kern="1200" dirty="0" smtClean="0">
                <a:solidFill>
                  <a:schemeClr val="tx1"/>
                </a:solidFill>
                <a:ea typeface="+mn-ea"/>
                <a:cs typeface="+mn-cs"/>
              </a:rPr>
              <a:t> Thank people for participating and contributing</a:t>
            </a:r>
          </a:p>
          <a:p>
            <a:pPr lvl="0">
              <a:buFont typeface="Arial" pitchFamily="34" charset="0"/>
              <a:buChar char="•"/>
            </a:pPr>
            <a:r>
              <a:rPr lang="en-AU" sz="1200" kern="1200" dirty="0" smtClean="0">
                <a:solidFill>
                  <a:schemeClr val="tx1"/>
                </a:solidFill>
                <a:ea typeface="+mn-ea"/>
                <a:cs typeface="+mn-cs"/>
              </a:rPr>
              <a:t> Recognise and acknowledge contributions made.</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a:t>
            </a:r>
            <a:r>
              <a:rPr lang="en-US" baseline="0" dirty="0" smtClean="0"/>
              <a:t> </a:t>
            </a:r>
            <a:r>
              <a:rPr lang="en-US" dirty="0" smtClean="0"/>
              <a:t>‘project scope’ stating:</a:t>
            </a:r>
          </a:p>
          <a:p>
            <a:pPr>
              <a:buFont typeface="Arial" pitchFamily="34" charset="0"/>
              <a:buChar char="•"/>
            </a:pPr>
            <a:r>
              <a:rPr lang="en-AU" sz="1200" kern="1200" dirty="0" smtClean="0">
                <a:solidFill>
                  <a:schemeClr val="tx1"/>
                </a:solidFill>
                <a:ea typeface="+mn-ea"/>
                <a:cs typeface="+mn-cs"/>
              </a:rPr>
              <a:t> A project scope statement sets out the scope of the project.</a:t>
            </a:r>
          </a:p>
          <a:p>
            <a:pPr>
              <a:buFont typeface="Arial" pitchFamily="34" charset="0"/>
              <a:buChar char="•"/>
            </a:pPr>
            <a:r>
              <a:rPr lang="en-AU" sz="1200" kern="1200" dirty="0" smtClean="0">
                <a:solidFill>
                  <a:schemeClr val="tx1"/>
                </a:solidFill>
                <a:ea typeface="+mn-ea"/>
                <a:cs typeface="+mn-cs"/>
              </a:rPr>
              <a:t> This scope refers to identifying the things (tasks, project deliverables) that have to be completed for the project to be successfully completed. </a:t>
            </a:r>
          </a:p>
          <a:p>
            <a:pPr>
              <a:buFont typeface="Arial" pitchFamily="34" charset="0"/>
              <a:buChar char="•"/>
            </a:pPr>
            <a:r>
              <a:rPr lang="en-AU" sz="1200" kern="1200" dirty="0" smtClean="0">
                <a:solidFill>
                  <a:schemeClr val="tx1"/>
                </a:solidFill>
                <a:ea typeface="+mn-ea"/>
                <a:cs typeface="+mn-cs"/>
              </a:rPr>
              <a:t> It therefore defines your responsibility for the project.</a:t>
            </a:r>
            <a:r>
              <a:rPr lang="en-AU" sz="1200" kern="1200" baseline="0" dirty="0" smtClean="0">
                <a:solidFill>
                  <a:schemeClr val="tx1"/>
                </a:solidFill>
                <a:ea typeface="+mn-ea"/>
                <a:cs typeface="+mn-cs"/>
              </a:rPr>
              <a:t> I</a:t>
            </a:r>
            <a:r>
              <a:rPr lang="en-AU" sz="1200" kern="1200" dirty="0" smtClean="0">
                <a:solidFill>
                  <a:schemeClr val="tx1"/>
                </a:solidFill>
                <a:ea typeface="+mn-ea"/>
                <a:cs typeface="+mn-cs"/>
              </a:rPr>
              <a:t>f matters are not covered by the project scope (statement) then they are, quite simply, not part of the project and not your responsibility.</a:t>
            </a:r>
          </a:p>
          <a:p>
            <a:pPr>
              <a:buFont typeface="Arial" pitchFamily="34" charset="0"/>
              <a:buChar char="•"/>
            </a:pPr>
            <a:r>
              <a:rPr lang="en-AU" sz="1200" kern="1200" dirty="0" smtClean="0">
                <a:solidFill>
                  <a:schemeClr val="tx1"/>
                </a:solidFill>
                <a:ea typeface="+mn-ea"/>
                <a:cs typeface="+mn-cs"/>
              </a:rPr>
              <a:t> Great attention is paid to producing this document as it provides the basis for determining the budget required to enable the project to proceed/succeed.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t>
            </a:r>
            <a:r>
              <a:rPr lang="en-AU" sz="1200" kern="1200" dirty="0" smtClean="0">
                <a:solidFill>
                  <a:schemeClr val="tx1"/>
                </a:solidFill>
                <a:ea typeface="+mn-ea"/>
                <a:cs typeface="+mn-cs"/>
              </a:rPr>
              <a:t>explains there is no standard format for Scope Statements but they can be expected to cover/address:</a:t>
            </a:r>
          </a:p>
          <a:p>
            <a:pPr lvl="0">
              <a:buFont typeface="Arial" pitchFamily="34" charset="0"/>
              <a:buChar char="•"/>
            </a:pPr>
            <a:r>
              <a:rPr lang="en-AU" sz="1200" kern="1200" dirty="0" smtClean="0">
                <a:solidFill>
                  <a:schemeClr val="tx1"/>
                </a:solidFill>
                <a:ea typeface="+mn-ea"/>
                <a:cs typeface="+mn-cs"/>
              </a:rPr>
              <a:t> Justification/rationale for the project – explaining why the project is taking place which may take into account market research findings, internal demand for whatever is the focus of the project, for example:</a:t>
            </a:r>
          </a:p>
          <a:p>
            <a:pPr lvl="1">
              <a:buFont typeface="Arial" pitchFamily="34" charset="0"/>
              <a:buChar char="•"/>
            </a:pPr>
            <a:r>
              <a:rPr lang="en-AU" sz="1200" kern="1200" dirty="0" smtClean="0">
                <a:solidFill>
                  <a:schemeClr val="tx1"/>
                </a:solidFill>
                <a:ea typeface="+mn-ea"/>
                <a:cs typeface="+mn-cs"/>
              </a:rPr>
              <a:t> Need for increased dining areas</a:t>
            </a:r>
          </a:p>
          <a:p>
            <a:pPr lvl="1">
              <a:buFont typeface="Arial" pitchFamily="34" charset="0"/>
              <a:buChar char="•"/>
            </a:pPr>
            <a:r>
              <a:rPr lang="en-AU" sz="1200" kern="1200" dirty="0" smtClean="0">
                <a:solidFill>
                  <a:schemeClr val="tx1"/>
                </a:solidFill>
                <a:ea typeface="+mn-ea"/>
                <a:cs typeface="+mn-cs"/>
              </a:rPr>
              <a:t> Need for more room for front office </a:t>
            </a:r>
          </a:p>
          <a:p>
            <a:pPr lvl="1">
              <a:buFont typeface="Arial" pitchFamily="34" charset="0"/>
              <a:buChar char="•"/>
            </a:pPr>
            <a:r>
              <a:rPr lang="en-AU" sz="1200" kern="1200" dirty="0" smtClean="0">
                <a:solidFill>
                  <a:schemeClr val="tx1"/>
                </a:solidFill>
                <a:ea typeface="+mn-ea"/>
                <a:cs typeface="+mn-cs"/>
              </a:rPr>
              <a:t> Need for extra external entertainment facilities</a:t>
            </a:r>
          </a:p>
          <a:p>
            <a:pPr lvl="1">
              <a:buFont typeface="Arial" pitchFamily="34" charset="0"/>
              <a:buChar char="•"/>
            </a:pPr>
            <a:r>
              <a:rPr lang="en-AU" sz="1200" kern="1200" dirty="0" smtClean="0">
                <a:solidFill>
                  <a:schemeClr val="tx1"/>
                </a:solidFill>
                <a:ea typeface="+mn-ea"/>
                <a:cs typeface="+mn-cs"/>
              </a:rPr>
              <a:t> Need for room renovations</a:t>
            </a:r>
          </a:p>
          <a:p>
            <a:pPr lvl="1">
              <a:buFont typeface="Arial" pitchFamily="34" charset="0"/>
              <a:buChar char="•"/>
            </a:pPr>
            <a:r>
              <a:rPr lang="en-AU" sz="1200" kern="1200" dirty="0" smtClean="0">
                <a:solidFill>
                  <a:schemeClr val="tx1"/>
                </a:solidFill>
                <a:ea typeface="+mn-ea"/>
                <a:cs typeface="+mn-cs"/>
              </a:rPr>
              <a:t> Need to respond to taken by competition/other venues which threaten the ongoing viability of the business </a:t>
            </a:r>
          </a:p>
          <a:p>
            <a:pPr lvl="1">
              <a:buFont typeface="Arial" pitchFamily="34" charset="0"/>
              <a:buChar char="•"/>
            </a:pPr>
            <a:r>
              <a:rPr lang="en-AU" sz="1200" kern="1200" dirty="0" smtClean="0">
                <a:solidFill>
                  <a:schemeClr val="tx1"/>
                </a:solidFill>
                <a:ea typeface="+mn-ea"/>
                <a:cs typeface="+mn-cs"/>
              </a:rPr>
              <a:t> Need to comply with a legal obligation</a:t>
            </a:r>
          </a:p>
          <a:p>
            <a:pPr lvl="0">
              <a:buFont typeface="Arial" pitchFamily="34" charset="0"/>
              <a:buChar char="•"/>
            </a:pPr>
            <a:r>
              <a:rPr lang="en-AU" sz="1200" kern="1200" dirty="0" smtClean="0">
                <a:solidFill>
                  <a:schemeClr val="tx1"/>
                </a:solidFill>
                <a:ea typeface="+mn-ea"/>
                <a:cs typeface="+mn-cs"/>
              </a:rPr>
              <a:t> Project deliverables – there can be two types of ‘deliverables. </a:t>
            </a:r>
          </a:p>
          <a:p>
            <a:pPr lvl="1">
              <a:buFont typeface="Arial" pitchFamily="34" charset="0"/>
              <a:buChar char="•"/>
            </a:pPr>
            <a:r>
              <a:rPr lang="en-AU" sz="1200" kern="1200" dirty="0" smtClean="0">
                <a:solidFill>
                  <a:schemeClr val="tx1"/>
                </a:solidFill>
                <a:ea typeface="+mn-ea"/>
                <a:cs typeface="+mn-cs"/>
              </a:rPr>
              <a:t> One type relates to milestones to be achieved/delivered within the duration of the project. These are similar to KPIs designed to help determine if the project is on track or not by set dates.</a:t>
            </a:r>
          </a:p>
          <a:p>
            <a:pPr lvl="1">
              <a:buFont typeface="Arial" pitchFamily="34" charset="0"/>
              <a:buChar char="•"/>
            </a:pPr>
            <a:r>
              <a:rPr lang="en-AU" sz="1200" kern="1200" dirty="0" smtClean="0">
                <a:solidFill>
                  <a:schemeClr val="tx1"/>
                </a:solidFill>
                <a:ea typeface="+mn-ea"/>
                <a:cs typeface="+mn-cs"/>
              </a:rPr>
              <a:t> The second type of deliverable is the end product/s for the project.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are the ‘things’ the project is intended to achieve when it is complete</a:t>
            </a:r>
          </a:p>
          <a:p>
            <a:pPr lvl="0">
              <a:buFont typeface="Arial" pitchFamily="34" charset="0"/>
              <a:buChar char="•"/>
            </a:pPr>
            <a:r>
              <a:rPr lang="en-AU" sz="1200" kern="1200" dirty="0" smtClean="0">
                <a:solidFill>
                  <a:schemeClr val="tx1"/>
                </a:solidFill>
                <a:ea typeface="+mn-ea"/>
                <a:cs typeface="+mn-cs"/>
              </a:rPr>
              <a:t> Name of the client or delegating or funding body.</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will often be the business itself because most small projects are initiated by the business on its own behalf/for its own benefit.</a:t>
            </a:r>
          </a:p>
          <a:p>
            <a:pPr lvl="1">
              <a:buFont typeface="Arial" pitchFamily="34" charset="0"/>
              <a:buChar char="•"/>
            </a:pPr>
            <a:r>
              <a:rPr lang="en-AU" sz="1200" kern="1200" dirty="0" smtClean="0">
                <a:solidFill>
                  <a:schemeClr val="tx1"/>
                </a:solidFill>
                <a:ea typeface="+mn-ea"/>
                <a:cs typeface="+mn-cs"/>
              </a:rPr>
              <a:t> Where the project is commissioned by a customer, or an outside agency or client their name and contact details will be provided and they are identified as the client/delegating body.</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giving information about contents of project scope statement:</a:t>
            </a:r>
          </a:p>
          <a:p>
            <a:pPr lvl="0">
              <a:buFont typeface="Arial" pitchFamily="34" charset="0"/>
              <a:buChar char="•"/>
            </a:pPr>
            <a:r>
              <a:rPr lang="en-AU" sz="1200" kern="1200" dirty="0" smtClean="0">
                <a:solidFill>
                  <a:schemeClr val="tx1"/>
                </a:solidFill>
                <a:ea typeface="+mn-ea"/>
                <a:cs typeface="+mn-cs"/>
              </a:rPr>
              <a:t>  Objectives for the project.</a:t>
            </a:r>
            <a:r>
              <a:rPr lang="en-AU" sz="1200" kern="1200" baseline="0" dirty="0" smtClean="0">
                <a:solidFill>
                  <a:schemeClr val="tx1"/>
                </a:solidFill>
                <a:ea typeface="+mn-ea"/>
                <a:cs typeface="+mn-cs"/>
              </a:rPr>
              <a:t> A</a:t>
            </a:r>
            <a:r>
              <a:rPr lang="en-AU" sz="1200" kern="1200" dirty="0" smtClean="0">
                <a:solidFill>
                  <a:schemeClr val="tx1"/>
                </a:solidFill>
                <a:ea typeface="+mn-ea"/>
                <a:cs typeface="+mn-cs"/>
              </a:rPr>
              <a:t>ll projects have numerous objectives and this section will set out:</a:t>
            </a:r>
          </a:p>
          <a:p>
            <a:pPr lvl="1">
              <a:buFont typeface="Arial" pitchFamily="34" charset="0"/>
              <a:buChar char="•"/>
            </a:pPr>
            <a:r>
              <a:rPr lang="en-AU" sz="1200" kern="1200" dirty="0" smtClean="0">
                <a:solidFill>
                  <a:schemeClr val="tx1"/>
                </a:solidFill>
                <a:ea typeface="+mn-ea"/>
                <a:cs typeface="+mn-cs"/>
              </a:rPr>
              <a:t> All quantifiable outcomes the project is intended to achieve </a:t>
            </a:r>
          </a:p>
          <a:p>
            <a:pPr lvl="1">
              <a:buFont typeface="Arial" pitchFamily="34" charset="0"/>
              <a:buChar char="•"/>
            </a:pPr>
            <a:r>
              <a:rPr lang="en-AU" sz="1200" kern="1200" dirty="0" smtClean="0">
                <a:solidFill>
                  <a:schemeClr val="tx1"/>
                </a:solidFill>
                <a:ea typeface="+mn-ea"/>
                <a:cs typeface="+mn-cs"/>
              </a:rPr>
              <a:t> The budget available </a:t>
            </a:r>
          </a:p>
          <a:p>
            <a:pPr lvl="1">
              <a:buFont typeface="Arial" pitchFamily="34" charset="0"/>
              <a:buChar char="•"/>
            </a:pPr>
            <a:r>
              <a:rPr lang="en-AU" sz="1200" kern="1200" dirty="0" smtClean="0">
                <a:solidFill>
                  <a:schemeClr val="tx1"/>
                </a:solidFill>
                <a:ea typeface="+mn-ea"/>
                <a:cs typeface="+mn-cs"/>
              </a:rPr>
              <a:t> Relevant quality indicators specifying the intended level of quality to be achieved by activities and outcomes.</a:t>
            </a:r>
          </a:p>
          <a:p>
            <a:pPr lvl="1">
              <a:buFont typeface="Arial" pitchFamily="34" charset="0"/>
              <a:buChar char="•"/>
            </a:pPr>
            <a:r>
              <a:rPr lang="en-AU" sz="1200" kern="1200" dirty="0" smtClean="0">
                <a:solidFill>
                  <a:schemeClr val="tx1"/>
                </a:solidFill>
                <a:ea typeface="+mn-ea"/>
                <a:cs typeface="+mn-cs"/>
              </a:rPr>
              <a:t> A standard requirement is all objectives for the project must conform to the SMART acronym meaning they must all be:</a:t>
            </a:r>
          </a:p>
          <a:p>
            <a:pPr lvl="2">
              <a:buFont typeface="Arial" pitchFamily="34" charset="0"/>
              <a:buChar char="•"/>
            </a:pPr>
            <a:r>
              <a:rPr lang="en-AU" sz="1200" kern="1200" dirty="0" smtClean="0">
                <a:solidFill>
                  <a:schemeClr val="tx1"/>
                </a:solidFill>
                <a:ea typeface="+mn-ea"/>
                <a:cs typeface="+mn-cs"/>
              </a:rPr>
              <a:t> Specific, Measurable, Achievable, Realistic, Time-related and Trackable.</a:t>
            </a:r>
          </a:p>
          <a:p>
            <a:pPr lvl="0">
              <a:buFont typeface="Arial" pitchFamily="34" charset="0"/>
              <a:buChar char="•"/>
            </a:pPr>
            <a:r>
              <a:rPr lang="en-AU" sz="1200" kern="1200" dirty="0" smtClean="0">
                <a:solidFill>
                  <a:schemeClr val="tx1"/>
                </a:solidFill>
                <a:ea typeface="+mn-ea"/>
                <a:cs typeface="+mn-cs"/>
              </a:rPr>
              <a:t> Risks identified for the project together with the level of acceptability and how to manage them</a:t>
            </a:r>
          </a:p>
          <a:p>
            <a:pPr lvl="0">
              <a:buFont typeface="Arial" pitchFamily="34" charset="0"/>
              <a:buChar char="•"/>
            </a:pPr>
            <a:r>
              <a:rPr lang="en-AU" sz="1200" kern="1200" dirty="0" smtClean="0">
                <a:solidFill>
                  <a:schemeClr val="tx1"/>
                </a:solidFill>
                <a:ea typeface="+mn-ea"/>
                <a:cs typeface="+mn-cs"/>
              </a:rPr>
              <a:t> Project management details specifying who will have responsibility/responsibilities, and/or the structure of the project management team (which is often you, members of the Board and co-opted people as required/deemed appropriate). </a:t>
            </a:r>
          </a:p>
          <a:p>
            <a:pPr>
              <a:buFont typeface="Arial" pitchFamily="34" charset="0"/>
              <a:buNone/>
            </a:pPr>
            <a:endParaRPr lang="en-US" dirty="0" smtClean="0"/>
          </a:p>
          <a:p>
            <a:pPr>
              <a:buFont typeface="Arial" pitchFamily="34" charset="0"/>
              <a:buNone/>
            </a:pPr>
            <a:r>
              <a:rPr lang="en-US" b="1" dirty="0" smtClean="0"/>
              <a:t>Class Activity – Handout</a:t>
            </a:r>
          </a:p>
          <a:p>
            <a:pPr>
              <a:buFont typeface="Arial" pitchFamily="34" charset="0"/>
              <a:buNone/>
            </a:pPr>
            <a:r>
              <a:rPr lang="en-US" b="0" dirty="0" smtClean="0"/>
              <a:t>Trainer distributes examples of Project scope statement and discusses same with students.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US" dirty="0" smtClean="0"/>
              <a:t>Trainer indicates PM may also need to access and read other documents relating to the project they are managing:</a:t>
            </a:r>
          </a:p>
          <a:p>
            <a:pPr lvl="0">
              <a:buFont typeface="Arial" pitchFamily="34" charset="0"/>
              <a:buChar char="•"/>
            </a:pPr>
            <a:r>
              <a:rPr lang="en-AU" sz="1200" kern="1200" dirty="0" smtClean="0">
                <a:solidFill>
                  <a:schemeClr val="tx1"/>
                </a:solidFill>
                <a:ea typeface="+mn-ea"/>
                <a:cs typeface="+mn-cs"/>
              </a:rPr>
              <a:t> Contracts already entered into by the venue.</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could be ongoing, pre-existing contracts (for maintenance, service, repairs, support, technology), or they could be contracts developed specifically for the project and entered into just for the project by senior management/owners. </a:t>
            </a:r>
          </a:p>
          <a:p>
            <a:pPr lvl="0">
              <a:buFont typeface="Arial" pitchFamily="34" charset="0"/>
              <a:buChar char="•"/>
            </a:pPr>
            <a:r>
              <a:rPr lang="en-AU" sz="1200" kern="1200" dirty="0" smtClean="0">
                <a:solidFill>
                  <a:schemeClr val="tx1"/>
                </a:solidFill>
                <a:ea typeface="+mn-ea"/>
                <a:cs typeface="+mn-cs"/>
              </a:rPr>
              <a:t> Other agreements.</a:t>
            </a:r>
            <a:r>
              <a:rPr lang="en-AU" sz="1200" kern="1200" baseline="0" dirty="0" smtClean="0">
                <a:solidFill>
                  <a:schemeClr val="tx1"/>
                </a:solidFill>
                <a:ea typeface="+mn-ea"/>
                <a:cs typeface="+mn-cs"/>
              </a:rPr>
              <a:t> I</a:t>
            </a:r>
            <a:r>
              <a:rPr lang="en-AU" sz="1200" kern="1200" dirty="0" smtClean="0">
                <a:solidFill>
                  <a:schemeClr val="tx1"/>
                </a:solidFill>
                <a:ea typeface="+mn-ea"/>
                <a:cs typeface="+mn-cs"/>
              </a:rPr>
              <a:t>t is also possible ‘other arrangements’ have been entered into by the business regarding the provision of services, joint venture arrangements, preferred supplier arrangements, MOUs or similar. You will be expected to function within the constraints these documents may impose </a:t>
            </a:r>
          </a:p>
          <a:p>
            <a:pPr lvl="0">
              <a:buFont typeface="Arial" pitchFamily="34" charset="0"/>
              <a:buChar char="•"/>
            </a:pPr>
            <a:r>
              <a:rPr lang="en-AU" sz="1200" kern="1200" dirty="0" smtClean="0">
                <a:solidFill>
                  <a:schemeClr val="tx1"/>
                </a:solidFill>
                <a:ea typeface="+mn-ea"/>
                <a:cs typeface="+mn-cs"/>
              </a:rPr>
              <a:t> Project brief.</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is a document similar to a Project Scope Statement that may identify ancillary project matters such as:</a:t>
            </a:r>
          </a:p>
          <a:p>
            <a:pPr lvl="1">
              <a:buFont typeface="Arial" pitchFamily="34" charset="0"/>
              <a:buChar char="•"/>
            </a:pPr>
            <a:r>
              <a:rPr lang="en-AU" sz="1200" kern="1200" dirty="0" smtClean="0">
                <a:solidFill>
                  <a:schemeClr val="tx1"/>
                </a:solidFill>
                <a:ea typeface="+mn-ea"/>
                <a:cs typeface="+mn-cs"/>
              </a:rPr>
              <a:t> Constraints, limitations and restrictions on the project</a:t>
            </a:r>
          </a:p>
          <a:p>
            <a:pPr lvl="1">
              <a:buFont typeface="Arial" pitchFamily="34" charset="0"/>
              <a:buChar char="•"/>
            </a:pPr>
            <a:r>
              <a:rPr lang="en-AU" sz="1200" kern="1200" dirty="0" smtClean="0">
                <a:solidFill>
                  <a:schemeClr val="tx1"/>
                </a:solidFill>
                <a:ea typeface="+mn-ea"/>
                <a:cs typeface="+mn-cs"/>
              </a:rPr>
              <a:t> Assumptions underpinning the rationale for the project</a:t>
            </a:r>
          </a:p>
          <a:p>
            <a:pPr lvl="1">
              <a:buFont typeface="Arial" pitchFamily="34" charset="0"/>
              <a:buChar char="•"/>
            </a:pPr>
            <a:r>
              <a:rPr lang="en-AU" sz="1200" kern="1200" dirty="0" smtClean="0">
                <a:solidFill>
                  <a:schemeClr val="tx1"/>
                </a:solidFill>
                <a:ea typeface="+mn-ea"/>
                <a:cs typeface="+mn-cs"/>
              </a:rPr>
              <a:t> The context for the project</a:t>
            </a:r>
          </a:p>
          <a:p>
            <a:pPr lvl="1">
              <a:buFont typeface="Arial" pitchFamily="34" charset="0"/>
              <a:buChar char="•"/>
            </a:pPr>
            <a:r>
              <a:rPr lang="en-AU" sz="1200" kern="1200" dirty="0" smtClean="0">
                <a:solidFill>
                  <a:schemeClr val="tx1"/>
                </a:solidFill>
                <a:ea typeface="+mn-ea"/>
                <a:cs typeface="+mn-cs"/>
              </a:rPr>
              <a:t> Stakeholders in the project</a:t>
            </a:r>
          </a:p>
          <a:p>
            <a:pPr lvl="1">
              <a:buFont typeface="Arial" pitchFamily="34" charset="0"/>
              <a:buChar char="•"/>
            </a:pPr>
            <a:r>
              <a:rPr lang="en-AU" sz="1200" kern="1200" dirty="0" smtClean="0">
                <a:solidFill>
                  <a:schemeClr val="tx1"/>
                </a:solidFill>
                <a:ea typeface="+mn-ea"/>
                <a:cs typeface="+mn-cs"/>
              </a:rPr>
              <a:t> A communication strategy for the project</a:t>
            </a:r>
          </a:p>
          <a:p>
            <a:pPr lvl="1">
              <a:buFont typeface="Arial" pitchFamily="34" charset="0"/>
              <a:buChar char="•"/>
            </a:pPr>
            <a:r>
              <a:rPr lang="en-AU" sz="1200" kern="1200" dirty="0" smtClean="0">
                <a:solidFill>
                  <a:schemeClr val="tx1"/>
                </a:solidFill>
                <a:ea typeface="+mn-ea"/>
                <a:cs typeface="+mn-cs"/>
              </a:rPr>
              <a:t> Relevant workplace  policies </a:t>
            </a:r>
          </a:p>
          <a:p>
            <a:pPr lvl="1">
              <a:buFont typeface="Arial" pitchFamily="34" charset="0"/>
              <a:buChar char="•"/>
            </a:pPr>
            <a:r>
              <a:rPr lang="en-AU" sz="1200" kern="1200" dirty="0" smtClean="0">
                <a:solidFill>
                  <a:schemeClr val="tx1"/>
                </a:solidFill>
                <a:ea typeface="+mn-ea"/>
                <a:cs typeface="+mn-cs"/>
              </a:rPr>
              <a:t> Legislated requirements</a:t>
            </a:r>
          </a:p>
          <a:p>
            <a:pPr lvl="1">
              <a:buFont typeface="Arial" pitchFamily="34" charset="0"/>
              <a:buChar char="•"/>
            </a:pPr>
            <a:r>
              <a:rPr lang="en-AU" sz="1200" kern="1200" dirty="0" smtClean="0">
                <a:solidFill>
                  <a:schemeClr val="tx1"/>
                </a:solidFill>
                <a:ea typeface="+mn-ea"/>
                <a:cs typeface="+mn-cs"/>
              </a:rPr>
              <a:t> Project management plan.</a:t>
            </a:r>
            <a:r>
              <a:rPr lang="en-AU" sz="1200" kern="1200" baseline="0" dirty="0" smtClean="0">
                <a:solidFill>
                  <a:schemeClr val="tx1"/>
                </a:solidFill>
                <a:ea typeface="+mn-ea"/>
                <a:cs typeface="+mn-cs"/>
              </a:rPr>
              <a:t> Y</a:t>
            </a:r>
            <a:r>
              <a:rPr lang="en-AU" sz="1200" kern="1200" dirty="0" smtClean="0">
                <a:solidFill>
                  <a:schemeClr val="tx1"/>
                </a:solidFill>
                <a:ea typeface="+mn-ea"/>
                <a:cs typeface="+mn-cs"/>
              </a:rPr>
              <a:t>ou may be required to prepare the Project Plan or you may be given one already prepared</a:t>
            </a:r>
          </a:p>
          <a:p>
            <a:pPr lvl="1">
              <a:buFont typeface="Arial" pitchFamily="34" charset="0"/>
              <a:buChar char="•"/>
            </a:pPr>
            <a:r>
              <a:rPr lang="en-AU" sz="1200" kern="1200" dirty="0" smtClean="0">
                <a:solidFill>
                  <a:schemeClr val="tx1"/>
                </a:solidFill>
                <a:ea typeface="+mn-ea"/>
                <a:cs typeface="+mn-cs"/>
              </a:rPr>
              <a:t> A range of supplementary documents tied to the specific nature of the project which, if not already contained in the above documents may address:</a:t>
            </a:r>
          </a:p>
          <a:p>
            <a:pPr lvl="1">
              <a:buFont typeface="Arial" pitchFamily="34" charset="0"/>
              <a:buChar char="•"/>
            </a:pPr>
            <a:r>
              <a:rPr lang="en-AU" sz="1200" kern="1200" dirty="0" smtClean="0">
                <a:solidFill>
                  <a:schemeClr val="tx1"/>
                </a:solidFill>
                <a:ea typeface="+mn-ea"/>
                <a:cs typeface="+mn-cs"/>
              </a:rPr>
              <a:t> Expected outcomes</a:t>
            </a:r>
          </a:p>
          <a:p>
            <a:pPr lvl="1">
              <a:buFont typeface="Arial" pitchFamily="34" charset="0"/>
              <a:buChar char="•"/>
            </a:pPr>
            <a:r>
              <a:rPr lang="en-AU" sz="1200" kern="1200" dirty="0" smtClean="0">
                <a:solidFill>
                  <a:schemeClr val="tx1"/>
                </a:solidFill>
                <a:ea typeface="+mn-ea"/>
                <a:cs typeface="+mn-cs"/>
              </a:rPr>
              <a:t> Inclusions and exclusions for the project</a:t>
            </a:r>
          </a:p>
          <a:p>
            <a:pPr lvl="1">
              <a:buFont typeface="Arial" pitchFamily="34" charset="0"/>
              <a:buChar char="•"/>
            </a:pPr>
            <a:r>
              <a:rPr lang="en-AU" sz="1200" kern="1200" dirty="0" smtClean="0">
                <a:solidFill>
                  <a:schemeClr val="tx1"/>
                </a:solidFill>
                <a:ea typeface="+mn-ea"/>
                <a:cs typeface="+mn-cs"/>
              </a:rPr>
              <a:t> Timeframes for the project and identified stages</a:t>
            </a:r>
          </a:p>
          <a:p>
            <a:pPr lvl="1">
              <a:buFont typeface="Arial" pitchFamily="34" charset="0"/>
              <a:buChar char="•"/>
            </a:pPr>
            <a:r>
              <a:rPr lang="en-AU" sz="1200" kern="1200" dirty="0" smtClean="0">
                <a:solidFill>
                  <a:schemeClr val="tx1"/>
                </a:solidFill>
                <a:ea typeface="+mn-ea"/>
                <a:cs typeface="+mn-cs"/>
              </a:rPr>
              <a:t> Quality standards/criteria for project deliverables</a:t>
            </a:r>
          </a:p>
          <a:p>
            <a:pPr lvl="1">
              <a:buFont typeface="Arial" pitchFamily="34" charset="0"/>
              <a:buChar char="•"/>
            </a:pPr>
            <a:r>
              <a:rPr lang="en-AU" sz="1200" kern="1200" dirty="0" smtClean="0">
                <a:solidFill>
                  <a:schemeClr val="tx1"/>
                </a:solidFill>
                <a:ea typeface="+mn-ea"/>
                <a:cs typeface="+mn-cs"/>
              </a:rPr>
              <a:t> Project resources. </a:t>
            </a:r>
          </a:p>
          <a:p>
            <a:pPr>
              <a:buFont typeface="Arial" pitchFamily="34" charset="0"/>
              <a:buNone/>
            </a:pPr>
            <a:endParaRPr lang="en-US" dirty="0" smtClean="0"/>
          </a:p>
          <a:p>
            <a:pPr>
              <a:buFont typeface="Arial" pitchFamily="34" charset="0"/>
              <a:buNone/>
            </a:pPr>
            <a:r>
              <a:rPr lang="en-US" b="1" dirty="0" smtClean="0"/>
              <a:t>Class Activity – Handouts</a:t>
            </a:r>
          </a:p>
          <a:p>
            <a:pPr>
              <a:buFont typeface="Arial" pitchFamily="34" charset="0"/>
              <a:buNone/>
            </a:pPr>
            <a:r>
              <a:rPr lang="en-US" b="0" dirty="0" smtClean="0"/>
              <a:t>Trainer distributes and discusses documents as identified on the slide.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emphasises need to seek clarification regarding project:</a:t>
            </a:r>
          </a:p>
          <a:p>
            <a:pPr>
              <a:buFont typeface="Arial" pitchFamily="34" charset="0"/>
              <a:buChar char="•"/>
            </a:pPr>
            <a:r>
              <a:rPr lang="en-AU" sz="1200" kern="1200" dirty="0" smtClean="0">
                <a:solidFill>
                  <a:schemeClr val="tx1"/>
                </a:solidFill>
                <a:ea typeface="+mn-ea"/>
                <a:cs typeface="+mn-cs"/>
              </a:rPr>
              <a:t> No project should proceed until there is total clarity about what the requirements of the project are.</a:t>
            </a:r>
          </a:p>
          <a:p>
            <a:pPr>
              <a:buFont typeface="Arial" pitchFamily="34" charset="0"/>
              <a:buChar char="•"/>
            </a:pPr>
            <a:r>
              <a:rPr lang="en-AU" sz="1200" kern="1200" dirty="0" smtClean="0">
                <a:solidFill>
                  <a:schemeClr val="tx1"/>
                </a:solidFill>
                <a:ea typeface="+mn-ea"/>
                <a:cs typeface="+mn-cs"/>
              </a:rPr>
              <a:t> A Project Manager can never assume they know what is required.</a:t>
            </a:r>
            <a:r>
              <a:rPr lang="en-AU" sz="1200" kern="1200" baseline="0" dirty="0" smtClean="0">
                <a:solidFill>
                  <a:schemeClr val="tx1"/>
                </a:solidFill>
                <a:ea typeface="+mn-ea"/>
                <a:cs typeface="+mn-cs"/>
              </a:rPr>
              <a:t> A</a:t>
            </a:r>
            <a:r>
              <a:rPr lang="en-AU" sz="1200" kern="1200" dirty="0" smtClean="0">
                <a:solidFill>
                  <a:schemeClr val="tx1"/>
                </a:solidFill>
                <a:ea typeface="+mn-ea"/>
                <a:cs typeface="+mn-cs"/>
              </a:rPr>
              <a:t>ll proposed action must be clarified, and there is sometimes a requirement all action must receive actual verbal or written approval before it can be taken..</a:t>
            </a:r>
          </a:p>
          <a:p>
            <a:pPr>
              <a:buFont typeface="Arial" pitchFamily="34" charset="0"/>
              <a:buChar char="•"/>
            </a:pPr>
            <a:r>
              <a:rPr lang="en-AU" sz="1200" kern="1200" dirty="0" smtClean="0">
                <a:solidFill>
                  <a:schemeClr val="tx1"/>
                </a:solidFill>
                <a:ea typeface="+mn-ea"/>
                <a:cs typeface="+mn-cs"/>
              </a:rPr>
              <a:t> The ‘delegating authority’ will depend on what the project is:</a:t>
            </a:r>
          </a:p>
          <a:p>
            <a:pPr>
              <a:buFont typeface="Arial" pitchFamily="34" charset="0"/>
              <a:buChar char="•"/>
            </a:pPr>
            <a:r>
              <a:rPr lang="en-AU" sz="1200" kern="1200" dirty="0" smtClean="0">
                <a:solidFill>
                  <a:schemeClr val="tx1"/>
                </a:solidFill>
                <a:ea typeface="+mn-ea"/>
                <a:cs typeface="+mn-cs"/>
              </a:rPr>
              <a:t> For functions/events the delegating authority could be an individual – a private person, or someone who represents a business.</a:t>
            </a:r>
          </a:p>
          <a:p>
            <a:pPr>
              <a:buFont typeface="Arial" pitchFamily="34" charset="0"/>
              <a:buChar char="•"/>
            </a:pPr>
            <a:r>
              <a:rPr lang="en-AU" sz="1200" kern="1200" dirty="0" smtClean="0">
                <a:solidFill>
                  <a:schemeClr val="tx1"/>
                </a:solidFill>
                <a:ea typeface="+mn-ea"/>
                <a:cs typeface="+mn-cs"/>
              </a:rPr>
              <a:t> Where finance for a building, renovation or upgrading project has been received from a funding body (such as an industry body, or a government authority), this body/agency becomes the delegating authority</a:t>
            </a:r>
          </a:p>
          <a:p>
            <a:pPr>
              <a:buFont typeface="Arial" pitchFamily="34" charset="0"/>
              <a:buChar char="•"/>
            </a:pPr>
            <a:r>
              <a:rPr lang="en-AU" sz="1200" kern="1200" dirty="0" smtClean="0">
                <a:solidFill>
                  <a:schemeClr val="tx1"/>
                </a:solidFill>
                <a:ea typeface="+mn-ea"/>
                <a:cs typeface="+mn-cs"/>
              </a:rPr>
              <a:t> In hospitality venues the Board, management or the owner is the delegating body for 99.9% of all projects (with the exception of, for example, functions).</a:t>
            </a:r>
          </a:p>
          <a:p>
            <a:pPr>
              <a:buFont typeface="Arial" pitchFamily="34" charset="0"/>
              <a:buChar char="•"/>
            </a:pPr>
            <a:r>
              <a:rPr lang="en-AU" sz="1200" kern="1200" dirty="0" smtClean="0">
                <a:solidFill>
                  <a:schemeClr val="tx1"/>
                </a:solidFill>
                <a:ea typeface="+mn-ea"/>
                <a:cs typeface="+mn-cs"/>
              </a:rPr>
              <a:t> In many ways, exactly who can be seen as the delegating authority depends on who is paying for things.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 person/agency who pays is essentially the delegating authority.</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stresses need to clarify project parameters with </a:t>
            </a:r>
            <a:r>
              <a:rPr lang="en-AU" sz="1200" kern="1200" dirty="0" smtClean="0">
                <a:solidFill>
                  <a:schemeClr val="tx1"/>
                </a:solidFill>
                <a:ea typeface="+mn-ea"/>
                <a:cs typeface="+mn-cs"/>
              </a:rPr>
              <a:t>management, delegating authorities or funding bodies on topics such as:</a:t>
            </a:r>
          </a:p>
          <a:p>
            <a:pPr lvl="0">
              <a:buFont typeface="Arial" pitchFamily="34" charset="0"/>
              <a:buChar char="•"/>
            </a:pPr>
            <a:r>
              <a:rPr lang="en-AU" sz="1200" kern="1200" dirty="0" smtClean="0">
                <a:solidFill>
                  <a:schemeClr val="tx1"/>
                </a:solidFill>
                <a:ea typeface="+mn-ea"/>
                <a:cs typeface="+mn-cs"/>
              </a:rPr>
              <a:t> Clarify ambiguity in any of the documents referred to above</a:t>
            </a:r>
          </a:p>
          <a:p>
            <a:pPr lvl="0">
              <a:buFont typeface="Arial" pitchFamily="34" charset="0"/>
              <a:buChar char="•"/>
            </a:pPr>
            <a:r>
              <a:rPr lang="en-AU" sz="1200" kern="1200" dirty="0" smtClean="0">
                <a:solidFill>
                  <a:schemeClr val="tx1"/>
                </a:solidFill>
                <a:ea typeface="+mn-ea"/>
                <a:cs typeface="+mn-cs"/>
              </a:rPr>
              <a:t> Resolve uncertainty about standards/quality requirements for deliverables</a:t>
            </a:r>
          </a:p>
          <a:p>
            <a:pPr lvl="0">
              <a:buFont typeface="Arial" pitchFamily="34" charset="0"/>
              <a:buChar char="•"/>
            </a:pPr>
            <a:r>
              <a:rPr lang="en-AU" sz="1200" kern="1200" dirty="0" smtClean="0">
                <a:solidFill>
                  <a:schemeClr val="tx1"/>
                </a:solidFill>
                <a:ea typeface="+mn-ea"/>
                <a:cs typeface="+mn-cs"/>
              </a:rPr>
              <a:t> Determine sequencing of competing action and priorities</a:t>
            </a:r>
          </a:p>
          <a:p>
            <a:pPr lvl="0">
              <a:buFont typeface="Arial" pitchFamily="34" charset="0"/>
              <a:buChar char="•"/>
            </a:pPr>
            <a:r>
              <a:rPr lang="en-AU" sz="1200" kern="1200" dirty="0" smtClean="0">
                <a:solidFill>
                  <a:schemeClr val="tx1"/>
                </a:solidFill>
                <a:ea typeface="+mn-ea"/>
                <a:cs typeface="+mn-cs"/>
              </a:rPr>
              <a:t> Decide what is, and what is not, included in the project scope</a:t>
            </a:r>
          </a:p>
          <a:p>
            <a:pPr lvl="0">
              <a:buFont typeface="Arial" pitchFamily="34" charset="0"/>
              <a:buChar char="•"/>
            </a:pPr>
            <a:r>
              <a:rPr lang="en-AU" sz="1200" kern="1200" dirty="0" smtClean="0">
                <a:solidFill>
                  <a:schemeClr val="tx1"/>
                </a:solidFill>
                <a:ea typeface="+mn-ea"/>
                <a:cs typeface="+mn-cs"/>
              </a:rPr>
              <a:t> Discuss and justify the need for extra resources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discussing need for clarification as part of the planning process:</a:t>
            </a:r>
          </a:p>
          <a:p>
            <a:pPr lvl="0">
              <a:buFont typeface="Arial" pitchFamily="34" charset="0"/>
              <a:buChar char="•"/>
            </a:pPr>
            <a:r>
              <a:rPr lang="en-AU" sz="1200" kern="1200" dirty="0" smtClean="0">
                <a:solidFill>
                  <a:schemeClr val="tx1"/>
                </a:solidFill>
                <a:ea typeface="+mn-ea"/>
                <a:cs typeface="+mn-cs"/>
              </a:rPr>
              <a:t> Provide insight or direction regarding the integration of this project with other projects being undertaken by the business either previously, at the same time, or being planned/consider into the future</a:t>
            </a:r>
          </a:p>
          <a:p>
            <a:pPr lvl="0">
              <a:buFont typeface="Arial" pitchFamily="34" charset="0"/>
              <a:buChar char="•"/>
            </a:pPr>
            <a:r>
              <a:rPr lang="en-AU" sz="1200" kern="1200" dirty="0" smtClean="0">
                <a:solidFill>
                  <a:schemeClr val="tx1"/>
                </a:solidFill>
                <a:ea typeface="+mn-ea"/>
                <a:cs typeface="+mn-cs"/>
              </a:rPr>
              <a:t> Research and/or give advice regarding legislative and quality standards especially relating to compliance, safety, protection of the organisation against legal action (civil as well as criminal)</a:t>
            </a:r>
          </a:p>
          <a:p>
            <a:pPr lvl="0">
              <a:buFont typeface="Arial" pitchFamily="34" charset="0"/>
              <a:buChar char="•"/>
            </a:pPr>
            <a:r>
              <a:rPr lang="en-AU" sz="1200" kern="1200" dirty="0" smtClean="0">
                <a:solidFill>
                  <a:schemeClr val="tx1"/>
                </a:solidFill>
                <a:ea typeface="+mn-ea"/>
                <a:cs typeface="+mn-cs"/>
              </a:rPr>
              <a:t> Clarify actions related to the procurement of items necessary for project implementation</a:t>
            </a:r>
          </a:p>
          <a:p>
            <a:pPr lvl="0">
              <a:buFont typeface="Arial" pitchFamily="34" charset="0"/>
              <a:buChar char="•"/>
            </a:pPr>
            <a:r>
              <a:rPr lang="en-AU" sz="1200" kern="1200" dirty="0" smtClean="0">
                <a:solidFill>
                  <a:schemeClr val="tx1"/>
                </a:solidFill>
                <a:ea typeface="+mn-ea"/>
                <a:cs typeface="+mn-cs"/>
              </a:rPr>
              <a:t> Clarify the project reporting requirements.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are commonly spelled out in the project brief but can be subject to change over the duration of the project especially where the project exists over an extended period.</a:t>
            </a:r>
          </a:p>
          <a:p>
            <a:pPr lvl="0">
              <a:buFont typeface="Arial" pitchFamily="34" charset="0"/>
              <a:buChar char="•"/>
            </a:pPr>
            <a:r>
              <a:rPr lang="en-AU" sz="1200" kern="1200" dirty="0" smtClean="0">
                <a:solidFill>
                  <a:schemeClr val="tx1"/>
                </a:solidFill>
                <a:ea typeface="+mn-ea"/>
                <a:cs typeface="+mn-cs"/>
              </a:rPr>
              <a:t> Give input regarding risk analysis regarding the project.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can necessitate their involvement in:</a:t>
            </a:r>
          </a:p>
          <a:p>
            <a:pPr lvl="1">
              <a:buFont typeface="Arial" pitchFamily="34" charset="0"/>
              <a:buChar char="•"/>
            </a:pPr>
            <a:r>
              <a:rPr lang="en-AU" sz="1200" kern="1200" dirty="0" smtClean="0">
                <a:solidFill>
                  <a:schemeClr val="tx1"/>
                </a:solidFill>
                <a:ea typeface="+mn-ea"/>
                <a:cs typeface="+mn-cs"/>
              </a:rPr>
              <a:t> Evaluating and classifying new risks emerging as the project unfolds undertaking formal risk analysis</a:t>
            </a:r>
          </a:p>
          <a:p>
            <a:pPr lvl="1">
              <a:buFont typeface="Arial" pitchFamily="34" charset="0"/>
              <a:buChar char="•"/>
            </a:pPr>
            <a:r>
              <a:rPr lang="en-AU" sz="1200" kern="1200" dirty="0" smtClean="0">
                <a:solidFill>
                  <a:schemeClr val="tx1"/>
                </a:solidFill>
                <a:ea typeface="+mn-ea"/>
                <a:cs typeface="+mn-cs"/>
              </a:rPr>
              <a:t> Revising and/or verifying likelihood and consequences</a:t>
            </a:r>
          </a:p>
          <a:p>
            <a:pPr lvl="1">
              <a:buFont typeface="Arial" pitchFamily="34" charset="0"/>
              <a:buChar char="•"/>
            </a:pPr>
            <a:r>
              <a:rPr lang="en-AU" sz="1200" kern="1200" dirty="0" smtClean="0">
                <a:solidFill>
                  <a:schemeClr val="tx1"/>
                </a:solidFill>
                <a:ea typeface="+mn-ea"/>
                <a:cs typeface="+mn-cs"/>
              </a:rPr>
              <a:t> Deciding on the risk management strategy for identified risks</a:t>
            </a:r>
          </a:p>
          <a:p>
            <a:pPr lvl="1">
              <a:buFont typeface="Arial" pitchFamily="34" charset="0"/>
              <a:buChar char="•"/>
            </a:pPr>
            <a:r>
              <a:rPr lang="en-AU" sz="1200" kern="1200" dirty="0" smtClean="0">
                <a:solidFill>
                  <a:schemeClr val="tx1"/>
                </a:solidFill>
                <a:ea typeface="+mn-ea"/>
                <a:cs typeface="+mn-cs"/>
              </a:rPr>
              <a:t> It must be standard practice for all projects to include consideration of safety (as it impacts on customers, staff, sub-contractors, members of the public, suppliers) as part of its risk analysis and management.</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dirty="0" smtClean="0"/>
              <a:t>Trainer stresses need for students to identify their personal limits in relation to the project they are managing stating they will usually have their normal authority plus extra scope of authority which may mean they are:</a:t>
            </a:r>
          </a:p>
          <a:p>
            <a:pPr lvl="0">
              <a:buFont typeface="Arial" pitchFamily="34" charset="0"/>
              <a:buChar char="•"/>
            </a:pPr>
            <a:r>
              <a:rPr lang="en-AU" sz="1200" kern="1200" dirty="0" smtClean="0">
                <a:solidFill>
                  <a:schemeClr val="tx1"/>
                </a:solidFill>
                <a:ea typeface="+mn-ea"/>
                <a:cs typeface="+mn-cs"/>
              </a:rPr>
              <a:t> Given access to statistics, information and other internal business data you do not normally have</a:t>
            </a:r>
          </a:p>
          <a:p>
            <a:pPr lvl="0">
              <a:buFont typeface="Arial" pitchFamily="34" charset="0"/>
              <a:buChar char="•"/>
            </a:pPr>
            <a:r>
              <a:rPr lang="en-AU" sz="1200" kern="1200" dirty="0" smtClean="0">
                <a:solidFill>
                  <a:schemeClr val="tx1"/>
                </a:solidFill>
                <a:ea typeface="+mn-ea"/>
                <a:cs typeface="+mn-cs"/>
              </a:rPr>
              <a:t> Granted authority to spend money on the project on behalf of the organisation in areas you do not normally spend money in, or to a greater extent than you are normally entitled/allowed to do</a:t>
            </a:r>
          </a:p>
          <a:p>
            <a:pPr lvl="0">
              <a:buFont typeface="Arial" pitchFamily="34" charset="0"/>
              <a:buChar char="•"/>
            </a:pPr>
            <a:r>
              <a:rPr lang="en-AU" sz="1200" kern="1200" dirty="0" smtClean="0">
                <a:solidFill>
                  <a:schemeClr val="tx1"/>
                </a:solidFill>
                <a:ea typeface="+mn-ea"/>
                <a:cs typeface="+mn-cs"/>
              </a:rPr>
              <a:t> Required to attend certain meetings,</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for example, with management, the client, delegating authorities, other departments</a:t>
            </a:r>
          </a:p>
          <a:p>
            <a:pPr lvl="0">
              <a:buFont typeface="Arial" pitchFamily="34" charset="0"/>
              <a:buChar char="•"/>
            </a:pPr>
            <a:r>
              <a:rPr lang="en-AU" sz="1200" kern="1200" dirty="0" smtClean="0">
                <a:solidFill>
                  <a:schemeClr val="tx1"/>
                </a:solidFill>
                <a:ea typeface="+mn-ea"/>
                <a:cs typeface="+mn-cs"/>
              </a:rPr>
              <a:t> Authorised to give directions and instructions to staff who are not normally your sub-ordinates.</a:t>
            </a:r>
          </a:p>
          <a:p>
            <a:pPr>
              <a:buFont typeface="Arial" pitchFamily="34" charset="0"/>
              <a:buNone/>
            </a:pPr>
            <a:endParaRPr lang="en-US" dirty="0" smtClean="0"/>
          </a:p>
          <a:p>
            <a:r>
              <a:rPr lang="en-AU" sz="1200" b="1" kern="1200" dirty="0" smtClean="0">
                <a:solidFill>
                  <a:schemeClr val="tx1"/>
                </a:solidFill>
                <a:ea typeface="+mn-ea"/>
                <a:cs typeface="+mn-cs"/>
              </a:rPr>
              <a:t>Never assume authority goes with responsibility</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It is vital you determine exactly what you are authorised to do when given project management responsibilities.</a:t>
            </a:r>
          </a:p>
          <a:p>
            <a:r>
              <a:rPr lang="en-AU" sz="1200" kern="1200" dirty="0" smtClean="0">
                <a:solidFill>
                  <a:schemeClr val="tx1"/>
                </a:solidFill>
                <a:ea typeface="+mn-ea"/>
                <a:cs typeface="+mn-cs"/>
              </a:rPr>
              <a:t>Never believe you are automatically given everything and anything you need to get the job done.</a:t>
            </a:r>
          </a:p>
          <a:p>
            <a:r>
              <a:rPr lang="en-AU" sz="1200" kern="1200" dirty="0" smtClean="0">
                <a:solidFill>
                  <a:schemeClr val="tx1"/>
                </a:solidFill>
                <a:ea typeface="+mn-ea"/>
                <a:cs typeface="+mn-cs"/>
              </a:rPr>
              <a:t>In fact, in some cases (relatively few) you may be given </a:t>
            </a:r>
            <a:r>
              <a:rPr lang="en-AU" sz="1200" i="1" kern="1200" dirty="0" smtClean="0">
                <a:solidFill>
                  <a:schemeClr val="tx1"/>
                </a:solidFill>
                <a:ea typeface="+mn-ea"/>
                <a:cs typeface="+mn-cs"/>
              </a:rPr>
              <a:t>no</a:t>
            </a:r>
            <a:r>
              <a:rPr lang="en-AU" sz="1200" kern="1200" dirty="0" smtClean="0">
                <a:solidFill>
                  <a:schemeClr val="tx1"/>
                </a:solidFill>
                <a:ea typeface="+mn-ea"/>
                <a:cs typeface="+mn-cs"/>
              </a:rPr>
              <a:t> extra authority despite being substantial additional responsibility.</a:t>
            </a:r>
          </a:p>
          <a:p>
            <a:r>
              <a:rPr lang="en-AU" sz="1200" kern="1200" dirty="0" smtClean="0">
                <a:solidFill>
                  <a:schemeClr val="tx1"/>
                </a:solidFill>
                <a:ea typeface="+mn-ea"/>
                <a:cs typeface="+mn-cs"/>
              </a:rPr>
              <a:t>Where you believe the authority you have been given does not match the need for authority you need, you must meet with management or the delegating authority to negotiate extra/necessary authority.</a:t>
            </a:r>
          </a:p>
          <a:p>
            <a:r>
              <a:rPr lang="en-AU" sz="1200" kern="1200" dirty="0" smtClean="0">
                <a:solidFill>
                  <a:schemeClr val="tx1"/>
                </a:solidFill>
                <a:ea typeface="+mn-ea"/>
                <a:cs typeface="+mn-cs"/>
              </a:rPr>
              <a:t>One of the biggest impediments to an individual successfully managing a project is to be hamstrung, not by cash or resources, but by the inability to make decisions and take action as you believe they are warranted by the project.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information relating to project reporting requirements identifying report characteristics:</a:t>
            </a:r>
          </a:p>
          <a:p>
            <a:pPr lvl="0">
              <a:buFont typeface="Arial" pitchFamily="34" charset="0"/>
              <a:buChar char="•"/>
            </a:pPr>
            <a:r>
              <a:rPr lang="en-AU" sz="1200" kern="1200" dirty="0" smtClean="0">
                <a:solidFill>
                  <a:schemeClr val="tx1"/>
                </a:solidFill>
                <a:ea typeface="+mn-ea"/>
                <a:cs typeface="+mn-cs"/>
              </a:rPr>
              <a:t> Attention to detail</a:t>
            </a:r>
          </a:p>
          <a:p>
            <a:pPr lvl="0">
              <a:buFont typeface="Arial" pitchFamily="34" charset="0"/>
              <a:buChar char="•"/>
            </a:pPr>
            <a:r>
              <a:rPr lang="en-AU" sz="1200" kern="1200" dirty="0" smtClean="0">
                <a:solidFill>
                  <a:schemeClr val="tx1"/>
                </a:solidFill>
                <a:ea typeface="+mn-ea"/>
                <a:cs typeface="+mn-cs"/>
              </a:rPr>
              <a:t> Truth and honesty – full disclosure is vital</a:t>
            </a:r>
          </a:p>
          <a:p>
            <a:pPr lvl="0">
              <a:buFont typeface="Arial" pitchFamily="34" charset="0"/>
              <a:buChar char="•"/>
            </a:pPr>
            <a:r>
              <a:rPr lang="en-AU" sz="1200" kern="1200" dirty="0" smtClean="0">
                <a:solidFill>
                  <a:schemeClr val="tx1"/>
                </a:solidFill>
                <a:ea typeface="+mn-ea"/>
                <a:cs typeface="+mn-cs"/>
              </a:rPr>
              <a:t> Producing documentation (that is, a formal Report, an Interim report, and a Final report) to be distributed to those authorised to receive it, and filed for future reference</a:t>
            </a:r>
          </a:p>
          <a:p>
            <a:pPr lvl="0">
              <a:buFont typeface="Arial" pitchFamily="34" charset="0"/>
              <a:buChar char="•"/>
            </a:pPr>
            <a:r>
              <a:rPr lang="en-AU" sz="1200" kern="1200" dirty="0" smtClean="0">
                <a:solidFill>
                  <a:schemeClr val="tx1"/>
                </a:solidFill>
                <a:ea typeface="+mn-ea"/>
                <a:cs typeface="+mn-cs"/>
              </a:rPr>
              <a:t> Evidence of claims and statements such as copies of quotations and invoices, photographs, claims for payment, receipts for money spent</a:t>
            </a:r>
          </a:p>
          <a:p>
            <a:pPr lvl="0">
              <a:buFont typeface="Arial" pitchFamily="34" charset="0"/>
              <a:buChar char="•"/>
            </a:pPr>
            <a:r>
              <a:rPr lang="en-AU" sz="1200" kern="1200" dirty="0" smtClean="0">
                <a:solidFill>
                  <a:schemeClr val="tx1"/>
                </a:solidFill>
                <a:ea typeface="+mn-ea"/>
                <a:cs typeface="+mn-cs"/>
              </a:rPr>
              <a:t> Comparison of actual progress against KPIs, milestones and stages for the project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to present information relating to project reporting requirements identifying report characteristics:</a:t>
            </a:r>
          </a:p>
          <a:p>
            <a:pPr lvl="0">
              <a:buFont typeface="Arial" pitchFamily="34" charset="0"/>
              <a:buChar char="•"/>
            </a:pPr>
            <a:r>
              <a:rPr lang="en-AU" sz="1200" kern="1200" dirty="0" smtClean="0">
                <a:solidFill>
                  <a:schemeClr val="tx1"/>
                </a:solidFill>
                <a:ea typeface="+mn-ea"/>
                <a:cs typeface="+mn-cs"/>
              </a:rPr>
              <a:t> Issues arising mentioning:</a:t>
            </a:r>
          </a:p>
          <a:p>
            <a:pPr lvl="1">
              <a:buFont typeface="Arial" pitchFamily="34" charset="0"/>
              <a:buChar char="•"/>
            </a:pPr>
            <a:r>
              <a:rPr lang="en-AU" sz="1200" kern="1200" dirty="0" smtClean="0">
                <a:solidFill>
                  <a:schemeClr val="tx1"/>
                </a:solidFill>
                <a:ea typeface="+mn-ea"/>
                <a:cs typeface="+mn-cs"/>
              </a:rPr>
              <a:t> Unexpected expenses</a:t>
            </a:r>
          </a:p>
          <a:p>
            <a:pPr lvl="1">
              <a:buFont typeface="Arial" pitchFamily="34" charset="0"/>
              <a:buChar char="•"/>
            </a:pPr>
            <a:r>
              <a:rPr lang="en-AU" sz="1200" kern="1200" dirty="0" smtClean="0">
                <a:solidFill>
                  <a:schemeClr val="tx1"/>
                </a:solidFill>
                <a:ea typeface="+mn-ea"/>
                <a:cs typeface="+mn-cs"/>
              </a:rPr>
              <a:t> Unforeseen problems and issues and how they are being addressed</a:t>
            </a:r>
          </a:p>
          <a:p>
            <a:pPr lvl="0">
              <a:buFont typeface="Arial" pitchFamily="34" charset="0"/>
              <a:buChar char="•"/>
            </a:pPr>
            <a:r>
              <a:rPr lang="en-AU" sz="1200" kern="1200" dirty="0" smtClean="0">
                <a:solidFill>
                  <a:schemeClr val="tx1"/>
                </a:solidFill>
                <a:ea typeface="+mn-ea"/>
                <a:cs typeface="+mn-cs"/>
              </a:rPr>
              <a:t> Requests relating to need for extra resources</a:t>
            </a:r>
          </a:p>
          <a:p>
            <a:pPr lvl="0">
              <a:buFont typeface="Arial" pitchFamily="34" charset="0"/>
              <a:buChar char="•"/>
            </a:pPr>
            <a:r>
              <a:rPr lang="en-AU" sz="1200" kern="1200" dirty="0" smtClean="0">
                <a:solidFill>
                  <a:schemeClr val="tx1"/>
                </a:solidFill>
                <a:ea typeface="+mn-ea"/>
                <a:cs typeface="+mn-cs"/>
              </a:rPr>
              <a:t> Identification of instances where the project is expected to finish before expected completion date and/or where it appears the project will experience a time over-run or cannot be finished at all</a:t>
            </a:r>
          </a:p>
          <a:p>
            <a:pPr lvl="0">
              <a:buFont typeface="Arial" pitchFamily="34" charset="0"/>
              <a:buChar char="•"/>
            </a:pPr>
            <a:r>
              <a:rPr lang="en-AU" sz="1200" kern="1200" dirty="0" smtClean="0">
                <a:solidFill>
                  <a:schemeClr val="tx1"/>
                </a:solidFill>
                <a:ea typeface="+mn-ea"/>
                <a:cs typeface="+mn-cs"/>
              </a:rPr>
              <a:t> Question and Answer session to allow others to question action taken, problems encountered, quality and/or quantity of deliverables</a:t>
            </a:r>
          </a:p>
          <a:p>
            <a:pPr lvl="0">
              <a:buFont typeface="Arial" pitchFamily="34" charset="0"/>
              <a:buChar char="•"/>
            </a:pPr>
            <a:r>
              <a:rPr lang="en-AU" sz="1200" kern="1200" dirty="0" smtClean="0">
                <a:solidFill>
                  <a:schemeClr val="tx1"/>
                </a:solidFill>
                <a:ea typeface="+mn-ea"/>
                <a:cs typeface="+mn-cs"/>
              </a:rPr>
              <a:t> Need to release/forward reports only to those listed on a Distribution List for the project.</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possible frequency of project</a:t>
            </a:r>
            <a:r>
              <a:rPr lang="en-US" baseline="0" dirty="0" smtClean="0"/>
              <a:t> reporting requirements:</a:t>
            </a:r>
          </a:p>
          <a:p>
            <a:pPr lvl="0">
              <a:buFont typeface="Arial" pitchFamily="34" charset="0"/>
              <a:buChar char="•"/>
            </a:pPr>
            <a:r>
              <a:rPr lang="en-AU" sz="1200" kern="1200" dirty="0" smtClean="0">
                <a:solidFill>
                  <a:schemeClr val="tx1"/>
                </a:solidFill>
                <a:ea typeface="+mn-ea"/>
                <a:cs typeface="+mn-cs"/>
              </a:rPr>
              <a:t> On a daily basis to the Manager as part of the daily management meetings held amongst the venue management team</a:t>
            </a:r>
          </a:p>
          <a:p>
            <a:pPr lvl="0">
              <a:buFont typeface="Arial" pitchFamily="34" charset="0"/>
              <a:buChar char="•"/>
            </a:pPr>
            <a:r>
              <a:rPr lang="en-AU" sz="1200" kern="1200" dirty="0" smtClean="0">
                <a:solidFill>
                  <a:schemeClr val="tx1"/>
                </a:solidFill>
                <a:ea typeface="+mn-ea"/>
                <a:cs typeface="+mn-cs"/>
              </a:rPr>
              <a:t> At every Board or management meeting.</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usually means once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a</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month</a:t>
            </a:r>
          </a:p>
          <a:p>
            <a:pPr lvl="0">
              <a:buFont typeface="Arial" pitchFamily="34" charset="0"/>
              <a:buChar char="•"/>
            </a:pPr>
            <a:r>
              <a:rPr lang="en-AU" sz="1200" kern="1200" dirty="0" smtClean="0">
                <a:solidFill>
                  <a:schemeClr val="tx1"/>
                </a:solidFill>
                <a:ea typeface="+mn-ea"/>
                <a:cs typeface="+mn-cs"/>
              </a:rPr>
              <a:t> At every committee/sub-committee meeting convened to assist with the project.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requirement is in addition to the need to report to the Board/management</a:t>
            </a:r>
          </a:p>
          <a:p>
            <a:pPr lvl="0">
              <a:buFont typeface="Arial" pitchFamily="34" charset="0"/>
              <a:buChar char="•"/>
            </a:pPr>
            <a:r>
              <a:rPr lang="en-AU" sz="1200" kern="1200" dirty="0" smtClean="0">
                <a:solidFill>
                  <a:schemeClr val="tx1"/>
                </a:solidFill>
                <a:ea typeface="+mn-ea"/>
                <a:cs typeface="+mn-cs"/>
              </a:rPr>
              <a:t> When required by stakeholders and/or delegating authorities (with the approval of venue management)</a:t>
            </a:r>
          </a:p>
          <a:p>
            <a:pPr lvl="0">
              <a:buFont typeface="Arial" pitchFamily="34" charset="0"/>
              <a:buChar char="•"/>
            </a:pPr>
            <a:r>
              <a:rPr lang="en-AU" sz="1200" kern="1200" dirty="0" smtClean="0">
                <a:solidFill>
                  <a:schemeClr val="tx1"/>
                </a:solidFill>
                <a:ea typeface="+mn-ea"/>
                <a:cs typeface="+mn-cs"/>
              </a:rPr>
              <a:t> At nominated dates as indicated by the formalised ‘reporting requirements’ contained in the project brief</a:t>
            </a:r>
            <a:r>
              <a:rPr lang="en-AU" sz="1200" kern="1200" baseline="0" dirty="0" smtClean="0">
                <a:solidFill>
                  <a:schemeClr val="tx1"/>
                </a:solidFill>
                <a:ea typeface="+mn-ea"/>
                <a:cs typeface="+mn-cs"/>
              </a:rPr>
              <a:t> or c</a:t>
            </a:r>
            <a:r>
              <a:rPr lang="en-AU" sz="1200" kern="1200" dirty="0" smtClean="0">
                <a:solidFill>
                  <a:schemeClr val="tx1"/>
                </a:solidFill>
                <a:ea typeface="+mn-ea"/>
                <a:cs typeface="+mn-cs"/>
              </a:rPr>
              <a:t>ommunications plan for the project</a:t>
            </a:r>
          </a:p>
          <a:p>
            <a:pPr lvl="0">
              <a:buFont typeface="Arial" pitchFamily="34" charset="0"/>
              <a:buChar char="•"/>
            </a:pPr>
            <a:r>
              <a:rPr lang="en-AU" sz="1200" kern="1200" dirty="0" smtClean="0">
                <a:solidFill>
                  <a:schemeClr val="tx1"/>
                </a:solidFill>
                <a:ea typeface="+mn-ea"/>
                <a:cs typeface="+mn-cs"/>
              </a:rPr>
              <a:t> For the Annual Report prepared for the organisation.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buFont typeface="Arial" pitchFamily="34" charset="0"/>
              <a:buNone/>
            </a:pPr>
            <a:r>
              <a:rPr lang="en-US" dirty="0" smtClean="0"/>
              <a:t>Trainer presents tips for success in project management:</a:t>
            </a:r>
          </a:p>
          <a:p>
            <a:pPr lvl="0">
              <a:buFont typeface="Arial" pitchFamily="34" charset="0"/>
              <a:buChar char="•"/>
            </a:pPr>
            <a:r>
              <a:rPr lang="en-AU" sz="1200" kern="1200" dirty="0" smtClean="0">
                <a:solidFill>
                  <a:schemeClr val="tx1"/>
                </a:solidFill>
                <a:ea typeface="+mn-ea"/>
                <a:cs typeface="+mn-cs"/>
              </a:rPr>
              <a:t> Never be afraid of asking for help from the Manager, the owner or other managers/supervisors </a:t>
            </a:r>
          </a:p>
          <a:p>
            <a:pPr lvl="0">
              <a:buFont typeface="Arial" pitchFamily="34" charset="0"/>
              <a:buChar char="•"/>
            </a:pPr>
            <a:r>
              <a:rPr lang="en-AU" sz="1200" kern="1200" dirty="0" smtClean="0">
                <a:solidFill>
                  <a:schemeClr val="tx1"/>
                </a:solidFill>
                <a:ea typeface="+mn-ea"/>
                <a:cs typeface="+mn-cs"/>
              </a:rPr>
              <a:t> Identify the assistance available within the venue.</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means making enquiries about the experience and expertise of Board members, supervisors, staff and those in your network of industry contacts: these people can be valuable resources</a:t>
            </a:r>
          </a:p>
          <a:p>
            <a:pPr lvl="0">
              <a:buFont typeface="Arial" pitchFamily="34" charset="0"/>
              <a:buChar char="•"/>
            </a:pPr>
            <a:r>
              <a:rPr lang="en-AU" sz="1200" kern="1200" dirty="0" smtClean="0">
                <a:solidFill>
                  <a:schemeClr val="tx1"/>
                </a:solidFill>
                <a:ea typeface="+mn-ea"/>
                <a:cs typeface="+mn-cs"/>
              </a:rPr>
              <a:t> Think before you act – planning and preparation are vital for all projects. Supervisors/managers in the hospitality industry are used to making quick decisions in normal everyday working situations but projects are different given their importance, the money involved and their potential impact so it is important to understand the same ‘quick response’ strategy is not to be applied when managing a project</a:t>
            </a:r>
          </a:p>
          <a:p>
            <a:pPr lvl="0">
              <a:buFont typeface="Arial" pitchFamily="34" charset="0"/>
              <a:buChar char="•"/>
            </a:pPr>
            <a:r>
              <a:rPr lang="en-AU" sz="1200" kern="1200" dirty="0" smtClean="0">
                <a:solidFill>
                  <a:schemeClr val="tx1"/>
                </a:solidFill>
                <a:ea typeface="+mn-ea"/>
                <a:cs typeface="+mn-cs"/>
              </a:rPr>
              <a:t> Wherever possible seek approval for action before taking the action.</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is not always possible, but it is always a good idea to present your proposed course of action to management or a designated sub-committee (established just for the project) or Manager and obtain their approval to proceed</a:t>
            </a:r>
          </a:p>
          <a:p>
            <a:pPr lvl="0">
              <a:buFont typeface="Arial" pitchFamily="34" charset="0"/>
              <a:buChar char="•"/>
            </a:pPr>
            <a:r>
              <a:rPr lang="en-AU" sz="1200" kern="1200" dirty="0" smtClean="0">
                <a:solidFill>
                  <a:schemeClr val="tx1"/>
                </a:solidFill>
                <a:ea typeface="+mn-ea"/>
                <a:cs typeface="+mn-cs"/>
              </a:rPr>
              <a:t> Try to block out certain times on certain days to do nothing but project work.</a:t>
            </a:r>
            <a:r>
              <a:rPr lang="en-AU" sz="1200" kern="1200" baseline="0" dirty="0" smtClean="0">
                <a:solidFill>
                  <a:schemeClr val="tx1"/>
                </a:solidFill>
                <a:ea typeface="+mn-ea"/>
                <a:cs typeface="+mn-cs"/>
              </a:rPr>
              <a:t> If</a:t>
            </a:r>
            <a:r>
              <a:rPr lang="en-AU" sz="1200" kern="1200" dirty="0" smtClean="0">
                <a:solidFill>
                  <a:schemeClr val="tx1"/>
                </a:solidFill>
                <a:ea typeface="+mn-ea"/>
                <a:cs typeface="+mn-cs"/>
              </a:rPr>
              <a:t> you are able to do this it means you have a given amount of time free from other interruptions/calls on your time to spend solely on the project. This is a good thing to do because project management demands concentration, time, and focus.</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a relevant PM to attend and:</a:t>
            </a:r>
          </a:p>
          <a:p>
            <a:pPr>
              <a:buFont typeface="Arial" pitchFamily="34" charset="0"/>
              <a:buChar char="•"/>
            </a:pPr>
            <a:r>
              <a:rPr lang="en-US" b="0" dirty="0" smtClean="0"/>
              <a:t> Discuss their role</a:t>
            </a:r>
          </a:p>
          <a:p>
            <a:pPr>
              <a:buFont typeface="Arial" pitchFamily="34" charset="0"/>
              <a:buChar char="•"/>
            </a:pPr>
            <a:r>
              <a:rPr lang="en-US" b="0" dirty="0" smtClean="0"/>
              <a:t> Explain the work they do</a:t>
            </a:r>
          </a:p>
          <a:p>
            <a:pPr>
              <a:buFont typeface="Arial" pitchFamily="34" charset="0"/>
              <a:buChar char="•"/>
            </a:pPr>
            <a:r>
              <a:rPr lang="en-US" b="0" dirty="0" smtClean="0"/>
              <a:t> Give examples of projects they have</a:t>
            </a:r>
          </a:p>
          <a:p>
            <a:pPr>
              <a:buFont typeface="Arial" pitchFamily="34" charset="0"/>
              <a:buChar char="•"/>
            </a:pPr>
            <a:r>
              <a:rPr lang="en-US" b="0" dirty="0" smtClean="0"/>
              <a:t> Provide advice to students.</a:t>
            </a:r>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all </a:t>
            </a:r>
            <a:r>
              <a:rPr lang="en-AU" sz="1200" kern="1200" dirty="0" smtClean="0">
                <a:solidFill>
                  <a:schemeClr val="tx1"/>
                </a:solidFill>
                <a:ea typeface="+mn-ea"/>
                <a:cs typeface="+mn-cs"/>
              </a:rPr>
              <a:t>projects require students to acquire and apply certain resources explaining a resource strategy is a plan on how they intend achieving one or more of the following (depending on the project, and the type of resource being considered):</a:t>
            </a:r>
          </a:p>
          <a:p>
            <a:pPr>
              <a:buFont typeface="Arial" pitchFamily="34" charset="0"/>
              <a:buChar char="•"/>
            </a:pPr>
            <a:r>
              <a:rPr lang="en-AU" sz="1200" kern="1200" dirty="0" smtClean="0">
                <a:solidFill>
                  <a:schemeClr val="tx1"/>
                </a:solidFill>
                <a:ea typeface="+mn-ea"/>
                <a:cs typeface="+mn-cs"/>
              </a:rPr>
              <a:t> Obtaining the necessary resources required to undertake the project you are managing</a:t>
            </a:r>
          </a:p>
          <a:p>
            <a:pPr>
              <a:buFont typeface="Arial" pitchFamily="34" charset="0"/>
              <a:buChar char="•"/>
            </a:pPr>
            <a:r>
              <a:rPr lang="en-AU" sz="1200" kern="1200" dirty="0" smtClean="0">
                <a:solidFill>
                  <a:schemeClr val="tx1"/>
                </a:solidFill>
                <a:ea typeface="+mn-ea"/>
                <a:cs typeface="+mn-cs"/>
              </a:rPr>
              <a:t> Developing the resources to ensure they allow you to achieve the objectives of the project and comply with applicable requirements and/or constraints</a:t>
            </a:r>
          </a:p>
          <a:p>
            <a:pPr>
              <a:buFont typeface="Arial" pitchFamily="34" charset="0"/>
              <a:buChar char="•"/>
            </a:pPr>
            <a:r>
              <a:rPr lang="en-AU" sz="1200" kern="1200" dirty="0" smtClean="0">
                <a:solidFill>
                  <a:schemeClr val="tx1"/>
                </a:solidFill>
                <a:ea typeface="+mn-ea"/>
                <a:cs typeface="+mn-cs"/>
              </a:rPr>
              <a:t> Maintaining the resources so they remain effective and efficient and their useful life is extended </a:t>
            </a:r>
          </a:p>
          <a:p>
            <a:pPr>
              <a:buFont typeface="Arial" pitchFamily="34" charset="0"/>
              <a:buChar char="•"/>
            </a:pPr>
            <a:r>
              <a:rPr lang="en-AU" sz="1200" kern="1200" dirty="0" smtClean="0">
                <a:solidFill>
                  <a:schemeClr val="tx1"/>
                </a:solidFill>
                <a:ea typeface="+mn-ea"/>
                <a:cs typeface="+mn-cs"/>
              </a:rPr>
              <a:t> Using and managing resources for optimal outcomes.</a:t>
            </a:r>
          </a:p>
          <a:p>
            <a:r>
              <a:rPr lang="en-AU" sz="1200" kern="1200" dirty="0" smtClean="0">
                <a:solidFill>
                  <a:schemeClr val="tx1"/>
                </a:solidFill>
                <a:ea typeface="+mn-ea"/>
                <a:cs typeface="+mn-cs"/>
              </a:rPr>
              <a:t>The resource strategy (also known as a ‘resources strategy’) for a small project may:</a:t>
            </a:r>
          </a:p>
          <a:p>
            <a:pPr>
              <a:buFont typeface="Arial" pitchFamily="34" charset="0"/>
              <a:buChar char="•"/>
            </a:pPr>
            <a:r>
              <a:rPr lang="en-AU" sz="1200" kern="1200" dirty="0" smtClean="0">
                <a:solidFill>
                  <a:schemeClr val="tx1"/>
                </a:solidFill>
                <a:ea typeface="+mn-ea"/>
                <a:cs typeface="+mn-cs"/>
              </a:rPr>
              <a:t> Be prepared in written form as a formal or semi-formal plan</a:t>
            </a:r>
          </a:p>
          <a:p>
            <a:pPr>
              <a:buFont typeface="Arial" pitchFamily="34" charset="0"/>
              <a:buChar char="•"/>
            </a:pPr>
            <a:r>
              <a:rPr lang="en-AU" sz="1200" kern="1200" dirty="0" smtClean="0">
                <a:solidFill>
                  <a:schemeClr val="tx1"/>
                </a:solidFill>
                <a:ea typeface="+mn-ea"/>
                <a:cs typeface="+mn-cs"/>
              </a:rPr>
              <a:t> Exist only in your mind as a result of mentally considering the resources required and how you may acquire them.</a:t>
            </a:r>
          </a:p>
          <a:p>
            <a:pPr>
              <a:buFont typeface="Arial" pitchFamily="34" charset="0"/>
              <a:buNone/>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states </a:t>
            </a:r>
            <a:r>
              <a:rPr lang="en-AU" sz="1200" kern="1200" dirty="0" smtClean="0">
                <a:solidFill>
                  <a:schemeClr val="tx1"/>
                </a:solidFill>
                <a:ea typeface="+mn-ea"/>
                <a:cs typeface="+mn-cs"/>
              </a:rPr>
              <a:t>specific resources required for each small project will obviously vary depending on the type and scope of the project and the objectives which have to be achieved but will always comprise a combination of:</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 Human resources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 Physical resources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 Financial</a:t>
            </a:r>
            <a:r>
              <a:rPr lang="en-AU" sz="1200" kern="1200" baseline="0" dirty="0" smtClean="0">
                <a:solidFill>
                  <a:schemeClr val="tx1"/>
                </a:solidFill>
                <a:ea typeface="+mn-ea"/>
                <a:cs typeface="+mn-cs"/>
              </a:rPr>
              <a:t> resources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 Information.</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discusses </a:t>
            </a:r>
            <a:r>
              <a:rPr lang="en-AU" sz="1200" kern="1200" dirty="0" smtClean="0">
                <a:solidFill>
                  <a:schemeClr val="tx1"/>
                </a:solidFill>
                <a:ea typeface="+mn-ea"/>
                <a:cs typeface="+mn-cs"/>
              </a:rPr>
              <a:t>Human resources strategy as this relates to the staff/personnel required for a project stating consideration may be given to:</a:t>
            </a:r>
          </a:p>
          <a:p>
            <a:pPr>
              <a:buFont typeface="Arial" pitchFamily="34" charset="0"/>
              <a:buChar char="•"/>
            </a:pPr>
            <a:r>
              <a:rPr lang="en-AU" sz="1200" kern="1200" dirty="0" smtClean="0">
                <a:solidFill>
                  <a:schemeClr val="tx1"/>
                </a:solidFill>
                <a:ea typeface="+mn-ea"/>
                <a:cs typeface="+mn-cs"/>
              </a:rPr>
              <a:t> The use or blend of permanent, part-time and casual employees </a:t>
            </a:r>
          </a:p>
          <a:p>
            <a:pPr>
              <a:buFont typeface="Arial" pitchFamily="34" charset="0"/>
              <a:buChar char="•"/>
            </a:pPr>
            <a:r>
              <a:rPr lang="en-AU" sz="1200" kern="1200" dirty="0" smtClean="0">
                <a:solidFill>
                  <a:schemeClr val="tx1"/>
                </a:solidFill>
                <a:ea typeface="+mn-ea"/>
                <a:cs typeface="+mn-cs"/>
              </a:rPr>
              <a:t> Including external providers or suppliers such as contractors</a:t>
            </a:r>
          </a:p>
          <a:p>
            <a:pPr>
              <a:buFont typeface="Arial" pitchFamily="34" charset="0"/>
              <a:buChar char="•"/>
            </a:pPr>
            <a:r>
              <a:rPr lang="en-AU" sz="1200" kern="1200" dirty="0" smtClean="0">
                <a:solidFill>
                  <a:schemeClr val="tx1"/>
                </a:solidFill>
                <a:ea typeface="+mn-ea"/>
                <a:cs typeface="+mn-cs"/>
              </a:rPr>
              <a:t> The experience and expertise the individuals or organisations need to have in relation to the project</a:t>
            </a:r>
          </a:p>
          <a:p>
            <a:pPr>
              <a:buFont typeface="Arial" pitchFamily="34" charset="0"/>
              <a:buChar char="•"/>
            </a:pPr>
            <a:r>
              <a:rPr lang="en-AU" sz="1200" kern="1200" dirty="0" smtClean="0">
                <a:solidFill>
                  <a:schemeClr val="tx1"/>
                </a:solidFill>
                <a:ea typeface="+mn-ea"/>
                <a:cs typeface="+mn-cs"/>
              </a:rPr>
              <a:t> Hours to be worked and paid for from the project budget/s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discusses </a:t>
            </a:r>
            <a:r>
              <a:rPr lang="en-AU" sz="1200" kern="1200" dirty="0" smtClean="0">
                <a:solidFill>
                  <a:schemeClr val="tx1"/>
                </a:solidFill>
                <a:ea typeface="+mn-ea"/>
                <a:cs typeface="+mn-cs"/>
              </a:rPr>
              <a:t>Physical resources strategy for a project which relates to machinery, equipment, utensil and other material assets required to:</a:t>
            </a:r>
          </a:p>
          <a:p>
            <a:pPr>
              <a:buFont typeface="Arial" pitchFamily="34" charset="0"/>
              <a:buChar char="•"/>
            </a:pPr>
            <a:r>
              <a:rPr lang="en-AU" sz="1200" kern="1200" dirty="0" smtClean="0">
                <a:solidFill>
                  <a:schemeClr val="tx1"/>
                </a:solidFill>
                <a:ea typeface="+mn-ea"/>
                <a:cs typeface="+mn-cs"/>
              </a:rPr>
              <a:t> Plan and prepare for the project such as tools of the trade, computers software and hardware to enable planning and project management</a:t>
            </a:r>
          </a:p>
          <a:p>
            <a:pPr>
              <a:buFont typeface="Arial" pitchFamily="34" charset="0"/>
              <a:buChar char="•"/>
            </a:pPr>
            <a:r>
              <a:rPr lang="en-AU" sz="1200" kern="1200" dirty="0" smtClean="0">
                <a:solidFill>
                  <a:schemeClr val="tx1"/>
                </a:solidFill>
                <a:ea typeface="+mn-ea"/>
                <a:cs typeface="+mn-cs"/>
              </a:rPr>
              <a:t> Implement the project such as the requirements identified as ‘deliverables’ in the project scope/brief</a:t>
            </a:r>
          </a:p>
          <a:p>
            <a:pPr>
              <a:buFont typeface="Arial" pitchFamily="34" charset="0"/>
              <a:buChar char="•"/>
            </a:pPr>
            <a:r>
              <a:rPr lang="en-AU" sz="1200" kern="1200" dirty="0" smtClean="0">
                <a:solidFill>
                  <a:schemeClr val="tx1"/>
                </a:solidFill>
                <a:ea typeface="+mn-ea"/>
                <a:cs typeface="+mn-cs"/>
              </a:rPr>
              <a:t> Support the work of others connected with planning and implementing the project.</a:t>
            </a: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discusses </a:t>
            </a:r>
            <a:r>
              <a:rPr lang="en-AU" sz="1200" kern="1200" dirty="0" smtClean="0">
                <a:solidFill>
                  <a:schemeClr val="tx1"/>
                </a:solidFill>
                <a:ea typeface="+mn-ea"/>
                <a:cs typeface="+mn-cs"/>
              </a:rPr>
              <a:t>financial resources strategy explaining this is the money available to enable payment for all project-related requirements which can include:</a:t>
            </a:r>
          </a:p>
          <a:p>
            <a:pPr>
              <a:buFont typeface="Arial" pitchFamily="34" charset="0"/>
              <a:buChar char="•"/>
            </a:pPr>
            <a:r>
              <a:rPr lang="en-AU" sz="1200" kern="1200" dirty="0" smtClean="0">
                <a:solidFill>
                  <a:schemeClr val="tx1"/>
                </a:solidFill>
                <a:ea typeface="+mn-ea"/>
                <a:cs typeface="+mn-cs"/>
              </a:rPr>
              <a:t> Paying staff</a:t>
            </a:r>
          </a:p>
          <a:p>
            <a:pPr>
              <a:buFont typeface="Arial" pitchFamily="34" charset="0"/>
              <a:buChar char="•"/>
            </a:pPr>
            <a:r>
              <a:rPr lang="en-AU" sz="1200" kern="1200" dirty="0" smtClean="0">
                <a:solidFill>
                  <a:schemeClr val="tx1"/>
                </a:solidFill>
                <a:ea typeface="+mn-ea"/>
                <a:cs typeface="+mn-cs"/>
              </a:rPr>
              <a:t> Engaging external consultants and contractors</a:t>
            </a:r>
          </a:p>
          <a:p>
            <a:pPr>
              <a:buFont typeface="Arial" pitchFamily="34" charset="0"/>
              <a:buChar char="•"/>
            </a:pPr>
            <a:r>
              <a:rPr lang="en-AU" sz="1200" kern="1200" dirty="0" smtClean="0">
                <a:solidFill>
                  <a:schemeClr val="tx1"/>
                </a:solidFill>
                <a:ea typeface="+mn-ea"/>
                <a:cs typeface="+mn-cs"/>
              </a:rPr>
              <a:t> Purchasing the physical assets/resources required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the </a:t>
            </a:r>
            <a:r>
              <a:rPr lang="en-AU" sz="1200" kern="1200" dirty="0" smtClean="0">
                <a:solidFill>
                  <a:schemeClr val="tx1"/>
                </a:solidFill>
                <a:ea typeface="+mn-ea"/>
                <a:cs typeface="+mn-cs"/>
              </a:rPr>
              <a:t>Information strategy for a project identifying this is on often overlooked resource for projects but nonetheless an extremely critical element both for planning and project implementation and it relates to a variety of </a:t>
            </a:r>
            <a:r>
              <a:rPr lang="en-AU" sz="1200" kern="1200" dirty="0" err="1" smtClean="0">
                <a:solidFill>
                  <a:schemeClr val="tx1"/>
                </a:solidFill>
                <a:ea typeface="+mn-ea"/>
                <a:cs typeface="+mn-cs"/>
              </a:rPr>
              <a:t>usuall</a:t>
            </a:r>
            <a:r>
              <a:rPr lang="en-AU" sz="1200" kern="1200" dirty="0" smtClean="0">
                <a:solidFill>
                  <a:schemeClr val="tx1"/>
                </a:solidFill>
                <a:ea typeface="+mn-ea"/>
                <a:cs typeface="+mn-cs"/>
              </a:rPr>
              <a:t> </a:t>
            </a:r>
            <a:r>
              <a:rPr lang="en-AU" sz="1200" kern="1200" dirty="0" err="1" smtClean="0">
                <a:solidFill>
                  <a:schemeClr val="tx1"/>
                </a:solidFill>
                <a:ea typeface="+mn-ea"/>
                <a:cs typeface="+mn-cs"/>
              </a:rPr>
              <a:t>ynon</a:t>
            </a:r>
            <a:r>
              <a:rPr lang="en-AU" sz="1200" kern="1200" dirty="0" smtClean="0">
                <a:solidFill>
                  <a:schemeClr val="tx1"/>
                </a:solidFill>
                <a:ea typeface="+mn-ea"/>
                <a:cs typeface="+mn-cs"/>
              </a:rPr>
              <a:t>-negotiable factors impacting on the project such as:</a:t>
            </a:r>
          </a:p>
          <a:p>
            <a:pPr>
              <a:buFont typeface="Arial" pitchFamily="34" charset="0"/>
              <a:buChar char="•"/>
            </a:pPr>
            <a:r>
              <a:rPr lang="en-AU" sz="1200" kern="1200" dirty="0" smtClean="0">
                <a:solidFill>
                  <a:schemeClr val="tx1"/>
                </a:solidFill>
                <a:ea typeface="+mn-ea"/>
                <a:cs typeface="+mn-cs"/>
              </a:rPr>
              <a:t> Internal policies and procedures which must be accommodated</a:t>
            </a:r>
          </a:p>
          <a:p>
            <a:pPr>
              <a:buFont typeface="Arial" pitchFamily="34" charset="0"/>
              <a:buChar char="•"/>
            </a:pPr>
            <a:r>
              <a:rPr lang="en-AU" sz="1200" kern="1200" dirty="0" smtClean="0">
                <a:solidFill>
                  <a:schemeClr val="tx1"/>
                </a:solidFill>
                <a:ea typeface="+mn-ea"/>
                <a:cs typeface="+mn-cs"/>
              </a:rPr>
              <a:t> Dates, times and numbers/statistics relating to the project, for example:</a:t>
            </a:r>
          </a:p>
          <a:p>
            <a:pPr lvl="1">
              <a:buFont typeface="Arial" pitchFamily="34" charset="0"/>
              <a:buChar char="•"/>
            </a:pPr>
            <a:r>
              <a:rPr lang="en-AU" sz="1200" kern="1200" dirty="0" smtClean="0">
                <a:solidFill>
                  <a:schemeClr val="tx1"/>
                </a:solidFill>
                <a:ea typeface="+mn-ea"/>
                <a:cs typeface="+mn-cs"/>
              </a:rPr>
              <a:t> Days and date of a function</a:t>
            </a:r>
          </a:p>
          <a:p>
            <a:pPr lvl="1">
              <a:buFont typeface="Arial" pitchFamily="34" charset="0"/>
              <a:buChar char="•"/>
            </a:pPr>
            <a:r>
              <a:rPr lang="en-AU" sz="1200" kern="1200" dirty="0" smtClean="0">
                <a:solidFill>
                  <a:schemeClr val="tx1"/>
                </a:solidFill>
                <a:ea typeface="+mn-ea"/>
                <a:cs typeface="+mn-cs"/>
              </a:rPr>
              <a:t> Numbers attending a function</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event</a:t>
            </a:r>
          </a:p>
          <a:p>
            <a:pPr>
              <a:buFont typeface="Arial" pitchFamily="34" charset="0"/>
              <a:buChar char="•"/>
            </a:pPr>
            <a:r>
              <a:rPr lang="en-AU" sz="1200" kern="1200" dirty="0" smtClean="0">
                <a:solidFill>
                  <a:schemeClr val="tx1"/>
                </a:solidFill>
                <a:ea typeface="+mn-ea"/>
                <a:cs typeface="+mn-cs"/>
              </a:rPr>
              <a:t> Knowledge held by management or other stakeholders which you need to know in order to properly plan and execute the project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more information relating to the contents of the HR strategy:</a:t>
            </a:r>
          </a:p>
          <a:p>
            <a:pPr>
              <a:buFont typeface="Arial" pitchFamily="34" charset="0"/>
              <a:buChar char="•"/>
            </a:pPr>
            <a:r>
              <a:rPr lang="en-AU" sz="1200" kern="1200" dirty="0" smtClean="0">
                <a:solidFill>
                  <a:schemeClr val="tx1"/>
                </a:solidFill>
                <a:ea typeface="+mn-ea"/>
                <a:cs typeface="+mn-cs"/>
              </a:rPr>
              <a:t> Selecting internal staff to participate in the project</a:t>
            </a:r>
          </a:p>
          <a:p>
            <a:pPr>
              <a:buFont typeface="Arial" pitchFamily="34" charset="0"/>
              <a:buChar char="•"/>
            </a:pPr>
            <a:r>
              <a:rPr lang="en-AU" sz="1200" kern="1200" dirty="0" smtClean="0">
                <a:solidFill>
                  <a:schemeClr val="tx1"/>
                </a:solidFill>
                <a:ea typeface="+mn-ea"/>
                <a:cs typeface="+mn-cs"/>
              </a:rPr>
              <a:t> Providing relevant staff training as required </a:t>
            </a:r>
          </a:p>
          <a:p>
            <a:pPr>
              <a:buFont typeface="Arial" pitchFamily="34" charset="0"/>
              <a:buChar char="•"/>
            </a:pPr>
            <a:r>
              <a:rPr lang="en-AU" sz="1200" kern="1200" dirty="0" smtClean="0">
                <a:solidFill>
                  <a:schemeClr val="tx1"/>
                </a:solidFill>
                <a:ea typeface="+mn-ea"/>
                <a:cs typeface="+mn-cs"/>
              </a:rPr>
              <a:t> Using external staff recruitment agencies to source staff</a:t>
            </a:r>
          </a:p>
          <a:p>
            <a:pPr>
              <a:buFont typeface="Arial" pitchFamily="34" charset="0"/>
              <a:buChar char="•"/>
            </a:pPr>
            <a:r>
              <a:rPr lang="en-AU" sz="1200" kern="1200" dirty="0" smtClean="0">
                <a:solidFill>
                  <a:schemeClr val="tx1"/>
                </a:solidFill>
                <a:ea typeface="+mn-ea"/>
                <a:cs typeface="+mn-cs"/>
              </a:rPr>
              <a:t> Re-allocating work so required staff are free to engage with the project</a:t>
            </a:r>
          </a:p>
          <a:p>
            <a:pPr>
              <a:buFont typeface="Arial" pitchFamily="34" charset="0"/>
              <a:buChar char="•"/>
            </a:pPr>
            <a:r>
              <a:rPr lang="en-AU" sz="1200" kern="1200" dirty="0" smtClean="0">
                <a:solidFill>
                  <a:schemeClr val="tx1"/>
                </a:solidFill>
                <a:ea typeface="+mn-ea"/>
                <a:cs typeface="+mn-cs"/>
              </a:rPr>
              <a:t> Backfilling staff who are required to work on the project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more information relating to the contents of the physical resources strategy:</a:t>
            </a:r>
          </a:p>
          <a:p>
            <a:pPr>
              <a:buFont typeface="Arial" pitchFamily="34" charset="0"/>
              <a:buChar char="•"/>
            </a:pPr>
            <a:r>
              <a:rPr lang="en-AU" sz="1200" kern="1200" dirty="0" smtClean="0">
                <a:solidFill>
                  <a:schemeClr val="tx1"/>
                </a:solidFill>
                <a:ea typeface="+mn-ea"/>
                <a:cs typeface="+mn-cs"/>
              </a:rPr>
              <a:t> Determining specifications and operating requirements for each item to reflect project requirements</a:t>
            </a:r>
          </a:p>
          <a:p>
            <a:pPr>
              <a:buFont typeface="Arial" pitchFamily="34" charset="0"/>
              <a:buChar char="•"/>
            </a:pPr>
            <a:r>
              <a:rPr lang="en-AU" sz="1200" kern="1200" dirty="0" smtClean="0">
                <a:solidFill>
                  <a:schemeClr val="tx1"/>
                </a:solidFill>
                <a:ea typeface="+mn-ea"/>
                <a:cs typeface="+mn-cs"/>
              </a:rPr>
              <a:t> Identifying possible providers/suppliers</a:t>
            </a:r>
          </a:p>
          <a:p>
            <a:pPr>
              <a:buFont typeface="Arial" pitchFamily="34" charset="0"/>
              <a:buChar char="•"/>
            </a:pPr>
            <a:r>
              <a:rPr lang="en-AU" sz="1200" kern="1200" dirty="0" smtClean="0">
                <a:solidFill>
                  <a:schemeClr val="tx1"/>
                </a:solidFill>
                <a:ea typeface="+mn-ea"/>
                <a:cs typeface="+mn-cs"/>
              </a:rPr>
              <a:t> Trialling materials and services</a:t>
            </a:r>
          </a:p>
          <a:p>
            <a:pPr>
              <a:buFont typeface="Arial" pitchFamily="34" charset="0"/>
              <a:buChar char="•"/>
            </a:pPr>
            <a:r>
              <a:rPr lang="en-AU" sz="1200" kern="1200" dirty="0" smtClean="0">
                <a:solidFill>
                  <a:schemeClr val="tx1"/>
                </a:solidFill>
                <a:ea typeface="+mn-ea"/>
                <a:cs typeface="+mn-cs"/>
              </a:rPr>
              <a:t> Arranging for quotations and negotiating contracts</a:t>
            </a:r>
          </a:p>
          <a:p>
            <a:pPr>
              <a:buFont typeface="Arial" pitchFamily="34" charset="0"/>
              <a:buChar char="•"/>
            </a:pPr>
            <a:r>
              <a:rPr lang="en-AU" sz="1200" kern="1200" dirty="0" smtClean="0">
                <a:solidFill>
                  <a:schemeClr val="tx1"/>
                </a:solidFill>
                <a:ea typeface="+mn-ea"/>
                <a:cs typeface="+mn-cs"/>
              </a:rPr>
              <a:t> Comparing options for acquiring assets such as:</a:t>
            </a:r>
          </a:p>
          <a:p>
            <a:pPr lvl="1">
              <a:buFont typeface="Arial" pitchFamily="34" charset="0"/>
              <a:buChar char="•"/>
            </a:pPr>
            <a:r>
              <a:rPr lang="en-AU" sz="1200" kern="1200" dirty="0" smtClean="0">
                <a:solidFill>
                  <a:schemeClr val="tx1"/>
                </a:solidFill>
                <a:ea typeface="+mn-ea"/>
                <a:cs typeface="+mn-cs"/>
              </a:rPr>
              <a:t> Purchasing </a:t>
            </a:r>
          </a:p>
          <a:p>
            <a:pPr lvl="1">
              <a:buFont typeface="Arial" pitchFamily="34" charset="0"/>
              <a:buChar char="•"/>
            </a:pPr>
            <a:r>
              <a:rPr lang="en-AU" sz="1200" kern="1200" dirty="0" smtClean="0">
                <a:solidFill>
                  <a:schemeClr val="tx1"/>
                </a:solidFill>
                <a:ea typeface="+mn-ea"/>
                <a:cs typeface="+mn-cs"/>
              </a:rPr>
              <a:t> Leasing </a:t>
            </a:r>
          </a:p>
          <a:p>
            <a:pPr lvl="1">
              <a:buFont typeface="Arial" pitchFamily="34" charset="0"/>
              <a:buChar char="•"/>
            </a:pPr>
            <a:r>
              <a:rPr lang="en-AU" sz="1200" kern="1200" dirty="0" smtClean="0">
                <a:solidFill>
                  <a:schemeClr val="tx1"/>
                </a:solidFill>
                <a:ea typeface="+mn-ea"/>
                <a:cs typeface="+mn-cs"/>
              </a:rPr>
              <a:t> Rental</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more information relating to the contents of the physical resources strategy:</a:t>
            </a:r>
          </a:p>
          <a:p>
            <a:pPr>
              <a:buFont typeface="Arial" pitchFamily="34" charset="0"/>
              <a:buChar char="•"/>
            </a:pPr>
            <a:r>
              <a:rPr lang="en-AU" sz="1200" kern="1200" dirty="0" smtClean="0">
                <a:solidFill>
                  <a:schemeClr val="tx1"/>
                </a:solidFill>
                <a:ea typeface="+mn-ea"/>
                <a:cs typeface="+mn-cs"/>
              </a:rPr>
              <a:t> Undertaking a cost-benefit analysis for items which are significant in terms of their purchase price (see </a:t>
            </a:r>
            <a:r>
              <a:rPr lang="en-AU" sz="1200" u="sng" kern="1200" dirty="0" smtClean="0">
                <a:solidFill>
                  <a:schemeClr val="tx1"/>
                </a:solidFill>
                <a:ea typeface="+mn-ea"/>
                <a:cs typeface="+mn-cs"/>
              </a:rPr>
              <a:t>section 1.3</a:t>
            </a:r>
            <a:r>
              <a:rPr lang="en-AU" sz="1200" kern="1200" dirty="0" smtClean="0">
                <a:solidFill>
                  <a:schemeClr val="tx1"/>
                </a:solidFill>
                <a:ea typeface="+mn-ea"/>
                <a:cs typeface="+mn-cs"/>
              </a:rPr>
              <a:t> for more detail)</a:t>
            </a:r>
          </a:p>
          <a:p>
            <a:pPr>
              <a:buFont typeface="Arial" pitchFamily="34" charset="0"/>
              <a:buChar char="•"/>
            </a:pPr>
            <a:r>
              <a:rPr lang="en-AU" sz="1200" kern="1200" dirty="0" smtClean="0">
                <a:solidFill>
                  <a:schemeClr val="tx1"/>
                </a:solidFill>
                <a:ea typeface="+mn-ea"/>
                <a:cs typeface="+mn-cs"/>
              </a:rPr>
              <a:t> Considering alternative acquisition options such as:</a:t>
            </a:r>
          </a:p>
          <a:p>
            <a:pPr lvl="1">
              <a:buFont typeface="Arial" pitchFamily="34" charset="0"/>
              <a:buChar char="•"/>
            </a:pPr>
            <a:r>
              <a:rPr lang="en-AU" sz="1200" kern="1200" dirty="0" smtClean="0">
                <a:solidFill>
                  <a:schemeClr val="tx1"/>
                </a:solidFill>
                <a:ea typeface="+mn-ea"/>
                <a:cs typeface="+mn-cs"/>
              </a:rPr>
              <a:t> Borrowing items from other venues</a:t>
            </a:r>
          </a:p>
          <a:p>
            <a:pPr lvl="1">
              <a:buFont typeface="Arial" pitchFamily="34" charset="0"/>
              <a:buChar char="•"/>
            </a:pPr>
            <a:r>
              <a:rPr lang="en-AU" sz="1200" kern="1200" dirty="0" smtClean="0">
                <a:solidFill>
                  <a:schemeClr val="tx1"/>
                </a:solidFill>
                <a:ea typeface="+mn-ea"/>
                <a:cs typeface="+mn-cs"/>
              </a:rPr>
              <a:t> Asking other organisations in the chain for a loan of items</a:t>
            </a:r>
          </a:p>
          <a:p>
            <a:pPr lvl="1">
              <a:buFont typeface="Arial" pitchFamily="34" charset="0"/>
              <a:buChar char="•"/>
            </a:pPr>
            <a:r>
              <a:rPr lang="en-AU" sz="1200" kern="1200" dirty="0" smtClean="0">
                <a:solidFill>
                  <a:schemeClr val="tx1"/>
                </a:solidFill>
                <a:ea typeface="+mn-ea"/>
                <a:cs typeface="+mn-cs"/>
              </a:rPr>
              <a:t> Asking providers/suppliers to donate items</a:t>
            </a:r>
          </a:p>
          <a:p>
            <a:pPr lvl="1">
              <a:buFont typeface="Arial" pitchFamily="34" charset="0"/>
              <a:buChar char="•"/>
            </a:pPr>
            <a:r>
              <a:rPr lang="en-AU" sz="1200" kern="1200" dirty="0" smtClean="0">
                <a:solidFill>
                  <a:schemeClr val="tx1"/>
                </a:solidFill>
                <a:ea typeface="+mn-ea"/>
                <a:cs typeface="+mn-cs"/>
              </a:rPr>
              <a:t> Joint purchasing with other businesses</a:t>
            </a:r>
          </a:p>
          <a:p>
            <a:pPr>
              <a:buFont typeface="Arial" pitchFamily="34" charset="0"/>
              <a:buChar char="•"/>
            </a:pPr>
            <a:r>
              <a:rPr lang="en-AU" sz="1200" kern="1200" dirty="0" smtClean="0">
                <a:solidFill>
                  <a:schemeClr val="tx1"/>
                </a:solidFill>
                <a:ea typeface="+mn-ea"/>
                <a:cs typeface="+mn-cs"/>
              </a:rPr>
              <a:t> Arranging installation, commissioning and regular maintenance/servicing of equipment and systems including staff training as and if required relating to these new items</a:t>
            </a:r>
          </a:p>
          <a:p>
            <a:pPr>
              <a:buFont typeface="Arial" pitchFamily="34" charset="0"/>
              <a:buChar char="•"/>
            </a:pPr>
            <a:r>
              <a:rPr lang="en-AU" sz="1200" kern="1200" dirty="0" smtClean="0">
                <a:solidFill>
                  <a:schemeClr val="tx1"/>
                </a:solidFill>
                <a:ea typeface="+mn-ea"/>
                <a:cs typeface="+mn-cs"/>
              </a:rPr>
              <a:t> Identifying disposal arrangements for ‘old’ items being replaced as well as potential reselling/on-selling arrangements when new items have reached the end of their useful/effective life.</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more information relating to the contents of the financial resources strategy:</a:t>
            </a:r>
          </a:p>
          <a:p>
            <a:pPr>
              <a:buFont typeface="Arial" pitchFamily="34" charset="0"/>
              <a:buChar char="•"/>
            </a:pPr>
            <a:r>
              <a:rPr lang="en-AU" sz="1200" kern="1200" dirty="0" smtClean="0">
                <a:solidFill>
                  <a:schemeClr val="tx1"/>
                </a:solidFill>
                <a:ea typeface="+mn-ea"/>
                <a:cs typeface="+mn-cs"/>
              </a:rPr>
              <a:t> Seeking a formal budget from management</a:t>
            </a:r>
          </a:p>
          <a:p>
            <a:pPr>
              <a:buFont typeface="Arial" pitchFamily="34" charset="0"/>
              <a:buChar char="•"/>
            </a:pPr>
            <a:r>
              <a:rPr lang="en-AU" sz="1200" kern="1200" dirty="0" smtClean="0">
                <a:solidFill>
                  <a:schemeClr val="tx1"/>
                </a:solidFill>
                <a:ea typeface="+mn-ea"/>
                <a:cs typeface="+mn-cs"/>
              </a:rPr>
              <a:t> Asking providers/suppliers for a contribution/donation</a:t>
            </a:r>
          </a:p>
          <a:p>
            <a:pPr>
              <a:buFont typeface="Arial" pitchFamily="34" charset="0"/>
              <a:buChar char="•"/>
            </a:pPr>
            <a:r>
              <a:rPr lang="en-AU" sz="1200" kern="1200" dirty="0" smtClean="0">
                <a:solidFill>
                  <a:schemeClr val="tx1"/>
                </a:solidFill>
                <a:ea typeface="+mn-ea"/>
                <a:cs typeface="+mn-cs"/>
              </a:rPr>
              <a:t> Seeking subsidies or grants from government agencies, industry bodies or joint venture partners</a:t>
            </a:r>
          </a:p>
          <a:p>
            <a:pPr>
              <a:buFont typeface="Arial" pitchFamily="34" charset="0"/>
              <a:buChar char="•"/>
            </a:pPr>
            <a:r>
              <a:rPr lang="en-AU" sz="1200" kern="1200" dirty="0" smtClean="0">
                <a:solidFill>
                  <a:schemeClr val="tx1"/>
                </a:solidFill>
                <a:ea typeface="+mn-ea"/>
                <a:cs typeface="+mn-cs"/>
              </a:rPr>
              <a:t> Insisting on a purchasing option which brings a saving or other benefit to the business such as:</a:t>
            </a:r>
          </a:p>
          <a:p>
            <a:pPr lvl="1">
              <a:buFont typeface="Arial" pitchFamily="34" charset="0"/>
              <a:buChar char="•"/>
            </a:pPr>
            <a:r>
              <a:rPr lang="en-AU" sz="1200" kern="1200" dirty="0" smtClean="0">
                <a:solidFill>
                  <a:schemeClr val="tx1"/>
                </a:solidFill>
                <a:ea typeface="+mn-ea"/>
                <a:cs typeface="+mn-cs"/>
              </a:rPr>
              <a:t> Trade, volume or early payment discounts</a:t>
            </a:r>
          </a:p>
          <a:p>
            <a:pPr lvl="1">
              <a:buFont typeface="Arial" pitchFamily="34" charset="0"/>
              <a:buChar char="•"/>
            </a:pPr>
            <a:r>
              <a:rPr lang="en-AU" sz="1200" kern="1200" dirty="0" smtClean="0">
                <a:solidFill>
                  <a:schemeClr val="tx1"/>
                </a:solidFill>
                <a:ea typeface="+mn-ea"/>
                <a:cs typeface="+mn-cs"/>
              </a:rPr>
              <a:t> Deferred payment/extended terms of trade</a:t>
            </a:r>
          </a:p>
          <a:p>
            <a:pPr lvl="1">
              <a:buFont typeface="Arial" pitchFamily="34" charset="0"/>
              <a:buChar char="•"/>
            </a:pPr>
            <a:r>
              <a:rPr lang="en-AU" sz="1200" kern="1200" dirty="0" smtClean="0">
                <a:solidFill>
                  <a:schemeClr val="tx1"/>
                </a:solidFill>
                <a:ea typeface="+mn-ea"/>
                <a:cs typeface="+mn-cs"/>
              </a:rPr>
              <a:t> Inclusion of a free item/service or ‘bonus’ into the deal</a:t>
            </a:r>
          </a:p>
          <a:p>
            <a:pPr>
              <a:buFont typeface="Arial" pitchFamily="34" charset="0"/>
              <a:buChar char="•"/>
            </a:pPr>
            <a:r>
              <a:rPr lang="en-AU" sz="1200" kern="1200" dirty="0" smtClean="0">
                <a:solidFill>
                  <a:schemeClr val="tx1"/>
                </a:solidFill>
                <a:ea typeface="+mn-ea"/>
                <a:cs typeface="+mn-cs"/>
              </a:rPr>
              <a:t> Allocation of monies from the sale of ‘old’ equipment to specific revenue lines or budget lines.</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more information relating to the contents of the information resources strategy:</a:t>
            </a:r>
          </a:p>
          <a:p>
            <a:pPr>
              <a:buFont typeface="Arial" pitchFamily="34" charset="0"/>
              <a:buChar char="•"/>
            </a:pPr>
            <a:r>
              <a:rPr lang="en-AU" sz="1200" kern="1200" dirty="0" smtClean="0">
                <a:solidFill>
                  <a:schemeClr val="tx1"/>
                </a:solidFill>
                <a:ea typeface="+mn-ea"/>
                <a:cs typeface="+mn-cs"/>
              </a:rPr>
              <a:t> Identifying and reviewing existing documents</a:t>
            </a:r>
          </a:p>
          <a:p>
            <a:pPr>
              <a:buFont typeface="Arial" pitchFamily="34" charset="0"/>
              <a:buChar char="•"/>
            </a:pPr>
            <a:r>
              <a:rPr lang="en-AU" sz="1200" kern="1200" dirty="0" smtClean="0">
                <a:solidFill>
                  <a:schemeClr val="tx1"/>
                </a:solidFill>
                <a:ea typeface="+mn-ea"/>
                <a:cs typeface="+mn-cs"/>
              </a:rPr>
              <a:t> Speaking with others who have previous relevant experience</a:t>
            </a:r>
          </a:p>
          <a:p>
            <a:pPr>
              <a:buFont typeface="Arial" pitchFamily="34" charset="0"/>
              <a:buChar char="•"/>
            </a:pPr>
            <a:r>
              <a:rPr lang="en-AU" sz="1200" kern="1200" dirty="0" smtClean="0">
                <a:solidFill>
                  <a:schemeClr val="tx1"/>
                </a:solidFill>
                <a:ea typeface="+mn-ea"/>
                <a:cs typeface="+mn-cs"/>
              </a:rPr>
              <a:t> Scheduling meetings with stakeholders</a:t>
            </a:r>
          </a:p>
          <a:p>
            <a:pPr>
              <a:buFont typeface="Arial" pitchFamily="34" charset="0"/>
              <a:buChar char="•"/>
            </a:pPr>
            <a:r>
              <a:rPr lang="en-AU" sz="1200" kern="1200" dirty="0" smtClean="0">
                <a:solidFill>
                  <a:schemeClr val="tx1"/>
                </a:solidFill>
                <a:ea typeface="+mn-ea"/>
                <a:cs typeface="+mn-cs"/>
              </a:rPr>
              <a:t> Specifying actions to ensure information remains private and confidential</a:t>
            </a:r>
          </a:p>
          <a:p>
            <a:pPr>
              <a:buFont typeface="Arial" pitchFamily="34" charset="0"/>
              <a:buChar char="•"/>
            </a:pPr>
            <a:r>
              <a:rPr lang="en-AU" sz="1200" kern="1200" dirty="0" smtClean="0">
                <a:solidFill>
                  <a:schemeClr val="tx1"/>
                </a:solidFill>
                <a:ea typeface="+mn-ea"/>
                <a:cs typeface="+mn-cs"/>
              </a:rPr>
              <a:t> Requirements for sharing/distributing information to stakeholders.</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a:t>
            </a:r>
            <a:r>
              <a:rPr lang="en-US" baseline="0" dirty="0" smtClean="0"/>
              <a:t> concept of financial viability regarding projects indicating there are two orientations depending whether the project is an ‘internal’ or ‘external’ one stating:</a:t>
            </a:r>
          </a:p>
          <a:p>
            <a:pPr>
              <a:buFont typeface="Arial" pitchFamily="34" charset="0"/>
              <a:buChar char="•"/>
            </a:pPr>
            <a:r>
              <a:rPr lang="en-AU" sz="1200" kern="1200" dirty="0" smtClean="0">
                <a:solidFill>
                  <a:schemeClr val="tx1"/>
                </a:solidFill>
                <a:ea typeface="+mn-ea"/>
                <a:cs typeface="+mn-cs"/>
              </a:rPr>
              <a:t> When you are required to undertake a project imposed by the organisation this is an internal project.</a:t>
            </a:r>
          </a:p>
          <a:p>
            <a:pPr>
              <a:buFont typeface="Arial" pitchFamily="34" charset="0"/>
              <a:buChar char="•"/>
            </a:pPr>
            <a:r>
              <a:rPr lang="en-AU" sz="1200" kern="1200" dirty="0" smtClean="0">
                <a:solidFill>
                  <a:schemeClr val="tx1"/>
                </a:solidFill>
                <a:ea typeface="+mn-ea"/>
                <a:cs typeface="+mn-cs"/>
              </a:rPr>
              <a:t> Where you are directed to manage such a project the following normally applies:</a:t>
            </a:r>
          </a:p>
          <a:p>
            <a:pPr lvl="1">
              <a:buFont typeface="Arial" pitchFamily="34" charset="0"/>
              <a:buChar char="•"/>
            </a:pPr>
            <a:r>
              <a:rPr lang="en-AU" sz="1200" kern="1200" dirty="0" smtClean="0">
                <a:solidFill>
                  <a:schemeClr val="tx1"/>
                </a:solidFill>
                <a:ea typeface="+mn-ea"/>
                <a:cs typeface="+mn-cs"/>
              </a:rPr>
              <a:t> Management have decided the project must be undertaken.</a:t>
            </a:r>
            <a:r>
              <a:rPr lang="en-AU" sz="1200" kern="1200" baseline="0" dirty="0" smtClean="0">
                <a:solidFill>
                  <a:schemeClr val="tx1"/>
                </a:solidFill>
                <a:ea typeface="+mn-ea"/>
                <a:cs typeface="+mn-cs"/>
              </a:rPr>
              <a:t> I</a:t>
            </a:r>
            <a:r>
              <a:rPr lang="en-AU" sz="1200" kern="1200" dirty="0" smtClean="0">
                <a:solidFill>
                  <a:schemeClr val="tx1"/>
                </a:solidFill>
                <a:ea typeface="+mn-ea"/>
                <a:cs typeface="+mn-cs"/>
              </a:rPr>
              <a:t>t will not be up to you to determine whether or not it should go ahead</a:t>
            </a:r>
          </a:p>
          <a:p>
            <a:pPr lvl="1">
              <a:buFont typeface="Arial" pitchFamily="34" charset="0"/>
              <a:buChar char="•"/>
            </a:pPr>
            <a:r>
              <a:rPr lang="en-AU" sz="1200" kern="1200" dirty="0" smtClean="0">
                <a:solidFill>
                  <a:schemeClr val="tx1"/>
                </a:solidFill>
                <a:ea typeface="+mn-ea"/>
                <a:cs typeface="+mn-cs"/>
              </a:rPr>
              <a:t> There is no need to engage in a financial viability analysis of the project.</a:t>
            </a:r>
            <a:r>
              <a:rPr lang="en-AU" sz="1200" kern="1200" baseline="0" dirty="0" smtClean="0">
                <a:solidFill>
                  <a:schemeClr val="tx1"/>
                </a:solidFill>
                <a:ea typeface="+mn-ea"/>
                <a:cs typeface="+mn-cs"/>
              </a:rPr>
              <a:t> M</a:t>
            </a:r>
            <a:r>
              <a:rPr lang="en-AU" sz="1200" kern="1200" dirty="0" smtClean="0">
                <a:solidFill>
                  <a:schemeClr val="tx1"/>
                </a:solidFill>
                <a:ea typeface="+mn-ea"/>
                <a:cs typeface="+mn-cs"/>
              </a:rPr>
              <a:t>anagement will have already done this.</a:t>
            </a:r>
          </a:p>
          <a:p>
            <a:pPr>
              <a:buFont typeface="Arial" pitchFamily="34" charset="0"/>
              <a:buNone/>
            </a:pPr>
            <a:endParaRPr lang="en-US"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considerations where the project is an external project:</a:t>
            </a:r>
          </a:p>
          <a:p>
            <a:pPr>
              <a:buFont typeface="Arial" pitchFamily="34" charset="0"/>
              <a:buChar char="•"/>
            </a:pPr>
            <a:r>
              <a:rPr lang="en-US" dirty="0" smtClean="0"/>
              <a:t> Achieve required profit as determined by the organisation, based on revenue/sales</a:t>
            </a:r>
          </a:p>
          <a:p>
            <a:r>
              <a:rPr lang="en-US" dirty="0" smtClean="0"/>
              <a:t> ‘Other imperatives’ which may vary on an individual</a:t>
            </a:r>
            <a:r>
              <a:rPr lang="en-US" baseline="0" dirty="0" smtClean="0"/>
              <a:t> project basis and </a:t>
            </a:r>
            <a:r>
              <a:rPr lang="en-AU" sz="1200" kern="1200" dirty="0" smtClean="0">
                <a:solidFill>
                  <a:schemeClr val="tx1"/>
                </a:solidFill>
                <a:ea typeface="+mn-ea"/>
                <a:cs typeface="+mn-cs"/>
              </a:rPr>
              <a:t>such circumstances may occur when:</a:t>
            </a:r>
          </a:p>
          <a:p>
            <a:pPr lvl="1">
              <a:buFont typeface="Arial" pitchFamily="34" charset="0"/>
              <a:buChar char="•"/>
            </a:pPr>
            <a:r>
              <a:rPr lang="en-AU" sz="1200" kern="1200" dirty="0" smtClean="0">
                <a:solidFill>
                  <a:schemeClr val="tx1"/>
                </a:solidFill>
                <a:ea typeface="+mn-ea"/>
                <a:cs typeface="+mn-cs"/>
              </a:rPr>
              <a:t> The client is deemed to be a VIP customer and management wishes to demonstrate the value they hold the customer in</a:t>
            </a:r>
          </a:p>
          <a:p>
            <a:pPr lvl="1">
              <a:buFont typeface="Arial" pitchFamily="34" charset="0"/>
              <a:buChar char="•"/>
            </a:pPr>
            <a:r>
              <a:rPr lang="en-AU" sz="1200" kern="1200" dirty="0" smtClean="0">
                <a:solidFill>
                  <a:schemeClr val="tx1"/>
                </a:solidFill>
                <a:ea typeface="+mn-ea"/>
                <a:cs typeface="+mn-cs"/>
              </a:rPr>
              <a:t> There is a cash flow crisis – see below ‘Evaluating financial viability’</a:t>
            </a:r>
          </a:p>
          <a:p>
            <a:pPr lvl="1">
              <a:buFont typeface="Arial" pitchFamily="34" charset="0"/>
              <a:buChar char="•"/>
            </a:pPr>
            <a:r>
              <a:rPr lang="en-AU" sz="1200" kern="1200" dirty="0" smtClean="0">
                <a:solidFill>
                  <a:schemeClr val="tx1"/>
                </a:solidFill>
                <a:ea typeface="+mn-ea"/>
                <a:cs typeface="+mn-cs"/>
              </a:rPr>
              <a:t> The venue is experiencing very low occupancy and/or low levels of trade and they wish to stimulate activity to help underpin the viability of the entire organisation</a:t>
            </a:r>
          </a:p>
          <a:p>
            <a:pPr lvl="1">
              <a:buFont typeface="Arial" pitchFamily="34" charset="0"/>
              <a:buChar char="•"/>
            </a:pPr>
            <a:r>
              <a:rPr lang="en-AU" sz="1200" kern="1200" dirty="0" smtClean="0">
                <a:solidFill>
                  <a:schemeClr val="tx1"/>
                </a:solidFill>
                <a:ea typeface="+mn-ea"/>
                <a:cs typeface="+mn-cs"/>
              </a:rPr>
              <a:t> The project is an especially prestigious one and management wants to make sure it is conducted at the venue so the business obtains publicity, prestige and market positioning from conducting the event.</a:t>
            </a:r>
          </a:p>
          <a:p>
            <a:pPr>
              <a:buFont typeface="Arial" pitchFamily="34" charset="0"/>
              <a:buChar char="•"/>
            </a:pPr>
            <a:endParaRPr lang="en-US" baseline="0" dirty="0" smtClean="0"/>
          </a:p>
          <a:p>
            <a:pPr>
              <a:buFont typeface="Arial" pitchFamily="34" charset="0"/>
              <a:buChar cha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explains evaluating </a:t>
            </a:r>
            <a:r>
              <a:rPr lang="en-AU" sz="1200" kern="1200" dirty="0" smtClean="0">
                <a:solidFill>
                  <a:schemeClr val="tx1"/>
                </a:solidFill>
                <a:ea typeface="+mn-ea"/>
                <a:cs typeface="+mn-cs"/>
              </a:rPr>
              <a:t>financial viability of the project may require determination of:</a:t>
            </a:r>
          </a:p>
          <a:p>
            <a:pPr>
              <a:buFont typeface="Arial" pitchFamily="34" charset="0"/>
              <a:buChar char="•"/>
            </a:pPr>
            <a:r>
              <a:rPr lang="en-AU" sz="1200" kern="1200" dirty="0" smtClean="0">
                <a:solidFill>
                  <a:schemeClr val="tx1"/>
                </a:solidFill>
                <a:ea typeface="+mn-ea"/>
                <a:cs typeface="+mn-cs"/>
              </a:rPr>
              <a:t> The availability of short and/or long-term funding for the project which can involve:</a:t>
            </a:r>
          </a:p>
          <a:p>
            <a:pPr lvl="1">
              <a:buFont typeface="Arial" pitchFamily="34" charset="0"/>
              <a:buChar char="•"/>
            </a:pPr>
            <a:r>
              <a:rPr lang="en-AU" sz="1200" kern="1200" dirty="0" smtClean="0">
                <a:solidFill>
                  <a:schemeClr val="tx1"/>
                </a:solidFill>
                <a:ea typeface="+mn-ea"/>
                <a:cs typeface="+mn-cs"/>
              </a:rPr>
              <a:t> Establishing whether the required amount of money is available or not</a:t>
            </a:r>
          </a:p>
          <a:p>
            <a:pPr lvl="1">
              <a:buFont typeface="Arial" pitchFamily="34" charset="0"/>
              <a:buChar char="•"/>
            </a:pPr>
            <a:r>
              <a:rPr lang="en-AU" sz="1200" kern="1200" dirty="0" smtClean="0">
                <a:solidFill>
                  <a:schemeClr val="tx1"/>
                </a:solidFill>
                <a:ea typeface="+mn-ea"/>
                <a:cs typeface="+mn-cs"/>
              </a:rPr>
              <a:t> Identifying sources of finance</a:t>
            </a:r>
          </a:p>
          <a:p>
            <a:pPr>
              <a:buFont typeface="Arial" pitchFamily="34" charset="0"/>
              <a:buChar char="•"/>
            </a:pPr>
            <a:r>
              <a:rPr lang="en-AU" sz="1200" kern="1200" dirty="0" smtClean="0">
                <a:solidFill>
                  <a:schemeClr val="tx1"/>
                </a:solidFill>
                <a:ea typeface="+mn-ea"/>
                <a:cs typeface="+mn-cs"/>
              </a:rPr>
              <a:t> The cost of borrowing funds to enable the project to be implemented which may require you to:</a:t>
            </a:r>
          </a:p>
          <a:p>
            <a:pPr lvl="1">
              <a:buFont typeface="Arial" pitchFamily="34" charset="0"/>
              <a:buChar char="•"/>
            </a:pPr>
            <a:r>
              <a:rPr lang="en-AU" sz="1200" kern="1200" dirty="0" smtClean="0">
                <a:solidFill>
                  <a:schemeClr val="tx1"/>
                </a:solidFill>
                <a:ea typeface="+mn-ea"/>
                <a:cs typeface="+mn-cs"/>
              </a:rPr>
              <a:t> Find out interest rates</a:t>
            </a:r>
          </a:p>
          <a:p>
            <a:pPr lvl="1">
              <a:buFont typeface="Arial" pitchFamily="34" charset="0"/>
              <a:buChar char="•"/>
            </a:pPr>
            <a:r>
              <a:rPr lang="en-AU" sz="1200" kern="1200" dirty="0" smtClean="0">
                <a:solidFill>
                  <a:schemeClr val="tx1"/>
                </a:solidFill>
                <a:ea typeface="+mn-ea"/>
                <a:cs typeface="+mn-cs"/>
              </a:rPr>
              <a:t> Calculate payments required</a:t>
            </a:r>
          </a:p>
          <a:p>
            <a:pPr lvl="1">
              <a:buFont typeface="Arial" pitchFamily="34" charset="0"/>
              <a:buChar char="•"/>
            </a:pPr>
            <a:r>
              <a:rPr lang="en-AU" sz="1200" kern="1200" dirty="0" smtClean="0">
                <a:solidFill>
                  <a:schemeClr val="tx1"/>
                </a:solidFill>
                <a:ea typeface="+mn-ea"/>
                <a:cs typeface="+mn-cs"/>
              </a:rPr>
              <a:t> Identify dates for repayments</a:t>
            </a:r>
          </a:p>
          <a:p>
            <a:pPr>
              <a:buFont typeface="Arial" pitchFamily="34" charset="0"/>
              <a:buChar char="•"/>
            </a:pPr>
            <a:r>
              <a:rPr lang="en-AU" sz="1200" kern="1200" dirty="0" smtClean="0">
                <a:solidFill>
                  <a:schemeClr val="tx1"/>
                </a:solidFill>
                <a:ea typeface="+mn-ea"/>
                <a:cs typeface="+mn-cs"/>
              </a:rPr>
              <a:t> Internal cash flow situation of the venue which will indicate whether or not management are desperate for cash/revenue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explaining evaluating </a:t>
            </a:r>
            <a:r>
              <a:rPr lang="en-AU" sz="1200" kern="1200" dirty="0" smtClean="0">
                <a:solidFill>
                  <a:schemeClr val="tx1"/>
                </a:solidFill>
                <a:ea typeface="+mn-ea"/>
                <a:cs typeface="+mn-cs"/>
              </a:rPr>
              <a:t>financial viability of the project may require determination of:</a:t>
            </a:r>
          </a:p>
          <a:p>
            <a:pPr>
              <a:buFont typeface="Arial" pitchFamily="34" charset="0"/>
              <a:buChar char="•"/>
            </a:pPr>
            <a:r>
              <a:rPr lang="en-AU" sz="1200" kern="1200" dirty="0" smtClean="0">
                <a:solidFill>
                  <a:schemeClr val="tx1"/>
                </a:solidFill>
                <a:ea typeface="+mn-ea"/>
                <a:cs typeface="+mn-cs"/>
              </a:rPr>
              <a:t> Market feasibility which asks you to decide whether or not the client/the project is suitable to your business in terms of matters such as the reputation of the client, and whether or not they align with the markets your organisation is catering to</a:t>
            </a:r>
          </a:p>
          <a:p>
            <a:pPr>
              <a:buFont typeface="Arial" pitchFamily="34" charset="0"/>
              <a:buChar char="•"/>
            </a:pPr>
            <a:r>
              <a:rPr lang="en-AU" sz="1200" kern="1200" dirty="0" smtClean="0">
                <a:solidFill>
                  <a:schemeClr val="tx1"/>
                </a:solidFill>
                <a:ea typeface="+mn-ea"/>
                <a:cs typeface="+mn-cs"/>
              </a:rPr>
              <a:t> Level of financial risk involved which asks you to calculate the possible loss to your organisation against a number of potential eventualities such as:</a:t>
            </a:r>
          </a:p>
          <a:p>
            <a:pPr lvl="1">
              <a:buFont typeface="Arial" pitchFamily="34" charset="0"/>
              <a:buChar char="•"/>
            </a:pPr>
            <a:r>
              <a:rPr lang="en-AU" sz="1200" kern="1200" dirty="0" smtClean="0">
                <a:solidFill>
                  <a:schemeClr val="tx1"/>
                </a:solidFill>
                <a:ea typeface="+mn-ea"/>
                <a:cs typeface="+mn-cs"/>
              </a:rPr>
              <a:t> Failure by the client to settle their account once the project/event has been finalized</a:t>
            </a:r>
          </a:p>
          <a:p>
            <a:pPr lvl="1">
              <a:buFont typeface="Arial" pitchFamily="34" charset="0"/>
              <a:buChar char="•"/>
            </a:pPr>
            <a:r>
              <a:rPr lang="en-AU" sz="1200" kern="1200" dirty="0" smtClean="0">
                <a:solidFill>
                  <a:schemeClr val="tx1"/>
                </a:solidFill>
                <a:ea typeface="+mn-ea"/>
                <a:cs typeface="+mn-cs"/>
              </a:rPr>
              <a:t> The event failing to attract the numbers and revenue anticipated</a:t>
            </a:r>
          </a:p>
          <a:p>
            <a:pPr lvl="1">
              <a:buFont typeface="Arial" pitchFamily="34" charset="0"/>
              <a:buChar char="•"/>
            </a:pPr>
            <a:r>
              <a:rPr lang="en-AU" sz="1200" kern="1200" dirty="0" smtClean="0">
                <a:solidFill>
                  <a:schemeClr val="tx1"/>
                </a:solidFill>
                <a:ea typeface="+mn-ea"/>
                <a:cs typeface="+mn-cs"/>
              </a:rPr>
              <a:t> Risks applicable to the project/function which may include adverse weather, other functions/events being operated by other venues at the same time and other risks identified by a formal risk management process (involving risk identification, risk analysis and risk control)</a:t>
            </a:r>
          </a:p>
          <a:p>
            <a:pPr>
              <a:buFont typeface="Arial" pitchFamily="34" charset="0"/>
              <a:buChar char="•"/>
            </a:pPr>
            <a:r>
              <a:rPr lang="en-AU" sz="1200" kern="1200" dirty="0" smtClean="0">
                <a:solidFill>
                  <a:schemeClr val="tx1"/>
                </a:solidFill>
                <a:ea typeface="+mn-ea"/>
                <a:cs typeface="+mn-cs"/>
              </a:rPr>
              <a:t> The results of relevant cost-benefit analyses – see below</a:t>
            </a:r>
          </a:p>
          <a:p>
            <a:pPr>
              <a:buFont typeface="Arial" pitchFamily="34" charset="0"/>
              <a:buChar char="•"/>
            </a:pPr>
            <a:r>
              <a:rPr lang="en-AU" sz="1200" kern="1200" dirty="0" smtClean="0">
                <a:solidFill>
                  <a:schemeClr val="tx1"/>
                </a:solidFill>
                <a:ea typeface="+mn-ea"/>
                <a:cs typeface="+mn-cs"/>
              </a:rPr>
              <a:t> The impact of the project on other aspects of the business which may include consideration of how the project/event will impact:</a:t>
            </a:r>
          </a:p>
          <a:p>
            <a:pPr lvl="1">
              <a:buFont typeface="Arial" pitchFamily="34" charset="0"/>
              <a:buChar char="•"/>
            </a:pPr>
            <a:r>
              <a:rPr lang="en-AU" sz="1200" kern="1200" dirty="0" smtClean="0">
                <a:solidFill>
                  <a:schemeClr val="tx1"/>
                </a:solidFill>
                <a:ea typeface="+mn-ea"/>
                <a:cs typeface="+mn-cs"/>
              </a:rPr>
              <a:t> Other customers/guests using the venue</a:t>
            </a:r>
          </a:p>
          <a:p>
            <a:pPr lvl="1">
              <a:buFont typeface="Arial" pitchFamily="34" charset="0"/>
              <a:buChar char="•"/>
            </a:pPr>
            <a:r>
              <a:rPr lang="en-AU" sz="1200" kern="1200" dirty="0" smtClean="0">
                <a:solidFill>
                  <a:schemeClr val="tx1"/>
                </a:solidFill>
                <a:ea typeface="+mn-ea"/>
                <a:cs typeface="+mn-cs"/>
              </a:rPr>
              <a:t> Service levels provided to others</a:t>
            </a:r>
          </a:p>
          <a:p>
            <a:pPr lvl="1">
              <a:buFont typeface="Arial" pitchFamily="34" charset="0"/>
              <a:buChar char="•"/>
            </a:pPr>
            <a:r>
              <a:rPr lang="en-AU" sz="1200" kern="1200" dirty="0" smtClean="0">
                <a:solidFill>
                  <a:schemeClr val="tx1"/>
                </a:solidFill>
                <a:ea typeface="+mn-ea"/>
                <a:cs typeface="+mn-cs"/>
              </a:rPr>
              <a:t> Occupancy levels and the resultant demand for staff</a:t>
            </a:r>
          </a:p>
          <a:p>
            <a:pPr lvl="1">
              <a:buFont typeface="Arial" pitchFamily="34" charset="0"/>
              <a:buChar char="•"/>
            </a:pPr>
            <a:r>
              <a:rPr lang="en-AU" sz="1200" kern="1200" dirty="0" smtClean="0">
                <a:solidFill>
                  <a:schemeClr val="tx1"/>
                </a:solidFill>
                <a:ea typeface="+mn-ea"/>
                <a:cs typeface="+mn-cs"/>
              </a:rPr>
              <a:t> The potential to optimize revenue and/or profit, for example, the project/event may increase revenue but not optimize profit if all the rooms are sold at a low discount rate necessary to ‘win the business’</a:t>
            </a:r>
          </a:p>
          <a:p>
            <a:pPr lvl="1">
              <a:buFont typeface="Arial" pitchFamily="34" charset="0"/>
              <a:buChar char="•"/>
            </a:pPr>
            <a:r>
              <a:rPr lang="en-AU" sz="1200" kern="1200" dirty="0" smtClean="0">
                <a:solidFill>
                  <a:schemeClr val="tx1"/>
                </a:solidFill>
                <a:ea typeface="+mn-ea"/>
                <a:cs typeface="+mn-cs"/>
              </a:rPr>
              <a:t> Need for maintenance, service and repairs to the venue</a:t>
            </a:r>
          </a:p>
          <a:p>
            <a:pPr lvl="1">
              <a:buFont typeface="Arial" pitchFamily="34" charset="0"/>
              <a:buChar char="•"/>
            </a:pPr>
            <a:r>
              <a:rPr lang="en-AU" sz="1200" kern="1200" dirty="0" smtClean="0">
                <a:solidFill>
                  <a:schemeClr val="tx1"/>
                </a:solidFill>
                <a:ea typeface="+mn-ea"/>
                <a:cs typeface="+mn-cs"/>
              </a:rPr>
              <a:t> Requirement for extra staff and/or extra hours for staff.</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key factors to consider when evaluating financial viability:</a:t>
            </a:r>
          </a:p>
          <a:p>
            <a:r>
              <a:rPr lang="en-AU" sz="1200" b="1" kern="1200" dirty="0" smtClean="0">
                <a:solidFill>
                  <a:schemeClr val="tx1"/>
                </a:solidFill>
                <a:ea typeface="+mn-ea"/>
                <a:cs typeface="+mn-cs"/>
              </a:rPr>
              <a:t>Availability and capacity of resources </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Do you have sufficient human resources to undertake the project?</a:t>
            </a:r>
          </a:p>
          <a:p>
            <a:pPr>
              <a:buFont typeface="Arial" pitchFamily="34" charset="0"/>
              <a:buChar char="•"/>
            </a:pPr>
            <a:r>
              <a:rPr lang="en-AU" sz="1200" kern="1200" dirty="0" smtClean="0">
                <a:solidFill>
                  <a:schemeClr val="tx1"/>
                </a:solidFill>
                <a:ea typeface="+mn-ea"/>
                <a:cs typeface="+mn-cs"/>
              </a:rPr>
              <a:t> Is there a need to train staff to achieve the required outcomes for the project and, if so, what is involved in terms of time and money in doing this?</a:t>
            </a:r>
          </a:p>
          <a:p>
            <a:pPr>
              <a:buFont typeface="Arial" pitchFamily="34" charset="0"/>
              <a:buChar char="•"/>
            </a:pPr>
            <a:r>
              <a:rPr lang="en-AU" sz="1200" kern="1200" dirty="0" smtClean="0">
                <a:solidFill>
                  <a:schemeClr val="tx1"/>
                </a:solidFill>
                <a:ea typeface="+mn-ea"/>
                <a:cs typeface="+mn-cs"/>
              </a:rPr>
              <a:t> If you do not have the required physical resources, can they be obtained from elsewhere and if so, what is the cost?</a:t>
            </a:r>
          </a:p>
          <a:p>
            <a:pPr>
              <a:buFont typeface="Arial" pitchFamily="34" charset="0"/>
              <a:buChar char="•"/>
            </a:pPr>
            <a:r>
              <a:rPr lang="en-AU" sz="1200" kern="1200" dirty="0" smtClean="0">
                <a:solidFill>
                  <a:schemeClr val="tx1"/>
                </a:solidFill>
                <a:ea typeface="+mn-ea"/>
                <a:cs typeface="+mn-cs"/>
              </a:rPr>
              <a:t> Are the available physical resources suitable for the specific requirements of the project and are they serviced, safe and ready to use? If not, what is involved in making these existing resources fit to use?</a:t>
            </a:r>
          </a:p>
          <a:p>
            <a:pPr>
              <a:buFont typeface="Arial" pitchFamily="34" charset="0"/>
              <a:buChar char="•"/>
            </a:pPr>
            <a:r>
              <a:rPr lang="en-AU" sz="1200" kern="1200" dirty="0" smtClean="0">
                <a:solidFill>
                  <a:schemeClr val="tx1"/>
                </a:solidFill>
                <a:ea typeface="+mn-ea"/>
                <a:cs typeface="+mn-cs"/>
              </a:rPr>
              <a:t> Do the resources you have meet all legal compliance requirements?</a:t>
            </a:r>
          </a:p>
          <a:p>
            <a:pPr>
              <a:buFont typeface="Arial" pitchFamily="34" charset="0"/>
              <a:buChar char="•"/>
            </a:pPr>
            <a:r>
              <a:rPr lang="en-AU" sz="1200" kern="1200" dirty="0" smtClean="0">
                <a:solidFill>
                  <a:schemeClr val="tx1"/>
                </a:solidFill>
                <a:ea typeface="+mn-ea"/>
                <a:cs typeface="+mn-cs"/>
              </a:rPr>
              <a:t> Are the available resources sufficient in number to meet expected demand for the project?</a:t>
            </a:r>
          </a:p>
          <a:p>
            <a:pPr>
              <a:buFont typeface="Arial" pitchFamily="34" charset="0"/>
              <a:buChar char="•"/>
            </a:pPr>
            <a:r>
              <a:rPr lang="en-AU" sz="1200" kern="1200" dirty="0" smtClean="0">
                <a:solidFill>
                  <a:schemeClr val="tx1"/>
                </a:solidFill>
                <a:ea typeface="+mn-ea"/>
                <a:cs typeface="+mn-cs"/>
              </a:rPr>
              <a:t> Is the venue appropriate for conducting the required event/function? If not, what changes have to be made to ensure the venue is suitable?</a:t>
            </a:r>
          </a:p>
          <a:p>
            <a:pPr>
              <a:buFont typeface="Arial" pitchFamily="34" charset="0"/>
              <a:buChar char="•"/>
            </a:pPr>
            <a:r>
              <a:rPr lang="en-AU" sz="1200" kern="1200" dirty="0" smtClean="0">
                <a:solidFill>
                  <a:schemeClr val="tx1"/>
                </a:solidFill>
                <a:ea typeface="+mn-ea"/>
                <a:cs typeface="+mn-cs"/>
              </a:rPr>
              <a:t> Is there a need for the resources of the venue to integrate with resources being brought or used by those attending?</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key factors to consider when evaluating financial viability:</a:t>
            </a:r>
          </a:p>
          <a:p>
            <a:r>
              <a:rPr lang="en-AU" sz="1200" b="1" kern="1200" dirty="0" smtClean="0">
                <a:solidFill>
                  <a:schemeClr val="tx1"/>
                </a:solidFill>
                <a:ea typeface="+mn-ea"/>
                <a:cs typeface="+mn-cs"/>
              </a:rPr>
              <a:t>Budget</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How much money is available?</a:t>
            </a:r>
          </a:p>
          <a:p>
            <a:pPr>
              <a:buFont typeface="Arial" pitchFamily="34" charset="0"/>
              <a:buChar char="•"/>
            </a:pPr>
            <a:r>
              <a:rPr lang="en-AU" sz="1200" kern="1200" dirty="0" smtClean="0">
                <a:solidFill>
                  <a:schemeClr val="tx1"/>
                </a:solidFill>
                <a:ea typeface="+mn-ea"/>
                <a:cs typeface="+mn-cs"/>
              </a:rPr>
              <a:t> When is it available?</a:t>
            </a:r>
          </a:p>
          <a:p>
            <a:pPr>
              <a:buFont typeface="Arial" pitchFamily="34" charset="0"/>
              <a:buChar char="•"/>
            </a:pPr>
            <a:r>
              <a:rPr lang="en-AU" sz="1200" kern="1200" dirty="0" smtClean="0">
                <a:solidFill>
                  <a:schemeClr val="tx1"/>
                </a:solidFill>
                <a:ea typeface="+mn-ea"/>
                <a:cs typeface="+mn-cs"/>
              </a:rPr>
              <a:t> How do you access it?</a:t>
            </a:r>
          </a:p>
          <a:p>
            <a:pPr>
              <a:buFont typeface="Arial" pitchFamily="34" charset="0"/>
              <a:buChar char="•"/>
            </a:pPr>
            <a:r>
              <a:rPr lang="en-AU" sz="1200" kern="1200" dirty="0" smtClean="0">
                <a:solidFill>
                  <a:schemeClr val="tx1"/>
                </a:solidFill>
                <a:ea typeface="+mn-ea"/>
                <a:cs typeface="+mn-cs"/>
              </a:rPr>
              <a:t> What authority do you need in order to spend it?</a:t>
            </a:r>
          </a:p>
          <a:p>
            <a:pPr>
              <a:buFont typeface="Arial" pitchFamily="34" charset="0"/>
              <a:buChar char="•"/>
            </a:pPr>
            <a:r>
              <a:rPr lang="en-AU" sz="1200" kern="1200" dirty="0" smtClean="0">
                <a:solidFill>
                  <a:schemeClr val="tx1"/>
                </a:solidFill>
                <a:ea typeface="+mn-ea"/>
                <a:cs typeface="+mn-cs"/>
              </a:rPr>
              <a:t> Can you obtain extra funding if needed?</a:t>
            </a:r>
          </a:p>
          <a:p>
            <a:pPr>
              <a:buFont typeface="Arial" pitchFamily="34" charset="0"/>
              <a:buChar char="•"/>
            </a:pPr>
            <a:r>
              <a:rPr lang="en-AU" sz="1200" kern="1200" dirty="0" smtClean="0">
                <a:solidFill>
                  <a:schemeClr val="tx1"/>
                </a:solidFill>
                <a:ea typeface="+mn-ea"/>
                <a:cs typeface="+mn-cs"/>
              </a:rPr>
              <a:t> Where will the extra funding come from?</a:t>
            </a:r>
          </a:p>
          <a:p>
            <a:pPr>
              <a:buFont typeface="Arial" pitchFamily="34" charset="0"/>
              <a:buChar char="•"/>
            </a:pPr>
            <a:r>
              <a:rPr lang="en-AU" sz="1200" kern="1200" dirty="0" smtClean="0">
                <a:solidFill>
                  <a:schemeClr val="tx1"/>
                </a:solidFill>
                <a:ea typeface="+mn-ea"/>
                <a:cs typeface="+mn-cs"/>
              </a:rPr>
              <a:t> Can you transfer money from one budget/budget line to another if needed?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key factors to consider when evaluating financial viability:</a:t>
            </a:r>
          </a:p>
          <a:p>
            <a:r>
              <a:rPr lang="en-AU" sz="1200" b="1" kern="1200" dirty="0" smtClean="0">
                <a:solidFill>
                  <a:schemeClr val="tx1"/>
                </a:solidFill>
                <a:ea typeface="+mn-ea"/>
                <a:cs typeface="+mn-cs"/>
              </a:rPr>
              <a:t>Contractual obligations and penalties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What promises have been made to the client about resources and performance of the venue (in terms of products and service delivery)?</a:t>
            </a:r>
          </a:p>
          <a:p>
            <a:pPr>
              <a:buFont typeface="Arial" pitchFamily="34" charset="0"/>
              <a:buChar char="•"/>
            </a:pPr>
            <a:r>
              <a:rPr lang="en-AU" sz="1200" kern="1200" dirty="0" smtClean="0">
                <a:solidFill>
                  <a:schemeClr val="tx1"/>
                </a:solidFill>
                <a:ea typeface="+mn-ea"/>
                <a:cs typeface="+mn-cs"/>
              </a:rPr>
              <a:t> Which promises are legally-binding and/or non-negotiable?</a:t>
            </a:r>
          </a:p>
          <a:p>
            <a:pPr>
              <a:buFont typeface="Arial" pitchFamily="34" charset="0"/>
              <a:buChar char="•"/>
            </a:pPr>
            <a:r>
              <a:rPr lang="en-AU" sz="1200" kern="1200" dirty="0" smtClean="0">
                <a:solidFill>
                  <a:schemeClr val="tx1"/>
                </a:solidFill>
                <a:ea typeface="+mn-ea"/>
                <a:cs typeface="+mn-cs"/>
              </a:rPr>
              <a:t> Do the resources proposed and/or available align with promises made to the client regarding their performance, quality and other relevant factors?</a:t>
            </a:r>
          </a:p>
          <a:p>
            <a:pPr>
              <a:buFont typeface="Arial" pitchFamily="34" charset="0"/>
              <a:buChar char="•"/>
            </a:pPr>
            <a:r>
              <a:rPr lang="en-AU" sz="1200" kern="1200" dirty="0" smtClean="0">
                <a:solidFill>
                  <a:schemeClr val="tx1"/>
                </a:solidFill>
                <a:ea typeface="+mn-ea"/>
                <a:cs typeface="+mn-cs"/>
              </a:rPr>
              <a:t> What legal action might the client take for failure to meet performance standards/criteria in the contract which applies to the project/event?</a:t>
            </a:r>
          </a:p>
          <a:p>
            <a:pPr>
              <a:buFont typeface="Arial" pitchFamily="34" charset="0"/>
              <a:buChar char="•"/>
            </a:pPr>
            <a:r>
              <a:rPr lang="en-AU" sz="1200" kern="1200" dirty="0" smtClean="0">
                <a:solidFill>
                  <a:schemeClr val="tx1"/>
                </a:solidFill>
                <a:ea typeface="+mn-ea"/>
                <a:cs typeface="+mn-cs"/>
              </a:rPr>
              <a:t> What financial penalties (such as refunds and/or damages awarded if the venue is sued), and other penalties (such as a court injunction to re-perform the project/event or to issue a public apology) might flow if the agreed contract is not discharged in accordance wit all relevant terms and conditions?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a </a:t>
            </a:r>
            <a:r>
              <a:rPr lang="en-AU" sz="1200" kern="1200" dirty="0" smtClean="0">
                <a:solidFill>
                  <a:schemeClr val="tx1"/>
                </a:solidFill>
                <a:ea typeface="+mn-ea"/>
                <a:cs typeface="+mn-cs"/>
              </a:rPr>
              <a:t>cost-benefit analysis is a common requirement in many organisations for all expenditure over a stated amount explaining:</a:t>
            </a:r>
          </a:p>
          <a:p>
            <a:pPr>
              <a:buFont typeface="Arial" pitchFamily="34" charset="0"/>
              <a:buChar char="•"/>
            </a:pPr>
            <a:r>
              <a:rPr lang="en-AU" sz="1200" kern="1200" dirty="0" smtClean="0">
                <a:solidFill>
                  <a:schemeClr val="tx1"/>
                </a:solidFill>
                <a:ea typeface="+mn-ea"/>
                <a:cs typeface="+mn-cs"/>
              </a:rPr>
              <a:t> Smaller, less expensive items or services are not usually subject to a cost-benefit analysis.</a:t>
            </a:r>
          </a:p>
          <a:p>
            <a:pPr>
              <a:buFont typeface="Arial" pitchFamily="34" charset="0"/>
              <a:buChar char="•"/>
            </a:pPr>
            <a:r>
              <a:rPr lang="en-AU" sz="1200" kern="1200" dirty="0" smtClean="0">
                <a:solidFill>
                  <a:schemeClr val="tx1"/>
                </a:solidFill>
                <a:ea typeface="+mn-ea"/>
                <a:cs typeface="+mn-cs"/>
              </a:rPr>
              <a:t> The cost-benefit analysis considers the costs and related benefits associated with making a nominated purchase and allows a mechanism whereby various alternatives can be compared against each other with a view to identifying the single most beneficial option for the business.</a:t>
            </a:r>
          </a:p>
          <a:p>
            <a:pPr>
              <a:buFont typeface="Arial" pitchFamily="34" charset="0"/>
              <a:buChar char="•"/>
            </a:pPr>
            <a:r>
              <a:rPr lang="en-AU" sz="1200" kern="1200" dirty="0" smtClean="0">
                <a:solidFill>
                  <a:schemeClr val="tx1"/>
                </a:solidFill>
                <a:ea typeface="+mn-ea"/>
                <a:cs typeface="+mn-cs"/>
              </a:rPr>
              <a:t> Factors considered as part of the cost-benefit analysis may include:</a:t>
            </a:r>
          </a:p>
          <a:p>
            <a:pPr lvl="1">
              <a:buFont typeface="Arial" pitchFamily="34" charset="0"/>
              <a:buChar char="•"/>
            </a:pPr>
            <a:r>
              <a:rPr lang="en-AU" sz="1200" kern="1200" dirty="0" smtClean="0">
                <a:solidFill>
                  <a:schemeClr val="tx1"/>
                </a:solidFill>
                <a:ea typeface="+mn-ea"/>
                <a:cs typeface="+mn-cs"/>
              </a:rPr>
              <a:t> Purchase price</a:t>
            </a:r>
          </a:p>
          <a:p>
            <a:pPr lvl="1">
              <a:buFont typeface="Arial" pitchFamily="34" charset="0"/>
              <a:buChar char="•"/>
            </a:pPr>
            <a:r>
              <a:rPr lang="en-AU" sz="1200" kern="1200" dirty="0" smtClean="0">
                <a:solidFill>
                  <a:schemeClr val="tx1"/>
                </a:solidFill>
                <a:ea typeface="+mn-ea"/>
                <a:cs typeface="+mn-cs"/>
              </a:rPr>
              <a:t> Trade-in or revenue obtained from selling ‘old’ item/s</a:t>
            </a:r>
          </a:p>
          <a:p>
            <a:pPr lvl="1">
              <a:buFont typeface="Arial" pitchFamily="34" charset="0"/>
              <a:buChar char="•"/>
            </a:pPr>
            <a:r>
              <a:rPr lang="en-AU" sz="1200" kern="1200" dirty="0" smtClean="0">
                <a:solidFill>
                  <a:schemeClr val="tx1"/>
                </a:solidFill>
                <a:ea typeface="+mn-ea"/>
                <a:cs typeface="+mn-cs"/>
              </a:rPr>
              <a:t> Benefits, savings and efficiencies gained</a:t>
            </a:r>
          </a:p>
          <a:p>
            <a:pPr lvl="1">
              <a:buFont typeface="Arial" pitchFamily="34" charset="0"/>
              <a:buChar char="•"/>
            </a:pPr>
            <a:r>
              <a:rPr lang="en-AU" sz="1200" kern="1200" dirty="0" smtClean="0">
                <a:solidFill>
                  <a:schemeClr val="tx1"/>
                </a:solidFill>
                <a:ea typeface="+mn-ea"/>
                <a:cs typeface="+mn-cs"/>
              </a:rPr>
              <a:t> Ongoing cost of service, repairs and maintenance </a:t>
            </a:r>
          </a:p>
          <a:p>
            <a:pPr lvl="1">
              <a:buFont typeface="Arial" pitchFamily="34" charset="0"/>
              <a:buChar char="•"/>
            </a:pPr>
            <a:r>
              <a:rPr lang="en-AU" sz="1200" kern="1200" dirty="0" smtClean="0">
                <a:solidFill>
                  <a:schemeClr val="tx1"/>
                </a:solidFill>
                <a:ea typeface="+mn-ea"/>
                <a:cs typeface="+mn-cs"/>
              </a:rPr>
              <a:t> Opportunity cost/s</a:t>
            </a:r>
          </a:p>
          <a:p>
            <a:pPr lvl="1">
              <a:buFont typeface="Arial" pitchFamily="34" charset="0"/>
              <a:buChar char="•"/>
            </a:pPr>
            <a:r>
              <a:rPr lang="en-AU" sz="1200" kern="1200" dirty="0" smtClean="0">
                <a:solidFill>
                  <a:schemeClr val="tx1"/>
                </a:solidFill>
                <a:ea typeface="+mn-ea"/>
                <a:cs typeface="+mn-cs"/>
              </a:rPr>
              <a:t> Expected life of the item</a:t>
            </a:r>
          </a:p>
          <a:p>
            <a:pPr lvl="1">
              <a:buFont typeface="Arial" pitchFamily="34" charset="0"/>
              <a:buChar char="•"/>
            </a:pPr>
            <a:r>
              <a:rPr lang="en-AU" sz="1200" kern="1200" dirty="0" smtClean="0">
                <a:solidFill>
                  <a:schemeClr val="tx1"/>
                </a:solidFill>
                <a:ea typeface="+mn-ea"/>
                <a:cs typeface="+mn-cs"/>
              </a:rPr>
              <a:t> Productivity.</a:t>
            </a:r>
          </a:p>
          <a:p>
            <a:pPr>
              <a:buFont typeface="Arial" pitchFamily="34" charset="0"/>
              <a:buNone/>
            </a:pPr>
            <a:endParaRPr lang="en-US" dirty="0" smtClean="0"/>
          </a:p>
          <a:p>
            <a:pPr>
              <a:buFont typeface="Arial" pitchFamily="34" charset="0"/>
              <a:buNone/>
            </a:pPr>
            <a:r>
              <a:rPr lang="en-US" b="1" dirty="0" smtClean="0"/>
              <a:t>Class Activity – Demonstration</a:t>
            </a:r>
          </a:p>
          <a:p>
            <a:pPr>
              <a:buFont typeface="Arial" pitchFamily="34" charset="0"/>
              <a:buNone/>
            </a:pPr>
            <a:r>
              <a:rPr lang="en-US" b="0" dirty="0" smtClean="0"/>
              <a:t>Trainer demonstrates to students how to conduct a cost-benefit analysis for a nominated item.</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basic information about project budgets stating:</a:t>
            </a:r>
          </a:p>
          <a:p>
            <a:pPr>
              <a:buFont typeface="Arial" pitchFamily="34" charset="0"/>
              <a:buChar char="•"/>
            </a:pPr>
            <a:r>
              <a:rPr lang="en-AU" sz="1200" kern="1200" dirty="0" smtClean="0">
                <a:solidFill>
                  <a:schemeClr val="tx1"/>
                </a:solidFill>
                <a:ea typeface="+mn-ea"/>
                <a:cs typeface="+mn-cs"/>
              </a:rPr>
              <a:t> The majority of projects are budget-based.</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here will normally be a limit on how much can be spent (or otherwise invested – such as time, effort, venue resources) to achieve the stated project deliverables.</a:t>
            </a:r>
          </a:p>
          <a:p>
            <a:pPr>
              <a:buFont typeface="Arial" pitchFamily="34" charset="0"/>
              <a:buChar char="•"/>
            </a:pPr>
            <a:r>
              <a:rPr lang="en-AU" sz="1200" kern="1200" dirty="0" smtClean="0">
                <a:solidFill>
                  <a:schemeClr val="tx1"/>
                </a:solidFill>
                <a:ea typeface="+mn-ea"/>
                <a:cs typeface="+mn-cs"/>
              </a:rPr>
              <a:t> The amount of money available for a project may have been:</a:t>
            </a:r>
          </a:p>
          <a:p>
            <a:pPr lvl="1">
              <a:buFont typeface="Arial" pitchFamily="34" charset="0"/>
              <a:buChar char="•"/>
            </a:pPr>
            <a:r>
              <a:rPr lang="en-AU" sz="1200" kern="1200" dirty="0" smtClean="0">
                <a:solidFill>
                  <a:schemeClr val="tx1"/>
                </a:solidFill>
                <a:ea typeface="+mn-ea"/>
                <a:cs typeface="+mn-cs"/>
              </a:rPr>
              <a:t> Set by the client funding body and/or the delegating authority,</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for example, the client may have a budget of 50,000 for their function, or the authority issuing the grant money may cap its funding to 75,000 for each project</a:t>
            </a:r>
          </a:p>
          <a:p>
            <a:pPr lvl="1">
              <a:buFont typeface="Arial" pitchFamily="34" charset="0"/>
              <a:buChar char="•"/>
            </a:pPr>
            <a:r>
              <a:rPr lang="en-AU" sz="1200" kern="1200" dirty="0" smtClean="0">
                <a:solidFill>
                  <a:schemeClr val="tx1"/>
                </a:solidFill>
                <a:ea typeface="+mn-ea"/>
                <a:cs typeface="+mn-cs"/>
              </a:rPr>
              <a:t> Determined by the venue – this is where management prescribes a maximum amount that can be spent on the project to achieve the outcomes identified in the Project Scope and/or Plans.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Trainer presents information about</a:t>
            </a:r>
            <a:r>
              <a:rPr lang="en-US" baseline="0" dirty="0" smtClean="0"/>
              <a:t> situations where </a:t>
            </a:r>
            <a:r>
              <a:rPr lang="en-AU" sz="1200" kern="1200" dirty="0" smtClean="0">
                <a:solidFill>
                  <a:schemeClr val="tx1"/>
                </a:solidFill>
                <a:ea typeface="+mn-ea"/>
                <a:cs typeface="+mn-cs"/>
              </a:rPr>
              <a:t>the client sets the budget for a project explaining PM role is to:</a:t>
            </a:r>
          </a:p>
          <a:p>
            <a:pPr lvl="0">
              <a:buFont typeface="Arial" pitchFamily="34" charset="0"/>
              <a:buChar char="•"/>
            </a:pPr>
            <a:r>
              <a:rPr lang="en-AU" sz="1200" kern="1200" dirty="0" smtClean="0">
                <a:solidFill>
                  <a:schemeClr val="tx1"/>
                </a:solidFill>
                <a:ea typeface="+mn-ea"/>
                <a:cs typeface="+mn-cs"/>
              </a:rPr>
              <a:t> Deliver the goods and services as required within the budget limitations – attention needs to be paid to ensuring required (or expected, or ‘promised’) delivery/service standards while still returning the venue an acceptable level of profit/return. </a:t>
            </a:r>
            <a:r>
              <a:rPr lang="en-AU" sz="1200" b="1" kern="1200" dirty="0" smtClean="0">
                <a:solidFill>
                  <a:schemeClr val="tx1"/>
                </a:solidFill>
                <a:ea typeface="+mn-ea"/>
                <a:cs typeface="+mn-cs"/>
              </a:rPr>
              <a:t>Note</a:t>
            </a:r>
            <a:r>
              <a:rPr lang="en-AU" sz="1200" kern="1200" dirty="0" smtClean="0">
                <a:solidFill>
                  <a:schemeClr val="tx1"/>
                </a:solidFill>
                <a:ea typeface="+mn-ea"/>
                <a:cs typeface="+mn-cs"/>
              </a:rPr>
              <a:t>: some clients (especially valued, regular and VIP customers) have unrealistic expectations or make unreasonable demands on your venue they would not make on another venue. This may be because they feel/believe your property is obliged to provide them with more/a better deal given their value to the business. </a:t>
            </a:r>
          </a:p>
          <a:p>
            <a:pPr lvl="0">
              <a:buFont typeface="Arial" pitchFamily="34" charset="0"/>
              <a:buChar char="•"/>
            </a:pPr>
            <a:r>
              <a:rPr lang="en-AU" sz="1200" kern="1200" dirty="0" smtClean="0">
                <a:solidFill>
                  <a:schemeClr val="tx1"/>
                </a:solidFill>
                <a:ea typeface="+mn-ea"/>
                <a:cs typeface="+mn-cs"/>
              </a:rPr>
              <a:t> Meet with the client and discuss their expectations, needs, wants and preferences.</a:t>
            </a:r>
            <a:r>
              <a:rPr lang="en-AU" sz="1200" kern="1200" baseline="0" dirty="0" smtClean="0">
                <a:solidFill>
                  <a:schemeClr val="tx1"/>
                </a:solidFill>
                <a:ea typeface="+mn-ea"/>
                <a:cs typeface="+mn-cs"/>
              </a:rPr>
              <a:t> A</a:t>
            </a:r>
            <a:r>
              <a:rPr lang="en-AU" sz="1200" kern="1200" dirty="0" smtClean="0">
                <a:solidFill>
                  <a:schemeClr val="tx1"/>
                </a:solidFill>
                <a:ea typeface="+mn-ea"/>
                <a:cs typeface="+mn-cs"/>
              </a:rPr>
              <a:t>void making promises which create unrealistic, unprofitable and/or unachievable deliverables in terms of timing, quantities, types of food and beverages to be provided, staff numbers, rooms/areas to be used, complimentary items to be provided</a:t>
            </a:r>
          </a:p>
          <a:p>
            <a:pPr lvl="0">
              <a:buFont typeface="Arial" pitchFamily="34" charset="0"/>
              <a:buChar char="•"/>
            </a:pPr>
            <a:r>
              <a:rPr lang="en-AU" sz="1200" kern="1200" dirty="0" smtClean="0">
                <a:solidFill>
                  <a:schemeClr val="tx1"/>
                </a:solidFill>
                <a:ea typeface="+mn-ea"/>
                <a:cs typeface="+mn-cs"/>
              </a:rPr>
              <a:t> Negotiate extra payment.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is a core requirement for many projects: you have to be prepared to explain/justify why extra money is/may be needed to provide a project/function to meet client expectations. Rarely is there an open cheque book for functions but you must make sure the client knows there is the potential for them to be charged extra if they use extra or demand more.</a:t>
            </a:r>
          </a:p>
          <a:p>
            <a:pPr lvl="0">
              <a:buFont typeface="Arial" pitchFamily="34" charset="0"/>
              <a:buChar char="•"/>
            </a:pPr>
            <a:r>
              <a:rPr lang="en-AU" sz="1200" kern="1200" dirty="0" smtClean="0">
                <a:solidFill>
                  <a:schemeClr val="tx1"/>
                </a:solidFill>
                <a:ea typeface="+mn-ea"/>
                <a:cs typeface="+mn-cs"/>
              </a:rPr>
              <a:t> Obtain agreement in written form (such as a function contract) detailing what is being provided.</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is vital to avoid confusion and disappointment about what is to be supplied (menu, drinks, entertainment), and also serves as the legally-binding document compelling the client to pay </a:t>
            </a:r>
          </a:p>
          <a:p>
            <a:pPr lvl="0">
              <a:buFont typeface="Arial" pitchFamily="34" charset="0"/>
              <a:buChar char="•"/>
            </a:pPr>
            <a:r>
              <a:rPr lang="en-AU" sz="1200" kern="1200" dirty="0" smtClean="0">
                <a:solidFill>
                  <a:schemeClr val="tx1"/>
                </a:solidFill>
                <a:ea typeface="+mn-ea"/>
                <a:cs typeface="+mn-cs"/>
              </a:rPr>
              <a:t> Obtain payment including,</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for example, an initial deposit in accordance with venue requirements, progress payments (where applicable) and final payment.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where </a:t>
            </a:r>
            <a:r>
              <a:rPr lang="en-AU" sz="1200" kern="1200" dirty="0" smtClean="0">
                <a:solidFill>
                  <a:schemeClr val="tx1"/>
                </a:solidFill>
                <a:ea typeface="+mn-ea"/>
                <a:cs typeface="+mn-cs"/>
              </a:rPr>
              <a:t>money is received from a government or industry body (such as in the form of a grant or subsidy) standard requirements are:</a:t>
            </a:r>
          </a:p>
          <a:p>
            <a:pPr lvl="0">
              <a:buFont typeface="Arial" pitchFamily="34" charset="0"/>
              <a:buChar char="•"/>
            </a:pPr>
            <a:r>
              <a:rPr lang="en-AU" sz="1200" kern="1200" dirty="0" smtClean="0">
                <a:solidFill>
                  <a:schemeClr val="tx1"/>
                </a:solidFill>
                <a:ea typeface="+mn-ea"/>
                <a:cs typeface="+mn-cs"/>
              </a:rPr>
              <a:t> The venue may be required to match the grant money in some way.</a:t>
            </a:r>
            <a:r>
              <a:rPr lang="en-AU" sz="1200" kern="1200" baseline="0" dirty="0" smtClean="0">
                <a:solidFill>
                  <a:schemeClr val="tx1"/>
                </a:solidFill>
                <a:ea typeface="+mn-ea"/>
                <a:cs typeface="+mn-cs"/>
              </a:rPr>
              <a:t> A</a:t>
            </a:r>
            <a:r>
              <a:rPr lang="en-AU" sz="1200" kern="1200" dirty="0" smtClean="0">
                <a:solidFill>
                  <a:schemeClr val="tx1"/>
                </a:solidFill>
                <a:ea typeface="+mn-ea"/>
                <a:cs typeface="+mn-cs"/>
              </a:rPr>
              <a:t> ‘one for one’ requirement is common: you need to check this prior to accepting any grant to make sure management is prepared to commit the required funds</a:t>
            </a:r>
          </a:p>
          <a:p>
            <a:pPr lvl="0">
              <a:buFont typeface="Arial" pitchFamily="34" charset="0"/>
              <a:buChar char="•"/>
            </a:pPr>
            <a:r>
              <a:rPr lang="en-AU" sz="1200" kern="1200" dirty="0" smtClean="0">
                <a:solidFill>
                  <a:schemeClr val="tx1"/>
                </a:solidFill>
                <a:ea typeface="+mn-ea"/>
                <a:cs typeface="+mn-cs"/>
              </a:rPr>
              <a:t> There are always requirements attached to the money.</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are the ‘strings attached’ and can require you to:</a:t>
            </a:r>
          </a:p>
          <a:p>
            <a:pPr lvl="1">
              <a:buFont typeface="Arial" pitchFamily="34" charset="0"/>
              <a:buChar char="•"/>
            </a:pPr>
            <a:r>
              <a:rPr lang="en-AU" sz="1200" kern="1200" dirty="0" smtClean="0">
                <a:solidFill>
                  <a:schemeClr val="tx1"/>
                </a:solidFill>
                <a:ea typeface="+mn-ea"/>
                <a:cs typeface="+mn-cs"/>
              </a:rPr>
              <a:t> Spend money by a certain date</a:t>
            </a:r>
          </a:p>
          <a:p>
            <a:pPr lvl="1">
              <a:buFont typeface="Arial" pitchFamily="34" charset="0"/>
              <a:buChar char="•"/>
            </a:pPr>
            <a:r>
              <a:rPr lang="en-AU" sz="1200" kern="1200" dirty="0" smtClean="0">
                <a:solidFill>
                  <a:schemeClr val="tx1"/>
                </a:solidFill>
                <a:ea typeface="+mn-ea"/>
                <a:cs typeface="+mn-cs"/>
              </a:rPr>
              <a:t> Spend the money on a specified ‘thing’ or from items on a specified list of options</a:t>
            </a:r>
          </a:p>
          <a:p>
            <a:pPr lvl="1">
              <a:buFont typeface="Arial" pitchFamily="34" charset="0"/>
              <a:buChar char="•"/>
            </a:pPr>
            <a:r>
              <a:rPr lang="en-AU" sz="1200" kern="1200" dirty="0" smtClean="0">
                <a:solidFill>
                  <a:schemeClr val="tx1"/>
                </a:solidFill>
                <a:ea typeface="+mn-ea"/>
                <a:cs typeface="+mn-cs"/>
              </a:rPr>
              <a:t> Spend the money with a specified provider/supplier,</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for example, from a list of preferred suppliers/sponsors or with ‘local’ (or ‘domestic’) businesses</a:t>
            </a:r>
          </a:p>
          <a:p>
            <a:pPr lvl="1">
              <a:buFont typeface="Arial" pitchFamily="34" charset="0"/>
              <a:buChar char="•"/>
            </a:pPr>
            <a:r>
              <a:rPr lang="en-AU" sz="1200" kern="1200" dirty="0" smtClean="0">
                <a:solidFill>
                  <a:schemeClr val="tx1"/>
                </a:solidFill>
                <a:ea typeface="+mn-ea"/>
                <a:cs typeface="+mn-cs"/>
              </a:rPr>
              <a:t> Specified monitoring, reporting, record keeping and management requirements will apply</a:t>
            </a:r>
          </a:p>
          <a:p>
            <a:pPr lvl="1">
              <a:buFont typeface="Arial" pitchFamily="34" charset="0"/>
              <a:buChar char="•"/>
            </a:pPr>
            <a:r>
              <a:rPr lang="en-AU" sz="1200" kern="1200" dirty="0" smtClean="0">
                <a:solidFill>
                  <a:schemeClr val="tx1"/>
                </a:solidFill>
                <a:ea typeface="+mn-ea"/>
                <a:cs typeface="+mn-cs"/>
              </a:rPr>
              <a:t> Any unused money must be returned.</a:t>
            </a:r>
          </a:p>
          <a:p>
            <a:pPr lvl="0">
              <a:buFont typeface="Arial" pitchFamily="34" charset="0"/>
              <a:buNone/>
            </a:pPr>
            <a:endParaRPr lang="en-AU" sz="1200" kern="1200" dirty="0" smtClean="0">
              <a:solidFill>
                <a:schemeClr val="tx1"/>
              </a:solidFill>
              <a:ea typeface="+mn-ea"/>
              <a:cs typeface="+mn-cs"/>
            </a:endParaRPr>
          </a:p>
          <a:p>
            <a:pPr lvl="0">
              <a:buFont typeface="Arial" pitchFamily="34" charset="0"/>
              <a:buNone/>
            </a:pPr>
            <a:r>
              <a:rPr lang="en-AU" sz="1200" b="1" kern="1200" dirty="0" smtClean="0">
                <a:solidFill>
                  <a:schemeClr val="tx1"/>
                </a:solidFill>
                <a:ea typeface="+mn-ea"/>
                <a:cs typeface="+mn-cs"/>
              </a:rPr>
              <a:t>Class Activity – Guest Speaker</a:t>
            </a:r>
          </a:p>
          <a:p>
            <a:pPr lvl="0">
              <a:buFont typeface="Arial" pitchFamily="34" charset="0"/>
              <a:buNone/>
            </a:pPr>
            <a:r>
              <a:rPr lang="en-AU" sz="1200" b="0" kern="1200" dirty="0" smtClean="0">
                <a:solidFill>
                  <a:schemeClr val="tx1"/>
                </a:solidFill>
                <a:ea typeface="+mn-ea"/>
                <a:cs typeface="+mn-cs"/>
              </a:rPr>
              <a:t>Trainer arranges for a representative from a government agency to attend and talk to students about requirements which attach to funding grants from this authority.</a:t>
            </a: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where </a:t>
            </a:r>
            <a:r>
              <a:rPr lang="en-AU" sz="1200" kern="1200" dirty="0" smtClean="0">
                <a:solidFill>
                  <a:schemeClr val="tx1"/>
                </a:solidFill>
                <a:ea typeface="+mn-ea"/>
                <a:cs typeface="+mn-cs"/>
              </a:rPr>
              <a:t>budget for projects are initiated and paid for by the venue will:</a:t>
            </a:r>
          </a:p>
          <a:p>
            <a:pPr lvl="0">
              <a:buFont typeface="Arial" pitchFamily="34" charset="0"/>
              <a:buChar char="•"/>
            </a:pPr>
            <a:r>
              <a:rPr lang="en-AU" sz="1200" kern="1200" dirty="0" smtClean="0">
                <a:solidFill>
                  <a:schemeClr val="tx1"/>
                </a:solidFill>
                <a:ea typeface="+mn-ea"/>
                <a:cs typeface="+mn-cs"/>
              </a:rPr>
              <a:t> Be developed by the venue,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that is, the budget will be set as a result of discussions and negotiations involving:</a:t>
            </a:r>
          </a:p>
          <a:p>
            <a:pPr lvl="1">
              <a:buFont typeface="Arial" pitchFamily="34" charset="0"/>
              <a:buChar char="•"/>
            </a:pPr>
            <a:r>
              <a:rPr lang="en-AU" sz="1200" kern="1200" dirty="0" smtClean="0">
                <a:solidFill>
                  <a:schemeClr val="tx1"/>
                </a:solidFill>
                <a:ea typeface="+mn-ea"/>
                <a:cs typeface="+mn-cs"/>
              </a:rPr>
              <a:t> The Board and/or relevant Committees and/or sub-committees</a:t>
            </a:r>
          </a:p>
          <a:p>
            <a:pPr lvl="1">
              <a:buFont typeface="Arial" pitchFamily="34" charset="0"/>
              <a:buChar char="•"/>
            </a:pPr>
            <a:r>
              <a:rPr lang="en-AU" sz="1200" kern="1200" dirty="0" smtClean="0">
                <a:solidFill>
                  <a:schemeClr val="tx1"/>
                </a:solidFill>
                <a:ea typeface="+mn-ea"/>
                <a:cs typeface="+mn-cs"/>
              </a:rPr>
              <a:t> Managers and owner/s</a:t>
            </a:r>
          </a:p>
          <a:p>
            <a:pPr lvl="1">
              <a:buFont typeface="Arial" pitchFamily="34" charset="0"/>
              <a:buChar char="•"/>
            </a:pPr>
            <a:r>
              <a:rPr lang="en-AU" sz="1200" kern="1200" dirty="0" smtClean="0">
                <a:solidFill>
                  <a:schemeClr val="tx1"/>
                </a:solidFill>
                <a:ea typeface="+mn-ea"/>
                <a:cs typeface="+mn-cs"/>
              </a:rPr>
              <a:t> External professionals such as those with expertise in accountancy, financial planning, and taxation </a:t>
            </a:r>
          </a:p>
          <a:p>
            <a:pPr lvl="1">
              <a:buFont typeface="Arial" pitchFamily="34" charset="0"/>
              <a:buChar char="•"/>
            </a:pPr>
            <a:r>
              <a:rPr lang="en-AU" sz="1200" kern="1200" dirty="0" smtClean="0">
                <a:solidFill>
                  <a:schemeClr val="tx1"/>
                </a:solidFill>
                <a:ea typeface="+mn-ea"/>
                <a:cs typeface="+mn-cs"/>
              </a:rPr>
              <a:t> You,</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as the PM/person responsible for the project: so your input about what might be required can be factored in to their thinking</a:t>
            </a:r>
          </a:p>
          <a:p>
            <a:pPr lvl="0">
              <a:buFont typeface="Arial" pitchFamily="34" charset="0"/>
              <a:buChar char="•"/>
            </a:pPr>
            <a:r>
              <a:rPr lang="en-AU" sz="1200" kern="1200" dirty="0" smtClean="0">
                <a:solidFill>
                  <a:schemeClr val="tx1"/>
                </a:solidFill>
                <a:ea typeface="+mn-ea"/>
                <a:cs typeface="+mn-cs"/>
              </a:rPr>
              <a:t> Need to be formally approved by designated person/s within the business</a:t>
            </a:r>
          </a:p>
          <a:p>
            <a:pPr lvl="0">
              <a:buFont typeface="Arial" pitchFamily="34" charset="0"/>
              <a:buChar char="•"/>
            </a:pPr>
            <a:r>
              <a:rPr lang="en-AU" sz="1200" kern="1200" dirty="0" smtClean="0">
                <a:solidFill>
                  <a:schemeClr val="tx1"/>
                </a:solidFill>
                <a:ea typeface="+mn-ea"/>
                <a:cs typeface="+mn-cs"/>
              </a:rPr>
              <a:t> Appear as a separate budget specifically for the project with its own budget code.</a:t>
            </a:r>
          </a:p>
          <a:p>
            <a:pPr>
              <a:buFont typeface="Arial" pitchFamily="34" charset="0"/>
              <a:buNone/>
            </a:pPr>
            <a:endParaRPr lang="en-US" dirty="0" smtClean="0"/>
          </a:p>
          <a:p>
            <a:pPr>
              <a:buFont typeface="Arial" pitchFamily="34" charset="0"/>
              <a:buNone/>
            </a:pPr>
            <a:r>
              <a:rPr lang="en-US" b="1" dirty="0" smtClean="0"/>
              <a:t>Class Activity – handouts</a:t>
            </a:r>
          </a:p>
          <a:p>
            <a:pPr>
              <a:buFont typeface="Arial" pitchFamily="34" charset="0"/>
              <a:buNone/>
            </a:pPr>
            <a:r>
              <a:rPr lang="en-US" b="0" dirty="0" smtClean="0"/>
              <a:t>Trainer obtains, distributes and discusses sample budgets.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a:t>
            </a:r>
            <a:r>
              <a:rPr lang="en-AU" sz="1200" kern="1200" dirty="0" smtClean="0">
                <a:solidFill>
                  <a:schemeClr val="tx1"/>
                </a:solidFill>
                <a:ea typeface="+mn-ea"/>
                <a:cs typeface="+mn-cs"/>
              </a:rPr>
              <a:t>as PM/person responsible for the project responsibilities in relation to assisting in the preparation of the budget for a project may involve:</a:t>
            </a:r>
          </a:p>
          <a:p>
            <a:pPr lvl="0">
              <a:buFont typeface="Arial" pitchFamily="34" charset="0"/>
              <a:buChar char="•"/>
            </a:pPr>
            <a:r>
              <a:rPr lang="en-AU" sz="1200" kern="1200" dirty="0" smtClean="0">
                <a:solidFill>
                  <a:schemeClr val="tx1"/>
                </a:solidFill>
                <a:ea typeface="+mn-ea"/>
                <a:cs typeface="+mn-cs"/>
              </a:rPr>
              <a:t> Attending budget/financial meetings convened by management or relevant Committees/Sub-committees</a:t>
            </a:r>
          </a:p>
          <a:p>
            <a:pPr lvl="0">
              <a:buFont typeface="Arial" pitchFamily="34" charset="0"/>
              <a:buChar char="•"/>
            </a:pPr>
            <a:r>
              <a:rPr lang="en-AU" sz="1200" kern="1200" dirty="0" smtClean="0">
                <a:solidFill>
                  <a:schemeClr val="tx1"/>
                </a:solidFill>
                <a:ea typeface="+mn-ea"/>
                <a:cs typeface="+mn-cs"/>
              </a:rPr>
              <a:t> Contributing relevant input from your knowledge and experience as it relates to the focus of the project,</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including researching data from previous similar projects conducted at the venue</a:t>
            </a:r>
          </a:p>
          <a:p>
            <a:pPr lvl="0">
              <a:buFont typeface="Arial" pitchFamily="34" charset="0"/>
              <a:buChar char="•"/>
            </a:pPr>
            <a:r>
              <a:rPr lang="en-AU" sz="1200" kern="1200" dirty="0" smtClean="0">
                <a:solidFill>
                  <a:schemeClr val="tx1"/>
                </a:solidFill>
                <a:ea typeface="+mn-ea"/>
                <a:cs typeface="+mn-cs"/>
              </a:rPr>
              <a:t> Estimating costs based on experience, current quotations, estimations: see later slides</a:t>
            </a:r>
          </a:p>
          <a:p>
            <a:pPr lvl="0">
              <a:buFont typeface="Arial" pitchFamily="34" charset="0"/>
              <a:buChar char="•"/>
            </a:pPr>
            <a:r>
              <a:rPr lang="en-AU" sz="1200" kern="1200" dirty="0" smtClean="0">
                <a:solidFill>
                  <a:schemeClr val="tx1"/>
                </a:solidFill>
                <a:ea typeface="+mn-ea"/>
                <a:cs typeface="+mn-cs"/>
              </a:rPr>
              <a:t> Determining availability of contractors, consultants and providers/suppliers, including calculating how ‘lead time’ may impact on costs: for example, you will always pay a premium where the project is urgent and conversely where you prepared to wait a while, providers will usually accept a lower price for the goods and services they supply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PM role in budget preparation for projects:</a:t>
            </a:r>
          </a:p>
          <a:p>
            <a:pPr lvl="0">
              <a:buFont typeface="Arial" pitchFamily="34" charset="0"/>
              <a:buChar char="•"/>
            </a:pPr>
            <a:r>
              <a:rPr lang="en-AU" sz="1200" kern="1200" dirty="0" smtClean="0">
                <a:solidFill>
                  <a:schemeClr val="tx1"/>
                </a:solidFill>
                <a:ea typeface="+mn-ea"/>
                <a:cs typeface="+mn-cs"/>
              </a:rPr>
              <a:t> Providing source material and information to others for their consideration as part of the budget planning process.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will relate to the provision of a quite diverse range of topics such as:</a:t>
            </a:r>
          </a:p>
          <a:p>
            <a:pPr lvl="1">
              <a:buFont typeface="Arial" pitchFamily="34" charset="0"/>
              <a:buChar char="•"/>
            </a:pPr>
            <a:r>
              <a:rPr lang="en-AU" sz="1200" kern="1200" dirty="0" smtClean="0">
                <a:solidFill>
                  <a:schemeClr val="tx1"/>
                </a:solidFill>
                <a:ea typeface="+mn-ea"/>
                <a:cs typeface="+mn-cs"/>
              </a:rPr>
              <a:t> Cost prices obtained from third-party providers </a:t>
            </a:r>
          </a:p>
          <a:p>
            <a:pPr lvl="1">
              <a:buFont typeface="Arial" pitchFamily="34" charset="0"/>
              <a:buChar char="•"/>
            </a:pPr>
            <a:r>
              <a:rPr lang="en-AU" sz="1200" kern="1200" dirty="0" smtClean="0">
                <a:solidFill>
                  <a:schemeClr val="tx1"/>
                </a:solidFill>
                <a:ea typeface="+mn-ea"/>
                <a:cs typeface="+mn-cs"/>
              </a:rPr>
              <a:t> Copies of information brochures </a:t>
            </a:r>
          </a:p>
          <a:p>
            <a:pPr lvl="1">
              <a:buFont typeface="Arial" pitchFamily="34" charset="0"/>
              <a:buChar char="•"/>
            </a:pPr>
            <a:r>
              <a:rPr lang="en-AU" sz="1200" kern="1200" dirty="0" smtClean="0">
                <a:solidFill>
                  <a:schemeClr val="tx1"/>
                </a:solidFill>
                <a:ea typeface="+mn-ea"/>
                <a:cs typeface="+mn-cs"/>
              </a:rPr>
              <a:t> Samples of goods </a:t>
            </a:r>
          </a:p>
          <a:p>
            <a:pPr lvl="1">
              <a:buFont typeface="Arial" pitchFamily="34" charset="0"/>
              <a:buChar char="•"/>
            </a:pPr>
            <a:r>
              <a:rPr lang="en-AU" sz="1200" kern="1200" dirty="0" smtClean="0">
                <a:solidFill>
                  <a:schemeClr val="tx1"/>
                </a:solidFill>
                <a:ea typeface="+mn-ea"/>
                <a:cs typeface="+mn-cs"/>
              </a:rPr>
              <a:t> Background/support materials (such as recommendations from others, results of independent research)</a:t>
            </a:r>
          </a:p>
          <a:p>
            <a:pPr lvl="1">
              <a:buFont typeface="Arial" pitchFamily="34" charset="0"/>
              <a:buChar char="•"/>
            </a:pPr>
            <a:r>
              <a:rPr lang="en-AU" sz="1200" kern="1200" dirty="0" smtClean="0">
                <a:solidFill>
                  <a:schemeClr val="tx1"/>
                </a:solidFill>
                <a:ea typeface="+mn-ea"/>
                <a:cs typeface="+mn-cs"/>
              </a:rPr>
              <a:t> Letters of support and recommendation from others</a:t>
            </a:r>
          </a:p>
          <a:p>
            <a:pPr lvl="0">
              <a:buFont typeface="Arial" pitchFamily="34" charset="0"/>
              <a:buChar char="•"/>
            </a:pPr>
            <a:r>
              <a:rPr lang="en-AU" sz="1200" kern="1200" dirty="0" smtClean="0">
                <a:solidFill>
                  <a:schemeClr val="tx1"/>
                </a:solidFill>
                <a:ea typeface="+mn-ea"/>
                <a:cs typeface="+mn-cs"/>
              </a:rPr>
              <a:t> Obtaining quotations.</a:t>
            </a:r>
            <a:r>
              <a:rPr lang="en-AU" sz="1200" kern="1200" baseline="0" dirty="0" smtClean="0">
                <a:solidFill>
                  <a:schemeClr val="tx1"/>
                </a:solidFill>
                <a:ea typeface="+mn-ea"/>
                <a:cs typeface="+mn-cs"/>
              </a:rPr>
              <a:t> I</a:t>
            </a:r>
            <a:r>
              <a:rPr lang="en-AU" sz="1200" kern="1200" dirty="0" smtClean="0">
                <a:solidFill>
                  <a:schemeClr val="tx1"/>
                </a:solidFill>
                <a:ea typeface="+mn-ea"/>
                <a:cs typeface="+mn-cs"/>
              </a:rPr>
              <a:t>t is standard procedure to obtain multiple quotations for ‘significant’ items/expenditures.</a:t>
            </a:r>
          </a:p>
          <a:p>
            <a:pPr lvl="1">
              <a:buFont typeface="Arial" pitchFamily="34" charset="0"/>
              <a:buChar char="•"/>
            </a:pPr>
            <a:r>
              <a:rPr lang="en-AU" sz="1200" kern="1200" dirty="0" smtClean="0">
                <a:solidFill>
                  <a:schemeClr val="tx1"/>
                </a:solidFill>
                <a:ea typeface="+mn-ea"/>
                <a:cs typeface="+mn-cs"/>
              </a:rPr>
              <a:t> Most venues require three quotations. </a:t>
            </a:r>
          </a:p>
          <a:p>
            <a:pPr lvl="0">
              <a:buFont typeface="Arial" pitchFamily="34" charset="0"/>
              <a:buChar char="•"/>
            </a:pPr>
            <a:r>
              <a:rPr lang="en-AU" sz="1200" kern="1200" dirty="0" smtClean="0">
                <a:solidFill>
                  <a:schemeClr val="tx1"/>
                </a:solidFill>
                <a:ea typeface="+mn-ea"/>
                <a:cs typeface="+mn-cs"/>
              </a:rPr>
              <a:t> Developing a list of preferred providers/suppliers based on your personal experience, existing preferred suppliers used by the venue, and input from industry contacts who have used these businesses and recommend them</a:t>
            </a:r>
          </a:p>
          <a:p>
            <a:pPr>
              <a:buFont typeface="Arial" pitchFamily="34" charset="0"/>
              <a:buNone/>
            </a:pPr>
            <a:endParaRPr lang="en-US" dirty="0" smtClean="0"/>
          </a:p>
          <a:p>
            <a:pPr>
              <a:buFont typeface="Arial" pitchFamily="34" charset="0"/>
              <a:buNone/>
            </a:pPr>
            <a:r>
              <a:rPr lang="en-US" b="1" dirty="0" smtClean="0"/>
              <a:t>Class Activity – Handouts</a:t>
            </a:r>
          </a:p>
          <a:p>
            <a:pPr>
              <a:buFont typeface="Arial" pitchFamily="34" charset="0"/>
              <a:buNone/>
            </a:pPr>
            <a:r>
              <a:rPr lang="en-US" b="0" dirty="0" smtClean="0"/>
              <a:t>Trainer obtains, distributes and discusses samples/examples of source material identified on the slide.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dirty="0" smtClean="0"/>
              <a:t>Trainer continues identifying PM role in budget preparation for projects:</a:t>
            </a:r>
          </a:p>
          <a:p>
            <a:pPr lvl="0">
              <a:buFont typeface="Arial" pitchFamily="34" charset="0"/>
              <a:buChar char="•"/>
            </a:pPr>
            <a:r>
              <a:rPr lang="en-AU" sz="1200" kern="1200" dirty="0" smtClean="0">
                <a:solidFill>
                  <a:schemeClr val="tx1"/>
                </a:solidFill>
                <a:ea typeface="+mn-ea"/>
                <a:cs typeface="+mn-cs"/>
              </a:rPr>
              <a:t> Determining labour costs for project sub-sets where in-house staff are to be used.</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involves determining:</a:t>
            </a:r>
          </a:p>
          <a:p>
            <a:pPr lvl="1">
              <a:buFont typeface="Arial" pitchFamily="34" charset="0"/>
              <a:buChar char="•"/>
            </a:pPr>
            <a:r>
              <a:rPr lang="en-AU" sz="1200" kern="1200" dirty="0" smtClean="0">
                <a:solidFill>
                  <a:schemeClr val="tx1"/>
                </a:solidFill>
                <a:ea typeface="+mn-ea"/>
                <a:cs typeface="+mn-cs"/>
              </a:rPr>
              <a:t> The hours to be worked </a:t>
            </a:r>
          </a:p>
          <a:p>
            <a:pPr lvl="1">
              <a:buFont typeface="Arial" pitchFamily="34" charset="0"/>
              <a:buChar char="•"/>
            </a:pPr>
            <a:r>
              <a:rPr lang="en-AU" sz="1200" kern="1200" dirty="0" smtClean="0">
                <a:solidFill>
                  <a:schemeClr val="tx1"/>
                </a:solidFill>
                <a:ea typeface="+mn-ea"/>
                <a:cs typeface="+mn-cs"/>
              </a:rPr>
              <a:t> Number of staff required including back-filling requirements, if applicable </a:t>
            </a:r>
          </a:p>
          <a:p>
            <a:pPr lvl="1">
              <a:buFont typeface="Arial" pitchFamily="34" charset="0"/>
              <a:buChar char="•"/>
            </a:pPr>
            <a:r>
              <a:rPr lang="en-AU" sz="1200" kern="1200" dirty="0" smtClean="0">
                <a:solidFill>
                  <a:schemeClr val="tx1"/>
                </a:solidFill>
                <a:ea typeface="+mn-ea"/>
                <a:cs typeface="+mn-cs"/>
              </a:rPr>
              <a:t> Using correct pay scales to calculate full labour costs (that is, ensuring calculations factor in all applicable on-costs which may include holiday pay, penalties, sick pay, higher duties allowances) </a:t>
            </a:r>
          </a:p>
          <a:p>
            <a:pPr lvl="0">
              <a:buFont typeface="Arial" pitchFamily="34" charset="0"/>
              <a:buChar char="•"/>
            </a:pPr>
            <a:r>
              <a:rPr lang="en-AU" sz="1200" kern="1200" dirty="0" smtClean="0">
                <a:solidFill>
                  <a:schemeClr val="tx1"/>
                </a:solidFill>
                <a:ea typeface="+mn-ea"/>
                <a:cs typeface="+mn-cs"/>
              </a:rPr>
              <a:t> Ensuring all costs are identified and addressed.</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is difficult to do for a ‘new’ project of the type never before undertaken by the venue.</a:t>
            </a:r>
          </a:p>
          <a:p>
            <a:pPr lvl="1">
              <a:buFont typeface="Arial" pitchFamily="34" charset="0"/>
              <a:buChar char="•"/>
            </a:pPr>
            <a:r>
              <a:rPr lang="en-AU" sz="1200" kern="1200" dirty="0" smtClean="0">
                <a:solidFill>
                  <a:schemeClr val="tx1"/>
                </a:solidFill>
                <a:ea typeface="+mn-ea"/>
                <a:cs typeface="+mn-cs"/>
              </a:rPr>
              <a:t> A brainstorming session with other supervisors and/or staff to identify costs, reference to previous project documentation (budgets, invoices), use of industry contacts and/or use of an external professional are ways to identify all costs. Where Work Breakdown Structures have (see section 1.8) been developed this will help determine cost types</a:t>
            </a:r>
          </a:p>
          <a:p>
            <a:pPr lvl="0">
              <a:buFont typeface="Arial" pitchFamily="34" charset="0"/>
              <a:buChar char="•"/>
            </a:pPr>
            <a:r>
              <a:rPr lang="en-AU" sz="1200" kern="1200" dirty="0" smtClean="0">
                <a:solidFill>
                  <a:schemeClr val="tx1"/>
                </a:solidFill>
                <a:ea typeface="+mn-ea"/>
                <a:cs typeface="+mn-cs"/>
              </a:rPr>
              <a:t> Providing feedback/comment to management on input and information provided to you by eligible stakeholders such as customers, previous personnel at the venue who have PM experience, executives from industry associations, inspectors from government authorities</a:t>
            </a:r>
          </a:p>
          <a:p>
            <a:pPr lvl="0">
              <a:buFont typeface="Arial" pitchFamily="34" charset="0"/>
              <a:buChar char="•"/>
            </a:pPr>
            <a:r>
              <a:rPr lang="en-AU" sz="1200" kern="1200" dirty="0" smtClean="0">
                <a:solidFill>
                  <a:schemeClr val="tx1"/>
                </a:solidFill>
                <a:ea typeface="+mn-ea"/>
                <a:cs typeface="+mn-cs"/>
              </a:rPr>
              <a:t> Providing feedback to management regarding the relationship between ‘quality’ and costs.</a:t>
            </a:r>
            <a:r>
              <a:rPr lang="en-AU" sz="1200" kern="1200" baseline="0" dirty="0" smtClean="0">
                <a:solidFill>
                  <a:schemeClr val="tx1"/>
                </a:solidFill>
                <a:ea typeface="+mn-ea"/>
                <a:cs typeface="+mn-cs"/>
              </a:rPr>
              <a:t> I</a:t>
            </a:r>
            <a:r>
              <a:rPr lang="en-AU" sz="1200" kern="1200" dirty="0" smtClean="0">
                <a:solidFill>
                  <a:schemeClr val="tx1"/>
                </a:solidFill>
                <a:ea typeface="+mn-ea"/>
                <a:cs typeface="+mn-cs"/>
              </a:rPr>
              <a:t>n the same way there is a link between ’time’ and cost, so too is there normally a link between quality and cost: you get what you pay for. </a:t>
            </a:r>
          </a:p>
          <a:p>
            <a:pPr lvl="1">
              <a:buFont typeface="Arial" pitchFamily="34" charset="0"/>
              <a:buChar char="•"/>
            </a:pPr>
            <a:r>
              <a:rPr lang="en-AU" sz="1200" kern="1200" dirty="0" smtClean="0">
                <a:solidFill>
                  <a:schemeClr val="tx1"/>
                </a:solidFill>
                <a:ea typeface="+mn-ea"/>
                <a:cs typeface="+mn-cs"/>
              </a:rPr>
              <a:t> Decreasing expense generally results in:</a:t>
            </a:r>
          </a:p>
          <a:p>
            <a:pPr lvl="1">
              <a:buFont typeface="Arial" pitchFamily="34" charset="0"/>
              <a:buChar char="•"/>
            </a:pPr>
            <a:r>
              <a:rPr lang="en-AU" sz="1200" kern="1200" dirty="0" smtClean="0">
                <a:solidFill>
                  <a:schemeClr val="tx1"/>
                </a:solidFill>
                <a:ea typeface="+mn-ea"/>
                <a:cs typeface="+mn-cs"/>
              </a:rPr>
              <a:t> A reduction in quality of products</a:t>
            </a:r>
          </a:p>
          <a:p>
            <a:pPr lvl="1">
              <a:buFont typeface="Arial" pitchFamily="34" charset="0"/>
              <a:buChar char="•"/>
            </a:pPr>
            <a:r>
              <a:rPr lang="en-AU" sz="1200" kern="1200" dirty="0" smtClean="0">
                <a:solidFill>
                  <a:schemeClr val="tx1"/>
                </a:solidFill>
                <a:ea typeface="+mn-ea"/>
                <a:cs typeface="+mn-cs"/>
              </a:rPr>
              <a:t> A reduction in service standards</a:t>
            </a:r>
          </a:p>
          <a:p>
            <a:pPr lvl="1">
              <a:buFont typeface="Arial" pitchFamily="34" charset="0"/>
              <a:buChar char="•"/>
            </a:pPr>
            <a:r>
              <a:rPr lang="en-AU" sz="1200" kern="1200" dirty="0" smtClean="0">
                <a:solidFill>
                  <a:schemeClr val="tx1"/>
                </a:solidFill>
                <a:ea typeface="+mn-ea"/>
                <a:cs typeface="+mn-cs"/>
              </a:rPr>
              <a:t> An extension of time required to complete the project/work.</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PM role in budget preparation for projects:</a:t>
            </a:r>
          </a:p>
          <a:p>
            <a:pPr lvl="0">
              <a:buFont typeface="Arial" pitchFamily="34" charset="0"/>
              <a:buChar char="•"/>
            </a:pPr>
            <a:r>
              <a:rPr lang="en-AU" sz="1200" kern="1200" dirty="0" smtClean="0">
                <a:solidFill>
                  <a:schemeClr val="tx1"/>
                </a:solidFill>
                <a:ea typeface="+mn-ea"/>
                <a:cs typeface="+mn-cs"/>
              </a:rPr>
              <a:t> Determining the possible impacts of delays to the project in terms of (as applicable):</a:t>
            </a:r>
          </a:p>
          <a:p>
            <a:pPr lvl="1">
              <a:buFont typeface="Arial" pitchFamily="34" charset="0"/>
              <a:buChar char="•"/>
            </a:pPr>
            <a:r>
              <a:rPr lang="en-AU" sz="1200" kern="1200" dirty="0" smtClean="0">
                <a:solidFill>
                  <a:schemeClr val="tx1"/>
                </a:solidFill>
                <a:ea typeface="+mn-ea"/>
                <a:cs typeface="+mn-cs"/>
              </a:rPr>
              <a:t> Increased overheads</a:t>
            </a:r>
          </a:p>
          <a:p>
            <a:pPr lvl="1">
              <a:buFont typeface="Arial" pitchFamily="34" charset="0"/>
              <a:buChar char="•"/>
            </a:pPr>
            <a:r>
              <a:rPr lang="en-AU" sz="1200" kern="1200" dirty="0" smtClean="0">
                <a:solidFill>
                  <a:schemeClr val="tx1"/>
                </a:solidFill>
                <a:ea typeface="+mn-ea"/>
                <a:cs typeface="+mn-cs"/>
              </a:rPr>
              <a:t> Finance costs</a:t>
            </a:r>
          </a:p>
          <a:p>
            <a:pPr lvl="1">
              <a:buFont typeface="Arial" pitchFamily="34" charset="0"/>
              <a:buChar char="•"/>
            </a:pPr>
            <a:r>
              <a:rPr lang="en-AU" sz="1200" kern="1200" dirty="0" smtClean="0">
                <a:solidFill>
                  <a:schemeClr val="tx1"/>
                </a:solidFill>
                <a:ea typeface="+mn-ea"/>
                <a:cs typeface="+mn-cs"/>
              </a:rPr>
              <a:t> Penalties provided for under contractual agreements</a:t>
            </a:r>
          </a:p>
          <a:p>
            <a:pPr lvl="1">
              <a:buFont typeface="Arial" pitchFamily="34" charset="0"/>
              <a:buChar char="•"/>
            </a:pPr>
            <a:r>
              <a:rPr lang="en-AU" sz="1200" kern="1200" dirty="0" smtClean="0">
                <a:solidFill>
                  <a:schemeClr val="tx1"/>
                </a:solidFill>
                <a:ea typeface="+mn-ea"/>
                <a:cs typeface="+mn-cs"/>
              </a:rPr>
              <a:t> Service delivery to guests and customers</a:t>
            </a:r>
          </a:p>
          <a:p>
            <a:pPr lvl="1">
              <a:buFont typeface="Arial" pitchFamily="34" charset="0"/>
              <a:buChar char="•"/>
            </a:pPr>
            <a:r>
              <a:rPr lang="en-AU" sz="1200" kern="1200" dirty="0" smtClean="0">
                <a:solidFill>
                  <a:schemeClr val="tx1"/>
                </a:solidFill>
                <a:ea typeface="+mn-ea"/>
                <a:cs typeface="+mn-cs"/>
              </a:rPr>
              <a:t> Revenue</a:t>
            </a:r>
          </a:p>
          <a:p>
            <a:pPr lvl="0">
              <a:buFont typeface="Arial" pitchFamily="34" charset="0"/>
              <a:buChar char="•"/>
            </a:pPr>
            <a:r>
              <a:rPr lang="en-AU" sz="1200" kern="1200" dirty="0" smtClean="0">
                <a:solidFill>
                  <a:schemeClr val="tx1"/>
                </a:solidFill>
                <a:ea typeface="+mn-ea"/>
                <a:cs typeface="+mn-cs"/>
              </a:rPr>
              <a:t> Identifying amount and timing of payments required for the project.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can have major implications for funding of the project and alignment of contractual arrangements with projected venue cash-flow. Payments may relate to:</a:t>
            </a:r>
          </a:p>
          <a:p>
            <a:pPr lvl="1">
              <a:buFont typeface="Arial" pitchFamily="34" charset="0"/>
              <a:buChar char="•"/>
            </a:pPr>
            <a:r>
              <a:rPr lang="en-AU" sz="1200" kern="1200" dirty="0" smtClean="0">
                <a:solidFill>
                  <a:schemeClr val="tx1"/>
                </a:solidFill>
                <a:ea typeface="+mn-ea"/>
                <a:cs typeface="+mn-cs"/>
              </a:rPr>
              <a:t> Deposits payable to builders to commence work </a:t>
            </a:r>
          </a:p>
          <a:p>
            <a:pPr lvl="1">
              <a:buFont typeface="Arial" pitchFamily="34" charset="0"/>
              <a:buChar char="•"/>
            </a:pPr>
            <a:r>
              <a:rPr lang="en-AU" sz="1200" kern="1200" dirty="0" smtClean="0">
                <a:solidFill>
                  <a:schemeClr val="tx1"/>
                </a:solidFill>
                <a:ea typeface="+mn-ea"/>
                <a:cs typeface="+mn-cs"/>
              </a:rPr>
              <a:t> Progress payments throughout the project at nominated times/stages </a:t>
            </a:r>
          </a:p>
          <a:p>
            <a:pPr lvl="1">
              <a:buFont typeface="Arial" pitchFamily="34" charset="0"/>
              <a:buChar char="•"/>
            </a:pPr>
            <a:r>
              <a:rPr lang="en-AU" sz="1200" kern="1200" dirty="0" smtClean="0">
                <a:solidFill>
                  <a:schemeClr val="tx1"/>
                </a:solidFill>
                <a:ea typeface="+mn-ea"/>
                <a:cs typeface="+mn-cs"/>
              </a:rPr>
              <a:t> Final payment on completion/sign-off of work</a:t>
            </a:r>
          </a:p>
          <a:p>
            <a:pPr lvl="0">
              <a:buFont typeface="Arial" pitchFamily="34" charset="0"/>
              <a:buChar char="•"/>
            </a:pPr>
            <a:r>
              <a:rPr lang="en-AU" sz="1200" kern="1200" dirty="0" smtClean="0">
                <a:solidFill>
                  <a:schemeClr val="tx1"/>
                </a:solidFill>
                <a:ea typeface="+mn-ea"/>
                <a:cs typeface="+mn-cs"/>
              </a:rPr>
              <a:t> Evaluating or reviewing pertinent elements of applicable contracts such as:</a:t>
            </a:r>
          </a:p>
          <a:p>
            <a:pPr lvl="1">
              <a:buFont typeface="Arial" pitchFamily="34" charset="0"/>
              <a:buChar char="•"/>
            </a:pPr>
            <a:r>
              <a:rPr lang="en-AU" sz="1200" kern="1200" dirty="0" smtClean="0">
                <a:solidFill>
                  <a:schemeClr val="tx1"/>
                </a:solidFill>
                <a:ea typeface="+mn-ea"/>
                <a:cs typeface="+mn-cs"/>
              </a:rPr>
              <a:t> Terms of trade </a:t>
            </a:r>
          </a:p>
          <a:p>
            <a:pPr lvl="1">
              <a:buFont typeface="Arial" pitchFamily="34" charset="0"/>
              <a:buChar char="•"/>
            </a:pPr>
            <a:r>
              <a:rPr lang="en-AU" sz="1200" kern="1200" dirty="0" smtClean="0">
                <a:solidFill>
                  <a:schemeClr val="tx1"/>
                </a:solidFill>
                <a:ea typeface="+mn-ea"/>
                <a:cs typeface="+mn-cs"/>
              </a:rPr>
              <a:t> Guaranties </a:t>
            </a:r>
          </a:p>
          <a:p>
            <a:pPr lvl="1">
              <a:buFont typeface="Arial" pitchFamily="34" charset="0"/>
              <a:buChar char="•"/>
            </a:pPr>
            <a:r>
              <a:rPr lang="en-AU" sz="1200" kern="1200" dirty="0" smtClean="0">
                <a:solidFill>
                  <a:schemeClr val="tx1"/>
                </a:solidFill>
                <a:ea typeface="+mn-ea"/>
                <a:cs typeface="+mn-cs"/>
              </a:rPr>
              <a:t> Warranties </a:t>
            </a:r>
          </a:p>
          <a:p>
            <a:pPr lvl="1">
              <a:buFont typeface="Arial" pitchFamily="34" charset="0"/>
              <a:buChar char="•"/>
            </a:pPr>
            <a:r>
              <a:rPr lang="en-AU" sz="1200" kern="1200" dirty="0" smtClean="0">
                <a:solidFill>
                  <a:schemeClr val="tx1"/>
                </a:solidFill>
                <a:ea typeface="+mn-ea"/>
                <a:cs typeface="+mn-cs"/>
              </a:rPr>
              <a:t> Terms and conditions in contracts</a:t>
            </a:r>
          </a:p>
          <a:p>
            <a:pPr lvl="1">
              <a:buFont typeface="Arial" pitchFamily="34" charset="0"/>
              <a:buChar char="•"/>
            </a:pPr>
            <a:r>
              <a:rPr lang="en-AU" sz="1200" kern="1200" dirty="0" smtClean="0">
                <a:solidFill>
                  <a:schemeClr val="tx1"/>
                </a:solidFill>
                <a:ea typeface="+mn-ea"/>
                <a:cs typeface="+mn-cs"/>
              </a:rPr>
              <a:t> Penalty clauses and penalties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explains a </a:t>
            </a:r>
            <a:r>
              <a:rPr lang="en-AU" sz="1200" kern="1200" dirty="0" smtClean="0">
                <a:solidFill>
                  <a:schemeClr val="tx1"/>
                </a:solidFill>
                <a:ea typeface="+mn-ea"/>
                <a:cs typeface="+mn-cs"/>
              </a:rPr>
              <a:t>critical aspect of determining the budget for any project is to ensure all costs have been taken into account identifying there may be a need to consider:</a:t>
            </a:r>
          </a:p>
          <a:p>
            <a:pPr lvl="0">
              <a:buFont typeface="Arial" pitchFamily="34" charset="0"/>
              <a:buChar char="•"/>
            </a:pPr>
            <a:r>
              <a:rPr lang="en-AU" sz="1200" kern="1200" dirty="0" smtClean="0">
                <a:solidFill>
                  <a:schemeClr val="tx1"/>
                </a:solidFill>
                <a:ea typeface="+mn-ea"/>
                <a:cs typeface="+mn-cs"/>
              </a:rPr>
              <a:t> Labour,</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including (as appropriate):</a:t>
            </a:r>
          </a:p>
          <a:p>
            <a:pPr lvl="1">
              <a:buFont typeface="Arial" pitchFamily="34" charset="0"/>
              <a:buChar char="•"/>
            </a:pPr>
            <a:r>
              <a:rPr lang="en-AU" sz="1200" kern="1200" dirty="0" smtClean="0">
                <a:solidFill>
                  <a:schemeClr val="tx1"/>
                </a:solidFill>
                <a:ea typeface="+mn-ea"/>
                <a:cs typeface="+mn-cs"/>
              </a:rPr>
              <a:t> Recruitment and selection costs associated with developing necessary project/team members and operational and support staff</a:t>
            </a:r>
          </a:p>
          <a:p>
            <a:pPr lvl="1">
              <a:buFont typeface="Arial" pitchFamily="34" charset="0"/>
              <a:buChar char="•"/>
            </a:pPr>
            <a:r>
              <a:rPr lang="en-AU" sz="1200" kern="1200" dirty="0" smtClean="0">
                <a:solidFill>
                  <a:schemeClr val="tx1"/>
                </a:solidFill>
                <a:ea typeface="+mn-ea"/>
                <a:cs typeface="+mn-cs"/>
              </a:rPr>
              <a:t> Wages/remuneration for the duration of the project – including all relevant aspects of the project which can be expected to include:</a:t>
            </a:r>
          </a:p>
          <a:p>
            <a:pPr lvl="2">
              <a:buFont typeface="Arial" pitchFamily="34" charset="0"/>
              <a:buChar char="•"/>
            </a:pPr>
            <a:r>
              <a:rPr lang="en-AU" sz="1200" kern="1200" dirty="0" smtClean="0">
                <a:solidFill>
                  <a:schemeClr val="tx1"/>
                </a:solidFill>
                <a:ea typeface="+mn-ea"/>
                <a:cs typeface="+mn-cs"/>
              </a:rPr>
              <a:t> Planning and preparation time </a:t>
            </a:r>
          </a:p>
          <a:p>
            <a:pPr lvl="2">
              <a:buFont typeface="Arial" pitchFamily="34" charset="0"/>
              <a:buChar char="•"/>
            </a:pPr>
            <a:r>
              <a:rPr lang="en-AU" sz="1200" kern="1200" dirty="0" smtClean="0">
                <a:solidFill>
                  <a:schemeClr val="tx1"/>
                </a:solidFill>
                <a:ea typeface="+mn-ea"/>
                <a:cs typeface="+mn-cs"/>
              </a:rPr>
              <a:t> Set-up time </a:t>
            </a:r>
          </a:p>
          <a:p>
            <a:pPr lvl="2">
              <a:buFont typeface="Arial" pitchFamily="34" charset="0"/>
              <a:buChar char="•"/>
            </a:pPr>
            <a:r>
              <a:rPr lang="en-AU" sz="1200" kern="1200" dirty="0" smtClean="0">
                <a:solidFill>
                  <a:schemeClr val="tx1"/>
                </a:solidFill>
                <a:ea typeface="+mn-ea"/>
                <a:cs typeface="+mn-cs"/>
              </a:rPr>
              <a:t> Backfilling </a:t>
            </a:r>
          </a:p>
          <a:p>
            <a:pPr lvl="2">
              <a:buFont typeface="Arial" pitchFamily="34" charset="0"/>
              <a:buChar char="•"/>
            </a:pPr>
            <a:r>
              <a:rPr lang="en-AU" sz="1200" kern="1200" dirty="0" smtClean="0">
                <a:solidFill>
                  <a:schemeClr val="tx1"/>
                </a:solidFill>
                <a:ea typeface="+mn-ea"/>
                <a:cs typeface="+mn-cs"/>
              </a:rPr>
              <a:t> Attendance at meetings </a:t>
            </a:r>
          </a:p>
          <a:p>
            <a:pPr lvl="2">
              <a:buFont typeface="Arial" pitchFamily="34" charset="0"/>
              <a:buChar char="•"/>
            </a:pPr>
            <a:r>
              <a:rPr lang="en-AU" sz="1200" kern="1200" dirty="0" smtClean="0">
                <a:solidFill>
                  <a:schemeClr val="tx1"/>
                </a:solidFill>
                <a:ea typeface="+mn-ea"/>
                <a:cs typeface="+mn-cs"/>
              </a:rPr>
              <a:t> Project implementation</a:t>
            </a:r>
          </a:p>
          <a:p>
            <a:pPr lvl="2">
              <a:buFont typeface="Arial" pitchFamily="34" charset="0"/>
              <a:buChar char="•"/>
            </a:pPr>
            <a:r>
              <a:rPr lang="en-AU" sz="1200" kern="1200" dirty="0" smtClean="0">
                <a:solidFill>
                  <a:schemeClr val="tx1"/>
                </a:solidFill>
                <a:ea typeface="+mn-ea"/>
                <a:cs typeface="+mn-cs"/>
              </a:rPr>
              <a:t> Project finalisation </a:t>
            </a:r>
          </a:p>
          <a:p>
            <a:pPr lvl="2">
              <a:buFont typeface="Arial" pitchFamily="34" charset="0"/>
              <a:buChar char="•"/>
            </a:pPr>
            <a:r>
              <a:rPr lang="en-AU" sz="1200" kern="1200" dirty="0" smtClean="0">
                <a:solidFill>
                  <a:schemeClr val="tx1"/>
                </a:solidFill>
                <a:ea typeface="+mn-ea"/>
                <a:cs typeface="+mn-cs"/>
              </a:rPr>
              <a:t> Standard on-costs </a:t>
            </a:r>
          </a:p>
          <a:p>
            <a:pPr lvl="2">
              <a:buFont typeface="Arial" pitchFamily="34" charset="0"/>
              <a:buChar char="•"/>
            </a:pPr>
            <a:r>
              <a:rPr lang="en-AU" sz="1200" kern="1200" dirty="0" smtClean="0">
                <a:solidFill>
                  <a:schemeClr val="tx1"/>
                </a:solidFill>
                <a:ea typeface="+mn-ea"/>
                <a:cs typeface="+mn-cs"/>
              </a:rPr>
              <a:t> Incentives and rewards (where appropriate/applicable to staff involved in the project)</a:t>
            </a:r>
          </a:p>
          <a:p>
            <a:pPr lvl="1">
              <a:buFont typeface="Arial" pitchFamily="34" charset="0"/>
              <a:buChar char="•"/>
            </a:pPr>
            <a:r>
              <a:rPr lang="en-AU" sz="1200" kern="1200" dirty="0" smtClean="0">
                <a:solidFill>
                  <a:schemeClr val="tx1"/>
                </a:solidFill>
                <a:ea typeface="+mn-ea"/>
                <a:cs typeface="+mn-cs"/>
              </a:rPr>
              <a:t> Staff training and development</a:t>
            </a:r>
          </a:p>
          <a:p>
            <a:pPr lvl="0">
              <a:buFont typeface="Arial" pitchFamily="34" charset="0"/>
              <a:buChar char="•"/>
            </a:pPr>
            <a:r>
              <a:rPr lang="en-AU" sz="1200" kern="1200" dirty="0" smtClean="0">
                <a:solidFill>
                  <a:schemeClr val="tx1"/>
                </a:solidFill>
                <a:ea typeface="+mn-ea"/>
                <a:cs typeface="+mn-cs"/>
              </a:rPr>
              <a:t> External professional bodies/businesses to be used as project providers, suppliers, builders, security, entertainment, risk assessors, consultants. This includes payment for advice, payment for contracted work to be done, payment for goods and services to be provided</a:t>
            </a:r>
          </a:p>
          <a:p>
            <a:pPr lvl="0">
              <a:buFont typeface="Arial" pitchFamily="34" charset="0"/>
              <a:buChar char="•"/>
            </a:pPr>
            <a:r>
              <a:rPr lang="en-AU" sz="1200" kern="1200" dirty="0" smtClean="0">
                <a:solidFill>
                  <a:schemeClr val="tx1"/>
                </a:solidFill>
                <a:ea typeface="+mn-ea"/>
                <a:cs typeface="+mn-cs"/>
              </a:rPr>
              <a:t> General overheads directly associated with the project </a:t>
            </a:r>
          </a:p>
          <a:p>
            <a:pPr lvl="0">
              <a:buFont typeface="Arial" pitchFamily="34" charset="0"/>
              <a:buChar char="•"/>
            </a:pPr>
            <a:r>
              <a:rPr lang="en-AU" sz="1200" kern="1200" dirty="0" smtClean="0">
                <a:solidFill>
                  <a:schemeClr val="tx1"/>
                </a:solidFill>
                <a:ea typeface="+mn-ea"/>
                <a:cs typeface="+mn-cs"/>
              </a:rPr>
              <a:t> Preparation and planning activities such as visits to other sites to view facilities, meet with other Project Managers, meet with suppliers, meet with clients and undertake project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considerations when preparing project budgets:</a:t>
            </a:r>
          </a:p>
          <a:p>
            <a:pPr lvl="0">
              <a:buFont typeface="Arial" pitchFamily="34" charset="0"/>
              <a:buChar char="•"/>
            </a:pPr>
            <a:r>
              <a:rPr lang="en-AU" sz="1200" kern="1200" dirty="0" smtClean="0">
                <a:solidFill>
                  <a:schemeClr val="tx1"/>
                </a:solidFill>
                <a:ea typeface="+mn-ea"/>
                <a:cs typeface="+mn-cs"/>
              </a:rPr>
              <a:t> Technical and other support required.</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can include:</a:t>
            </a:r>
          </a:p>
          <a:p>
            <a:pPr lvl="1">
              <a:buFont typeface="Arial" pitchFamily="34" charset="0"/>
              <a:buChar char="•"/>
            </a:pPr>
            <a:r>
              <a:rPr lang="en-AU" sz="1200" kern="1200" dirty="0" smtClean="0">
                <a:solidFill>
                  <a:schemeClr val="tx1"/>
                </a:solidFill>
                <a:ea typeface="+mn-ea"/>
                <a:cs typeface="+mn-cs"/>
              </a:rPr>
              <a:t> IT support </a:t>
            </a:r>
          </a:p>
          <a:p>
            <a:pPr lvl="1">
              <a:buFont typeface="Arial" pitchFamily="34" charset="0"/>
              <a:buChar char="•"/>
            </a:pPr>
            <a:r>
              <a:rPr lang="en-AU" sz="1200" kern="1200" dirty="0" smtClean="0">
                <a:solidFill>
                  <a:schemeClr val="tx1"/>
                </a:solidFill>
                <a:ea typeface="+mn-ea"/>
                <a:cs typeface="+mn-cs"/>
              </a:rPr>
              <a:t> Support from external event managers for entertainment and bands, sound and lighting, and firework displays </a:t>
            </a:r>
          </a:p>
          <a:p>
            <a:pPr lvl="1">
              <a:buFont typeface="Arial" pitchFamily="34" charset="0"/>
              <a:buChar char="•"/>
            </a:pPr>
            <a:r>
              <a:rPr lang="en-AU" sz="1200" kern="1200" dirty="0" smtClean="0">
                <a:solidFill>
                  <a:schemeClr val="tx1"/>
                </a:solidFill>
                <a:ea typeface="+mn-ea"/>
                <a:cs typeface="+mn-cs"/>
              </a:rPr>
              <a:t> Legal advice </a:t>
            </a:r>
          </a:p>
          <a:p>
            <a:pPr lvl="1">
              <a:buFont typeface="Arial" pitchFamily="34" charset="0"/>
              <a:buChar char="•"/>
            </a:pPr>
            <a:r>
              <a:rPr lang="en-AU" sz="1200" kern="1200" dirty="0" smtClean="0">
                <a:solidFill>
                  <a:schemeClr val="tx1"/>
                </a:solidFill>
                <a:ea typeface="+mn-ea"/>
                <a:cs typeface="+mn-cs"/>
              </a:rPr>
              <a:t> Financial expertise</a:t>
            </a:r>
          </a:p>
          <a:p>
            <a:pPr lvl="1">
              <a:buFont typeface="Arial" pitchFamily="34" charset="0"/>
              <a:buChar char="•"/>
            </a:pPr>
            <a:r>
              <a:rPr lang="en-AU" sz="1200" kern="1200" dirty="0" smtClean="0">
                <a:solidFill>
                  <a:schemeClr val="tx1"/>
                </a:solidFill>
                <a:ea typeface="+mn-ea"/>
                <a:cs typeface="+mn-cs"/>
              </a:rPr>
              <a:t> Procurement expertise</a:t>
            </a:r>
          </a:p>
          <a:p>
            <a:pPr lvl="0">
              <a:buFont typeface="Arial" pitchFamily="34" charset="0"/>
              <a:buChar char="•"/>
            </a:pPr>
            <a:r>
              <a:rPr lang="en-AU" sz="1200" kern="1200" dirty="0" smtClean="0">
                <a:solidFill>
                  <a:schemeClr val="tx1"/>
                </a:solidFill>
                <a:ea typeface="+mn-ea"/>
                <a:cs typeface="+mn-cs"/>
              </a:rPr>
              <a:t> Administration support – see ‘Secretariat’ later slides</a:t>
            </a:r>
          </a:p>
          <a:p>
            <a:pPr lvl="0">
              <a:buFont typeface="Arial" pitchFamily="34" charset="0"/>
              <a:buChar char="•"/>
            </a:pPr>
            <a:r>
              <a:rPr lang="en-AU" sz="1200" kern="1200" dirty="0" smtClean="0">
                <a:solidFill>
                  <a:schemeClr val="tx1"/>
                </a:solidFill>
                <a:ea typeface="+mn-ea"/>
                <a:cs typeface="+mn-cs"/>
              </a:rPr>
              <a:t> Physical resources.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can include the food and beverages for a function, as well as plant and equipment, machinery, furniture, fixtures and fittings for any other project.</a:t>
            </a:r>
          </a:p>
          <a:p>
            <a:pPr lvl="1">
              <a:buFont typeface="Arial" pitchFamily="34" charset="0"/>
              <a:buChar char="•"/>
            </a:pPr>
            <a:r>
              <a:rPr lang="en-AU" sz="1200" kern="1200" dirty="0" smtClean="0">
                <a:solidFill>
                  <a:schemeClr val="tx1"/>
                </a:solidFill>
                <a:ea typeface="+mn-ea"/>
                <a:cs typeface="+mn-cs"/>
              </a:rPr>
              <a:t> If the project was to refurbish a dining area the physical resources would reflect this specific need and be fundamentally different to the resources required if the project was to refurbish the guest rooms, the kitchen or  the lobby.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considerations when preparing project budgets:</a:t>
            </a:r>
          </a:p>
          <a:p>
            <a:pPr lvl="0">
              <a:buFont typeface="Arial" pitchFamily="34" charset="0"/>
              <a:buChar char="•"/>
            </a:pPr>
            <a:r>
              <a:rPr lang="en-AU" sz="1200" kern="1200" dirty="0" smtClean="0">
                <a:solidFill>
                  <a:schemeClr val="tx1"/>
                </a:solidFill>
                <a:ea typeface="+mn-ea"/>
                <a:cs typeface="+mn-cs"/>
              </a:rPr>
              <a:t> Compliance requirements.</a:t>
            </a:r>
            <a:r>
              <a:rPr lang="en-AU" sz="1200" kern="1200" baseline="0" dirty="0" smtClean="0">
                <a:solidFill>
                  <a:schemeClr val="tx1"/>
                </a:solidFill>
                <a:ea typeface="+mn-ea"/>
                <a:cs typeface="+mn-cs"/>
              </a:rPr>
              <a:t> S</a:t>
            </a:r>
            <a:r>
              <a:rPr lang="en-AU" sz="1200" kern="1200" dirty="0" smtClean="0">
                <a:solidFill>
                  <a:schemeClr val="tx1"/>
                </a:solidFill>
                <a:ea typeface="+mn-ea"/>
                <a:cs typeface="+mn-cs"/>
              </a:rPr>
              <a:t>pecifically this entails meeting legally imposed compliance requirements which may relate to technology, licensing, certification and safety.</a:t>
            </a:r>
          </a:p>
          <a:p>
            <a:pPr lvl="1">
              <a:buFont typeface="Arial" pitchFamily="34" charset="0"/>
              <a:buChar char="•"/>
            </a:pPr>
            <a:r>
              <a:rPr lang="en-AU" sz="1200" kern="1200" dirty="0" smtClean="0">
                <a:solidFill>
                  <a:schemeClr val="tx1"/>
                </a:solidFill>
                <a:ea typeface="+mn-ea"/>
                <a:cs typeface="+mn-cs"/>
              </a:rPr>
              <a:t> Special attention must be paid to ensuring all project staff have current certification to permit them to undertake nominated activities as imposed by the requirements of relevant legislation. </a:t>
            </a:r>
          </a:p>
          <a:p>
            <a:pPr lvl="0">
              <a:buFont typeface="Arial" pitchFamily="34" charset="0"/>
              <a:buChar char="•"/>
            </a:pPr>
            <a:r>
              <a:rPr lang="en-AU" sz="1200" kern="1200" dirty="0" smtClean="0">
                <a:solidFill>
                  <a:schemeClr val="tx1"/>
                </a:solidFill>
                <a:ea typeface="+mn-ea"/>
                <a:cs typeface="+mn-cs"/>
              </a:rPr>
              <a:t> Contingencies – an amount is commonly included to cover the possibility of contingencies actually occurring</a:t>
            </a:r>
          </a:p>
          <a:p>
            <a:pPr lvl="0">
              <a:buFont typeface="Arial" pitchFamily="34" charset="0"/>
              <a:buChar char="•"/>
            </a:pPr>
            <a:r>
              <a:rPr lang="en-AU" sz="1200" kern="1200" dirty="0" smtClean="0">
                <a:solidFill>
                  <a:schemeClr val="tx1"/>
                </a:solidFill>
                <a:ea typeface="+mn-ea"/>
                <a:cs typeface="+mn-cs"/>
              </a:rPr>
              <a:t> Profit and/or revenue where the project is intended to generate profit or revenue for the venue separate figures for these must be included as part of the cost.</a:t>
            </a:r>
          </a:p>
          <a:p>
            <a:pPr lvl="1">
              <a:buFont typeface="Arial" pitchFamily="34" charset="0"/>
              <a:buChar char="•"/>
            </a:pPr>
            <a:r>
              <a:rPr lang="en-AU" sz="1200" kern="1200" dirty="0" smtClean="0">
                <a:solidFill>
                  <a:schemeClr val="tx1"/>
                </a:solidFill>
                <a:ea typeface="+mn-ea"/>
                <a:cs typeface="+mn-cs"/>
              </a:rPr>
              <a:t> For example the refurbishment of a restaurant or guest rooms may generate revenue through selling the old tables, chairs and beds.</a:t>
            </a:r>
            <a:r>
              <a:rPr lang="en-AU" sz="1200" kern="1200" baseline="0" dirty="0" smtClean="0">
                <a:solidFill>
                  <a:schemeClr val="tx1"/>
                </a:solidFill>
                <a:ea typeface="+mn-ea"/>
                <a:cs typeface="+mn-cs"/>
              </a:rPr>
              <a:t> A</a:t>
            </a:r>
            <a:r>
              <a:rPr lang="en-AU" sz="1200" kern="1200" dirty="0" smtClean="0">
                <a:solidFill>
                  <a:schemeClr val="tx1"/>
                </a:solidFill>
                <a:ea typeface="+mn-ea"/>
                <a:cs typeface="+mn-cs"/>
              </a:rPr>
              <a:t> figure estimating the money this is expected to generate should be included.</a:t>
            </a:r>
          </a:p>
          <a:p>
            <a:pPr>
              <a:buFont typeface="Arial" pitchFamily="34" charset="0"/>
              <a:buNone/>
            </a:pPr>
            <a:endParaRPr lang="en-US" dirty="0" smtClean="0"/>
          </a:p>
          <a:p>
            <a:pPr>
              <a:buFont typeface="Arial" pitchFamily="34" charset="0"/>
              <a:buNone/>
            </a:pPr>
            <a:r>
              <a:rPr lang="en-US" b="1" dirty="0" smtClean="0"/>
              <a:t>Class Activity – Internet research</a:t>
            </a:r>
          </a:p>
          <a:p>
            <a:pPr>
              <a:buFont typeface="Arial" pitchFamily="34" charset="0"/>
              <a:buNone/>
            </a:pPr>
            <a:r>
              <a:rPr lang="en-US" b="0" dirty="0" smtClean="0"/>
              <a:t>Trainer asks trainees</a:t>
            </a:r>
            <a:r>
              <a:rPr lang="en-US" b="0" baseline="0" dirty="0" smtClean="0"/>
              <a:t> to visit </a:t>
            </a:r>
            <a:r>
              <a:rPr lang="en-AU" sz="1200" u="sng" kern="1200" dirty="0" smtClean="0">
                <a:solidFill>
                  <a:schemeClr val="tx1"/>
                </a:solidFill>
                <a:ea typeface="+mn-ea"/>
                <a:cs typeface="+mn-cs"/>
                <a:hlinkClick r:id="rId3"/>
              </a:rPr>
              <a:t>http://www.brighthub.com/office/project-management/articles/54894.aspx</a:t>
            </a:r>
            <a:r>
              <a:rPr lang="en-AU" sz="1200" u="none" kern="1200" dirty="0" smtClean="0">
                <a:solidFill>
                  <a:schemeClr val="tx1"/>
                </a:solidFill>
                <a:ea typeface="+mn-ea"/>
                <a:cs typeface="+mn-cs"/>
              </a:rPr>
              <a:t>, read the article/s and discuss same.</a:t>
            </a:r>
            <a:endParaRPr lang="en-US" b="0" u="none"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estimating costs for budgets:</a:t>
            </a:r>
          </a:p>
          <a:p>
            <a:pPr>
              <a:buFont typeface="Arial" pitchFamily="34" charset="0"/>
              <a:buChar char="•"/>
            </a:pPr>
            <a:r>
              <a:rPr lang="en-AU" sz="1200" kern="1200" dirty="0" smtClean="0">
                <a:solidFill>
                  <a:schemeClr val="tx1"/>
                </a:solidFill>
                <a:ea typeface="+mn-ea"/>
                <a:cs typeface="+mn-cs"/>
              </a:rPr>
              <a:t> Estimates of cost to be included in a budget are rarely little more than educated guesses. </a:t>
            </a:r>
          </a:p>
          <a:p>
            <a:pPr>
              <a:buFont typeface="Arial" pitchFamily="34" charset="0"/>
              <a:buChar char="•"/>
            </a:pPr>
            <a:r>
              <a:rPr lang="en-AU" sz="1200" kern="1200" dirty="0" smtClean="0">
                <a:solidFill>
                  <a:schemeClr val="tx1"/>
                </a:solidFill>
                <a:ea typeface="+mn-ea"/>
                <a:cs typeface="+mn-cs"/>
              </a:rPr>
              <a:t> Every project, regardless of the planning undertaken, is subject to cost increases. </a:t>
            </a:r>
          </a:p>
          <a:p>
            <a:pPr lvl="1">
              <a:buFont typeface="Arial" pitchFamily="34" charset="0"/>
              <a:buChar char="•"/>
            </a:pPr>
            <a:r>
              <a:rPr lang="en-AU" sz="1200" kern="1200" dirty="0" smtClean="0">
                <a:solidFill>
                  <a:schemeClr val="tx1"/>
                </a:solidFill>
                <a:ea typeface="+mn-ea"/>
                <a:cs typeface="+mn-cs"/>
              </a:rPr>
              <a:t> Even situations where a fixed price contract is signed with a supplier can be subject to increases in terms of penalties or additional work required that was not specified in the initial contract.</a:t>
            </a:r>
          </a:p>
          <a:p>
            <a:pPr>
              <a:buFont typeface="Arial" pitchFamily="34" charset="0"/>
              <a:buChar char="•"/>
            </a:pPr>
            <a:r>
              <a:rPr lang="en-AU" sz="1200" kern="1200" dirty="0" smtClean="0">
                <a:solidFill>
                  <a:schemeClr val="tx1"/>
                </a:solidFill>
                <a:ea typeface="+mn-ea"/>
                <a:cs typeface="+mn-cs"/>
              </a:rPr>
              <a:t> It has been found on the basis of experience any estimation of cost for a project budget should be subject to a 10% - 25% loading/variance to cater for ‘contingencies’, price rises, unexpected issues arising, delays and so forth.</a:t>
            </a:r>
          </a:p>
          <a:p>
            <a:pPr>
              <a:buFont typeface="Arial" pitchFamily="34" charset="0"/>
              <a:buChar char="•"/>
            </a:pPr>
            <a:r>
              <a:rPr lang="en-AU" sz="1200" kern="1200" dirty="0" smtClean="0">
                <a:solidFill>
                  <a:schemeClr val="tx1"/>
                </a:solidFill>
                <a:ea typeface="+mn-ea"/>
                <a:cs typeface="+mn-cs"/>
              </a:rPr>
              <a:t> The higher your level of confidence in the cost estimate, the lower the variance/loading should be, but it should never be zero.</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states where </a:t>
            </a:r>
            <a:r>
              <a:rPr lang="en-AU" sz="1200" kern="1200" dirty="0" smtClean="0">
                <a:solidFill>
                  <a:schemeClr val="tx1"/>
                </a:solidFill>
                <a:ea typeface="+mn-ea"/>
                <a:cs typeface="+mn-cs"/>
              </a:rPr>
              <a:t>the scope and nature demands, it is necessary and advisable to create an administrative structure for the project mentioning many small projects do not require an </a:t>
            </a:r>
            <a:r>
              <a:rPr lang="en-AU" sz="1200" kern="1200" dirty="0" err="1" smtClean="0">
                <a:solidFill>
                  <a:schemeClr val="tx1"/>
                </a:solidFill>
                <a:ea typeface="+mn-ea"/>
                <a:cs typeface="+mn-cs"/>
              </a:rPr>
              <a:t>admininstative</a:t>
            </a:r>
            <a:r>
              <a:rPr lang="en-AU" sz="1200" kern="1200" dirty="0" smtClean="0">
                <a:solidFill>
                  <a:schemeClr val="tx1"/>
                </a:solidFill>
                <a:ea typeface="+mn-ea"/>
                <a:cs typeface="+mn-cs"/>
              </a:rPr>
              <a:t> structure.</a:t>
            </a:r>
          </a:p>
          <a:p>
            <a:r>
              <a:rPr lang="en-AU" sz="1200" kern="1200" dirty="0" smtClean="0">
                <a:solidFill>
                  <a:schemeClr val="tx1"/>
                </a:solidFill>
                <a:ea typeface="+mn-ea"/>
                <a:cs typeface="+mn-cs"/>
              </a:rPr>
              <a:t>Trainer explains the need for an administrative structure can be identified as a result of one or more of the following:</a:t>
            </a:r>
          </a:p>
          <a:p>
            <a:pPr>
              <a:buFont typeface="Arial" pitchFamily="34" charset="0"/>
              <a:buChar char="•"/>
            </a:pPr>
            <a:r>
              <a:rPr lang="en-AU" sz="1200" kern="1200" dirty="0" smtClean="0">
                <a:solidFill>
                  <a:schemeClr val="tx1"/>
                </a:solidFill>
                <a:ea typeface="+mn-ea"/>
                <a:cs typeface="+mn-cs"/>
              </a:rPr>
              <a:t> Directive/instruction from management for their to be such a structure</a:t>
            </a:r>
          </a:p>
          <a:p>
            <a:pPr>
              <a:buFont typeface="Arial" pitchFamily="34" charset="0"/>
              <a:buChar char="•"/>
            </a:pPr>
            <a:r>
              <a:rPr lang="en-AU" sz="1200" kern="1200" dirty="0" smtClean="0">
                <a:solidFill>
                  <a:schemeClr val="tx1"/>
                </a:solidFill>
                <a:ea typeface="+mn-ea"/>
                <a:cs typeface="+mn-cs"/>
              </a:rPr>
              <a:t> Pre-requisite requirement from a funding body for an administrative structure to be established to oversee and monitor the project</a:t>
            </a:r>
          </a:p>
          <a:p>
            <a:pPr>
              <a:buFont typeface="Arial" pitchFamily="34" charset="0"/>
              <a:buChar char="•"/>
            </a:pPr>
            <a:r>
              <a:rPr lang="en-AU" sz="1200" kern="1200" dirty="0" smtClean="0">
                <a:solidFill>
                  <a:schemeClr val="tx1"/>
                </a:solidFill>
                <a:ea typeface="+mn-ea"/>
                <a:cs typeface="+mn-cs"/>
              </a:rPr>
              <a:t> Your experience, relating to the need you see for a formal structure and a formal support structure</a:t>
            </a:r>
          </a:p>
          <a:p>
            <a:pPr>
              <a:buFont typeface="Arial" pitchFamily="34" charset="0"/>
              <a:buChar char="•"/>
            </a:pPr>
            <a:r>
              <a:rPr lang="en-AU" sz="1200" kern="1200" dirty="0" smtClean="0">
                <a:solidFill>
                  <a:schemeClr val="tx1"/>
                </a:solidFill>
                <a:ea typeface="+mn-ea"/>
                <a:cs typeface="+mn-cs"/>
              </a:rPr>
              <a:t> Willingness of others to be part of the project</a:t>
            </a:r>
          </a:p>
          <a:p>
            <a:pPr>
              <a:buFont typeface="Arial" pitchFamily="34" charset="0"/>
              <a:buChar char="•"/>
            </a:pPr>
            <a:r>
              <a:rPr lang="en-AU" sz="1200" kern="1200" dirty="0" smtClean="0">
                <a:solidFill>
                  <a:schemeClr val="tx1"/>
                </a:solidFill>
                <a:ea typeface="+mn-ea"/>
                <a:cs typeface="+mn-cs"/>
              </a:rPr>
              <a:t> Need to align with standing internal protocols, policies and procedures.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potential benefits of developing an administrative structure for a project:</a:t>
            </a:r>
          </a:p>
          <a:p>
            <a:pPr>
              <a:buFont typeface="Arial" pitchFamily="34" charset="0"/>
              <a:buChar char="•"/>
            </a:pPr>
            <a:r>
              <a:rPr lang="en-AU" sz="1200" kern="1200" dirty="0" smtClean="0">
                <a:solidFill>
                  <a:schemeClr val="tx1"/>
                </a:solidFill>
                <a:ea typeface="+mn-ea"/>
                <a:cs typeface="+mn-cs"/>
              </a:rPr>
              <a:t> A committed and dedicated source of support and advice</a:t>
            </a:r>
          </a:p>
          <a:p>
            <a:pPr>
              <a:buFont typeface="Arial" pitchFamily="34" charset="0"/>
              <a:buChar char="•"/>
            </a:pPr>
            <a:r>
              <a:rPr lang="en-AU" sz="1200" kern="1200" dirty="0" smtClean="0">
                <a:solidFill>
                  <a:schemeClr val="tx1"/>
                </a:solidFill>
                <a:ea typeface="+mn-ea"/>
                <a:cs typeface="+mn-cs"/>
              </a:rPr>
              <a:t> A sounding board for your thoughts and proposals</a:t>
            </a:r>
          </a:p>
          <a:p>
            <a:pPr>
              <a:buFont typeface="Arial" pitchFamily="34" charset="0"/>
              <a:buChar char="•"/>
            </a:pPr>
            <a:r>
              <a:rPr lang="en-AU" sz="1200" kern="1200" dirty="0" smtClean="0">
                <a:solidFill>
                  <a:schemeClr val="tx1"/>
                </a:solidFill>
                <a:ea typeface="+mn-ea"/>
                <a:cs typeface="+mn-cs"/>
              </a:rPr>
              <a:t> Ready access to assistance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explaining potential benefits of developing an administrative structure for a project:</a:t>
            </a:r>
          </a:p>
          <a:p>
            <a:pPr>
              <a:buFont typeface="Arial" pitchFamily="34" charset="0"/>
              <a:buChar char="•"/>
            </a:pPr>
            <a:r>
              <a:rPr lang="en-AU" sz="1200" kern="1200" dirty="0" smtClean="0">
                <a:solidFill>
                  <a:schemeClr val="tx1"/>
                </a:solidFill>
                <a:ea typeface="+mn-ea"/>
                <a:cs typeface="+mn-cs"/>
              </a:rPr>
              <a:t> An established body of people to whom tasks and responsibilities may be delegated</a:t>
            </a:r>
          </a:p>
          <a:p>
            <a:pPr>
              <a:buFont typeface="Arial" pitchFamily="34" charset="0"/>
              <a:buChar char="•"/>
            </a:pPr>
            <a:r>
              <a:rPr lang="en-AU" sz="1200" kern="1200" dirty="0" smtClean="0">
                <a:solidFill>
                  <a:schemeClr val="tx1"/>
                </a:solidFill>
                <a:ea typeface="+mn-ea"/>
                <a:cs typeface="+mn-cs"/>
              </a:rPr>
              <a:t> A formal reporting framework</a:t>
            </a:r>
          </a:p>
          <a:p>
            <a:pPr>
              <a:buFont typeface="Arial" pitchFamily="34" charset="0"/>
              <a:buChar char="•"/>
            </a:pPr>
            <a:r>
              <a:rPr lang="en-AU" sz="1200" kern="1200" dirty="0" smtClean="0">
                <a:solidFill>
                  <a:schemeClr val="tx1"/>
                </a:solidFill>
                <a:ea typeface="+mn-ea"/>
                <a:cs typeface="+mn-cs"/>
              </a:rPr>
              <a:t> A hierarchical structure for decision making</a:t>
            </a:r>
          </a:p>
          <a:p>
            <a:pPr>
              <a:buFont typeface="Arial" pitchFamily="34" charset="0"/>
              <a:buChar char="•"/>
            </a:pPr>
            <a:r>
              <a:rPr lang="en-AU" sz="1200" kern="1200" dirty="0" smtClean="0">
                <a:solidFill>
                  <a:schemeClr val="tx1"/>
                </a:solidFill>
                <a:ea typeface="+mn-ea"/>
                <a:cs typeface="+mn-cs"/>
              </a:rPr>
              <a:t> The ability to allocate project-related responsibilities and tasks to nominated persons or bodies.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possible composition of administrative structure for a project:</a:t>
            </a:r>
          </a:p>
          <a:p>
            <a:pPr>
              <a:buFont typeface="Arial" pitchFamily="34" charset="0"/>
              <a:buChar char="•"/>
            </a:pPr>
            <a:r>
              <a:rPr lang="en-US" dirty="0" smtClean="0"/>
              <a:t> Management</a:t>
            </a:r>
          </a:p>
          <a:p>
            <a:pPr>
              <a:buFont typeface="Arial" pitchFamily="34" charset="0"/>
              <a:buChar char="•"/>
            </a:pPr>
            <a:r>
              <a:rPr lang="en-US" dirty="0" smtClean="0"/>
              <a:t> Secretariat</a:t>
            </a:r>
          </a:p>
          <a:p>
            <a:pPr>
              <a:buFont typeface="Arial" pitchFamily="34" charset="0"/>
              <a:buChar char="•"/>
            </a:pPr>
            <a:r>
              <a:rPr lang="en-US" dirty="0" smtClean="0"/>
              <a:t> Consultants</a:t>
            </a:r>
          </a:p>
          <a:p>
            <a:pPr>
              <a:buFont typeface="Arial" pitchFamily="34" charset="0"/>
              <a:buChar char="•"/>
            </a:pPr>
            <a:r>
              <a:rPr lang="en-US" dirty="0" smtClean="0"/>
              <a:t> Contractors and suppliers</a:t>
            </a:r>
          </a:p>
          <a:p>
            <a:pPr>
              <a:buFont typeface="Arial" pitchFamily="34" charset="0"/>
              <a:buChar char="•"/>
            </a:pPr>
            <a:r>
              <a:rPr lang="en-US" dirty="0" smtClean="0"/>
              <a:t> Groups</a:t>
            </a:r>
          </a:p>
          <a:p>
            <a:pPr>
              <a:buFont typeface="Arial" pitchFamily="34" charset="0"/>
              <a:buChar char="•"/>
            </a:pPr>
            <a:r>
              <a:rPr lang="en-US" dirty="0" smtClean="0"/>
              <a:t> Steering committee.</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illustrates roles/responsibilities of administrative structure.</a:t>
            </a:r>
          </a:p>
          <a:p>
            <a:r>
              <a:rPr lang="en-AU" sz="1200" b="1" kern="1200" dirty="0" smtClean="0">
                <a:solidFill>
                  <a:schemeClr val="tx1"/>
                </a:solidFill>
                <a:ea typeface="+mn-ea"/>
                <a:cs typeface="+mn-cs"/>
              </a:rPr>
              <a:t>Management</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A suitable management (or owner) representative should always be part of administrative structure so they can:</a:t>
            </a:r>
          </a:p>
          <a:p>
            <a:pPr>
              <a:buFont typeface="Arial" pitchFamily="34" charset="0"/>
              <a:buChar char="•"/>
            </a:pPr>
            <a:r>
              <a:rPr lang="en-AU" sz="1200" kern="1200" dirty="0" smtClean="0">
                <a:solidFill>
                  <a:schemeClr val="tx1"/>
                </a:solidFill>
                <a:ea typeface="+mn-ea"/>
                <a:cs typeface="+mn-cs"/>
              </a:rPr>
              <a:t> Gain first-hand experience of the management of the project and your activities in managing it</a:t>
            </a:r>
          </a:p>
          <a:p>
            <a:pPr>
              <a:buFont typeface="Arial" pitchFamily="34" charset="0"/>
              <a:buChar char="•"/>
            </a:pPr>
            <a:r>
              <a:rPr lang="en-AU" sz="1200" kern="1200" dirty="0" smtClean="0">
                <a:solidFill>
                  <a:schemeClr val="tx1"/>
                </a:solidFill>
                <a:ea typeface="+mn-ea"/>
                <a:cs typeface="+mn-cs"/>
              </a:rPr>
              <a:t> Promptly authorise action which needs to be taken outside your specified scope of authority</a:t>
            </a:r>
          </a:p>
          <a:p>
            <a:pPr>
              <a:buFont typeface="Arial" pitchFamily="34" charset="0"/>
              <a:buChar char="•"/>
            </a:pPr>
            <a:r>
              <a:rPr lang="en-AU" sz="1200" kern="1200" dirty="0" smtClean="0">
                <a:solidFill>
                  <a:schemeClr val="tx1"/>
                </a:solidFill>
                <a:ea typeface="+mn-ea"/>
                <a:cs typeface="+mn-cs"/>
              </a:rPr>
              <a:t> Provide extra information and insight to the project as the need for them to do so arises</a:t>
            </a:r>
          </a:p>
          <a:p>
            <a:pPr>
              <a:buFont typeface="Arial" pitchFamily="34" charset="0"/>
              <a:buChar char="•"/>
            </a:pPr>
            <a:r>
              <a:rPr lang="en-AU" sz="1200" kern="1200" dirty="0" smtClean="0">
                <a:solidFill>
                  <a:schemeClr val="tx1"/>
                </a:solidFill>
                <a:ea typeface="+mn-ea"/>
                <a:cs typeface="+mn-cs"/>
              </a:rPr>
              <a:t> Use their authority to influence others both within the organisation and external to it.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illustrates roles/responsibilities of administrative structure.</a:t>
            </a:r>
          </a:p>
          <a:p>
            <a:r>
              <a:rPr lang="en-AU" sz="1200" b="1" kern="1200" dirty="0" smtClean="0">
                <a:solidFill>
                  <a:schemeClr val="tx1"/>
                </a:solidFill>
                <a:ea typeface="+mn-ea"/>
                <a:cs typeface="+mn-cs"/>
              </a:rPr>
              <a:t>Secretariat</a:t>
            </a:r>
          </a:p>
          <a:p>
            <a:pPr>
              <a:buFont typeface="Arial" pitchFamily="34" charset="0"/>
              <a:buChar char="•"/>
            </a:pPr>
            <a:r>
              <a:rPr lang="en-AU" sz="1200" kern="1200" dirty="0" smtClean="0">
                <a:solidFill>
                  <a:schemeClr val="tx1"/>
                </a:solidFill>
                <a:ea typeface="+mn-ea"/>
                <a:cs typeface="+mn-cs"/>
              </a:rPr>
              <a:t> A ‘secretariat’ provides administrative support for the project.</a:t>
            </a:r>
          </a:p>
          <a:p>
            <a:pPr>
              <a:buFont typeface="Arial" pitchFamily="34" charset="0"/>
              <a:buChar char="•"/>
            </a:pPr>
            <a:r>
              <a:rPr lang="en-AU" sz="1200" kern="1200" dirty="0" smtClean="0">
                <a:solidFill>
                  <a:schemeClr val="tx1"/>
                </a:solidFill>
                <a:ea typeface="+mn-ea"/>
                <a:cs typeface="+mn-cs"/>
              </a:rPr>
              <a:t> The secretariat is often existing ‘office staff’ who take on extra project-related duties.</a:t>
            </a:r>
          </a:p>
          <a:p>
            <a:pPr>
              <a:buFont typeface="Arial" pitchFamily="34" charset="0"/>
              <a:buNone/>
            </a:pPr>
            <a:endParaRPr lang="en-US" dirty="0" smtClean="0"/>
          </a:p>
          <a:p>
            <a:pPr>
              <a:buFont typeface="Arial" pitchFamily="34" charset="0"/>
              <a:buNone/>
            </a:pPr>
            <a:r>
              <a:rPr lang="en-US" b="1" dirty="0" smtClean="0"/>
              <a:t>Class Activity – Question</a:t>
            </a:r>
          </a:p>
          <a:p>
            <a:pPr>
              <a:buFont typeface="Arial" pitchFamily="34" charset="0"/>
              <a:buNone/>
            </a:pPr>
            <a:r>
              <a:rPr lang="en-US" b="0" dirty="0" smtClean="0"/>
              <a:t>Trainer asks students what activities might the Secretariat perform when providing </a:t>
            </a:r>
            <a:r>
              <a:rPr lang="en-AU" sz="1200" kern="1200" dirty="0" smtClean="0">
                <a:solidFill>
                  <a:schemeClr val="tx1"/>
                </a:solidFill>
                <a:ea typeface="+mn-ea"/>
                <a:cs typeface="+mn-cs"/>
              </a:rPr>
              <a:t>administrative support for a project.</a:t>
            </a:r>
          </a:p>
          <a:p>
            <a:pPr>
              <a:buFont typeface="Arial" pitchFamily="34" charset="0"/>
              <a:buNone/>
            </a:pPr>
            <a:r>
              <a:rPr lang="en-AU" sz="1200" b="1" i="1" kern="1200" dirty="0" smtClean="0">
                <a:solidFill>
                  <a:schemeClr val="tx1"/>
                </a:solidFill>
                <a:ea typeface="+mn-ea"/>
                <a:cs typeface="+mn-cs"/>
              </a:rPr>
              <a:t>Possible answers:</a:t>
            </a:r>
          </a:p>
          <a:p>
            <a:pPr>
              <a:buFont typeface="Arial" pitchFamily="34" charset="0"/>
              <a:buChar char="•"/>
            </a:pPr>
            <a:r>
              <a:rPr lang="en-AU" sz="1200" kern="1200" dirty="0" smtClean="0">
                <a:solidFill>
                  <a:schemeClr val="tx1"/>
                </a:solidFill>
                <a:ea typeface="+mn-ea"/>
                <a:cs typeface="+mn-cs"/>
              </a:rPr>
              <a:t> General office work</a:t>
            </a:r>
          </a:p>
          <a:p>
            <a:pPr>
              <a:buFont typeface="Arial" pitchFamily="34" charset="0"/>
              <a:buChar char="•"/>
            </a:pPr>
            <a:r>
              <a:rPr lang="en-AU" sz="1200" kern="1200" dirty="0" smtClean="0">
                <a:solidFill>
                  <a:schemeClr val="tx1"/>
                </a:solidFill>
                <a:ea typeface="+mn-ea"/>
                <a:cs typeface="+mn-cs"/>
              </a:rPr>
              <a:t> Typing – letters, reports, emails, requests for quotations, RFTs, RFPs, agendas for meetings, minutes of meetings</a:t>
            </a:r>
          </a:p>
          <a:p>
            <a:pPr>
              <a:buFont typeface="Arial" pitchFamily="34" charset="0"/>
              <a:buChar char="•"/>
            </a:pPr>
            <a:r>
              <a:rPr lang="en-AU" sz="1200" kern="1200" dirty="0" smtClean="0">
                <a:solidFill>
                  <a:schemeClr val="tx1"/>
                </a:solidFill>
                <a:ea typeface="+mn-ea"/>
                <a:cs typeface="+mn-cs"/>
              </a:rPr>
              <a:t> Filing </a:t>
            </a:r>
          </a:p>
          <a:p>
            <a:pPr>
              <a:buFont typeface="Arial" pitchFamily="34" charset="0"/>
              <a:buChar char="•"/>
            </a:pPr>
            <a:r>
              <a:rPr lang="en-AU" sz="1200" kern="1200" dirty="0" smtClean="0">
                <a:solidFill>
                  <a:schemeClr val="tx1"/>
                </a:solidFill>
                <a:ea typeface="+mn-ea"/>
                <a:cs typeface="+mn-cs"/>
              </a:rPr>
              <a:t> Photocopying </a:t>
            </a:r>
          </a:p>
          <a:p>
            <a:pPr>
              <a:buFont typeface="Arial" pitchFamily="34" charset="0"/>
              <a:buChar char="•"/>
            </a:pPr>
            <a:r>
              <a:rPr lang="en-AU" sz="1200" kern="1200" dirty="0" smtClean="0">
                <a:solidFill>
                  <a:schemeClr val="tx1"/>
                </a:solidFill>
                <a:ea typeface="+mn-ea"/>
                <a:cs typeface="+mn-cs"/>
              </a:rPr>
              <a:t> Making telephone calls </a:t>
            </a:r>
          </a:p>
          <a:p>
            <a:pPr>
              <a:buFont typeface="Arial" pitchFamily="34" charset="0"/>
              <a:buChar char="•"/>
            </a:pPr>
            <a:r>
              <a:rPr lang="en-AU" sz="1200" kern="1200" dirty="0" smtClean="0">
                <a:solidFill>
                  <a:schemeClr val="tx1"/>
                </a:solidFill>
                <a:ea typeface="+mn-ea"/>
                <a:cs typeface="+mn-cs"/>
              </a:rPr>
              <a:t> Scheduling meetings, notifying people of meetings, distributing required information prior to meetings, preparing rooms/venues for meetings and taking minutes of meetings</a:t>
            </a:r>
          </a:p>
          <a:p>
            <a:pPr>
              <a:buFont typeface="Arial" pitchFamily="34" charset="0"/>
              <a:buChar char="•"/>
            </a:pPr>
            <a:r>
              <a:rPr lang="en-AU" sz="1200" kern="1200" dirty="0" smtClean="0">
                <a:solidFill>
                  <a:schemeClr val="tx1"/>
                </a:solidFill>
                <a:ea typeface="+mn-ea"/>
                <a:cs typeface="+mn-cs"/>
              </a:rPr>
              <a:t> Maintaining documentation </a:t>
            </a:r>
          </a:p>
          <a:p>
            <a:pPr>
              <a:buFont typeface="Arial" pitchFamily="34" charset="0"/>
              <a:buChar char="•"/>
            </a:pPr>
            <a:r>
              <a:rPr lang="en-AU" sz="1200" kern="1200" dirty="0" smtClean="0">
                <a:solidFill>
                  <a:schemeClr val="tx1"/>
                </a:solidFill>
                <a:ea typeface="+mn-ea"/>
                <a:cs typeface="+mn-cs"/>
              </a:rPr>
              <a:t> Facilitating communications </a:t>
            </a:r>
          </a:p>
          <a:p>
            <a:pPr>
              <a:buFont typeface="Arial" pitchFamily="34" charset="0"/>
              <a:buChar char="•"/>
            </a:pPr>
            <a:r>
              <a:rPr lang="en-AU" sz="1200" kern="1200" dirty="0" smtClean="0">
                <a:solidFill>
                  <a:schemeClr val="tx1"/>
                </a:solidFill>
                <a:ea typeface="+mn-ea"/>
                <a:cs typeface="+mn-cs"/>
              </a:rPr>
              <a:t> Processing payments and paperwork</a:t>
            </a:r>
          </a:p>
          <a:p>
            <a:pPr>
              <a:buFont typeface="Arial" pitchFamily="34" charset="0"/>
              <a:buNone/>
            </a:pPr>
            <a:endParaRPr lang="en-US" b="1" i="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illustrates roles/responsibilities of administrative structure.</a:t>
            </a:r>
          </a:p>
          <a:p>
            <a:r>
              <a:rPr lang="en-AU" sz="1200" b="1" kern="1200" dirty="0" smtClean="0">
                <a:solidFill>
                  <a:schemeClr val="tx1"/>
                </a:solidFill>
                <a:ea typeface="+mn-ea"/>
                <a:cs typeface="+mn-cs"/>
              </a:rPr>
              <a:t>Consultants</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Consultants are businesses external to the business who provide specialist advice, suggestions and recommendations.</a:t>
            </a:r>
          </a:p>
          <a:p>
            <a:pPr>
              <a:buFont typeface="Arial" pitchFamily="34" charset="0"/>
              <a:buChar char="•"/>
            </a:pPr>
            <a:r>
              <a:rPr lang="en-AU" sz="1200" kern="1200" dirty="0" smtClean="0">
                <a:solidFill>
                  <a:schemeClr val="tx1"/>
                </a:solidFill>
                <a:ea typeface="+mn-ea"/>
                <a:cs typeface="+mn-cs"/>
              </a:rPr>
              <a:t> They are paid an hourly rate or an agreed sum for their participation and contributions to the project.</a:t>
            </a:r>
          </a:p>
          <a:p>
            <a:pPr>
              <a:buFont typeface="Arial" pitchFamily="34" charset="0"/>
              <a:buChar char="•"/>
            </a:pPr>
            <a:r>
              <a:rPr lang="en-AU" sz="1200" kern="1200" dirty="0" smtClean="0">
                <a:solidFill>
                  <a:schemeClr val="tx1"/>
                </a:solidFill>
                <a:ea typeface="+mn-ea"/>
                <a:cs typeface="+mn-cs"/>
              </a:rPr>
              <a:t> Their advice maybe provided:</a:t>
            </a:r>
          </a:p>
          <a:p>
            <a:pPr lvl="1">
              <a:buFont typeface="Arial" pitchFamily="34" charset="0"/>
              <a:buChar char="•"/>
            </a:pPr>
            <a:r>
              <a:rPr lang="en-AU" sz="1200" kern="1200" dirty="0" smtClean="0">
                <a:solidFill>
                  <a:schemeClr val="tx1"/>
                </a:solidFill>
                <a:ea typeface="+mn-ea"/>
                <a:cs typeface="+mn-cs"/>
              </a:rPr>
              <a:t> Face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to</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face – to you personally</a:t>
            </a:r>
          </a:p>
          <a:p>
            <a:pPr lvl="1">
              <a:buFont typeface="Arial" pitchFamily="34" charset="0"/>
              <a:buChar char="•"/>
            </a:pPr>
            <a:r>
              <a:rPr lang="en-AU" sz="1200" kern="1200" dirty="0" smtClean="0">
                <a:solidFill>
                  <a:schemeClr val="tx1"/>
                </a:solidFill>
                <a:ea typeface="+mn-ea"/>
                <a:cs typeface="+mn-cs"/>
              </a:rPr>
              <a:t> At project meetings</a:t>
            </a:r>
          </a:p>
          <a:p>
            <a:pPr lvl="1">
              <a:buFont typeface="Arial" pitchFamily="34" charset="0"/>
              <a:buChar char="•"/>
            </a:pPr>
            <a:r>
              <a:rPr lang="en-AU" sz="1200" kern="1200" dirty="0" smtClean="0">
                <a:solidFill>
                  <a:schemeClr val="tx1"/>
                </a:solidFill>
                <a:ea typeface="+mn-ea"/>
                <a:cs typeface="+mn-cs"/>
              </a:rPr>
              <a:t> Over the telephone</a:t>
            </a:r>
          </a:p>
          <a:p>
            <a:pPr lvl="1">
              <a:buFont typeface="Arial" pitchFamily="34" charset="0"/>
              <a:buChar char="•"/>
            </a:pPr>
            <a:r>
              <a:rPr lang="en-AU" sz="1200" kern="1200" dirty="0" smtClean="0">
                <a:solidFill>
                  <a:schemeClr val="tx1"/>
                </a:solidFill>
                <a:ea typeface="+mn-ea"/>
                <a:cs typeface="+mn-cs"/>
              </a:rPr>
              <a:t> Online.</a:t>
            </a:r>
          </a:p>
          <a:p>
            <a:pPr>
              <a:buFont typeface="Arial" pitchFamily="34" charset="0"/>
              <a:buNone/>
            </a:pPr>
            <a:endParaRPr lang="en-US" dirty="0" smtClean="0"/>
          </a:p>
          <a:p>
            <a:pPr>
              <a:buFont typeface="Arial" pitchFamily="34" charset="0"/>
              <a:buNone/>
            </a:pPr>
            <a:r>
              <a:rPr lang="en-US" b="1" dirty="0" smtClean="0"/>
              <a:t>Class Activity – Question</a:t>
            </a:r>
          </a:p>
          <a:p>
            <a:pPr>
              <a:buFont typeface="Arial" pitchFamily="34" charset="0"/>
              <a:buNone/>
            </a:pPr>
            <a:r>
              <a:rPr lang="en-US" b="0" dirty="0" smtClean="0"/>
              <a:t>Trainer asks students what type of consultants may be required to work on a project.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i="1" kern="1200" dirty="0" smtClean="0">
                <a:solidFill>
                  <a:schemeClr val="tx1"/>
                </a:solidFill>
                <a:ea typeface="+mn-ea"/>
                <a:cs typeface="+mn-cs"/>
              </a:rPr>
              <a:t>Possible answers:</a:t>
            </a:r>
          </a:p>
          <a:p>
            <a:pPr>
              <a:buFont typeface="Arial" pitchFamily="34" charset="0"/>
              <a:buChar char="•"/>
            </a:pPr>
            <a:r>
              <a:rPr lang="en-AU" sz="1200" kern="1200" dirty="0" smtClean="0">
                <a:solidFill>
                  <a:schemeClr val="tx1"/>
                </a:solidFill>
                <a:ea typeface="+mn-ea"/>
                <a:cs typeface="+mn-cs"/>
              </a:rPr>
              <a:t> Interior designer where rooms are being decorated/refurbished</a:t>
            </a:r>
          </a:p>
          <a:p>
            <a:pPr>
              <a:buFont typeface="Arial" pitchFamily="34" charset="0"/>
              <a:buChar char="•"/>
            </a:pPr>
            <a:r>
              <a:rPr lang="en-AU" sz="1200" kern="1200" dirty="0" smtClean="0">
                <a:solidFill>
                  <a:schemeClr val="tx1"/>
                </a:solidFill>
                <a:ea typeface="+mn-ea"/>
                <a:cs typeface="+mn-cs"/>
              </a:rPr>
              <a:t> Commercial catering consultants for kitchen upgrades/renovations</a:t>
            </a:r>
          </a:p>
          <a:p>
            <a:pPr>
              <a:buFont typeface="Arial" pitchFamily="34" charset="0"/>
              <a:buChar char="•"/>
            </a:pPr>
            <a:r>
              <a:rPr lang="en-AU" sz="1200" kern="1200" dirty="0" smtClean="0">
                <a:solidFill>
                  <a:schemeClr val="tx1"/>
                </a:solidFill>
                <a:ea typeface="+mn-ea"/>
                <a:cs typeface="+mn-cs"/>
              </a:rPr>
              <a:t> Safety consultants for a special event e.g. pyrotechnics display</a:t>
            </a:r>
          </a:p>
          <a:p>
            <a:pPr>
              <a:buFont typeface="Arial" pitchFamily="34" charset="0"/>
              <a:buChar char="•"/>
            </a:pPr>
            <a:r>
              <a:rPr lang="en-AU" sz="1200" kern="1200" dirty="0" smtClean="0">
                <a:solidFill>
                  <a:schemeClr val="tx1"/>
                </a:solidFill>
                <a:ea typeface="+mn-ea"/>
                <a:cs typeface="+mn-cs"/>
              </a:rPr>
              <a:t> Language and diversity/cross-cultural experts where a project involves people from a variety of different language, social, economic, religious or other backgrounds.</a:t>
            </a:r>
          </a:p>
          <a:p>
            <a:pPr>
              <a:buFont typeface="Arial" pitchFamily="34" charset="0"/>
              <a:buNone/>
            </a:pPr>
            <a:endParaRPr lang="en-US" b="0" dirty="0" smtClean="0"/>
          </a:p>
          <a:p>
            <a:pPr>
              <a:buFont typeface="Arial" pitchFamily="34" charset="0"/>
              <a:buNone/>
            </a:pP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buFont typeface="Arial" pitchFamily="34" charset="0"/>
              <a:buNone/>
            </a:pPr>
            <a:r>
              <a:rPr lang="en-US" dirty="0" smtClean="0"/>
              <a:t>Trainer illustrates roles/responsibilities of administrative structure.</a:t>
            </a:r>
          </a:p>
          <a:p>
            <a:r>
              <a:rPr lang="en-AU" sz="1200" b="1" kern="1200" dirty="0" smtClean="0">
                <a:solidFill>
                  <a:schemeClr val="tx1"/>
                </a:solidFill>
                <a:ea typeface="+mn-ea"/>
                <a:cs typeface="+mn-cs"/>
              </a:rPr>
              <a:t>Contractors and suppliers</a:t>
            </a:r>
          </a:p>
          <a:p>
            <a:pPr>
              <a:buFont typeface="Arial" pitchFamily="34" charset="0"/>
              <a:buChar char="•"/>
            </a:pPr>
            <a:r>
              <a:rPr lang="en-AU" sz="1200" kern="1200" dirty="0" smtClean="0">
                <a:solidFill>
                  <a:schemeClr val="tx1"/>
                </a:solidFill>
                <a:ea typeface="+mn-ea"/>
                <a:cs typeface="+mn-cs"/>
              </a:rPr>
              <a:t> These are the businesses who will provide the goods and services which are at the heart of the project.</a:t>
            </a:r>
          </a:p>
          <a:p>
            <a:pPr>
              <a:buFont typeface="Arial" pitchFamily="34" charset="0"/>
              <a:buChar char="•"/>
            </a:pPr>
            <a:r>
              <a:rPr lang="en-AU" sz="1200" kern="1200" dirty="0" smtClean="0">
                <a:solidFill>
                  <a:schemeClr val="tx1"/>
                </a:solidFill>
                <a:ea typeface="+mn-ea"/>
                <a:cs typeface="+mn-cs"/>
              </a:rPr>
              <a:t> Generally the following selection process applies:</a:t>
            </a:r>
          </a:p>
          <a:p>
            <a:pPr lvl="1">
              <a:buFont typeface="Arial" pitchFamily="34" charset="0"/>
              <a:buChar char="•"/>
            </a:pPr>
            <a:r>
              <a:rPr lang="en-AU" sz="1200" kern="1200" dirty="0" smtClean="0">
                <a:solidFill>
                  <a:schemeClr val="tx1"/>
                </a:solidFill>
                <a:ea typeface="+mn-ea"/>
                <a:cs typeface="+mn-cs"/>
              </a:rPr>
              <a:t> A pre-selection occurs.</a:t>
            </a:r>
            <a:r>
              <a:rPr lang="en-AU" sz="1200" kern="1200" baseline="0" dirty="0" smtClean="0">
                <a:solidFill>
                  <a:schemeClr val="tx1"/>
                </a:solidFill>
                <a:ea typeface="+mn-ea"/>
                <a:cs typeface="+mn-cs"/>
              </a:rPr>
              <a:t> F</a:t>
            </a:r>
            <a:r>
              <a:rPr lang="en-AU" sz="1200" kern="1200" dirty="0" smtClean="0">
                <a:solidFill>
                  <a:schemeClr val="tx1"/>
                </a:solidFill>
                <a:ea typeface="+mn-ea"/>
                <a:cs typeface="+mn-cs"/>
              </a:rPr>
              <a:t>or example you identify all the businesses who may be able to provide a certain product or service and then you determine which </a:t>
            </a:r>
            <a:r>
              <a:rPr lang="en-AU" sz="1200" b="1" kern="1200" dirty="0" smtClean="0">
                <a:solidFill>
                  <a:schemeClr val="tx1"/>
                </a:solidFill>
                <a:ea typeface="+mn-ea"/>
                <a:cs typeface="+mn-cs"/>
              </a:rPr>
              <a:t>one</a:t>
            </a:r>
            <a:r>
              <a:rPr lang="en-AU" sz="1200" kern="1200" dirty="0" smtClean="0">
                <a:solidFill>
                  <a:schemeClr val="tx1"/>
                </a:solidFill>
                <a:ea typeface="+mn-ea"/>
                <a:cs typeface="+mn-cs"/>
              </a:rPr>
              <a:t> will be part of the administrative structure. It is not usual for there to be two businesses representing the one type of product or service. The organisation is required to keep the information they learn while participating in the project ‘confidential’ .</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hey may be required to sign a ‘confidentiality agreement’ to this extent</a:t>
            </a:r>
          </a:p>
          <a:p>
            <a:pPr lvl="1">
              <a:buFont typeface="Arial" pitchFamily="34" charset="0"/>
              <a:buChar char="•"/>
            </a:pPr>
            <a:r>
              <a:rPr lang="en-AU" sz="1200" kern="1200" dirty="0" smtClean="0">
                <a:solidFill>
                  <a:schemeClr val="tx1"/>
                </a:solidFill>
                <a:ea typeface="+mn-ea"/>
                <a:cs typeface="+mn-cs"/>
              </a:rPr>
              <a:t> The goods and/or services they are expected to advise on and provide are specified and quantified</a:t>
            </a:r>
          </a:p>
          <a:p>
            <a:pPr lvl="1">
              <a:buFont typeface="Arial" pitchFamily="34" charset="0"/>
              <a:buChar char="•"/>
            </a:pPr>
            <a:r>
              <a:rPr lang="en-AU" sz="1200" kern="1200" dirty="0" smtClean="0">
                <a:solidFill>
                  <a:schemeClr val="tx1"/>
                </a:solidFill>
                <a:ea typeface="+mn-ea"/>
                <a:cs typeface="+mn-cs"/>
              </a:rPr>
              <a:t> Sample products/services are evaluated/assessed</a:t>
            </a:r>
          </a:p>
          <a:p>
            <a:pPr lvl="1">
              <a:buFont typeface="Arial" pitchFamily="34" charset="0"/>
              <a:buChar char="•"/>
            </a:pPr>
            <a:r>
              <a:rPr lang="en-AU" sz="1200" kern="1200" dirty="0" smtClean="0">
                <a:solidFill>
                  <a:schemeClr val="tx1"/>
                </a:solidFill>
                <a:ea typeface="+mn-ea"/>
                <a:cs typeface="+mn-cs"/>
              </a:rPr>
              <a:t> Quotations are obtained</a:t>
            </a:r>
          </a:p>
          <a:p>
            <a:pPr lvl="1">
              <a:buFont typeface="Arial" pitchFamily="34" charset="0"/>
              <a:buChar char="•"/>
            </a:pPr>
            <a:r>
              <a:rPr lang="en-AU" sz="1200" kern="1200" dirty="0" smtClean="0">
                <a:solidFill>
                  <a:schemeClr val="tx1"/>
                </a:solidFill>
                <a:ea typeface="+mn-ea"/>
                <a:cs typeface="+mn-cs"/>
              </a:rPr>
              <a:t> The participation expected of them is stipulated,</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for example:</a:t>
            </a:r>
          </a:p>
          <a:p>
            <a:pPr lvl="2">
              <a:buFont typeface="Arial" pitchFamily="34" charset="0"/>
              <a:buChar char="•"/>
            </a:pPr>
            <a:r>
              <a:rPr lang="en-AU" sz="1200" kern="1200" dirty="0" smtClean="0">
                <a:solidFill>
                  <a:schemeClr val="tx1"/>
                </a:solidFill>
                <a:ea typeface="+mn-ea"/>
                <a:cs typeface="+mn-cs"/>
              </a:rPr>
              <a:t> To attend XYZ meetings</a:t>
            </a:r>
          </a:p>
          <a:p>
            <a:pPr lvl="2">
              <a:buFont typeface="Arial" pitchFamily="34" charset="0"/>
              <a:buChar char="•"/>
            </a:pPr>
            <a:r>
              <a:rPr lang="en-AU" sz="1200" kern="1200" dirty="0" smtClean="0">
                <a:solidFill>
                  <a:schemeClr val="tx1"/>
                </a:solidFill>
                <a:ea typeface="+mn-ea"/>
                <a:cs typeface="+mn-cs"/>
              </a:rPr>
              <a:t> To work cooperatively with nominated other contractors, suppliers and/or government agencies</a:t>
            </a:r>
          </a:p>
          <a:p>
            <a:pPr lvl="2">
              <a:buFont typeface="Arial" pitchFamily="34" charset="0"/>
              <a:buChar char="•"/>
            </a:pPr>
            <a:r>
              <a:rPr lang="en-AU" sz="1200" kern="1200" dirty="0" smtClean="0">
                <a:solidFill>
                  <a:schemeClr val="tx1"/>
                </a:solidFill>
                <a:ea typeface="+mn-ea"/>
                <a:cs typeface="+mn-cs"/>
              </a:rPr>
              <a:t> To provide items which are ‘fit for task’ – meaning they are safe, reliable, compliant with all relevant legislation and match any samples/examples provided for examination/inspection as part of the decision making process about what items to purchase</a:t>
            </a:r>
          </a:p>
          <a:p>
            <a:pPr lvl="2">
              <a:buFont typeface="Arial" pitchFamily="34" charset="0"/>
              <a:buChar char="•"/>
            </a:pPr>
            <a:r>
              <a:rPr lang="en-AU" sz="1200" kern="1200" dirty="0" smtClean="0">
                <a:solidFill>
                  <a:schemeClr val="tx1"/>
                </a:solidFill>
                <a:ea typeface="+mn-ea"/>
                <a:cs typeface="+mn-cs"/>
              </a:rPr>
              <a:t> To be available to provide telephone and online support at all times</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 A decision on which provider/supplier is made based on quotations, quality, and responses to other criteria.</a:t>
            </a:r>
          </a:p>
          <a:p>
            <a:pPr lvl="2">
              <a:buFont typeface="Arial" pitchFamily="34" charset="0"/>
              <a:buChar char="•"/>
            </a:pP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dirty="0" smtClean="0"/>
              <a:t>Class Activity – Question</a:t>
            </a:r>
          </a:p>
          <a:p>
            <a:pPr>
              <a:buFont typeface="Arial" pitchFamily="34" charset="0"/>
              <a:buNone/>
            </a:pPr>
            <a:r>
              <a:rPr lang="en-US" b="0" dirty="0" smtClean="0"/>
              <a:t>Trainer asks students what type of products and services</a:t>
            </a:r>
            <a:r>
              <a:rPr lang="en-US" b="0" baseline="0" dirty="0" smtClean="0"/>
              <a:t> </a:t>
            </a:r>
            <a:r>
              <a:rPr lang="en-US" b="0" dirty="0" smtClean="0"/>
              <a:t>may providers and suppliers provide to a project.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i="1" kern="1200" dirty="0" smtClean="0">
                <a:solidFill>
                  <a:schemeClr val="tx1"/>
                </a:solidFill>
                <a:ea typeface="+mn-ea"/>
                <a:cs typeface="+mn-cs"/>
              </a:rPr>
              <a:t>Possible answers: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 They may range from architects and builders through to carpet and paint suppliers to those who sell tables, chairs and the flowers to decorate the rooms.</a:t>
            </a:r>
          </a:p>
          <a:p>
            <a:pPr>
              <a:buFont typeface="Arial" pitchFamily="34" charset="0"/>
              <a:buNone/>
            </a:pPr>
            <a:endParaRPr lang="en-US" b="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illustrates roles/responsibilities of administrative structure.</a:t>
            </a:r>
          </a:p>
          <a:p>
            <a:r>
              <a:rPr lang="en-AU" sz="1200" b="1" kern="1200" dirty="0" smtClean="0">
                <a:solidFill>
                  <a:schemeClr val="tx1"/>
                </a:solidFill>
                <a:ea typeface="+mn-ea"/>
                <a:cs typeface="+mn-cs"/>
              </a:rPr>
              <a:t>Groups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 administrative structure may feature the use of one or more types of ‘groups’ which may be called:</a:t>
            </a:r>
          </a:p>
          <a:p>
            <a:pPr>
              <a:buFont typeface="Arial" pitchFamily="34" charset="0"/>
              <a:buChar char="•"/>
            </a:pPr>
            <a:r>
              <a:rPr lang="en-AU" sz="1200" kern="1200" dirty="0" smtClean="0">
                <a:solidFill>
                  <a:schemeClr val="tx1"/>
                </a:solidFill>
                <a:ea typeface="+mn-ea"/>
                <a:cs typeface="+mn-cs"/>
              </a:rPr>
              <a:t> Advisory groups</a:t>
            </a:r>
          </a:p>
          <a:p>
            <a:pPr>
              <a:buFont typeface="Arial" pitchFamily="34" charset="0"/>
              <a:buChar char="•"/>
            </a:pPr>
            <a:r>
              <a:rPr lang="en-AU" sz="1200" kern="1200" dirty="0" smtClean="0">
                <a:solidFill>
                  <a:schemeClr val="tx1"/>
                </a:solidFill>
                <a:ea typeface="+mn-ea"/>
                <a:cs typeface="+mn-cs"/>
              </a:rPr>
              <a:t> Reference groups</a:t>
            </a:r>
          </a:p>
          <a:p>
            <a:pPr>
              <a:buFont typeface="Arial" pitchFamily="34" charset="0"/>
              <a:buChar char="•"/>
            </a:pPr>
            <a:r>
              <a:rPr lang="en-AU" sz="1200" kern="1200" dirty="0" smtClean="0">
                <a:solidFill>
                  <a:schemeClr val="tx1"/>
                </a:solidFill>
                <a:ea typeface="+mn-ea"/>
                <a:cs typeface="+mn-cs"/>
              </a:rPr>
              <a:t> Consultative groups.</a:t>
            </a:r>
          </a:p>
          <a:p>
            <a:r>
              <a:rPr lang="en-AU" sz="1200" kern="1200" dirty="0" smtClean="0">
                <a:solidFill>
                  <a:schemeClr val="tx1"/>
                </a:solidFill>
                <a:ea typeface="+mn-ea"/>
                <a:cs typeface="+mn-cs"/>
              </a:rPr>
              <a:t>These groups are not a necessary part of the administrative structure for </a:t>
            </a:r>
            <a:r>
              <a:rPr lang="en-AU" sz="1200" i="1" kern="1200" dirty="0" smtClean="0">
                <a:solidFill>
                  <a:schemeClr val="tx1"/>
                </a:solidFill>
                <a:ea typeface="+mn-ea"/>
                <a:cs typeface="+mn-cs"/>
              </a:rPr>
              <a:t>all</a:t>
            </a:r>
            <a:r>
              <a:rPr lang="en-AU" sz="1200" kern="1200" dirty="0" smtClean="0">
                <a:solidFill>
                  <a:schemeClr val="tx1"/>
                </a:solidFill>
                <a:ea typeface="+mn-ea"/>
                <a:cs typeface="+mn-cs"/>
              </a:rPr>
              <a:t> small projects but are beneficial in some instances especially in situations where it is important to:</a:t>
            </a:r>
          </a:p>
          <a:p>
            <a:pPr>
              <a:buFont typeface="Arial" pitchFamily="34" charset="0"/>
              <a:buChar char="•"/>
            </a:pPr>
            <a:r>
              <a:rPr lang="en-AU" sz="1200" kern="1200" dirty="0" smtClean="0">
                <a:solidFill>
                  <a:schemeClr val="tx1"/>
                </a:solidFill>
                <a:ea typeface="+mn-ea"/>
                <a:cs typeface="+mn-cs"/>
              </a:rPr>
              <a:t> Liaise with others especially those external to the organisation</a:t>
            </a:r>
          </a:p>
          <a:p>
            <a:pPr>
              <a:buFont typeface="Arial" pitchFamily="34" charset="0"/>
              <a:buChar char="•"/>
            </a:pPr>
            <a:r>
              <a:rPr lang="en-AU" sz="1200" kern="1200" dirty="0" smtClean="0">
                <a:solidFill>
                  <a:schemeClr val="tx1"/>
                </a:solidFill>
                <a:ea typeface="+mn-ea"/>
                <a:cs typeface="+mn-cs"/>
              </a:rPr>
              <a:t> Demonstrate consultation with others</a:t>
            </a:r>
          </a:p>
          <a:p>
            <a:pPr>
              <a:buFont typeface="Arial" pitchFamily="34" charset="0"/>
              <a:buChar char="•"/>
            </a:pPr>
            <a:r>
              <a:rPr lang="en-AU" sz="1200" kern="1200" dirty="0" smtClean="0">
                <a:solidFill>
                  <a:schemeClr val="tx1"/>
                </a:solidFill>
                <a:ea typeface="+mn-ea"/>
                <a:cs typeface="+mn-cs"/>
              </a:rPr>
              <a:t> Allow others to make input</a:t>
            </a:r>
          </a:p>
          <a:p>
            <a:pPr>
              <a:buFont typeface="Arial" pitchFamily="34" charset="0"/>
              <a:buChar char="•"/>
            </a:pPr>
            <a:r>
              <a:rPr lang="en-AU" sz="1200" kern="1200" dirty="0" smtClean="0">
                <a:solidFill>
                  <a:schemeClr val="tx1"/>
                </a:solidFill>
                <a:ea typeface="+mn-ea"/>
                <a:cs typeface="+mn-cs"/>
              </a:rPr>
              <a:t> Capture a wide range of thoughts and opinions</a:t>
            </a:r>
          </a:p>
          <a:p>
            <a:pPr>
              <a:buFont typeface="Arial" pitchFamily="34" charset="0"/>
              <a:buChar char="•"/>
            </a:pPr>
            <a:r>
              <a:rPr lang="en-AU" sz="1200" kern="1200" dirty="0" smtClean="0">
                <a:solidFill>
                  <a:schemeClr val="tx1"/>
                </a:solidFill>
                <a:ea typeface="+mn-ea"/>
                <a:cs typeface="+mn-cs"/>
              </a:rPr>
              <a:t> Generate 360˚ feedback</a:t>
            </a:r>
          </a:p>
          <a:p>
            <a:pPr>
              <a:buFont typeface="Arial" pitchFamily="34" charset="0"/>
              <a:buChar char="•"/>
            </a:pPr>
            <a:r>
              <a:rPr lang="en-AU" sz="1200" kern="1200" dirty="0" smtClean="0">
                <a:solidFill>
                  <a:schemeClr val="tx1"/>
                </a:solidFill>
                <a:ea typeface="+mn-ea"/>
                <a:cs typeface="+mn-cs"/>
              </a:rPr>
              <a:t> Encourage others to buy-in to the project and accept it.</a:t>
            </a:r>
          </a:p>
          <a:p>
            <a:pPr>
              <a:buFont typeface="Arial" pitchFamily="34" charset="0"/>
              <a:buNone/>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illustrates roles/responsibilities of administrative structure.</a:t>
            </a:r>
          </a:p>
          <a:p>
            <a:r>
              <a:rPr lang="en-AU" sz="1200" b="1" kern="1200" dirty="0" smtClean="0">
                <a:solidFill>
                  <a:schemeClr val="tx1"/>
                </a:solidFill>
                <a:ea typeface="+mn-ea"/>
                <a:cs typeface="+mn-cs"/>
              </a:rPr>
              <a:t>Steering committee</a:t>
            </a:r>
            <a:endParaRPr lang="en-AU" sz="1200" kern="1200" dirty="0" smtClean="0">
              <a:solidFill>
                <a:schemeClr val="tx1"/>
              </a:solidFill>
              <a:ea typeface="+mn-ea"/>
              <a:cs typeface="+mn-cs"/>
            </a:endParaRPr>
          </a:p>
          <a:p>
            <a:pPr>
              <a:buFont typeface="Arial" pitchFamily="34" charset="0"/>
              <a:buNone/>
            </a:pPr>
            <a:r>
              <a:rPr lang="en-AU" sz="1200" kern="1200" dirty="0" smtClean="0">
                <a:solidFill>
                  <a:schemeClr val="tx1"/>
                </a:solidFill>
                <a:ea typeface="+mn-ea"/>
                <a:cs typeface="+mn-cs"/>
              </a:rPr>
              <a:t>A steering committee is also not a common part of most small projects.</a:t>
            </a:r>
          </a:p>
          <a:p>
            <a:pPr>
              <a:buFont typeface="Arial" pitchFamily="34" charset="0"/>
              <a:buNone/>
            </a:pPr>
            <a:r>
              <a:rPr lang="en-AU" sz="1200" kern="1200" dirty="0" smtClean="0">
                <a:solidFill>
                  <a:schemeClr val="tx1"/>
                </a:solidFill>
                <a:ea typeface="+mn-ea"/>
                <a:cs typeface="+mn-cs"/>
              </a:rPr>
              <a:t>A steering committee comprises representatives from the groups identified above and its role is to help ‘steer’ the project to a successful conclusion. It does this by:</a:t>
            </a:r>
          </a:p>
          <a:p>
            <a:pPr>
              <a:buFont typeface="Arial" pitchFamily="34" charset="0"/>
              <a:buChar char="•"/>
            </a:pPr>
            <a:r>
              <a:rPr lang="en-AU" sz="1200" kern="1200" dirty="0" smtClean="0">
                <a:solidFill>
                  <a:schemeClr val="tx1"/>
                </a:solidFill>
                <a:ea typeface="+mn-ea"/>
                <a:cs typeface="+mn-cs"/>
              </a:rPr>
              <a:t> Providing oversight of the project</a:t>
            </a:r>
          </a:p>
          <a:p>
            <a:pPr>
              <a:buFont typeface="Arial" pitchFamily="34" charset="0"/>
              <a:buChar char="•"/>
            </a:pPr>
            <a:r>
              <a:rPr lang="en-AU" sz="1200" kern="1200" dirty="0" smtClean="0">
                <a:solidFill>
                  <a:schemeClr val="tx1"/>
                </a:solidFill>
                <a:ea typeface="+mn-ea"/>
                <a:cs typeface="+mn-cs"/>
              </a:rPr>
              <a:t> Reviewing the progress of the project against approved plans and targets</a:t>
            </a:r>
          </a:p>
          <a:p>
            <a:pPr>
              <a:buFont typeface="Arial" pitchFamily="34" charset="0"/>
              <a:buChar char="•"/>
            </a:pPr>
            <a:r>
              <a:rPr lang="en-AU" sz="1200" kern="1200" dirty="0" smtClean="0">
                <a:solidFill>
                  <a:schemeClr val="tx1"/>
                </a:solidFill>
                <a:ea typeface="+mn-ea"/>
                <a:cs typeface="+mn-cs"/>
              </a:rPr>
              <a:t> Giving you guidance on all manner of topics which may arise as part of your management for the project .</a:t>
            </a:r>
            <a:r>
              <a:rPr lang="en-AU" sz="1200" kern="1200" baseline="0" dirty="0" smtClean="0">
                <a:solidFill>
                  <a:schemeClr val="tx1"/>
                </a:solidFill>
                <a:ea typeface="+mn-ea"/>
                <a:cs typeface="+mn-cs"/>
              </a:rPr>
              <a:t> Fo</a:t>
            </a:r>
            <a:r>
              <a:rPr lang="en-AU" sz="1200" kern="1200" dirty="0" smtClean="0">
                <a:solidFill>
                  <a:schemeClr val="tx1"/>
                </a:solidFill>
                <a:ea typeface="+mn-ea"/>
                <a:cs typeface="+mn-cs"/>
              </a:rPr>
              <a:t>r example you may turn to the steering committee (or members of it) for advice and direction in relation to areas in which the committee members have considerable experience and acknowledged expertise in areas such as:</a:t>
            </a:r>
          </a:p>
          <a:p>
            <a:pPr lvl="1">
              <a:buFont typeface="Arial" pitchFamily="34" charset="0"/>
              <a:buChar char="•"/>
            </a:pPr>
            <a:r>
              <a:rPr lang="en-AU" sz="1200" kern="1200" dirty="0" smtClean="0">
                <a:solidFill>
                  <a:schemeClr val="tx1"/>
                </a:solidFill>
                <a:ea typeface="+mn-ea"/>
                <a:cs typeface="+mn-cs"/>
              </a:rPr>
              <a:t> Company rules, requirements, policies, procedures and protocols</a:t>
            </a:r>
          </a:p>
          <a:p>
            <a:pPr lvl="1">
              <a:buFont typeface="Arial" pitchFamily="34" charset="0"/>
              <a:buChar char="•"/>
            </a:pPr>
            <a:r>
              <a:rPr lang="en-AU" sz="1200" kern="1200" dirty="0" smtClean="0">
                <a:solidFill>
                  <a:schemeClr val="tx1"/>
                </a:solidFill>
                <a:ea typeface="+mn-ea"/>
                <a:cs typeface="+mn-cs"/>
              </a:rPr>
              <a:t> Legal issues</a:t>
            </a:r>
          </a:p>
          <a:p>
            <a:pPr lvl="1">
              <a:buFont typeface="Arial" pitchFamily="34" charset="0"/>
              <a:buChar char="•"/>
            </a:pPr>
            <a:r>
              <a:rPr lang="en-AU" sz="1200" kern="1200" dirty="0" smtClean="0">
                <a:solidFill>
                  <a:schemeClr val="tx1"/>
                </a:solidFill>
                <a:ea typeface="+mn-ea"/>
                <a:cs typeface="+mn-cs"/>
              </a:rPr>
              <a:t> Industrial relations</a:t>
            </a:r>
          </a:p>
          <a:p>
            <a:pPr lvl="1">
              <a:buFont typeface="Arial" pitchFamily="34" charset="0"/>
              <a:buChar char="•"/>
            </a:pPr>
            <a:r>
              <a:rPr lang="en-AU" sz="1200" kern="1200" dirty="0" smtClean="0">
                <a:solidFill>
                  <a:schemeClr val="tx1"/>
                </a:solidFill>
                <a:ea typeface="+mn-ea"/>
                <a:cs typeface="+mn-cs"/>
              </a:rPr>
              <a:t> Finance and budget</a:t>
            </a:r>
          </a:p>
          <a:p>
            <a:pPr lvl="1">
              <a:buFont typeface="Arial" pitchFamily="34" charset="0"/>
              <a:buChar char="•"/>
            </a:pPr>
            <a:r>
              <a:rPr lang="en-AU" sz="1200" kern="1200" dirty="0" smtClean="0">
                <a:solidFill>
                  <a:schemeClr val="tx1"/>
                </a:solidFill>
                <a:ea typeface="+mn-ea"/>
                <a:cs typeface="+mn-cs"/>
              </a:rPr>
              <a:t> Acquisitions</a:t>
            </a:r>
          </a:p>
          <a:p>
            <a:pPr lvl="1">
              <a:buFont typeface="Arial" pitchFamily="34" charset="0"/>
              <a:buChar char="•"/>
            </a:pPr>
            <a:r>
              <a:rPr lang="en-AU" sz="1200" kern="1200" dirty="0" smtClean="0">
                <a:solidFill>
                  <a:schemeClr val="tx1"/>
                </a:solidFill>
                <a:ea typeface="+mn-ea"/>
                <a:cs typeface="+mn-cs"/>
              </a:rPr>
              <a:t> Marketing.</a:t>
            </a:r>
          </a:p>
          <a:p>
            <a:pPr>
              <a:buFont typeface="Arial" pitchFamily="34" charset="0"/>
              <a:buChar char="•"/>
            </a:pPr>
            <a:r>
              <a:rPr lang="en-AU" sz="1200" kern="1200" dirty="0" smtClean="0">
                <a:solidFill>
                  <a:schemeClr val="tx1"/>
                </a:solidFill>
                <a:ea typeface="+mn-ea"/>
                <a:cs typeface="+mn-cs"/>
              </a:rPr>
              <a:t> Depending on how the role of the steering committee is developed or interpreted by your employer, it may have:</a:t>
            </a:r>
          </a:p>
          <a:p>
            <a:pPr lvl="1">
              <a:buFont typeface="Arial" pitchFamily="34" charset="0"/>
              <a:buChar char="•"/>
            </a:pPr>
            <a:r>
              <a:rPr lang="en-AU" sz="1200" kern="1200" dirty="0" smtClean="0">
                <a:solidFill>
                  <a:schemeClr val="tx1"/>
                </a:solidFill>
                <a:ea typeface="+mn-ea"/>
                <a:cs typeface="+mn-cs"/>
              </a:rPr>
              <a:t> An advisory role only</a:t>
            </a:r>
          </a:p>
          <a:p>
            <a:pPr lvl="1">
              <a:buFont typeface="Arial" pitchFamily="34" charset="0"/>
              <a:buChar char="•"/>
            </a:pPr>
            <a:r>
              <a:rPr lang="en-AU" sz="1200" kern="1200" dirty="0" smtClean="0">
                <a:solidFill>
                  <a:schemeClr val="tx1"/>
                </a:solidFill>
                <a:ea typeface="+mn-ea"/>
                <a:cs typeface="+mn-cs"/>
              </a:rPr>
              <a:t> Total control over the project meaning it has the capacity/authority to take over the project from you if it believes this is necessary for whatever reason.</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the </a:t>
            </a:r>
            <a:r>
              <a:rPr lang="en-AU" sz="1200" kern="1200" dirty="0" smtClean="0">
                <a:solidFill>
                  <a:schemeClr val="tx1"/>
                </a:solidFill>
                <a:ea typeface="+mn-ea"/>
                <a:cs typeface="+mn-cs"/>
              </a:rPr>
              <a:t>identified responsibilities for any project need to be allocated to the relevant person and/or business so the project will achieve the required outcomes/objectives highlighting the basis for allocating project responsibilities relates to a </a:t>
            </a:r>
            <a:r>
              <a:rPr lang="en-AU" sz="1200" i="1" kern="1200" dirty="0" smtClean="0">
                <a:solidFill>
                  <a:schemeClr val="tx1"/>
                </a:solidFill>
                <a:ea typeface="+mn-ea"/>
                <a:cs typeface="+mn-cs"/>
              </a:rPr>
              <a:t>combination of factors</a:t>
            </a:r>
            <a:r>
              <a:rPr lang="en-AU" sz="1200" kern="1200" dirty="0" smtClean="0">
                <a:solidFill>
                  <a:schemeClr val="tx1"/>
                </a:solidFill>
                <a:ea typeface="+mn-ea"/>
                <a:cs typeface="+mn-cs"/>
              </a:rPr>
              <a:t> each of which can be expected to be unique for each small project.</a:t>
            </a:r>
          </a:p>
          <a:p>
            <a:r>
              <a:rPr lang="en-AU" sz="1200" kern="1200" dirty="0" smtClean="0">
                <a:solidFill>
                  <a:schemeClr val="tx1"/>
                </a:solidFill>
                <a:ea typeface="+mn-ea"/>
                <a:cs typeface="+mn-cs"/>
              </a:rPr>
              <a:t>These factors are:</a:t>
            </a:r>
          </a:p>
          <a:p>
            <a:pPr>
              <a:buFont typeface="Arial" pitchFamily="34" charset="0"/>
              <a:buChar char="•"/>
            </a:pPr>
            <a:r>
              <a:rPr lang="en-AU" sz="1200" kern="1200" dirty="0" smtClean="0">
                <a:solidFill>
                  <a:schemeClr val="tx1"/>
                </a:solidFill>
                <a:ea typeface="+mn-ea"/>
                <a:cs typeface="+mn-cs"/>
              </a:rPr>
              <a:t> The composition of your administrative structure and the expertise and experience whish is available from this source</a:t>
            </a:r>
          </a:p>
          <a:p>
            <a:pPr>
              <a:buFont typeface="Arial" pitchFamily="34" charset="0"/>
              <a:buChar char="•"/>
            </a:pPr>
            <a:r>
              <a:rPr lang="en-AU" sz="1200" kern="1200" dirty="0" smtClean="0">
                <a:solidFill>
                  <a:schemeClr val="tx1"/>
                </a:solidFill>
                <a:ea typeface="+mn-ea"/>
                <a:cs typeface="+mn-cs"/>
              </a:rPr>
              <a:t> The people who comprise your project team</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 in most cases these are your main support structure as they are (usually) </a:t>
            </a:r>
            <a:r>
              <a:rPr lang="en-AU" sz="1200" b="1" kern="1200" dirty="0" smtClean="0">
                <a:solidFill>
                  <a:schemeClr val="tx1"/>
                </a:solidFill>
                <a:ea typeface="+mn-ea"/>
                <a:cs typeface="+mn-cs"/>
              </a:rPr>
              <a:t>solely</a:t>
            </a:r>
            <a:r>
              <a:rPr lang="en-AU" sz="1200" kern="1200" dirty="0" smtClean="0">
                <a:solidFill>
                  <a:schemeClr val="tx1"/>
                </a:solidFill>
                <a:ea typeface="+mn-ea"/>
                <a:cs typeface="+mn-cs"/>
              </a:rPr>
              <a:t> dedicated to the project where other support structures (including those in your administrative structure) will contain people whose time is shared between you, your project and many other obligations </a:t>
            </a:r>
          </a:p>
          <a:p>
            <a:pPr>
              <a:buFont typeface="Arial" pitchFamily="34" charset="0"/>
              <a:buChar char="•"/>
            </a:pPr>
            <a:r>
              <a:rPr lang="en-AU" sz="1200" kern="1200" dirty="0" smtClean="0">
                <a:solidFill>
                  <a:schemeClr val="tx1"/>
                </a:solidFill>
                <a:ea typeface="+mn-ea"/>
                <a:cs typeface="+mn-cs"/>
              </a:rPr>
              <a:t> The plans and strategies which have been developed for the specific project as these will identify what needs to be done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factors which will influence allocation of project responsibilities:</a:t>
            </a:r>
          </a:p>
          <a:p>
            <a:pPr>
              <a:buFont typeface="Arial" pitchFamily="34" charset="0"/>
              <a:buChar char="•"/>
            </a:pPr>
            <a:r>
              <a:rPr lang="en-AU" sz="1200" kern="1200" dirty="0" smtClean="0">
                <a:solidFill>
                  <a:schemeClr val="tx1"/>
                </a:solidFill>
                <a:ea typeface="+mn-ea"/>
                <a:cs typeface="+mn-cs"/>
              </a:rPr>
              <a:t> Known strengths and weaknesses of those available to you,</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including their previous experience and demonstrated capacity to perform and achieve outcomes</a:t>
            </a:r>
          </a:p>
          <a:p>
            <a:pPr>
              <a:buFont typeface="Arial" pitchFamily="34" charset="0"/>
              <a:buChar char="•"/>
            </a:pPr>
            <a:r>
              <a:rPr lang="en-AU" sz="1200" kern="1200" dirty="0" smtClean="0">
                <a:solidFill>
                  <a:schemeClr val="tx1"/>
                </a:solidFill>
                <a:ea typeface="+mn-ea"/>
                <a:cs typeface="+mn-cs"/>
              </a:rPr>
              <a:t> Staff who have indicated to you they wish to be involved and want to develop knowledge and experience in the area of project management or in the field to which the project applies</a:t>
            </a:r>
          </a:p>
          <a:p>
            <a:pPr>
              <a:buFont typeface="Arial" pitchFamily="34" charset="0"/>
              <a:buChar char="•"/>
            </a:pPr>
            <a:r>
              <a:rPr lang="en-AU" sz="1200" kern="1200" dirty="0" smtClean="0">
                <a:solidFill>
                  <a:schemeClr val="tx1"/>
                </a:solidFill>
                <a:ea typeface="+mn-ea"/>
                <a:cs typeface="+mn-cs"/>
              </a:rPr>
              <a:t> Direction given to you by super-ordinates who may order you to involve certain people or organisations, or may tell you to involve certain people in nominated activities</a:t>
            </a:r>
          </a:p>
          <a:p>
            <a:pPr>
              <a:buFont typeface="Arial" pitchFamily="34" charset="0"/>
              <a:buChar char="•"/>
            </a:pPr>
            <a:r>
              <a:rPr lang="en-AU" sz="1200" kern="1200" dirty="0" smtClean="0">
                <a:solidFill>
                  <a:schemeClr val="tx1"/>
                </a:solidFill>
                <a:ea typeface="+mn-ea"/>
                <a:cs typeface="+mn-cs"/>
              </a:rPr>
              <a:t> Your objective of developing a certain staff member to take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over your position (in terms of succession planning) when you move on, or to increase the capacity for small project management within the business by multi-skilling staff who may become PMs in their own right or may serve as your deputy/assistant</a:t>
            </a:r>
          </a:p>
          <a:p>
            <a:pPr>
              <a:buFont typeface="Arial" pitchFamily="34" charset="0"/>
              <a:buChar char="•"/>
            </a:pPr>
            <a:r>
              <a:rPr lang="en-AU" sz="1200" kern="1200" dirty="0" smtClean="0">
                <a:solidFill>
                  <a:schemeClr val="tx1"/>
                </a:solidFill>
                <a:ea typeface="+mn-ea"/>
                <a:cs typeface="+mn-cs"/>
              </a:rPr>
              <a:t> Requests from delegating bodies, clients or funding bodies that certain people within the organisation are included in the project to undertake specified roles.</a:t>
            </a:r>
          </a:p>
          <a:p>
            <a:pPr>
              <a:buFont typeface="Arial" pitchFamily="34" charset="0"/>
              <a:buNone/>
            </a:pPr>
            <a:endParaRPr lang="en-US" dirty="0" smtClean="0"/>
          </a:p>
          <a:p>
            <a:pPr>
              <a:buFont typeface="Arial" pitchFamily="34" charset="0"/>
              <a:buNone/>
            </a:pPr>
            <a:r>
              <a:rPr lang="en-US" b="1" dirty="0" smtClean="0"/>
              <a:t>Class Activity – Excursion</a:t>
            </a:r>
          </a:p>
          <a:p>
            <a:pPr>
              <a:buFont typeface="Arial" pitchFamily="34" charset="0"/>
              <a:buNone/>
            </a:pPr>
            <a:r>
              <a:rPr lang="en-US" b="0" dirty="0" smtClean="0"/>
              <a:t>Trainer arranges visit to a venue so students can:</a:t>
            </a:r>
          </a:p>
          <a:p>
            <a:pPr>
              <a:buFont typeface="Arial" pitchFamily="34" charset="0"/>
              <a:buChar char="•"/>
            </a:pPr>
            <a:r>
              <a:rPr lang="en-US" b="0" dirty="0" smtClean="0"/>
              <a:t> Attend a project-related meeting</a:t>
            </a:r>
          </a:p>
          <a:p>
            <a:pPr>
              <a:buFont typeface="Arial" pitchFamily="34" charset="0"/>
              <a:buChar char="•"/>
            </a:pPr>
            <a:r>
              <a:rPr lang="en-US" b="0" dirty="0" smtClean="0"/>
              <a:t> Observe activities within the meeting</a:t>
            </a:r>
          </a:p>
          <a:p>
            <a:pPr>
              <a:buFont typeface="Arial" pitchFamily="34" charset="0"/>
              <a:buChar char="•"/>
            </a:pPr>
            <a:r>
              <a:rPr lang="en-US" b="0" dirty="0" smtClean="0"/>
              <a:t> Listen and observe what is covered and discussed.</a:t>
            </a:r>
            <a:r>
              <a:rPr lang="en-US" b="0" baseline="0" dirty="0" smtClean="0"/>
              <a:t>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the need to communicate allocated responsibilities identifying the following basic requirements need to be identified:</a:t>
            </a:r>
          </a:p>
          <a:p>
            <a:pPr>
              <a:buFont typeface="Arial" pitchFamily="34" charset="0"/>
              <a:buChar char="•"/>
            </a:pPr>
            <a:r>
              <a:rPr lang="en-AU" sz="1200" kern="1200" dirty="0" smtClean="0">
                <a:solidFill>
                  <a:schemeClr val="tx1"/>
                </a:solidFill>
                <a:ea typeface="+mn-ea"/>
                <a:cs typeface="+mn-cs"/>
              </a:rPr>
              <a:t> Preferred communication method for individuals – how people want/prefer to receive their information: not all preferences will be able to be catered for</a:t>
            </a:r>
          </a:p>
          <a:p>
            <a:pPr>
              <a:buFont typeface="Arial" pitchFamily="34" charset="0"/>
              <a:buChar char="•"/>
            </a:pPr>
            <a:r>
              <a:rPr lang="en-AU" sz="1200" kern="1200" dirty="0" smtClean="0">
                <a:solidFill>
                  <a:schemeClr val="tx1"/>
                </a:solidFill>
                <a:ea typeface="+mn-ea"/>
                <a:cs typeface="+mn-cs"/>
              </a:rPr>
              <a:t> Formats and content of communications determining in your own mind the sort of information which might be contained in different types of communications</a:t>
            </a:r>
          </a:p>
          <a:p>
            <a:pPr>
              <a:buFont typeface="Arial" pitchFamily="34" charset="0"/>
              <a:buChar char="•"/>
            </a:pPr>
            <a:r>
              <a:rPr lang="en-AU" sz="1200" kern="1200" dirty="0" smtClean="0">
                <a:solidFill>
                  <a:schemeClr val="tx1"/>
                </a:solidFill>
                <a:ea typeface="+mn-ea"/>
                <a:cs typeface="+mn-cs"/>
              </a:rPr>
              <a:t> Distribution List – identifying those who will receive communications, for each communication type.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advice to facilitate clear communication when communicating with staff/project team:</a:t>
            </a:r>
          </a:p>
          <a:p>
            <a:pPr>
              <a:buFont typeface="Arial" pitchFamily="34" charset="0"/>
              <a:buChar char="•"/>
            </a:pPr>
            <a:r>
              <a:rPr lang="en-AU" sz="1200" kern="1200" dirty="0" smtClean="0">
                <a:solidFill>
                  <a:schemeClr val="tx1"/>
                </a:solidFill>
                <a:ea typeface="+mn-ea"/>
                <a:cs typeface="+mn-cs"/>
              </a:rPr>
              <a:t> Plan the communication – work out what you want to say</a:t>
            </a:r>
          </a:p>
          <a:p>
            <a:pPr>
              <a:buFont typeface="Arial" pitchFamily="34" charset="0"/>
              <a:buChar char="•"/>
            </a:pPr>
            <a:r>
              <a:rPr lang="en-AU" sz="1200" kern="1200" dirty="0" smtClean="0">
                <a:solidFill>
                  <a:schemeClr val="tx1"/>
                </a:solidFill>
                <a:ea typeface="+mn-ea"/>
                <a:cs typeface="+mn-cs"/>
              </a:rPr>
              <a:t> Write/speak succinctly – avoid unnecessary words</a:t>
            </a:r>
          </a:p>
          <a:p>
            <a:pPr>
              <a:buFont typeface="Arial" pitchFamily="34" charset="0"/>
              <a:buChar char="•"/>
            </a:pPr>
            <a:r>
              <a:rPr lang="en-AU" sz="1200" kern="1200" dirty="0" smtClean="0">
                <a:solidFill>
                  <a:schemeClr val="tx1"/>
                </a:solidFill>
                <a:ea typeface="+mn-ea"/>
                <a:cs typeface="+mn-cs"/>
              </a:rPr>
              <a:t> Use only words and terms known to the recipients – if you need to use a new word or term then make sure you explain it</a:t>
            </a:r>
          </a:p>
          <a:p>
            <a:pPr>
              <a:buFont typeface="Arial" pitchFamily="34" charset="0"/>
              <a:buChar char="•"/>
            </a:pPr>
            <a:r>
              <a:rPr lang="en-AU" sz="1200" kern="1200" dirty="0" smtClean="0">
                <a:solidFill>
                  <a:schemeClr val="tx1"/>
                </a:solidFill>
                <a:ea typeface="+mn-ea"/>
                <a:cs typeface="+mn-cs"/>
              </a:rPr>
              <a:t> Only communicate when you have something to say – avoid communicating when you have nothing to say</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providing advice to facilitate clear communication when communicating with staff/project team:</a:t>
            </a:r>
          </a:p>
          <a:p>
            <a:pPr>
              <a:buFont typeface="Arial" pitchFamily="34" charset="0"/>
              <a:buChar char="•"/>
            </a:pPr>
            <a:r>
              <a:rPr lang="en-AU" sz="1200" kern="1200" dirty="0" smtClean="0">
                <a:solidFill>
                  <a:schemeClr val="tx1"/>
                </a:solidFill>
                <a:ea typeface="+mn-ea"/>
                <a:cs typeface="+mn-cs"/>
              </a:rPr>
              <a:t> Allocate time for the communication – do not rush it</a:t>
            </a:r>
          </a:p>
          <a:p>
            <a:pPr>
              <a:buFont typeface="Arial" pitchFamily="34" charset="0"/>
              <a:buChar char="•"/>
            </a:pPr>
            <a:r>
              <a:rPr lang="en-AU" sz="1200" kern="1200" dirty="0" smtClean="0">
                <a:solidFill>
                  <a:schemeClr val="tx1"/>
                </a:solidFill>
                <a:ea typeface="+mn-ea"/>
                <a:cs typeface="+mn-cs"/>
              </a:rPr>
              <a:t> Be prepared to explain what you have said – let others know you are available to provide explanations or other clarification</a:t>
            </a:r>
          </a:p>
          <a:p>
            <a:pPr>
              <a:buFont typeface="Arial" pitchFamily="34" charset="0"/>
              <a:buChar char="•"/>
            </a:pPr>
            <a:r>
              <a:rPr lang="en-AU" sz="1200" kern="1200" dirty="0" smtClean="0">
                <a:solidFill>
                  <a:schemeClr val="tx1"/>
                </a:solidFill>
                <a:ea typeface="+mn-ea"/>
                <a:cs typeface="+mn-cs"/>
              </a:rPr>
              <a:t> Set up a system so you know people have received the communications you have sent them</a:t>
            </a:r>
          </a:p>
          <a:p>
            <a:pPr>
              <a:buFont typeface="Arial" pitchFamily="34" charset="0"/>
              <a:buChar char="•"/>
            </a:pPr>
            <a:r>
              <a:rPr lang="en-AU" sz="1200" kern="1200" dirty="0" smtClean="0">
                <a:solidFill>
                  <a:schemeClr val="tx1"/>
                </a:solidFill>
                <a:ea typeface="+mn-ea"/>
                <a:cs typeface="+mn-cs"/>
              </a:rPr>
              <a:t> Avoid terms or words which are offensive, disrespectful or discriminatory in any way.</a:t>
            </a:r>
          </a:p>
          <a:p>
            <a:pPr>
              <a:buFont typeface="Arial" pitchFamily="34" charset="0"/>
              <a:buNone/>
            </a:pPr>
            <a:endParaRPr lang="en-US"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identifies</a:t>
            </a:r>
            <a:r>
              <a:rPr lang="en-US" baseline="0" dirty="0" smtClean="0"/>
              <a:t> the </a:t>
            </a:r>
            <a:r>
              <a:rPr lang="en-AU" sz="1200" kern="1200" dirty="0" smtClean="0">
                <a:solidFill>
                  <a:schemeClr val="tx1"/>
                </a:solidFill>
                <a:ea typeface="+mn-ea"/>
                <a:cs typeface="+mn-cs"/>
              </a:rPr>
              <a:t>following will enable effective communication of project-related responsibilities: </a:t>
            </a:r>
          </a:p>
          <a:p>
            <a:pPr>
              <a:buFont typeface="Arial" pitchFamily="34" charset="0"/>
              <a:buChar char="•"/>
            </a:pPr>
            <a:r>
              <a:rPr lang="en-AU" sz="1200" kern="1200" dirty="0" smtClean="0">
                <a:solidFill>
                  <a:schemeClr val="tx1"/>
                </a:solidFill>
                <a:ea typeface="+mn-ea"/>
                <a:cs typeface="+mn-cs"/>
              </a:rPr>
              <a:t> Scheduled, one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on</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one, face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to</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face exchanges which is arguably the best method to use but it very time-consuming</a:t>
            </a:r>
          </a:p>
          <a:p>
            <a:pPr>
              <a:buFont typeface="Arial" pitchFamily="34" charset="0"/>
              <a:buChar char="•"/>
            </a:pPr>
            <a:r>
              <a:rPr lang="en-AU" sz="1200" kern="1200" dirty="0" smtClean="0">
                <a:solidFill>
                  <a:schemeClr val="tx1"/>
                </a:solidFill>
                <a:ea typeface="+mn-ea"/>
                <a:cs typeface="+mn-cs"/>
              </a:rPr>
              <a:t> Scheduled, group meetings which saves time but may stifle discussion of points which need to be discussed</a:t>
            </a:r>
          </a:p>
          <a:p>
            <a:pPr>
              <a:buFont typeface="Arial" pitchFamily="34" charset="0"/>
              <a:buChar char="•"/>
            </a:pPr>
            <a:r>
              <a:rPr lang="en-AU" sz="1200" kern="1200" dirty="0" smtClean="0">
                <a:solidFill>
                  <a:schemeClr val="tx1"/>
                </a:solidFill>
                <a:ea typeface="+mn-ea"/>
                <a:cs typeface="+mn-cs"/>
              </a:rPr>
              <a:t> Telephone communication</a:t>
            </a:r>
          </a:p>
          <a:p>
            <a:pPr>
              <a:buFont typeface="Arial" pitchFamily="34" charset="0"/>
              <a:buChar char="•"/>
            </a:pPr>
            <a:r>
              <a:rPr lang="en-AU" sz="1200" kern="1200" dirty="0" smtClean="0">
                <a:solidFill>
                  <a:schemeClr val="tx1"/>
                </a:solidFill>
                <a:ea typeface="+mn-ea"/>
                <a:cs typeface="+mn-cs"/>
              </a:rPr>
              <a:t> Email</a:t>
            </a:r>
          </a:p>
          <a:p>
            <a:pPr>
              <a:buFont typeface="Arial" pitchFamily="34" charset="0"/>
              <a:buChar char="•"/>
            </a:pPr>
            <a:r>
              <a:rPr lang="en-AU" sz="1200" kern="1200" dirty="0" smtClean="0">
                <a:solidFill>
                  <a:schemeClr val="tx1"/>
                </a:solidFill>
                <a:ea typeface="+mn-ea"/>
                <a:cs typeface="+mn-cs"/>
              </a:rPr>
              <a:t> Memoranda.</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a:t>
            </a:r>
            <a:r>
              <a:rPr lang="en-US" baseline="0" dirty="0" smtClean="0"/>
              <a:t> a variety of Project Management tools exist and can be used to:</a:t>
            </a:r>
          </a:p>
          <a:p>
            <a:pPr>
              <a:buFont typeface="Arial" pitchFamily="34" charset="0"/>
              <a:buChar char="•"/>
            </a:pPr>
            <a:r>
              <a:rPr lang="en-AU" sz="1200" kern="1200" dirty="0" smtClean="0">
                <a:solidFill>
                  <a:schemeClr val="tx1"/>
                </a:solidFill>
                <a:ea typeface="+mn-ea"/>
                <a:cs typeface="+mn-cs"/>
              </a:rPr>
              <a:t> Plan the project</a:t>
            </a:r>
          </a:p>
          <a:p>
            <a:pPr>
              <a:buFont typeface="Arial" pitchFamily="34" charset="0"/>
              <a:buChar char="•"/>
            </a:pPr>
            <a:r>
              <a:rPr lang="en-AU" sz="1200" kern="1200" dirty="0" smtClean="0">
                <a:solidFill>
                  <a:schemeClr val="tx1"/>
                </a:solidFill>
                <a:ea typeface="+mn-ea"/>
                <a:cs typeface="+mn-cs"/>
              </a:rPr>
              <a:t> Manage and monitor the project</a:t>
            </a:r>
          </a:p>
          <a:p>
            <a:pPr>
              <a:buFont typeface="Arial" pitchFamily="34" charset="0"/>
              <a:buChar char="•"/>
            </a:pPr>
            <a:r>
              <a:rPr lang="en-AU" sz="1200" kern="1200" dirty="0" smtClean="0">
                <a:solidFill>
                  <a:schemeClr val="tx1"/>
                </a:solidFill>
                <a:ea typeface="+mn-ea"/>
                <a:cs typeface="+mn-cs"/>
              </a:rPr>
              <a:t> Sequence project activities/work</a:t>
            </a:r>
          </a:p>
          <a:p>
            <a:pPr>
              <a:buFont typeface="Arial" pitchFamily="34" charset="0"/>
              <a:buChar char="•"/>
            </a:pPr>
            <a:r>
              <a:rPr lang="en-AU" sz="1200" kern="1200" dirty="0" smtClean="0">
                <a:solidFill>
                  <a:schemeClr val="tx1"/>
                </a:solidFill>
                <a:ea typeface="+mn-ea"/>
                <a:cs typeface="+mn-cs"/>
              </a:rPr>
              <a:t> Control the budget</a:t>
            </a:r>
          </a:p>
          <a:p>
            <a:pPr>
              <a:buFont typeface="Arial" pitchFamily="34" charset="0"/>
              <a:buChar char="•"/>
            </a:pPr>
            <a:r>
              <a:rPr lang="en-AU" sz="1200" kern="1200" dirty="0" smtClean="0">
                <a:solidFill>
                  <a:schemeClr val="tx1"/>
                </a:solidFill>
                <a:ea typeface="+mn-ea"/>
                <a:cs typeface="+mn-cs"/>
              </a:rPr>
              <a:t> Evaluate the project.</a:t>
            </a:r>
          </a:p>
          <a:p>
            <a:pPr>
              <a:buFont typeface="Arial" pitchFamily="34" charset="0"/>
              <a:buNone/>
            </a:pPr>
            <a:endParaRPr lang="en-US" baseline="0" dirty="0" smtClean="0"/>
          </a:p>
          <a:p>
            <a:pPr>
              <a:buFont typeface="Arial" pitchFamily="34" charset="0"/>
              <a:buNone/>
            </a:pPr>
            <a:endParaRPr lang="en-US"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project management tools:</a:t>
            </a:r>
          </a:p>
          <a:p>
            <a:pPr>
              <a:buFont typeface="Arial" pitchFamily="34" charset="0"/>
              <a:buChar char="•"/>
            </a:pPr>
            <a:r>
              <a:rPr lang="en-AU" sz="1200" kern="1200" dirty="0" smtClean="0">
                <a:solidFill>
                  <a:schemeClr val="tx1"/>
                </a:solidFill>
                <a:ea typeface="+mn-ea"/>
                <a:cs typeface="+mn-cs"/>
              </a:rPr>
              <a:t> Cost/Schedule Control System (C/SCS)</a:t>
            </a:r>
          </a:p>
          <a:p>
            <a:pPr>
              <a:buFont typeface="Arial" pitchFamily="34" charset="0"/>
              <a:buChar char="•"/>
            </a:pPr>
            <a:r>
              <a:rPr lang="en-AU" sz="1200" kern="1200" dirty="0" smtClean="0">
                <a:solidFill>
                  <a:schemeClr val="tx1"/>
                </a:solidFill>
                <a:ea typeface="+mn-ea"/>
                <a:cs typeface="+mn-cs"/>
              </a:rPr>
              <a:t> Critical Path Method (CPM)</a:t>
            </a:r>
          </a:p>
          <a:p>
            <a:pPr>
              <a:buFont typeface="Arial" pitchFamily="34" charset="0"/>
              <a:buChar char="•"/>
            </a:pPr>
            <a:r>
              <a:rPr lang="en-AU" sz="1200" kern="1200" dirty="0" smtClean="0">
                <a:solidFill>
                  <a:schemeClr val="tx1"/>
                </a:solidFill>
                <a:ea typeface="+mn-ea"/>
                <a:cs typeface="+mn-cs"/>
              </a:rPr>
              <a:t> Gantt charts</a:t>
            </a:r>
          </a:p>
          <a:p>
            <a:pPr>
              <a:buFont typeface="Arial" pitchFamily="34" charset="0"/>
              <a:buNone/>
            </a:pPr>
            <a:endParaRPr lang="en-US" dirty="0" smtClean="0"/>
          </a:p>
          <a:p>
            <a:r>
              <a:rPr lang="en-AU" sz="1200" b="1" kern="1200" dirty="0" smtClean="0">
                <a:solidFill>
                  <a:schemeClr val="tx1"/>
                </a:solidFill>
                <a:ea typeface="+mn-ea"/>
                <a:cs typeface="+mn-cs"/>
              </a:rPr>
              <a:t>Class Activity – Internet research</a:t>
            </a:r>
          </a:p>
          <a:p>
            <a:r>
              <a:rPr lang="en-AU" sz="1200" b="0" kern="1200" dirty="0" smtClean="0">
                <a:solidFill>
                  <a:schemeClr val="tx1"/>
                </a:solidFill>
                <a:ea typeface="+mn-ea"/>
                <a:cs typeface="+mn-cs"/>
              </a:rPr>
              <a:t>Trainer facilitates student access to the following (and similar) websites</a:t>
            </a:r>
            <a:r>
              <a:rPr lang="en-AU" sz="1200" b="0" kern="1200" baseline="0" dirty="0" smtClean="0">
                <a:solidFill>
                  <a:schemeClr val="tx1"/>
                </a:solidFill>
                <a:ea typeface="+mn-ea"/>
                <a:cs typeface="+mn-cs"/>
              </a:rPr>
              <a:t> and discussion of findings:</a:t>
            </a:r>
          </a:p>
          <a:p>
            <a:r>
              <a:rPr lang="en-AU" sz="1200" b="1" i="1" kern="1200" dirty="0" smtClean="0">
                <a:solidFill>
                  <a:schemeClr val="tx1"/>
                </a:solidFill>
                <a:ea typeface="+mn-ea"/>
                <a:cs typeface="+mn-cs"/>
              </a:rPr>
              <a:t>Cost/Schedule Control System (C/SCS)</a:t>
            </a:r>
            <a:endParaRPr lang="en-AU" sz="1200" b="1" i="1" kern="1200" baseline="0" dirty="0" smtClean="0">
              <a:solidFill>
                <a:schemeClr val="tx1"/>
              </a:solidFill>
              <a:ea typeface="+mn-ea"/>
              <a:cs typeface="+mn-cs"/>
            </a:endParaRPr>
          </a:p>
          <a:p>
            <a:pPr lvl="0"/>
            <a:r>
              <a:rPr lang="en-AU" sz="1200" u="sng" kern="1200" dirty="0" smtClean="0">
                <a:solidFill>
                  <a:schemeClr val="tx1"/>
                </a:solidFill>
                <a:ea typeface="+mn-ea"/>
                <a:cs typeface="+mn-cs"/>
                <a:hlinkClick r:id="rId3"/>
              </a:rPr>
              <a:t>http://www.hyperthot.com/pm_cscs.htm</a:t>
            </a:r>
            <a:r>
              <a:rPr lang="en-AU" sz="1200" kern="1200" dirty="0" smtClean="0">
                <a:solidFill>
                  <a:schemeClr val="tx1"/>
                </a:solidFill>
                <a:ea typeface="+mn-ea"/>
                <a:cs typeface="+mn-cs"/>
              </a:rPr>
              <a:t> </a:t>
            </a:r>
          </a:p>
          <a:p>
            <a:pPr lvl="0"/>
            <a:r>
              <a:rPr lang="en-AU" sz="1200" u="sng" kern="1200" dirty="0" smtClean="0">
                <a:solidFill>
                  <a:schemeClr val="tx1"/>
                </a:solidFill>
                <a:ea typeface="+mn-ea"/>
                <a:cs typeface="+mn-cs"/>
                <a:hlinkClick r:id="rId4"/>
              </a:rPr>
              <a:t>http://www.defence.gov.au/dmo/esd/evm/DefAust5655.pdf</a:t>
            </a:r>
            <a:r>
              <a:rPr lang="en-AU" sz="1200" kern="1200" dirty="0" smtClean="0">
                <a:solidFill>
                  <a:schemeClr val="tx1"/>
                </a:solidFill>
                <a:ea typeface="+mn-ea"/>
                <a:cs typeface="+mn-cs"/>
              </a:rPr>
              <a:t> </a:t>
            </a:r>
          </a:p>
          <a:p>
            <a:pPr lvl="0"/>
            <a:r>
              <a:rPr lang="en-AU" sz="1200" b="1" i="1" kern="1200" dirty="0" smtClean="0">
                <a:solidFill>
                  <a:schemeClr val="tx1"/>
                </a:solidFill>
                <a:ea typeface="+mn-ea"/>
                <a:cs typeface="+mn-cs"/>
              </a:rPr>
              <a:t>Critical Path Method (CPM)</a:t>
            </a:r>
          </a:p>
          <a:p>
            <a:pPr lvl="0"/>
            <a:r>
              <a:rPr lang="en-AU" sz="1200" u="sng" kern="1200" dirty="0" smtClean="0">
                <a:solidFill>
                  <a:schemeClr val="tx1"/>
                </a:solidFill>
                <a:ea typeface="+mn-ea"/>
                <a:cs typeface="+mn-cs"/>
                <a:hlinkClick r:id="rId5"/>
              </a:rPr>
              <a:t>http://en.wikipedia.org/wiki/Critical_path_method</a:t>
            </a:r>
            <a:r>
              <a:rPr lang="en-AU" sz="1200" kern="1200" dirty="0" smtClean="0">
                <a:solidFill>
                  <a:schemeClr val="tx1"/>
                </a:solidFill>
                <a:ea typeface="+mn-ea"/>
                <a:cs typeface="+mn-cs"/>
              </a:rPr>
              <a:t> </a:t>
            </a:r>
          </a:p>
          <a:p>
            <a:pPr lvl="0"/>
            <a:r>
              <a:rPr lang="en-AU" sz="1200" u="sng" kern="1200" dirty="0" smtClean="0">
                <a:solidFill>
                  <a:schemeClr val="tx1"/>
                </a:solidFill>
                <a:ea typeface="+mn-ea"/>
                <a:cs typeface="+mn-cs"/>
                <a:hlinkClick r:id="rId6"/>
              </a:rPr>
              <a:t>http://www.netmba.com/operations/project/cpm/</a:t>
            </a:r>
            <a:endParaRPr lang="en-AU" sz="1200" kern="1200" dirty="0" smtClean="0">
              <a:solidFill>
                <a:schemeClr val="tx1"/>
              </a:solidFill>
              <a:ea typeface="+mn-ea"/>
              <a:cs typeface="+mn-cs"/>
            </a:endParaRPr>
          </a:p>
          <a:p>
            <a:pPr lvl="0"/>
            <a:r>
              <a:rPr lang="en-AU" sz="1200" b="1" i="1" kern="1200" dirty="0" smtClean="0">
                <a:solidFill>
                  <a:schemeClr val="tx1"/>
                </a:solidFill>
                <a:ea typeface="+mn-ea"/>
                <a:cs typeface="+mn-cs"/>
              </a:rPr>
              <a:t>Gantt charts</a:t>
            </a:r>
          </a:p>
          <a:p>
            <a:pPr lvl="0"/>
            <a:r>
              <a:rPr lang="en-AU" sz="1200" u="sng" kern="1200" dirty="0" smtClean="0">
                <a:solidFill>
                  <a:schemeClr val="tx1"/>
                </a:solidFill>
                <a:ea typeface="+mn-ea"/>
                <a:cs typeface="+mn-cs"/>
                <a:hlinkClick r:id="rId7"/>
              </a:rPr>
              <a:t>www.ganttchart.com</a:t>
            </a:r>
            <a:r>
              <a:rPr lang="en-AU" sz="1200" kern="1200" dirty="0" smtClean="0">
                <a:solidFill>
                  <a:schemeClr val="tx1"/>
                </a:solidFill>
                <a:ea typeface="+mn-ea"/>
                <a:cs typeface="+mn-cs"/>
              </a:rPr>
              <a:t>  </a:t>
            </a:r>
          </a:p>
          <a:p>
            <a:pPr lvl="0"/>
            <a:r>
              <a:rPr lang="en-AU" sz="1200" u="sng" kern="1200" dirty="0" smtClean="0">
                <a:solidFill>
                  <a:schemeClr val="tx1"/>
                </a:solidFill>
                <a:ea typeface="+mn-ea"/>
                <a:cs typeface="+mn-cs"/>
                <a:hlinkClick r:id="rId8"/>
              </a:rPr>
              <a:t>http://en.wikipedia.org/wiki/Gantt_chart</a:t>
            </a:r>
            <a:endParaRPr lang="en-AU" sz="1200" kern="1200" dirty="0" smtClean="0">
              <a:solidFill>
                <a:schemeClr val="tx1"/>
              </a:solidFill>
              <a:ea typeface="+mn-ea"/>
              <a:cs typeface="+mn-cs"/>
            </a:endParaRPr>
          </a:p>
          <a:p>
            <a:pPr lvl="0"/>
            <a:r>
              <a:rPr lang="en-AU" sz="1200" u="sng" kern="1200" dirty="0" smtClean="0">
                <a:solidFill>
                  <a:schemeClr val="tx1"/>
                </a:solidFill>
                <a:ea typeface="+mn-ea"/>
                <a:cs typeface="+mn-cs"/>
                <a:hlinkClick r:id="rId9"/>
              </a:rPr>
              <a:t>http://www.mindtools.com/pages/article/newPPM_03.htm</a:t>
            </a:r>
            <a:r>
              <a:rPr lang="en-AU" sz="1200" kern="1200" dirty="0" smtClean="0">
                <a:solidFill>
                  <a:schemeClr val="tx1"/>
                </a:solidFill>
                <a:ea typeface="+mn-ea"/>
                <a:cs typeface="+mn-cs"/>
              </a:rPr>
              <a:t> </a:t>
            </a:r>
          </a:p>
          <a:p>
            <a:pPr lvl="0"/>
            <a:endParaRPr lang="en-AU" sz="1200" b="1" i="1"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and discussing project management tools:</a:t>
            </a:r>
          </a:p>
          <a:p>
            <a:pPr>
              <a:buFont typeface="Arial" pitchFamily="34" charset="0"/>
              <a:buChar char="•"/>
            </a:pPr>
            <a:r>
              <a:rPr lang="en-AU" sz="1200" kern="1200" dirty="0" smtClean="0">
                <a:solidFill>
                  <a:schemeClr val="tx1"/>
                </a:solidFill>
                <a:ea typeface="+mn-ea"/>
                <a:cs typeface="+mn-cs"/>
              </a:rPr>
              <a:t> Life Cycle Cost Analysis (LCCA)</a:t>
            </a:r>
          </a:p>
          <a:p>
            <a:pPr>
              <a:buFont typeface="Arial" pitchFamily="34" charset="0"/>
              <a:buChar char="•"/>
            </a:pPr>
            <a:r>
              <a:rPr lang="en-AU" sz="1200" kern="1200" dirty="0" smtClean="0">
                <a:solidFill>
                  <a:schemeClr val="tx1"/>
                </a:solidFill>
                <a:ea typeface="+mn-ea"/>
                <a:cs typeface="+mn-cs"/>
              </a:rPr>
              <a:t> Logistics support analysis (LSA)</a:t>
            </a:r>
          </a:p>
          <a:p>
            <a:pPr>
              <a:buFont typeface="Arial" pitchFamily="34" charset="0"/>
              <a:buChar char="•"/>
            </a:pPr>
            <a:r>
              <a:rPr lang="en-AU" sz="1200" kern="1200" dirty="0" smtClean="0">
                <a:solidFill>
                  <a:schemeClr val="tx1"/>
                </a:solidFill>
                <a:ea typeface="+mn-ea"/>
                <a:cs typeface="+mn-cs"/>
              </a:rPr>
              <a:t> PERT charts</a:t>
            </a:r>
          </a:p>
          <a:p>
            <a:pPr>
              <a:buFont typeface="Arial" pitchFamily="34" charset="0"/>
              <a:buChar char="•"/>
            </a:pPr>
            <a:r>
              <a:rPr lang="en-AU" sz="1200" kern="1200" dirty="0" smtClean="0">
                <a:solidFill>
                  <a:schemeClr val="tx1"/>
                </a:solidFill>
                <a:ea typeface="+mn-ea"/>
                <a:cs typeface="+mn-cs"/>
              </a:rPr>
              <a:t> Project Management Software (PMS).</a:t>
            </a:r>
          </a:p>
          <a:p>
            <a:pPr>
              <a:buFont typeface="Arial" pitchFamily="34" charset="0"/>
              <a:buNone/>
            </a:pPr>
            <a:endParaRPr lang="en-US" dirty="0" smtClean="0"/>
          </a:p>
          <a:p>
            <a:r>
              <a:rPr lang="en-AU" sz="1200" b="1" kern="1200" dirty="0" smtClean="0">
                <a:solidFill>
                  <a:schemeClr val="tx1"/>
                </a:solidFill>
                <a:ea typeface="+mn-ea"/>
                <a:cs typeface="+mn-cs"/>
              </a:rPr>
              <a:t>Class Activity – Internet research</a:t>
            </a:r>
          </a:p>
          <a:p>
            <a:r>
              <a:rPr lang="en-AU" sz="1200" b="0" kern="1200" dirty="0" smtClean="0">
                <a:solidFill>
                  <a:schemeClr val="tx1"/>
                </a:solidFill>
                <a:ea typeface="+mn-ea"/>
                <a:cs typeface="+mn-cs"/>
              </a:rPr>
              <a:t>Trainer facilitates student access to the following (and similar) websites</a:t>
            </a:r>
            <a:r>
              <a:rPr lang="en-AU" sz="1200" b="0" kern="1200" baseline="0" dirty="0" smtClean="0">
                <a:solidFill>
                  <a:schemeClr val="tx1"/>
                </a:solidFill>
                <a:ea typeface="+mn-ea"/>
                <a:cs typeface="+mn-cs"/>
              </a:rPr>
              <a:t> and discussion of findings:</a:t>
            </a:r>
          </a:p>
          <a:p>
            <a:pPr>
              <a:buFont typeface="Arial" pitchFamily="34" charset="0"/>
              <a:buNone/>
            </a:pPr>
            <a:r>
              <a:rPr lang="en-AU" sz="1200" b="1" i="1" kern="1200" dirty="0" smtClean="0">
                <a:solidFill>
                  <a:schemeClr val="tx1"/>
                </a:solidFill>
                <a:ea typeface="+mn-ea"/>
                <a:cs typeface="+mn-cs"/>
              </a:rPr>
              <a:t>Life Cycle Cost Analysis (LCCA)</a:t>
            </a:r>
          </a:p>
          <a:p>
            <a:pPr lvl="0"/>
            <a:r>
              <a:rPr lang="en-AU" sz="1200" u="sng" kern="1200" dirty="0" smtClean="0">
                <a:solidFill>
                  <a:schemeClr val="tx1"/>
                </a:solidFill>
                <a:ea typeface="+mn-ea"/>
                <a:cs typeface="+mn-cs"/>
                <a:hlinkClick r:id="rId3"/>
              </a:rPr>
              <a:t>http://www.treasury.nsw.gov.au/__data/assets/pdf_file/0005/5099/life_cycle_costings.pdf</a:t>
            </a:r>
            <a:r>
              <a:rPr lang="en-AU" sz="1200" kern="1200" dirty="0" smtClean="0">
                <a:solidFill>
                  <a:schemeClr val="tx1"/>
                </a:solidFill>
                <a:ea typeface="+mn-ea"/>
                <a:cs typeface="+mn-cs"/>
              </a:rPr>
              <a:t> </a:t>
            </a:r>
          </a:p>
          <a:p>
            <a:pPr lvl="0"/>
            <a:r>
              <a:rPr lang="en-AU" sz="1200" u="sng" kern="1200" dirty="0" smtClean="0">
                <a:solidFill>
                  <a:schemeClr val="tx1"/>
                </a:solidFill>
                <a:ea typeface="+mn-ea"/>
                <a:cs typeface="+mn-cs"/>
                <a:hlinkClick r:id="rId4"/>
              </a:rPr>
              <a:t>http://www.eed.state.ak.us/facilities/publications/lccahandbook1999.pdf</a:t>
            </a:r>
            <a:r>
              <a:rPr lang="en-AU" sz="1200" kern="1200" dirty="0" smtClean="0">
                <a:solidFill>
                  <a:schemeClr val="tx1"/>
                </a:solidFill>
                <a:ea typeface="+mn-ea"/>
                <a:cs typeface="+mn-cs"/>
              </a:rPr>
              <a:t> </a:t>
            </a:r>
          </a:p>
          <a:p>
            <a:pPr>
              <a:buFont typeface="Arial" pitchFamily="34" charset="0"/>
              <a:buNone/>
            </a:pPr>
            <a:r>
              <a:rPr lang="en-AU" sz="1200" b="1" i="1" kern="1200" dirty="0" smtClean="0">
                <a:solidFill>
                  <a:schemeClr val="tx1"/>
                </a:solidFill>
                <a:ea typeface="+mn-ea"/>
                <a:cs typeface="+mn-cs"/>
              </a:rPr>
              <a:t>Logistics support analysis (LSA)</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ea typeface="+mn-ea"/>
                <a:cs typeface="+mn-cs"/>
                <a:hlinkClick r:id="rId5"/>
              </a:rPr>
              <a:t>http://www.logisticsworld.com/logistics.htm</a:t>
            </a:r>
            <a:endParaRPr lang="en-AU" sz="1200" kern="1200" dirty="0" smtClean="0">
              <a:solidFill>
                <a:schemeClr val="tx1"/>
              </a:solidFill>
              <a:ea typeface="+mn-ea"/>
              <a:cs typeface="+mn-cs"/>
            </a:endParaRPr>
          </a:p>
          <a:p>
            <a:pPr>
              <a:buFont typeface="Arial" pitchFamily="34" charset="0"/>
              <a:buNone/>
            </a:pPr>
            <a:r>
              <a:rPr lang="en-AU" sz="1200" b="1" i="1" kern="1200" dirty="0" smtClean="0">
                <a:solidFill>
                  <a:schemeClr val="tx1"/>
                </a:solidFill>
                <a:ea typeface="+mn-ea"/>
                <a:cs typeface="+mn-cs"/>
              </a:rPr>
              <a:t>PERT charts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ea typeface="+mn-ea"/>
                <a:cs typeface="+mn-cs"/>
                <a:hlinkClick r:id="rId6"/>
              </a:rPr>
              <a:t>http://en.wikipedia.org/wiki/Program_Evaluation_and_Review_Technique</a:t>
            </a:r>
            <a:endParaRPr lang="en-AU" sz="1200" kern="1200" dirty="0" smtClean="0">
              <a:solidFill>
                <a:schemeClr val="tx1"/>
              </a:solidFill>
              <a:ea typeface="+mn-ea"/>
              <a:cs typeface="+mn-cs"/>
            </a:endParaRPr>
          </a:p>
          <a:p>
            <a:pPr>
              <a:buFont typeface="Arial" pitchFamily="34" charset="0"/>
              <a:buNone/>
            </a:pPr>
            <a:r>
              <a:rPr lang="en-AU" sz="1200" b="1" i="1" kern="1200" dirty="0" smtClean="0">
                <a:solidFill>
                  <a:schemeClr val="tx1"/>
                </a:solidFill>
                <a:ea typeface="+mn-ea"/>
                <a:cs typeface="+mn-cs"/>
              </a:rPr>
              <a:t>Project Management Software (PMS)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ea typeface="+mn-ea"/>
                <a:cs typeface="+mn-cs"/>
                <a:hlinkClick r:id="rId7"/>
              </a:rPr>
              <a:t>http://en.wikipedia.org/wiki/Project_management_software</a:t>
            </a:r>
            <a:endParaRPr lang="en-AU" sz="1200" kern="1200" dirty="0" smtClean="0">
              <a:solidFill>
                <a:schemeClr val="tx1"/>
              </a:solidFill>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ea typeface="+mn-ea"/>
                <a:cs typeface="+mn-cs"/>
                <a:hlinkClick r:id="rId8"/>
              </a:rPr>
              <a:t>http://en.wikipedia.org/wiki/Comparison_of_project_management_software</a:t>
            </a:r>
            <a:r>
              <a:rPr lang="en-AU" sz="1200" kern="1200" dirty="0" smtClean="0">
                <a:solidFill>
                  <a:schemeClr val="tx1"/>
                </a:solidFill>
                <a:ea typeface="+mn-ea"/>
                <a:cs typeface="+mn-cs"/>
              </a:rPr>
              <a:t> </a:t>
            </a:r>
          </a:p>
          <a:p>
            <a:pPr>
              <a:buFont typeface="Arial" pitchFamily="34" charset="0"/>
              <a:buNone/>
            </a:pPr>
            <a:endParaRPr lang="en-US" b="1" i="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a:t>
            </a:r>
            <a:r>
              <a:rPr lang="en-AU" sz="1200" kern="1200" dirty="0" smtClean="0">
                <a:solidFill>
                  <a:schemeClr val="tx1"/>
                </a:solidFill>
                <a:ea typeface="+mn-ea"/>
                <a:cs typeface="+mn-cs"/>
              </a:rPr>
              <a:t>in any workplace activity ‘communication is key’ and this also applies to project management identifying those involved in planning communication for a project should include:</a:t>
            </a:r>
          </a:p>
          <a:p>
            <a:pPr>
              <a:buFont typeface="Arial" pitchFamily="34" charset="0"/>
              <a:buChar char="•"/>
            </a:pPr>
            <a:r>
              <a:rPr lang="en-AU" sz="1200" kern="1200" dirty="0" smtClean="0">
                <a:solidFill>
                  <a:schemeClr val="tx1"/>
                </a:solidFill>
                <a:ea typeface="+mn-ea"/>
                <a:cs typeface="+mn-cs"/>
              </a:rPr>
              <a:t> Appropriate colleagues</a:t>
            </a:r>
          </a:p>
          <a:p>
            <a:pPr lvl="1">
              <a:buFont typeface="Arial" pitchFamily="34" charset="0"/>
              <a:buChar char="•"/>
            </a:pPr>
            <a:r>
              <a:rPr lang="en-AU" sz="1200" kern="1200" dirty="0" smtClean="0">
                <a:solidFill>
                  <a:schemeClr val="tx1"/>
                </a:solidFill>
                <a:ea typeface="+mn-ea"/>
                <a:cs typeface="+mn-cs"/>
              </a:rPr>
              <a:t> Senior management as identified by the property for the project</a:t>
            </a:r>
          </a:p>
          <a:p>
            <a:pPr lvl="1">
              <a:buFont typeface="Arial" pitchFamily="34" charset="0"/>
              <a:buChar char="•"/>
            </a:pPr>
            <a:r>
              <a:rPr lang="en-AU" sz="1200" kern="1200" dirty="0" smtClean="0">
                <a:solidFill>
                  <a:schemeClr val="tx1"/>
                </a:solidFill>
                <a:ea typeface="+mn-ea"/>
                <a:cs typeface="+mn-cs"/>
              </a:rPr>
              <a:t> Departmental or divisional managers especially from ‘Marketing’/’Sales and Marketing’</a:t>
            </a:r>
          </a:p>
          <a:p>
            <a:pPr lvl="1">
              <a:buFont typeface="Arial" pitchFamily="34" charset="0"/>
              <a:buChar char="•"/>
            </a:pPr>
            <a:r>
              <a:rPr lang="en-AU" sz="1200" kern="1200" dirty="0" smtClean="0">
                <a:solidFill>
                  <a:schemeClr val="tx1"/>
                </a:solidFill>
                <a:ea typeface="+mn-ea"/>
                <a:cs typeface="+mn-cs"/>
              </a:rPr>
              <a:t> Project team members.</a:t>
            </a:r>
          </a:p>
          <a:p>
            <a:pPr>
              <a:buFont typeface="Arial" pitchFamily="34" charset="0"/>
              <a:buChar char="•"/>
            </a:pPr>
            <a:r>
              <a:rPr lang="en-AU" sz="1200" kern="1200" dirty="0" smtClean="0">
                <a:solidFill>
                  <a:schemeClr val="tx1"/>
                </a:solidFill>
                <a:ea typeface="+mn-ea"/>
                <a:cs typeface="+mn-cs"/>
              </a:rPr>
              <a:t> Persons from outside the business</a:t>
            </a:r>
          </a:p>
          <a:p>
            <a:pPr lvl="1">
              <a:buFont typeface="Arial" pitchFamily="34" charset="0"/>
              <a:buChar char="•"/>
            </a:pPr>
            <a:r>
              <a:rPr lang="en-AU" sz="1200" kern="1200" dirty="0" smtClean="0">
                <a:solidFill>
                  <a:schemeClr val="tx1"/>
                </a:solidFill>
                <a:ea typeface="+mn-ea"/>
                <a:cs typeface="+mn-cs"/>
              </a:rPr>
              <a:t> Clients who are funding a project (function/event)</a:t>
            </a:r>
          </a:p>
          <a:p>
            <a:pPr lvl="1">
              <a:buFont typeface="Arial" pitchFamily="34" charset="0"/>
              <a:buChar char="•"/>
            </a:pPr>
            <a:r>
              <a:rPr lang="en-AU" sz="1200" kern="1200" dirty="0" smtClean="0">
                <a:solidFill>
                  <a:schemeClr val="tx1"/>
                </a:solidFill>
                <a:ea typeface="+mn-ea"/>
                <a:cs typeface="+mn-cs"/>
              </a:rPr>
              <a:t> Representative from any delegating authority – if applicable</a:t>
            </a:r>
          </a:p>
          <a:p>
            <a:pPr lvl="1">
              <a:buFont typeface="Arial" pitchFamily="34" charset="0"/>
              <a:buChar char="•"/>
            </a:pPr>
            <a:r>
              <a:rPr lang="en-AU" sz="1200" kern="1200" dirty="0" smtClean="0">
                <a:solidFill>
                  <a:schemeClr val="tx1"/>
                </a:solidFill>
                <a:ea typeface="+mn-ea"/>
                <a:cs typeface="+mn-cs"/>
              </a:rPr>
              <a:t> Representative from any funding authority – if applicable</a:t>
            </a:r>
          </a:p>
          <a:p>
            <a:endParaRPr lang="en-AU" sz="1200" kern="1200" dirty="0" smtClean="0">
              <a:solidFill>
                <a:schemeClr val="tx1"/>
              </a:solidFill>
              <a:ea typeface="+mn-ea"/>
              <a:cs typeface="+mn-cs"/>
            </a:endParaRPr>
          </a:p>
          <a:p>
            <a:r>
              <a:rPr lang="en-AU" sz="1200" b="1" kern="1200" dirty="0" smtClean="0">
                <a:solidFill>
                  <a:schemeClr val="tx1"/>
                </a:solidFill>
                <a:ea typeface="+mn-ea"/>
                <a:cs typeface="+mn-cs"/>
              </a:rPr>
              <a:t>Class Activity – Guest Speaker</a:t>
            </a:r>
          </a:p>
          <a:p>
            <a:r>
              <a:rPr lang="en-AU" sz="1200" b="0" kern="1200" dirty="0" smtClean="0">
                <a:solidFill>
                  <a:schemeClr val="tx1"/>
                </a:solidFill>
                <a:ea typeface="+mn-ea"/>
                <a:cs typeface="+mn-cs"/>
              </a:rPr>
              <a:t>Trainer arranges for relevant PM to attend and discuss project communication with students.</a:t>
            </a:r>
          </a:p>
          <a:p>
            <a:endParaRPr lang="en-AU" sz="1200" kern="1200" dirty="0" smtClean="0">
              <a:solidFill>
                <a:schemeClr val="tx1"/>
              </a:solidFill>
              <a:ea typeface="+mn-ea"/>
              <a:cs typeface="+mn-cs"/>
            </a:endParaRPr>
          </a:p>
          <a:p>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internal communication stating:</a:t>
            </a:r>
          </a:p>
          <a:p>
            <a:pPr>
              <a:buFont typeface="Arial" pitchFamily="34" charset="0"/>
              <a:buChar char="•"/>
            </a:pPr>
            <a:r>
              <a:rPr lang="en-AU" sz="1200" kern="1200" dirty="0" smtClean="0">
                <a:solidFill>
                  <a:schemeClr val="tx1"/>
                </a:solidFill>
                <a:ea typeface="+mn-ea"/>
                <a:cs typeface="+mn-cs"/>
              </a:rPr>
              <a:t> Internal communication refers to communications which will occur within the venue.</a:t>
            </a:r>
          </a:p>
          <a:p>
            <a:pPr>
              <a:buFont typeface="Arial" pitchFamily="34" charset="0"/>
              <a:buChar char="•"/>
            </a:pPr>
            <a:r>
              <a:rPr lang="en-AU" sz="1200" kern="1200" dirty="0" smtClean="0">
                <a:solidFill>
                  <a:schemeClr val="tx1"/>
                </a:solidFill>
                <a:ea typeface="+mn-ea"/>
                <a:cs typeface="+mn-cs"/>
              </a:rPr>
              <a:t> This is communication from you to your project team and administrative structure, and from others working in the business to you and/or members of your project team and administrative structure.</a:t>
            </a:r>
          </a:p>
          <a:p>
            <a:pPr>
              <a:buFont typeface="Arial" pitchFamily="34" charset="0"/>
              <a:buChar char="•"/>
            </a:pPr>
            <a:r>
              <a:rPr lang="en-AU" sz="1200" kern="1200" dirty="0" smtClean="0">
                <a:solidFill>
                  <a:schemeClr val="tx1"/>
                </a:solidFill>
                <a:ea typeface="+mn-ea"/>
                <a:cs typeface="+mn-cs"/>
              </a:rPr>
              <a:t> The planning process should determine:</a:t>
            </a:r>
          </a:p>
          <a:p>
            <a:pPr lvl="1">
              <a:buFont typeface="Arial" pitchFamily="34" charset="0"/>
              <a:buChar char="•"/>
            </a:pPr>
            <a:r>
              <a:rPr lang="en-AU" sz="1200" kern="1200" dirty="0" smtClean="0">
                <a:solidFill>
                  <a:schemeClr val="tx1"/>
                </a:solidFill>
                <a:ea typeface="+mn-ea"/>
                <a:cs typeface="+mn-cs"/>
              </a:rPr>
              <a:t> How communication will occur</a:t>
            </a:r>
          </a:p>
          <a:p>
            <a:pPr lvl="1">
              <a:buFont typeface="Arial" pitchFamily="34" charset="0"/>
              <a:buChar char="•"/>
            </a:pPr>
            <a:r>
              <a:rPr lang="en-AU" sz="1200" kern="1200" dirty="0" smtClean="0">
                <a:solidFill>
                  <a:schemeClr val="tx1"/>
                </a:solidFill>
                <a:ea typeface="+mn-ea"/>
                <a:cs typeface="+mn-cs"/>
              </a:rPr>
              <a:t> Frequency of communication</a:t>
            </a:r>
          </a:p>
          <a:p>
            <a:pPr lvl="1">
              <a:buFont typeface="Arial" pitchFamily="34" charset="0"/>
              <a:buChar char="•"/>
            </a:pPr>
            <a:r>
              <a:rPr lang="en-AU" sz="1200" kern="1200" dirty="0" smtClean="0">
                <a:solidFill>
                  <a:schemeClr val="tx1"/>
                </a:solidFill>
                <a:ea typeface="+mn-ea"/>
                <a:cs typeface="+mn-cs"/>
              </a:rPr>
              <a:t> Dates for reports to be published</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discussing internal communication identifying  what should be determined:</a:t>
            </a:r>
          </a:p>
          <a:p>
            <a:pPr>
              <a:buFont typeface="Arial" pitchFamily="34" charset="0"/>
              <a:buChar char="•"/>
            </a:pPr>
            <a:r>
              <a:rPr lang="en-AU" sz="1200" kern="1200" dirty="0" smtClean="0">
                <a:solidFill>
                  <a:schemeClr val="tx1"/>
                </a:solidFill>
                <a:ea typeface="+mn-ea"/>
                <a:cs typeface="+mn-cs"/>
              </a:rPr>
              <a:t> Topics for communication</a:t>
            </a:r>
          </a:p>
          <a:p>
            <a:pPr>
              <a:buFont typeface="Arial" pitchFamily="34" charset="0"/>
              <a:buChar char="•"/>
            </a:pPr>
            <a:r>
              <a:rPr lang="en-AU" sz="1200" kern="1200" dirty="0" smtClean="0">
                <a:solidFill>
                  <a:schemeClr val="tx1"/>
                </a:solidFill>
                <a:ea typeface="+mn-ea"/>
                <a:cs typeface="+mn-cs"/>
              </a:rPr>
              <a:t> Communication protocols</a:t>
            </a:r>
          </a:p>
          <a:p>
            <a:pPr>
              <a:buFont typeface="Arial" pitchFamily="34" charset="0"/>
              <a:buChar char="•"/>
            </a:pPr>
            <a:r>
              <a:rPr lang="en-AU" sz="1200" kern="1200" dirty="0" smtClean="0">
                <a:solidFill>
                  <a:schemeClr val="tx1"/>
                </a:solidFill>
                <a:ea typeface="+mn-ea"/>
                <a:cs typeface="+mn-cs"/>
              </a:rPr>
              <a:t> Formats for written communication</a:t>
            </a:r>
          </a:p>
          <a:p>
            <a:pPr>
              <a:buFont typeface="Arial" pitchFamily="34" charset="0"/>
              <a:buChar char="•"/>
            </a:pPr>
            <a:r>
              <a:rPr lang="en-AU" sz="1200" kern="1200" dirty="0" smtClean="0">
                <a:solidFill>
                  <a:schemeClr val="tx1"/>
                </a:solidFill>
                <a:ea typeface="+mn-ea"/>
                <a:cs typeface="+mn-cs"/>
              </a:rPr>
              <a:t> Filing requirements for all communications</a:t>
            </a:r>
          </a:p>
          <a:p>
            <a:pPr>
              <a:buFont typeface="Arial" pitchFamily="34" charset="0"/>
              <a:buChar char="•"/>
            </a:pPr>
            <a:r>
              <a:rPr lang="en-AU" sz="1200" kern="1200" dirty="0" smtClean="0">
                <a:solidFill>
                  <a:schemeClr val="tx1"/>
                </a:solidFill>
                <a:ea typeface="+mn-ea"/>
                <a:cs typeface="+mn-cs"/>
              </a:rPr>
              <a:t> Development of internal Distribution List.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states:</a:t>
            </a:r>
          </a:p>
          <a:p>
            <a:pPr>
              <a:buFont typeface="Arial" pitchFamily="34" charset="0"/>
              <a:buChar char="•"/>
            </a:pPr>
            <a:r>
              <a:rPr lang="en-AU" sz="1200" kern="1200" dirty="0" smtClean="0">
                <a:solidFill>
                  <a:schemeClr val="tx1"/>
                </a:solidFill>
                <a:ea typeface="+mn-ea"/>
                <a:cs typeface="+mn-cs"/>
              </a:rPr>
              <a:t> External communication refers to communications which occurs between you and those outside the business.</a:t>
            </a:r>
          </a:p>
          <a:p>
            <a:pPr>
              <a:buFont typeface="Arial" pitchFamily="34" charset="0"/>
              <a:buChar char="•"/>
            </a:pPr>
            <a:r>
              <a:rPr lang="en-AU" sz="1200" kern="1200" dirty="0" smtClean="0">
                <a:solidFill>
                  <a:schemeClr val="tx1"/>
                </a:solidFill>
                <a:ea typeface="+mn-ea"/>
                <a:cs typeface="+mn-cs"/>
              </a:rPr>
              <a:t> External communication may be required with:</a:t>
            </a:r>
          </a:p>
          <a:p>
            <a:pPr lvl="1">
              <a:buFont typeface="Arial" pitchFamily="34" charset="0"/>
              <a:buChar char="•"/>
            </a:pPr>
            <a:r>
              <a:rPr lang="en-AU" sz="1200" kern="1200" dirty="0" smtClean="0">
                <a:solidFill>
                  <a:schemeClr val="tx1"/>
                </a:solidFill>
                <a:ea typeface="+mn-ea"/>
                <a:cs typeface="+mn-cs"/>
              </a:rPr>
              <a:t> Nominated stakeholders as identified on the Distribution List</a:t>
            </a:r>
          </a:p>
          <a:p>
            <a:pPr lvl="1">
              <a:buFont typeface="Arial" pitchFamily="34" charset="0"/>
              <a:buChar char="•"/>
            </a:pPr>
            <a:r>
              <a:rPr lang="en-AU" sz="1200" kern="1200" dirty="0" smtClean="0">
                <a:solidFill>
                  <a:schemeClr val="tx1"/>
                </a:solidFill>
                <a:ea typeface="+mn-ea"/>
                <a:cs typeface="+mn-cs"/>
              </a:rPr>
              <a:t> Government agencies/authorities</a:t>
            </a:r>
          </a:p>
          <a:p>
            <a:pPr lvl="1">
              <a:buFont typeface="Arial" pitchFamily="34" charset="0"/>
              <a:buChar char="•"/>
            </a:pPr>
            <a:r>
              <a:rPr lang="en-AU" sz="1200" kern="1200" dirty="0" smtClean="0">
                <a:solidFill>
                  <a:schemeClr val="tx1"/>
                </a:solidFill>
                <a:ea typeface="+mn-ea"/>
                <a:cs typeface="+mn-cs"/>
              </a:rPr>
              <a:t> The media</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targets for external communication:</a:t>
            </a:r>
          </a:p>
          <a:p>
            <a:pPr>
              <a:buFont typeface="Arial" pitchFamily="34" charset="0"/>
              <a:buChar char="•"/>
            </a:pPr>
            <a:r>
              <a:rPr lang="en-AU" sz="1200" kern="1200" dirty="0" smtClean="0">
                <a:solidFill>
                  <a:schemeClr val="tx1"/>
                </a:solidFill>
                <a:ea typeface="+mn-ea"/>
                <a:cs typeface="+mn-cs"/>
              </a:rPr>
              <a:t> Nominated target markets as a whole, or specific (high-value/VIP customers) from within each target market</a:t>
            </a:r>
          </a:p>
          <a:p>
            <a:pPr>
              <a:buFont typeface="Arial" pitchFamily="34" charset="0"/>
              <a:buChar char="•"/>
            </a:pPr>
            <a:r>
              <a:rPr lang="en-AU" sz="1200" kern="1200" dirty="0" smtClean="0">
                <a:solidFill>
                  <a:schemeClr val="tx1"/>
                </a:solidFill>
                <a:ea typeface="+mn-ea"/>
                <a:cs typeface="+mn-cs"/>
              </a:rPr>
              <a:t> Local residents/the local neighbourhood</a:t>
            </a:r>
          </a:p>
          <a:p>
            <a:pPr>
              <a:buFont typeface="Arial" pitchFamily="34" charset="0"/>
              <a:buChar char="•"/>
            </a:pPr>
            <a:r>
              <a:rPr lang="en-AU" sz="1200" kern="1200" dirty="0" smtClean="0">
                <a:solidFill>
                  <a:schemeClr val="tx1"/>
                </a:solidFill>
                <a:ea typeface="+mn-ea"/>
                <a:cs typeface="+mn-cs"/>
              </a:rPr>
              <a:t> Suppliers and providers</a:t>
            </a:r>
          </a:p>
          <a:p>
            <a:pPr>
              <a:buFont typeface="Arial" pitchFamily="34" charset="0"/>
              <a:buChar char="•"/>
            </a:pPr>
            <a:r>
              <a:rPr lang="en-AU" sz="1200" kern="1200" dirty="0" smtClean="0">
                <a:solidFill>
                  <a:schemeClr val="tx1"/>
                </a:solidFill>
                <a:ea typeface="+mn-ea"/>
                <a:cs typeface="+mn-cs"/>
              </a:rPr>
              <a:t> Consultants for the project</a:t>
            </a:r>
          </a:p>
          <a:p>
            <a:pPr>
              <a:buFont typeface="Arial" pitchFamily="34" charset="0"/>
              <a:buChar char="•"/>
            </a:pPr>
            <a:r>
              <a:rPr lang="en-AU" sz="1200" kern="1200" dirty="0" smtClean="0">
                <a:solidFill>
                  <a:schemeClr val="tx1"/>
                </a:solidFill>
                <a:ea typeface="+mn-ea"/>
                <a:cs typeface="+mn-cs"/>
              </a:rPr>
              <a:t> Contractors engaged for the project.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the </a:t>
            </a:r>
            <a:r>
              <a:rPr lang="en-AU" sz="1200" kern="1200" dirty="0" smtClean="0">
                <a:solidFill>
                  <a:schemeClr val="tx1"/>
                </a:solidFill>
                <a:ea typeface="+mn-ea"/>
                <a:cs typeface="+mn-cs"/>
              </a:rPr>
              <a:t>planning process for communication should address the topics already listed for ‘internal communication’ plus:</a:t>
            </a:r>
          </a:p>
          <a:p>
            <a:pPr>
              <a:buFont typeface="Arial" pitchFamily="34" charset="0"/>
              <a:buChar char="•"/>
            </a:pPr>
            <a:r>
              <a:rPr lang="en-AU" sz="1200" kern="1200" dirty="0" smtClean="0">
                <a:solidFill>
                  <a:schemeClr val="tx1"/>
                </a:solidFill>
                <a:ea typeface="+mn-ea"/>
                <a:cs typeface="+mn-cs"/>
              </a:rPr>
              <a:t> Nomination of one person to be responsible for distributing the communications</a:t>
            </a:r>
          </a:p>
          <a:p>
            <a:pPr>
              <a:buFont typeface="Arial" pitchFamily="34" charset="0"/>
              <a:buChar char="•"/>
            </a:pPr>
            <a:r>
              <a:rPr lang="en-AU" sz="1200" kern="1200" dirty="0" smtClean="0">
                <a:solidFill>
                  <a:schemeClr val="tx1"/>
                </a:solidFill>
                <a:ea typeface="+mn-ea"/>
                <a:cs typeface="+mn-cs"/>
              </a:rPr>
              <a:t> Nomination of one person to be responsible  as the ‘contact point’ for external enquiries</a:t>
            </a:r>
          </a:p>
          <a:p>
            <a:pPr>
              <a:buFont typeface="Arial" pitchFamily="34" charset="0"/>
              <a:buChar char="•"/>
            </a:pPr>
            <a:r>
              <a:rPr lang="en-AU" sz="1200" kern="1200" dirty="0" smtClean="0">
                <a:solidFill>
                  <a:schemeClr val="tx1"/>
                </a:solidFill>
                <a:ea typeface="+mn-ea"/>
                <a:cs typeface="+mn-cs"/>
              </a:rPr>
              <a:t> Budget </a:t>
            </a:r>
          </a:p>
          <a:p>
            <a:pPr>
              <a:buFont typeface="Arial" pitchFamily="34" charset="0"/>
              <a:buChar char="•"/>
            </a:pPr>
            <a:r>
              <a:rPr lang="en-AU" sz="1200" kern="1200" dirty="0" smtClean="0">
                <a:solidFill>
                  <a:schemeClr val="tx1"/>
                </a:solidFill>
                <a:ea typeface="+mn-ea"/>
                <a:cs typeface="+mn-cs"/>
              </a:rPr>
              <a:t> Names of media to be used</a:t>
            </a:r>
          </a:p>
          <a:p>
            <a:pPr>
              <a:buFont typeface="Arial" pitchFamily="34" charset="0"/>
              <a:buChar char="•"/>
            </a:pPr>
            <a:r>
              <a:rPr lang="en-AU" sz="1200" kern="1200" dirty="0" smtClean="0">
                <a:solidFill>
                  <a:schemeClr val="tx1"/>
                </a:solidFill>
                <a:ea typeface="+mn-ea"/>
                <a:cs typeface="+mn-cs"/>
              </a:rPr>
              <a:t> Host venue events/occasions where those on the external Distribution List will be invited to the venue.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PR strategy for projects stating:</a:t>
            </a:r>
          </a:p>
          <a:p>
            <a:pPr>
              <a:buFont typeface="Arial" pitchFamily="34" charset="0"/>
              <a:buChar char="•"/>
            </a:pPr>
            <a:r>
              <a:rPr lang="en-AU" sz="1200" kern="1200" dirty="0" smtClean="0">
                <a:solidFill>
                  <a:schemeClr val="tx1"/>
                </a:solidFill>
                <a:ea typeface="+mn-ea"/>
                <a:cs typeface="+mn-cs"/>
              </a:rPr>
              <a:t> Public relations is the relationship that exists between the venue and its different ‘publics’: these publics may be the media, government authorities, suppliers, local neighbourhood community and all the different target markets the venue has.</a:t>
            </a:r>
          </a:p>
          <a:p>
            <a:pPr>
              <a:buFont typeface="Arial" pitchFamily="34" charset="0"/>
              <a:buChar char="•"/>
            </a:pPr>
            <a:r>
              <a:rPr lang="en-AU" sz="1200" kern="1200" dirty="0" smtClean="0">
                <a:solidFill>
                  <a:schemeClr val="tx1"/>
                </a:solidFill>
                <a:ea typeface="+mn-ea"/>
                <a:cs typeface="+mn-cs"/>
              </a:rPr>
              <a:t> The intention is to generate good public perceptions of the venue and for the project.</a:t>
            </a:r>
          </a:p>
          <a:p>
            <a:pPr>
              <a:buFont typeface="Arial" pitchFamily="34" charset="0"/>
              <a:buChar char="•"/>
            </a:pPr>
            <a:r>
              <a:rPr lang="en-AU" sz="1200" kern="1200" dirty="0" smtClean="0">
                <a:solidFill>
                  <a:schemeClr val="tx1"/>
                </a:solidFill>
                <a:ea typeface="+mn-ea"/>
                <a:cs typeface="+mn-cs"/>
              </a:rPr>
              <a:t> The PR strategy will identify how you intend achieving the goals you have set for PR in relation to the project.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possible goals for PR strategy:</a:t>
            </a:r>
          </a:p>
          <a:p>
            <a:pPr>
              <a:buFont typeface="Arial" pitchFamily="34" charset="0"/>
              <a:buChar char="•"/>
            </a:pPr>
            <a:r>
              <a:rPr lang="en-AU" sz="1200" kern="1200" dirty="0" smtClean="0">
                <a:solidFill>
                  <a:schemeClr val="tx1"/>
                </a:solidFill>
                <a:ea typeface="+mn-ea"/>
                <a:cs typeface="+mn-cs"/>
              </a:rPr>
              <a:t> Providing identified people and organisations/bodies with information.</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can be in relation to:</a:t>
            </a:r>
          </a:p>
          <a:p>
            <a:pPr lvl="1">
              <a:buFont typeface="Arial" pitchFamily="34" charset="0"/>
              <a:buChar char="•"/>
            </a:pPr>
            <a:r>
              <a:rPr lang="en-AU" sz="1200" kern="1200" dirty="0" smtClean="0">
                <a:solidFill>
                  <a:schemeClr val="tx1"/>
                </a:solidFill>
                <a:ea typeface="+mn-ea"/>
                <a:cs typeface="+mn-cs"/>
              </a:rPr>
              <a:t> A series of information releases</a:t>
            </a:r>
          </a:p>
          <a:p>
            <a:pPr lvl="1">
              <a:buFont typeface="Arial" pitchFamily="34" charset="0"/>
              <a:buChar char="•"/>
            </a:pPr>
            <a:r>
              <a:rPr lang="en-AU" sz="1200" kern="1200" dirty="0" smtClean="0">
                <a:solidFill>
                  <a:schemeClr val="tx1"/>
                </a:solidFill>
                <a:ea typeface="+mn-ea"/>
                <a:cs typeface="+mn-cs"/>
              </a:rPr>
              <a:t> Specific information ‘points’ throughout the project such as start of the project, achievement of milestones, project completion</a:t>
            </a:r>
          </a:p>
          <a:p>
            <a:pPr>
              <a:buFont typeface="Arial" pitchFamily="34" charset="0"/>
              <a:buChar char="•"/>
            </a:pPr>
            <a:r>
              <a:rPr lang="en-AU" sz="1200" kern="1200" dirty="0" smtClean="0">
                <a:solidFill>
                  <a:schemeClr val="tx1"/>
                </a:solidFill>
                <a:ea typeface="+mn-ea"/>
                <a:cs typeface="+mn-cs"/>
              </a:rPr>
              <a:t> Liaising and interacting with nominated groups or individuals by way of (for example): </a:t>
            </a:r>
          </a:p>
          <a:p>
            <a:pPr lvl="1">
              <a:buFont typeface="Arial" pitchFamily="34" charset="0"/>
              <a:buChar char="•"/>
            </a:pPr>
            <a:r>
              <a:rPr lang="en-AU" sz="1200" kern="1200" dirty="0" smtClean="0">
                <a:solidFill>
                  <a:schemeClr val="tx1"/>
                </a:solidFill>
                <a:ea typeface="+mn-ea"/>
                <a:cs typeface="+mn-cs"/>
              </a:rPr>
              <a:t> Meetings and consultations</a:t>
            </a:r>
          </a:p>
          <a:p>
            <a:pPr lvl="1">
              <a:buFont typeface="Arial" pitchFamily="34" charset="0"/>
              <a:buChar char="•"/>
            </a:pPr>
            <a:r>
              <a:rPr lang="en-AU" sz="1200" kern="1200" dirty="0" smtClean="0">
                <a:solidFill>
                  <a:schemeClr val="tx1"/>
                </a:solidFill>
                <a:ea typeface="+mn-ea"/>
                <a:cs typeface="+mn-cs"/>
              </a:rPr>
              <a:t> Feedback sessions</a:t>
            </a:r>
          </a:p>
          <a:p>
            <a:pPr lvl="1">
              <a:buFont typeface="Arial" pitchFamily="34" charset="0"/>
              <a:buChar char="•"/>
            </a:pPr>
            <a:r>
              <a:rPr lang="en-AU" sz="1200" kern="1200" dirty="0" smtClean="0">
                <a:solidFill>
                  <a:schemeClr val="tx1"/>
                </a:solidFill>
                <a:ea typeface="+mn-ea"/>
                <a:cs typeface="+mn-cs"/>
              </a:rPr>
              <a:t> Visits/guided tours of the venue/project</a:t>
            </a:r>
          </a:p>
          <a:p>
            <a:pPr lvl="1">
              <a:buFont typeface="Arial" pitchFamily="34" charset="0"/>
              <a:buChar char="•"/>
            </a:pPr>
            <a:r>
              <a:rPr lang="en-AU" sz="1200" kern="1200" dirty="0" smtClean="0">
                <a:solidFill>
                  <a:schemeClr val="tx1"/>
                </a:solidFill>
                <a:ea typeface="+mn-ea"/>
                <a:cs typeface="+mn-cs"/>
              </a:rPr>
              <a:t> Developing and publishing reports</a:t>
            </a:r>
          </a:p>
          <a:p>
            <a:pPr>
              <a:buFont typeface="Arial" pitchFamily="34" charset="0"/>
              <a:buChar char="•"/>
            </a:pPr>
            <a:r>
              <a:rPr lang="en-AU" sz="1200" kern="1200" dirty="0" smtClean="0">
                <a:solidFill>
                  <a:schemeClr val="tx1"/>
                </a:solidFill>
                <a:ea typeface="+mn-ea"/>
                <a:cs typeface="+mn-cs"/>
              </a:rPr>
              <a:t> Responding to their questions, concerns and complaints in a variety of ways:</a:t>
            </a:r>
          </a:p>
          <a:p>
            <a:pPr lvl="1">
              <a:buFont typeface="Arial" pitchFamily="34" charset="0"/>
              <a:buChar char="•"/>
            </a:pPr>
            <a:r>
              <a:rPr lang="en-AU" sz="1200" kern="1200" dirty="0" smtClean="0">
                <a:solidFill>
                  <a:schemeClr val="tx1"/>
                </a:solidFill>
                <a:ea typeface="+mn-ea"/>
                <a:cs typeface="+mn-cs"/>
              </a:rPr>
              <a:t> Email</a:t>
            </a:r>
          </a:p>
          <a:p>
            <a:pPr lvl="1">
              <a:buFont typeface="Arial" pitchFamily="34" charset="0"/>
              <a:buChar char="•"/>
            </a:pPr>
            <a:r>
              <a:rPr lang="en-AU" sz="1200" kern="1200" dirty="0" smtClean="0">
                <a:solidFill>
                  <a:schemeClr val="tx1"/>
                </a:solidFill>
                <a:ea typeface="+mn-ea"/>
                <a:cs typeface="+mn-cs"/>
              </a:rPr>
              <a:t> Telephone</a:t>
            </a:r>
          </a:p>
          <a:p>
            <a:pPr lvl="1">
              <a:buFont typeface="Arial" pitchFamily="34" charset="0"/>
              <a:buChar char="•"/>
            </a:pPr>
            <a:r>
              <a:rPr lang="en-AU" sz="1200" kern="1200" dirty="0" smtClean="0">
                <a:solidFill>
                  <a:schemeClr val="tx1"/>
                </a:solidFill>
                <a:ea typeface="+mn-ea"/>
                <a:cs typeface="+mn-cs"/>
              </a:rPr>
              <a:t> Meetings</a:t>
            </a:r>
          </a:p>
          <a:p>
            <a:pPr lvl="1">
              <a:buFont typeface="Arial" pitchFamily="34" charset="0"/>
              <a:buChar char="•"/>
            </a:pPr>
            <a:r>
              <a:rPr lang="en-AU" sz="1200" kern="1200" dirty="0" smtClean="0">
                <a:solidFill>
                  <a:schemeClr val="tx1"/>
                </a:solidFill>
                <a:ea typeface="+mn-ea"/>
                <a:cs typeface="+mn-cs"/>
              </a:rPr>
              <a:t> Provision of information</a:t>
            </a:r>
          </a:p>
          <a:p>
            <a:pPr>
              <a:buFont typeface="Arial" pitchFamily="34" charset="0"/>
              <a:buChar char="•"/>
            </a:pPr>
            <a:r>
              <a:rPr lang="en-AU" sz="1200" kern="1200" dirty="0" smtClean="0">
                <a:solidFill>
                  <a:schemeClr val="tx1"/>
                </a:solidFill>
                <a:ea typeface="+mn-ea"/>
                <a:cs typeface="+mn-cs"/>
              </a:rPr>
              <a:t> Involving them in what is happening through regular contact, mail-outs, meetings, press/media releases.</a:t>
            </a:r>
          </a:p>
          <a:p>
            <a:pPr>
              <a:buFont typeface="Arial" pitchFamily="34" charset="0"/>
              <a:buNone/>
            </a:pPr>
            <a:endParaRPr lang="en-US" dirty="0" smtClean="0"/>
          </a:p>
          <a:p>
            <a:r>
              <a:rPr lang="en-AU" sz="1200" b="1" kern="1200" dirty="0" smtClean="0">
                <a:solidFill>
                  <a:schemeClr val="tx1"/>
                </a:solidFill>
                <a:ea typeface="+mn-ea"/>
                <a:cs typeface="+mn-cs"/>
              </a:rPr>
              <a:t>Class Activity – Guest Speaker</a:t>
            </a:r>
          </a:p>
          <a:p>
            <a:r>
              <a:rPr lang="en-AU" sz="1200" b="0" kern="1200" dirty="0" smtClean="0">
                <a:solidFill>
                  <a:schemeClr val="tx1"/>
                </a:solidFill>
                <a:ea typeface="+mn-ea"/>
                <a:cs typeface="+mn-cs"/>
              </a:rPr>
              <a:t>Trainer arranges for relevant PM to attend and discuss PR strategies for projects with students.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identifies planning for </a:t>
            </a:r>
            <a:r>
              <a:rPr lang="en-AU" sz="1200" kern="1200" dirty="0" smtClean="0">
                <a:solidFill>
                  <a:schemeClr val="tx1"/>
                </a:solidFill>
                <a:ea typeface="+mn-ea"/>
                <a:cs typeface="+mn-cs"/>
              </a:rPr>
              <a:t>PR strategy:</a:t>
            </a:r>
          </a:p>
          <a:p>
            <a:pPr>
              <a:buFont typeface="Arial" pitchFamily="34" charset="0"/>
              <a:buChar char="•"/>
            </a:pPr>
            <a:r>
              <a:rPr lang="en-AU" sz="1200" kern="1200" dirty="0" smtClean="0">
                <a:solidFill>
                  <a:schemeClr val="tx1"/>
                </a:solidFill>
                <a:ea typeface="+mn-ea"/>
                <a:cs typeface="+mn-cs"/>
              </a:rPr>
              <a:t> Identify who you want to influence/communicate with</a:t>
            </a:r>
          </a:p>
          <a:p>
            <a:pPr>
              <a:buFont typeface="Arial" pitchFamily="34" charset="0"/>
              <a:buChar char="•"/>
            </a:pPr>
            <a:r>
              <a:rPr lang="en-AU" sz="1200" kern="1200" dirty="0" smtClean="0">
                <a:solidFill>
                  <a:schemeClr val="tx1"/>
                </a:solidFill>
                <a:ea typeface="+mn-ea"/>
                <a:cs typeface="+mn-cs"/>
              </a:rPr>
              <a:t> Construct a database of their contact details</a:t>
            </a:r>
          </a:p>
          <a:p>
            <a:pPr>
              <a:buFont typeface="Arial" pitchFamily="34" charset="0"/>
              <a:buChar char="•"/>
            </a:pPr>
            <a:r>
              <a:rPr lang="en-AU" sz="1200" kern="1200" dirty="0" smtClean="0">
                <a:solidFill>
                  <a:schemeClr val="tx1"/>
                </a:solidFill>
                <a:ea typeface="+mn-ea"/>
                <a:cs typeface="+mn-cs"/>
              </a:rPr>
              <a:t> Define the objectives you want to achieve</a:t>
            </a:r>
          </a:p>
          <a:p>
            <a:pPr>
              <a:buFont typeface="Arial" pitchFamily="34" charset="0"/>
              <a:buChar char="•"/>
            </a:pPr>
            <a:r>
              <a:rPr lang="en-AU" sz="1200" kern="1200" dirty="0" smtClean="0">
                <a:solidFill>
                  <a:schemeClr val="tx1"/>
                </a:solidFill>
                <a:ea typeface="+mn-ea"/>
                <a:cs typeface="+mn-cs"/>
              </a:rPr>
              <a:t> Determine the media to be used</a:t>
            </a:r>
          </a:p>
          <a:p>
            <a:pPr>
              <a:buFont typeface="Arial" pitchFamily="34" charset="0"/>
              <a:buChar char="•"/>
            </a:pPr>
            <a:r>
              <a:rPr lang="en-AU" sz="1200" kern="1200" dirty="0" smtClean="0">
                <a:solidFill>
                  <a:schemeClr val="tx1"/>
                </a:solidFill>
                <a:ea typeface="+mn-ea"/>
                <a:cs typeface="+mn-cs"/>
              </a:rPr>
              <a:t> Prepare and distribute media releases and/or project kits for the media</a:t>
            </a:r>
          </a:p>
          <a:p>
            <a:pPr>
              <a:buFont typeface="Arial" pitchFamily="34" charset="0"/>
              <a:buChar char="•"/>
            </a:pPr>
            <a:r>
              <a:rPr lang="en-AU" sz="1200" kern="1200" dirty="0" smtClean="0">
                <a:solidFill>
                  <a:schemeClr val="tx1"/>
                </a:solidFill>
                <a:ea typeface="+mn-ea"/>
                <a:cs typeface="+mn-cs"/>
              </a:rPr>
              <a:t> Plan media interviews and visits to the venue</a:t>
            </a:r>
          </a:p>
          <a:p>
            <a:pPr>
              <a:buFont typeface="Arial" pitchFamily="34" charset="0"/>
              <a:buChar char="•"/>
            </a:pPr>
            <a:r>
              <a:rPr lang="en-AU" sz="1200" kern="1200" dirty="0" smtClean="0">
                <a:solidFill>
                  <a:schemeClr val="tx1"/>
                </a:solidFill>
                <a:ea typeface="+mn-ea"/>
                <a:cs typeface="+mn-cs"/>
              </a:rPr>
              <a:t> Work out how you will track/monitor media and public responses to your project. </a:t>
            </a:r>
          </a:p>
          <a:p>
            <a:pPr>
              <a:buFont typeface="Arial" pitchFamily="34" charset="0"/>
              <a:buNone/>
            </a:pPr>
            <a:endParaRPr lang="en-AU" sz="1200" kern="1200" dirty="0" smtClean="0">
              <a:solidFill>
                <a:schemeClr val="tx1"/>
              </a:solidFill>
              <a:ea typeface="+mn-ea"/>
              <a:cs typeface="+mn-cs"/>
            </a:endParaRPr>
          </a:p>
          <a:p>
            <a:pPr>
              <a:buFont typeface="Arial" pitchFamily="34" charset="0"/>
              <a:buNone/>
            </a:pPr>
            <a:r>
              <a:rPr lang="en-AU" sz="1200" b="1" kern="1200" dirty="0" smtClean="0">
                <a:solidFill>
                  <a:schemeClr val="tx1"/>
                </a:solidFill>
                <a:ea typeface="+mn-ea"/>
                <a:cs typeface="+mn-cs"/>
              </a:rPr>
              <a:t>Class Activity – Exercise</a:t>
            </a:r>
          </a:p>
          <a:p>
            <a:pPr>
              <a:buFont typeface="Arial" pitchFamily="34" charset="0"/>
              <a:buNone/>
            </a:pPr>
            <a:r>
              <a:rPr lang="en-AU" sz="1200" b="0" kern="1200" dirty="0" smtClean="0">
                <a:solidFill>
                  <a:schemeClr val="tx1"/>
                </a:solidFill>
                <a:ea typeface="+mn-ea"/>
                <a:cs typeface="+mn-cs"/>
              </a:rPr>
              <a:t>Trainer identifies a project and asks students to</a:t>
            </a:r>
            <a:r>
              <a:rPr lang="en-AU" sz="1200" b="0" kern="1200" baseline="0" dirty="0" smtClean="0">
                <a:solidFill>
                  <a:schemeClr val="tx1"/>
                </a:solidFill>
                <a:ea typeface="+mn-ea"/>
                <a:cs typeface="+mn-cs"/>
              </a:rPr>
              <a:t> prepare media release for the project.</a:t>
            </a:r>
            <a:endParaRPr lang="en-AU" sz="1200" b="0" kern="1200" dirty="0" smtClean="0">
              <a:solidFill>
                <a:schemeClr val="tx1"/>
              </a:solidFill>
              <a:ea typeface="+mn-ea"/>
              <a:cs typeface="+mn-cs"/>
            </a:endParaRPr>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marketing strategy for projects:</a:t>
            </a:r>
          </a:p>
          <a:p>
            <a:pPr>
              <a:buFont typeface="Arial" pitchFamily="34" charset="0"/>
              <a:buChar char="•"/>
            </a:pPr>
            <a:r>
              <a:rPr lang="en-AU" sz="1200" kern="1200" dirty="0" smtClean="0">
                <a:solidFill>
                  <a:schemeClr val="tx1"/>
                </a:solidFill>
                <a:ea typeface="+mn-ea"/>
                <a:cs typeface="+mn-cs"/>
              </a:rPr>
              <a:t> Marketing may be seen as the activities undertaken by the venue to promote and sell the products and services it provides.</a:t>
            </a:r>
          </a:p>
          <a:p>
            <a:pPr>
              <a:buFont typeface="Arial" pitchFamily="34" charset="0"/>
              <a:buChar char="•"/>
            </a:pPr>
            <a:r>
              <a:rPr lang="en-AU" sz="1200" kern="1200" dirty="0" smtClean="0">
                <a:solidFill>
                  <a:schemeClr val="tx1"/>
                </a:solidFill>
                <a:ea typeface="+mn-ea"/>
                <a:cs typeface="+mn-cs"/>
              </a:rPr>
              <a:t> Marketing also embraces a range of market research and analysis activities.</a:t>
            </a:r>
          </a:p>
          <a:p>
            <a:pPr>
              <a:buFont typeface="Arial" pitchFamily="34" charset="0"/>
              <a:buChar char="•"/>
            </a:pPr>
            <a:r>
              <a:rPr lang="en-AU" sz="1200" kern="1200" dirty="0" smtClean="0">
                <a:solidFill>
                  <a:schemeClr val="tx1"/>
                </a:solidFill>
                <a:ea typeface="+mn-ea"/>
                <a:cs typeface="+mn-cs"/>
              </a:rPr>
              <a:t> In this context (for small projects) a marketing strategy will usually emphasise ‘promotion’ rather than ‘sales’.</a:t>
            </a:r>
          </a:p>
          <a:p>
            <a:pPr>
              <a:buFont typeface="Arial" pitchFamily="34" charset="0"/>
              <a:buChar char="•"/>
            </a:pPr>
            <a:r>
              <a:rPr lang="en-AU" sz="1200" kern="1200" dirty="0" smtClean="0">
                <a:solidFill>
                  <a:schemeClr val="tx1"/>
                </a:solidFill>
                <a:ea typeface="+mn-ea"/>
                <a:cs typeface="+mn-cs"/>
              </a:rPr>
              <a:t> A marketing strategy supports/underpins attainment of the marketing plan/s of the venue.</a:t>
            </a:r>
          </a:p>
          <a:p>
            <a:pPr>
              <a:buFont typeface="Arial" pitchFamily="34" charset="0"/>
              <a:buChar char="•"/>
            </a:pPr>
            <a:endParaRPr lang="en-AU" sz="1200" kern="1200" dirty="0" smtClean="0">
              <a:solidFill>
                <a:schemeClr val="tx1"/>
              </a:solidFill>
              <a:ea typeface="+mn-ea"/>
              <a:cs typeface="+mn-cs"/>
            </a:endParaRPr>
          </a:p>
          <a:p>
            <a:pPr>
              <a:buFont typeface="Arial" pitchFamily="34" charset="0"/>
              <a:buNone/>
            </a:pPr>
            <a:r>
              <a:rPr lang="en-AU" sz="1200" b="1" kern="1200" dirty="0" smtClean="0">
                <a:solidFill>
                  <a:schemeClr val="tx1"/>
                </a:solidFill>
                <a:ea typeface="+mn-ea"/>
                <a:cs typeface="+mn-cs"/>
              </a:rPr>
              <a:t>Class Activity – Handouts</a:t>
            </a:r>
          </a:p>
          <a:p>
            <a:pPr>
              <a:buFont typeface="Arial" pitchFamily="34" charset="0"/>
              <a:buNone/>
            </a:pPr>
            <a:r>
              <a:rPr lang="en-AU" sz="1200" b="0" kern="1200" dirty="0" smtClean="0">
                <a:solidFill>
                  <a:schemeClr val="tx1"/>
                </a:solidFill>
                <a:ea typeface="+mn-ea"/>
                <a:cs typeface="+mn-cs"/>
              </a:rPr>
              <a:t>Trainer distributes and discusses examples of:</a:t>
            </a:r>
          </a:p>
          <a:p>
            <a:pPr>
              <a:buFont typeface="Arial" pitchFamily="34" charset="0"/>
              <a:buChar char="•"/>
            </a:pPr>
            <a:r>
              <a:rPr lang="en-AU" sz="1200" b="0" kern="1200" dirty="0" smtClean="0">
                <a:solidFill>
                  <a:schemeClr val="tx1"/>
                </a:solidFill>
                <a:ea typeface="+mn-ea"/>
                <a:cs typeface="+mn-cs"/>
              </a:rPr>
              <a:t> Project communication strategy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ea typeface="+mn-ea"/>
                <a:cs typeface="+mn-cs"/>
              </a:rPr>
              <a:t> Project PR strategy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ea typeface="+mn-ea"/>
                <a:cs typeface="+mn-cs"/>
              </a:rPr>
              <a:t> Project marketing strategy.</a:t>
            </a:r>
          </a:p>
          <a:p>
            <a:pPr>
              <a:buFont typeface="Arial" pitchFamily="34" charset="0"/>
              <a:buChar char="•"/>
            </a:pPr>
            <a:endParaRPr lang="en-AU" sz="1200" b="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a:t>
            </a:r>
            <a:r>
              <a:rPr lang="en-AU" sz="1200" kern="1200" dirty="0" smtClean="0">
                <a:solidFill>
                  <a:schemeClr val="tx1"/>
                </a:solidFill>
                <a:ea typeface="+mn-ea"/>
                <a:cs typeface="+mn-cs"/>
              </a:rPr>
              <a:t>goals for a marketing strategy can include:</a:t>
            </a:r>
          </a:p>
          <a:p>
            <a:pPr>
              <a:buFont typeface="Arial" pitchFamily="34" charset="0"/>
              <a:buChar char="•"/>
            </a:pPr>
            <a:r>
              <a:rPr lang="en-AU" sz="1200" kern="1200" dirty="0" smtClean="0">
                <a:solidFill>
                  <a:schemeClr val="tx1"/>
                </a:solidFill>
                <a:ea typeface="+mn-ea"/>
                <a:cs typeface="+mn-cs"/>
              </a:rPr>
              <a:t> Providing advice and information to clients, funding bodies and stakeholders</a:t>
            </a:r>
          </a:p>
          <a:p>
            <a:pPr>
              <a:buFont typeface="Arial" pitchFamily="34" charset="0"/>
              <a:buChar char="•"/>
            </a:pPr>
            <a:r>
              <a:rPr lang="en-AU" sz="1200" kern="1200" dirty="0" smtClean="0">
                <a:solidFill>
                  <a:schemeClr val="tx1"/>
                </a:solidFill>
                <a:ea typeface="+mn-ea"/>
                <a:cs typeface="+mn-cs"/>
              </a:rPr>
              <a:t> Developing and distributing brochures, fliers and other marketing materials</a:t>
            </a:r>
          </a:p>
          <a:p>
            <a:pPr>
              <a:buFont typeface="Arial" pitchFamily="34" charset="0"/>
              <a:buChar char="•"/>
            </a:pPr>
            <a:r>
              <a:rPr lang="en-AU" sz="1200" kern="1200" dirty="0" smtClean="0">
                <a:solidFill>
                  <a:schemeClr val="tx1"/>
                </a:solidFill>
                <a:ea typeface="+mn-ea"/>
                <a:cs typeface="+mn-cs"/>
              </a:rPr>
              <a:t> Creating and lodging paid advertisements</a:t>
            </a:r>
          </a:p>
          <a:p>
            <a:pPr>
              <a:buFont typeface="Arial" pitchFamily="34" charset="0"/>
              <a:buChar char="•"/>
            </a:pPr>
            <a:r>
              <a:rPr lang="en-AU" sz="1200" kern="1200" dirty="0" smtClean="0">
                <a:solidFill>
                  <a:schemeClr val="tx1"/>
                </a:solidFill>
                <a:ea typeface="+mn-ea"/>
                <a:cs typeface="+mn-cs"/>
              </a:rPr>
              <a:t> Engaging in publicity for the venue/project.</a:t>
            </a:r>
            <a:r>
              <a:rPr lang="en-AU" sz="1200" kern="1200" baseline="0" dirty="0" smtClean="0">
                <a:solidFill>
                  <a:schemeClr val="tx1"/>
                </a:solidFill>
                <a:ea typeface="+mn-ea"/>
                <a:cs typeface="+mn-cs"/>
              </a:rPr>
              <a:t> P</a:t>
            </a:r>
            <a:r>
              <a:rPr lang="en-AU" sz="1200" kern="1200" dirty="0" smtClean="0">
                <a:solidFill>
                  <a:schemeClr val="tx1"/>
                </a:solidFill>
                <a:ea typeface="+mn-ea"/>
                <a:cs typeface="+mn-cs"/>
              </a:rPr>
              <a:t>ublicity is a sub-set of public relations as is advertising which is generally not paid for by the business</a:t>
            </a:r>
          </a:p>
          <a:p>
            <a:pPr>
              <a:buFont typeface="Arial" pitchFamily="34" charset="0"/>
              <a:buChar char="•"/>
            </a:pPr>
            <a:r>
              <a:rPr lang="en-AU" sz="1200" kern="1200" dirty="0" smtClean="0">
                <a:solidFill>
                  <a:schemeClr val="tx1"/>
                </a:solidFill>
                <a:ea typeface="+mn-ea"/>
                <a:cs typeface="+mn-cs"/>
              </a:rPr>
              <a:t> Including project information on the website of the business</a:t>
            </a:r>
          </a:p>
          <a:p>
            <a:pPr>
              <a:buFont typeface="Arial" pitchFamily="34" charset="0"/>
              <a:buChar char="•"/>
            </a:pPr>
            <a:r>
              <a:rPr lang="en-AU" sz="1200" kern="1200" dirty="0" smtClean="0">
                <a:solidFill>
                  <a:schemeClr val="tx1"/>
                </a:solidFill>
                <a:ea typeface="+mn-ea"/>
                <a:cs typeface="+mn-cs"/>
              </a:rPr>
              <a:t> Capturing data from identified groups or individuals relating to the project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a:t>
            </a:r>
            <a:r>
              <a:rPr lang="en-AU" sz="1200" kern="1200" dirty="0" smtClean="0">
                <a:solidFill>
                  <a:schemeClr val="tx1"/>
                </a:solidFill>
                <a:ea typeface="+mn-ea"/>
                <a:cs typeface="+mn-cs"/>
              </a:rPr>
              <a:t>planning tasks for marketing strategy:</a:t>
            </a:r>
          </a:p>
          <a:p>
            <a:pPr>
              <a:buFont typeface="Arial" pitchFamily="34" charset="0"/>
              <a:buChar char="•"/>
            </a:pPr>
            <a:r>
              <a:rPr lang="en-AU" sz="1200" kern="1200" dirty="0" smtClean="0">
                <a:solidFill>
                  <a:schemeClr val="tx1"/>
                </a:solidFill>
                <a:ea typeface="+mn-ea"/>
                <a:cs typeface="+mn-cs"/>
              </a:rPr>
              <a:t> Generate information packs to be sent to stakeholders/nominated persons</a:t>
            </a:r>
          </a:p>
          <a:p>
            <a:pPr>
              <a:buFont typeface="Arial" pitchFamily="34" charset="0"/>
              <a:buChar char="•"/>
            </a:pPr>
            <a:r>
              <a:rPr lang="en-AU" sz="1200" kern="1200" dirty="0" smtClean="0">
                <a:solidFill>
                  <a:schemeClr val="tx1"/>
                </a:solidFill>
                <a:ea typeface="+mn-ea"/>
                <a:cs typeface="+mn-cs"/>
              </a:rPr>
              <a:t> Create the content for brochures and other promotional materials</a:t>
            </a:r>
          </a:p>
          <a:p>
            <a:pPr>
              <a:buFont typeface="Arial" pitchFamily="34" charset="0"/>
              <a:buChar char="•"/>
            </a:pPr>
            <a:r>
              <a:rPr lang="en-AU" sz="1200" kern="1200" dirty="0" smtClean="0">
                <a:solidFill>
                  <a:schemeClr val="tx1"/>
                </a:solidFill>
                <a:ea typeface="+mn-ea"/>
                <a:cs typeface="+mn-cs"/>
              </a:rPr>
              <a:t> Generate a database of those to whom information needs to be communicated</a:t>
            </a:r>
          </a:p>
          <a:p>
            <a:pPr>
              <a:buFont typeface="Arial" pitchFamily="34" charset="0"/>
              <a:buChar char="•"/>
            </a:pPr>
            <a:r>
              <a:rPr lang="en-AU" sz="1200" kern="1200" dirty="0" smtClean="0">
                <a:solidFill>
                  <a:schemeClr val="tx1"/>
                </a:solidFill>
                <a:ea typeface="+mn-ea"/>
                <a:cs typeface="+mn-cs"/>
              </a:rPr>
              <a:t> Determining locations and frequency/schedule of paid advertisements and other unpaid promotional activities</a:t>
            </a:r>
          </a:p>
          <a:p>
            <a:pPr>
              <a:buFont typeface="Arial" pitchFamily="34" charset="0"/>
              <a:buChar char="•"/>
            </a:pPr>
            <a:r>
              <a:rPr lang="en-AU" sz="1200" kern="1200" dirty="0" smtClean="0">
                <a:solidFill>
                  <a:schemeClr val="tx1"/>
                </a:solidFill>
                <a:ea typeface="+mn-ea"/>
                <a:cs typeface="+mn-cs"/>
              </a:rPr>
              <a:t> Confirm your marketing activities integrate with other marketing activities being undertaken by the venue.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explains </a:t>
            </a:r>
            <a:r>
              <a:rPr lang="en-AU" sz="1200" kern="1200" dirty="0" smtClean="0">
                <a:solidFill>
                  <a:schemeClr val="tx1"/>
                </a:solidFill>
                <a:ea typeface="+mn-ea"/>
                <a:cs typeface="+mn-cs"/>
              </a:rPr>
              <a:t>part of the planning process for a project must be consideration of how the project will be evaluated once it has been competed identifying reaching agreement on evaluation methods and associated factors for small projects:</a:t>
            </a:r>
          </a:p>
          <a:p>
            <a:pPr>
              <a:buFont typeface="Arial" pitchFamily="34" charset="0"/>
              <a:buChar char="•"/>
            </a:pPr>
            <a:r>
              <a:rPr lang="en-AU" sz="1200" kern="1200" dirty="0" smtClean="0">
                <a:solidFill>
                  <a:schemeClr val="tx1"/>
                </a:solidFill>
                <a:ea typeface="+mn-ea"/>
                <a:cs typeface="+mn-cs"/>
              </a:rPr>
              <a:t> Be directed about the evaluation to be employed that is, management or a funding body will tell you what is going to apply and you have no say in it.</a:t>
            </a:r>
          </a:p>
          <a:p>
            <a:pPr lvl="1">
              <a:buFont typeface="Arial" pitchFamily="34" charset="0"/>
              <a:buChar char="•"/>
            </a:pPr>
            <a:r>
              <a:rPr lang="en-AU" sz="1200" kern="1200" dirty="0" smtClean="0">
                <a:solidFill>
                  <a:schemeClr val="tx1"/>
                </a:solidFill>
                <a:ea typeface="+mn-ea"/>
                <a:cs typeface="+mn-cs"/>
              </a:rPr>
              <a:t> In this case there is really no sense of ‘reaching agreement’. It is more a matter of making sure you understand what is being imposed on you.</a:t>
            </a:r>
          </a:p>
          <a:p>
            <a:pPr>
              <a:buFont typeface="Arial" pitchFamily="34" charset="0"/>
              <a:buChar char="•"/>
            </a:pPr>
            <a:r>
              <a:rPr lang="en-AU" sz="1200" kern="1200" dirty="0" smtClean="0">
                <a:solidFill>
                  <a:schemeClr val="tx1"/>
                </a:solidFill>
                <a:ea typeface="+mn-ea"/>
                <a:cs typeface="+mn-cs"/>
              </a:rPr>
              <a:t> Speak to relevant stakeholders at a meeting/workshop or series of these and:</a:t>
            </a:r>
          </a:p>
          <a:p>
            <a:pPr lvl="1">
              <a:buFont typeface="Arial" pitchFamily="34" charset="0"/>
              <a:buChar char="•"/>
            </a:pPr>
            <a:r>
              <a:rPr lang="en-AU" sz="1200" kern="1200" dirty="0" smtClean="0">
                <a:solidFill>
                  <a:schemeClr val="tx1"/>
                </a:solidFill>
                <a:ea typeface="+mn-ea"/>
                <a:cs typeface="+mn-cs"/>
              </a:rPr>
              <a:t> Seek their advice on the most suitable evaluation options</a:t>
            </a:r>
          </a:p>
          <a:p>
            <a:pPr lvl="1">
              <a:buFont typeface="Arial" pitchFamily="34" charset="0"/>
              <a:buChar char="•"/>
            </a:pPr>
            <a:r>
              <a:rPr lang="en-AU" sz="1200" kern="1200" dirty="0" smtClean="0">
                <a:solidFill>
                  <a:schemeClr val="tx1"/>
                </a:solidFill>
                <a:ea typeface="+mn-ea"/>
                <a:cs typeface="+mn-cs"/>
              </a:rPr>
              <a:t> Ask them to identify appropriate evaluation techniques</a:t>
            </a:r>
          </a:p>
          <a:p>
            <a:pPr lvl="1">
              <a:buFont typeface="Arial" pitchFamily="34" charset="0"/>
              <a:buChar char="•"/>
            </a:pPr>
            <a:r>
              <a:rPr lang="en-AU" sz="1200" kern="1200" dirty="0" smtClean="0">
                <a:solidFill>
                  <a:schemeClr val="tx1"/>
                </a:solidFill>
                <a:ea typeface="+mn-ea"/>
                <a:cs typeface="+mn-cs"/>
              </a:rPr>
              <a:t> Work collaboratively with them to produce evaluation methods which synthesis and reflect their orientations</a:t>
            </a:r>
          </a:p>
          <a:p>
            <a:pPr>
              <a:buFont typeface="Arial" pitchFamily="34" charset="0"/>
              <a:buChar char="•"/>
            </a:pPr>
            <a:r>
              <a:rPr lang="en-AU" sz="1200" kern="1200" dirty="0" smtClean="0">
                <a:solidFill>
                  <a:schemeClr val="tx1"/>
                </a:solidFill>
                <a:ea typeface="+mn-ea"/>
                <a:cs typeface="+mn-cs"/>
              </a:rPr>
              <a:t> Be required to submit your agreed evaluation to management or delegating authorities to gain their approval.</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r>
              <a:rPr lang="en-US" b="1" dirty="0" smtClean="0"/>
              <a:t>Class Activity – Guest Speaker</a:t>
            </a:r>
          </a:p>
          <a:p>
            <a:pPr>
              <a:buFont typeface="Arial" pitchFamily="34" charset="0"/>
              <a:buNone/>
            </a:pPr>
            <a:r>
              <a:rPr lang="en-US" b="0" dirty="0" smtClean="0"/>
              <a:t>Trainer arranges for PM to attend and talk to students about:</a:t>
            </a:r>
          </a:p>
          <a:p>
            <a:pPr>
              <a:buFont typeface="Arial" pitchFamily="34" charset="0"/>
              <a:buChar char="•"/>
            </a:pPr>
            <a:r>
              <a:rPr lang="en-AU" sz="1200" kern="1200" dirty="0" smtClean="0">
                <a:solidFill>
                  <a:schemeClr val="tx1"/>
                </a:solidFill>
                <a:ea typeface="+mn-ea"/>
                <a:cs typeface="+mn-cs"/>
              </a:rPr>
              <a:t> How they determine evaluation methods for projects</a:t>
            </a:r>
          </a:p>
          <a:p>
            <a:pPr>
              <a:buFont typeface="Arial" pitchFamily="34" charset="0"/>
              <a:buChar char="•"/>
            </a:pPr>
            <a:r>
              <a:rPr lang="en-AU" sz="1200" kern="1200" dirty="0" smtClean="0">
                <a:solidFill>
                  <a:schemeClr val="tx1"/>
                </a:solidFill>
                <a:ea typeface="+mn-ea"/>
                <a:cs typeface="+mn-cs"/>
              </a:rPr>
              <a:t> Methods</a:t>
            </a:r>
            <a:r>
              <a:rPr lang="en-AU" sz="1200" kern="1200" baseline="0" dirty="0" smtClean="0">
                <a:solidFill>
                  <a:schemeClr val="tx1"/>
                </a:solidFill>
                <a:ea typeface="+mn-ea"/>
                <a:cs typeface="+mn-cs"/>
              </a:rPr>
              <a:t> used</a:t>
            </a:r>
          </a:p>
          <a:p>
            <a:pPr>
              <a:buFont typeface="Arial" pitchFamily="34" charset="0"/>
              <a:buChar char="•"/>
            </a:pPr>
            <a:r>
              <a:rPr lang="en-AU" sz="1200" kern="1200" baseline="0" dirty="0" smtClean="0">
                <a:solidFill>
                  <a:schemeClr val="tx1"/>
                </a:solidFill>
                <a:ea typeface="+mn-ea"/>
                <a:cs typeface="+mn-cs"/>
              </a:rPr>
              <a:t> Those involved in determining evaluation methods.</a:t>
            </a:r>
            <a:endParaRPr lang="en-US"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a:t>
            </a:r>
            <a:r>
              <a:rPr lang="en-AU" sz="1200" kern="1200" dirty="0" smtClean="0">
                <a:solidFill>
                  <a:schemeClr val="tx1"/>
                </a:solidFill>
                <a:ea typeface="+mn-ea"/>
                <a:cs typeface="+mn-cs"/>
              </a:rPr>
              <a:t>agreement should also be sought on the following evaluation-related issues:</a:t>
            </a:r>
          </a:p>
          <a:p>
            <a:pPr>
              <a:buFont typeface="Arial" pitchFamily="34" charset="0"/>
              <a:buChar char="•"/>
            </a:pPr>
            <a:r>
              <a:rPr lang="en-AU" sz="1200" kern="1200" dirty="0" smtClean="0">
                <a:solidFill>
                  <a:schemeClr val="tx1"/>
                </a:solidFill>
                <a:ea typeface="+mn-ea"/>
                <a:cs typeface="+mn-cs"/>
              </a:rPr>
              <a:t> Timing of the evaluation – when it is to take place</a:t>
            </a:r>
          </a:p>
          <a:p>
            <a:pPr>
              <a:buFont typeface="Arial" pitchFamily="34" charset="0"/>
              <a:buChar char="•"/>
            </a:pPr>
            <a:r>
              <a:rPr lang="en-AU" sz="1200" kern="1200" dirty="0" smtClean="0">
                <a:solidFill>
                  <a:schemeClr val="tx1"/>
                </a:solidFill>
                <a:ea typeface="+mn-ea"/>
                <a:cs typeface="+mn-cs"/>
              </a:rPr>
              <a:t> Evaluation methods to be used – see below</a:t>
            </a:r>
          </a:p>
          <a:p>
            <a:pPr>
              <a:buFont typeface="Arial" pitchFamily="34" charset="0"/>
              <a:buChar char="•"/>
            </a:pPr>
            <a:r>
              <a:rPr lang="en-AU" sz="1200" kern="1200" dirty="0" smtClean="0">
                <a:solidFill>
                  <a:schemeClr val="tx1"/>
                </a:solidFill>
                <a:ea typeface="+mn-ea"/>
                <a:cs typeface="+mn-cs"/>
              </a:rPr>
              <a:t> Criteria for evaluation – identifying what the project will be evaluated against: this should focus on the objectives and goals contained in the project management plan.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topics on which agreement</a:t>
            </a:r>
            <a:r>
              <a:rPr lang="en-US" baseline="0" dirty="0" smtClean="0"/>
              <a:t> needs to be reached when discussing project evaluation methods:</a:t>
            </a:r>
          </a:p>
          <a:p>
            <a:pPr>
              <a:buFont typeface="Arial" pitchFamily="34" charset="0"/>
              <a:buChar char="•"/>
            </a:pPr>
            <a:r>
              <a:rPr lang="en-AU" sz="1200" kern="1200" dirty="0" smtClean="0">
                <a:solidFill>
                  <a:schemeClr val="tx1"/>
                </a:solidFill>
                <a:ea typeface="+mn-ea"/>
                <a:cs typeface="+mn-cs"/>
              </a:rPr>
              <a:t> Questions to be answered.</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identifies specific questions which may be part of, or additional to, the goals and objectives for the project</a:t>
            </a:r>
          </a:p>
          <a:p>
            <a:pPr>
              <a:buFont typeface="Arial" pitchFamily="34" charset="0"/>
              <a:buChar char="•"/>
            </a:pPr>
            <a:r>
              <a:rPr lang="en-AU" sz="1200" kern="1200" dirty="0" smtClean="0">
                <a:solidFill>
                  <a:schemeClr val="tx1"/>
                </a:solidFill>
                <a:ea typeface="+mn-ea"/>
                <a:cs typeface="+mn-cs"/>
              </a:rPr>
              <a:t> Evaluation team members identifying who will be involved in the evaluation process</a:t>
            </a:r>
          </a:p>
          <a:p>
            <a:pPr>
              <a:buFont typeface="Arial" pitchFamily="34" charset="0"/>
              <a:buChar char="•"/>
            </a:pPr>
            <a:r>
              <a:rPr lang="en-AU" sz="1200" kern="1200" dirty="0" smtClean="0">
                <a:solidFill>
                  <a:schemeClr val="tx1"/>
                </a:solidFill>
                <a:ea typeface="+mn-ea"/>
                <a:cs typeface="+mn-cs"/>
              </a:rPr>
              <a:t> Reports (if any) to be generated outlining the contents to be addressed</a:t>
            </a:r>
          </a:p>
          <a:p>
            <a:pPr>
              <a:buFont typeface="Arial" pitchFamily="34" charset="0"/>
              <a:buChar char="•"/>
            </a:pPr>
            <a:r>
              <a:rPr lang="en-AU" sz="1200" kern="1200" dirty="0" smtClean="0">
                <a:solidFill>
                  <a:schemeClr val="tx1"/>
                </a:solidFill>
                <a:ea typeface="+mn-ea"/>
                <a:cs typeface="+mn-cs"/>
              </a:rPr>
              <a:t> Distribution List for sharing/communication results/outcomes and ‘lessons learned’ as identified by the evaluation.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reasons why evaluation methods need to be identified:</a:t>
            </a:r>
          </a:p>
          <a:p>
            <a:pPr>
              <a:buFont typeface="Arial" pitchFamily="34" charset="0"/>
              <a:buChar char="•"/>
            </a:pPr>
            <a:r>
              <a:rPr lang="en-AU" sz="1200" kern="1200" dirty="0" smtClean="0">
                <a:solidFill>
                  <a:schemeClr val="tx1"/>
                </a:solidFill>
                <a:ea typeface="+mn-ea"/>
                <a:cs typeface="+mn-cs"/>
              </a:rPr>
              <a:t> The evaluation methods agreed on will indicate priorities for aspects of the project.</a:t>
            </a:r>
            <a:r>
              <a:rPr lang="en-AU" sz="1200" kern="1200" baseline="0" dirty="0" smtClean="0">
                <a:solidFill>
                  <a:schemeClr val="tx1"/>
                </a:solidFill>
                <a:ea typeface="+mn-ea"/>
                <a:cs typeface="+mn-cs"/>
              </a:rPr>
              <a:t> Y</a:t>
            </a:r>
            <a:r>
              <a:rPr lang="en-AU" sz="1200" kern="1200" dirty="0" smtClean="0">
                <a:solidFill>
                  <a:schemeClr val="tx1"/>
                </a:solidFill>
                <a:ea typeface="+mn-ea"/>
                <a:cs typeface="+mn-cs"/>
              </a:rPr>
              <a:t>ou will, of course, spend more time and effort on elements of the project you know are going to be evaluated</a:t>
            </a:r>
          </a:p>
          <a:p>
            <a:pPr>
              <a:buFont typeface="Arial" pitchFamily="34" charset="0"/>
              <a:buChar char="•"/>
            </a:pPr>
            <a:r>
              <a:rPr lang="en-AU" sz="1200" kern="1200" dirty="0" smtClean="0">
                <a:solidFill>
                  <a:schemeClr val="tx1"/>
                </a:solidFill>
                <a:ea typeface="+mn-ea"/>
                <a:cs typeface="+mn-cs"/>
              </a:rPr>
              <a:t> This knowledge allows you to generate the necessary materials, evidence or data which will be required in the evaluation process</a:t>
            </a:r>
          </a:p>
          <a:p>
            <a:pPr>
              <a:buFont typeface="Arial" pitchFamily="34" charset="0"/>
              <a:buChar char="•"/>
            </a:pPr>
            <a:r>
              <a:rPr lang="en-AU" sz="1200" kern="1200" dirty="0" smtClean="0">
                <a:solidFill>
                  <a:schemeClr val="tx1"/>
                </a:solidFill>
                <a:ea typeface="+mn-ea"/>
                <a:cs typeface="+mn-cs"/>
              </a:rPr>
              <a:t> Knowing who will participate in the evaluation should indicate people with whom you need to establish a sound/positive working relationship</a:t>
            </a:r>
          </a:p>
          <a:p>
            <a:pPr>
              <a:buFont typeface="Arial" pitchFamily="34" charset="0"/>
              <a:buChar char="•"/>
            </a:pPr>
            <a:r>
              <a:rPr lang="en-AU" sz="1200" kern="1200" dirty="0" smtClean="0">
                <a:solidFill>
                  <a:schemeClr val="tx1"/>
                </a:solidFill>
                <a:ea typeface="+mn-ea"/>
                <a:cs typeface="+mn-cs"/>
              </a:rPr>
              <a:t> Sometimes the focus for evaluation is </a:t>
            </a:r>
            <a:r>
              <a:rPr lang="en-AU" sz="1200" b="1" kern="1200" dirty="0" smtClean="0">
                <a:solidFill>
                  <a:schemeClr val="tx1"/>
                </a:solidFill>
                <a:ea typeface="+mn-ea"/>
                <a:cs typeface="+mn-cs"/>
              </a:rPr>
              <a:t>not contained</a:t>
            </a:r>
            <a:r>
              <a:rPr lang="en-AU" sz="1200" kern="1200" dirty="0" smtClean="0">
                <a:solidFill>
                  <a:schemeClr val="tx1"/>
                </a:solidFill>
                <a:ea typeface="+mn-ea"/>
                <a:cs typeface="+mn-cs"/>
              </a:rPr>
              <a:t> in the scope and/or objectives for the project.</a:t>
            </a:r>
            <a:r>
              <a:rPr lang="en-AU" sz="1200" kern="1200" baseline="0" dirty="0" smtClean="0">
                <a:solidFill>
                  <a:schemeClr val="tx1"/>
                </a:solidFill>
                <a:ea typeface="+mn-ea"/>
                <a:cs typeface="+mn-cs"/>
              </a:rPr>
              <a:t> I</a:t>
            </a:r>
            <a:r>
              <a:rPr lang="en-AU" sz="1200" kern="1200" dirty="0" smtClean="0">
                <a:solidFill>
                  <a:schemeClr val="tx1"/>
                </a:solidFill>
                <a:ea typeface="+mn-ea"/>
                <a:cs typeface="+mn-cs"/>
              </a:rPr>
              <a:t>t can sometimes be the case those evaluating the project intend evaluating topics you has not considered/been aware of</a:t>
            </a:r>
          </a:p>
          <a:p>
            <a:pPr>
              <a:buFont typeface="Arial" pitchFamily="34" charset="0"/>
              <a:buChar char="•"/>
            </a:pPr>
            <a:r>
              <a:rPr lang="en-AU" sz="1200" kern="1200" dirty="0" smtClean="0">
                <a:solidFill>
                  <a:schemeClr val="tx1"/>
                </a:solidFill>
                <a:ea typeface="+mn-ea"/>
                <a:cs typeface="+mn-cs"/>
              </a:rPr>
              <a:t> The evaluation method/s chosen must reflect the requirements of the project.</a:t>
            </a:r>
            <a:r>
              <a:rPr lang="en-AU" sz="1200" kern="1200" baseline="0" dirty="0" smtClean="0">
                <a:solidFill>
                  <a:schemeClr val="tx1"/>
                </a:solidFill>
                <a:ea typeface="+mn-ea"/>
                <a:cs typeface="+mn-cs"/>
              </a:rPr>
              <a:t> D</a:t>
            </a:r>
            <a:r>
              <a:rPr lang="en-AU" sz="1200" kern="1200" dirty="0" smtClean="0">
                <a:solidFill>
                  <a:schemeClr val="tx1"/>
                </a:solidFill>
                <a:ea typeface="+mn-ea"/>
                <a:cs typeface="+mn-cs"/>
              </a:rPr>
              <a:t>ifferent projects will require different types of evaluation and even where </a:t>
            </a:r>
            <a:r>
              <a:rPr lang="en-AU" sz="1200" i="1" kern="1200" dirty="0" smtClean="0">
                <a:solidFill>
                  <a:schemeClr val="tx1"/>
                </a:solidFill>
                <a:ea typeface="+mn-ea"/>
                <a:cs typeface="+mn-cs"/>
              </a:rPr>
              <a:t>similar</a:t>
            </a:r>
            <a:r>
              <a:rPr lang="en-AU" sz="1200" kern="1200" dirty="0" smtClean="0">
                <a:solidFill>
                  <a:schemeClr val="tx1"/>
                </a:solidFill>
                <a:ea typeface="+mn-ea"/>
                <a:cs typeface="+mn-cs"/>
              </a:rPr>
              <a:t> evaluation methods are used, the specifics will normally require some form of change/fine tuning.</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discusses evaluation of projects:</a:t>
            </a:r>
          </a:p>
          <a:p>
            <a:pPr>
              <a:buFont typeface="Arial" pitchFamily="34" charset="0"/>
              <a:buChar char="•"/>
            </a:pPr>
            <a:r>
              <a:rPr lang="en-AU" sz="1200" kern="1200" dirty="0" smtClean="0">
                <a:solidFill>
                  <a:schemeClr val="tx1"/>
                </a:solidFill>
                <a:ea typeface="+mn-ea"/>
                <a:cs typeface="+mn-cs"/>
              </a:rPr>
              <a:t> All projects should be evaluated.</a:t>
            </a:r>
          </a:p>
          <a:p>
            <a:pPr>
              <a:buFont typeface="Arial" pitchFamily="34" charset="0"/>
              <a:buChar char="•"/>
            </a:pPr>
            <a:r>
              <a:rPr lang="en-AU" sz="1200" kern="1200" dirty="0" smtClean="0">
                <a:solidFill>
                  <a:schemeClr val="tx1"/>
                </a:solidFill>
                <a:ea typeface="+mn-ea"/>
                <a:cs typeface="+mn-cs"/>
              </a:rPr>
              <a:t> The extent and degree of the evaluation should reflect the size of the project.</a:t>
            </a:r>
            <a:r>
              <a:rPr lang="en-AU" sz="1200" kern="1200" baseline="0" dirty="0" smtClean="0">
                <a:solidFill>
                  <a:schemeClr val="tx1"/>
                </a:solidFill>
                <a:ea typeface="+mn-ea"/>
                <a:cs typeface="+mn-cs"/>
              </a:rPr>
              <a:t> S</a:t>
            </a:r>
            <a:r>
              <a:rPr lang="en-AU" sz="1200" kern="1200" dirty="0" smtClean="0">
                <a:solidFill>
                  <a:schemeClr val="tx1"/>
                </a:solidFill>
                <a:ea typeface="+mn-ea"/>
                <a:cs typeface="+mn-cs"/>
              </a:rPr>
              <a:t>mall projects should have smaller evaluations than major projects.</a:t>
            </a:r>
          </a:p>
          <a:p>
            <a:pPr>
              <a:buFont typeface="Arial" pitchFamily="34" charset="0"/>
              <a:buChar char="•"/>
            </a:pPr>
            <a:r>
              <a:rPr lang="en-AU" sz="1200" kern="1200" dirty="0" smtClean="0">
                <a:solidFill>
                  <a:schemeClr val="tx1"/>
                </a:solidFill>
                <a:ea typeface="+mn-ea"/>
                <a:cs typeface="+mn-cs"/>
              </a:rPr>
              <a:t> For large/major projects a formal ‘evaluation plan’ may be produced but this is not usual for small projects.</a:t>
            </a:r>
          </a:p>
          <a:p>
            <a:pPr>
              <a:buFont typeface="Arial" pitchFamily="34" charset="0"/>
              <a:buChar char="•"/>
            </a:pPr>
            <a:r>
              <a:rPr lang="en-AU" sz="1200" kern="1200" dirty="0" smtClean="0">
                <a:solidFill>
                  <a:schemeClr val="tx1"/>
                </a:solidFill>
                <a:ea typeface="+mn-ea"/>
                <a:cs typeface="+mn-cs"/>
              </a:rPr>
              <a:t> Evaluating a project means analysing and assessing the outcome of the project measured against identified criteria established before the project commences.</a:t>
            </a:r>
          </a:p>
          <a:p>
            <a:pPr>
              <a:buFont typeface="Arial" pitchFamily="34" charset="0"/>
              <a:buNone/>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US" dirty="0" smtClean="0"/>
              <a:t>Trainer presents evaluation options:</a:t>
            </a:r>
          </a:p>
          <a:p>
            <a:pPr>
              <a:buFont typeface="Arial" pitchFamily="34" charset="0"/>
              <a:buChar char="•"/>
            </a:pPr>
            <a:r>
              <a:rPr lang="en-AU" sz="1200" kern="1200" dirty="0" smtClean="0">
                <a:solidFill>
                  <a:schemeClr val="tx1"/>
                </a:solidFill>
                <a:ea typeface="+mn-ea"/>
                <a:cs typeface="+mn-cs"/>
              </a:rPr>
              <a:t> Conducting surveys – talking to ‘relevant persons’ about the implementation and outcome/s of the project. Surveys should:</a:t>
            </a:r>
          </a:p>
          <a:p>
            <a:pPr lvl="1">
              <a:buFont typeface="Arial" pitchFamily="34" charset="0"/>
              <a:buChar char="•"/>
            </a:pPr>
            <a:r>
              <a:rPr lang="en-AU" sz="1200" kern="1200" dirty="0" smtClean="0">
                <a:solidFill>
                  <a:schemeClr val="tx1"/>
                </a:solidFill>
                <a:ea typeface="+mn-ea"/>
                <a:cs typeface="+mn-cs"/>
              </a:rPr>
              <a:t> Be structured so all those surveyed are asked to respond to the same questions</a:t>
            </a:r>
          </a:p>
          <a:p>
            <a:pPr lvl="1">
              <a:buFont typeface="Arial" pitchFamily="34" charset="0"/>
              <a:buChar char="•"/>
            </a:pPr>
            <a:r>
              <a:rPr lang="en-AU" sz="1200" kern="1200" dirty="0" smtClean="0">
                <a:solidFill>
                  <a:schemeClr val="tx1"/>
                </a:solidFill>
                <a:ea typeface="+mn-ea"/>
                <a:cs typeface="+mn-cs"/>
              </a:rPr>
              <a:t> Allow free space for respondents to add issues of their choice</a:t>
            </a:r>
          </a:p>
          <a:p>
            <a:pPr lvl="1">
              <a:buFont typeface="Arial" pitchFamily="34" charset="0"/>
              <a:buNone/>
            </a:pPr>
            <a:r>
              <a:rPr lang="en-AU" sz="1200" kern="1200" dirty="0" smtClean="0">
                <a:solidFill>
                  <a:schemeClr val="tx1"/>
                </a:solidFill>
                <a:ea typeface="+mn-ea"/>
                <a:cs typeface="+mn-cs"/>
              </a:rPr>
              <a:t>Surveys may be conducted one-on-one, or feature the use of group surveys of focus groups.</a:t>
            </a:r>
          </a:p>
          <a:p>
            <a:pPr>
              <a:buFont typeface="Arial" pitchFamily="34" charset="0"/>
              <a:buChar char="•"/>
            </a:pPr>
            <a:r>
              <a:rPr lang="en-AU" sz="1200" kern="1200" dirty="0" smtClean="0">
                <a:solidFill>
                  <a:schemeClr val="tx1"/>
                </a:solidFill>
                <a:ea typeface="+mn-ea"/>
                <a:cs typeface="+mn-cs"/>
              </a:rPr>
              <a:t> Applying questionnaires to nominated people.</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may be paper-based or online questions posed to solicit input and feedback about the project</a:t>
            </a:r>
          </a:p>
          <a:p>
            <a:pPr>
              <a:buFont typeface="Arial" pitchFamily="34" charset="0"/>
              <a:buChar char="•"/>
            </a:pPr>
            <a:r>
              <a:rPr lang="en-AU" sz="1200" kern="1200" dirty="0" smtClean="0">
                <a:solidFill>
                  <a:schemeClr val="tx1"/>
                </a:solidFill>
                <a:ea typeface="+mn-ea"/>
                <a:cs typeface="+mn-cs"/>
              </a:rPr>
              <a:t> Workplace observation relating to project implementation and note-taking to provide a basis for later analysis </a:t>
            </a:r>
          </a:p>
          <a:p>
            <a:pPr>
              <a:buFont typeface="Arial" pitchFamily="34" charset="0"/>
              <a:buChar char="•"/>
            </a:pPr>
            <a:r>
              <a:rPr lang="en-AU" sz="1200" kern="1200" dirty="0" smtClean="0">
                <a:solidFill>
                  <a:schemeClr val="tx1"/>
                </a:solidFill>
                <a:ea typeface="+mn-ea"/>
                <a:cs typeface="+mn-cs"/>
              </a:rPr>
              <a:t> Engaging in pilots for aspects of the project.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features implementation of actual workplace trials of project elements to determine effectiveness, and reactions and responses from those who are impacted (such as clients, customers and staff) as well as funding bodies and delegating authorities</a:t>
            </a:r>
          </a:p>
          <a:p>
            <a:pPr>
              <a:buFont typeface="Arial" pitchFamily="34" charset="0"/>
              <a:buChar char="•"/>
            </a:pPr>
            <a:r>
              <a:rPr lang="en-AU" sz="1200" kern="1200" dirty="0" smtClean="0">
                <a:solidFill>
                  <a:schemeClr val="tx1"/>
                </a:solidFill>
                <a:ea typeface="+mn-ea"/>
                <a:cs typeface="+mn-cs"/>
              </a:rPr>
              <a:t> Capturing and analysing </a:t>
            </a:r>
            <a:r>
              <a:rPr lang="en-AU" sz="1200" i="1" kern="1200" dirty="0" smtClean="0">
                <a:solidFill>
                  <a:schemeClr val="tx1"/>
                </a:solidFill>
                <a:ea typeface="+mn-ea"/>
                <a:cs typeface="+mn-cs"/>
              </a:rPr>
              <a:t>quantitative</a:t>
            </a:r>
            <a:r>
              <a:rPr lang="en-AU" sz="1200" kern="1200" dirty="0" smtClean="0">
                <a:solidFill>
                  <a:schemeClr val="tx1"/>
                </a:solidFill>
                <a:ea typeface="+mn-ea"/>
                <a:cs typeface="+mn-cs"/>
              </a:rPr>
              <a:t> workplace data and </a:t>
            </a:r>
            <a:r>
              <a:rPr lang="en-AU" sz="1200" i="1" kern="1200" dirty="0" smtClean="0">
                <a:solidFill>
                  <a:schemeClr val="tx1"/>
                </a:solidFill>
                <a:ea typeface="+mn-ea"/>
                <a:cs typeface="+mn-cs"/>
              </a:rPr>
              <a:t>qualitative</a:t>
            </a:r>
            <a:r>
              <a:rPr lang="en-AU" sz="1200" kern="1200" dirty="0" smtClean="0">
                <a:solidFill>
                  <a:schemeClr val="tx1"/>
                </a:solidFill>
                <a:ea typeface="+mn-ea"/>
                <a:cs typeface="+mn-cs"/>
              </a:rPr>
              <a:t> data to identify changes which have flowed as a result of the project so these can be compared against projections: note that ‘baseline data’ must first be established for every aspect of data which is to be analysed.</a:t>
            </a:r>
          </a:p>
          <a:p>
            <a:pPr lvl="1">
              <a:buFont typeface="Arial" pitchFamily="34" charset="0"/>
              <a:buChar char="•"/>
            </a:pPr>
            <a:r>
              <a:rPr lang="en-AU" sz="1200" kern="1200" dirty="0" smtClean="0">
                <a:solidFill>
                  <a:schemeClr val="tx1"/>
                </a:solidFill>
                <a:ea typeface="+mn-ea"/>
                <a:cs typeface="+mn-cs"/>
              </a:rPr>
              <a:t> Quantitative data relates to ‘figures and numbers’ (know also as ‘hard data’) such as sales, profit, percentages, ratios, units and other information which can be presented in statistical form.</a:t>
            </a:r>
          </a:p>
          <a:p>
            <a:pPr lvl="1">
              <a:buFont typeface="Arial" pitchFamily="34" charset="0"/>
              <a:buChar char="•"/>
            </a:pPr>
            <a:r>
              <a:rPr lang="en-AU" sz="1200" kern="1200" dirty="0" smtClean="0">
                <a:solidFill>
                  <a:schemeClr val="tx1"/>
                </a:solidFill>
                <a:ea typeface="+mn-ea"/>
                <a:cs typeface="+mn-cs"/>
              </a:rPr>
              <a:t> Qualitative data (known also as ‘soft data’) refers to how people feel about the project, why they think what they think about the project and issues relating to how the project has impacted them. </a:t>
            </a:r>
          </a:p>
          <a:p>
            <a:pPr>
              <a:buFont typeface="Arial" pitchFamily="34" charset="0"/>
              <a:buNone/>
            </a:pPr>
            <a:endParaRPr lang="en-US" dirty="0" smtClean="0"/>
          </a:p>
          <a:p>
            <a:pPr>
              <a:buFont typeface="Arial" pitchFamily="34" charset="0"/>
              <a:buNone/>
            </a:pPr>
            <a:r>
              <a:rPr lang="en-US" b="1" dirty="0" smtClean="0"/>
              <a:t>Class Activity – Exercise</a:t>
            </a:r>
          </a:p>
          <a:p>
            <a:pPr>
              <a:buFont typeface="Arial" pitchFamily="34" charset="0"/>
              <a:buNone/>
            </a:pPr>
            <a:r>
              <a:rPr lang="en-US" b="0" dirty="0" smtClean="0"/>
              <a:t>Trainer describes a project to students</a:t>
            </a:r>
            <a:r>
              <a:rPr lang="en-US" b="0" baseline="0" dirty="0" smtClean="0"/>
              <a:t> and asks them to develop a questionnaire to capture evaluation information.</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project management plan:</a:t>
            </a:r>
          </a:p>
          <a:p>
            <a:pPr>
              <a:buFont typeface="Arial" pitchFamily="34" charset="0"/>
              <a:buChar char="•"/>
            </a:pPr>
            <a:r>
              <a:rPr lang="en-AU" sz="1200" kern="1200" dirty="0" smtClean="0">
                <a:solidFill>
                  <a:schemeClr val="tx1"/>
                </a:solidFill>
                <a:ea typeface="+mn-ea"/>
                <a:cs typeface="+mn-cs"/>
              </a:rPr>
              <a:t> This is a hard copy plan setting out how the requirements for the project (scope and limitations) will be accommodated to achieve the identified project deliverables.</a:t>
            </a:r>
          </a:p>
          <a:p>
            <a:pPr>
              <a:buFont typeface="Arial" pitchFamily="34" charset="0"/>
              <a:buChar char="•"/>
            </a:pPr>
            <a:r>
              <a:rPr lang="en-AU" sz="1200" kern="1200" dirty="0" smtClean="0">
                <a:solidFill>
                  <a:schemeClr val="tx1"/>
                </a:solidFill>
                <a:ea typeface="+mn-ea"/>
                <a:cs typeface="+mn-cs"/>
              </a:rPr>
              <a:t> These plans reflect the size of the project.</a:t>
            </a:r>
            <a:r>
              <a:rPr lang="en-AU" sz="1200" kern="1200" baseline="0" dirty="0" smtClean="0">
                <a:solidFill>
                  <a:schemeClr val="tx1"/>
                </a:solidFill>
                <a:ea typeface="+mn-ea"/>
                <a:cs typeface="+mn-cs"/>
              </a:rPr>
              <a:t> S</a:t>
            </a:r>
            <a:r>
              <a:rPr lang="en-AU" sz="1200" kern="1200" dirty="0" smtClean="0">
                <a:solidFill>
                  <a:schemeClr val="tx1"/>
                </a:solidFill>
                <a:ea typeface="+mn-ea"/>
                <a:cs typeface="+mn-cs"/>
              </a:rPr>
              <a:t>mall projects have small plans and bigger projects have bigger plans.</a:t>
            </a:r>
          </a:p>
          <a:p>
            <a:pPr>
              <a:buFont typeface="Arial" pitchFamily="34" charset="0"/>
              <a:buChar char="•"/>
            </a:pPr>
            <a:r>
              <a:rPr lang="en-AU" sz="1200" kern="1200" dirty="0" smtClean="0">
                <a:solidFill>
                  <a:schemeClr val="tx1"/>
                </a:solidFill>
                <a:ea typeface="+mn-ea"/>
                <a:cs typeface="+mn-cs"/>
              </a:rPr>
              <a:t> While the content of both are similar differences often occur:</a:t>
            </a:r>
          </a:p>
          <a:p>
            <a:pPr lvl="1">
              <a:buFont typeface="Arial" pitchFamily="34" charset="0"/>
              <a:buChar char="•"/>
            </a:pPr>
            <a:r>
              <a:rPr lang="en-AU" sz="1200" kern="1200" dirty="0" smtClean="0">
                <a:solidFill>
                  <a:schemeClr val="tx1"/>
                </a:solidFill>
                <a:ea typeface="+mn-ea"/>
                <a:cs typeface="+mn-cs"/>
              </a:rPr>
              <a:t> In ‘the detail’– more expensive projects have more detail</a:t>
            </a:r>
          </a:p>
          <a:p>
            <a:pPr lvl="1">
              <a:buFont typeface="Arial" pitchFamily="34" charset="0"/>
              <a:buChar char="•"/>
            </a:pPr>
            <a:r>
              <a:rPr lang="en-AU" sz="1200" kern="1200" dirty="0" smtClean="0">
                <a:solidFill>
                  <a:schemeClr val="tx1"/>
                </a:solidFill>
                <a:ea typeface="+mn-ea"/>
                <a:cs typeface="+mn-cs"/>
              </a:rPr>
              <a:t> In complexity – bigger projects are commonly longer in duration which introduces a level of complexity not found in shorter-term projects</a:t>
            </a:r>
          </a:p>
          <a:p>
            <a:pPr lvl="1">
              <a:buFont typeface="Arial" pitchFamily="34" charset="0"/>
              <a:buChar char="•"/>
            </a:pPr>
            <a:r>
              <a:rPr lang="en-AU" sz="1200" kern="1200" dirty="0" smtClean="0">
                <a:solidFill>
                  <a:schemeClr val="tx1"/>
                </a:solidFill>
                <a:ea typeface="+mn-ea"/>
                <a:cs typeface="+mn-cs"/>
              </a:rPr>
              <a:t> Stages and/or activities – bigger projects require more work to be done. The more work there is, the more planning needs to be done.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dirty="0" smtClean="0"/>
              <a:t>Trainer discusses role of project management plan:</a:t>
            </a:r>
          </a:p>
          <a:p>
            <a:pPr>
              <a:buFont typeface="Arial" pitchFamily="34" charset="0"/>
              <a:buChar char="•"/>
            </a:pPr>
            <a:r>
              <a:rPr lang="en-AU" sz="1200" kern="1200" dirty="0" smtClean="0">
                <a:solidFill>
                  <a:schemeClr val="tx1"/>
                </a:solidFill>
                <a:ea typeface="+mn-ea"/>
                <a:cs typeface="+mn-cs"/>
              </a:rPr>
              <a:t> The project management plan enables you,</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and others involved in the execution of the project,</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to gain a clear and comprehensive understanding of the project (especially the objectives/deliverables, constraints [cost, resources, time]) before work on any aspect of the project actually commences.</a:t>
            </a:r>
          </a:p>
          <a:p>
            <a:pPr>
              <a:buFont typeface="Arial" pitchFamily="34" charset="0"/>
              <a:buChar char="•"/>
            </a:pPr>
            <a:r>
              <a:rPr lang="en-AU" sz="1200" kern="1200" dirty="0" smtClean="0">
                <a:solidFill>
                  <a:schemeClr val="tx1"/>
                </a:solidFill>
                <a:ea typeface="+mn-ea"/>
                <a:cs typeface="+mn-cs"/>
              </a:rPr>
              <a:t> It is standard procedure for the plan to be presented to management/the Board (or a relevant sub-committee/steering committee) for consideration and approval.</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hey may question the plan and/or alter it as they see fit. </a:t>
            </a:r>
          </a:p>
          <a:p>
            <a:pPr>
              <a:buFont typeface="Arial" pitchFamily="34" charset="0"/>
              <a:buChar char="•"/>
            </a:pPr>
            <a:r>
              <a:rPr lang="en-AU" sz="1200" kern="1200" dirty="0" smtClean="0">
                <a:solidFill>
                  <a:schemeClr val="tx1"/>
                </a:solidFill>
                <a:ea typeface="+mn-ea"/>
                <a:cs typeface="+mn-cs"/>
              </a:rPr>
              <a:t> If you prepared the project plan they will expect you to present, explain justify and defend it at a presentation to them. </a:t>
            </a:r>
          </a:p>
          <a:p>
            <a:pPr>
              <a:buFont typeface="Arial" pitchFamily="34" charset="0"/>
              <a:buChar char="•"/>
            </a:pPr>
            <a:r>
              <a:rPr lang="en-AU" sz="1200" kern="1200" dirty="0" smtClean="0">
                <a:solidFill>
                  <a:schemeClr val="tx1"/>
                </a:solidFill>
                <a:ea typeface="+mn-ea"/>
                <a:cs typeface="+mn-cs"/>
              </a:rPr>
              <a:t> When the Board (or whoever) finally approves the project management (relatively few, if any, of these plans receive approval to proceed ‘as presented’) known as ‘signing off on the plan’.</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gives you official permission to carry out the work as stated in the plan as ‘signing off’ also signifies the identified resources are/will be made available to you for the project.</a:t>
            </a:r>
          </a:p>
          <a:p>
            <a:pPr>
              <a:buFont typeface="Arial" pitchFamily="34" charset="0"/>
              <a:buChar char="•"/>
            </a:pPr>
            <a:r>
              <a:rPr lang="en-AU" sz="1200" kern="1200" dirty="0" smtClean="0">
                <a:solidFill>
                  <a:schemeClr val="tx1"/>
                </a:solidFill>
                <a:ea typeface="+mn-ea"/>
                <a:cs typeface="+mn-cs"/>
              </a:rPr>
              <a:t> Doing a project plan is also a good ‘due diligence’ step, providing evidence of the care you took in preparing and planning for the project. </a:t>
            </a:r>
          </a:p>
          <a:p>
            <a:pPr>
              <a:buFont typeface="Arial" pitchFamily="34" charset="0"/>
              <a:buChar char="•"/>
            </a:pPr>
            <a:r>
              <a:rPr lang="en-AU" sz="1200" kern="1200" dirty="0" smtClean="0">
                <a:solidFill>
                  <a:schemeClr val="tx1"/>
                </a:solidFill>
                <a:ea typeface="+mn-ea"/>
                <a:cs typeface="+mn-cs"/>
              </a:rPr>
              <a:t> This Plan can also by you (or others) to assist them in development of future project management plans.</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management-level person to attend and talk to students about:</a:t>
            </a:r>
          </a:p>
          <a:p>
            <a:pPr>
              <a:buFont typeface="Arial" pitchFamily="34" charset="0"/>
              <a:buChar char="•"/>
            </a:pPr>
            <a:r>
              <a:rPr lang="en-US" b="0" dirty="0" smtClean="0"/>
              <a:t> Role of project management plan</a:t>
            </a:r>
          </a:p>
          <a:p>
            <a:pPr>
              <a:buFont typeface="Arial" pitchFamily="34" charset="0"/>
              <a:buChar char="•"/>
            </a:pPr>
            <a:r>
              <a:rPr lang="en-US" b="0" dirty="0" smtClean="0"/>
              <a:t> What they require in a project management plan</a:t>
            </a:r>
          </a:p>
          <a:p>
            <a:pPr>
              <a:buFont typeface="Arial" pitchFamily="34" charset="0"/>
              <a:buChar char="•"/>
            </a:pPr>
            <a:r>
              <a:rPr lang="en-US" b="0" dirty="0" smtClean="0"/>
              <a:t> The approval process for plans.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gives reasons to prepare project management plans:</a:t>
            </a:r>
          </a:p>
          <a:p>
            <a:pPr>
              <a:buFont typeface="Arial" pitchFamily="34" charset="0"/>
              <a:buChar char="•"/>
            </a:pPr>
            <a:r>
              <a:rPr lang="en-AU" sz="1200" kern="1200" dirty="0" smtClean="0">
                <a:solidFill>
                  <a:schemeClr val="tx1"/>
                </a:solidFill>
                <a:ea typeface="+mn-ea"/>
                <a:cs typeface="+mn-cs"/>
              </a:rPr>
              <a:t> Help avoid confusion about the work to be done.</a:t>
            </a:r>
            <a:r>
              <a:rPr lang="en-AU" sz="1200" kern="1200" baseline="0" dirty="0" smtClean="0">
                <a:solidFill>
                  <a:schemeClr val="tx1"/>
                </a:solidFill>
                <a:ea typeface="+mn-ea"/>
                <a:cs typeface="+mn-cs"/>
              </a:rPr>
              <a:t> It</a:t>
            </a:r>
            <a:r>
              <a:rPr lang="en-AU" sz="1200" kern="1200" dirty="0" smtClean="0">
                <a:solidFill>
                  <a:schemeClr val="tx1"/>
                </a:solidFill>
                <a:ea typeface="+mn-ea"/>
                <a:cs typeface="+mn-cs"/>
              </a:rPr>
              <a:t> gives clarity about all aspects of the project and removes doubt about what needs to be done and what </a:t>
            </a:r>
            <a:r>
              <a:rPr lang="en-AU" sz="1200" i="1" kern="1200" dirty="0" smtClean="0">
                <a:solidFill>
                  <a:schemeClr val="tx1"/>
                </a:solidFill>
                <a:ea typeface="+mn-ea"/>
                <a:cs typeface="+mn-cs"/>
              </a:rPr>
              <a:t>does not</a:t>
            </a:r>
            <a:r>
              <a:rPr lang="en-AU" sz="1200" kern="1200" dirty="0" smtClean="0">
                <a:solidFill>
                  <a:schemeClr val="tx1"/>
                </a:solidFill>
                <a:ea typeface="+mn-ea"/>
                <a:cs typeface="+mn-cs"/>
              </a:rPr>
              <a:t> need to be done</a:t>
            </a:r>
          </a:p>
          <a:p>
            <a:pPr>
              <a:buFont typeface="Arial" pitchFamily="34" charset="0"/>
              <a:buChar char="•"/>
            </a:pPr>
            <a:r>
              <a:rPr lang="en-AU" sz="1200" kern="1200" dirty="0" smtClean="0">
                <a:solidFill>
                  <a:schemeClr val="tx1"/>
                </a:solidFill>
                <a:ea typeface="+mn-ea"/>
                <a:cs typeface="+mn-cs"/>
              </a:rPr>
              <a:t> Provide ‘authority and legitimacy’ to the project.</a:t>
            </a:r>
            <a:r>
              <a:rPr lang="en-AU" sz="1200" kern="1200" baseline="0" dirty="0" smtClean="0">
                <a:solidFill>
                  <a:schemeClr val="tx1"/>
                </a:solidFill>
                <a:ea typeface="+mn-ea"/>
                <a:cs typeface="+mn-cs"/>
              </a:rPr>
              <a:t> O</a:t>
            </a:r>
            <a:r>
              <a:rPr lang="en-AU" sz="1200" kern="1200" dirty="0" smtClean="0">
                <a:solidFill>
                  <a:schemeClr val="tx1"/>
                </a:solidFill>
                <a:ea typeface="+mn-ea"/>
                <a:cs typeface="+mn-cs"/>
              </a:rPr>
              <a:t>nce approved, it is an ‘official’ document which lends weight to it and helps you (as Project Manager) implement what it requires</a:t>
            </a:r>
          </a:p>
          <a:p>
            <a:pPr>
              <a:buFont typeface="Arial" pitchFamily="34" charset="0"/>
              <a:buChar char="•"/>
            </a:pPr>
            <a:r>
              <a:rPr lang="en-AU" sz="1200" kern="1200" dirty="0" smtClean="0">
                <a:solidFill>
                  <a:schemeClr val="tx1"/>
                </a:solidFill>
                <a:ea typeface="+mn-ea"/>
                <a:cs typeface="+mn-cs"/>
              </a:rPr>
              <a:t> Guard against project creep</a:t>
            </a:r>
          </a:p>
          <a:p>
            <a:pPr>
              <a:buFont typeface="Arial" pitchFamily="34" charset="0"/>
              <a:buChar char="•"/>
            </a:pPr>
            <a:r>
              <a:rPr lang="en-AU" sz="1200" kern="1200" dirty="0" smtClean="0">
                <a:solidFill>
                  <a:schemeClr val="tx1"/>
                </a:solidFill>
                <a:ea typeface="+mn-ea"/>
                <a:cs typeface="+mn-cs"/>
              </a:rPr>
              <a:t> Produces the basis for effective and efficient project execution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giving reasons to prepare project management plans:</a:t>
            </a:r>
          </a:p>
          <a:p>
            <a:pPr>
              <a:buFont typeface="Arial" pitchFamily="34" charset="0"/>
              <a:buChar char="•"/>
            </a:pPr>
            <a:r>
              <a:rPr lang="en-AU" sz="1200" kern="1200" dirty="0" smtClean="0">
                <a:solidFill>
                  <a:schemeClr val="tx1"/>
                </a:solidFill>
                <a:ea typeface="+mn-ea"/>
                <a:cs typeface="+mn-cs"/>
              </a:rPr>
              <a:t> Set priorities for the work to be done by allocating sequential work order</a:t>
            </a:r>
          </a:p>
          <a:p>
            <a:pPr>
              <a:buFont typeface="Arial" pitchFamily="34" charset="0"/>
              <a:buChar char="•"/>
            </a:pPr>
            <a:r>
              <a:rPr lang="en-AU" sz="1200" kern="1200" dirty="0" smtClean="0">
                <a:solidFill>
                  <a:schemeClr val="tx1"/>
                </a:solidFill>
                <a:ea typeface="+mn-ea"/>
                <a:cs typeface="+mn-cs"/>
              </a:rPr>
              <a:t> Obviate the need to re-work things once project work has actually commenced</a:t>
            </a:r>
          </a:p>
          <a:p>
            <a:pPr>
              <a:buFont typeface="Arial" pitchFamily="34" charset="0"/>
              <a:buChar char="•"/>
            </a:pPr>
            <a:r>
              <a:rPr lang="en-AU" sz="1200" kern="1200" dirty="0" smtClean="0">
                <a:solidFill>
                  <a:schemeClr val="tx1"/>
                </a:solidFill>
                <a:ea typeface="+mn-ea"/>
                <a:cs typeface="+mn-cs"/>
              </a:rPr>
              <a:t> Indicate the way in which there is a need for cooperation and interdependency between,</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for example, people and departments involved in the project</a:t>
            </a:r>
          </a:p>
          <a:p>
            <a:pPr>
              <a:buFont typeface="Arial" pitchFamily="34" charset="0"/>
              <a:buChar char="•"/>
            </a:pPr>
            <a:r>
              <a:rPr lang="en-AU" sz="1200" kern="1200" dirty="0" smtClean="0">
                <a:solidFill>
                  <a:schemeClr val="tx1"/>
                </a:solidFill>
                <a:ea typeface="+mn-ea"/>
                <a:cs typeface="+mn-cs"/>
              </a:rPr>
              <a:t> Avoid unnecessary duplication of activities, effort and expenses </a:t>
            </a:r>
          </a:p>
          <a:p>
            <a:pPr>
              <a:buFont typeface="Arial" pitchFamily="34" charset="0"/>
              <a:buChar char="•"/>
            </a:pPr>
            <a:r>
              <a:rPr lang="en-AU" sz="1200" kern="1200" dirty="0" smtClean="0">
                <a:solidFill>
                  <a:schemeClr val="tx1"/>
                </a:solidFill>
                <a:ea typeface="+mn-ea"/>
                <a:cs typeface="+mn-cs"/>
              </a:rPr>
              <a:t> Put all project staff ‘on the same’ page about what needs to be done</a:t>
            </a:r>
          </a:p>
          <a:p>
            <a:pPr>
              <a:buFont typeface="Arial" pitchFamily="34" charset="0"/>
              <a:buChar char="•"/>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giving reasons to prepare project management plans:</a:t>
            </a:r>
          </a:p>
          <a:p>
            <a:pPr>
              <a:buFont typeface="Arial" pitchFamily="34" charset="0"/>
              <a:buChar char="•"/>
            </a:pPr>
            <a:r>
              <a:rPr lang="en-AU" sz="1200" kern="1200" dirty="0" smtClean="0">
                <a:solidFill>
                  <a:schemeClr val="tx1"/>
                </a:solidFill>
                <a:ea typeface="+mn-ea"/>
                <a:cs typeface="+mn-cs"/>
              </a:rPr>
              <a:t> Provide an essential document to use for monitoring, review and evaluation purposes</a:t>
            </a:r>
          </a:p>
          <a:p>
            <a:pPr>
              <a:buFont typeface="Arial" pitchFamily="34" charset="0"/>
              <a:buChar char="•"/>
            </a:pPr>
            <a:r>
              <a:rPr lang="en-AU" sz="1200" kern="1200" dirty="0" smtClean="0">
                <a:solidFill>
                  <a:schemeClr val="tx1"/>
                </a:solidFill>
                <a:ea typeface="+mn-ea"/>
                <a:cs typeface="+mn-cs"/>
              </a:rPr>
              <a:t> Provide a vital communication tool for stakeholders in relation to the project</a:t>
            </a:r>
          </a:p>
          <a:p>
            <a:pPr>
              <a:buFont typeface="Arial" pitchFamily="34" charset="0"/>
              <a:buChar char="•"/>
            </a:pPr>
            <a:r>
              <a:rPr lang="en-AU" sz="1200" kern="1200" dirty="0" smtClean="0">
                <a:solidFill>
                  <a:schemeClr val="tx1"/>
                </a:solidFill>
                <a:ea typeface="+mn-ea"/>
                <a:cs typeface="+mn-cs"/>
              </a:rPr>
              <a:t> Facilitate risk planning and management</a:t>
            </a:r>
          </a:p>
          <a:p>
            <a:pPr>
              <a:buFont typeface="Arial" pitchFamily="34" charset="0"/>
              <a:buChar char="•"/>
            </a:pPr>
            <a:r>
              <a:rPr lang="en-AU" sz="1200" kern="1200" dirty="0" smtClean="0">
                <a:solidFill>
                  <a:schemeClr val="tx1"/>
                </a:solidFill>
                <a:ea typeface="+mn-ea"/>
                <a:cs typeface="+mn-cs"/>
              </a:rPr>
              <a:t> Prescribe outcomes that can be used as the basis for guiding decision making throughout the project.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in part, helps provide a context for decision making</a:t>
            </a:r>
          </a:p>
          <a:p>
            <a:pPr>
              <a:buFont typeface="Arial" pitchFamily="34" charset="0"/>
              <a:buChar char="•"/>
            </a:pPr>
            <a:r>
              <a:rPr lang="en-AU" sz="1200" kern="1200" dirty="0" smtClean="0">
                <a:solidFill>
                  <a:schemeClr val="tx1"/>
                </a:solidFill>
                <a:ea typeface="+mn-ea"/>
                <a:cs typeface="+mn-cs"/>
              </a:rPr>
              <a:t> Optimise the likelihood everything that should be thought about and considered regarding the project is, in fact, identified and given the necessary attention.</a:t>
            </a:r>
            <a:r>
              <a:rPr lang="en-AU" sz="1200" kern="1200" baseline="0" dirty="0" smtClean="0">
                <a:solidFill>
                  <a:schemeClr val="tx1"/>
                </a:solidFill>
                <a:ea typeface="+mn-ea"/>
                <a:cs typeface="+mn-cs"/>
              </a:rPr>
              <a:t> W</a:t>
            </a:r>
            <a:r>
              <a:rPr lang="en-AU" sz="1200" kern="1200" dirty="0" smtClean="0">
                <a:solidFill>
                  <a:schemeClr val="tx1"/>
                </a:solidFill>
                <a:ea typeface="+mn-ea"/>
                <a:cs typeface="+mn-cs"/>
              </a:rPr>
              <a:t>ith a project management plan there is a less chance of important/costly things being overlooked.</a:t>
            </a:r>
          </a:p>
          <a:p>
            <a:pPr>
              <a:buFont typeface="Arial" pitchFamily="34" charset="0"/>
              <a:buNone/>
            </a:pPr>
            <a:endParaRPr lang="en-US" dirty="0" smtClean="0"/>
          </a:p>
          <a:p>
            <a:pPr>
              <a:buFont typeface="Arial" pitchFamily="34" charset="0"/>
              <a:buNone/>
            </a:pPr>
            <a:r>
              <a:rPr lang="en-US" b="1" dirty="0" smtClean="0"/>
              <a:t>Class Activity – Handout </a:t>
            </a:r>
          </a:p>
          <a:p>
            <a:pPr>
              <a:buFont typeface="Arial" pitchFamily="34" charset="0"/>
              <a:buNone/>
            </a:pPr>
            <a:r>
              <a:rPr lang="en-US" b="0" dirty="0" smtClean="0"/>
              <a:t>Trainer distributes and discusses sample project management plan.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give disadvantages associated with preparing project management plans:</a:t>
            </a:r>
          </a:p>
          <a:p>
            <a:pPr lvl="0">
              <a:buFont typeface="Arial" pitchFamily="34" charset="0"/>
              <a:buChar char="•"/>
            </a:pPr>
            <a:r>
              <a:rPr lang="en-AU" sz="1200" kern="1200" dirty="0" smtClean="0">
                <a:solidFill>
                  <a:schemeClr val="tx1"/>
                </a:solidFill>
                <a:ea typeface="+mn-ea"/>
                <a:cs typeface="+mn-cs"/>
              </a:rPr>
              <a:t> They take time.</a:t>
            </a:r>
            <a:r>
              <a:rPr lang="en-AU" sz="1200" kern="1200" baseline="0" dirty="0" smtClean="0">
                <a:solidFill>
                  <a:schemeClr val="tx1"/>
                </a:solidFill>
                <a:ea typeface="+mn-ea"/>
                <a:cs typeface="+mn-cs"/>
              </a:rPr>
              <a:t> S</a:t>
            </a:r>
            <a:r>
              <a:rPr lang="en-AU" sz="1200" kern="1200" dirty="0" smtClean="0">
                <a:solidFill>
                  <a:schemeClr val="tx1"/>
                </a:solidFill>
                <a:ea typeface="+mn-ea"/>
                <a:cs typeface="+mn-cs"/>
              </a:rPr>
              <a:t>ome will argue they take too much time especially where the timeframe for completion is short and the nature of the project is </a:t>
            </a:r>
            <a:r>
              <a:rPr lang="en-AU" sz="1200" i="1" kern="1200" dirty="0" smtClean="0">
                <a:solidFill>
                  <a:schemeClr val="tx1"/>
                </a:solidFill>
                <a:ea typeface="+mn-ea"/>
                <a:cs typeface="+mn-cs"/>
              </a:rPr>
              <a:t>very</a:t>
            </a:r>
            <a:r>
              <a:rPr lang="en-AU" sz="1200" kern="1200" dirty="0" smtClean="0">
                <a:solidFill>
                  <a:schemeClr val="tx1"/>
                </a:solidFill>
                <a:ea typeface="+mn-ea"/>
                <a:cs typeface="+mn-cs"/>
              </a:rPr>
              <a:t> small </a:t>
            </a:r>
          </a:p>
          <a:p>
            <a:pPr lvl="1">
              <a:buFont typeface="Arial" pitchFamily="34" charset="0"/>
              <a:buChar char="•"/>
            </a:pPr>
            <a:r>
              <a:rPr lang="en-AU" sz="1200" kern="1200" dirty="0" smtClean="0">
                <a:solidFill>
                  <a:schemeClr val="tx1"/>
                </a:solidFill>
                <a:ea typeface="+mn-ea"/>
                <a:cs typeface="+mn-cs"/>
              </a:rPr>
              <a:t> The danger, people will argue, is too much time is ‘wasted’ on planning that should be used for ‘doing something’.</a:t>
            </a:r>
          </a:p>
          <a:p>
            <a:pPr lvl="1">
              <a:buFont typeface="Arial" pitchFamily="34" charset="0"/>
              <a:buChar char="•"/>
            </a:pPr>
            <a:r>
              <a:rPr lang="en-AU" sz="1200" kern="1200" dirty="0" smtClean="0">
                <a:solidFill>
                  <a:schemeClr val="tx1"/>
                </a:solidFill>
                <a:ea typeface="+mn-ea"/>
                <a:cs typeface="+mn-cs"/>
              </a:rPr>
              <a:t> In some venues you may have no choice in this regard as there may be a policy </a:t>
            </a:r>
            <a:r>
              <a:rPr lang="en-AU" sz="1200" i="1" kern="1200" dirty="0" smtClean="0">
                <a:solidFill>
                  <a:schemeClr val="tx1"/>
                </a:solidFill>
                <a:ea typeface="+mn-ea"/>
                <a:cs typeface="+mn-cs"/>
              </a:rPr>
              <a:t>requiring</a:t>
            </a:r>
            <a:r>
              <a:rPr lang="en-AU" sz="1200" kern="1200" dirty="0" smtClean="0">
                <a:solidFill>
                  <a:schemeClr val="tx1"/>
                </a:solidFill>
                <a:ea typeface="+mn-ea"/>
                <a:cs typeface="+mn-cs"/>
              </a:rPr>
              <a:t> you to prepare a project management plan,</a:t>
            </a:r>
          </a:p>
          <a:p>
            <a:pPr lvl="0">
              <a:buFont typeface="Arial" pitchFamily="34" charset="0"/>
              <a:buChar char="•"/>
            </a:pPr>
            <a:r>
              <a:rPr lang="en-AU" sz="1200" kern="1200" dirty="0" smtClean="0">
                <a:solidFill>
                  <a:schemeClr val="tx1"/>
                </a:solidFill>
                <a:ea typeface="+mn-ea"/>
                <a:cs typeface="+mn-cs"/>
              </a:rPr>
              <a:t> A project management plan limits flexibility.</a:t>
            </a:r>
            <a:r>
              <a:rPr lang="en-AU" sz="1200" kern="1200" baseline="0" dirty="0" smtClean="0">
                <a:solidFill>
                  <a:schemeClr val="tx1"/>
                </a:solidFill>
                <a:ea typeface="+mn-ea"/>
                <a:cs typeface="+mn-cs"/>
              </a:rPr>
              <a:t> M</a:t>
            </a:r>
            <a:r>
              <a:rPr lang="en-AU" sz="1200" kern="1200" dirty="0" smtClean="0">
                <a:solidFill>
                  <a:schemeClr val="tx1"/>
                </a:solidFill>
                <a:ea typeface="+mn-ea"/>
                <a:cs typeface="+mn-cs"/>
              </a:rPr>
              <a:t>any people feel their ability to make decisions ‘on the run’/as things unfold or emerge is severely limited by the need to conform to a project management plan.</a:t>
            </a:r>
          </a:p>
          <a:p>
            <a:pPr lvl="1">
              <a:buFont typeface="Arial" pitchFamily="34" charset="0"/>
              <a:buChar char="•"/>
            </a:pPr>
            <a:r>
              <a:rPr lang="en-AU" sz="1200" kern="1200" dirty="0" smtClean="0">
                <a:solidFill>
                  <a:schemeClr val="tx1"/>
                </a:solidFill>
                <a:ea typeface="+mn-ea"/>
                <a:cs typeface="+mn-cs"/>
              </a:rPr>
              <a:t> Arguably this is not a severe limitation as the basis for all plans must be they are ‘set in jelly and not in concrete’: the plan must be flexible to accommodate unforeseen issues and eventualities.</a:t>
            </a:r>
          </a:p>
          <a:p>
            <a:pPr lvl="0">
              <a:buFont typeface="Arial" pitchFamily="34" charset="0"/>
              <a:buChar char="•"/>
            </a:pPr>
            <a:r>
              <a:rPr lang="en-AU" sz="1200" kern="1200" dirty="0" smtClean="0">
                <a:solidFill>
                  <a:schemeClr val="tx1"/>
                </a:solidFill>
                <a:ea typeface="+mn-ea"/>
                <a:cs typeface="+mn-cs"/>
              </a:rPr>
              <a:t> Significant effort can often be expended focussing on the minutiae of the project with the danger being the focus on the bigger picture is lost or distorted.</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contents of project management plans:</a:t>
            </a:r>
          </a:p>
          <a:p>
            <a:pPr lvl="0">
              <a:buFont typeface="Arial" pitchFamily="34" charset="0"/>
              <a:buChar char="•"/>
            </a:pPr>
            <a:r>
              <a:rPr lang="en-AU" sz="1200" kern="1200" dirty="0" smtClean="0">
                <a:solidFill>
                  <a:schemeClr val="tx1"/>
                </a:solidFill>
                <a:ea typeface="+mn-ea"/>
                <a:cs typeface="+mn-cs"/>
              </a:rPr>
              <a:t> Name/title of the project.</a:t>
            </a:r>
            <a:r>
              <a:rPr lang="en-AU" sz="1200" kern="1200" baseline="0" dirty="0" smtClean="0">
                <a:solidFill>
                  <a:schemeClr val="tx1"/>
                </a:solidFill>
                <a:ea typeface="+mn-ea"/>
                <a:cs typeface="+mn-cs"/>
              </a:rPr>
              <a:t> E</a:t>
            </a:r>
            <a:r>
              <a:rPr lang="en-AU" sz="1200" kern="1200" dirty="0" smtClean="0">
                <a:solidFill>
                  <a:schemeClr val="tx1"/>
                </a:solidFill>
                <a:ea typeface="+mn-ea"/>
                <a:cs typeface="+mn-cs"/>
              </a:rPr>
              <a:t>very project should have a definite name/title to readily differentiate one project from another</a:t>
            </a:r>
          </a:p>
          <a:p>
            <a:pPr lvl="0">
              <a:buFont typeface="Arial" pitchFamily="34" charset="0"/>
              <a:buChar char="•"/>
            </a:pPr>
            <a:r>
              <a:rPr lang="en-AU" sz="1200" kern="1200" dirty="0" smtClean="0">
                <a:solidFill>
                  <a:schemeClr val="tx1"/>
                </a:solidFill>
                <a:ea typeface="+mn-ea"/>
                <a:cs typeface="+mn-cs"/>
              </a:rPr>
              <a:t> Name of the person/s who prepared the project management plan and date it was presented for consideration/approval.</a:t>
            </a:r>
          </a:p>
          <a:p>
            <a:pPr lvl="1">
              <a:buFont typeface="Arial" pitchFamily="34" charset="0"/>
              <a:buChar char="•"/>
            </a:pPr>
            <a:r>
              <a:rPr lang="en-AU" sz="1200" kern="1200" dirty="0" smtClean="0">
                <a:solidFill>
                  <a:schemeClr val="tx1"/>
                </a:solidFill>
                <a:ea typeface="+mn-ea"/>
                <a:cs typeface="+mn-cs"/>
              </a:rPr>
              <a:t> This provides a reference point in the event someone wishes to query of clarify an aspect of the plan</a:t>
            </a:r>
          </a:p>
          <a:p>
            <a:pPr lvl="0">
              <a:buFont typeface="Arial" pitchFamily="34" charset="0"/>
              <a:buChar char="•"/>
            </a:pPr>
            <a:r>
              <a:rPr lang="en-AU" sz="1200" kern="1200" dirty="0" smtClean="0">
                <a:solidFill>
                  <a:schemeClr val="tx1"/>
                </a:solidFill>
                <a:ea typeface="+mn-ea"/>
                <a:cs typeface="+mn-cs"/>
              </a:rPr>
              <a:t> Start and finish dates.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should apply to:</a:t>
            </a:r>
          </a:p>
          <a:p>
            <a:pPr lvl="1">
              <a:buFont typeface="Arial" pitchFamily="34" charset="0"/>
              <a:buChar char="•"/>
            </a:pPr>
            <a:r>
              <a:rPr lang="en-AU" sz="1200" kern="1200" dirty="0" smtClean="0">
                <a:solidFill>
                  <a:schemeClr val="tx1"/>
                </a:solidFill>
                <a:ea typeface="+mn-ea"/>
                <a:cs typeface="+mn-cs"/>
              </a:rPr>
              <a:t> The overall project</a:t>
            </a:r>
          </a:p>
          <a:p>
            <a:pPr lvl="1">
              <a:buFont typeface="Arial" pitchFamily="34" charset="0"/>
              <a:buChar char="•"/>
            </a:pPr>
            <a:r>
              <a:rPr lang="en-AU" sz="1200" kern="1200" dirty="0" smtClean="0">
                <a:solidFill>
                  <a:schemeClr val="tx1"/>
                </a:solidFill>
                <a:ea typeface="+mn-ea"/>
                <a:cs typeface="+mn-cs"/>
              </a:rPr>
              <a:t> Stages of the project</a:t>
            </a:r>
          </a:p>
          <a:p>
            <a:pPr lvl="0">
              <a:buFont typeface="Arial" pitchFamily="34" charset="0"/>
              <a:buChar char="•"/>
            </a:pPr>
            <a:r>
              <a:rPr lang="en-AU" sz="1200" kern="1200" dirty="0" smtClean="0">
                <a:solidFill>
                  <a:schemeClr val="tx1"/>
                </a:solidFill>
                <a:ea typeface="+mn-ea"/>
                <a:cs typeface="+mn-cs"/>
              </a:rPr>
              <a:t> Identified stages of the project,</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describing them in words (which identify the action required and/or the final outcome for the stage) and providing start and finish dates.</a:t>
            </a:r>
          </a:p>
          <a:p>
            <a:pPr lvl="1">
              <a:buFont typeface="Arial" pitchFamily="34" charset="0"/>
              <a:buChar char="•"/>
            </a:pPr>
            <a:r>
              <a:rPr lang="en-AU" sz="1200" kern="1200" dirty="0" smtClean="0">
                <a:solidFill>
                  <a:schemeClr val="tx1"/>
                </a:solidFill>
                <a:ea typeface="+mn-ea"/>
                <a:cs typeface="+mn-cs"/>
              </a:rPr>
              <a:t> These ‘stages’ should also contain a set of supporting actions (sub-steps) to be taken to achieve the desired outcomes.</a:t>
            </a:r>
          </a:p>
          <a:p>
            <a:pPr lvl="1">
              <a:buFont typeface="Arial" pitchFamily="34" charset="0"/>
              <a:buChar char="•"/>
            </a:pPr>
            <a:r>
              <a:rPr lang="en-AU" sz="1200" kern="1200" dirty="0" smtClean="0">
                <a:solidFill>
                  <a:schemeClr val="tx1"/>
                </a:solidFill>
                <a:ea typeface="+mn-ea"/>
                <a:cs typeface="+mn-cs"/>
              </a:rPr>
              <a:t> These stages are the ‘activities’ which need to be undertake.</a:t>
            </a:r>
            <a:r>
              <a:rPr lang="en-AU" sz="1200" kern="1200" baseline="0" dirty="0" smtClean="0">
                <a:solidFill>
                  <a:schemeClr val="tx1"/>
                </a:solidFill>
                <a:ea typeface="+mn-ea"/>
                <a:cs typeface="+mn-cs"/>
              </a:rPr>
              <a:t> A</a:t>
            </a:r>
            <a:r>
              <a:rPr lang="en-AU" sz="1200" kern="1200" dirty="0" smtClean="0">
                <a:solidFill>
                  <a:schemeClr val="tx1"/>
                </a:solidFill>
                <a:ea typeface="+mn-ea"/>
                <a:cs typeface="+mn-cs"/>
              </a:rPr>
              <a:t>ll activities must be allocated to one or more persons/businesses who responsibility for their completion.</a:t>
            </a:r>
          </a:p>
          <a:p>
            <a:pPr lvl="1">
              <a:buFont typeface="Arial" pitchFamily="34" charset="0"/>
              <a:buChar char="•"/>
            </a:pPr>
            <a:r>
              <a:rPr lang="en-AU" sz="1200" kern="1200" dirty="0" smtClean="0">
                <a:solidFill>
                  <a:schemeClr val="tx1"/>
                </a:solidFill>
                <a:ea typeface="+mn-ea"/>
                <a:cs typeface="+mn-cs"/>
              </a:rPr>
              <a:t> When all the listed stages have been completed, the project has been finalised.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contents of project management plans:</a:t>
            </a:r>
          </a:p>
          <a:p>
            <a:pPr lvl="0">
              <a:buFont typeface="Arial" pitchFamily="34" charset="0"/>
              <a:buChar char="•"/>
            </a:pPr>
            <a:r>
              <a:rPr lang="en-AU" sz="1200" kern="1200" dirty="0" smtClean="0">
                <a:solidFill>
                  <a:schemeClr val="tx1"/>
                </a:solidFill>
                <a:ea typeface="+mn-ea"/>
                <a:cs typeface="+mn-cs"/>
              </a:rPr>
              <a:t> Major stakeholders by name, contact details and reason they are regarded as stakeholders</a:t>
            </a:r>
          </a:p>
          <a:p>
            <a:pPr lvl="0">
              <a:buFont typeface="Arial" pitchFamily="34" charset="0"/>
              <a:buChar char="•"/>
            </a:pPr>
            <a:r>
              <a:rPr lang="en-AU" sz="1200" kern="1200" dirty="0" smtClean="0">
                <a:solidFill>
                  <a:schemeClr val="tx1"/>
                </a:solidFill>
                <a:ea typeface="+mn-ea"/>
                <a:cs typeface="+mn-cs"/>
              </a:rPr>
              <a:t> Risk identification and management/controls for those identified risks according to standard risk management procedures already undertaken.</a:t>
            </a:r>
          </a:p>
          <a:p>
            <a:pPr lvl="1">
              <a:buFont typeface="Arial" pitchFamily="34" charset="0"/>
              <a:buChar char="•"/>
            </a:pPr>
            <a:r>
              <a:rPr lang="en-AU" sz="1200" kern="1200" dirty="0" smtClean="0">
                <a:solidFill>
                  <a:schemeClr val="tx1"/>
                </a:solidFill>
                <a:ea typeface="+mn-ea"/>
                <a:cs typeface="+mn-cs"/>
              </a:rPr>
              <a:t> Note: it is standard for risk management to take place </a:t>
            </a:r>
            <a:r>
              <a:rPr lang="en-AU" sz="1200" i="1" kern="1200" dirty="0" smtClean="0">
                <a:solidFill>
                  <a:schemeClr val="tx1"/>
                </a:solidFill>
                <a:ea typeface="+mn-ea"/>
                <a:cs typeface="+mn-cs"/>
              </a:rPr>
              <a:t>prior</a:t>
            </a:r>
            <a:r>
              <a:rPr lang="en-AU" sz="1200" kern="1200" dirty="0" smtClean="0">
                <a:solidFill>
                  <a:schemeClr val="tx1"/>
                </a:solidFill>
                <a:ea typeface="+mn-ea"/>
                <a:cs typeface="+mn-cs"/>
              </a:rPr>
              <a:t> to the development of project management plan as this is often an essential element in determining the viability of the project.</a:t>
            </a:r>
          </a:p>
          <a:p>
            <a:pPr lvl="1">
              <a:buFont typeface="Arial" pitchFamily="34" charset="0"/>
              <a:buChar char="•"/>
            </a:pPr>
            <a:r>
              <a:rPr lang="en-AU" sz="1200" kern="1200" dirty="0" smtClean="0">
                <a:solidFill>
                  <a:schemeClr val="tx1"/>
                </a:solidFill>
                <a:ea typeface="+mn-ea"/>
                <a:cs typeface="+mn-cs"/>
              </a:rPr>
              <a:t> If risk management has already been done, the plan may include risk management activities (risk identification, risk assessment and development of risk controls).</a:t>
            </a:r>
          </a:p>
          <a:p>
            <a:pPr lvl="1">
              <a:buFont typeface="Arial" pitchFamily="34" charset="0"/>
              <a:buChar char="•"/>
            </a:pPr>
            <a:r>
              <a:rPr lang="en-AU" sz="1200" kern="1200" dirty="0" smtClean="0">
                <a:solidFill>
                  <a:schemeClr val="tx1"/>
                </a:solidFill>
                <a:ea typeface="+mn-ea"/>
                <a:cs typeface="+mn-cs"/>
              </a:rPr>
              <a:t> See later slides for more information.</a:t>
            </a:r>
          </a:p>
          <a:p>
            <a:pPr lvl="0">
              <a:buFont typeface="Arial" pitchFamily="34" charset="0"/>
              <a:buChar char="•"/>
            </a:pPr>
            <a:r>
              <a:rPr lang="en-AU" sz="1200" kern="1200" dirty="0" smtClean="0">
                <a:solidFill>
                  <a:schemeClr val="tx1"/>
                </a:solidFill>
                <a:ea typeface="+mn-ea"/>
                <a:cs typeface="+mn-cs"/>
              </a:rPr>
              <a:t> Milestone information and dates – see later slides</a:t>
            </a:r>
          </a:p>
          <a:p>
            <a:pPr lvl="0">
              <a:buFont typeface="Arial" pitchFamily="34" charset="0"/>
              <a:buChar char="•"/>
            </a:pPr>
            <a:r>
              <a:rPr lang="en-AU" sz="1200" kern="1200" dirty="0" smtClean="0">
                <a:solidFill>
                  <a:schemeClr val="tx1"/>
                </a:solidFill>
                <a:ea typeface="+mn-ea"/>
                <a:cs typeface="+mn-cs"/>
              </a:rPr>
              <a:t> Resources for the project – identifying specific resources (staff, physical resources, information) to achieve the project deliverables</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 Limitations and constraints applicable to the project</a:t>
            </a:r>
          </a:p>
          <a:p>
            <a:pPr lvl="0">
              <a:buFont typeface="Arial" pitchFamily="34" charset="0"/>
              <a:buChar char="•"/>
            </a:pPr>
            <a:endParaRPr lang="en-AU" sz="1200" kern="1200" dirty="0" smtClean="0">
              <a:solidFill>
                <a:schemeClr val="tx1"/>
              </a:solidFill>
              <a:ea typeface="+mn-ea"/>
              <a:cs typeface="+mn-cs"/>
            </a:endParaRP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contents of project management plans:</a:t>
            </a:r>
          </a:p>
          <a:p>
            <a:pPr lvl="0">
              <a:buFont typeface="Arial" pitchFamily="34" charset="0"/>
              <a:buChar char="•"/>
            </a:pPr>
            <a:r>
              <a:rPr lang="en-AU" sz="1200" kern="1200" dirty="0" smtClean="0">
                <a:solidFill>
                  <a:schemeClr val="tx1"/>
                </a:solidFill>
                <a:ea typeface="+mn-ea"/>
                <a:cs typeface="+mn-cs"/>
              </a:rPr>
              <a:t> Key Performance Indicators for use at Milestone dates and on completion of the project to help determine whether or not the project is proceeding according to schedule</a:t>
            </a:r>
          </a:p>
          <a:p>
            <a:pPr lvl="0">
              <a:buFont typeface="Arial" pitchFamily="34" charset="0"/>
              <a:buChar char="•"/>
            </a:pPr>
            <a:r>
              <a:rPr lang="en-AU" sz="1200" kern="1200" dirty="0" smtClean="0">
                <a:solidFill>
                  <a:schemeClr val="tx1"/>
                </a:solidFill>
                <a:ea typeface="+mn-ea"/>
                <a:cs typeface="+mn-cs"/>
              </a:rPr>
              <a:t> Allocation of responsibilities to specific person/s for nominated action/s as identified within the Plan and its Stages</a:t>
            </a:r>
          </a:p>
          <a:p>
            <a:pPr lvl="0">
              <a:buFont typeface="Arial" pitchFamily="34" charset="0"/>
              <a:buChar char="•"/>
            </a:pPr>
            <a:r>
              <a:rPr lang="en-AU" sz="1200" kern="1200" dirty="0" smtClean="0">
                <a:solidFill>
                  <a:schemeClr val="tx1"/>
                </a:solidFill>
                <a:ea typeface="+mn-ea"/>
                <a:cs typeface="+mn-cs"/>
              </a:rPr>
              <a:t> Budget.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should detail:</a:t>
            </a:r>
          </a:p>
          <a:p>
            <a:pPr lvl="1">
              <a:buFont typeface="Arial" pitchFamily="34" charset="0"/>
              <a:buChar char="•"/>
            </a:pPr>
            <a:r>
              <a:rPr lang="en-AU" sz="1200" kern="1200" dirty="0" smtClean="0">
                <a:solidFill>
                  <a:schemeClr val="tx1"/>
                </a:solidFill>
                <a:ea typeface="+mn-ea"/>
                <a:cs typeface="+mn-cs"/>
              </a:rPr>
              <a:t> Total money available with information regarding how this may be spent/what it is to be spent on (and often what is </a:t>
            </a:r>
            <a:r>
              <a:rPr lang="en-AU" sz="1200" b="1" kern="1200" dirty="0" smtClean="0">
                <a:solidFill>
                  <a:schemeClr val="tx1"/>
                </a:solidFill>
                <a:ea typeface="+mn-ea"/>
                <a:cs typeface="+mn-cs"/>
              </a:rPr>
              <a:t>cannot</a:t>
            </a:r>
            <a:r>
              <a:rPr lang="en-AU" sz="1200" kern="1200" dirty="0" smtClean="0">
                <a:solidFill>
                  <a:schemeClr val="tx1"/>
                </a:solidFill>
                <a:ea typeface="+mn-ea"/>
                <a:cs typeface="+mn-cs"/>
              </a:rPr>
              <a:t> be spent on)</a:t>
            </a:r>
          </a:p>
          <a:p>
            <a:pPr lvl="1">
              <a:buFont typeface="Arial" pitchFamily="34" charset="0"/>
              <a:buChar char="•"/>
            </a:pPr>
            <a:r>
              <a:rPr lang="en-AU" sz="1200" kern="1200" dirty="0" smtClean="0">
                <a:solidFill>
                  <a:schemeClr val="tx1"/>
                </a:solidFill>
                <a:ea typeface="+mn-ea"/>
                <a:cs typeface="+mn-cs"/>
              </a:rPr>
              <a:t> Contributions from contributing sources such as clients, agencies, the venue, head office, joint-venture partners, project sponsors</a:t>
            </a:r>
          </a:p>
          <a:p>
            <a:pPr lvl="0">
              <a:buFont typeface="Arial" pitchFamily="34" charset="0"/>
              <a:buChar char="•"/>
            </a:pPr>
            <a:r>
              <a:rPr lang="en-AU" sz="1200" kern="1200" dirty="0" smtClean="0">
                <a:solidFill>
                  <a:schemeClr val="tx1"/>
                </a:solidFill>
                <a:ea typeface="+mn-ea"/>
                <a:cs typeface="+mn-cs"/>
              </a:rPr>
              <a:t> Reporting requirements indicating:</a:t>
            </a:r>
          </a:p>
          <a:p>
            <a:pPr lvl="1">
              <a:buFont typeface="Arial" pitchFamily="34" charset="0"/>
              <a:buChar char="•"/>
            </a:pPr>
            <a:r>
              <a:rPr lang="en-AU" sz="1200" kern="1200" dirty="0" smtClean="0">
                <a:solidFill>
                  <a:schemeClr val="tx1"/>
                </a:solidFill>
                <a:ea typeface="+mn-ea"/>
                <a:cs typeface="+mn-cs"/>
              </a:rPr>
              <a:t> Type of report – for example, inception report, progress report, and final report </a:t>
            </a:r>
          </a:p>
          <a:p>
            <a:pPr lvl="1">
              <a:buFont typeface="Arial" pitchFamily="34" charset="0"/>
              <a:buChar char="•"/>
            </a:pPr>
            <a:r>
              <a:rPr lang="en-AU" sz="1200" kern="1200" dirty="0" smtClean="0">
                <a:solidFill>
                  <a:schemeClr val="tx1"/>
                </a:solidFill>
                <a:ea typeface="+mn-ea"/>
                <a:cs typeface="+mn-cs"/>
              </a:rPr>
              <a:t> Format of report – verbal, or formal written report</a:t>
            </a:r>
          </a:p>
          <a:p>
            <a:pPr lvl="1">
              <a:buFont typeface="Arial" pitchFamily="34" charset="0"/>
              <a:buChar char="•"/>
            </a:pPr>
            <a:r>
              <a:rPr lang="en-AU" sz="1200" kern="1200" dirty="0" smtClean="0">
                <a:solidFill>
                  <a:schemeClr val="tx1"/>
                </a:solidFill>
                <a:ea typeface="+mn-ea"/>
                <a:cs typeface="+mn-cs"/>
              </a:rPr>
              <a:t> Distribution list </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contents of project management plans:</a:t>
            </a:r>
          </a:p>
          <a:p>
            <a:pPr lvl="0">
              <a:buFont typeface="Arial" pitchFamily="34" charset="0"/>
              <a:buChar char="•"/>
            </a:pPr>
            <a:r>
              <a:rPr lang="en-AU" sz="1200" kern="1200" dirty="0" smtClean="0">
                <a:solidFill>
                  <a:schemeClr val="tx1"/>
                </a:solidFill>
                <a:ea typeface="+mn-ea"/>
                <a:cs typeface="+mn-cs"/>
              </a:rPr>
              <a:t> Consultation strategies which may indicate:</a:t>
            </a:r>
          </a:p>
          <a:p>
            <a:pPr lvl="1">
              <a:buFont typeface="Arial" pitchFamily="34" charset="0"/>
              <a:buChar char="•"/>
            </a:pPr>
            <a:r>
              <a:rPr lang="en-AU" sz="1200" kern="1200" dirty="0" smtClean="0">
                <a:solidFill>
                  <a:schemeClr val="tx1"/>
                </a:solidFill>
                <a:ea typeface="+mn-ea"/>
                <a:cs typeface="+mn-cs"/>
              </a:rPr>
              <a:t> Those with whom consultation is required</a:t>
            </a:r>
          </a:p>
          <a:p>
            <a:pPr lvl="1">
              <a:buFont typeface="Arial" pitchFamily="34" charset="0"/>
              <a:buChar char="•"/>
            </a:pPr>
            <a:r>
              <a:rPr lang="en-AU" sz="1200" kern="1200" dirty="0" smtClean="0">
                <a:solidFill>
                  <a:schemeClr val="tx1"/>
                </a:solidFill>
                <a:ea typeface="+mn-ea"/>
                <a:cs typeface="+mn-cs"/>
              </a:rPr>
              <a:t> The nature of these consultations</a:t>
            </a:r>
          </a:p>
          <a:p>
            <a:pPr lvl="1">
              <a:buFont typeface="Arial" pitchFamily="34" charset="0"/>
              <a:buChar char="•"/>
            </a:pPr>
            <a:r>
              <a:rPr lang="en-AU" sz="1200" kern="1200" dirty="0" smtClean="0">
                <a:solidFill>
                  <a:schemeClr val="tx1"/>
                </a:solidFill>
                <a:ea typeface="+mn-ea"/>
                <a:cs typeface="+mn-cs"/>
              </a:rPr>
              <a:t> Frequency or number of consultations necessary</a:t>
            </a:r>
          </a:p>
          <a:p>
            <a:pPr lvl="1">
              <a:buFont typeface="Arial" pitchFamily="34" charset="0"/>
              <a:buChar char="•"/>
            </a:pPr>
            <a:r>
              <a:rPr lang="en-AU" sz="1200" kern="1200" dirty="0" smtClean="0">
                <a:solidFill>
                  <a:schemeClr val="tx1"/>
                </a:solidFill>
                <a:ea typeface="+mn-ea"/>
                <a:cs typeface="+mn-cs"/>
              </a:rPr>
              <a:t> Information required from such consultations</a:t>
            </a:r>
          </a:p>
          <a:p>
            <a:pPr lvl="0">
              <a:buFont typeface="Arial" pitchFamily="34" charset="0"/>
              <a:buChar char="•"/>
            </a:pPr>
            <a:r>
              <a:rPr lang="en-AU" sz="1200" kern="1200" dirty="0" smtClean="0">
                <a:solidFill>
                  <a:schemeClr val="tx1"/>
                </a:solidFill>
                <a:ea typeface="+mn-ea"/>
                <a:cs typeface="+mn-cs"/>
              </a:rPr>
              <a:t> QA requirements – specifying,</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for example:</a:t>
            </a:r>
          </a:p>
          <a:p>
            <a:pPr lvl="1">
              <a:buFont typeface="Arial" pitchFamily="34" charset="0"/>
              <a:buChar char="•"/>
            </a:pPr>
            <a:r>
              <a:rPr lang="en-AU" sz="1200" kern="1200" dirty="0" smtClean="0">
                <a:solidFill>
                  <a:schemeClr val="tx1"/>
                </a:solidFill>
                <a:ea typeface="+mn-ea"/>
                <a:cs typeface="+mn-cs"/>
              </a:rPr>
              <a:t> Standards and criteria to be applied to the project and project deliverables</a:t>
            </a:r>
          </a:p>
          <a:p>
            <a:pPr lvl="1">
              <a:buFont typeface="Arial" pitchFamily="34" charset="0"/>
              <a:buChar char="•"/>
            </a:pPr>
            <a:r>
              <a:rPr lang="en-AU" sz="1200" kern="1200" dirty="0" smtClean="0">
                <a:solidFill>
                  <a:schemeClr val="tx1"/>
                </a:solidFill>
                <a:ea typeface="+mn-ea"/>
                <a:cs typeface="+mn-cs"/>
              </a:rPr>
              <a:t> Qualifications of those used in the project</a:t>
            </a:r>
          </a:p>
          <a:p>
            <a:pPr lvl="1">
              <a:buFont typeface="Arial" pitchFamily="34" charset="0"/>
              <a:buChar char="•"/>
            </a:pPr>
            <a:r>
              <a:rPr lang="en-AU" sz="1200" kern="1200" dirty="0" smtClean="0">
                <a:solidFill>
                  <a:schemeClr val="tx1"/>
                </a:solidFill>
                <a:ea typeface="+mn-ea"/>
                <a:cs typeface="+mn-cs"/>
              </a:rPr>
              <a:t> Relevant compliance requirements imposed by any QA scheme used by the venue</a:t>
            </a:r>
          </a:p>
          <a:p>
            <a:pPr lvl="0">
              <a:buFont typeface="Arial" pitchFamily="34" charset="0"/>
              <a:buChar char="•"/>
            </a:pPr>
            <a:r>
              <a:rPr lang="en-AU" sz="1200" kern="1200" dirty="0" smtClean="0">
                <a:solidFill>
                  <a:schemeClr val="tx1"/>
                </a:solidFill>
                <a:ea typeface="+mn-ea"/>
                <a:cs typeface="+mn-cs"/>
              </a:rPr>
              <a:t> Internal and external communication for the project – see later slides</a:t>
            </a:r>
          </a:p>
          <a:p>
            <a:pPr lvl="0">
              <a:buFont typeface="Arial" pitchFamily="34" charset="0"/>
              <a:buChar char="•"/>
            </a:pPr>
            <a:r>
              <a:rPr lang="en-AU" sz="1200" kern="1200" dirty="0" smtClean="0">
                <a:solidFill>
                  <a:schemeClr val="tx1"/>
                </a:solidFill>
                <a:ea typeface="+mn-ea"/>
                <a:cs typeface="+mn-cs"/>
              </a:rPr>
              <a:t> Details of any tendering or selection process required,</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for example for):</a:t>
            </a:r>
          </a:p>
          <a:p>
            <a:pPr lvl="1">
              <a:buFont typeface="Arial" pitchFamily="34" charset="0"/>
              <a:buChar char="•"/>
            </a:pPr>
            <a:r>
              <a:rPr lang="en-AU" sz="1200" kern="1200" dirty="0" smtClean="0">
                <a:solidFill>
                  <a:schemeClr val="tx1"/>
                </a:solidFill>
                <a:ea typeface="+mn-ea"/>
                <a:cs typeface="+mn-cs"/>
              </a:rPr>
              <a:t> Selecting contractors and consultants</a:t>
            </a:r>
          </a:p>
          <a:p>
            <a:pPr lvl="1">
              <a:buFont typeface="Arial" pitchFamily="34" charset="0"/>
              <a:buChar char="•"/>
            </a:pPr>
            <a:r>
              <a:rPr lang="en-AU" sz="1200" kern="1200" dirty="0" smtClean="0">
                <a:solidFill>
                  <a:schemeClr val="tx1"/>
                </a:solidFill>
                <a:ea typeface="+mn-ea"/>
                <a:cs typeface="+mn-cs"/>
              </a:rPr>
              <a:t> Determining providers/suppliers to be used</a:t>
            </a:r>
          </a:p>
          <a:p>
            <a:pPr lvl="1">
              <a:buFont typeface="Arial" pitchFamily="34" charset="0"/>
              <a:buChar char="•"/>
            </a:pPr>
            <a:r>
              <a:rPr lang="en-AU" sz="1200" kern="1200" dirty="0" smtClean="0">
                <a:solidFill>
                  <a:schemeClr val="tx1"/>
                </a:solidFill>
                <a:ea typeface="+mn-ea"/>
                <a:cs typeface="+mn-cs"/>
              </a:rPr>
              <a:t> Purchasing nominated products or services</a:t>
            </a:r>
          </a:p>
          <a:p>
            <a:pPr lvl="0">
              <a:buFont typeface="Arial" pitchFamily="34" charset="0"/>
              <a:buChar char="•"/>
            </a:pPr>
            <a:r>
              <a:rPr lang="en-AU" sz="1200" kern="1200" dirty="0" smtClean="0">
                <a:solidFill>
                  <a:schemeClr val="tx1"/>
                </a:solidFill>
                <a:ea typeface="+mn-ea"/>
                <a:cs typeface="+mn-cs"/>
              </a:rPr>
              <a:t> Details relating to evaluation of the project – identifying those involved, dates and requirements for evaluation of the completed project.</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Work Breakdown Structure:</a:t>
            </a:r>
          </a:p>
          <a:p>
            <a:pPr>
              <a:buFont typeface="Arial" pitchFamily="34" charset="0"/>
              <a:buChar char="•"/>
            </a:pPr>
            <a:r>
              <a:rPr lang="en-AU" sz="1200" kern="1200" dirty="0" smtClean="0">
                <a:solidFill>
                  <a:schemeClr val="tx1"/>
                </a:solidFill>
                <a:ea typeface="+mn-ea"/>
                <a:cs typeface="+mn-cs"/>
              </a:rPr>
              <a:t> A concept that can be used to assist with project planning </a:t>
            </a:r>
          </a:p>
          <a:p>
            <a:pPr lvl="1">
              <a:buFont typeface="Arial" pitchFamily="34" charset="0"/>
              <a:buChar char="•"/>
            </a:pPr>
            <a:r>
              <a:rPr lang="en-AU" sz="1200" kern="1200" dirty="0" smtClean="0">
                <a:solidFill>
                  <a:schemeClr val="tx1"/>
                </a:solidFill>
                <a:ea typeface="+mn-ea"/>
                <a:cs typeface="+mn-cs"/>
              </a:rPr>
              <a:t> It is not mandatory, but can help make sense of projects by providing the mechanism for breaking them down into smaller, more manageable sub-sets or Stages (also referred to in project management terms as ‘discrete work elements’)</a:t>
            </a:r>
          </a:p>
          <a:p>
            <a:pPr>
              <a:buFont typeface="Arial" pitchFamily="34" charset="0"/>
              <a:buChar char="•"/>
            </a:pPr>
            <a:r>
              <a:rPr lang="en-AU" sz="1200" kern="1200" dirty="0" smtClean="0">
                <a:solidFill>
                  <a:schemeClr val="tx1"/>
                </a:solidFill>
                <a:ea typeface="+mn-ea"/>
                <a:cs typeface="+mn-cs"/>
              </a:rPr>
              <a:t> Is quite time consuming</a:t>
            </a:r>
          </a:p>
          <a:p>
            <a:pPr>
              <a:buFont typeface="Arial" pitchFamily="34" charset="0"/>
              <a:buChar char="•"/>
            </a:pPr>
            <a:r>
              <a:rPr lang="en-AU" sz="1200" kern="1200" dirty="0" smtClean="0">
                <a:solidFill>
                  <a:schemeClr val="tx1"/>
                </a:solidFill>
                <a:ea typeface="+mn-ea"/>
                <a:cs typeface="+mn-cs"/>
              </a:rPr>
              <a:t> Important points to remember when using WBS are:</a:t>
            </a:r>
          </a:p>
          <a:p>
            <a:pPr lvl="1">
              <a:buFont typeface="Arial" pitchFamily="34" charset="0"/>
              <a:buChar char="•"/>
            </a:pPr>
            <a:r>
              <a:rPr lang="en-AU" sz="1200" kern="1200" dirty="0" smtClean="0">
                <a:solidFill>
                  <a:schemeClr val="tx1"/>
                </a:solidFill>
                <a:ea typeface="+mn-ea"/>
                <a:cs typeface="+mn-cs"/>
              </a:rPr>
              <a:t> ‘The 100% rule’ – meaning the activity must cover all the requirements (100%) of the project</a:t>
            </a:r>
          </a:p>
          <a:p>
            <a:pPr lvl="1">
              <a:buFont typeface="Arial" pitchFamily="34" charset="0"/>
              <a:buChar char="•"/>
            </a:pPr>
            <a:r>
              <a:rPr lang="en-AU" sz="1200" kern="1200" dirty="0" smtClean="0">
                <a:solidFill>
                  <a:schemeClr val="tx1"/>
                </a:solidFill>
                <a:ea typeface="+mn-ea"/>
                <a:cs typeface="+mn-cs"/>
              </a:rPr>
              <a:t> The 100% rule also means actions outside the scope of the project must not be covered</a:t>
            </a:r>
          </a:p>
          <a:p>
            <a:pPr lvl="1">
              <a:buFont typeface="Arial" pitchFamily="34" charset="0"/>
              <a:buChar char="•"/>
            </a:pPr>
            <a:r>
              <a:rPr lang="en-AU" sz="1200" kern="1200" dirty="0" smtClean="0">
                <a:solidFill>
                  <a:schemeClr val="tx1"/>
                </a:solidFill>
                <a:ea typeface="+mn-ea"/>
                <a:cs typeface="+mn-cs"/>
              </a:rPr>
              <a:t> There must be no overlap/duplication between elements of the project in terms of their attribution in the WBS.</a:t>
            </a:r>
          </a:p>
          <a:p>
            <a:pPr>
              <a:buFont typeface="Arial" pitchFamily="34" charset="0"/>
              <a:buChar char="•"/>
            </a:pPr>
            <a:endParaRPr lang="en-AU" sz="1200" kern="1200" dirty="0" smtClean="0">
              <a:solidFill>
                <a:schemeClr val="tx1"/>
              </a:solidFill>
              <a:ea typeface="+mn-ea"/>
              <a:cs typeface="+mn-cs"/>
            </a:endParaRPr>
          </a:p>
          <a:p>
            <a:pPr>
              <a:buFont typeface="Arial" pitchFamily="34" charset="0"/>
              <a:buNone/>
            </a:pPr>
            <a:r>
              <a:rPr lang="en-US" b="1" dirty="0" smtClean="0"/>
              <a:t>Class Activity – Internet research</a:t>
            </a:r>
          </a:p>
          <a:p>
            <a:pPr>
              <a:buFont typeface="Arial" pitchFamily="34" charset="0"/>
              <a:buNone/>
            </a:pPr>
            <a:r>
              <a:rPr lang="en-US" b="0" dirty="0" smtClean="0"/>
              <a:t>Trainer facilitates students in accessing the following sites and engaging in discussion of</a:t>
            </a:r>
            <a:r>
              <a:rPr lang="en-US" b="0" baseline="0" dirty="0" smtClean="0"/>
              <a:t> information discovered:</a:t>
            </a:r>
          </a:p>
          <a:p>
            <a:pPr lvl="0"/>
            <a:r>
              <a:rPr lang="en-AU" sz="1200" u="sng" kern="1200" dirty="0" smtClean="0">
                <a:solidFill>
                  <a:schemeClr val="tx1"/>
                </a:solidFill>
                <a:ea typeface="+mn-ea"/>
                <a:cs typeface="+mn-cs"/>
                <a:hlinkClick r:id="rId3"/>
              </a:rPr>
              <a:t>http://www.hyperthot.com/pm_wbs.htm</a:t>
            </a:r>
            <a:r>
              <a:rPr lang="en-AU" sz="1200" kern="1200" dirty="0" smtClean="0">
                <a:solidFill>
                  <a:schemeClr val="tx1"/>
                </a:solidFill>
                <a:ea typeface="+mn-ea"/>
                <a:cs typeface="+mn-cs"/>
              </a:rPr>
              <a:t>  </a:t>
            </a:r>
          </a:p>
          <a:p>
            <a:pPr lvl="0"/>
            <a:r>
              <a:rPr lang="en-AU" sz="1200" u="sng" kern="1200" dirty="0" smtClean="0">
                <a:solidFill>
                  <a:schemeClr val="tx1"/>
                </a:solidFill>
                <a:ea typeface="+mn-ea"/>
                <a:cs typeface="+mn-cs"/>
                <a:hlinkClick r:id="rId4"/>
              </a:rPr>
              <a:t>http://www.anticlue.net/archives/000964.htm</a:t>
            </a:r>
            <a:r>
              <a:rPr lang="en-AU" sz="1200" kern="1200" dirty="0" smtClean="0">
                <a:solidFill>
                  <a:schemeClr val="tx1"/>
                </a:solidFill>
                <a:ea typeface="+mn-ea"/>
                <a:cs typeface="+mn-cs"/>
              </a:rPr>
              <a:t> </a:t>
            </a:r>
          </a:p>
          <a:p>
            <a:pPr>
              <a:buFont typeface="Arial" pitchFamily="34" charset="0"/>
              <a:buNone/>
            </a:pPr>
            <a:endParaRPr lang="en-US" b="0" baseline="0" dirty="0" smtClean="0"/>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planning and preparation activities prior to  communicating the project management plan to relevant persons:</a:t>
            </a:r>
          </a:p>
          <a:p>
            <a:pPr lvl="0">
              <a:buFont typeface="Arial" pitchFamily="34" charset="0"/>
              <a:buChar char="•"/>
            </a:pPr>
            <a:r>
              <a:rPr lang="en-AU" sz="1200" kern="1200" dirty="0" smtClean="0">
                <a:solidFill>
                  <a:schemeClr val="tx1"/>
                </a:solidFill>
                <a:ea typeface="+mn-ea"/>
                <a:cs typeface="+mn-cs"/>
              </a:rPr>
              <a:t> Arrange a forum for the meeting – a nominated room </a:t>
            </a:r>
          </a:p>
          <a:p>
            <a:pPr lvl="0">
              <a:buFont typeface="Arial" pitchFamily="34" charset="0"/>
              <a:buChar char="•"/>
            </a:pPr>
            <a:r>
              <a:rPr lang="en-AU" sz="1200" kern="1200" dirty="0" smtClean="0">
                <a:solidFill>
                  <a:schemeClr val="tx1"/>
                </a:solidFill>
                <a:ea typeface="+mn-ea"/>
                <a:cs typeface="+mn-cs"/>
              </a:rPr>
              <a:t> Arrange a date and time – in consultation with those who are required to attend</a:t>
            </a:r>
          </a:p>
          <a:p>
            <a:pPr lvl="0">
              <a:buFont typeface="Arial" pitchFamily="34" charset="0"/>
              <a:buChar char="•"/>
            </a:pPr>
            <a:r>
              <a:rPr lang="en-AU" sz="1200" kern="1200" dirty="0" smtClean="0">
                <a:solidFill>
                  <a:schemeClr val="tx1"/>
                </a:solidFill>
                <a:ea typeface="+mn-ea"/>
                <a:cs typeface="+mn-cs"/>
              </a:rPr>
              <a:t> Notify those who need to attend – using their known communication preference</a:t>
            </a:r>
          </a:p>
          <a:p>
            <a:pPr lvl="0">
              <a:buFont typeface="Arial" pitchFamily="34" charset="0"/>
              <a:buChar char="•"/>
            </a:pPr>
            <a:r>
              <a:rPr lang="en-AU" sz="1200" kern="1200" dirty="0" smtClean="0">
                <a:solidFill>
                  <a:schemeClr val="tx1"/>
                </a:solidFill>
                <a:ea typeface="+mn-ea"/>
                <a:cs typeface="+mn-cs"/>
              </a:rPr>
              <a:t> Follow up with those invited/required to attend – to encourage their attendance</a:t>
            </a:r>
          </a:p>
          <a:p>
            <a:pPr lvl="0">
              <a:buFont typeface="Arial" pitchFamily="34" charset="0"/>
              <a:buChar char="•"/>
            </a:pPr>
            <a:r>
              <a:rPr lang="en-AU" sz="1200" kern="1200" dirty="0" smtClean="0">
                <a:solidFill>
                  <a:schemeClr val="tx1"/>
                </a:solidFill>
                <a:ea typeface="+mn-ea"/>
                <a:cs typeface="+mn-cs"/>
              </a:rPr>
              <a:t> Arrange catering – tea, coffee, water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discussing planning and preparation activities prior to  communicating the project management plan to relevant persons:</a:t>
            </a:r>
          </a:p>
          <a:p>
            <a:pPr lvl="0">
              <a:buFont typeface="Arial" pitchFamily="34" charset="0"/>
              <a:buChar char="•"/>
            </a:pPr>
            <a:r>
              <a:rPr lang="en-AU" sz="1200" kern="1200" dirty="0" smtClean="0">
                <a:solidFill>
                  <a:schemeClr val="tx1"/>
                </a:solidFill>
                <a:ea typeface="+mn-ea"/>
                <a:cs typeface="+mn-cs"/>
              </a:rPr>
              <a:t> Plan the presentation – this is vital. </a:t>
            </a:r>
          </a:p>
          <a:p>
            <a:pPr lvl="1">
              <a:buFont typeface="Arial" pitchFamily="34" charset="0"/>
              <a:buChar char="•"/>
            </a:pPr>
            <a:r>
              <a:rPr lang="en-AU" sz="1200" kern="1200" dirty="0" smtClean="0">
                <a:solidFill>
                  <a:schemeClr val="tx1"/>
                </a:solidFill>
                <a:ea typeface="+mn-ea"/>
                <a:cs typeface="+mn-cs"/>
              </a:rPr>
              <a:t> Your competency as PM will be inferred from the way you make the presentation. You need to:</a:t>
            </a:r>
          </a:p>
          <a:p>
            <a:pPr lvl="2">
              <a:buFont typeface="Arial" pitchFamily="34" charset="0"/>
              <a:buChar char="•"/>
            </a:pPr>
            <a:r>
              <a:rPr lang="en-AU" sz="1200" kern="1200" dirty="0" smtClean="0">
                <a:solidFill>
                  <a:schemeClr val="tx1"/>
                </a:solidFill>
                <a:ea typeface="+mn-ea"/>
                <a:cs typeface="+mn-cs"/>
              </a:rPr>
              <a:t> Determine content for the presentation</a:t>
            </a:r>
          </a:p>
          <a:p>
            <a:pPr lvl="2">
              <a:buFont typeface="Arial" pitchFamily="34" charset="0"/>
              <a:buChar char="•"/>
            </a:pPr>
            <a:r>
              <a:rPr lang="en-AU" sz="1200" kern="1200" dirty="0" smtClean="0">
                <a:solidFill>
                  <a:schemeClr val="tx1"/>
                </a:solidFill>
                <a:ea typeface="+mn-ea"/>
                <a:cs typeface="+mn-cs"/>
              </a:rPr>
              <a:t> Identify the sequence in which information will be delivered</a:t>
            </a:r>
          </a:p>
          <a:p>
            <a:pPr lvl="2">
              <a:buFont typeface="Arial" pitchFamily="34" charset="0"/>
              <a:buChar char="•"/>
            </a:pPr>
            <a:r>
              <a:rPr lang="en-AU" sz="1200" kern="1200" dirty="0" smtClean="0">
                <a:solidFill>
                  <a:schemeClr val="tx1"/>
                </a:solidFill>
                <a:ea typeface="+mn-ea"/>
                <a:cs typeface="+mn-cs"/>
              </a:rPr>
              <a:t> Choose method of delivery </a:t>
            </a:r>
          </a:p>
          <a:p>
            <a:pPr lvl="2">
              <a:buFont typeface="Arial" pitchFamily="34" charset="0"/>
              <a:buChar char="•"/>
            </a:pPr>
            <a:r>
              <a:rPr lang="en-AU" sz="1200" kern="1200" dirty="0" smtClean="0">
                <a:solidFill>
                  <a:schemeClr val="tx1"/>
                </a:solidFill>
                <a:ea typeface="+mn-ea"/>
                <a:cs typeface="+mn-cs"/>
              </a:rPr>
              <a:t> Generate supporting materials for handouts </a:t>
            </a:r>
          </a:p>
          <a:p>
            <a:pPr lvl="2">
              <a:buFont typeface="Arial" pitchFamily="34" charset="0"/>
              <a:buChar char="•"/>
            </a:pPr>
            <a:r>
              <a:rPr lang="en-AU" sz="1200" kern="1200" dirty="0" smtClean="0">
                <a:solidFill>
                  <a:schemeClr val="tx1"/>
                </a:solidFill>
                <a:ea typeface="+mn-ea"/>
                <a:cs typeface="+mn-cs"/>
              </a:rPr>
              <a:t> Prepare PowerPoint slides</a:t>
            </a:r>
          </a:p>
          <a:p>
            <a:pPr lvl="2">
              <a:buFont typeface="Arial" pitchFamily="34" charset="0"/>
              <a:buChar char="•"/>
            </a:pPr>
            <a:r>
              <a:rPr lang="en-AU" sz="1200" kern="1200" dirty="0" smtClean="0">
                <a:solidFill>
                  <a:schemeClr val="tx1"/>
                </a:solidFill>
                <a:ea typeface="+mn-ea"/>
                <a:cs typeface="+mn-cs"/>
              </a:rPr>
              <a:t> Arrange guest speaker (manager, owner, client – as appropriate) to present aspects of the presentation</a:t>
            </a:r>
          </a:p>
          <a:p>
            <a:pPr lvl="0">
              <a:buFont typeface="Arial" pitchFamily="34" charset="0"/>
              <a:buChar char="•"/>
            </a:pPr>
            <a:r>
              <a:rPr lang="en-AU" sz="1200" kern="1200" dirty="0" smtClean="0">
                <a:solidFill>
                  <a:schemeClr val="tx1"/>
                </a:solidFill>
                <a:ea typeface="+mn-ea"/>
                <a:cs typeface="+mn-cs"/>
              </a:rPr>
              <a:t> Distribute materials in advance of the meeting as</a:t>
            </a:r>
            <a:r>
              <a:rPr lang="en-AU" sz="1200" kern="1200" baseline="0" dirty="0" smtClean="0">
                <a:solidFill>
                  <a:schemeClr val="tx1"/>
                </a:solidFill>
                <a:ea typeface="+mn-ea"/>
                <a:cs typeface="+mn-cs"/>
              </a:rPr>
              <a:t> and </a:t>
            </a:r>
            <a:r>
              <a:rPr lang="en-AU" sz="1200" kern="1200" dirty="0" smtClean="0">
                <a:solidFill>
                  <a:schemeClr val="tx1"/>
                </a:solidFill>
                <a:ea typeface="+mn-ea"/>
                <a:cs typeface="+mn-cs"/>
              </a:rPr>
              <a:t>where appropriate to allow/encourage people to pre-read them, identify issues they will need explaining and develop appropriate questions they want to ask</a:t>
            </a:r>
          </a:p>
          <a:p>
            <a:pPr lvl="0">
              <a:buFont typeface="Arial" pitchFamily="34" charset="0"/>
              <a:buChar char="•"/>
            </a:pPr>
            <a:r>
              <a:rPr lang="en-AU" sz="1200" kern="1200" dirty="0" smtClean="0">
                <a:solidFill>
                  <a:schemeClr val="tx1"/>
                </a:solidFill>
                <a:ea typeface="+mn-ea"/>
                <a:cs typeface="+mn-cs"/>
              </a:rPr>
              <a:t> Follow up after the meeting with those who did/could not attend, and with those where extra information was to be provided.</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experienced PM to attend and</a:t>
            </a:r>
            <a:r>
              <a:rPr lang="en-US" b="0" baseline="0" dirty="0" smtClean="0"/>
              <a:t>:</a:t>
            </a:r>
          </a:p>
          <a:p>
            <a:pPr>
              <a:buFont typeface="Arial" pitchFamily="34" charset="0"/>
              <a:buChar char="•"/>
            </a:pPr>
            <a:r>
              <a:rPr lang="en-US" b="0" baseline="0" dirty="0" smtClean="0"/>
              <a:t> T</a:t>
            </a:r>
            <a:r>
              <a:rPr lang="en-US" b="0" dirty="0" smtClean="0"/>
              <a:t>alk to students</a:t>
            </a:r>
            <a:r>
              <a:rPr lang="en-US" b="0" baseline="0" dirty="0" smtClean="0"/>
              <a:t> about:</a:t>
            </a:r>
          </a:p>
          <a:p>
            <a:pPr lvl="1">
              <a:buFont typeface="Arial" pitchFamily="34" charset="0"/>
              <a:buChar char="•"/>
            </a:pPr>
            <a:r>
              <a:rPr lang="en-US" b="0" baseline="0" dirty="0" smtClean="0"/>
              <a:t> Importance and role of project management plan</a:t>
            </a:r>
          </a:p>
          <a:p>
            <a:pPr lvl="1">
              <a:buFont typeface="Arial" pitchFamily="34" charset="0"/>
              <a:buChar char="•"/>
            </a:pPr>
            <a:r>
              <a:rPr lang="en-US" b="0" baseline="0" dirty="0" smtClean="0"/>
              <a:t> Communication of the plan</a:t>
            </a:r>
          </a:p>
          <a:p>
            <a:pPr lvl="0">
              <a:buFont typeface="Arial" pitchFamily="34" charset="0"/>
              <a:buChar char="•"/>
            </a:pPr>
            <a:r>
              <a:rPr lang="en-US" b="0" baseline="0" dirty="0" smtClean="0"/>
              <a:t> Provide sample project management plan and discuss same.</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what needs to be included when communicating project management plan:</a:t>
            </a:r>
          </a:p>
          <a:p>
            <a:pPr lvl="0">
              <a:buFont typeface="Arial" pitchFamily="34" charset="0"/>
              <a:buChar char="•"/>
            </a:pPr>
            <a:r>
              <a:rPr lang="en-AU" sz="1200" kern="1200" dirty="0" smtClean="0">
                <a:solidFill>
                  <a:schemeClr val="tx1"/>
                </a:solidFill>
                <a:ea typeface="+mn-ea"/>
                <a:cs typeface="+mn-cs"/>
              </a:rPr>
              <a:t> Distribution and/or explanation of all project-related plans.</a:t>
            </a:r>
            <a:r>
              <a:rPr lang="en-AU" sz="1200" kern="1200" baseline="0" dirty="0" smtClean="0">
                <a:solidFill>
                  <a:schemeClr val="tx1"/>
                </a:solidFill>
                <a:ea typeface="+mn-ea"/>
                <a:cs typeface="+mn-cs"/>
              </a:rPr>
              <a:t> S</a:t>
            </a:r>
            <a:r>
              <a:rPr lang="en-AU" sz="1200" kern="1200" dirty="0" smtClean="0">
                <a:solidFill>
                  <a:schemeClr val="tx1"/>
                </a:solidFill>
                <a:ea typeface="+mn-ea"/>
                <a:cs typeface="+mn-cs"/>
              </a:rPr>
              <a:t>tandard practice is to ask project team members to treat these (and all other documents provided) as ‘commercial in confidence’. In this context may relate to:</a:t>
            </a:r>
          </a:p>
          <a:p>
            <a:pPr lvl="1">
              <a:buFont typeface="Arial" pitchFamily="34" charset="0"/>
              <a:buChar char="•"/>
            </a:pPr>
            <a:r>
              <a:rPr lang="en-AU" sz="1200" kern="1200" dirty="0" smtClean="0">
                <a:solidFill>
                  <a:schemeClr val="tx1"/>
                </a:solidFill>
                <a:ea typeface="+mn-ea"/>
                <a:cs typeface="+mn-cs"/>
              </a:rPr>
              <a:t> Project management plan</a:t>
            </a:r>
          </a:p>
          <a:p>
            <a:pPr lvl="1">
              <a:buFont typeface="Arial" pitchFamily="34" charset="0"/>
              <a:buChar char="•"/>
            </a:pPr>
            <a:r>
              <a:rPr lang="en-AU" sz="1200" kern="1200" dirty="0" smtClean="0">
                <a:solidFill>
                  <a:schemeClr val="tx1"/>
                </a:solidFill>
                <a:ea typeface="+mn-ea"/>
                <a:cs typeface="+mn-cs"/>
              </a:rPr>
              <a:t> Communication plan</a:t>
            </a:r>
          </a:p>
          <a:p>
            <a:pPr lvl="1">
              <a:buFont typeface="Arial" pitchFamily="34" charset="0"/>
              <a:buChar char="•"/>
            </a:pPr>
            <a:r>
              <a:rPr lang="en-AU" sz="1200" kern="1200" dirty="0" smtClean="0">
                <a:solidFill>
                  <a:schemeClr val="tx1"/>
                </a:solidFill>
                <a:ea typeface="+mn-ea"/>
                <a:cs typeface="+mn-cs"/>
              </a:rPr>
              <a:t> Risk management plan</a:t>
            </a:r>
          </a:p>
          <a:p>
            <a:pPr lvl="1">
              <a:buFont typeface="Arial" pitchFamily="34" charset="0"/>
              <a:buChar char="•"/>
            </a:pPr>
            <a:r>
              <a:rPr lang="en-AU" sz="1200" kern="1200" dirty="0" smtClean="0">
                <a:solidFill>
                  <a:schemeClr val="tx1"/>
                </a:solidFill>
                <a:ea typeface="+mn-ea"/>
                <a:cs typeface="+mn-cs"/>
              </a:rPr>
              <a:t> Marketing plan</a:t>
            </a:r>
          </a:p>
          <a:p>
            <a:pPr lvl="0">
              <a:buFont typeface="Arial" pitchFamily="34" charset="0"/>
              <a:buChar char="•"/>
            </a:pPr>
            <a:r>
              <a:rPr lang="en-AU" sz="1200" kern="1200" dirty="0" smtClean="0">
                <a:solidFill>
                  <a:schemeClr val="tx1"/>
                </a:solidFill>
                <a:ea typeface="+mn-ea"/>
                <a:cs typeface="+mn-cs"/>
              </a:rPr>
              <a:t> Budget data covering types of resources available; amounts; budget and other codes; how to access resources; requirements for making purchases on behalf of the venue for the project</a:t>
            </a:r>
          </a:p>
          <a:p>
            <a:pPr lvl="0">
              <a:buFont typeface="Arial" pitchFamily="34" charset="0"/>
              <a:buChar char="•"/>
            </a:pPr>
            <a:r>
              <a:rPr lang="en-AU" sz="1200" kern="1200" dirty="0" smtClean="0">
                <a:solidFill>
                  <a:schemeClr val="tx1"/>
                </a:solidFill>
                <a:ea typeface="+mn-ea"/>
                <a:cs typeface="+mn-cs"/>
              </a:rPr>
              <a:t> Preferred lines of communication for project activities to facilitate and optimise communication</a:t>
            </a:r>
          </a:p>
          <a:p>
            <a:pPr lvl="0">
              <a:buFont typeface="Arial" pitchFamily="34" charset="0"/>
              <a:buChar char="•"/>
            </a:pPr>
            <a:r>
              <a:rPr lang="en-AU" sz="1200" kern="1200" dirty="0" smtClean="0">
                <a:solidFill>
                  <a:schemeClr val="tx1"/>
                </a:solidFill>
                <a:ea typeface="+mn-ea"/>
                <a:cs typeface="+mn-cs"/>
              </a:rPr>
              <a:t> Lines of responsibility as they apply for the project: these are often different to what normally applies so they need to be addressed/explained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what needs to be included when communicating project management plan:</a:t>
            </a:r>
          </a:p>
          <a:p>
            <a:pPr lvl="0">
              <a:buFont typeface="Arial" pitchFamily="34" charset="0"/>
              <a:buChar char="•"/>
            </a:pPr>
            <a:r>
              <a:rPr lang="en-AU" sz="1200" kern="1200" dirty="0" smtClean="0">
                <a:solidFill>
                  <a:schemeClr val="tx1"/>
                </a:solidFill>
                <a:ea typeface="+mn-ea"/>
                <a:cs typeface="+mn-cs"/>
              </a:rPr>
              <a:t> Delegation of authority for the project including delegation of tasks, responsibilities, roles</a:t>
            </a:r>
          </a:p>
          <a:p>
            <a:pPr lvl="0">
              <a:buFont typeface="Arial" pitchFamily="34" charset="0"/>
              <a:buChar char="•"/>
            </a:pPr>
            <a:r>
              <a:rPr lang="en-AU" sz="1200" kern="1200" dirty="0" smtClean="0">
                <a:solidFill>
                  <a:schemeClr val="tx1"/>
                </a:solidFill>
                <a:ea typeface="+mn-ea"/>
                <a:cs typeface="+mn-cs"/>
              </a:rPr>
              <a:t> Accountability for allocated duties</a:t>
            </a:r>
          </a:p>
          <a:p>
            <a:pPr lvl="0">
              <a:buFont typeface="Arial" pitchFamily="34" charset="0"/>
              <a:buChar char="•"/>
            </a:pPr>
            <a:r>
              <a:rPr lang="en-AU" sz="1200" kern="1200" dirty="0" smtClean="0">
                <a:solidFill>
                  <a:schemeClr val="tx1"/>
                </a:solidFill>
                <a:ea typeface="+mn-ea"/>
                <a:cs typeface="+mn-cs"/>
              </a:rPr>
              <a:t> Contact numbers and details – extension numbers, mobile phone numbers, fax numbers, pager numbers, email addresses</a:t>
            </a:r>
          </a:p>
          <a:p>
            <a:pPr lvl="0">
              <a:buFont typeface="Arial" pitchFamily="34" charset="0"/>
              <a:buChar char="•"/>
            </a:pPr>
            <a:r>
              <a:rPr lang="en-AU" sz="1200" kern="1200" dirty="0" smtClean="0">
                <a:solidFill>
                  <a:schemeClr val="tx1"/>
                </a:solidFill>
                <a:ea typeface="+mn-ea"/>
                <a:cs typeface="+mn-cs"/>
              </a:rPr>
              <a:t> All aspects of whatever is contained in the project management plan for the project.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can include coverage of attendant/sub-plans, timing requirements and/or constraints, resources, outcomes, objectives and deliverables, KPIs, reporting requirements </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what needs to be included when communicating project management plan:</a:t>
            </a:r>
          </a:p>
          <a:p>
            <a:pPr lvl="0">
              <a:buFont typeface="Arial" pitchFamily="34" charset="0"/>
              <a:buChar char="•"/>
            </a:pPr>
            <a:r>
              <a:rPr lang="en-AU" sz="1200" kern="1200" dirty="0" smtClean="0">
                <a:solidFill>
                  <a:schemeClr val="tx1"/>
                </a:solidFill>
                <a:ea typeface="+mn-ea"/>
                <a:cs typeface="+mn-cs"/>
              </a:rPr>
              <a:t> Emergency response plans for the project detailing what they cover, responsibilities, drills, trigger points for action </a:t>
            </a:r>
          </a:p>
          <a:p>
            <a:pPr lvl="0">
              <a:buFont typeface="Arial" pitchFamily="34" charset="0"/>
              <a:buChar char="•"/>
            </a:pPr>
            <a:r>
              <a:rPr lang="en-AU" sz="1200" kern="1200" dirty="0" smtClean="0">
                <a:solidFill>
                  <a:schemeClr val="tx1"/>
                </a:solidFill>
                <a:ea typeface="+mn-ea"/>
                <a:cs typeface="+mn-cs"/>
              </a:rPr>
              <a:t> Health, safety and welfare issues.</a:t>
            </a:r>
            <a:r>
              <a:rPr lang="en-AU" sz="1200" kern="1200" baseline="0" dirty="0" smtClean="0">
                <a:solidFill>
                  <a:schemeClr val="tx1"/>
                </a:solidFill>
                <a:ea typeface="+mn-ea"/>
                <a:cs typeface="+mn-cs"/>
              </a:rPr>
              <a:t> A</a:t>
            </a:r>
            <a:r>
              <a:rPr lang="en-AU" sz="1200" kern="1200" dirty="0" smtClean="0">
                <a:solidFill>
                  <a:schemeClr val="tx1"/>
                </a:solidFill>
                <a:ea typeface="+mn-ea"/>
                <a:cs typeface="+mn-cs"/>
              </a:rPr>
              <a:t> project will often raise additional/different issues requiring standard risk management attention. This may mean certain issues need:</a:t>
            </a:r>
          </a:p>
          <a:p>
            <a:pPr lvl="1">
              <a:buFont typeface="Arial" pitchFamily="34" charset="0"/>
              <a:buChar char="•"/>
            </a:pPr>
            <a:r>
              <a:rPr lang="en-AU" sz="1200" kern="1200" dirty="0" smtClean="0">
                <a:solidFill>
                  <a:schemeClr val="tx1"/>
                </a:solidFill>
                <a:ea typeface="+mn-ea"/>
                <a:cs typeface="+mn-cs"/>
              </a:rPr>
              <a:t> To be investigated by designated people or agencies</a:t>
            </a:r>
          </a:p>
          <a:p>
            <a:pPr lvl="1">
              <a:buFont typeface="Arial" pitchFamily="34" charset="0"/>
              <a:buChar char="•"/>
            </a:pPr>
            <a:r>
              <a:rPr lang="en-AU" sz="1200" kern="1200" dirty="0" smtClean="0">
                <a:solidFill>
                  <a:schemeClr val="tx1"/>
                </a:solidFill>
                <a:ea typeface="+mn-ea"/>
                <a:cs typeface="+mn-cs"/>
              </a:rPr>
              <a:t> Job Safety Analysis sheets and procedures prepared for them</a:t>
            </a:r>
          </a:p>
          <a:p>
            <a:pPr lvl="1">
              <a:buFont typeface="Arial" pitchFamily="34" charset="0"/>
              <a:buChar char="•"/>
            </a:pPr>
            <a:r>
              <a:rPr lang="en-AU" sz="1200" kern="1200" dirty="0" smtClean="0">
                <a:solidFill>
                  <a:schemeClr val="tx1"/>
                </a:solidFill>
                <a:ea typeface="+mn-ea"/>
                <a:cs typeface="+mn-cs"/>
              </a:rPr>
              <a:t> Specific on-site safety training</a:t>
            </a:r>
          </a:p>
          <a:p>
            <a:pPr lvl="1">
              <a:buFont typeface="Arial" pitchFamily="34" charset="0"/>
              <a:buChar char="•"/>
            </a:pPr>
            <a:r>
              <a:rPr lang="en-AU" sz="1200" kern="1200" dirty="0" smtClean="0">
                <a:solidFill>
                  <a:schemeClr val="tx1"/>
                </a:solidFill>
                <a:ea typeface="+mn-ea"/>
                <a:cs typeface="+mn-cs"/>
              </a:rPr>
              <a:t> Provision and use of designated safety clothing and/or equipment</a:t>
            </a:r>
          </a:p>
          <a:p>
            <a:pPr lvl="0">
              <a:buFont typeface="Arial" pitchFamily="34" charset="0"/>
              <a:buChar char="•"/>
            </a:pPr>
            <a:r>
              <a:rPr lang="en-AU" sz="1200" kern="1200" dirty="0" smtClean="0">
                <a:solidFill>
                  <a:schemeClr val="tx1"/>
                </a:solidFill>
                <a:ea typeface="+mn-ea"/>
                <a:cs typeface="+mn-cs"/>
              </a:rPr>
              <a:t> Your role as PM identifying what you will be doing/what staff can expect from you in terms of assistance, supervision, monitoring, oversight, decision making, and general support and liaison. </a:t>
            </a:r>
          </a:p>
          <a:p>
            <a:pPr>
              <a:buFont typeface="Arial" pitchFamily="34" charset="0"/>
              <a:buChar char="•"/>
            </a:pPr>
            <a:r>
              <a:rPr lang="en-AU" sz="1200" kern="1200" dirty="0" smtClean="0">
                <a:solidFill>
                  <a:schemeClr val="tx1"/>
                </a:solidFill>
                <a:ea typeface="+mn-ea"/>
                <a:cs typeface="+mn-cs"/>
              </a:rPr>
              <a:t> A declaration regarding your ‘open door’ policy should be made</a:t>
            </a:r>
          </a:p>
          <a:p>
            <a:pPr lvl="0">
              <a:buFont typeface="Arial" pitchFamily="34" charset="0"/>
              <a:buChar char="•"/>
            </a:pPr>
            <a:r>
              <a:rPr lang="en-AU" sz="1200" kern="1200" dirty="0" smtClean="0">
                <a:solidFill>
                  <a:schemeClr val="tx1"/>
                </a:solidFill>
                <a:ea typeface="+mn-ea"/>
                <a:cs typeface="+mn-cs"/>
              </a:rPr>
              <a:t> Identification of scheduled project meetings.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should cover timing/location of regular/scheduled project meetings and emphasis on the role of these meetings and the importance of the need to attend these.</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how communication of the project management plan may occur:</a:t>
            </a:r>
          </a:p>
          <a:p>
            <a:pPr lvl="0">
              <a:buFont typeface="Arial" pitchFamily="34" charset="0"/>
              <a:buChar char="•"/>
            </a:pPr>
            <a:r>
              <a:rPr lang="en-AU" sz="1200" kern="1200" dirty="0" smtClean="0">
                <a:solidFill>
                  <a:schemeClr val="tx1"/>
                </a:solidFill>
                <a:ea typeface="+mn-ea"/>
                <a:cs typeface="+mn-cs"/>
              </a:rPr>
              <a:t> Face to</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face meeting.</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is the best option as it allows better follow-up to occur, incorporates non-verbal communication into the process and enables project team members to meet other project team members</a:t>
            </a:r>
          </a:p>
          <a:p>
            <a:pPr lvl="0">
              <a:buFont typeface="Arial" pitchFamily="34" charset="0"/>
              <a:buChar char="•"/>
            </a:pPr>
            <a:r>
              <a:rPr lang="en-AU" sz="1200" kern="1200" dirty="0" smtClean="0">
                <a:solidFill>
                  <a:schemeClr val="tx1"/>
                </a:solidFill>
                <a:ea typeface="+mn-ea"/>
                <a:cs typeface="+mn-cs"/>
              </a:rPr>
              <a:t> Email may be useful to supplement face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to</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face meetings, for example, where extra information needs to be disseminated</a:t>
            </a:r>
          </a:p>
          <a:p>
            <a:pPr lvl="0">
              <a:buFont typeface="Arial" pitchFamily="34" charset="0"/>
              <a:buChar char="•"/>
            </a:pPr>
            <a:r>
              <a:rPr lang="en-AU" sz="1200" kern="1200" dirty="0" smtClean="0">
                <a:solidFill>
                  <a:schemeClr val="tx1"/>
                </a:solidFill>
                <a:ea typeface="+mn-ea"/>
                <a:cs typeface="+mn-cs"/>
              </a:rPr>
              <a:t> Telephone can be useful for contacting team members who could not attend the scheduled main meeting. This can be the case where part-time or casual staff from the venue are included as team members but cannot attend the initial induction meeting due to work or other commitments</a:t>
            </a:r>
          </a:p>
          <a:p>
            <a:pPr lvl="0">
              <a:buFont typeface="Arial" pitchFamily="34" charset="0"/>
              <a:buChar char="•"/>
            </a:pPr>
            <a:r>
              <a:rPr lang="en-AU" sz="1200" kern="1200" dirty="0" smtClean="0">
                <a:solidFill>
                  <a:schemeClr val="tx1"/>
                </a:solidFill>
                <a:ea typeface="+mn-ea"/>
                <a:cs typeface="+mn-cs"/>
              </a:rPr>
              <a:t> Staff meeting/briefing.</a:t>
            </a:r>
            <a:r>
              <a:rPr lang="en-AU" sz="1200" kern="1200" baseline="0" dirty="0" smtClean="0">
                <a:solidFill>
                  <a:schemeClr val="tx1"/>
                </a:solidFill>
                <a:ea typeface="+mn-ea"/>
                <a:cs typeface="+mn-cs"/>
              </a:rPr>
              <a:t> F</a:t>
            </a:r>
            <a:r>
              <a:rPr lang="en-AU" sz="1200" kern="1200" dirty="0" smtClean="0">
                <a:solidFill>
                  <a:schemeClr val="tx1"/>
                </a:solidFill>
                <a:ea typeface="+mn-ea"/>
                <a:cs typeface="+mn-cs"/>
              </a:rPr>
              <a:t>or small projects, the daily staff briefing/meeting can double as the induction meeting for project staff.</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discusses risk management in relation to projects stating it </a:t>
            </a:r>
            <a:r>
              <a:rPr lang="en-AU" sz="1200" kern="1200" dirty="0" smtClean="0">
                <a:solidFill>
                  <a:schemeClr val="tx1"/>
                </a:solidFill>
                <a:ea typeface="+mn-ea"/>
                <a:cs typeface="+mn-cs"/>
              </a:rPr>
              <a:t>comprises a three-step process:</a:t>
            </a:r>
          </a:p>
          <a:p>
            <a:pPr lvl="0">
              <a:buFont typeface="Arial" pitchFamily="34" charset="0"/>
              <a:buChar char="•"/>
            </a:pPr>
            <a:r>
              <a:rPr lang="en-AU" sz="1200" kern="1200" dirty="0" smtClean="0">
                <a:solidFill>
                  <a:schemeClr val="tx1"/>
                </a:solidFill>
                <a:ea typeface="+mn-ea"/>
                <a:cs typeface="+mn-cs"/>
              </a:rPr>
              <a:t> Identify risks – a structured process to determine all applicable risks as they apply to the project</a:t>
            </a:r>
          </a:p>
          <a:p>
            <a:pPr lvl="0">
              <a:buFont typeface="Arial" pitchFamily="34" charset="0"/>
              <a:buChar char="•"/>
            </a:pPr>
            <a:r>
              <a:rPr lang="en-AU" sz="1200" kern="1200" dirty="0" smtClean="0">
                <a:solidFill>
                  <a:schemeClr val="tx1"/>
                </a:solidFill>
                <a:ea typeface="+mn-ea"/>
                <a:cs typeface="+mn-cs"/>
              </a:rPr>
              <a:t> Analyse/evaluate risks – also known as risk appraisal which involves identifying and comparing options for controlling the identified risk</a:t>
            </a:r>
          </a:p>
          <a:p>
            <a:pPr>
              <a:buFont typeface="Arial" pitchFamily="34" charset="0"/>
              <a:buChar char="•"/>
            </a:pPr>
            <a:r>
              <a:rPr lang="en-AU" sz="1200" kern="1200" dirty="0" smtClean="0">
                <a:solidFill>
                  <a:schemeClr val="tx1"/>
                </a:solidFill>
                <a:ea typeface="+mn-ea"/>
                <a:cs typeface="+mn-cs"/>
              </a:rPr>
              <a:t> Control the risks – applying the most effective control options identified in the risk analysis process.</a:t>
            </a:r>
          </a:p>
          <a:p>
            <a:pPr>
              <a:buFont typeface="Arial" pitchFamily="34" charset="0"/>
              <a:buNone/>
            </a:pPr>
            <a:endParaRPr lang="en-AU" sz="1200" kern="1200" dirty="0" smtClean="0">
              <a:solidFill>
                <a:schemeClr val="tx1"/>
              </a:solidFill>
              <a:ea typeface="+mn-ea"/>
              <a:cs typeface="+mn-cs"/>
            </a:endParaRPr>
          </a:p>
          <a:p>
            <a:pPr>
              <a:buFont typeface="Arial" pitchFamily="34" charset="0"/>
              <a:buNone/>
            </a:pPr>
            <a:r>
              <a:rPr lang="en-AU" sz="1200" b="1" kern="1200" dirty="0" smtClean="0">
                <a:solidFill>
                  <a:schemeClr val="tx1"/>
                </a:solidFill>
                <a:ea typeface="+mn-ea"/>
                <a:cs typeface="+mn-cs"/>
              </a:rPr>
              <a:t>Class Activity – Guest Speaker</a:t>
            </a:r>
          </a:p>
          <a:p>
            <a:pPr>
              <a:buFont typeface="Arial" pitchFamily="34" charset="0"/>
              <a:buNone/>
            </a:pPr>
            <a:r>
              <a:rPr lang="en-AU" sz="1200" b="0" kern="1200" dirty="0" smtClean="0">
                <a:solidFill>
                  <a:schemeClr val="tx1"/>
                </a:solidFill>
                <a:ea typeface="+mn-ea"/>
                <a:cs typeface="+mn-cs"/>
              </a:rPr>
              <a:t>Trainer arranges for experienced PM to attend and talk to students about:</a:t>
            </a:r>
          </a:p>
          <a:p>
            <a:pPr>
              <a:buFont typeface="Arial" pitchFamily="34" charset="0"/>
              <a:buChar char="•"/>
            </a:pPr>
            <a:r>
              <a:rPr lang="en-AU" sz="1200" b="0" kern="1200" dirty="0" smtClean="0">
                <a:solidFill>
                  <a:schemeClr val="tx1"/>
                </a:solidFill>
                <a:ea typeface="+mn-ea"/>
                <a:cs typeface="+mn-cs"/>
              </a:rPr>
              <a:t> Risk identification for projects</a:t>
            </a:r>
          </a:p>
          <a:p>
            <a:pPr>
              <a:buFont typeface="Arial" pitchFamily="34" charset="0"/>
              <a:buChar char="•"/>
            </a:pPr>
            <a:r>
              <a:rPr lang="en-AU" sz="1200" b="0" kern="1200" dirty="0" smtClean="0">
                <a:solidFill>
                  <a:schemeClr val="tx1"/>
                </a:solidFill>
                <a:ea typeface="+mn-ea"/>
                <a:cs typeface="+mn-cs"/>
              </a:rPr>
              <a:t> Risk analysis procedures</a:t>
            </a:r>
          </a:p>
          <a:p>
            <a:pPr>
              <a:buFont typeface="Arial" pitchFamily="34" charset="0"/>
              <a:buChar char="•"/>
            </a:pPr>
            <a:r>
              <a:rPr lang="en-AU" sz="1200" b="0" kern="1200" dirty="0" smtClean="0">
                <a:solidFill>
                  <a:schemeClr val="tx1"/>
                </a:solidFill>
                <a:ea typeface="+mn-ea"/>
                <a:cs typeface="+mn-cs"/>
              </a:rPr>
              <a:t> Examples of risk control used for projects.</a:t>
            </a:r>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discusses how risks may be </a:t>
            </a:r>
            <a:r>
              <a:rPr lang="en-AU" sz="1200" kern="1200" dirty="0" smtClean="0">
                <a:solidFill>
                  <a:schemeClr val="tx1"/>
                </a:solidFill>
                <a:ea typeface="+mn-ea"/>
                <a:cs typeface="+mn-cs"/>
              </a:rPr>
              <a:t>classified:</a:t>
            </a:r>
          </a:p>
          <a:p>
            <a:pPr lvl="0">
              <a:buFont typeface="Arial" pitchFamily="34" charset="0"/>
              <a:buChar char="•"/>
            </a:pPr>
            <a:r>
              <a:rPr lang="en-AU" sz="1200" kern="1200" dirty="0" smtClean="0">
                <a:solidFill>
                  <a:schemeClr val="tx1"/>
                </a:solidFill>
                <a:ea typeface="+mn-ea"/>
                <a:cs typeface="+mn-cs"/>
              </a:rPr>
              <a:t> Project-specific risks relating to issues effecting, or likely to be impacted by, the project</a:t>
            </a:r>
          </a:p>
          <a:p>
            <a:pPr lvl="0">
              <a:buFont typeface="Arial" pitchFamily="34" charset="0"/>
              <a:buChar char="•"/>
            </a:pPr>
            <a:r>
              <a:rPr lang="en-AU" sz="1200" kern="1200" dirty="0" smtClean="0">
                <a:solidFill>
                  <a:schemeClr val="tx1"/>
                </a:solidFill>
                <a:ea typeface="+mn-ea"/>
                <a:cs typeface="+mn-cs"/>
              </a:rPr>
              <a:t> Customer risk – risks faced by customers as a result of the project being undertaken in/at the venue: health, safety and welfare considerations are critical here to ensure the safety of all patrons</a:t>
            </a:r>
          </a:p>
          <a:p>
            <a:pPr lvl="0">
              <a:buFont typeface="Arial" pitchFamily="34" charset="0"/>
              <a:buChar char="•"/>
            </a:pPr>
            <a:r>
              <a:rPr lang="en-AU" sz="1200" kern="1200" dirty="0" smtClean="0">
                <a:solidFill>
                  <a:schemeClr val="tx1"/>
                </a:solidFill>
                <a:ea typeface="+mn-ea"/>
                <a:cs typeface="+mn-cs"/>
              </a:rPr>
              <a:t> Staff risks – risks faced by staff who are participating in delivering/servicing the project: again, health, safety and welfare considerations are important and attention should be paid to investigating how the project increases/changes the hazards staff might normally encounter</a:t>
            </a:r>
          </a:p>
          <a:p>
            <a:pPr lvl="0">
              <a:buFont typeface="Arial" pitchFamily="34" charset="0"/>
              <a:buChar char="•"/>
            </a:pPr>
            <a:r>
              <a:rPr lang="en-AU" sz="1200" kern="1200" dirty="0" smtClean="0">
                <a:solidFill>
                  <a:schemeClr val="tx1"/>
                </a:solidFill>
                <a:ea typeface="+mn-ea"/>
                <a:cs typeface="+mn-cs"/>
              </a:rPr>
              <a:t> Funding/financial risks relating to,</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for example, cost over-runs, unforeseen/unexpected expenses, failure of financial institutions to provide funding as arranged, promised or expected for the project</a:t>
            </a:r>
          </a:p>
          <a:p>
            <a:pPr lvl="0">
              <a:buFont typeface="Arial" pitchFamily="34" charset="0"/>
              <a:buChar char="•"/>
            </a:pPr>
            <a:r>
              <a:rPr lang="en-AU" sz="1200" kern="1200" dirty="0" smtClean="0">
                <a:solidFill>
                  <a:schemeClr val="tx1"/>
                </a:solidFill>
                <a:ea typeface="+mn-ea"/>
                <a:cs typeface="+mn-cs"/>
              </a:rPr>
              <a:t> Outcome/performance risks relating to issues where project deliverables are not being (or, have not been) provided as required/anticipated.</a:t>
            </a:r>
          </a:p>
          <a:p>
            <a:pPr lvl="0">
              <a:buFont typeface="Arial" pitchFamily="34" charset="0"/>
              <a:buChar char="•"/>
            </a:pPr>
            <a:r>
              <a:rPr lang="en-AU" sz="1200" kern="1200" dirty="0" smtClean="0">
                <a:solidFill>
                  <a:schemeClr val="tx1"/>
                </a:solidFill>
                <a:ea typeface="+mn-ea"/>
                <a:cs typeface="+mn-cs"/>
              </a:rPr>
              <a:t> Environmental risks which may address possible pollution issues arising from noise, air, water and/or waste disposal</a:t>
            </a:r>
          </a:p>
          <a:p>
            <a:pPr lvl="0">
              <a:buFont typeface="Arial" pitchFamily="34" charset="0"/>
              <a:buChar char="•"/>
            </a:pPr>
            <a:r>
              <a:rPr lang="en-AU" sz="1200" kern="1200" dirty="0" smtClean="0">
                <a:solidFill>
                  <a:schemeClr val="tx1"/>
                </a:solidFill>
                <a:ea typeface="+mn-ea"/>
                <a:cs typeface="+mn-cs"/>
              </a:rPr>
              <a:t> Technological risks which may arise if the wrong ‘system’ is used/purchased. </a:t>
            </a:r>
          </a:p>
          <a:p>
            <a:pPr lvl="1">
              <a:buFont typeface="Arial" pitchFamily="34" charset="0"/>
              <a:buChar char="•"/>
            </a:pPr>
            <a:r>
              <a:rPr lang="en-AU" sz="1200" kern="1200" dirty="0" smtClean="0">
                <a:solidFill>
                  <a:schemeClr val="tx1"/>
                </a:solidFill>
                <a:ea typeface="+mn-ea"/>
                <a:cs typeface="+mn-cs"/>
              </a:rPr>
              <a:t> This may relate to ensuring an out-dated system is not purchased; ensuring the purchase of a new system /equipment will integrate with existing systems or will integrate with other systems to be bought/needed in the future</a:t>
            </a:r>
          </a:p>
          <a:p>
            <a:pPr lvl="0">
              <a:buFont typeface="Arial" pitchFamily="34" charset="0"/>
              <a:buChar char="•"/>
            </a:pPr>
            <a:r>
              <a:rPr lang="en-AU" sz="1200" kern="1200" dirty="0" smtClean="0">
                <a:solidFill>
                  <a:schemeClr val="tx1"/>
                </a:solidFill>
                <a:ea typeface="+mn-ea"/>
                <a:cs typeface="+mn-cs"/>
              </a:rPr>
              <a:t> Legal risks relating to issues where the venue fails to comply with legislated requirements and/or breaches enforceable contractual provisions.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states a risk management plan should be developed which should:</a:t>
            </a:r>
          </a:p>
          <a:p>
            <a:pPr lvl="0">
              <a:buFont typeface="Arial" pitchFamily="34" charset="0"/>
              <a:buChar char="•"/>
            </a:pPr>
            <a:r>
              <a:rPr lang="en-AU" sz="1200" kern="1200" dirty="0" smtClean="0">
                <a:solidFill>
                  <a:schemeClr val="tx1"/>
                </a:solidFill>
                <a:ea typeface="+mn-ea"/>
                <a:cs typeface="+mn-cs"/>
              </a:rPr>
              <a:t> Identify and describe the risk comprehensively and accurately (insofar as this is possible) using qualitative description (defining and describing the risk) and quantitative description (attaching figures, numbers, statistics to the risk)</a:t>
            </a:r>
          </a:p>
          <a:p>
            <a:pPr lvl="0">
              <a:buFont typeface="Arial" pitchFamily="34" charset="0"/>
              <a:buChar char="•"/>
            </a:pPr>
            <a:r>
              <a:rPr lang="en-AU" sz="1200" kern="1200" dirty="0" smtClean="0">
                <a:solidFill>
                  <a:schemeClr val="tx1"/>
                </a:solidFill>
                <a:ea typeface="+mn-ea"/>
                <a:cs typeface="+mn-cs"/>
              </a:rPr>
              <a:t> Place each identified risk into a project-specific Risk Register</a:t>
            </a:r>
          </a:p>
          <a:p>
            <a:pPr lvl="0">
              <a:buFont typeface="Arial" pitchFamily="34" charset="0"/>
              <a:buChar char="•"/>
            </a:pPr>
            <a:r>
              <a:rPr lang="en-AU" sz="1200" kern="1200" dirty="0" smtClean="0">
                <a:solidFill>
                  <a:schemeClr val="tx1"/>
                </a:solidFill>
                <a:ea typeface="+mn-ea"/>
                <a:cs typeface="+mn-cs"/>
              </a:rPr>
              <a:t> Give each risk a code/number to help locate it on the internal venue system.</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code can also be used as the basis for further action, funding and reference purposes</a:t>
            </a:r>
          </a:p>
          <a:p>
            <a:pPr>
              <a:buFont typeface="Arial" pitchFamily="34" charset="0"/>
              <a:buNone/>
            </a:pPr>
            <a:endParaRPr lang="en-US" dirty="0" smtClean="0"/>
          </a:p>
          <a:p>
            <a:pPr>
              <a:buFont typeface="Arial" pitchFamily="34" charset="0"/>
              <a:buNone/>
            </a:pPr>
            <a:r>
              <a:rPr lang="en-US" b="1" dirty="0" smtClean="0"/>
              <a:t>Class Activity – handout</a:t>
            </a:r>
          </a:p>
          <a:p>
            <a:pPr>
              <a:buFont typeface="Arial" pitchFamily="34" charset="0"/>
              <a:buNone/>
            </a:pPr>
            <a:r>
              <a:rPr lang="en-US" b="0" dirty="0" smtClean="0"/>
              <a:t>Trainer distributes and discusses a sample risk management plan for a project.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contents of a risk</a:t>
            </a:r>
            <a:r>
              <a:rPr lang="en-US" baseline="0" dirty="0" smtClean="0"/>
              <a:t> management plan:</a:t>
            </a:r>
          </a:p>
          <a:p>
            <a:pPr lvl="0">
              <a:buFont typeface="Arial" pitchFamily="34" charset="0"/>
              <a:buChar char="•"/>
            </a:pPr>
            <a:r>
              <a:rPr lang="en-AU" sz="1200" kern="1200" dirty="0" smtClean="0">
                <a:solidFill>
                  <a:schemeClr val="tx1"/>
                </a:solidFill>
                <a:ea typeface="+mn-ea"/>
                <a:cs typeface="+mn-cs"/>
              </a:rPr>
              <a:t> Calculate the likelihood of each identified risk occurring in descriptive terms such as ‘Very likely’, ‘Likely’, ‘Unlikely’ or ‘Very unlikely’</a:t>
            </a:r>
          </a:p>
          <a:p>
            <a:pPr lvl="0">
              <a:buFont typeface="Arial" pitchFamily="34" charset="0"/>
              <a:buChar char="•"/>
            </a:pPr>
            <a:r>
              <a:rPr lang="en-AU" sz="1200" kern="1200" dirty="0" smtClean="0">
                <a:solidFill>
                  <a:schemeClr val="tx1"/>
                </a:solidFill>
                <a:ea typeface="+mn-ea"/>
                <a:cs typeface="+mn-cs"/>
              </a:rPr>
              <a:t> Determine the severity of the consequence of each identified risk if it occurs.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may be in statistical terms or ‘Major’, ‘Serious‘, ‘Minor’ or ‘Insignificant’</a:t>
            </a:r>
          </a:p>
          <a:p>
            <a:pPr lvl="0">
              <a:buFont typeface="Arial" pitchFamily="34" charset="0"/>
              <a:buChar char="•"/>
            </a:pPr>
            <a:r>
              <a:rPr lang="en-AU" sz="1200" kern="1200" dirty="0" smtClean="0">
                <a:solidFill>
                  <a:schemeClr val="tx1"/>
                </a:solidFill>
                <a:ea typeface="+mn-ea"/>
                <a:cs typeface="+mn-cs"/>
              </a:rPr>
              <a:t> Tabulate the likelihood and consequence of each risk to determine its rating such as ‘Low’, ‘Medium’, ‘High’ and ‘Extreme’</a:t>
            </a:r>
          </a:p>
          <a:p>
            <a:pPr lvl="0">
              <a:buFont typeface="Arial" pitchFamily="34" charset="0"/>
              <a:buChar char="•"/>
            </a:pPr>
            <a:r>
              <a:rPr lang="en-AU" sz="1200" kern="1200" dirty="0" smtClean="0">
                <a:solidFill>
                  <a:schemeClr val="tx1"/>
                </a:solidFill>
                <a:ea typeface="+mn-ea"/>
                <a:cs typeface="+mn-cs"/>
              </a:rPr>
              <a:t> Develop coping/control mechanisms to be adopted by the venue to address each identified risk – see later slides.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US" dirty="0" smtClean="0"/>
              <a:t>Trainer identifies ways to identify risks for a project:</a:t>
            </a:r>
          </a:p>
          <a:p>
            <a:r>
              <a:rPr lang="en-AU" sz="1200" b="1" i="0" kern="1200" dirty="0" smtClean="0">
                <a:solidFill>
                  <a:schemeClr val="tx1"/>
                </a:solidFill>
                <a:ea typeface="+mn-ea"/>
                <a:cs typeface="+mn-cs"/>
              </a:rPr>
              <a:t>Experience and previous history</a:t>
            </a:r>
            <a:endParaRPr lang="en-AU" sz="1200" i="0" kern="1200" dirty="0" smtClean="0">
              <a:solidFill>
                <a:schemeClr val="tx1"/>
              </a:solidFill>
              <a:ea typeface="+mn-ea"/>
              <a:cs typeface="+mn-cs"/>
            </a:endParaRPr>
          </a:p>
          <a:p>
            <a:pPr>
              <a:buFont typeface="Arial" pitchFamily="34" charset="0"/>
              <a:buNone/>
            </a:pPr>
            <a:r>
              <a:rPr lang="en-AU" sz="1200" kern="1200" dirty="0" smtClean="0">
                <a:solidFill>
                  <a:schemeClr val="tx1"/>
                </a:solidFill>
                <a:ea typeface="+mn-ea"/>
                <a:cs typeface="+mn-cs"/>
              </a:rPr>
              <a:t>This involves:</a:t>
            </a:r>
          </a:p>
          <a:p>
            <a:pPr lvl="0">
              <a:buFont typeface="Arial" pitchFamily="34" charset="0"/>
              <a:buChar char="•"/>
            </a:pPr>
            <a:r>
              <a:rPr lang="en-AU" sz="1200" kern="1200" dirty="0" smtClean="0">
                <a:solidFill>
                  <a:schemeClr val="tx1"/>
                </a:solidFill>
                <a:ea typeface="+mn-ea"/>
                <a:cs typeface="+mn-cs"/>
              </a:rPr>
              <a:t> Gathering together staff who have worked on previous similar projects and seeking their input regarding risk management.</a:t>
            </a:r>
            <a:r>
              <a:rPr lang="en-AU" sz="1200" kern="1200" baseline="0" dirty="0" smtClean="0">
                <a:solidFill>
                  <a:schemeClr val="tx1"/>
                </a:solidFill>
                <a:ea typeface="+mn-ea"/>
                <a:cs typeface="+mn-cs"/>
              </a:rPr>
              <a:t> I</a:t>
            </a:r>
            <a:r>
              <a:rPr lang="en-AU" sz="1200" kern="1200" dirty="0" smtClean="0">
                <a:solidFill>
                  <a:schemeClr val="tx1"/>
                </a:solidFill>
                <a:ea typeface="+mn-ea"/>
                <a:cs typeface="+mn-cs"/>
              </a:rPr>
              <a:t>t is really useful to speak to previous Project Managers.</a:t>
            </a:r>
          </a:p>
          <a:p>
            <a:pPr>
              <a:buFont typeface="Arial" pitchFamily="34" charset="0"/>
              <a:buChar char="•"/>
            </a:pPr>
            <a:r>
              <a:rPr lang="en-AU" sz="1200" kern="1200" dirty="0" smtClean="0">
                <a:solidFill>
                  <a:schemeClr val="tx1"/>
                </a:solidFill>
                <a:ea typeface="+mn-ea"/>
                <a:cs typeface="+mn-cs"/>
              </a:rPr>
              <a:t> If previous PMs have left the venue,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try to find out where they are now and talk to them</a:t>
            </a:r>
          </a:p>
          <a:p>
            <a:pPr lvl="0">
              <a:buFont typeface="Arial" pitchFamily="34" charset="0"/>
              <a:buChar char="•"/>
            </a:pPr>
            <a:r>
              <a:rPr lang="en-AU" sz="1200" kern="1200" dirty="0" smtClean="0">
                <a:solidFill>
                  <a:schemeClr val="tx1"/>
                </a:solidFill>
                <a:ea typeface="+mn-ea"/>
                <a:cs typeface="+mn-cs"/>
              </a:rPr>
              <a:t> Speaking to management (and other relevant stakeholders – internal and/or external) about their recollections regarding previous projects</a:t>
            </a:r>
          </a:p>
          <a:p>
            <a:pPr lvl="0">
              <a:buFont typeface="Arial" pitchFamily="34" charset="0"/>
              <a:buChar char="•"/>
            </a:pPr>
            <a:r>
              <a:rPr lang="en-AU" sz="1200" kern="1200" dirty="0" smtClean="0">
                <a:solidFill>
                  <a:schemeClr val="tx1"/>
                </a:solidFill>
                <a:ea typeface="+mn-ea"/>
                <a:cs typeface="+mn-cs"/>
              </a:rPr>
              <a:t> Analysing documentation within the business to identify lessons learned such as reading previous contracts, project reviews and evaluation reports and results</a:t>
            </a:r>
          </a:p>
          <a:p>
            <a:pPr lvl="0">
              <a:buFont typeface="Arial" pitchFamily="34" charset="0"/>
              <a:buChar char="•"/>
            </a:pPr>
            <a:r>
              <a:rPr lang="en-AU" sz="1200" kern="1200" dirty="0" smtClean="0">
                <a:solidFill>
                  <a:schemeClr val="tx1"/>
                </a:solidFill>
                <a:ea typeface="+mn-ea"/>
                <a:cs typeface="+mn-cs"/>
              </a:rPr>
              <a:t> Conducting Brainstorming sessions to identify possible risks.</a:t>
            </a:r>
          </a:p>
          <a:p>
            <a:r>
              <a:rPr lang="en-AU" sz="1200" b="1" i="0" kern="1200" dirty="0" smtClean="0">
                <a:solidFill>
                  <a:schemeClr val="tx1"/>
                </a:solidFill>
                <a:ea typeface="+mn-ea"/>
                <a:cs typeface="+mn-cs"/>
              </a:rPr>
              <a:t>Formal investigation</a:t>
            </a:r>
            <a:endParaRPr lang="en-AU" sz="1200" i="0" kern="1200" dirty="0" smtClean="0">
              <a:solidFill>
                <a:schemeClr val="tx1"/>
              </a:solidFill>
              <a:ea typeface="+mn-ea"/>
              <a:cs typeface="+mn-cs"/>
            </a:endParaRPr>
          </a:p>
          <a:p>
            <a:r>
              <a:rPr lang="en-AU" sz="1200" kern="1200" dirty="0" smtClean="0">
                <a:solidFill>
                  <a:schemeClr val="tx1"/>
                </a:solidFill>
                <a:ea typeface="+mn-ea"/>
                <a:cs typeface="+mn-cs"/>
              </a:rPr>
              <a:t>This can include:</a:t>
            </a:r>
          </a:p>
          <a:p>
            <a:pPr lvl="0">
              <a:buFont typeface="Arial" pitchFamily="34" charset="0"/>
              <a:buChar char="•"/>
            </a:pPr>
            <a:r>
              <a:rPr lang="en-AU" sz="1200" kern="1200" dirty="0" smtClean="0">
                <a:solidFill>
                  <a:schemeClr val="tx1"/>
                </a:solidFill>
                <a:ea typeface="+mn-ea"/>
                <a:cs typeface="+mn-cs"/>
              </a:rPr>
              <a:t> Paying for the services of a professional, external project management business who have experience (a) with this type of project, and (b) the hospitality industry.</a:t>
            </a:r>
          </a:p>
          <a:p>
            <a:pPr lvl="0">
              <a:buFont typeface="Arial" pitchFamily="34" charset="0"/>
              <a:buChar char="•"/>
            </a:pPr>
            <a:r>
              <a:rPr lang="en-AU" sz="1200" kern="1200" dirty="0" smtClean="0">
                <a:solidFill>
                  <a:schemeClr val="tx1"/>
                </a:solidFill>
                <a:ea typeface="+mn-ea"/>
                <a:cs typeface="+mn-cs"/>
              </a:rPr>
              <a:t> Using fault-tree analysis (FTA) and/or Fishbone (Ishikawa) diagrams.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are techniques used to help identify possible causes for a risk and relate these possible causes to each other and the projected result/outcome of the risk eventuating (linking cause and effect).</a:t>
            </a:r>
          </a:p>
          <a:p>
            <a:pPr>
              <a:buFont typeface="Arial" pitchFamily="34" charset="0"/>
              <a:buChar char="•"/>
            </a:pPr>
            <a:r>
              <a:rPr lang="en-AU" sz="1200" kern="1200" dirty="0" smtClean="0">
                <a:solidFill>
                  <a:schemeClr val="tx1"/>
                </a:solidFill>
                <a:ea typeface="+mn-ea"/>
                <a:cs typeface="+mn-cs"/>
              </a:rPr>
              <a:t> Software programs can be used to assist with these.</a:t>
            </a:r>
            <a:r>
              <a:rPr lang="en-AU" sz="1200" kern="1200" baseline="0" dirty="0" smtClean="0">
                <a:solidFill>
                  <a:schemeClr val="tx1"/>
                </a:solidFill>
                <a:ea typeface="+mn-ea"/>
                <a:cs typeface="+mn-cs"/>
              </a:rPr>
              <a:t> I</a:t>
            </a:r>
            <a:r>
              <a:rPr lang="en-AU" sz="1200" kern="1200" dirty="0" smtClean="0">
                <a:solidFill>
                  <a:schemeClr val="tx1"/>
                </a:solidFill>
                <a:ea typeface="+mn-ea"/>
                <a:cs typeface="+mn-cs"/>
              </a:rPr>
              <a:t>t is not recommended you use these approached unless you have previous experience with them, or unless you have someone to help you who has previous experience with them.</a:t>
            </a:r>
          </a:p>
          <a:p>
            <a:pPr>
              <a:buFont typeface="Arial" pitchFamily="34" charset="0"/>
              <a:buNone/>
            </a:pPr>
            <a:endParaRPr lang="en-US" dirty="0" smtClean="0"/>
          </a:p>
          <a:p>
            <a:pPr>
              <a:buFont typeface="Arial" pitchFamily="34" charset="0"/>
              <a:buNone/>
            </a:pPr>
            <a:r>
              <a:rPr lang="en-US" b="1" dirty="0" smtClean="0"/>
              <a:t>Class Activity – Internet research</a:t>
            </a:r>
          </a:p>
          <a:p>
            <a:pPr>
              <a:buFont typeface="Arial" pitchFamily="34" charset="0"/>
              <a:buNone/>
            </a:pPr>
            <a:r>
              <a:rPr lang="en-US" b="0" dirty="0" smtClean="0"/>
              <a:t>Trainer asks students to visit and discuss their findings for:</a:t>
            </a:r>
          </a:p>
          <a:p>
            <a:pPr lvl="0"/>
            <a:r>
              <a:rPr lang="en-AU" sz="1200" u="sng" kern="1200" dirty="0" smtClean="0">
                <a:solidFill>
                  <a:schemeClr val="tx1"/>
                </a:solidFill>
                <a:ea typeface="+mn-ea"/>
                <a:cs typeface="+mn-cs"/>
                <a:hlinkClick r:id="rId3"/>
              </a:rPr>
              <a:t>http://en.wikipedia.org/wiki/Fault_tree_analysis</a:t>
            </a:r>
            <a:endParaRPr lang="en-AU" sz="1200" kern="1200" dirty="0" smtClean="0">
              <a:solidFill>
                <a:schemeClr val="tx1"/>
              </a:solidFill>
              <a:ea typeface="+mn-ea"/>
              <a:cs typeface="+mn-cs"/>
            </a:endParaRPr>
          </a:p>
          <a:p>
            <a:pPr lvl="0"/>
            <a:r>
              <a:rPr lang="en-AU" sz="1200" u="sng" kern="1200" dirty="0" smtClean="0">
                <a:solidFill>
                  <a:schemeClr val="tx1"/>
                </a:solidFill>
                <a:ea typeface="+mn-ea"/>
                <a:cs typeface="+mn-cs"/>
                <a:hlinkClick r:id="rId4"/>
              </a:rPr>
              <a:t>http://www.mindtools.com/pages/article/newTMC_03.htm</a:t>
            </a:r>
            <a:r>
              <a:rPr lang="en-AU" sz="1200" kern="1200" dirty="0" smtClean="0">
                <a:solidFill>
                  <a:schemeClr val="tx1"/>
                </a:solidFill>
                <a:ea typeface="+mn-ea"/>
                <a:cs typeface="+mn-cs"/>
              </a:rPr>
              <a:t> </a:t>
            </a:r>
          </a:p>
          <a:p>
            <a:pPr>
              <a:buFont typeface="Arial" pitchFamily="34" charset="0"/>
              <a:buNone/>
            </a:pPr>
            <a:endParaRPr lang="en-US" b="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possible generic responses to identified project risks:</a:t>
            </a:r>
          </a:p>
          <a:p>
            <a:pPr lvl="0">
              <a:buFont typeface="Arial" pitchFamily="34" charset="0"/>
              <a:buChar char="•"/>
            </a:pPr>
            <a:r>
              <a:rPr lang="en-AU" sz="1200" kern="1200" dirty="0" smtClean="0">
                <a:solidFill>
                  <a:schemeClr val="tx1"/>
                </a:solidFill>
                <a:ea typeface="+mn-ea"/>
                <a:cs typeface="+mn-cs"/>
              </a:rPr>
              <a:t> Risk avoidance – that is, not proceeding with the project</a:t>
            </a:r>
          </a:p>
          <a:p>
            <a:pPr lvl="0">
              <a:buFont typeface="Arial" pitchFamily="34" charset="0"/>
              <a:buChar char="•"/>
            </a:pPr>
            <a:r>
              <a:rPr lang="en-AU" sz="1200" kern="1200" dirty="0" smtClean="0">
                <a:solidFill>
                  <a:schemeClr val="tx1"/>
                </a:solidFill>
                <a:ea typeface="+mn-ea"/>
                <a:cs typeface="+mn-cs"/>
              </a:rPr>
              <a:t> Accepting and controlling the risk – taking action to alter either the likelihood of the risk occurring, and/or reducing the consequence of the risk if it does occur</a:t>
            </a:r>
          </a:p>
          <a:p>
            <a:pPr lvl="0">
              <a:buFont typeface="Arial" pitchFamily="34" charset="0"/>
              <a:buChar char="•"/>
            </a:pPr>
            <a:r>
              <a:rPr lang="en-AU" sz="1200" kern="1200" dirty="0" smtClean="0">
                <a:solidFill>
                  <a:schemeClr val="tx1"/>
                </a:solidFill>
                <a:ea typeface="+mn-ea"/>
                <a:cs typeface="+mn-cs"/>
              </a:rPr>
              <a:t> Transferring the risk which involves taking out appropriate insurance to cover the project, and/or outsourcing all/most of the work to reduce the liability/exposure of the organisation</a:t>
            </a:r>
          </a:p>
          <a:p>
            <a:pPr lvl="0">
              <a:buFont typeface="Arial" pitchFamily="34" charset="0"/>
              <a:buChar char="•"/>
            </a:pPr>
            <a:r>
              <a:rPr lang="en-AU" sz="1200" kern="1200" dirty="0" smtClean="0">
                <a:solidFill>
                  <a:schemeClr val="tx1"/>
                </a:solidFill>
                <a:ea typeface="+mn-ea"/>
                <a:cs typeface="+mn-cs"/>
              </a:rPr>
              <a:t> Deferring the risk – postponing the project till a later date</a:t>
            </a:r>
          </a:p>
          <a:p>
            <a:pPr lvl="0">
              <a:buFont typeface="Arial" pitchFamily="34" charset="0"/>
              <a:buChar char="•"/>
            </a:pPr>
            <a:r>
              <a:rPr lang="en-AU" sz="1200" kern="1200" dirty="0" smtClean="0">
                <a:solidFill>
                  <a:schemeClr val="tx1"/>
                </a:solidFill>
                <a:ea typeface="+mn-ea"/>
                <a:cs typeface="+mn-cs"/>
              </a:rPr>
              <a:t> Limiting the risk – only proceeding with part of the original project proposal.</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contingency plans for projects:</a:t>
            </a:r>
          </a:p>
          <a:p>
            <a:pPr>
              <a:buFont typeface="Arial" pitchFamily="34" charset="0"/>
              <a:buChar char="•"/>
            </a:pPr>
            <a:r>
              <a:rPr lang="en-AU" sz="1200" kern="1200" dirty="0" smtClean="0">
                <a:solidFill>
                  <a:schemeClr val="tx1"/>
                </a:solidFill>
                <a:ea typeface="+mn-ea"/>
                <a:cs typeface="+mn-cs"/>
              </a:rPr>
              <a:t> Your project may require you to prepare/consider ‘Contingency plans’ for your project.</a:t>
            </a:r>
          </a:p>
          <a:p>
            <a:pPr>
              <a:buFont typeface="Arial" pitchFamily="34" charset="0"/>
              <a:buChar char="•"/>
            </a:pPr>
            <a:r>
              <a:rPr lang="en-AU" sz="1200" kern="1200" dirty="0" smtClean="0">
                <a:solidFill>
                  <a:schemeClr val="tx1"/>
                </a:solidFill>
                <a:ea typeface="+mn-ea"/>
                <a:cs typeface="+mn-cs"/>
              </a:rPr>
              <a:t> Contingency plans are ‘Plan B’.</a:t>
            </a:r>
          </a:p>
          <a:p>
            <a:pPr>
              <a:buFont typeface="Arial" pitchFamily="34" charset="0"/>
              <a:buChar char="•"/>
            </a:pPr>
            <a:r>
              <a:rPr lang="en-AU" sz="1200" kern="1200" dirty="0" smtClean="0">
                <a:solidFill>
                  <a:schemeClr val="tx1"/>
                </a:solidFill>
                <a:ea typeface="+mn-ea"/>
                <a:cs typeface="+mn-cs"/>
              </a:rPr>
              <a:t> They govern what could/should be done when a situation arises where the initial plans cannot be implemented and/or the actions to be taken when an identified risk actually occurs.</a:t>
            </a:r>
          </a:p>
          <a:p>
            <a:pPr>
              <a:buFont typeface="Arial" pitchFamily="34" charset="0"/>
              <a:buChar char="•"/>
            </a:pPr>
            <a:r>
              <a:rPr lang="en-AU" sz="1200" kern="1200" dirty="0" smtClean="0">
                <a:solidFill>
                  <a:schemeClr val="tx1"/>
                </a:solidFill>
                <a:ea typeface="+mn-ea"/>
                <a:cs typeface="+mn-cs"/>
              </a:rPr>
              <a:t> The factors uncovered as part of risk management will determine to a great extent what the contingency plans cover, and how extensive they are.</a:t>
            </a:r>
          </a:p>
          <a:p>
            <a:pPr>
              <a:buFont typeface="Arial" pitchFamily="34" charset="0"/>
              <a:buChar char="•"/>
            </a:pPr>
            <a:r>
              <a:rPr lang="en-AU" sz="1200" kern="1200" dirty="0" smtClean="0">
                <a:solidFill>
                  <a:schemeClr val="tx1"/>
                </a:solidFill>
                <a:ea typeface="+mn-ea"/>
                <a:cs typeface="+mn-cs"/>
              </a:rPr>
              <a:t> Not all projects – especially very small, very short-term projects – have contingency plans prepared.</a:t>
            </a:r>
          </a:p>
          <a:p>
            <a:pPr>
              <a:buFont typeface="Arial" pitchFamily="34" charset="0"/>
              <a:buChar char="•"/>
            </a:pPr>
            <a:r>
              <a:rPr lang="en-AU" sz="1200" kern="1200" dirty="0" smtClean="0">
                <a:solidFill>
                  <a:schemeClr val="tx1"/>
                </a:solidFill>
                <a:ea typeface="+mn-ea"/>
                <a:cs typeface="+mn-cs"/>
              </a:rPr>
              <a:t> Risk management plans and Contingency plans should be included as part of the formal project management plan.</a:t>
            </a:r>
            <a:r>
              <a:rPr lang="en-AU" sz="1200" kern="1200" baseline="0" dirty="0" smtClean="0">
                <a:solidFill>
                  <a:schemeClr val="tx1"/>
                </a:solidFill>
                <a:ea typeface="+mn-ea"/>
                <a:cs typeface="+mn-cs"/>
              </a:rPr>
              <a:t> S</a:t>
            </a:r>
            <a:r>
              <a:rPr lang="en-AU" sz="1200" kern="1200" dirty="0" smtClean="0">
                <a:solidFill>
                  <a:schemeClr val="tx1"/>
                </a:solidFill>
                <a:ea typeface="+mn-ea"/>
                <a:cs typeface="+mn-cs"/>
              </a:rPr>
              <a:t>ome venues may establish a Risk Register to assist with detailing and recording specifics of identified risks.</a:t>
            </a:r>
          </a:p>
          <a:p>
            <a:pPr>
              <a:buFont typeface="Arial" pitchFamily="34" charset="0"/>
              <a:buNone/>
            </a:pPr>
            <a:endParaRPr lang="en-US" dirty="0" smtClean="0"/>
          </a:p>
          <a:p>
            <a:pPr>
              <a:buFont typeface="Arial" pitchFamily="34" charset="0"/>
              <a:buNone/>
            </a:pPr>
            <a:r>
              <a:rPr lang="en-US" b="1" dirty="0" smtClean="0"/>
              <a:t>Class Activity – Handout</a:t>
            </a:r>
          </a:p>
          <a:p>
            <a:pPr>
              <a:buFont typeface="Arial" pitchFamily="34" charset="0"/>
              <a:buNone/>
            </a:pPr>
            <a:r>
              <a:rPr lang="en-US" b="0" dirty="0" smtClean="0"/>
              <a:t>Trainer distributes and discusses sample project contingency plans.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‘milestones’ stating:</a:t>
            </a:r>
          </a:p>
          <a:p>
            <a:pPr>
              <a:buFont typeface="Arial" pitchFamily="34" charset="0"/>
              <a:buChar char="•"/>
            </a:pPr>
            <a:r>
              <a:rPr lang="en-AU" sz="1200" kern="1200" dirty="0" smtClean="0">
                <a:solidFill>
                  <a:schemeClr val="tx1"/>
                </a:solidFill>
                <a:ea typeface="+mn-ea"/>
                <a:cs typeface="+mn-cs"/>
              </a:rPr>
              <a:t> Milestones are points in time when nominated activities are expected to be completed, or times when important decisions need to be taken about subsequent action/work.</a:t>
            </a:r>
          </a:p>
          <a:p>
            <a:pPr>
              <a:buFont typeface="Arial" pitchFamily="34" charset="0"/>
              <a:buChar char="•"/>
            </a:pPr>
            <a:r>
              <a:rPr lang="en-AU" sz="1200" kern="1200" dirty="0" smtClean="0">
                <a:solidFill>
                  <a:schemeClr val="tx1"/>
                </a:solidFill>
                <a:ea typeface="+mn-ea"/>
                <a:cs typeface="+mn-cs"/>
              </a:rPr>
              <a:t> Milestones occur at significant points in the project such as the end of a stage (or combination of stages) for a project.</a:t>
            </a:r>
          </a:p>
          <a:p>
            <a:pPr>
              <a:buFont typeface="Arial" pitchFamily="34" charset="0"/>
              <a:buChar char="•"/>
            </a:pPr>
            <a:r>
              <a:rPr lang="en-AU" sz="1200" kern="1200" dirty="0" smtClean="0">
                <a:solidFill>
                  <a:schemeClr val="tx1"/>
                </a:solidFill>
                <a:ea typeface="+mn-ea"/>
                <a:cs typeface="+mn-cs"/>
              </a:rPr>
              <a:t> They can be seen as project checkpoints or benchmarks.</a:t>
            </a:r>
          </a:p>
          <a:p>
            <a:pPr>
              <a:buFont typeface="Arial" pitchFamily="34" charset="0"/>
              <a:buChar char="•"/>
            </a:pPr>
            <a:r>
              <a:rPr lang="en-AU" sz="1200" kern="1200" dirty="0" smtClean="0">
                <a:solidFill>
                  <a:schemeClr val="tx1"/>
                </a:solidFill>
                <a:ea typeface="+mn-ea"/>
                <a:cs typeface="+mn-cs"/>
              </a:rPr>
              <a:t> There is no standard timeline for the setting of milestones.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 key factor in determining when/where they occur are an estimation of the time required to achieve completion of the work which has to be undertaken. This means:</a:t>
            </a:r>
          </a:p>
          <a:p>
            <a:pPr lvl="1">
              <a:buFont typeface="Arial" pitchFamily="34" charset="0"/>
              <a:buChar char="•"/>
            </a:pPr>
            <a:r>
              <a:rPr lang="en-AU" sz="1200" kern="1200" dirty="0" smtClean="0">
                <a:solidFill>
                  <a:schemeClr val="tx1"/>
                </a:solidFill>
                <a:ea typeface="+mn-ea"/>
                <a:cs typeface="+mn-cs"/>
              </a:rPr>
              <a:t> Some milestones are much longer or shorter than others</a:t>
            </a:r>
          </a:p>
          <a:p>
            <a:pPr lvl="1">
              <a:buFont typeface="Arial" pitchFamily="34" charset="0"/>
              <a:buChar char="•"/>
            </a:pPr>
            <a:r>
              <a:rPr lang="en-AU" sz="1200" kern="1200" dirty="0" smtClean="0">
                <a:solidFill>
                  <a:schemeClr val="tx1"/>
                </a:solidFill>
                <a:ea typeface="+mn-ea"/>
                <a:cs typeface="+mn-cs"/>
              </a:rPr>
              <a:t> Multiple milestones can occur at the same point in the project.</a:t>
            </a:r>
          </a:p>
          <a:p>
            <a:pPr>
              <a:buFont typeface="Arial" pitchFamily="34" charset="0"/>
              <a:buChar char="•"/>
            </a:pPr>
            <a:r>
              <a:rPr lang="en-AU" sz="1200" kern="1200" dirty="0" smtClean="0">
                <a:solidFill>
                  <a:schemeClr val="tx1"/>
                </a:solidFill>
                <a:ea typeface="+mn-ea"/>
                <a:cs typeface="+mn-cs"/>
              </a:rPr>
              <a:t> Setting milestones allows you to monitor the actual progress of the project against projected/anticipated progress of the project.</a:t>
            </a:r>
          </a:p>
          <a:p>
            <a:pPr>
              <a:buFont typeface="Arial" pitchFamily="34" charset="0"/>
              <a:buChar char="•"/>
            </a:pPr>
            <a:r>
              <a:rPr lang="en-AU" sz="1200" kern="1200" dirty="0" smtClean="0">
                <a:solidFill>
                  <a:schemeClr val="tx1"/>
                </a:solidFill>
                <a:ea typeface="+mn-ea"/>
                <a:cs typeface="+mn-cs"/>
              </a:rPr>
              <a:t> Milestones should follow/reflect the flow (order/sequence) of the activities required to compete the project and may be allocated:</a:t>
            </a:r>
          </a:p>
          <a:p>
            <a:pPr lvl="1">
              <a:buFont typeface="Arial" pitchFamily="34" charset="0"/>
              <a:buChar char="•"/>
            </a:pPr>
            <a:r>
              <a:rPr lang="en-AU" sz="1200" kern="1200" dirty="0" smtClean="0">
                <a:solidFill>
                  <a:schemeClr val="tx1"/>
                </a:solidFill>
                <a:ea typeface="+mn-ea"/>
                <a:cs typeface="+mn-cs"/>
              </a:rPr>
              <a:t> A number – such as ‘Stage 1’, ‘Stage 2’ and so on</a:t>
            </a:r>
          </a:p>
          <a:p>
            <a:pPr lvl="1">
              <a:buFont typeface="Arial" pitchFamily="34" charset="0"/>
              <a:buChar char="•"/>
            </a:pPr>
            <a:r>
              <a:rPr lang="en-AU" sz="1200" kern="1200" dirty="0" smtClean="0">
                <a:solidFill>
                  <a:schemeClr val="tx1"/>
                </a:solidFill>
                <a:ea typeface="+mn-ea"/>
                <a:cs typeface="+mn-cs"/>
              </a:rPr>
              <a:t> A written descriptor such as ‘Tenderers and Consultants researched, identified and contracted’, ‘Fixtures and fittings removed and room prepare for fit-out’.</a:t>
            </a:r>
          </a:p>
          <a:p>
            <a:pPr>
              <a:buFont typeface="Arial" pitchFamily="34" charset="0"/>
              <a:buChar char="•"/>
            </a:pPr>
            <a:r>
              <a:rPr lang="en-AU" sz="1200" kern="1200" dirty="0" smtClean="0">
                <a:solidFill>
                  <a:schemeClr val="tx1"/>
                </a:solidFill>
                <a:ea typeface="+mn-ea"/>
                <a:cs typeface="+mn-cs"/>
              </a:rPr>
              <a:t> In most cases the achievement of one milestone indicates the start of another one.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a:t>
            </a:r>
            <a:r>
              <a:rPr lang="en-AU" sz="1200" kern="1200" dirty="0" smtClean="0">
                <a:solidFill>
                  <a:schemeClr val="tx1"/>
                </a:solidFill>
                <a:ea typeface="+mn-ea"/>
                <a:cs typeface="+mn-cs"/>
              </a:rPr>
              <a:t>milestones should be identified as part of the planning process for the project explaining when identifying milestones:</a:t>
            </a:r>
          </a:p>
          <a:p>
            <a:pPr>
              <a:buFont typeface="Arial" pitchFamily="34" charset="0"/>
              <a:buChar char="•"/>
            </a:pPr>
            <a:r>
              <a:rPr lang="en-AU" sz="1200" kern="1200" dirty="0" smtClean="0">
                <a:solidFill>
                  <a:schemeClr val="tx1"/>
                </a:solidFill>
                <a:ea typeface="+mn-ea"/>
                <a:cs typeface="+mn-cs"/>
              </a:rPr>
              <a:t> Ensure you know the start and finish date for the project.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are the two parameters within which all milestones must fit</a:t>
            </a:r>
          </a:p>
          <a:p>
            <a:pPr>
              <a:buFont typeface="Arial" pitchFamily="34" charset="0"/>
              <a:buChar char="•"/>
            </a:pPr>
            <a:r>
              <a:rPr lang="en-AU" sz="1200" kern="1200" dirty="0" smtClean="0">
                <a:solidFill>
                  <a:schemeClr val="tx1"/>
                </a:solidFill>
                <a:ea typeface="+mn-ea"/>
                <a:cs typeface="+mn-cs"/>
              </a:rPr>
              <a:t> Make sure you have identified all work which needs to be undertaken to complete the project.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work will need to be converted to Stages which often form the basis for a milestone</a:t>
            </a:r>
          </a:p>
          <a:p>
            <a:pPr>
              <a:buFont typeface="Arial" pitchFamily="34" charset="0"/>
              <a:buChar char="•"/>
            </a:pPr>
            <a:r>
              <a:rPr lang="en-AU" sz="1200" kern="1200" dirty="0" smtClean="0">
                <a:solidFill>
                  <a:schemeClr val="tx1"/>
                </a:solidFill>
                <a:ea typeface="+mn-ea"/>
                <a:cs typeface="+mn-cs"/>
              </a:rPr>
              <a:t> Verify you have scheduled the required work in the proper sequence as milestones reflect the progressive nature of the project.</a:t>
            </a:r>
          </a:p>
          <a:p>
            <a:pPr lvl="1">
              <a:buFont typeface="Arial" pitchFamily="34" charset="0"/>
              <a:buChar char="•"/>
            </a:pPr>
            <a:r>
              <a:rPr lang="en-AU" sz="1200" kern="1200" dirty="0" smtClean="0">
                <a:solidFill>
                  <a:schemeClr val="tx1"/>
                </a:solidFill>
                <a:ea typeface="+mn-ea"/>
                <a:cs typeface="+mn-cs"/>
              </a:rPr>
              <a:t> Where </a:t>
            </a:r>
            <a:r>
              <a:rPr lang="en-AU" sz="1200" i="1" kern="1200" dirty="0" smtClean="0">
                <a:solidFill>
                  <a:schemeClr val="tx1"/>
                </a:solidFill>
                <a:ea typeface="+mn-ea"/>
                <a:cs typeface="+mn-cs"/>
              </a:rPr>
              <a:t>subsequent</a:t>
            </a:r>
            <a:r>
              <a:rPr lang="en-AU" sz="1200" kern="1200" dirty="0" smtClean="0">
                <a:solidFill>
                  <a:schemeClr val="tx1"/>
                </a:solidFill>
                <a:ea typeface="+mn-ea"/>
                <a:cs typeface="+mn-cs"/>
              </a:rPr>
              <a:t> work/action relies on work being completed, the milestones for the previous milestones must precede the later ones.</a:t>
            </a:r>
          </a:p>
          <a:p>
            <a:pPr>
              <a:buFont typeface="Arial" pitchFamily="34" charset="0"/>
              <a:buChar char="•"/>
            </a:pPr>
            <a:r>
              <a:rPr lang="en-AU" sz="1200" kern="1200" dirty="0" smtClean="0">
                <a:solidFill>
                  <a:schemeClr val="tx1"/>
                </a:solidFill>
                <a:ea typeface="+mn-ea"/>
                <a:cs typeface="+mn-cs"/>
              </a:rPr>
              <a:t> Involve others in assisting identify the Stages of the project and the milestones which should apply, asking others to contribute always helps ensure correct sequencing/scheduling of activities and helps make sure nothing is over-looked in the planning process. This requirement is especially applicable to:</a:t>
            </a:r>
          </a:p>
          <a:p>
            <a:pPr lvl="1">
              <a:buFont typeface="Arial" pitchFamily="34" charset="0"/>
              <a:buChar char="•"/>
            </a:pPr>
            <a:r>
              <a:rPr lang="en-AU" sz="1200" kern="1200" dirty="0" smtClean="0">
                <a:solidFill>
                  <a:schemeClr val="tx1"/>
                </a:solidFill>
                <a:ea typeface="+mn-ea"/>
                <a:cs typeface="+mn-cs"/>
              </a:rPr>
              <a:t> Contractors</a:t>
            </a:r>
          </a:p>
          <a:p>
            <a:pPr lvl="1">
              <a:buFont typeface="Arial" pitchFamily="34" charset="0"/>
              <a:buChar char="•"/>
            </a:pPr>
            <a:r>
              <a:rPr lang="en-AU" sz="1200" kern="1200" dirty="0" smtClean="0">
                <a:solidFill>
                  <a:schemeClr val="tx1"/>
                </a:solidFill>
                <a:ea typeface="+mn-ea"/>
                <a:cs typeface="+mn-cs"/>
              </a:rPr>
              <a:t> External providers</a:t>
            </a:r>
          </a:p>
          <a:p>
            <a:pPr lvl="1">
              <a:buFont typeface="Arial" pitchFamily="34" charset="0"/>
              <a:buChar char="•"/>
            </a:pPr>
            <a:r>
              <a:rPr lang="en-AU" sz="1200" kern="1200" dirty="0" smtClean="0">
                <a:solidFill>
                  <a:schemeClr val="tx1"/>
                </a:solidFill>
                <a:ea typeface="+mn-ea"/>
                <a:cs typeface="+mn-cs"/>
              </a:rPr>
              <a:t> Consultants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a:t>
            </a:r>
            <a:r>
              <a:rPr lang="en-AU" sz="1200" kern="1200" dirty="0" smtClean="0">
                <a:solidFill>
                  <a:schemeClr val="tx1"/>
                </a:solidFill>
                <a:ea typeface="+mn-ea"/>
                <a:cs typeface="+mn-cs"/>
              </a:rPr>
              <a:t>explaining requirements when identifying milestones:</a:t>
            </a:r>
          </a:p>
          <a:p>
            <a:pPr>
              <a:buFont typeface="Arial" pitchFamily="34" charset="0"/>
              <a:buChar char="•"/>
            </a:pPr>
            <a:r>
              <a:rPr lang="en-AU" sz="1200" kern="1200" dirty="0" smtClean="0">
                <a:solidFill>
                  <a:schemeClr val="tx1"/>
                </a:solidFill>
                <a:ea typeface="+mn-ea"/>
                <a:cs typeface="+mn-cs"/>
              </a:rPr>
              <a:t> Include penalty clauses applicable to external providers/contractors if they fail to meet milestone requirements and ensure they sign-off on these</a:t>
            </a:r>
          </a:p>
          <a:p>
            <a:pPr>
              <a:buFont typeface="Arial" pitchFamily="34" charset="0"/>
              <a:buChar char="•"/>
            </a:pPr>
            <a:r>
              <a:rPr lang="en-AU" sz="1200" kern="1200" dirty="0" smtClean="0">
                <a:solidFill>
                  <a:schemeClr val="tx1"/>
                </a:solidFill>
                <a:ea typeface="+mn-ea"/>
                <a:cs typeface="+mn-cs"/>
              </a:rPr>
              <a:t> Seek approval from key stakeholders for the milestones you have tentatively identified</a:t>
            </a:r>
          </a:p>
          <a:p>
            <a:pPr>
              <a:buFont typeface="Arial" pitchFamily="34" charset="0"/>
              <a:buChar char="•"/>
            </a:pPr>
            <a:r>
              <a:rPr lang="en-AU" sz="1200" kern="1200" dirty="0" smtClean="0">
                <a:solidFill>
                  <a:schemeClr val="tx1"/>
                </a:solidFill>
                <a:ea typeface="+mn-ea"/>
                <a:cs typeface="+mn-cs"/>
              </a:rPr>
              <a:t> Look for logical ‘breaks’ in the project which automatically qualify as obvious milestones</a:t>
            </a:r>
          </a:p>
          <a:p>
            <a:pPr>
              <a:buFont typeface="Arial" pitchFamily="34" charset="0"/>
              <a:buChar char="•"/>
            </a:pPr>
            <a:r>
              <a:rPr lang="en-AU" sz="1200" kern="1200" dirty="0" smtClean="0">
                <a:solidFill>
                  <a:schemeClr val="tx1"/>
                </a:solidFill>
                <a:ea typeface="+mn-ea"/>
                <a:cs typeface="+mn-cs"/>
              </a:rPr>
              <a:t> Set a date </a:t>
            </a:r>
            <a:r>
              <a:rPr lang="en-AU" sz="1200" b="1" kern="1200" dirty="0" smtClean="0">
                <a:solidFill>
                  <a:schemeClr val="tx1"/>
                </a:solidFill>
                <a:ea typeface="+mn-ea"/>
                <a:cs typeface="+mn-cs"/>
              </a:rPr>
              <a:t>before</a:t>
            </a:r>
            <a:r>
              <a:rPr lang="en-AU" sz="1200" kern="1200" dirty="0" smtClean="0">
                <a:solidFill>
                  <a:schemeClr val="tx1"/>
                </a:solidFill>
                <a:ea typeface="+mn-ea"/>
                <a:cs typeface="+mn-cs"/>
              </a:rPr>
              <a:t> the milestone is due as an inspection or check date where you examine actual progress against the requirements of the upcoming milestone giving you time to take whatever remedial/catch-up action is needed to attain the requirements of the milestone</a:t>
            </a:r>
          </a:p>
          <a:p>
            <a:pPr>
              <a:buFont typeface="Arial" pitchFamily="34" charset="0"/>
              <a:buChar char="•"/>
            </a:pPr>
            <a:r>
              <a:rPr lang="en-AU" sz="1200" kern="1200" dirty="0" smtClean="0">
                <a:solidFill>
                  <a:schemeClr val="tx1"/>
                </a:solidFill>
                <a:ea typeface="+mn-ea"/>
                <a:cs typeface="+mn-cs"/>
              </a:rPr>
              <a:t> Realise many PMS systems have a ‘Create a milestone’ facility and this may be useful to you </a:t>
            </a:r>
          </a:p>
          <a:p>
            <a:pPr>
              <a:buFont typeface="Arial" pitchFamily="34" charset="0"/>
              <a:buChar char="•"/>
            </a:pPr>
            <a:r>
              <a:rPr lang="en-AU" sz="1200" kern="1200" dirty="0" smtClean="0">
                <a:solidFill>
                  <a:schemeClr val="tx1"/>
                </a:solidFill>
                <a:ea typeface="+mn-ea"/>
                <a:cs typeface="+mn-cs"/>
              </a:rPr>
              <a:t> Determine the meetings, inspections and/or reports which must attach to each identified milestone.</a:t>
            </a:r>
          </a:p>
          <a:p>
            <a:pPr>
              <a:buFont typeface="Arial" pitchFamily="34" charset="0"/>
              <a:buNone/>
            </a:pPr>
            <a:endParaRPr lang="en-US" dirty="0" smtClean="0"/>
          </a:p>
          <a:p>
            <a:pPr>
              <a:buFont typeface="Arial" pitchFamily="34" charset="0"/>
              <a:buNone/>
            </a:pPr>
            <a:r>
              <a:rPr lang="en-US" b="1" dirty="0" smtClean="0"/>
              <a:t>Class Activity – Handout/s</a:t>
            </a:r>
          </a:p>
          <a:p>
            <a:pPr>
              <a:buFont typeface="Arial" pitchFamily="34" charset="0"/>
              <a:buNone/>
            </a:pPr>
            <a:r>
              <a:rPr lang="en-US" b="0" dirty="0" smtClean="0"/>
              <a:t>Trainer distributes and discusses a range of sample milestones which may attach to small projects.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when communicating milestones attention </a:t>
            </a:r>
            <a:r>
              <a:rPr lang="en-AU" sz="1200" kern="1200" dirty="0" smtClean="0">
                <a:solidFill>
                  <a:schemeClr val="tx1"/>
                </a:solidFill>
                <a:ea typeface="+mn-ea"/>
                <a:cs typeface="+mn-cs"/>
              </a:rPr>
              <a:t>must be paid to:</a:t>
            </a:r>
          </a:p>
          <a:p>
            <a:pPr>
              <a:buFont typeface="Arial" pitchFamily="34" charset="0"/>
              <a:buChar char="•"/>
            </a:pPr>
            <a:r>
              <a:rPr lang="en-AU" sz="1200" kern="1200" dirty="0" smtClean="0">
                <a:solidFill>
                  <a:schemeClr val="tx1"/>
                </a:solidFill>
                <a:ea typeface="+mn-ea"/>
                <a:cs typeface="+mn-cs"/>
              </a:rPr>
              <a:t> Ensuring the applicable dates are understood by everyone.</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hey should be encouraged to diarise them.</a:t>
            </a:r>
          </a:p>
          <a:p>
            <a:pPr>
              <a:buFont typeface="Arial" pitchFamily="34" charset="0"/>
              <a:buChar char="•"/>
            </a:pPr>
            <a:r>
              <a:rPr lang="en-AU" sz="1200" kern="1200" dirty="0" smtClean="0">
                <a:solidFill>
                  <a:schemeClr val="tx1"/>
                </a:solidFill>
                <a:ea typeface="+mn-ea"/>
                <a:cs typeface="+mn-cs"/>
              </a:rPr>
              <a:t> You should also send out advanced notice about them as the date approaches to remind people.</a:t>
            </a:r>
          </a:p>
          <a:p>
            <a:pPr>
              <a:buFont typeface="Arial" pitchFamily="34" charset="0"/>
              <a:buChar char="•"/>
            </a:pPr>
            <a:r>
              <a:rPr lang="en-AU" sz="1200" kern="1200" dirty="0" smtClean="0">
                <a:solidFill>
                  <a:schemeClr val="tx1"/>
                </a:solidFill>
                <a:ea typeface="+mn-ea"/>
                <a:cs typeface="+mn-cs"/>
              </a:rPr>
              <a:t> Giving each relevant person a project management plan with the milestones for which they have responsibility highlighted</a:t>
            </a:r>
          </a:p>
          <a:p>
            <a:pPr>
              <a:buFont typeface="Arial" pitchFamily="34" charset="0"/>
              <a:buChar char="•"/>
            </a:pPr>
            <a:r>
              <a:rPr lang="en-AU" sz="1200" kern="1200" dirty="0" smtClean="0">
                <a:solidFill>
                  <a:schemeClr val="tx1"/>
                </a:solidFill>
                <a:ea typeface="+mn-ea"/>
                <a:cs typeface="+mn-cs"/>
              </a:rPr>
              <a:t> Detailing exactly what each milestone comprises so there is surety about what should be completed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aspects to which attention must be paid when communicating milestones:</a:t>
            </a:r>
          </a:p>
          <a:p>
            <a:pPr>
              <a:buFont typeface="Arial" pitchFamily="34" charset="0"/>
              <a:buChar char="•"/>
            </a:pPr>
            <a:r>
              <a:rPr lang="en-AU" sz="1200" kern="1200" dirty="0" smtClean="0">
                <a:solidFill>
                  <a:schemeClr val="tx1"/>
                </a:solidFill>
                <a:ea typeface="+mn-ea"/>
                <a:cs typeface="+mn-cs"/>
              </a:rPr>
              <a:t> Advising people of action to take when/if they believe milestones they have responsibility for will not be completed by the scheduled date</a:t>
            </a:r>
          </a:p>
          <a:p>
            <a:pPr>
              <a:buFont typeface="Arial" pitchFamily="34" charset="0"/>
              <a:buChar char="•"/>
            </a:pPr>
            <a:r>
              <a:rPr lang="en-AU" sz="1200" kern="1200" dirty="0" smtClean="0">
                <a:solidFill>
                  <a:schemeClr val="tx1"/>
                </a:solidFill>
                <a:ea typeface="+mn-ea"/>
                <a:cs typeface="+mn-cs"/>
              </a:rPr>
              <a:t> Notifying people of the flow-on implications of milestones not being achieved as specified and by the time specified</a:t>
            </a:r>
          </a:p>
          <a:p>
            <a:pPr>
              <a:buFont typeface="Arial" pitchFamily="34" charset="0"/>
              <a:buChar char="•"/>
            </a:pPr>
            <a:r>
              <a:rPr lang="en-AU" sz="1200" kern="1200" dirty="0" smtClean="0">
                <a:solidFill>
                  <a:schemeClr val="tx1"/>
                </a:solidFill>
                <a:ea typeface="+mn-ea"/>
                <a:cs typeface="+mn-cs"/>
              </a:rPr>
              <a:t> Checking the budget as part of the process of checking milestones.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r>
              <a:rPr lang="en-US" b="1" dirty="0" smtClean="0"/>
              <a:t>Class Activity – Discussion</a:t>
            </a:r>
          </a:p>
          <a:p>
            <a:r>
              <a:rPr lang="en-AU" sz="1200" kern="1200" baseline="0" dirty="0" smtClean="0">
                <a:solidFill>
                  <a:schemeClr val="tx1"/>
                </a:solidFill>
                <a:ea typeface="+mn-ea"/>
                <a:cs typeface="+mn-cs"/>
              </a:rPr>
              <a:t>Trainer leads a general class discussion on administering and monitoring projects by asking questions such as:</a:t>
            </a:r>
          </a:p>
          <a:p>
            <a:pPr>
              <a:buFont typeface="Arial" pitchFamily="34" charset="0"/>
              <a:buChar char="•"/>
            </a:pPr>
            <a:r>
              <a:rPr lang="en-US" b="0" dirty="0" smtClean="0"/>
              <a:t> What do you think is involved in administering and monitoring a small project?</a:t>
            </a:r>
          </a:p>
          <a:p>
            <a:pPr>
              <a:buFont typeface="Arial" pitchFamily="34" charset="0"/>
              <a:buChar char="•"/>
            </a:pPr>
            <a:r>
              <a:rPr lang="en-US" b="0" dirty="0" smtClean="0"/>
              <a:t> Why are these activities necessary and important?</a:t>
            </a:r>
          </a:p>
          <a:p>
            <a:pPr>
              <a:buFont typeface="Arial" pitchFamily="34" charset="0"/>
              <a:buChar char="•"/>
            </a:pPr>
            <a:r>
              <a:rPr lang="en-US" b="0" dirty="0" smtClean="0"/>
              <a:t> How could you provide support to project team members?</a:t>
            </a:r>
          </a:p>
          <a:p>
            <a:pPr>
              <a:buFont typeface="Arial" pitchFamily="34" charset="0"/>
              <a:buChar char="•"/>
            </a:pPr>
            <a:r>
              <a:rPr lang="en-US" b="0" dirty="0" smtClean="0"/>
              <a:t> How might you build trust</a:t>
            </a:r>
            <a:r>
              <a:rPr lang="en-US" b="0" baseline="0" dirty="0" smtClean="0"/>
              <a:t> and respect with team members?</a:t>
            </a:r>
          </a:p>
          <a:p>
            <a:pPr>
              <a:buFont typeface="Arial" pitchFamily="34" charset="0"/>
              <a:buChar char="•"/>
            </a:pPr>
            <a:r>
              <a:rPr lang="en-US" b="0" baseline="0" dirty="0" smtClean="0"/>
              <a:t> Why is there a need for progress reports for small projects? </a:t>
            </a: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explains </a:t>
            </a:r>
            <a:r>
              <a:rPr lang="en-AU" sz="1200" kern="1200" dirty="0" smtClean="0">
                <a:solidFill>
                  <a:schemeClr val="tx1"/>
                </a:solidFill>
                <a:ea typeface="+mn-ea"/>
                <a:cs typeface="+mn-cs"/>
              </a:rPr>
              <a:t>when the planning for a project has been completed and all necessary authorisations have been obtained, the next step is to start the project ‘proper’ highlighting from this point forward the extent to which the project succeeds or fails rests with this phase.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Trainer states it is where they have to ‘walk the talk’ (to put into practice the plans you developed and which have been approved) identifying standards practice at the outset is to:</a:t>
            </a:r>
          </a:p>
          <a:p>
            <a:pPr>
              <a:buFont typeface="Arial" pitchFamily="34" charset="0"/>
              <a:buChar char="•"/>
            </a:pPr>
            <a:r>
              <a:rPr lang="en-AU" sz="1200" kern="1200" dirty="0" smtClean="0">
                <a:solidFill>
                  <a:schemeClr val="tx1"/>
                </a:solidFill>
                <a:ea typeface="+mn-ea"/>
                <a:cs typeface="+mn-cs"/>
              </a:rPr>
              <a:t> Verify all requirements for project start have been met.</a:t>
            </a:r>
            <a:r>
              <a:rPr lang="en-AU" sz="1200" kern="1200" baseline="0" dirty="0" smtClean="0">
                <a:solidFill>
                  <a:schemeClr val="tx1"/>
                </a:solidFill>
                <a:ea typeface="+mn-ea"/>
                <a:cs typeface="+mn-cs"/>
              </a:rPr>
              <a:t> Y</a:t>
            </a:r>
            <a:r>
              <a:rPr lang="en-AU" sz="1200" kern="1200" dirty="0" smtClean="0">
                <a:solidFill>
                  <a:schemeClr val="tx1"/>
                </a:solidFill>
                <a:ea typeface="+mn-ea"/>
                <a:cs typeface="+mn-cs"/>
              </a:rPr>
              <a:t>ou would for instance require:</a:t>
            </a:r>
          </a:p>
          <a:p>
            <a:pPr lvl="1">
              <a:buFont typeface="Arial" pitchFamily="34" charset="0"/>
              <a:buChar char="•"/>
            </a:pPr>
            <a:r>
              <a:rPr lang="en-AU" sz="1200" kern="1200" dirty="0" smtClean="0">
                <a:solidFill>
                  <a:schemeClr val="tx1"/>
                </a:solidFill>
                <a:ea typeface="+mn-ea"/>
                <a:cs typeface="+mn-cs"/>
              </a:rPr>
              <a:t> Copies of relevant authorizations which have been signed-off</a:t>
            </a:r>
          </a:p>
          <a:p>
            <a:pPr lvl="1">
              <a:buFont typeface="Arial" pitchFamily="34" charset="0"/>
              <a:buChar char="•"/>
            </a:pPr>
            <a:r>
              <a:rPr lang="en-AU" sz="1200" kern="1200" dirty="0" smtClean="0">
                <a:solidFill>
                  <a:schemeClr val="tx1"/>
                </a:solidFill>
                <a:ea typeface="+mn-ea"/>
                <a:cs typeface="+mn-cs"/>
              </a:rPr>
              <a:t> Direct approval from the manager/owner to proceed</a:t>
            </a:r>
          </a:p>
          <a:p>
            <a:pPr>
              <a:buFont typeface="Arial" pitchFamily="34" charset="0"/>
              <a:buChar char="•"/>
            </a:pPr>
            <a:r>
              <a:rPr lang="en-AU" sz="1200" kern="1200" dirty="0" smtClean="0">
                <a:solidFill>
                  <a:schemeClr val="tx1"/>
                </a:solidFill>
                <a:ea typeface="+mn-ea"/>
                <a:cs typeface="+mn-cs"/>
              </a:rPr>
              <a:t> Look at your own workload for the project period and take appropriate action to ensure you can commit the required time to the project, which may involve:</a:t>
            </a:r>
          </a:p>
          <a:p>
            <a:pPr lvl="1">
              <a:buFont typeface="Arial" pitchFamily="34" charset="0"/>
              <a:buChar char="•"/>
            </a:pPr>
            <a:r>
              <a:rPr lang="en-AU" sz="1200" kern="1200" dirty="0" smtClean="0">
                <a:solidFill>
                  <a:schemeClr val="tx1"/>
                </a:solidFill>
                <a:ea typeface="+mn-ea"/>
                <a:cs typeface="+mn-cs"/>
              </a:rPr>
              <a:t> Prioritising work</a:t>
            </a:r>
          </a:p>
          <a:p>
            <a:pPr lvl="1">
              <a:buFont typeface="Arial" pitchFamily="34" charset="0"/>
              <a:buChar char="•"/>
            </a:pPr>
            <a:r>
              <a:rPr lang="en-AU" sz="1200" kern="1200" dirty="0" smtClean="0">
                <a:solidFill>
                  <a:schemeClr val="tx1"/>
                </a:solidFill>
                <a:ea typeface="+mn-ea"/>
                <a:cs typeface="+mn-cs"/>
              </a:rPr>
              <a:t> Delegating work</a:t>
            </a:r>
          </a:p>
          <a:p>
            <a:pPr lvl="1">
              <a:buFont typeface="Arial" pitchFamily="34" charset="0"/>
              <a:buChar char="•"/>
            </a:pPr>
            <a:r>
              <a:rPr lang="en-AU" sz="1200" kern="1200" dirty="0" smtClean="0">
                <a:solidFill>
                  <a:schemeClr val="tx1"/>
                </a:solidFill>
                <a:ea typeface="+mn-ea"/>
                <a:cs typeface="+mn-cs"/>
              </a:rPr>
              <a:t> Creating a personal work schedule</a:t>
            </a:r>
          </a:p>
          <a:p>
            <a:pPr lvl="1">
              <a:buFont typeface="Arial" pitchFamily="34" charset="0"/>
              <a:buChar char="•"/>
            </a:pPr>
            <a:r>
              <a:rPr lang="en-AU" sz="1200" kern="1200" dirty="0" smtClean="0">
                <a:solidFill>
                  <a:schemeClr val="tx1"/>
                </a:solidFill>
                <a:ea typeface="+mn-ea"/>
                <a:cs typeface="+mn-cs"/>
              </a:rPr>
              <a:t> Diarising time you have committed to/for the project</a:t>
            </a:r>
          </a:p>
          <a:p>
            <a:pPr>
              <a:buFont typeface="Arial" pitchFamily="34" charset="0"/>
              <a:buChar char="•"/>
            </a:pPr>
            <a:r>
              <a:rPr lang="en-AU" sz="1200" kern="1200" dirty="0" smtClean="0">
                <a:solidFill>
                  <a:schemeClr val="tx1"/>
                </a:solidFill>
                <a:ea typeface="+mn-ea"/>
                <a:cs typeface="+mn-cs"/>
              </a:rPr>
              <a:t> Meet with the client to enquire if they have any final requirements additional to what is already known.</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standard practice at start of a project:</a:t>
            </a:r>
          </a:p>
          <a:p>
            <a:pPr>
              <a:buFont typeface="Arial" pitchFamily="34" charset="0"/>
              <a:buChar char="•"/>
            </a:pPr>
            <a:r>
              <a:rPr lang="en-AU" sz="1200" kern="1200" dirty="0" smtClean="0">
                <a:solidFill>
                  <a:schemeClr val="tx1"/>
                </a:solidFill>
                <a:ea typeface="+mn-ea"/>
                <a:cs typeface="+mn-cs"/>
              </a:rPr>
              <a:t> Communicate with other supervisors and managers to advise them of the project and the fact it is about too start</a:t>
            </a:r>
          </a:p>
          <a:p>
            <a:pPr>
              <a:buFont typeface="Arial" pitchFamily="34" charset="0"/>
              <a:buChar char="•"/>
            </a:pPr>
            <a:r>
              <a:rPr lang="en-AU" sz="1200" kern="1200" dirty="0" smtClean="0">
                <a:solidFill>
                  <a:schemeClr val="tx1"/>
                </a:solidFill>
                <a:ea typeface="+mn-ea"/>
                <a:cs typeface="+mn-cs"/>
              </a:rPr>
              <a:t> Convene  a meeting of your staff and team/s to brief them on the project and its commencement</a:t>
            </a:r>
          </a:p>
          <a:p>
            <a:pPr>
              <a:buFont typeface="Arial" pitchFamily="34" charset="0"/>
              <a:buChar char="•"/>
            </a:pPr>
            <a:r>
              <a:rPr lang="en-AU" sz="1200" kern="1200" dirty="0" smtClean="0">
                <a:solidFill>
                  <a:schemeClr val="tx1"/>
                </a:solidFill>
                <a:ea typeface="+mn-ea"/>
                <a:cs typeface="+mn-cs"/>
              </a:rPr>
              <a:t> Advise staff and project teams the project has been officially approved and notify them of any last-minute changes made</a:t>
            </a:r>
          </a:p>
          <a:p>
            <a:pPr>
              <a:buFont typeface="Arial" pitchFamily="34" charset="0"/>
              <a:buChar char="•"/>
            </a:pPr>
            <a:r>
              <a:rPr lang="en-AU" sz="1200" kern="1200" dirty="0" smtClean="0">
                <a:solidFill>
                  <a:schemeClr val="tx1"/>
                </a:solidFill>
                <a:ea typeface="+mn-ea"/>
                <a:cs typeface="+mn-cs"/>
              </a:rPr>
              <a:t> Identify any other workplace projects or activities which the project can – or should – be integrated with to achieve savings and other efficiencies.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states without </a:t>
            </a:r>
            <a:r>
              <a:rPr lang="en-AU" sz="1200" kern="1200" dirty="0" smtClean="0">
                <a:solidFill>
                  <a:schemeClr val="tx1"/>
                </a:solidFill>
                <a:ea typeface="+mn-ea"/>
                <a:cs typeface="+mn-cs"/>
              </a:rPr>
              <a:t>suitable management any project will quickly start to display signs of problems explaining effective project management demands:</a:t>
            </a:r>
          </a:p>
          <a:p>
            <a:pPr>
              <a:buFont typeface="Arial" pitchFamily="34" charset="0"/>
              <a:buChar char="•"/>
            </a:pPr>
            <a:r>
              <a:rPr lang="en-AU" sz="1200" kern="1200" dirty="0" smtClean="0">
                <a:solidFill>
                  <a:schemeClr val="tx1"/>
                </a:solidFill>
                <a:ea typeface="+mn-ea"/>
                <a:cs typeface="+mn-cs"/>
              </a:rPr>
              <a:t> Attention to project management.</a:t>
            </a:r>
            <a:r>
              <a:rPr lang="en-AU" sz="1200" kern="1200" baseline="0" dirty="0" smtClean="0">
                <a:solidFill>
                  <a:schemeClr val="tx1"/>
                </a:solidFill>
                <a:ea typeface="+mn-ea"/>
                <a:cs typeface="+mn-cs"/>
              </a:rPr>
              <a:t> I</a:t>
            </a:r>
            <a:r>
              <a:rPr lang="en-AU" sz="1200" kern="1200" dirty="0" smtClean="0">
                <a:solidFill>
                  <a:schemeClr val="tx1"/>
                </a:solidFill>
                <a:ea typeface="+mn-ea"/>
                <a:cs typeface="+mn-cs"/>
              </a:rPr>
              <a:t>t sounds basic but it is so important. </a:t>
            </a:r>
          </a:p>
          <a:p>
            <a:pPr lvl="1">
              <a:buFont typeface="Arial" pitchFamily="34" charset="0"/>
              <a:buChar char="•"/>
            </a:pPr>
            <a:r>
              <a:rPr lang="en-AU" sz="1200" kern="1200" dirty="0" smtClean="0">
                <a:solidFill>
                  <a:schemeClr val="tx1"/>
                </a:solidFill>
                <a:ea typeface="+mn-ea"/>
                <a:cs typeface="+mn-cs"/>
              </a:rPr>
              <a:t> You must allocate sufficient time and focus to doing just this: ‘managing the project’. </a:t>
            </a:r>
          </a:p>
          <a:p>
            <a:pPr lvl="1">
              <a:buFont typeface="Arial" pitchFamily="34" charset="0"/>
              <a:buChar char="•"/>
            </a:pPr>
            <a:r>
              <a:rPr lang="en-AU" sz="1200" kern="1200" dirty="0" smtClean="0">
                <a:solidFill>
                  <a:schemeClr val="tx1"/>
                </a:solidFill>
                <a:ea typeface="+mn-ea"/>
                <a:cs typeface="+mn-cs"/>
              </a:rPr>
              <a:t> Project management must take priority and others in the venue (supervisors, managers, staff) have to realise this.</a:t>
            </a:r>
            <a:r>
              <a:rPr lang="en-AU" sz="1200" kern="1200" baseline="0" dirty="0" smtClean="0">
                <a:solidFill>
                  <a:schemeClr val="tx1"/>
                </a:solidFill>
                <a:ea typeface="+mn-ea"/>
                <a:cs typeface="+mn-cs"/>
              </a:rPr>
              <a:t> Y</a:t>
            </a:r>
            <a:r>
              <a:rPr lang="en-AU" sz="1200" kern="1200" dirty="0" smtClean="0">
                <a:solidFill>
                  <a:schemeClr val="tx1"/>
                </a:solidFill>
                <a:ea typeface="+mn-ea"/>
                <a:cs typeface="+mn-cs"/>
              </a:rPr>
              <a:t>ou have to make them accept and understand your primary focus is the project (as well as completing other day to</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day you normally have responsibility for.</a:t>
            </a:r>
          </a:p>
          <a:p>
            <a:pPr>
              <a:buFont typeface="Arial" pitchFamily="34" charset="0"/>
              <a:buChar char="•"/>
            </a:pPr>
            <a:r>
              <a:rPr lang="en-AU" sz="1200" kern="1200" dirty="0" smtClean="0">
                <a:solidFill>
                  <a:schemeClr val="tx1"/>
                </a:solidFill>
                <a:ea typeface="+mn-ea"/>
                <a:cs typeface="+mn-cs"/>
              </a:rPr>
              <a:t> You are a constant physical presence.</a:t>
            </a:r>
            <a:r>
              <a:rPr lang="en-AU" sz="1200" kern="1200" baseline="0" dirty="0" smtClean="0">
                <a:solidFill>
                  <a:schemeClr val="tx1"/>
                </a:solidFill>
                <a:ea typeface="+mn-ea"/>
                <a:cs typeface="+mn-cs"/>
              </a:rPr>
              <a:t> A</a:t>
            </a:r>
            <a:r>
              <a:rPr lang="en-AU" sz="1200" kern="1200" dirty="0" smtClean="0">
                <a:solidFill>
                  <a:schemeClr val="tx1"/>
                </a:solidFill>
                <a:ea typeface="+mn-ea"/>
                <a:cs typeface="+mn-cs"/>
              </a:rPr>
              <a:t>ll projects benefit from the PM being present and available. </a:t>
            </a:r>
          </a:p>
          <a:p>
            <a:pPr lvl="1">
              <a:buFont typeface="Arial" pitchFamily="34" charset="0"/>
              <a:buChar char="•"/>
            </a:pPr>
            <a:r>
              <a:rPr lang="en-AU" sz="1200" kern="1200" dirty="0" smtClean="0">
                <a:solidFill>
                  <a:schemeClr val="tx1"/>
                </a:solidFill>
                <a:ea typeface="+mn-ea"/>
                <a:cs typeface="+mn-cs"/>
              </a:rPr>
              <a:t> ‘Being there’ encourages questions from people/organisations who are not sure about what to do.</a:t>
            </a:r>
          </a:p>
          <a:p>
            <a:pPr lvl="1">
              <a:buFont typeface="Arial" pitchFamily="34" charset="0"/>
              <a:buChar char="•"/>
            </a:pPr>
            <a:r>
              <a:rPr lang="en-AU" sz="1200" kern="1200" dirty="0" smtClean="0">
                <a:solidFill>
                  <a:schemeClr val="tx1"/>
                </a:solidFill>
                <a:ea typeface="+mn-ea"/>
                <a:cs typeface="+mn-cs"/>
              </a:rPr>
              <a:t> Being there demonstrates the importance you place on the project. </a:t>
            </a:r>
          </a:p>
          <a:p>
            <a:pPr lvl="1">
              <a:buFont typeface="Arial" pitchFamily="34" charset="0"/>
              <a:buChar char="•"/>
            </a:pPr>
            <a:r>
              <a:rPr lang="en-AU" sz="1200" kern="1200" dirty="0" smtClean="0">
                <a:solidFill>
                  <a:schemeClr val="tx1"/>
                </a:solidFill>
                <a:ea typeface="+mn-ea"/>
                <a:cs typeface="+mn-cs"/>
              </a:rPr>
              <a:t> Being there at all times allows you to see what is going on and intervene when things are not going according to what you know to be the plan/requirements.</a:t>
            </a:r>
          </a:p>
          <a:p>
            <a:pPr lvl="1">
              <a:buFont typeface="Arial" pitchFamily="34" charset="0"/>
              <a:buChar char="•"/>
            </a:pPr>
            <a:r>
              <a:rPr lang="en-AU" sz="1200" kern="1200" dirty="0" smtClean="0">
                <a:solidFill>
                  <a:schemeClr val="tx1"/>
                </a:solidFill>
                <a:ea typeface="+mn-ea"/>
                <a:cs typeface="+mn-cs"/>
              </a:rPr>
              <a:t> ‘Being there’ means being in/on the project work site – not being hidden away in an office somewhere.</a:t>
            </a:r>
          </a:p>
          <a:p>
            <a:pPr lvl="1">
              <a:buFont typeface="Arial" pitchFamily="34" charset="0"/>
              <a:buChar char="•"/>
            </a:pPr>
            <a:r>
              <a:rPr lang="en-AU" sz="1200" kern="1200" dirty="0" smtClean="0">
                <a:solidFill>
                  <a:schemeClr val="tx1"/>
                </a:solidFill>
                <a:ea typeface="+mn-ea"/>
                <a:cs typeface="+mn-cs"/>
              </a:rPr>
              <a:t> You can never successfully manage any project only from an office.</a:t>
            </a:r>
          </a:p>
          <a:p>
            <a:pPr>
              <a:buFont typeface="Arial" pitchFamily="34" charset="0"/>
              <a:buChar char="•"/>
            </a:pPr>
            <a:r>
              <a:rPr lang="en-AU" sz="1200" kern="1200" dirty="0" smtClean="0">
                <a:solidFill>
                  <a:schemeClr val="tx1"/>
                </a:solidFill>
                <a:ea typeface="+mn-ea"/>
                <a:cs typeface="+mn-cs"/>
              </a:rPr>
              <a:t> Facilitation of the work of others involved in the project whether they are internal staff/team members or external third-party providers, consultants or contractors. Facilitation can mean literally hundreds of things such as:</a:t>
            </a:r>
          </a:p>
          <a:p>
            <a:pPr lvl="1">
              <a:buFont typeface="Arial" pitchFamily="34" charset="0"/>
              <a:buChar char="•"/>
            </a:pPr>
            <a:r>
              <a:rPr lang="en-AU" sz="1200" kern="1200" dirty="0" smtClean="0">
                <a:solidFill>
                  <a:schemeClr val="tx1"/>
                </a:solidFill>
                <a:ea typeface="+mn-ea"/>
                <a:cs typeface="+mn-cs"/>
              </a:rPr>
              <a:t> Opening the venue early so workers can gain access</a:t>
            </a:r>
          </a:p>
          <a:p>
            <a:pPr lvl="1">
              <a:buFont typeface="Arial" pitchFamily="34" charset="0"/>
              <a:buChar char="•"/>
            </a:pPr>
            <a:r>
              <a:rPr lang="en-AU" sz="1200" kern="1200" dirty="0" smtClean="0">
                <a:solidFill>
                  <a:schemeClr val="tx1"/>
                </a:solidFill>
                <a:ea typeface="+mn-ea"/>
                <a:cs typeface="+mn-cs"/>
              </a:rPr>
              <a:t> Authorising entry to restricted areas</a:t>
            </a:r>
          </a:p>
          <a:p>
            <a:pPr lvl="1">
              <a:buFont typeface="Arial" pitchFamily="34" charset="0"/>
              <a:buChar char="•"/>
            </a:pPr>
            <a:r>
              <a:rPr lang="en-AU" sz="1200" kern="1200" dirty="0" smtClean="0">
                <a:solidFill>
                  <a:schemeClr val="tx1"/>
                </a:solidFill>
                <a:ea typeface="+mn-ea"/>
                <a:cs typeface="+mn-cs"/>
              </a:rPr>
              <a:t> Providing information as required to enable decision making</a:t>
            </a:r>
          </a:p>
          <a:p>
            <a:pPr lvl="1">
              <a:buFont typeface="Arial" pitchFamily="34" charset="0"/>
              <a:buChar char="•"/>
            </a:pPr>
            <a:r>
              <a:rPr lang="en-AU" sz="1200" kern="1200" dirty="0" smtClean="0">
                <a:solidFill>
                  <a:schemeClr val="tx1"/>
                </a:solidFill>
                <a:ea typeface="+mn-ea"/>
                <a:cs typeface="+mn-cs"/>
              </a:rPr>
              <a:t> Taking charge of a situation and making decisions about what can/cannot and should/should not be done</a:t>
            </a:r>
          </a:p>
          <a:p>
            <a:pPr lvl="1">
              <a:buFont typeface="Arial" pitchFamily="34" charset="0"/>
              <a:buChar char="•"/>
            </a:pPr>
            <a:r>
              <a:rPr lang="en-AU" sz="1200" kern="1200" dirty="0" smtClean="0">
                <a:solidFill>
                  <a:schemeClr val="tx1"/>
                </a:solidFill>
                <a:ea typeface="+mn-ea"/>
                <a:cs typeface="+mn-cs"/>
              </a:rPr>
              <a:t> Giving permission/authority to vary an approach, standard, timeline or deliverable</a:t>
            </a:r>
          </a:p>
          <a:p>
            <a:pPr lvl="1">
              <a:buFont typeface="Arial" pitchFamily="34" charset="0"/>
              <a:buChar char="•"/>
            </a:pPr>
            <a:r>
              <a:rPr lang="en-AU" sz="1200" kern="1200" dirty="0" smtClean="0">
                <a:solidFill>
                  <a:schemeClr val="tx1"/>
                </a:solidFill>
                <a:ea typeface="+mn-ea"/>
                <a:cs typeface="+mn-cs"/>
              </a:rPr>
              <a:t> Using your authority to prioritise conflicting or competing requirements of the venue and of the project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a:buFont typeface="Arial" pitchFamily="34" charset="0"/>
              <a:buNone/>
            </a:pPr>
            <a:r>
              <a:rPr lang="en-US" dirty="0" smtClean="0"/>
              <a:t>Trainer continues presenting requirements for effective project management: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 Constant monitoring of the project.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involves constant/regular evaluating and measuring of ‘actual’ progress against ‘projected’ progress as set out in the project management plan. </a:t>
            </a:r>
          </a:p>
          <a:p>
            <a:pPr>
              <a:buFont typeface="Arial" pitchFamily="34" charset="0"/>
              <a:buChar char="•"/>
            </a:pPr>
            <a:r>
              <a:rPr lang="en-AU" sz="1200" kern="1200" dirty="0" smtClean="0">
                <a:solidFill>
                  <a:schemeClr val="tx1"/>
                </a:solidFill>
                <a:ea typeface="+mn-ea"/>
                <a:cs typeface="+mn-cs"/>
              </a:rPr>
              <a:t> Attendance at all project meetings.</a:t>
            </a:r>
            <a:r>
              <a:rPr lang="en-AU" sz="1200" kern="1200" baseline="0" dirty="0" smtClean="0">
                <a:solidFill>
                  <a:schemeClr val="tx1"/>
                </a:solidFill>
                <a:ea typeface="+mn-ea"/>
                <a:cs typeface="+mn-cs"/>
              </a:rPr>
              <a:t> A</a:t>
            </a:r>
            <a:r>
              <a:rPr lang="en-AU" sz="1200" kern="1200" dirty="0" smtClean="0">
                <a:solidFill>
                  <a:schemeClr val="tx1"/>
                </a:solidFill>
                <a:ea typeface="+mn-ea"/>
                <a:cs typeface="+mn-cs"/>
              </a:rPr>
              <a:t>s PM you are duty bound to be present at each and every project meeting. This means attending them regardless of when they are convened and regardless of other work you have to do.</a:t>
            </a:r>
          </a:p>
          <a:p>
            <a:pPr lvl="1">
              <a:buFont typeface="Arial" pitchFamily="34" charset="0"/>
              <a:buChar char="•"/>
            </a:pPr>
            <a:r>
              <a:rPr lang="en-AU" sz="1200" kern="1200" dirty="0" smtClean="0">
                <a:solidFill>
                  <a:schemeClr val="tx1"/>
                </a:solidFill>
                <a:ea typeface="+mn-ea"/>
                <a:cs typeface="+mn-cs"/>
              </a:rPr>
              <a:t> As soon as you miss just one project meeting regardless of how legitimate your reason/excuse for not being there is, others will misinterpret this as a lack of dedication and enthusiasm and their commitment to the project will begin to falter.</a:t>
            </a:r>
          </a:p>
          <a:p>
            <a:pPr lvl="1">
              <a:buFont typeface="Arial" pitchFamily="34" charset="0"/>
              <a:buChar char="•"/>
            </a:pPr>
            <a:r>
              <a:rPr lang="en-AU" sz="1200" kern="1200" dirty="0" smtClean="0">
                <a:solidFill>
                  <a:schemeClr val="tx1"/>
                </a:solidFill>
                <a:ea typeface="+mn-ea"/>
                <a:cs typeface="+mn-cs"/>
              </a:rPr>
              <a:t> This means you must attend all project-related meetings which may be called by the Board, stakeholders, staff, management, contractors, delegating authorities, committees </a:t>
            </a:r>
            <a:r>
              <a:rPr lang="en-AU" sz="1200" b="1" kern="1200" dirty="0" smtClean="0">
                <a:solidFill>
                  <a:schemeClr val="tx1"/>
                </a:solidFill>
                <a:ea typeface="+mn-ea"/>
                <a:cs typeface="+mn-cs"/>
              </a:rPr>
              <a:t>without exception</a:t>
            </a:r>
            <a:r>
              <a:rPr lang="en-AU" sz="1200" kern="1200" dirty="0" smtClean="0">
                <a:solidFill>
                  <a:schemeClr val="tx1"/>
                </a:solidFill>
                <a:ea typeface="+mn-ea"/>
                <a:cs typeface="+mn-cs"/>
              </a:rPr>
              <a:t>.</a:t>
            </a:r>
          </a:p>
          <a:p>
            <a:pPr>
              <a:buFont typeface="Arial" pitchFamily="34" charset="0"/>
              <a:buChar char="•"/>
            </a:pPr>
            <a:r>
              <a:rPr lang="en-AU" sz="1200" kern="1200" dirty="0" smtClean="0">
                <a:solidFill>
                  <a:schemeClr val="tx1"/>
                </a:solidFill>
                <a:ea typeface="+mn-ea"/>
                <a:cs typeface="+mn-cs"/>
              </a:rPr>
              <a:t> Ability to foresee potential problems and raise them with relevant others to address them before they convert into actual problems/issues.</a:t>
            </a:r>
          </a:p>
          <a:p>
            <a:pPr lvl="1">
              <a:buFont typeface="Arial" pitchFamily="34" charset="0"/>
              <a:buChar char="•"/>
            </a:pPr>
            <a:r>
              <a:rPr lang="en-AU" sz="1200" kern="1200" dirty="0" smtClean="0">
                <a:solidFill>
                  <a:schemeClr val="tx1"/>
                </a:solidFill>
                <a:ea typeface="+mn-ea"/>
                <a:cs typeface="+mn-cs"/>
              </a:rPr>
              <a:t> This ability must apply to scheduling problems/clashes, potential delays, labour issues, funding short-falls, procurement, delivery, installation and commissioning.</a:t>
            </a:r>
          </a:p>
          <a:p>
            <a:pPr>
              <a:buFont typeface="Arial" pitchFamily="34" charset="0"/>
              <a:buChar char="•"/>
            </a:pPr>
            <a:r>
              <a:rPr lang="en-AU" sz="1200" kern="1200" dirty="0" smtClean="0">
                <a:solidFill>
                  <a:schemeClr val="tx1"/>
                </a:solidFill>
                <a:ea typeface="+mn-ea"/>
                <a:cs typeface="+mn-cs"/>
              </a:rPr>
              <a:t> Constant note-taking .</a:t>
            </a:r>
            <a:r>
              <a:rPr lang="en-AU" sz="1200" kern="1200" baseline="0" dirty="0" smtClean="0">
                <a:solidFill>
                  <a:schemeClr val="tx1"/>
                </a:solidFill>
                <a:ea typeface="+mn-ea"/>
                <a:cs typeface="+mn-cs"/>
              </a:rPr>
              <a:t> A</a:t>
            </a:r>
            <a:r>
              <a:rPr lang="en-AU" sz="1200" kern="1200" dirty="0" smtClean="0">
                <a:solidFill>
                  <a:schemeClr val="tx1"/>
                </a:solidFill>
                <a:ea typeface="+mn-ea"/>
                <a:cs typeface="+mn-cs"/>
              </a:rPr>
              <a:t>s PM you should make lots and lots of notes in your Project Notebook (see later slide).</a:t>
            </a:r>
          </a:p>
          <a:p>
            <a:pPr lvl="1">
              <a:buFont typeface="Arial" pitchFamily="34" charset="0"/>
              <a:buChar char="•"/>
            </a:pPr>
            <a:r>
              <a:rPr lang="en-AU" sz="1200" kern="1200" dirty="0" smtClean="0">
                <a:solidFill>
                  <a:schemeClr val="tx1"/>
                </a:solidFill>
                <a:ea typeface="+mn-ea"/>
                <a:cs typeface="+mn-cs"/>
              </a:rPr>
              <a:t> Never rely on your memory about things that happened; things that failed to happen; what was said (by way of a promise or commitment by another person) face-to-face or over the phone. </a:t>
            </a:r>
          </a:p>
          <a:p>
            <a:pPr lvl="1">
              <a:buFont typeface="Arial" pitchFamily="34" charset="0"/>
              <a:buChar char="•"/>
            </a:pPr>
            <a:r>
              <a:rPr lang="en-AU" sz="1200" kern="1200" dirty="0" smtClean="0">
                <a:solidFill>
                  <a:schemeClr val="tx1"/>
                </a:solidFill>
                <a:ea typeface="+mn-ea"/>
                <a:cs typeface="+mn-cs"/>
              </a:rPr>
              <a:t> Always write it down.</a:t>
            </a:r>
          </a:p>
          <a:p>
            <a:pPr>
              <a:buFont typeface="Arial" pitchFamily="34" charset="0"/>
              <a:buNone/>
            </a:pPr>
            <a:r>
              <a:rPr lang="en-US" dirty="0" smtClean="0"/>
              <a:t>Trainer continues presenting requirements for effective project management:</a:t>
            </a:r>
          </a:p>
          <a:p>
            <a:pPr>
              <a:buFont typeface="Arial" pitchFamily="34" charset="0"/>
              <a:buChar char="•"/>
            </a:pPr>
            <a:r>
              <a:rPr lang="en-AU" sz="1200" kern="1200" dirty="0" smtClean="0">
                <a:solidFill>
                  <a:schemeClr val="tx1"/>
                </a:solidFill>
                <a:ea typeface="+mn-ea"/>
                <a:cs typeface="+mn-cs"/>
              </a:rPr>
              <a:t> High levels of time management – this is fundamental to any successful PM role.</a:t>
            </a:r>
          </a:p>
          <a:p>
            <a:pPr lvl="1">
              <a:buFont typeface="Arial" pitchFamily="34" charset="0"/>
              <a:buChar char="•"/>
            </a:pPr>
            <a:r>
              <a:rPr lang="en-AU" sz="1200" kern="1200" dirty="0" smtClean="0">
                <a:solidFill>
                  <a:schemeClr val="tx1"/>
                </a:solidFill>
                <a:ea typeface="+mn-ea"/>
                <a:cs typeface="+mn-cs"/>
              </a:rPr>
              <a:t> You must spend some time working out how you are going to spend your time – planning the use of your time is vital. </a:t>
            </a:r>
          </a:p>
          <a:p>
            <a:pPr lvl="1">
              <a:buFont typeface="Arial" pitchFamily="34" charset="0"/>
              <a:buChar char="•"/>
            </a:pPr>
            <a:r>
              <a:rPr lang="en-AU" sz="1200" kern="1200" dirty="0" smtClean="0">
                <a:solidFill>
                  <a:schemeClr val="tx1"/>
                </a:solidFill>
                <a:ea typeface="+mn-ea"/>
                <a:cs typeface="+mn-cs"/>
              </a:rPr>
              <a:t> There will </a:t>
            </a:r>
            <a:r>
              <a:rPr lang="en-AU" sz="1200" b="1" kern="1200" dirty="0" smtClean="0">
                <a:solidFill>
                  <a:schemeClr val="tx1"/>
                </a:solidFill>
                <a:ea typeface="+mn-ea"/>
                <a:cs typeface="+mn-cs"/>
              </a:rPr>
              <a:t>never </a:t>
            </a:r>
            <a:r>
              <a:rPr lang="en-AU" sz="1200" kern="1200" dirty="0" smtClean="0">
                <a:solidFill>
                  <a:schemeClr val="tx1"/>
                </a:solidFill>
                <a:ea typeface="+mn-ea"/>
                <a:cs typeface="+mn-cs"/>
              </a:rPr>
              <a:t>be enough time for you to do all you have to do (‘normal’ work plus project activities) and extra work will </a:t>
            </a:r>
            <a:r>
              <a:rPr lang="en-AU" sz="1200" b="1" kern="1200" dirty="0" smtClean="0">
                <a:solidFill>
                  <a:schemeClr val="tx1"/>
                </a:solidFill>
                <a:ea typeface="+mn-ea"/>
                <a:cs typeface="+mn-cs"/>
              </a:rPr>
              <a:t>always</a:t>
            </a:r>
            <a:r>
              <a:rPr lang="en-AU" sz="1200" kern="1200" dirty="0" smtClean="0">
                <a:solidFill>
                  <a:schemeClr val="tx1"/>
                </a:solidFill>
                <a:ea typeface="+mn-ea"/>
                <a:cs typeface="+mn-cs"/>
              </a:rPr>
              <a:t> emerge on an almost daily basis as the project progresses.</a:t>
            </a:r>
          </a:p>
          <a:p>
            <a:pPr lvl="1">
              <a:buFont typeface="Arial" pitchFamily="34" charset="0"/>
              <a:buChar char="•"/>
            </a:pPr>
            <a:r>
              <a:rPr lang="en-AU" sz="1200" kern="1200" dirty="0" smtClean="0">
                <a:solidFill>
                  <a:schemeClr val="tx1"/>
                </a:solidFill>
                <a:ea typeface="+mn-ea"/>
                <a:cs typeface="+mn-cs"/>
              </a:rPr>
              <a:t> Some tips to better manage your time include:</a:t>
            </a:r>
          </a:p>
          <a:p>
            <a:pPr lvl="2">
              <a:buFont typeface="Arial" pitchFamily="34" charset="0"/>
              <a:buChar char="•"/>
            </a:pPr>
            <a:r>
              <a:rPr lang="en-AU" sz="1200" kern="1200" dirty="0" smtClean="0">
                <a:solidFill>
                  <a:schemeClr val="tx1"/>
                </a:solidFill>
                <a:ea typeface="+mn-ea"/>
                <a:cs typeface="+mn-cs"/>
              </a:rPr>
              <a:t> Get to work earlier – and leave later. This may not be what you want to hear but it can be your reality for at least part of most projects</a:t>
            </a:r>
          </a:p>
          <a:p>
            <a:pPr lvl="2">
              <a:buFont typeface="Arial" pitchFamily="34" charset="0"/>
              <a:buChar char="•"/>
            </a:pPr>
            <a:r>
              <a:rPr lang="en-AU" sz="1200" kern="1200" dirty="0" smtClean="0">
                <a:solidFill>
                  <a:schemeClr val="tx1"/>
                </a:solidFill>
                <a:ea typeface="+mn-ea"/>
                <a:cs typeface="+mn-cs"/>
              </a:rPr>
              <a:t> Learn to say no – say ‘No’ to other work that is not part of the project: delegation is an effective tool in this regard</a:t>
            </a:r>
          </a:p>
          <a:p>
            <a:pPr lvl="2">
              <a:buFont typeface="Arial" pitchFamily="34" charset="0"/>
              <a:buChar char="•"/>
            </a:pPr>
            <a:r>
              <a:rPr lang="en-AU" sz="1200" kern="1200" dirty="0" smtClean="0">
                <a:solidFill>
                  <a:schemeClr val="tx1"/>
                </a:solidFill>
                <a:ea typeface="+mn-ea"/>
                <a:cs typeface="+mn-cs"/>
              </a:rPr>
              <a:t> Bundle similar tasks – this is basic time management at work stuff:</a:t>
            </a:r>
          </a:p>
          <a:p>
            <a:pPr lvl="3">
              <a:buFont typeface="Arial" pitchFamily="34" charset="0"/>
              <a:buChar char="•"/>
            </a:pPr>
            <a:r>
              <a:rPr lang="en-AU" sz="1200" kern="1200" dirty="0" smtClean="0">
                <a:solidFill>
                  <a:schemeClr val="tx1"/>
                </a:solidFill>
                <a:ea typeface="+mn-ea"/>
                <a:cs typeface="+mn-cs"/>
              </a:rPr>
              <a:t> Only read emails once or twice per day as opposed to every 30 or 60 minutes</a:t>
            </a:r>
          </a:p>
          <a:p>
            <a:pPr lvl="3">
              <a:buFont typeface="Arial" pitchFamily="34" charset="0"/>
              <a:buChar char="•"/>
            </a:pPr>
            <a:r>
              <a:rPr lang="en-AU" sz="1200" kern="1200" dirty="0" smtClean="0">
                <a:solidFill>
                  <a:schemeClr val="tx1"/>
                </a:solidFill>
                <a:ea typeface="+mn-ea"/>
                <a:cs typeface="+mn-cs"/>
              </a:rPr>
              <a:t> Write reports at the one time each day/week</a:t>
            </a:r>
          </a:p>
          <a:p>
            <a:pPr lvl="3">
              <a:buFont typeface="Arial" pitchFamily="34" charset="0"/>
              <a:buChar char="•"/>
            </a:pPr>
            <a:r>
              <a:rPr lang="en-AU" sz="1200" kern="1200" dirty="0" smtClean="0">
                <a:solidFill>
                  <a:schemeClr val="tx1"/>
                </a:solidFill>
                <a:ea typeface="+mn-ea"/>
                <a:cs typeface="+mn-cs"/>
              </a:rPr>
              <a:t> Hold all your briefings/meetings at the same part of the day – the meeting with staff could be at 3:45PM; meeting with the Manager at 4:00PM; meeting with suppliers and contractors at 4:30PM; meeting with the Board at 5:00PM</a:t>
            </a:r>
          </a:p>
          <a:p>
            <a:pPr>
              <a:buFont typeface="Arial" pitchFamily="34" charset="0"/>
              <a:buChar char="•"/>
            </a:pPr>
            <a:r>
              <a:rPr lang="en-AU" sz="1200" kern="1200" dirty="0" smtClean="0">
                <a:solidFill>
                  <a:schemeClr val="tx1"/>
                </a:solidFill>
                <a:ea typeface="+mn-ea"/>
                <a:cs typeface="+mn-cs"/>
              </a:rPr>
              <a:t> Taking of remedial action as required – sometimes this will require communication with others (internal and external) but often it is a matter of you making an on-the-spot decision to:</a:t>
            </a:r>
          </a:p>
          <a:p>
            <a:pPr lvl="1">
              <a:buFont typeface="Arial" pitchFamily="34" charset="0"/>
              <a:buChar char="•"/>
            </a:pPr>
            <a:r>
              <a:rPr lang="en-AU" sz="1200" kern="1200" dirty="0" smtClean="0">
                <a:solidFill>
                  <a:schemeClr val="tx1"/>
                </a:solidFill>
                <a:ea typeface="+mn-ea"/>
                <a:cs typeface="+mn-cs"/>
              </a:rPr>
              <a:t> Overcome a problem</a:t>
            </a:r>
          </a:p>
          <a:p>
            <a:pPr lvl="1">
              <a:buFont typeface="Arial" pitchFamily="34" charset="0"/>
              <a:buChar char="•"/>
            </a:pPr>
            <a:r>
              <a:rPr lang="en-AU" sz="1200" kern="1200" dirty="0" smtClean="0">
                <a:solidFill>
                  <a:schemeClr val="tx1"/>
                </a:solidFill>
                <a:ea typeface="+mn-ea"/>
                <a:cs typeface="+mn-cs"/>
              </a:rPr>
              <a:t> Direct staff about what to do, when and/or how to do something</a:t>
            </a:r>
          </a:p>
          <a:p>
            <a:pPr lvl="1">
              <a:buFont typeface="Arial" pitchFamily="34" charset="0"/>
              <a:buChar char="•"/>
            </a:pPr>
            <a:r>
              <a:rPr lang="en-AU" sz="1200" kern="1200" dirty="0" smtClean="0">
                <a:solidFill>
                  <a:schemeClr val="tx1"/>
                </a:solidFill>
                <a:ea typeface="+mn-ea"/>
                <a:cs typeface="+mn-cs"/>
              </a:rPr>
              <a:t> Solve a stalemate situation</a:t>
            </a:r>
          </a:p>
          <a:p>
            <a:pPr lvl="1">
              <a:buFont typeface="Arial" pitchFamily="34" charset="0"/>
              <a:buChar char="•"/>
            </a:pPr>
            <a:r>
              <a:rPr lang="en-AU" sz="1200" kern="1200" dirty="0" smtClean="0">
                <a:solidFill>
                  <a:schemeClr val="tx1"/>
                </a:solidFill>
                <a:ea typeface="+mn-ea"/>
                <a:cs typeface="+mn-cs"/>
              </a:rPr>
              <a:t> Approve/authorise a suggestion made to you by someone else</a:t>
            </a:r>
          </a:p>
          <a:p>
            <a:pPr lvl="1">
              <a:buFont typeface="Arial" pitchFamily="34" charset="0"/>
              <a:buChar char="•"/>
            </a:pPr>
            <a:r>
              <a:rPr lang="en-AU" sz="1200" kern="1200" dirty="0" smtClean="0">
                <a:solidFill>
                  <a:schemeClr val="tx1"/>
                </a:solidFill>
                <a:ea typeface="+mn-ea"/>
                <a:cs typeface="+mn-cs"/>
              </a:rPr>
              <a:t> Modify the project management plan.</a:t>
            </a:r>
          </a:p>
          <a:p>
            <a:pPr>
              <a:buFont typeface="Arial" pitchFamily="34" charset="0"/>
              <a:buNone/>
            </a:pPr>
            <a:endParaRPr lang="en-US" dirty="0" smtClean="0"/>
          </a:p>
          <a:p>
            <a:pPr>
              <a:buFont typeface="Arial" pitchFamily="34" charset="0"/>
              <a:buNone/>
            </a:pPr>
            <a:endParaRPr lang="en-US"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encourages students to use a Project Notebook  to record information obtained:</a:t>
            </a:r>
          </a:p>
          <a:p>
            <a:pPr>
              <a:buFont typeface="Arial" pitchFamily="34" charset="0"/>
              <a:buChar char="•"/>
            </a:pPr>
            <a:r>
              <a:rPr lang="en-AU" sz="1200" kern="1200" dirty="0" smtClean="0">
                <a:solidFill>
                  <a:schemeClr val="tx1"/>
                </a:solidFill>
                <a:ea typeface="+mn-ea"/>
                <a:cs typeface="+mn-cs"/>
              </a:rPr>
              <a:t> By walking around the venue/project and observing what is happening</a:t>
            </a:r>
          </a:p>
          <a:p>
            <a:pPr>
              <a:buFont typeface="Arial" pitchFamily="34" charset="0"/>
              <a:buChar char="•"/>
            </a:pPr>
            <a:r>
              <a:rPr lang="en-AU" sz="1200" kern="1200" dirty="0" smtClean="0">
                <a:solidFill>
                  <a:schemeClr val="tx1"/>
                </a:solidFill>
                <a:ea typeface="+mn-ea"/>
                <a:cs typeface="+mn-cs"/>
              </a:rPr>
              <a:t> As verbal feedback from stakeholders</a:t>
            </a:r>
          </a:p>
          <a:p>
            <a:pPr>
              <a:buFont typeface="Arial" pitchFamily="34" charset="0"/>
              <a:buChar char="•"/>
            </a:pPr>
            <a:r>
              <a:rPr lang="en-AU" sz="1200" kern="1200" dirty="0" smtClean="0">
                <a:solidFill>
                  <a:schemeClr val="tx1"/>
                </a:solidFill>
                <a:ea typeface="+mn-ea"/>
                <a:cs typeface="+mn-cs"/>
              </a:rPr>
              <a:t> As a result of a telephone call with a stakeholder</a:t>
            </a:r>
          </a:p>
          <a:p>
            <a:pPr>
              <a:buFont typeface="Arial" pitchFamily="34" charset="0"/>
              <a:buChar char="•"/>
            </a:pPr>
            <a:r>
              <a:rPr lang="en-AU" sz="1200" kern="1200" dirty="0" smtClean="0">
                <a:solidFill>
                  <a:schemeClr val="tx1"/>
                </a:solidFill>
                <a:ea typeface="+mn-ea"/>
                <a:cs typeface="+mn-cs"/>
              </a:rPr>
              <a:t> As a flash of inspiration while working on the project.</a:t>
            </a:r>
          </a:p>
          <a:p>
            <a:r>
              <a:rPr lang="en-AU" sz="1200" kern="1200" dirty="0" smtClean="0">
                <a:solidFill>
                  <a:schemeClr val="tx1"/>
                </a:solidFill>
                <a:ea typeface="+mn-ea"/>
                <a:cs typeface="+mn-cs"/>
              </a:rPr>
              <a:t>Not all relevant details of a project can be captured using even the most extensive and comprehensive reporting and monitoring system so the project note book really is a vital tool.</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notes taken in the Project Notebook may be used later for a variety of reasons:</a:t>
            </a:r>
          </a:p>
          <a:p>
            <a:pPr>
              <a:buFont typeface="Arial" pitchFamily="34" charset="0"/>
              <a:buChar char="•"/>
            </a:pPr>
            <a:r>
              <a:rPr lang="en-AU" sz="1200" kern="1200" dirty="0" smtClean="0">
                <a:solidFill>
                  <a:schemeClr val="tx1"/>
                </a:solidFill>
                <a:ea typeface="+mn-ea"/>
                <a:cs typeface="+mn-cs"/>
              </a:rPr>
              <a:t> Formal reports</a:t>
            </a:r>
          </a:p>
          <a:p>
            <a:pPr>
              <a:buFont typeface="Arial" pitchFamily="34" charset="0"/>
              <a:buChar char="•"/>
            </a:pPr>
            <a:r>
              <a:rPr lang="en-AU" sz="1200" kern="1200" dirty="0" smtClean="0">
                <a:solidFill>
                  <a:schemeClr val="tx1"/>
                </a:solidFill>
                <a:ea typeface="+mn-ea"/>
                <a:cs typeface="+mn-cs"/>
              </a:rPr>
              <a:t> General reference</a:t>
            </a:r>
          </a:p>
          <a:p>
            <a:pPr>
              <a:buFont typeface="Arial" pitchFamily="34" charset="0"/>
              <a:buChar char="•"/>
            </a:pPr>
            <a:r>
              <a:rPr lang="en-AU" sz="1200" kern="1200" dirty="0" smtClean="0">
                <a:solidFill>
                  <a:schemeClr val="tx1"/>
                </a:solidFill>
                <a:ea typeface="+mn-ea"/>
                <a:cs typeface="+mn-cs"/>
              </a:rPr>
              <a:t> Clarification of options, conflicting ideas and suggestions and information received</a:t>
            </a:r>
          </a:p>
          <a:p>
            <a:pPr>
              <a:buFont typeface="Arial" pitchFamily="34" charset="0"/>
              <a:buChar char="•"/>
            </a:pPr>
            <a:r>
              <a:rPr lang="en-AU" sz="1200" kern="1200" dirty="0" smtClean="0">
                <a:solidFill>
                  <a:schemeClr val="tx1"/>
                </a:solidFill>
                <a:ea typeface="+mn-ea"/>
                <a:cs typeface="+mn-cs"/>
              </a:rPr>
              <a:t> Information disseminated to project team members</a:t>
            </a:r>
          </a:p>
          <a:p>
            <a:pPr>
              <a:buFont typeface="Arial" pitchFamily="34" charset="0"/>
              <a:buChar char="•"/>
            </a:pPr>
            <a:r>
              <a:rPr lang="en-AU" sz="1200" kern="1200" dirty="0" smtClean="0">
                <a:solidFill>
                  <a:schemeClr val="tx1"/>
                </a:solidFill>
                <a:ea typeface="+mn-ea"/>
                <a:cs typeface="+mn-cs"/>
              </a:rPr>
              <a:t> Determining action to resolve issues, delays and problems </a:t>
            </a:r>
          </a:p>
          <a:p>
            <a:pPr>
              <a:buFont typeface="Arial" pitchFamily="34" charset="0"/>
              <a:buChar char="•"/>
            </a:pPr>
            <a:r>
              <a:rPr lang="en-AU" sz="1200" kern="1200" dirty="0" smtClean="0">
                <a:solidFill>
                  <a:schemeClr val="tx1"/>
                </a:solidFill>
                <a:ea typeface="+mn-ea"/>
                <a:cs typeface="+mn-cs"/>
              </a:rPr>
              <a:t> Resource provision</a:t>
            </a:r>
          </a:p>
          <a:p>
            <a:pPr>
              <a:buFont typeface="Arial" pitchFamily="34" charset="0"/>
              <a:buChar char="•"/>
            </a:pPr>
            <a:r>
              <a:rPr lang="en-AU" sz="1200" kern="1200" dirty="0" smtClean="0">
                <a:solidFill>
                  <a:schemeClr val="tx1"/>
                </a:solidFill>
                <a:ea typeface="+mn-ea"/>
                <a:cs typeface="+mn-cs"/>
              </a:rPr>
              <a:t> Personal reminders of action that needs to be taken.</a:t>
            </a:r>
          </a:p>
          <a:p>
            <a:pPr>
              <a:buFont typeface="Arial" pitchFamily="34" charset="0"/>
              <a:buNone/>
            </a:pPr>
            <a:endParaRPr lang="en-US" dirty="0" smtClean="0"/>
          </a:p>
          <a:p>
            <a:pPr>
              <a:buFont typeface="Arial" pitchFamily="34" charset="0"/>
              <a:buNone/>
            </a:pPr>
            <a:r>
              <a:rPr lang="en-US" b="1" dirty="0" smtClean="0"/>
              <a:t>Class Activity – Handout</a:t>
            </a:r>
          </a:p>
          <a:p>
            <a:pPr>
              <a:buFont typeface="Arial" pitchFamily="34" charset="0"/>
              <a:buNone/>
            </a:pPr>
            <a:r>
              <a:rPr lang="en-US" b="0" dirty="0" smtClean="0"/>
              <a:t>Trainer distributes and discusses sample Project Notebooks.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many</a:t>
            </a:r>
            <a:r>
              <a:rPr lang="en-US" baseline="0" dirty="0" smtClean="0"/>
              <a:t> if not </a:t>
            </a:r>
            <a:r>
              <a:rPr lang="en-AU" sz="1200" kern="1200" dirty="0" smtClean="0">
                <a:solidFill>
                  <a:schemeClr val="tx1"/>
                </a:solidFill>
                <a:ea typeface="+mn-ea"/>
                <a:cs typeface="+mn-cs"/>
              </a:rPr>
              <a:t>most deliverables in a project have some form of quality criteria attached to them.</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may be specified in the project management plan or simply be understood but un-stated and PMs are expected not only to ensure tasks are completed but completed to the required standards stressing keys in achieving this are:</a:t>
            </a:r>
          </a:p>
          <a:p>
            <a:pPr>
              <a:buFont typeface="Arial" pitchFamily="34" charset="0"/>
              <a:buChar char="•"/>
            </a:pPr>
            <a:r>
              <a:rPr lang="en-AU" sz="1200" kern="1200" dirty="0" smtClean="0">
                <a:solidFill>
                  <a:schemeClr val="tx1"/>
                </a:solidFill>
                <a:ea typeface="+mn-ea"/>
                <a:cs typeface="+mn-cs"/>
              </a:rPr>
              <a:t> Ensuring you know the quality standards/criteria for all aspects of the project.</a:t>
            </a:r>
            <a:r>
              <a:rPr lang="en-AU" sz="1200" kern="1200" baseline="0" dirty="0" smtClean="0">
                <a:solidFill>
                  <a:schemeClr val="tx1"/>
                </a:solidFill>
                <a:ea typeface="+mn-ea"/>
                <a:cs typeface="+mn-cs"/>
              </a:rPr>
              <a:t> R</a:t>
            </a:r>
            <a:r>
              <a:rPr lang="en-AU" sz="1200" kern="1200" dirty="0" smtClean="0">
                <a:solidFill>
                  <a:schemeClr val="tx1"/>
                </a:solidFill>
                <a:ea typeface="+mn-ea"/>
                <a:cs typeface="+mn-cs"/>
              </a:rPr>
              <a:t>emember the concept of quality is variable and often difficult to define but there is usually a strong link between the amount paid for a product or service and the level of quality received.</a:t>
            </a:r>
          </a:p>
          <a:p>
            <a:pPr lvl="1">
              <a:buFont typeface="Arial" pitchFamily="34" charset="0"/>
              <a:buChar char="•"/>
            </a:pPr>
            <a:r>
              <a:rPr lang="en-AU" sz="1200" kern="1200" dirty="0" smtClean="0">
                <a:solidFill>
                  <a:schemeClr val="tx1"/>
                </a:solidFill>
                <a:ea typeface="+mn-ea"/>
                <a:cs typeface="+mn-cs"/>
              </a:rPr>
              <a:t> The point being not all quality for a project will be ‘top’ quality.</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 project may specify a lower level of quality (for a cheaper price) that is still acceptable to needs.</a:t>
            </a:r>
          </a:p>
          <a:p>
            <a:pPr>
              <a:buFont typeface="Arial" pitchFamily="34" charset="0"/>
              <a:buChar char="•"/>
            </a:pPr>
            <a:r>
              <a:rPr lang="en-AU" sz="1200" kern="1200" dirty="0" smtClean="0">
                <a:solidFill>
                  <a:schemeClr val="tx1"/>
                </a:solidFill>
                <a:ea typeface="+mn-ea"/>
                <a:cs typeface="+mn-cs"/>
              </a:rPr>
              <a:t> Monitoring ‘quality’ as an important issue at every meeting with all stakeholders.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means letting them know you are concerned with quality and will be checking it. </a:t>
            </a:r>
          </a:p>
          <a:p>
            <a:pPr lvl="1">
              <a:buFont typeface="Arial" pitchFamily="34" charset="0"/>
              <a:buChar char="•"/>
            </a:pPr>
            <a:r>
              <a:rPr lang="en-AU" sz="1200" kern="1200" dirty="0" smtClean="0">
                <a:solidFill>
                  <a:schemeClr val="tx1"/>
                </a:solidFill>
                <a:ea typeface="+mn-ea"/>
                <a:cs typeface="+mn-cs"/>
              </a:rPr>
              <a:t> This helps avoid problems associated with quality caused by ‘near enough is good enough’ thinking.</a:t>
            </a:r>
          </a:p>
          <a:p>
            <a:pPr>
              <a:buFont typeface="Arial" pitchFamily="34" charset="0"/>
              <a:buChar char="•"/>
            </a:pPr>
            <a:r>
              <a:rPr lang="en-AU" sz="1200" kern="1200" dirty="0" smtClean="0">
                <a:solidFill>
                  <a:schemeClr val="tx1"/>
                </a:solidFill>
                <a:ea typeface="+mn-ea"/>
                <a:cs typeface="+mn-cs"/>
              </a:rPr>
              <a:t> Meeting with project team members, suppliers, contractors and similar </a:t>
            </a:r>
            <a:r>
              <a:rPr lang="en-AU" sz="1200" i="1" kern="1200" dirty="0" smtClean="0">
                <a:solidFill>
                  <a:schemeClr val="tx1"/>
                </a:solidFill>
                <a:ea typeface="+mn-ea"/>
                <a:cs typeface="+mn-cs"/>
              </a:rPr>
              <a:t>prior</a:t>
            </a:r>
            <a:r>
              <a:rPr lang="en-AU" sz="1200" kern="1200" dirty="0" smtClean="0">
                <a:solidFill>
                  <a:schemeClr val="tx1"/>
                </a:solidFill>
                <a:ea typeface="+mn-ea"/>
                <a:cs typeface="+mn-cs"/>
              </a:rPr>
              <a:t> to their involvement to explain quality requirements and to give them an opportunity to ask relevant questions/clarify expectations.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keys to managing quality in a project:</a:t>
            </a:r>
          </a:p>
          <a:p>
            <a:pPr>
              <a:buFont typeface="Arial" pitchFamily="34" charset="0"/>
              <a:buChar char="•"/>
            </a:pPr>
            <a:r>
              <a:rPr lang="en-AU" sz="1200" kern="1200" dirty="0" smtClean="0">
                <a:solidFill>
                  <a:schemeClr val="tx1"/>
                </a:solidFill>
                <a:ea typeface="+mn-ea"/>
                <a:cs typeface="+mn-cs"/>
              </a:rPr>
              <a:t> Undertaking regular quality inspections of work completed as opposed to simply allowing finished work to go unchecked. </a:t>
            </a:r>
          </a:p>
          <a:p>
            <a:pPr lvl="1">
              <a:buFont typeface="Arial" pitchFamily="34" charset="0"/>
              <a:buChar char="•"/>
            </a:pPr>
            <a:r>
              <a:rPr lang="en-AU" sz="1200" kern="1200" dirty="0" smtClean="0">
                <a:solidFill>
                  <a:schemeClr val="tx1"/>
                </a:solidFill>
                <a:ea typeface="+mn-ea"/>
                <a:cs typeface="+mn-cs"/>
              </a:rPr>
              <a:t> Providers tend to do a better job where they know their work will be checked, and know they will be asked to repeat/re-do sub-standard work. </a:t>
            </a:r>
          </a:p>
          <a:p>
            <a:pPr lvl="1">
              <a:buFont typeface="Arial" pitchFamily="34" charset="0"/>
              <a:buChar char="•"/>
            </a:pPr>
            <a:r>
              <a:rPr lang="en-AU" sz="1200" kern="1200" dirty="0" smtClean="0">
                <a:solidFill>
                  <a:schemeClr val="tx1"/>
                </a:solidFill>
                <a:ea typeface="+mn-ea"/>
                <a:cs typeface="+mn-cs"/>
              </a:rPr>
              <a:t> It is a good idea to undertake these inspections with the providers, staff and contractors so you can identify and discuss issues on</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the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spot.</a:t>
            </a:r>
          </a:p>
          <a:p>
            <a:pPr>
              <a:buFont typeface="Arial" pitchFamily="34" charset="0"/>
              <a:buChar char="•"/>
            </a:pPr>
            <a:r>
              <a:rPr lang="en-AU" sz="1200" kern="1200" dirty="0" smtClean="0">
                <a:solidFill>
                  <a:schemeClr val="tx1"/>
                </a:solidFill>
                <a:ea typeface="+mn-ea"/>
                <a:cs typeface="+mn-cs"/>
              </a:rPr>
              <a:t> Ensuring all sub-standard work is re-done to the quality standard/criteria required by making sure all identified sub-standard work is fixed. </a:t>
            </a:r>
          </a:p>
          <a:p>
            <a:pPr lvl="1">
              <a:buFont typeface="Arial" pitchFamily="34" charset="0"/>
              <a:buChar char="•"/>
            </a:pPr>
            <a:r>
              <a:rPr lang="en-AU" sz="1200" kern="1200" dirty="0" smtClean="0">
                <a:solidFill>
                  <a:schemeClr val="tx1"/>
                </a:solidFill>
                <a:ea typeface="+mn-ea"/>
                <a:cs typeface="+mn-cs"/>
              </a:rPr>
              <a:t> One of the worst things that can happen in terms of quality is for the provider, staff or contractors to perform sub-standard work, know you have identified it as such, and find they are allowed to ‘get away with it’: </a:t>
            </a:r>
          </a:p>
          <a:p>
            <a:pPr lvl="1">
              <a:buFont typeface="Arial" pitchFamily="34" charset="0"/>
              <a:buChar char="•"/>
            </a:pPr>
            <a:r>
              <a:rPr lang="en-AU" sz="1200" kern="1200" dirty="0" smtClean="0">
                <a:solidFill>
                  <a:schemeClr val="tx1"/>
                </a:solidFill>
                <a:ea typeface="+mn-ea"/>
                <a:cs typeface="+mn-cs"/>
              </a:rPr>
              <a:t> This sends a message that you</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the venue will accept ‘anything’ and their standard will drop to deliver similar poor quality across nearly all deliverables.</a:t>
            </a:r>
          </a:p>
          <a:p>
            <a:pPr>
              <a:buFont typeface="Arial" pitchFamily="34" charset="0"/>
              <a:buChar char="•"/>
            </a:pPr>
            <a:r>
              <a:rPr lang="en-AU" sz="1200" kern="1200" dirty="0" smtClean="0">
                <a:solidFill>
                  <a:schemeClr val="tx1"/>
                </a:solidFill>
                <a:ea typeface="+mn-ea"/>
                <a:cs typeface="+mn-cs"/>
              </a:rPr>
              <a:t> Referring contractors, project staff and others to the project management plan (and/or relevant contracts) where reference is made to quality standards/criteria so they can see for themselves what is required.</a:t>
            </a:r>
          </a:p>
          <a:p>
            <a:pPr>
              <a:buFont typeface="Arial" pitchFamily="34" charset="0"/>
              <a:buNone/>
            </a:pPr>
            <a:endParaRPr lang="en-US" dirty="0" smtClean="0"/>
          </a:p>
          <a:p>
            <a:pPr>
              <a:buFont typeface="Arial" pitchFamily="34" charset="0"/>
              <a:buNone/>
            </a:pPr>
            <a:r>
              <a:rPr lang="en-US" b="1" dirty="0" smtClean="0"/>
              <a:t>Class Activity – Handout</a:t>
            </a:r>
          </a:p>
          <a:p>
            <a:pPr>
              <a:buFont typeface="Arial" pitchFamily="34" charset="0"/>
              <a:buNone/>
            </a:pPr>
            <a:r>
              <a:rPr lang="en-US" b="0" dirty="0" smtClean="0"/>
              <a:t>Trainer distributes and discusses sample project management plan with reference to specific quality</a:t>
            </a:r>
            <a:r>
              <a:rPr lang="en-US" b="0" baseline="0" dirty="0" smtClean="0"/>
              <a:t> requirements for the project.</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emphasises</a:t>
            </a:r>
            <a:r>
              <a:rPr lang="en-US" baseline="0" dirty="0" smtClean="0"/>
              <a:t> </a:t>
            </a:r>
            <a:r>
              <a:rPr lang="en-AU" sz="1200" kern="1200" dirty="0" smtClean="0">
                <a:solidFill>
                  <a:schemeClr val="tx1"/>
                </a:solidFill>
                <a:ea typeface="+mn-ea"/>
                <a:cs typeface="+mn-cs"/>
              </a:rPr>
              <a:t>a vital role when administering and monitoring a project is the provision of necessary support for project team/s presenting reasons/need for the provision of support and assistance as being to:</a:t>
            </a:r>
          </a:p>
          <a:p>
            <a:pPr>
              <a:buFont typeface="Arial" pitchFamily="34" charset="0"/>
              <a:buChar char="•"/>
            </a:pPr>
            <a:r>
              <a:rPr lang="en-AU" sz="1200" kern="1200" dirty="0" smtClean="0">
                <a:solidFill>
                  <a:schemeClr val="tx1"/>
                </a:solidFill>
                <a:ea typeface="+mn-ea"/>
                <a:cs typeface="+mn-cs"/>
              </a:rPr>
              <a:t> Enable/facilitate successful outcomes of project deliverables as approved by stakeholders and as identified in the project management plan and scope.</a:t>
            </a:r>
            <a:r>
              <a:rPr lang="en-AU" sz="1200" kern="1200" baseline="0" dirty="0" smtClean="0">
                <a:solidFill>
                  <a:schemeClr val="tx1"/>
                </a:solidFill>
                <a:ea typeface="+mn-ea"/>
                <a:cs typeface="+mn-cs"/>
              </a:rPr>
              <a:t> S</a:t>
            </a:r>
            <a:r>
              <a:rPr lang="en-AU" sz="1200" kern="1200" dirty="0" smtClean="0">
                <a:solidFill>
                  <a:schemeClr val="tx1"/>
                </a:solidFill>
                <a:ea typeface="+mn-ea"/>
                <a:cs typeface="+mn-cs"/>
              </a:rPr>
              <a:t>taff cannot deliver what is required unless they have the facilities and resources to perform the work</a:t>
            </a:r>
          </a:p>
          <a:p>
            <a:pPr>
              <a:buFont typeface="Arial" pitchFamily="34" charset="0"/>
              <a:buChar char="•"/>
            </a:pPr>
            <a:r>
              <a:rPr lang="en-AU" sz="1200" kern="1200" dirty="0" smtClean="0">
                <a:solidFill>
                  <a:schemeClr val="tx1"/>
                </a:solidFill>
                <a:ea typeface="+mn-ea"/>
                <a:cs typeface="+mn-cs"/>
              </a:rPr>
              <a:t> Demonstrate your commitment to the team members and the project and your commitment to the project</a:t>
            </a:r>
          </a:p>
          <a:p>
            <a:pPr>
              <a:buFont typeface="Arial" pitchFamily="34" charset="0"/>
              <a:buChar char="•"/>
            </a:pPr>
            <a:r>
              <a:rPr lang="en-AU" sz="1200" kern="1200" dirty="0" smtClean="0">
                <a:solidFill>
                  <a:schemeClr val="tx1"/>
                </a:solidFill>
                <a:ea typeface="+mn-ea"/>
                <a:cs typeface="+mn-cs"/>
              </a:rPr>
              <a:t> Show the respect you have for team members and the role they play in delivering the project: see also </a:t>
            </a:r>
            <a:r>
              <a:rPr lang="en-AU" sz="1200" u="sng" kern="1200" dirty="0" smtClean="0">
                <a:solidFill>
                  <a:schemeClr val="tx1"/>
                </a:solidFill>
                <a:ea typeface="+mn-ea"/>
                <a:cs typeface="+mn-cs"/>
              </a:rPr>
              <a:t>section 2.3</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need for support and assistance of project team/staff/workers:</a:t>
            </a:r>
          </a:p>
          <a:p>
            <a:pPr>
              <a:buFont typeface="Arial" pitchFamily="34" charset="0"/>
              <a:buChar char="•"/>
            </a:pPr>
            <a:r>
              <a:rPr lang="en-AU" sz="1200" kern="1200" dirty="0" smtClean="0">
                <a:solidFill>
                  <a:schemeClr val="tx1"/>
                </a:solidFill>
                <a:ea typeface="+mn-ea"/>
                <a:cs typeface="+mn-cs"/>
              </a:rPr>
              <a:t> Maintain enthusiasm of team members towards the project</a:t>
            </a:r>
          </a:p>
          <a:p>
            <a:pPr marL="45720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 A vital element of the support a PM can provide for a project/to project team members is to maintain personal enthusiasm for the project</a:t>
            </a:r>
          </a:p>
          <a:p>
            <a:pPr>
              <a:buFont typeface="Arial" pitchFamily="34" charset="0"/>
              <a:buChar char="•"/>
            </a:pPr>
            <a:r>
              <a:rPr lang="en-AU" sz="1200" kern="1200" dirty="0" smtClean="0">
                <a:solidFill>
                  <a:schemeClr val="tx1"/>
                </a:solidFill>
                <a:ea typeface="+mn-ea"/>
                <a:cs typeface="+mn-cs"/>
              </a:rPr>
              <a:t> Enable prompt advice and direction to be given where and when necessary so the project can proceed in a timely manner/without delay</a:t>
            </a:r>
          </a:p>
          <a:p>
            <a:pPr>
              <a:buFont typeface="Arial" pitchFamily="34" charset="0"/>
              <a:buChar char="•"/>
            </a:pPr>
            <a:r>
              <a:rPr lang="en-AU" sz="1200" kern="1200" dirty="0" smtClean="0">
                <a:solidFill>
                  <a:schemeClr val="tx1"/>
                </a:solidFill>
                <a:ea typeface="+mn-ea"/>
                <a:cs typeface="+mn-cs"/>
              </a:rPr>
              <a:t> Prove to management of the venue you are delivering appropriate management, supervision and over-sight of the project.</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experienced</a:t>
            </a:r>
            <a:r>
              <a:rPr lang="en-US" b="0" baseline="0" dirty="0" smtClean="0"/>
              <a:t> PM to attend and:</a:t>
            </a:r>
          </a:p>
          <a:p>
            <a:pPr>
              <a:buFont typeface="Arial" pitchFamily="34" charset="0"/>
              <a:buChar char="•"/>
            </a:pPr>
            <a:r>
              <a:rPr lang="en-US" b="0" baseline="0" dirty="0" smtClean="0"/>
              <a:t> Identify and explain administering and monitoring activities for project work</a:t>
            </a:r>
          </a:p>
          <a:p>
            <a:pPr>
              <a:buFont typeface="Arial" pitchFamily="34" charset="0"/>
              <a:buChar char="•"/>
            </a:pPr>
            <a:r>
              <a:rPr lang="en-US" b="0" baseline="0" dirty="0" smtClean="0"/>
              <a:t> Describe techniques to optimise effective project management</a:t>
            </a:r>
          </a:p>
          <a:p>
            <a:pPr>
              <a:buFont typeface="Arial" pitchFamily="34" charset="0"/>
              <a:buChar char="•"/>
            </a:pPr>
            <a:r>
              <a:rPr lang="en-US" b="0" baseline="0" dirty="0" smtClean="0"/>
              <a:t> Illustrate support and assistance a PM needs to provide to their project teams.</a:t>
            </a:r>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gives examples of support and assistance a PM may provide to project team members:</a:t>
            </a:r>
          </a:p>
          <a:p>
            <a:pPr>
              <a:buFont typeface="Arial" pitchFamily="34" charset="0"/>
              <a:buChar char="•"/>
            </a:pPr>
            <a:r>
              <a:rPr lang="en-AU" sz="1200" kern="1200" dirty="0" smtClean="0">
                <a:solidFill>
                  <a:schemeClr val="tx1"/>
                </a:solidFill>
                <a:ea typeface="+mn-ea"/>
                <a:cs typeface="+mn-cs"/>
              </a:rPr>
              <a:t> Conducting a Project Induction (also known/referred to as ‘project start-up activities’) – a special meeting/briefing to explain the project, identify the resources, specific timelines, share the project management plan and allocate responsibilities</a:t>
            </a:r>
          </a:p>
          <a:p>
            <a:pPr>
              <a:buFont typeface="Arial" pitchFamily="34" charset="0"/>
              <a:buChar char="•"/>
            </a:pPr>
            <a:r>
              <a:rPr lang="en-AU" sz="1200" kern="1200" dirty="0" smtClean="0">
                <a:solidFill>
                  <a:schemeClr val="tx1"/>
                </a:solidFill>
                <a:ea typeface="+mn-ea"/>
                <a:cs typeface="+mn-cs"/>
              </a:rPr>
              <a:t> Actually providing the resources identified in the project plan and identified in the project induction.</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can include:</a:t>
            </a:r>
          </a:p>
          <a:p>
            <a:pPr lvl="1">
              <a:buFont typeface="Arial" pitchFamily="34" charset="0"/>
              <a:buChar char="•"/>
            </a:pPr>
            <a:r>
              <a:rPr lang="en-AU" sz="1200" kern="1200" dirty="0" smtClean="0">
                <a:solidFill>
                  <a:schemeClr val="tx1"/>
                </a:solidFill>
                <a:ea typeface="+mn-ea"/>
                <a:cs typeface="+mn-cs"/>
              </a:rPr>
              <a:t> Providing codes or other information to enable/authorise team members to  procure/access resources and/or information</a:t>
            </a:r>
          </a:p>
          <a:p>
            <a:pPr lvl="1">
              <a:buFont typeface="Arial" pitchFamily="34" charset="0"/>
              <a:buChar char="•"/>
            </a:pPr>
            <a:r>
              <a:rPr lang="en-AU" sz="1200" kern="1200" dirty="0" smtClean="0">
                <a:solidFill>
                  <a:schemeClr val="tx1"/>
                </a:solidFill>
                <a:ea typeface="+mn-ea"/>
                <a:cs typeface="+mn-cs"/>
              </a:rPr>
              <a:t> Providing formal authority to make purchases on behalf of the venue/project</a:t>
            </a:r>
          </a:p>
          <a:p>
            <a:pPr lvl="1">
              <a:buFont typeface="Arial" pitchFamily="34" charset="0"/>
              <a:buChar char="•"/>
            </a:pPr>
            <a:r>
              <a:rPr lang="en-AU" sz="1200" kern="1200" dirty="0" smtClean="0">
                <a:solidFill>
                  <a:schemeClr val="tx1"/>
                </a:solidFill>
                <a:ea typeface="+mn-ea"/>
                <a:cs typeface="+mn-cs"/>
              </a:rPr>
              <a:t> Providing internal authorities (codes, identification cards, keys) to enable access to areas, facilities, stores and other project-related areas/spaces</a:t>
            </a:r>
          </a:p>
          <a:p>
            <a:pPr lvl="1">
              <a:buFont typeface="Arial" pitchFamily="34" charset="0"/>
              <a:buChar char="•"/>
            </a:pPr>
            <a:r>
              <a:rPr lang="en-AU" sz="1200" kern="1200" dirty="0" smtClean="0">
                <a:solidFill>
                  <a:schemeClr val="tx1"/>
                </a:solidFill>
                <a:ea typeface="+mn-ea"/>
                <a:cs typeface="+mn-cs"/>
              </a:rPr>
              <a:t> Recruiting necessary staff – to fill identified/required roles</a:t>
            </a:r>
          </a:p>
          <a:p>
            <a:pPr lvl="1">
              <a:buFont typeface="Arial" pitchFamily="34" charset="0"/>
              <a:buChar char="•"/>
            </a:pPr>
            <a:r>
              <a:rPr lang="en-AU" sz="1200" kern="1200" dirty="0" smtClean="0">
                <a:solidFill>
                  <a:schemeClr val="tx1"/>
                </a:solidFill>
                <a:ea typeface="+mn-ea"/>
                <a:cs typeface="+mn-cs"/>
              </a:rPr>
              <a:t> Physically supplying resources to teams/team members,</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that is, handing things over </a:t>
            </a:r>
          </a:p>
          <a:p>
            <a:pPr lvl="1">
              <a:buFont typeface="Arial" pitchFamily="34" charset="0"/>
              <a:buChar char="•"/>
            </a:pPr>
            <a:r>
              <a:rPr lang="en-AU" sz="1200" kern="1200" dirty="0" smtClean="0">
                <a:solidFill>
                  <a:schemeClr val="tx1"/>
                </a:solidFill>
                <a:ea typeface="+mn-ea"/>
                <a:cs typeface="+mn-cs"/>
              </a:rPr>
              <a:t> Working with other managers/supervisors to arrange for release of venue staff from normal duties to participate in project work and facilitating back-filling where necessary</a:t>
            </a:r>
          </a:p>
          <a:p>
            <a:pPr>
              <a:buFont typeface="Arial" pitchFamily="34" charset="0"/>
              <a:buChar char="•"/>
            </a:pPr>
            <a:r>
              <a:rPr lang="en-AU" sz="1200" kern="1200" dirty="0" smtClean="0">
                <a:solidFill>
                  <a:schemeClr val="tx1"/>
                </a:solidFill>
                <a:ea typeface="+mn-ea"/>
                <a:cs typeface="+mn-cs"/>
              </a:rPr>
              <a:t> Provision of necessary/promised training and development for team members to enable them to do (or </a:t>
            </a:r>
            <a:r>
              <a:rPr lang="en-AU" sz="1200" i="1" kern="1200" dirty="0" smtClean="0">
                <a:solidFill>
                  <a:schemeClr val="tx1"/>
                </a:solidFill>
                <a:ea typeface="+mn-ea"/>
                <a:cs typeface="+mn-cs"/>
              </a:rPr>
              <a:t>better</a:t>
            </a:r>
            <a:r>
              <a:rPr lang="en-AU" sz="1200" kern="1200" dirty="0" smtClean="0">
                <a:solidFill>
                  <a:schemeClr val="tx1"/>
                </a:solidFill>
                <a:ea typeface="+mn-ea"/>
                <a:cs typeface="+mn-cs"/>
              </a:rPr>
              <a:t> do) their allocated tasks under the project plan.</a:t>
            </a:r>
          </a:p>
          <a:p>
            <a:pPr lvl="1">
              <a:buFont typeface="Arial" pitchFamily="34" charset="0"/>
              <a:buChar char="•"/>
            </a:pPr>
            <a:r>
              <a:rPr lang="en-AU" sz="1200" kern="1200" dirty="0" smtClean="0">
                <a:solidFill>
                  <a:schemeClr val="tx1"/>
                </a:solidFill>
                <a:ea typeface="+mn-ea"/>
                <a:cs typeface="+mn-cs"/>
              </a:rPr>
              <a:t> Training and development may be informal, in-house training or off-the-job, formal, accredited training.</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US" dirty="0" smtClean="0"/>
              <a:t>Trainer continues giving examples of support and assistance a PM may provide to project team members:</a:t>
            </a:r>
          </a:p>
          <a:p>
            <a:pPr>
              <a:buFont typeface="Arial" pitchFamily="34" charset="0"/>
              <a:buChar char="•"/>
            </a:pPr>
            <a:r>
              <a:rPr lang="en-AU" sz="1200" kern="1200" dirty="0" smtClean="0">
                <a:solidFill>
                  <a:schemeClr val="tx1"/>
                </a:solidFill>
                <a:ea typeface="+mn-ea"/>
                <a:cs typeface="+mn-cs"/>
              </a:rPr>
              <a:t> Providing necessary, requested and/or promised project oversight by providing supervision, monitoring, coaching, direction and guidance</a:t>
            </a:r>
          </a:p>
          <a:p>
            <a:pPr>
              <a:buFont typeface="Arial" pitchFamily="34" charset="0"/>
              <a:buChar char="•"/>
            </a:pPr>
            <a:r>
              <a:rPr lang="en-AU" sz="1200" kern="1200" dirty="0" smtClean="0">
                <a:solidFill>
                  <a:schemeClr val="tx1"/>
                </a:solidFill>
                <a:ea typeface="+mn-ea"/>
                <a:cs typeface="+mn-cs"/>
              </a:rPr>
              <a:t> Scheduling and/or conducting regular project team meetings.</a:t>
            </a:r>
            <a:r>
              <a:rPr lang="en-AU" sz="1200" kern="1200" baseline="0" dirty="0" smtClean="0">
                <a:solidFill>
                  <a:schemeClr val="tx1"/>
                </a:solidFill>
                <a:ea typeface="+mn-ea"/>
                <a:cs typeface="+mn-cs"/>
              </a:rPr>
              <a:t> S</a:t>
            </a:r>
            <a:r>
              <a:rPr lang="en-AU" sz="1200" kern="1200" dirty="0" smtClean="0">
                <a:solidFill>
                  <a:schemeClr val="tx1"/>
                </a:solidFill>
                <a:ea typeface="+mn-ea"/>
                <a:cs typeface="+mn-cs"/>
              </a:rPr>
              <a:t>ome projects require daily (or twice daily) meetings: one in the morning before work starts and the other at the end of the day/shift.</a:t>
            </a:r>
          </a:p>
          <a:p>
            <a:pPr lvl="1">
              <a:buFont typeface="Arial" pitchFamily="34" charset="0"/>
              <a:buChar char="•"/>
            </a:pPr>
            <a:r>
              <a:rPr lang="en-AU" sz="1200" kern="1200" dirty="0" smtClean="0">
                <a:solidFill>
                  <a:schemeClr val="tx1"/>
                </a:solidFill>
                <a:ea typeface="+mn-ea"/>
                <a:cs typeface="+mn-cs"/>
              </a:rPr>
              <a:t> A minimum should be at least one meeting per week otherwise there is too much disconnect between the team and the project. These meetings provide a forum for:</a:t>
            </a:r>
          </a:p>
          <a:p>
            <a:pPr lvl="2">
              <a:buFont typeface="Arial" pitchFamily="34" charset="0"/>
              <a:buChar char="•"/>
            </a:pPr>
            <a:r>
              <a:rPr lang="en-AU" sz="1200" kern="1200" dirty="0" smtClean="0">
                <a:solidFill>
                  <a:schemeClr val="tx1"/>
                </a:solidFill>
                <a:ea typeface="+mn-ea"/>
                <a:cs typeface="+mn-cs"/>
              </a:rPr>
              <a:t> Raising project-related issues </a:t>
            </a:r>
          </a:p>
          <a:p>
            <a:pPr lvl="2">
              <a:buFont typeface="Arial" pitchFamily="34" charset="0"/>
              <a:buChar char="•"/>
            </a:pPr>
            <a:r>
              <a:rPr lang="en-AU" sz="1200" kern="1200" dirty="0" smtClean="0">
                <a:solidFill>
                  <a:schemeClr val="tx1"/>
                </a:solidFill>
                <a:ea typeface="+mn-ea"/>
                <a:cs typeface="+mn-cs"/>
              </a:rPr>
              <a:t> General communication regarding satisfaction levels with progress, feedback on support being provided, changes being identified as the project progresses, and ‘issues arising’</a:t>
            </a:r>
          </a:p>
          <a:p>
            <a:pPr lvl="2">
              <a:buFont typeface="Arial" pitchFamily="34" charset="0"/>
              <a:buChar char="•"/>
            </a:pPr>
            <a:r>
              <a:rPr lang="en-AU" sz="1200" kern="1200" dirty="0" smtClean="0">
                <a:solidFill>
                  <a:schemeClr val="tx1"/>
                </a:solidFill>
                <a:ea typeface="+mn-ea"/>
                <a:cs typeface="+mn-cs"/>
              </a:rPr>
              <a:t> Identifying and resolving workplace health, safety and welfare matters</a:t>
            </a:r>
          </a:p>
          <a:p>
            <a:pPr lvl="2">
              <a:buFont typeface="Arial" pitchFamily="34" charset="0"/>
              <a:buChar char="•"/>
            </a:pPr>
            <a:r>
              <a:rPr lang="en-AU" sz="1200" kern="1200" dirty="0" smtClean="0">
                <a:solidFill>
                  <a:schemeClr val="tx1"/>
                </a:solidFill>
                <a:ea typeface="+mn-ea"/>
                <a:cs typeface="+mn-cs"/>
              </a:rPr>
              <a:t> Identifying and resolving team-related issues such as problems within the team, team composition, capabilities of the team, size of the team and relationship within the team and between the team and others.</a:t>
            </a:r>
          </a:p>
          <a:p>
            <a:pPr>
              <a:buFont typeface="Arial" pitchFamily="34" charset="0"/>
              <a:buChar char="•"/>
            </a:pPr>
            <a:r>
              <a:rPr lang="en-AU" sz="1200" kern="1200" dirty="0" smtClean="0">
                <a:solidFill>
                  <a:schemeClr val="tx1"/>
                </a:solidFill>
                <a:ea typeface="+mn-ea"/>
                <a:cs typeface="+mn-cs"/>
              </a:rPr>
              <a:t> Providing initial motivation to team members by explaining why the project is of value to the venue and stakeholders. You may refer to one or more of the following (as appropriate) as legitimate motivation:</a:t>
            </a:r>
          </a:p>
          <a:p>
            <a:pPr lvl="1">
              <a:buFont typeface="Arial" pitchFamily="34" charset="0"/>
              <a:buChar char="•"/>
            </a:pPr>
            <a:r>
              <a:rPr lang="en-AU" sz="1200" kern="1200" dirty="0" smtClean="0">
                <a:solidFill>
                  <a:schemeClr val="tx1"/>
                </a:solidFill>
                <a:ea typeface="+mn-ea"/>
                <a:cs typeface="+mn-cs"/>
              </a:rPr>
              <a:t> Enhanced job security for everyone in the venue</a:t>
            </a:r>
          </a:p>
          <a:p>
            <a:pPr lvl="1">
              <a:buFont typeface="Arial" pitchFamily="34" charset="0"/>
              <a:buChar char="•"/>
            </a:pPr>
            <a:r>
              <a:rPr lang="en-AU" sz="1200" kern="1200" dirty="0" smtClean="0">
                <a:solidFill>
                  <a:schemeClr val="tx1"/>
                </a:solidFill>
                <a:ea typeface="+mn-ea"/>
                <a:cs typeface="+mn-cs"/>
              </a:rPr>
              <a:t> Potential for increased earnings, more challenging work, deeper job satisfaction</a:t>
            </a:r>
          </a:p>
          <a:p>
            <a:pPr lvl="1">
              <a:buFont typeface="Arial" pitchFamily="34" charset="0"/>
              <a:buChar char="•"/>
            </a:pPr>
            <a:r>
              <a:rPr lang="en-AU" sz="1200" kern="1200" dirty="0" smtClean="0">
                <a:solidFill>
                  <a:schemeClr val="tx1"/>
                </a:solidFill>
                <a:ea typeface="+mn-ea"/>
                <a:cs typeface="+mn-cs"/>
              </a:rPr>
              <a:t> A safer workplace</a:t>
            </a:r>
          </a:p>
          <a:p>
            <a:pPr lvl="1">
              <a:buFont typeface="Arial" pitchFamily="34" charset="0"/>
              <a:buChar char="•"/>
            </a:pPr>
            <a:r>
              <a:rPr lang="en-AU" sz="1200" kern="1200" dirty="0" smtClean="0">
                <a:solidFill>
                  <a:schemeClr val="tx1"/>
                </a:solidFill>
                <a:ea typeface="+mn-ea"/>
                <a:cs typeface="+mn-cs"/>
              </a:rPr>
              <a:t> A more prestigious workplace/venue as a result of the success of the project </a:t>
            </a:r>
          </a:p>
          <a:p>
            <a:pPr lvl="1">
              <a:buFont typeface="Arial" pitchFamily="34" charset="0"/>
              <a:buChar char="•"/>
            </a:pPr>
            <a:r>
              <a:rPr lang="en-AU" sz="1200" kern="1200" dirty="0" smtClean="0">
                <a:solidFill>
                  <a:schemeClr val="tx1"/>
                </a:solidFill>
                <a:ea typeface="+mn-ea"/>
                <a:cs typeface="+mn-cs"/>
              </a:rPr>
              <a:t> Meeting what the competition is doing</a:t>
            </a:r>
          </a:p>
          <a:p>
            <a:pPr lvl="1">
              <a:buFont typeface="Arial" pitchFamily="34" charset="0"/>
              <a:buChar char="•"/>
            </a:pPr>
            <a:r>
              <a:rPr lang="en-AU" sz="1200" kern="1200" dirty="0" smtClean="0">
                <a:solidFill>
                  <a:schemeClr val="tx1"/>
                </a:solidFill>
                <a:ea typeface="+mn-ea"/>
                <a:cs typeface="+mn-cs"/>
              </a:rPr>
              <a:t> Leading the field in terms of the initiative that is the focus of the project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giving examples of support and assistance a PM may provide to project team members:</a:t>
            </a:r>
          </a:p>
          <a:p>
            <a:pPr>
              <a:buFont typeface="Arial" pitchFamily="34" charset="0"/>
              <a:buChar char="•"/>
            </a:pPr>
            <a:r>
              <a:rPr lang="en-AU" sz="1200" kern="1200" dirty="0" smtClean="0">
                <a:solidFill>
                  <a:schemeClr val="tx1"/>
                </a:solidFill>
                <a:ea typeface="+mn-ea"/>
                <a:cs typeface="+mn-cs"/>
              </a:rPr>
              <a:t> Giving time to the team.</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can occur in a number of ways</a:t>
            </a:r>
          </a:p>
          <a:p>
            <a:pPr>
              <a:buFont typeface="Arial" pitchFamily="34" charset="0"/>
              <a:buChar char="•"/>
            </a:pPr>
            <a:r>
              <a:rPr lang="en-AU" sz="1200" kern="1200" dirty="0" smtClean="0">
                <a:solidFill>
                  <a:schemeClr val="tx1"/>
                </a:solidFill>
                <a:ea typeface="+mn-ea"/>
                <a:cs typeface="+mn-cs"/>
              </a:rPr>
              <a:t> Being seen in the project area as a visible presence</a:t>
            </a:r>
          </a:p>
          <a:p>
            <a:pPr lvl="1">
              <a:buFont typeface="Arial" pitchFamily="34" charset="0"/>
              <a:buChar char="•"/>
            </a:pPr>
            <a:r>
              <a:rPr lang="en-AU" sz="1200" kern="1200" dirty="0" smtClean="0">
                <a:solidFill>
                  <a:schemeClr val="tx1"/>
                </a:solidFill>
                <a:ea typeface="+mn-ea"/>
                <a:cs typeface="+mn-cs"/>
              </a:rPr>
              <a:t> Spending time talking to project staff</a:t>
            </a:r>
          </a:p>
          <a:p>
            <a:pPr lvl="1">
              <a:buFont typeface="Arial" pitchFamily="34" charset="0"/>
              <a:buChar char="•"/>
            </a:pPr>
            <a:r>
              <a:rPr lang="en-AU" sz="1200" kern="1200" dirty="0" smtClean="0">
                <a:solidFill>
                  <a:schemeClr val="tx1"/>
                </a:solidFill>
                <a:ea typeface="+mn-ea"/>
                <a:cs typeface="+mn-cs"/>
              </a:rPr>
              <a:t> Helping them think through challenges and problems</a:t>
            </a:r>
          </a:p>
          <a:p>
            <a:pPr lvl="1">
              <a:buFont typeface="Arial" pitchFamily="34" charset="0"/>
              <a:buChar char="•"/>
            </a:pPr>
            <a:r>
              <a:rPr lang="en-AU" sz="1200" kern="1200" dirty="0" smtClean="0">
                <a:solidFill>
                  <a:schemeClr val="tx1"/>
                </a:solidFill>
                <a:ea typeface="+mn-ea"/>
                <a:cs typeface="+mn-cs"/>
              </a:rPr>
              <a:t> Sharing their successes and their disappointments in terms of project work</a:t>
            </a:r>
          </a:p>
          <a:p>
            <a:pPr lvl="1">
              <a:buFont typeface="Arial" pitchFamily="34" charset="0"/>
              <a:buChar char="•"/>
            </a:pPr>
            <a:r>
              <a:rPr lang="en-AU" sz="1200" kern="1200" dirty="0" smtClean="0">
                <a:solidFill>
                  <a:schemeClr val="tx1"/>
                </a:solidFill>
                <a:ea typeface="+mn-ea"/>
                <a:cs typeface="+mn-cs"/>
              </a:rPr>
              <a:t> Providing ongoing motivation</a:t>
            </a:r>
          </a:p>
          <a:p>
            <a:pPr>
              <a:buFont typeface="Arial" pitchFamily="34" charset="0"/>
              <a:buChar char="•"/>
            </a:pPr>
            <a:r>
              <a:rPr lang="en-AU" sz="1200" kern="1200" dirty="0" smtClean="0">
                <a:solidFill>
                  <a:schemeClr val="tx1"/>
                </a:solidFill>
                <a:ea typeface="+mn-ea"/>
                <a:cs typeface="+mn-cs"/>
              </a:rPr>
              <a:t> Maintaining enthusiasm for the project by, as appropriate or necessary</a:t>
            </a:r>
          </a:p>
          <a:p>
            <a:pPr marL="0">
              <a:buFont typeface="Arial" pitchFamily="34" charset="0"/>
              <a:buChar char="•"/>
            </a:pPr>
            <a:r>
              <a:rPr lang="en-AU" sz="1200" kern="1200" dirty="0" smtClean="0">
                <a:solidFill>
                  <a:schemeClr val="tx1"/>
                </a:solidFill>
                <a:ea typeface="+mn-ea"/>
                <a:cs typeface="+mn-cs"/>
              </a:rPr>
              <a:t> Providing ongoing encouragement to team members for effort as well as work done</a:t>
            </a:r>
          </a:p>
          <a:p>
            <a:pPr marL="720000">
              <a:spcBef>
                <a:spcPts val="200"/>
              </a:spcBef>
              <a:buFont typeface="Arial" pitchFamily="34" charset="0"/>
              <a:buChar char="•"/>
            </a:pPr>
            <a:r>
              <a:rPr lang="en-AU" sz="1200" kern="1200" dirty="0" smtClean="0">
                <a:solidFill>
                  <a:schemeClr val="tx1"/>
                </a:solidFill>
                <a:ea typeface="+mn-ea"/>
                <a:cs typeface="+mn-cs"/>
              </a:rPr>
              <a:t>Empathising and sympathising to show concern for individuals</a:t>
            </a:r>
          </a:p>
          <a:p>
            <a:pPr>
              <a:buFont typeface="Arial" pitchFamily="34" charset="0"/>
              <a:buChar char="•"/>
            </a:pPr>
            <a:r>
              <a:rPr lang="en-AU" sz="1200" kern="1200" dirty="0" smtClean="0">
                <a:solidFill>
                  <a:schemeClr val="tx1"/>
                </a:solidFill>
                <a:ea typeface="+mn-ea"/>
                <a:cs typeface="+mn-cs"/>
              </a:rPr>
              <a:t> Passing on comments/feedback from others including positive and negative</a:t>
            </a:r>
          </a:p>
          <a:p>
            <a:pPr lvl="1">
              <a:buFont typeface="Arial" pitchFamily="34" charset="0"/>
              <a:buChar char="•"/>
            </a:pPr>
            <a:r>
              <a:rPr lang="en-AU" sz="1200" kern="1200" dirty="0" smtClean="0">
                <a:solidFill>
                  <a:schemeClr val="tx1"/>
                </a:solidFill>
                <a:ea typeface="+mn-ea"/>
                <a:cs typeface="+mn-cs"/>
              </a:rPr>
              <a:t> Confirming for the team the progress they are making against plans and the KPIs and milestones</a:t>
            </a:r>
          </a:p>
          <a:p>
            <a:pPr lvl="1">
              <a:buFont typeface="Arial" pitchFamily="34" charset="0"/>
              <a:buChar char="•"/>
            </a:pPr>
            <a:r>
              <a:rPr lang="en-AU" sz="1200" kern="1200" dirty="0" smtClean="0">
                <a:solidFill>
                  <a:schemeClr val="tx1"/>
                </a:solidFill>
                <a:ea typeface="+mn-ea"/>
                <a:cs typeface="+mn-cs"/>
              </a:rPr>
              <a:t> Celebrating the achievement of project milestones.</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gives reasons it is necessary to build trust and respect with project team:</a:t>
            </a:r>
          </a:p>
          <a:p>
            <a:pPr>
              <a:buFont typeface="Arial" pitchFamily="34" charset="0"/>
              <a:buChar char="•"/>
            </a:pPr>
            <a:r>
              <a:rPr lang="en-AU" sz="1200" kern="1200" dirty="0" smtClean="0">
                <a:solidFill>
                  <a:schemeClr val="tx1"/>
                </a:solidFill>
                <a:ea typeface="+mn-ea"/>
                <a:cs typeface="+mn-cs"/>
              </a:rPr>
              <a:t> You have to understand </a:t>
            </a:r>
            <a:r>
              <a:rPr lang="en-AU" sz="1200" i="1" kern="1200" dirty="0" smtClean="0">
                <a:solidFill>
                  <a:schemeClr val="tx1"/>
                </a:solidFill>
                <a:ea typeface="+mn-ea"/>
                <a:cs typeface="+mn-cs"/>
              </a:rPr>
              <a:t>your</a:t>
            </a:r>
            <a:r>
              <a:rPr lang="en-AU" sz="1200" kern="1200" dirty="0" smtClean="0">
                <a:solidFill>
                  <a:schemeClr val="tx1"/>
                </a:solidFill>
                <a:ea typeface="+mn-ea"/>
                <a:cs typeface="+mn-cs"/>
              </a:rPr>
              <a:t> success as PM rests very much on the work done by those who support you – </a:t>
            </a:r>
            <a:r>
              <a:rPr lang="en-AU" sz="1200" b="1" kern="1200" dirty="0" smtClean="0">
                <a:solidFill>
                  <a:schemeClr val="tx1"/>
                </a:solidFill>
                <a:ea typeface="+mn-ea"/>
                <a:cs typeface="+mn-cs"/>
              </a:rPr>
              <a:t>you</a:t>
            </a:r>
            <a:r>
              <a:rPr lang="en-AU" sz="1200" kern="1200" dirty="0" smtClean="0">
                <a:solidFill>
                  <a:schemeClr val="tx1"/>
                </a:solidFill>
                <a:ea typeface="+mn-ea"/>
                <a:cs typeface="+mn-cs"/>
              </a:rPr>
              <a:t> will be judged (by venue management and other stakeholders) on how well or how badly </a:t>
            </a:r>
            <a:r>
              <a:rPr lang="en-AU" sz="1200" b="1" kern="1200" dirty="0" smtClean="0">
                <a:solidFill>
                  <a:schemeClr val="tx1"/>
                </a:solidFill>
                <a:ea typeface="+mn-ea"/>
                <a:cs typeface="+mn-cs"/>
              </a:rPr>
              <a:t>they</a:t>
            </a:r>
            <a:r>
              <a:rPr lang="en-AU" sz="1200" kern="1200" dirty="0" smtClean="0">
                <a:solidFill>
                  <a:schemeClr val="tx1"/>
                </a:solidFill>
                <a:ea typeface="+mn-ea"/>
                <a:cs typeface="+mn-cs"/>
              </a:rPr>
              <a:t> perform their allocated tasks</a:t>
            </a:r>
          </a:p>
          <a:p>
            <a:pPr>
              <a:buFont typeface="Arial" pitchFamily="34" charset="0"/>
              <a:buChar char="•"/>
            </a:pPr>
            <a:r>
              <a:rPr lang="en-AU" sz="1200" kern="1200" dirty="0" smtClean="0">
                <a:solidFill>
                  <a:schemeClr val="tx1"/>
                </a:solidFill>
                <a:ea typeface="+mn-ea"/>
                <a:cs typeface="+mn-cs"/>
              </a:rPr>
              <a:t> Generating trust and respect is a fundamental platform/basis for attaining the identified goals/objectives for the project.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reflects the interpersonal nature of relationships in the workplace: if people do not like or respect you then this translates into the work thewy do for you</a:t>
            </a:r>
          </a:p>
          <a:p>
            <a:pPr>
              <a:buFont typeface="Arial" pitchFamily="34" charset="0"/>
              <a:buChar char="•"/>
            </a:pPr>
            <a:r>
              <a:rPr lang="en-AU" sz="1200" kern="1200" dirty="0" smtClean="0">
                <a:solidFill>
                  <a:schemeClr val="tx1"/>
                </a:solidFill>
                <a:ea typeface="+mn-ea"/>
                <a:cs typeface="+mn-cs"/>
              </a:rPr>
              <a:t> If you help others achieve their wants and goals then they are more likely to help you achieve yours – all workers want to be trusted and respected</a:t>
            </a:r>
          </a:p>
          <a:p>
            <a:pPr>
              <a:buFont typeface="Arial" pitchFamily="34" charset="0"/>
              <a:buChar char="•"/>
            </a:pPr>
            <a:r>
              <a:rPr lang="en-AU" sz="1200" kern="1200" dirty="0" smtClean="0">
                <a:solidFill>
                  <a:schemeClr val="tx1"/>
                </a:solidFill>
                <a:ea typeface="+mn-ea"/>
                <a:cs typeface="+mn-cs"/>
              </a:rPr>
              <a:t> Physical and financial resources are useless and irrelevant without the human resources needed to apply them</a:t>
            </a:r>
          </a:p>
          <a:p>
            <a:pPr>
              <a:buFont typeface="Arial" pitchFamily="34" charset="0"/>
              <a:buChar char="•"/>
            </a:pPr>
            <a:r>
              <a:rPr lang="en-AU" sz="1200" kern="1200" dirty="0" smtClean="0">
                <a:solidFill>
                  <a:schemeClr val="tx1"/>
                </a:solidFill>
                <a:ea typeface="+mn-ea"/>
                <a:cs typeface="+mn-cs"/>
              </a:rPr>
              <a:t> Where there is no trust there can only be fear and a lack of faith about what needs to be done to achieve the identified goals – fear leads to project paralysis and this will greatly impeded project success.</a:t>
            </a:r>
          </a:p>
          <a:p>
            <a:pPr>
              <a:buFont typeface="Arial" pitchFamily="34" charset="0"/>
              <a:buNone/>
            </a:pPr>
            <a:endParaRPr lang="en-US" dirty="0" smtClean="0"/>
          </a:p>
          <a:p>
            <a:pPr>
              <a:buFont typeface="Arial" pitchFamily="34" charset="0"/>
              <a:buNone/>
            </a:pPr>
            <a:r>
              <a:rPr lang="en-US" b="1" dirty="0" smtClean="0"/>
              <a:t>Class</a:t>
            </a:r>
            <a:r>
              <a:rPr lang="en-US" b="1" baseline="0" dirty="0" smtClean="0"/>
              <a:t> Activity – Guest Speaker</a:t>
            </a:r>
          </a:p>
          <a:p>
            <a:pPr>
              <a:buFont typeface="Arial" pitchFamily="34" charset="0"/>
              <a:buNone/>
            </a:pPr>
            <a:r>
              <a:rPr lang="en-US" b="0" baseline="0" dirty="0" smtClean="0"/>
              <a:t>Trainer arranges for an experienced PM to attend and:</a:t>
            </a:r>
          </a:p>
          <a:p>
            <a:pPr>
              <a:buFont typeface="Arial" pitchFamily="34" charset="0"/>
              <a:buChar char="•"/>
            </a:pPr>
            <a:r>
              <a:rPr lang="en-US" b="0" baseline="0" dirty="0" smtClean="0"/>
              <a:t> Highlight need to provide support and assistance to project staff</a:t>
            </a:r>
          </a:p>
          <a:p>
            <a:pPr>
              <a:buFont typeface="Arial" pitchFamily="34" charset="0"/>
              <a:buChar char="•"/>
            </a:pPr>
            <a:r>
              <a:rPr lang="en-US" b="0" baseline="0" dirty="0" smtClean="0"/>
              <a:t> Explain need for trust and support between project team and PM </a:t>
            </a:r>
          </a:p>
          <a:p>
            <a:pPr>
              <a:buFont typeface="Arial" pitchFamily="34" charset="0"/>
              <a:buChar char="•"/>
            </a:pPr>
            <a:r>
              <a:rPr lang="en-US" b="0" baseline="0" dirty="0" smtClean="0"/>
              <a:t> Illustrate how trust and respect between these two parties can be developed and maintained.</a:t>
            </a:r>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points to note about trust and respect:</a:t>
            </a:r>
          </a:p>
          <a:p>
            <a:pPr>
              <a:buFont typeface="Arial" pitchFamily="34" charset="0"/>
              <a:buChar char="•"/>
            </a:pPr>
            <a:r>
              <a:rPr lang="en-AU" sz="1200" kern="1200" dirty="0" smtClean="0">
                <a:solidFill>
                  <a:schemeClr val="tx1"/>
                </a:solidFill>
                <a:ea typeface="+mn-ea"/>
                <a:cs typeface="+mn-cs"/>
              </a:rPr>
              <a:t> Trust and respect is a two-way street – there must be mutual respect.</a:t>
            </a:r>
          </a:p>
          <a:p>
            <a:pPr>
              <a:buFont typeface="Arial" pitchFamily="34" charset="0"/>
              <a:buChar char="•"/>
            </a:pPr>
            <a:r>
              <a:rPr lang="en-AU" sz="1200" kern="1200" dirty="0" smtClean="0">
                <a:solidFill>
                  <a:schemeClr val="tx1"/>
                </a:solidFill>
                <a:ea typeface="+mn-ea"/>
                <a:cs typeface="+mn-cs"/>
              </a:rPr>
              <a:t> You must have trust and respect for your project team/s and they must have trust and respect for you</a:t>
            </a:r>
          </a:p>
          <a:p>
            <a:pPr>
              <a:buFont typeface="Arial" pitchFamily="34" charset="0"/>
              <a:buChar char="•"/>
            </a:pPr>
            <a:r>
              <a:rPr lang="en-AU" sz="1200" kern="1200" dirty="0" smtClean="0">
                <a:solidFill>
                  <a:schemeClr val="tx1"/>
                </a:solidFill>
                <a:ea typeface="+mn-ea"/>
                <a:cs typeface="+mn-cs"/>
              </a:rPr>
              <a:t> You cannot order or direct someone to have trust and respect</a:t>
            </a:r>
          </a:p>
          <a:p>
            <a:pPr>
              <a:buFont typeface="Arial" pitchFamily="34" charset="0"/>
              <a:buChar char="•"/>
            </a:pPr>
            <a:r>
              <a:rPr lang="en-AU" sz="1200" kern="1200" dirty="0" smtClean="0">
                <a:solidFill>
                  <a:schemeClr val="tx1"/>
                </a:solidFill>
                <a:ea typeface="+mn-ea"/>
                <a:cs typeface="+mn-cs"/>
              </a:rPr>
              <a:t> You have to </a:t>
            </a:r>
            <a:r>
              <a:rPr lang="en-AU" sz="1200" i="1" kern="1200" dirty="0" smtClean="0">
                <a:solidFill>
                  <a:schemeClr val="tx1"/>
                </a:solidFill>
                <a:ea typeface="+mn-ea"/>
                <a:cs typeface="+mn-cs"/>
              </a:rPr>
              <a:t>give</a:t>
            </a:r>
            <a:r>
              <a:rPr lang="en-AU" sz="1200" kern="1200" dirty="0" smtClean="0">
                <a:solidFill>
                  <a:schemeClr val="tx1"/>
                </a:solidFill>
                <a:ea typeface="+mn-ea"/>
                <a:cs typeface="+mn-cs"/>
              </a:rPr>
              <a:t> trust and respect to your team</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points to note about trust and respect:</a:t>
            </a:r>
          </a:p>
          <a:p>
            <a:pPr>
              <a:buFont typeface="Arial" pitchFamily="34" charset="0"/>
              <a:buChar char="•"/>
            </a:pPr>
            <a:r>
              <a:rPr lang="en-AU" sz="1200" kern="1200" dirty="0" smtClean="0">
                <a:solidFill>
                  <a:schemeClr val="tx1"/>
                </a:solidFill>
                <a:ea typeface="+mn-ea"/>
                <a:cs typeface="+mn-cs"/>
              </a:rPr>
              <a:t> You have to </a:t>
            </a:r>
            <a:r>
              <a:rPr lang="en-AU" sz="1200" i="1" kern="1200" dirty="0" smtClean="0">
                <a:solidFill>
                  <a:schemeClr val="tx1"/>
                </a:solidFill>
                <a:ea typeface="+mn-ea"/>
                <a:cs typeface="+mn-cs"/>
              </a:rPr>
              <a:t>earn</a:t>
            </a:r>
            <a:r>
              <a:rPr lang="en-AU" sz="1200" kern="1200" dirty="0" smtClean="0">
                <a:solidFill>
                  <a:schemeClr val="tx1"/>
                </a:solidFill>
                <a:ea typeface="+mn-ea"/>
                <a:cs typeface="+mn-cs"/>
              </a:rPr>
              <a:t> trust and respect for yourself</a:t>
            </a:r>
          </a:p>
          <a:p>
            <a:pPr>
              <a:buFont typeface="Arial" pitchFamily="34" charset="0"/>
              <a:buChar char="•"/>
            </a:pPr>
            <a:r>
              <a:rPr lang="en-AU" sz="1200" kern="1200" dirty="0" smtClean="0">
                <a:solidFill>
                  <a:schemeClr val="tx1"/>
                </a:solidFill>
                <a:ea typeface="+mn-ea"/>
                <a:cs typeface="+mn-cs"/>
              </a:rPr>
              <a:t> Trust and respect is the result of a combination of factors such as:</a:t>
            </a:r>
          </a:p>
          <a:p>
            <a:pPr>
              <a:buFont typeface="Arial" pitchFamily="34" charset="0"/>
              <a:buChar char="•"/>
            </a:pPr>
            <a:r>
              <a:rPr lang="en-AU" sz="1200" kern="1200" dirty="0" smtClean="0">
                <a:solidFill>
                  <a:schemeClr val="tx1"/>
                </a:solidFill>
                <a:ea typeface="+mn-ea"/>
                <a:cs typeface="+mn-cs"/>
              </a:rPr>
              <a:t> Trust and respect are established over time.</a:t>
            </a:r>
          </a:p>
          <a:p>
            <a:pPr>
              <a:buFont typeface="Arial" pitchFamily="34" charset="0"/>
              <a:buNone/>
            </a:pPr>
            <a:endParaRPr lang="en-US" sz="1200" b="1" kern="1200" dirty="0" smtClean="0">
              <a:solidFill>
                <a:schemeClr val="tx1"/>
              </a:solidFill>
              <a:ea typeface="+mn-ea"/>
              <a:cs typeface="+mn-cs"/>
            </a:endParaRPr>
          </a:p>
          <a:p>
            <a:pPr>
              <a:buFont typeface="Arial" pitchFamily="34" charset="0"/>
              <a:buNone/>
            </a:pPr>
            <a:r>
              <a:rPr lang="en-US" sz="1200" b="1" kern="1200" dirty="0" smtClean="0">
                <a:solidFill>
                  <a:schemeClr val="tx1"/>
                </a:solidFill>
                <a:ea typeface="+mn-ea"/>
                <a:cs typeface="+mn-cs"/>
              </a:rPr>
              <a:t>Class Activity – Questions</a:t>
            </a:r>
          </a:p>
          <a:p>
            <a:pPr>
              <a:buFont typeface="Arial" pitchFamily="34" charset="0"/>
              <a:buNone/>
            </a:pPr>
            <a:r>
              <a:rPr lang="en-US" sz="1200" b="0" kern="1200" dirty="0" smtClean="0">
                <a:solidFill>
                  <a:schemeClr val="tx1"/>
                </a:solidFill>
                <a:ea typeface="+mn-ea"/>
                <a:cs typeface="+mn-cs"/>
              </a:rPr>
              <a:t>Trainer asks students what factors combine/are needed to develop trust and respect.</a:t>
            </a:r>
          </a:p>
          <a:p>
            <a:pPr>
              <a:buFont typeface="Arial" pitchFamily="34" charset="0"/>
              <a:buNone/>
            </a:pPr>
            <a:r>
              <a:rPr lang="en-US" sz="1200" b="1" i="1" kern="1200" dirty="0" smtClean="0">
                <a:solidFill>
                  <a:schemeClr val="tx1"/>
                </a:solidFill>
                <a:ea typeface="+mn-ea"/>
                <a:cs typeface="+mn-cs"/>
              </a:rPr>
              <a:t>Possible answers:</a:t>
            </a:r>
          </a:p>
          <a:p>
            <a:pPr>
              <a:buFont typeface="Arial" pitchFamily="34" charset="0"/>
              <a:buChar char="•"/>
            </a:pPr>
            <a:r>
              <a:rPr lang="en-AU" sz="1200" kern="1200" dirty="0" smtClean="0">
                <a:solidFill>
                  <a:schemeClr val="tx1"/>
                </a:solidFill>
                <a:ea typeface="+mn-ea"/>
                <a:cs typeface="+mn-cs"/>
              </a:rPr>
              <a:t> Honesty</a:t>
            </a:r>
          </a:p>
          <a:p>
            <a:pPr>
              <a:buFont typeface="Arial" pitchFamily="34" charset="0"/>
              <a:buChar char="•"/>
            </a:pPr>
            <a:r>
              <a:rPr lang="en-AU" sz="1200" kern="1200" dirty="0" smtClean="0">
                <a:solidFill>
                  <a:schemeClr val="tx1"/>
                </a:solidFill>
                <a:ea typeface="+mn-ea"/>
                <a:cs typeface="+mn-cs"/>
              </a:rPr>
              <a:t> Reliability</a:t>
            </a:r>
          </a:p>
          <a:p>
            <a:pPr>
              <a:buFont typeface="Arial" pitchFamily="34" charset="0"/>
              <a:buChar char="•"/>
            </a:pPr>
            <a:r>
              <a:rPr lang="en-AU" sz="1200" kern="1200" dirty="0" smtClean="0">
                <a:solidFill>
                  <a:schemeClr val="tx1"/>
                </a:solidFill>
                <a:ea typeface="+mn-ea"/>
                <a:cs typeface="+mn-cs"/>
              </a:rPr>
              <a:t> Credibility</a:t>
            </a:r>
          </a:p>
          <a:p>
            <a:pPr>
              <a:buFont typeface="Arial" pitchFamily="34" charset="0"/>
              <a:buChar char="•"/>
            </a:pPr>
            <a:r>
              <a:rPr lang="en-AU" sz="1200" kern="1200" dirty="0" smtClean="0">
                <a:solidFill>
                  <a:schemeClr val="tx1"/>
                </a:solidFill>
                <a:ea typeface="+mn-ea"/>
                <a:cs typeface="+mn-cs"/>
              </a:rPr>
              <a:t> Understanding </a:t>
            </a:r>
          </a:p>
          <a:p>
            <a:pPr>
              <a:buFont typeface="Arial" pitchFamily="34" charset="0"/>
              <a:buChar char="•"/>
            </a:pPr>
            <a:r>
              <a:rPr lang="en-AU" sz="1200" kern="1200" dirty="0" smtClean="0">
                <a:solidFill>
                  <a:schemeClr val="tx1"/>
                </a:solidFill>
                <a:ea typeface="+mn-ea"/>
                <a:cs typeface="+mn-cs"/>
              </a:rPr>
              <a:t> Commitment</a:t>
            </a:r>
          </a:p>
          <a:p>
            <a:pPr>
              <a:buFont typeface="Arial" pitchFamily="34" charset="0"/>
              <a:buChar char="•"/>
            </a:pPr>
            <a:r>
              <a:rPr lang="en-AU" sz="1200" kern="1200" dirty="0" smtClean="0">
                <a:solidFill>
                  <a:schemeClr val="tx1"/>
                </a:solidFill>
                <a:ea typeface="+mn-ea"/>
                <a:cs typeface="+mn-cs"/>
              </a:rPr>
              <a:t> Good communication</a:t>
            </a:r>
          </a:p>
          <a:p>
            <a:pPr>
              <a:buFont typeface="Arial" pitchFamily="34" charset="0"/>
              <a:buChar char="•"/>
            </a:pPr>
            <a:r>
              <a:rPr lang="en-AU" sz="1200" kern="1200" dirty="0" smtClean="0">
                <a:solidFill>
                  <a:schemeClr val="tx1"/>
                </a:solidFill>
                <a:ea typeface="+mn-ea"/>
                <a:cs typeface="+mn-cs"/>
              </a:rPr>
              <a:t> Consultation and collaboration</a:t>
            </a:r>
          </a:p>
          <a:p>
            <a:pPr>
              <a:buFont typeface="Arial" pitchFamily="34" charset="0"/>
              <a:buNone/>
            </a:pPr>
            <a:endParaRPr lang="en-US" b="1" i="1"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ways to build trust and respect:</a:t>
            </a:r>
          </a:p>
          <a:p>
            <a:pPr>
              <a:buFont typeface="Arial" pitchFamily="34" charset="0"/>
              <a:buChar char="•"/>
            </a:pPr>
            <a:r>
              <a:rPr lang="en-AU" sz="1200" kern="1200" dirty="0" smtClean="0">
                <a:solidFill>
                  <a:schemeClr val="tx1"/>
                </a:solidFill>
                <a:ea typeface="+mn-ea"/>
                <a:cs typeface="+mn-cs"/>
              </a:rPr>
              <a:t> Doing more yourself than you expect them to do.</a:t>
            </a:r>
            <a:r>
              <a:rPr lang="en-AU" sz="1200" kern="1200" baseline="0" dirty="0" smtClean="0">
                <a:solidFill>
                  <a:schemeClr val="tx1"/>
                </a:solidFill>
                <a:ea typeface="+mn-ea"/>
                <a:cs typeface="+mn-cs"/>
              </a:rPr>
              <a:t> I</a:t>
            </a:r>
            <a:r>
              <a:rPr lang="en-AU" sz="1200" kern="1200" dirty="0" smtClean="0">
                <a:solidFill>
                  <a:schemeClr val="tx1"/>
                </a:solidFill>
                <a:ea typeface="+mn-ea"/>
                <a:cs typeface="+mn-cs"/>
              </a:rPr>
              <a:t>t is vital you lead by example and demonstrate your capacity for work</a:t>
            </a:r>
          </a:p>
          <a:p>
            <a:pPr>
              <a:buFont typeface="Arial" pitchFamily="34" charset="0"/>
              <a:buChar char="•"/>
            </a:pPr>
            <a:r>
              <a:rPr lang="en-AU" sz="1200" kern="1200" dirty="0" smtClean="0">
                <a:solidFill>
                  <a:schemeClr val="tx1"/>
                </a:solidFill>
                <a:ea typeface="+mn-ea"/>
                <a:cs typeface="+mn-cs"/>
              </a:rPr>
              <a:t> Avoid micro-managing them – give them a job and let them determine how to do it unless it has to be done in a certain way</a:t>
            </a:r>
          </a:p>
          <a:p>
            <a:pPr>
              <a:buFont typeface="Arial" pitchFamily="34" charset="0"/>
              <a:buChar char="•"/>
            </a:pPr>
            <a:r>
              <a:rPr lang="en-AU" sz="1200" kern="1200" dirty="0" smtClean="0">
                <a:solidFill>
                  <a:schemeClr val="tx1"/>
                </a:solidFill>
                <a:ea typeface="+mn-ea"/>
                <a:cs typeface="+mn-cs"/>
              </a:rPr>
              <a:t> Value each member of the team – see the project team as individuals rather than as a vague conglomerate of people</a:t>
            </a:r>
          </a:p>
          <a:p>
            <a:pPr>
              <a:buFont typeface="Arial" pitchFamily="34" charset="0"/>
              <a:buChar char="•"/>
            </a:pPr>
            <a:r>
              <a:rPr lang="en-AU" sz="1200" kern="1200" dirty="0" smtClean="0">
                <a:solidFill>
                  <a:schemeClr val="tx1"/>
                </a:solidFill>
                <a:ea typeface="+mn-ea"/>
                <a:cs typeface="+mn-cs"/>
              </a:rPr>
              <a:t> Get to know the people in the team – learn their names, about their likes and dislikes, their personal history and about their expectations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ways to build trust and respect:</a:t>
            </a:r>
          </a:p>
          <a:p>
            <a:pPr>
              <a:buFont typeface="Arial" pitchFamily="34" charset="0"/>
              <a:buChar char="•"/>
            </a:pPr>
            <a:r>
              <a:rPr lang="en-AU" sz="1200" kern="1200" dirty="0" smtClean="0">
                <a:solidFill>
                  <a:schemeClr val="tx1"/>
                </a:solidFill>
                <a:ea typeface="+mn-ea"/>
                <a:cs typeface="+mn-cs"/>
              </a:rPr>
              <a:t> Use their names when talking to them.</a:t>
            </a:r>
            <a:r>
              <a:rPr lang="en-AU" sz="1200" kern="1200" baseline="0" dirty="0" smtClean="0">
                <a:solidFill>
                  <a:schemeClr val="tx1"/>
                </a:solidFill>
                <a:ea typeface="+mn-ea"/>
                <a:cs typeface="+mn-cs"/>
              </a:rPr>
              <a:t> Th</a:t>
            </a:r>
            <a:r>
              <a:rPr lang="en-AU" sz="1200" kern="1200" dirty="0" smtClean="0">
                <a:solidFill>
                  <a:schemeClr val="tx1"/>
                </a:solidFill>
                <a:ea typeface="+mn-ea"/>
                <a:cs typeface="+mn-cs"/>
              </a:rPr>
              <a:t>is demonstrates you have made an effort to get to know them</a:t>
            </a:r>
          </a:p>
          <a:p>
            <a:pPr>
              <a:buFont typeface="Arial" pitchFamily="34" charset="0"/>
              <a:buChar char="•"/>
            </a:pPr>
            <a:r>
              <a:rPr lang="en-AU" sz="1200" kern="1200" dirty="0" smtClean="0">
                <a:solidFill>
                  <a:schemeClr val="tx1"/>
                </a:solidFill>
                <a:ea typeface="+mn-ea"/>
                <a:cs typeface="+mn-cs"/>
              </a:rPr>
              <a:t> Communicate with all of them on a regular basis – keep the lines of communication open</a:t>
            </a:r>
          </a:p>
          <a:p>
            <a:pPr>
              <a:buFont typeface="Arial" pitchFamily="34" charset="0"/>
              <a:buChar char="•"/>
            </a:pPr>
            <a:r>
              <a:rPr lang="en-AU" sz="1200" kern="1200" dirty="0" smtClean="0">
                <a:solidFill>
                  <a:schemeClr val="tx1"/>
                </a:solidFill>
                <a:ea typeface="+mn-ea"/>
                <a:cs typeface="+mn-cs"/>
              </a:rPr>
              <a:t> Provide and encourage constructive feedback</a:t>
            </a:r>
          </a:p>
          <a:p>
            <a:pPr>
              <a:buFont typeface="Arial" pitchFamily="34" charset="0"/>
              <a:buChar char="•"/>
            </a:pPr>
            <a:r>
              <a:rPr lang="en-AU" sz="1200" kern="1200" dirty="0" smtClean="0">
                <a:solidFill>
                  <a:schemeClr val="tx1"/>
                </a:solidFill>
                <a:ea typeface="+mn-ea"/>
                <a:cs typeface="+mn-cs"/>
              </a:rPr>
              <a:t> Give them responsibility – nothing demonstrates trust or faith in staff better them actually placing trust in them to complete work which has been allocated to them</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ways to build trust and respect:</a:t>
            </a:r>
          </a:p>
          <a:p>
            <a:pPr>
              <a:buFont typeface="Arial" pitchFamily="34" charset="0"/>
              <a:buChar char="•"/>
            </a:pPr>
            <a:r>
              <a:rPr lang="en-AU" sz="1200" kern="1200" dirty="0" smtClean="0">
                <a:solidFill>
                  <a:schemeClr val="tx1"/>
                </a:solidFill>
                <a:ea typeface="+mn-ea"/>
                <a:cs typeface="+mn-cs"/>
              </a:rPr>
              <a:t> Celebrate the individuality of your team members – diversity can be a cornerstone of success</a:t>
            </a:r>
          </a:p>
          <a:p>
            <a:pPr>
              <a:buFont typeface="Arial" pitchFamily="34" charset="0"/>
              <a:buChar char="•"/>
            </a:pPr>
            <a:r>
              <a:rPr lang="en-AU" sz="1200" kern="1200" dirty="0" smtClean="0">
                <a:solidFill>
                  <a:schemeClr val="tx1"/>
                </a:solidFill>
                <a:ea typeface="+mn-ea"/>
                <a:cs typeface="+mn-cs"/>
              </a:rPr>
              <a:t> Pitch in and do some hands-on work yourself to contribute to the project as opposed to only be seen to undertake management duties: demonstrate your competency</a:t>
            </a:r>
          </a:p>
          <a:p>
            <a:pPr>
              <a:buFont typeface="Arial" pitchFamily="34" charset="0"/>
              <a:buChar char="•"/>
            </a:pPr>
            <a:r>
              <a:rPr lang="en-AU" sz="1200" kern="1200" dirty="0" smtClean="0">
                <a:solidFill>
                  <a:schemeClr val="tx1"/>
                </a:solidFill>
                <a:ea typeface="+mn-ea"/>
                <a:cs typeface="+mn-cs"/>
              </a:rPr>
              <a:t> Congratulate them regularly but make sure the congratulations are ‘earned’ and legitimate – congratulate them:</a:t>
            </a:r>
          </a:p>
          <a:p>
            <a:pPr lvl="1">
              <a:buFont typeface="Arial" pitchFamily="34" charset="0"/>
              <a:buChar char="•"/>
            </a:pPr>
            <a:r>
              <a:rPr lang="en-AU" sz="1200" kern="1200" dirty="0" smtClean="0">
                <a:solidFill>
                  <a:schemeClr val="tx1"/>
                </a:solidFill>
                <a:ea typeface="+mn-ea"/>
                <a:cs typeface="+mn-cs"/>
              </a:rPr>
              <a:t> Individually and face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to</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face</a:t>
            </a:r>
          </a:p>
          <a:p>
            <a:pPr lvl="1">
              <a:buFont typeface="Arial" pitchFamily="34" charset="0"/>
              <a:buChar char="•"/>
            </a:pPr>
            <a:r>
              <a:rPr lang="en-AU" sz="1200" kern="1200" dirty="0" smtClean="0">
                <a:solidFill>
                  <a:schemeClr val="tx1"/>
                </a:solidFill>
                <a:ea typeface="+mn-ea"/>
                <a:cs typeface="+mn-cs"/>
              </a:rPr>
              <a:t> At team briefings and meetings</a:t>
            </a:r>
          </a:p>
          <a:p>
            <a:pPr lvl="1">
              <a:buFont typeface="Arial" pitchFamily="34" charset="0"/>
              <a:buChar char="•"/>
            </a:pPr>
            <a:r>
              <a:rPr lang="en-AU" sz="1200" kern="1200" dirty="0" smtClean="0">
                <a:solidFill>
                  <a:schemeClr val="tx1"/>
                </a:solidFill>
                <a:ea typeface="+mn-ea"/>
                <a:cs typeface="+mn-cs"/>
              </a:rPr>
              <a:t> When they have done good work</a:t>
            </a:r>
          </a:p>
          <a:p>
            <a:pPr lvl="1">
              <a:buFont typeface="Arial" pitchFamily="34" charset="0"/>
              <a:buChar char="•"/>
            </a:pPr>
            <a:r>
              <a:rPr lang="en-AU" sz="1200" kern="1200" dirty="0" smtClean="0">
                <a:solidFill>
                  <a:schemeClr val="tx1"/>
                </a:solidFill>
                <a:ea typeface="+mn-ea"/>
                <a:cs typeface="+mn-cs"/>
              </a:rPr>
              <a:t> When they achieve a KPI or milestone</a:t>
            </a:r>
          </a:p>
          <a:p>
            <a:pPr>
              <a:buFont typeface="Arial" pitchFamily="34" charset="0"/>
              <a:buChar char="•"/>
            </a:pPr>
            <a:r>
              <a:rPr lang="en-AU" sz="1200" kern="1200" dirty="0" smtClean="0">
                <a:solidFill>
                  <a:schemeClr val="tx1"/>
                </a:solidFill>
                <a:ea typeface="+mn-ea"/>
                <a:cs typeface="+mn-cs"/>
              </a:rPr>
              <a:t> If they make a mistake, do not lecture them – rather take a constructive approach and:</a:t>
            </a:r>
          </a:p>
          <a:p>
            <a:pPr lvl="1">
              <a:buFont typeface="Arial" pitchFamily="34" charset="0"/>
              <a:buChar char="•"/>
            </a:pPr>
            <a:r>
              <a:rPr lang="en-AU" sz="1200" kern="1200" dirty="0" smtClean="0">
                <a:solidFill>
                  <a:schemeClr val="tx1"/>
                </a:solidFill>
                <a:ea typeface="+mn-ea"/>
                <a:cs typeface="+mn-cs"/>
              </a:rPr>
              <a:t> Identify what went wrong – adopting a ‘no blame’ policy</a:t>
            </a:r>
          </a:p>
          <a:p>
            <a:pPr lvl="1">
              <a:buFont typeface="Arial" pitchFamily="34" charset="0"/>
              <a:buChar char="•"/>
            </a:pPr>
            <a:r>
              <a:rPr lang="en-AU" sz="1200" kern="1200" dirty="0" smtClean="0">
                <a:solidFill>
                  <a:schemeClr val="tx1"/>
                </a:solidFill>
                <a:ea typeface="+mn-ea"/>
                <a:cs typeface="+mn-cs"/>
              </a:rPr>
              <a:t> Explain or demonstrate the correct way</a:t>
            </a:r>
          </a:p>
          <a:p>
            <a:pPr lvl="1">
              <a:buFont typeface="Arial" pitchFamily="34" charset="0"/>
              <a:buChar char="•"/>
            </a:pPr>
            <a:r>
              <a:rPr lang="en-AU" sz="1200" kern="1200" dirty="0" smtClean="0">
                <a:solidFill>
                  <a:schemeClr val="tx1"/>
                </a:solidFill>
                <a:ea typeface="+mn-ea"/>
                <a:cs typeface="+mn-cs"/>
              </a:rPr>
              <a:t> Avoid being angry, vindictive or aggressive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ways to build trust and respect:</a:t>
            </a:r>
          </a:p>
          <a:p>
            <a:pPr>
              <a:buFont typeface="Arial" pitchFamily="34" charset="0"/>
              <a:buChar char="•"/>
            </a:pPr>
            <a:r>
              <a:rPr lang="en-AU" sz="1200" kern="1200" dirty="0" smtClean="0">
                <a:solidFill>
                  <a:schemeClr val="tx1"/>
                </a:solidFill>
                <a:ea typeface="+mn-ea"/>
                <a:cs typeface="+mn-cs"/>
              </a:rPr>
              <a:t> Encourage their input, opinions and feedback – never be afraid of listening to what team members have to say or contribute</a:t>
            </a:r>
          </a:p>
          <a:p>
            <a:pPr>
              <a:buFont typeface="Arial" pitchFamily="34" charset="0"/>
              <a:buChar char="•"/>
            </a:pPr>
            <a:r>
              <a:rPr lang="en-AU" sz="1200" kern="1200" dirty="0" smtClean="0">
                <a:solidFill>
                  <a:schemeClr val="tx1"/>
                </a:solidFill>
                <a:ea typeface="+mn-ea"/>
                <a:cs typeface="+mn-cs"/>
              </a:rPr>
              <a:t> Spend some time with them in a social context instead of only interacting with them in a work/project-related setting</a:t>
            </a:r>
          </a:p>
          <a:p>
            <a:pPr>
              <a:buFont typeface="Arial" pitchFamily="34" charset="0"/>
              <a:buChar char="•"/>
            </a:pPr>
            <a:r>
              <a:rPr lang="en-AU" sz="1200" kern="1200" dirty="0" smtClean="0">
                <a:solidFill>
                  <a:schemeClr val="tx1"/>
                </a:solidFill>
                <a:ea typeface="+mn-ea"/>
                <a:cs typeface="+mn-cs"/>
              </a:rPr>
              <a:t> Never play favourites.</a:t>
            </a:r>
            <a:r>
              <a:rPr lang="en-AU" sz="1200" kern="1200" baseline="0" dirty="0" smtClean="0">
                <a:solidFill>
                  <a:schemeClr val="tx1"/>
                </a:solidFill>
                <a:ea typeface="+mn-ea"/>
                <a:cs typeface="+mn-cs"/>
              </a:rPr>
              <a:t> A</a:t>
            </a:r>
            <a:r>
              <a:rPr lang="en-AU" sz="1200" kern="1200" dirty="0" smtClean="0">
                <a:solidFill>
                  <a:schemeClr val="tx1"/>
                </a:solidFill>
                <a:ea typeface="+mn-ea"/>
                <a:cs typeface="+mn-cs"/>
              </a:rPr>
              <a:t>void situations where:</a:t>
            </a:r>
          </a:p>
          <a:p>
            <a:pPr lvl="1">
              <a:buFont typeface="Arial" pitchFamily="34" charset="0"/>
              <a:buChar char="•"/>
            </a:pPr>
            <a:r>
              <a:rPr lang="en-AU" sz="1200" kern="1200" dirty="0" smtClean="0">
                <a:solidFill>
                  <a:schemeClr val="tx1"/>
                </a:solidFill>
                <a:ea typeface="+mn-ea"/>
                <a:cs typeface="+mn-cs"/>
              </a:rPr>
              <a:t> You spend more time with some team members than others</a:t>
            </a:r>
          </a:p>
          <a:p>
            <a:pPr lvl="1">
              <a:buFont typeface="Arial" pitchFamily="34" charset="0"/>
              <a:buChar char="•"/>
            </a:pPr>
            <a:r>
              <a:rPr lang="en-AU" sz="1200" kern="1200" dirty="0" smtClean="0">
                <a:solidFill>
                  <a:schemeClr val="tx1"/>
                </a:solidFill>
                <a:ea typeface="+mn-ea"/>
                <a:cs typeface="+mn-cs"/>
              </a:rPr>
              <a:t> You give ‘better’ jobs to some team members but not to others</a:t>
            </a:r>
          </a:p>
          <a:p>
            <a:pPr lvl="1">
              <a:buFont typeface="Arial" pitchFamily="34" charset="0"/>
              <a:buChar char="•"/>
            </a:pPr>
            <a:r>
              <a:rPr lang="en-AU" sz="1200" kern="1200" dirty="0" smtClean="0">
                <a:solidFill>
                  <a:schemeClr val="tx1"/>
                </a:solidFill>
                <a:ea typeface="+mn-ea"/>
                <a:cs typeface="+mn-cs"/>
              </a:rPr>
              <a:t> You discipline some team members but not others for the same issue</a:t>
            </a:r>
          </a:p>
          <a:p>
            <a:pPr lvl="1">
              <a:buFont typeface="Arial" pitchFamily="34" charset="0"/>
              <a:buChar char="•"/>
            </a:pPr>
            <a:r>
              <a:rPr lang="en-AU" sz="1200" kern="1200" dirty="0" smtClean="0">
                <a:solidFill>
                  <a:schemeClr val="tx1"/>
                </a:solidFill>
                <a:ea typeface="+mn-ea"/>
                <a:cs typeface="+mn-cs"/>
              </a:rPr>
              <a:t> You provide more opportunities to some but not to others</a:t>
            </a:r>
          </a:p>
          <a:p>
            <a:pPr lvl="1">
              <a:buFont typeface="Arial" pitchFamily="34" charset="0"/>
              <a:buChar char="•"/>
            </a:pPr>
            <a:r>
              <a:rPr lang="en-AU" sz="1200" kern="1200" dirty="0" smtClean="0">
                <a:solidFill>
                  <a:schemeClr val="tx1"/>
                </a:solidFill>
                <a:ea typeface="+mn-ea"/>
                <a:cs typeface="+mn-cs"/>
              </a:rPr>
              <a:t> You give more freedom or latitude to some but not to others</a:t>
            </a:r>
          </a:p>
          <a:p>
            <a:pPr>
              <a:buFont typeface="Arial" pitchFamily="34" charset="0"/>
              <a:buChar char="•"/>
            </a:pPr>
            <a:r>
              <a:rPr lang="en-AU" sz="1200" kern="1200" dirty="0" smtClean="0">
                <a:solidFill>
                  <a:schemeClr val="tx1"/>
                </a:solidFill>
                <a:ea typeface="+mn-ea"/>
                <a:cs typeface="+mn-cs"/>
              </a:rPr>
              <a:t> Address issues and problems promptly as opposed to ignoring them and allowing them to fester and grow</a:t>
            </a:r>
          </a:p>
          <a:p>
            <a:pPr>
              <a:buFont typeface="Arial" pitchFamily="34" charset="0"/>
              <a:buChar char="•"/>
            </a:pPr>
            <a:r>
              <a:rPr lang="en-AU" sz="1200" kern="1200" dirty="0" smtClean="0">
                <a:solidFill>
                  <a:schemeClr val="tx1"/>
                </a:solidFill>
                <a:ea typeface="+mn-ea"/>
                <a:cs typeface="+mn-cs"/>
              </a:rPr>
              <a:t> Advise your manager about the good work done by your team and/or individual members of the team.</a:t>
            </a:r>
            <a:r>
              <a:rPr lang="en-AU" sz="1200" kern="1200" baseline="0" dirty="0" smtClean="0">
                <a:solidFill>
                  <a:schemeClr val="tx1"/>
                </a:solidFill>
                <a:ea typeface="+mn-ea"/>
                <a:cs typeface="+mn-cs"/>
              </a:rPr>
              <a:t> M</a:t>
            </a:r>
            <a:r>
              <a:rPr lang="en-AU" sz="1200" kern="1200" dirty="0" smtClean="0">
                <a:solidFill>
                  <a:schemeClr val="tx1"/>
                </a:solidFill>
                <a:ea typeface="+mn-ea"/>
                <a:cs typeface="+mn-cs"/>
              </a:rPr>
              <a:t>ake sure you never take credit for the work of others.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states PMs need </a:t>
            </a:r>
            <a:r>
              <a:rPr lang="en-AU" sz="1200" kern="1200" dirty="0" smtClean="0">
                <a:solidFill>
                  <a:schemeClr val="tx1"/>
                </a:solidFill>
                <a:ea typeface="+mn-ea"/>
                <a:cs typeface="+mn-cs"/>
              </a:rPr>
              <a:t>to assess and review project progress to:</a:t>
            </a:r>
            <a:endParaRPr lang="en-US" dirty="0" smtClean="0"/>
          </a:p>
          <a:p>
            <a:pPr>
              <a:buFont typeface="Arial" pitchFamily="34" charset="0"/>
              <a:buChar char="•"/>
            </a:pPr>
            <a:r>
              <a:rPr lang="en-AU" sz="1200" kern="1200" dirty="0" smtClean="0">
                <a:solidFill>
                  <a:schemeClr val="tx1"/>
                </a:solidFill>
                <a:ea typeface="+mn-ea"/>
                <a:cs typeface="+mn-cs"/>
              </a:rPr>
              <a:t> Compare actual progress against expected/anticipated progress</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such as:</a:t>
            </a:r>
          </a:p>
          <a:p>
            <a:pPr lvl="1">
              <a:buFont typeface="Arial" pitchFamily="34" charset="0"/>
              <a:buChar char="•"/>
            </a:pPr>
            <a:r>
              <a:rPr lang="en-AU" sz="1200" kern="1200" dirty="0" smtClean="0">
                <a:solidFill>
                  <a:schemeClr val="tx1"/>
                </a:solidFill>
                <a:ea typeface="+mn-ea"/>
                <a:cs typeface="+mn-cs"/>
              </a:rPr>
              <a:t> Allocating more staff or time to the project</a:t>
            </a:r>
          </a:p>
          <a:p>
            <a:pPr lvl="1">
              <a:buFont typeface="Arial" pitchFamily="34" charset="0"/>
              <a:buChar char="•"/>
            </a:pPr>
            <a:r>
              <a:rPr lang="en-AU" sz="1200" kern="1200" dirty="0" smtClean="0">
                <a:solidFill>
                  <a:schemeClr val="tx1"/>
                </a:solidFill>
                <a:ea typeface="+mn-ea"/>
                <a:cs typeface="+mn-cs"/>
              </a:rPr>
              <a:t> Providing additional resources – see later slides</a:t>
            </a:r>
          </a:p>
          <a:p>
            <a:pPr lvl="1">
              <a:buFont typeface="Arial" pitchFamily="34" charset="0"/>
              <a:buChar char="•"/>
            </a:pPr>
            <a:r>
              <a:rPr lang="en-AU" sz="1200" kern="1200" dirty="0" smtClean="0">
                <a:solidFill>
                  <a:schemeClr val="tx1"/>
                </a:solidFill>
                <a:ea typeface="+mn-ea"/>
                <a:cs typeface="+mn-cs"/>
              </a:rPr>
              <a:t> Changing suppliers or contractors</a:t>
            </a:r>
          </a:p>
          <a:p>
            <a:pPr lvl="1">
              <a:buFont typeface="Arial" pitchFamily="34" charset="0"/>
              <a:buChar char="•"/>
            </a:pPr>
            <a:r>
              <a:rPr lang="en-AU" sz="1200" kern="1200" dirty="0" smtClean="0">
                <a:solidFill>
                  <a:schemeClr val="tx1"/>
                </a:solidFill>
                <a:ea typeface="+mn-ea"/>
                <a:cs typeface="+mn-cs"/>
              </a:rPr>
              <a:t> Revising the project management plan to allow,</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for example, more time to complete stages or to include work which was not originally identified (or required by the client)</a:t>
            </a:r>
          </a:p>
          <a:p>
            <a:pPr>
              <a:buFont typeface="Arial" pitchFamily="34" charset="0"/>
              <a:buChar char="•"/>
            </a:pPr>
            <a:r>
              <a:rPr lang="en-AU" sz="1200" kern="1200" dirty="0" smtClean="0">
                <a:solidFill>
                  <a:schemeClr val="tx1"/>
                </a:solidFill>
                <a:ea typeface="+mn-ea"/>
                <a:cs typeface="+mn-cs"/>
              </a:rPr>
              <a:t> Enable accurate and honest feedback and reports to be given to you from the team and stakeholders on the project </a:t>
            </a:r>
          </a:p>
          <a:p>
            <a:pPr>
              <a:buFont typeface="Arial" pitchFamily="34" charset="0"/>
              <a:buChar char="•"/>
            </a:pPr>
            <a:r>
              <a:rPr lang="en-AU" sz="1200" kern="1200" dirty="0" smtClean="0">
                <a:solidFill>
                  <a:schemeClr val="tx1"/>
                </a:solidFill>
                <a:ea typeface="+mn-ea"/>
                <a:cs typeface="+mn-cs"/>
              </a:rPr>
              <a:t> Give your project team necessary feedback</a:t>
            </a:r>
          </a:p>
          <a:p>
            <a:pPr>
              <a:buFont typeface="Arial" pitchFamily="34" charset="0"/>
              <a:buChar char="•"/>
            </a:pPr>
            <a:r>
              <a:rPr lang="en-AU" sz="1200" kern="1200" dirty="0" smtClean="0">
                <a:solidFill>
                  <a:schemeClr val="tx1"/>
                </a:solidFill>
                <a:ea typeface="+mn-ea"/>
                <a:cs typeface="+mn-cs"/>
              </a:rPr>
              <a:t> Allow you to integrate other work/projects with your existing workload.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identifies </a:t>
            </a:r>
            <a:r>
              <a:rPr lang="en-AU" sz="1200" kern="1200" dirty="0" smtClean="0">
                <a:solidFill>
                  <a:schemeClr val="tx1"/>
                </a:solidFill>
                <a:ea typeface="+mn-ea"/>
                <a:cs typeface="+mn-cs"/>
              </a:rPr>
              <a:t>aims of this process are to:</a:t>
            </a:r>
          </a:p>
          <a:p>
            <a:pPr>
              <a:buFont typeface="Arial" pitchFamily="34" charset="0"/>
              <a:buChar char="•"/>
            </a:pPr>
            <a:r>
              <a:rPr lang="en-AU" sz="1200" kern="1200" dirty="0" smtClean="0">
                <a:solidFill>
                  <a:schemeClr val="tx1"/>
                </a:solidFill>
                <a:ea typeface="+mn-ea"/>
                <a:cs typeface="+mn-cs"/>
              </a:rPr>
              <a:t> Confirm activities which are being achieved as planned</a:t>
            </a:r>
          </a:p>
          <a:p>
            <a:pPr>
              <a:buFont typeface="Arial" pitchFamily="34" charset="0"/>
              <a:buChar char="•"/>
            </a:pPr>
            <a:r>
              <a:rPr lang="en-AU" sz="1200" kern="1200" dirty="0" smtClean="0">
                <a:solidFill>
                  <a:schemeClr val="tx1"/>
                </a:solidFill>
                <a:ea typeface="+mn-ea"/>
                <a:cs typeface="+mn-cs"/>
              </a:rPr>
              <a:t> Identify activities which are running behind schedule or which present the potential to run behind schedule</a:t>
            </a:r>
          </a:p>
          <a:p>
            <a:pPr>
              <a:buFont typeface="Arial" pitchFamily="34" charset="0"/>
              <a:buChar char="•"/>
            </a:pPr>
            <a:r>
              <a:rPr lang="en-AU" sz="1200" kern="1200" dirty="0" smtClean="0">
                <a:solidFill>
                  <a:schemeClr val="tx1"/>
                </a:solidFill>
                <a:ea typeface="+mn-ea"/>
                <a:cs typeface="+mn-cs"/>
              </a:rPr>
              <a:t> Identify activities which are not achieving the required levels, standards or criteria</a:t>
            </a:r>
          </a:p>
          <a:p>
            <a:pPr>
              <a:buFont typeface="Arial" pitchFamily="34" charset="0"/>
              <a:buChar char="•"/>
            </a:pPr>
            <a:r>
              <a:rPr lang="en-AU" sz="1200" kern="1200" dirty="0" smtClean="0">
                <a:solidFill>
                  <a:schemeClr val="tx1"/>
                </a:solidFill>
                <a:ea typeface="+mn-ea"/>
                <a:cs typeface="+mn-cs"/>
              </a:rPr>
              <a:t> Determine action to be taken to bring the project back on track in terms of the project management plan and within the prescribed parameters for the project.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states assessment and review should address project management plan as well as issues arising highlighting  points for consideration in the project management plan are:</a:t>
            </a:r>
          </a:p>
          <a:p>
            <a:pPr>
              <a:buFont typeface="Arial" pitchFamily="34" charset="0"/>
              <a:buChar char="•"/>
            </a:pPr>
            <a:r>
              <a:rPr lang="en-AU" sz="1200" kern="1200" dirty="0" smtClean="0">
                <a:solidFill>
                  <a:schemeClr val="tx1"/>
                </a:solidFill>
                <a:ea typeface="+mn-ea"/>
                <a:cs typeface="+mn-cs"/>
              </a:rPr>
              <a:t> Deliverables for the project in terms of what has happened (past events/work) and what can be foreseen (future project-related activities/outcomes):</a:t>
            </a:r>
          </a:p>
          <a:p>
            <a:pPr lvl="1">
              <a:buFont typeface="Arial" pitchFamily="34" charset="0"/>
              <a:buChar char="•"/>
            </a:pPr>
            <a:r>
              <a:rPr lang="en-AU" sz="1200" kern="1200" dirty="0" smtClean="0">
                <a:solidFill>
                  <a:schemeClr val="tx1"/>
                </a:solidFill>
                <a:ea typeface="+mn-ea"/>
                <a:cs typeface="+mn-cs"/>
              </a:rPr>
              <a:t> Are they being achieved?</a:t>
            </a:r>
          </a:p>
          <a:p>
            <a:pPr lvl="1">
              <a:buFont typeface="Arial" pitchFamily="34" charset="0"/>
              <a:buChar char="•"/>
            </a:pPr>
            <a:r>
              <a:rPr lang="en-AU" sz="1200" kern="1200" dirty="0" smtClean="0">
                <a:solidFill>
                  <a:schemeClr val="tx1"/>
                </a:solidFill>
                <a:ea typeface="+mn-ea"/>
                <a:cs typeface="+mn-cs"/>
              </a:rPr>
              <a:t> Are stages of the project running on track with the timelines set for them?</a:t>
            </a:r>
          </a:p>
          <a:p>
            <a:pPr lvl="1">
              <a:buFont typeface="Arial" pitchFamily="34" charset="0"/>
              <a:buChar char="•"/>
            </a:pPr>
            <a:r>
              <a:rPr lang="en-AU" sz="1200" kern="1200" dirty="0" smtClean="0">
                <a:solidFill>
                  <a:schemeClr val="tx1"/>
                </a:solidFill>
                <a:ea typeface="+mn-ea"/>
                <a:cs typeface="+mn-cs"/>
              </a:rPr>
              <a:t> Are milestones being achieved?</a:t>
            </a:r>
          </a:p>
          <a:p>
            <a:pPr lvl="1">
              <a:buFont typeface="Arial" pitchFamily="34" charset="0"/>
              <a:buChar char="•"/>
            </a:pPr>
            <a:r>
              <a:rPr lang="en-AU" sz="1200" kern="1200" dirty="0" smtClean="0">
                <a:solidFill>
                  <a:schemeClr val="tx1"/>
                </a:solidFill>
                <a:ea typeface="+mn-ea"/>
                <a:cs typeface="+mn-cs"/>
              </a:rPr>
              <a:t> Are future deliverables at risk?</a:t>
            </a:r>
          </a:p>
          <a:p>
            <a:pPr lvl="1">
              <a:buFont typeface="Arial" pitchFamily="34" charset="0"/>
              <a:buChar char="•"/>
            </a:pPr>
            <a:r>
              <a:rPr lang="en-AU" sz="1200" kern="1200" dirty="0" smtClean="0">
                <a:solidFill>
                  <a:schemeClr val="tx1"/>
                </a:solidFill>
                <a:ea typeface="+mn-ea"/>
                <a:cs typeface="+mn-cs"/>
              </a:rPr>
              <a:t> Why is this the case? What are the causal reasons?</a:t>
            </a:r>
          </a:p>
          <a:p>
            <a:pPr lvl="1">
              <a:buFont typeface="Arial" pitchFamily="34" charset="0"/>
              <a:buChar char="•"/>
            </a:pPr>
            <a:r>
              <a:rPr lang="en-AU" sz="1200" kern="1200" dirty="0" smtClean="0">
                <a:solidFill>
                  <a:schemeClr val="tx1"/>
                </a:solidFill>
                <a:ea typeface="+mn-ea"/>
                <a:cs typeface="+mn-cs"/>
              </a:rPr>
              <a:t> How will the current situation impact the rest of the project?</a:t>
            </a:r>
          </a:p>
          <a:p>
            <a:pPr>
              <a:buFont typeface="Arial" pitchFamily="34" charset="0"/>
              <a:buChar char="•"/>
            </a:pPr>
            <a:r>
              <a:rPr lang="en-AU" sz="1200" kern="1200" dirty="0" smtClean="0">
                <a:solidFill>
                  <a:schemeClr val="tx1"/>
                </a:solidFill>
                <a:ea typeface="+mn-ea"/>
                <a:cs typeface="+mn-cs"/>
              </a:rPr>
              <a:t> Budget.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should be addressed to:</a:t>
            </a:r>
          </a:p>
          <a:p>
            <a:pPr lvl="1">
              <a:buFont typeface="Arial" pitchFamily="34" charset="0"/>
              <a:buChar char="•"/>
            </a:pPr>
            <a:r>
              <a:rPr lang="en-AU" sz="1200" kern="1200" dirty="0" smtClean="0">
                <a:solidFill>
                  <a:schemeClr val="tx1"/>
                </a:solidFill>
                <a:ea typeface="+mn-ea"/>
                <a:cs typeface="+mn-cs"/>
              </a:rPr>
              <a:t> Check money has been spent as expected and only as authorized</a:t>
            </a:r>
          </a:p>
          <a:p>
            <a:pPr lvl="1">
              <a:buFont typeface="Arial" pitchFamily="34" charset="0"/>
              <a:buChar char="•"/>
            </a:pPr>
            <a:r>
              <a:rPr lang="en-AU" sz="1200" kern="1200" dirty="0" smtClean="0">
                <a:solidFill>
                  <a:schemeClr val="tx1"/>
                </a:solidFill>
                <a:ea typeface="+mn-ea"/>
                <a:cs typeface="+mn-cs"/>
              </a:rPr>
              <a:t> Verify the amount which remains in the budget</a:t>
            </a:r>
          </a:p>
          <a:p>
            <a:pPr lvl="1">
              <a:buFont typeface="Arial" pitchFamily="34" charset="0"/>
              <a:buChar char="•"/>
            </a:pPr>
            <a:r>
              <a:rPr lang="en-AU" sz="1200" kern="1200" dirty="0" smtClean="0">
                <a:solidFill>
                  <a:schemeClr val="tx1"/>
                </a:solidFill>
                <a:ea typeface="+mn-ea"/>
                <a:cs typeface="+mn-cs"/>
              </a:rPr>
              <a:t> Determine if the budget can realistically be expected to support/enable completion of the project</a:t>
            </a:r>
          </a:p>
          <a:p>
            <a:pPr lvl="1">
              <a:buFont typeface="Arial" pitchFamily="34" charset="0"/>
              <a:buChar char="•"/>
            </a:pPr>
            <a:r>
              <a:rPr lang="en-AU" sz="1200" kern="1200" dirty="0" smtClean="0">
                <a:solidFill>
                  <a:schemeClr val="tx1"/>
                </a:solidFill>
                <a:ea typeface="+mn-ea"/>
                <a:cs typeface="+mn-cs"/>
              </a:rPr>
              <a:t> Validate expenses have been allocated to correct budgets and budget lines</a:t>
            </a:r>
          </a:p>
          <a:p>
            <a:pPr lvl="1">
              <a:buFont typeface="Arial" pitchFamily="34" charset="0"/>
              <a:buChar char="•"/>
            </a:pPr>
            <a:r>
              <a:rPr lang="en-AU" sz="1200" kern="1200" dirty="0" smtClean="0">
                <a:solidFill>
                  <a:schemeClr val="tx1"/>
                </a:solidFill>
                <a:ea typeface="+mn-ea"/>
                <a:cs typeface="+mn-cs"/>
              </a:rPr>
              <a:t> Ensure expected income has translated into actual income </a:t>
            </a:r>
          </a:p>
          <a:p>
            <a:pPr lvl="1">
              <a:buFont typeface="Arial" pitchFamily="34" charset="0"/>
              <a:buChar char="•"/>
            </a:pPr>
            <a:r>
              <a:rPr lang="en-AU" sz="1200" kern="1200" dirty="0" smtClean="0">
                <a:solidFill>
                  <a:schemeClr val="tx1"/>
                </a:solidFill>
                <a:ea typeface="+mn-ea"/>
                <a:cs typeface="+mn-cs"/>
              </a:rPr>
              <a:t> Calculate the extent to which extra finance may be required, what it is needed for and why it is necessary </a:t>
            </a:r>
          </a:p>
          <a:p>
            <a:pPr lvl="1">
              <a:buFont typeface="Arial" pitchFamily="34" charset="0"/>
              <a:buChar char="•"/>
            </a:pP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Quality – the standards and criteria set for the project as part of the planning phase must be included in the assessment and review to:</a:t>
            </a:r>
          </a:p>
          <a:p>
            <a:pPr lvl="1">
              <a:buFont typeface="Arial" pitchFamily="34" charset="0"/>
              <a:buChar char="•"/>
            </a:pPr>
            <a:r>
              <a:rPr lang="en-AU" sz="1200" kern="1200" dirty="0" smtClean="0">
                <a:solidFill>
                  <a:schemeClr val="tx1"/>
                </a:solidFill>
                <a:ea typeface="+mn-ea"/>
                <a:cs typeface="+mn-cs"/>
              </a:rPr>
              <a:t> Verify the required standards are being achieved</a:t>
            </a:r>
          </a:p>
          <a:p>
            <a:pPr lvl="1">
              <a:buFont typeface="Arial" pitchFamily="34" charset="0"/>
              <a:buChar char="•"/>
            </a:pPr>
            <a:r>
              <a:rPr lang="en-AU" sz="1200" kern="1200" dirty="0" smtClean="0">
                <a:solidFill>
                  <a:schemeClr val="tx1"/>
                </a:solidFill>
                <a:ea typeface="+mn-ea"/>
                <a:cs typeface="+mn-cs"/>
              </a:rPr>
              <a:t> Determine any rectification work which has to be undertaken to retrieve outcomes which have failed to achieve the required standard</a:t>
            </a:r>
          </a:p>
          <a:p>
            <a:pPr lvl="1">
              <a:buFont typeface="Arial" pitchFamily="34" charset="0"/>
              <a:buChar char="•"/>
            </a:pPr>
            <a:r>
              <a:rPr lang="en-AU" sz="1200" kern="1200" dirty="0" smtClean="0">
                <a:solidFill>
                  <a:schemeClr val="tx1"/>
                </a:solidFill>
                <a:ea typeface="+mn-ea"/>
                <a:cs typeface="+mn-cs"/>
              </a:rPr>
              <a:t> Serve as a warning to providers/staff their work is actually being monitored</a:t>
            </a:r>
          </a:p>
          <a:p>
            <a:pPr lvl="1">
              <a:buFont typeface="Arial" pitchFamily="34" charset="0"/>
              <a:buChar char="•"/>
            </a:pPr>
            <a:endParaRPr lang="en-AU" sz="1200" kern="1200" dirty="0" smtClean="0">
              <a:solidFill>
                <a:schemeClr val="tx1"/>
              </a:solidFill>
              <a:ea typeface="+mn-ea"/>
              <a:cs typeface="+mn-cs"/>
            </a:endParaRPr>
          </a:p>
          <a:p>
            <a:pPr>
              <a:buFont typeface="Arial" pitchFamily="34" charset="0"/>
              <a:buNone/>
            </a:pPr>
            <a:r>
              <a:rPr lang="en-US" dirty="0" smtClean="0"/>
              <a:t>Trainer continues identifying topics for considerations in relation to project management plan when assessing and reviewing progress:</a:t>
            </a:r>
          </a:p>
          <a:p>
            <a:pPr>
              <a:buFont typeface="Arial" pitchFamily="34" charset="0"/>
              <a:buChar char="•"/>
            </a:pPr>
            <a:r>
              <a:rPr lang="en-AU" sz="1200" kern="1200" dirty="0" smtClean="0">
                <a:solidFill>
                  <a:schemeClr val="tx1"/>
                </a:solidFill>
                <a:ea typeface="+mn-ea"/>
                <a:cs typeface="+mn-cs"/>
              </a:rPr>
              <a:t> Customer satisfaction.</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requires attention in terms of the following:</a:t>
            </a:r>
          </a:p>
          <a:p>
            <a:pPr lvl="1">
              <a:buFont typeface="Arial" pitchFamily="34" charset="0"/>
              <a:buChar char="•"/>
            </a:pPr>
            <a:r>
              <a:rPr lang="en-AU" sz="1200" kern="1200" dirty="0" smtClean="0">
                <a:solidFill>
                  <a:schemeClr val="tx1"/>
                </a:solidFill>
                <a:ea typeface="+mn-ea"/>
                <a:cs typeface="+mn-cs"/>
              </a:rPr>
              <a:t> Determining customer response/s to any interruptions or reductions to standard service provision caused by the project</a:t>
            </a:r>
          </a:p>
          <a:p>
            <a:pPr lvl="1">
              <a:buFont typeface="Arial" pitchFamily="34" charset="0"/>
              <a:buChar char="•"/>
            </a:pPr>
            <a:r>
              <a:rPr lang="en-AU" sz="1200" kern="1200" dirty="0" smtClean="0">
                <a:solidFill>
                  <a:schemeClr val="tx1"/>
                </a:solidFill>
                <a:ea typeface="+mn-ea"/>
                <a:cs typeface="+mn-cs"/>
              </a:rPr>
              <a:t> Determining customer satisfaction and response to any aspects of the project with which the guests/customers now have access or are experiencing (such as refurbished rooms, different workplace protocols, new facilities)</a:t>
            </a:r>
          </a:p>
          <a:p>
            <a:pPr lvl="1">
              <a:buFont typeface="Arial" pitchFamily="34" charset="0"/>
              <a:buChar char="•"/>
            </a:pPr>
            <a:r>
              <a:rPr lang="en-AU" sz="1200" kern="1200" dirty="0" smtClean="0">
                <a:solidFill>
                  <a:schemeClr val="tx1"/>
                </a:solidFill>
                <a:ea typeface="+mn-ea"/>
                <a:cs typeface="+mn-cs"/>
              </a:rPr>
              <a:t> Determining the extent to which the project outcomes at this stage have met their expectations</a:t>
            </a:r>
          </a:p>
          <a:p>
            <a:pPr lvl="1">
              <a:buFont typeface="Arial" pitchFamily="34" charset="0"/>
              <a:buChar char="•"/>
            </a:pP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Efficient use of resources which addresses:</a:t>
            </a:r>
          </a:p>
          <a:p>
            <a:pPr lvl="1">
              <a:buFont typeface="Arial" pitchFamily="34" charset="0"/>
              <a:buChar char="•"/>
            </a:pPr>
            <a:r>
              <a:rPr lang="en-AU" sz="1200" kern="1200" dirty="0" smtClean="0">
                <a:solidFill>
                  <a:schemeClr val="tx1"/>
                </a:solidFill>
                <a:ea typeface="+mn-ea"/>
                <a:cs typeface="+mn-cs"/>
              </a:rPr>
              <a:t> Verifying only necessary goods and services have been bought to ensure there is no excess purchasing of things</a:t>
            </a:r>
          </a:p>
          <a:p>
            <a:pPr lvl="1">
              <a:buFont typeface="Arial" pitchFamily="34" charset="0"/>
              <a:buChar char="•"/>
            </a:pPr>
            <a:r>
              <a:rPr lang="en-AU" sz="1200" kern="1200" dirty="0" smtClean="0">
                <a:solidFill>
                  <a:schemeClr val="tx1"/>
                </a:solidFill>
                <a:ea typeface="+mn-ea"/>
                <a:cs typeface="+mn-cs"/>
              </a:rPr>
              <a:t> Checking to ensure waste levels of goods and/or services is not excessive </a:t>
            </a:r>
          </a:p>
          <a:p>
            <a:pPr lvl="1">
              <a:buFont typeface="Arial" pitchFamily="34" charset="0"/>
              <a:buChar char="•"/>
            </a:pPr>
            <a:r>
              <a:rPr lang="en-AU" sz="1200" kern="1200" dirty="0" smtClean="0">
                <a:solidFill>
                  <a:schemeClr val="tx1"/>
                </a:solidFill>
                <a:ea typeface="+mn-ea"/>
                <a:cs typeface="+mn-cs"/>
              </a:rPr>
              <a:t> Monitoring the use of all resources (as identified in the project plan) are being used in accordance with stated need.</a:t>
            </a:r>
          </a:p>
          <a:p>
            <a:pPr>
              <a:buFont typeface="Arial" pitchFamily="34" charset="0"/>
              <a:buNone/>
            </a:pPr>
            <a:endParaRPr lang="en-US" b="0" dirty="0" smtClean="0"/>
          </a:p>
          <a:p>
            <a:pPr>
              <a:buFont typeface="Arial" pitchFamily="34" charset="0"/>
              <a:buNone/>
            </a:pPr>
            <a:r>
              <a:rPr lang="en-US" b="1" dirty="0" smtClean="0"/>
              <a:t>Class Activity – Handout</a:t>
            </a:r>
          </a:p>
          <a:p>
            <a:pPr>
              <a:buFont typeface="Arial" pitchFamily="34" charset="0"/>
              <a:buNone/>
            </a:pPr>
            <a:r>
              <a:rPr lang="en-US" b="0" dirty="0" smtClean="0"/>
              <a:t>Trainer distributes sample project management plan which is used to demonstrate the assessment and reviews (as listed on</a:t>
            </a:r>
            <a:r>
              <a:rPr lang="en-US" b="0" baseline="0" dirty="0" smtClean="0"/>
              <a:t> the slide) which may take place.</a:t>
            </a:r>
          </a:p>
          <a:p>
            <a:pPr>
              <a:buFont typeface="Arial" pitchFamily="34" charset="0"/>
              <a:buNone/>
            </a:pPr>
            <a:endParaRPr lang="en-US" b="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states assessment and review should also address ‘issues arising’:</a:t>
            </a:r>
          </a:p>
          <a:p>
            <a:pPr>
              <a:buFont typeface="Arial" pitchFamily="34" charset="0"/>
              <a:buChar char="•"/>
            </a:pPr>
            <a:r>
              <a:rPr lang="en-AU" sz="1200" kern="1200" dirty="0" smtClean="0">
                <a:solidFill>
                  <a:schemeClr val="tx1"/>
                </a:solidFill>
                <a:ea typeface="+mn-ea"/>
                <a:cs typeface="+mn-cs"/>
              </a:rPr>
              <a:t> Problems with third party providers such as them:</a:t>
            </a:r>
          </a:p>
          <a:p>
            <a:pPr lvl="1">
              <a:buFont typeface="Arial" pitchFamily="34" charset="0"/>
              <a:buChar char="•"/>
            </a:pPr>
            <a:r>
              <a:rPr lang="en-AU" sz="1200" kern="1200" dirty="0" smtClean="0">
                <a:solidFill>
                  <a:schemeClr val="tx1"/>
                </a:solidFill>
                <a:ea typeface="+mn-ea"/>
                <a:cs typeface="+mn-cs"/>
              </a:rPr>
              <a:t> Failing to perform work as promised or contracted</a:t>
            </a:r>
          </a:p>
          <a:p>
            <a:pPr lvl="1">
              <a:buFont typeface="Arial" pitchFamily="34" charset="0"/>
              <a:buChar char="•"/>
            </a:pPr>
            <a:r>
              <a:rPr lang="en-AU" sz="1200" kern="1200" dirty="0" smtClean="0">
                <a:solidFill>
                  <a:schemeClr val="tx1"/>
                </a:solidFill>
                <a:ea typeface="+mn-ea"/>
                <a:cs typeface="+mn-cs"/>
              </a:rPr>
              <a:t> Not finishing work by the required date</a:t>
            </a:r>
          </a:p>
          <a:p>
            <a:pPr lvl="1">
              <a:buFont typeface="Arial" pitchFamily="34" charset="0"/>
              <a:buChar char="•"/>
            </a:pPr>
            <a:r>
              <a:rPr lang="en-AU" sz="1200" kern="1200" dirty="0" smtClean="0">
                <a:solidFill>
                  <a:schemeClr val="tx1"/>
                </a:solidFill>
                <a:ea typeface="+mn-ea"/>
                <a:cs typeface="+mn-cs"/>
              </a:rPr>
              <a:t> Using sub-standard materials</a:t>
            </a:r>
          </a:p>
          <a:p>
            <a:pPr lvl="1">
              <a:buFont typeface="Arial" pitchFamily="34" charset="0"/>
              <a:buChar char="•"/>
            </a:pPr>
            <a:r>
              <a:rPr lang="en-AU" sz="1200" kern="1200" dirty="0" smtClean="0">
                <a:solidFill>
                  <a:schemeClr val="tx1"/>
                </a:solidFill>
                <a:ea typeface="+mn-ea"/>
                <a:cs typeface="+mn-cs"/>
              </a:rPr>
              <a:t> Imposing price increases</a:t>
            </a:r>
          </a:p>
          <a:p>
            <a:pPr>
              <a:buFont typeface="Arial" pitchFamily="34" charset="0"/>
              <a:buChar char="•"/>
            </a:pPr>
            <a:r>
              <a:rPr lang="en-AU" sz="1200" kern="1200" dirty="0" smtClean="0">
                <a:solidFill>
                  <a:schemeClr val="tx1"/>
                </a:solidFill>
                <a:ea typeface="+mn-ea"/>
                <a:cs typeface="+mn-cs"/>
              </a:rPr>
              <a:t> Difficulties with the work/project teams such as:</a:t>
            </a:r>
          </a:p>
          <a:p>
            <a:pPr lvl="1">
              <a:buFont typeface="Arial" pitchFamily="34" charset="0"/>
              <a:buChar char="•"/>
            </a:pPr>
            <a:r>
              <a:rPr lang="en-AU" sz="1200" kern="1200" dirty="0" smtClean="0">
                <a:solidFill>
                  <a:schemeClr val="tx1"/>
                </a:solidFill>
                <a:ea typeface="+mn-ea"/>
                <a:cs typeface="+mn-cs"/>
              </a:rPr>
              <a:t> Internal conflict within the team</a:t>
            </a:r>
          </a:p>
          <a:p>
            <a:pPr lvl="1">
              <a:buFont typeface="Arial" pitchFamily="34" charset="0"/>
              <a:buChar char="•"/>
            </a:pPr>
            <a:r>
              <a:rPr lang="en-AU" sz="1200" kern="1200" dirty="0" smtClean="0">
                <a:solidFill>
                  <a:schemeClr val="tx1"/>
                </a:solidFill>
                <a:ea typeface="+mn-ea"/>
                <a:cs typeface="+mn-cs"/>
              </a:rPr>
              <a:t> Other areas of the venue demanding team members work on other tasks</a:t>
            </a:r>
          </a:p>
          <a:p>
            <a:pPr lvl="1">
              <a:buFont typeface="Arial" pitchFamily="34" charset="0"/>
              <a:buChar char="•"/>
            </a:pPr>
            <a:r>
              <a:rPr lang="en-AU" sz="1200" kern="1200" dirty="0" smtClean="0">
                <a:solidFill>
                  <a:schemeClr val="tx1"/>
                </a:solidFill>
                <a:ea typeface="+mn-ea"/>
                <a:cs typeface="+mn-cs"/>
              </a:rPr>
              <a:t> Individual not being able to perform as expected</a:t>
            </a:r>
          </a:p>
          <a:p>
            <a:pPr>
              <a:buFont typeface="Arial" pitchFamily="34" charset="0"/>
              <a:buChar char="•"/>
            </a:pPr>
            <a:r>
              <a:rPr lang="en-AU" sz="1200" kern="1200" dirty="0" smtClean="0">
                <a:solidFill>
                  <a:schemeClr val="tx1"/>
                </a:solidFill>
                <a:ea typeface="+mn-ea"/>
                <a:cs typeface="+mn-cs"/>
              </a:rPr>
              <a:t> Issues involving the client/delegating body such as:</a:t>
            </a:r>
          </a:p>
          <a:p>
            <a:pPr lvl="1">
              <a:buFont typeface="Arial" pitchFamily="34" charset="0"/>
              <a:buChar char="•"/>
            </a:pPr>
            <a:r>
              <a:rPr lang="en-AU" sz="1200" kern="1200" dirty="0" smtClean="0">
                <a:solidFill>
                  <a:schemeClr val="tx1"/>
                </a:solidFill>
                <a:ea typeface="+mn-ea"/>
                <a:cs typeface="+mn-cs"/>
              </a:rPr>
              <a:t> Changing their mind about previously agreed arrangements</a:t>
            </a:r>
          </a:p>
          <a:p>
            <a:pPr lvl="1">
              <a:buFont typeface="Arial" pitchFamily="34" charset="0"/>
              <a:buChar char="•"/>
            </a:pPr>
            <a:r>
              <a:rPr lang="en-AU" sz="1200" kern="1200" dirty="0" smtClean="0">
                <a:solidFill>
                  <a:schemeClr val="tx1"/>
                </a:solidFill>
                <a:ea typeface="+mn-ea"/>
                <a:cs typeface="+mn-cs"/>
              </a:rPr>
              <a:t> Wanting more for the same money now you are committed to and have started the project</a:t>
            </a:r>
          </a:p>
          <a:p>
            <a:pPr lvl="1">
              <a:buFont typeface="Arial" pitchFamily="34" charset="0"/>
              <a:buChar char="•"/>
            </a:pPr>
            <a:r>
              <a:rPr lang="en-AU" sz="1200" kern="1200" dirty="0" smtClean="0">
                <a:solidFill>
                  <a:schemeClr val="tx1"/>
                </a:solidFill>
                <a:ea typeface="+mn-ea"/>
                <a:cs typeface="+mn-cs"/>
              </a:rPr>
              <a:t> Inability to communicate as and when needed with them to seek advice and direction</a:t>
            </a:r>
          </a:p>
          <a:p>
            <a:pPr>
              <a:buFont typeface="Arial" pitchFamily="34" charset="0"/>
              <a:buChar char="•"/>
            </a:pPr>
            <a:r>
              <a:rPr lang="en-AU" sz="1200" kern="1200" dirty="0" smtClean="0">
                <a:solidFill>
                  <a:schemeClr val="tx1"/>
                </a:solidFill>
                <a:ea typeface="+mn-ea"/>
                <a:cs typeface="+mn-cs"/>
              </a:rPr>
              <a:t> Lack of cooperation from internal sources such as:</a:t>
            </a:r>
          </a:p>
          <a:p>
            <a:pPr lvl="1">
              <a:buFont typeface="Arial" pitchFamily="34" charset="0"/>
              <a:buChar char="•"/>
            </a:pPr>
            <a:r>
              <a:rPr lang="en-AU" sz="1200" kern="1200" dirty="0" smtClean="0">
                <a:solidFill>
                  <a:schemeClr val="tx1"/>
                </a:solidFill>
                <a:ea typeface="+mn-ea"/>
                <a:cs typeface="+mn-cs"/>
              </a:rPr>
              <a:t> Other departments/supervisors not releasing the staff you want to work on the project</a:t>
            </a:r>
          </a:p>
          <a:p>
            <a:pPr lvl="1">
              <a:buFont typeface="Arial" pitchFamily="34" charset="0"/>
              <a:buChar char="•"/>
            </a:pPr>
            <a:r>
              <a:rPr lang="en-AU" sz="1200" kern="1200" dirty="0" smtClean="0">
                <a:solidFill>
                  <a:schemeClr val="tx1"/>
                </a:solidFill>
                <a:ea typeface="+mn-ea"/>
                <a:cs typeface="+mn-cs"/>
              </a:rPr>
              <a:t> Slow processing of requests such as purchase orders, requisitions, payments and general paperwork</a:t>
            </a:r>
          </a:p>
          <a:p>
            <a:pPr>
              <a:buFont typeface="Arial" pitchFamily="34" charset="0"/>
              <a:buChar char="•"/>
            </a:pPr>
            <a:r>
              <a:rPr lang="en-AU" sz="1200" kern="1200" dirty="0" smtClean="0">
                <a:solidFill>
                  <a:schemeClr val="tx1"/>
                </a:solidFill>
                <a:ea typeface="+mn-ea"/>
                <a:cs typeface="+mn-cs"/>
              </a:rPr>
              <a:t> Involvement of external agencies or authorities who may:</a:t>
            </a:r>
          </a:p>
          <a:p>
            <a:pPr lvl="1">
              <a:buFont typeface="Arial" pitchFamily="34" charset="0"/>
              <a:buChar char="•"/>
            </a:pPr>
            <a:r>
              <a:rPr lang="en-AU" sz="1200" kern="1200" dirty="0" smtClean="0">
                <a:solidFill>
                  <a:schemeClr val="tx1"/>
                </a:solidFill>
                <a:ea typeface="+mn-ea"/>
                <a:cs typeface="+mn-cs"/>
              </a:rPr>
              <a:t> Impose extra compliance requirements on the project as the project progresses and inspectors identify additional requirements they believe you must comply with.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and</a:t>
            </a:r>
            <a:r>
              <a:rPr lang="en-US" baseline="0" dirty="0" smtClean="0"/>
              <a:t> explains </a:t>
            </a:r>
            <a:r>
              <a:rPr lang="en-AU" sz="1200" kern="1200" dirty="0" smtClean="0">
                <a:solidFill>
                  <a:schemeClr val="tx1"/>
                </a:solidFill>
                <a:ea typeface="+mn-ea"/>
                <a:cs typeface="+mn-cs"/>
              </a:rPr>
              <a:t>techniques to optimise effective assessment and review of project progress:</a:t>
            </a:r>
          </a:p>
          <a:p>
            <a:pPr>
              <a:buFont typeface="Arial" pitchFamily="34" charset="0"/>
              <a:buChar char="•"/>
            </a:pPr>
            <a:r>
              <a:rPr lang="en-AU" sz="1200" kern="1200" dirty="0" smtClean="0">
                <a:solidFill>
                  <a:schemeClr val="tx1"/>
                </a:solidFill>
                <a:ea typeface="+mn-ea"/>
                <a:cs typeface="+mn-cs"/>
              </a:rPr>
              <a:t> Schedule time for regular assessment and review.</a:t>
            </a:r>
            <a:r>
              <a:rPr lang="en-AU" sz="1200" kern="1200" baseline="0" dirty="0" smtClean="0">
                <a:solidFill>
                  <a:schemeClr val="tx1"/>
                </a:solidFill>
                <a:ea typeface="+mn-ea"/>
                <a:cs typeface="+mn-cs"/>
              </a:rPr>
              <a:t> Y</a:t>
            </a:r>
            <a:r>
              <a:rPr lang="en-AU" sz="1200" kern="1200" dirty="0" smtClean="0">
                <a:solidFill>
                  <a:schemeClr val="tx1"/>
                </a:solidFill>
                <a:ea typeface="+mn-ea"/>
                <a:cs typeface="+mn-cs"/>
              </a:rPr>
              <a:t>ou must allocate time for this aspect of project management: never assume you will be able to ‘make time’ for it or that you will have enough time to undertake this activity</a:t>
            </a:r>
          </a:p>
          <a:p>
            <a:pPr>
              <a:buFont typeface="Arial" pitchFamily="34" charset="0"/>
              <a:buChar char="•"/>
            </a:pPr>
            <a:r>
              <a:rPr lang="en-AU" sz="1200" kern="1200" dirty="0" smtClean="0">
                <a:solidFill>
                  <a:schemeClr val="tx1"/>
                </a:solidFill>
                <a:ea typeface="+mn-ea"/>
                <a:cs typeface="+mn-cs"/>
              </a:rPr>
              <a:t> Plan meetings with the team and relevant stakeholders to discuss progress and advise them well in advance of when and where these will take place</a:t>
            </a:r>
          </a:p>
          <a:p>
            <a:pPr>
              <a:buFont typeface="Arial" pitchFamily="34" charset="0"/>
              <a:buChar char="•"/>
            </a:pPr>
            <a:r>
              <a:rPr lang="en-AU" sz="1200" kern="1200" dirty="0" smtClean="0">
                <a:solidFill>
                  <a:schemeClr val="tx1"/>
                </a:solidFill>
                <a:ea typeface="+mn-ea"/>
                <a:cs typeface="+mn-cs"/>
              </a:rPr>
              <a:t> Do your own analysis first before you participate in assessment and review with the team.</a:t>
            </a:r>
          </a:p>
          <a:p>
            <a:pPr lvl="1">
              <a:buFont typeface="Arial" pitchFamily="34" charset="0"/>
              <a:buChar char="•"/>
            </a:pPr>
            <a:r>
              <a:rPr lang="en-AU" sz="1200" kern="1200" dirty="0" smtClean="0">
                <a:solidFill>
                  <a:schemeClr val="tx1"/>
                </a:solidFill>
                <a:ea typeface="+mn-ea"/>
                <a:cs typeface="+mn-cs"/>
              </a:rPr>
              <a:t> You need to develop your own perspective on where things are at before you engage with others on this topic.</a:t>
            </a:r>
          </a:p>
          <a:p>
            <a:pPr lvl="1">
              <a:buFont typeface="Arial" pitchFamily="34" charset="0"/>
              <a:buChar char="•"/>
            </a:pP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Engage with the project team and other relevant stakeholders as part of the process.</a:t>
            </a:r>
          </a:p>
          <a:p>
            <a:pPr lvl="1">
              <a:buFont typeface="Arial" pitchFamily="34" charset="0"/>
              <a:buChar char="•"/>
            </a:pPr>
            <a:r>
              <a:rPr lang="en-AU" sz="1200" kern="1200" dirty="0" smtClean="0">
                <a:solidFill>
                  <a:schemeClr val="tx1"/>
                </a:solidFill>
                <a:ea typeface="+mn-ea"/>
                <a:cs typeface="+mn-cs"/>
              </a:rPr>
              <a:t> They will be able to contribute valuable insight and information and they need to be made aware of how you (as the one responsible for the project) have evaluated the progress.</a:t>
            </a:r>
          </a:p>
          <a:p>
            <a:pPr lvl="1">
              <a:buFont typeface="Arial" pitchFamily="34" charset="0"/>
              <a:buChar char="•"/>
            </a:pPr>
            <a:endParaRPr lang="en-AU" sz="1200" kern="1200" dirty="0" smtClean="0">
              <a:solidFill>
                <a:schemeClr val="tx1"/>
              </a:solidFill>
              <a:ea typeface="+mn-ea"/>
              <a:cs typeface="+mn-cs"/>
            </a:endParaRPr>
          </a:p>
          <a:p>
            <a:pPr>
              <a:buFont typeface="Arial" pitchFamily="34" charset="0"/>
              <a:buNone/>
            </a:pPr>
            <a:r>
              <a:rPr lang="en-US" dirty="0" smtClean="0"/>
              <a:t>Trainer continues presenting ways to effectively assess and review project progress:</a:t>
            </a:r>
          </a:p>
          <a:p>
            <a:pPr>
              <a:buFont typeface="Arial" pitchFamily="34" charset="0"/>
              <a:buChar char="•"/>
            </a:pPr>
            <a:r>
              <a:rPr lang="en-AU" sz="1200" kern="1200" dirty="0" smtClean="0">
                <a:solidFill>
                  <a:schemeClr val="tx1"/>
                </a:solidFill>
                <a:ea typeface="+mn-ea"/>
                <a:cs typeface="+mn-cs"/>
              </a:rPr>
              <a:t> Tell the team exactly what is the focus for </a:t>
            </a:r>
            <a:r>
              <a:rPr lang="en-AU" sz="1200" i="1" kern="1200" dirty="0" smtClean="0">
                <a:solidFill>
                  <a:schemeClr val="tx1"/>
                </a:solidFill>
                <a:ea typeface="+mn-ea"/>
                <a:cs typeface="+mn-cs"/>
              </a:rPr>
              <a:t>this</a:t>
            </a:r>
            <a:r>
              <a:rPr lang="en-AU" sz="1200" kern="1200" dirty="0" smtClean="0">
                <a:solidFill>
                  <a:schemeClr val="tx1"/>
                </a:solidFill>
                <a:ea typeface="+mn-ea"/>
                <a:cs typeface="+mn-cs"/>
              </a:rPr>
              <a:t> assessment and review so they are certain about the aim of the process and know what is </a:t>
            </a:r>
            <a:r>
              <a:rPr lang="en-AU" sz="1200" i="1" kern="1200" dirty="0" smtClean="0">
                <a:solidFill>
                  <a:schemeClr val="tx1"/>
                </a:solidFill>
                <a:ea typeface="+mn-ea"/>
                <a:cs typeface="+mn-cs"/>
              </a:rPr>
              <a:t>not</a:t>
            </a:r>
            <a:r>
              <a:rPr lang="en-AU" sz="1200" kern="1200" dirty="0" smtClean="0">
                <a:solidFill>
                  <a:schemeClr val="tx1"/>
                </a:solidFill>
                <a:ea typeface="+mn-ea"/>
                <a:cs typeface="+mn-cs"/>
              </a:rPr>
              <a:t> being considered.</a:t>
            </a:r>
          </a:p>
          <a:p>
            <a:pPr lvl="1">
              <a:buFont typeface="Arial" pitchFamily="34" charset="0"/>
              <a:buChar char="•"/>
            </a:pPr>
            <a:r>
              <a:rPr lang="en-AU" sz="1200" kern="1200" dirty="0" smtClean="0">
                <a:solidFill>
                  <a:schemeClr val="tx1"/>
                </a:solidFill>
                <a:ea typeface="+mn-ea"/>
                <a:cs typeface="+mn-cs"/>
              </a:rPr>
              <a:t> Make sure they have access to the agreed project management plan so they can refer to the topics being discussed and can see for themselves the targets//outcomes being considered were actually contained in the plan at the outset.</a:t>
            </a:r>
          </a:p>
          <a:p>
            <a:pPr>
              <a:buFont typeface="Arial" pitchFamily="34" charset="0"/>
              <a:buChar char="•"/>
            </a:pPr>
            <a:r>
              <a:rPr lang="en-AU" sz="1200" kern="1200" dirty="0" smtClean="0">
                <a:solidFill>
                  <a:schemeClr val="tx1"/>
                </a:solidFill>
                <a:ea typeface="+mn-ea"/>
                <a:cs typeface="+mn-cs"/>
              </a:rPr>
              <a:t> Make sure you have allocated sufficient time for this process and for all meetings which need to take pace as part of the process.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assessment and review meetings </a:t>
            </a:r>
            <a:r>
              <a:rPr lang="en-AU" sz="1200" b="1" kern="1200" dirty="0" smtClean="0">
                <a:solidFill>
                  <a:schemeClr val="tx1"/>
                </a:solidFill>
                <a:ea typeface="+mn-ea"/>
                <a:cs typeface="+mn-cs"/>
              </a:rPr>
              <a:t>always</a:t>
            </a:r>
            <a:r>
              <a:rPr lang="en-AU" sz="1200" kern="1200" dirty="0" smtClean="0">
                <a:solidFill>
                  <a:schemeClr val="tx1"/>
                </a:solidFill>
                <a:ea typeface="+mn-ea"/>
                <a:cs typeface="+mn-cs"/>
              </a:rPr>
              <a:t> take longer than you would expect. This is because:</a:t>
            </a:r>
          </a:p>
          <a:p>
            <a:pPr lvl="1">
              <a:buFont typeface="Arial" pitchFamily="34" charset="0"/>
              <a:buChar char="•"/>
            </a:pPr>
            <a:r>
              <a:rPr lang="en-AU" sz="1200" kern="1200" dirty="0" smtClean="0">
                <a:solidFill>
                  <a:schemeClr val="tx1"/>
                </a:solidFill>
                <a:ea typeface="+mn-ea"/>
                <a:cs typeface="+mn-cs"/>
              </a:rPr>
              <a:t> It is possible for different people to judge ‘progress’ in different ways.</a:t>
            </a:r>
            <a:r>
              <a:rPr lang="en-AU" sz="1200" kern="1200" baseline="0" dirty="0" smtClean="0">
                <a:solidFill>
                  <a:schemeClr val="tx1"/>
                </a:solidFill>
                <a:ea typeface="+mn-ea"/>
                <a:cs typeface="+mn-cs"/>
              </a:rPr>
              <a:t> N</a:t>
            </a:r>
            <a:r>
              <a:rPr lang="en-AU" sz="1200" kern="1200" dirty="0" smtClean="0">
                <a:solidFill>
                  <a:schemeClr val="tx1"/>
                </a:solidFill>
                <a:ea typeface="+mn-ea"/>
                <a:cs typeface="+mn-cs"/>
              </a:rPr>
              <a:t>ot everyone sees progress in the same way: certainly </a:t>
            </a:r>
            <a:r>
              <a:rPr lang="en-AU" sz="1200" i="1" kern="1200" dirty="0" smtClean="0">
                <a:solidFill>
                  <a:schemeClr val="tx1"/>
                </a:solidFill>
                <a:ea typeface="+mn-ea"/>
                <a:cs typeface="+mn-cs"/>
              </a:rPr>
              <a:t>your</a:t>
            </a:r>
            <a:r>
              <a:rPr lang="en-AU" sz="1200" kern="1200" dirty="0" smtClean="0">
                <a:solidFill>
                  <a:schemeClr val="tx1"/>
                </a:solidFill>
                <a:ea typeface="+mn-ea"/>
                <a:cs typeface="+mn-cs"/>
              </a:rPr>
              <a:t> interpretation of progress is likely to be different to that of the team members to some extent regardless of how objective you try to be</a:t>
            </a:r>
          </a:p>
          <a:p>
            <a:pPr lvl="1">
              <a:buFont typeface="Arial" pitchFamily="34" charset="0"/>
              <a:buChar char="•"/>
            </a:pPr>
            <a:r>
              <a:rPr lang="en-AU" sz="1200" kern="1200" dirty="0" smtClean="0">
                <a:solidFill>
                  <a:schemeClr val="tx1"/>
                </a:solidFill>
                <a:ea typeface="+mn-ea"/>
                <a:cs typeface="+mn-cs"/>
              </a:rPr>
              <a:t> Team members can become very defensive when their work is criticized (no matter how sensitively you do it) and you need to spend some time supporting them and addressing personal issues which will emerge as a result</a:t>
            </a:r>
          </a:p>
          <a:p>
            <a:pPr lvl="1">
              <a:buFont typeface="Arial" pitchFamily="34" charset="0"/>
              <a:buChar char="•"/>
            </a:pPr>
            <a:r>
              <a:rPr lang="en-AU" sz="1200" kern="1200" dirty="0" smtClean="0">
                <a:solidFill>
                  <a:schemeClr val="tx1"/>
                </a:solidFill>
                <a:ea typeface="+mn-ea"/>
                <a:cs typeface="+mn-cs"/>
              </a:rPr>
              <a:t> There can be significant discussion and debate over the remedial action which needs to be taken to retrieve a situation which is ‘out of control’</a:t>
            </a:r>
          </a:p>
          <a:p>
            <a:pPr lvl="1">
              <a:buFont typeface="Arial" pitchFamily="34" charset="0"/>
              <a:buChar char="•"/>
            </a:pPr>
            <a:r>
              <a:rPr lang="en-AU" sz="1200" kern="1200" dirty="0" smtClean="0">
                <a:solidFill>
                  <a:schemeClr val="tx1"/>
                </a:solidFill>
                <a:ea typeface="+mn-ea"/>
                <a:cs typeface="+mn-cs"/>
              </a:rPr>
              <a:t> There are nearly always considerable contributions relating to the ‘issues arising’ part of the process</a:t>
            </a:r>
          </a:p>
          <a:p>
            <a:pPr lvl="1">
              <a:buFont typeface="Arial" pitchFamily="34" charset="0"/>
              <a:buChar char="•"/>
            </a:pP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Refresh the project team about why the assessment and review needs to occur so they understand the reasons for it and do not simply think you are ‘checking up’ on them and their work.</a:t>
            </a:r>
          </a:p>
          <a:p>
            <a:pPr lvl="1">
              <a:buFont typeface="Arial" pitchFamily="34" charset="0"/>
              <a:buChar char="•"/>
            </a:pPr>
            <a:r>
              <a:rPr lang="en-AU" sz="1200" kern="1200" dirty="0" smtClean="0">
                <a:solidFill>
                  <a:schemeClr val="tx1"/>
                </a:solidFill>
                <a:ea typeface="+mn-ea"/>
                <a:cs typeface="+mn-cs"/>
              </a:rPr>
              <a:t> Remind them they were advised this process was a standard part of your intentions for project management, and is not an indication something is wrong, you are displeased or the client is upset.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ways to effectively assess and review project progress:</a:t>
            </a:r>
          </a:p>
          <a:p>
            <a:pPr>
              <a:buFont typeface="Arial" pitchFamily="34" charset="0"/>
              <a:buChar char="•"/>
            </a:pPr>
            <a:r>
              <a:rPr lang="en-AU" sz="1200" kern="1200" dirty="0" smtClean="0">
                <a:solidFill>
                  <a:schemeClr val="tx1"/>
                </a:solidFill>
                <a:ea typeface="+mn-ea"/>
                <a:cs typeface="+mn-cs"/>
              </a:rPr>
              <a:t> Conducting workplace inspections of project-related completed activities and activities in-progress with members of the project team so everyone can see the progress at the same time and there is therefore less uncertainty about:</a:t>
            </a:r>
          </a:p>
          <a:p>
            <a:pPr lvl="1">
              <a:buFont typeface="Arial" pitchFamily="34" charset="0"/>
              <a:buChar char="•"/>
            </a:pPr>
            <a:r>
              <a:rPr lang="en-AU" sz="1200" kern="1200" dirty="0" smtClean="0">
                <a:solidFill>
                  <a:schemeClr val="tx1"/>
                </a:solidFill>
                <a:ea typeface="+mn-ea"/>
                <a:cs typeface="+mn-cs"/>
              </a:rPr>
              <a:t> What has been done</a:t>
            </a:r>
          </a:p>
          <a:p>
            <a:pPr lvl="1">
              <a:buFont typeface="Arial" pitchFamily="34" charset="0"/>
              <a:buChar char="•"/>
            </a:pPr>
            <a:r>
              <a:rPr lang="en-AU" sz="1200" kern="1200" dirty="0" smtClean="0">
                <a:solidFill>
                  <a:schemeClr val="tx1"/>
                </a:solidFill>
                <a:ea typeface="+mn-ea"/>
                <a:cs typeface="+mn-cs"/>
              </a:rPr>
              <a:t> The quality of the work which has been done</a:t>
            </a:r>
          </a:p>
          <a:p>
            <a:pPr lvl="1">
              <a:buFont typeface="Arial" pitchFamily="34" charset="0"/>
              <a:buChar char="•"/>
            </a:pPr>
            <a:r>
              <a:rPr lang="en-AU" sz="1200" kern="1200" dirty="0" smtClean="0">
                <a:solidFill>
                  <a:schemeClr val="tx1"/>
                </a:solidFill>
                <a:ea typeface="+mn-ea"/>
                <a:cs typeface="+mn-cs"/>
              </a:rPr>
              <a:t> Physical problems which exist or can be seen as emerging</a:t>
            </a:r>
          </a:p>
          <a:p>
            <a:pPr>
              <a:buFont typeface="Arial" pitchFamily="34" charset="0"/>
              <a:buChar char="•"/>
            </a:pPr>
            <a:r>
              <a:rPr lang="en-AU" sz="1200" kern="1200" dirty="0" smtClean="0">
                <a:solidFill>
                  <a:schemeClr val="tx1"/>
                </a:solidFill>
                <a:ea typeface="+mn-ea"/>
                <a:cs typeface="+mn-cs"/>
              </a:rPr>
              <a:t> Using actual ‘evidence’ as the basis for the assessment and review.</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 aim must be to use </a:t>
            </a:r>
            <a:r>
              <a:rPr lang="en-AU" sz="1200" i="1" kern="1200" dirty="0" smtClean="0">
                <a:solidFill>
                  <a:schemeClr val="tx1"/>
                </a:solidFill>
                <a:ea typeface="+mn-ea"/>
                <a:cs typeface="+mn-cs"/>
              </a:rPr>
              <a:t>objective</a:t>
            </a:r>
            <a:r>
              <a:rPr lang="en-AU" sz="1200" kern="1200" dirty="0" smtClean="0">
                <a:solidFill>
                  <a:schemeClr val="tx1"/>
                </a:solidFill>
                <a:ea typeface="+mn-ea"/>
                <a:cs typeface="+mn-cs"/>
              </a:rPr>
              <a:t> proof as the basis for process. This will include:</a:t>
            </a:r>
          </a:p>
          <a:p>
            <a:pPr lvl="1">
              <a:buFont typeface="Arial" pitchFamily="34" charset="0"/>
              <a:buChar char="•"/>
            </a:pPr>
            <a:r>
              <a:rPr lang="en-AU" sz="1200" kern="1200" dirty="0" smtClean="0">
                <a:solidFill>
                  <a:schemeClr val="tx1"/>
                </a:solidFill>
                <a:ea typeface="+mn-ea"/>
                <a:cs typeface="+mn-cs"/>
              </a:rPr>
              <a:t> Conducting workplace inspections</a:t>
            </a:r>
          </a:p>
          <a:p>
            <a:pPr lvl="1">
              <a:buFont typeface="Arial" pitchFamily="34" charset="0"/>
              <a:buChar char="•"/>
            </a:pPr>
            <a:r>
              <a:rPr lang="en-AU" sz="1200" kern="1200" dirty="0" smtClean="0">
                <a:solidFill>
                  <a:schemeClr val="tx1"/>
                </a:solidFill>
                <a:ea typeface="+mn-ea"/>
                <a:cs typeface="+mn-cs"/>
              </a:rPr>
              <a:t> Making actual reference to relevant documentation as opposed to basing decisions/thoughts on memory</a:t>
            </a:r>
          </a:p>
          <a:p>
            <a:pPr lvl="1">
              <a:buFont typeface="Arial" pitchFamily="34" charset="0"/>
              <a:buChar char="•"/>
            </a:pPr>
            <a:r>
              <a:rPr lang="en-AU" sz="1200" kern="1200" dirty="0" smtClean="0">
                <a:solidFill>
                  <a:schemeClr val="tx1"/>
                </a:solidFill>
                <a:ea typeface="+mn-ea"/>
                <a:cs typeface="+mn-cs"/>
              </a:rPr>
              <a:t> Using actual statistics and data in order to make judgements as distinct from using half-truths and ‘beliefs’</a:t>
            </a:r>
          </a:p>
          <a:p>
            <a:pPr>
              <a:buFont typeface="Arial" pitchFamily="34" charset="0"/>
              <a:buChar char="•"/>
            </a:pPr>
            <a:r>
              <a:rPr lang="en-AU" sz="1200" kern="1200" dirty="0" smtClean="0">
                <a:solidFill>
                  <a:schemeClr val="tx1"/>
                </a:solidFill>
                <a:ea typeface="+mn-ea"/>
                <a:cs typeface="+mn-cs"/>
              </a:rPr>
              <a:t> Advising the team members of the possible implications if the plan cannot be achieved according to the plan prepared for it so they understand a lack of progress has consequences and they are well aware of what these might be</a:t>
            </a:r>
          </a:p>
          <a:p>
            <a:pPr>
              <a:buFont typeface="Arial" pitchFamily="34" charset="0"/>
              <a:buChar char="•"/>
            </a:pPr>
            <a:r>
              <a:rPr lang="en-AU" sz="1200" kern="1200" dirty="0" smtClean="0">
                <a:solidFill>
                  <a:schemeClr val="tx1"/>
                </a:solidFill>
                <a:ea typeface="+mn-ea"/>
                <a:cs typeface="+mn-cs"/>
              </a:rPr>
              <a:t> Ensuring the assessment and review process is a positive one for those involved.</a:t>
            </a:r>
          </a:p>
          <a:p>
            <a:pPr lvl="1">
              <a:buFont typeface="Arial" pitchFamily="34" charset="0"/>
              <a:buChar char="•"/>
            </a:pPr>
            <a:r>
              <a:rPr lang="en-AU" sz="1200" kern="1200" dirty="0" smtClean="0">
                <a:solidFill>
                  <a:schemeClr val="tx1"/>
                </a:solidFill>
                <a:ea typeface="+mn-ea"/>
                <a:cs typeface="+mn-cs"/>
              </a:rPr>
              <a:t> This can be difficult to achieve where it is obvious the project is behind schedule or otherwise failing to meet the deliverables set for it.</a:t>
            </a:r>
          </a:p>
          <a:p>
            <a:pPr lvl="1">
              <a:buFont typeface="Arial" pitchFamily="34" charset="0"/>
              <a:buChar char="•"/>
            </a:pPr>
            <a:r>
              <a:rPr lang="en-AU" sz="1200" kern="1200" dirty="0" smtClean="0">
                <a:solidFill>
                  <a:schemeClr val="tx1"/>
                </a:solidFill>
                <a:ea typeface="+mn-ea"/>
                <a:cs typeface="+mn-cs"/>
              </a:rPr>
              <a:t> This, however, underlines the need for you to plan the meeting so you can:</a:t>
            </a:r>
          </a:p>
          <a:p>
            <a:pPr lvl="2">
              <a:buFont typeface="Arial" pitchFamily="34" charset="0"/>
              <a:buChar char="•"/>
            </a:pPr>
            <a:r>
              <a:rPr lang="en-AU" sz="1200" kern="1200" dirty="0" smtClean="0">
                <a:solidFill>
                  <a:schemeClr val="tx1"/>
                </a:solidFill>
                <a:ea typeface="+mn-ea"/>
                <a:cs typeface="+mn-cs"/>
              </a:rPr>
              <a:t> Identify and draw attention to the positives which exist and there will always be some of these if you look hard enough</a:t>
            </a:r>
          </a:p>
          <a:p>
            <a:pPr lvl="2">
              <a:buFont typeface="Arial" pitchFamily="34" charset="0"/>
              <a:buChar char="•"/>
            </a:pPr>
            <a:r>
              <a:rPr lang="en-AU" sz="1200" kern="1200" dirty="0" smtClean="0">
                <a:solidFill>
                  <a:schemeClr val="tx1"/>
                </a:solidFill>
                <a:ea typeface="+mn-ea"/>
                <a:cs typeface="+mn-cs"/>
              </a:rPr>
              <a:t> Remain positive in your approach and demeanour.</a:t>
            </a:r>
            <a:r>
              <a:rPr lang="en-AU" sz="1200" kern="1200" baseline="0" dirty="0" smtClean="0">
                <a:solidFill>
                  <a:schemeClr val="tx1"/>
                </a:solidFill>
                <a:ea typeface="+mn-ea"/>
                <a:cs typeface="+mn-cs"/>
              </a:rPr>
              <a:t> I</a:t>
            </a:r>
            <a:r>
              <a:rPr lang="en-AU" sz="1200" kern="1200" dirty="0" smtClean="0">
                <a:solidFill>
                  <a:schemeClr val="tx1"/>
                </a:solidFill>
                <a:ea typeface="+mn-ea"/>
                <a:cs typeface="+mn-cs"/>
              </a:rPr>
              <a:t>f you are down-beat and pessimistic this will rub off on the team</a:t>
            </a:r>
          </a:p>
          <a:p>
            <a:pPr lvl="2">
              <a:buFont typeface="Arial" pitchFamily="34" charset="0"/>
              <a:buChar char="•"/>
            </a:pPr>
            <a:r>
              <a:rPr lang="en-AU" sz="1200" kern="1200" dirty="0" smtClean="0">
                <a:solidFill>
                  <a:schemeClr val="tx1"/>
                </a:solidFill>
                <a:ea typeface="+mn-ea"/>
                <a:cs typeface="+mn-cs"/>
              </a:rPr>
              <a:t> Explain how the situation may be retrieved and brought back on track.</a:t>
            </a:r>
          </a:p>
          <a:p>
            <a:pPr>
              <a:buFont typeface="Arial" pitchFamily="34" charset="0"/>
              <a:buChar char="•"/>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requirements relating to need to identify need for extra resources:</a:t>
            </a:r>
          </a:p>
          <a:p>
            <a:pPr>
              <a:buFont typeface="Arial" pitchFamily="34" charset="0"/>
              <a:buChar char="•"/>
            </a:pPr>
            <a:r>
              <a:rPr lang="en-AU" sz="1200" kern="1200" dirty="0" smtClean="0">
                <a:solidFill>
                  <a:schemeClr val="tx1"/>
                </a:solidFill>
                <a:ea typeface="+mn-ea"/>
                <a:cs typeface="+mn-cs"/>
              </a:rPr>
              <a:t> As soon as possible.</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 quicker you identify these the more time you have to plan how to obtain them and to take necessary action to acquire them</a:t>
            </a:r>
          </a:p>
          <a:p>
            <a:pPr>
              <a:buFont typeface="Arial" pitchFamily="34" charset="0"/>
              <a:buChar char="•"/>
            </a:pPr>
            <a:r>
              <a:rPr lang="en-AU" sz="1200" kern="1200" dirty="0" smtClean="0">
                <a:solidFill>
                  <a:schemeClr val="tx1"/>
                </a:solidFill>
                <a:ea typeface="+mn-ea"/>
                <a:cs typeface="+mn-cs"/>
              </a:rPr>
              <a:t> Across all resource types.</a:t>
            </a:r>
            <a:r>
              <a:rPr lang="en-AU" sz="1200" kern="1200" baseline="0" dirty="0" smtClean="0">
                <a:solidFill>
                  <a:schemeClr val="tx1"/>
                </a:solidFill>
                <a:ea typeface="+mn-ea"/>
                <a:cs typeface="+mn-cs"/>
              </a:rPr>
              <a:t> Y</a:t>
            </a:r>
            <a:r>
              <a:rPr lang="en-AU" sz="1200" kern="1200" dirty="0" smtClean="0">
                <a:solidFill>
                  <a:schemeClr val="tx1"/>
                </a:solidFill>
                <a:ea typeface="+mn-ea"/>
                <a:cs typeface="+mn-cs"/>
              </a:rPr>
              <a:t>ou must consider the potential need for human resources, financial resources, physical resources and time</a:t>
            </a:r>
          </a:p>
          <a:p>
            <a:pPr>
              <a:buFont typeface="Arial" pitchFamily="34" charset="0"/>
              <a:buChar char="•"/>
            </a:pPr>
            <a:r>
              <a:rPr lang="en-AU" sz="1200" kern="1200" dirty="0" smtClean="0">
                <a:solidFill>
                  <a:schemeClr val="tx1"/>
                </a:solidFill>
                <a:ea typeface="+mn-ea"/>
                <a:cs typeface="+mn-cs"/>
              </a:rPr>
              <a:t> To enable the project to achieve the objectives/deliverables.</a:t>
            </a:r>
            <a:r>
              <a:rPr lang="en-AU" sz="1200" kern="1200" baseline="0" dirty="0" smtClean="0">
                <a:solidFill>
                  <a:schemeClr val="tx1"/>
                </a:solidFill>
                <a:ea typeface="+mn-ea"/>
                <a:cs typeface="+mn-cs"/>
              </a:rPr>
              <a:t> A</a:t>
            </a:r>
            <a:r>
              <a:rPr lang="en-AU" sz="1200" kern="1200" dirty="0" smtClean="0">
                <a:solidFill>
                  <a:schemeClr val="tx1"/>
                </a:solidFill>
                <a:ea typeface="+mn-ea"/>
                <a:cs typeface="+mn-cs"/>
              </a:rPr>
              <a:t> lack of necessary resources </a:t>
            </a:r>
            <a:r>
              <a:rPr lang="en-AU" sz="1200" b="1" kern="1200" dirty="0" smtClean="0">
                <a:solidFill>
                  <a:schemeClr val="tx1"/>
                </a:solidFill>
                <a:ea typeface="+mn-ea"/>
                <a:cs typeface="+mn-cs"/>
              </a:rPr>
              <a:t>always</a:t>
            </a:r>
            <a:r>
              <a:rPr lang="en-AU" sz="1200" kern="1200" dirty="0" smtClean="0">
                <a:solidFill>
                  <a:schemeClr val="tx1"/>
                </a:solidFill>
                <a:ea typeface="+mn-ea"/>
                <a:cs typeface="+mn-cs"/>
              </a:rPr>
              <a:t> underpins </a:t>
            </a:r>
            <a:r>
              <a:rPr lang="en-AU" sz="1200" b="1" kern="1200" dirty="0" smtClean="0">
                <a:solidFill>
                  <a:schemeClr val="tx1"/>
                </a:solidFill>
                <a:ea typeface="+mn-ea"/>
                <a:cs typeface="+mn-cs"/>
              </a:rPr>
              <a:t>all</a:t>
            </a:r>
            <a:r>
              <a:rPr lang="en-AU" sz="1200" kern="1200" dirty="0" smtClean="0">
                <a:solidFill>
                  <a:schemeClr val="tx1"/>
                </a:solidFill>
                <a:ea typeface="+mn-ea"/>
                <a:cs typeface="+mn-cs"/>
              </a:rPr>
              <a:t> project failures and shortcomings</a:t>
            </a:r>
          </a:p>
          <a:p>
            <a:pPr>
              <a:buFont typeface="Arial" pitchFamily="34" charset="0"/>
              <a:buChar char="•"/>
            </a:pPr>
            <a:r>
              <a:rPr lang="en-AU" sz="1200" kern="1200" dirty="0" smtClean="0">
                <a:solidFill>
                  <a:schemeClr val="tx1"/>
                </a:solidFill>
                <a:ea typeface="+mn-ea"/>
                <a:cs typeface="+mn-cs"/>
              </a:rPr>
              <a:t> To demonstrate your effective management and oversight of the project.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options for obtaining more human resources:</a:t>
            </a:r>
          </a:p>
          <a:p>
            <a:pPr>
              <a:buFont typeface="Arial" pitchFamily="34" charset="0"/>
              <a:buChar char="•"/>
            </a:pPr>
            <a:r>
              <a:rPr lang="en-AU" sz="1200" kern="1200" dirty="0" smtClean="0">
                <a:solidFill>
                  <a:schemeClr val="tx1"/>
                </a:solidFill>
                <a:ea typeface="+mn-ea"/>
                <a:cs typeface="+mn-cs"/>
              </a:rPr>
              <a:t> Swapping the staff being used on the project with other staff who may be more productive</a:t>
            </a:r>
          </a:p>
          <a:p>
            <a:pPr>
              <a:buFont typeface="Arial" pitchFamily="34" charset="0"/>
              <a:buChar char="•"/>
            </a:pPr>
            <a:r>
              <a:rPr lang="en-AU" sz="1200" kern="1200" dirty="0" smtClean="0">
                <a:solidFill>
                  <a:schemeClr val="tx1"/>
                </a:solidFill>
                <a:ea typeface="+mn-ea"/>
                <a:cs typeface="+mn-cs"/>
              </a:rPr>
              <a:t> Taking staff off other duties and allocating them to project tasks</a:t>
            </a:r>
          </a:p>
          <a:p>
            <a:pPr>
              <a:buFont typeface="Arial" pitchFamily="34" charset="0"/>
              <a:buChar char="•"/>
            </a:pPr>
            <a:r>
              <a:rPr lang="en-AU" sz="1200" kern="1200" dirty="0" smtClean="0">
                <a:solidFill>
                  <a:schemeClr val="tx1"/>
                </a:solidFill>
                <a:ea typeface="+mn-ea"/>
                <a:cs typeface="+mn-cs"/>
              </a:rPr>
              <a:t> Engaging more staff</a:t>
            </a:r>
          </a:p>
          <a:p>
            <a:pPr>
              <a:buFont typeface="Arial" pitchFamily="34" charset="0"/>
              <a:buChar char="•"/>
            </a:pPr>
            <a:r>
              <a:rPr lang="en-AU" sz="1200" kern="1200" dirty="0" smtClean="0">
                <a:solidFill>
                  <a:schemeClr val="tx1"/>
                </a:solidFill>
                <a:ea typeface="+mn-ea"/>
                <a:cs typeface="+mn-cs"/>
              </a:rPr>
              <a:t> Providing training</a:t>
            </a:r>
          </a:p>
          <a:p>
            <a:pPr>
              <a:buFont typeface="Arial" pitchFamily="34" charset="0"/>
              <a:buChar char="•"/>
            </a:pPr>
            <a:r>
              <a:rPr lang="en-AU" sz="1200" kern="1200" dirty="0" smtClean="0">
                <a:solidFill>
                  <a:schemeClr val="tx1"/>
                </a:solidFill>
                <a:ea typeface="+mn-ea"/>
                <a:cs typeface="+mn-cs"/>
              </a:rPr>
              <a:t> Moving funds for staffing from a non-project budget line to a project-related labour budget line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options for obtaining more human resources:</a:t>
            </a:r>
          </a:p>
          <a:p>
            <a:pPr>
              <a:buFont typeface="Arial" pitchFamily="34" charset="0"/>
              <a:buChar char="•"/>
            </a:pPr>
            <a:r>
              <a:rPr lang="en-AU" sz="1200" kern="1200" dirty="0" smtClean="0">
                <a:solidFill>
                  <a:schemeClr val="tx1"/>
                </a:solidFill>
                <a:ea typeface="+mn-ea"/>
                <a:cs typeface="+mn-cs"/>
              </a:rPr>
              <a:t> Monitoring the start and finish times of project staff – to ensure they are working the hours they claim they are working</a:t>
            </a:r>
          </a:p>
          <a:p>
            <a:pPr>
              <a:buFont typeface="Arial" pitchFamily="34" charset="0"/>
              <a:buChar char="•"/>
            </a:pPr>
            <a:r>
              <a:rPr lang="en-AU" sz="1200" kern="1200" dirty="0" smtClean="0">
                <a:solidFill>
                  <a:schemeClr val="tx1"/>
                </a:solidFill>
                <a:ea typeface="+mn-ea"/>
                <a:cs typeface="+mn-cs"/>
              </a:rPr>
              <a:t> Walking around the project site to provide a visible presence which allows motivates staff to apply themselves to their work</a:t>
            </a:r>
          </a:p>
          <a:p>
            <a:pPr>
              <a:buFont typeface="Arial" pitchFamily="34" charset="0"/>
              <a:buChar char="•"/>
            </a:pPr>
            <a:r>
              <a:rPr lang="en-AU" sz="1200" kern="1200" dirty="0" smtClean="0">
                <a:solidFill>
                  <a:schemeClr val="tx1"/>
                </a:solidFill>
                <a:ea typeface="+mn-ea"/>
                <a:cs typeface="+mn-cs"/>
              </a:rPr>
              <a:t> Showing management how the </a:t>
            </a:r>
            <a:r>
              <a:rPr lang="en-AU" sz="1200" i="1" kern="1200" dirty="0" smtClean="0">
                <a:solidFill>
                  <a:schemeClr val="tx1"/>
                </a:solidFill>
                <a:ea typeface="+mn-ea"/>
                <a:cs typeface="+mn-cs"/>
              </a:rPr>
              <a:t>emerging</a:t>
            </a:r>
            <a:r>
              <a:rPr lang="en-AU" sz="1200" kern="1200" dirty="0" smtClean="0">
                <a:solidFill>
                  <a:schemeClr val="tx1"/>
                </a:solidFill>
                <a:ea typeface="+mn-ea"/>
                <a:cs typeface="+mn-cs"/>
              </a:rPr>
              <a:t> needs of the project (which were not previously identified or factored into staffing requirements) are impacting the labour budget</a:t>
            </a:r>
          </a:p>
          <a:p>
            <a:pPr>
              <a:buFont typeface="Arial" pitchFamily="34" charset="0"/>
              <a:buChar char="•"/>
            </a:pPr>
            <a:r>
              <a:rPr lang="en-AU" sz="1200" kern="1200" dirty="0" smtClean="0">
                <a:solidFill>
                  <a:schemeClr val="tx1"/>
                </a:solidFill>
                <a:ea typeface="+mn-ea"/>
                <a:cs typeface="+mn-cs"/>
              </a:rPr>
              <a:t> Highlighting the benefits which may flow from increasing your allocation for labour.</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benefits could include:</a:t>
            </a:r>
          </a:p>
          <a:p>
            <a:pPr lvl="1">
              <a:buFont typeface="Arial" pitchFamily="34" charset="0"/>
              <a:buChar char="•"/>
            </a:pPr>
            <a:r>
              <a:rPr lang="en-AU" sz="1200" kern="1200" dirty="0" smtClean="0">
                <a:solidFill>
                  <a:schemeClr val="tx1"/>
                </a:solidFill>
                <a:ea typeface="+mn-ea"/>
                <a:cs typeface="+mn-cs"/>
              </a:rPr>
              <a:t> Better productivity</a:t>
            </a:r>
          </a:p>
          <a:p>
            <a:pPr lvl="1">
              <a:buFont typeface="Arial" pitchFamily="34" charset="0"/>
              <a:buChar char="•"/>
            </a:pPr>
            <a:r>
              <a:rPr lang="en-AU" sz="1200" kern="1200" dirty="0" smtClean="0">
                <a:solidFill>
                  <a:schemeClr val="tx1"/>
                </a:solidFill>
                <a:ea typeface="+mn-ea"/>
                <a:cs typeface="+mn-cs"/>
              </a:rPr>
              <a:t> Quicker finish to the project</a:t>
            </a:r>
          </a:p>
          <a:p>
            <a:pPr lvl="1">
              <a:buFont typeface="Arial" pitchFamily="34" charset="0"/>
              <a:buChar char="•"/>
            </a:pPr>
            <a:r>
              <a:rPr lang="en-AU" sz="1200" kern="1200" dirty="0" smtClean="0">
                <a:solidFill>
                  <a:schemeClr val="tx1"/>
                </a:solidFill>
                <a:ea typeface="+mn-ea"/>
                <a:cs typeface="+mn-cs"/>
              </a:rPr>
              <a:t> Increased client and/or guest and customer satisfaction</a:t>
            </a:r>
          </a:p>
          <a:p>
            <a:pPr>
              <a:buFont typeface="Arial" pitchFamily="34" charset="0"/>
              <a:buChar char="•"/>
            </a:pPr>
            <a:r>
              <a:rPr lang="en-AU" sz="1200" kern="1200" dirty="0" smtClean="0">
                <a:solidFill>
                  <a:schemeClr val="tx1"/>
                </a:solidFill>
                <a:ea typeface="+mn-ea"/>
                <a:cs typeface="+mn-cs"/>
              </a:rPr>
              <a:t> Stressing/illustrating the down-sides of not providing extra staff such as:</a:t>
            </a:r>
          </a:p>
          <a:p>
            <a:pPr lvl="1">
              <a:buFont typeface="Arial" pitchFamily="34" charset="0"/>
              <a:buChar char="•"/>
            </a:pPr>
            <a:r>
              <a:rPr lang="en-AU" sz="1200" kern="1200" dirty="0" smtClean="0">
                <a:solidFill>
                  <a:schemeClr val="tx1"/>
                </a:solidFill>
                <a:ea typeface="+mn-ea"/>
                <a:cs typeface="+mn-cs"/>
              </a:rPr>
              <a:t> Reduced customer satisfaction</a:t>
            </a:r>
          </a:p>
          <a:p>
            <a:pPr lvl="1">
              <a:buFont typeface="Arial" pitchFamily="34" charset="0"/>
              <a:buChar char="•"/>
            </a:pPr>
            <a:r>
              <a:rPr lang="en-AU" sz="1200" kern="1200" dirty="0" smtClean="0">
                <a:solidFill>
                  <a:schemeClr val="tx1"/>
                </a:solidFill>
                <a:ea typeface="+mn-ea"/>
                <a:cs typeface="+mn-cs"/>
              </a:rPr>
              <a:t> Increased chance of penalties for non-discharge of contractual requirements</a:t>
            </a:r>
          </a:p>
          <a:p>
            <a:pPr lvl="1">
              <a:buFont typeface="Arial" pitchFamily="34" charset="0"/>
              <a:buChar char="•"/>
            </a:pPr>
            <a:r>
              <a:rPr lang="en-AU" sz="1200" kern="1200" dirty="0" smtClean="0">
                <a:solidFill>
                  <a:schemeClr val="tx1"/>
                </a:solidFill>
                <a:ea typeface="+mn-ea"/>
                <a:cs typeface="+mn-cs"/>
              </a:rPr>
              <a:t> Negative impact on image and reputation of the venue.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options for obtaining more financial resources:</a:t>
            </a:r>
          </a:p>
          <a:p>
            <a:pPr>
              <a:buFont typeface="Arial" pitchFamily="34" charset="0"/>
              <a:buChar char="•"/>
            </a:pPr>
            <a:r>
              <a:rPr lang="en-AU" sz="1200" kern="1200" dirty="0" smtClean="0">
                <a:solidFill>
                  <a:schemeClr val="tx1"/>
                </a:solidFill>
                <a:ea typeface="+mn-ea"/>
                <a:cs typeface="+mn-cs"/>
              </a:rPr>
              <a:t> Moving money from another budget to the project budget if permitted</a:t>
            </a:r>
          </a:p>
          <a:p>
            <a:pPr>
              <a:buFont typeface="Arial" pitchFamily="34" charset="0"/>
              <a:buChar char="•"/>
            </a:pPr>
            <a:r>
              <a:rPr lang="en-AU" sz="1200" kern="1200" dirty="0" smtClean="0">
                <a:solidFill>
                  <a:schemeClr val="tx1"/>
                </a:solidFill>
                <a:ea typeface="+mn-ea"/>
                <a:cs typeface="+mn-cs"/>
              </a:rPr>
              <a:t> Seeking additional money on the basis of new requirements not previously identified when initial funding was applied for</a:t>
            </a:r>
          </a:p>
          <a:p>
            <a:pPr>
              <a:buFont typeface="Arial" pitchFamily="34" charset="0"/>
              <a:buChar char="•"/>
            </a:pPr>
            <a:r>
              <a:rPr lang="en-AU" sz="1200" kern="1200" dirty="0" smtClean="0">
                <a:solidFill>
                  <a:schemeClr val="tx1"/>
                </a:solidFill>
                <a:ea typeface="+mn-ea"/>
                <a:cs typeface="+mn-cs"/>
              </a:rPr>
              <a:t> Seeking reimbursement from clients for monies spent on their behalf for goods and services not agreed to as part of initial project agreements</a:t>
            </a:r>
          </a:p>
          <a:p>
            <a:pPr>
              <a:buFont typeface="Arial" pitchFamily="34" charset="0"/>
              <a:buChar char="•"/>
            </a:pPr>
            <a:r>
              <a:rPr lang="en-AU" sz="1200" kern="1200" dirty="0" smtClean="0">
                <a:solidFill>
                  <a:schemeClr val="tx1"/>
                </a:solidFill>
                <a:ea typeface="+mn-ea"/>
                <a:cs typeface="+mn-cs"/>
              </a:rPr>
              <a:t> Ensuring deposits and progress payments are being received as expected from the client/funding body</a:t>
            </a:r>
          </a:p>
          <a:p>
            <a:pPr>
              <a:buFont typeface="Arial" pitchFamily="34" charset="0"/>
              <a:buChar char="•"/>
            </a:pPr>
            <a:r>
              <a:rPr lang="en-AU" sz="1200" kern="1200" dirty="0" smtClean="0">
                <a:solidFill>
                  <a:schemeClr val="tx1"/>
                </a:solidFill>
                <a:ea typeface="+mn-ea"/>
                <a:cs typeface="+mn-cs"/>
              </a:rPr>
              <a:t> Reducing the quality and/or quantity of some aspects of the project to save money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options for obtaining more financial resources:</a:t>
            </a:r>
          </a:p>
          <a:p>
            <a:pPr>
              <a:buFont typeface="Arial" pitchFamily="34" charset="0"/>
              <a:buChar char="•"/>
            </a:pPr>
            <a:r>
              <a:rPr lang="en-AU" sz="1200" kern="1200" dirty="0" smtClean="0">
                <a:solidFill>
                  <a:schemeClr val="tx1"/>
                </a:solidFill>
                <a:ea typeface="+mn-ea"/>
                <a:cs typeface="+mn-cs"/>
              </a:rPr>
              <a:t> Making sure all items which can be sold to generate revenue are indeed sold and not just disposed of</a:t>
            </a:r>
          </a:p>
          <a:p>
            <a:pPr>
              <a:buFont typeface="Arial" pitchFamily="34" charset="0"/>
              <a:buChar char="•"/>
            </a:pPr>
            <a:r>
              <a:rPr lang="en-AU" sz="1200" kern="1200" dirty="0" smtClean="0">
                <a:solidFill>
                  <a:schemeClr val="tx1"/>
                </a:solidFill>
                <a:ea typeface="+mn-ea"/>
                <a:cs typeface="+mn-cs"/>
              </a:rPr>
              <a:t> Sourcing different providers who can supply the same, or similar, goods and services at a lower price</a:t>
            </a:r>
          </a:p>
          <a:p>
            <a:pPr>
              <a:buFont typeface="Arial" pitchFamily="34" charset="0"/>
              <a:buChar char="•"/>
            </a:pPr>
            <a:r>
              <a:rPr lang="en-AU" sz="1200" kern="1200" dirty="0" smtClean="0">
                <a:solidFill>
                  <a:schemeClr val="tx1"/>
                </a:solidFill>
                <a:ea typeface="+mn-ea"/>
                <a:cs typeface="+mn-cs"/>
              </a:rPr>
              <a:t> Using different acquisition options instead of buying an item you may be able to better use your limited finance by hiring/renting items</a:t>
            </a:r>
          </a:p>
          <a:p>
            <a:pPr>
              <a:buFont typeface="Arial" pitchFamily="34" charset="0"/>
              <a:buChar char="•"/>
            </a:pPr>
            <a:r>
              <a:rPr lang="en-AU" sz="1200" kern="1200" dirty="0" smtClean="0">
                <a:solidFill>
                  <a:schemeClr val="tx1"/>
                </a:solidFill>
                <a:ea typeface="+mn-ea"/>
                <a:cs typeface="+mn-cs"/>
              </a:rPr>
              <a:t> Sharing the cost of items with other venues in the same organisation as you, or with other departments within the same venue.</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a:t>
            </a:r>
            <a:r>
              <a:rPr lang="en-US" b="0" baseline="0" dirty="0" smtClean="0"/>
              <a:t> arranges for management-level person to attend and discuss extra resourcing of projects in relation to:</a:t>
            </a:r>
          </a:p>
          <a:p>
            <a:pPr>
              <a:buFont typeface="Arial" pitchFamily="34" charset="0"/>
              <a:buChar char="•"/>
            </a:pPr>
            <a:r>
              <a:rPr lang="en-US" b="0" baseline="0" dirty="0" smtClean="0"/>
              <a:t> Time</a:t>
            </a:r>
          </a:p>
          <a:p>
            <a:pPr>
              <a:buFont typeface="Arial" pitchFamily="34" charset="0"/>
              <a:buChar char="•"/>
            </a:pPr>
            <a:r>
              <a:rPr lang="en-US" b="0" baseline="0" dirty="0" smtClean="0"/>
              <a:t> Human resources</a:t>
            </a:r>
          </a:p>
          <a:p>
            <a:pPr>
              <a:buFont typeface="Arial" pitchFamily="34" charset="0"/>
              <a:buChar char="•"/>
            </a:pPr>
            <a:r>
              <a:rPr lang="en-US" b="0" baseline="0" dirty="0" smtClean="0"/>
              <a:t> Financial resources</a:t>
            </a:r>
          </a:p>
          <a:p>
            <a:pPr>
              <a:buFont typeface="Arial" pitchFamily="34" charset="0"/>
              <a:buChar char="•"/>
            </a:pPr>
            <a:r>
              <a:rPr lang="en-US" b="0" baseline="0" dirty="0" smtClean="0"/>
              <a:t> Physical resources.</a:t>
            </a:r>
          </a:p>
          <a:p>
            <a:pPr>
              <a:buFont typeface="Arial" pitchFamily="34" charset="0"/>
              <a:buNone/>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options for obtaining more physical resources:</a:t>
            </a:r>
          </a:p>
          <a:p>
            <a:pPr>
              <a:buFont typeface="Arial" pitchFamily="34" charset="0"/>
              <a:buChar char="•"/>
            </a:pPr>
            <a:r>
              <a:rPr lang="en-AU" sz="1200" kern="1200" dirty="0" smtClean="0">
                <a:solidFill>
                  <a:schemeClr val="tx1"/>
                </a:solidFill>
                <a:ea typeface="+mn-ea"/>
                <a:cs typeface="+mn-cs"/>
              </a:rPr>
              <a:t> Asking suppliers, providers, manufacturers to loan you items or to donate items</a:t>
            </a:r>
          </a:p>
          <a:p>
            <a:pPr>
              <a:buFont typeface="Arial" pitchFamily="34" charset="0"/>
              <a:buChar char="•"/>
            </a:pPr>
            <a:r>
              <a:rPr lang="en-AU" sz="1200" kern="1200" dirty="0" smtClean="0">
                <a:solidFill>
                  <a:schemeClr val="tx1"/>
                </a:solidFill>
                <a:ea typeface="+mn-ea"/>
                <a:cs typeface="+mn-cs"/>
              </a:rPr>
              <a:t> Using fewer items within the project</a:t>
            </a:r>
          </a:p>
          <a:p>
            <a:pPr>
              <a:buFont typeface="Arial" pitchFamily="34" charset="0"/>
              <a:buChar char="•"/>
            </a:pPr>
            <a:r>
              <a:rPr lang="en-AU" sz="1200" kern="1200" dirty="0" smtClean="0">
                <a:solidFill>
                  <a:schemeClr val="tx1"/>
                </a:solidFill>
                <a:ea typeface="+mn-ea"/>
                <a:cs typeface="+mn-cs"/>
              </a:rPr>
              <a:t> Using lower-quality items which will be less expensive</a:t>
            </a:r>
          </a:p>
          <a:p>
            <a:pPr>
              <a:buFont typeface="Arial" pitchFamily="34" charset="0"/>
              <a:buChar char="•"/>
            </a:pPr>
            <a:r>
              <a:rPr lang="en-AU" sz="1200" kern="1200" dirty="0" smtClean="0">
                <a:solidFill>
                  <a:schemeClr val="tx1"/>
                </a:solidFill>
                <a:ea typeface="+mn-ea"/>
                <a:cs typeface="+mn-cs"/>
              </a:rPr>
              <a:t> Seeking contributions from your network of contacts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options for obtaining more physical resources:</a:t>
            </a:r>
          </a:p>
          <a:p>
            <a:pPr>
              <a:buFont typeface="Arial" pitchFamily="34" charset="0"/>
              <a:buChar char="•"/>
            </a:pPr>
            <a:r>
              <a:rPr lang="en-AU" sz="1200" kern="1200" dirty="0" smtClean="0">
                <a:solidFill>
                  <a:schemeClr val="tx1"/>
                </a:solidFill>
                <a:ea typeface="+mn-ea"/>
                <a:cs typeface="+mn-cs"/>
              </a:rPr>
              <a:t> Borrowing from other departments</a:t>
            </a:r>
          </a:p>
          <a:p>
            <a:pPr>
              <a:buFont typeface="Arial" pitchFamily="34" charset="0"/>
              <a:buChar char="•"/>
            </a:pPr>
            <a:r>
              <a:rPr lang="en-AU" sz="1200" kern="1200" dirty="0" smtClean="0">
                <a:solidFill>
                  <a:schemeClr val="tx1"/>
                </a:solidFill>
                <a:ea typeface="+mn-ea"/>
                <a:cs typeface="+mn-cs"/>
              </a:rPr>
              <a:t> Doing ‘contra’ deals where you:</a:t>
            </a:r>
          </a:p>
          <a:p>
            <a:pPr lvl="1">
              <a:buFont typeface="Arial" pitchFamily="34" charset="0"/>
              <a:buChar char="•"/>
            </a:pPr>
            <a:r>
              <a:rPr lang="en-AU" sz="1200" kern="1200" dirty="0" smtClean="0">
                <a:solidFill>
                  <a:schemeClr val="tx1"/>
                </a:solidFill>
                <a:ea typeface="+mn-ea"/>
                <a:cs typeface="+mn-cs"/>
              </a:rPr>
              <a:t> Swap a meal or similar at the venue in exchange for materials, goods and services from a supplier</a:t>
            </a:r>
          </a:p>
          <a:p>
            <a:pPr lvl="1">
              <a:buFont typeface="Arial" pitchFamily="34" charset="0"/>
              <a:buChar char="•"/>
            </a:pPr>
            <a:r>
              <a:rPr lang="en-AU" sz="1200" kern="1200" dirty="0" smtClean="0">
                <a:solidFill>
                  <a:schemeClr val="tx1"/>
                </a:solidFill>
                <a:ea typeface="+mn-ea"/>
                <a:cs typeface="+mn-cs"/>
              </a:rPr>
              <a:t> Receive free product in return from advertising the product/provider in the venue</a:t>
            </a:r>
          </a:p>
          <a:p>
            <a:pPr>
              <a:buFont typeface="Arial" pitchFamily="34" charset="0"/>
              <a:buChar char="•"/>
            </a:pPr>
            <a:r>
              <a:rPr lang="en-AU" sz="1200" kern="1200" dirty="0" smtClean="0">
                <a:solidFill>
                  <a:schemeClr val="tx1"/>
                </a:solidFill>
                <a:ea typeface="+mn-ea"/>
                <a:cs typeface="+mn-cs"/>
              </a:rPr>
              <a:t> Asking the client to contribute materials.</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illustrates possible action </a:t>
            </a:r>
            <a:r>
              <a:rPr lang="en-AU" sz="1200" kern="1200" dirty="0" smtClean="0">
                <a:solidFill>
                  <a:schemeClr val="tx1"/>
                </a:solidFill>
                <a:ea typeface="+mn-ea"/>
                <a:cs typeface="+mn-cs"/>
              </a:rPr>
              <a:t>to obtain (or ‘create’) more time may include:</a:t>
            </a:r>
          </a:p>
          <a:p>
            <a:pPr>
              <a:buFont typeface="Arial" pitchFamily="34" charset="0"/>
              <a:buChar char="•"/>
            </a:pPr>
            <a:r>
              <a:rPr lang="en-AU" sz="1200" kern="1200" dirty="0" smtClean="0">
                <a:solidFill>
                  <a:schemeClr val="tx1"/>
                </a:solidFill>
                <a:ea typeface="+mn-ea"/>
                <a:cs typeface="+mn-cs"/>
              </a:rPr>
              <a:t> Explaining time already committed to the project to management to justify the claim for extra time</a:t>
            </a:r>
          </a:p>
          <a:p>
            <a:pPr>
              <a:buFont typeface="Arial" pitchFamily="34" charset="0"/>
              <a:buChar char="•"/>
            </a:pPr>
            <a:r>
              <a:rPr lang="en-AU" sz="1200" kern="1200" dirty="0" smtClean="0">
                <a:solidFill>
                  <a:schemeClr val="tx1"/>
                </a:solidFill>
                <a:ea typeface="+mn-ea"/>
                <a:cs typeface="+mn-cs"/>
              </a:rPr>
              <a:t> Analyse your actual use of time – perhaps using a time log</a:t>
            </a:r>
          </a:p>
          <a:p>
            <a:pPr>
              <a:buFont typeface="Arial" pitchFamily="34" charset="0"/>
              <a:buChar char="•"/>
            </a:pPr>
            <a:r>
              <a:rPr lang="en-AU" sz="1200" kern="1200" dirty="0" smtClean="0">
                <a:solidFill>
                  <a:schemeClr val="tx1"/>
                </a:solidFill>
                <a:ea typeface="+mn-ea"/>
                <a:cs typeface="+mn-cs"/>
              </a:rPr>
              <a:t> Delegating more work to other staff</a:t>
            </a:r>
          </a:p>
          <a:p>
            <a:pPr>
              <a:buFont typeface="Arial" pitchFamily="34" charset="0"/>
              <a:buChar char="•"/>
            </a:pPr>
            <a:r>
              <a:rPr lang="en-AU" sz="1200" kern="1200" dirty="0" smtClean="0">
                <a:solidFill>
                  <a:schemeClr val="tx1"/>
                </a:solidFill>
                <a:ea typeface="+mn-ea"/>
                <a:cs typeface="+mn-cs"/>
              </a:rPr>
              <a:t> Deferring non-essential work until after the project has been completed or until a nominated stage of the project has been achieved</a:t>
            </a:r>
          </a:p>
          <a:p>
            <a:pPr>
              <a:buFont typeface="Arial" pitchFamily="34" charset="0"/>
              <a:buChar char="•"/>
            </a:pPr>
            <a:r>
              <a:rPr lang="en-AU" sz="1200" kern="1200" dirty="0" smtClean="0">
                <a:solidFill>
                  <a:schemeClr val="tx1"/>
                </a:solidFill>
                <a:ea typeface="+mn-ea"/>
                <a:cs typeface="+mn-cs"/>
              </a:rPr>
              <a:t>Coming in to work earlier and going home later</a:t>
            </a:r>
          </a:p>
          <a:p>
            <a:pPr>
              <a:buFont typeface="Arial" pitchFamily="34" charset="0"/>
              <a:buChar char="•"/>
            </a:pPr>
            <a:r>
              <a:rPr lang="en-AU" sz="1200" kern="1200" dirty="0" smtClean="0">
                <a:solidFill>
                  <a:schemeClr val="tx1"/>
                </a:solidFill>
                <a:ea typeface="+mn-ea"/>
                <a:cs typeface="+mn-cs"/>
              </a:rPr>
              <a:t> Working smarter</a:t>
            </a:r>
          </a:p>
          <a:p>
            <a:pPr>
              <a:buFont typeface="Arial" pitchFamily="34" charset="0"/>
              <a:buChar char="•"/>
            </a:pPr>
            <a:r>
              <a:rPr lang="en-AU" sz="1200" kern="1200" dirty="0" smtClean="0">
                <a:solidFill>
                  <a:schemeClr val="tx1"/>
                </a:solidFill>
                <a:ea typeface="+mn-ea"/>
                <a:cs typeface="+mn-cs"/>
              </a:rPr>
              <a:t>Using technology and accepted time management techniques to save time</a:t>
            </a:r>
          </a:p>
          <a:p>
            <a:pPr>
              <a:buFont typeface="Arial" pitchFamily="34" charset="0"/>
              <a:buChar char="•"/>
            </a:pPr>
            <a:r>
              <a:rPr lang="en-AU" sz="1200" kern="1200" dirty="0" smtClean="0">
                <a:solidFill>
                  <a:schemeClr val="tx1"/>
                </a:solidFill>
                <a:ea typeface="+mn-ea"/>
                <a:cs typeface="+mn-cs"/>
              </a:rPr>
              <a:t> Taking time to plan your work – ‘make the plan, work the plan’.</a:t>
            </a:r>
          </a:p>
          <a:p>
            <a:endParaRPr lang="en-AU" sz="1200" kern="1200" dirty="0" smtClean="0">
              <a:solidFill>
                <a:schemeClr val="tx1"/>
              </a:solidFill>
              <a:ea typeface="+mn-ea"/>
              <a:cs typeface="+mn-cs"/>
            </a:endParaRPr>
          </a:p>
          <a:p>
            <a:pPr>
              <a:buFont typeface="Arial" pitchFamily="34" charset="0"/>
              <a:buChar cha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examples of possible organisational guidelines for budgets:</a:t>
            </a:r>
          </a:p>
          <a:p>
            <a:pPr>
              <a:buFont typeface="Arial" pitchFamily="34" charset="0"/>
              <a:buChar char="•"/>
            </a:pPr>
            <a:r>
              <a:rPr lang="en-AU" sz="1200" kern="1200" dirty="0" smtClean="0">
                <a:solidFill>
                  <a:schemeClr val="tx1"/>
                </a:solidFill>
                <a:ea typeface="+mn-ea"/>
                <a:cs typeface="+mn-cs"/>
              </a:rPr>
              <a:t> Format of budgets used explaining:</a:t>
            </a:r>
          </a:p>
          <a:p>
            <a:pPr lvl="1">
              <a:buFont typeface="Arial" pitchFamily="34" charset="0"/>
              <a:buChar char="•"/>
            </a:pPr>
            <a:r>
              <a:rPr lang="en-AU" sz="1200" kern="1200" dirty="0" smtClean="0">
                <a:solidFill>
                  <a:schemeClr val="tx1"/>
                </a:solidFill>
                <a:ea typeface="+mn-ea"/>
                <a:cs typeface="+mn-cs"/>
              </a:rPr>
              <a:t> How they are laid out </a:t>
            </a:r>
          </a:p>
          <a:p>
            <a:pPr lvl="1">
              <a:buFont typeface="Arial" pitchFamily="34" charset="0"/>
              <a:buChar char="•"/>
            </a:pPr>
            <a:r>
              <a:rPr lang="en-AU" sz="1200" kern="1200" dirty="0" smtClean="0">
                <a:solidFill>
                  <a:schemeClr val="tx1"/>
                </a:solidFill>
                <a:ea typeface="+mn-ea"/>
                <a:cs typeface="+mn-cs"/>
              </a:rPr>
              <a:t> What the columns means</a:t>
            </a:r>
          </a:p>
          <a:p>
            <a:pPr lvl="1">
              <a:buFont typeface="Arial" pitchFamily="34" charset="0"/>
              <a:buChar char="•"/>
            </a:pPr>
            <a:r>
              <a:rPr lang="en-AU" sz="1200" kern="1200" dirty="0" smtClean="0">
                <a:solidFill>
                  <a:schemeClr val="tx1"/>
                </a:solidFill>
                <a:ea typeface="+mn-ea"/>
                <a:cs typeface="+mn-cs"/>
              </a:rPr>
              <a:t> Budget lines and codes</a:t>
            </a:r>
          </a:p>
          <a:p>
            <a:pPr>
              <a:buFont typeface="Arial" pitchFamily="34" charset="0"/>
              <a:buChar char="•"/>
            </a:pPr>
            <a:r>
              <a:rPr lang="en-AU" sz="1200" kern="1200" dirty="0" smtClean="0">
                <a:solidFill>
                  <a:schemeClr val="tx1"/>
                </a:solidFill>
                <a:ea typeface="+mn-ea"/>
                <a:cs typeface="+mn-cs"/>
              </a:rPr>
              <a:t> Training required before you are authorised to access and monitor any venue budgets addressing topics such as:</a:t>
            </a:r>
          </a:p>
          <a:p>
            <a:pPr lvl="1">
              <a:buFont typeface="Arial" pitchFamily="34" charset="0"/>
              <a:buChar char="•"/>
            </a:pPr>
            <a:r>
              <a:rPr lang="en-AU" sz="1200" kern="1200" dirty="0" smtClean="0">
                <a:solidFill>
                  <a:schemeClr val="tx1"/>
                </a:solidFill>
                <a:ea typeface="+mn-ea"/>
                <a:cs typeface="+mn-cs"/>
              </a:rPr>
              <a:t> Signs and symbols used – such as + and -, %</a:t>
            </a:r>
          </a:p>
          <a:p>
            <a:pPr lvl="1">
              <a:buFont typeface="Arial" pitchFamily="34" charset="0"/>
              <a:buChar char="•"/>
            </a:pPr>
            <a:r>
              <a:rPr lang="en-AU" sz="1200" kern="1200" dirty="0" smtClean="0">
                <a:solidFill>
                  <a:schemeClr val="tx1"/>
                </a:solidFill>
                <a:ea typeface="+mn-ea"/>
                <a:cs typeface="+mn-cs"/>
              </a:rPr>
              <a:t> Budget terminology</a:t>
            </a:r>
          </a:p>
          <a:p>
            <a:pPr lvl="1">
              <a:buFont typeface="Arial" pitchFamily="34" charset="0"/>
              <a:buChar char="•"/>
            </a:pPr>
            <a:r>
              <a:rPr lang="en-AU" sz="1200" kern="1200" dirty="0" smtClean="0">
                <a:solidFill>
                  <a:schemeClr val="tx1"/>
                </a:solidFill>
                <a:ea typeface="+mn-ea"/>
                <a:cs typeface="+mn-cs"/>
              </a:rPr>
              <a:t> Reading and understanding budgets – what they contain and what they mean</a:t>
            </a:r>
          </a:p>
          <a:p>
            <a:pPr lvl="1">
              <a:buFont typeface="Arial" pitchFamily="34" charset="0"/>
              <a:buChar char="•"/>
            </a:pPr>
            <a:r>
              <a:rPr lang="en-AU" sz="1200" kern="1200" dirty="0" smtClean="0">
                <a:solidFill>
                  <a:schemeClr val="tx1"/>
                </a:solidFill>
                <a:ea typeface="+mn-ea"/>
                <a:cs typeface="+mn-cs"/>
              </a:rPr>
              <a:t> Identifying variances</a:t>
            </a:r>
          </a:p>
          <a:p>
            <a:pPr lvl="1">
              <a:buFont typeface="Arial" pitchFamily="34" charset="0"/>
              <a:buChar char="•"/>
            </a:pPr>
            <a:r>
              <a:rPr lang="en-AU" sz="1200" kern="1200" dirty="0" smtClean="0">
                <a:solidFill>
                  <a:schemeClr val="tx1"/>
                </a:solidFill>
                <a:ea typeface="+mn-ea"/>
                <a:cs typeface="+mn-cs"/>
              </a:rPr>
              <a:t> Interpreting system flags/warnings</a:t>
            </a:r>
          </a:p>
          <a:p>
            <a:pPr>
              <a:buFont typeface="Arial" pitchFamily="34" charset="0"/>
              <a:buChar char="•"/>
            </a:pPr>
            <a:r>
              <a:rPr lang="en-AU" sz="1200" kern="1200" dirty="0" smtClean="0">
                <a:solidFill>
                  <a:schemeClr val="tx1"/>
                </a:solidFill>
                <a:ea typeface="+mn-ea"/>
                <a:cs typeface="+mn-cs"/>
              </a:rPr>
              <a:t> Identification of budget types such as differentiating between the roles and contents of budgets such as:</a:t>
            </a:r>
          </a:p>
          <a:p>
            <a:pPr lvl="1">
              <a:buFont typeface="Arial" pitchFamily="34" charset="0"/>
              <a:buChar char="•"/>
            </a:pPr>
            <a:r>
              <a:rPr lang="en-AU" sz="1200" kern="1200" dirty="0" smtClean="0">
                <a:solidFill>
                  <a:schemeClr val="tx1"/>
                </a:solidFill>
                <a:ea typeface="+mn-ea"/>
                <a:cs typeface="+mn-cs"/>
              </a:rPr>
              <a:t> Revenue budgets</a:t>
            </a:r>
          </a:p>
          <a:p>
            <a:pPr lvl="1">
              <a:buFont typeface="Arial" pitchFamily="34" charset="0"/>
              <a:buChar char="•"/>
            </a:pPr>
            <a:r>
              <a:rPr lang="en-AU" sz="1200" kern="1200" dirty="0" smtClean="0">
                <a:solidFill>
                  <a:schemeClr val="tx1"/>
                </a:solidFill>
                <a:ea typeface="+mn-ea"/>
                <a:cs typeface="+mn-cs"/>
              </a:rPr>
              <a:t> Labour budgets</a:t>
            </a:r>
          </a:p>
          <a:p>
            <a:pPr lvl="1">
              <a:buFont typeface="Arial" pitchFamily="34" charset="0"/>
              <a:buChar char="•"/>
            </a:pPr>
            <a:r>
              <a:rPr lang="en-AU" sz="1200" kern="1200" dirty="0" smtClean="0">
                <a:solidFill>
                  <a:schemeClr val="tx1"/>
                </a:solidFill>
                <a:ea typeface="+mn-ea"/>
                <a:cs typeface="+mn-cs"/>
              </a:rPr>
              <a:t> Purchases</a:t>
            </a:r>
          </a:p>
          <a:p>
            <a:pPr lvl="1">
              <a:buFont typeface="Arial" pitchFamily="34" charset="0"/>
              <a:buChar char="•"/>
            </a:pPr>
            <a:r>
              <a:rPr lang="en-AU" sz="1200" kern="1200" dirty="0" smtClean="0">
                <a:solidFill>
                  <a:schemeClr val="tx1"/>
                </a:solidFill>
                <a:ea typeface="+mn-ea"/>
                <a:cs typeface="+mn-cs"/>
              </a:rPr>
              <a:t> Overheads</a:t>
            </a:r>
          </a:p>
          <a:p>
            <a:pPr>
              <a:buFont typeface="Arial" pitchFamily="34" charset="0"/>
              <a:buChar char="•"/>
            </a:pPr>
            <a:r>
              <a:rPr lang="en-AU" sz="1200" kern="1200" dirty="0" smtClean="0">
                <a:solidFill>
                  <a:schemeClr val="tx1"/>
                </a:solidFill>
                <a:ea typeface="+mn-ea"/>
                <a:cs typeface="+mn-cs"/>
              </a:rPr>
              <a:t> Frequency for budget monitoring which may be:</a:t>
            </a:r>
          </a:p>
          <a:p>
            <a:pPr lvl="1">
              <a:buFont typeface="Arial" pitchFamily="34" charset="0"/>
              <a:buChar char="•"/>
            </a:pPr>
            <a:r>
              <a:rPr lang="en-AU" sz="1200" kern="1200" dirty="0" smtClean="0">
                <a:solidFill>
                  <a:schemeClr val="tx1"/>
                </a:solidFill>
                <a:ea typeface="+mn-ea"/>
                <a:cs typeface="+mn-cs"/>
              </a:rPr>
              <a:t> Daily</a:t>
            </a:r>
          </a:p>
          <a:p>
            <a:pPr lvl="1">
              <a:buFont typeface="Arial" pitchFamily="34" charset="0"/>
              <a:buChar char="•"/>
            </a:pPr>
            <a:r>
              <a:rPr lang="en-AU" sz="1200" kern="1200" dirty="0" smtClean="0">
                <a:solidFill>
                  <a:schemeClr val="tx1"/>
                </a:solidFill>
                <a:ea typeface="+mn-ea"/>
                <a:cs typeface="+mn-cs"/>
              </a:rPr>
              <a:t> Weekly</a:t>
            </a:r>
          </a:p>
          <a:p>
            <a:pPr>
              <a:buFont typeface="Arial" pitchFamily="34" charset="0"/>
              <a:buChar char="•"/>
            </a:pPr>
            <a:r>
              <a:rPr lang="en-AU" sz="1200" kern="1200" dirty="0" smtClean="0">
                <a:solidFill>
                  <a:schemeClr val="tx1"/>
                </a:solidFill>
                <a:ea typeface="+mn-ea"/>
                <a:cs typeface="+mn-cs"/>
              </a:rPr>
              <a:t> Supporting documents for different budget types. These are the source documents on which budgets are prepared/updated and include documents such as:</a:t>
            </a:r>
          </a:p>
          <a:p>
            <a:pPr lvl="1">
              <a:buFont typeface="Arial" pitchFamily="34" charset="0"/>
              <a:buChar char="•"/>
            </a:pPr>
            <a:r>
              <a:rPr lang="en-AU" sz="1200" kern="1200" dirty="0" smtClean="0">
                <a:solidFill>
                  <a:schemeClr val="tx1"/>
                </a:solidFill>
                <a:ea typeface="+mn-ea"/>
                <a:cs typeface="+mn-cs"/>
              </a:rPr>
              <a:t> Receipts for revenue</a:t>
            </a:r>
          </a:p>
          <a:p>
            <a:pPr lvl="1">
              <a:buFont typeface="Arial" pitchFamily="34" charset="0"/>
              <a:buChar char="•"/>
            </a:pPr>
            <a:r>
              <a:rPr lang="en-AU" sz="1200" kern="1200" dirty="0" smtClean="0">
                <a:solidFill>
                  <a:schemeClr val="tx1"/>
                </a:solidFill>
                <a:ea typeface="+mn-ea"/>
                <a:cs typeface="+mn-cs"/>
              </a:rPr>
              <a:t> Invoices for goods purchased</a:t>
            </a:r>
          </a:p>
          <a:p>
            <a:pPr lvl="1">
              <a:buFont typeface="Arial" pitchFamily="34" charset="0"/>
              <a:buChar char="•"/>
            </a:pPr>
            <a:r>
              <a:rPr lang="en-AU" sz="1200" kern="1200" dirty="0" smtClean="0">
                <a:solidFill>
                  <a:schemeClr val="tx1"/>
                </a:solidFill>
                <a:ea typeface="+mn-ea"/>
                <a:cs typeface="+mn-cs"/>
              </a:rPr>
              <a:t> Staff time sheets</a:t>
            </a:r>
          </a:p>
          <a:p>
            <a:pPr>
              <a:buFont typeface="Arial" pitchFamily="34" charset="0"/>
              <a:buNone/>
            </a:pPr>
            <a:endParaRPr lang="en-US" dirty="0" smtClean="0"/>
          </a:p>
          <a:p>
            <a:pPr>
              <a:buFont typeface="Arial" pitchFamily="34" charset="0"/>
              <a:buNone/>
            </a:pPr>
            <a:r>
              <a:rPr lang="en-US" b="1" dirty="0" smtClean="0"/>
              <a:t>Class  Activity – Handouts</a:t>
            </a:r>
          </a:p>
          <a:p>
            <a:pPr>
              <a:buFont typeface="Arial" pitchFamily="34" charset="0"/>
              <a:buNone/>
            </a:pPr>
            <a:r>
              <a:rPr lang="en-US" b="0" dirty="0" smtClean="0"/>
              <a:t>Trainer distributes and discusses sample enterprise budget guidelines.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budget monitoring practices:</a:t>
            </a:r>
          </a:p>
          <a:p>
            <a:r>
              <a:rPr lang="en-AU" sz="1200" b="1" kern="1200" dirty="0" smtClean="0">
                <a:solidFill>
                  <a:schemeClr val="tx1"/>
                </a:solidFill>
                <a:ea typeface="+mn-ea"/>
                <a:cs typeface="+mn-cs"/>
              </a:rPr>
              <a:t>Planning financial management approaches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This can require PM</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to:</a:t>
            </a:r>
          </a:p>
          <a:p>
            <a:pPr>
              <a:buFont typeface="Arial" pitchFamily="34" charset="0"/>
              <a:buChar char="•"/>
            </a:pPr>
            <a:r>
              <a:rPr lang="en-AU" sz="1200" kern="1200" dirty="0" smtClean="0">
                <a:solidFill>
                  <a:schemeClr val="tx1"/>
                </a:solidFill>
                <a:ea typeface="+mn-ea"/>
                <a:cs typeface="+mn-cs"/>
              </a:rPr>
              <a:t> Access budget/financial plans for the work team</a:t>
            </a:r>
          </a:p>
          <a:p>
            <a:pPr>
              <a:buFont typeface="Arial" pitchFamily="34" charset="0"/>
              <a:buChar char="•"/>
            </a:pPr>
            <a:r>
              <a:rPr lang="en-AU" sz="1200" kern="1200" dirty="0" smtClean="0">
                <a:solidFill>
                  <a:schemeClr val="tx1"/>
                </a:solidFill>
                <a:ea typeface="+mn-ea"/>
                <a:cs typeface="+mn-cs"/>
              </a:rPr>
              <a:t> Clarify budget/financial plans with relevant personnel within the organisation to ensure that documented outcomes are achievable, accurate and comprehensible</a:t>
            </a:r>
          </a:p>
          <a:p>
            <a:pPr>
              <a:buFont typeface="Arial" pitchFamily="34" charset="0"/>
              <a:buChar char="•"/>
            </a:pPr>
            <a:r>
              <a:rPr lang="en-AU" sz="1200" kern="1200" dirty="0" smtClean="0">
                <a:solidFill>
                  <a:schemeClr val="tx1"/>
                </a:solidFill>
                <a:ea typeface="+mn-ea"/>
                <a:cs typeface="+mn-cs"/>
              </a:rPr>
              <a:t> Negotiate any changes required to be made to budget/financial plans with relevant personnel within the organisation</a:t>
            </a:r>
          </a:p>
          <a:p>
            <a:pPr>
              <a:buFont typeface="Arial" pitchFamily="34" charset="0"/>
              <a:buChar char="•"/>
            </a:pPr>
            <a:r>
              <a:rPr lang="en-AU" sz="1200" kern="1200" dirty="0" smtClean="0">
                <a:solidFill>
                  <a:schemeClr val="tx1"/>
                </a:solidFill>
                <a:ea typeface="+mn-ea"/>
                <a:cs typeface="+mn-cs"/>
              </a:rPr>
              <a:t> Prepare contingency plans in the event that initial plans need to be varied</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accountant/bookkeeper to attend and talk to students about:</a:t>
            </a:r>
          </a:p>
          <a:p>
            <a:pPr>
              <a:buFont typeface="Arial" pitchFamily="34" charset="0"/>
              <a:buChar char="•"/>
            </a:pPr>
            <a:r>
              <a:rPr lang="en-AU" sz="1200" kern="1200" dirty="0" smtClean="0">
                <a:solidFill>
                  <a:schemeClr val="tx1"/>
                </a:solidFill>
                <a:ea typeface="+mn-ea"/>
                <a:cs typeface="+mn-cs"/>
              </a:rPr>
              <a:t> Enterprise guidelines for budget monitoring</a:t>
            </a:r>
          </a:p>
          <a:p>
            <a:pPr>
              <a:buFont typeface="Arial" pitchFamily="34" charset="0"/>
              <a:buChar char="•"/>
            </a:pPr>
            <a:r>
              <a:rPr lang="en-AU" sz="1200" kern="1200" dirty="0" smtClean="0">
                <a:solidFill>
                  <a:schemeClr val="tx1"/>
                </a:solidFill>
                <a:ea typeface="+mn-ea"/>
                <a:cs typeface="+mn-cs"/>
              </a:rPr>
              <a:t> Practices involved in budget monitoring</a:t>
            </a:r>
          </a:p>
          <a:p>
            <a:pPr>
              <a:buFont typeface="Arial" pitchFamily="34" charset="0"/>
              <a:buChar char="•"/>
            </a:pPr>
            <a:r>
              <a:rPr lang="en-AU" sz="1200" kern="1200" dirty="0" smtClean="0">
                <a:solidFill>
                  <a:schemeClr val="tx1"/>
                </a:solidFill>
                <a:ea typeface="+mn-ea"/>
                <a:cs typeface="+mn-cs"/>
              </a:rPr>
              <a:t> Identification of</a:t>
            </a:r>
            <a:r>
              <a:rPr lang="en-AU" sz="1200" kern="1200" baseline="0" dirty="0" smtClean="0">
                <a:solidFill>
                  <a:schemeClr val="tx1"/>
                </a:solidFill>
                <a:ea typeface="+mn-ea"/>
                <a:cs typeface="+mn-cs"/>
              </a:rPr>
              <a:t> deviations</a:t>
            </a:r>
          </a:p>
          <a:p>
            <a:pPr>
              <a:buFont typeface="Arial" pitchFamily="34" charset="0"/>
              <a:buChar char="•"/>
            </a:pPr>
            <a:r>
              <a:rPr lang="en-US" sz="1200" kern="1200" dirty="0" smtClean="0">
                <a:solidFill>
                  <a:schemeClr val="tx1"/>
                </a:solidFill>
                <a:ea typeface="+mn-ea"/>
                <a:cs typeface="+mn-cs"/>
              </a:rPr>
              <a:t> Contingency plans for budgets.</a:t>
            </a:r>
            <a:endParaRPr lang="en-US"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budget monitoring practices:</a:t>
            </a:r>
          </a:p>
          <a:p>
            <a:r>
              <a:rPr lang="en-AU" sz="1200" b="1" kern="1200" dirty="0" smtClean="0">
                <a:solidFill>
                  <a:schemeClr val="tx1"/>
                </a:solidFill>
                <a:ea typeface="+mn-ea"/>
                <a:cs typeface="+mn-cs"/>
              </a:rPr>
              <a:t>Implement financial management approaches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This can require PM to:</a:t>
            </a:r>
          </a:p>
          <a:p>
            <a:pPr>
              <a:buFont typeface="Arial" pitchFamily="34" charset="0"/>
              <a:buChar char="•"/>
            </a:pPr>
            <a:r>
              <a:rPr lang="en-AU" sz="1200" kern="1200" dirty="0" smtClean="0">
                <a:solidFill>
                  <a:schemeClr val="tx1"/>
                </a:solidFill>
                <a:ea typeface="+mn-ea"/>
                <a:cs typeface="+mn-cs"/>
              </a:rPr>
              <a:t> Disseminate relevant details of the agreed budget/financial plans to team members</a:t>
            </a:r>
          </a:p>
          <a:p>
            <a:pPr>
              <a:buFont typeface="Arial" pitchFamily="34" charset="0"/>
              <a:buChar char="•"/>
            </a:pPr>
            <a:r>
              <a:rPr lang="en-AU" sz="1200" kern="1200" dirty="0" smtClean="0">
                <a:solidFill>
                  <a:schemeClr val="tx1"/>
                </a:solidFill>
                <a:ea typeface="+mn-ea"/>
                <a:cs typeface="+mn-cs"/>
              </a:rPr>
              <a:t> Provide support to ensure that team members can competently perform required roles associated with the management of finances</a:t>
            </a:r>
          </a:p>
          <a:p>
            <a:pPr>
              <a:buFont typeface="Arial" pitchFamily="34" charset="0"/>
              <a:buChar char="•"/>
            </a:pPr>
            <a:r>
              <a:rPr lang="en-AU" sz="1200" kern="1200" dirty="0" smtClean="0">
                <a:solidFill>
                  <a:schemeClr val="tx1"/>
                </a:solidFill>
                <a:ea typeface="+mn-ea"/>
                <a:cs typeface="+mn-cs"/>
              </a:rPr>
              <a:t> Determine and access resources and systems to manage financial management processes within the work team.</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budget monitoring practices:</a:t>
            </a:r>
          </a:p>
          <a:p>
            <a:r>
              <a:rPr lang="en-AU" sz="1200" b="1" kern="1200" dirty="0" smtClean="0">
                <a:solidFill>
                  <a:schemeClr val="tx1"/>
                </a:solidFill>
                <a:ea typeface="+mn-ea"/>
                <a:cs typeface="+mn-cs"/>
              </a:rPr>
              <a:t>Monitoring financial activities against budget</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This can require PM to:</a:t>
            </a:r>
          </a:p>
          <a:p>
            <a:pPr>
              <a:buFont typeface="Arial" pitchFamily="34" charset="0"/>
              <a:buChar char="•"/>
            </a:pPr>
            <a:r>
              <a:rPr lang="en-AU" sz="1200" kern="1200" dirty="0" smtClean="0">
                <a:solidFill>
                  <a:schemeClr val="tx1"/>
                </a:solidFill>
                <a:ea typeface="+mn-ea"/>
                <a:cs typeface="+mn-cs"/>
              </a:rPr>
              <a:t> Check actual income and expenditure against budgets at regular intervals</a:t>
            </a:r>
          </a:p>
          <a:p>
            <a:pPr>
              <a:buFont typeface="Arial" pitchFamily="34" charset="0"/>
              <a:buChar char="•"/>
            </a:pPr>
            <a:r>
              <a:rPr lang="en-AU" sz="1200" kern="1200" dirty="0" smtClean="0">
                <a:solidFill>
                  <a:schemeClr val="tx1"/>
                </a:solidFill>
                <a:ea typeface="+mn-ea"/>
                <a:cs typeface="+mn-cs"/>
              </a:rPr>
              <a:t> Include financial commitments in all documentation to ensure accurate monitoring</a:t>
            </a:r>
          </a:p>
          <a:p>
            <a:pPr>
              <a:buFont typeface="Arial" pitchFamily="34" charset="0"/>
              <a:buChar char="•"/>
            </a:pPr>
            <a:r>
              <a:rPr lang="en-AU" sz="1200" kern="1200" dirty="0" smtClean="0">
                <a:solidFill>
                  <a:schemeClr val="tx1"/>
                </a:solidFill>
                <a:ea typeface="+mn-ea"/>
                <a:cs typeface="+mn-cs"/>
              </a:rPr>
              <a:t> Identify and report deviations according to organisation policy and significance of deviation</a:t>
            </a:r>
          </a:p>
          <a:p>
            <a:pPr>
              <a:buFont typeface="Arial" pitchFamily="34" charset="0"/>
              <a:buChar char="•"/>
            </a:pPr>
            <a:r>
              <a:rPr lang="en-AU" sz="1200" kern="1200" dirty="0" smtClean="0">
                <a:solidFill>
                  <a:schemeClr val="tx1"/>
                </a:solidFill>
                <a:ea typeface="+mn-ea"/>
                <a:cs typeface="+mn-cs"/>
              </a:rPr>
              <a:t> Investigate appropriate options for more effective management of deviations</a:t>
            </a:r>
          </a:p>
          <a:p>
            <a:pPr>
              <a:buFont typeface="Arial" pitchFamily="34" charset="0"/>
              <a:buChar char="•"/>
            </a:pPr>
            <a:r>
              <a:rPr lang="en-AU" sz="1200" kern="1200" dirty="0" smtClean="0">
                <a:solidFill>
                  <a:schemeClr val="tx1"/>
                </a:solidFill>
                <a:ea typeface="+mn-ea"/>
                <a:cs typeface="+mn-cs"/>
              </a:rPr>
              <a:t> Advise appropriate colleagues of budget status in relation to targets, within agreed timeframes.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budget monitoring practices:</a:t>
            </a:r>
          </a:p>
          <a:p>
            <a:r>
              <a:rPr lang="en-AU" sz="1200" b="1" kern="1200" dirty="0" smtClean="0">
                <a:solidFill>
                  <a:schemeClr val="tx1"/>
                </a:solidFill>
                <a:ea typeface="+mn-ea"/>
                <a:cs typeface="+mn-cs"/>
              </a:rPr>
              <a:t>Identifying and evaluating options for improved budget performance</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This can require PM to:</a:t>
            </a:r>
          </a:p>
          <a:p>
            <a:pPr>
              <a:buFont typeface="Arial" pitchFamily="34" charset="0"/>
              <a:buChar char="•"/>
            </a:pPr>
            <a:r>
              <a:rPr lang="en-AU" sz="1200" kern="1200" dirty="0" smtClean="0">
                <a:solidFill>
                  <a:schemeClr val="tx1"/>
                </a:solidFill>
                <a:ea typeface="+mn-ea"/>
                <a:cs typeface="+mn-cs"/>
              </a:rPr>
              <a:t> Assess existing costs and resources and proactively identify areas for improvement</a:t>
            </a:r>
          </a:p>
          <a:p>
            <a:pPr>
              <a:buFont typeface="Arial" pitchFamily="34" charset="0"/>
              <a:buChar char="•"/>
            </a:pPr>
            <a:r>
              <a:rPr lang="en-AU" sz="1200" kern="1200" dirty="0" smtClean="0">
                <a:solidFill>
                  <a:schemeClr val="tx1"/>
                </a:solidFill>
                <a:ea typeface="+mn-ea"/>
                <a:cs typeface="+mn-cs"/>
              </a:rPr>
              <a:t> Discuss desired budget outcomes with relevant colleagues</a:t>
            </a:r>
          </a:p>
          <a:p>
            <a:pPr>
              <a:buFont typeface="Arial" pitchFamily="34" charset="0"/>
              <a:buChar char="•"/>
            </a:pPr>
            <a:r>
              <a:rPr lang="en-AU" sz="1200" kern="1200" dirty="0" smtClean="0">
                <a:solidFill>
                  <a:schemeClr val="tx1"/>
                </a:solidFill>
                <a:ea typeface="+mn-ea"/>
                <a:cs typeface="+mn-cs"/>
              </a:rPr>
              <a:t> Undertake appropriate research to investigate new approaches to budget management</a:t>
            </a:r>
          </a:p>
          <a:p>
            <a:pPr>
              <a:buFont typeface="Arial" pitchFamily="34" charset="0"/>
              <a:buChar char="•"/>
            </a:pPr>
            <a:r>
              <a:rPr lang="en-AU" sz="1200" kern="1200" dirty="0" smtClean="0">
                <a:solidFill>
                  <a:schemeClr val="tx1"/>
                </a:solidFill>
                <a:ea typeface="+mn-ea"/>
                <a:cs typeface="+mn-cs"/>
              </a:rPr>
              <a:t> Define and communicate clearly the benefits and disadvantages of new approaches</a:t>
            </a:r>
          </a:p>
          <a:p>
            <a:pPr>
              <a:buFont typeface="Arial" pitchFamily="34" charset="0"/>
              <a:buChar char="•"/>
            </a:pPr>
            <a:r>
              <a:rPr lang="en-AU" sz="1200" kern="1200" dirty="0" smtClean="0">
                <a:solidFill>
                  <a:schemeClr val="tx1"/>
                </a:solidFill>
                <a:ea typeface="+mn-ea"/>
                <a:cs typeface="+mn-cs"/>
              </a:rPr>
              <a:t> Take account of impacts on customer service levels and colleagues in developing new approaches </a:t>
            </a:r>
          </a:p>
          <a:p>
            <a:pPr>
              <a:buFont typeface="Arial" pitchFamily="34" charset="0"/>
              <a:buChar char="•"/>
            </a:pPr>
            <a:r>
              <a:rPr lang="en-AU" sz="1200" kern="1200" dirty="0" smtClean="0">
                <a:solidFill>
                  <a:schemeClr val="tx1"/>
                </a:solidFill>
                <a:ea typeface="+mn-ea"/>
                <a:cs typeface="+mn-cs"/>
              </a:rPr>
              <a:t> Present recommendations for budget management clearly and logically to the appropriate person or department.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explains </a:t>
            </a:r>
            <a:r>
              <a:rPr lang="en-AU" sz="1200" kern="1200" dirty="0" smtClean="0">
                <a:solidFill>
                  <a:schemeClr val="tx1"/>
                </a:solidFill>
                <a:ea typeface="+mn-ea"/>
                <a:cs typeface="+mn-cs"/>
              </a:rPr>
              <a:t>it is a standard requirement all projects are subject to some form of reporting requirements and these may be in:</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 Verbal form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 Written forms</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ea typeface="+mn-ea"/>
                <a:cs typeface="+mn-cs"/>
              </a:rPr>
              <a:t>May be required to make a formal presentation of your report during which you can be asked questions by those in attendance (the stakeholders for the project), and expected to explain irregularities and shortcomings as well as justify decisions made and action taken.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further explains </a:t>
            </a:r>
            <a:r>
              <a:rPr lang="en-AU" sz="1200" kern="1200" dirty="0" smtClean="0">
                <a:solidFill>
                  <a:schemeClr val="tx1"/>
                </a:solidFill>
                <a:ea typeface="+mn-ea"/>
                <a:cs typeface="+mn-cs"/>
              </a:rPr>
              <a:t>reports may be required:</a:t>
            </a:r>
          </a:p>
          <a:p>
            <a:pPr>
              <a:buFont typeface="Arial" pitchFamily="34" charset="0"/>
              <a:buChar char="•"/>
            </a:pPr>
            <a:r>
              <a:rPr lang="en-AU" sz="1200" kern="1200" dirty="0" smtClean="0">
                <a:solidFill>
                  <a:schemeClr val="tx1"/>
                </a:solidFill>
                <a:ea typeface="+mn-ea"/>
                <a:cs typeface="+mn-cs"/>
              </a:rPr>
              <a:t> When the project commences – an Inception report</a:t>
            </a:r>
          </a:p>
          <a:p>
            <a:pPr>
              <a:buFont typeface="Arial" pitchFamily="34" charset="0"/>
              <a:buChar char="•"/>
            </a:pPr>
            <a:r>
              <a:rPr lang="en-AU" sz="1200" kern="1200" dirty="0" smtClean="0">
                <a:solidFill>
                  <a:schemeClr val="tx1"/>
                </a:solidFill>
                <a:ea typeface="+mn-ea"/>
                <a:cs typeface="+mn-cs"/>
              </a:rPr>
              <a:t> Throughout the project – known as ‘Progress reports’</a:t>
            </a:r>
          </a:p>
          <a:p>
            <a:pPr>
              <a:buFont typeface="Arial" pitchFamily="34" charset="0"/>
              <a:buChar char="•"/>
            </a:pPr>
            <a:r>
              <a:rPr lang="en-AU" sz="1200" kern="1200" dirty="0" smtClean="0">
                <a:solidFill>
                  <a:schemeClr val="tx1"/>
                </a:solidFill>
                <a:ea typeface="+mn-ea"/>
                <a:cs typeface="+mn-cs"/>
              </a:rPr>
              <a:t> On conclusion of the project – called a ‘Final report’.</a:t>
            </a:r>
          </a:p>
          <a:p>
            <a:r>
              <a:rPr lang="en-AU" sz="1200" kern="1200" dirty="0" smtClean="0">
                <a:solidFill>
                  <a:schemeClr val="tx1"/>
                </a:solidFill>
                <a:ea typeface="+mn-ea"/>
                <a:cs typeface="+mn-cs"/>
              </a:rPr>
              <a:t>The timing of these reports should be negotiated with stakeholders as part of the planning process so you know well in advance what your reporting obligations are.</a:t>
            </a:r>
          </a:p>
          <a:p>
            <a:r>
              <a:rPr lang="en-AU" sz="1200" kern="1200" dirty="0" smtClean="0">
                <a:solidFill>
                  <a:schemeClr val="tx1"/>
                </a:solidFill>
                <a:ea typeface="+mn-ea"/>
                <a:cs typeface="+mn-cs"/>
              </a:rPr>
              <a:t>Note that submitting required reports on the dates they are due is as important as completing the project in accordance with the timelines for the project.</a:t>
            </a:r>
          </a:p>
          <a:p>
            <a:pPr>
              <a:buFont typeface="Arial" pitchFamily="34" charset="0"/>
              <a:buNone/>
            </a:pPr>
            <a:endParaRPr lang="en-US" dirty="0" smtClean="0"/>
          </a:p>
          <a:p>
            <a:pPr>
              <a:buFont typeface="Arial" pitchFamily="34" charset="0"/>
              <a:buNone/>
            </a:pPr>
            <a:r>
              <a:rPr lang="en-US" b="1" dirty="0" smtClean="0"/>
              <a:t>Class Activity – Handouts</a:t>
            </a:r>
          </a:p>
          <a:p>
            <a:pPr>
              <a:buFont typeface="Arial" pitchFamily="34" charset="0"/>
              <a:buNone/>
            </a:pPr>
            <a:r>
              <a:rPr lang="en-US" b="0" dirty="0" smtClean="0"/>
              <a:t>Trainer distributes</a:t>
            </a:r>
            <a:r>
              <a:rPr lang="en-US" b="0" baseline="0" dirty="0" smtClean="0"/>
              <a:t> and discusses samples of:</a:t>
            </a:r>
          </a:p>
          <a:p>
            <a:pPr>
              <a:buFont typeface="Arial" pitchFamily="34" charset="0"/>
              <a:buChar char="•"/>
            </a:pPr>
            <a:r>
              <a:rPr lang="en-AU" sz="1200" kern="1200" dirty="0" smtClean="0">
                <a:solidFill>
                  <a:schemeClr val="tx1"/>
                </a:solidFill>
                <a:ea typeface="+mn-ea"/>
                <a:cs typeface="+mn-cs"/>
              </a:rPr>
              <a:t> Inception report</a:t>
            </a:r>
          </a:p>
          <a:p>
            <a:pPr>
              <a:buFont typeface="Arial" pitchFamily="34" charset="0"/>
              <a:buChar char="•"/>
            </a:pPr>
            <a:r>
              <a:rPr lang="en-AU" sz="1200" kern="1200" dirty="0" smtClean="0">
                <a:solidFill>
                  <a:schemeClr val="tx1"/>
                </a:solidFill>
                <a:ea typeface="+mn-ea"/>
                <a:cs typeface="+mn-cs"/>
              </a:rPr>
              <a:t> Progress reports</a:t>
            </a:r>
          </a:p>
          <a:p>
            <a:pPr>
              <a:buFont typeface="Arial" pitchFamily="34" charset="0"/>
              <a:buChar char="•"/>
            </a:pPr>
            <a:r>
              <a:rPr lang="en-AU" sz="1200" kern="1200" dirty="0" smtClean="0">
                <a:solidFill>
                  <a:schemeClr val="tx1"/>
                </a:solidFill>
                <a:ea typeface="+mn-ea"/>
                <a:cs typeface="+mn-cs"/>
              </a:rPr>
              <a:t> Final report’</a:t>
            </a:r>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highlights need to involve others in the preparation of reports advising </a:t>
            </a:r>
            <a:r>
              <a:rPr lang="en-AU" sz="1200" kern="1200" dirty="0" smtClean="0">
                <a:solidFill>
                  <a:schemeClr val="tx1"/>
                </a:solidFill>
                <a:ea typeface="+mn-ea"/>
                <a:cs typeface="+mn-cs"/>
              </a:rPr>
              <a:t>this means involving and seeking input and comment from:</a:t>
            </a:r>
          </a:p>
          <a:p>
            <a:pPr>
              <a:buFont typeface="Arial" pitchFamily="34" charset="0"/>
              <a:buChar char="•"/>
            </a:pPr>
            <a:r>
              <a:rPr lang="en-AU" sz="1200" kern="1200" dirty="0" smtClean="0">
                <a:solidFill>
                  <a:schemeClr val="tx1"/>
                </a:solidFill>
                <a:ea typeface="+mn-ea"/>
                <a:cs typeface="+mn-cs"/>
              </a:rPr>
              <a:t> The client</a:t>
            </a:r>
          </a:p>
          <a:p>
            <a:pPr>
              <a:buFont typeface="Arial" pitchFamily="34" charset="0"/>
              <a:buChar char="•"/>
            </a:pPr>
            <a:r>
              <a:rPr lang="en-AU" sz="1200" kern="1200" dirty="0" smtClean="0">
                <a:solidFill>
                  <a:schemeClr val="tx1"/>
                </a:solidFill>
                <a:ea typeface="+mn-ea"/>
                <a:cs typeface="+mn-cs"/>
              </a:rPr>
              <a:t> Your project team members</a:t>
            </a:r>
          </a:p>
          <a:p>
            <a:pPr>
              <a:buFont typeface="Arial" pitchFamily="34" charset="0"/>
              <a:buChar char="•"/>
            </a:pPr>
            <a:r>
              <a:rPr lang="en-AU" sz="1200" kern="1200" dirty="0" smtClean="0">
                <a:solidFill>
                  <a:schemeClr val="tx1"/>
                </a:solidFill>
                <a:ea typeface="+mn-ea"/>
                <a:cs typeface="+mn-cs"/>
              </a:rPr>
              <a:t> The Steering Committee</a:t>
            </a:r>
          </a:p>
          <a:p>
            <a:pPr>
              <a:buFont typeface="Arial" pitchFamily="34" charset="0"/>
              <a:buChar char="•"/>
            </a:pPr>
            <a:r>
              <a:rPr lang="en-AU" sz="1200" kern="1200" dirty="0" smtClean="0">
                <a:solidFill>
                  <a:schemeClr val="tx1"/>
                </a:solidFill>
                <a:ea typeface="+mn-ea"/>
                <a:cs typeface="+mn-cs"/>
              </a:rPr>
              <a:t> External providers and contractors</a:t>
            </a:r>
          </a:p>
          <a:p>
            <a:pPr>
              <a:buFont typeface="Arial" pitchFamily="34" charset="0"/>
              <a:buChar char="•"/>
            </a:pPr>
            <a:r>
              <a:rPr lang="en-AU" sz="1200" kern="1200" dirty="0" smtClean="0">
                <a:solidFill>
                  <a:schemeClr val="tx1"/>
                </a:solidFill>
                <a:ea typeface="+mn-ea"/>
                <a:cs typeface="+mn-cs"/>
              </a:rPr>
              <a:t> Any other body/organisation who have had significant impact on the project or who can be expected to have significant impact.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role of </a:t>
            </a:r>
            <a:r>
              <a:rPr lang="en-AU" dirty="0" smtClean="0"/>
              <a:t>project </a:t>
            </a:r>
            <a:r>
              <a:rPr lang="en-AU" sz="1200" kern="1200" dirty="0" smtClean="0">
                <a:solidFill>
                  <a:schemeClr val="tx1"/>
                </a:solidFill>
                <a:ea typeface="+mn-ea"/>
                <a:cs typeface="+mn-cs"/>
              </a:rPr>
              <a:t>reports:</a:t>
            </a:r>
          </a:p>
          <a:p>
            <a:pPr>
              <a:buFont typeface="Arial" pitchFamily="34" charset="0"/>
              <a:buChar char="•"/>
            </a:pPr>
            <a:r>
              <a:rPr lang="en-AU" sz="1200" kern="1200" dirty="0" smtClean="0">
                <a:solidFill>
                  <a:schemeClr val="tx1"/>
                </a:solidFill>
                <a:ea typeface="+mn-ea"/>
                <a:cs typeface="+mn-cs"/>
              </a:rPr>
              <a:t> Enable communication with stakeholders regarding progress of the project including identification of issues arising, delays and their cause, and foreseeable problems.</a:t>
            </a:r>
          </a:p>
          <a:p>
            <a:pPr lvl="1">
              <a:buFont typeface="Arial" pitchFamily="34" charset="0"/>
              <a:buChar char="•"/>
            </a:pPr>
            <a:r>
              <a:rPr lang="en-AU" sz="1200" kern="1200" dirty="0" smtClean="0">
                <a:solidFill>
                  <a:schemeClr val="tx1"/>
                </a:solidFill>
                <a:ea typeface="+mn-ea"/>
                <a:cs typeface="+mn-cs"/>
              </a:rPr>
              <a:t> In this way reports look backwards at what has happened, and also looks forward to what may be expected to happen.</a:t>
            </a:r>
          </a:p>
          <a:p>
            <a:pPr>
              <a:buFont typeface="Arial" pitchFamily="34" charset="0"/>
              <a:buChar char="•"/>
            </a:pPr>
            <a:r>
              <a:rPr lang="en-AU" sz="1200" kern="1200" dirty="0" smtClean="0">
                <a:solidFill>
                  <a:schemeClr val="tx1"/>
                </a:solidFill>
                <a:ea typeface="+mn-ea"/>
                <a:cs typeface="+mn-cs"/>
              </a:rPr>
              <a:t> Help you demonstrate openness, due diligence, accountability, honesty, transparency and general management practices applied to the project</a:t>
            </a:r>
          </a:p>
          <a:p>
            <a:pPr>
              <a:buFont typeface="Arial" pitchFamily="34" charset="0"/>
              <a:buChar char="•"/>
            </a:pPr>
            <a:r>
              <a:rPr lang="en-AU" sz="1200" kern="1200" dirty="0" smtClean="0">
                <a:solidFill>
                  <a:schemeClr val="tx1"/>
                </a:solidFill>
                <a:ea typeface="+mn-ea"/>
                <a:cs typeface="+mn-cs"/>
              </a:rPr>
              <a:t> May be a term of the contract for a project that exists with,</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for example, a funding agency/authority</a:t>
            </a:r>
          </a:p>
          <a:p>
            <a:pPr>
              <a:buFont typeface="Arial" pitchFamily="34" charset="0"/>
              <a:buChar char="•"/>
            </a:pPr>
            <a:r>
              <a:rPr lang="en-AU" sz="1200" kern="1200" dirty="0" smtClean="0">
                <a:solidFill>
                  <a:schemeClr val="tx1"/>
                </a:solidFill>
                <a:ea typeface="+mn-ea"/>
                <a:cs typeface="+mn-cs"/>
              </a:rPr>
              <a:t> Provide hard copy information for future reference.</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 reports should be filed and form part of a growing body of information that can be referred to learn lessons</a:t>
            </a:r>
          </a:p>
          <a:p>
            <a:pPr>
              <a:buFont typeface="Arial" pitchFamily="34" charset="0"/>
              <a:buChar char="•"/>
            </a:pPr>
            <a:r>
              <a:rPr lang="en-AU" sz="1200" kern="1200" dirty="0" smtClean="0">
                <a:solidFill>
                  <a:schemeClr val="tx1"/>
                </a:solidFill>
                <a:ea typeface="+mn-ea"/>
                <a:cs typeface="+mn-cs"/>
              </a:rPr>
              <a:t> Allow another opportunity for you to talk to the stakeholders to express fears about the project, convey impressions about providers, identify concerns and give a general appraisal of the project across all relevant topics and issues.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170</a:t>
            </a:fld>
            <a:endParaRPr lang="en-US" dirty="0"/>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topics regularly addressed by</a:t>
            </a:r>
            <a:r>
              <a:rPr lang="en-US" baseline="0" dirty="0" smtClean="0"/>
              <a:t> reports:</a:t>
            </a:r>
          </a:p>
          <a:p>
            <a:pPr>
              <a:buFont typeface="Arial" pitchFamily="34" charset="0"/>
              <a:buChar char="•"/>
            </a:pPr>
            <a:r>
              <a:rPr lang="en-AU" sz="1200" kern="1200" dirty="0" smtClean="0">
                <a:solidFill>
                  <a:schemeClr val="tx1"/>
                </a:solidFill>
                <a:ea typeface="+mn-ea"/>
                <a:cs typeface="+mn-cs"/>
              </a:rPr>
              <a:t> The extent to which required outcomes as identified in the project plan have actually been achieved and,</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as applicable, the extent to which this area is behind or in front of the timelines. This is a central part of any report and focuses on the extent to which deliverables are being achieved. Comments in this part of the report should also address:</a:t>
            </a:r>
          </a:p>
          <a:p>
            <a:pPr lvl="1">
              <a:buFont typeface="Arial" pitchFamily="34" charset="0"/>
              <a:buChar char="•"/>
            </a:pPr>
            <a:r>
              <a:rPr lang="en-AU" sz="1200" kern="1200" dirty="0" smtClean="0">
                <a:solidFill>
                  <a:schemeClr val="tx1"/>
                </a:solidFill>
                <a:ea typeface="+mn-ea"/>
                <a:cs typeface="+mn-cs"/>
              </a:rPr>
              <a:t> Quality and quality-related issues</a:t>
            </a:r>
          </a:p>
          <a:p>
            <a:pPr lvl="1">
              <a:buFont typeface="Arial" pitchFamily="34" charset="0"/>
              <a:buChar char="•"/>
            </a:pPr>
            <a:r>
              <a:rPr lang="en-AU" sz="1200" kern="1200" dirty="0" smtClean="0">
                <a:solidFill>
                  <a:schemeClr val="tx1"/>
                </a:solidFill>
                <a:ea typeface="+mn-ea"/>
                <a:cs typeface="+mn-cs"/>
              </a:rPr>
              <a:t> Use of physical resources</a:t>
            </a:r>
          </a:p>
          <a:p>
            <a:pPr>
              <a:buFont typeface="Arial" pitchFamily="34" charset="0"/>
              <a:buChar char="•"/>
            </a:pPr>
            <a:r>
              <a:rPr lang="en-AU" sz="1200" kern="1200" dirty="0" smtClean="0">
                <a:solidFill>
                  <a:schemeClr val="tx1"/>
                </a:solidFill>
                <a:ea typeface="+mn-ea"/>
                <a:cs typeface="+mn-cs"/>
              </a:rPr>
              <a:t> Budget – identifying the money spent and percentage of allocated funds which have been spent. </a:t>
            </a:r>
          </a:p>
          <a:p>
            <a:pPr lvl="1">
              <a:buFont typeface="Arial" pitchFamily="34" charset="0"/>
              <a:buChar char="•"/>
            </a:pPr>
            <a:r>
              <a:rPr lang="en-AU" sz="1200" kern="1200" dirty="0" smtClean="0">
                <a:solidFill>
                  <a:schemeClr val="tx1"/>
                </a:solidFill>
                <a:ea typeface="+mn-ea"/>
                <a:cs typeface="+mn-cs"/>
              </a:rPr>
              <a:t> A copy of supporting documentation may be included as part of budget coverage</a:t>
            </a:r>
          </a:p>
          <a:p>
            <a:pPr lvl="1">
              <a:buFont typeface="Arial" pitchFamily="34" charset="0"/>
              <a:buChar char="•"/>
            </a:pP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Input/feedback from stakeholders regarding the project – such as:</a:t>
            </a:r>
          </a:p>
          <a:p>
            <a:pPr lvl="1">
              <a:buFont typeface="Arial" pitchFamily="34" charset="0"/>
              <a:buChar char="•"/>
            </a:pPr>
            <a:r>
              <a:rPr lang="en-AU" sz="1200" kern="1200" dirty="0" smtClean="0">
                <a:solidFill>
                  <a:schemeClr val="tx1"/>
                </a:solidFill>
                <a:ea typeface="+mn-ea"/>
                <a:cs typeface="+mn-cs"/>
              </a:rPr>
              <a:t> Identification of issues </a:t>
            </a:r>
          </a:p>
          <a:p>
            <a:pPr lvl="1">
              <a:buFont typeface="Arial" pitchFamily="34" charset="0"/>
              <a:buChar char="•"/>
            </a:pPr>
            <a:r>
              <a:rPr lang="en-AU" sz="1200" kern="1200" dirty="0" smtClean="0">
                <a:solidFill>
                  <a:schemeClr val="tx1"/>
                </a:solidFill>
                <a:ea typeface="+mn-ea"/>
                <a:cs typeface="+mn-cs"/>
              </a:rPr>
              <a:t> Complaints </a:t>
            </a:r>
          </a:p>
          <a:p>
            <a:pPr lvl="1">
              <a:buFont typeface="Arial" pitchFamily="34" charset="0"/>
              <a:buChar char="•"/>
            </a:pPr>
            <a:r>
              <a:rPr lang="en-AU" sz="1200" kern="1200" dirty="0" smtClean="0">
                <a:solidFill>
                  <a:schemeClr val="tx1"/>
                </a:solidFill>
                <a:ea typeface="+mn-ea"/>
                <a:cs typeface="+mn-cs"/>
              </a:rPr>
              <a:t> Compliments received regarding the project </a:t>
            </a:r>
          </a:p>
          <a:p>
            <a:pPr lvl="1">
              <a:buFont typeface="Arial" pitchFamily="34" charset="0"/>
              <a:buChar char="•"/>
            </a:pPr>
            <a:r>
              <a:rPr lang="en-AU" sz="1200" kern="1200" dirty="0" smtClean="0">
                <a:solidFill>
                  <a:schemeClr val="tx1"/>
                </a:solidFill>
                <a:ea typeface="+mn-ea"/>
                <a:cs typeface="+mn-cs"/>
              </a:rPr>
              <a:t> Issues suppliers/contractors believe have the potential to impact on deliverables</a:t>
            </a:r>
          </a:p>
          <a:p>
            <a:pPr>
              <a:buFont typeface="Arial" pitchFamily="34" charset="0"/>
              <a:buChar char="•"/>
            </a:pPr>
            <a:r>
              <a:rPr lang="en-AU" sz="1200" kern="1200" dirty="0" smtClean="0">
                <a:solidFill>
                  <a:schemeClr val="tx1"/>
                </a:solidFill>
                <a:ea typeface="+mn-ea"/>
                <a:cs typeface="+mn-cs"/>
              </a:rPr>
              <a:t> Issues arising –and issues of concern to you.</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171</a:t>
            </a:fld>
            <a:endParaRPr lang="en-US" dirty="0"/>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states a </a:t>
            </a:r>
            <a:r>
              <a:rPr lang="en-AU" sz="1200" kern="1200" dirty="0" smtClean="0">
                <a:solidFill>
                  <a:schemeClr val="tx1"/>
                </a:solidFill>
                <a:ea typeface="+mn-ea"/>
                <a:cs typeface="+mn-cs"/>
              </a:rPr>
              <a:t>key requirement for any project is to complete it as intended within the required time lines identifying the following as possible actions which may need</a:t>
            </a:r>
            <a:r>
              <a:rPr lang="en-AU" sz="1200" kern="1200" baseline="0" dirty="0" smtClean="0">
                <a:solidFill>
                  <a:schemeClr val="tx1"/>
                </a:solidFill>
                <a:ea typeface="+mn-ea"/>
                <a:cs typeface="+mn-cs"/>
              </a:rPr>
              <a:t> to be taken </a:t>
            </a:r>
            <a:r>
              <a:rPr lang="en-AU" sz="1200" kern="1200" dirty="0" smtClean="0">
                <a:solidFill>
                  <a:schemeClr val="tx1"/>
                </a:solidFill>
                <a:ea typeface="+mn-ea"/>
                <a:cs typeface="+mn-cs"/>
              </a:rPr>
              <a:t>from start to finish of a project which will help complete the project on time:</a:t>
            </a:r>
          </a:p>
          <a:p>
            <a:pPr>
              <a:buFont typeface="Arial" pitchFamily="34" charset="0"/>
              <a:buChar char="•"/>
            </a:pPr>
            <a:r>
              <a:rPr lang="en-AU" sz="1200" kern="1200" dirty="0" smtClean="0">
                <a:solidFill>
                  <a:schemeClr val="tx1"/>
                </a:solidFill>
                <a:ea typeface="+mn-ea"/>
                <a:cs typeface="+mn-cs"/>
              </a:rPr>
              <a:t> Conduct appropriate start-up activities making sure all those engaged with the project know exactly what their roles and responsibilities are, and what your expectations are.</a:t>
            </a:r>
          </a:p>
          <a:p>
            <a:pPr lvl="1">
              <a:buFont typeface="Arial" pitchFamily="34" charset="0"/>
              <a:buChar char="•"/>
            </a:pPr>
            <a:r>
              <a:rPr lang="en-AU" sz="1200" kern="1200" dirty="0" smtClean="0">
                <a:solidFill>
                  <a:schemeClr val="tx1"/>
                </a:solidFill>
                <a:ea typeface="+mn-ea"/>
                <a:cs typeface="+mn-cs"/>
              </a:rPr>
              <a:t> The key is final project deliverables are based on initial understanding.</a:t>
            </a:r>
            <a:r>
              <a:rPr lang="en-AU" sz="1200" kern="1200" baseline="0" dirty="0" smtClean="0">
                <a:solidFill>
                  <a:schemeClr val="tx1"/>
                </a:solidFill>
                <a:ea typeface="+mn-ea"/>
                <a:cs typeface="+mn-cs"/>
              </a:rPr>
              <a:t> Y</a:t>
            </a:r>
            <a:r>
              <a:rPr lang="en-AU" sz="1200" kern="1200" dirty="0" smtClean="0">
                <a:solidFill>
                  <a:schemeClr val="tx1"/>
                </a:solidFill>
                <a:ea typeface="+mn-ea"/>
                <a:cs typeface="+mn-cs"/>
              </a:rPr>
              <a:t>ou have to put in place this understanding at the start of the project. </a:t>
            </a:r>
          </a:p>
          <a:p>
            <a:pPr lvl="1">
              <a:buFont typeface="Arial" pitchFamily="34" charset="0"/>
              <a:buChar char="•"/>
            </a:pPr>
            <a:r>
              <a:rPr lang="en-AU" sz="1200" kern="1200" dirty="0" smtClean="0">
                <a:solidFill>
                  <a:schemeClr val="tx1"/>
                </a:solidFill>
                <a:ea typeface="+mn-ea"/>
                <a:cs typeface="+mn-cs"/>
              </a:rPr>
              <a:t> You cannot wait until the end of the project to do it, and you cannot wait until there is a problem before this is addressed.</a:t>
            </a:r>
          </a:p>
          <a:p>
            <a:pPr lvl="1">
              <a:buFont typeface="Arial" pitchFamily="34" charset="0"/>
              <a:buChar char="•"/>
            </a:pPr>
            <a:r>
              <a:rPr lang="en-AU" sz="1200" kern="1200" dirty="0" smtClean="0">
                <a:solidFill>
                  <a:schemeClr val="tx1"/>
                </a:solidFill>
                <a:ea typeface="+mn-ea"/>
                <a:cs typeface="+mn-cs"/>
              </a:rPr>
              <a:t> You have to start the project the way you intend it to be maintained.</a:t>
            </a:r>
          </a:p>
          <a:p>
            <a:pPr>
              <a:buFont typeface="Arial" pitchFamily="34" charset="0"/>
              <a:buChar char="•"/>
            </a:pPr>
            <a:r>
              <a:rPr lang="en-AU" sz="1200" kern="1200" dirty="0" smtClean="0">
                <a:solidFill>
                  <a:schemeClr val="tx1"/>
                </a:solidFill>
                <a:ea typeface="+mn-ea"/>
                <a:cs typeface="+mn-cs"/>
              </a:rPr>
              <a:t> Schedule the provision of all identified and necessary resources:</a:t>
            </a:r>
          </a:p>
          <a:p>
            <a:pPr lvl="1">
              <a:buFont typeface="Arial" pitchFamily="34" charset="0"/>
              <a:buChar char="•"/>
            </a:pPr>
            <a:r>
              <a:rPr lang="en-AU" sz="1200" kern="1200" dirty="0" smtClean="0">
                <a:solidFill>
                  <a:schemeClr val="tx1"/>
                </a:solidFill>
                <a:ea typeface="+mn-ea"/>
                <a:cs typeface="+mn-cs"/>
              </a:rPr>
              <a:t> Staff, contractors, sub-contractors – a primary task of any PM is coordination of resources</a:t>
            </a:r>
          </a:p>
          <a:p>
            <a:pPr lvl="1">
              <a:buFont typeface="Arial" pitchFamily="34" charset="0"/>
              <a:buChar char="•"/>
            </a:pPr>
            <a:r>
              <a:rPr lang="en-AU" sz="1200" kern="1200" dirty="0" smtClean="0">
                <a:solidFill>
                  <a:schemeClr val="tx1"/>
                </a:solidFill>
                <a:ea typeface="+mn-ea"/>
                <a:cs typeface="+mn-cs"/>
              </a:rPr>
              <a:t> Materials, products, systems, plant and equipment</a:t>
            </a:r>
          </a:p>
          <a:p>
            <a:pPr lvl="1">
              <a:buFont typeface="Arial" pitchFamily="34" charset="0"/>
              <a:buChar char="•"/>
            </a:pPr>
            <a:r>
              <a:rPr lang="en-AU" sz="1200" kern="1200" dirty="0" smtClean="0">
                <a:solidFill>
                  <a:schemeClr val="tx1"/>
                </a:solidFill>
                <a:ea typeface="+mn-ea"/>
                <a:cs typeface="+mn-cs"/>
              </a:rPr>
              <a:t> Funds, cash, credit</a:t>
            </a:r>
          </a:p>
          <a:p>
            <a:pPr lvl="1">
              <a:buFont typeface="Arial" pitchFamily="34" charset="0"/>
              <a:buChar char="•"/>
            </a:pPr>
            <a:r>
              <a:rPr lang="en-AU" sz="1200" kern="1200" dirty="0" smtClean="0">
                <a:solidFill>
                  <a:schemeClr val="tx1"/>
                </a:solidFill>
                <a:ea typeface="+mn-ea"/>
                <a:cs typeface="+mn-cs"/>
              </a:rPr>
              <a:t> Inspections and approvals to facilitate further work</a:t>
            </a:r>
            <a:r>
              <a:rPr lang="en-AU" sz="1200" kern="1200" baseline="0" dirty="0" smtClean="0">
                <a:solidFill>
                  <a:schemeClr val="tx1"/>
                </a:solidFill>
                <a:ea typeface="+mn-ea"/>
                <a:cs typeface="+mn-cs"/>
              </a:rPr>
              <a:t> and </a:t>
            </a:r>
            <a:r>
              <a:rPr lang="en-AU" sz="1200" kern="1200" dirty="0" smtClean="0">
                <a:solidFill>
                  <a:schemeClr val="tx1"/>
                </a:solidFill>
                <a:ea typeface="+mn-ea"/>
                <a:cs typeface="+mn-cs"/>
              </a:rPr>
              <a:t>the next tasks</a:t>
            </a:r>
          </a:p>
          <a:p>
            <a:pPr lvl="0">
              <a:buFont typeface="Arial" pitchFamily="34" charset="0"/>
              <a:buChar char="•"/>
            </a:pPr>
            <a:r>
              <a:rPr lang="en-AU" sz="1200" kern="1200" dirty="0" smtClean="0">
                <a:solidFill>
                  <a:schemeClr val="tx1"/>
                </a:solidFill>
                <a:ea typeface="+mn-ea"/>
                <a:cs typeface="+mn-cs"/>
              </a:rPr>
              <a:t> Manage the procurement of resources to ensure required materials and other resources are available when needed. </a:t>
            </a:r>
          </a:p>
          <a:p>
            <a:pPr lvl="1">
              <a:buFont typeface="Arial" pitchFamily="34" charset="0"/>
              <a:buChar char="•"/>
            </a:pPr>
            <a:r>
              <a:rPr lang="en-AU" sz="1200" kern="1200" dirty="0" smtClean="0">
                <a:solidFill>
                  <a:schemeClr val="tx1"/>
                </a:solidFill>
                <a:ea typeface="+mn-ea"/>
                <a:cs typeface="+mn-cs"/>
              </a:rPr>
              <a:t> Lack of resources when needed is one of the biggest causes of delays to projects.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Check, validate and/or authorise all project-related documentation – especially anything relating to purchases/expenditure, certification of work completed and variations to contracts or plans.</a:t>
            </a:r>
          </a:p>
          <a:p>
            <a:pPr lvl="1">
              <a:buFont typeface="Arial" pitchFamily="34" charset="0"/>
              <a:buChar char="•"/>
            </a:pPr>
            <a:r>
              <a:rPr lang="en-AU" sz="1200" kern="1200" dirty="0" smtClean="0">
                <a:solidFill>
                  <a:schemeClr val="tx1"/>
                </a:solidFill>
                <a:ea typeface="+mn-ea"/>
                <a:cs typeface="+mn-cs"/>
              </a:rPr>
              <a:t> Making it a priority to be actively involved in these decisions and activities is key to knowing how the project is progressing and to quickly identifying potential problems, delays and cost over-runs. </a:t>
            </a:r>
          </a:p>
          <a:p>
            <a:pPr>
              <a:buFont typeface="Arial" pitchFamily="34" charset="0"/>
              <a:buChar char="•"/>
            </a:pPr>
            <a:r>
              <a:rPr lang="en-AU" sz="1200" kern="1200" dirty="0" smtClean="0">
                <a:solidFill>
                  <a:schemeClr val="tx1"/>
                </a:solidFill>
                <a:ea typeface="+mn-ea"/>
                <a:cs typeface="+mn-cs"/>
              </a:rPr>
              <a:t> Monitor progress of the project against the project management plan on a regular/daily basis to enable the earliest identification of problems.</a:t>
            </a:r>
          </a:p>
          <a:p>
            <a:pPr>
              <a:buFont typeface="Arial" pitchFamily="34" charset="0"/>
              <a:buChar char="•"/>
            </a:pPr>
            <a:r>
              <a:rPr lang="en-AU" sz="1200" kern="1200" dirty="0" smtClean="0">
                <a:solidFill>
                  <a:schemeClr val="tx1"/>
                </a:solidFill>
                <a:ea typeface="+mn-ea"/>
                <a:cs typeface="+mn-cs"/>
              </a:rPr>
              <a:t> Do more yourself – the reality of many projects is you will have to</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do a substantial amount of the work yourself.</a:t>
            </a:r>
          </a:p>
          <a:p>
            <a:pPr lvl="1">
              <a:buFont typeface="Arial" pitchFamily="34" charset="0"/>
              <a:buChar char="•"/>
            </a:pPr>
            <a:r>
              <a:rPr lang="en-AU" sz="1200" kern="1200" dirty="0" smtClean="0">
                <a:solidFill>
                  <a:schemeClr val="tx1"/>
                </a:solidFill>
                <a:ea typeface="+mn-ea"/>
                <a:cs typeface="+mn-cs"/>
              </a:rPr>
              <a:t> When things are running behind schedule this means you have to do even more.</a:t>
            </a:r>
          </a:p>
          <a:p>
            <a:pPr>
              <a:buFont typeface="Arial" pitchFamily="34" charset="0"/>
              <a:buChar char="•"/>
            </a:pPr>
            <a:r>
              <a:rPr lang="en-AU" sz="1200" kern="1200" dirty="0" smtClean="0">
                <a:solidFill>
                  <a:schemeClr val="tx1"/>
                </a:solidFill>
                <a:ea typeface="+mn-ea"/>
                <a:cs typeface="+mn-cs"/>
              </a:rPr>
              <a:t> Ask others to do more.</a:t>
            </a:r>
            <a:r>
              <a:rPr lang="en-AU" sz="1200" kern="1200" baseline="0" dirty="0" smtClean="0">
                <a:solidFill>
                  <a:schemeClr val="tx1"/>
                </a:solidFill>
                <a:ea typeface="+mn-ea"/>
                <a:cs typeface="+mn-cs"/>
              </a:rPr>
              <a:t> E</a:t>
            </a:r>
            <a:r>
              <a:rPr lang="en-AU" sz="1200" kern="1200" dirty="0" smtClean="0">
                <a:solidFill>
                  <a:schemeClr val="tx1"/>
                </a:solidFill>
                <a:ea typeface="+mn-ea"/>
                <a:cs typeface="+mn-cs"/>
              </a:rPr>
              <a:t>xplain the ‘behind schedule situation’ and its implications and encourage/motivate others to do more, work harder or be more productive</a:t>
            </a:r>
          </a:p>
          <a:p>
            <a:pPr>
              <a:buFont typeface="Arial" pitchFamily="34" charset="0"/>
              <a:buNone/>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172</a:t>
            </a:fld>
            <a:endParaRPr lang="en-US" dirty="0"/>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actions which help</a:t>
            </a:r>
            <a:r>
              <a:rPr lang="en-US" baseline="0" dirty="0" smtClean="0"/>
              <a:t> ensure projects are completed on time:</a:t>
            </a:r>
          </a:p>
          <a:p>
            <a:pPr>
              <a:buFont typeface="Arial" pitchFamily="34" charset="0"/>
              <a:buChar char="•"/>
            </a:pPr>
            <a:r>
              <a:rPr lang="en-AU" sz="1200" kern="1200" dirty="0" smtClean="0">
                <a:solidFill>
                  <a:schemeClr val="tx1"/>
                </a:solidFill>
                <a:ea typeface="+mn-ea"/>
                <a:cs typeface="+mn-cs"/>
              </a:rPr>
              <a:t> Adjust plans as required.</a:t>
            </a:r>
            <a:r>
              <a:rPr lang="en-AU" sz="1200" kern="1200" baseline="0" dirty="0" smtClean="0">
                <a:solidFill>
                  <a:schemeClr val="tx1"/>
                </a:solidFill>
                <a:ea typeface="+mn-ea"/>
                <a:cs typeface="+mn-cs"/>
              </a:rPr>
              <a:t> R</a:t>
            </a:r>
            <a:r>
              <a:rPr lang="en-AU" sz="1200" kern="1200" dirty="0" smtClean="0">
                <a:solidFill>
                  <a:schemeClr val="tx1"/>
                </a:solidFill>
                <a:ea typeface="+mn-ea"/>
                <a:cs typeface="+mn-cs"/>
              </a:rPr>
              <a:t>arely does any project reach a successful conclusion without the need for original plans to be altered. </a:t>
            </a:r>
          </a:p>
          <a:p>
            <a:pPr lvl="1">
              <a:buFont typeface="Arial" pitchFamily="34" charset="0"/>
              <a:buChar char="•"/>
            </a:pPr>
            <a:r>
              <a:rPr lang="en-AU" sz="1200" kern="1200" dirty="0" smtClean="0">
                <a:solidFill>
                  <a:schemeClr val="tx1"/>
                </a:solidFill>
                <a:ea typeface="+mn-ea"/>
                <a:cs typeface="+mn-cs"/>
              </a:rPr>
              <a:t> Your ability to smoothly accommodate the need for change in this regard will be a major indicator of your ability as a PM.</a:t>
            </a:r>
          </a:p>
          <a:p>
            <a:pPr lvl="1">
              <a:buFont typeface="Arial" pitchFamily="34" charset="0"/>
              <a:buChar char="•"/>
            </a:pPr>
            <a:r>
              <a:rPr lang="en-AU" sz="1200" kern="1200" dirty="0" smtClean="0">
                <a:solidFill>
                  <a:schemeClr val="tx1"/>
                </a:solidFill>
                <a:ea typeface="+mn-ea"/>
                <a:cs typeface="+mn-cs"/>
              </a:rPr>
              <a:t> You will be expected to make small changes on</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spot and unilaterally – larger changes will need to be referred to the management, stakeholders or the Steering Committee for their input and approval.</a:t>
            </a:r>
          </a:p>
          <a:p>
            <a:pPr>
              <a:buFont typeface="Arial" pitchFamily="34" charset="0"/>
              <a:buChar char="•"/>
            </a:pPr>
            <a:r>
              <a:rPr lang="en-AU" sz="1200" kern="1200" dirty="0" smtClean="0">
                <a:solidFill>
                  <a:schemeClr val="tx1"/>
                </a:solidFill>
                <a:ea typeface="+mn-ea"/>
                <a:cs typeface="+mn-cs"/>
              </a:rPr>
              <a:t> Conduct regular meetings with stakeholders to discuss progress, enable their input, resolve issues, and maintain satisfactory relationships (which can prove beneficial when you have to ask for extra time or resources, or explain why the project is running behind schedule)</a:t>
            </a:r>
          </a:p>
          <a:p>
            <a:pPr>
              <a:buFont typeface="Arial" pitchFamily="34" charset="0"/>
              <a:buChar char="•"/>
            </a:pPr>
            <a:r>
              <a:rPr lang="en-AU" sz="1200" kern="1200" dirty="0" smtClean="0">
                <a:solidFill>
                  <a:schemeClr val="tx1"/>
                </a:solidFill>
                <a:ea typeface="+mn-ea"/>
                <a:cs typeface="+mn-cs"/>
              </a:rPr>
              <a:t> Report on the project as required by the project plan.</a:t>
            </a:r>
          </a:p>
          <a:p>
            <a:pPr lvl="1">
              <a:buFont typeface="Arial" pitchFamily="34" charset="0"/>
              <a:buChar char="•"/>
            </a:pPr>
            <a:r>
              <a:rPr lang="en-AU" sz="1200" kern="1200" dirty="0" smtClean="0">
                <a:solidFill>
                  <a:schemeClr val="tx1"/>
                </a:solidFill>
                <a:ea typeface="+mn-ea"/>
                <a:cs typeface="+mn-cs"/>
              </a:rPr>
              <a:t> This can help alert others to the possibility they need to assist with ensuring you can bring the project in on time.</a:t>
            </a:r>
          </a:p>
          <a:p>
            <a:pPr lvl="1">
              <a:buFont typeface="Arial" pitchFamily="34" charset="0"/>
              <a:buChar char="•"/>
            </a:pPr>
            <a:r>
              <a:rPr lang="en-AU" sz="1200" kern="1200" dirty="0" smtClean="0">
                <a:solidFill>
                  <a:schemeClr val="tx1"/>
                </a:solidFill>
                <a:ea typeface="+mn-ea"/>
                <a:cs typeface="+mn-cs"/>
              </a:rPr>
              <a:t> It is also possible those who receive and read your reports can provide advice about what to do to retrieve the situation.</a:t>
            </a:r>
          </a:p>
          <a:p>
            <a:pPr lvl="1">
              <a:buFont typeface="Arial" pitchFamily="34" charset="0"/>
              <a:buChar char="•"/>
            </a:pPr>
            <a:r>
              <a:rPr lang="en-AU" sz="1200" kern="1200" dirty="0" smtClean="0">
                <a:solidFill>
                  <a:schemeClr val="tx1"/>
                </a:solidFill>
                <a:ea typeface="+mn-ea"/>
                <a:cs typeface="+mn-cs"/>
              </a:rPr>
              <a:t> If you know you have to report, this can also serve as a motivator for you. </a:t>
            </a:r>
          </a:p>
          <a:p>
            <a:pPr>
              <a:buFont typeface="Arial" pitchFamily="34" charset="0"/>
              <a:buChar char="•"/>
            </a:pPr>
            <a:r>
              <a:rPr lang="en-AU" sz="1200" kern="1200" dirty="0" smtClean="0">
                <a:solidFill>
                  <a:schemeClr val="tx1"/>
                </a:solidFill>
                <a:ea typeface="+mn-ea"/>
                <a:cs typeface="+mn-cs"/>
              </a:rPr>
              <a:t> Maintain the project team.</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can mean you need to address and resolve team-based issues, rotate staff through the project team, match staff to required competencies/abilities, maintain team harmony and support team dynamics.</a:t>
            </a:r>
          </a:p>
          <a:p>
            <a:pPr>
              <a:buFont typeface="Arial" pitchFamily="34" charset="0"/>
              <a:buChar char="•"/>
            </a:pPr>
            <a:r>
              <a:rPr lang="en-AU" sz="1200" kern="1200" dirty="0" smtClean="0">
                <a:solidFill>
                  <a:schemeClr val="tx1"/>
                </a:solidFill>
                <a:ea typeface="+mn-ea"/>
                <a:cs typeface="+mn-cs"/>
              </a:rPr>
              <a:t>Negotiate an extension of the deadline.</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is arguably one of the most common responses to problems with a project but is not an option for projects such as functions/events.</a:t>
            </a:r>
          </a:p>
          <a:p>
            <a:pPr lvl="1">
              <a:buFont typeface="Arial" pitchFamily="34" charset="0"/>
              <a:buChar char="•"/>
            </a:pPr>
            <a:r>
              <a:rPr lang="en-AU" sz="1200" kern="1200" dirty="0" smtClean="0">
                <a:solidFill>
                  <a:schemeClr val="tx1"/>
                </a:solidFill>
                <a:ea typeface="+mn-ea"/>
                <a:cs typeface="+mn-cs"/>
              </a:rPr>
              <a:t> The potential for time overruns on a project is extremely high especially when the venue is relying on external providers/contractors to supply products and services.</a:t>
            </a:r>
          </a:p>
          <a:p>
            <a:pPr lvl="1">
              <a:buFont typeface="Arial" pitchFamily="34" charset="0"/>
              <a:buChar char="•"/>
            </a:pPr>
            <a:r>
              <a:rPr lang="en-AU" sz="1200" kern="1200" dirty="0" smtClean="0">
                <a:solidFill>
                  <a:schemeClr val="tx1"/>
                </a:solidFill>
                <a:ea typeface="+mn-ea"/>
                <a:cs typeface="+mn-cs"/>
              </a:rPr>
              <a:t> Given the enormous potential for events to impact on a project (such as supply problems further down the supply chain, weather, staffing issues, unforeseen problems, transport), this should come as no surprise, and is a major reason why those involved in developing contracts for projects will negotiate the longest possible time for completion.</a:t>
            </a:r>
          </a:p>
          <a:p>
            <a:pPr>
              <a:buFont typeface="Arial" pitchFamily="34" charset="0"/>
              <a:buChar char="•"/>
            </a:pPr>
            <a:r>
              <a:rPr lang="en-AU" sz="1200" kern="1200" dirty="0" smtClean="0">
                <a:solidFill>
                  <a:schemeClr val="tx1"/>
                </a:solidFill>
                <a:ea typeface="+mn-ea"/>
                <a:cs typeface="+mn-cs"/>
              </a:rPr>
              <a:t> Change roles and responsibilities within project team members to address interpersonal conflict situations, to address a situation where the existing team does not have the necessary skills/expertise to achieve the project deliverables</a:t>
            </a:r>
          </a:p>
          <a:p>
            <a:pPr>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173</a:t>
            </a:fld>
            <a:endParaRPr lang="en-US" dirty="0"/>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actions which help</a:t>
            </a:r>
            <a:r>
              <a:rPr lang="en-US" baseline="0" dirty="0" smtClean="0"/>
              <a:t> ensure projects are completed on time:</a:t>
            </a:r>
          </a:p>
          <a:p>
            <a:pPr>
              <a:buFont typeface="Arial" pitchFamily="34" charset="0"/>
              <a:buChar char="•"/>
            </a:pPr>
            <a:r>
              <a:rPr lang="en-AU" sz="1200" kern="1200" dirty="0" smtClean="0">
                <a:solidFill>
                  <a:schemeClr val="tx1"/>
                </a:solidFill>
                <a:ea typeface="+mn-ea"/>
                <a:cs typeface="+mn-cs"/>
              </a:rPr>
              <a:t>Outsource aspects of the project.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here can be times when you believe the venue can deliver on certain outcomes/deliverables, only to find in reality this is impossible.</a:t>
            </a:r>
          </a:p>
          <a:p>
            <a:pPr lvl="1">
              <a:buFont typeface="Arial" pitchFamily="34" charset="0"/>
              <a:buChar char="•"/>
            </a:pPr>
            <a:r>
              <a:rPr lang="en-AU" sz="1200" kern="1200" dirty="0" smtClean="0">
                <a:solidFill>
                  <a:schemeClr val="tx1"/>
                </a:solidFill>
                <a:ea typeface="+mn-ea"/>
                <a:cs typeface="+mn-cs"/>
              </a:rPr>
              <a:t> Perhaps staff are not skilled enough, perhaps they are too busy, or perhaps they have no real commitment to what needs to be done. </a:t>
            </a:r>
          </a:p>
          <a:p>
            <a:pPr lvl="1">
              <a:buFont typeface="Arial" pitchFamily="34" charset="0"/>
              <a:buChar char="•"/>
            </a:pPr>
            <a:r>
              <a:rPr lang="en-AU" sz="1200" kern="1200" dirty="0" smtClean="0">
                <a:solidFill>
                  <a:schemeClr val="tx1"/>
                </a:solidFill>
                <a:ea typeface="+mn-ea"/>
                <a:cs typeface="+mn-cs"/>
              </a:rPr>
              <a:t> Regardless of the reason, effective project management at times can mean engaging the professional services of an external third party to replace what you believed could be handled in-house..</a:t>
            </a:r>
          </a:p>
          <a:p>
            <a:pPr lvl="1">
              <a:buFont typeface="Arial" pitchFamily="34" charset="0"/>
              <a:buChar char="•"/>
            </a:pPr>
            <a:r>
              <a:rPr lang="en-AU" sz="1200" kern="1200" dirty="0" smtClean="0">
                <a:solidFill>
                  <a:schemeClr val="tx1"/>
                </a:solidFill>
                <a:ea typeface="+mn-ea"/>
                <a:cs typeface="+mn-cs"/>
              </a:rPr>
              <a:t> It is important for you to understand doing this is not an indication of your incompetence – rather it is testimony to your ability to recognise a problem and take appropriate action in response. </a:t>
            </a:r>
          </a:p>
          <a:p>
            <a:pPr lvl="1">
              <a:buFont typeface="Arial" pitchFamily="34" charset="0"/>
              <a:buChar char="•"/>
            </a:pPr>
            <a:r>
              <a:rPr lang="en-AU" sz="1200" kern="1200" dirty="0" smtClean="0">
                <a:solidFill>
                  <a:schemeClr val="tx1"/>
                </a:solidFill>
                <a:ea typeface="+mn-ea"/>
                <a:cs typeface="+mn-cs"/>
              </a:rPr>
              <a:t> If you had simply persevered with a situation which was obviously not working, then that would be an indicator of your incompetence.</a:t>
            </a:r>
          </a:p>
          <a:p>
            <a:pPr>
              <a:buFont typeface="Arial" pitchFamily="34" charset="0"/>
              <a:buNone/>
            </a:pPr>
            <a:endParaRPr lang="en-US" baseline="0" dirty="0" smtClean="0"/>
          </a:p>
          <a:p>
            <a:pPr>
              <a:buFont typeface="Arial" pitchFamily="34" charset="0"/>
              <a:buChar char="•"/>
            </a:pP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Reduce costs on materials or physical resources so more money is available for labour to compete the project.</a:t>
            </a:r>
          </a:p>
          <a:p>
            <a:pPr lvl="1">
              <a:buFont typeface="Arial" pitchFamily="34" charset="0"/>
              <a:buChar char="•"/>
            </a:pPr>
            <a:r>
              <a:rPr lang="en-AU" sz="1200" kern="1200" dirty="0" smtClean="0">
                <a:solidFill>
                  <a:schemeClr val="tx1"/>
                </a:solidFill>
                <a:ea typeface="+mn-ea"/>
                <a:cs typeface="+mn-cs"/>
              </a:rPr>
              <a:t> Limited options for reducing costs include:</a:t>
            </a:r>
          </a:p>
          <a:p>
            <a:pPr lvl="2">
              <a:buFont typeface="Arial" pitchFamily="34" charset="0"/>
              <a:buChar char="•"/>
            </a:pPr>
            <a:r>
              <a:rPr lang="en-AU" sz="1200" kern="1200" dirty="0" smtClean="0">
                <a:solidFill>
                  <a:schemeClr val="tx1"/>
                </a:solidFill>
                <a:ea typeface="+mn-ea"/>
                <a:cs typeface="+mn-cs"/>
              </a:rPr>
              <a:t> Extending timelines – suppliers or contractors may be prepared to reduce costs if they have longer to deliver</a:t>
            </a:r>
          </a:p>
          <a:p>
            <a:pPr lvl="2">
              <a:buFont typeface="Arial" pitchFamily="34" charset="0"/>
              <a:buChar char="•"/>
            </a:pPr>
            <a:r>
              <a:rPr lang="en-AU" sz="1200" kern="1200" dirty="0" smtClean="0">
                <a:solidFill>
                  <a:schemeClr val="tx1"/>
                </a:solidFill>
                <a:ea typeface="+mn-ea"/>
                <a:cs typeface="+mn-cs"/>
              </a:rPr>
              <a:t> Lowering quality standards/criteria – this can mean accepting a lower quality in exchange for lower prices</a:t>
            </a:r>
          </a:p>
          <a:p>
            <a:pPr lvl="2">
              <a:buFont typeface="Arial" pitchFamily="34" charset="0"/>
              <a:buChar char="•"/>
            </a:pPr>
            <a:r>
              <a:rPr lang="en-AU" sz="1200" kern="1200" dirty="0" smtClean="0">
                <a:solidFill>
                  <a:schemeClr val="tx1"/>
                </a:solidFill>
                <a:ea typeface="+mn-ea"/>
                <a:cs typeface="+mn-cs"/>
              </a:rPr>
              <a:t> Negotiating discounts for prompt payment</a:t>
            </a:r>
          </a:p>
          <a:p>
            <a:pPr lvl="2">
              <a:buFont typeface="Arial" pitchFamily="34" charset="0"/>
              <a:buChar char="•"/>
            </a:pPr>
            <a:r>
              <a:rPr lang="en-AU" sz="1200" kern="1200" dirty="0" smtClean="0">
                <a:solidFill>
                  <a:schemeClr val="tx1"/>
                </a:solidFill>
                <a:ea typeface="+mn-ea"/>
                <a:cs typeface="+mn-cs"/>
              </a:rPr>
              <a:t> Sourcing alternative suppliers</a:t>
            </a:r>
          </a:p>
          <a:p>
            <a:pPr lvl="2">
              <a:buFont typeface="Arial" pitchFamily="34" charset="0"/>
              <a:buChar char="•"/>
            </a:pPr>
            <a:r>
              <a:rPr lang="en-AU" sz="1200" kern="1200" dirty="0" smtClean="0">
                <a:solidFill>
                  <a:schemeClr val="tx1"/>
                </a:solidFill>
                <a:ea typeface="+mn-ea"/>
                <a:cs typeface="+mn-cs"/>
              </a:rPr>
              <a:t> Revising project deliverables to enable/accommodate reductions in expenditure</a:t>
            </a:r>
          </a:p>
          <a:p>
            <a:pPr lvl="1">
              <a:buFont typeface="Arial" pitchFamily="34" charset="0"/>
              <a:buChar char="•"/>
            </a:pPr>
            <a:r>
              <a:rPr lang="en-AU" sz="1200" kern="1200" dirty="0" smtClean="0">
                <a:solidFill>
                  <a:schemeClr val="tx1"/>
                </a:solidFill>
                <a:ea typeface="+mn-ea"/>
                <a:cs typeface="+mn-cs"/>
              </a:rPr>
              <a:t> Always talk with suppliers/contractors to explain the need to cut costs and hope they are prepared to accommodate,</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at least to some extent, your requirements. </a:t>
            </a:r>
          </a:p>
          <a:p>
            <a:pPr lvl="1">
              <a:buFont typeface="Arial" pitchFamily="34" charset="0"/>
              <a:buChar char="•"/>
            </a:pPr>
            <a:r>
              <a:rPr lang="en-AU" sz="1200" kern="1200" dirty="0" smtClean="0">
                <a:solidFill>
                  <a:schemeClr val="tx1"/>
                </a:solidFill>
                <a:ea typeface="+mn-ea"/>
                <a:cs typeface="+mn-cs"/>
              </a:rPr>
              <a:t> It is a fact of life sometimes simply talking to a supplier can result in a 5% reduction to quoted prices.</a:t>
            </a:r>
          </a:p>
          <a:p>
            <a:pPr>
              <a:buFont typeface="Arial" pitchFamily="34" charset="0"/>
              <a:buChar char="•"/>
            </a:pPr>
            <a:r>
              <a:rPr lang="en-AU" sz="1200" kern="1200" dirty="0" smtClean="0">
                <a:solidFill>
                  <a:schemeClr val="tx1"/>
                </a:solidFill>
                <a:ea typeface="+mn-ea"/>
                <a:cs typeface="+mn-cs"/>
              </a:rPr>
              <a:t> Seek more money for labour from management or seek approval to make a budget line transfer to obtain extra labour funds</a:t>
            </a:r>
          </a:p>
          <a:p>
            <a:pPr>
              <a:buFont typeface="Arial" pitchFamily="34" charset="0"/>
              <a:buChar char="•"/>
            </a:pPr>
            <a:r>
              <a:rPr lang="en-AU" sz="1200" kern="1200" dirty="0" smtClean="0">
                <a:solidFill>
                  <a:schemeClr val="tx1"/>
                </a:solidFill>
                <a:ea typeface="+mn-ea"/>
                <a:cs typeface="+mn-cs"/>
              </a:rPr>
              <a:t> Research and apply more efficient methods for completing project tasks.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here can often be a need to do this where:</a:t>
            </a:r>
          </a:p>
          <a:p>
            <a:pPr lvl="1">
              <a:buFont typeface="Arial" pitchFamily="34" charset="0"/>
              <a:buChar char="•"/>
            </a:pPr>
            <a:r>
              <a:rPr lang="en-AU" sz="1200" kern="1200" dirty="0" smtClean="0">
                <a:solidFill>
                  <a:schemeClr val="tx1"/>
                </a:solidFill>
                <a:ea typeface="+mn-ea"/>
                <a:cs typeface="+mn-cs"/>
              </a:rPr>
              <a:t> Safety and security is not an issue</a:t>
            </a:r>
          </a:p>
          <a:p>
            <a:pPr lvl="1">
              <a:buFont typeface="Arial" pitchFamily="34" charset="0"/>
              <a:buChar char="•"/>
            </a:pPr>
            <a:r>
              <a:rPr lang="en-AU" sz="1200" kern="1200" dirty="0" smtClean="0">
                <a:solidFill>
                  <a:schemeClr val="tx1"/>
                </a:solidFill>
                <a:ea typeface="+mn-ea"/>
                <a:cs typeface="+mn-cs"/>
              </a:rPr>
              <a:t> Unexpected problems have emerged</a:t>
            </a:r>
          </a:p>
          <a:p>
            <a:pPr lvl="1">
              <a:buFont typeface="Arial" pitchFamily="34" charset="0"/>
              <a:buChar char="•"/>
            </a:pPr>
            <a:r>
              <a:rPr lang="en-AU" sz="1200" kern="1200" dirty="0" smtClean="0">
                <a:solidFill>
                  <a:schemeClr val="tx1"/>
                </a:solidFill>
                <a:ea typeface="+mn-ea"/>
                <a:cs typeface="+mn-cs"/>
              </a:rPr>
              <a:t> Authorities have intervened and requested changes</a:t>
            </a:r>
          </a:p>
          <a:p>
            <a:pPr lvl="1">
              <a:buFont typeface="Arial" pitchFamily="34" charset="0"/>
              <a:buChar char="•"/>
            </a:pPr>
            <a:r>
              <a:rPr lang="en-AU" sz="1200" kern="1200" dirty="0" smtClean="0">
                <a:solidFill>
                  <a:schemeClr val="tx1"/>
                </a:solidFill>
                <a:ea typeface="+mn-ea"/>
                <a:cs typeface="+mn-cs"/>
              </a:rPr>
              <a:t> New/different standards, compliance requirements have emerged </a:t>
            </a:r>
          </a:p>
          <a:p>
            <a:pPr>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174</a:t>
            </a:fld>
            <a:endParaRPr lang="en-US" dirty="0"/>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stresses </a:t>
            </a:r>
            <a:r>
              <a:rPr lang="en-AU" sz="1200" kern="1200" dirty="0" smtClean="0">
                <a:solidFill>
                  <a:schemeClr val="tx1"/>
                </a:solidFill>
                <a:ea typeface="+mn-ea"/>
                <a:cs typeface="+mn-cs"/>
              </a:rPr>
              <a:t>whenever faced with a situation where remedial or other action needs to be taken in relation to a project, effective communication is vital:</a:t>
            </a:r>
          </a:p>
          <a:p>
            <a:pPr lvl="0">
              <a:buFont typeface="Arial" pitchFamily="34" charset="0"/>
              <a:buChar char="•"/>
            </a:pPr>
            <a:r>
              <a:rPr lang="en-AU" sz="1200" kern="1200" dirty="0" smtClean="0">
                <a:solidFill>
                  <a:schemeClr val="tx1"/>
                </a:solidFill>
                <a:ea typeface="+mn-ea"/>
                <a:cs typeface="+mn-cs"/>
              </a:rPr>
              <a:t> Communicate early – communicate as soon as a potential risk/issue has been identified: never wait</a:t>
            </a:r>
          </a:p>
          <a:p>
            <a:pPr lvl="0">
              <a:buFont typeface="Arial" pitchFamily="34" charset="0"/>
              <a:buChar char="•"/>
            </a:pPr>
            <a:r>
              <a:rPr lang="en-AU" sz="1200" kern="1200" dirty="0" smtClean="0">
                <a:solidFill>
                  <a:schemeClr val="tx1"/>
                </a:solidFill>
                <a:ea typeface="+mn-ea"/>
                <a:cs typeface="+mn-cs"/>
              </a:rPr>
              <a:t> Communicate fully – be honest, open and tell the complete story about the actual/potential risk</a:t>
            </a:r>
          </a:p>
          <a:p>
            <a:pPr lvl="0">
              <a:buFont typeface="Arial" pitchFamily="34" charset="0"/>
              <a:buChar char="•"/>
            </a:pPr>
            <a:r>
              <a:rPr lang="en-AU" sz="1200" kern="1200" dirty="0" smtClean="0">
                <a:solidFill>
                  <a:schemeClr val="tx1"/>
                </a:solidFill>
                <a:ea typeface="+mn-ea"/>
                <a:cs typeface="+mn-cs"/>
              </a:rPr>
              <a:t> Involve all stakeholders – do not be selective: collaboration and consultation are vital.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175</a:t>
            </a:fld>
            <a:endParaRPr lang="en-US" dirty="0"/>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176</a:t>
            </a:fld>
            <a:endParaRPr lang="en-US" dirty="0"/>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177</a:t>
            </a:fld>
            <a:endParaRPr lang="en-US" dirty="0"/>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178</a:t>
            </a:fld>
            <a:endParaRPr lang="en-US" dirty="0"/>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179</a:t>
            </a:fld>
            <a:endParaRPr lang="en-US" dirty="0"/>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identifies for </a:t>
            </a:r>
            <a:r>
              <a:rPr lang="en-AU" sz="1200" kern="1200" baseline="0" dirty="0" smtClean="0">
                <a:solidFill>
                  <a:schemeClr val="tx1"/>
                </a:solidFill>
                <a:ea typeface="+mn-ea"/>
                <a:cs typeface="+mn-cs"/>
              </a:rPr>
              <a:t>trainee</a:t>
            </a:r>
            <a:r>
              <a:rPr lang="en-US" dirty="0" smtClean="0"/>
              <a:t>s the Performance Criteria for this Element, as listed on the slide.</a:t>
            </a:r>
          </a:p>
          <a:p>
            <a:pPr>
              <a:buFont typeface="Arial" pitchFamily="34" charset="0"/>
              <a:buChar char="•"/>
            </a:pPr>
            <a:endParaRPr lang="en-US" dirty="0" smtClean="0"/>
          </a:p>
          <a:p>
            <a:pPr>
              <a:buFont typeface="Arial" pitchFamily="34" charset="0"/>
              <a:buNone/>
            </a:pPr>
            <a:r>
              <a:rPr lang="en-US" b="1" dirty="0" smtClean="0"/>
              <a:t>Class Activity – Discussion</a:t>
            </a:r>
          </a:p>
          <a:p>
            <a:pPr>
              <a:buFont typeface="Arial" pitchFamily="34" charset="0"/>
              <a:buNone/>
            </a:pPr>
            <a:r>
              <a:rPr lang="en-US" b="0" dirty="0" smtClean="0"/>
              <a:t>Trainer asks </a:t>
            </a:r>
            <a:r>
              <a:rPr lang="en-AU" sz="1200" kern="1200" baseline="0" dirty="0" smtClean="0">
                <a:solidFill>
                  <a:schemeClr val="tx1"/>
                </a:solidFill>
                <a:ea typeface="+mn-ea"/>
                <a:cs typeface="+mn-cs"/>
              </a:rPr>
              <a:t>trainee</a:t>
            </a:r>
            <a:r>
              <a:rPr lang="en-US" b="0" dirty="0" smtClean="0"/>
              <a:t>s questions about evaluating projects by asking questions such as:</a:t>
            </a:r>
          </a:p>
          <a:p>
            <a:pPr>
              <a:buFont typeface="Arial" pitchFamily="34" charset="0"/>
              <a:buChar char="•"/>
            </a:pPr>
            <a:r>
              <a:rPr lang="en-US" b="0" dirty="0" smtClean="0"/>
              <a:t> How might a small project be evaluated?</a:t>
            </a:r>
          </a:p>
          <a:p>
            <a:pPr>
              <a:buFont typeface="Arial" pitchFamily="34" charset="0"/>
              <a:buChar char="•"/>
            </a:pPr>
            <a:r>
              <a:rPr lang="en-US" b="0" dirty="0" smtClean="0"/>
              <a:t> What are the reasons for evaluating small projects?</a:t>
            </a:r>
          </a:p>
          <a:p>
            <a:pPr>
              <a:buFont typeface="Arial" pitchFamily="34" charset="0"/>
              <a:buChar char="•"/>
            </a:pPr>
            <a:r>
              <a:rPr lang="en-US" b="0" dirty="0" smtClean="0"/>
              <a:t> Who may be involved in the evaluation process?</a:t>
            </a:r>
          </a:p>
          <a:p>
            <a:pPr>
              <a:buFont typeface="Arial" pitchFamily="34" charset="0"/>
              <a:buChar char="•"/>
            </a:pPr>
            <a:r>
              <a:rPr lang="en-US" b="0" dirty="0" smtClean="0"/>
              <a:t> What topics might be evaluated?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180</a:t>
            </a:fld>
            <a:endParaRPr lang="en-US" dirty="0"/>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all projects should be assessed stating they </a:t>
            </a:r>
            <a:r>
              <a:rPr lang="en-AU" sz="1200" kern="1200" dirty="0" smtClean="0">
                <a:solidFill>
                  <a:schemeClr val="tx1"/>
                </a:solidFill>
                <a:ea typeface="+mn-ea"/>
                <a:cs typeface="+mn-cs"/>
              </a:rPr>
              <a:t>should be assessed:</a:t>
            </a:r>
          </a:p>
          <a:p>
            <a:pPr>
              <a:buFont typeface="Arial" pitchFamily="34" charset="0"/>
              <a:buChar char="•"/>
            </a:pPr>
            <a:r>
              <a:rPr lang="en-AU" sz="1200" kern="1200" dirty="0" smtClean="0">
                <a:solidFill>
                  <a:schemeClr val="tx1"/>
                </a:solidFill>
                <a:ea typeface="+mn-ea"/>
                <a:cs typeface="+mn-cs"/>
              </a:rPr>
              <a:t> On an ongoing basis throughout the life of the project</a:t>
            </a:r>
          </a:p>
          <a:p>
            <a:pPr>
              <a:buFont typeface="Arial" pitchFamily="34" charset="0"/>
              <a:buChar char="•"/>
            </a:pPr>
            <a:r>
              <a:rPr lang="en-AU" sz="1200" kern="1200" dirty="0" smtClean="0">
                <a:solidFill>
                  <a:schemeClr val="tx1"/>
                </a:solidFill>
                <a:ea typeface="+mn-ea"/>
                <a:cs typeface="+mn-cs"/>
              </a:rPr>
              <a:t> At the end of the project when the project has been completed.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181</a:t>
            </a:fld>
            <a:endParaRPr lang="en-US" dirty="0"/>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project should be assessed:</a:t>
            </a:r>
          </a:p>
          <a:p>
            <a:pPr>
              <a:buFont typeface="Arial" pitchFamily="34" charset="0"/>
              <a:buChar char="•"/>
            </a:pPr>
            <a:r>
              <a:rPr lang="en-US" dirty="0" smtClean="0"/>
              <a:t> By</a:t>
            </a:r>
            <a:r>
              <a:rPr lang="en-US" baseline="0" dirty="0" smtClean="0"/>
              <a:t> you as the PM </a:t>
            </a:r>
            <a:r>
              <a:rPr lang="en-AU" sz="1200" kern="1200" dirty="0" smtClean="0">
                <a:solidFill>
                  <a:schemeClr val="tx1"/>
                </a:solidFill>
                <a:ea typeface="+mn-ea"/>
                <a:cs typeface="+mn-cs"/>
              </a:rPr>
              <a:t>– on your own:</a:t>
            </a:r>
          </a:p>
          <a:p>
            <a:pPr lvl="1">
              <a:buFont typeface="Arial" pitchFamily="34" charset="0"/>
              <a:buChar char="•"/>
            </a:pPr>
            <a:r>
              <a:rPr lang="en-AU" sz="1200" kern="1200" dirty="0" smtClean="0">
                <a:solidFill>
                  <a:schemeClr val="tx1"/>
                </a:solidFill>
                <a:ea typeface="+mn-ea"/>
                <a:cs typeface="+mn-cs"/>
              </a:rPr>
              <a:t> You need to identify time for reviewing the project and comparing progress to the project plan.</a:t>
            </a:r>
          </a:p>
          <a:p>
            <a:pPr lvl="1">
              <a:buFont typeface="Arial" pitchFamily="34" charset="0"/>
              <a:buChar char="•"/>
            </a:pPr>
            <a:r>
              <a:rPr lang="en-AU" sz="1200" kern="1200" dirty="0" smtClean="0">
                <a:solidFill>
                  <a:schemeClr val="tx1"/>
                </a:solidFill>
                <a:ea typeface="+mn-ea"/>
                <a:cs typeface="+mn-cs"/>
              </a:rPr>
              <a:t> This may need to be done on a daily basis. It should be dome at least weekly.</a:t>
            </a:r>
          </a:p>
          <a:p>
            <a:pPr lvl="1">
              <a:buFont typeface="Arial" pitchFamily="34" charset="0"/>
              <a:buChar char="•"/>
            </a:pPr>
            <a:r>
              <a:rPr lang="en-AU" sz="1200" kern="1200" dirty="0" smtClean="0">
                <a:solidFill>
                  <a:schemeClr val="tx1"/>
                </a:solidFill>
                <a:ea typeface="+mn-ea"/>
                <a:cs typeface="+mn-cs"/>
              </a:rPr>
              <a:t> You need to develop your own perspective on the progress of the project.</a:t>
            </a:r>
            <a:endParaRPr lang="en-US" baseline="0" dirty="0" smtClean="0"/>
          </a:p>
          <a:p>
            <a:pPr>
              <a:buFont typeface="Arial" pitchFamily="34" charset="0"/>
              <a:buChar char="•"/>
            </a:pPr>
            <a:r>
              <a:rPr lang="en-US" baseline="0" dirty="0" smtClean="0"/>
              <a:t> By project team and relevant stakeholders:</a:t>
            </a:r>
          </a:p>
          <a:p>
            <a:pPr lvl="1">
              <a:buFont typeface="Arial" pitchFamily="34" charset="0"/>
              <a:buChar char="•"/>
            </a:pPr>
            <a:r>
              <a:rPr lang="en-AU" sz="1200" kern="1200" dirty="0" smtClean="0">
                <a:solidFill>
                  <a:schemeClr val="tx1"/>
                </a:solidFill>
                <a:ea typeface="+mn-ea"/>
                <a:cs typeface="+mn-cs"/>
              </a:rPr>
              <a:t> Contribute/make you aware of new factors you were previously unaware of</a:t>
            </a:r>
          </a:p>
          <a:p>
            <a:pPr lvl="1">
              <a:buFont typeface="Arial" pitchFamily="34" charset="0"/>
              <a:buChar char="•"/>
            </a:pPr>
            <a:r>
              <a:rPr lang="en-AU" sz="1200" kern="1200" dirty="0" smtClean="0">
                <a:solidFill>
                  <a:schemeClr val="tx1"/>
                </a:solidFill>
                <a:ea typeface="+mn-ea"/>
                <a:cs typeface="+mn-cs"/>
              </a:rPr>
              <a:t> Confirm your own impression of the progress of the project.</a:t>
            </a:r>
          </a:p>
          <a:p>
            <a:pPr>
              <a:buFont typeface="Arial" pitchFamily="34" charset="0"/>
              <a:buNone/>
            </a:pPr>
            <a:endParaRPr lang="en-US" dirty="0" smtClean="0"/>
          </a:p>
          <a:p>
            <a:pPr>
              <a:buFont typeface="Arial" pitchFamily="34" charset="0"/>
              <a:buNone/>
            </a:pPr>
            <a:r>
              <a:rPr lang="en-US" b="1" dirty="0" smtClean="0"/>
              <a:t>Class</a:t>
            </a:r>
            <a:r>
              <a:rPr lang="en-US" b="1" baseline="0" dirty="0" smtClean="0"/>
              <a:t> Activity – Guest Speaker </a:t>
            </a:r>
          </a:p>
          <a:p>
            <a:pPr>
              <a:buFont typeface="Arial" pitchFamily="34" charset="0"/>
              <a:buNone/>
            </a:pPr>
            <a:r>
              <a:rPr lang="en-US" b="0" baseline="0" dirty="0" smtClean="0"/>
              <a:t>Trainer arranges for PM to attend and:</a:t>
            </a:r>
          </a:p>
          <a:p>
            <a:pPr>
              <a:buFont typeface="Arial" pitchFamily="34" charset="0"/>
              <a:buChar char="•"/>
            </a:pPr>
            <a:r>
              <a:rPr lang="en-US" b="0" baseline="0" dirty="0" smtClean="0"/>
              <a:t> Identify activities in project evaluation</a:t>
            </a:r>
          </a:p>
          <a:p>
            <a:pPr>
              <a:buFont typeface="Arial" pitchFamily="34" charset="0"/>
              <a:buChar char="•"/>
            </a:pPr>
            <a:r>
              <a:rPr lang="en-US" b="0" baseline="0" dirty="0" smtClean="0"/>
              <a:t> Describe those involved</a:t>
            </a:r>
          </a:p>
          <a:p>
            <a:pPr>
              <a:buFont typeface="Arial" pitchFamily="34" charset="0"/>
              <a:buChar char="•"/>
            </a:pPr>
            <a:r>
              <a:rPr lang="en-US" b="0" baseline="0" dirty="0" smtClean="0"/>
              <a:t> Explain timing</a:t>
            </a:r>
          </a:p>
          <a:p>
            <a:pPr>
              <a:buFont typeface="Arial" pitchFamily="34" charset="0"/>
              <a:buChar char="•"/>
            </a:pPr>
            <a:r>
              <a:rPr lang="en-US" b="0" baseline="0" dirty="0" smtClean="0"/>
              <a:t> Illustrate topics covered</a:t>
            </a:r>
          </a:p>
          <a:p>
            <a:pPr>
              <a:buFont typeface="Arial" pitchFamily="34" charset="0"/>
              <a:buChar char="•"/>
            </a:pPr>
            <a:r>
              <a:rPr lang="en-US" b="0" baseline="0" dirty="0" smtClean="0"/>
              <a:t> Present sample project report.</a:t>
            </a:r>
          </a:p>
          <a:p>
            <a:pPr>
              <a:buFont typeface="Arial" pitchFamily="34" charset="0"/>
              <a:buChar char="•"/>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182</a:t>
            </a:fld>
            <a:endParaRPr lang="en-US" dirty="0"/>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opportunities for ongoing assessment:</a:t>
            </a:r>
          </a:p>
          <a:p>
            <a:pPr>
              <a:buFont typeface="Arial" pitchFamily="34" charset="0"/>
              <a:buChar char="•"/>
            </a:pPr>
            <a:r>
              <a:rPr lang="en-AU" sz="1200" kern="1200" dirty="0" smtClean="0">
                <a:solidFill>
                  <a:schemeClr val="tx1"/>
                </a:solidFill>
                <a:ea typeface="+mn-ea"/>
                <a:cs typeface="+mn-cs"/>
              </a:rPr>
              <a:t> Daily briefing sessions with the project team undertaken at the start of each day.</a:t>
            </a:r>
          </a:p>
          <a:p>
            <a:pPr lvl="1">
              <a:buFont typeface="Arial" pitchFamily="34" charset="0"/>
              <a:buChar char="•"/>
            </a:pPr>
            <a:r>
              <a:rPr lang="en-AU" sz="1200" kern="1200" dirty="0" smtClean="0">
                <a:solidFill>
                  <a:schemeClr val="tx1"/>
                </a:solidFill>
                <a:ea typeface="+mn-ea"/>
                <a:cs typeface="+mn-cs"/>
              </a:rPr>
              <a:t> These sessions are ideal times for a group evaluation of the project and its progress.</a:t>
            </a:r>
          </a:p>
          <a:p>
            <a:pPr lvl="1">
              <a:buFont typeface="Arial" pitchFamily="34" charset="0"/>
              <a:buChar char="•"/>
            </a:pPr>
            <a:r>
              <a:rPr lang="en-AU" sz="1200" kern="1200" dirty="0" smtClean="0">
                <a:solidFill>
                  <a:schemeClr val="tx1"/>
                </a:solidFill>
                <a:ea typeface="+mn-ea"/>
                <a:cs typeface="+mn-cs"/>
              </a:rPr>
              <a:t> Certainly ‘project review/evaluation/assessment’ should be a standing topic at all staff meetings and briefings for those involved with the project.</a:t>
            </a:r>
          </a:p>
          <a:p>
            <a:pPr>
              <a:buFont typeface="Arial" pitchFamily="34" charset="0"/>
              <a:buChar char="•"/>
            </a:pPr>
            <a:r>
              <a:rPr lang="en-AU" sz="1200" kern="1200" dirty="0" smtClean="0">
                <a:solidFill>
                  <a:schemeClr val="tx1"/>
                </a:solidFill>
                <a:ea typeface="+mn-ea"/>
                <a:cs typeface="+mn-cs"/>
              </a:rPr>
              <a:t> Daily de-briefing sessions which is an ideal time to discuss progress or problems identified during the day/shift</a:t>
            </a:r>
          </a:p>
          <a:p>
            <a:pPr>
              <a:buFont typeface="Arial" pitchFamily="34" charset="0"/>
              <a:buChar char="•"/>
            </a:pPr>
            <a:r>
              <a:rPr lang="en-AU" sz="1200" kern="1200" dirty="0" smtClean="0">
                <a:solidFill>
                  <a:schemeClr val="tx1"/>
                </a:solidFill>
                <a:ea typeface="+mn-ea"/>
                <a:cs typeface="+mn-cs"/>
              </a:rPr>
              <a:t> Scheduled project team meetings</a:t>
            </a:r>
          </a:p>
          <a:p>
            <a:pPr>
              <a:buFont typeface="Arial" pitchFamily="34" charset="0"/>
              <a:buChar char="•"/>
            </a:pPr>
            <a:r>
              <a:rPr lang="en-AU" sz="1200" kern="1200" dirty="0" smtClean="0">
                <a:solidFill>
                  <a:schemeClr val="tx1"/>
                </a:solidFill>
                <a:ea typeface="+mn-ea"/>
                <a:cs typeface="+mn-cs"/>
              </a:rPr>
              <a:t> Specially</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convened project review and evaluation meetings to address specific topics/issues</a:t>
            </a:r>
            <a:r>
              <a:rPr lang="en-AU" sz="1200" kern="1200" baseline="0" dirty="0" smtClean="0">
                <a:solidFill>
                  <a:schemeClr val="tx1"/>
                </a:solidFill>
                <a:ea typeface="+mn-ea"/>
                <a:cs typeface="+mn-cs"/>
              </a:rPr>
              <a:t> arising</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183</a:t>
            </a:fld>
            <a:endParaRPr lang="en-US" dirty="0"/>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opportunities for ongoing assessment:</a:t>
            </a:r>
          </a:p>
          <a:p>
            <a:pPr>
              <a:buFont typeface="Arial" pitchFamily="34" charset="0"/>
              <a:buChar char="•"/>
            </a:pPr>
            <a:r>
              <a:rPr lang="en-AU" sz="1200" kern="1200" dirty="0" smtClean="0">
                <a:solidFill>
                  <a:schemeClr val="tx1"/>
                </a:solidFill>
                <a:ea typeface="+mn-ea"/>
                <a:cs typeface="+mn-cs"/>
              </a:rPr>
              <a:t> When complaints about the project are received</a:t>
            </a:r>
          </a:p>
          <a:p>
            <a:pPr>
              <a:buFont typeface="Arial" pitchFamily="34" charset="0"/>
              <a:buChar char="•"/>
            </a:pPr>
            <a:r>
              <a:rPr lang="en-AU" sz="1200" kern="1200" dirty="0" smtClean="0">
                <a:solidFill>
                  <a:schemeClr val="tx1"/>
                </a:solidFill>
                <a:ea typeface="+mn-ea"/>
                <a:cs typeface="+mn-cs"/>
              </a:rPr>
              <a:t> When significant problems with the project arise/are identified</a:t>
            </a:r>
          </a:p>
          <a:p>
            <a:pPr>
              <a:buFont typeface="Arial" pitchFamily="34" charset="0"/>
              <a:buChar char="•"/>
            </a:pPr>
            <a:r>
              <a:rPr lang="en-AU" sz="1200" kern="1200" dirty="0" smtClean="0">
                <a:solidFill>
                  <a:schemeClr val="tx1"/>
                </a:solidFill>
                <a:ea typeface="+mn-ea"/>
                <a:cs typeface="+mn-cs"/>
              </a:rPr>
              <a:t> When key providers/contractors indicate they are unable to perform their project obligations as agreed</a:t>
            </a:r>
          </a:p>
          <a:p>
            <a:pPr>
              <a:buFont typeface="Arial" pitchFamily="34" charset="0"/>
              <a:buChar char="•"/>
            </a:pPr>
            <a:r>
              <a:rPr lang="en-AU" sz="1200" kern="1200" dirty="0" smtClean="0">
                <a:solidFill>
                  <a:schemeClr val="tx1"/>
                </a:solidFill>
                <a:ea typeface="+mn-ea"/>
                <a:cs typeface="+mn-cs"/>
              </a:rPr>
              <a:t> When the client requests changes to the agreed requirements for the project. </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184</a:t>
            </a:fld>
            <a:endParaRPr lang="en-US" dirty="0"/>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reminds students of evaluation options:</a:t>
            </a:r>
          </a:p>
          <a:p>
            <a:pPr>
              <a:buFont typeface="Arial" pitchFamily="34" charset="0"/>
              <a:buChar char="•"/>
            </a:pPr>
            <a:r>
              <a:rPr lang="en-AU" sz="1200" kern="1200" dirty="0" smtClean="0">
                <a:solidFill>
                  <a:schemeClr val="tx1"/>
                </a:solidFill>
                <a:ea typeface="+mn-ea"/>
                <a:cs typeface="+mn-cs"/>
              </a:rPr>
              <a:t> Conducting surveys – talking to ‘relevant persons’ about the implementation and outcomes of the project. </a:t>
            </a:r>
          </a:p>
          <a:p>
            <a:pPr lvl="0">
              <a:buFont typeface="Arial" pitchFamily="34" charset="0"/>
              <a:buChar char="•"/>
            </a:pPr>
            <a:r>
              <a:rPr lang="en-AU" sz="1200" kern="1200" dirty="0" smtClean="0">
                <a:solidFill>
                  <a:schemeClr val="tx1"/>
                </a:solidFill>
                <a:ea typeface="+mn-ea"/>
                <a:cs typeface="+mn-cs"/>
              </a:rPr>
              <a:t> Applying questionnaires to nominated people.</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may be paper-based or online questions posed to solicit input and feedback about the project</a:t>
            </a:r>
          </a:p>
          <a:p>
            <a:pPr>
              <a:buFont typeface="Arial" pitchFamily="34" charset="0"/>
              <a:buChar char="•"/>
            </a:pPr>
            <a:r>
              <a:rPr lang="en-AU" sz="1200" kern="1200" dirty="0" smtClean="0">
                <a:solidFill>
                  <a:schemeClr val="tx1"/>
                </a:solidFill>
                <a:ea typeface="+mn-ea"/>
                <a:cs typeface="+mn-cs"/>
              </a:rPr>
              <a:t> Conducting workplace observation relating to project implementation and note-taking to provide a basis for later analysis </a:t>
            </a:r>
          </a:p>
          <a:p>
            <a:pPr>
              <a:buFont typeface="Arial" pitchFamily="34" charset="0"/>
              <a:buChar char="•"/>
            </a:pPr>
            <a:r>
              <a:rPr lang="en-AU" sz="1200" kern="1200" dirty="0" smtClean="0">
                <a:solidFill>
                  <a:schemeClr val="tx1"/>
                </a:solidFill>
                <a:ea typeface="+mn-ea"/>
                <a:cs typeface="+mn-cs"/>
              </a:rPr>
              <a:t> Engaging in pilots for aspects of the project.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features implementation of actual workplace trials of project elements to determine effectiveness, and reactions and responses from those who are impacted (such as clients, customers and staff) as well as funding bodies and delegating authorities</a:t>
            </a:r>
          </a:p>
          <a:p>
            <a:pPr>
              <a:buFont typeface="Arial" pitchFamily="34" charset="0"/>
              <a:buChar char="•"/>
            </a:pPr>
            <a:r>
              <a:rPr lang="en-AU" sz="1200" kern="1200" dirty="0" smtClean="0">
                <a:solidFill>
                  <a:schemeClr val="tx1"/>
                </a:solidFill>
                <a:ea typeface="+mn-ea"/>
                <a:cs typeface="+mn-cs"/>
              </a:rPr>
              <a:t> Capturing and analysing </a:t>
            </a:r>
            <a:r>
              <a:rPr lang="en-AU" sz="1200" i="1" kern="1200" dirty="0" smtClean="0">
                <a:solidFill>
                  <a:schemeClr val="tx1"/>
                </a:solidFill>
                <a:ea typeface="+mn-ea"/>
                <a:cs typeface="+mn-cs"/>
              </a:rPr>
              <a:t>quantitative</a:t>
            </a:r>
            <a:r>
              <a:rPr lang="en-AU" sz="1200" kern="1200" dirty="0" smtClean="0">
                <a:solidFill>
                  <a:schemeClr val="tx1"/>
                </a:solidFill>
                <a:ea typeface="+mn-ea"/>
                <a:cs typeface="+mn-cs"/>
              </a:rPr>
              <a:t> workplace data and </a:t>
            </a:r>
            <a:r>
              <a:rPr lang="en-AU" sz="1200" i="1" kern="1200" dirty="0" smtClean="0">
                <a:solidFill>
                  <a:schemeClr val="tx1"/>
                </a:solidFill>
                <a:ea typeface="+mn-ea"/>
                <a:cs typeface="+mn-cs"/>
              </a:rPr>
              <a:t>qualitative</a:t>
            </a:r>
            <a:r>
              <a:rPr lang="en-AU" sz="1200" kern="1200" dirty="0" smtClean="0">
                <a:solidFill>
                  <a:schemeClr val="tx1"/>
                </a:solidFill>
                <a:ea typeface="+mn-ea"/>
                <a:cs typeface="+mn-cs"/>
              </a:rPr>
              <a:t> data.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185</a:t>
            </a:fld>
            <a:endParaRPr lang="en-US" dirty="0"/>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advises </a:t>
            </a:r>
            <a:r>
              <a:rPr lang="en-AU" sz="1200" kern="1200" dirty="0" smtClean="0">
                <a:solidFill>
                  <a:schemeClr val="tx1"/>
                </a:solidFill>
                <a:ea typeface="+mn-ea"/>
                <a:cs typeface="+mn-cs"/>
              </a:rPr>
              <a:t>there must be a specific focus for all project evaluations stating the following applies:</a:t>
            </a:r>
          </a:p>
          <a:p>
            <a:pPr>
              <a:buFont typeface="Arial" pitchFamily="34" charset="0"/>
              <a:buChar char="•"/>
            </a:pPr>
            <a:r>
              <a:rPr lang="en-AU" sz="1200" kern="1200" dirty="0" smtClean="0">
                <a:solidFill>
                  <a:schemeClr val="tx1"/>
                </a:solidFill>
                <a:ea typeface="+mn-ea"/>
                <a:cs typeface="+mn-cs"/>
              </a:rPr>
              <a:t> Assessments and reviews of the project must occur during the project</a:t>
            </a:r>
          </a:p>
          <a:p>
            <a:pPr>
              <a:buFont typeface="Arial" pitchFamily="34" charset="0"/>
              <a:buChar char="•"/>
            </a:pPr>
            <a:r>
              <a:rPr lang="en-AU" sz="1200" kern="1200" dirty="0" smtClean="0">
                <a:solidFill>
                  <a:schemeClr val="tx1"/>
                </a:solidFill>
                <a:ea typeface="+mn-ea"/>
                <a:cs typeface="+mn-cs"/>
              </a:rPr>
              <a:t> The project review at the end of the project is sometimes referred to as a </a:t>
            </a:r>
            <a:r>
              <a:rPr lang="en-AU" sz="1200" i="1" kern="1200" dirty="0" smtClean="0">
                <a:solidFill>
                  <a:schemeClr val="tx1"/>
                </a:solidFill>
                <a:ea typeface="+mn-ea"/>
                <a:cs typeface="+mn-cs"/>
              </a:rPr>
              <a:t>post mortem</a:t>
            </a:r>
            <a:endParaRPr lang="en-AU"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 The end of project assessment and review (evaluation) phase for a project must reflect/implement the evaluation methods identified in the planning process</a:t>
            </a:r>
          </a:p>
          <a:p>
            <a:pPr>
              <a:buFont typeface="Arial" pitchFamily="34" charset="0"/>
              <a:buChar char="•"/>
            </a:pPr>
            <a:r>
              <a:rPr lang="en-AU" sz="1200" kern="1200" dirty="0" smtClean="0">
                <a:solidFill>
                  <a:schemeClr val="tx1"/>
                </a:solidFill>
                <a:ea typeface="+mn-ea"/>
                <a:cs typeface="+mn-cs"/>
              </a:rPr>
              <a:t> The timeline for assessment and review of the project as stated in the project management plan must be complied with.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186</a:t>
            </a:fld>
            <a:endParaRPr lang="en-US" dirty="0"/>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the </a:t>
            </a:r>
            <a:r>
              <a:rPr lang="en-AU" sz="1200" kern="1200" dirty="0" smtClean="0">
                <a:solidFill>
                  <a:schemeClr val="tx1"/>
                </a:solidFill>
                <a:ea typeface="+mn-ea"/>
                <a:cs typeface="+mn-cs"/>
              </a:rPr>
              <a:t>main reasons for assessing and reviewing projects are to:</a:t>
            </a:r>
          </a:p>
          <a:p>
            <a:pPr>
              <a:buFont typeface="Arial" pitchFamily="34" charset="0"/>
              <a:buChar char="•"/>
            </a:pPr>
            <a:r>
              <a:rPr lang="en-AU" sz="1200" kern="1200" dirty="0" smtClean="0">
                <a:solidFill>
                  <a:schemeClr val="tx1"/>
                </a:solidFill>
                <a:ea typeface="+mn-ea"/>
                <a:cs typeface="+mn-cs"/>
              </a:rPr>
              <a:t> Confirm project status.</a:t>
            </a:r>
            <a:r>
              <a:rPr lang="en-AU" sz="1200" kern="1200" baseline="0" dirty="0" smtClean="0">
                <a:solidFill>
                  <a:schemeClr val="tx1"/>
                </a:solidFill>
                <a:ea typeface="+mn-ea"/>
                <a:cs typeface="+mn-cs"/>
              </a:rPr>
              <a:t> Y</a:t>
            </a:r>
            <a:r>
              <a:rPr lang="en-AU" sz="1200" kern="1200" dirty="0" smtClean="0">
                <a:solidFill>
                  <a:schemeClr val="tx1"/>
                </a:solidFill>
                <a:ea typeface="+mn-ea"/>
                <a:cs typeface="+mn-cs"/>
              </a:rPr>
              <a:t>ou need to verify the projected is truly completed/signed off, or whether there are still ongoing issues which still need to be resolved</a:t>
            </a:r>
          </a:p>
          <a:p>
            <a:pPr>
              <a:buFont typeface="Arial" pitchFamily="34" charset="0"/>
              <a:buChar char="•"/>
            </a:pPr>
            <a:r>
              <a:rPr lang="en-AU" sz="1200" kern="1200" dirty="0" smtClean="0">
                <a:solidFill>
                  <a:schemeClr val="tx1"/>
                </a:solidFill>
                <a:ea typeface="+mn-ea"/>
                <a:cs typeface="+mn-cs"/>
              </a:rPr>
              <a:t> Learn lessons which could be used for future projects so the </a:t>
            </a:r>
            <a:r>
              <a:rPr lang="en-AU" sz="1200" i="1" kern="1200" dirty="0" smtClean="0">
                <a:solidFill>
                  <a:schemeClr val="tx1"/>
                </a:solidFill>
                <a:ea typeface="+mn-ea"/>
                <a:cs typeface="+mn-cs"/>
              </a:rPr>
              <a:t>next </a:t>
            </a:r>
            <a:r>
              <a:rPr lang="en-AU" sz="1200" kern="1200" dirty="0" smtClean="0">
                <a:solidFill>
                  <a:schemeClr val="tx1"/>
                </a:solidFill>
                <a:ea typeface="+mn-ea"/>
                <a:cs typeface="+mn-cs"/>
              </a:rPr>
              <a:t>project does not repeat any mistakes of </a:t>
            </a:r>
            <a:r>
              <a:rPr lang="en-AU" sz="1200" i="1" kern="1200" dirty="0" smtClean="0">
                <a:solidFill>
                  <a:schemeClr val="tx1"/>
                </a:solidFill>
                <a:ea typeface="+mn-ea"/>
                <a:cs typeface="+mn-cs"/>
              </a:rPr>
              <a:t>this</a:t>
            </a:r>
            <a:r>
              <a:rPr lang="en-AU" sz="1200" kern="1200" dirty="0" smtClean="0">
                <a:solidFill>
                  <a:schemeClr val="tx1"/>
                </a:solidFill>
                <a:ea typeface="+mn-ea"/>
                <a:cs typeface="+mn-cs"/>
              </a:rPr>
              <a:t> project</a:t>
            </a:r>
          </a:p>
          <a:p>
            <a:pPr>
              <a:buFont typeface="Arial" pitchFamily="34" charset="0"/>
              <a:buChar char="•"/>
            </a:pPr>
            <a:r>
              <a:rPr lang="en-AU" sz="1200" kern="1200" dirty="0" smtClean="0">
                <a:solidFill>
                  <a:schemeClr val="tx1"/>
                </a:solidFill>
                <a:ea typeface="+mn-ea"/>
                <a:cs typeface="+mn-cs"/>
              </a:rPr>
              <a:t> Review activities, issues and problems relating to the project to identify what these were and (more importantly) </a:t>
            </a:r>
            <a:r>
              <a:rPr lang="en-AU" sz="1200" i="1" kern="1200" dirty="0" smtClean="0">
                <a:solidFill>
                  <a:schemeClr val="tx1"/>
                </a:solidFill>
                <a:ea typeface="+mn-ea"/>
                <a:cs typeface="+mn-cs"/>
              </a:rPr>
              <a:t>why</a:t>
            </a:r>
            <a:r>
              <a:rPr lang="en-AU" sz="1200" kern="1200" dirty="0" smtClean="0">
                <a:solidFill>
                  <a:schemeClr val="tx1"/>
                </a:solidFill>
                <a:ea typeface="+mn-ea"/>
                <a:cs typeface="+mn-cs"/>
              </a:rPr>
              <a:t> they emerged/occurred</a:t>
            </a:r>
          </a:p>
          <a:p>
            <a:pPr>
              <a:buFont typeface="Arial" pitchFamily="34" charset="0"/>
              <a:buChar char="•"/>
            </a:pPr>
            <a:r>
              <a:rPr lang="en-AU" sz="1200" kern="1200" dirty="0" smtClean="0">
                <a:solidFill>
                  <a:schemeClr val="tx1"/>
                </a:solidFill>
                <a:ea typeface="+mn-ea"/>
                <a:cs typeface="+mn-cs"/>
              </a:rPr>
              <a:t> Learn about how the venue and staff performed.</a:t>
            </a:r>
            <a:r>
              <a:rPr lang="en-AU" sz="1200" kern="1200" baseline="0" dirty="0" smtClean="0">
                <a:solidFill>
                  <a:schemeClr val="tx1"/>
                </a:solidFill>
                <a:ea typeface="+mn-ea"/>
                <a:cs typeface="+mn-cs"/>
              </a:rPr>
              <a:t> P</a:t>
            </a:r>
            <a:r>
              <a:rPr lang="en-AU" sz="1200" kern="1200" dirty="0" smtClean="0">
                <a:solidFill>
                  <a:schemeClr val="tx1"/>
                </a:solidFill>
                <a:ea typeface="+mn-ea"/>
                <a:cs typeface="+mn-cs"/>
              </a:rPr>
              <a:t>roject reviews can provide useful insight into venue culture, general staff morale and individual staff performance</a:t>
            </a:r>
          </a:p>
          <a:p>
            <a:pPr>
              <a:buFont typeface="Arial" pitchFamily="34" charset="0"/>
              <a:buChar char="•"/>
            </a:pPr>
            <a:r>
              <a:rPr lang="en-AU" sz="1200" kern="1200" dirty="0" smtClean="0">
                <a:solidFill>
                  <a:schemeClr val="tx1"/>
                </a:solidFill>
                <a:ea typeface="+mn-ea"/>
                <a:cs typeface="+mn-cs"/>
              </a:rPr>
              <a:t> Discharge ‘due diligence’ requirements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187</a:t>
            </a:fld>
            <a:endParaRPr lang="en-US" dirty="0"/>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stating the </a:t>
            </a:r>
            <a:r>
              <a:rPr lang="en-AU" sz="1200" kern="1200" dirty="0" smtClean="0">
                <a:solidFill>
                  <a:schemeClr val="tx1"/>
                </a:solidFill>
                <a:ea typeface="+mn-ea"/>
                <a:cs typeface="+mn-cs"/>
              </a:rPr>
              <a:t>main reasons for assessing and reviewing projects are to:</a:t>
            </a:r>
          </a:p>
          <a:p>
            <a:pPr>
              <a:buFont typeface="Arial" pitchFamily="34" charset="0"/>
              <a:buChar char="•"/>
            </a:pPr>
            <a:r>
              <a:rPr lang="en-AU" sz="1200" kern="1200" dirty="0" smtClean="0">
                <a:solidFill>
                  <a:schemeClr val="tx1"/>
                </a:solidFill>
                <a:ea typeface="+mn-ea"/>
                <a:cs typeface="+mn-cs"/>
              </a:rPr>
              <a:t> Determine follow-up action which may need to be taken to put the finishing touches to a project and/or take remedial/corrective action to fix project-related problems</a:t>
            </a:r>
          </a:p>
          <a:p>
            <a:pPr>
              <a:buFont typeface="Arial" pitchFamily="34" charset="0"/>
              <a:buChar char="•"/>
            </a:pPr>
            <a:r>
              <a:rPr lang="en-AU" sz="1200" kern="1200" dirty="0" smtClean="0">
                <a:solidFill>
                  <a:schemeClr val="tx1"/>
                </a:solidFill>
                <a:ea typeface="+mn-ea"/>
                <a:cs typeface="+mn-cs"/>
              </a:rPr>
              <a:t> Provide useful, relevant and sought-after feedback to venue staff/teams who were involved in the project.</a:t>
            </a:r>
            <a:r>
              <a:rPr lang="en-AU" sz="1200" kern="1200" baseline="0" dirty="0" smtClean="0">
                <a:solidFill>
                  <a:schemeClr val="tx1"/>
                </a:solidFill>
                <a:ea typeface="+mn-ea"/>
                <a:cs typeface="+mn-cs"/>
              </a:rPr>
              <a:t> C</a:t>
            </a:r>
            <a:r>
              <a:rPr lang="en-AU" sz="1200" kern="1200" dirty="0" smtClean="0">
                <a:solidFill>
                  <a:schemeClr val="tx1"/>
                </a:solidFill>
                <a:ea typeface="+mn-ea"/>
                <a:cs typeface="+mn-cs"/>
              </a:rPr>
              <a:t>ommonly those involved in a project also want to know how they performed</a:t>
            </a:r>
          </a:p>
          <a:p>
            <a:pPr>
              <a:buFont typeface="Arial" pitchFamily="34" charset="0"/>
              <a:buChar char="•"/>
            </a:pPr>
            <a:r>
              <a:rPr lang="en-AU" sz="1200" kern="1200" dirty="0" smtClean="0">
                <a:solidFill>
                  <a:schemeClr val="tx1"/>
                </a:solidFill>
                <a:ea typeface="+mn-ea"/>
                <a:cs typeface="+mn-cs"/>
              </a:rPr>
              <a:t> Identify actions taken by anyone in the project that functioned to impede the project such as,</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for example, instances where failure to complete a task caused the delay of another task, or sub-standard performance by a contractor</a:t>
            </a:r>
          </a:p>
          <a:p>
            <a:pPr>
              <a:buFont typeface="Arial" pitchFamily="34" charset="0"/>
              <a:buChar char="•"/>
            </a:pPr>
            <a:r>
              <a:rPr lang="en-AU" sz="1200" kern="1200" dirty="0" smtClean="0">
                <a:solidFill>
                  <a:schemeClr val="tx1"/>
                </a:solidFill>
                <a:ea typeface="+mn-ea"/>
                <a:cs typeface="+mn-cs"/>
              </a:rPr>
              <a:t> Provide detail and information to be used in formal reporting requirements for the project – reports can use information obtained as part of the review process </a:t>
            </a:r>
          </a:p>
          <a:p>
            <a:pPr>
              <a:buFont typeface="Arial" pitchFamily="34" charset="0"/>
              <a:buChar char="•"/>
            </a:pPr>
            <a:r>
              <a:rPr lang="en-AU" sz="1200" kern="1200" dirty="0" smtClean="0">
                <a:solidFill>
                  <a:schemeClr val="tx1"/>
                </a:solidFill>
                <a:ea typeface="+mn-ea"/>
                <a:cs typeface="+mn-cs"/>
              </a:rPr>
              <a:t> Formally complete/finalise the project management plan by fulfilling what is usually the last step/stage listed in the plan (‘Project evaluation/review’).</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188</a:t>
            </a:fld>
            <a:endParaRPr lang="en-US" dirty="0"/>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topics to be covered in the review:</a:t>
            </a:r>
          </a:p>
          <a:p>
            <a:pPr>
              <a:buFont typeface="Arial" pitchFamily="34" charset="0"/>
              <a:buChar char="•"/>
            </a:pPr>
            <a:r>
              <a:rPr lang="en-US" dirty="0" smtClean="0"/>
              <a:t> Anything related to the project – if ‘it’ was part of the project then it is potentially a subject of the assessment/evaluation</a:t>
            </a:r>
          </a:p>
          <a:p>
            <a:pPr>
              <a:buFont typeface="Arial" pitchFamily="34" charset="0"/>
              <a:buChar char="•"/>
            </a:pPr>
            <a:r>
              <a:rPr lang="en-AU" sz="1200" kern="1200" dirty="0" smtClean="0">
                <a:solidFill>
                  <a:schemeClr val="tx1"/>
                </a:solidFill>
                <a:ea typeface="+mn-ea"/>
                <a:cs typeface="+mn-cs"/>
              </a:rPr>
              <a:t> Funding levels and sources:</a:t>
            </a:r>
          </a:p>
          <a:p>
            <a:pPr lvl="1">
              <a:buFont typeface="Arial" pitchFamily="34" charset="0"/>
              <a:buChar char="•"/>
            </a:pPr>
            <a:r>
              <a:rPr lang="en-AU" sz="1200" kern="1200" dirty="0" smtClean="0">
                <a:solidFill>
                  <a:schemeClr val="tx1"/>
                </a:solidFill>
                <a:ea typeface="+mn-ea"/>
                <a:cs typeface="+mn-cs"/>
              </a:rPr>
              <a:t> Were sufficient funds allocated/provided to enable achievement of project deliverables?</a:t>
            </a:r>
          </a:p>
          <a:p>
            <a:pPr lvl="1">
              <a:buFont typeface="Arial" pitchFamily="34" charset="0"/>
              <a:buChar char="•"/>
            </a:pPr>
            <a:r>
              <a:rPr lang="en-AU" sz="1200" kern="1200" dirty="0" smtClean="0">
                <a:solidFill>
                  <a:schemeClr val="tx1"/>
                </a:solidFill>
                <a:ea typeface="+mn-ea"/>
                <a:cs typeface="+mn-cs"/>
              </a:rPr>
              <a:t> Were the best funding sources accessed for the project?</a:t>
            </a:r>
          </a:p>
          <a:p>
            <a:pPr>
              <a:buFont typeface="Arial" pitchFamily="34" charset="0"/>
              <a:buChar char="•"/>
            </a:pPr>
            <a:r>
              <a:rPr lang="en-AU" sz="1200" kern="1200" dirty="0" smtClean="0">
                <a:solidFill>
                  <a:schemeClr val="tx1"/>
                </a:solidFill>
                <a:ea typeface="+mn-ea"/>
                <a:cs typeface="+mn-cs"/>
              </a:rPr>
              <a:t> Resource use and allocation:</a:t>
            </a:r>
          </a:p>
          <a:p>
            <a:pPr lvl="1">
              <a:buFont typeface="Arial" pitchFamily="34" charset="0"/>
              <a:buChar char="•"/>
            </a:pPr>
            <a:r>
              <a:rPr lang="en-AU" sz="1200" kern="1200" dirty="0" smtClean="0">
                <a:solidFill>
                  <a:schemeClr val="tx1"/>
                </a:solidFill>
                <a:ea typeface="+mn-ea"/>
                <a:cs typeface="+mn-cs"/>
              </a:rPr>
              <a:t> Were appropriate, sufficient, compliant resources used and/or made available?</a:t>
            </a:r>
          </a:p>
          <a:p>
            <a:pPr lvl="1">
              <a:buFont typeface="Arial" pitchFamily="34" charset="0"/>
              <a:buChar char="•"/>
            </a:pPr>
            <a:r>
              <a:rPr lang="en-AU" sz="1200" kern="1200" dirty="0" smtClean="0">
                <a:solidFill>
                  <a:schemeClr val="tx1"/>
                </a:solidFill>
                <a:ea typeface="+mn-ea"/>
                <a:cs typeface="+mn-cs"/>
              </a:rPr>
              <a:t> Were the resources made available actually suitable for the project?</a:t>
            </a:r>
          </a:p>
          <a:p>
            <a:pPr>
              <a:buFont typeface="Arial" pitchFamily="34" charset="0"/>
              <a:buChar char="•"/>
            </a:pPr>
            <a:r>
              <a:rPr lang="en-AU" sz="1200" kern="1200" dirty="0" smtClean="0">
                <a:solidFill>
                  <a:schemeClr val="tx1"/>
                </a:solidFill>
                <a:ea typeface="+mn-ea"/>
                <a:cs typeface="+mn-cs"/>
              </a:rPr>
              <a:t> Timing issues:</a:t>
            </a:r>
          </a:p>
          <a:p>
            <a:pPr lvl="1">
              <a:buFont typeface="Arial" pitchFamily="34" charset="0"/>
              <a:buChar char="•"/>
            </a:pPr>
            <a:r>
              <a:rPr lang="en-AU" sz="1200" kern="1200" dirty="0" smtClean="0">
                <a:solidFill>
                  <a:schemeClr val="tx1"/>
                </a:solidFill>
                <a:ea typeface="+mn-ea"/>
                <a:cs typeface="+mn-cs"/>
              </a:rPr>
              <a:t> Was there sufficient lead time to enable appropriate planning?</a:t>
            </a:r>
          </a:p>
          <a:p>
            <a:pPr lvl="1">
              <a:buFont typeface="Arial" pitchFamily="34" charset="0"/>
              <a:buChar char="•"/>
            </a:pPr>
            <a:r>
              <a:rPr lang="en-AU" sz="1200" kern="1200" dirty="0" smtClean="0">
                <a:solidFill>
                  <a:schemeClr val="tx1"/>
                </a:solidFill>
                <a:ea typeface="+mn-ea"/>
                <a:cs typeface="+mn-cs"/>
              </a:rPr>
              <a:t> Did staff used in the project have enough time to do their project-related work as well as other ‘normal’ venue duties?</a:t>
            </a:r>
          </a:p>
          <a:p>
            <a:pPr>
              <a:buFont typeface="Arial" pitchFamily="34" charset="0"/>
              <a:buChar char="•"/>
            </a:pPr>
            <a:r>
              <a:rPr lang="en-AU" sz="1200" kern="1200" dirty="0" smtClean="0">
                <a:solidFill>
                  <a:schemeClr val="tx1"/>
                </a:solidFill>
                <a:ea typeface="+mn-ea"/>
                <a:cs typeface="+mn-cs"/>
              </a:rPr>
              <a:t> Personnel involved in the project:</a:t>
            </a:r>
          </a:p>
          <a:p>
            <a:pPr lvl="1">
              <a:buFont typeface="Arial" pitchFamily="34" charset="0"/>
              <a:buChar char="•"/>
            </a:pPr>
            <a:r>
              <a:rPr lang="en-AU" sz="1200" kern="1200" dirty="0" smtClean="0">
                <a:solidFill>
                  <a:schemeClr val="tx1"/>
                </a:solidFill>
                <a:ea typeface="+mn-ea"/>
                <a:cs typeface="+mn-cs"/>
              </a:rPr>
              <a:t> Did you use ‘the right staff’ from within the business, and from outside agencies/businesses?</a:t>
            </a:r>
          </a:p>
          <a:p>
            <a:pPr lvl="1">
              <a:buFont typeface="Arial" pitchFamily="34" charset="0"/>
              <a:buChar char="•"/>
            </a:pPr>
            <a:r>
              <a:rPr lang="en-AU" sz="1200" kern="1200" dirty="0" smtClean="0">
                <a:solidFill>
                  <a:schemeClr val="tx1"/>
                </a:solidFill>
                <a:ea typeface="+mn-ea"/>
                <a:cs typeface="+mn-cs"/>
              </a:rPr>
              <a:t> Did you have sufficient staff involved?</a:t>
            </a:r>
          </a:p>
          <a:p>
            <a:pPr lvl="1">
              <a:buFont typeface="Arial" pitchFamily="34" charset="0"/>
              <a:buChar char="•"/>
            </a:pPr>
            <a:endParaRPr lang="en-AU" sz="1200" kern="1200" dirty="0" smtClean="0">
              <a:solidFill>
                <a:schemeClr val="tx1"/>
              </a:solidFill>
              <a:ea typeface="+mn-ea"/>
              <a:cs typeface="+mn-cs"/>
            </a:endParaRPr>
          </a:p>
          <a:p>
            <a:pPr>
              <a:buFont typeface="Arial" pitchFamily="34" charset="0"/>
              <a:buChar char="•"/>
            </a:pPr>
            <a:endParaRPr lang="en-US" dirty="0" smtClean="0"/>
          </a:p>
          <a:p>
            <a:pPr>
              <a:buFont typeface="Arial" pitchFamily="34" charset="0"/>
              <a:buChar cha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189</a:t>
            </a:fld>
            <a:endParaRPr lang="en-US" dirty="0"/>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topics to be covered in the review:</a:t>
            </a:r>
          </a:p>
          <a:p>
            <a:pPr>
              <a:buFont typeface="Arial" pitchFamily="34" charset="0"/>
              <a:buChar char="•"/>
            </a:pPr>
            <a:r>
              <a:rPr lang="en-AU" sz="1200" kern="1200" dirty="0" smtClean="0">
                <a:solidFill>
                  <a:schemeClr val="tx1"/>
                </a:solidFill>
                <a:ea typeface="+mn-ea"/>
                <a:cs typeface="+mn-cs"/>
              </a:rPr>
              <a:t> Role of stakeholders in the project:</a:t>
            </a:r>
          </a:p>
          <a:p>
            <a:pPr lvl="1">
              <a:buFont typeface="Arial" pitchFamily="34" charset="0"/>
              <a:buChar char="•"/>
            </a:pPr>
            <a:r>
              <a:rPr lang="en-AU" sz="1200" kern="1200" dirty="0" smtClean="0">
                <a:solidFill>
                  <a:schemeClr val="tx1"/>
                </a:solidFill>
                <a:ea typeface="+mn-ea"/>
                <a:cs typeface="+mn-cs"/>
              </a:rPr>
              <a:t> Did they actually perform within the project as they promised?</a:t>
            </a:r>
          </a:p>
          <a:p>
            <a:pPr lvl="1">
              <a:buFont typeface="Arial" pitchFamily="34" charset="0"/>
              <a:buChar char="•"/>
            </a:pPr>
            <a:r>
              <a:rPr lang="en-AU" sz="1200" kern="1200" dirty="0" smtClean="0">
                <a:solidFill>
                  <a:schemeClr val="tx1"/>
                </a:solidFill>
                <a:ea typeface="+mn-ea"/>
                <a:cs typeface="+mn-cs"/>
              </a:rPr>
              <a:t> What advantages and disadvantages were there in having these stakeholders involved?</a:t>
            </a:r>
          </a:p>
          <a:p>
            <a:pPr lvl="1">
              <a:buFont typeface="Arial" pitchFamily="34" charset="0"/>
              <a:buChar char="•"/>
            </a:pPr>
            <a:r>
              <a:rPr lang="en-AU" sz="1200" kern="1200" dirty="0" smtClean="0">
                <a:solidFill>
                  <a:schemeClr val="tx1"/>
                </a:solidFill>
                <a:ea typeface="+mn-ea"/>
                <a:cs typeface="+mn-cs"/>
              </a:rPr>
              <a:t> Who would you want</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not want next time, and why?</a:t>
            </a:r>
          </a:p>
          <a:p>
            <a:pPr>
              <a:buFont typeface="Arial" pitchFamily="34" charset="0"/>
              <a:buChar char="•"/>
            </a:pPr>
            <a:r>
              <a:rPr lang="en-AU" sz="1200" kern="1200" dirty="0" smtClean="0">
                <a:solidFill>
                  <a:schemeClr val="tx1"/>
                </a:solidFill>
                <a:ea typeface="+mn-ea"/>
                <a:cs typeface="+mn-cs"/>
              </a:rPr>
              <a:t>Problems encountered:</a:t>
            </a:r>
          </a:p>
          <a:p>
            <a:pPr lvl="1">
              <a:buFont typeface="Arial" pitchFamily="34" charset="0"/>
              <a:buChar char="•"/>
            </a:pPr>
            <a:r>
              <a:rPr lang="en-AU" sz="1200" kern="1200" dirty="0" smtClean="0">
                <a:solidFill>
                  <a:schemeClr val="tx1"/>
                </a:solidFill>
                <a:ea typeface="+mn-ea"/>
                <a:cs typeface="+mn-cs"/>
              </a:rPr>
              <a:t> What unforeseen issues and problems occurred during the project?</a:t>
            </a:r>
          </a:p>
          <a:p>
            <a:pPr lvl="1">
              <a:buFont typeface="Arial" pitchFamily="34" charset="0"/>
              <a:buChar char="•"/>
            </a:pPr>
            <a:r>
              <a:rPr lang="en-AU" sz="1200" kern="1200" dirty="0" smtClean="0">
                <a:solidFill>
                  <a:schemeClr val="tx1"/>
                </a:solidFill>
                <a:ea typeface="+mn-ea"/>
                <a:cs typeface="+mn-cs"/>
              </a:rPr>
              <a:t> How were they addressed and could they have been addressed more effectively?</a:t>
            </a:r>
          </a:p>
          <a:p>
            <a:pPr lvl="1">
              <a:buFont typeface="Arial" pitchFamily="34" charset="0"/>
              <a:buChar char="•"/>
            </a:pPr>
            <a:r>
              <a:rPr lang="en-AU" sz="1200" kern="1200" dirty="0" smtClean="0">
                <a:solidFill>
                  <a:schemeClr val="tx1"/>
                </a:solidFill>
                <a:ea typeface="+mn-ea"/>
                <a:cs typeface="+mn-cs"/>
              </a:rPr>
              <a:t> How can these situations be avoided nest time?</a:t>
            </a:r>
          </a:p>
          <a:p>
            <a:pPr>
              <a:buFont typeface="Arial" pitchFamily="34" charset="0"/>
              <a:buNone/>
            </a:pPr>
            <a:r>
              <a:rPr lang="en-US" dirty="0" smtClean="0"/>
              <a:t>Trainer continues presenting topics to be covered in the review:</a:t>
            </a:r>
          </a:p>
          <a:p>
            <a:pPr>
              <a:buFont typeface="Arial" pitchFamily="34" charset="0"/>
              <a:buChar char="•"/>
            </a:pPr>
            <a:r>
              <a:rPr lang="en-AU" sz="1200" kern="1200" dirty="0" smtClean="0">
                <a:solidFill>
                  <a:schemeClr val="tx1"/>
                </a:solidFill>
                <a:ea typeface="+mn-ea"/>
                <a:cs typeface="+mn-cs"/>
              </a:rPr>
              <a:t> Evaluation of the project against the project management plan – all elements of the project plan should be subject to review (see Class Activity, below)</a:t>
            </a:r>
          </a:p>
          <a:p>
            <a:pPr lvl="0">
              <a:buFont typeface="Arial" pitchFamily="34" charset="0"/>
              <a:buChar char="•"/>
            </a:pPr>
            <a:r>
              <a:rPr lang="en-AU" sz="1200" kern="1200" dirty="0" smtClean="0">
                <a:solidFill>
                  <a:schemeClr val="tx1"/>
                </a:solidFill>
                <a:ea typeface="+mn-ea"/>
                <a:cs typeface="+mn-cs"/>
              </a:rPr>
              <a:t> Budget – there is always a need to consider ‘budget’ in any project review:</a:t>
            </a:r>
          </a:p>
          <a:p>
            <a:pPr lvl="1">
              <a:buFont typeface="Arial" pitchFamily="34" charset="0"/>
              <a:buChar char="•"/>
            </a:pPr>
            <a:r>
              <a:rPr lang="en-AU" sz="1200" kern="1200" dirty="0" smtClean="0">
                <a:solidFill>
                  <a:schemeClr val="tx1"/>
                </a:solidFill>
                <a:ea typeface="+mn-ea"/>
                <a:cs typeface="+mn-cs"/>
              </a:rPr>
              <a:t> Were there cost over-runs? </a:t>
            </a:r>
          </a:p>
          <a:p>
            <a:pPr lvl="1">
              <a:buFont typeface="Arial" pitchFamily="34" charset="0"/>
              <a:buChar char="•"/>
            </a:pPr>
            <a:r>
              <a:rPr lang="en-AU" sz="1200" kern="1200" dirty="0" smtClean="0">
                <a:solidFill>
                  <a:schemeClr val="tx1"/>
                </a:solidFill>
                <a:ea typeface="+mn-ea"/>
                <a:cs typeface="+mn-cs"/>
              </a:rPr>
              <a:t> If so, to what extent and why?</a:t>
            </a:r>
          </a:p>
          <a:p>
            <a:pPr lvl="1">
              <a:buFont typeface="Arial" pitchFamily="34" charset="0"/>
              <a:buChar char="•"/>
            </a:pPr>
            <a:r>
              <a:rPr lang="en-AU" sz="1200" kern="1200" dirty="0" smtClean="0">
                <a:solidFill>
                  <a:schemeClr val="tx1"/>
                </a:solidFill>
                <a:ea typeface="+mn-ea"/>
                <a:cs typeface="+mn-cs"/>
              </a:rPr>
              <a:t> Could the cost blow-outs have been predicted? Avoided?</a:t>
            </a:r>
          </a:p>
          <a:p>
            <a:pPr lvl="1">
              <a:buFont typeface="Arial" pitchFamily="34" charset="0"/>
              <a:buChar char="•"/>
            </a:pPr>
            <a:r>
              <a:rPr lang="en-AU" sz="1200" kern="1200" dirty="0" smtClean="0">
                <a:solidFill>
                  <a:schemeClr val="tx1"/>
                </a:solidFill>
                <a:ea typeface="+mn-ea"/>
                <a:cs typeface="+mn-cs"/>
              </a:rPr>
              <a:t> Did the project make the moist effective and efficient use of the funds (and other resources) provided for it?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 Lessons learned – see later slides</a:t>
            </a:r>
          </a:p>
          <a:p>
            <a:pPr>
              <a:buFont typeface="Arial" pitchFamily="34" charset="0"/>
              <a:buNone/>
            </a:pPr>
            <a:endParaRPr lang="en-US" dirty="0" smtClean="0"/>
          </a:p>
          <a:p>
            <a:pPr>
              <a:buFont typeface="Arial" pitchFamily="34" charset="0"/>
              <a:buNone/>
            </a:pPr>
            <a:r>
              <a:rPr lang="en-US" b="1" dirty="0" smtClean="0"/>
              <a:t>Class Activity – Question and Discussion</a:t>
            </a:r>
          </a:p>
          <a:p>
            <a:pPr>
              <a:buFont typeface="Arial" pitchFamily="34" charset="0"/>
              <a:buNone/>
            </a:pPr>
            <a:r>
              <a:rPr lang="en-US" b="0" dirty="0" smtClean="0"/>
              <a:t>Trainer asks students to identify elements of the project management plan which should be evaluated.</a:t>
            </a:r>
          </a:p>
          <a:p>
            <a:pPr>
              <a:buFont typeface="Arial" pitchFamily="34" charset="0"/>
              <a:buNone/>
            </a:pPr>
            <a:r>
              <a:rPr lang="en-US" b="1" i="1" dirty="0" smtClean="0"/>
              <a:t>Possible answers:</a:t>
            </a:r>
          </a:p>
          <a:p>
            <a:pPr lvl="0">
              <a:buFont typeface="Arial" pitchFamily="34" charset="0"/>
              <a:buChar char="•"/>
            </a:pPr>
            <a:r>
              <a:rPr lang="en-AU" sz="1200" kern="1200" dirty="0" smtClean="0">
                <a:solidFill>
                  <a:schemeClr val="tx1"/>
                </a:solidFill>
                <a:ea typeface="+mn-ea"/>
                <a:cs typeface="+mn-cs"/>
              </a:rPr>
              <a:t> How effective was the plan? Was the project plan sufficiently detailed, instructive and focussed?</a:t>
            </a:r>
          </a:p>
          <a:p>
            <a:pPr lvl="0">
              <a:buFont typeface="Arial" pitchFamily="34" charset="0"/>
              <a:buChar char="•"/>
            </a:pPr>
            <a:r>
              <a:rPr lang="en-AU" sz="1200" kern="1200" dirty="0" smtClean="0">
                <a:solidFill>
                  <a:schemeClr val="tx1"/>
                </a:solidFill>
                <a:ea typeface="+mn-ea"/>
                <a:cs typeface="+mn-cs"/>
              </a:rPr>
              <a:t> Did the project management plan provide sufficient guidance for the project?</a:t>
            </a:r>
          </a:p>
          <a:p>
            <a:pPr lvl="0">
              <a:buFont typeface="Arial" pitchFamily="34" charset="0"/>
              <a:buChar char="•"/>
            </a:pPr>
            <a:r>
              <a:rPr lang="en-AU" sz="1200" kern="1200" dirty="0" smtClean="0">
                <a:solidFill>
                  <a:schemeClr val="tx1"/>
                </a:solidFill>
                <a:ea typeface="+mn-ea"/>
                <a:cs typeface="+mn-cs"/>
              </a:rPr>
              <a:t> To what extent were the deliverables, objectives, outcomes and other items in the project plan actually achieved? </a:t>
            </a:r>
          </a:p>
          <a:p>
            <a:pPr lvl="0">
              <a:buFont typeface="Arial" pitchFamily="34" charset="0"/>
              <a:buChar char="•"/>
            </a:pPr>
            <a:r>
              <a:rPr lang="en-AU" sz="1200" kern="1200" dirty="0" smtClean="0">
                <a:solidFill>
                  <a:schemeClr val="tx1"/>
                </a:solidFill>
                <a:ea typeface="+mn-ea"/>
                <a:cs typeface="+mn-cs"/>
              </a:rPr>
              <a:t> If there was a discrepancy between ‘actual’ and ‘expected’ outcomes, are these acceptable? </a:t>
            </a:r>
          </a:p>
          <a:p>
            <a:pPr lvl="0">
              <a:buFont typeface="Arial" pitchFamily="34" charset="0"/>
              <a:buChar char="•"/>
            </a:pPr>
            <a:r>
              <a:rPr lang="en-AU" sz="1200" kern="1200" dirty="0" smtClean="0">
                <a:solidFill>
                  <a:schemeClr val="tx1"/>
                </a:solidFill>
                <a:ea typeface="+mn-ea"/>
                <a:cs typeface="+mn-cs"/>
              </a:rPr>
              <a:t> Why did they occur?</a:t>
            </a:r>
          </a:p>
          <a:p>
            <a:pPr lvl="0">
              <a:buFont typeface="Arial" pitchFamily="34" charset="0"/>
              <a:buChar char="•"/>
            </a:pPr>
            <a:r>
              <a:rPr lang="en-AU" sz="1200" kern="1200" dirty="0" smtClean="0">
                <a:solidFill>
                  <a:schemeClr val="tx1"/>
                </a:solidFill>
                <a:ea typeface="+mn-ea"/>
                <a:cs typeface="+mn-cs"/>
              </a:rPr>
              <a:t> Did those nominated in the project plan discharge their allocated responsibilities?</a:t>
            </a:r>
          </a:p>
          <a:p>
            <a:pPr lvl="0">
              <a:buFont typeface="Arial" pitchFamily="34" charset="0"/>
              <a:buChar char="•"/>
            </a:pPr>
            <a:r>
              <a:rPr lang="en-AU" sz="1200" kern="1200" dirty="0" smtClean="0">
                <a:solidFill>
                  <a:schemeClr val="tx1"/>
                </a:solidFill>
                <a:ea typeface="+mn-ea"/>
                <a:cs typeface="+mn-cs"/>
              </a:rPr>
              <a:t> Were designated timelines adhered to? If not, why not?</a:t>
            </a:r>
          </a:p>
          <a:p>
            <a:pPr lvl="0">
              <a:buFont typeface="Arial" pitchFamily="34" charset="0"/>
              <a:buChar char="•"/>
            </a:pPr>
            <a:r>
              <a:rPr lang="en-AU" sz="1200" kern="1200" dirty="0" smtClean="0">
                <a:solidFill>
                  <a:schemeClr val="tx1"/>
                </a:solidFill>
                <a:ea typeface="+mn-ea"/>
                <a:cs typeface="+mn-cs"/>
              </a:rPr>
              <a:t> Were all compliance requirements achieved?</a:t>
            </a:r>
          </a:p>
          <a:p>
            <a:pPr lvl="0">
              <a:buFont typeface="Arial" pitchFamily="34" charset="0"/>
              <a:buChar char="•"/>
            </a:pPr>
            <a:r>
              <a:rPr lang="en-AU" sz="1200" kern="1200" dirty="0" smtClean="0">
                <a:solidFill>
                  <a:schemeClr val="tx1"/>
                </a:solidFill>
                <a:ea typeface="+mn-ea"/>
                <a:cs typeface="+mn-cs"/>
              </a:rPr>
              <a:t> How effective, with the benefit of hindsight, was the risk management for the project? </a:t>
            </a:r>
          </a:p>
          <a:p>
            <a:pPr lvl="0">
              <a:buFont typeface="Arial" pitchFamily="34" charset="0"/>
              <a:buChar char="•"/>
            </a:pPr>
            <a:r>
              <a:rPr lang="en-AU" sz="1200" kern="1200" dirty="0" smtClean="0">
                <a:solidFill>
                  <a:schemeClr val="tx1"/>
                </a:solidFill>
                <a:ea typeface="+mn-ea"/>
                <a:cs typeface="+mn-cs"/>
              </a:rPr>
              <a:t> Were all actual risks identified and effectively addressed/managed?</a:t>
            </a:r>
          </a:p>
          <a:p>
            <a:pPr>
              <a:buFont typeface="Arial" pitchFamily="34" charset="0"/>
              <a:buNone/>
            </a:pPr>
            <a:endParaRPr lang="en-US" b="1" i="1" dirty="0" smtClean="0"/>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190</a:t>
            </a:fld>
            <a:endParaRPr lang="en-US" dirty="0"/>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identifies the </a:t>
            </a:r>
            <a:r>
              <a:rPr lang="en-AU" sz="1200" kern="1200" dirty="0" smtClean="0">
                <a:solidFill>
                  <a:schemeClr val="tx1"/>
                </a:solidFill>
                <a:ea typeface="+mn-ea"/>
                <a:cs typeface="+mn-cs"/>
              </a:rPr>
              <a:t>following points will help undertake an effective project assessment:</a:t>
            </a:r>
          </a:p>
          <a:p>
            <a:pPr>
              <a:buFont typeface="Arial" pitchFamily="34" charset="0"/>
              <a:buChar char="•"/>
            </a:pPr>
            <a:r>
              <a:rPr lang="en-AU" sz="1200" kern="1200" dirty="0" smtClean="0">
                <a:solidFill>
                  <a:schemeClr val="tx1"/>
                </a:solidFill>
                <a:ea typeface="+mn-ea"/>
                <a:cs typeface="+mn-cs"/>
              </a:rPr>
              <a:t> Review the project against the criteria, milestones, KPI and other relevant criteria you said you were going to review it against</a:t>
            </a:r>
          </a:p>
          <a:p>
            <a:pPr>
              <a:buFont typeface="Arial" pitchFamily="34" charset="0"/>
              <a:buChar char="•"/>
            </a:pPr>
            <a:r>
              <a:rPr lang="en-AU" sz="1200" kern="1200" dirty="0" smtClean="0">
                <a:solidFill>
                  <a:schemeClr val="tx1"/>
                </a:solidFill>
                <a:ea typeface="+mn-ea"/>
                <a:cs typeface="+mn-cs"/>
              </a:rPr>
              <a:t> Be inclusive and make sure all necessary stakeholders are included in the review process or have an opportunity to make input</a:t>
            </a:r>
            <a:r>
              <a:rPr lang="en-AU" sz="1200" kern="1200" baseline="0" dirty="0" smtClean="0">
                <a:solidFill>
                  <a:schemeClr val="tx1"/>
                </a:solidFill>
                <a:ea typeface="+mn-ea"/>
                <a:cs typeface="+mn-cs"/>
              </a:rPr>
              <a:t> or </a:t>
            </a:r>
            <a:r>
              <a:rPr lang="en-AU" sz="1200" kern="1200" dirty="0" smtClean="0">
                <a:solidFill>
                  <a:schemeClr val="tx1"/>
                </a:solidFill>
                <a:ea typeface="+mn-ea"/>
                <a:cs typeface="+mn-cs"/>
              </a:rPr>
              <a:t>comment</a:t>
            </a:r>
          </a:p>
          <a:p>
            <a:pPr>
              <a:buFont typeface="Arial" pitchFamily="34" charset="0"/>
              <a:buChar char="•"/>
            </a:pPr>
            <a:r>
              <a:rPr lang="en-AU" sz="1200" kern="1200" dirty="0" smtClean="0">
                <a:solidFill>
                  <a:schemeClr val="tx1"/>
                </a:solidFill>
                <a:ea typeface="+mn-ea"/>
                <a:cs typeface="+mn-cs"/>
              </a:rPr>
              <a:t> Schedule the review meetings and give those who are to attend plenty of notice about the time, date, location and expected duration of meetings. </a:t>
            </a:r>
          </a:p>
          <a:p>
            <a:pPr lvl="1">
              <a:buFont typeface="Arial" pitchFamily="34" charset="0"/>
              <a:buChar char="•"/>
            </a:pPr>
            <a:r>
              <a:rPr lang="en-AU" sz="1200" kern="1200" dirty="0" smtClean="0">
                <a:solidFill>
                  <a:schemeClr val="tx1"/>
                </a:solidFill>
                <a:ea typeface="+mn-ea"/>
                <a:cs typeface="+mn-cs"/>
              </a:rPr>
              <a:t> It is best to schedule these meetings soon after the project has been completed so things are still fresh in people’s minds</a:t>
            </a:r>
          </a:p>
          <a:p>
            <a:pPr>
              <a:buFont typeface="Arial" pitchFamily="34" charset="0"/>
              <a:buChar char="•"/>
            </a:pPr>
            <a:r>
              <a:rPr lang="en-AU" sz="1200" kern="1200" dirty="0" smtClean="0">
                <a:solidFill>
                  <a:schemeClr val="tx1"/>
                </a:solidFill>
                <a:ea typeface="+mn-ea"/>
                <a:cs typeface="+mn-cs"/>
              </a:rPr>
              <a:t> Forward any relevant documents to these people so they can pre-read them and attend the meetings informed about what is to be discussed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191</a:t>
            </a:fld>
            <a:endParaRPr lang="en-US" dirty="0"/>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identifying points to </a:t>
            </a:r>
            <a:r>
              <a:rPr lang="en-AU" sz="1200" kern="1200" dirty="0" smtClean="0">
                <a:solidFill>
                  <a:schemeClr val="tx1"/>
                </a:solidFill>
                <a:ea typeface="+mn-ea"/>
                <a:cs typeface="+mn-cs"/>
              </a:rPr>
              <a:t>help undertake an effective project assessment:</a:t>
            </a:r>
          </a:p>
          <a:p>
            <a:pPr>
              <a:buFont typeface="Arial" pitchFamily="34" charset="0"/>
              <a:buChar char="•"/>
            </a:pPr>
            <a:r>
              <a:rPr lang="en-AU" sz="1200" kern="1200" dirty="0" smtClean="0">
                <a:solidFill>
                  <a:schemeClr val="tx1"/>
                </a:solidFill>
                <a:ea typeface="+mn-ea"/>
                <a:cs typeface="+mn-cs"/>
              </a:rPr>
              <a:t> Establish standard documents and filing protocols to facilitate the review and all subsequent reviews. </a:t>
            </a:r>
          </a:p>
          <a:p>
            <a:pPr lvl="1">
              <a:buFont typeface="Arial" pitchFamily="34" charset="0"/>
              <a:buChar char="•"/>
            </a:pPr>
            <a:r>
              <a:rPr lang="en-AU" sz="1200" kern="1200" dirty="0" smtClean="0">
                <a:solidFill>
                  <a:schemeClr val="tx1"/>
                </a:solidFill>
                <a:ea typeface="+mn-ea"/>
                <a:cs typeface="+mn-cs"/>
              </a:rPr>
              <a:t> Try to avoid a situation where documents need to be developed anew every time a project review occurs</a:t>
            </a:r>
          </a:p>
          <a:p>
            <a:pPr>
              <a:buFont typeface="Arial" pitchFamily="34" charset="0"/>
              <a:buChar char="•"/>
            </a:pPr>
            <a:r>
              <a:rPr lang="en-AU" sz="1200" kern="1200" dirty="0" smtClean="0">
                <a:solidFill>
                  <a:schemeClr val="tx1"/>
                </a:solidFill>
                <a:ea typeface="+mn-ea"/>
                <a:cs typeface="+mn-cs"/>
              </a:rPr>
              <a:t> Make sure all internal staff involved in the review are aware the process is not a witch hunt.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 review must be characterised by honest and comprehensive input from participants so it is important they realise the focus is on gathering information rather than allocating blame</a:t>
            </a:r>
          </a:p>
          <a:p>
            <a:pPr>
              <a:buFont typeface="Arial" pitchFamily="34" charset="0"/>
              <a:buChar char="•"/>
            </a:pPr>
            <a:r>
              <a:rPr lang="en-AU" sz="1200" kern="1200" dirty="0" smtClean="0">
                <a:solidFill>
                  <a:schemeClr val="tx1"/>
                </a:solidFill>
                <a:ea typeface="+mn-ea"/>
                <a:cs typeface="+mn-cs"/>
              </a:rPr>
              <a:t> Take the review of the project as seriously as you did the planning and execution of the project.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 review is an integral part of the project, not just an after-thought</a:t>
            </a:r>
          </a:p>
          <a:p>
            <a:pPr>
              <a:buFont typeface="Arial" pitchFamily="34" charset="0"/>
              <a:buChar char="•"/>
            </a:pPr>
            <a:r>
              <a:rPr lang="en-AU" sz="1200" kern="1200" dirty="0" smtClean="0">
                <a:solidFill>
                  <a:schemeClr val="tx1"/>
                </a:solidFill>
                <a:ea typeface="+mn-ea"/>
                <a:cs typeface="+mn-cs"/>
              </a:rPr>
              <a:t> Circulate the ‘findings’ of the review to stakeholders as identified by management/the Steering Committee.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192</a:t>
            </a:fld>
            <a:endParaRPr lang="en-US" dirty="0"/>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involvement of others in the review process stating:</a:t>
            </a:r>
          </a:p>
          <a:p>
            <a:pPr>
              <a:buFont typeface="Arial" pitchFamily="34" charset="0"/>
              <a:buChar char="•"/>
            </a:pPr>
            <a:r>
              <a:rPr lang="en-US" dirty="0" smtClean="0"/>
              <a:t> Some venues will be ‘inclusive’ and allow ‘all stakeholders’ to participate</a:t>
            </a:r>
          </a:p>
          <a:p>
            <a:pPr>
              <a:buFont typeface="Arial" pitchFamily="34" charset="0"/>
              <a:buChar char="•"/>
            </a:pPr>
            <a:r>
              <a:rPr lang="en-US" dirty="0" smtClean="0"/>
              <a:t> Some</a:t>
            </a:r>
            <a:r>
              <a:rPr lang="en-US" baseline="0" dirty="0" smtClean="0"/>
              <a:t> venues will restrict external stakeholders who are allowed to participate in the process</a:t>
            </a:r>
          </a:p>
          <a:p>
            <a:pPr>
              <a:buFont typeface="Arial" pitchFamily="34" charset="0"/>
              <a:buChar char="•"/>
            </a:pPr>
            <a:r>
              <a:rPr lang="en-US" baseline="0" dirty="0" smtClean="0"/>
              <a:t> Type and scope of the project will be a big factor in identifying who should be involved</a:t>
            </a:r>
          </a:p>
          <a:p>
            <a:pPr>
              <a:buFont typeface="Arial" pitchFamily="34" charset="0"/>
              <a:buChar char="•"/>
            </a:pPr>
            <a:r>
              <a:rPr lang="en-US" baseline="0" dirty="0" smtClean="0"/>
              <a:t> Management/the Steering Committee may advice who is to be involved</a:t>
            </a:r>
          </a:p>
          <a:p>
            <a:pPr>
              <a:buFont typeface="Arial" pitchFamily="34" charset="0"/>
              <a:buChar char="•"/>
            </a:pP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193</a:t>
            </a:fld>
            <a:endParaRPr lang="en-US" dirty="0"/>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options for involvement in the project evaluation:</a:t>
            </a:r>
          </a:p>
          <a:p>
            <a:pPr>
              <a:buFont typeface="Arial" pitchFamily="34" charset="0"/>
              <a:buChar char="•"/>
            </a:pPr>
            <a:r>
              <a:rPr lang="en-AU" sz="1200" kern="1200" dirty="0" smtClean="0">
                <a:solidFill>
                  <a:schemeClr val="tx1"/>
                </a:solidFill>
                <a:ea typeface="+mn-ea"/>
                <a:cs typeface="+mn-cs"/>
              </a:rPr>
              <a:t> Management</a:t>
            </a:r>
          </a:p>
          <a:p>
            <a:pPr>
              <a:buFont typeface="Arial" pitchFamily="34" charset="0"/>
              <a:buChar char="•"/>
            </a:pPr>
            <a:r>
              <a:rPr lang="en-AU" sz="1200" kern="1200" dirty="0" smtClean="0">
                <a:solidFill>
                  <a:schemeClr val="tx1"/>
                </a:solidFill>
                <a:ea typeface="+mn-ea"/>
                <a:cs typeface="+mn-cs"/>
              </a:rPr>
              <a:t> Steering Committee</a:t>
            </a:r>
          </a:p>
          <a:p>
            <a:pPr>
              <a:buFont typeface="Arial" pitchFamily="34" charset="0"/>
              <a:buChar char="•"/>
            </a:pPr>
            <a:r>
              <a:rPr lang="en-AU" sz="1200" kern="1200" dirty="0" smtClean="0">
                <a:solidFill>
                  <a:schemeClr val="tx1"/>
                </a:solidFill>
                <a:ea typeface="+mn-ea"/>
                <a:cs typeface="+mn-cs"/>
              </a:rPr>
              <a:t> Project team members where a team (or similar) was developed to manage and/or discharge the requirements of the project</a:t>
            </a:r>
          </a:p>
          <a:p>
            <a:pPr>
              <a:buFont typeface="Arial" pitchFamily="34" charset="0"/>
              <a:buChar char="•"/>
            </a:pPr>
            <a:r>
              <a:rPr lang="en-AU" sz="1200" kern="1200" dirty="0" smtClean="0">
                <a:solidFill>
                  <a:schemeClr val="tx1"/>
                </a:solidFill>
                <a:ea typeface="+mn-ea"/>
                <a:cs typeface="+mn-cs"/>
              </a:rPr>
              <a:t> Representatives from external professional organisations/bodies – accountants, legal advisers, government agencies</a:t>
            </a:r>
          </a:p>
          <a:p>
            <a:pPr>
              <a:buFont typeface="Arial" pitchFamily="34" charset="0"/>
              <a:buChar char="•"/>
            </a:pPr>
            <a:r>
              <a:rPr lang="en-AU" sz="1200" kern="1200" dirty="0" smtClean="0">
                <a:solidFill>
                  <a:schemeClr val="tx1"/>
                </a:solidFill>
                <a:ea typeface="+mn-ea"/>
                <a:cs typeface="+mn-cs"/>
              </a:rPr>
              <a:t> Staff/team members involved in implementing/executing the project</a:t>
            </a:r>
          </a:p>
          <a:p>
            <a:pPr>
              <a:buFont typeface="Arial" pitchFamily="34" charset="0"/>
              <a:buChar char="•"/>
            </a:pPr>
            <a:r>
              <a:rPr lang="en-AU" sz="1200" kern="1200" dirty="0" smtClean="0">
                <a:solidFill>
                  <a:schemeClr val="tx1"/>
                </a:solidFill>
                <a:ea typeface="+mn-ea"/>
                <a:cs typeface="+mn-cs"/>
              </a:rPr>
              <a:t> Staff/team members on whom the project impacted but who were not involved in its execution</a:t>
            </a:r>
          </a:p>
          <a:p>
            <a:pPr>
              <a:buFont typeface="Arial" pitchFamily="34" charset="0"/>
              <a:buChar char="•"/>
            </a:pPr>
            <a:r>
              <a:rPr lang="en-AU" sz="1200" kern="1200" dirty="0" smtClean="0">
                <a:solidFill>
                  <a:schemeClr val="tx1"/>
                </a:solidFill>
                <a:ea typeface="+mn-ea"/>
                <a:cs typeface="+mn-cs"/>
              </a:rPr>
              <a:t> Internal venue ‘support staff’ such as bookkeepers, store personnel, anyone whose work was associated with assisting in the organisation/execution of the project</a:t>
            </a:r>
          </a:p>
          <a:p>
            <a:pPr>
              <a:buFont typeface="Arial" pitchFamily="34" charset="0"/>
              <a:buChar char="•"/>
            </a:pPr>
            <a:r>
              <a:rPr lang="en-AU" sz="1200" kern="1200" dirty="0" smtClean="0">
                <a:solidFill>
                  <a:schemeClr val="tx1"/>
                </a:solidFill>
                <a:ea typeface="+mn-ea"/>
                <a:cs typeface="+mn-cs"/>
              </a:rPr>
              <a:t> Customers and guests on whom the execution of the project impacted and on whom any ‘finished product’ (new facilities, revised menus, refurbished rooms) impacts.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194</a:t>
            </a:fld>
            <a:endParaRPr lang="en-US" dirty="0"/>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the </a:t>
            </a:r>
            <a:r>
              <a:rPr lang="en-AU" sz="1200" kern="1200" dirty="0" smtClean="0">
                <a:solidFill>
                  <a:schemeClr val="tx1"/>
                </a:solidFill>
                <a:ea typeface="+mn-ea"/>
                <a:cs typeface="+mn-cs"/>
              </a:rPr>
              <a:t>following are useful tips which have proved effective in the review process:</a:t>
            </a:r>
          </a:p>
          <a:p>
            <a:pPr>
              <a:buFont typeface="Arial" pitchFamily="34" charset="0"/>
              <a:buChar char="•"/>
            </a:pPr>
            <a:r>
              <a:rPr lang="en-AU" sz="1200" kern="1200" dirty="0" smtClean="0">
                <a:solidFill>
                  <a:schemeClr val="tx1"/>
                </a:solidFill>
                <a:ea typeface="+mn-ea"/>
                <a:cs typeface="+mn-cs"/>
              </a:rPr>
              <a:t> Try to minimise the time people are expected to commit to the review process – do not drag it out</a:t>
            </a:r>
          </a:p>
          <a:p>
            <a:pPr>
              <a:buFont typeface="Arial" pitchFamily="34" charset="0"/>
              <a:buChar char="•"/>
            </a:pPr>
            <a:r>
              <a:rPr lang="en-AU" sz="1200" kern="1200" dirty="0" smtClean="0">
                <a:solidFill>
                  <a:schemeClr val="tx1"/>
                </a:solidFill>
                <a:ea typeface="+mn-ea"/>
                <a:cs typeface="+mn-cs"/>
              </a:rPr>
              <a:t> Time the meeting/s at suitable times to optimise the chance of people attending. </a:t>
            </a:r>
          </a:p>
          <a:p>
            <a:pPr lvl="1">
              <a:buFont typeface="Arial" pitchFamily="34" charset="0"/>
              <a:buChar char="•"/>
            </a:pPr>
            <a:r>
              <a:rPr lang="en-AU" sz="1200" kern="1200" dirty="0" smtClean="0">
                <a:solidFill>
                  <a:schemeClr val="tx1"/>
                </a:solidFill>
                <a:ea typeface="+mn-ea"/>
                <a:cs typeface="+mn-cs"/>
              </a:rPr>
              <a:t> Staff should be paid to attend/required to attend during work hours</a:t>
            </a:r>
          </a:p>
          <a:p>
            <a:pPr>
              <a:buFont typeface="Arial" pitchFamily="34" charset="0"/>
              <a:buChar char="•"/>
            </a:pPr>
            <a:r>
              <a:rPr lang="en-AU" sz="1200" kern="1200" dirty="0" smtClean="0">
                <a:solidFill>
                  <a:schemeClr val="tx1"/>
                </a:solidFill>
                <a:ea typeface="+mn-ea"/>
                <a:cs typeface="+mn-cs"/>
              </a:rPr>
              <a:t> Actively encourage participation – speak to those you want to attend and encourage them to turn up and take part.</a:t>
            </a:r>
          </a:p>
          <a:p>
            <a:pPr lvl="1">
              <a:buFont typeface="Arial" pitchFamily="34" charset="0"/>
              <a:buChar char="•"/>
            </a:pPr>
            <a:r>
              <a:rPr lang="en-AU" sz="1200" kern="1200" dirty="0" smtClean="0">
                <a:solidFill>
                  <a:schemeClr val="tx1"/>
                </a:solidFill>
                <a:ea typeface="+mn-ea"/>
                <a:cs typeface="+mn-cs"/>
              </a:rPr>
              <a:t> Urge them to actively participate.</a:t>
            </a:r>
          </a:p>
          <a:p>
            <a:pPr>
              <a:buFont typeface="Arial" pitchFamily="34" charset="0"/>
              <a:buChar char="•"/>
            </a:pPr>
            <a:r>
              <a:rPr lang="en-AU" sz="1200" kern="1200" dirty="0" smtClean="0">
                <a:solidFill>
                  <a:schemeClr val="tx1"/>
                </a:solidFill>
                <a:ea typeface="+mn-ea"/>
                <a:cs typeface="+mn-cs"/>
              </a:rPr>
              <a:t> Reward people for attending by,</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for example:</a:t>
            </a:r>
          </a:p>
          <a:p>
            <a:pPr lvl="1">
              <a:buFont typeface="Arial" pitchFamily="34" charset="0"/>
              <a:buChar char="•"/>
            </a:pPr>
            <a:r>
              <a:rPr lang="en-AU" sz="1200" kern="1200" dirty="0" smtClean="0">
                <a:solidFill>
                  <a:schemeClr val="tx1"/>
                </a:solidFill>
                <a:ea typeface="+mn-ea"/>
                <a:cs typeface="+mn-cs"/>
              </a:rPr>
              <a:t> Verbally thanking them for their time and input </a:t>
            </a:r>
          </a:p>
          <a:p>
            <a:pPr lvl="1">
              <a:buFont typeface="Arial" pitchFamily="34" charset="0"/>
              <a:buChar char="•"/>
            </a:pPr>
            <a:r>
              <a:rPr lang="en-AU" sz="1200" kern="1200" dirty="0" smtClean="0">
                <a:solidFill>
                  <a:schemeClr val="tx1"/>
                </a:solidFill>
                <a:ea typeface="+mn-ea"/>
                <a:cs typeface="+mn-cs"/>
              </a:rPr>
              <a:t> Providing refreshments or a meal as part of the review/assessment meeting</a:t>
            </a:r>
          </a:p>
          <a:p>
            <a:pPr lvl="1">
              <a:buFont typeface="Arial" pitchFamily="34" charset="0"/>
              <a:buChar char="•"/>
            </a:pPr>
            <a:r>
              <a:rPr lang="en-AU" sz="1200" kern="1200" dirty="0" smtClean="0">
                <a:solidFill>
                  <a:schemeClr val="tx1"/>
                </a:solidFill>
                <a:ea typeface="+mn-ea"/>
                <a:cs typeface="+mn-cs"/>
              </a:rPr>
              <a:t> Sending participants  a ‘letter of thanks’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195</a:t>
            </a:fld>
            <a:endParaRPr lang="en-US" dirty="0"/>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continues advising the </a:t>
            </a:r>
            <a:r>
              <a:rPr lang="en-AU" sz="1200" kern="1200" dirty="0" smtClean="0">
                <a:solidFill>
                  <a:schemeClr val="tx1"/>
                </a:solidFill>
                <a:ea typeface="+mn-ea"/>
                <a:cs typeface="+mn-cs"/>
              </a:rPr>
              <a:t>following are useful tips which have proved effective in the review process:</a:t>
            </a:r>
          </a:p>
          <a:p>
            <a:pPr>
              <a:buFont typeface="Arial" pitchFamily="34" charset="0"/>
              <a:buChar char="•"/>
            </a:pPr>
            <a:r>
              <a:rPr lang="en-AU" sz="1200" kern="1200" dirty="0" smtClean="0">
                <a:solidFill>
                  <a:schemeClr val="tx1"/>
                </a:solidFill>
                <a:ea typeface="+mn-ea"/>
                <a:cs typeface="+mn-cs"/>
              </a:rPr>
              <a:t> Encourage people to provide honest input (in their eyes/from their perspective)  – stress the review process is not intended to rubber-stamp what has occurred</a:t>
            </a:r>
          </a:p>
          <a:p>
            <a:pPr>
              <a:buFont typeface="Arial" pitchFamily="34" charset="0"/>
              <a:buChar char="•"/>
            </a:pPr>
            <a:r>
              <a:rPr lang="en-AU" sz="1200" kern="1200" dirty="0" smtClean="0">
                <a:solidFill>
                  <a:schemeClr val="tx1"/>
                </a:solidFill>
                <a:ea typeface="+mn-ea"/>
                <a:cs typeface="+mn-cs"/>
              </a:rPr>
              <a:t> Ask questions to motivate them to give feedback/make comment – do not rely on participants to ‘give’ information </a:t>
            </a:r>
          </a:p>
          <a:p>
            <a:pPr>
              <a:buFont typeface="Arial" pitchFamily="34" charset="0"/>
              <a:buChar char="•"/>
            </a:pPr>
            <a:r>
              <a:rPr lang="en-AU" sz="1200" kern="1200" dirty="0" smtClean="0">
                <a:solidFill>
                  <a:schemeClr val="tx1"/>
                </a:solidFill>
                <a:ea typeface="+mn-ea"/>
                <a:cs typeface="+mn-cs"/>
              </a:rPr>
              <a:t> Structure the review session – take time to plan it so it has:</a:t>
            </a:r>
          </a:p>
          <a:p>
            <a:pPr lvl="1">
              <a:buFont typeface="Arial" pitchFamily="34" charset="0"/>
              <a:buChar char="•"/>
            </a:pPr>
            <a:r>
              <a:rPr lang="en-AU" sz="1200" kern="1200" dirty="0" smtClean="0">
                <a:solidFill>
                  <a:schemeClr val="tx1"/>
                </a:solidFill>
                <a:ea typeface="+mn-ea"/>
                <a:cs typeface="+mn-cs"/>
              </a:rPr>
              <a:t> An Introduction – explaining what the session will cover</a:t>
            </a:r>
          </a:p>
          <a:p>
            <a:pPr lvl="1">
              <a:buFont typeface="Arial" pitchFamily="34" charset="0"/>
              <a:buChar char="•"/>
            </a:pPr>
            <a:r>
              <a:rPr lang="en-AU" sz="1200" kern="1200" dirty="0" smtClean="0">
                <a:solidFill>
                  <a:schemeClr val="tx1"/>
                </a:solidFill>
                <a:ea typeface="+mn-ea"/>
                <a:cs typeface="+mn-cs"/>
              </a:rPr>
              <a:t> A Main Body – this is the structured set of questions to be asked to solicit feedback.</a:t>
            </a:r>
            <a:r>
              <a:rPr lang="en-AU" sz="1200" kern="1200" baseline="0" dirty="0" smtClean="0">
                <a:solidFill>
                  <a:schemeClr val="tx1"/>
                </a:solidFill>
                <a:ea typeface="+mn-ea"/>
                <a:cs typeface="+mn-cs"/>
              </a:rPr>
              <a:t> Y</a:t>
            </a:r>
            <a:r>
              <a:rPr lang="en-AU" sz="1200" kern="1200" dirty="0" smtClean="0">
                <a:solidFill>
                  <a:schemeClr val="tx1"/>
                </a:solidFill>
                <a:ea typeface="+mn-ea"/>
                <a:cs typeface="+mn-cs"/>
              </a:rPr>
              <a:t>ou will need to have identified the areas you want feedback on, and phrase the questions so they are not ‘loaded’ or biased</a:t>
            </a:r>
          </a:p>
          <a:p>
            <a:pPr lvl="1">
              <a:buFont typeface="Arial" pitchFamily="34" charset="0"/>
              <a:buChar char="•"/>
            </a:pPr>
            <a:r>
              <a:rPr lang="en-AU" sz="1200" kern="1200" dirty="0" smtClean="0">
                <a:solidFill>
                  <a:schemeClr val="tx1"/>
                </a:solidFill>
                <a:ea typeface="+mn-ea"/>
                <a:cs typeface="+mn-cs"/>
              </a:rPr>
              <a:t> A ‘Question and Answer’ session to enable input on issues not addressed by the structured questions</a:t>
            </a:r>
          </a:p>
          <a:p>
            <a:pPr lvl="1">
              <a:buFont typeface="Arial" pitchFamily="34" charset="0"/>
              <a:buChar char="•"/>
            </a:pPr>
            <a:r>
              <a:rPr lang="en-AU" sz="1200" kern="1200" dirty="0" smtClean="0">
                <a:solidFill>
                  <a:schemeClr val="tx1"/>
                </a:solidFill>
                <a:ea typeface="+mn-ea"/>
                <a:cs typeface="+mn-cs"/>
              </a:rPr>
              <a:t> A Conclusion – which should include thanks to those who attended; an indication of future projects; explanation of action to be taken on the basis of feedback received.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196</a:t>
            </a:fld>
            <a:endParaRPr lang="en-US" dirty="0"/>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t>
            </a:r>
            <a:r>
              <a:rPr lang="en-AU" sz="1200" kern="1200" dirty="0" smtClean="0">
                <a:solidFill>
                  <a:schemeClr val="tx1"/>
                </a:solidFill>
                <a:ea typeface="+mn-ea"/>
                <a:cs typeface="+mn-cs"/>
              </a:rPr>
              <a:t>explains outcomes/findings of project evaluation need to be factored in to ongoing project management and future project management highlighting the evaluation process must consider:</a:t>
            </a:r>
          </a:p>
          <a:p>
            <a:pPr>
              <a:buFont typeface="Arial" pitchFamily="34" charset="0"/>
              <a:buChar char="•"/>
            </a:pPr>
            <a:r>
              <a:rPr lang="en-AU" sz="1200" kern="1200" dirty="0" smtClean="0">
                <a:solidFill>
                  <a:schemeClr val="tx1"/>
                </a:solidFill>
                <a:ea typeface="+mn-ea"/>
                <a:cs typeface="+mn-cs"/>
              </a:rPr>
              <a:t> Processes – that is, the actions taken to achieve the outcomes/project deliverables</a:t>
            </a:r>
          </a:p>
          <a:p>
            <a:pPr>
              <a:buFont typeface="Arial" pitchFamily="34" charset="0"/>
              <a:buChar char="•"/>
            </a:pPr>
            <a:r>
              <a:rPr lang="en-AU" sz="1200" kern="1200" dirty="0" smtClean="0">
                <a:solidFill>
                  <a:schemeClr val="tx1"/>
                </a:solidFill>
                <a:ea typeface="+mn-ea"/>
                <a:cs typeface="+mn-cs"/>
              </a:rPr>
              <a:t> Products – the end result of action taken: the outcomes/project deliverables as they exist at the point the evaluation is being undertaken.</a:t>
            </a:r>
          </a:p>
          <a:p>
            <a:r>
              <a:rPr lang="en-AU" sz="1200" kern="1200" dirty="0" smtClean="0">
                <a:solidFill>
                  <a:schemeClr val="tx1"/>
                </a:solidFill>
                <a:ea typeface="+mn-ea"/>
                <a:cs typeface="+mn-cs"/>
              </a:rPr>
              <a:t>The findings of the evaluation against these two criteria are what must be factored in to ongoing project management.</a:t>
            </a:r>
          </a:p>
          <a:p>
            <a:r>
              <a:rPr lang="en-AU" sz="1200" kern="1200" dirty="0" smtClean="0">
                <a:solidFill>
                  <a:schemeClr val="tx1"/>
                </a:solidFill>
                <a:ea typeface="+mn-ea"/>
                <a:cs typeface="+mn-cs"/>
              </a:rPr>
              <a:t> </a:t>
            </a:r>
          </a:p>
          <a:p>
            <a:r>
              <a:rPr lang="en-AU" sz="1200" b="1" kern="1200" dirty="0" smtClean="0">
                <a:solidFill>
                  <a:schemeClr val="tx1"/>
                </a:solidFill>
                <a:ea typeface="+mn-ea"/>
                <a:cs typeface="+mn-cs"/>
              </a:rPr>
              <a:t>Class Activity – Question and Discussion</a:t>
            </a:r>
          </a:p>
          <a:p>
            <a:r>
              <a:rPr lang="en-AU" sz="1200" b="0" kern="1200" dirty="0" smtClean="0">
                <a:solidFill>
                  <a:schemeClr val="tx1"/>
                </a:solidFill>
                <a:ea typeface="+mn-ea"/>
                <a:cs typeface="+mn-cs"/>
              </a:rPr>
              <a:t>Trainer asks students to identify</a:t>
            </a:r>
            <a:r>
              <a:rPr lang="en-AU" sz="1200" b="0" kern="1200" baseline="0" dirty="0" smtClean="0">
                <a:solidFill>
                  <a:schemeClr val="tx1"/>
                </a:solidFill>
                <a:ea typeface="+mn-ea"/>
                <a:cs typeface="+mn-cs"/>
              </a:rPr>
              <a:t> examples of ‘processes’ and ‘products’ for projects.</a:t>
            </a: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197</a:t>
            </a:fld>
            <a:endParaRPr lang="en-US" dirty="0"/>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the </a:t>
            </a:r>
            <a:r>
              <a:rPr lang="en-AU" sz="1200" kern="1200" dirty="0" smtClean="0">
                <a:solidFill>
                  <a:schemeClr val="tx1"/>
                </a:solidFill>
                <a:ea typeface="+mn-ea"/>
                <a:cs typeface="+mn-cs"/>
              </a:rPr>
              <a:t>action to take to factor in evaluation results must:</a:t>
            </a:r>
          </a:p>
          <a:p>
            <a:pPr>
              <a:buFont typeface="Arial" pitchFamily="34" charset="0"/>
              <a:buChar char="•"/>
            </a:pPr>
            <a:r>
              <a:rPr lang="en-AU" sz="1200" kern="1200" dirty="0" smtClean="0">
                <a:solidFill>
                  <a:schemeClr val="tx1"/>
                </a:solidFill>
                <a:ea typeface="+mn-ea"/>
                <a:cs typeface="+mn-cs"/>
              </a:rPr>
              <a:t> Reflect actual evidence gathered for/as part of the evaluation process as opposed to reflecting unsubstantiated beliefs and assumptions</a:t>
            </a:r>
          </a:p>
          <a:p>
            <a:pPr>
              <a:buFont typeface="Arial" pitchFamily="34" charset="0"/>
              <a:buChar char="•"/>
            </a:pPr>
            <a:r>
              <a:rPr lang="en-AU" sz="1200" kern="1200" dirty="0" smtClean="0">
                <a:solidFill>
                  <a:schemeClr val="tx1"/>
                </a:solidFill>
                <a:ea typeface="+mn-ea"/>
                <a:cs typeface="+mn-cs"/>
              </a:rPr>
              <a:t> Address both ‘processes’ and ‘products’</a:t>
            </a:r>
          </a:p>
          <a:p>
            <a:pPr>
              <a:buFont typeface="Arial" pitchFamily="34" charset="0"/>
              <a:buChar char="•"/>
            </a:pPr>
            <a:r>
              <a:rPr lang="en-AU" sz="1200" kern="1200" dirty="0" smtClean="0">
                <a:solidFill>
                  <a:schemeClr val="tx1"/>
                </a:solidFill>
                <a:ea typeface="+mn-ea"/>
                <a:cs typeface="+mn-cs"/>
              </a:rPr>
              <a:t> Fall within the parameters, obligations and restrictions for the project.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198</a:t>
            </a:fld>
            <a:endParaRPr lang="en-US" dirty="0"/>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practical considerations in terms of  incorporating project results into ongoing project management:</a:t>
            </a:r>
          </a:p>
          <a:p>
            <a:pPr>
              <a:buFont typeface="Arial" pitchFamily="34" charset="0"/>
              <a:buChar char="•"/>
            </a:pPr>
            <a:r>
              <a:rPr lang="en-AU" sz="1200" kern="1200" dirty="0" smtClean="0">
                <a:solidFill>
                  <a:schemeClr val="tx1"/>
                </a:solidFill>
                <a:ea typeface="+mn-ea"/>
                <a:cs typeface="+mn-cs"/>
              </a:rPr>
              <a:t> Rarely need to make significant/major changes to your project management plan.</a:t>
            </a:r>
          </a:p>
          <a:p>
            <a:pPr lvl="1">
              <a:buFont typeface="Arial" pitchFamily="34" charset="0"/>
              <a:buChar char="•"/>
            </a:pPr>
            <a:r>
              <a:rPr lang="en-AU" sz="1200" kern="1200" dirty="0" smtClean="0">
                <a:solidFill>
                  <a:schemeClr val="tx1"/>
                </a:solidFill>
                <a:ea typeface="+mn-ea"/>
                <a:cs typeface="+mn-cs"/>
              </a:rPr>
              <a:t> Most changes which are identified as being necessary on the basis of ongoing evaluation throughout the life of a project are relatively small. They are more a ‘fine tuning’ of the plan rather than a re-writing of the plan</a:t>
            </a:r>
          </a:p>
          <a:p>
            <a:pPr>
              <a:buFont typeface="Arial" pitchFamily="34" charset="0"/>
              <a:buChar char="•"/>
            </a:pPr>
            <a:r>
              <a:rPr lang="en-AU" sz="1200" kern="1200" dirty="0" smtClean="0">
                <a:solidFill>
                  <a:schemeClr val="tx1"/>
                </a:solidFill>
                <a:ea typeface="+mn-ea"/>
                <a:cs typeface="+mn-cs"/>
              </a:rPr>
              <a:t> May need to source additional resources to enable completion of the project as planned</a:t>
            </a:r>
          </a:p>
          <a:p>
            <a:pPr>
              <a:buFont typeface="Arial" pitchFamily="34" charset="0"/>
              <a:buChar char="•"/>
            </a:pPr>
            <a:r>
              <a:rPr lang="en-AU" sz="1200" kern="1200" dirty="0" smtClean="0">
                <a:solidFill>
                  <a:schemeClr val="tx1"/>
                </a:solidFill>
                <a:ea typeface="+mn-ea"/>
                <a:cs typeface="+mn-cs"/>
              </a:rPr>
              <a:t> May need to adjust to various elements – see Class Activity (below).</a:t>
            </a:r>
          </a:p>
          <a:p>
            <a:pPr>
              <a:buFont typeface="Arial" pitchFamily="34" charset="0"/>
              <a:buNone/>
            </a:pPr>
            <a:endParaRPr lang="en-US" dirty="0" smtClean="0"/>
          </a:p>
          <a:p>
            <a:pPr>
              <a:buFont typeface="Arial" pitchFamily="34" charset="0"/>
              <a:buNone/>
            </a:pPr>
            <a:r>
              <a:rPr lang="en-US" b="1" dirty="0" smtClean="0"/>
              <a:t>Class Activity – Question and Discussion</a:t>
            </a:r>
          </a:p>
          <a:p>
            <a:pPr>
              <a:buFont typeface="Arial" pitchFamily="34" charset="0"/>
              <a:buNone/>
            </a:pPr>
            <a:r>
              <a:rPr lang="en-US" b="0" dirty="0" smtClean="0"/>
              <a:t>Trainers asks students to identify aspects of the project which may need to be adjusted on the basis of ongoing review.</a:t>
            </a:r>
          </a:p>
          <a:p>
            <a:pPr>
              <a:buFont typeface="Arial" pitchFamily="34" charset="0"/>
              <a:buNone/>
            </a:pPr>
            <a:r>
              <a:rPr lang="en-US" b="1" i="1" dirty="0" smtClean="0"/>
              <a:t>Possible answers:</a:t>
            </a:r>
          </a:p>
          <a:p>
            <a:pPr>
              <a:buFont typeface="Arial" pitchFamily="34" charset="0"/>
              <a:buChar char="•"/>
            </a:pPr>
            <a:r>
              <a:rPr lang="en-AU" sz="1200" kern="1200" dirty="0" smtClean="0">
                <a:solidFill>
                  <a:schemeClr val="tx1"/>
                </a:solidFill>
                <a:ea typeface="+mn-ea"/>
                <a:cs typeface="+mn-cs"/>
              </a:rPr>
              <a:t> Staffing – such as the hours for staff, the mix of workers and the number of personnel</a:t>
            </a:r>
          </a:p>
          <a:p>
            <a:pPr>
              <a:buFont typeface="Arial" pitchFamily="34" charset="0"/>
              <a:buChar char="•"/>
            </a:pPr>
            <a:r>
              <a:rPr lang="en-AU" sz="1200" kern="1200" dirty="0" smtClean="0">
                <a:solidFill>
                  <a:schemeClr val="tx1"/>
                </a:solidFill>
                <a:ea typeface="+mn-ea"/>
                <a:cs typeface="+mn-cs"/>
              </a:rPr>
              <a:t> Completion time for nominated tasks, stages and the final product</a:t>
            </a:r>
          </a:p>
          <a:p>
            <a:pPr>
              <a:buFont typeface="Arial" pitchFamily="34" charset="0"/>
              <a:buChar char="•"/>
            </a:pPr>
            <a:r>
              <a:rPr lang="en-AU" sz="1200" kern="1200" dirty="0" smtClean="0">
                <a:solidFill>
                  <a:schemeClr val="tx1"/>
                </a:solidFill>
                <a:ea typeface="+mn-ea"/>
                <a:cs typeface="+mn-cs"/>
              </a:rPr>
              <a:t> Alter other aspects of the plan such as:</a:t>
            </a:r>
          </a:p>
          <a:p>
            <a:pPr>
              <a:buFont typeface="Arial" pitchFamily="34" charset="0"/>
              <a:buChar char="•"/>
            </a:pPr>
            <a:r>
              <a:rPr lang="en-AU" sz="1200" kern="1200" dirty="0" smtClean="0">
                <a:solidFill>
                  <a:schemeClr val="tx1"/>
                </a:solidFill>
                <a:ea typeface="+mn-ea"/>
                <a:cs typeface="+mn-cs"/>
              </a:rPr>
              <a:t> Resources</a:t>
            </a:r>
          </a:p>
          <a:p>
            <a:pPr>
              <a:buFont typeface="Arial" pitchFamily="34" charset="0"/>
              <a:buChar char="•"/>
            </a:pPr>
            <a:r>
              <a:rPr lang="en-AU" sz="1200" kern="1200" dirty="0" smtClean="0">
                <a:solidFill>
                  <a:schemeClr val="tx1"/>
                </a:solidFill>
                <a:ea typeface="+mn-ea"/>
                <a:cs typeface="+mn-cs"/>
              </a:rPr>
              <a:t> Responsibilities</a:t>
            </a:r>
          </a:p>
          <a:p>
            <a:pPr>
              <a:buFont typeface="Arial" pitchFamily="34" charset="0"/>
              <a:buChar char="•"/>
            </a:pPr>
            <a:r>
              <a:rPr lang="en-AU" sz="1200" kern="1200" dirty="0" smtClean="0">
                <a:solidFill>
                  <a:schemeClr val="tx1"/>
                </a:solidFill>
                <a:ea typeface="+mn-ea"/>
                <a:cs typeface="+mn-cs"/>
              </a:rPr>
              <a:t> Providers</a:t>
            </a:r>
          </a:p>
          <a:p>
            <a:pPr>
              <a:buFont typeface="Arial" pitchFamily="34" charset="0"/>
              <a:buChar char="•"/>
            </a:pPr>
            <a:r>
              <a:rPr lang="en-AU" sz="1200" kern="1200" dirty="0" smtClean="0">
                <a:solidFill>
                  <a:schemeClr val="tx1"/>
                </a:solidFill>
                <a:ea typeface="+mn-ea"/>
                <a:cs typeface="+mn-cs"/>
              </a:rPr>
              <a:t> KPIs</a:t>
            </a:r>
          </a:p>
          <a:p>
            <a:pPr>
              <a:buFont typeface="Arial" pitchFamily="34" charset="0"/>
              <a:buChar char="•"/>
            </a:pPr>
            <a:r>
              <a:rPr lang="en-AU" sz="1200" kern="1200" dirty="0" smtClean="0">
                <a:solidFill>
                  <a:schemeClr val="tx1"/>
                </a:solidFill>
                <a:ea typeface="+mn-ea"/>
                <a:cs typeface="+mn-cs"/>
              </a:rPr>
              <a:t> Elements of identified Stages</a:t>
            </a:r>
          </a:p>
          <a:p>
            <a:pPr>
              <a:buFont typeface="Arial" pitchFamily="34" charset="0"/>
              <a:buChar char="•"/>
            </a:pPr>
            <a:r>
              <a:rPr lang="en-AU" sz="1200" kern="1200" dirty="0" smtClean="0">
                <a:solidFill>
                  <a:schemeClr val="tx1"/>
                </a:solidFill>
                <a:ea typeface="+mn-ea"/>
                <a:cs typeface="+mn-cs"/>
              </a:rPr>
              <a:t> Milestones</a:t>
            </a:r>
          </a:p>
          <a:p>
            <a:pPr>
              <a:buFont typeface="Arial" pitchFamily="34" charset="0"/>
              <a:buChar char="•"/>
            </a:pPr>
            <a:r>
              <a:rPr lang="en-AU" sz="1200" kern="1200" dirty="0" smtClean="0">
                <a:solidFill>
                  <a:schemeClr val="tx1"/>
                </a:solidFill>
                <a:ea typeface="+mn-ea"/>
                <a:cs typeface="+mn-cs"/>
              </a:rPr>
              <a:t> Quality criteria.</a:t>
            </a:r>
          </a:p>
          <a:p>
            <a:pPr>
              <a:buFont typeface="Arial" pitchFamily="34" charset="0"/>
              <a:buNone/>
            </a:pPr>
            <a:endParaRPr lang="en-US" b="0" i="0" dirty="0" smtClean="0"/>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199</a:t>
            </a:fld>
            <a:endParaRPr lang="en-US" dirty="0"/>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presenting practical considerations in terms of  incorporating project results into ongoing project management:</a:t>
            </a:r>
          </a:p>
          <a:p>
            <a:pPr>
              <a:buFont typeface="Arial" pitchFamily="34" charset="0"/>
              <a:buChar char="•"/>
            </a:pPr>
            <a:r>
              <a:rPr lang="en-AU" sz="1200" kern="1200" dirty="0" smtClean="0">
                <a:solidFill>
                  <a:schemeClr val="tx1"/>
                </a:solidFill>
                <a:ea typeface="+mn-ea"/>
                <a:cs typeface="+mn-cs"/>
              </a:rPr>
              <a:t> Should communicate to stakeholders:</a:t>
            </a:r>
          </a:p>
          <a:p>
            <a:pPr lvl="1">
              <a:buFont typeface="Arial" pitchFamily="34" charset="0"/>
              <a:buChar char="•"/>
            </a:pPr>
            <a:r>
              <a:rPr lang="en-AU" sz="1200" kern="1200" dirty="0" smtClean="0">
                <a:solidFill>
                  <a:schemeClr val="tx1"/>
                </a:solidFill>
                <a:ea typeface="+mn-ea"/>
                <a:cs typeface="+mn-cs"/>
              </a:rPr>
              <a:t> The findings of the progressive evaluations – advising them of all relevant points, the positive and the negative</a:t>
            </a:r>
          </a:p>
          <a:p>
            <a:pPr lvl="1">
              <a:buFont typeface="Arial" pitchFamily="34" charset="0"/>
              <a:buChar char="•"/>
            </a:pPr>
            <a:r>
              <a:rPr lang="en-AU" sz="1200" kern="1200" dirty="0" smtClean="0">
                <a:solidFill>
                  <a:schemeClr val="tx1"/>
                </a:solidFill>
                <a:ea typeface="+mn-ea"/>
                <a:cs typeface="+mn-cs"/>
              </a:rPr>
              <a:t> Explaining reasons for required changes and explaining the causal factors</a:t>
            </a:r>
          </a:p>
          <a:p>
            <a:pPr>
              <a:buFont typeface="Arial" pitchFamily="34" charset="0"/>
              <a:buChar char="•"/>
            </a:pPr>
            <a:r>
              <a:rPr lang="en-AU" sz="1200" kern="1200" dirty="0" smtClean="0">
                <a:solidFill>
                  <a:schemeClr val="tx1"/>
                </a:solidFill>
                <a:ea typeface="+mn-ea"/>
                <a:cs typeface="+mn-cs"/>
              </a:rPr>
              <a:t> Will need to seek approval for changes you intend making for the agreed/original project management plan</a:t>
            </a:r>
          </a:p>
          <a:p>
            <a:pPr>
              <a:buFont typeface="Arial" pitchFamily="34" charset="0"/>
              <a:buChar char="•"/>
            </a:pPr>
            <a:r>
              <a:rPr lang="en-AU" sz="1200" kern="1200" dirty="0" smtClean="0">
                <a:solidFill>
                  <a:schemeClr val="tx1"/>
                </a:solidFill>
                <a:ea typeface="+mn-ea"/>
                <a:cs typeface="+mn-cs"/>
              </a:rPr>
              <a:t> Must distribute the revised project management plan to those who received a copy of the original project plan. There may be a need to hold a meeting to present/explain the revised plan.</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200</a:t>
            </a:fld>
            <a:endParaRPr lang="en-US" dirty="0"/>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 states </a:t>
            </a:r>
            <a:r>
              <a:rPr lang="en-AU" sz="1200" kern="1200" dirty="0" smtClean="0">
                <a:solidFill>
                  <a:schemeClr val="tx1"/>
                </a:solidFill>
                <a:ea typeface="+mn-ea"/>
                <a:cs typeface="+mn-cs"/>
              </a:rPr>
              <a:t>it is not sufficient to simply ‘discuss’ the project when reviewing it explaining a primary objective of the review should be the documentation and retention of information which can be beneficially used by the venue when future projects are undertaken highlighting:</a:t>
            </a:r>
          </a:p>
          <a:p>
            <a:pPr>
              <a:buFont typeface="Arial" pitchFamily="34" charset="0"/>
              <a:buChar char="•"/>
            </a:pPr>
            <a:r>
              <a:rPr lang="en-AU" sz="1200" kern="1200" dirty="0" smtClean="0">
                <a:solidFill>
                  <a:schemeClr val="tx1"/>
                </a:solidFill>
                <a:ea typeface="+mn-ea"/>
                <a:cs typeface="+mn-cs"/>
              </a:rPr>
              <a:t> Any lessons learned must be based on ‘evidence’ as opposed to subjective impressions.</a:t>
            </a:r>
          </a:p>
          <a:p>
            <a:pPr>
              <a:buFont typeface="Arial" pitchFamily="34" charset="0"/>
              <a:buChar char="•"/>
            </a:pPr>
            <a:r>
              <a:rPr lang="en-AU" sz="1200" kern="1200" dirty="0" smtClean="0">
                <a:solidFill>
                  <a:schemeClr val="tx1"/>
                </a:solidFill>
                <a:ea typeface="+mn-ea"/>
                <a:cs typeface="+mn-cs"/>
              </a:rPr>
              <a:t> Documenting lessons learned involves:</a:t>
            </a:r>
          </a:p>
          <a:p>
            <a:pPr lvl="1">
              <a:buFont typeface="Arial" pitchFamily="34" charset="0"/>
              <a:buChar char="•"/>
            </a:pPr>
            <a:r>
              <a:rPr lang="en-AU" sz="1200" kern="1200" dirty="0" smtClean="0">
                <a:solidFill>
                  <a:schemeClr val="tx1"/>
                </a:solidFill>
                <a:ea typeface="+mn-ea"/>
                <a:cs typeface="+mn-cs"/>
              </a:rPr>
              <a:t> Writing down the lessons learned describing the situation/s that gave rise to the lesson, and what the exact nature of the lesson is (that is, how subsequent projects should take into account the lessons learned)</a:t>
            </a:r>
          </a:p>
          <a:p>
            <a:pPr lvl="1">
              <a:buFont typeface="Arial" pitchFamily="34" charset="0"/>
              <a:buChar char="•"/>
            </a:pPr>
            <a:r>
              <a:rPr lang="en-AU" sz="1200" kern="1200" dirty="0" smtClean="0">
                <a:solidFill>
                  <a:schemeClr val="tx1"/>
                </a:solidFill>
                <a:ea typeface="+mn-ea"/>
                <a:cs typeface="+mn-cs"/>
              </a:rPr>
              <a:t> Attaching supporting/accompanying documentation to the lesson such as (as appropriate) written feedback from stakeholders, sections of legislation, copies of quotes, invoices, product samples or letters of complaint</a:t>
            </a:r>
          </a:p>
          <a:p>
            <a:pPr lvl="1">
              <a:buFont typeface="Arial" pitchFamily="34" charset="0"/>
              <a:buChar char="•"/>
            </a:pPr>
            <a:r>
              <a:rPr lang="en-AU" sz="1200" kern="1200" dirty="0" smtClean="0">
                <a:solidFill>
                  <a:schemeClr val="tx1"/>
                </a:solidFill>
                <a:ea typeface="+mn-ea"/>
                <a:cs typeface="+mn-cs"/>
              </a:rPr>
              <a:t> Including basic data – name of the project, details of project team/management team, date/s, and base project documents used in the project (such as the project management plan)</a:t>
            </a:r>
          </a:p>
          <a:p>
            <a:pPr lvl="1">
              <a:buFont typeface="Arial" pitchFamily="34" charset="0"/>
              <a:buChar char="•"/>
            </a:pPr>
            <a:r>
              <a:rPr lang="en-AU" sz="1200" kern="1200" dirty="0" smtClean="0">
                <a:solidFill>
                  <a:schemeClr val="tx1"/>
                </a:solidFill>
                <a:ea typeface="+mn-ea"/>
                <a:cs typeface="+mn-cs"/>
              </a:rPr>
              <a:t> Communicating the lessons learned – see later slides</a:t>
            </a:r>
          </a:p>
          <a:p>
            <a:pPr lvl="1">
              <a:buFont typeface="Arial" pitchFamily="34" charset="0"/>
              <a:buChar char="•"/>
            </a:pPr>
            <a:r>
              <a:rPr lang="en-AU" sz="1200" kern="1200" dirty="0" smtClean="0">
                <a:solidFill>
                  <a:schemeClr val="tx1"/>
                </a:solidFill>
                <a:ea typeface="+mn-ea"/>
                <a:cs typeface="+mn-cs"/>
              </a:rPr>
              <a:t> Filing the documents and data.</a:t>
            </a:r>
            <a:r>
              <a:rPr lang="en-AU" sz="1200" kern="1200" baseline="0" dirty="0" smtClean="0">
                <a:solidFill>
                  <a:schemeClr val="tx1"/>
                </a:solidFill>
                <a:ea typeface="+mn-ea"/>
                <a:cs typeface="+mn-cs"/>
              </a:rPr>
              <a:t> F</a:t>
            </a:r>
            <a:r>
              <a:rPr lang="en-AU" sz="1200" kern="1200" dirty="0" smtClean="0">
                <a:solidFill>
                  <a:schemeClr val="tx1"/>
                </a:solidFill>
                <a:ea typeface="+mn-ea"/>
                <a:cs typeface="+mn-cs"/>
              </a:rPr>
              <a:t>iling will/should occur in a physical, paper-based format and electronic format. </a:t>
            </a:r>
          </a:p>
          <a:p>
            <a:pPr lvl="2">
              <a:buFont typeface="Arial" pitchFamily="34" charset="0"/>
              <a:buChar char="•"/>
            </a:pPr>
            <a:r>
              <a:rPr lang="en-AU" sz="1200" kern="1200" dirty="0" smtClean="0">
                <a:solidFill>
                  <a:schemeClr val="tx1"/>
                </a:solidFill>
                <a:ea typeface="+mn-ea"/>
                <a:cs typeface="+mn-cs"/>
              </a:rPr>
              <a:t> Attention must be paid to ensuring ‘relevant others’ know where this information and/or documents are physically located so they can access it when required.</a:t>
            </a:r>
          </a:p>
          <a:p>
            <a:pPr lvl="2">
              <a:buFont typeface="Arial" pitchFamily="34" charset="0"/>
              <a:buChar char="•"/>
            </a:pPr>
            <a:r>
              <a:rPr lang="en-AU" sz="1200" kern="1200" dirty="0" smtClean="0">
                <a:solidFill>
                  <a:schemeClr val="tx1"/>
                </a:solidFill>
                <a:ea typeface="+mn-ea"/>
                <a:cs typeface="+mn-cs"/>
              </a:rPr>
              <a:t> Standard filing protocols should apply to ensure:</a:t>
            </a:r>
          </a:p>
          <a:p>
            <a:pPr lvl="3">
              <a:buFont typeface="Arial" pitchFamily="34" charset="0"/>
              <a:buChar char="•"/>
            </a:pPr>
            <a:r>
              <a:rPr lang="en-AU" sz="1200" kern="1200" dirty="0" smtClean="0">
                <a:solidFill>
                  <a:schemeClr val="tx1"/>
                </a:solidFill>
                <a:ea typeface="+mn-ea"/>
                <a:cs typeface="+mn-cs"/>
              </a:rPr>
              <a:t> Security </a:t>
            </a:r>
          </a:p>
          <a:p>
            <a:pPr lvl="3">
              <a:buFont typeface="Arial" pitchFamily="34" charset="0"/>
              <a:buChar char="•"/>
            </a:pPr>
            <a:r>
              <a:rPr lang="en-AU" sz="1200" kern="1200" dirty="0" smtClean="0">
                <a:solidFill>
                  <a:schemeClr val="tx1"/>
                </a:solidFill>
                <a:ea typeface="+mn-ea"/>
                <a:cs typeface="+mn-cs"/>
              </a:rPr>
              <a:t> Protect confidentiality </a:t>
            </a:r>
          </a:p>
          <a:p>
            <a:pPr lvl="3">
              <a:buFont typeface="Arial" pitchFamily="34" charset="0"/>
              <a:buChar char="•"/>
            </a:pPr>
            <a:r>
              <a:rPr lang="en-AU" sz="1200" kern="1200" dirty="0" smtClean="0">
                <a:solidFill>
                  <a:schemeClr val="tx1"/>
                </a:solidFill>
                <a:ea typeface="+mn-ea"/>
                <a:cs typeface="+mn-cs"/>
              </a:rPr>
              <a:t> Track/record use of the documents.</a:t>
            </a:r>
          </a:p>
          <a:p>
            <a:pPr lvl="0">
              <a:buFont typeface="Arial" pitchFamily="34" charset="0"/>
              <a:buChar char="•"/>
            </a:pPr>
            <a:r>
              <a:rPr lang="en-AU" sz="1200" kern="1200" dirty="0" smtClean="0">
                <a:solidFill>
                  <a:schemeClr val="tx1"/>
                </a:solidFill>
                <a:ea typeface="+mn-ea"/>
                <a:cs typeface="+mn-cs"/>
              </a:rPr>
              <a:t> Commonly, lessons learned are not ‘generally’ distributed – that is, they are not usually communicated to external stakeholders or ‘the public’.</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ea typeface="+mn-ea"/>
                <a:cs typeface="+mn-cs"/>
              </a:rPr>
              <a:t>Class Activity – Guest Speaker</a:t>
            </a:r>
          </a:p>
          <a:p>
            <a:pPr>
              <a:buFont typeface="Arial" pitchFamily="34" charset="0"/>
              <a:buNone/>
            </a:pPr>
            <a:r>
              <a:rPr lang="en-US" dirty="0" smtClean="0"/>
              <a:t>Trainer</a:t>
            </a:r>
            <a:r>
              <a:rPr lang="en-US" baseline="0" dirty="0" smtClean="0"/>
              <a:t> arranges for experienced PM to attend and:</a:t>
            </a:r>
          </a:p>
          <a:p>
            <a:pPr>
              <a:buFont typeface="Arial" pitchFamily="34" charset="0"/>
              <a:buChar char="•"/>
            </a:pPr>
            <a:r>
              <a:rPr lang="en-US" baseline="0" dirty="0" smtClean="0"/>
              <a:t> Discuss evaluation and assessment process for a project</a:t>
            </a:r>
          </a:p>
          <a:p>
            <a:pPr>
              <a:buFont typeface="Arial" pitchFamily="34" charset="0"/>
              <a:buChar char="•"/>
            </a:pPr>
            <a:r>
              <a:rPr lang="en-US" baseline="0" dirty="0" smtClean="0"/>
              <a:t> Give examples of lessons learned</a:t>
            </a:r>
          </a:p>
          <a:p>
            <a:pPr>
              <a:buFont typeface="Arial" pitchFamily="34" charset="0"/>
              <a:buChar char="•"/>
            </a:pPr>
            <a:r>
              <a:rPr lang="en-US" baseline="0" dirty="0" smtClean="0"/>
              <a:t> Identify how these lessons were learned</a:t>
            </a:r>
          </a:p>
          <a:p>
            <a:pPr>
              <a:buFont typeface="Arial" pitchFamily="34" charset="0"/>
              <a:buChar char="•"/>
            </a:pPr>
            <a:r>
              <a:rPr lang="en-US" baseline="0" dirty="0" smtClean="0"/>
              <a:t> Describe how these lessons learned were integrated into future project management.</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201</a:t>
            </a:fld>
            <a:endParaRPr lang="en-US" dirty="0"/>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to </a:t>
            </a:r>
            <a:r>
              <a:rPr lang="en-AU" sz="1200" kern="1200" dirty="0" smtClean="0">
                <a:solidFill>
                  <a:schemeClr val="tx1"/>
                </a:solidFill>
                <a:ea typeface="+mn-ea"/>
                <a:cs typeface="+mn-cs"/>
              </a:rPr>
              <a:t>help optimise inclusion of lessons learned from past projects into future projects the following can be applied:</a:t>
            </a:r>
          </a:p>
          <a:p>
            <a:pPr>
              <a:buFont typeface="Arial" pitchFamily="34" charset="0"/>
              <a:buChar char="•"/>
            </a:pPr>
            <a:r>
              <a:rPr lang="en-AU" sz="1200" kern="1200" dirty="0" smtClean="0">
                <a:solidFill>
                  <a:schemeClr val="tx1"/>
                </a:solidFill>
                <a:ea typeface="+mn-ea"/>
                <a:cs typeface="+mn-cs"/>
              </a:rPr>
              <a:t> Circulate lessons learned to other PMs within the venue and meet to discuss them</a:t>
            </a:r>
          </a:p>
          <a:p>
            <a:pPr>
              <a:buFont typeface="Arial" pitchFamily="34" charset="0"/>
              <a:buChar char="•"/>
            </a:pPr>
            <a:r>
              <a:rPr lang="en-AU" sz="1200" kern="1200" dirty="0" smtClean="0">
                <a:solidFill>
                  <a:schemeClr val="tx1"/>
                </a:solidFill>
                <a:ea typeface="+mn-ea"/>
                <a:cs typeface="+mn-cs"/>
              </a:rPr>
              <a:t> Integrate lessons learned into venue training for project managers</a:t>
            </a:r>
          </a:p>
          <a:p>
            <a:pPr>
              <a:buFont typeface="Arial" pitchFamily="34" charset="0"/>
              <a:buChar char="•"/>
            </a:pPr>
            <a:r>
              <a:rPr lang="en-AU" sz="1200" kern="1200" dirty="0" smtClean="0">
                <a:solidFill>
                  <a:schemeClr val="tx1"/>
                </a:solidFill>
                <a:ea typeface="+mn-ea"/>
                <a:cs typeface="+mn-cs"/>
              </a:rPr>
              <a:t> Revise venue policies and procedures to include the lessons learned,</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ensuring version control protocols are implemented to maintain currency of documents</a:t>
            </a:r>
          </a:p>
          <a:p>
            <a:pPr>
              <a:buFont typeface="Arial" pitchFamily="34" charset="0"/>
              <a:buChar char="•"/>
            </a:pPr>
            <a:r>
              <a:rPr lang="en-AU" sz="1200" kern="1200" dirty="0" smtClean="0">
                <a:solidFill>
                  <a:schemeClr val="tx1"/>
                </a:solidFill>
                <a:ea typeface="+mn-ea"/>
                <a:cs typeface="+mn-cs"/>
              </a:rPr>
              <a:t> Hold special staff-management meetings to discuss the lessons learned</a:t>
            </a:r>
          </a:p>
          <a:p>
            <a:pPr>
              <a:buFont typeface="Arial" pitchFamily="34" charset="0"/>
              <a:buChar char="•"/>
            </a:pPr>
            <a:r>
              <a:rPr lang="en-AU" sz="1200" kern="1200" dirty="0" smtClean="0">
                <a:solidFill>
                  <a:schemeClr val="tx1"/>
                </a:solidFill>
                <a:ea typeface="+mn-ea"/>
                <a:cs typeface="+mn-cs"/>
              </a:rPr>
              <a:t> Provide SOP for project managers which makes it mandatory for them to:</a:t>
            </a:r>
          </a:p>
          <a:p>
            <a:pPr lvl="1">
              <a:buFont typeface="Arial" pitchFamily="34" charset="0"/>
              <a:buChar char="•"/>
            </a:pPr>
            <a:r>
              <a:rPr lang="en-AU" sz="1200" kern="1200" dirty="0" smtClean="0">
                <a:solidFill>
                  <a:schemeClr val="tx1"/>
                </a:solidFill>
                <a:ea typeface="+mn-ea"/>
                <a:cs typeface="+mn-cs"/>
              </a:rPr>
              <a:t> Talk to previous PMs before they start planning a project</a:t>
            </a:r>
          </a:p>
          <a:p>
            <a:pPr lvl="1">
              <a:buFont typeface="Arial" pitchFamily="34" charset="0"/>
              <a:buChar char="•"/>
            </a:pPr>
            <a:r>
              <a:rPr lang="en-AU" sz="1200" kern="1200" dirty="0" smtClean="0">
                <a:solidFill>
                  <a:schemeClr val="tx1"/>
                </a:solidFill>
                <a:ea typeface="+mn-ea"/>
                <a:cs typeface="+mn-cs"/>
              </a:rPr>
              <a:t> Read/review evaluations (‘lessons learned’) from previous projects.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202</a:t>
            </a:fld>
            <a:endParaRPr lang="en-US" dirty="0"/>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buFont typeface="Arial" pitchFamily="34" charset="0"/>
              <a:buNone/>
            </a:pPr>
            <a:r>
              <a:rPr lang="en-US" dirty="0" smtClean="0"/>
              <a:t>Trainer presents ways to share project information/lessons:</a:t>
            </a:r>
          </a:p>
          <a:p>
            <a:pPr lvl="1">
              <a:buFont typeface="Arial" pitchFamily="34" charset="0"/>
              <a:buChar char="•"/>
            </a:pPr>
            <a:r>
              <a:rPr lang="en-AU" sz="1200" kern="1200" dirty="0" smtClean="0">
                <a:solidFill>
                  <a:schemeClr val="tx1"/>
                </a:solidFill>
                <a:ea typeface="+mn-ea"/>
                <a:cs typeface="+mn-cs"/>
              </a:rPr>
              <a:t> Make a verbal report to management.</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his may be all that is required in many cases for a small project</a:t>
            </a:r>
          </a:p>
          <a:p>
            <a:pPr lvl="1">
              <a:buFont typeface="Arial" pitchFamily="34" charset="0"/>
              <a:buChar char="•"/>
            </a:pPr>
            <a:r>
              <a:rPr lang="en-AU" sz="1200" kern="1200" dirty="0" smtClean="0">
                <a:solidFill>
                  <a:schemeClr val="tx1"/>
                </a:solidFill>
                <a:ea typeface="+mn-ea"/>
                <a:cs typeface="+mn-cs"/>
              </a:rPr>
              <a:t>Make a verbal report to nominated stakeholders – internal and/or external</a:t>
            </a:r>
          </a:p>
          <a:p>
            <a:pPr lvl="1">
              <a:buFont typeface="Arial" pitchFamily="34" charset="0"/>
              <a:buChar char="•"/>
            </a:pPr>
            <a:r>
              <a:rPr lang="en-AU" sz="1200" kern="1200" dirty="0" smtClean="0">
                <a:solidFill>
                  <a:schemeClr val="tx1"/>
                </a:solidFill>
                <a:ea typeface="+mn-ea"/>
                <a:cs typeface="+mn-cs"/>
              </a:rPr>
              <a:t> Do a formal presentation on the findings which will entail a need to:</a:t>
            </a:r>
          </a:p>
          <a:p>
            <a:pPr lvl="2">
              <a:buFont typeface="Arial" pitchFamily="34" charset="0"/>
              <a:buChar char="•"/>
            </a:pPr>
            <a:r>
              <a:rPr lang="en-AU" sz="1200" kern="1200" dirty="0" smtClean="0">
                <a:solidFill>
                  <a:schemeClr val="tx1"/>
                </a:solidFill>
                <a:ea typeface="+mn-ea"/>
                <a:cs typeface="+mn-cs"/>
              </a:rPr>
              <a:t> Verbally present the final evaluation </a:t>
            </a:r>
          </a:p>
          <a:p>
            <a:pPr lvl="2">
              <a:buFont typeface="Arial" pitchFamily="34" charset="0"/>
              <a:buChar char="•"/>
            </a:pPr>
            <a:r>
              <a:rPr lang="en-AU" sz="1200" kern="1200" dirty="0" smtClean="0">
                <a:solidFill>
                  <a:schemeClr val="tx1"/>
                </a:solidFill>
                <a:ea typeface="+mn-ea"/>
                <a:cs typeface="+mn-cs"/>
              </a:rPr>
              <a:t> Explain aspects of it</a:t>
            </a:r>
          </a:p>
          <a:p>
            <a:pPr lvl="2">
              <a:buFont typeface="Arial" pitchFamily="34" charset="0"/>
              <a:buChar char="•"/>
            </a:pPr>
            <a:r>
              <a:rPr lang="en-AU" sz="1200" kern="1200" dirty="0" smtClean="0">
                <a:solidFill>
                  <a:schemeClr val="tx1"/>
                </a:solidFill>
                <a:ea typeface="+mn-ea"/>
                <a:cs typeface="+mn-cs"/>
              </a:rPr>
              <a:t> Defend decisions made</a:t>
            </a:r>
          </a:p>
          <a:p>
            <a:pPr lvl="2">
              <a:buFont typeface="Arial" pitchFamily="34" charset="0"/>
              <a:buChar char="•"/>
            </a:pPr>
            <a:r>
              <a:rPr lang="en-AU" sz="1200" kern="1200" dirty="0" smtClean="0">
                <a:solidFill>
                  <a:schemeClr val="tx1"/>
                </a:solidFill>
                <a:ea typeface="+mn-ea"/>
                <a:cs typeface="+mn-cs"/>
              </a:rPr>
              <a:t> Justify expenditure</a:t>
            </a:r>
          </a:p>
          <a:p>
            <a:pPr lvl="2">
              <a:buFont typeface="Arial" pitchFamily="34" charset="0"/>
              <a:buChar char="•"/>
            </a:pPr>
            <a:r>
              <a:rPr lang="en-AU" sz="1200" kern="1200" dirty="0" smtClean="0">
                <a:solidFill>
                  <a:schemeClr val="tx1"/>
                </a:solidFill>
                <a:ea typeface="+mn-ea"/>
                <a:cs typeface="+mn-cs"/>
              </a:rPr>
              <a:t> Confirm or clarify points arising</a:t>
            </a:r>
          </a:p>
          <a:p>
            <a:pPr lvl="2">
              <a:buFont typeface="Arial" pitchFamily="34" charset="0"/>
              <a:buChar char="•"/>
            </a:pPr>
            <a:r>
              <a:rPr lang="en-AU" sz="1200" kern="1200" dirty="0" smtClean="0">
                <a:solidFill>
                  <a:schemeClr val="tx1"/>
                </a:solidFill>
                <a:ea typeface="+mn-ea"/>
                <a:cs typeface="+mn-cs"/>
              </a:rPr>
              <a:t> Provide supporting/evidentiary documentation</a:t>
            </a:r>
          </a:p>
          <a:p>
            <a:pPr lvl="1">
              <a:buFont typeface="Arial" pitchFamily="34" charset="0"/>
              <a:buChar char="•"/>
            </a:pPr>
            <a:r>
              <a:rPr lang="en-AU" sz="1200" kern="1200" dirty="0" smtClean="0">
                <a:solidFill>
                  <a:schemeClr val="tx1"/>
                </a:solidFill>
                <a:ea typeface="+mn-ea"/>
                <a:cs typeface="+mn-cs"/>
              </a:rPr>
              <a:t> Complete and return an Evaluation Sheet as</a:t>
            </a:r>
            <a:r>
              <a:rPr lang="en-AU" sz="1200" kern="1200" baseline="0" dirty="0" smtClean="0">
                <a:solidFill>
                  <a:schemeClr val="tx1"/>
                </a:solidFill>
                <a:ea typeface="+mn-ea"/>
                <a:cs typeface="+mn-cs"/>
              </a:rPr>
              <a:t> and </a:t>
            </a:r>
            <a:r>
              <a:rPr lang="en-AU" sz="1200" kern="1200" dirty="0" smtClean="0">
                <a:solidFill>
                  <a:schemeClr val="tx1"/>
                </a:solidFill>
                <a:ea typeface="+mn-ea"/>
                <a:cs typeface="+mn-cs"/>
              </a:rPr>
              <a:t>if required by a client, funding body or delegating authority</a:t>
            </a:r>
          </a:p>
          <a:p>
            <a:pPr lvl="1">
              <a:buFont typeface="Arial" pitchFamily="34" charset="0"/>
              <a:buChar char="•"/>
            </a:pPr>
            <a:r>
              <a:rPr lang="en-AU" sz="1200" kern="1200" dirty="0" smtClean="0">
                <a:solidFill>
                  <a:schemeClr val="tx1"/>
                </a:solidFill>
                <a:ea typeface="+mn-ea"/>
                <a:cs typeface="+mn-cs"/>
              </a:rPr>
              <a:t> Circulate a formal report on the project – see next section</a:t>
            </a:r>
          </a:p>
          <a:p>
            <a:pPr lvl="1">
              <a:buFont typeface="Arial" pitchFamily="34" charset="0"/>
              <a:buChar char="•"/>
            </a:pPr>
            <a:r>
              <a:rPr lang="en-AU" sz="1200" kern="1200" dirty="0" smtClean="0">
                <a:solidFill>
                  <a:schemeClr val="tx1"/>
                </a:solidFill>
                <a:ea typeface="+mn-ea"/>
                <a:cs typeface="+mn-cs"/>
              </a:rPr>
              <a:t> Meet with key internal figures to discuss the findings.</a:t>
            </a:r>
            <a:r>
              <a:rPr lang="en-AU" sz="1200" kern="1200" baseline="0" dirty="0" smtClean="0">
                <a:solidFill>
                  <a:schemeClr val="tx1"/>
                </a:solidFill>
                <a:ea typeface="+mn-ea"/>
                <a:cs typeface="+mn-cs"/>
              </a:rPr>
              <a:t> T</a:t>
            </a:r>
            <a:r>
              <a:rPr lang="en-AU" sz="1200" kern="1200" dirty="0" smtClean="0">
                <a:solidFill>
                  <a:schemeClr val="tx1"/>
                </a:solidFill>
                <a:ea typeface="+mn-ea"/>
                <a:cs typeface="+mn-cs"/>
              </a:rPr>
              <a:t>hese would include:</a:t>
            </a:r>
          </a:p>
          <a:p>
            <a:pPr lvl="2">
              <a:buFont typeface="Arial" pitchFamily="34" charset="0"/>
              <a:buChar char="•"/>
            </a:pPr>
            <a:r>
              <a:rPr lang="en-AU" sz="1200" kern="1200" dirty="0" smtClean="0">
                <a:solidFill>
                  <a:schemeClr val="tx1"/>
                </a:solidFill>
                <a:ea typeface="+mn-ea"/>
                <a:cs typeface="+mn-cs"/>
              </a:rPr>
              <a:t> Managers and supervisors</a:t>
            </a:r>
          </a:p>
          <a:p>
            <a:pPr lvl="2">
              <a:buFont typeface="Arial" pitchFamily="34" charset="0"/>
              <a:buChar char="•"/>
            </a:pPr>
            <a:r>
              <a:rPr lang="en-AU" sz="1200" kern="1200" dirty="0" smtClean="0">
                <a:solidFill>
                  <a:schemeClr val="tx1"/>
                </a:solidFill>
                <a:ea typeface="+mn-ea"/>
                <a:cs typeface="+mn-cs"/>
              </a:rPr>
              <a:t> Other people with project management responsibilities</a:t>
            </a:r>
          </a:p>
          <a:p>
            <a:pPr lvl="2">
              <a:buFont typeface="Arial" pitchFamily="34" charset="0"/>
              <a:buChar char="•"/>
            </a:pPr>
            <a:r>
              <a:rPr lang="en-AU" sz="1200" kern="1200" dirty="0" smtClean="0">
                <a:solidFill>
                  <a:schemeClr val="tx1"/>
                </a:solidFill>
                <a:ea typeface="+mn-ea"/>
                <a:cs typeface="+mn-cs"/>
              </a:rPr>
              <a:t> Trainers and training staff so they integrate findings into in-house trainers</a:t>
            </a:r>
          </a:p>
          <a:p>
            <a:pPr lvl="2">
              <a:buFont typeface="Arial" pitchFamily="34" charset="0"/>
              <a:buChar char="•"/>
            </a:pPr>
            <a:r>
              <a:rPr lang="en-AU" sz="1200" kern="1200" dirty="0" smtClean="0">
                <a:solidFill>
                  <a:schemeClr val="tx1"/>
                </a:solidFill>
                <a:ea typeface="+mn-ea"/>
                <a:cs typeface="+mn-cs"/>
              </a:rPr>
              <a:t> Those with responsibility for preparing and updating venue policies and procedures so findings can be formalized into internal SOPs.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203</a:t>
            </a:fld>
            <a:endParaRPr lang="en-US" dirty="0"/>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suggests all </a:t>
            </a:r>
            <a:r>
              <a:rPr lang="en-AU" sz="1200" kern="1200" dirty="0" smtClean="0">
                <a:solidFill>
                  <a:schemeClr val="tx1"/>
                </a:solidFill>
                <a:ea typeface="+mn-ea"/>
                <a:cs typeface="+mn-cs"/>
              </a:rPr>
              <a:t>projects will require some form of report when the project has been finalised identifying the following points are commonly addressed in relation to contents of Project Reports:</a:t>
            </a:r>
          </a:p>
          <a:p>
            <a:pPr>
              <a:buFont typeface="Arial" pitchFamily="34" charset="0"/>
              <a:buChar char="•"/>
            </a:pPr>
            <a:r>
              <a:rPr lang="en-AU" sz="1200" kern="1200" dirty="0" smtClean="0">
                <a:solidFill>
                  <a:schemeClr val="tx1"/>
                </a:solidFill>
                <a:ea typeface="+mn-ea"/>
                <a:cs typeface="+mn-cs"/>
              </a:rPr>
              <a:t> Name/title of the Report – ‘Review and upgrade of in-house training’</a:t>
            </a:r>
          </a:p>
          <a:p>
            <a:pPr>
              <a:buFont typeface="Arial" pitchFamily="34" charset="0"/>
              <a:buChar char="•"/>
            </a:pPr>
            <a:r>
              <a:rPr lang="en-AU" sz="1200" kern="1200" dirty="0" smtClean="0">
                <a:solidFill>
                  <a:schemeClr val="tx1"/>
                </a:solidFill>
                <a:ea typeface="+mn-ea"/>
                <a:cs typeface="+mn-cs"/>
              </a:rPr>
              <a:t> Name of the venue</a:t>
            </a:r>
          </a:p>
          <a:p>
            <a:pPr>
              <a:buFont typeface="Arial" pitchFamily="34" charset="0"/>
              <a:buChar char="•"/>
            </a:pPr>
            <a:r>
              <a:rPr lang="en-AU" sz="1200" kern="1200" dirty="0" smtClean="0">
                <a:solidFill>
                  <a:schemeClr val="tx1"/>
                </a:solidFill>
                <a:ea typeface="+mn-ea"/>
                <a:cs typeface="+mn-cs"/>
              </a:rPr>
              <a:t> Name of the Project</a:t>
            </a:r>
          </a:p>
          <a:p>
            <a:pPr>
              <a:buFont typeface="Arial" pitchFamily="34" charset="0"/>
              <a:buChar char="•"/>
            </a:pPr>
            <a:r>
              <a:rPr lang="en-AU" sz="1200" kern="1200" dirty="0" smtClean="0">
                <a:solidFill>
                  <a:schemeClr val="tx1"/>
                </a:solidFill>
                <a:ea typeface="+mn-ea"/>
                <a:cs typeface="+mn-cs"/>
              </a:rPr>
              <a:t> Name of the person/s who prepared the Report</a:t>
            </a:r>
          </a:p>
          <a:p>
            <a:pPr>
              <a:buFont typeface="Arial" pitchFamily="34" charset="0"/>
              <a:buChar char="•"/>
            </a:pPr>
            <a:r>
              <a:rPr lang="en-AU" sz="1200" kern="1200" dirty="0" smtClean="0">
                <a:solidFill>
                  <a:schemeClr val="tx1"/>
                </a:solidFill>
                <a:ea typeface="+mn-ea"/>
                <a:cs typeface="+mn-cs"/>
              </a:rPr>
              <a:t> The date/period to which the Report applies</a:t>
            </a:r>
          </a:p>
          <a:p>
            <a:pPr>
              <a:buFont typeface="Arial" pitchFamily="34" charset="0"/>
              <a:buChar char="•"/>
            </a:pPr>
            <a:r>
              <a:rPr lang="en-AU" sz="1200" kern="1200" dirty="0" smtClean="0">
                <a:solidFill>
                  <a:schemeClr val="tx1"/>
                </a:solidFill>
                <a:ea typeface="+mn-ea"/>
                <a:cs typeface="+mn-cs"/>
              </a:rPr>
              <a:t> Identification of nature of the Report – for example, ‘First Interim Report’, ‘Final Report’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204</a:t>
            </a:fld>
            <a:endParaRPr lang="en-US" dirty="0"/>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contents of Project Report:</a:t>
            </a:r>
          </a:p>
          <a:p>
            <a:pPr>
              <a:buFont typeface="Arial" pitchFamily="34" charset="0"/>
              <a:buChar char="•"/>
            </a:pPr>
            <a:r>
              <a:rPr lang="en-AU" sz="1200" kern="1200" dirty="0" smtClean="0">
                <a:solidFill>
                  <a:schemeClr val="tx1"/>
                </a:solidFill>
                <a:ea typeface="+mn-ea"/>
                <a:cs typeface="+mn-cs"/>
              </a:rPr>
              <a:t> Executive Summary – a single page synthesising the content of the report</a:t>
            </a:r>
          </a:p>
          <a:p>
            <a:pPr>
              <a:buFont typeface="Arial" pitchFamily="34" charset="0"/>
              <a:buChar char="•"/>
            </a:pPr>
            <a:r>
              <a:rPr lang="en-AU" sz="1200" kern="1200" dirty="0" smtClean="0">
                <a:solidFill>
                  <a:schemeClr val="tx1"/>
                </a:solidFill>
                <a:ea typeface="+mn-ea"/>
                <a:cs typeface="+mn-cs"/>
              </a:rPr>
              <a:t> KPIs, milestones and stages the project management plan identified as being applicable in relation to </a:t>
            </a:r>
            <a:r>
              <a:rPr lang="en-AU" sz="1200" i="1" kern="1200" dirty="0" smtClean="0">
                <a:solidFill>
                  <a:schemeClr val="tx1"/>
                </a:solidFill>
                <a:ea typeface="+mn-ea"/>
                <a:cs typeface="+mn-cs"/>
              </a:rPr>
              <a:t>this</a:t>
            </a:r>
            <a:r>
              <a:rPr lang="en-AU" sz="1200" kern="1200" dirty="0" smtClean="0">
                <a:solidFill>
                  <a:schemeClr val="tx1"/>
                </a:solidFill>
                <a:ea typeface="+mn-ea"/>
                <a:cs typeface="+mn-cs"/>
              </a:rPr>
              <a:t> Report</a:t>
            </a:r>
          </a:p>
          <a:p>
            <a:pPr>
              <a:buFont typeface="Arial" pitchFamily="34" charset="0"/>
              <a:buChar char="•"/>
            </a:pPr>
            <a:r>
              <a:rPr lang="en-AU" sz="1200" kern="1200" dirty="0" smtClean="0">
                <a:solidFill>
                  <a:schemeClr val="tx1"/>
                </a:solidFill>
                <a:ea typeface="+mn-ea"/>
                <a:cs typeface="+mn-cs"/>
              </a:rPr>
              <a:t> Actual progress matched against the stated criteria identifying reasons for above and/or below expected outcomes</a:t>
            </a:r>
          </a:p>
          <a:p>
            <a:pPr>
              <a:buFont typeface="Arial" pitchFamily="34" charset="0"/>
              <a:buChar char="•"/>
            </a:pPr>
            <a:r>
              <a:rPr lang="en-AU" sz="1200" kern="1200" dirty="0" smtClean="0">
                <a:solidFill>
                  <a:schemeClr val="tx1"/>
                </a:solidFill>
                <a:ea typeface="+mn-ea"/>
                <a:cs typeface="+mn-cs"/>
              </a:rPr>
              <a:t> Budget</a:t>
            </a:r>
          </a:p>
          <a:p>
            <a:pPr>
              <a:buFont typeface="Arial" pitchFamily="34" charset="0"/>
              <a:buChar char="•"/>
            </a:pPr>
            <a:r>
              <a:rPr lang="en-AU" sz="1200" kern="1200" dirty="0" smtClean="0">
                <a:solidFill>
                  <a:schemeClr val="tx1"/>
                </a:solidFill>
                <a:ea typeface="+mn-ea"/>
                <a:cs typeface="+mn-cs"/>
              </a:rPr>
              <a:t> Your observations as PM.</a:t>
            </a:r>
            <a:r>
              <a:rPr lang="en-AU" sz="1200" kern="1200" baseline="0" dirty="0" smtClean="0">
                <a:solidFill>
                  <a:schemeClr val="tx1"/>
                </a:solidFill>
                <a:ea typeface="+mn-ea"/>
                <a:cs typeface="+mn-cs"/>
              </a:rPr>
              <a:t> Y</a:t>
            </a:r>
            <a:r>
              <a:rPr lang="en-AU" sz="1200" kern="1200" dirty="0" smtClean="0">
                <a:solidFill>
                  <a:schemeClr val="tx1"/>
                </a:solidFill>
                <a:ea typeface="+mn-ea"/>
                <a:cs typeface="+mn-cs"/>
              </a:rPr>
              <a:t>our Project Notebook should be used to help write this section of the Report. You may raise topics such as:</a:t>
            </a:r>
          </a:p>
          <a:p>
            <a:pPr lvl="1">
              <a:buFont typeface="Arial" pitchFamily="34" charset="0"/>
              <a:buChar char="•"/>
            </a:pPr>
            <a:r>
              <a:rPr lang="en-AU" sz="1200" kern="1200" dirty="0" smtClean="0">
                <a:solidFill>
                  <a:schemeClr val="tx1"/>
                </a:solidFill>
                <a:ea typeface="+mn-ea"/>
                <a:cs typeface="+mn-cs"/>
              </a:rPr>
              <a:t> Unexpected delays</a:t>
            </a:r>
          </a:p>
          <a:p>
            <a:pPr lvl="1">
              <a:buFont typeface="Arial" pitchFamily="34" charset="0"/>
              <a:buChar char="•"/>
            </a:pPr>
            <a:r>
              <a:rPr lang="en-AU" sz="1200" kern="1200" dirty="0" smtClean="0">
                <a:solidFill>
                  <a:schemeClr val="tx1"/>
                </a:solidFill>
                <a:ea typeface="+mn-ea"/>
                <a:cs typeface="+mn-cs"/>
              </a:rPr>
              <a:t> Problems with suppliers/contractors and/or venue-based project staff</a:t>
            </a:r>
          </a:p>
          <a:p>
            <a:pPr lvl="1">
              <a:buFont typeface="Arial" pitchFamily="34" charset="0"/>
              <a:buChar char="•"/>
            </a:pPr>
            <a:r>
              <a:rPr lang="en-AU" sz="1200" kern="1200" dirty="0" smtClean="0">
                <a:solidFill>
                  <a:schemeClr val="tx1"/>
                </a:solidFill>
                <a:ea typeface="+mn-ea"/>
                <a:cs typeface="+mn-cs"/>
              </a:rPr>
              <a:t> Instances of unacceptable work which has had to be re-done</a:t>
            </a:r>
          </a:p>
          <a:p>
            <a:pPr lvl="1">
              <a:buFont typeface="Arial" pitchFamily="34" charset="0"/>
              <a:buChar char="•"/>
            </a:pPr>
            <a:r>
              <a:rPr lang="en-AU" sz="1200" kern="1200" dirty="0" smtClean="0">
                <a:solidFill>
                  <a:schemeClr val="tx1"/>
                </a:solidFill>
                <a:ea typeface="+mn-ea"/>
                <a:cs typeface="+mn-cs"/>
              </a:rPr>
              <a:t> Unexpected impacts of the project on customers or normal venue operation</a:t>
            </a:r>
          </a:p>
          <a:p>
            <a:pPr lvl="1">
              <a:buFont typeface="Arial" pitchFamily="34" charset="0"/>
              <a:buChar char="•"/>
            </a:pPr>
            <a:r>
              <a:rPr lang="en-AU" sz="1200" kern="1200" dirty="0" smtClean="0">
                <a:solidFill>
                  <a:schemeClr val="tx1"/>
                </a:solidFill>
                <a:ea typeface="+mn-ea"/>
                <a:cs typeface="+mn-cs"/>
              </a:rPr>
              <a:t> Emerging safety issues and hazards </a:t>
            </a:r>
          </a:p>
          <a:p>
            <a:pPr lvl="1">
              <a:buFont typeface="Arial" pitchFamily="34" charset="0"/>
              <a:buChar char="•"/>
            </a:pPr>
            <a:r>
              <a:rPr lang="en-AU" sz="1200" kern="1200" dirty="0" smtClean="0">
                <a:solidFill>
                  <a:schemeClr val="tx1"/>
                </a:solidFill>
                <a:ea typeface="+mn-ea"/>
                <a:cs typeface="+mn-cs"/>
              </a:rPr>
              <a:t> Suggestions/recommendations for action to address identified issues, time lags, sub-standard quality issues and others issues raised in the Report.</a:t>
            </a:r>
          </a:p>
          <a:p>
            <a:pPr>
              <a:buFont typeface="Arial" pitchFamily="34" charset="0"/>
              <a:buNone/>
            </a:pPr>
            <a:endParaRPr lang="en-US" dirty="0" smtClean="0"/>
          </a:p>
          <a:p>
            <a:pPr>
              <a:buFont typeface="Arial" pitchFamily="34" charset="0"/>
              <a:buNone/>
            </a:pPr>
            <a:r>
              <a:rPr lang="en-US" b="1" dirty="0" smtClean="0"/>
              <a:t>Class Activity – Handout</a:t>
            </a:r>
          </a:p>
          <a:p>
            <a:pPr>
              <a:buFont typeface="Arial" pitchFamily="34" charset="0"/>
              <a:buNone/>
            </a:pPr>
            <a:r>
              <a:rPr lang="en-US" b="0" dirty="0" smtClean="0"/>
              <a:t>Trainer distributes</a:t>
            </a:r>
            <a:r>
              <a:rPr lang="en-US" b="0" baseline="0" dirty="0" smtClean="0"/>
              <a:t> and discusses an example of a Project Report.</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205</a:t>
            </a:fld>
            <a:endParaRPr lang="en-US" dirty="0"/>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remarks all project reports must be treated as commercial-in-confidence indicating </a:t>
            </a:r>
            <a:r>
              <a:rPr lang="en-AU" sz="1200" kern="1200" dirty="0" smtClean="0">
                <a:solidFill>
                  <a:schemeClr val="tx1"/>
                </a:solidFill>
                <a:ea typeface="+mn-ea"/>
                <a:cs typeface="+mn-cs"/>
              </a:rPr>
              <a:t>common ways to forward reports are:</a:t>
            </a:r>
          </a:p>
          <a:p>
            <a:pPr>
              <a:buFont typeface="Arial" pitchFamily="34" charset="0"/>
              <a:buChar char="•"/>
            </a:pPr>
            <a:r>
              <a:rPr lang="en-AU" sz="1200" kern="1200" dirty="0" smtClean="0">
                <a:solidFill>
                  <a:schemeClr val="tx1"/>
                </a:solidFill>
                <a:ea typeface="+mn-ea"/>
                <a:cs typeface="+mn-cs"/>
              </a:rPr>
              <a:t> By hand – distributing appropriately-bound hard copies. </a:t>
            </a:r>
          </a:p>
          <a:p>
            <a:pPr lvl="1">
              <a:buFont typeface="Arial" pitchFamily="34" charset="0"/>
              <a:buChar char="•"/>
            </a:pPr>
            <a:r>
              <a:rPr lang="en-AU" sz="1200" kern="1200" dirty="0" smtClean="0">
                <a:solidFill>
                  <a:schemeClr val="tx1"/>
                </a:solidFill>
                <a:ea typeface="+mn-ea"/>
                <a:cs typeface="+mn-cs"/>
              </a:rPr>
              <a:t> Distributing by hand also allows you to talk to the report when you hand it over</a:t>
            </a:r>
          </a:p>
          <a:p>
            <a:pPr>
              <a:buFont typeface="Arial" pitchFamily="34" charset="0"/>
              <a:buChar char="•"/>
            </a:pPr>
            <a:r>
              <a:rPr lang="en-AU" sz="1200" kern="1200" dirty="0" smtClean="0">
                <a:solidFill>
                  <a:schemeClr val="tx1"/>
                </a:solidFill>
                <a:ea typeface="+mn-ea"/>
                <a:cs typeface="+mn-cs"/>
              </a:rPr>
              <a:t> Electronically – via email. </a:t>
            </a:r>
          </a:p>
          <a:p>
            <a:pPr lvl="1">
              <a:buFont typeface="Arial" pitchFamily="34" charset="0"/>
              <a:buChar char="•"/>
            </a:pPr>
            <a:r>
              <a:rPr lang="en-AU" sz="1200" kern="1200" dirty="0" smtClean="0">
                <a:solidFill>
                  <a:schemeClr val="tx1"/>
                </a:solidFill>
                <a:ea typeface="+mn-ea"/>
                <a:cs typeface="+mn-cs"/>
              </a:rPr>
              <a:t> Take care to double-check the correct email address is being used. It is not standard practice to send reports by facsimile </a:t>
            </a:r>
          </a:p>
          <a:p>
            <a:pPr>
              <a:buFont typeface="Arial" pitchFamily="34" charset="0"/>
              <a:buChar char="•"/>
            </a:pPr>
            <a:r>
              <a:rPr lang="en-AU" sz="1200" kern="1200" dirty="0" smtClean="0">
                <a:solidFill>
                  <a:schemeClr val="tx1"/>
                </a:solidFill>
                <a:ea typeface="+mn-ea"/>
                <a:cs typeface="+mn-cs"/>
              </a:rPr>
              <a:t> Using the intranet </a:t>
            </a:r>
          </a:p>
          <a:p>
            <a:pPr>
              <a:buFont typeface="Arial" pitchFamily="34" charset="0"/>
              <a:buChar char="•"/>
            </a:pPr>
            <a:r>
              <a:rPr lang="en-AU" sz="1200" kern="1200" dirty="0" smtClean="0">
                <a:solidFill>
                  <a:schemeClr val="tx1"/>
                </a:solidFill>
                <a:ea typeface="+mn-ea"/>
                <a:cs typeface="+mn-cs"/>
              </a:rPr>
              <a:t> Using the postal system or couriers to deliver hard copies to external stakeholders.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206</a:t>
            </a:fld>
            <a:endParaRPr lang="en-US" dirty="0"/>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207</a:t>
            </a:fld>
            <a:endParaRPr lang="en-US" dirty="0"/>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208</a:t>
            </a:fld>
            <a:endParaRPr lang="en-US" dirty="0"/>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209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1/27/2014</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1/27/2014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1/27/2014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1/27/2014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1/27/2014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1/27/2014</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1/27/2014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1/27/2014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1/27/2014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1/27/2014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1/27/2014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1/27/2014</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33.wmf"/><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153.jpe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3" Type="http://schemas.openxmlformats.org/officeDocument/2006/relationships/image" Target="../media/image154.jpeg"/><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notesSlide" Target="../notesSlides/notesSlide180.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3" Type="http://schemas.openxmlformats.org/officeDocument/2006/relationships/image" Target="../media/image163.wmf"/><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164.jpeg"/><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3" Type="http://schemas.openxmlformats.org/officeDocument/2006/relationships/image" Target="../media/image165.wmf"/><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67.jpeg"/><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90.xml"/><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3" Type="http://schemas.openxmlformats.org/officeDocument/2006/relationships/image" Target="../media/image168.jpeg"/><Relationship Id="rId2" Type="http://schemas.openxmlformats.org/officeDocument/2006/relationships/notesSlide" Target="../notesSlides/notesSlide191.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3" Type="http://schemas.openxmlformats.org/officeDocument/2006/relationships/image" Target="../media/image169.jpeg"/><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3" Type="http://schemas.openxmlformats.org/officeDocument/2006/relationships/image" Target="../media/image170.jpeg"/><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3" Type="http://schemas.openxmlformats.org/officeDocument/2006/relationships/image" Target="../media/image171.jpeg"/><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172.wmf"/><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3" Type="http://schemas.openxmlformats.org/officeDocument/2006/relationships/image" Target="../media/image173.wmf"/><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174.jpeg"/><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175.jpeg"/><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3" Type="http://schemas.openxmlformats.org/officeDocument/2006/relationships/image" Target="../media/image176.jpeg"/><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3" Type="http://schemas.openxmlformats.org/officeDocument/2006/relationships/image" Target="../media/image177.jpeg"/><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178.jpeg"/><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3" Type="http://schemas.openxmlformats.org/officeDocument/2006/relationships/image" Target="../media/image179.jpeg"/><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3" Type="http://schemas.openxmlformats.org/officeDocument/2006/relationships/image" Target="../media/image180.jpeg"/><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3" Type="http://schemas.openxmlformats.org/officeDocument/2006/relationships/image" Target="../media/image181.jpeg"/><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620688"/>
            <a:ext cx="6480048" cy="936104"/>
          </a:xfrm>
        </p:spPr>
        <p:txBody>
          <a:bodyPr>
            <a:normAutofit fontScale="90000"/>
          </a:bodyPr>
          <a:lstStyle/>
          <a:p>
            <a:r>
              <a:rPr lang="bin-NG" sz="4000" dirty="0" smtClean="0">
                <a:ln w="5000" cmpd="sng">
                  <a:noFill/>
                  <a:prstDash val="solid"/>
                </a:ln>
                <a:solidFill>
                  <a:srgbClr val="FF6600"/>
                </a:solidFill>
                <a:latin typeface="Helvetica" pitchFamily="34" charset="0"/>
              </a:rPr>
              <a:t>MANAGE AND IMPLEMENT SMALL PROJECTS</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6012160" y="1916832"/>
            <a:ext cx="2397252" cy="720080"/>
          </a:xfrm>
        </p:spPr>
        <p:txBody>
          <a:bodyPr>
            <a:noAutofit/>
          </a:bodyPr>
          <a:lstStyle/>
          <a:p>
            <a:r>
              <a:rPr lang="bin-NG" b="1" dirty="0" smtClean="0">
                <a:latin typeface="Helvetica" pitchFamily="34" charset="0"/>
              </a:rPr>
              <a:t>D1.HGE.CL7.04</a:t>
            </a:r>
            <a:endParaRPr lang="en-AU" b="1" dirty="0" smtClean="0">
              <a:latin typeface="Helvetica" pitchFamily="34" charset="0"/>
            </a:endParaRPr>
          </a:p>
          <a:p>
            <a:r>
              <a:rPr lang="bin-NG" b="1" dirty="0" smtClean="0">
                <a:latin typeface="Helvetica" pitchFamily="34" charset="0"/>
              </a:rPr>
              <a:t>D1.HGA.CL6.11</a:t>
            </a:r>
            <a:endParaRPr lang="en-US"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a:t>
            </a:fld>
            <a:endParaRPr lang="en-US" dirty="0"/>
          </a:p>
        </p:txBody>
      </p:sp>
      <p:pic>
        <p:nvPicPr>
          <p:cNvPr id="1026" name="Picture 2" descr="C:\Documents and Settings\danielc\Desktop\iStock_Comm on Phone.jpg"/>
          <p:cNvPicPr>
            <a:picLocks noChangeAspect="1" noChangeArrowheads="1"/>
          </p:cNvPicPr>
          <p:nvPr/>
        </p:nvPicPr>
        <p:blipFill>
          <a:blip r:embed="rId3" cstate="print"/>
          <a:stretch>
            <a:fillRect/>
          </a:stretch>
        </p:blipFill>
        <p:spPr bwMode="auto">
          <a:xfrm>
            <a:off x="827584" y="1988840"/>
            <a:ext cx="5256584" cy="4317319"/>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fontScale="90000"/>
          </a:bodyPr>
          <a:lstStyle/>
          <a:p>
            <a:r>
              <a:rPr lang="en-US" sz="3400" b="1" dirty="0" smtClean="0">
                <a:solidFill>
                  <a:srgbClr val="FF6600"/>
                </a:solidFill>
                <a:latin typeface="Helvetica" pitchFamily="34" charset="0"/>
              </a:rPr>
              <a:t>Manage and implement small projects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This Unit comprises three Elements: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grpSp>
        <p:nvGrpSpPr>
          <p:cNvPr id="5" name="Group 4"/>
          <p:cNvGrpSpPr/>
          <p:nvPr/>
        </p:nvGrpSpPr>
        <p:grpSpPr>
          <a:xfrm>
            <a:off x="755576" y="1916832"/>
            <a:ext cx="5652913" cy="2471738"/>
            <a:chOff x="1752600" y="2057400"/>
            <a:chExt cx="5652913" cy="2471738"/>
          </a:xfrm>
        </p:grpSpPr>
        <p:grpSp>
          <p:nvGrpSpPr>
            <p:cNvPr id="6" name="Group 4"/>
            <p:cNvGrpSpPr>
              <a:grpSpLocks/>
            </p:cNvGrpSpPr>
            <p:nvPr/>
          </p:nvGrpSpPr>
          <p:grpSpPr bwMode="auto">
            <a:xfrm>
              <a:off x="1752600" y="2057400"/>
              <a:ext cx="762000" cy="665163"/>
              <a:chOff x="1110" y="2656"/>
              <a:chExt cx="1549" cy="1351"/>
            </a:xfrm>
          </p:grpSpPr>
          <p:sp>
            <p:nvSpPr>
              <p:cNvPr id="31" name="AutoShape 5"/>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latin typeface="Helvetica" pitchFamily="34" charset="0"/>
                </a:endParaRPr>
              </a:p>
            </p:txBody>
          </p:sp>
          <p:sp>
            <p:nvSpPr>
              <p:cNvPr id="32" name="AutoShape 6"/>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latin typeface="Helvetica" pitchFamily="34" charset="0"/>
                </a:endParaRPr>
              </a:p>
            </p:txBody>
          </p:sp>
          <p:sp>
            <p:nvSpPr>
              <p:cNvPr id="33" name="AutoShape 7"/>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latin typeface="Helvetica" pitchFamily="34" charset="0"/>
                </a:endParaRPr>
              </a:p>
            </p:txBody>
          </p:sp>
        </p:grpSp>
        <p:sp>
          <p:nvSpPr>
            <p:cNvPr id="7" name="Line 8"/>
            <p:cNvSpPr>
              <a:spLocks noChangeShapeType="1"/>
            </p:cNvSpPr>
            <p:nvPr/>
          </p:nvSpPr>
          <p:spPr bwMode="auto">
            <a:xfrm>
              <a:off x="2362200" y="2667000"/>
              <a:ext cx="1728000" cy="0"/>
            </a:xfrm>
            <a:prstGeom prst="line">
              <a:avLst/>
            </a:prstGeom>
            <a:noFill/>
            <a:ln w="25400">
              <a:solidFill>
                <a:schemeClr val="bg2"/>
              </a:solidFill>
              <a:prstDash val="sysDot"/>
              <a:round/>
              <a:headEnd/>
              <a:tailEnd type="oval" w="med" len="med"/>
            </a:ln>
          </p:spPr>
          <p:txBody>
            <a:bodyPr wrap="none" anchor="ctr"/>
            <a:lstStyle/>
            <a:p>
              <a:endParaRPr lang="en-AU" dirty="0">
                <a:latin typeface="Helvetica" pitchFamily="34" charset="0"/>
              </a:endParaRPr>
            </a:p>
          </p:txBody>
        </p:sp>
        <p:sp>
          <p:nvSpPr>
            <p:cNvPr id="8" name="Text Box 9"/>
            <p:cNvSpPr txBox="1">
              <a:spLocks noChangeArrowheads="1"/>
            </p:cNvSpPr>
            <p:nvPr/>
          </p:nvSpPr>
          <p:spPr bwMode="auto">
            <a:xfrm>
              <a:off x="2544688" y="2133600"/>
              <a:ext cx="2619826" cy="430887"/>
            </a:xfrm>
            <a:prstGeom prst="rect">
              <a:avLst/>
            </a:prstGeom>
            <a:noFill/>
            <a:ln w="9525" algn="ctr">
              <a:noFill/>
              <a:miter lim="800000"/>
              <a:headEnd/>
              <a:tailEnd/>
            </a:ln>
          </p:spPr>
          <p:txBody>
            <a:bodyPr wrap="square">
              <a:spAutoFit/>
            </a:bodyPr>
            <a:lstStyle/>
            <a:p>
              <a:pPr marL="360000" indent="-360000">
                <a:spcBef>
                  <a:spcPts val="600"/>
                </a:spcBef>
                <a:spcAft>
                  <a:spcPts val="1200"/>
                </a:spcAft>
              </a:pPr>
              <a:r>
                <a:rPr lang="en-US" sz="2200" dirty="0" smtClean="0">
                  <a:latin typeface="Helvetica" pitchFamily="34" charset="0"/>
                </a:rPr>
                <a:t>Plan project</a:t>
              </a:r>
            </a:p>
          </p:txBody>
        </p:sp>
        <p:sp>
          <p:nvSpPr>
            <p:cNvPr id="9" name="Text Box 10"/>
            <p:cNvSpPr txBox="1">
              <a:spLocks noChangeArrowheads="1"/>
            </p:cNvSpPr>
            <p:nvPr/>
          </p:nvSpPr>
          <p:spPr bwMode="gray">
            <a:xfrm>
              <a:off x="1949450" y="2155825"/>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latin typeface="Helvetica" pitchFamily="34" charset="0"/>
                </a:rPr>
                <a:t>1</a:t>
              </a:r>
            </a:p>
          </p:txBody>
        </p:sp>
        <p:grpSp>
          <p:nvGrpSpPr>
            <p:cNvPr id="10" name="Group 12"/>
            <p:cNvGrpSpPr>
              <a:grpSpLocks/>
            </p:cNvGrpSpPr>
            <p:nvPr/>
          </p:nvGrpSpPr>
          <p:grpSpPr bwMode="auto">
            <a:xfrm>
              <a:off x="1752600" y="2971800"/>
              <a:ext cx="762000" cy="665163"/>
              <a:chOff x="3174" y="2656"/>
              <a:chExt cx="1549" cy="1351"/>
            </a:xfrm>
          </p:grpSpPr>
          <p:sp>
            <p:nvSpPr>
              <p:cNvPr id="28" name="AutoShape 13"/>
              <p:cNvSpPr>
                <a:spLocks noChangeArrowheads="1"/>
              </p:cNvSpPr>
              <p:nvPr/>
            </p:nvSpPr>
            <p:spPr bwMode="gray">
              <a:xfrm>
                <a:off x="3187"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latin typeface="Helvetica" pitchFamily="34" charset="0"/>
                </a:endParaRPr>
              </a:p>
            </p:txBody>
          </p:sp>
          <p:sp>
            <p:nvSpPr>
              <p:cNvPr id="29" name="AutoShape 14"/>
              <p:cNvSpPr>
                <a:spLocks noChangeArrowheads="1"/>
              </p:cNvSpPr>
              <p:nvPr/>
            </p:nvSpPr>
            <p:spPr bwMode="gray">
              <a:xfrm>
                <a:off x="3174"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latin typeface="Helvetica" pitchFamily="34" charset="0"/>
                </a:endParaRPr>
              </a:p>
            </p:txBody>
          </p:sp>
          <p:sp>
            <p:nvSpPr>
              <p:cNvPr id="30" name="AutoShape 15"/>
              <p:cNvSpPr>
                <a:spLocks noChangeArrowheads="1"/>
              </p:cNvSpPr>
              <p:nvPr/>
            </p:nvSpPr>
            <p:spPr bwMode="gray">
              <a:xfrm>
                <a:off x="3264" y="2737"/>
                <a:ext cx="1349" cy="1167"/>
              </a:xfrm>
              <a:prstGeom prst="hexagon">
                <a:avLst>
                  <a:gd name="adj" fmla="val 28896"/>
                  <a:gd name="vf" fmla="val 115470"/>
                </a:avLst>
              </a:prstGeom>
              <a:gradFill rotWithShape="1">
                <a:gsLst>
                  <a:gs pos="0">
                    <a:schemeClr val="accent1">
                      <a:gamma/>
                      <a:shade val="46275"/>
                      <a:invGamma/>
                    </a:schemeClr>
                  </a:gs>
                  <a:gs pos="100000">
                    <a:schemeClr val="accent1"/>
                  </a:gs>
                </a:gsLst>
                <a:lin ang="2700000" scaled="1"/>
              </a:gradFill>
              <a:ln w="9525">
                <a:solidFill>
                  <a:schemeClr val="tx1"/>
                </a:solidFill>
                <a:miter lim="800000"/>
                <a:headEnd/>
                <a:tailEnd/>
              </a:ln>
              <a:effectLst/>
            </p:spPr>
            <p:txBody>
              <a:bodyPr wrap="none" anchor="ctr"/>
              <a:lstStyle/>
              <a:p>
                <a:pPr>
                  <a:defRPr/>
                </a:pPr>
                <a:endParaRPr lang="en-AU" dirty="0">
                  <a:latin typeface="Helvetica" pitchFamily="34" charset="0"/>
                </a:endParaRPr>
              </a:p>
            </p:txBody>
          </p:sp>
        </p:grpSp>
        <p:sp>
          <p:nvSpPr>
            <p:cNvPr id="11" name="Line 16"/>
            <p:cNvSpPr>
              <a:spLocks noChangeShapeType="1"/>
            </p:cNvSpPr>
            <p:nvPr/>
          </p:nvSpPr>
          <p:spPr bwMode="auto">
            <a:xfrm>
              <a:off x="2362200" y="3581400"/>
              <a:ext cx="4104000" cy="0"/>
            </a:xfrm>
            <a:prstGeom prst="line">
              <a:avLst/>
            </a:prstGeom>
            <a:noFill/>
            <a:ln w="25400">
              <a:solidFill>
                <a:schemeClr val="bg2"/>
              </a:solidFill>
              <a:prstDash val="sysDot"/>
              <a:round/>
              <a:headEnd/>
              <a:tailEnd type="oval" w="med" len="med"/>
            </a:ln>
          </p:spPr>
          <p:txBody>
            <a:bodyPr wrap="none" anchor="ctr"/>
            <a:lstStyle/>
            <a:p>
              <a:endParaRPr lang="en-AU" dirty="0">
                <a:latin typeface="Helvetica" pitchFamily="34" charset="0"/>
              </a:endParaRPr>
            </a:p>
          </p:txBody>
        </p:sp>
        <p:sp>
          <p:nvSpPr>
            <p:cNvPr id="12" name="Text Box 17"/>
            <p:cNvSpPr txBox="1">
              <a:spLocks noChangeArrowheads="1"/>
            </p:cNvSpPr>
            <p:nvPr/>
          </p:nvSpPr>
          <p:spPr bwMode="auto">
            <a:xfrm>
              <a:off x="2544688" y="3048000"/>
              <a:ext cx="4860825" cy="430887"/>
            </a:xfrm>
            <a:prstGeom prst="rect">
              <a:avLst/>
            </a:prstGeom>
            <a:noFill/>
            <a:ln w="9525" algn="ctr">
              <a:noFill/>
              <a:miter lim="800000"/>
              <a:headEnd/>
              <a:tailEnd/>
            </a:ln>
          </p:spPr>
          <p:txBody>
            <a:bodyPr wrap="square">
              <a:spAutoFit/>
            </a:bodyPr>
            <a:lstStyle/>
            <a:p>
              <a:pPr marL="360000" indent="-360000">
                <a:spcBef>
                  <a:spcPts val="600"/>
                </a:spcBef>
                <a:spcAft>
                  <a:spcPts val="1200"/>
                </a:spcAft>
              </a:pPr>
              <a:r>
                <a:rPr lang="en-US" sz="2200" dirty="0" smtClean="0">
                  <a:latin typeface="Helvetica" pitchFamily="34" charset="0"/>
                </a:rPr>
                <a:t>Administer and monitor project</a:t>
              </a:r>
            </a:p>
          </p:txBody>
        </p:sp>
        <p:sp>
          <p:nvSpPr>
            <p:cNvPr id="13" name="Text Box 18"/>
            <p:cNvSpPr txBox="1">
              <a:spLocks noChangeArrowheads="1"/>
            </p:cNvSpPr>
            <p:nvPr/>
          </p:nvSpPr>
          <p:spPr bwMode="gray">
            <a:xfrm>
              <a:off x="1949450" y="3070225"/>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latin typeface="Helvetica" pitchFamily="34" charset="0"/>
                </a:rPr>
                <a:t>2</a:t>
              </a:r>
            </a:p>
          </p:txBody>
        </p:sp>
        <p:grpSp>
          <p:nvGrpSpPr>
            <p:cNvPr id="14" name="Group 20"/>
            <p:cNvGrpSpPr>
              <a:grpSpLocks/>
            </p:cNvGrpSpPr>
            <p:nvPr/>
          </p:nvGrpSpPr>
          <p:grpSpPr bwMode="auto">
            <a:xfrm>
              <a:off x="1752600" y="3863975"/>
              <a:ext cx="762000" cy="665163"/>
              <a:chOff x="1110" y="2656"/>
              <a:chExt cx="1549" cy="1351"/>
            </a:xfrm>
          </p:grpSpPr>
          <p:sp>
            <p:nvSpPr>
              <p:cNvPr id="25" name="AutoShape 21"/>
              <p:cNvSpPr>
                <a:spLocks noChangeArrowheads="1"/>
              </p:cNvSpPr>
              <p:nvPr/>
            </p:nvSpPr>
            <p:spPr bwMode="gray">
              <a:xfrm>
                <a:off x="1123" y="2679"/>
                <a:ext cx="1536" cy="1328"/>
              </a:xfrm>
              <a:prstGeom prst="hexagon">
                <a:avLst>
                  <a:gd name="adj" fmla="val 28916"/>
                  <a:gd name="vf" fmla="val 115470"/>
                </a:avLst>
              </a:prstGeom>
              <a:solidFill>
                <a:srgbClr val="808080"/>
              </a:solidFill>
              <a:ln w="9525">
                <a:noFill/>
                <a:miter lim="800000"/>
                <a:headEnd/>
                <a:tailEnd/>
              </a:ln>
            </p:spPr>
            <p:txBody>
              <a:bodyPr wrap="none" anchor="ctr"/>
              <a:lstStyle/>
              <a:p>
                <a:endParaRPr lang="en-US" dirty="0">
                  <a:latin typeface="Helvetica" pitchFamily="34" charset="0"/>
                </a:endParaRPr>
              </a:p>
            </p:txBody>
          </p:sp>
          <p:sp>
            <p:nvSpPr>
              <p:cNvPr id="26" name="AutoShape 22"/>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500">
                    <a:srgbClr val="7D8496"/>
                  </a:gs>
                  <a:gs pos="26500">
                    <a:srgbClr val="E6E6E6"/>
                  </a:gs>
                  <a:gs pos="34000">
                    <a:srgbClr val="7D8496"/>
                  </a:gs>
                  <a:gs pos="46500">
                    <a:srgbClr val="E6E6E6"/>
                  </a:gs>
                  <a:gs pos="50000">
                    <a:srgbClr val="FFFFFF"/>
                  </a:gs>
                  <a:gs pos="53500">
                    <a:srgbClr val="E6E6E6"/>
                  </a:gs>
                  <a:gs pos="66000">
                    <a:srgbClr val="7D8496"/>
                  </a:gs>
                  <a:gs pos="73500">
                    <a:srgbClr val="E6E6E6"/>
                  </a:gs>
                  <a:gs pos="92500">
                    <a:srgbClr val="7D8496"/>
                  </a:gs>
                  <a:gs pos="100000">
                    <a:srgbClr val="E6E6E6"/>
                  </a:gs>
                </a:gsLst>
                <a:lin ang="2700000" scaled="1"/>
              </a:gradFill>
              <a:ln w="9525">
                <a:solidFill>
                  <a:srgbClr val="C0C0C0"/>
                </a:solidFill>
                <a:miter lim="800000"/>
                <a:headEnd/>
                <a:tailEnd/>
              </a:ln>
            </p:spPr>
            <p:txBody>
              <a:bodyPr wrap="none" anchor="ctr"/>
              <a:lstStyle/>
              <a:p>
                <a:endParaRPr lang="en-US" dirty="0">
                  <a:latin typeface="Helvetica" pitchFamily="34" charset="0"/>
                </a:endParaRPr>
              </a:p>
            </p:txBody>
          </p:sp>
          <p:sp>
            <p:nvSpPr>
              <p:cNvPr id="27" name="AutoShape 23"/>
              <p:cNvSpPr>
                <a:spLocks noChangeArrowheads="1"/>
              </p:cNvSpPr>
              <p:nvPr/>
            </p:nvSpPr>
            <p:spPr bwMode="gray">
              <a:xfrm>
                <a:off x="1200" y="2737"/>
                <a:ext cx="1349" cy="1167"/>
              </a:xfrm>
              <a:prstGeom prst="hexagon">
                <a:avLst>
                  <a:gd name="adj" fmla="val 28896"/>
                  <a:gd name="vf" fmla="val 115470"/>
                </a:avLst>
              </a:prstGeom>
              <a:gradFill rotWithShape="1">
                <a:gsLst>
                  <a:gs pos="0">
                    <a:schemeClr val="hlink">
                      <a:gamma/>
                      <a:shade val="46275"/>
                      <a:invGamma/>
                    </a:schemeClr>
                  </a:gs>
                  <a:gs pos="100000">
                    <a:schemeClr val="hlink"/>
                  </a:gs>
                </a:gsLst>
                <a:lin ang="2700000" scaled="1"/>
              </a:gradFill>
              <a:ln w="9525">
                <a:solidFill>
                  <a:schemeClr val="tx1"/>
                </a:solidFill>
                <a:miter lim="800000"/>
                <a:headEnd/>
                <a:tailEnd/>
              </a:ln>
              <a:effectLst/>
            </p:spPr>
            <p:txBody>
              <a:bodyPr wrap="none" anchor="ctr"/>
              <a:lstStyle/>
              <a:p>
                <a:pPr>
                  <a:defRPr/>
                </a:pPr>
                <a:endParaRPr lang="en-AU" dirty="0">
                  <a:latin typeface="Helvetica" pitchFamily="34" charset="0"/>
                </a:endParaRPr>
              </a:p>
            </p:txBody>
          </p:sp>
        </p:grpSp>
        <p:sp>
          <p:nvSpPr>
            <p:cNvPr id="15" name="Line 24"/>
            <p:cNvSpPr>
              <a:spLocks noChangeShapeType="1"/>
            </p:cNvSpPr>
            <p:nvPr/>
          </p:nvSpPr>
          <p:spPr bwMode="auto">
            <a:xfrm>
              <a:off x="2362200" y="4473575"/>
              <a:ext cx="2268000" cy="0"/>
            </a:xfrm>
            <a:prstGeom prst="line">
              <a:avLst/>
            </a:prstGeom>
            <a:noFill/>
            <a:ln w="25400">
              <a:solidFill>
                <a:schemeClr val="bg2"/>
              </a:solidFill>
              <a:prstDash val="sysDot"/>
              <a:round/>
              <a:headEnd/>
              <a:tailEnd type="oval" w="med" len="med"/>
            </a:ln>
          </p:spPr>
          <p:txBody>
            <a:bodyPr wrap="none" anchor="ctr"/>
            <a:lstStyle/>
            <a:p>
              <a:endParaRPr lang="en-AU" dirty="0">
                <a:latin typeface="Helvetica" pitchFamily="34" charset="0"/>
              </a:endParaRPr>
            </a:p>
          </p:txBody>
        </p:sp>
        <p:sp>
          <p:nvSpPr>
            <p:cNvPr id="16" name="Text Box 25"/>
            <p:cNvSpPr txBox="1">
              <a:spLocks noChangeArrowheads="1"/>
            </p:cNvSpPr>
            <p:nvPr/>
          </p:nvSpPr>
          <p:spPr bwMode="auto">
            <a:xfrm>
              <a:off x="2544688" y="3940175"/>
              <a:ext cx="3194022" cy="430887"/>
            </a:xfrm>
            <a:prstGeom prst="rect">
              <a:avLst/>
            </a:prstGeom>
            <a:noFill/>
            <a:ln w="9525" algn="ctr">
              <a:noFill/>
              <a:miter lim="800000"/>
              <a:headEnd/>
              <a:tailEnd/>
            </a:ln>
          </p:spPr>
          <p:txBody>
            <a:bodyPr wrap="square">
              <a:spAutoFit/>
            </a:bodyPr>
            <a:lstStyle/>
            <a:p>
              <a:pPr marL="360000" indent="-360000">
                <a:spcBef>
                  <a:spcPts val="600"/>
                </a:spcBef>
                <a:spcAft>
                  <a:spcPts val="1200"/>
                </a:spcAft>
              </a:pPr>
              <a:r>
                <a:rPr lang="en-US" sz="2200" dirty="0" smtClean="0">
                  <a:latin typeface="Helvetica" pitchFamily="34" charset="0"/>
                </a:rPr>
                <a:t>Evaluate project</a:t>
              </a:r>
            </a:p>
          </p:txBody>
        </p:sp>
        <p:sp>
          <p:nvSpPr>
            <p:cNvPr id="17" name="Text Box 26"/>
            <p:cNvSpPr txBox="1">
              <a:spLocks noChangeArrowheads="1"/>
            </p:cNvSpPr>
            <p:nvPr/>
          </p:nvSpPr>
          <p:spPr bwMode="gray">
            <a:xfrm>
              <a:off x="1949450" y="3962400"/>
              <a:ext cx="354013" cy="457200"/>
            </a:xfrm>
            <a:prstGeom prst="rect">
              <a:avLst/>
            </a:prstGeom>
            <a:noFill/>
            <a:ln w="9525" algn="ctr">
              <a:noFill/>
              <a:miter lim="800000"/>
              <a:headEnd/>
              <a:tailEnd/>
            </a:ln>
          </p:spPr>
          <p:txBody>
            <a:bodyPr wrap="none">
              <a:spAutoFit/>
            </a:bodyPr>
            <a:lstStyle/>
            <a:p>
              <a:pPr algn="ctr" eaLnBrk="0" hangingPunct="0"/>
              <a:r>
                <a:rPr lang="en-AU" sz="2400" b="1" dirty="0">
                  <a:solidFill>
                    <a:schemeClr val="bg1"/>
                  </a:solidFill>
                  <a:latin typeface="Helvetica" pitchFamily="34" charset="0"/>
                </a:rPr>
                <a:t>3</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t>Assessment for this unit may include:</a:t>
            </a:r>
          </a:p>
          <a:p>
            <a:pPr marL="360000" indent="-360000">
              <a:spcBef>
                <a:spcPts val="600"/>
              </a:spcBef>
              <a:spcAft>
                <a:spcPts val="1200"/>
              </a:spcAft>
              <a:buClr>
                <a:srgbClr val="7FD13B"/>
              </a:buClr>
            </a:pPr>
            <a:r>
              <a:rPr lang="en-US" sz="2200" dirty="0" smtClean="0"/>
              <a:t>Oral questions</a:t>
            </a:r>
          </a:p>
          <a:p>
            <a:pPr marL="360000" indent="-360000">
              <a:spcBef>
                <a:spcPts val="600"/>
              </a:spcBef>
              <a:spcAft>
                <a:spcPts val="1200"/>
              </a:spcAft>
              <a:buClr>
                <a:srgbClr val="7FD13B"/>
              </a:buClr>
            </a:pPr>
            <a:r>
              <a:rPr lang="en-US" sz="2200" dirty="0" smtClean="0"/>
              <a:t>Written questions</a:t>
            </a:r>
          </a:p>
          <a:p>
            <a:pPr marL="360000" indent="-360000">
              <a:spcBef>
                <a:spcPts val="600"/>
              </a:spcBef>
              <a:spcAft>
                <a:spcPts val="1200"/>
              </a:spcAft>
              <a:buClr>
                <a:srgbClr val="7FD13B"/>
              </a:buClr>
            </a:pPr>
            <a:r>
              <a:rPr lang="en-US" sz="2200" dirty="0" smtClean="0"/>
              <a:t>Work projects</a:t>
            </a:r>
          </a:p>
          <a:p>
            <a:pPr marL="360000" indent="-360000">
              <a:spcBef>
                <a:spcPts val="600"/>
              </a:spcBef>
              <a:spcAft>
                <a:spcPts val="1200"/>
              </a:spcAft>
              <a:buClr>
                <a:srgbClr val="7FD13B"/>
              </a:buClr>
            </a:pPr>
            <a:r>
              <a:rPr lang="en-US" sz="2200" dirty="0" smtClean="0"/>
              <a:t>Workplace observation of practical skills</a:t>
            </a:r>
          </a:p>
          <a:p>
            <a:pPr marL="360000" indent="-360000">
              <a:spcBef>
                <a:spcPts val="600"/>
              </a:spcBef>
              <a:spcAft>
                <a:spcPts val="1200"/>
              </a:spcAft>
              <a:buClr>
                <a:srgbClr val="7FD13B"/>
              </a:buClr>
            </a:pPr>
            <a:r>
              <a:rPr lang="en-US" sz="2200" dirty="0" smtClean="0"/>
              <a:t>Practical exercises</a:t>
            </a:r>
          </a:p>
          <a:p>
            <a:pPr marL="360000" indent="-360000">
              <a:spcBef>
                <a:spcPts val="600"/>
              </a:spcBef>
              <a:spcAft>
                <a:spcPts val="1200"/>
              </a:spcAft>
              <a:buClr>
                <a:srgbClr val="7FD13B"/>
              </a:buClr>
            </a:pPr>
            <a:r>
              <a:rPr lang="en-US" sz="2200" dirty="0" smtClean="0"/>
              <a:t>Formal report from employer/supervisor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6477103" y="4005064"/>
            <a:ext cx="1911321" cy="1272394"/>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Plan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5256584"/>
          </a:xfrm>
        </p:spPr>
        <p:txBody>
          <a:bodyPr>
            <a:normAutofit/>
          </a:bodyPr>
          <a:lstStyle/>
          <a:p>
            <a:pPr marL="0" indent="0">
              <a:spcBef>
                <a:spcPts val="600"/>
              </a:spcBef>
              <a:spcAft>
                <a:spcPts val="1000"/>
              </a:spcAft>
              <a:buNone/>
            </a:pPr>
            <a:r>
              <a:rPr lang="en-US" sz="2000" dirty="0" smtClean="0">
                <a:latin typeface="Helvetica" pitchFamily="34" charset="0"/>
              </a:rPr>
              <a:t>Performance Criteria for this Element are:</a:t>
            </a:r>
          </a:p>
          <a:p>
            <a:pPr marL="360000" indent="-360000">
              <a:spcBef>
                <a:spcPts val="600"/>
              </a:spcBef>
              <a:spcAft>
                <a:spcPts val="1000"/>
              </a:spcAft>
            </a:pPr>
            <a:r>
              <a:rPr lang="en-US" sz="2000" dirty="0" smtClean="0">
                <a:latin typeface="Helvetica" pitchFamily="34" charset="0"/>
              </a:rPr>
              <a:t>Develop the objectives and scope of the project in consultation with appropriate colleagues and customers</a:t>
            </a:r>
          </a:p>
          <a:p>
            <a:pPr marL="360000" indent="-360000">
              <a:spcBef>
                <a:spcPts val="600"/>
              </a:spcBef>
              <a:spcAft>
                <a:spcPts val="1000"/>
              </a:spcAft>
            </a:pPr>
            <a:r>
              <a:rPr lang="en-US" sz="2000" dirty="0" smtClean="0">
                <a:latin typeface="Helvetica" pitchFamily="34" charset="0"/>
              </a:rPr>
              <a:t>Determine and develop a resource strategy for the project</a:t>
            </a:r>
          </a:p>
          <a:p>
            <a:pPr marL="360000" indent="-360000">
              <a:spcBef>
                <a:spcPts val="600"/>
              </a:spcBef>
              <a:spcAft>
                <a:spcPts val="1000"/>
              </a:spcAft>
            </a:pPr>
            <a:r>
              <a:rPr lang="en-US" sz="2000" dirty="0" smtClean="0">
                <a:latin typeface="Helvetica" pitchFamily="34" charset="0"/>
              </a:rPr>
              <a:t>Evaluate the financial viability of the project through analysis of key factors</a:t>
            </a:r>
          </a:p>
          <a:p>
            <a:pPr marL="360000" indent="-360000">
              <a:spcBef>
                <a:spcPts val="600"/>
              </a:spcBef>
              <a:spcAft>
                <a:spcPts val="1000"/>
              </a:spcAft>
            </a:pPr>
            <a:r>
              <a:rPr lang="en-US" sz="2000" dirty="0" smtClean="0">
                <a:latin typeface="Helvetica" pitchFamily="34" charset="0"/>
              </a:rPr>
              <a:t>Plan and create an administrative structure for the project</a:t>
            </a:r>
          </a:p>
          <a:p>
            <a:pPr marL="360000" indent="-360000">
              <a:spcBef>
                <a:spcPts val="600"/>
              </a:spcBef>
              <a:spcAft>
                <a:spcPts val="1000"/>
              </a:spcAft>
            </a:pPr>
            <a:r>
              <a:rPr lang="en-US" sz="2000" dirty="0" smtClean="0">
                <a:latin typeface="Helvetica" pitchFamily="34" charset="0"/>
              </a:rPr>
              <a:t>Allocate project responsibilities in agreement with others, and clearly communicate responsibilities to all involved</a:t>
            </a:r>
          </a:p>
          <a:p>
            <a:pPr marL="360000" indent="-360000">
              <a:spcBef>
                <a:spcPts val="600"/>
              </a:spcBef>
              <a:spcAft>
                <a:spcPts val="1000"/>
              </a:spcAft>
            </a:pPr>
            <a:r>
              <a:rPr lang="en-US" sz="2000" dirty="0" smtClean="0">
                <a:latin typeface="Helvetica" pitchFamily="34" charset="0"/>
              </a:rPr>
              <a:t>Plan internal and external communications and public relations and marketing strategies together with appropriate colleagues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Plan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Reach agreement on suitable project evaluation methods</a:t>
            </a:r>
          </a:p>
          <a:p>
            <a:pPr marL="360000" indent="-360000">
              <a:spcBef>
                <a:spcPts val="600"/>
              </a:spcBef>
              <a:spcAft>
                <a:spcPts val="1200"/>
              </a:spcAft>
            </a:pPr>
            <a:r>
              <a:rPr lang="en-US" sz="2200" dirty="0" smtClean="0">
                <a:latin typeface="Helvetica" pitchFamily="34" charset="0"/>
              </a:rPr>
              <a:t>Develop an overall project management plan and communicate plan to appropriate colleagues</a:t>
            </a:r>
          </a:p>
          <a:p>
            <a:pPr marL="360000" indent="-360000">
              <a:spcBef>
                <a:spcPts val="600"/>
              </a:spcBef>
              <a:spcAft>
                <a:spcPts val="1200"/>
              </a:spcAft>
            </a:pPr>
            <a:r>
              <a:rPr lang="en-US" sz="2200" dirty="0" smtClean="0">
                <a:latin typeface="Helvetica" pitchFamily="34" charset="0"/>
              </a:rPr>
              <a:t>Identify key project milestones and communicate </a:t>
            </a:r>
            <a:br>
              <a:rPr lang="en-US" sz="2200" dirty="0" smtClean="0">
                <a:latin typeface="Helvetica" pitchFamily="34" charset="0"/>
              </a:rPr>
            </a:br>
            <a:r>
              <a:rPr lang="en-US" sz="2200" dirty="0" smtClean="0">
                <a:latin typeface="Helvetica" pitchFamily="34" charset="0"/>
              </a:rPr>
              <a:t>these to persons involved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a:t>
            </a:fld>
            <a:endParaRPr lang="en-US" dirty="0"/>
          </a:p>
        </p:txBody>
      </p:sp>
      <p:pic>
        <p:nvPicPr>
          <p:cNvPr id="5" name="Picture 4" descr="MP900422989.JPG"/>
          <p:cNvPicPr>
            <a:picLocks noChangeAspect="1"/>
          </p:cNvPicPr>
          <p:nvPr/>
        </p:nvPicPr>
        <p:blipFill>
          <a:blip r:embed="rId3" cstate="print"/>
          <a:stretch>
            <a:fillRect/>
          </a:stretch>
        </p:blipFill>
        <p:spPr>
          <a:xfrm>
            <a:off x="7042269" y="3573016"/>
            <a:ext cx="1346155" cy="174268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Project management involves:</a:t>
            </a:r>
          </a:p>
          <a:p>
            <a:pPr marL="360000" indent="-360000">
              <a:spcBef>
                <a:spcPts val="600"/>
              </a:spcBef>
              <a:spcAft>
                <a:spcPts val="1200"/>
              </a:spcAft>
            </a:pPr>
            <a:r>
              <a:rPr lang="en-US" sz="2200" dirty="0" smtClean="0">
                <a:latin typeface="Helvetica" pitchFamily="34" charset="0"/>
              </a:rPr>
              <a:t>Planning and preparation</a:t>
            </a:r>
          </a:p>
          <a:p>
            <a:pPr marL="360000" indent="-360000">
              <a:spcBef>
                <a:spcPts val="600"/>
              </a:spcBef>
              <a:spcAft>
                <a:spcPts val="1200"/>
              </a:spcAft>
            </a:pPr>
            <a:r>
              <a:rPr lang="en-US" sz="2200" dirty="0" smtClean="0">
                <a:latin typeface="Helvetica" pitchFamily="34" charset="0"/>
              </a:rPr>
              <a:t>Organising and arranging</a:t>
            </a:r>
          </a:p>
          <a:p>
            <a:pPr marL="360000" indent="-360000">
              <a:spcBef>
                <a:spcPts val="600"/>
              </a:spcBef>
              <a:spcAft>
                <a:spcPts val="1200"/>
              </a:spcAft>
            </a:pPr>
            <a:r>
              <a:rPr lang="en-US" sz="2200" dirty="0" smtClean="0">
                <a:latin typeface="Helvetica" pitchFamily="34" charset="0"/>
              </a:rPr>
              <a:t>Resource identification and administration</a:t>
            </a:r>
          </a:p>
          <a:p>
            <a:pPr marL="360000" indent="-360000">
              <a:spcBef>
                <a:spcPts val="600"/>
              </a:spcBef>
              <a:spcAft>
                <a:spcPts val="1200"/>
              </a:spcAft>
            </a:pPr>
            <a:r>
              <a:rPr lang="en-US" sz="2200" dirty="0" smtClean="0">
                <a:latin typeface="Helvetica" pitchFamily="34" charset="0"/>
              </a:rPr>
              <a:t>Monitoring</a:t>
            </a:r>
          </a:p>
          <a:p>
            <a:pPr marL="360000" indent="-360000">
              <a:spcBef>
                <a:spcPts val="600"/>
              </a:spcBef>
              <a:spcAft>
                <a:spcPts val="1200"/>
              </a:spcAft>
            </a:pPr>
            <a:r>
              <a:rPr lang="en-US" sz="2200" dirty="0" smtClean="0">
                <a:latin typeface="Helvetica" pitchFamily="34" charset="0"/>
              </a:rPr>
              <a:t>Project evaluation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5" name="Picture 4" descr="iStock_000003481066Small.jpg"/>
          <p:cNvPicPr>
            <a:picLocks noChangeAspect="1"/>
          </p:cNvPicPr>
          <p:nvPr/>
        </p:nvPicPr>
        <p:blipFill>
          <a:blip r:embed="rId3" cstate="print"/>
          <a:stretch>
            <a:fillRect/>
          </a:stretch>
        </p:blipFill>
        <p:spPr>
          <a:xfrm>
            <a:off x="6555129" y="4005064"/>
            <a:ext cx="1833295" cy="12150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Characteristics of a project:</a:t>
            </a:r>
          </a:p>
          <a:p>
            <a:pPr marL="360000" indent="-360000">
              <a:spcBef>
                <a:spcPts val="600"/>
              </a:spcBef>
              <a:spcAft>
                <a:spcPts val="1200"/>
              </a:spcAft>
            </a:pPr>
            <a:r>
              <a:rPr lang="en-US" sz="2200" dirty="0" smtClean="0">
                <a:latin typeface="Helvetica" pitchFamily="34" charset="0"/>
              </a:rPr>
              <a:t>They are temporary in nature</a:t>
            </a:r>
          </a:p>
          <a:p>
            <a:pPr marL="360000" indent="-360000">
              <a:spcBef>
                <a:spcPts val="600"/>
              </a:spcBef>
              <a:spcAft>
                <a:spcPts val="1200"/>
              </a:spcAft>
            </a:pPr>
            <a:r>
              <a:rPr lang="en-US" sz="2200" dirty="0" smtClean="0">
                <a:latin typeface="Helvetica" pitchFamily="34" charset="0"/>
              </a:rPr>
              <a:t>They have a beginning and an end</a:t>
            </a:r>
          </a:p>
          <a:p>
            <a:pPr marL="360000" indent="-360000">
              <a:spcBef>
                <a:spcPts val="600"/>
              </a:spcBef>
              <a:spcAft>
                <a:spcPts val="1200"/>
              </a:spcAft>
            </a:pPr>
            <a:r>
              <a:rPr lang="en-US" sz="2200" dirty="0" smtClean="0">
                <a:latin typeface="Helvetica" pitchFamily="34" charset="0"/>
              </a:rPr>
              <a:t>They have stated goals and objectives</a:t>
            </a:r>
          </a:p>
          <a:p>
            <a:pPr marL="360000" indent="-360000">
              <a:spcBef>
                <a:spcPts val="600"/>
              </a:spcBef>
              <a:spcAft>
                <a:spcPts val="1200"/>
              </a:spcAft>
            </a:pPr>
            <a:r>
              <a:rPr lang="en-US" sz="2200" dirty="0" smtClean="0">
                <a:latin typeface="Helvetica" pitchFamily="34" charset="0"/>
              </a:rPr>
              <a:t>They have limitations and constraints</a:t>
            </a:r>
          </a:p>
          <a:p>
            <a:pPr marL="360000" indent="-360000">
              <a:spcBef>
                <a:spcPts val="600"/>
              </a:spcBef>
              <a:spcAft>
                <a:spcPts val="1200"/>
              </a:spcAft>
            </a:pPr>
            <a:r>
              <a:rPr lang="en-US" sz="2200" dirty="0" smtClean="0">
                <a:latin typeface="Helvetica" pitchFamily="34" charset="0"/>
              </a:rPr>
              <a:t>They require collaboration with others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5" name="Picture 4" descr="MC900442125.PNG"/>
          <p:cNvPicPr>
            <a:picLocks noChangeAspect="1"/>
          </p:cNvPicPr>
          <p:nvPr/>
        </p:nvPicPr>
        <p:blipFill>
          <a:blip r:embed="rId3" cstate="print"/>
          <a:stretch>
            <a:fillRect/>
          </a:stretch>
        </p:blipFill>
        <p:spPr>
          <a:xfrm>
            <a:off x="7284184" y="3501008"/>
            <a:ext cx="1144020" cy="17202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‘Small’ projects are limited by one or more of:</a:t>
            </a:r>
          </a:p>
          <a:p>
            <a:pPr marL="360000" indent="-360000">
              <a:spcBef>
                <a:spcPts val="600"/>
              </a:spcBef>
              <a:spcAft>
                <a:spcPts val="1200"/>
              </a:spcAft>
            </a:pPr>
            <a:r>
              <a:rPr lang="en-US" sz="2200" dirty="0" smtClean="0">
                <a:latin typeface="Helvetica" pitchFamily="34" charset="0"/>
              </a:rPr>
              <a:t>Duration</a:t>
            </a:r>
          </a:p>
          <a:p>
            <a:pPr marL="360000" indent="-360000">
              <a:spcBef>
                <a:spcPts val="600"/>
              </a:spcBef>
              <a:spcAft>
                <a:spcPts val="1200"/>
              </a:spcAft>
            </a:pPr>
            <a:r>
              <a:rPr lang="en-US" sz="2200" dirty="0" smtClean="0">
                <a:latin typeface="Helvetica" pitchFamily="34" charset="0"/>
              </a:rPr>
              <a:t>Resources required – physical, human, financial</a:t>
            </a:r>
          </a:p>
          <a:p>
            <a:pPr marL="360000" indent="-360000">
              <a:spcBef>
                <a:spcPts val="600"/>
              </a:spcBef>
              <a:spcAft>
                <a:spcPts val="1200"/>
              </a:spcAft>
            </a:pPr>
            <a:r>
              <a:rPr lang="en-US" sz="2200" dirty="0" smtClean="0">
                <a:latin typeface="Helvetica" pitchFamily="34" charset="0"/>
              </a:rPr>
              <a:t>Information required</a:t>
            </a:r>
          </a:p>
          <a:p>
            <a:pPr marL="360000" indent="-360000">
              <a:spcBef>
                <a:spcPts val="600"/>
              </a:spcBef>
              <a:spcAft>
                <a:spcPts val="1200"/>
              </a:spcAft>
            </a:pPr>
            <a:r>
              <a:rPr lang="en-US" sz="2200" dirty="0" smtClean="0">
                <a:latin typeface="Helvetica" pitchFamily="34" charset="0"/>
              </a:rPr>
              <a:t>Complexity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5" name="Picture 4" descr="MP900442559.JPG"/>
          <p:cNvPicPr>
            <a:picLocks noChangeAspect="1"/>
          </p:cNvPicPr>
          <p:nvPr/>
        </p:nvPicPr>
        <p:blipFill>
          <a:blip r:embed="rId3" cstate="print"/>
          <a:stretch>
            <a:fillRect/>
          </a:stretch>
        </p:blipFill>
        <p:spPr>
          <a:xfrm>
            <a:off x="6660232" y="4077072"/>
            <a:ext cx="1723655" cy="11470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When managing a small project:</a:t>
            </a:r>
          </a:p>
          <a:p>
            <a:pPr marL="360000" indent="-360000">
              <a:spcBef>
                <a:spcPts val="600"/>
              </a:spcBef>
              <a:spcAft>
                <a:spcPts val="1200"/>
              </a:spcAft>
            </a:pPr>
            <a:r>
              <a:rPr lang="en-US" sz="2200" dirty="0" smtClean="0">
                <a:latin typeface="Helvetica" pitchFamily="34" charset="0"/>
              </a:rPr>
              <a:t>You will have to do ‘normal’ duties at the same time</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Major projects have a dedicated PM</a:t>
            </a:r>
          </a:p>
          <a:p>
            <a:pPr marL="360000" indent="-360000">
              <a:spcBef>
                <a:spcPts val="600"/>
              </a:spcBef>
              <a:spcAft>
                <a:spcPts val="1200"/>
              </a:spcAft>
            </a:pPr>
            <a:r>
              <a:rPr lang="en-US" sz="2200" dirty="0" smtClean="0">
                <a:latin typeface="Helvetica" pitchFamily="34" charset="0"/>
              </a:rPr>
              <a:t>You need to be skilled at:</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Time management</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Delegating</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Multi-tasking</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5" name="Picture 4" descr="MC910216353.PNG"/>
          <p:cNvPicPr>
            <a:picLocks noChangeAspect="1"/>
          </p:cNvPicPr>
          <p:nvPr/>
        </p:nvPicPr>
        <p:blipFill>
          <a:blip r:embed="rId3" cstate="print"/>
          <a:stretch>
            <a:fillRect/>
          </a:stretch>
        </p:blipFill>
        <p:spPr>
          <a:xfrm>
            <a:off x="6732240" y="3657124"/>
            <a:ext cx="1583423" cy="167211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632848" cy="4886003"/>
          </a:xfrm>
        </p:spPr>
        <p:txBody>
          <a:bodyPr>
            <a:normAutofit/>
          </a:bodyPr>
          <a:lstStyle/>
          <a:p>
            <a:pPr marL="0" indent="0">
              <a:spcBef>
                <a:spcPts val="600"/>
              </a:spcBef>
              <a:spcAft>
                <a:spcPts val="1200"/>
              </a:spcAft>
              <a:buNone/>
            </a:pPr>
            <a:r>
              <a:rPr lang="en-US" sz="2200" dirty="0" smtClean="0">
                <a:latin typeface="Helvetica" pitchFamily="34" charset="0"/>
              </a:rPr>
              <a:t>Examples of small projects:</a:t>
            </a:r>
          </a:p>
          <a:p>
            <a:pPr marL="360000" indent="-360000">
              <a:spcBef>
                <a:spcPts val="600"/>
              </a:spcBef>
              <a:spcAft>
                <a:spcPts val="1200"/>
              </a:spcAft>
            </a:pPr>
            <a:r>
              <a:rPr lang="en-US" sz="2200" dirty="0" smtClean="0">
                <a:latin typeface="Helvetica" pitchFamily="34" charset="0"/>
              </a:rPr>
              <a:t>Conferences and meetings, promotional events and functions</a:t>
            </a:r>
          </a:p>
          <a:p>
            <a:pPr marL="360000" indent="-360000">
              <a:spcBef>
                <a:spcPts val="600"/>
              </a:spcBef>
              <a:spcAft>
                <a:spcPts val="1200"/>
              </a:spcAft>
            </a:pPr>
            <a:r>
              <a:rPr lang="en-US" sz="2200" dirty="0" smtClean="0">
                <a:latin typeface="Helvetica" pitchFamily="34" charset="0"/>
              </a:rPr>
              <a:t>Introduction of new technology and systems into the workplace</a:t>
            </a:r>
          </a:p>
          <a:p>
            <a:pPr marL="360000" indent="-360000">
              <a:spcBef>
                <a:spcPts val="600"/>
              </a:spcBef>
              <a:spcAft>
                <a:spcPts val="1200"/>
              </a:spcAft>
            </a:pPr>
            <a:r>
              <a:rPr lang="en-US" sz="2200" dirty="0" smtClean="0">
                <a:latin typeface="Helvetica" pitchFamily="34" charset="0"/>
              </a:rPr>
              <a:t>Product development</a:t>
            </a:r>
          </a:p>
          <a:p>
            <a:pPr marL="360000" indent="-360000">
              <a:spcBef>
                <a:spcPts val="600"/>
              </a:spcBef>
              <a:spcAft>
                <a:spcPts val="1200"/>
              </a:spcAft>
            </a:pPr>
            <a:r>
              <a:rPr lang="en-US" sz="2200" dirty="0" smtClean="0">
                <a:latin typeface="Helvetica" pitchFamily="34" charset="0"/>
              </a:rPr>
              <a:t>Research</a:t>
            </a:r>
          </a:p>
          <a:p>
            <a:pPr marL="360000" indent="-360000">
              <a:spcBef>
                <a:spcPts val="600"/>
              </a:spcBef>
              <a:spcAft>
                <a:spcPts val="1200"/>
              </a:spcAft>
            </a:pPr>
            <a:r>
              <a:rPr lang="en-US" sz="2200" dirty="0" smtClean="0">
                <a:latin typeface="Helvetica" pitchFamily="34" charset="0"/>
              </a:rPr>
              <a:t>Ongoing business projects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5" name="Picture 4" descr="MP900422114.JPG"/>
          <p:cNvPicPr>
            <a:picLocks noChangeAspect="1"/>
          </p:cNvPicPr>
          <p:nvPr/>
        </p:nvPicPr>
        <p:blipFill>
          <a:blip r:embed="rId3" cstate="print"/>
          <a:stretch>
            <a:fillRect/>
          </a:stretch>
        </p:blipFill>
        <p:spPr>
          <a:xfrm>
            <a:off x="7092280" y="3861048"/>
            <a:ext cx="1325755" cy="12687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May be a need to consult with:</a:t>
            </a:r>
          </a:p>
          <a:p>
            <a:pPr marL="360000" indent="-360000">
              <a:spcBef>
                <a:spcPts val="600"/>
              </a:spcBef>
              <a:spcAft>
                <a:spcPts val="1200"/>
              </a:spcAft>
            </a:pPr>
            <a:r>
              <a:rPr lang="en-US" sz="2200" dirty="0" smtClean="0">
                <a:latin typeface="Helvetica" pitchFamily="34" charset="0"/>
              </a:rPr>
              <a:t>Other supervisors</a:t>
            </a:r>
          </a:p>
          <a:p>
            <a:pPr marL="360000" indent="-360000">
              <a:spcBef>
                <a:spcPts val="600"/>
              </a:spcBef>
              <a:spcAft>
                <a:spcPts val="1200"/>
              </a:spcAft>
            </a:pPr>
            <a:r>
              <a:rPr lang="en-US" sz="2200" dirty="0" smtClean="0">
                <a:latin typeface="Helvetica" pitchFamily="34" charset="0"/>
              </a:rPr>
              <a:t>Owners and/or managers</a:t>
            </a:r>
          </a:p>
          <a:p>
            <a:pPr marL="360000" indent="-360000">
              <a:spcBef>
                <a:spcPts val="600"/>
              </a:spcBef>
              <a:spcAft>
                <a:spcPts val="1200"/>
              </a:spcAft>
            </a:pPr>
            <a:r>
              <a:rPr lang="en-US" sz="2200" dirty="0" smtClean="0">
                <a:latin typeface="Helvetica" pitchFamily="34" charset="0"/>
              </a:rPr>
              <a:t>Staff</a:t>
            </a:r>
          </a:p>
          <a:p>
            <a:pPr marL="360000" indent="-360000">
              <a:spcBef>
                <a:spcPts val="600"/>
              </a:spcBef>
              <a:spcAft>
                <a:spcPts val="1200"/>
              </a:spcAft>
            </a:pPr>
            <a:r>
              <a:rPr lang="en-US" sz="2200" dirty="0" smtClean="0">
                <a:latin typeface="Helvetica" pitchFamily="34" charset="0"/>
              </a:rPr>
              <a:t>The client</a:t>
            </a:r>
          </a:p>
          <a:p>
            <a:pPr marL="360000" indent="-360000">
              <a:spcBef>
                <a:spcPts val="600"/>
              </a:spcBef>
              <a:spcAft>
                <a:spcPts val="1200"/>
              </a:spcAft>
            </a:pPr>
            <a:r>
              <a:rPr lang="en-US" sz="2200" dirty="0" smtClean="0">
                <a:latin typeface="Helvetica" pitchFamily="34" charset="0"/>
              </a:rPr>
              <a:t>Attendees</a:t>
            </a:r>
          </a:p>
          <a:p>
            <a:pPr marL="360000" indent="-360000">
              <a:spcBef>
                <a:spcPts val="600"/>
              </a:spcBef>
              <a:spcAft>
                <a:spcPts val="1200"/>
              </a:spcAft>
            </a:pPr>
            <a:r>
              <a:rPr lang="en-US" sz="2200" dirty="0" smtClean="0">
                <a:latin typeface="Helvetica" pitchFamily="34" charset="0"/>
              </a:rPr>
              <a:t>Government authorities and agencies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5" name="Picture 4" descr="freeimage-6450622.jpg"/>
          <p:cNvPicPr>
            <a:picLocks noChangeAspect="1"/>
          </p:cNvPicPr>
          <p:nvPr/>
        </p:nvPicPr>
        <p:blipFill>
          <a:blip r:embed="rId3" cstate="print"/>
          <a:stretch>
            <a:fillRect/>
          </a:stretch>
        </p:blipFill>
        <p:spPr>
          <a:xfrm>
            <a:off x="6804248" y="4193161"/>
            <a:ext cx="1547664" cy="1036039"/>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Ways to engage with staff who are involved with project work include:</a:t>
            </a:r>
          </a:p>
          <a:p>
            <a:pPr marL="360000" indent="-360000">
              <a:spcBef>
                <a:spcPts val="600"/>
              </a:spcBef>
              <a:spcAft>
                <a:spcPts val="1200"/>
              </a:spcAft>
            </a:pPr>
            <a:r>
              <a:rPr lang="en-US" sz="2200" dirty="0" smtClean="0">
                <a:latin typeface="Helvetica" pitchFamily="34" charset="0"/>
              </a:rPr>
              <a:t>Develop project teams</a:t>
            </a:r>
          </a:p>
          <a:p>
            <a:pPr marL="360000" indent="-360000">
              <a:spcBef>
                <a:spcPts val="600"/>
              </a:spcBef>
              <a:spcAft>
                <a:spcPts val="1200"/>
              </a:spcAft>
            </a:pPr>
            <a:r>
              <a:rPr lang="en-US" sz="2200" dirty="0" smtClean="0">
                <a:latin typeface="Helvetica" pitchFamily="34" charset="0"/>
              </a:rPr>
              <a:t>Discuss issues at staff meetings and briefings</a:t>
            </a:r>
          </a:p>
          <a:p>
            <a:pPr marL="360000" indent="-360000">
              <a:spcBef>
                <a:spcPts val="600"/>
              </a:spcBef>
              <a:spcAft>
                <a:spcPts val="1200"/>
              </a:spcAft>
            </a:pPr>
            <a:r>
              <a:rPr lang="en-US" sz="2200" dirty="0" smtClean="0">
                <a:latin typeface="Helvetica" pitchFamily="34" charset="0"/>
              </a:rPr>
              <a:t>Hold special meetings just for the project</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5" name="Picture 4" descr="iStock_000002750643Large.jpg"/>
          <p:cNvPicPr>
            <a:picLocks noChangeAspect="1"/>
          </p:cNvPicPr>
          <p:nvPr/>
        </p:nvPicPr>
        <p:blipFill>
          <a:blip r:embed="rId3" cstate="print"/>
          <a:stretch>
            <a:fillRect/>
          </a:stretch>
        </p:blipFill>
        <p:spPr>
          <a:xfrm>
            <a:off x="6732240" y="3717032"/>
            <a:ext cx="1715707" cy="1510229"/>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Involve staff with previous project experience</a:t>
            </a:r>
          </a:p>
          <a:p>
            <a:pPr marL="360000" indent="-360000">
              <a:spcBef>
                <a:spcPts val="600"/>
              </a:spcBef>
              <a:spcAft>
                <a:spcPts val="1200"/>
              </a:spcAft>
            </a:pPr>
            <a:r>
              <a:rPr lang="en-US" sz="2200" dirty="0" smtClean="0">
                <a:latin typeface="Helvetica" pitchFamily="34" charset="0"/>
              </a:rPr>
              <a:t>Invite staff to participate</a:t>
            </a:r>
          </a:p>
          <a:p>
            <a:pPr marL="360000" indent="-360000">
              <a:spcBef>
                <a:spcPts val="600"/>
              </a:spcBef>
              <a:spcAft>
                <a:spcPts val="1200"/>
              </a:spcAft>
            </a:pPr>
            <a:r>
              <a:rPr lang="en-US" sz="2200" dirty="0" smtClean="0">
                <a:latin typeface="Helvetica" pitchFamily="34" charset="0"/>
              </a:rPr>
              <a:t>Pay staff to participate</a:t>
            </a:r>
          </a:p>
          <a:p>
            <a:pPr marL="360000" indent="-360000">
              <a:spcBef>
                <a:spcPts val="600"/>
              </a:spcBef>
              <a:spcAft>
                <a:spcPts val="1200"/>
              </a:spcAft>
            </a:pPr>
            <a:r>
              <a:rPr lang="en-US" sz="2200" dirty="0" smtClean="0">
                <a:latin typeface="Helvetica" pitchFamily="34" charset="0"/>
              </a:rPr>
              <a:t>Thank people</a:t>
            </a:r>
          </a:p>
          <a:p>
            <a:pPr marL="360000" indent="-360000">
              <a:spcBef>
                <a:spcPts val="600"/>
              </a:spcBef>
              <a:spcAft>
                <a:spcPts val="1200"/>
              </a:spcAft>
            </a:pPr>
            <a:r>
              <a:rPr lang="en-US" sz="2200" dirty="0" smtClean="0">
                <a:latin typeface="Helvetica" pitchFamily="34" charset="0"/>
              </a:rPr>
              <a:t>Recognise and acknowledge contributions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5" name="Picture 4" descr="MP900411841.JPG"/>
          <p:cNvPicPr>
            <a:picLocks noChangeAspect="1"/>
          </p:cNvPicPr>
          <p:nvPr/>
        </p:nvPicPr>
        <p:blipFill>
          <a:blip r:embed="rId3" cstate="print"/>
          <a:stretch>
            <a:fillRect/>
          </a:stretch>
        </p:blipFill>
        <p:spPr>
          <a:xfrm>
            <a:off x="6732240" y="3573016"/>
            <a:ext cx="1634654" cy="1634654"/>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‘Project scope’:</a:t>
            </a:r>
          </a:p>
          <a:p>
            <a:pPr marL="360000" indent="-360000">
              <a:spcBef>
                <a:spcPts val="600"/>
              </a:spcBef>
              <a:spcAft>
                <a:spcPts val="1200"/>
              </a:spcAft>
            </a:pPr>
            <a:r>
              <a:rPr lang="en-US" sz="2200" dirty="0" smtClean="0">
                <a:latin typeface="Helvetica" pitchFamily="34" charset="0"/>
              </a:rPr>
              <a:t>Sets out scope of the project</a:t>
            </a:r>
          </a:p>
          <a:p>
            <a:pPr marL="360000" indent="-360000">
              <a:spcBef>
                <a:spcPts val="600"/>
              </a:spcBef>
              <a:spcAft>
                <a:spcPts val="1200"/>
              </a:spcAft>
            </a:pPr>
            <a:r>
              <a:rPr lang="en-US" sz="2200" dirty="0" smtClean="0">
                <a:latin typeface="Helvetica" pitchFamily="34" charset="0"/>
              </a:rPr>
              <a:t>Identifies tasks and deliverables for the project</a:t>
            </a:r>
          </a:p>
          <a:p>
            <a:pPr marL="360000" indent="-360000">
              <a:spcBef>
                <a:spcPts val="600"/>
              </a:spcBef>
              <a:spcAft>
                <a:spcPts val="1200"/>
              </a:spcAft>
            </a:pPr>
            <a:r>
              <a:rPr lang="en-US" sz="2200" dirty="0" smtClean="0">
                <a:latin typeface="Helvetica" pitchFamily="34" charset="0"/>
              </a:rPr>
              <a:t>Spells out your responsibility for the project</a:t>
            </a:r>
          </a:p>
          <a:p>
            <a:pPr marL="360000" indent="-360000">
              <a:spcBef>
                <a:spcPts val="600"/>
              </a:spcBef>
              <a:spcAft>
                <a:spcPts val="1200"/>
              </a:spcAft>
            </a:pPr>
            <a:r>
              <a:rPr lang="en-US" sz="2200" dirty="0" smtClean="0">
                <a:latin typeface="Helvetica" pitchFamily="34" charset="0"/>
              </a:rPr>
              <a:t>The budget for the project is based on this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5" name="Picture 4" descr="MP900423037.JPG"/>
          <p:cNvPicPr>
            <a:picLocks noChangeAspect="1"/>
          </p:cNvPicPr>
          <p:nvPr/>
        </p:nvPicPr>
        <p:blipFill>
          <a:blip r:embed="rId3" cstate="print"/>
          <a:stretch>
            <a:fillRect/>
          </a:stretch>
        </p:blipFill>
        <p:spPr>
          <a:xfrm>
            <a:off x="6804248" y="3645024"/>
            <a:ext cx="1628800" cy="1628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Contents of ‘Project scope statement’:</a:t>
            </a:r>
          </a:p>
          <a:p>
            <a:pPr marL="360000" indent="-360000">
              <a:spcBef>
                <a:spcPts val="600"/>
              </a:spcBef>
              <a:spcAft>
                <a:spcPts val="1200"/>
              </a:spcAft>
            </a:pPr>
            <a:r>
              <a:rPr lang="en-US" sz="2200" dirty="0" smtClean="0">
                <a:latin typeface="Helvetica" pitchFamily="34" charset="0"/>
              </a:rPr>
              <a:t>Justification or rationale for the project</a:t>
            </a:r>
          </a:p>
          <a:p>
            <a:pPr marL="360000" indent="-360000">
              <a:spcBef>
                <a:spcPts val="600"/>
              </a:spcBef>
              <a:spcAft>
                <a:spcPts val="1200"/>
              </a:spcAft>
            </a:pPr>
            <a:r>
              <a:rPr lang="en-US" sz="2200" dirty="0" smtClean="0">
                <a:latin typeface="Helvetica" pitchFamily="34" charset="0"/>
              </a:rPr>
              <a:t>Deliverables</a:t>
            </a:r>
          </a:p>
          <a:p>
            <a:pPr marL="360000" indent="-360000">
              <a:spcBef>
                <a:spcPts val="600"/>
              </a:spcBef>
              <a:spcAft>
                <a:spcPts val="1200"/>
              </a:spcAft>
            </a:pPr>
            <a:r>
              <a:rPr lang="en-US" sz="2200" dirty="0" smtClean="0">
                <a:latin typeface="Helvetica" pitchFamily="34" charset="0"/>
              </a:rPr>
              <a:t>Name of client or delegating or funding body</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5" name="Picture 4" descr="freeimage-14712285.jpg"/>
          <p:cNvPicPr>
            <a:picLocks noChangeAspect="1"/>
          </p:cNvPicPr>
          <p:nvPr/>
        </p:nvPicPr>
        <p:blipFill>
          <a:blip r:embed="rId3" cstate="print"/>
          <a:stretch>
            <a:fillRect/>
          </a:stretch>
        </p:blipFill>
        <p:spPr>
          <a:xfrm>
            <a:off x="6228184" y="3789040"/>
            <a:ext cx="2159327" cy="14341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SMART Objectives: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Quantifiable outcomes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Budget</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Quality indicators</a:t>
            </a:r>
          </a:p>
          <a:p>
            <a:pPr marL="360000" indent="-360000">
              <a:spcBef>
                <a:spcPts val="600"/>
              </a:spcBef>
              <a:spcAft>
                <a:spcPts val="1200"/>
              </a:spcAft>
            </a:pPr>
            <a:r>
              <a:rPr lang="en-US" sz="2200" dirty="0" smtClean="0">
                <a:latin typeface="Helvetica" pitchFamily="34" charset="0"/>
              </a:rPr>
              <a:t>Risks</a:t>
            </a:r>
          </a:p>
          <a:p>
            <a:pPr marL="360000" indent="-360000">
              <a:spcBef>
                <a:spcPts val="600"/>
              </a:spcBef>
              <a:spcAft>
                <a:spcPts val="1200"/>
              </a:spcAft>
            </a:pPr>
            <a:r>
              <a:rPr lang="en-US" sz="2200" dirty="0" smtClean="0">
                <a:latin typeface="Helvetica" pitchFamily="34" charset="0"/>
              </a:rPr>
              <a:t>Project management details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5" name="Picture 4" descr="MP900341915.JPG"/>
          <p:cNvPicPr>
            <a:picLocks noChangeAspect="1"/>
          </p:cNvPicPr>
          <p:nvPr/>
        </p:nvPicPr>
        <p:blipFill>
          <a:blip r:embed="rId3" cstate="print"/>
          <a:stretch>
            <a:fillRect/>
          </a:stretch>
        </p:blipFill>
        <p:spPr>
          <a:xfrm>
            <a:off x="6444208" y="3871129"/>
            <a:ext cx="1972816" cy="140727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Other project documentation you may need to read may include:</a:t>
            </a:r>
          </a:p>
          <a:p>
            <a:pPr marL="360000" indent="-360000">
              <a:spcBef>
                <a:spcPts val="600"/>
              </a:spcBef>
              <a:spcAft>
                <a:spcPts val="1200"/>
              </a:spcAft>
            </a:pPr>
            <a:r>
              <a:rPr lang="en-US" sz="2200" dirty="0" smtClean="0">
                <a:latin typeface="Helvetica" pitchFamily="34" charset="0"/>
              </a:rPr>
              <a:t>Contracts already entered into by the venue</a:t>
            </a:r>
          </a:p>
          <a:p>
            <a:pPr marL="360000" indent="-360000">
              <a:spcBef>
                <a:spcPts val="600"/>
              </a:spcBef>
              <a:spcAft>
                <a:spcPts val="1200"/>
              </a:spcAft>
            </a:pPr>
            <a:r>
              <a:rPr lang="en-US" sz="2200" dirty="0" smtClean="0">
                <a:latin typeface="Helvetica" pitchFamily="34" charset="0"/>
              </a:rPr>
              <a:t>Other agreements</a:t>
            </a:r>
          </a:p>
          <a:p>
            <a:pPr marL="360000" indent="-360000">
              <a:spcBef>
                <a:spcPts val="600"/>
              </a:spcBef>
              <a:spcAft>
                <a:spcPts val="1200"/>
              </a:spcAft>
            </a:pPr>
            <a:r>
              <a:rPr lang="en-US" sz="2200" dirty="0" smtClean="0">
                <a:latin typeface="Helvetica" pitchFamily="34" charset="0"/>
              </a:rPr>
              <a:t>Project brief</a:t>
            </a:r>
          </a:p>
          <a:p>
            <a:pPr marL="360000" indent="-360000">
              <a:spcBef>
                <a:spcPts val="600"/>
              </a:spcBef>
              <a:spcAft>
                <a:spcPts val="1200"/>
              </a:spcAft>
            </a:pPr>
            <a:r>
              <a:rPr lang="en-US" sz="2200" dirty="0" smtClean="0">
                <a:latin typeface="Helvetica" pitchFamily="34" charset="0"/>
              </a:rPr>
              <a:t>Project management plan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5" name="Picture 4" descr="freeimage-3218677.jpg"/>
          <p:cNvPicPr>
            <a:picLocks noChangeAspect="1"/>
          </p:cNvPicPr>
          <p:nvPr/>
        </p:nvPicPr>
        <p:blipFill>
          <a:blip r:embed="rId3" cstate="print"/>
          <a:stretch>
            <a:fillRect/>
          </a:stretch>
        </p:blipFill>
        <p:spPr>
          <a:xfrm>
            <a:off x="6444208" y="3789040"/>
            <a:ext cx="1955709" cy="146678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Ensure you seek clarification about the project from (as applicable):</a:t>
            </a:r>
          </a:p>
          <a:p>
            <a:pPr marL="360000" indent="-360000">
              <a:spcBef>
                <a:spcPts val="600"/>
              </a:spcBef>
              <a:spcAft>
                <a:spcPts val="1200"/>
              </a:spcAft>
            </a:pPr>
            <a:r>
              <a:rPr lang="en-US" sz="2200" dirty="0" smtClean="0">
                <a:latin typeface="Helvetica" pitchFamily="34" charset="0"/>
              </a:rPr>
              <a:t>Delegating authority</a:t>
            </a:r>
          </a:p>
          <a:p>
            <a:pPr marL="360000" indent="-360000">
              <a:spcBef>
                <a:spcPts val="600"/>
              </a:spcBef>
              <a:spcAft>
                <a:spcPts val="1200"/>
              </a:spcAft>
            </a:pPr>
            <a:r>
              <a:rPr lang="en-US" sz="2200" dirty="0" smtClean="0">
                <a:latin typeface="Helvetica" pitchFamily="34" charset="0"/>
              </a:rPr>
              <a:t>Funding body</a:t>
            </a:r>
          </a:p>
          <a:p>
            <a:pPr marL="360000" indent="-360000">
              <a:spcBef>
                <a:spcPts val="600"/>
              </a:spcBef>
              <a:spcAft>
                <a:spcPts val="1200"/>
              </a:spcAft>
            </a:pPr>
            <a:r>
              <a:rPr lang="en-US" sz="2200" dirty="0" smtClean="0">
                <a:latin typeface="Helvetica" pitchFamily="34" charset="0"/>
              </a:rPr>
              <a:t>Management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5" name="Picture 4" descr="MP900387473.JPG"/>
          <p:cNvPicPr>
            <a:picLocks noChangeAspect="1"/>
          </p:cNvPicPr>
          <p:nvPr/>
        </p:nvPicPr>
        <p:blipFill>
          <a:blip r:embed="rId3" cstate="print"/>
          <a:stretch>
            <a:fillRect/>
          </a:stretch>
        </p:blipFill>
        <p:spPr>
          <a:xfrm>
            <a:off x="7020272" y="3356992"/>
            <a:ext cx="1355910" cy="190080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Clarify project parameters in regard to:</a:t>
            </a:r>
          </a:p>
          <a:p>
            <a:pPr marL="360000" indent="-360000">
              <a:spcBef>
                <a:spcPts val="600"/>
              </a:spcBef>
              <a:spcAft>
                <a:spcPts val="1200"/>
              </a:spcAft>
            </a:pPr>
            <a:r>
              <a:rPr lang="en-US" sz="2200" dirty="0" smtClean="0">
                <a:latin typeface="Helvetica" pitchFamily="34" charset="0"/>
              </a:rPr>
              <a:t>Clarify ambiguity</a:t>
            </a:r>
          </a:p>
          <a:p>
            <a:pPr marL="360000" indent="-360000">
              <a:spcBef>
                <a:spcPts val="600"/>
              </a:spcBef>
              <a:spcAft>
                <a:spcPts val="1200"/>
              </a:spcAft>
            </a:pPr>
            <a:r>
              <a:rPr lang="en-US" sz="2200" dirty="0" smtClean="0">
                <a:latin typeface="Helvetica" pitchFamily="34" charset="0"/>
              </a:rPr>
              <a:t>Resolve uncertainty</a:t>
            </a:r>
          </a:p>
          <a:p>
            <a:pPr marL="360000" indent="-360000">
              <a:spcBef>
                <a:spcPts val="600"/>
              </a:spcBef>
              <a:spcAft>
                <a:spcPts val="1200"/>
              </a:spcAft>
            </a:pPr>
            <a:r>
              <a:rPr lang="en-US" sz="2200" dirty="0" smtClean="0">
                <a:latin typeface="Helvetica" pitchFamily="34" charset="0"/>
              </a:rPr>
              <a:t>Determine sequencing and priorities</a:t>
            </a:r>
          </a:p>
          <a:p>
            <a:pPr marL="360000" indent="-360000">
              <a:spcBef>
                <a:spcPts val="600"/>
              </a:spcBef>
              <a:spcAft>
                <a:spcPts val="1200"/>
              </a:spcAft>
            </a:pPr>
            <a:r>
              <a:rPr lang="en-US" sz="2200" dirty="0" smtClean="0">
                <a:latin typeface="Helvetica" pitchFamily="34" charset="0"/>
              </a:rPr>
              <a:t>Determine inclusions</a:t>
            </a:r>
          </a:p>
          <a:p>
            <a:pPr marL="360000" indent="-360000">
              <a:spcBef>
                <a:spcPts val="600"/>
              </a:spcBef>
              <a:spcAft>
                <a:spcPts val="1200"/>
              </a:spcAft>
            </a:pPr>
            <a:r>
              <a:rPr lang="en-US" sz="2200" dirty="0" smtClean="0">
                <a:latin typeface="Helvetica" pitchFamily="34" charset="0"/>
              </a:rPr>
              <a:t>Discuss resources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5" name="Picture 4" descr="MC900429205.WMF"/>
          <p:cNvPicPr>
            <a:picLocks noChangeAspect="1"/>
          </p:cNvPicPr>
          <p:nvPr/>
        </p:nvPicPr>
        <p:blipFill>
          <a:blip r:embed="rId3" cstate="print"/>
          <a:stretch>
            <a:fillRect/>
          </a:stretch>
        </p:blipFill>
        <p:spPr>
          <a:xfrm>
            <a:off x="7020272" y="3789040"/>
            <a:ext cx="1440146" cy="146510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Integration of this project with others</a:t>
            </a:r>
          </a:p>
          <a:p>
            <a:pPr marL="360000" indent="-360000">
              <a:spcBef>
                <a:spcPts val="600"/>
              </a:spcBef>
              <a:spcAft>
                <a:spcPts val="1200"/>
              </a:spcAft>
            </a:pPr>
            <a:r>
              <a:rPr lang="en-US" sz="2200" dirty="0" smtClean="0">
                <a:latin typeface="Helvetica" pitchFamily="34" charset="0"/>
              </a:rPr>
              <a:t>Research undertaken</a:t>
            </a:r>
          </a:p>
          <a:p>
            <a:pPr marL="360000" indent="-360000">
              <a:spcBef>
                <a:spcPts val="600"/>
              </a:spcBef>
              <a:spcAft>
                <a:spcPts val="1200"/>
              </a:spcAft>
            </a:pPr>
            <a:r>
              <a:rPr lang="en-US" sz="2200" dirty="0" smtClean="0">
                <a:latin typeface="Helvetica" pitchFamily="34" charset="0"/>
              </a:rPr>
              <a:t>Procurement protocols</a:t>
            </a:r>
          </a:p>
          <a:p>
            <a:pPr marL="360000" indent="-360000">
              <a:spcBef>
                <a:spcPts val="600"/>
              </a:spcBef>
              <a:spcAft>
                <a:spcPts val="1200"/>
              </a:spcAft>
            </a:pPr>
            <a:r>
              <a:rPr lang="en-US" sz="2200" dirty="0" smtClean="0">
                <a:latin typeface="Helvetica" pitchFamily="34" charset="0"/>
              </a:rPr>
              <a:t>Reporting requirements</a:t>
            </a:r>
          </a:p>
          <a:p>
            <a:pPr marL="360000" indent="-360000">
              <a:spcBef>
                <a:spcPts val="600"/>
              </a:spcBef>
              <a:spcAft>
                <a:spcPts val="1200"/>
              </a:spcAft>
            </a:pPr>
            <a:r>
              <a:rPr lang="en-US" sz="2200" dirty="0" smtClean="0">
                <a:latin typeface="Helvetica" pitchFamily="34" charset="0"/>
              </a:rPr>
              <a:t>Risk analysis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5" name="Picture 4" descr="freeimage-4111316.jpg"/>
          <p:cNvPicPr>
            <a:picLocks noChangeAspect="1"/>
          </p:cNvPicPr>
          <p:nvPr/>
        </p:nvPicPr>
        <p:blipFill>
          <a:blip r:embed="rId3" cstate="print"/>
          <a:stretch>
            <a:fillRect/>
          </a:stretch>
        </p:blipFill>
        <p:spPr>
          <a:xfrm>
            <a:off x="6588224" y="3789040"/>
            <a:ext cx="1722335" cy="125461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Determine your personal limits. These may be:</a:t>
            </a:r>
          </a:p>
          <a:p>
            <a:pPr marL="360000" indent="-360000">
              <a:spcBef>
                <a:spcPts val="600"/>
              </a:spcBef>
              <a:spcAft>
                <a:spcPts val="1200"/>
              </a:spcAft>
            </a:pPr>
            <a:r>
              <a:rPr lang="en-US" sz="2200" dirty="0" smtClean="0">
                <a:latin typeface="Helvetica" pitchFamily="34" charset="0"/>
              </a:rPr>
              <a:t>Normal ‘scope of responsibility’</a:t>
            </a:r>
          </a:p>
          <a:p>
            <a:pPr marL="360000" indent="-360000">
              <a:spcBef>
                <a:spcPts val="600"/>
              </a:spcBef>
              <a:spcAft>
                <a:spcPts val="1200"/>
              </a:spcAft>
            </a:pPr>
            <a:r>
              <a:rPr lang="en-US" sz="2200" dirty="0" smtClean="0">
                <a:latin typeface="Helvetica" pitchFamily="34" charset="0"/>
              </a:rPr>
              <a:t>Extra authority as appropriate:</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To access data</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To spend money</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To attend meetings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To give directions</a:t>
            </a:r>
            <a:br>
              <a:rPr lang="en-US" sz="2200" dirty="0" smtClean="0">
                <a:latin typeface="Helvetica" pitchFamily="34" charset="0"/>
              </a:rPr>
            </a:br>
            <a:endParaRPr lang="en-US" sz="2200" dirty="0" smtClean="0">
              <a:latin typeface="Helvetica" pitchFamily="34" charset="0"/>
            </a:endParaRPr>
          </a:p>
          <a:p>
            <a:pPr marL="360000" indent="-360000" algn="ctr">
              <a:spcBef>
                <a:spcPts val="600"/>
              </a:spcBef>
              <a:spcAft>
                <a:spcPts val="1200"/>
              </a:spcAft>
              <a:buNone/>
            </a:pPr>
            <a:r>
              <a:rPr lang="en-US" sz="2200" i="1" dirty="0" smtClean="0">
                <a:latin typeface="Helvetica" pitchFamily="34" charset="0"/>
              </a:rPr>
              <a:t>Never assume you have authority.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5" name="Picture 4" descr="MP900407205.JPG"/>
          <p:cNvPicPr>
            <a:picLocks noChangeAspect="1"/>
          </p:cNvPicPr>
          <p:nvPr/>
        </p:nvPicPr>
        <p:blipFill>
          <a:blip r:embed="rId3" cstate="print"/>
          <a:stretch>
            <a:fillRect/>
          </a:stretch>
        </p:blipFill>
        <p:spPr>
          <a:xfrm>
            <a:off x="6372200" y="3605618"/>
            <a:ext cx="2023136" cy="162358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Reporting requirements for project:</a:t>
            </a:r>
          </a:p>
          <a:p>
            <a:pPr marL="360000" indent="-360000">
              <a:spcBef>
                <a:spcPts val="600"/>
              </a:spcBef>
              <a:spcAft>
                <a:spcPts val="1200"/>
              </a:spcAft>
            </a:pPr>
            <a:r>
              <a:rPr lang="en-US" sz="2200" dirty="0" smtClean="0">
                <a:latin typeface="Helvetica" pitchFamily="34" charset="0"/>
              </a:rPr>
              <a:t>Attention to detail</a:t>
            </a:r>
          </a:p>
          <a:p>
            <a:pPr marL="360000" indent="-360000">
              <a:spcBef>
                <a:spcPts val="600"/>
              </a:spcBef>
              <a:spcAft>
                <a:spcPts val="1200"/>
              </a:spcAft>
            </a:pPr>
            <a:r>
              <a:rPr lang="en-US" sz="2200" dirty="0" smtClean="0">
                <a:latin typeface="Helvetica" pitchFamily="34" charset="0"/>
              </a:rPr>
              <a:t>Truth and honesty</a:t>
            </a:r>
          </a:p>
          <a:p>
            <a:pPr marL="360000" indent="-360000">
              <a:spcBef>
                <a:spcPts val="600"/>
              </a:spcBef>
              <a:spcAft>
                <a:spcPts val="1200"/>
              </a:spcAft>
            </a:pPr>
            <a:r>
              <a:rPr lang="en-US" sz="2200" dirty="0" smtClean="0">
                <a:latin typeface="Helvetica" pitchFamily="34" charset="0"/>
              </a:rPr>
              <a:t>Timely production of reports</a:t>
            </a:r>
          </a:p>
          <a:p>
            <a:pPr marL="360000" indent="-360000">
              <a:spcBef>
                <a:spcPts val="600"/>
              </a:spcBef>
              <a:spcAft>
                <a:spcPts val="1200"/>
              </a:spcAft>
            </a:pPr>
            <a:r>
              <a:rPr lang="en-US" sz="2200" dirty="0" smtClean="0">
                <a:latin typeface="Helvetica" pitchFamily="34" charset="0"/>
              </a:rPr>
              <a:t>Reference to evidence</a:t>
            </a:r>
          </a:p>
          <a:p>
            <a:pPr marL="360000" indent="-360000">
              <a:spcBef>
                <a:spcPts val="600"/>
              </a:spcBef>
              <a:spcAft>
                <a:spcPts val="1200"/>
              </a:spcAft>
            </a:pPr>
            <a:r>
              <a:rPr lang="en-US" sz="2200" dirty="0" smtClean="0">
                <a:latin typeface="Helvetica" pitchFamily="34" charset="0"/>
              </a:rPr>
              <a:t>Comparison of actual achievements </a:t>
            </a:r>
            <a:br>
              <a:rPr lang="en-US" sz="2200" dirty="0" smtClean="0">
                <a:latin typeface="Helvetica" pitchFamily="34" charset="0"/>
              </a:rPr>
            </a:br>
            <a:r>
              <a:rPr lang="en-US" sz="2200" dirty="0" smtClean="0">
                <a:latin typeface="Helvetica" pitchFamily="34" charset="0"/>
              </a:rPr>
              <a:t>against projections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5" name="Picture 4" descr="iStock_000002364450Medium.jpg"/>
          <p:cNvPicPr>
            <a:picLocks noChangeAspect="1"/>
          </p:cNvPicPr>
          <p:nvPr/>
        </p:nvPicPr>
        <p:blipFill>
          <a:blip r:embed="rId3" cstate="print"/>
          <a:stretch>
            <a:fillRect/>
          </a:stretch>
        </p:blipFill>
        <p:spPr>
          <a:xfrm>
            <a:off x="7020272" y="3068960"/>
            <a:ext cx="1386874" cy="20852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Issues arising</a:t>
            </a:r>
          </a:p>
          <a:p>
            <a:pPr marL="360000" indent="-360000">
              <a:spcBef>
                <a:spcPts val="600"/>
              </a:spcBef>
              <a:spcAft>
                <a:spcPts val="1200"/>
              </a:spcAft>
            </a:pPr>
            <a:r>
              <a:rPr lang="en-US" sz="2200" dirty="0" smtClean="0">
                <a:latin typeface="Helvetica" pitchFamily="34" charset="0"/>
              </a:rPr>
              <a:t>Need for extra resources</a:t>
            </a:r>
          </a:p>
          <a:p>
            <a:pPr marL="360000" indent="-360000">
              <a:spcBef>
                <a:spcPts val="600"/>
              </a:spcBef>
              <a:spcAft>
                <a:spcPts val="1200"/>
              </a:spcAft>
            </a:pPr>
            <a:r>
              <a:rPr lang="en-US" sz="2200" dirty="0" smtClean="0">
                <a:latin typeface="Helvetica" pitchFamily="34" charset="0"/>
              </a:rPr>
              <a:t>Timing issues</a:t>
            </a:r>
          </a:p>
          <a:p>
            <a:pPr marL="360000" indent="-360000">
              <a:spcBef>
                <a:spcPts val="600"/>
              </a:spcBef>
              <a:spcAft>
                <a:spcPts val="1200"/>
              </a:spcAft>
            </a:pPr>
            <a:r>
              <a:rPr lang="en-US" sz="2200" dirty="0" smtClean="0">
                <a:latin typeface="Helvetica" pitchFamily="34" charset="0"/>
              </a:rPr>
              <a:t>Q and A session</a:t>
            </a:r>
          </a:p>
          <a:p>
            <a:pPr marL="360000" indent="-360000">
              <a:spcBef>
                <a:spcPts val="600"/>
              </a:spcBef>
              <a:spcAft>
                <a:spcPts val="1200"/>
              </a:spcAft>
            </a:pPr>
            <a:r>
              <a:rPr lang="en-US" sz="2200" dirty="0" smtClean="0">
                <a:latin typeface="Helvetica" pitchFamily="34" charset="0"/>
              </a:rPr>
              <a:t>Only provided to those on the approved </a:t>
            </a:r>
            <a:br>
              <a:rPr lang="en-US" sz="2200" dirty="0" smtClean="0">
                <a:latin typeface="Helvetica" pitchFamily="34" charset="0"/>
              </a:rPr>
            </a:br>
            <a:r>
              <a:rPr lang="en-US" sz="2200" dirty="0" smtClean="0">
                <a:latin typeface="Helvetica" pitchFamily="34" charset="0"/>
              </a:rPr>
              <a:t>‘Distribution List’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5" name="Picture 4" descr="MP900411841.JPG"/>
          <p:cNvPicPr>
            <a:picLocks noChangeAspect="1"/>
          </p:cNvPicPr>
          <p:nvPr/>
        </p:nvPicPr>
        <p:blipFill>
          <a:blip r:embed="rId3" cstate="print"/>
          <a:stretch>
            <a:fillRect/>
          </a:stretch>
        </p:blipFill>
        <p:spPr>
          <a:xfrm>
            <a:off x="6804248" y="2924944"/>
            <a:ext cx="1567766" cy="234888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Reporting frequency may be:</a:t>
            </a:r>
          </a:p>
          <a:p>
            <a:pPr marL="360000" indent="-360000">
              <a:spcBef>
                <a:spcPts val="600"/>
              </a:spcBef>
              <a:spcAft>
                <a:spcPts val="1200"/>
              </a:spcAft>
            </a:pPr>
            <a:r>
              <a:rPr lang="en-US" sz="2200" dirty="0" smtClean="0">
                <a:latin typeface="Helvetica" pitchFamily="34" charset="0"/>
              </a:rPr>
              <a:t>Daily</a:t>
            </a:r>
          </a:p>
          <a:p>
            <a:pPr marL="360000" indent="-360000">
              <a:spcBef>
                <a:spcPts val="600"/>
              </a:spcBef>
              <a:spcAft>
                <a:spcPts val="1200"/>
              </a:spcAft>
            </a:pPr>
            <a:r>
              <a:rPr lang="en-US" sz="2200" dirty="0" smtClean="0">
                <a:latin typeface="Helvetica" pitchFamily="34" charset="0"/>
              </a:rPr>
              <a:t>Nominated meetings</a:t>
            </a:r>
          </a:p>
          <a:p>
            <a:pPr marL="360000" indent="-360000">
              <a:spcBef>
                <a:spcPts val="600"/>
              </a:spcBef>
              <a:spcAft>
                <a:spcPts val="1200"/>
              </a:spcAft>
            </a:pPr>
            <a:r>
              <a:rPr lang="en-US" sz="2200" dirty="0" smtClean="0">
                <a:latin typeface="Helvetica" pitchFamily="34" charset="0"/>
              </a:rPr>
              <a:t>‘As required’</a:t>
            </a:r>
          </a:p>
          <a:p>
            <a:pPr marL="360000" indent="-360000">
              <a:spcBef>
                <a:spcPts val="600"/>
              </a:spcBef>
              <a:spcAft>
                <a:spcPts val="1200"/>
              </a:spcAft>
            </a:pPr>
            <a:r>
              <a:rPr lang="en-US" sz="2200" dirty="0" smtClean="0">
                <a:latin typeface="Helvetica" pitchFamily="34" charset="0"/>
              </a:rPr>
              <a:t>On given dates</a:t>
            </a:r>
          </a:p>
          <a:p>
            <a:pPr marL="360000" indent="-360000">
              <a:spcBef>
                <a:spcPts val="600"/>
              </a:spcBef>
              <a:spcAft>
                <a:spcPts val="1200"/>
              </a:spcAft>
            </a:pPr>
            <a:r>
              <a:rPr lang="en-US" sz="2200" dirty="0" smtClean="0">
                <a:latin typeface="Helvetica" pitchFamily="34" charset="0"/>
              </a:rPr>
              <a:t>For the Annual Report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5" name="Picture 4" descr="freeimage-1199503.jpg"/>
          <p:cNvPicPr>
            <a:picLocks noChangeAspect="1"/>
          </p:cNvPicPr>
          <p:nvPr/>
        </p:nvPicPr>
        <p:blipFill>
          <a:blip r:embed="rId3" cstate="print"/>
          <a:stretch>
            <a:fillRect/>
          </a:stretch>
        </p:blipFill>
        <p:spPr>
          <a:xfrm>
            <a:off x="6408712" y="3744416"/>
            <a:ext cx="1979712" cy="148478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objectives and scope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Tips for success in project management:</a:t>
            </a:r>
          </a:p>
          <a:p>
            <a:pPr marL="360000" indent="-360000">
              <a:spcBef>
                <a:spcPts val="600"/>
              </a:spcBef>
              <a:spcAft>
                <a:spcPts val="1200"/>
              </a:spcAft>
            </a:pPr>
            <a:r>
              <a:rPr lang="en-US" sz="2200" dirty="0" smtClean="0">
                <a:latin typeface="Helvetica" pitchFamily="34" charset="0"/>
              </a:rPr>
              <a:t>Be prepared to ask for help</a:t>
            </a:r>
          </a:p>
          <a:p>
            <a:pPr marL="360000" indent="-360000">
              <a:spcBef>
                <a:spcPts val="600"/>
              </a:spcBef>
              <a:spcAft>
                <a:spcPts val="1200"/>
              </a:spcAft>
            </a:pPr>
            <a:r>
              <a:rPr lang="en-US" sz="2200" dirty="0" smtClean="0">
                <a:latin typeface="Helvetica" pitchFamily="34" charset="0"/>
              </a:rPr>
              <a:t>Identify assistance available</a:t>
            </a:r>
          </a:p>
          <a:p>
            <a:pPr marL="360000" indent="-360000">
              <a:spcBef>
                <a:spcPts val="600"/>
              </a:spcBef>
              <a:spcAft>
                <a:spcPts val="1200"/>
              </a:spcAft>
            </a:pPr>
            <a:r>
              <a:rPr lang="en-US" sz="2200" dirty="0" smtClean="0">
                <a:latin typeface="Helvetica" pitchFamily="34" charset="0"/>
              </a:rPr>
              <a:t>Think before you act</a:t>
            </a:r>
          </a:p>
          <a:p>
            <a:pPr marL="360000" indent="-360000">
              <a:spcBef>
                <a:spcPts val="600"/>
              </a:spcBef>
              <a:spcAft>
                <a:spcPts val="1200"/>
              </a:spcAft>
            </a:pPr>
            <a:r>
              <a:rPr lang="en-US" sz="2200" dirty="0" smtClean="0">
                <a:latin typeface="Helvetica" pitchFamily="34" charset="0"/>
              </a:rPr>
              <a:t>Seek approval before you take action if possible</a:t>
            </a:r>
          </a:p>
          <a:p>
            <a:pPr marL="360000" indent="-360000">
              <a:spcBef>
                <a:spcPts val="600"/>
              </a:spcBef>
              <a:spcAft>
                <a:spcPts val="1200"/>
              </a:spcAft>
            </a:pPr>
            <a:r>
              <a:rPr lang="en-US" sz="2200" dirty="0" smtClean="0">
                <a:latin typeface="Helvetica" pitchFamily="34" charset="0"/>
              </a:rPr>
              <a:t>Allocate specific time for project work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5" name="Picture 4" descr="freeimage-2365953.jpg"/>
          <p:cNvPicPr>
            <a:picLocks noChangeAspect="1"/>
          </p:cNvPicPr>
          <p:nvPr/>
        </p:nvPicPr>
        <p:blipFill>
          <a:blip r:embed="rId3" cstate="print"/>
          <a:stretch>
            <a:fillRect/>
          </a:stretch>
        </p:blipFill>
        <p:spPr>
          <a:xfrm>
            <a:off x="6300192" y="4077072"/>
            <a:ext cx="2089927" cy="109541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76864" cy="1008112"/>
          </a:xfrm>
        </p:spPr>
        <p:txBody>
          <a:bodyPr>
            <a:noAutofit/>
          </a:bodyPr>
          <a:lstStyle/>
          <a:p>
            <a:r>
              <a:rPr lang="en-US" sz="3400" b="1" dirty="0" smtClean="0">
                <a:solidFill>
                  <a:srgbClr val="FF6600"/>
                </a:solidFill>
                <a:latin typeface="Helvetica" pitchFamily="34" charset="0"/>
              </a:rPr>
              <a:t>Determine and develop resource strategy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467600" cy="4597971"/>
          </a:xfrm>
        </p:spPr>
        <p:txBody>
          <a:bodyPr>
            <a:normAutofit/>
          </a:bodyPr>
          <a:lstStyle/>
          <a:p>
            <a:pPr marL="0" indent="0">
              <a:spcBef>
                <a:spcPts val="600"/>
              </a:spcBef>
              <a:spcAft>
                <a:spcPts val="1200"/>
              </a:spcAft>
              <a:buNone/>
            </a:pPr>
            <a:r>
              <a:rPr lang="en-US" sz="2200" dirty="0" smtClean="0">
                <a:latin typeface="Helvetica" pitchFamily="34" charset="0"/>
              </a:rPr>
              <a:t>A resource strategy identifies:</a:t>
            </a:r>
          </a:p>
          <a:p>
            <a:pPr marL="360000" indent="-360000">
              <a:spcBef>
                <a:spcPts val="600"/>
              </a:spcBef>
              <a:spcAft>
                <a:spcPts val="1200"/>
              </a:spcAft>
            </a:pPr>
            <a:r>
              <a:rPr lang="en-US" sz="2200" dirty="0" smtClean="0">
                <a:latin typeface="Helvetica" pitchFamily="34" charset="0"/>
              </a:rPr>
              <a:t>How to obtain required resources</a:t>
            </a:r>
          </a:p>
          <a:p>
            <a:pPr marL="360000" indent="-360000">
              <a:spcBef>
                <a:spcPts val="600"/>
              </a:spcBef>
              <a:spcAft>
                <a:spcPts val="1200"/>
              </a:spcAft>
            </a:pPr>
            <a:r>
              <a:rPr lang="en-US" sz="2200" dirty="0" smtClean="0">
                <a:latin typeface="Helvetica" pitchFamily="34" charset="0"/>
              </a:rPr>
              <a:t>Develop resources</a:t>
            </a:r>
          </a:p>
          <a:p>
            <a:pPr marL="360000" indent="-360000">
              <a:spcBef>
                <a:spcPts val="600"/>
              </a:spcBef>
              <a:spcAft>
                <a:spcPts val="1200"/>
              </a:spcAft>
            </a:pPr>
            <a:r>
              <a:rPr lang="en-US" sz="2200" dirty="0" smtClean="0">
                <a:latin typeface="Helvetica" pitchFamily="34" charset="0"/>
              </a:rPr>
              <a:t>Maintain resources</a:t>
            </a:r>
          </a:p>
          <a:p>
            <a:pPr marL="360000" indent="-360000">
              <a:spcBef>
                <a:spcPts val="600"/>
              </a:spcBef>
              <a:spcAft>
                <a:spcPts val="1200"/>
              </a:spcAft>
            </a:pPr>
            <a:r>
              <a:rPr lang="en-US" sz="2200" dirty="0" smtClean="0">
                <a:latin typeface="Helvetica" pitchFamily="34" charset="0"/>
              </a:rPr>
              <a:t>Use and manage resources</a:t>
            </a:r>
          </a:p>
          <a:p>
            <a:pPr marL="360000" indent="-360000" algn="ctr">
              <a:spcBef>
                <a:spcPts val="600"/>
              </a:spcBef>
              <a:spcAft>
                <a:spcPts val="1200"/>
              </a:spcAft>
              <a:buNone/>
            </a:pPr>
            <a:r>
              <a:rPr lang="en-US" sz="2200" i="1" dirty="0" smtClean="0">
                <a:latin typeface="Helvetica" pitchFamily="34" charset="0"/>
              </a:rPr>
              <a:t>May be in ‘written’ form or in ‘mental’ form only.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5" name="Picture 4" descr="MP900423037.JPG"/>
          <p:cNvPicPr>
            <a:picLocks noChangeAspect="1"/>
          </p:cNvPicPr>
          <p:nvPr/>
        </p:nvPicPr>
        <p:blipFill>
          <a:blip r:embed="rId3" cstate="print"/>
          <a:stretch>
            <a:fillRect/>
          </a:stretch>
        </p:blipFill>
        <p:spPr>
          <a:xfrm>
            <a:off x="5364088" y="2564904"/>
            <a:ext cx="1988840" cy="149163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US" sz="3400" b="1" dirty="0" smtClean="0">
                <a:solidFill>
                  <a:srgbClr val="FF6600"/>
                </a:solidFill>
                <a:latin typeface="Helvetica" pitchFamily="34" charset="0"/>
              </a:rPr>
              <a:t>Determine and develop resource strategy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Resources include:</a:t>
            </a:r>
          </a:p>
          <a:p>
            <a:pPr marL="360000" indent="-360000">
              <a:spcBef>
                <a:spcPts val="600"/>
              </a:spcBef>
              <a:spcAft>
                <a:spcPts val="1200"/>
              </a:spcAft>
            </a:pPr>
            <a:r>
              <a:rPr lang="en-US" sz="2200" dirty="0" smtClean="0">
                <a:latin typeface="Helvetica" pitchFamily="34" charset="0"/>
              </a:rPr>
              <a:t>Human resources</a:t>
            </a:r>
          </a:p>
          <a:p>
            <a:pPr marL="360000" indent="-360000">
              <a:spcBef>
                <a:spcPts val="600"/>
              </a:spcBef>
              <a:spcAft>
                <a:spcPts val="1200"/>
              </a:spcAft>
            </a:pPr>
            <a:r>
              <a:rPr lang="en-US" sz="2200" dirty="0" smtClean="0">
                <a:latin typeface="Helvetica" pitchFamily="34" charset="0"/>
              </a:rPr>
              <a:t>Physical resources</a:t>
            </a:r>
          </a:p>
          <a:p>
            <a:pPr marL="360000" indent="-360000">
              <a:spcBef>
                <a:spcPts val="600"/>
              </a:spcBef>
              <a:spcAft>
                <a:spcPts val="1200"/>
              </a:spcAft>
            </a:pPr>
            <a:r>
              <a:rPr lang="en-US" sz="2200" dirty="0" smtClean="0">
                <a:latin typeface="Helvetica" pitchFamily="34" charset="0"/>
              </a:rPr>
              <a:t>Financial resources</a:t>
            </a:r>
          </a:p>
          <a:p>
            <a:pPr marL="360000" indent="-360000">
              <a:spcBef>
                <a:spcPts val="600"/>
              </a:spcBef>
              <a:spcAft>
                <a:spcPts val="1200"/>
              </a:spcAft>
            </a:pPr>
            <a:r>
              <a:rPr lang="en-US" sz="2200" dirty="0" smtClean="0">
                <a:latin typeface="Helvetica" pitchFamily="34" charset="0"/>
              </a:rPr>
              <a:t>Information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5" name="Picture 4" descr="MP900387473.JPG"/>
          <p:cNvPicPr>
            <a:picLocks noChangeAspect="1"/>
          </p:cNvPicPr>
          <p:nvPr/>
        </p:nvPicPr>
        <p:blipFill>
          <a:blip r:embed="rId3" cstate="print"/>
          <a:stretch>
            <a:fillRect/>
          </a:stretch>
        </p:blipFill>
        <p:spPr>
          <a:xfrm>
            <a:off x="7092280" y="3356992"/>
            <a:ext cx="1304544" cy="18288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1143000"/>
          </a:xfrm>
        </p:spPr>
        <p:txBody>
          <a:bodyPr>
            <a:normAutofit/>
          </a:bodyPr>
          <a:lstStyle/>
          <a:p>
            <a:r>
              <a:rPr lang="en-US" sz="3400" b="1" dirty="0" smtClean="0">
                <a:solidFill>
                  <a:srgbClr val="FF6600"/>
                </a:solidFill>
                <a:latin typeface="Helvetica" pitchFamily="34" charset="0"/>
              </a:rPr>
              <a:t>Determine and develop resource strategy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HR strategy relates to staffing for the project and will address:</a:t>
            </a:r>
          </a:p>
          <a:p>
            <a:pPr marL="360000" indent="-360000">
              <a:spcBef>
                <a:spcPts val="600"/>
              </a:spcBef>
              <a:spcAft>
                <a:spcPts val="1200"/>
              </a:spcAft>
            </a:pPr>
            <a:r>
              <a:rPr lang="en-US" sz="2200" dirty="0" smtClean="0">
                <a:latin typeface="Helvetica" pitchFamily="34" charset="0"/>
              </a:rPr>
              <a:t>Full-time, part-time and casual mix</a:t>
            </a:r>
          </a:p>
          <a:p>
            <a:pPr marL="360000" indent="-360000">
              <a:spcBef>
                <a:spcPts val="600"/>
              </a:spcBef>
              <a:spcAft>
                <a:spcPts val="1200"/>
              </a:spcAft>
            </a:pPr>
            <a:r>
              <a:rPr lang="en-US" sz="2200" dirty="0" smtClean="0">
                <a:latin typeface="Helvetica" pitchFamily="34" charset="0"/>
              </a:rPr>
              <a:t>Use of external contractors</a:t>
            </a:r>
          </a:p>
          <a:p>
            <a:pPr marL="360000" indent="-360000">
              <a:spcBef>
                <a:spcPts val="600"/>
              </a:spcBef>
              <a:spcAft>
                <a:spcPts val="1200"/>
              </a:spcAft>
            </a:pPr>
            <a:r>
              <a:rPr lang="en-US" sz="2200" dirty="0" smtClean="0">
                <a:latin typeface="Helvetica" pitchFamily="34" charset="0"/>
              </a:rPr>
              <a:t>Experience and expertise required</a:t>
            </a:r>
          </a:p>
          <a:p>
            <a:pPr marL="360000" indent="-360000">
              <a:spcBef>
                <a:spcPts val="600"/>
              </a:spcBef>
              <a:spcAft>
                <a:spcPts val="1200"/>
              </a:spcAft>
            </a:pPr>
            <a:r>
              <a:rPr lang="en-US" sz="2200" dirty="0" smtClean="0">
                <a:latin typeface="Helvetica" pitchFamily="34" charset="0"/>
              </a:rPr>
              <a:t>Hours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5" name="Picture 4" descr="freeimage-611466.jpg"/>
          <p:cNvPicPr>
            <a:picLocks noChangeAspect="1"/>
          </p:cNvPicPr>
          <p:nvPr/>
        </p:nvPicPr>
        <p:blipFill>
          <a:blip r:embed="rId3" cstate="print"/>
          <a:stretch>
            <a:fillRect/>
          </a:stretch>
        </p:blipFill>
        <p:spPr>
          <a:xfrm>
            <a:off x="7045266" y="3284984"/>
            <a:ext cx="1309728" cy="195650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US" sz="3400" b="1" dirty="0" smtClean="0">
                <a:solidFill>
                  <a:srgbClr val="FF6600"/>
                </a:solidFill>
                <a:latin typeface="Helvetica" pitchFamily="34" charset="0"/>
              </a:rPr>
              <a:t>Determine and develop resource strategy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Physical resources strategy relates to machinery, equipment, materials and assets required to:</a:t>
            </a:r>
          </a:p>
          <a:p>
            <a:pPr marL="360000" indent="-360000">
              <a:spcBef>
                <a:spcPts val="600"/>
              </a:spcBef>
              <a:spcAft>
                <a:spcPts val="1200"/>
              </a:spcAft>
            </a:pPr>
            <a:r>
              <a:rPr lang="en-US" sz="2200" dirty="0" smtClean="0">
                <a:latin typeface="Helvetica" pitchFamily="34" charset="0"/>
              </a:rPr>
              <a:t>Plan and prepare for the project</a:t>
            </a:r>
          </a:p>
          <a:p>
            <a:pPr marL="360000" indent="-360000">
              <a:spcBef>
                <a:spcPts val="600"/>
              </a:spcBef>
              <a:spcAft>
                <a:spcPts val="1200"/>
              </a:spcAft>
            </a:pPr>
            <a:r>
              <a:rPr lang="en-US" sz="2200" dirty="0" smtClean="0">
                <a:latin typeface="Helvetica" pitchFamily="34" charset="0"/>
              </a:rPr>
              <a:t>Implement the project</a:t>
            </a:r>
          </a:p>
          <a:p>
            <a:pPr marL="360000" indent="-360000">
              <a:spcBef>
                <a:spcPts val="600"/>
              </a:spcBef>
              <a:spcAft>
                <a:spcPts val="1200"/>
              </a:spcAft>
            </a:pPr>
            <a:r>
              <a:rPr lang="en-US" sz="2200" dirty="0" smtClean="0">
                <a:latin typeface="Helvetica" pitchFamily="34" charset="0"/>
              </a:rPr>
              <a:t>Support the work of those involved in </a:t>
            </a:r>
            <a:br>
              <a:rPr lang="en-US" sz="2200" dirty="0" smtClean="0">
                <a:latin typeface="Helvetica" pitchFamily="34" charset="0"/>
              </a:rPr>
            </a:br>
            <a:r>
              <a:rPr lang="en-US" sz="2200" dirty="0" smtClean="0">
                <a:latin typeface="Helvetica" pitchFamily="34" charset="0"/>
              </a:rPr>
              <a:t>the project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5" name="Picture 4" descr="freeimage-6188588.jpg"/>
          <p:cNvPicPr>
            <a:picLocks noChangeAspect="1"/>
          </p:cNvPicPr>
          <p:nvPr/>
        </p:nvPicPr>
        <p:blipFill>
          <a:blip r:embed="rId3" cstate="print"/>
          <a:srcRect l="14471" r="9555"/>
          <a:stretch>
            <a:fillRect/>
          </a:stretch>
        </p:blipFill>
        <p:spPr>
          <a:xfrm>
            <a:off x="6588224" y="3573016"/>
            <a:ext cx="1656184" cy="145929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US" sz="3400" b="1" dirty="0" smtClean="0">
                <a:solidFill>
                  <a:srgbClr val="FF6600"/>
                </a:solidFill>
                <a:latin typeface="Helvetica" pitchFamily="34" charset="0"/>
              </a:rPr>
              <a:t>Determine and develop resource strategy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Financial resources strategy relates to funding for the project as applicable to:</a:t>
            </a:r>
          </a:p>
          <a:p>
            <a:pPr marL="360000" indent="-360000">
              <a:spcBef>
                <a:spcPts val="600"/>
              </a:spcBef>
              <a:spcAft>
                <a:spcPts val="1200"/>
              </a:spcAft>
            </a:pPr>
            <a:r>
              <a:rPr lang="en-US" sz="2200" dirty="0" smtClean="0">
                <a:latin typeface="Helvetica" pitchFamily="34" charset="0"/>
              </a:rPr>
              <a:t>Paying staff</a:t>
            </a:r>
          </a:p>
          <a:p>
            <a:pPr marL="360000" indent="-360000">
              <a:spcBef>
                <a:spcPts val="600"/>
              </a:spcBef>
              <a:spcAft>
                <a:spcPts val="1200"/>
              </a:spcAft>
            </a:pPr>
            <a:r>
              <a:rPr lang="en-US" sz="2200" dirty="0" smtClean="0">
                <a:latin typeface="Helvetica" pitchFamily="34" charset="0"/>
              </a:rPr>
              <a:t>Engaging external providers</a:t>
            </a:r>
          </a:p>
          <a:p>
            <a:pPr marL="360000" indent="-360000">
              <a:spcBef>
                <a:spcPts val="600"/>
              </a:spcBef>
              <a:spcAft>
                <a:spcPts val="1200"/>
              </a:spcAft>
            </a:pPr>
            <a:r>
              <a:rPr lang="en-US" sz="2200" dirty="0" smtClean="0">
                <a:latin typeface="Helvetica" pitchFamily="34" charset="0"/>
              </a:rPr>
              <a:t>Procurement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5" name="Picture 4" descr="Paid invoices.jpg"/>
          <p:cNvPicPr>
            <a:picLocks noChangeAspect="1"/>
          </p:cNvPicPr>
          <p:nvPr/>
        </p:nvPicPr>
        <p:blipFill>
          <a:blip r:embed="rId3" cstate="print"/>
          <a:stretch>
            <a:fillRect/>
          </a:stretch>
        </p:blipFill>
        <p:spPr>
          <a:xfrm>
            <a:off x="6660232" y="4149080"/>
            <a:ext cx="1745621" cy="106722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US" sz="3400" b="1" dirty="0" smtClean="0">
                <a:solidFill>
                  <a:srgbClr val="FF6600"/>
                </a:solidFill>
                <a:latin typeface="Helvetica" pitchFamily="34" charset="0"/>
              </a:rPr>
              <a:t>Determine and develop resource strategy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Information strategy may address:</a:t>
            </a:r>
          </a:p>
          <a:p>
            <a:pPr marL="360000" indent="-360000">
              <a:spcBef>
                <a:spcPts val="600"/>
              </a:spcBef>
              <a:spcAft>
                <a:spcPts val="1200"/>
              </a:spcAft>
            </a:pPr>
            <a:r>
              <a:rPr lang="en-US" sz="2200" dirty="0" smtClean="0">
                <a:latin typeface="Helvetica" pitchFamily="34" charset="0"/>
              </a:rPr>
              <a:t>Internal policies and procedures</a:t>
            </a:r>
          </a:p>
          <a:p>
            <a:pPr marL="360000" indent="-360000">
              <a:spcBef>
                <a:spcPts val="600"/>
              </a:spcBef>
              <a:spcAft>
                <a:spcPts val="1200"/>
              </a:spcAft>
            </a:pPr>
            <a:r>
              <a:rPr lang="en-US" sz="2200" dirty="0" smtClean="0">
                <a:latin typeface="Helvetica" pitchFamily="34" charset="0"/>
              </a:rPr>
              <a:t>Dates and times</a:t>
            </a:r>
          </a:p>
          <a:p>
            <a:pPr marL="360000" indent="-360000">
              <a:spcBef>
                <a:spcPts val="600"/>
              </a:spcBef>
              <a:spcAft>
                <a:spcPts val="1200"/>
              </a:spcAft>
            </a:pPr>
            <a:r>
              <a:rPr lang="en-US" sz="2200" dirty="0" smtClean="0">
                <a:latin typeface="Helvetica" pitchFamily="34" charset="0"/>
              </a:rPr>
              <a:t>Numbers attending a function/event</a:t>
            </a:r>
          </a:p>
          <a:p>
            <a:pPr marL="360000" indent="-360000">
              <a:spcBef>
                <a:spcPts val="600"/>
              </a:spcBef>
              <a:spcAft>
                <a:spcPts val="1200"/>
              </a:spcAft>
            </a:pPr>
            <a:r>
              <a:rPr lang="en-US" sz="2200" dirty="0" smtClean="0">
                <a:latin typeface="Helvetica" pitchFamily="34" charset="0"/>
              </a:rPr>
              <a:t>Information known by management and other stakeholders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5" name="Picture 4" descr="freeimage-14712285.jpg"/>
          <p:cNvPicPr>
            <a:picLocks noChangeAspect="1"/>
          </p:cNvPicPr>
          <p:nvPr/>
        </p:nvPicPr>
        <p:blipFill>
          <a:blip r:embed="rId3" cstate="print"/>
          <a:stretch>
            <a:fillRect/>
          </a:stretch>
        </p:blipFill>
        <p:spPr>
          <a:xfrm>
            <a:off x="6876256" y="3645024"/>
            <a:ext cx="1524459" cy="1524459"/>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US" sz="3400" b="1" dirty="0" smtClean="0">
                <a:solidFill>
                  <a:srgbClr val="FF6600"/>
                </a:solidFill>
                <a:latin typeface="Helvetica" pitchFamily="34" charset="0"/>
              </a:rPr>
              <a:t>Determine and develop resource strategy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HR strategy can also include:</a:t>
            </a:r>
          </a:p>
          <a:p>
            <a:pPr marL="360000" indent="-360000">
              <a:spcBef>
                <a:spcPts val="600"/>
              </a:spcBef>
              <a:spcAft>
                <a:spcPts val="1200"/>
              </a:spcAft>
            </a:pPr>
            <a:r>
              <a:rPr lang="en-US" sz="2200" dirty="0" smtClean="0">
                <a:latin typeface="Helvetica" pitchFamily="34" charset="0"/>
              </a:rPr>
              <a:t>Staff selection</a:t>
            </a:r>
          </a:p>
          <a:p>
            <a:pPr marL="360000" indent="-360000">
              <a:spcBef>
                <a:spcPts val="600"/>
              </a:spcBef>
              <a:spcAft>
                <a:spcPts val="1200"/>
              </a:spcAft>
            </a:pPr>
            <a:r>
              <a:rPr lang="en-US" sz="2200" dirty="0" smtClean="0">
                <a:latin typeface="Helvetica" pitchFamily="34" charset="0"/>
              </a:rPr>
              <a:t>Training</a:t>
            </a:r>
          </a:p>
          <a:p>
            <a:pPr marL="360000" indent="-360000">
              <a:spcBef>
                <a:spcPts val="600"/>
              </a:spcBef>
              <a:spcAft>
                <a:spcPts val="1200"/>
              </a:spcAft>
            </a:pPr>
            <a:r>
              <a:rPr lang="en-US" sz="2200" dirty="0" smtClean="0">
                <a:latin typeface="Helvetica" pitchFamily="34" charset="0"/>
              </a:rPr>
              <a:t>Role of external recruitment agencies</a:t>
            </a:r>
          </a:p>
          <a:p>
            <a:pPr marL="360000" indent="-360000">
              <a:spcBef>
                <a:spcPts val="600"/>
              </a:spcBef>
              <a:spcAft>
                <a:spcPts val="1200"/>
              </a:spcAft>
            </a:pPr>
            <a:r>
              <a:rPr lang="en-US" sz="2200" dirty="0" smtClean="0">
                <a:latin typeface="Helvetica" pitchFamily="34" charset="0"/>
              </a:rPr>
              <a:t>Re-allocating work</a:t>
            </a:r>
          </a:p>
          <a:p>
            <a:pPr marL="360000" indent="-360000">
              <a:spcBef>
                <a:spcPts val="600"/>
              </a:spcBef>
              <a:spcAft>
                <a:spcPts val="1200"/>
              </a:spcAft>
            </a:pPr>
            <a:r>
              <a:rPr lang="en-US" sz="2200" dirty="0" smtClean="0">
                <a:latin typeface="Helvetica" pitchFamily="34" charset="0"/>
              </a:rPr>
              <a:t>Backfilling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5" name="Picture 4" descr="iStock_000002116286Small.jpg"/>
          <p:cNvPicPr>
            <a:picLocks noChangeAspect="1"/>
          </p:cNvPicPr>
          <p:nvPr/>
        </p:nvPicPr>
        <p:blipFill>
          <a:blip r:embed="rId3" cstate="print"/>
          <a:stretch>
            <a:fillRect/>
          </a:stretch>
        </p:blipFill>
        <p:spPr>
          <a:xfrm>
            <a:off x="6732240" y="4005064"/>
            <a:ext cx="1631335" cy="1218064"/>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US" sz="3400" b="1" dirty="0" smtClean="0">
                <a:solidFill>
                  <a:srgbClr val="FF6600"/>
                </a:solidFill>
                <a:latin typeface="Helvetica" pitchFamily="34" charset="0"/>
              </a:rPr>
              <a:t>Determine and develop resource strategy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physical resources strategy can also include: </a:t>
            </a:r>
          </a:p>
          <a:p>
            <a:pPr marL="360000" indent="-360000">
              <a:spcBef>
                <a:spcPts val="600"/>
              </a:spcBef>
              <a:spcAft>
                <a:spcPts val="1200"/>
              </a:spcAft>
            </a:pPr>
            <a:r>
              <a:rPr lang="en-US" sz="2200" dirty="0" smtClean="0">
                <a:latin typeface="Helvetica" pitchFamily="34" charset="0"/>
              </a:rPr>
              <a:t>Equipment and operating specifications</a:t>
            </a:r>
          </a:p>
          <a:p>
            <a:pPr marL="360000" indent="-360000">
              <a:spcBef>
                <a:spcPts val="600"/>
              </a:spcBef>
              <a:spcAft>
                <a:spcPts val="1200"/>
              </a:spcAft>
            </a:pPr>
            <a:r>
              <a:rPr lang="en-US" sz="2200" dirty="0" smtClean="0">
                <a:latin typeface="Helvetica" pitchFamily="34" charset="0"/>
              </a:rPr>
              <a:t>Supplier identification</a:t>
            </a:r>
          </a:p>
          <a:p>
            <a:pPr marL="360000" indent="-360000">
              <a:spcBef>
                <a:spcPts val="600"/>
              </a:spcBef>
              <a:spcAft>
                <a:spcPts val="1200"/>
              </a:spcAft>
            </a:pPr>
            <a:r>
              <a:rPr lang="en-US" sz="2200" dirty="0" smtClean="0">
                <a:latin typeface="Helvetica" pitchFamily="34" charset="0"/>
              </a:rPr>
              <a:t>Testing and trialling</a:t>
            </a:r>
          </a:p>
          <a:p>
            <a:pPr marL="360000" indent="-360000">
              <a:spcBef>
                <a:spcPts val="600"/>
              </a:spcBef>
              <a:spcAft>
                <a:spcPts val="1200"/>
              </a:spcAft>
            </a:pPr>
            <a:r>
              <a:rPr lang="en-US" sz="2200" dirty="0" smtClean="0">
                <a:latin typeface="Helvetica" pitchFamily="34" charset="0"/>
              </a:rPr>
              <a:t>Quotations and contracts</a:t>
            </a:r>
          </a:p>
          <a:p>
            <a:pPr marL="360000" indent="-360000">
              <a:spcBef>
                <a:spcPts val="600"/>
              </a:spcBef>
              <a:spcAft>
                <a:spcPts val="1200"/>
              </a:spcAft>
            </a:pPr>
            <a:r>
              <a:rPr lang="en-US" sz="2200" dirty="0" smtClean="0">
                <a:latin typeface="Helvetica" pitchFamily="34" charset="0"/>
              </a:rPr>
              <a:t>Comparison of options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5" name="Picture 4" descr="Finance_Ch3_Pt3.jpg"/>
          <p:cNvPicPr>
            <a:picLocks noChangeAspect="1"/>
          </p:cNvPicPr>
          <p:nvPr/>
        </p:nvPicPr>
        <p:blipFill>
          <a:blip r:embed="rId3" cstate="print"/>
          <a:stretch>
            <a:fillRect/>
          </a:stretch>
        </p:blipFill>
        <p:spPr>
          <a:xfrm>
            <a:off x="6516216" y="4051869"/>
            <a:ext cx="1865784" cy="123608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US" sz="3400" b="1" dirty="0" smtClean="0">
                <a:solidFill>
                  <a:srgbClr val="FF6600"/>
                </a:solidFill>
                <a:latin typeface="Helvetica" pitchFamily="34" charset="0"/>
              </a:rPr>
              <a:t>Determine and develop resource strategy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Cost-benefit analysis</a:t>
            </a:r>
          </a:p>
          <a:p>
            <a:pPr marL="360000" indent="-360000">
              <a:spcBef>
                <a:spcPts val="600"/>
              </a:spcBef>
              <a:spcAft>
                <a:spcPts val="1200"/>
              </a:spcAft>
            </a:pPr>
            <a:r>
              <a:rPr lang="en-US" sz="2200" dirty="0" smtClean="0">
                <a:latin typeface="Helvetica" pitchFamily="34" charset="0"/>
              </a:rPr>
              <a:t>Acquisition options</a:t>
            </a:r>
          </a:p>
          <a:p>
            <a:pPr marL="360000" indent="-360000">
              <a:spcBef>
                <a:spcPts val="600"/>
              </a:spcBef>
              <a:spcAft>
                <a:spcPts val="1200"/>
              </a:spcAft>
            </a:pPr>
            <a:r>
              <a:rPr lang="en-US" sz="2200" dirty="0" smtClean="0">
                <a:latin typeface="Helvetica" pitchFamily="34" charset="0"/>
              </a:rPr>
              <a:t>Installation, commissioning and service/maintenance</a:t>
            </a:r>
          </a:p>
          <a:p>
            <a:pPr marL="360000" indent="-360000">
              <a:spcBef>
                <a:spcPts val="600"/>
              </a:spcBef>
              <a:spcAft>
                <a:spcPts val="1200"/>
              </a:spcAft>
            </a:pPr>
            <a:r>
              <a:rPr lang="en-US" sz="2200" dirty="0" smtClean="0">
                <a:latin typeface="Helvetica" pitchFamily="34" charset="0"/>
              </a:rPr>
              <a:t>Disposal of ‘old’ items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5" name="Picture 4" descr="iStock_000002455453Medium.jpg"/>
          <p:cNvPicPr>
            <a:picLocks noChangeAspect="1"/>
          </p:cNvPicPr>
          <p:nvPr/>
        </p:nvPicPr>
        <p:blipFill>
          <a:blip r:embed="rId3" cstate="print"/>
          <a:stretch>
            <a:fillRect/>
          </a:stretch>
        </p:blipFill>
        <p:spPr>
          <a:xfrm>
            <a:off x="6804248" y="3933056"/>
            <a:ext cx="1574642" cy="1263663"/>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US" sz="3400" b="1" dirty="0" smtClean="0">
                <a:solidFill>
                  <a:srgbClr val="FF6600"/>
                </a:solidFill>
                <a:latin typeface="Helvetica" pitchFamily="34" charset="0"/>
              </a:rPr>
              <a:t>Determine and develop resource strategy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financial resources strategy can also include:</a:t>
            </a:r>
          </a:p>
          <a:p>
            <a:pPr marL="360000" indent="-360000">
              <a:spcBef>
                <a:spcPts val="600"/>
              </a:spcBef>
              <a:spcAft>
                <a:spcPts val="1200"/>
              </a:spcAft>
            </a:pPr>
            <a:r>
              <a:rPr lang="en-US" sz="2200" dirty="0" smtClean="0">
                <a:latin typeface="Helvetica" pitchFamily="34" charset="0"/>
              </a:rPr>
              <a:t>Formal project budget</a:t>
            </a:r>
          </a:p>
          <a:p>
            <a:pPr marL="360000" indent="-360000">
              <a:spcBef>
                <a:spcPts val="600"/>
              </a:spcBef>
              <a:spcAft>
                <a:spcPts val="1200"/>
              </a:spcAft>
            </a:pPr>
            <a:r>
              <a:rPr lang="en-US" sz="2200" dirty="0" smtClean="0">
                <a:latin typeface="Helvetica" pitchFamily="34" charset="0"/>
              </a:rPr>
              <a:t>Contributions and donations from others</a:t>
            </a:r>
          </a:p>
          <a:p>
            <a:pPr marL="360000" indent="-360000">
              <a:spcBef>
                <a:spcPts val="600"/>
              </a:spcBef>
              <a:spcAft>
                <a:spcPts val="1200"/>
              </a:spcAft>
            </a:pPr>
            <a:r>
              <a:rPr lang="en-US" sz="2200" dirty="0" smtClean="0">
                <a:latin typeface="Helvetica" pitchFamily="34" charset="0"/>
              </a:rPr>
              <a:t>Subsidies and grants</a:t>
            </a:r>
          </a:p>
          <a:p>
            <a:pPr marL="360000" indent="-360000">
              <a:spcBef>
                <a:spcPts val="600"/>
              </a:spcBef>
              <a:spcAft>
                <a:spcPts val="1200"/>
              </a:spcAft>
            </a:pPr>
            <a:r>
              <a:rPr lang="en-US" sz="2200" dirty="0" smtClean="0">
                <a:latin typeface="Helvetica" pitchFamily="34" charset="0"/>
              </a:rPr>
              <a:t>Optimal acquisition option for the business</a:t>
            </a:r>
          </a:p>
          <a:p>
            <a:pPr marL="360000" indent="-360000">
              <a:spcBef>
                <a:spcPts val="600"/>
              </a:spcBef>
              <a:spcAft>
                <a:spcPts val="1200"/>
              </a:spcAft>
            </a:pPr>
            <a:r>
              <a:rPr lang="en-US" sz="2200" dirty="0" smtClean="0">
                <a:latin typeface="Helvetica" pitchFamily="34" charset="0"/>
              </a:rPr>
              <a:t>Revenue generated from disposals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5" name="Picture 4" descr="iStock_000002455453Medium.jpg"/>
          <p:cNvPicPr>
            <a:picLocks noChangeAspect="1"/>
          </p:cNvPicPr>
          <p:nvPr/>
        </p:nvPicPr>
        <p:blipFill>
          <a:blip r:embed="rId3" cstate="print"/>
          <a:stretch>
            <a:fillRect/>
          </a:stretch>
        </p:blipFill>
        <p:spPr>
          <a:xfrm>
            <a:off x="6516216" y="3933056"/>
            <a:ext cx="1867672" cy="124401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a:bodyPr>
          <a:lstStyle/>
          <a:p>
            <a:r>
              <a:rPr lang="en-US" sz="3400" b="1" dirty="0" smtClean="0">
                <a:solidFill>
                  <a:srgbClr val="FF6600"/>
                </a:solidFill>
                <a:latin typeface="Helvetica" pitchFamily="34" charset="0"/>
              </a:rPr>
              <a:t>Determine and develop resource strategy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financial information strategy can also include:</a:t>
            </a:r>
          </a:p>
          <a:p>
            <a:pPr marL="360000" indent="-360000">
              <a:spcBef>
                <a:spcPts val="600"/>
              </a:spcBef>
              <a:spcAft>
                <a:spcPts val="1200"/>
              </a:spcAft>
            </a:pPr>
            <a:r>
              <a:rPr lang="en-US" sz="2200" dirty="0" smtClean="0">
                <a:latin typeface="Helvetica" pitchFamily="34" charset="0"/>
              </a:rPr>
              <a:t>Document review</a:t>
            </a:r>
          </a:p>
          <a:p>
            <a:pPr marL="360000" indent="-360000">
              <a:spcBef>
                <a:spcPts val="600"/>
              </a:spcBef>
              <a:spcAft>
                <a:spcPts val="1200"/>
              </a:spcAft>
            </a:pPr>
            <a:r>
              <a:rPr lang="en-US" sz="2200" dirty="0" smtClean="0">
                <a:latin typeface="Helvetica" pitchFamily="34" charset="0"/>
              </a:rPr>
              <a:t>Discussions with others</a:t>
            </a:r>
          </a:p>
          <a:p>
            <a:pPr marL="360000" indent="-360000">
              <a:spcBef>
                <a:spcPts val="600"/>
              </a:spcBef>
              <a:spcAft>
                <a:spcPts val="1200"/>
              </a:spcAft>
            </a:pPr>
            <a:r>
              <a:rPr lang="en-US" sz="2200" dirty="0" smtClean="0">
                <a:latin typeface="Helvetica" pitchFamily="34" charset="0"/>
              </a:rPr>
              <a:t>Scheduling project-related meetings</a:t>
            </a:r>
          </a:p>
          <a:p>
            <a:pPr marL="360000" indent="-360000">
              <a:spcBef>
                <a:spcPts val="600"/>
              </a:spcBef>
              <a:spcAft>
                <a:spcPts val="1200"/>
              </a:spcAft>
            </a:pPr>
            <a:r>
              <a:rPr lang="en-US" sz="2200" dirty="0" smtClean="0">
                <a:latin typeface="Helvetica" pitchFamily="34" charset="0"/>
              </a:rPr>
              <a:t>Confidentiality</a:t>
            </a:r>
          </a:p>
          <a:p>
            <a:pPr marL="360000" indent="-360000">
              <a:spcBef>
                <a:spcPts val="600"/>
              </a:spcBef>
              <a:spcAft>
                <a:spcPts val="1200"/>
              </a:spcAft>
            </a:pPr>
            <a:r>
              <a:rPr lang="en-US" sz="2200" dirty="0" smtClean="0">
                <a:latin typeface="Helvetica" pitchFamily="34" charset="0"/>
              </a:rPr>
              <a:t>Sharing and distribution of information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5" name="Picture 4" descr="freeimage-8782054.jpg"/>
          <p:cNvPicPr>
            <a:picLocks noChangeAspect="1"/>
          </p:cNvPicPr>
          <p:nvPr/>
        </p:nvPicPr>
        <p:blipFill>
          <a:blip r:embed="rId3" cstate="print"/>
          <a:stretch>
            <a:fillRect/>
          </a:stretch>
        </p:blipFill>
        <p:spPr>
          <a:xfrm>
            <a:off x="6516216" y="3933056"/>
            <a:ext cx="1907704" cy="1304077"/>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For ‘internal’ projects:</a:t>
            </a:r>
          </a:p>
          <a:p>
            <a:pPr marL="360000" indent="-360000">
              <a:spcBef>
                <a:spcPts val="600"/>
              </a:spcBef>
              <a:spcAft>
                <a:spcPts val="1200"/>
              </a:spcAft>
            </a:pPr>
            <a:r>
              <a:rPr lang="en-US" sz="2200" dirty="0" smtClean="0">
                <a:latin typeface="Helvetica" pitchFamily="34" charset="0"/>
              </a:rPr>
              <a:t>Management decides if the project is viable</a:t>
            </a:r>
          </a:p>
          <a:p>
            <a:pPr marL="360000" indent="-360000">
              <a:spcBef>
                <a:spcPts val="600"/>
              </a:spcBef>
              <a:spcAft>
                <a:spcPts val="1200"/>
              </a:spcAft>
            </a:pPr>
            <a:r>
              <a:rPr lang="en-US" sz="2200" dirty="0" smtClean="0">
                <a:latin typeface="Helvetica" pitchFamily="34" charset="0"/>
              </a:rPr>
              <a:t>No need to engage in financial viability analysis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5" name="Picture 4" descr="MC900436996.WMF"/>
          <p:cNvPicPr>
            <a:picLocks noChangeAspect="1"/>
          </p:cNvPicPr>
          <p:nvPr/>
        </p:nvPicPr>
        <p:blipFill>
          <a:blip r:embed="rId3" cstate="print"/>
          <a:stretch>
            <a:fillRect/>
          </a:stretch>
        </p:blipFill>
        <p:spPr>
          <a:xfrm>
            <a:off x="7092280" y="3860796"/>
            <a:ext cx="1313175" cy="1315471"/>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704856" cy="4886003"/>
          </a:xfrm>
        </p:spPr>
        <p:txBody>
          <a:bodyPr>
            <a:normAutofit/>
          </a:bodyPr>
          <a:lstStyle/>
          <a:p>
            <a:pPr marL="0" indent="0">
              <a:spcBef>
                <a:spcPts val="600"/>
              </a:spcBef>
              <a:spcAft>
                <a:spcPts val="1200"/>
              </a:spcAft>
              <a:buNone/>
            </a:pPr>
            <a:r>
              <a:rPr lang="en-US" sz="2200" dirty="0" smtClean="0">
                <a:latin typeface="Helvetica" pitchFamily="34" charset="0"/>
              </a:rPr>
              <a:t>For ‘external’ projects:</a:t>
            </a:r>
          </a:p>
          <a:p>
            <a:pPr marL="360000" indent="-360000">
              <a:spcBef>
                <a:spcPts val="600"/>
              </a:spcBef>
              <a:spcAft>
                <a:spcPts val="1200"/>
              </a:spcAft>
            </a:pPr>
            <a:r>
              <a:rPr lang="en-US" sz="2200" dirty="0" smtClean="0">
                <a:latin typeface="Helvetica" pitchFamily="34" charset="0"/>
              </a:rPr>
              <a:t>There is a need to:</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Achieve the ‘required’ level percentage of profit</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Factor in ‘other imperatives’ as they apply to each individual project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5" name="Picture 4" descr="freeimage-4111316.jpg"/>
          <p:cNvPicPr>
            <a:picLocks noChangeAspect="1"/>
          </p:cNvPicPr>
          <p:nvPr/>
        </p:nvPicPr>
        <p:blipFill>
          <a:blip r:embed="rId3" cstate="print"/>
          <a:stretch>
            <a:fillRect/>
          </a:stretch>
        </p:blipFill>
        <p:spPr>
          <a:xfrm>
            <a:off x="6804248" y="3933056"/>
            <a:ext cx="1475656" cy="107492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632848" cy="4958011"/>
          </a:xfrm>
        </p:spPr>
        <p:txBody>
          <a:bodyPr>
            <a:normAutofit/>
          </a:bodyPr>
          <a:lstStyle/>
          <a:p>
            <a:pPr marL="0" indent="0">
              <a:spcBef>
                <a:spcPts val="600"/>
              </a:spcBef>
              <a:spcAft>
                <a:spcPts val="1200"/>
              </a:spcAft>
              <a:buNone/>
            </a:pPr>
            <a:r>
              <a:rPr lang="en-AU" sz="2400" dirty="0" smtClean="0"/>
              <a:t>Evaluating financial viability may require you to determine</a:t>
            </a:r>
            <a:r>
              <a:rPr lang="en-US" sz="2200" dirty="0" smtClean="0">
                <a:latin typeface="Helvetica" pitchFamily="34" charset="0"/>
              </a:rPr>
              <a:t>:</a:t>
            </a:r>
          </a:p>
          <a:p>
            <a:pPr marL="360000" indent="-360000">
              <a:spcBef>
                <a:spcPts val="600"/>
              </a:spcBef>
              <a:spcAft>
                <a:spcPts val="1200"/>
              </a:spcAft>
            </a:pPr>
            <a:r>
              <a:rPr lang="en-US" sz="2200" dirty="0" smtClean="0">
                <a:latin typeface="Helvetica" pitchFamily="34" charset="0"/>
              </a:rPr>
              <a:t>Availability of funding</a:t>
            </a:r>
          </a:p>
          <a:p>
            <a:pPr marL="360000" indent="-360000">
              <a:spcBef>
                <a:spcPts val="600"/>
              </a:spcBef>
              <a:spcAft>
                <a:spcPts val="1200"/>
              </a:spcAft>
            </a:pPr>
            <a:r>
              <a:rPr lang="en-US" sz="2200" dirty="0" smtClean="0">
                <a:latin typeface="Helvetica" pitchFamily="34" charset="0"/>
              </a:rPr>
              <a:t>Cost of borrowing funds</a:t>
            </a:r>
          </a:p>
          <a:p>
            <a:pPr marL="360000" indent="-360000">
              <a:spcBef>
                <a:spcPts val="600"/>
              </a:spcBef>
              <a:spcAft>
                <a:spcPts val="1200"/>
              </a:spcAft>
            </a:pPr>
            <a:r>
              <a:rPr lang="en-US" sz="2200" i="1" dirty="0" smtClean="0">
                <a:latin typeface="Helvetica" pitchFamily="34" charset="0"/>
              </a:rPr>
              <a:t>Internal cash flow situation</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5" name="Picture 4" descr="freeimage-7842634.jpg"/>
          <p:cNvPicPr>
            <a:picLocks noChangeAspect="1"/>
          </p:cNvPicPr>
          <p:nvPr/>
        </p:nvPicPr>
        <p:blipFill>
          <a:blip r:embed="rId3" cstate="print"/>
          <a:stretch>
            <a:fillRect/>
          </a:stretch>
        </p:blipFill>
        <p:spPr>
          <a:xfrm>
            <a:off x="6516216" y="3753036"/>
            <a:ext cx="1739685" cy="1304764"/>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Market feasibility</a:t>
            </a:r>
          </a:p>
          <a:p>
            <a:pPr marL="360000" indent="-360000">
              <a:spcBef>
                <a:spcPts val="600"/>
              </a:spcBef>
              <a:spcAft>
                <a:spcPts val="1200"/>
              </a:spcAft>
            </a:pPr>
            <a:r>
              <a:rPr lang="en-US" sz="2200" dirty="0" smtClean="0">
                <a:latin typeface="Helvetica" pitchFamily="34" charset="0"/>
              </a:rPr>
              <a:t>Financial risk</a:t>
            </a:r>
          </a:p>
          <a:p>
            <a:pPr marL="360000" indent="-360000">
              <a:spcBef>
                <a:spcPts val="600"/>
              </a:spcBef>
              <a:spcAft>
                <a:spcPts val="1200"/>
              </a:spcAft>
            </a:pPr>
            <a:r>
              <a:rPr lang="en-US" sz="2200" dirty="0" smtClean="0">
                <a:latin typeface="Helvetica" pitchFamily="34" charset="0"/>
              </a:rPr>
              <a:t>Results of cost-benefit analysis</a:t>
            </a:r>
          </a:p>
          <a:p>
            <a:pPr marL="360000" indent="-360000">
              <a:spcBef>
                <a:spcPts val="600"/>
              </a:spcBef>
              <a:spcAft>
                <a:spcPts val="1200"/>
              </a:spcAft>
            </a:pPr>
            <a:r>
              <a:rPr lang="en-US" sz="2200" dirty="0" smtClean="0">
                <a:latin typeface="Helvetica" pitchFamily="34" charset="0"/>
              </a:rPr>
              <a:t>Impact of the project on the business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5" name="Picture 4" descr="freeimage-3799089.jpg"/>
          <p:cNvPicPr>
            <a:picLocks noChangeAspect="1"/>
          </p:cNvPicPr>
          <p:nvPr/>
        </p:nvPicPr>
        <p:blipFill>
          <a:blip r:embed="rId3" cstate="print"/>
          <a:stretch>
            <a:fillRect/>
          </a:stretch>
        </p:blipFill>
        <p:spPr>
          <a:xfrm>
            <a:off x="6588224" y="3789040"/>
            <a:ext cx="1811693" cy="135877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There is a need to consider:</a:t>
            </a:r>
          </a:p>
          <a:p>
            <a:pPr marL="360000" indent="-360000">
              <a:spcBef>
                <a:spcPts val="600"/>
              </a:spcBef>
              <a:spcAft>
                <a:spcPts val="1200"/>
              </a:spcAft>
            </a:pPr>
            <a:r>
              <a:rPr lang="en-US" sz="2200" dirty="0" smtClean="0">
                <a:latin typeface="Helvetica" pitchFamily="34" charset="0"/>
              </a:rPr>
              <a:t>Availability and capacity of resources: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Human</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Physical</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Compliance</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Sufficiency</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Suitability</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5" name="Picture 4" descr="freeimage-6450622.jpg"/>
          <p:cNvPicPr>
            <a:picLocks noChangeAspect="1"/>
          </p:cNvPicPr>
          <p:nvPr/>
        </p:nvPicPr>
        <p:blipFill>
          <a:blip r:embed="rId3" cstate="print"/>
          <a:stretch>
            <a:fillRect/>
          </a:stretch>
        </p:blipFill>
        <p:spPr>
          <a:xfrm>
            <a:off x="6588224" y="4029462"/>
            <a:ext cx="1763688" cy="1180651"/>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Budget:</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Amount</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Availability</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Authorities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Source</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5" name="Picture 4" descr="MC900429205.WMF"/>
          <p:cNvPicPr>
            <a:picLocks noChangeAspect="1"/>
          </p:cNvPicPr>
          <p:nvPr/>
        </p:nvPicPr>
        <p:blipFill>
          <a:blip r:embed="rId3" cstate="print"/>
          <a:stretch>
            <a:fillRect/>
          </a:stretch>
        </p:blipFill>
        <p:spPr>
          <a:xfrm>
            <a:off x="7014139" y="3789040"/>
            <a:ext cx="1440146" cy="1465102"/>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Contractual obligations and penalties: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Promises made</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Potential for legal action</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Financial penalties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5" name="Picture 4" descr="MC900056615.WMF"/>
          <p:cNvPicPr>
            <a:picLocks noChangeAspect="1"/>
          </p:cNvPicPr>
          <p:nvPr/>
        </p:nvPicPr>
        <p:blipFill>
          <a:blip r:embed="rId3" cstate="print"/>
          <a:stretch>
            <a:fillRect/>
          </a:stretch>
        </p:blipFill>
        <p:spPr>
          <a:xfrm>
            <a:off x="6732240" y="4221088"/>
            <a:ext cx="1600200" cy="857707"/>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Cost-benefit analysis helps identify best purchasing option by considering:</a:t>
            </a:r>
          </a:p>
          <a:p>
            <a:pPr marL="360000" indent="-360000">
              <a:spcBef>
                <a:spcPts val="600"/>
              </a:spcBef>
              <a:spcAft>
                <a:spcPts val="1200"/>
              </a:spcAft>
            </a:pPr>
            <a:r>
              <a:rPr lang="en-US" sz="2200" dirty="0" smtClean="0">
                <a:latin typeface="Helvetica" pitchFamily="34" charset="0"/>
              </a:rPr>
              <a:t>Purchase price</a:t>
            </a:r>
          </a:p>
          <a:p>
            <a:pPr marL="360000" indent="-360000">
              <a:spcBef>
                <a:spcPts val="600"/>
              </a:spcBef>
              <a:spcAft>
                <a:spcPts val="1200"/>
              </a:spcAft>
            </a:pPr>
            <a:r>
              <a:rPr lang="en-US" sz="2200" dirty="0" smtClean="0">
                <a:latin typeface="Helvetica" pitchFamily="34" charset="0"/>
              </a:rPr>
              <a:t>Trade in</a:t>
            </a:r>
          </a:p>
          <a:p>
            <a:pPr marL="360000" indent="-360000">
              <a:spcBef>
                <a:spcPts val="600"/>
              </a:spcBef>
              <a:spcAft>
                <a:spcPts val="1200"/>
              </a:spcAft>
            </a:pPr>
            <a:r>
              <a:rPr lang="en-US" sz="2200" dirty="0" smtClean="0">
                <a:latin typeface="Helvetica" pitchFamily="34" charset="0"/>
              </a:rPr>
              <a:t>Benefits and savings which will flow</a:t>
            </a:r>
          </a:p>
          <a:p>
            <a:pPr marL="360000" indent="-360000">
              <a:spcBef>
                <a:spcPts val="600"/>
              </a:spcBef>
              <a:spcAft>
                <a:spcPts val="1200"/>
              </a:spcAft>
            </a:pPr>
            <a:r>
              <a:rPr lang="en-US" sz="2200" dirty="0" smtClean="0">
                <a:latin typeface="Helvetica" pitchFamily="34" charset="0"/>
              </a:rPr>
              <a:t>Ongoing cost of using the item</a:t>
            </a:r>
          </a:p>
          <a:p>
            <a:pPr marL="360000" indent="-360000">
              <a:spcBef>
                <a:spcPts val="600"/>
              </a:spcBef>
              <a:spcAft>
                <a:spcPts val="1200"/>
              </a:spcAft>
            </a:pPr>
            <a:r>
              <a:rPr lang="en-US" sz="2200" dirty="0" smtClean="0">
                <a:latin typeface="Helvetica" pitchFamily="34" charset="0"/>
              </a:rPr>
              <a:t>Opportunity cost</a:t>
            </a:r>
          </a:p>
          <a:p>
            <a:pPr marL="360000" indent="-360000">
              <a:spcBef>
                <a:spcPts val="600"/>
              </a:spcBef>
              <a:spcAft>
                <a:spcPts val="1200"/>
              </a:spcAft>
            </a:pPr>
            <a:r>
              <a:rPr lang="en-US" sz="2200" dirty="0" smtClean="0">
                <a:latin typeface="Helvetica" pitchFamily="34" charset="0"/>
              </a:rPr>
              <a:t>Expected life of the item</a:t>
            </a:r>
          </a:p>
          <a:p>
            <a:pPr marL="360000" indent="-360000">
              <a:spcBef>
                <a:spcPts val="600"/>
              </a:spcBef>
              <a:spcAft>
                <a:spcPts val="1200"/>
              </a:spcAft>
            </a:pPr>
            <a:r>
              <a:rPr lang="en-US" sz="2200" dirty="0" smtClean="0">
                <a:latin typeface="Helvetica" pitchFamily="34" charset="0"/>
              </a:rPr>
              <a:t>Impact on productivity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5" name="Picture 4" descr="freeimage-4295761.jpg"/>
          <p:cNvPicPr>
            <a:picLocks noChangeAspect="1"/>
          </p:cNvPicPr>
          <p:nvPr/>
        </p:nvPicPr>
        <p:blipFill>
          <a:blip r:embed="rId3" cstate="print"/>
          <a:stretch>
            <a:fillRect/>
          </a:stretch>
        </p:blipFill>
        <p:spPr>
          <a:xfrm>
            <a:off x="6300192" y="3573016"/>
            <a:ext cx="1979712" cy="1484784"/>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Project budget may be:</a:t>
            </a:r>
          </a:p>
          <a:p>
            <a:pPr marL="360000" indent="-360000">
              <a:spcBef>
                <a:spcPts val="600"/>
              </a:spcBef>
              <a:spcAft>
                <a:spcPts val="1200"/>
              </a:spcAft>
            </a:pPr>
            <a:r>
              <a:rPr lang="en-US" sz="2200" dirty="0" smtClean="0">
                <a:latin typeface="Helvetica" pitchFamily="34" charset="0"/>
              </a:rPr>
              <a:t>Set externally</a:t>
            </a:r>
          </a:p>
          <a:p>
            <a:pPr marL="360000" indent="-360000">
              <a:spcBef>
                <a:spcPts val="600"/>
              </a:spcBef>
              <a:spcAft>
                <a:spcPts val="1200"/>
              </a:spcAft>
            </a:pPr>
            <a:r>
              <a:rPr lang="en-US" sz="2200" dirty="0" smtClean="0">
                <a:latin typeface="Helvetica" pitchFamily="34" charset="0"/>
              </a:rPr>
              <a:t>Determined by the venue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45</a:t>
            </a:fld>
            <a:endParaRPr lang="en-US" dirty="0"/>
          </a:p>
        </p:txBody>
      </p:sp>
      <p:pic>
        <p:nvPicPr>
          <p:cNvPr id="5" name="Picture 4" descr="freeimage-2606219.jpg"/>
          <p:cNvPicPr>
            <a:picLocks noChangeAspect="1"/>
          </p:cNvPicPr>
          <p:nvPr/>
        </p:nvPicPr>
        <p:blipFill>
          <a:blip r:embed="rId3" cstate="print"/>
          <a:stretch>
            <a:fillRect/>
          </a:stretch>
        </p:blipFill>
        <p:spPr>
          <a:xfrm>
            <a:off x="6516216" y="3861048"/>
            <a:ext cx="1907704" cy="1257172"/>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7920880" cy="792088"/>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When client sets budget, Project Manager (PM) role is to:</a:t>
            </a:r>
          </a:p>
          <a:p>
            <a:pPr marL="360000" indent="-360000">
              <a:spcBef>
                <a:spcPts val="600"/>
              </a:spcBef>
              <a:spcAft>
                <a:spcPts val="1200"/>
              </a:spcAft>
            </a:pPr>
            <a:r>
              <a:rPr lang="en-US" sz="2200" dirty="0" smtClean="0">
                <a:latin typeface="Helvetica" pitchFamily="34" charset="0"/>
              </a:rPr>
              <a:t>Deliver within these parameters</a:t>
            </a:r>
          </a:p>
          <a:p>
            <a:pPr marL="360000" indent="-360000">
              <a:spcBef>
                <a:spcPts val="600"/>
              </a:spcBef>
              <a:spcAft>
                <a:spcPts val="1200"/>
              </a:spcAft>
            </a:pPr>
            <a:r>
              <a:rPr lang="en-US" sz="2200" dirty="0" smtClean="0">
                <a:latin typeface="Helvetica" pitchFamily="34" charset="0"/>
              </a:rPr>
              <a:t>Meet and discuss project with client</a:t>
            </a:r>
          </a:p>
          <a:p>
            <a:pPr marL="360000" indent="-360000">
              <a:spcBef>
                <a:spcPts val="600"/>
              </a:spcBef>
              <a:spcAft>
                <a:spcPts val="1200"/>
              </a:spcAft>
            </a:pPr>
            <a:r>
              <a:rPr lang="en-US" sz="2200" dirty="0" smtClean="0">
                <a:latin typeface="Helvetica" pitchFamily="34" charset="0"/>
              </a:rPr>
              <a:t>Negotiate potential for extra payment</a:t>
            </a:r>
          </a:p>
          <a:p>
            <a:pPr marL="360000" indent="-360000">
              <a:spcBef>
                <a:spcPts val="600"/>
              </a:spcBef>
              <a:spcAft>
                <a:spcPts val="1200"/>
              </a:spcAft>
            </a:pPr>
            <a:r>
              <a:rPr lang="en-US" sz="2200" dirty="0" smtClean="0">
                <a:latin typeface="Helvetica" pitchFamily="34" charset="0"/>
              </a:rPr>
              <a:t>Obtain a written contract</a:t>
            </a:r>
          </a:p>
          <a:p>
            <a:pPr marL="360000" indent="-360000">
              <a:spcBef>
                <a:spcPts val="600"/>
              </a:spcBef>
              <a:spcAft>
                <a:spcPts val="1200"/>
              </a:spcAft>
            </a:pPr>
            <a:r>
              <a:rPr lang="en-US" sz="2200" dirty="0" smtClean="0">
                <a:latin typeface="Helvetica" pitchFamily="34" charset="0"/>
              </a:rPr>
              <a:t>Secure payment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46</a:t>
            </a:fld>
            <a:endParaRPr lang="en-US" dirty="0"/>
          </a:p>
        </p:txBody>
      </p:sp>
      <p:pic>
        <p:nvPicPr>
          <p:cNvPr id="5" name="Picture 4" descr="freeimage-4256046.jpg"/>
          <p:cNvPicPr>
            <a:picLocks noChangeAspect="1"/>
          </p:cNvPicPr>
          <p:nvPr/>
        </p:nvPicPr>
        <p:blipFill>
          <a:blip r:embed="rId3" cstate="print"/>
          <a:stretch>
            <a:fillRect/>
          </a:stretch>
        </p:blipFill>
        <p:spPr>
          <a:xfrm>
            <a:off x="7092280" y="3284730"/>
            <a:ext cx="1324931" cy="1985055"/>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7848872" cy="792088"/>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96752"/>
            <a:ext cx="7539608" cy="5328592"/>
          </a:xfrm>
        </p:spPr>
        <p:txBody>
          <a:bodyPr>
            <a:normAutofit/>
          </a:bodyPr>
          <a:lstStyle/>
          <a:p>
            <a:pPr marL="0" indent="0">
              <a:spcBef>
                <a:spcPts val="600"/>
              </a:spcBef>
              <a:spcAft>
                <a:spcPts val="1200"/>
              </a:spcAft>
              <a:buNone/>
            </a:pPr>
            <a:r>
              <a:rPr lang="en-US" sz="2200" dirty="0" smtClean="0">
                <a:latin typeface="Helvetica" pitchFamily="34" charset="0"/>
              </a:rPr>
              <a:t>When funding body sets budget, standard requirements include:</a:t>
            </a:r>
          </a:p>
          <a:p>
            <a:pPr marL="360000" indent="-360000">
              <a:spcBef>
                <a:spcPts val="600"/>
              </a:spcBef>
              <a:spcAft>
                <a:spcPts val="1200"/>
              </a:spcAft>
            </a:pPr>
            <a:r>
              <a:rPr lang="en-US" sz="2200" dirty="0" smtClean="0">
                <a:latin typeface="Helvetica" pitchFamily="34" charset="0"/>
              </a:rPr>
              <a:t>Venue to contribute or match money provided</a:t>
            </a:r>
          </a:p>
          <a:p>
            <a:pPr marL="360000" indent="-360000">
              <a:spcBef>
                <a:spcPts val="600"/>
              </a:spcBef>
              <a:spcAft>
                <a:spcPts val="1200"/>
              </a:spcAft>
            </a:pPr>
            <a:r>
              <a:rPr lang="en-US" sz="2200" dirty="0" smtClean="0">
                <a:latin typeface="Helvetica" pitchFamily="34" charset="0"/>
              </a:rPr>
              <a:t>Money to be spent be set date</a:t>
            </a:r>
          </a:p>
          <a:p>
            <a:pPr marL="360000" indent="-360000">
              <a:spcBef>
                <a:spcPts val="600"/>
              </a:spcBef>
              <a:spcAft>
                <a:spcPts val="1200"/>
              </a:spcAft>
            </a:pPr>
            <a:r>
              <a:rPr lang="en-US" sz="2200" dirty="0" smtClean="0">
                <a:latin typeface="Helvetica" pitchFamily="34" charset="0"/>
              </a:rPr>
              <a:t>Money can only be spent on specified items</a:t>
            </a:r>
          </a:p>
          <a:p>
            <a:pPr marL="360000" indent="-360000">
              <a:spcBef>
                <a:spcPts val="600"/>
              </a:spcBef>
              <a:spcAft>
                <a:spcPts val="1200"/>
              </a:spcAft>
            </a:pPr>
            <a:r>
              <a:rPr lang="en-US" sz="2200" dirty="0" smtClean="0">
                <a:latin typeface="Helvetica" pitchFamily="34" charset="0"/>
              </a:rPr>
              <a:t>Money may have to be spent with nominated </a:t>
            </a:r>
            <a:br>
              <a:rPr lang="en-US" sz="2200" dirty="0" smtClean="0">
                <a:latin typeface="Helvetica" pitchFamily="34" charset="0"/>
              </a:rPr>
            </a:br>
            <a:r>
              <a:rPr lang="en-US" sz="2200" dirty="0" smtClean="0">
                <a:latin typeface="Helvetica" pitchFamily="34" charset="0"/>
              </a:rPr>
              <a:t>supplier</a:t>
            </a:r>
          </a:p>
          <a:p>
            <a:pPr marL="360000" indent="-360000">
              <a:spcBef>
                <a:spcPts val="600"/>
              </a:spcBef>
              <a:spcAft>
                <a:spcPts val="1200"/>
              </a:spcAft>
            </a:pPr>
            <a:r>
              <a:rPr lang="en-US" sz="2200" dirty="0" smtClean="0">
                <a:latin typeface="Helvetica" pitchFamily="34" charset="0"/>
              </a:rPr>
              <a:t>Detailed monitoring, reporting and </a:t>
            </a:r>
            <a:br>
              <a:rPr lang="en-US" sz="2200" dirty="0" smtClean="0">
                <a:latin typeface="Helvetica" pitchFamily="34" charset="0"/>
              </a:rPr>
            </a:br>
            <a:r>
              <a:rPr lang="en-US" sz="2200" dirty="0" smtClean="0">
                <a:latin typeface="Helvetica" pitchFamily="34" charset="0"/>
              </a:rPr>
              <a:t>accounting</a:t>
            </a:r>
          </a:p>
          <a:p>
            <a:pPr marL="360000" indent="-360000">
              <a:spcBef>
                <a:spcPts val="600"/>
              </a:spcBef>
              <a:spcAft>
                <a:spcPts val="1200"/>
              </a:spcAft>
            </a:pPr>
            <a:r>
              <a:rPr lang="en-US" sz="2200" dirty="0" smtClean="0">
                <a:latin typeface="Helvetica" pitchFamily="34" charset="0"/>
              </a:rPr>
              <a:t>Return of unused funds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47</a:t>
            </a:fld>
            <a:endParaRPr lang="en-US" dirty="0"/>
          </a:p>
        </p:txBody>
      </p:sp>
      <p:pic>
        <p:nvPicPr>
          <p:cNvPr id="5" name="Picture 4" descr="accounts.jpg"/>
          <p:cNvPicPr>
            <a:picLocks noChangeAspect="1"/>
          </p:cNvPicPr>
          <p:nvPr/>
        </p:nvPicPr>
        <p:blipFill>
          <a:blip r:embed="rId3" cstate="print"/>
          <a:stretch>
            <a:fillRect/>
          </a:stretch>
        </p:blipFill>
        <p:spPr>
          <a:xfrm>
            <a:off x="6588224" y="4077072"/>
            <a:ext cx="1871588" cy="1247292"/>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7920880" cy="792088"/>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96752"/>
            <a:ext cx="7539608" cy="4886003"/>
          </a:xfrm>
        </p:spPr>
        <p:txBody>
          <a:bodyPr>
            <a:normAutofit/>
          </a:bodyPr>
          <a:lstStyle/>
          <a:p>
            <a:pPr marL="0" indent="0">
              <a:spcBef>
                <a:spcPts val="600"/>
              </a:spcBef>
              <a:spcAft>
                <a:spcPts val="1200"/>
              </a:spcAft>
              <a:buNone/>
            </a:pPr>
            <a:r>
              <a:rPr lang="en-US" sz="2200" dirty="0" smtClean="0">
                <a:latin typeface="Helvetica" pitchFamily="34" charset="0"/>
              </a:rPr>
              <a:t>Where the venue prepares the budget for a project:</a:t>
            </a:r>
          </a:p>
          <a:p>
            <a:pPr marL="360000" indent="-360000">
              <a:spcBef>
                <a:spcPts val="600"/>
              </a:spcBef>
              <a:spcAft>
                <a:spcPts val="1200"/>
              </a:spcAft>
            </a:pPr>
            <a:r>
              <a:rPr lang="en-US" sz="2200" dirty="0" smtClean="0">
                <a:latin typeface="Helvetica" pitchFamily="34" charset="0"/>
              </a:rPr>
              <a:t>They negotiate the budget with relevant people</a:t>
            </a:r>
          </a:p>
          <a:p>
            <a:pPr marL="360000" indent="-360000">
              <a:spcBef>
                <a:spcPts val="600"/>
              </a:spcBef>
              <a:spcAft>
                <a:spcPts val="1200"/>
              </a:spcAft>
            </a:pPr>
            <a:r>
              <a:rPr lang="en-US" sz="2200" dirty="0" smtClean="0">
                <a:latin typeface="Helvetica" pitchFamily="34" charset="0"/>
              </a:rPr>
              <a:t>Formal approval may be required</a:t>
            </a:r>
          </a:p>
          <a:p>
            <a:pPr marL="360000" indent="-360000">
              <a:spcBef>
                <a:spcPts val="600"/>
              </a:spcBef>
              <a:spcAft>
                <a:spcPts val="1200"/>
              </a:spcAft>
            </a:pPr>
            <a:r>
              <a:rPr lang="en-US" sz="2200" dirty="0" smtClean="0">
                <a:latin typeface="Helvetica" pitchFamily="34" charset="0"/>
              </a:rPr>
              <a:t>It will be a separate project-specific budget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48</a:t>
            </a:fld>
            <a:endParaRPr lang="en-US" dirty="0"/>
          </a:p>
        </p:txBody>
      </p:sp>
      <p:pic>
        <p:nvPicPr>
          <p:cNvPr id="6" name="Picture 5" descr="884071_budget_cuts.jpg"/>
          <p:cNvPicPr>
            <a:picLocks noChangeAspect="1"/>
          </p:cNvPicPr>
          <p:nvPr/>
        </p:nvPicPr>
        <p:blipFill>
          <a:blip r:embed="rId3" cstate="print"/>
          <a:stretch>
            <a:fillRect/>
          </a:stretch>
        </p:blipFill>
        <p:spPr>
          <a:xfrm>
            <a:off x="7092280" y="3163788"/>
            <a:ext cx="1232925" cy="1849388"/>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7920880" cy="864096"/>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96752"/>
            <a:ext cx="7539608" cy="4886003"/>
          </a:xfrm>
        </p:spPr>
        <p:txBody>
          <a:bodyPr>
            <a:normAutofit/>
          </a:bodyPr>
          <a:lstStyle/>
          <a:p>
            <a:pPr marL="0" indent="0">
              <a:spcBef>
                <a:spcPts val="600"/>
              </a:spcBef>
              <a:spcAft>
                <a:spcPts val="1200"/>
              </a:spcAft>
              <a:buNone/>
            </a:pPr>
            <a:r>
              <a:rPr lang="en-US" sz="2200" dirty="0" smtClean="0">
                <a:latin typeface="Helvetica" pitchFamily="34" charset="0"/>
              </a:rPr>
              <a:t>Your role in preparing project budget may involve:</a:t>
            </a:r>
          </a:p>
          <a:p>
            <a:pPr marL="360000" indent="-360000">
              <a:spcBef>
                <a:spcPts val="600"/>
              </a:spcBef>
              <a:spcAft>
                <a:spcPts val="1200"/>
              </a:spcAft>
            </a:pPr>
            <a:r>
              <a:rPr lang="en-US" sz="2200" dirty="0" smtClean="0">
                <a:latin typeface="Helvetica" pitchFamily="34" charset="0"/>
              </a:rPr>
              <a:t>Attending budget meetings</a:t>
            </a:r>
          </a:p>
          <a:p>
            <a:pPr marL="360000" indent="-360000">
              <a:spcBef>
                <a:spcPts val="600"/>
              </a:spcBef>
              <a:spcAft>
                <a:spcPts val="1200"/>
              </a:spcAft>
            </a:pPr>
            <a:r>
              <a:rPr lang="en-US" sz="2200" dirty="0" smtClean="0">
                <a:latin typeface="Helvetica" pitchFamily="34" charset="0"/>
              </a:rPr>
              <a:t>Estimating costs</a:t>
            </a:r>
          </a:p>
          <a:p>
            <a:pPr marL="360000" indent="-360000">
              <a:spcBef>
                <a:spcPts val="600"/>
              </a:spcBef>
              <a:spcAft>
                <a:spcPts val="1200"/>
              </a:spcAft>
            </a:pPr>
            <a:r>
              <a:rPr lang="en-US" sz="2200" dirty="0" smtClean="0">
                <a:latin typeface="Helvetica" pitchFamily="34" charset="0"/>
              </a:rPr>
              <a:t>Determining contractor and provider availability</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5" name="Picture 4" descr="884071_budget_cuts.jpg"/>
          <p:cNvPicPr>
            <a:picLocks noChangeAspect="1"/>
          </p:cNvPicPr>
          <p:nvPr/>
        </p:nvPicPr>
        <p:blipFill>
          <a:blip r:embed="rId3" cstate="print"/>
          <a:stretch>
            <a:fillRect/>
          </a:stretch>
        </p:blipFill>
        <p:spPr>
          <a:xfrm>
            <a:off x="6553036" y="4005064"/>
            <a:ext cx="1796172" cy="1188467"/>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7920880" cy="864096"/>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96752"/>
            <a:ext cx="7539608" cy="4886003"/>
          </a:xfrm>
        </p:spPr>
        <p:txBody>
          <a:bodyPr>
            <a:normAutofit/>
          </a:bodyPr>
          <a:lstStyle/>
          <a:p>
            <a:pPr marL="360000" indent="-360000">
              <a:spcBef>
                <a:spcPts val="600"/>
              </a:spcBef>
              <a:spcAft>
                <a:spcPts val="1200"/>
              </a:spcAft>
            </a:pPr>
            <a:r>
              <a:rPr lang="en-US" sz="2200" dirty="0" smtClean="0">
                <a:latin typeface="Helvetica" pitchFamily="34" charset="0"/>
              </a:rPr>
              <a:t>Providing source material</a:t>
            </a:r>
          </a:p>
          <a:p>
            <a:pPr marL="360000" indent="-360000">
              <a:spcBef>
                <a:spcPts val="600"/>
              </a:spcBef>
              <a:spcAft>
                <a:spcPts val="1200"/>
              </a:spcAft>
            </a:pPr>
            <a:r>
              <a:rPr lang="en-US" sz="2200" dirty="0" smtClean="0">
                <a:latin typeface="Helvetica" pitchFamily="34" charset="0"/>
              </a:rPr>
              <a:t>Obtaining quotations</a:t>
            </a:r>
          </a:p>
          <a:p>
            <a:pPr marL="360000" indent="-360000">
              <a:spcBef>
                <a:spcPts val="600"/>
              </a:spcBef>
              <a:spcAft>
                <a:spcPts val="1200"/>
              </a:spcAft>
            </a:pPr>
            <a:r>
              <a:rPr lang="en-US" sz="2200" dirty="0" smtClean="0">
                <a:latin typeface="Helvetica" pitchFamily="34" charset="0"/>
              </a:rPr>
              <a:t>Developing list of preferred providers/suppliers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50</a:t>
            </a:fld>
            <a:endParaRPr lang="en-US" dirty="0"/>
          </a:p>
        </p:txBody>
      </p:sp>
      <p:pic>
        <p:nvPicPr>
          <p:cNvPr id="5" name="Picture 4" descr="Finance_Ch3_Pt3.jpg"/>
          <p:cNvPicPr>
            <a:picLocks noChangeAspect="1"/>
          </p:cNvPicPr>
          <p:nvPr/>
        </p:nvPicPr>
        <p:blipFill>
          <a:blip r:embed="rId3" cstate="print"/>
          <a:stretch>
            <a:fillRect/>
          </a:stretch>
        </p:blipFill>
        <p:spPr>
          <a:xfrm>
            <a:off x="6516216" y="3933056"/>
            <a:ext cx="1865784" cy="1236082"/>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7920880" cy="864096"/>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96752"/>
            <a:ext cx="7539608" cy="4886003"/>
          </a:xfrm>
        </p:spPr>
        <p:txBody>
          <a:bodyPr>
            <a:normAutofit/>
          </a:bodyPr>
          <a:lstStyle/>
          <a:p>
            <a:pPr marL="360000" indent="-360000">
              <a:spcBef>
                <a:spcPts val="600"/>
              </a:spcBef>
              <a:spcAft>
                <a:spcPts val="1200"/>
              </a:spcAft>
            </a:pPr>
            <a:r>
              <a:rPr lang="en-US" sz="2200" dirty="0" smtClean="0">
                <a:latin typeface="Helvetica" pitchFamily="34" charset="0"/>
              </a:rPr>
              <a:t>Determining labour costs</a:t>
            </a:r>
          </a:p>
          <a:p>
            <a:pPr marL="360000" indent="-360000">
              <a:spcBef>
                <a:spcPts val="600"/>
              </a:spcBef>
              <a:spcAft>
                <a:spcPts val="1200"/>
              </a:spcAft>
            </a:pPr>
            <a:r>
              <a:rPr lang="en-US" sz="2200" dirty="0" smtClean="0">
                <a:latin typeface="Helvetica" pitchFamily="34" charset="0"/>
              </a:rPr>
              <a:t>Ensuring all costs for the project are identified</a:t>
            </a:r>
          </a:p>
          <a:p>
            <a:pPr marL="360000" indent="-360000">
              <a:spcBef>
                <a:spcPts val="600"/>
              </a:spcBef>
              <a:spcAft>
                <a:spcPts val="1200"/>
              </a:spcAft>
            </a:pPr>
            <a:r>
              <a:rPr lang="en-US" sz="2200" dirty="0" smtClean="0">
                <a:latin typeface="Helvetica" pitchFamily="34" charset="0"/>
              </a:rPr>
              <a:t>Providing feedback, comment and input</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51</a:t>
            </a:fld>
            <a:endParaRPr lang="en-US" dirty="0"/>
          </a:p>
        </p:txBody>
      </p:sp>
      <p:pic>
        <p:nvPicPr>
          <p:cNvPr id="5" name="Picture 4" descr="Calculator 1.jpg"/>
          <p:cNvPicPr>
            <a:picLocks noChangeAspect="1"/>
          </p:cNvPicPr>
          <p:nvPr/>
        </p:nvPicPr>
        <p:blipFill>
          <a:blip r:embed="rId3" cstate="print"/>
          <a:stretch>
            <a:fillRect/>
          </a:stretch>
        </p:blipFill>
        <p:spPr>
          <a:xfrm>
            <a:off x="7308304" y="3789040"/>
            <a:ext cx="1088037" cy="1408533"/>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7920880" cy="864096"/>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96752"/>
            <a:ext cx="7539608" cy="4886003"/>
          </a:xfrm>
        </p:spPr>
        <p:txBody>
          <a:bodyPr>
            <a:normAutofit/>
          </a:bodyPr>
          <a:lstStyle/>
          <a:p>
            <a:pPr marL="360000" indent="-360000">
              <a:spcBef>
                <a:spcPts val="600"/>
              </a:spcBef>
              <a:spcAft>
                <a:spcPts val="1200"/>
              </a:spcAft>
            </a:pPr>
            <a:r>
              <a:rPr lang="en-US" sz="2200" dirty="0" smtClean="0">
                <a:latin typeface="Helvetica" pitchFamily="34" charset="0"/>
              </a:rPr>
              <a:t>Determining potential impacts of delays</a:t>
            </a:r>
          </a:p>
          <a:p>
            <a:pPr marL="360000" indent="-360000">
              <a:spcBef>
                <a:spcPts val="600"/>
              </a:spcBef>
              <a:spcAft>
                <a:spcPts val="1200"/>
              </a:spcAft>
            </a:pPr>
            <a:r>
              <a:rPr lang="en-US" sz="2200" dirty="0" smtClean="0">
                <a:latin typeface="Helvetica" pitchFamily="34" charset="0"/>
              </a:rPr>
              <a:t>Identifying amount and timing of payments required for the project</a:t>
            </a:r>
          </a:p>
          <a:p>
            <a:pPr marL="360000" indent="-360000">
              <a:spcBef>
                <a:spcPts val="600"/>
              </a:spcBef>
              <a:spcAft>
                <a:spcPts val="1200"/>
              </a:spcAft>
            </a:pPr>
            <a:r>
              <a:rPr lang="en-US" sz="2200" dirty="0" smtClean="0">
                <a:latin typeface="Helvetica" pitchFamily="34" charset="0"/>
              </a:rPr>
              <a:t>Evaluating terms and elements of applicable contracts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52</a:t>
            </a:fld>
            <a:endParaRPr lang="en-US" dirty="0"/>
          </a:p>
        </p:txBody>
      </p:sp>
      <p:pic>
        <p:nvPicPr>
          <p:cNvPr id="5" name="Picture 4" descr="freeimage-4111316.jpg"/>
          <p:cNvPicPr>
            <a:picLocks noChangeAspect="1"/>
          </p:cNvPicPr>
          <p:nvPr/>
        </p:nvPicPr>
        <p:blipFill>
          <a:blip r:embed="rId3" cstate="print"/>
          <a:srcRect t="13244"/>
          <a:stretch>
            <a:fillRect/>
          </a:stretch>
        </p:blipFill>
        <p:spPr>
          <a:xfrm>
            <a:off x="6516216" y="3925560"/>
            <a:ext cx="1749586" cy="110568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7920880" cy="864096"/>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467544" y="1196752"/>
            <a:ext cx="7611616" cy="4886003"/>
          </a:xfrm>
        </p:spPr>
        <p:txBody>
          <a:bodyPr>
            <a:normAutofit/>
          </a:bodyPr>
          <a:lstStyle/>
          <a:p>
            <a:pPr marL="0" indent="0">
              <a:spcBef>
                <a:spcPts val="600"/>
              </a:spcBef>
              <a:spcAft>
                <a:spcPts val="1200"/>
              </a:spcAft>
              <a:buNone/>
            </a:pPr>
            <a:r>
              <a:rPr lang="en-US" sz="2200" dirty="0" smtClean="0">
                <a:latin typeface="Helvetica" pitchFamily="34" charset="0"/>
              </a:rPr>
              <a:t>When determining the budget, consider:</a:t>
            </a:r>
          </a:p>
          <a:p>
            <a:pPr marL="360000" indent="-360000">
              <a:spcBef>
                <a:spcPts val="600"/>
              </a:spcBef>
              <a:spcAft>
                <a:spcPts val="1200"/>
              </a:spcAft>
            </a:pPr>
            <a:r>
              <a:rPr lang="en-US" sz="2200" dirty="0" smtClean="0">
                <a:latin typeface="Helvetica" pitchFamily="34" charset="0"/>
              </a:rPr>
              <a:t>Labour</a:t>
            </a:r>
          </a:p>
          <a:p>
            <a:pPr marL="360000" indent="-360000">
              <a:spcBef>
                <a:spcPts val="600"/>
              </a:spcBef>
              <a:spcAft>
                <a:spcPts val="1200"/>
              </a:spcAft>
            </a:pPr>
            <a:r>
              <a:rPr lang="en-US" sz="2200" dirty="0" smtClean="0">
                <a:latin typeface="Helvetica" pitchFamily="34" charset="0"/>
              </a:rPr>
              <a:t>External professional bodies/businesses</a:t>
            </a:r>
          </a:p>
          <a:p>
            <a:pPr marL="360000" indent="-360000">
              <a:spcBef>
                <a:spcPts val="600"/>
              </a:spcBef>
              <a:spcAft>
                <a:spcPts val="1200"/>
              </a:spcAft>
            </a:pPr>
            <a:r>
              <a:rPr lang="en-US" sz="2200" dirty="0" smtClean="0">
                <a:latin typeface="Helvetica" pitchFamily="34" charset="0"/>
              </a:rPr>
              <a:t>General overheads</a:t>
            </a:r>
          </a:p>
          <a:p>
            <a:pPr marL="360000" indent="-360000">
              <a:spcBef>
                <a:spcPts val="600"/>
              </a:spcBef>
              <a:spcAft>
                <a:spcPts val="1200"/>
              </a:spcAft>
            </a:pPr>
            <a:r>
              <a:rPr lang="en-US" sz="2200" dirty="0" smtClean="0">
                <a:latin typeface="Helvetica" pitchFamily="34" charset="0"/>
              </a:rPr>
              <a:t>Preparation and planning activities</a:t>
            </a:r>
          </a:p>
          <a:p>
            <a:pPr marL="360000" indent="-3600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53</a:t>
            </a:fld>
            <a:endParaRPr lang="en-US" dirty="0"/>
          </a:p>
        </p:txBody>
      </p:sp>
      <p:pic>
        <p:nvPicPr>
          <p:cNvPr id="5" name="Picture 4" descr="freeimage-14712285.jpg"/>
          <p:cNvPicPr>
            <a:picLocks noChangeAspect="1"/>
          </p:cNvPicPr>
          <p:nvPr/>
        </p:nvPicPr>
        <p:blipFill>
          <a:blip r:embed="rId3" cstate="print"/>
          <a:stretch>
            <a:fillRect/>
          </a:stretch>
        </p:blipFill>
        <p:spPr>
          <a:xfrm>
            <a:off x="6516216" y="3933056"/>
            <a:ext cx="1907704" cy="1267057"/>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7920880" cy="792088"/>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96752"/>
            <a:ext cx="7539608" cy="4886003"/>
          </a:xfrm>
        </p:spPr>
        <p:txBody>
          <a:bodyPr>
            <a:normAutofit/>
          </a:bodyPr>
          <a:lstStyle/>
          <a:p>
            <a:pPr marL="360000" indent="-360000">
              <a:spcBef>
                <a:spcPts val="600"/>
              </a:spcBef>
              <a:spcAft>
                <a:spcPts val="1200"/>
              </a:spcAft>
            </a:pPr>
            <a:r>
              <a:rPr lang="en-US" sz="2200" dirty="0" smtClean="0">
                <a:latin typeface="Helvetica" pitchFamily="34" charset="0"/>
              </a:rPr>
              <a:t>Technical and other support required</a:t>
            </a:r>
          </a:p>
          <a:p>
            <a:pPr marL="360000" indent="-360000">
              <a:spcBef>
                <a:spcPts val="600"/>
              </a:spcBef>
              <a:spcAft>
                <a:spcPts val="1200"/>
              </a:spcAft>
            </a:pPr>
            <a:r>
              <a:rPr lang="en-US" sz="2200" dirty="0" smtClean="0">
                <a:latin typeface="Helvetica" pitchFamily="34" charset="0"/>
              </a:rPr>
              <a:t>Administration support</a:t>
            </a:r>
          </a:p>
          <a:p>
            <a:pPr marL="360000" indent="-360000">
              <a:spcBef>
                <a:spcPts val="600"/>
              </a:spcBef>
              <a:spcAft>
                <a:spcPts val="1200"/>
              </a:spcAft>
            </a:pPr>
            <a:r>
              <a:rPr lang="en-US" sz="2200" dirty="0" smtClean="0">
                <a:latin typeface="Helvetica" pitchFamily="34" charset="0"/>
              </a:rPr>
              <a:t>Physical resources required</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5" name="Picture 4" descr="freeimage-1470969.jpg"/>
          <p:cNvPicPr>
            <a:picLocks noChangeAspect="1"/>
          </p:cNvPicPr>
          <p:nvPr/>
        </p:nvPicPr>
        <p:blipFill>
          <a:blip r:embed="rId3" cstate="print"/>
          <a:stretch>
            <a:fillRect/>
          </a:stretch>
        </p:blipFill>
        <p:spPr>
          <a:xfrm>
            <a:off x="6588224" y="3957538"/>
            <a:ext cx="1834206" cy="1228917"/>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7920880" cy="792088"/>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96752"/>
            <a:ext cx="7539608" cy="4886003"/>
          </a:xfrm>
        </p:spPr>
        <p:txBody>
          <a:bodyPr>
            <a:normAutofit/>
          </a:bodyPr>
          <a:lstStyle/>
          <a:p>
            <a:pPr marL="360000" indent="-360000">
              <a:spcBef>
                <a:spcPts val="600"/>
              </a:spcBef>
              <a:spcAft>
                <a:spcPts val="1200"/>
              </a:spcAft>
            </a:pPr>
            <a:r>
              <a:rPr lang="en-US" sz="2200" dirty="0" smtClean="0">
                <a:latin typeface="Helvetica" pitchFamily="34" charset="0"/>
              </a:rPr>
              <a:t>Compliance requirements</a:t>
            </a:r>
          </a:p>
          <a:p>
            <a:pPr marL="360000" indent="-360000">
              <a:spcBef>
                <a:spcPts val="600"/>
              </a:spcBef>
              <a:spcAft>
                <a:spcPts val="1200"/>
              </a:spcAft>
            </a:pPr>
            <a:r>
              <a:rPr lang="en-US" sz="2200" dirty="0" smtClean="0">
                <a:latin typeface="Helvetica" pitchFamily="34" charset="0"/>
              </a:rPr>
              <a:t>Contingencies</a:t>
            </a:r>
          </a:p>
          <a:p>
            <a:pPr marL="360000" indent="-360000">
              <a:spcBef>
                <a:spcPts val="600"/>
              </a:spcBef>
              <a:spcAft>
                <a:spcPts val="1200"/>
              </a:spcAft>
            </a:pPr>
            <a:r>
              <a:rPr lang="en-US" sz="2200" dirty="0" smtClean="0">
                <a:latin typeface="Helvetica" pitchFamily="34" charset="0"/>
              </a:rPr>
              <a:t>Required profit and revenue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6" name="Picture 5" descr="freeimage-6224114.jpg"/>
          <p:cNvPicPr>
            <a:picLocks noChangeAspect="1"/>
          </p:cNvPicPr>
          <p:nvPr/>
        </p:nvPicPr>
        <p:blipFill>
          <a:blip r:embed="rId3" cstate="print"/>
          <a:stretch>
            <a:fillRect/>
          </a:stretch>
        </p:blipFill>
        <p:spPr>
          <a:xfrm>
            <a:off x="6372200" y="3573016"/>
            <a:ext cx="1831752" cy="137381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7920880" cy="792088"/>
          </a:xfrm>
        </p:spPr>
        <p:txBody>
          <a:bodyPr>
            <a:normAutofit/>
          </a:bodyPr>
          <a:lstStyle/>
          <a:p>
            <a:r>
              <a:rPr lang="en-US" sz="3400" b="1" dirty="0" smtClean="0">
                <a:solidFill>
                  <a:srgbClr val="FF6600"/>
                </a:solidFill>
                <a:latin typeface="Helvetica" pitchFamily="34" charset="0"/>
              </a:rPr>
              <a:t>Evaluate financial viability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Estimating costs:</a:t>
            </a:r>
          </a:p>
          <a:p>
            <a:pPr marL="360000" indent="-360000">
              <a:spcBef>
                <a:spcPts val="600"/>
              </a:spcBef>
              <a:spcAft>
                <a:spcPts val="1200"/>
              </a:spcAft>
            </a:pPr>
            <a:r>
              <a:rPr lang="en-US" sz="2200" dirty="0" smtClean="0">
                <a:latin typeface="Helvetica" pitchFamily="34" charset="0"/>
              </a:rPr>
              <a:t>These are ‘educated guesses’</a:t>
            </a:r>
          </a:p>
          <a:p>
            <a:pPr marL="360000" indent="-360000">
              <a:spcBef>
                <a:spcPts val="600"/>
              </a:spcBef>
              <a:spcAft>
                <a:spcPts val="1200"/>
              </a:spcAft>
            </a:pPr>
            <a:r>
              <a:rPr lang="en-US" sz="2200" dirty="0" smtClean="0">
                <a:latin typeface="Helvetica" pitchFamily="34" charset="0"/>
              </a:rPr>
              <a:t>There will always be cost increases over the life of a project</a:t>
            </a:r>
          </a:p>
          <a:p>
            <a:pPr marL="360000" indent="-360000">
              <a:spcBef>
                <a:spcPts val="600"/>
              </a:spcBef>
              <a:spcAft>
                <a:spcPts val="1200"/>
              </a:spcAft>
            </a:pPr>
            <a:r>
              <a:rPr lang="en-US" sz="2200" dirty="0" smtClean="0">
                <a:latin typeface="Helvetica" pitchFamily="34" charset="0"/>
              </a:rPr>
              <a:t>Increases may be 10% – 25%</a:t>
            </a:r>
          </a:p>
          <a:p>
            <a:pPr marL="360000" indent="-360000">
              <a:spcBef>
                <a:spcPts val="600"/>
              </a:spcBef>
              <a:spcAft>
                <a:spcPts val="1200"/>
              </a:spcAft>
            </a:pPr>
            <a:r>
              <a:rPr lang="en-US" sz="2200" dirty="0" smtClean="0">
                <a:latin typeface="Helvetica" pitchFamily="34" charset="0"/>
              </a:rPr>
              <a:t>Never believe there will be no cost </a:t>
            </a:r>
            <a:br>
              <a:rPr lang="en-US" sz="2200" dirty="0" smtClean="0">
                <a:latin typeface="Helvetica" pitchFamily="34" charset="0"/>
              </a:rPr>
            </a:br>
            <a:r>
              <a:rPr lang="en-US" sz="2200" dirty="0" smtClean="0">
                <a:latin typeface="Helvetica" pitchFamily="34" charset="0"/>
              </a:rPr>
              <a:t>increases when estimating costs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5" name="Picture 4" descr="freeimage-2606219.jpg"/>
          <p:cNvPicPr>
            <a:picLocks noChangeAspect="1"/>
          </p:cNvPicPr>
          <p:nvPr/>
        </p:nvPicPr>
        <p:blipFill>
          <a:blip r:embed="rId3" cstate="print"/>
          <a:stretch>
            <a:fillRect/>
          </a:stretch>
        </p:blipFill>
        <p:spPr>
          <a:xfrm>
            <a:off x="6481469" y="3933056"/>
            <a:ext cx="1914798" cy="1261848"/>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7848872" cy="1143000"/>
          </a:xfrm>
        </p:spPr>
        <p:txBody>
          <a:bodyPr>
            <a:normAutofit/>
          </a:bodyPr>
          <a:lstStyle/>
          <a:p>
            <a:r>
              <a:rPr lang="en-US" sz="3400" b="1" dirty="0" smtClean="0">
                <a:solidFill>
                  <a:srgbClr val="FF6600"/>
                </a:solidFill>
                <a:latin typeface="Helvetica" pitchFamily="34" charset="0"/>
              </a:rPr>
              <a:t>Plan and create administrative structure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Projects can benefit from an administrative structure but not all small projects need one.</a:t>
            </a:r>
          </a:p>
          <a:p>
            <a:pPr marL="0" indent="0">
              <a:spcBef>
                <a:spcPts val="600"/>
              </a:spcBef>
              <a:spcAft>
                <a:spcPts val="1200"/>
              </a:spcAft>
              <a:buNone/>
            </a:pPr>
            <a:r>
              <a:rPr lang="en-US" sz="2200" dirty="0" smtClean="0">
                <a:latin typeface="Helvetica" pitchFamily="34" charset="0"/>
              </a:rPr>
              <a:t>Need can  be identified from the following:</a:t>
            </a:r>
          </a:p>
          <a:p>
            <a:pPr marL="360000" indent="-360000">
              <a:spcBef>
                <a:spcPts val="600"/>
              </a:spcBef>
              <a:spcAft>
                <a:spcPts val="1200"/>
              </a:spcAft>
            </a:pPr>
            <a:r>
              <a:rPr lang="en-US" sz="2200" dirty="0" smtClean="0">
                <a:latin typeface="Helvetica" pitchFamily="34" charset="0"/>
              </a:rPr>
              <a:t>Direction from management</a:t>
            </a:r>
          </a:p>
          <a:p>
            <a:pPr marL="360000" indent="-360000">
              <a:spcBef>
                <a:spcPts val="600"/>
              </a:spcBef>
              <a:spcAft>
                <a:spcPts val="1200"/>
              </a:spcAft>
            </a:pPr>
            <a:r>
              <a:rPr lang="en-US" sz="2200" dirty="0" smtClean="0">
                <a:latin typeface="Helvetica" pitchFamily="34" charset="0"/>
              </a:rPr>
              <a:t>Mandatory pre-requisite from funding body</a:t>
            </a:r>
          </a:p>
          <a:p>
            <a:pPr marL="360000" indent="-360000">
              <a:spcBef>
                <a:spcPts val="600"/>
              </a:spcBef>
              <a:spcAft>
                <a:spcPts val="1200"/>
              </a:spcAft>
            </a:pPr>
            <a:r>
              <a:rPr lang="en-US" sz="2200" dirty="0" smtClean="0">
                <a:latin typeface="Helvetica" pitchFamily="34" charset="0"/>
              </a:rPr>
              <a:t>Personal experience</a:t>
            </a:r>
          </a:p>
          <a:p>
            <a:pPr marL="360000" indent="-360000">
              <a:spcBef>
                <a:spcPts val="600"/>
              </a:spcBef>
              <a:spcAft>
                <a:spcPts val="1200"/>
              </a:spcAft>
            </a:pPr>
            <a:r>
              <a:rPr lang="en-US" sz="2200" dirty="0" smtClean="0">
                <a:latin typeface="Helvetica" pitchFamily="34" charset="0"/>
              </a:rPr>
              <a:t>Willingness of others to participate</a:t>
            </a:r>
          </a:p>
          <a:p>
            <a:pPr marL="360000" indent="-360000">
              <a:spcBef>
                <a:spcPts val="600"/>
              </a:spcBef>
              <a:spcAft>
                <a:spcPts val="1200"/>
              </a:spcAft>
            </a:pPr>
            <a:r>
              <a:rPr lang="en-US" sz="2200" dirty="0" smtClean="0">
                <a:latin typeface="Helvetica" pitchFamily="34" charset="0"/>
              </a:rPr>
              <a:t>Internal policies and procedures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5" name="Picture 4" descr="MP900422115.JPG"/>
          <p:cNvPicPr>
            <a:picLocks noChangeAspect="1"/>
          </p:cNvPicPr>
          <p:nvPr/>
        </p:nvPicPr>
        <p:blipFill>
          <a:blip r:embed="rId3" cstate="print"/>
          <a:stretch>
            <a:fillRect/>
          </a:stretch>
        </p:blipFill>
        <p:spPr>
          <a:xfrm>
            <a:off x="6660232" y="4005064"/>
            <a:ext cx="1762590" cy="1174601"/>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7848872" cy="1143000"/>
          </a:xfrm>
        </p:spPr>
        <p:txBody>
          <a:bodyPr>
            <a:normAutofit/>
          </a:bodyPr>
          <a:lstStyle/>
          <a:p>
            <a:r>
              <a:rPr lang="en-US" sz="3400" b="1" dirty="0" smtClean="0">
                <a:solidFill>
                  <a:srgbClr val="FF6600"/>
                </a:solidFill>
                <a:latin typeface="Helvetica" pitchFamily="34" charset="0"/>
              </a:rPr>
              <a:t>Plan and create administrative structure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Benefits of creating an administrative structure for a project:</a:t>
            </a:r>
          </a:p>
          <a:p>
            <a:pPr marL="360000" indent="-360000">
              <a:spcBef>
                <a:spcPts val="600"/>
              </a:spcBef>
              <a:spcAft>
                <a:spcPts val="1200"/>
              </a:spcAft>
            </a:pPr>
            <a:r>
              <a:rPr lang="en-US" sz="2200" dirty="0" smtClean="0">
                <a:latin typeface="Helvetica" pitchFamily="34" charset="0"/>
              </a:rPr>
              <a:t>A committed reference source</a:t>
            </a:r>
          </a:p>
          <a:p>
            <a:pPr marL="360000" indent="-360000">
              <a:spcBef>
                <a:spcPts val="600"/>
              </a:spcBef>
              <a:spcAft>
                <a:spcPts val="1200"/>
              </a:spcAft>
            </a:pPr>
            <a:r>
              <a:rPr lang="en-US" sz="2200" dirty="0" smtClean="0">
                <a:latin typeface="Helvetica" pitchFamily="34" charset="0"/>
              </a:rPr>
              <a:t>A sounding board for your thoughts</a:t>
            </a:r>
          </a:p>
          <a:p>
            <a:pPr marL="360000" indent="-360000">
              <a:spcBef>
                <a:spcPts val="600"/>
              </a:spcBef>
              <a:spcAft>
                <a:spcPts val="1200"/>
              </a:spcAft>
            </a:pPr>
            <a:r>
              <a:rPr lang="en-US" sz="2200" dirty="0" smtClean="0">
                <a:latin typeface="Helvetica" pitchFamily="34" charset="0"/>
              </a:rPr>
              <a:t>Ready access to assistance</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5" name="Picture 4" descr="freeimage-13048781.jpg"/>
          <p:cNvPicPr>
            <a:picLocks noChangeAspect="1"/>
          </p:cNvPicPr>
          <p:nvPr/>
        </p:nvPicPr>
        <p:blipFill>
          <a:blip r:embed="rId3" cstate="print"/>
          <a:stretch>
            <a:fillRect/>
          </a:stretch>
        </p:blipFill>
        <p:spPr>
          <a:xfrm>
            <a:off x="7020272" y="3413447"/>
            <a:ext cx="1331669" cy="1815753"/>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7848872" cy="1143000"/>
          </a:xfrm>
        </p:spPr>
        <p:txBody>
          <a:bodyPr>
            <a:normAutofit/>
          </a:bodyPr>
          <a:lstStyle/>
          <a:p>
            <a:r>
              <a:rPr lang="en-US" sz="3400" b="1" dirty="0" smtClean="0">
                <a:solidFill>
                  <a:srgbClr val="FF6600"/>
                </a:solidFill>
                <a:latin typeface="Helvetica" pitchFamily="34" charset="0"/>
              </a:rPr>
              <a:t>Plan and create administrative structure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Group to whom you can delegate project work</a:t>
            </a:r>
          </a:p>
          <a:p>
            <a:pPr marL="360000" indent="-360000">
              <a:spcBef>
                <a:spcPts val="600"/>
              </a:spcBef>
              <a:spcAft>
                <a:spcPts val="1200"/>
              </a:spcAft>
            </a:pPr>
            <a:r>
              <a:rPr lang="en-US" sz="2200" dirty="0" smtClean="0">
                <a:latin typeface="Helvetica" pitchFamily="34" charset="0"/>
              </a:rPr>
              <a:t>A reporting framework</a:t>
            </a:r>
          </a:p>
          <a:p>
            <a:pPr marL="360000" indent="-360000">
              <a:spcBef>
                <a:spcPts val="600"/>
              </a:spcBef>
              <a:spcAft>
                <a:spcPts val="1200"/>
              </a:spcAft>
            </a:pPr>
            <a:r>
              <a:rPr lang="en-US" sz="2200" dirty="0" smtClean="0">
                <a:latin typeface="Helvetica" pitchFamily="34" charset="0"/>
              </a:rPr>
              <a:t>Decision making hierarchy</a:t>
            </a:r>
          </a:p>
          <a:p>
            <a:pPr marL="360000" indent="-360000">
              <a:spcBef>
                <a:spcPts val="600"/>
              </a:spcBef>
              <a:spcAft>
                <a:spcPts val="1200"/>
              </a:spcAft>
            </a:pPr>
            <a:r>
              <a:rPr lang="en-US" sz="2200" dirty="0" smtClean="0">
                <a:latin typeface="Helvetica" pitchFamily="34" charset="0"/>
              </a:rPr>
              <a:t>Group to help with project responsibilities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5" name="Picture 4" descr="iStock_000002738475Medium.jpg"/>
          <p:cNvPicPr>
            <a:picLocks noChangeAspect="1"/>
          </p:cNvPicPr>
          <p:nvPr/>
        </p:nvPicPr>
        <p:blipFill>
          <a:blip r:embed="rId3" cstate="print"/>
          <a:stretch>
            <a:fillRect/>
          </a:stretch>
        </p:blipFill>
        <p:spPr>
          <a:xfrm>
            <a:off x="6516216" y="3933056"/>
            <a:ext cx="1841100" cy="125889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7848872" cy="1143000"/>
          </a:xfrm>
        </p:spPr>
        <p:txBody>
          <a:bodyPr>
            <a:normAutofit/>
          </a:bodyPr>
          <a:lstStyle/>
          <a:p>
            <a:r>
              <a:rPr lang="en-US" sz="3400" b="1" dirty="0" smtClean="0">
                <a:solidFill>
                  <a:srgbClr val="FF6600"/>
                </a:solidFill>
                <a:latin typeface="Helvetica" pitchFamily="34" charset="0"/>
              </a:rPr>
              <a:t>Plan and create administrative structure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Composition of administrative structure may include:</a:t>
            </a:r>
          </a:p>
          <a:p>
            <a:pPr marL="360000" indent="-360000">
              <a:spcBef>
                <a:spcPts val="600"/>
              </a:spcBef>
              <a:spcAft>
                <a:spcPts val="1200"/>
              </a:spcAft>
            </a:pPr>
            <a:r>
              <a:rPr lang="en-US" sz="2200" dirty="0" smtClean="0">
                <a:latin typeface="Helvetica" pitchFamily="34" charset="0"/>
              </a:rPr>
              <a:t>Management</a:t>
            </a:r>
          </a:p>
          <a:p>
            <a:pPr marL="360000" indent="-360000">
              <a:spcBef>
                <a:spcPts val="600"/>
              </a:spcBef>
              <a:spcAft>
                <a:spcPts val="1200"/>
              </a:spcAft>
            </a:pPr>
            <a:r>
              <a:rPr lang="en-US" sz="2200" dirty="0" smtClean="0">
                <a:latin typeface="Helvetica" pitchFamily="34" charset="0"/>
              </a:rPr>
              <a:t>Secretariat</a:t>
            </a:r>
          </a:p>
          <a:p>
            <a:pPr marL="360000" indent="-360000">
              <a:spcBef>
                <a:spcPts val="600"/>
              </a:spcBef>
              <a:spcAft>
                <a:spcPts val="1200"/>
              </a:spcAft>
            </a:pPr>
            <a:r>
              <a:rPr lang="en-US" sz="2200" dirty="0" smtClean="0">
                <a:latin typeface="Helvetica" pitchFamily="34" charset="0"/>
              </a:rPr>
              <a:t>Consultants</a:t>
            </a:r>
          </a:p>
          <a:p>
            <a:pPr marL="360000" indent="-360000">
              <a:spcBef>
                <a:spcPts val="600"/>
              </a:spcBef>
              <a:spcAft>
                <a:spcPts val="1200"/>
              </a:spcAft>
            </a:pPr>
            <a:r>
              <a:rPr lang="en-US" sz="2200" dirty="0" smtClean="0">
                <a:latin typeface="Helvetica" pitchFamily="34" charset="0"/>
              </a:rPr>
              <a:t>Contractors and suppliers</a:t>
            </a:r>
          </a:p>
          <a:p>
            <a:pPr marL="360000" indent="-360000">
              <a:spcBef>
                <a:spcPts val="600"/>
              </a:spcBef>
              <a:spcAft>
                <a:spcPts val="1200"/>
              </a:spcAft>
            </a:pPr>
            <a:r>
              <a:rPr lang="en-US" sz="2200" dirty="0" smtClean="0">
                <a:latin typeface="Helvetica" pitchFamily="34" charset="0"/>
              </a:rPr>
              <a:t>Groups</a:t>
            </a:r>
          </a:p>
          <a:p>
            <a:pPr marL="360000" indent="-360000">
              <a:spcBef>
                <a:spcPts val="600"/>
              </a:spcBef>
              <a:spcAft>
                <a:spcPts val="1200"/>
              </a:spcAft>
            </a:pPr>
            <a:r>
              <a:rPr lang="en-US" sz="2200" dirty="0" smtClean="0">
                <a:latin typeface="Helvetica" pitchFamily="34" charset="0"/>
              </a:rPr>
              <a:t>Steering committee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pic>
        <p:nvPicPr>
          <p:cNvPr id="5" name="Picture 4" descr="iStock_000002750643Large_mono.jpg"/>
          <p:cNvPicPr>
            <a:picLocks noChangeAspect="1"/>
          </p:cNvPicPr>
          <p:nvPr/>
        </p:nvPicPr>
        <p:blipFill>
          <a:blip r:embed="rId3" cstate="print"/>
          <a:stretch>
            <a:fillRect/>
          </a:stretch>
        </p:blipFill>
        <p:spPr>
          <a:xfrm>
            <a:off x="6660232" y="3573016"/>
            <a:ext cx="1768606" cy="1556792"/>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7848872" cy="1143000"/>
          </a:xfrm>
        </p:spPr>
        <p:txBody>
          <a:bodyPr>
            <a:normAutofit/>
          </a:bodyPr>
          <a:lstStyle/>
          <a:p>
            <a:r>
              <a:rPr lang="en-US" sz="3400" b="1" dirty="0" smtClean="0">
                <a:solidFill>
                  <a:srgbClr val="FF6600"/>
                </a:solidFill>
                <a:latin typeface="Helvetica" pitchFamily="34" charset="0"/>
              </a:rPr>
              <a:t>Plan and create administrative structure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The presence of Management in administrative structure enables:</a:t>
            </a:r>
          </a:p>
          <a:p>
            <a:pPr marL="360000" indent="-360000">
              <a:spcBef>
                <a:spcPts val="600"/>
              </a:spcBef>
              <a:spcAft>
                <a:spcPts val="1200"/>
              </a:spcAft>
            </a:pPr>
            <a:r>
              <a:rPr lang="en-US" sz="2200" dirty="0" smtClean="0">
                <a:latin typeface="Helvetica" pitchFamily="34" charset="0"/>
              </a:rPr>
              <a:t>Them to obtain first-hand experience of you and the project</a:t>
            </a:r>
          </a:p>
          <a:p>
            <a:pPr marL="360000" indent="-360000">
              <a:spcBef>
                <a:spcPts val="600"/>
              </a:spcBef>
              <a:spcAft>
                <a:spcPts val="1200"/>
              </a:spcAft>
            </a:pPr>
            <a:r>
              <a:rPr lang="en-US" sz="2200" dirty="0" smtClean="0">
                <a:latin typeface="Helvetica" pitchFamily="34" charset="0"/>
              </a:rPr>
              <a:t>Prompt authorisation for action you need to take</a:t>
            </a:r>
          </a:p>
          <a:p>
            <a:pPr marL="360000" indent="-360000">
              <a:spcBef>
                <a:spcPts val="600"/>
              </a:spcBef>
              <a:spcAft>
                <a:spcPts val="1200"/>
              </a:spcAft>
            </a:pPr>
            <a:r>
              <a:rPr lang="en-US" sz="2200" dirty="0" smtClean="0">
                <a:latin typeface="Helvetica" pitchFamily="34" charset="0"/>
              </a:rPr>
              <a:t>Provision of extra information and insight</a:t>
            </a:r>
          </a:p>
          <a:p>
            <a:pPr marL="360000" indent="-360000">
              <a:spcBef>
                <a:spcPts val="600"/>
              </a:spcBef>
              <a:spcAft>
                <a:spcPts val="1200"/>
              </a:spcAft>
            </a:pPr>
            <a:r>
              <a:rPr lang="en-US" sz="2200" dirty="0" smtClean="0">
                <a:latin typeface="Helvetica" pitchFamily="34" charset="0"/>
              </a:rPr>
              <a:t>Them to influence others who you want to </a:t>
            </a:r>
            <a:br>
              <a:rPr lang="en-US" sz="2200" dirty="0" smtClean="0">
                <a:latin typeface="Helvetica" pitchFamily="34" charset="0"/>
              </a:rPr>
            </a:br>
            <a:r>
              <a:rPr lang="en-US" sz="2200" dirty="0" smtClean="0">
                <a:latin typeface="Helvetica" pitchFamily="34" charset="0"/>
              </a:rPr>
              <a:t>influence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5" name="Picture 4" descr="MC900439611.PNG"/>
          <p:cNvPicPr>
            <a:picLocks noChangeAspect="1"/>
          </p:cNvPicPr>
          <p:nvPr/>
        </p:nvPicPr>
        <p:blipFill>
          <a:blip r:embed="rId3" cstate="print"/>
          <a:stretch>
            <a:fillRect/>
          </a:stretch>
        </p:blipFill>
        <p:spPr>
          <a:xfrm>
            <a:off x="6588224" y="3717032"/>
            <a:ext cx="1965432" cy="1712243"/>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7848872" cy="1143000"/>
          </a:xfrm>
        </p:spPr>
        <p:txBody>
          <a:bodyPr>
            <a:normAutofit/>
          </a:bodyPr>
          <a:lstStyle/>
          <a:p>
            <a:r>
              <a:rPr lang="en-US" sz="3400" b="1" dirty="0" smtClean="0">
                <a:solidFill>
                  <a:srgbClr val="FF6600"/>
                </a:solidFill>
                <a:latin typeface="Helvetica" pitchFamily="34" charset="0"/>
              </a:rPr>
              <a:t>Plan and create administrative structure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‘Secretariat’:</a:t>
            </a:r>
          </a:p>
          <a:p>
            <a:pPr marL="360000" indent="-360000">
              <a:spcBef>
                <a:spcPts val="600"/>
              </a:spcBef>
              <a:spcAft>
                <a:spcPts val="1200"/>
              </a:spcAft>
            </a:pPr>
            <a:r>
              <a:rPr lang="en-US" sz="2200" dirty="0" smtClean="0">
                <a:latin typeface="Helvetica" pitchFamily="34" charset="0"/>
              </a:rPr>
              <a:t>Provides administrative support for the project</a:t>
            </a:r>
          </a:p>
          <a:p>
            <a:pPr marL="360000" indent="-360000">
              <a:spcBef>
                <a:spcPts val="600"/>
              </a:spcBef>
              <a:spcAft>
                <a:spcPts val="1200"/>
              </a:spcAft>
            </a:pPr>
            <a:r>
              <a:rPr lang="en-US" sz="2200" dirty="0" smtClean="0">
                <a:latin typeface="Helvetica" pitchFamily="34" charset="0"/>
              </a:rPr>
              <a:t>Usually comprises existing office staff who work on project duties as required or directed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5" name="Picture 4" descr="MP900422246.JPG"/>
          <p:cNvPicPr>
            <a:picLocks noChangeAspect="1"/>
          </p:cNvPicPr>
          <p:nvPr/>
        </p:nvPicPr>
        <p:blipFill>
          <a:blip r:embed="rId3" cstate="print"/>
          <a:stretch>
            <a:fillRect/>
          </a:stretch>
        </p:blipFill>
        <p:spPr>
          <a:xfrm>
            <a:off x="7092280" y="3861048"/>
            <a:ext cx="1322656" cy="1322656"/>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7848872" cy="1143000"/>
          </a:xfrm>
        </p:spPr>
        <p:txBody>
          <a:bodyPr>
            <a:normAutofit/>
          </a:bodyPr>
          <a:lstStyle/>
          <a:p>
            <a:r>
              <a:rPr lang="en-US" sz="3400" b="1" dirty="0" smtClean="0">
                <a:solidFill>
                  <a:srgbClr val="FF6600"/>
                </a:solidFill>
                <a:latin typeface="Helvetica" pitchFamily="34" charset="0"/>
              </a:rPr>
              <a:t>Plan and create administrative structure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556792"/>
            <a:ext cx="7467600" cy="5112568"/>
          </a:xfrm>
        </p:spPr>
        <p:txBody>
          <a:bodyPr>
            <a:normAutofit/>
          </a:bodyPr>
          <a:lstStyle/>
          <a:p>
            <a:pPr marL="0" indent="0">
              <a:spcBef>
                <a:spcPts val="600"/>
              </a:spcBef>
              <a:spcAft>
                <a:spcPts val="1200"/>
              </a:spcAft>
              <a:buNone/>
            </a:pPr>
            <a:r>
              <a:rPr lang="en-US" sz="2200" dirty="0" smtClean="0">
                <a:latin typeface="Helvetica" pitchFamily="34" charset="0"/>
              </a:rPr>
              <a:t>Consultants:</a:t>
            </a:r>
          </a:p>
          <a:p>
            <a:pPr marL="360000" indent="-360000">
              <a:spcBef>
                <a:spcPts val="600"/>
              </a:spcBef>
              <a:spcAft>
                <a:spcPts val="1200"/>
              </a:spcAft>
            </a:pPr>
            <a:r>
              <a:rPr lang="en-US" sz="2200" dirty="0" smtClean="0">
                <a:latin typeface="Helvetica" pitchFamily="34" charset="0"/>
              </a:rPr>
              <a:t>Provide specialised professional advice</a:t>
            </a:r>
          </a:p>
          <a:p>
            <a:pPr marL="360000" indent="-360000">
              <a:spcBef>
                <a:spcPts val="600"/>
              </a:spcBef>
              <a:spcAft>
                <a:spcPts val="1200"/>
              </a:spcAft>
            </a:pPr>
            <a:r>
              <a:rPr lang="en-US" sz="2200" dirty="0" smtClean="0">
                <a:latin typeface="Helvetica" pitchFamily="34" charset="0"/>
              </a:rPr>
              <a:t>Are paid on a fee for service basis or an agreed sum</a:t>
            </a:r>
          </a:p>
          <a:p>
            <a:pPr marL="360000" indent="-360000">
              <a:spcBef>
                <a:spcPts val="600"/>
              </a:spcBef>
              <a:spcAft>
                <a:spcPts val="1200"/>
              </a:spcAft>
            </a:pPr>
            <a:r>
              <a:rPr lang="en-US" sz="2200" dirty="0" smtClean="0">
                <a:latin typeface="Helvetica" pitchFamily="34" charset="0"/>
              </a:rPr>
              <a:t>May provide input:</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At meetings</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Face to face</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By phone</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Online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5" name="Picture 4" descr="iStock_000002894402Small.jpg"/>
          <p:cNvPicPr>
            <a:picLocks noChangeAspect="1"/>
          </p:cNvPicPr>
          <p:nvPr/>
        </p:nvPicPr>
        <p:blipFill>
          <a:blip r:embed="rId3" cstate="print"/>
          <a:stretch>
            <a:fillRect/>
          </a:stretch>
        </p:blipFill>
        <p:spPr>
          <a:xfrm>
            <a:off x="7236296" y="3501008"/>
            <a:ext cx="1157515" cy="174139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7848872" cy="1143000"/>
          </a:xfrm>
        </p:spPr>
        <p:txBody>
          <a:bodyPr>
            <a:normAutofit/>
          </a:bodyPr>
          <a:lstStyle/>
          <a:p>
            <a:r>
              <a:rPr lang="en-US" sz="3400" b="1" dirty="0" smtClean="0">
                <a:solidFill>
                  <a:srgbClr val="FF6600"/>
                </a:solidFill>
                <a:latin typeface="Helvetica" pitchFamily="34" charset="0"/>
              </a:rPr>
              <a:t>Plan and create administrative structure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556792"/>
            <a:ext cx="7704856" cy="4525963"/>
          </a:xfrm>
        </p:spPr>
        <p:txBody>
          <a:bodyPr>
            <a:normAutofit/>
          </a:bodyPr>
          <a:lstStyle/>
          <a:p>
            <a:pPr marL="0" indent="0">
              <a:spcBef>
                <a:spcPts val="600"/>
              </a:spcBef>
              <a:spcAft>
                <a:spcPts val="1200"/>
              </a:spcAft>
              <a:buNone/>
            </a:pPr>
            <a:r>
              <a:rPr lang="en-US" sz="2200" dirty="0" smtClean="0">
                <a:latin typeface="Helvetica" pitchFamily="34" charset="0"/>
              </a:rPr>
              <a:t>Providers and suppliers are chosen via a selection process:</a:t>
            </a:r>
          </a:p>
          <a:p>
            <a:pPr marL="360000" indent="-360000">
              <a:spcBef>
                <a:spcPts val="600"/>
              </a:spcBef>
              <a:spcAft>
                <a:spcPts val="1200"/>
              </a:spcAft>
            </a:pPr>
            <a:r>
              <a:rPr lang="en-US" sz="2200" dirty="0" smtClean="0">
                <a:latin typeface="Helvetica" pitchFamily="34" charset="0"/>
              </a:rPr>
              <a:t>Suitable businesses (pre-selection) are identified</a:t>
            </a:r>
          </a:p>
          <a:p>
            <a:pPr marL="360000" indent="-360000">
              <a:spcBef>
                <a:spcPts val="600"/>
              </a:spcBef>
              <a:spcAft>
                <a:spcPts val="1200"/>
              </a:spcAft>
            </a:pPr>
            <a:r>
              <a:rPr lang="en-US" sz="2200" dirty="0" smtClean="0">
                <a:latin typeface="Helvetica" pitchFamily="34" charset="0"/>
              </a:rPr>
              <a:t>Goods and services to be provided are specified</a:t>
            </a:r>
          </a:p>
          <a:p>
            <a:pPr marL="360000" indent="-360000">
              <a:spcBef>
                <a:spcPts val="600"/>
              </a:spcBef>
              <a:spcAft>
                <a:spcPts val="1200"/>
              </a:spcAft>
            </a:pPr>
            <a:r>
              <a:rPr lang="en-US" sz="2200" dirty="0" smtClean="0">
                <a:latin typeface="Helvetica" pitchFamily="34" charset="0"/>
              </a:rPr>
              <a:t>Samples and quotations are obtained</a:t>
            </a:r>
          </a:p>
          <a:p>
            <a:pPr marL="360000" indent="-360000">
              <a:spcBef>
                <a:spcPts val="600"/>
              </a:spcBef>
              <a:spcAft>
                <a:spcPts val="1200"/>
              </a:spcAft>
            </a:pPr>
            <a:r>
              <a:rPr lang="en-US" sz="2200" dirty="0" smtClean="0">
                <a:latin typeface="Helvetica" pitchFamily="34" charset="0"/>
              </a:rPr>
              <a:t>Participation expected is stipulated</a:t>
            </a:r>
          </a:p>
          <a:p>
            <a:pPr marL="360000" indent="-360000">
              <a:spcBef>
                <a:spcPts val="600"/>
              </a:spcBef>
              <a:spcAft>
                <a:spcPts val="1200"/>
              </a:spcAft>
            </a:pPr>
            <a:r>
              <a:rPr lang="en-US" sz="2200" dirty="0" smtClean="0">
                <a:latin typeface="Helvetica" pitchFamily="34" charset="0"/>
              </a:rPr>
              <a:t>Final decision is made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5" name="Picture 4" descr="MP900423028.JPG"/>
          <p:cNvPicPr>
            <a:picLocks noChangeAspect="1"/>
          </p:cNvPicPr>
          <p:nvPr/>
        </p:nvPicPr>
        <p:blipFill>
          <a:blip r:embed="rId3" cstate="print"/>
          <a:stretch>
            <a:fillRect/>
          </a:stretch>
        </p:blipFill>
        <p:spPr>
          <a:xfrm>
            <a:off x="6948264" y="3717032"/>
            <a:ext cx="1484784" cy="1484784"/>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7848872" cy="1143000"/>
          </a:xfrm>
        </p:spPr>
        <p:txBody>
          <a:bodyPr>
            <a:normAutofit/>
          </a:bodyPr>
          <a:lstStyle/>
          <a:p>
            <a:r>
              <a:rPr lang="en-US" sz="3400" b="1" dirty="0" smtClean="0">
                <a:solidFill>
                  <a:srgbClr val="FF6600"/>
                </a:solidFill>
                <a:latin typeface="Helvetica" pitchFamily="34" charset="0"/>
              </a:rPr>
              <a:t>Plan and create administrative structure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Groups may include:</a:t>
            </a:r>
          </a:p>
          <a:p>
            <a:pPr marL="360000" indent="-360000">
              <a:spcBef>
                <a:spcPts val="600"/>
              </a:spcBef>
              <a:spcAft>
                <a:spcPts val="1200"/>
              </a:spcAft>
            </a:pPr>
            <a:r>
              <a:rPr lang="en-US" sz="2200" dirty="0" smtClean="0">
                <a:latin typeface="Helvetica" pitchFamily="34" charset="0"/>
              </a:rPr>
              <a:t>Advisory groups</a:t>
            </a:r>
          </a:p>
          <a:p>
            <a:pPr marL="360000" indent="-360000">
              <a:spcBef>
                <a:spcPts val="600"/>
              </a:spcBef>
              <a:spcAft>
                <a:spcPts val="1200"/>
              </a:spcAft>
            </a:pPr>
            <a:r>
              <a:rPr lang="en-US" sz="2200" dirty="0" smtClean="0">
                <a:latin typeface="Helvetica" pitchFamily="34" charset="0"/>
              </a:rPr>
              <a:t>Reference groups</a:t>
            </a:r>
          </a:p>
          <a:p>
            <a:pPr marL="360000" indent="-360000">
              <a:spcBef>
                <a:spcPts val="600"/>
              </a:spcBef>
              <a:spcAft>
                <a:spcPts val="1200"/>
              </a:spcAft>
            </a:pPr>
            <a:r>
              <a:rPr lang="en-US" sz="2200" dirty="0" smtClean="0">
                <a:latin typeface="Helvetica" pitchFamily="34" charset="0"/>
              </a:rPr>
              <a:t>Consultative groups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5" name="Picture 4" descr="iStock_000002738475Medium_mono.jpg"/>
          <p:cNvPicPr>
            <a:picLocks noChangeAspect="1"/>
          </p:cNvPicPr>
          <p:nvPr/>
        </p:nvPicPr>
        <p:blipFill>
          <a:blip r:embed="rId3" cstate="print"/>
          <a:stretch>
            <a:fillRect/>
          </a:stretch>
        </p:blipFill>
        <p:spPr>
          <a:xfrm>
            <a:off x="6554488" y="3903200"/>
            <a:ext cx="1833936" cy="1253992"/>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7848872" cy="1143000"/>
          </a:xfrm>
        </p:spPr>
        <p:txBody>
          <a:bodyPr>
            <a:normAutofit/>
          </a:bodyPr>
          <a:lstStyle/>
          <a:p>
            <a:r>
              <a:rPr lang="en-US" sz="3400" b="1" dirty="0" smtClean="0">
                <a:solidFill>
                  <a:srgbClr val="FF6600"/>
                </a:solidFill>
                <a:latin typeface="Helvetica" pitchFamily="34" charset="0"/>
              </a:rPr>
              <a:t>Plan and create administrative structure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Steering Committee may:</a:t>
            </a:r>
          </a:p>
          <a:p>
            <a:pPr marL="360000" indent="-360000">
              <a:spcBef>
                <a:spcPts val="600"/>
              </a:spcBef>
              <a:spcAft>
                <a:spcPts val="1200"/>
              </a:spcAft>
            </a:pPr>
            <a:r>
              <a:rPr lang="en-US" sz="2200" dirty="0" smtClean="0">
                <a:latin typeface="Helvetica" pitchFamily="34" charset="0"/>
              </a:rPr>
              <a:t>Provide oversight for the project</a:t>
            </a:r>
          </a:p>
          <a:p>
            <a:pPr marL="360000" indent="-360000">
              <a:spcBef>
                <a:spcPts val="600"/>
              </a:spcBef>
              <a:spcAft>
                <a:spcPts val="1200"/>
              </a:spcAft>
            </a:pPr>
            <a:r>
              <a:rPr lang="en-US" sz="2200" dirty="0" smtClean="0">
                <a:latin typeface="Helvetica" pitchFamily="34" charset="0"/>
              </a:rPr>
              <a:t>Review project progress</a:t>
            </a:r>
          </a:p>
          <a:p>
            <a:pPr marL="360000" indent="-360000">
              <a:spcBef>
                <a:spcPts val="600"/>
              </a:spcBef>
              <a:spcAft>
                <a:spcPts val="1200"/>
              </a:spcAft>
            </a:pPr>
            <a:r>
              <a:rPr lang="en-US" sz="2200" dirty="0" smtClean="0">
                <a:latin typeface="Helvetica" pitchFamily="34" charset="0"/>
              </a:rPr>
              <a:t>Give guidance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5" name="Picture 4" descr="MP900442559.JPG"/>
          <p:cNvPicPr>
            <a:picLocks noChangeAspect="1"/>
          </p:cNvPicPr>
          <p:nvPr/>
        </p:nvPicPr>
        <p:blipFill>
          <a:blip r:embed="rId3" cstate="print"/>
          <a:stretch>
            <a:fillRect/>
          </a:stretch>
        </p:blipFill>
        <p:spPr>
          <a:xfrm>
            <a:off x="6553558" y="4005064"/>
            <a:ext cx="1830330" cy="1218064"/>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Allocate project responsibilities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dirty="0" smtClean="0">
                <a:latin typeface="Helvetica" pitchFamily="34" charset="0"/>
              </a:rPr>
              <a:t>Factors impacting allocation of project responsibilities:</a:t>
            </a:r>
          </a:p>
          <a:p>
            <a:pPr marL="360000" indent="-360000">
              <a:spcBef>
                <a:spcPts val="600"/>
              </a:spcBef>
              <a:spcAft>
                <a:spcPts val="1200"/>
              </a:spcAft>
            </a:pPr>
            <a:r>
              <a:rPr lang="en-US" sz="2200" dirty="0" smtClean="0">
                <a:latin typeface="Helvetica" pitchFamily="34" charset="0"/>
              </a:rPr>
              <a:t>Composition of the administrative structure</a:t>
            </a:r>
          </a:p>
          <a:p>
            <a:pPr marL="360000" indent="-360000">
              <a:spcBef>
                <a:spcPts val="600"/>
              </a:spcBef>
              <a:spcAft>
                <a:spcPts val="1200"/>
              </a:spcAft>
            </a:pPr>
            <a:r>
              <a:rPr lang="en-US" sz="2200" dirty="0" smtClean="0">
                <a:latin typeface="Helvetica" pitchFamily="34" charset="0"/>
              </a:rPr>
              <a:t>Members of project team</a:t>
            </a:r>
          </a:p>
          <a:p>
            <a:pPr marL="360000" indent="-360000">
              <a:spcBef>
                <a:spcPts val="600"/>
              </a:spcBef>
              <a:spcAft>
                <a:spcPts val="1200"/>
              </a:spcAft>
            </a:pPr>
            <a:r>
              <a:rPr lang="en-US" sz="2200" dirty="0" smtClean="0">
                <a:latin typeface="Helvetica" pitchFamily="34" charset="0"/>
              </a:rPr>
              <a:t>Project-specific plans and strategies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pic>
        <p:nvPicPr>
          <p:cNvPr id="5" name="Picture 4" descr="freeimage-13048781.jpg"/>
          <p:cNvPicPr>
            <a:picLocks noChangeAspect="1"/>
          </p:cNvPicPr>
          <p:nvPr/>
        </p:nvPicPr>
        <p:blipFill>
          <a:blip r:embed="rId3" cstate="print"/>
          <a:stretch>
            <a:fillRect/>
          </a:stretch>
        </p:blipFill>
        <p:spPr>
          <a:xfrm>
            <a:off x="6660232" y="4005064"/>
            <a:ext cx="1764577" cy="1181246"/>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Allocate project responsibilities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US" sz="2200" dirty="0" smtClean="0">
                <a:latin typeface="Helvetica" pitchFamily="34" charset="0"/>
              </a:rPr>
              <a:t>Known strengths and weaknesses of individuals</a:t>
            </a:r>
          </a:p>
          <a:p>
            <a:pPr marL="360000" indent="-360000">
              <a:spcBef>
                <a:spcPts val="600"/>
              </a:spcBef>
              <a:spcAft>
                <a:spcPts val="1200"/>
              </a:spcAft>
            </a:pPr>
            <a:r>
              <a:rPr lang="en-US" sz="2200" dirty="0" smtClean="0">
                <a:latin typeface="Helvetica" pitchFamily="34" charset="0"/>
              </a:rPr>
              <a:t>Those who have volunteered or indicated willingness to participate</a:t>
            </a:r>
          </a:p>
          <a:p>
            <a:pPr marL="360000" indent="-360000">
              <a:spcBef>
                <a:spcPts val="600"/>
              </a:spcBef>
              <a:spcAft>
                <a:spcPts val="1200"/>
              </a:spcAft>
            </a:pPr>
            <a:r>
              <a:rPr lang="en-US" sz="2200" dirty="0" smtClean="0">
                <a:latin typeface="Helvetica" pitchFamily="34" charset="0"/>
              </a:rPr>
              <a:t>Instructions from management</a:t>
            </a:r>
          </a:p>
          <a:p>
            <a:pPr marL="360000" indent="-360000">
              <a:spcBef>
                <a:spcPts val="600"/>
              </a:spcBef>
              <a:spcAft>
                <a:spcPts val="1200"/>
              </a:spcAft>
            </a:pPr>
            <a:r>
              <a:rPr lang="en-US" sz="2200" dirty="0" smtClean="0">
                <a:latin typeface="Helvetica" pitchFamily="34" charset="0"/>
              </a:rPr>
              <a:t>Personal development for individual staff</a:t>
            </a:r>
          </a:p>
          <a:p>
            <a:pPr marL="360000" indent="-360000">
              <a:spcBef>
                <a:spcPts val="600"/>
              </a:spcBef>
              <a:spcAft>
                <a:spcPts val="1200"/>
              </a:spcAft>
            </a:pPr>
            <a:r>
              <a:rPr lang="en-US" sz="2200" dirty="0" smtClean="0">
                <a:latin typeface="Helvetica" pitchFamily="34" charset="0"/>
              </a:rPr>
              <a:t>Requests from relevant bodies or agencies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5" name="Picture 4" descr="MP900423037.JPG"/>
          <p:cNvPicPr>
            <a:picLocks noChangeAspect="1"/>
          </p:cNvPicPr>
          <p:nvPr/>
        </p:nvPicPr>
        <p:blipFill>
          <a:blip r:embed="rId3" cstate="print"/>
          <a:stretch>
            <a:fillRect/>
          </a:stretch>
        </p:blipFill>
        <p:spPr>
          <a:xfrm>
            <a:off x="6903640" y="3789040"/>
            <a:ext cx="1484784" cy="1484784"/>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Allocate project responsibilities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Communicating allocation of responsibilities:</a:t>
            </a:r>
          </a:p>
          <a:p>
            <a:pPr marL="360000" indent="-360000">
              <a:spcBef>
                <a:spcPts val="600"/>
              </a:spcBef>
              <a:spcAft>
                <a:spcPts val="1200"/>
              </a:spcAft>
            </a:pPr>
            <a:r>
              <a:rPr lang="en-US" sz="2200" dirty="0" smtClean="0">
                <a:latin typeface="Helvetica" pitchFamily="34" charset="0"/>
              </a:rPr>
              <a:t>Determine preferred communication method for all involved</a:t>
            </a:r>
          </a:p>
          <a:p>
            <a:pPr marL="360000" indent="-360000">
              <a:spcBef>
                <a:spcPts val="600"/>
              </a:spcBef>
              <a:spcAft>
                <a:spcPts val="1200"/>
              </a:spcAft>
            </a:pPr>
            <a:r>
              <a:rPr lang="en-US" sz="2200" dirty="0" smtClean="0">
                <a:latin typeface="Helvetica" pitchFamily="34" charset="0"/>
              </a:rPr>
              <a:t>Identify format and content</a:t>
            </a:r>
          </a:p>
          <a:p>
            <a:pPr marL="360000" indent="-360000">
              <a:spcBef>
                <a:spcPts val="600"/>
              </a:spcBef>
              <a:spcAft>
                <a:spcPts val="1200"/>
              </a:spcAft>
            </a:pPr>
            <a:r>
              <a:rPr lang="en-US" sz="2200" dirty="0" smtClean="0">
                <a:latin typeface="Helvetica" pitchFamily="34" charset="0"/>
              </a:rPr>
              <a:t>Develop ‘Distribution List’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5" name="Picture 4" descr="iStock_000002071169Medium.jpg"/>
          <p:cNvPicPr>
            <a:picLocks noChangeAspect="1"/>
          </p:cNvPicPr>
          <p:nvPr/>
        </p:nvPicPr>
        <p:blipFill>
          <a:blip r:embed="rId3" cstate="print"/>
          <a:stretch>
            <a:fillRect/>
          </a:stretch>
        </p:blipFill>
        <p:spPr>
          <a:xfrm>
            <a:off x="6516216" y="3933056"/>
            <a:ext cx="1938144" cy="1292742"/>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Allocate project responsibilities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Tips to optimise clear communication:</a:t>
            </a:r>
          </a:p>
          <a:p>
            <a:pPr marL="360000" indent="-360000">
              <a:spcBef>
                <a:spcPts val="600"/>
              </a:spcBef>
              <a:spcAft>
                <a:spcPts val="1200"/>
              </a:spcAft>
            </a:pPr>
            <a:r>
              <a:rPr lang="en-US" sz="2200" dirty="0" smtClean="0">
                <a:latin typeface="Helvetica" pitchFamily="34" charset="0"/>
              </a:rPr>
              <a:t>Plan the communication</a:t>
            </a:r>
          </a:p>
          <a:p>
            <a:pPr marL="360000" indent="-360000">
              <a:spcBef>
                <a:spcPts val="600"/>
              </a:spcBef>
              <a:spcAft>
                <a:spcPts val="1200"/>
              </a:spcAft>
            </a:pPr>
            <a:r>
              <a:rPr lang="en-US" sz="2200" dirty="0" smtClean="0">
                <a:latin typeface="Helvetica" pitchFamily="34" charset="0"/>
              </a:rPr>
              <a:t>Write/speak succinctly</a:t>
            </a:r>
          </a:p>
          <a:p>
            <a:pPr marL="360000" indent="-360000">
              <a:spcBef>
                <a:spcPts val="600"/>
              </a:spcBef>
              <a:spcAft>
                <a:spcPts val="1200"/>
              </a:spcAft>
            </a:pPr>
            <a:r>
              <a:rPr lang="en-US" sz="2200" dirty="0" smtClean="0">
                <a:latin typeface="Helvetica" pitchFamily="34" charset="0"/>
              </a:rPr>
              <a:t>Use only ‘known’ language</a:t>
            </a:r>
          </a:p>
          <a:p>
            <a:pPr marL="360000" indent="-360000">
              <a:spcBef>
                <a:spcPts val="600"/>
              </a:spcBef>
              <a:spcAft>
                <a:spcPts val="1200"/>
              </a:spcAft>
            </a:pPr>
            <a:r>
              <a:rPr lang="en-US" sz="2200" dirty="0" smtClean="0">
                <a:latin typeface="Helvetica" pitchFamily="34" charset="0"/>
              </a:rPr>
              <a:t>Only communicate when you have </a:t>
            </a:r>
            <a:br>
              <a:rPr lang="en-US" sz="2200" dirty="0" smtClean="0">
                <a:latin typeface="Helvetica" pitchFamily="34" charset="0"/>
              </a:rPr>
            </a:br>
            <a:r>
              <a:rPr lang="en-US" sz="2200" dirty="0" smtClean="0">
                <a:latin typeface="Helvetica" pitchFamily="34" charset="0"/>
              </a:rPr>
              <a:t>something to say</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5" name="Picture 4" descr="MP900422352.JPG"/>
          <p:cNvPicPr>
            <a:picLocks noChangeAspect="1"/>
          </p:cNvPicPr>
          <p:nvPr/>
        </p:nvPicPr>
        <p:blipFill>
          <a:blip r:embed="rId3" cstate="print"/>
          <a:stretch>
            <a:fillRect/>
          </a:stretch>
        </p:blipFill>
        <p:spPr>
          <a:xfrm>
            <a:off x="7020272" y="3284984"/>
            <a:ext cx="1397160" cy="1951831"/>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Allocate project responsibilities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Allocate sufficient time to the task</a:t>
            </a:r>
          </a:p>
          <a:p>
            <a:pPr marL="360000" indent="-360000">
              <a:spcBef>
                <a:spcPts val="600"/>
              </a:spcBef>
              <a:spcAft>
                <a:spcPts val="1200"/>
              </a:spcAft>
            </a:pPr>
            <a:r>
              <a:rPr lang="en-US" sz="2200" dirty="0" smtClean="0">
                <a:latin typeface="Helvetica" pitchFamily="34" charset="0"/>
              </a:rPr>
              <a:t>Be prepared to ‘explain’ what you have to say</a:t>
            </a:r>
          </a:p>
          <a:p>
            <a:pPr marL="360000" indent="-360000">
              <a:spcBef>
                <a:spcPts val="600"/>
              </a:spcBef>
              <a:spcAft>
                <a:spcPts val="1200"/>
              </a:spcAft>
            </a:pPr>
            <a:r>
              <a:rPr lang="en-US" sz="2200" dirty="0" smtClean="0">
                <a:latin typeface="Helvetica" pitchFamily="34" charset="0"/>
              </a:rPr>
              <a:t>Monitor receipt of communication</a:t>
            </a:r>
          </a:p>
          <a:p>
            <a:pPr marL="360000" indent="-360000">
              <a:spcBef>
                <a:spcPts val="600"/>
              </a:spcBef>
              <a:spcAft>
                <a:spcPts val="1200"/>
              </a:spcAft>
            </a:pPr>
            <a:r>
              <a:rPr lang="en-US" sz="2200" dirty="0" smtClean="0">
                <a:latin typeface="Helvetica" pitchFamily="34" charset="0"/>
              </a:rPr>
              <a:t>Be respectful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5" name="Picture 4" descr="iStock_000002388668Medium.jpg"/>
          <p:cNvPicPr>
            <a:picLocks noChangeAspect="1"/>
          </p:cNvPicPr>
          <p:nvPr/>
        </p:nvPicPr>
        <p:blipFill>
          <a:blip r:embed="rId3" cstate="print"/>
          <a:stretch>
            <a:fillRect/>
          </a:stretch>
        </p:blipFill>
        <p:spPr>
          <a:xfrm>
            <a:off x="6804248" y="4149080"/>
            <a:ext cx="1619672" cy="1078827"/>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Allocate project responsibilities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dirty="0" smtClean="0">
                <a:latin typeface="Helvetica" pitchFamily="34" charset="0"/>
              </a:rPr>
              <a:t>Methods of communication:</a:t>
            </a:r>
          </a:p>
          <a:p>
            <a:pPr marL="360000" indent="-360000">
              <a:spcBef>
                <a:spcPts val="600"/>
              </a:spcBef>
              <a:spcAft>
                <a:spcPts val="1200"/>
              </a:spcAft>
            </a:pPr>
            <a:r>
              <a:rPr lang="en-US" sz="2200" dirty="0" smtClean="0">
                <a:latin typeface="Helvetica" pitchFamily="34" charset="0"/>
              </a:rPr>
              <a:t>One on one meetings</a:t>
            </a:r>
          </a:p>
          <a:p>
            <a:pPr marL="360000" indent="-360000">
              <a:spcBef>
                <a:spcPts val="600"/>
              </a:spcBef>
              <a:spcAft>
                <a:spcPts val="1200"/>
              </a:spcAft>
            </a:pPr>
            <a:r>
              <a:rPr lang="en-US" sz="2200" dirty="0" smtClean="0">
                <a:latin typeface="Helvetica" pitchFamily="34" charset="0"/>
              </a:rPr>
              <a:t>Group meetings</a:t>
            </a:r>
          </a:p>
          <a:p>
            <a:pPr marL="360000" indent="-360000">
              <a:spcBef>
                <a:spcPts val="600"/>
              </a:spcBef>
              <a:spcAft>
                <a:spcPts val="1200"/>
              </a:spcAft>
            </a:pPr>
            <a:r>
              <a:rPr lang="en-US" sz="2200" dirty="0" smtClean="0">
                <a:latin typeface="Helvetica" pitchFamily="34" charset="0"/>
              </a:rPr>
              <a:t>Telephone</a:t>
            </a:r>
          </a:p>
          <a:p>
            <a:pPr marL="360000" indent="-360000">
              <a:spcBef>
                <a:spcPts val="600"/>
              </a:spcBef>
              <a:spcAft>
                <a:spcPts val="1200"/>
              </a:spcAft>
            </a:pPr>
            <a:r>
              <a:rPr lang="en-US" sz="2200" dirty="0" smtClean="0">
                <a:latin typeface="Helvetica" pitchFamily="34" charset="0"/>
              </a:rPr>
              <a:t>Email</a:t>
            </a:r>
          </a:p>
          <a:p>
            <a:pPr marL="360000" indent="-360000">
              <a:spcBef>
                <a:spcPts val="600"/>
              </a:spcBef>
              <a:spcAft>
                <a:spcPts val="1200"/>
              </a:spcAft>
            </a:pPr>
            <a:r>
              <a:rPr lang="en-US" sz="2200" dirty="0" smtClean="0">
                <a:latin typeface="Helvetica" pitchFamily="34" charset="0"/>
              </a:rPr>
              <a:t>Memos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6" name="Picture 5" descr="Internet logo 2.JPG"/>
          <p:cNvPicPr>
            <a:picLocks noChangeAspect="1"/>
          </p:cNvPicPr>
          <p:nvPr/>
        </p:nvPicPr>
        <p:blipFill>
          <a:blip r:embed="rId3" cstate="print"/>
          <a:stretch>
            <a:fillRect/>
          </a:stretch>
        </p:blipFill>
        <p:spPr>
          <a:xfrm>
            <a:off x="6828298" y="2924944"/>
            <a:ext cx="1542986" cy="231335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Allocate project responsibilities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Project management tools can be used for:</a:t>
            </a:r>
          </a:p>
          <a:p>
            <a:pPr marL="360000" indent="-360000">
              <a:spcBef>
                <a:spcPts val="600"/>
              </a:spcBef>
              <a:spcAft>
                <a:spcPts val="1200"/>
              </a:spcAft>
            </a:pPr>
            <a:r>
              <a:rPr lang="en-US" sz="2200" dirty="0" smtClean="0">
                <a:latin typeface="Helvetica" pitchFamily="34" charset="0"/>
              </a:rPr>
              <a:t>Planning</a:t>
            </a:r>
          </a:p>
          <a:p>
            <a:pPr marL="360000" indent="-360000">
              <a:spcBef>
                <a:spcPts val="600"/>
              </a:spcBef>
              <a:spcAft>
                <a:spcPts val="1200"/>
              </a:spcAft>
            </a:pPr>
            <a:r>
              <a:rPr lang="en-US" sz="2200" dirty="0" smtClean="0">
                <a:latin typeface="Helvetica" pitchFamily="34" charset="0"/>
              </a:rPr>
              <a:t>Managing and monitoring</a:t>
            </a:r>
          </a:p>
          <a:p>
            <a:pPr marL="360000" indent="-360000">
              <a:spcBef>
                <a:spcPts val="600"/>
              </a:spcBef>
              <a:spcAft>
                <a:spcPts val="1200"/>
              </a:spcAft>
            </a:pPr>
            <a:r>
              <a:rPr lang="en-US" sz="2200" dirty="0" smtClean="0">
                <a:latin typeface="Helvetica" pitchFamily="34" charset="0"/>
              </a:rPr>
              <a:t>Sequencing tasks for the project</a:t>
            </a:r>
          </a:p>
          <a:p>
            <a:pPr marL="360000" indent="-360000">
              <a:spcBef>
                <a:spcPts val="600"/>
              </a:spcBef>
              <a:spcAft>
                <a:spcPts val="1200"/>
              </a:spcAft>
            </a:pPr>
            <a:r>
              <a:rPr lang="en-US" sz="2200" dirty="0" smtClean="0">
                <a:latin typeface="Helvetica" pitchFamily="34" charset="0"/>
              </a:rPr>
              <a:t>Budget control</a:t>
            </a:r>
          </a:p>
          <a:p>
            <a:pPr marL="360000" indent="-360000">
              <a:spcBef>
                <a:spcPts val="600"/>
              </a:spcBef>
              <a:spcAft>
                <a:spcPts val="1200"/>
              </a:spcAft>
            </a:pPr>
            <a:r>
              <a:rPr lang="en-US" sz="2200" dirty="0" smtClean="0">
                <a:latin typeface="Helvetica" pitchFamily="34" charset="0"/>
              </a:rPr>
              <a:t>Project evaluation</a:t>
            </a:r>
          </a:p>
          <a:p>
            <a:pPr marL="360000" indent="-360000" algn="ctr">
              <a:spcBef>
                <a:spcPts val="600"/>
              </a:spcBef>
              <a:spcAft>
                <a:spcPts val="1200"/>
              </a:spcAft>
              <a:buNone/>
            </a:pPr>
            <a:r>
              <a:rPr lang="en-US" sz="2200" i="1" dirty="0" smtClean="0">
                <a:latin typeface="Helvetica" pitchFamily="34" charset="0"/>
              </a:rPr>
              <a:t>Most small projects do not use </a:t>
            </a:r>
            <a:br>
              <a:rPr lang="en-US" sz="2200" i="1" dirty="0" smtClean="0">
                <a:latin typeface="Helvetica" pitchFamily="34" charset="0"/>
              </a:rPr>
            </a:br>
            <a:r>
              <a:rPr lang="en-US" sz="2200" i="1" dirty="0" smtClean="0">
                <a:latin typeface="Helvetica" pitchFamily="34" charset="0"/>
              </a:rPr>
              <a:t>project management tools.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5" name="Picture 4" descr="iStock_000003921984Medium.jpg"/>
          <p:cNvPicPr>
            <a:picLocks noChangeAspect="1"/>
          </p:cNvPicPr>
          <p:nvPr/>
        </p:nvPicPr>
        <p:blipFill>
          <a:blip r:embed="rId3" cstate="print"/>
          <a:stretch>
            <a:fillRect/>
          </a:stretch>
        </p:blipFill>
        <p:spPr>
          <a:xfrm>
            <a:off x="7164288" y="3393123"/>
            <a:ext cx="1220433" cy="1828493"/>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Allocate project responsibilities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Examples of project management tools:</a:t>
            </a:r>
          </a:p>
          <a:p>
            <a:pPr marL="360000" indent="-360000">
              <a:spcBef>
                <a:spcPts val="600"/>
              </a:spcBef>
              <a:spcAft>
                <a:spcPts val="1200"/>
              </a:spcAft>
            </a:pPr>
            <a:r>
              <a:rPr lang="en-US" sz="2200" dirty="0" smtClean="0">
                <a:latin typeface="Helvetica" pitchFamily="34" charset="0"/>
              </a:rPr>
              <a:t>Cost/Schedule Control System</a:t>
            </a:r>
          </a:p>
          <a:p>
            <a:pPr marL="360000" indent="-360000">
              <a:spcBef>
                <a:spcPts val="600"/>
              </a:spcBef>
              <a:spcAft>
                <a:spcPts val="1200"/>
              </a:spcAft>
            </a:pPr>
            <a:r>
              <a:rPr lang="en-US" sz="2200" dirty="0" smtClean="0">
                <a:latin typeface="Helvetica" pitchFamily="34" charset="0"/>
              </a:rPr>
              <a:t>Critical Path Method</a:t>
            </a:r>
          </a:p>
          <a:p>
            <a:pPr marL="360000" indent="-360000">
              <a:spcBef>
                <a:spcPts val="600"/>
              </a:spcBef>
              <a:spcAft>
                <a:spcPts val="1200"/>
              </a:spcAft>
            </a:pPr>
            <a:r>
              <a:rPr lang="en-US" sz="2200" dirty="0" smtClean="0">
                <a:latin typeface="Helvetica" pitchFamily="34" charset="0"/>
              </a:rPr>
              <a:t>Gantt charts</a:t>
            </a:r>
          </a:p>
          <a:p>
            <a:pPr marL="360000" indent="-3600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5" name="Picture 4" descr="29569613.jpg"/>
          <p:cNvPicPr>
            <a:picLocks noChangeAspect="1"/>
          </p:cNvPicPr>
          <p:nvPr/>
        </p:nvPicPr>
        <p:blipFill>
          <a:blip r:embed="rId3" cstate="print"/>
          <a:stretch>
            <a:fillRect/>
          </a:stretch>
        </p:blipFill>
        <p:spPr>
          <a:xfrm>
            <a:off x="6948264" y="4005064"/>
            <a:ext cx="1508136" cy="1210292"/>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Allocate project responsibilities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US" sz="2200" dirty="0" smtClean="0">
                <a:latin typeface="Helvetica" pitchFamily="34" charset="0"/>
              </a:rPr>
              <a:t>Life Cycle Cost Analysis</a:t>
            </a:r>
          </a:p>
          <a:p>
            <a:pPr marL="360000" indent="-360000">
              <a:spcBef>
                <a:spcPts val="600"/>
              </a:spcBef>
              <a:spcAft>
                <a:spcPts val="1200"/>
              </a:spcAft>
            </a:pPr>
            <a:r>
              <a:rPr lang="en-US" sz="2200" dirty="0" smtClean="0">
                <a:latin typeface="Helvetica" pitchFamily="34" charset="0"/>
              </a:rPr>
              <a:t>Logistics support analysis</a:t>
            </a:r>
          </a:p>
          <a:p>
            <a:pPr marL="360000" indent="-360000">
              <a:spcBef>
                <a:spcPts val="600"/>
              </a:spcBef>
              <a:spcAft>
                <a:spcPts val="1200"/>
              </a:spcAft>
            </a:pPr>
            <a:r>
              <a:rPr lang="en-US" sz="2200" dirty="0" smtClean="0">
                <a:latin typeface="Helvetica" pitchFamily="34" charset="0"/>
              </a:rPr>
              <a:t>PERT charts</a:t>
            </a:r>
          </a:p>
          <a:p>
            <a:pPr marL="360000" indent="-360000">
              <a:spcBef>
                <a:spcPts val="600"/>
              </a:spcBef>
              <a:spcAft>
                <a:spcPts val="1200"/>
              </a:spcAft>
            </a:pPr>
            <a:r>
              <a:rPr lang="en-US" sz="2200" dirty="0" smtClean="0">
                <a:latin typeface="Helvetica" pitchFamily="34" charset="0"/>
              </a:rPr>
              <a:t>Project Management Software (PMS)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5" name="Picture 4" descr="freeimage-6143550.jpg"/>
          <p:cNvPicPr>
            <a:picLocks noChangeAspect="1"/>
          </p:cNvPicPr>
          <p:nvPr/>
        </p:nvPicPr>
        <p:blipFill>
          <a:blip r:embed="rId3" cstate="print"/>
          <a:stretch>
            <a:fillRect/>
          </a:stretch>
        </p:blipFill>
        <p:spPr>
          <a:xfrm>
            <a:off x="6588224" y="3861048"/>
            <a:ext cx="1811693" cy="1358770"/>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332656"/>
            <a:ext cx="7776864" cy="1080120"/>
          </a:xfrm>
        </p:spPr>
        <p:txBody>
          <a:bodyPr>
            <a:noAutofit/>
          </a:bodyPr>
          <a:lstStyle/>
          <a:p>
            <a:r>
              <a:rPr lang="en-US" sz="3400" b="1" dirty="0" smtClean="0">
                <a:solidFill>
                  <a:srgbClr val="FF6600"/>
                </a:solidFill>
                <a:latin typeface="Helvetica" pitchFamily="34" charset="0"/>
              </a:rPr>
              <a:t>Plan communications, PR and marketing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9552"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You should involve the following in planning communications for a project:</a:t>
            </a:r>
          </a:p>
          <a:p>
            <a:pPr marL="360000" indent="-360000">
              <a:spcBef>
                <a:spcPts val="600"/>
              </a:spcBef>
              <a:spcAft>
                <a:spcPts val="1200"/>
              </a:spcAft>
            </a:pPr>
            <a:r>
              <a:rPr lang="en-US" sz="2200" dirty="0" smtClean="0">
                <a:latin typeface="Helvetica" pitchFamily="34" charset="0"/>
              </a:rPr>
              <a:t>Appropriate colleagues</a:t>
            </a:r>
          </a:p>
          <a:p>
            <a:pPr marL="360000" indent="-360000">
              <a:spcBef>
                <a:spcPts val="600"/>
              </a:spcBef>
              <a:spcAft>
                <a:spcPts val="1200"/>
              </a:spcAft>
            </a:pPr>
            <a:r>
              <a:rPr lang="en-US" sz="2200" dirty="0" smtClean="0">
                <a:latin typeface="Helvetica" pitchFamily="34" charset="0"/>
              </a:rPr>
              <a:t>Persons from outside the business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5" name="Picture 4" descr="sales and marketing - iStock_000005752016Small.jpg"/>
          <p:cNvPicPr>
            <a:picLocks noChangeAspect="1"/>
          </p:cNvPicPr>
          <p:nvPr/>
        </p:nvPicPr>
        <p:blipFill>
          <a:blip r:embed="rId3" cstate="print"/>
          <a:stretch>
            <a:fillRect/>
          </a:stretch>
        </p:blipFill>
        <p:spPr>
          <a:xfrm>
            <a:off x="6084168" y="3717032"/>
            <a:ext cx="2302768" cy="1530663"/>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Planning internal communication for a project should determine:</a:t>
            </a:r>
          </a:p>
          <a:p>
            <a:pPr marL="360000" indent="-360000">
              <a:spcBef>
                <a:spcPts val="600"/>
              </a:spcBef>
              <a:spcAft>
                <a:spcPts val="1200"/>
              </a:spcAft>
            </a:pPr>
            <a:r>
              <a:rPr lang="en-US" sz="2200" dirty="0" smtClean="0">
                <a:latin typeface="Helvetica" pitchFamily="34" charset="0"/>
              </a:rPr>
              <a:t>How communication will occur</a:t>
            </a:r>
          </a:p>
          <a:p>
            <a:pPr marL="360000" indent="-360000">
              <a:spcBef>
                <a:spcPts val="600"/>
              </a:spcBef>
              <a:spcAft>
                <a:spcPts val="1200"/>
              </a:spcAft>
            </a:pPr>
            <a:r>
              <a:rPr lang="en-US" sz="2200" dirty="0" smtClean="0">
                <a:latin typeface="Helvetica" pitchFamily="34" charset="0"/>
              </a:rPr>
              <a:t>Frequency of communication</a:t>
            </a:r>
          </a:p>
          <a:p>
            <a:pPr marL="360000" indent="-360000">
              <a:spcBef>
                <a:spcPts val="600"/>
              </a:spcBef>
              <a:spcAft>
                <a:spcPts val="1200"/>
              </a:spcAft>
            </a:pPr>
            <a:r>
              <a:rPr lang="en-US" sz="2200" dirty="0" smtClean="0">
                <a:latin typeface="Helvetica" pitchFamily="34" charset="0"/>
              </a:rPr>
              <a:t>Report dates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sp>
        <p:nvSpPr>
          <p:cNvPr id="5" name="Title 1"/>
          <p:cNvSpPr txBox="1">
            <a:spLocks/>
          </p:cNvSpPr>
          <p:nvPr/>
        </p:nvSpPr>
        <p:spPr>
          <a:xfrm>
            <a:off x="611560" y="332656"/>
            <a:ext cx="7776864" cy="1080120"/>
          </a:xfrm>
          <a:prstGeom prst="rect">
            <a:avLst/>
          </a:prstGeom>
        </p:spPr>
        <p:txBody>
          <a:bodyPr vert="horz" lIns="45720" rIns="4572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400" b="1" i="0" u="none" strike="noStrike" kern="1200" cap="none" spc="0" normalizeH="0" baseline="0" noProof="0" dirty="0" smtClean="0">
                <a:ln>
                  <a:noFill/>
                </a:ln>
                <a:solidFill>
                  <a:srgbClr val="FF6600"/>
                </a:solidFill>
                <a:effectLst/>
                <a:uLnTx/>
                <a:uFillTx/>
                <a:latin typeface="Helvetica" pitchFamily="34" charset="0"/>
                <a:ea typeface="+mj-ea"/>
                <a:cs typeface="+mj-cs"/>
              </a:rPr>
              <a:t>Plan communications, PR and marketing</a:t>
            </a:r>
            <a:endParaRPr kumimoji="0" lang="en-US" sz="3400" b="1" i="0" u="none" strike="noStrike" kern="1200" cap="none" spc="0" normalizeH="0" baseline="0" noProof="0" dirty="0">
              <a:ln>
                <a:noFill/>
              </a:ln>
              <a:solidFill>
                <a:srgbClr val="FF6600"/>
              </a:solidFill>
              <a:effectLst/>
              <a:uLnTx/>
              <a:uFillTx/>
              <a:latin typeface="Helvetica" pitchFamily="34" charset="0"/>
              <a:ea typeface="+mj-ea"/>
              <a:cs typeface="+mj-cs"/>
            </a:endParaRPr>
          </a:p>
        </p:txBody>
      </p:sp>
      <p:pic>
        <p:nvPicPr>
          <p:cNvPr id="6" name="Picture 5" descr="Filing.jpg"/>
          <p:cNvPicPr>
            <a:picLocks noChangeAspect="1"/>
          </p:cNvPicPr>
          <p:nvPr/>
        </p:nvPicPr>
        <p:blipFill>
          <a:blip r:embed="rId3" cstate="print"/>
          <a:stretch>
            <a:fillRect/>
          </a:stretch>
        </p:blipFill>
        <p:spPr>
          <a:xfrm>
            <a:off x="6804248" y="3573016"/>
            <a:ext cx="1455032" cy="1455032"/>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Topics for communication</a:t>
            </a:r>
          </a:p>
          <a:p>
            <a:pPr marL="360000" indent="-360000">
              <a:spcBef>
                <a:spcPts val="600"/>
              </a:spcBef>
              <a:spcAft>
                <a:spcPts val="1200"/>
              </a:spcAft>
            </a:pPr>
            <a:r>
              <a:rPr lang="en-US" sz="2200" dirty="0" smtClean="0">
                <a:latin typeface="Helvetica" pitchFamily="34" charset="0"/>
              </a:rPr>
              <a:t>Protocols</a:t>
            </a:r>
          </a:p>
          <a:p>
            <a:pPr marL="360000" indent="-360000">
              <a:spcBef>
                <a:spcPts val="600"/>
              </a:spcBef>
              <a:spcAft>
                <a:spcPts val="1200"/>
              </a:spcAft>
            </a:pPr>
            <a:r>
              <a:rPr lang="en-US" sz="2200" dirty="0" smtClean="0">
                <a:latin typeface="Helvetica" pitchFamily="34" charset="0"/>
              </a:rPr>
              <a:t>Formats</a:t>
            </a:r>
          </a:p>
          <a:p>
            <a:pPr marL="360000" indent="-360000">
              <a:spcBef>
                <a:spcPts val="600"/>
              </a:spcBef>
              <a:spcAft>
                <a:spcPts val="1200"/>
              </a:spcAft>
            </a:pPr>
            <a:r>
              <a:rPr lang="en-US" sz="2200" dirty="0" smtClean="0">
                <a:latin typeface="Helvetica" pitchFamily="34" charset="0"/>
              </a:rPr>
              <a:t>Filing requirements</a:t>
            </a:r>
          </a:p>
          <a:p>
            <a:pPr marL="360000" indent="-360000">
              <a:spcBef>
                <a:spcPts val="600"/>
              </a:spcBef>
              <a:spcAft>
                <a:spcPts val="1200"/>
              </a:spcAft>
            </a:pPr>
            <a:r>
              <a:rPr lang="en-US" sz="2200" dirty="0" smtClean="0">
                <a:latin typeface="Helvetica" pitchFamily="34" charset="0"/>
              </a:rPr>
              <a:t>Distribution Lists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sp>
        <p:nvSpPr>
          <p:cNvPr id="7" name="Title 1"/>
          <p:cNvSpPr txBox="1">
            <a:spLocks/>
          </p:cNvSpPr>
          <p:nvPr/>
        </p:nvSpPr>
        <p:spPr>
          <a:xfrm>
            <a:off x="611560" y="332656"/>
            <a:ext cx="7776864" cy="1080120"/>
          </a:xfrm>
          <a:prstGeom prst="rect">
            <a:avLst/>
          </a:prstGeom>
        </p:spPr>
        <p:txBody>
          <a:bodyPr vert="horz" lIns="45720" rIns="4572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400" b="1" i="0" u="none" strike="noStrike" kern="1200" cap="none" spc="0" normalizeH="0" baseline="0" noProof="0" dirty="0" smtClean="0">
                <a:ln>
                  <a:noFill/>
                </a:ln>
                <a:solidFill>
                  <a:srgbClr val="FF6600"/>
                </a:solidFill>
                <a:effectLst/>
                <a:uLnTx/>
                <a:uFillTx/>
                <a:latin typeface="Helvetica" pitchFamily="34" charset="0"/>
                <a:ea typeface="+mj-ea"/>
                <a:cs typeface="+mj-cs"/>
              </a:rPr>
              <a:t>Plan communications, PR and marketing</a:t>
            </a:r>
            <a:endParaRPr kumimoji="0" lang="en-US" sz="3400" b="1" i="0" u="none" strike="noStrike" kern="1200" cap="none" spc="0" normalizeH="0" baseline="0" noProof="0" dirty="0">
              <a:ln>
                <a:noFill/>
              </a:ln>
              <a:solidFill>
                <a:srgbClr val="FF6600"/>
              </a:solidFill>
              <a:effectLst/>
              <a:uLnTx/>
              <a:uFillTx/>
              <a:latin typeface="Helvetica" pitchFamily="34" charset="0"/>
              <a:ea typeface="+mj-ea"/>
              <a:cs typeface="+mj-cs"/>
            </a:endParaRPr>
          </a:p>
        </p:txBody>
      </p:sp>
      <p:pic>
        <p:nvPicPr>
          <p:cNvPr id="5" name="Picture 4" descr="team meet 2.jpg"/>
          <p:cNvPicPr>
            <a:picLocks noChangeAspect="1"/>
          </p:cNvPicPr>
          <p:nvPr/>
        </p:nvPicPr>
        <p:blipFill>
          <a:blip r:embed="rId3" cstate="print"/>
          <a:stretch>
            <a:fillRect/>
          </a:stretch>
        </p:blipFill>
        <p:spPr>
          <a:xfrm>
            <a:off x="6660232" y="3933056"/>
            <a:ext cx="1700229" cy="1269504"/>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External communication may be required with:</a:t>
            </a:r>
          </a:p>
          <a:p>
            <a:pPr marL="360000" indent="-360000">
              <a:spcBef>
                <a:spcPts val="600"/>
              </a:spcBef>
              <a:spcAft>
                <a:spcPts val="1200"/>
              </a:spcAft>
            </a:pPr>
            <a:r>
              <a:rPr lang="en-US" sz="2200" dirty="0" smtClean="0">
                <a:latin typeface="Helvetica" pitchFamily="34" charset="0"/>
              </a:rPr>
              <a:t>Those on the Distribution List</a:t>
            </a:r>
          </a:p>
          <a:p>
            <a:pPr marL="360000" indent="-360000">
              <a:spcBef>
                <a:spcPts val="600"/>
              </a:spcBef>
              <a:spcAft>
                <a:spcPts val="1200"/>
              </a:spcAft>
            </a:pPr>
            <a:r>
              <a:rPr lang="en-US" sz="2200" dirty="0" smtClean="0">
                <a:latin typeface="Helvetica" pitchFamily="34" charset="0"/>
              </a:rPr>
              <a:t>Government agencies</a:t>
            </a:r>
          </a:p>
          <a:p>
            <a:pPr marL="360000" indent="-360000">
              <a:spcBef>
                <a:spcPts val="600"/>
              </a:spcBef>
              <a:spcAft>
                <a:spcPts val="1200"/>
              </a:spcAft>
            </a:pPr>
            <a:r>
              <a:rPr lang="en-US" sz="2200" dirty="0" smtClean="0">
                <a:latin typeface="Helvetica" pitchFamily="34" charset="0"/>
              </a:rPr>
              <a:t>Media</a:t>
            </a:r>
          </a:p>
          <a:p>
            <a:pPr marL="360000" indent="-360000">
              <a:spcBef>
                <a:spcPts val="600"/>
              </a:spcBef>
              <a:spcAft>
                <a:spcPts val="1200"/>
              </a:spcAft>
              <a:buNone/>
            </a:pPr>
            <a:r>
              <a:rPr lang="en-US" sz="2200" i="1" dirty="0" smtClean="0">
                <a:latin typeface="Helvetica" pitchFamily="34" charset="0"/>
              </a:rPr>
              <a:t>(Continued)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sp>
        <p:nvSpPr>
          <p:cNvPr id="6" name="Title 1"/>
          <p:cNvSpPr txBox="1">
            <a:spLocks/>
          </p:cNvSpPr>
          <p:nvPr/>
        </p:nvSpPr>
        <p:spPr>
          <a:xfrm>
            <a:off x="611560" y="332656"/>
            <a:ext cx="7776864" cy="1080120"/>
          </a:xfrm>
          <a:prstGeom prst="rect">
            <a:avLst/>
          </a:prstGeom>
        </p:spPr>
        <p:txBody>
          <a:bodyPr vert="horz" lIns="45720" rIns="4572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400" b="1" i="0" u="none" strike="noStrike" kern="1200" cap="none" spc="0" normalizeH="0" baseline="0" noProof="0" dirty="0" smtClean="0">
                <a:ln>
                  <a:noFill/>
                </a:ln>
                <a:solidFill>
                  <a:srgbClr val="FF6600"/>
                </a:solidFill>
                <a:effectLst/>
                <a:uLnTx/>
                <a:uFillTx/>
                <a:latin typeface="Helvetica" pitchFamily="34" charset="0"/>
                <a:ea typeface="+mj-ea"/>
                <a:cs typeface="+mj-cs"/>
              </a:rPr>
              <a:t>Plan communications, PR and marketing</a:t>
            </a:r>
            <a:endParaRPr kumimoji="0" lang="en-US" sz="3400" b="1" i="0" u="none" strike="noStrike" kern="1200" cap="none" spc="0" normalizeH="0" baseline="0" noProof="0" dirty="0">
              <a:ln>
                <a:noFill/>
              </a:ln>
              <a:solidFill>
                <a:srgbClr val="FF6600"/>
              </a:solidFill>
              <a:effectLst/>
              <a:uLnTx/>
              <a:uFillTx/>
              <a:latin typeface="Helvetica" pitchFamily="34" charset="0"/>
              <a:ea typeface="+mj-ea"/>
              <a:cs typeface="+mj-cs"/>
            </a:endParaRPr>
          </a:p>
        </p:txBody>
      </p:sp>
      <p:pic>
        <p:nvPicPr>
          <p:cNvPr id="5" name="Picture 4" descr="freeimage-4132803.jpg"/>
          <p:cNvPicPr>
            <a:picLocks noChangeAspect="1"/>
          </p:cNvPicPr>
          <p:nvPr/>
        </p:nvPicPr>
        <p:blipFill>
          <a:blip r:embed="rId3" cstate="print"/>
          <a:stretch>
            <a:fillRect/>
          </a:stretch>
        </p:blipFill>
        <p:spPr>
          <a:xfrm>
            <a:off x="6804248" y="2844316"/>
            <a:ext cx="1589923" cy="2384884"/>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Nominated target markets</a:t>
            </a:r>
          </a:p>
          <a:p>
            <a:pPr marL="360000" indent="-360000">
              <a:spcBef>
                <a:spcPts val="600"/>
              </a:spcBef>
              <a:spcAft>
                <a:spcPts val="1200"/>
              </a:spcAft>
            </a:pPr>
            <a:r>
              <a:rPr lang="en-US" sz="2200" dirty="0" smtClean="0">
                <a:latin typeface="Helvetica" pitchFamily="34" charset="0"/>
              </a:rPr>
              <a:t>Locals</a:t>
            </a:r>
          </a:p>
          <a:p>
            <a:pPr marL="360000" indent="-360000">
              <a:spcBef>
                <a:spcPts val="600"/>
              </a:spcBef>
              <a:spcAft>
                <a:spcPts val="1200"/>
              </a:spcAft>
            </a:pPr>
            <a:r>
              <a:rPr lang="en-US" sz="2200" dirty="0" smtClean="0">
                <a:latin typeface="Helvetica" pitchFamily="34" charset="0"/>
              </a:rPr>
              <a:t>Suppliers</a:t>
            </a:r>
          </a:p>
          <a:p>
            <a:pPr marL="360000" indent="-360000">
              <a:spcBef>
                <a:spcPts val="600"/>
              </a:spcBef>
              <a:spcAft>
                <a:spcPts val="1200"/>
              </a:spcAft>
            </a:pPr>
            <a:r>
              <a:rPr lang="en-US" sz="2200" dirty="0" smtClean="0">
                <a:latin typeface="Helvetica" pitchFamily="34" charset="0"/>
              </a:rPr>
              <a:t>Consultants</a:t>
            </a:r>
          </a:p>
          <a:p>
            <a:pPr marL="360000" indent="-360000">
              <a:spcBef>
                <a:spcPts val="600"/>
              </a:spcBef>
              <a:spcAft>
                <a:spcPts val="1200"/>
              </a:spcAft>
            </a:pPr>
            <a:r>
              <a:rPr lang="en-US" sz="2200" dirty="0" smtClean="0">
                <a:latin typeface="Helvetica" pitchFamily="34" charset="0"/>
              </a:rPr>
              <a:t>Contractors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sp>
        <p:nvSpPr>
          <p:cNvPr id="6" name="Title 1"/>
          <p:cNvSpPr txBox="1">
            <a:spLocks/>
          </p:cNvSpPr>
          <p:nvPr/>
        </p:nvSpPr>
        <p:spPr>
          <a:xfrm>
            <a:off x="611560" y="332656"/>
            <a:ext cx="7776864" cy="1080120"/>
          </a:xfrm>
          <a:prstGeom prst="rect">
            <a:avLst/>
          </a:prstGeom>
        </p:spPr>
        <p:txBody>
          <a:bodyPr vert="horz" lIns="45720" rIns="4572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400" b="1" i="0" u="none" strike="noStrike" kern="1200" cap="none" spc="0" normalizeH="0" baseline="0" noProof="0" dirty="0" smtClean="0">
                <a:ln>
                  <a:noFill/>
                </a:ln>
                <a:solidFill>
                  <a:srgbClr val="FF6600"/>
                </a:solidFill>
                <a:effectLst/>
                <a:uLnTx/>
                <a:uFillTx/>
                <a:latin typeface="Helvetica" pitchFamily="34" charset="0"/>
                <a:ea typeface="+mj-ea"/>
                <a:cs typeface="+mj-cs"/>
              </a:rPr>
              <a:t>Plan communications, PR and marketing</a:t>
            </a:r>
            <a:endParaRPr kumimoji="0" lang="en-US" sz="3400" b="1" i="0" u="none" strike="noStrike" kern="1200" cap="none" spc="0" normalizeH="0" baseline="0" noProof="0" dirty="0">
              <a:ln>
                <a:noFill/>
              </a:ln>
              <a:solidFill>
                <a:srgbClr val="FF6600"/>
              </a:solidFill>
              <a:effectLst/>
              <a:uLnTx/>
              <a:uFillTx/>
              <a:latin typeface="Helvetica" pitchFamily="34" charset="0"/>
              <a:ea typeface="+mj-ea"/>
              <a:cs typeface="+mj-cs"/>
            </a:endParaRPr>
          </a:p>
        </p:txBody>
      </p:sp>
      <p:pic>
        <p:nvPicPr>
          <p:cNvPr id="5" name="Picture 4" descr="Strategy chart.jpg"/>
          <p:cNvPicPr>
            <a:picLocks noChangeAspect="1"/>
          </p:cNvPicPr>
          <p:nvPr/>
        </p:nvPicPr>
        <p:blipFill>
          <a:blip r:embed="rId3" cstate="print"/>
          <a:stretch>
            <a:fillRect/>
          </a:stretch>
        </p:blipFill>
        <p:spPr>
          <a:xfrm>
            <a:off x="6300192" y="3645024"/>
            <a:ext cx="1968649" cy="1390478"/>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Extra factors in planning communication:</a:t>
            </a:r>
          </a:p>
          <a:p>
            <a:pPr marL="360000" indent="-360000">
              <a:spcBef>
                <a:spcPts val="600"/>
              </a:spcBef>
              <a:spcAft>
                <a:spcPts val="1200"/>
              </a:spcAft>
            </a:pPr>
            <a:r>
              <a:rPr lang="en-US" sz="2200" dirty="0" smtClean="0">
                <a:latin typeface="Helvetica" pitchFamily="34" charset="0"/>
              </a:rPr>
              <a:t>Person who will distribute communications</a:t>
            </a:r>
          </a:p>
          <a:p>
            <a:pPr marL="360000" indent="-360000">
              <a:spcBef>
                <a:spcPts val="600"/>
              </a:spcBef>
              <a:spcAft>
                <a:spcPts val="1200"/>
              </a:spcAft>
            </a:pPr>
            <a:r>
              <a:rPr lang="en-US" sz="2200" dirty="0" smtClean="0">
                <a:latin typeface="Helvetica" pitchFamily="34" charset="0"/>
              </a:rPr>
              <a:t>Person to be ‘contact’ for the project</a:t>
            </a:r>
          </a:p>
          <a:p>
            <a:pPr marL="360000" indent="-360000">
              <a:spcBef>
                <a:spcPts val="600"/>
              </a:spcBef>
              <a:spcAft>
                <a:spcPts val="1200"/>
              </a:spcAft>
            </a:pPr>
            <a:r>
              <a:rPr lang="en-US" sz="2200" dirty="0" smtClean="0">
                <a:latin typeface="Helvetica" pitchFamily="34" charset="0"/>
              </a:rPr>
              <a:t>Communication budget</a:t>
            </a:r>
          </a:p>
          <a:p>
            <a:pPr marL="360000" indent="-360000">
              <a:spcBef>
                <a:spcPts val="600"/>
              </a:spcBef>
              <a:spcAft>
                <a:spcPts val="1200"/>
              </a:spcAft>
            </a:pPr>
            <a:r>
              <a:rPr lang="en-US" sz="2200" dirty="0" smtClean="0">
                <a:latin typeface="Helvetica" pitchFamily="34" charset="0"/>
              </a:rPr>
              <a:t>Media to be used</a:t>
            </a:r>
          </a:p>
          <a:p>
            <a:pPr marL="360000" indent="-360000">
              <a:spcBef>
                <a:spcPts val="600"/>
              </a:spcBef>
              <a:spcAft>
                <a:spcPts val="1200"/>
              </a:spcAft>
            </a:pPr>
            <a:r>
              <a:rPr lang="en-US" sz="2200" dirty="0" smtClean="0">
                <a:latin typeface="Helvetica" pitchFamily="34" charset="0"/>
              </a:rPr>
              <a:t>Dates for communication events at </a:t>
            </a:r>
            <a:br>
              <a:rPr lang="en-US" sz="2200" dirty="0" smtClean="0">
                <a:latin typeface="Helvetica" pitchFamily="34" charset="0"/>
              </a:rPr>
            </a:br>
            <a:r>
              <a:rPr lang="en-US" sz="2200" dirty="0" smtClean="0">
                <a:latin typeface="Helvetica" pitchFamily="34" charset="0"/>
              </a:rPr>
              <a:t>the venue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sp>
        <p:nvSpPr>
          <p:cNvPr id="6" name="Title 1"/>
          <p:cNvSpPr txBox="1">
            <a:spLocks/>
          </p:cNvSpPr>
          <p:nvPr/>
        </p:nvSpPr>
        <p:spPr>
          <a:xfrm>
            <a:off x="611560" y="332656"/>
            <a:ext cx="7776864" cy="1080120"/>
          </a:xfrm>
          <a:prstGeom prst="rect">
            <a:avLst/>
          </a:prstGeom>
        </p:spPr>
        <p:txBody>
          <a:bodyPr vert="horz" lIns="45720" rIns="4572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400" b="1" i="0" u="none" strike="noStrike" kern="1200" cap="none" spc="0" normalizeH="0" baseline="0" noProof="0" dirty="0" smtClean="0">
                <a:ln>
                  <a:noFill/>
                </a:ln>
                <a:solidFill>
                  <a:srgbClr val="FF6600"/>
                </a:solidFill>
                <a:effectLst/>
                <a:uLnTx/>
                <a:uFillTx/>
                <a:latin typeface="Helvetica" pitchFamily="34" charset="0"/>
                <a:ea typeface="+mj-ea"/>
                <a:cs typeface="+mj-cs"/>
              </a:rPr>
              <a:t>Plan communications, PR and marketing</a:t>
            </a:r>
            <a:endParaRPr kumimoji="0" lang="en-US" sz="3400" b="1" i="0" u="none" strike="noStrike" kern="1200" cap="none" spc="0" normalizeH="0" baseline="0" noProof="0" dirty="0">
              <a:ln>
                <a:noFill/>
              </a:ln>
              <a:solidFill>
                <a:srgbClr val="FF6600"/>
              </a:solidFill>
              <a:effectLst/>
              <a:uLnTx/>
              <a:uFillTx/>
              <a:latin typeface="Helvetica" pitchFamily="34" charset="0"/>
              <a:ea typeface="+mj-ea"/>
              <a:cs typeface="+mj-cs"/>
            </a:endParaRPr>
          </a:p>
        </p:txBody>
      </p:sp>
      <p:pic>
        <p:nvPicPr>
          <p:cNvPr id="5" name="Picture 4" descr="MP900422115.JPG"/>
          <p:cNvPicPr>
            <a:picLocks noChangeAspect="1"/>
          </p:cNvPicPr>
          <p:nvPr/>
        </p:nvPicPr>
        <p:blipFill>
          <a:blip r:embed="rId3" cstate="print"/>
          <a:stretch>
            <a:fillRect/>
          </a:stretch>
        </p:blipFill>
        <p:spPr>
          <a:xfrm>
            <a:off x="6264230" y="3789040"/>
            <a:ext cx="2159690" cy="1439231"/>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Public Relations = PR:</a:t>
            </a:r>
          </a:p>
          <a:p>
            <a:pPr marL="360000" indent="-360000">
              <a:spcBef>
                <a:spcPts val="600"/>
              </a:spcBef>
              <a:spcAft>
                <a:spcPts val="1200"/>
              </a:spcAft>
            </a:pPr>
            <a:r>
              <a:rPr lang="en-US" sz="2200" dirty="0" smtClean="0">
                <a:latin typeface="Helvetica" pitchFamily="34" charset="0"/>
              </a:rPr>
              <a:t>Relationship between venue and its ‘publics’</a:t>
            </a:r>
          </a:p>
          <a:p>
            <a:pPr marL="360000" indent="-360000">
              <a:spcBef>
                <a:spcPts val="600"/>
              </a:spcBef>
              <a:spcAft>
                <a:spcPts val="1200"/>
              </a:spcAft>
            </a:pPr>
            <a:r>
              <a:rPr lang="en-US" sz="2200" dirty="0" smtClean="0">
                <a:latin typeface="Helvetica" pitchFamily="34" charset="0"/>
              </a:rPr>
              <a:t>Intention is create a positive relationship</a:t>
            </a:r>
          </a:p>
          <a:p>
            <a:pPr marL="360000" indent="-360000">
              <a:spcBef>
                <a:spcPts val="600"/>
              </a:spcBef>
              <a:spcAft>
                <a:spcPts val="1200"/>
              </a:spcAft>
            </a:pPr>
            <a:r>
              <a:rPr lang="en-US" sz="2200" dirty="0" smtClean="0">
                <a:latin typeface="Helvetica" pitchFamily="34" charset="0"/>
              </a:rPr>
              <a:t>PR strategy explains how you will do this..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sp>
        <p:nvSpPr>
          <p:cNvPr id="6" name="Title 1"/>
          <p:cNvSpPr txBox="1">
            <a:spLocks/>
          </p:cNvSpPr>
          <p:nvPr/>
        </p:nvSpPr>
        <p:spPr>
          <a:xfrm>
            <a:off x="611560" y="332656"/>
            <a:ext cx="7776864" cy="1080120"/>
          </a:xfrm>
          <a:prstGeom prst="rect">
            <a:avLst/>
          </a:prstGeom>
        </p:spPr>
        <p:txBody>
          <a:bodyPr vert="horz" lIns="45720" rIns="4572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400" b="1" i="0" u="none" strike="noStrike" kern="1200" cap="none" spc="0" normalizeH="0" baseline="0" noProof="0" dirty="0" smtClean="0">
                <a:ln>
                  <a:noFill/>
                </a:ln>
                <a:solidFill>
                  <a:srgbClr val="FF6600"/>
                </a:solidFill>
                <a:effectLst/>
                <a:uLnTx/>
                <a:uFillTx/>
                <a:latin typeface="Helvetica" pitchFamily="34" charset="0"/>
                <a:ea typeface="+mj-ea"/>
                <a:cs typeface="+mj-cs"/>
              </a:rPr>
              <a:t>Plan communications, PR and marketing</a:t>
            </a:r>
            <a:endParaRPr kumimoji="0" lang="en-US" sz="3400" b="1" i="0" u="none" strike="noStrike" kern="1200" cap="none" spc="0" normalizeH="0" baseline="0" noProof="0" dirty="0">
              <a:ln>
                <a:noFill/>
              </a:ln>
              <a:solidFill>
                <a:srgbClr val="FF6600"/>
              </a:solidFill>
              <a:effectLst/>
              <a:uLnTx/>
              <a:uFillTx/>
              <a:latin typeface="Helvetica" pitchFamily="34" charset="0"/>
              <a:ea typeface="+mj-ea"/>
              <a:cs typeface="+mj-cs"/>
            </a:endParaRPr>
          </a:p>
        </p:txBody>
      </p:sp>
      <p:pic>
        <p:nvPicPr>
          <p:cNvPr id="5" name="Picture 4" descr="iStock_000002894402Small.jpg"/>
          <p:cNvPicPr>
            <a:picLocks noChangeAspect="1"/>
          </p:cNvPicPr>
          <p:nvPr/>
        </p:nvPicPr>
        <p:blipFill>
          <a:blip r:embed="rId3" cstate="print"/>
          <a:stretch>
            <a:fillRect/>
          </a:stretch>
        </p:blipFill>
        <p:spPr>
          <a:xfrm>
            <a:off x="6300192" y="3861048"/>
            <a:ext cx="2083696" cy="1386676"/>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Goals of your PR strategy:</a:t>
            </a:r>
          </a:p>
          <a:p>
            <a:pPr marL="360000" indent="-360000">
              <a:spcBef>
                <a:spcPts val="600"/>
              </a:spcBef>
              <a:spcAft>
                <a:spcPts val="1200"/>
              </a:spcAft>
            </a:pPr>
            <a:r>
              <a:rPr lang="en-US" sz="2200" dirty="0" smtClean="0">
                <a:latin typeface="Helvetica" pitchFamily="34" charset="0"/>
              </a:rPr>
              <a:t>Provide information</a:t>
            </a:r>
          </a:p>
          <a:p>
            <a:pPr marL="360000" indent="-360000">
              <a:spcBef>
                <a:spcPts val="600"/>
              </a:spcBef>
              <a:spcAft>
                <a:spcPts val="1200"/>
              </a:spcAft>
            </a:pPr>
            <a:r>
              <a:rPr lang="en-US" sz="2200" dirty="0" smtClean="0">
                <a:latin typeface="Helvetica" pitchFamily="34" charset="0"/>
              </a:rPr>
              <a:t>Liaison and interaction</a:t>
            </a:r>
          </a:p>
          <a:p>
            <a:pPr marL="360000" indent="-360000">
              <a:spcBef>
                <a:spcPts val="600"/>
              </a:spcBef>
              <a:spcAft>
                <a:spcPts val="1200"/>
              </a:spcAft>
            </a:pPr>
            <a:r>
              <a:rPr lang="en-US" sz="2200" dirty="0" smtClean="0">
                <a:latin typeface="Helvetica" pitchFamily="34" charset="0"/>
              </a:rPr>
              <a:t>Responding to queries and complaints</a:t>
            </a:r>
          </a:p>
          <a:p>
            <a:pPr marL="360000" indent="-360000">
              <a:spcBef>
                <a:spcPts val="600"/>
              </a:spcBef>
              <a:spcAft>
                <a:spcPts val="1200"/>
              </a:spcAft>
            </a:pPr>
            <a:r>
              <a:rPr lang="en-US" sz="2200" dirty="0" smtClean="0">
                <a:latin typeface="Helvetica" pitchFamily="34" charset="0"/>
              </a:rPr>
              <a:t>Involving others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sp>
        <p:nvSpPr>
          <p:cNvPr id="6" name="Title 1"/>
          <p:cNvSpPr txBox="1">
            <a:spLocks/>
          </p:cNvSpPr>
          <p:nvPr/>
        </p:nvSpPr>
        <p:spPr>
          <a:xfrm>
            <a:off x="611560" y="332656"/>
            <a:ext cx="7776864" cy="1080120"/>
          </a:xfrm>
          <a:prstGeom prst="rect">
            <a:avLst/>
          </a:prstGeom>
        </p:spPr>
        <p:txBody>
          <a:bodyPr vert="horz" lIns="45720" rIns="4572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400" b="1" i="0" u="none" strike="noStrike" kern="1200" cap="none" spc="0" normalizeH="0" baseline="0" noProof="0" dirty="0" smtClean="0">
                <a:ln>
                  <a:noFill/>
                </a:ln>
                <a:solidFill>
                  <a:srgbClr val="FF6600"/>
                </a:solidFill>
                <a:effectLst/>
                <a:uLnTx/>
                <a:uFillTx/>
                <a:latin typeface="Helvetica" pitchFamily="34" charset="0"/>
                <a:ea typeface="+mj-ea"/>
                <a:cs typeface="+mj-cs"/>
              </a:rPr>
              <a:t>Plan communications, PR and marketing</a:t>
            </a:r>
            <a:endParaRPr kumimoji="0" lang="en-US" sz="3400" b="1" i="0" u="none" strike="noStrike" kern="1200" cap="none" spc="0" normalizeH="0" baseline="0" noProof="0" dirty="0">
              <a:ln>
                <a:noFill/>
              </a:ln>
              <a:solidFill>
                <a:srgbClr val="FF6600"/>
              </a:solidFill>
              <a:effectLst/>
              <a:uLnTx/>
              <a:uFillTx/>
              <a:latin typeface="Helvetica" pitchFamily="34" charset="0"/>
              <a:ea typeface="+mj-ea"/>
              <a:cs typeface="+mj-cs"/>
            </a:endParaRPr>
          </a:p>
        </p:txBody>
      </p:sp>
      <p:pic>
        <p:nvPicPr>
          <p:cNvPr id="5" name="Picture 4" descr="MP900400325.JPG"/>
          <p:cNvPicPr>
            <a:picLocks noChangeAspect="1"/>
          </p:cNvPicPr>
          <p:nvPr/>
        </p:nvPicPr>
        <p:blipFill>
          <a:blip r:embed="rId3" cstate="print"/>
          <a:stretch>
            <a:fillRect/>
          </a:stretch>
        </p:blipFill>
        <p:spPr>
          <a:xfrm>
            <a:off x="7022288" y="3212976"/>
            <a:ext cx="1373060" cy="2064632"/>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lnSpcReduction="10000"/>
          </a:bodyPr>
          <a:lstStyle/>
          <a:p>
            <a:pPr marL="0" indent="0">
              <a:spcBef>
                <a:spcPts val="600"/>
              </a:spcBef>
              <a:spcAft>
                <a:spcPts val="1200"/>
              </a:spcAft>
              <a:buNone/>
            </a:pPr>
            <a:r>
              <a:rPr lang="en-US" sz="2200" dirty="0" smtClean="0">
                <a:latin typeface="Helvetica" pitchFamily="34" charset="0"/>
              </a:rPr>
              <a:t>Planning your PR strategy:</a:t>
            </a:r>
          </a:p>
          <a:p>
            <a:pPr marL="360000" indent="-360000">
              <a:spcBef>
                <a:spcPts val="600"/>
              </a:spcBef>
              <a:spcAft>
                <a:spcPts val="1200"/>
              </a:spcAft>
            </a:pPr>
            <a:r>
              <a:rPr lang="en-US" sz="2200" dirty="0" smtClean="0">
                <a:latin typeface="Helvetica" pitchFamily="34" charset="0"/>
              </a:rPr>
              <a:t>Identify who you want a relationship with</a:t>
            </a:r>
          </a:p>
          <a:p>
            <a:pPr marL="360000" indent="-360000">
              <a:spcBef>
                <a:spcPts val="600"/>
              </a:spcBef>
              <a:spcAft>
                <a:spcPts val="1200"/>
              </a:spcAft>
            </a:pPr>
            <a:r>
              <a:rPr lang="en-US" sz="2200" dirty="0" smtClean="0">
                <a:latin typeface="Helvetica" pitchFamily="34" charset="0"/>
              </a:rPr>
              <a:t>Construct database</a:t>
            </a:r>
          </a:p>
          <a:p>
            <a:pPr marL="360000" indent="-360000">
              <a:spcBef>
                <a:spcPts val="600"/>
              </a:spcBef>
              <a:spcAft>
                <a:spcPts val="1200"/>
              </a:spcAft>
            </a:pPr>
            <a:r>
              <a:rPr lang="en-US" sz="2200" dirty="0" smtClean="0">
                <a:latin typeface="Helvetica" pitchFamily="34" charset="0"/>
              </a:rPr>
              <a:t>Define objectives</a:t>
            </a:r>
          </a:p>
          <a:p>
            <a:pPr marL="360000" indent="-360000">
              <a:spcBef>
                <a:spcPts val="600"/>
              </a:spcBef>
              <a:spcAft>
                <a:spcPts val="1200"/>
              </a:spcAft>
            </a:pPr>
            <a:r>
              <a:rPr lang="en-US" sz="2200" dirty="0" smtClean="0">
                <a:latin typeface="Helvetica" pitchFamily="34" charset="0"/>
              </a:rPr>
              <a:t>Determine media to be used</a:t>
            </a:r>
          </a:p>
          <a:p>
            <a:pPr marL="360000" indent="-360000">
              <a:spcBef>
                <a:spcPts val="600"/>
              </a:spcBef>
              <a:spcAft>
                <a:spcPts val="1200"/>
              </a:spcAft>
            </a:pPr>
            <a:r>
              <a:rPr lang="en-US" sz="2200" dirty="0" smtClean="0">
                <a:latin typeface="Helvetica" pitchFamily="34" charset="0"/>
              </a:rPr>
              <a:t>Prepare and distribute media release and project kits</a:t>
            </a:r>
          </a:p>
          <a:p>
            <a:pPr marL="360000" indent="-360000">
              <a:spcBef>
                <a:spcPts val="600"/>
              </a:spcBef>
              <a:spcAft>
                <a:spcPts val="1200"/>
              </a:spcAft>
            </a:pPr>
            <a:r>
              <a:rPr lang="en-US" sz="2200" dirty="0" smtClean="0">
                <a:latin typeface="Helvetica" pitchFamily="34" charset="0"/>
              </a:rPr>
              <a:t>Plan interviews with media and visits to venue/project</a:t>
            </a:r>
          </a:p>
          <a:p>
            <a:pPr marL="360000" indent="-360000">
              <a:spcBef>
                <a:spcPts val="600"/>
              </a:spcBef>
              <a:spcAft>
                <a:spcPts val="1200"/>
              </a:spcAft>
            </a:pPr>
            <a:r>
              <a:rPr lang="en-US" sz="2200" dirty="0" smtClean="0">
                <a:latin typeface="Helvetica" pitchFamily="34" charset="0"/>
              </a:rPr>
              <a:t>Plan how to track media and public sentiment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sp>
        <p:nvSpPr>
          <p:cNvPr id="6" name="Title 1"/>
          <p:cNvSpPr txBox="1">
            <a:spLocks/>
          </p:cNvSpPr>
          <p:nvPr/>
        </p:nvSpPr>
        <p:spPr>
          <a:xfrm>
            <a:off x="611560" y="332656"/>
            <a:ext cx="7776864" cy="1080120"/>
          </a:xfrm>
          <a:prstGeom prst="rect">
            <a:avLst/>
          </a:prstGeom>
        </p:spPr>
        <p:txBody>
          <a:bodyPr vert="horz" lIns="45720" rIns="4572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400" b="1" i="0" u="none" strike="noStrike" kern="1200" cap="none" spc="0" normalizeH="0" baseline="0" noProof="0" dirty="0" smtClean="0">
                <a:ln>
                  <a:noFill/>
                </a:ln>
                <a:solidFill>
                  <a:srgbClr val="FF6600"/>
                </a:solidFill>
                <a:effectLst/>
                <a:uLnTx/>
                <a:uFillTx/>
                <a:latin typeface="Helvetica" pitchFamily="34" charset="0"/>
                <a:ea typeface="+mj-ea"/>
                <a:cs typeface="+mj-cs"/>
              </a:rPr>
              <a:t>Plan communications, PR and marketing</a:t>
            </a:r>
            <a:endParaRPr kumimoji="0" lang="en-US" sz="3400" b="1" i="0" u="none" strike="noStrike" kern="1200" cap="none" spc="0" normalizeH="0" baseline="0" noProof="0" dirty="0">
              <a:ln>
                <a:noFill/>
              </a:ln>
              <a:solidFill>
                <a:srgbClr val="FF6600"/>
              </a:solidFill>
              <a:effectLst/>
              <a:uLnTx/>
              <a:uFillTx/>
              <a:latin typeface="Helvetica" pitchFamily="34" charset="0"/>
              <a:ea typeface="+mj-ea"/>
              <a:cs typeface="+mj-cs"/>
            </a:endParaRPr>
          </a:p>
        </p:txBody>
      </p:sp>
      <p:pic>
        <p:nvPicPr>
          <p:cNvPr id="5" name="Picture 4" descr="MC900435235.PNG"/>
          <p:cNvPicPr>
            <a:picLocks noChangeAspect="1"/>
          </p:cNvPicPr>
          <p:nvPr/>
        </p:nvPicPr>
        <p:blipFill>
          <a:blip r:embed="rId3" cstate="print"/>
          <a:stretch>
            <a:fillRect/>
          </a:stretch>
        </p:blipFill>
        <p:spPr>
          <a:xfrm>
            <a:off x="6876256" y="2636912"/>
            <a:ext cx="1319111" cy="1449748"/>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Marketing strategy for project:</a:t>
            </a:r>
          </a:p>
          <a:p>
            <a:pPr marL="360000" indent="-360000">
              <a:spcBef>
                <a:spcPts val="600"/>
              </a:spcBef>
              <a:spcAft>
                <a:spcPts val="1200"/>
              </a:spcAft>
            </a:pPr>
            <a:r>
              <a:rPr lang="en-US" sz="2200" dirty="0" smtClean="0">
                <a:latin typeface="Helvetica" pitchFamily="34" charset="0"/>
              </a:rPr>
              <a:t>Activities to promote the venue and generate sales</a:t>
            </a:r>
          </a:p>
          <a:p>
            <a:pPr marL="360000" indent="-360000">
              <a:spcBef>
                <a:spcPts val="600"/>
              </a:spcBef>
              <a:spcAft>
                <a:spcPts val="1200"/>
              </a:spcAft>
            </a:pPr>
            <a:r>
              <a:rPr lang="en-US" sz="2200" dirty="0" smtClean="0">
                <a:latin typeface="Helvetica" pitchFamily="34" charset="0"/>
              </a:rPr>
              <a:t>Activities involved in market research and analysis</a:t>
            </a:r>
          </a:p>
          <a:p>
            <a:pPr marL="360000" indent="-360000">
              <a:spcBef>
                <a:spcPts val="600"/>
              </a:spcBef>
              <a:spcAft>
                <a:spcPts val="1200"/>
              </a:spcAft>
            </a:pPr>
            <a:r>
              <a:rPr lang="en-US" sz="2200" dirty="0" smtClean="0">
                <a:latin typeface="Helvetica" pitchFamily="34" charset="0"/>
              </a:rPr>
              <a:t>For small projects the focus will be ‘promoting the venue/project’ (as opposed to ‘selling’)</a:t>
            </a:r>
          </a:p>
          <a:p>
            <a:pPr marL="360000" indent="-360000">
              <a:spcBef>
                <a:spcPts val="600"/>
              </a:spcBef>
              <a:spcAft>
                <a:spcPts val="1200"/>
              </a:spcAft>
            </a:pPr>
            <a:r>
              <a:rPr lang="en-US" sz="2200" dirty="0" smtClean="0">
                <a:latin typeface="Helvetica" pitchFamily="34" charset="0"/>
              </a:rPr>
              <a:t>Must support venue marketing plans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sp>
        <p:nvSpPr>
          <p:cNvPr id="6" name="Title 1"/>
          <p:cNvSpPr txBox="1">
            <a:spLocks/>
          </p:cNvSpPr>
          <p:nvPr/>
        </p:nvSpPr>
        <p:spPr>
          <a:xfrm>
            <a:off x="611560" y="332656"/>
            <a:ext cx="7776864" cy="1080120"/>
          </a:xfrm>
          <a:prstGeom prst="rect">
            <a:avLst/>
          </a:prstGeom>
        </p:spPr>
        <p:txBody>
          <a:bodyPr vert="horz" lIns="45720" rIns="4572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400" b="1" i="0" u="none" strike="noStrike" kern="1200" cap="none" spc="0" normalizeH="0" baseline="0" noProof="0" dirty="0" smtClean="0">
                <a:ln>
                  <a:noFill/>
                </a:ln>
                <a:solidFill>
                  <a:srgbClr val="FF6600"/>
                </a:solidFill>
                <a:effectLst/>
                <a:uLnTx/>
                <a:uFillTx/>
                <a:latin typeface="Helvetica" pitchFamily="34" charset="0"/>
                <a:ea typeface="+mj-ea"/>
                <a:cs typeface="+mj-cs"/>
              </a:rPr>
              <a:t>Plan communications, PR and marketing</a:t>
            </a:r>
            <a:endParaRPr kumimoji="0" lang="en-US" sz="3400" b="1" i="0" u="none" strike="noStrike" kern="1200" cap="none" spc="0" normalizeH="0" baseline="0" noProof="0" dirty="0">
              <a:ln>
                <a:noFill/>
              </a:ln>
              <a:solidFill>
                <a:srgbClr val="FF6600"/>
              </a:solidFill>
              <a:effectLst/>
              <a:uLnTx/>
              <a:uFillTx/>
              <a:latin typeface="Helvetica" pitchFamily="34" charset="0"/>
              <a:ea typeface="+mj-ea"/>
              <a:cs typeface="+mj-cs"/>
            </a:endParaRPr>
          </a:p>
        </p:txBody>
      </p:sp>
      <p:pic>
        <p:nvPicPr>
          <p:cNvPr id="5" name="Picture 4" descr="Signs.jpg"/>
          <p:cNvPicPr>
            <a:picLocks noChangeAspect="1"/>
          </p:cNvPicPr>
          <p:nvPr/>
        </p:nvPicPr>
        <p:blipFill>
          <a:blip r:embed="rId3" cstate="print"/>
          <a:stretch>
            <a:fillRect/>
          </a:stretch>
        </p:blipFill>
        <p:spPr>
          <a:xfrm>
            <a:off x="6660232" y="3789040"/>
            <a:ext cx="1737742" cy="144507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Possible goals for a project marketing strategy:</a:t>
            </a:r>
          </a:p>
          <a:p>
            <a:pPr marL="360000" indent="-360000">
              <a:spcBef>
                <a:spcPts val="600"/>
              </a:spcBef>
              <a:spcAft>
                <a:spcPts val="1200"/>
              </a:spcAft>
            </a:pPr>
            <a:r>
              <a:rPr lang="en-US" sz="2200" dirty="0" smtClean="0">
                <a:latin typeface="Helvetica" pitchFamily="34" charset="0"/>
              </a:rPr>
              <a:t>Providing advice and information</a:t>
            </a:r>
          </a:p>
          <a:p>
            <a:pPr marL="360000" indent="-360000">
              <a:spcBef>
                <a:spcPts val="600"/>
              </a:spcBef>
              <a:spcAft>
                <a:spcPts val="1200"/>
              </a:spcAft>
            </a:pPr>
            <a:r>
              <a:rPr lang="en-US" sz="2200" dirty="0" smtClean="0">
                <a:latin typeface="Helvetica" pitchFamily="34" charset="0"/>
              </a:rPr>
              <a:t>Developing and distributing brochures and other promotional materials</a:t>
            </a:r>
          </a:p>
          <a:p>
            <a:pPr marL="360000" indent="-360000">
              <a:spcBef>
                <a:spcPts val="600"/>
              </a:spcBef>
              <a:spcAft>
                <a:spcPts val="1200"/>
              </a:spcAft>
            </a:pPr>
            <a:r>
              <a:rPr lang="en-US" sz="2200" dirty="0" smtClean="0">
                <a:latin typeface="Helvetica" pitchFamily="34" charset="0"/>
              </a:rPr>
              <a:t>Creating and lodging advertisements</a:t>
            </a:r>
          </a:p>
          <a:p>
            <a:pPr marL="360000" indent="-360000">
              <a:spcBef>
                <a:spcPts val="600"/>
              </a:spcBef>
              <a:spcAft>
                <a:spcPts val="1200"/>
              </a:spcAft>
            </a:pPr>
            <a:r>
              <a:rPr lang="en-US" sz="2200" dirty="0" smtClean="0">
                <a:latin typeface="Helvetica" pitchFamily="34" charset="0"/>
              </a:rPr>
              <a:t>Engaging in publicity</a:t>
            </a:r>
          </a:p>
          <a:p>
            <a:pPr marL="360000" indent="-360000">
              <a:spcBef>
                <a:spcPts val="600"/>
              </a:spcBef>
              <a:spcAft>
                <a:spcPts val="1200"/>
              </a:spcAft>
            </a:pPr>
            <a:r>
              <a:rPr lang="en-US" sz="2200" dirty="0" smtClean="0">
                <a:latin typeface="Helvetica" pitchFamily="34" charset="0"/>
              </a:rPr>
              <a:t>Website presence</a:t>
            </a:r>
          </a:p>
          <a:p>
            <a:pPr marL="360000" indent="-360000">
              <a:spcBef>
                <a:spcPts val="600"/>
              </a:spcBef>
              <a:spcAft>
                <a:spcPts val="1200"/>
              </a:spcAft>
            </a:pPr>
            <a:r>
              <a:rPr lang="en-US" sz="2200" dirty="0" smtClean="0">
                <a:latin typeface="Helvetica" pitchFamily="34" charset="0"/>
              </a:rPr>
              <a:t>Capturing project-related data and feedback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sp>
        <p:nvSpPr>
          <p:cNvPr id="6" name="Title 1"/>
          <p:cNvSpPr txBox="1">
            <a:spLocks/>
          </p:cNvSpPr>
          <p:nvPr/>
        </p:nvSpPr>
        <p:spPr>
          <a:xfrm>
            <a:off x="611560" y="332656"/>
            <a:ext cx="7776864" cy="1080120"/>
          </a:xfrm>
          <a:prstGeom prst="rect">
            <a:avLst/>
          </a:prstGeom>
        </p:spPr>
        <p:txBody>
          <a:bodyPr vert="horz" lIns="45720" rIns="4572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400" b="1" i="0" u="none" strike="noStrike" kern="1200" cap="none" spc="0" normalizeH="0" baseline="0" noProof="0" dirty="0" smtClean="0">
                <a:ln>
                  <a:noFill/>
                </a:ln>
                <a:solidFill>
                  <a:srgbClr val="FF6600"/>
                </a:solidFill>
                <a:effectLst/>
                <a:uLnTx/>
                <a:uFillTx/>
                <a:latin typeface="Helvetica" pitchFamily="34" charset="0"/>
                <a:ea typeface="+mj-ea"/>
                <a:cs typeface="+mj-cs"/>
              </a:rPr>
              <a:t>Plan communications, PR and marketing</a:t>
            </a:r>
            <a:endParaRPr kumimoji="0" lang="en-US" sz="3400" b="1" i="0" u="none" strike="noStrike" kern="1200" cap="none" spc="0" normalizeH="0" baseline="0" noProof="0" dirty="0">
              <a:ln>
                <a:noFill/>
              </a:ln>
              <a:solidFill>
                <a:srgbClr val="FF6600"/>
              </a:solidFill>
              <a:effectLst/>
              <a:uLnTx/>
              <a:uFillTx/>
              <a:latin typeface="Helvetica" pitchFamily="34" charset="0"/>
              <a:ea typeface="+mj-ea"/>
              <a:cs typeface="+mj-cs"/>
            </a:endParaRPr>
          </a:p>
        </p:txBody>
      </p:sp>
      <p:pic>
        <p:nvPicPr>
          <p:cNvPr id="5" name="Picture 4" descr="Internet logo 1.jpg"/>
          <p:cNvPicPr>
            <a:picLocks noChangeAspect="1"/>
          </p:cNvPicPr>
          <p:nvPr/>
        </p:nvPicPr>
        <p:blipFill>
          <a:blip r:embed="rId3" cstate="print"/>
          <a:stretch>
            <a:fillRect/>
          </a:stretch>
        </p:blipFill>
        <p:spPr>
          <a:xfrm>
            <a:off x="6588224" y="4005064"/>
            <a:ext cx="1828800" cy="1209675"/>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Tasks in planning marketing strategy:</a:t>
            </a:r>
          </a:p>
          <a:p>
            <a:pPr marL="360000" indent="-360000">
              <a:spcBef>
                <a:spcPts val="600"/>
              </a:spcBef>
              <a:spcAft>
                <a:spcPts val="1200"/>
              </a:spcAft>
            </a:pPr>
            <a:r>
              <a:rPr lang="en-US" sz="2200" dirty="0" smtClean="0">
                <a:latin typeface="Helvetica" pitchFamily="34" charset="0"/>
              </a:rPr>
              <a:t>Generate ‘information packs’</a:t>
            </a:r>
          </a:p>
          <a:p>
            <a:pPr marL="360000" indent="-360000">
              <a:spcBef>
                <a:spcPts val="600"/>
              </a:spcBef>
              <a:spcAft>
                <a:spcPts val="1200"/>
              </a:spcAft>
            </a:pPr>
            <a:r>
              <a:rPr lang="en-US" sz="2200" dirty="0" smtClean="0">
                <a:latin typeface="Helvetica" pitchFamily="34" charset="0"/>
              </a:rPr>
              <a:t>Create promotional content</a:t>
            </a:r>
          </a:p>
          <a:p>
            <a:pPr marL="360000" indent="-360000">
              <a:spcBef>
                <a:spcPts val="600"/>
              </a:spcBef>
              <a:spcAft>
                <a:spcPts val="1200"/>
              </a:spcAft>
            </a:pPr>
            <a:r>
              <a:rPr lang="en-US" sz="2200" dirty="0" smtClean="0">
                <a:latin typeface="Helvetica" pitchFamily="34" charset="0"/>
              </a:rPr>
              <a:t>Generate and maintain database</a:t>
            </a:r>
          </a:p>
          <a:p>
            <a:pPr marL="360000" indent="-360000">
              <a:spcBef>
                <a:spcPts val="600"/>
              </a:spcBef>
              <a:spcAft>
                <a:spcPts val="1200"/>
              </a:spcAft>
            </a:pPr>
            <a:r>
              <a:rPr lang="en-US" sz="2200" dirty="0" smtClean="0">
                <a:latin typeface="Helvetica" pitchFamily="34" charset="0"/>
              </a:rPr>
              <a:t>Determine locations for advertisements</a:t>
            </a:r>
          </a:p>
          <a:p>
            <a:pPr marL="360000" indent="-360000">
              <a:spcBef>
                <a:spcPts val="600"/>
              </a:spcBef>
              <a:spcAft>
                <a:spcPts val="1200"/>
              </a:spcAft>
            </a:pPr>
            <a:r>
              <a:rPr lang="en-US" sz="2200" dirty="0" smtClean="0">
                <a:latin typeface="Helvetica" pitchFamily="34" charset="0"/>
              </a:rPr>
              <a:t>Integrate project marketing with other </a:t>
            </a:r>
            <a:br>
              <a:rPr lang="en-US" sz="2200" dirty="0" smtClean="0">
                <a:latin typeface="Helvetica" pitchFamily="34" charset="0"/>
              </a:rPr>
            </a:br>
            <a:r>
              <a:rPr lang="en-US" sz="2200" dirty="0" smtClean="0">
                <a:latin typeface="Helvetica" pitchFamily="34" charset="0"/>
              </a:rPr>
              <a:t>venue initiatives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sp>
        <p:nvSpPr>
          <p:cNvPr id="6" name="Title 1"/>
          <p:cNvSpPr txBox="1">
            <a:spLocks/>
          </p:cNvSpPr>
          <p:nvPr/>
        </p:nvSpPr>
        <p:spPr>
          <a:xfrm>
            <a:off x="611560" y="332656"/>
            <a:ext cx="7776864" cy="1080120"/>
          </a:xfrm>
          <a:prstGeom prst="rect">
            <a:avLst/>
          </a:prstGeom>
        </p:spPr>
        <p:txBody>
          <a:bodyPr vert="horz" lIns="45720" rIns="4572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400" b="1" i="0" u="none" strike="noStrike" kern="1200" cap="none" spc="0" normalizeH="0" baseline="0" noProof="0" dirty="0" smtClean="0">
                <a:ln>
                  <a:noFill/>
                </a:ln>
                <a:solidFill>
                  <a:srgbClr val="FF6600"/>
                </a:solidFill>
                <a:effectLst/>
                <a:uLnTx/>
                <a:uFillTx/>
                <a:latin typeface="Helvetica" pitchFamily="34" charset="0"/>
                <a:ea typeface="+mj-ea"/>
                <a:cs typeface="+mj-cs"/>
              </a:rPr>
              <a:t>Plan communications, PR and marketing</a:t>
            </a:r>
            <a:endParaRPr kumimoji="0" lang="en-US" sz="3400" b="1" i="0" u="none" strike="noStrike" kern="1200" cap="none" spc="0" normalizeH="0" baseline="0" noProof="0" dirty="0">
              <a:ln>
                <a:noFill/>
              </a:ln>
              <a:solidFill>
                <a:srgbClr val="FF6600"/>
              </a:solidFill>
              <a:effectLst/>
              <a:uLnTx/>
              <a:uFillTx/>
              <a:latin typeface="Helvetica" pitchFamily="34" charset="0"/>
              <a:ea typeface="+mj-ea"/>
              <a:cs typeface="+mj-cs"/>
            </a:endParaRPr>
          </a:p>
        </p:txBody>
      </p:sp>
      <p:pic>
        <p:nvPicPr>
          <p:cNvPr id="5" name="Picture 4" descr="freeimage-6502304.jpg"/>
          <p:cNvPicPr>
            <a:picLocks noChangeAspect="1"/>
          </p:cNvPicPr>
          <p:nvPr/>
        </p:nvPicPr>
        <p:blipFill>
          <a:blip r:embed="rId3" cstate="print"/>
          <a:stretch>
            <a:fillRect/>
          </a:stretch>
        </p:blipFill>
        <p:spPr>
          <a:xfrm>
            <a:off x="6372200" y="3068960"/>
            <a:ext cx="1938996" cy="1916832"/>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Reach agreement on evaluation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Reaching agreement on evaluation:</a:t>
            </a:r>
          </a:p>
          <a:p>
            <a:pPr marL="360000" indent="-360000">
              <a:spcBef>
                <a:spcPts val="600"/>
              </a:spcBef>
              <a:spcAft>
                <a:spcPts val="1200"/>
              </a:spcAft>
            </a:pPr>
            <a:r>
              <a:rPr lang="en-US" sz="2200" dirty="0" smtClean="0">
                <a:latin typeface="Helvetica" pitchFamily="34" charset="0"/>
              </a:rPr>
              <a:t>Requirements may be imposed on you</a:t>
            </a:r>
          </a:p>
          <a:p>
            <a:pPr marL="360000" indent="-360000">
              <a:spcBef>
                <a:spcPts val="600"/>
              </a:spcBef>
              <a:spcAft>
                <a:spcPts val="1200"/>
              </a:spcAft>
            </a:pPr>
            <a:r>
              <a:rPr lang="en-US" sz="2200" dirty="0" smtClean="0">
                <a:latin typeface="Helvetica" pitchFamily="34" charset="0"/>
              </a:rPr>
              <a:t>Requires you to communicate with stakeholders</a:t>
            </a:r>
          </a:p>
          <a:p>
            <a:pPr marL="360000" indent="-360000">
              <a:spcBef>
                <a:spcPts val="600"/>
              </a:spcBef>
              <a:spcAft>
                <a:spcPts val="1200"/>
              </a:spcAft>
            </a:pPr>
            <a:r>
              <a:rPr lang="en-US" sz="2200" dirty="0" smtClean="0">
                <a:latin typeface="Helvetica" pitchFamily="34" charset="0"/>
              </a:rPr>
              <a:t>May require final approval of methods by </a:t>
            </a:r>
            <a:br>
              <a:rPr lang="en-US" sz="2200" dirty="0" smtClean="0">
                <a:latin typeface="Helvetica" pitchFamily="34" charset="0"/>
              </a:rPr>
            </a:br>
            <a:r>
              <a:rPr lang="en-US" sz="2200" dirty="0" smtClean="0">
                <a:latin typeface="Helvetica" pitchFamily="34" charset="0"/>
              </a:rPr>
              <a:t>management or stakeholders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pic>
        <p:nvPicPr>
          <p:cNvPr id="5" name="Picture 4" descr="freeimage-1079508.jpg"/>
          <p:cNvPicPr>
            <a:picLocks noChangeAspect="1"/>
          </p:cNvPicPr>
          <p:nvPr/>
        </p:nvPicPr>
        <p:blipFill>
          <a:blip r:embed="rId3" cstate="print"/>
          <a:srcRect b="6755"/>
          <a:stretch>
            <a:fillRect/>
          </a:stretch>
        </p:blipFill>
        <p:spPr>
          <a:xfrm>
            <a:off x="6825090" y="2996952"/>
            <a:ext cx="1491326" cy="2088232"/>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Reach agreement on evaluation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Agreement should be gained on:</a:t>
            </a:r>
          </a:p>
          <a:p>
            <a:pPr marL="360000" indent="-360000">
              <a:spcBef>
                <a:spcPts val="600"/>
              </a:spcBef>
              <a:spcAft>
                <a:spcPts val="1200"/>
              </a:spcAft>
            </a:pPr>
            <a:r>
              <a:rPr lang="en-US" sz="2200" dirty="0" smtClean="0">
                <a:latin typeface="Helvetica" pitchFamily="34" charset="0"/>
              </a:rPr>
              <a:t>Timing issues</a:t>
            </a:r>
          </a:p>
          <a:p>
            <a:pPr marL="360000" indent="-360000">
              <a:spcBef>
                <a:spcPts val="600"/>
              </a:spcBef>
              <a:spcAft>
                <a:spcPts val="1200"/>
              </a:spcAft>
            </a:pPr>
            <a:r>
              <a:rPr lang="en-US" sz="2200" dirty="0" smtClean="0">
                <a:latin typeface="Helvetica" pitchFamily="34" charset="0"/>
              </a:rPr>
              <a:t>Methods to use</a:t>
            </a:r>
          </a:p>
          <a:p>
            <a:pPr marL="360000" indent="-360000">
              <a:spcBef>
                <a:spcPts val="600"/>
              </a:spcBef>
              <a:spcAft>
                <a:spcPts val="1200"/>
              </a:spcAft>
            </a:pPr>
            <a:r>
              <a:rPr lang="en-US" sz="2200" dirty="0" smtClean="0">
                <a:latin typeface="Helvetica" pitchFamily="34" charset="0"/>
              </a:rPr>
              <a:t>Criteria for evaluation</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89</a:t>
            </a:fld>
            <a:endParaRPr lang="en-US" dirty="0"/>
          </a:p>
        </p:txBody>
      </p:sp>
      <p:pic>
        <p:nvPicPr>
          <p:cNvPr id="5" name="Picture 4" descr="freeimage-8987229.jpg"/>
          <p:cNvPicPr>
            <a:picLocks noChangeAspect="1"/>
          </p:cNvPicPr>
          <p:nvPr/>
        </p:nvPicPr>
        <p:blipFill>
          <a:blip r:embed="rId3" cstate="print"/>
          <a:stretch>
            <a:fillRect/>
          </a:stretch>
        </p:blipFill>
        <p:spPr>
          <a:xfrm>
            <a:off x="6156176" y="3645024"/>
            <a:ext cx="2286000" cy="15240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Reach agreement on evaluation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Questions to be answered</a:t>
            </a:r>
          </a:p>
          <a:p>
            <a:pPr marL="360000" indent="-360000">
              <a:spcBef>
                <a:spcPts val="600"/>
              </a:spcBef>
              <a:spcAft>
                <a:spcPts val="1200"/>
              </a:spcAft>
            </a:pPr>
            <a:r>
              <a:rPr lang="en-US" sz="2200" dirty="0" smtClean="0">
                <a:latin typeface="Helvetica" pitchFamily="34" charset="0"/>
              </a:rPr>
              <a:t>Team members</a:t>
            </a:r>
          </a:p>
          <a:p>
            <a:pPr marL="360000" indent="-360000">
              <a:spcBef>
                <a:spcPts val="600"/>
              </a:spcBef>
              <a:spcAft>
                <a:spcPts val="1200"/>
              </a:spcAft>
            </a:pPr>
            <a:r>
              <a:rPr lang="en-US" sz="2200" dirty="0" smtClean="0">
                <a:latin typeface="Helvetica" pitchFamily="34" charset="0"/>
              </a:rPr>
              <a:t>Reports required</a:t>
            </a:r>
          </a:p>
          <a:p>
            <a:pPr marL="360000" indent="-360000">
              <a:spcBef>
                <a:spcPts val="600"/>
              </a:spcBef>
              <a:spcAft>
                <a:spcPts val="1200"/>
              </a:spcAft>
            </a:pPr>
            <a:r>
              <a:rPr lang="en-US" sz="2200" dirty="0" smtClean="0">
                <a:latin typeface="Helvetica" pitchFamily="34" charset="0"/>
              </a:rPr>
              <a:t>Distribution List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90</a:t>
            </a:fld>
            <a:endParaRPr lang="en-US" dirty="0"/>
          </a:p>
        </p:txBody>
      </p:sp>
      <p:pic>
        <p:nvPicPr>
          <p:cNvPr id="5" name="Picture 4" descr="freeimage-7831060.jpg"/>
          <p:cNvPicPr>
            <a:picLocks noChangeAspect="1"/>
          </p:cNvPicPr>
          <p:nvPr/>
        </p:nvPicPr>
        <p:blipFill>
          <a:blip r:embed="rId3" cstate="print"/>
          <a:stretch>
            <a:fillRect/>
          </a:stretch>
        </p:blipFill>
        <p:spPr>
          <a:xfrm>
            <a:off x="7130653" y="3789040"/>
            <a:ext cx="1261792" cy="1391816"/>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Reach agreement on evaluation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Reasons to identify evaluation methods:</a:t>
            </a:r>
          </a:p>
          <a:p>
            <a:pPr marL="360000" indent="-360000">
              <a:spcBef>
                <a:spcPts val="600"/>
              </a:spcBef>
              <a:spcAft>
                <a:spcPts val="1200"/>
              </a:spcAft>
            </a:pPr>
            <a:r>
              <a:rPr lang="en-US" sz="2200" dirty="0" smtClean="0">
                <a:latin typeface="Helvetica" pitchFamily="34" charset="0"/>
              </a:rPr>
              <a:t>To indicate project priorities</a:t>
            </a:r>
          </a:p>
          <a:p>
            <a:pPr marL="360000" indent="-360000">
              <a:spcBef>
                <a:spcPts val="600"/>
              </a:spcBef>
              <a:spcAft>
                <a:spcPts val="1200"/>
              </a:spcAft>
            </a:pPr>
            <a:r>
              <a:rPr lang="en-US" sz="2200" dirty="0" smtClean="0">
                <a:latin typeface="Helvetica" pitchFamily="34" charset="0"/>
              </a:rPr>
              <a:t>To enable generation of necessary evaluation tools</a:t>
            </a:r>
          </a:p>
          <a:p>
            <a:pPr marL="360000" indent="-360000">
              <a:spcBef>
                <a:spcPts val="600"/>
              </a:spcBef>
              <a:spcAft>
                <a:spcPts val="1200"/>
              </a:spcAft>
            </a:pPr>
            <a:r>
              <a:rPr lang="en-US" sz="2200" dirty="0" smtClean="0">
                <a:latin typeface="Helvetica" pitchFamily="34" charset="0"/>
              </a:rPr>
              <a:t>To develop good relations with those involved</a:t>
            </a:r>
          </a:p>
          <a:p>
            <a:pPr marL="360000" indent="-360000">
              <a:spcBef>
                <a:spcPts val="600"/>
              </a:spcBef>
              <a:spcAft>
                <a:spcPts val="1200"/>
              </a:spcAft>
            </a:pPr>
            <a:r>
              <a:rPr lang="en-US" sz="2200" dirty="0" smtClean="0">
                <a:latin typeface="Helvetica" pitchFamily="34" charset="0"/>
              </a:rPr>
              <a:t>To enable non-project related issues to be </a:t>
            </a:r>
            <a:br>
              <a:rPr lang="en-US" sz="2200" dirty="0" smtClean="0">
                <a:latin typeface="Helvetica" pitchFamily="34" charset="0"/>
              </a:rPr>
            </a:br>
            <a:r>
              <a:rPr lang="en-US" sz="2200" dirty="0" smtClean="0">
                <a:latin typeface="Helvetica" pitchFamily="34" charset="0"/>
              </a:rPr>
              <a:t>addressed</a:t>
            </a:r>
          </a:p>
          <a:p>
            <a:pPr marL="360000" indent="-360000">
              <a:spcBef>
                <a:spcPts val="600"/>
              </a:spcBef>
              <a:spcAft>
                <a:spcPts val="1200"/>
              </a:spcAft>
            </a:pPr>
            <a:r>
              <a:rPr lang="en-US" sz="2200" dirty="0" smtClean="0">
                <a:latin typeface="Helvetica" pitchFamily="34" charset="0"/>
              </a:rPr>
              <a:t>To verify the methods used will be </a:t>
            </a:r>
            <a:br>
              <a:rPr lang="en-US" sz="2200" dirty="0" smtClean="0">
                <a:latin typeface="Helvetica" pitchFamily="34" charset="0"/>
              </a:rPr>
            </a:br>
            <a:r>
              <a:rPr lang="en-US" sz="2200" dirty="0" smtClean="0">
                <a:latin typeface="Helvetica" pitchFamily="34" charset="0"/>
              </a:rPr>
              <a:t>appropriate to the objectives of the project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91</a:t>
            </a:fld>
            <a:endParaRPr lang="en-US" dirty="0"/>
          </a:p>
        </p:txBody>
      </p:sp>
      <p:pic>
        <p:nvPicPr>
          <p:cNvPr id="5" name="Picture 4" descr="MP900423028.JPG"/>
          <p:cNvPicPr>
            <a:picLocks noChangeAspect="1"/>
          </p:cNvPicPr>
          <p:nvPr/>
        </p:nvPicPr>
        <p:blipFill>
          <a:blip r:embed="rId3" cstate="print"/>
          <a:stretch>
            <a:fillRect/>
          </a:stretch>
        </p:blipFill>
        <p:spPr>
          <a:xfrm>
            <a:off x="6876256" y="3933056"/>
            <a:ext cx="1484784" cy="1220476"/>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Reach agreement on evaluation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AU" sz="2200" smtClean="0">
                <a:latin typeface="Helvetica" pitchFamily="34" charset="0"/>
              </a:rPr>
              <a:t>Project evaluation:</a:t>
            </a:r>
          </a:p>
          <a:p>
            <a:pPr marL="360000" indent="-360000">
              <a:spcBef>
                <a:spcPts val="600"/>
              </a:spcBef>
              <a:spcAft>
                <a:spcPts val="1200"/>
              </a:spcAft>
            </a:pPr>
            <a:r>
              <a:rPr lang="en-AU" sz="2200" smtClean="0">
                <a:latin typeface="Helvetica" pitchFamily="34" charset="0"/>
              </a:rPr>
              <a:t>All projects should be evaluated</a:t>
            </a:r>
          </a:p>
          <a:p>
            <a:pPr marL="360000" indent="-360000">
              <a:spcBef>
                <a:spcPts val="600"/>
              </a:spcBef>
              <a:spcAft>
                <a:spcPts val="1200"/>
              </a:spcAft>
            </a:pPr>
            <a:r>
              <a:rPr lang="en-AU" sz="2200" smtClean="0">
                <a:latin typeface="Helvetica" pitchFamily="34" charset="0"/>
              </a:rPr>
              <a:t>Extent of the evaluation should reflect the project</a:t>
            </a:r>
          </a:p>
          <a:p>
            <a:pPr marL="360000" indent="-360000">
              <a:spcBef>
                <a:spcPts val="600"/>
              </a:spcBef>
              <a:spcAft>
                <a:spcPts val="1200"/>
              </a:spcAft>
            </a:pPr>
            <a:r>
              <a:rPr lang="en-AU" sz="2200" smtClean="0">
                <a:latin typeface="Helvetica" pitchFamily="34" charset="0"/>
              </a:rPr>
              <a:t>Evaluation involves analysing and assessing the outcome measured against the criteria for the project</a:t>
            </a:r>
          </a:p>
          <a:p>
            <a:pPr marL="360000" indent="-360000">
              <a:spcBef>
                <a:spcPts val="600"/>
              </a:spcBef>
              <a:spcAft>
                <a:spcPts val="1200"/>
              </a:spcAft>
              <a:buNone/>
            </a:pPr>
            <a:endParaRPr lang="en-AU" sz="220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92</a:t>
            </a:fld>
            <a:endParaRPr lang="en-US" dirty="0"/>
          </a:p>
        </p:txBody>
      </p:sp>
      <p:pic>
        <p:nvPicPr>
          <p:cNvPr id="5" name="Picture 4" descr="freeimage-7831060.jpg"/>
          <p:cNvPicPr>
            <a:picLocks noChangeAspect="1"/>
          </p:cNvPicPr>
          <p:nvPr/>
        </p:nvPicPr>
        <p:blipFill>
          <a:blip r:embed="rId3" cstate="print"/>
          <a:stretch>
            <a:fillRect/>
          </a:stretch>
        </p:blipFill>
        <p:spPr>
          <a:xfrm>
            <a:off x="6228184" y="3861048"/>
            <a:ext cx="2195736" cy="1463824"/>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Reach agreement on evaluation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Evaluation options:</a:t>
            </a:r>
          </a:p>
          <a:p>
            <a:pPr marL="360000" indent="-360000">
              <a:spcBef>
                <a:spcPts val="600"/>
              </a:spcBef>
              <a:spcAft>
                <a:spcPts val="1200"/>
              </a:spcAft>
            </a:pPr>
            <a:r>
              <a:rPr lang="en-US" sz="2200" dirty="0" smtClean="0">
                <a:latin typeface="Helvetica" pitchFamily="34" charset="0"/>
              </a:rPr>
              <a:t>Surveys</a:t>
            </a:r>
          </a:p>
          <a:p>
            <a:pPr marL="360000" indent="-360000">
              <a:spcBef>
                <a:spcPts val="600"/>
              </a:spcBef>
              <a:spcAft>
                <a:spcPts val="1200"/>
              </a:spcAft>
            </a:pPr>
            <a:r>
              <a:rPr lang="en-US" sz="2200" dirty="0" smtClean="0">
                <a:latin typeface="Helvetica" pitchFamily="34" charset="0"/>
              </a:rPr>
              <a:t>Questionnaires</a:t>
            </a:r>
          </a:p>
          <a:p>
            <a:pPr marL="360000" indent="-360000">
              <a:spcBef>
                <a:spcPts val="600"/>
              </a:spcBef>
              <a:spcAft>
                <a:spcPts val="1200"/>
              </a:spcAft>
            </a:pPr>
            <a:r>
              <a:rPr lang="en-US" sz="2200" dirty="0" smtClean="0">
                <a:latin typeface="Helvetica" pitchFamily="34" charset="0"/>
              </a:rPr>
              <a:t>Workplace observation</a:t>
            </a:r>
          </a:p>
          <a:p>
            <a:pPr marL="360000" indent="-360000">
              <a:spcBef>
                <a:spcPts val="600"/>
              </a:spcBef>
              <a:spcAft>
                <a:spcPts val="1200"/>
              </a:spcAft>
            </a:pPr>
            <a:r>
              <a:rPr lang="en-US" sz="2200" dirty="0" smtClean="0">
                <a:latin typeface="Helvetica" pitchFamily="34" charset="0"/>
              </a:rPr>
              <a:t>Piloting</a:t>
            </a:r>
          </a:p>
          <a:p>
            <a:pPr marL="360000" indent="-360000">
              <a:spcBef>
                <a:spcPts val="600"/>
              </a:spcBef>
              <a:spcAft>
                <a:spcPts val="1200"/>
              </a:spcAft>
            </a:pPr>
            <a:r>
              <a:rPr lang="en-US" sz="2200" dirty="0" smtClean="0">
                <a:latin typeface="Helvetica" pitchFamily="34" charset="0"/>
              </a:rPr>
              <a:t>Capturing qualitative and quantitative data</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93</a:t>
            </a:fld>
            <a:endParaRPr lang="en-US" dirty="0"/>
          </a:p>
        </p:txBody>
      </p:sp>
      <p:pic>
        <p:nvPicPr>
          <p:cNvPr id="5" name="Picture 4" descr="customer service -iStock_000003459153Small.jpg"/>
          <p:cNvPicPr>
            <a:picLocks noChangeAspect="1"/>
          </p:cNvPicPr>
          <p:nvPr/>
        </p:nvPicPr>
        <p:blipFill>
          <a:blip r:embed="rId3" cstate="print"/>
          <a:stretch>
            <a:fillRect/>
          </a:stretch>
        </p:blipFill>
        <p:spPr>
          <a:xfrm>
            <a:off x="6300192" y="1844824"/>
            <a:ext cx="2146096" cy="1544559"/>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Project management plan:</a:t>
            </a:r>
          </a:p>
          <a:p>
            <a:pPr marL="360000" indent="-360000">
              <a:spcBef>
                <a:spcPts val="600"/>
              </a:spcBef>
              <a:spcAft>
                <a:spcPts val="1200"/>
              </a:spcAft>
            </a:pPr>
            <a:r>
              <a:rPr lang="en-US" sz="2200" dirty="0" smtClean="0">
                <a:latin typeface="Helvetica" pitchFamily="34" charset="0"/>
              </a:rPr>
              <a:t>Hard copy plan</a:t>
            </a:r>
          </a:p>
          <a:p>
            <a:pPr marL="360000" indent="-360000">
              <a:spcBef>
                <a:spcPts val="600"/>
              </a:spcBef>
              <a:spcAft>
                <a:spcPts val="1200"/>
              </a:spcAft>
            </a:pPr>
            <a:r>
              <a:rPr lang="en-US" sz="2200" dirty="0" smtClean="0">
                <a:latin typeface="Helvetica" pitchFamily="34" charset="0"/>
              </a:rPr>
              <a:t>Reflects size of the project</a:t>
            </a:r>
          </a:p>
          <a:p>
            <a:pPr marL="360000" indent="-360000">
              <a:spcBef>
                <a:spcPts val="600"/>
              </a:spcBef>
              <a:spcAft>
                <a:spcPts val="1200"/>
              </a:spcAft>
            </a:pPr>
            <a:r>
              <a:rPr lang="en-US" sz="2200" dirty="0" smtClean="0">
                <a:latin typeface="Helvetica" pitchFamily="34" charset="0"/>
              </a:rPr>
              <a:t>Differences in plans occur in relation to:</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Detail</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Complexity</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Stages included or listed</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94</a:t>
            </a:fld>
            <a:endParaRPr lang="en-US" dirty="0"/>
          </a:p>
        </p:txBody>
      </p:sp>
      <p:pic>
        <p:nvPicPr>
          <p:cNvPr id="5" name="Picture 4" descr="freeimage-3218677.jpg"/>
          <p:cNvPicPr>
            <a:picLocks noChangeAspect="1"/>
          </p:cNvPicPr>
          <p:nvPr/>
        </p:nvPicPr>
        <p:blipFill>
          <a:blip r:embed="rId3" cstate="print"/>
          <a:stretch>
            <a:fillRect/>
          </a:stretch>
        </p:blipFill>
        <p:spPr>
          <a:xfrm>
            <a:off x="6420205" y="3717032"/>
            <a:ext cx="1979712" cy="1484784"/>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560840" cy="4958011"/>
          </a:xfrm>
        </p:spPr>
        <p:txBody>
          <a:bodyPr>
            <a:normAutofit/>
          </a:bodyPr>
          <a:lstStyle/>
          <a:p>
            <a:pPr marL="0" indent="0">
              <a:spcBef>
                <a:spcPts val="600"/>
              </a:spcBef>
              <a:spcAft>
                <a:spcPts val="1200"/>
              </a:spcAft>
              <a:buNone/>
            </a:pPr>
            <a:r>
              <a:rPr lang="en-US" sz="2200" dirty="0" smtClean="0">
                <a:latin typeface="Helvetica" pitchFamily="34" charset="0"/>
              </a:rPr>
              <a:t>Role of project management plan:</a:t>
            </a:r>
          </a:p>
          <a:p>
            <a:pPr marL="360000" indent="-360000">
              <a:spcBef>
                <a:spcPts val="600"/>
              </a:spcBef>
              <a:spcAft>
                <a:spcPts val="1200"/>
              </a:spcAft>
            </a:pPr>
            <a:r>
              <a:rPr lang="en-US" sz="2200" dirty="0" smtClean="0">
                <a:latin typeface="Helvetica" pitchFamily="34" charset="0"/>
              </a:rPr>
              <a:t>Gives clear understanding of project</a:t>
            </a:r>
          </a:p>
          <a:p>
            <a:pPr marL="360000" indent="-360000">
              <a:spcBef>
                <a:spcPts val="600"/>
              </a:spcBef>
              <a:spcAft>
                <a:spcPts val="1200"/>
              </a:spcAft>
            </a:pPr>
            <a:r>
              <a:rPr lang="en-US" sz="2200" dirty="0" smtClean="0">
                <a:latin typeface="Helvetica" pitchFamily="34" charset="0"/>
              </a:rPr>
              <a:t>Provides basis for management to review/approve project</a:t>
            </a:r>
          </a:p>
          <a:p>
            <a:pPr marL="360000" indent="-360000">
              <a:spcBef>
                <a:spcPts val="600"/>
              </a:spcBef>
              <a:spcAft>
                <a:spcPts val="1200"/>
              </a:spcAft>
            </a:pPr>
            <a:r>
              <a:rPr lang="en-US" sz="2200" dirty="0" smtClean="0">
                <a:latin typeface="Helvetica" pitchFamily="34" charset="0"/>
              </a:rPr>
              <a:t>The approved plan gives legitimacy to the project</a:t>
            </a:r>
          </a:p>
          <a:p>
            <a:pPr marL="360000" indent="-360000">
              <a:spcBef>
                <a:spcPts val="600"/>
              </a:spcBef>
              <a:spcAft>
                <a:spcPts val="1200"/>
              </a:spcAft>
            </a:pPr>
            <a:r>
              <a:rPr lang="en-US" sz="2200" dirty="0" smtClean="0">
                <a:latin typeface="Helvetica" pitchFamily="34" charset="0"/>
              </a:rPr>
              <a:t>Demonstrates ‘due diligence’</a:t>
            </a:r>
          </a:p>
          <a:p>
            <a:pPr marL="360000" indent="-360000">
              <a:spcBef>
                <a:spcPts val="600"/>
              </a:spcBef>
              <a:spcAft>
                <a:spcPts val="1200"/>
              </a:spcAft>
            </a:pPr>
            <a:r>
              <a:rPr lang="en-US" sz="2200" dirty="0" smtClean="0">
                <a:latin typeface="Helvetica" pitchFamily="34" charset="0"/>
              </a:rPr>
              <a:t>A useful tool for others to use in future </a:t>
            </a:r>
            <a:br>
              <a:rPr lang="en-US" sz="2200" dirty="0" smtClean="0">
                <a:latin typeface="Helvetica" pitchFamily="34" charset="0"/>
              </a:rPr>
            </a:br>
            <a:r>
              <a:rPr lang="en-US" sz="2200" dirty="0" smtClean="0">
                <a:latin typeface="Helvetica" pitchFamily="34" charset="0"/>
              </a:rPr>
              <a:t>project planning</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95</a:t>
            </a:fld>
            <a:endParaRPr lang="en-US" dirty="0"/>
          </a:p>
        </p:txBody>
      </p:sp>
      <p:pic>
        <p:nvPicPr>
          <p:cNvPr id="5" name="Picture 4" descr="MP900422115.JPG"/>
          <p:cNvPicPr>
            <a:picLocks noChangeAspect="1"/>
          </p:cNvPicPr>
          <p:nvPr/>
        </p:nvPicPr>
        <p:blipFill>
          <a:blip r:embed="rId3" cstate="print"/>
          <a:stretch>
            <a:fillRect/>
          </a:stretch>
        </p:blipFill>
        <p:spPr>
          <a:xfrm>
            <a:off x="6516216" y="4077072"/>
            <a:ext cx="1870644" cy="1246609"/>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404664"/>
            <a:ext cx="7467600" cy="792088"/>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Reasons to prepare project management plans:</a:t>
            </a:r>
          </a:p>
          <a:p>
            <a:pPr marL="360000" indent="-360000">
              <a:spcBef>
                <a:spcPts val="600"/>
              </a:spcBef>
              <a:spcAft>
                <a:spcPts val="1200"/>
              </a:spcAft>
            </a:pPr>
            <a:r>
              <a:rPr lang="en-US" sz="2200" dirty="0" smtClean="0">
                <a:latin typeface="Helvetica" pitchFamily="34" charset="0"/>
              </a:rPr>
              <a:t>Avoids confusion</a:t>
            </a:r>
          </a:p>
          <a:p>
            <a:pPr marL="360000" indent="-360000">
              <a:spcBef>
                <a:spcPts val="600"/>
              </a:spcBef>
              <a:spcAft>
                <a:spcPts val="1200"/>
              </a:spcAft>
            </a:pPr>
            <a:r>
              <a:rPr lang="en-US" sz="2200" dirty="0" smtClean="0">
                <a:latin typeface="Helvetica" pitchFamily="34" charset="0"/>
              </a:rPr>
              <a:t>Provides authority and legitimacy</a:t>
            </a:r>
          </a:p>
          <a:p>
            <a:pPr marL="360000" indent="-360000">
              <a:spcBef>
                <a:spcPts val="600"/>
              </a:spcBef>
              <a:spcAft>
                <a:spcPts val="1200"/>
              </a:spcAft>
            </a:pPr>
            <a:r>
              <a:rPr lang="en-US" sz="2200" dirty="0" smtClean="0">
                <a:latin typeface="Helvetica" pitchFamily="34" charset="0"/>
              </a:rPr>
              <a:t>Guards against project creep</a:t>
            </a:r>
          </a:p>
          <a:p>
            <a:pPr marL="360000" indent="-360000">
              <a:spcBef>
                <a:spcPts val="600"/>
              </a:spcBef>
              <a:spcAft>
                <a:spcPts val="1200"/>
              </a:spcAft>
            </a:pPr>
            <a:r>
              <a:rPr lang="en-US" sz="2200" dirty="0" smtClean="0">
                <a:latin typeface="Helvetica" pitchFamily="34" charset="0"/>
              </a:rPr>
              <a:t>Provides basis for action</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pic>
        <p:nvPicPr>
          <p:cNvPr id="5" name="Picture 4" descr="MP900422114.JPG"/>
          <p:cNvPicPr>
            <a:picLocks noChangeAspect="1"/>
          </p:cNvPicPr>
          <p:nvPr/>
        </p:nvPicPr>
        <p:blipFill>
          <a:blip r:embed="rId3" cstate="print"/>
          <a:stretch>
            <a:fillRect/>
          </a:stretch>
        </p:blipFill>
        <p:spPr>
          <a:xfrm>
            <a:off x="6885960" y="3717032"/>
            <a:ext cx="1551483" cy="1484784"/>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Sets work priorities</a:t>
            </a:r>
          </a:p>
          <a:p>
            <a:pPr marL="360000" indent="-360000">
              <a:spcBef>
                <a:spcPts val="600"/>
              </a:spcBef>
              <a:spcAft>
                <a:spcPts val="1200"/>
              </a:spcAft>
            </a:pPr>
            <a:r>
              <a:rPr lang="en-US" sz="2200" dirty="0" smtClean="0">
                <a:latin typeface="Helvetica" pitchFamily="34" charset="0"/>
              </a:rPr>
              <a:t>Obviates reworking of tasks</a:t>
            </a:r>
          </a:p>
          <a:p>
            <a:pPr marL="360000" indent="-360000">
              <a:spcBef>
                <a:spcPts val="600"/>
              </a:spcBef>
              <a:spcAft>
                <a:spcPts val="1200"/>
              </a:spcAft>
            </a:pPr>
            <a:r>
              <a:rPr lang="en-US" sz="2200" dirty="0" smtClean="0">
                <a:latin typeface="Helvetica" pitchFamily="34" charset="0"/>
              </a:rPr>
              <a:t>Indicates interdependency of tasks</a:t>
            </a:r>
          </a:p>
          <a:p>
            <a:pPr marL="360000" indent="-360000">
              <a:spcBef>
                <a:spcPts val="600"/>
              </a:spcBef>
              <a:spcAft>
                <a:spcPts val="1200"/>
              </a:spcAft>
            </a:pPr>
            <a:r>
              <a:rPr lang="en-US" sz="2200" dirty="0" smtClean="0">
                <a:latin typeface="Helvetica" pitchFamily="34" charset="0"/>
              </a:rPr>
              <a:t>Avoids duplication and unnecessary expense</a:t>
            </a:r>
          </a:p>
          <a:p>
            <a:pPr marL="360000" indent="-360000">
              <a:spcBef>
                <a:spcPts val="600"/>
              </a:spcBef>
              <a:spcAft>
                <a:spcPts val="1200"/>
              </a:spcAft>
            </a:pPr>
            <a:r>
              <a:rPr lang="en-US" sz="2200" dirty="0" smtClean="0">
                <a:latin typeface="Helvetica" pitchFamily="34" charset="0"/>
              </a:rPr>
              <a:t>Informs the project team</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5" name="Picture 4" descr="MP900422803.JPG"/>
          <p:cNvPicPr>
            <a:picLocks noChangeAspect="1"/>
          </p:cNvPicPr>
          <p:nvPr/>
        </p:nvPicPr>
        <p:blipFill>
          <a:blip r:embed="rId3" cstate="print"/>
          <a:stretch>
            <a:fillRect/>
          </a:stretch>
        </p:blipFill>
        <p:spPr>
          <a:xfrm>
            <a:off x="6948264" y="3861048"/>
            <a:ext cx="1412776" cy="1412776"/>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Provides basis for monitoring and evaluation</a:t>
            </a:r>
          </a:p>
          <a:p>
            <a:pPr marL="360000" indent="-360000">
              <a:spcBef>
                <a:spcPts val="600"/>
              </a:spcBef>
              <a:spcAft>
                <a:spcPts val="1200"/>
              </a:spcAft>
            </a:pPr>
            <a:r>
              <a:rPr lang="en-US" sz="2200" dirty="0" smtClean="0">
                <a:latin typeface="Helvetica" pitchFamily="34" charset="0"/>
              </a:rPr>
              <a:t>Creates a vital communication tool</a:t>
            </a:r>
          </a:p>
          <a:p>
            <a:pPr marL="360000" indent="-360000">
              <a:spcBef>
                <a:spcPts val="600"/>
              </a:spcBef>
              <a:spcAft>
                <a:spcPts val="1200"/>
              </a:spcAft>
            </a:pPr>
            <a:r>
              <a:rPr lang="en-US" sz="2200" dirty="0" smtClean="0">
                <a:latin typeface="Helvetica" pitchFamily="34" charset="0"/>
              </a:rPr>
              <a:t>Facilitates risk management</a:t>
            </a:r>
          </a:p>
          <a:p>
            <a:pPr marL="360000" indent="-360000">
              <a:spcBef>
                <a:spcPts val="600"/>
              </a:spcBef>
              <a:spcAft>
                <a:spcPts val="1200"/>
              </a:spcAft>
            </a:pPr>
            <a:r>
              <a:rPr lang="en-US" sz="2200" dirty="0" smtClean="0">
                <a:latin typeface="Helvetica" pitchFamily="34" charset="0"/>
              </a:rPr>
              <a:t>Assists with decision making</a:t>
            </a:r>
          </a:p>
          <a:p>
            <a:pPr marL="360000" indent="-360000">
              <a:spcBef>
                <a:spcPts val="600"/>
              </a:spcBef>
              <a:spcAft>
                <a:spcPts val="1200"/>
              </a:spcAft>
            </a:pPr>
            <a:r>
              <a:rPr lang="en-US" sz="2200" dirty="0" smtClean="0">
                <a:latin typeface="Helvetica" pitchFamily="34" charset="0"/>
              </a:rPr>
              <a:t>Optimises likelihood all project issues will be </a:t>
            </a:r>
            <a:br>
              <a:rPr lang="en-US" sz="2200" dirty="0" smtClean="0">
                <a:latin typeface="Helvetica" pitchFamily="34" charset="0"/>
              </a:rPr>
            </a:br>
            <a:r>
              <a:rPr lang="en-US" sz="2200" dirty="0" smtClean="0">
                <a:latin typeface="Helvetica" pitchFamily="34" charset="0"/>
              </a:rPr>
              <a:t>identified and considered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5" name="Picture 4" descr="MC900439611.PNG"/>
          <p:cNvPicPr>
            <a:picLocks noChangeAspect="1"/>
          </p:cNvPicPr>
          <p:nvPr/>
        </p:nvPicPr>
        <p:blipFill>
          <a:blip r:embed="rId3" cstate="print"/>
          <a:stretch>
            <a:fillRect/>
          </a:stretch>
        </p:blipFill>
        <p:spPr>
          <a:xfrm>
            <a:off x="6732240" y="4077072"/>
            <a:ext cx="1677169" cy="1118671"/>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buNone/>
            </a:pPr>
            <a:r>
              <a:rPr lang="en-US" sz="2200" dirty="0" smtClean="0">
                <a:latin typeface="Helvetica" pitchFamily="34" charset="0"/>
              </a:rPr>
              <a:t>Disadvantages of project management plans:</a:t>
            </a:r>
          </a:p>
          <a:p>
            <a:pPr marL="360000" indent="-360000">
              <a:spcBef>
                <a:spcPts val="600"/>
              </a:spcBef>
              <a:spcAft>
                <a:spcPts val="1200"/>
              </a:spcAft>
            </a:pPr>
            <a:r>
              <a:rPr lang="en-US" sz="2200" dirty="0" smtClean="0">
                <a:latin typeface="Helvetica" pitchFamily="34" charset="0"/>
              </a:rPr>
              <a:t>They take time</a:t>
            </a:r>
          </a:p>
          <a:p>
            <a:pPr marL="360000" indent="-360000">
              <a:spcBef>
                <a:spcPts val="600"/>
              </a:spcBef>
              <a:spcAft>
                <a:spcPts val="1200"/>
              </a:spcAft>
            </a:pPr>
            <a:r>
              <a:rPr lang="en-US" sz="2200" dirty="0" smtClean="0">
                <a:latin typeface="Helvetica" pitchFamily="34" charset="0"/>
              </a:rPr>
              <a:t>May limit flexibility</a:t>
            </a:r>
          </a:p>
          <a:p>
            <a:pPr marL="360000" indent="-360000">
              <a:spcBef>
                <a:spcPts val="600"/>
              </a:spcBef>
              <a:spcAft>
                <a:spcPts val="1200"/>
              </a:spcAft>
            </a:pPr>
            <a:r>
              <a:rPr lang="en-US" sz="2200" dirty="0" smtClean="0">
                <a:latin typeface="Helvetica" pitchFamily="34" charset="0"/>
              </a:rPr>
              <a:t>May cause excessive focus on the ‘small things’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99</a:t>
            </a:fld>
            <a:endParaRPr lang="en-US" dirty="0"/>
          </a:p>
        </p:txBody>
      </p:sp>
      <p:pic>
        <p:nvPicPr>
          <p:cNvPr id="5" name="Picture 4" descr="shutterstock_93620245.jpg"/>
          <p:cNvPicPr>
            <a:picLocks noChangeAspect="1"/>
          </p:cNvPicPr>
          <p:nvPr/>
        </p:nvPicPr>
        <p:blipFill>
          <a:blip r:embed="rId3" cstate="print"/>
          <a:stretch>
            <a:fillRect/>
          </a:stretch>
        </p:blipFill>
        <p:spPr>
          <a:xfrm>
            <a:off x="6444208" y="3717032"/>
            <a:ext cx="2004053" cy="150304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Contents of project management plan:</a:t>
            </a:r>
          </a:p>
          <a:p>
            <a:pPr marL="360000" indent="-360000">
              <a:spcBef>
                <a:spcPts val="600"/>
              </a:spcBef>
              <a:spcAft>
                <a:spcPts val="1200"/>
              </a:spcAft>
            </a:pPr>
            <a:r>
              <a:rPr lang="en-US" sz="2200" dirty="0" smtClean="0">
                <a:latin typeface="Helvetica" pitchFamily="34" charset="0"/>
              </a:rPr>
              <a:t>Name or title of project</a:t>
            </a:r>
          </a:p>
          <a:p>
            <a:pPr marL="360000" indent="-360000">
              <a:spcBef>
                <a:spcPts val="600"/>
              </a:spcBef>
              <a:spcAft>
                <a:spcPts val="1200"/>
              </a:spcAft>
            </a:pPr>
            <a:r>
              <a:rPr lang="en-US" sz="2200" dirty="0" smtClean="0">
                <a:latin typeface="Helvetica" pitchFamily="34" charset="0"/>
              </a:rPr>
              <a:t>Name of those who prepared plan</a:t>
            </a:r>
          </a:p>
          <a:p>
            <a:pPr marL="360000" indent="-360000">
              <a:spcBef>
                <a:spcPts val="600"/>
              </a:spcBef>
              <a:spcAft>
                <a:spcPts val="1200"/>
              </a:spcAft>
            </a:pPr>
            <a:r>
              <a:rPr lang="en-US" sz="2200" dirty="0" smtClean="0">
                <a:latin typeface="Helvetica" pitchFamily="34" charset="0"/>
              </a:rPr>
              <a:t>Start and finish dates</a:t>
            </a:r>
          </a:p>
          <a:p>
            <a:pPr marL="360000" indent="-360000">
              <a:spcBef>
                <a:spcPts val="600"/>
              </a:spcBef>
              <a:spcAft>
                <a:spcPts val="1200"/>
              </a:spcAft>
            </a:pPr>
            <a:r>
              <a:rPr lang="en-US" sz="2200" dirty="0" smtClean="0">
                <a:latin typeface="Helvetica" pitchFamily="34" charset="0"/>
              </a:rPr>
              <a:t>Stages of the project</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100</a:t>
            </a:fld>
            <a:endParaRPr lang="en-US" dirty="0"/>
          </a:p>
        </p:txBody>
      </p:sp>
      <p:pic>
        <p:nvPicPr>
          <p:cNvPr id="5" name="Picture 4" descr="freeimage-7831060.jpg"/>
          <p:cNvPicPr>
            <a:picLocks noChangeAspect="1"/>
          </p:cNvPicPr>
          <p:nvPr/>
        </p:nvPicPr>
        <p:blipFill>
          <a:blip r:embed="rId3" cstate="print"/>
          <a:stretch>
            <a:fillRect/>
          </a:stretch>
        </p:blipFill>
        <p:spPr>
          <a:xfrm>
            <a:off x="6228184" y="3861048"/>
            <a:ext cx="2195736" cy="1463824"/>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Major stakeholders</a:t>
            </a:r>
          </a:p>
          <a:p>
            <a:pPr marL="360000" indent="-360000">
              <a:spcBef>
                <a:spcPts val="600"/>
              </a:spcBef>
              <a:spcAft>
                <a:spcPts val="1200"/>
              </a:spcAft>
            </a:pPr>
            <a:r>
              <a:rPr lang="en-US" sz="2200" dirty="0" smtClean="0">
                <a:latin typeface="Helvetica" pitchFamily="34" charset="0"/>
              </a:rPr>
              <a:t>Risk identification</a:t>
            </a:r>
          </a:p>
          <a:p>
            <a:pPr marL="360000" indent="-360000">
              <a:spcBef>
                <a:spcPts val="600"/>
              </a:spcBef>
              <a:spcAft>
                <a:spcPts val="1200"/>
              </a:spcAft>
            </a:pPr>
            <a:r>
              <a:rPr lang="en-US" sz="2200" dirty="0" smtClean="0">
                <a:latin typeface="Helvetica" pitchFamily="34" charset="0"/>
              </a:rPr>
              <a:t>Milestones</a:t>
            </a:r>
          </a:p>
          <a:p>
            <a:pPr marL="360000" indent="-360000">
              <a:spcBef>
                <a:spcPts val="600"/>
              </a:spcBef>
              <a:spcAft>
                <a:spcPts val="1200"/>
              </a:spcAft>
            </a:pPr>
            <a:r>
              <a:rPr lang="en-US" sz="2200" dirty="0" smtClean="0">
                <a:latin typeface="Helvetica" pitchFamily="34" charset="0"/>
              </a:rPr>
              <a:t>Resources</a:t>
            </a:r>
          </a:p>
          <a:p>
            <a:pPr marL="360000" indent="-360000">
              <a:spcBef>
                <a:spcPts val="600"/>
              </a:spcBef>
              <a:spcAft>
                <a:spcPts val="1200"/>
              </a:spcAft>
            </a:pPr>
            <a:r>
              <a:rPr lang="en-US" sz="2200" dirty="0" smtClean="0">
                <a:latin typeface="Helvetica" pitchFamily="34" charset="0"/>
              </a:rPr>
              <a:t>Limitations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101</a:t>
            </a:fld>
            <a:endParaRPr lang="en-US" dirty="0"/>
          </a:p>
        </p:txBody>
      </p:sp>
      <p:pic>
        <p:nvPicPr>
          <p:cNvPr id="5" name="Picture 4" descr="freeimage-7729158.jpg"/>
          <p:cNvPicPr>
            <a:picLocks noChangeAspect="1"/>
          </p:cNvPicPr>
          <p:nvPr/>
        </p:nvPicPr>
        <p:blipFill>
          <a:blip r:embed="rId3" cstate="print"/>
          <a:stretch>
            <a:fillRect/>
          </a:stretch>
        </p:blipFill>
        <p:spPr>
          <a:xfrm>
            <a:off x="6444208" y="3789040"/>
            <a:ext cx="1979712" cy="1484784"/>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KPIs</a:t>
            </a:r>
          </a:p>
          <a:p>
            <a:pPr marL="360000" indent="-360000">
              <a:spcBef>
                <a:spcPts val="600"/>
              </a:spcBef>
              <a:spcAft>
                <a:spcPts val="1200"/>
              </a:spcAft>
            </a:pPr>
            <a:r>
              <a:rPr lang="en-US" sz="2200" dirty="0" smtClean="0">
                <a:latin typeface="Helvetica" pitchFamily="34" charset="0"/>
              </a:rPr>
              <a:t>Allocation of responsibilities</a:t>
            </a:r>
          </a:p>
          <a:p>
            <a:pPr marL="360000" indent="-360000">
              <a:spcBef>
                <a:spcPts val="600"/>
              </a:spcBef>
              <a:spcAft>
                <a:spcPts val="1200"/>
              </a:spcAft>
            </a:pPr>
            <a:r>
              <a:rPr lang="en-US" sz="2200" dirty="0" smtClean="0">
                <a:latin typeface="Helvetica" pitchFamily="34" charset="0"/>
              </a:rPr>
              <a:t>Budget</a:t>
            </a:r>
          </a:p>
          <a:p>
            <a:pPr marL="360000" indent="-360000">
              <a:spcBef>
                <a:spcPts val="600"/>
              </a:spcBef>
              <a:spcAft>
                <a:spcPts val="1200"/>
              </a:spcAft>
            </a:pPr>
            <a:r>
              <a:rPr lang="en-US" sz="2200" dirty="0" smtClean="0">
                <a:latin typeface="Helvetica" pitchFamily="34" charset="0"/>
              </a:rPr>
              <a:t>Reporting requirements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102</a:t>
            </a:fld>
            <a:endParaRPr lang="en-US" dirty="0"/>
          </a:p>
        </p:txBody>
      </p:sp>
      <p:pic>
        <p:nvPicPr>
          <p:cNvPr id="5" name="Picture 4" descr="freeimage-7842634.jpg"/>
          <p:cNvPicPr>
            <a:picLocks noChangeAspect="1"/>
          </p:cNvPicPr>
          <p:nvPr/>
        </p:nvPicPr>
        <p:blipFill>
          <a:blip r:embed="rId3" cstate="print"/>
          <a:stretch>
            <a:fillRect/>
          </a:stretch>
        </p:blipFill>
        <p:spPr>
          <a:xfrm>
            <a:off x="6444208" y="3645024"/>
            <a:ext cx="1835696" cy="1376772"/>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Consultation strategies</a:t>
            </a:r>
          </a:p>
          <a:p>
            <a:pPr marL="360000" indent="-360000">
              <a:spcBef>
                <a:spcPts val="600"/>
              </a:spcBef>
              <a:spcAft>
                <a:spcPts val="1200"/>
              </a:spcAft>
            </a:pPr>
            <a:r>
              <a:rPr lang="en-US" sz="2200" dirty="0" smtClean="0">
                <a:latin typeface="Helvetica" pitchFamily="34" charset="0"/>
              </a:rPr>
              <a:t>Quality Assurance (QA) requirements</a:t>
            </a:r>
          </a:p>
          <a:p>
            <a:pPr marL="360000" indent="-360000">
              <a:spcBef>
                <a:spcPts val="600"/>
              </a:spcBef>
              <a:spcAft>
                <a:spcPts val="1200"/>
              </a:spcAft>
            </a:pPr>
            <a:r>
              <a:rPr lang="en-US" sz="2200" dirty="0" smtClean="0">
                <a:latin typeface="Helvetica" pitchFamily="34" charset="0"/>
              </a:rPr>
              <a:t>Communication</a:t>
            </a:r>
          </a:p>
          <a:p>
            <a:pPr marL="360000" indent="-360000">
              <a:spcBef>
                <a:spcPts val="600"/>
              </a:spcBef>
              <a:spcAft>
                <a:spcPts val="1200"/>
              </a:spcAft>
            </a:pPr>
            <a:r>
              <a:rPr lang="en-US" sz="2200" dirty="0" smtClean="0">
                <a:latin typeface="Helvetica" pitchFamily="34" charset="0"/>
              </a:rPr>
              <a:t>Tendering and selection process</a:t>
            </a:r>
          </a:p>
          <a:p>
            <a:pPr marL="360000" indent="-360000">
              <a:spcBef>
                <a:spcPts val="600"/>
              </a:spcBef>
              <a:spcAft>
                <a:spcPts val="1200"/>
              </a:spcAft>
            </a:pPr>
            <a:r>
              <a:rPr lang="en-US" sz="2200" dirty="0" smtClean="0">
                <a:latin typeface="Helvetica" pitchFamily="34" charset="0"/>
              </a:rPr>
              <a:t>Project evaluation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103</a:t>
            </a:fld>
            <a:endParaRPr lang="en-US" dirty="0"/>
          </a:p>
        </p:txBody>
      </p:sp>
      <p:pic>
        <p:nvPicPr>
          <p:cNvPr id="5" name="Picture 4" descr="freeimage-3799089.jpg"/>
          <p:cNvPicPr>
            <a:picLocks noChangeAspect="1"/>
          </p:cNvPicPr>
          <p:nvPr/>
        </p:nvPicPr>
        <p:blipFill>
          <a:blip r:embed="rId3" cstate="print"/>
          <a:stretch>
            <a:fillRect/>
          </a:stretch>
        </p:blipFill>
        <p:spPr>
          <a:xfrm>
            <a:off x="6660232" y="3861048"/>
            <a:ext cx="1763688" cy="1322766"/>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Work Breakdown Structure:</a:t>
            </a:r>
          </a:p>
          <a:p>
            <a:pPr marL="360000" indent="-360000">
              <a:spcBef>
                <a:spcPts val="600"/>
              </a:spcBef>
              <a:spcAft>
                <a:spcPts val="1200"/>
              </a:spcAft>
            </a:pPr>
            <a:r>
              <a:rPr lang="en-US" sz="2200" dirty="0" smtClean="0">
                <a:latin typeface="Helvetica" pitchFamily="34" charset="0"/>
              </a:rPr>
              <a:t>Assists with project planning</a:t>
            </a:r>
          </a:p>
          <a:p>
            <a:pPr marL="360000" indent="-360000">
              <a:spcBef>
                <a:spcPts val="600"/>
              </a:spcBef>
              <a:spcAft>
                <a:spcPts val="1200"/>
              </a:spcAft>
            </a:pPr>
            <a:r>
              <a:rPr lang="en-US" sz="2200" dirty="0" smtClean="0">
                <a:latin typeface="Helvetica" pitchFamily="34" charset="0"/>
              </a:rPr>
              <a:t>Can be time consuming</a:t>
            </a:r>
          </a:p>
          <a:p>
            <a:pPr marL="360000" indent="-360000">
              <a:spcBef>
                <a:spcPts val="600"/>
              </a:spcBef>
              <a:spcAft>
                <a:spcPts val="1200"/>
              </a:spcAft>
            </a:pPr>
            <a:r>
              <a:rPr lang="en-US" sz="2200" dirty="0" smtClean="0">
                <a:latin typeface="Helvetica" pitchFamily="34" charset="0"/>
              </a:rPr>
              <a:t>Must address all aspects of the project</a:t>
            </a:r>
          </a:p>
          <a:p>
            <a:pPr marL="360000" indent="-360000">
              <a:spcBef>
                <a:spcPts val="600"/>
              </a:spcBef>
              <a:spcAft>
                <a:spcPts val="1200"/>
              </a:spcAft>
            </a:pPr>
            <a:r>
              <a:rPr lang="en-US" sz="2200" dirty="0" smtClean="0">
                <a:latin typeface="Helvetica" pitchFamily="34" charset="0"/>
              </a:rPr>
              <a:t>Must avoid work not covered by the project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104</a:t>
            </a:fld>
            <a:endParaRPr lang="en-US" dirty="0"/>
          </a:p>
        </p:txBody>
      </p:sp>
      <p:pic>
        <p:nvPicPr>
          <p:cNvPr id="5" name="Picture 4" descr="freeimage-2606219.jpg"/>
          <p:cNvPicPr>
            <a:picLocks noChangeAspect="1"/>
          </p:cNvPicPr>
          <p:nvPr/>
        </p:nvPicPr>
        <p:blipFill>
          <a:blip r:embed="rId3" cstate="print"/>
          <a:stretch>
            <a:fillRect/>
          </a:stretch>
        </p:blipFill>
        <p:spPr>
          <a:xfrm>
            <a:off x="6372201" y="3861048"/>
            <a:ext cx="2051719" cy="1352079"/>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Planning and preparation for communicating the project management plan:</a:t>
            </a:r>
          </a:p>
          <a:p>
            <a:pPr marL="360000" indent="-360000">
              <a:spcBef>
                <a:spcPts val="600"/>
              </a:spcBef>
              <a:spcAft>
                <a:spcPts val="1200"/>
              </a:spcAft>
            </a:pPr>
            <a:r>
              <a:rPr lang="en-US" sz="2200" dirty="0" smtClean="0">
                <a:latin typeface="Helvetica" pitchFamily="34" charset="0"/>
              </a:rPr>
              <a:t>Arrange forum</a:t>
            </a:r>
          </a:p>
          <a:p>
            <a:pPr marL="360000" indent="-360000">
              <a:spcBef>
                <a:spcPts val="600"/>
              </a:spcBef>
              <a:spcAft>
                <a:spcPts val="1200"/>
              </a:spcAft>
            </a:pPr>
            <a:r>
              <a:rPr lang="en-US" sz="2200" dirty="0" smtClean="0">
                <a:latin typeface="Helvetica" pitchFamily="34" charset="0"/>
              </a:rPr>
              <a:t>Determine date and time for meeting</a:t>
            </a:r>
          </a:p>
          <a:p>
            <a:pPr marL="360000" indent="-360000">
              <a:spcBef>
                <a:spcPts val="600"/>
              </a:spcBef>
              <a:spcAft>
                <a:spcPts val="1200"/>
              </a:spcAft>
            </a:pPr>
            <a:r>
              <a:rPr lang="en-US" sz="2200" dirty="0" smtClean="0">
                <a:latin typeface="Helvetica" pitchFamily="34" charset="0"/>
              </a:rPr>
              <a:t>Notify those who need to attend</a:t>
            </a:r>
          </a:p>
          <a:p>
            <a:pPr marL="360000" indent="-360000">
              <a:spcBef>
                <a:spcPts val="600"/>
              </a:spcBef>
              <a:spcAft>
                <a:spcPts val="1200"/>
              </a:spcAft>
            </a:pPr>
            <a:r>
              <a:rPr lang="en-US" sz="2200" dirty="0" smtClean="0">
                <a:latin typeface="Helvetica" pitchFamily="34" charset="0"/>
              </a:rPr>
              <a:t>Follow-up</a:t>
            </a:r>
          </a:p>
          <a:p>
            <a:pPr marL="360000" indent="-360000">
              <a:spcBef>
                <a:spcPts val="600"/>
              </a:spcBef>
              <a:spcAft>
                <a:spcPts val="1200"/>
              </a:spcAft>
            </a:pPr>
            <a:r>
              <a:rPr lang="en-US" sz="2200" dirty="0" smtClean="0">
                <a:latin typeface="Helvetica" pitchFamily="34" charset="0"/>
              </a:rPr>
              <a:t>Arrange catering</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105</a:t>
            </a:fld>
            <a:endParaRPr lang="en-US" dirty="0"/>
          </a:p>
        </p:txBody>
      </p:sp>
      <p:pic>
        <p:nvPicPr>
          <p:cNvPr id="5" name="Picture 4" descr="MP900430768.JPG"/>
          <p:cNvPicPr>
            <a:picLocks noChangeAspect="1"/>
          </p:cNvPicPr>
          <p:nvPr/>
        </p:nvPicPr>
        <p:blipFill>
          <a:blip r:embed="rId3" cstate="print"/>
          <a:stretch>
            <a:fillRect/>
          </a:stretch>
        </p:blipFill>
        <p:spPr>
          <a:xfrm>
            <a:off x="6876256" y="3068960"/>
            <a:ext cx="1518444" cy="2121264"/>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Plan the presentation</a:t>
            </a:r>
          </a:p>
          <a:p>
            <a:pPr marL="360000" indent="-360000">
              <a:spcBef>
                <a:spcPts val="600"/>
              </a:spcBef>
              <a:spcAft>
                <a:spcPts val="1200"/>
              </a:spcAft>
            </a:pPr>
            <a:r>
              <a:rPr lang="en-US" sz="2200" dirty="0" smtClean="0">
                <a:latin typeface="Helvetica" pitchFamily="34" charset="0"/>
              </a:rPr>
              <a:t>Distribute materials in advance</a:t>
            </a:r>
          </a:p>
          <a:p>
            <a:pPr marL="360000" indent="-360000">
              <a:spcBef>
                <a:spcPts val="600"/>
              </a:spcBef>
              <a:spcAft>
                <a:spcPts val="1200"/>
              </a:spcAft>
            </a:pPr>
            <a:r>
              <a:rPr lang="en-US" sz="2200" dirty="0" smtClean="0">
                <a:latin typeface="Helvetica" pitchFamily="34" charset="0"/>
              </a:rPr>
              <a:t>Follow-up after the meeting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106</a:t>
            </a:fld>
            <a:endParaRPr lang="en-US" dirty="0"/>
          </a:p>
        </p:txBody>
      </p:sp>
      <p:pic>
        <p:nvPicPr>
          <p:cNvPr id="5" name="Picture 4" descr="MP900386406.JPG"/>
          <p:cNvPicPr>
            <a:picLocks noChangeAspect="1"/>
          </p:cNvPicPr>
          <p:nvPr/>
        </p:nvPicPr>
        <p:blipFill>
          <a:blip r:embed="rId3" cstate="print"/>
          <a:stretch>
            <a:fillRect/>
          </a:stretch>
        </p:blipFill>
        <p:spPr>
          <a:xfrm>
            <a:off x="6299952" y="3212976"/>
            <a:ext cx="2113304" cy="2116832"/>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When communicating project management plan:</a:t>
            </a:r>
          </a:p>
          <a:p>
            <a:pPr marL="360000" indent="-360000">
              <a:spcBef>
                <a:spcPts val="600"/>
              </a:spcBef>
              <a:spcAft>
                <a:spcPts val="1200"/>
              </a:spcAft>
            </a:pPr>
            <a:r>
              <a:rPr lang="en-US" sz="2200" dirty="0" smtClean="0">
                <a:latin typeface="Helvetica" pitchFamily="34" charset="0"/>
              </a:rPr>
              <a:t>Distribute and explain all plans</a:t>
            </a:r>
          </a:p>
          <a:p>
            <a:pPr marL="360000" indent="-360000">
              <a:spcBef>
                <a:spcPts val="600"/>
              </a:spcBef>
              <a:spcAft>
                <a:spcPts val="1200"/>
              </a:spcAft>
            </a:pPr>
            <a:r>
              <a:rPr lang="en-US" sz="2200" dirty="0" smtClean="0">
                <a:latin typeface="Helvetica" pitchFamily="34" charset="0"/>
              </a:rPr>
              <a:t>Provide and explain budget information</a:t>
            </a:r>
          </a:p>
          <a:p>
            <a:pPr marL="360000" indent="-360000">
              <a:spcBef>
                <a:spcPts val="600"/>
              </a:spcBef>
              <a:spcAft>
                <a:spcPts val="1200"/>
              </a:spcAft>
            </a:pPr>
            <a:r>
              <a:rPr lang="en-US" sz="2200" dirty="0" smtClean="0">
                <a:latin typeface="Helvetica" pitchFamily="34" charset="0"/>
              </a:rPr>
              <a:t>Identify lines of communication</a:t>
            </a:r>
          </a:p>
          <a:p>
            <a:pPr marL="360000" indent="-360000">
              <a:spcBef>
                <a:spcPts val="600"/>
              </a:spcBef>
              <a:spcAft>
                <a:spcPts val="1200"/>
              </a:spcAft>
            </a:pPr>
            <a:r>
              <a:rPr lang="en-US" sz="2200" dirty="0" smtClean="0">
                <a:latin typeface="Helvetica" pitchFamily="34" charset="0"/>
              </a:rPr>
              <a:t>State lines of responsibility</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107</a:t>
            </a:fld>
            <a:endParaRPr lang="en-US" dirty="0"/>
          </a:p>
        </p:txBody>
      </p:sp>
      <p:pic>
        <p:nvPicPr>
          <p:cNvPr id="5" name="Picture 4" descr="MP900409605(1).JPG"/>
          <p:cNvPicPr>
            <a:picLocks noChangeAspect="1"/>
          </p:cNvPicPr>
          <p:nvPr/>
        </p:nvPicPr>
        <p:blipFill>
          <a:blip r:embed="rId3" cstate="print"/>
          <a:stretch>
            <a:fillRect/>
          </a:stretch>
        </p:blipFill>
        <p:spPr>
          <a:xfrm>
            <a:off x="6876256" y="2996952"/>
            <a:ext cx="1494746" cy="2241026"/>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Describe delegations of authority</a:t>
            </a:r>
          </a:p>
          <a:p>
            <a:pPr marL="360000" indent="-360000">
              <a:spcBef>
                <a:spcPts val="600"/>
              </a:spcBef>
              <a:spcAft>
                <a:spcPts val="1200"/>
              </a:spcAft>
            </a:pPr>
            <a:r>
              <a:rPr lang="en-US" sz="2200" dirty="0" smtClean="0">
                <a:latin typeface="Helvetica" pitchFamily="34" charset="0"/>
              </a:rPr>
              <a:t>Identify accountability</a:t>
            </a:r>
          </a:p>
          <a:p>
            <a:pPr marL="360000" indent="-360000">
              <a:spcBef>
                <a:spcPts val="600"/>
              </a:spcBef>
              <a:spcAft>
                <a:spcPts val="1200"/>
              </a:spcAft>
            </a:pPr>
            <a:r>
              <a:rPr lang="en-US" sz="2200" dirty="0" smtClean="0">
                <a:latin typeface="Helvetica" pitchFamily="34" charset="0"/>
              </a:rPr>
              <a:t>Provide contact details</a:t>
            </a:r>
          </a:p>
          <a:p>
            <a:pPr marL="360000" indent="-360000">
              <a:spcBef>
                <a:spcPts val="600"/>
              </a:spcBef>
              <a:spcAft>
                <a:spcPts val="1200"/>
              </a:spcAft>
            </a:pPr>
            <a:r>
              <a:rPr lang="en-US" sz="2200" dirty="0" smtClean="0">
                <a:latin typeface="Helvetica" pitchFamily="34" charset="0"/>
              </a:rPr>
              <a:t>Explain all aspects of the plan</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108</a:t>
            </a:fld>
            <a:endParaRPr lang="en-US" dirty="0"/>
          </a:p>
        </p:txBody>
      </p:sp>
      <p:pic>
        <p:nvPicPr>
          <p:cNvPr id="5" name="Picture 4" descr="freeimage-6224114.jpg"/>
          <p:cNvPicPr>
            <a:picLocks noChangeAspect="1"/>
          </p:cNvPicPr>
          <p:nvPr/>
        </p:nvPicPr>
        <p:blipFill>
          <a:blip r:embed="rId3" cstate="print"/>
          <a:stretch>
            <a:fillRect/>
          </a:stretch>
        </p:blipFill>
        <p:spPr>
          <a:xfrm>
            <a:off x="6228184" y="3789040"/>
            <a:ext cx="2177779" cy="1440964"/>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Explain emergency response management plans</a:t>
            </a:r>
          </a:p>
          <a:p>
            <a:pPr marL="360000" indent="-360000">
              <a:spcBef>
                <a:spcPts val="600"/>
              </a:spcBef>
              <a:spcAft>
                <a:spcPts val="1200"/>
              </a:spcAft>
            </a:pPr>
            <a:r>
              <a:rPr lang="en-US" sz="2200" dirty="0" smtClean="0">
                <a:latin typeface="Helvetica" pitchFamily="34" charset="0"/>
              </a:rPr>
              <a:t>Address health, safety and welfare issues</a:t>
            </a:r>
          </a:p>
          <a:p>
            <a:pPr marL="360000" indent="-360000">
              <a:spcBef>
                <a:spcPts val="600"/>
              </a:spcBef>
              <a:spcAft>
                <a:spcPts val="1200"/>
              </a:spcAft>
            </a:pPr>
            <a:r>
              <a:rPr lang="en-US" sz="2200" dirty="0" smtClean="0">
                <a:latin typeface="Helvetica" pitchFamily="34" charset="0"/>
              </a:rPr>
              <a:t>Specify your role as PM</a:t>
            </a:r>
          </a:p>
          <a:p>
            <a:pPr marL="360000" indent="-360000">
              <a:spcBef>
                <a:spcPts val="600"/>
              </a:spcBef>
              <a:spcAft>
                <a:spcPts val="1200"/>
              </a:spcAft>
            </a:pPr>
            <a:r>
              <a:rPr lang="en-US" sz="2200" dirty="0" smtClean="0">
                <a:latin typeface="Helvetica" pitchFamily="34" charset="0"/>
              </a:rPr>
              <a:t>Indicate ‘open door’ policy</a:t>
            </a:r>
          </a:p>
          <a:p>
            <a:pPr marL="360000" indent="-360000">
              <a:spcBef>
                <a:spcPts val="600"/>
              </a:spcBef>
              <a:spcAft>
                <a:spcPts val="1200"/>
              </a:spcAft>
            </a:pPr>
            <a:r>
              <a:rPr lang="en-US" sz="2200" dirty="0" smtClean="0">
                <a:latin typeface="Helvetica" pitchFamily="34" charset="0"/>
              </a:rPr>
              <a:t>List scheduled meetings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109</a:t>
            </a:fld>
            <a:endParaRPr lang="en-US" dirty="0"/>
          </a:p>
        </p:txBody>
      </p:sp>
      <p:pic>
        <p:nvPicPr>
          <p:cNvPr id="5" name="Picture 4" descr="MP900422638.JPG"/>
          <p:cNvPicPr>
            <a:picLocks noChangeAspect="1"/>
          </p:cNvPicPr>
          <p:nvPr/>
        </p:nvPicPr>
        <p:blipFill>
          <a:blip r:embed="rId3" cstate="print"/>
          <a:stretch>
            <a:fillRect/>
          </a:stretch>
        </p:blipFill>
        <p:spPr>
          <a:xfrm>
            <a:off x="6369780" y="4005064"/>
            <a:ext cx="1982132" cy="133639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Communication of project management plan can occur:</a:t>
            </a:r>
          </a:p>
          <a:p>
            <a:pPr marL="360000" indent="-360000">
              <a:spcBef>
                <a:spcPts val="600"/>
              </a:spcBef>
              <a:spcAft>
                <a:spcPts val="1200"/>
              </a:spcAft>
            </a:pPr>
            <a:r>
              <a:rPr lang="en-US" sz="2200" dirty="0" smtClean="0">
                <a:latin typeface="Helvetica" pitchFamily="34" charset="0"/>
              </a:rPr>
              <a:t>Face to face</a:t>
            </a:r>
          </a:p>
          <a:p>
            <a:pPr marL="360000" indent="-360000">
              <a:spcBef>
                <a:spcPts val="600"/>
              </a:spcBef>
              <a:spcAft>
                <a:spcPts val="1200"/>
              </a:spcAft>
            </a:pPr>
            <a:r>
              <a:rPr lang="en-US" sz="2200" dirty="0" smtClean="0">
                <a:latin typeface="Helvetica" pitchFamily="34" charset="0"/>
              </a:rPr>
              <a:t>By email</a:t>
            </a:r>
          </a:p>
          <a:p>
            <a:pPr marL="360000" indent="-360000">
              <a:spcBef>
                <a:spcPts val="600"/>
              </a:spcBef>
              <a:spcAft>
                <a:spcPts val="1200"/>
              </a:spcAft>
            </a:pPr>
            <a:r>
              <a:rPr lang="en-US" sz="2200" dirty="0" smtClean="0">
                <a:latin typeface="Helvetica" pitchFamily="34" charset="0"/>
              </a:rPr>
              <a:t>Using the phone</a:t>
            </a:r>
          </a:p>
          <a:p>
            <a:pPr marL="360000" indent="-360000">
              <a:spcBef>
                <a:spcPts val="600"/>
              </a:spcBef>
              <a:spcAft>
                <a:spcPts val="1200"/>
              </a:spcAft>
            </a:pPr>
            <a:r>
              <a:rPr lang="en-US" sz="2200" dirty="0" smtClean="0">
                <a:latin typeface="Helvetica" pitchFamily="34" charset="0"/>
              </a:rPr>
              <a:t>At a staff meeting or briefing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110</a:t>
            </a:fld>
            <a:endParaRPr lang="en-US" dirty="0"/>
          </a:p>
        </p:txBody>
      </p:sp>
      <p:pic>
        <p:nvPicPr>
          <p:cNvPr id="5" name="Picture 4" descr="Email logo 1.jpg"/>
          <p:cNvPicPr>
            <a:picLocks noChangeAspect="1"/>
          </p:cNvPicPr>
          <p:nvPr/>
        </p:nvPicPr>
        <p:blipFill>
          <a:blip r:embed="rId3" cstate="print"/>
          <a:stretch>
            <a:fillRect/>
          </a:stretch>
        </p:blipFill>
        <p:spPr>
          <a:xfrm>
            <a:off x="6516216" y="3284984"/>
            <a:ext cx="1783085" cy="1783085"/>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Risk management comprises:</a:t>
            </a:r>
          </a:p>
          <a:p>
            <a:pPr marL="360000" indent="-360000">
              <a:spcBef>
                <a:spcPts val="600"/>
              </a:spcBef>
              <a:spcAft>
                <a:spcPts val="1200"/>
              </a:spcAft>
            </a:pPr>
            <a:r>
              <a:rPr lang="en-US" sz="2200" dirty="0" smtClean="0">
                <a:latin typeface="Helvetica" pitchFamily="34" charset="0"/>
              </a:rPr>
              <a:t>Risk identification</a:t>
            </a:r>
          </a:p>
          <a:p>
            <a:pPr marL="360000" indent="-360000">
              <a:spcBef>
                <a:spcPts val="600"/>
              </a:spcBef>
              <a:spcAft>
                <a:spcPts val="1200"/>
              </a:spcAft>
            </a:pPr>
            <a:r>
              <a:rPr lang="en-US" sz="2200" dirty="0" smtClean="0">
                <a:latin typeface="Helvetica" pitchFamily="34" charset="0"/>
              </a:rPr>
              <a:t>Risk analysis</a:t>
            </a:r>
          </a:p>
          <a:p>
            <a:pPr marL="360000" indent="-360000">
              <a:spcBef>
                <a:spcPts val="600"/>
              </a:spcBef>
              <a:spcAft>
                <a:spcPts val="1200"/>
              </a:spcAft>
            </a:pPr>
            <a:r>
              <a:rPr lang="en-US" sz="2200" dirty="0" smtClean="0">
                <a:latin typeface="Helvetica" pitchFamily="34" charset="0"/>
              </a:rPr>
              <a:t>Risk control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111</a:t>
            </a:fld>
            <a:endParaRPr lang="en-US" dirty="0"/>
          </a:p>
        </p:txBody>
      </p:sp>
      <p:pic>
        <p:nvPicPr>
          <p:cNvPr id="5" name="Picture 4" descr="Risk sign.jpg"/>
          <p:cNvPicPr>
            <a:picLocks noChangeAspect="1"/>
          </p:cNvPicPr>
          <p:nvPr/>
        </p:nvPicPr>
        <p:blipFill>
          <a:blip r:embed="rId3" cstate="print"/>
          <a:srcRect l="19882" r="16494"/>
          <a:stretch>
            <a:fillRect/>
          </a:stretch>
        </p:blipFill>
        <p:spPr>
          <a:xfrm>
            <a:off x="7164288" y="2852936"/>
            <a:ext cx="1152128" cy="2165027"/>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Project risks may be classified as:</a:t>
            </a:r>
          </a:p>
          <a:p>
            <a:pPr marL="360000" indent="-360000">
              <a:spcBef>
                <a:spcPts val="600"/>
              </a:spcBef>
              <a:spcAft>
                <a:spcPts val="1200"/>
              </a:spcAft>
            </a:pPr>
            <a:r>
              <a:rPr lang="en-US" sz="2200" dirty="0" smtClean="0">
                <a:latin typeface="Helvetica" pitchFamily="34" charset="0"/>
              </a:rPr>
              <a:t>Project-specific</a:t>
            </a:r>
          </a:p>
          <a:p>
            <a:pPr marL="360000" indent="-360000">
              <a:spcBef>
                <a:spcPts val="600"/>
              </a:spcBef>
              <a:spcAft>
                <a:spcPts val="1200"/>
              </a:spcAft>
            </a:pPr>
            <a:r>
              <a:rPr lang="en-US" sz="2200" dirty="0" smtClean="0">
                <a:latin typeface="Helvetica" pitchFamily="34" charset="0"/>
              </a:rPr>
              <a:t>Staff-related</a:t>
            </a:r>
          </a:p>
          <a:p>
            <a:pPr marL="360000" indent="-360000">
              <a:spcBef>
                <a:spcPts val="600"/>
              </a:spcBef>
              <a:spcAft>
                <a:spcPts val="1200"/>
              </a:spcAft>
            </a:pPr>
            <a:r>
              <a:rPr lang="en-US" sz="2200" dirty="0" smtClean="0">
                <a:latin typeface="Helvetica" pitchFamily="34" charset="0"/>
              </a:rPr>
              <a:t>Funding/financial</a:t>
            </a:r>
          </a:p>
          <a:p>
            <a:pPr marL="360000" indent="-360000">
              <a:spcBef>
                <a:spcPts val="600"/>
              </a:spcBef>
              <a:spcAft>
                <a:spcPts val="1200"/>
              </a:spcAft>
            </a:pPr>
            <a:r>
              <a:rPr lang="en-US" sz="2200" dirty="0" smtClean="0">
                <a:latin typeface="Helvetica" pitchFamily="34" charset="0"/>
              </a:rPr>
              <a:t>Outcome/performance risks</a:t>
            </a:r>
          </a:p>
          <a:p>
            <a:pPr marL="360000" indent="-360000">
              <a:spcBef>
                <a:spcPts val="600"/>
              </a:spcBef>
              <a:spcAft>
                <a:spcPts val="1200"/>
              </a:spcAft>
            </a:pPr>
            <a:r>
              <a:rPr lang="en-US" sz="2200" dirty="0" smtClean="0">
                <a:latin typeface="Helvetica" pitchFamily="34" charset="0"/>
              </a:rPr>
              <a:t>Environmental</a:t>
            </a:r>
          </a:p>
          <a:p>
            <a:pPr marL="360000" indent="-360000">
              <a:spcBef>
                <a:spcPts val="600"/>
              </a:spcBef>
              <a:spcAft>
                <a:spcPts val="1200"/>
              </a:spcAft>
            </a:pPr>
            <a:r>
              <a:rPr lang="en-US" sz="2200" dirty="0" smtClean="0">
                <a:latin typeface="Helvetica" pitchFamily="34" charset="0"/>
              </a:rPr>
              <a:t>Technological</a:t>
            </a:r>
          </a:p>
          <a:p>
            <a:pPr marL="360000" indent="-360000">
              <a:spcBef>
                <a:spcPts val="600"/>
              </a:spcBef>
              <a:spcAft>
                <a:spcPts val="1200"/>
              </a:spcAft>
            </a:pPr>
            <a:r>
              <a:rPr lang="en-US" sz="2200" dirty="0" smtClean="0">
                <a:latin typeface="Helvetica" pitchFamily="34" charset="0"/>
              </a:rPr>
              <a:t>Legal</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112</a:t>
            </a:fld>
            <a:endParaRPr lang="en-US" dirty="0"/>
          </a:p>
        </p:txBody>
      </p:sp>
      <p:pic>
        <p:nvPicPr>
          <p:cNvPr id="5" name="Picture 4" descr="freeimage-6143550.jpg"/>
          <p:cNvPicPr>
            <a:picLocks noChangeAspect="1"/>
          </p:cNvPicPr>
          <p:nvPr/>
        </p:nvPicPr>
        <p:blipFill>
          <a:blip r:embed="rId3" cstate="print"/>
          <a:stretch>
            <a:fillRect/>
          </a:stretch>
        </p:blipFill>
        <p:spPr>
          <a:xfrm>
            <a:off x="6444208" y="3645024"/>
            <a:ext cx="1979712" cy="1484784"/>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A risk management plan should be prepared which should:</a:t>
            </a:r>
          </a:p>
          <a:p>
            <a:pPr marL="360000" indent="-360000">
              <a:spcBef>
                <a:spcPts val="600"/>
              </a:spcBef>
              <a:spcAft>
                <a:spcPts val="1200"/>
              </a:spcAft>
            </a:pPr>
            <a:r>
              <a:rPr lang="en-US" sz="2200" dirty="0" smtClean="0">
                <a:latin typeface="Helvetica" pitchFamily="34" charset="0"/>
              </a:rPr>
              <a:t>Identify and describe all identified risks</a:t>
            </a:r>
          </a:p>
          <a:p>
            <a:pPr marL="360000" indent="-360000">
              <a:spcBef>
                <a:spcPts val="600"/>
              </a:spcBef>
              <a:spcAft>
                <a:spcPts val="1200"/>
              </a:spcAft>
            </a:pPr>
            <a:r>
              <a:rPr lang="en-US" sz="2200" dirty="0" smtClean="0">
                <a:latin typeface="Helvetica" pitchFamily="34" charset="0"/>
              </a:rPr>
              <a:t>List risks into a risk register</a:t>
            </a:r>
          </a:p>
          <a:p>
            <a:pPr marL="360000" indent="-360000">
              <a:spcBef>
                <a:spcPts val="600"/>
              </a:spcBef>
              <a:spcAft>
                <a:spcPts val="1200"/>
              </a:spcAft>
            </a:pPr>
            <a:r>
              <a:rPr lang="en-US" sz="2200" dirty="0" smtClean="0">
                <a:latin typeface="Helvetica" pitchFamily="34" charset="0"/>
              </a:rPr>
              <a:t>Allocate a code to each identified risk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113</a:t>
            </a:fld>
            <a:endParaRPr lang="en-US" dirty="0"/>
          </a:p>
        </p:txBody>
      </p:sp>
      <p:pic>
        <p:nvPicPr>
          <p:cNvPr id="5" name="Picture 4" descr="freeimage-2473366.jpg"/>
          <p:cNvPicPr>
            <a:picLocks noChangeAspect="1"/>
          </p:cNvPicPr>
          <p:nvPr/>
        </p:nvPicPr>
        <p:blipFill>
          <a:blip r:embed="rId3" cstate="print"/>
          <a:stretch>
            <a:fillRect/>
          </a:stretch>
        </p:blipFill>
        <p:spPr>
          <a:xfrm>
            <a:off x="6444208" y="3645024"/>
            <a:ext cx="1782693" cy="1337020"/>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360000" indent="-360000">
              <a:spcBef>
                <a:spcPts val="600"/>
              </a:spcBef>
              <a:spcAft>
                <a:spcPts val="1200"/>
              </a:spcAft>
            </a:pPr>
            <a:r>
              <a:rPr lang="en-US" sz="2200" dirty="0" smtClean="0">
                <a:latin typeface="Helvetica" pitchFamily="34" charset="0"/>
              </a:rPr>
              <a:t>Calculate ‘likelihood’ for each risk</a:t>
            </a:r>
          </a:p>
          <a:p>
            <a:pPr marL="360000" indent="-360000">
              <a:spcBef>
                <a:spcPts val="600"/>
              </a:spcBef>
              <a:spcAft>
                <a:spcPts val="1200"/>
              </a:spcAft>
            </a:pPr>
            <a:r>
              <a:rPr lang="en-US" sz="2200" dirty="0" smtClean="0">
                <a:latin typeface="Helvetica" pitchFamily="34" charset="0"/>
              </a:rPr>
              <a:t>Determine severity of ‘consequence’ for each</a:t>
            </a:r>
          </a:p>
          <a:p>
            <a:pPr marL="360000" indent="-360000">
              <a:spcBef>
                <a:spcPts val="600"/>
              </a:spcBef>
              <a:spcAft>
                <a:spcPts val="1200"/>
              </a:spcAft>
            </a:pPr>
            <a:r>
              <a:rPr lang="en-US" sz="2200" dirty="0" smtClean="0">
                <a:latin typeface="Helvetica" pitchFamily="34" charset="0"/>
              </a:rPr>
              <a:t>Identify rating for each risk</a:t>
            </a:r>
          </a:p>
          <a:p>
            <a:pPr marL="360000" indent="-360000">
              <a:spcBef>
                <a:spcPts val="600"/>
              </a:spcBef>
              <a:spcAft>
                <a:spcPts val="1200"/>
              </a:spcAft>
            </a:pPr>
            <a:r>
              <a:rPr lang="en-US" sz="2200" dirty="0" smtClean="0">
                <a:latin typeface="Helvetica" pitchFamily="34" charset="0"/>
              </a:rPr>
              <a:t>Develop controls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114</a:t>
            </a:fld>
            <a:endParaRPr lang="en-US" dirty="0"/>
          </a:p>
        </p:txBody>
      </p:sp>
      <p:pic>
        <p:nvPicPr>
          <p:cNvPr id="5" name="Picture 4" descr="freeimage-2473366.jpg"/>
          <p:cNvPicPr>
            <a:picLocks noChangeAspect="1"/>
          </p:cNvPicPr>
          <p:nvPr/>
        </p:nvPicPr>
        <p:blipFill>
          <a:blip r:embed="rId3" cstate="print"/>
          <a:stretch>
            <a:fillRect/>
          </a:stretch>
        </p:blipFill>
        <p:spPr>
          <a:xfrm>
            <a:off x="6444208" y="4005064"/>
            <a:ext cx="1979712" cy="1210336"/>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Ways to identify risks for a project:</a:t>
            </a:r>
          </a:p>
          <a:p>
            <a:pPr marL="360000" indent="-360000">
              <a:spcBef>
                <a:spcPts val="600"/>
              </a:spcBef>
              <a:spcAft>
                <a:spcPts val="1200"/>
              </a:spcAft>
            </a:pPr>
            <a:r>
              <a:rPr lang="en-US" sz="2200" dirty="0" smtClean="0">
                <a:latin typeface="Helvetica" pitchFamily="34" charset="0"/>
              </a:rPr>
              <a:t>Refer to previous venue history and information</a:t>
            </a:r>
          </a:p>
          <a:p>
            <a:pPr marL="360000" indent="-360000">
              <a:spcBef>
                <a:spcPts val="600"/>
              </a:spcBef>
              <a:spcAft>
                <a:spcPts val="1200"/>
              </a:spcAft>
            </a:pPr>
            <a:r>
              <a:rPr lang="en-US" sz="2200" dirty="0" smtClean="0">
                <a:latin typeface="Helvetica" pitchFamily="34" charset="0"/>
              </a:rPr>
              <a:t>Talk to others at the venue</a:t>
            </a:r>
          </a:p>
          <a:p>
            <a:pPr marL="360000" indent="-360000">
              <a:spcBef>
                <a:spcPts val="600"/>
              </a:spcBef>
              <a:spcAft>
                <a:spcPts val="1200"/>
              </a:spcAft>
            </a:pPr>
            <a:r>
              <a:rPr lang="en-US" sz="2200" dirty="0" smtClean="0">
                <a:latin typeface="Helvetica" pitchFamily="34" charset="0"/>
              </a:rPr>
              <a:t>Use your personal experience</a:t>
            </a:r>
          </a:p>
          <a:p>
            <a:pPr marL="360000" indent="-360000">
              <a:spcBef>
                <a:spcPts val="600"/>
              </a:spcBef>
              <a:spcAft>
                <a:spcPts val="1200"/>
              </a:spcAft>
            </a:pPr>
            <a:r>
              <a:rPr lang="en-US" sz="2200" dirty="0" smtClean="0">
                <a:latin typeface="Helvetica" pitchFamily="34" charset="0"/>
              </a:rPr>
              <a:t>Paying a consultant</a:t>
            </a:r>
          </a:p>
          <a:p>
            <a:pPr marL="360000" indent="-360000">
              <a:spcBef>
                <a:spcPts val="600"/>
              </a:spcBef>
              <a:spcAft>
                <a:spcPts val="1200"/>
              </a:spcAft>
            </a:pPr>
            <a:r>
              <a:rPr lang="en-US" sz="2200" dirty="0" smtClean="0">
                <a:latin typeface="Helvetica" pitchFamily="34" charset="0"/>
              </a:rPr>
              <a:t>Using project-specific techniques and/or project </a:t>
            </a:r>
            <a:br>
              <a:rPr lang="en-US" sz="2200" dirty="0" smtClean="0">
                <a:latin typeface="Helvetica" pitchFamily="34" charset="0"/>
              </a:rPr>
            </a:br>
            <a:r>
              <a:rPr lang="en-US" sz="2200" dirty="0" smtClean="0">
                <a:latin typeface="Helvetica" pitchFamily="34" charset="0"/>
              </a:rPr>
              <a:t>software programs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115</a:t>
            </a:fld>
            <a:endParaRPr lang="en-US" dirty="0"/>
          </a:p>
        </p:txBody>
      </p:sp>
      <p:pic>
        <p:nvPicPr>
          <p:cNvPr id="5" name="Picture 4" descr="MP900442211.JPG"/>
          <p:cNvPicPr>
            <a:picLocks noChangeAspect="1"/>
          </p:cNvPicPr>
          <p:nvPr/>
        </p:nvPicPr>
        <p:blipFill>
          <a:blip r:embed="rId3" cstate="print"/>
          <a:stretch>
            <a:fillRect/>
          </a:stretch>
        </p:blipFill>
        <p:spPr>
          <a:xfrm>
            <a:off x="7020272" y="3240360"/>
            <a:ext cx="1373899" cy="2060848"/>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Possible generic responses to identified risks for projects:</a:t>
            </a:r>
          </a:p>
          <a:p>
            <a:pPr marL="360000" indent="-360000">
              <a:spcBef>
                <a:spcPts val="600"/>
              </a:spcBef>
              <a:spcAft>
                <a:spcPts val="1200"/>
              </a:spcAft>
            </a:pPr>
            <a:r>
              <a:rPr lang="en-US" sz="2200" dirty="0" smtClean="0">
                <a:latin typeface="Helvetica" pitchFamily="34" charset="0"/>
              </a:rPr>
              <a:t>Risk avoidance</a:t>
            </a:r>
          </a:p>
          <a:p>
            <a:pPr marL="360000" indent="-360000">
              <a:spcBef>
                <a:spcPts val="600"/>
              </a:spcBef>
              <a:spcAft>
                <a:spcPts val="1200"/>
              </a:spcAft>
            </a:pPr>
            <a:r>
              <a:rPr lang="en-US" sz="2200" dirty="0" smtClean="0">
                <a:latin typeface="Helvetica" pitchFamily="34" charset="0"/>
              </a:rPr>
              <a:t>Accepting and controlling risk</a:t>
            </a:r>
          </a:p>
          <a:p>
            <a:pPr marL="360000" indent="-360000">
              <a:spcBef>
                <a:spcPts val="600"/>
              </a:spcBef>
              <a:spcAft>
                <a:spcPts val="1200"/>
              </a:spcAft>
            </a:pPr>
            <a:r>
              <a:rPr lang="en-US" sz="2200" dirty="0" smtClean="0">
                <a:latin typeface="Helvetica" pitchFamily="34" charset="0"/>
              </a:rPr>
              <a:t>Transferring risk</a:t>
            </a:r>
          </a:p>
          <a:p>
            <a:pPr marL="360000" indent="-360000">
              <a:spcBef>
                <a:spcPts val="600"/>
              </a:spcBef>
              <a:spcAft>
                <a:spcPts val="1200"/>
              </a:spcAft>
            </a:pPr>
            <a:r>
              <a:rPr lang="en-US" sz="2200" dirty="0" smtClean="0">
                <a:latin typeface="Helvetica" pitchFamily="34" charset="0"/>
              </a:rPr>
              <a:t>Deferring risk</a:t>
            </a:r>
          </a:p>
          <a:p>
            <a:pPr marL="360000" indent="-360000">
              <a:spcBef>
                <a:spcPts val="600"/>
              </a:spcBef>
              <a:spcAft>
                <a:spcPts val="1200"/>
              </a:spcAft>
            </a:pPr>
            <a:r>
              <a:rPr lang="en-US" sz="2200" dirty="0" smtClean="0">
                <a:latin typeface="Helvetica" pitchFamily="34" charset="0"/>
              </a:rPr>
              <a:t>Limiting risk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116</a:t>
            </a:fld>
            <a:endParaRPr lang="en-US" dirty="0"/>
          </a:p>
        </p:txBody>
      </p:sp>
      <p:pic>
        <p:nvPicPr>
          <p:cNvPr id="5" name="Picture 4" descr="iStock_000003581896Large.jpg"/>
          <p:cNvPicPr>
            <a:picLocks noChangeAspect="1"/>
          </p:cNvPicPr>
          <p:nvPr/>
        </p:nvPicPr>
        <p:blipFill>
          <a:blip r:embed="rId3" cstate="print"/>
          <a:stretch>
            <a:fillRect/>
          </a:stretch>
        </p:blipFill>
        <p:spPr>
          <a:xfrm>
            <a:off x="6516216" y="4005064"/>
            <a:ext cx="1870705" cy="1246678"/>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Develop project management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Contingency plans:</a:t>
            </a:r>
          </a:p>
          <a:p>
            <a:pPr marL="360000" indent="-360000">
              <a:spcBef>
                <a:spcPts val="600"/>
              </a:spcBef>
              <a:spcAft>
                <a:spcPts val="1200"/>
              </a:spcAft>
            </a:pPr>
            <a:r>
              <a:rPr lang="en-US" sz="2200" dirty="0" smtClean="0">
                <a:latin typeface="Helvetica" pitchFamily="34" charset="0"/>
              </a:rPr>
              <a:t>May be mandatory for your project, may not be</a:t>
            </a:r>
          </a:p>
          <a:p>
            <a:pPr marL="360000" indent="-360000">
              <a:spcBef>
                <a:spcPts val="600"/>
              </a:spcBef>
              <a:spcAft>
                <a:spcPts val="1200"/>
              </a:spcAft>
            </a:pPr>
            <a:r>
              <a:rPr lang="en-US" sz="2200" dirty="0" smtClean="0">
                <a:latin typeface="Helvetica" pitchFamily="34" charset="0"/>
              </a:rPr>
              <a:t>They are ‘Plan B’</a:t>
            </a:r>
          </a:p>
          <a:p>
            <a:pPr marL="360000" indent="-360000">
              <a:spcBef>
                <a:spcPts val="600"/>
              </a:spcBef>
              <a:spcAft>
                <a:spcPts val="1200"/>
              </a:spcAft>
            </a:pPr>
            <a:r>
              <a:rPr lang="en-US" sz="2200" dirty="0" smtClean="0">
                <a:latin typeface="Helvetica" pitchFamily="34" charset="0"/>
              </a:rPr>
              <a:t>Provide direction when problems occur</a:t>
            </a:r>
          </a:p>
          <a:p>
            <a:pPr marL="360000" indent="-360000">
              <a:spcBef>
                <a:spcPts val="600"/>
              </a:spcBef>
              <a:spcAft>
                <a:spcPts val="1200"/>
              </a:spcAft>
            </a:pPr>
            <a:r>
              <a:rPr lang="en-US" sz="2200" dirty="0" smtClean="0">
                <a:latin typeface="Helvetica" pitchFamily="34" charset="0"/>
              </a:rPr>
              <a:t>Will be prepared as part of the risk management process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117</a:t>
            </a:fld>
            <a:endParaRPr lang="en-US" dirty="0"/>
          </a:p>
        </p:txBody>
      </p:sp>
      <p:pic>
        <p:nvPicPr>
          <p:cNvPr id="5" name="Picture 4" descr="MP900289901.JPG"/>
          <p:cNvPicPr>
            <a:picLocks noChangeAspect="1"/>
          </p:cNvPicPr>
          <p:nvPr/>
        </p:nvPicPr>
        <p:blipFill>
          <a:blip r:embed="rId3" cstate="print"/>
          <a:stretch>
            <a:fillRect/>
          </a:stretch>
        </p:blipFill>
        <p:spPr>
          <a:xfrm>
            <a:off x="6372200" y="3890570"/>
            <a:ext cx="2001416" cy="1340949"/>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Identify key project milestones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Milestones:</a:t>
            </a:r>
          </a:p>
          <a:p>
            <a:pPr marL="360000" indent="-360000">
              <a:spcBef>
                <a:spcPts val="600"/>
              </a:spcBef>
              <a:spcAft>
                <a:spcPts val="1200"/>
              </a:spcAft>
            </a:pPr>
            <a:r>
              <a:rPr lang="en-US" sz="2200" dirty="0" smtClean="0">
                <a:latin typeface="Helvetica" pitchFamily="34" charset="0"/>
              </a:rPr>
              <a:t>Points where nominated activities are expected to be completed</a:t>
            </a:r>
          </a:p>
          <a:p>
            <a:pPr marL="360000" indent="-360000">
              <a:spcBef>
                <a:spcPts val="600"/>
              </a:spcBef>
              <a:spcAft>
                <a:spcPts val="1200"/>
              </a:spcAft>
            </a:pPr>
            <a:r>
              <a:rPr lang="en-US" sz="2200" dirty="0" smtClean="0">
                <a:latin typeface="Helvetica" pitchFamily="34" charset="0"/>
              </a:rPr>
              <a:t>Occur throughout a project</a:t>
            </a:r>
          </a:p>
          <a:p>
            <a:pPr marL="360000" indent="-360000">
              <a:spcBef>
                <a:spcPts val="600"/>
              </a:spcBef>
              <a:spcAft>
                <a:spcPts val="1200"/>
              </a:spcAft>
            </a:pPr>
            <a:r>
              <a:rPr lang="en-US" sz="2200" dirty="0" smtClean="0">
                <a:latin typeface="Helvetica" pitchFamily="34" charset="0"/>
              </a:rPr>
              <a:t>Have no standard length or timelines</a:t>
            </a:r>
          </a:p>
          <a:p>
            <a:pPr marL="360000" indent="-360000">
              <a:spcBef>
                <a:spcPts val="600"/>
              </a:spcBef>
              <a:spcAft>
                <a:spcPts val="1200"/>
              </a:spcAft>
            </a:pPr>
            <a:r>
              <a:rPr lang="en-US" sz="2200" dirty="0" smtClean="0">
                <a:latin typeface="Helvetica" pitchFamily="34" charset="0"/>
              </a:rPr>
              <a:t>Allow monitoring of the project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118</a:t>
            </a:fld>
            <a:endParaRPr lang="en-US" dirty="0"/>
          </a:p>
        </p:txBody>
      </p:sp>
      <p:pic>
        <p:nvPicPr>
          <p:cNvPr id="5" name="Picture 4" descr="MP900423037.JPG"/>
          <p:cNvPicPr>
            <a:picLocks noChangeAspect="1"/>
          </p:cNvPicPr>
          <p:nvPr/>
        </p:nvPicPr>
        <p:blipFill>
          <a:blip r:embed="rId3" cstate="print"/>
          <a:stretch>
            <a:fillRect/>
          </a:stretch>
        </p:blipFill>
        <p:spPr>
          <a:xfrm>
            <a:off x="6372200" y="3933056"/>
            <a:ext cx="2060848" cy="1368772"/>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Identify key project milestones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When identifying milestones:</a:t>
            </a:r>
          </a:p>
          <a:p>
            <a:pPr marL="360000" indent="-360000">
              <a:spcBef>
                <a:spcPts val="600"/>
              </a:spcBef>
              <a:spcAft>
                <a:spcPts val="1200"/>
              </a:spcAft>
            </a:pPr>
            <a:r>
              <a:rPr lang="en-US" sz="2200" dirty="0" smtClean="0">
                <a:latin typeface="Helvetica" pitchFamily="34" charset="0"/>
              </a:rPr>
              <a:t>Know start and finish dates for project</a:t>
            </a:r>
          </a:p>
          <a:p>
            <a:pPr marL="360000" indent="-360000">
              <a:spcBef>
                <a:spcPts val="600"/>
              </a:spcBef>
              <a:spcAft>
                <a:spcPts val="1200"/>
              </a:spcAft>
            </a:pPr>
            <a:r>
              <a:rPr lang="en-US" sz="2200" dirty="0" smtClean="0">
                <a:latin typeface="Helvetica" pitchFamily="34" charset="0"/>
              </a:rPr>
              <a:t>Identify all work to be completed</a:t>
            </a:r>
          </a:p>
          <a:p>
            <a:pPr marL="360000" indent="-360000">
              <a:spcBef>
                <a:spcPts val="600"/>
              </a:spcBef>
              <a:spcAft>
                <a:spcPts val="1200"/>
              </a:spcAft>
            </a:pPr>
            <a:r>
              <a:rPr lang="en-US" sz="2200" dirty="0" smtClean="0">
                <a:latin typeface="Helvetica" pitchFamily="34" charset="0"/>
              </a:rPr>
              <a:t>Involve others in the process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119</a:t>
            </a:fld>
            <a:endParaRPr lang="en-US" dirty="0"/>
          </a:p>
        </p:txBody>
      </p:sp>
      <p:pic>
        <p:nvPicPr>
          <p:cNvPr id="5" name="Picture 4" descr="MP900422119.JPG"/>
          <p:cNvPicPr>
            <a:picLocks noChangeAspect="1"/>
          </p:cNvPicPr>
          <p:nvPr/>
        </p:nvPicPr>
        <p:blipFill>
          <a:blip r:embed="rId3" cstate="print"/>
          <a:stretch>
            <a:fillRect/>
          </a:stretch>
        </p:blipFill>
        <p:spPr>
          <a:xfrm>
            <a:off x="7020272" y="3429000"/>
            <a:ext cx="1320955" cy="1772816"/>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Identify key project milestones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Include penalty clauses</a:t>
            </a:r>
          </a:p>
          <a:p>
            <a:pPr marL="360000" indent="-360000">
              <a:spcBef>
                <a:spcPts val="600"/>
              </a:spcBef>
              <a:spcAft>
                <a:spcPts val="1200"/>
              </a:spcAft>
            </a:pPr>
            <a:r>
              <a:rPr lang="en-US" sz="2200" dirty="0" smtClean="0">
                <a:latin typeface="Helvetica" pitchFamily="34" charset="0"/>
              </a:rPr>
              <a:t>Seek approval from stakeholders</a:t>
            </a:r>
          </a:p>
          <a:p>
            <a:pPr marL="360000" indent="-360000">
              <a:spcBef>
                <a:spcPts val="600"/>
              </a:spcBef>
              <a:spcAft>
                <a:spcPts val="1200"/>
              </a:spcAft>
            </a:pPr>
            <a:r>
              <a:rPr lang="en-US" sz="2200" dirty="0" smtClean="0">
                <a:latin typeface="Helvetica" pitchFamily="34" charset="0"/>
              </a:rPr>
              <a:t>Look for ‘logical’ breaks</a:t>
            </a:r>
          </a:p>
          <a:p>
            <a:pPr marL="360000" indent="-360000">
              <a:spcBef>
                <a:spcPts val="600"/>
              </a:spcBef>
              <a:spcAft>
                <a:spcPts val="1200"/>
              </a:spcAft>
            </a:pPr>
            <a:r>
              <a:rPr lang="en-US" sz="2200" dirty="0" smtClean="0">
                <a:latin typeface="Helvetica" pitchFamily="34" charset="0"/>
              </a:rPr>
              <a:t>Set a date before milestone date to check progress</a:t>
            </a:r>
          </a:p>
          <a:p>
            <a:pPr marL="360000" indent="-360000">
              <a:spcBef>
                <a:spcPts val="600"/>
              </a:spcBef>
              <a:spcAft>
                <a:spcPts val="1200"/>
              </a:spcAft>
            </a:pPr>
            <a:r>
              <a:rPr lang="en-US" sz="2200" dirty="0" smtClean="0">
                <a:latin typeface="Helvetica" pitchFamily="34" charset="0"/>
              </a:rPr>
              <a:t>Many PMS have a ‘Create a milestone’ facility</a:t>
            </a:r>
          </a:p>
          <a:p>
            <a:pPr marL="360000" indent="-360000">
              <a:spcBef>
                <a:spcPts val="600"/>
              </a:spcBef>
              <a:spcAft>
                <a:spcPts val="1200"/>
              </a:spcAft>
            </a:pPr>
            <a:r>
              <a:rPr lang="en-US" sz="2200" dirty="0" smtClean="0">
                <a:latin typeface="Helvetica" pitchFamily="34" charset="0"/>
              </a:rPr>
              <a:t>Determine related meetings, inspections and </a:t>
            </a:r>
            <a:br>
              <a:rPr lang="en-US" sz="2200" dirty="0" smtClean="0">
                <a:latin typeface="Helvetica" pitchFamily="34" charset="0"/>
              </a:rPr>
            </a:br>
            <a:r>
              <a:rPr lang="en-US" sz="2200" dirty="0" smtClean="0">
                <a:latin typeface="Helvetica" pitchFamily="34" charset="0"/>
              </a:rPr>
              <a:t>reports in advance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120</a:t>
            </a:fld>
            <a:endParaRPr lang="en-US" dirty="0"/>
          </a:p>
        </p:txBody>
      </p:sp>
      <p:pic>
        <p:nvPicPr>
          <p:cNvPr id="5" name="Picture 4" descr="freeimage-1898709.jpg"/>
          <p:cNvPicPr>
            <a:picLocks noChangeAspect="1"/>
          </p:cNvPicPr>
          <p:nvPr/>
        </p:nvPicPr>
        <p:blipFill>
          <a:blip r:embed="rId3" cstate="print"/>
          <a:stretch>
            <a:fillRect/>
          </a:stretch>
        </p:blipFill>
        <p:spPr>
          <a:xfrm>
            <a:off x="6804248" y="4149080"/>
            <a:ext cx="1619672" cy="1079781"/>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Identify key project milestones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When communicating milestones:</a:t>
            </a:r>
          </a:p>
          <a:p>
            <a:pPr marL="360000" indent="-360000">
              <a:spcBef>
                <a:spcPts val="600"/>
              </a:spcBef>
              <a:spcAft>
                <a:spcPts val="1200"/>
              </a:spcAft>
            </a:pPr>
            <a:r>
              <a:rPr lang="en-US" sz="2200" dirty="0" smtClean="0">
                <a:latin typeface="Helvetica" pitchFamily="34" charset="0"/>
              </a:rPr>
              <a:t>Ensure relevant dates are fully understood by others</a:t>
            </a:r>
          </a:p>
          <a:p>
            <a:pPr marL="360000" indent="-360000">
              <a:spcBef>
                <a:spcPts val="600"/>
              </a:spcBef>
              <a:spcAft>
                <a:spcPts val="1200"/>
              </a:spcAft>
            </a:pPr>
            <a:r>
              <a:rPr lang="en-US" sz="2200" dirty="0" smtClean="0">
                <a:latin typeface="Helvetica" pitchFamily="34" charset="0"/>
              </a:rPr>
              <a:t>Send ‘advanced notice’ of milestone dates to others</a:t>
            </a:r>
          </a:p>
          <a:p>
            <a:pPr marL="360000" indent="-360000">
              <a:spcBef>
                <a:spcPts val="600"/>
              </a:spcBef>
              <a:spcAft>
                <a:spcPts val="1200"/>
              </a:spcAft>
            </a:pPr>
            <a:r>
              <a:rPr lang="en-US" sz="2200" dirty="0" smtClean="0">
                <a:latin typeface="Helvetica" pitchFamily="34" charset="0"/>
              </a:rPr>
              <a:t>Provide copy of project management plan with milestones to all concerned</a:t>
            </a:r>
          </a:p>
          <a:p>
            <a:pPr marL="360000" indent="-360000">
              <a:spcBef>
                <a:spcPts val="600"/>
              </a:spcBef>
              <a:spcAft>
                <a:spcPts val="1200"/>
              </a:spcAft>
            </a:pPr>
            <a:r>
              <a:rPr lang="en-US" sz="2200" dirty="0" smtClean="0">
                <a:latin typeface="Helvetica" pitchFamily="34" charset="0"/>
              </a:rPr>
              <a:t>Detail exactly what each milestone </a:t>
            </a:r>
            <a:br>
              <a:rPr lang="en-US" sz="2200" dirty="0" smtClean="0">
                <a:latin typeface="Helvetica" pitchFamily="34" charset="0"/>
              </a:rPr>
            </a:br>
            <a:r>
              <a:rPr lang="en-US" sz="2200" dirty="0" smtClean="0">
                <a:latin typeface="Helvetica" pitchFamily="34" charset="0"/>
              </a:rPr>
              <a:t>comprises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121</a:t>
            </a:fld>
            <a:endParaRPr lang="en-US" dirty="0"/>
          </a:p>
        </p:txBody>
      </p:sp>
      <p:pic>
        <p:nvPicPr>
          <p:cNvPr id="5" name="Picture 4" descr="Filing1.jpg"/>
          <p:cNvPicPr>
            <a:picLocks noChangeAspect="1"/>
          </p:cNvPicPr>
          <p:nvPr/>
        </p:nvPicPr>
        <p:blipFill>
          <a:blip r:embed="rId3" cstate="print"/>
          <a:stretch>
            <a:fillRect/>
          </a:stretch>
        </p:blipFill>
        <p:spPr>
          <a:xfrm>
            <a:off x="6516216" y="3284984"/>
            <a:ext cx="1770153" cy="1765052"/>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Identify key project milestones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Advise people of action to take if their milestones will not be completed on schedule</a:t>
            </a:r>
          </a:p>
          <a:p>
            <a:pPr marL="360000" indent="-360000">
              <a:spcBef>
                <a:spcPts val="600"/>
              </a:spcBef>
              <a:spcAft>
                <a:spcPts val="1200"/>
              </a:spcAft>
            </a:pPr>
            <a:r>
              <a:rPr lang="en-US" sz="2200" dirty="0" smtClean="0">
                <a:latin typeface="Helvetica" pitchFamily="34" charset="0"/>
              </a:rPr>
              <a:t>Notify people of flow-on impacts on not meeting milestones</a:t>
            </a:r>
          </a:p>
          <a:p>
            <a:pPr marL="360000" indent="-360000">
              <a:spcBef>
                <a:spcPts val="600"/>
              </a:spcBef>
              <a:spcAft>
                <a:spcPts val="1200"/>
              </a:spcAft>
            </a:pPr>
            <a:r>
              <a:rPr lang="en-US" sz="2200" dirty="0" smtClean="0">
                <a:latin typeface="Helvetica" pitchFamily="34" charset="0"/>
              </a:rPr>
              <a:t>Check the budget as part of checking milestones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122</a:t>
            </a:fld>
            <a:endParaRPr lang="en-US" dirty="0"/>
          </a:p>
        </p:txBody>
      </p:sp>
      <p:pic>
        <p:nvPicPr>
          <p:cNvPr id="5" name="Picture 4" descr="Businessman.jpg"/>
          <p:cNvPicPr>
            <a:picLocks noChangeAspect="1"/>
          </p:cNvPicPr>
          <p:nvPr/>
        </p:nvPicPr>
        <p:blipFill>
          <a:blip r:embed="rId3" cstate="print"/>
          <a:stretch>
            <a:fillRect/>
          </a:stretch>
        </p:blipFill>
        <p:spPr>
          <a:xfrm>
            <a:off x="6660232" y="4005064"/>
            <a:ext cx="1726844" cy="1152128"/>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When planning project:</a:t>
            </a:r>
          </a:p>
          <a:p>
            <a:pPr marL="360000" indent="-360000">
              <a:spcBef>
                <a:spcPts val="600"/>
              </a:spcBef>
              <a:spcAft>
                <a:spcPts val="1200"/>
              </a:spcAft>
            </a:pPr>
            <a:r>
              <a:rPr lang="en-AU" sz="2200" dirty="0" smtClean="0">
                <a:latin typeface="Helvetica" pitchFamily="34" charset="0"/>
              </a:rPr>
              <a:t>Make sure you know the scope and objectives</a:t>
            </a:r>
          </a:p>
          <a:p>
            <a:pPr marL="360000" indent="-360000">
              <a:spcBef>
                <a:spcPts val="600"/>
              </a:spcBef>
              <a:spcAft>
                <a:spcPts val="1200"/>
              </a:spcAft>
            </a:pPr>
            <a:r>
              <a:rPr lang="en-AU" sz="2200" dirty="0" smtClean="0">
                <a:latin typeface="Helvetica" pitchFamily="34" charset="0"/>
              </a:rPr>
              <a:t>Determine the project deliverables</a:t>
            </a:r>
          </a:p>
          <a:p>
            <a:pPr marL="360000" indent="-360000">
              <a:spcBef>
                <a:spcPts val="600"/>
              </a:spcBef>
              <a:spcAft>
                <a:spcPts val="1200"/>
              </a:spcAft>
            </a:pPr>
            <a:r>
              <a:rPr lang="en-AU" sz="2200" dirty="0" smtClean="0">
                <a:latin typeface="Helvetica" pitchFamily="34" charset="0"/>
              </a:rPr>
              <a:t>Consult widely with stakeholders and relevant others</a:t>
            </a:r>
          </a:p>
          <a:p>
            <a:pPr marL="360000" indent="-360000">
              <a:spcBef>
                <a:spcPts val="600"/>
              </a:spcBef>
              <a:spcAft>
                <a:spcPts val="1200"/>
              </a:spcAft>
            </a:pPr>
            <a:r>
              <a:rPr lang="en-AU" sz="2200" dirty="0" smtClean="0">
                <a:latin typeface="Helvetica" pitchFamily="34" charset="0"/>
              </a:rPr>
              <a:t>Identify resources required and prepare a </a:t>
            </a:r>
            <a:br>
              <a:rPr lang="en-AU" sz="2200" dirty="0" smtClean="0">
                <a:latin typeface="Helvetica" pitchFamily="34" charset="0"/>
              </a:rPr>
            </a:br>
            <a:r>
              <a:rPr lang="en-AU" sz="2200" dirty="0" smtClean="0">
                <a:latin typeface="Helvetica" pitchFamily="34" charset="0"/>
              </a:rPr>
              <a:t>resource strategy</a:t>
            </a:r>
          </a:p>
          <a:p>
            <a:pPr marL="360000" indent="-360000">
              <a:spcBef>
                <a:spcPts val="600"/>
              </a:spcBef>
              <a:spcAft>
                <a:spcPts val="1200"/>
              </a:spcAft>
            </a:pPr>
            <a:r>
              <a:rPr lang="en-AU" sz="2200" dirty="0" smtClean="0">
                <a:latin typeface="Helvetica" pitchFamily="34" charset="0"/>
              </a:rPr>
              <a:t>Determine the financial viability of the project </a:t>
            </a:r>
            <a:br>
              <a:rPr lang="en-AU" sz="2200" dirty="0" smtClean="0">
                <a:latin typeface="Helvetica" pitchFamily="34" charset="0"/>
              </a:rPr>
            </a:br>
            <a:r>
              <a:rPr lang="en-AU" sz="2200" dirty="0" smtClean="0">
                <a:latin typeface="Helvetica" pitchFamily="34" charset="0"/>
              </a:rPr>
              <a:t>as part of standard operating procedure</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123</a:t>
            </a:fld>
            <a:endParaRPr lang="en-US" dirty="0"/>
          </a:p>
        </p:txBody>
      </p:sp>
      <p:pic>
        <p:nvPicPr>
          <p:cNvPr id="5" name="Picture 4" descr="MC900440428.WMF"/>
          <p:cNvPicPr>
            <a:picLocks noChangeAspect="1"/>
          </p:cNvPicPr>
          <p:nvPr/>
        </p:nvPicPr>
        <p:blipFill>
          <a:blip r:embed="rId3" cstate="print"/>
          <a:stretch>
            <a:fillRect/>
          </a:stretch>
        </p:blipFill>
        <p:spPr>
          <a:xfrm>
            <a:off x="6732240" y="3429000"/>
            <a:ext cx="1531577" cy="1612776"/>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AU" sz="2200" dirty="0" smtClean="0">
                <a:latin typeface="Helvetica" pitchFamily="34" charset="0"/>
              </a:rPr>
              <a:t>Develop an administrative structure for the project</a:t>
            </a:r>
          </a:p>
          <a:p>
            <a:pPr marL="360000" indent="-360000">
              <a:spcBef>
                <a:spcPts val="600"/>
              </a:spcBef>
              <a:spcAft>
                <a:spcPts val="1200"/>
              </a:spcAft>
            </a:pPr>
            <a:r>
              <a:rPr lang="en-AU" sz="2200" dirty="0" smtClean="0">
                <a:latin typeface="Helvetica" pitchFamily="34" charset="0"/>
              </a:rPr>
              <a:t>Manage your time effectively</a:t>
            </a:r>
          </a:p>
          <a:p>
            <a:pPr marL="360000" indent="-360000">
              <a:spcBef>
                <a:spcPts val="600"/>
              </a:spcBef>
              <a:spcAft>
                <a:spcPts val="1200"/>
              </a:spcAft>
            </a:pPr>
            <a:r>
              <a:rPr lang="en-AU" sz="2200" dirty="0" smtClean="0">
                <a:latin typeface="Helvetica" pitchFamily="34" charset="0"/>
              </a:rPr>
              <a:t>Allocate responsibilities for work to be done</a:t>
            </a:r>
          </a:p>
          <a:p>
            <a:pPr marL="360000" indent="-360000">
              <a:spcBef>
                <a:spcPts val="600"/>
              </a:spcBef>
              <a:spcAft>
                <a:spcPts val="1200"/>
              </a:spcAft>
            </a:pPr>
            <a:r>
              <a:rPr lang="en-AU" sz="2200" dirty="0" smtClean="0">
                <a:latin typeface="Helvetica" pitchFamily="34" charset="0"/>
              </a:rPr>
              <a:t>Undertake risk management activities</a:t>
            </a:r>
          </a:p>
          <a:p>
            <a:pPr marL="360000" indent="-360000">
              <a:spcBef>
                <a:spcPts val="600"/>
              </a:spcBef>
              <a:spcAft>
                <a:spcPts val="1200"/>
              </a:spcAft>
            </a:pPr>
            <a:r>
              <a:rPr lang="en-AU" sz="2200" dirty="0" smtClean="0">
                <a:latin typeface="Helvetica" pitchFamily="34" charset="0"/>
              </a:rPr>
              <a:t>Prepare a project management plan with </a:t>
            </a:r>
            <a:br>
              <a:rPr lang="en-AU" sz="2200" dirty="0" smtClean="0">
                <a:latin typeface="Helvetica" pitchFamily="34" charset="0"/>
              </a:rPr>
            </a:br>
            <a:r>
              <a:rPr lang="en-AU" sz="2200" dirty="0" smtClean="0">
                <a:latin typeface="Helvetica" pitchFamily="34" charset="0"/>
              </a:rPr>
              <a:t>contingency plans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124</a:t>
            </a:fld>
            <a:endParaRPr lang="en-US" dirty="0"/>
          </a:p>
        </p:txBody>
      </p:sp>
      <p:pic>
        <p:nvPicPr>
          <p:cNvPr id="5" name="Picture 4" descr="MC900440428.WMF"/>
          <p:cNvPicPr>
            <a:picLocks noChangeAspect="1"/>
          </p:cNvPicPr>
          <p:nvPr/>
        </p:nvPicPr>
        <p:blipFill>
          <a:blip r:embed="rId3" cstate="print"/>
          <a:stretch>
            <a:fillRect/>
          </a:stretch>
        </p:blipFill>
        <p:spPr>
          <a:xfrm>
            <a:off x="6732240" y="3429000"/>
            <a:ext cx="1531577" cy="1612776"/>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AU" sz="2200" dirty="0" smtClean="0">
                <a:latin typeface="Helvetica" pitchFamily="34" charset="0"/>
              </a:rPr>
              <a:t>Develop PR and marketing strategies appropriate to/if required for the project</a:t>
            </a:r>
          </a:p>
          <a:p>
            <a:pPr marL="360000" indent="-360000">
              <a:spcBef>
                <a:spcPts val="600"/>
              </a:spcBef>
              <a:spcAft>
                <a:spcPts val="1200"/>
              </a:spcAft>
            </a:pPr>
            <a:r>
              <a:rPr lang="en-AU" sz="2200" dirty="0" smtClean="0">
                <a:latin typeface="Helvetica" pitchFamily="34" charset="0"/>
              </a:rPr>
              <a:t>Communicate and share plans with internal and external stakeholders</a:t>
            </a:r>
          </a:p>
          <a:p>
            <a:pPr marL="360000" indent="-360000">
              <a:spcBef>
                <a:spcPts val="600"/>
              </a:spcBef>
              <a:spcAft>
                <a:spcPts val="1200"/>
              </a:spcAft>
            </a:pPr>
            <a:r>
              <a:rPr lang="en-AU" sz="2200" dirty="0" smtClean="0">
                <a:latin typeface="Helvetica" pitchFamily="34" charset="0"/>
              </a:rPr>
              <a:t>Consider use of project management software</a:t>
            </a:r>
          </a:p>
          <a:p>
            <a:pPr marL="360000" indent="-360000">
              <a:spcBef>
                <a:spcPts val="600"/>
              </a:spcBef>
              <a:spcAft>
                <a:spcPts val="1200"/>
              </a:spcAft>
            </a:pPr>
            <a:r>
              <a:rPr lang="en-AU" sz="2200" dirty="0" smtClean="0">
                <a:latin typeface="Helvetica" pitchFamily="34" charset="0"/>
              </a:rPr>
              <a:t>Determine the methods to be used to evaluate </a:t>
            </a:r>
            <a:br>
              <a:rPr lang="en-AU" sz="2200" dirty="0" smtClean="0">
                <a:latin typeface="Helvetica" pitchFamily="34" charset="0"/>
              </a:rPr>
            </a:br>
            <a:r>
              <a:rPr lang="en-AU" sz="2200" dirty="0" smtClean="0">
                <a:latin typeface="Helvetica" pitchFamily="34" charset="0"/>
              </a:rPr>
              <a:t>the project</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125</a:t>
            </a:fld>
            <a:endParaRPr lang="en-US" dirty="0"/>
          </a:p>
        </p:txBody>
      </p:sp>
      <p:pic>
        <p:nvPicPr>
          <p:cNvPr id="5" name="Picture 4" descr="MC900440428.WMF"/>
          <p:cNvPicPr>
            <a:picLocks noChangeAspect="1"/>
          </p:cNvPicPr>
          <p:nvPr/>
        </p:nvPicPr>
        <p:blipFill>
          <a:blip r:embed="rId3" cstate="print"/>
          <a:stretch>
            <a:fillRect/>
          </a:stretch>
        </p:blipFill>
        <p:spPr>
          <a:xfrm>
            <a:off x="6732240" y="3429000"/>
            <a:ext cx="1531577" cy="1612776"/>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Administer and monitor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Implement and monitor project in conjunction with project team members</a:t>
            </a:r>
          </a:p>
          <a:p>
            <a:pPr marL="360000" indent="-360000">
              <a:spcBef>
                <a:spcPts val="600"/>
              </a:spcBef>
              <a:spcAft>
                <a:spcPts val="1200"/>
              </a:spcAft>
            </a:pPr>
            <a:r>
              <a:rPr lang="en-US" sz="2200" dirty="0" smtClean="0">
                <a:latin typeface="Helvetica" pitchFamily="34" charset="0"/>
              </a:rPr>
              <a:t>Provide support and assistance to team members, as required</a:t>
            </a:r>
          </a:p>
          <a:p>
            <a:pPr marL="360000" indent="-360000">
              <a:spcBef>
                <a:spcPts val="600"/>
              </a:spcBef>
              <a:spcAft>
                <a:spcPts val="1200"/>
              </a:spcAft>
            </a:pPr>
            <a:r>
              <a:rPr lang="en-US" sz="2200" dirty="0" smtClean="0">
                <a:latin typeface="Helvetica" pitchFamily="34" charset="0"/>
              </a:rPr>
              <a:t>Build trust and respect within the project team</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126</a:t>
            </a:fld>
            <a:endParaRPr lang="en-US" dirty="0"/>
          </a:p>
        </p:txBody>
      </p:sp>
      <p:pic>
        <p:nvPicPr>
          <p:cNvPr id="5" name="Picture 4" descr="MC900442125.PNG"/>
          <p:cNvPicPr>
            <a:picLocks noChangeAspect="1"/>
          </p:cNvPicPr>
          <p:nvPr/>
        </p:nvPicPr>
        <p:blipFill>
          <a:blip r:embed="rId3" cstate="print"/>
          <a:stretch>
            <a:fillRect/>
          </a:stretch>
        </p:blipFill>
        <p:spPr>
          <a:xfrm>
            <a:off x="6732240" y="3573016"/>
            <a:ext cx="1693071" cy="1648222"/>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Administer and monitor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Assess and review progress against project goals and in consultation with project team members</a:t>
            </a:r>
          </a:p>
          <a:p>
            <a:pPr marL="360000" indent="-360000">
              <a:spcBef>
                <a:spcPts val="600"/>
              </a:spcBef>
              <a:spcAft>
                <a:spcPts val="1200"/>
              </a:spcAft>
            </a:pPr>
            <a:r>
              <a:rPr lang="en-US" sz="2200" dirty="0" smtClean="0">
                <a:latin typeface="Helvetica" pitchFamily="34" charset="0"/>
              </a:rPr>
              <a:t>Determine the need for additional project resources and take action accordingly</a:t>
            </a:r>
          </a:p>
          <a:p>
            <a:pPr marL="360000" indent="-360000">
              <a:spcBef>
                <a:spcPts val="600"/>
              </a:spcBef>
              <a:spcAft>
                <a:spcPts val="1200"/>
              </a:spcAft>
            </a:pPr>
            <a:r>
              <a:rPr lang="en-US" sz="2200" dirty="0" smtClean="0">
                <a:latin typeface="Helvetica" pitchFamily="34" charset="0"/>
              </a:rPr>
              <a:t>Monitor budget in accordance with enterprise guidelines</a:t>
            </a:r>
          </a:p>
          <a:p>
            <a:pPr marL="360000" indent="-360000">
              <a:spcBef>
                <a:spcPts val="600"/>
              </a:spcBef>
              <a:spcAft>
                <a:spcPts val="1200"/>
              </a:spcAft>
            </a:pPr>
            <a:r>
              <a:rPr lang="en-US" sz="2200" dirty="0" smtClean="0">
                <a:latin typeface="Helvetica" pitchFamily="34" charset="0"/>
              </a:rPr>
              <a:t>Provide regular reports on project progress to all appropriate colleagues/customers</a:t>
            </a:r>
          </a:p>
          <a:p>
            <a:pPr marL="360000" indent="-360000">
              <a:spcBef>
                <a:spcPts val="600"/>
              </a:spcBef>
              <a:spcAft>
                <a:spcPts val="1200"/>
              </a:spcAft>
            </a:pPr>
            <a:r>
              <a:rPr lang="en-US" sz="2200" dirty="0" smtClean="0">
                <a:latin typeface="Helvetica" pitchFamily="34" charset="0"/>
              </a:rPr>
              <a:t>Complete the project within agreed timelines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127</a:t>
            </a:fld>
            <a:endParaRPr lang="en-US" dirty="0"/>
          </a:p>
        </p:txBody>
      </p:sp>
      <p:pic>
        <p:nvPicPr>
          <p:cNvPr id="5" name="Picture 4" descr="1131445_red_check_sign_in_3d.jpg"/>
          <p:cNvPicPr>
            <a:picLocks noChangeAspect="1"/>
          </p:cNvPicPr>
          <p:nvPr/>
        </p:nvPicPr>
        <p:blipFill>
          <a:blip r:embed="rId3" cstate="print"/>
          <a:stretch>
            <a:fillRect/>
          </a:stretch>
        </p:blipFill>
        <p:spPr>
          <a:xfrm>
            <a:off x="6948264" y="4005064"/>
            <a:ext cx="1338740" cy="1070992"/>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Implement and monitor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Standard practice at start of a project:</a:t>
            </a:r>
          </a:p>
          <a:p>
            <a:pPr marL="360000" indent="-360000">
              <a:spcBef>
                <a:spcPts val="600"/>
              </a:spcBef>
              <a:spcAft>
                <a:spcPts val="1200"/>
              </a:spcAft>
            </a:pPr>
            <a:r>
              <a:rPr lang="en-US" sz="2200" dirty="0" smtClean="0">
                <a:latin typeface="Helvetica" pitchFamily="34" charset="0"/>
              </a:rPr>
              <a:t>Verify all requirements</a:t>
            </a:r>
          </a:p>
          <a:p>
            <a:pPr marL="360000" indent="-360000">
              <a:spcBef>
                <a:spcPts val="600"/>
              </a:spcBef>
              <a:spcAft>
                <a:spcPts val="1200"/>
              </a:spcAft>
            </a:pPr>
            <a:r>
              <a:rPr lang="en-US" sz="2200" dirty="0" smtClean="0">
                <a:latin typeface="Helvetica" pitchFamily="34" charset="0"/>
              </a:rPr>
              <a:t>Consider you personal workload:</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Prioritise and/or delegate work</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Create personal work schedule</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Diarise your time</a:t>
            </a:r>
          </a:p>
          <a:p>
            <a:pPr marL="360000" indent="-360000">
              <a:spcBef>
                <a:spcPts val="600"/>
              </a:spcBef>
              <a:spcAft>
                <a:spcPts val="1200"/>
              </a:spcAft>
            </a:pPr>
            <a:r>
              <a:rPr lang="en-US" sz="2200" dirty="0" smtClean="0">
                <a:latin typeface="Helvetica" pitchFamily="34" charset="0"/>
              </a:rPr>
              <a:t>Meet with client</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128</a:t>
            </a:fld>
            <a:endParaRPr lang="en-US" dirty="0"/>
          </a:p>
        </p:txBody>
      </p:sp>
      <p:pic>
        <p:nvPicPr>
          <p:cNvPr id="5" name="Picture 4" descr="freeimage-1199503.jpg"/>
          <p:cNvPicPr>
            <a:picLocks noChangeAspect="1"/>
          </p:cNvPicPr>
          <p:nvPr/>
        </p:nvPicPr>
        <p:blipFill>
          <a:blip r:embed="rId3" cstate="print"/>
          <a:stretch>
            <a:fillRect/>
          </a:stretch>
        </p:blipFill>
        <p:spPr>
          <a:xfrm>
            <a:off x="6516216" y="3771038"/>
            <a:ext cx="1907704" cy="1430778"/>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Implement and monitor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Communicate with other supervisors/managers</a:t>
            </a:r>
          </a:p>
          <a:p>
            <a:pPr marL="360000" indent="-360000">
              <a:spcBef>
                <a:spcPts val="600"/>
              </a:spcBef>
              <a:spcAft>
                <a:spcPts val="1200"/>
              </a:spcAft>
            </a:pPr>
            <a:r>
              <a:rPr lang="en-US" sz="2200" dirty="0" smtClean="0">
                <a:latin typeface="Helvetica" pitchFamily="34" charset="0"/>
              </a:rPr>
              <a:t>Convene meeting with staff</a:t>
            </a:r>
          </a:p>
          <a:p>
            <a:pPr marL="360000" indent="-360000">
              <a:spcBef>
                <a:spcPts val="600"/>
              </a:spcBef>
              <a:spcAft>
                <a:spcPts val="1200"/>
              </a:spcAft>
            </a:pPr>
            <a:r>
              <a:rPr lang="en-US" sz="2200" dirty="0" smtClean="0">
                <a:latin typeface="Helvetica" pitchFamily="34" charset="0"/>
              </a:rPr>
              <a:t>Notify staff of approval and start</a:t>
            </a:r>
          </a:p>
          <a:p>
            <a:pPr marL="360000" indent="-360000">
              <a:spcBef>
                <a:spcPts val="600"/>
              </a:spcBef>
              <a:spcAft>
                <a:spcPts val="1200"/>
              </a:spcAft>
            </a:pPr>
            <a:r>
              <a:rPr lang="en-US" sz="2200" dirty="0" smtClean="0">
                <a:latin typeface="Helvetica" pitchFamily="34" charset="0"/>
              </a:rPr>
              <a:t>Identify other projects your project can integrate with</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129</a:t>
            </a:fld>
            <a:endParaRPr lang="en-US" dirty="0"/>
          </a:p>
        </p:txBody>
      </p:sp>
      <p:pic>
        <p:nvPicPr>
          <p:cNvPr id="5" name="Picture 4" descr="MC900230846.WMF"/>
          <p:cNvPicPr>
            <a:picLocks noChangeAspect="1"/>
          </p:cNvPicPr>
          <p:nvPr/>
        </p:nvPicPr>
        <p:blipFill>
          <a:blip r:embed="rId3" cstate="print"/>
          <a:stretch>
            <a:fillRect/>
          </a:stretch>
        </p:blipFill>
        <p:spPr>
          <a:xfrm>
            <a:off x="6444208" y="3885099"/>
            <a:ext cx="1923192" cy="1282768"/>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Implement and monitor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To effectively manage a project:</a:t>
            </a:r>
          </a:p>
          <a:p>
            <a:pPr marL="360000" indent="-360000">
              <a:spcBef>
                <a:spcPts val="600"/>
              </a:spcBef>
              <a:spcAft>
                <a:spcPts val="1200"/>
              </a:spcAft>
            </a:pPr>
            <a:r>
              <a:rPr lang="en-US" sz="2200" dirty="0" smtClean="0">
                <a:latin typeface="Helvetica" pitchFamily="34" charset="0"/>
              </a:rPr>
              <a:t>Give it the attention it deserves</a:t>
            </a:r>
          </a:p>
          <a:p>
            <a:pPr marL="360000" indent="-360000">
              <a:spcBef>
                <a:spcPts val="600"/>
              </a:spcBef>
              <a:spcAft>
                <a:spcPts val="1200"/>
              </a:spcAft>
            </a:pPr>
            <a:r>
              <a:rPr lang="en-US" sz="2200" dirty="0" smtClean="0">
                <a:latin typeface="Helvetica" pitchFamily="34" charset="0"/>
              </a:rPr>
              <a:t>You need to be a physical presence</a:t>
            </a:r>
          </a:p>
          <a:p>
            <a:pPr marL="360000" indent="-360000">
              <a:spcBef>
                <a:spcPts val="600"/>
              </a:spcBef>
              <a:spcAft>
                <a:spcPts val="1200"/>
              </a:spcAft>
            </a:pPr>
            <a:r>
              <a:rPr lang="en-US" sz="2200" dirty="0" smtClean="0">
                <a:latin typeface="Helvetica" pitchFamily="34" charset="0"/>
              </a:rPr>
              <a:t>Facilitate the work of others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130</a:t>
            </a:fld>
            <a:endParaRPr lang="en-US" dirty="0"/>
          </a:p>
        </p:txBody>
      </p:sp>
      <p:pic>
        <p:nvPicPr>
          <p:cNvPr id="5" name="Picture 4" descr="MC900439611.PNG"/>
          <p:cNvPicPr>
            <a:picLocks noChangeAspect="1"/>
          </p:cNvPicPr>
          <p:nvPr/>
        </p:nvPicPr>
        <p:blipFill>
          <a:blip r:embed="rId3" cstate="print"/>
          <a:stretch>
            <a:fillRect/>
          </a:stretch>
        </p:blipFill>
        <p:spPr>
          <a:xfrm>
            <a:off x="6372200" y="3501008"/>
            <a:ext cx="2213399" cy="1928267"/>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Implement and monitor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Provide constant monitoring of everything</a:t>
            </a:r>
          </a:p>
          <a:p>
            <a:pPr marL="360000" indent="-360000">
              <a:spcBef>
                <a:spcPts val="600"/>
              </a:spcBef>
              <a:spcAft>
                <a:spcPts val="1200"/>
              </a:spcAft>
            </a:pPr>
            <a:r>
              <a:rPr lang="en-US" sz="2200" dirty="0" smtClean="0">
                <a:latin typeface="Helvetica" pitchFamily="34" charset="0"/>
              </a:rPr>
              <a:t>Attend all project meetings</a:t>
            </a:r>
          </a:p>
          <a:p>
            <a:pPr marL="360000" indent="-360000">
              <a:spcBef>
                <a:spcPts val="600"/>
              </a:spcBef>
              <a:spcAft>
                <a:spcPts val="1200"/>
              </a:spcAft>
            </a:pPr>
            <a:r>
              <a:rPr lang="en-US" sz="2200" dirty="0" smtClean="0">
                <a:latin typeface="Helvetica" pitchFamily="34" charset="0"/>
              </a:rPr>
              <a:t>Foresee problems</a:t>
            </a:r>
          </a:p>
          <a:p>
            <a:pPr marL="360000" indent="-360000">
              <a:spcBef>
                <a:spcPts val="600"/>
              </a:spcBef>
              <a:spcAft>
                <a:spcPts val="1200"/>
              </a:spcAft>
            </a:pPr>
            <a:r>
              <a:rPr lang="en-US" sz="2200" dirty="0" smtClean="0">
                <a:latin typeface="Helvetica" pitchFamily="34" charset="0"/>
              </a:rPr>
              <a:t>Take notes – ‘Project notebook’</a:t>
            </a:r>
          </a:p>
          <a:p>
            <a:pPr marL="360000" indent="-360000">
              <a:spcBef>
                <a:spcPts val="600"/>
              </a:spcBef>
              <a:spcAft>
                <a:spcPts val="1200"/>
              </a:spcAft>
            </a:pPr>
            <a:r>
              <a:rPr lang="en-US" sz="2200" dirty="0" smtClean="0">
                <a:latin typeface="Helvetica" pitchFamily="34" charset="0"/>
              </a:rPr>
              <a:t>Effective time management</a:t>
            </a:r>
          </a:p>
          <a:p>
            <a:pPr marL="360000" indent="-360000">
              <a:spcBef>
                <a:spcPts val="600"/>
              </a:spcBef>
              <a:spcAft>
                <a:spcPts val="1200"/>
              </a:spcAft>
            </a:pPr>
            <a:r>
              <a:rPr lang="en-US" sz="2200" dirty="0" smtClean="0">
                <a:latin typeface="Helvetica" pitchFamily="34" charset="0"/>
              </a:rPr>
              <a:t>Take remedial action as required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131</a:t>
            </a:fld>
            <a:endParaRPr lang="en-US" dirty="0"/>
          </a:p>
        </p:txBody>
      </p:sp>
      <p:pic>
        <p:nvPicPr>
          <p:cNvPr id="5" name="Picture 4" descr="MP900400353.JPG"/>
          <p:cNvPicPr>
            <a:picLocks noChangeAspect="1"/>
          </p:cNvPicPr>
          <p:nvPr/>
        </p:nvPicPr>
        <p:blipFill>
          <a:blip r:embed="rId3" cstate="print"/>
          <a:stretch>
            <a:fillRect/>
          </a:stretch>
        </p:blipFill>
        <p:spPr>
          <a:xfrm>
            <a:off x="6876256" y="3717032"/>
            <a:ext cx="1513887" cy="1519824"/>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Implement and monitor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dirty="0" smtClean="0">
                <a:latin typeface="Helvetica" pitchFamily="34" charset="0"/>
              </a:rPr>
              <a:t>Use a Project Notebook to record information obtained:</a:t>
            </a:r>
          </a:p>
          <a:p>
            <a:pPr marL="360000" indent="-360000">
              <a:spcBef>
                <a:spcPts val="600"/>
              </a:spcBef>
              <a:spcAft>
                <a:spcPts val="1200"/>
              </a:spcAft>
            </a:pPr>
            <a:r>
              <a:rPr lang="en-US" sz="2200" dirty="0" smtClean="0">
                <a:latin typeface="Helvetica" pitchFamily="34" charset="0"/>
              </a:rPr>
              <a:t>As you walk around the project</a:t>
            </a:r>
          </a:p>
          <a:p>
            <a:pPr marL="360000" indent="-360000">
              <a:spcBef>
                <a:spcPts val="600"/>
              </a:spcBef>
              <a:spcAft>
                <a:spcPts val="1200"/>
              </a:spcAft>
            </a:pPr>
            <a:r>
              <a:rPr lang="en-US" sz="2200" dirty="0" smtClean="0">
                <a:latin typeface="Helvetica" pitchFamily="34" charset="0"/>
              </a:rPr>
              <a:t>From others as ‘feedback’</a:t>
            </a:r>
          </a:p>
          <a:p>
            <a:pPr marL="360000" indent="-360000">
              <a:spcBef>
                <a:spcPts val="600"/>
              </a:spcBef>
              <a:spcAft>
                <a:spcPts val="1200"/>
              </a:spcAft>
            </a:pPr>
            <a:r>
              <a:rPr lang="en-US" sz="2200" dirty="0" smtClean="0">
                <a:latin typeface="Helvetica" pitchFamily="34" charset="0"/>
              </a:rPr>
              <a:t>From a phone call</a:t>
            </a:r>
          </a:p>
          <a:p>
            <a:pPr marL="360000" indent="-360000">
              <a:spcBef>
                <a:spcPts val="600"/>
              </a:spcBef>
              <a:spcAft>
                <a:spcPts val="1200"/>
              </a:spcAft>
            </a:pPr>
            <a:r>
              <a:rPr lang="en-US" sz="2200" dirty="0" smtClean="0">
                <a:latin typeface="Helvetica" pitchFamily="34" charset="0"/>
              </a:rPr>
              <a:t>Through a flash of inspiration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132</a:t>
            </a:fld>
            <a:endParaRPr lang="en-US" dirty="0"/>
          </a:p>
        </p:txBody>
      </p:sp>
      <p:pic>
        <p:nvPicPr>
          <p:cNvPr id="5" name="Picture 4" descr="freeimage-14712285.jpg"/>
          <p:cNvPicPr>
            <a:picLocks noChangeAspect="1"/>
          </p:cNvPicPr>
          <p:nvPr/>
        </p:nvPicPr>
        <p:blipFill>
          <a:blip r:embed="rId3" cstate="print"/>
          <a:stretch>
            <a:fillRect/>
          </a:stretch>
        </p:blipFill>
        <p:spPr>
          <a:xfrm>
            <a:off x="6418421" y="3933056"/>
            <a:ext cx="1970003" cy="1308435"/>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Implement and monitor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Notes ‘taken at the time’ can be used for:</a:t>
            </a:r>
          </a:p>
          <a:p>
            <a:pPr marL="360000" indent="-360000">
              <a:spcBef>
                <a:spcPts val="600"/>
              </a:spcBef>
              <a:spcAft>
                <a:spcPts val="1200"/>
              </a:spcAft>
            </a:pPr>
            <a:r>
              <a:rPr lang="en-US" sz="2200" dirty="0" smtClean="0">
                <a:latin typeface="Helvetica" pitchFamily="34" charset="0"/>
              </a:rPr>
              <a:t>Formal reports and general reference</a:t>
            </a:r>
          </a:p>
          <a:p>
            <a:pPr marL="360000" indent="-360000">
              <a:spcBef>
                <a:spcPts val="600"/>
              </a:spcBef>
              <a:spcAft>
                <a:spcPts val="1200"/>
              </a:spcAft>
            </a:pPr>
            <a:r>
              <a:rPr lang="en-US" sz="2200" dirty="0" smtClean="0">
                <a:latin typeface="Helvetica" pitchFamily="34" charset="0"/>
              </a:rPr>
              <a:t>Clarification of issues</a:t>
            </a:r>
          </a:p>
          <a:p>
            <a:pPr marL="360000" indent="-360000">
              <a:spcBef>
                <a:spcPts val="600"/>
              </a:spcBef>
              <a:spcAft>
                <a:spcPts val="1200"/>
              </a:spcAft>
            </a:pPr>
            <a:r>
              <a:rPr lang="en-US" sz="2200" dirty="0" smtClean="0">
                <a:latin typeface="Helvetica" pitchFamily="34" charset="0"/>
              </a:rPr>
              <a:t>Detailing information given to project people</a:t>
            </a:r>
          </a:p>
          <a:p>
            <a:pPr marL="360000" indent="-360000">
              <a:spcBef>
                <a:spcPts val="600"/>
              </a:spcBef>
              <a:spcAft>
                <a:spcPts val="1200"/>
              </a:spcAft>
            </a:pPr>
            <a:r>
              <a:rPr lang="en-US" sz="2200" dirty="0" smtClean="0">
                <a:latin typeface="Helvetica" pitchFamily="34" charset="0"/>
              </a:rPr>
              <a:t>Determine action to be taken</a:t>
            </a:r>
          </a:p>
          <a:p>
            <a:pPr marL="360000" indent="-360000">
              <a:spcBef>
                <a:spcPts val="600"/>
              </a:spcBef>
              <a:spcAft>
                <a:spcPts val="1200"/>
              </a:spcAft>
            </a:pPr>
            <a:r>
              <a:rPr lang="en-US" sz="2200" dirty="0" smtClean="0">
                <a:latin typeface="Helvetica" pitchFamily="34" charset="0"/>
              </a:rPr>
              <a:t>Resource provision</a:t>
            </a:r>
          </a:p>
          <a:p>
            <a:pPr marL="360000" indent="-360000">
              <a:spcBef>
                <a:spcPts val="600"/>
              </a:spcBef>
              <a:spcAft>
                <a:spcPts val="1200"/>
              </a:spcAft>
            </a:pPr>
            <a:r>
              <a:rPr lang="en-US" sz="2200" dirty="0" smtClean="0">
                <a:latin typeface="Helvetica" pitchFamily="34" charset="0"/>
              </a:rPr>
              <a:t>Personal reminders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133</a:t>
            </a:fld>
            <a:endParaRPr lang="en-US" dirty="0"/>
          </a:p>
        </p:txBody>
      </p:sp>
      <p:pic>
        <p:nvPicPr>
          <p:cNvPr id="5" name="Picture 4" descr="freeimage-3799089.jpg"/>
          <p:cNvPicPr>
            <a:picLocks noChangeAspect="1"/>
          </p:cNvPicPr>
          <p:nvPr/>
        </p:nvPicPr>
        <p:blipFill>
          <a:blip r:embed="rId3" cstate="print"/>
          <a:stretch>
            <a:fillRect/>
          </a:stretch>
        </p:blipFill>
        <p:spPr>
          <a:xfrm>
            <a:off x="6444208" y="3789040"/>
            <a:ext cx="1979712" cy="1484784"/>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Implement and monitor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632848" cy="5184576"/>
          </a:xfrm>
        </p:spPr>
        <p:txBody>
          <a:bodyPr>
            <a:normAutofit/>
          </a:bodyPr>
          <a:lstStyle/>
          <a:p>
            <a:pPr marL="0" indent="0">
              <a:spcBef>
                <a:spcPts val="600"/>
              </a:spcBef>
              <a:spcAft>
                <a:spcPts val="1200"/>
              </a:spcAft>
              <a:buNone/>
            </a:pPr>
            <a:r>
              <a:rPr lang="en-US" sz="2200" dirty="0" smtClean="0">
                <a:latin typeface="Helvetica" pitchFamily="34" charset="0"/>
              </a:rPr>
              <a:t>Keys to managing ‘quality’ elements of a project:</a:t>
            </a:r>
          </a:p>
          <a:p>
            <a:pPr marL="360000" indent="-360000">
              <a:spcBef>
                <a:spcPts val="600"/>
              </a:spcBef>
              <a:spcAft>
                <a:spcPts val="1200"/>
              </a:spcAft>
            </a:pPr>
            <a:r>
              <a:rPr lang="en-US" sz="2200" dirty="0" smtClean="0">
                <a:latin typeface="Helvetica" pitchFamily="34" charset="0"/>
              </a:rPr>
              <a:t>Make sure you know the required standards/criteria</a:t>
            </a:r>
          </a:p>
          <a:p>
            <a:pPr marL="360000" indent="-360000">
              <a:spcBef>
                <a:spcPts val="600"/>
              </a:spcBef>
              <a:spcAft>
                <a:spcPts val="1200"/>
              </a:spcAft>
            </a:pPr>
            <a:r>
              <a:rPr lang="en-US" sz="2200" dirty="0" smtClean="0">
                <a:latin typeface="Helvetica" pitchFamily="34" charset="0"/>
              </a:rPr>
              <a:t>Monitor quality as part of the monitoring process</a:t>
            </a:r>
          </a:p>
          <a:p>
            <a:pPr marL="360000" indent="-360000">
              <a:spcBef>
                <a:spcPts val="600"/>
              </a:spcBef>
              <a:spcAft>
                <a:spcPts val="1200"/>
              </a:spcAft>
            </a:pPr>
            <a:r>
              <a:rPr lang="en-US" sz="2200" dirty="0" smtClean="0">
                <a:latin typeface="Helvetica" pitchFamily="34" charset="0"/>
              </a:rPr>
              <a:t>Discuss and explain quality with providers prior to project start</a:t>
            </a:r>
          </a:p>
          <a:p>
            <a:pPr marL="360000" indent="-360000">
              <a:spcBef>
                <a:spcPts val="600"/>
              </a:spcBef>
              <a:spcAft>
                <a:spcPts val="1200"/>
              </a:spcAft>
              <a:buNone/>
            </a:pPr>
            <a:r>
              <a:rPr lang="en-US" sz="2200" i="1" dirty="0" smtClean="0">
                <a:latin typeface="Helvetica" pitchFamily="34" charset="0"/>
              </a:rPr>
              <a:t>(Continued)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134</a:t>
            </a:fld>
            <a:endParaRPr lang="en-US" dirty="0"/>
          </a:p>
        </p:txBody>
      </p:sp>
      <p:pic>
        <p:nvPicPr>
          <p:cNvPr id="5" name="Picture 4" descr="freeimage-8782054.jpg"/>
          <p:cNvPicPr>
            <a:picLocks noChangeAspect="1"/>
          </p:cNvPicPr>
          <p:nvPr/>
        </p:nvPicPr>
        <p:blipFill>
          <a:blip r:embed="rId3" cstate="print"/>
          <a:stretch>
            <a:fillRect/>
          </a:stretch>
        </p:blipFill>
        <p:spPr>
          <a:xfrm>
            <a:off x="6477538" y="3933056"/>
            <a:ext cx="1946381" cy="1330516"/>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Implement and monitor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Conduct regular quality inspections</a:t>
            </a:r>
          </a:p>
          <a:p>
            <a:pPr marL="360000" indent="-360000">
              <a:spcBef>
                <a:spcPts val="600"/>
              </a:spcBef>
              <a:spcAft>
                <a:spcPts val="1200"/>
              </a:spcAft>
            </a:pPr>
            <a:r>
              <a:rPr lang="en-US" sz="2200" dirty="0" smtClean="0">
                <a:latin typeface="Helvetica" pitchFamily="34" charset="0"/>
              </a:rPr>
              <a:t>Make sure sub-standard work in redone</a:t>
            </a:r>
          </a:p>
          <a:p>
            <a:pPr marL="360000" indent="-360000">
              <a:spcBef>
                <a:spcPts val="600"/>
              </a:spcBef>
              <a:spcAft>
                <a:spcPts val="1200"/>
              </a:spcAft>
            </a:pPr>
            <a:r>
              <a:rPr lang="en-US" sz="2200" dirty="0" smtClean="0">
                <a:latin typeface="Helvetica" pitchFamily="34" charset="0"/>
              </a:rPr>
              <a:t>Refer providers to project management plan (and previous discussions) where there is a need to clarify quality requirements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135</a:t>
            </a:fld>
            <a:endParaRPr lang="en-US" dirty="0"/>
          </a:p>
        </p:txBody>
      </p:sp>
      <p:pic>
        <p:nvPicPr>
          <p:cNvPr id="5" name="Picture 4" descr="freeimage-5156682.jpg"/>
          <p:cNvPicPr>
            <a:picLocks noChangeAspect="1"/>
          </p:cNvPicPr>
          <p:nvPr/>
        </p:nvPicPr>
        <p:blipFill>
          <a:blip r:embed="rId3" cstate="print"/>
          <a:stretch>
            <a:fillRect/>
          </a:stretch>
        </p:blipFill>
        <p:spPr>
          <a:xfrm>
            <a:off x="6804248" y="3717410"/>
            <a:ext cx="1566333" cy="1569071"/>
          </a:xfrm>
          <a:prstGeom prst="rect">
            <a:avLst/>
          </a:prstGeom>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1143000"/>
          </a:xfrm>
        </p:spPr>
        <p:txBody>
          <a:bodyPr>
            <a:normAutofit/>
          </a:bodyPr>
          <a:lstStyle/>
          <a:p>
            <a:r>
              <a:rPr lang="en-US" sz="3400" b="1" dirty="0" smtClean="0">
                <a:solidFill>
                  <a:srgbClr val="FF6600"/>
                </a:solidFill>
                <a:latin typeface="Helvetica" pitchFamily="34" charset="0"/>
              </a:rPr>
              <a:t>Provide support and assistance to 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Need to provide support and assistance to team:</a:t>
            </a:r>
          </a:p>
          <a:p>
            <a:pPr marL="360000" indent="-360000">
              <a:spcBef>
                <a:spcPts val="600"/>
              </a:spcBef>
              <a:spcAft>
                <a:spcPts val="1200"/>
              </a:spcAft>
            </a:pPr>
            <a:r>
              <a:rPr lang="en-US" sz="2200" dirty="0" smtClean="0">
                <a:latin typeface="Helvetica" pitchFamily="34" charset="0"/>
              </a:rPr>
              <a:t>To facilitate achievement of project deliverables as identified in project management plan</a:t>
            </a:r>
          </a:p>
          <a:p>
            <a:pPr marL="360000" indent="-360000">
              <a:spcBef>
                <a:spcPts val="600"/>
              </a:spcBef>
              <a:spcAft>
                <a:spcPts val="1200"/>
              </a:spcAft>
            </a:pPr>
            <a:r>
              <a:rPr lang="en-US" sz="2200" dirty="0" smtClean="0">
                <a:latin typeface="Helvetica" pitchFamily="34" charset="0"/>
              </a:rPr>
              <a:t>To demonstrate your commitment to the staff working on the project</a:t>
            </a:r>
          </a:p>
          <a:p>
            <a:pPr marL="360000" indent="-360000">
              <a:spcBef>
                <a:spcPts val="600"/>
              </a:spcBef>
              <a:spcAft>
                <a:spcPts val="1200"/>
              </a:spcAft>
            </a:pPr>
            <a:r>
              <a:rPr lang="en-US" sz="2200" dirty="0" smtClean="0">
                <a:latin typeface="Helvetica" pitchFamily="34" charset="0"/>
              </a:rPr>
              <a:t>To show your respect for those working on the </a:t>
            </a:r>
            <a:br>
              <a:rPr lang="en-US" sz="2200" dirty="0" smtClean="0">
                <a:latin typeface="Helvetica" pitchFamily="34" charset="0"/>
              </a:rPr>
            </a:br>
            <a:r>
              <a:rPr lang="en-US" sz="2200" dirty="0" smtClean="0">
                <a:latin typeface="Helvetica" pitchFamily="34" charset="0"/>
              </a:rPr>
              <a:t>project</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136</a:t>
            </a:fld>
            <a:endParaRPr lang="en-US" dirty="0"/>
          </a:p>
        </p:txBody>
      </p:sp>
      <p:pic>
        <p:nvPicPr>
          <p:cNvPr id="5" name="Picture 4" descr="MC900439611.PNG"/>
          <p:cNvPicPr>
            <a:picLocks noChangeAspect="1"/>
          </p:cNvPicPr>
          <p:nvPr/>
        </p:nvPicPr>
        <p:blipFill>
          <a:blip r:embed="rId3" cstate="print"/>
          <a:stretch>
            <a:fillRect/>
          </a:stretch>
        </p:blipFill>
        <p:spPr>
          <a:xfrm>
            <a:off x="6660232" y="3645024"/>
            <a:ext cx="1903841" cy="1658586"/>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1143000"/>
          </a:xfrm>
        </p:spPr>
        <p:txBody>
          <a:bodyPr>
            <a:normAutofit/>
          </a:bodyPr>
          <a:lstStyle/>
          <a:p>
            <a:r>
              <a:rPr lang="en-US" sz="3400" b="1" dirty="0" smtClean="0">
                <a:solidFill>
                  <a:srgbClr val="FF6600"/>
                </a:solidFill>
                <a:latin typeface="Helvetica" pitchFamily="34" charset="0"/>
              </a:rPr>
              <a:t>Provide support and assistance to 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To help maintain project team enthusiasm for the project</a:t>
            </a:r>
          </a:p>
          <a:p>
            <a:pPr marL="360000" indent="-360000">
              <a:spcBef>
                <a:spcPts val="600"/>
              </a:spcBef>
              <a:spcAft>
                <a:spcPts val="1200"/>
              </a:spcAft>
            </a:pPr>
            <a:r>
              <a:rPr lang="en-US" sz="2200" dirty="0" smtClean="0">
                <a:latin typeface="Helvetica" pitchFamily="34" charset="0"/>
              </a:rPr>
              <a:t>To enable prompt advice and direction to be provided as required during the project</a:t>
            </a:r>
          </a:p>
          <a:p>
            <a:pPr marL="360000" indent="-360000">
              <a:spcBef>
                <a:spcPts val="600"/>
              </a:spcBef>
              <a:spcAft>
                <a:spcPts val="1200"/>
              </a:spcAft>
            </a:pPr>
            <a:r>
              <a:rPr lang="en-US" sz="2200" dirty="0" smtClean="0">
                <a:latin typeface="Helvetica" pitchFamily="34" charset="0"/>
              </a:rPr>
              <a:t>To show to management you are providing effective management of the project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137</a:t>
            </a:fld>
            <a:endParaRPr lang="en-US" dirty="0"/>
          </a:p>
        </p:txBody>
      </p:sp>
      <p:pic>
        <p:nvPicPr>
          <p:cNvPr id="5" name="Picture 4" descr="Hands Photo Large.jpg"/>
          <p:cNvPicPr>
            <a:picLocks noChangeAspect="1"/>
          </p:cNvPicPr>
          <p:nvPr/>
        </p:nvPicPr>
        <p:blipFill>
          <a:blip r:embed="rId3" cstate="print"/>
          <a:stretch>
            <a:fillRect/>
          </a:stretch>
        </p:blipFill>
        <p:spPr>
          <a:xfrm>
            <a:off x="6588224" y="3861048"/>
            <a:ext cx="1797991" cy="1448584"/>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1143000"/>
          </a:xfrm>
        </p:spPr>
        <p:txBody>
          <a:bodyPr>
            <a:normAutofit/>
          </a:bodyPr>
          <a:lstStyle/>
          <a:p>
            <a:r>
              <a:rPr lang="en-US" sz="3400" b="1" dirty="0" smtClean="0">
                <a:solidFill>
                  <a:srgbClr val="FF6600"/>
                </a:solidFill>
                <a:latin typeface="Helvetica" pitchFamily="34" charset="0"/>
              </a:rPr>
              <a:t>Provide support and assistance to 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Examples of support and assistance which may be given to project team members:</a:t>
            </a:r>
          </a:p>
          <a:p>
            <a:pPr marL="360000" indent="-360000">
              <a:spcBef>
                <a:spcPts val="600"/>
              </a:spcBef>
              <a:spcAft>
                <a:spcPts val="1200"/>
              </a:spcAft>
            </a:pPr>
            <a:r>
              <a:rPr lang="en-US" sz="2200" dirty="0" smtClean="0">
                <a:latin typeface="Helvetica" pitchFamily="34" charset="0"/>
              </a:rPr>
              <a:t>Conduct a ‘project induction’</a:t>
            </a:r>
          </a:p>
          <a:p>
            <a:pPr marL="360000" indent="-360000">
              <a:spcBef>
                <a:spcPts val="600"/>
              </a:spcBef>
              <a:spcAft>
                <a:spcPts val="1200"/>
              </a:spcAft>
            </a:pPr>
            <a:r>
              <a:rPr lang="en-US" sz="2200" dirty="0" smtClean="0">
                <a:latin typeface="Helvetica" pitchFamily="34" charset="0"/>
              </a:rPr>
              <a:t>Provide promised resources as identified in the project management plan</a:t>
            </a:r>
          </a:p>
          <a:p>
            <a:pPr marL="360000" indent="-360000">
              <a:spcBef>
                <a:spcPts val="600"/>
              </a:spcBef>
              <a:spcAft>
                <a:spcPts val="1200"/>
              </a:spcAft>
            </a:pPr>
            <a:r>
              <a:rPr lang="en-US" sz="2200" dirty="0" smtClean="0">
                <a:latin typeface="Helvetica" pitchFamily="34" charset="0"/>
              </a:rPr>
              <a:t>Deliver promised or necessary training</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138</a:t>
            </a:fld>
            <a:endParaRPr lang="en-US" dirty="0"/>
          </a:p>
        </p:txBody>
      </p:sp>
      <p:pic>
        <p:nvPicPr>
          <p:cNvPr id="5" name="Picture 4" descr="MP900427762.JPG"/>
          <p:cNvPicPr>
            <a:picLocks noChangeAspect="1"/>
          </p:cNvPicPr>
          <p:nvPr/>
        </p:nvPicPr>
        <p:blipFill>
          <a:blip r:embed="rId3" cstate="print"/>
          <a:stretch>
            <a:fillRect/>
          </a:stretch>
        </p:blipFill>
        <p:spPr>
          <a:xfrm>
            <a:off x="6516216" y="3861048"/>
            <a:ext cx="1907704" cy="1399480"/>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1143000"/>
          </a:xfrm>
        </p:spPr>
        <p:txBody>
          <a:bodyPr>
            <a:normAutofit/>
          </a:bodyPr>
          <a:lstStyle/>
          <a:p>
            <a:r>
              <a:rPr lang="en-US" sz="3400" b="1" dirty="0" smtClean="0">
                <a:solidFill>
                  <a:srgbClr val="FF6600"/>
                </a:solidFill>
                <a:latin typeface="Helvetica" pitchFamily="34" charset="0"/>
              </a:rPr>
              <a:t>Provide support and assistance to 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Provide necessary project oversight</a:t>
            </a:r>
          </a:p>
          <a:p>
            <a:pPr marL="360000" indent="-360000">
              <a:spcBef>
                <a:spcPts val="600"/>
              </a:spcBef>
              <a:spcAft>
                <a:spcPts val="1200"/>
              </a:spcAft>
            </a:pPr>
            <a:r>
              <a:rPr lang="en-US" sz="2200" dirty="0" smtClean="0">
                <a:latin typeface="Helvetica" pitchFamily="34" charset="0"/>
              </a:rPr>
              <a:t>Schedule and conduct regular meetings</a:t>
            </a:r>
          </a:p>
          <a:p>
            <a:pPr marL="360000" indent="-360000">
              <a:spcBef>
                <a:spcPts val="600"/>
              </a:spcBef>
              <a:spcAft>
                <a:spcPts val="1200"/>
              </a:spcAft>
            </a:pPr>
            <a:r>
              <a:rPr lang="en-US" sz="2200" dirty="0" smtClean="0">
                <a:latin typeface="Helvetica" pitchFamily="34" charset="0"/>
              </a:rPr>
              <a:t>Motivate the team</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139</a:t>
            </a:fld>
            <a:endParaRPr lang="en-US" dirty="0"/>
          </a:p>
        </p:txBody>
      </p:sp>
      <p:pic>
        <p:nvPicPr>
          <p:cNvPr id="5" name="Picture 4" descr="MP900442177.JPG"/>
          <p:cNvPicPr>
            <a:picLocks noChangeAspect="1"/>
          </p:cNvPicPr>
          <p:nvPr/>
        </p:nvPicPr>
        <p:blipFill>
          <a:blip r:embed="rId3" cstate="print"/>
          <a:stretch>
            <a:fillRect/>
          </a:stretch>
        </p:blipFill>
        <p:spPr>
          <a:xfrm>
            <a:off x="6012160" y="2996952"/>
            <a:ext cx="2319637" cy="2060848"/>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1143000"/>
          </a:xfrm>
        </p:spPr>
        <p:txBody>
          <a:bodyPr>
            <a:normAutofit/>
          </a:bodyPr>
          <a:lstStyle/>
          <a:p>
            <a:r>
              <a:rPr lang="en-US" sz="3400" b="1" dirty="0" smtClean="0">
                <a:solidFill>
                  <a:srgbClr val="FF6600"/>
                </a:solidFill>
                <a:latin typeface="Helvetica" pitchFamily="34" charset="0"/>
              </a:rPr>
              <a:t>Provide support and assistance to 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Give time to the team – talking to them and motivating them</a:t>
            </a:r>
          </a:p>
          <a:p>
            <a:pPr marL="360000" indent="-360000">
              <a:spcBef>
                <a:spcPts val="600"/>
              </a:spcBef>
              <a:spcAft>
                <a:spcPts val="1200"/>
              </a:spcAft>
            </a:pPr>
            <a:r>
              <a:rPr lang="en-US" sz="2200" dirty="0" smtClean="0">
                <a:latin typeface="Helvetica" pitchFamily="34" charset="0"/>
              </a:rPr>
              <a:t>Be ‘seen’ around the project</a:t>
            </a:r>
          </a:p>
          <a:p>
            <a:pPr marL="360000" indent="-360000">
              <a:spcBef>
                <a:spcPts val="600"/>
              </a:spcBef>
              <a:spcAft>
                <a:spcPts val="1200"/>
              </a:spcAft>
            </a:pPr>
            <a:r>
              <a:rPr lang="en-US" sz="2200" dirty="0" smtClean="0">
                <a:latin typeface="Helvetica" pitchFamily="34" charset="0"/>
              </a:rPr>
              <a:t>Maintain enthusiasm</a:t>
            </a:r>
          </a:p>
          <a:p>
            <a:pPr marL="360000" indent="-360000">
              <a:spcBef>
                <a:spcPts val="600"/>
              </a:spcBef>
              <a:spcAft>
                <a:spcPts val="1200"/>
              </a:spcAft>
            </a:pPr>
            <a:r>
              <a:rPr lang="en-US" sz="2200" dirty="0" smtClean="0">
                <a:latin typeface="Helvetica" pitchFamily="34" charset="0"/>
              </a:rPr>
              <a:t>Provide encouragement</a:t>
            </a:r>
          </a:p>
          <a:p>
            <a:pPr marL="360000" indent="-360000">
              <a:spcBef>
                <a:spcPts val="600"/>
              </a:spcBef>
              <a:spcAft>
                <a:spcPts val="1200"/>
              </a:spcAft>
            </a:pPr>
            <a:r>
              <a:rPr lang="en-US" sz="2200" dirty="0" smtClean="0">
                <a:latin typeface="Helvetica" pitchFamily="34" charset="0"/>
              </a:rPr>
              <a:t>Give feedback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140</a:t>
            </a:fld>
            <a:endParaRPr lang="en-US" dirty="0"/>
          </a:p>
        </p:txBody>
      </p:sp>
      <p:pic>
        <p:nvPicPr>
          <p:cNvPr id="5" name="Picture 4" descr="customer service -iStock_000003459153Small.jpg"/>
          <p:cNvPicPr>
            <a:picLocks noChangeAspect="1"/>
          </p:cNvPicPr>
          <p:nvPr/>
        </p:nvPicPr>
        <p:blipFill>
          <a:blip r:embed="rId3" cstate="print"/>
          <a:stretch>
            <a:fillRect/>
          </a:stretch>
        </p:blipFill>
        <p:spPr>
          <a:xfrm>
            <a:off x="6372200" y="3789040"/>
            <a:ext cx="2042248" cy="1469819"/>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Build trust and respect with 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Reasons to build trust and respect with your project team:</a:t>
            </a:r>
          </a:p>
          <a:p>
            <a:pPr marL="360000" indent="-360000">
              <a:spcBef>
                <a:spcPts val="600"/>
              </a:spcBef>
              <a:spcAft>
                <a:spcPts val="1200"/>
              </a:spcAft>
            </a:pPr>
            <a:r>
              <a:rPr lang="en-US" sz="2200" dirty="0" smtClean="0">
                <a:latin typeface="Helvetica" pitchFamily="34" charset="0"/>
              </a:rPr>
              <a:t>Your success depends on the work of the team</a:t>
            </a:r>
          </a:p>
          <a:p>
            <a:pPr marL="360000" indent="-360000">
              <a:spcBef>
                <a:spcPts val="600"/>
              </a:spcBef>
              <a:spcAft>
                <a:spcPts val="1200"/>
              </a:spcAft>
            </a:pPr>
            <a:r>
              <a:rPr lang="en-US" sz="2200" dirty="0" smtClean="0">
                <a:latin typeface="Helvetica" pitchFamily="34" charset="0"/>
              </a:rPr>
              <a:t>It is the basis for the success of the project</a:t>
            </a:r>
          </a:p>
          <a:p>
            <a:pPr marL="360000" indent="-360000">
              <a:spcBef>
                <a:spcPts val="600"/>
              </a:spcBef>
              <a:spcAft>
                <a:spcPts val="1200"/>
              </a:spcAft>
            </a:pPr>
            <a:r>
              <a:rPr lang="en-US" sz="2200" dirty="0" smtClean="0">
                <a:latin typeface="Helvetica" pitchFamily="34" charset="0"/>
              </a:rPr>
              <a:t>If you help others achieve what they want, they will help you achieve what you want</a:t>
            </a:r>
          </a:p>
          <a:p>
            <a:pPr marL="360000" indent="-360000">
              <a:spcBef>
                <a:spcPts val="600"/>
              </a:spcBef>
              <a:spcAft>
                <a:spcPts val="1200"/>
              </a:spcAft>
            </a:pPr>
            <a:r>
              <a:rPr lang="en-US" sz="2200" dirty="0" smtClean="0">
                <a:latin typeface="Helvetica" pitchFamily="34" charset="0"/>
              </a:rPr>
              <a:t>Human resources are essential to achieve deliverables</a:t>
            </a:r>
          </a:p>
          <a:p>
            <a:pPr marL="360000" indent="-360000">
              <a:spcBef>
                <a:spcPts val="600"/>
              </a:spcBef>
              <a:spcAft>
                <a:spcPts val="1200"/>
              </a:spcAft>
            </a:pPr>
            <a:r>
              <a:rPr lang="en-US" sz="2200" dirty="0" smtClean="0">
                <a:latin typeface="Helvetica" pitchFamily="34" charset="0"/>
              </a:rPr>
              <a:t>Lack of trust and respect leads to project paralysis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141</a:t>
            </a:fld>
            <a:endParaRPr lang="en-US" dirty="0"/>
          </a:p>
        </p:txBody>
      </p:sp>
      <p:pic>
        <p:nvPicPr>
          <p:cNvPr id="5" name="Picture 4" descr="Cultural diversity  -iStock_000008364598Small.jpg"/>
          <p:cNvPicPr>
            <a:picLocks noChangeAspect="1"/>
          </p:cNvPicPr>
          <p:nvPr/>
        </p:nvPicPr>
        <p:blipFill>
          <a:blip r:embed="rId3" cstate="print"/>
          <a:stretch>
            <a:fillRect/>
          </a:stretch>
        </p:blipFill>
        <p:spPr>
          <a:xfrm>
            <a:off x="2771800" y="4869160"/>
            <a:ext cx="1955130" cy="1301117"/>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Build trust and respect with 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Points to note about trust and respect:</a:t>
            </a:r>
          </a:p>
          <a:p>
            <a:pPr marL="360000" indent="-360000">
              <a:spcBef>
                <a:spcPts val="600"/>
              </a:spcBef>
              <a:spcAft>
                <a:spcPts val="1200"/>
              </a:spcAft>
            </a:pPr>
            <a:r>
              <a:rPr lang="en-US" sz="2200" dirty="0" smtClean="0">
                <a:latin typeface="Helvetica" pitchFamily="34" charset="0"/>
              </a:rPr>
              <a:t>It is a two-way street</a:t>
            </a:r>
          </a:p>
          <a:p>
            <a:pPr marL="360000" indent="-360000">
              <a:spcBef>
                <a:spcPts val="600"/>
              </a:spcBef>
              <a:spcAft>
                <a:spcPts val="1200"/>
              </a:spcAft>
            </a:pPr>
            <a:r>
              <a:rPr lang="en-US" sz="2200" dirty="0" smtClean="0">
                <a:latin typeface="Helvetica" pitchFamily="34" charset="0"/>
              </a:rPr>
              <a:t>It is essential</a:t>
            </a:r>
          </a:p>
          <a:p>
            <a:pPr marL="360000" indent="-360000">
              <a:spcBef>
                <a:spcPts val="600"/>
              </a:spcBef>
              <a:spcAft>
                <a:spcPts val="1200"/>
              </a:spcAft>
            </a:pPr>
            <a:r>
              <a:rPr lang="en-US" sz="2200" dirty="0" smtClean="0">
                <a:latin typeface="Helvetica" pitchFamily="34" charset="0"/>
              </a:rPr>
              <a:t>You cannot ‘tell’ someone to have trust </a:t>
            </a:r>
            <a:br>
              <a:rPr lang="en-US" sz="2200" dirty="0" smtClean="0">
                <a:latin typeface="Helvetica" pitchFamily="34" charset="0"/>
              </a:rPr>
            </a:br>
            <a:r>
              <a:rPr lang="en-US" sz="2200" dirty="0" smtClean="0">
                <a:latin typeface="Helvetica" pitchFamily="34" charset="0"/>
              </a:rPr>
              <a:t>and respect</a:t>
            </a:r>
          </a:p>
          <a:p>
            <a:pPr marL="360000" indent="-360000">
              <a:spcBef>
                <a:spcPts val="600"/>
              </a:spcBef>
              <a:spcAft>
                <a:spcPts val="1200"/>
              </a:spcAft>
            </a:pPr>
            <a:r>
              <a:rPr lang="en-US" sz="2200" dirty="0" smtClean="0">
                <a:latin typeface="Helvetica" pitchFamily="34" charset="0"/>
              </a:rPr>
              <a:t>You have to </a:t>
            </a:r>
            <a:r>
              <a:rPr lang="en-US" sz="2200" i="1" dirty="0" smtClean="0">
                <a:latin typeface="Helvetica" pitchFamily="34" charset="0"/>
              </a:rPr>
              <a:t>give </a:t>
            </a:r>
            <a:r>
              <a:rPr lang="en-US" sz="2200" dirty="0" smtClean="0">
                <a:latin typeface="Helvetica" pitchFamily="34" charset="0"/>
              </a:rPr>
              <a:t>trust and respect to the </a:t>
            </a:r>
            <a:br>
              <a:rPr lang="en-US" sz="2200" dirty="0" smtClean="0">
                <a:latin typeface="Helvetica" pitchFamily="34" charset="0"/>
              </a:rPr>
            </a:br>
            <a:r>
              <a:rPr lang="en-US" sz="2200" dirty="0" smtClean="0">
                <a:latin typeface="Helvetica" pitchFamily="34" charset="0"/>
              </a:rPr>
              <a:t>team</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142</a:t>
            </a:fld>
            <a:endParaRPr lang="en-US" dirty="0"/>
          </a:p>
        </p:txBody>
      </p:sp>
      <p:pic>
        <p:nvPicPr>
          <p:cNvPr id="5" name="Picture 4" descr="Policy sign.jpg"/>
          <p:cNvPicPr>
            <a:picLocks noChangeAspect="1"/>
          </p:cNvPicPr>
          <p:nvPr/>
        </p:nvPicPr>
        <p:blipFill>
          <a:blip r:embed="rId3" cstate="print"/>
          <a:stretch>
            <a:fillRect/>
          </a:stretch>
        </p:blipFill>
        <p:spPr>
          <a:xfrm>
            <a:off x="6516216" y="3717032"/>
            <a:ext cx="1878255" cy="1513249"/>
          </a:xfrm>
          <a:prstGeom prst="rect">
            <a:avLst/>
          </a:prstGeom>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Build trust and respect with 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You have to </a:t>
            </a:r>
            <a:r>
              <a:rPr lang="en-US" sz="2200" i="1" dirty="0" smtClean="0">
                <a:latin typeface="Helvetica" pitchFamily="34" charset="0"/>
              </a:rPr>
              <a:t>earn </a:t>
            </a:r>
            <a:r>
              <a:rPr lang="en-US" sz="2200" dirty="0" smtClean="0">
                <a:latin typeface="Helvetica" pitchFamily="34" charset="0"/>
              </a:rPr>
              <a:t>trust and respect from the team</a:t>
            </a:r>
          </a:p>
          <a:p>
            <a:pPr marL="360000" indent="-360000">
              <a:spcBef>
                <a:spcPts val="600"/>
              </a:spcBef>
              <a:spcAft>
                <a:spcPts val="1200"/>
              </a:spcAft>
            </a:pPr>
            <a:r>
              <a:rPr lang="en-US" sz="2200" dirty="0" smtClean="0">
                <a:latin typeface="Helvetica" pitchFamily="34" charset="0"/>
              </a:rPr>
              <a:t>Trust and respect results from a combination of factors</a:t>
            </a:r>
          </a:p>
          <a:p>
            <a:pPr marL="360000" indent="-360000">
              <a:spcBef>
                <a:spcPts val="600"/>
              </a:spcBef>
              <a:spcAft>
                <a:spcPts val="1200"/>
              </a:spcAft>
            </a:pPr>
            <a:r>
              <a:rPr lang="en-US" sz="2200" dirty="0" smtClean="0">
                <a:latin typeface="Helvetica" pitchFamily="34" charset="0"/>
              </a:rPr>
              <a:t>Trust and respect are established over time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143</a:t>
            </a:fld>
            <a:endParaRPr lang="en-US" dirty="0"/>
          </a:p>
        </p:txBody>
      </p:sp>
      <p:pic>
        <p:nvPicPr>
          <p:cNvPr id="5" name="Picture 4" descr="shutterstock_82265860.jpg"/>
          <p:cNvPicPr>
            <a:picLocks noChangeAspect="1"/>
          </p:cNvPicPr>
          <p:nvPr/>
        </p:nvPicPr>
        <p:blipFill>
          <a:blip r:embed="rId3" cstate="print"/>
          <a:stretch>
            <a:fillRect/>
          </a:stretch>
        </p:blipFill>
        <p:spPr>
          <a:xfrm>
            <a:off x="6300192" y="3765060"/>
            <a:ext cx="2111896" cy="1408635"/>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Build trust and respect with 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Ways to build trust and respect:</a:t>
            </a:r>
          </a:p>
          <a:p>
            <a:pPr marL="360000" indent="-360000">
              <a:spcBef>
                <a:spcPts val="600"/>
              </a:spcBef>
              <a:spcAft>
                <a:spcPts val="1200"/>
              </a:spcAft>
            </a:pPr>
            <a:r>
              <a:rPr lang="en-US" sz="2200" dirty="0" smtClean="0">
                <a:latin typeface="Helvetica" pitchFamily="34" charset="0"/>
              </a:rPr>
              <a:t>Doing more than others</a:t>
            </a:r>
          </a:p>
          <a:p>
            <a:pPr marL="360000" indent="-360000">
              <a:spcBef>
                <a:spcPts val="600"/>
              </a:spcBef>
              <a:spcAft>
                <a:spcPts val="1200"/>
              </a:spcAft>
            </a:pPr>
            <a:r>
              <a:rPr lang="en-US" sz="2200" dirty="0" smtClean="0">
                <a:latin typeface="Helvetica" pitchFamily="34" charset="0"/>
              </a:rPr>
              <a:t>Not micro-managing</a:t>
            </a:r>
          </a:p>
          <a:p>
            <a:pPr marL="360000" indent="-360000">
              <a:spcBef>
                <a:spcPts val="600"/>
              </a:spcBef>
              <a:spcAft>
                <a:spcPts val="1200"/>
              </a:spcAft>
            </a:pPr>
            <a:r>
              <a:rPr lang="en-US" sz="2200" dirty="0" smtClean="0">
                <a:latin typeface="Helvetica" pitchFamily="34" charset="0"/>
              </a:rPr>
              <a:t>Valuing people</a:t>
            </a:r>
          </a:p>
          <a:p>
            <a:pPr marL="360000" indent="-360000">
              <a:spcBef>
                <a:spcPts val="600"/>
              </a:spcBef>
              <a:spcAft>
                <a:spcPts val="1200"/>
              </a:spcAft>
            </a:pPr>
            <a:r>
              <a:rPr lang="en-US" sz="2200" dirty="0" smtClean="0">
                <a:latin typeface="Helvetica" pitchFamily="34" charset="0"/>
              </a:rPr>
              <a:t>Getting to know the team</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144</a:t>
            </a:fld>
            <a:endParaRPr lang="en-US" dirty="0"/>
          </a:p>
        </p:txBody>
      </p:sp>
      <p:pic>
        <p:nvPicPr>
          <p:cNvPr id="5" name="Picture 4" descr="Communication icons.jpg"/>
          <p:cNvPicPr>
            <a:picLocks noChangeAspect="1"/>
          </p:cNvPicPr>
          <p:nvPr/>
        </p:nvPicPr>
        <p:blipFill>
          <a:blip r:embed="rId3" cstate="print"/>
          <a:stretch>
            <a:fillRect/>
          </a:stretch>
        </p:blipFill>
        <p:spPr>
          <a:xfrm flipH="1">
            <a:off x="5868144" y="3501008"/>
            <a:ext cx="2397325" cy="1591824"/>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Build trust and respect with 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Using staff names when talking to them</a:t>
            </a:r>
          </a:p>
          <a:p>
            <a:pPr marL="360000" indent="-360000">
              <a:spcBef>
                <a:spcPts val="600"/>
              </a:spcBef>
              <a:spcAft>
                <a:spcPts val="1200"/>
              </a:spcAft>
            </a:pPr>
            <a:r>
              <a:rPr lang="en-US" sz="2200" dirty="0" smtClean="0">
                <a:latin typeface="Helvetica" pitchFamily="34" charset="0"/>
              </a:rPr>
              <a:t>Communicating regularly</a:t>
            </a:r>
          </a:p>
          <a:p>
            <a:pPr marL="360000" indent="-360000">
              <a:spcBef>
                <a:spcPts val="600"/>
              </a:spcBef>
              <a:spcAft>
                <a:spcPts val="1200"/>
              </a:spcAft>
            </a:pPr>
            <a:r>
              <a:rPr lang="en-US" sz="2200" dirty="0" smtClean="0">
                <a:latin typeface="Helvetica" pitchFamily="34" charset="0"/>
              </a:rPr>
              <a:t>Giving encouragement and feedback</a:t>
            </a:r>
          </a:p>
          <a:p>
            <a:pPr marL="360000" indent="-360000">
              <a:spcBef>
                <a:spcPts val="600"/>
              </a:spcBef>
              <a:spcAft>
                <a:spcPts val="1200"/>
              </a:spcAft>
            </a:pPr>
            <a:r>
              <a:rPr lang="en-US" sz="2200" dirty="0" smtClean="0">
                <a:latin typeface="Helvetica" pitchFamily="34" charset="0"/>
              </a:rPr>
              <a:t>Giving responsibility</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145</a:t>
            </a:fld>
            <a:endParaRPr lang="en-US" dirty="0"/>
          </a:p>
        </p:txBody>
      </p:sp>
      <p:pic>
        <p:nvPicPr>
          <p:cNvPr id="5" name="Picture 4" descr="shutterstock_86463646.jpg"/>
          <p:cNvPicPr>
            <a:picLocks noChangeAspect="1"/>
          </p:cNvPicPr>
          <p:nvPr/>
        </p:nvPicPr>
        <p:blipFill>
          <a:blip r:embed="rId3" cstate="print"/>
          <a:stretch>
            <a:fillRect/>
          </a:stretch>
        </p:blipFill>
        <p:spPr>
          <a:xfrm>
            <a:off x="6444208" y="3212976"/>
            <a:ext cx="1823864" cy="1823864"/>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Build trust and respect with 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Celebrating individuality</a:t>
            </a:r>
          </a:p>
          <a:p>
            <a:pPr marL="360000" indent="-360000">
              <a:spcBef>
                <a:spcPts val="600"/>
              </a:spcBef>
              <a:spcAft>
                <a:spcPts val="1200"/>
              </a:spcAft>
            </a:pPr>
            <a:r>
              <a:rPr lang="en-US" sz="2200" dirty="0" smtClean="0">
                <a:latin typeface="Helvetica" pitchFamily="34" charset="0"/>
              </a:rPr>
              <a:t>Doing hands-on work</a:t>
            </a:r>
          </a:p>
          <a:p>
            <a:pPr marL="360000" indent="-360000">
              <a:spcBef>
                <a:spcPts val="600"/>
              </a:spcBef>
              <a:spcAft>
                <a:spcPts val="1200"/>
              </a:spcAft>
            </a:pPr>
            <a:r>
              <a:rPr lang="en-US" sz="2200" dirty="0" smtClean="0">
                <a:latin typeface="Helvetica" pitchFamily="34" charset="0"/>
              </a:rPr>
              <a:t>Congratulating them when it is deserved</a:t>
            </a:r>
          </a:p>
          <a:p>
            <a:pPr marL="360000" indent="-360000">
              <a:spcBef>
                <a:spcPts val="600"/>
              </a:spcBef>
              <a:spcAft>
                <a:spcPts val="1200"/>
              </a:spcAft>
            </a:pPr>
            <a:r>
              <a:rPr lang="en-US" sz="2200" dirty="0" smtClean="0">
                <a:latin typeface="Helvetica" pitchFamily="34" charset="0"/>
              </a:rPr>
              <a:t>Not lecturing them if they make a mistake – </a:t>
            </a:r>
            <a:br>
              <a:rPr lang="en-US" sz="2200" dirty="0" smtClean="0">
                <a:latin typeface="Helvetica" pitchFamily="34" charset="0"/>
              </a:rPr>
            </a:br>
            <a:r>
              <a:rPr lang="en-US" sz="2200" dirty="0" smtClean="0">
                <a:latin typeface="Helvetica" pitchFamily="34" charset="0"/>
              </a:rPr>
              <a:t>adopt a ‘no blame’ policy</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146</a:t>
            </a:fld>
            <a:endParaRPr lang="en-US" dirty="0"/>
          </a:p>
        </p:txBody>
      </p:sp>
      <p:pic>
        <p:nvPicPr>
          <p:cNvPr id="5" name="Picture 4" descr="MC900059737.WMF"/>
          <p:cNvPicPr>
            <a:picLocks noChangeAspect="1"/>
          </p:cNvPicPr>
          <p:nvPr/>
        </p:nvPicPr>
        <p:blipFill>
          <a:blip r:embed="rId3" cstate="print"/>
          <a:stretch>
            <a:fillRect/>
          </a:stretch>
        </p:blipFill>
        <p:spPr>
          <a:xfrm>
            <a:off x="5940152" y="4293096"/>
            <a:ext cx="2320054" cy="734801"/>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Build trust and respect with team</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Encouraging input and opinions</a:t>
            </a:r>
          </a:p>
          <a:p>
            <a:pPr marL="360000" indent="-360000">
              <a:spcBef>
                <a:spcPts val="600"/>
              </a:spcBef>
              <a:spcAft>
                <a:spcPts val="1200"/>
              </a:spcAft>
            </a:pPr>
            <a:r>
              <a:rPr lang="en-US" sz="2200" dirty="0" smtClean="0">
                <a:latin typeface="Helvetica" pitchFamily="34" charset="0"/>
              </a:rPr>
              <a:t>Spending time with team in a special context</a:t>
            </a:r>
          </a:p>
          <a:p>
            <a:pPr marL="360000" indent="-360000">
              <a:spcBef>
                <a:spcPts val="600"/>
              </a:spcBef>
              <a:spcAft>
                <a:spcPts val="1200"/>
              </a:spcAft>
            </a:pPr>
            <a:r>
              <a:rPr lang="en-US" sz="2200" dirty="0" smtClean="0">
                <a:latin typeface="Helvetica" pitchFamily="34" charset="0"/>
              </a:rPr>
              <a:t>Never playing favourites</a:t>
            </a:r>
          </a:p>
          <a:p>
            <a:pPr marL="360000" indent="-360000">
              <a:spcBef>
                <a:spcPts val="600"/>
              </a:spcBef>
              <a:spcAft>
                <a:spcPts val="1200"/>
              </a:spcAft>
            </a:pPr>
            <a:r>
              <a:rPr lang="en-US" sz="2200" dirty="0" smtClean="0">
                <a:latin typeface="Helvetica" pitchFamily="34" charset="0"/>
              </a:rPr>
              <a:t>Address problems and issues promptly</a:t>
            </a:r>
          </a:p>
          <a:p>
            <a:pPr marL="360000" indent="-360000">
              <a:spcBef>
                <a:spcPts val="600"/>
              </a:spcBef>
              <a:spcAft>
                <a:spcPts val="1200"/>
              </a:spcAft>
            </a:pPr>
            <a:r>
              <a:rPr lang="en-US" sz="2200" dirty="0" smtClean="0">
                <a:latin typeface="Helvetica" pitchFamily="34" charset="0"/>
              </a:rPr>
              <a:t>Telling your manager about the good work done by individuals and/or the team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147</a:t>
            </a:fld>
            <a:endParaRPr lang="en-US" dirty="0"/>
          </a:p>
        </p:txBody>
      </p:sp>
      <p:pic>
        <p:nvPicPr>
          <p:cNvPr id="5" name="Picture 4" descr="freeimage-13048781.jpg"/>
          <p:cNvPicPr>
            <a:picLocks noChangeAspect="1"/>
          </p:cNvPicPr>
          <p:nvPr/>
        </p:nvPicPr>
        <p:blipFill>
          <a:blip r:embed="rId3" cstate="print"/>
          <a:stretch>
            <a:fillRect/>
          </a:stretch>
        </p:blipFill>
        <p:spPr>
          <a:xfrm>
            <a:off x="6516216" y="4005064"/>
            <a:ext cx="1882812" cy="1260395"/>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Assess and review progress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0" indent="0">
              <a:spcBef>
                <a:spcPts val="600"/>
              </a:spcBef>
              <a:spcAft>
                <a:spcPts val="1200"/>
              </a:spcAft>
              <a:buNone/>
            </a:pPr>
            <a:r>
              <a:rPr lang="en-US" sz="2200" dirty="0" smtClean="0">
                <a:latin typeface="Helvetica" pitchFamily="34" charset="0"/>
              </a:rPr>
              <a:t>Need to assess and review projects to:</a:t>
            </a:r>
          </a:p>
          <a:p>
            <a:pPr marL="360000" indent="-360000">
              <a:spcBef>
                <a:spcPts val="600"/>
              </a:spcBef>
              <a:spcAft>
                <a:spcPts val="1200"/>
              </a:spcAft>
            </a:pPr>
            <a:r>
              <a:rPr lang="en-US" sz="2200" dirty="0" smtClean="0">
                <a:latin typeface="Helvetica" pitchFamily="34" charset="0"/>
              </a:rPr>
              <a:t>Compare ‘actual’ progress against ‘expected’ progress</a:t>
            </a:r>
          </a:p>
          <a:p>
            <a:pPr marL="360000" indent="-360000">
              <a:spcBef>
                <a:spcPts val="600"/>
              </a:spcBef>
              <a:spcAft>
                <a:spcPts val="1200"/>
              </a:spcAft>
            </a:pPr>
            <a:r>
              <a:rPr lang="en-US" sz="2200" dirty="0" smtClean="0">
                <a:latin typeface="Helvetica" pitchFamily="34" charset="0"/>
              </a:rPr>
              <a:t>Provide basis for remedial action to be taken</a:t>
            </a:r>
          </a:p>
          <a:p>
            <a:pPr marL="360000" indent="-360000">
              <a:spcBef>
                <a:spcPts val="600"/>
              </a:spcBef>
              <a:spcAft>
                <a:spcPts val="1200"/>
              </a:spcAft>
            </a:pPr>
            <a:r>
              <a:rPr lang="en-US" sz="2200" dirty="0" smtClean="0">
                <a:latin typeface="Helvetica" pitchFamily="34" charset="0"/>
              </a:rPr>
              <a:t>Provide basis to give and receive for feedback</a:t>
            </a:r>
          </a:p>
          <a:p>
            <a:pPr marL="360000" indent="-360000">
              <a:spcBef>
                <a:spcPts val="600"/>
              </a:spcBef>
              <a:spcAft>
                <a:spcPts val="1200"/>
              </a:spcAft>
            </a:pPr>
            <a:r>
              <a:rPr lang="en-US" sz="2200" dirty="0" smtClean="0">
                <a:latin typeface="Helvetica" pitchFamily="34" charset="0"/>
              </a:rPr>
              <a:t>Allow integration of the project with other work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148</a:t>
            </a:fld>
            <a:endParaRPr lang="en-US" dirty="0"/>
          </a:p>
        </p:txBody>
      </p:sp>
      <p:pic>
        <p:nvPicPr>
          <p:cNvPr id="5" name="Picture 4" descr="MP900422803(1).JPG"/>
          <p:cNvPicPr>
            <a:picLocks noChangeAspect="1"/>
          </p:cNvPicPr>
          <p:nvPr/>
        </p:nvPicPr>
        <p:blipFill>
          <a:blip r:embed="rId3" cstate="print"/>
          <a:stretch>
            <a:fillRect/>
          </a:stretch>
        </p:blipFill>
        <p:spPr>
          <a:xfrm>
            <a:off x="6975648" y="3789040"/>
            <a:ext cx="1412776" cy="1412776"/>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Assess and review progress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Main aims of assessment and review process:</a:t>
            </a:r>
          </a:p>
          <a:p>
            <a:pPr marL="360000" indent="-360000">
              <a:spcBef>
                <a:spcPts val="600"/>
              </a:spcBef>
              <a:spcAft>
                <a:spcPts val="1200"/>
              </a:spcAft>
            </a:pPr>
            <a:r>
              <a:rPr lang="en-US" sz="2200" dirty="0" smtClean="0">
                <a:latin typeface="Helvetica" pitchFamily="34" charset="0"/>
              </a:rPr>
              <a:t>Confirm activities being undertaken</a:t>
            </a:r>
          </a:p>
          <a:p>
            <a:pPr marL="360000" indent="-360000">
              <a:spcBef>
                <a:spcPts val="600"/>
              </a:spcBef>
              <a:spcAft>
                <a:spcPts val="1200"/>
              </a:spcAft>
            </a:pPr>
            <a:r>
              <a:rPr lang="en-US" sz="2200" dirty="0" smtClean="0">
                <a:latin typeface="Helvetica" pitchFamily="34" charset="0"/>
              </a:rPr>
              <a:t>Identify activities which are behind schedule</a:t>
            </a:r>
          </a:p>
          <a:p>
            <a:pPr marL="360000" indent="-360000">
              <a:spcBef>
                <a:spcPts val="600"/>
              </a:spcBef>
              <a:spcAft>
                <a:spcPts val="1200"/>
              </a:spcAft>
            </a:pPr>
            <a:r>
              <a:rPr lang="en-US" sz="2200" dirty="0" smtClean="0">
                <a:latin typeface="Helvetica" pitchFamily="34" charset="0"/>
              </a:rPr>
              <a:t>Identify activities not attaining required standards/criteria</a:t>
            </a:r>
          </a:p>
          <a:p>
            <a:pPr marL="360000" indent="-360000">
              <a:spcBef>
                <a:spcPts val="600"/>
              </a:spcBef>
              <a:spcAft>
                <a:spcPts val="1200"/>
              </a:spcAft>
            </a:pPr>
            <a:r>
              <a:rPr lang="en-US" sz="2200" dirty="0" smtClean="0">
                <a:latin typeface="Helvetica" pitchFamily="34" charset="0"/>
              </a:rPr>
              <a:t>Determine remedial action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149</a:t>
            </a:fld>
            <a:endParaRPr lang="en-US" dirty="0"/>
          </a:p>
        </p:txBody>
      </p:sp>
      <p:pic>
        <p:nvPicPr>
          <p:cNvPr id="5" name="Picture 4" descr="MP900442522.JPG"/>
          <p:cNvPicPr>
            <a:picLocks noChangeAspect="1"/>
          </p:cNvPicPr>
          <p:nvPr/>
        </p:nvPicPr>
        <p:blipFill>
          <a:blip r:embed="rId3" cstate="print"/>
          <a:stretch>
            <a:fillRect/>
          </a:stretch>
        </p:blipFill>
        <p:spPr>
          <a:xfrm>
            <a:off x="6477989" y="3933056"/>
            <a:ext cx="1918036" cy="1283974"/>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Assess and review progress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Project management plan considerations:</a:t>
            </a:r>
          </a:p>
          <a:p>
            <a:pPr marL="360000" indent="-360000">
              <a:spcBef>
                <a:spcPts val="600"/>
              </a:spcBef>
              <a:spcAft>
                <a:spcPts val="1200"/>
              </a:spcAft>
            </a:pPr>
            <a:r>
              <a:rPr lang="en-US" sz="2200" dirty="0" smtClean="0">
                <a:latin typeface="Helvetica" pitchFamily="34" charset="0"/>
              </a:rPr>
              <a:t>Deliverables</a:t>
            </a:r>
          </a:p>
          <a:p>
            <a:pPr marL="360000" indent="-360000">
              <a:spcBef>
                <a:spcPts val="600"/>
              </a:spcBef>
              <a:spcAft>
                <a:spcPts val="1200"/>
              </a:spcAft>
            </a:pPr>
            <a:r>
              <a:rPr lang="en-US" sz="2200" dirty="0" smtClean="0">
                <a:latin typeface="Helvetica" pitchFamily="34" charset="0"/>
              </a:rPr>
              <a:t>Budget</a:t>
            </a:r>
          </a:p>
          <a:p>
            <a:pPr marL="360000" indent="-360000">
              <a:spcBef>
                <a:spcPts val="600"/>
              </a:spcBef>
              <a:spcAft>
                <a:spcPts val="1200"/>
              </a:spcAft>
            </a:pPr>
            <a:r>
              <a:rPr lang="en-US" sz="2200" dirty="0" smtClean="0">
                <a:latin typeface="Helvetica" pitchFamily="34" charset="0"/>
              </a:rPr>
              <a:t>Quality</a:t>
            </a:r>
          </a:p>
          <a:p>
            <a:pPr marL="360000" indent="-360000">
              <a:spcBef>
                <a:spcPts val="600"/>
              </a:spcBef>
              <a:spcAft>
                <a:spcPts val="1200"/>
              </a:spcAft>
            </a:pPr>
            <a:r>
              <a:rPr lang="en-US" sz="2200" dirty="0" smtClean="0">
                <a:latin typeface="Helvetica" pitchFamily="34" charset="0"/>
              </a:rPr>
              <a:t>Customer satisfaction</a:t>
            </a:r>
          </a:p>
          <a:p>
            <a:pPr marL="360000" indent="-360000">
              <a:spcBef>
                <a:spcPts val="600"/>
              </a:spcBef>
              <a:spcAft>
                <a:spcPts val="1200"/>
              </a:spcAft>
            </a:pPr>
            <a:r>
              <a:rPr lang="en-US" sz="2200" dirty="0" smtClean="0">
                <a:latin typeface="Helvetica" pitchFamily="34" charset="0"/>
              </a:rPr>
              <a:t>Use of resources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150</a:t>
            </a:fld>
            <a:endParaRPr lang="en-US" dirty="0"/>
          </a:p>
        </p:txBody>
      </p:sp>
      <p:pic>
        <p:nvPicPr>
          <p:cNvPr id="5" name="Picture 4" descr="884071_budget_cuts.jpg"/>
          <p:cNvPicPr>
            <a:picLocks noChangeAspect="1"/>
          </p:cNvPicPr>
          <p:nvPr/>
        </p:nvPicPr>
        <p:blipFill>
          <a:blip r:embed="rId3" cstate="print"/>
          <a:stretch>
            <a:fillRect/>
          </a:stretch>
        </p:blipFill>
        <p:spPr>
          <a:xfrm>
            <a:off x="6948264" y="3068960"/>
            <a:ext cx="1432553" cy="2148830"/>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Assess and review progress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Also need to assess and review ‘issues arising:</a:t>
            </a:r>
          </a:p>
          <a:p>
            <a:pPr marL="360000" indent="-360000">
              <a:spcBef>
                <a:spcPts val="600"/>
              </a:spcBef>
              <a:spcAft>
                <a:spcPts val="1200"/>
              </a:spcAft>
            </a:pPr>
            <a:r>
              <a:rPr lang="en-US" sz="2200" dirty="0" smtClean="0">
                <a:latin typeface="Helvetica" pitchFamily="34" charset="0"/>
              </a:rPr>
              <a:t>Problems with third party providers</a:t>
            </a:r>
          </a:p>
          <a:p>
            <a:pPr marL="360000" indent="-360000">
              <a:spcBef>
                <a:spcPts val="600"/>
              </a:spcBef>
              <a:spcAft>
                <a:spcPts val="1200"/>
              </a:spcAft>
            </a:pPr>
            <a:r>
              <a:rPr lang="en-US" sz="2200" dirty="0" smtClean="0">
                <a:latin typeface="Helvetica" pitchFamily="34" charset="0"/>
              </a:rPr>
              <a:t>Difficulties with project work teams</a:t>
            </a:r>
          </a:p>
          <a:p>
            <a:pPr marL="360000" indent="-360000">
              <a:spcBef>
                <a:spcPts val="600"/>
              </a:spcBef>
              <a:spcAft>
                <a:spcPts val="1200"/>
              </a:spcAft>
            </a:pPr>
            <a:r>
              <a:rPr lang="en-US" sz="2200" dirty="0" smtClean="0">
                <a:latin typeface="Helvetica" pitchFamily="34" charset="0"/>
              </a:rPr>
              <a:t>Issues with client</a:t>
            </a:r>
          </a:p>
          <a:p>
            <a:pPr marL="360000" indent="-360000">
              <a:spcBef>
                <a:spcPts val="600"/>
              </a:spcBef>
              <a:spcAft>
                <a:spcPts val="1200"/>
              </a:spcAft>
            </a:pPr>
            <a:r>
              <a:rPr lang="en-US" sz="2200" dirty="0" smtClean="0">
                <a:latin typeface="Helvetica" pitchFamily="34" charset="0"/>
              </a:rPr>
              <a:t>Lack of cooperation</a:t>
            </a:r>
          </a:p>
          <a:p>
            <a:pPr marL="360000" indent="-360000">
              <a:spcBef>
                <a:spcPts val="600"/>
              </a:spcBef>
              <a:spcAft>
                <a:spcPts val="1200"/>
              </a:spcAft>
            </a:pPr>
            <a:r>
              <a:rPr lang="en-US" sz="2200" dirty="0" smtClean="0">
                <a:latin typeface="Helvetica" pitchFamily="34" charset="0"/>
              </a:rPr>
              <a:t>Involvement with external agencies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151</a:t>
            </a:fld>
            <a:endParaRPr lang="en-US" dirty="0"/>
          </a:p>
        </p:txBody>
      </p:sp>
      <p:pic>
        <p:nvPicPr>
          <p:cNvPr id="5" name="Picture 4" descr="MP900446453.JPG"/>
          <p:cNvPicPr>
            <a:picLocks noChangeAspect="1"/>
          </p:cNvPicPr>
          <p:nvPr/>
        </p:nvPicPr>
        <p:blipFill>
          <a:blip r:embed="rId3" cstate="print"/>
          <a:stretch>
            <a:fillRect/>
          </a:stretch>
        </p:blipFill>
        <p:spPr>
          <a:xfrm>
            <a:off x="6228184" y="3789040"/>
            <a:ext cx="2126342" cy="1410474"/>
          </a:xfrm>
          <a:prstGeom prst="rect">
            <a:avLst/>
          </a:prstGeom>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Assess and review progress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400600"/>
          </a:xfrm>
        </p:spPr>
        <p:txBody>
          <a:bodyPr>
            <a:normAutofit lnSpcReduction="10000"/>
          </a:bodyPr>
          <a:lstStyle/>
          <a:p>
            <a:pPr marL="0" indent="0">
              <a:spcBef>
                <a:spcPts val="600"/>
              </a:spcBef>
              <a:spcAft>
                <a:spcPts val="1200"/>
              </a:spcAft>
              <a:buNone/>
            </a:pPr>
            <a:r>
              <a:rPr lang="en-US" sz="2200" dirty="0" smtClean="0">
                <a:latin typeface="Helvetica" pitchFamily="34" charset="0"/>
              </a:rPr>
              <a:t>Ways to optimise effective project assessment and review:</a:t>
            </a:r>
          </a:p>
          <a:p>
            <a:pPr marL="360000" indent="-360000">
              <a:spcBef>
                <a:spcPts val="600"/>
              </a:spcBef>
              <a:spcAft>
                <a:spcPts val="1200"/>
              </a:spcAft>
            </a:pPr>
            <a:r>
              <a:rPr lang="en-US" sz="2200" dirty="0" smtClean="0">
                <a:latin typeface="Helvetica" pitchFamily="34" charset="0"/>
              </a:rPr>
              <a:t>Allocate time for the process</a:t>
            </a:r>
          </a:p>
          <a:p>
            <a:pPr marL="360000" indent="-360000">
              <a:spcBef>
                <a:spcPts val="600"/>
              </a:spcBef>
              <a:spcAft>
                <a:spcPts val="1200"/>
              </a:spcAft>
            </a:pPr>
            <a:r>
              <a:rPr lang="en-US" sz="2200" dirty="0" smtClean="0">
                <a:latin typeface="Helvetica" pitchFamily="34" charset="0"/>
              </a:rPr>
              <a:t>Plan meetings</a:t>
            </a:r>
          </a:p>
          <a:p>
            <a:pPr marL="360000" indent="-360000">
              <a:spcBef>
                <a:spcPts val="600"/>
              </a:spcBef>
              <a:spcAft>
                <a:spcPts val="1200"/>
              </a:spcAft>
            </a:pPr>
            <a:r>
              <a:rPr lang="en-US" sz="2200" dirty="0" smtClean="0">
                <a:latin typeface="Helvetica" pitchFamily="34" charset="0"/>
              </a:rPr>
              <a:t>Do your own analysis first</a:t>
            </a:r>
          </a:p>
          <a:p>
            <a:pPr marL="360000" indent="-360000">
              <a:spcBef>
                <a:spcPts val="600"/>
              </a:spcBef>
              <a:spcAft>
                <a:spcPts val="1200"/>
              </a:spcAft>
            </a:pPr>
            <a:r>
              <a:rPr lang="en-US" sz="2200" dirty="0" smtClean="0">
                <a:latin typeface="Helvetica" pitchFamily="34" charset="0"/>
              </a:rPr>
              <a:t>Work with others</a:t>
            </a:r>
          </a:p>
          <a:p>
            <a:pPr marL="360000" indent="-360000">
              <a:spcBef>
                <a:spcPts val="600"/>
              </a:spcBef>
              <a:spcAft>
                <a:spcPts val="1200"/>
              </a:spcAft>
            </a:pPr>
            <a:r>
              <a:rPr lang="en-US" sz="2200" dirty="0" smtClean="0">
                <a:latin typeface="Helvetica" pitchFamily="34" charset="0"/>
              </a:rPr>
              <a:t>Explain focus for each assessment and review</a:t>
            </a:r>
          </a:p>
          <a:p>
            <a:pPr marL="360000" indent="-360000">
              <a:spcBef>
                <a:spcPts val="600"/>
              </a:spcBef>
              <a:spcAft>
                <a:spcPts val="1200"/>
              </a:spcAft>
            </a:pPr>
            <a:r>
              <a:rPr lang="en-US" sz="2200" dirty="0" smtClean="0">
                <a:latin typeface="Helvetica" pitchFamily="34" charset="0"/>
              </a:rPr>
              <a:t>Allocate time and resources for the process</a:t>
            </a:r>
          </a:p>
          <a:p>
            <a:pPr marL="360000" indent="-360000">
              <a:spcBef>
                <a:spcPts val="600"/>
              </a:spcBef>
              <a:spcAft>
                <a:spcPts val="1200"/>
              </a:spcAft>
            </a:pPr>
            <a:r>
              <a:rPr lang="en-US" sz="2200" dirty="0" smtClean="0">
                <a:latin typeface="Helvetica" pitchFamily="34" charset="0"/>
              </a:rPr>
              <a:t>Remind team and stakeholders about why </a:t>
            </a:r>
            <a:br>
              <a:rPr lang="en-US" sz="2200" dirty="0" smtClean="0">
                <a:latin typeface="Helvetica" pitchFamily="34" charset="0"/>
              </a:rPr>
            </a:br>
            <a:r>
              <a:rPr lang="en-US" sz="2200" dirty="0" smtClean="0">
                <a:latin typeface="Helvetica" pitchFamily="34" charset="0"/>
              </a:rPr>
              <a:t>assessment and review needs to occur</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152</a:t>
            </a:fld>
            <a:endParaRPr lang="en-US" dirty="0"/>
          </a:p>
        </p:txBody>
      </p:sp>
      <p:pic>
        <p:nvPicPr>
          <p:cNvPr id="5" name="Picture 4" descr="MP900442559.JPG"/>
          <p:cNvPicPr>
            <a:picLocks noChangeAspect="1"/>
          </p:cNvPicPr>
          <p:nvPr/>
        </p:nvPicPr>
        <p:blipFill>
          <a:blip r:embed="rId3" cstate="print"/>
          <a:stretch>
            <a:fillRect/>
          </a:stretch>
        </p:blipFill>
        <p:spPr>
          <a:xfrm>
            <a:off x="6593907" y="4299168"/>
            <a:ext cx="1938533" cy="1290072"/>
          </a:xfrm>
          <a:prstGeom prst="rect">
            <a:avLst/>
          </a:prstGeom>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Assess and review progress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US" sz="2200" dirty="0" smtClean="0">
                <a:latin typeface="Helvetica" pitchFamily="34" charset="0"/>
              </a:rPr>
              <a:t>Conduct workplace inspections</a:t>
            </a:r>
          </a:p>
          <a:p>
            <a:pPr marL="360000" indent="-360000">
              <a:spcBef>
                <a:spcPts val="600"/>
              </a:spcBef>
              <a:spcAft>
                <a:spcPts val="1200"/>
              </a:spcAft>
            </a:pPr>
            <a:r>
              <a:rPr lang="en-US" sz="2200" dirty="0" smtClean="0">
                <a:latin typeface="Helvetica" pitchFamily="34" charset="0"/>
              </a:rPr>
              <a:t>Using ‘actual’ evidence as basis</a:t>
            </a:r>
          </a:p>
          <a:p>
            <a:pPr marL="360000" indent="-360000">
              <a:spcBef>
                <a:spcPts val="600"/>
              </a:spcBef>
              <a:spcAft>
                <a:spcPts val="1200"/>
              </a:spcAft>
            </a:pPr>
            <a:r>
              <a:rPr lang="en-US" sz="2200" dirty="0" smtClean="0">
                <a:latin typeface="Helvetica" pitchFamily="34" charset="0"/>
              </a:rPr>
              <a:t>Advising team of implications of not attaining requirements of project management plan</a:t>
            </a:r>
          </a:p>
          <a:p>
            <a:pPr marL="360000" indent="-360000">
              <a:spcBef>
                <a:spcPts val="600"/>
              </a:spcBef>
              <a:spcAft>
                <a:spcPts val="1200"/>
              </a:spcAft>
            </a:pPr>
            <a:r>
              <a:rPr lang="en-US" sz="2200" dirty="0" smtClean="0">
                <a:latin typeface="Helvetica" pitchFamily="34" charset="0"/>
              </a:rPr>
              <a:t>Making the process a positive one for </a:t>
            </a:r>
            <a:br>
              <a:rPr lang="en-US" sz="2200" dirty="0" smtClean="0">
                <a:latin typeface="Helvetica" pitchFamily="34" charset="0"/>
              </a:rPr>
            </a:br>
            <a:r>
              <a:rPr lang="en-US" sz="2200" dirty="0" smtClean="0">
                <a:latin typeface="Helvetica" pitchFamily="34" charset="0"/>
              </a:rPr>
              <a:t>those involved</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153</a:t>
            </a:fld>
            <a:endParaRPr lang="en-US" dirty="0"/>
          </a:p>
        </p:txBody>
      </p:sp>
      <p:pic>
        <p:nvPicPr>
          <p:cNvPr id="5" name="Picture 4" descr="MP900405072.JPG"/>
          <p:cNvPicPr>
            <a:picLocks noChangeAspect="1"/>
          </p:cNvPicPr>
          <p:nvPr/>
        </p:nvPicPr>
        <p:blipFill>
          <a:blip r:embed="rId3" cstate="print"/>
          <a:stretch>
            <a:fillRect/>
          </a:stretch>
        </p:blipFill>
        <p:spPr>
          <a:xfrm>
            <a:off x="6516216" y="3284984"/>
            <a:ext cx="1781944" cy="1781944"/>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need for additional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Need to identify need for extra resources:</a:t>
            </a:r>
          </a:p>
          <a:p>
            <a:pPr marL="360000" indent="-360000">
              <a:spcBef>
                <a:spcPts val="600"/>
              </a:spcBef>
              <a:spcAft>
                <a:spcPts val="1200"/>
              </a:spcAft>
            </a:pPr>
            <a:r>
              <a:rPr lang="en-US" sz="2200" dirty="0" smtClean="0">
                <a:latin typeface="Helvetica" pitchFamily="34" charset="0"/>
              </a:rPr>
              <a:t>Must be done as soon as possible</a:t>
            </a:r>
          </a:p>
          <a:p>
            <a:pPr marL="360000" indent="-360000">
              <a:spcBef>
                <a:spcPts val="600"/>
              </a:spcBef>
              <a:spcAft>
                <a:spcPts val="1200"/>
              </a:spcAft>
            </a:pPr>
            <a:r>
              <a:rPr lang="en-US" sz="2200" dirty="0" smtClean="0">
                <a:latin typeface="Helvetica" pitchFamily="34" charset="0"/>
              </a:rPr>
              <a:t>Must occur across all resource types – human, financial, physical, time</a:t>
            </a:r>
          </a:p>
          <a:p>
            <a:pPr marL="360000" indent="-360000">
              <a:spcBef>
                <a:spcPts val="600"/>
              </a:spcBef>
              <a:spcAft>
                <a:spcPts val="1200"/>
              </a:spcAft>
            </a:pPr>
            <a:r>
              <a:rPr lang="en-US" sz="2200" dirty="0" smtClean="0">
                <a:latin typeface="Helvetica" pitchFamily="34" charset="0"/>
              </a:rPr>
              <a:t>Underpins achievement of deliverables</a:t>
            </a:r>
          </a:p>
          <a:p>
            <a:pPr marL="360000" indent="-360000">
              <a:spcBef>
                <a:spcPts val="600"/>
              </a:spcBef>
              <a:spcAft>
                <a:spcPts val="1200"/>
              </a:spcAft>
            </a:pPr>
            <a:r>
              <a:rPr lang="en-US" sz="2200" dirty="0" smtClean="0">
                <a:latin typeface="Helvetica" pitchFamily="34" charset="0"/>
              </a:rPr>
              <a:t>Demonstrates your PM expertise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154</a:t>
            </a:fld>
            <a:endParaRPr lang="en-US" dirty="0"/>
          </a:p>
        </p:txBody>
      </p:sp>
      <p:pic>
        <p:nvPicPr>
          <p:cNvPr id="5" name="Picture 4" descr="freeimage-2606219.jpg"/>
          <p:cNvPicPr>
            <a:picLocks noChangeAspect="1"/>
          </p:cNvPicPr>
          <p:nvPr/>
        </p:nvPicPr>
        <p:blipFill>
          <a:blip r:embed="rId3" cstate="print"/>
          <a:stretch>
            <a:fillRect/>
          </a:stretch>
        </p:blipFill>
        <p:spPr>
          <a:xfrm>
            <a:off x="6300192" y="3933056"/>
            <a:ext cx="2078925" cy="1370007"/>
          </a:xfrm>
          <a:prstGeom prst="rect">
            <a:avLst/>
          </a:prstGeom>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need for additional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Options for obtaining more human resources:</a:t>
            </a:r>
          </a:p>
          <a:p>
            <a:pPr marL="360000" indent="-360000">
              <a:spcBef>
                <a:spcPts val="600"/>
              </a:spcBef>
              <a:spcAft>
                <a:spcPts val="1200"/>
              </a:spcAft>
            </a:pPr>
            <a:r>
              <a:rPr lang="en-US" sz="2200" dirty="0" smtClean="0">
                <a:latin typeface="Helvetica" pitchFamily="34" charset="0"/>
              </a:rPr>
              <a:t>Changing composition of project team</a:t>
            </a:r>
          </a:p>
          <a:p>
            <a:pPr marL="360000" indent="-360000">
              <a:spcBef>
                <a:spcPts val="600"/>
              </a:spcBef>
              <a:spcAft>
                <a:spcPts val="1200"/>
              </a:spcAft>
            </a:pPr>
            <a:r>
              <a:rPr lang="en-US" sz="2200" dirty="0" smtClean="0">
                <a:latin typeface="Helvetica" pitchFamily="34" charset="0"/>
              </a:rPr>
              <a:t>Taking staff off other duties to work on project</a:t>
            </a:r>
          </a:p>
          <a:p>
            <a:pPr marL="360000" indent="-360000">
              <a:spcBef>
                <a:spcPts val="600"/>
              </a:spcBef>
              <a:spcAft>
                <a:spcPts val="1200"/>
              </a:spcAft>
            </a:pPr>
            <a:r>
              <a:rPr lang="en-US" sz="2200" dirty="0" smtClean="0">
                <a:latin typeface="Helvetica" pitchFamily="34" charset="0"/>
              </a:rPr>
              <a:t>Hiring more staff</a:t>
            </a:r>
          </a:p>
          <a:p>
            <a:pPr marL="360000" indent="-360000">
              <a:spcBef>
                <a:spcPts val="600"/>
              </a:spcBef>
              <a:spcAft>
                <a:spcPts val="1200"/>
              </a:spcAft>
            </a:pPr>
            <a:r>
              <a:rPr lang="en-US" sz="2200" dirty="0" smtClean="0">
                <a:latin typeface="Helvetica" pitchFamily="34" charset="0"/>
              </a:rPr>
              <a:t>Training staff </a:t>
            </a:r>
          </a:p>
          <a:p>
            <a:pPr marL="360000" indent="-360000">
              <a:spcBef>
                <a:spcPts val="600"/>
              </a:spcBef>
              <a:spcAft>
                <a:spcPts val="1200"/>
              </a:spcAft>
            </a:pPr>
            <a:r>
              <a:rPr lang="en-US" sz="2200" dirty="0" smtClean="0">
                <a:latin typeface="Helvetica" pitchFamily="34" charset="0"/>
              </a:rPr>
              <a:t>Transferring funds in the budgets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155</a:t>
            </a:fld>
            <a:endParaRPr lang="en-US" dirty="0"/>
          </a:p>
        </p:txBody>
      </p:sp>
      <p:pic>
        <p:nvPicPr>
          <p:cNvPr id="5" name="Picture 4" descr="meeting1.jpg"/>
          <p:cNvPicPr>
            <a:picLocks noChangeAspect="1"/>
          </p:cNvPicPr>
          <p:nvPr/>
        </p:nvPicPr>
        <p:blipFill>
          <a:blip r:embed="rId3" cstate="print"/>
          <a:stretch>
            <a:fillRect/>
          </a:stretch>
        </p:blipFill>
        <p:spPr>
          <a:xfrm>
            <a:off x="6408150" y="3933056"/>
            <a:ext cx="1968420" cy="1312936"/>
          </a:xfrm>
          <a:prstGeom prst="rect">
            <a:avLst/>
          </a:prstGeom>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need for additional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Monitoring hours worked by staff</a:t>
            </a:r>
          </a:p>
          <a:p>
            <a:pPr marL="360000" indent="-360000">
              <a:spcBef>
                <a:spcPts val="600"/>
              </a:spcBef>
              <a:spcAft>
                <a:spcPts val="1200"/>
              </a:spcAft>
            </a:pPr>
            <a:r>
              <a:rPr lang="en-US" sz="2200" dirty="0" smtClean="0">
                <a:latin typeface="Helvetica" pitchFamily="34" charset="0"/>
              </a:rPr>
              <a:t>Walking around the project site</a:t>
            </a:r>
          </a:p>
          <a:p>
            <a:pPr marL="360000" indent="-360000">
              <a:spcBef>
                <a:spcPts val="600"/>
              </a:spcBef>
              <a:spcAft>
                <a:spcPts val="1200"/>
              </a:spcAft>
            </a:pPr>
            <a:r>
              <a:rPr lang="en-US" sz="2200" dirty="0" smtClean="0">
                <a:latin typeface="Helvetica" pitchFamily="34" charset="0"/>
              </a:rPr>
              <a:t>Explaining to management how arising issues are impacting labour</a:t>
            </a:r>
          </a:p>
          <a:p>
            <a:pPr marL="360000" indent="-360000">
              <a:spcBef>
                <a:spcPts val="600"/>
              </a:spcBef>
              <a:spcAft>
                <a:spcPts val="1200"/>
              </a:spcAft>
            </a:pPr>
            <a:r>
              <a:rPr lang="en-US" sz="2200" dirty="0" smtClean="0">
                <a:latin typeface="Helvetica" pitchFamily="34" charset="0"/>
              </a:rPr>
              <a:t>Highlighting benefits which might flow </a:t>
            </a:r>
            <a:br>
              <a:rPr lang="en-US" sz="2200" dirty="0" smtClean="0">
                <a:latin typeface="Helvetica" pitchFamily="34" charset="0"/>
              </a:rPr>
            </a:br>
            <a:r>
              <a:rPr lang="en-US" sz="2200" dirty="0" smtClean="0">
                <a:latin typeface="Helvetica" pitchFamily="34" charset="0"/>
              </a:rPr>
              <a:t>from using extra labour on the project</a:t>
            </a:r>
          </a:p>
          <a:p>
            <a:pPr marL="360000" indent="-360000">
              <a:spcBef>
                <a:spcPts val="600"/>
              </a:spcBef>
              <a:spcAft>
                <a:spcPts val="1200"/>
              </a:spcAft>
            </a:pPr>
            <a:r>
              <a:rPr lang="en-US" sz="2200" dirty="0" smtClean="0">
                <a:latin typeface="Helvetica" pitchFamily="34" charset="0"/>
              </a:rPr>
              <a:t>Stressing downsides of not providing </a:t>
            </a:r>
            <a:br>
              <a:rPr lang="en-US" sz="2200" dirty="0" smtClean="0">
                <a:latin typeface="Helvetica" pitchFamily="34" charset="0"/>
              </a:rPr>
            </a:br>
            <a:r>
              <a:rPr lang="en-US" sz="2200" dirty="0" smtClean="0">
                <a:latin typeface="Helvetica" pitchFamily="34" charset="0"/>
              </a:rPr>
              <a:t>extra staff</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156</a:t>
            </a:fld>
            <a:endParaRPr lang="en-US" dirty="0"/>
          </a:p>
        </p:txBody>
      </p:sp>
      <p:pic>
        <p:nvPicPr>
          <p:cNvPr id="5" name="Picture 4" descr="shutterstock_92731135.jpg"/>
          <p:cNvPicPr>
            <a:picLocks noChangeAspect="1"/>
          </p:cNvPicPr>
          <p:nvPr/>
        </p:nvPicPr>
        <p:blipFill>
          <a:blip r:embed="rId3" cstate="print"/>
          <a:stretch>
            <a:fillRect/>
          </a:stretch>
        </p:blipFill>
        <p:spPr>
          <a:xfrm>
            <a:off x="6228184" y="3284984"/>
            <a:ext cx="2055927" cy="1790712"/>
          </a:xfrm>
          <a:prstGeom prst="rect">
            <a:avLst/>
          </a:prstGeom>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need for additional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marL="0" indent="0">
              <a:spcBef>
                <a:spcPts val="600"/>
              </a:spcBef>
              <a:spcAft>
                <a:spcPts val="1200"/>
              </a:spcAft>
              <a:buNone/>
            </a:pPr>
            <a:r>
              <a:rPr lang="en-US" sz="2200" dirty="0" smtClean="0">
                <a:latin typeface="Helvetica" pitchFamily="34" charset="0"/>
              </a:rPr>
              <a:t>Options for obtaining more financial resources:</a:t>
            </a:r>
          </a:p>
          <a:p>
            <a:pPr marL="360000" indent="-360000">
              <a:spcBef>
                <a:spcPts val="600"/>
              </a:spcBef>
              <a:spcAft>
                <a:spcPts val="1200"/>
              </a:spcAft>
            </a:pPr>
            <a:r>
              <a:rPr lang="en-US" sz="2200" dirty="0" smtClean="0">
                <a:latin typeface="Helvetica" pitchFamily="34" charset="0"/>
              </a:rPr>
              <a:t>Moving money between budgets</a:t>
            </a:r>
          </a:p>
          <a:p>
            <a:pPr marL="360000" indent="-360000">
              <a:spcBef>
                <a:spcPts val="600"/>
              </a:spcBef>
              <a:spcAft>
                <a:spcPts val="1200"/>
              </a:spcAft>
            </a:pPr>
            <a:r>
              <a:rPr lang="en-US" sz="2200" dirty="0" smtClean="0">
                <a:latin typeface="Helvetica" pitchFamily="34" charset="0"/>
              </a:rPr>
              <a:t>Seeking funding for requirements not identified as part of initial costing process</a:t>
            </a:r>
          </a:p>
          <a:p>
            <a:pPr marL="360000" indent="-360000">
              <a:spcBef>
                <a:spcPts val="600"/>
              </a:spcBef>
              <a:spcAft>
                <a:spcPts val="1200"/>
              </a:spcAft>
            </a:pPr>
            <a:r>
              <a:rPr lang="en-US" sz="2200" dirty="0" smtClean="0">
                <a:latin typeface="Helvetica" pitchFamily="34" charset="0"/>
              </a:rPr>
              <a:t>Seeking reimbursement from client</a:t>
            </a:r>
          </a:p>
          <a:p>
            <a:pPr marL="360000" indent="-360000">
              <a:spcBef>
                <a:spcPts val="600"/>
              </a:spcBef>
              <a:spcAft>
                <a:spcPts val="1200"/>
              </a:spcAft>
            </a:pPr>
            <a:r>
              <a:rPr lang="en-US" sz="2200" dirty="0" smtClean="0">
                <a:latin typeface="Helvetica" pitchFamily="34" charset="0"/>
              </a:rPr>
              <a:t>Ensuring deposits and payments are </a:t>
            </a:r>
            <a:br>
              <a:rPr lang="en-US" sz="2200" dirty="0" smtClean="0">
                <a:latin typeface="Helvetica" pitchFamily="34" charset="0"/>
              </a:rPr>
            </a:br>
            <a:r>
              <a:rPr lang="en-US" sz="2200" dirty="0" smtClean="0">
                <a:latin typeface="Helvetica" pitchFamily="34" charset="0"/>
              </a:rPr>
              <a:t>received</a:t>
            </a:r>
          </a:p>
          <a:p>
            <a:pPr marL="360000" indent="-360000">
              <a:spcBef>
                <a:spcPts val="600"/>
              </a:spcBef>
              <a:spcAft>
                <a:spcPts val="1200"/>
              </a:spcAft>
            </a:pPr>
            <a:r>
              <a:rPr lang="en-US" sz="2200" dirty="0" smtClean="0">
                <a:latin typeface="Helvetica" pitchFamily="34" charset="0"/>
              </a:rPr>
              <a:t>Reducing quality and/or quantity</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157</a:t>
            </a:fld>
            <a:endParaRPr lang="en-US" dirty="0"/>
          </a:p>
        </p:txBody>
      </p:sp>
      <p:pic>
        <p:nvPicPr>
          <p:cNvPr id="5" name="Picture 4" descr="freeimage-2473366.jpg"/>
          <p:cNvPicPr>
            <a:picLocks noChangeAspect="1"/>
          </p:cNvPicPr>
          <p:nvPr/>
        </p:nvPicPr>
        <p:blipFill>
          <a:blip r:embed="rId3" cstate="print"/>
          <a:stretch>
            <a:fillRect/>
          </a:stretch>
        </p:blipFill>
        <p:spPr>
          <a:xfrm>
            <a:off x="6660232" y="4221088"/>
            <a:ext cx="1708497" cy="1138998"/>
          </a:xfrm>
          <a:prstGeom prst="rect">
            <a:avLst/>
          </a:prstGeom>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need for additional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Selling old items</a:t>
            </a:r>
          </a:p>
          <a:p>
            <a:pPr marL="360000" indent="-360000">
              <a:spcBef>
                <a:spcPts val="600"/>
              </a:spcBef>
              <a:spcAft>
                <a:spcPts val="1200"/>
              </a:spcAft>
            </a:pPr>
            <a:r>
              <a:rPr lang="en-US" sz="2200" dirty="0" smtClean="0">
                <a:latin typeface="Helvetica" pitchFamily="34" charset="0"/>
              </a:rPr>
              <a:t>Obtaining lower prices from suppliers</a:t>
            </a:r>
          </a:p>
          <a:p>
            <a:pPr marL="360000" indent="-360000">
              <a:spcBef>
                <a:spcPts val="600"/>
              </a:spcBef>
              <a:spcAft>
                <a:spcPts val="1200"/>
              </a:spcAft>
            </a:pPr>
            <a:r>
              <a:rPr lang="en-US" sz="2200" dirty="0" smtClean="0">
                <a:latin typeface="Helvetica" pitchFamily="34" charset="0"/>
              </a:rPr>
              <a:t>Using a different acquisition option</a:t>
            </a:r>
          </a:p>
          <a:p>
            <a:pPr marL="360000" indent="-360000">
              <a:spcBef>
                <a:spcPts val="600"/>
              </a:spcBef>
              <a:spcAft>
                <a:spcPts val="1200"/>
              </a:spcAft>
            </a:pPr>
            <a:r>
              <a:rPr lang="en-US" sz="2200" dirty="0" smtClean="0">
                <a:latin typeface="Helvetica" pitchFamily="34" charset="0"/>
              </a:rPr>
              <a:t>Sharing the cost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158</a:t>
            </a:fld>
            <a:endParaRPr lang="en-US" dirty="0"/>
          </a:p>
        </p:txBody>
      </p:sp>
      <p:pic>
        <p:nvPicPr>
          <p:cNvPr id="5" name="Picture 4" descr="freeimage-6143550.jpg"/>
          <p:cNvPicPr>
            <a:picLocks noChangeAspect="1"/>
          </p:cNvPicPr>
          <p:nvPr/>
        </p:nvPicPr>
        <p:blipFill>
          <a:blip r:embed="rId3" cstate="print"/>
          <a:stretch>
            <a:fillRect/>
          </a:stretch>
        </p:blipFill>
        <p:spPr>
          <a:xfrm>
            <a:off x="6516216" y="3789040"/>
            <a:ext cx="1883701" cy="1412776"/>
          </a:xfrm>
          <a:prstGeom prst="rect">
            <a:avLst/>
          </a:prstGeom>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need for additional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Options for obtaining more physical resources:</a:t>
            </a:r>
          </a:p>
          <a:p>
            <a:pPr marL="360000" indent="-360000">
              <a:spcBef>
                <a:spcPts val="600"/>
              </a:spcBef>
              <a:spcAft>
                <a:spcPts val="1200"/>
              </a:spcAft>
            </a:pPr>
            <a:r>
              <a:rPr lang="en-US" sz="2200" dirty="0" smtClean="0">
                <a:latin typeface="Helvetica" pitchFamily="34" charset="0"/>
              </a:rPr>
              <a:t>Asking for loan items</a:t>
            </a:r>
          </a:p>
          <a:p>
            <a:pPr marL="360000" indent="-360000">
              <a:spcBef>
                <a:spcPts val="600"/>
              </a:spcBef>
              <a:spcAft>
                <a:spcPts val="1200"/>
              </a:spcAft>
            </a:pPr>
            <a:r>
              <a:rPr lang="en-US" sz="2200" dirty="0" smtClean="0">
                <a:latin typeface="Helvetica" pitchFamily="34" charset="0"/>
              </a:rPr>
              <a:t>Using fewer items</a:t>
            </a:r>
          </a:p>
          <a:p>
            <a:pPr marL="360000" indent="-360000">
              <a:spcBef>
                <a:spcPts val="600"/>
              </a:spcBef>
              <a:spcAft>
                <a:spcPts val="1200"/>
              </a:spcAft>
            </a:pPr>
            <a:r>
              <a:rPr lang="en-US" sz="2200" dirty="0" smtClean="0">
                <a:latin typeface="Helvetica" pitchFamily="34" charset="0"/>
              </a:rPr>
              <a:t>Using lower-quality items</a:t>
            </a:r>
          </a:p>
          <a:p>
            <a:pPr marL="360000" indent="-360000">
              <a:spcBef>
                <a:spcPts val="600"/>
              </a:spcBef>
              <a:spcAft>
                <a:spcPts val="1200"/>
              </a:spcAft>
            </a:pPr>
            <a:r>
              <a:rPr lang="en-US" sz="2200" dirty="0" smtClean="0">
                <a:latin typeface="Helvetica" pitchFamily="34" charset="0"/>
              </a:rPr>
              <a:t>Asking for contributions from your industry </a:t>
            </a:r>
            <a:br>
              <a:rPr lang="en-US" sz="2200" dirty="0" smtClean="0">
                <a:latin typeface="Helvetica" pitchFamily="34" charset="0"/>
              </a:rPr>
            </a:br>
            <a:r>
              <a:rPr lang="en-US" sz="2200" dirty="0" smtClean="0">
                <a:latin typeface="Helvetica" pitchFamily="34" charset="0"/>
              </a:rPr>
              <a:t>network of contact</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159</a:t>
            </a:fld>
            <a:endParaRPr lang="en-US" dirty="0"/>
          </a:p>
        </p:txBody>
      </p:sp>
      <p:pic>
        <p:nvPicPr>
          <p:cNvPr id="5" name="Picture 4" descr="freeimage-2236492.jpg"/>
          <p:cNvPicPr>
            <a:picLocks noChangeAspect="1"/>
          </p:cNvPicPr>
          <p:nvPr/>
        </p:nvPicPr>
        <p:blipFill>
          <a:blip r:embed="rId3" cstate="print"/>
          <a:stretch>
            <a:fillRect/>
          </a:stretch>
        </p:blipFill>
        <p:spPr>
          <a:xfrm>
            <a:off x="6660232" y="3789040"/>
            <a:ext cx="1631980" cy="1223985"/>
          </a:xfrm>
          <a:prstGeom prst="rect">
            <a:avLst/>
          </a:prstGeom>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need for additional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Borrowing from other departments</a:t>
            </a:r>
          </a:p>
          <a:p>
            <a:pPr marL="360000" indent="-360000">
              <a:spcBef>
                <a:spcPts val="600"/>
              </a:spcBef>
              <a:spcAft>
                <a:spcPts val="1200"/>
              </a:spcAft>
            </a:pPr>
            <a:r>
              <a:rPr lang="en-US" sz="2200" dirty="0" smtClean="0">
                <a:latin typeface="Helvetica" pitchFamily="34" charset="0"/>
              </a:rPr>
              <a:t>Doing ‘contra’ deals</a:t>
            </a:r>
          </a:p>
          <a:p>
            <a:pPr marL="360000" indent="-360000">
              <a:spcBef>
                <a:spcPts val="600"/>
              </a:spcBef>
              <a:spcAft>
                <a:spcPts val="1200"/>
              </a:spcAft>
            </a:pPr>
            <a:r>
              <a:rPr lang="en-US" sz="2200" dirty="0" smtClean="0">
                <a:latin typeface="Helvetica" pitchFamily="34" charset="0"/>
              </a:rPr>
              <a:t>Asking client to contribute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160</a:t>
            </a:fld>
            <a:endParaRPr lang="en-US" dirty="0"/>
          </a:p>
        </p:txBody>
      </p:sp>
      <p:pic>
        <p:nvPicPr>
          <p:cNvPr id="5" name="Picture 4" descr="MP900442177.JPG"/>
          <p:cNvPicPr>
            <a:picLocks noChangeAspect="1"/>
          </p:cNvPicPr>
          <p:nvPr/>
        </p:nvPicPr>
        <p:blipFill>
          <a:blip r:embed="rId3" cstate="print"/>
          <a:stretch>
            <a:fillRect/>
          </a:stretch>
        </p:blipFill>
        <p:spPr>
          <a:xfrm>
            <a:off x="6516216" y="3429000"/>
            <a:ext cx="1770369" cy="1572859"/>
          </a:xfrm>
          <a:prstGeom prst="rect">
            <a:avLst/>
          </a:prstGeom>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need for additional resources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752528"/>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To obtain more time for the project:</a:t>
            </a:r>
          </a:p>
          <a:p>
            <a:pPr marL="360000" indent="-360000">
              <a:spcBef>
                <a:spcPts val="600"/>
              </a:spcBef>
              <a:spcAft>
                <a:spcPts val="1200"/>
              </a:spcAft>
            </a:pPr>
            <a:r>
              <a:rPr lang="en-US" sz="2200" dirty="0" smtClean="0">
                <a:latin typeface="Helvetica" pitchFamily="34" charset="0"/>
              </a:rPr>
              <a:t>Explain how your time is currently being used – justify any claim for more time</a:t>
            </a:r>
          </a:p>
          <a:p>
            <a:pPr marL="360000" indent="-360000">
              <a:spcBef>
                <a:spcPts val="600"/>
              </a:spcBef>
              <a:spcAft>
                <a:spcPts val="1200"/>
              </a:spcAft>
            </a:pPr>
            <a:r>
              <a:rPr lang="en-US" sz="2200" dirty="0" smtClean="0">
                <a:latin typeface="Helvetica" pitchFamily="34" charset="0"/>
              </a:rPr>
              <a:t>Analyse your current use of your time</a:t>
            </a:r>
          </a:p>
          <a:p>
            <a:pPr marL="360000" indent="-360000">
              <a:spcBef>
                <a:spcPts val="600"/>
              </a:spcBef>
              <a:spcAft>
                <a:spcPts val="1200"/>
              </a:spcAft>
            </a:pPr>
            <a:r>
              <a:rPr lang="en-US" sz="2200" dirty="0" smtClean="0">
                <a:latin typeface="Helvetica" pitchFamily="34" charset="0"/>
              </a:rPr>
              <a:t>Delegate more</a:t>
            </a:r>
          </a:p>
          <a:p>
            <a:pPr marL="360000" indent="-360000">
              <a:spcBef>
                <a:spcPts val="600"/>
              </a:spcBef>
              <a:spcAft>
                <a:spcPts val="1200"/>
              </a:spcAft>
            </a:pPr>
            <a:r>
              <a:rPr lang="en-US" sz="2200" dirty="0" smtClean="0">
                <a:latin typeface="Helvetica" pitchFamily="34" charset="0"/>
              </a:rPr>
              <a:t>Defer non-essential work</a:t>
            </a:r>
          </a:p>
          <a:p>
            <a:pPr marL="360000" indent="-360000">
              <a:spcBef>
                <a:spcPts val="600"/>
              </a:spcBef>
              <a:spcAft>
                <a:spcPts val="1200"/>
              </a:spcAft>
            </a:pPr>
            <a:r>
              <a:rPr lang="en-US" sz="2200" dirty="0" smtClean="0">
                <a:latin typeface="Helvetica" pitchFamily="34" charset="0"/>
              </a:rPr>
              <a:t>Coming in earlier and going home later</a:t>
            </a:r>
          </a:p>
          <a:p>
            <a:pPr marL="360000" indent="-360000">
              <a:spcBef>
                <a:spcPts val="600"/>
              </a:spcBef>
              <a:spcAft>
                <a:spcPts val="1200"/>
              </a:spcAft>
            </a:pPr>
            <a:r>
              <a:rPr lang="en-US" sz="2200" dirty="0" smtClean="0">
                <a:latin typeface="Helvetica" pitchFamily="34" charset="0"/>
              </a:rPr>
              <a:t>Working smarter</a:t>
            </a:r>
          </a:p>
          <a:p>
            <a:pPr marL="360000" indent="-360000">
              <a:spcBef>
                <a:spcPts val="600"/>
              </a:spcBef>
              <a:spcAft>
                <a:spcPts val="1200"/>
              </a:spcAft>
            </a:pPr>
            <a:r>
              <a:rPr lang="en-US" sz="2200" dirty="0" smtClean="0">
                <a:latin typeface="Helvetica" pitchFamily="34" charset="0"/>
              </a:rPr>
              <a:t>Taking more time to plan what needs to happen – </a:t>
            </a:r>
            <a:br>
              <a:rPr lang="en-US" sz="2200" dirty="0" smtClean="0">
                <a:latin typeface="Helvetica" pitchFamily="34" charset="0"/>
              </a:rPr>
            </a:br>
            <a:r>
              <a:rPr lang="en-US" sz="2200" dirty="0" smtClean="0">
                <a:latin typeface="Helvetica" pitchFamily="34" charset="0"/>
              </a:rPr>
              <a:t>better planning usually results in better outcomes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161</a:t>
            </a:fld>
            <a:endParaRPr lang="en-US" dirty="0"/>
          </a:p>
        </p:txBody>
      </p:sp>
      <p:pic>
        <p:nvPicPr>
          <p:cNvPr id="5" name="Picture 4" descr="MP900442211.JPG"/>
          <p:cNvPicPr>
            <a:picLocks noChangeAspect="1"/>
          </p:cNvPicPr>
          <p:nvPr/>
        </p:nvPicPr>
        <p:blipFill>
          <a:blip r:embed="rId3" cstate="print"/>
          <a:stretch>
            <a:fillRect/>
          </a:stretch>
        </p:blipFill>
        <p:spPr>
          <a:xfrm>
            <a:off x="7092280" y="3212976"/>
            <a:ext cx="1325893" cy="1988840"/>
          </a:xfrm>
          <a:prstGeom prst="rect">
            <a:avLst/>
          </a:prstGeom>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Monitor budget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632848" cy="4886003"/>
          </a:xfrm>
        </p:spPr>
        <p:txBody>
          <a:bodyPr>
            <a:normAutofit/>
          </a:bodyPr>
          <a:lstStyle/>
          <a:p>
            <a:pPr marL="0" indent="0">
              <a:spcBef>
                <a:spcPts val="600"/>
              </a:spcBef>
              <a:spcAft>
                <a:spcPts val="1200"/>
              </a:spcAft>
              <a:buNone/>
            </a:pPr>
            <a:r>
              <a:rPr lang="en-US" sz="2200" dirty="0" smtClean="0">
                <a:latin typeface="Helvetica" pitchFamily="34" charset="0"/>
              </a:rPr>
              <a:t>Possible guidelines  relating to budget monitoring:</a:t>
            </a:r>
          </a:p>
          <a:p>
            <a:pPr marL="360000" indent="-360000">
              <a:spcBef>
                <a:spcPts val="600"/>
              </a:spcBef>
              <a:spcAft>
                <a:spcPts val="1200"/>
              </a:spcAft>
            </a:pPr>
            <a:r>
              <a:rPr lang="en-US" sz="2200" dirty="0" smtClean="0">
                <a:latin typeface="Helvetica" pitchFamily="34" charset="0"/>
              </a:rPr>
              <a:t>Budgets format</a:t>
            </a:r>
          </a:p>
          <a:p>
            <a:pPr marL="360000" indent="-360000">
              <a:spcBef>
                <a:spcPts val="600"/>
              </a:spcBef>
              <a:spcAft>
                <a:spcPts val="1200"/>
              </a:spcAft>
            </a:pPr>
            <a:r>
              <a:rPr lang="en-US" sz="2200" dirty="0" smtClean="0">
                <a:latin typeface="Helvetica" pitchFamily="34" charset="0"/>
              </a:rPr>
              <a:t>Training required</a:t>
            </a:r>
          </a:p>
          <a:p>
            <a:pPr marL="360000" indent="-360000">
              <a:spcBef>
                <a:spcPts val="600"/>
              </a:spcBef>
              <a:spcAft>
                <a:spcPts val="1200"/>
              </a:spcAft>
            </a:pPr>
            <a:r>
              <a:rPr lang="en-US" sz="2200" dirty="0" smtClean="0">
                <a:latin typeface="Helvetica" pitchFamily="34" charset="0"/>
              </a:rPr>
              <a:t>Identification of budget types</a:t>
            </a:r>
          </a:p>
          <a:p>
            <a:pPr marL="360000" indent="-360000">
              <a:spcBef>
                <a:spcPts val="600"/>
              </a:spcBef>
              <a:spcAft>
                <a:spcPts val="1200"/>
              </a:spcAft>
            </a:pPr>
            <a:r>
              <a:rPr lang="en-US" sz="2200" dirty="0" smtClean="0">
                <a:latin typeface="Helvetica" pitchFamily="34" charset="0"/>
              </a:rPr>
              <a:t>Frequency of monitoring</a:t>
            </a:r>
          </a:p>
          <a:p>
            <a:pPr marL="360000" indent="-360000">
              <a:spcBef>
                <a:spcPts val="600"/>
              </a:spcBef>
              <a:spcAft>
                <a:spcPts val="1200"/>
              </a:spcAft>
            </a:pPr>
            <a:r>
              <a:rPr lang="en-US" sz="2200" dirty="0" smtClean="0">
                <a:latin typeface="Helvetica" pitchFamily="34" charset="0"/>
              </a:rPr>
              <a:t>Supporting documentation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162</a:t>
            </a:fld>
            <a:endParaRPr lang="en-US" dirty="0"/>
          </a:p>
        </p:txBody>
      </p:sp>
      <p:pic>
        <p:nvPicPr>
          <p:cNvPr id="5" name="Picture 4" descr="Calculator 1.jpg"/>
          <p:cNvPicPr>
            <a:picLocks noChangeAspect="1"/>
          </p:cNvPicPr>
          <p:nvPr/>
        </p:nvPicPr>
        <p:blipFill>
          <a:blip r:embed="rId3" cstate="print"/>
          <a:stretch>
            <a:fillRect/>
          </a:stretch>
        </p:blipFill>
        <p:spPr>
          <a:xfrm>
            <a:off x="6228184" y="3789040"/>
            <a:ext cx="2184334" cy="1456951"/>
          </a:xfrm>
          <a:prstGeom prst="rect">
            <a:avLst/>
          </a:prstGeom>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Monitor budget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Planning financial management approaches requires you to:</a:t>
            </a:r>
          </a:p>
          <a:p>
            <a:pPr marL="360000" indent="-360000">
              <a:spcBef>
                <a:spcPts val="600"/>
              </a:spcBef>
              <a:spcAft>
                <a:spcPts val="1200"/>
              </a:spcAft>
            </a:pPr>
            <a:r>
              <a:rPr lang="en-US" sz="2200" dirty="0" smtClean="0">
                <a:latin typeface="Helvetica" pitchFamily="34" charset="0"/>
              </a:rPr>
              <a:t>Access budget/financial plans</a:t>
            </a:r>
          </a:p>
          <a:p>
            <a:pPr marL="360000" indent="-360000">
              <a:spcBef>
                <a:spcPts val="600"/>
              </a:spcBef>
              <a:spcAft>
                <a:spcPts val="1200"/>
              </a:spcAft>
            </a:pPr>
            <a:r>
              <a:rPr lang="en-US" sz="2200" dirty="0" smtClean="0">
                <a:latin typeface="Helvetica" pitchFamily="34" charset="0"/>
              </a:rPr>
              <a:t>Clarify budget/financial plans</a:t>
            </a:r>
          </a:p>
          <a:p>
            <a:pPr marL="360000" indent="-360000">
              <a:spcBef>
                <a:spcPts val="600"/>
              </a:spcBef>
              <a:spcAft>
                <a:spcPts val="1200"/>
              </a:spcAft>
            </a:pPr>
            <a:r>
              <a:rPr lang="en-US" sz="2200" dirty="0" smtClean="0">
                <a:latin typeface="Helvetica" pitchFamily="34" charset="0"/>
              </a:rPr>
              <a:t>Negotiate changes to budget/financial plans</a:t>
            </a:r>
          </a:p>
          <a:p>
            <a:pPr marL="360000" indent="-360000">
              <a:spcBef>
                <a:spcPts val="600"/>
              </a:spcBef>
              <a:spcAft>
                <a:spcPts val="1200"/>
              </a:spcAft>
            </a:pPr>
            <a:r>
              <a:rPr lang="en-US" sz="2200" dirty="0" smtClean="0">
                <a:latin typeface="Helvetica" pitchFamily="34" charset="0"/>
              </a:rPr>
              <a:t>Prepare contingency plans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163</a:t>
            </a:fld>
            <a:endParaRPr lang="en-US" dirty="0"/>
          </a:p>
        </p:txBody>
      </p:sp>
      <p:pic>
        <p:nvPicPr>
          <p:cNvPr id="5" name="Picture 4" descr="MP900407205.JPG"/>
          <p:cNvPicPr>
            <a:picLocks noChangeAspect="1"/>
          </p:cNvPicPr>
          <p:nvPr/>
        </p:nvPicPr>
        <p:blipFill>
          <a:blip r:embed="rId3" cstate="print"/>
          <a:stretch>
            <a:fillRect/>
          </a:stretch>
        </p:blipFill>
        <p:spPr>
          <a:xfrm>
            <a:off x="6588224" y="3789040"/>
            <a:ext cx="1789391" cy="1436001"/>
          </a:xfrm>
          <a:prstGeom prst="rect">
            <a:avLst/>
          </a:prstGeom>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Monitor budget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Implementing financial management approaches requires you to :</a:t>
            </a:r>
          </a:p>
          <a:p>
            <a:pPr marL="360000" indent="-360000">
              <a:spcBef>
                <a:spcPts val="600"/>
              </a:spcBef>
              <a:spcAft>
                <a:spcPts val="1200"/>
              </a:spcAft>
            </a:pPr>
            <a:r>
              <a:rPr lang="en-US" sz="2200" dirty="0" smtClean="0">
                <a:latin typeface="Helvetica" pitchFamily="34" charset="0"/>
              </a:rPr>
              <a:t>Disseminate relevant information to team</a:t>
            </a:r>
          </a:p>
          <a:p>
            <a:pPr marL="360000" indent="-360000">
              <a:spcBef>
                <a:spcPts val="600"/>
              </a:spcBef>
              <a:spcAft>
                <a:spcPts val="1200"/>
              </a:spcAft>
            </a:pPr>
            <a:r>
              <a:rPr lang="en-US" sz="2200" dirty="0" smtClean="0">
                <a:latin typeface="Helvetica" pitchFamily="34" charset="0"/>
              </a:rPr>
              <a:t>Provide support to team to enable financial management responsibilities</a:t>
            </a:r>
          </a:p>
          <a:p>
            <a:pPr marL="360000" indent="-360000">
              <a:spcBef>
                <a:spcPts val="600"/>
              </a:spcBef>
              <a:spcAft>
                <a:spcPts val="1200"/>
              </a:spcAft>
            </a:pPr>
            <a:r>
              <a:rPr lang="en-US" sz="2200" dirty="0" smtClean="0">
                <a:latin typeface="Helvetica" pitchFamily="34" charset="0"/>
              </a:rPr>
              <a:t>Determine and access resources and systems </a:t>
            </a:r>
            <a:br>
              <a:rPr lang="en-US" sz="2200" dirty="0" smtClean="0">
                <a:latin typeface="Helvetica" pitchFamily="34" charset="0"/>
              </a:rPr>
            </a:br>
            <a:r>
              <a:rPr lang="en-US" sz="2200" dirty="0" smtClean="0">
                <a:latin typeface="Helvetica" pitchFamily="34" charset="0"/>
              </a:rPr>
              <a:t>to manage finances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164</a:t>
            </a:fld>
            <a:endParaRPr lang="en-US" dirty="0"/>
          </a:p>
        </p:txBody>
      </p:sp>
      <p:pic>
        <p:nvPicPr>
          <p:cNvPr id="5" name="Picture 4" descr="MP900387473.JPG"/>
          <p:cNvPicPr>
            <a:picLocks noChangeAspect="1"/>
          </p:cNvPicPr>
          <p:nvPr/>
        </p:nvPicPr>
        <p:blipFill>
          <a:blip r:embed="rId3" cstate="print"/>
          <a:stretch>
            <a:fillRect/>
          </a:stretch>
        </p:blipFill>
        <p:spPr>
          <a:xfrm>
            <a:off x="7050995" y="3356992"/>
            <a:ext cx="1355910" cy="1900808"/>
          </a:xfrm>
          <a:prstGeom prst="rect">
            <a:avLst/>
          </a:prstGeom>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Monitor budget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Monitoring financial activities against budget requires you to:</a:t>
            </a:r>
          </a:p>
          <a:p>
            <a:pPr marL="360000" indent="-360000">
              <a:spcBef>
                <a:spcPts val="600"/>
              </a:spcBef>
              <a:spcAft>
                <a:spcPts val="1200"/>
              </a:spcAft>
            </a:pPr>
            <a:r>
              <a:rPr lang="en-US" sz="2200" dirty="0" smtClean="0">
                <a:latin typeface="Helvetica" pitchFamily="34" charset="0"/>
              </a:rPr>
              <a:t>Check income and expenses against budget/s</a:t>
            </a:r>
          </a:p>
          <a:p>
            <a:pPr marL="360000" indent="-360000">
              <a:spcBef>
                <a:spcPts val="600"/>
              </a:spcBef>
              <a:spcAft>
                <a:spcPts val="1200"/>
              </a:spcAft>
            </a:pPr>
            <a:r>
              <a:rPr lang="en-US" sz="2200" dirty="0" smtClean="0">
                <a:latin typeface="Helvetica" pitchFamily="34" charset="0"/>
              </a:rPr>
              <a:t>Include financial commitments when monitoring</a:t>
            </a:r>
          </a:p>
          <a:p>
            <a:pPr marL="360000" indent="-360000">
              <a:spcBef>
                <a:spcPts val="600"/>
              </a:spcBef>
              <a:spcAft>
                <a:spcPts val="1200"/>
              </a:spcAft>
            </a:pPr>
            <a:r>
              <a:rPr lang="en-US" sz="2200" dirty="0" smtClean="0">
                <a:latin typeface="Helvetica" pitchFamily="34" charset="0"/>
              </a:rPr>
              <a:t>Identify deviations</a:t>
            </a:r>
          </a:p>
          <a:p>
            <a:pPr marL="360000" indent="-360000">
              <a:spcBef>
                <a:spcPts val="600"/>
              </a:spcBef>
              <a:spcAft>
                <a:spcPts val="1200"/>
              </a:spcAft>
            </a:pPr>
            <a:r>
              <a:rPr lang="en-US" sz="2200" dirty="0" smtClean="0">
                <a:latin typeface="Helvetica" pitchFamily="34" charset="0"/>
              </a:rPr>
              <a:t>Investigate deviations</a:t>
            </a:r>
          </a:p>
          <a:p>
            <a:pPr marL="360000" indent="-360000">
              <a:spcBef>
                <a:spcPts val="600"/>
              </a:spcBef>
              <a:spcAft>
                <a:spcPts val="1200"/>
              </a:spcAft>
            </a:pPr>
            <a:r>
              <a:rPr lang="en-US" sz="2200" dirty="0" smtClean="0">
                <a:latin typeface="Helvetica" pitchFamily="34" charset="0"/>
              </a:rPr>
              <a:t>Advise relevant persons of budget </a:t>
            </a:r>
            <a:br>
              <a:rPr lang="en-US" sz="2200" dirty="0" smtClean="0">
                <a:latin typeface="Helvetica" pitchFamily="34" charset="0"/>
              </a:rPr>
            </a:br>
            <a:r>
              <a:rPr lang="en-US" sz="2200" dirty="0" smtClean="0">
                <a:latin typeface="Helvetica" pitchFamily="34" charset="0"/>
              </a:rPr>
              <a:t>status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165</a:t>
            </a:fld>
            <a:endParaRPr lang="en-US" dirty="0"/>
          </a:p>
        </p:txBody>
      </p:sp>
      <p:pic>
        <p:nvPicPr>
          <p:cNvPr id="5" name="Picture 4" descr="Filing.jpg"/>
          <p:cNvPicPr>
            <a:picLocks noChangeAspect="1"/>
          </p:cNvPicPr>
          <p:nvPr/>
        </p:nvPicPr>
        <p:blipFill>
          <a:blip r:embed="rId3" cstate="print"/>
          <a:stretch>
            <a:fillRect/>
          </a:stretch>
        </p:blipFill>
        <p:spPr>
          <a:xfrm>
            <a:off x="6444208" y="3933056"/>
            <a:ext cx="1990385" cy="1320679"/>
          </a:xfrm>
          <a:prstGeom prst="rect">
            <a:avLst/>
          </a:prstGeom>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Monitor budget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Identifying and evaluating options for improved budget performance requires you to:</a:t>
            </a:r>
          </a:p>
          <a:p>
            <a:pPr marL="360000" indent="-360000">
              <a:spcBef>
                <a:spcPts val="600"/>
              </a:spcBef>
              <a:spcAft>
                <a:spcPts val="1200"/>
              </a:spcAft>
            </a:pPr>
            <a:r>
              <a:rPr lang="en-US" sz="2200" dirty="0" smtClean="0">
                <a:latin typeface="Helvetica" pitchFamily="34" charset="0"/>
              </a:rPr>
              <a:t>Assess costs to identify areas for improvement</a:t>
            </a:r>
          </a:p>
          <a:p>
            <a:pPr marL="360000" indent="-360000">
              <a:spcBef>
                <a:spcPts val="600"/>
              </a:spcBef>
              <a:spcAft>
                <a:spcPts val="1200"/>
              </a:spcAft>
            </a:pPr>
            <a:r>
              <a:rPr lang="en-US" sz="2200" dirty="0" smtClean="0">
                <a:latin typeface="Helvetica" pitchFamily="34" charset="0"/>
              </a:rPr>
              <a:t>Discuss issues with stakeholders</a:t>
            </a:r>
          </a:p>
          <a:p>
            <a:pPr marL="360000" indent="-360000">
              <a:spcBef>
                <a:spcPts val="600"/>
              </a:spcBef>
              <a:spcAft>
                <a:spcPts val="1200"/>
              </a:spcAft>
            </a:pPr>
            <a:r>
              <a:rPr lang="en-US" sz="2200" dirty="0" smtClean="0">
                <a:latin typeface="Helvetica" pitchFamily="34" charset="0"/>
              </a:rPr>
              <a:t>Undertake necessary research</a:t>
            </a:r>
          </a:p>
          <a:p>
            <a:pPr marL="360000" indent="-360000">
              <a:spcBef>
                <a:spcPts val="600"/>
              </a:spcBef>
              <a:spcAft>
                <a:spcPts val="1200"/>
              </a:spcAft>
            </a:pPr>
            <a:r>
              <a:rPr lang="en-US" sz="2200" dirty="0" smtClean="0">
                <a:latin typeface="Helvetica" pitchFamily="34" charset="0"/>
              </a:rPr>
              <a:t>Define and communicate benefits and </a:t>
            </a:r>
            <a:br>
              <a:rPr lang="en-US" sz="2200" dirty="0" smtClean="0">
                <a:latin typeface="Helvetica" pitchFamily="34" charset="0"/>
              </a:rPr>
            </a:br>
            <a:r>
              <a:rPr lang="en-US" sz="2200" dirty="0" smtClean="0">
                <a:latin typeface="Helvetica" pitchFamily="34" charset="0"/>
              </a:rPr>
              <a:t>drawbacks of new approaches</a:t>
            </a:r>
          </a:p>
          <a:p>
            <a:pPr marL="360000" indent="-360000">
              <a:spcBef>
                <a:spcPts val="600"/>
              </a:spcBef>
              <a:spcAft>
                <a:spcPts val="1200"/>
              </a:spcAft>
            </a:pPr>
            <a:r>
              <a:rPr lang="en-US" sz="2200" dirty="0" smtClean="0">
                <a:latin typeface="Helvetica" pitchFamily="34" charset="0"/>
              </a:rPr>
              <a:t>Factor in impact on customers</a:t>
            </a:r>
          </a:p>
          <a:p>
            <a:pPr marL="360000" indent="-360000">
              <a:spcBef>
                <a:spcPts val="600"/>
              </a:spcBef>
              <a:spcAft>
                <a:spcPts val="1200"/>
              </a:spcAft>
            </a:pPr>
            <a:r>
              <a:rPr lang="en-US" sz="2200" dirty="0" smtClean="0">
                <a:latin typeface="Helvetica" pitchFamily="34" charset="0"/>
              </a:rPr>
              <a:t>Present recommendations to management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166</a:t>
            </a:fld>
            <a:endParaRPr lang="en-US" dirty="0"/>
          </a:p>
        </p:txBody>
      </p:sp>
      <p:pic>
        <p:nvPicPr>
          <p:cNvPr id="5" name="Picture 4" descr="Strategy chart.jpg"/>
          <p:cNvPicPr>
            <a:picLocks noChangeAspect="1"/>
          </p:cNvPicPr>
          <p:nvPr/>
        </p:nvPicPr>
        <p:blipFill>
          <a:blip r:embed="rId3" cstate="print"/>
          <a:stretch>
            <a:fillRect/>
          </a:stretch>
        </p:blipFill>
        <p:spPr>
          <a:xfrm>
            <a:off x="6372200" y="3429000"/>
            <a:ext cx="1884565" cy="1626890"/>
          </a:xfrm>
          <a:prstGeom prst="rect">
            <a:avLst/>
          </a:prstGeom>
        </p:spPr>
      </p:pic>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Provide regular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Reports for projects may be required in:</a:t>
            </a:r>
          </a:p>
          <a:p>
            <a:pPr marL="360000" indent="-360000">
              <a:spcBef>
                <a:spcPts val="600"/>
              </a:spcBef>
              <a:spcAft>
                <a:spcPts val="1200"/>
              </a:spcAft>
            </a:pPr>
            <a:r>
              <a:rPr lang="en-US" sz="2200" dirty="0" smtClean="0">
                <a:latin typeface="Helvetica" pitchFamily="34" charset="0"/>
              </a:rPr>
              <a:t>Verbal form</a:t>
            </a:r>
          </a:p>
          <a:p>
            <a:pPr marL="360000" indent="-360000">
              <a:spcBef>
                <a:spcPts val="600"/>
              </a:spcBef>
              <a:spcAft>
                <a:spcPts val="1200"/>
              </a:spcAft>
            </a:pPr>
            <a:r>
              <a:rPr lang="en-US" sz="2200" dirty="0" smtClean="0">
                <a:latin typeface="Helvetica" pitchFamily="34" charset="0"/>
              </a:rPr>
              <a:t>Written form</a:t>
            </a:r>
          </a:p>
          <a:p>
            <a:pPr marL="360000" indent="-360000">
              <a:spcBef>
                <a:spcPts val="600"/>
              </a:spcBef>
              <a:spcAft>
                <a:spcPts val="1200"/>
              </a:spcAft>
            </a:pPr>
            <a:r>
              <a:rPr lang="en-US" sz="2200" dirty="0" smtClean="0">
                <a:latin typeface="Helvetica" pitchFamily="34" charset="0"/>
              </a:rPr>
              <a:t>Both</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167</a:t>
            </a:fld>
            <a:endParaRPr lang="en-US" dirty="0"/>
          </a:p>
        </p:txBody>
      </p:sp>
      <p:pic>
        <p:nvPicPr>
          <p:cNvPr id="5" name="Picture 4" descr="Documents.jpg"/>
          <p:cNvPicPr>
            <a:picLocks noChangeAspect="1"/>
          </p:cNvPicPr>
          <p:nvPr/>
        </p:nvPicPr>
        <p:blipFill>
          <a:blip r:embed="rId3" cstate="print"/>
          <a:stretch>
            <a:fillRect/>
          </a:stretch>
        </p:blipFill>
        <p:spPr>
          <a:xfrm>
            <a:off x="6156176" y="3717032"/>
            <a:ext cx="2246271" cy="1497514"/>
          </a:xfrm>
          <a:prstGeom prst="rect">
            <a:avLst/>
          </a:prstGeom>
        </p:spPr>
      </p:pic>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Provide regular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dirty="0" smtClean="0">
                <a:latin typeface="Helvetica" pitchFamily="34" charset="0"/>
              </a:rPr>
              <a:t>Report types:</a:t>
            </a:r>
          </a:p>
          <a:p>
            <a:pPr marL="360000" indent="-360000">
              <a:spcBef>
                <a:spcPts val="600"/>
              </a:spcBef>
              <a:spcAft>
                <a:spcPts val="1200"/>
              </a:spcAft>
            </a:pPr>
            <a:r>
              <a:rPr lang="en-US" sz="2200" dirty="0" smtClean="0">
                <a:latin typeface="Helvetica" pitchFamily="34" charset="0"/>
              </a:rPr>
              <a:t>Inception report</a:t>
            </a:r>
          </a:p>
          <a:p>
            <a:pPr marL="360000" indent="-360000">
              <a:spcBef>
                <a:spcPts val="600"/>
              </a:spcBef>
              <a:spcAft>
                <a:spcPts val="1200"/>
              </a:spcAft>
            </a:pPr>
            <a:r>
              <a:rPr lang="en-US" sz="2200" dirty="0" smtClean="0">
                <a:latin typeface="Helvetica" pitchFamily="34" charset="0"/>
              </a:rPr>
              <a:t>Progress reports</a:t>
            </a:r>
          </a:p>
          <a:p>
            <a:pPr marL="360000" indent="-360000">
              <a:spcBef>
                <a:spcPts val="600"/>
              </a:spcBef>
              <a:spcAft>
                <a:spcPts val="1200"/>
              </a:spcAft>
            </a:pPr>
            <a:r>
              <a:rPr lang="en-US" sz="2200" dirty="0" smtClean="0">
                <a:latin typeface="Helvetica" pitchFamily="34" charset="0"/>
              </a:rPr>
              <a:t>Final report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168</a:t>
            </a:fld>
            <a:endParaRPr lang="en-US" dirty="0"/>
          </a:p>
        </p:txBody>
      </p:sp>
      <p:pic>
        <p:nvPicPr>
          <p:cNvPr id="5" name="Picture 4" descr="freeimage-2028031.jpg"/>
          <p:cNvPicPr>
            <a:picLocks noChangeAspect="1"/>
          </p:cNvPicPr>
          <p:nvPr/>
        </p:nvPicPr>
        <p:blipFill>
          <a:blip r:embed="rId3" cstate="print"/>
          <a:srcRect t="12014" b="11100"/>
          <a:stretch>
            <a:fillRect/>
          </a:stretch>
        </p:blipFill>
        <p:spPr>
          <a:xfrm>
            <a:off x="5220072" y="3645024"/>
            <a:ext cx="1560913" cy="1800200"/>
          </a:xfrm>
          <a:prstGeom prst="rect">
            <a:avLst/>
          </a:prstGeom>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Provide regular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Involve others when preparing reports, such as:</a:t>
            </a:r>
          </a:p>
          <a:p>
            <a:pPr marL="360000" indent="-360000">
              <a:spcBef>
                <a:spcPts val="600"/>
              </a:spcBef>
              <a:spcAft>
                <a:spcPts val="1200"/>
              </a:spcAft>
            </a:pPr>
            <a:r>
              <a:rPr lang="en-US" sz="2200" dirty="0" smtClean="0">
                <a:latin typeface="Helvetica" pitchFamily="34" charset="0"/>
              </a:rPr>
              <a:t>Client</a:t>
            </a:r>
          </a:p>
          <a:p>
            <a:pPr marL="360000" indent="-360000">
              <a:spcBef>
                <a:spcPts val="600"/>
              </a:spcBef>
              <a:spcAft>
                <a:spcPts val="1200"/>
              </a:spcAft>
            </a:pPr>
            <a:r>
              <a:rPr lang="en-US" sz="2200" dirty="0" smtClean="0">
                <a:latin typeface="Helvetica" pitchFamily="34" charset="0"/>
              </a:rPr>
              <a:t>Project team</a:t>
            </a:r>
          </a:p>
          <a:p>
            <a:pPr marL="360000" indent="-360000">
              <a:spcBef>
                <a:spcPts val="600"/>
              </a:spcBef>
              <a:spcAft>
                <a:spcPts val="1200"/>
              </a:spcAft>
            </a:pPr>
            <a:r>
              <a:rPr lang="en-US" sz="2200" dirty="0" smtClean="0">
                <a:latin typeface="Helvetica" pitchFamily="34" charset="0"/>
              </a:rPr>
              <a:t>Steering Committee</a:t>
            </a:r>
          </a:p>
          <a:p>
            <a:pPr marL="360000" indent="-360000">
              <a:spcBef>
                <a:spcPts val="600"/>
              </a:spcBef>
              <a:spcAft>
                <a:spcPts val="1200"/>
              </a:spcAft>
            </a:pPr>
            <a:r>
              <a:rPr lang="en-US" sz="2200" dirty="0" smtClean="0">
                <a:latin typeface="Helvetica" pitchFamily="34" charset="0"/>
              </a:rPr>
              <a:t>External providers and contractors</a:t>
            </a:r>
          </a:p>
          <a:p>
            <a:pPr marL="360000" indent="-360000">
              <a:spcBef>
                <a:spcPts val="600"/>
              </a:spcBef>
              <a:spcAft>
                <a:spcPts val="1200"/>
              </a:spcAft>
            </a:pPr>
            <a:r>
              <a:rPr lang="en-US" sz="2200" dirty="0" smtClean="0">
                <a:latin typeface="Helvetica" pitchFamily="34" charset="0"/>
              </a:rPr>
              <a:t>Other stakeholders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169</a:t>
            </a:fld>
            <a:endParaRPr lang="en-US" dirty="0"/>
          </a:p>
        </p:txBody>
      </p:sp>
      <p:pic>
        <p:nvPicPr>
          <p:cNvPr id="5" name="Picture 4" descr="freeimage-6502304.jpg"/>
          <p:cNvPicPr>
            <a:picLocks noChangeAspect="1"/>
          </p:cNvPicPr>
          <p:nvPr/>
        </p:nvPicPr>
        <p:blipFill>
          <a:blip r:embed="rId3" cstate="print"/>
          <a:stretch>
            <a:fillRect/>
          </a:stretch>
        </p:blipFill>
        <p:spPr>
          <a:xfrm>
            <a:off x="6233180" y="3068960"/>
            <a:ext cx="2011836" cy="1988840"/>
          </a:xfrm>
          <a:prstGeom prst="rect">
            <a:avLst/>
          </a:prstGeom>
        </p:spPr>
      </p:pic>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Provide regular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Role of project reports:</a:t>
            </a:r>
          </a:p>
          <a:p>
            <a:pPr marL="360000" indent="-360000">
              <a:spcBef>
                <a:spcPts val="600"/>
              </a:spcBef>
              <a:spcAft>
                <a:spcPts val="1200"/>
              </a:spcAft>
            </a:pPr>
            <a:r>
              <a:rPr lang="en-US" sz="2200" dirty="0" smtClean="0">
                <a:latin typeface="Helvetica" pitchFamily="34" charset="0"/>
              </a:rPr>
              <a:t>Enables communication with stakeholders</a:t>
            </a:r>
          </a:p>
          <a:p>
            <a:pPr marL="360000" indent="-360000">
              <a:spcBef>
                <a:spcPts val="600"/>
              </a:spcBef>
              <a:spcAft>
                <a:spcPts val="1200"/>
              </a:spcAft>
            </a:pPr>
            <a:r>
              <a:rPr lang="en-US" sz="2200" dirty="0" smtClean="0">
                <a:latin typeface="Helvetica" pitchFamily="34" charset="0"/>
              </a:rPr>
              <a:t>Demonstrates openness and due diligence</a:t>
            </a:r>
          </a:p>
          <a:p>
            <a:pPr marL="360000" indent="-360000">
              <a:spcBef>
                <a:spcPts val="600"/>
              </a:spcBef>
              <a:spcAft>
                <a:spcPts val="1200"/>
              </a:spcAft>
            </a:pPr>
            <a:r>
              <a:rPr lang="en-US" sz="2200" dirty="0" smtClean="0">
                <a:latin typeface="Helvetica" pitchFamily="34" charset="0"/>
              </a:rPr>
              <a:t>Complies with mandatory project requirements (where they exist in this regard)</a:t>
            </a:r>
          </a:p>
          <a:p>
            <a:pPr marL="360000" indent="-360000">
              <a:spcBef>
                <a:spcPts val="600"/>
              </a:spcBef>
              <a:spcAft>
                <a:spcPts val="1200"/>
              </a:spcAft>
            </a:pPr>
            <a:r>
              <a:rPr lang="en-US" sz="2200" dirty="0" smtClean="0">
                <a:latin typeface="Helvetica" pitchFamily="34" charset="0"/>
              </a:rPr>
              <a:t>Provides material for future reference</a:t>
            </a:r>
          </a:p>
          <a:p>
            <a:pPr marL="360000" indent="-360000">
              <a:spcBef>
                <a:spcPts val="600"/>
              </a:spcBef>
              <a:spcAft>
                <a:spcPts val="1200"/>
              </a:spcAft>
            </a:pPr>
            <a:r>
              <a:rPr lang="en-US" sz="2200" dirty="0" smtClean="0">
                <a:latin typeface="Helvetica" pitchFamily="34" charset="0"/>
              </a:rPr>
              <a:t>Allows another opportunity for contact with </a:t>
            </a:r>
            <a:br>
              <a:rPr lang="en-US" sz="2200" dirty="0" smtClean="0">
                <a:latin typeface="Helvetica" pitchFamily="34" charset="0"/>
              </a:rPr>
            </a:br>
            <a:r>
              <a:rPr lang="en-US" sz="2200" dirty="0" smtClean="0">
                <a:latin typeface="Helvetica" pitchFamily="34" charset="0"/>
              </a:rPr>
              <a:t>stakeholders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170</a:t>
            </a:fld>
            <a:endParaRPr lang="en-US" dirty="0"/>
          </a:p>
        </p:txBody>
      </p:sp>
      <p:pic>
        <p:nvPicPr>
          <p:cNvPr id="5" name="Picture 4" descr="freeimage-3218677.jpg"/>
          <p:cNvPicPr>
            <a:picLocks noChangeAspect="1"/>
          </p:cNvPicPr>
          <p:nvPr/>
        </p:nvPicPr>
        <p:blipFill>
          <a:blip r:embed="rId3" cstate="print"/>
          <a:stretch>
            <a:fillRect/>
          </a:stretch>
        </p:blipFill>
        <p:spPr>
          <a:xfrm>
            <a:off x="6588224" y="3861048"/>
            <a:ext cx="1787691" cy="1340768"/>
          </a:xfrm>
          <a:prstGeom prst="rect">
            <a:avLst/>
          </a:prstGeom>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Provide regular reports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Reports will address:</a:t>
            </a:r>
          </a:p>
          <a:p>
            <a:pPr marL="360000" indent="-360000">
              <a:spcBef>
                <a:spcPts val="600"/>
              </a:spcBef>
              <a:spcAft>
                <a:spcPts val="1200"/>
              </a:spcAft>
            </a:pPr>
            <a:r>
              <a:rPr lang="en-US" sz="2200" dirty="0" smtClean="0">
                <a:latin typeface="Helvetica" pitchFamily="34" charset="0"/>
              </a:rPr>
              <a:t>Progress or attainment of outcomes</a:t>
            </a:r>
          </a:p>
          <a:p>
            <a:pPr marL="360000" indent="-360000">
              <a:spcBef>
                <a:spcPts val="600"/>
              </a:spcBef>
              <a:spcAft>
                <a:spcPts val="1200"/>
              </a:spcAft>
            </a:pPr>
            <a:r>
              <a:rPr lang="en-US" sz="2200" dirty="0" smtClean="0">
                <a:latin typeface="Helvetica" pitchFamily="34" charset="0"/>
              </a:rPr>
              <a:t>Budget</a:t>
            </a:r>
          </a:p>
          <a:p>
            <a:pPr marL="360000" indent="-360000">
              <a:spcBef>
                <a:spcPts val="600"/>
              </a:spcBef>
              <a:spcAft>
                <a:spcPts val="1200"/>
              </a:spcAft>
            </a:pPr>
            <a:r>
              <a:rPr lang="en-US" sz="2200" dirty="0" smtClean="0">
                <a:latin typeface="Helvetica" pitchFamily="34" charset="0"/>
              </a:rPr>
              <a:t>Input and feedback</a:t>
            </a:r>
          </a:p>
          <a:p>
            <a:pPr marL="360000" indent="-360000">
              <a:spcBef>
                <a:spcPts val="600"/>
              </a:spcBef>
              <a:spcAft>
                <a:spcPts val="1200"/>
              </a:spcAft>
            </a:pPr>
            <a:r>
              <a:rPr lang="en-US" sz="2200" dirty="0" smtClean="0">
                <a:latin typeface="Helvetica" pitchFamily="34" charset="0"/>
              </a:rPr>
              <a:t>Issues arising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171</a:t>
            </a:fld>
            <a:endParaRPr lang="en-US" dirty="0"/>
          </a:p>
        </p:txBody>
      </p:sp>
      <p:pic>
        <p:nvPicPr>
          <p:cNvPr id="5" name="Picture 4" descr="Filing1.jpg"/>
          <p:cNvPicPr>
            <a:picLocks noChangeAspect="1"/>
          </p:cNvPicPr>
          <p:nvPr/>
        </p:nvPicPr>
        <p:blipFill>
          <a:blip r:embed="rId3" cstate="print"/>
          <a:stretch>
            <a:fillRect/>
          </a:stretch>
        </p:blipFill>
        <p:spPr>
          <a:xfrm>
            <a:off x="6300192" y="3068960"/>
            <a:ext cx="1986802" cy="1981076"/>
          </a:xfrm>
          <a:prstGeom prst="rect">
            <a:avLst/>
          </a:prstGeom>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Complete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5256584"/>
          </a:xfrm>
        </p:spPr>
        <p:txBody>
          <a:bodyPr>
            <a:normAutofit lnSpcReduction="10000"/>
          </a:bodyPr>
          <a:lstStyle/>
          <a:p>
            <a:pPr marL="0" indent="0">
              <a:spcBef>
                <a:spcPts val="600"/>
              </a:spcBef>
              <a:spcAft>
                <a:spcPts val="1200"/>
              </a:spcAft>
              <a:buNone/>
            </a:pPr>
            <a:r>
              <a:rPr lang="en-US" sz="2200" dirty="0" smtClean="0">
                <a:latin typeface="Helvetica" pitchFamily="34" charset="0"/>
              </a:rPr>
              <a:t>Possible actions to ensure the project is completed on time:</a:t>
            </a:r>
          </a:p>
          <a:p>
            <a:pPr marL="360000" indent="-360000">
              <a:spcBef>
                <a:spcPts val="600"/>
              </a:spcBef>
              <a:spcAft>
                <a:spcPts val="1200"/>
              </a:spcAft>
            </a:pPr>
            <a:r>
              <a:rPr lang="en-US" sz="2200" dirty="0" smtClean="0">
                <a:latin typeface="Helvetica" pitchFamily="34" charset="0"/>
              </a:rPr>
              <a:t>Conduct appropriate start-up activities</a:t>
            </a:r>
          </a:p>
          <a:p>
            <a:pPr marL="360000" indent="-360000">
              <a:spcBef>
                <a:spcPts val="600"/>
              </a:spcBef>
              <a:spcAft>
                <a:spcPts val="1200"/>
              </a:spcAft>
            </a:pPr>
            <a:r>
              <a:rPr lang="en-US" sz="2200" dirty="0" smtClean="0">
                <a:latin typeface="Helvetica" pitchFamily="34" charset="0"/>
              </a:rPr>
              <a:t>Schedule provision of necessary resources</a:t>
            </a:r>
          </a:p>
          <a:p>
            <a:pPr marL="360000" indent="-360000">
              <a:spcBef>
                <a:spcPts val="600"/>
              </a:spcBef>
              <a:spcAft>
                <a:spcPts val="1200"/>
              </a:spcAft>
            </a:pPr>
            <a:r>
              <a:rPr lang="en-US" sz="2200" dirty="0" smtClean="0">
                <a:latin typeface="Helvetica" pitchFamily="34" charset="0"/>
              </a:rPr>
              <a:t>Management procurement of resources</a:t>
            </a:r>
          </a:p>
          <a:p>
            <a:pPr marL="360000" indent="-360000">
              <a:spcBef>
                <a:spcPts val="600"/>
              </a:spcBef>
              <a:spcAft>
                <a:spcPts val="1200"/>
              </a:spcAft>
            </a:pPr>
            <a:r>
              <a:rPr lang="en-US" sz="2200" dirty="0" smtClean="0">
                <a:latin typeface="Helvetica" pitchFamily="34" charset="0"/>
              </a:rPr>
              <a:t>Check and validate all documentation</a:t>
            </a:r>
          </a:p>
          <a:p>
            <a:pPr marL="360000" indent="-360000">
              <a:spcBef>
                <a:spcPts val="600"/>
              </a:spcBef>
              <a:spcAft>
                <a:spcPts val="1200"/>
              </a:spcAft>
            </a:pPr>
            <a:r>
              <a:rPr lang="en-US" sz="2200" dirty="0" smtClean="0">
                <a:latin typeface="Helvetica" pitchFamily="34" charset="0"/>
              </a:rPr>
              <a:t>Monitor progress against the project management plan</a:t>
            </a:r>
          </a:p>
          <a:p>
            <a:pPr marL="360000" indent="-360000">
              <a:spcBef>
                <a:spcPts val="600"/>
              </a:spcBef>
              <a:spcAft>
                <a:spcPts val="1200"/>
              </a:spcAft>
            </a:pPr>
            <a:r>
              <a:rPr lang="en-US" sz="2200" dirty="0" smtClean="0">
                <a:latin typeface="Helvetica" pitchFamily="34" charset="0"/>
              </a:rPr>
              <a:t>Do more yourself</a:t>
            </a:r>
          </a:p>
          <a:p>
            <a:pPr marL="360000" indent="-360000">
              <a:spcBef>
                <a:spcPts val="600"/>
              </a:spcBef>
              <a:spcAft>
                <a:spcPts val="1200"/>
              </a:spcAft>
            </a:pPr>
            <a:r>
              <a:rPr lang="en-US" sz="2200" dirty="0" smtClean="0">
                <a:latin typeface="Helvetica" pitchFamily="34" charset="0"/>
              </a:rPr>
              <a:t>Ask other to do more</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172</a:t>
            </a:fld>
            <a:endParaRPr lang="en-US" dirty="0"/>
          </a:p>
        </p:txBody>
      </p:sp>
      <p:pic>
        <p:nvPicPr>
          <p:cNvPr id="5" name="Picture 4" descr="review.jpg"/>
          <p:cNvPicPr>
            <a:picLocks noChangeAspect="1"/>
          </p:cNvPicPr>
          <p:nvPr/>
        </p:nvPicPr>
        <p:blipFill>
          <a:blip r:embed="rId3" cstate="print"/>
          <a:stretch>
            <a:fillRect/>
          </a:stretch>
        </p:blipFill>
        <p:spPr>
          <a:xfrm>
            <a:off x="3779912" y="4581128"/>
            <a:ext cx="1481289" cy="1477020"/>
          </a:xfrm>
          <a:prstGeom prst="rect">
            <a:avLst/>
          </a:prstGeom>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a:bodyPr>
          <a:lstStyle/>
          <a:p>
            <a:r>
              <a:rPr lang="en-US" sz="3400" b="1" dirty="0" smtClean="0">
                <a:solidFill>
                  <a:srgbClr val="FF6600"/>
                </a:solidFill>
                <a:latin typeface="Helvetica" pitchFamily="34" charset="0"/>
              </a:rPr>
              <a:t>Complete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24744"/>
            <a:ext cx="7467600" cy="4958011"/>
          </a:xfrm>
        </p:spPr>
        <p:txBody>
          <a:bodyPr>
            <a:normAutofit/>
          </a:bodyPr>
          <a:lstStyle/>
          <a:p>
            <a:pPr marL="360000" indent="-360000">
              <a:spcBef>
                <a:spcPts val="600"/>
              </a:spcBef>
              <a:spcAft>
                <a:spcPts val="1200"/>
              </a:spcAft>
            </a:pPr>
            <a:r>
              <a:rPr lang="en-US" sz="2200" dirty="0" smtClean="0">
                <a:latin typeface="Helvetica" pitchFamily="34" charset="0"/>
              </a:rPr>
              <a:t>Adjust plans as required</a:t>
            </a:r>
          </a:p>
          <a:p>
            <a:pPr marL="360000" indent="-360000">
              <a:spcBef>
                <a:spcPts val="600"/>
              </a:spcBef>
              <a:spcAft>
                <a:spcPts val="1200"/>
              </a:spcAft>
            </a:pPr>
            <a:r>
              <a:rPr lang="en-US" sz="2200" dirty="0" smtClean="0">
                <a:latin typeface="Helvetica" pitchFamily="34" charset="0"/>
              </a:rPr>
              <a:t>Conduct regular meetings with stakeholders</a:t>
            </a:r>
          </a:p>
          <a:p>
            <a:pPr marL="360000" indent="-360000">
              <a:spcBef>
                <a:spcPts val="600"/>
              </a:spcBef>
              <a:spcAft>
                <a:spcPts val="1200"/>
              </a:spcAft>
            </a:pPr>
            <a:r>
              <a:rPr lang="en-US" sz="2200" dirty="0" smtClean="0">
                <a:latin typeface="Helvetica" pitchFamily="34" charset="0"/>
              </a:rPr>
              <a:t>Report on the project</a:t>
            </a:r>
          </a:p>
          <a:p>
            <a:pPr marL="360000" indent="-360000">
              <a:spcBef>
                <a:spcPts val="600"/>
              </a:spcBef>
              <a:spcAft>
                <a:spcPts val="1200"/>
              </a:spcAft>
            </a:pPr>
            <a:r>
              <a:rPr lang="en-US" sz="2200" dirty="0" smtClean="0">
                <a:latin typeface="Helvetica" pitchFamily="34" charset="0"/>
              </a:rPr>
              <a:t>Maintain the project team</a:t>
            </a:r>
          </a:p>
          <a:p>
            <a:pPr marL="360000" indent="-360000">
              <a:spcBef>
                <a:spcPts val="600"/>
              </a:spcBef>
              <a:spcAft>
                <a:spcPts val="1200"/>
              </a:spcAft>
            </a:pPr>
            <a:r>
              <a:rPr lang="en-US" sz="2200" dirty="0" smtClean="0">
                <a:latin typeface="Helvetica" pitchFamily="34" charset="0"/>
              </a:rPr>
              <a:t>Negotiate extensions, if required</a:t>
            </a:r>
          </a:p>
          <a:p>
            <a:pPr marL="360000" indent="-360000">
              <a:spcBef>
                <a:spcPts val="600"/>
              </a:spcBef>
              <a:spcAft>
                <a:spcPts val="1200"/>
              </a:spcAft>
            </a:pPr>
            <a:r>
              <a:rPr lang="en-US" sz="2200" dirty="0" smtClean="0">
                <a:latin typeface="Helvetica" pitchFamily="34" charset="0"/>
              </a:rPr>
              <a:t>Be prepared to change project team roles and responsibilities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173</a:t>
            </a:fld>
            <a:endParaRPr lang="en-US" dirty="0"/>
          </a:p>
        </p:txBody>
      </p:sp>
      <p:pic>
        <p:nvPicPr>
          <p:cNvPr id="5" name="Picture 4" descr="MP900409634.JPG"/>
          <p:cNvPicPr>
            <a:picLocks noChangeAspect="1"/>
          </p:cNvPicPr>
          <p:nvPr/>
        </p:nvPicPr>
        <p:blipFill>
          <a:blip r:embed="rId3" cstate="print"/>
          <a:stretch>
            <a:fillRect/>
          </a:stretch>
        </p:blipFill>
        <p:spPr>
          <a:xfrm>
            <a:off x="6972032" y="3068960"/>
            <a:ext cx="1418433" cy="2132856"/>
          </a:xfrm>
          <a:prstGeom prst="rect">
            <a:avLst/>
          </a:prstGeom>
        </p:spPr>
      </p:pic>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Complete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US" sz="2200" dirty="0" smtClean="0">
                <a:latin typeface="Helvetica" pitchFamily="34" charset="0"/>
              </a:rPr>
              <a:t>Outsource some of the work</a:t>
            </a:r>
          </a:p>
          <a:p>
            <a:pPr marL="360000" indent="-360000">
              <a:spcBef>
                <a:spcPts val="600"/>
              </a:spcBef>
              <a:spcAft>
                <a:spcPts val="1200"/>
              </a:spcAft>
            </a:pPr>
            <a:r>
              <a:rPr lang="en-US" sz="2200" dirty="0" smtClean="0">
                <a:latin typeface="Helvetica" pitchFamily="34" charset="0"/>
              </a:rPr>
              <a:t>Find a way to reduce costs</a:t>
            </a:r>
          </a:p>
          <a:p>
            <a:pPr marL="360000" indent="-360000">
              <a:spcBef>
                <a:spcPts val="600"/>
              </a:spcBef>
              <a:spcAft>
                <a:spcPts val="1200"/>
              </a:spcAft>
            </a:pPr>
            <a:r>
              <a:rPr lang="en-US" sz="2200" dirty="0" smtClean="0">
                <a:latin typeface="Helvetica" pitchFamily="34" charset="0"/>
              </a:rPr>
              <a:t>Seek more money</a:t>
            </a:r>
          </a:p>
          <a:p>
            <a:pPr marL="360000" indent="-360000">
              <a:spcBef>
                <a:spcPts val="600"/>
              </a:spcBef>
              <a:spcAft>
                <a:spcPts val="1200"/>
              </a:spcAft>
            </a:pPr>
            <a:r>
              <a:rPr lang="en-US" sz="2200" dirty="0" smtClean="0">
                <a:latin typeface="Helvetica" pitchFamily="34" charset="0"/>
              </a:rPr>
              <a:t>Look for more efficient methods and practices to </a:t>
            </a:r>
            <a:br>
              <a:rPr lang="en-US" sz="2200" dirty="0" smtClean="0">
                <a:latin typeface="Helvetica" pitchFamily="34" charset="0"/>
              </a:rPr>
            </a:br>
            <a:r>
              <a:rPr lang="en-US" sz="2200" dirty="0" smtClean="0">
                <a:latin typeface="Helvetica" pitchFamily="34" charset="0"/>
              </a:rPr>
              <a:t>complete the work which needs to be done</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174</a:t>
            </a:fld>
            <a:endParaRPr lang="en-US" dirty="0"/>
          </a:p>
        </p:txBody>
      </p:sp>
      <p:pic>
        <p:nvPicPr>
          <p:cNvPr id="5" name="Picture 4" descr="MP900409634.JPG"/>
          <p:cNvPicPr>
            <a:picLocks noChangeAspect="1"/>
          </p:cNvPicPr>
          <p:nvPr/>
        </p:nvPicPr>
        <p:blipFill>
          <a:blip r:embed="rId3" cstate="print"/>
          <a:stretch>
            <a:fillRect/>
          </a:stretch>
        </p:blipFill>
        <p:spPr>
          <a:xfrm>
            <a:off x="7092280" y="3356992"/>
            <a:ext cx="1273713" cy="1915245"/>
          </a:xfrm>
          <a:prstGeom prst="rect">
            <a:avLst/>
          </a:prstGeom>
        </p:spPr>
      </p:pic>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Complete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Where remedial or other action needs to be taken in respect of a project, ‘communication is key’:</a:t>
            </a:r>
          </a:p>
          <a:p>
            <a:pPr marL="360000" indent="-360000">
              <a:spcBef>
                <a:spcPts val="600"/>
              </a:spcBef>
              <a:spcAft>
                <a:spcPts val="1200"/>
              </a:spcAft>
            </a:pPr>
            <a:r>
              <a:rPr lang="en-US" sz="2200" dirty="0" smtClean="0">
                <a:latin typeface="Helvetica" pitchFamily="34" charset="0"/>
              </a:rPr>
              <a:t>Communicate early</a:t>
            </a:r>
          </a:p>
          <a:p>
            <a:pPr marL="360000" indent="-360000">
              <a:spcBef>
                <a:spcPts val="600"/>
              </a:spcBef>
              <a:spcAft>
                <a:spcPts val="1200"/>
              </a:spcAft>
            </a:pPr>
            <a:r>
              <a:rPr lang="en-US" sz="2200" dirty="0" smtClean="0">
                <a:latin typeface="Helvetica" pitchFamily="34" charset="0"/>
              </a:rPr>
              <a:t>Communicate fully</a:t>
            </a:r>
          </a:p>
          <a:p>
            <a:pPr marL="360000" indent="-360000">
              <a:spcBef>
                <a:spcPts val="600"/>
              </a:spcBef>
              <a:spcAft>
                <a:spcPts val="1200"/>
              </a:spcAft>
            </a:pPr>
            <a:r>
              <a:rPr lang="en-US" sz="2200" dirty="0" smtClean="0">
                <a:latin typeface="Helvetica" pitchFamily="34" charset="0"/>
              </a:rPr>
              <a:t>Communicate to all who are involved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175</a:t>
            </a:fld>
            <a:endParaRPr lang="en-US" dirty="0"/>
          </a:p>
        </p:txBody>
      </p:sp>
      <p:pic>
        <p:nvPicPr>
          <p:cNvPr id="5" name="Picture 4" descr="man on the phone.jpg"/>
          <p:cNvPicPr>
            <a:picLocks noChangeAspect="1"/>
          </p:cNvPicPr>
          <p:nvPr/>
        </p:nvPicPr>
        <p:blipFill>
          <a:blip r:embed="rId3" cstate="print"/>
          <a:stretch>
            <a:fillRect/>
          </a:stretch>
        </p:blipFill>
        <p:spPr>
          <a:xfrm>
            <a:off x="7164288" y="3429000"/>
            <a:ext cx="1224136" cy="1834041"/>
          </a:xfrm>
          <a:prstGeom prst="rect">
            <a:avLst/>
          </a:prstGeom>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When administering and monitoring project:</a:t>
            </a:r>
          </a:p>
          <a:p>
            <a:pPr marL="360000" indent="-360000">
              <a:spcBef>
                <a:spcPts val="600"/>
              </a:spcBef>
              <a:spcAft>
                <a:spcPts val="1200"/>
              </a:spcAft>
            </a:pPr>
            <a:r>
              <a:rPr lang="en-AU" sz="2200" dirty="0" smtClean="0">
                <a:latin typeface="Helvetica" pitchFamily="34" charset="0"/>
              </a:rPr>
              <a:t>Make sure all preparation and planning has been completed</a:t>
            </a:r>
          </a:p>
          <a:p>
            <a:pPr marL="360000" indent="-360000">
              <a:spcBef>
                <a:spcPts val="600"/>
              </a:spcBef>
              <a:spcAft>
                <a:spcPts val="1200"/>
              </a:spcAft>
            </a:pPr>
            <a:r>
              <a:rPr lang="en-AU" sz="2200" dirty="0" smtClean="0">
                <a:latin typeface="Helvetica" pitchFamily="34" charset="0"/>
              </a:rPr>
              <a:t>Verify you have authorisation to proceed</a:t>
            </a:r>
          </a:p>
          <a:p>
            <a:pPr marL="360000" indent="-360000">
              <a:spcBef>
                <a:spcPts val="600"/>
              </a:spcBef>
              <a:spcAft>
                <a:spcPts val="1200"/>
              </a:spcAft>
            </a:pPr>
            <a:r>
              <a:rPr lang="en-AU" sz="2200" dirty="0" smtClean="0">
                <a:latin typeface="Helvetica" pitchFamily="34" charset="0"/>
              </a:rPr>
              <a:t>Know what the project management plan contains</a:t>
            </a:r>
          </a:p>
          <a:p>
            <a:pPr marL="360000" indent="-360000">
              <a:spcBef>
                <a:spcPts val="600"/>
              </a:spcBef>
              <a:spcAft>
                <a:spcPts val="1200"/>
              </a:spcAft>
            </a:pPr>
            <a:r>
              <a:rPr lang="en-AU" sz="2200" dirty="0" smtClean="0">
                <a:latin typeface="Helvetica" pitchFamily="34" charset="0"/>
              </a:rPr>
              <a:t>Work the plan</a:t>
            </a:r>
          </a:p>
          <a:p>
            <a:pPr marL="360000" indent="-360000">
              <a:spcBef>
                <a:spcPts val="600"/>
              </a:spcBef>
              <a:spcAft>
                <a:spcPts val="1200"/>
              </a:spcAft>
            </a:pPr>
            <a:r>
              <a:rPr lang="en-AU" sz="2200" dirty="0" smtClean="0">
                <a:latin typeface="Helvetica" pitchFamily="34" charset="0"/>
              </a:rPr>
              <a:t>Use a project notebook</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176</a:t>
            </a:fld>
            <a:endParaRPr lang="en-US" dirty="0"/>
          </a:p>
        </p:txBody>
      </p:sp>
      <p:pic>
        <p:nvPicPr>
          <p:cNvPr id="5" name="Picture 4" descr="MC900440428.WMF"/>
          <p:cNvPicPr>
            <a:picLocks noChangeAspect="1"/>
          </p:cNvPicPr>
          <p:nvPr/>
        </p:nvPicPr>
        <p:blipFill>
          <a:blip r:embed="rId3" cstate="print"/>
          <a:stretch>
            <a:fillRect/>
          </a:stretch>
        </p:blipFill>
        <p:spPr>
          <a:xfrm>
            <a:off x="6732240" y="3429000"/>
            <a:ext cx="1531577" cy="1612776"/>
          </a:xfrm>
          <a:prstGeom prst="rect">
            <a:avLst/>
          </a:prstGeom>
        </p:spPr>
      </p:pic>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AU" sz="2200" dirty="0" smtClean="0">
                <a:latin typeface="Helvetica" pitchFamily="34" charset="0"/>
              </a:rPr>
              <a:t>Manage quality</a:t>
            </a:r>
          </a:p>
          <a:p>
            <a:pPr marL="360000" indent="-360000">
              <a:spcBef>
                <a:spcPts val="600"/>
              </a:spcBef>
              <a:spcAft>
                <a:spcPts val="1200"/>
              </a:spcAft>
            </a:pPr>
            <a:r>
              <a:rPr lang="en-AU" sz="2200" dirty="0" smtClean="0">
                <a:latin typeface="Helvetica" pitchFamily="34" charset="0"/>
              </a:rPr>
              <a:t>Provide support and assistance to project team members as required</a:t>
            </a:r>
          </a:p>
          <a:p>
            <a:pPr>
              <a:spcBef>
                <a:spcPts val="600"/>
              </a:spcBef>
              <a:spcAft>
                <a:spcPts val="1200"/>
              </a:spcAft>
            </a:pPr>
            <a:r>
              <a:rPr lang="en-AU" sz="2200" dirty="0" smtClean="0">
                <a:latin typeface="Helvetica" pitchFamily="34" charset="0"/>
              </a:rPr>
              <a:t>Build trust and respect with all stakeholders</a:t>
            </a:r>
          </a:p>
          <a:p>
            <a:pPr>
              <a:spcBef>
                <a:spcPts val="600"/>
              </a:spcBef>
              <a:spcAft>
                <a:spcPts val="1200"/>
              </a:spcAft>
            </a:pPr>
            <a:r>
              <a:rPr lang="en-AU" sz="2200" dirty="0" smtClean="0">
                <a:latin typeface="Helvetica" pitchFamily="34" charset="0"/>
              </a:rPr>
              <a:t>Assess and review the project at regular points</a:t>
            </a:r>
          </a:p>
          <a:p>
            <a:pPr>
              <a:spcBef>
                <a:spcPts val="600"/>
              </a:spcBef>
              <a:spcAft>
                <a:spcPts val="1200"/>
              </a:spcAft>
            </a:pPr>
            <a:r>
              <a:rPr lang="en-AU" sz="2200" dirty="0" smtClean="0">
                <a:latin typeface="Helvetica" pitchFamily="34" charset="0"/>
              </a:rPr>
              <a:t>Be alert to the potential for the project to </a:t>
            </a:r>
            <a:br>
              <a:rPr lang="en-AU" sz="2200" dirty="0" smtClean="0">
                <a:latin typeface="Helvetica" pitchFamily="34" charset="0"/>
              </a:rPr>
            </a:br>
            <a:r>
              <a:rPr lang="en-AU" sz="2200" dirty="0" smtClean="0">
                <a:latin typeface="Helvetica" pitchFamily="34" charset="0"/>
              </a:rPr>
              <a:t>require additional human, physical and </a:t>
            </a:r>
            <a:br>
              <a:rPr lang="en-AU" sz="2200" dirty="0" smtClean="0">
                <a:latin typeface="Helvetica" pitchFamily="34" charset="0"/>
              </a:rPr>
            </a:br>
            <a:r>
              <a:rPr lang="en-AU" sz="2200" dirty="0" smtClean="0">
                <a:latin typeface="Helvetica" pitchFamily="34" charset="0"/>
              </a:rPr>
              <a:t>financial resources as well as time</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177</a:t>
            </a:fld>
            <a:endParaRPr lang="en-US" dirty="0"/>
          </a:p>
        </p:txBody>
      </p:sp>
      <p:pic>
        <p:nvPicPr>
          <p:cNvPr id="5" name="Picture 4" descr="MC900440428.WMF"/>
          <p:cNvPicPr>
            <a:picLocks noChangeAspect="1"/>
          </p:cNvPicPr>
          <p:nvPr/>
        </p:nvPicPr>
        <p:blipFill>
          <a:blip r:embed="rId3" cstate="print"/>
          <a:stretch>
            <a:fillRect/>
          </a:stretch>
        </p:blipFill>
        <p:spPr>
          <a:xfrm>
            <a:off x="6732240" y="3429000"/>
            <a:ext cx="1531577" cy="1612776"/>
          </a:xfrm>
          <a:prstGeom prst="rect">
            <a:avLst/>
          </a:prstGeom>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AU" sz="2200" dirty="0" smtClean="0">
                <a:latin typeface="Helvetica" pitchFamily="34" charset="0"/>
              </a:rPr>
              <a:t>Respond promptly to identified need for extra resources</a:t>
            </a:r>
          </a:p>
          <a:p>
            <a:pPr marL="360000" indent="-360000">
              <a:spcBef>
                <a:spcPts val="600"/>
              </a:spcBef>
              <a:spcAft>
                <a:spcPts val="1200"/>
              </a:spcAft>
            </a:pPr>
            <a:r>
              <a:rPr lang="en-AU" sz="2200" dirty="0" smtClean="0">
                <a:latin typeface="Helvetica" pitchFamily="34" charset="0"/>
              </a:rPr>
              <a:t>Monitor the budget and financial activities for the project</a:t>
            </a:r>
          </a:p>
          <a:p>
            <a:pPr marL="360000" indent="-360000">
              <a:spcBef>
                <a:spcPts val="600"/>
              </a:spcBef>
              <a:spcAft>
                <a:spcPts val="1200"/>
              </a:spcAft>
            </a:pPr>
            <a:r>
              <a:rPr lang="en-AU" sz="2200" dirty="0" smtClean="0">
                <a:latin typeface="Helvetica" pitchFamily="34" charset="0"/>
              </a:rPr>
              <a:t>Report in accordance with the requirements of the project management plan</a:t>
            </a:r>
          </a:p>
          <a:p>
            <a:pPr marL="360000" indent="-360000">
              <a:spcBef>
                <a:spcPts val="600"/>
              </a:spcBef>
              <a:spcAft>
                <a:spcPts val="1200"/>
              </a:spcAft>
            </a:pPr>
            <a:r>
              <a:rPr lang="en-AU" sz="2200" dirty="0" smtClean="0">
                <a:latin typeface="Helvetica" pitchFamily="34" charset="0"/>
              </a:rPr>
              <a:t>Take necessary action to complete the project </a:t>
            </a:r>
            <a:br>
              <a:rPr lang="en-AU" sz="2200" dirty="0" smtClean="0">
                <a:latin typeface="Helvetica" pitchFamily="34" charset="0"/>
              </a:rPr>
            </a:br>
            <a:r>
              <a:rPr lang="en-AU" sz="2200" dirty="0" smtClean="0">
                <a:latin typeface="Helvetica" pitchFamily="34" charset="0"/>
              </a:rPr>
              <a:t>on time</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178</a:t>
            </a:fld>
            <a:endParaRPr lang="en-US" dirty="0"/>
          </a:p>
        </p:txBody>
      </p:sp>
      <p:pic>
        <p:nvPicPr>
          <p:cNvPr id="5" name="Picture 4" descr="MC900440428.WMF"/>
          <p:cNvPicPr>
            <a:picLocks noChangeAspect="1"/>
          </p:cNvPicPr>
          <p:nvPr/>
        </p:nvPicPr>
        <p:blipFill>
          <a:blip r:embed="rId3" cstate="print"/>
          <a:stretch>
            <a:fillRect/>
          </a:stretch>
        </p:blipFill>
        <p:spPr>
          <a:xfrm>
            <a:off x="6732240" y="3429000"/>
            <a:ext cx="1531577" cy="1612776"/>
          </a:xfrm>
          <a:prstGeom prst="rect">
            <a:avLst/>
          </a:prstGeom>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Evaluate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Assess project at specified stages, using agreed evaluation methods</a:t>
            </a:r>
          </a:p>
          <a:p>
            <a:pPr marL="360000" indent="-360000">
              <a:spcBef>
                <a:spcPts val="600"/>
              </a:spcBef>
              <a:spcAft>
                <a:spcPts val="1200"/>
              </a:spcAft>
            </a:pPr>
            <a:r>
              <a:rPr lang="en-US" sz="2200" dirty="0" smtClean="0">
                <a:latin typeface="Helvetica" pitchFamily="34" charset="0"/>
              </a:rPr>
              <a:t>Take account of agreed goals and priorities when carrying out a project evaluation</a:t>
            </a:r>
          </a:p>
          <a:p>
            <a:pPr marL="360000" indent="-360000">
              <a:spcBef>
                <a:spcPts val="600"/>
              </a:spcBef>
              <a:spcAft>
                <a:spcPts val="1200"/>
              </a:spcAft>
            </a:pPr>
            <a:r>
              <a:rPr lang="en-US" sz="2200" dirty="0" smtClean="0">
                <a:latin typeface="Helvetica" pitchFamily="34" charset="0"/>
              </a:rPr>
              <a:t>Involve project team members, appropriate </a:t>
            </a:r>
            <a:br>
              <a:rPr lang="en-US" sz="2200" dirty="0" smtClean="0">
                <a:latin typeface="Helvetica" pitchFamily="34" charset="0"/>
              </a:rPr>
            </a:br>
            <a:r>
              <a:rPr lang="en-US" sz="2200" dirty="0" smtClean="0">
                <a:latin typeface="Helvetica" pitchFamily="34" charset="0"/>
              </a:rPr>
              <a:t>colleagues and customers in the project </a:t>
            </a:r>
            <a:br>
              <a:rPr lang="en-US" sz="2200" dirty="0" smtClean="0">
                <a:latin typeface="Helvetica" pitchFamily="34" charset="0"/>
              </a:rPr>
            </a:br>
            <a:r>
              <a:rPr lang="en-US" sz="2200" dirty="0" smtClean="0">
                <a:latin typeface="Helvetica" pitchFamily="34" charset="0"/>
              </a:rPr>
              <a:t>evaluation</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179</a:t>
            </a:fld>
            <a:endParaRPr lang="en-US" dirty="0"/>
          </a:p>
        </p:txBody>
      </p:sp>
      <p:pic>
        <p:nvPicPr>
          <p:cNvPr id="5" name="Picture 4" descr="MC900435252.PNG"/>
          <p:cNvPicPr>
            <a:picLocks noChangeAspect="1"/>
          </p:cNvPicPr>
          <p:nvPr/>
        </p:nvPicPr>
        <p:blipFill>
          <a:blip r:embed="rId3" cstate="print"/>
          <a:stretch>
            <a:fillRect/>
          </a:stretch>
        </p:blipFill>
        <p:spPr>
          <a:xfrm>
            <a:off x="6156176" y="3140968"/>
            <a:ext cx="2632720" cy="2632720"/>
          </a:xfrm>
          <a:prstGeom prst="rect">
            <a:avLst/>
          </a:prstGeom>
        </p:spPr>
      </p:pic>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Evaluate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Incorporate evaluation results into ongoing project management</a:t>
            </a:r>
          </a:p>
          <a:p>
            <a:pPr marL="360000" indent="-360000">
              <a:spcBef>
                <a:spcPts val="600"/>
              </a:spcBef>
              <a:spcAft>
                <a:spcPts val="1200"/>
              </a:spcAft>
            </a:pPr>
            <a:r>
              <a:rPr lang="en-US" sz="2200" dirty="0" smtClean="0">
                <a:latin typeface="Helvetica" pitchFamily="34" charset="0"/>
              </a:rPr>
              <a:t>Share information from project evaluation with appropriate colleagues and incorporate information into future planning</a:t>
            </a:r>
          </a:p>
          <a:p>
            <a:pPr marL="360000" indent="-360000">
              <a:spcBef>
                <a:spcPts val="600"/>
              </a:spcBef>
              <a:spcAft>
                <a:spcPts val="1200"/>
              </a:spcAft>
            </a:pPr>
            <a:r>
              <a:rPr lang="en-US" sz="2200" dirty="0" smtClean="0">
                <a:latin typeface="Helvetica" pitchFamily="34" charset="0"/>
              </a:rPr>
              <a:t>Report on planning</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180</a:t>
            </a:fld>
            <a:endParaRPr lang="en-US" dirty="0"/>
          </a:p>
        </p:txBody>
      </p:sp>
      <p:pic>
        <p:nvPicPr>
          <p:cNvPr id="5" name="Picture 4" descr="MC900439348.JPG"/>
          <p:cNvPicPr>
            <a:picLocks noChangeAspect="1"/>
          </p:cNvPicPr>
          <p:nvPr/>
        </p:nvPicPr>
        <p:blipFill>
          <a:blip r:embed="rId3" cstate="print"/>
          <a:srcRect b="19804"/>
          <a:stretch>
            <a:fillRect/>
          </a:stretch>
        </p:blipFill>
        <p:spPr>
          <a:xfrm>
            <a:off x="6660232" y="3717032"/>
            <a:ext cx="1616224" cy="1296144"/>
          </a:xfrm>
          <a:prstGeom prst="rect">
            <a:avLst/>
          </a:prstGeom>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Assess project at specified stages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dirty="0" smtClean="0">
                <a:latin typeface="Helvetica" pitchFamily="34" charset="0"/>
              </a:rPr>
              <a:t>All projects should be assessed:</a:t>
            </a:r>
          </a:p>
          <a:p>
            <a:pPr marL="360000" indent="-360000">
              <a:spcBef>
                <a:spcPts val="600"/>
              </a:spcBef>
              <a:spcAft>
                <a:spcPts val="1200"/>
              </a:spcAft>
            </a:pPr>
            <a:r>
              <a:rPr lang="en-US" sz="2200" dirty="0" smtClean="0">
                <a:latin typeface="Helvetica" pitchFamily="34" charset="0"/>
              </a:rPr>
              <a:t>On an ongoing basis</a:t>
            </a:r>
          </a:p>
          <a:p>
            <a:pPr marL="360000" indent="-360000">
              <a:spcBef>
                <a:spcPts val="600"/>
              </a:spcBef>
              <a:spcAft>
                <a:spcPts val="1200"/>
              </a:spcAft>
            </a:pPr>
            <a:r>
              <a:rPr lang="en-US" sz="2200" dirty="0" smtClean="0">
                <a:latin typeface="Helvetica" pitchFamily="34" charset="0"/>
              </a:rPr>
              <a:t>At the end of the project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181</a:t>
            </a:fld>
            <a:endParaRPr lang="en-US" dirty="0"/>
          </a:p>
        </p:txBody>
      </p:sp>
      <p:pic>
        <p:nvPicPr>
          <p:cNvPr id="5" name="Picture 4" descr="MP900402226.JPG"/>
          <p:cNvPicPr>
            <a:picLocks noChangeAspect="1"/>
          </p:cNvPicPr>
          <p:nvPr/>
        </p:nvPicPr>
        <p:blipFill>
          <a:blip r:embed="rId3" cstate="print"/>
          <a:stretch>
            <a:fillRect/>
          </a:stretch>
        </p:blipFill>
        <p:spPr>
          <a:xfrm>
            <a:off x="7020272" y="3573016"/>
            <a:ext cx="1370854" cy="1709811"/>
          </a:xfrm>
          <a:prstGeom prst="rect">
            <a:avLst/>
          </a:prstGeom>
        </p:spPr>
      </p:pic>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Assess project at specified stages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dirty="0" smtClean="0">
                <a:latin typeface="Helvetica" pitchFamily="34" charset="0"/>
              </a:rPr>
              <a:t>Projects should be assessed by:</a:t>
            </a:r>
          </a:p>
          <a:p>
            <a:pPr marL="360000" indent="-360000">
              <a:spcBef>
                <a:spcPts val="600"/>
              </a:spcBef>
              <a:spcAft>
                <a:spcPts val="1200"/>
              </a:spcAft>
            </a:pPr>
            <a:r>
              <a:rPr lang="en-US" sz="2200" dirty="0" smtClean="0">
                <a:latin typeface="Helvetica" pitchFamily="34" charset="0"/>
              </a:rPr>
              <a:t>You – as the PM</a:t>
            </a:r>
          </a:p>
          <a:p>
            <a:pPr marL="360000" indent="-360000">
              <a:spcBef>
                <a:spcPts val="600"/>
              </a:spcBef>
              <a:spcAft>
                <a:spcPts val="1200"/>
              </a:spcAft>
            </a:pPr>
            <a:r>
              <a:rPr lang="en-US" sz="2200" dirty="0" smtClean="0">
                <a:latin typeface="Helvetica" pitchFamily="34" charset="0"/>
              </a:rPr>
              <a:t>Project team and relevant stakeholders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182</a:t>
            </a:fld>
            <a:endParaRPr lang="en-US" dirty="0"/>
          </a:p>
        </p:txBody>
      </p:sp>
      <p:pic>
        <p:nvPicPr>
          <p:cNvPr id="5" name="Picture 4" descr="freeimage-1470969.jpg"/>
          <p:cNvPicPr>
            <a:picLocks noChangeAspect="1"/>
          </p:cNvPicPr>
          <p:nvPr/>
        </p:nvPicPr>
        <p:blipFill>
          <a:blip r:embed="rId3" cstate="print"/>
          <a:stretch>
            <a:fillRect/>
          </a:stretch>
        </p:blipFill>
        <p:spPr>
          <a:xfrm>
            <a:off x="6732240" y="3501008"/>
            <a:ext cx="1710196" cy="1713186"/>
          </a:xfrm>
          <a:prstGeom prst="rect">
            <a:avLst/>
          </a:prstGeom>
        </p:spPr>
      </p:pic>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Assess project at specified stages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741987"/>
          </a:xfrm>
        </p:spPr>
        <p:txBody>
          <a:bodyPr>
            <a:normAutofit/>
          </a:bodyPr>
          <a:lstStyle/>
          <a:p>
            <a:pPr marL="0" indent="0">
              <a:spcBef>
                <a:spcPts val="600"/>
              </a:spcBef>
              <a:spcAft>
                <a:spcPts val="1200"/>
              </a:spcAft>
              <a:buNone/>
            </a:pPr>
            <a:r>
              <a:rPr lang="en-US" sz="2200" dirty="0" smtClean="0">
                <a:latin typeface="Helvetica" pitchFamily="34" charset="0"/>
              </a:rPr>
              <a:t>Opportunities for ongoing project assessment:</a:t>
            </a:r>
          </a:p>
          <a:p>
            <a:pPr marL="360000" indent="-360000">
              <a:spcBef>
                <a:spcPts val="600"/>
              </a:spcBef>
              <a:spcAft>
                <a:spcPts val="1200"/>
              </a:spcAft>
            </a:pPr>
            <a:r>
              <a:rPr lang="en-US" sz="2200" dirty="0" smtClean="0">
                <a:latin typeface="Helvetica" pitchFamily="34" charset="0"/>
              </a:rPr>
              <a:t>Daily briefing sessions</a:t>
            </a:r>
          </a:p>
          <a:p>
            <a:pPr marL="360000" indent="-360000">
              <a:spcBef>
                <a:spcPts val="600"/>
              </a:spcBef>
              <a:spcAft>
                <a:spcPts val="1200"/>
              </a:spcAft>
            </a:pPr>
            <a:r>
              <a:rPr lang="en-US" sz="2200" dirty="0" smtClean="0">
                <a:latin typeface="Helvetica" pitchFamily="34" charset="0"/>
              </a:rPr>
              <a:t>Daily debriefing sessions</a:t>
            </a:r>
          </a:p>
          <a:p>
            <a:pPr marL="360000" indent="-360000">
              <a:spcBef>
                <a:spcPts val="600"/>
              </a:spcBef>
              <a:spcAft>
                <a:spcPts val="1200"/>
              </a:spcAft>
            </a:pPr>
            <a:r>
              <a:rPr lang="en-US" sz="2200" dirty="0" smtClean="0">
                <a:latin typeface="Helvetica" pitchFamily="34" charset="0"/>
              </a:rPr>
              <a:t>Scheduled project team meetings</a:t>
            </a:r>
          </a:p>
          <a:p>
            <a:pPr marL="360000" indent="-360000">
              <a:spcBef>
                <a:spcPts val="600"/>
              </a:spcBef>
              <a:spcAft>
                <a:spcPts val="1200"/>
              </a:spcAft>
            </a:pPr>
            <a:r>
              <a:rPr lang="en-US" sz="2200" dirty="0" smtClean="0">
                <a:latin typeface="Helvetica" pitchFamily="34" charset="0"/>
              </a:rPr>
              <a:t>Specially convened project review and evaluation meetings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183</a:t>
            </a:fld>
            <a:endParaRPr lang="en-US" dirty="0"/>
          </a:p>
        </p:txBody>
      </p:sp>
      <p:pic>
        <p:nvPicPr>
          <p:cNvPr id="5" name="Picture 4" descr="freeimage-8782054.jpg"/>
          <p:cNvPicPr>
            <a:picLocks noChangeAspect="1"/>
          </p:cNvPicPr>
          <p:nvPr/>
        </p:nvPicPr>
        <p:blipFill>
          <a:blip r:embed="rId3" cstate="print"/>
          <a:stretch>
            <a:fillRect/>
          </a:stretch>
        </p:blipFill>
        <p:spPr>
          <a:xfrm>
            <a:off x="6588224" y="4221088"/>
            <a:ext cx="1802365" cy="1232069"/>
          </a:xfrm>
          <a:prstGeom prst="rect">
            <a:avLst/>
          </a:prstGeom>
        </p:spPr>
      </p:pic>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Assess project at specified stages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US" sz="2200" dirty="0" smtClean="0">
                <a:latin typeface="Helvetica" pitchFamily="34" charset="0"/>
              </a:rPr>
              <a:t>When complaints have been received</a:t>
            </a:r>
          </a:p>
          <a:p>
            <a:pPr marL="360000" indent="-360000">
              <a:spcBef>
                <a:spcPts val="600"/>
              </a:spcBef>
              <a:spcAft>
                <a:spcPts val="1200"/>
              </a:spcAft>
            </a:pPr>
            <a:r>
              <a:rPr lang="en-US" sz="2200" dirty="0" smtClean="0">
                <a:latin typeface="Helvetica" pitchFamily="34" charset="0"/>
              </a:rPr>
              <a:t>When significant problems occur</a:t>
            </a:r>
          </a:p>
          <a:p>
            <a:pPr marL="360000" indent="-360000">
              <a:spcBef>
                <a:spcPts val="600"/>
              </a:spcBef>
              <a:spcAft>
                <a:spcPts val="1200"/>
              </a:spcAft>
            </a:pPr>
            <a:r>
              <a:rPr lang="en-US" sz="2200" dirty="0" smtClean="0">
                <a:latin typeface="Helvetica" pitchFamily="34" charset="0"/>
              </a:rPr>
              <a:t>When key contractors indicate they cannot perform or complete as expected</a:t>
            </a:r>
          </a:p>
          <a:p>
            <a:pPr marL="360000" indent="-360000">
              <a:spcBef>
                <a:spcPts val="600"/>
              </a:spcBef>
              <a:spcAft>
                <a:spcPts val="1200"/>
              </a:spcAft>
            </a:pPr>
            <a:r>
              <a:rPr lang="en-US" sz="2200" dirty="0" smtClean="0">
                <a:latin typeface="Helvetica" pitchFamily="34" charset="0"/>
              </a:rPr>
              <a:t>When client requests changes to the agreed </a:t>
            </a:r>
            <a:br>
              <a:rPr lang="en-US" sz="2200" dirty="0" smtClean="0">
                <a:latin typeface="Helvetica" pitchFamily="34" charset="0"/>
              </a:rPr>
            </a:br>
            <a:r>
              <a:rPr lang="en-US" sz="2200" dirty="0" smtClean="0">
                <a:latin typeface="Helvetica" pitchFamily="34" charset="0"/>
              </a:rPr>
              <a:t>project management plan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184</a:t>
            </a:fld>
            <a:endParaRPr lang="en-US" dirty="0"/>
          </a:p>
        </p:txBody>
      </p:sp>
      <p:pic>
        <p:nvPicPr>
          <p:cNvPr id="5" name="Picture 4" descr="MC900078762.WMF"/>
          <p:cNvPicPr>
            <a:picLocks noChangeAspect="1"/>
          </p:cNvPicPr>
          <p:nvPr/>
        </p:nvPicPr>
        <p:blipFill>
          <a:blip r:embed="rId3" cstate="print"/>
          <a:stretch>
            <a:fillRect/>
          </a:stretch>
        </p:blipFill>
        <p:spPr>
          <a:xfrm>
            <a:off x="6732240" y="3356992"/>
            <a:ext cx="1573862" cy="1817365"/>
          </a:xfrm>
          <a:prstGeom prst="rect">
            <a:avLst/>
          </a:prstGeom>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Assess project at specified stages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dirty="0" smtClean="0">
                <a:latin typeface="Helvetica" pitchFamily="34" charset="0"/>
              </a:rPr>
              <a:t>Evaluation options:</a:t>
            </a:r>
          </a:p>
          <a:p>
            <a:pPr marL="360000" indent="-360000">
              <a:spcBef>
                <a:spcPts val="600"/>
              </a:spcBef>
              <a:spcAft>
                <a:spcPts val="1200"/>
              </a:spcAft>
            </a:pPr>
            <a:r>
              <a:rPr lang="en-US" sz="2200" dirty="0" smtClean="0">
                <a:latin typeface="Helvetica" pitchFamily="34" charset="0"/>
              </a:rPr>
              <a:t>Surveys</a:t>
            </a:r>
          </a:p>
          <a:p>
            <a:pPr marL="360000" indent="-360000">
              <a:spcBef>
                <a:spcPts val="600"/>
              </a:spcBef>
              <a:spcAft>
                <a:spcPts val="1200"/>
              </a:spcAft>
            </a:pPr>
            <a:r>
              <a:rPr lang="en-US" sz="2200" dirty="0" smtClean="0">
                <a:latin typeface="Helvetica" pitchFamily="34" charset="0"/>
              </a:rPr>
              <a:t>Questionnaires</a:t>
            </a:r>
          </a:p>
          <a:p>
            <a:pPr marL="360000" indent="-360000">
              <a:spcBef>
                <a:spcPts val="600"/>
              </a:spcBef>
              <a:spcAft>
                <a:spcPts val="1200"/>
              </a:spcAft>
            </a:pPr>
            <a:r>
              <a:rPr lang="en-US" sz="2200" dirty="0" smtClean="0">
                <a:latin typeface="Helvetica" pitchFamily="34" charset="0"/>
              </a:rPr>
              <a:t>Workplace observation</a:t>
            </a:r>
          </a:p>
          <a:p>
            <a:pPr marL="360000" indent="-360000">
              <a:spcBef>
                <a:spcPts val="600"/>
              </a:spcBef>
              <a:spcAft>
                <a:spcPts val="1200"/>
              </a:spcAft>
            </a:pPr>
            <a:r>
              <a:rPr lang="en-US" sz="2200" dirty="0" smtClean="0">
                <a:latin typeface="Helvetica" pitchFamily="34" charset="0"/>
              </a:rPr>
              <a:t>Piloting</a:t>
            </a:r>
          </a:p>
          <a:p>
            <a:pPr marL="360000" indent="-360000">
              <a:spcBef>
                <a:spcPts val="600"/>
              </a:spcBef>
              <a:spcAft>
                <a:spcPts val="1200"/>
              </a:spcAft>
            </a:pPr>
            <a:r>
              <a:rPr lang="en-US" sz="2200" dirty="0" smtClean="0">
                <a:latin typeface="Helvetica" pitchFamily="34" charset="0"/>
              </a:rPr>
              <a:t>Capturing qualitative and quantitative data</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185</a:t>
            </a:fld>
            <a:endParaRPr lang="en-US" dirty="0"/>
          </a:p>
        </p:txBody>
      </p:sp>
      <p:pic>
        <p:nvPicPr>
          <p:cNvPr id="5" name="Picture 4" descr="1395767_43069089.jpg"/>
          <p:cNvPicPr>
            <a:picLocks noChangeAspect="1"/>
          </p:cNvPicPr>
          <p:nvPr/>
        </p:nvPicPr>
        <p:blipFill>
          <a:blip r:embed="rId3" cstate="print"/>
          <a:stretch>
            <a:fillRect/>
          </a:stretch>
        </p:blipFill>
        <p:spPr>
          <a:xfrm>
            <a:off x="6372200" y="3933056"/>
            <a:ext cx="2087724" cy="1391816"/>
          </a:xfrm>
          <a:prstGeom prst="rect">
            <a:avLst/>
          </a:prstGeom>
        </p:spPr>
      </p:pic>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fontScale="90000"/>
          </a:bodyPr>
          <a:lstStyle/>
          <a:p>
            <a:r>
              <a:rPr lang="en-US" sz="3400" b="1" dirty="0" smtClean="0">
                <a:solidFill>
                  <a:srgbClr val="FF6600"/>
                </a:solidFill>
                <a:latin typeface="Helvetica" pitchFamily="34" charset="0"/>
              </a:rPr>
              <a:t>Consider agreed goals and priorities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112568"/>
          </a:xfrm>
        </p:spPr>
        <p:txBody>
          <a:bodyPr>
            <a:normAutofit/>
          </a:bodyPr>
          <a:lstStyle/>
          <a:p>
            <a:pPr marL="0" indent="0">
              <a:spcBef>
                <a:spcPts val="600"/>
              </a:spcBef>
              <a:spcAft>
                <a:spcPts val="1200"/>
              </a:spcAft>
              <a:buNone/>
            </a:pPr>
            <a:r>
              <a:rPr lang="en-US" sz="2200" dirty="0" smtClean="0">
                <a:latin typeface="Helvetica" pitchFamily="34" charset="0"/>
              </a:rPr>
              <a:t>There must be a specific focus for project assessments and the following applies:</a:t>
            </a:r>
          </a:p>
          <a:p>
            <a:pPr marL="360000" indent="-360000">
              <a:spcBef>
                <a:spcPts val="600"/>
              </a:spcBef>
              <a:spcAft>
                <a:spcPts val="1200"/>
              </a:spcAft>
            </a:pPr>
            <a:r>
              <a:rPr lang="en-US" sz="2200" dirty="0" smtClean="0">
                <a:latin typeface="Helvetica" pitchFamily="34" charset="0"/>
              </a:rPr>
              <a:t>Should be ongoing and final assessment and review</a:t>
            </a:r>
          </a:p>
          <a:p>
            <a:pPr marL="360000" indent="-360000">
              <a:spcBef>
                <a:spcPts val="600"/>
              </a:spcBef>
              <a:spcAft>
                <a:spcPts val="1200"/>
              </a:spcAft>
            </a:pPr>
            <a:r>
              <a:rPr lang="en-US" sz="2200" dirty="0" smtClean="0">
                <a:latin typeface="Helvetica" pitchFamily="34" charset="0"/>
              </a:rPr>
              <a:t>Also known as ‘</a:t>
            </a:r>
            <a:r>
              <a:rPr lang="en-US" sz="2200" i="1" dirty="0" smtClean="0">
                <a:latin typeface="Helvetica" pitchFamily="34" charset="0"/>
              </a:rPr>
              <a:t>post mortem</a:t>
            </a:r>
            <a:r>
              <a:rPr lang="en-US" sz="2200" dirty="0" smtClean="0">
                <a:latin typeface="Helvetica" pitchFamily="34" charset="0"/>
              </a:rPr>
              <a:t>’</a:t>
            </a:r>
          </a:p>
          <a:p>
            <a:pPr marL="360000" indent="-360000">
              <a:spcBef>
                <a:spcPts val="600"/>
              </a:spcBef>
              <a:spcAft>
                <a:spcPts val="1200"/>
              </a:spcAft>
            </a:pPr>
            <a:r>
              <a:rPr lang="en-US" sz="2200" dirty="0" smtClean="0">
                <a:latin typeface="Helvetica" pitchFamily="34" charset="0"/>
              </a:rPr>
              <a:t>Assessment and review must reflect what was agreed in the planning process</a:t>
            </a:r>
          </a:p>
          <a:p>
            <a:pPr marL="360000" indent="-360000">
              <a:spcBef>
                <a:spcPts val="600"/>
              </a:spcBef>
              <a:spcAft>
                <a:spcPts val="1200"/>
              </a:spcAft>
            </a:pPr>
            <a:r>
              <a:rPr lang="en-US" sz="2200" dirty="0" smtClean="0">
                <a:latin typeface="Helvetica" pitchFamily="34" charset="0"/>
              </a:rPr>
              <a:t>Project management plan timelines for </a:t>
            </a:r>
            <a:br>
              <a:rPr lang="en-US" sz="2200" dirty="0" smtClean="0">
                <a:latin typeface="Helvetica" pitchFamily="34" charset="0"/>
              </a:rPr>
            </a:br>
            <a:r>
              <a:rPr lang="en-US" sz="2200" dirty="0" smtClean="0">
                <a:latin typeface="Helvetica" pitchFamily="34" charset="0"/>
              </a:rPr>
              <a:t>assessment and review must be complied </a:t>
            </a:r>
            <a:br>
              <a:rPr lang="en-US" sz="2200" dirty="0" smtClean="0">
                <a:latin typeface="Helvetica" pitchFamily="34" charset="0"/>
              </a:rPr>
            </a:br>
            <a:r>
              <a:rPr lang="en-US" sz="2200" dirty="0" smtClean="0">
                <a:latin typeface="Helvetica" pitchFamily="34" charset="0"/>
              </a:rPr>
              <a:t>with</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186</a:t>
            </a:fld>
            <a:endParaRPr lang="en-US" dirty="0"/>
          </a:p>
        </p:txBody>
      </p:sp>
      <p:pic>
        <p:nvPicPr>
          <p:cNvPr id="5" name="Picture 4" descr="MC900019719.WMF"/>
          <p:cNvPicPr>
            <a:picLocks noChangeAspect="1"/>
          </p:cNvPicPr>
          <p:nvPr/>
        </p:nvPicPr>
        <p:blipFill>
          <a:blip r:embed="rId3" cstate="print"/>
          <a:stretch>
            <a:fillRect/>
          </a:stretch>
        </p:blipFill>
        <p:spPr>
          <a:xfrm>
            <a:off x="6364094" y="4005064"/>
            <a:ext cx="2024330" cy="1182470"/>
          </a:xfrm>
          <a:prstGeom prst="rect">
            <a:avLst/>
          </a:prstGeom>
        </p:spPr>
      </p:pic>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fontScale="90000"/>
          </a:bodyPr>
          <a:lstStyle/>
          <a:p>
            <a:r>
              <a:rPr lang="en-US" sz="3400" b="1" dirty="0" smtClean="0">
                <a:solidFill>
                  <a:srgbClr val="FF6600"/>
                </a:solidFill>
                <a:latin typeface="Helvetica" pitchFamily="34" charset="0"/>
              </a:rPr>
              <a:t>Consider agreed goals and priorities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dirty="0" smtClean="0">
                <a:latin typeface="Helvetica" pitchFamily="34" charset="0"/>
              </a:rPr>
              <a:t>Main reasons to assess/evaluate a project:</a:t>
            </a:r>
          </a:p>
          <a:p>
            <a:pPr marL="360000" indent="-360000">
              <a:spcBef>
                <a:spcPts val="600"/>
              </a:spcBef>
              <a:spcAft>
                <a:spcPts val="1200"/>
              </a:spcAft>
            </a:pPr>
            <a:r>
              <a:rPr lang="en-US" sz="2200" dirty="0" smtClean="0">
                <a:latin typeface="Helvetica" pitchFamily="34" charset="0"/>
              </a:rPr>
              <a:t>Confirm project status</a:t>
            </a:r>
          </a:p>
          <a:p>
            <a:pPr marL="360000" indent="-360000">
              <a:spcBef>
                <a:spcPts val="600"/>
              </a:spcBef>
              <a:spcAft>
                <a:spcPts val="1200"/>
              </a:spcAft>
            </a:pPr>
            <a:r>
              <a:rPr lang="en-US" sz="2200" dirty="0" smtClean="0">
                <a:latin typeface="Helvetica" pitchFamily="34" charset="0"/>
              </a:rPr>
              <a:t>Learn lessons</a:t>
            </a:r>
          </a:p>
          <a:p>
            <a:pPr marL="360000" indent="-360000">
              <a:spcBef>
                <a:spcPts val="600"/>
              </a:spcBef>
              <a:spcAft>
                <a:spcPts val="1200"/>
              </a:spcAft>
            </a:pPr>
            <a:r>
              <a:rPr lang="en-US" sz="2200" dirty="0" smtClean="0">
                <a:latin typeface="Helvetica" pitchFamily="34" charset="0"/>
              </a:rPr>
              <a:t>Review activities, issues and problems</a:t>
            </a:r>
          </a:p>
          <a:p>
            <a:pPr marL="360000" indent="-360000">
              <a:spcBef>
                <a:spcPts val="600"/>
              </a:spcBef>
              <a:spcAft>
                <a:spcPts val="1200"/>
              </a:spcAft>
            </a:pPr>
            <a:r>
              <a:rPr lang="en-US" sz="2200" dirty="0" smtClean="0">
                <a:latin typeface="Helvetica" pitchFamily="34" charset="0"/>
              </a:rPr>
              <a:t>Discharge ‘due diligence’</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187</a:t>
            </a:fld>
            <a:endParaRPr lang="en-US" dirty="0"/>
          </a:p>
        </p:txBody>
      </p:sp>
      <p:pic>
        <p:nvPicPr>
          <p:cNvPr id="5" name="Picture 4" descr="MC900436996.WMF"/>
          <p:cNvPicPr>
            <a:picLocks noChangeAspect="1"/>
          </p:cNvPicPr>
          <p:nvPr/>
        </p:nvPicPr>
        <p:blipFill>
          <a:blip r:embed="rId3" cstate="print"/>
          <a:stretch>
            <a:fillRect/>
          </a:stretch>
        </p:blipFill>
        <p:spPr>
          <a:xfrm>
            <a:off x="6948264" y="3789040"/>
            <a:ext cx="1456688" cy="1459235"/>
          </a:xfrm>
          <a:prstGeom prst="rect">
            <a:avLst/>
          </a:prstGeom>
        </p:spPr>
      </p:pic>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fontScale="90000"/>
          </a:bodyPr>
          <a:lstStyle/>
          <a:p>
            <a:r>
              <a:rPr lang="en-US" sz="3400" b="1" dirty="0" smtClean="0">
                <a:solidFill>
                  <a:srgbClr val="FF6600"/>
                </a:solidFill>
                <a:latin typeface="Helvetica" pitchFamily="34" charset="0"/>
              </a:rPr>
              <a:t>Consider agreed goals and priorities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360000" indent="-360000">
              <a:spcBef>
                <a:spcPts val="600"/>
              </a:spcBef>
              <a:spcAft>
                <a:spcPts val="1200"/>
              </a:spcAft>
            </a:pPr>
            <a:r>
              <a:rPr lang="en-US" sz="2200" dirty="0" smtClean="0">
                <a:latin typeface="Helvetica" pitchFamily="34" charset="0"/>
              </a:rPr>
              <a:t>Determine follow-up action required</a:t>
            </a:r>
          </a:p>
          <a:p>
            <a:pPr marL="360000" indent="-360000">
              <a:spcBef>
                <a:spcPts val="600"/>
              </a:spcBef>
              <a:spcAft>
                <a:spcPts val="1200"/>
              </a:spcAft>
            </a:pPr>
            <a:r>
              <a:rPr lang="en-US" sz="2200" dirty="0" smtClean="0">
                <a:latin typeface="Helvetica" pitchFamily="34" charset="0"/>
              </a:rPr>
              <a:t>Provide feedback to those involved</a:t>
            </a:r>
          </a:p>
          <a:p>
            <a:pPr marL="360000" indent="-360000">
              <a:spcBef>
                <a:spcPts val="600"/>
              </a:spcBef>
              <a:spcAft>
                <a:spcPts val="1200"/>
              </a:spcAft>
            </a:pPr>
            <a:r>
              <a:rPr lang="en-US" sz="2200" dirty="0" smtClean="0">
                <a:latin typeface="Helvetica" pitchFamily="34" charset="0"/>
              </a:rPr>
              <a:t>Identify any negatives of the project</a:t>
            </a:r>
          </a:p>
          <a:p>
            <a:pPr marL="360000" indent="-360000">
              <a:spcBef>
                <a:spcPts val="600"/>
              </a:spcBef>
              <a:spcAft>
                <a:spcPts val="1200"/>
              </a:spcAft>
            </a:pPr>
            <a:r>
              <a:rPr lang="en-US" sz="2200" dirty="0" smtClean="0">
                <a:latin typeface="Helvetica" pitchFamily="34" charset="0"/>
              </a:rPr>
              <a:t>Provide basis for reporting requirements</a:t>
            </a:r>
          </a:p>
          <a:p>
            <a:pPr marL="360000" indent="-360000">
              <a:spcBef>
                <a:spcPts val="600"/>
              </a:spcBef>
              <a:spcAft>
                <a:spcPts val="1200"/>
              </a:spcAft>
            </a:pPr>
            <a:r>
              <a:rPr lang="en-US" sz="2200" dirty="0" smtClean="0">
                <a:latin typeface="Helvetica" pitchFamily="34" charset="0"/>
              </a:rPr>
              <a:t>Formally complete the project management </a:t>
            </a:r>
            <a:br>
              <a:rPr lang="en-US" sz="2200" dirty="0" smtClean="0">
                <a:latin typeface="Helvetica" pitchFamily="34" charset="0"/>
              </a:rPr>
            </a:br>
            <a:r>
              <a:rPr lang="en-US" sz="2200" dirty="0" smtClean="0">
                <a:latin typeface="Helvetica" pitchFamily="34" charset="0"/>
              </a:rPr>
              <a:t>plan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188</a:t>
            </a:fld>
            <a:endParaRPr lang="en-US" dirty="0"/>
          </a:p>
        </p:txBody>
      </p:sp>
      <p:pic>
        <p:nvPicPr>
          <p:cNvPr id="5" name="Picture 4" descr="1132907_52864110.jpg"/>
          <p:cNvPicPr>
            <a:picLocks noChangeAspect="1"/>
          </p:cNvPicPr>
          <p:nvPr/>
        </p:nvPicPr>
        <p:blipFill>
          <a:blip r:embed="rId3" cstate="print"/>
          <a:stretch>
            <a:fillRect/>
          </a:stretch>
        </p:blipFill>
        <p:spPr>
          <a:xfrm>
            <a:off x="6967056" y="3528392"/>
            <a:ext cx="1421368" cy="1772816"/>
          </a:xfrm>
          <a:prstGeom prst="rect">
            <a:avLst/>
          </a:prstGeom>
        </p:spPr>
      </p:pic>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20080"/>
          </a:xfrm>
        </p:spPr>
        <p:txBody>
          <a:bodyPr>
            <a:normAutofit fontScale="90000"/>
          </a:bodyPr>
          <a:lstStyle/>
          <a:p>
            <a:r>
              <a:rPr lang="en-US" sz="3400" b="1" dirty="0" smtClean="0">
                <a:solidFill>
                  <a:srgbClr val="FF6600"/>
                </a:solidFill>
                <a:latin typeface="Helvetica" pitchFamily="34" charset="0"/>
              </a:rPr>
              <a:t>Consider agreed goals and priorities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Topics for the review:</a:t>
            </a:r>
          </a:p>
          <a:p>
            <a:pPr marL="360000" indent="-360000">
              <a:spcBef>
                <a:spcPts val="600"/>
              </a:spcBef>
              <a:spcAft>
                <a:spcPts val="1200"/>
              </a:spcAft>
            </a:pPr>
            <a:r>
              <a:rPr lang="en-US" sz="2200" dirty="0" smtClean="0">
                <a:latin typeface="Helvetica" pitchFamily="34" charset="0"/>
              </a:rPr>
              <a:t>‘Anything’ related to the project</a:t>
            </a:r>
          </a:p>
          <a:p>
            <a:pPr marL="360000" indent="-360000">
              <a:spcBef>
                <a:spcPts val="600"/>
              </a:spcBef>
              <a:spcAft>
                <a:spcPts val="1200"/>
              </a:spcAft>
            </a:pPr>
            <a:r>
              <a:rPr lang="en-US" sz="2200" dirty="0" smtClean="0">
                <a:latin typeface="Helvetica" pitchFamily="34" charset="0"/>
              </a:rPr>
              <a:t>Funding levels and sources</a:t>
            </a:r>
          </a:p>
          <a:p>
            <a:pPr marL="360000" indent="-360000">
              <a:spcBef>
                <a:spcPts val="600"/>
              </a:spcBef>
              <a:spcAft>
                <a:spcPts val="1200"/>
              </a:spcAft>
            </a:pPr>
            <a:r>
              <a:rPr lang="en-US" sz="2200" dirty="0" smtClean="0">
                <a:latin typeface="Helvetica" pitchFamily="34" charset="0"/>
              </a:rPr>
              <a:t>Resources use and allocation</a:t>
            </a:r>
          </a:p>
          <a:p>
            <a:pPr marL="360000" indent="-360000">
              <a:spcBef>
                <a:spcPts val="600"/>
              </a:spcBef>
              <a:spcAft>
                <a:spcPts val="1200"/>
              </a:spcAft>
            </a:pPr>
            <a:r>
              <a:rPr lang="en-US" sz="2200" dirty="0" smtClean="0">
                <a:latin typeface="Helvetica" pitchFamily="34" charset="0"/>
              </a:rPr>
              <a:t>Timing issues</a:t>
            </a:r>
          </a:p>
          <a:p>
            <a:pPr marL="360000" indent="-360000">
              <a:spcBef>
                <a:spcPts val="600"/>
              </a:spcBef>
              <a:spcAft>
                <a:spcPts val="1200"/>
              </a:spcAft>
            </a:pPr>
            <a:r>
              <a:rPr lang="en-US" sz="2200" dirty="0" smtClean="0">
                <a:latin typeface="Helvetica" pitchFamily="34" charset="0"/>
              </a:rPr>
              <a:t>Personnel involved</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189</a:t>
            </a:fld>
            <a:endParaRPr lang="en-US" dirty="0"/>
          </a:p>
        </p:txBody>
      </p:sp>
      <p:pic>
        <p:nvPicPr>
          <p:cNvPr id="5" name="Picture 4" descr="MP900407205.JPG"/>
          <p:cNvPicPr>
            <a:picLocks noChangeAspect="1"/>
          </p:cNvPicPr>
          <p:nvPr/>
        </p:nvPicPr>
        <p:blipFill>
          <a:blip r:embed="rId3" cstate="print"/>
          <a:stretch>
            <a:fillRect/>
          </a:stretch>
        </p:blipFill>
        <p:spPr>
          <a:xfrm>
            <a:off x="6516216" y="3717032"/>
            <a:ext cx="1861399" cy="1493787"/>
          </a:xfrm>
          <a:prstGeom prst="rect">
            <a:avLst/>
          </a:prstGeom>
        </p:spPr>
      </p:pic>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fontScale="90000"/>
          </a:bodyPr>
          <a:lstStyle/>
          <a:p>
            <a:r>
              <a:rPr lang="en-US" sz="3400" b="1" dirty="0" smtClean="0">
                <a:solidFill>
                  <a:srgbClr val="FF6600"/>
                </a:solidFill>
                <a:latin typeface="Helvetica" pitchFamily="34" charset="0"/>
              </a:rPr>
              <a:t>Consider agreed goals and priorities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US" sz="2200" dirty="0" smtClean="0">
                <a:latin typeface="Helvetica" pitchFamily="34" charset="0"/>
              </a:rPr>
              <a:t>Role of stakeholders</a:t>
            </a:r>
          </a:p>
          <a:p>
            <a:pPr marL="360000" indent="-360000">
              <a:spcBef>
                <a:spcPts val="600"/>
              </a:spcBef>
              <a:spcAft>
                <a:spcPts val="1200"/>
              </a:spcAft>
            </a:pPr>
            <a:r>
              <a:rPr lang="en-US" sz="2200" dirty="0" smtClean="0">
                <a:latin typeface="Helvetica" pitchFamily="34" charset="0"/>
              </a:rPr>
              <a:t>Problems encountered</a:t>
            </a:r>
          </a:p>
          <a:p>
            <a:pPr marL="360000" indent="-360000">
              <a:spcBef>
                <a:spcPts val="600"/>
              </a:spcBef>
              <a:spcAft>
                <a:spcPts val="1200"/>
              </a:spcAft>
            </a:pPr>
            <a:r>
              <a:rPr lang="en-US" sz="2200" dirty="0" smtClean="0">
                <a:latin typeface="Helvetica" pitchFamily="34" charset="0"/>
              </a:rPr>
              <a:t>Evaluation against the project management plan</a:t>
            </a:r>
          </a:p>
          <a:p>
            <a:pPr marL="360000" indent="-360000">
              <a:spcBef>
                <a:spcPts val="600"/>
              </a:spcBef>
              <a:spcAft>
                <a:spcPts val="1200"/>
              </a:spcAft>
            </a:pPr>
            <a:r>
              <a:rPr lang="en-US" sz="2200" dirty="0" smtClean="0">
                <a:latin typeface="Helvetica" pitchFamily="34" charset="0"/>
              </a:rPr>
              <a:t>Budget</a:t>
            </a:r>
          </a:p>
          <a:p>
            <a:pPr marL="360000" indent="-360000">
              <a:spcBef>
                <a:spcPts val="600"/>
              </a:spcBef>
              <a:spcAft>
                <a:spcPts val="1200"/>
              </a:spcAft>
            </a:pPr>
            <a:r>
              <a:rPr lang="en-US" sz="2200" dirty="0" smtClean="0">
                <a:latin typeface="Helvetica" pitchFamily="34" charset="0"/>
              </a:rPr>
              <a:t>Lessons learned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190</a:t>
            </a:fld>
            <a:endParaRPr lang="en-US" dirty="0"/>
          </a:p>
        </p:txBody>
      </p:sp>
      <p:pic>
        <p:nvPicPr>
          <p:cNvPr id="5" name="Picture 4" descr="MC900429205.WMF"/>
          <p:cNvPicPr>
            <a:picLocks noChangeAspect="1"/>
          </p:cNvPicPr>
          <p:nvPr/>
        </p:nvPicPr>
        <p:blipFill>
          <a:blip r:embed="rId3" cstate="print"/>
          <a:stretch>
            <a:fillRect/>
          </a:stretch>
        </p:blipFill>
        <p:spPr>
          <a:xfrm>
            <a:off x="6800568" y="3573016"/>
            <a:ext cx="1581709" cy="1609118"/>
          </a:xfrm>
          <a:prstGeom prst="rect">
            <a:avLst/>
          </a:prstGeom>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fontScale="90000"/>
          </a:bodyPr>
          <a:lstStyle/>
          <a:p>
            <a:r>
              <a:rPr lang="en-US" sz="3400" b="1" dirty="0" smtClean="0">
                <a:solidFill>
                  <a:srgbClr val="FF6600"/>
                </a:solidFill>
                <a:latin typeface="Helvetica" pitchFamily="34" charset="0"/>
              </a:rPr>
              <a:t>Consider agreed goals and priorities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To conduct effective project assessment:</a:t>
            </a:r>
          </a:p>
          <a:p>
            <a:pPr marL="360000" indent="-360000">
              <a:spcBef>
                <a:spcPts val="600"/>
              </a:spcBef>
              <a:spcAft>
                <a:spcPts val="1200"/>
              </a:spcAft>
            </a:pPr>
            <a:r>
              <a:rPr lang="en-US" sz="2200" dirty="0" smtClean="0">
                <a:latin typeface="Helvetica" pitchFamily="34" charset="0"/>
              </a:rPr>
              <a:t>Review against criteria</a:t>
            </a:r>
          </a:p>
          <a:p>
            <a:pPr marL="360000" indent="-360000">
              <a:spcBef>
                <a:spcPts val="600"/>
              </a:spcBef>
              <a:spcAft>
                <a:spcPts val="1200"/>
              </a:spcAft>
            </a:pPr>
            <a:r>
              <a:rPr lang="en-US" sz="2200" dirty="0" smtClean="0">
                <a:latin typeface="Helvetica" pitchFamily="34" charset="0"/>
              </a:rPr>
              <a:t>Include others in the process</a:t>
            </a:r>
          </a:p>
          <a:p>
            <a:pPr marL="360000" indent="-360000">
              <a:spcBef>
                <a:spcPts val="600"/>
              </a:spcBef>
              <a:spcAft>
                <a:spcPts val="1200"/>
              </a:spcAft>
            </a:pPr>
            <a:r>
              <a:rPr lang="en-US" sz="2200" dirty="0" smtClean="0">
                <a:latin typeface="Helvetica" pitchFamily="34" charset="0"/>
              </a:rPr>
              <a:t>Schedule review meetings</a:t>
            </a:r>
          </a:p>
          <a:p>
            <a:pPr marL="360000" indent="-360000">
              <a:spcBef>
                <a:spcPts val="600"/>
              </a:spcBef>
              <a:spcAft>
                <a:spcPts val="1200"/>
              </a:spcAft>
            </a:pPr>
            <a:r>
              <a:rPr lang="en-US" sz="2200" dirty="0" smtClean="0">
                <a:latin typeface="Helvetica" pitchFamily="34" charset="0"/>
              </a:rPr>
              <a:t>Forward documents to stakeholders for </a:t>
            </a:r>
            <a:br>
              <a:rPr lang="en-US" sz="2200" dirty="0" smtClean="0">
                <a:latin typeface="Helvetica" pitchFamily="34" charset="0"/>
              </a:rPr>
            </a:br>
            <a:r>
              <a:rPr lang="en-US" sz="2200" dirty="0" smtClean="0">
                <a:latin typeface="Helvetica" pitchFamily="34" charset="0"/>
              </a:rPr>
              <a:t>pre-reading prior to scheduled meetings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191</a:t>
            </a:fld>
            <a:endParaRPr lang="en-US" dirty="0"/>
          </a:p>
        </p:txBody>
      </p:sp>
      <p:pic>
        <p:nvPicPr>
          <p:cNvPr id="5" name="Picture 4" descr="MP900427762.JPG"/>
          <p:cNvPicPr>
            <a:picLocks noChangeAspect="1"/>
          </p:cNvPicPr>
          <p:nvPr/>
        </p:nvPicPr>
        <p:blipFill>
          <a:blip r:embed="rId3" cstate="print"/>
          <a:stretch>
            <a:fillRect/>
          </a:stretch>
        </p:blipFill>
        <p:spPr>
          <a:xfrm>
            <a:off x="6516216" y="3933056"/>
            <a:ext cx="1840900" cy="1350473"/>
          </a:xfrm>
          <a:prstGeom prst="rect">
            <a:avLst/>
          </a:prstGeom>
        </p:spPr>
      </p:pic>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fontScale="90000"/>
          </a:bodyPr>
          <a:lstStyle/>
          <a:p>
            <a:r>
              <a:rPr lang="en-US" sz="3400" b="1" dirty="0" smtClean="0">
                <a:solidFill>
                  <a:srgbClr val="FF6600"/>
                </a:solidFill>
                <a:latin typeface="Helvetica" pitchFamily="34" charset="0"/>
              </a:rPr>
              <a:t>Consider agreed goals and priorities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US" sz="2200" dirty="0" smtClean="0">
                <a:latin typeface="Helvetica" pitchFamily="34" charset="0"/>
              </a:rPr>
              <a:t>Establish standard protocols to facilitate the process</a:t>
            </a:r>
          </a:p>
          <a:p>
            <a:pPr marL="360000" indent="-360000">
              <a:spcBef>
                <a:spcPts val="600"/>
              </a:spcBef>
              <a:spcAft>
                <a:spcPts val="1200"/>
              </a:spcAft>
            </a:pPr>
            <a:r>
              <a:rPr lang="en-US" sz="2200" dirty="0" smtClean="0">
                <a:latin typeface="Helvetica" pitchFamily="34" charset="0"/>
              </a:rPr>
              <a:t>Make sure everyone knows the process is not a witch hunt</a:t>
            </a:r>
          </a:p>
          <a:p>
            <a:pPr marL="360000" indent="-360000">
              <a:spcBef>
                <a:spcPts val="600"/>
              </a:spcBef>
              <a:spcAft>
                <a:spcPts val="1200"/>
              </a:spcAft>
            </a:pPr>
            <a:r>
              <a:rPr lang="en-US" sz="2200" dirty="0" smtClean="0">
                <a:latin typeface="Helvetica" pitchFamily="34" charset="0"/>
              </a:rPr>
              <a:t>Take the review and assessment seriously</a:t>
            </a:r>
          </a:p>
          <a:p>
            <a:pPr marL="360000" indent="-360000">
              <a:spcBef>
                <a:spcPts val="600"/>
              </a:spcBef>
              <a:spcAft>
                <a:spcPts val="1200"/>
              </a:spcAft>
            </a:pPr>
            <a:r>
              <a:rPr lang="en-US" sz="2200" dirty="0" smtClean="0">
                <a:latin typeface="Helvetica" pitchFamily="34" charset="0"/>
              </a:rPr>
              <a:t>Circulate the findings to stakeholders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192</a:t>
            </a:fld>
            <a:endParaRPr lang="en-US" dirty="0"/>
          </a:p>
        </p:txBody>
      </p:sp>
      <p:pic>
        <p:nvPicPr>
          <p:cNvPr id="5" name="Picture 4" descr="Calculator 1.jpg"/>
          <p:cNvPicPr>
            <a:picLocks noChangeAspect="1"/>
          </p:cNvPicPr>
          <p:nvPr/>
        </p:nvPicPr>
        <p:blipFill>
          <a:blip r:embed="rId3" cstate="print"/>
          <a:stretch>
            <a:fillRect/>
          </a:stretch>
        </p:blipFill>
        <p:spPr>
          <a:xfrm>
            <a:off x="6660232" y="4149080"/>
            <a:ext cx="1752504" cy="1168920"/>
          </a:xfrm>
          <a:prstGeom prst="rect">
            <a:avLst/>
          </a:prstGeom>
        </p:spPr>
      </p:pic>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Involve project team members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dirty="0" smtClean="0">
                <a:latin typeface="Helvetica" pitchFamily="34" charset="0"/>
              </a:rPr>
              <a:t>Involvement in the review process for a project:</a:t>
            </a:r>
          </a:p>
          <a:p>
            <a:pPr marL="360000" indent="-360000">
              <a:spcBef>
                <a:spcPts val="600"/>
              </a:spcBef>
              <a:spcAft>
                <a:spcPts val="1200"/>
              </a:spcAft>
            </a:pPr>
            <a:r>
              <a:rPr lang="en-US" sz="2200" dirty="0" smtClean="0">
                <a:latin typeface="Helvetica" pitchFamily="34" charset="0"/>
              </a:rPr>
              <a:t>Some venues will be ‘all inclusive’</a:t>
            </a:r>
          </a:p>
          <a:p>
            <a:pPr marL="360000" indent="-360000">
              <a:spcBef>
                <a:spcPts val="600"/>
              </a:spcBef>
              <a:spcAft>
                <a:spcPts val="1200"/>
              </a:spcAft>
            </a:pPr>
            <a:r>
              <a:rPr lang="en-US" sz="2200" dirty="0" smtClean="0">
                <a:latin typeface="Helvetica" pitchFamily="34" charset="0"/>
              </a:rPr>
              <a:t>Some venues will be more selective about who can participate</a:t>
            </a:r>
          </a:p>
          <a:p>
            <a:pPr marL="360000" indent="-360000">
              <a:spcBef>
                <a:spcPts val="600"/>
              </a:spcBef>
              <a:spcAft>
                <a:spcPts val="1200"/>
              </a:spcAft>
            </a:pPr>
            <a:r>
              <a:rPr lang="en-US" sz="2200" dirty="0" smtClean="0">
                <a:latin typeface="Helvetica" pitchFamily="34" charset="0"/>
              </a:rPr>
              <a:t>Type and scope of the project will be a primary indicator</a:t>
            </a:r>
          </a:p>
          <a:p>
            <a:pPr marL="360000" indent="-360000">
              <a:spcBef>
                <a:spcPts val="600"/>
              </a:spcBef>
              <a:spcAft>
                <a:spcPts val="1200"/>
              </a:spcAft>
            </a:pPr>
            <a:r>
              <a:rPr lang="en-US" sz="2200" dirty="0" smtClean="0">
                <a:latin typeface="Helvetica" pitchFamily="34" charset="0"/>
              </a:rPr>
              <a:t>Management/Steering Committee may </a:t>
            </a:r>
            <a:br>
              <a:rPr lang="en-US" sz="2200" dirty="0" smtClean="0">
                <a:latin typeface="Helvetica" pitchFamily="34" charset="0"/>
              </a:rPr>
            </a:br>
            <a:r>
              <a:rPr lang="en-US" sz="2200" dirty="0" smtClean="0">
                <a:latin typeface="Helvetica" pitchFamily="34" charset="0"/>
              </a:rPr>
              <a:t>direct who is to be involved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193</a:t>
            </a:fld>
            <a:endParaRPr lang="en-US" dirty="0"/>
          </a:p>
        </p:txBody>
      </p:sp>
      <p:pic>
        <p:nvPicPr>
          <p:cNvPr id="5" name="Picture 4" descr="MP900422591.JPG"/>
          <p:cNvPicPr>
            <a:picLocks noChangeAspect="1"/>
          </p:cNvPicPr>
          <p:nvPr/>
        </p:nvPicPr>
        <p:blipFill>
          <a:blip r:embed="rId3" cstate="print"/>
          <a:stretch>
            <a:fillRect/>
          </a:stretch>
        </p:blipFill>
        <p:spPr>
          <a:xfrm>
            <a:off x="6660232" y="4077072"/>
            <a:ext cx="1761021" cy="1174601"/>
          </a:xfrm>
          <a:prstGeom prst="rect">
            <a:avLst/>
          </a:prstGeom>
        </p:spPr>
      </p:pic>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Involve project team members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dirty="0" smtClean="0">
                <a:latin typeface="Helvetica" pitchFamily="34" charset="0"/>
              </a:rPr>
              <a:t>Those who may/could be involved in the evaluation:</a:t>
            </a:r>
          </a:p>
          <a:p>
            <a:pPr marL="360000" indent="-360000">
              <a:spcBef>
                <a:spcPts val="600"/>
              </a:spcBef>
              <a:spcAft>
                <a:spcPts val="1200"/>
              </a:spcAft>
            </a:pPr>
            <a:r>
              <a:rPr lang="en-US" sz="2200" dirty="0" smtClean="0">
                <a:latin typeface="Helvetica" pitchFamily="34" charset="0"/>
              </a:rPr>
              <a:t>Management/Steering Committee</a:t>
            </a:r>
          </a:p>
          <a:p>
            <a:pPr marL="360000" indent="-360000">
              <a:spcBef>
                <a:spcPts val="600"/>
              </a:spcBef>
              <a:spcAft>
                <a:spcPts val="1200"/>
              </a:spcAft>
            </a:pPr>
            <a:r>
              <a:rPr lang="en-US" sz="2200" dirty="0" smtClean="0">
                <a:latin typeface="Helvetica" pitchFamily="34" charset="0"/>
              </a:rPr>
              <a:t>Project team members</a:t>
            </a:r>
          </a:p>
          <a:p>
            <a:pPr marL="360000" indent="-360000">
              <a:spcBef>
                <a:spcPts val="600"/>
              </a:spcBef>
              <a:spcAft>
                <a:spcPts val="1200"/>
              </a:spcAft>
            </a:pPr>
            <a:r>
              <a:rPr lang="en-US" sz="2200" dirty="0" smtClean="0">
                <a:latin typeface="Helvetica" pitchFamily="34" charset="0"/>
              </a:rPr>
              <a:t>Representatives from external bodies</a:t>
            </a:r>
          </a:p>
          <a:p>
            <a:pPr marL="360000" indent="-360000">
              <a:spcBef>
                <a:spcPts val="600"/>
              </a:spcBef>
              <a:spcAft>
                <a:spcPts val="1200"/>
              </a:spcAft>
            </a:pPr>
            <a:r>
              <a:rPr lang="en-US" sz="2200" dirty="0" smtClean="0">
                <a:latin typeface="Helvetica" pitchFamily="34" charset="0"/>
              </a:rPr>
              <a:t>Staff who helped implement the project</a:t>
            </a:r>
          </a:p>
          <a:p>
            <a:pPr marL="360000" indent="-360000">
              <a:spcBef>
                <a:spcPts val="600"/>
              </a:spcBef>
              <a:spcAft>
                <a:spcPts val="1200"/>
              </a:spcAft>
            </a:pPr>
            <a:r>
              <a:rPr lang="en-US" sz="2200" dirty="0" smtClean="0">
                <a:latin typeface="Helvetica" pitchFamily="34" charset="0"/>
              </a:rPr>
              <a:t>Staff impacted by the project</a:t>
            </a:r>
          </a:p>
          <a:p>
            <a:pPr marL="360000" indent="-360000">
              <a:spcBef>
                <a:spcPts val="600"/>
              </a:spcBef>
              <a:spcAft>
                <a:spcPts val="1200"/>
              </a:spcAft>
            </a:pPr>
            <a:r>
              <a:rPr lang="en-US" sz="2200" dirty="0" smtClean="0">
                <a:latin typeface="Helvetica" pitchFamily="34" charset="0"/>
              </a:rPr>
              <a:t>Internal support staff</a:t>
            </a:r>
          </a:p>
          <a:p>
            <a:pPr marL="360000" indent="-360000">
              <a:spcBef>
                <a:spcPts val="600"/>
              </a:spcBef>
              <a:spcAft>
                <a:spcPts val="1200"/>
              </a:spcAft>
            </a:pPr>
            <a:r>
              <a:rPr lang="en-US" sz="2200" dirty="0" smtClean="0">
                <a:latin typeface="Helvetica" pitchFamily="34" charset="0"/>
              </a:rPr>
              <a:t>Customers/guests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194</a:t>
            </a:fld>
            <a:endParaRPr lang="en-US" dirty="0"/>
          </a:p>
        </p:txBody>
      </p:sp>
      <p:pic>
        <p:nvPicPr>
          <p:cNvPr id="5" name="Picture 4" descr="MP900409005.JPG"/>
          <p:cNvPicPr>
            <a:picLocks noChangeAspect="1"/>
          </p:cNvPicPr>
          <p:nvPr/>
        </p:nvPicPr>
        <p:blipFill>
          <a:blip r:embed="rId3" cstate="print"/>
          <a:srcRect b="19960"/>
          <a:stretch>
            <a:fillRect/>
          </a:stretch>
        </p:blipFill>
        <p:spPr>
          <a:xfrm>
            <a:off x="6804248" y="3789040"/>
            <a:ext cx="1529408" cy="1224136"/>
          </a:xfrm>
          <a:prstGeom prst="rect">
            <a:avLst/>
          </a:prstGeom>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Involve project team members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dirty="0" smtClean="0">
                <a:latin typeface="Helvetica" pitchFamily="34" charset="0"/>
              </a:rPr>
              <a:t>Tips to enhance the review process:</a:t>
            </a:r>
          </a:p>
          <a:p>
            <a:pPr marL="360000" indent="-360000">
              <a:spcBef>
                <a:spcPts val="600"/>
              </a:spcBef>
              <a:spcAft>
                <a:spcPts val="1200"/>
              </a:spcAft>
            </a:pPr>
            <a:r>
              <a:rPr lang="en-US" sz="2200" dirty="0" smtClean="0">
                <a:latin typeface="Helvetica" pitchFamily="34" charset="0"/>
              </a:rPr>
              <a:t>Minimise time people are expected to commit to the process</a:t>
            </a:r>
          </a:p>
          <a:p>
            <a:pPr marL="360000" indent="-360000">
              <a:spcBef>
                <a:spcPts val="600"/>
              </a:spcBef>
              <a:spcAft>
                <a:spcPts val="1200"/>
              </a:spcAft>
            </a:pPr>
            <a:r>
              <a:rPr lang="en-US" sz="2200" dirty="0" smtClean="0">
                <a:latin typeface="Helvetica" pitchFamily="34" charset="0"/>
              </a:rPr>
              <a:t>Time meetings at times to suit those attending</a:t>
            </a:r>
          </a:p>
          <a:p>
            <a:pPr marL="360000" indent="-360000">
              <a:spcBef>
                <a:spcPts val="600"/>
              </a:spcBef>
              <a:spcAft>
                <a:spcPts val="1200"/>
              </a:spcAft>
            </a:pPr>
            <a:r>
              <a:rPr lang="en-US" sz="2200" dirty="0" smtClean="0">
                <a:latin typeface="Helvetica" pitchFamily="34" charset="0"/>
              </a:rPr>
              <a:t>Encourage participation</a:t>
            </a:r>
          </a:p>
          <a:p>
            <a:pPr marL="360000" indent="-360000">
              <a:spcBef>
                <a:spcPts val="600"/>
              </a:spcBef>
              <a:spcAft>
                <a:spcPts val="1200"/>
              </a:spcAft>
            </a:pPr>
            <a:r>
              <a:rPr lang="en-US" sz="2200" i="1" dirty="0" smtClean="0">
                <a:latin typeface="Helvetica" pitchFamily="34" charset="0"/>
              </a:rPr>
              <a:t>Reward those who attend</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195</a:t>
            </a:fld>
            <a:endParaRPr lang="en-US" dirty="0"/>
          </a:p>
        </p:txBody>
      </p:sp>
      <p:pic>
        <p:nvPicPr>
          <p:cNvPr id="5" name="Picture 4" descr="MC900105220.WMF"/>
          <p:cNvPicPr>
            <a:picLocks noChangeAspect="1"/>
          </p:cNvPicPr>
          <p:nvPr/>
        </p:nvPicPr>
        <p:blipFill>
          <a:blip r:embed="rId3" cstate="print"/>
          <a:stretch>
            <a:fillRect/>
          </a:stretch>
        </p:blipFill>
        <p:spPr>
          <a:xfrm>
            <a:off x="6660232" y="3921149"/>
            <a:ext cx="1725074" cy="1380059"/>
          </a:xfrm>
          <a:prstGeom prst="rect">
            <a:avLst/>
          </a:prstGeom>
        </p:spPr>
      </p:pic>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Involve project team members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US" sz="2200" dirty="0" smtClean="0">
                <a:latin typeface="Helvetica" pitchFamily="34" charset="0"/>
              </a:rPr>
              <a:t>Encourage honest input to the process</a:t>
            </a:r>
          </a:p>
          <a:p>
            <a:pPr marL="360000" indent="-360000">
              <a:spcBef>
                <a:spcPts val="600"/>
              </a:spcBef>
              <a:spcAft>
                <a:spcPts val="1200"/>
              </a:spcAft>
            </a:pPr>
            <a:r>
              <a:rPr lang="en-US" sz="2200" dirty="0" smtClean="0">
                <a:latin typeface="Helvetica" pitchFamily="34" charset="0"/>
              </a:rPr>
              <a:t>Ask questions to motivate feedback</a:t>
            </a:r>
          </a:p>
          <a:p>
            <a:pPr marL="360000" indent="-360000">
              <a:spcBef>
                <a:spcPts val="600"/>
              </a:spcBef>
              <a:spcAft>
                <a:spcPts val="1200"/>
              </a:spcAft>
            </a:pPr>
            <a:r>
              <a:rPr lang="en-US" sz="2200" dirty="0" smtClean="0">
                <a:latin typeface="Helvetica" pitchFamily="34" charset="0"/>
              </a:rPr>
              <a:t>Structure the session:</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Introduction</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Body</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Q and A</a:t>
            </a:r>
          </a:p>
          <a:p>
            <a:pPr marL="720000" indent="-360000">
              <a:spcBef>
                <a:spcPts val="600"/>
              </a:spcBef>
              <a:spcAft>
                <a:spcPts val="1200"/>
              </a:spcAft>
              <a:buClr>
                <a:srgbClr val="7FD13B"/>
              </a:buClr>
              <a:buFont typeface="Wingdings" pitchFamily="2" charset="2"/>
              <a:buChar char="§"/>
            </a:pPr>
            <a:r>
              <a:rPr lang="en-US" sz="2200" dirty="0" smtClean="0">
                <a:latin typeface="Helvetica" pitchFamily="34" charset="0"/>
              </a:rPr>
              <a:t>Conclusion</a:t>
            </a: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196</a:t>
            </a:fld>
            <a:endParaRPr lang="en-US" dirty="0"/>
          </a:p>
        </p:txBody>
      </p:sp>
      <p:pic>
        <p:nvPicPr>
          <p:cNvPr id="5" name="Picture 4" descr="iStock_000010451440XSmall.jpg"/>
          <p:cNvPicPr>
            <a:picLocks noChangeAspect="1"/>
          </p:cNvPicPr>
          <p:nvPr/>
        </p:nvPicPr>
        <p:blipFill>
          <a:blip r:embed="rId3" cstate="print"/>
          <a:stretch>
            <a:fillRect/>
          </a:stretch>
        </p:blipFill>
        <p:spPr>
          <a:xfrm>
            <a:off x="7092280" y="3645024"/>
            <a:ext cx="1196324" cy="1413611"/>
          </a:xfrm>
          <a:prstGeom prst="rect">
            <a:avLst/>
          </a:prstGeom>
        </p:spPr>
      </p:pic>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Incorporate results into ongoing project management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indent="0">
              <a:spcBef>
                <a:spcPts val="600"/>
              </a:spcBef>
              <a:spcAft>
                <a:spcPts val="1200"/>
              </a:spcAft>
              <a:buNone/>
            </a:pPr>
            <a:r>
              <a:rPr lang="en-US" sz="2200" dirty="0" smtClean="0">
                <a:latin typeface="Helvetica" pitchFamily="34" charset="0"/>
              </a:rPr>
              <a:t>Outcomes or findings of project evaluation need to be factored into </a:t>
            </a:r>
            <a:r>
              <a:rPr lang="en-US" sz="2200" b="1" i="1" dirty="0" smtClean="0">
                <a:latin typeface="Helvetica" pitchFamily="34" charset="0"/>
              </a:rPr>
              <a:t>ongoing </a:t>
            </a:r>
            <a:r>
              <a:rPr lang="en-US" sz="2200" dirty="0" smtClean="0">
                <a:latin typeface="Helvetica" pitchFamily="34" charset="0"/>
              </a:rPr>
              <a:t>and </a:t>
            </a:r>
            <a:r>
              <a:rPr lang="en-US" sz="2200" b="1" i="1" dirty="0" smtClean="0">
                <a:latin typeface="Helvetica" pitchFamily="34" charset="0"/>
              </a:rPr>
              <a:t>future </a:t>
            </a:r>
            <a:r>
              <a:rPr lang="en-US" sz="2200" dirty="0" smtClean="0">
                <a:latin typeface="Helvetica" pitchFamily="34" charset="0"/>
              </a:rPr>
              <a:t>project management.</a:t>
            </a:r>
          </a:p>
          <a:p>
            <a:pPr marL="0" indent="0">
              <a:spcBef>
                <a:spcPts val="600"/>
              </a:spcBef>
              <a:spcAft>
                <a:spcPts val="1200"/>
              </a:spcAft>
              <a:buNone/>
            </a:pPr>
            <a:r>
              <a:rPr lang="en-US" sz="2200" dirty="0" smtClean="0">
                <a:latin typeface="Helvetica" pitchFamily="34" charset="0"/>
              </a:rPr>
              <a:t>The evaluation must address:</a:t>
            </a:r>
          </a:p>
          <a:p>
            <a:pPr marL="360000" indent="-360000">
              <a:spcBef>
                <a:spcPts val="600"/>
              </a:spcBef>
              <a:spcAft>
                <a:spcPts val="1200"/>
              </a:spcAft>
            </a:pPr>
            <a:r>
              <a:rPr lang="en-US" sz="2200" dirty="0" smtClean="0">
                <a:latin typeface="Helvetica" pitchFamily="34" charset="0"/>
              </a:rPr>
              <a:t>Processes</a:t>
            </a:r>
          </a:p>
          <a:p>
            <a:pPr marL="720000" indent="-360000">
              <a:spcBef>
                <a:spcPts val="600"/>
              </a:spcBef>
              <a:spcAft>
                <a:spcPts val="1200"/>
              </a:spcAft>
              <a:buClr>
                <a:schemeClr val="accent1">
                  <a:lumMod val="75000"/>
                </a:schemeClr>
              </a:buClr>
              <a:buSzPct val="100000"/>
              <a:buNone/>
            </a:pPr>
            <a:r>
              <a:rPr lang="en-US" sz="2200" dirty="0" smtClean="0">
                <a:latin typeface="Helvetica" pitchFamily="34" charset="0"/>
              </a:rPr>
              <a:t>and</a:t>
            </a:r>
          </a:p>
          <a:p>
            <a:pPr marL="360000" indent="-360000">
              <a:spcBef>
                <a:spcPts val="600"/>
              </a:spcBef>
              <a:spcAft>
                <a:spcPts val="1200"/>
              </a:spcAft>
            </a:pPr>
            <a:r>
              <a:rPr lang="en-US" sz="2200" dirty="0" smtClean="0">
                <a:latin typeface="Helvetica" pitchFamily="34" charset="0"/>
              </a:rPr>
              <a:t>Products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197</a:t>
            </a:fld>
            <a:endParaRPr lang="en-US" dirty="0"/>
          </a:p>
        </p:txBody>
      </p:sp>
      <p:pic>
        <p:nvPicPr>
          <p:cNvPr id="5" name="Picture 4" descr="MC900434675.WMF"/>
          <p:cNvPicPr>
            <a:picLocks noChangeAspect="1"/>
          </p:cNvPicPr>
          <p:nvPr/>
        </p:nvPicPr>
        <p:blipFill>
          <a:blip r:embed="rId3" cstate="print"/>
          <a:stretch>
            <a:fillRect/>
          </a:stretch>
        </p:blipFill>
        <p:spPr>
          <a:xfrm>
            <a:off x="6732240" y="4149080"/>
            <a:ext cx="1644909" cy="1081706"/>
          </a:xfrm>
          <a:prstGeom prst="rect">
            <a:avLst/>
          </a:prstGeom>
        </p:spPr>
      </p:pic>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Incorporate results into ongoing project management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Action to take to factor in evaluation results must:</a:t>
            </a:r>
          </a:p>
          <a:p>
            <a:pPr marL="360000" indent="-360000">
              <a:spcBef>
                <a:spcPts val="600"/>
              </a:spcBef>
              <a:spcAft>
                <a:spcPts val="1200"/>
              </a:spcAft>
            </a:pPr>
            <a:r>
              <a:rPr lang="en-US" sz="2200" dirty="0" smtClean="0">
                <a:latin typeface="Helvetica" pitchFamily="34" charset="0"/>
              </a:rPr>
              <a:t>Reflect actual evidence</a:t>
            </a:r>
          </a:p>
          <a:p>
            <a:pPr marL="360000" indent="-360000">
              <a:spcBef>
                <a:spcPts val="600"/>
              </a:spcBef>
              <a:spcAft>
                <a:spcPts val="1200"/>
              </a:spcAft>
            </a:pPr>
            <a:r>
              <a:rPr lang="en-US" sz="2200" dirty="0" smtClean="0">
                <a:latin typeface="Helvetica" pitchFamily="34" charset="0"/>
              </a:rPr>
              <a:t>Address processes and products</a:t>
            </a:r>
          </a:p>
          <a:p>
            <a:pPr marL="360000" indent="-360000">
              <a:spcBef>
                <a:spcPts val="600"/>
              </a:spcBef>
              <a:spcAft>
                <a:spcPts val="1200"/>
              </a:spcAft>
            </a:pPr>
            <a:r>
              <a:rPr lang="en-US" sz="2200" dirty="0" smtClean="0">
                <a:latin typeface="Helvetica" pitchFamily="34" charset="0"/>
              </a:rPr>
              <a:t>Comply with limitations imposed on the project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198</a:t>
            </a:fld>
            <a:endParaRPr lang="en-US" dirty="0"/>
          </a:p>
        </p:txBody>
      </p:sp>
      <p:pic>
        <p:nvPicPr>
          <p:cNvPr id="5" name="Picture 4" descr="MP900289901.JPG"/>
          <p:cNvPicPr>
            <a:picLocks noChangeAspect="1"/>
          </p:cNvPicPr>
          <p:nvPr/>
        </p:nvPicPr>
        <p:blipFill>
          <a:blip r:embed="rId3" cstate="print"/>
          <a:stretch>
            <a:fillRect/>
          </a:stretch>
        </p:blipFill>
        <p:spPr>
          <a:xfrm>
            <a:off x="6660232" y="4077072"/>
            <a:ext cx="1721325" cy="1153288"/>
          </a:xfrm>
          <a:prstGeom prst="rect">
            <a:avLst/>
          </a:prstGeom>
        </p:spPr>
      </p:pic>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Incorporate results into ongoing project management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Incorporating results may mean:</a:t>
            </a:r>
          </a:p>
          <a:p>
            <a:pPr marL="360000" indent="-360000">
              <a:spcBef>
                <a:spcPts val="600"/>
              </a:spcBef>
              <a:spcAft>
                <a:spcPts val="1200"/>
              </a:spcAft>
            </a:pPr>
            <a:r>
              <a:rPr lang="en-US" sz="2200" dirty="0" smtClean="0">
                <a:latin typeface="Helvetica" pitchFamily="34" charset="0"/>
              </a:rPr>
              <a:t>Very rare need to make major changes to initial project management plan</a:t>
            </a:r>
          </a:p>
          <a:p>
            <a:pPr marL="360000" indent="-360000">
              <a:spcBef>
                <a:spcPts val="600"/>
              </a:spcBef>
              <a:spcAft>
                <a:spcPts val="1200"/>
              </a:spcAft>
            </a:pPr>
            <a:r>
              <a:rPr lang="en-US" sz="2200" dirty="0" smtClean="0">
                <a:latin typeface="Helvetica" pitchFamily="34" charset="0"/>
              </a:rPr>
              <a:t>Need to source extra resources</a:t>
            </a:r>
          </a:p>
          <a:p>
            <a:pPr marL="360000" indent="-360000">
              <a:spcBef>
                <a:spcPts val="600"/>
              </a:spcBef>
              <a:spcAft>
                <a:spcPts val="1200"/>
              </a:spcAft>
            </a:pPr>
            <a:r>
              <a:rPr lang="en-US" sz="2200" dirty="0" smtClean="0">
                <a:latin typeface="Helvetica" pitchFamily="34" charset="0"/>
              </a:rPr>
              <a:t>Need to make adjustments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199</a:t>
            </a:fld>
            <a:endParaRPr lang="en-US" dirty="0"/>
          </a:p>
        </p:txBody>
      </p:sp>
      <p:pic>
        <p:nvPicPr>
          <p:cNvPr id="5" name="Picture 4" descr="MP900442559.JPG"/>
          <p:cNvPicPr>
            <a:picLocks noChangeAspect="1"/>
          </p:cNvPicPr>
          <p:nvPr/>
        </p:nvPicPr>
        <p:blipFill>
          <a:blip r:embed="rId3" cstate="print"/>
          <a:stretch>
            <a:fillRect/>
          </a:stretch>
        </p:blipFill>
        <p:spPr>
          <a:xfrm>
            <a:off x="6732240" y="4077072"/>
            <a:ext cx="1722127" cy="1146056"/>
          </a:xfrm>
          <a:prstGeom prst="rect">
            <a:avLst/>
          </a:prstGeom>
        </p:spPr>
      </p:pic>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Incorporate results into ongoing project management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360000" indent="-360000">
              <a:spcBef>
                <a:spcPts val="600"/>
              </a:spcBef>
              <a:spcAft>
                <a:spcPts val="1200"/>
              </a:spcAft>
            </a:pPr>
            <a:r>
              <a:rPr lang="en-US" sz="2200" dirty="0" smtClean="0">
                <a:latin typeface="Helvetica" pitchFamily="34" charset="0"/>
              </a:rPr>
              <a:t>Need to communicate and share with stakeholders</a:t>
            </a:r>
          </a:p>
          <a:p>
            <a:pPr marL="360000" indent="-360000">
              <a:spcBef>
                <a:spcPts val="600"/>
              </a:spcBef>
              <a:spcAft>
                <a:spcPts val="1200"/>
              </a:spcAft>
            </a:pPr>
            <a:r>
              <a:rPr lang="en-US" sz="2200" dirty="0" smtClean="0">
                <a:latin typeface="Helvetica" pitchFamily="34" charset="0"/>
              </a:rPr>
              <a:t>Need to gain approval for changes which are necessary</a:t>
            </a:r>
          </a:p>
          <a:p>
            <a:pPr marL="360000" indent="-360000">
              <a:spcBef>
                <a:spcPts val="600"/>
              </a:spcBef>
              <a:spcAft>
                <a:spcPts val="1200"/>
              </a:spcAft>
            </a:pPr>
            <a:r>
              <a:rPr lang="en-US" sz="2200" dirty="0" smtClean="0">
                <a:latin typeface="Helvetica" pitchFamily="34" charset="0"/>
              </a:rPr>
              <a:t>Need to distribute revised changes or revised project management plan to stakeholders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200</a:t>
            </a:fld>
            <a:endParaRPr lang="en-US" dirty="0"/>
          </a:p>
        </p:txBody>
      </p:sp>
      <p:pic>
        <p:nvPicPr>
          <p:cNvPr id="5" name="Picture 4" descr="shutterstock_78350230(1).jpg"/>
          <p:cNvPicPr>
            <a:picLocks noChangeAspect="1"/>
          </p:cNvPicPr>
          <p:nvPr/>
        </p:nvPicPr>
        <p:blipFill>
          <a:blip r:embed="rId3" cstate="print"/>
          <a:stretch>
            <a:fillRect/>
          </a:stretch>
        </p:blipFill>
        <p:spPr>
          <a:xfrm>
            <a:off x="7045474" y="3789040"/>
            <a:ext cx="1354037" cy="1463824"/>
          </a:xfrm>
          <a:prstGeom prst="rect">
            <a:avLst/>
          </a:prstGeom>
        </p:spPr>
      </p:pic>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Share and incorporate findings into future planning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‘Lessons learned’ must be evidence-based.</a:t>
            </a:r>
          </a:p>
          <a:p>
            <a:pPr marL="0" indent="0">
              <a:spcBef>
                <a:spcPts val="600"/>
              </a:spcBef>
              <a:spcAft>
                <a:spcPts val="1200"/>
              </a:spcAft>
              <a:buNone/>
            </a:pPr>
            <a:r>
              <a:rPr lang="en-US" sz="2200" dirty="0" smtClean="0">
                <a:latin typeface="Helvetica" pitchFamily="34" charset="0"/>
              </a:rPr>
              <a:t>Documenting lessons learned involves:</a:t>
            </a:r>
          </a:p>
          <a:p>
            <a:pPr marL="360000" indent="-360000">
              <a:spcBef>
                <a:spcPts val="600"/>
              </a:spcBef>
              <a:spcAft>
                <a:spcPts val="1200"/>
              </a:spcAft>
            </a:pPr>
            <a:r>
              <a:rPr lang="en-US" sz="2200" dirty="0" smtClean="0">
                <a:latin typeface="Helvetica" pitchFamily="34" charset="0"/>
              </a:rPr>
              <a:t>Writing them down</a:t>
            </a:r>
          </a:p>
          <a:p>
            <a:pPr marL="360000" indent="-360000">
              <a:spcBef>
                <a:spcPts val="600"/>
              </a:spcBef>
              <a:spcAft>
                <a:spcPts val="1200"/>
              </a:spcAft>
            </a:pPr>
            <a:r>
              <a:rPr lang="en-US" sz="2200" dirty="0" smtClean="0">
                <a:latin typeface="Helvetica" pitchFamily="34" charset="0"/>
              </a:rPr>
              <a:t>Attaching supporting evidence</a:t>
            </a:r>
          </a:p>
          <a:p>
            <a:pPr marL="360000" indent="-360000">
              <a:spcBef>
                <a:spcPts val="600"/>
              </a:spcBef>
              <a:spcAft>
                <a:spcPts val="1200"/>
              </a:spcAft>
            </a:pPr>
            <a:r>
              <a:rPr lang="en-US" sz="2200" dirty="0" smtClean="0">
                <a:latin typeface="Helvetica" pitchFamily="34" charset="0"/>
              </a:rPr>
              <a:t>Communicating the lessons</a:t>
            </a:r>
          </a:p>
          <a:p>
            <a:pPr marL="360000" indent="-360000">
              <a:spcBef>
                <a:spcPts val="600"/>
              </a:spcBef>
              <a:spcAft>
                <a:spcPts val="1200"/>
              </a:spcAft>
            </a:pPr>
            <a:r>
              <a:rPr lang="en-US" sz="2200" dirty="0" smtClean="0">
                <a:latin typeface="Helvetica" pitchFamily="34" charset="0"/>
              </a:rPr>
              <a:t>Filing relevant documents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201</a:t>
            </a:fld>
            <a:endParaRPr lang="en-US" dirty="0"/>
          </a:p>
        </p:txBody>
      </p:sp>
      <p:pic>
        <p:nvPicPr>
          <p:cNvPr id="5" name="Picture 4" descr="shutterstock_31706230.jpg"/>
          <p:cNvPicPr>
            <a:picLocks noChangeAspect="1"/>
          </p:cNvPicPr>
          <p:nvPr/>
        </p:nvPicPr>
        <p:blipFill>
          <a:blip r:embed="rId3" cstate="print"/>
          <a:stretch>
            <a:fillRect/>
          </a:stretch>
        </p:blipFill>
        <p:spPr>
          <a:xfrm>
            <a:off x="7164288" y="3429000"/>
            <a:ext cx="1216517" cy="1823864"/>
          </a:xfrm>
          <a:prstGeom prst="rect">
            <a:avLst/>
          </a:prstGeom>
        </p:spPr>
      </p:pic>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Share and incorporate findings into future planning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96544"/>
          </a:xfrm>
        </p:spPr>
        <p:txBody>
          <a:bodyPr>
            <a:normAutofit/>
          </a:bodyPr>
          <a:lstStyle/>
          <a:p>
            <a:pPr marL="0" indent="0">
              <a:spcBef>
                <a:spcPts val="600"/>
              </a:spcBef>
              <a:spcAft>
                <a:spcPts val="1200"/>
              </a:spcAft>
              <a:buNone/>
            </a:pPr>
            <a:r>
              <a:rPr lang="en-US" sz="2200" dirty="0" smtClean="0">
                <a:latin typeface="Helvetica" pitchFamily="34" charset="0"/>
              </a:rPr>
              <a:t>To optimise chance of lessons being learned for future projects:</a:t>
            </a:r>
          </a:p>
          <a:p>
            <a:pPr marL="360000" indent="-360000">
              <a:spcBef>
                <a:spcPts val="600"/>
              </a:spcBef>
              <a:spcAft>
                <a:spcPts val="1200"/>
              </a:spcAft>
            </a:pPr>
            <a:r>
              <a:rPr lang="en-US" sz="2200" dirty="0" smtClean="0">
                <a:latin typeface="Helvetica" pitchFamily="34" charset="0"/>
              </a:rPr>
              <a:t>Circulate findings and lessons learned amongst other PMs</a:t>
            </a:r>
          </a:p>
          <a:p>
            <a:pPr marL="360000" indent="-360000">
              <a:spcBef>
                <a:spcPts val="600"/>
              </a:spcBef>
              <a:spcAft>
                <a:spcPts val="1200"/>
              </a:spcAft>
            </a:pPr>
            <a:r>
              <a:rPr lang="en-US" sz="2200" dirty="0" smtClean="0">
                <a:latin typeface="Helvetica" pitchFamily="34" charset="0"/>
              </a:rPr>
              <a:t>Integrate findings into venue training</a:t>
            </a:r>
          </a:p>
          <a:p>
            <a:pPr marL="360000" indent="-360000">
              <a:spcBef>
                <a:spcPts val="600"/>
              </a:spcBef>
              <a:spcAft>
                <a:spcPts val="1200"/>
              </a:spcAft>
            </a:pPr>
            <a:r>
              <a:rPr lang="en-US" sz="2200" dirty="0" smtClean="0">
                <a:latin typeface="Helvetica" pitchFamily="34" charset="0"/>
              </a:rPr>
              <a:t>Revise policies and SOPs as required to </a:t>
            </a:r>
            <a:br>
              <a:rPr lang="en-US" sz="2200" dirty="0" smtClean="0">
                <a:latin typeface="Helvetica" pitchFamily="34" charset="0"/>
              </a:rPr>
            </a:br>
            <a:r>
              <a:rPr lang="en-US" sz="2200" dirty="0" smtClean="0">
                <a:latin typeface="Helvetica" pitchFamily="34" charset="0"/>
              </a:rPr>
              <a:t>incorporate lessons</a:t>
            </a:r>
          </a:p>
          <a:p>
            <a:pPr marL="360000" indent="-360000">
              <a:spcBef>
                <a:spcPts val="600"/>
              </a:spcBef>
              <a:spcAft>
                <a:spcPts val="1200"/>
              </a:spcAft>
            </a:pPr>
            <a:r>
              <a:rPr lang="en-US" sz="2200" dirty="0" smtClean="0">
                <a:latin typeface="Helvetica" pitchFamily="34" charset="0"/>
              </a:rPr>
              <a:t>Hold special staff meetings to explain</a:t>
            </a:r>
          </a:p>
          <a:p>
            <a:pPr marL="360000" indent="-360000">
              <a:spcBef>
                <a:spcPts val="600"/>
              </a:spcBef>
              <a:spcAft>
                <a:spcPts val="1200"/>
              </a:spcAft>
            </a:pPr>
            <a:r>
              <a:rPr lang="en-US" sz="2200" dirty="0" smtClean="0">
                <a:latin typeface="Helvetica" pitchFamily="34" charset="0"/>
              </a:rPr>
              <a:t>Provide mandatory SOPs for PM which require reference to previous projects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202</a:t>
            </a:fld>
            <a:endParaRPr lang="en-US" dirty="0"/>
          </a:p>
        </p:txBody>
      </p:sp>
      <p:pic>
        <p:nvPicPr>
          <p:cNvPr id="5" name="Picture 4" descr="MM900172581.GIF"/>
          <p:cNvPicPr>
            <a:picLocks noChangeAspect="1"/>
          </p:cNvPicPr>
          <p:nvPr/>
        </p:nvPicPr>
        <p:blipFill>
          <a:blip r:embed="rId3" cstate="print"/>
          <a:stretch>
            <a:fillRect/>
          </a:stretch>
        </p:blipFill>
        <p:spPr>
          <a:xfrm>
            <a:off x="7236296" y="3428424"/>
            <a:ext cx="1087649" cy="1635825"/>
          </a:xfrm>
          <a:prstGeom prst="rect">
            <a:avLst/>
          </a:prstGeom>
        </p:spPr>
      </p:pic>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Share and incorporate findings into future planning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marL="0" indent="0">
              <a:spcBef>
                <a:spcPts val="600"/>
              </a:spcBef>
              <a:spcAft>
                <a:spcPts val="1200"/>
              </a:spcAft>
              <a:buNone/>
            </a:pPr>
            <a:r>
              <a:rPr lang="en-US" sz="2200" dirty="0" smtClean="0">
                <a:latin typeface="Helvetica" pitchFamily="34" charset="0"/>
              </a:rPr>
              <a:t>Ways to share and communicate lessons learned:</a:t>
            </a:r>
          </a:p>
          <a:p>
            <a:pPr marL="360000" indent="-360000">
              <a:spcBef>
                <a:spcPts val="600"/>
              </a:spcBef>
              <a:spcAft>
                <a:spcPts val="1200"/>
              </a:spcAft>
            </a:pPr>
            <a:r>
              <a:rPr lang="en-US" sz="2200" dirty="0" smtClean="0">
                <a:latin typeface="Helvetica" pitchFamily="34" charset="0"/>
              </a:rPr>
              <a:t>Verbal report to management</a:t>
            </a:r>
          </a:p>
          <a:p>
            <a:pPr marL="360000" indent="-360000">
              <a:spcBef>
                <a:spcPts val="600"/>
              </a:spcBef>
              <a:spcAft>
                <a:spcPts val="1200"/>
              </a:spcAft>
            </a:pPr>
            <a:r>
              <a:rPr lang="en-US" sz="2200" dirty="0" smtClean="0">
                <a:latin typeface="Helvetica" pitchFamily="34" charset="0"/>
              </a:rPr>
              <a:t>Verbal report to stakeholders</a:t>
            </a:r>
          </a:p>
          <a:p>
            <a:pPr marL="360000" indent="-360000">
              <a:spcBef>
                <a:spcPts val="600"/>
              </a:spcBef>
              <a:spcAft>
                <a:spcPts val="1200"/>
              </a:spcAft>
            </a:pPr>
            <a:r>
              <a:rPr lang="en-US" sz="2200" dirty="0" smtClean="0">
                <a:latin typeface="Helvetica" pitchFamily="34" charset="0"/>
              </a:rPr>
              <a:t>Formal presentation</a:t>
            </a:r>
          </a:p>
          <a:p>
            <a:pPr marL="360000" indent="-360000">
              <a:spcBef>
                <a:spcPts val="600"/>
              </a:spcBef>
              <a:spcAft>
                <a:spcPts val="1200"/>
              </a:spcAft>
            </a:pPr>
            <a:r>
              <a:rPr lang="en-US" sz="2200" dirty="0" smtClean="0">
                <a:latin typeface="Helvetica" pitchFamily="34" charset="0"/>
              </a:rPr>
              <a:t>Evaluation sheet</a:t>
            </a:r>
          </a:p>
          <a:p>
            <a:pPr marL="360000" indent="-360000">
              <a:spcBef>
                <a:spcPts val="600"/>
              </a:spcBef>
              <a:spcAft>
                <a:spcPts val="1200"/>
              </a:spcAft>
            </a:pPr>
            <a:r>
              <a:rPr lang="en-US" sz="2200" dirty="0" smtClean="0">
                <a:latin typeface="Helvetica" pitchFamily="34" charset="0"/>
              </a:rPr>
              <a:t>Formal report</a:t>
            </a:r>
          </a:p>
          <a:p>
            <a:pPr marL="360000" indent="-360000">
              <a:spcBef>
                <a:spcPts val="600"/>
              </a:spcBef>
              <a:spcAft>
                <a:spcPts val="1200"/>
              </a:spcAft>
            </a:pPr>
            <a:r>
              <a:rPr lang="en-US" sz="2200" dirty="0" smtClean="0">
                <a:latin typeface="Helvetica" pitchFamily="34" charset="0"/>
              </a:rPr>
              <a:t>Meet with key persons</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203</a:t>
            </a:fld>
            <a:endParaRPr lang="en-US" dirty="0"/>
          </a:p>
        </p:txBody>
      </p:sp>
      <p:pic>
        <p:nvPicPr>
          <p:cNvPr id="5" name="Picture 4" descr="MP900385423.JPG"/>
          <p:cNvPicPr>
            <a:picLocks noChangeAspect="1"/>
          </p:cNvPicPr>
          <p:nvPr/>
        </p:nvPicPr>
        <p:blipFill>
          <a:blip r:embed="rId3" cstate="print"/>
          <a:stretch>
            <a:fillRect/>
          </a:stretch>
        </p:blipFill>
        <p:spPr>
          <a:xfrm>
            <a:off x="6444208" y="3861048"/>
            <a:ext cx="1956821" cy="1304547"/>
          </a:xfrm>
          <a:prstGeom prst="rect">
            <a:avLst/>
          </a:prstGeom>
        </p:spPr>
      </p:pic>
    </p:spTree>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Report on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0" indent="0">
              <a:spcBef>
                <a:spcPts val="600"/>
              </a:spcBef>
              <a:spcAft>
                <a:spcPts val="1200"/>
              </a:spcAft>
              <a:buNone/>
            </a:pPr>
            <a:r>
              <a:rPr lang="en-US" sz="2200" dirty="0" smtClean="0">
                <a:latin typeface="Helvetica" pitchFamily="34" charset="0"/>
              </a:rPr>
              <a:t>Contents of Project Report would include:</a:t>
            </a:r>
          </a:p>
          <a:p>
            <a:pPr marL="360000" indent="-360000">
              <a:spcBef>
                <a:spcPts val="600"/>
              </a:spcBef>
              <a:spcAft>
                <a:spcPts val="1200"/>
              </a:spcAft>
            </a:pPr>
            <a:r>
              <a:rPr lang="en-US" sz="2200" dirty="0" smtClean="0">
                <a:latin typeface="Helvetica" pitchFamily="34" charset="0"/>
              </a:rPr>
              <a:t>Name/title of project</a:t>
            </a:r>
          </a:p>
          <a:p>
            <a:pPr marL="360000" indent="-360000">
              <a:spcBef>
                <a:spcPts val="600"/>
              </a:spcBef>
              <a:spcAft>
                <a:spcPts val="1200"/>
              </a:spcAft>
            </a:pPr>
            <a:r>
              <a:rPr lang="en-US" sz="2200" dirty="0" smtClean="0">
                <a:latin typeface="Helvetica" pitchFamily="34" charset="0"/>
              </a:rPr>
              <a:t>Name of venue</a:t>
            </a:r>
          </a:p>
          <a:p>
            <a:pPr marL="360000" indent="-360000">
              <a:spcBef>
                <a:spcPts val="600"/>
              </a:spcBef>
              <a:spcAft>
                <a:spcPts val="1200"/>
              </a:spcAft>
            </a:pPr>
            <a:r>
              <a:rPr lang="en-US" sz="2200" dirty="0" smtClean="0">
                <a:latin typeface="Helvetica" pitchFamily="34" charset="0"/>
              </a:rPr>
              <a:t>Name of project</a:t>
            </a:r>
          </a:p>
          <a:p>
            <a:pPr marL="360000" indent="-360000">
              <a:spcBef>
                <a:spcPts val="600"/>
              </a:spcBef>
              <a:spcAft>
                <a:spcPts val="1200"/>
              </a:spcAft>
            </a:pPr>
            <a:r>
              <a:rPr lang="en-US" sz="2200" dirty="0" smtClean="0">
                <a:latin typeface="Helvetica" pitchFamily="34" charset="0"/>
              </a:rPr>
              <a:t>Name of those who prepared report</a:t>
            </a:r>
          </a:p>
          <a:p>
            <a:pPr marL="360000" indent="-360000">
              <a:spcBef>
                <a:spcPts val="600"/>
              </a:spcBef>
              <a:spcAft>
                <a:spcPts val="1200"/>
              </a:spcAft>
            </a:pPr>
            <a:r>
              <a:rPr lang="en-US" sz="2200" dirty="0" smtClean="0">
                <a:latin typeface="Helvetica" pitchFamily="34" charset="0"/>
              </a:rPr>
              <a:t>Date</a:t>
            </a:r>
          </a:p>
          <a:p>
            <a:pPr marL="360000" indent="-360000">
              <a:spcBef>
                <a:spcPts val="600"/>
              </a:spcBef>
              <a:spcAft>
                <a:spcPts val="1200"/>
              </a:spcAft>
            </a:pPr>
            <a:r>
              <a:rPr lang="en-US" sz="2200" dirty="0" smtClean="0">
                <a:latin typeface="Helvetica" pitchFamily="34" charset="0"/>
              </a:rPr>
              <a:t>Type of report</a:t>
            </a:r>
          </a:p>
          <a:p>
            <a:pPr marL="360000" indent="-360000">
              <a:spcBef>
                <a:spcPts val="600"/>
              </a:spcBef>
              <a:spcAft>
                <a:spcPts val="1200"/>
              </a:spcAft>
              <a:buNone/>
            </a:pPr>
            <a:r>
              <a:rPr lang="en-US" sz="2200" i="1"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204</a:t>
            </a:fld>
            <a:endParaRPr lang="en-US" dirty="0"/>
          </a:p>
        </p:txBody>
      </p:sp>
      <p:pic>
        <p:nvPicPr>
          <p:cNvPr id="5" name="Picture 4" descr="1088924_59510934.jpg"/>
          <p:cNvPicPr>
            <a:picLocks noChangeAspect="1"/>
          </p:cNvPicPr>
          <p:nvPr/>
        </p:nvPicPr>
        <p:blipFill>
          <a:blip r:embed="rId3" cstate="print"/>
          <a:stretch>
            <a:fillRect/>
          </a:stretch>
        </p:blipFill>
        <p:spPr>
          <a:xfrm>
            <a:off x="6444208" y="3140968"/>
            <a:ext cx="1813952" cy="1813952"/>
          </a:xfrm>
          <a:prstGeom prst="rect">
            <a:avLst/>
          </a:prstGeom>
        </p:spPr>
      </p:pic>
    </p:spTree>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936104"/>
          </a:xfrm>
        </p:spPr>
        <p:txBody>
          <a:bodyPr>
            <a:normAutofit/>
          </a:bodyPr>
          <a:lstStyle/>
          <a:p>
            <a:r>
              <a:rPr lang="en-US" sz="3400" b="1" dirty="0" smtClean="0">
                <a:solidFill>
                  <a:srgbClr val="FF6600"/>
                </a:solidFill>
                <a:latin typeface="Helvetica" pitchFamily="34" charset="0"/>
              </a:rPr>
              <a:t>Report on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US" sz="2200" dirty="0" smtClean="0">
                <a:latin typeface="Helvetica" pitchFamily="34" charset="0"/>
              </a:rPr>
              <a:t>Executive Summary</a:t>
            </a:r>
          </a:p>
          <a:p>
            <a:pPr marL="360000" indent="-360000">
              <a:spcBef>
                <a:spcPts val="600"/>
              </a:spcBef>
              <a:spcAft>
                <a:spcPts val="1200"/>
              </a:spcAft>
            </a:pPr>
            <a:r>
              <a:rPr lang="en-US" sz="2200" dirty="0" smtClean="0">
                <a:latin typeface="Helvetica" pitchFamily="34" charset="0"/>
              </a:rPr>
              <a:t>Relevant KPIs, milestones and stages</a:t>
            </a:r>
          </a:p>
          <a:p>
            <a:pPr marL="360000" indent="-360000">
              <a:spcBef>
                <a:spcPts val="600"/>
              </a:spcBef>
              <a:spcAft>
                <a:spcPts val="1200"/>
              </a:spcAft>
            </a:pPr>
            <a:r>
              <a:rPr lang="en-US" sz="2200" dirty="0" smtClean="0">
                <a:latin typeface="Helvetica" pitchFamily="34" charset="0"/>
              </a:rPr>
              <a:t>‘Actual’ progress matched against ‘projected’ progress</a:t>
            </a:r>
          </a:p>
          <a:p>
            <a:pPr marL="360000" indent="-360000">
              <a:spcBef>
                <a:spcPts val="600"/>
              </a:spcBef>
              <a:spcAft>
                <a:spcPts val="1200"/>
              </a:spcAft>
            </a:pPr>
            <a:r>
              <a:rPr lang="en-US" sz="2200" dirty="0" smtClean="0">
                <a:latin typeface="Helvetica" pitchFamily="34" charset="0"/>
              </a:rPr>
              <a:t>Budget</a:t>
            </a:r>
          </a:p>
          <a:p>
            <a:pPr marL="360000" indent="-360000">
              <a:spcBef>
                <a:spcPts val="600"/>
              </a:spcBef>
              <a:spcAft>
                <a:spcPts val="1200"/>
              </a:spcAft>
            </a:pPr>
            <a:r>
              <a:rPr lang="en-US" sz="2200" dirty="0" smtClean="0">
                <a:latin typeface="Helvetica" pitchFamily="34" charset="0"/>
              </a:rPr>
              <a:t>Personal observations as PM</a:t>
            </a: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205</a:t>
            </a:fld>
            <a:endParaRPr lang="en-US" dirty="0"/>
          </a:p>
        </p:txBody>
      </p:sp>
      <p:pic>
        <p:nvPicPr>
          <p:cNvPr id="5" name="Picture 4" descr="MP900385423.JPG"/>
          <p:cNvPicPr>
            <a:picLocks noChangeAspect="1"/>
          </p:cNvPicPr>
          <p:nvPr/>
        </p:nvPicPr>
        <p:blipFill>
          <a:blip r:embed="rId3" cstate="print"/>
          <a:srcRect b="6709"/>
          <a:stretch>
            <a:fillRect/>
          </a:stretch>
        </p:blipFill>
        <p:spPr>
          <a:xfrm>
            <a:off x="6948264" y="3284984"/>
            <a:ext cx="1488594" cy="1944216"/>
          </a:xfrm>
          <a:prstGeom prst="rect">
            <a:avLst/>
          </a:prstGeom>
        </p:spPr>
      </p:pic>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92088"/>
          </a:xfrm>
        </p:spPr>
        <p:txBody>
          <a:bodyPr>
            <a:normAutofit/>
          </a:bodyPr>
          <a:lstStyle/>
          <a:p>
            <a:r>
              <a:rPr lang="en-US" sz="3400" b="1" dirty="0" smtClean="0">
                <a:solidFill>
                  <a:srgbClr val="FF6600"/>
                </a:solidFill>
                <a:latin typeface="Helvetica" pitchFamily="34" charset="0"/>
              </a:rPr>
              <a:t>Report on project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886003"/>
          </a:xfrm>
        </p:spPr>
        <p:txBody>
          <a:bodyPr>
            <a:normAutofit/>
          </a:bodyPr>
          <a:lstStyle/>
          <a:p>
            <a:pPr marL="0" indent="0">
              <a:spcBef>
                <a:spcPts val="600"/>
              </a:spcBef>
              <a:spcAft>
                <a:spcPts val="1200"/>
              </a:spcAft>
              <a:buNone/>
            </a:pPr>
            <a:r>
              <a:rPr lang="en-US" sz="2200" dirty="0" smtClean="0">
                <a:latin typeface="Helvetica" pitchFamily="34" charset="0"/>
              </a:rPr>
              <a:t>All project reports are ‘commercial-in-confidence’.</a:t>
            </a:r>
          </a:p>
          <a:p>
            <a:pPr marL="0" indent="0">
              <a:spcBef>
                <a:spcPts val="600"/>
              </a:spcBef>
              <a:spcAft>
                <a:spcPts val="1200"/>
              </a:spcAft>
              <a:buNone/>
            </a:pPr>
            <a:r>
              <a:rPr lang="en-US" sz="2200" dirty="0" smtClean="0">
                <a:latin typeface="Helvetica" pitchFamily="34" charset="0"/>
              </a:rPr>
              <a:t>Ways to distribute the reports:</a:t>
            </a:r>
          </a:p>
          <a:p>
            <a:pPr marL="360000" indent="-360000">
              <a:spcBef>
                <a:spcPts val="600"/>
              </a:spcBef>
              <a:spcAft>
                <a:spcPts val="1200"/>
              </a:spcAft>
            </a:pPr>
            <a:r>
              <a:rPr lang="en-US" sz="2200" dirty="0" smtClean="0">
                <a:latin typeface="Helvetica" pitchFamily="34" charset="0"/>
              </a:rPr>
              <a:t>By hand</a:t>
            </a:r>
          </a:p>
          <a:p>
            <a:pPr marL="360000" indent="-360000">
              <a:spcBef>
                <a:spcPts val="600"/>
              </a:spcBef>
              <a:spcAft>
                <a:spcPts val="1200"/>
              </a:spcAft>
            </a:pPr>
            <a:r>
              <a:rPr lang="en-US" sz="2200" dirty="0" smtClean="0">
                <a:latin typeface="Helvetica" pitchFamily="34" charset="0"/>
              </a:rPr>
              <a:t>Electronically</a:t>
            </a:r>
          </a:p>
          <a:p>
            <a:pPr marL="360000" indent="-360000">
              <a:spcBef>
                <a:spcPts val="600"/>
              </a:spcBef>
              <a:spcAft>
                <a:spcPts val="1200"/>
              </a:spcAft>
            </a:pPr>
            <a:r>
              <a:rPr lang="en-US" sz="2200" dirty="0" smtClean="0">
                <a:latin typeface="Helvetica" pitchFamily="34" charset="0"/>
              </a:rPr>
              <a:t>Intranet</a:t>
            </a:r>
          </a:p>
          <a:p>
            <a:pPr marL="360000" indent="-360000">
              <a:spcBef>
                <a:spcPts val="600"/>
              </a:spcBef>
              <a:spcAft>
                <a:spcPts val="1200"/>
              </a:spcAft>
            </a:pPr>
            <a:r>
              <a:rPr lang="en-US" sz="2200" dirty="0" smtClean="0">
                <a:latin typeface="Helvetica" pitchFamily="34" charset="0"/>
              </a:rPr>
              <a:t>Standard postal system</a:t>
            </a:r>
          </a:p>
          <a:p>
            <a:pPr marL="360000" indent="-360000">
              <a:spcBef>
                <a:spcPts val="600"/>
              </a:spcBef>
              <a:spcAft>
                <a:spcPts val="1200"/>
              </a:spcAft>
            </a:pPr>
            <a:r>
              <a:rPr lang="en-US" sz="2200" dirty="0" smtClean="0">
                <a:latin typeface="Helvetica" pitchFamily="34" charset="0"/>
              </a:rPr>
              <a:t>Courier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206</a:t>
            </a:fld>
            <a:endParaRPr lang="en-US" dirty="0"/>
          </a:p>
        </p:txBody>
      </p:sp>
      <p:pic>
        <p:nvPicPr>
          <p:cNvPr id="5" name="Picture 4" descr="freeimage-2028031.jpg"/>
          <p:cNvPicPr>
            <a:picLocks noChangeAspect="1"/>
          </p:cNvPicPr>
          <p:nvPr/>
        </p:nvPicPr>
        <p:blipFill>
          <a:blip r:embed="rId3" cstate="print"/>
          <a:stretch>
            <a:fillRect/>
          </a:stretch>
        </p:blipFill>
        <p:spPr>
          <a:xfrm>
            <a:off x="6804248" y="3717032"/>
            <a:ext cx="1565920" cy="1565920"/>
          </a:xfrm>
          <a:prstGeom prst="rect">
            <a:avLst/>
          </a:prstGeom>
        </p:spPr>
      </p:pic>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Summary – Element 3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776864" cy="4886003"/>
          </a:xfrm>
        </p:spPr>
        <p:txBody>
          <a:bodyPr>
            <a:normAutofit/>
          </a:bodyPr>
          <a:lstStyle/>
          <a:p>
            <a:pPr marL="0" indent="0">
              <a:spcBef>
                <a:spcPts val="600"/>
              </a:spcBef>
              <a:spcAft>
                <a:spcPts val="1200"/>
              </a:spcAft>
              <a:buNone/>
            </a:pPr>
            <a:r>
              <a:rPr lang="en-US" sz="2200" dirty="0" smtClean="0">
                <a:latin typeface="Helvetica" pitchFamily="34" charset="0"/>
              </a:rPr>
              <a:t>When evaluating project:</a:t>
            </a:r>
          </a:p>
          <a:p>
            <a:pPr marL="360000" indent="-360000">
              <a:spcBef>
                <a:spcPts val="600"/>
              </a:spcBef>
              <a:spcAft>
                <a:spcPts val="1200"/>
              </a:spcAft>
            </a:pPr>
            <a:r>
              <a:rPr lang="en-AU" sz="2200" dirty="0" smtClean="0">
                <a:latin typeface="Helvetica" pitchFamily="34" charset="0"/>
              </a:rPr>
              <a:t>Ensure you allocate time for scheduled assessments</a:t>
            </a:r>
          </a:p>
          <a:p>
            <a:pPr marL="360000" indent="-360000">
              <a:spcBef>
                <a:spcPts val="600"/>
              </a:spcBef>
              <a:spcAft>
                <a:spcPts val="1200"/>
              </a:spcAft>
            </a:pPr>
            <a:r>
              <a:rPr lang="en-AU" sz="2200" dirty="0" smtClean="0">
                <a:latin typeface="Helvetica" pitchFamily="34" charset="0"/>
              </a:rPr>
              <a:t>Involve relevant internal and external stakeholders</a:t>
            </a:r>
          </a:p>
          <a:p>
            <a:pPr marL="360000" indent="-360000">
              <a:spcBef>
                <a:spcPts val="600"/>
              </a:spcBef>
              <a:spcAft>
                <a:spcPts val="1200"/>
              </a:spcAft>
            </a:pPr>
            <a:r>
              <a:rPr lang="en-AU" sz="2200" dirty="0" smtClean="0">
                <a:latin typeface="Helvetica" pitchFamily="34" charset="0"/>
              </a:rPr>
              <a:t>Schedule meetings for formal evaluations and assessments</a:t>
            </a:r>
          </a:p>
          <a:p>
            <a:pPr marL="360000" indent="-360000">
              <a:spcBef>
                <a:spcPts val="600"/>
              </a:spcBef>
              <a:spcAft>
                <a:spcPts val="1200"/>
              </a:spcAft>
            </a:pPr>
            <a:r>
              <a:rPr lang="en-AU" sz="2200" dirty="0" smtClean="0">
                <a:latin typeface="Helvetica" pitchFamily="34" charset="0"/>
              </a:rPr>
              <a:t>Address ‘process’ and ‘product’ issues</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207</a:t>
            </a:fld>
            <a:endParaRPr lang="en-US" dirty="0"/>
          </a:p>
        </p:txBody>
      </p:sp>
      <p:pic>
        <p:nvPicPr>
          <p:cNvPr id="5" name="Picture 4" descr="MC900440428.WMF"/>
          <p:cNvPicPr>
            <a:picLocks noChangeAspect="1"/>
          </p:cNvPicPr>
          <p:nvPr/>
        </p:nvPicPr>
        <p:blipFill>
          <a:blip r:embed="rId3" cstate="print"/>
          <a:stretch>
            <a:fillRect/>
          </a:stretch>
        </p:blipFill>
        <p:spPr>
          <a:xfrm>
            <a:off x="6732240" y="3429000"/>
            <a:ext cx="1531577" cy="1612776"/>
          </a:xfrm>
          <a:prstGeom prst="rect">
            <a:avLst/>
          </a:prstGeom>
        </p:spPr>
      </p:pic>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Summary – Element 3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AU" sz="2200" dirty="0" smtClean="0">
                <a:latin typeface="Helvetica" pitchFamily="34" charset="0"/>
              </a:rPr>
              <a:t>Assess actual project performance against planned performance</a:t>
            </a:r>
          </a:p>
          <a:p>
            <a:pPr marL="360000" indent="-360000">
              <a:spcBef>
                <a:spcPts val="600"/>
              </a:spcBef>
              <a:spcAft>
                <a:spcPts val="1200"/>
              </a:spcAft>
            </a:pPr>
            <a:r>
              <a:rPr lang="en-AU" sz="2200" dirty="0" smtClean="0">
                <a:latin typeface="Helvetica" pitchFamily="34" charset="0"/>
              </a:rPr>
              <a:t>Use the project management plan as the basis for evaluation, assessment and review</a:t>
            </a:r>
          </a:p>
          <a:p>
            <a:pPr marL="360000" indent="-360000">
              <a:spcBef>
                <a:spcPts val="600"/>
              </a:spcBef>
              <a:spcAft>
                <a:spcPts val="1200"/>
              </a:spcAft>
            </a:pPr>
            <a:r>
              <a:rPr lang="en-AU" sz="2200" dirty="0" smtClean="0">
                <a:latin typeface="Helvetica" pitchFamily="34" charset="0"/>
              </a:rPr>
              <a:t>Adjust the project plan on the basis of assessment/review findings</a:t>
            </a:r>
          </a:p>
          <a:p>
            <a:pPr marL="360000" indent="-360000">
              <a:spcBef>
                <a:spcPts val="600"/>
              </a:spcBef>
              <a:spcAft>
                <a:spcPts val="1200"/>
              </a:spcAft>
            </a:pPr>
            <a:r>
              <a:rPr lang="en-AU" sz="2200" dirty="0" smtClean="0">
                <a:latin typeface="Helvetica" pitchFamily="34" charset="0"/>
              </a:rPr>
              <a:t>Incorporate evaluation results into ongoing </a:t>
            </a:r>
            <a:br>
              <a:rPr lang="en-AU" sz="2200" dirty="0" smtClean="0">
                <a:latin typeface="Helvetica" pitchFamily="34" charset="0"/>
              </a:rPr>
            </a:br>
            <a:r>
              <a:rPr lang="en-AU" sz="2200" dirty="0" smtClean="0">
                <a:latin typeface="Helvetica" pitchFamily="34" charset="0"/>
              </a:rPr>
              <a:t>project management for the project being </a:t>
            </a:r>
            <a:br>
              <a:rPr lang="en-AU" sz="2200" dirty="0" smtClean="0">
                <a:latin typeface="Helvetica" pitchFamily="34" charset="0"/>
              </a:rPr>
            </a:br>
            <a:r>
              <a:rPr lang="en-AU" sz="2200" dirty="0" smtClean="0">
                <a:latin typeface="Helvetica" pitchFamily="34" charset="0"/>
              </a:rPr>
              <a:t>assessed</a:t>
            </a:r>
          </a:p>
          <a:p>
            <a:pPr marL="360000" indent="-360000">
              <a:spcBef>
                <a:spcPts val="600"/>
              </a:spcBef>
              <a:spcAft>
                <a:spcPts val="1200"/>
              </a:spcAft>
              <a:buNone/>
            </a:pPr>
            <a:r>
              <a:rPr lang="en-US" sz="2200" i="1"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208</a:t>
            </a:fld>
            <a:endParaRPr lang="en-US" dirty="0"/>
          </a:p>
        </p:txBody>
      </p:sp>
      <p:pic>
        <p:nvPicPr>
          <p:cNvPr id="5" name="Picture 4" descr="MC900440428.WMF"/>
          <p:cNvPicPr>
            <a:picLocks noChangeAspect="1"/>
          </p:cNvPicPr>
          <p:nvPr/>
        </p:nvPicPr>
        <p:blipFill>
          <a:blip r:embed="rId3" cstate="print"/>
          <a:stretch>
            <a:fillRect/>
          </a:stretch>
        </p:blipFill>
        <p:spPr>
          <a:xfrm>
            <a:off x="6732240" y="3429000"/>
            <a:ext cx="1531577" cy="1612776"/>
          </a:xfrm>
          <a:prstGeom prst="rect">
            <a:avLst/>
          </a:prstGeom>
        </p:spPr>
      </p:pic>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64096"/>
          </a:xfrm>
        </p:spPr>
        <p:txBody>
          <a:bodyPr>
            <a:normAutofit/>
          </a:bodyPr>
          <a:lstStyle/>
          <a:p>
            <a:r>
              <a:rPr lang="en-US" sz="3400" b="1" dirty="0" smtClean="0">
                <a:solidFill>
                  <a:srgbClr val="FF6600"/>
                </a:solidFill>
                <a:latin typeface="Helvetica" pitchFamily="34" charset="0"/>
              </a:rPr>
              <a:t>Summary – Element 3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4813995"/>
          </a:xfrm>
        </p:spPr>
        <p:txBody>
          <a:bodyPr>
            <a:normAutofit/>
          </a:bodyPr>
          <a:lstStyle/>
          <a:p>
            <a:pPr marL="360000" indent="-360000">
              <a:spcBef>
                <a:spcPts val="600"/>
              </a:spcBef>
              <a:spcAft>
                <a:spcPts val="1200"/>
              </a:spcAft>
            </a:pPr>
            <a:r>
              <a:rPr lang="en-AU" sz="2200" dirty="0" smtClean="0">
                <a:latin typeface="Helvetica" pitchFamily="34" charset="0"/>
              </a:rPr>
              <a:t>Obtain necessary authorisations for project plan </a:t>
            </a:r>
            <a:r>
              <a:rPr lang="en-AU" sz="2200" smtClean="0">
                <a:latin typeface="Helvetica" pitchFamily="34" charset="0"/>
              </a:rPr>
              <a:t>revisions and amendments</a:t>
            </a:r>
            <a:endParaRPr lang="en-AU"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Circulate copies of the revised project plan </a:t>
            </a:r>
          </a:p>
          <a:p>
            <a:pPr marL="360000" indent="-360000">
              <a:spcBef>
                <a:spcPts val="600"/>
              </a:spcBef>
              <a:spcAft>
                <a:spcPts val="1200"/>
              </a:spcAft>
            </a:pPr>
            <a:r>
              <a:rPr lang="en-AU" sz="2200" dirty="0" smtClean="0">
                <a:latin typeface="Helvetica" pitchFamily="34" charset="0"/>
              </a:rPr>
              <a:t>Share the findings of the evaluation</a:t>
            </a:r>
          </a:p>
          <a:p>
            <a:pPr marL="360000" indent="-360000">
              <a:spcBef>
                <a:spcPts val="600"/>
              </a:spcBef>
              <a:spcAft>
                <a:spcPts val="1200"/>
              </a:spcAft>
            </a:pPr>
            <a:r>
              <a:rPr lang="en-AU" sz="2200" dirty="0" smtClean="0">
                <a:latin typeface="Helvetica" pitchFamily="34" charset="0"/>
              </a:rPr>
              <a:t>Factor in lessons learned into future project management activities</a:t>
            </a:r>
          </a:p>
          <a:p>
            <a:pPr marL="360000" indent="-360000">
              <a:spcBef>
                <a:spcPts val="600"/>
              </a:spcBef>
              <a:spcAft>
                <a:spcPts val="1200"/>
              </a:spcAft>
            </a:pPr>
            <a:r>
              <a:rPr lang="en-AU" sz="2200" dirty="0" smtClean="0">
                <a:latin typeface="Helvetica" pitchFamily="34" charset="0"/>
              </a:rPr>
              <a:t>Prepare and distribute a report on the project</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209</a:t>
            </a:fld>
            <a:endParaRPr lang="en-US" dirty="0"/>
          </a:p>
        </p:txBody>
      </p:sp>
      <p:pic>
        <p:nvPicPr>
          <p:cNvPr id="5" name="Picture 4" descr="MC900440428.WMF"/>
          <p:cNvPicPr>
            <a:picLocks noChangeAspect="1"/>
          </p:cNvPicPr>
          <p:nvPr/>
        </p:nvPicPr>
        <p:blipFill>
          <a:blip r:embed="rId3" cstate="print"/>
          <a:stretch>
            <a:fillRect/>
          </a:stretch>
        </p:blipFill>
        <p:spPr>
          <a:xfrm>
            <a:off x="6732240" y="3429000"/>
            <a:ext cx="1531577" cy="1612776"/>
          </a:xfrm>
          <a:prstGeom prst="rect">
            <a:avLst/>
          </a:prstGeom>
        </p:spPr>
      </p:pic>
    </p:spTree>
  </p:cSld>
  <p:clrMapOvr>
    <a:masterClrMapping/>
  </p:clrMapOvr>
</p:sld>
</file>

<file path=ppt/theme/theme1.xml><?xml version="1.0" encoding="utf-8"?>
<a:theme xmlns:a="http://schemas.openxmlformats.org/drawingml/2006/main" name="PPT_Food_&amp;_Bev_template_250612">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PPT_Food_&amp;_Bev_template_250612</Template>
  <TotalTime>3782</TotalTime>
  <Words>36068</Words>
  <Application>Microsoft Office PowerPoint</Application>
  <PresentationFormat>On-screen Show (4:3)</PresentationFormat>
  <Paragraphs>3651</Paragraphs>
  <Slides>209</Slides>
  <Notes>209</Notes>
  <HiddenSlides>0</HiddenSlides>
  <MMClips>0</MMClips>
  <ScaleCrop>false</ScaleCrop>
  <HeadingPairs>
    <vt:vector size="4" baseType="variant">
      <vt:variant>
        <vt:lpstr>Theme</vt:lpstr>
      </vt:variant>
      <vt:variant>
        <vt:i4>1</vt:i4>
      </vt:variant>
      <vt:variant>
        <vt:lpstr>Slide Titles</vt:lpstr>
      </vt:variant>
      <vt:variant>
        <vt:i4>209</vt:i4>
      </vt:variant>
    </vt:vector>
  </HeadingPairs>
  <TitlesOfParts>
    <vt:vector size="210" baseType="lpstr">
      <vt:lpstr>PPT_Food_&amp;_Bev_template_250612</vt:lpstr>
      <vt:lpstr>MANAGE AND IMPLEMENT SMALL PROJECTS</vt:lpstr>
      <vt:lpstr>Manage and implement small projects</vt:lpstr>
      <vt:lpstr>Assessment</vt:lpstr>
      <vt:lpstr>Plan project</vt:lpstr>
      <vt:lpstr>Plan project</vt:lpstr>
      <vt:lpstr>Develop objectives and scope</vt:lpstr>
      <vt:lpstr>Develop objectives and scope</vt:lpstr>
      <vt:lpstr>Develop objectives and scope</vt:lpstr>
      <vt:lpstr>Develop objectives and scope</vt:lpstr>
      <vt:lpstr>Develop objectives and scope</vt:lpstr>
      <vt:lpstr>Develop objectives and scope</vt:lpstr>
      <vt:lpstr>Develop objectives and scope</vt:lpstr>
      <vt:lpstr>Develop objectives and scope</vt:lpstr>
      <vt:lpstr>Develop objectives and scope</vt:lpstr>
      <vt:lpstr>Develop objectives and scope</vt:lpstr>
      <vt:lpstr>Develop objectives and scope</vt:lpstr>
      <vt:lpstr>Develop objectives and scope</vt:lpstr>
      <vt:lpstr>Develop objectives and scope</vt:lpstr>
      <vt:lpstr>Develop objectives and scope</vt:lpstr>
      <vt:lpstr>Develop objectives and scope</vt:lpstr>
      <vt:lpstr>Develop objectives and scope</vt:lpstr>
      <vt:lpstr>Develop objectives and scope</vt:lpstr>
      <vt:lpstr>Develop objectives and scope</vt:lpstr>
      <vt:lpstr>Develop objectives and scope</vt:lpstr>
      <vt:lpstr>Develop objectives and scope</vt:lpstr>
      <vt:lpstr>Determine and develop resource strategy</vt:lpstr>
      <vt:lpstr>Determine and develop resource strategy</vt:lpstr>
      <vt:lpstr>Determine and develop resource strategy</vt:lpstr>
      <vt:lpstr>Determine and develop resource strategy</vt:lpstr>
      <vt:lpstr>Determine and develop resource strategy</vt:lpstr>
      <vt:lpstr>Determine and develop resource strategy</vt:lpstr>
      <vt:lpstr>Determine and develop resource strategy</vt:lpstr>
      <vt:lpstr>Determine and develop resource strategy</vt:lpstr>
      <vt:lpstr>Determine and develop resource strategy</vt:lpstr>
      <vt:lpstr>Determine and develop resource strategy</vt:lpstr>
      <vt:lpstr>Determine and develop resource strategy</vt:lpstr>
      <vt:lpstr>Evaluate financial viability</vt:lpstr>
      <vt:lpstr>Evaluate financial viability</vt:lpstr>
      <vt:lpstr>Evaluate financial viability</vt:lpstr>
      <vt:lpstr>Evaluate financial viability</vt:lpstr>
      <vt:lpstr>Evaluate financial viability</vt:lpstr>
      <vt:lpstr>Evaluate financial viability</vt:lpstr>
      <vt:lpstr>Evaluate financial viability</vt:lpstr>
      <vt:lpstr>Evaluate financial viability</vt:lpstr>
      <vt:lpstr>Evaluate financial viability</vt:lpstr>
      <vt:lpstr>Evaluate financial viability</vt:lpstr>
      <vt:lpstr>Evaluate financial viability</vt:lpstr>
      <vt:lpstr>Evaluate financial viability</vt:lpstr>
      <vt:lpstr>Evaluate financial viability</vt:lpstr>
      <vt:lpstr>Evaluate financial viability</vt:lpstr>
      <vt:lpstr>Evaluate financial viability</vt:lpstr>
      <vt:lpstr>Evaluate financial viability</vt:lpstr>
      <vt:lpstr>Evaluate financial viability</vt:lpstr>
      <vt:lpstr>Evaluate financial viability</vt:lpstr>
      <vt:lpstr>Evaluate financial viability</vt:lpstr>
      <vt:lpstr>Evaluate financial viability</vt:lpstr>
      <vt:lpstr>Plan and create administrative structure</vt:lpstr>
      <vt:lpstr>Plan and create administrative structure</vt:lpstr>
      <vt:lpstr>Plan and create administrative structure</vt:lpstr>
      <vt:lpstr>Plan and create administrative structure</vt:lpstr>
      <vt:lpstr>Plan and create administrative structure</vt:lpstr>
      <vt:lpstr>Plan and create administrative structure</vt:lpstr>
      <vt:lpstr>Plan and create administrative structure</vt:lpstr>
      <vt:lpstr>Plan and create administrative structure</vt:lpstr>
      <vt:lpstr>Plan and create administrative structure</vt:lpstr>
      <vt:lpstr>Plan and create administrative structure</vt:lpstr>
      <vt:lpstr>Allocate project responsibilities</vt:lpstr>
      <vt:lpstr>Allocate project responsibilities</vt:lpstr>
      <vt:lpstr>Allocate project responsibilities</vt:lpstr>
      <vt:lpstr>Allocate project responsibilities</vt:lpstr>
      <vt:lpstr>Allocate project responsibilities</vt:lpstr>
      <vt:lpstr>Allocate project responsibilities</vt:lpstr>
      <vt:lpstr>Allocate project responsibilities</vt:lpstr>
      <vt:lpstr>Allocate project responsibilities</vt:lpstr>
      <vt:lpstr>Allocate project responsibilities</vt:lpstr>
      <vt:lpstr>Plan communications, PR and marketing</vt:lpstr>
      <vt:lpstr>Slide 77</vt:lpstr>
      <vt:lpstr>Slide 78</vt:lpstr>
      <vt:lpstr>Slide 79</vt:lpstr>
      <vt:lpstr>Slide 80</vt:lpstr>
      <vt:lpstr>Slide 81</vt:lpstr>
      <vt:lpstr>Slide 82</vt:lpstr>
      <vt:lpstr>Slide 83</vt:lpstr>
      <vt:lpstr>Slide 84</vt:lpstr>
      <vt:lpstr>Slide 85</vt:lpstr>
      <vt:lpstr>Slide 86</vt:lpstr>
      <vt:lpstr>Slide 87</vt:lpstr>
      <vt:lpstr>Reach agreement on evaluation</vt:lpstr>
      <vt:lpstr>Reach agreement on evaluation</vt:lpstr>
      <vt:lpstr>Reach agreement on evaluation</vt:lpstr>
      <vt:lpstr>Reach agreement on evaluation</vt:lpstr>
      <vt:lpstr>Reach agreement on evaluation</vt:lpstr>
      <vt:lpstr>Reach agreement on evaluation</vt:lpstr>
      <vt:lpstr>Develop project management plan</vt:lpstr>
      <vt:lpstr>Develop project management plan</vt:lpstr>
      <vt:lpstr>Develop project management plan</vt:lpstr>
      <vt:lpstr>Develop project management plan</vt:lpstr>
      <vt:lpstr>Develop project management plan</vt:lpstr>
      <vt:lpstr>Develop project management plan</vt:lpstr>
      <vt:lpstr>Develop project management plan</vt:lpstr>
      <vt:lpstr>Develop project management plan</vt:lpstr>
      <vt:lpstr>Develop project management plan</vt:lpstr>
      <vt:lpstr>Develop project management plan</vt:lpstr>
      <vt:lpstr>Develop project management plan</vt:lpstr>
      <vt:lpstr>Develop project management plan</vt:lpstr>
      <vt:lpstr>Develop project management plan</vt:lpstr>
      <vt:lpstr>Develop project management plan</vt:lpstr>
      <vt:lpstr>Develop project management plan</vt:lpstr>
      <vt:lpstr>Develop project management plan</vt:lpstr>
      <vt:lpstr>Develop project management plan</vt:lpstr>
      <vt:lpstr>Develop project management plan</vt:lpstr>
      <vt:lpstr>Develop project management plan</vt:lpstr>
      <vt:lpstr>Develop project management plan</vt:lpstr>
      <vt:lpstr>Develop project management plan</vt:lpstr>
      <vt:lpstr>Develop project management plan</vt:lpstr>
      <vt:lpstr>Develop project management plan</vt:lpstr>
      <vt:lpstr>Develop project management plan</vt:lpstr>
      <vt:lpstr>Identify key project milestones</vt:lpstr>
      <vt:lpstr>Identify key project milestones</vt:lpstr>
      <vt:lpstr>Identify key project milestones</vt:lpstr>
      <vt:lpstr>Identify key project milestones</vt:lpstr>
      <vt:lpstr>Identify key project milestones</vt:lpstr>
      <vt:lpstr>Summary – Element 1</vt:lpstr>
      <vt:lpstr>Summary – Element 1</vt:lpstr>
      <vt:lpstr>Summary – Element 1</vt:lpstr>
      <vt:lpstr>Administer and monitor project</vt:lpstr>
      <vt:lpstr>Administer and monitor project</vt:lpstr>
      <vt:lpstr>Implement and monitor project</vt:lpstr>
      <vt:lpstr>Implement and monitor project</vt:lpstr>
      <vt:lpstr>Implement and monitor project</vt:lpstr>
      <vt:lpstr>Implement and monitor project</vt:lpstr>
      <vt:lpstr>Implement and monitor project</vt:lpstr>
      <vt:lpstr>Implement and monitor project</vt:lpstr>
      <vt:lpstr>Implement and monitor project</vt:lpstr>
      <vt:lpstr>Implement and monitor project</vt:lpstr>
      <vt:lpstr>Provide support and assistance to team</vt:lpstr>
      <vt:lpstr>Provide support and assistance to team</vt:lpstr>
      <vt:lpstr>Provide support and assistance to team</vt:lpstr>
      <vt:lpstr>Provide support and assistance to team</vt:lpstr>
      <vt:lpstr>Provide support and assistance to team</vt:lpstr>
      <vt:lpstr>Build trust and respect with team</vt:lpstr>
      <vt:lpstr>Build trust and respect with team</vt:lpstr>
      <vt:lpstr>Build trust and respect with team</vt:lpstr>
      <vt:lpstr>Build trust and respect with team</vt:lpstr>
      <vt:lpstr>Build trust and respect with team</vt:lpstr>
      <vt:lpstr>Build trust and respect with team</vt:lpstr>
      <vt:lpstr>Build trust and respect with team</vt:lpstr>
      <vt:lpstr>Assess and review progress</vt:lpstr>
      <vt:lpstr>Assess and review progress</vt:lpstr>
      <vt:lpstr>Assess and review progress</vt:lpstr>
      <vt:lpstr>Assess and review progress</vt:lpstr>
      <vt:lpstr>Assess and review progress</vt:lpstr>
      <vt:lpstr>Assess and review progress</vt:lpstr>
      <vt:lpstr>Determine need for additional resources</vt:lpstr>
      <vt:lpstr>Determine need for additional resources</vt:lpstr>
      <vt:lpstr>Determine need for additional resources</vt:lpstr>
      <vt:lpstr>Determine need for additional resources</vt:lpstr>
      <vt:lpstr>Determine need for additional resources</vt:lpstr>
      <vt:lpstr>Determine need for additional resources</vt:lpstr>
      <vt:lpstr>Determine need for additional resources</vt:lpstr>
      <vt:lpstr>Determine need for additional resources</vt:lpstr>
      <vt:lpstr>Monitor budget</vt:lpstr>
      <vt:lpstr>Monitor budget</vt:lpstr>
      <vt:lpstr>Monitor budget</vt:lpstr>
      <vt:lpstr>Monitor budget</vt:lpstr>
      <vt:lpstr>Monitor budget</vt:lpstr>
      <vt:lpstr>Provide regular reports</vt:lpstr>
      <vt:lpstr>Provide regular reports</vt:lpstr>
      <vt:lpstr>Provide regular reports</vt:lpstr>
      <vt:lpstr>Provide regular reports</vt:lpstr>
      <vt:lpstr>Provide regular reports</vt:lpstr>
      <vt:lpstr>Complete project</vt:lpstr>
      <vt:lpstr>Complete project</vt:lpstr>
      <vt:lpstr>Complete project</vt:lpstr>
      <vt:lpstr>Complete project</vt:lpstr>
      <vt:lpstr>Summary – Element 2</vt:lpstr>
      <vt:lpstr>Summary – Element 2</vt:lpstr>
      <vt:lpstr>Summary – Element 2</vt:lpstr>
      <vt:lpstr>Evaluate project</vt:lpstr>
      <vt:lpstr>Evaluate project</vt:lpstr>
      <vt:lpstr>Assess project at specified stages</vt:lpstr>
      <vt:lpstr>Assess project at specified stages</vt:lpstr>
      <vt:lpstr>Assess project at specified stages</vt:lpstr>
      <vt:lpstr>Assess project at specified stages</vt:lpstr>
      <vt:lpstr>Assess project at specified stages</vt:lpstr>
      <vt:lpstr>Consider agreed goals and priorities</vt:lpstr>
      <vt:lpstr>Consider agreed goals and priorities</vt:lpstr>
      <vt:lpstr>Consider agreed goals and priorities</vt:lpstr>
      <vt:lpstr>Consider agreed goals and priorities</vt:lpstr>
      <vt:lpstr>Consider agreed goals and priorities</vt:lpstr>
      <vt:lpstr>Consider agreed goals and priorities</vt:lpstr>
      <vt:lpstr>Consider agreed goals and priorities</vt:lpstr>
      <vt:lpstr>Involve project team members</vt:lpstr>
      <vt:lpstr>Involve project team members</vt:lpstr>
      <vt:lpstr>Involve project team members</vt:lpstr>
      <vt:lpstr>Involve project team members</vt:lpstr>
      <vt:lpstr>Incorporate results into ongoing project management</vt:lpstr>
      <vt:lpstr>Incorporate results into ongoing project management</vt:lpstr>
      <vt:lpstr>Incorporate results into ongoing project management</vt:lpstr>
      <vt:lpstr>Incorporate results into ongoing project management</vt:lpstr>
      <vt:lpstr>Share and incorporate findings into future planning</vt:lpstr>
      <vt:lpstr>Share and incorporate findings into future planning</vt:lpstr>
      <vt:lpstr>Share and incorporate findings into future planning</vt:lpstr>
      <vt:lpstr>Report on project</vt:lpstr>
      <vt:lpstr>Report on project</vt:lpstr>
      <vt:lpstr>Report on project</vt:lpstr>
      <vt:lpstr>Summary – Element 3 </vt:lpstr>
      <vt:lpstr>Summary – Element 3 </vt:lpstr>
      <vt:lpstr>Summary – Element 3 </vt:lpstr>
    </vt:vector>
  </TitlesOfParts>
  <Company>William Angliss Institute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 AND IMPLEMENT SMALL PROJECTS</dc:title>
  <dc:creator>Administrator</dc:creator>
  <cp:lastModifiedBy>Daniel James Chee</cp:lastModifiedBy>
  <cp:revision>228</cp:revision>
  <dcterms:created xsi:type="dcterms:W3CDTF">2013-02-18T05:47:13Z</dcterms:created>
  <dcterms:modified xsi:type="dcterms:W3CDTF">2014-01-27T02:52:02Z</dcterms:modified>
</cp:coreProperties>
</file>