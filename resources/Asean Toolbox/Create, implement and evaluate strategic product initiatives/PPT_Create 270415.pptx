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gif" ContentType="image/gif"/>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08" r:id="rId1"/>
  </p:sldMasterIdLst>
  <p:notesMasterIdLst>
    <p:notesMasterId r:id="rId48"/>
  </p:notesMasterIdLst>
  <p:handoutMasterIdLst>
    <p:handoutMasterId r:id="rId49"/>
  </p:handout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303" r:id="rId37"/>
    <p:sldId id="291" r:id="rId38"/>
    <p:sldId id="292" r:id="rId39"/>
    <p:sldId id="293" r:id="rId40"/>
    <p:sldId id="294" r:id="rId41"/>
    <p:sldId id="295" r:id="rId42"/>
    <p:sldId id="297" r:id="rId43"/>
    <p:sldId id="299" r:id="rId44"/>
    <p:sldId id="300" r:id="rId45"/>
    <p:sldId id="301" r:id="rId46"/>
    <p:sldId id="302" r:id="rId47"/>
  </p:sldIdLst>
  <p:sldSz cx="9144000" cy="6858000" type="screen4x3"/>
  <p:notesSz cx="7099300" cy="10234613"/>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66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0335" autoAdjust="0"/>
    <p:restoredTop sz="88688" autoAdjust="0"/>
  </p:normalViewPr>
  <p:slideViewPr>
    <p:cSldViewPr>
      <p:cViewPr>
        <p:scale>
          <a:sx n="100" d="100"/>
          <a:sy n="100" d="100"/>
        </p:scale>
        <p:origin x="-1114" y="1027"/>
      </p:cViewPr>
      <p:guideLst>
        <p:guide orient="horz" pos="2160"/>
        <p:guide pos="2880"/>
      </p:guideLst>
    </p:cSldViewPr>
  </p:slideViewPr>
  <p:outlineViewPr>
    <p:cViewPr>
      <p:scale>
        <a:sx n="33" d="100"/>
        <a:sy n="33" d="100"/>
      </p:scale>
      <p:origin x="0" y="0"/>
    </p:cViewPr>
  </p:outlineViewPr>
  <p:notesTextViewPr>
    <p:cViewPr>
      <p:scale>
        <a:sx n="75" d="100"/>
        <a:sy n="75"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handoutMaster" Target="handoutMasters/handout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notesMaster" Target="notesMasters/notesMaster1.xml"/><Relationship Id="rId8" Type="http://schemas.openxmlformats.org/officeDocument/2006/relationships/slide" Target="slides/slide7.xml"/><Relationship Id="rId51"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1" y="1"/>
            <a:ext cx="3076363" cy="511313"/>
          </a:xfrm>
          <a:prstGeom prst="rect">
            <a:avLst/>
          </a:prstGeom>
        </p:spPr>
        <p:txBody>
          <a:bodyPr vert="horz" lIns="94759" tIns="47380" rIns="94759" bIns="47380" rtlCol="0"/>
          <a:lstStyle>
            <a:lvl1pPr algn="l">
              <a:defRPr sz="1200"/>
            </a:lvl1pPr>
          </a:lstStyle>
          <a:p>
            <a:endParaRPr lang="en-GB" dirty="0"/>
          </a:p>
        </p:txBody>
      </p:sp>
      <p:sp>
        <p:nvSpPr>
          <p:cNvPr id="3" name="Date Placeholder 2"/>
          <p:cNvSpPr>
            <a:spLocks noGrp="1"/>
          </p:cNvSpPr>
          <p:nvPr>
            <p:ph type="dt" sz="quarter" idx="1"/>
          </p:nvPr>
        </p:nvSpPr>
        <p:spPr>
          <a:xfrm>
            <a:off x="4021295" y="1"/>
            <a:ext cx="3076363" cy="511313"/>
          </a:xfrm>
          <a:prstGeom prst="rect">
            <a:avLst/>
          </a:prstGeom>
        </p:spPr>
        <p:txBody>
          <a:bodyPr vert="horz" lIns="94759" tIns="47380" rIns="94759" bIns="47380" rtlCol="0"/>
          <a:lstStyle>
            <a:lvl1pPr algn="r">
              <a:defRPr sz="1200"/>
            </a:lvl1pPr>
          </a:lstStyle>
          <a:p>
            <a:fld id="{E6916107-BD3A-45E2-B124-A5ED60630F4B}" type="datetimeFigureOut">
              <a:rPr lang="en-US" smtClean="0"/>
              <a:pPr/>
              <a:t>4/27/2015</a:t>
            </a:fld>
            <a:endParaRPr lang="en-GB" dirty="0"/>
          </a:p>
        </p:txBody>
      </p:sp>
      <p:sp>
        <p:nvSpPr>
          <p:cNvPr id="4" name="Footer Placeholder 3"/>
          <p:cNvSpPr>
            <a:spLocks noGrp="1"/>
          </p:cNvSpPr>
          <p:nvPr>
            <p:ph type="ftr" sz="quarter" idx="2"/>
          </p:nvPr>
        </p:nvSpPr>
        <p:spPr>
          <a:xfrm>
            <a:off x="1" y="9721629"/>
            <a:ext cx="3076363" cy="511313"/>
          </a:xfrm>
          <a:prstGeom prst="rect">
            <a:avLst/>
          </a:prstGeom>
        </p:spPr>
        <p:txBody>
          <a:bodyPr vert="horz" lIns="94759" tIns="47380" rIns="94759" bIns="47380" rtlCol="0" anchor="b"/>
          <a:lstStyle>
            <a:lvl1pPr algn="l">
              <a:defRPr sz="1200"/>
            </a:lvl1pPr>
          </a:lstStyle>
          <a:p>
            <a:endParaRPr lang="en-GB" dirty="0"/>
          </a:p>
        </p:txBody>
      </p:sp>
      <p:sp>
        <p:nvSpPr>
          <p:cNvPr id="5" name="Slide Number Placeholder 4"/>
          <p:cNvSpPr>
            <a:spLocks noGrp="1"/>
          </p:cNvSpPr>
          <p:nvPr>
            <p:ph type="sldNum" sz="quarter" idx="3"/>
          </p:nvPr>
        </p:nvSpPr>
        <p:spPr>
          <a:xfrm>
            <a:off x="4021295" y="9721629"/>
            <a:ext cx="3076363" cy="511313"/>
          </a:xfrm>
          <a:prstGeom prst="rect">
            <a:avLst/>
          </a:prstGeom>
        </p:spPr>
        <p:txBody>
          <a:bodyPr vert="horz" lIns="94759" tIns="47380" rIns="94759" bIns="47380" rtlCol="0" anchor="b"/>
          <a:lstStyle>
            <a:lvl1pPr algn="r">
              <a:defRPr sz="1200"/>
            </a:lvl1pPr>
          </a:lstStyle>
          <a:p>
            <a:fld id="{5905CC0A-F53C-4267-913E-3202B6ED95E3}" type="slidenum">
              <a:rPr lang="en-GB" smtClean="0"/>
              <a:pPr/>
              <a:t>‹#›</a:t>
            </a:fld>
            <a:endParaRPr lang="en-GB" dirty="0"/>
          </a:p>
        </p:txBody>
      </p:sp>
    </p:spTree>
    <p:extLst>
      <p:ext uri="{BB962C8B-B14F-4D97-AF65-F5344CB8AC3E}">
        <p14:creationId xmlns:p14="http://schemas.microsoft.com/office/powerpoint/2010/main" val="14932998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1" y="1"/>
            <a:ext cx="3076363" cy="511730"/>
          </a:xfrm>
          <a:prstGeom prst="rect">
            <a:avLst/>
          </a:prstGeom>
        </p:spPr>
        <p:txBody>
          <a:bodyPr vert="horz" lIns="94759" tIns="47380" rIns="94759" bIns="47380" rtlCol="0"/>
          <a:lstStyle>
            <a:lvl1pPr algn="l">
              <a:defRPr sz="1200"/>
            </a:lvl1pPr>
          </a:lstStyle>
          <a:p>
            <a:endParaRPr lang="en-US" dirty="0"/>
          </a:p>
        </p:txBody>
      </p:sp>
      <p:sp>
        <p:nvSpPr>
          <p:cNvPr id="3" name="Date Placeholder 2"/>
          <p:cNvSpPr>
            <a:spLocks noGrp="1"/>
          </p:cNvSpPr>
          <p:nvPr>
            <p:ph type="dt" idx="1"/>
          </p:nvPr>
        </p:nvSpPr>
        <p:spPr>
          <a:xfrm>
            <a:off x="4021295" y="1"/>
            <a:ext cx="3076363" cy="511730"/>
          </a:xfrm>
          <a:prstGeom prst="rect">
            <a:avLst/>
          </a:prstGeom>
        </p:spPr>
        <p:txBody>
          <a:bodyPr vert="horz" lIns="94759" tIns="47380" rIns="94759" bIns="47380" rtlCol="0"/>
          <a:lstStyle>
            <a:lvl1pPr algn="r">
              <a:defRPr sz="1200"/>
            </a:lvl1pPr>
          </a:lstStyle>
          <a:p>
            <a:fld id="{BC34F173-2430-41D6-9CA5-C9CD3BDF7E96}" type="datetimeFigureOut">
              <a:rPr lang="en-US" smtClean="0"/>
              <a:pPr/>
              <a:t>4/27/2015</a:t>
            </a:fld>
            <a:endParaRPr lang="en-US" dirty="0"/>
          </a:p>
        </p:txBody>
      </p:sp>
      <p:sp>
        <p:nvSpPr>
          <p:cNvPr id="4" name="Slide Image Placeholder 3"/>
          <p:cNvSpPr>
            <a:spLocks noGrp="1" noRot="1" noChangeAspect="1"/>
          </p:cNvSpPr>
          <p:nvPr>
            <p:ph type="sldImg" idx="2"/>
          </p:nvPr>
        </p:nvSpPr>
        <p:spPr>
          <a:xfrm>
            <a:off x="990600" y="766763"/>
            <a:ext cx="5118100" cy="3838575"/>
          </a:xfrm>
          <a:prstGeom prst="rect">
            <a:avLst/>
          </a:prstGeom>
          <a:noFill/>
          <a:ln w="12700">
            <a:solidFill>
              <a:prstClr val="black"/>
            </a:solidFill>
          </a:ln>
        </p:spPr>
        <p:txBody>
          <a:bodyPr vert="horz" lIns="94759" tIns="47380" rIns="94759" bIns="47380" rtlCol="0" anchor="ctr"/>
          <a:lstStyle/>
          <a:p>
            <a:endParaRPr lang="en-US" dirty="0"/>
          </a:p>
        </p:txBody>
      </p:sp>
      <p:sp>
        <p:nvSpPr>
          <p:cNvPr id="5" name="Notes Placeholder 4"/>
          <p:cNvSpPr>
            <a:spLocks noGrp="1"/>
          </p:cNvSpPr>
          <p:nvPr>
            <p:ph type="body" sz="quarter" idx="3"/>
          </p:nvPr>
        </p:nvSpPr>
        <p:spPr>
          <a:xfrm>
            <a:off x="709931" y="4861442"/>
            <a:ext cx="5679440" cy="4605576"/>
          </a:xfrm>
          <a:prstGeom prst="rect">
            <a:avLst/>
          </a:prstGeom>
        </p:spPr>
        <p:txBody>
          <a:bodyPr vert="horz" lIns="94759" tIns="47380" rIns="94759" bIns="4738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1" y="9721106"/>
            <a:ext cx="3076363" cy="511730"/>
          </a:xfrm>
          <a:prstGeom prst="rect">
            <a:avLst/>
          </a:prstGeom>
        </p:spPr>
        <p:txBody>
          <a:bodyPr vert="horz" lIns="94759" tIns="47380" rIns="94759" bIns="47380" rtlCol="0" anchor="b"/>
          <a:lstStyle>
            <a:lvl1pPr algn="l">
              <a:defRPr sz="1200"/>
            </a:lvl1pPr>
          </a:lstStyle>
          <a:p>
            <a:endParaRPr lang="en-US" dirty="0"/>
          </a:p>
        </p:txBody>
      </p:sp>
      <p:sp>
        <p:nvSpPr>
          <p:cNvPr id="7" name="Slide Number Placeholder 6"/>
          <p:cNvSpPr>
            <a:spLocks noGrp="1"/>
          </p:cNvSpPr>
          <p:nvPr>
            <p:ph type="sldNum" sz="quarter" idx="5"/>
          </p:nvPr>
        </p:nvSpPr>
        <p:spPr>
          <a:xfrm>
            <a:off x="4021295" y="9721106"/>
            <a:ext cx="3076363" cy="511730"/>
          </a:xfrm>
          <a:prstGeom prst="rect">
            <a:avLst/>
          </a:prstGeom>
        </p:spPr>
        <p:txBody>
          <a:bodyPr vert="horz" lIns="94759" tIns="47380" rIns="94759" bIns="47380" rtlCol="0" anchor="b"/>
          <a:lstStyle>
            <a:lvl1pPr algn="r">
              <a:defRPr sz="1200"/>
            </a:lvl1pPr>
          </a:lstStyle>
          <a:p>
            <a:fld id="{006CD3C9-0AF2-437D-9D2F-7B6B298CC32F}" type="slidenum">
              <a:rPr lang="en-US" smtClean="0"/>
              <a:pPr/>
              <a:t>‹#›</a:t>
            </a:fld>
            <a:endParaRPr lang="en-US" dirty="0"/>
          </a:p>
        </p:txBody>
      </p:sp>
    </p:spTree>
    <p:extLst>
      <p:ext uri="{BB962C8B-B14F-4D97-AF65-F5344CB8AC3E}">
        <p14:creationId xmlns:p14="http://schemas.microsoft.com/office/powerpoint/2010/main" val="315599000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3" Type="http://schemas.openxmlformats.org/officeDocument/2006/relationships/hyperlink" Target="http://www.kotterinternational.com/" TargetMode="External"/><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3" Type="http://schemas.openxmlformats.org/officeDocument/2006/relationships/hyperlink" Target="http://www.kotterinternational.com/" TargetMode="External"/><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smtClean="0"/>
              <a:t>Trainer welcomes students to class.</a:t>
            </a:r>
          </a:p>
          <a:p>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a:t>
            </a:fld>
            <a:endParaRPr lang="en-US" dirty="0"/>
          </a:p>
        </p:txBody>
      </p:sp>
    </p:spTree>
    <p:extLst>
      <p:ext uri="{BB962C8B-B14F-4D97-AF65-F5344CB8AC3E}">
        <p14:creationId xmlns:p14="http://schemas.microsoft.com/office/powerpoint/2010/main" val="114631923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noProof="0" dirty="0" smtClean="0"/>
              <a:t>Trainer should go through the assessment and expectations of the course. Trainer should draw trainees’ attention to work projects</a:t>
            </a:r>
            <a:r>
              <a:rPr lang="en-AU" baseline="0" noProof="0" dirty="0" smtClean="0"/>
              <a:t> and due dates.</a:t>
            </a: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2</a:t>
            </a:fld>
            <a:endParaRPr lang="en-US" dirty="0"/>
          </a:p>
        </p:txBody>
      </p:sp>
    </p:spTree>
    <p:extLst>
      <p:ext uri="{BB962C8B-B14F-4D97-AF65-F5344CB8AC3E}">
        <p14:creationId xmlns:p14="http://schemas.microsoft.com/office/powerpoint/2010/main" val="341730296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kern="1200" dirty="0" smtClean="0">
                <a:solidFill>
                  <a:schemeClr val="tx1"/>
                </a:solidFill>
                <a:effectLst/>
                <a:latin typeface="+mn-lt"/>
                <a:ea typeface="+mn-ea"/>
                <a:cs typeface="+mn-cs"/>
              </a:rPr>
              <a:t>Class Activity – Discussion</a:t>
            </a:r>
            <a:endParaRPr lang="en-AU" sz="1200" kern="1200" dirty="0" smtClean="0">
              <a:solidFill>
                <a:schemeClr val="tx1"/>
              </a:solidFill>
              <a:effectLst/>
              <a:latin typeface="+mn-lt"/>
              <a:ea typeface="+mn-ea"/>
              <a:cs typeface="+mn-cs"/>
            </a:endParaRPr>
          </a:p>
          <a:p>
            <a:r>
              <a:rPr lang="en-AU" sz="1200" kern="1200" dirty="0" smtClean="0">
                <a:solidFill>
                  <a:schemeClr val="tx1"/>
                </a:solidFill>
                <a:effectLst/>
                <a:latin typeface="+mn-lt"/>
                <a:ea typeface="+mn-ea"/>
                <a:cs typeface="+mn-cs"/>
              </a:rPr>
              <a:t>Trainer to provide examples</a:t>
            </a: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3</a:t>
            </a:fld>
            <a:endParaRPr lang="en-US" dirty="0"/>
          </a:p>
        </p:txBody>
      </p:sp>
    </p:spTree>
    <p:extLst>
      <p:ext uri="{BB962C8B-B14F-4D97-AF65-F5344CB8AC3E}">
        <p14:creationId xmlns:p14="http://schemas.microsoft.com/office/powerpoint/2010/main" val="103504015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lnSpcReduction="10000"/>
          </a:bodyPr>
          <a:lstStyle/>
          <a:p>
            <a:r>
              <a:rPr lang="en-AU" sz="1200" kern="1200" dirty="0" smtClean="0">
                <a:solidFill>
                  <a:schemeClr val="tx1"/>
                </a:solidFill>
                <a:effectLst/>
                <a:latin typeface="+mn-lt"/>
                <a:ea typeface="+mn-ea"/>
                <a:cs typeface="+mn-cs"/>
              </a:rPr>
              <a:t>Trainer to explain</a:t>
            </a:r>
            <a:r>
              <a:rPr lang="en-AU" sz="1200" kern="1200" baseline="0" dirty="0" smtClean="0">
                <a:solidFill>
                  <a:schemeClr val="tx1"/>
                </a:solidFill>
                <a:effectLst/>
                <a:latin typeface="+mn-lt"/>
                <a:ea typeface="+mn-ea"/>
                <a:cs typeface="+mn-cs"/>
              </a:rPr>
              <a:t> the marketing mix and also the external environment surrounding the marketing mix. </a:t>
            </a:r>
          </a:p>
          <a:p>
            <a:r>
              <a:rPr lang="en-AU" sz="1200" b="1" kern="1200" dirty="0" smtClean="0">
                <a:solidFill>
                  <a:schemeClr val="tx1"/>
                </a:solidFill>
                <a:effectLst/>
                <a:latin typeface="+mn-lt"/>
                <a:ea typeface="+mn-ea"/>
                <a:cs typeface="+mn-cs"/>
              </a:rPr>
              <a:t>The Four P’s</a:t>
            </a:r>
            <a:endParaRPr lang="en-US" sz="1200" b="1" kern="1200" dirty="0" smtClean="0">
              <a:solidFill>
                <a:schemeClr val="tx1"/>
              </a:solidFill>
              <a:effectLst/>
              <a:latin typeface="+mn-lt"/>
              <a:ea typeface="+mn-ea"/>
              <a:cs typeface="+mn-cs"/>
            </a:endParaRPr>
          </a:p>
          <a:p>
            <a:r>
              <a:rPr lang="en-AU" sz="1200" b="1" kern="1200" dirty="0" smtClean="0">
                <a:solidFill>
                  <a:schemeClr val="tx1"/>
                </a:solidFill>
                <a:effectLst/>
                <a:latin typeface="+mn-lt"/>
                <a:ea typeface="+mn-ea"/>
                <a:cs typeface="+mn-cs"/>
              </a:rPr>
              <a:t>Price</a:t>
            </a:r>
            <a:endParaRPr lang="en-US" sz="1200" b="1" kern="1200" dirty="0" smtClean="0">
              <a:solidFill>
                <a:schemeClr val="tx1"/>
              </a:solidFill>
              <a:effectLst/>
              <a:latin typeface="+mn-lt"/>
              <a:ea typeface="+mn-ea"/>
              <a:cs typeface="+mn-cs"/>
            </a:endParaRPr>
          </a:p>
          <a:p>
            <a:r>
              <a:rPr lang="en-AU" sz="1200" kern="1200" dirty="0" smtClean="0">
                <a:solidFill>
                  <a:schemeClr val="tx1"/>
                </a:solidFill>
                <a:effectLst/>
                <a:latin typeface="+mn-lt"/>
                <a:ea typeface="+mn-ea"/>
                <a:cs typeface="+mn-cs"/>
              </a:rPr>
              <a:t>The price aspect of the marketing mix refers to the value of an organisation’s products and service. Some of the factors that influence price may be the cost to make or deliver the product or service, discounting strategies, and positioning in relation to competitor pricing.</a:t>
            </a:r>
            <a:endParaRPr lang="en-US" sz="1200" kern="1200" dirty="0" smtClean="0">
              <a:solidFill>
                <a:schemeClr val="tx1"/>
              </a:solidFill>
              <a:effectLst/>
              <a:latin typeface="+mn-lt"/>
              <a:ea typeface="+mn-ea"/>
              <a:cs typeface="+mn-cs"/>
            </a:endParaRPr>
          </a:p>
          <a:p>
            <a:r>
              <a:rPr lang="en-AU" sz="1200" b="1" kern="1200" dirty="0" smtClean="0">
                <a:solidFill>
                  <a:schemeClr val="tx1"/>
                </a:solidFill>
                <a:effectLst/>
                <a:latin typeface="+mn-lt"/>
                <a:ea typeface="+mn-ea"/>
                <a:cs typeface="+mn-cs"/>
              </a:rPr>
              <a:t>Product</a:t>
            </a:r>
            <a:endParaRPr lang="en-US" sz="1200" b="1" kern="1200" dirty="0" smtClean="0">
              <a:solidFill>
                <a:schemeClr val="tx1"/>
              </a:solidFill>
              <a:effectLst/>
              <a:latin typeface="+mn-lt"/>
              <a:ea typeface="+mn-ea"/>
              <a:cs typeface="+mn-cs"/>
            </a:endParaRPr>
          </a:p>
          <a:p>
            <a:r>
              <a:rPr lang="en-AU" sz="1200" kern="1200" dirty="0" smtClean="0">
                <a:solidFill>
                  <a:schemeClr val="tx1"/>
                </a:solidFill>
                <a:effectLst/>
                <a:latin typeface="+mn-lt"/>
                <a:ea typeface="+mn-ea"/>
                <a:cs typeface="+mn-cs"/>
              </a:rPr>
              <a:t>These are the goods and services that an organisation offers to its customers or consumers. Products and services have both tangible and intangible aspects and services are often intangible in that you can’t see, touch or feel the service, only the effect of it or impression. </a:t>
            </a:r>
            <a:endParaRPr lang="en-US" sz="1200" kern="1200" dirty="0" smtClean="0">
              <a:solidFill>
                <a:schemeClr val="tx1"/>
              </a:solidFill>
              <a:effectLst/>
              <a:latin typeface="+mn-lt"/>
              <a:ea typeface="+mn-ea"/>
              <a:cs typeface="+mn-cs"/>
            </a:endParaRPr>
          </a:p>
          <a:p>
            <a:r>
              <a:rPr lang="en-AU" sz="1200" b="1" kern="1200" dirty="0" smtClean="0">
                <a:solidFill>
                  <a:schemeClr val="tx1"/>
                </a:solidFill>
                <a:effectLst/>
                <a:latin typeface="+mn-lt"/>
                <a:ea typeface="+mn-ea"/>
                <a:cs typeface="+mn-cs"/>
              </a:rPr>
              <a:t>Place</a:t>
            </a:r>
            <a:endParaRPr lang="en-US" sz="1200" b="1" kern="1200" dirty="0" smtClean="0">
              <a:solidFill>
                <a:schemeClr val="tx1"/>
              </a:solidFill>
              <a:effectLst/>
              <a:latin typeface="+mn-lt"/>
              <a:ea typeface="+mn-ea"/>
              <a:cs typeface="+mn-cs"/>
            </a:endParaRPr>
          </a:p>
          <a:p>
            <a:r>
              <a:rPr lang="en-AU" sz="1200" kern="1200" dirty="0" smtClean="0">
                <a:solidFill>
                  <a:schemeClr val="tx1"/>
                </a:solidFill>
                <a:effectLst/>
                <a:latin typeface="+mn-lt"/>
                <a:ea typeface="+mn-ea"/>
                <a:cs typeface="+mn-cs"/>
              </a:rPr>
              <a:t>This refers to how </a:t>
            </a:r>
            <a:r>
              <a:rPr lang="en-AU" sz="1200" kern="1200" dirty="0" smtClean="0">
                <a:solidFill>
                  <a:schemeClr val="tx1"/>
                </a:solidFill>
                <a:effectLst/>
                <a:latin typeface="+mn-lt"/>
                <a:ea typeface="+mn-ea"/>
                <a:cs typeface="+mn-cs"/>
              </a:rPr>
              <a:t>and </a:t>
            </a:r>
            <a:r>
              <a:rPr lang="en-AU" sz="1200" kern="1200" dirty="0" smtClean="0">
                <a:solidFill>
                  <a:schemeClr val="tx1"/>
                </a:solidFill>
                <a:effectLst/>
                <a:latin typeface="+mn-lt"/>
                <a:ea typeface="+mn-ea"/>
                <a:cs typeface="+mn-cs"/>
              </a:rPr>
              <a:t>where the product or services are being delivered to customers. The place where product or service delivery occurs has a significant impact on deciding to develop or deliver a service. Place is sometimes referred to as distribution and includes location, facilities, and whether other intermediary partners are needed.</a:t>
            </a:r>
            <a:endParaRPr lang="en-US" sz="1200" kern="1200" dirty="0" smtClean="0">
              <a:solidFill>
                <a:schemeClr val="tx1"/>
              </a:solidFill>
              <a:effectLst/>
              <a:latin typeface="+mn-lt"/>
              <a:ea typeface="+mn-ea"/>
              <a:cs typeface="+mn-cs"/>
            </a:endParaRPr>
          </a:p>
          <a:p>
            <a:r>
              <a:rPr lang="en-AU" sz="1200" b="1" kern="1200" dirty="0" smtClean="0">
                <a:solidFill>
                  <a:schemeClr val="tx1"/>
                </a:solidFill>
                <a:effectLst/>
                <a:latin typeface="+mn-lt"/>
                <a:ea typeface="+mn-ea"/>
                <a:cs typeface="+mn-cs"/>
              </a:rPr>
              <a:t>Promotion</a:t>
            </a:r>
            <a:endParaRPr lang="en-US" sz="1200" b="1" kern="1200" dirty="0" smtClean="0">
              <a:solidFill>
                <a:schemeClr val="tx1"/>
              </a:solidFill>
              <a:effectLst/>
              <a:latin typeface="+mn-lt"/>
              <a:ea typeface="+mn-ea"/>
              <a:cs typeface="+mn-cs"/>
            </a:endParaRPr>
          </a:p>
          <a:p>
            <a:r>
              <a:rPr lang="en-AU" sz="1200" kern="1200" dirty="0" smtClean="0">
                <a:solidFill>
                  <a:schemeClr val="tx1"/>
                </a:solidFill>
                <a:effectLst/>
                <a:latin typeface="+mn-lt"/>
                <a:ea typeface="+mn-ea"/>
                <a:cs typeface="+mn-cs"/>
              </a:rPr>
              <a:t>Promotion relates to how customers are informed about the product or service and includes advertising, sales promotion, public relations and personal sales.</a:t>
            </a:r>
            <a:endParaRPr lang="en-US" sz="1200" kern="1200" dirty="0" smtClean="0">
              <a:solidFill>
                <a:schemeClr val="tx1"/>
              </a:solidFill>
              <a:effectLst/>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kern="1200" dirty="0" smtClean="0">
                <a:solidFill>
                  <a:schemeClr val="tx1"/>
                </a:solidFill>
                <a:effectLst/>
                <a:latin typeface="+mn-lt"/>
                <a:ea typeface="+mn-ea"/>
                <a:cs typeface="+mn-cs"/>
              </a:rPr>
              <a:t>These four marketing variables operate within an external environment which includes competitive, political and legal, technological, social, and economic factors. All of these components influence the type of products and services that your organisation will develop. </a:t>
            </a: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4</a:t>
            </a:fld>
            <a:endParaRPr lang="en-US" dirty="0"/>
          </a:p>
        </p:txBody>
      </p:sp>
    </p:spTree>
    <p:extLst>
      <p:ext uri="{BB962C8B-B14F-4D97-AF65-F5344CB8AC3E}">
        <p14:creationId xmlns:p14="http://schemas.microsoft.com/office/powerpoint/2010/main" val="231846082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kern="1200" dirty="0" smtClean="0">
                <a:solidFill>
                  <a:schemeClr val="tx1"/>
                </a:solidFill>
                <a:effectLst/>
                <a:latin typeface="+mn-lt"/>
                <a:ea typeface="+mn-ea"/>
                <a:cs typeface="+mn-cs"/>
              </a:rPr>
              <a:t>Trainer</a:t>
            </a:r>
            <a:r>
              <a:rPr lang="en-AU" sz="1200" kern="1200" baseline="0" dirty="0" smtClean="0">
                <a:solidFill>
                  <a:schemeClr val="tx1"/>
                </a:solidFill>
                <a:effectLst/>
                <a:latin typeface="+mn-lt"/>
                <a:ea typeface="+mn-ea"/>
                <a:cs typeface="+mn-cs"/>
              </a:rPr>
              <a:t> explains each external factor and provides an example of each area. Trainees can draw from the TM.</a:t>
            </a:r>
            <a:endParaRPr lang="en-AU" sz="1200" kern="1200" dirty="0" smtClean="0">
              <a:solidFill>
                <a:schemeClr val="tx1"/>
              </a:solidFill>
              <a:effectLst/>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kern="1200" dirty="0" smtClean="0">
                <a:solidFill>
                  <a:schemeClr val="tx1"/>
                </a:solidFill>
                <a:effectLst/>
                <a:latin typeface="+mn-lt"/>
                <a:ea typeface="+mn-ea"/>
                <a:cs typeface="+mn-cs"/>
              </a:rPr>
              <a:t>Activity: Participants</a:t>
            </a:r>
            <a:r>
              <a:rPr lang="en-AU" sz="1200" kern="1200" baseline="0" dirty="0" smtClean="0">
                <a:solidFill>
                  <a:schemeClr val="tx1"/>
                </a:solidFill>
                <a:effectLst/>
                <a:latin typeface="+mn-lt"/>
                <a:ea typeface="+mn-ea"/>
                <a:cs typeface="+mn-cs"/>
              </a:rPr>
              <a:t> could think of a product within their organisation and outline an example of each component of the marketing mix and how it may affect the product/service.</a:t>
            </a:r>
            <a:endParaRPr lang="en-US" sz="1200" kern="1200" dirty="0" smtClean="0">
              <a:solidFill>
                <a:schemeClr val="tx1"/>
              </a:solidFill>
              <a:effectLst/>
              <a:latin typeface="+mn-lt"/>
              <a:ea typeface="+mn-ea"/>
              <a:cs typeface="+mn-cs"/>
            </a:endParaRP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5</a:t>
            </a:fld>
            <a:endParaRPr lang="en-US" dirty="0"/>
          </a:p>
        </p:txBody>
      </p:sp>
    </p:spTree>
    <p:extLst>
      <p:ext uri="{BB962C8B-B14F-4D97-AF65-F5344CB8AC3E}">
        <p14:creationId xmlns:p14="http://schemas.microsoft.com/office/powerpoint/2010/main" val="150707279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dirty="0" smtClean="0"/>
              <a:t>Trainer explains</a:t>
            </a:r>
            <a:r>
              <a:rPr lang="en-US" baseline="0" dirty="0" smtClean="0"/>
              <a:t> the four components of the SWOT Analysis. Trainer asks students to explain why a SWOT analysis is important to conduct. </a:t>
            </a:r>
          </a:p>
          <a:p>
            <a:pPr>
              <a:buFont typeface="Arial" pitchFamily="34" charset="0"/>
              <a:buNone/>
            </a:pPr>
            <a:r>
              <a:rPr lang="en-US" baseline="0" dirty="0" smtClean="0"/>
              <a:t>Trainees read through the TM and identify examples of each component. </a:t>
            </a:r>
          </a:p>
          <a:p>
            <a:pPr>
              <a:buFont typeface="Arial" pitchFamily="34" charset="0"/>
              <a:buNone/>
            </a:pPr>
            <a:r>
              <a:rPr lang="en-US" baseline="0" dirty="0" smtClean="0"/>
              <a:t>Activity: Trainees think about their organization and identify examples of each area of the matrix within their organization. Which examples are internal and external?</a:t>
            </a: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6</a:t>
            </a:fld>
            <a:endParaRPr lang="en-US" dirty="0"/>
          </a:p>
        </p:txBody>
      </p:sp>
    </p:spTree>
    <p:extLst>
      <p:ext uri="{BB962C8B-B14F-4D97-AF65-F5344CB8AC3E}">
        <p14:creationId xmlns:p14="http://schemas.microsoft.com/office/powerpoint/2010/main" val="340721518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dirty="0" smtClean="0"/>
              <a:t>Trainer explains the Boston Consulting Group Matrix:</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kern="1200" dirty="0" smtClean="0">
                <a:solidFill>
                  <a:schemeClr val="tx1"/>
                </a:solidFill>
                <a:effectLst/>
                <a:latin typeface="+mn-lt"/>
                <a:ea typeface="+mn-ea"/>
                <a:cs typeface="+mn-cs"/>
              </a:rPr>
              <a:t>Another matrix that is used to determine what products and services are successful or not is the Boston Consulting Group Matrix. This is similar to a SWOT analysis but identifies business performance areas to improve, cease or develop. Stars are the products, services or business lines that are performing well and they should be promoted and encouraged to grow. Cash cows are the services and products that consistently produce good results and are often the core business. The revenue that they produce is used to fund Stars and potential question marks. Question marks are the products and services that an organisation is not sure about. It is important to analyse why these business lines are not performing as well as expected and a decision needs to be made whether to continue or cease these products and services. Dogs are under-performing products and services and they should be stopped.</a:t>
            </a:r>
            <a:endParaRPr lang="en-US" sz="1200" kern="1200" dirty="0" smtClean="0">
              <a:solidFill>
                <a:schemeClr val="tx1"/>
              </a:solidFill>
              <a:effectLst/>
              <a:latin typeface="+mn-lt"/>
              <a:ea typeface="+mn-ea"/>
              <a:cs typeface="+mn-cs"/>
            </a:endParaRPr>
          </a:p>
          <a:p>
            <a:pPr>
              <a:buFont typeface="Arial" pitchFamily="34" charset="0"/>
              <a:buNone/>
            </a:pPr>
            <a:endParaRPr lang="en-US"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7</a:t>
            </a:fld>
            <a:endParaRPr lang="en-US" dirty="0"/>
          </a:p>
        </p:txBody>
      </p:sp>
    </p:spTree>
    <p:extLst>
      <p:ext uri="{BB962C8B-B14F-4D97-AF65-F5344CB8AC3E}">
        <p14:creationId xmlns:p14="http://schemas.microsoft.com/office/powerpoint/2010/main" val="126539078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kern="1200" dirty="0" smtClean="0">
                <a:solidFill>
                  <a:schemeClr val="tx1"/>
                </a:solidFill>
                <a:effectLst/>
                <a:latin typeface="+mn-lt"/>
                <a:ea typeface="+mn-ea"/>
                <a:cs typeface="+mn-cs"/>
              </a:rPr>
              <a:t>Trainer explains</a:t>
            </a:r>
            <a:r>
              <a:rPr lang="en-AU" sz="1200" kern="1200" baseline="0" dirty="0" smtClean="0">
                <a:solidFill>
                  <a:schemeClr val="tx1"/>
                </a:solidFill>
                <a:effectLst/>
                <a:latin typeface="+mn-lt"/>
                <a:ea typeface="+mn-ea"/>
                <a:cs typeface="+mn-cs"/>
              </a:rPr>
              <a:t> the importance of identifying targets and objectives for marketing activities.</a:t>
            </a:r>
          </a:p>
          <a:p>
            <a:r>
              <a:rPr lang="en-AU" sz="1200" kern="1200" dirty="0" smtClean="0">
                <a:solidFill>
                  <a:schemeClr val="tx1"/>
                </a:solidFill>
                <a:effectLst/>
                <a:latin typeface="+mn-lt"/>
                <a:ea typeface="+mn-ea"/>
                <a:cs typeface="+mn-cs"/>
              </a:rPr>
              <a:t>Objectives should also follow the SMART rule in that they should be:</a:t>
            </a:r>
            <a:endParaRPr lang="en-US" sz="1200" kern="1200" dirty="0" smtClean="0">
              <a:solidFill>
                <a:schemeClr val="tx1"/>
              </a:solidFill>
              <a:effectLst/>
              <a:latin typeface="+mn-lt"/>
              <a:ea typeface="+mn-ea"/>
              <a:cs typeface="+mn-cs"/>
            </a:endParaRPr>
          </a:p>
          <a:p>
            <a:pPr lvl="0"/>
            <a:r>
              <a:rPr lang="en-AU" sz="1200" kern="1200" dirty="0" smtClean="0">
                <a:solidFill>
                  <a:schemeClr val="tx1"/>
                </a:solidFill>
                <a:effectLst/>
                <a:latin typeface="+mn-lt"/>
                <a:ea typeface="+mn-ea"/>
                <a:cs typeface="+mn-cs"/>
              </a:rPr>
              <a:t>Specific, Measurable, Achievable, Realistic, Time-based</a:t>
            </a:r>
            <a:endParaRPr lang="en-US" sz="1200" kern="1200" dirty="0" smtClean="0">
              <a:solidFill>
                <a:schemeClr val="tx1"/>
              </a:solidFill>
              <a:effectLst/>
              <a:latin typeface="+mn-lt"/>
              <a:ea typeface="+mn-ea"/>
              <a:cs typeface="+mn-cs"/>
            </a:endParaRPr>
          </a:p>
          <a:p>
            <a:r>
              <a:rPr lang="en-AU" sz="1200" kern="1200" dirty="0" smtClean="0">
                <a:solidFill>
                  <a:schemeClr val="tx1"/>
                </a:solidFill>
                <a:effectLst/>
                <a:latin typeface="+mn-lt"/>
                <a:ea typeface="+mn-ea"/>
                <a:cs typeface="+mn-cs"/>
              </a:rPr>
              <a:t>In developing market research objectives it may be helpful to ask:</a:t>
            </a:r>
            <a:endParaRPr lang="en-US" sz="1200" kern="1200" dirty="0" smtClean="0">
              <a:solidFill>
                <a:schemeClr val="tx1"/>
              </a:solidFill>
              <a:effectLst/>
              <a:latin typeface="+mn-lt"/>
              <a:ea typeface="+mn-ea"/>
              <a:cs typeface="+mn-cs"/>
            </a:endParaRPr>
          </a:p>
          <a:p>
            <a:pPr lvl="0"/>
            <a:r>
              <a:rPr lang="en-AU" sz="1200" kern="1200" dirty="0" smtClean="0">
                <a:solidFill>
                  <a:schemeClr val="tx1"/>
                </a:solidFill>
                <a:effectLst/>
                <a:latin typeface="+mn-lt"/>
                <a:ea typeface="+mn-ea"/>
                <a:cs typeface="+mn-cs"/>
              </a:rPr>
              <a:t>What is the organisation’s overall strategy?</a:t>
            </a:r>
            <a:endParaRPr lang="en-US" sz="1200" kern="1200" dirty="0" smtClean="0">
              <a:solidFill>
                <a:schemeClr val="tx1"/>
              </a:solidFill>
              <a:effectLst/>
              <a:latin typeface="+mn-lt"/>
              <a:ea typeface="+mn-ea"/>
              <a:cs typeface="+mn-cs"/>
            </a:endParaRPr>
          </a:p>
          <a:p>
            <a:pPr lvl="0"/>
            <a:r>
              <a:rPr lang="en-AU" sz="1200" kern="1200" dirty="0" smtClean="0">
                <a:solidFill>
                  <a:schemeClr val="tx1"/>
                </a:solidFill>
                <a:effectLst/>
                <a:latin typeface="+mn-lt"/>
                <a:ea typeface="+mn-ea"/>
                <a:cs typeface="+mn-cs"/>
              </a:rPr>
              <a:t>How does the organisation work to achieve these goals?</a:t>
            </a:r>
            <a:endParaRPr lang="en-US" sz="1200" kern="1200" dirty="0" smtClean="0">
              <a:solidFill>
                <a:schemeClr val="tx1"/>
              </a:solidFill>
              <a:effectLst/>
              <a:latin typeface="+mn-lt"/>
              <a:ea typeface="+mn-ea"/>
              <a:cs typeface="+mn-cs"/>
            </a:endParaRPr>
          </a:p>
          <a:p>
            <a:pPr lvl="0"/>
            <a:r>
              <a:rPr lang="en-AU" sz="1200" kern="1200" dirty="0" smtClean="0">
                <a:solidFill>
                  <a:schemeClr val="tx1"/>
                </a:solidFill>
                <a:effectLst/>
                <a:latin typeface="+mn-lt"/>
                <a:ea typeface="+mn-ea"/>
                <a:cs typeface="+mn-cs"/>
              </a:rPr>
              <a:t>What resources are available or needed to undertake the market research?</a:t>
            </a:r>
            <a:endParaRPr lang="en-US" sz="1200" kern="1200" dirty="0" smtClean="0">
              <a:solidFill>
                <a:schemeClr val="tx1"/>
              </a:solidFill>
              <a:effectLst/>
              <a:latin typeface="+mn-lt"/>
              <a:ea typeface="+mn-ea"/>
              <a:cs typeface="+mn-cs"/>
            </a:endParaRPr>
          </a:p>
          <a:p>
            <a:pPr lvl="0"/>
            <a:r>
              <a:rPr lang="en-AU" sz="1200" kern="1200" dirty="0" smtClean="0">
                <a:solidFill>
                  <a:schemeClr val="tx1"/>
                </a:solidFill>
                <a:effectLst/>
                <a:latin typeface="+mn-lt"/>
                <a:ea typeface="+mn-ea"/>
                <a:cs typeface="+mn-cs"/>
              </a:rPr>
              <a:t>Are the objectives achievable and realistic?</a:t>
            </a:r>
            <a:endParaRPr lang="en-US" sz="1200" kern="1200" dirty="0" smtClean="0">
              <a:solidFill>
                <a:schemeClr val="tx1"/>
              </a:solidFill>
              <a:effectLst/>
              <a:latin typeface="+mn-lt"/>
              <a:ea typeface="+mn-ea"/>
              <a:cs typeface="+mn-cs"/>
            </a:endParaRPr>
          </a:p>
          <a:p>
            <a:pPr lvl="0"/>
            <a:r>
              <a:rPr lang="en-AU" sz="1200" kern="1200" dirty="0" smtClean="0">
                <a:solidFill>
                  <a:schemeClr val="tx1"/>
                </a:solidFill>
                <a:effectLst/>
                <a:latin typeface="+mn-lt"/>
                <a:ea typeface="+mn-ea"/>
                <a:cs typeface="+mn-cs"/>
              </a:rPr>
              <a:t>What are the timeframes for market research activities?</a:t>
            </a:r>
            <a:endParaRPr lang="en-US" sz="1200" kern="1200" dirty="0" smtClean="0">
              <a:solidFill>
                <a:schemeClr val="tx1"/>
              </a:solidFill>
              <a:effectLst/>
              <a:latin typeface="+mn-lt"/>
              <a:ea typeface="+mn-ea"/>
              <a:cs typeface="+mn-cs"/>
            </a:endParaRPr>
          </a:p>
          <a:p>
            <a:pPr lvl="0"/>
            <a:r>
              <a:rPr lang="en-AU" sz="1200" kern="1200" dirty="0" smtClean="0">
                <a:solidFill>
                  <a:schemeClr val="tx1"/>
                </a:solidFill>
                <a:effectLst/>
                <a:latin typeface="+mn-lt"/>
                <a:ea typeface="+mn-ea"/>
                <a:cs typeface="+mn-cs"/>
              </a:rPr>
              <a:t>What finances or budget are required?</a:t>
            </a:r>
            <a:endParaRPr lang="en-US" sz="1200" kern="1200" dirty="0" smtClean="0">
              <a:solidFill>
                <a:schemeClr val="tx1"/>
              </a:solidFill>
              <a:effectLst/>
              <a:latin typeface="+mn-lt"/>
              <a:ea typeface="+mn-ea"/>
              <a:cs typeface="+mn-cs"/>
            </a:endParaRP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8</a:t>
            </a:fld>
            <a:endParaRPr lang="en-US" dirty="0"/>
          </a:p>
        </p:txBody>
      </p:sp>
    </p:spTree>
    <p:extLst>
      <p:ext uri="{BB962C8B-B14F-4D97-AF65-F5344CB8AC3E}">
        <p14:creationId xmlns:p14="http://schemas.microsoft.com/office/powerpoint/2010/main" val="129328451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dirty="0" smtClean="0"/>
              <a:t>Trainer explains the need for collecting relevant data that could assist with new product or service development. Relevant data should be collected from various sources and may include Primary</a:t>
            </a:r>
            <a:r>
              <a:rPr lang="en-US" baseline="0" dirty="0" smtClean="0"/>
              <a:t> and Secondary data. </a:t>
            </a:r>
            <a:r>
              <a:rPr lang="en-AU" sz="1200" kern="1200" dirty="0" smtClean="0">
                <a:solidFill>
                  <a:schemeClr val="tx1"/>
                </a:solidFill>
                <a:effectLst/>
                <a:latin typeface="+mn-lt"/>
                <a:ea typeface="+mn-ea"/>
                <a:cs typeface="+mn-cs"/>
              </a:rPr>
              <a:t>. Data can be classified as primary and secondary where primary data is collected for a specific designated reason and secondary data is previously gathered information that may be relevant and useful for another purpose. Trainer highlights the challenges</a:t>
            </a:r>
            <a:r>
              <a:rPr lang="en-AU" sz="1200" kern="1200" baseline="0" dirty="0" smtClean="0">
                <a:solidFill>
                  <a:schemeClr val="tx1"/>
                </a:solidFill>
                <a:effectLst/>
                <a:latin typeface="+mn-lt"/>
                <a:ea typeface="+mn-ea"/>
                <a:cs typeface="+mn-cs"/>
              </a:rPr>
              <a:t> associated with collecting primary data.</a:t>
            </a:r>
          </a:p>
          <a:p>
            <a:pPr>
              <a:buFont typeface="Arial" pitchFamily="34" charset="0"/>
              <a:buNone/>
            </a:pPr>
            <a:r>
              <a:rPr lang="en-AU" sz="1200" kern="1200" baseline="0" dirty="0" smtClean="0">
                <a:solidFill>
                  <a:schemeClr val="tx1"/>
                </a:solidFill>
                <a:effectLst/>
                <a:latin typeface="+mn-lt"/>
                <a:ea typeface="+mn-ea"/>
                <a:cs typeface="+mn-cs"/>
              </a:rPr>
              <a:t>Activity: Trainees provide examples of marketing data that is gathered within their organisations and determine if it is primary or secondary data.</a:t>
            </a:r>
            <a:endParaRPr lang="en-AU" sz="1200" kern="1200" dirty="0" smtClean="0">
              <a:solidFill>
                <a:schemeClr val="tx1"/>
              </a:solidFill>
              <a:effectLst/>
              <a:latin typeface="+mn-lt"/>
              <a:ea typeface="+mn-ea"/>
              <a:cs typeface="+mn-cs"/>
            </a:endParaRP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9</a:t>
            </a:fld>
            <a:endParaRPr lang="en-US" dirty="0"/>
          </a:p>
        </p:txBody>
      </p:sp>
    </p:spTree>
    <p:extLst>
      <p:ext uri="{BB962C8B-B14F-4D97-AF65-F5344CB8AC3E}">
        <p14:creationId xmlns:p14="http://schemas.microsoft.com/office/powerpoint/2010/main" val="211443129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dirty="0" smtClean="0"/>
              <a:t>Trainer</a:t>
            </a:r>
            <a:r>
              <a:rPr lang="en-US" baseline="0" dirty="0" smtClean="0"/>
              <a:t> asks “</a:t>
            </a:r>
            <a:r>
              <a:rPr lang="en-US" dirty="0" smtClean="0"/>
              <a:t>How does your organization answer these questions?”</a:t>
            </a:r>
          </a:p>
          <a:p>
            <a:pPr>
              <a:buFont typeface="Arial" pitchFamily="34" charset="0"/>
              <a:buNone/>
            </a:pPr>
            <a:r>
              <a:rPr lang="en-US" dirty="0" smtClean="0"/>
              <a:t>Trainees provide some possible</a:t>
            </a:r>
            <a:r>
              <a:rPr lang="en-US" baseline="0" dirty="0" smtClean="0"/>
              <a:t> answers and examples from their workplace.</a:t>
            </a: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10</a:t>
            </a:fld>
            <a:endParaRPr lang="en-US" dirty="0"/>
          </a:p>
        </p:txBody>
      </p:sp>
    </p:spTree>
    <p:extLst>
      <p:ext uri="{BB962C8B-B14F-4D97-AF65-F5344CB8AC3E}">
        <p14:creationId xmlns:p14="http://schemas.microsoft.com/office/powerpoint/2010/main" val="287159272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sz="1200" kern="1200" dirty="0" smtClean="0">
                <a:solidFill>
                  <a:schemeClr val="tx1"/>
                </a:solidFill>
                <a:effectLst/>
                <a:latin typeface="+mn-lt"/>
                <a:ea typeface="+mn-ea"/>
                <a:cs typeface="+mn-cs"/>
              </a:rPr>
              <a:t>Trainer explains the difference between the two</a:t>
            </a:r>
            <a:r>
              <a:rPr lang="en-AU" sz="1200" kern="1200" baseline="0" dirty="0" smtClean="0">
                <a:solidFill>
                  <a:schemeClr val="tx1"/>
                </a:solidFill>
                <a:effectLst/>
                <a:latin typeface="+mn-lt"/>
                <a:ea typeface="+mn-ea"/>
                <a:cs typeface="+mn-cs"/>
              </a:rPr>
              <a:t> data collection techniques. </a:t>
            </a:r>
            <a:r>
              <a:rPr lang="en-AU" sz="1200" kern="1200" dirty="0" smtClean="0">
                <a:solidFill>
                  <a:schemeClr val="tx1"/>
                </a:solidFill>
                <a:effectLst/>
                <a:latin typeface="+mn-lt"/>
                <a:ea typeface="+mn-ea"/>
                <a:cs typeface="+mn-cs"/>
              </a:rPr>
              <a:t>Data collection techniques could draw upon quantitative or qualitative data. Quantitative data is numerical, statistically reliable and applicable to a broader context. Qualitative data is non-numerical, in-depth and directional in that it can show where to go with product or service development. Once the research methods have been chosen, the data must be gathered. Secondary sources of data should be collected first and then a decision needs to be made as to whether primary data is also needed</a:t>
            </a: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11</a:t>
            </a:fld>
            <a:endParaRPr lang="en-US" dirty="0"/>
          </a:p>
        </p:txBody>
      </p:sp>
    </p:spTree>
    <p:extLst>
      <p:ext uri="{BB962C8B-B14F-4D97-AF65-F5344CB8AC3E}">
        <p14:creationId xmlns:p14="http://schemas.microsoft.com/office/powerpoint/2010/main" val="9456914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dirty="0" smtClean="0"/>
              <a:t>Trainer</a:t>
            </a:r>
            <a:r>
              <a:rPr lang="en-US" baseline="0" dirty="0" smtClean="0"/>
              <a:t> explains the graph relating to product life cycle.</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kern="1200" dirty="0" smtClean="0">
                <a:solidFill>
                  <a:schemeClr val="tx1"/>
                </a:solidFill>
                <a:effectLst/>
                <a:latin typeface="+mn-lt"/>
                <a:ea typeface="+mn-ea"/>
                <a:cs typeface="+mn-cs"/>
              </a:rPr>
              <a:t>The product life cycle theory outlines how a product or</a:t>
            </a:r>
            <a:r>
              <a:rPr lang="en-AU" sz="1200" kern="1200" baseline="0" dirty="0" smtClean="0">
                <a:solidFill>
                  <a:schemeClr val="tx1"/>
                </a:solidFill>
                <a:effectLst/>
                <a:latin typeface="+mn-lt"/>
                <a:ea typeface="+mn-ea"/>
                <a:cs typeface="+mn-cs"/>
              </a:rPr>
              <a:t> </a:t>
            </a:r>
            <a:r>
              <a:rPr lang="en-AU" sz="1200" kern="1200" dirty="0" smtClean="0">
                <a:solidFill>
                  <a:schemeClr val="tx1"/>
                </a:solidFill>
                <a:effectLst/>
                <a:latin typeface="+mn-lt"/>
                <a:ea typeface="+mn-ea"/>
                <a:cs typeface="+mn-cs"/>
              </a:rPr>
              <a:t>a service moves from its original beginning as an idea,</a:t>
            </a:r>
            <a:r>
              <a:rPr lang="en-AU" sz="1200" kern="1200" baseline="0" dirty="0" smtClean="0">
                <a:solidFill>
                  <a:schemeClr val="tx1"/>
                </a:solidFill>
                <a:effectLst/>
                <a:latin typeface="+mn-lt"/>
                <a:ea typeface="+mn-ea"/>
                <a:cs typeface="+mn-cs"/>
              </a:rPr>
              <a:t> </a:t>
            </a:r>
            <a:r>
              <a:rPr lang="en-AU" sz="1200" kern="1200" dirty="0" smtClean="0">
                <a:solidFill>
                  <a:schemeClr val="tx1"/>
                </a:solidFill>
                <a:effectLst/>
                <a:latin typeface="+mn-lt"/>
                <a:ea typeface="+mn-ea"/>
                <a:cs typeface="+mn-cs"/>
              </a:rPr>
              <a:t>through development and implementation, to potential</a:t>
            </a:r>
            <a:r>
              <a:rPr lang="en-AU" sz="1200" kern="1200" baseline="0" dirty="0" smtClean="0">
                <a:solidFill>
                  <a:schemeClr val="tx1"/>
                </a:solidFill>
                <a:effectLst/>
                <a:latin typeface="+mn-lt"/>
                <a:ea typeface="+mn-ea"/>
                <a:cs typeface="+mn-cs"/>
              </a:rPr>
              <a:t> </a:t>
            </a:r>
            <a:r>
              <a:rPr lang="en-AU" sz="1200" kern="1200" dirty="0" smtClean="0">
                <a:solidFill>
                  <a:schemeClr val="tx1"/>
                </a:solidFill>
                <a:effectLst/>
                <a:latin typeface="+mn-lt"/>
                <a:ea typeface="+mn-ea"/>
                <a:cs typeface="+mn-cs"/>
              </a:rPr>
              <a:t>decline. The stage at which a product or service is at</a:t>
            </a:r>
            <a:r>
              <a:rPr lang="en-AU" sz="1200" kern="1200" baseline="0" dirty="0" smtClean="0">
                <a:solidFill>
                  <a:schemeClr val="tx1"/>
                </a:solidFill>
                <a:effectLst/>
                <a:latin typeface="+mn-lt"/>
                <a:ea typeface="+mn-ea"/>
                <a:cs typeface="+mn-cs"/>
              </a:rPr>
              <a:t> </a:t>
            </a:r>
            <a:r>
              <a:rPr lang="en-AU" sz="1200" kern="1200" dirty="0" smtClean="0">
                <a:solidFill>
                  <a:schemeClr val="tx1"/>
                </a:solidFill>
                <a:effectLst/>
                <a:latin typeface="+mn-lt"/>
                <a:ea typeface="+mn-ea"/>
                <a:cs typeface="+mn-cs"/>
              </a:rPr>
              <a:t>within the product life cycle can impact on what strategies</a:t>
            </a:r>
            <a:r>
              <a:rPr lang="en-AU" sz="1200" kern="1200" baseline="0" dirty="0" smtClean="0">
                <a:solidFill>
                  <a:schemeClr val="tx1"/>
                </a:solidFill>
                <a:effectLst/>
                <a:latin typeface="+mn-lt"/>
                <a:ea typeface="+mn-ea"/>
                <a:cs typeface="+mn-cs"/>
              </a:rPr>
              <a:t> </a:t>
            </a:r>
            <a:r>
              <a:rPr lang="en-AU" sz="1200" kern="1200" dirty="0" smtClean="0">
                <a:solidFill>
                  <a:schemeClr val="tx1"/>
                </a:solidFill>
                <a:effectLst/>
                <a:latin typeface="+mn-lt"/>
                <a:ea typeface="+mn-ea"/>
                <a:cs typeface="+mn-cs"/>
              </a:rPr>
              <a:t>are required to positively influence the product or service</a:t>
            </a:r>
            <a:r>
              <a:rPr lang="en-AU" sz="1200" kern="1200" baseline="0" dirty="0" smtClean="0">
                <a:solidFill>
                  <a:schemeClr val="tx1"/>
                </a:solidFill>
                <a:effectLst/>
                <a:latin typeface="+mn-lt"/>
                <a:ea typeface="+mn-ea"/>
                <a:cs typeface="+mn-cs"/>
              </a:rPr>
              <a:t> </a:t>
            </a:r>
            <a:r>
              <a:rPr lang="en-AU" sz="1200" kern="1200" dirty="0" smtClean="0">
                <a:solidFill>
                  <a:schemeClr val="tx1"/>
                </a:solidFill>
                <a:effectLst/>
                <a:latin typeface="+mn-lt"/>
                <a:ea typeface="+mn-ea"/>
                <a:cs typeface="+mn-cs"/>
              </a:rPr>
              <a:t>which could lead to reinvesting in the product or even ceasing delivery or offering of it. </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US" sz="1200" kern="1200" dirty="0" smtClean="0">
              <a:solidFill>
                <a:schemeClr val="tx1"/>
              </a:solidFill>
              <a:effectLst/>
              <a:latin typeface="+mn-lt"/>
              <a:ea typeface="+mn-ea"/>
              <a:cs typeface="+mn-cs"/>
            </a:endParaRPr>
          </a:p>
          <a:p>
            <a:pPr>
              <a:buFont typeface="Arial" pitchFamily="34" charset="0"/>
              <a:buNone/>
            </a:pPr>
            <a:endParaRPr lang="en-US" baseline="0" dirty="0" smtClean="0"/>
          </a:p>
          <a:p>
            <a:pPr>
              <a:buFont typeface="Arial" pitchFamily="34" charset="0"/>
              <a:buNone/>
            </a:pPr>
            <a:endParaRPr lang="en-US" baseline="0" dirty="0" smtClean="0"/>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12</a:t>
            </a:fld>
            <a:endParaRPr lang="en-US" dirty="0"/>
          </a:p>
        </p:txBody>
      </p:sp>
    </p:spTree>
    <p:extLst>
      <p:ext uri="{BB962C8B-B14F-4D97-AF65-F5344CB8AC3E}">
        <p14:creationId xmlns:p14="http://schemas.microsoft.com/office/powerpoint/2010/main" val="365577244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US" dirty="0" smtClean="0"/>
              <a:t>Trainer</a:t>
            </a:r>
            <a:r>
              <a:rPr lang="en-US" baseline="0" dirty="0" smtClean="0"/>
              <a:t> goes through the slide with trainees. </a:t>
            </a:r>
            <a:r>
              <a:rPr lang="en-AU" sz="1200" dirty="0" smtClean="0"/>
              <a:t>As can be seen in the graph in</a:t>
            </a:r>
            <a:r>
              <a:rPr lang="en-AU" sz="1200" baseline="0" dirty="0" smtClean="0"/>
              <a:t> the previous slide</a:t>
            </a:r>
            <a:r>
              <a:rPr lang="en-AU" sz="1200" dirty="0" smtClean="0"/>
              <a:t>, the initial introduction phase may not result in significant sales as the product or service needs to become known by the market.</a:t>
            </a:r>
            <a:endParaRPr lang="en-US" sz="1200" dirty="0" smtClean="0"/>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13</a:t>
            </a:fld>
            <a:endParaRPr lang="en-US" dirty="0"/>
          </a:p>
        </p:txBody>
      </p:sp>
    </p:spTree>
    <p:extLst>
      <p:ext uri="{BB962C8B-B14F-4D97-AF65-F5344CB8AC3E}">
        <p14:creationId xmlns:p14="http://schemas.microsoft.com/office/powerpoint/2010/main" val="378627607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US" dirty="0" smtClean="0"/>
              <a:t>Trainer</a:t>
            </a:r>
            <a:r>
              <a:rPr lang="en-US" baseline="0" dirty="0" smtClean="0"/>
              <a:t> introduces slide and discusses the growth stage. </a:t>
            </a:r>
            <a:r>
              <a:rPr lang="en-AU" sz="1200" dirty="0" smtClean="0"/>
              <a:t>Trainer explains that the amount of growth and the duration of growth is not fixed and it may continue for a long time or it may be quick and steep but then plateau. </a:t>
            </a:r>
            <a:endParaRPr lang="en-US" sz="1200" dirty="0" smtClean="0"/>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14</a:t>
            </a:fld>
            <a:endParaRPr lang="en-US" dirty="0"/>
          </a:p>
        </p:txBody>
      </p:sp>
    </p:spTree>
    <p:extLst>
      <p:ext uri="{BB962C8B-B14F-4D97-AF65-F5344CB8AC3E}">
        <p14:creationId xmlns:p14="http://schemas.microsoft.com/office/powerpoint/2010/main" val="11279475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dirty="0" smtClean="0"/>
              <a:t>Trainer goes through slide</a:t>
            </a:r>
            <a:r>
              <a:rPr lang="en-US" baseline="0" dirty="0" smtClean="0"/>
              <a:t> and presents the information below:</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dirty="0" smtClean="0"/>
              <a:t>At the maturity stage, an organisation may look at ways to show customers how their product or service is unique from competitors, in an attempt to persuade customers to switch from a competitor to its product. There may also be a need to keep current customers so marketing campaigns may be developed to maintain the existing market share. Many products and services stay at the maturity stage and may not transition to the next stage.</a:t>
            </a:r>
            <a:endParaRPr lang="en-US" sz="1200" dirty="0" smtClean="0"/>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15</a:t>
            </a:fld>
            <a:endParaRPr lang="en-US" dirty="0"/>
          </a:p>
        </p:txBody>
      </p:sp>
    </p:spTree>
    <p:extLst>
      <p:ext uri="{BB962C8B-B14F-4D97-AF65-F5344CB8AC3E}">
        <p14:creationId xmlns:p14="http://schemas.microsoft.com/office/powerpoint/2010/main" val="209995167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dirty="0" smtClean="0"/>
              <a:t>Trainer goes through the information with trainees. Activity: trainer asks trainees to identify a product</a:t>
            </a:r>
            <a:r>
              <a:rPr lang="en-US" baseline="0" dirty="0" smtClean="0"/>
              <a:t> in their organization and determine where in the product life cycle it is. How do they know? What could be done to extend the life of the product or service?</a:t>
            </a: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16</a:t>
            </a:fld>
            <a:endParaRPr lang="en-US" dirty="0"/>
          </a:p>
        </p:txBody>
      </p:sp>
    </p:spTree>
    <p:extLst>
      <p:ext uri="{BB962C8B-B14F-4D97-AF65-F5344CB8AC3E}">
        <p14:creationId xmlns:p14="http://schemas.microsoft.com/office/powerpoint/2010/main" val="131462323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kern="1200" dirty="0" smtClean="0">
                <a:solidFill>
                  <a:schemeClr val="tx1"/>
                </a:solidFill>
                <a:effectLst/>
                <a:latin typeface="+mn-lt"/>
                <a:ea typeface="+mn-ea"/>
                <a:cs typeface="+mn-cs"/>
              </a:rPr>
              <a:t>The product life cycle as a tool</a:t>
            </a:r>
            <a:endParaRPr lang="en-US" sz="1200" b="1" kern="1200" dirty="0" smtClean="0">
              <a:solidFill>
                <a:schemeClr val="tx1"/>
              </a:solidFill>
              <a:effectLst/>
              <a:latin typeface="+mn-lt"/>
              <a:ea typeface="+mn-ea"/>
              <a:cs typeface="+mn-cs"/>
            </a:endParaRPr>
          </a:p>
          <a:p>
            <a:r>
              <a:rPr lang="en-AU" sz="1200" kern="1200" dirty="0" smtClean="0">
                <a:solidFill>
                  <a:schemeClr val="tx1"/>
                </a:solidFill>
                <a:effectLst/>
                <a:latin typeface="+mn-lt"/>
                <a:ea typeface="+mn-ea"/>
                <a:cs typeface="+mn-cs"/>
              </a:rPr>
              <a:t>In order to take advantage of the product life cycle, it is necessary to identify where a product or service is at within the cycle and to examine competitor products and services within the four stages. It is possible to extend the product life cycle by increasing sales to current customers through encouraging them to buy more or to purchase more often. </a:t>
            </a:r>
            <a:endParaRPr lang="en-US" sz="1200" kern="1200" dirty="0" smtClean="0">
              <a:solidFill>
                <a:schemeClr val="tx1"/>
              </a:solidFill>
              <a:effectLst/>
              <a:latin typeface="+mn-lt"/>
              <a:ea typeface="+mn-ea"/>
              <a:cs typeface="+mn-cs"/>
            </a:endParaRPr>
          </a:p>
          <a:p>
            <a:r>
              <a:rPr lang="en-AU" sz="1200" kern="1200" dirty="0" smtClean="0">
                <a:solidFill>
                  <a:schemeClr val="tx1"/>
                </a:solidFill>
                <a:effectLst/>
                <a:latin typeface="+mn-lt"/>
                <a:ea typeface="+mn-ea"/>
                <a:cs typeface="+mn-cs"/>
              </a:rPr>
              <a:t>It is possible to apply market penetration strategies to increase the amount of customers by attracting new customers to purchase the product or service. This may be difficult if there is growing competition and investment may be needed, but there may still be an opportunity to increase market share. For example, a hotel or resort may realise that there are local customers interested in using the facilities and the organisation may offer a special rate for local residents to use the gym, pool and offer discounts for food and beverage purchases.</a:t>
            </a:r>
            <a:endParaRPr lang="en-US" sz="1200" kern="1200" dirty="0" smtClean="0">
              <a:solidFill>
                <a:schemeClr val="tx1"/>
              </a:solidFill>
              <a:effectLst/>
              <a:latin typeface="+mn-lt"/>
              <a:ea typeface="+mn-ea"/>
              <a:cs typeface="+mn-cs"/>
            </a:endParaRPr>
          </a:p>
          <a:p>
            <a:r>
              <a:rPr lang="en-AU" sz="1200" kern="1200" dirty="0" smtClean="0">
                <a:solidFill>
                  <a:schemeClr val="tx1"/>
                </a:solidFill>
                <a:effectLst/>
                <a:latin typeface="+mn-lt"/>
                <a:ea typeface="+mn-ea"/>
                <a:cs typeface="+mn-cs"/>
              </a:rPr>
              <a:t>Finding new uses for the existing product or service is also a potential opportunity to increase sales and extend the product life cycle. Different uses for a product or service may be discovered and promoted by the enterprise or it may be as a result of customer feedback. </a:t>
            </a:r>
            <a:endParaRPr lang="en-US" sz="1200" kern="1200" dirty="0" smtClean="0">
              <a:solidFill>
                <a:schemeClr val="tx1"/>
              </a:solidFill>
              <a:effectLst/>
              <a:latin typeface="+mn-lt"/>
              <a:ea typeface="+mn-ea"/>
              <a:cs typeface="+mn-cs"/>
            </a:endParaRP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17</a:t>
            </a:fld>
            <a:endParaRPr lang="en-US" dirty="0"/>
          </a:p>
        </p:txBody>
      </p:sp>
    </p:spTree>
    <p:extLst>
      <p:ext uri="{BB962C8B-B14F-4D97-AF65-F5344CB8AC3E}">
        <p14:creationId xmlns:p14="http://schemas.microsoft.com/office/powerpoint/2010/main" val="155044575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US" dirty="0" smtClean="0"/>
              <a:t>Trainer introduces</a:t>
            </a:r>
            <a:r>
              <a:rPr lang="en-US" baseline="0" dirty="0" smtClean="0"/>
              <a:t> financial issues and explains that t</a:t>
            </a:r>
            <a:r>
              <a:rPr lang="en-AU" sz="1200" kern="1200" dirty="0" smtClean="0">
                <a:solidFill>
                  <a:schemeClr val="tx1"/>
                </a:solidFill>
                <a:effectLst/>
                <a:latin typeface="+mn-lt"/>
                <a:ea typeface="+mn-ea"/>
                <a:cs typeface="+mn-cs"/>
              </a:rPr>
              <a:t>here are many aspects that need to be considered when</a:t>
            </a:r>
            <a:r>
              <a:rPr lang="en-AU" sz="1200" kern="1200" baseline="0" dirty="0" smtClean="0">
                <a:solidFill>
                  <a:schemeClr val="tx1"/>
                </a:solidFill>
                <a:effectLst/>
                <a:latin typeface="+mn-lt"/>
                <a:ea typeface="+mn-ea"/>
                <a:cs typeface="+mn-cs"/>
              </a:rPr>
              <a:t> </a:t>
            </a:r>
            <a:r>
              <a:rPr lang="en-AU" sz="1200" kern="1200" dirty="0" smtClean="0">
                <a:solidFill>
                  <a:schemeClr val="tx1"/>
                </a:solidFill>
                <a:effectLst/>
                <a:latin typeface="+mn-lt"/>
                <a:ea typeface="+mn-ea"/>
                <a:cs typeface="+mn-cs"/>
              </a:rPr>
              <a:t>developing and introducing new products and services. One</a:t>
            </a:r>
            <a:r>
              <a:rPr lang="en-AU" sz="1200" kern="1200" baseline="0" dirty="0" smtClean="0">
                <a:solidFill>
                  <a:schemeClr val="tx1"/>
                </a:solidFill>
                <a:effectLst/>
                <a:latin typeface="+mn-lt"/>
                <a:ea typeface="+mn-ea"/>
                <a:cs typeface="+mn-cs"/>
              </a:rPr>
              <a:t> </a:t>
            </a:r>
            <a:r>
              <a:rPr lang="en-AU" sz="1200" kern="1200" dirty="0" smtClean="0">
                <a:solidFill>
                  <a:schemeClr val="tx1"/>
                </a:solidFill>
                <a:effectLst/>
                <a:latin typeface="+mn-lt"/>
                <a:ea typeface="+mn-ea"/>
                <a:cs typeface="+mn-cs"/>
              </a:rPr>
              <a:t>of the most important factors to consider is financial issues</a:t>
            </a:r>
            <a:r>
              <a:rPr lang="en-AU" sz="1200" kern="1200" baseline="0" dirty="0" smtClean="0">
                <a:solidFill>
                  <a:schemeClr val="tx1"/>
                </a:solidFill>
                <a:effectLst/>
                <a:latin typeface="+mn-lt"/>
                <a:ea typeface="+mn-ea"/>
                <a:cs typeface="+mn-cs"/>
              </a:rPr>
              <a:t> </a:t>
            </a:r>
            <a:r>
              <a:rPr lang="en-AU" sz="1200" kern="1200" dirty="0" smtClean="0">
                <a:solidFill>
                  <a:schemeClr val="tx1"/>
                </a:solidFill>
                <a:effectLst/>
                <a:latin typeface="+mn-lt"/>
                <a:ea typeface="+mn-ea"/>
                <a:cs typeface="+mn-cs"/>
              </a:rPr>
              <a:t>that may affect product or service development. It may be</a:t>
            </a:r>
            <a:r>
              <a:rPr lang="en-AU" sz="1200" kern="1200" baseline="0" dirty="0" smtClean="0">
                <a:solidFill>
                  <a:schemeClr val="tx1"/>
                </a:solidFill>
                <a:effectLst/>
                <a:latin typeface="+mn-lt"/>
                <a:ea typeface="+mn-ea"/>
                <a:cs typeface="+mn-cs"/>
              </a:rPr>
              <a:t> </a:t>
            </a:r>
            <a:r>
              <a:rPr lang="en-AU" sz="1200" kern="1200" dirty="0" smtClean="0">
                <a:solidFill>
                  <a:schemeClr val="tx1"/>
                </a:solidFill>
                <a:effectLst/>
                <a:latin typeface="+mn-lt"/>
                <a:ea typeface="+mn-ea"/>
                <a:cs typeface="+mn-cs"/>
              </a:rPr>
              <a:t>determined that there is an opportunity to develop a new </a:t>
            </a:r>
            <a:r>
              <a:rPr lang="en-AU" sz="1200" kern="1200" baseline="0" dirty="0" smtClean="0">
                <a:solidFill>
                  <a:schemeClr val="tx1"/>
                </a:solidFill>
                <a:effectLst/>
                <a:latin typeface="+mn-lt"/>
                <a:ea typeface="+mn-ea"/>
                <a:cs typeface="+mn-cs"/>
              </a:rPr>
              <a:t> </a:t>
            </a:r>
            <a:r>
              <a:rPr lang="en-AU" sz="1200" kern="1200" dirty="0" smtClean="0">
                <a:solidFill>
                  <a:schemeClr val="tx1"/>
                </a:solidFill>
                <a:effectLst/>
                <a:latin typeface="+mn-lt"/>
                <a:ea typeface="+mn-ea"/>
                <a:cs typeface="+mn-cs"/>
              </a:rPr>
              <a:t>product or service but if the required funding is not available</a:t>
            </a:r>
            <a:r>
              <a:rPr lang="en-AU" sz="1200" kern="1200" baseline="0" dirty="0" smtClean="0">
                <a:solidFill>
                  <a:schemeClr val="tx1"/>
                </a:solidFill>
                <a:effectLst/>
                <a:latin typeface="+mn-lt"/>
                <a:ea typeface="+mn-ea"/>
                <a:cs typeface="+mn-cs"/>
              </a:rPr>
              <a:t> </a:t>
            </a:r>
            <a:r>
              <a:rPr lang="en-AU" sz="1200" kern="1200" dirty="0" smtClean="0">
                <a:solidFill>
                  <a:schemeClr val="tx1"/>
                </a:solidFill>
                <a:effectLst/>
                <a:latin typeface="+mn-lt"/>
                <a:ea typeface="+mn-ea"/>
                <a:cs typeface="+mn-cs"/>
              </a:rPr>
              <a:t>introducing the new item may not be viable. It is critical to</a:t>
            </a:r>
            <a:r>
              <a:rPr lang="en-AU" sz="1200" kern="1200" baseline="0" dirty="0" smtClean="0">
                <a:solidFill>
                  <a:schemeClr val="tx1"/>
                </a:solidFill>
                <a:effectLst/>
                <a:latin typeface="+mn-lt"/>
                <a:ea typeface="+mn-ea"/>
                <a:cs typeface="+mn-cs"/>
              </a:rPr>
              <a:t> </a:t>
            </a:r>
            <a:r>
              <a:rPr lang="en-AU" sz="1200" kern="1200" dirty="0" smtClean="0">
                <a:solidFill>
                  <a:schemeClr val="tx1"/>
                </a:solidFill>
                <a:effectLst/>
                <a:latin typeface="+mn-lt"/>
                <a:ea typeface="+mn-ea"/>
                <a:cs typeface="+mn-cs"/>
              </a:rPr>
              <a:t>examine all of the financial issues that may impact on new</a:t>
            </a:r>
            <a:r>
              <a:rPr lang="en-AU" sz="1200" kern="1200" baseline="0" dirty="0" smtClean="0">
                <a:solidFill>
                  <a:schemeClr val="tx1"/>
                </a:solidFill>
                <a:effectLst/>
                <a:latin typeface="+mn-lt"/>
                <a:ea typeface="+mn-ea"/>
                <a:cs typeface="+mn-cs"/>
              </a:rPr>
              <a:t> </a:t>
            </a:r>
            <a:r>
              <a:rPr lang="en-AU" sz="1200" kern="1200" dirty="0" smtClean="0">
                <a:solidFill>
                  <a:schemeClr val="tx1"/>
                </a:solidFill>
                <a:effectLst/>
                <a:latin typeface="+mn-lt"/>
                <a:ea typeface="+mn-ea"/>
                <a:cs typeface="+mn-cs"/>
              </a:rPr>
              <a:t>product or service initiatives.</a:t>
            </a:r>
            <a:endParaRPr lang="en-US" sz="1200" kern="1200" dirty="0" smtClean="0">
              <a:solidFill>
                <a:schemeClr val="tx1"/>
              </a:solidFill>
              <a:effectLst/>
              <a:latin typeface="+mn-lt"/>
              <a:ea typeface="+mn-ea"/>
              <a:cs typeface="+mn-cs"/>
            </a:endParaRP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18</a:t>
            </a:fld>
            <a:endParaRPr lang="en-US" dirty="0"/>
          </a:p>
        </p:txBody>
      </p:sp>
    </p:spTree>
    <p:extLst>
      <p:ext uri="{BB962C8B-B14F-4D97-AF65-F5344CB8AC3E}">
        <p14:creationId xmlns:p14="http://schemas.microsoft.com/office/powerpoint/2010/main" val="358855229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US" dirty="0" smtClean="0"/>
              <a:t>Trainer explains the need to align business opportunities</a:t>
            </a:r>
            <a:r>
              <a:rPr lang="en-US" baseline="0" dirty="0" smtClean="0"/>
              <a:t> with the actual business context. </a:t>
            </a:r>
            <a:r>
              <a:rPr lang="en-AU" sz="1200" kern="1200" dirty="0" smtClean="0">
                <a:solidFill>
                  <a:schemeClr val="tx1"/>
                </a:solidFill>
                <a:effectLst/>
                <a:latin typeface="+mn-lt"/>
                <a:ea typeface="+mn-ea"/>
                <a:cs typeface="+mn-cs"/>
              </a:rPr>
              <a:t>Identifying business opportunities can be a challenging activity and it is important to utilise all available information and data before beginning a product development plan. Opportunities may be determined by a change in the external environment where an organisation sees a gap in the market place or a need that isn’t being met. Opportunities could also be identified by existing customers or by staff but it is necessary to determine what benefits new products may bring and whether they are feasible within the organisation’s context. The SWOT analysis will often provide a general idea of opportunities that could be targeted and further investigation is needed to decide if there is an opportunity to develop a new product or service. </a:t>
            </a:r>
            <a:endParaRPr lang="en-US" sz="1200" kern="1200" dirty="0" smtClean="0">
              <a:solidFill>
                <a:schemeClr val="tx1"/>
              </a:solidFill>
              <a:effectLst/>
              <a:latin typeface="+mn-lt"/>
              <a:ea typeface="+mn-ea"/>
              <a:cs typeface="+mn-cs"/>
            </a:endParaRP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19</a:t>
            </a:fld>
            <a:endParaRPr lang="en-US" dirty="0"/>
          </a:p>
        </p:txBody>
      </p:sp>
    </p:spTree>
    <p:extLst>
      <p:ext uri="{BB962C8B-B14F-4D97-AF65-F5344CB8AC3E}">
        <p14:creationId xmlns:p14="http://schemas.microsoft.com/office/powerpoint/2010/main" val="9066909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dirty="0" smtClean="0"/>
              <a:t>Trainer explores</a:t>
            </a:r>
            <a:r>
              <a:rPr lang="en-US" baseline="0" dirty="0" smtClean="0"/>
              <a:t> the slide with trainees. The data collected from within the organization could provide an idea where opportunities are. For example, a staff member may have experienced a competitor’s product or service and identified it as a potential opportunity within their own organization.</a:t>
            </a: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20</a:t>
            </a:fld>
            <a:endParaRPr lang="en-US" dirty="0"/>
          </a:p>
        </p:txBody>
      </p:sp>
    </p:spTree>
    <p:extLst>
      <p:ext uri="{BB962C8B-B14F-4D97-AF65-F5344CB8AC3E}">
        <p14:creationId xmlns:p14="http://schemas.microsoft.com/office/powerpoint/2010/main" val="293061351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dirty="0" smtClean="0"/>
              <a:t>Trainees read through the TM.</a:t>
            </a:r>
            <a:r>
              <a:rPr lang="en-US" baseline="0" dirty="0" smtClean="0"/>
              <a:t>  Trainer utilizes information from the TM to elicit from trainees the need to generate good ideas for new products based upon evidence and perhaps a set of criteria as in the TM. Trainer goes through the phases in this slide and explains the activities at each stage.</a:t>
            </a: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21</a:t>
            </a:fld>
            <a:endParaRPr lang="en-US" dirty="0"/>
          </a:p>
        </p:txBody>
      </p:sp>
    </p:spTree>
    <p:extLst>
      <p:ext uri="{BB962C8B-B14F-4D97-AF65-F5344CB8AC3E}">
        <p14:creationId xmlns:p14="http://schemas.microsoft.com/office/powerpoint/2010/main" val="34042810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dirty="0" smtClean="0"/>
              <a:t>Trainer explains that a marketing plan may also have to be developed as</a:t>
            </a:r>
            <a:r>
              <a:rPr lang="en-US" baseline="0" dirty="0" smtClean="0"/>
              <a:t> a part of the product development plan. There are many examples of marketing plans on the internet and it may be helpful to elicit trainees knowledge of marketing plans. Brainstorm with the class the different parts of the marketing plan and ask them if they have been involved with developing a marketing plan before. </a:t>
            </a: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22</a:t>
            </a:fld>
            <a:endParaRPr lang="en-US" dirty="0"/>
          </a:p>
        </p:txBody>
      </p:sp>
    </p:spTree>
    <p:extLst>
      <p:ext uri="{BB962C8B-B14F-4D97-AF65-F5344CB8AC3E}">
        <p14:creationId xmlns:p14="http://schemas.microsoft.com/office/powerpoint/2010/main" val="329994536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dirty="0" smtClean="0"/>
              <a:t>Trainer explains the importance of drawing upon all previous information and data that has been gathered</a:t>
            </a:r>
            <a:r>
              <a:rPr lang="en-US" baseline="0" dirty="0" smtClean="0"/>
              <a:t> in order to produce a product or service that is effective.  Ask students to brainstorm all of the information that might be relevant to producing a product or service. What type of information is needed? (Social, political, legal, environmental etc.)</a:t>
            </a: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23</a:t>
            </a:fld>
            <a:endParaRPr lang="en-US" dirty="0"/>
          </a:p>
        </p:txBody>
      </p:sp>
    </p:spTree>
    <p:extLst>
      <p:ext uri="{BB962C8B-B14F-4D97-AF65-F5344CB8AC3E}">
        <p14:creationId xmlns:p14="http://schemas.microsoft.com/office/powerpoint/2010/main" val="3808033760"/>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dirty="0" smtClean="0"/>
              <a:t>Trainer goes through the slide and explains the content.</a:t>
            </a:r>
            <a:r>
              <a:rPr lang="en-US" baseline="0" dirty="0" smtClean="0"/>
              <a:t> Ask students to think of a product or service in their organization, and answer the questions in the slide for that product or service. Trainer elicits answers and extends responses.</a:t>
            </a:r>
          </a:p>
          <a:p>
            <a:r>
              <a:rPr lang="en-AU" sz="1200" b="1" kern="1200" dirty="0" smtClean="0">
                <a:solidFill>
                  <a:schemeClr val="tx1"/>
                </a:solidFill>
                <a:effectLst/>
                <a:latin typeface="+mn-lt"/>
                <a:ea typeface="+mn-ea"/>
                <a:cs typeface="+mn-cs"/>
              </a:rPr>
              <a:t>Activity: </a:t>
            </a:r>
            <a:endParaRPr lang="en-US" sz="1200" b="1" kern="1200" dirty="0" smtClean="0">
              <a:solidFill>
                <a:schemeClr val="tx1"/>
              </a:solidFill>
              <a:effectLst/>
              <a:latin typeface="+mn-lt"/>
              <a:ea typeface="+mn-ea"/>
              <a:cs typeface="+mn-cs"/>
            </a:endParaRPr>
          </a:p>
          <a:p>
            <a:r>
              <a:rPr lang="en-AU" sz="1200" kern="1200" dirty="0" smtClean="0">
                <a:solidFill>
                  <a:schemeClr val="tx1"/>
                </a:solidFill>
                <a:effectLst/>
                <a:latin typeface="+mn-lt"/>
                <a:ea typeface="+mn-ea"/>
                <a:cs typeface="+mn-cs"/>
              </a:rPr>
              <a:t>Think of a product or service within your organisation and outline all of the people involved in the delivery or offering of the product or service. What equipment, items, materials, and facilities are needed for the product to be accessed?</a:t>
            </a:r>
            <a:endParaRPr lang="en-US" sz="1200" kern="1200" dirty="0" smtClean="0">
              <a:solidFill>
                <a:schemeClr val="tx1"/>
              </a:solidFill>
              <a:effectLst/>
              <a:latin typeface="+mn-lt"/>
              <a:ea typeface="+mn-ea"/>
              <a:cs typeface="+mn-cs"/>
            </a:endParaRP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24</a:t>
            </a:fld>
            <a:endParaRPr lang="en-US" dirty="0"/>
          </a:p>
        </p:txBody>
      </p:sp>
    </p:spTree>
    <p:extLst>
      <p:ext uri="{BB962C8B-B14F-4D97-AF65-F5344CB8AC3E}">
        <p14:creationId xmlns:p14="http://schemas.microsoft.com/office/powerpoint/2010/main" val="402180147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dirty="0" smtClean="0"/>
              <a:t>Trainer goes through the summary</a:t>
            </a:r>
            <a:r>
              <a:rPr lang="en-US" baseline="0" dirty="0" smtClean="0"/>
              <a:t> and asks </a:t>
            </a:r>
            <a:r>
              <a:rPr lang="en-US" baseline="0" dirty="0" smtClean="0"/>
              <a:t>if there </a:t>
            </a:r>
            <a:r>
              <a:rPr lang="en-US" baseline="0" dirty="0" smtClean="0"/>
              <a:t>are any questions. Trainer should check if work projects have been completed.</a:t>
            </a: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25</a:t>
            </a:fld>
            <a:endParaRPr lang="en-US" dirty="0"/>
          </a:p>
        </p:txBody>
      </p:sp>
    </p:spTree>
    <p:extLst>
      <p:ext uri="{BB962C8B-B14F-4D97-AF65-F5344CB8AC3E}">
        <p14:creationId xmlns:p14="http://schemas.microsoft.com/office/powerpoint/2010/main" val="108635506"/>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dirty="0" smtClean="0"/>
              <a:t>Trainer introduces the element and goes through the performance criteria with the group. Trainer</a:t>
            </a:r>
            <a:r>
              <a:rPr lang="en-US" baseline="0" dirty="0" smtClean="0"/>
              <a:t> explains work projects for this element and due dates. </a:t>
            </a: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26</a:t>
            </a:fld>
            <a:endParaRPr lang="en-US" dirty="0"/>
          </a:p>
        </p:txBody>
      </p:sp>
    </p:spTree>
    <p:extLst>
      <p:ext uri="{BB962C8B-B14F-4D97-AF65-F5344CB8AC3E}">
        <p14:creationId xmlns:p14="http://schemas.microsoft.com/office/powerpoint/2010/main" val="3116966856"/>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sz="1200" kern="1200" dirty="0" smtClean="0">
                <a:solidFill>
                  <a:schemeClr val="tx1"/>
                </a:solidFill>
                <a:effectLst/>
                <a:latin typeface="+mn-lt"/>
                <a:ea typeface="+mn-ea"/>
                <a:cs typeface="+mn-cs"/>
              </a:rPr>
              <a:t>Trainer goes through the information with trainees</a:t>
            </a: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27</a:t>
            </a:fld>
            <a:endParaRPr lang="en-US" dirty="0"/>
          </a:p>
        </p:txBody>
      </p:sp>
    </p:spTree>
    <p:extLst>
      <p:ext uri="{BB962C8B-B14F-4D97-AF65-F5344CB8AC3E}">
        <p14:creationId xmlns:p14="http://schemas.microsoft.com/office/powerpoint/2010/main" val="3145197967"/>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dirty="0" smtClean="0"/>
              <a:t>Trainer elicits</a:t>
            </a:r>
            <a:r>
              <a:rPr lang="en-US" baseline="0" dirty="0" smtClean="0"/>
              <a:t> the importance of market testing. It is important to see if the product or service is easily delivered, used, purchased, maintained, and are there any issues or problems? Ask students to brainstorm some ways for introducing a new product or service. What have they done or experienced before? It could be for a product from a competitor or a different industry.</a:t>
            </a: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28</a:t>
            </a:fld>
            <a:endParaRPr lang="en-US" dirty="0"/>
          </a:p>
        </p:txBody>
      </p:sp>
    </p:spTree>
    <p:extLst>
      <p:ext uri="{BB962C8B-B14F-4D97-AF65-F5344CB8AC3E}">
        <p14:creationId xmlns:p14="http://schemas.microsoft.com/office/powerpoint/2010/main" val="1179503112"/>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dirty="0" smtClean="0"/>
              <a:t>Trainer</a:t>
            </a:r>
            <a:r>
              <a:rPr lang="en-US" baseline="0" dirty="0" smtClean="0"/>
              <a:t> explains the importance of gathering feedback. Feedback needs to come from a variety of </a:t>
            </a:r>
            <a:r>
              <a:rPr lang="en-AU" baseline="0" noProof="0" dirty="0" smtClean="0"/>
              <a:t>sources and it needs to be analysed in order to determine possible revisions that may need to be made to the product or service. Trainer asks trainees how feedback is gathered within their organisations and asks students to give examples of changes that have been made to products or services due to feedback. </a:t>
            </a: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29</a:t>
            </a:fld>
            <a:endParaRPr lang="en-US" dirty="0"/>
          </a:p>
        </p:txBody>
      </p:sp>
    </p:spTree>
    <p:extLst>
      <p:ext uri="{BB962C8B-B14F-4D97-AF65-F5344CB8AC3E}">
        <p14:creationId xmlns:p14="http://schemas.microsoft.com/office/powerpoint/2010/main" val="3262251996"/>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noProof="0" dirty="0" smtClean="0"/>
              <a:t>Trainer elicits reasons why product or service initiatives may need to be altered. It is important to understand that no matter how well</a:t>
            </a:r>
            <a:r>
              <a:rPr lang="en-AU" baseline="0" noProof="0" dirty="0" smtClean="0"/>
              <a:t> you plan, there is often something that has not been considered and trialling the product allows issues to be identified and rectified. Ask students to think of examples of the issues presented in the slide. </a:t>
            </a: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30</a:t>
            </a:fld>
            <a:endParaRPr lang="en-US" dirty="0"/>
          </a:p>
        </p:txBody>
      </p:sp>
    </p:spTree>
    <p:extLst>
      <p:ext uri="{BB962C8B-B14F-4D97-AF65-F5344CB8AC3E}">
        <p14:creationId xmlns:p14="http://schemas.microsoft.com/office/powerpoint/2010/main" val="2512513409"/>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dirty="0" smtClean="0"/>
              <a:t>Trainer introduces the slide and asks students to share feedback sources in their organization. </a:t>
            </a: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31</a:t>
            </a:fld>
            <a:endParaRPr lang="en-US" dirty="0"/>
          </a:p>
        </p:txBody>
      </p:sp>
    </p:spTree>
    <p:extLst>
      <p:ext uri="{BB962C8B-B14F-4D97-AF65-F5344CB8AC3E}">
        <p14:creationId xmlns:p14="http://schemas.microsoft.com/office/powerpoint/2010/main" val="1599003348"/>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dirty="0" smtClean="0"/>
              <a:t>Trainees</a:t>
            </a:r>
            <a:r>
              <a:rPr lang="en-US" baseline="0" dirty="0" smtClean="0"/>
              <a:t> read the information in their TMs and complete the survey activity. Trainer asks trainees to share their responses and experiences. How do they monitor product and services in their workplace? What changes were made to a product or service due to feedback?</a:t>
            </a: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32</a:t>
            </a:fld>
            <a:endParaRPr lang="en-US" dirty="0"/>
          </a:p>
        </p:txBody>
      </p:sp>
    </p:spTree>
    <p:extLst>
      <p:ext uri="{BB962C8B-B14F-4D97-AF65-F5344CB8AC3E}">
        <p14:creationId xmlns:p14="http://schemas.microsoft.com/office/powerpoint/2010/main" val="358900206"/>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dirty="0" smtClean="0"/>
              <a:t>Trainer explains</a:t>
            </a:r>
            <a:r>
              <a:rPr lang="en-US" baseline="0" dirty="0" smtClean="0"/>
              <a:t> the idea of change management and how change is often difficult to implement effectively. Trainer explains the picture in the slide which highlights agility or flexibility and preparedness as important to implementing effective change. People/staff/customers need to have a positive attitude to change and it is important for the organization to create this attitude. Trainer asks students to provide examples of poor change management skills that they have experienced. Trainer asks “What made the change fail?” Possible answers could be a lack of clear communication, rushing, not gathering enough feedback and responding to it.</a:t>
            </a: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33</a:t>
            </a:fld>
            <a:endParaRPr lang="en-US" dirty="0"/>
          </a:p>
        </p:txBody>
      </p:sp>
    </p:spTree>
    <p:extLst>
      <p:ext uri="{BB962C8B-B14F-4D97-AF65-F5344CB8AC3E}">
        <p14:creationId xmlns:p14="http://schemas.microsoft.com/office/powerpoint/2010/main" val="1149217066"/>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dirty="0" smtClean="0"/>
              <a:t>Trainer</a:t>
            </a:r>
            <a:r>
              <a:rPr lang="en-US" baseline="0" dirty="0" smtClean="0"/>
              <a:t> goes through the examples with students and asks students to provide examples of any of the items in the slide.</a:t>
            </a: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34</a:t>
            </a:fld>
            <a:endParaRPr lang="en-US" dirty="0"/>
          </a:p>
        </p:txBody>
      </p:sp>
    </p:spTree>
    <p:extLst>
      <p:ext uri="{BB962C8B-B14F-4D97-AF65-F5344CB8AC3E}">
        <p14:creationId xmlns:p14="http://schemas.microsoft.com/office/powerpoint/2010/main" val="4023871067"/>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dirty="0" smtClean="0"/>
              <a:t>Trainer goes through Kotter’s model for change</a:t>
            </a:r>
            <a:r>
              <a:rPr lang="en-US" baseline="0" dirty="0" smtClean="0"/>
              <a:t> using information from the TM.  Trainer can use information from </a:t>
            </a:r>
            <a:r>
              <a:rPr lang="en-AU" sz="1200" u="sng" kern="1200" dirty="0" smtClean="0">
                <a:solidFill>
                  <a:schemeClr val="tx1"/>
                </a:solidFill>
                <a:effectLst/>
                <a:latin typeface="+mn-lt"/>
                <a:ea typeface="+mn-ea"/>
                <a:cs typeface="+mn-cs"/>
                <a:hlinkClick r:id="rId3"/>
              </a:rPr>
              <a:t>www.kotterinternational.com</a:t>
            </a:r>
            <a:r>
              <a:rPr lang="en-AU" sz="1200" kern="1200" dirty="0" smtClean="0">
                <a:solidFill>
                  <a:schemeClr val="tx1"/>
                </a:solidFill>
                <a:effectLst/>
                <a:latin typeface="+mn-lt"/>
                <a:ea typeface="+mn-ea"/>
                <a:cs typeface="+mn-cs"/>
              </a:rPr>
              <a:t>.</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35</a:t>
            </a:fld>
            <a:endParaRPr lang="en-US" dirty="0"/>
          </a:p>
        </p:txBody>
      </p:sp>
    </p:spTree>
    <p:extLst>
      <p:ext uri="{BB962C8B-B14F-4D97-AF65-F5344CB8AC3E}">
        <p14:creationId xmlns:p14="http://schemas.microsoft.com/office/powerpoint/2010/main" val="59211128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Font typeface="Arial" pitchFamily="34" charset="0"/>
              <a:buNone/>
            </a:pPr>
            <a:r>
              <a:rPr lang="en-US" dirty="0" smtClean="0"/>
              <a:t>Trainer goes through Kotter’s model for change</a:t>
            </a:r>
            <a:r>
              <a:rPr lang="en-US" baseline="0" dirty="0" smtClean="0"/>
              <a:t> using information from the TM.  Trainer can use information from </a:t>
            </a:r>
            <a:r>
              <a:rPr lang="en-AU" sz="1200" u="sng" kern="1200" dirty="0" smtClean="0">
                <a:solidFill>
                  <a:schemeClr val="tx1"/>
                </a:solidFill>
                <a:effectLst/>
                <a:latin typeface="+mn-lt"/>
                <a:ea typeface="+mn-ea"/>
                <a:cs typeface="+mn-cs"/>
                <a:hlinkClick r:id="rId3"/>
              </a:rPr>
              <a:t>www.kotterinternational.com</a:t>
            </a:r>
            <a:r>
              <a:rPr lang="en-AU" sz="1200" kern="1200" dirty="0" smtClean="0">
                <a:solidFill>
                  <a:schemeClr val="tx1"/>
                </a:solidFill>
                <a:effectLst/>
                <a:latin typeface="+mn-lt"/>
                <a:ea typeface="+mn-ea"/>
                <a:cs typeface="+mn-cs"/>
              </a:rPr>
              <a:t>.</a:t>
            </a:r>
          </a:p>
          <a:p>
            <a:pPr>
              <a:buFont typeface="Arial" pitchFamily="34" charset="0"/>
              <a:buNone/>
            </a:pPr>
            <a:endParaRPr lang="en-US" dirty="0" smtClean="0"/>
          </a:p>
          <a:p>
            <a:endParaRPr lang="en-AU"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36</a:t>
            </a:fld>
            <a:endParaRPr lang="en-US" dirty="0"/>
          </a:p>
        </p:txBody>
      </p:sp>
    </p:spTree>
    <p:extLst>
      <p:ext uri="{BB962C8B-B14F-4D97-AF65-F5344CB8AC3E}">
        <p14:creationId xmlns:p14="http://schemas.microsoft.com/office/powerpoint/2010/main" val="4118503264"/>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dirty="0" smtClean="0"/>
              <a:t>Trainer explains the marketing mix and uses the TM to identify examples of the promotional mix. </a:t>
            </a:r>
          </a:p>
          <a:p>
            <a:r>
              <a:rPr lang="en-AU" sz="1200" kern="1200" dirty="0" smtClean="0">
                <a:solidFill>
                  <a:schemeClr val="tx1"/>
                </a:solidFill>
                <a:effectLst/>
                <a:latin typeface="+mn-lt"/>
                <a:ea typeface="+mn-ea"/>
                <a:cs typeface="+mn-cs"/>
              </a:rPr>
              <a:t>It is important to ask:</a:t>
            </a:r>
            <a:endParaRPr lang="en-US" sz="1200" kern="1200" dirty="0" smtClean="0">
              <a:solidFill>
                <a:schemeClr val="tx1"/>
              </a:solidFill>
              <a:effectLst/>
              <a:latin typeface="+mn-lt"/>
              <a:ea typeface="+mn-ea"/>
              <a:cs typeface="+mn-cs"/>
            </a:endParaRPr>
          </a:p>
          <a:p>
            <a:pPr lvl="0"/>
            <a:r>
              <a:rPr lang="en-AU" sz="1200" kern="1200" dirty="0" smtClean="0">
                <a:solidFill>
                  <a:schemeClr val="tx1"/>
                </a:solidFill>
                <a:effectLst/>
                <a:latin typeface="+mn-lt"/>
                <a:ea typeface="+mn-ea"/>
                <a:cs typeface="+mn-cs"/>
              </a:rPr>
              <a:t>How can the product or service be promoted? Where and when can you inform customers of the new product or service?</a:t>
            </a:r>
            <a:endParaRPr lang="en-US" sz="1200" kern="1200" dirty="0" smtClean="0">
              <a:solidFill>
                <a:schemeClr val="tx1"/>
              </a:solidFill>
              <a:effectLst/>
              <a:latin typeface="+mn-lt"/>
              <a:ea typeface="+mn-ea"/>
              <a:cs typeface="+mn-cs"/>
            </a:endParaRPr>
          </a:p>
          <a:p>
            <a:pPr lvl="0"/>
            <a:r>
              <a:rPr lang="en-AU" sz="1200" kern="1200" dirty="0" smtClean="0">
                <a:solidFill>
                  <a:schemeClr val="tx1"/>
                </a:solidFill>
                <a:effectLst/>
                <a:latin typeface="+mn-lt"/>
                <a:ea typeface="+mn-ea"/>
                <a:cs typeface="+mn-cs"/>
              </a:rPr>
              <a:t>What advertising media will be used? Will it just be internally generated through brochures, verbal notification to customers, email, website, banners, social media or events?</a:t>
            </a:r>
            <a:endParaRPr lang="en-US" sz="1200" kern="1200" dirty="0" smtClean="0">
              <a:solidFill>
                <a:schemeClr val="tx1"/>
              </a:solidFill>
              <a:effectLst/>
              <a:latin typeface="+mn-lt"/>
              <a:ea typeface="+mn-ea"/>
              <a:cs typeface="+mn-cs"/>
            </a:endParaRPr>
          </a:p>
          <a:p>
            <a:pPr lvl="0"/>
            <a:r>
              <a:rPr lang="en-AU" sz="1200" kern="1200" dirty="0" smtClean="0">
                <a:solidFill>
                  <a:schemeClr val="tx1"/>
                </a:solidFill>
                <a:effectLst/>
                <a:latin typeface="+mn-lt"/>
                <a:ea typeface="+mn-ea"/>
                <a:cs typeface="+mn-cs"/>
              </a:rPr>
              <a:t>When is the best time to promote to your customers?</a:t>
            </a:r>
            <a:endParaRPr lang="en-US" sz="1200" kern="1200" dirty="0" smtClean="0">
              <a:solidFill>
                <a:schemeClr val="tx1"/>
              </a:solidFill>
              <a:effectLst/>
              <a:latin typeface="+mn-lt"/>
              <a:ea typeface="+mn-ea"/>
              <a:cs typeface="+mn-cs"/>
            </a:endParaRPr>
          </a:p>
          <a:p>
            <a:pPr lvl="0"/>
            <a:r>
              <a:rPr lang="en-AU" sz="1200" kern="1200" dirty="0" smtClean="0">
                <a:solidFill>
                  <a:schemeClr val="tx1"/>
                </a:solidFill>
                <a:effectLst/>
                <a:latin typeface="+mn-lt"/>
                <a:ea typeface="+mn-ea"/>
                <a:cs typeface="+mn-cs"/>
              </a:rPr>
              <a:t>How do your competitors promote their products and services, and are they effective strategies?</a:t>
            </a:r>
            <a:endParaRPr lang="en-US" sz="1200" kern="1200" dirty="0" smtClean="0">
              <a:solidFill>
                <a:schemeClr val="tx1"/>
              </a:solidFill>
              <a:effectLst/>
              <a:latin typeface="+mn-lt"/>
              <a:ea typeface="+mn-ea"/>
              <a:cs typeface="+mn-cs"/>
            </a:endParaRPr>
          </a:p>
          <a:p>
            <a:pPr lvl="0"/>
            <a:r>
              <a:rPr lang="en-AU" sz="1200" kern="1200" dirty="0" smtClean="0">
                <a:solidFill>
                  <a:schemeClr val="tx1"/>
                </a:solidFill>
                <a:effectLst/>
                <a:latin typeface="+mn-lt"/>
                <a:ea typeface="+mn-ea"/>
                <a:cs typeface="+mn-cs"/>
              </a:rPr>
              <a:t>What types of promotional activities have already proved successful within your organisation?</a:t>
            </a:r>
            <a:endParaRPr lang="en-US" sz="1200" kern="1200" dirty="0" smtClean="0">
              <a:solidFill>
                <a:schemeClr val="tx1"/>
              </a:solidFill>
              <a:effectLst/>
              <a:latin typeface="+mn-lt"/>
              <a:ea typeface="+mn-ea"/>
              <a:cs typeface="+mn-cs"/>
            </a:endParaRPr>
          </a:p>
          <a:p>
            <a:pPr lvl="0"/>
            <a:r>
              <a:rPr lang="en-AU" sz="1200" kern="1200" dirty="0" smtClean="0">
                <a:solidFill>
                  <a:schemeClr val="tx1"/>
                </a:solidFill>
                <a:effectLst/>
                <a:latin typeface="+mn-lt"/>
                <a:ea typeface="+mn-ea"/>
                <a:cs typeface="+mn-cs"/>
              </a:rPr>
              <a:t>What budget is available for promotional activities?</a:t>
            </a:r>
            <a:endParaRPr lang="en-US" sz="1200" kern="1200" dirty="0" smtClean="0">
              <a:solidFill>
                <a:schemeClr val="tx1"/>
              </a:solidFill>
              <a:effectLst/>
              <a:latin typeface="+mn-lt"/>
              <a:ea typeface="+mn-ea"/>
              <a:cs typeface="+mn-cs"/>
            </a:endParaRP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37</a:t>
            </a:fld>
            <a:endParaRPr lang="en-US" dirty="0"/>
          </a:p>
        </p:txBody>
      </p:sp>
    </p:spTree>
    <p:extLst>
      <p:ext uri="{BB962C8B-B14F-4D97-AF65-F5344CB8AC3E}">
        <p14:creationId xmlns:p14="http://schemas.microsoft.com/office/powerpoint/2010/main" val="1771925153"/>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dirty="0" smtClean="0"/>
              <a:t>Trainer asks trainees to provide examples of promotional ideas that they are aware of. Trainer could bring in examples of different promotional</a:t>
            </a:r>
            <a:r>
              <a:rPr lang="en-US" baseline="0" dirty="0" smtClean="0"/>
              <a:t> campaigns from well known brands. Trainer could asks students to look at a competitor’s promotional strategies and identify what they are doing and how this differs from their own organization. Trainer could show this video (Science of persuasion) or use Dr. Cialdini’s ideas on the science of persuasion. https://www.youtube.com/watch?v=cFdCzN7RYbw </a:t>
            </a:r>
          </a:p>
          <a:p>
            <a:pPr>
              <a:buFont typeface="Arial" pitchFamily="34" charset="0"/>
              <a:buNone/>
            </a:pPr>
            <a:endParaRPr lang="en-US" baseline="0"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38</a:t>
            </a:fld>
            <a:endParaRPr lang="en-US" dirty="0"/>
          </a:p>
        </p:txBody>
      </p:sp>
    </p:spTree>
    <p:extLst>
      <p:ext uri="{BB962C8B-B14F-4D97-AF65-F5344CB8AC3E}">
        <p14:creationId xmlns:p14="http://schemas.microsoft.com/office/powerpoint/2010/main" val="1590234633"/>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dirty="0" smtClean="0"/>
              <a:t>Trainer </a:t>
            </a:r>
            <a:r>
              <a:rPr lang="en-AU" noProof="0" dirty="0" smtClean="0"/>
              <a:t>summarises</a:t>
            </a:r>
            <a:r>
              <a:rPr lang="en-US" dirty="0" smtClean="0"/>
              <a:t> the element and reminds students of work projects and due dates.</a:t>
            </a:r>
            <a:r>
              <a:rPr lang="en-US" baseline="0" dirty="0" smtClean="0"/>
              <a:t> </a:t>
            </a: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39</a:t>
            </a:fld>
            <a:endParaRPr lang="en-US" dirty="0"/>
          </a:p>
        </p:txBody>
      </p:sp>
    </p:spTree>
    <p:extLst>
      <p:ext uri="{BB962C8B-B14F-4D97-AF65-F5344CB8AC3E}">
        <p14:creationId xmlns:p14="http://schemas.microsoft.com/office/powerpoint/2010/main" val="4052498558"/>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dirty="0" smtClean="0"/>
              <a:t>Trainer introduces the element</a:t>
            </a:r>
            <a:r>
              <a:rPr lang="en-US" baseline="0" dirty="0" smtClean="0"/>
              <a:t> and goes through housekeeping with the trainees. Trainer informs students about work projects and due dates.</a:t>
            </a: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40</a:t>
            </a:fld>
            <a:endParaRPr lang="en-US" dirty="0"/>
          </a:p>
        </p:txBody>
      </p:sp>
    </p:spTree>
    <p:extLst>
      <p:ext uri="{BB962C8B-B14F-4D97-AF65-F5344CB8AC3E}">
        <p14:creationId xmlns:p14="http://schemas.microsoft.com/office/powerpoint/2010/main" val="2209548458"/>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dirty="0" smtClean="0"/>
              <a:t>Trainer explains the importance</a:t>
            </a:r>
            <a:r>
              <a:rPr lang="en-US" baseline="0" dirty="0" smtClean="0"/>
              <a:t> of collecting data and statistics that can help to determine the performance of a new product or service. It is necessary to compare statistics against KPIs to see if the product is reaching the goals that were outlined. Ask students to provide examples of statistics that may be useful for evaluating product or service performance: financial data, increases in customer numbers/sales, cost reductions</a:t>
            </a: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41</a:t>
            </a:fld>
            <a:endParaRPr lang="en-US" dirty="0"/>
          </a:p>
        </p:txBody>
      </p:sp>
    </p:spTree>
    <p:extLst>
      <p:ext uri="{BB962C8B-B14F-4D97-AF65-F5344CB8AC3E}">
        <p14:creationId xmlns:p14="http://schemas.microsoft.com/office/powerpoint/2010/main" val="3612816347"/>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dirty="0" smtClean="0"/>
              <a:t>Trainer</a:t>
            </a:r>
            <a:r>
              <a:rPr lang="en-US" baseline="0" dirty="0" smtClean="0"/>
              <a:t> goes through examples with trainees and elicits other examples from the group. What KPIs does their </a:t>
            </a:r>
            <a:r>
              <a:rPr lang="en-AU" baseline="0" noProof="0" dirty="0" smtClean="0"/>
              <a:t>organisations</a:t>
            </a:r>
            <a:r>
              <a:rPr lang="en-US" baseline="0" dirty="0" smtClean="0"/>
              <a:t> set in regards to these examples? </a:t>
            </a: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42</a:t>
            </a:fld>
            <a:endParaRPr lang="en-US" dirty="0"/>
          </a:p>
        </p:txBody>
      </p:sp>
    </p:spTree>
    <p:extLst>
      <p:ext uri="{BB962C8B-B14F-4D97-AF65-F5344CB8AC3E}">
        <p14:creationId xmlns:p14="http://schemas.microsoft.com/office/powerpoint/2010/main" val="3612816347"/>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dirty="0" smtClean="0"/>
              <a:t>Trainer explains the need for effective feedback</a:t>
            </a:r>
            <a:r>
              <a:rPr lang="en-US" baseline="0" dirty="0" smtClean="0"/>
              <a:t> gathering. Feedback needs to be collected from a variety of sources and should be collected regularly. It is important </a:t>
            </a:r>
            <a:r>
              <a:rPr lang="en-AU" baseline="0" noProof="0" dirty="0" smtClean="0"/>
              <a:t>for an organisation to develop a culture where feedback is encouraged and actively sought rather than gathered randomly and inconsistently. Documenting feedback is also important in order to be able to monitor responses over time. Trainer explains that stakeholders could include many different people from managers, owners and suppliers, to staff and customers.</a:t>
            </a: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43</a:t>
            </a:fld>
            <a:endParaRPr lang="en-US" dirty="0"/>
          </a:p>
        </p:txBody>
      </p:sp>
    </p:spTree>
    <p:extLst>
      <p:ext uri="{BB962C8B-B14F-4D97-AF65-F5344CB8AC3E}">
        <p14:creationId xmlns:p14="http://schemas.microsoft.com/office/powerpoint/2010/main" val="3612816347"/>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dirty="0" smtClean="0"/>
              <a:t>Trainer elicits the need for evaluation of results or performance. If projected outcomes do not match actual</a:t>
            </a:r>
            <a:r>
              <a:rPr lang="en-US" baseline="0" dirty="0" smtClean="0"/>
              <a:t> outcomes then there needs to be an analysis of why the outcomes do not match. This may be due to a change in the business environment or context which differed from when the product plan was developed. The actual outcomes could be better or worse than predicted but either way there must be an examination of the performance. </a:t>
            </a: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44</a:t>
            </a:fld>
            <a:endParaRPr lang="en-US" dirty="0"/>
          </a:p>
        </p:txBody>
      </p:sp>
    </p:spTree>
    <p:extLst>
      <p:ext uri="{BB962C8B-B14F-4D97-AF65-F5344CB8AC3E}">
        <p14:creationId xmlns:p14="http://schemas.microsoft.com/office/powerpoint/2010/main" val="3612816347"/>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dirty="0" smtClean="0"/>
              <a:t>Trainer explains</a:t>
            </a:r>
            <a:r>
              <a:rPr lang="en-US" baseline="0" dirty="0" smtClean="0"/>
              <a:t> what the Net Promoter Score is and asks if students have seen or if their </a:t>
            </a:r>
            <a:r>
              <a:rPr lang="en-AU" baseline="0" noProof="0" dirty="0" smtClean="0"/>
              <a:t>organisations</a:t>
            </a:r>
            <a:r>
              <a:rPr lang="en-US" baseline="0" dirty="0" smtClean="0"/>
              <a:t> use this rating system. There is an example in the TM that could be used to elicit NPS.</a:t>
            </a: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45</a:t>
            </a:fld>
            <a:endParaRPr lang="en-US" dirty="0"/>
          </a:p>
        </p:txBody>
      </p:sp>
    </p:spTree>
    <p:extLst>
      <p:ext uri="{BB962C8B-B14F-4D97-AF65-F5344CB8AC3E}">
        <p14:creationId xmlns:p14="http://schemas.microsoft.com/office/powerpoint/2010/main" val="3612816347"/>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dirty="0" smtClean="0"/>
              <a:t>Trainer explains</a:t>
            </a:r>
            <a:r>
              <a:rPr lang="en-US" baseline="0" dirty="0" smtClean="0"/>
              <a:t> what a continuous improvement cycle is and involves. Based upon previous units trainees should be able to explain what is needed to be done in order to maintain an effective product development process. If there are issues or successes identified it is necessary to respond to this information and alter the product or service to improve the initiative. Trainees read the TM and look at some areas that may require change. Trainees provide examples of changes that have been implemented within their work context regarding new product and service initiatives. Trainer asks what prompted the changes?</a:t>
            </a:r>
          </a:p>
          <a:p>
            <a:pPr>
              <a:buFont typeface="Arial" pitchFamily="34" charset="0"/>
              <a:buNone/>
            </a:pPr>
            <a:r>
              <a:rPr lang="en-US" baseline="0" dirty="0" smtClean="0"/>
              <a:t>Trainer reminds students of work projects and due dates.</a:t>
            </a: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46</a:t>
            </a:fld>
            <a:endParaRPr lang="en-US" dirty="0"/>
          </a:p>
        </p:txBody>
      </p:sp>
    </p:spTree>
    <p:extLst>
      <p:ext uri="{BB962C8B-B14F-4D97-AF65-F5344CB8AC3E}">
        <p14:creationId xmlns:p14="http://schemas.microsoft.com/office/powerpoint/2010/main" val="361281634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Freeform 6"/>
          <p:cNvSpPr>
            <a:spLocks/>
          </p:cNvSpPr>
          <p:nvPr/>
        </p:nvSpPr>
        <p:spPr bwMode="auto">
          <a:xfrm>
            <a:off x="0" y="4752126"/>
            <a:ext cx="9144000" cy="2112962"/>
          </a:xfrm>
          <a:custGeom>
            <a:avLst>
              <a:gd name="A1" fmla="val 0"/>
              <a:gd name="A2" fmla="val 0"/>
              <a:gd name="A3" fmla="val 0"/>
              <a:gd name="A4" fmla="val 0"/>
              <a:gd name="A5" fmla="val 0"/>
              <a:gd name="A6" fmla="val 0"/>
              <a:gd name="A7" fmla="val 0"/>
              <a:gd name="A8" fmla="val 0"/>
            </a:avLst>
            <a:gdLst/>
            <a:ahLst/>
            <a:cxnLst>
              <a:cxn ang="0">
                <a:pos x="0" y="1066"/>
              </a:cxn>
              <a:cxn ang="0">
                <a:pos x="0" y="1331"/>
              </a:cxn>
              <a:cxn ang="0">
                <a:pos x="5760" y="1331"/>
              </a:cxn>
              <a:cxn ang="0">
                <a:pos x="5760" y="0"/>
              </a:cxn>
              <a:cxn ang="0">
                <a:pos x="0" y="1066"/>
              </a:cxn>
            </a:cxnLst>
            <a:rect l="0" t="0" r="0" b="0"/>
            <a:pathLst>
              <a:path w="5760" h="1331">
                <a:moveTo>
                  <a:pt x="0" y="1066"/>
                </a:moveTo>
                <a:lnTo>
                  <a:pt x="0" y="1331"/>
                </a:lnTo>
                <a:lnTo>
                  <a:pt x="5760" y="1331"/>
                </a:lnTo>
                <a:lnTo>
                  <a:pt x="5760" y="0"/>
                </a:lnTo>
                <a:cubicBezTo>
                  <a:pt x="3220" y="1206"/>
                  <a:pt x="2250" y="1146"/>
                  <a:pt x="0" y="1066"/>
                </a:cubicBezTo>
                <a:close/>
              </a:path>
            </a:pathLst>
          </a:custGeom>
          <a:solidFill>
            <a:schemeClr val="bg1">
              <a:tint val="80000"/>
              <a:satMod val="200000"/>
              <a:alpha val="45000"/>
            </a:schemeClr>
          </a:solidFill>
          <a:ln w="9525" cap="flat" cmpd="sng" algn="ctr">
            <a:noFill/>
            <a:prstDash val="solid"/>
            <a:round/>
            <a:headEnd type="none" w="med" len="med"/>
            <a:tailEnd type="none" w="med" len="med"/>
          </a:ln>
          <a:effectLst>
            <a:outerShdw blurRad="50800" dist="44450" dir="16200000" algn="ctr" rotWithShape="0">
              <a:prstClr val="black">
                <a:alpha val="35000"/>
              </a:prstClr>
            </a:outerShdw>
          </a:effectLst>
        </p:spPr>
        <p:txBody>
          <a:bodyPr vert="horz" wrap="square" lIns="91440" tIns="45720" rIns="91440" bIns="45720" anchor="t" compatLnSpc="1"/>
          <a:lstStyle/>
          <a:p>
            <a:endParaRPr kumimoji="0" lang="en-US" dirty="0">
              <a:latin typeface="Helvetica" pitchFamily="34" charset="0"/>
            </a:endParaRPr>
          </a:p>
        </p:txBody>
      </p:sp>
      <p:sp>
        <p:nvSpPr>
          <p:cNvPr id="8" name="Freeform 7"/>
          <p:cNvSpPr>
            <a:spLocks/>
          </p:cNvSpPr>
          <p:nvPr/>
        </p:nvSpPr>
        <p:spPr bwMode="auto">
          <a:xfrm>
            <a:off x="6105525" y="0"/>
            <a:ext cx="3038475" cy="6858000"/>
          </a:xfrm>
          <a:custGeom>
            <a:avLst/>
            <a:gdLst>
              <a:gd name="connsiteX0" fmla="*/ 1914 w 1914"/>
              <a:gd name="connsiteY0" fmla="*/ 9 h 4329"/>
              <a:gd name="connsiteX1" fmla="*/ 1914 w 1914"/>
              <a:gd name="connsiteY1" fmla="*/ 4329 h 4329"/>
              <a:gd name="connsiteX2" fmla="*/ 204 w 1914"/>
              <a:gd name="connsiteY2" fmla="*/ 4327 h 4329"/>
              <a:gd name="connsiteX3" fmla="*/ 0 w 1914"/>
              <a:gd name="connsiteY3" fmla="*/ 0 h 4329"/>
              <a:gd name="connsiteX4" fmla="*/ 1914 w 1914"/>
              <a:gd name="connsiteY4" fmla="*/ 9 h 432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14" h="4329">
                <a:moveTo>
                  <a:pt x="1914" y="9"/>
                </a:moveTo>
                <a:lnTo>
                  <a:pt x="1914" y="4329"/>
                </a:lnTo>
                <a:lnTo>
                  <a:pt x="204" y="4327"/>
                </a:lnTo>
                <a:cubicBezTo>
                  <a:pt x="1288" y="3574"/>
                  <a:pt x="1608" y="1590"/>
                  <a:pt x="0" y="0"/>
                </a:cubicBezTo>
                <a:lnTo>
                  <a:pt x="1914" y="9"/>
                </a:lnTo>
                <a:close/>
              </a:path>
            </a:pathLst>
          </a:custGeom>
          <a:solidFill>
            <a:schemeClr val="bg1">
              <a:tint val="90000"/>
              <a:satMod val="350000"/>
              <a:alpha val="40000"/>
            </a:schemeClr>
          </a:solidFill>
          <a:ln w="9525" cap="flat" cmpd="sng" algn="ctr">
            <a:noFill/>
            <a:prstDash val="solid"/>
            <a:round/>
            <a:headEnd type="none" w="med" len="med"/>
            <a:tailEnd type="none" w="med" len="med"/>
          </a:ln>
          <a:effectLst>
            <a:outerShdw blurRad="50800" dist="50800" dir="10800000" algn="ctr" rotWithShape="0">
              <a:prstClr val="black">
                <a:alpha val="45000"/>
              </a:prstClr>
            </a:outerShdw>
          </a:effectLst>
        </p:spPr>
        <p:txBody>
          <a:bodyPr vert="horz" wrap="square" lIns="91440" tIns="45720" rIns="91440" bIns="45720" anchor="t" compatLnSpc="1"/>
          <a:lstStyle/>
          <a:p>
            <a:endParaRPr kumimoji="0" lang="en-US" dirty="0">
              <a:latin typeface="Helvetica" pitchFamily="34" charset="0"/>
            </a:endParaRPr>
          </a:p>
        </p:txBody>
      </p:sp>
      <p:sp>
        <p:nvSpPr>
          <p:cNvPr id="9" name="Title 8"/>
          <p:cNvSpPr>
            <a:spLocks noGrp="1"/>
          </p:cNvSpPr>
          <p:nvPr>
            <p:ph type="ctrTitle"/>
          </p:nvPr>
        </p:nvSpPr>
        <p:spPr>
          <a:xfrm>
            <a:off x="429064" y="3337560"/>
            <a:ext cx="6480048" cy="2301240"/>
          </a:xfrm>
        </p:spPr>
        <p:txBody>
          <a:bodyPr rIns="45720" anchor="t"/>
          <a:lstStyle>
            <a:lvl1pPr algn="r">
              <a:defRPr lang="en-US" b="1" cap="all" baseline="0" dirty="0">
                <a:ln w="5000" cmpd="sng">
                  <a:solidFill>
                    <a:schemeClr val="accent1">
                      <a:tint val="80000"/>
                      <a:shade val="99000"/>
                      <a:satMod val="500000"/>
                    </a:schemeClr>
                  </a:solidFill>
                  <a:prstDash val="solid"/>
                </a:ln>
                <a:gradFill>
                  <a:gsLst>
                    <a:gs pos="0">
                      <a:schemeClr val="accent1">
                        <a:tint val="63000"/>
                        <a:satMod val="255000"/>
                      </a:schemeClr>
                    </a:gs>
                    <a:gs pos="9000">
                      <a:schemeClr val="accent1">
                        <a:tint val="63000"/>
                        <a:satMod val="255000"/>
                      </a:schemeClr>
                    </a:gs>
                    <a:gs pos="53000">
                      <a:schemeClr val="accent1">
                        <a:shade val="60000"/>
                        <a:satMod val="100000"/>
                      </a:schemeClr>
                    </a:gs>
                    <a:gs pos="90000">
                      <a:schemeClr val="accent1">
                        <a:tint val="63000"/>
                        <a:satMod val="255000"/>
                      </a:schemeClr>
                    </a:gs>
                    <a:gs pos="100000">
                      <a:schemeClr val="accent1">
                        <a:tint val="63000"/>
                        <a:satMod val="255000"/>
                      </a:schemeClr>
                    </a:gs>
                  </a:gsLst>
                  <a:lin ang="5400000"/>
                </a:gradFill>
                <a:effectLst>
                  <a:outerShdw blurRad="50800" dist="38100" dir="5400000" algn="t" rotWithShape="0">
                    <a:prstClr val="black">
                      <a:alpha val="50000"/>
                    </a:prstClr>
                  </a:outerShdw>
                </a:effectLst>
              </a:defRPr>
            </a:lvl1pPr>
          </a:lstStyle>
          <a:p>
            <a:r>
              <a:rPr kumimoji="0" lang="en-US" smtClean="0"/>
              <a:t>Click to edit Master title style</a:t>
            </a:r>
            <a:endParaRPr kumimoji="0" lang="en-US"/>
          </a:p>
        </p:txBody>
      </p:sp>
      <p:sp>
        <p:nvSpPr>
          <p:cNvPr id="17" name="Subtitle 16"/>
          <p:cNvSpPr>
            <a:spLocks noGrp="1"/>
          </p:cNvSpPr>
          <p:nvPr>
            <p:ph type="subTitle" idx="1"/>
          </p:nvPr>
        </p:nvSpPr>
        <p:spPr>
          <a:xfrm>
            <a:off x="433050" y="1544812"/>
            <a:ext cx="6480048" cy="1752600"/>
          </a:xfrm>
        </p:spPr>
        <p:txBody>
          <a:bodyPr tIns="0" rIns="45720" bIns="0" anchor="b">
            <a:normAutofit/>
          </a:bodyPr>
          <a:lstStyle>
            <a:lvl1pPr marL="0" indent="0" algn="r">
              <a:buNone/>
              <a:defRPr sz="2000">
                <a:solidFill>
                  <a:schemeClr val="tx1"/>
                </a:solidFill>
                <a:effectLst/>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smtClean="0"/>
              <a:t>Click to edit Master subtitle style</a:t>
            </a:r>
            <a:endParaRPr kumimoji="0" lang="en-US"/>
          </a:p>
        </p:txBody>
      </p:sp>
      <p:sp>
        <p:nvSpPr>
          <p:cNvPr id="30" name="Date Placeholder 29"/>
          <p:cNvSpPr>
            <a:spLocks noGrp="1"/>
          </p:cNvSpPr>
          <p:nvPr>
            <p:ph type="dt" sz="half" idx="10"/>
          </p:nvPr>
        </p:nvSpPr>
        <p:spPr/>
        <p:txBody>
          <a:bodyPr/>
          <a:lstStyle/>
          <a:p>
            <a:fld id="{3F96675B-16CB-449C-AA64-20E2E057E166}" type="datetime1">
              <a:rPr lang="en-US" smtClean="0"/>
              <a:pPr/>
              <a:t>4/27/2015</a:t>
            </a:fld>
            <a:endParaRPr lang="en-US" dirty="0"/>
          </a:p>
        </p:txBody>
      </p:sp>
      <p:sp>
        <p:nvSpPr>
          <p:cNvPr id="19" name="Footer Placeholder 18"/>
          <p:cNvSpPr>
            <a:spLocks noGrp="1"/>
          </p:cNvSpPr>
          <p:nvPr>
            <p:ph type="ftr" sz="quarter" idx="11"/>
          </p:nvPr>
        </p:nvSpPr>
        <p:spPr/>
        <p:txBody>
          <a:bodyPr/>
          <a:lstStyle/>
          <a:p>
            <a:endParaRPr lang="en-US" dirty="0"/>
          </a:p>
        </p:txBody>
      </p:sp>
      <p:sp>
        <p:nvSpPr>
          <p:cNvPr id="27" name="Slide Number Placeholder 26"/>
          <p:cNvSpPr>
            <a:spLocks noGrp="1"/>
          </p:cNvSpPr>
          <p:nvPr>
            <p:ph type="sldNum" sz="quarter" idx="12"/>
          </p:nvPr>
        </p:nvSpPr>
        <p:spPr/>
        <p:txBody>
          <a:bodyPr/>
          <a:lstStyle/>
          <a:p>
            <a:fld id="{90BDF71C-F485-43AE-8825-5070AF1EA8C9}" type="slidenum">
              <a:rPr lang="en-US" smtClean="0"/>
              <a:pPr/>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l">
              <a:defRPr/>
            </a:lvl1pPr>
          </a:lstStyle>
          <a:p>
            <a:r>
              <a:rPr kumimoji="0" lang="en-US" smtClean="0"/>
              <a:t>Click to edit Master title style</a:t>
            </a:r>
            <a:endParaRPr kumimoji="0" lang="en-US"/>
          </a:p>
        </p:txBody>
      </p:sp>
      <p:sp>
        <p:nvSpPr>
          <p:cNvPr id="3" name="Content Placeholder 2"/>
          <p:cNvSpPr>
            <a:spLocks noGrp="1"/>
          </p:cNvSpPr>
          <p:nvPr>
            <p:ph idx="1"/>
          </p:nvPr>
        </p:nvSpPr>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0646F223-D3A2-44F5-8051-829B2F23C0D4}" type="datetime1">
              <a:rPr lang="en-US" smtClean="0"/>
              <a:pPr/>
              <a:t>4/27/2015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90BDF71C-F485-43AE-8825-5070AF1EA8C9}" type="slidenum">
              <a:rPr lang="en-US" smtClean="0"/>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7" name="Freeform 6"/>
          <p:cNvSpPr>
            <a:spLocks/>
          </p:cNvSpPr>
          <p:nvPr/>
        </p:nvSpPr>
        <p:spPr bwMode="auto">
          <a:xfrm>
            <a:off x="0" y="4752126"/>
            <a:ext cx="9144000" cy="2112962"/>
          </a:xfrm>
          <a:custGeom>
            <a:avLst>
              <a:gd name="A1" fmla="val 0"/>
              <a:gd name="A2" fmla="val 0"/>
              <a:gd name="A3" fmla="val 0"/>
              <a:gd name="A4" fmla="val 0"/>
              <a:gd name="A5" fmla="val 0"/>
              <a:gd name="A6" fmla="val 0"/>
              <a:gd name="A7" fmla="val 0"/>
              <a:gd name="A8" fmla="val 0"/>
            </a:avLst>
            <a:gdLst/>
            <a:ahLst/>
            <a:cxnLst>
              <a:cxn ang="0">
                <a:pos x="0" y="1066"/>
              </a:cxn>
              <a:cxn ang="0">
                <a:pos x="0" y="1331"/>
              </a:cxn>
              <a:cxn ang="0">
                <a:pos x="5760" y="1331"/>
              </a:cxn>
              <a:cxn ang="0">
                <a:pos x="5760" y="0"/>
              </a:cxn>
              <a:cxn ang="0">
                <a:pos x="0" y="1066"/>
              </a:cxn>
            </a:cxnLst>
            <a:rect l="0" t="0" r="0" b="0"/>
            <a:pathLst>
              <a:path w="5760" h="1331">
                <a:moveTo>
                  <a:pt x="0" y="1066"/>
                </a:moveTo>
                <a:lnTo>
                  <a:pt x="0" y="1331"/>
                </a:lnTo>
                <a:lnTo>
                  <a:pt x="5760" y="1331"/>
                </a:lnTo>
                <a:lnTo>
                  <a:pt x="5760" y="0"/>
                </a:lnTo>
                <a:cubicBezTo>
                  <a:pt x="3220" y="1206"/>
                  <a:pt x="2250" y="1146"/>
                  <a:pt x="0" y="1066"/>
                </a:cubicBezTo>
                <a:close/>
              </a:path>
            </a:pathLst>
          </a:custGeom>
          <a:solidFill>
            <a:schemeClr val="bg1">
              <a:tint val="80000"/>
              <a:satMod val="200000"/>
              <a:alpha val="45000"/>
            </a:schemeClr>
          </a:solidFill>
          <a:ln w="9525" cap="flat" cmpd="sng" algn="ctr">
            <a:noFill/>
            <a:prstDash val="solid"/>
            <a:round/>
            <a:headEnd type="none" w="med" len="med"/>
            <a:tailEnd type="none" w="med" len="med"/>
          </a:ln>
          <a:effectLst>
            <a:outerShdw blurRad="50800" dist="44450" dir="16200000" algn="ctr" rotWithShape="0">
              <a:prstClr val="black">
                <a:alpha val="35000"/>
              </a:prstClr>
            </a:outerShdw>
          </a:effectLst>
        </p:spPr>
        <p:txBody>
          <a:bodyPr vert="horz" wrap="square" lIns="91440" tIns="45720" rIns="91440" bIns="45720" anchor="t" compatLnSpc="1"/>
          <a:lstStyle/>
          <a:p>
            <a:endParaRPr kumimoji="0" lang="en-US" dirty="0">
              <a:latin typeface="Helvetica" pitchFamily="34" charset="0"/>
            </a:endParaRPr>
          </a:p>
        </p:txBody>
      </p:sp>
      <p:sp>
        <p:nvSpPr>
          <p:cNvPr id="9" name="Freeform 8"/>
          <p:cNvSpPr>
            <a:spLocks/>
          </p:cNvSpPr>
          <p:nvPr/>
        </p:nvSpPr>
        <p:spPr bwMode="auto">
          <a:xfrm>
            <a:off x="6105525" y="0"/>
            <a:ext cx="3038475" cy="6858000"/>
          </a:xfrm>
          <a:custGeom>
            <a:avLst/>
            <a:gdLst>
              <a:gd name="connsiteX0" fmla="*/ 1914 w 1914"/>
              <a:gd name="connsiteY0" fmla="*/ 9 h 4329"/>
              <a:gd name="connsiteX1" fmla="*/ 1914 w 1914"/>
              <a:gd name="connsiteY1" fmla="*/ 4329 h 4329"/>
              <a:gd name="connsiteX2" fmla="*/ 204 w 1914"/>
              <a:gd name="connsiteY2" fmla="*/ 4327 h 4329"/>
              <a:gd name="connsiteX3" fmla="*/ 0 w 1914"/>
              <a:gd name="connsiteY3" fmla="*/ 0 h 4329"/>
              <a:gd name="connsiteX4" fmla="*/ 1914 w 1914"/>
              <a:gd name="connsiteY4" fmla="*/ 9 h 432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14" h="4329">
                <a:moveTo>
                  <a:pt x="1914" y="9"/>
                </a:moveTo>
                <a:lnTo>
                  <a:pt x="1914" y="4329"/>
                </a:lnTo>
                <a:lnTo>
                  <a:pt x="204" y="4327"/>
                </a:lnTo>
                <a:cubicBezTo>
                  <a:pt x="1288" y="3574"/>
                  <a:pt x="1608" y="1590"/>
                  <a:pt x="0" y="0"/>
                </a:cubicBezTo>
                <a:lnTo>
                  <a:pt x="1914" y="9"/>
                </a:lnTo>
                <a:close/>
              </a:path>
            </a:pathLst>
          </a:custGeom>
          <a:solidFill>
            <a:schemeClr val="bg1">
              <a:tint val="90000"/>
              <a:satMod val="350000"/>
              <a:alpha val="40000"/>
            </a:schemeClr>
          </a:solidFill>
          <a:ln w="9525" cap="flat" cmpd="sng" algn="ctr">
            <a:noFill/>
            <a:prstDash val="solid"/>
            <a:round/>
            <a:headEnd type="none" w="med" len="med"/>
            <a:tailEnd type="none" w="med" len="med"/>
          </a:ln>
          <a:effectLst>
            <a:outerShdw blurRad="50800" dist="50800" dir="10800000" algn="ctr" rotWithShape="0">
              <a:prstClr val="black">
                <a:alpha val="45000"/>
              </a:prstClr>
            </a:outerShdw>
          </a:effectLst>
        </p:spPr>
        <p:txBody>
          <a:bodyPr vert="horz" wrap="square" lIns="91440" tIns="45720" rIns="91440" bIns="45720" anchor="t" compatLnSpc="1"/>
          <a:lstStyle/>
          <a:p>
            <a:endParaRPr kumimoji="0" lang="en-US" dirty="0">
              <a:latin typeface="Helvetica" pitchFamily="34" charset="0"/>
            </a:endParaRPr>
          </a:p>
        </p:txBody>
      </p:sp>
      <p:sp>
        <p:nvSpPr>
          <p:cNvPr id="2" name="Title 1"/>
          <p:cNvSpPr>
            <a:spLocks noGrp="1"/>
          </p:cNvSpPr>
          <p:nvPr>
            <p:ph type="title"/>
          </p:nvPr>
        </p:nvSpPr>
        <p:spPr>
          <a:xfrm>
            <a:off x="685800" y="3583837"/>
            <a:ext cx="6629400" cy="1826363"/>
          </a:xfrm>
        </p:spPr>
        <p:txBody>
          <a:bodyPr tIns="0" bIns="0" anchor="t"/>
          <a:lstStyle>
            <a:lvl1pPr algn="l">
              <a:buNone/>
              <a:defRPr sz="4200" b="1" cap="none" baseline="0">
                <a:ln w="5000" cmpd="sng">
                  <a:solidFill>
                    <a:schemeClr val="accent1">
                      <a:tint val="80000"/>
                      <a:shade val="99000"/>
                      <a:satMod val="500000"/>
                    </a:schemeClr>
                  </a:solidFill>
                  <a:prstDash val="solid"/>
                </a:ln>
                <a:gradFill>
                  <a:gsLst>
                    <a:gs pos="0">
                      <a:schemeClr val="accent1">
                        <a:tint val="63000"/>
                        <a:satMod val="255000"/>
                      </a:schemeClr>
                    </a:gs>
                    <a:gs pos="9000">
                      <a:schemeClr val="accent1">
                        <a:tint val="63000"/>
                        <a:satMod val="255000"/>
                      </a:schemeClr>
                    </a:gs>
                    <a:gs pos="53000">
                      <a:schemeClr val="accent1">
                        <a:shade val="60000"/>
                        <a:satMod val="100000"/>
                      </a:schemeClr>
                    </a:gs>
                    <a:gs pos="90000">
                      <a:schemeClr val="accent1">
                        <a:tint val="63000"/>
                        <a:satMod val="255000"/>
                      </a:schemeClr>
                    </a:gs>
                    <a:gs pos="100000">
                      <a:schemeClr val="accent1">
                        <a:tint val="63000"/>
                        <a:satMod val="255000"/>
                      </a:schemeClr>
                    </a:gs>
                  </a:gsLst>
                  <a:lin ang="5400000"/>
                </a:gradFill>
                <a:effectLst>
                  <a:outerShdw blurRad="50800" dist="38100" dir="5400000" algn="t" rotWithShape="0">
                    <a:prstClr val="black">
                      <a:alpha val="50000"/>
                    </a:prstClr>
                  </a:outerShdw>
                </a:effectLst>
              </a:defRPr>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685800" y="2485800"/>
            <a:ext cx="6629400" cy="1066688"/>
          </a:xfrm>
        </p:spPr>
        <p:txBody>
          <a:bodyPr lIns="45720" tIns="0" rIns="45720" bIns="0" anchor="b"/>
          <a:lstStyle>
            <a:lvl1pPr marL="0" indent="0" algn="l">
              <a:buNone/>
              <a:defRPr sz="2000">
                <a:solidFill>
                  <a:schemeClr val="tx1"/>
                </a:solidFill>
                <a:effectLst/>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smtClean="0"/>
              <a:t>Click to edit Master text styles</a:t>
            </a:r>
          </a:p>
        </p:txBody>
      </p:sp>
      <p:sp>
        <p:nvSpPr>
          <p:cNvPr id="4" name="Date Placeholder 3"/>
          <p:cNvSpPr>
            <a:spLocks noGrp="1"/>
          </p:cNvSpPr>
          <p:nvPr>
            <p:ph type="dt" sz="half" idx="10"/>
          </p:nvPr>
        </p:nvSpPr>
        <p:spPr/>
        <p:txBody>
          <a:bodyPr/>
          <a:lstStyle/>
          <a:p>
            <a:fld id="{9A33FE7D-417D-483E-A327-7AED21196679}" type="datetime1">
              <a:rPr lang="en-US" smtClean="0"/>
              <a:pPr/>
              <a:t>4/27/2015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90BDF71C-F485-43AE-8825-5070AF1EA8C9}" type="slidenum">
              <a:rPr lang="en-US" smtClean="0"/>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7467600" cy="1143000"/>
          </a:xfrm>
        </p:spPr>
        <p:txBody>
          <a:bodyPr/>
          <a:lstStyle/>
          <a:p>
            <a:r>
              <a:rPr kumimoji="0" lang="en-US" smtClean="0"/>
              <a:t>Click to edit Master title style</a:t>
            </a:r>
            <a:endParaRPr kumimoji="0" lang="en-US"/>
          </a:p>
        </p:txBody>
      </p:sp>
      <p:sp>
        <p:nvSpPr>
          <p:cNvPr id="3" name="Content Placeholder 2"/>
          <p:cNvSpPr>
            <a:spLocks noGrp="1"/>
          </p:cNvSpPr>
          <p:nvPr>
            <p:ph sz="half" idx="1"/>
          </p:nvPr>
        </p:nvSpPr>
        <p:spPr>
          <a:xfrm>
            <a:off x="457200" y="1600200"/>
            <a:ext cx="3657600" cy="4525963"/>
          </a:xfrm>
        </p:spPr>
        <p:txBody>
          <a:bodyPr/>
          <a:lstStyle>
            <a:lvl1pPr>
              <a:defRPr sz="2600"/>
            </a:lvl1pPr>
            <a:lvl2pPr>
              <a:defRPr sz="2200"/>
            </a:lvl2pPr>
            <a:lvl3pPr>
              <a:defRPr sz="2000"/>
            </a:lvl3pPr>
            <a:lvl4pPr>
              <a:defRPr sz="1800"/>
            </a:lvl4pPr>
            <a:lvl5pPr>
              <a:defRPr sz="18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Content Placeholder 3"/>
          <p:cNvSpPr>
            <a:spLocks noGrp="1"/>
          </p:cNvSpPr>
          <p:nvPr>
            <p:ph sz="half" idx="2"/>
          </p:nvPr>
        </p:nvSpPr>
        <p:spPr>
          <a:xfrm>
            <a:off x="4267200" y="1600200"/>
            <a:ext cx="3657600" cy="4525963"/>
          </a:xfrm>
        </p:spPr>
        <p:txBody>
          <a:bodyPr/>
          <a:lstStyle>
            <a:lvl1pPr>
              <a:defRPr sz="2600"/>
            </a:lvl1pPr>
            <a:lvl2pPr>
              <a:defRPr sz="2200"/>
            </a:lvl2pPr>
            <a:lvl3pPr>
              <a:defRPr sz="2000"/>
            </a:lvl3pPr>
            <a:lvl4pPr>
              <a:defRPr sz="1800"/>
            </a:lvl4pPr>
            <a:lvl5pPr>
              <a:defRPr sz="18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p>
            <a:fld id="{FBBE8DDC-366E-4D96-B475-59755FBFA064}" type="datetime1">
              <a:rPr lang="en-US" smtClean="0"/>
              <a:pPr/>
              <a:t>4/27/2015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90BDF71C-F485-43AE-8825-5070AF1EA8C9}" type="slidenum">
              <a:rPr lang="en-US" smtClean="0"/>
              <a:pPr/>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8229600" cy="1143000"/>
          </a:xfrm>
        </p:spPr>
        <p:txBody>
          <a:bodyPr anchor="ctr"/>
          <a:lstStyle>
            <a:lvl1pPr>
              <a:defRPr/>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457200" y="5486400"/>
            <a:ext cx="4040188" cy="838200"/>
          </a:xfrm>
        </p:spPr>
        <p:txBody>
          <a:bodyPr anchor="t"/>
          <a:lstStyle>
            <a:lvl1pPr marL="0" indent="0">
              <a:buNone/>
              <a:defRPr sz="2400" b="1">
                <a:solidFill>
                  <a:schemeClr val="accent1"/>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p>
        </p:txBody>
      </p:sp>
      <p:sp>
        <p:nvSpPr>
          <p:cNvPr id="4" name="Text Placeholder 3"/>
          <p:cNvSpPr>
            <a:spLocks noGrp="1"/>
          </p:cNvSpPr>
          <p:nvPr>
            <p:ph type="body" sz="half" idx="3"/>
          </p:nvPr>
        </p:nvSpPr>
        <p:spPr>
          <a:xfrm>
            <a:off x="4645025" y="5486400"/>
            <a:ext cx="4041775" cy="838200"/>
          </a:xfrm>
        </p:spPr>
        <p:txBody>
          <a:bodyPr anchor="t"/>
          <a:lstStyle>
            <a:lvl1pPr marL="0" indent="0">
              <a:buNone/>
              <a:defRPr sz="2400" b="1">
                <a:solidFill>
                  <a:schemeClr val="accent1"/>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p>
        </p:txBody>
      </p:sp>
      <p:sp>
        <p:nvSpPr>
          <p:cNvPr id="5" name="Content Placeholder 4"/>
          <p:cNvSpPr>
            <a:spLocks noGrp="1"/>
          </p:cNvSpPr>
          <p:nvPr>
            <p:ph sz="quarter" idx="2"/>
          </p:nvPr>
        </p:nvSpPr>
        <p:spPr>
          <a:xfrm>
            <a:off x="457200" y="1516912"/>
            <a:ext cx="4040188" cy="3941763"/>
          </a:xfrm>
        </p:spPr>
        <p:txBody>
          <a:bodyPr/>
          <a:lstStyle>
            <a:lvl1pPr>
              <a:defRPr sz="2400"/>
            </a:lvl1pPr>
            <a:lvl2pPr>
              <a:defRPr sz="2000"/>
            </a:lvl2pPr>
            <a:lvl3pPr>
              <a:defRPr sz="1800"/>
            </a:lvl3pPr>
            <a:lvl4pPr>
              <a:defRPr sz="1600"/>
            </a:lvl4pPr>
            <a:lvl5pPr>
              <a:defRPr sz="16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6" name="Content Placeholder 5"/>
          <p:cNvSpPr>
            <a:spLocks noGrp="1"/>
          </p:cNvSpPr>
          <p:nvPr>
            <p:ph sz="quarter" idx="4"/>
          </p:nvPr>
        </p:nvSpPr>
        <p:spPr>
          <a:xfrm>
            <a:off x="4645025" y="1516912"/>
            <a:ext cx="4041775" cy="3941763"/>
          </a:xfrm>
        </p:spPr>
        <p:txBody>
          <a:bodyPr/>
          <a:lstStyle>
            <a:lvl1pPr>
              <a:defRPr sz="2400"/>
            </a:lvl1pPr>
            <a:lvl2pPr>
              <a:defRPr sz="2000"/>
            </a:lvl2pPr>
            <a:lvl3pPr>
              <a:defRPr sz="1800"/>
            </a:lvl3pPr>
            <a:lvl4pPr>
              <a:defRPr sz="1600"/>
            </a:lvl4pPr>
            <a:lvl5pPr>
              <a:defRPr sz="16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7" name="Date Placeholder 6"/>
          <p:cNvSpPr>
            <a:spLocks noGrp="1"/>
          </p:cNvSpPr>
          <p:nvPr>
            <p:ph type="dt" sz="half" idx="10"/>
          </p:nvPr>
        </p:nvSpPr>
        <p:spPr/>
        <p:txBody>
          <a:bodyPr/>
          <a:lstStyle/>
          <a:p>
            <a:fld id="{AFB5C968-0B16-4ADF-91B3-C8ECABCFDA29}" type="datetime1">
              <a:rPr lang="en-US" smtClean="0"/>
              <a:pPr/>
              <a:t>4/27/2015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90BDF71C-F485-43AE-8825-5070AF1EA8C9}" type="slidenum">
              <a:rPr lang="en-US" smtClean="0"/>
              <a:pPr/>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274320"/>
            <a:ext cx="7470648" cy="1143000"/>
          </a:xfrm>
        </p:spPr>
        <p:txBody>
          <a:bodyPr anchor="ctr"/>
          <a:lstStyle>
            <a:lvl1pPr algn="l">
              <a:defRPr sz="4600"/>
            </a:lvl1pPr>
          </a:lstStyle>
          <a:p>
            <a:r>
              <a:rPr kumimoji="0" lang="en-US" smtClean="0"/>
              <a:t>Click to edit Master title style</a:t>
            </a:r>
            <a:endParaRPr kumimoji="0" lang="en-US"/>
          </a:p>
        </p:txBody>
      </p:sp>
      <p:sp>
        <p:nvSpPr>
          <p:cNvPr id="7" name="Date Placeholder 6"/>
          <p:cNvSpPr>
            <a:spLocks noGrp="1"/>
          </p:cNvSpPr>
          <p:nvPr>
            <p:ph type="dt" sz="half" idx="10"/>
          </p:nvPr>
        </p:nvSpPr>
        <p:spPr/>
        <p:txBody>
          <a:bodyPr/>
          <a:lstStyle/>
          <a:p>
            <a:fld id="{F3921DEA-061C-49D7-974B-38721BC66A5F}" type="datetime1">
              <a:rPr lang="en-US" smtClean="0"/>
              <a:pPr/>
              <a:t>4/27/2015</a:t>
            </a:fld>
            <a:endParaRPr lang="en-US" dirty="0"/>
          </a:p>
        </p:txBody>
      </p:sp>
      <p:sp>
        <p:nvSpPr>
          <p:cNvPr id="8" name="Slide Number Placeholder 7"/>
          <p:cNvSpPr>
            <a:spLocks noGrp="1"/>
          </p:cNvSpPr>
          <p:nvPr>
            <p:ph type="sldNum" sz="quarter" idx="11"/>
          </p:nvPr>
        </p:nvSpPr>
        <p:spPr/>
        <p:txBody>
          <a:bodyPr/>
          <a:lstStyle/>
          <a:p>
            <a:fld id="{90BDF71C-F485-43AE-8825-5070AF1EA8C9}" type="slidenum">
              <a:rPr lang="en-US" smtClean="0"/>
              <a:pPr/>
              <a:t>‹#›</a:t>
            </a:fld>
            <a:endParaRPr lang="en-US" dirty="0"/>
          </a:p>
        </p:txBody>
      </p:sp>
      <p:sp>
        <p:nvSpPr>
          <p:cNvPr id="9" name="Footer Placeholder 8"/>
          <p:cNvSpPr>
            <a:spLocks noGrp="1"/>
          </p:cNvSpPr>
          <p:nvPr>
            <p:ph type="ftr" sz="quarter" idx="12"/>
          </p:nvPr>
        </p:nvSpPr>
        <p:spPr/>
        <p:txBody>
          <a:bodyPr/>
          <a:lstStyle/>
          <a:p>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87EFC2B-FC2E-46FA-B53A-48A270754B05}" type="datetime1">
              <a:rPr lang="en-US" smtClean="0"/>
              <a:pPr/>
              <a:t>4/27/2015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90BDF71C-F485-43AE-8825-5070AF1EA8C9}" type="slidenum">
              <a:rPr lang="en-US" smtClean="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1185528"/>
            <a:ext cx="3200400" cy="730250"/>
          </a:xfrm>
        </p:spPr>
        <p:txBody>
          <a:bodyPr tIns="0" bIns="0" anchor="t"/>
          <a:lstStyle>
            <a:lvl1pPr algn="l">
              <a:buNone/>
              <a:defRPr sz="1800" b="1">
                <a:solidFill>
                  <a:schemeClr val="accent1"/>
                </a:solidFill>
              </a:defRPr>
            </a:lvl1pPr>
          </a:lstStyle>
          <a:p>
            <a:r>
              <a:rPr kumimoji="0" lang="en-US" smtClean="0"/>
              <a:t>Click to edit Master title style</a:t>
            </a:r>
            <a:endParaRPr kumimoji="0" lang="en-US"/>
          </a:p>
        </p:txBody>
      </p:sp>
      <p:sp>
        <p:nvSpPr>
          <p:cNvPr id="3" name="Text Placeholder 2"/>
          <p:cNvSpPr>
            <a:spLocks noGrp="1"/>
          </p:cNvSpPr>
          <p:nvPr>
            <p:ph type="body" idx="2"/>
          </p:nvPr>
        </p:nvSpPr>
        <p:spPr>
          <a:xfrm>
            <a:off x="457200" y="214424"/>
            <a:ext cx="2743200" cy="914400"/>
          </a:xfrm>
        </p:spPr>
        <p:txBody>
          <a:bodyPr lIns="45720" tIns="0" rIns="45720" bIns="0" anchor="b"/>
          <a:lstStyle>
            <a:lvl1pPr marL="0" indent="0" algn="l">
              <a:buNone/>
              <a:defRPr sz="1400"/>
            </a:lvl1pPr>
            <a:lvl2pPr>
              <a:buNone/>
              <a:defRPr sz="1200"/>
            </a:lvl2pPr>
            <a:lvl3pPr>
              <a:buNone/>
              <a:defRPr sz="1000"/>
            </a:lvl3pPr>
            <a:lvl4pPr>
              <a:buNone/>
              <a:defRPr sz="900"/>
            </a:lvl4pPr>
            <a:lvl5pPr>
              <a:buNone/>
              <a:defRPr sz="900"/>
            </a:lvl5pPr>
          </a:lstStyle>
          <a:p>
            <a:pPr lvl="0" eaLnBrk="1" latinLnBrk="0" hangingPunct="1"/>
            <a:r>
              <a:rPr kumimoji="0" lang="en-US" smtClean="0"/>
              <a:t>Click to edit Master text styles</a:t>
            </a:r>
          </a:p>
        </p:txBody>
      </p:sp>
      <p:sp>
        <p:nvSpPr>
          <p:cNvPr id="4" name="Content Placeholder 3"/>
          <p:cNvSpPr>
            <a:spLocks noGrp="1"/>
          </p:cNvSpPr>
          <p:nvPr>
            <p:ph sz="half" idx="1"/>
          </p:nvPr>
        </p:nvSpPr>
        <p:spPr>
          <a:xfrm>
            <a:off x="457200" y="1981200"/>
            <a:ext cx="7086600" cy="3810000"/>
          </a:xfrm>
        </p:spPr>
        <p:txBody>
          <a:bodyPr/>
          <a:lstStyle>
            <a:lvl1pPr>
              <a:defRPr sz="2800"/>
            </a:lvl1pPr>
            <a:lvl2pPr>
              <a:defRPr sz="2400"/>
            </a:lvl2pPr>
            <a:lvl3pPr>
              <a:defRPr sz="2200"/>
            </a:lvl3pPr>
            <a:lvl4pPr>
              <a:defRPr sz="2000"/>
            </a:lvl4pPr>
            <a:lvl5pPr>
              <a:defRPr sz="20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p>
            <a:fld id="{71873B9F-1886-41EB-8596-DFD2474565B7}" type="datetime1">
              <a:rPr lang="en-US" smtClean="0"/>
              <a:pPr/>
              <a:t>4/27/2015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a:xfrm>
            <a:off x="8156448" y="6422064"/>
            <a:ext cx="762000" cy="365125"/>
          </a:xfrm>
        </p:spPr>
        <p:txBody>
          <a:bodyPr/>
          <a:lstStyle/>
          <a:p>
            <a:fld id="{90BDF71C-F485-43AE-8825-5070AF1EA8C9}" type="slidenum">
              <a:rPr lang="en-US" smtClean="0"/>
              <a:pPr/>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556732" y="1705709"/>
            <a:ext cx="3053868" cy="1253808"/>
          </a:xfrm>
        </p:spPr>
        <p:txBody>
          <a:bodyPr anchor="b"/>
          <a:lstStyle>
            <a:lvl1pPr algn="l">
              <a:buNone/>
              <a:defRPr sz="2200" b="1">
                <a:solidFill>
                  <a:schemeClr val="accent1"/>
                </a:solidFill>
              </a:defRPr>
            </a:lvl1pPr>
          </a:lstStyle>
          <a:p>
            <a:r>
              <a:rPr kumimoji="0" lang="en-US" smtClean="0"/>
              <a:t>Click to edit Master title style</a:t>
            </a:r>
            <a:endParaRPr kumimoji="0" lang="en-US"/>
          </a:p>
        </p:txBody>
      </p:sp>
      <p:sp>
        <p:nvSpPr>
          <p:cNvPr id="3" name="Picture Placeholder 2"/>
          <p:cNvSpPr>
            <a:spLocks noGrp="1"/>
          </p:cNvSpPr>
          <p:nvPr>
            <p:ph type="pic" idx="1"/>
          </p:nvPr>
        </p:nvSpPr>
        <p:spPr>
          <a:xfrm>
            <a:off x="1065628" y="1019907"/>
            <a:ext cx="4114800" cy="4114800"/>
          </a:xfrm>
          <a:prstGeom prst="ellipse">
            <a:avLst/>
          </a:prstGeom>
          <a:solidFill>
            <a:schemeClr val="bg2">
              <a:shade val="50000"/>
            </a:schemeClr>
          </a:solidFill>
          <a:ln w="50800" cap="flat">
            <a:solidFill>
              <a:schemeClr val="bg2"/>
            </a:solidFill>
            <a:miter lim="800000"/>
          </a:ln>
          <a:effectLst>
            <a:outerShdw blurRad="152000" dist="345000" dir="5400000" sx="-80000" sy="-18000" rotWithShape="0">
              <a:srgbClr val="000000">
                <a:alpha val="25000"/>
              </a:srgbClr>
            </a:outerShdw>
          </a:effectLst>
          <a:scene3d>
            <a:camera prst="orthographicFront"/>
            <a:lightRig rig="contrasting" dir="t">
              <a:rot lat="0" lon="0" rev="2400000"/>
            </a:lightRig>
          </a:scene3d>
          <a:sp3d contourW="7620">
            <a:bevelT w="63500" h="63500"/>
            <a:contourClr>
              <a:schemeClr val="bg2">
                <a:shade val="50000"/>
              </a:schemeClr>
            </a:contourClr>
          </a:sp3d>
        </p:spPr>
        <p:txBody>
          <a:bodyPr/>
          <a:lstStyle>
            <a:lvl1pPr marL="0" indent="0">
              <a:buNone/>
              <a:defRPr sz="3200"/>
            </a:lvl1pPr>
          </a:lstStyle>
          <a:p>
            <a:r>
              <a:rPr kumimoji="0" lang="en-US" dirty="0" smtClean="0"/>
              <a:t>Click icon to add picture</a:t>
            </a:r>
            <a:endParaRPr kumimoji="0" lang="en-US" dirty="0"/>
          </a:p>
        </p:txBody>
      </p:sp>
      <p:sp>
        <p:nvSpPr>
          <p:cNvPr id="4" name="Text Placeholder 3"/>
          <p:cNvSpPr>
            <a:spLocks noGrp="1"/>
          </p:cNvSpPr>
          <p:nvPr>
            <p:ph type="body" sz="half" idx="2"/>
          </p:nvPr>
        </p:nvSpPr>
        <p:spPr>
          <a:xfrm>
            <a:off x="5556734" y="2998765"/>
            <a:ext cx="3053866" cy="2663482"/>
          </a:xfrm>
        </p:spPr>
        <p:txBody>
          <a:bodyPr lIns="45720" rIns="45720"/>
          <a:lstStyle>
            <a:lvl1pPr marL="0" indent="0">
              <a:buFontTx/>
              <a:buNone/>
              <a:defRPr sz="1200"/>
            </a:lvl1pPr>
            <a:lvl2pPr>
              <a:buFontTx/>
              <a:buNone/>
              <a:defRPr sz="1200"/>
            </a:lvl2pPr>
            <a:lvl3pPr>
              <a:buFontTx/>
              <a:buNone/>
              <a:defRPr sz="1000"/>
            </a:lvl3pPr>
            <a:lvl4pPr>
              <a:buFontTx/>
              <a:buNone/>
              <a:defRPr sz="900"/>
            </a:lvl4pPr>
            <a:lvl5pPr>
              <a:buFontTx/>
              <a:buNone/>
              <a:defRPr sz="900"/>
            </a:lvl5pPr>
          </a:lstStyle>
          <a:p>
            <a:pPr lvl="0" eaLnBrk="1" latinLnBrk="0" hangingPunct="1"/>
            <a:r>
              <a:rPr kumimoji="0" lang="en-US" smtClean="0"/>
              <a:t>Click to edit Master text styles</a:t>
            </a:r>
          </a:p>
        </p:txBody>
      </p:sp>
      <p:sp>
        <p:nvSpPr>
          <p:cNvPr id="5" name="Date Placeholder 4"/>
          <p:cNvSpPr>
            <a:spLocks noGrp="1"/>
          </p:cNvSpPr>
          <p:nvPr>
            <p:ph type="dt" sz="half" idx="10"/>
          </p:nvPr>
        </p:nvSpPr>
        <p:spPr>
          <a:xfrm>
            <a:off x="457200" y="6422064"/>
            <a:ext cx="2133600" cy="365125"/>
          </a:xfrm>
        </p:spPr>
        <p:txBody>
          <a:bodyPr/>
          <a:lstStyle/>
          <a:p>
            <a:fld id="{5A6D77F6-049E-4E03-BBEC-9C9525B9448E}" type="datetime1">
              <a:rPr lang="en-US" smtClean="0"/>
              <a:pPr/>
              <a:t>4/27/2015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90BDF71C-F485-43AE-8825-5070AF1EA8C9}" type="slidenum">
              <a:rPr lang="en-US" smtClean="0"/>
              <a:pPr/>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DC8BABC8-BFBF-4030-9C7D-70F812C9AAE4}" type="datetime1">
              <a:rPr lang="en-US" smtClean="0"/>
              <a:pPr/>
              <a:t>4/27/2015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90BDF71C-F485-43AE-8825-5070AF1EA8C9}" type="slidenum">
              <a:rPr lang="en-US" smtClean="0"/>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88CF46A6-0262-42FF-B093-039AED07B7AD}" type="datetime1">
              <a:rPr lang="en-US" smtClean="0"/>
              <a:pPr/>
              <a:t>4/27/2015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90BDF71C-F485-43AE-8825-5070AF1EA8C9}" type="slidenum">
              <a:rPr lang="en-US" smtClean="0"/>
              <a:pPr/>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2" name="Freeform 11"/>
          <p:cNvSpPr>
            <a:spLocks/>
          </p:cNvSpPr>
          <p:nvPr/>
        </p:nvSpPr>
        <p:spPr bwMode="auto">
          <a:xfrm>
            <a:off x="0" y="4752126"/>
            <a:ext cx="9144000" cy="2112962"/>
          </a:xfrm>
          <a:custGeom>
            <a:avLst>
              <a:gd name="A1" fmla="val 0"/>
              <a:gd name="A2" fmla="val 0"/>
              <a:gd name="A3" fmla="val 0"/>
              <a:gd name="A4" fmla="val 0"/>
              <a:gd name="A5" fmla="val 0"/>
              <a:gd name="A6" fmla="val 0"/>
              <a:gd name="A7" fmla="val 0"/>
              <a:gd name="A8" fmla="val 0"/>
            </a:avLst>
            <a:gdLst/>
            <a:ahLst/>
            <a:cxnLst>
              <a:cxn ang="0">
                <a:pos x="0" y="1066"/>
              </a:cxn>
              <a:cxn ang="0">
                <a:pos x="0" y="1331"/>
              </a:cxn>
              <a:cxn ang="0">
                <a:pos x="5760" y="1331"/>
              </a:cxn>
              <a:cxn ang="0">
                <a:pos x="5760" y="0"/>
              </a:cxn>
              <a:cxn ang="0">
                <a:pos x="0" y="1066"/>
              </a:cxn>
            </a:cxnLst>
            <a:rect l="0" t="0" r="0" b="0"/>
            <a:pathLst>
              <a:path w="5760" h="1331">
                <a:moveTo>
                  <a:pt x="0" y="1066"/>
                </a:moveTo>
                <a:lnTo>
                  <a:pt x="0" y="1331"/>
                </a:lnTo>
                <a:lnTo>
                  <a:pt x="5760" y="1331"/>
                </a:lnTo>
                <a:lnTo>
                  <a:pt x="5760" y="0"/>
                </a:lnTo>
                <a:cubicBezTo>
                  <a:pt x="3220" y="1206"/>
                  <a:pt x="2250" y="1146"/>
                  <a:pt x="0" y="1066"/>
                </a:cubicBezTo>
                <a:close/>
              </a:path>
            </a:pathLst>
          </a:custGeom>
          <a:solidFill>
            <a:schemeClr val="bg1">
              <a:tint val="80000"/>
              <a:satMod val="200000"/>
              <a:alpha val="45000"/>
            </a:schemeClr>
          </a:solidFill>
          <a:ln w="9525" cap="flat" cmpd="sng" algn="ctr">
            <a:noFill/>
            <a:prstDash val="solid"/>
            <a:round/>
            <a:headEnd type="none" w="med" len="med"/>
            <a:tailEnd type="none" w="med" len="med"/>
          </a:ln>
          <a:effectLst>
            <a:outerShdw blurRad="50800" dist="44450" dir="16200000" algn="ctr" rotWithShape="0">
              <a:prstClr val="black">
                <a:alpha val="35000"/>
              </a:prstClr>
            </a:outerShdw>
          </a:effectLst>
        </p:spPr>
        <p:txBody>
          <a:bodyPr vert="horz" wrap="square" lIns="91440" tIns="45720" rIns="91440" bIns="45720" anchor="t" compatLnSpc="1"/>
          <a:lstStyle/>
          <a:p>
            <a:endParaRPr kumimoji="0" lang="en-US" dirty="0">
              <a:latin typeface="Helvetica" pitchFamily="34" charset="0"/>
            </a:endParaRPr>
          </a:p>
        </p:txBody>
      </p:sp>
      <p:sp>
        <p:nvSpPr>
          <p:cNvPr id="16" name="Freeform 15"/>
          <p:cNvSpPr>
            <a:spLocks/>
          </p:cNvSpPr>
          <p:nvPr/>
        </p:nvSpPr>
        <p:spPr bwMode="auto">
          <a:xfrm>
            <a:off x="7315200" y="0"/>
            <a:ext cx="1828800" cy="6858000"/>
          </a:xfrm>
          <a:custGeom>
            <a:avLst/>
            <a:gdLst>
              <a:gd name="connsiteX0" fmla="*/ 1914 w 1914"/>
              <a:gd name="connsiteY0" fmla="*/ 9 h 4329"/>
              <a:gd name="connsiteX1" fmla="*/ 1914 w 1914"/>
              <a:gd name="connsiteY1" fmla="*/ 4329 h 4329"/>
              <a:gd name="connsiteX2" fmla="*/ 204 w 1914"/>
              <a:gd name="connsiteY2" fmla="*/ 4327 h 4329"/>
              <a:gd name="connsiteX3" fmla="*/ 0 w 1914"/>
              <a:gd name="connsiteY3" fmla="*/ 0 h 4329"/>
              <a:gd name="connsiteX4" fmla="*/ 1914 w 1914"/>
              <a:gd name="connsiteY4" fmla="*/ 9 h 432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14" h="4329">
                <a:moveTo>
                  <a:pt x="1914" y="9"/>
                </a:moveTo>
                <a:lnTo>
                  <a:pt x="1914" y="4329"/>
                </a:lnTo>
                <a:lnTo>
                  <a:pt x="204" y="4327"/>
                </a:lnTo>
                <a:cubicBezTo>
                  <a:pt x="1288" y="3574"/>
                  <a:pt x="2082" y="1734"/>
                  <a:pt x="0" y="0"/>
                </a:cubicBezTo>
                <a:lnTo>
                  <a:pt x="1914" y="9"/>
                </a:lnTo>
                <a:close/>
              </a:path>
            </a:pathLst>
          </a:custGeom>
          <a:solidFill>
            <a:schemeClr val="bg1">
              <a:tint val="90000"/>
              <a:satMod val="350000"/>
              <a:alpha val="40000"/>
            </a:schemeClr>
          </a:solidFill>
          <a:ln w="9525" cap="flat" cmpd="sng" algn="ctr">
            <a:noFill/>
            <a:prstDash val="solid"/>
            <a:round/>
            <a:headEnd type="none" w="med" len="med"/>
            <a:tailEnd type="none" w="med" len="med"/>
          </a:ln>
          <a:effectLst>
            <a:outerShdw blurRad="50800" dist="50800" dir="10800000" algn="ctr" rotWithShape="0">
              <a:prstClr val="black">
                <a:alpha val="45000"/>
              </a:prstClr>
            </a:outerShdw>
          </a:effectLst>
        </p:spPr>
        <p:txBody>
          <a:bodyPr vert="horz" wrap="square" lIns="91440" tIns="45720" rIns="91440" bIns="45720" anchor="t" compatLnSpc="1"/>
          <a:lstStyle/>
          <a:p>
            <a:endParaRPr kumimoji="0" lang="en-US" dirty="0">
              <a:latin typeface="Helvetica" pitchFamily="34" charset="0"/>
            </a:endParaRPr>
          </a:p>
        </p:txBody>
      </p:sp>
      <p:sp>
        <p:nvSpPr>
          <p:cNvPr id="9" name="Title Placeholder 8"/>
          <p:cNvSpPr>
            <a:spLocks noGrp="1"/>
          </p:cNvSpPr>
          <p:nvPr>
            <p:ph type="title"/>
          </p:nvPr>
        </p:nvSpPr>
        <p:spPr>
          <a:xfrm>
            <a:off x="457200" y="274638"/>
            <a:ext cx="7467600" cy="1143000"/>
          </a:xfrm>
          <a:prstGeom prst="rect">
            <a:avLst/>
          </a:prstGeom>
        </p:spPr>
        <p:txBody>
          <a:bodyPr vert="horz" lIns="45720" rIns="45720" anchor="ctr">
            <a:normAutofit/>
          </a:bodyPr>
          <a:lstStyle/>
          <a:p>
            <a:r>
              <a:rPr kumimoji="0" lang="en-US" smtClean="0"/>
              <a:t>Click to edit Master title style</a:t>
            </a:r>
            <a:endParaRPr kumimoji="0" lang="en-US"/>
          </a:p>
        </p:txBody>
      </p:sp>
      <p:sp>
        <p:nvSpPr>
          <p:cNvPr id="30" name="Text Placeholder 29"/>
          <p:cNvSpPr>
            <a:spLocks noGrp="1"/>
          </p:cNvSpPr>
          <p:nvPr>
            <p:ph type="body" idx="1"/>
          </p:nvPr>
        </p:nvSpPr>
        <p:spPr>
          <a:xfrm>
            <a:off x="457200" y="1600200"/>
            <a:ext cx="7467600" cy="4525963"/>
          </a:xfrm>
          <a:prstGeom prst="rect">
            <a:avLst/>
          </a:prstGeom>
        </p:spPr>
        <p:txBody>
          <a:bodyPr vert="horz">
            <a:normAutofit/>
          </a:bodyPr>
          <a:lstStyle/>
          <a:p>
            <a:pPr lvl="0" eaLnBrk="1" latinLnBrk="0" hangingPunct="1"/>
            <a:r>
              <a:rPr kumimoji="0" lang="en-US" dirty="0" smtClean="0"/>
              <a:t>Click to edit Master text styles</a:t>
            </a:r>
          </a:p>
          <a:p>
            <a:pPr lvl="1" eaLnBrk="1" latinLnBrk="0" hangingPunct="1"/>
            <a:r>
              <a:rPr kumimoji="0" lang="en-US" dirty="0" smtClean="0"/>
              <a:t>Second level</a:t>
            </a:r>
          </a:p>
          <a:p>
            <a:pPr lvl="2" eaLnBrk="1" latinLnBrk="0" hangingPunct="1"/>
            <a:r>
              <a:rPr kumimoji="0" lang="en-US" dirty="0" smtClean="0"/>
              <a:t>Third level</a:t>
            </a:r>
          </a:p>
          <a:p>
            <a:pPr lvl="3" eaLnBrk="1" latinLnBrk="0" hangingPunct="1"/>
            <a:r>
              <a:rPr kumimoji="0" lang="en-US" dirty="0" smtClean="0"/>
              <a:t>Fourth level</a:t>
            </a:r>
          </a:p>
          <a:p>
            <a:pPr lvl="4" eaLnBrk="1" latinLnBrk="0" hangingPunct="1"/>
            <a:r>
              <a:rPr kumimoji="0" lang="en-US" dirty="0" smtClean="0"/>
              <a:t>Fifth level</a:t>
            </a:r>
            <a:endParaRPr kumimoji="0" lang="en-US" dirty="0"/>
          </a:p>
        </p:txBody>
      </p:sp>
      <p:sp>
        <p:nvSpPr>
          <p:cNvPr id="10" name="Date Placeholder 9"/>
          <p:cNvSpPr>
            <a:spLocks noGrp="1"/>
          </p:cNvSpPr>
          <p:nvPr>
            <p:ph type="dt" sz="half" idx="2"/>
          </p:nvPr>
        </p:nvSpPr>
        <p:spPr>
          <a:xfrm>
            <a:off x="457200" y="6422064"/>
            <a:ext cx="2133600" cy="365125"/>
          </a:xfrm>
          <a:prstGeom prst="rect">
            <a:avLst/>
          </a:prstGeom>
        </p:spPr>
        <p:txBody>
          <a:bodyPr vert="horz" bIns="0" anchor="b"/>
          <a:lstStyle>
            <a:lvl1pPr algn="l" eaLnBrk="1" latinLnBrk="0" hangingPunct="1">
              <a:defRPr kumimoji="0" sz="1000">
                <a:solidFill>
                  <a:schemeClr val="tx2">
                    <a:shade val="50000"/>
                  </a:schemeClr>
                </a:solidFill>
                <a:latin typeface="Helvetica" pitchFamily="34" charset="0"/>
              </a:defRPr>
            </a:lvl1pPr>
          </a:lstStyle>
          <a:p>
            <a:fld id="{60B9F9CF-7D2C-460C-8F3E-F6213A54EF65}" type="datetime1">
              <a:rPr lang="en-US" smtClean="0"/>
              <a:pPr/>
              <a:t>4/27/2015</a:t>
            </a:fld>
            <a:endParaRPr lang="en-US" dirty="0"/>
          </a:p>
        </p:txBody>
      </p:sp>
      <p:sp>
        <p:nvSpPr>
          <p:cNvPr id="22" name="Footer Placeholder 21"/>
          <p:cNvSpPr>
            <a:spLocks noGrp="1"/>
          </p:cNvSpPr>
          <p:nvPr>
            <p:ph type="ftr" sz="quarter" idx="3"/>
          </p:nvPr>
        </p:nvSpPr>
        <p:spPr>
          <a:xfrm>
            <a:off x="3124200" y="6422064"/>
            <a:ext cx="2895600" cy="365125"/>
          </a:xfrm>
          <a:prstGeom prst="rect">
            <a:avLst/>
          </a:prstGeom>
        </p:spPr>
        <p:txBody>
          <a:bodyPr vert="horz" lIns="0" rIns="0" bIns="0" anchor="b"/>
          <a:lstStyle>
            <a:lvl1pPr algn="ctr" eaLnBrk="1" latinLnBrk="0" hangingPunct="1">
              <a:defRPr kumimoji="0" sz="1000">
                <a:solidFill>
                  <a:schemeClr val="tx2">
                    <a:shade val="50000"/>
                  </a:schemeClr>
                </a:solidFill>
                <a:latin typeface="Helvetica" pitchFamily="34" charset="0"/>
              </a:defRPr>
            </a:lvl1pPr>
          </a:lstStyle>
          <a:p>
            <a:endParaRPr lang="en-US" dirty="0"/>
          </a:p>
        </p:txBody>
      </p:sp>
      <p:sp>
        <p:nvSpPr>
          <p:cNvPr id="18" name="Slide Number Placeholder 17"/>
          <p:cNvSpPr>
            <a:spLocks noGrp="1"/>
          </p:cNvSpPr>
          <p:nvPr>
            <p:ph type="sldNum" sz="quarter" idx="4"/>
          </p:nvPr>
        </p:nvSpPr>
        <p:spPr>
          <a:xfrm>
            <a:off x="8153400" y="6422064"/>
            <a:ext cx="762000" cy="365125"/>
          </a:xfrm>
          <a:prstGeom prst="rect">
            <a:avLst/>
          </a:prstGeom>
        </p:spPr>
        <p:txBody>
          <a:bodyPr vert="horz" lIns="0" tIns="0" rIns="0" bIns="0" anchor="b"/>
          <a:lstStyle>
            <a:lvl1pPr algn="r" eaLnBrk="1" latinLnBrk="0" hangingPunct="1">
              <a:defRPr kumimoji="0" sz="1000">
                <a:solidFill>
                  <a:schemeClr val="tx2">
                    <a:shade val="50000"/>
                  </a:schemeClr>
                </a:solidFill>
                <a:latin typeface="Helvetica" pitchFamily="34" charset="0"/>
              </a:defRPr>
            </a:lvl1pPr>
          </a:lstStyle>
          <a:p>
            <a:fld id="{90BDF71C-F485-43AE-8825-5070AF1EA8C9}" type="slidenum">
              <a:rPr lang="en-US" smtClean="0"/>
              <a:pPr/>
              <a:t>‹#›</a:t>
            </a:fld>
            <a:endParaRPr lang="en-US" dirty="0"/>
          </a:p>
        </p:txBody>
      </p:sp>
    </p:spTree>
  </p:cSld>
  <p:clrMap bg1="lt1" tx1="dk1" bg2="lt2" tx2="dk2" accent1="accent1" accent2="accent2" accent3="accent3" accent4="accent4" accent5="accent5" accent6="accent6" hlink="hlink" folHlink="folHlink"/>
  <p:sldLayoutIdLst>
    <p:sldLayoutId id="2147483709" r:id="rId1"/>
    <p:sldLayoutId id="2147483710" r:id="rId2"/>
    <p:sldLayoutId id="2147483711" r:id="rId3"/>
    <p:sldLayoutId id="2147483712" r:id="rId4"/>
    <p:sldLayoutId id="2147483713" r:id="rId5"/>
    <p:sldLayoutId id="2147483714" r:id="rId6"/>
    <p:sldLayoutId id="2147483715" r:id="rId7"/>
    <p:sldLayoutId id="2147483716" r:id="rId8"/>
    <p:sldLayoutId id="2147483717" r:id="rId9"/>
    <p:sldLayoutId id="2147483718" r:id="rId10"/>
    <p:sldLayoutId id="2147483719" r:id="rId11"/>
  </p:sldLayoutIdLst>
  <p:hf hdr="0" ftr="0" dt="0"/>
  <p:txStyles>
    <p:titleStyle>
      <a:lvl1pPr algn="l" rtl="0" eaLnBrk="1" latinLnBrk="0" hangingPunct="1">
        <a:spcBef>
          <a:spcPct val="0"/>
        </a:spcBef>
        <a:buNone/>
        <a:defRPr kumimoji="0" sz="4600" kern="1200">
          <a:solidFill>
            <a:schemeClr val="tx1"/>
          </a:solidFill>
          <a:latin typeface="+mj-lt"/>
          <a:ea typeface="+mj-ea"/>
          <a:cs typeface="+mj-cs"/>
        </a:defRPr>
      </a:lvl1pPr>
    </p:titleStyle>
    <p:bodyStyle>
      <a:lvl1pPr marL="420624" indent="-384048" algn="l" rtl="0" eaLnBrk="1" latinLnBrk="0" hangingPunct="1">
        <a:spcBef>
          <a:spcPct val="20000"/>
        </a:spcBef>
        <a:buClr>
          <a:schemeClr val="accent1"/>
        </a:buClr>
        <a:buSzPct val="80000"/>
        <a:buFont typeface="Wingdings 2"/>
        <a:buChar char=""/>
        <a:defRPr kumimoji="0" sz="3000" kern="1200">
          <a:solidFill>
            <a:schemeClr val="tx1"/>
          </a:solidFill>
          <a:latin typeface="Helvetica" pitchFamily="34" charset="0"/>
          <a:ea typeface="+mn-ea"/>
          <a:cs typeface="+mn-cs"/>
        </a:defRPr>
      </a:lvl1pPr>
      <a:lvl2pPr marL="722376" indent="-274320" algn="l" rtl="0" eaLnBrk="1" latinLnBrk="0" hangingPunct="1">
        <a:spcBef>
          <a:spcPct val="20000"/>
        </a:spcBef>
        <a:buClr>
          <a:schemeClr val="accent1"/>
        </a:buClr>
        <a:buSzPct val="90000"/>
        <a:buFont typeface="Wingdings 2"/>
        <a:buChar char=""/>
        <a:defRPr kumimoji="0" sz="2600" kern="1200">
          <a:solidFill>
            <a:schemeClr val="tx1"/>
          </a:solidFill>
          <a:latin typeface="Helvetica" pitchFamily="34" charset="0"/>
          <a:ea typeface="+mn-ea"/>
          <a:cs typeface="+mn-cs"/>
        </a:defRPr>
      </a:lvl2pPr>
      <a:lvl3pPr marL="1005840" indent="-256032" algn="l" rtl="0" eaLnBrk="1" latinLnBrk="0" hangingPunct="1">
        <a:spcBef>
          <a:spcPct val="20000"/>
        </a:spcBef>
        <a:buClr>
          <a:schemeClr val="accent2"/>
        </a:buClr>
        <a:buSzPct val="85000"/>
        <a:buFont typeface="Arial"/>
        <a:buChar char="○"/>
        <a:defRPr kumimoji="0" sz="2400" kern="1200">
          <a:solidFill>
            <a:schemeClr val="tx1"/>
          </a:solidFill>
          <a:latin typeface="Helvetica" pitchFamily="34" charset="0"/>
          <a:ea typeface="+mn-ea"/>
          <a:cs typeface="+mn-cs"/>
        </a:defRPr>
      </a:lvl3pPr>
      <a:lvl4pPr marL="1280160" indent="-237744" algn="l" rtl="0" eaLnBrk="1" latinLnBrk="0" hangingPunct="1">
        <a:spcBef>
          <a:spcPct val="20000"/>
        </a:spcBef>
        <a:buClr>
          <a:schemeClr val="accent3"/>
        </a:buClr>
        <a:buSzPct val="90000"/>
        <a:buFont typeface="Wingdings 2"/>
        <a:buChar char=""/>
        <a:defRPr kumimoji="0" sz="2000" kern="1200">
          <a:solidFill>
            <a:schemeClr val="tx1"/>
          </a:solidFill>
          <a:latin typeface="Helvetica" pitchFamily="34" charset="0"/>
          <a:ea typeface="+mn-ea"/>
          <a:cs typeface="+mn-cs"/>
        </a:defRPr>
      </a:lvl4pPr>
      <a:lvl5pPr marL="1490472" indent="-182880" algn="l" rtl="0" eaLnBrk="1" latinLnBrk="0" hangingPunct="1">
        <a:spcBef>
          <a:spcPct val="20000"/>
        </a:spcBef>
        <a:buClr>
          <a:schemeClr val="accent4"/>
        </a:buClr>
        <a:buSzPct val="100000"/>
        <a:buFont typeface="Arial"/>
        <a:buChar char="-"/>
        <a:defRPr kumimoji="0" sz="2000" kern="1200">
          <a:solidFill>
            <a:schemeClr val="tx1"/>
          </a:solidFill>
          <a:latin typeface="Helvetica" pitchFamily="34" charset="0"/>
          <a:ea typeface="+mn-ea"/>
          <a:cs typeface="+mn-cs"/>
        </a:defRPr>
      </a:lvl5pPr>
      <a:lvl6pPr marL="1700784" indent="-182880" algn="l" rtl="0" eaLnBrk="1" latinLnBrk="0" hangingPunct="1">
        <a:spcBef>
          <a:spcPct val="20000"/>
        </a:spcBef>
        <a:buClr>
          <a:schemeClr val="accent5"/>
        </a:buClr>
        <a:buFont typeface="Arial"/>
        <a:buChar char="-"/>
        <a:defRPr kumimoji="0" sz="2000" kern="1200" baseline="0">
          <a:solidFill>
            <a:schemeClr val="tx1"/>
          </a:solidFill>
          <a:latin typeface="+mn-lt"/>
          <a:ea typeface="+mn-ea"/>
          <a:cs typeface="+mn-cs"/>
        </a:defRPr>
      </a:lvl6pPr>
      <a:lvl7pPr marL="1920240" indent="-182880" algn="l" rtl="0" eaLnBrk="1" latinLnBrk="0" hangingPunct="1">
        <a:spcBef>
          <a:spcPct val="20000"/>
        </a:spcBef>
        <a:buClr>
          <a:schemeClr val="accent6"/>
        </a:buClr>
        <a:buSzPct val="100000"/>
        <a:buFont typeface="Arial"/>
        <a:buChar char="•"/>
        <a:defRPr kumimoji="0" sz="1800" kern="1200" baseline="0">
          <a:solidFill>
            <a:schemeClr val="tx1"/>
          </a:solidFill>
          <a:latin typeface="+mn-lt"/>
          <a:ea typeface="+mn-ea"/>
          <a:cs typeface="+mn-cs"/>
        </a:defRPr>
      </a:lvl7pPr>
      <a:lvl8pPr marL="2139696" indent="-182880" algn="l" rtl="0" eaLnBrk="1" latinLnBrk="0" hangingPunct="1">
        <a:spcBef>
          <a:spcPct val="20000"/>
        </a:spcBef>
        <a:buClr>
          <a:schemeClr val="accent6"/>
        </a:buClr>
        <a:buFont typeface="Arial"/>
        <a:buChar char="▪"/>
        <a:defRPr kumimoji="0" sz="1600" kern="1200">
          <a:solidFill>
            <a:schemeClr val="tx1"/>
          </a:solidFill>
          <a:latin typeface="+mn-lt"/>
          <a:ea typeface="+mn-ea"/>
          <a:cs typeface="+mn-cs"/>
        </a:defRPr>
      </a:lvl8pPr>
      <a:lvl9pPr marL="2331720" indent="-182880" algn="l" rtl="0" eaLnBrk="1" latinLnBrk="0" hangingPunct="1">
        <a:spcBef>
          <a:spcPct val="20000"/>
        </a:spcBef>
        <a:buClr>
          <a:schemeClr val="accent6"/>
        </a:buClr>
        <a:buFont typeface="Arial"/>
        <a:buChar char="•"/>
        <a:defRPr kumimoji="0" sz="1600" kern="120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4.jpeg"/><Relationship Id="rId5" Type="http://schemas.openxmlformats.org/officeDocument/2006/relationships/image" Target="../media/image3.jpeg"/><Relationship Id="rId4" Type="http://schemas.openxmlformats.org/officeDocument/2006/relationships/image" Target="../media/image2.jpe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0.gif"/><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notesSlide" Target="../notesSlides/notesSlide23.xml"/><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3" Type="http://schemas.openxmlformats.org/officeDocument/2006/relationships/image" Target="../media/image21.jpe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22.jpe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7.xml"/><Relationship Id="rId1" Type="http://schemas.openxmlformats.org/officeDocument/2006/relationships/slideLayout" Target="../slideLayouts/slideLayout4.xml"/></Relationships>
</file>

<file path=ppt/slides/_rels/slide28.xml.rels><?xml version="1.0" encoding="UTF-8" standalone="yes"?>
<Relationships xmlns="http://schemas.openxmlformats.org/package/2006/relationships"><Relationship Id="rId3" Type="http://schemas.openxmlformats.org/officeDocument/2006/relationships/image" Target="../media/image24.jpeg"/><Relationship Id="rId2" Type="http://schemas.openxmlformats.org/officeDocument/2006/relationships/notesSlide" Target="../notesSlides/notesSlide28.xml"/><Relationship Id="rId1" Type="http://schemas.openxmlformats.org/officeDocument/2006/relationships/slideLayout" Target="../slideLayouts/slideLayout4.xml"/></Relationships>
</file>

<file path=ppt/slides/_rels/slide29.xml.rels><?xml version="1.0" encoding="UTF-8" standalone="yes"?>
<Relationships xmlns="http://schemas.openxmlformats.org/package/2006/relationships"><Relationship Id="rId3" Type="http://schemas.openxmlformats.org/officeDocument/2006/relationships/image" Target="../media/image25.jpeg"/><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26.jpeg"/><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10.gif"/><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27.jpeg"/><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29.jpeg"/><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30.jpeg"/><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31.jpeg"/><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32.gif"/><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33.jpg"/><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34.jpeg"/><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35.jpeg"/><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36.jpeg"/><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37.jpeg"/><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38.jpeg"/><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25.jpeg"/><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67544" y="332656"/>
            <a:ext cx="7920208" cy="936104"/>
          </a:xfrm>
        </p:spPr>
        <p:txBody>
          <a:bodyPr>
            <a:normAutofit fontScale="90000"/>
          </a:bodyPr>
          <a:lstStyle/>
          <a:p>
            <a:r>
              <a:rPr lang="en-AU" sz="4000" dirty="0">
                <a:ln w="5000" cmpd="sng">
                  <a:noFill/>
                  <a:prstDash val="solid"/>
                </a:ln>
                <a:solidFill>
                  <a:srgbClr val="FF6600"/>
                </a:solidFill>
                <a:latin typeface="Helvetica" pitchFamily="34" charset="0"/>
              </a:rPr>
              <a:t>Create, implement and evaluate strategic product initiatives</a:t>
            </a:r>
          </a:p>
        </p:txBody>
      </p:sp>
      <p:sp>
        <p:nvSpPr>
          <p:cNvPr id="4" name="Slide Number Placeholder 3"/>
          <p:cNvSpPr>
            <a:spLocks noGrp="1"/>
          </p:cNvSpPr>
          <p:nvPr>
            <p:ph type="sldNum" sz="quarter" idx="12"/>
          </p:nvPr>
        </p:nvSpPr>
        <p:spPr/>
        <p:txBody>
          <a:bodyPr/>
          <a:lstStyle/>
          <a:p>
            <a:r>
              <a:rPr lang="en-AU" dirty="0" smtClean="0"/>
              <a:t> </a:t>
            </a:r>
            <a:r>
              <a:rPr lang="en-AU" dirty="0" smtClean="0">
                <a:latin typeface="Helvetica" pitchFamily="34" charset="0"/>
              </a:rPr>
              <a:t>Slide </a:t>
            </a:r>
            <a:fld id="{90BDF71C-F485-43AE-8825-5070AF1EA8C9}" type="slidenum">
              <a:rPr lang="en-AU" smtClean="0">
                <a:latin typeface="Helvetica" pitchFamily="34" charset="0"/>
              </a:rPr>
              <a:pPr/>
              <a:t>1</a:t>
            </a:fld>
            <a:endParaRPr lang="en-AU" dirty="0">
              <a:latin typeface="Helvetica" pitchFamily="34" charset="0"/>
            </a:endParaRPr>
          </a:p>
        </p:txBody>
      </p:sp>
      <p:grpSp>
        <p:nvGrpSpPr>
          <p:cNvPr id="21" name="Group 20"/>
          <p:cNvGrpSpPr/>
          <p:nvPr/>
        </p:nvGrpSpPr>
        <p:grpSpPr>
          <a:xfrm>
            <a:off x="611560" y="2276872"/>
            <a:ext cx="5118966" cy="3744416"/>
            <a:chOff x="0" y="0"/>
            <a:chExt cx="7585544" cy="6098650"/>
          </a:xfrm>
        </p:grpSpPr>
        <p:pic>
          <p:nvPicPr>
            <p:cNvPr id="22" name="Picture 21"/>
            <p:cNvPicPr>
              <a:picLocks noChangeAspect="1"/>
            </p:cNvPicPr>
            <p:nvPr/>
          </p:nvPicPr>
          <p:blipFill rotWithShape="1">
            <a:blip r:embed="rId3" cstate="print">
              <a:extLst>
                <a:ext uri="{28A0092B-C50C-407E-A947-70E740481C1C}">
                  <a14:useLocalDpi xmlns:a14="http://schemas.microsoft.com/office/drawing/2010/main" val="0"/>
                </a:ext>
              </a:extLst>
            </a:blip>
            <a:srcRect l="23382" t="8066" r="23964" b="10443"/>
            <a:stretch/>
          </p:blipFill>
          <p:spPr bwMode="auto">
            <a:xfrm>
              <a:off x="4468633" y="1502797"/>
              <a:ext cx="3069203" cy="3053300"/>
            </a:xfrm>
            <a:prstGeom prst="rect">
              <a:avLst/>
            </a:prstGeom>
            <a:ln>
              <a:noFill/>
            </a:ln>
            <a:extLst>
              <a:ext uri="{53640926-AAD7-44D8-BBD7-CCE9431645EC}">
                <a14:shadowObscured xmlns:a14="http://schemas.microsoft.com/office/drawing/2010/main"/>
              </a:ext>
            </a:extLst>
          </p:spPr>
        </p:pic>
        <p:pic>
          <p:nvPicPr>
            <p:cNvPr id="23" name="Picture 22"/>
            <p:cNvPicPr>
              <a:picLocks noChangeAspect="1"/>
            </p:cNvPicPr>
            <p:nvPr/>
          </p:nvPicPr>
          <p:blipFill rotWithShape="1">
            <a:blip r:embed="rId4" cstate="print">
              <a:extLst>
                <a:ext uri="{28A0092B-C50C-407E-A947-70E740481C1C}">
                  <a14:useLocalDpi xmlns:a14="http://schemas.microsoft.com/office/drawing/2010/main" val="0"/>
                </a:ext>
              </a:extLst>
            </a:blip>
            <a:srcRect l="2066" r="11983" b="19666"/>
            <a:stretch/>
          </p:blipFill>
          <p:spPr bwMode="auto">
            <a:xfrm>
              <a:off x="4643562" y="4269850"/>
              <a:ext cx="2910177" cy="1812898"/>
            </a:xfrm>
            <a:prstGeom prst="rect">
              <a:avLst/>
            </a:prstGeom>
            <a:ln>
              <a:noFill/>
            </a:ln>
            <a:extLst>
              <a:ext uri="{53640926-AAD7-44D8-BBD7-CCE9431645EC}">
                <a14:shadowObscured xmlns:a14="http://schemas.microsoft.com/office/drawing/2010/main"/>
              </a:ext>
            </a:extLst>
          </p:spPr>
        </p:pic>
        <p:pic>
          <p:nvPicPr>
            <p:cNvPr id="24" name="Picture 23"/>
            <p:cNvPicPr>
              <a:picLocks noChangeAspect="1"/>
            </p:cNvPicPr>
            <p:nvPr/>
          </p:nvPicPr>
          <p:blipFill rotWithShape="1">
            <a:blip r:embed="rId5" cstate="print">
              <a:extLst>
                <a:ext uri="{28A0092B-C50C-407E-A947-70E740481C1C}">
                  <a14:useLocalDpi xmlns:a14="http://schemas.microsoft.com/office/drawing/2010/main" val="0"/>
                </a:ext>
              </a:extLst>
            </a:blip>
            <a:srcRect t="3460" r="19030" b="26513"/>
            <a:stretch/>
          </p:blipFill>
          <p:spPr bwMode="auto">
            <a:xfrm>
              <a:off x="4643562" y="0"/>
              <a:ext cx="2941982" cy="1828800"/>
            </a:xfrm>
            <a:prstGeom prst="rect">
              <a:avLst/>
            </a:prstGeom>
            <a:ln>
              <a:noFill/>
            </a:ln>
            <a:extLst>
              <a:ext uri="{53640926-AAD7-44D8-BBD7-CCE9431645EC}">
                <a14:shadowObscured xmlns:a14="http://schemas.microsoft.com/office/drawing/2010/main"/>
              </a:ext>
            </a:extLst>
          </p:spPr>
        </p:pic>
        <p:pic>
          <p:nvPicPr>
            <p:cNvPr id="25" name="Picture 24"/>
            <p:cNvPicPr>
              <a:picLocks noChangeAspect="1"/>
            </p:cNvPicPr>
            <p:nvPr/>
          </p:nvPicPr>
          <p:blipFill rotWithShape="1">
            <a:blip r:embed="rId6" cstate="print">
              <a:extLst>
                <a:ext uri="{28A0092B-C50C-407E-A947-70E740481C1C}">
                  <a14:useLocalDpi xmlns:a14="http://schemas.microsoft.com/office/drawing/2010/main" val="0"/>
                </a:ext>
              </a:extLst>
            </a:blip>
            <a:srcRect l="1890" t="1444" r="5459" b="7583"/>
            <a:stretch/>
          </p:blipFill>
          <p:spPr bwMode="auto">
            <a:xfrm>
              <a:off x="0" y="0"/>
              <a:ext cx="4651513" cy="6098650"/>
            </a:xfrm>
            <a:prstGeom prst="rect">
              <a:avLst/>
            </a:prstGeom>
            <a:noFill/>
            <a:ln>
              <a:noFill/>
            </a:ln>
            <a:extLst>
              <a:ext uri="{53640926-AAD7-44D8-BBD7-CCE9431645EC}">
                <a14:shadowObscured xmlns:a14="http://schemas.microsoft.com/office/drawing/2010/main"/>
              </a:ext>
            </a:extLst>
          </p:spPr>
        </p:pic>
      </p:grpSp>
      <p:sp>
        <p:nvSpPr>
          <p:cNvPr id="3" name="Subtitle 2"/>
          <p:cNvSpPr>
            <a:spLocks noGrp="1"/>
          </p:cNvSpPr>
          <p:nvPr>
            <p:ph type="subTitle" idx="1"/>
          </p:nvPr>
        </p:nvSpPr>
        <p:spPr>
          <a:xfrm>
            <a:off x="5847156" y="2203154"/>
            <a:ext cx="2541268" cy="289742"/>
          </a:xfrm>
        </p:spPr>
        <p:txBody>
          <a:bodyPr>
            <a:normAutofit lnSpcReduction="10000"/>
          </a:bodyPr>
          <a:lstStyle/>
          <a:p>
            <a:r>
              <a:rPr lang="en-AU" b="1" dirty="0">
                <a:latin typeface="Helvetica" pitchFamily="34" charset="0"/>
              </a:rPr>
              <a:t>D2.TCS.CL5.07</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nodeType="clickEffect">
                                  <p:stCondLst>
                                    <p:cond delay="0"/>
                                  </p:stCondLst>
                                  <p:childTnLst>
                                    <p:set>
                                      <p:cBhvr>
                                        <p:cTn id="6" dur="1" fill="hold">
                                          <p:stCondLst>
                                            <p:cond delay="0"/>
                                          </p:stCondLst>
                                        </p:cTn>
                                        <p:tgtEl>
                                          <p:spTgt spid="21"/>
                                        </p:tgtEl>
                                        <p:attrNameLst>
                                          <p:attrName>style.visibility</p:attrName>
                                        </p:attrNameLst>
                                      </p:cBhvr>
                                      <p:to>
                                        <p:strVal val="visible"/>
                                      </p:to>
                                    </p:set>
                                    <p:animEffect transition="in" filter="circle(in)">
                                      <p:cBhvr>
                                        <p:cTn id="7" dur="20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Element 1: Create strategic product initiatives </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r>
              <a:rPr lang="en-US" sz="2000" b="1" dirty="0" smtClean="0">
                <a:latin typeface="Helvetica" pitchFamily="34" charset="0"/>
              </a:rPr>
              <a:t>The performance criteria for this element are:</a:t>
            </a: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2</a:t>
            </a:fld>
            <a:endParaRPr lang="en-US" dirty="0">
              <a:latin typeface="Helvetica" pitchFamily="34" charset="0"/>
            </a:endParaRPr>
          </a:p>
        </p:txBody>
      </p:sp>
      <p:grpSp>
        <p:nvGrpSpPr>
          <p:cNvPr id="6" name="Group 5"/>
          <p:cNvGrpSpPr/>
          <p:nvPr/>
        </p:nvGrpSpPr>
        <p:grpSpPr>
          <a:xfrm>
            <a:off x="609600" y="2057400"/>
            <a:ext cx="6096000" cy="4057561"/>
            <a:chOff x="685800" y="2200319"/>
            <a:chExt cx="6096000" cy="4057561"/>
          </a:xfrm>
        </p:grpSpPr>
        <p:sp>
          <p:nvSpPr>
            <p:cNvPr id="7" name="Rectangle 6"/>
            <p:cNvSpPr/>
            <p:nvPr/>
          </p:nvSpPr>
          <p:spPr>
            <a:xfrm>
              <a:off x="685800" y="2392199"/>
              <a:ext cx="6096000" cy="327600"/>
            </a:xfrm>
            <a:prstGeom prst="rect">
              <a:avLst/>
            </a:prstGeom>
          </p:spPr>
          <p:style>
            <a:lnRef idx="2">
              <a:schemeClr val="dk2">
                <a:hueOff val="0"/>
                <a:satOff val="0"/>
                <a:lumOff val="0"/>
                <a:alphaOff val="0"/>
              </a:schemeClr>
            </a:lnRef>
            <a:fillRef idx="1">
              <a:schemeClr val="lt2">
                <a:alpha val="90000"/>
                <a:hueOff val="0"/>
                <a:satOff val="0"/>
                <a:lumOff val="0"/>
                <a:alphaOff val="0"/>
              </a:schemeClr>
            </a:fillRef>
            <a:effectRef idx="0">
              <a:schemeClr val="lt2">
                <a:alpha val="90000"/>
                <a:hueOff val="0"/>
                <a:satOff val="0"/>
                <a:lumOff val="0"/>
                <a:alphaOff val="0"/>
              </a:schemeClr>
            </a:effectRef>
            <a:fontRef idx="minor">
              <a:schemeClr val="dk1">
                <a:hueOff val="0"/>
                <a:satOff val="0"/>
                <a:lumOff val="0"/>
                <a:alphaOff val="0"/>
              </a:schemeClr>
            </a:fontRef>
          </p:style>
        </p:sp>
        <p:sp>
          <p:nvSpPr>
            <p:cNvPr id="8" name="Freeform 7"/>
            <p:cNvSpPr/>
            <p:nvPr/>
          </p:nvSpPr>
          <p:spPr>
            <a:xfrm>
              <a:off x="990600" y="2200319"/>
              <a:ext cx="4267200" cy="432000"/>
            </a:xfrm>
            <a:custGeom>
              <a:avLst/>
              <a:gdLst>
                <a:gd name="connsiteX0" fmla="*/ 0 w 4267200"/>
                <a:gd name="connsiteY0" fmla="*/ 63961 h 383760"/>
                <a:gd name="connsiteX1" fmla="*/ 63961 w 4267200"/>
                <a:gd name="connsiteY1" fmla="*/ 0 h 383760"/>
                <a:gd name="connsiteX2" fmla="*/ 4203239 w 4267200"/>
                <a:gd name="connsiteY2" fmla="*/ 0 h 383760"/>
                <a:gd name="connsiteX3" fmla="*/ 4267200 w 4267200"/>
                <a:gd name="connsiteY3" fmla="*/ 63961 h 383760"/>
                <a:gd name="connsiteX4" fmla="*/ 4267200 w 4267200"/>
                <a:gd name="connsiteY4" fmla="*/ 319799 h 383760"/>
                <a:gd name="connsiteX5" fmla="*/ 4203239 w 4267200"/>
                <a:gd name="connsiteY5" fmla="*/ 383760 h 383760"/>
                <a:gd name="connsiteX6" fmla="*/ 63961 w 4267200"/>
                <a:gd name="connsiteY6" fmla="*/ 383760 h 383760"/>
                <a:gd name="connsiteX7" fmla="*/ 0 w 4267200"/>
                <a:gd name="connsiteY7" fmla="*/ 319799 h 383760"/>
                <a:gd name="connsiteX8" fmla="*/ 0 w 4267200"/>
                <a:gd name="connsiteY8" fmla="*/ 63961 h 3837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267200" h="383760">
                  <a:moveTo>
                    <a:pt x="0" y="63961"/>
                  </a:moveTo>
                  <a:cubicBezTo>
                    <a:pt x="0" y="28636"/>
                    <a:pt x="28636" y="0"/>
                    <a:pt x="63961" y="0"/>
                  </a:cubicBezTo>
                  <a:lnTo>
                    <a:pt x="4203239" y="0"/>
                  </a:lnTo>
                  <a:cubicBezTo>
                    <a:pt x="4238564" y="0"/>
                    <a:pt x="4267200" y="28636"/>
                    <a:pt x="4267200" y="63961"/>
                  </a:cubicBezTo>
                  <a:lnTo>
                    <a:pt x="4267200" y="319799"/>
                  </a:lnTo>
                  <a:cubicBezTo>
                    <a:pt x="4267200" y="355124"/>
                    <a:pt x="4238564" y="383760"/>
                    <a:pt x="4203239" y="383760"/>
                  </a:cubicBezTo>
                  <a:lnTo>
                    <a:pt x="63961" y="383760"/>
                  </a:lnTo>
                  <a:cubicBezTo>
                    <a:pt x="28636" y="383760"/>
                    <a:pt x="0" y="355124"/>
                    <a:pt x="0" y="319799"/>
                  </a:cubicBezTo>
                  <a:lnTo>
                    <a:pt x="0" y="63961"/>
                  </a:lnTo>
                  <a:close/>
                </a:path>
              </a:pathLst>
            </a:custGeom>
          </p:spPr>
          <p:style>
            <a:lnRef idx="2">
              <a:schemeClr val="lt2">
                <a:hueOff val="0"/>
                <a:satOff val="0"/>
                <a:lumOff val="0"/>
                <a:alphaOff val="0"/>
              </a:schemeClr>
            </a:lnRef>
            <a:fillRef idx="1">
              <a:schemeClr val="dk2">
                <a:hueOff val="0"/>
                <a:satOff val="0"/>
                <a:lumOff val="0"/>
                <a:alphaOff val="0"/>
              </a:schemeClr>
            </a:fillRef>
            <a:effectRef idx="0">
              <a:schemeClr val="dk2">
                <a:hueOff val="0"/>
                <a:satOff val="0"/>
                <a:lumOff val="0"/>
                <a:alphaOff val="0"/>
              </a:schemeClr>
            </a:effectRef>
            <a:fontRef idx="minor">
              <a:schemeClr val="lt1"/>
            </a:fontRef>
          </p:style>
          <p:txBody>
            <a:bodyPr spcFirstLastPara="0" vert="horz" wrap="square" lIns="180024" tIns="18734" rIns="180024" bIns="18734" numCol="1" spcCol="1270" anchor="ctr" anchorCtr="0">
              <a:noAutofit/>
            </a:bodyPr>
            <a:lstStyle/>
            <a:p>
              <a:pPr marL="266700" lvl="0" indent="-266700" algn="l" defTabSz="533400">
                <a:lnSpc>
                  <a:spcPct val="90000"/>
                </a:lnSpc>
                <a:spcBef>
                  <a:spcPct val="0"/>
                </a:spcBef>
                <a:spcAft>
                  <a:spcPct val="35000"/>
                </a:spcAft>
              </a:pPr>
              <a:r>
                <a:rPr lang="en-US" sz="1200" b="1" i="1" kern="1200" dirty="0" smtClean="0">
                  <a:latin typeface="Helvetica" pitchFamily="34" charset="0"/>
                </a:rPr>
                <a:t>1.1	Identify the context for product development</a:t>
              </a:r>
              <a:endParaRPr lang="en-AU" sz="1200" b="1" i="1" kern="1200" dirty="0">
                <a:latin typeface="Helvetica" pitchFamily="34" charset="0"/>
              </a:endParaRPr>
            </a:p>
          </p:txBody>
        </p:sp>
        <p:sp>
          <p:nvSpPr>
            <p:cNvPr id="9" name="Rectangle 8"/>
            <p:cNvSpPr/>
            <p:nvPr/>
          </p:nvSpPr>
          <p:spPr>
            <a:xfrm>
              <a:off x="685800" y="2981880"/>
              <a:ext cx="6096000" cy="327600"/>
            </a:xfrm>
            <a:prstGeom prst="rect">
              <a:avLst/>
            </a:prstGeom>
          </p:spPr>
          <p:style>
            <a:lnRef idx="2">
              <a:schemeClr val="dk2">
                <a:hueOff val="0"/>
                <a:satOff val="0"/>
                <a:lumOff val="0"/>
                <a:alphaOff val="0"/>
              </a:schemeClr>
            </a:lnRef>
            <a:fillRef idx="1">
              <a:schemeClr val="lt2">
                <a:alpha val="90000"/>
                <a:hueOff val="0"/>
                <a:satOff val="0"/>
                <a:lumOff val="0"/>
                <a:alphaOff val="0"/>
              </a:schemeClr>
            </a:fillRef>
            <a:effectRef idx="0">
              <a:schemeClr val="lt2">
                <a:alpha val="90000"/>
                <a:hueOff val="0"/>
                <a:satOff val="0"/>
                <a:lumOff val="0"/>
                <a:alphaOff val="0"/>
              </a:schemeClr>
            </a:effectRef>
            <a:fontRef idx="minor">
              <a:schemeClr val="dk1">
                <a:hueOff val="0"/>
                <a:satOff val="0"/>
                <a:lumOff val="0"/>
                <a:alphaOff val="0"/>
              </a:schemeClr>
            </a:fontRef>
          </p:style>
        </p:sp>
        <p:sp>
          <p:nvSpPr>
            <p:cNvPr id="10" name="Freeform 9"/>
            <p:cNvSpPr/>
            <p:nvPr/>
          </p:nvSpPr>
          <p:spPr>
            <a:xfrm>
              <a:off x="990600" y="2790000"/>
              <a:ext cx="4267200" cy="432000"/>
            </a:xfrm>
            <a:custGeom>
              <a:avLst/>
              <a:gdLst>
                <a:gd name="connsiteX0" fmla="*/ 0 w 4267200"/>
                <a:gd name="connsiteY0" fmla="*/ 63961 h 383760"/>
                <a:gd name="connsiteX1" fmla="*/ 63961 w 4267200"/>
                <a:gd name="connsiteY1" fmla="*/ 0 h 383760"/>
                <a:gd name="connsiteX2" fmla="*/ 4203239 w 4267200"/>
                <a:gd name="connsiteY2" fmla="*/ 0 h 383760"/>
                <a:gd name="connsiteX3" fmla="*/ 4267200 w 4267200"/>
                <a:gd name="connsiteY3" fmla="*/ 63961 h 383760"/>
                <a:gd name="connsiteX4" fmla="*/ 4267200 w 4267200"/>
                <a:gd name="connsiteY4" fmla="*/ 319799 h 383760"/>
                <a:gd name="connsiteX5" fmla="*/ 4203239 w 4267200"/>
                <a:gd name="connsiteY5" fmla="*/ 383760 h 383760"/>
                <a:gd name="connsiteX6" fmla="*/ 63961 w 4267200"/>
                <a:gd name="connsiteY6" fmla="*/ 383760 h 383760"/>
                <a:gd name="connsiteX7" fmla="*/ 0 w 4267200"/>
                <a:gd name="connsiteY7" fmla="*/ 319799 h 383760"/>
                <a:gd name="connsiteX8" fmla="*/ 0 w 4267200"/>
                <a:gd name="connsiteY8" fmla="*/ 63961 h 3837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267200" h="383760">
                  <a:moveTo>
                    <a:pt x="0" y="63961"/>
                  </a:moveTo>
                  <a:cubicBezTo>
                    <a:pt x="0" y="28636"/>
                    <a:pt x="28636" y="0"/>
                    <a:pt x="63961" y="0"/>
                  </a:cubicBezTo>
                  <a:lnTo>
                    <a:pt x="4203239" y="0"/>
                  </a:lnTo>
                  <a:cubicBezTo>
                    <a:pt x="4238564" y="0"/>
                    <a:pt x="4267200" y="28636"/>
                    <a:pt x="4267200" y="63961"/>
                  </a:cubicBezTo>
                  <a:lnTo>
                    <a:pt x="4267200" y="319799"/>
                  </a:lnTo>
                  <a:cubicBezTo>
                    <a:pt x="4267200" y="355124"/>
                    <a:pt x="4238564" y="383760"/>
                    <a:pt x="4203239" y="383760"/>
                  </a:cubicBezTo>
                  <a:lnTo>
                    <a:pt x="63961" y="383760"/>
                  </a:lnTo>
                  <a:cubicBezTo>
                    <a:pt x="28636" y="383760"/>
                    <a:pt x="0" y="355124"/>
                    <a:pt x="0" y="319799"/>
                  </a:cubicBezTo>
                  <a:lnTo>
                    <a:pt x="0" y="63961"/>
                  </a:lnTo>
                  <a:close/>
                </a:path>
              </a:pathLst>
            </a:custGeom>
          </p:spPr>
          <p:style>
            <a:lnRef idx="2">
              <a:schemeClr val="lt2">
                <a:hueOff val="0"/>
                <a:satOff val="0"/>
                <a:lumOff val="0"/>
                <a:alphaOff val="0"/>
              </a:schemeClr>
            </a:lnRef>
            <a:fillRef idx="1">
              <a:schemeClr val="dk2">
                <a:hueOff val="0"/>
                <a:satOff val="0"/>
                <a:lumOff val="0"/>
                <a:alphaOff val="0"/>
              </a:schemeClr>
            </a:fillRef>
            <a:effectRef idx="0">
              <a:schemeClr val="dk2">
                <a:hueOff val="0"/>
                <a:satOff val="0"/>
                <a:lumOff val="0"/>
                <a:alphaOff val="0"/>
              </a:schemeClr>
            </a:effectRef>
            <a:fontRef idx="minor">
              <a:schemeClr val="lt1"/>
            </a:fontRef>
          </p:style>
          <p:txBody>
            <a:bodyPr spcFirstLastPara="0" vert="horz" wrap="square" lIns="180024" tIns="18734" rIns="180024" bIns="18734" numCol="1" spcCol="1270" anchor="ctr" anchorCtr="0">
              <a:noAutofit/>
            </a:bodyPr>
            <a:lstStyle/>
            <a:p>
              <a:pPr marL="266700" lvl="0" indent="-266700" algn="l" defTabSz="533400">
                <a:lnSpc>
                  <a:spcPct val="90000"/>
                </a:lnSpc>
                <a:spcBef>
                  <a:spcPct val="0"/>
                </a:spcBef>
                <a:spcAft>
                  <a:spcPct val="35000"/>
                </a:spcAft>
              </a:pPr>
              <a:r>
                <a:rPr lang="en-US" sz="1200" b="1" i="1" kern="1200" dirty="0" smtClean="0">
                  <a:latin typeface="Helvetica" pitchFamily="34" charset="0"/>
                </a:rPr>
                <a:t>1.2	Undertake market research on identified opportunities and identified target markets</a:t>
              </a:r>
              <a:endParaRPr lang="en-AU" sz="1200" b="1" i="1" kern="1200" dirty="0">
                <a:latin typeface="Helvetica" pitchFamily="34" charset="0"/>
              </a:endParaRPr>
            </a:p>
          </p:txBody>
        </p:sp>
        <p:sp>
          <p:nvSpPr>
            <p:cNvPr id="11" name="Rectangle 10"/>
            <p:cNvSpPr/>
            <p:nvPr/>
          </p:nvSpPr>
          <p:spPr>
            <a:xfrm>
              <a:off x="685800" y="3571560"/>
              <a:ext cx="6096000" cy="327600"/>
            </a:xfrm>
            <a:prstGeom prst="rect">
              <a:avLst/>
            </a:prstGeom>
          </p:spPr>
          <p:style>
            <a:lnRef idx="2">
              <a:schemeClr val="dk2">
                <a:hueOff val="0"/>
                <a:satOff val="0"/>
                <a:lumOff val="0"/>
                <a:alphaOff val="0"/>
              </a:schemeClr>
            </a:lnRef>
            <a:fillRef idx="1">
              <a:schemeClr val="lt2">
                <a:alpha val="90000"/>
                <a:hueOff val="0"/>
                <a:satOff val="0"/>
                <a:lumOff val="0"/>
                <a:alphaOff val="0"/>
              </a:schemeClr>
            </a:fillRef>
            <a:effectRef idx="0">
              <a:schemeClr val="lt2">
                <a:alpha val="90000"/>
                <a:hueOff val="0"/>
                <a:satOff val="0"/>
                <a:lumOff val="0"/>
                <a:alphaOff val="0"/>
              </a:schemeClr>
            </a:effectRef>
            <a:fontRef idx="minor">
              <a:schemeClr val="dk1">
                <a:hueOff val="0"/>
                <a:satOff val="0"/>
                <a:lumOff val="0"/>
                <a:alphaOff val="0"/>
              </a:schemeClr>
            </a:fontRef>
          </p:style>
        </p:sp>
        <p:sp>
          <p:nvSpPr>
            <p:cNvPr id="12" name="Freeform 11"/>
            <p:cNvSpPr/>
            <p:nvPr/>
          </p:nvSpPr>
          <p:spPr>
            <a:xfrm>
              <a:off x="990600" y="3379680"/>
              <a:ext cx="4267200" cy="432000"/>
            </a:xfrm>
            <a:custGeom>
              <a:avLst/>
              <a:gdLst>
                <a:gd name="connsiteX0" fmla="*/ 0 w 4267200"/>
                <a:gd name="connsiteY0" fmla="*/ 63961 h 383760"/>
                <a:gd name="connsiteX1" fmla="*/ 63961 w 4267200"/>
                <a:gd name="connsiteY1" fmla="*/ 0 h 383760"/>
                <a:gd name="connsiteX2" fmla="*/ 4203239 w 4267200"/>
                <a:gd name="connsiteY2" fmla="*/ 0 h 383760"/>
                <a:gd name="connsiteX3" fmla="*/ 4267200 w 4267200"/>
                <a:gd name="connsiteY3" fmla="*/ 63961 h 383760"/>
                <a:gd name="connsiteX4" fmla="*/ 4267200 w 4267200"/>
                <a:gd name="connsiteY4" fmla="*/ 319799 h 383760"/>
                <a:gd name="connsiteX5" fmla="*/ 4203239 w 4267200"/>
                <a:gd name="connsiteY5" fmla="*/ 383760 h 383760"/>
                <a:gd name="connsiteX6" fmla="*/ 63961 w 4267200"/>
                <a:gd name="connsiteY6" fmla="*/ 383760 h 383760"/>
                <a:gd name="connsiteX7" fmla="*/ 0 w 4267200"/>
                <a:gd name="connsiteY7" fmla="*/ 319799 h 383760"/>
                <a:gd name="connsiteX8" fmla="*/ 0 w 4267200"/>
                <a:gd name="connsiteY8" fmla="*/ 63961 h 3837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267200" h="383760">
                  <a:moveTo>
                    <a:pt x="0" y="63961"/>
                  </a:moveTo>
                  <a:cubicBezTo>
                    <a:pt x="0" y="28636"/>
                    <a:pt x="28636" y="0"/>
                    <a:pt x="63961" y="0"/>
                  </a:cubicBezTo>
                  <a:lnTo>
                    <a:pt x="4203239" y="0"/>
                  </a:lnTo>
                  <a:cubicBezTo>
                    <a:pt x="4238564" y="0"/>
                    <a:pt x="4267200" y="28636"/>
                    <a:pt x="4267200" y="63961"/>
                  </a:cubicBezTo>
                  <a:lnTo>
                    <a:pt x="4267200" y="319799"/>
                  </a:lnTo>
                  <a:cubicBezTo>
                    <a:pt x="4267200" y="355124"/>
                    <a:pt x="4238564" y="383760"/>
                    <a:pt x="4203239" y="383760"/>
                  </a:cubicBezTo>
                  <a:lnTo>
                    <a:pt x="63961" y="383760"/>
                  </a:lnTo>
                  <a:cubicBezTo>
                    <a:pt x="28636" y="383760"/>
                    <a:pt x="0" y="355124"/>
                    <a:pt x="0" y="319799"/>
                  </a:cubicBezTo>
                  <a:lnTo>
                    <a:pt x="0" y="63961"/>
                  </a:lnTo>
                  <a:close/>
                </a:path>
              </a:pathLst>
            </a:custGeom>
          </p:spPr>
          <p:style>
            <a:lnRef idx="2">
              <a:schemeClr val="lt2">
                <a:hueOff val="0"/>
                <a:satOff val="0"/>
                <a:lumOff val="0"/>
                <a:alphaOff val="0"/>
              </a:schemeClr>
            </a:lnRef>
            <a:fillRef idx="1">
              <a:schemeClr val="dk2">
                <a:hueOff val="0"/>
                <a:satOff val="0"/>
                <a:lumOff val="0"/>
                <a:alphaOff val="0"/>
              </a:schemeClr>
            </a:fillRef>
            <a:effectRef idx="0">
              <a:schemeClr val="dk2">
                <a:hueOff val="0"/>
                <a:satOff val="0"/>
                <a:lumOff val="0"/>
                <a:alphaOff val="0"/>
              </a:schemeClr>
            </a:effectRef>
            <a:fontRef idx="minor">
              <a:schemeClr val="lt1"/>
            </a:fontRef>
          </p:style>
          <p:txBody>
            <a:bodyPr spcFirstLastPara="0" vert="horz" wrap="square" lIns="180024" tIns="18734" rIns="180024" bIns="18734" numCol="1" spcCol="1270" anchor="ctr" anchorCtr="0">
              <a:noAutofit/>
            </a:bodyPr>
            <a:lstStyle/>
            <a:p>
              <a:pPr marL="266700" lvl="0" indent="-266700" algn="l" defTabSz="533400">
                <a:lnSpc>
                  <a:spcPct val="90000"/>
                </a:lnSpc>
                <a:spcBef>
                  <a:spcPct val="0"/>
                </a:spcBef>
                <a:spcAft>
                  <a:spcPct val="35000"/>
                </a:spcAft>
              </a:pPr>
              <a:r>
                <a:rPr lang="en-US" sz="1200" b="1" i="1" kern="1200" dirty="0" smtClean="0">
                  <a:latin typeface="Helvetica" pitchFamily="34" charset="0"/>
                </a:rPr>
                <a:t>1.3	Determine product life cycle issues that apply to identified opportunities and products</a:t>
              </a:r>
              <a:endParaRPr lang="en-AU" sz="1200" b="1" i="1" kern="1200" dirty="0">
                <a:latin typeface="Helvetica" pitchFamily="34" charset="0"/>
              </a:endParaRPr>
            </a:p>
          </p:txBody>
        </p:sp>
        <p:sp>
          <p:nvSpPr>
            <p:cNvPr id="13" name="Rectangle 12"/>
            <p:cNvSpPr/>
            <p:nvPr/>
          </p:nvSpPr>
          <p:spPr>
            <a:xfrm>
              <a:off x="685800" y="4161240"/>
              <a:ext cx="6096000" cy="327600"/>
            </a:xfrm>
            <a:prstGeom prst="rect">
              <a:avLst/>
            </a:prstGeom>
          </p:spPr>
          <p:style>
            <a:lnRef idx="2">
              <a:schemeClr val="dk2">
                <a:hueOff val="0"/>
                <a:satOff val="0"/>
                <a:lumOff val="0"/>
                <a:alphaOff val="0"/>
              </a:schemeClr>
            </a:lnRef>
            <a:fillRef idx="1">
              <a:schemeClr val="lt2">
                <a:alpha val="90000"/>
                <a:hueOff val="0"/>
                <a:satOff val="0"/>
                <a:lumOff val="0"/>
                <a:alphaOff val="0"/>
              </a:schemeClr>
            </a:fillRef>
            <a:effectRef idx="0">
              <a:schemeClr val="lt2">
                <a:alpha val="90000"/>
                <a:hueOff val="0"/>
                <a:satOff val="0"/>
                <a:lumOff val="0"/>
                <a:alphaOff val="0"/>
              </a:schemeClr>
            </a:effectRef>
            <a:fontRef idx="minor">
              <a:schemeClr val="dk1">
                <a:hueOff val="0"/>
                <a:satOff val="0"/>
                <a:lumOff val="0"/>
                <a:alphaOff val="0"/>
              </a:schemeClr>
            </a:fontRef>
          </p:style>
        </p:sp>
        <p:sp>
          <p:nvSpPr>
            <p:cNvPr id="14" name="Freeform 13"/>
            <p:cNvSpPr/>
            <p:nvPr/>
          </p:nvSpPr>
          <p:spPr>
            <a:xfrm>
              <a:off x="990600" y="3969360"/>
              <a:ext cx="4267200" cy="432000"/>
            </a:xfrm>
            <a:custGeom>
              <a:avLst/>
              <a:gdLst>
                <a:gd name="connsiteX0" fmla="*/ 0 w 4267200"/>
                <a:gd name="connsiteY0" fmla="*/ 63961 h 383760"/>
                <a:gd name="connsiteX1" fmla="*/ 63961 w 4267200"/>
                <a:gd name="connsiteY1" fmla="*/ 0 h 383760"/>
                <a:gd name="connsiteX2" fmla="*/ 4203239 w 4267200"/>
                <a:gd name="connsiteY2" fmla="*/ 0 h 383760"/>
                <a:gd name="connsiteX3" fmla="*/ 4267200 w 4267200"/>
                <a:gd name="connsiteY3" fmla="*/ 63961 h 383760"/>
                <a:gd name="connsiteX4" fmla="*/ 4267200 w 4267200"/>
                <a:gd name="connsiteY4" fmla="*/ 319799 h 383760"/>
                <a:gd name="connsiteX5" fmla="*/ 4203239 w 4267200"/>
                <a:gd name="connsiteY5" fmla="*/ 383760 h 383760"/>
                <a:gd name="connsiteX6" fmla="*/ 63961 w 4267200"/>
                <a:gd name="connsiteY6" fmla="*/ 383760 h 383760"/>
                <a:gd name="connsiteX7" fmla="*/ 0 w 4267200"/>
                <a:gd name="connsiteY7" fmla="*/ 319799 h 383760"/>
                <a:gd name="connsiteX8" fmla="*/ 0 w 4267200"/>
                <a:gd name="connsiteY8" fmla="*/ 63961 h 3837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267200" h="383760">
                  <a:moveTo>
                    <a:pt x="0" y="63961"/>
                  </a:moveTo>
                  <a:cubicBezTo>
                    <a:pt x="0" y="28636"/>
                    <a:pt x="28636" y="0"/>
                    <a:pt x="63961" y="0"/>
                  </a:cubicBezTo>
                  <a:lnTo>
                    <a:pt x="4203239" y="0"/>
                  </a:lnTo>
                  <a:cubicBezTo>
                    <a:pt x="4238564" y="0"/>
                    <a:pt x="4267200" y="28636"/>
                    <a:pt x="4267200" y="63961"/>
                  </a:cubicBezTo>
                  <a:lnTo>
                    <a:pt x="4267200" y="319799"/>
                  </a:lnTo>
                  <a:cubicBezTo>
                    <a:pt x="4267200" y="355124"/>
                    <a:pt x="4238564" y="383760"/>
                    <a:pt x="4203239" y="383760"/>
                  </a:cubicBezTo>
                  <a:lnTo>
                    <a:pt x="63961" y="383760"/>
                  </a:lnTo>
                  <a:cubicBezTo>
                    <a:pt x="28636" y="383760"/>
                    <a:pt x="0" y="355124"/>
                    <a:pt x="0" y="319799"/>
                  </a:cubicBezTo>
                  <a:lnTo>
                    <a:pt x="0" y="63961"/>
                  </a:lnTo>
                  <a:close/>
                </a:path>
              </a:pathLst>
            </a:custGeom>
          </p:spPr>
          <p:style>
            <a:lnRef idx="2">
              <a:schemeClr val="lt2">
                <a:hueOff val="0"/>
                <a:satOff val="0"/>
                <a:lumOff val="0"/>
                <a:alphaOff val="0"/>
              </a:schemeClr>
            </a:lnRef>
            <a:fillRef idx="1">
              <a:schemeClr val="dk2">
                <a:hueOff val="0"/>
                <a:satOff val="0"/>
                <a:lumOff val="0"/>
                <a:alphaOff val="0"/>
              </a:schemeClr>
            </a:fillRef>
            <a:effectRef idx="0">
              <a:schemeClr val="dk2">
                <a:hueOff val="0"/>
                <a:satOff val="0"/>
                <a:lumOff val="0"/>
                <a:alphaOff val="0"/>
              </a:schemeClr>
            </a:effectRef>
            <a:fontRef idx="minor">
              <a:schemeClr val="lt1"/>
            </a:fontRef>
          </p:style>
          <p:txBody>
            <a:bodyPr spcFirstLastPara="0" vert="horz" wrap="square" lIns="180024" tIns="18734" rIns="180024" bIns="18734" numCol="1" spcCol="1270" anchor="ctr" anchorCtr="0">
              <a:noAutofit/>
            </a:bodyPr>
            <a:lstStyle/>
            <a:p>
              <a:pPr marL="266700" lvl="0" indent="-266700" algn="l" defTabSz="533400">
                <a:lnSpc>
                  <a:spcPct val="90000"/>
                </a:lnSpc>
                <a:spcBef>
                  <a:spcPct val="0"/>
                </a:spcBef>
                <a:spcAft>
                  <a:spcPct val="35000"/>
                </a:spcAft>
              </a:pPr>
              <a:r>
                <a:rPr lang="en-US" sz="1200" b="1" i="1" kern="1200" dirty="0" smtClean="0">
                  <a:latin typeface="Helvetica" pitchFamily="34" charset="0"/>
                </a:rPr>
                <a:t>1.4	Determine financial issues that relate to the development of product initiatives</a:t>
              </a:r>
              <a:endParaRPr lang="en-AU" sz="1200" b="1" i="1" kern="1200" dirty="0">
                <a:latin typeface="Helvetica" pitchFamily="34" charset="0"/>
              </a:endParaRPr>
            </a:p>
          </p:txBody>
        </p:sp>
        <p:sp>
          <p:nvSpPr>
            <p:cNvPr id="15" name="Rectangle 14"/>
            <p:cNvSpPr/>
            <p:nvPr/>
          </p:nvSpPr>
          <p:spPr>
            <a:xfrm>
              <a:off x="685800" y="4750920"/>
              <a:ext cx="6096000" cy="327600"/>
            </a:xfrm>
            <a:prstGeom prst="rect">
              <a:avLst/>
            </a:prstGeom>
          </p:spPr>
          <p:style>
            <a:lnRef idx="2">
              <a:schemeClr val="dk2">
                <a:hueOff val="0"/>
                <a:satOff val="0"/>
                <a:lumOff val="0"/>
                <a:alphaOff val="0"/>
              </a:schemeClr>
            </a:lnRef>
            <a:fillRef idx="1">
              <a:schemeClr val="lt2">
                <a:alpha val="90000"/>
                <a:hueOff val="0"/>
                <a:satOff val="0"/>
                <a:lumOff val="0"/>
                <a:alphaOff val="0"/>
              </a:schemeClr>
            </a:fillRef>
            <a:effectRef idx="0">
              <a:schemeClr val="lt2">
                <a:alpha val="90000"/>
                <a:hueOff val="0"/>
                <a:satOff val="0"/>
                <a:lumOff val="0"/>
                <a:alphaOff val="0"/>
              </a:schemeClr>
            </a:effectRef>
            <a:fontRef idx="minor">
              <a:schemeClr val="dk1">
                <a:hueOff val="0"/>
                <a:satOff val="0"/>
                <a:lumOff val="0"/>
                <a:alphaOff val="0"/>
              </a:schemeClr>
            </a:fontRef>
          </p:style>
        </p:sp>
        <p:sp>
          <p:nvSpPr>
            <p:cNvPr id="16" name="Freeform 15"/>
            <p:cNvSpPr/>
            <p:nvPr/>
          </p:nvSpPr>
          <p:spPr>
            <a:xfrm>
              <a:off x="990600" y="4559040"/>
              <a:ext cx="4267200" cy="432000"/>
            </a:xfrm>
            <a:custGeom>
              <a:avLst/>
              <a:gdLst>
                <a:gd name="connsiteX0" fmla="*/ 0 w 4267200"/>
                <a:gd name="connsiteY0" fmla="*/ 63961 h 383760"/>
                <a:gd name="connsiteX1" fmla="*/ 63961 w 4267200"/>
                <a:gd name="connsiteY1" fmla="*/ 0 h 383760"/>
                <a:gd name="connsiteX2" fmla="*/ 4203239 w 4267200"/>
                <a:gd name="connsiteY2" fmla="*/ 0 h 383760"/>
                <a:gd name="connsiteX3" fmla="*/ 4267200 w 4267200"/>
                <a:gd name="connsiteY3" fmla="*/ 63961 h 383760"/>
                <a:gd name="connsiteX4" fmla="*/ 4267200 w 4267200"/>
                <a:gd name="connsiteY4" fmla="*/ 319799 h 383760"/>
                <a:gd name="connsiteX5" fmla="*/ 4203239 w 4267200"/>
                <a:gd name="connsiteY5" fmla="*/ 383760 h 383760"/>
                <a:gd name="connsiteX6" fmla="*/ 63961 w 4267200"/>
                <a:gd name="connsiteY6" fmla="*/ 383760 h 383760"/>
                <a:gd name="connsiteX7" fmla="*/ 0 w 4267200"/>
                <a:gd name="connsiteY7" fmla="*/ 319799 h 383760"/>
                <a:gd name="connsiteX8" fmla="*/ 0 w 4267200"/>
                <a:gd name="connsiteY8" fmla="*/ 63961 h 3837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267200" h="383760">
                  <a:moveTo>
                    <a:pt x="0" y="63961"/>
                  </a:moveTo>
                  <a:cubicBezTo>
                    <a:pt x="0" y="28636"/>
                    <a:pt x="28636" y="0"/>
                    <a:pt x="63961" y="0"/>
                  </a:cubicBezTo>
                  <a:lnTo>
                    <a:pt x="4203239" y="0"/>
                  </a:lnTo>
                  <a:cubicBezTo>
                    <a:pt x="4238564" y="0"/>
                    <a:pt x="4267200" y="28636"/>
                    <a:pt x="4267200" y="63961"/>
                  </a:cubicBezTo>
                  <a:lnTo>
                    <a:pt x="4267200" y="319799"/>
                  </a:lnTo>
                  <a:cubicBezTo>
                    <a:pt x="4267200" y="355124"/>
                    <a:pt x="4238564" y="383760"/>
                    <a:pt x="4203239" y="383760"/>
                  </a:cubicBezTo>
                  <a:lnTo>
                    <a:pt x="63961" y="383760"/>
                  </a:lnTo>
                  <a:cubicBezTo>
                    <a:pt x="28636" y="383760"/>
                    <a:pt x="0" y="355124"/>
                    <a:pt x="0" y="319799"/>
                  </a:cubicBezTo>
                  <a:lnTo>
                    <a:pt x="0" y="63961"/>
                  </a:lnTo>
                  <a:close/>
                </a:path>
              </a:pathLst>
            </a:custGeom>
          </p:spPr>
          <p:style>
            <a:lnRef idx="2">
              <a:schemeClr val="lt2">
                <a:hueOff val="0"/>
                <a:satOff val="0"/>
                <a:lumOff val="0"/>
                <a:alphaOff val="0"/>
              </a:schemeClr>
            </a:lnRef>
            <a:fillRef idx="1">
              <a:schemeClr val="dk2">
                <a:hueOff val="0"/>
                <a:satOff val="0"/>
                <a:lumOff val="0"/>
                <a:alphaOff val="0"/>
              </a:schemeClr>
            </a:fillRef>
            <a:effectRef idx="0">
              <a:schemeClr val="dk2">
                <a:hueOff val="0"/>
                <a:satOff val="0"/>
                <a:lumOff val="0"/>
                <a:alphaOff val="0"/>
              </a:schemeClr>
            </a:effectRef>
            <a:fontRef idx="minor">
              <a:schemeClr val="lt1"/>
            </a:fontRef>
          </p:style>
          <p:txBody>
            <a:bodyPr spcFirstLastPara="0" vert="horz" wrap="square" lIns="180024" tIns="18734" rIns="180024" bIns="18734" numCol="1" spcCol="1270" anchor="ctr" anchorCtr="0">
              <a:noAutofit/>
            </a:bodyPr>
            <a:lstStyle/>
            <a:p>
              <a:pPr marL="266700" lvl="0" indent="-266700" algn="l" defTabSz="533400">
                <a:lnSpc>
                  <a:spcPct val="90000"/>
                </a:lnSpc>
                <a:spcBef>
                  <a:spcPct val="0"/>
                </a:spcBef>
                <a:spcAft>
                  <a:spcPct val="35000"/>
                </a:spcAft>
              </a:pPr>
              <a:r>
                <a:rPr lang="en-US" sz="1200" b="1" i="1" kern="1200" dirty="0" smtClean="0">
                  <a:latin typeface="Helvetica" pitchFamily="34" charset="0"/>
                </a:rPr>
                <a:t>1.5	Research product development opportunities that align with the context that applies</a:t>
              </a:r>
              <a:endParaRPr lang="en-AU" sz="1200" b="1" i="1" kern="1200" dirty="0">
                <a:latin typeface="Helvetica" pitchFamily="34" charset="0"/>
              </a:endParaRPr>
            </a:p>
          </p:txBody>
        </p:sp>
        <p:sp>
          <p:nvSpPr>
            <p:cNvPr id="17" name="Rectangle 16"/>
            <p:cNvSpPr/>
            <p:nvPr/>
          </p:nvSpPr>
          <p:spPr>
            <a:xfrm>
              <a:off x="685800" y="5340600"/>
              <a:ext cx="6096000" cy="327600"/>
            </a:xfrm>
            <a:prstGeom prst="rect">
              <a:avLst/>
            </a:prstGeom>
          </p:spPr>
          <p:style>
            <a:lnRef idx="2">
              <a:schemeClr val="dk2">
                <a:hueOff val="0"/>
                <a:satOff val="0"/>
                <a:lumOff val="0"/>
                <a:alphaOff val="0"/>
              </a:schemeClr>
            </a:lnRef>
            <a:fillRef idx="1">
              <a:schemeClr val="lt2">
                <a:alpha val="90000"/>
                <a:hueOff val="0"/>
                <a:satOff val="0"/>
                <a:lumOff val="0"/>
                <a:alphaOff val="0"/>
              </a:schemeClr>
            </a:fillRef>
            <a:effectRef idx="0">
              <a:schemeClr val="lt2">
                <a:alpha val="90000"/>
                <a:hueOff val="0"/>
                <a:satOff val="0"/>
                <a:lumOff val="0"/>
                <a:alphaOff val="0"/>
              </a:schemeClr>
            </a:effectRef>
            <a:fontRef idx="minor">
              <a:schemeClr val="dk1">
                <a:hueOff val="0"/>
                <a:satOff val="0"/>
                <a:lumOff val="0"/>
                <a:alphaOff val="0"/>
              </a:schemeClr>
            </a:fontRef>
          </p:style>
        </p:sp>
        <p:sp>
          <p:nvSpPr>
            <p:cNvPr id="18" name="Freeform 17"/>
            <p:cNvSpPr/>
            <p:nvPr/>
          </p:nvSpPr>
          <p:spPr>
            <a:xfrm>
              <a:off x="990600" y="5148720"/>
              <a:ext cx="4267200" cy="432000"/>
            </a:xfrm>
            <a:custGeom>
              <a:avLst/>
              <a:gdLst>
                <a:gd name="connsiteX0" fmla="*/ 0 w 4267200"/>
                <a:gd name="connsiteY0" fmla="*/ 63961 h 383760"/>
                <a:gd name="connsiteX1" fmla="*/ 63961 w 4267200"/>
                <a:gd name="connsiteY1" fmla="*/ 0 h 383760"/>
                <a:gd name="connsiteX2" fmla="*/ 4203239 w 4267200"/>
                <a:gd name="connsiteY2" fmla="*/ 0 h 383760"/>
                <a:gd name="connsiteX3" fmla="*/ 4267200 w 4267200"/>
                <a:gd name="connsiteY3" fmla="*/ 63961 h 383760"/>
                <a:gd name="connsiteX4" fmla="*/ 4267200 w 4267200"/>
                <a:gd name="connsiteY4" fmla="*/ 319799 h 383760"/>
                <a:gd name="connsiteX5" fmla="*/ 4203239 w 4267200"/>
                <a:gd name="connsiteY5" fmla="*/ 383760 h 383760"/>
                <a:gd name="connsiteX6" fmla="*/ 63961 w 4267200"/>
                <a:gd name="connsiteY6" fmla="*/ 383760 h 383760"/>
                <a:gd name="connsiteX7" fmla="*/ 0 w 4267200"/>
                <a:gd name="connsiteY7" fmla="*/ 319799 h 383760"/>
                <a:gd name="connsiteX8" fmla="*/ 0 w 4267200"/>
                <a:gd name="connsiteY8" fmla="*/ 63961 h 3837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267200" h="383760">
                  <a:moveTo>
                    <a:pt x="0" y="63961"/>
                  </a:moveTo>
                  <a:cubicBezTo>
                    <a:pt x="0" y="28636"/>
                    <a:pt x="28636" y="0"/>
                    <a:pt x="63961" y="0"/>
                  </a:cubicBezTo>
                  <a:lnTo>
                    <a:pt x="4203239" y="0"/>
                  </a:lnTo>
                  <a:cubicBezTo>
                    <a:pt x="4238564" y="0"/>
                    <a:pt x="4267200" y="28636"/>
                    <a:pt x="4267200" y="63961"/>
                  </a:cubicBezTo>
                  <a:lnTo>
                    <a:pt x="4267200" y="319799"/>
                  </a:lnTo>
                  <a:cubicBezTo>
                    <a:pt x="4267200" y="355124"/>
                    <a:pt x="4238564" y="383760"/>
                    <a:pt x="4203239" y="383760"/>
                  </a:cubicBezTo>
                  <a:lnTo>
                    <a:pt x="63961" y="383760"/>
                  </a:lnTo>
                  <a:cubicBezTo>
                    <a:pt x="28636" y="383760"/>
                    <a:pt x="0" y="355124"/>
                    <a:pt x="0" y="319799"/>
                  </a:cubicBezTo>
                  <a:lnTo>
                    <a:pt x="0" y="63961"/>
                  </a:lnTo>
                  <a:close/>
                </a:path>
              </a:pathLst>
            </a:custGeom>
          </p:spPr>
          <p:style>
            <a:lnRef idx="2">
              <a:schemeClr val="lt2">
                <a:hueOff val="0"/>
                <a:satOff val="0"/>
                <a:lumOff val="0"/>
                <a:alphaOff val="0"/>
              </a:schemeClr>
            </a:lnRef>
            <a:fillRef idx="1">
              <a:schemeClr val="dk2">
                <a:hueOff val="0"/>
                <a:satOff val="0"/>
                <a:lumOff val="0"/>
                <a:alphaOff val="0"/>
              </a:schemeClr>
            </a:fillRef>
            <a:effectRef idx="0">
              <a:schemeClr val="dk2">
                <a:hueOff val="0"/>
                <a:satOff val="0"/>
                <a:lumOff val="0"/>
                <a:alphaOff val="0"/>
              </a:schemeClr>
            </a:effectRef>
            <a:fontRef idx="minor">
              <a:schemeClr val="lt1"/>
            </a:fontRef>
          </p:style>
          <p:txBody>
            <a:bodyPr spcFirstLastPara="0" vert="horz" wrap="square" lIns="180024" tIns="18734" rIns="180024" bIns="18734" numCol="1" spcCol="1270" anchor="ctr" anchorCtr="0">
              <a:noAutofit/>
            </a:bodyPr>
            <a:lstStyle/>
            <a:p>
              <a:pPr marL="266700" lvl="0" indent="-266700" algn="l" defTabSz="533400">
                <a:lnSpc>
                  <a:spcPct val="90000"/>
                </a:lnSpc>
                <a:spcBef>
                  <a:spcPct val="0"/>
                </a:spcBef>
                <a:spcAft>
                  <a:spcPct val="35000"/>
                </a:spcAft>
              </a:pPr>
              <a:r>
                <a:rPr lang="en-US" sz="1200" b="1" i="1" kern="1200" dirty="0" smtClean="0">
                  <a:latin typeface="Helvetica" pitchFamily="34" charset="0"/>
                </a:rPr>
                <a:t>1.6	Develop product development plans reflecting research information and business objectives</a:t>
              </a:r>
              <a:endParaRPr lang="en-AU" sz="1200" b="1" i="1" kern="1200" dirty="0">
                <a:latin typeface="Helvetica" pitchFamily="34" charset="0"/>
              </a:endParaRPr>
            </a:p>
          </p:txBody>
        </p:sp>
        <p:sp>
          <p:nvSpPr>
            <p:cNvPr id="19" name="Rectangle 18"/>
            <p:cNvSpPr/>
            <p:nvPr/>
          </p:nvSpPr>
          <p:spPr>
            <a:xfrm>
              <a:off x="685800" y="5930280"/>
              <a:ext cx="6096000" cy="327600"/>
            </a:xfrm>
            <a:prstGeom prst="rect">
              <a:avLst/>
            </a:prstGeom>
          </p:spPr>
          <p:style>
            <a:lnRef idx="2">
              <a:schemeClr val="dk2">
                <a:hueOff val="0"/>
                <a:satOff val="0"/>
                <a:lumOff val="0"/>
                <a:alphaOff val="0"/>
              </a:schemeClr>
            </a:lnRef>
            <a:fillRef idx="1">
              <a:schemeClr val="lt2">
                <a:alpha val="90000"/>
                <a:hueOff val="0"/>
                <a:satOff val="0"/>
                <a:lumOff val="0"/>
                <a:alphaOff val="0"/>
              </a:schemeClr>
            </a:fillRef>
            <a:effectRef idx="0">
              <a:schemeClr val="lt2">
                <a:alpha val="90000"/>
                <a:hueOff val="0"/>
                <a:satOff val="0"/>
                <a:lumOff val="0"/>
                <a:alphaOff val="0"/>
              </a:schemeClr>
            </a:effectRef>
            <a:fontRef idx="minor">
              <a:schemeClr val="dk1">
                <a:hueOff val="0"/>
                <a:satOff val="0"/>
                <a:lumOff val="0"/>
                <a:alphaOff val="0"/>
              </a:schemeClr>
            </a:fontRef>
          </p:style>
        </p:sp>
        <p:sp>
          <p:nvSpPr>
            <p:cNvPr id="20" name="Freeform 19"/>
            <p:cNvSpPr/>
            <p:nvPr/>
          </p:nvSpPr>
          <p:spPr>
            <a:xfrm>
              <a:off x="990600" y="5738400"/>
              <a:ext cx="4267200" cy="432000"/>
            </a:xfrm>
            <a:custGeom>
              <a:avLst/>
              <a:gdLst>
                <a:gd name="connsiteX0" fmla="*/ 0 w 4267200"/>
                <a:gd name="connsiteY0" fmla="*/ 63961 h 383760"/>
                <a:gd name="connsiteX1" fmla="*/ 63961 w 4267200"/>
                <a:gd name="connsiteY1" fmla="*/ 0 h 383760"/>
                <a:gd name="connsiteX2" fmla="*/ 4203239 w 4267200"/>
                <a:gd name="connsiteY2" fmla="*/ 0 h 383760"/>
                <a:gd name="connsiteX3" fmla="*/ 4267200 w 4267200"/>
                <a:gd name="connsiteY3" fmla="*/ 63961 h 383760"/>
                <a:gd name="connsiteX4" fmla="*/ 4267200 w 4267200"/>
                <a:gd name="connsiteY4" fmla="*/ 319799 h 383760"/>
                <a:gd name="connsiteX5" fmla="*/ 4203239 w 4267200"/>
                <a:gd name="connsiteY5" fmla="*/ 383760 h 383760"/>
                <a:gd name="connsiteX6" fmla="*/ 63961 w 4267200"/>
                <a:gd name="connsiteY6" fmla="*/ 383760 h 383760"/>
                <a:gd name="connsiteX7" fmla="*/ 0 w 4267200"/>
                <a:gd name="connsiteY7" fmla="*/ 319799 h 383760"/>
                <a:gd name="connsiteX8" fmla="*/ 0 w 4267200"/>
                <a:gd name="connsiteY8" fmla="*/ 63961 h 3837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267200" h="383760">
                  <a:moveTo>
                    <a:pt x="0" y="63961"/>
                  </a:moveTo>
                  <a:cubicBezTo>
                    <a:pt x="0" y="28636"/>
                    <a:pt x="28636" y="0"/>
                    <a:pt x="63961" y="0"/>
                  </a:cubicBezTo>
                  <a:lnTo>
                    <a:pt x="4203239" y="0"/>
                  </a:lnTo>
                  <a:cubicBezTo>
                    <a:pt x="4238564" y="0"/>
                    <a:pt x="4267200" y="28636"/>
                    <a:pt x="4267200" y="63961"/>
                  </a:cubicBezTo>
                  <a:lnTo>
                    <a:pt x="4267200" y="319799"/>
                  </a:lnTo>
                  <a:cubicBezTo>
                    <a:pt x="4267200" y="355124"/>
                    <a:pt x="4238564" y="383760"/>
                    <a:pt x="4203239" y="383760"/>
                  </a:cubicBezTo>
                  <a:lnTo>
                    <a:pt x="63961" y="383760"/>
                  </a:lnTo>
                  <a:cubicBezTo>
                    <a:pt x="28636" y="383760"/>
                    <a:pt x="0" y="355124"/>
                    <a:pt x="0" y="319799"/>
                  </a:cubicBezTo>
                  <a:lnTo>
                    <a:pt x="0" y="63961"/>
                  </a:lnTo>
                  <a:close/>
                </a:path>
              </a:pathLst>
            </a:custGeom>
          </p:spPr>
          <p:style>
            <a:lnRef idx="2">
              <a:schemeClr val="lt2">
                <a:hueOff val="0"/>
                <a:satOff val="0"/>
                <a:lumOff val="0"/>
                <a:alphaOff val="0"/>
              </a:schemeClr>
            </a:lnRef>
            <a:fillRef idx="1">
              <a:schemeClr val="dk2">
                <a:hueOff val="0"/>
                <a:satOff val="0"/>
                <a:lumOff val="0"/>
                <a:alphaOff val="0"/>
              </a:schemeClr>
            </a:fillRef>
            <a:effectRef idx="0">
              <a:schemeClr val="dk2">
                <a:hueOff val="0"/>
                <a:satOff val="0"/>
                <a:lumOff val="0"/>
                <a:alphaOff val="0"/>
              </a:schemeClr>
            </a:effectRef>
            <a:fontRef idx="minor">
              <a:schemeClr val="lt1"/>
            </a:fontRef>
          </p:style>
          <p:txBody>
            <a:bodyPr spcFirstLastPara="0" vert="horz" wrap="square" lIns="180024" tIns="18734" rIns="180024" bIns="18734" numCol="1" spcCol="1270" anchor="ctr" anchorCtr="0">
              <a:noAutofit/>
            </a:bodyPr>
            <a:lstStyle/>
            <a:p>
              <a:pPr marL="266700" lvl="0" indent="-266700" algn="l" defTabSz="533400">
                <a:lnSpc>
                  <a:spcPct val="90000"/>
                </a:lnSpc>
                <a:spcBef>
                  <a:spcPct val="0"/>
                </a:spcBef>
                <a:spcAft>
                  <a:spcPct val="35000"/>
                </a:spcAft>
              </a:pPr>
              <a:r>
                <a:rPr lang="en-US" sz="1200" b="1" i="1" kern="1200" dirty="0" smtClean="0">
                  <a:latin typeface="Helvetica" pitchFamily="34" charset="0"/>
                </a:rPr>
                <a:t>1.7	Produce the identified product or service initiative</a:t>
              </a:r>
              <a:endParaRPr lang="en-AU" sz="1200" b="1" i="1" kern="1200" dirty="0">
                <a:latin typeface="Helvetica" pitchFamily="34" charset="0"/>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circle(in)">
                                      <p:cBhvr>
                                        <p:cTn id="7" dur="20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1.1 Identify the context for product development </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676400"/>
            <a:ext cx="7467600" cy="4406355"/>
          </a:xfrm>
        </p:spPr>
        <p:txBody>
          <a:bodyPr>
            <a:normAutofit/>
          </a:bodyPr>
          <a:lstStyle/>
          <a:p>
            <a:pPr marL="0" indent="0">
              <a:spcBef>
                <a:spcPts val="600"/>
              </a:spcBef>
              <a:spcAft>
                <a:spcPts val="1200"/>
              </a:spcAft>
              <a:buNone/>
            </a:pPr>
            <a:r>
              <a:rPr lang="en-AU" sz="2000" dirty="0"/>
              <a:t>The business context in which an organisation operates can involve many varying aspects</a:t>
            </a:r>
            <a:r>
              <a:rPr lang="en-AU" sz="2000" dirty="0" smtClean="0"/>
              <a:t>. It is important to understand and analyse the business environment as a whole to determine what factors may impact upon new product or service development.</a:t>
            </a:r>
            <a:endParaRPr lang="en-US" sz="2000" dirty="0" smtClean="0"/>
          </a:p>
          <a:p>
            <a:pPr marL="360000" indent="-360000">
              <a:spcBef>
                <a:spcPts val="600"/>
              </a:spcBef>
              <a:spcAft>
                <a:spcPts val="1200"/>
              </a:spcAft>
            </a:pPr>
            <a:endParaRPr lang="en-US" sz="2000" dirty="0" smtClean="0"/>
          </a:p>
          <a:p>
            <a:pPr marL="360000" indent="0">
              <a:spcBef>
                <a:spcPts val="600"/>
              </a:spcBef>
              <a:spcAft>
                <a:spcPts val="1200"/>
              </a:spcAft>
              <a:buClr>
                <a:schemeClr val="accent1">
                  <a:lumMod val="75000"/>
                </a:schemeClr>
              </a:buClr>
              <a:buSzPct val="100000"/>
              <a:buNone/>
            </a:pPr>
            <a:endParaRPr lang="en-US" sz="2000" dirty="0" smtClean="0"/>
          </a:p>
          <a:p>
            <a:pPr marL="360000" indent="-360000">
              <a:spcBef>
                <a:spcPts val="600"/>
              </a:spcBef>
              <a:spcAft>
                <a:spcPts val="1200"/>
              </a:spcAft>
              <a:buNone/>
            </a:pPr>
            <a:endParaRPr lang="en-US" sz="2000" dirty="0" smtClean="0"/>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3</a:t>
            </a:fld>
            <a:endParaRPr lang="en-US" dirty="0">
              <a:latin typeface="Helvetica" pitchFamily="34" charset="0"/>
            </a:endParaRPr>
          </a:p>
        </p:txBody>
      </p:sp>
      <p:pic>
        <p:nvPicPr>
          <p:cNvPr id="6" name="Picture 5"/>
          <p:cNvPicPr/>
          <p:nvPr/>
        </p:nvPicPr>
        <p:blipFill>
          <a:blip r:embed="rId3">
            <a:extLst>
              <a:ext uri="{28A0092B-C50C-407E-A947-70E740481C1C}">
                <a14:useLocalDpi xmlns:a14="http://schemas.microsoft.com/office/drawing/2010/main" val="0"/>
              </a:ext>
            </a:extLst>
          </a:blip>
          <a:stretch>
            <a:fillRect/>
          </a:stretch>
        </p:blipFill>
        <p:spPr>
          <a:xfrm>
            <a:off x="2743200" y="3429000"/>
            <a:ext cx="2265040" cy="216024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circle(in)">
                                      <p:cBhvr>
                                        <p:cTn id="7" dur="20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6856040" cy="1143000"/>
          </a:xfrm>
        </p:spPr>
        <p:txBody>
          <a:bodyPr>
            <a:normAutofit/>
          </a:bodyPr>
          <a:lstStyle/>
          <a:p>
            <a:pPr algn="ctr"/>
            <a:r>
              <a:rPr lang="en-US" sz="3400" b="1" dirty="0" smtClean="0">
                <a:solidFill>
                  <a:srgbClr val="FF6600"/>
                </a:solidFill>
                <a:latin typeface="Helvetica" pitchFamily="34" charset="0"/>
              </a:rPr>
              <a:t>The Marketing Mix</a:t>
            </a:r>
            <a:endParaRPr lang="en-US" sz="3400" b="1" dirty="0">
              <a:solidFill>
                <a:srgbClr val="FF6600"/>
              </a:solidFill>
              <a:latin typeface="Helvetica" pitchFamily="34" charset="0"/>
            </a:endParaRPr>
          </a:p>
        </p:txBody>
      </p:sp>
      <p:pic>
        <p:nvPicPr>
          <p:cNvPr id="5" name="Content Placeholder 4"/>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1981200" y="1600200"/>
            <a:ext cx="4038600" cy="4071886"/>
          </a:xfrm>
        </p:spPr>
      </p:pic>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4</a:t>
            </a:fld>
            <a:endParaRPr lang="en-US" dirty="0">
              <a:latin typeface="Helvetica"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circle(in)">
                                      <p:cBhvr>
                                        <p:cTn id="7" dur="20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6932240" cy="1143000"/>
          </a:xfrm>
        </p:spPr>
        <p:txBody>
          <a:bodyPr>
            <a:normAutofit/>
          </a:bodyPr>
          <a:lstStyle/>
          <a:p>
            <a:pPr algn="ctr"/>
            <a:r>
              <a:rPr lang="en-US" sz="3400" b="1" dirty="0" smtClean="0">
                <a:solidFill>
                  <a:srgbClr val="FF6600"/>
                </a:solidFill>
                <a:latin typeface="Helvetica" pitchFamily="34" charset="0"/>
              </a:rPr>
              <a:t>External product environment</a:t>
            </a:r>
            <a:endParaRPr lang="en-US" sz="3400" b="1" dirty="0">
              <a:solidFill>
                <a:srgbClr val="FF6600"/>
              </a:solidFill>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5</a:t>
            </a:fld>
            <a:endParaRPr lang="en-US" dirty="0">
              <a:latin typeface="Helvetica" pitchFamily="34" charset="0"/>
            </a:endParaRPr>
          </a:p>
        </p:txBody>
      </p:sp>
      <p:grpSp>
        <p:nvGrpSpPr>
          <p:cNvPr id="6" name="Group 5"/>
          <p:cNvGrpSpPr/>
          <p:nvPr/>
        </p:nvGrpSpPr>
        <p:grpSpPr>
          <a:xfrm>
            <a:off x="1524000" y="1447800"/>
            <a:ext cx="4784096" cy="4618260"/>
            <a:chOff x="1303651" y="1373869"/>
            <a:chExt cx="4784096" cy="4618260"/>
          </a:xfrm>
        </p:grpSpPr>
        <p:sp>
          <p:nvSpPr>
            <p:cNvPr id="7" name="Freeform 6"/>
            <p:cNvSpPr/>
            <p:nvPr/>
          </p:nvSpPr>
          <p:spPr>
            <a:xfrm>
              <a:off x="2997817" y="1373869"/>
              <a:ext cx="1395765" cy="1395765"/>
            </a:xfrm>
            <a:custGeom>
              <a:avLst/>
              <a:gdLst>
                <a:gd name="connsiteX0" fmla="*/ 0 w 1395765"/>
                <a:gd name="connsiteY0" fmla="*/ 697883 h 1395765"/>
                <a:gd name="connsiteX1" fmla="*/ 697883 w 1395765"/>
                <a:gd name="connsiteY1" fmla="*/ 0 h 1395765"/>
                <a:gd name="connsiteX2" fmla="*/ 1395766 w 1395765"/>
                <a:gd name="connsiteY2" fmla="*/ 697883 h 1395765"/>
                <a:gd name="connsiteX3" fmla="*/ 697883 w 1395765"/>
                <a:gd name="connsiteY3" fmla="*/ 1395766 h 1395765"/>
                <a:gd name="connsiteX4" fmla="*/ 0 w 1395765"/>
                <a:gd name="connsiteY4" fmla="*/ 697883 h 13957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95765" h="1395765">
                  <a:moveTo>
                    <a:pt x="0" y="697883"/>
                  </a:moveTo>
                  <a:cubicBezTo>
                    <a:pt x="0" y="312453"/>
                    <a:pt x="312453" y="0"/>
                    <a:pt x="697883" y="0"/>
                  </a:cubicBezTo>
                  <a:cubicBezTo>
                    <a:pt x="1083313" y="0"/>
                    <a:pt x="1395766" y="312453"/>
                    <a:pt x="1395766" y="697883"/>
                  </a:cubicBezTo>
                  <a:cubicBezTo>
                    <a:pt x="1395766" y="1083313"/>
                    <a:pt x="1083313" y="1395766"/>
                    <a:pt x="697883" y="1395766"/>
                  </a:cubicBezTo>
                  <a:cubicBezTo>
                    <a:pt x="312453" y="1395766"/>
                    <a:pt x="0" y="1083313"/>
                    <a:pt x="0" y="697883"/>
                  </a:cubicBezTo>
                  <a:close/>
                </a:path>
              </a:pathLst>
            </a:custGeom>
          </p:spPr>
          <p:style>
            <a:lnRef idx="2">
              <a:schemeClr val="lt2">
                <a:hueOff val="0"/>
                <a:satOff val="0"/>
                <a:lumOff val="0"/>
                <a:alphaOff val="0"/>
              </a:schemeClr>
            </a:lnRef>
            <a:fillRef idx="1">
              <a:schemeClr val="dk2">
                <a:hueOff val="0"/>
                <a:satOff val="0"/>
                <a:lumOff val="0"/>
                <a:alphaOff val="0"/>
              </a:schemeClr>
            </a:fillRef>
            <a:effectRef idx="0">
              <a:schemeClr val="dk2">
                <a:hueOff val="0"/>
                <a:satOff val="0"/>
                <a:lumOff val="0"/>
                <a:alphaOff val="0"/>
              </a:schemeClr>
            </a:effectRef>
            <a:fontRef idx="minor">
              <a:schemeClr val="lt1"/>
            </a:fontRef>
          </p:style>
          <p:txBody>
            <a:bodyPr spcFirstLastPara="0" vert="horz" wrap="square" lIns="219645" tIns="219645" rIns="219645" bIns="219645" numCol="1" spcCol="1270" anchor="ctr" anchorCtr="0">
              <a:noAutofit/>
            </a:bodyPr>
            <a:lstStyle/>
            <a:p>
              <a:pPr lvl="0" algn="ctr" defTabSz="533400">
                <a:lnSpc>
                  <a:spcPct val="90000"/>
                </a:lnSpc>
                <a:spcBef>
                  <a:spcPct val="0"/>
                </a:spcBef>
                <a:spcAft>
                  <a:spcPct val="35000"/>
                </a:spcAft>
              </a:pPr>
              <a:r>
                <a:rPr lang="en-US" sz="1100" b="1" kern="1200" dirty="0" smtClean="0">
                  <a:latin typeface="Helvetica" pitchFamily="34" charset="0"/>
                </a:rPr>
                <a:t>Competition</a:t>
              </a:r>
              <a:endParaRPr lang="en-AU" sz="1100" b="1" kern="1200" dirty="0">
                <a:latin typeface="Helvetica" pitchFamily="34" charset="0"/>
              </a:endParaRPr>
            </a:p>
          </p:txBody>
        </p:sp>
        <p:sp>
          <p:nvSpPr>
            <p:cNvPr id="8" name="Freeform 7"/>
            <p:cNvSpPr/>
            <p:nvPr/>
          </p:nvSpPr>
          <p:spPr>
            <a:xfrm rot="2160000">
              <a:off x="4349248" y="2445501"/>
              <a:ext cx="370119" cy="471071"/>
            </a:xfrm>
            <a:custGeom>
              <a:avLst/>
              <a:gdLst>
                <a:gd name="connsiteX0" fmla="*/ 0 w 370119"/>
                <a:gd name="connsiteY0" fmla="*/ 94214 h 471071"/>
                <a:gd name="connsiteX1" fmla="*/ 185060 w 370119"/>
                <a:gd name="connsiteY1" fmla="*/ 94214 h 471071"/>
                <a:gd name="connsiteX2" fmla="*/ 185060 w 370119"/>
                <a:gd name="connsiteY2" fmla="*/ 0 h 471071"/>
                <a:gd name="connsiteX3" fmla="*/ 370119 w 370119"/>
                <a:gd name="connsiteY3" fmla="*/ 235536 h 471071"/>
                <a:gd name="connsiteX4" fmla="*/ 185060 w 370119"/>
                <a:gd name="connsiteY4" fmla="*/ 471071 h 471071"/>
                <a:gd name="connsiteX5" fmla="*/ 185060 w 370119"/>
                <a:gd name="connsiteY5" fmla="*/ 376857 h 471071"/>
                <a:gd name="connsiteX6" fmla="*/ 0 w 370119"/>
                <a:gd name="connsiteY6" fmla="*/ 376857 h 471071"/>
                <a:gd name="connsiteX7" fmla="*/ 0 w 370119"/>
                <a:gd name="connsiteY7" fmla="*/ 94214 h 4710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70119" h="471071">
                  <a:moveTo>
                    <a:pt x="0" y="94214"/>
                  </a:moveTo>
                  <a:lnTo>
                    <a:pt x="185060" y="94214"/>
                  </a:lnTo>
                  <a:lnTo>
                    <a:pt x="185060" y="0"/>
                  </a:lnTo>
                  <a:lnTo>
                    <a:pt x="370119" y="235536"/>
                  </a:lnTo>
                  <a:lnTo>
                    <a:pt x="185060" y="471071"/>
                  </a:lnTo>
                  <a:lnTo>
                    <a:pt x="185060" y="376857"/>
                  </a:lnTo>
                  <a:lnTo>
                    <a:pt x="0" y="376857"/>
                  </a:lnTo>
                  <a:lnTo>
                    <a:pt x="0" y="94214"/>
                  </a:lnTo>
                  <a:close/>
                </a:path>
              </a:pathLst>
            </a:custGeom>
          </p:spPr>
          <p:style>
            <a:lnRef idx="0">
              <a:schemeClr val="dk2">
                <a:tint val="60000"/>
                <a:hueOff val="0"/>
                <a:satOff val="0"/>
                <a:lumOff val="0"/>
                <a:alphaOff val="0"/>
              </a:schemeClr>
            </a:lnRef>
            <a:fillRef idx="1">
              <a:schemeClr val="dk2">
                <a:tint val="60000"/>
                <a:hueOff val="0"/>
                <a:satOff val="0"/>
                <a:lumOff val="0"/>
                <a:alphaOff val="0"/>
              </a:schemeClr>
            </a:fillRef>
            <a:effectRef idx="0">
              <a:schemeClr val="dk2">
                <a:tint val="60000"/>
                <a:hueOff val="0"/>
                <a:satOff val="0"/>
                <a:lumOff val="0"/>
                <a:alphaOff val="0"/>
              </a:schemeClr>
            </a:effectRef>
            <a:fontRef idx="minor">
              <a:schemeClr val="lt1"/>
            </a:fontRef>
          </p:style>
          <p:txBody>
            <a:bodyPr spcFirstLastPara="0" vert="horz" wrap="square" lIns="0" tIns="94213" rIns="111035" bIns="94214" numCol="1" spcCol="1270" anchor="ctr" anchorCtr="0">
              <a:noAutofit/>
            </a:bodyPr>
            <a:lstStyle/>
            <a:p>
              <a:pPr lvl="0" algn="ctr" defTabSz="444500">
                <a:lnSpc>
                  <a:spcPct val="90000"/>
                </a:lnSpc>
                <a:spcBef>
                  <a:spcPct val="0"/>
                </a:spcBef>
                <a:spcAft>
                  <a:spcPct val="35000"/>
                </a:spcAft>
              </a:pPr>
              <a:endParaRPr lang="en-AU" sz="1100" b="1" kern="1200" dirty="0">
                <a:latin typeface="Helvetica" pitchFamily="34" charset="0"/>
              </a:endParaRPr>
            </a:p>
          </p:txBody>
        </p:sp>
        <p:sp>
          <p:nvSpPr>
            <p:cNvPr id="9" name="Freeform 8"/>
            <p:cNvSpPr/>
            <p:nvPr/>
          </p:nvSpPr>
          <p:spPr>
            <a:xfrm>
              <a:off x="4691982" y="2604753"/>
              <a:ext cx="1395765" cy="1395765"/>
            </a:xfrm>
            <a:custGeom>
              <a:avLst/>
              <a:gdLst>
                <a:gd name="connsiteX0" fmla="*/ 0 w 1395765"/>
                <a:gd name="connsiteY0" fmla="*/ 697883 h 1395765"/>
                <a:gd name="connsiteX1" fmla="*/ 697883 w 1395765"/>
                <a:gd name="connsiteY1" fmla="*/ 0 h 1395765"/>
                <a:gd name="connsiteX2" fmla="*/ 1395766 w 1395765"/>
                <a:gd name="connsiteY2" fmla="*/ 697883 h 1395765"/>
                <a:gd name="connsiteX3" fmla="*/ 697883 w 1395765"/>
                <a:gd name="connsiteY3" fmla="*/ 1395766 h 1395765"/>
                <a:gd name="connsiteX4" fmla="*/ 0 w 1395765"/>
                <a:gd name="connsiteY4" fmla="*/ 697883 h 13957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95765" h="1395765">
                  <a:moveTo>
                    <a:pt x="0" y="697883"/>
                  </a:moveTo>
                  <a:cubicBezTo>
                    <a:pt x="0" y="312453"/>
                    <a:pt x="312453" y="0"/>
                    <a:pt x="697883" y="0"/>
                  </a:cubicBezTo>
                  <a:cubicBezTo>
                    <a:pt x="1083313" y="0"/>
                    <a:pt x="1395766" y="312453"/>
                    <a:pt x="1395766" y="697883"/>
                  </a:cubicBezTo>
                  <a:cubicBezTo>
                    <a:pt x="1395766" y="1083313"/>
                    <a:pt x="1083313" y="1395766"/>
                    <a:pt x="697883" y="1395766"/>
                  </a:cubicBezTo>
                  <a:cubicBezTo>
                    <a:pt x="312453" y="1395766"/>
                    <a:pt x="0" y="1083313"/>
                    <a:pt x="0" y="697883"/>
                  </a:cubicBezTo>
                  <a:close/>
                </a:path>
              </a:pathLst>
            </a:custGeom>
          </p:spPr>
          <p:style>
            <a:lnRef idx="2">
              <a:schemeClr val="lt2">
                <a:hueOff val="0"/>
                <a:satOff val="0"/>
                <a:lumOff val="0"/>
                <a:alphaOff val="0"/>
              </a:schemeClr>
            </a:lnRef>
            <a:fillRef idx="1">
              <a:schemeClr val="dk2">
                <a:hueOff val="0"/>
                <a:satOff val="0"/>
                <a:lumOff val="0"/>
                <a:alphaOff val="0"/>
              </a:schemeClr>
            </a:fillRef>
            <a:effectRef idx="0">
              <a:schemeClr val="dk2">
                <a:hueOff val="0"/>
                <a:satOff val="0"/>
                <a:lumOff val="0"/>
                <a:alphaOff val="0"/>
              </a:schemeClr>
            </a:effectRef>
            <a:fontRef idx="minor">
              <a:schemeClr val="lt1"/>
            </a:fontRef>
          </p:style>
          <p:txBody>
            <a:bodyPr spcFirstLastPara="0" vert="horz" wrap="square" lIns="219645" tIns="219645" rIns="219645" bIns="219645" numCol="1" spcCol="1270" anchor="ctr" anchorCtr="0">
              <a:noAutofit/>
            </a:bodyPr>
            <a:lstStyle/>
            <a:p>
              <a:pPr lvl="0" algn="ctr" defTabSz="533400">
                <a:lnSpc>
                  <a:spcPct val="90000"/>
                </a:lnSpc>
                <a:spcBef>
                  <a:spcPct val="0"/>
                </a:spcBef>
                <a:spcAft>
                  <a:spcPct val="35000"/>
                </a:spcAft>
              </a:pPr>
              <a:r>
                <a:rPr lang="en-US" sz="1100" b="1" kern="1200" dirty="0" smtClean="0">
                  <a:latin typeface="Helvetica" pitchFamily="34" charset="0"/>
                </a:rPr>
                <a:t>Economic</a:t>
              </a:r>
              <a:endParaRPr lang="en-AU" sz="1100" b="1" kern="1200" dirty="0">
                <a:latin typeface="Helvetica" pitchFamily="34" charset="0"/>
              </a:endParaRPr>
            </a:p>
          </p:txBody>
        </p:sp>
        <p:sp>
          <p:nvSpPr>
            <p:cNvPr id="10" name="Freeform 9"/>
            <p:cNvSpPr/>
            <p:nvPr/>
          </p:nvSpPr>
          <p:spPr>
            <a:xfrm rot="17280000">
              <a:off x="4884486" y="4052942"/>
              <a:ext cx="370119" cy="471072"/>
            </a:xfrm>
            <a:custGeom>
              <a:avLst/>
              <a:gdLst>
                <a:gd name="connsiteX0" fmla="*/ 0 w 370119"/>
                <a:gd name="connsiteY0" fmla="*/ 94214 h 471071"/>
                <a:gd name="connsiteX1" fmla="*/ 185060 w 370119"/>
                <a:gd name="connsiteY1" fmla="*/ 94214 h 471071"/>
                <a:gd name="connsiteX2" fmla="*/ 185060 w 370119"/>
                <a:gd name="connsiteY2" fmla="*/ 0 h 471071"/>
                <a:gd name="connsiteX3" fmla="*/ 370119 w 370119"/>
                <a:gd name="connsiteY3" fmla="*/ 235536 h 471071"/>
                <a:gd name="connsiteX4" fmla="*/ 185060 w 370119"/>
                <a:gd name="connsiteY4" fmla="*/ 471071 h 471071"/>
                <a:gd name="connsiteX5" fmla="*/ 185060 w 370119"/>
                <a:gd name="connsiteY5" fmla="*/ 376857 h 471071"/>
                <a:gd name="connsiteX6" fmla="*/ 0 w 370119"/>
                <a:gd name="connsiteY6" fmla="*/ 376857 h 471071"/>
                <a:gd name="connsiteX7" fmla="*/ 0 w 370119"/>
                <a:gd name="connsiteY7" fmla="*/ 94214 h 4710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70119" h="471071">
                  <a:moveTo>
                    <a:pt x="370119" y="376857"/>
                  </a:moveTo>
                  <a:lnTo>
                    <a:pt x="185059" y="376857"/>
                  </a:lnTo>
                  <a:lnTo>
                    <a:pt x="185059" y="471071"/>
                  </a:lnTo>
                  <a:lnTo>
                    <a:pt x="0" y="235535"/>
                  </a:lnTo>
                  <a:lnTo>
                    <a:pt x="185059" y="0"/>
                  </a:lnTo>
                  <a:lnTo>
                    <a:pt x="185059" y="94214"/>
                  </a:lnTo>
                  <a:lnTo>
                    <a:pt x="370119" y="94214"/>
                  </a:lnTo>
                  <a:lnTo>
                    <a:pt x="370119" y="376857"/>
                  </a:lnTo>
                  <a:close/>
                </a:path>
              </a:pathLst>
            </a:custGeom>
          </p:spPr>
          <p:style>
            <a:lnRef idx="0">
              <a:schemeClr val="dk2">
                <a:tint val="60000"/>
                <a:hueOff val="0"/>
                <a:satOff val="0"/>
                <a:lumOff val="0"/>
                <a:alphaOff val="0"/>
              </a:schemeClr>
            </a:lnRef>
            <a:fillRef idx="1">
              <a:schemeClr val="dk2">
                <a:tint val="60000"/>
                <a:hueOff val="0"/>
                <a:satOff val="0"/>
                <a:lumOff val="0"/>
                <a:alphaOff val="0"/>
              </a:schemeClr>
            </a:fillRef>
            <a:effectRef idx="0">
              <a:schemeClr val="dk2">
                <a:tint val="60000"/>
                <a:hueOff val="0"/>
                <a:satOff val="0"/>
                <a:lumOff val="0"/>
                <a:alphaOff val="0"/>
              </a:schemeClr>
            </a:effectRef>
            <a:fontRef idx="minor">
              <a:schemeClr val="lt1"/>
            </a:fontRef>
          </p:style>
          <p:txBody>
            <a:bodyPr spcFirstLastPara="0" vert="horz" wrap="square" lIns="111035" tIns="94215" rIns="0" bIns="94213" numCol="1" spcCol="1270" anchor="ctr" anchorCtr="0">
              <a:noAutofit/>
            </a:bodyPr>
            <a:lstStyle/>
            <a:p>
              <a:pPr lvl="0" algn="ctr" defTabSz="444500">
                <a:lnSpc>
                  <a:spcPct val="90000"/>
                </a:lnSpc>
                <a:spcBef>
                  <a:spcPct val="0"/>
                </a:spcBef>
                <a:spcAft>
                  <a:spcPct val="35000"/>
                </a:spcAft>
              </a:pPr>
              <a:endParaRPr lang="en-AU" sz="1100" b="1" kern="1200" dirty="0">
                <a:latin typeface="Helvetica" pitchFamily="34" charset="0"/>
              </a:endParaRPr>
            </a:p>
          </p:txBody>
        </p:sp>
        <p:sp>
          <p:nvSpPr>
            <p:cNvPr id="11" name="Freeform 10"/>
            <p:cNvSpPr/>
            <p:nvPr/>
          </p:nvSpPr>
          <p:spPr>
            <a:xfrm>
              <a:off x="4044869" y="4596364"/>
              <a:ext cx="1395765" cy="1395765"/>
            </a:xfrm>
            <a:custGeom>
              <a:avLst/>
              <a:gdLst>
                <a:gd name="connsiteX0" fmla="*/ 0 w 1395765"/>
                <a:gd name="connsiteY0" fmla="*/ 697883 h 1395765"/>
                <a:gd name="connsiteX1" fmla="*/ 697883 w 1395765"/>
                <a:gd name="connsiteY1" fmla="*/ 0 h 1395765"/>
                <a:gd name="connsiteX2" fmla="*/ 1395766 w 1395765"/>
                <a:gd name="connsiteY2" fmla="*/ 697883 h 1395765"/>
                <a:gd name="connsiteX3" fmla="*/ 697883 w 1395765"/>
                <a:gd name="connsiteY3" fmla="*/ 1395766 h 1395765"/>
                <a:gd name="connsiteX4" fmla="*/ 0 w 1395765"/>
                <a:gd name="connsiteY4" fmla="*/ 697883 h 13957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95765" h="1395765">
                  <a:moveTo>
                    <a:pt x="0" y="697883"/>
                  </a:moveTo>
                  <a:cubicBezTo>
                    <a:pt x="0" y="312453"/>
                    <a:pt x="312453" y="0"/>
                    <a:pt x="697883" y="0"/>
                  </a:cubicBezTo>
                  <a:cubicBezTo>
                    <a:pt x="1083313" y="0"/>
                    <a:pt x="1395766" y="312453"/>
                    <a:pt x="1395766" y="697883"/>
                  </a:cubicBezTo>
                  <a:cubicBezTo>
                    <a:pt x="1395766" y="1083313"/>
                    <a:pt x="1083313" y="1395766"/>
                    <a:pt x="697883" y="1395766"/>
                  </a:cubicBezTo>
                  <a:cubicBezTo>
                    <a:pt x="312453" y="1395766"/>
                    <a:pt x="0" y="1083313"/>
                    <a:pt x="0" y="697883"/>
                  </a:cubicBezTo>
                  <a:close/>
                </a:path>
              </a:pathLst>
            </a:custGeom>
          </p:spPr>
          <p:style>
            <a:lnRef idx="2">
              <a:schemeClr val="lt2">
                <a:hueOff val="0"/>
                <a:satOff val="0"/>
                <a:lumOff val="0"/>
                <a:alphaOff val="0"/>
              </a:schemeClr>
            </a:lnRef>
            <a:fillRef idx="1">
              <a:schemeClr val="dk2">
                <a:hueOff val="0"/>
                <a:satOff val="0"/>
                <a:lumOff val="0"/>
                <a:alphaOff val="0"/>
              </a:schemeClr>
            </a:fillRef>
            <a:effectRef idx="0">
              <a:schemeClr val="dk2">
                <a:hueOff val="0"/>
                <a:satOff val="0"/>
                <a:lumOff val="0"/>
                <a:alphaOff val="0"/>
              </a:schemeClr>
            </a:effectRef>
            <a:fontRef idx="minor">
              <a:schemeClr val="lt1"/>
            </a:fontRef>
          </p:style>
          <p:txBody>
            <a:bodyPr spcFirstLastPara="0" vert="horz" wrap="square" lIns="219645" tIns="219645" rIns="219645" bIns="219645" numCol="1" spcCol="1270" anchor="ctr" anchorCtr="0">
              <a:noAutofit/>
            </a:bodyPr>
            <a:lstStyle/>
            <a:p>
              <a:pPr lvl="0" algn="ctr" defTabSz="533400">
                <a:lnSpc>
                  <a:spcPct val="90000"/>
                </a:lnSpc>
                <a:spcBef>
                  <a:spcPct val="0"/>
                </a:spcBef>
                <a:spcAft>
                  <a:spcPct val="35000"/>
                </a:spcAft>
              </a:pPr>
              <a:r>
                <a:rPr lang="en-US" sz="1100" b="1" kern="1200" dirty="0" smtClean="0">
                  <a:latin typeface="Helvetica" pitchFamily="34" charset="0"/>
                </a:rPr>
                <a:t>Social</a:t>
              </a:r>
              <a:endParaRPr lang="en-AU" sz="1100" b="1" kern="1200" dirty="0">
                <a:latin typeface="Helvetica" pitchFamily="34" charset="0"/>
              </a:endParaRPr>
            </a:p>
          </p:txBody>
        </p:sp>
        <p:sp>
          <p:nvSpPr>
            <p:cNvPr id="12" name="Freeform 11"/>
            <p:cNvSpPr/>
            <p:nvPr/>
          </p:nvSpPr>
          <p:spPr>
            <a:xfrm rot="21600000">
              <a:off x="3521115" y="5058710"/>
              <a:ext cx="370120" cy="471072"/>
            </a:xfrm>
            <a:custGeom>
              <a:avLst/>
              <a:gdLst>
                <a:gd name="connsiteX0" fmla="*/ 0 w 370119"/>
                <a:gd name="connsiteY0" fmla="*/ 94214 h 471071"/>
                <a:gd name="connsiteX1" fmla="*/ 185060 w 370119"/>
                <a:gd name="connsiteY1" fmla="*/ 94214 h 471071"/>
                <a:gd name="connsiteX2" fmla="*/ 185060 w 370119"/>
                <a:gd name="connsiteY2" fmla="*/ 0 h 471071"/>
                <a:gd name="connsiteX3" fmla="*/ 370119 w 370119"/>
                <a:gd name="connsiteY3" fmla="*/ 235536 h 471071"/>
                <a:gd name="connsiteX4" fmla="*/ 185060 w 370119"/>
                <a:gd name="connsiteY4" fmla="*/ 471071 h 471071"/>
                <a:gd name="connsiteX5" fmla="*/ 185060 w 370119"/>
                <a:gd name="connsiteY5" fmla="*/ 376857 h 471071"/>
                <a:gd name="connsiteX6" fmla="*/ 0 w 370119"/>
                <a:gd name="connsiteY6" fmla="*/ 376857 h 471071"/>
                <a:gd name="connsiteX7" fmla="*/ 0 w 370119"/>
                <a:gd name="connsiteY7" fmla="*/ 94214 h 4710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70119" h="471071">
                  <a:moveTo>
                    <a:pt x="370119" y="376857"/>
                  </a:moveTo>
                  <a:lnTo>
                    <a:pt x="185059" y="376857"/>
                  </a:lnTo>
                  <a:lnTo>
                    <a:pt x="185059" y="471071"/>
                  </a:lnTo>
                  <a:lnTo>
                    <a:pt x="0" y="235535"/>
                  </a:lnTo>
                  <a:lnTo>
                    <a:pt x="185059" y="0"/>
                  </a:lnTo>
                  <a:lnTo>
                    <a:pt x="185059" y="94214"/>
                  </a:lnTo>
                  <a:lnTo>
                    <a:pt x="370119" y="94214"/>
                  </a:lnTo>
                  <a:lnTo>
                    <a:pt x="370119" y="376857"/>
                  </a:lnTo>
                  <a:close/>
                </a:path>
              </a:pathLst>
            </a:custGeom>
          </p:spPr>
          <p:style>
            <a:lnRef idx="0">
              <a:schemeClr val="dk2">
                <a:tint val="60000"/>
                <a:hueOff val="0"/>
                <a:satOff val="0"/>
                <a:lumOff val="0"/>
                <a:alphaOff val="0"/>
              </a:schemeClr>
            </a:lnRef>
            <a:fillRef idx="1">
              <a:schemeClr val="dk2">
                <a:tint val="60000"/>
                <a:hueOff val="0"/>
                <a:satOff val="0"/>
                <a:lumOff val="0"/>
                <a:alphaOff val="0"/>
              </a:schemeClr>
            </a:fillRef>
            <a:effectRef idx="0">
              <a:schemeClr val="dk2">
                <a:tint val="60000"/>
                <a:hueOff val="0"/>
                <a:satOff val="0"/>
                <a:lumOff val="0"/>
                <a:alphaOff val="0"/>
              </a:schemeClr>
            </a:effectRef>
            <a:fontRef idx="minor">
              <a:schemeClr val="lt1"/>
            </a:fontRef>
          </p:style>
          <p:txBody>
            <a:bodyPr spcFirstLastPara="0" vert="horz" wrap="square" lIns="111036" tIns="94215" rIns="1" bIns="94214" numCol="1" spcCol="1270" anchor="ctr" anchorCtr="0">
              <a:noAutofit/>
            </a:bodyPr>
            <a:lstStyle/>
            <a:p>
              <a:pPr lvl="0" algn="ctr" defTabSz="444500">
                <a:lnSpc>
                  <a:spcPct val="90000"/>
                </a:lnSpc>
                <a:spcBef>
                  <a:spcPct val="0"/>
                </a:spcBef>
                <a:spcAft>
                  <a:spcPct val="35000"/>
                </a:spcAft>
              </a:pPr>
              <a:endParaRPr lang="en-AU" sz="1100" b="1" kern="1200" dirty="0">
                <a:latin typeface="Helvetica" pitchFamily="34" charset="0"/>
              </a:endParaRPr>
            </a:p>
          </p:txBody>
        </p:sp>
        <p:sp>
          <p:nvSpPr>
            <p:cNvPr id="13" name="Freeform 12"/>
            <p:cNvSpPr/>
            <p:nvPr/>
          </p:nvSpPr>
          <p:spPr>
            <a:xfrm>
              <a:off x="1950764" y="4596364"/>
              <a:ext cx="1395765" cy="1395765"/>
            </a:xfrm>
            <a:custGeom>
              <a:avLst/>
              <a:gdLst>
                <a:gd name="connsiteX0" fmla="*/ 0 w 1395765"/>
                <a:gd name="connsiteY0" fmla="*/ 697883 h 1395765"/>
                <a:gd name="connsiteX1" fmla="*/ 697883 w 1395765"/>
                <a:gd name="connsiteY1" fmla="*/ 0 h 1395765"/>
                <a:gd name="connsiteX2" fmla="*/ 1395766 w 1395765"/>
                <a:gd name="connsiteY2" fmla="*/ 697883 h 1395765"/>
                <a:gd name="connsiteX3" fmla="*/ 697883 w 1395765"/>
                <a:gd name="connsiteY3" fmla="*/ 1395766 h 1395765"/>
                <a:gd name="connsiteX4" fmla="*/ 0 w 1395765"/>
                <a:gd name="connsiteY4" fmla="*/ 697883 h 13957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95765" h="1395765">
                  <a:moveTo>
                    <a:pt x="0" y="697883"/>
                  </a:moveTo>
                  <a:cubicBezTo>
                    <a:pt x="0" y="312453"/>
                    <a:pt x="312453" y="0"/>
                    <a:pt x="697883" y="0"/>
                  </a:cubicBezTo>
                  <a:cubicBezTo>
                    <a:pt x="1083313" y="0"/>
                    <a:pt x="1395766" y="312453"/>
                    <a:pt x="1395766" y="697883"/>
                  </a:cubicBezTo>
                  <a:cubicBezTo>
                    <a:pt x="1395766" y="1083313"/>
                    <a:pt x="1083313" y="1395766"/>
                    <a:pt x="697883" y="1395766"/>
                  </a:cubicBezTo>
                  <a:cubicBezTo>
                    <a:pt x="312453" y="1395766"/>
                    <a:pt x="0" y="1083313"/>
                    <a:pt x="0" y="697883"/>
                  </a:cubicBezTo>
                  <a:close/>
                </a:path>
              </a:pathLst>
            </a:custGeom>
          </p:spPr>
          <p:style>
            <a:lnRef idx="2">
              <a:schemeClr val="lt2">
                <a:hueOff val="0"/>
                <a:satOff val="0"/>
                <a:lumOff val="0"/>
                <a:alphaOff val="0"/>
              </a:schemeClr>
            </a:lnRef>
            <a:fillRef idx="1">
              <a:schemeClr val="dk2">
                <a:hueOff val="0"/>
                <a:satOff val="0"/>
                <a:lumOff val="0"/>
                <a:alphaOff val="0"/>
              </a:schemeClr>
            </a:fillRef>
            <a:effectRef idx="0">
              <a:schemeClr val="dk2">
                <a:hueOff val="0"/>
                <a:satOff val="0"/>
                <a:lumOff val="0"/>
                <a:alphaOff val="0"/>
              </a:schemeClr>
            </a:effectRef>
            <a:fontRef idx="minor">
              <a:schemeClr val="lt1"/>
            </a:fontRef>
          </p:style>
          <p:txBody>
            <a:bodyPr spcFirstLastPara="0" vert="horz" wrap="square" lIns="219645" tIns="219645" rIns="219645" bIns="219645" numCol="1" spcCol="1270" anchor="ctr" anchorCtr="0">
              <a:noAutofit/>
            </a:bodyPr>
            <a:lstStyle/>
            <a:p>
              <a:pPr lvl="0" algn="ctr" defTabSz="533400">
                <a:lnSpc>
                  <a:spcPct val="90000"/>
                </a:lnSpc>
                <a:spcBef>
                  <a:spcPct val="0"/>
                </a:spcBef>
                <a:spcAft>
                  <a:spcPct val="35000"/>
                </a:spcAft>
              </a:pPr>
              <a:r>
                <a:rPr lang="en-US" sz="1100" b="1" kern="1200" dirty="0" smtClean="0">
                  <a:latin typeface="Helvetica" pitchFamily="34" charset="0"/>
                </a:rPr>
                <a:t>Technological</a:t>
              </a:r>
              <a:endParaRPr lang="en-AU" sz="1100" b="1" kern="1200" dirty="0">
                <a:latin typeface="Helvetica" pitchFamily="34" charset="0"/>
              </a:endParaRPr>
            </a:p>
          </p:txBody>
        </p:sp>
        <p:sp>
          <p:nvSpPr>
            <p:cNvPr id="14" name="Freeform 13"/>
            <p:cNvSpPr/>
            <p:nvPr/>
          </p:nvSpPr>
          <p:spPr>
            <a:xfrm rot="25920000">
              <a:off x="2143268" y="4072867"/>
              <a:ext cx="370119" cy="471072"/>
            </a:xfrm>
            <a:custGeom>
              <a:avLst/>
              <a:gdLst>
                <a:gd name="connsiteX0" fmla="*/ 0 w 370119"/>
                <a:gd name="connsiteY0" fmla="*/ 94214 h 471071"/>
                <a:gd name="connsiteX1" fmla="*/ 185060 w 370119"/>
                <a:gd name="connsiteY1" fmla="*/ 94214 h 471071"/>
                <a:gd name="connsiteX2" fmla="*/ 185060 w 370119"/>
                <a:gd name="connsiteY2" fmla="*/ 0 h 471071"/>
                <a:gd name="connsiteX3" fmla="*/ 370119 w 370119"/>
                <a:gd name="connsiteY3" fmla="*/ 235536 h 471071"/>
                <a:gd name="connsiteX4" fmla="*/ 185060 w 370119"/>
                <a:gd name="connsiteY4" fmla="*/ 471071 h 471071"/>
                <a:gd name="connsiteX5" fmla="*/ 185060 w 370119"/>
                <a:gd name="connsiteY5" fmla="*/ 376857 h 471071"/>
                <a:gd name="connsiteX6" fmla="*/ 0 w 370119"/>
                <a:gd name="connsiteY6" fmla="*/ 376857 h 471071"/>
                <a:gd name="connsiteX7" fmla="*/ 0 w 370119"/>
                <a:gd name="connsiteY7" fmla="*/ 94214 h 4710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70119" h="471071">
                  <a:moveTo>
                    <a:pt x="370119" y="376857"/>
                  </a:moveTo>
                  <a:lnTo>
                    <a:pt x="185059" y="376857"/>
                  </a:lnTo>
                  <a:lnTo>
                    <a:pt x="185059" y="471071"/>
                  </a:lnTo>
                  <a:lnTo>
                    <a:pt x="0" y="235535"/>
                  </a:lnTo>
                  <a:lnTo>
                    <a:pt x="185059" y="0"/>
                  </a:lnTo>
                  <a:lnTo>
                    <a:pt x="185059" y="94214"/>
                  </a:lnTo>
                  <a:lnTo>
                    <a:pt x="370119" y="94214"/>
                  </a:lnTo>
                  <a:lnTo>
                    <a:pt x="370119" y="376857"/>
                  </a:lnTo>
                  <a:close/>
                </a:path>
              </a:pathLst>
            </a:custGeom>
          </p:spPr>
          <p:style>
            <a:lnRef idx="0">
              <a:schemeClr val="dk2">
                <a:tint val="60000"/>
                <a:hueOff val="0"/>
                <a:satOff val="0"/>
                <a:lumOff val="0"/>
                <a:alphaOff val="0"/>
              </a:schemeClr>
            </a:lnRef>
            <a:fillRef idx="1">
              <a:schemeClr val="dk2">
                <a:tint val="60000"/>
                <a:hueOff val="0"/>
                <a:satOff val="0"/>
                <a:lumOff val="0"/>
                <a:alphaOff val="0"/>
              </a:schemeClr>
            </a:fillRef>
            <a:effectRef idx="0">
              <a:schemeClr val="dk2">
                <a:tint val="60000"/>
                <a:hueOff val="0"/>
                <a:satOff val="0"/>
                <a:lumOff val="0"/>
                <a:alphaOff val="0"/>
              </a:schemeClr>
            </a:effectRef>
            <a:fontRef idx="minor">
              <a:schemeClr val="lt1"/>
            </a:fontRef>
          </p:style>
          <p:txBody>
            <a:bodyPr spcFirstLastPara="0" vert="horz" wrap="square" lIns="111036" tIns="94214" rIns="-1" bIns="94214" numCol="1" spcCol="1270" anchor="ctr" anchorCtr="0">
              <a:noAutofit/>
            </a:bodyPr>
            <a:lstStyle/>
            <a:p>
              <a:pPr lvl="0" algn="ctr" defTabSz="444500">
                <a:lnSpc>
                  <a:spcPct val="90000"/>
                </a:lnSpc>
                <a:spcBef>
                  <a:spcPct val="0"/>
                </a:spcBef>
                <a:spcAft>
                  <a:spcPct val="35000"/>
                </a:spcAft>
              </a:pPr>
              <a:endParaRPr lang="en-AU" sz="1100" b="1" kern="1200" dirty="0">
                <a:latin typeface="Helvetica" pitchFamily="34" charset="0"/>
              </a:endParaRPr>
            </a:p>
          </p:txBody>
        </p:sp>
        <p:sp>
          <p:nvSpPr>
            <p:cNvPr id="15" name="Freeform 14"/>
            <p:cNvSpPr/>
            <p:nvPr/>
          </p:nvSpPr>
          <p:spPr>
            <a:xfrm>
              <a:off x="1303651" y="2604753"/>
              <a:ext cx="1395765" cy="1395765"/>
            </a:xfrm>
            <a:custGeom>
              <a:avLst/>
              <a:gdLst>
                <a:gd name="connsiteX0" fmla="*/ 0 w 1395765"/>
                <a:gd name="connsiteY0" fmla="*/ 697883 h 1395765"/>
                <a:gd name="connsiteX1" fmla="*/ 697883 w 1395765"/>
                <a:gd name="connsiteY1" fmla="*/ 0 h 1395765"/>
                <a:gd name="connsiteX2" fmla="*/ 1395766 w 1395765"/>
                <a:gd name="connsiteY2" fmla="*/ 697883 h 1395765"/>
                <a:gd name="connsiteX3" fmla="*/ 697883 w 1395765"/>
                <a:gd name="connsiteY3" fmla="*/ 1395766 h 1395765"/>
                <a:gd name="connsiteX4" fmla="*/ 0 w 1395765"/>
                <a:gd name="connsiteY4" fmla="*/ 697883 h 13957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95765" h="1395765">
                  <a:moveTo>
                    <a:pt x="0" y="697883"/>
                  </a:moveTo>
                  <a:cubicBezTo>
                    <a:pt x="0" y="312453"/>
                    <a:pt x="312453" y="0"/>
                    <a:pt x="697883" y="0"/>
                  </a:cubicBezTo>
                  <a:cubicBezTo>
                    <a:pt x="1083313" y="0"/>
                    <a:pt x="1395766" y="312453"/>
                    <a:pt x="1395766" y="697883"/>
                  </a:cubicBezTo>
                  <a:cubicBezTo>
                    <a:pt x="1395766" y="1083313"/>
                    <a:pt x="1083313" y="1395766"/>
                    <a:pt x="697883" y="1395766"/>
                  </a:cubicBezTo>
                  <a:cubicBezTo>
                    <a:pt x="312453" y="1395766"/>
                    <a:pt x="0" y="1083313"/>
                    <a:pt x="0" y="697883"/>
                  </a:cubicBezTo>
                  <a:close/>
                </a:path>
              </a:pathLst>
            </a:custGeom>
          </p:spPr>
          <p:style>
            <a:lnRef idx="2">
              <a:schemeClr val="lt2">
                <a:hueOff val="0"/>
                <a:satOff val="0"/>
                <a:lumOff val="0"/>
                <a:alphaOff val="0"/>
              </a:schemeClr>
            </a:lnRef>
            <a:fillRef idx="1">
              <a:schemeClr val="dk2">
                <a:hueOff val="0"/>
                <a:satOff val="0"/>
                <a:lumOff val="0"/>
                <a:alphaOff val="0"/>
              </a:schemeClr>
            </a:fillRef>
            <a:effectRef idx="0">
              <a:schemeClr val="dk2">
                <a:hueOff val="0"/>
                <a:satOff val="0"/>
                <a:lumOff val="0"/>
                <a:alphaOff val="0"/>
              </a:schemeClr>
            </a:effectRef>
            <a:fontRef idx="minor">
              <a:schemeClr val="lt1"/>
            </a:fontRef>
          </p:style>
          <p:txBody>
            <a:bodyPr spcFirstLastPara="0" vert="horz" wrap="square" lIns="219645" tIns="219645" rIns="219645" bIns="219645" numCol="1" spcCol="1270" anchor="ctr" anchorCtr="0">
              <a:noAutofit/>
            </a:bodyPr>
            <a:lstStyle/>
            <a:p>
              <a:pPr lvl="0" algn="ctr" defTabSz="533400">
                <a:lnSpc>
                  <a:spcPct val="90000"/>
                </a:lnSpc>
                <a:spcBef>
                  <a:spcPct val="0"/>
                </a:spcBef>
                <a:spcAft>
                  <a:spcPct val="35000"/>
                </a:spcAft>
              </a:pPr>
              <a:r>
                <a:rPr lang="en-US" sz="1100" b="1" kern="1200" dirty="0" smtClean="0">
                  <a:latin typeface="Helvetica" pitchFamily="34" charset="0"/>
                </a:rPr>
                <a:t>Political and Legal</a:t>
              </a:r>
              <a:endParaRPr lang="en-AU" sz="1100" b="1" kern="1200" dirty="0">
                <a:latin typeface="Helvetica" pitchFamily="34" charset="0"/>
              </a:endParaRPr>
            </a:p>
          </p:txBody>
        </p:sp>
        <p:sp>
          <p:nvSpPr>
            <p:cNvPr id="16" name="Freeform 15"/>
            <p:cNvSpPr/>
            <p:nvPr/>
          </p:nvSpPr>
          <p:spPr>
            <a:xfrm rot="19440000">
              <a:off x="2655082" y="2457815"/>
              <a:ext cx="370119" cy="471071"/>
            </a:xfrm>
            <a:custGeom>
              <a:avLst/>
              <a:gdLst>
                <a:gd name="connsiteX0" fmla="*/ 0 w 370119"/>
                <a:gd name="connsiteY0" fmla="*/ 94214 h 471071"/>
                <a:gd name="connsiteX1" fmla="*/ 185060 w 370119"/>
                <a:gd name="connsiteY1" fmla="*/ 94214 h 471071"/>
                <a:gd name="connsiteX2" fmla="*/ 185060 w 370119"/>
                <a:gd name="connsiteY2" fmla="*/ 0 h 471071"/>
                <a:gd name="connsiteX3" fmla="*/ 370119 w 370119"/>
                <a:gd name="connsiteY3" fmla="*/ 235536 h 471071"/>
                <a:gd name="connsiteX4" fmla="*/ 185060 w 370119"/>
                <a:gd name="connsiteY4" fmla="*/ 471071 h 471071"/>
                <a:gd name="connsiteX5" fmla="*/ 185060 w 370119"/>
                <a:gd name="connsiteY5" fmla="*/ 376857 h 471071"/>
                <a:gd name="connsiteX6" fmla="*/ 0 w 370119"/>
                <a:gd name="connsiteY6" fmla="*/ 376857 h 471071"/>
                <a:gd name="connsiteX7" fmla="*/ 0 w 370119"/>
                <a:gd name="connsiteY7" fmla="*/ 94214 h 4710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70119" h="471071">
                  <a:moveTo>
                    <a:pt x="0" y="94214"/>
                  </a:moveTo>
                  <a:lnTo>
                    <a:pt x="185060" y="94214"/>
                  </a:lnTo>
                  <a:lnTo>
                    <a:pt x="185060" y="0"/>
                  </a:lnTo>
                  <a:lnTo>
                    <a:pt x="370119" y="235536"/>
                  </a:lnTo>
                  <a:lnTo>
                    <a:pt x="185060" y="471071"/>
                  </a:lnTo>
                  <a:lnTo>
                    <a:pt x="185060" y="376857"/>
                  </a:lnTo>
                  <a:lnTo>
                    <a:pt x="0" y="376857"/>
                  </a:lnTo>
                  <a:lnTo>
                    <a:pt x="0" y="94214"/>
                  </a:lnTo>
                  <a:close/>
                </a:path>
              </a:pathLst>
            </a:custGeom>
          </p:spPr>
          <p:style>
            <a:lnRef idx="0">
              <a:schemeClr val="dk2">
                <a:tint val="60000"/>
                <a:hueOff val="0"/>
                <a:satOff val="0"/>
                <a:lumOff val="0"/>
                <a:alphaOff val="0"/>
              </a:schemeClr>
            </a:lnRef>
            <a:fillRef idx="1">
              <a:schemeClr val="dk2">
                <a:tint val="60000"/>
                <a:hueOff val="0"/>
                <a:satOff val="0"/>
                <a:lumOff val="0"/>
                <a:alphaOff val="0"/>
              </a:schemeClr>
            </a:fillRef>
            <a:effectRef idx="0">
              <a:schemeClr val="dk2">
                <a:tint val="60000"/>
                <a:hueOff val="0"/>
                <a:satOff val="0"/>
                <a:lumOff val="0"/>
                <a:alphaOff val="0"/>
              </a:schemeClr>
            </a:effectRef>
            <a:fontRef idx="minor">
              <a:schemeClr val="lt1"/>
            </a:fontRef>
          </p:style>
          <p:txBody>
            <a:bodyPr spcFirstLastPara="0" vert="horz" wrap="square" lIns="-1" tIns="94214" rIns="111036" bIns="94213" numCol="1" spcCol="1270" anchor="ctr" anchorCtr="0">
              <a:noAutofit/>
            </a:bodyPr>
            <a:lstStyle/>
            <a:p>
              <a:pPr lvl="0" algn="ctr" defTabSz="444500">
                <a:lnSpc>
                  <a:spcPct val="90000"/>
                </a:lnSpc>
                <a:spcBef>
                  <a:spcPct val="0"/>
                </a:spcBef>
                <a:spcAft>
                  <a:spcPct val="35000"/>
                </a:spcAft>
              </a:pPr>
              <a:endParaRPr lang="en-AU" sz="1100" b="1" kern="1200" dirty="0">
                <a:latin typeface="Helvetica" pitchFamily="34" charset="0"/>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circle(in)">
                                      <p:cBhvr>
                                        <p:cTn id="7" dur="20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6551240" cy="1143000"/>
          </a:xfrm>
        </p:spPr>
        <p:txBody>
          <a:bodyPr>
            <a:normAutofit/>
          </a:bodyPr>
          <a:lstStyle/>
          <a:p>
            <a:pPr algn="ctr"/>
            <a:r>
              <a:rPr lang="en-US" sz="3400" b="1" dirty="0" smtClean="0">
                <a:solidFill>
                  <a:srgbClr val="FF6600"/>
                </a:solidFill>
                <a:latin typeface="Helvetica" pitchFamily="34" charset="0"/>
              </a:rPr>
              <a:t>SWOT Analysis</a:t>
            </a:r>
            <a:endParaRPr lang="en-US" sz="3400" b="1" dirty="0">
              <a:solidFill>
                <a:srgbClr val="FF6600"/>
              </a:solidFill>
              <a:latin typeface="Helvetica" pitchFamily="34" charset="0"/>
            </a:endParaRPr>
          </a:p>
        </p:txBody>
      </p:sp>
      <p:grpSp>
        <p:nvGrpSpPr>
          <p:cNvPr id="3" name="Group 2"/>
          <p:cNvGrpSpPr/>
          <p:nvPr/>
        </p:nvGrpSpPr>
        <p:grpSpPr>
          <a:xfrm>
            <a:off x="1447800" y="1524000"/>
            <a:ext cx="4525962" cy="4525962"/>
            <a:chOff x="1470819" y="1524000"/>
            <a:chExt cx="4525962" cy="4525962"/>
          </a:xfrm>
        </p:grpSpPr>
        <p:sp>
          <p:nvSpPr>
            <p:cNvPr id="5" name="Diamond 4"/>
            <p:cNvSpPr/>
            <p:nvPr/>
          </p:nvSpPr>
          <p:spPr>
            <a:xfrm>
              <a:off x="1470819" y="1524000"/>
              <a:ext cx="4525962" cy="4525962"/>
            </a:xfrm>
            <a:prstGeom prst="diamond">
              <a:avLst/>
            </a:prstGeom>
          </p:spPr>
          <p:style>
            <a:lnRef idx="0">
              <a:schemeClr val="dk2">
                <a:hueOff val="0"/>
                <a:satOff val="0"/>
                <a:lumOff val="0"/>
                <a:alphaOff val="0"/>
              </a:schemeClr>
            </a:lnRef>
            <a:fillRef idx="1">
              <a:schemeClr val="dk2">
                <a:tint val="40000"/>
                <a:hueOff val="0"/>
                <a:satOff val="0"/>
                <a:lumOff val="0"/>
                <a:alphaOff val="0"/>
              </a:schemeClr>
            </a:fillRef>
            <a:effectRef idx="0">
              <a:schemeClr val="dk2">
                <a:tint val="40000"/>
                <a:hueOff val="0"/>
                <a:satOff val="0"/>
                <a:lumOff val="0"/>
                <a:alphaOff val="0"/>
              </a:schemeClr>
            </a:effectRef>
            <a:fontRef idx="minor">
              <a:schemeClr val="dk1">
                <a:hueOff val="0"/>
                <a:satOff val="0"/>
                <a:lumOff val="0"/>
                <a:alphaOff val="0"/>
              </a:schemeClr>
            </a:fontRef>
          </p:style>
        </p:sp>
        <p:sp>
          <p:nvSpPr>
            <p:cNvPr id="6" name="Freeform 5"/>
            <p:cNvSpPr/>
            <p:nvPr/>
          </p:nvSpPr>
          <p:spPr>
            <a:xfrm>
              <a:off x="1900785" y="1953966"/>
              <a:ext cx="1765125" cy="1765125"/>
            </a:xfrm>
            <a:custGeom>
              <a:avLst/>
              <a:gdLst>
                <a:gd name="connsiteX0" fmla="*/ 0 w 1765125"/>
                <a:gd name="connsiteY0" fmla="*/ 294193 h 1765125"/>
                <a:gd name="connsiteX1" fmla="*/ 294193 w 1765125"/>
                <a:gd name="connsiteY1" fmla="*/ 0 h 1765125"/>
                <a:gd name="connsiteX2" fmla="*/ 1470932 w 1765125"/>
                <a:gd name="connsiteY2" fmla="*/ 0 h 1765125"/>
                <a:gd name="connsiteX3" fmla="*/ 1765125 w 1765125"/>
                <a:gd name="connsiteY3" fmla="*/ 294193 h 1765125"/>
                <a:gd name="connsiteX4" fmla="*/ 1765125 w 1765125"/>
                <a:gd name="connsiteY4" fmla="*/ 1470932 h 1765125"/>
                <a:gd name="connsiteX5" fmla="*/ 1470932 w 1765125"/>
                <a:gd name="connsiteY5" fmla="*/ 1765125 h 1765125"/>
                <a:gd name="connsiteX6" fmla="*/ 294193 w 1765125"/>
                <a:gd name="connsiteY6" fmla="*/ 1765125 h 1765125"/>
                <a:gd name="connsiteX7" fmla="*/ 0 w 1765125"/>
                <a:gd name="connsiteY7" fmla="*/ 1470932 h 1765125"/>
                <a:gd name="connsiteX8" fmla="*/ 0 w 1765125"/>
                <a:gd name="connsiteY8" fmla="*/ 294193 h 17651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765125" h="1765125">
                  <a:moveTo>
                    <a:pt x="0" y="294193"/>
                  </a:moveTo>
                  <a:cubicBezTo>
                    <a:pt x="0" y="131715"/>
                    <a:pt x="131715" y="0"/>
                    <a:pt x="294193" y="0"/>
                  </a:cubicBezTo>
                  <a:lnTo>
                    <a:pt x="1470932" y="0"/>
                  </a:lnTo>
                  <a:cubicBezTo>
                    <a:pt x="1633410" y="0"/>
                    <a:pt x="1765125" y="131715"/>
                    <a:pt x="1765125" y="294193"/>
                  </a:cubicBezTo>
                  <a:lnTo>
                    <a:pt x="1765125" y="1470932"/>
                  </a:lnTo>
                  <a:cubicBezTo>
                    <a:pt x="1765125" y="1633410"/>
                    <a:pt x="1633410" y="1765125"/>
                    <a:pt x="1470932" y="1765125"/>
                  </a:cubicBezTo>
                  <a:lnTo>
                    <a:pt x="294193" y="1765125"/>
                  </a:lnTo>
                  <a:cubicBezTo>
                    <a:pt x="131715" y="1765125"/>
                    <a:pt x="0" y="1633410"/>
                    <a:pt x="0" y="1470932"/>
                  </a:cubicBezTo>
                  <a:lnTo>
                    <a:pt x="0" y="294193"/>
                  </a:lnTo>
                  <a:close/>
                </a:path>
              </a:pathLst>
            </a:custGeom>
          </p:spPr>
          <p:style>
            <a:lnRef idx="2">
              <a:schemeClr val="lt2">
                <a:hueOff val="0"/>
                <a:satOff val="0"/>
                <a:lumOff val="0"/>
                <a:alphaOff val="0"/>
              </a:schemeClr>
            </a:lnRef>
            <a:fillRef idx="1">
              <a:schemeClr val="dk2">
                <a:hueOff val="0"/>
                <a:satOff val="0"/>
                <a:lumOff val="0"/>
                <a:alphaOff val="0"/>
              </a:schemeClr>
            </a:fillRef>
            <a:effectRef idx="0">
              <a:schemeClr val="dk2">
                <a:hueOff val="0"/>
                <a:satOff val="0"/>
                <a:lumOff val="0"/>
                <a:alphaOff val="0"/>
              </a:schemeClr>
            </a:effectRef>
            <a:fontRef idx="minor">
              <a:schemeClr val="lt1"/>
            </a:fontRef>
          </p:style>
          <p:txBody>
            <a:bodyPr spcFirstLastPara="0" vert="horz" wrap="square" lIns="158556" tIns="158556" rIns="158556" bIns="158556" numCol="1" spcCol="1270" anchor="ctr" anchorCtr="0">
              <a:noAutofit/>
            </a:bodyPr>
            <a:lstStyle/>
            <a:p>
              <a:pPr lvl="0" algn="ctr" defTabSz="844550">
                <a:lnSpc>
                  <a:spcPct val="90000"/>
                </a:lnSpc>
                <a:spcBef>
                  <a:spcPct val="0"/>
                </a:spcBef>
                <a:spcAft>
                  <a:spcPct val="35000"/>
                </a:spcAft>
              </a:pPr>
              <a:r>
                <a:rPr lang="en-US" sz="1900" kern="1200" dirty="0" smtClean="0"/>
                <a:t>Strengths</a:t>
              </a:r>
              <a:endParaRPr lang="en-US" sz="1900" kern="1200" dirty="0"/>
            </a:p>
          </p:txBody>
        </p:sp>
        <p:sp>
          <p:nvSpPr>
            <p:cNvPr id="8" name="Freeform 7"/>
            <p:cNvSpPr/>
            <p:nvPr/>
          </p:nvSpPr>
          <p:spPr>
            <a:xfrm>
              <a:off x="3801689" y="1953966"/>
              <a:ext cx="1765125" cy="1765125"/>
            </a:xfrm>
            <a:custGeom>
              <a:avLst/>
              <a:gdLst>
                <a:gd name="connsiteX0" fmla="*/ 0 w 1765125"/>
                <a:gd name="connsiteY0" fmla="*/ 294193 h 1765125"/>
                <a:gd name="connsiteX1" fmla="*/ 294193 w 1765125"/>
                <a:gd name="connsiteY1" fmla="*/ 0 h 1765125"/>
                <a:gd name="connsiteX2" fmla="*/ 1470932 w 1765125"/>
                <a:gd name="connsiteY2" fmla="*/ 0 h 1765125"/>
                <a:gd name="connsiteX3" fmla="*/ 1765125 w 1765125"/>
                <a:gd name="connsiteY3" fmla="*/ 294193 h 1765125"/>
                <a:gd name="connsiteX4" fmla="*/ 1765125 w 1765125"/>
                <a:gd name="connsiteY4" fmla="*/ 1470932 h 1765125"/>
                <a:gd name="connsiteX5" fmla="*/ 1470932 w 1765125"/>
                <a:gd name="connsiteY5" fmla="*/ 1765125 h 1765125"/>
                <a:gd name="connsiteX6" fmla="*/ 294193 w 1765125"/>
                <a:gd name="connsiteY6" fmla="*/ 1765125 h 1765125"/>
                <a:gd name="connsiteX7" fmla="*/ 0 w 1765125"/>
                <a:gd name="connsiteY7" fmla="*/ 1470932 h 1765125"/>
                <a:gd name="connsiteX8" fmla="*/ 0 w 1765125"/>
                <a:gd name="connsiteY8" fmla="*/ 294193 h 17651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765125" h="1765125">
                  <a:moveTo>
                    <a:pt x="0" y="294193"/>
                  </a:moveTo>
                  <a:cubicBezTo>
                    <a:pt x="0" y="131715"/>
                    <a:pt x="131715" y="0"/>
                    <a:pt x="294193" y="0"/>
                  </a:cubicBezTo>
                  <a:lnTo>
                    <a:pt x="1470932" y="0"/>
                  </a:lnTo>
                  <a:cubicBezTo>
                    <a:pt x="1633410" y="0"/>
                    <a:pt x="1765125" y="131715"/>
                    <a:pt x="1765125" y="294193"/>
                  </a:cubicBezTo>
                  <a:lnTo>
                    <a:pt x="1765125" y="1470932"/>
                  </a:lnTo>
                  <a:cubicBezTo>
                    <a:pt x="1765125" y="1633410"/>
                    <a:pt x="1633410" y="1765125"/>
                    <a:pt x="1470932" y="1765125"/>
                  </a:cubicBezTo>
                  <a:lnTo>
                    <a:pt x="294193" y="1765125"/>
                  </a:lnTo>
                  <a:cubicBezTo>
                    <a:pt x="131715" y="1765125"/>
                    <a:pt x="0" y="1633410"/>
                    <a:pt x="0" y="1470932"/>
                  </a:cubicBezTo>
                  <a:lnTo>
                    <a:pt x="0" y="294193"/>
                  </a:lnTo>
                  <a:close/>
                </a:path>
              </a:pathLst>
            </a:custGeom>
          </p:spPr>
          <p:style>
            <a:lnRef idx="2">
              <a:schemeClr val="lt2">
                <a:hueOff val="0"/>
                <a:satOff val="0"/>
                <a:lumOff val="0"/>
                <a:alphaOff val="0"/>
              </a:schemeClr>
            </a:lnRef>
            <a:fillRef idx="1">
              <a:schemeClr val="dk2">
                <a:hueOff val="0"/>
                <a:satOff val="0"/>
                <a:lumOff val="0"/>
                <a:alphaOff val="0"/>
              </a:schemeClr>
            </a:fillRef>
            <a:effectRef idx="0">
              <a:schemeClr val="dk2">
                <a:hueOff val="0"/>
                <a:satOff val="0"/>
                <a:lumOff val="0"/>
                <a:alphaOff val="0"/>
              </a:schemeClr>
            </a:effectRef>
            <a:fontRef idx="minor">
              <a:schemeClr val="lt1"/>
            </a:fontRef>
          </p:style>
          <p:txBody>
            <a:bodyPr spcFirstLastPara="0" vert="horz" wrap="square" lIns="158556" tIns="158556" rIns="158556" bIns="158556" numCol="1" spcCol="1270" anchor="ctr" anchorCtr="0">
              <a:noAutofit/>
            </a:bodyPr>
            <a:lstStyle/>
            <a:p>
              <a:pPr lvl="0" algn="ctr" defTabSz="844550">
                <a:lnSpc>
                  <a:spcPct val="90000"/>
                </a:lnSpc>
                <a:spcBef>
                  <a:spcPct val="0"/>
                </a:spcBef>
                <a:spcAft>
                  <a:spcPct val="35000"/>
                </a:spcAft>
              </a:pPr>
              <a:r>
                <a:rPr lang="en-US" sz="1900" kern="1200" dirty="0" smtClean="0"/>
                <a:t>Weaknesses</a:t>
              </a:r>
              <a:endParaRPr lang="en-US" sz="1900" kern="1200" dirty="0"/>
            </a:p>
          </p:txBody>
        </p:sp>
        <p:sp>
          <p:nvSpPr>
            <p:cNvPr id="9" name="Freeform 8"/>
            <p:cNvSpPr/>
            <p:nvPr/>
          </p:nvSpPr>
          <p:spPr>
            <a:xfrm>
              <a:off x="1900785" y="3854870"/>
              <a:ext cx="1765125" cy="1765125"/>
            </a:xfrm>
            <a:custGeom>
              <a:avLst/>
              <a:gdLst>
                <a:gd name="connsiteX0" fmla="*/ 0 w 1765125"/>
                <a:gd name="connsiteY0" fmla="*/ 294193 h 1765125"/>
                <a:gd name="connsiteX1" fmla="*/ 294193 w 1765125"/>
                <a:gd name="connsiteY1" fmla="*/ 0 h 1765125"/>
                <a:gd name="connsiteX2" fmla="*/ 1470932 w 1765125"/>
                <a:gd name="connsiteY2" fmla="*/ 0 h 1765125"/>
                <a:gd name="connsiteX3" fmla="*/ 1765125 w 1765125"/>
                <a:gd name="connsiteY3" fmla="*/ 294193 h 1765125"/>
                <a:gd name="connsiteX4" fmla="*/ 1765125 w 1765125"/>
                <a:gd name="connsiteY4" fmla="*/ 1470932 h 1765125"/>
                <a:gd name="connsiteX5" fmla="*/ 1470932 w 1765125"/>
                <a:gd name="connsiteY5" fmla="*/ 1765125 h 1765125"/>
                <a:gd name="connsiteX6" fmla="*/ 294193 w 1765125"/>
                <a:gd name="connsiteY6" fmla="*/ 1765125 h 1765125"/>
                <a:gd name="connsiteX7" fmla="*/ 0 w 1765125"/>
                <a:gd name="connsiteY7" fmla="*/ 1470932 h 1765125"/>
                <a:gd name="connsiteX8" fmla="*/ 0 w 1765125"/>
                <a:gd name="connsiteY8" fmla="*/ 294193 h 17651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765125" h="1765125">
                  <a:moveTo>
                    <a:pt x="0" y="294193"/>
                  </a:moveTo>
                  <a:cubicBezTo>
                    <a:pt x="0" y="131715"/>
                    <a:pt x="131715" y="0"/>
                    <a:pt x="294193" y="0"/>
                  </a:cubicBezTo>
                  <a:lnTo>
                    <a:pt x="1470932" y="0"/>
                  </a:lnTo>
                  <a:cubicBezTo>
                    <a:pt x="1633410" y="0"/>
                    <a:pt x="1765125" y="131715"/>
                    <a:pt x="1765125" y="294193"/>
                  </a:cubicBezTo>
                  <a:lnTo>
                    <a:pt x="1765125" y="1470932"/>
                  </a:lnTo>
                  <a:cubicBezTo>
                    <a:pt x="1765125" y="1633410"/>
                    <a:pt x="1633410" y="1765125"/>
                    <a:pt x="1470932" y="1765125"/>
                  </a:cubicBezTo>
                  <a:lnTo>
                    <a:pt x="294193" y="1765125"/>
                  </a:lnTo>
                  <a:cubicBezTo>
                    <a:pt x="131715" y="1765125"/>
                    <a:pt x="0" y="1633410"/>
                    <a:pt x="0" y="1470932"/>
                  </a:cubicBezTo>
                  <a:lnTo>
                    <a:pt x="0" y="294193"/>
                  </a:lnTo>
                  <a:close/>
                </a:path>
              </a:pathLst>
            </a:custGeom>
          </p:spPr>
          <p:style>
            <a:lnRef idx="2">
              <a:schemeClr val="lt2">
                <a:hueOff val="0"/>
                <a:satOff val="0"/>
                <a:lumOff val="0"/>
                <a:alphaOff val="0"/>
              </a:schemeClr>
            </a:lnRef>
            <a:fillRef idx="1">
              <a:schemeClr val="dk2">
                <a:hueOff val="0"/>
                <a:satOff val="0"/>
                <a:lumOff val="0"/>
                <a:alphaOff val="0"/>
              </a:schemeClr>
            </a:fillRef>
            <a:effectRef idx="0">
              <a:schemeClr val="dk2">
                <a:hueOff val="0"/>
                <a:satOff val="0"/>
                <a:lumOff val="0"/>
                <a:alphaOff val="0"/>
              </a:schemeClr>
            </a:effectRef>
            <a:fontRef idx="minor">
              <a:schemeClr val="lt1"/>
            </a:fontRef>
          </p:style>
          <p:txBody>
            <a:bodyPr spcFirstLastPara="0" vert="horz" wrap="square" lIns="158556" tIns="158556" rIns="158556" bIns="158556" numCol="1" spcCol="1270" anchor="ctr" anchorCtr="0">
              <a:noAutofit/>
            </a:bodyPr>
            <a:lstStyle/>
            <a:p>
              <a:pPr lvl="0" algn="ctr" defTabSz="844550">
                <a:lnSpc>
                  <a:spcPct val="90000"/>
                </a:lnSpc>
                <a:spcBef>
                  <a:spcPct val="0"/>
                </a:spcBef>
                <a:spcAft>
                  <a:spcPct val="35000"/>
                </a:spcAft>
              </a:pPr>
              <a:r>
                <a:rPr lang="en-US" sz="1900" kern="1200" dirty="0" smtClean="0"/>
                <a:t>Opportunities</a:t>
              </a:r>
              <a:endParaRPr lang="en-US" sz="1900" kern="1200" dirty="0"/>
            </a:p>
          </p:txBody>
        </p:sp>
        <p:sp>
          <p:nvSpPr>
            <p:cNvPr id="10" name="Freeform 9"/>
            <p:cNvSpPr/>
            <p:nvPr/>
          </p:nvSpPr>
          <p:spPr>
            <a:xfrm>
              <a:off x="3801689" y="3854870"/>
              <a:ext cx="1765125" cy="1765125"/>
            </a:xfrm>
            <a:custGeom>
              <a:avLst/>
              <a:gdLst>
                <a:gd name="connsiteX0" fmla="*/ 0 w 1765125"/>
                <a:gd name="connsiteY0" fmla="*/ 294193 h 1765125"/>
                <a:gd name="connsiteX1" fmla="*/ 294193 w 1765125"/>
                <a:gd name="connsiteY1" fmla="*/ 0 h 1765125"/>
                <a:gd name="connsiteX2" fmla="*/ 1470932 w 1765125"/>
                <a:gd name="connsiteY2" fmla="*/ 0 h 1765125"/>
                <a:gd name="connsiteX3" fmla="*/ 1765125 w 1765125"/>
                <a:gd name="connsiteY3" fmla="*/ 294193 h 1765125"/>
                <a:gd name="connsiteX4" fmla="*/ 1765125 w 1765125"/>
                <a:gd name="connsiteY4" fmla="*/ 1470932 h 1765125"/>
                <a:gd name="connsiteX5" fmla="*/ 1470932 w 1765125"/>
                <a:gd name="connsiteY5" fmla="*/ 1765125 h 1765125"/>
                <a:gd name="connsiteX6" fmla="*/ 294193 w 1765125"/>
                <a:gd name="connsiteY6" fmla="*/ 1765125 h 1765125"/>
                <a:gd name="connsiteX7" fmla="*/ 0 w 1765125"/>
                <a:gd name="connsiteY7" fmla="*/ 1470932 h 1765125"/>
                <a:gd name="connsiteX8" fmla="*/ 0 w 1765125"/>
                <a:gd name="connsiteY8" fmla="*/ 294193 h 17651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765125" h="1765125">
                  <a:moveTo>
                    <a:pt x="0" y="294193"/>
                  </a:moveTo>
                  <a:cubicBezTo>
                    <a:pt x="0" y="131715"/>
                    <a:pt x="131715" y="0"/>
                    <a:pt x="294193" y="0"/>
                  </a:cubicBezTo>
                  <a:lnTo>
                    <a:pt x="1470932" y="0"/>
                  </a:lnTo>
                  <a:cubicBezTo>
                    <a:pt x="1633410" y="0"/>
                    <a:pt x="1765125" y="131715"/>
                    <a:pt x="1765125" y="294193"/>
                  </a:cubicBezTo>
                  <a:lnTo>
                    <a:pt x="1765125" y="1470932"/>
                  </a:lnTo>
                  <a:cubicBezTo>
                    <a:pt x="1765125" y="1633410"/>
                    <a:pt x="1633410" y="1765125"/>
                    <a:pt x="1470932" y="1765125"/>
                  </a:cubicBezTo>
                  <a:lnTo>
                    <a:pt x="294193" y="1765125"/>
                  </a:lnTo>
                  <a:cubicBezTo>
                    <a:pt x="131715" y="1765125"/>
                    <a:pt x="0" y="1633410"/>
                    <a:pt x="0" y="1470932"/>
                  </a:cubicBezTo>
                  <a:lnTo>
                    <a:pt x="0" y="294193"/>
                  </a:lnTo>
                  <a:close/>
                </a:path>
              </a:pathLst>
            </a:custGeom>
          </p:spPr>
          <p:style>
            <a:lnRef idx="2">
              <a:schemeClr val="lt2">
                <a:hueOff val="0"/>
                <a:satOff val="0"/>
                <a:lumOff val="0"/>
                <a:alphaOff val="0"/>
              </a:schemeClr>
            </a:lnRef>
            <a:fillRef idx="1">
              <a:schemeClr val="dk2">
                <a:hueOff val="0"/>
                <a:satOff val="0"/>
                <a:lumOff val="0"/>
                <a:alphaOff val="0"/>
              </a:schemeClr>
            </a:fillRef>
            <a:effectRef idx="0">
              <a:schemeClr val="dk2">
                <a:hueOff val="0"/>
                <a:satOff val="0"/>
                <a:lumOff val="0"/>
                <a:alphaOff val="0"/>
              </a:schemeClr>
            </a:effectRef>
            <a:fontRef idx="minor">
              <a:schemeClr val="lt1"/>
            </a:fontRef>
          </p:style>
          <p:txBody>
            <a:bodyPr spcFirstLastPara="0" vert="horz" wrap="square" lIns="158556" tIns="158556" rIns="158556" bIns="158556" numCol="1" spcCol="1270" anchor="ctr" anchorCtr="0">
              <a:noAutofit/>
            </a:bodyPr>
            <a:lstStyle/>
            <a:p>
              <a:pPr lvl="0" algn="ctr" defTabSz="844550">
                <a:lnSpc>
                  <a:spcPct val="90000"/>
                </a:lnSpc>
                <a:spcBef>
                  <a:spcPct val="0"/>
                </a:spcBef>
                <a:spcAft>
                  <a:spcPct val="35000"/>
                </a:spcAft>
              </a:pPr>
              <a:r>
                <a:rPr lang="en-US" sz="1900" kern="1200" dirty="0" smtClean="0"/>
                <a:t>Threats</a:t>
              </a:r>
              <a:endParaRPr lang="en-US" sz="1900" kern="1200" dirty="0"/>
            </a:p>
          </p:txBody>
        </p:sp>
      </p:gr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6</a:t>
            </a:fld>
            <a:endParaRPr lang="en-US" dirty="0">
              <a:latin typeface="Helvetica"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circle(in)">
                                      <p:cBhvr>
                                        <p:cTn id="7" dur="20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657944"/>
          </a:xfrm>
        </p:spPr>
        <p:txBody>
          <a:bodyPr>
            <a:normAutofit/>
          </a:bodyPr>
          <a:lstStyle/>
          <a:p>
            <a:pPr algn="ctr"/>
            <a:r>
              <a:rPr lang="en-US" sz="3400" b="1" dirty="0" smtClean="0">
                <a:solidFill>
                  <a:srgbClr val="FF6600"/>
                </a:solidFill>
                <a:latin typeface="Helvetica" pitchFamily="34" charset="0"/>
              </a:rPr>
              <a:t>BCG Matrix</a:t>
            </a:r>
            <a:endParaRPr lang="en-US" sz="3400" b="1" dirty="0">
              <a:solidFill>
                <a:srgbClr val="FF6600"/>
              </a:solidFill>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7</a:t>
            </a:fld>
            <a:endParaRPr lang="en-US" dirty="0">
              <a:latin typeface="Helvetica" pitchFamily="34" charset="0"/>
            </a:endParaRPr>
          </a:p>
        </p:txBody>
      </p:sp>
      <p:grpSp>
        <p:nvGrpSpPr>
          <p:cNvPr id="3" name="Group 2"/>
          <p:cNvGrpSpPr/>
          <p:nvPr/>
        </p:nvGrpSpPr>
        <p:grpSpPr>
          <a:xfrm>
            <a:off x="228600" y="1295400"/>
            <a:ext cx="8161636" cy="5054546"/>
            <a:chOff x="372764" y="1524000"/>
            <a:chExt cx="8161636" cy="5054546"/>
          </a:xfrm>
        </p:grpSpPr>
        <p:sp>
          <p:nvSpPr>
            <p:cNvPr id="13" name="Rectangle 12"/>
            <p:cNvSpPr/>
            <p:nvPr/>
          </p:nvSpPr>
          <p:spPr>
            <a:xfrm>
              <a:off x="1504096" y="2075853"/>
              <a:ext cx="3448904" cy="1971130"/>
            </a:xfrm>
            <a:prstGeom prst="rect">
              <a:avLst/>
            </a:prstGeom>
            <a:solidFill>
              <a:srgbClr val="C00000"/>
            </a:solidFill>
            <a:ln>
              <a:noFill/>
            </a:ln>
            <a:scene3d>
              <a:camera prst="orthographicFront"/>
              <a:lightRig rig="balanced" dir="t">
                <a:rot lat="0" lon="0" rev="0"/>
              </a:lightRig>
            </a:scene3d>
            <a:sp3d prstMaterial="plastic"/>
          </p:spPr>
          <p:style>
            <a:lnRef idx="2">
              <a:schemeClr val="accent1">
                <a:shade val="50000"/>
              </a:schemeClr>
            </a:lnRef>
            <a:fillRef idx="1">
              <a:schemeClr val="accent1"/>
            </a:fillRef>
            <a:effectRef idx="0">
              <a:schemeClr val="accent1"/>
            </a:effectRef>
            <a:fontRef idx="minor">
              <a:schemeClr val="lt1"/>
            </a:fontRef>
          </p:style>
          <p:txBody>
            <a:bodyPr vert="vert270" lIns="540000" rtlCol="0" anchor="t" anchorCtr="1">
              <a:flatTx/>
            </a:bodyPr>
            <a:lstStyle/>
            <a:p>
              <a:pPr algn="ctr"/>
              <a:r>
                <a:rPr lang="en-US" sz="2000" dirty="0" smtClean="0">
                  <a:solidFill>
                    <a:schemeClr val="bg1"/>
                  </a:solidFill>
                  <a:latin typeface="Helvetica" pitchFamily="34" charset="0"/>
                  <a:cs typeface="Arial" pitchFamily="34" charset="0"/>
                </a:rPr>
                <a:t>Star</a:t>
              </a:r>
              <a:endParaRPr lang="en-IN" sz="2000" dirty="0">
                <a:solidFill>
                  <a:schemeClr val="bg1"/>
                </a:solidFill>
                <a:latin typeface="Helvetica" pitchFamily="34" charset="0"/>
                <a:cs typeface="Arial" pitchFamily="34" charset="0"/>
              </a:endParaRPr>
            </a:p>
          </p:txBody>
        </p:sp>
        <p:sp>
          <p:nvSpPr>
            <p:cNvPr id="14" name="Rectangle 13"/>
            <p:cNvSpPr/>
            <p:nvPr/>
          </p:nvSpPr>
          <p:spPr>
            <a:xfrm>
              <a:off x="1504096" y="4123804"/>
              <a:ext cx="3448904" cy="1971130"/>
            </a:xfrm>
            <a:prstGeom prst="rect">
              <a:avLst/>
            </a:prstGeom>
            <a:solidFill>
              <a:schemeClr val="accent1"/>
            </a:solidFill>
            <a:ln>
              <a:noFill/>
            </a:ln>
            <a:scene3d>
              <a:camera prst="orthographicFront"/>
              <a:lightRig rig="balanced" dir="t">
                <a:rot lat="0" lon="0" rev="0"/>
              </a:lightRig>
            </a:scene3d>
            <a:sp3d prstMaterial="plastic"/>
          </p:spPr>
          <p:style>
            <a:lnRef idx="2">
              <a:schemeClr val="accent1">
                <a:shade val="50000"/>
              </a:schemeClr>
            </a:lnRef>
            <a:fillRef idx="1">
              <a:schemeClr val="accent1"/>
            </a:fillRef>
            <a:effectRef idx="0">
              <a:schemeClr val="accent1"/>
            </a:effectRef>
            <a:fontRef idx="minor">
              <a:schemeClr val="lt1"/>
            </a:fontRef>
          </p:style>
          <p:txBody>
            <a:bodyPr vert="vert270" lIns="540000" rtlCol="0" anchor="t" anchorCtr="1">
              <a:flatTx/>
            </a:bodyPr>
            <a:lstStyle/>
            <a:p>
              <a:pPr algn="ctr"/>
              <a:r>
                <a:rPr lang="en-US" sz="2000" dirty="0" smtClean="0">
                  <a:solidFill>
                    <a:schemeClr val="bg1"/>
                  </a:solidFill>
                  <a:latin typeface="Helvetica" pitchFamily="34" charset="0"/>
                  <a:cs typeface="Arial" pitchFamily="34" charset="0"/>
                </a:rPr>
                <a:t>Cash cow</a:t>
              </a:r>
              <a:endParaRPr lang="en-IN" sz="2000" dirty="0">
                <a:solidFill>
                  <a:schemeClr val="bg1"/>
                </a:solidFill>
                <a:latin typeface="Helvetica" pitchFamily="34" charset="0"/>
                <a:cs typeface="Arial" pitchFamily="34" charset="0"/>
              </a:endParaRPr>
            </a:p>
          </p:txBody>
        </p:sp>
        <p:sp>
          <p:nvSpPr>
            <p:cNvPr id="15" name="Rectangle 14"/>
            <p:cNvSpPr/>
            <p:nvPr/>
          </p:nvSpPr>
          <p:spPr>
            <a:xfrm>
              <a:off x="5085496" y="2075853"/>
              <a:ext cx="3448904" cy="1971130"/>
            </a:xfrm>
            <a:prstGeom prst="rect">
              <a:avLst/>
            </a:prstGeom>
            <a:solidFill>
              <a:schemeClr val="accent6">
                <a:lumMod val="75000"/>
              </a:schemeClr>
            </a:solidFill>
            <a:ln>
              <a:noFill/>
            </a:ln>
            <a:scene3d>
              <a:camera prst="orthographicFront"/>
              <a:lightRig rig="balanced" dir="t">
                <a:rot lat="0" lon="0" rev="0"/>
              </a:lightRig>
            </a:scene3d>
            <a:sp3d prstMaterial="plastic"/>
          </p:spPr>
          <p:style>
            <a:lnRef idx="2">
              <a:schemeClr val="accent1">
                <a:shade val="50000"/>
              </a:schemeClr>
            </a:lnRef>
            <a:fillRef idx="1">
              <a:schemeClr val="accent1"/>
            </a:fillRef>
            <a:effectRef idx="0">
              <a:schemeClr val="accent1"/>
            </a:effectRef>
            <a:fontRef idx="minor">
              <a:schemeClr val="lt1"/>
            </a:fontRef>
          </p:style>
          <p:txBody>
            <a:bodyPr vert="vert270" lIns="540000" rtlCol="0" anchor="t" anchorCtr="1">
              <a:flatTx/>
            </a:bodyPr>
            <a:lstStyle/>
            <a:p>
              <a:pPr algn="ctr"/>
              <a:r>
                <a:rPr lang="en-US" sz="2000" dirty="0" smtClean="0">
                  <a:solidFill>
                    <a:schemeClr val="bg1"/>
                  </a:solidFill>
                  <a:latin typeface="Helvetica" pitchFamily="34" charset="0"/>
                  <a:cs typeface="Arial" pitchFamily="34" charset="0"/>
                </a:rPr>
                <a:t>Question Mark</a:t>
              </a:r>
              <a:endParaRPr lang="en-IN" sz="2000" dirty="0">
                <a:solidFill>
                  <a:schemeClr val="bg1"/>
                </a:solidFill>
                <a:latin typeface="Helvetica" pitchFamily="34" charset="0"/>
                <a:cs typeface="Arial" pitchFamily="34" charset="0"/>
              </a:endParaRPr>
            </a:p>
          </p:txBody>
        </p:sp>
        <p:sp>
          <p:nvSpPr>
            <p:cNvPr id="16" name="Rectangle 15"/>
            <p:cNvSpPr/>
            <p:nvPr/>
          </p:nvSpPr>
          <p:spPr>
            <a:xfrm>
              <a:off x="5085496" y="4123804"/>
              <a:ext cx="3448904" cy="1971130"/>
            </a:xfrm>
            <a:prstGeom prst="rect">
              <a:avLst/>
            </a:prstGeom>
            <a:solidFill>
              <a:srgbClr val="92D050"/>
            </a:solidFill>
            <a:ln>
              <a:noFill/>
            </a:ln>
            <a:scene3d>
              <a:camera prst="orthographicFront"/>
              <a:lightRig rig="balanced" dir="t">
                <a:rot lat="0" lon="0" rev="0"/>
              </a:lightRig>
            </a:scene3d>
            <a:sp3d prstMaterial="plastic"/>
          </p:spPr>
          <p:style>
            <a:lnRef idx="2">
              <a:schemeClr val="accent1">
                <a:shade val="50000"/>
              </a:schemeClr>
            </a:lnRef>
            <a:fillRef idx="1">
              <a:schemeClr val="accent1"/>
            </a:fillRef>
            <a:effectRef idx="0">
              <a:schemeClr val="accent1"/>
            </a:effectRef>
            <a:fontRef idx="minor">
              <a:schemeClr val="lt1"/>
            </a:fontRef>
          </p:style>
          <p:txBody>
            <a:bodyPr vert="vert270" lIns="540000" rtlCol="0" anchor="t" anchorCtr="1">
              <a:flatTx/>
            </a:bodyPr>
            <a:lstStyle/>
            <a:p>
              <a:pPr algn="ctr"/>
              <a:r>
                <a:rPr lang="en-US" sz="2000" dirty="0" smtClean="0">
                  <a:solidFill>
                    <a:schemeClr val="bg1"/>
                  </a:solidFill>
                  <a:latin typeface="Helvetica" pitchFamily="34" charset="0"/>
                  <a:cs typeface="Arial" pitchFamily="34" charset="0"/>
                </a:rPr>
                <a:t>Dog</a:t>
              </a:r>
              <a:endParaRPr lang="en-IN" sz="2000" dirty="0">
                <a:solidFill>
                  <a:schemeClr val="bg1"/>
                </a:solidFill>
                <a:latin typeface="Helvetica" pitchFamily="34" charset="0"/>
                <a:cs typeface="Arial" pitchFamily="34" charset="0"/>
              </a:endParaRPr>
            </a:p>
          </p:txBody>
        </p:sp>
        <p:sp>
          <p:nvSpPr>
            <p:cNvPr id="17" name="Freeform 21"/>
            <p:cNvSpPr>
              <a:spLocks/>
            </p:cNvSpPr>
            <p:nvPr/>
          </p:nvSpPr>
          <p:spPr bwMode="auto">
            <a:xfrm>
              <a:off x="6354320" y="4531137"/>
              <a:ext cx="1599000" cy="1118039"/>
            </a:xfrm>
            <a:custGeom>
              <a:avLst/>
              <a:gdLst/>
              <a:ahLst/>
              <a:cxnLst>
                <a:cxn ang="0">
                  <a:pos x="1385" y="93"/>
                </a:cxn>
                <a:cxn ang="0">
                  <a:pos x="1396" y="305"/>
                </a:cxn>
                <a:cxn ang="0">
                  <a:pos x="1313" y="446"/>
                </a:cxn>
                <a:cxn ang="0">
                  <a:pos x="1347" y="499"/>
                </a:cxn>
                <a:cxn ang="0">
                  <a:pos x="1404" y="691"/>
                </a:cxn>
                <a:cxn ang="0">
                  <a:pos x="1434" y="846"/>
                </a:cxn>
                <a:cxn ang="0">
                  <a:pos x="1514" y="978"/>
                </a:cxn>
                <a:cxn ang="0">
                  <a:pos x="1525" y="1150"/>
                </a:cxn>
                <a:cxn ang="0">
                  <a:pos x="1471" y="1180"/>
                </a:cxn>
                <a:cxn ang="0">
                  <a:pos x="1445" y="1148"/>
                </a:cxn>
                <a:cxn ang="0">
                  <a:pos x="1468" y="1125"/>
                </a:cxn>
                <a:cxn ang="0">
                  <a:pos x="1440" y="991"/>
                </a:cxn>
                <a:cxn ang="0">
                  <a:pos x="1361" y="933"/>
                </a:cxn>
                <a:cxn ang="0">
                  <a:pos x="1350" y="997"/>
                </a:cxn>
                <a:cxn ang="0">
                  <a:pos x="1337" y="1078"/>
                </a:cxn>
                <a:cxn ang="0">
                  <a:pos x="1313" y="1151"/>
                </a:cxn>
                <a:cxn ang="0">
                  <a:pos x="1238" y="1137"/>
                </a:cxn>
                <a:cxn ang="0">
                  <a:pos x="1290" y="1084"/>
                </a:cxn>
                <a:cxn ang="0">
                  <a:pos x="1259" y="939"/>
                </a:cxn>
                <a:cxn ang="0">
                  <a:pos x="1136" y="791"/>
                </a:cxn>
                <a:cxn ang="0">
                  <a:pos x="1083" y="717"/>
                </a:cxn>
                <a:cxn ang="0">
                  <a:pos x="941" y="761"/>
                </a:cxn>
                <a:cxn ang="0">
                  <a:pos x="714" y="799"/>
                </a:cxn>
                <a:cxn ang="0">
                  <a:pos x="683" y="943"/>
                </a:cxn>
                <a:cxn ang="0">
                  <a:pos x="673" y="1091"/>
                </a:cxn>
                <a:cxn ang="0">
                  <a:pos x="663" y="1213"/>
                </a:cxn>
                <a:cxn ang="0">
                  <a:pos x="590" y="1190"/>
                </a:cxn>
                <a:cxn ang="0">
                  <a:pos x="631" y="1141"/>
                </a:cxn>
                <a:cxn ang="0">
                  <a:pos x="621" y="998"/>
                </a:cxn>
                <a:cxn ang="0">
                  <a:pos x="596" y="944"/>
                </a:cxn>
                <a:cxn ang="0">
                  <a:pos x="556" y="1119"/>
                </a:cxn>
                <a:cxn ang="0">
                  <a:pos x="505" y="1184"/>
                </a:cxn>
                <a:cxn ang="0">
                  <a:pos x="475" y="1153"/>
                </a:cxn>
                <a:cxn ang="0">
                  <a:pos x="520" y="1113"/>
                </a:cxn>
                <a:cxn ang="0">
                  <a:pos x="522" y="918"/>
                </a:cxn>
                <a:cxn ang="0">
                  <a:pos x="468" y="752"/>
                </a:cxn>
                <a:cxn ang="0">
                  <a:pos x="361" y="589"/>
                </a:cxn>
                <a:cxn ang="0">
                  <a:pos x="335" y="456"/>
                </a:cxn>
                <a:cxn ang="0">
                  <a:pos x="285" y="491"/>
                </a:cxn>
                <a:cxn ang="0">
                  <a:pos x="211" y="416"/>
                </a:cxn>
                <a:cxn ang="0">
                  <a:pos x="231" y="351"/>
                </a:cxn>
                <a:cxn ang="0">
                  <a:pos x="219" y="310"/>
                </a:cxn>
                <a:cxn ang="0">
                  <a:pos x="58" y="277"/>
                </a:cxn>
                <a:cxn ang="0">
                  <a:pos x="3" y="157"/>
                </a:cxn>
                <a:cxn ang="0">
                  <a:pos x="72" y="132"/>
                </a:cxn>
                <a:cxn ang="0">
                  <a:pos x="142" y="122"/>
                </a:cxn>
                <a:cxn ang="0">
                  <a:pos x="195" y="76"/>
                </a:cxn>
                <a:cxn ang="0">
                  <a:pos x="355" y="88"/>
                </a:cxn>
                <a:cxn ang="0">
                  <a:pos x="453" y="209"/>
                </a:cxn>
                <a:cxn ang="0">
                  <a:pos x="597" y="365"/>
                </a:cxn>
                <a:cxn ang="0">
                  <a:pos x="963" y="419"/>
                </a:cxn>
                <a:cxn ang="0">
                  <a:pos x="1227" y="398"/>
                </a:cxn>
                <a:cxn ang="0">
                  <a:pos x="1325" y="192"/>
                </a:cxn>
                <a:cxn ang="0">
                  <a:pos x="1291" y="44"/>
                </a:cxn>
              </a:cxnLst>
              <a:rect l="0" t="0" r="r" b="b"/>
              <a:pathLst>
                <a:path w="1525" h="1213">
                  <a:moveTo>
                    <a:pt x="1286" y="0"/>
                  </a:moveTo>
                  <a:lnTo>
                    <a:pt x="1299" y="0"/>
                  </a:lnTo>
                  <a:lnTo>
                    <a:pt x="1304" y="2"/>
                  </a:lnTo>
                  <a:lnTo>
                    <a:pt x="1305" y="3"/>
                  </a:lnTo>
                  <a:lnTo>
                    <a:pt x="1339" y="32"/>
                  </a:lnTo>
                  <a:lnTo>
                    <a:pt x="1365" y="63"/>
                  </a:lnTo>
                  <a:lnTo>
                    <a:pt x="1385" y="93"/>
                  </a:lnTo>
                  <a:lnTo>
                    <a:pt x="1400" y="124"/>
                  </a:lnTo>
                  <a:lnTo>
                    <a:pt x="1409" y="156"/>
                  </a:lnTo>
                  <a:lnTo>
                    <a:pt x="1413" y="186"/>
                  </a:lnTo>
                  <a:lnTo>
                    <a:pt x="1413" y="217"/>
                  </a:lnTo>
                  <a:lnTo>
                    <a:pt x="1410" y="247"/>
                  </a:lnTo>
                  <a:lnTo>
                    <a:pt x="1404" y="277"/>
                  </a:lnTo>
                  <a:lnTo>
                    <a:pt x="1396" y="305"/>
                  </a:lnTo>
                  <a:lnTo>
                    <a:pt x="1385" y="331"/>
                  </a:lnTo>
                  <a:lnTo>
                    <a:pt x="1373" y="356"/>
                  </a:lnTo>
                  <a:lnTo>
                    <a:pt x="1360" y="379"/>
                  </a:lnTo>
                  <a:lnTo>
                    <a:pt x="1347" y="399"/>
                  </a:lnTo>
                  <a:lnTo>
                    <a:pt x="1334" y="418"/>
                  </a:lnTo>
                  <a:lnTo>
                    <a:pt x="1324" y="433"/>
                  </a:lnTo>
                  <a:lnTo>
                    <a:pt x="1313" y="446"/>
                  </a:lnTo>
                  <a:lnTo>
                    <a:pt x="1306" y="454"/>
                  </a:lnTo>
                  <a:lnTo>
                    <a:pt x="1302" y="460"/>
                  </a:lnTo>
                  <a:lnTo>
                    <a:pt x="1299" y="463"/>
                  </a:lnTo>
                  <a:lnTo>
                    <a:pt x="1302" y="464"/>
                  </a:lnTo>
                  <a:lnTo>
                    <a:pt x="1303" y="464"/>
                  </a:lnTo>
                  <a:lnTo>
                    <a:pt x="1327" y="479"/>
                  </a:lnTo>
                  <a:lnTo>
                    <a:pt x="1347" y="499"/>
                  </a:lnTo>
                  <a:lnTo>
                    <a:pt x="1363" y="522"/>
                  </a:lnTo>
                  <a:lnTo>
                    <a:pt x="1376" y="547"/>
                  </a:lnTo>
                  <a:lnTo>
                    <a:pt x="1386" y="574"/>
                  </a:lnTo>
                  <a:lnTo>
                    <a:pt x="1393" y="603"/>
                  </a:lnTo>
                  <a:lnTo>
                    <a:pt x="1398" y="632"/>
                  </a:lnTo>
                  <a:lnTo>
                    <a:pt x="1401" y="661"/>
                  </a:lnTo>
                  <a:lnTo>
                    <a:pt x="1404" y="691"/>
                  </a:lnTo>
                  <a:lnTo>
                    <a:pt x="1405" y="719"/>
                  </a:lnTo>
                  <a:lnTo>
                    <a:pt x="1407" y="745"/>
                  </a:lnTo>
                  <a:lnTo>
                    <a:pt x="1409" y="769"/>
                  </a:lnTo>
                  <a:lnTo>
                    <a:pt x="1411" y="789"/>
                  </a:lnTo>
                  <a:lnTo>
                    <a:pt x="1413" y="805"/>
                  </a:lnTo>
                  <a:lnTo>
                    <a:pt x="1418" y="818"/>
                  </a:lnTo>
                  <a:lnTo>
                    <a:pt x="1434" y="846"/>
                  </a:lnTo>
                  <a:lnTo>
                    <a:pt x="1453" y="868"/>
                  </a:lnTo>
                  <a:lnTo>
                    <a:pt x="1471" y="888"/>
                  </a:lnTo>
                  <a:lnTo>
                    <a:pt x="1487" y="907"/>
                  </a:lnTo>
                  <a:lnTo>
                    <a:pt x="1503" y="927"/>
                  </a:lnTo>
                  <a:lnTo>
                    <a:pt x="1510" y="941"/>
                  </a:lnTo>
                  <a:lnTo>
                    <a:pt x="1514" y="954"/>
                  </a:lnTo>
                  <a:lnTo>
                    <a:pt x="1514" y="978"/>
                  </a:lnTo>
                  <a:lnTo>
                    <a:pt x="1512" y="991"/>
                  </a:lnTo>
                  <a:lnTo>
                    <a:pt x="1511" y="1006"/>
                  </a:lnTo>
                  <a:lnTo>
                    <a:pt x="1511" y="1025"/>
                  </a:lnTo>
                  <a:lnTo>
                    <a:pt x="1513" y="1059"/>
                  </a:lnTo>
                  <a:lnTo>
                    <a:pt x="1517" y="1091"/>
                  </a:lnTo>
                  <a:lnTo>
                    <a:pt x="1521" y="1120"/>
                  </a:lnTo>
                  <a:lnTo>
                    <a:pt x="1525" y="1150"/>
                  </a:lnTo>
                  <a:lnTo>
                    <a:pt x="1525" y="1163"/>
                  </a:lnTo>
                  <a:lnTo>
                    <a:pt x="1521" y="1172"/>
                  </a:lnTo>
                  <a:lnTo>
                    <a:pt x="1517" y="1178"/>
                  </a:lnTo>
                  <a:lnTo>
                    <a:pt x="1508" y="1181"/>
                  </a:lnTo>
                  <a:lnTo>
                    <a:pt x="1491" y="1181"/>
                  </a:lnTo>
                  <a:lnTo>
                    <a:pt x="1480" y="1180"/>
                  </a:lnTo>
                  <a:lnTo>
                    <a:pt x="1471" y="1180"/>
                  </a:lnTo>
                  <a:lnTo>
                    <a:pt x="1457" y="1179"/>
                  </a:lnTo>
                  <a:lnTo>
                    <a:pt x="1447" y="1175"/>
                  </a:lnTo>
                  <a:lnTo>
                    <a:pt x="1440" y="1171"/>
                  </a:lnTo>
                  <a:lnTo>
                    <a:pt x="1437" y="1165"/>
                  </a:lnTo>
                  <a:lnTo>
                    <a:pt x="1436" y="1159"/>
                  </a:lnTo>
                  <a:lnTo>
                    <a:pt x="1438" y="1153"/>
                  </a:lnTo>
                  <a:lnTo>
                    <a:pt x="1445" y="1148"/>
                  </a:lnTo>
                  <a:lnTo>
                    <a:pt x="1453" y="1144"/>
                  </a:lnTo>
                  <a:lnTo>
                    <a:pt x="1461" y="1140"/>
                  </a:lnTo>
                  <a:lnTo>
                    <a:pt x="1468" y="1138"/>
                  </a:lnTo>
                  <a:lnTo>
                    <a:pt x="1471" y="1137"/>
                  </a:lnTo>
                  <a:lnTo>
                    <a:pt x="1471" y="1134"/>
                  </a:lnTo>
                  <a:lnTo>
                    <a:pt x="1470" y="1131"/>
                  </a:lnTo>
                  <a:lnTo>
                    <a:pt x="1468" y="1125"/>
                  </a:lnTo>
                  <a:lnTo>
                    <a:pt x="1467" y="1117"/>
                  </a:lnTo>
                  <a:lnTo>
                    <a:pt x="1465" y="1104"/>
                  </a:lnTo>
                  <a:lnTo>
                    <a:pt x="1463" y="1086"/>
                  </a:lnTo>
                  <a:lnTo>
                    <a:pt x="1459" y="1063"/>
                  </a:lnTo>
                  <a:lnTo>
                    <a:pt x="1454" y="1034"/>
                  </a:lnTo>
                  <a:lnTo>
                    <a:pt x="1448" y="1011"/>
                  </a:lnTo>
                  <a:lnTo>
                    <a:pt x="1440" y="991"/>
                  </a:lnTo>
                  <a:lnTo>
                    <a:pt x="1430" y="974"/>
                  </a:lnTo>
                  <a:lnTo>
                    <a:pt x="1418" y="963"/>
                  </a:lnTo>
                  <a:lnTo>
                    <a:pt x="1405" y="952"/>
                  </a:lnTo>
                  <a:lnTo>
                    <a:pt x="1392" y="945"/>
                  </a:lnTo>
                  <a:lnTo>
                    <a:pt x="1380" y="939"/>
                  </a:lnTo>
                  <a:lnTo>
                    <a:pt x="1370" y="936"/>
                  </a:lnTo>
                  <a:lnTo>
                    <a:pt x="1361" y="933"/>
                  </a:lnTo>
                  <a:lnTo>
                    <a:pt x="1356" y="932"/>
                  </a:lnTo>
                  <a:lnTo>
                    <a:pt x="1353" y="932"/>
                  </a:lnTo>
                  <a:lnTo>
                    <a:pt x="1353" y="936"/>
                  </a:lnTo>
                  <a:lnTo>
                    <a:pt x="1352" y="946"/>
                  </a:lnTo>
                  <a:lnTo>
                    <a:pt x="1352" y="960"/>
                  </a:lnTo>
                  <a:lnTo>
                    <a:pt x="1351" y="978"/>
                  </a:lnTo>
                  <a:lnTo>
                    <a:pt x="1350" y="997"/>
                  </a:lnTo>
                  <a:lnTo>
                    <a:pt x="1349" y="1014"/>
                  </a:lnTo>
                  <a:lnTo>
                    <a:pt x="1347" y="1028"/>
                  </a:lnTo>
                  <a:lnTo>
                    <a:pt x="1346" y="1041"/>
                  </a:lnTo>
                  <a:lnTo>
                    <a:pt x="1344" y="1051"/>
                  </a:lnTo>
                  <a:lnTo>
                    <a:pt x="1340" y="1059"/>
                  </a:lnTo>
                  <a:lnTo>
                    <a:pt x="1338" y="1067"/>
                  </a:lnTo>
                  <a:lnTo>
                    <a:pt x="1337" y="1078"/>
                  </a:lnTo>
                  <a:lnTo>
                    <a:pt x="1336" y="1092"/>
                  </a:lnTo>
                  <a:lnTo>
                    <a:pt x="1336" y="1114"/>
                  </a:lnTo>
                  <a:lnTo>
                    <a:pt x="1334" y="1131"/>
                  </a:lnTo>
                  <a:lnTo>
                    <a:pt x="1333" y="1141"/>
                  </a:lnTo>
                  <a:lnTo>
                    <a:pt x="1330" y="1148"/>
                  </a:lnTo>
                  <a:lnTo>
                    <a:pt x="1324" y="1150"/>
                  </a:lnTo>
                  <a:lnTo>
                    <a:pt x="1313" y="1151"/>
                  </a:lnTo>
                  <a:lnTo>
                    <a:pt x="1298" y="1151"/>
                  </a:lnTo>
                  <a:lnTo>
                    <a:pt x="1283" y="1150"/>
                  </a:lnTo>
                  <a:lnTo>
                    <a:pt x="1266" y="1148"/>
                  </a:lnTo>
                  <a:lnTo>
                    <a:pt x="1252" y="1147"/>
                  </a:lnTo>
                  <a:lnTo>
                    <a:pt x="1243" y="1146"/>
                  </a:lnTo>
                  <a:lnTo>
                    <a:pt x="1239" y="1146"/>
                  </a:lnTo>
                  <a:lnTo>
                    <a:pt x="1238" y="1137"/>
                  </a:lnTo>
                  <a:lnTo>
                    <a:pt x="1240" y="1127"/>
                  </a:lnTo>
                  <a:lnTo>
                    <a:pt x="1245" y="1120"/>
                  </a:lnTo>
                  <a:lnTo>
                    <a:pt x="1252" y="1115"/>
                  </a:lnTo>
                  <a:lnTo>
                    <a:pt x="1277" y="1105"/>
                  </a:lnTo>
                  <a:lnTo>
                    <a:pt x="1283" y="1100"/>
                  </a:lnTo>
                  <a:lnTo>
                    <a:pt x="1287" y="1094"/>
                  </a:lnTo>
                  <a:lnTo>
                    <a:pt x="1290" y="1084"/>
                  </a:lnTo>
                  <a:lnTo>
                    <a:pt x="1290" y="1067"/>
                  </a:lnTo>
                  <a:lnTo>
                    <a:pt x="1287" y="1047"/>
                  </a:lnTo>
                  <a:lnTo>
                    <a:pt x="1285" y="1025"/>
                  </a:lnTo>
                  <a:lnTo>
                    <a:pt x="1280" y="1003"/>
                  </a:lnTo>
                  <a:lnTo>
                    <a:pt x="1275" y="979"/>
                  </a:lnTo>
                  <a:lnTo>
                    <a:pt x="1269" y="959"/>
                  </a:lnTo>
                  <a:lnTo>
                    <a:pt x="1259" y="939"/>
                  </a:lnTo>
                  <a:lnTo>
                    <a:pt x="1243" y="920"/>
                  </a:lnTo>
                  <a:lnTo>
                    <a:pt x="1223" y="900"/>
                  </a:lnTo>
                  <a:lnTo>
                    <a:pt x="1202" y="880"/>
                  </a:lnTo>
                  <a:lnTo>
                    <a:pt x="1179" y="858"/>
                  </a:lnTo>
                  <a:lnTo>
                    <a:pt x="1159" y="833"/>
                  </a:lnTo>
                  <a:lnTo>
                    <a:pt x="1143" y="807"/>
                  </a:lnTo>
                  <a:lnTo>
                    <a:pt x="1136" y="791"/>
                  </a:lnTo>
                  <a:lnTo>
                    <a:pt x="1129" y="776"/>
                  </a:lnTo>
                  <a:lnTo>
                    <a:pt x="1123" y="761"/>
                  </a:lnTo>
                  <a:lnTo>
                    <a:pt x="1116" y="749"/>
                  </a:lnTo>
                  <a:lnTo>
                    <a:pt x="1109" y="738"/>
                  </a:lnTo>
                  <a:lnTo>
                    <a:pt x="1102" y="729"/>
                  </a:lnTo>
                  <a:lnTo>
                    <a:pt x="1092" y="721"/>
                  </a:lnTo>
                  <a:lnTo>
                    <a:pt x="1083" y="717"/>
                  </a:lnTo>
                  <a:lnTo>
                    <a:pt x="1070" y="717"/>
                  </a:lnTo>
                  <a:lnTo>
                    <a:pt x="1055" y="719"/>
                  </a:lnTo>
                  <a:lnTo>
                    <a:pt x="1038" y="725"/>
                  </a:lnTo>
                  <a:lnTo>
                    <a:pt x="1017" y="736"/>
                  </a:lnTo>
                  <a:lnTo>
                    <a:pt x="995" y="746"/>
                  </a:lnTo>
                  <a:lnTo>
                    <a:pt x="969" y="754"/>
                  </a:lnTo>
                  <a:lnTo>
                    <a:pt x="941" y="761"/>
                  </a:lnTo>
                  <a:lnTo>
                    <a:pt x="880" y="773"/>
                  </a:lnTo>
                  <a:lnTo>
                    <a:pt x="818" y="780"/>
                  </a:lnTo>
                  <a:lnTo>
                    <a:pt x="790" y="784"/>
                  </a:lnTo>
                  <a:lnTo>
                    <a:pt x="765" y="787"/>
                  </a:lnTo>
                  <a:lnTo>
                    <a:pt x="743" y="791"/>
                  </a:lnTo>
                  <a:lnTo>
                    <a:pt x="726" y="794"/>
                  </a:lnTo>
                  <a:lnTo>
                    <a:pt x="714" y="799"/>
                  </a:lnTo>
                  <a:lnTo>
                    <a:pt x="708" y="805"/>
                  </a:lnTo>
                  <a:lnTo>
                    <a:pt x="703" y="818"/>
                  </a:lnTo>
                  <a:lnTo>
                    <a:pt x="700" y="837"/>
                  </a:lnTo>
                  <a:lnTo>
                    <a:pt x="695" y="860"/>
                  </a:lnTo>
                  <a:lnTo>
                    <a:pt x="690" y="887"/>
                  </a:lnTo>
                  <a:lnTo>
                    <a:pt x="687" y="916"/>
                  </a:lnTo>
                  <a:lnTo>
                    <a:pt x="683" y="943"/>
                  </a:lnTo>
                  <a:lnTo>
                    <a:pt x="681" y="970"/>
                  </a:lnTo>
                  <a:lnTo>
                    <a:pt x="679" y="992"/>
                  </a:lnTo>
                  <a:lnTo>
                    <a:pt x="677" y="1011"/>
                  </a:lnTo>
                  <a:lnTo>
                    <a:pt x="676" y="1026"/>
                  </a:lnTo>
                  <a:lnTo>
                    <a:pt x="675" y="1045"/>
                  </a:lnTo>
                  <a:lnTo>
                    <a:pt x="674" y="1067"/>
                  </a:lnTo>
                  <a:lnTo>
                    <a:pt x="673" y="1091"/>
                  </a:lnTo>
                  <a:lnTo>
                    <a:pt x="670" y="1117"/>
                  </a:lnTo>
                  <a:lnTo>
                    <a:pt x="669" y="1141"/>
                  </a:lnTo>
                  <a:lnTo>
                    <a:pt x="667" y="1164"/>
                  </a:lnTo>
                  <a:lnTo>
                    <a:pt x="666" y="1184"/>
                  </a:lnTo>
                  <a:lnTo>
                    <a:pt x="664" y="1199"/>
                  </a:lnTo>
                  <a:lnTo>
                    <a:pt x="663" y="1210"/>
                  </a:lnTo>
                  <a:lnTo>
                    <a:pt x="663" y="1213"/>
                  </a:lnTo>
                  <a:lnTo>
                    <a:pt x="599" y="1213"/>
                  </a:lnTo>
                  <a:lnTo>
                    <a:pt x="592" y="1212"/>
                  </a:lnTo>
                  <a:lnTo>
                    <a:pt x="586" y="1210"/>
                  </a:lnTo>
                  <a:lnTo>
                    <a:pt x="581" y="1205"/>
                  </a:lnTo>
                  <a:lnTo>
                    <a:pt x="580" y="1200"/>
                  </a:lnTo>
                  <a:lnTo>
                    <a:pt x="583" y="1194"/>
                  </a:lnTo>
                  <a:lnTo>
                    <a:pt x="590" y="1190"/>
                  </a:lnTo>
                  <a:lnTo>
                    <a:pt x="602" y="1185"/>
                  </a:lnTo>
                  <a:lnTo>
                    <a:pt x="613" y="1180"/>
                  </a:lnTo>
                  <a:lnTo>
                    <a:pt x="621" y="1175"/>
                  </a:lnTo>
                  <a:lnTo>
                    <a:pt x="627" y="1170"/>
                  </a:lnTo>
                  <a:lnTo>
                    <a:pt x="629" y="1161"/>
                  </a:lnTo>
                  <a:lnTo>
                    <a:pt x="630" y="1153"/>
                  </a:lnTo>
                  <a:lnTo>
                    <a:pt x="631" y="1141"/>
                  </a:lnTo>
                  <a:lnTo>
                    <a:pt x="634" y="1127"/>
                  </a:lnTo>
                  <a:lnTo>
                    <a:pt x="635" y="1110"/>
                  </a:lnTo>
                  <a:lnTo>
                    <a:pt x="635" y="1090"/>
                  </a:lnTo>
                  <a:lnTo>
                    <a:pt x="634" y="1065"/>
                  </a:lnTo>
                  <a:lnTo>
                    <a:pt x="629" y="1038"/>
                  </a:lnTo>
                  <a:lnTo>
                    <a:pt x="624" y="1016"/>
                  </a:lnTo>
                  <a:lnTo>
                    <a:pt x="621" y="998"/>
                  </a:lnTo>
                  <a:lnTo>
                    <a:pt x="619" y="985"/>
                  </a:lnTo>
                  <a:lnTo>
                    <a:pt x="616" y="977"/>
                  </a:lnTo>
                  <a:lnTo>
                    <a:pt x="612" y="963"/>
                  </a:lnTo>
                  <a:lnTo>
                    <a:pt x="608" y="957"/>
                  </a:lnTo>
                  <a:lnTo>
                    <a:pt x="604" y="950"/>
                  </a:lnTo>
                  <a:lnTo>
                    <a:pt x="600" y="944"/>
                  </a:lnTo>
                  <a:lnTo>
                    <a:pt x="596" y="944"/>
                  </a:lnTo>
                  <a:lnTo>
                    <a:pt x="593" y="948"/>
                  </a:lnTo>
                  <a:lnTo>
                    <a:pt x="589" y="958"/>
                  </a:lnTo>
                  <a:lnTo>
                    <a:pt x="575" y="1000"/>
                  </a:lnTo>
                  <a:lnTo>
                    <a:pt x="572" y="1019"/>
                  </a:lnTo>
                  <a:lnTo>
                    <a:pt x="568" y="1041"/>
                  </a:lnTo>
                  <a:lnTo>
                    <a:pt x="563" y="1067"/>
                  </a:lnTo>
                  <a:lnTo>
                    <a:pt x="556" y="1119"/>
                  </a:lnTo>
                  <a:lnTo>
                    <a:pt x="554" y="1141"/>
                  </a:lnTo>
                  <a:lnTo>
                    <a:pt x="550" y="1159"/>
                  </a:lnTo>
                  <a:lnTo>
                    <a:pt x="548" y="1170"/>
                  </a:lnTo>
                  <a:lnTo>
                    <a:pt x="542" y="1175"/>
                  </a:lnTo>
                  <a:lnTo>
                    <a:pt x="532" y="1180"/>
                  </a:lnTo>
                  <a:lnTo>
                    <a:pt x="519" y="1183"/>
                  </a:lnTo>
                  <a:lnTo>
                    <a:pt x="505" y="1184"/>
                  </a:lnTo>
                  <a:lnTo>
                    <a:pt x="489" y="1183"/>
                  </a:lnTo>
                  <a:lnTo>
                    <a:pt x="477" y="1179"/>
                  </a:lnTo>
                  <a:lnTo>
                    <a:pt x="467" y="1175"/>
                  </a:lnTo>
                  <a:lnTo>
                    <a:pt x="462" y="1170"/>
                  </a:lnTo>
                  <a:lnTo>
                    <a:pt x="462" y="1163"/>
                  </a:lnTo>
                  <a:lnTo>
                    <a:pt x="467" y="1157"/>
                  </a:lnTo>
                  <a:lnTo>
                    <a:pt x="475" y="1153"/>
                  </a:lnTo>
                  <a:lnTo>
                    <a:pt x="485" y="1150"/>
                  </a:lnTo>
                  <a:lnTo>
                    <a:pt x="494" y="1147"/>
                  </a:lnTo>
                  <a:lnTo>
                    <a:pt x="502" y="1144"/>
                  </a:lnTo>
                  <a:lnTo>
                    <a:pt x="509" y="1138"/>
                  </a:lnTo>
                  <a:lnTo>
                    <a:pt x="515" y="1130"/>
                  </a:lnTo>
                  <a:lnTo>
                    <a:pt x="519" y="1120"/>
                  </a:lnTo>
                  <a:lnTo>
                    <a:pt x="520" y="1113"/>
                  </a:lnTo>
                  <a:lnTo>
                    <a:pt x="521" y="1111"/>
                  </a:lnTo>
                  <a:lnTo>
                    <a:pt x="521" y="1095"/>
                  </a:lnTo>
                  <a:lnTo>
                    <a:pt x="522" y="1079"/>
                  </a:lnTo>
                  <a:lnTo>
                    <a:pt x="522" y="1032"/>
                  </a:lnTo>
                  <a:lnTo>
                    <a:pt x="523" y="1005"/>
                  </a:lnTo>
                  <a:lnTo>
                    <a:pt x="523" y="946"/>
                  </a:lnTo>
                  <a:lnTo>
                    <a:pt x="522" y="918"/>
                  </a:lnTo>
                  <a:lnTo>
                    <a:pt x="522" y="891"/>
                  </a:lnTo>
                  <a:lnTo>
                    <a:pt x="521" y="867"/>
                  </a:lnTo>
                  <a:lnTo>
                    <a:pt x="517" y="840"/>
                  </a:lnTo>
                  <a:lnTo>
                    <a:pt x="509" y="816"/>
                  </a:lnTo>
                  <a:lnTo>
                    <a:pt x="499" y="793"/>
                  </a:lnTo>
                  <a:lnTo>
                    <a:pt x="485" y="772"/>
                  </a:lnTo>
                  <a:lnTo>
                    <a:pt x="468" y="752"/>
                  </a:lnTo>
                  <a:lnTo>
                    <a:pt x="449" y="731"/>
                  </a:lnTo>
                  <a:lnTo>
                    <a:pt x="428" y="709"/>
                  </a:lnTo>
                  <a:lnTo>
                    <a:pt x="406" y="684"/>
                  </a:lnTo>
                  <a:lnTo>
                    <a:pt x="392" y="664"/>
                  </a:lnTo>
                  <a:lnTo>
                    <a:pt x="380" y="641"/>
                  </a:lnTo>
                  <a:lnTo>
                    <a:pt x="369" y="616"/>
                  </a:lnTo>
                  <a:lnTo>
                    <a:pt x="361" y="589"/>
                  </a:lnTo>
                  <a:lnTo>
                    <a:pt x="354" y="562"/>
                  </a:lnTo>
                  <a:lnTo>
                    <a:pt x="348" y="536"/>
                  </a:lnTo>
                  <a:lnTo>
                    <a:pt x="343" y="512"/>
                  </a:lnTo>
                  <a:lnTo>
                    <a:pt x="340" y="491"/>
                  </a:lnTo>
                  <a:lnTo>
                    <a:pt x="338" y="473"/>
                  </a:lnTo>
                  <a:lnTo>
                    <a:pt x="336" y="462"/>
                  </a:lnTo>
                  <a:lnTo>
                    <a:pt x="335" y="456"/>
                  </a:lnTo>
                  <a:lnTo>
                    <a:pt x="335" y="457"/>
                  </a:lnTo>
                  <a:lnTo>
                    <a:pt x="334" y="465"/>
                  </a:lnTo>
                  <a:lnTo>
                    <a:pt x="329" y="473"/>
                  </a:lnTo>
                  <a:lnTo>
                    <a:pt x="322" y="480"/>
                  </a:lnTo>
                  <a:lnTo>
                    <a:pt x="313" y="486"/>
                  </a:lnTo>
                  <a:lnTo>
                    <a:pt x="300" y="491"/>
                  </a:lnTo>
                  <a:lnTo>
                    <a:pt x="285" y="491"/>
                  </a:lnTo>
                  <a:lnTo>
                    <a:pt x="266" y="489"/>
                  </a:lnTo>
                  <a:lnTo>
                    <a:pt x="244" y="480"/>
                  </a:lnTo>
                  <a:lnTo>
                    <a:pt x="229" y="471"/>
                  </a:lnTo>
                  <a:lnTo>
                    <a:pt x="219" y="459"/>
                  </a:lnTo>
                  <a:lnTo>
                    <a:pt x="213" y="445"/>
                  </a:lnTo>
                  <a:lnTo>
                    <a:pt x="211" y="431"/>
                  </a:lnTo>
                  <a:lnTo>
                    <a:pt x="211" y="416"/>
                  </a:lnTo>
                  <a:lnTo>
                    <a:pt x="213" y="400"/>
                  </a:lnTo>
                  <a:lnTo>
                    <a:pt x="217" y="386"/>
                  </a:lnTo>
                  <a:lnTo>
                    <a:pt x="221" y="375"/>
                  </a:lnTo>
                  <a:lnTo>
                    <a:pt x="225" y="365"/>
                  </a:lnTo>
                  <a:lnTo>
                    <a:pt x="227" y="359"/>
                  </a:lnTo>
                  <a:lnTo>
                    <a:pt x="228" y="357"/>
                  </a:lnTo>
                  <a:lnTo>
                    <a:pt x="231" y="351"/>
                  </a:lnTo>
                  <a:lnTo>
                    <a:pt x="233" y="344"/>
                  </a:lnTo>
                  <a:lnTo>
                    <a:pt x="235" y="338"/>
                  </a:lnTo>
                  <a:lnTo>
                    <a:pt x="237" y="331"/>
                  </a:lnTo>
                  <a:lnTo>
                    <a:pt x="237" y="325"/>
                  </a:lnTo>
                  <a:lnTo>
                    <a:pt x="234" y="319"/>
                  </a:lnTo>
                  <a:lnTo>
                    <a:pt x="228" y="315"/>
                  </a:lnTo>
                  <a:lnTo>
                    <a:pt x="219" y="310"/>
                  </a:lnTo>
                  <a:lnTo>
                    <a:pt x="205" y="307"/>
                  </a:lnTo>
                  <a:lnTo>
                    <a:pt x="186" y="306"/>
                  </a:lnTo>
                  <a:lnTo>
                    <a:pt x="160" y="306"/>
                  </a:lnTo>
                  <a:lnTo>
                    <a:pt x="130" y="305"/>
                  </a:lnTo>
                  <a:lnTo>
                    <a:pt x="102" y="299"/>
                  </a:lnTo>
                  <a:lnTo>
                    <a:pt x="78" y="290"/>
                  </a:lnTo>
                  <a:lnTo>
                    <a:pt x="58" y="277"/>
                  </a:lnTo>
                  <a:lnTo>
                    <a:pt x="40" y="262"/>
                  </a:lnTo>
                  <a:lnTo>
                    <a:pt x="25" y="245"/>
                  </a:lnTo>
                  <a:lnTo>
                    <a:pt x="14" y="226"/>
                  </a:lnTo>
                  <a:lnTo>
                    <a:pt x="6" y="209"/>
                  </a:lnTo>
                  <a:lnTo>
                    <a:pt x="1" y="190"/>
                  </a:lnTo>
                  <a:lnTo>
                    <a:pt x="0" y="172"/>
                  </a:lnTo>
                  <a:lnTo>
                    <a:pt x="3" y="157"/>
                  </a:lnTo>
                  <a:lnTo>
                    <a:pt x="8" y="146"/>
                  </a:lnTo>
                  <a:lnTo>
                    <a:pt x="18" y="139"/>
                  </a:lnTo>
                  <a:lnTo>
                    <a:pt x="28" y="135"/>
                  </a:lnTo>
                  <a:lnTo>
                    <a:pt x="40" y="132"/>
                  </a:lnTo>
                  <a:lnTo>
                    <a:pt x="52" y="131"/>
                  </a:lnTo>
                  <a:lnTo>
                    <a:pt x="64" y="131"/>
                  </a:lnTo>
                  <a:lnTo>
                    <a:pt x="72" y="132"/>
                  </a:lnTo>
                  <a:lnTo>
                    <a:pt x="78" y="133"/>
                  </a:lnTo>
                  <a:lnTo>
                    <a:pt x="80" y="133"/>
                  </a:lnTo>
                  <a:lnTo>
                    <a:pt x="91" y="135"/>
                  </a:lnTo>
                  <a:lnTo>
                    <a:pt x="102" y="135"/>
                  </a:lnTo>
                  <a:lnTo>
                    <a:pt x="117" y="132"/>
                  </a:lnTo>
                  <a:lnTo>
                    <a:pt x="130" y="129"/>
                  </a:lnTo>
                  <a:lnTo>
                    <a:pt x="142" y="122"/>
                  </a:lnTo>
                  <a:lnTo>
                    <a:pt x="154" y="112"/>
                  </a:lnTo>
                  <a:lnTo>
                    <a:pt x="160" y="105"/>
                  </a:lnTo>
                  <a:lnTo>
                    <a:pt x="165" y="98"/>
                  </a:lnTo>
                  <a:lnTo>
                    <a:pt x="170" y="92"/>
                  </a:lnTo>
                  <a:lnTo>
                    <a:pt x="175" y="86"/>
                  </a:lnTo>
                  <a:lnTo>
                    <a:pt x="184" y="80"/>
                  </a:lnTo>
                  <a:lnTo>
                    <a:pt x="195" y="76"/>
                  </a:lnTo>
                  <a:lnTo>
                    <a:pt x="212" y="72"/>
                  </a:lnTo>
                  <a:lnTo>
                    <a:pt x="232" y="69"/>
                  </a:lnTo>
                  <a:lnTo>
                    <a:pt x="259" y="65"/>
                  </a:lnTo>
                  <a:lnTo>
                    <a:pt x="287" y="64"/>
                  </a:lnTo>
                  <a:lnTo>
                    <a:pt x="313" y="69"/>
                  </a:lnTo>
                  <a:lnTo>
                    <a:pt x="335" y="76"/>
                  </a:lnTo>
                  <a:lnTo>
                    <a:pt x="355" y="88"/>
                  </a:lnTo>
                  <a:lnTo>
                    <a:pt x="374" y="100"/>
                  </a:lnTo>
                  <a:lnTo>
                    <a:pt x="391" y="117"/>
                  </a:lnTo>
                  <a:lnTo>
                    <a:pt x="405" y="135"/>
                  </a:lnTo>
                  <a:lnTo>
                    <a:pt x="420" y="153"/>
                  </a:lnTo>
                  <a:lnTo>
                    <a:pt x="433" y="173"/>
                  </a:lnTo>
                  <a:lnTo>
                    <a:pt x="443" y="190"/>
                  </a:lnTo>
                  <a:lnTo>
                    <a:pt x="453" y="209"/>
                  </a:lnTo>
                  <a:lnTo>
                    <a:pt x="474" y="249"/>
                  </a:lnTo>
                  <a:lnTo>
                    <a:pt x="486" y="270"/>
                  </a:lnTo>
                  <a:lnTo>
                    <a:pt x="501" y="291"/>
                  </a:lnTo>
                  <a:lnTo>
                    <a:pt x="519" y="311"/>
                  </a:lnTo>
                  <a:lnTo>
                    <a:pt x="540" y="330"/>
                  </a:lnTo>
                  <a:lnTo>
                    <a:pt x="566" y="349"/>
                  </a:lnTo>
                  <a:lnTo>
                    <a:pt x="597" y="365"/>
                  </a:lnTo>
                  <a:lnTo>
                    <a:pt x="634" y="379"/>
                  </a:lnTo>
                  <a:lnTo>
                    <a:pt x="671" y="390"/>
                  </a:lnTo>
                  <a:lnTo>
                    <a:pt x="714" y="398"/>
                  </a:lnTo>
                  <a:lnTo>
                    <a:pt x="760" y="405"/>
                  </a:lnTo>
                  <a:lnTo>
                    <a:pt x="809" y="411"/>
                  </a:lnTo>
                  <a:lnTo>
                    <a:pt x="912" y="418"/>
                  </a:lnTo>
                  <a:lnTo>
                    <a:pt x="963" y="419"/>
                  </a:lnTo>
                  <a:lnTo>
                    <a:pt x="1011" y="420"/>
                  </a:lnTo>
                  <a:lnTo>
                    <a:pt x="1098" y="420"/>
                  </a:lnTo>
                  <a:lnTo>
                    <a:pt x="1133" y="419"/>
                  </a:lnTo>
                  <a:lnTo>
                    <a:pt x="1162" y="418"/>
                  </a:lnTo>
                  <a:lnTo>
                    <a:pt x="1183" y="416"/>
                  </a:lnTo>
                  <a:lnTo>
                    <a:pt x="1206" y="410"/>
                  </a:lnTo>
                  <a:lnTo>
                    <a:pt x="1227" y="398"/>
                  </a:lnTo>
                  <a:lnTo>
                    <a:pt x="1247" y="380"/>
                  </a:lnTo>
                  <a:lnTo>
                    <a:pt x="1265" y="358"/>
                  </a:lnTo>
                  <a:lnTo>
                    <a:pt x="1282" y="331"/>
                  </a:lnTo>
                  <a:lnTo>
                    <a:pt x="1296" y="300"/>
                  </a:lnTo>
                  <a:lnTo>
                    <a:pt x="1307" y="267"/>
                  </a:lnTo>
                  <a:lnTo>
                    <a:pt x="1318" y="231"/>
                  </a:lnTo>
                  <a:lnTo>
                    <a:pt x="1325" y="192"/>
                  </a:lnTo>
                  <a:lnTo>
                    <a:pt x="1327" y="162"/>
                  </a:lnTo>
                  <a:lnTo>
                    <a:pt x="1327" y="135"/>
                  </a:lnTo>
                  <a:lnTo>
                    <a:pt x="1323" y="111"/>
                  </a:lnTo>
                  <a:lnTo>
                    <a:pt x="1317" y="91"/>
                  </a:lnTo>
                  <a:lnTo>
                    <a:pt x="1309" y="72"/>
                  </a:lnTo>
                  <a:lnTo>
                    <a:pt x="1300" y="57"/>
                  </a:lnTo>
                  <a:lnTo>
                    <a:pt x="1291" y="44"/>
                  </a:lnTo>
                  <a:lnTo>
                    <a:pt x="1284" y="33"/>
                  </a:lnTo>
                  <a:lnTo>
                    <a:pt x="1278" y="24"/>
                  </a:lnTo>
                  <a:lnTo>
                    <a:pt x="1275" y="17"/>
                  </a:lnTo>
                  <a:lnTo>
                    <a:pt x="1275" y="11"/>
                  </a:lnTo>
                  <a:lnTo>
                    <a:pt x="1279" y="4"/>
                  </a:lnTo>
                  <a:lnTo>
                    <a:pt x="1286" y="0"/>
                  </a:lnTo>
                  <a:close/>
                </a:path>
              </a:pathLst>
            </a:custGeom>
            <a:solidFill>
              <a:schemeClr val="bg1"/>
            </a:solidFill>
            <a:ln w="0">
              <a:noFill/>
              <a:prstDash val="solid"/>
              <a:round/>
              <a:headEnd/>
              <a:tailEnd/>
            </a:ln>
            <a:effectLst/>
            <a:scene3d>
              <a:camera prst="orthographicFront"/>
              <a:lightRig rig="balanced" dir="t">
                <a:rot lat="0" lon="0" rev="4200000"/>
              </a:lightRig>
            </a:scene3d>
            <a:sp3d prstMaterial="metal"/>
          </p:spPr>
          <p:txBody>
            <a:bodyPr vert="horz" wrap="square" lIns="91440" tIns="45720" rIns="91440" bIns="45720" numCol="1" anchor="t" anchorCtr="0" compatLnSpc="1">
              <a:prstTxWarp prst="textNoShape">
                <a:avLst/>
              </a:prstTxWarp>
            </a:bodyPr>
            <a:lstStyle/>
            <a:p>
              <a:endParaRPr lang="en-IN" dirty="0">
                <a:latin typeface="Helvetica" pitchFamily="34" charset="0"/>
              </a:endParaRPr>
            </a:p>
          </p:txBody>
        </p:sp>
        <p:sp>
          <p:nvSpPr>
            <p:cNvPr id="18" name="Freeform 19"/>
            <p:cNvSpPr>
              <a:spLocks/>
            </p:cNvSpPr>
            <p:nvPr/>
          </p:nvSpPr>
          <p:spPr bwMode="auto">
            <a:xfrm>
              <a:off x="3292053" y="5614609"/>
              <a:ext cx="6291" cy="14747"/>
            </a:xfrm>
            <a:custGeom>
              <a:avLst/>
              <a:gdLst/>
              <a:ahLst/>
              <a:cxnLst>
                <a:cxn ang="0">
                  <a:pos x="0" y="0"/>
                </a:cxn>
                <a:cxn ang="0">
                  <a:pos x="4" y="0"/>
                </a:cxn>
                <a:cxn ang="0">
                  <a:pos x="4" y="2"/>
                </a:cxn>
                <a:cxn ang="0">
                  <a:pos x="5" y="4"/>
                </a:cxn>
                <a:cxn ang="0">
                  <a:pos x="5" y="7"/>
                </a:cxn>
                <a:cxn ang="0">
                  <a:pos x="6" y="10"/>
                </a:cxn>
                <a:cxn ang="0">
                  <a:pos x="6" y="16"/>
                </a:cxn>
                <a:cxn ang="0">
                  <a:pos x="5" y="15"/>
                </a:cxn>
                <a:cxn ang="0">
                  <a:pos x="4" y="11"/>
                </a:cxn>
                <a:cxn ang="0">
                  <a:pos x="3" y="6"/>
                </a:cxn>
                <a:cxn ang="0">
                  <a:pos x="0" y="0"/>
                </a:cxn>
              </a:cxnLst>
              <a:rect l="0" t="0" r="r" b="b"/>
              <a:pathLst>
                <a:path w="6" h="16">
                  <a:moveTo>
                    <a:pt x="0" y="0"/>
                  </a:moveTo>
                  <a:lnTo>
                    <a:pt x="4" y="0"/>
                  </a:lnTo>
                  <a:lnTo>
                    <a:pt x="4" y="2"/>
                  </a:lnTo>
                  <a:lnTo>
                    <a:pt x="5" y="4"/>
                  </a:lnTo>
                  <a:lnTo>
                    <a:pt x="5" y="7"/>
                  </a:lnTo>
                  <a:lnTo>
                    <a:pt x="6" y="10"/>
                  </a:lnTo>
                  <a:lnTo>
                    <a:pt x="6" y="16"/>
                  </a:lnTo>
                  <a:lnTo>
                    <a:pt x="5" y="15"/>
                  </a:lnTo>
                  <a:lnTo>
                    <a:pt x="4" y="11"/>
                  </a:lnTo>
                  <a:lnTo>
                    <a:pt x="3" y="6"/>
                  </a:lnTo>
                  <a:lnTo>
                    <a:pt x="0" y="0"/>
                  </a:lnTo>
                  <a:close/>
                </a:path>
              </a:pathLst>
            </a:custGeom>
            <a:solidFill>
              <a:schemeClr val="bg1"/>
            </a:solidFill>
            <a:ln w="0">
              <a:noFill/>
              <a:prstDash val="solid"/>
              <a:round/>
              <a:headEnd/>
              <a:tailEnd/>
            </a:ln>
            <a:scene3d>
              <a:camera prst="orthographicFront"/>
              <a:lightRig rig="balanced" dir="t">
                <a:rot lat="0" lon="0" rev="4200000"/>
              </a:lightRig>
            </a:scene3d>
            <a:sp3d prstMaterial="metal"/>
          </p:spPr>
          <p:txBody>
            <a:bodyPr vert="horz" wrap="square" lIns="91440" tIns="45720" rIns="91440" bIns="45720" numCol="1" anchor="t" anchorCtr="0" compatLnSpc="1">
              <a:prstTxWarp prst="textNoShape">
                <a:avLst/>
              </a:prstTxWarp>
            </a:bodyPr>
            <a:lstStyle/>
            <a:p>
              <a:endParaRPr lang="en-IN" dirty="0">
                <a:latin typeface="Helvetica" pitchFamily="34" charset="0"/>
              </a:endParaRPr>
            </a:p>
          </p:txBody>
        </p:sp>
        <p:sp>
          <p:nvSpPr>
            <p:cNvPr id="19" name="Freeform 20"/>
            <p:cNvSpPr>
              <a:spLocks/>
            </p:cNvSpPr>
            <p:nvPr/>
          </p:nvSpPr>
          <p:spPr bwMode="auto">
            <a:xfrm flipH="1">
              <a:off x="2386168" y="4524222"/>
              <a:ext cx="2109632" cy="1095917"/>
            </a:xfrm>
            <a:custGeom>
              <a:avLst/>
              <a:gdLst/>
              <a:ahLst/>
              <a:cxnLst>
                <a:cxn ang="0">
                  <a:pos x="631" y="53"/>
                </a:cxn>
                <a:cxn ang="0">
                  <a:pos x="937" y="54"/>
                </a:cxn>
                <a:cxn ang="0">
                  <a:pos x="1170" y="35"/>
                </a:cxn>
                <a:cxn ang="0">
                  <a:pos x="1312" y="77"/>
                </a:cxn>
                <a:cxn ang="0">
                  <a:pos x="1441" y="120"/>
                </a:cxn>
                <a:cxn ang="0">
                  <a:pos x="1630" y="100"/>
                </a:cxn>
                <a:cxn ang="0">
                  <a:pos x="1716" y="37"/>
                </a:cxn>
                <a:cxn ang="0">
                  <a:pos x="1805" y="107"/>
                </a:cxn>
                <a:cxn ang="0">
                  <a:pos x="1868" y="184"/>
                </a:cxn>
                <a:cxn ang="0">
                  <a:pos x="1966" y="265"/>
                </a:cxn>
                <a:cxn ang="0">
                  <a:pos x="2012" y="297"/>
                </a:cxn>
                <a:cxn ang="0">
                  <a:pos x="1990" y="354"/>
                </a:cxn>
                <a:cxn ang="0">
                  <a:pos x="1970" y="397"/>
                </a:cxn>
                <a:cxn ang="0">
                  <a:pos x="1756" y="394"/>
                </a:cxn>
                <a:cxn ang="0">
                  <a:pos x="1575" y="453"/>
                </a:cxn>
                <a:cxn ang="0">
                  <a:pos x="1413" y="659"/>
                </a:cxn>
                <a:cxn ang="0">
                  <a:pos x="1278" y="747"/>
                </a:cxn>
                <a:cxn ang="0">
                  <a:pos x="1233" y="819"/>
                </a:cxn>
                <a:cxn ang="0">
                  <a:pos x="1200" y="958"/>
                </a:cxn>
                <a:cxn ang="0">
                  <a:pos x="1201" y="1138"/>
                </a:cxn>
                <a:cxn ang="0">
                  <a:pos x="1119" y="1166"/>
                </a:cxn>
                <a:cxn ang="0">
                  <a:pos x="1106" y="875"/>
                </a:cxn>
                <a:cxn ang="0">
                  <a:pos x="1084" y="948"/>
                </a:cxn>
                <a:cxn ang="0">
                  <a:pos x="1071" y="1063"/>
                </a:cxn>
                <a:cxn ang="0">
                  <a:pos x="1091" y="1143"/>
                </a:cxn>
                <a:cxn ang="0">
                  <a:pos x="1013" y="1170"/>
                </a:cxn>
                <a:cxn ang="0">
                  <a:pos x="1003" y="1140"/>
                </a:cxn>
                <a:cxn ang="0">
                  <a:pos x="1001" y="1058"/>
                </a:cxn>
                <a:cxn ang="0">
                  <a:pos x="1014" y="931"/>
                </a:cxn>
                <a:cxn ang="0">
                  <a:pos x="1010" y="802"/>
                </a:cxn>
                <a:cxn ang="0">
                  <a:pos x="876" y="718"/>
                </a:cxn>
                <a:cxn ang="0">
                  <a:pos x="649" y="713"/>
                </a:cxn>
                <a:cxn ang="0">
                  <a:pos x="504" y="828"/>
                </a:cxn>
                <a:cxn ang="0">
                  <a:pos x="563" y="1067"/>
                </a:cxn>
                <a:cxn ang="0">
                  <a:pos x="601" y="1132"/>
                </a:cxn>
                <a:cxn ang="0">
                  <a:pos x="562" y="1182"/>
                </a:cxn>
                <a:cxn ang="0">
                  <a:pos x="516" y="1103"/>
                </a:cxn>
                <a:cxn ang="0">
                  <a:pos x="431" y="893"/>
                </a:cxn>
                <a:cxn ang="0">
                  <a:pos x="383" y="824"/>
                </a:cxn>
                <a:cxn ang="0">
                  <a:pos x="371" y="812"/>
                </a:cxn>
                <a:cxn ang="0">
                  <a:pos x="341" y="767"/>
                </a:cxn>
                <a:cxn ang="0">
                  <a:pos x="243" y="833"/>
                </a:cxn>
                <a:cxn ang="0">
                  <a:pos x="221" y="969"/>
                </a:cxn>
                <a:cxn ang="0">
                  <a:pos x="229" y="1121"/>
                </a:cxn>
                <a:cxn ang="0">
                  <a:pos x="270" y="1160"/>
                </a:cxn>
                <a:cxn ang="0">
                  <a:pos x="156" y="820"/>
                </a:cxn>
                <a:cxn ang="0">
                  <a:pos x="181" y="659"/>
                </a:cxn>
                <a:cxn ang="0">
                  <a:pos x="193" y="473"/>
                </a:cxn>
                <a:cxn ang="0">
                  <a:pos x="188" y="205"/>
                </a:cxn>
                <a:cxn ang="0">
                  <a:pos x="161" y="218"/>
                </a:cxn>
                <a:cxn ang="0">
                  <a:pos x="109" y="445"/>
                </a:cxn>
                <a:cxn ang="0">
                  <a:pos x="80" y="582"/>
                </a:cxn>
                <a:cxn ang="0">
                  <a:pos x="72" y="691"/>
                </a:cxn>
                <a:cxn ang="0">
                  <a:pos x="1" y="752"/>
                </a:cxn>
                <a:cxn ang="0">
                  <a:pos x="32" y="633"/>
                </a:cxn>
                <a:cxn ang="0">
                  <a:pos x="61" y="555"/>
                </a:cxn>
                <a:cxn ang="0">
                  <a:pos x="96" y="375"/>
                </a:cxn>
                <a:cxn ang="0">
                  <a:pos x="127" y="227"/>
                </a:cxn>
                <a:cxn ang="0">
                  <a:pos x="199" y="54"/>
                </a:cxn>
              </a:cxnLst>
              <a:rect l="0" t="0" r="r" b="b"/>
              <a:pathLst>
                <a:path w="2012" h="1189">
                  <a:moveTo>
                    <a:pt x="394" y="0"/>
                  </a:moveTo>
                  <a:lnTo>
                    <a:pt x="436" y="1"/>
                  </a:lnTo>
                  <a:lnTo>
                    <a:pt x="478" y="6"/>
                  </a:lnTo>
                  <a:lnTo>
                    <a:pt x="521" y="17"/>
                  </a:lnTo>
                  <a:lnTo>
                    <a:pt x="561" y="32"/>
                  </a:lnTo>
                  <a:lnTo>
                    <a:pt x="594" y="44"/>
                  </a:lnTo>
                  <a:lnTo>
                    <a:pt x="631" y="53"/>
                  </a:lnTo>
                  <a:lnTo>
                    <a:pt x="672" y="59"/>
                  </a:lnTo>
                  <a:lnTo>
                    <a:pt x="716" y="63"/>
                  </a:lnTo>
                  <a:lnTo>
                    <a:pt x="760" y="64"/>
                  </a:lnTo>
                  <a:lnTo>
                    <a:pt x="806" y="64"/>
                  </a:lnTo>
                  <a:lnTo>
                    <a:pt x="851" y="61"/>
                  </a:lnTo>
                  <a:lnTo>
                    <a:pt x="896" y="58"/>
                  </a:lnTo>
                  <a:lnTo>
                    <a:pt x="937" y="54"/>
                  </a:lnTo>
                  <a:lnTo>
                    <a:pt x="976" y="51"/>
                  </a:lnTo>
                  <a:lnTo>
                    <a:pt x="1010" y="46"/>
                  </a:lnTo>
                  <a:lnTo>
                    <a:pt x="1039" y="43"/>
                  </a:lnTo>
                  <a:lnTo>
                    <a:pt x="1061" y="40"/>
                  </a:lnTo>
                  <a:lnTo>
                    <a:pt x="1098" y="37"/>
                  </a:lnTo>
                  <a:lnTo>
                    <a:pt x="1134" y="35"/>
                  </a:lnTo>
                  <a:lnTo>
                    <a:pt x="1170" y="35"/>
                  </a:lnTo>
                  <a:lnTo>
                    <a:pt x="1202" y="38"/>
                  </a:lnTo>
                  <a:lnTo>
                    <a:pt x="1234" y="44"/>
                  </a:lnTo>
                  <a:lnTo>
                    <a:pt x="1264" y="52"/>
                  </a:lnTo>
                  <a:lnTo>
                    <a:pt x="1291" y="64"/>
                  </a:lnTo>
                  <a:lnTo>
                    <a:pt x="1293" y="65"/>
                  </a:lnTo>
                  <a:lnTo>
                    <a:pt x="1301" y="70"/>
                  </a:lnTo>
                  <a:lnTo>
                    <a:pt x="1312" y="77"/>
                  </a:lnTo>
                  <a:lnTo>
                    <a:pt x="1327" y="85"/>
                  </a:lnTo>
                  <a:lnTo>
                    <a:pt x="1345" y="93"/>
                  </a:lnTo>
                  <a:lnTo>
                    <a:pt x="1363" y="103"/>
                  </a:lnTo>
                  <a:lnTo>
                    <a:pt x="1383" y="110"/>
                  </a:lnTo>
                  <a:lnTo>
                    <a:pt x="1403" y="115"/>
                  </a:lnTo>
                  <a:lnTo>
                    <a:pt x="1422" y="119"/>
                  </a:lnTo>
                  <a:lnTo>
                    <a:pt x="1441" y="120"/>
                  </a:lnTo>
                  <a:lnTo>
                    <a:pt x="1463" y="123"/>
                  </a:lnTo>
                  <a:lnTo>
                    <a:pt x="1539" y="123"/>
                  </a:lnTo>
                  <a:lnTo>
                    <a:pt x="1563" y="120"/>
                  </a:lnTo>
                  <a:lnTo>
                    <a:pt x="1586" y="118"/>
                  </a:lnTo>
                  <a:lnTo>
                    <a:pt x="1604" y="113"/>
                  </a:lnTo>
                  <a:lnTo>
                    <a:pt x="1620" y="107"/>
                  </a:lnTo>
                  <a:lnTo>
                    <a:pt x="1630" y="100"/>
                  </a:lnTo>
                  <a:lnTo>
                    <a:pt x="1640" y="87"/>
                  </a:lnTo>
                  <a:lnTo>
                    <a:pt x="1656" y="61"/>
                  </a:lnTo>
                  <a:lnTo>
                    <a:pt x="1664" y="50"/>
                  </a:lnTo>
                  <a:lnTo>
                    <a:pt x="1674" y="40"/>
                  </a:lnTo>
                  <a:lnTo>
                    <a:pt x="1686" y="33"/>
                  </a:lnTo>
                  <a:lnTo>
                    <a:pt x="1700" y="32"/>
                  </a:lnTo>
                  <a:lnTo>
                    <a:pt x="1716" y="37"/>
                  </a:lnTo>
                  <a:lnTo>
                    <a:pt x="1731" y="47"/>
                  </a:lnTo>
                  <a:lnTo>
                    <a:pt x="1746" y="60"/>
                  </a:lnTo>
                  <a:lnTo>
                    <a:pt x="1760" y="74"/>
                  </a:lnTo>
                  <a:lnTo>
                    <a:pt x="1773" y="88"/>
                  </a:lnTo>
                  <a:lnTo>
                    <a:pt x="1786" y="99"/>
                  </a:lnTo>
                  <a:lnTo>
                    <a:pt x="1796" y="105"/>
                  </a:lnTo>
                  <a:lnTo>
                    <a:pt x="1805" y="107"/>
                  </a:lnTo>
                  <a:lnTo>
                    <a:pt x="1816" y="111"/>
                  </a:lnTo>
                  <a:lnTo>
                    <a:pt x="1825" y="114"/>
                  </a:lnTo>
                  <a:lnTo>
                    <a:pt x="1836" y="121"/>
                  </a:lnTo>
                  <a:lnTo>
                    <a:pt x="1845" y="130"/>
                  </a:lnTo>
                  <a:lnTo>
                    <a:pt x="1854" y="143"/>
                  </a:lnTo>
                  <a:lnTo>
                    <a:pt x="1862" y="160"/>
                  </a:lnTo>
                  <a:lnTo>
                    <a:pt x="1868" y="184"/>
                  </a:lnTo>
                  <a:lnTo>
                    <a:pt x="1872" y="193"/>
                  </a:lnTo>
                  <a:lnTo>
                    <a:pt x="1878" y="202"/>
                  </a:lnTo>
                  <a:lnTo>
                    <a:pt x="1889" y="215"/>
                  </a:lnTo>
                  <a:lnTo>
                    <a:pt x="1903" y="228"/>
                  </a:lnTo>
                  <a:lnTo>
                    <a:pt x="1922" y="242"/>
                  </a:lnTo>
                  <a:lnTo>
                    <a:pt x="1946" y="257"/>
                  </a:lnTo>
                  <a:lnTo>
                    <a:pt x="1966" y="265"/>
                  </a:lnTo>
                  <a:lnTo>
                    <a:pt x="1982" y="271"/>
                  </a:lnTo>
                  <a:lnTo>
                    <a:pt x="1994" y="274"/>
                  </a:lnTo>
                  <a:lnTo>
                    <a:pt x="2003" y="277"/>
                  </a:lnTo>
                  <a:lnTo>
                    <a:pt x="2008" y="279"/>
                  </a:lnTo>
                  <a:lnTo>
                    <a:pt x="2011" y="282"/>
                  </a:lnTo>
                  <a:lnTo>
                    <a:pt x="2012" y="288"/>
                  </a:lnTo>
                  <a:lnTo>
                    <a:pt x="2012" y="297"/>
                  </a:lnTo>
                  <a:lnTo>
                    <a:pt x="2010" y="310"/>
                  </a:lnTo>
                  <a:lnTo>
                    <a:pt x="2006" y="326"/>
                  </a:lnTo>
                  <a:lnTo>
                    <a:pt x="2003" y="339"/>
                  </a:lnTo>
                  <a:lnTo>
                    <a:pt x="1999" y="346"/>
                  </a:lnTo>
                  <a:lnTo>
                    <a:pt x="1996" y="351"/>
                  </a:lnTo>
                  <a:lnTo>
                    <a:pt x="1992" y="353"/>
                  </a:lnTo>
                  <a:lnTo>
                    <a:pt x="1990" y="354"/>
                  </a:lnTo>
                  <a:lnTo>
                    <a:pt x="1989" y="354"/>
                  </a:lnTo>
                  <a:lnTo>
                    <a:pt x="1989" y="357"/>
                  </a:lnTo>
                  <a:lnTo>
                    <a:pt x="1990" y="364"/>
                  </a:lnTo>
                  <a:lnTo>
                    <a:pt x="1988" y="382"/>
                  </a:lnTo>
                  <a:lnTo>
                    <a:pt x="1984" y="391"/>
                  </a:lnTo>
                  <a:lnTo>
                    <a:pt x="1978" y="395"/>
                  </a:lnTo>
                  <a:lnTo>
                    <a:pt x="1970" y="397"/>
                  </a:lnTo>
                  <a:lnTo>
                    <a:pt x="1910" y="397"/>
                  </a:lnTo>
                  <a:lnTo>
                    <a:pt x="1883" y="395"/>
                  </a:lnTo>
                  <a:lnTo>
                    <a:pt x="1855" y="394"/>
                  </a:lnTo>
                  <a:lnTo>
                    <a:pt x="1827" y="394"/>
                  </a:lnTo>
                  <a:lnTo>
                    <a:pt x="1800" y="393"/>
                  </a:lnTo>
                  <a:lnTo>
                    <a:pt x="1776" y="393"/>
                  </a:lnTo>
                  <a:lnTo>
                    <a:pt x="1756" y="394"/>
                  </a:lnTo>
                  <a:lnTo>
                    <a:pt x="1742" y="395"/>
                  </a:lnTo>
                  <a:lnTo>
                    <a:pt x="1722" y="399"/>
                  </a:lnTo>
                  <a:lnTo>
                    <a:pt x="1696" y="405"/>
                  </a:lnTo>
                  <a:lnTo>
                    <a:pt x="1667" y="412"/>
                  </a:lnTo>
                  <a:lnTo>
                    <a:pt x="1635" y="422"/>
                  </a:lnTo>
                  <a:lnTo>
                    <a:pt x="1604" y="437"/>
                  </a:lnTo>
                  <a:lnTo>
                    <a:pt x="1575" y="453"/>
                  </a:lnTo>
                  <a:lnTo>
                    <a:pt x="1549" y="473"/>
                  </a:lnTo>
                  <a:lnTo>
                    <a:pt x="1532" y="492"/>
                  </a:lnTo>
                  <a:lnTo>
                    <a:pt x="1513" y="515"/>
                  </a:lnTo>
                  <a:lnTo>
                    <a:pt x="1494" y="542"/>
                  </a:lnTo>
                  <a:lnTo>
                    <a:pt x="1473" y="572"/>
                  </a:lnTo>
                  <a:lnTo>
                    <a:pt x="1433" y="631"/>
                  </a:lnTo>
                  <a:lnTo>
                    <a:pt x="1413" y="659"/>
                  </a:lnTo>
                  <a:lnTo>
                    <a:pt x="1394" y="682"/>
                  </a:lnTo>
                  <a:lnTo>
                    <a:pt x="1376" y="702"/>
                  </a:lnTo>
                  <a:lnTo>
                    <a:pt x="1360" y="716"/>
                  </a:lnTo>
                  <a:lnTo>
                    <a:pt x="1338" y="729"/>
                  </a:lnTo>
                  <a:lnTo>
                    <a:pt x="1316" y="738"/>
                  </a:lnTo>
                  <a:lnTo>
                    <a:pt x="1295" y="744"/>
                  </a:lnTo>
                  <a:lnTo>
                    <a:pt x="1278" y="747"/>
                  </a:lnTo>
                  <a:lnTo>
                    <a:pt x="1264" y="749"/>
                  </a:lnTo>
                  <a:lnTo>
                    <a:pt x="1253" y="753"/>
                  </a:lnTo>
                  <a:lnTo>
                    <a:pt x="1247" y="758"/>
                  </a:lnTo>
                  <a:lnTo>
                    <a:pt x="1245" y="765"/>
                  </a:lnTo>
                  <a:lnTo>
                    <a:pt x="1241" y="779"/>
                  </a:lnTo>
                  <a:lnTo>
                    <a:pt x="1238" y="796"/>
                  </a:lnTo>
                  <a:lnTo>
                    <a:pt x="1233" y="819"/>
                  </a:lnTo>
                  <a:lnTo>
                    <a:pt x="1228" y="842"/>
                  </a:lnTo>
                  <a:lnTo>
                    <a:pt x="1224" y="867"/>
                  </a:lnTo>
                  <a:lnTo>
                    <a:pt x="1218" y="891"/>
                  </a:lnTo>
                  <a:lnTo>
                    <a:pt x="1213" y="912"/>
                  </a:lnTo>
                  <a:lnTo>
                    <a:pt x="1208" y="931"/>
                  </a:lnTo>
                  <a:lnTo>
                    <a:pt x="1204" y="943"/>
                  </a:lnTo>
                  <a:lnTo>
                    <a:pt x="1200" y="958"/>
                  </a:lnTo>
                  <a:lnTo>
                    <a:pt x="1197" y="976"/>
                  </a:lnTo>
                  <a:lnTo>
                    <a:pt x="1195" y="1000"/>
                  </a:lnTo>
                  <a:lnTo>
                    <a:pt x="1193" y="1025"/>
                  </a:lnTo>
                  <a:lnTo>
                    <a:pt x="1192" y="1051"/>
                  </a:lnTo>
                  <a:lnTo>
                    <a:pt x="1192" y="1132"/>
                  </a:lnTo>
                  <a:lnTo>
                    <a:pt x="1194" y="1133"/>
                  </a:lnTo>
                  <a:lnTo>
                    <a:pt x="1201" y="1138"/>
                  </a:lnTo>
                  <a:lnTo>
                    <a:pt x="1211" y="1145"/>
                  </a:lnTo>
                  <a:lnTo>
                    <a:pt x="1219" y="1155"/>
                  </a:lnTo>
                  <a:lnTo>
                    <a:pt x="1226" y="1168"/>
                  </a:lnTo>
                  <a:lnTo>
                    <a:pt x="1229" y="1183"/>
                  </a:lnTo>
                  <a:lnTo>
                    <a:pt x="1134" y="1183"/>
                  </a:lnTo>
                  <a:lnTo>
                    <a:pt x="1134" y="1168"/>
                  </a:lnTo>
                  <a:lnTo>
                    <a:pt x="1119" y="1166"/>
                  </a:lnTo>
                  <a:lnTo>
                    <a:pt x="1119" y="1135"/>
                  </a:lnTo>
                  <a:lnTo>
                    <a:pt x="1126" y="1130"/>
                  </a:lnTo>
                  <a:lnTo>
                    <a:pt x="1113" y="919"/>
                  </a:lnTo>
                  <a:lnTo>
                    <a:pt x="1113" y="915"/>
                  </a:lnTo>
                  <a:lnTo>
                    <a:pt x="1111" y="907"/>
                  </a:lnTo>
                  <a:lnTo>
                    <a:pt x="1108" y="893"/>
                  </a:lnTo>
                  <a:lnTo>
                    <a:pt x="1106" y="875"/>
                  </a:lnTo>
                  <a:lnTo>
                    <a:pt x="1103" y="854"/>
                  </a:lnTo>
                  <a:lnTo>
                    <a:pt x="1103" y="858"/>
                  </a:lnTo>
                  <a:lnTo>
                    <a:pt x="1100" y="878"/>
                  </a:lnTo>
                  <a:lnTo>
                    <a:pt x="1097" y="898"/>
                  </a:lnTo>
                  <a:lnTo>
                    <a:pt x="1092" y="918"/>
                  </a:lnTo>
                  <a:lnTo>
                    <a:pt x="1087" y="934"/>
                  </a:lnTo>
                  <a:lnTo>
                    <a:pt x="1084" y="948"/>
                  </a:lnTo>
                  <a:lnTo>
                    <a:pt x="1080" y="959"/>
                  </a:lnTo>
                  <a:lnTo>
                    <a:pt x="1079" y="965"/>
                  </a:lnTo>
                  <a:lnTo>
                    <a:pt x="1079" y="980"/>
                  </a:lnTo>
                  <a:lnTo>
                    <a:pt x="1078" y="999"/>
                  </a:lnTo>
                  <a:lnTo>
                    <a:pt x="1077" y="1020"/>
                  </a:lnTo>
                  <a:lnTo>
                    <a:pt x="1074" y="1042"/>
                  </a:lnTo>
                  <a:lnTo>
                    <a:pt x="1071" y="1063"/>
                  </a:lnTo>
                  <a:lnTo>
                    <a:pt x="1068" y="1085"/>
                  </a:lnTo>
                  <a:lnTo>
                    <a:pt x="1066" y="1102"/>
                  </a:lnTo>
                  <a:lnTo>
                    <a:pt x="1064" y="1116"/>
                  </a:lnTo>
                  <a:lnTo>
                    <a:pt x="1061" y="1126"/>
                  </a:lnTo>
                  <a:lnTo>
                    <a:pt x="1061" y="1129"/>
                  </a:lnTo>
                  <a:lnTo>
                    <a:pt x="1079" y="1136"/>
                  </a:lnTo>
                  <a:lnTo>
                    <a:pt x="1091" y="1143"/>
                  </a:lnTo>
                  <a:lnTo>
                    <a:pt x="1100" y="1152"/>
                  </a:lnTo>
                  <a:lnTo>
                    <a:pt x="1105" y="1160"/>
                  </a:lnTo>
                  <a:lnTo>
                    <a:pt x="1107" y="1167"/>
                  </a:lnTo>
                  <a:lnTo>
                    <a:pt x="1107" y="1179"/>
                  </a:lnTo>
                  <a:lnTo>
                    <a:pt x="1025" y="1178"/>
                  </a:lnTo>
                  <a:lnTo>
                    <a:pt x="1017" y="1175"/>
                  </a:lnTo>
                  <a:lnTo>
                    <a:pt x="1013" y="1170"/>
                  </a:lnTo>
                  <a:lnTo>
                    <a:pt x="1012" y="1163"/>
                  </a:lnTo>
                  <a:lnTo>
                    <a:pt x="1013" y="1158"/>
                  </a:lnTo>
                  <a:lnTo>
                    <a:pt x="1013" y="1153"/>
                  </a:lnTo>
                  <a:lnTo>
                    <a:pt x="1014" y="1150"/>
                  </a:lnTo>
                  <a:lnTo>
                    <a:pt x="1005" y="1150"/>
                  </a:lnTo>
                  <a:lnTo>
                    <a:pt x="1004" y="1148"/>
                  </a:lnTo>
                  <a:lnTo>
                    <a:pt x="1003" y="1140"/>
                  </a:lnTo>
                  <a:lnTo>
                    <a:pt x="1001" y="1129"/>
                  </a:lnTo>
                  <a:lnTo>
                    <a:pt x="999" y="1118"/>
                  </a:lnTo>
                  <a:lnTo>
                    <a:pt x="998" y="1106"/>
                  </a:lnTo>
                  <a:lnTo>
                    <a:pt x="998" y="1096"/>
                  </a:lnTo>
                  <a:lnTo>
                    <a:pt x="999" y="1088"/>
                  </a:lnTo>
                  <a:lnTo>
                    <a:pt x="1000" y="1075"/>
                  </a:lnTo>
                  <a:lnTo>
                    <a:pt x="1001" y="1058"/>
                  </a:lnTo>
                  <a:lnTo>
                    <a:pt x="1004" y="1038"/>
                  </a:lnTo>
                  <a:lnTo>
                    <a:pt x="1005" y="1016"/>
                  </a:lnTo>
                  <a:lnTo>
                    <a:pt x="1007" y="994"/>
                  </a:lnTo>
                  <a:lnTo>
                    <a:pt x="1010" y="973"/>
                  </a:lnTo>
                  <a:lnTo>
                    <a:pt x="1012" y="955"/>
                  </a:lnTo>
                  <a:lnTo>
                    <a:pt x="1013" y="940"/>
                  </a:lnTo>
                  <a:lnTo>
                    <a:pt x="1014" y="931"/>
                  </a:lnTo>
                  <a:lnTo>
                    <a:pt x="1014" y="927"/>
                  </a:lnTo>
                  <a:lnTo>
                    <a:pt x="1017" y="914"/>
                  </a:lnTo>
                  <a:lnTo>
                    <a:pt x="1018" y="896"/>
                  </a:lnTo>
                  <a:lnTo>
                    <a:pt x="1017" y="878"/>
                  </a:lnTo>
                  <a:lnTo>
                    <a:pt x="1014" y="838"/>
                  </a:lnTo>
                  <a:lnTo>
                    <a:pt x="1012" y="819"/>
                  </a:lnTo>
                  <a:lnTo>
                    <a:pt x="1010" y="802"/>
                  </a:lnTo>
                  <a:lnTo>
                    <a:pt x="1008" y="788"/>
                  </a:lnTo>
                  <a:lnTo>
                    <a:pt x="1006" y="780"/>
                  </a:lnTo>
                  <a:lnTo>
                    <a:pt x="1006" y="776"/>
                  </a:lnTo>
                  <a:lnTo>
                    <a:pt x="979" y="701"/>
                  </a:lnTo>
                  <a:lnTo>
                    <a:pt x="946" y="707"/>
                  </a:lnTo>
                  <a:lnTo>
                    <a:pt x="912" y="712"/>
                  </a:lnTo>
                  <a:lnTo>
                    <a:pt x="876" y="718"/>
                  </a:lnTo>
                  <a:lnTo>
                    <a:pt x="839" y="722"/>
                  </a:lnTo>
                  <a:lnTo>
                    <a:pt x="803" y="726"/>
                  </a:lnTo>
                  <a:lnTo>
                    <a:pt x="769" y="728"/>
                  </a:lnTo>
                  <a:lnTo>
                    <a:pt x="738" y="729"/>
                  </a:lnTo>
                  <a:lnTo>
                    <a:pt x="711" y="727"/>
                  </a:lnTo>
                  <a:lnTo>
                    <a:pt x="689" y="724"/>
                  </a:lnTo>
                  <a:lnTo>
                    <a:pt x="649" y="713"/>
                  </a:lnTo>
                  <a:lnTo>
                    <a:pt x="613" y="705"/>
                  </a:lnTo>
                  <a:lnTo>
                    <a:pt x="583" y="700"/>
                  </a:lnTo>
                  <a:lnTo>
                    <a:pt x="557" y="726"/>
                  </a:lnTo>
                  <a:lnTo>
                    <a:pt x="531" y="746"/>
                  </a:lnTo>
                  <a:lnTo>
                    <a:pt x="508" y="762"/>
                  </a:lnTo>
                  <a:lnTo>
                    <a:pt x="505" y="793"/>
                  </a:lnTo>
                  <a:lnTo>
                    <a:pt x="504" y="828"/>
                  </a:lnTo>
                  <a:lnTo>
                    <a:pt x="504" y="866"/>
                  </a:lnTo>
                  <a:lnTo>
                    <a:pt x="508" y="903"/>
                  </a:lnTo>
                  <a:lnTo>
                    <a:pt x="514" y="941"/>
                  </a:lnTo>
                  <a:lnTo>
                    <a:pt x="522" y="976"/>
                  </a:lnTo>
                  <a:lnTo>
                    <a:pt x="534" y="1008"/>
                  </a:lnTo>
                  <a:lnTo>
                    <a:pt x="549" y="1041"/>
                  </a:lnTo>
                  <a:lnTo>
                    <a:pt x="563" y="1067"/>
                  </a:lnTo>
                  <a:lnTo>
                    <a:pt x="574" y="1089"/>
                  </a:lnTo>
                  <a:lnTo>
                    <a:pt x="583" y="1105"/>
                  </a:lnTo>
                  <a:lnTo>
                    <a:pt x="590" y="1116"/>
                  </a:lnTo>
                  <a:lnTo>
                    <a:pt x="595" y="1125"/>
                  </a:lnTo>
                  <a:lnTo>
                    <a:pt x="597" y="1129"/>
                  </a:lnTo>
                  <a:lnTo>
                    <a:pt x="598" y="1130"/>
                  </a:lnTo>
                  <a:lnTo>
                    <a:pt x="601" y="1132"/>
                  </a:lnTo>
                  <a:lnTo>
                    <a:pt x="608" y="1134"/>
                  </a:lnTo>
                  <a:lnTo>
                    <a:pt x="618" y="1140"/>
                  </a:lnTo>
                  <a:lnTo>
                    <a:pt x="630" y="1147"/>
                  </a:lnTo>
                  <a:lnTo>
                    <a:pt x="642" y="1156"/>
                  </a:lnTo>
                  <a:lnTo>
                    <a:pt x="651" y="1168"/>
                  </a:lnTo>
                  <a:lnTo>
                    <a:pt x="658" y="1183"/>
                  </a:lnTo>
                  <a:lnTo>
                    <a:pt x="562" y="1182"/>
                  </a:lnTo>
                  <a:lnTo>
                    <a:pt x="558" y="1170"/>
                  </a:lnTo>
                  <a:lnTo>
                    <a:pt x="542" y="1167"/>
                  </a:lnTo>
                  <a:lnTo>
                    <a:pt x="536" y="1146"/>
                  </a:lnTo>
                  <a:lnTo>
                    <a:pt x="535" y="1142"/>
                  </a:lnTo>
                  <a:lnTo>
                    <a:pt x="530" y="1134"/>
                  </a:lnTo>
                  <a:lnTo>
                    <a:pt x="524" y="1121"/>
                  </a:lnTo>
                  <a:lnTo>
                    <a:pt x="516" y="1103"/>
                  </a:lnTo>
                  <a:lnTo>
                    <a:pt x="507" y="1083"/>
                  </a:lnTo>
                  <a:lnTo>
                    <a:pt x="496" y="1060"/>
                  </a:lnTo>
                  <a:lnTo>
                    <a:pt x="485" y="1035"/>
                  </a:lnTo>
                  <a:lnTo>
                    <a:pt x="464" y="983"/>
                  </a:lnTo>
                  <a:lnTo>
                    <a:pt x="454" y="959"/>
                  </a:lnTo>
                  <a:lnTo>
                    <a:pt x="445" y="934"/>
                  </a:lnTo>
                  <a:lnTo>
                    <a:pt x="431" y="893"/>
                  </a:lnTo>
                  <a:lnTo>
                    <a:pt x="417" y="855"/>
                  </a:lnTo>
                  <a:lnTo>
                    <a:pt x="404" y="821"/>
                  </a:lnTo>
                  <a:lnTo>
                    <a:pt x="402" y="822"/>
                  </a:lnTo>
                  <a:lnTo>
                    <a:pt x="398" y="825"/>
                  </a:lnTo>
                  <a:lnTo>
                    <a:pt x="396" y="826"/>
                  </a:lnTo>
                  <a:lnTo>
                    <a:pt x="392" y="826"/>
                  </a:lnTo>
                  <a:lnTo>
                    <a:pt x="383" y="824"/>
                  </a:lnTo>
                  <a:lnTo>
                    <a:pt x="378" y="816"/>
                  </a:lnTo>
                  <a:lnTo>
                    <a:pt x="377" y="812"/>
                  </a:lnTo>
                  <a:lnTo>
                    <a:pt x="377" y="786"/>
                  </a:lnTo>
                  <a:lnTo>
                    <a:pt x="375" y="785"/>
                  </a:lnTo>
                  <a:lnTo>
                    <a:pt x="373" y="785"/>
                  </a:lnTo>
                  <a:lnTo>
                    <a:pt x="371" y="784"/>
                  </a:lnTo>
                  <a:lnTo>
                    <a:pt x="371" y="812"/>
                  </a:lnTo>
                  <a:lnTo>
                    <a:pt x="370" y="816"/>
                  </a:lnTo>
                  <a:lnTo>
                    <a:pt x="365" y="824"/>
                  </a:lnTo>
                  <a:lnTo>
                    <a:pt x="356" y="826"/>
                  </a:lnTo>
                  <a:lnTo>
                    <a:pt x="347" y="824"/>
                  </a:lnTo>
                  <a:lnTo>
                    <a:pt x="342" y="816"/>
                  </a:lnTo>
                  <a:lnTo>
                    <a:pt x="341" y="812"/>
                  </a:lnTo>
                  <a:lnTo>
                    <a:pt x="341" y="767"/>
                  </a:lnTo>
                  <a:lnTo>
                    <a:pt x="320" y="749"/>
                  </a:lnTo>
                  <a:lnTo>
                    <a:pt x="303" y="731"/>
                  </a:lnTo>
                  <a:lnTo>
                    <a:pt x="293" y="742"/>
                  </a:lnTo>
                  <a:lnTo>
                    <a:pt x="283" y="758"/>
                  </a:lnTo>
                  <a:lnTo>
                    <a:pt x="267" y="786"/>
                  </a:lnTo>
                  <a:lnTo>
                    <a:pt x="254" y="811"/>
                  </a:lnTo>
                  <a:lnTo>
                    <a:pt x="243" y="833"/>
                  </a:lnTo>
                  <a:lnTo>
                    <a:pt x="236" y="852"/>
                  </a:lnTo>
                  <a:lnTo>
                    <a:pt x="231" y="869"/>
                  </a:lnTo>
                  <a:lnTo>
                    <a:pt x="227" y="885"/>
                  </a:lnTo>
                  <a:lnTo>
                    <a:pt x="224" y="900"/>
                  </a:lnTo>
                  <a:lnTo>
                    <a:pt x="222" y="914"/>
                  </a:lnTo>
                  <a:lnTo>
                    <a:pt x="221" y="928"/>
                  </a:lnTo>
                  <a:lnTo>
                    <a:pt x="221" y="969"/>
                  </a:lnTo>
                  <a:lnTo>
                    <a:pt x="222" y="994"/>
                  </a:lnTo>
                  <a:lnTo>
                    <a:pt x="223" y="1021"/>
                  </a:lnTo>
                  <a:lnTo>
                    <a:pt x="224" y="1047"/>
                  </a:lnTo>
                  <a:lnTo>
                    <a:pt x="226" y="1072"/>
                  </a:lnTo>
                  <a:lnTo>
                    <a:pt x="227" y="1093"/>
                  </a:lnTo>
                  <a:lnTo>
                    <a:pt x="228" y="1109"/>
                  </a:lnTo>
                  <a:lnTo>
                    <a:pt x="229" y="1121"/>
                  </a:lnTo>
                  <a:lnTo>
                    <a:pt x="229" y="1125"/>
                  </a:lnTo>
                  <a:lnTo>
                    <a:pt x="231" y="1126"/>
                  </a:lnTo>
                  <a:lnTo>
                    <a:pt x="237" y="1128"/>
                  </a:lnTo>
                  <a:lnTo>
                    <a:pt x="244" y="1133"/>
                  </a:lnTo>
                  <a:lnTo>
                    <a:pt x="254" y="1140"/>
                  </a:lnTo>
                  <a:lnTo>
                    <a:pt x="262" y="1148"/>
                  </a:lnTo>
                  <a:lnTo>
                    <a:pt x="270" y="1160"/>
                  </a:lnTo>
                  <a:lnTo>
                    <a:pt x="275" y="1173"/>
                  </a:lnTo>
                  <a:lnTo>
                    <a:pt x="276" y="1189"/>
                  </a:lnTo>
                  <a:lnTo>
                    <a:pt x="176" y="1183"/>
                  </a:lnTo>
                  <a:lnTo>
                    <a:pt x="176" y="1170"/>
                  </a:lnTo>
                  <a:lnTo>
                    <a:pt x="155" y="1165"/>
                  </a:lnTo>
                  <a:lnTo>
                    <a:pt x="155" y="832"/>
                  </a:lnTo>
                  <a:lnTo>
                    <a:pt x="156" y="820"/>
                  </a:lnTo>
                  <a:lnTo>
                    <a:pt x="157" y="804"/>
                  </a:lnTo>
                  <a:lnTo>
                    <a:pt x="160" y="782"/>
                  </a:lnTo>
                  <a:lnTo>
                    <a:pt x="163" y="758"/>
                  </a:lnTo>
                  <a:lnTo>
                    <a:pt x="168" y="733"/>
                  </a:lnTo>
                  <a:lnTo>
                    <a:pt x="171" y="707"/>
                  </a:lnTo>
                  <a:lnTo>
                    <a:pt x="176" y="681"/>
                  </a:lnTo>
                  <a:lnTo>
                    <a:pt x="181" y="659"/>
                  </a:lnTo>
                  <a:lnTo>
                    <a:pt x="184" y="639"/>
                  </a:lnTo>
                  <a:lnTo>
                    <a:pt x="188" y="622"/>
                  </a:lnTo>
                  <a:lnTo>
                    <a:pt x="189" y="611"/>
                  </a:lnTo>
                  <a:lnTo>
                    <a:pt x="190" y="593"/>
                  </a:lnTo>
                  <a:lnTo>
                    <a:pt x="191" y="569"/>
                  </a:lnTo>
                  <a:lnTo>
                    <a:pt x="193" y="541"/>
                  </a:lnTo>
                  <a:lnTo>
                    <a:pt x="193" y="473"/>
                  </a:lnTo>
                  <a:lnTo>
                    <a:pt x="191" y="437"/>
                  </a:lnTo>
                  <a:lnTo>
                    <a:pt x="191" y="361"/>
                  </a:lnTo>
                  <a:lnTo>
                    <a:pt x="190" y="324"/>
                  </a:lnTo>
                  <a:lnTo>
                    <a:pt x="189" y="290"/>
                  </a:lnTo>
                  <a:lnTo>
                    <a:pt x="189" y="257"/>
                  </a:lnTo>
                  <a:lnTo>
                    <a:pt x="188" y="228"/>
                  </a:lnTo>
                  <a:lnTo>
                    <a:pt x="188" y="205"/>
                  </a:lnTo>
                  <a:lnTo>
                    <a:pt x="187" y="186"/>
                  </a:lnTo>
                  <a:lnTo>
                    <a:pt x="187" y="171"/>
                  </a:lnTo>
                  <a:lnTo>
                    <a:pt x="183" y="174"/>
                  </a:lnTo>
                  <a:lnTo>
                    <a:pt x="180" y="179"/>
                  </a:lnTo>
                  <a:lnTo>
                    <a:pt x="174" y="187"/>
                  </a:lnTo>
                  <a:lnTo>
                    <a:pt x="168" y="200"/>
                  </a:lnTo>
                  <a:lnTo>
                    <a:pt x="161" y="218"/>
                  </a:lnTo>
                  <a:lnTo>
                    <a:pt x="153" y="241"/>
                  </a:lnTo>
                  <a:lnTo>
                    <a:pt x="146" y="271"/>
                  </a:lnTo>
                  <a:lnTo>
                    <a:pt x="137" y="308"/>
                  </a:lnTo>
                  <a:lnTo>
                    <a:pt x="130" y="342"/>
                  </a:lnTo>
                  <a:lnTo>
                    <a:pt x="123" y="378"/>
                  </a:lnTo>
                  <a:lnTo>
                    <a:pt x="116" y="412"/>
                  </a:lnTo>
                  <a:lnTo>
                    <a:pt x="109" y="445"/>
                  </a:lnTo>
                  <a:lnTo>
                    <a:pt x="103" y="477"/>
                  </a:lnTo>
                  <a:lnTo>
                    <a:pt x="96" y="506"/>
                  </a:lnTo>
                  <a:lnTo>
                    <a:pt x="92" y="531"/>
                  </a:lnTo>
                  <a:lnTo>
                    <a:pt x="87" y="553"/>
                  </a:lnTo>
                  <a:lnTo>
                    <a:pt x="83" y="568"/>
                  </a:lnTo>
                  <a:lnTo>
                    <a:pt x="81" y="579"/>
                  </a:lnTo>
                  <a:lnTo>
                    <a:pt x="80" y="582"/>
                  </a:lnTo>
                  <a:lnTo>
                    <a:pt x="80" y="586"/>
                  </a:lnTo>
                  <a:lnTo>
                    <a:pt x="81" y="594"/>
                  </a:lnTo>
                  <a:lnTo>
                    <a:pt x="82" y="608"/>
                  </a:lnTo>
                  <a:lnTo>
                    <a:pt x="82" y="626"/>
                  </a:lnTo>
                  <a:lnTo>
                    <a:pt x="81" y="646"/>
                  </a:lnTo>
                  <a:lnTo>
                    <a:pt x="77" y="668"/>
                  </a:lnTo>
                  <a:lnTo>
                    <a:pt x="72" y="691"/>
                  </a:lnTo>
                  <a:lnTo>
                    <a:pt x="61" y="713"/>
                  </a:lnTo>
                  <a:lnTo>
                    <a:pt x="47" y="733"/>
                  </a:lnTo>
                  <a:lnTo>
                    <a:pt x="27" y="752"/>
                  </a:lnTo>
                  <a:lnTo>
                    <a:pt x="16" y="759"/>
                  </a:lnTo>
                  <a:lnTo>
                    <a:pt x="8" y="760"/>
                  </a:lnTo>
                  <a:lnTo>
                    <a:pt x="3" y="758"/>
                  </a:lnTo>
                  <a:lnTo>
                    <a:pt x="1" y="752"/>
                  </a:lnTo>
                  <a:lnTo>
                    <a:pt x="0" y="742"/>
                  </a:lnTo>
                  <a:lnTo>
                    <a:pt x="1" y="731"/>
                  </a:lnTo>
                  <a:lnTo>
                    <a:pt x="3" y="716"/>
                  </a:lnTo>
                  <a:lnTo>
                    <a:pt x="8" y="701"/>
                  </a:lnTo>
                  <a:lnTo>
                    <a:pt x="13" y="685"/>
                  </a:lnTo>
                  <a:lnTo>
                    <a:pt x="25" y="649"/>
                  </a:lnTo>
                  <a:lnTo>
                    <a:pt x="32" y="633"/>
                  </a:lnTo>
                  <a:lnTo>
                    <a:pt x="37" y="617"/>
                  </a:lnTo>
                  <a:lnTo>
                    <a:pt x="43" y="602"/>
                  </a:lnTo>
                  <a:lnTo>
                    <a:pt x="49" y="591"/>
                  </a:lnTo>
                  <a:lnTo>
                    <a:pt x="53" y="581"/>
                  </a:lnTo>
                  <a:lnTo>
                    <a:pt x="57" y="572"/>
                  </a:lnTo>
                  <a:lnTo>
                    <a:pt x="59" y="567"/>
                  </a:lnTo>
                  <a:lnTo>
                    <a:pt x="61" y="555"/>
                  </a:lnTo>
                  <a:lnTo>
                    <a:pt x="65" y="539"/>
                  </a:lnTo>
                  <a:lnTo>
                    <a:pt x="69" y="518"/>
                  </a:lnTo>
                  <a:lnTo>
                    <a:pt x="74" y="492"/>
                  </a:lnTo>
                  <a:lnTo>
                    <a:pt x="80" y="465"/>
                  </a:lnTo>
                  <a:lnTo>
                    <a:pt x="85" y="435"/>
                  </a:lnTo>
                  <a:lnTo>
                    <a:pt x="90" y="406"/>
                  </a:lnTo>
                  <a:lnTo>
                    <a:pt x="96" y="375"/>
                  </a:lnTo>
                  <a:lnTo>
                    <a:pt x="102" y="347"/>
                  </a:lnTo>
                  <a:lnTo>
                    <a:pt x="107" y="321"/>
                  </a:lnTo>
                  <a:lnTo>
                    <a:pt x="112" y="299"/>
                  </a:lnTo>
                  <a:lnTo>
                    <a:pt x="115" y="280"/>
                  </a:lnTo>
                  <a:lnTo>
                    <a:pt x="119" y="267"/>
                  </a:lnTo>
                  <a:lnTo>
                    <a:pt x="122" y="250"/>
                  </a:lnTo>
                  <a:lnTo>
                    <a:pt x="127" y="227"/>
                  </a:lnTo>
                  <a:lnTo>
                    <a:pt x="132" y="201"/>
                  </a:lnTo>
                  <a:lnTo>
                    <a:pt x="137" y="174"/>
                  </a:lnTo>
                  <a:lnTo>
                    <a:pt x="144" y="147"/>
                  </a:lnTo>
                  <a:lnTo>
                    <a:pt x="154" y="120"/>
                  </a:lnTo>
                  <a:lnTo>
                    <a:pt x="166" y="94"/>
                  </a:lnTo>
                  <a:lnTo>
                    <a:pt x="181" y="72"/>
                  </a:lnTo>
                  <a:lnTo>
                    <a:pt x="199" y="54"/>
                  </a:lnTo>
                  <a:lnTo>
                    <a:pt x="220" y="41"/>
                  </a:lnTo>
                  <a:lnTo>
                    <a:pt x="246" y="28"/>
                  </a:lnTo>
                  <a:lnTo>
                    <a:pt x="277" y="18"/>
                  </a:lnTo>
                  <a:lnTo>
                    <a:pt x="314" y="8"/>
                  </a:lnTo>
                  <a:lnTo>
                    <a:pt x="353" y="3"/>
                  </a:lnTo>
                  <a:lnTo>
                    <a:pt x="394" y="0"/>
                  </a:lnTo>
                  <a:close/>
                </a:path>
              </a:pathLst>
            </a:custGeom>
            <a:solidFill>
              <a:schemeClr val="bg1"/>
            </a:solidFill>
            <a:ln w="0">
              <a:noFill/>
              <a:prstDash val="solid"/>
              <a:round/>
              <a:headEnd/>
              <a:tailEnd/>
            </a:ln>
            <a:scene3d>
              <a:camera prst="orthographicFront"/>
              <a:lightRig rig="balanced" dir="t">
                <a:rot lat="0" lon="0" rev="4200000"/>
              </a:lightRig>
            </a:scene3d>
            <a:sp3d prstMaterial="metal"/>
          </p:spPr>
          <p:txBody>
            <a:bodyPr vert="horz" wrap="square" lIns="91440" tIns="45720" rIns="91440" bIns="45720" numCol="1" anchor="t" anchorCtr="0" compatLnSpc="1">
              <a:prstTxWarp prst="textNoShape">
                <a:avLst/>
              </a:prstTxWarp>
            </a:bodyPr>
            <a:lstStyle/>
            <a:p>
              <a:endParaRPr lang="en-IN" dirty="0">
                <a:latin typeface="Helvetica" pitchFamily="34" charset="0"/>
              </a:endParaRPr>
            </a:p>
          </p:txBody>
        </p:sp>
        <p:sp>
          <p:nvSpPr>
            <p:cNvPr id="20" name="Freeform 23"/>
            <p:cNvSpPr>
              <a:spLocks/>
            </p:cNvSpPr>
            <p:nvPr/>
          </p:nvSpPr>
          <p:spPr bwMode="auto">
            <a:xfrm rot="4820016">
              <a:off x="2670717" y="2562772"/>
              <a:ext cx="1084747" cy="997293"/>
            </a:xfrm>
            <a:custGeom>
              <a:avLst/>
              <a:gdLst/>
              <a:ahLst/>
              <a:cxnLst>
                <a:cxn ang="0">
                  <a:pos x="218" y="0"/>
                </a:cxn>
                <a:cxn ang="0">
                  <a:pos x="569" y="184"/>
                </a:cxn>
                <a:cxn ang="0">
                  <a:pos x="921" y="0"/>
                </a:cxn>
                <a:cxn ang="0">
                  <a:pos x="854" y="391"/>
                </a:cxn>
                <a:cxn ang="0">
                  <a:pos x="1138" y="669"/>
                </a:cxn>
                <a:cxn ang="0">
                  <a:pos x="746" y="725"/>
                </a:cxn>
                <a:cxn ang="0">
                  <a:pos x="569" y="1082"/>
                </a:cxn>
                <a:cxn ang="0">
                  <a:pos x="394" y="725"/>
                </a:cxn>
                <a:cxn ang="0">
                  <a:pos x="0" y="669"/>
                </a:cxn>
                <a:cxn ang="0">
                  <a:pos x="285" y="391"/>
                </a:cxn>
                <a:cxn ang="0">
                  <a:pos x="218" y="0"/>
                </a:cxn>
              </a:cxnLst>
              <a:rect l="0" t="0" r="r" b="b"/>
              <a:pathLst>
                <a:path w="1138" h="1082">
                  <a:moveTo>
                    <a:pt x="218" y="0"/>
                  </a:moveTo>
                  <a:lnTo>
                    <a:pt x="569" y="184"/>
                  </a:lnTo>
                  <a:lnTo>
                    <a:pt x="921" y="0"/>
                  </a:lnTo>
                  <a:lnTo>
                    <a:pt x="854" y="391"/>
                  </a:lnTo>
                  <a:lnTo>
                    <a:pt x="1138" y="669"/>
                  </a:lnTo>
                  <a:lnTo>
                    <a:pt x="746" y="725"/>
                  </a:lnTo>
                  <a:lnTo>
                    <a:pt x="569" y="1082"/>
                  </a:lnTo>
                  <a:lnTo>
                    <a:pt x="394" y="725"/>
                  </a:lnTo>
                  <a:lnTo>
                    <a:pt x="0" y="669"/>
                  </a:lnTo>
                  <a:lnTo>
                    <a:pt x="285" y="391"/>
                  </a:lnTo>
                  <a:lnTo>
                    <a:pt x="218" y="0"/>
                  </a:lnTo>
                  <a:close/>
                </a:path>
              </a:pathLst>
            </a:custGeom>
            <a:solidFill>
              <a:schemeClr val="bg1"/>
            </a:solidFill>
            <a:ln w="0">
              <a:noFill/>
              <a:prstDash val="solid"/>
              <a:round/>
              <a:headEnd/>
              <a:tailEnd/>
            </a:ln>
            <a:effectLst/>
            <a:scene3d>
              <a:camera prst="orthographicFront"/>
              <a:lightRig rig="balanced" dir="t">
                <a:rot lat="0" lon="0" rev="4200000"/>
              </a:lightRig>
            </a:scene3d>
            <a:sp3d prstMaterial="metal"/>
          </p:spPr>
          <p:txBody>
            <a:bodyPr vert="horz" wrap="square" lIns="91440" tIns="45720" rIns="91440" bIns="45720" numCol="1" anchor="t" anchorCtr="0" compatLnSpc="1">
              <a:prstTxWarp prst="textNoShape">
                <a:avLst/>
              </a:prstTxWarp>
            </a:bodyPr>
            <a:lstStyle/>
            <a:p>
              <a:endParaRPr lang="en-IN" dirty="0">
                <a:latin typeface="Helvetica" pitchFamily="34" charset="0"/>
              </a:endParaRPr>
            </a:p>
          </p:txBody>
        </p:sp>
        <p:sp>
          <p:nvSpPr>
            <p:cNvPr id="21" name="Rectangle 20"/>
            <p:cNvSpPr/>
            <p:nvPr/>
          </p:nvSpPr>
          <p:spPr>
            <a:xfrm>
              <a:off x="1525868" y="1524000"/>
              <a:ext cx="3439885" cy="374859"/>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800" dirty="0" smtClean="0">
                  <a:solidFill>
                    <a:schemeClr val="tx1">
                      <a:lumMod val="85000"/>
                      <a:lumOff val="15000"/>
                    </a:schemeClr>
                  </a:solidFill>
                  <a:latin typeface="Helvetica" pitchFamily="34" charset="0"/>
                  <a:cs typeface="Arial" pitchFamily="34" charset="0"/>
                </a:rPr>
                <a:t>High</a:t>
              </a:r>
              <a:endParaRPr lang="en-IN" sz="1800" dirty="0">
                <a:solidFill>
                  <a:schemeClr val="tx1">
                    <a:lumMod val="85000"/>
                    <a:lumOff val="15000"/>
                  </a:schemeClr>
                </a:solidFill>
                <a:latin typeface="Helvetica" pitchFamily="34" charset="0"/>
                <a:cs typeface="Arial" pitchFamily="34" charset="0"/>
              </a:endParaRPr>
            </a:p>
          </p:txBody>
        </p:sp>
        <p:sp>
          <p:nvSpPr>
            <p:cNvPr id="22" name="Rectangle 21"/>
            <p:cNvSpPr/>
            <p:nvPr/>
          </p:nvSpPr>
          <p:spPr>
            <a:xfrm>
              <a:off x="842114" y="4149156"/>
              <a:ext cx="454568" cy="1896311"/>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algn="ctr"/>
              <a:r>
                <a:rPr lang="en-US" sz="1800" dirty="0" smtClean="0">
                  <a:solidFill>
                    <a:schemeClr val="tx1">
                      <a:lumMod val="85000"/>
                      <a:lumOff val="15000"/>
                    </a:schemeClr>
                  </a:solidFill>
                  <a:latin typeface="Helvetica" pitchFamily="34" charset="0"/>
                  <a:cs typeface="Arial" pitchFamily="34" charset="0"/>
                </a:rPr>
                <a:t>Low</a:t>
              </a:r>
              <a:endParaRPr lang="en-IN" sz="1800" dirty="0">
                <a:solidFill>
                  <a:schemeClr val="tx1">
                    <a:lumMod val="85000"/>
                    <a:lumOff val="15000"/>
                  </a:schemeClr>
                </a:solidFill>
                <a:latin typeface="Helvetica" pitchFamily="34" charset="0"/>
                <a:cs typeface="Arial" pitchFamily="34" charset="0"/>
              </a:endParaRPr>
            </a:p>
          </p:txBody>
        </p:sp>
        <p:sp>
          <p:nvSpPr>
            <p:cNvPr id="23" name="Rectangle 22"/>
            <p:cNvSpPr/>
            <p:nvPr/>
          </p:nvSpPr>
          <p:spPr>
            <a:xfrm>
              <a:off x="5085496" y="1524000"/>
              <a:ext cx="3439885" cy="374859"/>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800" dirty="0" smtClean="0">
                  <a:solidFill>
                    <a:schemeClr val="tx1">
                      <a:lumMod val="85000"/>
                      <a:lumOff val="15000"/>
                    </a:schemeClr>
                  </a:solidFill>
                  <a:latin typeface="Helvetica" pitchFamily="34" charset="0"/>
                  <a:cs typeface="Arial" pitchFamily="34" charset="0"/>
                </a:rPr>
                <a:t>Low</a:t>
              </a:r>
              <a:endParaRPr lang="en-IN" sz="1800" dirty="0">
                <a:solidFill>
                  <a:schemeClr val="tx1">
                    <a:lumMod val="85000"/>
                    <a:lumOff val="15000"/>
                  </a:schemeClr>
                </a:solidFill>
                <a:latin typeface="Helvetica" pitchFamily="34" charset="0"/>
                <a:cs typeface="Arial" pitchFamily="34" charset="0"/>
              </a:endParaRPr>
            </a:p>
          </p:txBody>
        </p:sp>
        <p:sp>
          <p:nvSpPr>
            <p:cNvPr id="24" name="Rectangle 23"/>
            <p:cNvSpPr/>
            <p:nvPr/>
          </p:nvSpPr>
          <p:spPr>
            <a:xfrm>
              <a:off x="842114" y="2096347"/>
              <a:ext cx="454568" cy="1896311"/>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algn="ctr"/>
              <a:r>
                <a:rPr lang="en-US" sz="1800" dirty="0" smtClean="0">
                  <a:solidFill>
                    <a:schemeClr val="tx1">
                      <a:lumMod val="85000"/>
                      <a:lumOff val="15000"/>
                    </a:schemeClr>
                  </a:solidFill>
                  <a:latin typeface="Helvetica" pitchFamily="34" charset="0"/>
                  <a:cs typeface="Arial" pitchFamily="34" charset="0"/>
                </a:rPr>
                <a:t>High</a:t>
              </a:r>
              <a:endParaRPr lang="en-IN" sz="1800" dirty="0">
                <a:solidFill>
                  <a:schemeClr val="tx1">
                    <a:lumMod val="85000"/>
                    <a:lumOff val="15000"/>
                  </a:schemeClr>
                </a:solidFill>
                <a:latin typeface="Helvetica" pitchFamily="34" charset="0"/>
                <a:cs typeface="Arial" pitchFamily="34" charset="0"/>
              </a:endParaRPr>
            </a:p>
          </p:txBody>
        </p:sp>
        <p:sp>
          <p:nvSpPr>
            <p:cNvPr id="25" name="TextBox 24"/>
            <p:cNvSpPr txBox="1"/>
            <p:nvPr/>
          </p:nvSpPr>
          <p:spPr>
            <a:xfrm>
              <a:off x="3445654" y="6209214"/>
              <a:ext cx="2544286" cy="369332"/>
            </a:xfrm>
            <a:prstGeom prst="rect">
              <a:avLst/>
            </a:prstGeom>
            <a:noFill/>
          </p:spPr>
          <p:txBody>
            <a:bodyPr wrap="none" rtlCol="0">
              <a:spAutoFit/>
            </a:bodyPr>
            <a:lstStyle/>
            <a:p>
              <a:r>
                <a:rPr lang="en-US" sz="1800" dirty="0" smtClean="0">
                  <a:latin typeface="Helvetica" pitchFamily="34" charset="0"/>
                  <a:cs typeface="Arial" pitchFamily="34" charset="0"/>
                </a:rPr>
                <a:t>Relative Market Share</a:t>
              </a:r>
              <a:endParaRPr lang="en-IN" sz="1800" dirty="0">
                <a:latin typeface="Helvetica" pitchFamily="34" charset="0"/>
                <a:cs typeface="Arial" pitchFamily="34" charset="0"/>
              </a:endParaRPr>
            </a:p>
          </p:txBody>
        </p:sp>
        <p:sp>
          <p:nvSpPr>
            <p:cNvPr id="26" name="TextBox 25"/>
            <p:cNvSpPr txBox="1"/>
            <p:nvPr/>
          </p:nvSpPr>
          <p:spPr>
            <a:xfrm rot="16200000">
              <a:off x="-1016078" y="3876072"/>
              <a:ext cx="3147015" cy="369332"/>
            </a:xfrm>
            <a:prstGeom prst="rect">
              <a:avLst/>
            </a:prstGeom>
            <a:noFill/>
          </p:spPr>
          <p:txBody>
            <a:bodyPr wrap="none" rtlCol="0">
              <a:spAutoFit/>
            </a:bodyPr>
            <a:lstStyle/>
            <a:p>
              <a:pPr algn="ctr"/>
              <a:r>
                <a:rPr lang="en-US" sz="1800" dirty="0" smtClean="0">
                  <a:latin typeface="Helvetica" pitchFamily="34" charset="0"/>
                  <a:cs typeface="Arial" pitchFamily="34" charset="0"/>
                </a:rPr>
                <a:t>Relative Market Growth Rate</a:t>
              </a:r>
              <a:endParaRPr lang="en-IN" sz="1800" dirty="0">
                <a:latin typeface="Helvetica" pitchFamily="34" charset="0"/>
                <a:cs typeface="Arial" pitchFamily="34" charset="0"/>
              </a:endParaRPr>
            </a:p>
          </p:txBody>
        </p:sp>
        <p:sp>
          <p:nvSpPr>
            <p:cNvPr id="27" name="TextBox 26"/>
            <p:cNvSpPr txBox="1"/>
            <p:nvPr/>
          </p:nvSpPr>
          <p:spPr>
            <a:xfrm>
              <a:off x="6183630" y="2296028"/>
              <a:ext cx="1424940" cy="1569660"/>
            </a:xfrm>
            <a:prstGeom prst="rect">
              <a:avLst/>
            </a:prstGeom>
            <a:noFill/>
          </p:spPr>
          <p:txBody>
            <a:bodyPr wrap="square" rtlCol="0">
              <a:spAutoFit/>
            </a:bodyPr>
            <a:lstStyle/>
            <a:p>
              <a:pPr algn="ctr"/>
              <a:r>
                <a:rPr lang="en-US" sz="9600" b="1" dirty="0" smtClean="0">
                  <a:solidFill>
                    <a:schemeClr val="bg1"/>
                  </a:solidFill>
                  <a:latin typeface="Helvetica" pitchFamily="34" charset="0"/>
                  <a:cs typeface="Arial" pitchFamily="34" charset="0"/>
                </a:rPr>
                <a:t>?</a:t>
              </a:r>
              <a:endParaRPr lang="en-US" sz="9600" b="1" dirty="0">
                <a:solidFill>
                  <a:schemeClr val="bg1"/>
                </a:solidFill>
                <a:latin typeface="Helvetica" pitchFamily="34" charset="0"/>
                <a:cs typeface="Arial" pitchFamily="34" charset="0"/>
              </a:endParaRPr>
            </a:p>
          </p:txBody>
        </p:sp>
        <p:sp>
          <p:nvSpPr>
            <p:cNvPr id="28" name="TextBox 27"/>
            <p:cNvSpPr txBox="1"/>
            <p:nvPr/>
          </p:nvSpPr>
          <p:spPr>
            <a:xfrm>
              <a:off x="2971800" y="4488359"/>
              <a:ext cx="1424940" cy="769441"/>
            </a:xfrm>
            <a:prstGeom prst="rect">
              <a:avLst/>
            </a:prstGeom>
            <a:noFill/>
          </p:spPr>
          <p:txBody>
            <a:bodyPr wrap="square" rtlCol="0">
              <a:spAutoFit/>
            </a:bodyPr>
            <a:lstStyle/>
            <a:p>
              <a:pPr algn="ctr"/>
              <a:r>
                <a:rPr lang="en-US" sz="4400" dirty="0" smtClean="0">
                  <a:solidFill>
                    <a:schemeClr val="accent1"/>
                  </a:solidFill>
                  <a:latin typeface="Helvetica" pitchFamily="34" charset="0"/>
                  <a:cs typeface="Arial" pitchFamily="34" charset="0"/>
                </a:rPr>
                <a:t>$</a:t>
              </a:r>
              <a:endParaRPr lang="en-US" sz="4400" dirty="0">
                <a:solidFill>
                  <a:schemeClr val="accent1"/>
                </a:solidFill>
                <a:latin typeface="Helvetica" pitchFamily="34" charset="0"/>
                <a:cs typeface="Arial" pitchFamily="34" charset="0"/>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circle(in)">
                                      <p:cBhvr>
                                        <p:cTn id="7" dur="20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648544"/>
          </a:xfrm>
        </p:spPr>
        <p:txBody>
          <a:bodyPr>
            <a:noAutofit/>
          </a:bodyPr>
          <a:lstStyle/>
          <a:p>
            <a:r>
              <a:rPr lang="en-US" sz="3100" b="1" dirty="0" smtClean="0">
                <a:solidFill>
                  <a:srgbClr val="FF6600"/>
                </a:solidFill>
                <a:latin typeface="Helvetica" pitchFamily="34" charset="0"/>
              </a:rPr>
              <a:t>1.2 Undertake market research on identified opportunities and identified target markets</a:t>
            </a:r>
            <a:endParaRPr lang="en-US" sz="3100" b="1" dirty="0">
              <a:solidFill>
                <a:srgbClr val="FF6600"/>
              </a:solidFill>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8</a:t>
            </a:fld>
            <a:endParaRPr lang="en-US" dirty="0">
              <a:latin typeface="Helvetica" pitchFamily="34" charset="0"/>
            </a:endParaRPr>
          </a:p>
        </p:txBody>
      </p:sp>
      <p:pic>
        <p:nvPicPr>
          <p:cNvPr id="6" name="Content Placeholder 5"/>
          <p:cNvPicPr>
            <a:picLocks noGrp="1"/>
          </p:cNvPicPr>
          <p:nvPr>
            <p:ph idx="1"/>
          </p:nvPr>
        </p:nvPicPr>
        <p:blipFill>
          <a:blip r:embed="rId3">
            <a:extLst>
              <a:ext uri="{28A0092B-C50C-407E-A947-70E740481C1C}">
                <a14:useLocalDpi xmlns:a14="http://schemas.microsoft.com/office/drawing/2010/main" val="0"/>
              </a:ext>
            </a:extLst>
          </a:blip>
          <a:stretch>
            <a:fillRect/>
          </a:stretch>
        </p:blipFill>
        <p:spPr>
          <a:xfrm>
            <a:off x="2438400" y="2362200"/>
            <a:ext cx="3643064" cy="2931367"/>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circle(in)">
                                      <p:cBhvr>
                                        <p:cTn id="7" dur="20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038944"/>
          </a:xfrm>
        </p:spPr>
        <p:txBody>
          <a:bodyPr>
            <a:normAutofit/>
          </a:bodyPr>
          <a:lstStyle/>
          <a:p>
            <a:pPr algn="ctr"/>
            <a:r>
              <a:rPr lang="en-US" sz="3400" b="1" dirty="0" smtClean="0">
                <a:solidFill>
                  <a:srgbClr val="FF6600"/>
                </a:solidFill>
                <a:latin typeface="Helvetica" pitchFamily="34" charset="0"/>
              </a:rPr>
              <a:t>Collecting data</a:t>
            </a:r>
            <a:endParaRPr lang="en-US" sz="3400" b="1" dirty="0">
              <a:solidFill>
                <a:srgbClr val="FF6600"/>
              </a:solidFill>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9</a:t>
            </a:fld>
            <a:endParaRPr lang="en-US" dirty="0">
              <a:latin typeface="Helvetica" pitchFamily="34" charset="0"/>
            </a:endParaRPr>
          </a:p>
        </p:txBody>
      </p:sp>
      <p:pic>
        <p:nvPicPr>
          <p:cNvPr id="6" name="Content Placeholder 5"/>
          <p:cNvPicPr>
            <a:picLocks noGrp="1"/>
          </p:cNvPicPr>
          <p:nvPr>
            <p:ph idx="1"/>
          </p:nvPr>
        </p:nvPicPr>
        <p:blipFill>
          <a:blip r:embed="rId3" cstate="print">
            <a:extLst>
              <a:ext uri="{28A0092B-C50C-407E-A947-70E740481C1C}">
                <a14:useLocalDpi xmlns:a14="http://schemas.microsoft.com/office/drawing/2010/main" val="0"/>
              </a:ext>
            </a:extLst>
          </a:blip>
          <a:stretch>
            <a:fillRect/>
          </a:stretch>
        </p:blipFill>
        <p:spPr>
          <a:xfrm>
            <a:off x="1752600" y="2133600"/>
            <a:ext cx="5098504" cy="2871192"/>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circle(in)">
                                      <p:cBhvr>
                                        <p:cTn id="7" dur="20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943600" y="1828800"/>
            <a:ext cx="2409167" cy="1975517"/>
          </a:xfrm>
          <a:prstGeom prst="ellipse">
            <a:avLst/>
          </a:prstGeom>
        </p:spPr>
      </p:pic>
      <p:sp>
        <p:nvSpPr>
          <p:cNvPr id="2" name="Title 1"/>
          <p:cNvSpPr>
            <a:spLocks noGrp="1"/>
          </p:cNvSpPr>
          <p:nvPr>
            <p:ph type="title"/>
          </p:nvPr>
        </p:nvSpPr>
        <p:spPr>
          <a:xfrm>
            <a:off x="533400" y="332656"/>
            <a:ext cx="7467600" cy="1143000"/>
          </a:xfrm>
        </p:spPr>
        <p:txBody>
          <a:bodyPr>
            <a:normAutofit/>
          </a:bodyPr>
          <a:lstStyle/>
          <a:p>
            <a:r>
              <a:rPr lang="en-US" sz="3400" b="1" dirty="0" smtClean="0">
                <a:solidFill>
                  <a:srgbClr val="FF6600"/>
                </a:solidFill>
                <a:latin typeface="Helvetica" pitchFamily="34" charset="0"/>
              </a:rPr>
              <a:t>Secondary data</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533400" y="1371600"/>
            <a:ext cx="7467600" cy="4996408"/>
          </a:xfrm>
        </p:spPr>
        <p:txBody>
          <a:bodyPr>
            <a:noAutofit/>
          </a:bodyPr>
          <a:lstStyle/>
          <a:p>
            <a:pPr marL="36576" indent="0">
              <a:spcBef>
                <a:spcPts val="600"/>
              </a:spcBef>
              <a:spcAft>
                <a:spcPts val="600"/>
              </a:spcAft>
              <a:buNone/>
            </a:pPr>
            <a:r>
              <a:rPr lang="en-AU" sz="1700" dirty="0"/>
              <a:t>Some questions that could lead market </a:t>
            </a:r>
            <a:r>
              <a:rPr lang="en-AU" sz="1700" dirty="0" smtClean="0"/>
              <a:t>research </a:t>
            </a:r>
            <a:r>
              <a:rPr lang="en-AU" sz="1700" dirty="0"/>
              <a:t>are:</a:t>
            </a:r>
            <a:endParaRPr lang="en-US" sz="1700" dirty="0"/>
          </a:p>
          <a:p>
            <a:pPr lvl="0">
              <a:spcBef>
                <a:spcPts val="600"/>
              </a:spcBef>
              <a:spcAft>
                <a:spcPts val="600"/>
              </a:spcAft>
            </a:pPr>
            <a:r>
              <a:rPr lang="en-AU" sz="1700" dirty="0"/>
              <a:t>Have sales gone up or down?</a:t>
            </a:r>
            <a:endParaRPr lang="en-US" sz="1700" dirty="0"/>
          </a:p>
          <a:p>
            <a:pPr lvl="0">
              <a:spcBef>
                <a:spcPts val="600"/>
              </a:spcBef>
              <a:spcAft>
                <a:spcPts val="600"/>
              </a:spcAft>
            </a:pPr>
            <a:r>
              <a:rPr lang="en-AU" sz="1700" dirty="0"/>
              <a:t>What could have affected sales results?</a:t>
            </a:r>
            <a:endParaRPr lang="en-US" sz="1700" dirty="0"/>
          </a:p>
          <a:p>
            <a:pPr lvl="0">
              <a:spcBef>
                <a:spcPts val="600"/>
              </a:spcBef>
              <a:spcAft>
                <a:spcPts val="600"/>
              </a:spcAft>
            </a:pPr>
            <a:r>
              <a:rPr lang="en-AU" sz="1700" dirty="0"/>
              <a:t>Which market segments or products have </a:t>
            </a:r>
            <a:r>
              <a:rPr lang="en-AU" sz="1700" dirty="0" smtClean="0"/>
              <a:t/>
            </a:r>
            <a:br>
              <a:rPr lang="en-AU" sz="1700" dirty="0" smtClean="0"/>
            </a:br>
            <a:r>
              <a:rPr lang="en-AU" sz="1700" dirty="0" smtClean="0"/>
              <a:t>performed </a:t>
            </a:r>
            <a:r>
              <a:rPr lang="en-AU" sz="1700" dirty="0"/>
              <a:t>well? Why/Why not?</a:t>
            </a:r>
            <a:endParaRPr lang="en-US" sz="1700" dirty="0"/>
          </a:p>
          <a:p>
            <a:pPr lvl="0">
              <a:spcBef>
                <a:spcPts val="600"/>
              </a:spcBef>
              <a:spcAft>
                <a:spcPts val="600"/>
              </a:spcAft>
            </a:pPr>
            <a:r>
              <a:rPr lang="en-AU" sz="1700" dirty="0"/>
              <a:t>What are the relative costs of a product or service?</a:t>
            </a:r>
            <a:endParaRPr lang="en-US" sz="1700" dirty="0"/>
          </a:p>
          <a:p>
            <a:pPr lvl="0">
              <a:spcBef>
                <a:spcPts val="600"/>
              </a:spcBef>
              <a:spcAft>
                <a:spcPts val="600"/>
              </a:spcAft>
            </a:pPr>
            <a:r>
              <a:rPr lang="en-AU" sz="1700" dirty="0"/>
              <a:t>Are these acceptable/increasing/decreasing? Why?</a:t>
            </a:r>
            <a:endParaRPr lang="en-US" sz="1700" dirty="0"/>
          </a:p>
          <a:p>
            <a:pPr lvl="0">
              <a:spcBef>
                <a:spcPts val="600"/>
              </a:spcBef>
              <a:spcAft>
                <a:spcPts val="600"/>
              </a:spcAft>
            </a:pPr>
            <a:r>
              <a:rPr lang="en-AU" sz="1700" dirty="0"/>
              <a:t>What other factors impact on the cost of product or service delivery?</a:t>
            </a:r>
            <a:endParaRPr lang="en-US" sz="1700" dirty="0"/>
          </a:p>
          <a:p>
            <a:pPr lvl="0">
              <a:spcBef>
                <a:spcPts val="600"/>
              </a:spcBef>
              <a:spcAft>
                <a:spcPts val="600"/>
              </a:spcAft>
            </a:pPr>
            <a:r>
              <a:rPr lang="en-AU" sz="1700" dirty="0"/>
              <a:t>Is the service or product profitable? </a:t>
            </a:r>
            <a:endParaRPr lang="en-US" sz="1700" dirty="0"/>
          </a:p>
          <a:p>
            <a:pPr lvl="0">
              <a:spcBef>
                <a:spcPts val="600"/>
              </a:spcBef>
              <a:spcAft>
                <a:spcPts val="600"/>
              </a:spcAft>
            </a:pPr>
            <a:r>
              <a:rPr lang="en-AU" sz="1700" dirty="0"/>
              <a:t>Do customers need or want the service or product? How do we know?</a:t>
            </a:r>
            <a:endParaRPr lang="en-US" sz="1700" dirty="0"/>
          </a:p>
          <a:p>
            <a:pPr lvl="0">
              <a:spcBef>
                <a:spcPts val="600"/>
              </a:spcBef>
              <a:spcAft>
                <a:spcPts val="600"/>
              </a:spcAft>
            </a:pPr>
            <a:r>
              <a:rPr lang="en-AU" sz="1700" dirty="0"/>
              <a:t>Are customers happy or satisfied with an existing service or product</a:t>
            </a:r>
            <a:r>
              <a:rPr lang="en-AU" sz="1700" dirty="0" smtClean="0"/>
              <a:t>?</a:t>
            </a:r>
            <a:endParaRPr lang="en-US" sz="1700" dirty="0" smtClean="0"/>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10</a:t>
            </a:fld>
            <a:endParaRPr lang="en-US" dirty="0">
              <a:latin typeface="Helvetica"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circle(in)">
                                      <p:cBhvr>
                                        <p:cTn id="7" dur="20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pPr algn="ctr"/>
            <a:r>
              <a:rPr lang="en-US" sz="3400" b="1" dirty="0" smtClean="0">
                <a:solidFill>
                  <a:srgbClr val="FF6600"/>
                </a:solidFill>
                <a:latin typeface="Helvetica" pitchFamily="34" charset="0"/>
              </a:rPr>
              <a:t>Quantitative and Qualitative Data</a:t>
            </a:r>
            <a:endParaRPr lang="en-US" sz="3400" b="1" dirty="0">
              <a:solidFill>
                <a:srgbClr val="FF6600"/>
              </a:solidFill>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11</a:t>
            </a:fld>
            <a:endParaRPr lang="en-US" dirty="0">
              <a:latin typeface="Helvetica" pitchFamily="34" charset="0"/>
            </a:endParaRPr>
          </a:p>
        </p:txBody>
      </p:sp>
      <p:pic>
        <p:nvPicPr>
          <p:cNvPr id="6" name="Content Placeholder 5"/>
          <p:cNvPicPr>
            <a:picLocks noGrp="1"/>
          </p:cNvPicPr>
          <p:nvPr>
            <p:ph idx="1"/>
          </p:nvPr>
        </p:nvPicPr>
        <p:blipFill>
          <a:blip r:embed="rId3">
            <a:extLst>
              <a:ext uri="{28A0092B-C50C-407E-A947-70E740481C1C}">
                <a14:useLocalDpi xmlns:a14="http://schemas.microsoft.com/office/drawing/2010/main" val="0"/>
              </a:ext>
            </a:extLst>
          </a:blip>
          <a:stretch>
            <a:fillRect/>
          </a:stretch>
        </p:blipFill>
        <p:spPr>
          <a:xfrm>
            <a:off x="2286000" y="1828800"/>
            <a:ext cx="3456384" cy="3456384"/>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circle(in)">
                                      <p:cBhvr>
                                        <p:cTn id="7" dur="20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496144"/>
          </a:xfrm>
        </p:spPr>
        <p:txBody>
          <a:bodyPr>
            <a:noAutofit/>
          </a:bodyPr>
          <a:lstStyle/>
          <a:p>
            <a:r>
              <a:rPr lang="en-US" sz="3100" b="1" dirty="0" smtClean="0">
                <a:solidFill>
                  <a:srgbClr val="FF6600"/>
                </a:solidFill>
                <a:latin typeface="Helvetica" pitchFamily="34" charset="0"/>
              </a:rPr>
              <a:t>1.3 Determine product life cycle issues that apply to identified opportunities and products</a:t>
            </a:r>
            <a:endParaRPr lang="en-US" sz="3100" b="1" dirty="0">
              <a:solidFill>
                <a:srgbClr val="FF6600"/>
              </a:solidFill>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12</a:t>
            </a:fld>
            <a:endParaRPr lang="en-US" dirty="0">
              <a:latin typeface="Helvetica" pitchFamily="34" charset="0"/>
            </a:endParaRPr>
          </a:p>
        </p:txBody>
      </p:sp>
      <p:pic>
        <p:nvPicPr>
          <p:cNvPr id="8" name="Content Placeholder 7" descr="C:\Users\Quentin\AppData\Local\Microsoft\Windows\Temporary Internet Files\Content.IE5\IISMURGE\product-life-cycle[1].png"/>
          <p:cNvPicPr>
            <a:picLocks noGrp="1"/>
          </p:cNvPicPr>
          <p:nvPr>
            <p:ph idx="1"/>
          </p:nvPr>
        </p:nvPicPr>
        <p:blipFill>
          <a:blip r:embed="rId3"/>
          <a:srcRect/>
          <a:stretch>
            <a:fillRect/>
          </a:stretch>
        </p:blipFill>
        <p:spPr bwMode="auto">
          <a:xfrm>
            <a:off x="609600" y="2133600"/>
            <a:ext cx="6115784" cy="3635015"/>
          </a:xfrm>
          <a:prstGeom prst="rect">
            <a:avLst/>
          </a:prstGeom>
          <a:noFill/>
          <a:ln w="9525">
            <a:noFill/>
            <a:miter lim="800000"/>
            <a:headEnd/>
            <a:tailEnd/>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circle(in)">
                                      <p:cBhvr>
                                        <p:cTn id="7" dur="20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Product life cycle</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447800"/>
            <a:ext cx="7467600" cy="4525963"/>
          </a:xfrm>
        </p:spPr>
        <p:txBody>
          <a:bodyPr>
            <a:normAutofit/>
          </a:bodyPr>
          <a:lstStyle/>
          <a:p>
            <a:pPr marL="36576" indent="0">
              <a:spcBef>
                <a:spcPts val="1200"/>
              </a:spcBef>
              <a:spcAft>
                <a:spcPts val="600"/>
              </a:spcAft>
              <a:buNone/>
            </a:pPr>
            <a:r>
              <a:rPr lang="en-AU" sz="2000" b="1" dirty="0"/>
              <a:t>Introduction</a:t>
            </a:r>
            <a:endParaRPr lang="en-US" sz="2000" b="1" dirty="0"/>
          </a:p>
          <a:p>
            <a:pPr marL="36576" indent="0">
              <a:spcBef>
                <a:spcPts val="1200"/>
              </a:spcBef>
              <a:spcAft>
                <a:spcPts val="600"/>
              </a:spcAft>
              <a:buNone/>
            </a:pPr>
            <a:r>
              <a:rPr lang="en-AU" sz="2000" dirty="0"/>
              <a:t>At the introduction stage, a product or service has been through planning and development processes and is now ready to be launched. The product or service has been tested, analysed and market research has been </a:t>
            </a:r>
            <a:r>
              <a:rPr lang="en-AU" sz="2000" dirty="0" smtClean="0"/>
              <a:t>conducted.</a:t>
            </a:r>
            <a:endParaRPr lang="en-US" sz="2000" dirty="0" smtClean="0"/>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13</a:t>
            </a:fld>
            <a:endParaRPr lang="en-US" dirty="0">
              <a:latin typeface="Helvetica" pitchFamily="34" charset="0"/>
            </a:endParaRPr>
          </a:p>
        </p:txBody>
      </p:sp>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362200" y="3276600"/>
            <a:ext cx="2743200" cy="27432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circle(in)">
                                      <p:cBhvr>
                                        <p:cTn id="7" dur="20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372532" y="3940210"/>
            <a:ext cx="2784332" cy="1848796"/>
          </a:xfrm>
          <a:prstGeom prst="rect">
            <a:avLst/>
          </a:prstGeom>
        </p:spPr>
      </p:pic>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Product life cycle</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447800"/>
            <a:ext cx="7467600" cy="4525963"/>
          </a:xfrm>
        </p:spPr>
        <p:txBody>
          <a:bodyPr>
            <a:normAutofit/>
          </a:bodyPr>
          <a:lstStyle/>
          <a:p>
            <a:pPr marL="36576" indent="0">
              <a:spcBef>
                <a:spcPts val="600"/>
              </a:spcBef>
              <a:spcAft>
                <a:spcPts val="600"/>
              </a:spcAft>
              <a:buNone/>
            </a:pPr>
            <a:r>
              <a:rPr lang="en-AU" sz="2000" b="1" dirty="0"/>
              <a:t>Growth</a:t>
            </a:r>
            <a:endParaRPr lang="en-US" sz="2000" b="1" dirty="0"/>
          </a:p>
          <a:p>
            <a:pPr marL="36576" indent="0">
              <a:spcBef>
                <a:spcPts val="600"/>
              </a:spcBef>
              <a:spcAft>
                <a:spcPts val="600"/>
              </a:spcAft>
              <a:buNone/>
            </a:pPr>
            <a:r>
              <a:rPr lang="en-AU" sz="2000" dirty="0"/>
              <a:t>At this stage, the customer base grows and more people become aware of the product or service. Sales increase significantly and profit should increase as well. Some small adjustments may need to be implemented at this stage, but the customer uptake of the product or service will continue to increase at the growth stage. </a:t>
            </a:r>
            <a:endParaRPr lang="en-US" sz="2000" dirty="0" smtClean="0"/>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14</a:t>
            </a:fld>
            <a:endParaRPr lang="en-US" dirty="0">
              <a:latin typeface="Helvetica"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circle(in)">
                                      <p:cBhvr>
                                        <p:cTn id="7" dur="20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133600" y="4038600"/>
            <a:ext cx="3034290" cy="2023872"/>
          </a:xfrm>
          <a:prstGeom prst="rect">
            <a:avLst/>
          </a:prstGeom>
        </p:spPr>
      </p:pic>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Product life cycle</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36576" indent="0">
              <a:spcBef>
                <a:spcPts val="600"/>
              </a:spcBef>
              <a:spcAft>
                <a:spcPts val="600"/>
              </a:spcAft>
              <a:buNone/>
            </a:pPr>
            <a:r>
              <a:rPr lang="en-AU" sz="2000" b="1" dirty="0"/>
              <a:t>Maturity</a:t>
            </a:r>
            <a:endParaRPr lang="en-US" sz="2000" b="1" dirty="0"/>
          </a:p>
          <a:p>
            <a:pPr marL="36576" indent="0">
              <a:spcBef>
                <a:spcPts val="600"/>
              </a:spcBef>
              <a:spcAft>
                <a:spcPts val="600"/>
              </a:spcAft>
              <a:buNone/>
            </a:pPr>
            <a:r>
              <a:rPr lang="en-AU" sz="2000" dirty="0"/>
              <a:t>After the growth stage, a product or service may cease to grow and sales may just level off. At this point in the market life cycle, the customer base may have reached its highest level and there is no room for increased market penetration if the product or service remains the same. Often competition has increased at this stage and the market has become </a:t>
            </a:r>
            <a:r>
              <a:rPr lang="en-AU" sz="2000" dirty="0" smtClean="0"/>
              <a:t>saturated </a:t>
            </a:r>
            <a:r>
              <a:rPr lang="en-AU" sz="2000" dirty="0"/>
              <a:t>with providers or organisations offering the same or similar products and services. </a:t>
            </a:r>
            <a:endParaRPr lang="en-US" sz="2000" dirty="0" smtClean="0"/>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15</a:t>
            </a:fld>
            <a:endParaRPr lang="en-US" dirty="0">
              <a:latin typeface="Helvetica" pitchFamily="34" charset="0"/>
            </a:endParaRPr>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Product life cycle</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447800"/>
            <a:ext cx="5408240" cy="4876800"/>
          </a:xfrm>
        </p:spPr>
        <p:txBody>
          <a:bodyPr>
            <a:normAutofit/>
          </a:bodyPr>
          <a:lstStyle/>
          <a:p>
            <a:pPr marL="36576" indent="0">
              <a:spcBef>
                <a:spcPts val="600"/>
              </a:spcBef>
              <a:spcAft>
                <a:spcPts val="600"/>
              </a:spcAft>
              <a:buNone/>
            </a:pPr>
            <a:r>
              <a:rPr lang="en-AU" sz="1800" b="1" dirty="0"/>
              <a:t>Decline</a:t>
            </a:r>
            <a:endParaRPr lang="en-US" sz="1800" b="1" dirty="0"/>
          </a:p>
          <a:p>
            <a:pPr marL="36576" indent="0">
              <a:spcBef>
                <a:spcPts val="600"/>
              </a:spcBef>
              <a:spcAft>
                <a:spcPts val="600"/>
              </a:spcAft>
              <a:buNone/>
            </a:pPr>
            <a:r>
              <a:rPr lang="en-AU" sz="1800" dirty="0"/>
              <a:t>In the final stage of the cycle, a product or service’s </a:t>
            </a:r>
            <a:r>
              <a:rPr lang="en-AU" sz="1800" dirty="0" smtClean="0"/>
              <a:t>sales </a:t>
            </a:r>
            <a:r>
              <a:rPr lang="en-AU" sz="1800" dirty="0"/>
              <a:t>and profits begin to decline. There may be many </a:t>
            </a:r>
            <a:r>
              <a:rPr lang="en-AU" sz="1800" dirty="0" smtClean="0"/>
              <a:t>competitors </a:t>
            </a:r>
            <a:r>
              <a:rPr lang="en-AU" sz="1800" dirty="0"/>
              <a:t>in the market at this point and discounting </a:t>
            </a:r>
            <a:r>
              <a:rPr lang="en-AU" sz="1800" dirty="0" smtClean="0"/>
              <a:t>has </a:t>
            </a:r>
            <a:r>
              <a:rPr lang="en-AU" sz="1800" dirty="0"/>
              <a:t>become more prevalent. At this point, an </a:t>
            </a:r>
            <a:r>
              <a:rPr lang="en-AU" sz="1800" dirty="0" smtClean="0"/>
              <a:t>organisation may </a:t>
            </a:r>
            <a:r>
              <a:rPr lang="en-AU" sz="1800" dirty="0"/>
              <a:t>need to lower costs in delivery by reducing customer </a:t>
            </a:r>
            <a:r>
              <a:rPr lang="en-AU" sz="1800" dirty="0" smtClean="0"/>
              <a:t>service </a:t>
            </a:r>
            <a:r>
              <a:rPr lang="en-AU" sz="1800" dirty="0"/>
              <a:t>levels, staffing, effort and marketing or promotion </a:t>
            </a:r>
            <a:r>
              <a:rPr lang="en-AU" sz="1800" dirty="0" smtClean="0"/>
              <a:t>and </a:t>
            </a:r>
            <a:r>
              <a:rPr lang="en-AU" sz="1800" dirty="0"/>
              <a:t>the existing loyal customers may be all the organisation </a:t>
            </a:r>
            <a:r>
              <a:rPr lang="en-AU" sz="1800" dirty="0" smtClean="0"/>
              <a:t>is </a:t>
            </a:r>
            <a:r>
              <a:rPr lang="en-AU" sz="1800" dirty="0"/>
              <a:t>focused on maintaining. Some competitors may cease </a:t>
            </a:r>
            <a:r>
              <a:rPr lang="en-AU" sz="1800" dirty="0" smtClean="0"/>
              <a:t>delivery </a:t>
            </a:r>
            <a:r>
              <a:rPr lang="en-AU" sz="1800" dirty="0"/>
              <a:t>or offering of a service or product at this stage </a:t>
            </a:r>
            <a:r>
              <a:rPr lang="en-AU" sz="1800" dirty="0" smtClean="0"/>
              <a:t>so </a:t>
            </a:r>
            <a:r>
              <a:rPr lang="en-AU" sz="1800" dirty="0"/>
              <a:t>there may be opportunities to attract customers from </a:t>
            </a:r>
            <a:r>
              <a:rPr lang="en-AU" sz="1800" dirty="0" smtClean="0"/>
              <a:t>competitors.</a:t>
            </a:r>
            <a:endParaRPr lang="en-US" sz="1800" dirty="0" smtClean="0"/>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16</a:t>
            </a:fld>
            <a:endParaRPr lang="en-US" dirty="0">
              <a:latin typeface="Helvetica" pitchFamily="34" charset="0"/>
            </a:endParaRPr>
          </a:p>
        </p:txBody>
      </p:sp>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096000" y="1981200"/>
            <a:ext cx="2033016" cy="30480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circle(in)">
                                      <p:cBhvr>
                                        <p:cTn id="7" dur="20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AU" sz="3400" b="1" dirty="0" smtClean="0">
                <a:solidFill>
                  <a:srgbClr val="FF6600"/>
                </a:solidFill>
                <a:latin typeface="Helvetica" pitchFamily="34" charset="0"/>
              </a:rPr>
              <a:t>Utilising the product life cycle</a:t>
            </a:r>
            <a:endParaRPr lang="en-AU" sz="3400" b="1" dirty="0">
              <a:solidFill>
                <a:srgbClr val="FF6600"/>
              </a:solidFill>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17</a:t>
            </a:fld>
            <a:endParaRPr lang="en-US" dirty="0">
              <a:latin typeface="Helvetica" pitchFamily="34" charset="0"/>
            </a:endParaRPr>
          </a:p>
        </p:txBody>
      </p:sp>
      <p:pic>
        <p:nvPicPr>
          <p:cNvPr id="8" name="Picture 7"/>
          <p:cNvPicPr>
            <a:picLocks noChangeAspect="1"/>
          </p:cNvPicPr>
          <p:nvPr/>
        </p:nvPicPr>
        <p:blipFill>
          <a:blip r:embed="rId3"/>
          <a:stretch>
            <a:fillRect/>
          </a:stretch>
        </p:blipFill>
        <p:spPr>
          <a:xfrm>
            <a:off x="1143000" y="1447800"/>
            <a:ext cx="5306672" cy="3980004"/>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circle(in)">
                                      <p:cBhvr>
                                        <p:cTn id="7" dur="20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496144"/>
          </a:xfrm>
        </p:spPr>
        <p:txBody>
          <a:bodyPr>
            <a:noAutofit/>
          </a:bodyPr>
          <a:lstStyle/>
          <a:p>
            <a:r>
              <a:rPr lang="en-US" sz="3100" b="1" dirty="0" smtClean="0">
                <a:solidFill>
                  <a:srgbClr val="FF6600"/>
                </a:solidFill>
                <a:latin typeface="Helvetica" pitchFamily="34" charset="0"/>
              </a:rPr>
              <a:t>1.4 Determine financial issues that relate to the development of product initiatives</a:t>
            </a:r>
            <a:endParaRPr lang="en-US" sz="3100" b="1" dirty="0">
              <a:solidFill>
                <a:srgbClr val="FF6600"/>
              </a:solidFill>
              <a:latin typeface="Helvetica" pitchFamily="34" charset="0"/>
            </a:endParaRPr>
          </a:p>
        </p:txBody>
      </p:sp>
      <p:sp>
        <p:nvSpPr>
          <p:cNvPr id="3" name="Content Placeholder 2"/>
          <p:cNvSpPr>
            <a:spLocks noGrp="1"/>
          </p:cNvSpPr>
          <p:nvPr>
            <p:ph idx="1"/>
          </p:nvPr>
        </p:nvSpPr>
        <p:spPr>
          <a:xfrm>
            <a:off x="611560" y="1905000"/>
            <a:ext cx="7467600" cy="4419600"/>
          </a:xfrm>
        </p:spPr>
        <p:txBody>
          <a:bodyPr>
            <a:noAutofit/>
          </a:bodyPr>
          <a:lstStyle/>
          <a:p>
            <a:pPr marL="36576" indent="0">
              <a:spcBef>
                <a:spcPts val="600"/>
              </a:spcBef>
              <a:spcAft>
                <a:spcPts val="600"/>
              </a:spcAft>
              <a:buNone/>
            </a:pPr>
            <a:r>
              <a:rPr lang="en-AU" sz="1800" dirty="0" smtClean="0"/>
              <a:t>Some </a:t>
            </a:r>
            <a:r>
              <a:rPr lang="en-AU" sz="1800" dirty="0"/>
              <a:t>questions relating to finances that need to be considered include:</a:t>
            </a:r>
            <a:endParaRPr lang="en-US" sz="1800" dirty="0"/>
          </a:p>
          <a:p>
            <a:pPr lvl="0">
              <a:spcBef>
                <a:spcPts val="600"/>
              </a:spcBef>
              <a:spcAft>
                <a:spcPts val="600"/>
              </a:spcAft>
            </a:pPr>
            <a:r>
              <a:rPr lang="en-AU" sz="1800" dirty="0"/>
              <a:t>How much will the product or service cost to </a:t>
            </a:r>
            <a:r>
              <a:rPr lang="en-AU" sz="1800" dirty="0" smtClean="0"/>
              <a:t/>
            </a:r>
            <a:br>
              <a:rPr lang="en-AU" sz="1800" dirty="0" smtClean="0"/>
            </a:br>
            <a:r>
              <a:rPr lang="en-AU" sz="1800" dirty="0" smtClean="0"/>
              <a:t>develop </a:t>
            </a:r>
            <a:r>
              <a:rPr lang="en-AU" sz="1800" dirty="0"/>
              <a:t>and implement?</a:t>
            </a:r>
            <a:endParaRPr lang="en-US" sz="1800" dirty="0"/>
          </a:p>
          <a:p>
            <a:pPr lvl="0">
              <a:spcBef>
                <a:spcPts val="600"/>
              </a:spcBef>
              <a:spcAft>
                <a:spcPts val="600"/>
              </a:spcAft>
            </a:pPr>
            <a:r>
              <a:rPr lang="en-AU" sz="1800" dirty="0"/>
              <a:t>What funds are available within the organisation </a:t>
            </a:r>
            <a:r>
              <a:rPr lang="en-AU" sz="1800" dirty="0" smtClean="0"/>
              <a:t/>
            </a:r>
            <a:br>
              <a:rPr lang="en-AU" sz="1800" dirty="0" smtClean="0"/>
            </a:br>
            <a:r>
              <a:rPr lang="en-AU" sz="1800" dirty="0" smtClean="0"/>
              <a:t>or </a:t>
            </a:r>
            <a:r>
              <a:rPr lang="en-AU" sz="1800" dirty="0"/>
              <a:t>externally to support the product initiative?</a:t>
            </a:r>
            <a:endParaRPr lang="en-US" sz="1800" dirty="0"/>
          </a:p>
          <a:p>
            <a:pPr lvl="0">
              <a:spcBef>
                <a:spcPts val="600"/>
              </a:spcBef>
              <a:spcAft>
                <a:spcPts val="600"/>
              </a:spcAft>
            </a:pPr>
            <a:r>
              <a:rPr lang="en-AU" sz="1800" dirty="0"/>
              <a:t>What is the organisation’s current cash flow </a:t>
            </a:r>
            <a:r>
              <a:rPr lang="en-AU" sz="1800" dirty="0" smtClean="0"/>
              <a:t/>
            </a:r>
            <a:br>
              <a:rPr lang="en-AU" sz="1800" dirty="0" smtClean="0"/>
            </a:br>
            <a:r>
              <a:rPr lang="en-AU" sz="1800" dirty="0" smtClean="0"/>
              <a:t>situation </a:t>
            </a:r>
            <a:r>
              <a:rPr lang="en-AU" sz="1800" dirty="0"/>
              <a:t>and is there enough cash available </a:t>
            </a:r>
            <a:r>
              <a:rPr lang="en-AU" sz="1800" dirty="0" smtClean="0"/>
              <a:t/>
            </a:r>
            <a:br>
              <a:rPr lang="en-AU" sz="1800" dirty="0" smtClean="0"/>
            </a:br>
            <a:r>
              <a:rPr lang="en-AU" sz="1800" dirty="0" smtClean="0"/>
              <a:t>to </a:t>
            </a:r>
            <a:r>
              <a:rPr lang="en-AU" sz="1800" dirty="0"/>
              <a:t>support the initiative?</a:t>
            </a:r>
            <a:endParaRPr lang="en-US" sz="1800" dirty="0"/>
          </a:p>
          <a:p>
            <a:pPr lvl="0">
              <a:spcBef>
                <a:spcPts val="600"/>
              </a:spcBef>
              <a:spcAft>
                <a:spcPts val="600"/>
              </a:spcAft>
            </a:pPr>
            <a:r>
              <a:rPr lang="en-AU" sz="1800" dirty="0"/>
              <a:t>Are there additional funding opportunities from </a:t>
            </a:r>
            <a:r>
              <a:rPr lang="en-AU" sz="1800" dirty="0" smtClean="0"/>
              <a:t/>
            </a:r>
            <a:br>
              <a:rPr lang="en-AU" sz="1800" dirty="0" smtClean="0"/>
            </a:br>
            <a:r>
              <a:rPr lang="en-AU" sz="1800" dirty="0" smtClean="0"/>
              <a:t>partners</a:t>
            </a:r>
            <a:r>
              <a:rPr lang="en-AU" sz="1800" dirty="0"/>
              <a:t>, stakeholders, government bodies, </a:t>
            </a:r>
            <a:r>
              <a:rPr lang="en-AU" sz="1800" dirty="0" smtClean="0"/>
              <a:t/>
            </a:r>
            <a:br>
              <a:rPr lang="en-AU" sz="1800" dirty="0" smtClean="0"/>
            </a:br>
            <a:r>
              <a:rPr lang="en-AU" sz="1800" dirty="0" smtClean="0"/>
              <a:t>grants </a:t>
            </a:r>
            <a:r>
              <a:rPr lang="en-AU" sz="1800" dirty="0"/>
              <a:t>or financial incentives available?</a:t>
            </a:r>
            <a:endParaRPr lang="en-US" sz="1800" dirty="0"/>
          </a:p>
          <a:p>
            <a:pPr lvl="0">
              <a:spcBef>
                <a:spcPts val="600"/>
              </a:spcBef>
              <a:spcAft>
                <a:spcPts val="600"/>
              </a:spcAft>
            </a:pPr>
            <a:r>
              <a:rPr lang="en-AU" sz="1800" dirty="0"/>
              <a:t>Are there any tax or increased cost affects relating to the </a:t>
            </a:r>
            <a:r>
              <a:rPr lang="en-AU" sz="1800" dirty="0" smtClean="0"/>
              <a:t/>
            </a:r>
            <a:br>
              <a:rPr lang="en-AU" sz="1800" dirty="0" smtClean="0"/>
            </a:br>
            <a:r>
              <a:rPr lang="en-AU" sz="1800" dirty="0" smtClean="0"/>
              <a:t>product </a:t>
            </a:r>
            <a:r>
              <a:rPr lang="en-AU" sz="1800" dirty="0"/>
              <a:t>or service development?</a:t>
            </a:r>
            <a:endParaRPr lang="en-US" sz="1800" dirty="0"/>
          </a:p>
          <a:p>
            <a:pPr marL="360000" indent="-360000">
              <a:spcBef>
                <a:spcPts val="600"/>
              </a:spcBef>
              <a:spcAft>
                <a:spcPts val="600"/>
              </a:spcAft>
              <a:buNone/>
            </a:pPr>
            <a:endParaRPr lang="en-US" sz="1800" dirty="0" smtClean="0"/>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18</a:t>
            </a:fld>
            <a:endParaRPr lang="en-US" dirty="0">
              <a:latin typeface="Helvetica" pitchFamily="34" charset="0"/>
            </a:endParaRPr>
          </a:p>
        </p:txBody>
      </p:sp>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248400" y="2362200"/>
            <a:ext cx="2106092" cy="2819400"/>
          </a:xfrm>
          <a:prstGeom prst="ellipse">
            <a:avLst/>
          </a:prstGeom>
        </p:spPr>
      </p:pic>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343744"/>
          </a:xfrm>
        </p:spPr>
        <p:txBody>
          <a:bodyPr>
            <a:noAutofit/>
          </a:bodyPr>
          <a:lstStyle/>
          <a:p>
            <a:r>
              <a:rPr lang="en-US" sz="3100" b="1" dirty="0" smtClean="0">
                <a:solidFill>
                  <a:srgbClr val="FF6600"/>
                </a:solidFill>
                <a:latin typeface="Helvetica" pitchFamily="34" charset="0"/>
              </a:rPr>
              <a:t>1.5 Research product development opportunities that align with the context that applies</a:t>
            </a:r>
            <a:endParaRPr lang="en-US" sz="3100" b="1" dirty="0">
              <a:solidFill>
                <a:srgbClr val="FF6600"/>
              </a:solidFill>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19</a:t>
            </a:fld>
            <a:endParaRPr lang="en-US" dirty="0">
              <a:latin typeface="Helvetica" pitchFamily="34" charset="0"/>
            </a:endParaRPr>
          </a:p>
        </p:txBody>
      </p:sp>
      <p:pic>
        <p:nvPicPr>
          <p:cNvPr id="6" name="Picture 5" descr="C:\Users\Quentin\AppData\Local\Microsoft\Windows\Temporary Internet Files\Content.IE5\9KNUG0JP\Choices[1].jpg"/>
          <p:cNvPicPr/>
          <p:nvPr/>
        </p:nvPicPr>
        <p:blipFill>
          <a:blip r:embed="rId3"/>
          <a:srcRect/>
          <a:stretch>
            <a:fillRect/>
          </a:stretch>
        </p:blipFill>
        <p:spPr bwMode="auto">
          <a:xfrm>
            <a:off x="2286000" y="2060848"/>
            <a:ext cx="3394992" cy="3456384"/>
          </a:xfrm>
          <a:prstGeom prst="rect">
            <a:avLst/>
          </a:prstGeom>
          <a:noFill/>
          <a:ln w="9525">
            <a:noFill/>
            <a:miter lim="800000"/>
            <a:headEnd/>
            <a:tailEnd/>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circle(in)">
                                      <p:cBhvr>
                                        <p:cTn id="7" dur="20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Researching opportunities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371600"/>
            <a:ext cx="7467600" cy="5072608"/>
          </a:xfrm>
        </p:spPr>
        <p:txBody>
          <a:bodyPr>
            <a:noAutofit/>
          </a:bodyPr>
          <a:lstStyle/>
          <a:p>
            <a:pPr marL="0" marR="0" indent="0">
              <a:spcBef>
                <a:spcPts val="400"/>
              </a:spcBef>
              <a:spcAft>
                <a:spcPts val="800"/>
              </a:spcAft>
              <a:buNone/>
            </a:pPr>
            <a:r>
              <a:rPr lang="en-AU" sz="1700" dirty="0">
                <a:latin typeface="Helvetica" panose="020B0604020202020204" pitchFamily="34" charset="0"/>
                <a:ea typeface="Calibri" panose="020F0502020204030204" pitchFamily="34" charset="0"/>
                <a:cs typeface="Calibri" panose="020F0502020204030204" pitchFamily="34" charset="0"/>
              </a:rPr>
              <a:t>After identifying potential business development opportunities, it is important to gather information and input from relevant sources. These sources could include</a:t>
            </a:r>
            <a:r>
              <a:rPr lang="en-AU" sz="1700" dirty="0" smtClean="0">
                <a:latin typeface="Helvetica" panose="020B0604020202020204" pitchFamily="34" charset="0"/>
                <a:ea typeface="Calibri" panose="020F0502020204030204" pitchFamily="34" charset="0"/>
                <a:cs typeface="Calibri" panose="020F0502020204030204" pitchFamily="34" charset="0"/>
              </a:rPr>
              <a:t>:</a:t>
            </a:r>
          </a:p>
          <a:p>
            <a:pPr lvl="0">
              <a:spcBef>
                <a:spcPts val="600"/>
              </a:spcBef>
              <a:spcAft>
                <a:spcPts val="600"/>
              </a:spcAft>
            </a:pPr>
            <a:r>
              <a:rPr lang="en-AU" sz="1700" dirty="0" smtClean="0">
                <a:latin typeface="Helvetica" panose="020B0604020202020204" pitchFamily="34" charset="0"/>
                <a:ea typeface="Calibri" panose="020F0502020204030204" pitchFamily="34" charset="0"/>
                <a:cs typeface="Times New Roman" panose="02020603050405020304" pitchFamily="18" charset="0"/>
              </a:rPr>
              <a:t>Visits </a:t>
            </a:r>
            <a:r>
              <a:rPr lang="en-AU" sz="1700" dirty="0">
                <a:latin typeface="Helvetica" panose="020B0604020202020204" pitchFamily="34" charset="0"/>
                <a:ea typeface="Calibri" panose="020F0502020204030204" pitchFamily="34" charset="0"/>
                <a:cs typeface="Times New Roman" panose="02020603050405020304" pitchFamily="18" charset="0"/>
              </a:rPr>
              <a:t>or experience of competitor products and </a:t>
            </a:r>
            <a:r>
              <a:rPr lang="en-AU" sz="1700" dirty="0" smtClean="0">
                <a:latin typeface="Helvetica" panose="020B0604020202020204" pitchFamily="34" charset="0"/>
                <a:ea typeface="Calibri" panose="020F0502020204030204" pitchFamily="34" charset="0"/>
                <a:cs typeface="Times New Roman" panose="02020603050405020304" pitchFamily="18" charset="0"/>
              </a:rPr>
              <a:t>services</a:t>
            </a:r>
          </a:p>
          <a:p>
            <a:pPr lvl="0">
              <a:spcBef>
                <a:spcPts val="600"/>
              </a:spcBef>
              <a:spcAft>
                <a:spcPts val="600"/>
              </a:spcAft>
            </a:pPr>
            <a:r>
              <a:rPr lang="en-AU" sz="1700" dirty="0" smtClean="0">
                <a:latin typeface="Helvetica" panose="020B0604020202020204" pitchFamily="34" charset="0"/>
                <a:ea typeface="Calibri" panose="020F0502020204030204" pitchFamily="34" charset="0"/>
                <a:cs typeface="Times New Roman" panose="02020603050405020304" pitchFamily="18" charset="0"/>
              </a:rPr>
              <a:t>Encouraging </a:t>
            </a:r>
            <a:r>
              <a:rPr lang="en-AU" sz="1700" dirty="0">
                <a:latin typeface="Helvetica" panose="020B0604020202020204" pitchFamily="34" charset="0"/>
                <a:ea typeface="Calibri" panose="020F0502020204030204" pitchFamily="34" charset="0"/>
                <a:cs typeface="Times New Roman" panose="02020603050405020304" pitchFamily="18" charset="0"/>
              </a:rPr>
              <a:t>input from relevant stakeholders including staff, colleagues, local communities, existing customers, authorities, industry professionals and </a:t>
            </a:r>
            <a:r>
              <a:rPr lang="en-AU" sz="1700" dirty="0" smtClean="0">
                <a:latin typeface="Helvetica" panose="020B0604020202020204" pitchFamily="34" charset="0"/>
                <a:ea typeface="Calibri" panose="020F0502020204030204" pitchFamily="34" charset="0"/>
                <a:cs typeface="Times New Roman" panose="02020603050405020304" pitchFamily="18" charset="0"/>
              </a:rPr>
              <a:t>suppliers</a:t>
            </a:r>
          </a:p>
          <a:p>
            <a:pPr lvl="0">
              <a:spcBef>
                <a:spcPts val="600"/>
              </a:spcBef>
              <a:spcAft>
                <a:spcPts val="600"/>
              </a:spcAft>
            </a:pPr>
            <a:r>
              <a:rPr lang="en-AU" sz="1700" dirty="0" smtClean="0">
                <a:latin typeface="Helvetica" panose="020B0604020202020204" pitchFamily="34" charset="0"/>
                <a:ea typeface="Calibri" panose="020F0502020204030204" pitchFamily="34" charset="0"/>
                <a:cs typeface="Times New Roman" panose="02020603050405020304" pitchFamily="18" charset="0"/>
              </a:rPr>
              <a:t>Investigation </a:t>
            </a:r>
            <a:r>
              <a:rPr lang="en-AU" sz="1700" dirty="0">
                <a:latin typeface="Helvetica" panose="020B0604020202020204" pitchFamily="34" charset="0"/>
                <a:ea typeface="Calibri" panose="020F0502020204030204" pitchFamily="34" charset="0"/>
                <a:cs typeface="Times New Roman" panose="02020603050405020304" pitchFamily="18" charset="0"/>
              </a:rPr>
              <a:t>and analysis of cost-benefits and increased revenue opportunities related to product development and </a:t>
            </a:r>
            <a:r>
              <a:rPr lang="en-AU" sz="1700" dirty="0" smtClean="0">
                <a:latin typeface="Helvetica" panose="020B0604020202020204" pitchFamily="34" charset="0"/>
                <a:ea typeface="Calibri" panose="020F0502020204030204" pitchFamily="34" charset="0"/>
                <a:cs typeface="Times New Roman" panose="02020603050405020304" pitchFamily="18" charset="0"/>
              </a:rPr>
              <a:t>introduction</a:t>
            </a:r>
          </a:p>
          <a:p>
            <a:pPr lvl="0">
              <a:spcBef>
                <a:spcPts val="600"/>
              </a:spcBef>
              <a:spcAft>
                <a:spcPts val="600"/>
              </a:spcAft>
            </a:pPr>
            <a:r>
              <a:rPr lang="en-AU" sz="1700" dirty="0" smtClean="0">
                <a:latin typeface="Helvetica" panose="020B0604020202020204" pitchFamily="34" charset="0"/>
                <a:ea typeface="Calibri" panose="020F0502020204030204" pitchFamily="34" charset="0"/>
                <a:cs typeface="Times New Roman" panose="02020603050405020304" pitchFamily="18" charset="0"/>
              </a:rPr>
              <a:t>Identification </a:t>
            </a:r>
            <a:r>
              <a:rPr lang="en-AU" sz="1700" dirty="0">
                <a:latin typeface="Helvetica" panose="020B0604020202020204" pitchFamily="34" charset="0"/>
                <a:ea typeface="Calibri" panose="020F0502020204030204" pitchFamily="34" charset="0"/>
                <a:cs typeface="Times New Roman" panose="02020603050405020304" pitchFamily="18" charset="0"/>
              </a:rPr>
              <a:t>of gaps that may exist within the </a:t>
            </a:r>
            <a:r>
              <a:rPr lang="en-AU" sz="1700" dirty="0" smtClean="0">
                <a:latin typeface="Helvetica" panose="020B0604020202020204" pitchFamily="34" charset="0"/>
                <a:ea typeface="Calibri" panose="020F0502020204030204" pitchFamily="34" charset="0"/>
                <a:cs typeface="Times New Roman" panose="02020603050405020304" pitchFamily="18" charset="0"/>
              </a:rPr>
              <a:t/>
            </a:r>
            <a:br>
              <a:rPr lang="en-AU" sz="1700" dirty="0" smtClean="0">
                <a:latin typeface="Helvetica" panose="020B0604020202020204" pitchFamily="34" charset="0"/>
                <a:ea typeface="Calibri" panose="020F0502020204030204" pitchFamily="34" charset="0"/>
                <a:cs typeface="Times New Roman" panose="02020603050405020304" pitchFamily="18" charset="0"/>
              </a:rPr>
            </a:br>
            <a:r>
              <a:rPr lang="en-AU" sz="1700" dirty="0" smtClean="0">
                <a:latin typeface="Helvetica" panose="020B0604020202020204" pitchFamily="34" charset="0"/>
                <a:ea typeface="Calibri" panose="020F0502020204030204" pitchFamily="34" charset="0"/>
                <a:cs typeface="Times New Roman" panose="02020603050405020304" pitchFamily="18" charset="0"/>
              </a:rPr>
              <a:t>organisation </a:t>
            </a:r>
            <a:r>
              <a:rPr lang="en-AU" sz="1700" dirty="0">
                <a:latin typeface="Helvetica" panose="020B0604020202020204" pitchFamily="34" charset="0"/>
                <a:ea typeface="Calibri" panose="020F0502020204030204" pitchFamily="34" charset="0"/>
                <a:cs typeface="Times New Roman" panose="02020603050405020304" pitchFamily="18" charset="0"/>
              </a:rPr>
              <a:t>and determining what resources are </a:t>
            </a:r>
            <a:r>
              <a:rPr lang="en-AU" sz="1700" dirty="0" smtClean="0">
                <a:latin typeface="Helvetica" panose="020B0604020202020204" pitchFamily="34" charset="0"/>
                <a:ea typeface="Calibri" panose="020F0502020204030204" pitchFamily="34" charset="0"/>
                <a:cs typeface="Times New Roman" panose="02020603050405020304" pitchFamily="18" charset="0"/>
              </a:rPr>
              <a:t/>
            </a:r>
            <a:br>
              <a:rPr lang="en-AU" sz="1700" dirty="0" smtClean="0">
                <a:latin typeface="Helvetica" panose="020B0604020202020204" pitchFamily="34" charset="0"/>
                <a:ea typeface="Calibri" panose="020F0502020204030204" pitchFamily="34" charset="0"/>
                <a:cs typeface="Times New Roman" panose="02020603050405020304" pitchFamily="18" charset="0"/>
              </a:rPr>
            </a:br>
            <a:r>
              <a:rPr lang="en-AU" sz="1700" dirty="0" smtClean="0">
                <a:latin typeface="Helvetica" panose="020B0604020202020204" pitchFamily="34" charset="0"/>
                <a:ea typeface="Calibri" panose="020F0502020204030204" pitchFamily="34" charset="0"/>
                <a:cs typeface="Times New Roman" panose="02020603050405020304" pitchFamily="18" charset="0"/>
              </a:rPr>
              <a:t>needed </a:t>
            </a:r>
            <a:r>
              <a:rPr lang="en-AU" sz="1700" dirty="0">
                <a:latin typeface="Helvetica" panose="020B0604020202020204" pitchFamily="34" charset="0"/>
                <a:ea typeface="Calibri" panose="020F0502020204030204" pitchFamily="34" charset="0"/>
                <a:cs typeface="Times New Roman" panose="02020603050405020304" pitchFamily="18" charset="0"/>
              </a:rPr>
              <a:t>to successfully implement a new product </a:t>
            </a:r>
            <a:r>
              <a:rPr lang="en-AU" sz="1700" dirty="0" smtClean="0">
                <a:latin typeface="Helvetica" panose="020B0604020202020204" pitchFamily="34" charset="0"/>
                <a:ea typeface="Calibri" panose="020F0502020204030204" pitchFamily="34" charset="0"/>
                <a:cs typeface="Times New Roman" panose="02020603050405020304" pitchFamily="18" charset="0"/>
              </a:rPr>
              <a:t/>
            </a:r>
            <a:br>
              <a:rPr lang="en-AU" sz="1700" dirty="0" smtClean="0">
                <a:latin typeface="Helvetica" panose="020B0604020202020204" pitchFamily="34" charset="0"/>
                <a:ea typeface="Calibri" panose="020F0502020204030204" pitchFamily="34" charset="0"/>
                <a:cs typeface="Times New Roman" panose="02020603050405020304" pitchFamily="18" charset="0"/>
              </a:rPr>
            </a:br>
            <a:r>
              <a:rPr lang="en-AU" sz="1700" dirty="0" smtClean="0">
                <a:latin typeface="Helvetica" panose="020B0604020202020204" pitchFamily="34" charset="0"/>
                <a:ea typeface="Calibri" panose="020F0502020204030204" pitchFamily="34" charset="0"/>
                <a:cs typeface="Times New Roman" panose="02020603050405020304" pitchFamily="18" charset="0"/>
              </a:rPr>
              <a:t>or service</a:t>
            </a:r>
          </a:p>
          <a:p>
            <a:pPr lvl="0">
              <a:spcBef>
                <a:spcPts val="600"/>
              </a:spcBef>
              <a:spcAft>
                <a:spcPts val="600"/>
              </a:spcAft>
            </a:pPr>
            <a:r>
              <a:rPr lang="en-AU" sz="1700" dirty="0" smtClean="0">
                <a:latin typeface="Helvetica" panose="020B0604020202020204" pitchFamily="34" charset="0"/>
                <a:ea typeface="Calibri" panose="020F0502020204030204" pitchFamily="34" charset="0"/>
                <a:cs typeface="Times New Roman" panose="02020603050405020304" pitchFamily="18" charset="0"/>
              </a:rPr>
              <a:t>Conducting </a:t>
            </a:r>
            <a:r>
              <a:rPr lang="en-AU" sz="1700" dirty="0">
                <a:latin typeface="Helvetica" panose="020B0604020202020204" pitchFamily="34" charset="0"/>
                <a:ea typeface="Calibri" panose="020F0502020204030204" pitchFamily="34" charset="0"/>
                <a:cs typeface="Times New Roman" panose="02020603050405020304" pitchFamily="18" charset="0"/>
              </a:rPr>
              <a:t>market research activities to identify </a:t>
            </a:r>
            <a:r>
              <a:rPr lang="en-AU" sz="1700" dirty="0" smtClean="0">
                <a:latin typeface="Helvetica" panose="020B0604020202020204" pitchFamily="34" charset="0"/>
                <a:ea typeface="Calibri" panose="020F0502020204030204" pitchFamily="34" charset="0"/>
                <a:cs typeface="Times New Roman" panose="02020603050405020304" pitchFamily="18" charset="0"/>
              </a:rPr>
              <a:t/>
            </a:r>
            <a:br>
              <a:rPr lang="en-AU" sz="1700" dirty="0" smtClean="0">
                <a:latin typeface="Helvetica" panose="020B0604020202020204" pitchFamily="34" charset="0"/>
                <a:ea typeface="Calibri" panose="020F0502020204030204" pitchFamily="34" charset="0"/>
                <a:cs typeface="Times New Roman" panose="02020603050405020304" pitchFamily="18" charset="0"/>
              </a:rPr>
            </a:br>
            <a:r>
              <a:rPr lang="en-AU" sz="1700" dirty="0" smtClean="0">
                <a:latin typeface="Helvetica" panose="020B0604020202020204" pitchFamily="34" charset="0"/>
                <a:ea typeface="Calibri" panose="020F0502020204030204" pitchFamily="34" charset="0"/>
                <a:cs typeface="Times New Roman" panose="02020603050405020304" pitchFamily="18" charset="0"/>
              </a:rPr>
              <a:t>potential </a:t>
            </a:r>
            <a:r>
              <a:rPr lang="en-AU" sz="1700" dirty="0">
                <a:latin typeface="Helvetica" panose="020B0604020202020204" pitchFamily="34" charset="0"/>
                <a:ea typeface="Calibri" panose="020F0502020204030204" pitchFamily="34" charset="0"/>
                <a:cs typeface="Times New Roman" panose="02020603050405020304" pitchFamily="18" charset="0"/>
              </a:rPr>
              <a:t>customer response to new product or service development</a:t>
            </a:r>
            <a:endParaRPr lang="en-US" sz="1700" dirty="0">
              <a:latin typeface="Helvetica" panose="020B0604020202020204" pitchFamily="34" charset="0"/>
              <a:ea typeface="Calibri" panose="020F0502020204030204" pitchFamily="34" charset="0"/>
              <a:cs typeface="Times New Roman" panose="02020603050405020304" pitchFamily="18" charset="0"/>
            </a:endParaRPr>
          </a:p>
          <a:p>
            <a:pPr marL="360000" indent="-360000">
              <a:spcBef>
                <a:spcPts val="600"/>
              </a:spcBef>
              <a:spcAft>
                <a:spcPts val="1200"/>
              </a:spcAft>
              <a:buNone/>
            </a:pPr>
            <a:endParaRPr lang="en-US" sz="17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20</a:t>
            </a:fld>
            <a:endParaRPr lang="en-US" dirty="0">
              <a:latin typeface="Helvetica" pitchFamily="34" charset="0"/>
            </a:endParaRPr>
          </a:p>
        </p:txBody>
      </p:sp>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362186" y="4367784"/>
            <a:ext cx="2019814" cy="1347216"/>
          </a:xfrm>
          <a:prstGeom prst="rect">
            <a:avLst/>
          </a:prstGeom>
        </p:spPr>
      </p:pic>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267544"/>
          </a:xfrm>
        </p:spPr>
        <p:txBody>
          <a:bodyPr>
            <a:noAutofit/>
          </a:bodyPr>
          <a:lstStyle/>
          <a:p>
            <a:r>
              <a:rPr lang="en-US" sz="2800" b="1" dirty="0" smtClean="0">
                <a:solidFill>
                  <a:srgbClr val="FF6600"/>
                </a:solidFill>
                <a:latin typeface="Helvetica" pitchFamily="34" charset="0"/>
              </a:rPr>
              <a:t>1.6 Develop project development plans reflecting research information and business objectives</a:t>
            </a:r>
            <a:endParaRPr lang="en-US" sz="2800" b="1" dirty="0">
              <a:solidFill>
                <a:srgbClr val="FF6600"/>
              </a:solidFill>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21</a:t>
            </a:fld>
            <a:endParaRPr lang="en-US" dirty="0">
              <a:latin typeface="Helvetica" pitchFamily="34" charset="0"/>
            </a:endParaRPr>
          </a:p>
        </p:txBody>
      </p:sp>
      <p:grpSp>
        <p:nvGrpSpPr>
          <p:cNvPr id="3" name="Group 2"/>
          <p:cNvGrpSpPr/>
          <p:nvPr/>
        </p:nvGrpSpPr>
        <p:grpSpPr>
          <a:xfrm>
            <a:off x="2475600" y="1835691"/>
            <a:ext cx="1944000" cy="4717509"/>
            <a:chOff x="3614009" y="1702681"/>
            <a:chExt cx="1944000" cy="4717509"/>
          </a:xfrm>
        </p:grpSpPr>
        <p:sp>
          <p:nvSpPr>
            <p:cNvPr id="5" name="Freeform 4"/>
            <p:cNvSpPr/>
            <p:nvPr/>
          </p:nvSpPr>
          <p:spPr>
            <a:xfrm>
              <a:off x="3614009" y="1702681"/>
              <a:ext cx="1944000" cy="555001"/>
            </a:xfrm>
            <a:custGeom>
              <a:avLst/>
              <a:gdLst>
                <a:gd name="connsiteX0" fmla="*/ 0 w 1461955"/>
                <a:gd name="connsiteY0" fmla="*/ 55500 h 555001"/>
                <a:gd name="connsiteX1" fmla="*/ 55500 w 1461955"/>
                <a:gd name="connsiteY1" fmla="*/ 0 h 555001"/>
                <a:gd name="connsiteX2" fmla="*/ 1406455 w 1461955"/>
                <a:gd name="connsiteY2" fmla="*/ 0 h 555001"/>
                <a:gd name="connsiteX3" fmla="*/ 1461955 w 1461955"/>
                <a:gd name="connsiteY3" fmla="*/ 55500 h 555001"/>
                <a:gd name="connsiteX4" fmla="*/ 1461955 w 1461955"/>
                <a:gd name="connsiteY4" fmla="*/ 499501 h 555001"/>
                <a:gd name="connsiteX5" fmla="*/ 1406455 w 1461955"/>
                <a:gd name="connsiteY5" fmla="*/ 555001 h 555001"/>
                <a:gd name="connsiteX6" fmla="*/ 55500 w 1461955"/>
                <a:gd name="connsiteY6" fmla="*/ 555001 h 555001"/>
                <a:gd name="connsiteX7" fmla="*/ 0 w 1461955"/>
                <a:gd name="connsiteY7" fmla="*/ 499501 h 555001"/>
                <a:gd name="connsiteX8" fmla="*/ 0 w 1461955"/>
                <a:gd name="connsiteY8" fmla="*/ 55500 h 555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461955" h="555001">
                  <a:moveTo>
                    <a:pt x="0" y="55500"/>
                  </a:moveTo>
                  <a:cubicBezTo>
                    <a:pt x="0" y="24848"/>
                    <a:pt x="24848" y="0"/>
                    <a:pt x="55500" y="0"/>
                  </a:cubicBezTo>
                  <a:lnTo>
                    <a:pt x="1406455" y="0"/>
                  </a:lnTo>
                  <a:cubicBezTo>
                    <a:pt x="1437107" y="0"/>
                    <a:pt x="1461955" y="24848"/>
                    <a:pt x="1461955" y="55500"/>
                  </a:cubicBezTo>
                  <a:lnTo>
                    <a:pt x="1461955" y="499501"/>
                  </a:lnTo>
                  <a:cubicBezTo>
                    <a:pt x="1461955" y="530153"/>
                    <a:pt x="1437107" y="555001"/>
                    <a:pt x="1406455" y="555001"/>
                  </a:cubicBezTo>
                  <a:lnTo>
                    <a:pt x="55500" y="555001"/>
                  </a:lnTo>
                  <a:cubicBezTo>
                    <a:pt x="24848" y="555001"/>
                    <a:pt x="0" y="530153"/>
                    <a:pt x="0" y="499501"/>
                  </a:cubicBezTo>
                  <a:lnTo>
                    <a:pt x="0" y="55500"/>
                  </a:lnTo>
                  <a:close/>
                </a:path>
              </a:pathLst>
            </a:custGeom>
          </p:spPr>
          <p:style>
            <a:lnRef idx="2">
              <a:schemeClr val="lt2">
                <a:hueOff val="0"/>
                <a:satOff val="0"/>
                <a:lumOff val="0"/>
                <a:alphaOff val="0"/>
              </a:schemeClr>
            </a:lnRef>
            <a:fillRef idx="1">
              <a:schemeClr val="dk2">
                <a:hueOff val="0"/>
                <a:satOff val="0"/>
                <a:lumOff val="0"/>
                <a:alphaOff val="0"/>
              </a:schemeClr>
            </a:fillRef>
            <a:effectRef idx="0">
              <a:schemeClr val="dk2">
                <a:hueOff val="0"/>
                <a:satOff val="0"/>
                <a:lumOff val="0"/>
                <a:alphaOff val="0"/>
              </a:schemeClr>
            </a:effectRef>
            <a:fontRef idx="minor">
              <a:schemeClr val="lt1"/>
            </a:fontRef>
          </p:style>
          <p:txBody>
            <a:bodyPr spcFirstLastPara="0" vert="horz" wrap="square" lIns="61975" tIns="61975" rIns="61975" bIns="61975" numCol="1" spcCol="1270" anchor="ctr" anchorCtr="0">
              <a:noAutofit/>
            </a:bodyPr>
            <a:lstStyle/>
            <a:p>
              <a:pPr lvl="0" algn="ctr" defTabSz="533400">
                <a:lnSpc>
                  <a:spcPct val="90000"/>
                </a:lnSpc>
                <a:spcBef>
                  <a:spcPct val="0"/>
                </a:spcBef>
                <a:spcAft>
                  <a:spcPct val="35000"/>
                </a:spcAft>
              </a:pPr>
              <a:r>
                <a:rPr lang="en-US" sz="1200" b="1" kern="1200" dirty="0">
                  <a:latin typeface="Helvetica" pitchFamily="34" charset="0"/>
                </a:rPr>
                <a:t>Generate idea</a:t>
              </a:r>
            </a:p>
          </p:txBody>
        </p:sp>
        <p:sp>
          <p:nvSpPr>
            <p:cNvPr id="7" name="Freeform 6"/>
            <p:cNvSpPr/>
            <p:nvPr/>
          </p:nvSpPr>
          <p:spPr>
            <a:xfrm>
              <a:off x="4470058" y="2292369"/>
              <a:ext cx="249751" cy="208126"/>
            </a:xfrm>
            <a:custGeom>
              <a:avLst/>
              <a:gdLst>
                <a:gd name="connsiteX0" fmla="*/ 0 w 208125"/>
                <a:gd name="connsiteY0" fmla="*/ 49950 h 249750"/>
                <a:gd name="connsiteX1" fmla="*/ 104063 w 208125"/>
                <a:gd name="connsiteY1" fmla="*/ 49950 h 249750"/>
                <a:gd name="connsiteX2" fmla="*/ 104063 w 208125"/>
                <a:gd name="connsiteY2" fmla="*/ 0 h 249750"/>
                <a:gd name="connsiteX3" fmla="*/ 208125 w 208125"/>
                <a:gd name="connsiteY3" fmla="*/ 124875 h 249750"/>
                <a:gd name="connsiteX4" fmla="*/ 104063 w 208125"/>
                <a:gd name="connsiteY4" fmla="*/ 249750 h 249750"/>
                <a:gd name="connsiteX5" fmla="*/ 104063 w 208125"/>
                <a:gd name="connsiteY5" fmla="*/ 199800 h 249750"/>
                <a:gd name="connsiteX6" fmla="*/ 0 w 208125"/>
                <a:gd name="connsiteY6" fmla="*/ 199800 h 249750"/>
                <a:gd name="connsiteX7" fmla="*/ 0 w 208125"/>
                <a:gd name="connsiteY7" fmla="*/ 49950 h 2497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08125" h="249750">
                  <a:moveTo>
                    <a:pt x="166500" y="1"/>
                  </a:moveTo>
                  <a:lnTo>
                    <a:pt x="166500" y="124876"/>
                  </a:lnTo>
                  <a:lnTo>
                    <a:pt x="208125" y="124876"/>
                  </a:lnTo>
                  <a:lnTo>
                    <a:pt x="104063" y="249749"/>
                  </a:lnTo>
                  <a:lnTo>
                    <a:pt x="0" y="124876"/>
                  </a:lnTo>
                  <a:lnTo>
                    <a:pt x="41625" y="124876"/>
                  </a:lnTo>
                  <a:lnTo>
                    <a:pt x="41625" y="1"/>
                  </a:lnTo>
                  <a:lnTo>
                    <a:pt x="166500" y="1"/>
                  </a:lnTo>
                  <a:close/>
                </a:path>
              </a:pathLst>
            </a:custGeom>
          </p:spPr>
          <p:style>
            <a:lnRef idx="0">
              <a:schemeClr val="dk2">
                <a:tint val="60000"/>
                <a:hueOff val="0"/>
                <a:satOff val="0"/>
                <a:lumOff val="0"/>
                <a:alphaOff val="0"/>
              </a:schemeClr>
            </a:lnRef>
            <a:fillRef idx="1">
              <a:schemeClr val="dk2">
                <a:tint val="60000"/>
                <a:hueOff val="0"/>
                <a:satOff val="0"/>
                <a:lumOff val="0"/>
                <a:alphaOff val="0"/>
              </a:schemeClr>
            </a:fillRef>
            <a:effectRef idx="0">
              <a:schemeClr val="dk2">
                <a:tint val="60000"/>
                <a:hueOff val="0"/>
                <a:satOff val="0"/>
                <a:lumOff val="0"/>
                <a:alphaOff val="0"/>
              </a:schemeClr>
            </a:effectRef>
            <a:fontRef idx="minor">
              <a:schemeClr val="lt1"/>
            </a:fontRef>
          </p:style>
          <p:txBody>
            <a:bodyPr spcFirstLastPara="0" vert="horz" wrap="square" lIns="49951" tIns="1" rIns="49950" bIns="62437" numCol="1" spcCol="1270" anchor="ctr" anchorCtr="0">
              <a:noAutofit/>
            </a:bodyPr>
            <a:lstStyle/>
            <a:p>
              <a:pPr lvl="0" algn="ctr" defTabSz="533400">
                <a:lnSpc>
                  <a:spcPct val="90000"/>
                </a:lnSpc>
                <a:spcBef>
                  <a:spcPct val="0"/>
                </a:spcBef>
                <a:spcAft>
                  <a:spcPct val="35000"/>
                </a:spcAft>
              </a:pPr>
              <a:endParaRPr lang="en-US" sz="1200" b="1" kern="1200" dirty="0">
                <a:latin typeface="Helvetica" pitchFamily="34" charset="0"/>
              </a:endParaRPr>
            </a:p>
          </p:txBody>
        </p:sp>
        <p:sp>
          <p:nvSpPr>
            <p:cNvPr id="8" name="Freeform 7"/>
            <p:cNvSpPr/>
            <p:nvPr/>
          </p:nvSpPr>
          <p:spPr>
            <a:xfrm>
              <a:off x="3614009" y="2535182"/>
              <a:ext cx="1944000" cy="555001"/>
            </a:xfrm>
            <a:custGeom>
              <a:avLst/>
              <a:gdLst>
                <a:gd name="connsiteX0" fmla="*/ 0 w 1461955"/>
                <a:gd name="connsiteY0" fmla="*/ 55500 h 555001"/>
                <a:gd name="connsiteX1" fmla="*/ 55500 w 1461955"/>
                <a:gd name="connsiteY1" fmla="*/ 0 h 555001"/>
                <a:gd name="connsiteX2" fmla="*/ 1406455 w 1461955"/>
                <a:gd name="connsiteY2" fmla="*/ 0 h 555001"/>
                <a:gd name="connsiteX3" fmla="*/ 1461955 w 1461955"/>
                <a:gd name="connsiteY3" fmla="*/ 55500 h 555001"/>
                <a:gd name="connsiteX4" fmla="*/ 1461955 w 1461955"/>
                <a:gd name="connsiteY4" fmla="*/ 499501 h 555001"/>
                <a:gd name="connsiteX5" fmla="*/ 1406455 w 1461955"/>
                <a:gd name="connsiteY5" fmla="*/ 555001 h 555001"/>
                <a:gd name="connsiteX6" fmla="*/ 55500 w 1461955"/>
                <a:gd name="connsiteY6" fmla="*/ 555001 h 555001"/>
                <a:gd name="connsiteX7" fmla="*/ 0 w 1461955"/>
                <a:gd name="connsiteY7" fmla="*/ 499501 h 555001"/>
                <a:gd name="connsiteX8" fmla="*/ 0 w 1461955"/>
                <a:gd name="connsiteY8" fmla="*/ 55500 h 555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461955" h="555001">
                  <a:moveTo>
                    <a:pt x="0" y="55500"/>
                  </a:moveTo>
                  <a:cubicBezTo>
                    <a:pt x="0" y="24848"/>
                    <a:pt x="24848" y="0"/>
                    <a:pt x="55500" y="0"/>
                  </a:cubicBezTo>
                  <a:lnTo>
                    <a:pt x="1406455" y="0"/>
                  </a:lnTo>
                  <a:cubicBezTo>
                    <a:pt x="1437107" y="0"/>
                    <a:pt x="1461955" y="24848"/>
                    <a:pt x="1461955" y="55500"/>
                  </a:cubicBezTo>
                  <a:lnTo>
                    <a:pt x="1461955" y="499501"/>
                  </a:lnTo>
                  <a:cubicBezTo>
                    <a:pt x="1461955" y="530153"/>
                    <a:pt x="1437107" y="555001"/>
                    <a:pt x="1406455" y="555001"/>
                  </a:cubicBezTo>
                  <a:lnTo>
                    <a:pt x="55500" y="555001"/>
                  </a:lnTo>
                  <a:cubicBezTo>
                    <a:pt x="24848" y="555001"/>
                    <a:pt x="0" y="530153"/>
                    <a:pt x="0" y="499501"/>
                  </a:cubicBezTo>
                  <a:lnTo>
                    <a:pt x="0" y="55500"/>
                  </a:lnTo>
                  <a:close/>
                </a:path>
              </a:pathLst>
            </a:custGeom>
          </p:spPr>
          <p:style>
            <a:lnRef idx="2">
              <a:schemeClr val="lt2">
                <a:hueOff val="0"/>
                <a:satOff val="0"/>
                <a:lumOff val="0"/>
                <a:alphaOff val="0"/>
              </a:schemeClr>
            </a:lnRef>
            <a:fillRef idx="1">
              <a:schemeClr val="dk2">
                <a:hueOff val="0"/>
                <a:satOff val="0"/>
                <a:lumOff val="0"/>
                <a:alphaOff val="0"/>
              </a:schemeClr>
            </a:fillRef>
            <a:effectRef idx="0">
              <a:schemeClr val="dk2">
                <a:hueOff val="0"/>
                <a:satOff val="0"/>
                <a:lumOff val="0"/>
                <a:alphaOff val="0"/>
              </a:schemeClr>
            </a:effectRef>
            <a:fontRef idx="minor">
              <a:schemeClr val="lt1"/>
            </a:fontRef>
          </p:style>
          <p:txBody>
            <a:bodyPr spcFirstLastPara="0" vert="horz" wrap="square" lIns="61975" tIns="61975" rIns="61975" bIns="61975" numCol="1" spcCol="1270" anchor="ctr" anchorCtr="0">
              <a:noAutofit/>
            </a:bodyPr>
            <a:lstStyle/>
            <a:p>
              <a:pPr lvl="0" algn="ctr" defTabSz="533400">
                <a:lnSpc>
                  <a:spcPct val="90000"/>
                </a:lnSpc>
                <a:spcBef>
                  <a:spcPct val="0"/>
                </a:spcBef>
                <a:spcAft>
                  <a:spcPct val="35000"/>
                </a:spcAft>
              </a:pPr>
              <a:r>
                <a:rPr lang="en-US" sz="1200" b="1" kern="1200" dirty="0">
                  <a:latin typeface="Helvetica" pitchFamily="34" charset="0"/>
                </a:rPr>
                <a:t>Screen product or service</a:t>
              </a:r>
            </a:p>
          </p:txBody>
        </p:sp>
        <p:sp>
          <p:nvSpPr>
            <p:cNvPr id="9" name="Freeform 8"/>
            <p:cNvSpPr/>
            <p:nvPr/>
          </p:nvSpPr>
          <p:spPr>
            <a:xfrm>
              <a:off x="4470058" y="3124870"/>
              <a:ext cx="249751" cy="208126"/>
            </a:xfrm>
            <a:custGeom>
              <a:avLst/>
              <a:gdLst>
                <a:gd name="connsiteX0" fmla="*/ 0 w 208125"/>
                <a:gd name="connsiteY0" fmla="*/ 49950 h 249750"/>
                <a:gd name="connsiteX1" fmla="*/ 104063 w 208125"/>
                <a:gd name="connsiteY1" fmla="*/ 49950 h 249750"/>
                <a:gd name="connsiteX2" fmla="*/ 104063 w 208125"/>
                <a:gd name="connsiteY2" fmla="*/ 0 h 249750"/>
                <a:gd name="connsiteX3" fmla="*/ 208125 w 208125"/>
                <a:gd name="connsiteY3" fmla="*/ 124875 h 249750"/>
                <a:gd name="connsiteX4" fmla="*/ 104063 w 208125"/>
                <a:gd name="connsiteY4" fmla="*/ 249750 h 249750"/>
                <a:gd name="connsiteX5" fmla="*/ 104063 w 208125"/>
                <a:gd name="connsiteY5" fmla="*/ 199800 h 249750"/>
                <a:gd name="connsiteX6" fmla="*/ 0 w 208125"/>
                <a:gd name="connsiteY6" fmla="*/ 199800 h 249750"/>
                <a:gd name="connsiteX7" fmla="*/ 0 w 208125"/>
                <a:gd name="connsiteY7" fmla="*/ 49950 h 2497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08125" h="249750">
                  <a:moveTo>
                    <a:pt x="166500" y="1"/>
                  </a:moveTo>
                  <a:lnTo>
                    <a:pt x="166500" y="124876"/>
                  </a:lnTo>
                  <a:lnTo>
                    <a:pt x="208125" y="124876"/>
                  </a:lnTo>
                  <a:lnTo>
                    <a:pt x="104063" y="249749"/>
                  </a:lnTo>
                  <a:lnTo>
                    <a:pt x="0" y="124876"/>
                  </a:lnTo>
                  <a:lnTo>
                    <a:pt x="41625" y="124876"/>
                  </a:lnTo>
                  <a:lnTo>
                    <a:pt x="41625" y="1"/>
                  </a:lnTo>
                  <a:lnTo>
                    <a:pt x="166500" y="1"/>
                  </a:lnTo>
                  <a:close/>
                </a:path>
              </a:pathLst>
            </a:custGeom>
          </p:spPr>
          <p:style>
            <a:lnRef idx="0">
              <a:schemeClr val="dk2">
                <a:tint val="60000"/>
                <a:hueOff val="0"/>
                <a:satOff val="0"/>
                <a:lumOff val="0"/>
                <a:alphaOff val="0"/>
              </a:schemeClr>
            </a:lnRef>
            <a:fillRef idx="1">
              <a:schemeClr val="dk2">
                <a:tint val="60000"/>
                <a:hueOff val="0"/>
                <a:satOff val="0"/>
                <a:lumOff val="0"/>
                <a:alphaOff val="0"/>
              </a:schemeClr>
            </a:fillRef>
            <a:effectRef idx="0">
              <a:schemeClr val="dk2">
                <a:tint val="60000"/>
                <a:hueOff val="0"/>
                <a:satOff val="0"/>
                <a:lumOff val="0"/>
                <a:alphaOff val="0"/>
              </a:schemeClr>
            </a:effectRef>
            <a:fontRef idx="minor">
              <a:schemeClr val="lt1"/>
            </a:fontRef>
          </p:style>
          <p:txBody>
            <a:bodyPr spcFirstLastPara="0" vert="horz" wrap="square" lIns="49951" tIns="1" rIns="49950" bIns="62437" numCol="1" spcCol="1270" anchor="ctr" anchorCtr="0">
              <a:noAutofit/>
            </a:bodyPr>
            <a:lstStyle/>
            <a:p>
              <a:pPr lvl="0" algn="ctr" defTabSz="533400">
                <a:lnSpc>
                  <a:spcPct val="90000"/>
                </a:lnSpc>
                <a:spcBef>
                  <a:spcPct val="0"/>
                </a:spcBef>
                <a:spcAft>
                  <a:spcPct val="35000"/>
                </a:spcAft>
              </a:pPr>
              <a:endParaRPr lang="en-US" sz="1200" b="1" kern="1200" dirty="0">
                <a:latin typeface="Helvetica" pitchFamily="34" charset="0"/>
              </a:endParaRPr>
            </a:p>
          </p:txBody>
        </p:sp>
        <p:sp>
          <p:nvSpPr>
            <p:cNvPr id="10" name="Freeform 9"/>
            <p:cNvSpPr/>
            <p:nvPr/>
          </p:nvSpPr>
          <p:spPr>
            <a:xfrm>
              <a:off x="3614009" y="3367684"/>
              <a:ext cx="1944000" cy="555001"/>
            </a:xfrm>
            <a:custGeom>
              <a:avLst/>
              <a:gdLst>
                <a:gd name="connsiteX0" fmla="*/ 0 w 1461955"/>
                <a:gd name="connsiteY0" fmla="*/ 55500 h 555001"/>
                <a:gd name="connsiteX1" fmla="*/ 55500 w 1461955"/>
                <a:gd name="connsiteY1" fmla="*/ 0 h 555001"/>
                <a:gd name="connsiteX2" fmla="*/ 1406455 w 1461955"/>
                <a:gd name="connsiteY2" fmla="*/ 0 h 555001"/>
                <a:gd name="connsiteX3" fmla="*/ 1461955 w 1461955"/>
                <a:gd name="connsiteY3" fmla="*/ 55500 h 555001"/>
                <a:gd name="connsiteX4" fmla="*/ 1461955 w 1461955"/>
                <a:gd name="connsiteY4" fmla="*/ 499501 h 555001"/>
                <a:gd name="connsiteX5" fmla="*/ 1406455 w 1461955"/>
                <a:gd name="connsiteY5" fmla="*/ 555001 h 555001"/>
                <a:gd name="connsiteX6" fmla="*/ 55500 w 1461955"/>
                <a:gd name="connsiteY6" fmla="*/ 555001 h 555001"/>
                <a:gd name="connsiteX7" fmla="*/ 0 w 1461955"/>
                <a:gd name="connsiteY7" fmla="*/ 499501 h 555001"/>
                <a:gd name="connsiteX8" fmla="*/ 0 w 1461955"/>
                <a:gd name="connsiteY8" fmla="*/ 55500 h 555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461955" h="555001">
                  <a:moveTo>
                    <a:pt x="0" y="55500"/>
                  </a:moveTo>
                  <a:cubicBezTo>
                    <a:pt x="0" y="24848"/>
                    <a:pt x="24848" y="0"/>
                    <a:pt x="55500" y="0"/>
                  </a:cubicBezTo>
                  <a:lnTo>
                    <a:pt x="1406455" y="0"/>
                  </a:lnTo>
                  <a:cubicBezTo>
                    <a:pt x="1437107" y="0"/>
                    <a:pt x="1461955" y="24848"/>
                    <a:pt x="1461955" y="55500"/>
                  </a:cubicBezTo>
                  <a:lnTo>
                    <a:pt x="1461955" y="499501"/>
                  </a:lnTo>
                  <a:cubicBezTo>
                    <a:pt x="1461955" y="530153"/>
                    <a:pt x="1437107" y="555001"/>
                    <a:pt x="1406455" y="555001"/>
                  </a:cubicBezTo>
                  <a:lnTo>
                    <a:pt x="55500" y="555001"/>
                  </a:lnTo>
                  <a:cubicBezTo>
                    <a:pt x="24848" y="555001"/>
                    <a:pt x="0" y="530153"/>
                    <a:pt x="0" y="499501"/>
                  </a:cubicBezTo>
                  <a:lnTo>
                    <a:pt x="0" y="55500"/>
                  </a:lnTo>
                  <a:close/>
                </a:path>
              </a:pathLst>
            </a:custGeom>
          </p:spPr>
          <p:style>
            <a:lnRef idx="2">
              <a:schemeClr val="lt2">
                <a:hueOff val="0"/>
                <a:satOff val="0"/>
                <a:lumOff val="0"/>
                <a:alphaOff val="0"/>
              </a:schemeClr>
            </a:lnRef>
            <a:fillRef idx="1">
              <a:schemeClr val="dk2">
                <a:hueOff val="0"/>
                <a:satOff val="0"/>
                <a:lumOff val="0"/>
                <a:alphaOff val="0"/>
              </a:schemeClr>
            </a:fillRef>
            <a:effectRef idx="0">
              <a:schemeClr val="dk2">
                <a:hueOff val="0"/>
                <a:satOff val="0"/>
                <a:lumOff val="0"/>
                <a:alphaOff val="0"/>
              </a:schemeClr>
            </a:effectRef>
            <a:fontRef idx="minor">
              <a:schemeClr val="lt1"/>
            </a:fontRef>
          </p:style>
          <p:txBody>
            <a:bodyPr spcFirstLastPara="0" vert="horz" wrap="square" lIns="61975" tIns="61975" rIns="61975" bIns="61975" numCol="1" spcCol="1270" anchor="ctr" anchorCtr="0">
              <a:noAutofit/>
            </a:bodyPr>
            <a:lstStyle/>
            <a:p>
              <a:pPr lvl="0" algn="ctr" defTabSz="533400">
                <a:lnSpc>
                  <a:spcPct val="90000"/>
                </a:lnSpc>
                <a:spcBef>
                  <a:spcPct val="0"/>
                </a:spcBef>
                <a:spcAft>
                  <a:spcPct val="35000"/>
                </a:spcAft>
              </a:pPr>
              <a:r>
                <a:rPr lang="en-US" sz="1200" b="1" kern="1200" dirty="0">
                  <a:latin typeface="Helvetica" pitchFamily="34" charset="0"/>
                </a:rPr>
                <a:t>Outline and test the concept</a:t>
              </a:r>
            </a:p>
          </p:txBody>
        </p:sp>
        <p:sp>
          <p:nvSpPr>
            <p:cNvPr id="11" name="Freeform 10"/>
            <p:cNvSpPr/>
            <p:nvPr/>
          </p:nvSpPr>
          <p:spPr>
            <a:xfrm>
              <a:off x="4470058" y="3957372"/>
              <a:ext cx="249751" cy="208126"/>
            </a:xfrm>
            <a:custGeom>
              <a:avLst/>
              <a:gdLst>
                <a:gd name="connsiteX0" fmla="*/ 0 w 208125"/>
                <a:gd name="connsiteY0" fmla="*/ 49950 h 249750"/>
                <a:gd name="connsiteX1" fmla="*/ 104063 w 208125"/>
                <a:gd name="connsiteY1" fmla="*/ 49950 h 249750"/>
                <a:gd name="connsiteX2" fmla="*/ 104063 w 208125"/>
                <a:gd name="connsiteY2" fmla="*/ 0 h 249750"/>
                <a:gd name="connsiteX3" fmla="*/ 208125 w 208125"/>
                <a:gd name="connsiteY3" fmla="*/ 124875 h 249750"/>
                <a:gd name="connsiteX4" fmla="*/ 104063 w 208125"/>
                <a:gd name="connsiteY4" fmla="*/ 249750 h 249750"/>
                <a:gd name="connsiteX5" fmla="*/ 104063 w 208125"/>
                <a:gd name="connsiteY5" fmla="*/ 199800 h 249750"/>
                <a:gd name="connsiteX6" fmla="*/ 0 w 208125"/>
                <a:gd name="connsiteY6" fmla="*/ 199800 h 249750"/>
                <a:gd name="connsiteX7" fmla="*/ 0 w 208125"/>
                <a:gd name="connsiteY7" fmla="*/ 49950 h 2497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08125" h="249750">
                  <a:moveTo>
                    <a:pt x="166500" y="1"/>
                  </a:moveTo>
                  <a:lnTo>
                    <a:pt x="166500" y="124876"/>
                  </a:lnTo>
                  <a:lnTo>
                    <a:pt x="208125" y="124876"/>
                  </a:lnTo>
                  <a:lnTo>
                    <a:pt x="104063" y="249749"/>
                  </a:lnTo>
                  <a:lnTo>
                    <a:pt x="0" y="124876"/>
                  </a:lnTo>
                  <a:lnTo>
                    <a:pt x="41625" y="124876"/>
                  </a:lnTo>
                  <a:lnTo>
                    <a:pt x="41625" y="1"/>
                  </a:lnTo>
                  <a:lnTo>
                    <a:pt x="166500" y="1"/>
                  </a:lnTo>
                  <a:close/>
                </a:path>
              </a:pathLst>
            </a:custGeom>
          </p:spPr>
          <p:style>
            <a:lnRef idx="0">
              <a:schemeClr val="dk2">
                <a:tint val="60000"/>
                <a:hueOff val="0"/>
                <a:satOff val="0"/>
                <a:lumOff val="0"/>
                <a:alphaOff val="0"/>
              </a:schemeClr>
            </a:lnRef>
            <a:fillRef idx="1">
              <a:schemeClr val="dk2">
                <a:tint val="60000"/>
                <a:hueOff val="0"/>
                <a:satOff val="0"/>
                <a:lumOff val="0"/>
                <a:alphaOff val="0"/>
              </a:schemeClr>
            </a:fillRef>
            <a:effectRef idx="0">
              <a:schemeClr val="dk2">
                <a:tint val="60000"/>
                <a:hueOff val="0"/>
                <a:satOff val="0"/>
                <a:lumOff val="0"/>
                <a:alphaOff val="0"/>
              </a:schemeClr>
            </a:effectRef>
            <a:fontRef idx="minor">
              <a:schemeClr val="lt1"/>
            </a:fontRef>
          </p:style>
          <p:txBody>
            <a:bodyPr spcFirstLastPara="0" vert="horz" wrap="square" lIns="49951" tIns="1" rIns="49950" bIns="62437" numCol="1" spcCol="1270" anchor="ctr" anchorCtr="0">
              <a:noAutofit/>
            </a:bodyPr>
            <a:lstStyle/>
            <a:p>
              <a:pPr lvl="0" algn="ctr" defTabSz="533400">
                <a:lnSpc>
                  <a:spcPct val="90000"/>
                </a:lnSpc>
                <a:spcBef>
                  <a:spcPct val="0"/>
                </a:spcBef>
                <a:spcAft>
                  <a:spcPct val="35000"/>
                </a:spcAft>
              </a:pPr>
              <a:endParaRPr lang="en-US" sz="1200" b="1" kern="1200" dirty="0">
                <a:latin typeface="Helvetica" pitchFamily="34" charset="0"/>
              </a:endParaRPr>
            </a:p>
          </p:txBody>
        </p:sp>
        <p:sp>
          <p:nvSpPr>
            <p:cNvPr id="12" name="Freeform 11"/>
            <p:cNvSpPr/>
            <p:nvPr/>
          </p:nvSpPr>
          <p:spPr>
            <a:xfrm>
              <a:off x="3614009" y="4200186"/>
              <a:ext cx="1944000" cy="555001"/>
            </a:xfrm>
            <a:custGeom>
              <a:avLst/>
              <a:gdLst>
                <a:gd name="connsiteX0" fmla="*/ 0 w 1461955"/>
                <a:gd name="connsiteY0" fmla="*/ 55500 h 555001"/>
                <a:gd name="connsiteX1" fmla="*/ 55500 w 1461955"/>
                <a:gd name="connsiteY1" fmla="*/ 0 h 555001"/>
                <a:gd name="connsiteX2" fmla="*/ 1406455 w 1461955"/>
                <a:gd name="connsiteY2" fmla="*/ 0 h 555001"/>
                <a:gd name="connsiteX3" fmla="*/ 1461955 w 1461955"/>
                <a:gd name="connsiteY3" fmla="*/ 55500 h 555001"/>
                <a:gd name="connsiteX4" fmla="*/ 1461955 w 1461955"/>
                <a:gd name="connsiteY4" fmla="*/ 499501 h 555001"/>
                <a:gd name="connsiteX5" fmla="*/ 1406455 w 1461955"/>
                <a:gd name="connsiteY5" fmla="*/ 555001 h 555001"/>
                <a:gd name="connsiteX6" fmla="*/ 55500 w 1461955"/>
                <a:gd name="connsiteY6" fmla="*/ 555001 h 555001"/>
                <a:gd name="connsiteX7" fmla="*/ 0 w 1461955"/>
                <a:gd name="connsiteY7" fmla="*/ 499501 h 555001"/>
                <a:gd name="connsiteX8" fmla="*/ 0 w 1461955"/>
                <a:gd name="connsiteY8" fmla="*/ 55500 h 555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461955" h="555001">
                  <a:moveTo>
                    <a:pt x="0" y="55500"/>
                  </a:moveTo>
                  <a:cubicBezTo>
                    <a:pt x="0" y="24848"/>
                    <a:pt x="24848" y="0"/>
                    <a:pt x="55500" y="0"/>
                  </a:cubicBezTo>
                  <a:lnTo>
                    <a:pt x="1406455" y="0"/>
                  </a:lnTo>
                  <a:cubicBezTo>
                    <a:pt x="1437107" y="0"/>
                    <a:pt x="1461955" y="24848"/>
                    <a:pt x="1461955" y="55500"/>
                  </a:cubicBezTo>
                  <a:lnTo>
                    <a:pt x="1461955" y="499501"/>
                  </a:lnTo>
                  <a:cubicBezTo>
                    <a:pt x="1461955" y="530153"/>
                    <a:pt x="1437107" y="555001"/>
                    <a:pt x="1406455" y="555001"/>
                  </a:cubicBezTo>
                  <a:lnTo>
                    <a:pt x="55500" y="555001"/>
                  </a:lnTo>
                  <a:cubicBezTo>
                    <a:pt x="24848" y="555001"/>
                    <a:pt x="0" y="530153"/>
                    <a:pt x="0" y="499501"/>
                  </a:cubicBezTo>
                  <a:lnTo>
                    <a:pt x="0" y="55500"/>
                  </a:lnTo>
                  <a:close/>
                </a:path>
              </a:pathLst>
            </a:custGeom>
          </p:spPr>
          <p:style>
            <a:lnRef idx="2">
              <a:schemeClr val="lt2">
                <a:hueOff val="0"/>
                <a:satOff val="0"/>
                <a:lumOff val="0"/>
                <a:alphaOff val="0"/>
              </a:schemeClr>
            </a:lnRef>
            <a:fillRef idx="1">
              <a:schemeClr val="dk2">
                <a:hueOff val="0"/>
                <a:satOff val="0"/>
                <a:lumOff val="0"/>
                <a:alphaOff val="0"/>
              </a:schemeClr>
            </a:fillRef>
            <a:effectRef idx="0">
              <a:schemeClr val="dk2">
                <a:hueOff val="0"/>
                <a:satOff val="0"/>
                <a:lumOff val="0"/>
                <a:alphaOff val="0"/>
              </a:schemeClr>
            </a:effectRef>
            <a:fontRef idx="minor">
              <a:schemeClr val="lt1"/>
            </a:fontRef>
          </p:style>
          <p:txBody>
            <a:bodyPr spcFirstLastPara="0" vert="horz" wrap="square" lIns="61975" tIns="61975" rIns="61975" bIns="61975" numCol="1" spcCol="1270" anchor="ctr" anchorCtr="0">
              <a:noAutofit/>
            </a:bodyPr>
            <a:lstStyle/>
            <a:p>
              <a:pPr lvl="0" algn="ctr" defTabSz="533400">
                <a:lnSpc>
                  <a:spcPct val="90000"/>
                </a:lnSpc>
                <a:spcBef>
                  <a:spcPct val="0"/>
                </a:spcBef>
                <a:spcAft>
                  <a:spcPct val="35000"/>
                </a:spcAft>
              </a:pPr>
              <a:r>
                <a:rPr lang="en-AU" sz="1200" b="1" kern="1200" dirty="0" smtClean="0">
                  <a:latin typeface="Helvetica" pitchFamily="34" charset="0"/>
                </a:rPr>
                <a:t>Analyse business potential</a:t>
              </a:r>
              <a:endParaRPr lang="en-AU" sz="1200" b="1" kern="1200" dirty="0">
                <a:latin typeface="Helvetica" pitchFamily="34" charset="0"/>
              </a:endParaRPr>
            </a:p>
          </p:txBody>
        </p:sp>
        <p:sp>
          <p:nvSpPr>
            <p:cNvPr id="13" name="Freeform 12"/>
            <p:cNvSpPr/>
            <p:nvPr/>
          </p:nvSpPr>
          <p:spPr>
            <a:xfrm>
              <a:off x="4470058" y="4789874"/>
              <a:ext cx="249751" cy="208126"/>
            </a:xfrm>
            <a:custGeom>
              <a:avLst/>
              <a:gdLst>
                <a:gd name="connsiteX0" fmla="*/ 0 w 208125"/>
                <a:gd name="connsiteY0" fmla="*/ 49950 h 249750"/>
                <a:gd name="connsiteX1" fmla="*/ 104063 w 208125"/>
                <a:gd name="connsiteY1" fmla="*/ 49950 h 249750"/>
                <a:gd name="connsiteX2" fmla="*/ 104063 w 208125"/>
                <a:gd name="connsiteY2" fmla="*/ 0 h 249750"/>
                <a:gd name="connsiteX3" fmla="*/ 208125 w 208125"/>
                <a:gd name="connsiteY3" fmla="*/ 124875 h 249750"/>
                <a:gd name="connsiteX4" fmla="*/ 104063 w 208125"/>
                <a:gd name="connsiteY4" fmla="*/ 249750 h 249750"/>
                <a:gd name="connsiteX5" fmla="*/ 104063 w 208125"/>
                <a:gd name="connsiteY5" fmla="*/ 199800 h 249750"/>
                <a:gd name="connsiteX6" fmla="*/ 0 w 208125"/>
                <a:gd name="connsiteY6" fmla="*/ 199800 h 249750"/>
                <a:gd name="connsiteX7" fmla="*/ 0 w 208125"/>
                <a:gd name="connsiteY7" fmla="*/ 49950 h 2497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08125" h="249750">
                  <a:moveTo>
                    <a:pt x="166500" y="1"/>
                  </a:moveTo>
                  <a:lnTo>
                    <a:pt x="166500" y="124876"/>
                  </a:lnTo>
                  <a:lnTo>
                    <a:pt x="208125" y="124876"/>
                  </a:lnTo>
                  <a:lnTo>
                    <a:pt x="104063" y="249749"/>
                  </a:lnTo>
                  <a:lnTo>
                    <a:pt x="0" y="124876"/>
                  </a:lnTo>
                  <a:lnTo>
                    <a:pt x="41625" y="124876"/>
                  </a:lnTo>
                  <a:lnTo>
                    <a:pt x="41625" y="1"/>
                  </a:lnTo>
                  <a:lnTo>
                    <a:pt x="166500" y="1"/>
                  </a:lnTo>
                  <a:close/>
                </a:path>
              </a:pathLst>
            </a:custGeom>
          </p:spPr>
          <p:style>
            <a:lnRef idx="0">
              <a:schemeClr val="dk2">
                <a:tint val="60000"/>
                <a:hueOff val="0"/>
                <a:satOff val="0"/>
                <a:lumOff val="0"/>
                <a:alphaOff val="0"/>
              </a:schemeClr>
            </a:lnRef>
            <a:fillRef idx="1">
              <a:schemeClr val="dk2">
                <a:tint val="60000"/>
                <a:hueOff val="0"/>
                <a:satOff val="0"/>
                <a:lumOff val="0"/>
                <a:alphaOff val="0"/>
              </a:schemeClr>
            </a:fillRef>
            <a:effectRef idx="0">
              <a:schemeClr val="dk2">
                <a:tint val="60000"/>
                <a:hueOff val="0"/>
                <a:satOff val="0"/>
                <a:lumOff val="0"/>
                <a:alphaOff val="0"/>
              </a:schemeClr>
            </a:effectRef>
            <a:fontRef idx="minor">
              <a:schemeClr val="lt1"/>
            </a:fontRef>
          </p:style>
          <p:txBody>
            <a:bodyPr spcFirstLastPara="0" vert="horz" wrap="square" lIns="49951" tIns="1" rIns="49950" bIns="62437" numCol="1" spcCol="1270" anchor="ctr" anchorCtr="0">
              <a:noAutofit/>
            </a:bodyPr>
            <a:lstStyle/>
            <a:p>
              <a:pPr lvl="0" algn="ctr" defTabSz="533400">
                <a:lnSpc>
                  <a:spcPct val="90000"/>
                </a:lnSpc>
                <a:spcBef>
                  <a:spcPct val="0"/>
                </a:spcBef>
                <a:spcAft>
                  <a:spcPct val="35000"/>
                </a:spcAft>
              </a:pPr>
              <a:endParaRPr lang="en-US" sz="1200" b="1" kern="1200" dirty="0">
                <a:latin typeface="Helvetica" pitchFamily="34" charset="0"/>
              </a:endParaRPr>
            </a:p>
          </p:txBody>
        </p:sp>
        <p:sp>
          <p:nvSpPr>
            <p:cNvPr id="14" name="Freeform 13"/>
            <p:cNvSpPr/>
            <p:nvPr/>
          </p:nvSpPr>
          <p:spPr>
            <a:xfrm>
              <a:off x="3614009" y="5032688"/>
              <a:ext cx="1944000" cy="555001"/>
            </a:xfrm>
            <a:custGeom>
              <a:avLst/>
              <a:gdLst>
                <a:gd name="connsiteX0" fmla="*/ 0 w 1461955"/>
                <a:gd name="connsiteY0" fmla="*/ 55500 h 555001"/>
                <a:gd name="connsiteX1" fmla="*/ 55500 w 1461955"/>
                <a:gd name="connsiteY1" fmla="*/ 0 h 555001"/>
                <a:gd name="connsiteX2" fmla="*/ 1406455 w 1461955"/>
                <a:gd name="connsiteY2" fmla="*/ 0 h 555001"/>
                <a:gd name="connsiteX3" fmla="*/ 1461955 w 1461955"/>
                <a:gd name="connsiteY3" fmla="*/ 55500 h 555001"/>
                <a:gd name="connsiteX4" fmla="*/ 1461955 w 1461955"/>
                <a:gd name="connsiteY4" fmla="*/ 499501 h 555001"/>
                <a:gd name="connsiteX5" fmla="*/ 1406455 w 1461955"/>
                <a:gd name="connsiteY5" fmla="*/ 555001 h 555001"/>
                <a:gd name="connsiteX6" fmla="*/ 55500 w 1461955"/>
                <a:gd name="connsiteY6" fmla="*/ 555001 h 555001"/>
                <a:gd name="connsiteX7" fmla="*/ 0 w 1461955"/>
                <a:gd name="connsiteY7" fmla="*/ 499501 h 555001"/>
                <a:gd name="connsiteX8" fmla="*/ 0 w 1461955"/>
                <a:gd name="connsiteY8" fmla="*/ 55500 h 555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461955" h="555001">
                  <a:moveTo>
                    <a:pt x="0" y="55500"/>
                  </a:moveTo>
                  <a:cubicBezTo>
                    <a:pt x="0" y="24848"/>
                    <a:pt x="24848" y="0"/>
                    <a:pt x="55500" y="0"/>
                  </a:cubicBezTo>
                  <a:lnTo>
                    <a:pt x="1406455" y="0"/>
                  </a:lnTo>
                  <a:cubicBezTo>
                    <a:pt x="1437107" y="0"/>
                    <a:pt x="1461955" y="24848"/>
                    <a:pt x="1461955" y="55500"/>
                  </a:cubicBezTo>
                  <a:lnTo>
                    <a:pt x="1461955" y="499501"/>
                  </a:lnTo>
                  <a:cubicBezTo>
                    <a:pt x="1461955" y="530153"/>
                    <a:pt x="1437107" y="555001"/>
                    <a:pt x="1406455" y="555001"/>
                  </a:cubicBezTo>
                  <a:lnTo>
                    <a:pt x="55500" y="555001"/>
                  </a:lnTo>
                  <a:cubicBezTo>
                    <a:pt x="24848" y="555001"/>
                    <a:pt x="0" y="530153"/>
                    <a:pt x="0" y="499501"/>
                  </a:cubicBezTo>
                  <a:lnTo>
                    <a:pt x="0" y="55500"/>
                  </a:lnTo>
                  <a:close/>
                </a:path>
              </a:pathLst>
            </a:custGeom>
          </p:spPr>
          <p:style>
            <a:lnRef idx="2">
              <a:schemeClr val="lt2">
                <a:hueOff val="0"/>
                <a:satOff val="0"/>
                <a:lumOff val="0"/>
                <a:alphaOff val="0"/>
              </a:schemeClr>
            </a:lnRef>
            <a:fillRef idx="1">
              <a:schemeClr val="dk2">
                <a:hueOff val="0"/>
                <a:satOff val="0"/>
                <a:lumOff val="0"/>
                <a:alphaOff val="0"/>
              </a:schemeClr>
            </a:fillRef>
            <a:effectRef idx="0">
              <a:schemeClr val="dk2">
                <a:hueOff val="0"/>
                <a:satOff val="0"/>
                <a:lumOff val="0"/>
                <a:alphaOff val="0"/>
              </a:schemeClr>
            </a:effectRef>
            <a:fontRef idx="minor">
              <a:schemeClr val="lt1"/>
            </a:fontRef>
          </p:style>
          <p:txBody>
            <a:bodyPr spcFirstLastPara="0" vert="horz" wrap="square" lIns="61975" tIns="61975" rIns="61975" bIns="61975" numCol="1" spcCol="1270" anchor="ctr" anchorCtr="0">
              <a:noAutofit/>
            </a:bodyPr>
            <a:lstStyle/>
            <a:p>
              <a:pPr lvl="0" algn="ctr" defTabSz="533400">
                <a:lnSpc>
                  <a:spcPct val="90000"/>
                </a:lnSpc>
                <a:spcBef>
                  <a:spcPct val="0"/>
                </a:spcBef>
                <a:spcAft>
                  <a:spcPct val="35000"/>
                </a:spcAft>
              </a:pPr>
              <a:r>
                <a:rPr lang="en-US" sz="1200" b="1" kern="1200" dirty="0">
                  <a:latin typeface="Helvetica" pitchFamily="34" charset="0"/>
                </a:rPr>
                <a:t>Market test the product or service</a:t>
              </a:r>
            </a:p>
          </p:txBody>
        </p:sp>
        <p:sp>
          <p:nvSpPr>
            <p:cNvPr id="15" name="Freeform 14"/>
            <p:cNvSpPr/>
            <p:nvPr/>
          </p:nvSpPr>
          <p:spPr>
            <a:xfrm>
              <a:off x="4470058" y="5622376"/>
              <a:ext cx="249751" cy="208126"/>
            </a:xfrm>
            <a:custGeom>
              <a:avLst/>
              <a:gdLst>
                <a:gd name="connsiteX0" fmla="*/ 0 w 208125"/>
                <a:gd name="connsiteY0" fmla="*/ 49950 h 249750"/>
                <a:gd name="connsiteX1" fmla="*/ 104063 w 208125"/>
                <a:gd name="connsiteY1" fmla="*/ 49950 h 249750"/>
                <a:gd name="connsiteX2" fmla="*/ 104063 w 208125"/>
                <a:gd name="connsiteY2" fmla="*/ 0 h 249750"/>
                <a:gd name="connsiteX3" fmla="*/ 208125 w 208125"/>
                <a:gd name="connsiteY3" fmla="*/ 124875 h 249750"/>
                <a:gd name="connsiteX4" fmla="*/ 104063 w 208125"/>
                <a:gd name="connsiteY4" fmla="*/ 249750 h 249750"/>
                <a:gd name="connsiteX5" fmla="*/ 104063 w 208125"/>
                <a:gd name="connsiteY5" fmla="*/ 199800 h 249750"/>
                <a:gd name="connsiteX6" fmla="*/ 0 w 208125"/>
                <a:gd name="connsiteY6" fmla="*/ 199800 h 249750"/>
                <a:gd name="connsiteX7" fmla="*/ 0 w 208125"/>
                <a:gd name="connsiteY7" fmla="*/ 49950 h 2497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08125" h="249750">
                  <a:moveTo>
                    <a:pt x="166500" y="1"/>
                  </a:moveTo>
                  <a:lnTo>
                    <a:pt x="166500" y="124876"/>
                  </a:lnTo>
                  <a:lnTo>
                    <a:pt x="208125" y="124876"/>
                  </a:lnTo>
                  <a:lnTo>
                    <a:pt x="104063" y="249749"/>
                  </a:lnTo>
                  <a:lnTo>
                    <a:pt x="0" y="124876"/>
                  </a:lnTo>
                  <a:lnTo>
                    <a:pt x="41625" y="124876"/>
                  </a:lnTo>
                  <a:lnTo>
                    <a:pt x="41625" y="1"/>
                  </a:lnTo>
                  <a:lnTo>
                    <a:pt x="166500" y="1"/>
                  </a:lnTo>
                  <a:close/>
                </a:path>
              </a:pathLst>
            </a:custGeom>
          </p:spPr>
          <p:style>
            <a:lnRef idx="0">
              <a:schemeClr val="dk2">
                <a:tint val="60000"/>
                <a:hueOff val="0"/>
                <a:satOff val="0"/>
                <a:lumOff val="0"/>
                <a:alphaOff val="0"/>
              </a:schemeClr>
            </a:lnRef>
            <a:fillRef idx="1">
              <a:schemeClr val="dk2">
                <a:tint val="60000"/>
                <a:hueOff val="0"/>
                <a:satOff val="0"/>
                <a:lumOff val="0"/>
                <a:alphaOff val="0"/>
              </a:schemeClr>
            </a:fillRef>
            <a:effectRef idx="0">
              <a:schemeClr val="dk2">
                <a:tint val="60000"/>
                <a:hueOff val="0"/>
                <a:satOff val="0"/>
                <a:lumOff val="0"/>
                <a:alphaOff val="0"/>
              </a:schemeClr>
            </a:effectRef>
            <a:fontRef idx="minor">
              <a:schemeClr val="lt1"/>
            </a:fontRef>
          </p:style>
          <p:txBody>
            <a:bodyPr spcFirstLastPara="0" vert="horz" wrap="square" lIns="49951" tIns="1" rIns="49950" bIns="62437" numCol="1" spcCol="1270" anchor="ctr" anchorCtr="0">
              <a:noAutofit/>
            </a:bodyPr>
            <a:lstStyle/>
            <a:p>
              <a:pPr lvl="0" algn="ctr" defTabSz="533400">
                <a:lnSpc>
                  <a:spcPct val="90000"/>
                </a:lnSpc>
                <a:spcBef>
                  <a:spcPct val="0"/>
                </a:spcBef>
                <a:spcAft>
                  <a:spcPct val="35000"/>
                </a:spcAft>
              </a:pPr>
              <a:endParaRPr lang="en-US" sz="1200" b="1" kern="1200" dirty="0">
                <a:latin typeface="Helvetica" pitchFamily="34" charset="0"/>
              </a:endParaRPr>
            </a:p>
          </p:txBody>
        </p:sp>
        <p:sp>
          <p:nvSpPr>
            <p:cNvPr id="16" name="Freeform 15"/>
            <p:cNvSpPr/>
            <p:nvPr/>
          </p:nvSpPr>
          <p:spPr>
            <a:xfrm>
              <a:off x="3614009" y="5865189"/>
              <a:ext cx="1944000" cy="555001"/>
            </a:xfrm>
            <a:custGeom>
              <a:avLst/>
              <a:gdLst>
                <a:gd name="connsiteX0" fmla="*/ 0 w 1461955"/>
                <a:gd name="connsiteY0" fmla="*/ 55500 h 555001"/>
                <a:gd name="connsiteX1" fmla="*/ 55500 w 1461955"/>
                <a:gd name="connsiteY1" fmla="*/ 0 h 555001"/>
                <a:gd name="connsiteX2" fmla="*/ 1406455 w 1461955"/>
                <a:gd name="connsiteY2" fmla="*/ 0 h 555001"/>
                <a:gd name="connsiteX3" fmla="*/ 1461955 w 1461955"/>
                <a:gd name="connsiteY3" fmla="*/ 55500 h 555001"/>
                <a:gd name="connsiteX4" fmla="*/ 1461955 w 1461955"/>
                <a:gd name="connsiteY4" fmla="*/ 499501 h 555001"/>
                <a:gd name="connsiteX5" fmla="*/ 1406455 w 1461955"/>
                <a:gd name="connsiteY5" fmla="*/ 555001 h 555001"/>
                <a:gd name="connsiteX6" fmla="*/ 55500 w 1461955"/>
                <a:gd name="connsiteY6" fmla="*/ 555001 h 555001"/>
                <a:gd name="connsiteX7" fmla="*/ 0 w 1461955"/>
                <a:gd name="connsiteY7" fmla="*/ 499501 h 555001"/>
                <a:gd name="connsiteX8" fmla="*/ 0 w 1461955"/>
                <a:gd name="connsiteY8" fmla="*/ 55500 h 555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461955" h="555001">
                  <a:moveTo>
                    <a:pt x="0" y="55500"/>
                  </a:moveTo>
                  <a:cubicBezTo>
                    <a:pt x="0" y="24848"/>
                    <a:pt x="24848" y="0"/>
                    <a:pt x="55500" y="0"/>
                  </a:cubicBezTo>
                  <a:lnTo>
                    <a:pt x="1406455" y="0"/>
                  </a:lnTo>
                  <a:cubicBezTo>
                    <a:pt x="1437107" y="0"/>
                    <a:pt x="1461955" y="24848"/>
                    <a:pt x="1461955" y="55500"/>
                  </a:cubicBezTo>
                  <a:lnTo>
                    <a:pt x="1461955" y="499501"/>
                  </a:lnTo>
                  <a:cubicBezTo>
                    <a:pt x="1461955" y="530153"/>
                    <a:pt x="1437107" y="555001"/>
                    <a:pt x="1406455" y="555001"/>
                  </a:cubicBezTo>
                  <a:lnTo>
                    <a:pt x="55500" y="555001"/>
                  </a:lnTo>
                  <a:cubicBezTo>
                    <a:pt x="24848" y="555001"/>
                    <a:pt x="0" y="530153"/>
                    <a:pt x="0" y="499501"/>
                  </a:cubicBezTo>
                  <a:lnTo>
                    <a:pt x="0" y="55500"/>
                  </a:lnTo>
                  <a:close/>
                </a:path>
              </a:pathLst>
            </a:custGeom>
          </p:spPr>
          <p:style>
            <a:lnRef idx="2">
              <a:schemeClr val="lt2">
                <a:hueOff val="0"/>
                <a:satOff val="0"/>
                <a:lumOff val="0"/>
                <a:alphaOff val="0"/>
              </a:schemeClr>
            </a:lnRef>
            <a:fillRef idx="1">
              <a:schemeClr val="dk2">
                <a:hueOff val="0"/>
                <a:satOff val="0"/>
                <a:lumOff val="0"/>
                <a:alphaOff val="0"/>
              </a:schemeClr>
            </a:fillRef>
            <a:effectRef idx="0">
              <a:schemeClr val="dk2">
                <a:hueOff val="0"/>
                <a:satOff val="0"/>
                <a:lumOff val="0"/>
                <a:alphaOff val="0"/>
              </a:schemeClr>
            </a:effectRef>
            <a:fontRef idx="minor">
              <a:schemeClr val="lt1"/>
            </a:fontRef>
          </p:style>
          <p:txBody>
            <a:bodyPr spcFirstLastPara="0" vert="horz" wrap="square" lIns="61975" tIns="61975" rIns="61975" bIns="61975" numCol="1" spcCol="1270" anchor="ctr" anchorCtr="0">
              <a:noAutofit/>
            </a:bodyPr>
            <a:lstStyle/>
            <a:p>
              <a:pPr lvl="0" algn="ctr" defTabSz="533400">
                <a:lnSpc>
                  <a:spcPct val="90000"/>
                </a:lnSpc>
                <a:spcBef>
                  <a:spcPct val="0"/>
                </a:spcBef>
                <a:spcAft>
                  <a:spcPct val="35000"/>
                </a:spcAft>
              </a:pPr>
              <a:r>
                <a:rPr lang="en-US" sz="1200" b="1" kern="1200" dirty="0">
                  <a:latin typeface="Helvetica" pitchFamily="34" charset="0"/>
                </a:rPr>
                <a:t>Introduce to the market</a:t>
              </a: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circle(in)">
                                      <p:cBhvr>
                                        <p:cTn id="7" dur="20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68760" y="304800"/>
            <a:ext cx="4951040" cy="1143000"/>
          </a:xfrm>
        </p:spPr>
        <p:txBody>
          <a:bodyPr>
            <a:normAutofit/>
          </a:bodyPr>
          <a:lstStyle/>
          <a:p>
            <a:pPr algn="ctr"/>
            <a:r>
              <a:rPr lang="en-US" sz="3400" b="1" dirty="0" smtClean="0">
                <a:solidFill>
                  <a:srgbClr val="FF6600"/>
                </a:solidFill>
                <a:latin typeface="Helvetica" pitchFamily="34" charset="0"/>
              </a:rPr>
              <a:t>Marketing plan</a:t>
            </a:r>
            <a:endParaRPr lang="en-US" sz="3400" b="1" dirty="0">
              <a:solidFill>
                <a:srgbClr val="FF6600"/>
              </a:solidFill>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22</a:t>
            </a:fld>
            <a:endParaRPr lang="en-US" dirty="0">
              <a:latin typeface="Helvetica" pitchFamily="34" charset="0"/>
            </a:endParaRPr>
          </a:p>
        </p:txBody>
      </p:sp>
      <p:grpSp>
        <p:nvGrpSpPr>
          <p:cNvPr id="7" name="Group 6"/>
          <p:cNvGrpSpPr/>
          <p:nvPr/>
        </p:nvGrpSpPr>
        <p:grpSpPr>
          <a:xfrm>
            <a:off x="1524000" y="1678845"/>
            <a:ext cx="4006842" cy="4001958"/>
            <a:chOff x="1500826" y="1678845"/>
            <a:chExt cx="4006842" cy="4001958"/>
          </a:xfrm>
        </p:grpSpPr>
        <p:sp>
          <p:nvSpPr>
            <p:cNvPr id="8" name="Freeform 7"/>
            <p:cNvSpPr/>
            <p:nvPr/>
          </p:nvSpPr>
          <p:spPr>
            <a:xfrm>
              <a:off x="1500826" y="1678845"/>
              <a:ext cx="4006842" cy="400195"/>
            </a:xfrm>
            <a:custGeom>
              <a:avLst/>
              <a:gdLst>
                <a:gd name="connsiteX0" fmla="*/ 0 w 4006842"/>
                <a:gd name="connsiteY0" fmla="*/ 66701 h 400195"/>
                <a:gd name="connsiteX1" fmla="*/ 66701 w 4006842"/>
                <a:gd name="connsiteY1" fmla="*/ 0 h 400195"/>
                <a:gd name="connsiteX2" fmla="*/ 3940141 w 4006842"/>
                <a:gd name="connsiteY2" fmla="*/ 0 h 400195"/>
                <a:gd name="connsiteX3" fmla="*/ 4006842 w 4006842"/>
                <a:gd name="connsiteY3" fmla="*/ 66701 h 400195"/>
                <a:gd name="connsiteX4" fmla="*/ 4006842 w 4006842"/>
                <a:gd name="connsiteY4" fmla="*/ 333494 h 400195"/>
                <a:gd name="connsiteX5" fmla="*/ 3940141 w 4006842"/>
                <a:gd name="connsiteY5" fmla="*/ 400195 h 400195"/>
                <a:gd name="connsiteX6" fmla="*/ 66701 w 4006842"/>
                <a:gd name="connsiteY6" fmla="*/ 400195 h 400195"/>
                <a:gd name="connsiteX7" fmla="*/ 0 w 4006842"/>
                <a:gd name="connsiteY7" fmla="*/ 333494 h 400195"/>
                <a:gd name="connsiteX8" fmla="*/ 0 w 4006842"/>
                <a:gd name="connsiteY8" fmla="*/ 66701 h 4001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006842" h="400195">
                  <a:moveTo>
                    <a:pt x="0" y="66701"/>
                  </a:moveTo>
                  <a:cubicBezTo>
                    <a:pt x="0" y="29863"/>
                    <a:pt x="29863" y="0"/>
                    <a:pt x="66701" y="0"/>
                  </a:cubicBezTo>
                  <a:lnTo>
                    <a:pt x="3940141" y="0"/>
                  </a:lnTo>
                  <a:cubicBezTo>
                    <a:pt x="3976979" y="0"/>
                    <a:pt x="4006842" y="29863"/>
                    <a:pt x="4006842" y="66701"/>
                  </a:cubicBezTo>
                  <a:lnTo>
                    <a:pt x="4006842" y="333494"/>
                  </a:lnTo>
                  <a:cubicBezTo>
                    <a:pt x="4006842" y="370332"/>
                    <a:pt x="3976979" y="400195"/>
                    <a:pt x="3940141" y="400195"/>
                  </a:cubicBezTo>
                  <a:lnTo>
                    <a:pt x="66701" y="400195"/>
                  </a:lnTo>
                  <a:cubicBezTo>
                    <a:pt x="29863" y="400195"/>
                    <a:pt x="0" y="370332"/>
                    <a:pt x="0" y="333494"/>
                  </a:cubicBezTo>
                  <a:lnTo>
                    <a:pt x="0" y="66701"/>
                  </a:lnTo>
                  <a:close/>
                </a:path>
              </a:pathLst>
            </a:custGeom>
            <a:solidFill>
              <a:srgbClr val="6D207C"/>
            </a:solidFill>
            <a:ln w="38100">
              <a:solidFill>
                <a:schemeClr val="bg1">
                  <a:lumMod val="85000"/>
                </a:schemeClr>
              </a:solidFill>
            </a:ln>
            <a:effectLst>
              <a:outerShdw blurRad="50800" dist="38100" dir="2700000" algn="tl" rotWithShape="0">
                <a:prstClr val="black">
                  <a:alpha val="40000"/>
                </a:prstClr>
              </a:outerShdw>
            </a:effectLst>
          </p:spPr>
          <p:style>
            <a:lnRef idx="2">
              <a:scrgbClr r="0" g="0" b="0"/>
            </a:lnRef>
            <a:fillRef idx="1">
              <a:scrgbClr r="0" g="0" b="0"/>
            </a:fillRef>
            <a:effectRef idx="0">
              <a:scrgbClr r="0" g="0" b="0"/>
            </a:effectRef>
            <a:fontRef idx="minor">
              <a:schemeClr val="lt1"/>
            </a:fontRef>
          </p:style>
          <p:txBody>
            <a:bodyPr spcFirstLastPara="0" vert="horz" wrap="square" lIns="65256" tIns="65256" rIns="65256" bIns="65256" numCol="1" spcCol="1270" anchor="ctr" anchorCtr="0">
              <a:noAutofit/>
            </a:bodyPr>
            <a:lstStyle/>
            <a:p>
              <a:pPr lvl="0" algn="ctr" defTabSz="533400">
                <a:lnSpc>
                  <a:spcPct val="90000"/>
                </a:lnSpc>
                <a:spcBef>
                  <a:spcPct val="0"/>
                </a:spcBef>
                <a:spcAft>
                  <a:spcPct val="35000"/>
                </a:spcAft>
              </a:pPr>
              <a:r>
                <a:rPr lang="en-US" sz="1200" kern="1200" dirty="0">
                  <a:latin typeface="Aharoni" panose="02010803020104030203" pitchFamily="2" charset="-79"/>
                  <a:cs typeface="Aharoni" panose="02010803020104030203" pitchFamily="2" charset="-79"/>
                </a:rPr>
                <a:t>Executive summary</a:t>
              </a:r>
            </a:p>
          </p:txBody>
        </p:sp>
        <p:sp>
          <p:nvSpPr>
            <p:cNvPr id="9" name="Freeform 8"/>
            <p:cNvSpPr/>
            <p:nvPr/>
          </p:nvSpPr>
          <p:spPr>
            <a:xfrm>
              <a:off x="3414202" y="2104052"/>
              <a:ext cx="180089" cy="150074"/>
            </a:xfrm>
            <a:custGeom>
              <a:avLst/>
              <a:gdLst>
                <a:gd name="connsiteX0" fmla="*/ 0 w 150073"/>
                <a:gd name="connsiteY0" fmla="*/ 36018 h 180088"/>
                <a:gd name="connsiteX1" fmla="*/ 75037 w 150073"/>
                <a:gd name="connsiteY1" fmla="*/ 36018 h 180088"/>
                <a:gd name="connsiteX2" fmla="*/ 75037 w 150073"/>
                <a:gd name="connsiteY2" fmla="*/ 0 h 180088"/>
                <a:gd name="connsiteX3" fmla="*/ 150073 w 150073"/>
                <a:gd name="connsiteY3" fmla="*/ 90044 h 180088"/>
                <a:gd name="connsiteX4" fmla="*/ 75037 w 150073"/>
                <a:gd name="connsiteY4" fmla="*/ 180088 h 180088"/>
                <a:gd name="connsiteX5" fmla="*/ 75037 w 150073"/>
                <a:gd name="connsiteY5" fmla="*/ 144070 h 180088"/>
                <a:gd name="connsiteX6" fmla="*/ 0 w 150073"/>
                <a:gd name="connsiteY6" fmla="*/ 144070 h 180088"/>
                <a:gd name="connsiteX7" fmla="*/ 0 w 150073"/>
                <a:gd name="connsiteY7" fmla="*/ 36018 h 1800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50073" h="180088">
                  <a:moveTo>
                    <a:pt x="120058" y="1"/>
                  </a:moveTo>
                  <a:lnTo>
                    <a:pt x="120058" y="90045"/>
                  </a:lnTo>
                  <a:lnTo>
                    <a:pt x="150073" y="90045"/>
                  </a:lnTo>
                  <a:lnTo>
                    <a:pt x="75037" y="180087"/>
                  </a:lnTo>
                  <a:lnTo>
                    <a:pt x="0" y="90045"/>
                  </a:lnTo>
                  <a:lnTo>
                    <a:pt x="30015" y="90045"/>
                  </a:lnTo>
                  <a:lnTo>
                    <a:pt x="30015" y="1"/>
                  </a:lnTo>
                  <a:lnTo>
                    <a:pt x="120058" y="1"/>
                  </a:lnTo>
                  <a:close/>
                </a:path>
              </a:pathLst>
            </a:custGeom>
          </p:spPr>
          <p:style>
            <a:lnRef idx="0">
              <a:schemeClr val="dk2">
                <a:tint val="60000"/>
                <a:hueOff val="0"/>
                <a:satOff val="0"/>
                <a:lumOff val="0"/>
                <a:alphaOff val="0"/>
              </a:schemeClr>
            </a:lnRef>
            <a:fillRef idx="1">
              <a:schemeClr val="dk2">
                <a:tint val="60000"/>
                <a:hueOff val="0"/>
                <a:satOff val="0"/>
                <a:lumOff val="0"/>
                <a:alphaOff val="0"/>
              </a:schemeClr>
            </a:fillRef>
            <a:effectRef idx="0">
              <a:schemeClr val="dk2">
                <a:tint val="60000"/>
                <a:hueOff val="0"/>
                <a:satOff val="0"/>
                <a:lumOff val="0"/>
                <a:alphaOff val="0"/>
              </a:schemeClr>
            </a:effectRef>
            <a:fontRef idx="minor">
              <a:schemeClr val="lt1"/>
            </a:fontRef>
          </p:style>
          <p:txBody>
            <a:bodyPr spcFirstLastPara="0" vert="horz" wrap="square" lIns="36019" tIns="0" rIns="36018" bIns="45023" numCol="1" spcCol="1270" anchor="ctr" anchorCtr="0">
              <a:noAutofit/>
            </a:bodyPr>
            <a:lstStyle/>
            <a:p>
              <a:pPr lvl="0" algn="ctr" defTabSz="533400">
                <a:lnSpc>
                  <a:spcPct val="90000"/>
                </a:lnSpc>
                <a:spcBef>
                  <a:spcPct val="0"/>
                </a:spcBef>
                <a:spcAft>
                  <a:spcPct val="35000"/>
                </a:spcAft>
              </a:pPr>
              <a:endParaRPr lang="en-US" sz="1200" kern="1200" dirty="0">
                <a:latin typeface="Aharoni" panose="02010803020104030203" pitchFamily="2" charset="-79"/>
                <a:cs typeface="Aharoni" panose="02010803020104030203" pitchFamily="2" charset="-79"/>
              </a:endParaRPr>
            </a:p>
          </p:txBody>
        </p:sp>
        <p:sp>
          <p:nvSpPr>
            <p:cNvPr id="10" name="Freeform 9"/>
            <p:cNvSpPr/>
            <p:nvPr/>
          </p:nvSpPr>
          <p:spPr>
            <a:xfrm>
              <a:off x="1500826" y="2279139"/>
              <a:ext cx="4006842" cy="400195"/>
            </a:xfrm>
            <a:custGeom>
              <a:avLst/>
              <a:gdLst>
                <a:gd name="connsiteX0" fmla="*/ 0 w 4006842"/>
                <a:gd name="connsiteY0" fmla="*/ 66701 h 400195"/>
                <a:gd name="connsiteX1" fmla="*/ 66701 w 4006842"/>
                <a:gd name="connsiteY1" fmla="*/ 0 h 400195"/>
                <a:gd name="connsiteX2" fmla="*/ 3940141 w 4006842"/>
                <a:gd name="connsiteY2" fmla="*/ 0 h 400195"/>
                <a:gd name="connsiteX3" fmla="*/ 4006842 w 4006842"/>
                <a:gd name="connsiteY3" fmla="*/ 66701 h 400195"/>
                <a:gd name="connsiteX4" fmla="*/ 4006842 w 4006842"/>
                <a:gd name="connsiteY4" fmla="*/ 333494 h 400195"/>
                <a:gd name="connsiteX5" fmla="*/ 3940141 w 4006842"/>
                <a:gd name="connsiteY5" fmla="*/ 400195 h 400195"/>
                <a:gd name="connsiteX6" fmla="*/ 66701 w 4006842"/>
                <a:gd name="connsiteY6" fmla="*/ 400195 h 400195"/>
                <a:gd name="connsiteX7" fmla="*/ 0 w 4006842"/>
                <a:gd name="connsiteY7" fmla="*/ 333494 h 400195"/>
                <a:gd name="connsiteX8" fmla="*/ 0 w 4006842"/>
                <a:gd name="connsiteY8" fmla="*/ 66701 h 4001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006842" h="400195">
                  <a:moveTo>
                    <a:pt x="0" y="66701"/>
                  </a:moveTo>
                  <a:cubicBezTo>
                    <a:pt x="0" y="29863"/>
                    <a:pt x="29863" y="0"/>
                    <a:pt x="66701" y="0"/>
                  </a:cubicBezTo>
                  <a:lnTo>
                    <a:pt x="3940141" y="0"/>
                  </a:lnTo>
                  <a:cubicBezTo>
                    <a:pt x="3976979" y="0"/>
                    <a:pt x="4006842" y="29863"/>
                    <a:pt x="4006842" y="66701"/>
                  </a:cubicBezTo>
                  <a:lnTo>
                    <a:pt x="4006842" y="333494"/>
                  </a:lnTo>
                  <a:cubicBezTo>
                    <a:pt x="4006842" y="370332"/>
                    <a:pt x="3976979" y="400195"/>
                    <a:pt x="3940141" y="400195"/>
                  </a:cubicBezTo>
                  <a:lnTo>
                    <a:pt x="66701" y="400195"/>
                  </a:lnTo>
                  <a:cubicBezTo>
                    <a:pt x="29863" y="400195"/>
                    <a:pt x="0" y="370332"/>
                    <a:pt x="0" y="333494"/>
                  </a:cubicBezTo>
                  <a:lnTo>
                    <a:pt x="0" y="66701"/>
                  </a:lnTo>
                  <a:close/>
                </a:path>
              </a:pathLst>
            </a:custGeom>
            <a:solidFill>
              <a:srgbClr val="6D207C"/>
            </a:solidFill>
            <a:ln w="38100">
              <a:solidFill>
                <a:schemeClr val="bg1">
                  <a:lumMod val="85000"/>
                </a:schemeClr>
              </a:solidFill>
            </a:ln>
            <a:effectLst>
              <a:outerShdw blurRad="50800" dist="38100" dir="2700000" algn="tl" rotWithShape="0">
                <a:prstClr val="black">
                  <a:alpha val="40000"/>
                </a:prstClr>
              </a:outerShdw>
            </a:effectLst>
          </p:spPr>
          <p:style>
            <a:lnRef idx="2">
              <a:scrgbClr r="0" g="0" b="0"/>
            </a:lnRef>
            <a:fillRef idx="1">
              <a:scrgbClr r="0" g="0" b="0"/>
            </a:fillRef>
            <a:effectRef idx="0">
              <a:scrgbClr r="0" g="0" b="0"/>
            </a:effectRef>
            <a:fontRef idx="minor">
              <a:schemeClr val="lt1"/>
            </a:fontRef>
          </p:style>
          <p:txBody>
            <a:bodyPr spcFirstLastPara="0" vert="horz" wrap="square" lIns="65256" tIns="65256" rIns="65256" bIns="65256" numCol="1" spcCol="1270" anchor="ctr" anchorCtr="0">
              <a:noAutofit/>
            </a:bodyPr>
            <a:lstStyle/>
            <a:p>
              <a:pPr lvl="0" algn="ctr" defTabSz="533400">
                <a:lnSpc>
                  <a:spcPct val="90000"/>
                </a:lnSpc>
                <a:spcBef>
                  <a:spcPct val="0"/>
                </a:spcBef>
                <a:spcAft>
                  <a:spcPct val="35000"/>
                </a:spcAft>
              </a:pPr>
              <a:r>
                <a:rPr lang="en-US" sz="1200" kern="1200" dirty="0">
                  <a:latin typeface="Aharoni" panose="02010803020104030203" pitchFamily="2" charset="-79"/>
                  <a:cs typeface="Aharoni" panose="02010803020104030203" pitchFamily="2" charset="-79"/>
                </a:rPr>
                <a:t>Vision and mission</a:t>
              </a:r>
            </a:p>
          </p:txBody>
        </p:sp>
        <p:sp>
          <p:nvSpPr>
            <p:cNvPr id="11" name="Freeform 10"/>
            <p:cNvSpPr/>
            <p:nvPr/>
          </p:nvSpPr>
          <p:spPr>
            <a:xfrm>
              <a:off x="3414202" y="2704346"/>
              <a:ext cx="180089" cy="150074"/>
            </a:xfrm>
            <a:custGeom>
              <a:avLst/>
              <a:gdLst>
                <a:gd name="connsiteX0" fmla="*/ 0 w 150073"/>
                <a:gd name="connsiteY0" fmla="*/ 36018 h 180088"/>
                <a:gd name="connsiteX1" fmla="*/ 75037 w 150073"/>
                <a:gd name="connsiteY1" fmla="*/ 36018 h 180088"/>
                <a:gd name="connsiteX2" fmla="*/ 75037 w 150073"/>
                <a:gd name="connsiteY2" fmla="*/ 0 h 180088"/>
                <a:gd name="connsiteX3" fmla="*/ 150073 w 150073"/>
                <a:gd name="connsiteY3" fmla="*/ 90044 h 180088"/>
                <a:gd name="connsiteX4" fmla="*/ 75037 w 150073"/>
                <a:gd name="connsiteY4" fmla="*/ 180088 h 180088"/>
                <a:gd name="connsiteX5" fmla="*/ 75037 w 150073"/>
                <a:gd name="connsiteY5" fmla="*/ 144070 h 180088"/>
                <a:gd name="connsiteX6" fmla="*/ 0 w 150073"/>
                <a:gd name="connsiteY6" fmla="*/ 144070 h 180088"/>
                <a:gd name="connsiteX7" fmla="*/ 0 w 150073"/>
                <a:gd name="connsiteY7" fmla="*/ 36018 h 1800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50073" h="180088">
                  <a:moveTo>
                    <a:pt x="120058" y="1"/>
                  </a:moveTo>
                  <a:lnTo>
                    <a:pt x="120058" y="90045"/>
                  </a:lnTo>
                  <a:lnTo>
                    <a:pt x="150073" y="90045"/>
                  </a:lnTo>
                  <a:lnTo>
                    <a:pt x="75037" y="180087"/>
                  </a:lnTo>
                  <a:lnTo>
                    <a:pt x="0" y="90045"/>
                  </a:lnTo>
                  <a:lnTo>
                    <a:pt x="30015" y="90045"/>
                  </a:lnTo>
                  <a:lnTo>
                    <a:pt x="30015" y="1"/>
                  </a:lnTo>
                  <a:lnTo>
                    <a:pt x="120058" y="1"/>
                  </a:lnTo>
                  <a:close/>
                </a:path>
              </a:pathLst>
            </a:custGeom>
          </p:spPr>
          <p:style>
            <a:lnRef idx="0">
              <a:schemeClr val="dk2">
                <a:tint val="60000"/>
                <a:hueOff val="0"/>
                <a:satOff val="0"/>
                <a:lumOff val="0"/>
                <a:alphaOff val="0"/>
              </a:schemeClr>
            </a:lnRef>
            <a:fillRef idx="1">
              <a:schemeClr val="dk2">
                <a:tint val="60000"/>
                <a:hueOff val="0"/>
                <a:satOff val="0"/>
                <a:lumOff val="0"/>
                <a:alphaOff val="0"/>
              </a:schemeClr>
            </a:fillRef>
            <a:effectRef idx="0">
              <a:schemeClr val="dk2">
                <a:tint val="60000"/>
                <a:hueOff val="0"/>
                <a:satOff val="0"/>
                <a:lumOff val="0"/>
                <a:alphaOff val="0"/>
              </a:schemeClr>
            </a:effectRef>
            <a:fontRef idx="minor">
              <a:schemeClr val="lt1"/>
            </a:fontRef>
          </p:style>
          <p:txBody>
            <a:bodyPr spcFirstLastPara="0" vert="horz" wrap="square" lIns="36019" tIns="0" rIns="36018" bIns="45023" numCol="1" spcCol="1270" anchor="ctr" anchorCtr="0">
              <a:noAutofit/>
            </a:bodyPr>
            <a:lstStyle/>
            <a:p>
              <a:pPr lvl="0" algn="ctr" defTabSz="533400">
                <a:lnSpc>
                  <a:spcPct val="90000"/>
                </a:lnSpc>
                <a:spcBef>
                  <a:spcPct val="0"/>
                </a:spcBef>
                <a:spcAft>
                  <a:spcPct val="35000"/>
                </a:spcAft>
              </a:pPr>
              <a:endParaRPr lang="en-US" sz="1200" kern="1200" dirty="0">
                <a:latin typeface="Aharoni" panose="02010803020104030203" pitchFamily="2" charset="-79"/>
                <a:cs typeface="Aharoni" panose="02010803020104030203" pitchFamily="2" charset="-79"/>
              </a:endParaRPr>
            </a:p>
          </p:txBody>
        </p:sp>
        <p:sp>
          <p:nvSpPr>
            <p:cNvPr id="12" name="Freeform 11"/>
            <p:cNvSpPr/>
            <p:nvPr/>
          </p:nvSpPr>
          <p:spPr>
            <a:xfrm>
              <a:off x="1500826" y="2879433"/>
              <a:ext cx="4006842" cy="400195"/>
            </a:xfrm>
            <a:custGeom>
              <a:avLst/>
              <a:gdLst>
                <a:gd name="connsiteX0" fmla="*/ 0 w 4006842"/>
                <a:gd name="connsiteY0" fmla="*/ 66701 h 400195"/>
                <a:gd name="connsiteX1" fmla="*/ 66701 w 4006842"/>
                <a:gd name="connsiteY1" fmla="*/ 0 h 400195"/>
                <a:gd name="connsiteX2" fmla="*/ 3940141 w 4006842"/>
                <a:gd name="connsiteY2" fmla="*/ 0 h 400195"/>
                <a:gd name="connsiteX3" fmla="*/ 4006842 w 4006842"/>
                <a:gd name="connsiteY3" fmla="*/ 66701 h 400195"/>
                <a:gd name="connsiteX4" fmla="*/ 4006842 w 4006842"/>
                <a:gd name="connsiteY4" fmla="*/ 333494 h 400195"/>
                <a:gd name="connsiteX5" fmla="*/ 3940141 w 4006842"/>
                <a:gd name="connsiteY5" fmla="*/ 400195 h 400195"/>
                <a:gd name="connsiteX6" fmla="*/ 66701 w 4006842"/>
                <a:gd name="connsiteY6" fmla="*/ 400195 h 400195"/>
                <a:gd name="connsiteX7" fmla="*/ 0 w 4006842"/>
                <a:gd name="connsiteY7" fmla="*/ 333494 h 400195"/>
                <a:gd name="connsiteX8" fmla="*/ 0 w 4006842"/>
                <a:gd name="connsiteY8" fmla="*/ 66701 h 4001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006842" h="400195">
                  <a:moveTo>
                    <a:pt x="0" y="66701"/>
                  </a:moveTo>
                  <a:cubicBezTo>
                    <a:pt x="0" y="29863"/>
                    <a:pt x="29863" y="0"/>
                    <a:pt x="66701" y="0"/>
                  </a:cubicBezTo>
                  <a:lnTo>
                    <a:pt x="3940141" y="0"/>
                  </a:lnTo>
                  <a:cubicBezTo>
                    <a:pt x="3976979" y="0"/>
                    <a:pt x="4006842" y="29863"/>
                    <a:pt x="4006842" y="66701"/>
                  </a:cubicBezTo>
                  <a:lnTo>
                    <a:pt x="4006842" y="333494"/>
                  </a:lnTo>
                  <a:cubicBezTo>
                    <a:pt x="4006842" y="370332"/>
                    <a:pt x="3976979" y="400195"/>
                    <a:pt x="3940141" y="400195"/>
                  </a:cubicBezTo>
                  <a:lnTo>
                    <a:pt x="66701" y="400195"/>
                  </a:lnTo>
                  <a:cubicBezTo>
                    <a:pt x="29863" y="400195"/>
                    <a:pt x="0" y="370332"/>
                    <a:pt x="0" y="333494"/>
                  </a:cubicBezTo>
                  <a:lnTo>
                    <a:pt x="0" y="66701"/>
                  </a:lnTo>
                  <a:close/>
                </a:path>
              </a:pathLst>
            </a:custGeom>
            <a:solidFill>
              <a:srgbClr val="6D207C"/>
            </a:solidFill>
            <a:ln w="38100">
              <a:solidFill>
                <a:schemeClr val="bg1">
                  <a:lumMod val="85000"/>
                </a:schemeClr>
              </a:solidFill>
            </a:ln>
            <a:effectLst>
              <a:outerShdw blurRad="50800" dist="38100" dir="2700000" algn="tl" rotWithShape="0">
                <a:prstClr val="black">
                  <a:alpha val="40000"/>
                </a:prstClr>
              </a:outerShdw>
            </a:effectLst>
          </p:spPr>
          <p:style>
            <a:lnRef idx="2">
              <a:scrgbClr r="0" g="0" b="0"/>
            </a:lnRef>
            <a:fillRef idx="1">
              <a:scrgbClr r="0" g="0" b="0"/>
            </a:fillRef>
            <a:effectRef idx="0">
              <a:scrgbClr r="0" g="0" b="0"/>
            </a:effectRef>
            <a:fontRef idx="minor">
              <a:schemeClr val="lt1"/>
            </a:fontRef>
          </p:style>
          <p:txBody>
            <a:bodyPr spcFirstLastPara="0" vert="horz" wrap="square" lIns="65256" tIns="65256" rIns="65256" bIns="65256" numCol="1" spcCol="1270" anchor="ctr" anchorCtr="0">
              <a:noAutofit/>
            </a:bodyPr>
            <a:lstStyle/>
            <a:p>
              <a:pPr lvl="0" algn="ctr" defTabSz="533400">
                <a:lnSpc>
                  <a:spcPct val="90000"/>
                </a:lnSpc>
                <a:spcBef>
                  <a:spcPct val="0"/>
                </a:spcBef>
                <a:spcAft>
                  <a:spcPct val="35000"/>
                </a:spcAft>
              </a:pPr>
              <a:r>
                <a:rPr lang="en-US" sz="1200" kern="1200" dirty="0">
                  <a:latin typeface="Aharoni" panose="02010803020104030203" pitchFamily="2" charset="-79"/>
                  <a:cs typeface="Aharoni" panose="02010803020104030203" pitchFamily="2" charset="-79"/>
                </a:rPr>
                <a:t>Situation analysis</a:t>
              </a:r>
            </a:p>
          </p:txBody>
        </p:sp>
        <p:sp>
          <p:nvSpPr>
            <p:cNvPr id="13" name="Freeform 12"/>
            <p:cNvSpPr/>
            <p:nvPr/>
          </p:nvSpPr>
          <p:spPr>
            <a:xfrm>
              <a:off x="3414202" y="3304640"/>
              <a:ext cx="180089" cy="150074"/>
            </a:xfrm>
            <a:custGeom>
              <a:avLst/>
              <a:gdLst>
                <a:gd name="connsiteX0" fmla="*/ 0 w 150073"/>
                <a:gd name="connsiteY0" fmla="*/ 36018 h 180088"/>
                <a:gd name="connsiteX1" fmla="*/ 75037 w 150073"/>
                <a:gd name="connsiteY1" fmla="*/ 36018 h 180088"/>
                <a:gd name="connsiteX2" fmla="*/ 75037 w 150073"/>
                <a:gd name="connsiteY2" fmla="*/ 0 h 180088"/>
                <a:gd name="connsiteX3" fmla="*/ 150073 w 150073"/>
                <a:gd name="connsiteY3" fmla="*/ 90044 h 180088"/>
                <a:gd name="connsiteX4" fmla="*/ 75037 w 150073"/>
                <a:gd name="connsiteY4" fmla="*/ 180088 h 180088"/>
                <a:gd name="connsiteX5" fmla="*/ 75037 w 150073"/>
                <a:gd name="connsiteY5" fmla="*/ 144070 h 180088"/>
                <a:gd name="connsiteX6" fmla="*/ 0 w 150073"/>
                <a:gd name="connsiteY6" fmla="*/ 144070 h 180088"/>
                <a:gd name="connsiteX7" fmla="*/ 0 w 150073"/>
                <a:gd name="connsiteY7" fmla="*/ 36018 h 1800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50073" h="180088">
                  <a:moveTo>
                    <a:pt x="120058" y="1"/>
                  </a:moveTo>
                  <a:lnTo>
                    <a:pt x="120058" y="90045"/>
                  </a:lnTo>
                  <a:lnTo>
                    <a:pt x="150073" y="90045"/>
                  </a:lnTo>
                  <a:lnTo>
                    <a:pt x="75037" y="180087"/>
                  </a:lnTo>
                  <a:lnTo>
                    <a:pt x="0" y="90045"/>
                  </a:lnTo>
                  <a:lnTo>
                    <a:pt x="30015" y="90045"/>
                  </a:lnTo>
                  <a:lnTo>
                    <a:pt x="30015" y="1"/>
                  </a:lnTo>
                  <a:lnTo>
                    <a:pt x="120058" y="1"/>
                  </a:lnTo>
                  <a:close/>
                </a:path>
              </a:pathLst>
            </a:custGeom>
          </p:spPr>
          <p:style>
            <a:lnRef idx="0">
              <a:schemeClr val="dk2">
                <a:tint val="60000"/>
                <a:hueOff val="0"/>
                <a:satOff val="0"/>
                <a:lumOff val="0"/>
                <a:alphaOff val="0"/>
              </a:schemeClr>
            </a:lnRef>
            <a:fillRef idx="1">
              <a:schemeClr val="dk2">
                <a:tint val="60000"/>
                <a:hueOff val="0"/>
                <a:satOff val="0"/>
                <a:lumOff val="0"/>
                <a:alphaOff val="0"/>
              </a:schemeClr>
            </a:fillRef>
            <a:effectRef idx="0">
              <a:schemeClr val="dk2">
                <a:tint val="60000"/>
                <a:hueOff val="0"/>
                <a:satOff val="0"/>
                <a:lumOff val="0"/>
                <a:alphaOff val="0"/>
              </a:schemeClr>
            </a:effectRef>
            <a:fontRef idx="minor">
              <a:schemeClr val="lt1"/>
            </a:fontRef>
          </p:style>
          <p:txBody>
            <a:bodyPr spcFirstLastPara="0" vert="horz" wrap="square" lIns="36019" tIns="0" rIns="36018" bIns="45023" numCol="1" spcCol="1270" anchor="ctr" anchorCtr="0">
              <a:noAutofit/>
            </a:bodyPr>
            <a:lstStyle/>
            <a:p>
              <a:pPr lvl="0" algn="ctr" defTabSz="533400">
                <a:lnSpc>
                  <a:spcPct val="90000"/>
                </a:lnSpc>
                <a:spcBef>
                  <a:spcPct val="0"/>
                </a:spcBef>
                <a:spcAft>
                  <a:spcPct val="35000"/>
                </a:spcAft>
              </a:pPr>
              <a:endParaRPr lang="en-US" sz="1200" kern="1200" dirty="0">
                <a:latin typeface="Aharoni" panose="02010803020104030203" pitchFamily="2" charset="-79"/>
                <a:cs typeface="Aharoni" panose="02010803020104030203" pitchFamily="2" charset="-79"/>
              </a:endParaRPr>
            </a:p>
          </p:txBody>
        </p:sp>
        <p:sp>
          <p:nvSpPr>
            <p:cNvPr id="14" name="Freeform 13"/>
            <p:cNvSpPr/>
            <p:nvPr/>
          </p:nvSpPr>
          <p:spPr>
            <a:xfrm>
              <a:off x="1500826" y="3479727"/>
              <a:ext cx="4006842" cy="400195"/>
            </a:xfrm>
            <a:custGeom>
              <a:avLst/>
              <a:gdLst>
                <a:gd name="connsiteX0" fmla="*/ 0 w 4006842"/>
                <a:gd name="connsiteY0" fmla="*/ 66701 h 400195"/>
                <a:gd name="connsiteX1" fmla="*/ 66701 w 4006842"/>
                <a:gd name="connsiteY1" fmla="*/ 0 h 400195"/>
                <a:gd name="connsiteX2" fmla="*/ 3940141 w 4006842"/>
                <a:gd name="connsiteY2" fmla="*/ 0 h 400195"/>
                <a:gd name="connsiteX3" fmla="*/ 4006842 w 4006842"/>
                <a:gd name="connsiteY3" fmla="*/ 66701 h 400195"/>
                <a:gd name="connsiteX4" fmla="*/ 4006842 w 4006842"/>
                <a:gd name="connsiteY4" fmla="*/ 333494 h 400195"/>
                <a:gd name="connsiteX5" fmla="*/ 3940141 w 4006842"/>
                <a:gd name="connsiteY5" fmla="*/ 400195 h 400195"/>
                <a:gd name="connsiteX6" fmla="*/ 66701 w 4006842"/>
                <a:gd name="connsiteY6" fmla="*/ 400195 h 400195"/>
                <a:gd name="connsiteX7" fmla="*/ 0 w 4006842"/>
                <a:gd name="connsiteY7" fmla="*/ 333494 h 400195"/>
                <a:gd name="connsiteX8" fmla="*/ 0 w 4006842"/>
                <a:gd name="connsiteY8" fmla="*/ 66701 h 4001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006842" h="400195">
                  <a:moveTo>
                    <a:pt x="0" y="66701"/>
                  </a:moveTo>
                  <a:cubicBezTo>
                    <a:pt x="0" y="29863"/>
                    <a:pt x="29863" y="0"/>
                    <a:pt x="66701" y="0"/>
                  </a:cubicBezTo>
                  <a:lnTo>
                    <a:pt x="3940141" y="0"/>
                  </a:lnTo>
                  <a:cubicBezTo>
                    <a:pt x="3976979" y="0"/>
                    <a:pt x="4006842" y="29863"/>
                    <a:pt x="4006842" y="66701"/>
                  </a:cubicBezTo>
                  <a:lnTo>
                    <a:pt x="4006842" y="333494"/>
                  </a:lnTo>
                  <a:cubicBezTo>
                    <a:pt x="4006842" y="370332"/>
                    <a:pt x="3976979" y="400195"/>
                    <a:pt x="3940141" y="400195"/>
                  </a:cubicBezTo>
                  <a:lnTo>
                    <a:pt x="66701" y="400195"/>
                  </a:lnTo>
                  <a:cubicBezTo>
                    <a:pt x="29863" y="400195"/>
                    <a:pt x="0" y="370332"/>
                    <a:pt x="0" y="333494"/>
                  </a:cubicBezTo>
                  <a:lnTo>
                    <a:pt x="0" y="66701"/>
                  </a:lnTo>
                  <a:close/>
                </a:path>
              </a:pathLst>
            </a:custGeom>
            <a:solidFill>
              <a:srgbClr val="6D207C"/>
            </a:solidFill>
            <a:ln w="38100">
              <a:solidFill>
                <a:schemeClr val="bg1">
                  <a:lumMod val="85000"/>
                </a:schemeClr>
              </a:solidFill>
            </a:ln>
            <a:effectLst>
              <a:outerShdw blurRad="50800" dist="38100" dir="2700000" algn="tl" rotWithShape="0">
                <a:prstClr val="black">
                  <a:alpha val="40000"/>
                </a:prstClr>
              </a:outerShdw>
            </a:effectLst>
          </p:spPr>
          <p:style>
            <a:lnRef idx="2">
              <a:scrgbClr r="0" g="0" b="0"/>
            </a:lnRef>
            <a:fillRef idx="1">
              <a:scrgbClr r="0" g="0" b="0"/>
            </a:fillRef>
            <a:effectRef idx="0">
              <a:scrgbClr r="0" g="0" b="0"/>
            </a:effectRef>
            <a:fontRef idx="minor">
              <a:schemeClr val="lt1"/>
            </a:fontRef>
          </p:style>
          <p:txBody>
            <a:bodyPr spcFirstLastPara="0" vert="horz" wrap="square" lIns="65256" tIns="65256" rIns="65256" bIns="65256" numCol="1" spcCol="1270" anchor="ctr" anchorCtr="0">
              <a:noAutofit/>
            </a:bodyPr>
            <a:lstStyle/>
            <a:p>
              <a:pPr lvl="0" algn="ctr" defTabSz="533400">
                <a:lnSpc>
                  <a:spcPct val="90000"/>
                </a:lnSpc>
                <a:spcBef>
                  <a:spcPct val="0"/>
                </a:spcBef>
                <a:spcAft>
                  <a:spcPct val="35000"/>
                </a:spcAft>
              </a:pPr>
              <a:r>
                <a:rPr lang="en-US" sz="1200" kern="1200" dirty="0">
                  <a:latin typeface="Aharoni" panose="02010803020104030203" pitchFamily="2" charset="-79"/>
                  <a:cs typeface="Aharoni" panose="02010803020104030203" pitchFamily="2" charset="-79"/>
                </a:rPr>
                <a:t>Marketing objectives</a:t>
              </a:r>
            </a:p>
          </p:txBody>
        </p:sp>
        <p:sp>
          <p:nvSpPr>
            <p:cNvPr id="15" name="Freeform 14"/>
            <p:cNvSpPr/>
            <p:nvPr/>
          </p:nvSpPr>
          <p:spPr>
            <a:xfrm>
              <a:off x="3414202" y="3904934"/>
              <a:ext cx="180089" cy="150074"/>
            </a:xfrm>
            <a:custGeom>
              <a:avLst/>
              <a:gdLst>
                <a:gd name="connsiteX0" fmla="*/ 0 w 150073"/>
                <a:gd name="connsiteY0" fmla="*/ 36018 h 180088"/>
                <a:gd name="connsiteX1" fmla="*/ 75037 w 150073"/>
                <a:gd name="connsiteY1" fmla="*/ 36018 h 180088"/>
                <a:gd name="connsiteX2" fmla="*/ 75037 w 150073"/>
                <a:gd name="connsiteY2" fmla="*/ 0 h 180088"/>
                <a:gd name="connsiteX3" fmla="*/ 150073 w 150073"/>
                <a:gd name="connsiteY3" fmla="*/ 90044 h 180088"/>
                <a:gd name="connsiteX4" fmla="*/ 75037 w 150073"/>
                <a:gd name="connsiteY4" fmla="*/ 180088 h 180088"/>
                <a:gd name="connsiteX5" fmla="*/ 75037 w 150073"/>
                <a:gd name="connsiteY5" fmla="*/ 144070 h 180088"/>
                <a:gd name="connsiteX6" fmla="*/ 0 w 150073"/>
                <a:gd name="connsiteY6" fmla="*/ 144070 h 180088"/>
                <a:gd name="connsiteX7" fmla="*/ 0 w 150073"/>
                <a:gd name="connsiteY7" fmla="*/ 36018 h 1800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50073" h="180088">
                  <a:moveTo>
                    <a:pt x="120058" y="1"/>
                  </a:moveTo>
                  <a:lnTo>
                    <a:pt x="120058" y="90045"/>
                  </a:lnTo>
                  <a:lnTo>
                    <a:pt x="150073" y="90045"/>
                  </a:lnTo>
                  <a:lnTo>
                    <a:pt x="75037" y="180087"/>
                  </a:lnTo>
                  <a:lnTo>
                    <a:pt x="0" y="90045"/>
                  </a:lnTo>
                  <a:lnTo>
                    <a:pt x="30015" y="90045"/>
                  </a:lnTo>
                  <a:lnTo>
                    <a:pt x="30015" y="1"/>
                  </a:lnTo>
                  <a:lnTo>
                    <a:pt x="120058" y="1"/>
                  </a:lnTo>
                  <a:close/>
                </a:path>
              </a:pathLst>
            </a:custGeom>
          </p:spPr>
          <p:style>
            <a:lnRef idx="0">
              <a:schemeClr val="dk2">
                <a:tint val="60000"/>
                <a:hueOff val="0"/>
                <a:satOff val="0"/>
                <a:lumOff val="0"/>
                <a:alphaOff val="0"/>
              </a:schemeClr>
            </a:lnRef>
            <a:fillRef idx="1">
              <a:schemeClr val="dk2">
                <a:tint val="60000"/>
                <a:hueOff val="0"/>
                <a:satOff val="0"/>
                <a:lumOff val="0"/>
                <a:alphaOff val="0"/>
              </a:schemeClr>
            </a:fillRef>
            <a:effectRef idx="0">
              <a:schemeClr val="dk2">
                <a:tint val="60000"/>
                <a:hueOff val="0"/>
                <a:satOff val="0"/>
                <a:lumOff val="0"/>
                <a:alphaOff val="0"/>
              </a:schemeClr>
            </a:effectRef>
            <a:fontRef idx="minor">
              <a:schemeClr val="lt1"/>
            </a:fontRef>
          </p:style>
          <p:txBody>
            <a:bodyPr spcFirstLastPara="0" vert="horz" wrap="square" lIns="36019" tIns="0" rIns="36018" bIns="45023" numCol="1" spcCol="1270" anchor="ctr" anchorCtr="0">
              <a:noAutofit/>
            </a:bodyPr>
            <a:lstStyle/>
            <a:p>
              <a:pPr lvl="0" algn="ctr" defTabSz="533400">
                <a:lnSpc>
                  <a:spcPct val="90000"/>
                </a:lnSpc>
                <a:spcBef>
                  <a:spcPct val="0"/>
                </a:spcBef>
                <a:spcAft>
                  <a:spcPct val="35000"/>
                </a:spcAft>
              </a:pPr>
              <a:endParaRPr lang="en-US" sz="1200" kern="1200" dirty="0">
                <a:latin typeface="Aharoni" panose="02010803020104030203" pitchFamily="2" charset="-79"/>
                <a:cs typeface="Aharoni" panose="02010803020104030203" pitchFamily="2" charset="-79"/>
              </a:endParaRPr>
            </a:p>
          </p:txBody>
        </p:sp>
        <p:sp>
          <p:nvSpPr>
            <p:cNvPr id="16" name="Freeform 15"/>
            <p:cNvSpPr/>
            <p:nvPr/>
          </p:nvSpPr>
          <p:spPr>
            <a:xfrm>
              <a:off x="1500826" y="4080020"/>
              <a:ext cx="4006842" cy="400195"/>
            </a:xfrm>
            <a:custGeom>
              <a:avLst/>
              <a:gdLst>
                <a:gd name="connsiteX0" fmla="*/ 0 w 4006842"/>
                <a:gd name="connsiteY0" fmla="*/ 66701 h 400195"/>
                <a:gd name="connsiteX1" fmla="*/ 66701 w 4006842"/>
                <a:gd name="connsiteY1" fmla="*/ 0 h 400195"/>
                <a:gd name="connsiteX2" fmla="*/ 3940141 w 4006842"/>
                <a:gd name="connsiteY2" fmla="*/ 0 h 400195"/>
                <a:gd name="connsiteX3" fmla="*/ 4006842 w 4006842"/>
                <a:gd name="connsiteY3" fmla="*/ 66701 h 400195"/>
                <a:gd name="connsiteX4" fmla="*/ 4006842 w 4006842"/>
                <a:gd name="connsiteY4" fmla="*/ 333494 h 400195"/>
                <a:gd name="connsiteX5" fmla="*/ 3940141 w 4006842"/>
                <a:gd name="connsiteY5" fmla="*/ 400195 h 400195"/>
                <a:gd name="connsiteX6" fmla="*/ 66701 w 4006842"/>
                <a:gd name="connsiteY6" fmla="*/ 400195 h 400195"/>
                <a:gd name="connsiteX7" fmla="*/ 0 w 4006842"/>
                <a:gd name="connsiteY7" fmla="*/ 333494 h 400195"/>
                <a:gd name="connsiteX8" fmla="*/ 0 w 4006842"/>
                <a:gd name="connsiteY8" fmla="*/ 66701 h 4001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006842" h="400195">
                  <a:moveTo>
                    <a:pt x="0" y="66701"/>
                  </a:moveTo>
                  <a:cubicBezTo>
                    <a:pt x="0" y="29863"/>
                    <a:pt x="29863" y="0"/>
                    <a:pt x="66701" y="0"/>
                  </a:cubicBezTo>
                  <a:lnTo>
                    <a:pt x="3940141" y="0"/>
                  </a:lnTo>
                  <a:cubicBezTo>
                    <a:pt x="3976979" y="0"/>
                    <a:pt x="4006842" y="29863"/>
                    <a:pt x="4006842" y="66701"/>
                  </a:cubicBezTo>
                  <a:lnTo>
                    <a:pt x="4006842" y="333494"/>
                  </a:lnTo>
                  <a:cubicBezTo>
                    <a:pt x="4006842" y="370332"/>
                    <a:pt x="3976979" y="400195"/>
                    <a:pt x="3940141" y="400195"/>
                  </a:cubicBezTo>
                  <a:lnTo>
                    <a:pt x="66701" y="400195"/>
                  </a:lnTo>
                  <a:cubicBezTo>
                    <a:pt x="29863" y="400195"/>
                    <a:pt x="0" y="370332"/>
                    <a:pt x="0" y="333494"/>
                  </a:cubicBezTo>
                  <a:lnTo>
                    <a:pt x="0" y="66701"/>
                  </a:lnTo>
                  <a:close/>
                </a:path>
              </a:pathLst>
            </a:custGeom>
            <a:solidFill>
              <a:srgbClr val="6D207C"/>
            </a:solidFill>
            <a:ln w="38100">
              <a:solidFill>
                <a:schemeClr val="bg1">
                  <a:lumMod val="85000"/>
                </a:schemeClr>
              </a:solidFill>
            </a:ln>
            <a:effectLst>
              <a:outerShdw blurRad="50800" dist="38100" dir="2700000" algn="tl" rotWithShape="0">
                <a:prstClr val="black">
                  <a:alpha val="40000"/>
                </a:prstClr>
              </a:outerShdw>
            </a:effectLst>
          </p:spPr>
          <p:style>
            <a:lnRef idx="2">
              <a:scrgbClr r="0" g="0" b="0"/>
            </a:lnRef>
            <a:fillRef idx="1">
              <a:scrgbClr r="0" g="0" b="0"/>
            </a:fillRef>
            <a:effectRef idx="0">
              <a:scrgbClr r="0" g="0" b="0"/>
            </a:effectRef>
            <a:fontRef idx="minor">
              <a:schemeClr val="lt1"/>
            </a:fontRef>
          </p:style>
          <p:txBody>
            <a:bodyPr spcFirstLastPara="0" vert="horz" wrap="square" lIns="65256" tIns="65256" rIns="65256" bIns="65256" numCol="1" spcCol="1270" anchor="ctr" anchorCtr="0">
              <a:noAutofit/>
            </a:bodyPr>
            <a:lstStyle/>
            <a:p>
              <a:pPr lvl="0" algn="ctr" defTabSz="533400">
                <a:lnSpc>
                  <a:spcPct val="90000"/>
                </a:lnSpc>
                <a:spcBef>
                  <a:spcPct val="0"/>
                </a:spcBef>
                <a:spcAft>
                  <a:spcPct val="35000"/>
                </a:spcAft>
              </a:pPr>
              <a:r>
                <a:rPr lang="en-US" sz="1200" kern="1200" dirty="0">
                  <a:latin typeface="Aharoni" panose="02010803020104030203" pitchFamily="2" charset="-79"/>
                  <a:cs typeface="Aharoni" panose="02010803020104030203" pitchFamily="2" charset="-79"/>
                </a:rPr>
                <a:t>Marketing strategy</a:t>
              </a:r>
            </a:p>
          </p:txBody>
        </p:sp>
        <p:sp>
          <p:nvSpPr>
            <p:cNvPr id="17" name="Freeform 16"/>
            <p:cNvSpPr/>
            <p:nvPr/>
          </p:nvSpPr>
          <p:spPr>
            <a:xfrm>
              <a:off x="3414202" y="4505228"/>
              <a:ext cx="180089" cy="150074"/>
            </a:xfrm>
            <a:custGeom>
              <a:avLst/>
              <a:gdLst>
                <a:gd name="connsiteX0" fmla="*/ 0 w 150073"/>
                <a:gd name="connsiteY0" fmla="*/ 36018 h 180088"/>
                <a:gd name="connsiteX1" fmla="*/ 75037 w 150073"/>
                <a:gd name="connsiteY1" fmla="*/ 36018 h 180088"/>
                <a:gd name="connsiteX2" fmla="*/ 75037 w 150073"/>
                <a:gd name="connsiteY2" fmla="*/ 0 h 180088"/>
                <a:gd name="connsiteX3" fmla="*/ 150073 w 150073"/>
                <a:gd name="connsiteY3" fmla="*/ 90044 h 180088"/>
                <a:gd name="connsiteX4" fmla="*/ 75037 w 150073"/>
                <a:gd name="connsiteY4" fmla="*/ 180088 h 180088"/>
                <a:gd name="connsiteX5" fmla="*/ 75037 w 150073"/>
                <a:gd name="connsiteY5" fmla="*/ 144070 h 180088"/>
                <a:gd name="connsiteX6" fmla="*/ 0 w 150073"/>
                <a:gd name="connsiteY6" fmla="*/ 144070 h 180088"/>
                <a:gd name="connsiteX7" fmla="*/ 0 w 150073"/>
                <a:gd name="connsiteY7" fmla="*/ 36018 h 1800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50073" h="180088">
                  <a:moveTo>
                    <a:pt x="120058" y="1"/>
                  </a:moveTo>
                  <a:lnTo>
                    <a:pt x="120058" y="90045"/>
                  </a:lnTo>
                  <a:lnTo>
                    <a:pt x="150073" y="90045"/>
                  </a:lnTo>
                  <a:lnTo>
                    <a:pt x="75037" y="180087"/>
                  </a:lnTo>
                  <a:lnTo>
                    <a:pt x="0" y="90045"/>
                  </a:lnTo>
                  <a:lnTo>
                    <a:pt x="30015" y="90045"/>
                  </a:lnTo>
                  <a:lnTo>
                    <a:pt x="30015" y="1"/>
                  </a:lnTo>
                  <a:lnTo>
                    <a:pt x="120058" y="1"/>
                  </a:lnTo>
                  <a:close/>
                </a:path>
              </a:pathLst>
            </a:custGeom>
          </p:spPr>
          <p:style>
            <a:lnRef idx="0">
              <a:schemeClr val="dk2">
                <a:tint val="60000"/>
                <a:hueOff val="0"/>
                <a:satOff val="0"/>
                <a:lumOff val="0"/>
                <a:alphaOff val="0"/>
              </a:schemeClr>
            </a:lnRef>
            <a:fillRef idx="1">
              <a:schemeClr val="dk2">
                <a:tint val="60000"/>
                <a:hueOff val="0"/>
                <a:satOff val="0"/>
                <a:lumOff val="0"/>
                <a:alphaOff val="0"/>
              </a:schemeClr>
            </a:fillRef>
            <a:effectRef idx="0">
              <a:schemeClr val="dk2">
                <a:tint val="60000"/>
                <a:hueOff val="0"/>
                <a:satOff val="0"/>
                <a:lumOff val="0"/>
                <a:alphaOff val="0"/>
              </a:schemeClr>
            </a:effectRef>
            <a:fontRef idx="minor">
              <a:schemeClr val="lt1"/>
            </a:fontRef>
          </p:style>
          <p:txBody>
            <a:bodyPr spcFirstLastPara="0" vert="horz" wrap="square" lIns="36019" tIns="0" rIns="36018" bIns="45023" numCol="1" spcCol="1270" anchor="ctr" anchorCtr="0">
              <a:noAutofit/>
            </a:bodyPr>
            <a:lstStyle/>
            <a:p>
              <a:pPr lvl="0" algn="ctr" defTabSz="311150">
                <a:lnSpc>
                  <a:spcPct val="90000"/>
                </a:lnSpc>
                <a:spcBef>
                  <a:spcPct val="0"/>
                </a:spcBef>
                <a:spcAft>
                  <a:spcPct val="35000"/>
                </a:spcAft>
              </a:pPr>
              <a:endParaRPr lang="en-AU" sz="700" kern="1200" dirty="0"/>
            </a:p>
          </p:txBody>
        </p:sp>
        <p:sp>
          <p:nvSpPr>
            <p:cNvPr id="18" name="Freeform 17"/>
            <p:cNvSpPr/>
            <p:nvPr/>
          </p:nvSpPr>
          <p:spPr>
            <a:xfrm>
              <a:off x="1500826" y="4680314"/>
              <a:ext cx="4006842" cy="400195"/>
            </a:xfrm>
            <a:custGeom>
              <a:avLst/>
              <a:gdLst>
                <a:gd name="connsiteX0" fmla="*/ 0 w 4006842"/>
                <a:gd name="connsiteY0" fmla="*/ 66701 h 400195"/>
                <a:gd name="connsiteX1" fmla="*/ 66701 w 4006842"/>
                <a:gd name="connsiteY1" fmla="*/ 0 h 400195"/>
                <a:gd name="connsiteX2" fmla="*/ 3940141 w 4006842"/>
                <a:gd name="connsiteY2" fmla="*/ 0 h 400195"/>
                <a:gd name="connsiteX3" fmla="*/ 4006842 w 4006842"/>
                <a:gd name="connsiteY3" fmla="*/ 66701 h 400195"/>
                <a:gd name="connsiteX4" fmla="*/ 4006842 w 4006842"/>
                <a:gd name="connsiteY4" fmla="*/ 333494 h 400195"/>
                <a:gd name="connsiteX5" fmla="*/ 3940141 w 4006842"/>
                <a:gd name="connsiteY5" fmla="*/ 400195 h 400195"/>
                <a:gd name="connsiteX6" fmla="*/ 66701 w 4006842"/>
                <a:gd name="connsiteY6" fmla="*/ 400195 h 400195"/>
                <a:gd name="connsiteX7" fmla="*/ 0 w 4006842"/>
                <a:gd name="connsiteY7" fmla="*/ 333494 h 400195"/>
                <a:gd name="connsiteX8" fmla="*/ 0 w 4006842"/>
                <a:gd name="connsiteY8" fmla="*/ 66701 h 4001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006842" h="400195">
                  <a:moveTo>
                    <a:pt x="0" y="66701"/>
                  </a:moveTo>
                  <a:cubicBezTo>
                    <a:pt x="0" y="29863"/>
                    <a:pt x="29863" y="0"/>
                    <a:pt x="66701" y="0"/>
                  </a:cubicBezTo>
                  <a:lnTo>
                    <a:pt x="3940141" y="0"/>
                  </a:lnTo>
                  <a:cubicBezTo>
                    <a:pt x="3976979" y="0"/>
                    <a:pt x="4006842" y="29863"/>
                    <a:pt x="4006842" y="66701"/>
                  </a:cubicBezTo>
                  <a:lnTo>
                    <a:pt x="4006842" y="333494"/>
                  </a:lnTo>
                  <a:cubicBezTo>
                    <a:pt x="4006842" y="370332"/>
                    <a:pt x="3976979" y="400195"/>
                    <a:pt x="3940141" y="400195"/>
                  </a:cubicBezTo>
                  <a:lnTo>
                    <a:pt x="66701" y="400195"/>
                  </a:lnTo>
                  <a:cubicBezTo>
                    <a:pt x="29863" y="400195"/>
                    <a:pt x="0" y="370332"/>
                    <a:pt x="0" y="333494"/>
                  </a:cubicBezTo>
                  <a:lnTo>
                    <a:pt x="0" y="66701"/>
                  </a:lnTo>
                  <a:close/>
                </a:path>
              </a:pathLst>
            </a:custGeom>
            <a:solidFill>
              <a:srgbClr val="6D207C"/>
            </a:solidFill>
            <a:ln w="38100">
              <a:solidFill>
                <a:schemeClr val="bg1">
                  <a:lumMod val="85000"/>
                </a:schemeClr>
              </a:solidFill>
            </a:ln>
            <a:effectLst>
              <a:outerShdw blurRad="50800" dist="38100" dir="2700000" algn="tl" rotWithShape="0">
                <a:prstClr val="black">
                  <a:alpha val="40000"/>
                </a:prstClr>
              </a:outerShdw>
            </a:effectLst>
          </p:spPr>
          <p:style>
            <a:lnRef idx="2">
              <a:scrgbClr r="0" g="0" b="0"/>
            </a:lnRef>
            <a:fillRef idx="1">
              <a:scrgbClr r="0" g="0" b="0"/>
            </a:fillRef>
            <a:effectRef idx="0">
              <a:scrgbClr r="0" g="0" b="0"/>
            </a:effectRef>
            <a:fontRef idx="minor">
              <a:schemeClr val="lt1"/>
            </a:fontRef>
          </p:style>
          <p:txBody>
            <a:bodyPr spcFirstLastPara="0" vert="horz" wrap="square" lIns="65256" tIns="65256" rIns="65256" bIns="65256" numCol="1" spcCol="1270" anchor="ctr" anchorCtr="0">
              <a:noAutofit/>
            </a:bodyPr>
            <a:lstStyle/>
            <a:p>
              <a:pPr lvl="0" algn="ctr" defTabSz="533400">
                <a:lnSpc>
                  <a:spcPct val="90000"/>
                </a:lnSpc>
                <a:spcBef>
                  <a:spcPct val="0"/>
                </a:spcBef>
                <a:spcAft>
                  <a:spcPct val="35000"/>
                </a:spcAft>
              </a:pPr>
              <a:r>
                <a:rPr lang="en-US" sz="1200" kern="1200" dirty="0">
                  <a:latin typeface="Aharoni" panose="02010803020104030203" pitchFamily="2" charset="-79"/>
                  <a:cs typeface="Aharoni" panose="02010803020104030203" pitchFamily="2" charset="-79"/>
                </a:rPr>
                <a:t>Financials</a:t>
              </a:r>
            </a:p>
          </p:txBody>
        </p:sp>
        <p:sp>
          <p:nvSpPr>
            <p:cNvPr id="19" name="Freeform 18"/>
            <p:cNvSpPr/>
            <p:nvPr/>
          </p:nvSpPr>
          <p:spPr>
            <a:xfrm>
              <a:off x="3414202" y="5105522"/>
              <a:ext cx="180089" cy="150074"/>
            </a:xfrm>
            <a:custGeom>
              <a:avLst/>
              <a:gdLst>
                <a:gd name="connsiteX0" fmla="*/ 0 w 150073"/>
                <a:gd name="connsiteY0" fmla="*/ 36018 h 180088"/>
                <a:gd name="connsiteX1" fmla="*/ 75037 w 150073"/>
                <a:gd name="connsiteY1" fmla="*/ 36018 h 180088"/>
                <a:gd name="connsiteX2" fmla="*/ 75037 w 150073"/>
                <a:gd name="connsiteY2" fmla="*/ 0 h 180088"/>
                <a:gd name="connsiteX3" fmla="*/ 150073 w 150073"/>
                <a:gd name="connsiteY3" fmla="*/ 90044 h 180088"/>
                <a:gd name="connsiteX4" fmla="*/ 75037 w 150073"/>
                <a:gd name="connsiteY4" fmla="*/ 180088 h 180088"/>
                <a:gd name="connsiteX5" fmla="*/ 75037 w 150073"/>
                <a:gd name="connsiteY5" fmla="*/ 144070 h 180088"/>
                <a:gd name="connsiteX6" fmla="*/ 0 w 150073"/>
                <a:gd name="connsiteY6" fmla="*/ 144070 h 180088"/>
                <a:gd name="connsiteX7" fmla="*/ 0 w 150073"/>
                <a:gd name="connsiteY7" fmla="*/ 36018 h 1800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50073" h="180088">
                  <a:moveTo>
                    <a:pt x="120058" y="1"/>
                  </a:moveTo>
                  <a:lnTo>
                    <a:pt x="120058" y="90045"/>
                  </a:lnTo>
                  <a:lnTo>
                    <a:pt x="150073" y="90045"/>
                  </a:lnTo>
                  <a:lnTo>
                    <a:pt x="75037" y="180087"/>
                  </a:lnTo>
                  <a:lnTo>
                    <a:pt x="0" y="90045"/>
                  </a:lnTo>
                  <a:lnTo>
                    <a:pt x="30015" y="90045"/>
                  </a:lnTo>
                  <a:lnTo>
                    <a:pt x="30015" y="1"/>
                  </a:lnTo>
                  <a:lnTo>
                    <a:pt x="120058" y="1"/>
                  </a:lnTo>
                  <a:close/>
                </a:path>
              </a:pathLst>
            </a:custGeom>
          </p:spPr>
          <p:style>
            <a:lnRef idx="0">
              <a:schemeClr val="dk2">
                <a:tint val="60000"/>
                <a:hueOff val="0"/>
                <a:satOff val="0"/>
                <a:lumOff val="0"/>
                <a:alphaOff val="0"/>
              </a:schemeClr>
            </a:lnRef>
            <a:fillRef idx="1">
              <a:schemeClr val="dk2">
                <a:tint val="60000"/>
                <a:hueOff val="0"/>
                <a:satOff val="0"/>
                <a:lumOff val="0"/>
                <a:alphaOff val="0"/>
              </a:schemeClr>
            </a:fillRef>
            <a:effectRef idx="0">
              <a:schemeClr val="dk2">
                <a:tint val="60000"/>
                <a:hueOff val="0"/>
                <a:satOff val="0"/>
                <a:lumOff val="0"/>
                <a:alphaOff val="0"/>
              </a:schemeClr>
            </a:effectRef>
            <a:fontRef idx="minor">
              <a:schemeClr val="lt1"/>
            </a:fontRef>
          </p:style>
          <p:txBody>
            <a:bodyPr spcFirstLastPara="0" vert="horz" wrap="square" lIns="36019" tIns="0" rIns="36018" bIns="45023" numCol="1" spcCol="1270" anchor="ctr" anchorCtr="0">
              <a:noAutofit/>
            </a:bodyPr>
            <a:lstStyle/>
            <a:p>
              <a:pPr lvl="0" algn="ctr" defTabSz="533400">
                <a:lnSpc>
                  <a:spcPct val="90000"/>
                </a:lnSpc>
                <a:spcBef>
                  <a:spcPct val="0"/>
                </a:spcBef>
                <a:spcAft>
                  <a:spcPct val="35000"/>
                </a:spcAft>
              </a:pPr>
              <a:endParaRPr lang="en-US" sz="1200" kern="1200" dirty="0">
                <a:latin typeface="Aharoni" panose="02010803020104030203" pitchFamily="2" charset="-79"/>
                <a:cs typeface="Aharoni" panose="02010803020104030203" pitchFamily="2" charset="-79"/>
              </a:endParaRPr>
            </a:p>
          </p:txBody>
        </p:sp>
        <p:sp>
          <p:nvSpPr>
            <p:cNvPr id="20" name="Freeform 19"/>
            <p:cNvSpPr/>
            <p:nvPr/>
          </p:nvSpPr>
          <p:spPr>
            <a:xfrm>
              <a:off x="1500826" y="5280608"/>
              <a:ext cx="4006842" cy="400195"/>
            </a:xfrm>
            <a:custGeom>
              <a:avLst/>
              <a:gdLst>
                <a:gd name="connsiteX0" fmla="*/ 0 w 4006842"/>
                <a:gd name="connsiteY0" fmla="*/ 66701 h 400195"/>
                <a:gd name="connsiteX1" fmla="*/ 66701 w 4006842"/>
                <a:gd name="connsiteY1" fmla="*/ 0 h 400195"/>
                <a:gd name="connsiteX2" fmla="*/ 3940141 w 4006842"/>
                <a:gd name="connsiteY2" fmla="*/ 0 h 400195"/>
                <a:gd name="connsiteX3" fmla="*/ 4006842 w 4006842"/>
                <a:gd name="connsiteY3" fmla="*/ 66701 h 400195"/>
                <a:gd name="connsiteX4" fmla="*/ 4006842 w 4006842"/>
                <a:gd name="connsiteY4" fmla="*/ 333494 h 400195"/>
                <a:gd name="connsiteX5" fmla="*/ 3940141 w 4006842"/>
                <a:gd name="connsiteY5" fmla="*/ 400195 h 400195"/>
                <a:gd name="connsiteX6" fmla="*/ 66701 w 4006842"/>
                <a:gd name="connsiteY6" fmla="*/ 400195 h 400195"/>
                <a:gd name="connsiteX7" fmla="*/ 0 w 4006842"/>
                <a:gd name="connsiteY7" fmla="*/ 333494 h 400195"/>
                <a:gd name="connsiteX8" fmla="*/ 0 w 4006842"/>
                <a:gd name="connsiteY8" fmla="*/ 66701 h 4001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006842" h="400195">
                  <a:moveTo>
                    <a:pt x="0" y="66701"/>
                  </a:moveTo>
                  <a:cubicBezTo>
                    <a:pt x="0" y="29863"/>
                    <a:pt x="29863" y="0"/>
                    <a:pt x="66701" y="0"/>
                  </a:cubicBezTo>
                  <a:lnTo>
                    <a:pt x="3940141" y="0"/>
                  </a:lnTo>
                  <a:cubicBezTo>
                    <a:pt x="3976979" y="0"/>
                    <a:pt x="4006842" y="29863"/>
                    <a:pt x="4006842" y="66701"/>
                  </a:cubicBezTo>
                  <a:lnTo>
                    <a:pt x="4006842" y="333494"/>
                  </a:lnTo>
                  <a:cubicBezTo>
                    <a:pt x="4006842" y="370332"/>
                    <a:pt x="3976979" y="400195"/>
                    <a:pt x="3940141" y="400195"/>
                  </a:cubicBezTo>
                  <a:lnTo>
                    <a:pt x="66701" y="400195"/>
                  </a:lnTo>
                  <a:cubicBezTo>
                    <a:pt x="29863" y="400195"/>
                    <a:pt x="0" y="370332"/>
                    <a:pt x="0" y="333494"/>
                  </a:cubicBezTo>
                  <a:lnTo>
                    <a:pt x="0" y="66701"/>
                  </a:lnTo>
                  <a:close/>
                </a:path>
              </a:pathLst>
            </a:custGeom>
            <a:solidFill>
              <a:srgbClr val="6D207C"/>
            </a:solidFill>
            <a:ln w="38100">
              <a:solidFill>
                <a:schemeClr val="bg1">
                  <a:lumMod val="85000"/>
                </a:schemeClr>
              </a:solidFill>
            </a:ln>
            <a:effectLst>
              <a:outerShdw blurRad="50800" dist="38100" dir="2700000" algn="tl" rotWithShape="0">
                <a:prstClr val="black">
                  <a:alpha val="40000"/>
                </a:prstClr>
              </a:outerShdw>
            </a:effectLst>
          </p:spPr>
          <p:style>
            <a:lnRef idx="2">
              <a:scrgbClr r="0" g="0" b="0"/>
            </a:lnRef>
            <a:fillRef idx="1">
              <a:scrgbClr r="0" g="0" b="0"/>
            </a:fillRef>
            <a:effectRef idx="0">
              <a:scrgbClr r="0" g="0" b="0"/>
            </a:effectRef>
            <a:fontRef idx="minor">
              <a:schemeClr val="lt1"/>
            </a:fontRef>
          </p:style>
          <p:txBody>
            <a:bodyPr spcFirstLastPara="0" vert="horz" wrap="square" lIns="65256" tIns="65256" rIns="65256" bIns="65256" numCol="1" spcCol="1270" anchor="ctr" anchorCtr="0">
              <a:noAutofit/>
            </a:bodyPr>
            <a:lstStyle/>
            <a:p>
              <a:pPr lvl="0" algn="ctr" defTabSz="533400">
                <a:lnSpc>
                  <a:spcPct val="90000"/>
                </a:lnSpc>
                <a:spcBef>
                  <a:spcPct val="0"/>
                </a:spcBef>
                <a:spcAft>
                  <a:spcPct val="35000"/>
                </a:spcAft>
              </a:pPr>
              <a:r>
                <a:rPr lang="en-AU" sz="1200" kern="1200" dirty="0" smtClean="0">
                  <a:latin typeface="Aharoni" panose="02010803020104030203" pitchFamily="2" charset="-79"/>
                  <a:cs typeface="Aharoni" panose="02010803020104030203" pitchFamily="2" charset="-79"/>
                </a:rPr>
                <a:t>Implementation,</a:t>
              </a:r>
              <a:r>
                <a:rPr lang="en-US" sz="1200" kern="1200" dirty="0" smtClean="0">
                  <a:latin typeface="Aharoni" panose="02010803020104030203" pitchFamily="2" charset="-79"/>
                  <a:cs typeface="Aharoni" panose="02010803020104030203" pitchFamily="2" charset="-79"/>
                </a:rPr>
                <a:t> </a:t>
              </a:r>
              <a:r>
                <a:rPr lang="en-US" sz="1200" kern="1200" dirty="0">
                  <a:latin typeface="Aharoni" panose="02010803020104030203" pitchFamily="2" charset="-79"/>
                  <a:cs typeface="Aharoni" panose="02010803020104030203" pitchFamily="2" charset="-79"/>
                </a:rPr>
                <a:t>evaluation, and control</a:t>
              </a: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circle(in)">
                                      <p:cBhvr>
                                        <p:cTn id="7" dur="20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400" b="1" dirty="0" smtClean="0">
                <a:solidFill>
                  <a:srgbClr val="FF6600"/>
                </a:solidFill>
                <a:latin typeface="Helvetica" pitchFamily="34" charset="0"/>
              </a:rPr>
              <a:t>1.7 Produce the identified product or service initiative</a:t>
            </a:r>
            <a:endParaRPr lang="en-US" sz="3400" b="1" dirty="0">
              <a:solidFill>
                <a:srgbClr val="FF6600"/>
              </a:solidFill>
              <a:latin typeface="Helvetica" pitchFamily="34" charset="0"/>
            </a:endParaRPr>
          </a:p>
        </p:txBody>
      </p:sp>
      <p:pic>
        <p:nvPicPr>
          <p:cNvPr id="6" name="Content Placeholder 5" descr="C:\Users\Quentin\AppData\Local\Microsoft\Windows\Temporary Internet Files\Content.IE5\F5EAPM1Z\Intellectual-Property-Protection-300x300[1].jpg"/>
          <p:cNvPicPr>
            <a:picLocks noGrp="1"/>
          </p:cNvPicPr>
          <p:nvPr>
            <p:ph sz="half" idx="1"/>
          </p:nvPr>
        </p:nvPicPr>
        <p:blipFill>
          <a:blip r:embed="rId3"/>
          <a:stretch>
            <a:fillRect/>
          </a:stretch>
        </p:blipFill>
        <p:spPr bwMode="auto">
          <a:xfrm>
            <a:off x="2557264" y="1524000"/>
            <a:ext cx="2929136" cy="3079576"/>
          </a:xfrm>
          <a:prstGeom prst="rect">
            <a:avLst/>
          </a:prstGeom>
          <a:noFill/>
          <a:ln w="9525">
            <a:noFill/>
            <a:miter lim="800000"/>
            <a:headEnd/>
            <a:tailEnd/>
          </a:ln>
        </p:spPr>
      </p:pic>
      <p:sp>
        <p:nvSpPr>
          <p:cNvPr id="8" name="Content Placeholder 7"/>
          <p:cNvSpPr>
            <a:spLocks noGrp="1"/>
          </p:cNvSpPr>
          <p:nvPr>
            <p:ph sz="half" idx="2"/>
          </p:nvPr>
        </p:nvSpPr>
        <p:spPr>
          <a:xfrm>
            <a:off x="457200" y="4724400"/>
            <a:ext cx="7620000" cy="990600"/>
          </a:xfrm>
        </p:spPr>
        <p:txBody>
          <a:bodyPr>
            <a:normAutofit/>
          </a:bodyPr>
          <a:lstStyle/>
          <a:p>
            <a:pPr marL="36576" indent="0" algn="ctr">
              <a:buNone/>
            </a:pPr>
            <a:r>
              <a:rPr lang="en-US" sz="2200" dirty="0" smtClean="0"/>
              <a:t>When developing a new product or service, it is important to utilize all of the information previously gathered.</a:t>
            </a:r>
            <a:endParaRPr lang="en-US" sz="2200" dirty="0"/>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23</a:t>
            </a:fld>
            <a:endParaRPr lang="en-US" dirty="0">
              <a:latin typeface="Helvetica"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circle(in)">
                                      <p:cBhvr>
                                        <p:cTn id="7" dur="20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Product or service production</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447800"/>
            <a:ext cx="7467600" cy="4691608"/>
          </a:xfrm>
        </p:spPr>
        <p:txBody>
          <a:bodyPr>
            <a:normAutofit/>
          </a:bodyPr>
          <a:lstStyle/>
          <a:p>
            <a:pPr marL="36576" indent="0">
              <a:spcBef>
                <a:spcPts val="600"/>
              </a:spcBef>
              <a:spcAft>
                <a:spcPts val="600"/>
              </a:spcAft>
              <a:buNone/>
            </a:pPr>
            <a:r>
              <a:rPr lang="en-AU" sz="2000" dirty="0" smtClean="0"/>
              <a:t>In </a:t>
            </a:r>
            <a:r>
              <a:rPr lang="en-AU" sz="2000" dirty="0"/>
              <a:t>producing a product or service there are some factors that should be considered including:</a:t>
            </a:r>
            <a:endParaRPr lang="en-US" sz="2000" dirty="0"/>
          </a:p>
          <a:p>
            <a:pPr lvl="0">
              <a:spcBef>
                <a:spcPts val="600"/>
              </a:spcBef>
              <a:spcAft>
                <a:spcPts val="600"/>
              </a:spcAft>
            </a:pPr>
            <a:r>
              <a:rPr lang="en-AU" sz="2000" dirty="0"/>
              <a:t>Who will be in charge of the process?</a:t>
            </a:r>
            <a:endParaRPr lang="en-US" sz="2000" dirty="0"/>
          </a:p>
          <a:p>
            <a:pPr lvl="0">
              <a:spcBef>
                <a:spcPts val="600"/>
              </a:spcBef>
              <a:spcAft>
                <a:spcPts val="600"/>
              </a:spcAft>
            </a:pPr>
            <a:r>
              <a:rPr lang="en-AU" sz="2000" dirty="0"/>
              <a:t>What resources are available or needed?</a:t>
            </a:r>
            <a:endParaRPr lang="en-US" sz="2000" dirty="0"/>
          </a:p>
          <a:p>
            <a:pPr lvl="0">
              <a:spcBef>
                <a:spcPts val="600"/>
              </a:spcBef>
              <a:spcAft>
                <a:spcPts val="600"/>
              </a:spcAft>
            </a:pPr>
            <a:r>
              <a:rPr lang="en-AU" sz="2000" dirty="0"/>
              <a:t>What facilities or technology are required?</a:t>
            </a:r>
            <a:endParaRPr lang="en-US" sz="2000" dirty="0"/>
          </a:p>
          <a:p>
            <a:pPr lvl="0">
              <a:spcBef>
                <a:spcPts val="600"/>
              </a:spcBef>
              <a:spcAft>
                <a:spcPts val="600"/>
              </a:spcAft>
            </a:pPr>
            <a:r>
              <a:rPr lang="en-AU" sz="2000" dirty="0"/>
              <a:t>How will the product be priced?</a:t>
            </a:r>
            <a:endParaRPr lang="en-US" sz="2000" dirty="0"/>
          </a:p>
          <a:p>
            <a:pPr lvl="0">
              <a:spcBef>
                <a:spcPts val="600"/>
              </a:spcBef>
              <a:spcAft>
                <a:spcPts val="600"/>
              </a:spcAft>
            </a:pPr>
            <a:r>
              <a:rPr lang="en-AU" sz="2000" dirty="0"/>
              <a:t>What training might be needed?</a:t>
            </a:r>
            <a:endParaRPr lang="en-US" sz="2000" dirty="0"/>
          </a:p>
          <a:p>
            <a:pPr lvl="0">
              <a:spcBef>
                <a:spcPts val="600"/>
              </a:spcBef>
              <a:spcAft>
                <a:spcPts val="600"/>
              </a:spcAft>
            </a:pPr>
            <a:r>
              <a:rPr lang="en-AU" sz="2000" dirty="0"/>
              <a:t>Are there any suppliers or partners needed?</a:t>
            </a:r>
            <a:endParaRPr lang="en-US" sz="2000" dirty="0"/>
          </a:p>
          <a:p>
            <a:pPr lvl="0">
              <a:spcBef>
                <a:spcPts val="600"/>
              </a:spcBef>
              <a:spcAft>
                <a:spcPts val="600"/>
              </a:spcAft>
            </a:pPr>
            <a:r>
              <a:rPr lang="en-AU" sz="2000" dirty="0"/>
              <a:t>When will the product or service be launched?</a:t>
            </a:r>
            <a:endParaRPr lang="en-US" sz="2000" dirty="0"/>
          </a:p>
          <a:p>
            <a:pPr marL="360000" indent="-360000">
              <a:spcBef>
                <a:spcPts val="600"/>
              </a:spcBef>
              <a:spcAft>
                <a:spcPts val="600"/>
              </a:spcAft>
              <a:buNone/>
            </a:pPr>
            <a:endParaRPr lang="en-US" sz="2000" dirty="0" smtClean="0"/>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24</a:t>
            </a:fld>
            <a:endParaRPr lang="en-US" dirty="0">
              <a:latin typeface="Helvetica" pitchFamily="34" charset="0"/>
            </a:endParaRPr>
          </a:p>
        </p:txBody>
      </p:sp>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974976" y="2438400"/>
            <a:ext cx="2330824" cy="19812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circle(in)">
                                      <p:cBhvr>
                                        <p:cTn id="7" dur="20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Element 1: Summary</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447800"/>
            <a:ext cx="7467600" cy="4920208"/>
          </a:xfrm>
        </p:spPr>
        <p:txBody>
          <a:bodyPr>
            <a:normAutofit/>
          </a:bodyPr>
          <a:lstStyle/>
          <a:p>
            <a:pPr marL="36576" indent="0">
              <a:spcBef>
                <a:spcPts val="600"/>
              </a:spcBef>
              <a:spcAft>
                <a:spcPts val="600"/>
              </a:spcAft>
              <a:buNone/>
            </a:pPr>
            <a:r>
              <a:rPr lang="en-AU" sz="1800" dirty="0"/>
              <a:t>The product or service creation stage is the first step in the process and allows for a product or service idea to become a reality. In creating a new product or service it is important to:</a:t>
            </a:r>
            <a:endParaRPr lang="en-US" sz="1800" dirty="0"/>
          </a:p>
          <a:p>
            <a:pPr lvl="0">
              <a:spcBef>
                <a:spcPts val="600"/>
              </a:spcBef>
              <a:spcAft>
                <a:spcPts val="600"/>
              </a:spcAft>
            </a:pPr>
            <a:r>
              <a:rPr lang="en-AU" sz="1800" dirty="0"/>
              <a:t>Identify and examine the context in which the initiative will occur</a:t>
            </a:r>
            <a:endParaRPr lang="en-US" sz="1800" dirty="0"/>
          </a:p>
          <a:p>
            <a:pPr lvl="0">
              <a:spcBef>
                <a:spcPts val="600"/>
              </a:spcBef>
              <a:spcAft>
                <a:spcPts val="600"/>
              </a:spcAft>
            </a:pPr>
            <a:r>
              <a:rPr lang="en-AU" sz="1800" dirty="0"/>
              <a:t>Conduct market research </a:t>
            </a:r>
            <a:endParaRPr lang="en-US" sz="1800" dirty="0"/>
          </a:p>
          <a:p>
            <a:pPr lvl="0">
              <a:spcBef>
                <a:spcPts val="600"/>
              </a:spcBef>
              <a:spcAft>
                <a:spcPts val="600"/>
              </a:spcAft>
            </a:pPr>
            <a:r>
              <a:rPr lang="en-AU" sz="1800" dirty="0"/>
              <a:t>Identify the product life cycle stage </a:t>
            </a:r>
            <a:r>
              <a:rPr lang="en-AU" sz="1800" dirty="0" smtClean="0"/>
              <a:t/>
            </a:r>
            <a:br>
              <a:rPr lang="en-AU" sz="1800" dirty="0" smtClean="0"/>
            </a:br>
            <a:r>
              <a:rPr lang="en-AU" sz="1800" dirty="0" smtClean="0"/>
              <a:t>and </a:t>
            </a:r>
            <a:r>
              <a:rPr lang="en-AU" sz="1800" dirty="0"/>
              <a:t>explore the implications for a </a:t>
            </a:r>
            <a:r>
              <a:rPr lang="en-AU" sz="1800" dirty="0" smtClean="0"/>
              <a:t/>
            </a:r>
            <a:br>
              <a:rPr lang="en-AU" sz="1800" dirty="0" smtClean="0"/>
            </a:br>
            <a:r>
              <a:rPr lang="en-AU" sz="1800" dirty="0" smtClean="0"/>
              <a:t>new </a:t>
            </a:r>
            <a:r>
              <a:rPr lang="en-AU" sz="1800" dirty="0"/>
              <a:t>product or service</a:t>
            </a:r>
            <a:endParaRPr lang="en-US" sz="1800" dirty="0"/>
          </a:p>
          <a:p>
            <a:pPr lvl="0">
              <a:spcBef>
                <a:spcPts val="600"/>
              </a:spcBef>
              <a:spcAft>
                <a:spcPts val="600"/>
              </a:spcAft>
            </a:pPr>
            <a:r>
              <a:rPr lang="en-AU" sz="1800" dirty="0"/>
              <a:t>Determine any financial issues that </a:t>
            </a:r>
            <a:r>
              <a:rPr lang="en-AU" sz="1800" dirty="0" smtClean="0"/>
              <a:t/>
            </a:r>
            <a:br>
              <a:rPr lang="en-AU" sz="1800" dirty="0" smtClean="0"/>
            </a:br>
            <a:r>
              <a:rPr lang="en-AU" sz="1800" dirty="0" smtClean="0"/>
              <a:t>may </a:t>
            </a:r>
            <a:r>
              <a:rPr lang="en-AU" sz="1800" dirty="0"/>
              <a:t>affect the initiative</a:t>
            </a:r>
            <a:endParaRPr lang="en-US" sz="1800" dirty="0"/>
          </a:p>
          <a:p>
            <a:pPr lvl="0">
              <a:spcBef>
                <a:spcPts val="600"/>
              </a:spcBef>
              <a:spcAft>
                <a:spcPts val="600"/>
              </a:spcAft>
            </a:pPr>
            <a:r>
              <a:rPr lang="en-AU" sz="1800" dirty="0"/>
              <a:t>Develop the product or service development plan and produce the item</a:t>
            </a:r>
            <a:endParaRPr lang="en-US" sz="1800" dirty="0"/>
          </a:p>
          <a:p>
            <a:pPr marL="360000" indent="-360000">
              <a:spcBef>
                <a:spcPts val="600"/>
              </a:spcBef>
              <a:spcAft>
                <a:spcPts val="600"/>
              </a:spcAft>
              <a:buNone/>
            </a:pPr>
            <a:endParaRPr lang="en-US" sz="1800" dirty="0" smtClean="0"/>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25</a:t>
            </a:fld>
            <a:endParaRPr lang="en-US" dirty="0">
              <a:latin typeface="Helvetica" pitchFamily="34" charset="0"/>
            </a:endParaRPr>
          </a:p>
        </p:txBody>
      </p:sp>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029199" y="2895600"/>
            <a:ext cx="3247869" cy="19812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circle(in)">
                                      <p:cBhvr>
                                        <p:cTn id="7" dur="20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Element 2: Implement strategic product initiatives </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676400"/>
            <a:ext cx="7467600" cy="4406355"/>
          </a:xfrm>
        </p:spPr>
        <p:txBody>
          <a:bodyPr>
            <a:normAutofit/>
          </a:bodyPr>
          <a:lstStyle/>
          <a:p>
            <a:pPr marL="0" indent="0">
              <a:spcBef>
                <a:spcPts val="600"/>
              </a:spcBef>
              <a:spcAft>
                <a:spcPts val="1200"/>
              </a:spcAft>
              <a:buNone/>
            </a:pPr>
            <a:r>
              <a:rPr lang="en-US" sz="2200" b="1" dirty="0" smtClean="0">
                <a:latin typeface="Helvetica" pitchFamily="34" charset="0"/>
              </a:rPr>
              <a:t>Performance criteria:</a:t>
            </a: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26</a:t>
            </a:fld>
            <a:endParaRPr lang="en-US" dirty="0">
              <a:latin typeface="Helvetica" pitchFamily="34" charset="0"/>
            </a:endParaRPr>
          </a:p>
        </p:txBody>
      </p:sp>
      <p:grpSp>
        <p:nvGrpSpPr>
          <p:cNvPr id="5" name="Group 4"/>
          <p:cNvGrpSpPr/>
          <p:nvPr/>
        </p:nvGrpSpPr>
        <p:grpSpPr>
          <a:xfrm>
            <a:off x="685800" y="2375917"/>
            <a:ext cx="6858000" cy="3567683"/>
            <a:chOff x="685800" y="2200319"/>
            <a:chExt cx="6096000" cy="2878201"/>
          </a:xfrm>
        </p:grpSpPr>
        <p:sp>
          <p:nvSpPr>
            <p:cNvPr id="6" name="Rectangle 5"/>
            <p:cNvSpPr/>
            <p:nvPr/>
          </p:nvSpPr>
          <p:spPr>
            <a:xfrm>
              <a:off x="685800" y="2392199"/>
              <a:ext cx="6096000" cy="327600"/>
            </a:xfrm>
            <a:prstGeom prst="rect">
              <a:avLst/>
            </a:prstGeom>
          </p:spPr>
          <p:style>
            <a:lnRef idx="2">
              <a:schemeClr val="dk2">
                <a:hueOff val="0"/>
                <a:satOff val="0"/>
                <a:lumOff val="0"/>
                <a:alphaOff val="0"/>
              </a:schemeClr>
            </a:lnRef>
            <a:fillRef idx="1">
              <a:schemeClr val="lt2">
                <a:alpha val="90000"/>
                <a:hueOff val="0"/>
                <a:satOff val="0"/>
                <a:lumOff val="0"/>
                <a:alphaOff val="0"/>
              </a:schemeClr>
            </a:fillRef>
            <a:effectRef idx="0">
              <a:schemeClr val="lt2">
                <a:alpha val="90000"/>
                <a:hueOff val="0"/>
                <a:satOff val="0"/>
                <a:lumOff val="0"/>
                <a:alphaOff val="0"/>
              </a:schemeClr>
            </a:effectRef>
            <a:fontRef idx="minor">
              <a:schemeClr val="dk1">
                <a:hueOff val="0"/>
                <a:satOff val="0"/>
                <a:lumOff val="0"/>
                <a:alphaOff val="0"/>
              </a:schemeClr>
            </a:fontRef>
          </p:style>
        </p:sp>
        <p:sp>
          <p:nvSpPr>
            <p:cNvPr id="7" name="Freeform 6"/>
            <p:cNvSpPr/>
            <p:nvPr/>
          </p:nvSpPr>
          <p:spPr>
            <a:xfrm>
              <a:off x="990600" y="2200319"/>
              <a:ext cx="4267200" cy="432000"/>
            </a:xfrm>
            <a:custGeom>
              <a:avLst/>
              <a:gdLst>
                <a:gd name="connsiteX0" fmla="*/ 0 w 4267200"/>
                <a:gd name="connsiteY0" fmla="*/ 63961 h 383760"/>
                <a:gd name="connsiteX1" fmla="*/ 63961 w 4267200"/>
                <a:gd name="connsiteY1" fmla="*/ 0 h 383760"/>
                <a:gd name="connsiteX2" fmla="*/ 4203239 w 4267200"/>
                <a:gd name="connsiteY2" fmla="*/ 0 h 383760"/>
                <a:gd name="connsiteX3" fmla="*/ 4267200 w 4267200"/>
                <a:gd name="connsiteY3" fmla="*/ 63961 h 383760"/>
                <a:gd name="connsiteX4" fmla="*/ 4267200 w 4267200"/>
                <a:gd name="connsiteY4" fmla="*/ 319799 h 383760"/>
                <a:gd name="connsiteX5" fmla="*/ 4203239 w 4267200"/>
                <a:gd name="connsiteY5" fmla="*/ 383760 h 383760"/>
                <a:gd name="connsiteX6" fmla="*/ 63961 w 4267200"/>
                <a:gd name="connsiteY6" fmla="*/ 383760 h 383760"/>
                <a:gd name="connsiteX7" fmla="*/ 0 w 4267200"/>
                <a:gd name="connsiteY7" fmla="*/ 319799 h 383760"/>
                <a:gd name="connsiteX8" fmla="*/ 0 w 4267200"/>
                <a:gd name="connsiteY8" fmla="*/ 63961 h 3837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267200" h="383760">
                  <a:moveTo>
                    <a:pt x="0" y="63961"/>
                  </a:moveTo>
                  <a:cubicBezTo>
                    <a:pt x="0" y="28636"/>
                    <a:pt x="28636" y="0"/>
                    <a:pt x="63961" y="0"/>
                  </a:cubicBezTo>
                  <a:lnTo>
                    <a:pt x="4203239" y="0"/>
                  </a:lnTo>
                  <a:cubicBezTo>
                    <a:pt x="4238564" y="0"/>
                    <a:pt x="4267200" y="28636"/>
                    <a:pt x="4267200" y="63961"/>
                  </a:cubicBezTo>
                  <a:lnTo>
                    <a:pt x="4267200" y="319799"/>
                  </a:lnTo>
                  <a:cubicBezTo>
                    <a:pt x="4267200" y="355124"/>
                    <a:pt x="4238564" y="383760"/>
                    <a:pt x="4203239" y="383760"/>
                  </a:cubicBezTo>
                  <a:lnTo>
                    <a:pt x="63961" y="383760"/>
                  </a:lnTo>
                  <a:cubicBezTo>
                    <a:pt x="28636" y="383760"/>
                    <a:pt x="0" y="355124"/>
                    <a:pt x="0" y="319799"/>
                  </a:cubicBezTo>
                  <a:lnTo>
                    <a:pt x="0" y="63961"/>
                  </a:lnTo>
                  <a:close/>
                </a:path>
              </a:pathLst>
            </a:custGeom>
          </p:spPr>
          <p:style>
            <a:lnRef idx="2">
              <a:schemeClr val="lt2">
                <a:hueOff val="0"/>
                <a:satOff val="0"/>
                <a:lumOff val="0"/>
                <a:alphaOff val="0"/>
              </a:schemeClr>
            </a:lnRef>
            <a:fillRef idx="1">
              <a:schemeClr val="dk2">
                <a:hueOff val="0"/>
                <a:satOff val="0"/>
                <a:lumOff val="0"/>
                <a:alphaOff val="0"/>
              </a:schemeClr>
            </a:fillRef>
            <a:effectRef idx="0">
              <a:schemeClr val="dk2">
                <a:hueOff val="0"/>
                <a:satOff val="0"/>
                <a:lumOff val="0"/>
                <a:alphaOff val="0"/>
              </a:schemeClr>
            </a:effectRef>
            <a:fontRef idx="minor">
              <a:schemeClr val="lt1"/>
            </a:fontRef>
          </p:style>
          <p:txBody>
            <a:bodyPr spcFirstLastPara="0" vert="horz" wrap="square" lIns="180024" tIns="18734" rIns="180024" bIns="18734" numCol="1" spcCol="1270" anchor="ctr" anchorCtr="0">
              <a:noAutofit/>
            </a:bodyPr>
            <a:lstStyle/>
            <a:p>
              <a:pPr marL="266700" indent="-266700" defTabSz="533400">
                <a:lnSpc>
                  <a:spcPct val="90000"/>
                </a:lnSpc>
                <a:spcBef>
                  <a:spcPct val="0"/>
                </a:spcBef>
                <a:spcAft>
                  <a:spcPct val="35000"/>
                </a:spcAft>
              </a:pPr>
              <a:r>
                <a:rPr lang="en-US" sz="1200" b="1" i="1" dirty="0">
                  <a:latin typeface="Helvetica" pitchFamily="34" charset="0"/>
                </a:rPr>
                <a:t>2</a:t>
              </a:r>
              <a:r>
                <a:rPr lang="en-US" sz="1200" b="1" i="1" kern="1200" dirty="0" smtClean="0">
                  <a:latin typeface="Helvetica" pitchFamily="34" charset="0"/>
                </a:rPr>
                <a:t>.1	</a:t>
              </a:r>
              <a:r>
                <a:rPr lang="en-AU" sz="1200" b="1" i="1" dirty="0">
                  <a:latin typeface="Helvetica" pitchFamily="34" charset="0"/>
                </a:rPr>
                <a:t>Trial the initiative in accordance with established </a:t>
              </a:r>
              <a:r>
                <a:rPr lang="en-AU" sz="1200" b="1" i="1" dirty="0" smtClean="0">
                  <a:latin typeface="Helvetica" pitchFamily="34" charset="0"/>
                </a:rPr>
                <a:t>plans</a:t>
              </a:r>
              <a:endParaRPr lang="en-US" sz="1200" b="1" i="1" dirty="0">
                <a:latin typeface="Helvetica" pitchFamily="34" charset="0"/>
              </a:endParaRPr>
            </a:p>
          </p:txBody>
        </p:sp>
        <p:sp>
          <p:nvSpPr>
            <p:cNvPr id="8" name="Rectangle 7"/>
            <p:cNvSpPr/>
            <p:nvPr/>
          </p:nvSpPr>
          <p:spPr>
            <a:xfrm>
              <a:off x="685800" y="2981880"/>
              <a:ext cx="6096000" cy="327600"/>
            </a:xfrm>
            <a:prstGeom prst="rect">
              <a:avLst/>
            </a:prstGeom>
          </p:spPr>
          <p:style>
            <a:lnRef idx="2">
              <a:schemeClr val="dk2">
                <a:hueOff val="0"/>
                <a:satOff val="0"/>
                <a:lumOff val="0"/>
                <a:alphaOff val="0"/>
              </a:schemeClr>
            </a:lnRef>
            <a:fillRef idx="1">
              <a:schemeClr val="lt2">
                <a:alpha val="90000"/>
                <a:hueOff val="0"/>
                <a:satOff val="0"/>
                <a:lumOff val="0"/>
                <a:alphaOff val="0"/>
              </a:schemeClr>
            </a:fillRef>
            <a:effectRef idx="0">
              <a:schemeClr val="lt2">
                <a:alpha val="90000"/>
                <a:hueOff val="0"/>
                <a:satOff val="0"/>
                <a:lumOff val="0"/>
                <a:alphaOff val="0"/>
              </a:schemeClr>
            </a:effectRef>
            <a:fontRef idx="minor">
              <a:schemeClr val="dk1">
                <a:hueOff val="0"/>
                <a:satOff val="0"/>
                <a:lumOff val="0"/>
                <a:alphaOff val="0"/>
              </a:schemeClr>
            </a:fontRef>
          </p:style>
        </p:sp>
        <p:sp>
          <p:nvSpPr>
            <p:cNvPr id="9" name="Freeform 8"/>
            <p:cNvSpPr/>
            <p:nvPr/>
          </p:nvSpPr>
          <p:spPr>
            <a:xfrm>
              <a:off x="990600" y="2790000"/>
              <a:ext cx="4267200" cy="432000"/>
            </a:xfrm>
            <a:custGeom>
              <a:avLst/>
              <a:gdLst>
                <a:gd name="connsiteX0" fmla="*/ 0 w 4267200"/>
                <a:gd name="connsiteY0" fmla="*/ 63961 h 383760"/>
                <a:gd name="connsiteX1" fmla="*/ 63961 w 4267200"/>
                <a:gd name="connsiteY1" fmla="*/ 0 h 383760"/>
                <a:gd name="connsiteX2" fmla="*/ 4203239 w 4267200"/>
                <a:gd name="connsiteY2" fmla="*/ 0 h 383760"/>
                <a:gd name="connsiteX3" fmla="*/ 4267200 w 4267200"/>
                <a:gd name="connsiteY3" fmla="*/ 63961 h 383760"/>
                <a:gd name="connsiteX4" fmla="*/ 4267200 w 4267200"/>
                <a:gd name="connsiteY4" fmla="*/ 319799 h 383760"/>
                <a:gd name="connsiteX5" fmla="*/ 4203239 w 4267200"/>
                <a:gd name="connsiteY5" fmla="*/ 383760 h 383760"/>
                <a:gd name="connsiteX6" fmla="*/ 63961 w 4267200"/>
                <a:gd name="connsiteY6" fmla="*/ 383760 h 383760"/>
                <a:gd name="connsiteX7" fmla="*/ 0 w 4267200"/>
                <a:gd name="connsiteY7" fmla="*/ 319799 h 383760"/>
                <a:gd name="connsiteX8" fmla="*/ 0 w 4267200"/>
                <a:gd name="connsiteY8" fmla="*/ 63961 h 3837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267200" h="383760">
                  <a:moveTo>
                    <a:pt x="0" y="63961"/>
                  </a:moveTo>
                  <a:cubicBezTo>
                    <a:pt x="0" y="28636"/>
                    <a:pt x="28636" y="0"/>
                    <a:pt x="63961" y="0"/>
                  </a:cubicBezTo>
                  <a:lnTo>
                    <a:pt x="4203239" y="0"/>
                  </a:lnTo>
                  <a:cubicBezTo>
                    <a:pt x="4238564" y="0"/>
                    <a:pt x="4267200" y="28636"/>
                    <a:pt x="4267200" y="63961"/>
                  </a:cubicBezTo>
                  <a:lnTo>
                    <a:pt x="4267200" y="319799"/>
                  </a:lnTo>
                  <a:cubicBezTo>
                    <a:pt x="4267200" y="355124"/>
                    <a:pt x="4238564" y="383760"/>
                    <a:pt x="4203239" y="383760"/>
                  </a:cubicBezTo>
                  <a:lnTo>
                    <a:pt x="63961" y="383760"/>
                  </a:lnTo>
                  <a:cubicBezTo>
                    <a:pt x="28636" y="383760"/>
                    <a:pt x="0" y="355124"/>
                    <a:pt x="0" y="319799"/>
                  </a:cubicBezTo>
                  <a:lnTo>
                    <a:pt x="0" y="63961"/>
                  </a:lnTo>
                  <a:close/>
                </a:path>
              </a:pathLst>
            </a:custGeom>
          </p:spPr>
          <p:style>
            <a:lnRef idx="2">
              <a:schemeClr val="lt2">
                <a:hueOff val="0"/>
                <a:satOff val="0"/>
                <a:lumOff val="0"/>
                <a:alphaOff val="0"/>
              </a:schemeClr>
            </a:lnRef>
            <a:fillRef idx="1">
              <a:schemeClr val="dk2">
                <a:hueOff val="0"/>
                <a:satOff val="0"/>
                <a:lumOff val="0"/>
                <a:alphaOff val="0"/>
              </a:schemeClr>
            </a:fillRef>
            <a:effectRef idx="0">
              <a:schemeClr val="dk2">
                <a:hueOff val="0"/>
                <a:satOff val="0"/>
                <a:lumOff val="0"/>
                <a:alphaOff val="0"/>
              </a:schemeClr>
            </a:effectRef>
            <a:fontRef idx="minor">
              <a:schemeClr val="lt1"/>
            </a:fontRef>
          </p:style>
          <p:txBody>
            <a:bodyPr spcFirstLastPara="0" vert="horz" wrap="square" lIns="180024" tIns="18734" rIns="180024" bIns="18734" numCol="1" spcCol="1270" anchor="ctr" anchorCtr="0">
              <a:noAutofit/>
            </a:bodyPr>
            <a:lstStyle/>
            <a:p>
              <a:pPr marL="266700" lvl="0" indent="-266700" defTabSz="533400">
                <a:lnSpc>
                  <a:spcPct val="90000"/>
                </a:lnSpc>
                <a:spcBef>
                  <a:spcPct val="0"/>
                </a:spcBef>
                <a:spcAft>
                  <a:spcPct val="35000"/>
                </a:spcAft>
              </a:pPr>
              <a:r>
                <a:rPr lang="en-US" sz="1200" b="1" i="1" kern="1200" dirty="0" smtClean="0">
                  <a:latin typeface="Helvetica" pitchFamily="34" charset="0"/>
                </a:rPr>
                <a:t>2.2	</a:t>
              </a:r>
              <a:r>
                <a:rPr lang="en-AU" sz="1200" b="1" i="1" dirty="0">
                  <a:latin typeface="Helvetica" pitchFamily="34" charset="0"/>
                </a:rPr>
                <a:t> Revise the initiative as required on the basis of operational matters and customer feedback</a:t>
              </a:r>
              <a:endParaRPr lang="en-AU" sz="1200" b="1" i="1" kern="1200" dirty="0">
                <a:latin typeface="Helvetica" pitchFamily="34" charset="0"/>
              </a:endParaRPr>
            </a:p>
          </p:txBody>
        </p:sp>
        <p:sp>
          <p:nvSpPr>
            <p:cNvPr id="10" name="Rectangle 9"/>
            <p:cNvSpPr/>
            <p:nvPr/>
          </p:nvSpPr>
          <p:spPr>
            <a:xfrm>
              <a:off x="685800" y="3571560"/>
              <a:ext cx="6096000" cy="327600"/>
            </a:xfrm>
            <a:prstGeom prst="rect">
              <a:avLst/>
            </a:prstGeom>
          </p:spPr>
          <p:style>
            <a:lnRef idx="2">
              <a:schemeClr val="dk2">
                <a:hueOff val="0"/>
                <a:satOff val="0"/>
                <a:lumOff val="0"/>
                <a:alphaOff val="0"/>
              </a:schemeClr>
            </a:lnRef>
            <a:fillRef idx="1">
              <a:schemeClr val="lt2">
                <a:alpha val="90000"/>
                <a:hueOff val="0"/>
                <a:satOff val="0"/>
                <a:lumOff val="0"/>
                <a:alphaOff val="0"/>
              </a:schemeClr>
            </a:fillRef>
            <a:effectRef idx="0">
              <a:schemeClr val="lt2">
                <a:alpha val="90000"/>
                <a:hueOff val="0"/>
                <a:satOff val="0"/>
                <a:lumOff val="0"/>
                <a:alphaOff val="0"/>
              </a:schemeClr>
            </a:effectRef>
            <a:fontRef idx="minor">
              <a:schemeClr val="dk1">
                <a:hueOff val="0"/>
                <a:satOff val="0"/>
                <a:lumOff val="0"/>
                <a:alphaOff val="0"/>
              </a:schemeClr>
            </a:fontRef>
          </p:style>
        </p:sp>
        <p:sp>
          <p:nvSpPr>
            <p:cNvPr id="11" name="Freeform 10"/>
            <p:cNvSpPr/>
            <p:nvPr/>
          </p:nvSpPr>
          <p:spPr>
            <a:xfrm>
              <a:off x="990600" y="3379680"/>
              <a:ext cx="4267200" cy="432000"/>
            </a:xfrm>
            <a:custGeom>
              <a:avLst/>
              <a:gdLst>
                <a:gd name="connsiteX0" fmla="*/ 0 w 4267200"/>
                <a:gd name="connsiteY0" fmla="*/ 63961 h 383760"/>
                <a:gd name="connsiteX1" fmla="*/ 63961 w 4267200"/>
                <a:gd name="connsiteY1" fmla="*/ 0 h 383760"/>
                <a:gd name="connsiteX2" fmla="*/ 4203239 w 4267200"/>
                <a:gd name="connsiteY2" fmla="*/ 0 h 383760"/>
                <a:gd name="connsiteX3" fmla="*/ 4267200 w 4267200"/>
                <a:gd name="connsiteY3" fmla="*/ 63961 h 383760"/>
                <a:gd name="connsiteX4" fmla="*/ 4267200 w 4267200"/>
                <a:gd name="connsiteY4" fmla="*/ 319799 h 383760"/>
                <a:gd name="connsiteX5" fmla="*/ 4203239 w 4267200"/>
                <a:gd name="connsiteY5" fmla="*/ 383760 h 383760"/>
                <a:gd name="connsiteX6" fmla="*/ 63961 w 4267200"/>
                <a:gd name="connsiteY6" fmla="*/ 383760 h 383760"/>
                <a:gd name="connsiteX7" fmla="*/ 0 w 4267200"/>
                <a:gd name="connsiteY7" fmla="*/ 319799 h 383760"/>
                <a:gd name="connsiteX8" fmla="*/ 0 w 4267200"/>
                <a:gd name="connsiteY8" fmla="*/ 63961 h 3837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267200" h="383760">
                  <a:moveTo>
                    <a:pt x="0" y="63961"/>
                  </a:moveTo>
                  <a:cubicBezTo>
                    <a:pt x="0" y="28636"/>
                    <a:pt x="28636" y="0"/>
                    <a:pt x="63961" y="0"/>
                  </a:cubicBezTo>
                  <a:lnTo>
                    <a:pt x="4203239" y="0"/>
                  </a:lnTo>
                  <a:cubicBezTo>
                    <a:pt x="4238564" y="0"/>
                    <a:pt x="4267200" y="28636"/>
                    <a:pt x="4267200" y="63961"/>
                  </a:cubicBezTo>
                  <a:lnTo>
                    <a:pt x="4267200" y="319799"/>
                  </a:lnTo>
                  <a:cubicBezTo>
                    <a:pt x="4267200" y="355124"/>
                    <a:pt x="4238564" y="383760"/>
                    <a:pt x="4203239" y="383760"/>
                  </a:cubicBezTo>
                  <a:lnTo>
                    <a:pt x="63961" y="383760"/>
                  </a:lnTo>
                  <a:cubicBezTo>
                    <a:pt x="28636" y="383760"/>
                    <a:pt x="0" y="355124"/>
                    <a:pt x="0" y="319799"/>
                  </a:cubicBezTo>
                  <a:lnTo>
                    <a:pt x="0" y="63961"/>
                  </a:lnTo>
                  <a:close/>
                </a:path>
              </a:pathLst>
            </a:custGeom>
          </p:spPr>
          <p:style>
            <a:lnRef idx="2">
              <a:schemeClr val="lt2">
                <a:hueOff val="0"/>
                <a:satOff val="0"/>
                <a:lumOff val="0"/>
                <a:alphaOff val="0"/>
              </a:schemeClr>
            </a:lnRef>
            <a:fillRef idx="1">
              <a:schemeClr val="dk2">
                <a:hueOff val="0"/>
                <a:satOff val="0"/>
                <a:lumOff val="0"/>
                <a:alphaOff val="0"/>
              </a:schemeClr>
            </a:fillRef>
            <a:effectRef idx="0">
              <a:schemeClr val="dk2">
                <a:hueOff val="0"/>
                <a:satOff val="0"/>
                <a:lumOff val="0"/>
                <a:alphaOff val="0"/>
              </a:schemeClr>
            </a:effectRef>
            <a:fontRef idx="minor">
              <a:schemeClr val="lt1"/>
            </a:fontRef>
          </p:style>
          <p:txBody>
            <a:bodyPr spcFirstLastPara="0" vert="horz" wrap="square" lIns="180024" tIns="18734" rIns="180024" bIns="18734" numCol="1" spcCol="1270" anchor="ctr" anchorCtr="0">
              <a:noAutofit/>
            </a:bodyPr>
            <a:lstStyle/>
            <a:p>
              <a:pPr marL="266700" lvl="0" indent="-266700" defTabSz="533400">
                <a:lnSpc>
                  <a:spcPct val="90000"/>
                </a:lnSpc>
                <a:spcBef>
                  <a:spcPct val="0"/>
                </a:spcBef>
                <a:spcAft>
                  <a:spcPct val="35000"/>
                </a:spcAft>
              </a:pPr>
              <a:r>
                <a:rPr lang="en-US" sz="1200" b="1" i="1" kern="1200" dirty="0" smtClean="0">
                  <a:latin typeface="Helvetica" pitchFamily="34" charset="0"/>
                </a:rPr>
                <a:t>2.3	</a:t>
              </a:r>
              <a:r>
                <a:rPr lang="en-AU" sz="1200" b="1" i="1" dirty="0">
                  <a:latin typeface="Helvetica" pitchFamily="34" charset="0"/>
                </a:rPr>
                <a:t> Monitor the introduction and implementation of the initiative</a:t>
              </a:r>
              <a:endParaRPr lang="en-AU" sz="1200" b="1" i="1" kern="1200" dirty="0">
                <a:latin typeface="Helvetica" pitchFamily="34" charset="0"/>
              </a:endParaRPr>
            </a:p>
          </p:txBody>
        </p:sp>
        <p:sp>
          <p:nvSpPr>
            <p:cNvPr id="12" name="Rectangle 11"/>
            <p:cNvSpPr/>
            <p:nvPr/>
          </p:nvSpPr>
          <p:spPr>
            <a:xfrm>
              <a:off x="685800" y="4161240"/>
              <a:ext cx="6096000" cy="327600"/>
            </a:xfrm>
            <a:prstGeom prst="rect">
              <a:avLst/>
            </a:prstGeom>
          </p:spPr>
          <p:style>
            <a:lnRef idx="2">
              <a:schemeClr val="dk2">
                <a:hueOff val="0"/>
                <a:satOff val="0"/>
                <a:lumOff val="0"/>
                <a:alphaOff val="0"/>
              </a:schemeClr>
            </a:lnRef>
            <a:fillRef idx="1">
              <a:schemeClr val="lt2">
                <a:alpha val="90000"/>
                <a:hueOff val="0"/>
                <a:satOff val="0"/>
                <a:lumOff val="0"/>
                <a:alphaOff val="0"/>
              </a:schemeClr>
            </a:fillRef>
            <a:effectRef idx="0">
              <a:schemeClr val="lt2">
                <a:alpha val="90000"/>
                <a:hueOff val="0"/>
                <a:satOff val="0"/>
                <a:lumOff val="0"/>
                <a:alphaOff val="0"/>
              </a:schemeClr>
            </a:effectRef>
            <a:fontRef idx="minor">
              <a:schemeClr val="dk1">
                <a:hueOff val="0"/>
                <a:satOff val="0"/>
                <a:lumOff val="0"/>
                <a:alphaOff val="0"/>
              </a:schemeClr>
            </a:fontRef>
          </p:style>
        </p:sp>
        <p:sp>
          <p:nvSpPr>
            <p:cNvPr id="13" name="Freeform 12"/>
            <p:cNvSpPr/>
            <p:nvPr/>
          </p:nvSpPr>
          <p:spPr>
            <a:xfrm>
              <a:off x="990600" y="3969360"/>
              <a:ext cx="4267200" cy="432000"/>
            </a:xfrm>
            <a:custGeom>
              <a:avLst/>
              <a:gdLst>
                <a:gd name="connsiteX0" fmla="*/ 0 w 4267200"/>
                <a:gd name="connsiteY0" fmla="*/ 63961 h 383760"/>
                <a:gd name="connsiteX1" fmla="*/ 63961 w 4267200"/>
                <a:gd name="connsiteY1" fmla="*/ 0 h 383760"/>
                <a:gd name="connsiteX2" fmla="*/ 4203239 w 4267200"/>
                <a:gd name="connsiteY2" fmla="*/ 0 h 383760"/>
                <a:gd name="connsiteX3" fmla="*/ 4267200 w 4267200"/>
                <a:gd name="connsiteY3" fmla="*/ 63961 h 383760"/>
                <a:gd name="connsiteX4" fmla="*/ 4267200 w 4267200"/>
                <a:gd name="connsiteY4" fmla="*/ 319799 h 383760"/>
                <a:gd name="connsiteX5" fmla="*/ 4203239 w 4267200"/>
                <a:gd name="connsiteY5" fmla="*/ 383760 h 383760"/>
                <a:gd name="connsiteX6" fmla="*/ 63961 w 4267200"/>
                <a:gd name="connsiteY6" fmla="*/ 383760 h 383760"/>
                <a:gd name="connsiteX7" fmla="*/ 0 w 4267200"/>
                <a:gd name="connsiteY7" fmla="*/ 319799 h 383760"/>
                <a:gd name="connsiteX8" fmla="*/ 0 w 4267200"/>
                <a:gd name="connsiteY8" fmla="*/ 63961 h 3837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267200" h="383760">
                  <a:moveTo>
                    <a:pt x="0" y="63961"/>
                  </a:moveTo>
                  <a:cubicBezTo>
                    <a:pt x="0" y="28636"/>
                    <a:pt x="28636" y="0"/>
                    <a:pt x="63961" y="0"/>
                  </a:cubicBezTo>
                  <a:lnTo>
                    <a:pt x="4203239" y="0"/>
                  </a:lnTo>
                  <a:cubicBezTo>
                    <a:pt x="4238564" y="0"/>
                    <a:pt x="4267200" y="28636"/>
                    <a:pt x="4267200" y="63961"/>
                  </a:cubicBezTo>
                  <a:lnTo>
                    <a:pt x="4267200" y="319799"/>
                  </a:lnTo>
                  <a:cubicBezTo>
                    <a:pt x="4267200" y="355124"/>
                    <a:pt x="4238564" y="383760"/>
                    <a:pt x="4203239" y="383760"/>
                  </a:cubicBezTo>
                  <a:lnTo>
                    <a:pt x="63961" y="383760"/>
                  </a:lnTo>
                  <a:cubicBezTo>
                    <a:pt x="28636" y="383760"/>
                    <a:pt x="0" y="355124"/>
                    <a:pt x="0" y="319799"/>
                  </a:cubicBezTo>
                  <a:lnTo>
                    <a:pt x="0" y="63961"/>
                  </a:lnTo>
                  <a:close/>
                </a:path>
              </a:pathLst>
            </a:custGeom>
          </p:spPr>
          <p:style>
            <a:lnRef idx="2">
              <a:schemeClr val="lt2">
                <a:hueOff val="0"/>
                <a:satOff val="0"/>
                <a:lumOff val="0"/>
                <a:alphaOff val="0"/>
              </a:schemeClr>
            </a:lnRef>
            <a:fillRef idx="1">
              <a:schemeClr val="dk2">
                <a:hueOff val="0"/>
                <a:satOff val="0"/>
                <a:lumOff val="0"/>
                <a:alphaOff val="0"/>
              </a:schemeClr>
            </a:fillRef>
            <a:effectRef idx="0">
              <a:schemeClr val="dk2">
                <a:hueOff val="0"/>
                <a:satOff val="0"/>
                <a:lumOff val="0"/>
                <a:alphaOff val="0"/>
              </a:schemeClr>
            </a:effectRef>
            <a:fontRef idx="minor">
              <a:schemeClr val="lt1"/>
            </a:fontRef>
          </p:style>
          <p:txBody>
            <a:bodyPr spcFirstLastPara="0" vert="horz" wrap="square" lIns="180024" tIns="18734" rIns="180024" bIns="18734" numCol="1" spcCol="1270" anchor="ctr" anchorCtr="0">
              <a:noAutofit/>
            </a:bodyPr>
            <a:lstStyle/>
            <a:p>
              <a:pPr marL="266700" indent="-266700" defTabSz="533400">
                <a:lnSpc>
                  <a:spcPct val="90000"/>
                </a:lnSpc>
                <a:spcBef>
                  <a:spcPct val="0"/>
                </a:spcBef>
                <a:spcAft>
                  <a:spcPct val="35000"/>
                </a:spcAft>
              </a:pPr>
              <a:r>
                <a:rPr lang="en-US" sz="1200" b="1" i="1" kern="1200" dirty="0" smtClean="0">
                  <a:latin typeface="Helvetica" pitchFamily="34" charset="0"/>
                </a:rPr>
                <a:t>2.4	</a:t>
              </a:r>
              <a:r>
                <a:rPr lang="en-AU" sz="1200" b="1" i="1" dirty="0">
                  <a:latin typeface="Helvetica" pitchFamily="34" charset="0"/>
                </a:rPr>
                <a:t>Apply change management skills to facilitate the introduction and establishment of the </a:t>
              </a:r>
              <a:r>
                <a:rPr lang="en-AU" sz="1200" b="1" i="1" dirty="0" smtClean="0">
                  <a:latin typeface="Helvetica" pitchFamily="34" charset="0"/>
                </a:rPr>
                <a:t>initiative</a:t>
              </a:r>
              <a:endParaRPr lang="en-AU" sz="1200" b="1" i="1" kern="1200" dirty="0">
                <a:latin typeface="Helvetica" pitchFamily="34" charset="0"/>
              </a:endParaRPr>
            </a:p>
          </p:txBody>
        </p:sp>
        <p:sp>
          <p:nvSpPr>
            <p:cNvPr id="14" name="Rectangle 13"/>
            <p:cNvSpPr/>
            <p:nvPr/>
          </p:nvSpPr>
          <p:spPr>
            <a:xfrm>
              <a:off x="685800" y="4750920"/>
              <a:ext cx="6096000" cy="327600"/>
            </a:xfrm>
            <a:prstGeom prst="rect">
              <a:avLst/>
            </a:prstGeom>
          </p:spPr>
          <p:style>
            <a:lnRef idx="2">
              <a:schemeClr val="dk2">
                <a:hueOff val="0"/>
                <a:satOff val="0"/>
                <a:lumOff val="0"/>
                <a:alphaOff val="0"/>
              </a:schemeClr>
            </a:lnRef>
            <a:fillRef idx="1">
              <a:schemeClr val="lt2">
                <a:alpha val="90000"/>
                <a:hueOff val="0"/>
                <a:satOff val="0"/>
                <a:lumOff val="0"/>
                <a:alphaOff val="0"/>
              </a:schemeClr>
            </a:fillRef>
            <a:effectRef idx="0">
              <a:schemeClr val="lt2">
                <a:alpha val="90000"/>
                <a:hueOff val="0"/>
                <a:satOff val="0"/>
                <a:lumOff val="0"/>
                <a:alphaOff val="0"/>
              </a:schemeClr>
            </a:effectRef>
            <a:fontRef idx="minor">
              <a:schemeClr val="dk1">
                <a:hueOff val="0"/>
                <a:satOff val="0"/>
                <a:lumOff val="0"/>
                <a:alphaOff val="0"/>
              </a:schemeClr>
            </a:fontRef>
          </p:style>
        </p:sp>
        <p:sp>
          <p:nvSpPr>
            <p:cNvPr id="15" name="Freeform 14"/>
            <p:cNvSpPr/>
            <p:nvPr/>
          </p:nvSpPr>
          <p:spPr>
            <a:xfrm>
              <a:off x="990600" y="4559040"/>
              <a:ext cx="4267200" cy="432000"/>
            </a:xfrm>
            <a:custGeom>
              <a:avLst/>
              <a:gdLst>
                <a:gd name="connsiteX0" fmla="*/ 0 w 4267200"/>
                <a:gd name="connsiteY0" fmla="*/ 63961 h 383760"/>
                <a:gd name="connsiteX1" fmla="*/ 63961 w 4267200"/>
                <a:gd name="connsiteY1" fmla="*/ 0 h 383760"/>
                <a:gd name="connsiteX2" fmla="*/ 4203239 w 4267200"/>
                <a:gd name="connsiteY2" fmla="*/ 0 h 383760"/>
                <a:gd name="connsiteX3" fmla="*/ 4267200 w 4267200"/>
                <a:gd name="connsiteY3" fmla="*/ 63961 h 383760"/>
                <a:gd name="connsiteX4" fmla="*/ 4267200 w 4267200"/>
                <a:gd name="connsiteY4" fmla="*/ 319799 h 383760"/>
                <a:gd name="connsiteX5" fmla="*/ 4203239 w 4267200"/>
                <a:gd name="connsiteY5" fmla="*/ 383760 h 383760"/>
                <a:gd name="connsiteX6" fmla="*/ 63961 w 4267200"/>
                <a:gd name="connsiteY6" fmla="*/ 383760 h 383760"/>
                <a:gd name="connsiteX7" fmla="*/ 0 w 4267200"/>
                <a:gd name="connsiteY7" fmla="*/ 319799 h 383760"/>
                <a:gd name="connsiteX8" fmla="*/ 0 w 4267200"/>
                <a:gd name="connsiteY8" fmla="*/ 63961 h 3837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267200" h="383760">
                  <a:moveTo>
                    <a:pt x="0" y="63961"/>
                  </a:moveTo>
                  <a:cubicBezTo>
                    <a:pt x="0" y="28636"/>
                    <a:pt x="28636" y="0"/>
                    <a:pt x="63961" y="0"/>
                  </a:cubicBezTo>
                  <a:lnTo>
                    <a:pt x="4203239" y="0"/>
                  </a:lnTo>
                  <a:cubicBezTo>
                    <a:pt x="4238564" y="0"/>
                    <a:pt x="4267200" y="28636"/>
                    <a:pt x="4267200" y="63961"/>
                  </a:cubicBezTo>
                  <a:lnTo>
                    <a:pt x="4267200" y="319799"/>
                  </a:lnTo>
                  <a:cubicBezTo>
                    <a:pt x="4267200" y="355124"/>
                    <a:pt x="4238564" y="383760"/>
                    <a:pt x="4203239" y="383760"/>
                  </a:cubicBezTo>
                  <a:lnTo>
                    <a:pt x="63961" y="383760"/>
                  </a:lnTo>
                  <a:cubicBezTo>
                    <a:pt x="28636" y="383760"/>
                    <a:pt x="0" y="355124"/>
                    <a:pt x="0" y="319799"/>
                  </a:cubicBezTo>
                  <a:lnTo>
                    <a:pt x="0" y="63961"/>
                  </a:lnTo>
                  <a:close/>
                </a:path>
              </a:pathLst>
            </a:custGeom>
          </p:spPr>
          <p:style>
            <a:lnRef idx="2">
              <a:schemeClr val="lt2">
                <a:hueOff val="0"/>
                <a:satOff val="0"/>
                <a:lumOff val="0"/>
                <a:alphaOff val="0"/>
              </a:schemeClr>
            </a:lnRef>
            <a:fillRef idx="1">
              <a:schemeClr val="dk2">
                <a:hueOff val="0"/>
                <a:satOff val="0"/>
                <a:lumOff val="0"/>
                <a:alphaOff val="0"/>
              </a:schemeClr>
            </a:fillRef>
            <a:effectRef idx="0">
              <a:schemeClr val="dk2">
                <a:hueOff val="0"/>
                <a:satOff val="0"/>
                <a:lumOff val="0"/>
                <a:alphaOff val="0"/>
              </a:schemeClr>
            </a:effectRef>
            <a:fontRef idx="minor">
              <a:schemeClr val="lt1"/>
            </a:fontRef>
          </p:style>
          <p:txBody>
            <a:bodyPr spcFirstLastPara="0" vert="horz" wrap="square" lIns="180024" tIns="18734" rIns="180024" bIns="18734" numCol="1" spcCol="1270" anchor="ctr" anchorCtr="0">
              <a:noAutofit/>
            </a:bodyPr>
            <a:lstStyle/>
            <a:p>
              <a:pPr marL="360000" indent="-360000">
                <a:spcBef>
                  <a:spcPts val="600"/>
                </a:spcBef>
                <a:spcAft>
                  <a:spcPts val="1200"/>
                </a:spcAft>
              </a:pPr>
              <a:r>
                <a:rPr lang="en-US" sz="1200" b="1" i="1" kern="1200" dirty="0" smtClean="0">
                  <a:latin typeface="Helvetica" pitchFamily="34" charset="0"/>
                </a:rPr>
                <a:t>2.5	</a:t>
              </a:r>
              <a:r>
                <a:rPr lang="en-AU" sz="1200" b="1" i="1" dirty="0">
                  <a:latin typeface="Helvetica" pitchFamily="34" charset="0"/>
                </a:rPr>
                <a:t>Promote the initiative to customers</a:t>
              </a:r>
              <a:endParaRPr lang="en-US" sz="1400" b="1" i="1" dirty="0">
                <a:latin typeface="Helvetica" pitchFamily="34" charset="0"/>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circle(in)">
                                      <p:cBhvr>
                                        <p:cTn id="7" dur="20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400" b="1" dirty="0" smtClean="0">
                <a:solidFill>
                  <a:srgbClr val="FF6600"/>
                </a:solidFill>
                <a:latin typeface="Helvetica" pitchFamily="34" charset="0"/>
              </a:rPr>
              <a:t>2.1 Trial the initiative in accordance with established plans </a:t>
            </a:r>
            <a:endParaRPr lang="en-US" sz="3400" b="1" dirty="0">
              <a:solidFill>
                <a:srgbClr val="FF6600"/>
              </a:solidFill>
              <a:latin typeface="Helvetica" pitchFamily="34" charset="0"/>
            </a:endParaRPr>
          </a:p>
        </p:txBody>
      </p:sp>
      <p:sp>
        <p:nvSpPr>
          <p:cNvPr id="3" name="Content Placeholder 2"/>
          <p:cNvSpPr>
            <a:spLocks noGrp="1"/>
          </p:cNvSpPr>
          <p:nvPr>
            <p:ph sz="half" idx="1"/>
          </p:nvPr>
        </p:nvSpPr>
        <p:spPr>
          <a:xfrm>
            <a:off x="457200" y="1600200"/>
            <a:ext cx="3810000" cy="4525963"/>
          </a:xfrm>
        </p:spPr>
        <p:txBody>
          <a:bodyPr>
            <a:normAutofit/>
          </a:bodyPr>
          <a:lstStyle/>
          <a:p>
            <a:pPr marL="0" indent="0">
              <a:spcBef>
                <a:spcPts val="600"/>
              </a:spcBef>
              <a:spcAft>
                <a:spcPts val="600"/>
              </a:spcAft>
              <a:buNone/>
            </a:pPr>
            <a:r>
              <a:rPr lang="en-US" sz="2000" dirty="0" smtClean="0">
                <a:latin typeface="Helvetica" pitchFamily="34" charset="0"/>
              </a:rPr>
              <a:t>Trialing a new product or service is important in order to:</a:t>
            </a:r>
          </a:p>
          <a:p>
            <a:pPr marL="360000" indent="-360000">
              <a:spcBef>
                <a:spcPts val="600"/>
              </a:spcBef>
              <a:spcAft>
                <a:spcPts val="600"/>
              </a:spcAft>
            </a:pPr>
            <a:r>
              <a:rPr lang="en-US" sz="2000" dirty="0" smtClean="0">
                <a:latin typeface="Helvetica" pitchFamily="34" charset="0"/>
              </a:rPr>
              <a:t>Check the process</a:t>
            </a:r>
            <a:r>
              <a:rPr lang="en-US" sz="2000" dirty="0">
                <a:latin typeface="Helvetica" pitchFamily="34" charset="0"/>
              </a:rPr>
              <a:t> </a:t>
            </a:r>
            <a:r>
              <a:rPr lang="en-US" sz="2000" dirty="0" smtClean="0">
                <a:latin typeface="Helvetica" pitchFamily="34" charset="0"/>
              </a:rPr>
              <a:t>or activity is ok</a:t>
            </a:r>
          </a:p>
          <a:p>
            <a:pPr marL="360000" indent="-360000">
              <a:spcBef>
                <a:spcPts val="600"/>
              </a:spcBef>
              <a:spcAft>
                <a:spcPts val="600"/>
              </a:spcAft>
            </a:pPr>
            <a:r>
              <a:rPr lang="en-US" sz="2000" dirty="0" smtClean="0">
                <a:latin typeface="Helvetica" pitchFamily="34" charset="0"/>
              </a:rPr>
              <a:t>Identify areas for improvement or issues</a:t>
            </a:r>
          </a:p>
          <a:p>
            <a:pPr marL="360000" indent="-360000">
              <a:spcBef>
                <a:spcPts val="600"/>
              </a:spcBef>
              <a:spcAft>
                <a:spcPts val="600"/>
              </a:spcAft>
            </a:pPr>
            <a:r>
              <a:rPr lang="en-US" sz="2000" dirty="0" smtClean="0">
                <a:latin typeface="Helvetica" pitchFamily="34" charset="0"/>
              </a:rPr>
              <a:t>Check staff skills and knowledge</a:t>
            </a:r>
          </a:p>
          <a:p>
            <a:pPr marL="360000" indent="-360000">
              <a:spcBef>
                <a:spcPts val="600"/>
              </a:spcBef>
              <a:spcAft>
                <a:spcPts val="600"/>
              </a:spcAft>
            </a:pPr>
            <a:r>
              <a:rPr lang="en-US" sz="2000" dirty="0" smtClean="0">
                <a:latin typeface="Helvetica" pitchFamily="34" charset="0"/>
              </a:rPr>
              <a:t>Check equipment or technology</a:t>
            </a:r>
          </a:p>
          <a:p>
            <a:pPr marL="360000" indent="-360000">
              <a:spcBef>
                <a:spcPts val="600"/>
              </a:spcBef>
              <a:spcAft>
                <a:spcPts val="600"/>
              </a:spcAft>
              <a:buNone/>
            </a:pPr>
            <a:endParaRPr lang="en-US" sz="20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27</a:t>
            </a:fld>
            <a:endParaRPr lang="en-US" dirty="0">
              <a:latin typeface="Helvetica" pitchFamily="34" charset="0"/>
            </a:endParaRPr>
          </a:p>
        </p:txBody>
      </p:sp>
      <p:pic>
        <p:nvPicPr>
          <p:cNvPr id="7" name="Content Placeholder 6"/>
          <p:cNvPicPr>
            <a:picLocks noGrp="1"/>
          </p:cNvPicPr>
          <p:nvPr>
            <p:ph sz="half" idx="2"/>
          </p:nvPr>
        </p:nvPicPr>
        <p:blipFill>
          <a:blip r:embed="rId3">
            <a:extLst>
              <a:ext uri="{28A0092B-C50C-407E-A947-70E740481C1C}">
                <a14:useLocalDpi xmlns:a14="http://schemas.microsoft.com/office/drawing/2010/main" val="0"/>
              </a:ext>
            </a:extLst>
          </a:blip>
          <a:stretch>
            <a:fillRect/>
          </a:stretch>
        </p:blipFill>
        <p:spPr>
          <a:xfrm>
            <a:off x="4343400" y="1676400"/>
            <a:ext cx="3657600" cy="36576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circle(in)">
                                      <p:cBhvr>
                                        <p:cTn id="7" dur="20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rot="1298190">
            <a:off x="4745487" y="2480711"/>
            <a:ext cx="3162740" cy="2372055"/>
          </a:xfrm>
          <a:prstGeom prst="rect">
            <a:avLst/>
          </a:prstGeom>
        </p:spPr>
      </p:pic>
      <p:sp>
        <p:nvSpPr>
          <p:cNvPr id="2" name="Title 1"/>
          <p:cNvSpPr>
            <a:spLocks noGrp="1"/>
          </p:cNvSpPr>
          <p:nvPr>
            <p:ph type="title"/>
          </p:nvPr>
        </p:nvSpPr>
        <p:spPr/>
        <p:txBody>
          <a:bodyPr>
            <a:normAutofit/>
          </a:bodyPr>
          <a:lstStyle/>
          <a:p>
            <a:r>
              <a:rPr lang="en-US" sz="3400" b="1" dirty="0" smtClean="0">
                <a:solidFill>
                  <a:srgbClr val="FF6600"/>
                </a:solidFill>
                <a:latin typeface="Helvetica" pitchFamily="34" charset="0"/>
              </a:rPr>
              <a:t>Market testing</a:t>
            </a:r>
            <a:endParaRPr lang="en-US" sz="3400" b="1" dirty="0">
              <a:solidFill>
                <a:srgbClr val="FF6600"/>
              </a:solidFill>
              <a:latin typeface="Helvetica" pitchFamily="34" charset="0"/>
            </a:endParaRPr>
          </a:p>
        </p:txBody>
      </p:sp>
      <p:sp>
        <p:nvSpPr>
          <p:cNvPr id="3" name="Content Placeholder 2"/>
          <p:cNvSpPr>
            <a:spLocks noGrp="1"/>
          </p:cNvSpPr>
          <p:nvPr>
            <p:ph sz="half" idx="1"/>
          </p:nvPr>
        </p:nvSpPr>
        <p:spPr>
          <a:xfrm>
            <a:off x="457199" y="1447800"/>
            <a:ext cx="7696201" cy="4953000"/>
          </a:xfrm>
        </p:spPr>
        <p:txBody>
          <a:bodyPr>
            <a:normAutofit/>
          </a:bodyPr>
          <a:lstStyle/>
          <a:p>
            <a:pPr marL="36576" indent="0">
              <a:spcBef>
                <a:spcPts val="600"/>
              </a:spcBef>
              <a:spcAft>
                <a:spcPts val="600"/>
              </a:spcAft>
              <a:buNone/>
            </a:pPr>
            <a:r>
              <a:rPr lang="en-AU" sz="2000" dirty="0">
                <a:latin typeface="Helvetica"/>
              </a:rPr>
              <a:t>Some ideas for introducing a new product or service could include:</a:t>
            </a:r>
            <a:endParaRPr lang="en-US" sz="2000" dirty="0">
              <a:latin typeface="Helvetica"/>
            </a:endParaRPr>
          </a:p>
          <a:p>
            <a:pPr lvl="0">
              <a:spcBef>
                <a:spcPts val="600"/>
              </a:spcBef>
              <a:spcAft>
                <a:spcPts val="600"/>
              </a:spcAft>
            </a:pPr>
            <a:r>
              <a:rPr lang="en-AU" sz="2000" dirty="0">
                <a:latin typeface="Helvetica"/>
              </a:rPr>
              <a:t>Testing a new menu on some loyal customers and staff or trialling at a private function</a:t>
            </a:r>
            <a:endParaRPr lang="en-US" sz="2000" dirty="0">
              <a:latin typeface="Helvetica"/>
            </a:endParaRPr>
          </a:p>
          <a:p>
            <a:pPr lvl="0">
              <a:spcBef>
                <a:spcPts val="600"/>
              </a:spcBef>
              <a:spcAft>
                <a:spcPts val="600"/>
              </a:spcAft>
            </a:pPr>
            <a:r>
              <a:rPr lang="en-AU" sz="2000" dirty="0">
                <a:latin typeface="Helvetica"/>
              </a:rPr>
              <a:t>Give people a free sample of a </a:t>
            </a:r>
            <a:r>
              <a:rPr lang="en-AU" sz="2000" dirty="0" smtClean="0">
                <a:latin typeface="Helvetica"/>
              </a:rPr>
              <a:t/>
            </a:r>
            <a:br>
              <a:rPr lang="en-AU" sz="2000" dirty="0" smtClean="0">
                <a:latin typeface="Helvetica"/>
              </a:rPr>
            </a:br>
            <a:r>
              <a:rPr lang="en-AU" sz="2000" dirty="0" smtClean="0">
                <a:latin typeface="Helvetica"/>
              </a:rPr>
              <a:t>product </a:t>
            </a:r>
            <a:r>
              <a:rPr lang="en-AU" sz="2000" dirty="0">
                <a:latin typeface="Helvetica"/>
              </a:rPr>
              <a:t>if they complete a </a:t>
            </a:r>
            <a:r>
              <a:rPr lang="en-AU" sz="2000" dirty="0" smtClean="0">
                <a:latin typeface="Helvetica"/>
              </a:rPr>
              <a:t/>
            </a:r>
            <a:br>
              <a:rPr lang="en-AU" sz="2000" dirty="0" smtClean="0">
                <a:latin typeface="Helvetica"/>
              </a:rPr>
            </a:br>
            <a:r>
              <a:rPr lang="en-AU" sz="2000" dirty="0" smtClean="0">
                <a:latin typeface="Helvetica"/>
              </a:rPr>
              <a:t>questionnaire </a:t>
            </a:r>
            <a:r>
              <a:rPr lang="en-AU" sz="2000" dirty="0">
                <a:latin typeface="Helvetica"/>
              </a:rPr>
              <a:t>about it</a:t>
            </a:r>
            <a:endParaRPr lang="en-US" sz="2000" dirty="0">
              <a:latin typeface="Helvetica"/>
            </a:endParaRPr>
          </a:p>
          <a:p>
            <a:pPr lvl="0">
              <a:spcBef>
                <a:spcPts val="600"/>
              </a:spcBef>
              <a:spcAft>
                <a:spcPts val="600"/>
              </a:spcAft>
            </a:pPr>
            <a:r>
              <a:rPr lang="en-AU" sz="2000" dirty="0">
                <a:latin typeface="Helvetica"/>
              </a:rPr>
              <a:t>Develop an online video or </a:t>
            </a:r>
            <a:r>
              <a:rPr lang="en-AU" sz="2000" dirty="0" smtClean="0">
                <a:latin typeface="Helvetica"/>
              </a:rPr>
              <a:t/>
            </a:r>
            <a:br>
              <a:rPr lang="en-AU" sz="2000" dirty="0" smtClean="0">
                <a:latin typeface="Helvetica"/>
              </a:rPr>
            </a:br>
            <a:r>
              <a:rPr lang="en-AU" sz="2000" dirty="0" smtClean="0">
                <a:latin typeface="Helvetica"/>
              </a:rPr>
              <a:t>explanation </a:t>
            </a:r>
            <a:r>
              <a:rPr lang="en-AU" sz="2000" dirty="0">
                <a:latin typeface="Helvetica"/>
              </a:rPr>
              <a:t>of the product or </a:t>
            </a:r>
            <a:r>
              <a:rPr lang="en-AU" sz="2000" dirty="0" smtClean="0">
                <a:latin typeface="Helvetica"/>
              </a:rPr>
              <a:t/>
            </a:r>
            <a:br>
              <a:rPr lang="en-AU" sz="2000" dirty="0" smtClean="0">
                <a:latin typeface="Helvetica"/>
              </a:rPr>
            </a:br>
            <a:r>
              <a:rPr lang="en-AU" sz="2000" dirty="0" smtClean="0">
                <a:latin typeface="Helvetica"/>
              </a:rPr>
              <a:t>service </a:t>
            </a:r>
            <a:r>
              <a:rPr lang="en-AU" sz="2000" dirty="0">
                <a:latin typeface="Helvetica"/>
              </a:rPr>
              <a:t>and send to existing </a:t>
            </a:r>
            <a:r>
              <a:rPr lang="en-AU" sz="2000" dirty="0" smtClean="0">
                <a:latin typeface="Helvetica"/>
              </a:rPr>
              <a:t/>
            </a:r>
            <a:br>
              <a:rPr lang="en-AU" sz="2000" dirty="0" smtClean="0">
                <a:latin typeface="Helvetica"/>
              </a:rPr>
            </a:br>
            <a:r>
              <a:rPr lang="en-AU" sz="2000" dirty="0" smtClean="0">
                <a:latin typeface="Helvetica"/>
              </a:rPr>
              <a:t>customers/staff </a:t>
            </a:r>
            <a:r>
              <a:rPr lang="en-AU" sz="2000" dirty="0">
                <a:latin typeface="Helvetica"/>
              </a:rPr>
              <a:t>for feedback</a:t>
            </a:r>
            <a:endParaRPr lang="en-US" sz="2000" dirty="0">
              <a:latin typeface="Helvetica"/>
            </a:endParaRPr>
          </a:p>
          <a:p>
            <a:pPr lvl="0">
              <a:spcBef>
                <a:spcPts val="600"/>
              </a:spcBef>
              <a:spcAft>
                <a:spcPts val="600"/>
              </a:spcAft>
            </a:pPr>
            <a:r>
              <a:rPr lang="en-AU" sz="2000" dirty="0">
                <a:latin typeface="Helvetica"/>
              </a:rPr>
              <a:t>Invite staff or family and friends of staff to trial the product or service and then ask for feedback</a:t>
            </a:r>
            <a:endParaRPr lang="en-US" sz="2000" dirty="0">
              <a:latin typeface="Helvetica"/>
            </a:endParaRPr>
          </a:p>
          <a:p>
            <a:pPr marL="0" indent="0">
              <a:spcBef>
                <a:spcPts val="600"/>
              </a:spcBef>
              <a:spcAft>
                <a:spcPts val="600"/>
              </a:spcAft>
              <a:buNone/>
            </a:pPr>
            <a:endParaRPr lang="en-US" sz="2000" dirty="0" smtClean="0"/>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28</a:t>
            </a:fld>
            <a:endParaRPr lang="en-US" dirty="0">
              <a:latin typeface="Helvetica" pitchFamily="34" charset="0"/>
            </a:endParaRPr>
          </a:p>
        </p:txBody>
      </p:sp>
    </p:spTree>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419944"/>
          </a:xfrm>
        </p:spPr>
        <p:txBody>
          <a:bodyPr>
            <a:noAutofit/>
          </a:bodyPr>
          <a:lstStyle/>
          <a:p>
            <a:r>
              <a:rPr lang="en-US" sz="3000" b="1" dirty="0" smtClean="0">
                <a:solidFill>
                  <a:srgbClr val="FF6600"/>
                </a:solidFill>
                <a:latin typeface="Helvetica" pitchFamily="34" charset="0"/>
              </a:rPr>
              <a:t>2.2 Revise the initiative as required on the basis of operational matters and customer feedback </a:t>
            </a:r>
            <a:endParaRPr lang="en-US" sz="3000" b="1" dirty="0">
              <a:solidFill>
                <a:srgbClr val="FF6600"/>
              </a:solidFill>
              <a:latin typeface="Helvetica" pitchFamily="34" charset="0"/>
            </a:endParaRPr>
          </a:p>
        </p:txBody>
      </p:sp>
      <p:sp>
        <p:nvSpPr>
          <p:cNvPr id="3" name="Content Placeholder 2"/>
          <p:cNvSpPr>
            <a:spLocks noGrp="1"/>
          </p:cNvSpPr>
          <p:nvPr>
            <p:ph idx="1"/>
          </p:nvPr>
        </p:nvSpPr>
        <p:spPr>
          <a:xfrm>
            <a:off x="611560" y="1905000"/>
            <a:ext cx="7618040" cy="4177755"/>
          </a:xfrm>
        </p:spPr>
        <p:txBody>
          <a:bodyPr>
            <a:normAutofit/>
          </a:bodyPr>
          <a:lstStyle/>
          <a:p>
            <a:pPr marL="0" indent="0">
              <a:spcBef>
                <a:spcPts val="600"/>
              </a:spcBef>
              <a:spcAft>
                <a:spcPts val="1200"/>
              </a:spcAft>
              <a:buNone/>
            </a:pPr>
            <a:r>
              <a:rPr lang="en-AU" sz="2000" dirty="0" smtClean="0">
                <a:latin typeface="Helvetica" pitchFamily="34" charset="0"/>
              </a:rPr>
              <a:t>Gathering feedback is an important part of the product trial process as it enables modifications to be made before the product or service is officially launched. Feedback could be gathered from:</a:t>
            </a:r>
          </a:p>
          <a:p>
            <a:pPr marL="360000" indent="-360000">
              <a:spcBef>
                <a:spcPts val="600"/>
              </a:spcBef>
              <a:spcAft>
                <a:spcPts val="1200"/>
              </a:spcAft>
            </a:pPr>
            <a:r>
              <a:rPr lang="en-AU" sz="2000" dirty="0" smtClean="0">
                <a:latin typeface="Helvetica" pitchFamily="34" charset="0"/>
              </a:rPr>
              <a:t>Staff </a:t>
            </a:r>
          </a:p>
          <a:p>
            <a:pPr marL="360000" indent="-360000">
              <a:spcBef>
                <a:spcPts val="600"/>
              </a:spcBef>
              <a:spcAft>
                <a:spcPts val="1200"/>
              </a:spcAft>
            </a:pPr>
            <a:r>
              <a:rPr lang="en-AU" sz="2000" dirty="0" smtClean="0">
                <a:latin typeface="Helvetica" pitchFamily="34" charset="0"/>
              </a:rPr>
              <a:t>Customers</a:t>
            </a:r>
          </a:p>
          <a:p>
            <a:pPr marL="360000" indent="-360000">
              <a:spcBef>
                <a:spcPts val="600"/>
              </a:spcBef>
              <a:spcAft>
                <a:spcPts val="1200"/>
              </a:spcAft>
            </a:pPr>
            <a:r>
              <a:rPr lang="en-AU" sz="2000" dirty="0" smtClean="0">
                <a:latin typeface="Helvetica" pitchFamily="34" charset="0"/>
              </a:rPr>
              <a:t>Suppliers</a:t>
            </a:r>
          </a:p>
          <a:p>
            <a:pPr marL="360000" indent="-360000">
              <a:spcBef>
                <a:spcPts val="600"/>
              </a:spcBef>
              <a:spcAft>
                <a:spcPts val="1200"/>
              </a:spcAft>
            </a:pPr>
            <a:r>
              <a:rPr lang="en-AU" sz="2000" dirty="0" smtClean="0">
                <a:latin typeface="Helvetica" pitchFamily="34" charset="0"/>
              </a:rPr>
              <a:t>Owners</a:t>
            </a:r>
          </a:p>
          <a:p>
            <a:pPr marL="360000" indent="-360000">
              <a:spcBef>
                <a:spcPts val="600"/>
              </a:spcBef>
              <a:spcAft>
                <a:spcPts val="1200"/>
              </a:spcAft>
            </a:pPr>
            <a:r>
              <a:rPr lang="en-AU" sz="2000" dirty="0" smtClean="0">
                <a:latin typeface="Helvetica" pitchFamily="34" charset="0"/>
              </a:rPr>
              <a:t>Management</a:t>
            </a:r>
          </a:p>
          <a:p>
            <a:pPr marL="360000" indent="-360000">
              <a:spcBef>
                <a:spcPts val="600"/>
              </a:spcBef>
              <a:spcAft>
                <a:spcPts val="1200"/>
              </a:spcAft>
            </a:pPr>
            <a:endParaRPr lang="en-AU" sz="2000" dirty="0" smtClean="0">
              <a:latin typeface="Helvetica" pitchFamily="34" charset="0"/>
            </a:endParaRPr>
          </a:p>
          <a:p>
            <a:pPr marL="360000" indent="-360000">
              <a:spcBef>
                <a:spcPts val="600"/>
              </a:spcBef>
              <a:spcAft>
                <a:spcPts val="1200"/>
              </a:spcAft>
              <a:buNone/>
            </a:pPr>
            <a:endParaRPr lang="en-AU" sz="20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29</a:t>
            </a:fld>
            <a:endParaRPr lang="en-US" dirty="0">
              <a:latin typeface="Helvetica" pitchFamily="34" charset="0"/>
            </a:endParaRPr>
          </a:p>
        </p:txBody>
      </p:sp>
      <p:pic>
        <p:nvPicPr>
          <p:cNvPr id="6" name="Picture 5"/>
          <p:cNvPicPr/>
          <p:nvPr/>
        </p:nvPicPr>
        <p:blipFill>
          <a:blip r:embed="rId3">
            <a:extLst>
              <a:ext uri="{28A0092B-C50C-407E-A947-70E740481C1C}">
                <a14:useLocalDpi xmlns:a14="http://schemas.microsoft.com/office/drawing/2010/main" val="0"/>
              </a:ext>
            </a:extLst>
          </a:blip>
          <a:stretch>
            <a:fillRect/>
          </a:stretch>
        </p:blipFill>
        <p:spPr>
          <a:xfrm>
            <a:off x="3638550" y="3429000"/>
            <a:ext cx="3524250" cy="200406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circle(in)">
                                      <p:cBhvr>
                                        <p:cTn id="7" dur="20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Product or service revisions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920208"/>
          </a:xfrm>
        </p:spPr>
        <p:txBody>
          <a:bodyPr>
            <a:normAutofit lnSpcReduction="10000"/>
          </a:bodyPr>
          <a:lstStyle/>
          <a:p>
            <a:pPr marL="36576" indent="0">
              <a:spcBef>
                <a:spcPts val="600"/>
              </a:spcBef>
              <a:spcAft>
                <a:spcPts val="600"/>
              </a:spcAft>
              <a:buNone/>
            </a:pPr>
            <a:r>
              <a:rPr lang="en-AU" sz="2000" dirty="0">
                <a:latin typeface="Helvetica"/>
              </a:rPr>
              <a:t>Revisions may be necessary due to:</a:t>
            </a:r>
            <a:endParaRPr lang="en-US" sz="2000" dirty="0">
              <a:latin typeface="Helvetica"/>
            </a:endParaRPr>
          </a:p>
          <a:p>
            <a:pPr lvl="0">
              <a:spcBef>
                <a:spcPts val="600"/>
              </a:spcBef>
              <a:spcAft>
                <a:spcPts val="600"/>
              </a:spcAft>
            </a:pPr>
            <a:r>
              <a:rPr lang="en-AU" sz="2000" dirty="0">
                <a:latin typeface="Helvetica"/>
              </a:rPr>
              <a:t>Operational issues such as staff levels, staff skills and training needs, required equipment</a:t>
            </a:r>
            <a:endParaRPr lang="en-US" sz="2000" dirty="0">
              <a:latin typeface="Helvetica"/>
            </a:endParaRPr>
          </a:p>
          <a:p>
            <a:pPr lvl="0">
              <a:spcBef>
                <a:spcPts val="600"/>
              </a:spcBef>
              <a:spcAft>
                <a:spcPts val="600"/>
              </a:spcAft>
            </a:pPr>
            <a:r>
              <a:rPr lang="en-AU" sz="2000" dirty="0">
                <a:latin typeface="Helvetica"/>
              </a:rPr>
              <a:t>Customer likes, dislikes, perceptions </a:t>
            </a:r>
            <a:r>
              <a:rPr lang="en-AU" sz="2000" dirty="0" smtClean="0">
                <a:latin typeface="Helvetica"/>
              </a:rPr>
              <a:t/>
            </a:r>
            <a:br>
              <a:rPr lang="en-AU" sz="2000" dirty="0" smtClean="0">
                <a:latin typeface="Helvetica"/>
              </a:rPr>
            </a:br>
            <a:r>
              <a:rPr lang="en-AU" sz="2000" dirty="0" smtClean="0">
                <a:latin typeface="Helvetica"/>
              </a:rPr>
              <a:t>and </a:t>
            </a:r>
            <a:r>
              <a:rPr lang="en-AU" sz="2000" dirty="0">
                <a:latin typeface="Helvetica"/>
              </a:rPr>
              <a:t>feedback</a:t>
            </a:r>
            <a:endParaRPr lang="en-US" sz="2000" dirty="0">
              <a:latin typeface="Helvetica"/>
            </a:endParaRPr>
          </a:p>
          <a:p>
            <a:pPr lvl="0">
              <a:spcBef>
                <a:spcPts val="600"/>
              </a:spcBef>
              <a:spcAft>
                <a:spcPts val="600"/>
              </a:spcAft>
            </a:pPr>
            <a:r>
              <a:rPr lang="en-AU" sz="2000" dirty="0">
                <a:latin typeface="Helvetica"/>
              </a:rPr>
              <a:t>Staff feedback concerning product </a:t>
            </a:r>
            <a:r>
              <a:rPr lang="en-AU" sz="2000" dirty="0" smtClean="0">
                <a:latin typeface="Helvetica"/>
              </a:rPr>
              <a:t/>
            </a:r>
            <a:br>
              <a:rPr lang="en-AU" sz="2000" dirty="0" smtClean="0">
                <a:latin typeface="Helvetica"/>
              </a:rPr>
            </a:br>
            <a:r>
              <a:rPr lang="en-AU" sz="2000" dirty="0" smtClean="0">
                <a:latin typeface="Helvetica"/>
              </a:rPr>
              <a:t>or </a:t>
            </a:r>
            <a:r>
              <a:rPr lang="en-AU" sz="2000" dirty="0">
                <a:latin typeface="Helvetica"/>
              </a:rPr>
              <a:t>service delivery issues</a:t>
            </a:r>
            <a:endParaRPr lang="en-US" sz="2000" dirty="0">
              <a:latin typeface="Helvetica"/>
            </a:endParaRPr>
          </a:p>
          <a:p>
            <a:pPr lvl="0">
              <a:spcBef>
                <a:spcPts val="600"/>
              </a:spcBef>
              <a:spcAft>
                <a:spcPts val="600"/>
              </a:spcAft>
            </a:pPr>
            <a:r>
              <a:rPr lang="en-AU" sz="2000" dirty="0">
                <a:latin typeface="Helvetica"/>
              </a:rPr>
              <a:t>Supply issues</a:t>
            </a:r>
            <a:endParaRPr lang="en-US" sz="2000" dirty="0">
              <a:latin typeface="Helvetica"/>
            </a:endParaRPr>
          </a:p>
          <a:p>
            <a:pPr lvl="0">
              <a:spcBef>
                <a:spcPts val="600"/>
              </a:spcBef>
              <a:spcAft>
                <a:spcPts val="600"/>
              </a:spcAft>
            </a:pPr>
            <a:r>
              <a:rPr lang="en-AU" sz="2000" dirty="0">
                <a:latin typeface="Helvetica"/>
              </a:rPr>
              <a:t>Cost issues</a:t>
            </a:r>
            <a:endParaRPr lang="en-US" sz="2000" dirty="0">
              <a:latin typeface="Helvetica"/>
            </a:endParaRPr>
          </a:p>
          <a:p>
            <a:pPr lvl="0">
              <a:spcBef>
                <a:spcPts val="600"/>
              </a:spcBef>
              <a:spcAft>
                <a:spcPts val="600"/>
              </a:spcAft>
            </a:pPr>
            <a:r>
              <a:rPr lang="en-AU" sz="2000" dirty="0">
                <a:latin typeface="Helvetica"/>
              </a:rPr>
              <a:t>Timing issues </a:t>
            </a:r>
            <a:endParaRPr lang="en-US" sz="2000" dirty="0">
              <a:latin typeface="Helvetica"/>
            </a:endParaRPr>
          </a:p>
          <a:p>
            <a:pPr lvl="0">
              <a:spcBef>
                <a:spcPts val="600"/>
              </a:spcBef>
              <a:spcAft>
                <a:spcPts val="600"/>
              </a:spcAft>
            </a:pPr>
            <a:r>
              <a:rPr lang="en-AU" sz="2000" dirty="0">
                <a:latin typeface="Helvetica"/>
              </a:rPr>
              <a:t>Product look or design</a:t>
            </a:r>
            <a:endParaRPr lang="en-US" sz="2000" dirty="0">
              <a:latin typeface="Helvetica"/>
            </a:endParaRPr>
          </a:p>
          <a:p>
            <a:pPr lvl="0">
              <a:spcBef>
                <a:spcPts val="600"/>
              </a:spcBef>
              <a:spcAft>
                <a:spcPts val="600"/>
              </a:spcAft>
            </a:pPr>
            <a:r>
              <a:rPr lang="en-AU" sz="2000" dirty="0">
                <a:latin typeface="Helvetica"/>
              </a:rPr>
              <a:t>Product or service delivery processes</a:t>
            </a:r>
            <a:endParaRPr lang="en-US" sz="2000" dirty="0">
              <a:latin typeface="Helvetica"/>
            </a:endParaRPr>
          </a:p>
          <a:p>
            <a:pPr marL="360000" indent="-360000">
              <a:spcBef>
                <a:spcPts val="600"/>
              </a:spcBef>
              <a:spcAft>
                <a:spcPts val="600"/>
              </a:spcAft>
              <a:buNone/>
            </a:pPr>
            <a:endParaRPr lang="en-US" sz="2000" dirty="0" smtClean="0"/>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30</a:t>
            </a:fld>
            <a:endParaRPr lang="en-US" dirty="0">
              <a:latin typeface="Helvetica" pitchFamily="34" charset="0"/>
            </a:endParaRPr>
          </a:p>
        </p:txBody>
      </p:sp>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715000" y="2895600"/>
            <a:ext cx="2327622" cy="2215896"/>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circle(in)">
                                      <p:cBhvr>
                                        <p:cTn id="7" dur="20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2.3 Monitor the introduction and implementation of the initiative</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r>
              <a:rPr lang="en-AU" sz="2000" dirty="0">
                <a:latin typeface="Helvetica"/>
              </a:rPr>
              <a:t>Feedback regarding the introduction of a new product or service can come from many sources but it is important that a system has been developed to collect feedback. </a:t>
            </a:r>
            <a:endParaRPr lang="en-US" sz="2000" dirty="0" smtClean="0">
              <a:latin typeface="Helvetica"/>
            </a:endParaRPr>
          </a:p>
          <a:p>
            <a:pPr marL="360000" indent="-360000">
              <a:spcBef>
                <a:spcPts val="600"/>
              </a:spcBef>
              <a:spcAft>
                <a:spcPts val="1200"/>
              </a:spcAft>
            </a:pPr>
            <a:r>
              <a:rPr lang="en-US" sz="2000" dirty="0" smtClean="0"/>
              <a:t>How is feedback collected in your organization?</a:t>
            </a:r>
          </a:p>
          <a:p>
            <a:pPr marL="360000" indent="-360000">
              <a:spcBef>
                <a:spcPts val="600"/>
              </a:spcBef>
              <a:spcAft>
                <a:spcPts val="1200"/>
              </a:spcAft>
              <a:buNone/>
            </a:pPr>
            <a:endParaRPr lang="en-US" sz="2000" dirty="0" smtClean="0"/>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31</a:t>
            </a:fld>
            <a:endParaRPr lang="en-US" dirty="0">
              <a:latin typeface="Helvetica" pitchFamily="34" charset="0"/>
            </a:endParaRPr>
          </a:p>
        </p:txBody>
      </p:sp>
      <p:pic>
        <p:nvPicPr>
          <p:cNvPr id="6" name="Picture 5"/>
          <p:cNvPicPr/>
          <p:nvPr/>
        </p:nvPicPr>
        <p:blipFill>
          <a:blip r:embed="rId3">
            <a:extLst>
              <a:ext uri="{28A0092B-C50C-407E-A947-70E740481C1C}">
                <a14:useLocalDpi xmlns:a14="http://schemas.microsoft.com/office/drawing/2010/main" val="0"/>
              </a:ext>
            </a:extLst>
          </a:blip>
          <a:stretch>
            <a:fillRect/>
          </a:stretch>
        </p:blipFill>
        <p:spPr>
          <a:xfrm>
            <a:off x="2743200" y="3429000"/>
            <a:ext cx="2345953" cy="24384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circle(in)">
                                      <p:cBhvr>
                                        <p:cTn id="7" dur="20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Feedback survey</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36576" indent="0">
              <a:spcBef>
                <a:spcPts val="600"/>
              </a:spcBef>
              <a:spcAft>
                <a:spcPts val="600"/>
              </a:spcAft>
              <a:buNone/>
            </a:pPr>
            <a:r>
              <a:rPr lang="en-AU" sz="2200" b="1" dirty="0" smtClean="0">
                <a:latin typeface="Helvetica"/>
              </a:rPr>
              <a:t>Activity</a:t>
            </a:r>
            <a:endParaRPr lang="en-US" sz="2200" dirty="0" smtClean="0">
              <a:latin typeface="Helvetica"/>
            </a:endParaRPr>
          </a:p>
          <a:p>
            <a:pPr marL="36576" indent="0">
              <a:spcBef>
                <a:spcPts val="600"/>
              </a:spcBef>
              <a:spcAft>
                <a:spcPts val="600"/>
              </a:spcAft>
              <a:buNone/>
            </a:pPr>
            <a:r>
              <a:rPr lang="en-US" sz="2000" dirty="0" smtClean="0">
                <a:latin typeface="Helvetica"/>
              </a:rPr>
              <a:t>Think </a:t>
            </a:r>
            <a:r>
              <a:rPr lang="en-US" sz="2000" dirty="0">
                <a:latin typeface="Helvetica"/>
              </a:rPr>
              <a:t>about a product or service you use regularly, and complete the survey by circling the appropriate response. Discuss any ideas with your group.</a:t>
            </a:r>
          </a:p>
          <a:p>
            <a:pPr marL="360000" indent="-360000">
              <a:spcBef>
                <a:spcPts val="600"/>
              </a:spcBef>
              <a:spcAft>
                <a:spcPts val="600"/>
              </a:spcAft>
              <a:buNone/>
            </a:pPr>
            <a:endParaRPr lang="en-US" sz="2000" dirty="0" smtClean="0"/>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32</a:t>
            </a:fld>
            <a:endParaRPr lang="en-US" dirty="0">
              <a:latin typeface="Helvetica" pitchFamily="34" charset="0"/>
            </a:endParaRPr>
          </a:p>
        </p:txBody>
      </p:sp>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787527" y="3276600"/>
            <a:ext cx="2632948" cy="2632948"/>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circle(in)">
                                      <p:cBhvr>
                                        <p:cTn id="7" dur="20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419944"/>
          </a:xfrm>
        </p:spPr>
        <p:txBody>
          <a:bodyPr>
            <a:noAutofit/>
          </a:bodyPr>
          <a:lstStyle/>
          <a:p>
            <a:r>
              <a:rPr lang="en-US" sz="3000" b="1" dirty="0" smtClean="0">
                <a:solidFill>
                  <a:srgbClr val="FF6600"/>
                </a:solidFill>
                <a:latin typeface="Helvetica" pitchFamily="34" charset="0"/>
              </a:rPr>
              <a:t>2.5 Apply change management skills to facilitate the introduction and establishment of the initiative </a:t>
            </a:r>
            <a:endParaRPr lang="en-US" sz="3000" b="1" dirty="0">
              <a:solidFill>
                <a:srgbClr val="FF6600"/>
              </a:solidFill>
              <a:latin typeface="Helvetica" pitchFamily="34" charset="0"/>
            </a:endParaRPr>
          </a:p>
        </p:txBody>
      </p:sp>
      <p:sp>
        <p:nvSpPr>
          <p:cNvPr id="3" name="Content Placeholder 2"/>
          <p:cNvSpPr>
            <a:spLocks noGrp="1"/>
          </p:cNvSpPr>
          <p:nvPr>
            <p:ph idx="1"/>
          </p:nvPr>
        </p:nvSpPr>
        <p:spPr>
          <a:xfrm>
            <a:off x="611560" y="1988840"/>
            <a:ext cx="7467600" cy="4093915"/>
          </a:xfrm>
        </p:spPr>
        <p:txBody>
          <a:bodyPr>
            <a:normAutofit/>
          </a:bodyPr>
          <a:lstStyle/>
          <a:p>
            <a:pPr marL="0" indent="0">
              <a:spcBef>
                <a:spcPts val="600"/>
              </a:spcBef>
              <a:spcAft>
                <a:spcPts val="1200"/>
              </a:spcAft>
              <a:buNone/>
            </a:pPr>
            <a:r>
              <a:rPr lang="en-US" sz="2000" dirty="0" smtClean="0">
                <a:latin typeface="Helvetica" pitchFamily="34" charset="0"/>
              </a:rPr>
              <a:t>Change is often difficult for people to accept and introducing a new product or service may require staff and customers to change their habits or routines. It is important that change is handled effectively and carefully in order to avoid resistance. </a:t>
            </a: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33</a:t>
            </a:fld>
            <a:endParaRPr lang="en-US" dirty="0">
              <a:latin typeface="Helvetica" pitchFamily="34" charset="0"/>
            </a:endParaRPr>
          </a:p>
        </p:txBody>
      </p:sp>
      <p:pic>
        <p:nvPicPr>
          <p:cNvPr id="5" name="Picture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295400" y="3352800"/>
            <a:ext cx="5070036" cy="2624071"/>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circle(in)">
                                      <p:cBhvr>
                                        <p:cTn id="7" dur="20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3400" y="332656"/>
            <a:ext cx="7467600" cy="1143000"/>
          </a:xfrm>
        </p:spPr>
        <p:txBody>
          <a:bodyPr>
            <a:normAutofit/>
          </a:bodyPr>
          <a:lstStyle/>
          <a:p>
            <a:r>
              <a:rPr lang="en-US" sz="3400" b="1" dirty="0" smtClean="0">
                <a:solidFill>
                  <a:srgbClr val="FF6600"/>
                </a:solidFill>
                <a:latin typeface="Helvetica" pitchFamily="34" charset="0"/>
              </a:rPr>
              <a:t>New product or service change issues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533400" y="1556792"/>
            <a:ext cx="7467600" cy="4525963"/>
          </a:xfrm>
        </p:spPr>
        <p:txBody>
          <a:bodyPr>
            <a:normAutofit lnSpcReduction="10000"/>
          </a:bodyPr>
          <a:lstStyle/>
          <a:p>
            <a:pPr marL="36576" indent="0">
              <a:spcBef>
                <a:spcPts val="600"/>
              </a:spcBef>
              <a:spcAft>
                <a:spcPts val="600"/>
              </a:spcAft>
              <a:buNone/>
            </a:pPr>
            <a:r>
              <a:rPr lang="en-AU" sz="1800" dirty="0">
                <a:latin typeface="Helvetica"/>
              </a:rPr>
              <a:t>Introducing a new product or service may require management and supervisors to:</a:t>
            </a:r>
            <a:endParaRPr lang="en-US" sz="1800" dirty="0">
              <a:latin typeface="Helvetica"/>
            </a:endParaRPr>
          </a:p>
          <a:p>
            <a:pPr lvl="0">
              <a:spcBef>
                <a:spcPts val="600"/>
              </a:spcBef>
              <a:spcAft>
                <a:spcPts val="600"/>
              </a:spcAft>
            </a:pPr>
            <a:r>
              <a:rPr lang="en-AU" sz="1800" dirty="0">
                <a:latin typeface="Helvetica"/>
              </a:rPr>
              <a:t>Alter Standard Operating Procedures and explain these changes to staff</a:t>
            </a:r>
            <a:endParaRPr lang="en-US" sz="1800" dirty="0">
              <a:latin typeface="Helvetica"/>
            </a:endParaRPr>
          </a:p>
          <a:p>
            <a:pPr lvl="0">
              <a:spcBef>
                <a:spcPts val="600"/>
              </a:spcBef>
              <a:spcAft>
                <a:spcPts val="600"/>
              </a:spcAft>
            </a:pPr>
            <a:r>
              <a:rPr lang="en-AU" sz="1800" dirty="0">
                <a:latin typeface="Helvetica"/>
              </a:rPr>
              <a:t>Train staff and provide opportunities </a:t>
            </a:r>
            <a:r>
              <a:rPr lang="en-AU" sz="1800" dirty="0" smtClean="0">
                <a:latin typeface="Helvetica"/>
              </a:rPr>
              <a:t>to</a:t>
            </a:r>
            <a:br>
              <a:rPr lang="en-AU" sz="1800" dirty="0" smtClean="0">
                <a:latin typeface="Helvetica"/>
              </a:rPr>
            </a:br>
            <a:r>
              <a:rPr lang="en-AU" sz="1800" dirty="0" smtClean="0">
                <a:latin typeface="Helvetica"/>
              </a:rPr>
              <a:t> </a:t>
            </a:r>
            <a:r>
              <a:rPr lang="en-AU" sz="1800" dirty="0">
                <a:latin typeface="Helvetica"/>
              </a:rPr>
              <a:t>practice delivering the new product or service</a:t>
            </a:r>
            <a:endParaRPr lang="en-US" sz="1800" dirty="0">
              <a:latin typeface="Helvetica"/>
            </a:endParaRPr>
          </a:p>
          <a:p>
            <a:pPr lvl="0">
              <a:spcBef>
                <a:spcPts val="600"/>
              </a:spcBef>
              <a:spcAft>
                <a:spcPts val="600"/>
              </a:spcAft>
            </a:pPr>
            <a:r>
              <a:rPr lang="en-AU" sz="1800" dirty="0">
                <a:latin typeface="Helvetica"/>
              </a:rPr>
              <a:t>Support staff during the introductory stage </a:t>
            </a:r>
            <a:r>
              <a:rPr lang="en-AU" sz="1800" dirty="0" smtClean="0">
                <a:latin typeface="Helvetica"/>
              </a:rPr>
              <a:t/>
            </a:r>
            <a:br>
              <a:rPr lang="en-AU" sz="1800" dirty="0" smtClean="0">
                <a:latin typeface="Helvetica"/>
              </a:rPr>
            </a:br>
            <a:r>
              <a:rPr lang="en-AU" sz="1800" dirty="0" smtClean="0">
                <a:latin typeface="Helvetica"/>
              </a:rPr>
              <a:t>of </a:t>
            </a:r>
            <a:r>
              <a:rPr lang="en-AU" sz="1800" dirty="0">
                <a:latin typeface="Helvetica"/>
              </a:rPr>
              <a:t>the initiative by informing staff about </a:t>
            </a:r>
            <a:r>
              <a:rPr lang="en-AU" sz="1800" dirty="0" smtClean="0">
                <a:latin typeface="Helvetica"/>
              </a:rPr>
              <a:t/>
            </a:r>
            <a:br>
              <a:rPr lang="en-AU" sz="1800" dirty="0" smtClean="0">
                <a:latin typeface="Helvetica"/>
              </a:rPr>
            </a:br>
            <a:r>
              <a:rPr lang="en-AU" sz="1800" dirty="0" smtClean="0">
                <a:latin typeface="Helvetica"/>
              </a:rPr>
              <a:t>what </a:t>
            </a:r>
            <a:r>
              <a:rPr lang="en-AU" sz="1800" dirty="0">
                <a:latin typeface="Helvetica"/>
              </a:rPr>
              <a:t>support is available and how to access it</a:t>
            </a:r>
            <a:endParaRPr lang="en-US" sz="1800" dirty="0">
              <a:latin typeface="Helvetica"/>
            </a:endParaRPr>
          </a:p>
          <a:p>
            <a:pPr lvl="0">
              <a:spcBef>
                <a:spcPts val="600"/>
              </a:spcBef>
              <a:spcAft>
                <a:spcPts val="600"/>
              </a:spcAft>
            </a:pPr>
            <a:r>
              <a:rPr lang="en-AU" sz="1800" dirty="0">
                <a:latin typeface="Helvetica"/>
              </a:rPr>
              <a:t>Change staff resource structures and teams</a:t>
            </a:r>
            <a:endParaRPr lang="en-US" sz="1800" dirty="0">
              <a:latin typeface="Helvetica"/>
            </a:endParaRPr>
          </a:p>
          <a:p>
            <a:pPr lvl="0">
              <a:spcBef>
                <a:spcPts val="600"/>
              </a:spcBef>
              <a:spcAft>
                <a:spcPts val="600"/>
              </a:spcAft>
            </a:pPr>
            <a:r>
              <a:rPr lang="en-AU" sz="1800" dirty="0">
                <a:latin typeface="Helvetica"/>
              </a:rPr>
              <a:t>Communicate progress and highlights/issues </a:t>
            </a:r>
            <a:r>
              <a:rPr lang="en-AU" sz="1800" dirty="0" smtClean="0">
                <a:latin typeface="Helvetica"/>
              </a:rPr>
              <a:t/>
            </a:r>
            <a:br>
              <a:rPr lang="en-AU" sz="1800" dirty="0" smtClean="0">
                <a:latin typeface="Helvetica"/>
              </a:rPr>
            </a:br>
            <a:r>
              <a:rPr lang="en-AU" sz="1800" dirty="0" smtClean="0">
                <a:latin typeface="Helvetica"/>
              </a:rPr>
              <a:t>to </a:t>
            </a:r>
            <a:r>
              <a:rPr lang="en-AU" sz="1800" dirty="0">
                <a:latin typeface="Helvetica"/>
              </a:rPr>
              <a:t>staff and stakeholders</a:t>
            </a:r>
            <a:endParaRPr lang="en-US" sz="1800" dirty="0">
              <a:latin typeface="Helvetica"/>
            </a:endParaRPr>
          </a:p>
          <a:p>
            <a:pPr lvl="0">
              <a:spcBef>
                <a:spcPts val="600"/>
              </a:spcBef>
              <a:spcAft>
                <a:spcPts val="600"/>
              </a:spcAft>
            </a:pPr>
            <a:r>
              <a:rPr lang="en-AU" sz="1800" dirty="0">
                <a:latin typeface="Helvetica"/>
              </a:rPr>
              <a:t>Help staff overcome resistance to change</a:t>
            </a:r>
            <a:endParaRPr lang="en-US" sz="1800" dirty="0">
              <a:latin typeface="Helvetica"/>
            </a:endParaRPr>
          </a:p>
          <a:p>
            <a:pPr marL="360000" indent="-360000">
              <a:spcBef>
                <a:spcPts val="600"/>
              </a:spcBef>
              <a:spcAft>
                <a:spcPts val="600"/>
              </a:spcAft>
              <a:buNone/>
            </a:pPr>
            <a:endParaRPr lang="en-US" sz="1800" dirty="0" smtClean="0"/>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34</a:t>
            </a:fld>
            <a:endParaRPr lang="en-US" dirty="0">
              <a:latin typeface="Helvetica" pitchFamily="34" charset="0"/>
            </a:endParaRPr>
          </a:p>
        </p:txBody>
      </p:sp>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845175" y="2895600"/>
            <a:ext cx="2527300" cy="1895475"/>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circle(in)">
                                      <p:cBhvr>
                                        <p:cTn id="7" dur="20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32656"/>
            <a:ext cx="7467600" cy="810344"/>
          </a:xfrm>
        </p:spPr>
        <p:txBody>
          <a:bodyPr>
            <a:normAutofit/>
          </a:bodyPr>
          <a:lstStyle/>
          <a:p>
            <a:r>
              <a:rPr lang="en-AU" sz="3400" b="1" dirty="0" smtClean="0">
                <a:solidFill>
                  <a:srgbClr val="FF6600"/>
                </a:solidFill>
                <a:latin typeface="Helvetica" pitchFamily="34" charset="0"/>
              </a:rPr>
              <a:t>Kotter’s 8 step change model</a:t>
            </a:r>
            <a:endParaRPr lang="en-AU" sz="3400" b="1" dirty="0">
              <a:solidFill>
                <a:srgbClr val="FF6600"/>
              </a:solidFill>
              <a:latin typeface="Helvetica" pitchFamily="34" charset="0"/>
            </a:endParaRPr>
          </a:p>
        </p:txBody>
      </p:sp>
      <p:sp>
        <p:nvSpPr>
          <p:cNvPr id="3" name="Content Placeholder 2"/>
          <p:cNvSpPr>
            <a:spLocks noGrp="1"/>
          </p:cNvSpPr>
          <p:nvPr>
            <p:ph idx="1"/>
          </p:nvPr>
        </p:nvSpPr>
        <p:spPr>
          <a:xfrm>
            <a:off x="457200" y="1295400"/>
            <a:ext cx="7620000" cy="5334000"/>
          </a:xfrm>
        </p:spPr>
        <p:txBody>
          <a:bodyPr>
            <a:noAutofit/>
          </a:bodyPr>
          <a:lstStyle/>
          <a:p>
            <a:pPr lvl="0">
              <a:spcBef>
                <a:spcPts val="600"/>
              </a:spcBef>
              <a:spcAft>
                <a:spcPts val="600"/>
              </a:spcAft>
              <a:buClrTx/>
              <a:buSzPct val="100000"/>
              <a:buFont typeface="+mj-lt"/>
              <a:buAutoNum type="arabicPeriod"/>
            </a:pPr>
            <a:r>
              <a:rPr lang="en-AU" sz="1800" b="1" dirty="0">
                <a:latin typeface="Helvetica"/>
              </a:rPr>
              <a:t>Increase urgency </a:t>
            </a:r>
            <a:r>
              <a:rPr lang="en-AU" sz="1800" dirty="0" smtClean="0">
                <a:latin typeface="Helvetica"/>
              </a:rPr>
              <a:t>– Inspire </a:t>
            </a:r>
            <a:r>
              <a:rPr lang="en-AU" sz="1800" dirty="0">
                <a:latin typeface="Helvetica"/>
              </a:rPr>
              <a:t>people to move, make objectives real and </a:t>
            </a:r>
            <a:r>
              <a:rPr lang="en-AU" sz="1800" dirty="0" smtClean="0">
                <a:latin typeface="Helvetica"/>
              </a:rPr>
              <a:t>relevant.</a:t>
            </a:r>
            <a:endParaRPr lang="en-US" sz="1800" dirty="0">
              <a:latin typeface="Helvetica"/>
            </a:endParaRPr>
          </a:p>
          <a:p>
            <a:pPr lvl="0">
              <a:spcBef>
                <a:spcPts val="600"/>
              </a:spcBef>
              <a:spcAft>
                <a:spcPts val="600"/>
              </a:spcAft>
              <a:buClrTx/>
              <a:buSzPct val="100000"/>
              <a:buFont typeface="+mj-lt"/>
              <a:buAutoNum type="arabicPeriod"/>
            </a:pPr>
            <a:r>
              <a:rPr lang="en-AU" sz="1800" b="1" dirty="0">
                <a:latin typeface="Helvetica"/>
              </a:rPr>
              <a:t>Build the guiding team </a:t>
            </a:r>
            <a:r>
              <a:rPr lang="en-AU" sz="1800" dirty="0" smtClean="0">
                <a:latin typeface="Helvetica"/>
              </a:rPr>
              <a:t>– Get </a:t>
            </a:r>
            <a:r>
              <a:rPr lang="en-AU" sz="1800" dirty="0">
                <a:latin typeface="Helvetica"/>
              </a:rPr>
              <a:t>the right people in place with the right emotional commitment, and the right mix of skills and </a:t>
            </a:r>
            <a:r>
              <a:rPr lang="en-AU" sz="1800" dirty="0" smtClean="0">
                <a:latin typeface="Helvetica"/>
              </a:rPr>
              <a:t>levels.</a:t>
            </a:r>
            <a:endParaRPr lang="en-US" sz="1800" dirty="0">
              <a:latin typeface="Helvetica"/>
            </a:endParaRPr>
          </a:p>
          <a:p>
            <a:pPr lvl="0">
              <a:spcBef>
                <a:spcPts val="600"/>
              </a:spcBef>
              <a:spcAft>
                <a:spcPts val="600"/>
              </a:spcAft>
              <a:buClrTx/>
              <a:buSzPct val="100000"/>
              <a:buFont typeface="+mj-lt"/>
              <a:buAutoNum type="arabicPeriod"/>
            </a:pPr>
            <a:r>
              <a:rPr lang="en-AU" sz="1800" b="1" dirty="0">
                <a:latin typeface="Helvetica"/>
              </a:rPr>
              <a:t>Get the vision right </a:t>
            </a:r>
            <a:r>
              <a:rPr lang="en-AU" sz="1800" dirty="0" smtClean="0">
                <a:latin typeface="Helvetica"/>
              </a:rPr>
              <a:t>– Get </a:t>
            </a:r>
            <a:r>
              <a:rPr lang="en-AU" sz="1800" dirty="0">
                <a:latin typeface="Helvetica"/>
              </a:rPr>
              <a:t>the team to establish a simple vision and strategy, focus on emotional and creative aspects necessary to drive service and </a:t>
            </a:r>
            <a:r>
              <a:rPr lang="en-AU" sz="1800" dirty="0" smtClean="0">
                <a:latin typeface="Helvetica"/>
              </a:rPr>
              <a:t>efficiency.</a:t>
            </a:r>
            <a:endParaRPr lang="en-US" sz="1800" dirty="0">
              <a:latin typeface="Helvetica"/>
            </a:endParaRPr>
          </a:p>
          <a:p>
            <a:pPr lvl="0">
              <a:spcBef>
                <a:spcPts val="600"/>
              </a:spcBef>
              <a:spcAft>
                <a:spcPts val="600"/>
              </a:spcAft>
              <a:buClrTx/>
              <a:buSzPct val="100000"/>
              <a:buFont typeface="+mj-lt"/>
              <a:buAutoNum type="arabicPeriod"/>
            </a:pPr>
            <a:r>
              <a:rPr lang="en-AU" sz="1800" b="1" dirty="0">
                <a:latin typeface="Helvetica"/>
              </a:rPr>
              <a:t>Communicate for buy-in </a:t>
            </a:r>
            <a:r>
              <a:rPr lang="en-AU" sz="1800" dirty="0" smtClean="0">
                <a:latin typeface="Helvetica"/>
              </a:rPr>
              <a:t>– Involve </a:t>
            </a:r>
            <a:r>
              <a:rPr lang="en-AU" sz="1800" dirty="0">
                <a:latin typeface="Helvetica"/>
              </a:rPr>
              <a:t>as many </a:t>
            </a:r>
            <a:r>
              <a:rPr lang="en-AU" sz="1800" dirty="0" smtClean="0">
                <a:latin typeface="Helvetica"/>
              </a:rPr>
              <a:t/>
            </a:r>
            <a:br>
              <a:rPr lang="en-AU" sz="1800" dirty="0" smtClean="0">
                <a:latin typeface="Helvetica"/>
              </a:rPr>
            </a:br>
            <a:r>
              <a:rPr lang="en-AU" sz="1800" dirty="0" smtClean="0">
                <a:latin typeface="Helvetica"/>
              </a:rPr>
              <a:t>people </a:t>
            </a:r>
            <a:r>
              <a:rPr lang="en-AU" sz="1800" dirty="0">
                <a:latin typeface="Helvetica"/>
              </a:rPr>
              <a:t>as possible, communicate the </a:t>
            </a:r>
            <a:r>
              <a:rPr lang="en-AU" sz="1800" dirty="0" smtClean="0">
                <a:latin typeface="Helvetica"/>
              </a:rPr>
              <a:t/>
            </a:r>
            <a:br>
              <a:rPr lang="en-AU" sz="1800" dirty="0" smtClean="0">
                <a:latin typeface="Helvetica"/>
              </a:rPr>
            </a:br>
            <a:r>
              <a:rPr lang="en-AU" sz="1800" dirty="0" smtClean="0">
                <a:latin typeface="Helvetica"/>
              </a:rPr>
              <a:t>essentials</a:t>
            </a:r>
            <a:r>
              <a:rPr lang="en-AU" sz="1800" dirty="0">
                <a:latin typeface="Helvetica"/>
              </a:rPr>
              <a:t>, simply, and to appeal and respond </a:t>
            </a:r>
            <a:r>
              <a:rPr lang="en-AU" sz="1800" dirty="0" smtClean="0">
                <a:latin typeface="Helvetica"/>
              </a:rPr>
              <a:t/>
            </a:r>
            <a:br>
              <a:rPr lang="en-AU" sz="1800" dirty="0" smtClean="0">
                <a:latin typeface="Helvetica"/>
              </a:rPr>
            </a:br>
            <a:r>
              <a:rPr lang="en-AU" sz="1800" dirty="0" smtClean="0">
                <a:latin typeface="Helvetica"/>
              </a:rPr>
              <a:t>to </a:t>
            </a:r>
            <a:r>
              <a:rPr lang="en-AU" sz="1800" dirty="0">
                <a:latin typeface="Helvetica"/>
              </a:rPr>
              <a:t>people's </a:t>
            </a:r>
            <a:r>
              <a:rPr lang="en-AU" sz="1800" dirty="0" smtClean="0">
                <a:latin typeface="Helvetica"/>
              </a:rPr>
              <a:t>needs. De-clutter communications: </a:t>
            </a:r>
            <a:br>
              <a:rPr lang="en-AU" sz="1800" dirty="0" smtClean="0">
                <a:latin typeface="Helvetica"/>
              </a:rPr>
            </a:br>
            <a:r>
              <a:rPr lang="en-AU" sz="1800" dirty="0" smtClean="0">
                <a:latin typeface="Helvetica"/>
              </a:rPr>
              <a:t>make technology work for you rather than against.</a:t>
            </a:r>
          </a:p>
          <a:p>
            <a:pPr lvl="0">
              <a:spcBef>
                <a:spcPts val="600"/>
              </a:spcBef>
              <a:spcAft>
                <a:spcPts val="600"/>
              </a:spcAft>
              <a:buClrTx/>
              <a:buSzPct val="100000"/>
              <a:buFont typeface="+mj-lt"/>
              <a:buAutoNum type="arabicPeriod"/>
            </a:pPr>
            <a:endParaRPr lang="en-AU" sz="1800" dirty="0">
              <a:latin typeface="Helvetica"/>
            </a:endParaRPr>
          </a:p>
          <a:p>
            <a:pPr marL="36576" lvl="0" indent="0">
              <a:spcBef>
                <a:spcPts val="600"/>
              </a:spcBef>
              <a:spcAft>
                <a:spcPts val="600"/>
              </a:spcAft>
              <a:buClrTx/>
              <a:buSzPct val="100000"/>
              <a:buNone/>
            </a:pPr>
            <a:r>
              <a:rPr lang="en-AU" sz="1800" i="1" dirty="0" smtClean="0">
                <a:latin typeface="Helvetica"/>
              </a:rPr>
              <a:t>Continued</a:t>
            </a:r>
            <a:endParaRPr lang="en-US" sz="1800" i="1" dirty="0">
              <a:latin typeface="Helvetica"/>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35</a:t>
            </a:fld>
            <a:endParaRPr lang="en-US" dirty="0">
              <a:latin typeface="Helvetica" pitchFamily="34" charset="0"/>
            </a:endParaRPr>
          </a:p>
        </p:txBody>
      </p:sp>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096000" y="3657600"/>
            <a:ext cx="2420323" cy="1657922"/>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circle(in)">
                                      <p:cBhvr>
                                        <p:cTn id="7" dur="20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90BDF71C-F485-43AE-8825-5070AF1EA8C9}" type="slidenum">
              <a:rPr lang="en-US" smtClean="0"/>
              <a:pPr/>
              <a:t>36</a:t>
            </a:fld>
            <a:endParaRPr lang="en-US" dirty="0"/>
          </a:p>
        </p:txBody>
      </p:sp>
      <p:sp>
        <p:nvSpPr>
          <p:cNvPr id="5" name="Title 1"/>
          <p:cNvSpPr txBox="1">
            <a:spLocks/>
          </p:cNvSpPr>
          <p:nvPr/>
        </p:nvSpPr>
        <p:spPr>
          <a:xfrm>
            <a:off x="611560" y="332656"/>
            <a:ext cx="7467600" cy="886544"/>
          </a:xfrm>
          <a:prstGeom prst="rect">
            <a:avLst/>
          </a:prstGeom>
        </p:spPr>
        <p:txBody>
          <a:bodyPr vert="horz" lIns="45720" rIns="45720" anchor="ctr">
            <a:normAutofit/>
          </a:bodyPr>
          <a:lstStyle>
            <a:lvl1pPr algn="l" rtl="0" eaLnBrk="1" latinLnBrk="0" hangingPunct="1">
              <a:spcBef>
                <a:spcPct val="0"/>
              </a:spcBef>
              <a:buNone/>
              <a:defRPr kumimoji="0" sz="4600" kern="1200">
                <a:solidFill>
                  <a:schemeClr val="tx1"/>
                </a:solidFill>
                <a:latin typeface="+mj-lt"/>
                <a:ea typeface="+mj-ea"/>
                <a:cs typeface="+mj-cs"/>
              </a:defRPr>
            </a:lvl1pPr>
          </a:lstStyle>
          <a:p>
            <a:r>
              <a:rPr lang="en-US" sz="3400" b="1" dirty="0" smtClean="0">
                <a:solidFill>
                  <a:srgbClr val="FF6600"/>
                </a:solidFill>
                <a:latin typeface="Helvetica" pitchFamily="34" charset="0"/>
              </a:rPr>
              <a:t>Kotter’s 8 step change model</a:t>
            </a:r>
            <a:endParaRPr lang="en-US" sz="3400" b="1" dirty="0">
              <a:solidFill>
                <a:srgbClr val="FF6600"/>
              </a:solidFill>
              <a:latin typeface="Helvetica" pitchFamily="34" charset="0"/>
            </a:endParaRPr>
          </a:p>
        </p:txBody>
      </p:sp>
      <p:sp>
        <p:nvSpPr>
          <p:cNvPr id="6" name="Content Placeholder 2"/>
          <p:cNvSpPr txBox="1">
            <a:spLocks/>
          </p:cNvSpPr>
          <p:nvPr/>
        </p:nvSpPr>
        <p:spPr>
          <a:xfrm>
            <a:off x="533400" y="1371600"/>
            <a:ext cx="7620000" cy="5001344"/>
          </a:xfrm>
          <a:prstGeom prst="rect">
            <a:avLst/>
          </a:prstGeom>
        </p:spPr>
        <p:txBody>
          <a:bodyPr vert="horz">
            <a:noAutofit/>
          </a:bodyPr>
          <a:lstStyle>
            <a:lvl1pPr marL="420624" indent="-384048" algn="l" rtl="0" eaLnBrk="1" latinLnBrk="0" hangingPunct="1">
              <a:spcBef>
                <a:spcPct val="20000"/>
              </a:spcBef>
              <a:buClr>
                <a:schemeClr val="accent1"/>
              </a:buClr>
              <a:buSzPct val="80000"/>
              <a:buFont typeface="Wingdings 2"/>
              <a:buChar char=""/>
              <a:defRPr kumimoji="0" sz="3000" kern="1200">
                <a:solidFill>
                  <a:schemeClr val="tx1"/>
                </a:solidFill>
                <a:latin typeface="Helvetica" pitchFamily="34" charset="0"/>
                <a:ea typeface="+mn-ea"/>
                <a:cs typeface="+mn-cs"/>
              </a:defRPr>
            </a:lvl1pPr>
            <a:lvl2pPr marL="722376" indent="-274320" algn="l" rtl="0" eaLnBrk="1" latinLnBrk="0" hangingPunct="1">
              <a:spcBef>
                <a:spcPct val="20000"/>
              </a:spcBef>
              <a:buClr>
                <a:schemeClr val="accent1"/>
              </a:buClr>
              <a:buSzPct val="90000"/>
              <a:buFont typeface="Wingdings 2"/>
              <a:buChar char=""/>
              <a:defRPr kumimoji="0" sz="2600" kern="1200">
                <a:solidFill>
                  <a:schemeClr val="tx1"/>
                </a:solidFill>
                <a:latin typeface="Helvetica" pitchFamily="34" charset="0"/>
                <a:ea typeface="+mn-ea"/>
                <a:cs typeface="+mn-cs"/>
              </a:defRPr>
            </a:lvl2pPr>
            <a:lvl3pPr marL="1005840" indent="-256032" algn="l" rtl="0" eaLnBrk="1" latinLnBrk="0" hangingPunct="1">
              <a:spcBef>
                <a:spcPct val="20000"/>
              </a:spcBef>
              <a:buClr>
                <a:schemeClr val="accent2"/>
              </a:buClr>
              <a:buSzPct val="85000"/>
              <a:buFont typeface="Arial"/>
              <a:buChar char="○"/>
              <a:defRPr kumimoji="0" sz="2400" kern="1200">
                <a:solidFill>
                  <a:schemeClr val="tx1"/>
                </a:solidFill>
                <a:latin typeface="Helvetica" pitchFamily="34" charset="0"/>
                <a:ea typeface="+mn-ea"/>
                <a:cs typeface="+mn-cs"/>
              </a:defRPr>
            </a:lvl3pPr>
            <a:lvl4pPr marL="1280160" indent="-237744" algn="l" rtl="0" eaLnBrk="1" latinLnBrk="0" hangingPunct="1">
              <a:spcBef>
                <a:spcPct val="20000"/>
              </a:spcBef>
              <a:buClr>
                <a:schemeClr val="accent3"/>
              </a:buClr>
              <a:buSzPct val="90000"/>
              <a:buFont typeface="Wingdings 2"/>
              <a:buChar char=""/>
              <a:defRPr kumimoji="0" sz="2000" kern="1200">
                <a:solidFill>
                  <a:schemeClr val="tx1"/>
                </a:solidFill>
                <a:latin typeface="Helvetica" pitchFamily="34" charset="0"/>
                <a:ea typeface="+mn-ea"/>
                <a:cs typeface="+mn-cs"/>
              </a:defRPr>
            </a:lvl4pPr>
            <a:lvl5pPr marL="1490472" indent="-182880" algn="l" rtl="0" eaLnBrk="1" latinLnBrk="0" hangingPunct="1">
              <a:spcBef>
                <a:spcPct val="20000"/>
              </a:spcBef>
              <a:buClr>
                <a:schemeClr val="accent4"/>
              </a:buClr>
              <a:buSzPct val="100000"/>
              <a:buFont typeface="Arial"/>
              <a:buChar char="-"/>
              <a:defRPr kumimoji="0" sz="2000" kern="1200">
                <a:solidFill>
                  <a:schemeClr val="tx1"/>
                </a:solidFill>
                <a:latin typeface="Helvetica" pitchFamily="34" charset="0"/>
                <a:ea typeface="+mn-ea"/>
                <a:cs typeface="+mn-cs"/>
              </a:defRPr>
            </a:lvl5pPr>
            <a:lvl6pPr marL="1700784" indent="-182880" algn="l" rtl="0" eaLnBrk="1" latinLnBrk="0" hangingPunct="1">
              <a:spcBef>
                <a:spcPct val="20000"/>
              </a:spcBef>
              <a:buClr>
                <a:schemeClr val="accent5"/>
              </a:buClr>
              <a:buFont typeface="Arial"/>
              <a:buChar char="-"/>
              <a:defRPr kumimoji="0" sz="2000" kern="1200" baseline="0">
                <a:solidFill>
                  <a:schemeClr val="tx1"/>
                </a:solidFill>
                <a:latin typeface="+mn-lt"/>
                <a:ea typeface="+mn-ea"/>
                <a:cs typeface="+mn-cs"/>
              </a:defRPr>
            </a:lvl6pPr>
            <a:lvl7pPr marL="1920240" indent="-182880" algn="l" rtl="0" eaLnBrk="1" latinLnBrk="0" hangingPunct="1">
              <a:spcBef>
                <a:spcPct val="20000"/>
              </a:spcBef>
              <a:buClr>
                <a:schemeClr val="accent6"/>
              </a:buClr>
              <a:buSzPct val="100000"/>
              <a:buFont typeface="Arial"/>
              <a:buChar char="•"/>
              <a:defRPr kumimoji="0" sz="1800" kern="1200" baseline="0">
                <a:solidFill>
                  <a:schemeClr val="tx1"/>
                </a:solidFill>
                <a:latin typeface="+mn-lt"/>
                <a:ea typeface="+mn-ea"/>
                <a:cs typeface="+mn-cs"/>
              </a:defRPr>
            </a:lvl7pPr>
            <a:lvl8pPr marL="2139696" indent="-182880" algn="l" rtl="0" eaLnBrk="1" latinLnBrk="0" hangingPunct="1">
              <a:spcBef>
                <a:spcPct val="20000"/>
              </a:spcBef>
              <a:buClr>
                <a:schemeClr val="accent6"/>
              </a:buClr>
              <a:buFont typeface="Arial"/>
              <a:buChar char="▪"/>
              <a:defRPr kumimoji="0" sz="1600" kern="1200">
                <a:solidFill>
                  <a:schemeClr val="tx1"/>
                </a:solidFill>
                <a:latin typeface="+mn-lt"/>
                <a:ea typeface="+mn-ea"/>
                <a:cs typeface="+mn-cs"/>
              </a:defRPr>
            </a:lvl8pPr>
            <a:lvl9pPr marL="2331720" indent="-182880" algn="l" rtl="0" eaLnBrk="1" latinLnBrk="0" hangingPunct="1">
              <a:spcBef>
                <a:spcPct val="20000"/>
              </a:spcBef>
              <a:buClr>
                <a:schemeClr val="accent6"/>
              </a:buClr>
              <a:buFont typeface="Arial"/>
              <a:buChar char="•"/>
              <a:defRPr kumimoji="0" sz="1600" kern="1200">
                <a:solidFill>
                  <a:schemeClr val="tx1"/>
                </a:solidFill>
                <a:latin typeface="+mn-lt"/>
                <a:ea typeface="+mn-ea"/>
                <a:cs typeface="+mn-cs"/>
              </a:defRPr>
            </a:lvl9pPr>
          </a:lstStyle>
          <a:p>
            <a:pPr>
              <a:spcBef>
                <a:spcPts val="600"/>
              </a:spcBef>
              <a:spcAft>
                <a:spcPts val="600"/>
              </a:spcAft>
              <a:buClrTx/>
              <a:buSzPct val="100000"/>
              <a:buFont typeface="+mj-lt"/>
              <a:buAutoNum type="arabicPeriod" startAt="4"/>
            </a:pPr>
            <a:r>
              <a:rPr lang="en-AU" sz="1800" b="1" dirty="0" smtClean="0">
                <a:latin typeface="Helvetica"/>
              </a:rPr>
              <a:t>Empower action </a:t>
            </a:r>
            <a:r>
              <a:rPr lang="en-AU" sz="1800" dirty="0" smtClean="0">
                <a:latin typeface="Helvetica"/>
              </a:rPr>
              <a:t>– Remove obstacles, enable constructive feedback and lots of support from leaders – Reward and recognise progress and achievements.</a:t>
            </a:r>
            <a:endParaRPr lang="en-US" sz="1800" dirty="0" smtClean="0">
              <a:latin typeface="Helvetica"/>
            </a:endParaRPr>
          </a:p>
          <a:p>
            <a:pPr>
              <a:spcBef>
                <a:spcPts val="600"/>
              </a:spcBef>
              <a:spcAft>
                <a:spcPts val="600"/>
              </a:spcAft>
              <a:buClrTx/>
              <a:buSzPct val="100000"/>
              <a:buFont typeface="+mj-lt"/>
              <a:buAutoNum type="arabicPeriod" startAt="4"/>
            </a:pPr>
            <a:r>
              <a:rPr lang="en-AU" sz="1800" b="1" dirty="0" smtClean="0">
                <a:latin typeface="Helvetica"/>
              </a:rPr>
              <a:t>Create short-term wins </a:t>
            </a:r>
            <a:r>
              <a:rPr lang="en-AU" sz="1800" dirty="0" smtClean="0">
                <a:latin typeface="Helvetica"/>
              </a:rPr>
              <a:t>– Set aims that are easy to achieve – In bite-size chunks. Manageable numbers of initiatives. Finish current stages before starting new ones.</a:t>
            </a:r>
            <a:endParaRPr lang="en-US" sz="1800" dirty="0" smtClean="0">
              <a:latin typeface="Helvetica"/>
            </a:endParaRPr>
          </a:p>
          <a:p>
            <a:pPr>
              <a:spcBef>
                <a:spcPts val="600"/>
              </a:spcBef>
              <a:spcAft>
                <a:spcPts val="600"/>
              </a:spcAft>
              <a:buClrTx/>
              <a:buSzPct val="100000"/>
              <a:buFont typeface="+mj-lt"/>
              <a:buAutoNum type="arabicPeriod" startAt="4"/>
            </a:pPr>
            <a:r>
              <a:rPr lang="en-AU" sz="1800" b="1" dirty="0" smtClean="0">
                <a:latin typeface="Helvetica"/>
              </a:rPr>
              <a:t>Don't let up </a:t>
            </a:r>
            <a:r>
              <a:rPr lang="en-AU" sz="1800" dirty="0" smtClean="0">
                <a:latin typeface="Helvetica"/>
              </a:rPr>
              <a:t>– Foster and encourage determination </a:t>
            </a:r>
            <a:br>
              <a:rPr lang="en-AU" sz="1800" dirty="0" smtClean="0">
                <a:latin typeface="Helvetica"/>
              </a:rPr>
            </a:br>
            <a:r>
              <a:rPr lang="en-AU" sz="1800" dirty="0" smtClean="0">
                <a:latin typeface="Helvetica"/>
              </a:rPr>
              <a:t>and persistence – Ongoing change - encourage </a:t>
            </a:r>
            <a:br>
              <a:rPr lang="en-AU" sz="1800" dirty="0" smtClean="0">
                <a:latin typeface="Helvetica"/>
              </a:rPr>
            </a:br>
            <a:r>
              <a:rPr lang="en-AU" sz="1800" dirty="0" smtClean="0">
                <a:latin typeface="Helvetica"/>
              </a:rPr>
              <a:t>ongoing progress reporting – Highlight achieved </a:t>
            </a:r>
            <a:br>
              <a:rPr lang="en-AU" sz="1800" dirty="0" smtClean="0">
                <a:latin typeface="Helvetica"/>
              </a:rPr>
            </a:br>
            <a:r>
              <a:rPr lang="en-AU" sz="1800" dirty="0" smtClean="0">
                <a:latin typeface="Helvetica"/>
              </a:rPr>
              <a:t>and future milestones.</a:t>
            </a:r>
            <a:endParaRPr lang="en-US" sz="1800" dirty="0" smtClean="0">
              <a:latin typeface="Helvetica"/>
            </a:endParaRPr>
          </a:p>
          <a:p>
            <a:pPr>
              <a:spcBef>
                <a:spcPts val="600"/>
              </a:spcBef>
              <a:spcAft>
                <a:spcPts val="600"/>
              </a:spcAft>
              <a:buClrTx/>
              <a:buSzPct val="100000"/>
              <a:buFont typeface="+mj-lt"/>
              <a:buAutoNum type="arabicPeriod" startAt="4"/>
            </a:pPr>
            <a:r>
              <a:rPr lang="en-AU" sz="1800" b="1" dirty="0" smtClean="0">
                <a:latin typeface="Helvetica"/>
              </a:rPr>
              <a:t>Make change stick </a:t>
            </a:r>
            <a:r>
              <a:rPr lang="en-AU" sz="1800" dirty="0" smtClean="0">
                <a:latin typeface="Helvetica"/>
              </a:rPr>
              <a:t>– Reinforce the value of </a:t>
            </a:r>
            <a:br>
              <a:rPr lang="en-AU" sz="1800" dirty="0" smtClean="0">
                <a:latin typeface="Helvetica"/>
              </a:rPr>
            </a:br>
            <a:r>
              <a:rPr lang="en-AU" sz="1800" dirty="0" smtClean="0">
                <a:latin typeface="Helvetica"/>
              </a:rPr>
              <a:t>successful change via recruitment, promotion, </a:t>
            </a:r>
            <a:br>
              <a:rPr lang="en-AU" sz="1800" dirty="0" smtClean="0">
                <a:latin typeface="Helvetica"/>
              </a:rPr>
            </a:br>
            <a:r>
              <a:rPr lang="en-AU" sz="1800" dirty="0" smtClean="0">
                <a:latin typeface="Helvetica"/>
              </a:rPr>
              <a:t>new change leaders. Weave change into culture.</a:t>
            </a:r>
            <a:endParaRPr lang="en-US" sz="1800" dirty="0">
              <a:latin typeface="Helvetica"/>
            </a:endParaRPr>
          </a:p>
        </p:txBody>
      </p:sp>
      <p:pic>
        <p:nvPicPr>
          <p:cNvPr id="7" name="Picture 6"/>
          <p:cNvPicPr/>
          <p:nvPr/>
        </p:nvPicPr>
        <p:blipFill>
          <a:blip r:embed="rId3">
            <a:extLst>
              <a:ext uri="{28A0092B-C50C-407E-A947-70E740481C1C}">
                <a14:useLocalDpi xmlns:a14="http://schemas.microsoft.com/office/drawing/2010/main" val="0"/>
              </a:ext>
            </a:extLst>
          </a:blip>
          <a:stretch>
            <a:fillRect/>
          </a:stretch>
        </p:blipFill>
        <p:spPr>
          <a:xfrm>
            <a:off x="6191250" y="3048000"/>
            <a:ext cx="2143125" cy="2143125"/>
          </a:xfrm>
          <a:prstGeom prst="ellipse">
            <a:avLst/>
          </a:prstGeom>
        </p:spPr>
      </p:pic>
    </p:spTree>
    <p:extLst>
      <p:ext uri="{BB962C8B-B14F-4D97-AF65-F5344CB8AC3E}">
        <p14:creationId xmlns:p14="http://schemas.microsoft.com/office/powerpoint/2010/main" val="27538113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circle(in)">
                                      <p:cBhvr>
                                        <p:cTn id="7" dur="20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2.5 Promote the initiative to customers</a:t>
            </a:r>
            <a:endParaRPr lang="en-US" sz="3400" b="1" dirty="0">
              <a:solidFill>
                <a:srgbClr val="FF6600"/>
              </a:solidFill>
              <a:latin typeface="Helvetica" pitchFamily="34" charset="0"/>
            </a:endParaRPr>
          </a:p>
        </p:txBody>
      </p:sp>
      <p:pic>
        <p:nvPicPr>
          <p:cNvPr id="5" name="Content Placeholder 4"/>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1447800" y="1447800"/>
            <a:ext cx="4525962" cy="4525962"/>
          </a:xfrm>
        </p:spPr>
      </p:pic>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37</a:t>
            </a:fld>
            <a:endParaRPr lang="en-US" dirty="0">
              <a:latin typeface="Helvetica"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circle(in)">
                                      <p:cBhvr>
                                        <p:cTn id="7" dur="20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886544"/>
          </a:xfrm>
        </p:spPr>
        <p:txBody>
          <a:bodyPr>
            <a:normAutofit/>
          </a:bodyPr>
          <a:lstStyle/>
          <a:p>
            <a:r>
              <a:rPr lang="en-US" sz="3400" b="1" dirty="0" smtClean="0">
                <a:solidFill>
                  <a:srgbClr val="FF6600"/>
                </a:solidFill>
                <a:latin typeface="Helvetica" pitchFamily="34" charset="0"/>
              </a:rPr>
              <a:t>Promotion ideas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09600" y="1371600"/>
            <a:ext cx="7467600" cy="5105400"/>
          </a:xfrm>
        </p:spPr>
        <p:txBody>
          <a:bodyPr>
            <a:normAutofit/>
          </a:bodyPr>
          <a:lstStyle/>
          <a:p>
            <a:pPr marL="36576" indent="0">
              <a:spcBef>
                <a:spcPts val="600"/>
              </a:spcBef>
              <a:spcAft>
                <a:spcPts val="600"/>
              </a:spcAft>
              <a:buNone/>
            </a:pPr>
            <a:r>
              <a:rPr lang="en-AU" sz="2000" dirty="0">
                <a:latin typeface="Helvetica"/>
              </a:rPr>
              <a:t>Some ideas could be:</a:t>
            </a:r>
            <a:endParaRPr lang="en-US" sz="2000" dirty="0">
              <a:latin typeface="Helvetica"/>
            </a:endParaRPr>
          </a:p>
          <a:p>
            <a:pPr lvl="0">
              <a:spcBef>
                <a:spcPts val="600"/>
              </a:spcBef>
              <a:spcAft>
                <a:spcPts val="600"/>
              </a:spcAft>
            </a:pPr>
            <a:r>
              <a:rPr lang="en-AU" sz="2000" dirty="0">
                <a:latin typeface="Helvetica"/>
              </a:rPr>
              <a:t>Hold a product launch event</a:t>
            </a:r>
            <a:endParaRPr lang="en-US" sz="2000" dirty="0">
              <a:latin typeface="Helvetica"/>
            </a:endParaRPr>
          </a:p>
          <a:p>
            <a:pPr lvl="0">
              <a:spcBef>
                <a:spcPts val="600"/>
              </a:spcBef>
              <a:spcAft>
                <a:spcPts val="600"/>
              </a:spcAft>
            </a:pPr>
            <a:r>
              <a:rPr lang="en-AU" sz="2000" dirty="0">
                <a:latin typeface="Helvetica"/>
              </a:rPr>
              <a:t>Create brochures, flyers and posters and distribute</a:t>
            </a:r>
            <a:endParaRPr lang="en-US" sz="2000" dirty="0">
              <a:latin typeface="Helvetica"/>
            </a:endParaRPr>
          </a:p>
          <a:p>
            <a:pPr lvl="0">
              <a:spcBef>
                <a:spcPts val="600"/>
              </a:spcBef>
              <a:spcAft>
                <a:spcPts val="600"/>
              </a:spcAft>
            </a:pPr>
            <a:r>
              <a:rPr lang="en-AU" sz="2000" dirty="0">
                <a:latin typeface="Helvetica"/>
              </a:rPr>
              <a:t>Website news, emails to customers, social media news release</a:t>
            </a:r>
            <a:endParaRPr lang="en-US" sz="2000" dirty="0">
              <a:latin typeface="Helvetica"/>
            </a:endParaRPr>
          </a:p>
          <a:p>
            <a:pPr lvl="0">
              <a:spcBef>
                <a:spcPts val="600"/>
              </a:spcBef>
              <a:spcAft>
                <a:spcPts val="600"/>
              </a:spcAft>
            </a:pPr>
            <a:r>
              <a:rPr lang="en-AU" sz="2000" dirty="0">
                <a:latin typeface="Helvetica"/>
              </a:rPr>
              <a:t>Discounts for early buyers</a:t>
            </a:r>
            <a:endParaRPr lang="en-US" sz="2000" dirty="0">
              <a:latin typeface="Helvetica"/>
            </a:endParaRPr>
          </a:p>
          <a:p>
            <a:pPr lvl="0">
              <a:spcBef>
                <a:spcPts val="600"/>
              </a:spcBef>
              <a:spcAft>
                <a:spcPts val="600"/>
              </a:spcAft>
            </a:pPr>
            <a:r>
              <a:rPr lang="en-AU" sz="2000" dirty="0">
                <a:latin typeface="Helvetica"/>
              </a:rPr>
              <a:t>Free trials</a:t>
            </a:r>
            <a:endParaRPr lang="en-US" sz="2000" dirty="0">
              <a:latin typeface="Helvetica"/>
            </a:endParaRPr>
          </a:p>
          <a:p>
            <a:pPr lvl="0">
              <a:spcBef>
                <a:spcPts val="600"/>
              </a:spcBef>
              <a:spcAft>
                <a:spcPts val="600"/>
              </a:spcAft>
            </a:pPr>
            <a:r>
              <a:rPr lang="en-AU" sz="2000" dirty="0">
                <a:latin typeface="Helvetica"/>
              </a:rPr>
              <a:t>Newspapers, web banners, TV, </a:t>
            </a:r>
            <a:r>
              <a:rPr lang="en-AU" sz="2000" dirty="0" smtClean="0">
                <a:latin typeface="Helvetica"/>
              </a:rPr>
              <a:t/>
            </a:r>
            <a:br>
              <a:rPr lang="en-AU" sz="2000" dirty="0" smtClean="0">
                <a:latin typeface="Helvetica"/>
              </a:rPr>
            </a:br>
            <a:r>
              <a:rPr lang="en-AU" sz="2000" dirty="0" smtClean="0">
                <a:latin typeface="Helvetica"/>
              </a:rPr>
              <a:t>press </a:t>
            </a:r>
            <a:r>
              <a:rPr lang="en-AU" sz="2000" dirty="0">
                <a:latin typeface="Helvetica"/>
              </a:rPr>
              <a:t>releases</a:t>
            </a:r>
            <a:endParaRPr lang="en-US" sz="2000" dirty="0">
              <a:latin typeface="Helvetica"/>
            </a:endParaRPr>
          </a:p>
          <a:p>
            <a:pPr lvl="0">
              <a:spcBef>
                <a:spcPts val="600"/>
              </a:spcBef>
              <a:spcAft>
                <a:spcPts val="600"/>
              </a:spcAft>
            </a:pPr>
            <a:r>
              <a:rPr lang="en-AU" sz="2000" dirty="0">
                <a:latin typeface="Helvetica"/>
              </a:rPr>
              <a:t>Attend trade/industry shows and </a:t>
            </a:r>
            <a:r>
              <a:rPr lang="en-AU" sz="2000" dirty="0" smtClean="0">
                <a:latin typeface="Helvetica"/>
              </a:rPr>
              <a:t/>
            </a:r>
            <a:br>
              <a:rPr lang="en-AU" sz="2000" dirty="0" smtClean="0">
                <a:latin typeface="Helvetica"/>
              </a:rPr>
            </a:br>
            <a:r>
              <a:rPr lang="en-AU" sz="2000" dirty="0" smtClean="0">
                <a:latin typeface="Helvetica"/>
              </a:rPr>
              <a:t>distribute </a:t>
            </a:r>
            <a:r>
              <a:rPr lang="en-AU" sz="2000" dirty="0">
                <a:latin typeface="Helvetica"/>
              </a:rPr>
              <a:t>information</a:t>
            </a:r>
            <a:endParaRPr lang="en-US" sz="2000" dirty="0">
              <a:latin typeface="Helvetica"/>
            </a:endParaRPr>
          </a:p>
          <a:p>
            <a:pPr lvl="0">
              <a:spcBef>
                <a:spcPts val="600"/>
              </a:spcBef>
              <a:spcAft>
                <a:spcPts val="600"/>
              </a:spcAft>
            </a:pPr>
            <a:r>
              <a:rPr lang="en-AU" sz="2000" dirty="0">
                <a:latin typeface="Helvetica"/>
              </a:rPr>
              <a:t>Utilise customer testimonials</a:t>
            </a:r>
            <a:endParaRPr lang="en-US" sz="2000" dirty="0">
              <a:latin typeface="Helvetica"/>
            </a:endParaRPr>
          </a:p>
          <a:p>
            <a:pPr marL="360000" indent="-360000">
              <a:spcBef>
                <a:spcPts val="600"/>
              </a:spcBef>
              <a:spcAft>
                <a:spcPts val="600"/>
              </a:spcAft>
              <a:buNone/>
            </a:pPr>
            <a:endParaRPr lang="en-US" sz="2000" dirty="0" smtClean="0"/>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38</a:t>
            </a:fld>
            <a:endParaRPr lang="en-US" dirty="0">
              <a:latin typeface="Helvetica" pitchFamily="34" charset="0"/>
            </a:endParaRPr>
          </a:p>
        </p:txBody>
      </p:sp>
      <p:pic>
        <p:nvPicPr>
          <p:cNvPr id="5" name="Picture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334000" y="3352800"/>
            <a:ext cx="2743200" cy="2057400"/>
          </a:xfrm>
          <a:prstGeom prst="ellipse">
            <a:avLst/>
          </a:prstGeom>
          <a:ln>
            <a:noFill/>
          </a:ln>
          <a:effectLst>
            <a:softEdge rad="112500"/>
          </a:effec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circle(in)">
                                      <p:cBhvr>
                                        <p:cTn id="7" dur="20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143000" y="4343400"/>
            <a:ext cx="3048000" cy="2033016"/>
          </a:xfrm>
          <a:prstGeom prst="ellipse">
            <a:avLst/>
          </a:prstGeom>
          <a:ln>
            <a:noFill/>
          </a:ln>
          <a:effectLst>
            <a:softEdge rad="112500"/>
          </a:effectLst>
        </p:spPr>
      </p:pic>
      <p:sp>
        <p:nvSpPr>
          <p:cNvPr id="2" name="Title 1"/>
          <p:cNvSpPr>
            <a:spLocks noGrp="1"/>
          </p:cNvSpPr>
          <p:nvPr>
            <p:ph type="title"/>
          </p:nvPr>
        </p:nvSpPr>
        <p:spPr>
          <a:xfrm>
            <a:off x="611560" y="332656"/>
            <a:ext cx="7467600" cy="962744"/>
          </a:xfrm>
        </p:spPr>
        <p:txBody>
          <a:bodyPr>
            <a:normAutofit/>
          </a:bodyPr>
          <a:lstStyle/>
          <a:p>
            <a:r>
              <a:rPr lang="en-US" sz="3400" b="1" dirty="0" smtClean="0">
                <a:solidFill>
                  <a:srgbClr val="FF6600"/>
                </a:solidFill>
                <a:latin typeface="Helvetica" pitchFamily="34" charset="0"/>
              </a:rPr>
              <a:t>Element 2: Summary</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371600"/>
            <a:ext cx="7467600" cy="5148808"/>
          </a:xfrm>
        </p:spPr>
        <p:txBody>
          <a:bodyPr>
            <a:normAutofit/>
          </a:bodyPr>
          <a:lstStyle/>
          <a:p>
            <a:pPr marL="36576" indent="0">
              <a:spcBef>
                <a:spcPts val="600"/>
              </a:spcBef>
              <a:spcAft>
                <a:spcPts val="600"/>
              </a:spcAft>
              <a:buNone/>
            </a:pPr>
            <a:r>
              <a:rPr lang="en-AU" sz="1800" b="1" dirty="0">
                <a:latin typeface="Helvetica"/>
              </a:rPr>
              <a:t>Implement strategic product initiatives</a:t>
            </a:r>
            <a:endParaRPr lang="en-US" sz="1800" b="1" dirty="0">
              <a:latin typeface="Helvetica"/>
            </a:endParaRPr>
          </a:p>
          <a:p>
            <a:pPr>
              <a:spcBef>
                <a:spcPts val="600"/>
              </a:spcBef>
              <a:spcAft>
                <a:spcPts val="600"/>
              </a:spcAft>
            </a:pPr>
            <a:r>
              <a:rPr lang="en-AU" sz="1800" dirty="0" smtClean="0">
                <a:latin typeface="Helvetica"/>
              </a:rPr>
              <a:t>It </a:t>
            </a:r>
            <a:r>
              <a:rPr lang="en-AU" sz="1800" dirty="0">
                <a:latin typeface="Helvetica"/>
              </a:rPr>
              <a:t>is not effective to rush and introduce a new initiative without testing the product or service </a:t>
            </a:r>
            <a:r>
              <a:rPr lang="en-AU" sz="1800" dirty="0" smtClean="0">
                <a:latin typeface="Helvetica"/>
              </a:rPr>
              <a:t>first</a:t>
            </a:r>
          </a:p>
          <a:p>
            <a:pPr>
              <a:spcBef>
                <a:spcPts val="600"/>
              </a:spcBef>
              <a:spcAft>
                <a:spcPts val="600"/>
              </a:spcAft>
            </a:pPr>
            <a:r>
              <a:rPr lang="en-AU" sz="1800" dirty="0" smtClean="0">
                <a:latin typeface="Helvetica"/>
              </a:rPr>
              <a:t>It </a:t>
            </a:r>
            <a:r>
              <a:rPr lang="en-AU" sz="1800" dirty="0">
                <a:latin typeface="Helvetica"/>
              </a:rPr>
              <a:t>is important to trial the new product and to gather feedback from relevant people in order to see if there are any changes that need to be </a:t>
            </a:r>
            <a:r>
              <a:rPr lang="en-AU" sz="1800" dirty="0" smtClean="0">
                <a:latin typeface="Helvetica"/>
              </a:rPr>
              <a:t>made</a:t>
            </a:r>
          </a:p>
          <a:p>
            <a:pPr>
              <a:spcBef>
                <a:spcPts val="600"/>
              </a:spcBef>
              <a:spcAft>
                <a:spcPts val="600"/>
              </a:spcAft>
            </a:pPr>
            <a:r>
              <a:rPr lang="en-AU" sz="1800" dirty="0" smtClean="0">
                <a:latin typeface="Helvetica"/>
              </a:rPr>
              <a:t>Gathering </a:t>
            </a:r>
            <a:r>
              <a:rPr lang="en-AU" sz="1800" dirty="0">
                <a:latin typeface="Helvetica"/>
              </a:rPr>
              <a:t>feedback from many different stakeholders is </a:t>
            </a:r>
            <a:r>
              <a:rPr lang="en-AU" sz="1800" dirty="0" smtClean="0">
                <a:latin typeface="Helvetica"/>
              </a:rPr>
              <a:t>necessary</a:t>
            </a:r>
          </a:p>
          <a:p>
            <a:pPr>
              <a:spcBef>
                <a:spcPts val="600"/>
              </a:spcBef>
              <a:spcAft>
                <a:spcPts val="600"/>
              </a:spcAft>
            </a:pPr>
            <a:r>
              <a:rPr lang="en-AU" sz="1800" dirty="0" smtClean="0">
                <a:latin typeface="Helvetica"/>
              </a:rPr>
              <a:t>When </a:t>
            </a:r>
            <a:r>
              <a:rPr lang="en-AU" sz="1800" dirty="0">
                <a:latin typeface="Helvetica"/>
              </a:rPr>
              <a:t>changing a product or service, it is important to inform or the relevant people and to communicate the changes </a:t>
            </a:r>
            <a:r>
              <a:rPr lang="en-AU" sz="1800" dirty="0" smtClean="0">
                <a:latin typeface="Helvetica"/>
              </a:rPr>
              <a:t>clearly</a:t>
            </a:r>
            <a:endParaRPr lang="en-US" sz="1800" dirty="0" smtClean="0">
              <a:latin typeface="Helvetica"/>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39</a:t>
            </a:fld>
            <a:endParaRPr lang="en-US" dirty="0">
              <a:latin typeface="Helvetica" pitchFamily="34" charset="0"/>
            </a:endParaRPr>
          </a:p>
        </p:txBody>
      </p:sp>
    </p:spTree>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Element 3: Evaluate strategic product initiatives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752600"/>
            <a:ext cx="7467600" cy="4330155"/>
          </a:xfrm>
        </p:spPr>
        <p:txBody>
          <a:bodyPr>
            <a:normAutofit/>
          </a:bodyPr>
          <a:lstStyle/>
          <a:p>
            <a:pPr marL="0" indent="0">
              <a:spcBef>
                <a:spcPts val="600"/>
              </a:spcBef>
              <a:spcAft>
                <a:spcPts val="1200"/>
              </a:spcAft>
              <a:buNone/>
            </a:pPr>
            <a:r>
              <a:rPr lang="en-US" sz="2200" b="1" dirty="0" smtClean="0">
                <a:latin typeface="Helvetica"/>
              </a:rPr>
              <a:t>Performance criteria:</a:t>
            </a: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40</a:t>
            </a:fld>
            <a:endParaRPr lang="en-US" dirty="0">
              <a:latin typeface="Helvetica" pitchFamily="34" charset="0"/>
            </a:endParaRPr>
          </a:p>
        </p:txBody>
      </p:sp>
      <p:grpSp>
        <p:nvGrpSpPr>
          <p:cNvPr id="5" name="Group 4"/>
          <p:cNvGrpSpPr/>
          <p:nvPr/>
        </p:nvGrpSpPr>
        <p:grpSpPr>
          <a:xfrm>
            <a:off x="762000" y="2465356"/>
            <a:ext cx="6934200" cy="2944844"/>
            <a:chOff x="685800" y="2200319"/>
            <a:chExt cx="6096000" cy="2288521"/>
          </a:xfrm>
        </p:grpSpPr>
        <p:sp>
          <p:nvSpPr>
            <p:cNvPr id="6" name="Rectangle 5"/>
            <p:cNvSpPr/>
            <p:nvPr/>
          </p:nvSpPr>
          <p:spPr>
            <a:xfrm>
              <a:off x="685800" y="2392199"/>
              <a:ext cx="6096000" cy="327600"/>
            </a:xfrm>
            <a:prstGeom prst="rect">
              <a:avLst/>
            </a:prstGeom>
          </p:spPr>
          <p:style>
            <a:lnRef idx="2">
              <a:schemeClr val="dk2">
                <a:hueOff val="0"/>
                <a:satOff val="0"/>
                <a:lumOff val="0"/>
                <a:alphaOff val="0"/>
              </a:schemeClr>
            </a:lnRef>
            <a:fillRef idx="1">
              <a:schemeClr val="lt2">
                <a:alpha val="90000"/>
                <a:hueOff val="0"/>
                <a:satOff val="0"/>
                <a:lumOff val="0"/>
                <a:alphaOff val="0"/>
              </a:schemeClr>
            </a:fillRef>
            <a:effectRef idx="0">
              <a:schemeClr val="lt2">
                <a:alpha val="90000"/>
                <a:hueOff val="0"/>
                <a:satOff val="0"/>
                <a:lumOff val="0"/>
                <a:alphaOff val="0"/>
              </a:schemeClr>
            </a:effectRef>
            <a:fontRef idx="minor">
              <a:schemeClr val="dk1">
                <a:hueOff val="0"/>
                <a:satOff val="0"/>
                <a:lumOff val="0"/>
                <a:alphaOff val="0"/>
              </a:schemeClr>
            </a:fontRef>
          </p:style>
        </p:sp>
        <p:sp>
          <p:nvSpPr>
            <p:cNvPr id="7" name="Freeform 6"/>
            <p:cNvSpPr/>
            <p:nvPr/>
          </p:nvSpPr>
          <p:spPr>
            <a:xfrm>
              <a:off x="990600" y="2200319"/>
              <a:ext cx="4267200" cy="432000"/>
            </a:xfrm>
            <a:custGeom>
              <a:avLst/>
              <a:gdLst>
                <a:gd name="connsiteX0" fmla="*/ 0 w 4267200"/>
                <a:gd name="connsiteY0" fmla="*/ 63961 h 383760"/>
                <a:gd name="connsiteX1" fmla="*/ 63961 w 4267200"/>
                <a:gd name="connsiteY1" fmla="*/ 0 h 383760"/>
                <a:gd name="connsiteX2" fmla="*/ 4203239 w 4267200"/>
                <a:gd name="connsiteY2" fmla="*/ 0 h 383760"/>
                <a:gd name="connsiteX3" fmla="*/ 4267200 w 4267200"/>
                <a:gd name="connsiteY3" fmla="*/ 63961 h 383760"/>
                <a:gd name="connsiteX4" fmla="*/ 4267200 w 4267200"/>
                <a:gd name="connsiteY4" fmla="*/ 319799 h 383760"/>
                <a:gd name="connsiteX5" fmla="*/ 4203239 w 4267200"/>
                <a:gd name="connsiteY5" fmla="*/ 383760 h 383760"/>
                <a:gd name="connsiteX6" fmla="*/ 63961 w 4267200"/>
                <a:gd name="connsiteY6" fmla="*/ 383760 h 383760"/>
                <a:gd name="connsiteX7" fmla="*/ 0 w 4267200"/>
                <a:gd name="connsiteY7" fmla="*/ 319799 h 383760"/>
                <a:gd name="connsiteX8" fmla="*/ 0 w 4267200"/>
                <a:gd name="connsiteY8" fmla="*/ 63961 h 3837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267200" h="383760">
                  <a:moveTo>
                    <a:pt x="0" y="63961"/>
                  </a:moveTo>
                  <a:cubicBezTo>
                    <a:pt x="0" y="28636"/>
                    <a:pt x="28636" y="0"/>
                    <a:pt x="63961" y="0"/>
                  </a:cubicBezTo>
                  <a:lnTo>
                    <a:pt x="4203239" y="0"/>
                  </a:lnTo>
                  <a:cubicBezTo>
                    <a:pt x="4238564" y="0"/>
                    <a:pt x="4267200" y="28636"/>
                    <a:pt x="4267200" y="63961"/>
                  </a:cubicBezTo>
                  <a:lnTo>
                    <a:pt x="4267200" y="319799"/>
                  </a:lnTo>
                  <a:cubicBezTo>
                    <a:pt x="4267200" y="355124"/>
                    <a:pt x="4238564" y="383760"/>
                    <a:pt x="4203239" y="383760"/>
                  </a:cubicBezTo>
                  <a:lnTo>
                    <a:pt x="63961" y="383760"/>
                  </a:lnTo>
                  <a:cubicBezTo>
                    <a:pt x="28636" y="383760"/>
                    <a:pt x="0" y="355124"/>
                    <a:pt x="0" y="319799"/>
                  </a:cubicBezTo>
                  <a:lnTo>
                    <a:pt x="0" y="63961"/>
                  </a:lnTo>
                  <a:close/>
                </a:path>
              </a:pathLst>
            </a:custGeom>
          </p:spPr>
          <p:style>
            <a:lnRef idx="2">
              <a:schemeClr val="lt2">
                <a:hueOff val="0"/>
                <a:satOff val="0"/>
                <a:lumOff val="0"/>
                <a:alphaOff val="0"/>
              </a:schemeClr>
            </a:lnRef>
            <a:fillRef idx="1">
              <a:schemeClr val="dk2">
                <a:hueOff val="0"/>
                <a:satOff val="0"/>
                <a:lumOff val="0"/>
                <a:alphaOff val="0"/>
              </a:schemeClr>
            </a:fillRef>
            <a:effectRef idx="0">
              <a:schemeClr val="dk2">
                <a:hueOff val="0"/>
                <a:satOff val="0"/>
                <a:lumOff val="0"/>
                <a:alphaOff val="0"/>
              </a:schemeClr>
            </a:effectRef>
            <a:fontRef idx="minor">
              <a:schemeClr val="lt1"/>
            </a:fontRef>
          </p:style>
          <p:txBody>
            <a:bodyPr spcFirstLastPara="0" vert="horz" wrap="square" lIns="180024" tIns="18734" rIns="180024" bIns="18734" numCol="1" spcCol="1270" anchor="ctr" anchorCtr="0">
              <a:noAutofit/>
            </a:bodyPr>
            <a:lstStyle/>
            <a:p>
              <a:pPr marL="266700" lvl="0" indent="-266700" defTabSz="533400">
                <a:lnSpc>
                  <a:spcPct val="90000"/>
                </a:lnSpc>
                <a:spcBef>
                  <a:spcPct val="0"/>
                </a:spcBef>
                <a:spcAft>
                  <a:spcPct val="35000"/>
                </a:spcAft>
              </a:pPr>
              <a:r>
                <a:rPr lang="en-US" sz="1200" b="1" i="1" kern="1200" dirty="0" smtClean="0">
                  <a:latin typeface="Helvetica" pitchFamily="34" charset="0"/>
                </a:rPr>
                <a:t>3.1	</a:t>
              </a:r>
              <a:r>
                <a:rPr lang="en-AU" sz="1200" b="1" i="1" dirty="0">
                  <a:latin typeface="Helvetica"/>
                  <a:ea typeface="Times New Roman" panose="02020603050405020304" pitchFamily="18" charset="0"/>
                  <a:cs typeface="Helvetica" panose="020B0604020202020204" pitchFamily="34" charset="0"/>
                </a:rPr>
                <a:t> Record statistical data to enable evaluation against Key Performance Indicators to occur </a:t>
              </a:r>
              <a:endParaRPr lang="en-AU" sz="1200" b="1" i="1" kern="1200" dirty="0">
                <a:latin typeface="Helvetica" pitchFamily="34" charset="0"/>
              </a:endParaRPr>
            </a:p>
          </p:txBody>
        </p:sp>
        <p:sp>
          <p:nvSpPr>
            <p:cNvPr id="8" name="Rectangle 7"/>
            <p:cNvSpPr/>
            <p:nvPr/>
          </p:nvSpPr>
          <p:spPr>
            <a:xfrm>
              <a:off x="685800" y="2981880"/>
              <a:ext cx="6096000" cy="327600"/>
            </a:xfrm>
            <a:prstGeom prst="rect">
              <a:avLst/>
            </a:prstGeom>
          </p:spPr>
          <p:style>
            <a:lnRef idx="2">
              <a:schemeClr val="dk2">
                <a:hueOff val="0"/>
                <a:satOff val="0"/>
                <a:lumOff val="0"/>
                <a:alphaOff val="0"/>
              </a:schemeClr>
            </a:lnRef>
            <a:fillRef idx="1">
              <a:schemeClr val="lt2">
                <a:alpha val="90000"/>
                <a:hueOff val="0"/>
                <a:satOff val="0"/>
                <a:lumOff val="0"/>
                <a:alphaOff val="0"/>
              </a:schemeClr>
            </a:fillRef>
            <a:effectRef idx="0">
              <a:schemeClr val="lt2">
                <a:alpha val="90000"/>
                <a:hueOff val="0"/>
                <a:satOff val="0"/>
                <a:lumOff val="0"/>
                <a:alphaOff val="0"/>
              </a:schemeClr>
            </a:effectRef>
            <a:fontRef idx="minor">
              <a:schemeClr val="dk1">
                <a:hueOff val="0"/>
                <a:satOff val="0"/>
                <a:lumOff val="0"/>
                <a:alphaOff val="0"/>
              </a:schemeClr>
            </a:fontRef>
          </p:style>
        </p:sp>
        <p:sp>
          <p:nvSpPr>
            <p:cNvPr id="9" name="Freeform 8"/>
            <p:cNvSpPr/>
            <p:nvPr/>
          </p:nvSpPr>
          <p:spPr>
            <a:xfrm>
              <a:off x="990600" y="2790000"/>
              <a:ext cx="4267200" cy="432000"/>
            </a:xfrm>
            <a:custGeom>
              <a:avLst/>
              <a:gdLst>
                <a:gd name="connsiteX0" fmla="*/ 0 w 4267200"/>
                <a:gd name="connsiteY0" fmla="*/ 63961 h 383760"/>
                <a:gd name="connsiteX1" fmla="*/ 63961 w 4267200"/>
                <a:gd name="connsiteY1" fmla="*/ 0 h 383760"/>
                <a:gd name="connsiteX2" fmla="*/ 4203239 w 4267200"/>
                <a:gd name="connsiteY2" fmla="*/ 0 h 383760"/>
                <a:gd name="connsiteX3" fmla="*/ 4267200 w 4267200"/>
                <a:gd name="connsiteY3" fmla="*/ 63961 h 383760"/>
                <a:gd name="connsiteX4" fmla="*/ 4267200 w 4267200"/>
                <a:gd name="connsiteY4" fmla="*/ 319799 h 383760"/>
                <a:gd name="connsiteX5" fmla="*/ 4203239 w 4267200"/>
                <a:gd name="connsiteY5" fmla="*/ 383760 h 383760"/>
                <a:gd name="connsiteX6" fmla="*/ 63961 w 4267200"/>
                <a:gd name="connsiteY6" fmla="*/ 383760 h 383760"/>
                <a:gd name="connsiteX7" fmla="*/ 0 w 4267200"/>
                <a:gd name="connsiteY7" fmla="*/ 319799 h 383760"/>
                <a:gd name="connsiteX8" fmla="*/ 0 w 4267200"/>
                <a:gd name="connsiteY8" fmla="*/ 63961 h 3837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267200" h="383760">
                  <a:moveTo>
                    <a:pt x="0" y="63961"/>
                  </a:moveTo>
                  <a:cubicBezTo>
                    <a:pt x="0" y="28636"/>
                    <a:pt x="28636" y="0"/>
                    <a:pt x="63961" y="0"/>
                  </a:cubicBezTo>
                  <a:lnTo>
                    <a:pt x="4203239" y="0"/>
                  </a:lnTo>
                  <a:cubicBezTo>
                    <a:pt x="4238564" y="0"/>
                    <a:pt x="4267200" y="28636"/>
                    <a:pt x="4267200" y="63961"/>
                  </a:cubicBezTo>
                  <a:lnTo>
                    <a:pt x="4267200" y="319799"/>
                  </a:lnTo>
                  <a:cubicBezTo>
                    <a:pt x="4267200" y="355124"/>
                    <a:pt x="4238564" y="383760"/>
                    <a:pt x="4203239" y="383760"/>
                  </a:cubicBezTo>
                  <a:lnTo>
                    <a:pt x="63961" y="383760"/>
                  </a:lnTo>
                  <a:cubicBezTo>
                    <a:pt x="28636" y="383760"/>
                    <a:pt x="0" y="355124"/>
                    <a:pt x="0" y="319799"/>
                  </a:cubicBezTo>
                  <a:lnTo>
                    <a:pt x="0" y="63961"/>
                  </a:lnTo>
                  <a:close/>
                </a:path>
              </a:pathLst>
            </a:custGeom>
          </p:spPr>
          <p:style>
            <a:lnRef idx="2">
              <a:schemeClr val="lt2">
                <a:hueOff val="0"/>
                <a:satOff val="0"/>
                <a:lumOff val="0"/>
                <a:alphaOff val="0"/>
              </a:schemeClr>
            </a:lnRef>
            <a:fillRef idx="1">
              <a:schemeClr val="dk2">
                <a:hueOff val="0"/>
                <a:satOff val="0"/>
                <a:lumOff val="0"/>
                <a:alphaOff val="0"/>
              </a:schemeClr>
            </a:fillRef>
            <a:effectRef idx="0">
              <a:schemeClr val="dk2">
                <a:hueOff val="0"/>
                <a:satOff val="0"/>
                <a:lumOff val="0"/>
                <a:alphaOff val="0"/>
              </a:schemeClr>
            </a:effectRef>
            <a:fontRef idx="minor">
              <a:schemeClr val="lt1"/>
            </a:fontRef>
          </p:style>
          <p:txBody>
            <a:bodyPr spcFirstLastPara="0" vert="horz" wrap="square" lIns="180024" tIns="18734" rIns="180024" bIns="18734" numCol="1" spcCol="1270" anchor="ctr" anchorCtr="0">
              <a:noAutofit/>
            </a:bodyPr>
            <a:lstStyle/>
            <a:p>
              <a:pPr marL="266700" indent="-266700" defTabSz="533400">
                <a:lnSpc>
                  <a:spcPct val="90000"/>
                </a:lnSpc>
                <a:spcBef>
                  <a:spcPct val="0"/>
                </a:spcBef>
                <a:spcAft>
                  <a:spcPct val="35000"/>
                </a:spcAft>
              </a:pPr>
              <a:r>
                <a:rPr lang="en-US" sz="1200" b="1" i="1" kern="1200" dirty="0" smtClean="0">
                  <a:latin typeface="Helvetica" pitchFamily="34" charset="0"/>
                </a:rPr>
                <a:t>3.2	</a:t>
              </a:r>
              <a:r>
                <a:rPr lang="en-AU" sz="1200" b="1" i="1" dirty="0">
                  <a:latin typeface="Helvetica"/>
                </a:rPr>
                <a:t>Solicit and record feedback from </a:t>
              </a:r>
              <a:r>
                <a:rPr lang="en-AU" sz="1200" b="1" i="1" dirty="0" smtClean="0">
                  <a:latin typeface="Helvetica"/>
                </a:rPr>
                <a:t>stakeholders</a:t>
              </a:r>
              <a:r>
                <a:rPr lang="en-US" sz="1200" b="1" i="1" kern="1200" dirty="0" smtClean="0">
                  <a:latin typeface="Helvetica" pitchFamily="34" charset="0"/>
                </a:rPr>
                <a:t>	</a:t>
              </a:r>
              <a:endParaRPr lang="en-AU" sz="1200" b="1" i="1" kern="1200" dirty="0">
                <a:latin typeface="Helvetica" pitchFamily="34" charset="0"/>
              </a:endParaRPr>
            </a:p>
          </p:txBody>
        </p:sp>
        <p:sp>
          <p:nvSpPr>
            <p:cNvPr id="10" name="Rectangle 9"/>
            <p:cNvSpPr/>
            <p:nvPr/>
          </p:nvSpPr>
          <p:spPr>
            <a:xfrm>
              <a:off x="685800" y="3571560"/>
              <a:ext cx="6096000" cy="327600"/>
            </a:xfrm>
            <a:prstGeom prst="rect">
              <a:avLst/>
            </a:prstGeom>
          </p:spPr>
          <p:style>
            <a:lnRef idx="2">
              <a:schemeClr val="dk2">
                <a:hueOff val="0"/>
                <a:satOff val="0"/>
                <a:lumOff val="0"/>
                <a:alphaOff val="0"/>
              </a:schemeClr>
            </a:lnRef>
            <a:fillRef idx="1">
              <a:schemeClr val="lt2">
                <a:alpha val="90000"/>
                <a:hueOff val="0"/>
                <a:satOff val="0"/>
                <a:lumOff val="0"/>
                <a:alphaOff val="0"/>
              </a:schemeClr>
            </a:fillRef>
            <a:effectRef idx="0">
              <a:schemeClr val="lt2">
                <a:alpha val="90000"/>
                <a:hueOff val="0"/>
                <a:satOff val="0"/>
                <a:lumOff val="0"/>
                <a:alphaOff val="0"/>
              </a:schemeClr>
            </a:effectRef>
            <a:fontRef idx="minor">
              <a:schemeClr val="dk1">
                <a:hueOff val="0"/>
                <a:satOff val="0"/>
                <a:lumOff val="0"/>
                <a:alphaOff val="0"/>
              </a:schemeClr>
            </a:fontRef>
          </p:style>
        </p:sp>
        <p:sp>
          <p:nvSpPr>
            <p:cNvPr id="11" name="Freeform 10"/>
            <p:cNvSpPr/>
            <p:nvPr/>
          </p:nvSpPr>
          <p:spPr>
            <a:xfrm>
              <a:off x="990600" y="3379680"/>
              <a:ext cx="4267200" cy="432000"/>
            </a:xfrm>
            <a:custGeom>
              <a:avLst/>
              <a:gdLst>
                <a:gd name="connsiteX0" fmla="*/ 0 w 4267200"/>
                <a:gd name="connsiteY0" fmla="*/ 63961 h 383760"/>
                <a:gd name="connsiteX1" fmla="*/ 63961 w 4267200"/>
                <a:gd name="connsiteY1" fmla="*/ 0 h 383760"/>
                <a:gd name="connsiteX2" fmla="*/ 4203239 w 4267200"/>
                <a:gd name="connsiteY2" fmla="*/ 0 h 383760"/>
                <a:gd name="connsiteX3" fmla="*/ 4267200 w 4267200"/>
                <a:gd name="connsiteY3" fmla="*/ 63961 h 383760"/>
                <a:gd name="connsiteX4" fmla="*/ 4267200 w 4267200"/>
                <a:gd name="connsiteY4" fmla="*/ 319799 h 383760"/>
                <a:gd name="connsiteX5" fmla="*/ 4203239 w 4267200"/>
                <a:gd name="connsiteY5" fmla="*/ 383760 h 383760"/>
                <a:gd name="connsiteX6" fmla="*/ 63961 w 4267200"/>
                <a:gd name="connsiteY6" fmla="*/ 383760 h 383760"/>
                <a:gd name="connsiteX7" fmla="*/ 0 w 4267200"/>
                <a:gd name="connsiteY7" fmla="*/ 319799 h 383760"/>
                <a:gd name="connsiteX8" fmla="*/ 0 w 4267200"/>
                <a:gd name="connsiteY8" fmla="*/ 63961 h 3837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267200" h="383760">
                  <a:moveTo>
                    <a:pt x="0" y="63961"/>
                  </a:moveTo>
                  <a:cubicBezTo>
                    <a:pt x="0" y="28636"/>
                    <a:pt x="28636" y="0"/>
                    <a:pt x="63961" y="0"/>
                  </a:cubicBezTo>
                  <a:lnTo>
                    <a:pt x="4203239" y="0"/>
                  </a:lnTo>
                  <a:cubicBezTo>
                    <a:pt x="4238564" y="0"/>
                    <a:pt x="4267200" y="28636"/>
                    <a:pt x="4267200" y="63961"/>
                  </a:cubicBezTo>
                  <a:lnTo>
                    <a:pt x="4267200" y="319799"/>
                  </a:lnTo>
                  <a:cubicBezTo>
                    <a:pt x="4267200" y="355124"/>
                    <a:pt x="4238564" y="383760"/>
                    <a:pt x="4203239" y="383760"/>
                  </a:cubicBezTo>
                  <a:lnTo>
                    <a:pt x="63961" y="383760"/>
                  </a:lnTo>
                  <a:cubicBezTo>
                    <a:pt x="28636" y="383760"/>
                    <a:pt x="0" y="355124"/>
                    <a:pt x="0" y="319799"/>
                  </a:cubicBezTo>
                  <a:lnTo>
                    <a:pt x="0" y="63961"/>
                  </a:lnTo>
                  <a:close/>
                </a:path>
              </a:pathLst>
            </a:custGeom>
          </p:spPr>
          <p:style>
            <a:lnRef idx="2">
              <a:schemeClr val="lt2">
                <a:hueOff val="0"/>
                <a:satOff val="0"/>
                <a:lumOff val="0"/>
                <a:alphaOff val="0"/>
              </a:schemeClr>
            </a:lnRef>
            <a:fillRef idx="1">
              <a:schemeClr val="dk2">
                <a:hueOff val="0"/>
                <a:satOff val="0"/>
                <a:lumOff val="0"/>
                <a:alphaOff val="0"/>
              </a:schemeClr>
            </a:fillRef>
            <a:effectRef idx="0">
              <a:schemeClr val="dk2">
                <a:hueOff val="0"/>
                <a:satOff val="0"/>
                <a:lumOff val="0"/>
                <a:alphaOff val="0"/>
              </a:schemeClr>
            </a:effectRef>
            <a:fontRef idx="minor">
              <a:schemeClr val="lt1"/>
            </a:fontRef>
          </p:style>
          <p:txBody>
            <a:bodyPr spcFirstLastPara="0" vert="horz" wrap="square" lIns="180024" tIns="18734" rIns="180024" bIns="18734" numCol="1" spcCol="1270" anchor="ctr" anchorCtr="0">
              <a:noAutofit/>
            </a:bodyPr>
            <a:lstStyle/>
            <a:p>
              <a:pPr marL="266700" lvl="0" indent="-266700" defTabSz="533400">
                <a:lnSpc>
                  <a:spcPct val="90000"/>
                </a:lnSpc>
                <a:spcBef>
                  <a:spcPct val="0"/>
                </a:spcBef>
                <a:spcAft>
                  <a:spcPct val="35000"/>
                </a:spcAft>
              </a:pPr>
              <a:r>
                <a:rPr lang="en-US" sz="1200" b="1" i="1" kern="1200" dirty="0" smtClean="0">
                  <a:latin typeface="Helvetica" pitchFamily="34" charset="0"/>
                </a:rPr>
                <a:t>3.3	</a:t>
              </a:r>
              <a:r>
                <a:rPr lang="en-AU" sz="1200" b="1" i="1" dirty="0" smtClean="0">
                  <a:latin typeface="Helvetica"/>
                </a:rPr>
                <a:t>Compare </a:t>
              </a:r>
              <a:r>
                <a:rPr lang="en-AU" sz="1200" b="1" i="1" dirty="0">
                  <a:latin typeface="Helvetica"/>
                </a:rPr>
                <a:t>projected outcomes against actual outcomes </a:t>
              </a:r>
              <a:r>
                <a:rPr lang="en-US" sz="1200" b="1" i="1" kern="1200" dirty="0" smtClean="0">
                  <a:latin typeface="Helvetica" pitchFamily="34" charset="0"/>
                </a:rPr>
                <a:t>	</a:t>
              </a:r>
              <a:endParaRPr lang="en-AU" sz="1200" b="1" i="1" kern="1200" dirty="0">
                <a:latin typeface="Helvetica" pitchFamily="34" charset="0"/>
              </a:endParaRPr>
            </a:p>
          </p:txBody>
        </p:sp>
        <p:sp>
          <p:nvSpPr>
            <p:cNvPr id="12" name="Rectangle 11"/>
            <p:cNvSpPr/>
            <p:nvPr/>
          </p:nvSpPr>
          <p:spPr>
            <a:xfrm>
              <a:off x="685800" y="4161240"/>
              <a:ext cx="6096000" cy="327600"/>
            </a:xfrm>
            <a:prstGeom prst="rect">
              <a:avLst/>
            </a:prstGeom>
          </p:spPr>
          <p:style>
            <a:lnRef idx="2">
              <a:schemeClr val="dk2">
                <a:hueOff val="0"/>
                <a:satOff val="0"/>
                <a:lumOff val="0"/>
                <a:alphaOff val="0"/>
              </a:schemeClr>
            </a:lnRef>
            <a:fillRef idx="1">
              <a:schemeClr val="lt2">
                <a:alpha val="90000"/>
                <a:hueOff val="0"/>
                <a:satOff val="0"/>
                <a:lumOff val="0"/>
                <a:alphaOff val="0"/>
              </a:schemeClr>
            </a:fillRef>
            <a:effectRef idx="0">
              <a:schemeClr val="lt2">
                <a:alpha val="90000"/>
                <a:hueOff val="0"/>
                <a:satOff val="0"/>
                <a:lumOff val="0"/>
                <a:alphaOff val="0"/>
              </a:schemeClr>
            </a:effectRef>
            <a:fontRef idx="minor">
              <a:schemeClr val="dk1">
                <a:hueOff val="0"/>
                <a:satOff val="0"/>
                <a:lumOff val="0"/>
                <a:alphaOff val="0"/>
              </a:schemeClr>
            </a:fontRef>
          </p:style>
        </p:sp>
        <p:sp>
          <p:nvSpPr>
            <p:cNvPr id="13" name="Freeform 12"/>
            <p:cNvSpPr/>
            <p:nvPr/>
          </p:nvSpPr>
          <p:spPr>
            <a:xfrm>
              <a:off x="990600" y="3969360"/>
              <a:ext cx="4267200" cy="432000"/>
            </a:xfrm>
            <a:custGeom>
              <a:avLst/>
              <a:gdLst>
                <a:gd name="connsiteX0" fmla="*/ 0 w 4267200"/>
                <a:gd name="connsiteY0" fmla="*/ 63961 h 383760"/>
                <a:gd name="connsiteX1" fmla="*/ 63961 w 4267200"/>
                <a:gd name="connsiteY1" fmla="*/ 0 h 383760"/>
                <a:gd name="connsiteX2" fmla="*/ 4203239 w 4267200"/>
                <a:gd name="connsiteY2" fmla="*/ 0 h 383760"/>
                <a:gd name="connsiteX3" fmla="*/ 4267200 w 4267200"/>
                <a:gd name="connsiteY3" fmla="*/ 63961 h 383760"/>
                <a:gd name="connsiteX4" fmla="*/ 4267200 w 4267200"/>
                <a:gd name="connsiteY4" fmla="*/ 319799 h 383760"/>
                <a:gd name="connsiteX5" fmla="*/ 4203239 w 4267200"/>
                <a:gd name="connsiteY5" fmla="*/ 383760 h 383760"/>
                <a:gd name="connsiteX6" fmla="*/ 63961 w 4267200"/>
                <a:gd name="connsiteY6" fmla="*/ 383760 h 383760"/>
                <a:gd name="connsiteX7" fmla="*/ 0 w 4267200"/>
                <a:gd name="connsiteY7" fmla="*/ 319799 h 383760"/>
                <a:gd name="connsiteX8" fmla="*/ 0 w 4267200"/>
                <a:gd name="connsiteY8" fmla="*/ 63961 h 3837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267200" h="383760">
                  <a:moveTo>
                    <a:pt x="0" y="63961"/>
                  </a:moveTo>
                  <a:cubicBezTo>
                    <a:pt x="0" y="28636"/>
                    <a:pt x="28636" y="0"/>
                    <a:pt x="63961" y="0"/>
                  </a:cubicBezTo>
                  <a:lnTo>
                    <a:pt x="4203239" y="0"/>
                  </a:lnTo>
                  <a:cubicBezTo>
                    <a:pt x="4238564" y="0"/>
                    <a:pt x="4267200" y="28636"/>
                    <a:pt x="4267200" y="63961"/>
                  </a:cubicBezTo>
                  <a:lnTo>
                    <a:pt x="4267200" y="319799"/>
                  </a:lnTo>
                  <a:cubicBezTo>
                    <a:pt x="4267200" y="355124"/>
                    <a:pt x="4238564" y="383760"/>
                    <a:pt x="4203239" y="383760"/>
                  </a:cubicBezTo>
                  <a:lnTo>
                    <a:pt x="63961" y="383760"/>
                  </a:lnTo>
                  <a:cubicBezTo>
                    <a:pt x="28636" y="383760"/>
                    <a:pt x="0" y="355124"/>
                    <a:pt x="0" y="319799"/>
                  </a:cubicBezTo>
                  <a:lnTo>
                    <a:pt x="0" y="63961"/>
                  </a:lnTo>
                  <a:close/>
                </a:path>
              </a:pathLst>
            </a:custGeom>
          </p:spPr>
          <p:style>
            <a:lnRef idx="2">
              <a:schemeClr val="lt2">
                <a:hueOff val="0"/>
                <a:satOff val="0"/>
                <a:lumOff val="0"/>
                <a:alphaOff val="0"/>
              </a:schemeClr>
            </a:lnRef>
            <a:fillRef idx="1">
              <a:schemeClr val="dk2">
                <a:hueOff val="0"/>
                <a:satOff val="0"/>
                <a:lumOff val="0"/>
                <a:alphaOff val="0"/>
              </a:schemeClr>
            </a:fillRef>
            <a:effectRef idx="0">
              <a:schemeClr val="dk2">
                <a:hueOff val="0"/>
                <a:satOff val="0"/>
                <a:lumOff val="0"/>
                <a:alphaOff val="0"/>
              </a:schemeClr>
            </a:effectRef>
            <a:fontRef idx="minor">
              <a:schemeClr val="lt1"/>
            </a:fontRef>
          </p:style>
          <p:txBody>
            <a:bodyPr spcFirstLastPara="0" vert="horz" wrap="square" lIns="180024" tIns="18734" rIns="180024" bIns="18734" numCol="1" spcCol="1270" anchor="ctr" anchorCtr="0">
              <a:noAutofit/>
            </a:bodyPr>
            <a:lstStyle/>
            <a:p>
              <a:pPr marL="360000" indent="-360000">
                <a:spcBef>
                  <a:spcPts val="600"/>
                </a:spcBef>
                <a:spcAft>
                  <a:spcPts val="1200"/>
                </a:spcAft>
              </a:pPr>
              <a:r>
                <a:rPr lang="en-US" sz="1200" b="1" i="1" kern="1200" dirty="0" smtClean="0">
                  <a:latin typeface="Helvetica" pitchFamily="34" charset="0"/>
                </a:rPr>
                <a:t>3.4	</a:t>
              </a:r>
              <a:r>
                <a:rPr lang="en-AU" sz="1200" b="1" i="1" dirty="0">
                  <a:latin typeface="Helvetica"/>
                </a:rPr>
                <a:t>Determine and implement changes, if any, that need to be made to maintain or revise the </a:t>
              </a:r>
              <a:r>
                <a:rPr lang="en-AU" sz="1200" b="1" i="1" dirty="0" smtClean="0">
                  <a:latin typeface="Helvetica"/>
                </a:rPr>
                <a:t>initiative</a:t>
              </a:r>
              <a:endParaRPr lang="en-US" sz="1200" b="1" i="1" dirty="0">
                <a:latin typeface="Helvetica"/>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circle(in)">
                                      <p:cBhvr>
                                        <p:cTn id="7" dur="20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572344"/>
          </a:xfrm>
        </p:spPr>
        <p:txBody>
          <a:bodyPr>
            <a:normAutofit fontScale="90000"/>
          </a:bodyPr>
          <a:lstStyle/>
          <a:p>
            <a:r>
              <a:rPr lang="en-US" sz="3400" b="1" dirty="0" smtClean="0">
                <a:solidFill>
                  <a:srgbClr val="FF6600"/>
                </a:solidFill>
                <a:latin typeface="Helvetica" pitchFamily="34" charset="0"/>
              </a:rPr>
              <a:t>3.1 Record statistical data to enable evaluation against Key Performance Indicators to occur</a:t>
            </a:r>
            <a:endParaRPr lang="en-US" sz="3400" b="1" dirty="0">
              <a:solidFill>
                <a:srgbClr val="FF6600"/>
              </a:solidFill>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41</a:t>
            </a:fld>
            <a:endParaRPr lang="en-US" dirty="0">
              <a:latin typeface="Helvetica" pitchFamily="34" charset="0"/>
            </a:endParaRPr>
          </a:p>
        </p:txBody>
      </p:sp>
      <p:pic>
        <p:nvPicPr>
          <p:cNvPr id="6" name="Picture 5"/>
          <p:cNvPicPr/>
          <p:nvPr/>
        </p:nvPicPr>
        <p:blipFill>
          <a:blip r:embed="rId3">
            <a:extLst>
              <a:ext uri="{28A0092B-C50C-407E-A947-70E740481C1C}">
                <a14:useLocalDpi xmlns:a14="http://schemas.microsoft.com/office/drawing/2010/main" val="0"/>
              </a:ext>
            </a:extLst>
          </a:blip>
          <a:stretch>
            <a:fillRect/>
          </a:stretch>
        </p:blipFill>
        <p:spPr>
          <a:xfrm>
            <a:off x="1524000" y="2362200"/>
            <a:ext cx="4191000" cy="32004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circle(in)">
                                      <p:cBhvr>
                                        <p:cTn id="7" dur="20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886544"/>
          </a:xfrm>
        </p:spPr>
        <p:txBody>
          <a:bodyPr>
            <a:normAutofit/>
          </a:bodyPr>
          <a:lstStyle/>
          <a:p>
            <a:r>
              <a:rPr lang="en-US" sz="3400" b="1" dirty="0" smtClean="0">
                <a:solidFill>
                  <a:srgbClr val="FF6600"/>
                </a:solidFill>
                <a:latin typeface="Helvetica" pitchFamily="34" charset="0"/>
              </a:rPr>
              <a:t>Examples of statistics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09600" y="1371600"/>
            <a:ext cx="7467600" cy="5410200"/>
          </a:xfrm>
        </p:spPr>
        <p:txBody>
          <a:bodyPr>
            <a:normAutofit/>
          </a:bodyPr>
          <a:lstStyle/>
          <a:p>
            <a:pPr>
              <a:spcBef>
                <a:spcPts val="600"/>
              </a:spcBef>
              <a:spcAft>
                <a:spcPts val="600"/>
              </a:spcAft>
              <a:buNone/>
            </a:pPr>
            <a:r>
              <a:rPr lang="en-AU" sz="1800" dirty="0" smtClean="0">
                <a:latin typeface="Helvetica"/>
              </a:rPr>
              <a:t>Data and statistics that may be applicable for</a:t>
            </a:r>
            <a:br>
              <a:rPr lang="en-AU" sz="1800" dirty="0" smtClean="0">
                <a:latin typeface="Helvetica"/>
              </a:rPr>
            </a:br>
            <a:r>
              <a:rPr lang="en-AU" sz="1800" dirty="0" smtClean="0">
                <a:latin typeface="Helvetica"/>
              </a:rPr>
              <a:t>analysing product or service performance could include:</a:t>
            </a:r>
            <a:endParaRPr lang="en-US" sz="1800" dirty="0" smtClean="0">
              <a:latin typeface="Helvetica"/>
            </a:endParaRPr>
          </a:p>
          <a:p>
            <a:pPr>
              <a:spcBef>
                <a:spcPts val="600"/>
              </a:spcBef>
              <a:spcAft>
                <a:spcPts val="600"/>
              </a:spcAft>
            </a:pPr>
            <a:r>
              <a:rPr lang="en-AU" sz="1800" dirty="0" smtClean="0">
                <a:latin typeface="Helvetica"/>
              </a:rPr>
              <a:t>Cost information: product costs, delivery costs, staff costs, facility and equipment costs, training costs, maintenance and repair costs, supplier costs</a:t>
            </a:r>
            <a:endParaRPr lang="en-US" sz="1800" dirty="0" smtClean="0">
              <a:latin typeface="Helvetica"/>
            </a:endParaRPr>
          </a:p>
          <a:p>
            <a:pPr>
              <a:spcBef>
                <a:spcPts val="600"/>
              </a:spcBef>
              <a:spcAft>
                <a:spcPts val="600"/>
              </a:spcAft>
            </a:pPr>
            <a:r>
              <a:rPr lang="en-AU" sz="1800" dirty="0" smtClean="0">
                <a:latin typeface="Helvetica"/>
              </a:rPr>
              <a:t>Revenue data including total revenue and profit/loss statements</a:t>
            </a:r>
            <a:endParaRPr lang="en-US" sz="1800" dirty="0" smtClean="0">
              <a:latin typeface="Helvetica"/>
            </a:endParaRPr>
          </a:p>
          <a:p>
            <a:pPr>
              <a:spcBef>
                <a:spcPts val="600"/>
              </a:spcBef>
              <a:spcAft>
                <a:spcPts val="600"/>
              </a:spcAft>
            </a:pPr>
            <a:r>
              <a:rPr lang="en-AU" sz="1800" dirty="0" smtClean="0">
                <a:latin typeface="Helvetica"/>
              </a:rPr>
              <a:t>Visitor or user numbers</a:t>
            </a:r>
            <a:endParaRPr lang="en-US" sz="1800" dirty="0" smtClean="0">
              <a:latin typeface="Helvetica"/>
            </a:endParaRPr>
          </a:p>
          <a:p>
            <a:pPr>
              <a:spcBef>
                <a:spcPts val="600"/>
              </a:spcBef>
              <a:spcAft>
                <a:spcPts val="600"/>
              </a:spcAft>
            </a:pPr>
            <a:r>
              <a:rPr lang="en-AU" sz="1800" dirty="0" smtClean="0">
                <a:latin typeface="Helvetica"/>
              </a:rPr>
              <a:t>Booking and reservation numbers</a:t>
            </a:r>
            <a:endParaRPr lang="en-US" sz="1800" dirty="0" smtClean="0">
              <a:latin typeface="Helvetica"/>
            </a:endParaRPr>
          </a:p>
          <a:p>
            <a:pPr>
              <a:spcBef>
                <a:spcPts val="600"/>
              </a:spcBef>
              <a:spcAft>
                <a:spcPts val="600"/>
              </a:spcAft>
            </a:pPr>
            <a:r>
              <a:rPr lang="en-AU" sz="1800" dirty="0" smtClean="0">
                <a:latin typeface="Helvetica"/>
              </a:rPr>
              <a:t>Number of enquiries received</a:t>
            </a:r>
            <a:endParaRPr lang="en-US" sz="1800" dirty="0" smtClean="0">
              <a:latin typeface="Helvetica"/>
            </a:endParaRPr>
          </a:p>
          <a:p>
            <a:pPr>
              <a:spcBef>
                <a:spcPts val="600"/>
              </a:spcBef>
              <a:spcAft>
                <a:spcPts val="600"/>
              </a:spcAft>
            </a:pPr>
            <a:r>
              <a:rPr lang="en-AU" sz="1800" dirty="0" smtClean="0">
                <a:latin typeface="Helvetica"/>
              </a:rPr>
              <a:t>Number of responses generated</a:t>
            </a:r>
            <a:endParaRPr lang="en-US" sz="1800" dirty="0" smtClean="0">
              <a:latin typeface="Helvetica"/>
            </a:endParaRPr>
          </a:p>
          <a:p>
            <a:pPr>
              <a:spcBef>
                <a:spcPts val="600"/>
              </a:spcBef>
              <a:spcAft>
                <a:spcPts val="600"/>
              </a:spcAft>
            </a:pPr>
            <a:r>
              <a:rPr lang="en-AU" sz="1800" dirty="0" smtClean="0">
                <a:latin typeface="Helvetica"/>
              </a:rPr>
              <a:t>Customer feedback survey response </a:t>
            </a:r>
            <a:br>
              <a:rPr lang="en-AU" sz="1800" dirty="0" smtClean="0">
                <a:latin typeface="Helvetica"/>
              </a:rPr>
            </a:br>
            <a:r>
              <a:rPr lang="en-AU" sz="1800" dirty="0" smtClean="0">
                <a:latin typeface="Helvetica"/>
              </a:rPr>
              <a:t>numbers and responses</a:t>
            </a:r>
            <a:endParaRPr lang="en-US" sz="1800" dirty="0" smtClean="0">
              <a:latin typeface="Helvetica"/>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42</a:t>
            </a:fld>
            <a:endParaRPr lang="en-US" dirty="0">
              <a:latin typeface="Helvetica" pitchFamily="34" charset="0"/>
            </a:endParaRPr>
          </a:p>
        </p:txBody>
      </p:sp>
      <p:pic>
        <p:nvPicPr>
          <p:cNvPr id="5" name="Picture 4"/>
          <p:cNvPicPr/>
          <p:nvPr/>
        </p:nvPicPr>
        <p:blipFill>
          <a:blip r:embed="rId3" cstate="print">
            <a:extLst>
              <a:ext uri="{28A0092B-C50C-407E-A947-70E740481C1C}">
                <a14:useLocalDpi xmlns:a14="http://schemas.microsoft.com/office/drawing/2010/main" val="0"/>
              </a:ext>
            </a:extLst>
          </a:blip>
          <a:stretch>
            <a:fillRect/>
          </a:stretch>
        </p:blipFill>
        <p:spPr>
          <a:xfrm>
            <a:off x="6019799" y="3657600"/>
            <a:ext cx="2357717" cy="200406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circle(in)">
                                      <p:cBhvr>
                                        <p:cTn id="7" dur="20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3.2 Solicit and record feedback from stakeholders </a:t>
            </a:r>
            <a:endParaRPr lang="en-US" sz="3400" b="1" dirty="0">
              <a:solidFill>
                <a:srgbClr val="FF6600"/>
              </a:solidFill>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43</a:t>
            </a:fld>
            <a:endParaRPr lang="en-US" dirty="0">
              <a:latin typeface="Helvetica" pitchFamily="34" charset="0"/>
            </a:endParaRPr>
          </a:p>
        </p:txBody>
      </p:sp>
      <p:pic>
        <p:nvPicPr>
          <p:cNvPr id="5" name="Content Placeholder 4" descr="C:\Users\Quentin\AppData\Local\Microsoft\Windows\Temporary Internet Files\Content.IE5\9KNUG0JP\Stakeholder-featured-660x330[1].jpg"/>
          <p:cNvPicPr>
            <a:picLocks noGrp="1"/>
          </p:cNvPicPr>
          <p:nvPr>
            <p:ph idx="1"/>
          </p:nvPr>
        </p:nvPicPr>
        <p:blipFill>
          <a:blip r:embed="rId3"/>
          <a:srcRect/>
          <a:stretch>
            <a:fillRect/>
          </a:stretch>
        </p:blipFill>
        <p:spPr bwMode="auto">
          <a:xfrm>
            <a:off x="457200" y="1828800"/>
            <a:ext cx="7467600" cy="3733800"/>
          </a:xfrm>
          <a:prstGeom prst="ellipse">
            <a:avLst/>
          </a:prstGeom>
          <a:ln>
            <a:noFill/>
          </a:ln>
          <a:effectLst>
            <a:softEdge rad="112500"/>
          </a:effec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circle(in)">
                                      <p:cBhvr>
                                        <p:cTn id="7" dur="20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3.3 Compare projected outcomes against actual outcomes</a:t>
            </a:r>
            <a:endParaRPr lang="en-US" sz="3400" b="1" dirty="0">
              <a:solidFill>
                <a:srgbClr val="FF6600"/>
              </a:solidFill>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44</a:t>
            </a:fld>
            <a:endParaRPr lang="en-US" dirty="0">
              <a:latin typeface="Helvetica" pitchFamily="34" charset="0"/>
            </a:endParaRPr>
          </a:p>
        </p:txBody>
      </p:sp>
      <p:pic>
        <p:nvPicPr>
          <p:cNvPr id="5" name="Content Placeholder 4" descr="C:\Users\Quentin\AppData\Local\Microsoft\Windows\Temporary Internet Files\Content.IE5\9KNUG0JP\Plusone_Impro_Result[1].jpg"/>
          <p:cNvPicPr>
            <a:picLocks noGrp="1"/>
          </p:cNvPicPr>
          <p:nvPr>
            <p:ph idx="1"/>
          </p:nvPr>
        </p:nvPicPr>
        <p:blipFill>
          <a:blip r:embed="rId3"/>
          <a:srcRect/>
          <a:stretch>
            <a:fillRect/>
          </a:stretch>
        </p:blipFill>
        <p:spPr bwMode="auto">
          <a:xfrm>
            <a:off x="1676400" y="2057400"/>
            <a:ext cx="4191000" cy="3505200"/>
          </a:xfrm>
          <a:prstGeom prst="rect">
            <a:avLst/>
          </a:prstGeom>
          <a:noFill/>
          <a:ln w="9525">
            <a:noFill/>
            <a:miter lim="800000"/>
            <a:headEnd/>
            <a:tailEnd/>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circle(in)">
                                      <p:cBhvr>
                                        <p:cTn id="7" dur="20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Net Promoter Score (NPS)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09600" y="1676400"/>
            <a:ext cx="7467600" cy="4525963"/>
          </a:xfrm>
        </p:spPr>
        <p:txBody>
          <a:bodyPr>
            <a:normAutofit/>
          </a:bodyPr>
          <a:lstStyle/>
          <a:p>
            <a:pPr marL="360000" indent="-360000" algn="ctr">
              <a:spcBef>
                <a:spcPts val="600"/>
              </a:spcBef>
              <a:spcAft>
                <a:spcPts val="1200"/>
              </a:spcAft>
              <a:buNone/>
            </a:pPr>
            <a:r>
              <a:rPr lang="en-AU" sz="2000" b="1" i="1" dirty="0" smtClean="0">
                <a:latin typeface="Helvetica"/>
              </a:rPr>
              <a:t>‘How likely is it that you would recommend [your company/service/product] to a friend or colleague?’</a:t>
            </a:r>
            <a:endParaRPr lang="en-US" sz="2000" b="1" dirty="0" smtClean="0">
              <a:latin typeface="Helvetica"/>
            </a:endParaRPr>
          </a:p>
          <a:p>
            <a:pPr marL="360000" indent="-360000">
              <a:spcBef>
                <a:spcPts val="600"/>
              </a:spcBef>
              <a:spcAft>
                <a:spcPts val="1200"/>
              </a:spcAft>
              <a:buNone/>
            </a:pPr>
            <a:r>
              <a:rPr lang="en-AU" sz="2000" dirty="0" smtClean="0">
                <a:latin typeface="Helvetica"/>
              </a:rPr>
              <a:t>The rating is out of 10 and:</a:t>
            </a:r>
          </a:p>
          <a:p>
            <a:pPr marL="360000" indent="-360000">
              <a:spcBef>
                <a:spcPts val="600"/>
              </a:spcBef>
              <a:spcAft>
                <a:spcPts val="1200"/>
              </a:spcAft>
            </a:pPr>
            <a:r>
              <a:rPr lang="en-AU" sz="2000" dirty="0" smtClean="0">
                <a:latin typeface="Helvetica"/>
              </a:rPr>
              <a:t>Promoters rate at (9-10), </a:t>
            </a:r>
          </a:p>
          <a:p>
            <a:pPr marL="360000" indent="-360000">
              <a:spcBef>
                <a:spcPts val="600"/>
              </a:spcBef>
              <a:spcAft>
                <a:spcPts val="1200"/>
              </a:spcAft>
            </a:pPr>
            <a:r>
              <a:rPr lang="en-AU" sz="2000" dirty="0" smtClean="0">
                <a:latin typeface="Helvetica"/>
              </a:rPr>
              <a:t>Passives at (7-8) </a:t>
            </a:r>
          </a:p>
          <a:p>
            <a:pPr marL="360000" indent="-360000">
              <a:spcBef>
                <a:spcPts val="600"/>
              </a:spcBef>
              <a:spcAft>
                <a:spcPts val="1200"/>
              </a:spcAft>
            </a:pPr>
            <a:r>
              <a:rPr lang="en-AU" sz="2000" dirty="0" smtClean="0">
                <a:latin typeface="Helvetica"/>
              </a:rPr>
              <a:t>Detractors (0-6). </a:t>
            </a:r>
            <a:endParaRPr lang="en-US" sz="2000" dirty="0" smtClean="0">
              <a:latin typeface="Helvetica"/>
            </a:endParaRPr>
          </a:p>
          <a:p>
            <a:pPr marL="360000" indent="-360000">
              <a:spcBef>
                <a:spcPts val="600"/>
              </a:spcBef>
              <a:spcAft>
                <a:spcPts val="1200"/>
              </a:spcAft>
              <a:buNone/>
            </a:pPr>
            <a:endParaRPr lang="en-US" sz="2000" dirty="0" smtClean="0">
              <a:latin typeface="Helvetica"/>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45</a:t>
            </a:fld>
            <a:endParaRPr lang="en-US" dirty="0">
              <a:latin typeface="Helvetica" pitchFamily="34" charset="0"/>
            </a:endParaRPr>
          </a:p>
        </p:txBody>
      </p:sp>
      <p:pic>
        <p:nvPicPr>
          <p:cNvPr id="5" name="Picture 4"/>
          <p:cNvPicPr/>
          <p:nvPr/>
        </p:nvPicPr>
        <p:blipFill>
          <a:blip r:embed="rId3">
            <a:extLst>
              <a:ext uri="{28A0092B-C50C-407E-A947-70E740481C1C}">
                <a14:useLocalDpi xmlns:a14="http://schemas.microsoft.com/office/drawing/2010/main" val="0"/>
              </a:ext>
            </a:extLst>
          </a:blip>
          <a:stretch>
            <a:fillRect/>
          </a:stretch>
        </p:blipFill>
        <p:spPr>
          <a:xfrm>
            <a:off x="4267200" y="2667000"/>
            <a:ext cx="3524250" cy="2004060"/>
          </a:xfrm>
          <a:prstGeom prst="rect">
            <a:avLst/>
          </a:prstGeom>
        </p:spPr>
      </p:pic>
    </p:spTree>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267544"/>
          </a:xfrm>
        </p:spPr>
        <p:txBody>
          <a:bodyPr>
            <a:noAutofit/>
          </a:bodyPr>
          <a:lstStyle/>
          <a:p>
            <a:r>
              <a:rPr lang="en-US" sz="3000" b="1" dirty="0" smtClean="0">
                <a:solidFill>
                  <a:srgbClr val="FF6600"/>
                </a:solidFill>
                <a:latin typeface="Helvetica" pitchFamily="34" charset="0"/>
              </a:rPr>
              <a:t>3.4 Determine and implement changes, if any, that need to be made to maintain or revise the initiative   </a:t>
            </a:r>
            <a:endParaRPr lang="en-US" sz="3000" b="1" dirty="0">
              <a:solidFill>
                <a:srgbClr val="FF6600"/>
              </a:solidFill>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46</a:t>
            </a:fld>
            <a:endParaRPr lang="en-US" dirty="0">
              <a:latin typeface="Helvetica" pitchFamily="34" charset="0"/>
            </a:endParaRPr>
          </a:p>
        </p:txBody>
      </p:sp>
      <p:pic>
        <p:nvPicPr>
          <p:cNvPr id="5" name="Content Placeholder 4" descr="C:\Users\Quentin\AppData\Local\Microsoft\Windows\Temporary Internet Files\Content.IE5\F5EAPM1Z\continuous-improvement-cycle-web-full[1].png"/>
          <p:cNvPicPr>
            <a:picLocks noGrp="1"/>
          </p:cNvPicPr>
          <p:nvPr>
            <p:ph idx="1"/>
          </p:nvPr>
        </p:nvPicPr>
        <p:blipFill>
          <a:blip r:embed="rId3"/>
          <a:srcRect/>
          <a:stretch>
            <a:fillRect/>
          </a:stretch>
        </p:blipFill>
        <p:spPr bwMode="auto">
          <a:xfrm>
            <a:off x="1600200" y="1828800"/>
            <a:ext cx="4373563" cy="4373563"/>
          </a:xfrm>
          <a:prstGeom prst="rect">
            <a:avLst/>
          </a:prstGeom>
          <a:noFill/>
          <a:ln w="9525">
            <a:noFill/>
            <a:miter lim="800000"/>
            <a:headEnd/>
            <a:tailEnd/>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circle(in)">
                                      <p:cBhvr>
                                        <p:cTn id="7" dur="20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PPT_Tour_operation_&amp;_travel_agencies_template_130214">
  <a:themeElements>
    <a:clrScheme name="Metro">
      <a:dk1>
        <a:sysClr val="windowText" lastClr="000000"/>
      </a:dk1>
      <a:lt1>
        <a:sysClr val="window" lastClr="FFFFFF"/>
      </a:lt1>
      <a:dk2>
        <a:srgbClr val="4E5B6F"/>
      </a:dk2>
      <a:lt2>
        <a:srgbClr val="D6ECFF"/>
      </a:lt2>
      <a:accent1>
        <a:srgbClr val="7FD13B"/>
      </a:accent1>
      <a:accent2>
        <a:srgbClr val="EA157A"/>
      </a:accent2>
      <a:accent3>
        <a:srgbClr val="FEB80A"/>
      </a:accent3>
      <a:accent4>
        <a:srgbClr val="00ADDC"/>
      </a:accent4>
      <a:accent5>
        <a:srgbClr val="738AC8"/>
      </a:accent5>
      <a:accent6>
        <a:srgbClr val="1AB39F"/>
      </a:accent6>
      <a:hlink>
        <a:srgbClr val="EB8803"/>
      </a:hlink>
      <a:folHlink>
        <a:srgbClr val="5F7791"/>
      </a:folHlink>
    </a:clrScheme>
    <a:fontScheme name="Technic">
      <a:majorFont>
        <a:latin typeface="Franklin Gothic Book"/>
        <a:ea typeface=""/>
        <a:cs typeface=""/>
        <a:font script="Jpan" typeface="ＭＳ Ｐゴシック"/>
        <a:font script="Hang" typeface="HY견고딕"/>
        <a:font script="Hans" typeface="宋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Arial"/>
        <a:ea typeface=""/>
        <a:cs typeface=""/>
        <a:font script="Jpan" typeface="HGｺﾞｼｯｸM"/>
        <a:font script="Hang" typeface="HY중고딕"/>
        <a:font script="Hans" typeface="黑体"/>
        <a:font script="Hant" typeface="微軟正黑體"/>
        <a:font script="Arab" typeface="Tahoma"/>
        <a:font script="Hebr" typeface="Levenim MT"/>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Technic">
      <a:fillStyleLst>
        <a:solidFill>
          <a:schemeClr val="phClr"/>
        </a:solidFill>
        <a:gradFill rotWithShape="1">
          <a:gsLst>
            <a:gs pos="0">
              <a:schemeClr val="phClr">
                <a:tint val="1000"/>
              </a:schemeClr>
            </a:gs>
            <a:gs pos="68000">
              <a:schemeClr val="phClr">
                <a:tint val="77000"/>
              </a:schemeClr>
            </a:gs>
            <a:gs pos="81000">
              <a:schemeClr val="phClr">
                <a:tint val="79000"/>
              </a:schemeClr>
            </a:gs>
            <a:gs pos="86000">
              <a:schemeClr val="phClr">
                <a:tint val="73000"/>
              </a:schemeClr>
            </a:gs>
            <a:gs pos="100000">
              <a:schemeClr val="phClr">
                <a:tint val="35000"/>
              </a:schemeClr>
            </a:gs>
          </a:gsLst>
          <a:lin ang="5400000" scaled="1"/>
        </a:gradFill>
        <a:gradFill rotWithShape="1">
          <a:gsLst>
            <a:gs pos="0">
              <a:schemeClr val="phClr">
                <a:tint val="73000"/>
                <a:satMod val="150000"/>
              </a:schemeClr>
            </a:gs>
            <a:gs pos="25000">
              <a:schemeClr val="phClr">
                <a:tint val="96000"/>
                <a:shade val="80000"/>
                <a:satMod val="105000"/>
              </a:schemeClr>
            </a:gs>
            <a:gs pos="38000">
              <a:schemeClr val="phClr">
                <a:tint val="96000"/>
                <a:shade val="59000"/>
                <a:satMod val="120000"/>
              </a:schemeClr>
            </a:gs>
            <a:gs pos="55000">
              <a:schemeClr val="phClr">
                <a:shade val="57000"/>
                <a:satMod val="120000"/>
              </a:schemeClr>
            </a:gs>
            <a:gs pos="80000">
              <a:schemeClr val="phClr">
                <a:shade val="56000"/>
                <a:satMod val="145000"/>
              </a:schemeClr>
            </a:gs>
            <a:gs pos="88000">
              <a:schemeClr val="phClr">
                <a:shade val="63000"/>
                <a:satMod val="160000"/>
              </a:schemeClr>
            </a:gs>
            <a:gs pos="100000">
              <a:schemeClr val="phClr">
                <a:tint val="99555"/>
                <a:satMod val="155000"/>
              </a:schemeClr>
            </a:gs>
          </a:gsLst>
          <a:lin ang="5400000" scaled="1"/>
        </a:gradFill>
      </a:fillStyleLst>
      <a:lnStyleLst>
        <a:ln w="9525" cap="flat" cmpd="sng" algn="ctr">
          <a:solidFill>
            <a:schemeClr val="phClr">
              <a:shade val="60000"/>
              <a:satMod val="300000"/>
            </a:schemeClr>
          </a:solidFill>
          <a:prstDash val="solid"/>
        </a:ln>
        <a:ln w="19050" cap="flat" cmpd="sng" algn="ctr">
          <a:solidFill>
            <a:schemeClr val="phClr"/>
          </a:solidFill>
          <a:prstDash val="solid"/>
        </a:ln>
        <a:ln w="19050" cap="flat" cmpd="sng" algn="ctr">
          <a:solidFill>
            <a:schemeClr val="phClr"/>
          </a:solidFill>
          <a:prstDash val="solid"/>
        </a:ln>
      </a:lnStyleLst>
      <a:effectStyleLst>
        <a:effectStyle>
          <a:effectLst>
            <a:glow rad="63500">
              <a:schemeClr val="phClr">
                <a:tint val="30000"/>
                <a:shade val="95000"/>
                <a:satMod val="300000"/>
                <a:alpha val="50000"/>
              </a:schemeClr>
            </a:glow>
          </a:effectLst>
        </a:effectStyle>
        <a:effectStyle>
          <a:effectLst>
            <a:glow rad="70000">
              <a:schemeClr val="phClr">
                <a:tint val="30000"/>
                <a:shade val="95000"/>
                <a:satMod val="300000"/>
                <a:alpha val="50000"/>
              </a:schemeClr>
            </a:glow>
          </a:effectLst>
        </a:effectStyle>
        <a:effectStyle>
          <a:effectLst>
            <a:glow rad="76200">
              <a:schemeClr val="phClr">
                <a:tint val="30000"/>
                <a:shade val="95000"/>
                <a:satMod val="300000"/>
                <a:alpha val="50000"/>
              </a:schemeClr>
            </a:glow>
          </a:effectLst>
          <a:scene3d>
            <a:camera prst="orthographicFront" fov="0">
              <a:rot lat="0" lon="0" rev="0"/>
            </a:camera>
            <a:lightRig rig="harsh" dir="t">
              <a:rot lat="6000000" lon="6000000" rev="0"/>
            </a:lightRig>
          </a:scene3d>
          <a:sp3d contourW="10000" prstMaterial="metal">
            <a:bevelT w="20000" h="9000" prst="softRound"/>
            <a:contourClr>
              <a:schemeClr val="phClr">
                <a:shade val="30000"/>
                <a:satMod val="200000"/>
              </a:schemeClr>
            </a:contourClr>
          </a:sp3d>
        </a:effectStyle>
      </a:effectStyleLst>
      <a:bgFillStyleLst>
        <a:solidFill>
          <a:schemeClr val="phClr"/>
        </a:solidFill>
        <a:gradFill rotWithShape="1">
          <a:gsLst>
            <a:gs pos="0">
              <a:schemeClr val="phClr">
                <a:shade val="40000"/>
                <a:satMod val="150000"/>
              </a:schemeClr>
            </a:gs>
            <a:gs pos="30000">
              <a:schemeClr val="phClr">
                <a:shade val="60000"/>
                <a:satMod val="150000"/>
              </a:schemeClr>
            </a:gs>
            <a:gs pos="100000">
              <a:schemeClr val="phClr">
                <a:tint val="83000"/>
                <a:satMod val="200000"/>
              </a:schemeClr>
            </a:gs>
          </a:gsLst>
          <a:lin ang="13000000" scaled="0"/>
        </a:gradFill>
        <a:gradFill rotWithShape="1">
          <a:gsLst>
            <a:gs pos="0">
              <a:schemeClr val="phClr">
                <a:tint val="78000"/>
                <a:satMod val="220000"/>
              </a:schemeClr>
            </a:gs>
            <a:gs pos="100000">
              <a:schemeClr val="phClr">
                <a:shade val="35000"/>
                <a:satMod val="155000"/>
              </a:schemeClr>
            </a:gs>
          </a:gsLst>
          <a:path path="circle">
            <a:fillToRect l="60000" t="50000" r="4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PPT_Tour_operation_&amp;_travel_agencies_template_130214</Template>
  <TotalTime>1385</TotalTime>
  <Words>4883</Words>
  <Application>Microsoft Office PowerPoint</Application>
  <PresentationFormat>On-screen Show (4:3)</PresentationFormat>
  <Paragraphs>402</Paragraphs>
  <Slides>46</Slides>
  <Notes>46</Notes>
  <HiddenSlides>0</HiddenSlides>
  <MMClips>0</MMClips>
  <ScaleCrop>false</ScaleCrop>
  <HeadingPairs>
    <vt:vector size="4" baseType="variant">
      <vt:variant>
        <vt:lpstr>Theme</vt:lpstr>
      </vt:variant>
      <vt:variant>
        <vt:i4>1</vt:i4>
      </vt:variant>
      <vt:variant>
        <vt:lpstr>Slide Titles</vt:lpstr>
      </vt:variant>
      <vt:variant>
        <vt:i4>46</vt:i4>
      </vt:variant>
    </vt:vector>
  </HeadingPairs>
  <TitlesOfParts>
    <vt:vector size="47" baseType="lpstr">
      <vt:lpstr>PPT_Tour_operation_&amp;_travel_agencies_template_130214</vt:lpstr>
      <vt:lpstr>Create, implement and evaluate strategic product initiatives</vt:lpstr>
      <vt:lpstr>Element 1: Create strategic product initiatives </vt:lpstr>
      <vt:lpstr>1.1 Identify the context for product development </vt:lpstr>
      <vt:lpstr>The Marketing Mix</vt:lpstr>
      <vt:lpstr>External product environment</vt:lpstr>
      <vt:lpstr>SWOT Analysis</vt:lpstr>
      <vt:lpstr>BCG Matrix</vt:lpstr>
      <vt:lpstr>1.2 Undertake market research on identified opportunities and identified target markets</vt:lpstr>
      <vt:lpstr>Collecting data</vt:lpstr>
      <vt:lpstr>Secondary data</vt:lpstr>
      <vt:lpstr>Quantitative and Qualitative Data</vt:lpstr>
      <vt:lpstr>1.3 Determine product life cycle issues that apply to identified opportunities and products</vt:lpstr>
      <vt:lpstr>Product life cycle</vt:lpstr>
      <vt:lpstr>Product life cycle</vt:lpstr>
      <vt:lpstr>Product life cycle</vt:lpstr>
      <vt:lpstr>Product life cycle</vt:lpstr>
      <vt:lpstr>Utilising the product life cycle</vt:lpstr>
      <vt:lpstr>1.4 Determine financial issues that relate to the development of product initiatives</vt:lpstr>
      <vt:lpstr>1.5 Research product development opportunities that align with the context that applies</vt:lpstr>
      <vt:lpstr>Researching opportunities</vt:lpstr>
      <vt:lpstr>1.6 Develop project development plans reflecting research information and business objectives</vt:lpstr>
      <vt:lpstr>Marketing plan</vt:lpstr>
      <vt:lpstr>1.7 Produce the identified product or service initiative</vt:lpstr>
      <vt:lpstr>Product or service production</vt:lpstr>
      <vt:lpstr>Element 1: Summary</vt:lpstr>
      <vt:lpstr>Element 2: Implement strategic product initiatives </vt:lpstr>
      <vt:lpstr>2.1 Trial the initiative in accordance with established plans </vt:lpstr>
      <vt:lpstr>Market testing</vt:lpstr>
      <vt:lpstr>2.2 Revise the initiative as required on the basis of operational matters and customer feedback </vt:lpstr>
      <vt:lpstr>Product or service revisions</vt:lpstr>
      <vt:lpstr>2.3 Monitor the introduction and implementation of the initiative</vt:lpstr>
      <vt:lpstr>Feedback survey</vt:lpstr>
      <vt:lpstr>2.5 Apply change management skills to facilitate the introduction and establishment of the initiative </vt:lpstr>
      <vt:lpstr>New product or service change issues</vt:lpstr>
      <vt:lpstr>Kotter’s 8 step change model</vt:lpstr>
      <vt:lpstr>PowerPoint Presentation</vt:lpstr>
      <vt:lpstr>2.5 Promote the initiative to customers</vt:lpstr>
      <vt:lpstr>Promotion ideas</vt:lpstr>
      <vt:lpstr>Element 2: Summary</vt:lpstr>
      <vt:lpstr>Element 3: Evaluate strategic product initiatives</vt:lpstr>
      <vt:lpstr>3.1 Record statistical data to enable evaluation against Key Performance Indicators to occur</vt:lpstr>
      <vt:lpstr>Examples of statistics</vt:lpstr>
      <vt:lpstr>3.2 Solicit and record feedback from stakeholders </vt:lpstr>
      <vt:lpstr>3.3 Compare projected outcomes against actual outcomes</vt:lpstr>
      <vt:lpstr>Net Promoter Score (NPS)</vt:lpstr>
      <vt:lpstr>3.4 Determine and implement changes, if any, that need to be made to maintain or revise the initiative   </vt:lpstr>
    </vt:vector>
  </TitlesOfParts>
  <Company>William Angliss TAFE</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Create, implement and evaluate strategic product initiatives</dc:title>
  <dc:creator>Daniel James Chee</dc:creator>
  <cp:lastModifiedBy>Mai</cp:lastModifiedBy>
  <cp:revision>54</cp:revision>
  <dcterms:created xsi:type="dcterms:W3CDTF">2014-06-30T23:28:20Z</dcterms:created>
  <dcterms:modified xsi:type="dcterms:W3CDTF">2015-04-27T12:18:15Z</dcterms:modified>
</cp:coreProperties>
</file>