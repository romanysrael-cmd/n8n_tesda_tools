
<file path=[Content_Types].xml><?xml version="1.0" encoding="utf-8"?>
<Types xmlns="http://schemas.openxmlformats.org/package/2006/content-types">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31"/>
  </p:notesMasterIdLst>
  <p:handoutMasterIdLst>
    <p:handoutMasterId r:id="rId132"/>
  </p:handoutMasterIdLst>
  <p:sldIdLst>
    <p:sldId id="256" r:id="rId2"/>
    <p:sldId id="352" r:id="rId3"/>
    <p:sldId id="354" r:id="rId4"/>
    <p:sldId id="355" r:id="rId5"/>
    <p:sldId id="356" r:id="rId6"/>
    <p:sldId id="357"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 id="310" r:id="rId22"/>
    <p:sldId id="311" r:id="rId23"/>
    <p:sldId id="312" r:id="rId24"/>
    <p:sldId id="313" r:id="rId25"/>
    <p:sldId id="314" r:id="rId26"/>
    <p:sldId id="315" r:id="rId27"/>
    <p:sldId id="316" r:id="rId28"/>
    <p:sldId id="317" r:id="rId29"/>
    <p:sldId id="318" r:id="rId30"/>
    <p:sldId id="319" r:id="rId31"/>
    <p:sldId id="320" r:id="rId32"/>
    <p:sldId id="321" r:id="rId33"/>
    <p:sldId id="322" r:id="rId34"/>
    <p:sldId id="323" r:id="rId35"/>
    <p:sldId id="324" r:id="rId36"/>
    <p:sldId id="325" r:id="rId37"/>
    <p:sldId id="326" r:id="rId38"/>
    <p:sldId id="327" r:id="rId39"/>
    <p:sldId id="328" r:id="rId40"/>
    <p:sldId id="329" r:id="rId41"/>
    <p:sldId id="330" r:id="rId42"/>
    <p:sldId id="331" r:id="rId43"/>
    <p:sldId id="332" r:id="rId44"/>
    <p:sldId id="333" r:id="rId45"/>
    <p:sldId id="334" r:id="rId46"/>
    <p:sldId id="335" r:id="rId47"/>
    <p:sldId id="336" r:id="rId48"/>
    <p:sldId id="337" r:id="rId49"/>
    <p:sldId id="338" r:id="rId50"/>
    <p:sldId id="339" r:id="rId51"/>
    <p:sldId id="340" r:id="rId52"/>
    <p:sldId id="341" r:id="rId53"/>
    <p:sldId id="342" r:id="rId54"/>
    <p:sldId id="343" r:id="rId55"/>
    <p:sldId id="344" r:id="rId56"/>
    <p:sldId id="345" r:id="rId57"/>
    <p:sldId id="346" r:id="rId58"/>
    <p:sldId id="347" r:id="rId59"/>
    <p:sldId id="348" r:id="rId60"/>
    <p:sldId id="349" r:id="rId61"/>
    <p:sldId id="350" r:id="rId62"/>
    <p:sldId id="351" r:id="rId63"/>
    <p:sldId id="358" r:id="rId64"/>
    <p:sldId id="359" r:id="rId65"/>
    <p:sldId id="360" r:id="rId66"/>
    <p:sldId id="361" r:id="rId67"/>
    <p:sldId id="362" r:id="rId68"/>
    <p:sldId id="363" r:id="rId69"/>
    <p:sldId id="364" r:id="rId70"/>
    <p:sldId id="365" r:id="rId71"/>
    <p:sldId id="366" r:id="rId72"/>
    <p:sldId id="367" r:id="rId73"/>
    <p:sldId id="368" r:id="rId74"/>
    <p:sldId id="369" r:id="rId75"/>
    <p:sldId id="370" r:id="rId76"/>
    <p:sldId id="371" r:id="rId77"/>
    <p:sldId id="373" r:id="rId78"/>
    <p:sldId id="372" r:id="rId79"/>
    <p:sldId id="374" r:id="rId80"/>
    <p:sldId id="375" r:id="rId81"/>
    <p:sldId id="376" r:id="rId82"/>
    <p:sldId id="377" r:id="rId83"/>
    <p:sldId id="378" r:id="rId84"/>
    <p:sldId id="379" r:id="rId85"/>
    <p:sldId id="380" r:id="rId86"/>
    <p:sldId id="381" r:id="rId87"/>
    <p:sldId id="382" r:id="rId88"/>
    <p:sldId id="383" r:id="rId89"/>
    <p:sldId id="384" r:id="rId90"/>
    <p:sldId id="385" r:id="rId91"/>
    <p:sldId id="386" r:id="rId92"/>
    <p:sldId id="387" r:id="rId93"/>
    <p:sldId id="388" r:id="rId94"/>
    <p:sldId id="389" r:id="rId95"/>
    <p:sldId id="390" r:id="rId96"/>
    <p:sldId id="391" r:id="rId97"/>
    <p:sldId id="392" r:id="rId98"/>
    <p:sldId id="393" r:id="rId99"/>
    <p:sldId id="394" r:id="rId100"/>
    <p:sldId id="396" r:id="rId101"/>
    <p:sldId id="397" r:id="rId102"/>
    <p:sldId id="398" r:id="rId103"/>
    <p:sldId id="399" r:id="rId104"/>
    <p:sldId id="400" r:id="rId105"/>
    <p:sldId id="401" r:id="rId106"/>
    <p:sldId id="402" r:id="rId107"/>
    <p:sldId id="403" r:id="rId108"/>
    <p:sldId id="406" r:id="rId109"/>
    <p:sldId id="404" r:id="rId110"/>
    <p:sldId id="405" r:id="rId111"/>
    <p:sldId id="407" r:id="rId112"/>
    <p:sldId id="408" r:id="rId113"/>
    <p:sldId id="409" r:id="rId114"/>
    <p:sldId id="410" r:id="rId115"/>
    <p:sldId id="411" r:id="rId116"/>
    <p:sldId id="412" r:id="rId117"/>
    <p:sldId id="414" r:id="rId118"/>
    <p:sldId id="413" r:id="rId119"/>
    <p:sldId id="415" r:id="rId120"/>
    <p:sldId id="416" r:id="rId121"/>
    <p:sldId id="418" r:id="rId122"/>
    <p:sldId id="417" r:id="rId123"/>
    <p:sldId id="420" r:id="rId124"/>
    <p:sldId id="419" r:id="rId125"/>
    <p:sldId id="421" r:id="rId126"/>
    <p:sldId id="422" r:id="rId127"/>
    <p:sldId id="423" r:id="rId128"/>
    <p:sldId id="424" r:id="rId129"/>
    <p:sldId id="425" r:id="rId130"/>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44265" autoAdjust="0"/>
  </p:normalViewPr>
  <p:slideViewPr>
    <p:cSldViewPr>
      <p:cViewPr varScale="1">
        <p:scale>
          <a:sx n="40" d="100"/>
          <a:sy n="40" d="100"/>
        </p:scale>
        <p:origin x="267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notesMaster" Target="notesMasters/notesMaster1.xml"/><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4/6/2015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42194319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4/6/2015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1816381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Trainer introduces himself/herself, students and topic</a:t>
            </a:r>
            <a:r>
              <a:rPr lang="en-AU" baseline="0" dirty="0" smtClean="0"/>
              <a:t> area.</a:t>
            </a: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101142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this Unit comprises four Elements, as listed on the slide explaining:</a:t>
            </a:r>
          </a:p>
          <a:p>
            <a:r>
              <a:rPr lang="en-AU" sz="1200" kern="1200" baseline="0" dirty="0" smtClean="0">
                <a:solidFill>
                  <a:schemeClr val="tx1"/>
                </a:solidFill>
                <a:latin typeface="+mn-lt"/>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latin typeface="+mn-lt"/>
                <a:ea typeface="+mn-ea"/>
                <a:cs typeface="+mn-cs"/>
              </a:rPr>
              <a:t>• Trainees can obtain more detail from their Trainee Manual</a:t>
            </a:r>
          </a:p>
          <a:p>
            <a:r>
              <a:rPr lang="en-AU" sz="1200" kern="1200" baseline="0" dirty="0" smtClean="0">
                <a:solidFill>
                  <a:schemeClr val="tx1"/>
                </a:solidFill>
                <a:latin typeface="+mn-lt"/>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1507948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3877984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is liquor?</a:t>
            </a:r>
          </a:p>
          <a:p>
            <a:pPr>
              <a:buFont typeface="Arial" pitchFamily="34" charset="0"/>
              <a:buChar char="•"/>
            </a:pPr>
            <a:r>
              <a:rPr lang="en-AU" sz="1200" kern="1200" baseline="0" dirty="0" smtClean="0">
                <a:solidFill>
                  <a:schemeClr val="tx1"/>
                </a:solidFill>
                <a:latin typeface="+mn-lt"/>
                <a:ea typeface="+mn-ea"/>
                <a:cs typeface="+mn-cs"/>
              </a:rPr>
              <a:t>Where is it normally sold?</a:t>
            </a:r>
          </a:p>
          <a:p>
            <a:pPr>
              <a:buFont typeface="Arial" pitchFamily="34" charset="0"/>
              <a:buChar char="•"/>
            </a:pPr>
            <a:r>
              <a:rPr lang="en-AU" sz="1200" kern="1200" baseline="0" dirty="0" smtClean="0">
                <a:solidFill>
                  <a:schemeClr val="tx1"/>
                </a:solidFill>
                <a:latin typeface="+mn-lt"/>
                <a:ea typeface="+mn-ea"/>
                <a:cs typeface="+mn-cs"/>
              </a:rPr>
              <a:t>What activities are associated with the sale of liquor?</a:t>
            </a:r>
          </a:p>
          <a:p>
            <a:pPr>
              <a:buFont typeface="Arial" pitchFamily="34" charset="0"/>
              <a:buChar char="•"/>
            </a:pPr>
            <a:r>
              <a:rPr lang="en-AU" sz="1200" kern="1200" baseline="0" dirty="0" smtClean="0">
                <a:solidFill>
                  <a:schemeClr val="tx1"/>
                </a:solidFill>
                <a:latin typeface="+mn-lt"/>
                <a:ea typeface="+mn-ea"/>
                <a:cs typeface="+mn-cs"/>
              </a:rPr>
              <a:t>Who would perform these functions?</a:t>
            </a: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775258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159877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1004352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268807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information do customers commonly seek?</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information should you know?</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1543417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is it important to know this information?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can you gather information?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958863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is it important to know this information?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can you gather information?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2015723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other ways can you gather information?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8601381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items are commonly sold under each of these product lines?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16616989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3383775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beer making process</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5629915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on </a:t>
            </a:r>
            <a:r>
              <a:rPr lang="en-AU" sz="1200" b="1" dirty="0" smtClean="0">
                <a:latin typeface="Helvetica" pitchFamily="34" charset="0"/>
              </a:rPr>
              <a:t>different types of beer</a:t>
            </a: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Review different types of ales and lagers.</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871413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on </a:t>
            </a:r>
            <a:r>
              <a:rPr lang="en-AU" sz="1200" b="1" dirty="0" smtClean="0">
                <a:latin typeface="Helvetica" pitchFamily="34" charset="0"/>
              </a:rPr>
              <a:t>local beer</a:t>
            </a: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get the audience to identify local beers.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Where are they produced?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11589291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on </a:t>
            </a:r>
            <a:r>
              <a:rPr lang="en-AU" sz="1200" b="1" dirty="0" smtClean="0">
                <a:latin typeface="Helvetica" pitchFamily="34" charset="0"/>
              </a:rPr>
              <a:t>international beers</a:t>
            </a: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these beers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240408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on </a:t>
            </a:r>
            <a:r>
              <a:rPr lang="en-AU" sz="1200" b="1" dirty="0" smtClean="0">
                <a:latin typeface="Helvetica" pitchFamily="34" charset="0"/>
              </a:rPr>
              <a:t>international beers</a:t>
            </a: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these beers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other imported beers are famous?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5336718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on </a:t>
            </a:r>
            <a:r>
              <a:rPr lang="en-AU" sz="1200" b="1" dirty="0" smtClean="0">
                <a:latin typeface="Helvetica" pitchFamily="34" charset="0"/>
              </a:rPr>
              <a:t>international beers</a:t>
            </a: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these beverages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38008604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different types of </a:t>
            </a:r>
            <a:r>
              <a:rPr lang="en-AU" sz="1200" b="0" kern="1200" baseline="0" dirty="0" smtClean="0">
                <a:solidFill>
                  <a:schemeClr val="tx1"/>
                </a:solidFill>
                <a:latin typeface="Helvetica" pitchFamily="34" charset="0"/>
                <a:ea typeface="+mn-ea"/>
                <a:cs typeface="+mn-cs"/>
              </a:rPr>
              <a:t>wine.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This is just to get ideas as it will be explained in more detail in Section 3 of this subject.</a:t>
            </a:r>
            <a:endParaRPr lang="en-AU"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30863171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Questions</a:t>
            </a:r>
          </a:p>
          <a:p>
            <a:pPr>
              <a:buFont typeface="Arial" pitchFamily="34" charset="0"/>
              <a:buNone/>
            </a:pPr>
            <a:endParaRPr lang="en-US" dirty="0" smtClean="0"/>
          </a:p>
          <a:p>
            <a:pPr>
              <a:buFont typeface="Arial" pitchFamily="34" charset="0"/>
              <a:buChar char="•"/>
            </a:pPr>
            <a:r>
              <a:rPr lang="en-US" dirty="0" smtClean="0"/>
              <a:t>What white wines do</a:t>
            </a:r>
            <a:r>
              <a:rPr lang="en-US" baseline="0" dirty="0" smtClean="0"/>
              <a:t> you know?</a:t>
            </a:r>
          </a:p>
          <a:p>
            <a:pPr>
              <a:buFont typeface="Arial" pitchFamily="34" charset="0"/>
              <a:buChar char="•"/>
            </a:pPr>
            <a:r>
              <a:rPr lang="en-US" baseline="0" dirty="0" smtClean="0"/>
              <a:t>What red wines do you know?</a:t>
            </a:r>
            <a:endParaRPr lang="en-US"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41680132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pPr>
              <a:buFont typeface="Arial" pitchFamily="34" charset="0"/>
              <a:buChar char="•"/>
            </a:pPr>
            <a:endParaRPr lang="en-AU" dirty="0" smtClean="0"/>
          </a:p>
          <a:p>
            <a:pPr>
              <a:buFont typeface="Arial" pitchFamily="34" charset="0"/>
              <a:buChar char="•"/>
            </a:pPr>
            <a:r>
              <a:rPr lang="en-AU" dirty="0" smtClean="0"/>
              <a:t>What types of varietal wines do you know?</a:t>
            </a:r>
          </a:p>
          <a:p>
            <a:pPr>
              <a:buFont typeface="Arial" pitchFamily="34" charset="0"/>
              <a:buChar char="•"/>
            </a:pPr>
            <a:r>
              <a:rPr lang="en-AU" dirty="0" smtClean="0"/>
              <a:t>Which are white wines?</a:t>
            </a:r>
          </a:p>
          <a:p>
            <a:pPr>
              <a:buFont typeface="Arial" pitchFamily="34" charset="0"/>
              <a:buChar char="•"/>
            </a:pPr>
            <a:r>
              <a:rPr lang="en-AU" dirty="0" smtClean="0"/>
              <a:t>Which are red wines?</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42359889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pPr>
              <a:buFont typeface="Arial" pitchFamily="34" charset="0"/>
              <a:buChar char="•"/>
            </a:pPr>
            <a:endParaRPr lang="en-AU" dirty="0" smtClean="0"/>
          </a:p>
          <a:p>
            <a:pPr>
              <a:buFont typeface="Arial" pitchFamily="34" charset="0"/>
              <a:buChar char="•"/>
            </a:pPr>
            <a:r>
              <a:rPr lang="en-AU" dirty="0" smtClean="0"/>
              <a:t>What types of varietal wines do you know?</a:t>
            </a:r>
          </a:p>
          <a:p>
            <a:pPr>
              <a:buFont typeface="Arial" pitchFamily="34" charset="0"/>
              <a:buChar char="•"/>
            </a:pPr>
            <a:r>
              <a:rPr lang="en-AU" dirty="0" smtClean="0"/>
              <a:t>Which are white wines?</a:t>
            </a:r>
          </a:p>
          <a:p>
            <a:pPr>
              <a:buFont typeface="Arial" pitchFamily="34" charset="0"/>
              <a:buChar char="•"/>
            </a:pPr>
            <a:r>
              <a:rPr lang="en-AU" dirty="0" smtClean="0"/>
              <a:t>Which are red wines?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0766912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 &amp; Discussion</a:t>
            </a:r>
          </a:p>
          <a:p>
            <a:pPr>
              <a:buFont typeface="Arial" pitchFamily="34" charset="0"/>
              <a:buChar char="•"/>
            </a:pPr>
            <a:endParaRPr lang="en-AU" dirty="0" smtClean="0"/>
          </a:p>
          <a:p>
            <a:pPr>
              <a:buFont typeface="Arial" pitchFamily="34" charset="0"/>
              <a:buChar char="•"/>
            </a:pPr>
            <a:r>
              <a:rPr lang="en-AU" dirty="0" smtClean="0"/>
              <a:t>What taste</a:t>
            </a:r>
            <a:r>
              <a:rPr lang="en-AU" baseline="0" dirty="0" smtClean="0"/>
              <a:t> characteristics do each of these varietal wines have?</a:t>
            </a:r>
          </a:p>
          <a:p>
            <a:pPr>
              <a:buFont typeface="Arial" pitchFamily="34" charset="0"/>
              <a:buChar char="•"/>
            </a:pPr>
            <a:endParaRPr lang="en-AU" baseline="0" dirty="0" smtClean="0"/>
          </a:p>
          <a:p>
            <a:pPr lvl="0">
              <a:buFont typeface="Arial" pitchFamily="34" charset="0"/>
              <a:buChar char="•"/>
            </a:pPr>
            <a:r>
              <a:rPr lang="en-AU" sz="1200" dirty="0" smtClean="0"/>
              <a:t>Chardonnay – a full-flavoured dry white wine</a:t>
            </a:r>
          </a:p>
          <a:p>
            <a:pPr lvl="0">
              <a:buFont typeface="Arial" pitchFamily="34" charset="0"/>
              <a:buChar char="•"/>
            </a:pPr>
            <a:r>
              <a:rPr lang="en-AU" sz="1200" dirty="0" smtClean="0"/>
              <a:t>Chenin Blanc – a pleasant fruity ‘drink now’ wine with a refreshing acid finish</a:t>
            </a:r>
          </a:p>
          <a:p>
            <a:pPr lvl="0">
              <a:buFont typeface="Arial" pitchFamily="34" charset="0"/>
              <a:buChar char="•"/>
            </a:pPr>
            <a:r>
              <a:rPr lang="en-AU" sz="1200" dirty="0" smtClean="0"/>
              <a:t>Rhine Riesling – a delicate wine with fruit character and a trace of sugar that varies hugely depending on the region in which it is grown. Common flavour asparagus</a:t>
            </a:r>
          </a:p>
          <a:p>
            <a:pPr lvl="0">
              <a:buFont typeface="Arial" pitchFamily="34" charset="0"/>
              <a:buChar char="•"/>
            </a:pPr>
            <a:r>
              <a:rPr lang="en-AU" sz="1200" dirty="0" smtClean="0"/>
              <a:t>Sauvignon Blanc – a dry white wine with distinct varietal flavour such as melon, pineapple, tropical fruit</a:t>
            </a:r>
          </a:p>
          <a:p>
            <a:pPr lvl="0">
              <a:buFont typeface="Arial" pitchFamily="34" charset="0"/>
              <a:buChar char="•"/>
            </a:pPr>
            <a:r>
              <a:rPr lang="en-AU" sz="1200" dirty="0" smtClean="0"/>
              <a:t>Semillon – a dry, crisp white wine with grassy flavours</a:t>
            </a:r>
          </a:p>
          <a:p>
            <a:pPr lvl="0">
              <a:buFont typeface="Arial" pitchFamily="34" charset="0"/>
              <a:buChar char="•"/>
            </a:pPr>
            <a:r>
              <a:rPr lang="en-AU" sz="1200" dirty="0" smtClean="0"/>
              <a:t>Traminer – a fresh and fruity wine with a spicy smell and taste.</a:t>
            </a:r>
          </a:p>
          <a:p>
            <a:pPr>
              <a:buFont typeface="Arial" pitchFamily="34" charset="0"/>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683271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 &amp; Discussion</a:t>
            </a:r>
          </a:p>
          <a:p>
            <a:pPr>
              <a:buFont typeface="Arial" pitchFamily="34" charset="0"/>
              <a:buChar char="•"/>
            </a:pPr>
            <a:endParaRPr lang="en-AU" dirty="0" smtClean="0"/>
          </a:p>
          <a:p>
            <a:pPr>
              <a:buFont typeface="Arial" pitchFamily="34" charset="0"/>
              <a:buChar char="•"/>
            </a:pPr>
            <a:r>
              <a:rPr lang="en-AU" dirty="0" smtClean="0"/>
              <a:t>What taste</a:t>
            </a:r>
            <a:r>
              <a:rPr lang="en-AU" baseline="0" dirty="0" smtClean="0"/>
              <a:t> characteristics do each of these varietal wines have?</a:t>
            </a:r>
          </a:p>
          <a:p>
            <a:pPr>
              <a:buFont typeface="Arial" pitchFamily="34" charset="0"/>
              <a:buChar char="•"/>
            </a:pPr>
            <a:endParaRPr lang="en-AU" baseline="0" dirty="0" smtClean="0"/>
          </a:p>
          <a:p>
            <a:pPr lvl="0">
              <a:buFont typeface="Arial" pitchFamily="34" charset="0"/>
              <a:buChar char="•"/>
            </a:pPr>
            <a:r>
              <a:rPr lang="en-AU" sz="1200" dirty="0" smtClean="0"/>
              <a:t>Cabernet Sauvignon – an aromatic red with berry, mint, capsicum and blackcurrant highlights</a:t>
            </a:r>
          </a:p>
          <a:p>
            <a:pPr lvl="0">
              <a:buFont typeface="Arial" pitchFamily="34" charset="0"/>
              <a:buChar char="•"/>
            </a:pPr>
            <a:r>
              <a:rPr lang="en-AU" sz="1200" dirty="0" smtClean="0"/>
              <a:t>Malbec – a fruity, soft wine</a:t>
            </a:r>
          </a:p>
          <a:p>
            <a:pPr lvl="0">
              <a:buFont typeface="Arial" pitchFamily="34" charset="0"/>
              <a:buChar char="•"/>
            </a:pPr>
            <a:r>
              <a:rPr lang="en-AU" sz="1200" dirty="0" smtClean="0"/>
              <a:t>Merlot – another fruity and aromatic red reminiscent of plums, pumpkins and fruitcake</a:t>
            </a:r>
          </a:p>
          <a:p>
            <a:pPr lvl="0">
              <a:buFont typeface="Arial" pitchFamily="34" charset="0"/>
              <a:buChar char="•"/>
            </a:pPr>
            <a:r>
              <a:rPr lang="en-AU" sz="1200" dirty="0" smtClean="0"/>
              <a:t>Pinot Noir – a lighter style red, thin in taste and colour, berry flavours</a:t>
            </a:r>
          </a:p>
          <a:p>
            <a:pPr lvl="0">
              <a:buFont typeface="Arial" pitchFamily="34" charset="0"/>
              <a:buChar char="•"/>
            </a:pPr>
            <a:r>
              <a:rPr lang="en-AU" sz="1200" dirty="0" smtClean="0"/>
              <a:t>Shiraz – also called ‘Hermitage’ this grape produces fine full-flavoured reds that vary greatly from region to region. They are often blended and have peppery characteristics</a:t>
            </a:r>
            <a:endParaRPr lang="en-AU" sz="120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30525471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pPr>
              <a:buFont typeface="Arial" pitchFamily="34" charset="0"/>
              <a:buChar char="•"/>
            </a:pPr>
            <a:endParaRPr lang="en-AU" dirty="0" smtClean="0"/>
          </a:p>
          <a:p>
            <a:pPr>
              <a:buFont typeface="Arial" pitchFamily="34" charset="0"/>
              <a:buChar char="•"/>
            </a:pPr>
            <a:r>
              <a:rPr lang="en-AU" baseline="0" dirty="0" smtClean="0"/>
              <a:t>Discuss the question in the slide</a:t>
            </a:r>
            <a:endParaRPr lang="en-AU" sz="120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36266133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 &amp; Discussion</a:t>
            </a:r>
          </a:p>
          <a:p>
            <a:pPr>
              <a:buFont typeface="Arial" pitchFamily="34" charset="0"/>
              <a:buChar char="•"/>
            </a:pPr>
            <a:endParaRPr lang="en-AU" dirty="0" smtClean="0"/>
          </a:p>
          <a:p>
            <a:pPr>
              <a:buFont typeface="Arial" pitchFamily="34" charset="0"/>
              <a:buChar char="•"/>
            </a:pPr>
            <a:r>
              <a:rPr lang="en-AU" dirty="0" smtClean="0"/>
              <a:t>What taste</a:t>
            </a:r>
            <a:r>
              <a:rPr lang="en-AU" baseline="0" dirty="0" smtClean="0"/>
              <a:t> characteristics do each of these generic wines have?</a:t>
            </a:r>
          </a:p>
          <a:p>
            <a:pPr>
              <a:buFont typeface="Arial" pitchFamily="34" charset="0"/>
              <a:buChar char="•"/>
            </a:pPr>
            <a:endParaRPr lang="en-AU" dirty="0" smtClean="0"/>
          </a:p>
          <a:p>
            <a:pPr lvl="0">
              <a:buFont typeface="Arial" pitchFamily="34" charset="0"/>
              <a:buChar char="•"/>
            </a:pPr>
            <a:r>
              <a:rPr lang="en-AU" sz="1200" dirty="0" smtClean="0"/>
              <a:t>Chablis – a very dry, flinty wine</a:t>
            </a:r>
          </a:p>
          <a:p>
            <a:pPr lvl="0">
              <a:buFont typeface="Arial" pitchFamily="34" charset="0"/>
              <a:buChar char="•"/>
            </a:pPr>
            <a:r>
              <a:rPr lang="en-AU" sz="1200" dirty="0" smtClean="0"/>
              <a:t>Hock – a very dry white wine</a:t>
            </a:r>
          </a:p>
          <a:p>
            <a:pPr lvl="0">
              <a:buFont typeface="Arial" pitchFamily="34" charset="0"/>
              <a:buChar char="•"/>
            </a:pPr>
            <a:r>
              <a:rPr lang="en-AU" sz="1200" dirty="0" smtClean="0"/>
              <a:t>Moselle – a popular and pleasantly semi-sweet wine, less sweet than Sauternes</a:t>
            </a:r>
          </a:p>
          <a:p>
            <a:pPr lvl="0">
              <a:buFont typeface="Arial" pitchFamily="34" charset="0"/>
              <a:buChar char="•"/>
            </a:pPr>
            <a:r>
              <a:rPr lang="en-AU" sz="1200" dirty="0" smtClean="0"/>
              <a:t>Sauternes – produced from fully ripe grapes, a very sweet wine</a:t>
            </a:r>
          </a:p>
          <a:p>
            <a:pPr lvl="0">
              <a:buFont typeface="Arial" pitchFamily="34" charset="0"/>
              <a:buChar char="•"/>
            </a:pPr>
            <a:r>
              <a:rPr lang="en-AU" sz="1200" dirty="0" smtClean="0"/>
              <a:t>White Burgundy – a fairly dry white with full flavour.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10023200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 &amp; Discussion</a:t>
            </a:r>
          </a:p>
          <a:p>
            <a:pPr>
              <a:buFont typeface="Arial" pitchFamily="34" charset="0"/>
              <a:buChar char="•"/>
            </a:pPr>
            <a:endParaRPr lang="en-AU" dirty="0" smtClean="0"/>
          </a:p>
          <a:p>
            <a:pPr>
              <a:buFont typeface="Arial" pitchFamily="34" charset="0"/>
              <a:buChar char="•"/>
            </a:pPr>
            <a:r>
              <a:rPr lang="en-AU" dirty="0" smtClean="0"/>
              <a:t>What taste</a:t>
            </a:r>
            <a:r>
              <a:rPr lang="en-AU" baseline="0" dirty="0" smtClean="0"/>
              <a:t> characteristics do each of these generic wines have?</a:t>
            </a:r>
          </a:p>
          <a:p>
            <a:pPr>
              <a:buFont typeface="Arial" pitchFamily="34" charset="0"/>
              <a:buChar char="•"/>
            </a:pPr>
            <a:endParaRPr lang="en-AU" dirty="0" smtClean="0"/>
          </a:p>
          <a:p>
            <a:pPr lvl="0">
              <a:buFont typeface="Arial" pitchFamily="34" charset="0"/>
              <a:buChar char="•"/>
            </a:pPr>
            <a:r>
              <a:rPr lang="en-AU" sz="1200" dirty="0" smtClean="0"/>
              <a:t>Burgundy – a soft and fruity red wine</a:t>
            </a:r>
          </a:p>
          <a:p>
            <a:pPr lvl="0">
              <a:buFont typeface="Arial" pitchFamily="34" charset="0"/>
              <a:buChar char="•"/>
            </a:pPr>
            <a:r>
              <a:rPr lang="en-AU" sz="1200" dirty="0" smtClean="0"/>
              <a:t>Claret – a dry red with more astringency than burgundy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24161706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Review menu,</a:t>
            </a:r>
            <a:r>
              <a:rPr lang="en-AU" sz="1200" b="1" baseline="0" dirty="0" smtClean="0"/>
              <a:t> </a:t>
            </a:r>
            <a:r>
              <a:rPr lang="en-AU" sz="1200" b="1" dirty="0" smtClean="0"/>
              <a:t>questions</a:t>
            </a:r>
            <a:r>
              <a:rPr lang="en-AU" sz="1200" b="1" baseline="0" dirty="0" smtClean="0"/>
              <a:t> and wine selection</a:t>
            </a:r>
            <a:endParaRPr lang="en-AU" sz="1200" b="1" dirty="0" smtClean="0"/>
          </a:p>
          <a:p>
            <a:endParaRPr lang="en-AU" sz="1200" dirty="0" smtClean="0"/>
          </a:p>
          <a:p>
            <a:r>
              <a:rPr lang="en-AU" sz="1200" dirty="0" smtClean="0"/>
              <a:t>Audience to review detailed wine menus identifying different types of varietal and generic wines.</a:t>
            </a:r>
          </a:p>
          <a:p>
            <a:pPr>
              <a:buFont typeface="Arial" pitchFamily="34" charset="0"/>
              <a:buChar char="•"/>
            </a:pPr>
            <a:r>
              <a:rPr lang="en-AU" sz="1200" dirty="0" smtClean="0"/>
              <a:t>What</a:t>
            </a:r>
            <a:r>
              <a:rPr lang="en-AU" sz="1200" baseline="0" dirty="0" smtClean="0"/>
              <a:t> wines are house wines and why?</a:t>
            </a:r>
          </a:p>
          <a:p>
            <a:pPr>
              <a:buFont typeface="Arial" pitchFamily="34" charset="0"/>
              <a:buChar char="•"/>
            </a:pPr>
            <a:r>
              <a:rPr lang="en-AU" sz="1200" baseline="0" dirty="0" smtClean="0"/>
              <a:t>If you were preparing a menu based on the food menu what wines would you select and why?</a:t>
            </a:r>
          </a:p>
          <a:p>
            <a:pPr>
              <a:buFont typeface="Arial" pitchFamily="34" charset="0"/>
              <a:buChar char="•"/>
            </a:pPr>
            <a:r>
              <a:rPr lang="en-AU" sz="1200" baseline="0" dirty="0" smtClean="0"/>
              <a:t>What are other characteristics of house wine?</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11435877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a:t>
            </a:r>
            <a:r>
              <a:rPr lang="en-AU" sz="1200" b="1" baseline="0" dirty="0" smtClean="0"/>
              <a:t> the sparkling wine making process including the difference between these four methods.</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2517586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a:t>
            </a:r>
            <a:r>
              <a:rPr lang="en-AU" sz="1200" b="1" baseline="0" dirty="0" smtClean="0"/>
              <a:t> the sparkling wine making process including the difference between these four methods.</a:t>
            </a:r>
            <a:endParaRPr lang="en-AU" sz="1200"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5762155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a:t>
            </a:r>
            <a:r>
              <a:rPr lang="en-AU" sz="1200" b="1" baseline="0" dirty="0" smtClean="0"/>
              <a:t> the styles of champagne.</a:t>
            </a:r>
            <a:endParaRPr lang="en-AU" sz="1200"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20386366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Questions</a:t>
            </a:r>
          </a:p>
          <a:p>
            <a:endParaRPr lang="en-AU" sz="1200" b="1" dirty="0" smtClean="0"/>
          </a:p>
          <a:p>
            <a:pPr>
              <a:buFont typeface="Arial" pitchFamily="34" charset="0"/>
              <a:buChar char="•"/>
            </a:pPr>
            <a:r>
              <a:rPr lang="en-AU" sz="1200" b="0" dirty="0" smtClean="0"/>
              <a:t>What types of fortified</a:t>
            </a:r>
            <a:r>
              <a:rPr lang="en-AU" sz="1200" b="0" baseline="0" dirty="0" smtClean="0"/>
              <a:t> wines are there?</a:t>
            </a:r>
          </a:p>
          <a:p>
            <a:pPr>
              <a:buFont typeface="Arial" pitchFamily="34" charset="0"/>
              <a:buChar char="•"/>
            </a:pPr>
            <a:r>
              <a:rPr lang="en-AU" sz="1200" b="0" baseline="0" dirty="0" smtClean="0"/>
              <a:t>When are they commonly served?</a:t>
            </a:r>
          </a:p>
          <a:p>
            <a:pPr>
              <a:buFont typeface="Arial" pitchFamily="34" charset="0"/>
              <a:buChar char="•"/>
            </a:pPr>
            <a:r>
              <a:rPr lang="en-AU" sz="1200" b="0" baseline="0" dirty="0" smtClean="0"/>
              <a:t>What are they served with?</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6419741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Questions</a:t>
            </a:r>
          </a:p>
          <a:p>
            <a:endParaRPr lang="en-AU" sz="1200" b="1" dirty="0" smtClean="0"/>
          </a:p>
          <a:p>
            <a:pPr>
              <a:buFont typeface="Arial" pitchFamily="34" charset="0"/>
              <a:buChar char="•"/>
            </a:pPr>
            <a:r>
              <a:rPr lang="en-AU" sz="1200" b="0" dirty="0" smtClean="0"/>
              <a:t>What is the difference</a:t>
            </a:r>
            <a:r>
              <a:rPr lang="en-AU" sz="1200" b="0" baseline="0" dirty="0" smtClean="0"/>
              <a:t> between these types of </a:t>
            </a:r>
            <a:r>
              <a:rPr lang="en-AU" sz="1200" b="0" dirty="0" smtClean="0"/>
              <a:t>fortified</a:t>
            </a:r>
            <a:r>
              <a:rPr lang="en-AU" sz="1200" b="0" baseline="0" dirty="0" smtClean="0"/>
              <a:t> wines?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27315245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Questions</a:t>
            </a:r>
          </a:p>
          <a:p>
            <a:endParaRPr lang="en-AU" sz="1200" b="1" dirty="0" smtClean="0"/>
          </a:p>
          <a:p>
            <a:pPr>
              <a:buFont typeface="Arial" pitchFamily="34" charset="0"/>
              <a:buChar char="•"/>
            </a:pPr>
            <a:r>
              <a:rPr lang="en-AU" sz="1200" b="0" dirty="0" smtClean="0"/>
              <a:t>Answer</a:t>
            </a:r>
            <a:r>
              <a:rPr lang="en-AU" sz="1200" b="0" baseline="0" dirty="0" smtClean="0"/>
              <a:t> the question in the slide to generate discussion.</a:t>
            </a:r>
          </a:p>
          <a:p>
            <a:pPr>
              <a:buFont typeface="Arial" pitchFamily="34" charset="0"/>
              <a:buChar char="•"/>
            </a:pPr>
            <a:r>
              <a:rPr lang="en-AU" sz="1200" b="0" baseline="0" dirty="0" smtClean="0"/>
              <a:t>The wine producing countries and regions will be discussed in more detail.</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9703738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Questions</a:t>
            </a:r>
          </a:p>
          <a:p>
            <a:endParaRPr lang="en-AU" sz="1200" b="1" dirty="0" smtClean="0">
              <a:latin typeface="Helvetica" pitchFamily="34" charset="0"/>
            </a:endParaRPr>
          </a:p>
          <a:p>
            <a:pPr>
              <a:buFont typeface="Arial" pitchFamily="34" charset="0"/>
              <a:buChar char="•"/>
            </a:pPr>
            <a:r>
              <a:rPr lang="en-AU" sz="1200" dirty="0" smtClean="0">
                <a:latin typeface="Helvetica" pitchFamily="34" charset="0"/>
              </a:rPr>
              <a:t>What characteristics makes these countries suitable to grow grapes for wine production?</a:t>
            </a:r>
          </a:p>
          <a:p>
            <a:pPr>
              <a:buFont typeface="Arial" pitchFamily="34" charset="0"/>
              <a:buChar char="•"/>
            </a:pPr>
            <a:r>
              <a:rPr lang="en-AU" sz="1200" dirty="0" smtClean="0">
                <a:latin typeface="Helvetica" pitchFamily="34" charset="0"/>
              </a:rPr>
              <a:t>What types of varietals come from these countries?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6965989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Questions</a:t>
            </a:r>
          </a:p>
          <a:p>
            <a:endParaRPr lang="en-AU" sz="1200" b="1" dirty="0" smtClean="0">
              <a:latin typeface="Helvetica" pitchFamily="34" charset="0"/>
            </a:endParaRPr>
          </a:p>
          <a:p>
            <a:pPr>
              <a:buFont typeface="Arial" pitchFamily="34" charset="0"/>
              <a:buChar char="•"/>
            </a:pPr>
            <a:r>
              <a:rPr lang="en-AU" sz="1200" dirty="0" smtClean="0">
                <a:latin typeface="Helvetica" pitchFamily="34" charset="0"/>
              </a:rPr>
              <a:t>What characteristics makes these countries suitable to grow grapes for wine production?</a:t>
            </a:r>
          </a:p>
          <a:p>
            <a:pPr>
              <a:buFont typeface="Arial" pitchFamily="34" charset="0"/>
              <a:buChar char="•"/>
            </a:pPr>
            <a:r>
              <a:rPr lang="en-AU" sz="1200" dirty="0" smtClean="0">
                <a:latin typeface="Helvetica" pitchFamily="34" charset="0"/>
              </a:rPr>
              <a:t>What types of varietals come from these countries?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24765342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34938738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Review menus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Identify different types of whisky items are on the menu.</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Are they served alone or with a mixer?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In what cocktails do you find them?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7198908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Review menus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Identify these on a menu.</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16559287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Review menus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Identify these on a menu.</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32159192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Review menus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Identify these on a menu.</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29985271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Review menus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Identify these on a menu.</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7517756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Review menus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Identify different types of rum items are on the menu.</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Are they served alone or with a mixer?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In what cocktails do you find them?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17760899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Review menus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Identify different types of gin items are on the menu.</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Are they served alone or with a mixer?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In what cocktails do you find them?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4138399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Review menus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Identify different types of vodka items are on the menu.</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Are they served alone or with a mixer?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In what cocktails do you find them?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23093022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Review menus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Identify different types of brandy items are on the menu.</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Are they served alone or with a mixer?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In what cocktails do you find them?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225222708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Review menus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Identify different types of cognac items are on the menu.</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Are they served alone or with a mixer?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In what cocktails do you find them?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22995773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on mixers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other mixers are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4140882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Research activity on other spirits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get audience to research other types of spirits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other spirits identified in element 1.1  of the Trainee Manual.</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212338989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on liqueurs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types of liqueurs do you know?</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latin typeface="Helvetica" pitchFamily="34" charset="0"/>
              </a:rPr>
              <a:t>What is the difference between proprietary or generic liqueurs?</a:t>
            </a: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1642178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on liqueurs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different flavours of generic liqueurs are there?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they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32864145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on liqueurs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other flavours exist?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157302523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on liqueurs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other flavours exist?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259169052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on </a:t>
            </a:r>
            <a:r>
              <a:rPr lang="en-AU" sz="1200" b="1" dirty="0" smtClean="0">
                <a:latin typeface="Helvetica" pitchFamily="34" charset="0"/>
              </a:rPr>
              <a:t>proprietary </a:t>
            </a:r>
            <a:r>
              <a:rPr lang="en-AU" sz="1200" b="1" kern="1200" baseline="0" dirty="0" smtClean="0">
                <a:solidFill>
                  <a:schemeClr val="tx1"/>
                </a:solidFill>
                <a:latin typeface="+mn-lt"/>
                <a:ea typeface="+mn-ea"/>
                <a:cs typeface="+mn-cs"/>
              </a:rPr>
              <a:t>liqueurs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Refer to notes in manual for description of these liqueurs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427272323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on </a:t>
            </a:r>
            <a:r>
              <a:rPr lang="en-AU" sz="1200" b="1" dirty="0" smtClean="0">
                <a:latin typeface="Helvetica" pitchFamily="34" charset="0"/>
              </a:rPr>
              <a:t>proprietary </a:t>
            </a:r>
            <a:r>
              <a:rPr lang="en-AU" sz="1200" b="1" kern="1200" baseline="0" dirty="0" smtClean="0">
                <a:solidFill>
                  <a:schemeClr val="tx1"/>
                </a:solidFill>
                <a:latin typeface="+mn-lt"/>
                <a:ea typeface="+mn-ea"/>
                <a:cs typeface="+mn-cs"/>
              </a:rPr>
              <a:t>liqueurs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Refer to notes in manual for description of these liqueurs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41098083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on </a:t>
            </a:r>
            <a:r>
              <a:rPr lang="en-AU" sz="1200" b="1" dirty="0" smtClean="0">
                <a:latin typeface="Helvetica" pitchFamily="34" charset="0"/>
              </a:rPr>
              <a:t>non-alcoholic drinks</a:t>
            </a: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types or varieties for each of these drinks exist?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323774443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on </a:t>
            </a:r>
            <a:r>
              <a:rPr lang="en-AU" sz="1200" b="1" dirty="0" smtClean="0">
                <a:latin typeface="Helvetica" pitchFamily="34" charset="0"/>
              </a:rPr>
              <a:t>non-alcoholic drinks</a:t>
            </a: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types or varieties for each of these drinks exist?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16728205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other types of snack foods are commonly served?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47033995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other types of ancillary items are commonly sold?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415755118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other types of ancillary items are commonly sold?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103779942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is this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395148542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are these steps important when processing sales?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90154981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and role play the ABC of Selling</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275036043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information and steps are associated with these forms?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406893108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&amp;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Demonstrate how to fill out an order form?</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14872526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&amp;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Demonstrate how to fill out an invoice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423048544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are receipts important?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332043886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&amp;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demonstrate different types of POS equipment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294125025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are these house rules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other rules and requirements might you have?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270844218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Answer the question in the slide by compiling a list of necessary </a:t>
            </a:r>
            <a:r>
              <a:rPr lang="en-AU" sz="1200" dirty="0" smtClean="0"/>
              <a:t>material and/or consumables.</a:t>
            </a: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153034029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Answer the questions in the slide explaining their importance.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407420903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&amp;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demonstrate how to accurately process each type of transaction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82456756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do liquor outlets provide delivery service?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the advantages?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possible problems and how do you overcome these?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157883373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&amp; Role Play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Role play taking a delivery order ensuring you gather all relevant information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63368701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are these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examples of each?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92441847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are these important?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38367463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Ask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364666681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is it important to pack goods?</a:t>
            </a:r>
          </a:p>
          <a:p>
            <a:pPr>
              <a:buFont typeface="Arial" pitchFamily="34" charset="0"/>
              <a:buChar char="•"/>
            </a:pPr>
            <a:r>
              <a:rPr lang="en-AU" sz="1200" kern="1200" baseline="0" dirty="0" smtClean="0">
                <a:solidFill>
                  <a:schemeClr val="tx1"/>
                </a:solidFill>
                <a:latin typeface="+mn-lt"/>
                <a:ea typeface="+mn-ea"/>
                <a:cs typeface="+mn-cs"/>
              </a:rPr>
              <a:t>How can purchased items by packed?</a:t>
            </a: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301508728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13689471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different types of materials and bags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427072431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different types of materials and bags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335323785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do you approach these situations differently?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264829301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Describe these options explaining the advantages of each.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309954232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&amp;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demonstrate how to pack a variety of bags, using various wrapping options, given different liquor items.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212689586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&amp;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demonstrate how to gift wrap items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168624800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Which are the most popular methods and why?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do you approach packing in each of these scenarios?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134787845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else can you do to ensure items are safely and securely packed?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298465300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is theft a problem in liquor outlets?</a:t>
            </a:r>
          </a:p>
          <a:p>
            <a:pPr>
              <a:buFont typeface="Arial" pitchFamily="34" charset="0"/>
              <a:buChar char="•"/>
            </a:pPr>
            <a:r>
              <a:rPr lang="en-AU" sz="1200" kern="1200" baseline="0" dirty="0" smtClean="0">
                <a:solidFill>
                  <a:schemeClr val="tx1"/>
                </a:solidFill>
                <a:latin typeface="+mn-lt"/>
                <a:ea typeface="+mn-ea"/>
                <a:cs typeface="+mn-cs"/>
              </a:rPr>
              <a:t>What do people try to steal?</a:t>
            </a:r>
          </a:p>
          <a:p>
            <a:pPr>
              <a:buFont typeface="Arial" pitchFamily="34" charset="0"/>
              <a:buChar char="•"/>
            </a:pPr>
            <a:r>
              <a:rPr lang="en-AU" sz="1200" kern="1200" baseline="0" dirty="0" smtClean="0">
                <a:solidFill>
                  <a:schemeClr val="tx1"/>
                </a:solidFill>
                <a:latin typeface="+mn-lt"/>
                <a:ea typeface="+mn-ea"/>
                <a:cs typeface="+mn-cs"/>
              </a:rPr>
              <a:t>Who normally steals?</a:t>
            </a:r>
          </a:p>
          <a:p>
            <a:pPr>
              <a:buFont typeface="Arial" pitchFamily="34" charset="0"/>
              <a:buChar char="•"/>
            </a:pPr>
            <a:r>
              <a:rPr lang="en-AU" sz="1200" kern="1200" baseline="0" dirty="0" smtClean="0">
                <a:solidFill>
                  <a:schemeClr val="tx1"/>
                </a:solidFill>
                <a:latin typeface="+mn-lt"/>
                <a:ea typeface="+mn-ea"/>
                <a:cs typeface="+mn-cs"/>
              </a:rPr>
              <a:t>How can you prevent theft?</a:t>
            </a: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243999630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411171197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preventative action can you take? (refer to following answers)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i="1" kern="1200" baseline="0" dirty="0" smtClean="0">
                <a:solidFill>
                  <a:schemeClr val="tx1"/>
                </a:solidFill>
                <a:latin typeface="+mn-lt"/>
                <a:ea typeface="+mn-ea"/>
                <a:cs typeface="+mn-cs"/>
              </a:rPr>
              <a:t>U</a:t>
            </a:r>
            <a:r>
              <a:rPr lang="en-AU" sz="1200" b="0" i="1" dirty="0" smtClean="0"/>
              <a:t>sing security equipment, applying security measures, intelligent location of stock and use of security firms and security staff</a:t>
            </a:r>
            <a:endParaRPr lang="en-AU" sz="1200" b="0" i="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380149245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advantages and disadvantages of using these various security personnel or equipment.</a:t>
            </a:r>
            <a:endParaRPr lang="en-AU" sz="1200" b="0" i="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65399188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other internal </a:t>
            </a:r>
            <a:r>
              <a:rPr lang="en-AU" sz="1200" b="0" dirty="0" smtClean="0">
                <a:latin typeface="Helvetica" pitchFamily="34" charset="0"/>
              </a:rPr>
              <a:t>security policies and practices could you introduce?</a:t>
            </a:r>
            <a:endParaRPr lang="en-AU" sz="1200" b="0" i="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192976354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else can you do to </a:t>
            </a:r>
            <a:r>
              <a:rPr lang="en-AU" sz="1200" b="0" kern="1200" baseline="0" dirty="0" smtClean="0">
                <a:solidFill>
                  <a:schemeClr val="tx1"/>
                </a:solidFill>
                <a:latin typeface="Helvetica" pitchFamily="34" charset="0"/>
                <a:ea typeface="+mn-ea"/>
                <a:cs typeface="+mn-cs"/>
              </a:rPr>
              <a:t>m</a:t>
            </a:r>
            <a:r>
              <a:rPr lang="en-AU" sz="1200" b="0" dirty="0" smtClean="0">
                <a:latin typeface="Helvetica" pitchFamily="34" charset="0"/>
              </a:rPr>
              <a:t>aintaining surveillance?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i="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69050413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can you protect theft from these areas?</a:t>
            </a:r>
            <a:endParaRPr lang="en-AU"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i="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394063594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can you do in these scenarios?</a:t>
            </a:r>
            <a:endParaRPr lang="en-AU"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i="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75334284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can you do in these scenarios?</a:t>
            </a:r>
            <a:endParaRPr lang="en-AU"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i="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220003421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Ask questions in the slide</a:t>
            </a:r>
            <a:endParaRPr lang="en-AU"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i="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8122606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else can you control storerooms?</a:t>
            </a:r>
            <a:endParaRPr lang="en-AU"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i="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169393147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is merchandise?</a:t>
            </a:r>
          </a:p>
          <a:p>
            <a:pPr>
              <a:buFont typeface="Arial" pitchFamily="34" charset="0"/>
              <a:buChar char="•"/>
            </a:pPr>
            <a:r>
              <a:rPr lang="en-AU" sz="1200" kern="1200" baseline="0" dirty="0" smtClean="0">
                <a:solidFill>
                  <a:schemeClr val="tx1"/>
                </a:solidFill>
                <a:latin typeface="+mn-lt"/>
                <a:ea typeface="+mn-ea"/>
                <a:cs typeface="+mn-cs"/>
              </a:rPr>
              <a:t>How can you promote items so they attract sales?</a:t>
            </a: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425365666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54873599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items are stored in each of these locations?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37531412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are these points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156629318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are these points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406943729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important considerations for each of these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60243086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importance of these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219886065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can you increase ‘impulse purchases’?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think about when they have made impulse purchases: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was it?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attracted them to it?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193615555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can displays do these things?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295126704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Get audience to give their opinions and reasonings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302456754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are items grouped?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common examples of groupings?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212986165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do these aspects help merchandise a product?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3407735690"/>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these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1600847224"/>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these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426832265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these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2124796923"/>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these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2588820065"/>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these questions.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3475432738"/>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these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64742726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these questions.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160768574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is stock rotation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do you do this?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can you monitor this?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260079728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importance and implication of using FIFO system.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3989914689"/>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3957097722"/>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3862714997"/>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these points from a selling point of view.</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249471949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these points from a selling point of view.</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284410380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activities are associated with each?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the advantages and disadvantages of both?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2032070538"/>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3318056174"/>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influences prices?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358031630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importance of these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is consistency and accuracy of prices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2863299510"/>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importance of these points.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41538145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4/6/2015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4/6/2015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4/6/2015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4/6/2015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4/6/2015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476672"/>
            <a:ext cx="7632176" cy="1224136"/>
          </a:xfrm>
        </p:spPr>
        <p:txBody>
          <a:bodyPr>
            <a:normAutofit fontScale="90000"/>
          </a:bodyPr>
          <a:lstStyle/>
          <a:p>
            <a:r>
              <a:rPr lang="en-AU" sz="4000" dirty="0" smtClean="0">
                <a:ln w="5000" cmpd="sng">
                  <a:noFill/>
                  <a:prstDash val="solid"/>
                </a:ln>
                <a:solidFill>
                  <a:srgbClr val="FF6600"/>
                </a:solidFill>
                <a:latin typeface="Helvetica" pitchFamily="34" charset="0"/>
              </a:rPr>
              <a:t>PROCESS LIQUOR SALES AT A BAR Facility</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68144" y="1844824"/>
            <a:ext cx="2541268" cy="433758"/>
          </a:xfrm>
        </p:spPr>
        <p:txBody>
          <a:bodyPr>
            <a:normAutofit/>
          </a:bodyPr>
          <a:lstStyle/>
          <a:p>
            <a:r>
              <a:rPr lang="en-AU" sz="2200" b="1" dirty="0" smtClean="0">
                <a:latin typeface="Helvetica" pitchFamily="34" charset="0"/>
              </a:rPr>
              <a:t>D1.HBS.CL5.08</a:t>
            </a: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latin typeface="Helvetica" pitchFamily="34" charset="0"/>
              </a:rPr>
              <a:t> Slide </a:t>
            </a:r>
            <a:fld id="{90BDF71C-F485-43AE-8825-5070AF1EA8C9}" type="slidenum">
              <a:rPr lang="en-US" smtClean="0">
                <a:latin typeface="Helvetica" pitchFamily="34" charset="0"/>
              </a:rPr>
              <a:pPr/>
              <a:t>1</a:t>
            </a:fld>
            <a:endParaRPr lang="en-US" dirty="0">
              <a:latin typeface="Helvetica" pitchFamily="34" charset="0"/>
            </a:endParaRPr>
          </a:p>
        </p:txBody>
      </p:sp>
      <p:pic>
        <p:nvPicPr>
          <p:cNvPr id="1026" name="Picture 2" descr="C:\Documents and Settings\danielc\Desktop\iStock_Comm on Phone.jpg"/>
          <p:cNvPicPr>
            <a:picLocks noChangeAspect="1" noChangeArrowheads="1"/>
          </p:cNvPicPr>
          <p:nvPr/>
        </p:nvPicPr>
        <p:blipFill>
          <a:blip r:embed="rId3" cstate="print"/>
          <a:stretch>
            <a:fillRect/>
          </a:stretch>
        </p:blipFill>
        <p:spPr bwMode="auto">
          <a:xfrm>
            <a:off x="827584" y="1844825"/>
            <a:ext cx="5256584" cy="4317319"/>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indent="0">
              <a:spcBef>
                <a:spcPts val="600"/>
              </a:spcBef>
              <a:spcAft>
                <a:spcPts val="1200"/>
              </a:spcAft>
              <a:buNone/>
            </a:pPr>
            <a:r>
              <a:rPr lang="en-US" sz="2200" dirty="0" smtClean="0">
                <a:latin typeface="Helvetica" pitchFamily="34" charset="0"/>
              </a:rPr>
              <a:t>This unit comprises four Elements:</a:t>
            </a:r>
          </a:p>
          <a:p>
            <a:pPr>
              <a:spcBef>
                <a:spcPts val="600"/>
              </a:spcBef>
              <a:spcAft>
                <a:spcPts val="1200"/>
              </a:spcAft>
            </a:pPr>
            <a:r>
              <a:rPr lang="en-AU" sz="2200" dirty="0" smtClean="0">
                <a:latin typeface="Helvetica" pitchFamily="34" charset="0"/>
              </a:rPr>
              <a:t>Complete liquor sales</a:t>
            </a:r>
          </a:p>
          <a:p>
            <a:pPr>
              <a:spcBef>
                <a:spcPts val="600"/>
              </a:spcBef>
              <a:spcAft>
                <a:spcPts val="1200"/>
              </a:spcAft>
            </a:pPr>
            <a:r>
              <a:rPr lang="en-AU" sz="2200" dirty="0" smtClean="0">
                <a:latin typeface="Helvetica" pitchFamily="34" charset="0"/>
              </a:rPr>
              <a:t>Pack goods</a:t>
            </a:r>
          </a:p>
          <a:p>
            <a:pPr>
              <a:spcBef>
                <a:spcPts val="600"/>
              </a:spcBef>
              <a:spcAft>
                <a:spcPts val="1200"/>
              </a:spcAft>
            </a:pPr>
            <a:r>
              <a:rPr lang="en-AU" sz="2200" dirty="0" smtClean="0">
                <a:latin typeface="Helvetica" pitchFamily="34" charset="0"/>
              </a:rPr>
              <a:t>Minimise theft</a:t>
            </a:r>
          </a:p>
          <a:p>
            <a:pPr>
              <a:spcBef>
                <a:spcPts val="600"/>
              </a:spcBef>
              <a:spcAft>
                <a:spcPts val="1200"/>
              </a:spcAft>
            </a:pPr>
            <a:r>
              <a:rPr lang="en-AU" sz="2200" dirty="0" smtClean="0">
                <a:latin typeface="Helvetica" pitchFamily="34" charset="0"/>
              </a:rPr>
              <a:t>Merchandise goods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6" name="Picture 5" descr="3243138506_81e5441b5f_m.jpg"/>
          <p:cNvPicPr>
            <a:picLocks noChangeAspect="1"/>
          </p:cNvPicPr>
          <p:nvPr/>
        </p:nvPicPr>
        <p:blipFill>
          <a:blip r:embed="rId3" cstate="print"/>
          <a:stretch>
            <a:fillRect/>
          </a:stretch>
        </p:blipFill>
        <p:spPr>
          <a:xfrm>
            <a:off x="6444208" y="3933056"/>
            <a:ext cx="1991883" cy="1378383"/>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smtClean="0">
                <a:latin typeface="Helvetica" pitchFamily="34" charset="0"/>
              </a:rPr>
              <a:t>Workplace observation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pPr>
            <a:r>
              <a:rPr lang="en-US" sz="2200" dirty="0" smtClean="0">
                <a:latin typeface="Helvetica" pitchFamily="34" charset="0"/>
              </a:rPr>
              <a:t>Formal report from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6" name="Picture 5" descr="698.jpg"/>
          <p:cNvPicPr>
            <a:picLocks noChangeAspect="1"/>
          </p:cNvPicPr>
          <p:nvPr/>
        </p:nvPicPr>
        <p:blipFill>
          <a:blip r:embed="rId3" cstate="print"/>
          <a:stretch>
            <a:fillRect/>
          </a:stretch>
        </p:blipFill>
        <p:spPr>
          <a:xfrm>
            <a:off x="5184576" y="4005064"/>
            <a:ext cx="3203848" cy="1531986"/>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grpSp>
        <p:nvGrpSpPr>
          <p:cNvPr id="22" name="Group 21"/>
          <p:cNvGrpSpPr/>
          <p:nvPr/>
        </p:nvGrpSpPr>
        <p:grpSpPr>
          <a:xfrm>
            <a:off x="2236961" y="620688"/>
            <a:ext cx="3199135" cy="4916760"/>
            <a:chOff x="3533105" y="620688"/>
            <a:chExt cx="3199135" cy="4916760"/>
          </a:xfrm>
        </p:grpSpPr>
        <p:grpSp>
          <p:nvGrpSpPr>
            <p:cNvPr id="21" name="Group 20"/>
            <p:cNvGrpSpPr/>
            <p:nvPr/>
          </p:nvGrpSpPr>
          <p:grpSpPr>
            <a:xfrm>
              <a:off x="3533105" y="620688"/>
              <a:ext cx="3199135" cy="4916760"/>
              <a:chOff x="1012825" y="1752600"/>
              <a:chExt cx="3199135" cy="4916760"/>
            </a:xfrm>
          </p:grpSpPr>
          <p:grpSp>
            <p:nvGrpSpPr>
              <p:cNvPr id="20" name="Group 19"/>
              <p:cNvGrpSpPr/>
              <p:nvPr/>
            </p:nvGrpSpPr>
            <p:grpSpPr>
              <a:xfrm>
                <a:off x="1012825" y="3729038"/>
                <a:ext cx="3199135" cy="2940322"/>
                <a:chOff x="1012825" y="3729038"/>
                <a:chExt cx="2028825" cy="2182812"/>
              </a:xfrm>
            </p:grpSpPr>
            <p:sp>
              <p:nvSpPr>
                <p:cNvPr id="7" name="AutoShape 3"/>
                <p:cNvSpPr>
                  <a:spLocks noChangeArrowheads="1"/>
                </p:cNvSpPr>
                <p:nvPr/>
              </p:nvSpPr>
              <p:spPr bwMode="gray">
                <a:xfrm rot="5400000">
                  <a:off x="936625" y="3806825"/>
                  <a:ext cx="2181225" cy="2028825"/>
                </a:xfrm>
                <a:prstGeom prst="roundRect">
                  <a:avLst>
                    <a:gd name="adj" fmla="val 19894"/>
                  </a:avLst>
                </a:prstGeom>
                <a:gradFill rotWithShape="1">
                  <a:gsLst>
                    <a:gs pos="0">
                      <a:srgbClr val="FEFFFF">
                        <a:gamma/>
                        <a:shade val="78824"/>
                        <a:invGamma/>
                        <a:alpha val="98000"/>
                      </a:srgbClr>
                    </a:gs>
                    <a:gs pos="50000">
                      <a:srgbClr val="FEFFFF"/>
                    </a:gs>
                    <a:gs pos="100000">
                      <a:srgbClr val="FEFFFF">
                        <a:gamma/>
                        <a:shade val="78824"/>
                        <a:invGamma/>
                        <a:alpha val="98000"/>
                      </a:srgbClr>
                    </a:gs>
                  </a:gsLst>
                  <a:lin ang="5400000" scaled="1"/>
                </a:gradFill>
                <a:ln w="38100" algn="ctr">
                  <a:solidFill>
                    <a:srgbClr val="DDDDDD"/>
                  </a:solidFill>
                  <a:round/>
                  <a:headEnd/>
                  <a:tailEnd/>
                </a:ln>
                <a:effectLst/>
              </p:spPr>
              <p:txBody>
                <a:bodyPr wrap="none" anchor="ctr"/>
                <a:lstStyle/>
                <a:p>
                  <a:pPr>
                    <a:defRPr/>
                  </a:pPr>
                  <a:endParaRPr lang="en-AU" dirty="0"/>
                </a:p>
              </p:txBody>
            </p:sp>
            <p:sp>
              <p:nvSpPr>
                <p:cNvPr id="8" name="Freeform 4"/>
                <p:cNvSpPr>
                  <a:spLocks/>
                </p:cNvSpPr>
                <p:nvPr/>
              </p:nvSpPr>
              <p:spPr bwMode="gray">
                <a:xfrm>
                  <a:off x="1023938" y="3729038"/>
                  <a:ext cx="2006600" cy="481012"/>
                </a:xfrm>
                <a:custGeom>
                  <a:avLst/>
                  <a:gdLst>
                    <a:gd name="T0" fmla="*/ 7900 w 1270"/>
                    <a:gd name="T1" fmla="*/ 481012 h 303"/>
                    <a:gd name="T2" fmla="*/ 33180 w 1270"/>
                    <a:gd name="T3" fmla="*/ 280987 h 303"/>
                    <a:gd name="T4" fmla="*/ 271760 w 1270"/>
                    <a:gd name="T5" fmla="*/ 34925 h 303"/>
                    <a:gd name="T6" fmla="*/ 570380 w 1270"/>
                    <a:gd name="T7" fmla="*/ 17462 h 303"/>
                    <a:gd name="T8" fmla="*/ 1472560 w 1270"/>
                    <a:gd name="T9" fmla="*/ 19050 h 303"/>
                    <a:gd name="T10" fmla="*/ 1690600 w 1270"/>
                    <a:gd name="T11" fmla="*/ 22225 h 303"/>
                    <a:gd name="T12" fmla="*/ 1990800 w 1270"/>
                    <a:gd name="T13" fmla="*/ 300037 h 303"/>
                    <a:gd name="T14" fmla="*/ 2000280 w 1270"/>
                    <a:gd name="T15" fmla="*/ 479425 h 303"/>
                    <a:gd name="T16" fmla="*/ 7900 w 1270"/>
                    <a:gd name="T17" fmla="*/ 481012 h 30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70"/>
                    <a:gd name="T28" fmla="*/ 0 h 303"/>
                    <a:gd name="T29" fmla="*/ 1270 w 1270"/>
                    <a:gd name="T30" fmla="*/ 303 h 30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70" h="303">
                      <a:moveTo>
                        <a:pt x="5" y="303"/>
                      </a:moveTo>
                      <a:cubicBezTo>
                        <a:pt x="5" y="303"/>
                        <a:pt x="0" y="253"/>
                        <a:pt x="21" y="177"/>
                      </a:cubicBezTo>
                      <a:cubicBezTo>
                        <a:pt x="48" y="130"/>
                        <a:pt x="69" y="44"/>
                        <a:pt x="172" y="22"/>
                      </a:cubicBezTo>
                      <a:cubicBezTo>
                        <a:pt x="275" y="0"/>
                        <a:pt x="235" y="13"/>
                        <a:pt x="361" y="11"/>
                      </a:cubicBezTo>
                      <a:cubicBezTo>
                        <a:pt x="487" y="9"/>
                        <a:pt x="813" y="12"/>
                        <a:pt x="932" y="12"/>
                      </a:cubicBezTo>
                      <a:cubicBezTo>
                        <a:pt x="1050" y="12"/>
                        <a:pt x="998" y="2"/>
                        <a:pt x="1070" y="14"/>
                      </a:cubicBezTo>
                      <a:cubicBezTo>
                        <a:pt x="1143" y="26"/>
                        <a:pt x="1215" y="84"/>
                        <a:pt x="1260" y="189"/>
                      </a:cubicBezTo>
                      <a:cubicBezTo>
                        <a:pt x="1270" y="262"/>
                        <a:pt x="1266" y="302"/>
                        <a:pt x="1266" y="302"/>
                      </a:cubicBezTo>
                      <a:lnTo>
                        <a:pt x="5" y="303"/>
                      </a:lnTo>
                      <a:close/>
                    </a:path>
                  </a:pathLst>
                </a:custGeom>
                <a:solidFill>
                  <a:schemeClr val="accent2">
                    <a:alpha val="50195"/>
                  </a:schemeClr>
                </a:solidFill>
                <a:ln w="38100" cap="flat" cmpd="sng">
                  <a:noFill/>
                  <a:prstDash val="solid"/>
                  <a:round/>
                  <a:headEnd/>
                  <a:tailEnd/>
                </a:ln>
              </p:spPr>
              <p:txBody>
                <a:bodyPr wrap="none" anchor="ctr"/>
                <a:lstStyle/>
                <a:p>
                  <a:endParaRPr lang="en-AU" dirty="0"/>
                </a:p>
              </p:txBody>
            </p:sp>
            <p:sp>
              <p:nvSpPr>
                <p:cNvPr id="9" name="Rectangle 5"/>
                <p:cNvSpPr>
                  <a:spLocks noChangeArrowheads="1"/>
                </p:cNvSpPr>
                <p:nvPr/>
              </p:nvSpPr>
              <p:spPr bwMode="gray">
                <a:xfrm>
                  <a:off x="1215011" y="3816350"/>
                  <a:ext cx="1637932" cy="274182"/>
                </a:xfrm>
                <a:prstGeom prst="rect">
                  <a:avLst/>
                </a:prstGeom>
                <a:noFill/>
                <a:ln w="9525" algn="ctr">
                  <a:noFill/>
                  <a:miter lim="800000"/>
                  <a:headEnd/>
                  <a:tailEnd/>
                </a:ln>
              </p:spPr>
              <p:txBody>
                <a:bodyPr wrap="none">
                  <a:spAutoFit/>
                </a:bodyPr>
                <a:lstStyle/>
                <a:p>
                  <a:pPr>
                    <a:spcBef>
                      <a:spcPts val="600"/>
                    </a:spcBef>
                    <a:spcAft>
                      <a:spcPts val="1200"/>
                    </a:spcAft>
                  </a:pPr>
                  <a:r>
                    <a:rPr lang="en-AU" b="1" dirty="0" smtClean="0">
                      <a:latin typeface="Helvetica" pitchFamily="34" charset="0"/>
                    </a:rPr>
                    <a:t>Complete liquor sales</a:t>
                  </a:r>
                </a:p>
              </p:txBody>
            </p:sp>
          </p:grpSp>
          <p:grpSp>
            <p:nvGrpSpPr>
              <p:cNvPr id="18" name="Group 17"/>
              <p:cNvGrpSpPr/>
              <p:nvPr/>
            </p:nvGrpSpPr>
            <p:grpSpPr>
              <a:xfrm>
                <a:off x="1467495" y="1752600"/>
                <a:ext cx="2384425" cy="1946275"/>
                <a:chOff x="881063" y="1752600"/>
                <a:chExt cx="2384425" cy="1946275"/>
              </a:xfrm>
            </p:grpSpPr>
            <p:grpSp>
              <p:nvGrpSpPr>
                <p:cNvPr id="11" name="Group 23"/>
                <p:cNvGrpSpPr>
                  <a:grpSpLocks/>
                </p:cNvGrpSpPr>
                <p:nvPr/>
              </p:nvGrpSpPr>
              <p:grpSpPr bwMode="auto">
                <a:xfrm>
                  <a:off x="881063" y="1752600"/>
                  <a:ext cx="2384425" cy="538163"/>
                  <a:chOff x="555" y="1126"/>
                  <a:chExt cx="1502" cy="339"/>
                </a:xfrm>
              </p:grpSpPr>
              <p:sp>
                <p:nvSpPr>
                  <p:cNvPr id="14" name="AutoShape 24"/>
                  <p:cNvSpPr>
                    <a:spLocks noChangeArrowheads="1"/>
                  </p:cNvSpPr>
                  <p:nvPr/>
                </p:nvSpPr>
                <p:spPr bwMode="gray">
                  <a:xfrm>
                    <a:off x="555" y="1126"/>
                    <a:ext cx="1502" cy="339"/>
                  </a:xfrm>
                  <a:prstGeom prst="roundRect">
                    <a:avLst>
                      <a:gd name="adj" fmla="val 50000"/>
                    </a:avLst>
                  </a:prstGeom>
                  <a:gradFill rotWithShape="1">
                    <a:gsLst>
                      <a:gs pos="0">
                        <a:schemeClr val="accent2">
                          <a:gamma/>
                          <a:shade val="36078"/>
                          <a:invGamma/>
                        </a:schemeClr>
                      </a:gs>
                      <a:gs pos="50000">
                        <a:schemeClr val="accent2"/>
                      </a:gs>
                      <a:gs pos="100000">
                        <a:schemeClr val="accent2">
                          <a:gamma/>
                          <a:shade val="36078"/>
                          <a:invGamma/>
                        </a:schemeClr>
                      </a:gs>
                    </a:gsLst>
                    <a:lin ang="5400000" scaled="1"/>
                  </a:gradFill>
                  <a:ln w="9525" algn="ctr">
                    <a:noFill/>
                    <a:round/>
                    <a:headEnd/>
                    <a:tailEnd/>
                  </a:ln>
                  <a:effectLst>
                    <a:outerShdw dist="40161" dir="4293903" algn="ctr" rotWithShape="0">
                      <a:srgbClr val="FFFFCC">
                        <a:alpha val="50000"/>
                      </a:srgbClr>
                    </a:outerShdw>
                  </a:effectLst>
                </p:spPr>
                <p:txBody>
                  <a:bodyPr wrap="none" anchor="ctr"/>
                  <a:lstStyle/>
                  <a:p>
                    <a:pPr>
                      <a:defRPr/>
                    </a:pPr>
                    <a:endParaRPr lang="en-AU" dirty="0"/>
                  </a:p>
                </p:txBody>
              </p:sp>
              <p:sp>
                <p:nvSpPr>
                  <p:cNvPr id="15" name="AutoShape 25"/>
                  <p:cNvSpPr>
                    <a:spLocks noChangeArrowheads="1"/>
                  </p:cNvSpPr>
                  <p:nvPr/>
                </p:nvSpPr>
                <p:spPr bwMode="gray">
                  <a:xfrm>
                    <a:off x="574" y="1145"/>
                    <a:ext cx="1464" cy="303"/>
                  </a:xfrm>
                  <a:prstGeom prst="roundRect">
                    <a:avLst>
                      <a:gd name="adj" fmla="val 50000"/>
                    </a:avLst>
                  </a:prstGeom>
                  <a:gradFill rotWithShape="1">
                    <a:gsLst>
                      <a:gs pos="0">
                        <a:schemeClr val="accent2">
                          <a:alpha val="89999"/>
                        </a:schemeClr>
                      </a:gs>
                      <a:gs pos="50000">
                        <a:schemeClr val="accent2">
                          <a:gamma/>
                          <a:tint val="33725"/>
                          <a:invGamma/>
                        </a:schemeClr>
                      </a:gs>
                      <a:gs pos="100000">
                        <a:schemeClr val="accent2">
                          <a:alpha val="89999"/>
                        </a:schemeClr>
                      </a:gs>
                    </a:gsLst>
                    <a:lin ang="0" scaled="1"/>
                  </a:gradFill>
                  <a:ln w="9525" algn="ctr">
                    <a:noFill/>
                    <a:round/>
                    <a:headEnd/>
                    <a:tailEnd/>
                  </a:ln>
                  <a:effectLst/>
                </p:spPr>
                <p:txBody>
                  <a:bodyPr wrap="none" anchor="ctr"/>
                  <a:lstStyle/>
                  <a:p>
                    <a:pPr>
                      <a:defRPr/>
                    </a:pPr>
                    <a:endParaRPr lang="en-AU" dirty="0"/>
                  </a:p>
                </p:txBody>
              </p:sp>
            </p:grpSp>
            <p:sp>
              <p:nvSpPr>
                <p:cNvPr id="12" name="Rectangle 26"/>
                <p:cNvSpPr>
                  <a:spLocks noChangeArrowheads="1"/>
                </p:cNvSpPr>
                <p:nvPr/>
              </p:nvSpPr>
              <p:spPr bwMode="gray">
                <a:xfrm>
                  <a:off x="1170609" y="1822451"/>
                  <a:ext cx="1638590" cy="369332"/>
                </a:xfrm>
                <a:prstGeom prst="rect">
                  <a:avLst/>
                </a:prstGeom>
                <a:noFill/>
                <a:ln w="9525" algn="ctr">
                  <a:noFill/>
                  <a:miter lim="800000"/>
                  <a:headEnd/>
                  <a:tailEnd/>
                </a:ln>
              </p:spPr>
              <p:txBody>
                <a:bodyPr wrap="none" tIns="0" bIns="0" anchor="t">
                  <a:spAutoFit/>
                </a:bodyPr>
                <a:lstStyle/>
                <a:p>
                  <a:pPr algn="ctr"/>
                  <a:r>
                    <a:rPr lang="en-AU" sz="2400" b="1" dirty="0" smtClean="0">
                      <a:latin typeface="Helvetica" pitchFamily="34" charset="0"/>
                    </a:rPr>
                    <a:t>Element 1</a:t>
                  </a:r>
                </a:p>
              </p:txBody>
            </p:sp>
            <p:sp>
              <p:nvSpPr>
                <p:cNvPr id="13" name="AutoShape 27"/>
                <p:cNvSpPr>
                  <a:spLocks noChangeArrowheads="1"/>
                </p:cNvSpPr>
                <p:nvPr/>
              </p:nvSpPr>
              <p:spPr bwMode="gray">
                <a:xfrm flipV="1">
                  <a:off x="1066800" y="2327275"/>
                  <a:ext cx="1981200" cy="1371600"/>
                </a:xfrm>
                <a:prstGeom prst="triangle">
                  <a:avLst>
                    <a:gd name="adj" fmla="val 50000"/>
                  </a:avLst>
                </a:prstGeom>
                <a:gradFill rotWithShape="1">
                  <a:gsLst>
                    <a:gs pos="0">
                      <a:schemeClr val="accent2"/>
                    </a:gs>
                    <a:gs pos="100000">
                      <a:schemeClr val="accent2">
                        <a:gamma/>
                        <a:tint val="0"/>
                        <a:invGamma/>
                      </a:schemeClr>
                    </a:gs>
                  </a:gsLst>
                  <a:lin ang="5400000" scaled="1"/>
                </a:gradFill>
                <a:ln w="9525">
                  <a:noFill/>
                  <a:miter lim="800000"/>
                  <a:headEnd/>
                  <a:tailEnd/>
                </a:ln>
                <a:effectLst/>
              </p:spPr>
              <p:txBody>
                <a:bodyPr wrap="none" anchor="ctr"/>
                <a:lstStyle/>
                <a:p>
                  <a:pPr>
                    <a:defRPr/>
                  </a:pPr>
                  <a:endParaRPr lang="en-AU" dirty="0"/>
                </a:p>
              </p:txBody>
            </p:sp>
          </p:grpSp>
        </p:grpSp>
        <p:pic>
          <p:nvPicPr>
            <p:cNvPr id="5" name="Picture 4" descr="MP900408951.JPG"/>
            <p:cNvPicPr>
              <a:picLocks noChangeAspect="1"/>
            </p:cNvPicPr>
            <p:nvPr/>
          </p:nvPicPr>
          <p:blipFill>
            <a:blip r:embed="rId3" cstate="print"/>
            <a:stretch>
              <a:fillRect/>
            </a:stretch>
          </p:blipFill>
          <p:spPr>
            <a:xfrm>
              <a:off x="4067944" y="3284984"/>
              <a:ext cx="2232248" cy="2232248"/>
            </a:xfrm>
            <a:prstGeom prst="rect">
              <a:avLst/>
            </a:prstGeom>
          </p:spPr>
        </p:pic>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Complete liquor sales</a:t>
            </a: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Provide advice or information to customers on different types of products available</a:t>
            </a:r>
          </a:p>
          <a:p>
            <a:pPr>
              <a:spcBef>
                <a:spcPts val="600"/>
              </a:spcBef>
              <a:spcAft>
                <a:spcPts val="1200"/>
              </a:spcAft>
            </a:pPr>
            <a:r>
              <a:rPr lang="en-AU" sz="2200" dirty="0" smtClean="0">
                <a:latin typeface="Helvetica" pitchFamily="34" charset="0"/>
              </a:rPr>
              <a:t>Process sales promptly in accordance with enterprise procedures</a:t>
            </a:r>
          </a:p>
          <a:p>
            <a:pPr>
              <a:spcBef>
                <a:spcPts val="600"/>
              </a:spcBef>
              <a:spcAft>
                <a:spcPts val="1200"/>
              </a:spcAft>
            </a:pPr>
            <a:r>
              <a:rPr lang="en-AU" sz="2200" dirty="0" smtClean="0">
                <a:latin typeface="Helvetica" pitchFamily="34" charset="0"/>
              </a:rPr>
              <a:t>Complete order forms, invoices and/or receipts accurately in accordance with enterprise and </a:t>
            </a:r>
            <a:br>
              <a:rPr lang="en-AU" sz="2200" dirty="0" smtClean="0">
                <a:latin typeface="Helvetica" pitchFamily="34" charset="0"/>
              </a:rPr>
            </a:br>
            <a:r>
              <a:rPr lang="en-AU" sz="2200" dirty="0" smtClean="0">
                <a:latin typeface="Helvetica" pitchFamily="34" charset="0"/>
              </a:rPr>
              <a:t>legal requirements</a:t>
            </a:r>
          </a:p>
          <a:p>
            <a:pPr>
              <a:spcBef>
                <a:spcPts val="600"/>
              </a:spcBef>
              <a:spcAft>
                <a:spcPts val="1200"/>
              </a:spcAft>
            </a:pPr>
            <a:r>
              <a:rPr lang="en-AU" sz="2200" dirty="0" smtClean="0">
                <a:latin typeface="Helvetica" pitchFamily="34" charset="0"/>
              </a:rPr>
              <a:t>Operate point of sale equipment in </a:t>
            </a:r>
            <a:br>
              <a:rPr lang="en-AU" sz="2200" dirty="0" smtClean="0">
                <a:latin typeface="Helvetica" pitchFamily="34" charset="0"/>
              </a:rPr>
            </a:br>
            <a:r>
              <a:rPr lang="en-AU" sz="2200" dirty="0" smtClean="0">
                <a:latin typeface="Helvetica" pitchFamily="34" charset="0"/>
              </a:rPr>
              <a:t>accordance with manufacturer’s instructions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6" name="Picture 5" descr="MP900409077.JPG"/>
          <p:cNvPicPr>
            <a:picLocks noChangeAspect="1"/>
          </p:cNvPicPr>
          <p:nvPr/>
        </p:nvPicPr>
        <p:blipFill>
          <a:blip r:embed="rId3" cstate="print"/>
          <a:stretch>
            <a:fillRect/>
          </a:stretch>
        </p:blipFill>
        <p:spPr>
          <a:xfrm>
            <a:off x="7020272" y="3861048"/>
            <a:ext cx="1368152" cy="1368152"/>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Complete liquor sales</a:t>
            </a: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Ensure all necessary material and/or consumables are available at the point of sale area</a:t>
            </a:r>
          </a:p>
          <a:p>
            <a:pPr>
              <a:spcBef>
                <a:spcPts val="600"/>
              </a:spcBef>
              <a:spcAft>
                <a:spcPts val="1200"/>
              </a:spcAft>
            </a:pPr>
            <a:r>
              <a:rPr lang="en-AU" sz="2200" dirty="0" smtClean="0">
                <a:latin typeface="Helvetica" pitchFamily="34" charset="0"/>
              </a:rPr>
              <a:t>Maintain cash drawer and float in accordance with enterprise procedures</a:t>
            </a:r>
          </a:p>
          <a:p>
            <a:pPr>
              <a:spcBef>
                <a:spcPts val="600"/>
              </a:spcBef>
              <a:spcAft>
                <a:spcPts val="1200"/>
              </a:spcAft>
            </a:pPr>
            <a:r>
              <a:rPr lang="en-AU" sz="2200" dirty="0" smtClean="0">
                <a:latin typeface="Helvetica" pitchFamily="34" charset="0"/>
              </a:rPr>
              <a:t>Record transactions in accordance with enterprise procedures</a:t>
            </a:r>
          </a:p>
          <a:p>
            <a:pPr>
              <a:spcBef>
                <a:spcPts val="600"/>
              </a:spcBef>
              <a:spcAft>
                <a:spcPts val="1200"/>
              </a:spcAft>
            </a:pPr>
            <a:r>
              <a:rPr lang="en-AU" sz="2200" dirty="0" smtClean="0">
                <a:latin typeface="Helvetica" pitchFamily="34" charset="0"/>
              </a:rPr>
              <a:t>Follow security procedures in accordance </a:t>
            </a:r>
            <a:br>
              <a:rPr lang="en-AU" sz="2200" dirty="0" smtClean="0">
                <a:latin typeface="Helvetica" pitchFamily="34" charset="0"/>
              </a:rPr>
            </a:br>
            <a:r>
              <a:rPr lang="en-AU" sz="2200" dirty="0" smtClean="0">
                <a:latin typeface="Helvetica" pitchFamily="34" charset="0"/>
              </a:rPr>
              <a:t>with enterprise requirements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descr="247623880_076e18ee7a_m.jpg"/>
          <p:cNvPicPr>
            <a:picLocks noChangeAspect="1"/>
          </p:cNvPicPr>
          <p:nvPr/>
        </p:nvPicPr>
        <p:blipFill>
          <a:blip r:embed="rId3" cstate="print"/>
          <a:stretch>
            <a:fillRect/>
          </a:stretch>
        </p:blipFill>
        <p:spPr>
          <a:xfrm>
            <a:off x="6444208" y="4365104"/>
            <a:ext cx="1956510" cy="1002712"/>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Provide information to customers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a:spcBef>
                <a:spcPts val="600"/>
              </a:spcBef>
              <a:spcAft>
                <a:spcPts val="1200"/>
              </a:spcAft>
              <a:buNone/>
            </a:pPr>
            <a:r>
              <a:rPr lang="en-AU" sz="2200" b="1" dirty="0" smtClean="0">
                <a:latin typeface="Helvetica" pitchFamily="34" charset="0"/>
              </a:rPr>
              <a:t>Range of items sold</a:t>
            </a:r>
          </a:p>
          <a:p>
            <a:pPr>
              <a:spcBef>
                <a:spcPts val="600"/>
              </a:spcBef>
              <a:spcAft>
                <a:spcPts val="1200"/>
              </a:spcAft>
              <a:buNone/>
            </a:pPr>
            <a:r>
              <a:rPr lang="en-AU" sz="2200" dirty="0" smtClean="0">
                <a:latin typeface="Helvetica" pitchFamily="34" charset="0"/>
              </a:rPr>
              <a:t>What items are sold in a liquor outlet:</a:t>
            </a:r>
          </a:p>
          <a:p>
            <a:pPr>
              <a:spcBef>
                <a:spcPts val="600"/>
              </a:spcBef>
              <a:spcAft>
                <a:spcPts val="1200"/>
              </a:spcAft>
            </a:pPr>
            <a:r>
              <a:rPr lang="en-AU" sz="2200" dirty="0" smtClean="0">
                <a:latin typeface="Helvetica" pitchFamily="34" charset="0"/>
              </a:rPr>
              <a:t>Alcoholic beverages</a:t>
            </a:r>
          </a:p>
          <a:p>
            <a:pPr>
              <a:spcBef>
                <a:spcPts val="600"/>
              </a:spcBef>
              <a:spcAft>
                <a:spcPts val="1200"/>
              </a:spcAft>
            </a:pPr>
            <a:r>
              <a:rPr lang="en-AU" sz="2200" dirty="0" smtClean="0">
                <a:latin typeface="Helvetica" pitchFamily="34" charset="0"/>
              </a:rPr>
              <a:t>Non-alcoholic beverages</a:t>
            </a:r>
          </a:p>
          <a:p>
            <a:pPr>
              <a:spcBef>
                <a:spcPts val="600"/>
              </a:spcBef>
              <a:spcAft>
                <a:spcPts val="1200"/>
              </a:spcAft>
            </a:pPr>
            <a:r>
              <a:rPr lang="en-AU" sz="2200" dirty="0" smtClean="0">
                <a:latin typeface="Helvetica" pitchFamily="34" charset="0"/>
              </a:rPr>
              <a:t>Food items</a:t>
            </a:r>
          </a:p>
          <a:p>
            <a:pPr>
              <a:spcBef>
                <a:spcPts val="600"/>
              </a:spcBef>
              <a:spcAft>
                <a:spcPts val="1200"/>
              </a:spcAft>
            </a:pPr>
            <a:r>
              <a:rPr lang="en-AU" sz="2200" dirty="0" smtClean="0">
                <a:latin typeface="Helvetica" pitchFamily="34" charset="0"/>
              </a:rPr>
              <a:t>Other Items</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6" name="Picture 5" descr="149036060_e0f24d2305_m.jpg"/>
          <p:cNvPicPr/>
          <p:nvPr/>
        </p:nvPicPr>
        <p:blipFill>
          <a:blip r:embed="rId3" cstate="print"/>
          <a:stretch>
            <a:fillRect/>
          </a:stretch>
        </p:blipFill>
        <p:spPr>
          <a:xfrm>
            <a:off x="6444208" y="3933056"/>
            <a:ext cx="1912094" cy="1398067"/>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Provide information to customers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a:spcBef>
                <a:spcPts val="600"/>
              </a:spcBef>
              <a:spcAft>
                <a:spcPts val="1200"/>
              </a:spcAft>
              <a:buNone/>
            </a:pPr>
            <a:r>
              <a:rPr lang="en-AU" sz="2200" b="1" dirty="0" smtClean="0">
                <a:latin typeface="Helvetica" pitchFamily="34" charset="0"/>
              </a:rPr>
              <a:t>Providing information</a:t>
            </a:r>
          </a:p>
          <a:p>
            <a:pPr marL="0">
              <a:spcBef>
                <a:spcPts val="600"/>
              </a:spcBef>
              <a:spcAft>
                <a:spcPts val="1200"/>
              </a:spcAft>
              <a:buNone/>
            </a:pPr>
            <a:r>
              <a:rPr lang="en-AU" sz="2200" dirty="0" smtClean="0">
                <a:latin typeface="Helvetica" pitchFamily="34" charset="0"/>
              </a:rPr>
              <a:t>When advising customers on their purchases the two keys are to:</a:t>
            </a:r>
          </a:p>
          <a:p>
            <a:pPr lvl="0">
              <a:spcBef>
                <a:spcPts val="600"/>
              </a:spcBef>
              <a:spcAft>
                <a:spcPts val="1200"/>
              </a:spcAft>
            </a:pPr>
            <a:r>
              <a:rPr lang="en-AU" sz="2200" dirty="0" smtClean="0">
                <a:latin typeface="Helvetica" pitchFamily="34" charset="0"/>
              </a:rPr>
              <a:t>Identify customer needs and preferences</a:t>
            </a:r>
          </a:p>
          <a:p>
            <a:pPr>
              <a:spcBef>
                <a:spcPts val="600"/>
              </a:spcBef>
              <a:spcAft>
                <a:spcPts val="1200"/>
              </a:spcAft>
            </a:pPr>
            <a:r>
              <a:rPr lang="en-AU" sz="2200" dirty="0" smtClean="0">
                <a:latin typeface="Helvetica" pitchFamily="34" charset="0"/>
              </a:rPr>
              <a:t>Use product knowledge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5" name="Picture 4" descr="320998311_a67b2e43e3_m.jpg"/>
          <p:cNvPicPr>
            <a:picLocks noChangeAspect="1"/>
          </p:cNvPicPr>
          <p:nvPr/>
        </p:nvPicPr>
        <p:blipFill>
          <a:blip r:embed="rId3" cstate="print"/>
          <a:stretch>
            <a:fillRect/>
          </a:stretch>
        </p:blipFill>
        <p:spPr>
          <a:xfrm>
            <a:off x="6300192" y="3645024"/>
            <a:ext cx="2100064" cy="1575048"/>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Provide information to customers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a:spcBef>
                <a:spcPts val="600"/>
              </a:spcBef>
              <a:spcAft>
                <a:spcPts val="1200"/>
              </a:spcAft>
              <a:buNone/>
            </a:pPr>
            <a:r>
              <a:rPr lang="en-AU" sz="2200" b="1" dirty="0" smtClean="0">
                <a:latin typeface="Helvetica" pitchFamily="34" charset="0"/>
              </a:rPr>
              <a:t>Information to know</a:t>
            </a:r>
          </a:p>
          <a:p>
            <a:pPr lvl="0">
              <a:spcBef>
                <a:spcPts val="600"/>
              </a:spcBef>
              <a:spcAft>
                <a:spcPts val="1200"/>
              </a:spcAft>
            </a:pPr>
            <a:r>
              <a:rPr lang="en-AU" sz="2200" dirty="0" smtClean="0">
                <a:latin typeface="Helvetica" pitchFamily="34" charset="0"/>
              </a:rPr>
              <a:t>Products available</a:t>
            </a:r>
          </a:p>
          <a:p>
            <a:pPr lvl="0">
              <a:spcBef>
                <a:spcPts val="600"/>
              </a:spcBef>
              <a:spcAft>
                <a:spcPts val="1200"/>
              </a:spcAft>
            </a:pPr>
            <a:r>
              <a:rPr lang="en-AU" sz="2200" dirty="0" smtClean="0">
                <a:latin typeface="Helvetica" pitchFamily="34" charset="0"/>
              </a:rPr>
              <a:t>Price of products</a:t>
            </a:r>
          </a:p>
          <a:p>
            <a:pPr lvl="0">
              <a:spcBef>
                <a:spcPts val="600"/>
              </a:spcBef>
              <a:spcAft>
                <a:spcPts val="1200"/>
              </a:spcAft>
            </a:pPr>
            <a:r>
              <a:rPr lang="en-AU" sz="2200" dirty="0" smtClean="0">
                <a:latin typeface="Helvetica" pitchFamily="34" charset="0"/>
              </a:rPr>
              <a:t>Relative prices of similar products</a:t>
            </a:r>
          </a:p>
          <a:p>
            <a:pPr lvl="0">
              <a:spcBef>
                <a:spcPts val="600"/>
              </a:spcBef>
              <a:spcAft>
                <a:spcPts val="1200"/>
              </a:spcAft>
            </a:pPr>
            <a:r>
              <a:rPr lang="en-AU" sz="2200" dirty="0" smtClean="0">
                <a:latin typeface="Helvetica" pitchFamily="34" charset="0"/>
              </a:rPr>
              <a:t>Origin of products</a:t>
            </a:r>
          </a:p>
          <a:p>
            <a:pPr lvl="0">
              <a:spcBef>
                <a:spcPts val="600"/>
              </a:spcBef>
              <a:spcAft>
                <a:spcPts val="1200"/>
              </a:spcAft>
            </a:pPr>
            <a:r>
              <a:rPr lang="en-AU" sz="2200" dirty="0" smtClean="0">
                <a:latin typeface="Helvetica" pitchFamily="34" charset="0"/>
              </a:rPr>
              <a:t>Identifying products produced in the local </a:t>
            </a:r>
            <a:br>
              <a:rPr lang="en-AU" sz="2200" dirty="0" smtClean="0">
                <a:latin typeface="Helvetica" pitchFamily="34" charset="0"/>
              </a:rPr>
            </a:br>
            <a:r>
              <a:rPr lang="en-AU" sz="2200" dirty="0" smtClean="0">
                <a:latin typeface="Helvetica" pitchFamily="34" charset="0"/>
              </a:rPr>
              <a:t>region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5" name="Picture 4" descr="MP900438457.JPG"/>
          <p:cNvPicPr>
            <a:picLocks noChangeAspect="1"/>
          </p:cNvPicPr>
          <p:nvPr/>
        </p:nvPicPr>
        <p:blipFill>
          <a:blip r:embed="rId3" cstate="print"/>
          <a:stretch>
            <a:fillRect/>
          </a:stretch>
        </p:blipFill>
        <p:spPr>
          <a:xfrm>
            <a:off x="6948264" y="3501008"/>
            <a:ext cx="1446672" cy="1832335"/>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Provide information to customers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a:spcBef>
                <a:spcPts val="600"/>
              </a:spcBef>
              <a:spcAft>
                <a:spcPts val="1200"/>
              </a:spcAft>
              <a:buNone/>
            </a:pPr>
            <a:r>
              <a:rPr lang="en-AU" sz="2200" b="1" dirty="0" smtClean="0">
                <a:latin typeface="Helvetica" pitchFamily="34" charset="0"/>
              </a:rPr>
              <a:t>Information to know</a:t>
            </a:r>
          </a:p>
          <a:p>
            <a:pPr lvl="0">
              <a:spcBef>
                <a:spcPts val="600"/>
              </a:spcBef>
              <a:spcAft>
                <a:spcPts val="1200"/>
              </a:spcAft>
            </a:pPr>
            <a:r>
              <a:rPr lang="en-AU" sz="2200" dirty="0" smtClean="0">
                <a:latin typeface="Helvetica" pitchFamily="34" charset="0"/>
              </a:rPr>
              <a:t>Value for money</a:t>
            </a:r>
          </a:p>
          <a:p>
            <a:pPr lvl="0">
              <a:spcBef>
                <a:spcPts val="600"/>
              </a:spcBef>
              <a:spcAft>
                <a:spcPts val="1200"/>
              </a:spcAft>
            </a:pPr>
            <a:r>
              <a:rPr lang="en-AU" sz="2200" dirty="0" smtClean="0">
                <a:latin typeface="Helvetica" pitchFamily="34" charset="0"/>
              </a:rPr>
              <a:t>Special promotions</a:t>
            </a:r>
          </a:p>
          <a:p>
            <a:pPr lvl="0">
              <a:spcBef>
                <a:spcPts val="600"/>
              </a:spcBef>
              <a:spcAft>
                <a:spcPts val="1200"/>
              </a:spcAft>
            </a:pPr>
            <a:r>
              <a:rPr lang="en-AU" sz="2200" dirty="0" smtClean="0">
                <a:latin typeface="Helvetica" pitchFamily="34" charset="0"/>
              </a:rPr>
              <a:t>Ingredients</a:t>
            </a:r>
          </a:p>
          <a:p>
            <a:pPr lvl="0">
              <a:spcBef>
                <a:spcPts val="600"/>
              </a:spcBef>
              <a:spcAft>
                <a:spcPts val="1200"/>
              </a:spcAft>
            </a:pPr>
            <a:r>
              <a:rPr lang="en-AU" sz="2200" dirty="0" smtClean="0">
                <a:latin typeface="Helvetica" pitchFamily="34" charset="0"/>
              </a:rPr>
              <a:t>Relative strength</a:t>
            </a:r>
          </a:p>
          <a:p>
            <a:pPr lvl="0">
              <a:spcBef>
                <a:spcPts val="600"/>
              </a:spcBef>
              <a:spcAft>
                <a:spcPts val="1200"/>
              </a:spcAft>
            </a:pPr>
            <a:r>
              <a:rPr lang="en-AU" sz="2200" dirty="0" smtClean="0">
                <a:latin typeface="Helvetica" pitchFamily="34" charset="0"/>
              </a:rPr>
              <a:t>Suitable alternatives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descr="1069004_31958023.jpg"/>
          <p:cNvPicPr>
            <a:picLocks noChangeAspect="1"/>
          </p:cNvPicPr>
          <p:nvPr/>
        </p:nvPicPr>
        <p:blipFill>
          <a:blip r:embed="rId3" cstate="print"/>
          <a:stretch>
            <a:fillRect/>
          </a:stretch>
        </p:blipFill>
        <p:spPr>
          <a:xfrm>
            <a:off x="6965806" y="3095940"/>
            <a:ext cx="1422618" cy="213326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Provide information to customers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a:spcBef>
                <a:spcPts val="600"/>
              </a:spcBef>
              <a:spcAft>
                <a:spcPts val="1200"/>
              </a:spcAft>
              <a:buNone/>
            </a:pPr>
            <a:r>
              <a:rPr lang="en-AU" sz="2200" b="1" dirty="0" smtClean="0">
                <a:latin typeface="Helvetica" pitchFamily="34" charset="0"/>
              </a:rPr>
              <a:t>Ways to develop product knowledge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Read product labels</a:t>
            </a:r>
          </a:p>
          <a:p>
            <a:pPr lvl="0">
              <a:spcBef>
                <a:spcPts val="600"/>
              </a:spcBef>
              <a:spcAft>
                <a:spcPts val="1200"/>
              </a:spcAft>
            </a:pPr>
            <a:r>
              <a:rPr lang="en-AU" sz="2200" dirty="0" smtClean="0">
                <a:latin typeface="Helvetica" pitchFamily="34" charset="0"/>
              </a:rPr>
              <a:t>Talk to sales representatives, suppliers, wineries</a:t>
            </a:r>
          </a:p>
          <a:p>
            <a:pPr lvl="0">
              <a:spcBef>
                <a:spcPts val="600"/>
              </a:spcBef>
              <a:spcAft>
                <a:spcPts val="1200"/>
              </a:spcAft>
            </a:pPr>
            <a:r>
              <a:rPr lang="en-AU" sz="2200" dirty="0" smtClean="0">
                <a:latin typeface="Helvetica" pitchFamily="34" charset="0"/>
              </a:rPr>
              <a:t>Read relevant books on wines, spirits</a:t>
            </a:r>
          </a:p>
          <a:p>
            <a:pPr lvl="0">
              <a:spcBef>
                <a:spcPts val="600"/>
              </a:spcBef>
              <a:spcAft>
                <a:spcPts val="1200"/>
              </a:spcAft>
            </a:pPr>
            <a:r>
              <a:rPr lang="en-AU" sz="2200" dirty="0" smtClean="0">
                <a:latin typeface="Helvetica" pitchFamily="34" charset="0"/>
              </a:rPr>
              <a:t>Read industry magazines containing articles and reviews on products </a:t>
            </a:r>
          </a:p>
          <a:p>
            <a:pPr lvl="0">
              <a:spcBef>
                <a:spcPts val="600"/>
              </a:spcBef>
              <a:spcAft>
                <a:spcPts val="1200"/>
              </a:spcAft>
            </a:pPr>
            <a:r>
              <a:rPr lang="en-AU" sz="2200" dirty="0" smtClean="0">
                <a:latin typeface="Helvetica" pitchFamily="34" charset="0"/>
              </a:rPr>
              <a:t>Taste the products</a:t>
            </a:r>
          </a:p>
          <a:p>
            <a:pPr lvl="0">
              <a:spcBef>
                <a:spcPts val="600"/>
              </a:spcBef>
              <a:spcAft>
                <a:spcPts val="1200"/>
              </a:spcAft>
            </a:pPr>
            <a:r>
              <a:rPr lang="en-AU" sz="2200" dirty="0" smtClean="0">
                <a:latin typeface="Helvetica" pitchFamily="34" charset="0"/>
              </a:rPr>
              <a:t>Talk to customers and get their feedback</a:t>
            </a:r>
          </a:p>
          <a:p>
            <a:pPr>
              <a:spcBef>
                <a:spcPts val="600"/>
              </a:spcBef>
              <a:spcAft>
                <a:spcPts val="1200"/>
              </a:spcAft>
            </a:pPr>
            <a:r>
              <a:rPr lang="en-AU" sz="2200" dirty="0" smtClean="0">
                <a:latin typeface="Helvetica" pitchFamily="34" charset="0"/>
              </a:rPr>
              <a:t>Attend and participate in tastings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5" name="Picture 4" descr="4126826030_f4f6264325_m.jpg"/>
          <p:cNvPicPr>
            <a:picLocks noChangeAspect="1"/>
          </p:cNvPicPr>
          <p:nvPr/>
        </p:nvPicPr>
        <p:blipFill>
          <a:blip r:embed="rId3" cstate="print"/>
          <a:stretch>
            <a:fillRect/>
          </a:stretch>
        </p:blipFill>
        <p:spPr>
          <a:xfrm>
            <a:off x="6516216" y="3861048"/>
            <a:ext cx="1839652" cy="1678682"/>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Products in a liquor outlet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a:spcBef>
                <a:spcPts val="600"/>
              </a:spcBef>
              <a:spcAft>
                <a:spcPts val="1200"/>
              </a:spcAft>
              <a:buNone/>
            </a:pPr>
            <a:r>
              <a:rPr lang="en-AU" sz="2200" b="1" dirty="0" smtClean="0">
                <a:latin typeface="Helvetica" pitchFamily="34" charset="0"/>
              </a:rPr>
              <a:t>Types of common products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Commonly stocked beers</a:t>
            </a:r>
          </a:p>
          <a:p>
            <a:pPr lvl="0">
              <a:spcBef>
                <a:spcPts val="600"/>
              </a:spcBef>
              <a:spcAft>
                <a:spcPts val="1200"/>
              </a:spcAft>
            </a:pPr>
            <a:r>
              <a:rPr lang="en-AU" sz="2200" dirty="0" smtClean="0">
                <a:latin typeface="Helvetica" pitchFamily="34" charset="0"/>
              </a:rPr>
              <a:t>Wines</a:t>
            </a:r>
          </a:p>
          <a:p>
            <a:pPr lvl="0">
              <a:spcBef>
                <a:spcPts val="600"/>
              </a:spcBef>
              <a:spcAft>
                <a:spcPts val="1200"/>
              </a:spcAft>
            </a:pPr>
            <a:r>
              <a:rPr lang="en-AU" sz="2200" dirty="0" smtClean="0">
                <a:latin typeface="Helvetica" pitchFamily="34" charset="0"/>
              </a:rPr>
              <a:t>Spirits</a:t>
            </a:r>
          </a:p>
          <a:p>
            <a:pPr lvl="0">
              <a:spcBef>
                <a:spcPts val="600"/>
              </a:spcBef>
              <a:spcAft>
                <a:spcPts val="1200"/>
              </a:spcAft>
            </a:pPr>
            <a:r>
              <a:rPr lang="en-AU" sz="2200" dirty="0" smtClean="0">
                <a:latin typeface="Helvetica" pitchFamily="34" charset="0"/>
              </a:rPr>
              <a:t>Liqueurs</a:t>
            </a:r>
          </a:p>
          <a:p>
            <a:pPr lvl="0">
              <a:spcBef>
                <a:spcPts val="600"/>
              </a:spcBef>
              <a:spcAft>
                <a:spcPts val="1200"/>
              </a:spcAft>
            </a:pPr>
            <a:r>
              <a:rPr lang="en-AU" sz="2200" dirty="0" smtClean="0">
                <a:latin typeface="Helvetica" pitchFamily="34" charset="0"/>
              </a:rPr>
              <a:t>Packaged convenience foods</a:t>
            </a:r>
          </a:p>
          <a:p>
            <a:pPr lvl="0">
              <a:spcBef>
                <a:spcPts val="600"/>
              </a:spcBef>
              <a:spcAft>
                <a:spcPts val="1200"/>
              </a:spcAft>
            </a:pPr>
            <a:r>
              <a:rPr lang="en-AU" sz="2200" dirty="0" smtClean="0">
                <a:latin typeface="Helvetica" pitchFamily="34" charset="0"/>
              </a:rPr>
              <a:t>Non-alcoholic drinks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5" name="Picture 4" descr="IMG_2104.jpg"/>
          <p:cNvPicPr/>
          <p:nvPr/>
        </p:nvPicPr>
        <p:blipFill>
          <a:blip r:embed="rId3" cstate="print"/>
          <a:stretch>
            <a:fillRect/>
          </a:stretch>
        </p:blipFill>
        <p:spPr>
          <a:xfrm>
            <a:off x="6300192" y="4005064"/>
            <a:ext cx="1965816" cy="100382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Beer</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a:spcBef>
                <a:spcPts val="600"/>
              </a:spcBef>
              <a:spcAft>
                <a:spcPts val="1200"/>
              </a:spcAft>
            </a:pPr>
            <a:r>
              <a:rPr lang="en-AU" sz="2200" dirty="0" smtClean="0">
                <a:latin typeface="Helvetica" pitchFamily="34" charset="0"/>
              </a:rPr>
              <a:t>How is beer made?</a:t>
            </a:r>
          </a:p>
          <a:p>
            <a:pPr>
              <a:spcBef>
                <a:spcPts val="600"/>
              </a:spcBef>
              <a:spcAft>
                <a:spcPts val="1200"/>
              </a:spcAft>
            </a:pPr>
            <a:r>
              <a:rPr lang="en-AU" sz="2200" dirty="0" smtClean="0">
                <a:latin typeface="Helvetica" pitchFamily="34" charset="0"/>
              </a:rPr>
              <a:t>What are brands of local beer?</a:t>
            </a:r>
          </a:p>
          <a:p>
            <a:pPr>
              <a:spcBef>
                <a:spcPts val="600"/>
              </a:spcBef>
              <a:spcAft>
                <a:spcPts val="1200"/>
              </a:spcAft>
            </a:pPr>
            <a:r>
              <a:rPr lang="en-AU" sz="2200" dirty="0" smtClean="0">
                <a:latin typeface="Helvetica" pitchFamily="34" charset="0"/>
              </a:rPr>
              <a:t>What are brands of imported beer?</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7" name="Picture 6" descr="MP900443861.JPG"/>
          <p:cNvPicPr/>
          <p:nvPr/>
        </p:nvPicPr>
        <p:blipFill>
          <a:blip r:embed="rId3" cstate="print"/>
          <a:stretch>
            <a:fillRect/>
          </a:stretch>
        </p:blipFill>
        <p:spPr>
          <a:xfrm>
            <a:off x="7020272" y="3068960"/>
            <a:ext cx="1385570" cy="207645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457200" y="274638"/>
            <a:ext cx="7467600" cy="778098"/>
          </a:xfrm>
          <a:noFill/>
          <a:ln/>
        </p:spPr>
        <p:txBody>
          <a:bodyPr>
            <a:normAutofit/>
          </a:bodyPr>
          <a:lstStyle/>
          <a:p>
            <a:r>
              <a:rPr lang="en-AU" sz="3400" b="1" dirty="0" smtClean="0">
                <a:solidFill>
                  <a:srgbClr val="FF6600"/>
                </a:solidFill>
                <a:latin typeface="Helvetica" pitchFamily="34" charset="0"/>
              </a:rPr>
              <a:t>Beer</a:t>
            </a:r>
          </a:p>
        </p:txBody>
      </p:sp>
      <p:sp>
        <p:nvSpPr>
          <p:cNvPr id="75779" name="Rectangle 3"/>
          <p:cNvSpPr>
            <a:spLocks noGrp="1" noChangeArrowheads="1"/>
          </p:cNvSpPr>
          <p:nvPr>
            <p:ph type="body" idx="1"/>
          </p:nvPr>
        </p:nvSpPr>
        <p:spPr>
          <a:xfrm>
            <a:off x="539552" y="1052736"/>
            <a:ext cx="7660208" cy="4586064"/>
          </a:xfrm>
        </p:spPr>
        <p:txBody>
          <a:bodyPr>
            <a:normAutofit/>
          </a:bodyPr>
          <a:lstStyle/>
          <a:p>
            <a:pPr marL="0">
              <a:spcBef>
                <a:spcPts val="600"/>
              </a:spcBef>
              <a:spcAft>
                <a:spcPts val="1200"/>
              </a:spcAft>
              <a:buNone/>
            </a:pPr>
            <a:r>
              <a:rPr lang="en-AU" altLang="zh-CN" sz="2200" dirty="0" smtClean="0">
                <a:latin typeface="Helvetica" pitchFamily="34" charset="0"/>
              </a:rPr>
              <a:t>Beer is a term for all fermented liquors brewed from malt and cereals.</a:t>
            </a:r>
          </a:p>
          <a:p>
            <a:pPr>
              <a:spcBef>
                <a:spcPts val="600"/>
              </a:spcBef>
              <a:spcAft>
                <a:spcPts val="1200"/>
              </a:spcAft>
              <a:buNone/>
            </a:pPr>
            <a:r>
              <a:rPr lang="en-AU" altLang="zh-CN" sz="2200" dirty="0" smtClean="0">
                <a:latin typeface="Helvetica" pitchFamily="34" charset="0"/>
              </a:rPr>
              <a:t>Ingredients of beer making include:</a:t>
            </a:r>
          </a:p>
          <a:p>
            <a:pPr>
              <a:spcBef>
                <a:spcPts val="600"/>
              </a:spcBef>
              <a:spcAft>
                <a:spcPts val="1200"/>
              </a:spcAft>
            </a:pPr>
            <a:r>
              <a:rPr lang="en-AU" altLang="zh-CN" sz="2200" dirty="0" smtClean="0">
                <a:latin typeface="Helvetica" pitchFamily="34" charset="0"/>
              </a:rPr>
              <a:t>Malted barley		(sugar source)</a:t>
            </a:r>
          </a:p>
          <a:p>
            <a:pPr>
              <a:spcBef>
                <a:spcPts val="600"/>
              </a:spcBef>
              <a:spcAft>
                <a:spcPts val="1200"/>
              </a:spcAft>
            </a:pPr>
            <a:r>
              <a:rPr lang="en-AU" altLang="zh-CN" sz="2200" dirty="0" smtClean="0">
                <a:latin typeface="Helvetica" pitchFamily="34" charset="0"/>
              </a:rPr>
              <a:t>Yeast			(agent of fermentation)</a:t>
            </a:r>
          </a:p>
          <a:p>
            <a:pPr>
              <a:spcBef>
                <a:spcPts val="600"/>
              </a:spcBef>
              <a:spcAft>
                <a:spcPts val="1200"/>
              </a:spcAft>
            </a:pPr>
            <a:r>
              <a:rPr lang="en-AU" altLang="zh-CN" sz="2200" dirty="0" smtClean="0">
                <a:latin typeface="Helvetica" pitchFamily="34" charset="0"/>
              </a:rPr>
              <a:t>Hops			(flavouring and seasoning)</a:t>
            </a:r>
          </a:p>
          <a:p>
            <a:pPr>
              <a:spcBef>
                <a:spcPts val="600"/>
              </a:spcBef>
              <a:spcAft>
                <a:spcPts val="1200"/>
              </a:spcAft>
            </a:pPr>
            <a:r>
              <a:rPr lang="en-AU" altLang="zh-CN" sz="2200" dirty="0" smtClean="0">
                <a:latin typeface="Helvetica" pitchFamily="34" charset="0"/>
              </a:rPr>
              <a:t>Water</a:t>
            </a:r>
            <a:endParaRPr lang="en-AU" sz="2200" dirty="0" smtClean="0">
              <a:latin typeface="Helvetica" pitchFamily="34" charset="0"/>
            </a:endParaRPr>
          </a:p>
        </p:txBody>
      </p:sp>
      <p:pic>
        <p:nvPicPr>
          <p:cNvPr id="75780" name="Picture 4" descr="many-frothy-beers"/>
          <p:cNvPicPr>
            <a:picLocks noChangeAspect="1" noChangeArrowheads="1"/>
          </p:cNvPicPr>
          <p:nvPr/>
        </p:nvPicPr>
        <p:blipFill>
          <a:blip r:embed="rId3" cstate="print"/>
          <a:srcRect/>
          <a:stretch>
            <a:fillRect/>
          </a:stretch>
        </p:blipFill>
        <p:spPr bwMode="auto">
          <a:xfrm>
            <a:off x="6372200" y="4221088"/>
            <a:ext cx="2019542" cy="1347788"/>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457200" y="274638"/>
            <a:ext cx="7467600" cy="778098"/>
          </a:xfrm>
          <a:noFill/>
          <a:ln/>
        </p:spPr>
        <p:txBody>
          <a:bodyPr>
            <a:normAutofit/>
          </a:bodyPr>
          <a:lstStyle/>
          <a:p>
            <a:r>
              <a:rPr lang="en-AU" sz="3400" b="1" dirty="0" smtClean="0">
                <a:solidFill>
                  <a:srgbClr val="FF6600"/>
                </a:solidFill>
                <a:latin typeface="Helvetica" pitchFamily="34" charset="0"/>
              </a:rPr>
              <a:t>Beer</a:t>
            </a:r>
            <a:endParaRPr lang="en-AU" sz="3400" dirty="0" smtClean="0">
              <a:solidFill>
                <a:srgbClr val="FF6600"/>
              </a:solidFill>
            </a:endParaRPr>
          </a:p>
        </p:txBody>
      </p:sp>
      <p:sp>
        <p:nvSpPr>
          <p:cNvPr id="80899" name="Rectangle 3"/>
          <p:cNvSpPr>
            <a:spLocks noGrp="1" noChangeArrowheads="1"/>
          </p:cNvSpPr>
          <p:nvPr>
            <p:ph type="body" idx="1"/>
          </p:nvPr>
        </p:nvSpPr>
        <p:spPr>
          <a:xfrm>
            <a:off x="457200" y="1052736"/>
            <a:ext cx="8026400" cy="4509864"/>
          </a:xfrm>
        </p:spPr>
        <p:txBody>
          <a:bodyPr>
            <a:normAutofit/>
          </a:bodyPr>
          <a:lstStyle/>
          <a:p>
            <a:pPr>
              <a:spcBef>
                <a:spcPts val="600"/>
              </a:spcBef>
              <a:spcAft>
                <a:spcPts val="1200"/>
              </a:spcAft>
              <a:buNone/>
            </a:pPr>
            <a:r>
              <a:rPr lang="en-AU" altLang="zh-CN" sz="2200" b="1" dirty="0" smtClean="0">
                <a:latin typeface="Helvetica" pitchFamily="34" charset="0"/>
              </a:rPr>
              <a:t>Types of beers</a:t>
            </a:r>
          </a:p>
          <a:p>
            <a:pPr>
              <a:spcBef>
                <a:spcPts val="600"/>
              </a:spcBef>
              <a:spcAft>
                <a:spcPts val="1200"/>
              </a:spcAft>
              <a:buNone/>
            </a:pPr>
            <a:r>
              <a:rPr lang="en-AU" sz="2200" dirty="0" smtClean="0">
                <a:latin typeface="Helvetica" pitchFamily="34" charset="0"/>
              </a:rPr>
              <a:t>Ales:</a:t>
            </a:r>
          </a:p>
          <a:p>
            <a:pPr>
              <a:spcBef>
                <a:spcPts val="600"/>
              </a:spcBef>
              <a:spcAft>
                <a:spcPts val="1200"/>
              </a:spcAft>
            </a:pPr>
            <a:r>
              <a:rPr lang="en-US" altLang="zh-CN" sz="2200" dirty="0" smtClean="0">
                <a:latin typeface="Helvetica" pitchFamily="34" charset="0"/>
              </a:rPr>
              <a:t>Pale Ale (bitters)</a:t>
            </a:r>
          </a:p>
          <a:p>
            <a:pPr>
              <a:spcBef>
                <a:spcPts val="600"/>
              </a:spcBef>
              <a:spcAft>
                <a:spcPts val="1200"/>
              </a:spcAft>
            </a:pPr>
            <a:r>
              <a:rPr lang="en-US" altLang="zh-CN" sz="2200" dirty="0" smtClean="0">
                <a:latin typeface="Helvetica" pitchFamily="34" charset="0"/>
              </a:rPr>
              <a:t>Dark Ale (stouts)</a:t>
            </a:r>
          </a:p>
          <a:p>
            <a:pPr>
              <a:spcBef>
                <a:spcPts val="600"/>
              </a:spcBef>
              <a:spcAft>
                <a:spcPts val="1200"/>
              </a:spcAft>
              <a:buNone/>
            </a:pPr>
            <a:r>
              <a:rPr lang="en-AU" sz="2200" dirty="0" smtClean="0">
                <a:latin typeface="Helvetica" pitchFamily="34" charset="0"/>
              </a:rPr>
              <a:t>Lagers:</a:t>
            </a:r>
          </a:p>
          <a:p>
            <a:pPr>
              <a:spcBef>
                <a:spcPts val="600"/>
              </a:spcBef>
              <a:spcAft>
                <a:spcPts val="1200"/>
              </a:spcAft>
            </a:pPr>
            <a:r>
              <a:rPr lang="en-US" altLang="zh-CN" sz="2200" dirty="0" smtClean="0">
                <a:latin typeface="Helvetica" pitchFamily="34" charset="0"/>
              </a:rPr>
              <a:t>Pale Lager (lagers and pilsners)</a:t>
            </a:r>
            <a:endParaRPr lang="en-AU" sz="2200" dirty="0" smtClean="0">
              <a:latin typeface="Helvetica" pitchFamily="34" charset="0"/>
            </a:endParaRPr>
          </a:p>
          <a:p>
            <a:pPr>
              <a:lnSpc>
                <a:spcPct val="90000"/>
              </a:lnSpc>
              <a:buFontTx/>
              <a:buChar char="•"/>
            </a:pPr>
            <a:endParaRPr lang="en-AU" dirty="0" smtClean="0"/>
          </a:p>
          <a:p>
            <a:pPr lvl="1">
              <a:lnSpc>
                <a:spcPct val="90000"/>
              </a:lnSpc>
            </a:pPr>
            <a:endParaRPr lang="en-US" altLang="zh-CN" sz="1600" dirty="0" smtClean="0"/>
          </a:p>
        </p:txBody>
      </p:sp>
      <p:pic>
        <p:nvPicPr>
          <p:cNvPr id="80905" name="Picture 9" descr="beer"/>
          <p:cNvPicPr>
            <a:picLocks noChangeAspect="1" noChangeArrowheads="1"/>
          </p:cNvPicPr>
          <p:nvPr/>
        </p:nvPicPr>
        <p:blipFill>
          <a:blip r:embed="rId3" cstate="print"/>
          <a:srcRect/>
          <a:stretch>
            <a:fillRect/>
          </a:stretch>
        </p:blipFill>
        <p:spPr bwMode="auto">
          <a:xfrm>
            <a:off x="6228184" y="3294062"/>
            <a:ext cx="2067289" cy="1719114"/>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Beer</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a:spcBef>
                <a:spcPts val="600"/>
              </a:spcBef>
              <a:spcAft>
                <a:spcPts val="1200"/>
              </a:spcAft>
              <a:buNone/>
            </a:pPr>
            <a:r>
              <a:rPr lang="en-AU" sz="2200" b="1" dirty="0" smtClean="0">
                <a:latin typeface="Helvetica" pitchFamily="34" charset="0"/>
              </a:rPr>
              <a:t>Local beers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Each country will have their own specialty beers that are often the most popular and consumed in the greatest amount:</a:t>
            </a:r>
          </a:p>
          <a:p>
            <a:pPr>
              <a:spcBef>
                <a:spcPts val="600"/>
              </a:spcBef>
              <a:spcAft>
                <a:spcPts val="1200"/>
              </a:spcAft>
            </a:pPr>
            <a:r>
              <a:rPr lang="en-AU" sz="2200" dirty="0" smtClean="0">
                <a:latin typeface="Helvetica" pitchFamily="34" charset="0"/>
              </a:rPr>
              <a:t>What are the popular local beers in your country?</a:t>
            </a:r>
          </a:p>
          <a:p>
            <a:pPr>
              <a:spcBef>
                <a:spcPts val="600"/>
              </a:spcBef>
              <a:spcAft>
                <a:spcPts val="1200"/>
              </a:spcAft>
            </a:pPr>
            <a:r>
              <a:rPr lang="en-AU" sz="2200" dirty="0" smtClean="0">
                <a:latin typeface="Helvetica" pitchFamily="34" charset="0"/>
              </a:rPr>
              <a:t>What are local ASEAN beers?</a:t>
            </a:r>
          </a:p>
          <a:p>
            <a:pPr>
              <a:spcBef>
                <a:spcPts val="600"/>
              </a:spcBef>
              <a:spcAft>
                <a:spcPts val="1200"/>
              </a:spcAft>
            </a:pPr>
            <a:r>
              <a:rPr lang="en-AU" sz="2200" dirty="0" smtClean="0">
                <a:latin typeface="Helvetica" pitchFamily="34" charset="0"/>
              </a:rPr>
              <a:t>Are they ales or lagers?</a:t>
            </a:r>
          </a:p>
          <a:p>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7" name="Picture 6" descr="MP900444255[1].JPG"/>
          <p:cNvPicPr>
            <a:picLocks noChangeAspect="1"/>
          </p:cNvPicPr>
          <p:nvPr/>
        </p:nvPicPr>
        <p:blipFill>
          <a:blip r:embed="rId3" cstate="print"/>
          <a:stretch>
            <a:fillRect/>
          </a:stretch>
        </p:blipFill>
        <p:spPr>
          <a:xfrm>
            <a:off x="7092280" y="3501008"/>
            <a:ext cx="1320783" cy="177356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Beer</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a:spcBef>
                <a:spcPts val="600"/>
              </a:spcBef>
              <a:spcAft>
                <a:spcPts val="1200"/>
              </a:spcAft>
              <a:buNone/>
            </a:pPr>
            <a:r>
              <a:rPr lang="en-AU" sz="2200" b="1" dirty="0" smtClean="0">
                <a:latin typeface="Helvetica" pitchFamily="34" charset="0"/>
              </a:rPr>
              <a:t>Imported beers - examples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Fosters - Australia </a:t>
            </a:r>
          </a:p>
          <a:p>
            <a:pPr lvl="0">
              <a:spcBef>
                <a:spcPts val="600"/>
              </a:spcBef>
              <a:spcAft>
                <a:spcPts val="1200"/>
              </a:spcAft>
            </a:pPr>
            <a:r>
              <a:rPr lang="en-AU" sz="2200" dirty="0" smtClean="0">
                <a:latin typeface="Helvetica" pitchFamily="34" charset="0"/>
              </a:rPr>
              <a:t>Lowenbrau – Germany</a:t>
            </a:r>
          </a:p>
          <a:p>
            <a:pPr lvl="0">
              <a:spcBef>
                <a:spcPts val="600"/>
              </a:spcBef>
              <a:spcAft>
                <a:spcPts val="1200"/>
              </a:spcAft>
            </a:pPr>
            <a:r>
              <a:rPr lang="en-AU" sz="2200" dirty="0" smtClean="0">
                <a:latin typeface="Helvetica" pitchFamily="34" charset="0"/>
              </a:rPr>
              <a:t>Beck’s – Germany</a:t>
            </a:r>
          </a:p>
          <a:p>
            <a:pPr lvl="0">
              <a:spcBef>
                <a:spcPts val="600"/>
              </a:spcBef>
              <a:spcAft>
                <a:spcPts val="1200"/>
              </a:spcAft>
            </a:pPr>
            <a:r>
              <a:rPr lang="en-AU" sz="2200" dirty="0" smtClean="0">
                <a:latin typeface="Helvetica" pitchFamily="34" charset="0"/>
              </a:rPr>
              <a:t>Fürstenburg – Germany</a:t>
            </a:r>
          </a:p>
          <a:p>
            <a:pPr lvl="0">
              <a:spcBef>
                <a:spcPts val="600"/>
              </a:spcBef>
              <a:spcAft>
                <a:spcPts val="1200"/>
              </a:spcAft>
            </a:pPr>
            <a:r>
              <a:rPr lang="en-AU" sz="2200" dirty="0" smtClean="0">
                <a:latin typeface="Helvetica" pitchFamily="34" charset="0"/>
              </a:rPr>
              <a:t>König Pilsener – Germany</a:t>
            </a:r>
          </a:p>
          <a:p>
            <a:pPr lvl="0">
              <a:spcBef>
                <a:spcPts val="600"/>
              </a:spcBef>
              <a:spcAft>
                <a:spcPts val="1200"/>
              </a:spcAft>
            </a:pPr>
            <a:r>
              <a:rPr lang="en-AU" sz="2200" dirty="0" smtClean="0">
                <a:latin typeface="Helvetica" pitchFamily="34" charset="0"/>
              </a:rPr>
              <a:t>Corona – Mexico</a:t>
            </a:r>
          </a:p>
          <a:p>
            <a:pPr lvl="0">
              <a:spcBef>
                <a:spcPts val="600"/>
              </a:spcBef>
              <a:spcAft>
                <a:spcPts val="1200"/>
              </a:spcAft>
            </a:pPr>
            <a:r>
              <a:rPr lang="en-AU" sz="2200" dirty="0" smtClean="0">
                <a:latin typeface="Helvetica" pitchFamily="34" charset="0"/>
              </a:rPr>
              <a:t>Budweiser – USA</a:t>
            </a:r>
          </a:p>
          <a:p>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6" name="Picture 5" descr="http://www.aatiffany.com/images/Corona%20Extra.jpg"/>
          <p:cNvPicPr/>
          <p:nvPr/>
        </p:nvPicPr>
        <p:blipFill>
          <a:blip r:embed="rId3" cstate="print"/>
          <a:srcRect/>
          <a:stretch>
            <a:fillRect/>
          </a:stretch>
        </p:blipFill>
        <p:spPr bwMode="auto">
          <a:xfrm>
            <a:off x="7020272" y="2564904"/>
            <a:ext cx="1227455" cy="2438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Beer</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a:spcBef>
                <a:spcPts val="600"/>
              </a:spcBef>
              <a:spcAft>
                <a:spcPts val="1200"/>
              </a:spcAft>
              <a:buNone/>
            </a:pPr>
            <a:r>
              <a:rPr lang="en-AU" sz="2200" b="1" dirty="0" smtClean="0">
                <a:latin typeface="Helvetica" pitchFamily="34" charset="0"/>
              </a:rPr>
              <a:t>Imported beers – examples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Hollandia – Holland</a:t>
            </a:r>
          </a:p>
          <a:p>
            <a:pPr lvl="0">
              <a:spcBef>
                <a:spcPts val="600"/>
              </a:spcBef>
              <a:spcAft>
                <a:spcPts val="1200"/>
              </a:spcAft>
            </a:pPr>
            <a:r>
              <a:rPr lang="en-AU" sz="2200" dirty="0" smtClean="0">
                <a:latin typeface="Helvetica" pitchFamily="34" charset="0"/>
              </a:rPr>
              <a:t>Heineken – Holland</a:t>
            </a:r>
          </a:p>
          <a:p>
            <a:pPr lvl="0">
              <a:spcBef>
                <a:spcPts val="600"/>
              </a:spcBef>
              <a:spcAft>
                <a:spcPts val="1200"/>
              </a:spcAft>
            </a:pPr>
            <a:r>
              <a:rPr lang="en-AU" sz="2200" dirty="0" smtClean="0">
                <a:latin typeface="Helvetica" pitchFamily="34" charset="0"/>
              </a:rPr>
              <a:t>Miller – USA</a:t>
            </a:r>
          </a:p>
          <a:p>
            <a:pPr lvl="0">
              <a:spcBef>
                <a:spcPts val="600"/>
              </a:spcBef>
              <a:spcAft>
                <a:spcPts val="1200"/>
              </a:spcAft>
            </a:pPr>
            <a:r>
              <a:rPr lang="en-AU" sz="2200" dirty="0" smtClean="0">
                <a:latin typeface="Helvetica" pitchFamily="34" charset="0"/>
              </a:rPr>
              <a:t>Maes – Belgium </a:t>
            </a:r>
          </a:p>
          <a:p>
            <a:pPr lvl="0">
              <a:spcBef>
                <a:spcPts val="600"/>
              </a:spcBef>
              <a:spcAft>
                <a:spcPts val="1200"/>
              </a:spcAft>
            </a:pPr>
            <a:r>
              <a:rPr lang="en-AU" sz="2200" dirty="0" smtClean="0">
                <a:latin typeface="Helvetica" pitchFamily="34" charset="0"/>
              </a:rPr>
              <a:t>Chimay – Belgium</a:t>
            </a:r>
          </a:p>
          <a:p>
            <a:pPr lvl="0">
              <a:spcBef>
                <a:spcPts val="600"/>
              </a:spcBef>
              <a:spcAft>
                <a:spcPts val="1200"/>
              </a:spcAft>
            </a:pPr>
            <a:r>
              <a:rPr lang="en-AU" sz="2200" dirty="0" smtClean="0">
                <a:latin typeface="Helvetica" pitchFamily="34" charset="0"/>
              </a:rPr>
              <a:t>Duvel – Belgium</a:t>
            </a:r>
          </a:p>
          <a:p>
            <a:pPr lvl="0">
              <a:spcBef>
                <a:spcPts val="600"/>
              </a:spcBef>
              <a:spcAft>
                <a:spcPts val="1200"/>
              </a:spcAft>
            </a:pPr>
            <a:r>
              <a:rPr lang="en-AU" sz="2200" dirty="0" smtClean="0">
                <a:latin typeface="Helvetica" pitchFamily="34" charset="0"/>
              </a:rPr>
              <a:t>Asahi – Japan</a:t>
            </a:r>
          </a:p>
          <a:p>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5" name="Picture 4" descr="1973216551_c6e4d5c3e2_m.jpg"/>
          <p:cNvPicPr>
            <a:picLocks noChangeAspect="1"/>
          </p:cNvPicPr>
          <p:nvPr/>
        </p:nvPicPr>
        <p:blipFill>
          <a:blip r:embed="rId3" cstate="print"/>
          <a:stretch>
            <a:fillRect/>
          </a:stretch>
        </p:blipFill>
        <p:spPr>
          <a:xfrm>
            <a:off x="6012160" y="3573016"/>
            <a:ext cx="2369840" cy="177738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64096"/>
          </a:xfrm>
        </p:spPr>
        <p:txBody>
          <a:bodyPr>
            <a:normAutofit/>
          </a:bodyPr>
          <a:lstStyle/>
          <a:p>
            <a:r>
              <a:rPr lang="en-AU" sz="3400" b="1" dirty="0" smtClean="0">
                <a:solidFill>
                  <a:srgbClr val="FF6600"/>
                </a:solidFill>
                <a:latin typeface="Helvetica" pitchFamily="34" charset="0"/>
              </a:rPr>
              <a:t>Beer Variations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280248"/>
          </a:xfrm>
        </p:spPr>
        <p:txBody>
          <a:bodyPr>
            <a:normAutofit/>
          </a:bodyPr>
          <a:lstStyle/>
          <a:p>
            <a:pPr lvl="0">
              <a:spcBef>
                <a:spcPts val="600"/>
              </a:spcBef>
              <a:spcAft>
                <a:spcPts val="1200"/>
              </a:spcAft>
            </a:pPr>
            <a:r>
              <a:rPr lang="en-AU" sz="2200" dirty="0" smtClean="0">
                <a:latin typeface="Helvetica" pitchFamily="34" charset="0"/>
              </a:rPr>
              <a:t>Shandy – Beer and lemonade</a:t>
            </a:r>
          </a:p>
          <a:p>
            <a:pPr lvl="0">
              <a:spcBef>
                <a:spcPts val="600"/>
              </a:spcBef>
              <a:spcAft>
                <a:spcPts val="1200"/>
              </a:spcAft>
            </a:pPr>
            <a:r>
              <a:rPr lang="en-AU" sz="2200" dirty="0" smtClean="0">
                <a:latin typeface="Helvetica" pitchFamily="34" charset="0"/>
              </a:rPr>
              <a:t>Beer with a dash – Beer with a dash of lemonade</a:t>
            </a:r>
          </a:p>
          <a:p>
            <a:pPr lvl="0">
              <a:spcBef>
                <a:spcPts val="600"/>
              </a:spcBef>
              <a:spcAft>
                <a:spcPts val="1200"/>
              </a:spcAft>
            </a:pPr>
            <a:r>
              <a:rPr lang="en-AU" sz="2200" dirty="0" smtClean="0">
                <a:latin typeface="Helvetica" pitchFamily="34" charset="0"/>
              </a:rPr>
              <a:t>Lager and lime – Lager with a dash of lime juice</a:t>
            </a:r>
          </a:p>
          <a:p>
            <a:pPr lvl="0">
              <a:spcBef>
                <a:spcPts val="600"/>
              </a:spcBef>
              <a:spcAft>
                <a:spcPts val="1200"/>
              </a:spcAft>
            </a:pPr>
            <a:r>
              <a:rPr lang="en-AU" sz="2200" dirty="0" smtClean="0">
                <a:latin typeface="Helvetica" pitchFamily="34" charset="0"/>
              </a:rPr>
              <a:t>Red eye beer – with tomato juice</a:t>
            </a:r>
          </a:p>
          <a:p>
            <a:pPr lvl="0">
              <a:spcBef>
                <a:spcPts val="600"/>
              </a:spcBef>
              <a:spcAft>
                <a:spcPts val="1200"/>
              </a:spcAft>
            </a:pPr>
            <a:r>
              <a:rPr lang="en-AU" sz="2200" dirty="0" smtClean="0">
                <a:latin typeface="Helvetica" pitchFamily="34" charset="0"/>
              </a:rPr>
              <a:t>Black and tan – Beer and stout</a:t>
            </a:r>
          </a:p>
          <a:p>
            <a:pPr lvl="0">
              <a:spcBef>
                <a:spcPts val="600"/>
              </a:spcBef>
              <a:spcAft>
                <a:spcPts val="1200"/>
              </a:spcAft>
            </a:pPr>
            <a:r>
              <a:rPr lang="en-AU" sz="2200" dirty="0" smtClean="0">
                <a:latin typeface="Helvetica" pitchFamily="34" charset="0"/>
              </a:rPr>
              <a:t>Half and half – Beer and stout</a:t>
            </a:r>
          </a:p>
          <a:p>
            <a:pPr lvl="0">
              <a:spcBef>
                <a:spcPts val="600"/>
              </a:spcBef>
              <a:spcAft>
                <a:spcPts val="1200"/>
              </a:spcAft>
            </a:pPr>
            <a:r>
              <a:rPr lang="en-AU" sz="2200" dirty="0" smtClean="0">
                <a:latin typeface="Helvetica" pitchFamily="34" charset="0"/>
              </a:rPr>
              <a:t>Portergaff – Stout and lemonade</a:t>
            </a:r>
          </a:p>
          <a:p>
            <a:pPr lvl="0">
              <a:spcBef>
                <a:spcPts val="600"/>
              </a:spcBef>
              <a:spcAft>
                <a:spcPts val="1200"/>
              </a:spcAft>
            </a:pPr>
            <a:r>
              <a:rPr lang="en-AU" sz="2200" dirty="0" smtClean="0">
                <a:latin typeface="Helvetica" pitchFamily="34" charset="0"/>
              </a:rPr>
              <a:t>Stout with a dash – Stout with a dash </a:t>
            </a:r>
            <a:br>
              <a:rPr lang="en-AU" sz="2200" dirty="0" smtClean="0">
                <a:latin typeface="Helvetica" pitchFamily="34" charset="0"/>
              </a:rPr>
            </a:br>
            <a:r>
              <a:rPr lang="en-AU" sz="2200" dirty="0" smtClean="0">
                <a:latin typeface="Helvetica" pitchFamily="34" charset="0"/>
              </a:rPr>
              <a:t>of lemonade</a:t>
            </a:r>
          </a:p>
          <a:p>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6" name="Picture 5" descr="4872708130_6ce4f777d1_m.jpg"/>
          <p:cNvPicPr>
            <a:picLocks noChangeAspect="1"/>
          </p:cNvPicPr>
          <p:nvPr/>
        </p:nvPicPr>
        <p:blipFill>
          <a:blip r:embed="rId3" cstate="print"/>
          <a:stretch>
            <a:fillRect/>
          </a:stretch>
        </p:blipFill>
        <p:spPr>
          <a:xfrm>
            <a:off x="6948264" y="3356992"/>
            <a:ext cx="1489044" cy="1985392"/>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64096"/>
          </a:xfrm>
        </p:spPr>
        <p:txBody>
          <a:bodyPr>
            <a:normAutofit/>
          </a:bodyPr>
          <a:lstStyle/>
          <a:p>
            <a:r>
              <a:rPr lang="en-AU" sz="3400" b="1" dirty="0" smtClean="0">
                <a:solidFill>
                  <a:srgbClr val="FF6600"/>
                </a:solidFill>
                <a:latin typeface="Helvetica" pitchFamily="34" charset="0"/>
              </a:rPr>
              <a:t>Wine</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a:spcBef>
                <a:spcPts val="600"/>
              </a:spcBef>
              <a:spcAft>
                <a:spcPts val="1200"/>
              </a:spcAft>
              <a:buNone/>
            </a:pPr>
            <a:r>
              <a:rPr lang="en-AU" sz="2200" b="1" dirty="0" smtClean="0">
                <a:latin typeface="Helvetica" pitchFamily="34" charset="0"/>
              </a:rPr>
              <a:t>Wine</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Wine is defined as the naturally produced beverage made from the fermented juice of grapes</a:t>
            </a:r>
          </a:p>
          <a:p>
            <a:pPr>
              <a:spcBef>
                <a:spcPts val="600"/>
              </a:spcBef>
              <a:spcAft>
                <a:spcPts val="1200"/>
              </a:spcAft>
            </a:pPr>
            <a:r>
              <a:rPr lang="en-AU" sz="2200" dirty="0" smtClean="0">
                <a:latin typeface="Helvetica" pitchFamily="34" charset="0"/>
              </a:rPr>
              <a:t>Wine is a major aspect of beverage service and is routinely served to complement a lunch or evening meal </a:t>
            </a:r>
          </a:p>
          <a:p>
            <a:pPr>
              <a:spcBef>
                <a:spcPts val="600"/>
              </a:spcBef>
              <a:spcAft>
                <a:spcPts val="1200"/>
              </a:spcAft>
            </a:pPr>
            <a:r>
              <a:rPr lang="en-AU" sz="2200" dirty="0" smtClean="0">
                <a:latin typeface="Helvetica" pitchFamily="34" charset="0"/>
              </a:rPr>
              <a:t>Wine knowledge will be covered </a:t>
            </a:r>
            <a:br>
              <a:rPr lang="en-AU" sz="2200" dirty="0" smtClean="0">
                <a:latin typeface="Helvetica" pitchFamily="34" charset="0"/>
              </a:rPr>
            </a:br>
            <a:r>
              <a:rPr lang="en-AU" sz="2200" dirty="0" smtClean="0">
                <a:latin typeface="Helvetica" pitchFamily="34" charset="0"/>
              </a:rPr>
              <a:t>later in this subject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7" name="Picture 6" descr="MP900432952[1].JPG"/>
          <p:cNvPicPr/>
          <p:nvPr/>
        </p:nvPicPr>
        <p:blipFill>
          <a:blip r:embed="rId3" cstate="print"/>
          <a:stretch>
            <a:fillRect/>
          </a:stretch>
        </p:blipFill>
        <p:spPr>
          <a:xfrm>
            <a:off x="6804248" y="3573016"/>
            <a:ext cx="1562100" cy="196215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632792" y="1268760"/>
            <a:ext cx="7467600" cy="4857403"/>
          </a:xfrm>
        </p:spPr>
        <p:txBody>
          <a:bodyPr>
            <a:normAutofit/>
          </a:bodyPr>
          <a:lstStyle/>
          <a:p>
            <a:pPr>
              <a:spcBef>
                <a:spcPts val="600"/>
              </a:spcBef>
              <a:spcAft>
                <a:spcPts val="1200"/>
              </a:spcAft>
              <a:buNone/>
            </a:pPr>
            <a:r>
              <a:rPr lang="en-AU" sz="2200" b="1" dirty="0" smtClean="0">
                <a:latin typeface="Helvetica" pitchFamily="34" charset="0"/>
              </a:rPr>
              <a:t>Common types of wine</a:t>
            </a:r>
          </a:p>
          <a:p>
            <a:pPr>
              <a:spcBef>
                <a:spcPts val="600"/>
              </a:spcBef>
              <a:spcAft>
                <a:spcPts val="1200"/>
              </a:spcAft>
            </a:pPr>
            <a:r>
              <a:rPr lang="en-AU" sz="2200" dirty="0" smtClean="0">
                <a:latin typeface="Helvetica" pitchFamily="34" charset="0"/>
              </a:rPr>
              <a:t>White wine</a:t>
            </a:r>
          </a:p>
          <a:p>
            <a:pPr>
              <a:spcBef>
                <a:spcPts val="600"/>
              </a:spcBef>
              <a:spcAft>
                <a:spcPts val="1200"/>
              </a:spcAft>
            </a:pPr>
            <a:r>
              <a:rPr lang="en-AU" sz="2200" dirty="0" smtClean="0">
                <a:latin typeface="Helvetica" pitchFamily="34" charset="0"/>
              </a:rPr>
              <a:t>Red wine</a:t>
            </a:r>
          </a:p>
        </p:txBody>
      </p:sp>
      <p:sp>
        <p:nvSpPr>
          <p:cNvPr id="7" name="Title 1"/>
          <p:cNvSpPr>
            <a:spLocks noGrp="1"/>
          </p:cNvSpPr>
          <p:nvPr>
            <p:ph type="title"/>
          </p:nvPr>
        </p:nvSpPr>
        <p:spPr>
          <a:xfrm>
            <a:off x="611560" y="332656"/>
            <a:ext cx="7467600" cy="720080"/>
          </a:xfrm>
        </p:spPr>
        <p:txBody>
          <a:bodyPr>
            <a:normAutofit/>
          </a:bodyPr>
          <a:lstStyle/>
          <a:p>
            <a:pPr marL="0" lvl="0"/>
            <a:r>
              <a:rPr lang="en-AU" sz="3400" b="1" dirty="0" smtClean="0">
                <a:solidFill>
                  <a:srgbClr val="FF6600"/>
                </a:solidFill>
                <a:latin typeface="Helvetica" pitchFamily="34" charset="0"/>
              </a:rPr>
              <a:t>Types of wine</a:t>
            </a:r>
          </a:p>
        </p:txBody>
      </p:sp>
      <p:pic>
        <p:nvPicPr>
          <p:cNvPr id="10" name="Picture 9" descr="MP900432952[1].JPG"/>
          <p:cNvPicPr/>
          <p:nvPr/>
        </p:nvPicPr>
        <p:blipFill>
          <a:blip r:embed="rId3" cstate="print"/>
          <a:stretch>
            <a:fillRect/>
          </a:stretch>
        </p:blipFill>
        <p:spPr>
          <a:xfrm>
            <a:off x="6588224" y="3284984"/>
            <a:ext cx="1762125" cy="2009775"/>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632792" y="1196752"/>
            <a:ext cx="7467600" cy="4929411"/>
          </a:xfrm>
        </p:spPr>
        <p:txBody>
          <a:bodyPr>
            <a:normAutofit/>
          </a:bodyPr>
          <a:lstStyle/>
          <a:p>
            <a:pPr>
              <a:spcBef>
                <a:spcPts val="600"/>
              </a:spcBef>
              <a:spcAft>
                <a:spcPts val="1200"/>
              </a:spcAft>
              <a:buNone/>
            </a:pPr>
            <a:r>
              <a:rPr lang="en-AU" sz="2200" b="1" dirty="0" smtClean="0">
                <a:latin typeface="Helvetica" pitchFamily="34" charset="0"/>
              </a:rPr>
              <a:t>Wine categories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In addition to ‘red’ or white’ table wine, wine can be further categorised as follows:</a:t>
            </a:r>
          </a:p>
          <a:p>
            <a:pPr lvl="0">
              <a:spcBef>
                <a:spcPts val="600"/>
              </a:spcBef>
              <a:spcAft>
                <a:spcPts val="1200"/>
              </a:spcAft>
            </a:pPr>
            <a:r>
              <a:rPr lang="en-AU" sz="2200" dirty="0" smtClean="0">
                <a:latin typeface="Helvetica" pitchFamily="34" charset="0"/>
              </a:rPr>
              <a:t>Varietal or generic</a:t>
            </a:r>
          </a:p>
          <a:p>
            <a:pPr lvl="0">
              <a:spcBef>
                <a:spcPts val="600"/>
              </a:spcBef>
              <a:spcAft>
                <a:spcPts val="1200"/>
              </a:spcAft>
            </a:pPr>
            <a:r>
              <a:rPr lang="en-AU" sz="2200" dirty="0" smtClean="0">
                <a:latin typeface="Helvetica" pitchFamily="34" charset="0"/>
              </a:rPr>
              <a:t>Sparkling</a:t>
            </a:r>
          </a:p>
          <a:p>
            <a:pPr lvl="0">
              <a:spcBef>
                <a:spcPts val="600"/>
              </a:spcBef>
              <a:spcAft>
                <a:spcPts val="1200"/>
              </a:spcAft>
            </a:pPr>
            <a:r>
              <a:rPr lang="en-AU" sz="2200" dirty="0" smtClean="0">
                <a:latin typeface="Helvetica" pitchFamily="34" charset="0"/>
              </a:rPr>
              <a:t>Fortified</a:t>
            </a:r>
            <a:endParaRPr lang="en-AU" sz="2200" dirty="0">
              <a:latin typeface="Helvetica" pitchFamily="34" charset="0"/>
            </a:endParaRPr>
          </a:p>
        </p:txBody>
      </p:sp>
      <p:sp>
        <p:nvSpPr>
          <p:cNvPr id="7" name="Title 1"/>
          <p:cNvSpPr>
            <a:spLocks noGrp="1"/>
          </p:cNvSpPr>
          <p:nvPr>
            <p:ph type="title"/>
          </p:nvPr>
        </p:nvSpPr>
        <p:spPr>
          <a:xfrm>
            <a:off x="611560" y="332656"/>
            <a:ext cx="7467600" cy="792088"/>
          </a:xfrm>
        </p:spPr>
        <p:txBody>
          <a:bodyPr>
            <a:normAutofit/>
          </a:bodyPr>
          <a:lstStyle/>
          <a:p>
            <a:pPr marL="0" lvl="0"/>
            <a:r>
              <a:rPr lang="en-AU" sz="3400" b="1" dirty="0" smtClean="0">
                <a:solidFill>
                  <a:srgbClr val="FF6600"/>
                </a:solidFill>
                <a:latin typeface="Helvetica" pitchFamily="34" charset="0"/>
              </a:rPr>
              <a:t>Types of wine</a:t>
            </a:r>
          </a:p>
        </p:txBody>
      </p:sp>
      <p:pic>
        <p:nvPicPr>
          <p:cNvPr id="5" name="Picture 4" descr="4126563489_28ffdc9847_m.jpg"/>
          <p:cNvPicPr>
            <a:picLocks noChangeAspect="1"/>
          </p:cNvPicPr>
          <p:nvPr/>
        </p:nvPicPr>
        <p:blipFill>
          <a:blip r:embed="rId3" cstate="print"/>
          <a:stretch>
            <a:fillRect/>
          </a:stretch>
        </p:blipFill>
        <p:spPr>
          <a:xfrm>
            <a:off x="6876256" y="2924944"/>
            <a:ext cx="1524000" cy="2286000"/>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632792" y="1268760"/>
            <a:ext cx="7467600" cy="4857403"/>
          </a:xfrm>
        </p:spPr>
        <p:txBody>
          <a:bodyPr>
            <a:normAutofit/>
          </a:bodyPr>
          <a:lstStyle/>
          <a:p>
            <a:pPr>
              <a:spcBef>
                <a:spcPts val="600"/>
              </a:spcBef>
              <a:spcAft>
                <a:spcPts val="1200"/>
              </a:spcAft>
            </a:pPr>
            <a:r>
              <a:rPr lang="en-AU" sz="2200" dirty="0" smtClean="0">
                <a:latin typeface="Helvetica" pitchFamily="34" charset="0"/>
              </a:rPr>
              <a:t>‘Varietal’ wines are wines made from one grape variety </a:t>
            </a:r>
          </a:p>
          <a:p>
            <a:pPr>
              <a:spcBef>
                <a:spcPts val="600"/>
              </a:spcBef>
              <a:spcAft>
                <a:spcPts val="1200"/>
              </a:spcAft>
            </a:pPr>
            <a:r>
              <a:rPr lang="en-AU" sz="2200" dirty="0" smtClean="0">
                <a:latin typeface="Helvetica" pitchFamily="34" charset="0"/>
              </a:rPr>
              <a:t>The name of this grape appears on the label of the bottle</a:t>
            </a:r>
          </a:p>
          <a:p>
            <a:pPr>
              <a:spcBef>
                <a:spcPts val="600"/>
              </a:spcBef>
              <a:spcAft>
                <a:spcPts val="1200"/>
              </a:spcAft>
            </a:pPr>
            <a:r>
              <a:rPr lang="en-AU" sz="2200" dirty="0" smtClean="0">
                <a:latin typeface="Helvetica" pitchFamily="34" charset="0"/>
              </a:rPr>
              <a:t>The wine must be made from a minimum 85% of that stated variety</a:t>
            </a:r>
            <a:endParaRPr lang="en-AU" sz="2200" dirty="0">
              <a:latin typeface="Helvetica" pitchFamily="34" charset="0"/>
            </a:endParaRPr>
          </a:p>
        </p:txBody>
      </p:sp>
      <p:sp>
        <p:nvSpPr>
          <p:cNvPr id="7" name="Title 1"/>
          <p:cNvSpPr>
            <a:spLocks noGrp="1"/>
          </p:cNvSpPr>
          <p:nvPr>
            <p:ph type="title"/>
          </p:nvPr>
        </p:nvSpPr>
        <p:spPr>
          <a:xfrm>
            <a:off x="611560" y="332656"/>
            <a:ext cx="7467600" cy="792088"/>
          </a:xfrm>
        </p:spPr>
        <p:txBody>
          <a:bodyPr>
            <a:normAutofit/>
          </a:bodyPr>
          <a:lstStyle/>
          <a:p>
            <a:pPr marL="0" lvl="0"/>
            <a:r>
              <a:rPr lang="en-AU" sz="3400" b="1" dirty="0" smtClean="0">
                <a:solidFill>
                  <a:srgbClr val="FF6600"/>
                </a:solidFill>
                <a:latin typeface="Helvetica" pitchFamily="34" charset="0"/>
              </a:rPr>
              <a:t>Varietal wines</a:t>
            </a:r>
          </a:p>
        </p:txBody>
      </p:sp>
      <p:pic>
        <p:nvPicPr>
          <p:cNvPr id="8" name="Picture 7" descr="4268972768_4fc2ea9999_m.jpg"/>
          <p:cNvPicPr>
            <a:picLocks noChangeAspect="1"/>
          </p:cNvPicPr>
          <p:nvPr/>
        </p:nvPicPr>
        <p:blipFill>
          <a:blip r:embed="rId3" cstate="print"/>
          <a:stretch>
            <a:fillRect/>
          </a:stretch>
        </p:blipFill>
        <p:spPr>
          <a:xfrm>
            <a:off x="6444208" y="3789040"/>
            <a:ext cx="1906488" cy="1429866"/>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632792" y="1196752"/>
            <a:ext cx="7467600" cy="4929411"/>
          </a:xfrm>
        </p:spPr>
        <p:txBody>
          <a:bodyPr>
            <a:normAutofit/>
          </a:bodyPr>
          <a:lstStyle/>
          <a:p>
            <a:pPr>
              <a:spcBef>
                <a:spcPts val="600"/>
              </a:spcBef>
              <a:spcAft>
                <a:spcPts val="1200"/>
              </a:spcAft>
              <a:buNone/>
            </a:pPr>
            <a:r>
              <a:rPr lang="en-AU" sz="2200" b="1" dirty="0" smtClean="0">
                <a:latin typeface="Helvetica" pitchFamily="34" charset="0"/>
              </a:rPr>
              <a:t>Varietal white wines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White grape varieties include:</a:t>
            </a:r>
          </a:p>
          <a:p>
            <a:pPr lvl="0">
              <a:spcBef>
                <a:spcPts val="600"/>
              </a:spcBef>
              <a:spcAft>
                <a:spcPts val="1200"/>
              </a:spcAft>
            </a:pPr>
            <a:r>
              <a:rPr lang="en-AU" sz="2200" dirty="0" smtClean="0">
                <a:latin typeface="Helvetica" pitchFamily="34" charset="0"/>
              </a:rPr>
              <a:t>Chardonnay</a:t>
            </a:r>
          </a:p>
          <a:p>
            <a:pPr lvl="0">
              <a:spcBef>
                <a:spcPts val="600"/>
              </a:spcBef>
              <a:spcAft>
                <a:spcPts val="1200"/>
              </a:spcAft>
            </a:pPr>
            <a:r>
              <a:rPr lang="en-AU" sz="2200" dirty="0" smtClean="0">
                <a:latin typeface="Helvetica" pitchFamily="34" charset="0"/>
              </a:rPr>
              <a:t>Chenin Blanc</a:t>
            </a:r>
          </a:p>
          <a:p>
            <a:pPr lvl="0">
              <a:spcBef>
                <a:spcPts val="600"/>
              </a:spcBef>
              <a:spcAft>
                <a:spcPts val="1200"/>
              </a:spcAft>
            </a:pPr>
            <a:r>
              <a:rPr lang="en-AU" sz="2200" dirty="0" smtClean="0">
                <a:latin typeface="Helvetica" pitchFamily="34" charset="0"/>
              </a:rPr>
              <a:t>Riesling</a:t>
            </a:r>
          </a:p>
          <a:p>
            <a:pPr lvl="0">
              <a:spcBef>
                <a:spcPts val="600"/>
              </a:spcBef>
              <a:spcAft>
                <a:spcPts val="1200"/>
              </a:spcAft>
            </a:pPr>
            <a:r>
              <a:rPr lang="en-AU" sz="2200" dirty="0" smtClean="0">
                <a:latin typeface="Helvetica" pitchFamily="34" charset="0"/>
              </a:rPr>
              <a:t>Sauvignon Blanc</a:t>
            </a:r>
          </a:p>
          <a:p>
            <a:pPr lvl="0">
              <a:spcBef>
                <a:spcPts val="600"/>
              </a:spcBef>
              <a:spcAft>
                <a:spcPts val="1200"/>
              </a:spcAft>
            </a:pPr>
            <a:r>
              <a:rPr lang="en-AU" sz="2200" dirty="0" smtClean="0">
                <a:latin typeface="Helvetica" pitchFamily="34" charset="0"/>
              </a:rPr>
              <a:t>Semillon</a:t>
            </a:r>
          </a:p>
          <a:p>
            <a:pPr lvl="0">
              <a:spcBef>
                <a:spcPts val="600"/>
              </a:spcBef>
              <a:spcAft>
                <a:spcPts val="1200"/>
              </a:spcAft>
            </a:pPr>
            <a:r>
              <a:rPr lang="en-AU" sz="2200" dirty="0" smtClean="0">
                <a:latin typeface="Helvetica" pitchFamily="34" charset="0"/>
              </a:rPr>
              <a:t>Traminer</a:t>
            </a:r>
            <a:endParaRPr lang="en-AU" sz="2200" dirty="0">
              <a:latin typeface="Helvetica" pitchFamily="34" charset="0"/>
            </a:endParaRPr>
          </a:p>
        </p:txBody>
      </p:sp>
      <p:sp>
        <p:nvSpPr>
          <p:cNvPr id="7" name="Title 1"/>
          <p:cNvSpPr>
            <a:spLocks noGrp="1"/>
          </p:cNvSpPr>
          <p:nvPr>
            <p:ph type="title"/>
          </p:nvPr>
        </p:nvSpPr>
        <p:spPr>
          <a:xfrm>
            <a:off x="611560" y="332656"/>
            <a:ext cx="7467600" cy="792088"/>
          </a:xfrm>
        </p:spPr>
        <p:txBody>
          <a:bodyPr>
            <a:normAutofit/>
          </a:bodyPr>
          <a:lstStyle/>
          <a:p>
            <a:pPr marL="0" lvl="0"/>
            <a:r>
              <a:rPr lang="en-AU" sz="3400" b="1" dirty="0" smtClean="0">
                <a:solidFill>
                  <a:srgbClr val="FF6600"/>
                </a:solidFill>
                <a:latin typeface="Helvetica" pitchFamily="34" charset="0"/>
              </a:rPr>
              <a:t>Varietal wines</a:t>
            </a:r>
          </a:p>
        </p:txBody>
      </p:sp>
      <p:pic>
        <p:nvPicPr>
          <p:cNvPr id="5" name="Picture 4" descr="238123843_5a78e5a5ae_m.jpg"/>
          <p:cNvPicPr>
            <a:picLocks noChangeAspect="1"/>
          </p:cNvPicPr>
          <p:nvPr/>
        </p:nvPicPr>
        <p:blipFill>
          <a:blip r:embed="rId3" cstate="print"/>
          <a:stretch>
            <a:fillRect/>
          </a:stretch>
        </p:blipFill>
        <p:spPr>
          <a:xfrm>
            <a:off x="6444208" y="3843046"/>
            <a:ext cx="1925960" cy="1444470"/>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60784" y="1196752"/>
            <a:ext cx="7467600" cy="4929411"/>
          </a:xfrm>
        </p:spPr>
        <p:txBody>
          <a:bodyPr>
            <a:normAutofit/>
          </a:bodyPr>
          <a:lstStyle/>
          <a:p>
            <a:pPr>
              <a:spcBef>
                <a:spcPts val="600"/>
              </a:spcBef>
              <a:spcAft>
                <a:spcPts val="1200"/>
              </a:spcAft>
              <a:buNone/>
            </a:pPr>
            <a:r>
              <a:rPr lang="en-AU" sz="2200" b="1" dirty="0" smtClean="0">
                <a:latin typeface="Helvetica" pitchFamily="34" charset="0"/>
              </a:rPr>
              <a:t>Varietal red wines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Red grape varieties include:</a:t>
            </a:r>
          </a:p>
          <a:p>
            <a:pPr lvl="0">
              <a:spcBef>
                <a:spcPts val="600"/>
              </a:spcBef>
              <a:spcAft>
                <a:spcPts val="1200"/>
              </a:spcAft>
            </a:pPr>
            <a:r>
              <a:rPr lang="en-AU" sz="2200" dirty="0" smtClean="0">
                <a:latin typeface="Helvetica" pitchFamily="34" charset="0"/>
              </a:rPr>
              <a:t>Cabernet Sauvignon</a:t>
            </a:r>
          </a:p>
          <a:p>
            <a:pPr lvl="0">
              <a:spcBef>
                <a:spcPts val="600"/>
              </a:spcBef>
              <a:spcAft>
                <a:spcPts val="1200"/>
              </a:spcAft>
            </a:pPr>
            <a:r>
              <a:rPr lang="en-AU" sz="2200" dirty="0" smtClean="0">
                <a:latin typeface="Helvetica" pitchFamily="34" charset="0"/>
              </a:rPr>
              <a:t>Malbec</a:t>
            </a:r>
          </a:p>
          <a:p>
            <a:pPr lvl="0">
              <a:spcBef>
                <a:spcPts val="600"/>
              </a:spcBef>
              <a:spcAft>
                <a:spcPts val="1200"/>
              </a:spcAft>
            </a:pPr>
            <a:r>
              <a:rPr lang="en-AU" sz="2200" dirty="0" smtClean="0">
                <a:latin typeface="Helvetica" pitchFamily="34" charset="0"/>
              </a:rPr>
              <a:t>Merlot</a:t>
            </a:r>
          </a:p>
          <a:p>
            <a:pPr lvl="0">
              <a:spcBef>
                <a:spcPts val="600"/>
              </a:spcBef>
              <a:spcAft>
                <a:spcPts val="1200"/>
              </a:spcAft>
            </a:pPr>
            <a:r>
              <a:rPr lang="en-AU" sz="2200" dirty="0" smtClean="0">
                <a:latin typeface="Helvetica" pitchFamily="34" charset="0"/>
              </a:rPr>
              <a:t>Pinot Noir</a:t>
            </a:r>
          </a:p>
          <a:p>
            <a:pPr lvl="0">
              <a:spcBef>
                <a:spcPts val="600"/>
              </a:spcBef>
              <a:spcAft>
                <a:spcPts val="1200"/>
              </a:spcAft>
            </a:pPr>
            <a:r>
              <a:rPr lang="en-AU" sz="2200" dirty="0" smtClean="0">
                <a:latin typeface="Helvetica" pitchFamily="34" charset="0"/>
              </a:rPr>
              <a:t>Shiraz</a:t>
            </a:r>
            <a:endParaRPr lang="en-AU" sz="2200" dirty="0">
              <a:latin typeface="Helvetica" pitchFamily="34" charset="0"/>
            </a:endParaRPr>
          </a:p>
        </p:txBody>
      </p:sp>
      <p:sp>
        <p:nvSpPr>
          <p:cNvPr id="7" name="Title 1"/>
          <p:cNvSpPr>
            <a:spLocks noGrp="1"/>
          </p:cNvSpPr>
          <p:nvPr>
            <p:ph type="title"/>
          </p:nvPr>
        </p:nvSpPr>
        <p:spPr>
          <a:xfrm>
            <a:off x="539552" y="332656"/>
            <a:ext cx="7539608" cy="792088"/>
          </a:xfrm>
        </p:spPr>
        <p:txBody>
          <a:bodyPr>
            <a:normAutofit/>
          </a:bodyPr>
          <a:lstStyle/>
          <a:p>
            <a:pPr marL="0" lvl="0"/>
            <a:r>
              <a:rPr lang="en-AU" sz="3400" b="1" dirty="0" smtClean="0">
                <a:solidFill>
                  <a:srgbClr val="FF6600"/>
                </a:solidFill>
                <a:latin typeface="Helvetica" pitchFamily="34" charset="0"/>
              </a:rPr>
              <a:t>Varietal wines</a:t>
            </a:r>
          </a:p>
        </p:txBody>
      </p:sp>
      <p:pic>
        <p:nvPicPr>
          <p:cNvPr id="6" name="Picture 5" descr="2491281_b94de94e9d_m.jpg"/>
          <p:cNvPicPr/>
          <p:nvPr/>
        </p:nvPicPr>
        <p:blipFill>
          <a:blip r:embed="rId3" cstate="print"/>
          <a:stretch>
            <a:fillRect/>
          </a:stretch>
        </p:blipFill>
        <p:spPr>
          <a:xfrm>
            <a:off x="6516216" y="3429000"/>
            <a:ext cx="1876425" cy="1681163"/>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60784" y="1124744"/>
            <a:ext cx="7467600" cy="5001419"/>
          </a:xfrm>
        </p:spPr>
        <p:txBody>
          <a:bodyPr>
            <a:normAutofit/>
          </a:bodyPr>
          <a:lstStyle/>
          <a:p>
            <a:pPr marL="0">
              <a:spcBef>
                <a:spcPts val="600"/>
              </a:spcBef>
              <a:spcAft>
                <a:spcPts val="1200"/>
              </a:spcAft>
              <a:buNone/>
            </a:pPr>
            <a:r>
              <a:rPr lang="en-AU" sz="2200" dirty="0" smtClean="0">
                <a:latin typeface="Helvetica" pitchFamily="34" charset="0"/>
              </a:rPr>
              <a:t>‘Generic’ is the term used to describe wines are made to a style, usually naming a European location as its origin:</a:t>
            </a:r>
          </a:p>
          <a:p>
            <a:pPr>
              <a:spcBef>
                <a:spcPts val="600"/>
              </a:spcBef>
              <a:spcAft>
                <a:spcPts val="1200"/>
              </a:spcAft>
            </a:pPr>
            <a:r>
              <a:rPr lang="en-AU" sz="2200" dirty="0" smtClean="0">
                <a:latin typeface="Helvetica" pitchFamily="34" charset="0"/>
              </a:rPr>
              <a:t>What generic wines do you know?</a:t>
            </a:r>
          </a:p>
          <a:p>
            <a:pPr>
              <a:spcBef>
                <a:spcPts val="600"/>
              </a:spcBef>
              <a:spcAft>
                <a:spcPts val="1200"/>
              </a:spcAft>
            </a:pPr>
            <a:endParaRPr lang="en-AU" sz="2200" dirty="0">
              <a:latin typeface="Helvetica" pitchFamily="34" charset="0"/>
            </a:endParaRPr>
          </a:p>
        </p:txBody>
      </p:sp>
      <p:sp>
        <p:nvSpPr>
          <p:cNvPr id="7" name="Title 1"/>
          <p:cNvSpPr>
            <a:spLocks noGrp="1"/>
          </p:cNvSpPr>
          <p:nvPr>
            <p:ph type="title"/>
          </p:nvPr>
        </p:nvSpPr>
        <p:spPr>
          <a:xfrm>
            <a:off x="539552" y="332656"/>
            <a:ext cx="7467600" cy="720080"/>
          </a:xfrm>
        </p:spPr>
        <p:txBody>
          <a:bodyPr>
            <a:normAutofit/>
          </a:bodyPr>
          <a:lstStyle/>
          <a:p>
            <a:pPr marL="0" lvl="0"/>
            <a:r>
              <a:rPr lang="en-AU" sz="3400" b="1" dirty="0" smtClean="0">
                <a:solidFill>
                  <a:srgbClr val="FF6600"/>
                </a:solidFill>
                <a:latin typeface="Helvetica" pitchFamily="34" charset="0"/>
              </a:rPr>
              <a:t>Generic wines</a:t>
            </a:r>
          </a:p>
        </p:txBody>
      </p:sp>
      <p:pic>
        <p:nvPicPr>
          <p:cNvPr id="5" name="Picture 4" descr="6834188792_b0be7e57dc_m.jpg"/>
          <p:cNvPicPr>
            <a:picLocks noChangeAspect="1"/>
          </p:cNvPicPr>
          <p:nvPr/>
        </p:nvPicPr>
        <p:blipFill>
          <a:blip r:embed="rId3" cstate="print"/>
          <a:stretch>
            <a:fillRect/>
          </a:stretch>
        </p:blipFill>
        <p:spPr>
          <a:xfrm>
            <a:off x="6444208" y="3861048"/>
            <a:ext cx="1911098" cy="1266102"/>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601216" y="1196752"/>
            <a:ext cx="7715200" cy="4929411"/>
          </a:xfrm>
        </p:spPr>
        <p:txBody>
          <a:bodyPr>
            <a:normAutofit/>
          </a:bodyPr>
          <a:lstStyle/>
          <a:p>
            <a:pPr>
              <a:spcBef>
                <a:spcPts val="600"/>
              </a:spcBef>
              <a:spcAft>
                <a:spcPts val="1200"/>
              </a:spcAft>
              <a:buNone/>
            </a:pPr>
            <a:r>
              <a:rPr lang="en-AU" sz="2200" b="1" dirty="0" smtClean="0">
                <a:latin typeface="Helvetica" pitchFamily="34" charset="0"/>
              </a:rPr>
              <a:t>Generic white wines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Generic white wines include:</a:t>
            </a:r>
          </a:p>
          <a:p>
            <a:pPr lvl="0">
              <a:spcBef>
                <a:spcPts val="600"/>
              </a:spcBef>
              <a:spcAft>
                <a:spcPts val="1200"/>
              </a:spcAft>
            </a:pPr>
            <a:r>
              <a:rPr lang="en-AU" sz="2200" dirty="0" smtClean="0">
                <a:latin typeface="Helvetica" pitchFamily="34" charset="0"/>
              </a:rPr>
              <a:t>Chablis</a:t>
            </a:r>
          </a:p>
          <a:p>
            <a:pPr lvl="0">
              <a:spcBef>
                <a:spcPts val="600"/>
              </a:spcBef>
              <a:spcAft>
                <a:spcPts val="1200"/>
              </a:spcAft>
            </a:pPr>
            <a:r>
              <a:rPr lang="en-AU" sz="2200" dirty="0" smtClean="0">
                <a:latin typeface="Helvetica" pitchFamily="34" charset="0"/>
              </a:rPr>
              <a:t>Hock</a:t>
            </a:r>
          </a:p>
          <a:p>
            <a:pPr lvl="0">
              <a:spcBef>
                <a:spcPts val="600"/>
              </a:spcBef>
              <a:spcAft>
                <a:spcPts val="1200"/>
              </a:spcAft>
            </a:pPr>
            <a:r>
              <a:rPr lang="en-AU" sz="2200" dirty="0" smtClean="0">
                <a:latin typeface="Helvetica" pitchFamily="34" charset="0"/>
              </a:rPr>
              <a:t>Moselle</a:t>
            </a:r>
          </a:p>
          <a:p>
            <a:pPr lvl="0">
              <a:spcBef>
                <a:spcPts val="600"/>
              </a:spcBef>
              <a:spcAft>
                <a:spcPts val="1200"/>
              </a:spcAft>
            </a:pPr>
            <a:r>
              <a:rPr lang="en-AU" sz="2200" dirty="0" smtClean="0">
                <a:latin typeface="Helvetica" pitchFamily="34" charset="0"/>
              </a:rPr>
              <a:t>Sauternes </a:t>
            </a:r>
          </a:p>
          <a:p>
            <a:pPr lvl="0">
              <a:spcBef>
                <a:spcPts val="600"/>
              </a:spcBef>
              <a:spcAft>
                <a:spcPts val="1200"/>
              </a:spcAft>
            </a:pPr>
            <a:r>
              <a:rPr lang="en-AU" sz="2200" dirty="0" smtClean="0">
                <a:latin typeface="Helvetica" pitchFamily="34" charset="0"/>
              </a:rPr>
              <a:t>White Burgundy</a:t>
            </a:r>
          </a:p>
          <a:p>
            <a:endParaRPr lang="en-AU" sz="2200" dirty="0">
              <a:latin typeface="Helvetica" pitchFamily="34" charset="0"/>
            </a:endParaRPr>
          </a:p>
        </p:txBody>
      </p:sp>
      <p:sp>
        <p:nvSpPr>
          <p:cNvPr id="7" name="Title 1"/>
          <p:cNvSpPr>
            <a:spLocks noGrp="1"/>
          </p:cNvSpPr>
          <p:nvPr>
            <p:ph type="title"/>
          </p:nvPr>
        </p:nvSpPr>
        <p:spPr>
          <a:xfrm>
            <a:off x="539552" y="332656"/>
            <a:ext cx="7467600" cy="720080"/>
          </a:xfrm>
        </p:spPr>
        <p:txBody>
          <a:bodyPr>
            <a:normAutofit/>
          </a:bodyPr>
          <a:lstStyle/>
          <a:p>
            <a:pPr marL="0" lvl="0"/>
            <a:r>
              <a:rPr lang="en-AU" sz="3400" b="1" dirty="0" smtClean="0">
                <a:solidFill>
                  <a:srgbClr val="FF6600"/>
                </a:solidFill>
                <a:latin typeface="Helvetica" pitchFamily="34" charset="0"/>
              </a:rPr>
              <a:t>Generic wines</a:t>
            </a:r>
          </a:p>
        </p:txBody>
      </p:sp>
      <p:pic>
        <p:nvPicPr>
          <p:cNvPr id="6" name="Picture 5" descr="821698627_a0b837b428_m.jpg"/>
          <p:cNvPicPr>
            <a:picLocks noChangeAspect="1"/>
          </p:cNvPicPr>
          <p:nvPr/>
        </p:nvPicPr>
        <p:blipFill>
          <a:blip r:embed="rId3" cstate="print"/>
          <a:stretch>
            <a:fillRect/>
          </a:stretch>
        </p:blipFill>
        <p:spPr>
          <a:xfrm>
            <a:off x="6228184" y="3717032"/>
            <a:ext cx="2194560" cy="1645920"/>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39552" y="1268760"/>
            <a:ext cx="7467600" cy="4381947"/>
          </a:xfrm>
        </p:spPr>
        <p:txBody>
          <a:bodyPr>
            <a:normAutofit/>
          </a:bodyPr>
          <a:lstStyle/>
          <a:p>
            <a:pPr>
              <a:spcBef>
                <a:spcPts val="600"/>
              </a:spcBef>
              <a:spcAft>
                <a:spcPts val="1200"/>
              </a:spcAft>
              <a:buNone/>
            </a:pPr>
            <a:r>
              <a:rPr lang="en-AU" sz="2200" b="1" dirty="0" smtClean="0">
                <a:latin typeface="Helvetica" pitchFamily="34" charset="0"/>
              </a:rPr>
              <a:t>Generic red wines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Generic red wines include:</a:t>
            </a:r>
          </a:p>
          <a:p>
            <a:pPr lvl="0">
              <a:spcBef>
                <a:spcPts val="600"/>
              </a:spcBef>
              <a:spcAft>
                <a:spcPts val="1200"/>
              </a:spcAft>
            </a:pPr>
            <a:r>
              <a:rPr lang="en-AU" sz="2200" dirty="0" smtClean="0">
                <a:latin typeface="Helvetica" pitchFamily="34" charset="0"/>
              </a:rPr>
              <a:t>Burgundy</a:t>
            </a:r>
          </a:p>
          <a:p>
            <a:pPr lvl="0">
              <a:spcBef>
                <a:spcPts val="600"/>
              </a:spcBef>
              <a:spcAft>
                <a:spcPts val="1200"/>
              </a:spcAft>
            </a:pPr>
            <a:r>
              <a:rPr lang="en-AU" sz="2200" dirty="0" smtClean="0">
                <a:latin typeface="Helvetica" pitchFamily="34" charset="0"/>
              </a:rPr>
              <a:t>Claret</a:t>
            </a:r>
          </a:p>
        </p:txBody>
      </p:sp>
      <p:sp>
        <p:nvSpPr>
          <p:cNvPr id="7" name="Title 1"/>
          <p:cNvSpPr>
            <a:spLocks noGrp="1"/>
          </p:cNvSpPr>
          <p:nvPr>
            <p:ph type="title"/>
          </p:nvPr>
        </p:nvSpPr>
        <p:spPr>
          <a:xfrm>
            <a:off x="539552" y="332656"/>
            <a:ext cx="7467600" cy="792088"/>
          </a:xfrm>
        </p:spPr>
        <p:txBody>
          <a:bodyPr>
            <a:normAutofit/>
          </a:bodyPr>
          <a:lstStyle/>
          <a:p>
            <a:pPr marL="0" lvl="0"/>
            <a:r>
              <a:rPr lang="en-AU" sz="3400" b="1" dirty="0" smtClean="0">
                <a:solidFill>
                  <a:srgbClr val="FF6600"/>
                </a:solidFill>
                <a:latin typeface="Helvetica" pitchFamily="34" charset="0"/>
              </a:rPr>
              <a:t>Generic wines</a:t>
            </a:r>
          </a:p>
        </p:txBody>
      </p:sp>
      <p:pic>
        <p:nvPicPr>
          <p:cNvPr id="5" name="Picture 4" descr="10737241_96efcbfbcd_m.jpg"/>
          <p:cNvPicPr>
            <a:picLocks noChangeAspect="1"/>
          </p:cNvPicPr>
          <p:nvPr/>
        </p:nvPicPr>
        <p:blipFill>
          <a:blip r:embed="rId3" cstate="print"/>
          <a:stretch>
            <a:fillRect/>
          </a:stretch>
        </p:blipFill>
        <p:spPr>
          <a:xfrm>
            <a:off x="6732240" y="3573016"/>
            <a:ext cx="1651640" cy="1651640"/>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60784" y="1124744"/>
            <a:ext cx="7467600" cy="5001419"/>
          </a:xfrm>
        </p:spPr>
        <p:txBody>
          <a:bodyPr>
            <a:normAutofit/>
          </a:bodyPr>
          <a:lstStyle/>
          <a:p>
            <a:pPr marL="0">
              <a:spcBef>
                <a:spcPts val="600"/>
              </a:spcBef>
              <a:spcAft>
                <a:spcPts val="1200"/>
              </a:spcAft>
              <a:buNone/>
            </a:pPr>
            <a:r>
              <a:rPr lang="en-AU" sz="2200" dirty="0" smtClean="0">
                <a:latin typeface="Helvetica" pitchFamily="34" charset="0"/>
              </a:rPr>
              <a:t>When most wine industries started, most if not all of its wines were generic wines.</a:t>
            </a:r>
          </a:p>
          <a:p>
            <a:pPr>
              <a:spcBef>
                <a:spcPts val="600"/>
              </a:spcBef>
              <a:spcAft>
                <a:spcPts val="1200"/>
              </a:spcAft>
              <a:buNone/>
            </a:pPr>
            <a:r>
              <a:rPr lang="en-AU" sz="2200" dirty="0" smtClean="0">
                <a:latin typeface="Helvetica" pitchFamily="34" charset="0"/>
              </a:rPr>
              <a:t>Today there is a tendency for:</a:t>
            </a:r>
          </a:p>
          <a:p>
            <a:pPr>
              <a:spcBef>
                <a:spcPts val="600"/>
              </a:spcBef>
              <a:spcAft>
                <a:spcPts val="1200"/>
              </a:spcAft>
            </a:pPr>
            <a:r>
              <a:rPr lang="en-AU" sz="2200" dirty="0" smtClean="0">
                <a:latin typeface="Helvetica" pitchFamily="34" charset="0"/>
              </a:rPr>
              <a:t>Cask or house wines to be generic</a:t>
            </a:r>
          </a:p>
          <a:p>
            <a:pPr>
              <a:spcBef>
                <a:spcPts val="600"/>
              </a:spcBef>
              <a:spcAft>
                <a:spcPts val="1200"/>
              </a:spcAft>
            </a:pPr>
            <a:r>
              <a:rPr lang="en-AU" sz="2200" dirty="0" smtClean="0">
                <a:latin typeface="Helvetica" pitchFamily="34" charset="0"/>
              </a:rPr>
              <a:t>Premium bottled wines to be varietal</a:t>
            </a:r>
            <a:endParaRPr lang="en-AU" sz="2200" dirty="0">
              <a:latin typeface="Helvetica" pitchFamily="34" charset="0"/>
            </a:endParaRPr>
          </a:p>
        </p:txBody>
      </p:sp>
      <p:sp>
        <p:nvSpPr>
          <p:cNvPr id="7" name="Title 1"/>
          <p:cNvSpPr>
            <a:spLocks noGrp="1"/>
          </p:cNvSpPr>
          <p:nvPr>
            <p:ph type="title"/>
          </p:nvPr>
        </p:nvSpPr>
        <p:spPr>
          <a:xfrm>
            <a:off x="539552" y="332656"/>
            <a:ext cx="7467600" cy="720080"/>
          </a:xfrm>
        </p:spPr>
        <p:txBody>
          <a:bodyPr>
            <a:normAutofit/>
          </a:bodyPr>
          <a:lstStyle/>
          <a:p>
            <a:pPr marL="0" lvl="0"/>
            <a:r>
              <a:rPr lang="en-AU" sz="3400" b="1" dirty="0" smtClean="0">
                <a:solidFill>
                  <a:srgbClr val="FF6600"/>
                </a:solidFill>
                <a:latin typeface="Helvetica" pitchFamily="34" charset="0"/>
              </a:rPr>
              <a:t>Varietal and generic wines</a:t>
            </a:r>
          </a:p>
        </p:txBody>
      </p:sp>
      <p:pic>
        <p:nvPicPr>
          <p:cNvPr id="5" name="Picture 4" descr="6812033373_36690ec4f8_m.jpg"/>
          <p:cNvPicPr>
            <a:picLocks noChangeAspect="1"/>
          </p:cNvPicPr>
          <p:nvPr/>
        </p:nvPicPr>
        <p:blipFill>
          <a:blip r:embed="rId3" cstate="print"/>
          <a:stretch>
            <a:fillRect/>
          </a:stretch>
        </p:blipFill>
        <p:spPr>
          <a:xfrm>
            <a:off x="6300192" y="3871848"/>
            <a:ext cx="2069976" cy="1483483"/>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60784" y="1163885"/>
            <a:ext cx="7467600" cy="5001419"/>
          </a:xfrm>
        </p:spPr>
        <p:txBody>
          <a:bodyPr>
            <a:normAutofit/>
          </a:bodyPr>
          <a:lstStyle/>
          <a:p>
            <a:pPr>
              <a:spcBef>
                <a:spcPts val="600"/>
              </a:spcBef>
              <a:spcAft>
                <a:spcPts val="1200"/>
              </a:spcAft>
            </a:pPr>
            <a:r>
              <a:rPr lang="en-AU" sz="2200" dirty="0" smtClean="0">
                <a:latin typeface="Helvetica" pitchFamily="34" charset="0"/>
              </a:rPr>
              <a:t>The word ‘Champagne’ is now legally reserved for sparkling wine produced from the Champagne region in France</a:t>
            </a:r>
          </a:p>
          <a:p>
            <a:pPr>
              <a:spcBef>
                <a:spcPts val="600"/>
              </a:spcBef>
              <a:spcAft>
                <a:spcPts val="1200"/>
              </a:spcAft>
            </a:pPr>
            <a:r>
              <a:rPr lang="en-AU" sz="2200" dirty="0" smtClean="0">
                <a:latin typeface="Helvetica" pitchFamily="34" charset="0"/>
              </a:rPr>
              <a:t>Where produced in other parts of the world, it is correctly now known as ‘sparkling wine’</a:t>
            </a:r>
            <a:endParaRPr lang="en-AU" sz="2200" dirty="0">
              <a:latin typeface="Helvetica" pitchFamily="34" charset="0"/>
            </a:endParaRPr>
          </a:p>
        </p:txBody>
      </p:sp>
      <p:sp>
        <p:nvSpPr>
          <p:cNvPr id="7" name="Title 1"/>
          <p:cNvSpPr>
            <a:spLocks noGrp="1"/>
          </p:cNvSpPr>
          <p:nvPr>
            <p:ph type="title"/>
          </p:nvPr>
        </p:nvSpPr>
        <p:spPr>
          <a:xfrm>
            <a:off x="539552" y="332656"/>
            <a:ext cx="7467600" cy="720080"/>
          </a:xfrm>
        </p:spPr>
        <p:txBody>
          <a:bodyPr>
            <a:normAutofit/>
          </a:bodyPr>
          <a:lstStyle/>
          <a:p>
            <a:pPr marL="0" lvl="0"/>
            <a:r>
              <a:rPr lang="en-AU" sz="3400" b="1" dirty="0" smtClean="0">
                <a:solidFill>
                  <a:srgbClr val="FF6600"/>
                </a:solidFill>
                <a:latin typeface="Helvetica" pitchFamily="34" charset="0"/>
              </a:rPr>
              <a:t>Champagne/sparking wines</a:t>
            </a:r>
          </a:p>
        </p:txBody>
      </p:sp>
      <p:pic>
        <p:nvPicPr>
          <p:cNvPr id="6" name="Picture 5" descr="5310472113_05b5a5e36e_m.jpg"/>
          <p:cNvPicPr>
            <a:picLocks noChangeAspect="1"/>
          </p:cNvPicPr>
          <p:nvPr/>
        </p:nvPicPr>
        <p:blipFill>
          <a:blip r:embed="rId3" cstate="print"/>
          <a:stretch>
            <a:fillRect/>
          </a:stretch>
        </p:blipFill>
        <p:spPr>
          <a:xfrm>
            <a:off x="6660232" y="4005064"/>
            <a:ext cx="1477392" cy="2216088"/>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60784" y="1196752"/>
            <a:ext cx="7467600" cy="4929411"/>
          </a:xfrm>
        </p:spPr>
        <p:txBody>
          <a:bodyPr>
            <a:normAutofit/>
          </a:bodyPr>
          <a:lstStyle/>
          <a:p>
            <a:pPr>
              <a:spcBef>
                <a:spcPts val="600"/>
              </a:spcBef>
              <a:spcAft>
                <a:spcPts val="1200"/>
              </a:spcAft>
              <a:buNone/>
            </a:pPr>
            <a:r>
              <a:rPr lang="en-AU" sz="2200" b="1" dirty="0" smtClean="0">
                <a:latin typeface="Helvetica" pitchFamily="34" charset="0"/>
              </a:rPr>
              <a:t>Production of sparkling wine</a:t>
            </a:r>
          </a:p>
          <a:p>
            <a:pPr>
              <a:spcBef>
                <a:spcPts val="600"/>
              </a:spcBef>
              <a:spcAft>
                <a:spcPts val="1200"/>
              </a:spcAft>
              <a:buNone/>
            </a:pPr>
            <a:r>
              <a:rPr lang="en-AU" sz="2200" dirty="0" smtClean="0">
                <a:latin typeface="Helvetica" pitchFamily="34" charset="0"/>
              </a:rPr>
              <a:t>Sparkling wines may be made using one of four options:</a:t>
            </a:r>
          </a:p>
          <a:p>
            <a:pPr>
              <a:spcBef>
                <a:spcPts val="600"/>
              </a:spcBef>
              <a:spcAft>
                <a:spcPts val="1200"/>
              </a:spcAft>
            </a:pPr>
            <a:r>
              <a:rPr lang="en-AU" sz="2200" dirty="0" smtClean="0">
                <a:latin typeface="Helvetica" pitchFamily="34" charset="0"/>
              </a:rPr>
              <a:t>Naturally Carbonated wine</a:t>
            </a:r>
          </a:p>
          <a:p>
            <a:pPr>
              <a:spcBef>
                <a:spcPts val="600"/>
              </a:spcBef>
              <a:spcAft>
                <a:spcPts val="1200"/>
              </a:spcAft>
            </a:pPr>
            <a:r>
              <a:rPr lang="en-AU" sz="2200" dirty="0" smtClean="0">
                <a:latin typeface="Helvetica" pitchFamily="34" charset="0"/>
              </a:rPr>
              <a:t>Carbonated or Injection method</a:t>
            </a:r>
          </a:p>
          <a:p>
            <a:pPr>
              <a:spcBef>
                <a:spcPts val="600"/>
              </a:spcBef>
              <a:spcAft>
                <a:spcPts val="1200"/>
              </a:spcAft>
            </a:pPr>
            <a:r>
              <a:rPr lang="en-AU" sz="2200" dirty="0" smtClean="0">
                <a:latin typeface="Helvetica" pitchFamily="34" charset="0"/>
              </a:rPr>
              <a:t>Cuvee close, Charmat, Bulk or Tank method</a:t>
            </a:r>
          </a:p>
          <a:p>
            <a:pPr>
              <a:spcBef>
                <a:spcPts val="600"/>
              </a:spcBef>
              <a:spcAft>
                <a:spcPts val="1200"/>
              </a:spcAft>
            </a:pPr>
            <a:r>
              <a:rPr lang="en-AU" sz="2200" dirty="0" smtClean="0">
                <a:latin typeface="Helvetica" pitchFamily="34" charset="0"/>
              </a:rPr>
              <a:t>Transfer method</a:t>
            </a:r>
          </a:p>
          <a:p>
            <a:pPr>
              <a:spcBef>
                <a:spcPts val="600"/>
              </a:spcBef>
              <a:spcAft>
                <a:spcPts val="1200"/>
              </a:spcAft>
              <a:buNone/>
            </a:pPr>
            <a:endParaRPr lang="en-AU" sz="2400" dirty="0" smtClean="0"/>
          </a:p>
          <a:p>
            <a:pPr>
              <a:spcBef>
                <a:spcPts val="600"/>
              </a:spcBef>
              <a:spcAft>
                <a:spcPts val="1200"/>
              </a:spcAft>
              <a:buNone/>
            </a:pPr>
            <a:endParaRPr lang="en-AU" sz="2200" dirty="0">
              <a:latin typeface="Helvetica" pitchFamily="34" charset="0"/>
            </a:endParaRPr>
          </a:p>
        </p:txBody>
      </p:sp>
      <p:sp>
        <p:nvSpPr>
          <p:cNvPr id="7" name="Title 1"/>
          <p:cNvSpPr>
            <a:spLocks noGrp="1"/>
          </p:cNvSpPr>
          <p:nvPr>
            <p:ph type="title"/>
          </p:nvPr>
        </p:nvSpPr>
        <p:spPr>
          <a:xfrm>
            <a:off x="539552" y="332656"/>
            <a:ext cx="7467600" cy="720080"/>
          </a:xfrm>
        </p:spPr>
        <p:txBody>
          <a:bodyPr>
            <a:normAutofit/>
          </a:bodyPr>
          <a:lstStyle/>
          <a:p>
            <a:pPr marL="0" lvl="0"/>
            <a:r>
              <a:rPr lang="en-AU" sz="3400" b="1" dirty="0" smtClean="0">
                <a:solidFill>
                  <a:srgbClr val="FF6600"/>
                </a:solidFill>
                <a:latin typeface="Helvetica" pitchFamily="34" charset="0"/>
              </a:rPr>
              <a:t>Champagne and sparking wines</a:t>
            </a:r>
          </a:p>
        </p:txBody>
      </p:sp>
      <p:pic>
        <p:nvPicPr>
          <p:cNvPr id="5" name="Picture 4" descr="4251657150_f43fe71bf1_m.jpg"/>
          <p:cNvPicPr/>
          <p:nvPr/>
        </p:nvPicPr>
        <p:blipFill>
          <a:blip r:embed="rId3" cstate="print"/>
          <a:stretch>
            <a:fillRect/>
          </a:stretch>
        </p:blipFill>
        <p:spPr>
          <a:xfrm>
            <a:off x="6444208" y="3933056"/>
            <a:ext cx="1900238" cy="1633538"/>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60784" y="1196752"/>
            <a:ext cx="7467600" cy="4929411"/>
          </a:xfrm>
        </p:spPr>
        <p:txBody>
          <a:bodyPr>
            <a:normAutofit/>
          </a:bodyPr>
          <a:lstStyle/>
          <a:p>
            <a:pPr>
              <a:spcBef>
                <a:spcPts val="600"/>
              </a:spcBef>
              <a:spcAft>
                <a:spcPts val="1200"/>
              </a:spcAft>
              <a:buNone/>
            </a:pPr>
            <a:r>
              <a:rPr lang="en-AU" sz="2200" b="1" dirty="0" smtClean="0">
                <a:latin typeface="Helvetica" pitchFamily="34" charset="0"/>
              </a:rPr>
              <a:t>Styles of champagne</a:t>
            </a:r>
          </a:p>
          <a:p>
            <a:pPr>
              <a:spcBef>
                <a:spcPts val="600"/>
              </a:spcBef>
              <a:spcAft>
                <a:spcPts val="1200"/>
              </a:spcAft>
            </a:pPr>
            <a:r>
              <a:rPr lang="en-AU" sz="2200" dirty="0" smtClean="0">
                <a:latin typeface="Helvetica" pitchFamily="34" charset="0"/>
              </a:rPr>
              <a:t>Non-vintage (N.V.)</a:t>
            </a:r>
          </a:p>
          <a:p>
            <a:pPr>
              <a:spcBef>
                <a:spcPts val="600"/>
              </a:spcBef>
              <a:spcAft>
                <a:spcPts val="1200"/>
              </a:spcAft>
            </a:pPr>
            <a:r>
              <a:rPr lang="en-AU" sz="2200" dirty="0" smtClean="0">
                <a:latin typeface="Helvetica" pitchFamily="34" charset="0"/>
              </a:rPr>
              <a:t>Vintage</a:t>
            </a:r>
          </a:p>
          <a:p>
            <a:pPr>
              <a:spcBef>
                <a:spcPts val="600"/>
              </a:spcBef>
              <a:spcAft>
                <a:spcPts val="1200"/>
              </a:spcAft>
            </a:pPr>
            <a:r>
              <a:rPr lang="en-AU" sz="2200" dirty="0" smtClean="0">
                <a:latin typeface="Helvetica" pitchFamily="34" charset="0"/>
              </a:rPr>
              <a:t>Rosé</a:t>
            </a:r>
          </a:p>
          <a:p>
            <a:pPr>
              <a:spcBef>
                <a:spcPts val="600"/>
              </a:spcBef>
              <a:spcAft>
                <a:spcPts val="1200"/>
              </a:spcAft>
            </a:pPr>
            <a:r>
              <a:rPr lang="en-AU" sz="2200" dirty="0" smtClean="0">
                <a:latin typeface="Helvetica" pitchFamily="34" charset="0"/>
              </a:rPr>
              <a:t>Crémant</a:t>
            </a:r>
          </a:p>
          <a:p>
            <a:pPr>
              <a:spcBef>
                <a:spcPts val="600"/>
              </a:spcBef>
              <a:spcAft>
                <a:spcPts val="1200"/>
              </a:spcAft>
            </a:pPr>
            <a:r>
              <a:rPr lang="en-AU" sz="2200" dirty="0" smtClean="0">
                <a:latin typeface="Helvetica" pitchFamily="34" charset="0"/>
              </a:rPr>
              <a:t>Blanc de blancs</a:t>
            </a:r>
          </a:p>
          <a:p>
            <a:pPr>
              <a:spcBef>
                <a:spcPts val="600"/>
              </a:spcBef>
              <a:spcAft>
                <a:spcPts val="1200"/>
              </a:spcAft>
            </a:pPr>
            <a:r>
              <a:rPr lang="en-AU" sz="2200" dirty="0" smtClean="0">
                <a:latin typeface="Helvetica" pitchFamily="34" charset="0"/>
              </a:rPr>
              <a:t>Blanc de Noirs</a:t>
            </a:r>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latin typeface="Helvetica" pitchFamily="34" charset="0"/>
            </a:endParaRPr>
          </a:p>
        </p:txBody>
      </p:sp>
      <p:sp>
        <p:nvSpPr>
          <p:cNvPr id="7" name="Title 1"/>
          <p:cNvSpPr>
            <a:spLocks noGrp="1"/>
          </p:cNvSpPr>
          <p:nvPr>
            <p:ph type="title"/>
          </p:nvPr>
        </p:nvSpPr>
        <p:spPr>
          <a:xfrm>
            <a:off x="539552" y="332656"/>
            <a:ext cx="7467600" cy="792088"/>
          </a:xfrm>
        </p:spPr>
        <p:txBody>
          <a:bodyPr>
            <a:normAutofit/>
          </a:bodyPr>
          <a:lstStyle/>
          <a:p>
            <a:pPr marL="0" lvl="0"/>
            <a:r>
              <a:rPr lang="en-AU" sz="3400" b="1" dirty="0" smtClean="0">
                <a:solidFill>
                  <a:srgbClr val="FF6600"/>
                </a:solidFill>
                <a:latin typeface="Helvetica" pitchFamily="34" charset="0"/>
              </a:rPr>
              <a:t>Champagne</a:t>
            </a:r>
          </a:p>
        </p:txBody>
      </p:sp>
      <p:pic>
        <p:nvPicPr>
          <p:cNvPr id="6" name="Picture 5" descr="6101719678_659d6bc292_m.jpg"/>
          <p:cNvPicPr/>
          <p:nvPr/>
        </p:nvPicPr>
        <p:blipFill>
          <a:blip r:embed="rId3" cstate="print"/>
          <a:srcRect t="12504"/>
          <a:stretch>
            <a:fillRect/>
          </a:stretch>
        </p:blipFill>
        <p:spPr>
          <a:xfrm>
            <a:off x="6228184" y="3789040"/>
            <a:ext cx="2152526" cy="1511623"/>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60784" y="1124744"/>
            <a:ext cx="7467600" cy="5001419"/>
          </a:xfrm>
        </p:spPr>
        <p:txBody>
          <a:bodyPr>
            <a:normAutofit/>
          </a:bodyPr>
          <a:lstStyle/>
          <a:p>
            <a:pPr marL="0">
              <a:spcBef>
                <a:spcPts val="600"/>
              </a:spcBef>
              <a:spcAft>
                <a:spcPts val="1200"/>
              </a:spcAft>
              <a:buNone/>
            </a:pPr>
            <a:r>
              <a:rPr lang="en-AU" sz="2200" dirty="0" smtClean="0">
                <a:latin typeface="Helvetica" pitchFamily="34" charset="0"/>
              </a:rPr>
              <a:t>Fortified wines are base wines which are strengthened or ‘fortified’ by the addition of grape spirit or brandy.</a:t>
            </a:r>
          </a:p>
          <a:p>
            <a:pPr>
              <a:spcBef>
                <a:spcPts val="600"/>
              </a:spcBef>
              <a:spcAft>
                <a:spcPts val="1200"/>
              </a:spcAft>
              <a:buNone/>
            </a:pPr>
            <a:r>
              <a:rPr lang="en-AU" sz="2200" dirty="0" smtClean="0">
                <a:latin typeface="Helvetica" pitchFamily="34" charset="0"/>
              </a:rPr>
              <a:t>The addition of the grape spirit:</a:t>
            </a:r>
          </a:p>
          <a:p>
            <a:pPr>
              <a:spcBef>
                <a:spcPts val="600"/>
              </a:spcBef>
              <a:spcAft>
                <a:spcPts val="1200"/>
              </a:spcAft>
            </a:pPr>
            <a:r>
              <a:rPr lang="en-AU" sz="2200" dirty="0" smtClean="0">
                <a:latin typeface="Helvetica" pitchFamily="34" charset="0"/>
              </a:rPr>
              <a:t>Stops fermentation</a:t>
            </a:r>
          </a:p>
          <a:p>
            <a:pPr>
              <a:spcBef>
                <a:spcPts val="600"/>
              </a:spcBef>
              <a:spcAft>
                <a:spcPts val="1200"/>
              </a:spcAft>
            </a:pPr>
            <a:r>
              <a:rPr lang="en-AU" sz="2200" dirty="0" smtClean="0">
                <a:latin typeface="Helvetica" pitchFamily="34" charset="0"/>
              </a:rPr>
              <a:t>Increases alcoholic strength </a:t>
            </a:r>
          </a:p>
          <a:p>
            <a:pPr>
              <a:spcBef>
                <a:spcPts val="600"/>
              </a:spcBef>
              <a:spcAft>
                <a:spcPts val="1200"/>
              </a:spcAft>
            </a:pPr>
            <a:r>
              <a:rPr lang="en-AU" sz="2200" dirty="0" smtClean="0">
                <a:latin typeface="Helvetica" pitchFamily="34" charset="0"/>
              </a:rPr>
              <a:t>Adds sweetness </a:t>
            </a:r>
          </a:p>
          <a:p>
            <a:pPr>
              <a:spcBef>
                <a:spcPts val="600"/>
              </a:spcBef>
              <a:spcAft>
                <a:spcPts val="1200"/>
              </a:spcAft>
            </a:pPr>
            <a:r>
              <a:rPr lang="en-AU" sz="2200" dirty="0" smtClean="0">
                <a:latin typeface="Helvetica" pitchFamily="34" charset="0"/>
              </a:rPr>
              <a:t>Imparts keeping qualities</a:t>
            </a:r>
          </a:p>
          <a:p>
            <a:pPr>
              <a:spcBef>
                <a:spcPts val="600"/>
              </a:spcBef>
              <a:spcAft>
                <a:spcPts val="1200"/>
              </a:spcAft>
            </a:pPr>
            <a:r>
              <a:rPr lang="en-AU" sz="2200" dirty="0" smtClean="0">
                <a:latin typeface="Helvetica" pitchFamily="34" charset="0"/>
              </a:rPr>
              <a:t>Provides the brandy character</a:t>
            </a:r>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latin typeface="Helvetica" pitchFamily="34" charset="0"/>
            </a:endParaRPr>
          </a:p>
        </p:txBody>
      </p:sp>
      <p:sp>
        <p:nvSpPr>
          <p:cNvPr id="7" name="Title 1"/>
          <p:cNvSpPr>
            <a:spLocks noGrp="1"/>
          </p:cNvSpPr>
          <p:nvPr>
            <p:ph type="title"/>
          </p:nvPr>
        </p:nvSpPr>
        <p:spPr>
          <a:xfrm>
            <a:off x="539552" y="332656"/>
            <a:ext cx="7467600" cy="720080"/>
          </a:xfrm>
        </p:spPr>
        <p:txBody>
          <a:bodyPr>
            <a:normAutofit/>
          </a:bodyPr>
          <a:lstStyle/>
          <a:p>
            <a:pPr marL="0" lvl="0"/>
            <a:r>
              <a:rPr lang="en-AU" sz="3400" b="1" dirty="0" smtClean="0">
                <a:solidFill>
                  <a:srgbClr val="FF6600"/>
                </a:solidFill>
                <a:latin typeface="Helvetica" pitchFamily="34" charset="0"/>
              </a:rPr>
              <a:t>Fortified wines</a:t>
            </a:r>
          </a:p>
        </p:txBody>
      </p:sp>
      <p:pic>
        <p:nvPicPr>
          <p:cNvPr id="4" name="Picture 3" descr="Degustation of Spanish sherry by Michal Osmenda"/>
          <p:cNvPicPr/>
          <p:nvPr/>
        </p:nvPicPr>
        <p:blipFill>
          <a:blip r:embed="rId3" cstate="print"/>
          <a:srcRect/>
          <a:stretch>
            <a:fillRect/>
          </a:stretch>
        </p:blipFill>
        <p:spPr bwMode="auto">
          <a:xfrm>
            <a:off x="6228184" y="3789040"/>
            <a:ext cx="2137222" cy="1440160"/>
          </a:xfrm>
          <a:prstGeom prst="rect">
            <a:avLst/>
          </a:prstGeom>
          <a:noFill/>
          <a:ln w="9525">
            <a:noFill/>
            <a:miter lim="800000"/>
            <a:headEnd/>
            <a:tailEnd/>
          </a:ln>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60784" y="1124744"/>
            <a:ext cx="7467600" cy="5001419"/>
          </a:xfrm>
        </p:spPr>
        <p:txBody>
          <a:bodyPr>
            <a:normAutofit/>
          </a:bodyPr>
          <a:lstStyle/>
          <a:p>
            <a:pPr marL="0">
              <a:spcBef>
                <a:spcPts val="600"/>
              </a:spcBef>
              <a:spcAft>
                <a:spcPts val="1200"/>
              </a:spcAft>
              <a:buNone/>
            </a:pPr>
            <a:r>
              <a:rPr lang="en-AU" sz="2200" b="1" dirty="0" smtClean="0">
                <a:latin typeface="Helvetica" pitchFamily="34" charset="0"/>
              </a:rPr>
              <a:t>Types of fortified wines</a:t>
            </a:r>
          </a:p>
          <a:p>
            <a:pPr>
              <a:spcBef>
                <a:spcPts val="600"/>
              </a:spcBef>
              <a:spcAft>
                <a:spcPts val="1200"/>
              </a:spcAft>
            </a:pPr>
            <a:r>
              <a:rPr lang="en-AU" sz="2200" dirty="0" smtClean="0">
                <a:latin typeface="Helvetica" pitchFamily="34" charset="0"/>
              </a:rPr>
              <a:t>Sherry</a:t>
            </a:r>
          </a:p>
          <a:p>
            <a:pPr>
              <a:spcBef>
                <a:spcPts val="600"/>
              </a:spcBef>
              <a:spcAft>
                <a:spcPts val="1200"/>
              </a:spcAft>
            </a:pPr>
            <a:r>
              <a:rPr lang="en-AU" sz="2200" dirty="0" smtClean="0">
                <a:latin typeface="Helvetica" pitchFamily="34" charset="0"/>
              </a:rPr>
              <a:t>Vermouth</a:t>
            </a:r>
          </a:p>
          <a:p>
            <a:pPr>
              <a:spcBef>
                <a:spcPts val="600"/>
              </a:spcBef>
              <a:spcAft>
                <a:spcPts val="1200"/>
              </a:spcAft>
            </a:pPr>
            <a:r>
              <a:rPr lang="en-AU" sz="2200" dirty="0" smtClean="0">
                <a:latin typeface="Helvetica" pitchFamily="34" charset="0"/>
              </a:rPr>
              <a:t>Port</a:t>
            </a:r>
          </a:p>
          <a:p>
            <a:pPr>
              <a:spcBef>
                <a:spcPts val="600"/>
              </a:spcBef>
              <a:spcAft>
                <a:spcPts val="1200"/>
              </a:spcAft>
            </a:pPr>
            <a:r>
              <a:rPr lang="en-AU" sz="2200" dirty="0" smtClean="0">
                <a:latin typeface="Helvetica" pitchFamily="34" charset="0"/>
              </a:rPr>
              <a:t>Muscat</a:t>
            </a:r>
          </a:p>
          <a:p>
            <a:pPr>
              <a:spcBef>
                <a:spcPts val="600"/>
              </a:spcBef>
              <a:spcAft>
                <a:spcPts val="1200"/>
              </a:spcAft>
            </a:pPr>
            <a:r>
              <a:rPr lang="en-AU" sz="2200" dirty="0" smtClean="0">
                <a:latin typeface="Helvetica" pitchFamily="34" charset="0"/>
              </a:rPr>
              <a:t>Tokay</a:t>
            </a:r>
          </a:p>
          <a:p>
            <a:pPr>
              <a:spcBef>
                <a:spcPts val="600"/>
              </a:spcBef>
              <a:spcAft>
                <a:spcPts val="1200"/>
              </a:spcAft>
            </a:pPr>
            <a:endParaRPr lang="en-AU" sz="2400" dirty="0" smtClean="0"/>
          </a:p>
          <a:p>
            <a:pPr>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latin typeface="Helvetica" pitchFamily="34" charset="0"/>
            </a:endParaRPr>
          </a:p>
        </p:txBody>
      </p:sp>
      <p:sp>
        <p:nvSpPr>
          <p:cNvPr id="7" name="Title 1"/>
          <p:cNvSpPr>
            <a:spLocks noGrp="1"/>
          </p:cNvSpPr>
          <p:nvPr>
            <p:ph type="title"/>
          </p:nvPr>
        </p:nvSpPr>
        <p:spPr>
          <a:xfrm>
            <a:off x="539552" y="332656"/>
            <a:ext cx="7467600" cy="720080"/>
          </a:xfrm>
        </p:spPr>
        <p:txBody>
          <a:bodyPr>
            <a:normAutofit/>
          </a:bodyPr>
          <a:lstStyle/>
          <a:p>
            <a:pPr marL="0" lvl="0"/>
            <a:r>
              <a:rPr lang="en-AU" sz="3400" b="1" dirty="0" smtClean="0">
                <a:solidFill>
                  <a:srgbClr val="FF6600"/>
                </a:solidFill>
                <a:latin typeface="Helvetica" pitchFamily="34" charset="0"/>
              </a:rPr>
              <a:t>Fortified wines</a:t>
            </a:r>
          </a:p>
        </p:txBody>
      </p:sp>
      <p:pic>
        <p:nvPicPr>
          <p:cNvPr id="5" name="Picture 4" descr="Rob Roy Cocktail by TheCulinaryGeek"/>
          <p:cNvPicPr/>
          <p:nvPr/>
        </p:nvPicPr>
        <p:blipFill>
          <a:blip r:embed="rId3" cstate="print"/>
          <a:srcRect/>
          <a:stretch>
            <a:fillRect/>
          </a:stretch>
        </p:blipFill>
        <p:spPr bwMode="auto">
          <a:xfrm>
            <a:off x="6804248" y="3284984"/>
            <a:ext cx="1590675" cy="1895475"/>
          </a:xfrm>
          <a:prstGeom prst="rect">
            <a:avLst/>
          </a:prstGeom>
          <a:noFill/>
          <a:ln w="9525">
            <a:noFill/>
            <a:miter lim="800000"/>
            <a:headEnd/>
            <a:tailEnd/>
          </a:ln>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60784" y="1268760"/>
            <a:ext cx="7467600" cy="4857403"/>
          </a:xfrm>
        </p:spPr>
        <p:txBody>
          <a:bodyPr>
            <a:normAutofit/>
          </a:bodyPr>
          <a:lstStyle/>
          <a:p>
            <a:pPr marL="0">
              <a:spcBef>
                <a:spcPts val="600"/>
              </a:spcBef>
              <a:spcAft>
                <a:spcPts val="1200"/>
              </a:spcAft>
            </a:pPr>
            <a:r>
              <a:rPr lang="en-AU" sz="2200" dirty="0" smtClean="0">
                <a:latin typeface="Helvetica" pitchFamily="34" charset="0"/>
              </a:rPr>
              <a:t>What are famous wine growing countries?</a:t>
            </a:r>
            <a:endParaRPr lang="en-AU" sz="2400" dirty="0" smtClean="0"/>
          </a:p>
          <a:p>
            <a:pPr>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latin typeface="Helvetica" pitchFamily="34" charset="0"/>
            </a:endParaRPr>
          </a:p>
        </p:txBody>
      </p:sp>
      <p:sp>
        <p:nvSpPr>
          <p:cNvPr id="7" name="Title 1"/>
          <p:cNvSpPr>
            <a:spLocks noGrp="1"/>
          </p:cNvSpPr>
          <p:nvPr>
            <p:ph type="title"/>
          </p:nvPr>
        </p:nvSpPr>
        <p:spPr>
          <a:xfrm>
            <a:off x="539552" y="332656"/>
            <a:ext cx="7467600" cy="792088"/>
          </a:xfrm>
        </p:spPr>
        <p:txBody>
          <a:bodyPr>
            <a:normAutofit/>
          </a:bodyPr>
          <a:lstStyle/>
          <a:p>
            <a:pPr marL="0" lvl="0"/>
            <a:r>
              <a:rPr lang="en-AU" sz="3400" b="1" dirty="0" smtClean="0">
                <a:solidFill>
                  <a:srgbClr val="FF6600"/>
                </a:solidFill>
                <a:latin typeface="Helvetica" pitchFamily="34" charset="0"/>
              </a:rPr>
              <a:t>Wine growing countries</a:t>
            </a:r>
          </a:p>
        </p:txBody>
      </p:sp>
      <p:pic>
        <p:nvPicPr>
          <p:cNvPr id="6" name="Picture 5" descr="821698627_a0b837b428_m.jpg"/>
          <p:cNvPicPr>
            <a:picLocks noChangeAspect="1"/>
          </p:cNvPicPr>
          <p:nvPr/>
        </p:nvPicPr>
        <p:blipFill>
          <a:blip r:embed="rId3" cstate="print"/>
          <a:stretch>
            <a:fillRect/>
          </a:stretch>
        </p:blipFill>
        <p:spPr>
          <a:xfrm>
            <a:off x="2627784" y="2204864"/>
            <a:ext cx="2194560" cy="1645920"/>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60784" y="1124744"/>
            <a:ext cx="7467600" cy="5001419"/>
          </a:xfrm>
        </p:spPr>
        <p:txBody>
          <a:bodyPr>
            <a:normAutofit/>
          </a:bodyPr>
          <a:lstStyle/>
          <a:p>
            <a:pPr marL="0">
              <a:spcBef>
                <a:spcPts val="600"/>
              </a:spcBef>
              <a:spcAft>
                <a:spcPts val="1200"/>
              </a:spcAft>
              <a:buNone/>
            </a:pPr>
            <a:r>
              <a:rPr lang="en-AU" sz="2200" b="1" dirty="0" smtClean="0">
                <a:latin typeface="Helvetica" pitchFamily="34" charset="0"/>
              </a:rPr>
              <a:t>Top 10 wine producing countries in 2011</a:t>
            </a:r>
          </a:p>
          <a:p>
            <a:pPr marL="0">
              <a:spcBef>
                <a:spcPts val="600"/>
              </a:spcBef>
              <a:spcAft>
                <a:spcPts val="1200"/>
              </a:spcAft>
              <a:buNone/>
            </a:pPr>
            <a:r>
              <a:rPr lang="en-AU" sz="2200" u="sng" dirty="0" smtClean="0">
                <a:latin typeface="Helvetica" pitchFamily="34" charset="0"/>
              </a:rPr>
              <a:t>1 – 5:</a:t>
            </a:r>
          </a:p>
          <a:p>
            <a:pPr>
              <a:spcBef>
                <a:spcPts val="600"/>
              </a:spcBef>
              <a:spcAft>
                <a:spcPts val="1200"/>
              </a:spcAft>
            </a:pPr>
            <a:r>
              <a:rPr lang="en-AU" sz="2200" dirty="0" smtClean="0">
                <a:latin typeface="Helvetica" pitchFamily="34" charset="0"/>
              </a:rPr>
              <a:t>France</a:t>
            </a:r>
          </a:p>
          <a:p>
            <a:pPr>
              <a:spcBef>
                <a:spcPts val="600"/>
              </a:spcBef>
              <a:spcAft>
                <a:spcPts val="1200"/>
              </a:spcAft>
            </a:pPr>
            <a:r>
              <a:rPr lang="en-AU" sz="2200" dirty="0" smtClean="0">
                <a:latin typeface="Helvetica" pitchFamily="34" charset="0"/>
              </a:rPr>
              <a:t>Italy</a:t>
            </a:r>
          </a:p>
          <a:p>
            <a:pPr>
              <a:spcBef>
                <a:spcPts val="600"/>
              </a:spcBef>
              <a:spcAft>
                <a:spcPts val="1200"/>
              </a:spcAft>
            </a:pPr>
            <a:r>
              <a:rPr lang="en-AU" sz="2200" dirty="0" smtClean="0">
                <a:latin typeface="Helvetica" pitchFamily="34" charset="0"/>
              </a:rPr>
              <a:t>Spain</a:t>
            </a:r>
          </a:p>
          <a:p>
            <a:pPr>
              <a:spcBef>
                <a:spcPts val="600"/>
              </a:spcBef>
              <a:spcAft>
                <a:spcPts val="1200"/>
              </a:spcAft>
            </a:pPr>
            <a:r>
              <a:rPr lang="en-AU" sz="2200" dirty="0" smtClean="0">
                <a:latin typeface="Helvetica" pitchFamily="34" charset="0"/>
              </a:rPr>
              <a:t>United States</a:t>
            </a:r>
          </a:p>
          <a:p>
            <a:pPr>
              <a:spcBef>
                <a:spcPts val="600"/>
              </a:spcBef>
              <a:spcAft>
                <a:spcPts val="1200"/>
              </a:spcAft>
            </a:pPr>
            <a:r>
              <a:rPr lang="en-AU" sz="2200" dirty="0" smtClean="0">
                <a:latin typeface="Helvetica" pitchFamily="34" charset="0"/>
              </a:rPr>
              <a:t>Argentina</a:t>
            </a: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latin typeface="Helvetica" pitchFamily="34" charset="0"/>
            </a:endParaRPr>
          </a:p>
        </p:txBody>
      </p:sp>
      <p:sp>
        <p:nvSpPr>
          <p:cNvPr id="7" name="Title 1"/>
          <p:cNvSpPr>
            <a:spLocks noGrp="1"/>
          </p:cNvSpPr>
          <p:nvPr>
            <p:ph type="title"/>
          </p:nvPr>
        </p:nvSpPr>
        <p:spPr>
          <a:xfrm>
            <a:off x="539552" y="332656"/>
            <a:ext cx="7467600" cy="720080"/>
          </a:xfrm>
        </p:spPr>
        <p:txBody>
          <a:bodyPr>
            <a:normAutofit/>
          </a:bodyPr>
          <a:lstStyle/>
          <a:p>
            <a:pPr marL="0" lvl="0"/>
            <a:r>
              <a:rPr lang="en-AU" sz="3400" b="1" dirty="0" smtClean="0">
                <a:solidFill>
                  <a:srgbClr val="FF6600"/>
                </a:solidFill>
                <a:latin typeface="Helvetica" pitchFamily="34" charset="0"/>
              </a:rPr>
              <a:t>Wine growing countries</a:t>
            </a:r>
          </a:p>
        </p:txBody>
      </p:sp>
      <p:pic>
        <p:nvPicPr>
          <p:cNvPr id="5" name="Picture 4" descr="1459449853_f44145265a_m.jpg"/>
          <p:cNvPicPr>
            <a:picLocks noChangeAspect="1"/>
          </p:cNvPicPr>
          <p:nvPr/>
        </p:nvPicPr>
        <p:blipFill>
          <a:blip r:embed="rId3" cstate="print"/>
          <a:stretch>
            <a:fillRect/>
          </a:stretch>
        </p:blipFill>
        <p:spPr>
          <a:xfrm>
            <a:off x="7020272" y="3429000"/>
            <a:ext cx="1371600" cy="1828800"/>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60784" y="1124744"/>
            <a:ext cx="7467600" cy="5001419"/>
          </a:xfrm>
        </p:spPr>
        <p:txBody>
          <a:bodyPr>
            <a:normAutofit/>
          </a:bodyPr>
          <a:lstStyle/>
          <a:p>
            <a:pPr marL="0">
              <a:spcBef>
                <a:spcPts val="600"/>
              </a:spcBef>
              <a:spcAft>
                <a:spcPts val="1200"/>
              </a:spcAft>
              <a:buNone/>
            </a:pPr>
            <a:r>
              <a:rPr lang="en-AU" sz="2200" b="1" dirty="0" smtClean="0">
                <a:latin typeface="Helvetica" pitchFamily="34" charset="0"/>
              </a:rPr>
              <a:t>Top 10 wine producing countries in 2011</a:t>
            </a:r>
          </a:p>
          <a:p>
            <a:pPr marL="0">
              <a:spcBef>
                <a:spcPts val="600"/>
              </a:spcBef>
              <a:spcAft>
                <a:spcPts val="1200"/>
              </a:spcAft>
              <a:buNone/>
            </a:pPr>
            <a:r>
              <a:rPr lang="en-AU" sz="2200" u="sng" dirty="0" smtClean="0">
                <a:latin typeface="Helvetica" pitchFamily="34" charset="0"/>
              </a:rPr>
              <a:t>6 – 10:</a:t>
            </a:r>
          </a:p>
          <a:p>
            <a:pPr>
              <a:spcBef>
                <a:spcPts val="600"/>
              </a:spcBef>
              <a:spcAft>
                <a:spcPts val="1200"/>
              </a:spcAft>
            </a:pPr>
            <a:r>
              <a:rPr lang="en-AU" sz="2200" dirty="0" smtClean="0">
                <a:latin typeface="Helvetica" pitchFamily="34" charset="0"/>
              </a:rPr>
              <a:t>China</a:t>
            </a:r>
          </a:p>
          <a:p>
            <a:pPr>
              <a:spcBef>
                <a:spcPts val="600"/>
              </a:spcBef>
              <a:spcAft>
                <a:spcPts val="1200"/>
              </a:spcAft>
            </a:pPr>
            <a:r>
              <a:rPr lang="en-AU" sz="2200" dirty="0" smtClean="0">
                <a:latin typeface="Helvetica" pitchFamily="34" charset="0"/>
              </a:rPr>
              <a:t>Australia</a:t>
            </a:r>
          </a:p>
          <a:p>
            <a:pPr>
              <a:spcBef>
                <a:spcPts val="600"/>
              </a:spcBef>
              <a:spcAft>
                <a:spcPts val="1200"/>
              </a:spcAft>
            </a:pPr>
            <a:r>
              <a:rPr lang="en-AU" sz="2200" dirty="0" smtClean="0">
                <a:latin typeface="Helvetica" pitchFamily="34" charset="0"/>
              </a:rPr>
              <a:t>South Africa</a:t>
            </a:r>
          </a:p>
          <a:p>
            <a:pPr>
              <a:spcBef>
                <a:spcPts val="600"/>
              </a:spcBef>
              <a:spcAft>
                <a:spcPts val="1200"/>
              </a:spcAft>
            </a:pPr>
            <a:r>
              <a:rPr lang="en-AU" sz="2200" dirty="0" smtClean="0">
                <a:latin typeface="Helvetica" pitchFamily="34" charset="0"/>
              </a:rPr>
              <a:t>Germany</a:t>
            </a:r>
          </a:p>
          <a:p>
            <a:pPr>
              <a:spcBef>
                <a:spcPts val="600"/>
              </a:spcBef>
              <a:spcAft>
                <a:spcPts val="1200"/>
              </a:spcAft>
            </a:pPr>
            <a:r>
              <a:rPr lang="en-AU" sz="2200" dirty="0" smtClean="0">
                <a:latin typeface="Helvetica" pitchFamily="34" charset="0"/>
              </a:rPr>
              <a:t>Portugal</a:t>
            </a:r>
          </a:p>
          <a:p>
            <a:pPr>
              <a:spcBef>
                <a:spcPts val="600"/>
              </a:spcBef>
              <a:spcAft>
                <a:spcPts val="1200"/>
              </a:spcAft>
            </a:pPr>
            <a:endParaRPr lang="en-AU" sz="2400" dirty="0" smtClean="0"/>
          </a:p>
          <a:p>
            <a:pPr>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latin typeface="Helvetica" pitchFamily="34" charset="0"/>
            </a:endParaRPr>
          </a:p>
        </p:txBody>
      </p:sp>
      <p:sp>
        <p:nvSpPr>
          <p:cNvPr id="7" name="Title 1"/>
          <p:cNvSpPr>
            <a:spLocks noGrp="1"/>
          </p:cNvSpPr>
          <p:nvPr>
            <p:ph type="title"/>
          </p:nvPr>
        </p:nvSpPr>
        <p:spPr>
          <a:xfrm>
            <a:off x="539552" y="332656"/>
            <a:ext cx="7467600" cy="720080"/>
          </a:xfrm>
        </p:spPr>
        <p:txBody>
          <a:bodyPr>
            <a:normAutofit/>
          </a:bodyPr>
          <a:lstStyle/>
          <a:p>
            <a:pPr marL="0" lvl="0"/>
            <a:r>
              <a:rPr lang="en-AU" sz="3400" b="1" dirty="0" smtClean="0">
                <a:solidFill>
                  <a:srgbClr val="FF6600"/>
                </a:solidFill>
                <a:latin typeface="Helvetica" pitchFamily="34" charset="0"/>
              </a:rPr>
              <a:t>Wine growing countries</a:t>
            </a:r>
          </a:p>
        </p:txBody>
      </p:sp>
      <p:pic>
        <p:nvPicPr>
          <p:cNvPr id="4" name="Picture 3" descr="5299104982_d64b27e903_m.jpg"/>
          <p:cNvPicPr/>
          <p:nvPr/>
        </p:nvPicPr>
        <p:blipFill>
          <a:blip r:embed="rId3" cstate="print"/>
          <a:stretch>
            <a:fillRect/>
          </a:stretch>
        </p:blipFill>
        <p:spPr>
          <a:xfrm>
            <a:off x="6300192" y="3861048"/>
            <a:ext cx="2084388" cy="1400175"/>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Spirits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a:spcBef>
                <a:spcPts val="600"/>
              </a:spcBef>
              <a:spcAft>
                <a:spcPts val="1200"/>
              </a:spcAft>
              <a:buNone/>
            </a:pPr>
            <a:r>
              <a:rPr lang="en-AU" sz="2200" b="1" dirty="0" smtClean="0">
                <a:latin typeface="Helvetica" pitchFamily="34" charset="0"/>
              </a:rPr>
              <a:t>Spirits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Spirits are a popular drink in many bars.</a:t>
            </a:r>
          </a:p>
          <a:p>
            <a:pPr>
              <a:spcBef>
                <a:spcPts val="600"/>
              </a:spcBef>
              <a:spcAft>
                <a:spcPts val="1200"/>
              </a:spcAft>
            </a:pPr>
            <a:r>
              <a:rPr lang="en-AU" sz="2200" dirty="0" smtClean="0">
                <a:latin typeface="Helvetica" pitchFamily="34" charset="0"/>
              </a:rPr>
              <a:t>What types of spirits do you know?</a:t>
            </a:r>
          </a:p>
          <a:p>
            <a:pPr>
              <a:spcBef>
                <a:spcPts val="600"/>
              </a:spcBef>
              <a:spcAft>
                <a:spcPts val="1200"/>
              </a:spcAft>
            </a:pPr>
            <a:r>
              <a:rPr lang="en-AU" sz="2200" dirty="0" smtClean="0">
                <a:latin typeface="Helvetica" pitchFamily="34" charset="0"/>
              </a:rPr>
              <a:t>Where do they originate?</a:t>
            </a:r>
          </a:p>
          <a:p>
            <a:pPr>
              <a:spcBef>
                <a:spcPts val="600"/>
              </a:spcBef>
              <a:spcAft>
                <a:spcPts val="1200"/>
              </a:spcAft>
            </a:pPr>
            <a:r>
              <a:rPr lang="en-AU" sz="2200" dirty="0" smtClean="0">
                <a:latin typeface="Helvetica" pitchFamily="34" charset="0"/>
              </a:rPr>
              <a:t>What are they served with?</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6" name="Picture 5" descr="MP900178089.JPG"/>
          <p:cNvPicPr/>
          <p:nvPr/>
        </p:nvPicPr>
        <p:blipFill>
          <a:blip r:embed="rId3" cstate="print"/>
          <a:stretch>
            <a:fillRect/>
          </a:stretch>
        </p:blipFill>
        <p:spPr>
          <a:xfrm>
            <a:off x="6948264" y="3212976"/>
            <a:ext cx="1418084" cy="2008634"/>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Spirits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a:spcBef>
                <a:spcPts val="600"/>
              </a:spcBef>
              <a:spcAft>
                <a:spcPts val="1200"/>
              </a:spcAft>
              <a:buNone/>
            </a:pPr>
            <a:r>
              <a:rPr lang="en-AU" sz="2200" b="1" dirty="0" smtClean="0">
                <a:latin typeface="Helvetica" pitchFamily="34" charset="0"/>
              </a:rPr>
              <a:t>Whisky</a:t>
            </a:r>
          </a:p>
          <a:p>
            <a:pPr>
              <a:spcBef>
                <a:spcPts val="600"/>
              </a:spcBef>
              <a:spcAft>
                <a:spcPts val="1200"/>
              </a:spcAft>
              <a:buNone/>
            </a:pPr>
            <a:r>
              <a:rPr lang="en-AU" sz="2200" dirty="0" smtClean="0">
                <a:latin typeface="Helvetica" pitchFamily="34" charset="0"/>
              </a:rPr>
              <a:t>Whisky is distilled from grain (barley, rye, maize, cereal).</a:t>
            </a:r>
          </a:p>
          <a:p>
            <a:pPr>
              <a:spcBef>
                <a:spcPts val="600"/>
              </a:spcBef>
              <a:spcAft>
                <a:spcPts val="1200"/>
              </a:spcAft>
              <a:buNone/>
            </a:pPr>
            <a:r>
              <a:rPr lang="en-AU" sz="2200" dirty="0" smtClean="0">
                <a:latin typeface="Helvetica" pitchFamily="34" charset="0"/>
              </a:rPr>
              <a:t>Four main ones being:</a:t>
            </a:r>
          </a:p>
          <a:p>
            <a:pPr lvl="0">
              <a:spcBef>
                <a:spcPts val="600"/>
              </a:spcBef>
              <a:spcAft>
                <a:spcPts val="1200"/>
              </a:spcAft>
            </a:pPr>
            <a:r>
              <a:rPr lang="en-AU" sz="2200" dirty="0" smtClean="0">
                <a:latin typeface="Helvetica" pitchFamily="34" charset="0"/>
              </a:rPr>
              <a:t>Scotch</a:t>
            </a:r>
          </a:p>
          <a:p>
            <a:pPr lvl="0">
              <a:spcBef>
                <a:spcPts val="600"/>
              </a:spcBef>
              <a:spcAft>
                <a:spcPts val="1200"/>
              </a:spcAft>
            </a:pPr>
            <a:r>
              <a:rPr lang="en-AU" sz="2200" dirty="0" smtClean="0">
                <a:latin typeface="Helvetica" pitchFamily="34" charset="0"/>
              </a:rPr>
              <a:t>Irish</a:t>
            </a:r>
          </a:p>
          <a:p>
            <a:pPr lvl="0">
              <a:spcBef>
                <a:spcPts val="600"/>
              </a:spcBef>
              <a:spcAft>
                <a:spcPts val="1200"/>
              </a:spcAft>
            </a:pPr>
            <a:r>
              <a:rPr lang="en-AU" sz="2200" dirty="0" smtClean="0">
                <a:latin typeface="Helvetica" pitchFamily="34" charset="0"/>
              </a:rPr>
              <a:t>Bourbon</a:t>
            </a:r>
          </a:p>
          <a:p>
            <a:pPr lvl="0">
              <a:spcBef>
                <a:spcPts val="600"/>
              </a:spcBef>
              <a:spcAft>
                <a:spcPts val="1200"/>
              </a:spcAft>
            </a:pPr>
            <a:r>
              <a:rPr lang="en-AU" sz="2200" dirty="0" smtClean="0">
                <a:latin typeface="Helvetica" pitchFamily="34" charset="0"/>
              </a:rPr>
              <a:t>Rye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7" name="Picture 6" descr="165991755_8c4df680e1_m.jpg"/>
          <p:cNvPicPr>
            <a:picLocks noChangeAspect="1"/>
          </p:cNvPicPr>
          <p:nvPr/>
        </p:nvPicPr>
        <p:blipFill>
          <a:blip r:embed="rId3" cstate="print"/>
          <a:stretch>
            <a:fillRect/>
          </a:stretch>
        </p:blipFill>
        <p:spPr>
          <a:xfrm>
            <a:off x="7092280" y="2996952"/>
            <a:ext cx="1343281" cy="2302768"/>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64096"/>
          </a:xfrm>
        </p:spPr>
        <p:txBody>
          <a:bodyPr>
            <a:normAutofit/>
          </a:bodyPr>
          <a:lstStyle/>
          <a:p>
            <a:r>
              <a:rPr lang="en-AU" sz="3400" b="1" dirty="0" smtClean="0">
                <a:solidFill>
                  <a:srgbClr val="FF6600"/>
                </a:solidFill>
                <a:latin typeface="Helvetica" pitchFamily="34" charset="0"/>
              </a:rPr>
              <a:t>Spirits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a:spcBef>
                <a:spcPts val="600"/>
              </a:spcBef>
              <a:spcAft>
                <a:spcPts val="1200"/>
              </a:spcAft>
              <a:buNone/>
            </a:pPr>
            <a:r>
              <a:rPr lang="en-AU" sz="2200" b="1" dirty="0" smtClean="0">
                <a:latin typeface="Helvetica" pitchFamily="34" charset="0"/>
              </a:rPr>
              <a:t>Scotch Whisky</a:t>
            </a:r>
          </a:p>
          <a:p>
            <a:pPr lvl="0">
              <a:spcBef>
                <a:spcPts val="600"/>
              </a:spcBef>
              <a:spcAft>
                <a:spcPts val="1200"/>
              </a:spcAft>
            </a:pPr>
            <a:r>
              <a:rPr lang="en-AU" sz="2200" dirty="0" smtClean="0">
                <a:latin typeface="Helvetica" pitchFamily="34" charset="0"/>
              </a:rPr>
              <a:t>Johnnie Walker – red label, blue label, black label, green label and gold label</a:t>
            </a:r>
          </a:p>
          <a:p>
            <a:pPr lvl="0">
              <a:spcBef>
                <a:spcPts val="600"/>
              </a:spcBef>
              <a:spcAft>
                <a:spcPts val="1200"/>
              </a:spcAft>
            </a:pPr>
            <a:r>
              <a:rPr lang="en-AU" sz="2200" dirty="0" smtClean="0">
                <a:latin typeface="Helvetica" pitchFamily="34" charset="0"/>
              </a:rPr>
              <a:t>Ballantines</a:t>
            </a:r>
          </a:p>
          <a:p>
            <a:pPr lvl="0">
              <a:spcBef>
                <a:spcPts val="600"/>
              </a:spcBef>
              <a:spcAft>
                <a:spcPts val="1200"/>
              </a:spcAft>
            </a:pPr>
            <a:r>
              <a:rPr lang="en-AU" sz="2200" dirty="0" smtClean="0">
                <a:latin typeface="Helvetica" pitchFamily="34" charset="0"/>
              </a:rPr>
              <a:t>The Famous Grouse</a:t>
            </a:r>
          </a:p>
          <a:p>
            <a:pPr lvl="0">
              <a:spcBef>
                <a:spcPts val="600"/>
              </a:spcBef>
              <a:spcAft>
                <a:spcPts val="1200"/>
              </a:spcAft>
            </a:pPr>
            <a:r>
              <a:rPr lang="en-AU" sz="2200" dirty="0" smtClean="0">
                <a:latin typeface="Helvetica" pitchFamily="34" charset="0"/>
              </a:rPr>
              <a:t>Teacher’s</a:t>
            </a:r>
          </a:p>
          <a:p>
            <a:pPr lvl="0">
              <a:spcBef>
                <a:spcPts val="600"/>
              </a:spcBef>
              <a:spcAft>
                <a:spcPts val="1200"/>
              </a:spcAft>
            </a:pPr>
            <a:r>
              <a:rPr lang="en-AU" sz="2200" dirty="0" smtClean="0">
                <a:latin typeface="Helvetica" pitchFamily="34" charset="0"/>
              </a:rPr>
              <a:t>Grants</a:t>
            </a:r>
          </a:p>
          <a:p>
            <a:pPr>
              <a:spcBef>
                <a:spcPts val="600"/>
              </a:spcBef>
              <a:spcAft>
                <a:spcPts val="1200"/>
              </a:spcAft>
            </a:pPr>
            <a:r>
              <a:rPr lang="en-AU" sz="2200" dirty="0" smtClean="0">
                <a:latin typeface="Helvetica" pitchFamily="34" charset="0"/>
              </a:rPr>
              <a:t>Dewar’s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5" name="Picture 4" descr="http://popsop.ru/wp-content/uploads/johnnie_walker.jpg"/>
          <p:cNvPicPr/>
          <p:nvPr/>
        </p:nvPicPr>
        <p:blipFill>
          <a:blip r:embed="rId3" cstate="print"/>
          <a:srcRect/>
          <a:stretch>
            <a:fillRect/>
          </a:stretch>
        </p:blipFill>
        <p:spPr bwMode="auto">
          <a:xfrm>
            <a:off x="6948264" y="2996952"/>
            <a:ext cx="1381125" cy="2019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Spirits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a:spcBef>
                <a:spcPts val="600"/>
              </a:spcBef>
              <a:spcAft>
                <a:spcPts val="1200"/>
              </a:spcAft>
              <a:buNone/>
            </a:pPr>
            <a:r>
              <a:rPr lang="en-AU" sz="2200" b="1" dirty="0" smtClean="0">
                <a:latin typeface="Helvetica" pitchFamily="34" charset="0"/>
              </a:rPr>
              <a:t>Scotch Whisky</a:t>
            </a:r>
          </a:p>
          <a:p>
            <a:pPr lvl="0">
              <a:spcBef>
                <a:spcPts val="600"/>
              </a:spcBef>
              <a:spcAft>
                <a:spcPts val="1200"/>
              </a:spcAft>
            </a:pPr>
            <a:r>
              <a:rPr lang="en-AU" sz="2200" dirty="0" smtClean="0">
                <a:latin typeface="Helvetica" pitchFamily="34" charset="0"/>
              </a:rPr>
              <a:t>Black and White</a:t>
            </a:r>
          </a:p>
          <a:p>
            <a:pPr lvl="0">
              <a:spcBef>
                <a:spcPts val="600"/>
              </a:spcBef>
              <a:spcAft>
                <a:spcPts val="1200"/>
              </a:spcAft>
            </a:pPr>
            <a:r>
              <a:rPr lang="en-AU" sz="2200" dirty="0" smtClean="0">
                <a:latin typeface="Helvetica" pitchFamily="34" charset="0"/>
              </a:rPr>
              <a:t>Vat 69</a:t>
            </a:r>
          </a:p>
          <a:p>
            <a:pPr lvl="0">
              <a:spcBef>
                <a:spcPts val="600"/>
              </a:spcBef>
              <a:spcAft>
                <a:spcPts val="1200"/>
              </a:spcAft>
            </a:pPr>
            <a:r>
              <a:rPr lang="en-AU" sz="2200" dirty="0" smtClean="0">
                <a:latin typeface="Helvetica" pitchFamily="34" charset="0"/>
              </a:rPr>
              <a:t>Chivas Regal</a:t>
            </a:r>
          </a:p>
          <a:p>
            <a:pPr lvl="0">
              <a:spcBef>
                <a:spcPts val="600"/>
              </a:spcBef>
              <a:spcAft>
                <a:spcPts val="1200"/>
              </a:spcAft>
            </a:pPr>
            <a:r>
              <a:rPr lang="en-AU" sz="2200" dirty="0" smtClean="0">
                <a:latin typeface="Helvetica" pitchFamily="34" charset="0"/>
              </a:rPr>
              <a:t>Haig’s Dimple</a:t>
            </a:r>
          </a:p>
          <a:p>
            <a:pPr lvl="0">
              <a:spcBef>
                <a:spcPts val="600"/>
              </a:spcBef>
              <a:spcAft>
                <a:spcPts val="1200"/>
              </a:spcAft>
            </a:pPr>
            <a:r>
              <a:rPr lang="en-AU" sz="2200" dirty="0" smtClean="0">
                <a:latin typeface="Helvetica" pitchFamily="34" charset="0"/>
              </a:rPr>
              <a:t>Glenmorange</a:t>
            </a:r>
          </a:p>
          <a:p>
            <a:pPr lvl="0">
              <a:spcBef>
                <a:spcPts val="600"/>
              </a:spcBef>
              <a:spcAft>
                <a:spcPts val="1200"/>
              </a:spcAft>
            </a:pPr>
            <a:r>
              <a:rPr lang="en-AU" sz="2200" dirty="0" smtClean="0">
                <a:latin typeface="Helvetica" pitchFamily="34" charset="0"/>
              </a:rPr>
              <a:t>Glenlivet</a:t>
            </a:r>
          </a:p>
          <a:p>
            <a:pPr lvl="0">
              <a:spcBef>
                <a:spcPts val="600"/>
              </a:spcBef>
              <a:spcAft>
                <a:spcPts val="1200"/>
              </a:spcAft>
            </a:pPr>
            <a:r>
              <a:rPr lang="en-AU" sz="2200" dirty="0" smtClean="0">
                <a:latin typeface="Helvetica" pitchFamily="34" charset="0"/>
              </a:rPr>
              <a:t>Glenfiddich Single Malt 12 years old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6" name="Picture 5" descr="http://drinksdaily.com/wp-content/uploads/2009/11/whiskyrange.jpg"/>
          <p:cNvPicPr/>
          <p:nvPr/>
        </p:nvPicPr>
        <p:blipFill>
          <a:blip r:embed="rId3" cstate="print"/>
          <a:srcRect/>
          <a:stretch>
            <a:fillRect/>
          </a:stretch>
        </p:blipFill>
        <p:spPr bwMode="auto">
          <a:xfrm>
            <a:off x="6948264" y="3501008"/>
            <a:ext cx="1457325" cy="167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Spirits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a:spcBef>
                <a:spcPts val="600"/>
              </a:spcBef>
              <a:spcAft>
                <a:spcPts val="1200"/>
              </a:spcAft>
              <a:buNone/>
            </a:pPr>
            <a:r>
              <a:rPr lang="en-AU" sz="2200" b="1" dirty="0" smtClean="0">
                <a:latin typeface="Helvetica" pitchFamily="34" charset="0"/>
              </a:rPr>
              <a:t>Irish Whiskey</a:t>
            </a:r>
          </a:p>
          <a:p>
            <a:pPr lvl="0">
              <a:spcBef>
                <a:spcPts val="600"/>
              </a:spcBef>
              <a:spcAft>
                <a:spcPts val="1200"/>
              </a:spcAft>
            </a:pPr>
            <a:r>
              <a:rPr lang="en-AU" sz="2200" dirty="0" smtClean="0">
                <a:latin typeface="Helvetica" pitchFamily="34" charset="0"/>
              </a:rPr>
              <a:t>Jameson</a:t>
            </a:r>
          </a:p>
          <a:p>
            <a:pPr lvl="0">
              <a:spcBef>
                <a:spcPts val="600"/>
              </a:spcBef>
              <a:spcAft>
                <a:spcPts val="1200"/>
              </a:spcAft>
            </a:pPr>
            <a:r>
              <a:rPr lang="en-AU" sz="2200" dirty="0" smtClean="0">
                <a:latin typeface="Helvetica" pitchFamily="34" charset="0"/>
              </a:rPr>
              <a:t>Paddy’s</a:t>
            </a:r>
          </a:p>
          <a:p>
            <a:pPr lvl="0">
              <a:spcBef>
                <a:spcPts val="600"/>
              </a:spcBef>
              <a:spcAft>
                <a:spcPts val="1200"/>
              </a:spcAft>
            </a:pPr>
            <a:r>
              <a:rPr lang="en-AU" sz="2200" dirty="0" smtClean="0">
                <a:latin typeface="Helvetica" pitchFamily="34" charset="0"/>
              </a:rPr>
              <a:t>Tullamore Dew</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7" name="Picture 6" descr="114674313_67c0538041_m.jpg"/>
          <p:cNvPicPr>
            <a:picLocks noChangeAspect="1"/>
          </p:cNvPicPr>
          <p:nvPr/>
        </p:nvPicPr>
        <p:blipFill>
          <a:blip r:embed="rId3" cstate="print"/>
          <a:stretch>
            <a:fillRect/>
          </a:stretch>
        </p:blipFill>
        <p:spPr>
          <a:xfrm>
            <a:off x="6804248" y="3068960"/>
            <a:ext cx="1618409" cy="2157879"/>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Spirits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a:spcBef>
                <a:spcPts val="600"/>
              </a:spcBef>
              <a:spcAft>
                <a:spcPts val="1200"/>
              </a:spcAft>
              <a:buNone/>
            </a:pPr>
            <a:r>
              <a:rPr lang="en-AU" sz="2200" b="1" dirty="0" smtClean="0">
                <a:latin typeface="Helvetica" pitchFamily="34" charset="0"/>
              </a:rPr>
              <a:t>American Bourbon and Rye Whiskies</a:t>
            </a:r>
          </a:p>
          <a:p>
            <a:pPr lvl="0">
              <a:spcBef>
                <a:spcPts val="600"/>
              </a:spcBef>
              <a:spcAft>
                <a:spcPts val="1200"/>
              </a:spcAft>
            </a:pPr>
            <a:r>
              <a:rPr lang="en-AU" sz="2200" dirty="0" smtClean="0">
                <a:latin typeface="Helvetica" pitchFamily="34" charset="0"/>
              </a:rPr>
              <a:t>Wild Turkey Kentucky Straight Bourbon Whiskey</a:t>
            </a:r>
          </a:p>
          <a:p>
            <a:pPr lvl="0">
              <a:spcBef>
                <a:spcPts val="600"/>
              </a:spcBef>
              <a:spcAft>
                <a:spcPts val="1200"/>
              </a:spcAft>
            </a:pPr>
            <a:r>
              <a:rPr lang="en-AU" sz="2200" dirty="0" smtClean="0">
                <a:latin typeface="Helvetica" pitchFamily="34" charset="0"/>
              </a:rPr>
              <a:t>Jack Daniels Sour Mash Tennessee Whiskey</a:t>
            </a:r>
          </a:p>
          <a:p>
            <a:pPr lvl="0">
              <a:spcBef>
                <a:spcPts val="600"/>
              </a:spcBef>
              <a:spcAft>
                <a:spcPts val="1200"/>
              </a:spcAft>
            </a:pPr>
            <a:r>
              <a:rPr lang="en-AU" sz="2200" dirty="0" smtClean="0">
                <a:latin typeface="Helvetica" pitchFamily="34" charset="0"/>
              </a:rPr>
              <a:t>Jim Beam Kentucky Straight Bourbon Whiskey</a:t>
            </a:r>
          </a:p>
          <a:p>
            <a:pPr>
              <a:spcBef>
                <a:spcPts val="600"/>
              </a:spcBef>
              <a:spcAft>
                <a:spcPts val="1200"/>
              </a:spcAft>
            </a:pPr>
            <a:r>
              <a:rPr lang="en-AU" sz="2200" dirty="0" smtClean="0">
                <a:latin typeface="Helvetica" pitchFamily="34" charset="0"/>
              </a:rPr>
              <a:t>Cougar Bourbon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5" name="Picture 4" descr="http://charmingfame.com/images/jack-daniels-02.jpg"/>
          <p:cNvPicPr/>
          <p:nvPr/>
        </p:nvPicPr>
        <p:blipFill>
          <a:blip r:embed="rId3" cstate="print"/>
          <a:srcRect/>
          <a:stretch>
            <a:fillRect/>
          </a:stretch>
        </p:blipFill>
        <p:spPr bwMode="auto">
          <a:xfrm>
            <a:off x="6084168" y="4365104"/>
            <a:ext cx="2003872" cy="150380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Spirits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a:spcBef>
                <a:spcPts val="600"/>
              </a:spcBef>
              <a:spcAft>
                <a:spcPts val="1200"/>
              </a:spcAft>
              <a:buNone/>
            </a:pPr>
            <a:r>
              <a:rPr lang="en-AU" sz="2200" b="1" dirty="0" smtClean="0">
                <a:latin typeface="Helvetica" pitchFamily="34" charset="0"/>
              </a:rPr>
              <a:t>Rum</a:t>
            </a:r>
          </a:p>
          <a:p>
            <a:pPr lvl="0">
              <a:spcBef>
                <a:spcPts val="600"/>
              </a:spcBef>
              <a:spcAft>
                <a:spcPts val="1200"/>
              </a:spcAft>
            </a:pPr>
            <a:r>
              <a:rPr lang="en-AU" sz="2200" dirty="0" smtClean="0">
                <a:latin typeface="Helvetica" pitchFamily="34" charset="0"/>
              </a:rPr>
              <a:t>Captain Morgan – spiced gold, dark, deluxe, white and gold</a:t>
            </a:r>
          </a:p>
          <a:p>
            <a:pPr lvl="0">
              <a:spcBef>
                <a:spcPts val="600"/>
              </a:spcBef>
              <a:spcAft>
                <a:spcPts val="1200"/>
              </a:spcAft>
            </a:pPr>
            <a:r>
              <a:rPr lang="en-AU" sz="2200" dirty="0" smtClean="0">
                <a:latin typeface="Helvetica" pitchFamily="34" charset="0"/>
              </a:rPr>
              <a:t>Bundaberg – underproof and overproof, Royal Liqueur, Distillers No 3</a:t>
            </a:r>
          </a:p>
          <a:p>
            <a:pPr lvl="0">
              <a:spcBef>
                <a:spcPts val="600"/>
              </a:spcBef>
              <a:spcAft>
                <a:spcPts val="1200"/>
              </a:spcAft>
            </a:pPr>
            <a:r>
              <a:rPr lang="en-AU" sz="2200" dirty="0" smtClean="0">
                <a:latin typeface="Helvetica" pitchFamily="34" charset="0"/>
              </a:rPr>
              <a:t>Bacardi – white, black and gold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6" name="Picture 5" descr="http://3.bp.blogspot.com/-OhJWsvaFNtk/T5nVh85JoQI/AAAAAAAABP0/Wbn607F8Slg/s1600/Bacardi_%28on_white%29.jpg"/>
          <p:cNvPicPr/>
          <p:nvPr/>
        </p:nvPicPr>
        <p:blipFill>
          <a:blip r:embed="rId3" cstate="print"/>
          <a:srcRect/>
          <a:stretch>
            <a:fillRect/>
          </a:stretch>
        </p:blipFill>
        <p:spPr bwMode="auto">
          <a:xfrm>
            <a:off x="7020272" y="3140968"/>
            <a:ext cx="1367790" cy="2209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64096"/>
          </a:xfrm>
        </p:spPr>
        <p:txBody>
          <a:bodyPr>
            <a:normAutofit/>
          </a:bodyPr>
          <a:lstStyle/>
          <a:p>
            <a:r>
              <a:rPr lang="en-AU" sz="3400" b="1" dirty="0" smtClean="0">
                <a:solidFill>
                  <a:srgbClr val="FF6600"/>
                </a:solidFill>
                <a:latin typeface="Helvetica" pitchFamily="34" charset="0"/>
              </a:rPr>
              <a:t>Spirits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a:spcBef>
                <a:spcPts val="600"/>
              </a:spcBef>
              <a:spcAft>
                <a:spcPts val="1200"/>
              </a:spcAft>
              <a:buNone/>
            </a:pPr>
            <a:r>
              <a:rPr lang="en-AU" sz="2200" b="1" dirty="0" smtClean="0">
                <a:latin typeface="Helvetica" pitchFamily="34" charset="0"/>
              </a:rPr>
              <a:t>Gin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Gin is produced by rectifying a pure spirit with berries and botanical herbs:</a:t>
            </a:r>
          </a:p>
          <a:p>
            <a:pPr>
              <a:spcBef>
                <a:spcPts val="600"/>
              </a:spcBef>
              <a:spcAft>
                <a:spcPts val="1200"/>
              </a:spcAft>
            </a:pPr>
            <a:r>
              <a:rPr lang="en-AU" sz="2200" dirty="0" smtClean="0">
                <a:latin typeface="Helvetica" pitchFamily="34" charset="0"/>
              </a:rPr>
              <a:t>Gilbey’s London Dry</a:t>
            </a:r>
          </a:p>
          <a:p>
            <a:pPr>
              <a:spcBef>
                <a:spcPts val="600"/>
              </a:spcBef>
              <a:spcAft>
                <a:spcPts val="1200"/>
              </a:spcAft>
            </a:pPr>
            <a:r>
              <a:rPr lang="en-AU" sz="2200" dirty="0" smtClean="0">
                <a:latin typeface="Helvetica" pitchFamily="34" charset="0"/>
              </a:rPr>
              <a:t>Gordon’s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7" name="Picture 6" descr="http://www.theginblog.co.uk/home/wp-content/uploads/GordonsGin.jpg"/>
          <p:cNvPicPr/>
          <p:nvPr/>
        </p:nvPicPr>
        <p:blipFill>
          <a:blip r:embed="rId3" cstate="print"/>
          <a:srcRect/>
          <a:stretch>
            <a:fillRect/>
          </a:stretch>
        </p:blipFill>
        <p:spPr bwMode="auto">
          <a:xfrm>
            <a:off x="7092280" y="2924944"/>
            <a:ext cx="1176338" cy="21764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64096"/>
          </a:xfrm>
        </p:spPr>
        <p:txBody>
          <a:bodyPr>
            <a:normAutofit/>
          </a:bodyPr>
          <a:lstStyle/>
          <a:p>
            <a:r>
              <a:rPr lang="en-AU" sz="3400" b="1" dirty="0" smtClean="0">
                <a:solidFill>
                  <a:srgbClr val="FF6600"/>
                </a:solidFill>
                <a:latin typeface="Helvetica" pitchFamily="34" charset="0"/>
              </a:rPr>
              <a:t>Spirits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a:spcBef>
                <a:spcPts val="600"/>
              </a:spcBef>
              <a:spcAft>
                <a:spcPts val="1200"/>
              </a:spcAft>
              <a:buNone/>
            </a:pPr>
            <a:r>
              <a:rPr lang="en-AU" sz="2200" b="1" dirty="0" smtClean="0">
                <a:latin typeface="Helvetica" pitchFamily="34" charset="0"/>
              </a:rPr>
              <a:t>Vodka</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Is distilled from a base of grain and can come flavoured</a:t>
            </a:r>
          </a:p>
          <a:p>
            <a:pPr lvl="0">
              <a:spcBef>
                <a:spcPts val="600"/>
              </a:spcBef>
              <a:spcAft>
                <a:spcPts val="1200"/>
              </a:spcAft>
            </a:pPr>
            <a:r>
              <a:rPr lang="en-AU" sz="2200" dirty="0" smtClean="0">
                <a:latin typeface="Helvetica" pitchFamily="34" charset="0"/>
              </a:rPr>
              <a:t>Grey Goose</a:t>
            </a:r>
          </a:p>
          <a:p>
            <a:pPr lvl="0">
              <a:spcBef>
                <a:spcPts val="600"/>
              </a:spcBef>
              <a:spcAft>
                <a:spcPts val="1200"/>
              </a:spcAft>
            </a:pPr>
            <a:r>
              <a:rPr lang="en-AU" sz="2200" dirty="0" smtClean="0">
                <a:latin typeface="Helvetica" pitchFamily="34" charset="0"/>
              </a:rPr>
              <a:t>Stolichnaya</a:t>
            </a:r>
          </a:p>
          <a:p>
            <a:pPr lvl="0">
              <a:spcBef>
                <a:spcPts val="600"/>
              </a:spcBef>
              <a:spcAft>
                <a:spcPts val="1200"/>
              </a:spcAft>
            </a:pPr>
            <a:r>
              <a:rPr lang="en-AU" sz="2200" dirty="0" smtClean="0">
                <a:latin typeface="Helvetica" pitchFamily="34" charset="0"/>
              </a:rPr>
              <a:t>Finlandia</a:t>
            </a:r>
          </a:p>
          <a:p>
            <a:pPr lvl="0">
              <a:spcBef>
                <a:spcPts val="600"/>
              </a:spcBef>
              <a:spcAft>
                <a:spcPts val="1200"/>
              </a:spcAft>
            </a:pPr>
            <a:r>
              <a:rPr lang="en-AU" sz="2200" dirty="0" smtClean="0">
                <a:latin typeface="Helvetica" pitchFamily="34" charset="0"/>
              </a:rPr>
              <a:t>Wyborowa</a:t>
            </a:r>
          </a:p>
          <a:p>
            <a:pPr lvl="0">
              <a:spcBef>
                <a:spcPts val="600"/>
              </a:spcBef>
              <a:spcAft>
                <a:spcPts val="1200"/>
              </a:spcAft>
            </a:pPr>
            <a:r>
              <a:rPr lang="en-AU" sz="2200" dirty="0" smtClean="0">
                <a:latin typeface="Helvetica" pitchFamily="34" charset="0"/>
              </a:rPr>
              <a:t>Smirnoff</a:t>
            </a:r>
          </a:p>
          <a:p>
            <a:pPr lvl="0">
              <a:spcBef>
                <a:spcPts val="600"/>
              </a:spcBef>
              <a:spcAft>
                <a:spcPts val="1200"/>
              </a:spcAft>
            </a:pPr>
            <a:r>
              <a:rPr lang="en-AU" sz="2200" dirty="0" smtClean="0">
                <a:latin typeface="Helvetica" pitchFamily="34" charset="0"/>
              </a:rPr>
              <a:t>Skyy</a:t>
            </a:r>
          </a:p>
          <a:p>
            <a:pPr>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6" name="Picture 5" descr="http://www.getprice.com.au/images/uploadimg/102/276p_smirnoff_redlabel.jpg"/>
          <p:cNvPicPr/>
          <p:nvPr/>
        </p:nvPicPr>
        <p:blipFill>
          <a:blip r:embed="rId3" cstate="print"/>
          <a:srcRect/>
          <a:stretch>
            <a:fillRect/>
          </a:stretch>
        </p:blipFill>
        <p:spPr bwMode="auto">
          <a:xfrm>
            <a:off x="6516216" y="3068960"/>
            <a:ext cx="1781175" cy="19335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Spirits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a:spcBef>
                <a:spcPts val="600"/>
              </a:spcBef>
              <a:spcAft>
                <a:spcPts val="1200"/>
              </a:spcAft>
              <a:buNone/>
            </a:pPr>
            <a:r>
              <a:rPr lang="en-AU" sz="2200" b="1" dirty="0" smtClean="0">
                <a:latin typeface="Helvetica" pitchFamily="34" charset="0"/>
              </a:rPr>
              <a:t>Brandy</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Is distilled from wine, example brands:</a:t>
            </a:r>
          </a:p>
          <a:p>
            <a:pPr lvl="0">
              <a:spcBef>
                <a:spcPts val="600"/>
              </a:spcBef>
              <a:spcAft>
                <a:spcPts val="1200"/>
              </a:spcAft>
            </a:pPr>
            <a:r>
              <a:rPr lang="en-AU" sz="2200" dirty="0" smtClean="0">
                <a:latin typeface="Helvetica" pitchFamily="34" charset="0"/>
              </a:rPr>
              <a:t>St Remy</a:t>
            </a:r>
          </a:p>
          <a:p>
            <a:pPr lvl="0">
              <a:spcBef>
                <a:spcPts val="600"/>
              </a:spcBef>
              <a:spcAft>
                <a:spcPts val="1200"/>
              </a:spcAft>
            </a:pPr>
            <a:r>
              <a:rPr lang="en-AU" sz="2200" dirty="0" smtClean="0">
                <a:latin typeface="Helvetica" pitchFamily="34" charset="0"/>
              </a:rPr>
              <a:t>Hardy’s Black Bottle</a:t>
            </a:r>
          </a:p>
          <a:p>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7" name="Picture 6" descr="5516321249_bb7bb196cd_m.jpg"/>
          <p:cNvPicPr>
            <a:picLocks noChangeAspect="1"/>
          </p:cNvPicPr>
          <p:nvPr/>
        </p:nvPicPr>
        <p:blipFill>
          <a:blip r:embed="rId3" cstate="print"/>
          <a:stretch>
            <a:fillRect/>
          </a:stretch>
        </p:blipFill>
        <p:spPr>
          <a:xfrm>
            <a:off x="6948264" y="3212976"/>
            <a:ext cx="1411554" cy="2078360"/>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64096"/>
          </a:xfrm>
        </p:spPr>
        <p:txBody>
          <a:bodyPr>
            <a:normAutofit/>
          </a:bodyPr>
          <a:lstStyle/>
          <a:p>
            <a:r>
              <a:rPr lang="en-AU" sz="3400" b="1" dirty="0" smtClean="0">
                <a:solidFill>
                  <a:srgbClr val="FF6600"/>
                </a:solidFill>
                <a:latin typeface="Helvetica" pitchFamily="34" charset="0"/>
              </a:rPr>
              <a:t>Spirits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a:spcBef>
                <a:spcPts val="600"/>
              </a:spcBef>
              <a:spcAft>
                <a:spcPts val="1200"/>
              </a:spcAft>
              <a:buNone/>
            </a:pPr>
            <a:r>
              <a:rPr lang="en-AU" sz="2200" b="1" dirty="0" smtClean="0">
                <a:latin typeface="Helvetica" pitchFamily="34" charset="0"/>
              </a:rPr>
              <a:t>Cognac</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 most famous brandy is Cognac made in the Cognac region of France; example brands:</a:t>
            </a:r>
          </a:p>
          <a:p>
            <a:pPr lvl="0">
              <a:spcBef>
                <a:spcPts val="600"/>
              </a:spcBef>
              <a:spcAft>
                <a:spcPts val="1200"/>
              </a:spcAft>
            </a:pPr>
            <a:r>
              <a:rPr lang="en-AU" sz="2200" dirty="0" smtClean="0">
                <a:latin typeface="Helvetica" pitchFamily="34" charset="0"/>
              </a:rPr>
              <a:t>Courvoisier </a:t>
            </a:r>
          </a:p>
          <a:p>
            <a:pPr lvl="0">
              <a:spcBef>
                <a:spcPts val="600"/>
              </a:spcBef>
              <a:spcAft>
                <a:spcPts val="1200"/>
              </a:spcAft>
            </a:pPr>
            <a:r>
              <a:rPr lang="en-AU" sz="2200" dirty="0" smtClean="0">
                <a:latin typeface="Helvetica" pitchFamily="34" charset="0"/>
              </a:rPr>
              <a:t>Remy Martin</a:t>
            </a:r>
          </a:p>
          <a:p>
            <a:pPr lvl="0">
              <a:spcBef>
                <a:spcPts val="600"/>
              </a:spcBef>
              <a:spcAft>
                <a:spcPts val="1200"/>
              </a:spcAft>
            </a:pPr>
            <a:r>
              <a:rPr lang="en-AU" sz="2200" dirty="0" smtClean="0">
                <a:latin typeface="Helvetica" pitchFamily="34" charset="0"/>
              </a:rPr>
              <a:t>Hennessy </a:t>
            </a:r>
          </a:p>
          <a:p>
            <a:r>
              <a:rPr lang="en-AU" sz="2200" dirty="0" smtClean="0">
                <a:latin typeface="Helvetica" pitchFamily="34" charset="0"/>
              </a:rPr>
              <a:t>Otard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5" name="Picture 4" descr="http://www.blackdogballroom.co.uk/wp-content/uploads/2012/10/cognacsqu-cognac-hand.jpeg"/>
          <p:cNvPicPr/>
          <p:nvPr/>
        </p:nvPicPr>
        <p:blipFill>
          <a:blip r:embed="rId3" cstate="print"/>
          <a:srcRect/>
          <a:stretch>
            <a:fillRect/>
          </a:stretch>
        </p:blipFill>
        <p:spPr bwMode="auto">
          <a:xfrm>
            <a:off x="6372200" y="3356992"/>
            <a:ext cx="1924050" cy="16954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64096"/>
          </a:xfrm>
        </p:spPr>
        <p:txBody>
          <a:bodyPr>
            <a:normAutofit/>
          </a:bodyPr>
          <a:lstStyle/>
          <a:p>
            <a:r>
              <a:rPr lang="en-AU" sz="3400" b="1" dirty="0" smtClean="0">
                <a:solidFill>
                  <a:srgbClr val="FF6600"/>
                </a:solidFill>
                <a:latin typeface="Helvetica" pitchFamily="34" charset="0"/>
              </a:rPr>
              <a:t>Spirits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a:spcBef>
                <a:spcPts val="600"/>
              </a:spcBef>
              <a:spcAft>
                <a:spcPts val="1200"/>
              </a:spcAft>
              <a:buNone/>
            </a:pPr>
            <a:r>
              <a:rPr lang="en-AU" sz="2200" b="1" dirty="0" smtClean="0">
                <a:latin typeface="Helvetica" pitchFamily="34" charset="0"/>
              </a:rPr>
              <a:t>Common mixers for spirits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Gin – tonic water</a:t>
            </a:r>
          </a:p>
          <a:p>
            <a:pPr lvl="0">
              <a:spcBef>
                <a:spcPts val="600"/>
              </a:spcBef>
              <a:spcAft>
                <a:spcPts val="1200"/>
              </a:spcAft>
            </a:pPr>
            <a:r>
              <a:rPr lang="en-AU" sz="2200" dirty="0" smtClean="0">
                <a:latin typeface="Helvetica" pitchFamily="34" charset="0"/>
              </a:rPr>
              <a:t>Brandy – dry ginger, soda water</a:t>
            </a:r>
          </a:p>
          <a:p>
            <a:pPr lvl="0">
              <a:spcBef>
                <a:spcPts val="600"/>
              </a:spcBef>
              <a:spcAft>
                <a:spcPts val="1200"/>
              </a:spcAft>
            </a:pPr>
            <a:r>
              <a:rPr lang="en-AU" sz="2200" dirty="0" smtClean="0">
                <a:latin typeface="Helvetica" pitchFamily="34" charset="0"/>
              </a:rPr>
              <a:t>Whisky – dry ginger, soda water</a:t>
            </a:r>
          </a:p>
          <a:p>
            <a:pPr lvl="0">
              <a:spcBef>
                <a:spcPts val="600"/>
              </a:spcBef>
              <a:spcAft>
                <a:spcPts val="1200"/>
              </a:spcAft>
            </a:pPr>
            <a:r>
              <a:rPr lang="en-AU" sz="2200" dirty="0" smtClean="0">
                <a:latin typeface="Helvetica" pitchFamily="34" charset="0"/>
              </a:rPr>
              <a:t>Rum – cola</a:t>
            </a:r>
          </a:p>
          <a:p>
            <a:pPr lvl="0">
              <a:spcBef>
                <a:spcPts val="600"/>
              </a:spcBef>
              <a:spcAft>
                <a:spcPts val="1200"/>
              </a:spcAft>
            </a:pPr>
            <a:r>
              <a:rPr lang="en-AU" sz="2200" dirty="0" smtClean="0">
                <a:latin typeface="Helvetica" pitchFamily="34" charset="0"/>
              </a:rPr>
              <a:t>Vodka – lemonade, orange juice, tomato juice</a:t>
            </a:r>
          </a:p>
          <a:p>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7" name="Picture 6" descr="MP900423014.JPG"/>
          <p:cNvPicPr/>
          <p:nvPr/>
        </p:nvPicPr>
        <p:blipFill>
          <a:blip r:embed="rId3" cstate="print"/>
          <a:stretch>
            <a:fillRect/>
          </a:stretch>
        </p:blipFill>
        <p:spPr>
          <a:xfrm>
            <a:off x="6876256" y="3573016"/>
            <a:ext cx="1409700" cy="1409700"/>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Spirits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a:spcBef>
                <a:spcPts val="600"/>
              </a:spcBef>
              <a:spcAft>
                <a:spcPts val="1200"/>
              </a:spcAft>
              <a:buNone/>
            </a:pPr>
            <a:r>
              <a:rPr lang="en-AU" sz="2200" b="1" dirty="0" smtClean="0">
                <a:latin typeface="Helvetica" pitchFamily="34" charset="0"/>
              </a:rPr>
              <a:t>Other spirits</a:t>
            </a:r>
          </a:p>
          <a:p>
            <a:pPr lvl="0">
              <a:spcBef>
                <a:spcPts val="600"/>
              </a:spcBef>
              <a:spcAft>
                <a:spcPts val="1200"/>
              </a:spcAft>
            </a:pPr>
            <a:r>
              <a:rPr lang="en-AU" sz="2200" dirty="0" smtClean="0">
                <a:latin typeface="Helvetica" pitchFamily="34" charset="0"/>
              </a:rPr>
              <a:t>What other spirits can be served?</a:t>
            </a:r>
          </a:p>
          <a:p>
            <a:pPr lvl="0">
              <a:spcBef>
                <a:spcPts val="600"/>
              </a:spcBef>
              <a:spcAft>
                <a:spcPts val="1200"/>
              </a:spcAft>
            </a:pPr>
            <a:r>
              <a:rPr lang="en-AU" sz="2200" dirty="0" smtClean="0">
                <a:latin typeface="Helvetica" pitchFamily="34" charset="0"/>
              </a:rPr>
              <a:t>Where do they come from?</a:t>
            </a:r>
          </a:p>
          <a:p>
            <a:pPr lvl="0">
              <a:spcBef>
                <a:spcPts val="600"/>
              </a:spcBef>
              <a:spcAft>
                <a:spcPts val="1200"/>
              </a:spcAft>
            </a:pPr>
            <a:r>
              <a:rPr lang="en-AU" sz="2200" dirty="0" smtClean="0">
                <a:latin typeface="Helvetica" pitchFamily="34" charset="0"/>
              </a:rPr>
              <a:t>What are they made from?</a:t>
            </a:r>
          </a:p>
          <a:p>
            <a:pPr lvl="0">
              <a:spcBef>
                <a:spcPts val="600"/>
              </a:spcBef>
              <a:spcAft>
                <a:spcPts val="1200"/>
              </a:spcAft>
            </a:pPr>
            <a:r>
              <a:rPr lang="en-AU" sz="2200" dirty="0" smtClean="0">
                <a:latin typeface="Helvetica" pitchFamily="34" charset="0"/>
              </a:rPr>
              <a:t>What mixers can they be served with?</a:t>
            </a:r>
          </a:p>
          <a:p>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6" name="Picture 5" descr="http://www.kerasma.gr/UserFiles/ouzo.jpg"/>
          <p:cNvPicPr/>
          <p:nvPr/>
        </p:nvPicPr>
        <p:blipFill>
          <a:blip r:embed="rId3" cstate="print"/>
          <a:srcRect/>
          <a:stretch>
            <a:fillRect/>
          </a:stretch>
        </p:blipFill>
        <p:spPr bwMode="auto">
          <a:xfrm>
            <a:off x="6732240" y="3068960"/>
            <a:ext cx="1656398" cy="20955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64096"/>
          </a:xfrm>
        </p:spPr>
        <p:txBody>
          <a:bodyPr>
            <a:normAutofit/>
          </a:bodyPr>
          <a:lstStyle/>
          <a:p>
            <a:r>
              <a:rPr lang="en-AU" sz="3400" b="1" dirty="0" smtClean="0">
                <a:solidFill>
                  <a:srgbClr val="FF6600"/>
                </a:solidFill>
                <a:latin typeface="Helvetica" pitchFamily="34" charset="0"/>
              </a:rPr>
              <a:t>Liqueurs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a:spcBef>
                <a:spcPts val="600"/>
              </a:spcBef>
              <a:spcAft>
                <a:spcPts val="1200"/>
              </a:spcAft>
            </a:pPr>
            <a:r>
              <a:rPr lang="en-AU" sz="2200" dirty="0" smtClean="0">
                <a:latin typeface="Helvetica" pitchFamily="34" charset="0"/>
              </a:rPr>
              <a:t>Liqueurs are spirits that have been flavoured with such things as fruits, herbs, roots and plants, then sweetened and sometimes artificially coloured</a:t>
            </a:r>
          </a:p>
          <a:p>
            <a:pPr>
              <a:spcBef>
                <a:spcPts val="600"/>
              </a:spcBef>
              <a:spcAft>
                <a:spcPts val="1200"/>
              </a:spcAft>
            </a:pPr>
            <a:r>
              <a:rPr lang="en-AU" sz="2200" dirty="0" smtClean="0">
                <a:latin typeface="Helvetica" pitchFamily="34" charset="0"/>
              </a:rPr>
              <a:t>Liqueurs are proprietary or generic</a:t>
            </a:r>
          </a:p>
          <a:p>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8" name="Picture 7" descr="2930805265_b0f2971bfa_m.jpg"/>
          <p:cNvPicPr>
            <a:picLocks noChangeAspect="1"/>
          </p:cNvPicPr>
          <p:nvPr/>
        </p:nvPicPr>
        <p:blipFill>
          <a:blip r:embed="rId3" cstate="print"/>
          <a:stretch>
            <a:fillRect/>
          </a:stretch>
        </p:blipFill>
        <p:spPr>
          <a:xfrm>
            <a:off x="6876256" y="3068960"/>
            <a:ext cx="1487173" cy="2230760"/>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Liqueurs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a:spcBef>
                <a:spcPts val="600"/>
              </a:spcBef>
              <a:spcAft>
                <a:spcPts val="1200"/>
              </a:spcAft>
              <a:buNone/>
            </a:pPr>
            <a:r>
              <a:rPr lang="en-AU" sz="2200" b="1" dirty="0" smtClean="0">
                <a:latin typeface="Helvetica" pitchFamily="34" charset="0"/>
              </a:rPr>
              <a:t>Proprietary or generic liqueurs</a:t>
            </a:r>
          </a:p>
          <a:p>
            <a:pPr>
              <a:spcBef>
                <a:spcPts val="600"/>
              </a:spcBef>
              <a:spcAft>
                <a:spcPts val="1200"/>
              </a:spcAft>
            </a:pPr>
            <a:r>
              <a:rPr lang="en-AU" sz="2200" dirty="0" smtClean="0">
                <a:latin typeface="Helvetica" pitchFamily="34" charset="0"/>
              </a:rPr>
              <a:t>Proprietary brands are those produced by a single company such as Grand Marnier, Cointreau, Tia Maria, and Galliano</a:t>
            </a:r>
          </a:p>
          <a:p>
            <a:pPr>
              <a:spcBef>
                <a:spcPts val="600"/>
              </a:spcBef>
              <a:spcAft>
                <a:spcPts val="1200"/>
              </a:spcAft>
            </a:pPr>
            <a:r>
              <a:rPr lang="en-AU" sz="2200" dirty="0" smtClean="0">
                <a:latin typeface="Helvetica" pitchFamily="34" charset="0"/>
              </a:rPr>
              <a:t>Generics are types of liqueurs that can be made by any company. They come in many flavours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5" name="Picture 4" descr="http://www.grimco.com.ua/ukraine/Data/Sites/1/images/lib/Pictures/Wenneker_pict/Liqueurs.jpg"/>
          <p:cNvPicPr/>
          <p:nvPr/>
        </p:nvPicPr>
        <p:blipFill>
          <a:blip r:embed="rId3" cstate="print"/>
          <a:srcRect/>
          <a:stretch>
            <a:fillRect/>
          </a:stretch>
        </p:blipFill>
        <p:spPr bwMode="auto">
          <a:xfrm>
            <a:off x="2915816" y="4437112"/>
            <a:ext cx="2565400" cy="1219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Liqueurs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a:spcBef>
                <a:spcPts val="600"/>
              </a:spcBef>
              <a:spcAft>
                <a:spcPts val="1200"/>
              </a:spcAft>
              <a:buNone/>
            </a:pPr>
            <a:r>
              <a:rPr lang="en-AU" sz="2200" b="1" dirty="0" smtClean="0">
                <a:latin typeface="Helvetica" pitchFamily="34" charset="0"/>
              </a:rPr>
              <a:t>Common generic liqueurs flavours</a:t>
            </a:r>
          </a:p>
          <a:p>
            <a:pPr>
              <a:spcBef>
                <a:spcPts val="600"/>
              </a:spcBef>
              <a:spcAft>
                <a:spcPts val="1200"/>
              </a:spcAft>
            </a:pPr>
            <a:r>
              <a:rPr lang="en-AU" sz="2200" dirty="0" smtClean="0">
                <a:latin typeface="Helvetica" pitchFamily="34" charset="0"/>
              </a:rPr>
              <a:t>Advocaat</a:t>
            </a:r>
          </a:p>
          <a:p>
            <a:pPr>
              <a:spcBef>
                <a:spcPts val="600"/>
              </a:spcBef>
              <a:spcAft>
                <a:spcPts val="1200"/>
              </a:spcAft>
            </a:pPr>
            <a:r>
              <a:rPr lang="en-AU" sz="2200" dirty="0" smtClean="0">
                <a:latin typeface="Helvetica" pitchFamily="34" charset="0"/>
              </a:rPr>
              <a:t>Banana</a:t>
            </a:r>
          </a:p>
          <a:p>
            <a:pPr>
              <a:spcBef>
                <a:spcPts val="600"/>
              </a:spcBef>
              <a:spcAft>
                <a:spcPts val="1200"/>
              </a:spcAft>
            </a:pPr>
            <a:r>
              <a:rPr lang="en-AU" sz="2200" dirty="0" smtClean="0">
                <a:latin typeface="Helvetica" pitchFamily="34" charset="0"/>
              </a:rPr>
              <a:t>Blue Curacao</a:t>
            </a:r>
          </a:p>
          <a:p>
            <a:pPr>
              <a:spcBef>
                <a:spcPts val="600"/>
              </a:spcBef>
              <a:spcAft>
                <a:spcPts val="1200"/>
              </a:spcAft>
            </a:pPr>
            <a:r>
              <a:rPr lang="en-AU" sz="2200" dirty="0" smtClean="0">
                <a:latin typeface="Helvetica" pitchFamily="34" charset="0"/>
              </a:rPr>
              <a:t>Butterscotch </a:t>
            </a:r>
          </a:p>
          <a:p>
            <a:pPr>
              <a:spcBef>
                <a:spcPts val="600"/>
              </a:spcBef>
              <a:spcAft>
                <a:spcPts val="1200"/>
              </a:spcAft>
            </a:pPr>
            <a:r>
              <a:rPr lang="en-AU" sz="2200" dirty="0" smtClean="0">
                <a:latin typeface="Helvetica" pitchFamily="34" charset="0"/>
              </a:rPr>
              <a:t>Cherry brandy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6" name="Picture 5" descr="3710202894_e3bbf3575d_m.jpg"/>
          <p:cNvPicPr>
            <a:picLocks noChangeAspect="1"/>
          </p:cNvPicPr>
          <p:nvPr/>
        </p:nvPicPr>
        <p:blipFill>
          <a:blip r:embed="rId3" cstate="print"/>
          <a:stretch>
            <a:fillRect/>
          </a:stretch>
        </p:blipFill>
        <p:spPr>
          <a:xfrm>
            <a:off x="6948264" y="3284984"/>
            <a:ext cx="1480613" cy="1931234"/>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64096"/>
          </a:xfrm>
        </p:spPr>
        <p:txBody>
          <a:bodyPr>
            <a:normAutofit/>
          </a:bodyPr>
          <a:lstStyle/>
          <a:p>
            <a:r>
              <a:rPr lang="en-AU" sz="3400" b="1" dirty="0" smtClean="0">
                <a:solidFill>
                  <a:srgbClr val="FF6600"/>
                </a:solidFill>
                <a:latin typeface="Helvetica" pitchFamily="34" charset="0"/>
              </a:rPr>
              <a:t>Liqueurs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a:spcBef>
                <a:spcPts val="600"/>
              </a:spcBef>
              <a:spcAft>
                <a:spcPts val="1200"/>
              </a:spcAft>
              <a:buNone/>
            </a:pPr>
            <a:r>
              <a:rPr lang="en-AU" sz="2200" b="1" dirty="0" smtClean="0">
                <a:latin typeface="Helvetica" pitchFamily="34" charset="0"/>
              </a:rPr>
              <a:t>Common generic liqueurs flavours</a:t>
            </a:r>
          </a:p>
          <a:p>
            <a:pPr>
              <a:spcBef>
                <a:spcPts val="600"/>
              </a:spcBef>
              <a:spcAft>
                <a:spcPts val="1200"/>
              </a:spcAft>
            </a:pPr>
            <a:r>
              <a:rPr lang="en-AU" sz="2200" dirty="0" smtClean="0">
                <a:latin typeface="Helvetica" pitchFamily="34" charset="0"/>
              </a:rPr>
              <a:t>Crème de cacao</a:t>
            </a:r>
          </a:p>
          <a:p>
            <a:pPr>
              <a:spcBef>
                <a:spcPts val="600"/>
              </a:spcBef>
              <a:spcAft>
                <a:spcPts val="1200"/>
              </a:spcAft>
            </a:pPr>
            <a:r>
              <a:rPr lang="en-AU" sz="2200" dirty="0" smtClean="0">
                <a:latin typeface="Helvetica" pitchFamily="34" charset="0"/>
              </a:rPr>
              <a:t>Crème de menthe</a:t>
            </a:r>
          </a:p>
          <a:p>
            <a:pPr>
              <a:spcBef>
                <a:spcPts val="600"/>
              </a:spcBef>
              <a:spcAft>
                <a:spcPts val="1200"/>
              </a:spcAft>
            </a:pPr>
            <a:r>
              <a:rPr lang="en-AU" sz="2200" dirty="0" smtClean="0">
                <a:latin typeface="Helvetica" pitchFamily="34" charset="0"/>
              </a:rPr>
              <a:t>Melon</a:t>
            </a:r>
          </a:p>
          <a:p>
            <a:pPr>
              <a:spcBef>
                <a:spcPts val="600"/>
              </a:spcBef>
              <a:spcAft>
                <a:spcPts val="1200"/>
              </a:spcAft>
            </a:pPr>
            <a:r>
              <a:rPr lang="en-AU" sz="2200" dirty="0" smtClean="0">
                <a:latin typeface="Helvetica" pitchFamily="34" charset="0"/>
              </a:rPr>
              <a:t>Mint chocolate</a:t>
            </a:r>
          </a:p>
          <a:p>
            <a:pPr>
              <a:spcBef>
                <a:spcPts val="600"/>
              </a:spcBef>
              <a:spcAft>
                <a:spcPts val="1200"/>
              </a:spcAft>
            </a:pPr>
            <a:r>
              <a:rPr lang="en-AU" sz="2200" dirty="0" smtClean="0">
                <a:latin typeface="Helvetica" pitchFamily="34" charset="0"/>
              </a:rPr>
              <a:t>Triple sec</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5" name="Picture 4" descr="4149346163_b8bc3bf8bb_m.jpg"/>
          <p:cNvPicPr>
            <a:picLocks noChangeAspect="1"/>
          </p:cNvPicPr>
          <p:nvPr/>
        </p:nvPicPr>
        <p:blipFill>
          <a:blip r:embed="rId3" cstate="print"/>
          <a:stretch>
            <a:fillRect/>
          </a:stretch>
        </p:blipFill>
        <p:spPr>
          <a:xfrm>
            <a:off x="6228184" y="3861048"/>
            <a:ext cx="2146176" cy="1430784"/>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Liqueurs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a:spcBef>
                <a:spcPts val="600"/>
              </a:spcBef>
              <a:spcAft>
                <a:spcPts val="1200"/>
              </a:spcAft>
              <a:buNone/>
            </a:pPr>
            <a:r>
              <a:rPr lang="en-AU" sz="2200" b="1" dirty="0" smtClean="0">
                <a:latin typeface="Helvetica" pitchFamily="34" charset="0"/>
              </a:rPr>
              <a:t>Common proprietary liqueurs</a:t>
            </a:r>
          </a:p>
          <a:p>
            <a:pPr>
              <a:spcBef>
                <a:spcPts val="600"/>
              </a:spcBef>
              <a:spcAft>
                <a:spcPts val="1200"/>
              </a:spcAft>
            </a:pPr>
            <a:r>
              <a:rPr lang="en-AU" sz="2200" dirty="0" smtClean="0">
                <a:latin typeface="Helvetica" pitchFamily="34" charset="0"/>
              </a:rPr>
              <a:t>Bailey’s Irish Cream</a:t>
            </a:r>
          </a:p>
          <a:p>
            <a:pPr>
              <a:spcBef>
                <a:spcPts val="600"/>
              </a:spcBef>
              <a:spcAft>
                <a:spcPts val="1200"/>
              </a:spcAft>
            </a:pPr>
            <a:r>
              <a:rPr lang="en-AU" sz="2200" dirty="0" smtClean="0">
                <a:latin typeface="Helvetica" pitchFamily="34" charset="0"/>
              </a:rPr>
              <a:t>DOM Benedictine </a:t>
            </a:r>
          </a:p>
          <a:p>
            <a:pPr>
              <a:spcBef>
                <a:spcPts val="600"/>
              </a:spcBef>
              <a:spcAft>
                <a:spcPts val="1200"/>
              </a:spcAft>
            </a:pPr>
            <a:r>
              <a:rPr lang="en-AU" sz="2200" dirty="0" smtClean="0">
                <a:latin typeface="Helvetica" pitchFamily="34" charset="0"/>
              </a:rPr>
              <a:t>Cointreau</a:t>
            </a:r>
          </a:p>
          <a:p>
            <a:pPr>
              <a:spcBef>
                <a:spcPts val="600"/>
              </a:spcBef>
              <a:spcAft>
                <a:spcPts val="1200"/>
              </a:spcAft>
            </a:pPr>
            <a:r>
              <a:rPr lang="en-AU" sz="2200" dirty="0" smtClean="0">
                <a:latin typeface="Helvetica" pitchFamily="34" charset="0"/>
              </a:rPr>
              <a:t>Drambuie</a:t>
            </a:r>
          </a:p>
          <a:p>
            <a:pPr>
              <a:spcBef>
                <a:spcPts val="600"/>
              </a:spcBef>
              <a:spcAft>
                <a:spcPts val="1200"/>
              </a:spcAft>
            </a:pPr>
            <a:r>
              <a:rPr lang="en-AU" sz="2200" dirty="0" smtClean="0">
                <a:latin typeface="Helvetica" pitchFamily="34" charset="0"/>
              </a:rPr>
              <a:t>Grand Marnier</a:t>
            </a:r>
          </a:p>
          <a:p>
            <a:pPr>
              <a:spcBef>
                <a:spcPts val="600"/>
              </a:spcBef>
              <a:spcAft>
                <a:spcPts val="1200"/>
              </a:spcAft>
            </a:pPr>
            <a:r>
              <a:rPr lang="en-AU" sz="2200" dirty="0" smtClean="0">
                <a:latin typeface="Helvetica" pitchFamily="34" charset="0"/>
              </a:rPr>
              <a:t>Kahlua</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5" name="Picture 4" descr="http://www.beveragewarehouse.com/images/products/1653.jpg"/>
          <p:cNvPicPr/>
          <p:nvPr/>
        </p:nvPicPr>
        <p:blipFill>
          <a:blip r:embed="rId3" cstate="print"/>
          <a:srcRect/>
          <a:stretch>
            <a:fillRect/>
          </a:stretch>
        </p:blipFill>
        <p:spPr bwMode="auto">
          <a:xfrm>
            <a:off x="7236296" y="2780928"/>
            <a:ext cx="1047750" cy="22288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Liqueurs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669979"/>
          </a:xfrm>
        </p:spPr>
        <p:txBody>
          <a:bodyPr>
            <a:normAutofit/>
          </a:bodyPr>
          <a:lstStyle/>
          <a:p>
            <a:pPr>
              <a:spcBef>
                <a:spcPts val="600"/>
              </a:spcBef>
              <a:spcAft>
                <a:spcPts val="1200"/>
              </a:spcAft>
              <a:buNone/>
            </a:pPr>
            <a:r>
              <a:rPr lang="en-AU" sz="2200" b="1" dirty="0" smtClean="0">
                <a:latin typeface="Helvetica" pitchFamily="34" charset="0"/>
              </a:rPr>
              <a:t>Common proprietary liqueurs</a:t>
            </a:r>
          </a:p>
          <a:p>
            <a:pPr>
              <a:spcBef>
                <a:spcPts val="600"/>
              </a:spcBef>
              <a:spcAft>
                <a:spcPts val="1200"/>
              </a:spcAft>
            </a:pPr>
            <a:r>
              <a:rPr lang="en-AU" sz="2200" dirty="0" smtClean="0">
                <a:latin typeface="Helvetica" pitchFamily="34" charset="0"/>
              </a:rPr>
              <a:t>Jagermeister</a:t>
            </a:r>
          </a:p>
          <a:p>
            <a:pPr>
              <a:spcBef>
                <a:spcPts val="600"/>
              </a:spcBef>
              <a:spcAft>
                <a:spcPts val="1200"/>
              </a:spcAft>
            </a:pPr>
            <a:r>
              <a:rPr lang="en-AU" sz="2200" dirty="0" smtClean="0">
                <a:latin typeface="Helvetica" pitchFamily="34" charset="0"/>
              </a:rPr>
              <a:t>Midori</a:t>
            </a:r>
          </a:p>
          <a:p>
            <a:pPr>
              <a:spcBef>
                <a:spcPts val="600"/>
              </a:spcBef>
              <a:spcAft>
                <a:spcPts val="1200"/>
              </a:spcAft>
            </a:pPr>
            <a:r>
              <a:rPr lang="en-AU" sz="2200" dirty="0" smtClean="0">
                <a:latin typeface="Helvetica" pitchFamily="34" charset="0"/>
              </a:rPr>
              <a:t>Galliano</a:t>
            </a:r>
          </a:p>
          <a:p>
            <a:pPr>
              <a:spcBef>
                <a:spcPts val="600"/>
              </a:spcBef>
              <a:spcAft>
                <a:spcPts val="1200"/>
              </a:spcAft>
            </a:pPr>
            <a:r>
              <a:rPr lang="en-AU" sz="2200" dirty="0" smtClean="0">
                <a:latin typeface="Helvetica" pitchFamily="34" charset="0"/>
              </a:rPr>
              <a:t>Tia Maria </a:t>
            </a:r>
          </a:p>
          <a:p>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6" name="Picture 5" descr="http://www.trespassmag.com/wp-content/uploads/2009/11/midori-bottle_hr.jpg"/>
          <p:cNvPicPr/>
          <p:nvPr/>
        </p:nvPicPr>
        <p:blipFill>
          <a:blip r:embed="rId3" cstate="print"/>
          <a:srcRect l="17851" r="19670" b="7312"/>
          <a:stretch>
            <a:fillRect/>
          </a:stretch>
        </p:blipFill>
        <p:spPr bwMode="auto">
          <a:xfrm>
            <a:off x="7308304" y="2780928"/>
            <a:ext cx="1008112" cy="23042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Non-alcoholic drinks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064224"/>
          </a:xfrm>
        </p:spPr>
        <p:txBody>
          <a:bodyPr>
            <a:normAutofit/>
          </a:bodyPr>
          <a:lstStyle/>
          <a:p>
            <a:pPr lvl="0">
              <a:spcBef>
                <a:spcPts val="600"/>
              </a:spcBef>
              <a:spcAft>
                <a:spcPts val="1200"/>
              </a:spcAft>
            </a:pPr>
            <a:r>
              <a:rPr lang="en-AU" sz="2200" dirty="0" smtClean="0">
                <a:latin typeface="Helvetica" pitchFamily="34" charset="0"/>
              </a:rPr>
              <a:t>Tea</a:t>
            </a:r>
          </a:p>
          <a:p>
            <a:pPr lvl="0">
              <a:spcBef>
                <a:spcPts val="600"/>
              </a:spcBef>
              <a:spcAft>
                <a:spcPts val="1200"/>
              </a:spcAft>
            </a:pPr>
            <a:r>
              <a:rPr lang="en-AU" sz="2200" dirty="0" smtClean="0">
                <a:latin typeface="Helvetica" pitchFamily="34" charset="0"/>
              </a:rPr>
              <a:t>Coffee</a:t>
            </a:r>
          </a:p>
          <a:p>
            <a:pPr lvl="0">
              <a:spcBef>
                <a:spcPts val="600"/>
              </a:spcBef>
              <a:spcAft>
                <a:spcPts val="1200"/>
              </a:spcAft>
            </a:pPr>
            <a:r>
              <a:rPr lang="en-AU" sz="2200" dirty="0" smtClean="0">
                <a:latin typeface="Helvetica" pitchFamily="34" charset="0"/>
              </a:rPr>
              <a:t>Milk shakes</a:t>
            </a:r>
          </a:p>
          <a:p>
            <a:pPr lvl="0">
              <a:spcBef>
                <a:spcPts val="600"/>
              </a:spcBef>
              <a:spcAft>
                <a:spcPts val="1200"/>
              </a:spcAft>
            </a:pPr>
            <a:r>
              <a:rPr lang="en-AU" sz="2200" dirty="0" smtClean="0">
                <a:latin typeface="Helvetica" pitchFamily="34" charset="0"/>
              </a:rPr>
              <a:t>Flavoured milks</a:t>
            </a:r>
          </a:p>
          <a:p>
            <a:pPr lvl="0">
              <a:spcBef>
                <a:spcPts val="600"/>
              </a:spcBef>
              <a:spcAft>
                <a:spcPts val="1200"/>
              </a:spcAft>
            </a:pPr>
            <a:r>
              <a:rPr lang="en-AU" sz="2200" dirty="0" smtClean="0">
                <a:latin typeface="Helvetica" pitchFamily="34" charset="0"/>
              </a:rPr>
              <a:t>Smoothies</a:t>
            </a:r>
          </a:p>
          <a:p>
            <a:pPr lvl="0">
              <a:spcBef>
                <a:spcPts val="600"/>
              </a:spcBef>
              <a:spcAft>
                <a:spcPts val="1200"/>
              </a:spcAft>
            </a:pPr>
            <a:r>
              <a:rPr lang="en-AU" sz="2200" dirty="0" smtClean="0">
                <a:latin typeface="Helvetica" pitchFamily="34" charset="0"/>
              </a:rPr>
              <a:t>Hot or iced chocolate</a:t>
            </a:r>
          </a:p>
          <a:p>
            <a:pPr lvl="0">
              <a:spcBef>
                <a:spcPts val="600"/>
              </a:spcBef>
              <a:spcAft>
                <a:spcPts val="1200"/>
              </a:spcAft>
            </a:pPr>
            <a:r>
              <a:rPr lang="en-AU" sz="2200" dirty="0" smtClean="0">
                <a:latin typeface="Helvetica" pitchFamily="34" charset="0"/>
              </a:rPr>
              <a:t>Juices</a:t>
            </a:r>
          </a:p>
          <a:p>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6" name="Picture 5" descr="IMG_2104.jpg"/>
          <p:cNvPicPr/>
          <p:nvPr/>
        </p:nvPicPr>
        <p:blipFill>
          <a:blip r:embed="rId3" cstate="print"/>
          <a:stretch>
            <a:fillRect/>
          </a:stretch>
        </p:blipFill>
        <p:spPr>
          <a:xfrm>
            <a:off x="6300192" y="3501008"/>
            <a:ext cx="2128254" cy="1781349"/>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Non-alcoholic drinks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208240"/>
          </a:xfrm>
        </p:spPr>
        <p:txBody>
          <a:bodyPr>
            <a:normAutofit/>
          </a:bodyPr>
          <a:lstStyle/>
          <a:p>
            <a:pPr lvl="0">
              <a:spcBef>
                <a:spcPts val="600"/>
              </a:spcBef>
              <a:spcAft>
                <a:spcPts val="1200"/>
              </a:spcAft>
            </a:pPr>
            <a:r>
              <a:rPr lang="en-AU" sz="2200" dirty="0" smtClean="0">
                <a:latin typeface="Helvetica" pitchFamily="34" charset="0"/>
              </a:rPr>
              <a:t>Cordials and syrups</a:t>
            </a:r>
          </a:p>
          <a:p>
            <a:pPr lvl="0">
              <a:spcBef>
                <a:spcPts val="600"/>
              </a:spcBef>
              <a:spcAft>
                <a:spcPts val="1200"/>
              </a:spcAft>
            </a:pPr>
            <a:r>
              <a:rPr lang="en-AU" sz="2200" dirty="0" smtClean="0">
                <a:latin typeface="Helvetica" pitchFamily="34" charset="0"/>
              </a:rPr>
              <a:t>Waters</a:t>
            </a:r>
          </a:p>
          <a:p>
            <a:pPr lvl="0">
              <a:spcBef>
                <a:spcPts val="600"/>
              </a:spcBef>
              <a:spcAft>
                <a:spcPts val="1200"/>
              </a:spcAft>
            </a:pPr>
            <a:r>
              <a:rPr lang="en-AU" sz="2200" dirty="0" smtClean="0">
                <a:latin typeface="Helvetica" pitchFamily="34" charset="0"/>
              </a:rPr>
              <a:t>Soft drinks</a:t>
            </a:r>
          </a:p>
          <a:p>
            <a:pPr lvl="0">
              <a:spcBef>
                <a:spcPts val="600"/>
              </a:spcBef>
              <a:spcAft>
                <a:spcPts val="1200"/>
              </a:spcAft>
            </a:pPr>
            <a:r>
              <a:rPr lang="en-AU" sz="2200" dirty="0" smtClean="0">
                <a:latin typeface="Helvetica" pitchFamily="34" charset="0"/>
              </a:rPr>
              <a:t>Non-alcoholic cocktails</a:t>
            </a:r>
          </a:p>
          <a:p>
            <a:pPr lvl="0">
              <a:spcBef>
                <a:spcPts val="600"/>
              </a:spcBef>
              <a:spcAft>
                <a:spcPts val="1200"/>
              </a:spcAft>
            </a:pPr>
            <a:r>
              <a:rPr lang="en-AU" sz="2200" dirty="0" smtClean="0">
                <a:latin typeface="Helvetica" pitchFamily="34" charset="0"/>
              </a:rPr>
              <a:t>Health drinks</a:t>
            </a:r>
          </a:p>
          <a:p>
            <a:pPr lvl="0">
              <a:spcBef>
                <a:spcPts val="600"/>
              </a:spcBef>
              <a:spcAft>
                <a:spcPts val="1200"/>
              </a:spcAft>
            </a:pPr>
            <a:r>
              <a:rPr lang="en-AU" sz="2200" dirty="0" smtClean="0">
                <a:latin typeface="Helvetica" pitchFamily="34" charset="0"/>
              </a:rPr>
              <a:t>Frappés</a:t>
            </a:r>
          </a:p>
          <a:p>
            <a:pPr lvl="0">
              <a:spcBef>
                <a:spcPts val="600"/>
              </a:spcBef>
              <a:spcAft>
                <a:spcPts val="1200"/>
              </a:spcAft>
            </a:pPr>
            <a:r>
              <a:rPr lang="en-AU" sz="2200" dirty="0" smtClean="0">
                <a:latin typeface="Helvetica" pitchFamily="34" charset="0"/>
              </a:rPr>
              <a:t>Children’s specialty drinks</a:t>
            </a:r>
          </a:p>
          <a:p>
            <a:pPr lvl="0">
              <a:spcBef>
                <a:spcPts val="600"/>
              </a:spcBef>
              <a:spcAft>
                <a:spcPts val="1200"/>
              </a:spcAft>
            </a:pPr>
            <a:r>
              <a:rPr lang="en-AU" sz="2200" dirty="0" smtClean="0">
                <a:latin typeface="Helvetica" pitchFamily="34" charset="0"/>
              </a:rPr>
              <a:t>Energy drinks</a:t>
            </a:r>
          </a:p>
          <a:p>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7" name="Picture 6" descr="1256720_glasses_2.jpg"/>
          <p:cNvPicPr>
            <a:picLocks noChangeAspect="1"/>
          </p:cNvPicPr>
          <p:nvPr/>
        </p:nvPicPr>
        <p:blipFill>
          <a:blip r:embed="rId3" cstate="print"/>
          <a:stretch>
            <a:fillRect/>
          </a:stretch>
        </p:blipFill>
        <p:spPr>
          <a:xfrm>
            <a:off x="6372200" y="3140968"/>
            <a:ext cx="1921396" cy="1921396"/>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Packaged snack foods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280248"/>
          </a:xfrm>
        </p:spPr>
        <p:txBody>
          <a:bodyPr>
            <a:normAutofit/>
          </a:bodyPr>
          <a:lstStyle/>
          <a:p>
            <a:pPr lvl="0">
              <a:spcBef>
                <a:spcPts val="600"/>
              </a:spcBef>
              <a:spcAft>
                <a:spcPts val="1200"/>
              </a:spcAft>
              <a:buNone/>
            </a:pPr>
            <a:r>
              <a:rPr lang="en-AU" sz="2200" b="1" dirty="0" smtClean="0">
                <a:latin typeface="Helvetica" pitchFamily="34" charset="0"/>
              </a:rPr>
              <a:t>Common snack foods</a:t>
            </a:r>
          </a:p>
          <a:p>
            <a:pPr lvl="0">
              <a:spcBef>
                <a:spcPts val="600"/>
              </a:spcBef>
              <a:spcAft>
                <a:spcPts val="1200"/>
              </a:spcAft>
            </a:pPr>
            <a:r>
              <a:rPr lang="en-AU" sz="2200" dirty="0" smtClean="0">
                <a:latin typeface="Helvetica" pitchFamily="34" charset="0"/>
              </a:rPr>
              <a:t>Chips or crisps</a:t>
            </a:r>
          </a:p>
          <a:p>
            <a:pPr lvl="0">
              <a:spcBef>
                <a:spcPts val="600"/>
              </a:spcBef>
              <a:spcAft>
                <a:spcPts val="1200"/>
              </a:spcAft>
            </a:pPr>
            <a:r>
              <a:rPr lang="en-AU" sz="2200" dirty="0" smtClean="0">
                <a:latin typeface="Helvetica" pitchFamily="34" charset="0"/>
              </a:rPr>
              <a:t>Nuts</a:t>
            </a:r>
          </a:p>
          <a:p>
            <a:pPr lvl="0">
              <a:spcBef>
                <a:spcPts val="600"/>
              </a:spcBef>
              <a:spcAft>
                <a:spcPts val="1200"/>
              </a:spcAft>
            </a:pPr>
            <a:r>
              <a:rPr lang="en-AU" sz="2200" dirty="0" smtClean="0">
                <a:latin typeface="Helvetica" pitchFamily="34" charset="0"/>
              </a:rPr>
              <a:t>Dips and salsas</a:t>
            </a:r>
          </a:p>
          <a:p>
            <a:pPr lvl="0">
              <a:spcBef>
                <a:spcPts val="600"/>
              </a:spcBef>
              <a:spcAft>
                <a:spcPts val="1200"/>
              </a:spcAft>
            </a:pPr>
            <a:r>
              <a:rPr lang="en-AU" sz="2200" dirty="0" smtClean="0">
                <a:latin typeface="Helvetica" pitchFamily="34" charset="0"/>
              </a:rPr>
              <a:t>Beef jerky</a:t>
            </a:r>
          </a:p>
          <a:p>
            <a:pPr lvl="0">
              <a:spcBef>
                <a:spcPts val="600"/>
              </a:spcBef>
              <a:spcAft>
                <a:spcPts val="1200"/>
              </a:spcAft>
            </a:pPr>
            <a:r>
              <a:rPr lang="en-AU" sz="2200" dirty="0" smtClean="0">
                <a:latin typeface="Helvetica" pitchFamily="34" charset="0"/>
              </a:rPr>
              <a:t>Confectionery – sweet items, chocolates,                      cakes, muffins</a:t>
            </a:r>
          </a:p>
          <a:p>
            <a:pPr lvl="0">
              <a:spcBef>
                <a:spcPts val="600"/>
              </a:spcBef>
              <a:spcAft>
                <a:spcPts val="1200"/>
              </a:spcAft>
            </a:pPr>
            <a:r>
              <a:rPr lang="en-AU" sz="2200" dirty="0" smtClean="0">
                <a:latin typeface="Helvetica" pitchFamily="34" charset="0"/>
              </a:rPr>
              <a:t>Breads and cheeses</a:t>
            </a:r>
          </a:p>
          <a:p>
            <a:pPr lvl="0">
              <a:spcBef>
                <a:spcPts val="600"/>
              </a:spcBef>
              <a:spcAft>
                <a:spcPts val="1200"/>
              </a:spcAft>
            </a:pPr>
            <a:r>
              <a:rPr lang="en-AU" sz="2200" dirty="0" smtClean="0">
                <a:latin typeface="Helvetica" pitchFamily="34" charset="0"/>
              </a:rPr>
              <a:t>Olives</a:t>
            </a:r>
          </a:p>
          <a:p>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7" name="Picture 6" descr="MP910221064.JPG"/>
          <p:cNvPicPr/>
          <p:nvPr/>
        </p:nvPicPr>
        <p:blipFill>
          <a:blip r:embed="rId3" cstate="print"/>
          <a:stretch>
            <a:fillRect/>
          </a:stretch>
        </p:blipFill>
        <p:spPr>
          <a:xfrm>
            <a:off x="7020272" y="3356992"/>
            <a:ext cx="1367651" cy="1823641"/>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Ancillary products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280248"/>
          </a:xfrm>
        </p:spPr>
        <p:txBody>
          <a:bodyPr>
            <a:normAutofit/>
          </a:bodyPr>
          <a:lstStyle/>
          <a:p>
            <a:pPr lvl="0">
              <a:spcBef>
                <a:spcPts val="600"/>
              </a:spcBef>
              <a:spcAft>
                <a:spcPts val="1200"/>
              </a:spcAft>
            </a:pPr>
            <a:r>
              <a:rPr lang="en-AU" sz="2200" dirty="0" smtClean="0">
                <a:latin typeface="Helvetica" pitchFamily="34" charset="0"/>
              </a:rPr>
              <a:t>Ice</a:t>
            </a:r>
          </a:p>
          <a:p>
            <a:pPr lvl="0">
              <a:spcBef>
                <a:spcPts val="600"/>
              </a:spcBef>
              <a:spcAft>
                <a:spcPts val="1200"/>
              </a:spcAft>
            </a:pPr>
            <a:r>
              <a:rPr lang="en-AU" sz="2200" dirty="0" smtClean="0">
                <a:latin typeface="Helvetica" pitchFamily="34" charset="0"/>
              </a:rPr>
              <a:t>Cigarettes and tobacco products</a:t>
            </a:r>
          </a:p>
          <a:p>
            <a:pPr lvl="0">
              <a:spcBef>
                <a:spcPts val="600"/>
              </a:spcBef>
              <a:spcAft>
                <a:spcPts val="1200"/>
              </a:spcAft>
            </a:pPr>
            <a:r>
              <a:rPr lang="en-AU" sz="2200" dirty="0" smtClean="0">
                <a:latin typeface="Helvetica" pitchFamily="34" charset="0"/>
              </a:rPr>
              <a:t>Bottle openers</a:t>
            </a:r>
          </a:p>
          <a:p>
            <a:pPr lvl="0">
              <a:spcBef>
                <a:spcPts val="600"/>
              </a:spcBef>
              <a:spcAft>
                <a:spcPts val="1200"/>
              </a:spcAft>
            </a:pPr>
            <a:r>
              <a:rPr lang="en-AU" sz="2200" dirty="0" smtClean="0">
                <a:latin typeface="Helvetica" pitchFamily="34" charset="0"/>
              </a:rPr>
              <a:t>Cork stoppers</a:t>
            </a:r>
          </a:p>
          <a:p>
            <a:pPr lvl="0">
              <a:spcBef>
                <a:spcPts val="600"/>
              </a:spcBef>
              <a:spcAft>
                <a:spcPts val="1200"/>
              </a:spcAft>
            </a:pPr>
            <a:r>
              <a:rPr lang="en-AU" sz="2200" dirty="0" smtClean="0">
                <a:latin typeface="Helvetica" pitchFamily="34" charset="0"/>
              </a:rPr>
              <a:t>Picnic sets</a:t>
            </a:r>
          </a:p>
          <a:p>
            <a:pPr lvl="0">
              <a:spcBef>
                <a:spcPts val="600"/>
              </a:spcBef>
              <a:spcAft>
                <a:spcPts val="1200"/>
              </a:spcAft>
            </a:pPr>
            <a:r>
              <a:rPr lang="en-AU" sz="2200" dirty="0" smtClean="0">
                <a:latin typeface="Helvetica" pitchFamily="34" charset="0"/>
              </a:rPr>
              <a:t>Sunscreen</a:t>
            </a:r>
          </a:p>
          <a:p>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6" name="Picture 5" descr="499647_10160850.jpg"/>
          <p:cNvPicPr/>
          <p:nvPr/>
        </p:nvPicPr>
        <p:blipFill>
          <a:blip r:embed="rId3" cstate="print"/>
          <a:stretch>
            <a:fillRect/>
          </a:stretch>
        </p:blipFill>
        <p:spPr>
          <a:xfrm>
            <a:off x="6358284" y="3645024"/>
            <a:ext cx="2030140" cy="1542653"/>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Ancillary products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280248"/>
          </a:xfrm>
        </p:spPr>
        <p:txBody>
          <a:bodyPr>
            <a:normAutofit/>
          </a:bodyPr>
          <a:lstStyle/>
          <a:p>
            <a:pPr lvl="0">
              <a:spcBef>
                <a:spcPts val="600"/>
              </a:spcBef>
              <a:spcAft>
                <a:spcPts val="1200"/>
              </a:spcAft>
            </a:pPr>
            <a:r>
              <a:rPr lang="en-AU" sz="2200" dirty="0" smtClean="0">
                <a:latin typeface="Helvetica" pitchFamily="34" charset="0"/>
              </a:rPr>
              <a:t>Carry bags</a:t>
            </a:r>
          </a:p>
          <a:p>
            <a:pPr lvl="0">
              <a:spcBef>
                <a:spcPts val="600"/>
              </a:spcBef>
              <a:spcAft>
                <a:spcPts val="1200"/>
              </a:spcAft>
            </a:pPr>
            <a:r>
              <a:rPr lang="en-AU" sz="2200" dirty="0" smtClean="0">
                <a:latin typeface="Helvetica" pitchFamily="34" charset="0"/>
              </a:rPr>
              <a:t>Cooler bags</a:t>
            </a:r>
          </a:p>
          <a:p>
            <a:pPr lvl="0">
              <a:spcBef>
                <a:spcPts val="600"/>
              </a:spcBef>
              <a:spcAft>
                <a:spcPts val="1200"/>
              </a:spcAft>
            </a:pPr>
            <a:r>
              <a:rPr lang="en-AU" sz="2200" dirty="0" smtClean="0">
                <a:latin typeface="Helvetica" pitchFamily="34" charset="0"/>
              </a:rPr>
              <a:t>Drink accessories </a:t>
            </a:r>
          </a:p>
          <a:p>
            <a:pPr lvl="0">
              <a:spcBef>
                <a:spcPts val="600"/>
              </a:spcBef>
              <a:spcAft>
                <a:spcPts val="1200"/>
              </a:spcAft>
            </a:pPr>
            <a:r>
              <a:rPr lang="en-AU" sz="2200" dirty="0" smtClean="0">
                <a:latin typeface="Helvetica" pitchFamily="34" charset="0"/>
              </a:rPr>
              <a:t>Decorative items for drinks and cocktails</a:t>
            </a:r>
          </a:p>
          <a:p>
            <a:pPr lvl="0">
              <a:spcBef>
                <a:spcPts val="600"/>
              </a:spcBef>
              <a:spcAft>
                <a:spcPts val="1200"/>
              </a:spcAft>
            </a:pPr>
            <a:r>
              <a:rPr lang="en-AU" sz="2200" dirty="0" smtClean="0">
                <a:latin typeface="Helvetica" pitchFamily="34" charset="0"/>
              </a:rPr>
              <a:t>Gift packages and gift vouchers</a:t>
            </a:r>
          </a:p>
          <a:p>
            <a:pPr>
              <a:spcBef>
                <a:spcPts val="600"/>
              </a:spcBef>
              <a:spcAft>
                <a:spcPts val="1200"/>
              </a:spcAft>
            </a:pPr>
            <a:r>
              <a:rPr lang="en-AU" sz="2200" dirty="0" smtClean="0">
                <a:latin typeface="Helvetica" pitchFamily="34" charset="0"/>
              </a:rPr>
              <a:t>Drink and liquor-related books and </a:t>
            </a:r>
            <a:br>
              <a:rPr lang="en-AU" sz="2200" dirty="0" smtClean="0">
                <a:latin typeface="Helvetica" pitchFamily="34" charset="0"/>
              </a:rPr>
            </a:br>
            <a:r>
              <a:rPr lang="en-AU" sz="2200" dirty="0" smtClean="0">
                <a:latin typeface="Helvetica" pitchFamily="34" charset="0"/>
              </a:rPr>
              <a:t>magazines </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7" name="Picture 6" descr="4753264280_1634c569fd_m.jpg"/>
          <p:cNvPicPr>
            <a:picLocks noChangeAspect="1"/>
          </p:cNvPicPr>
          <p:nvPr/>
        </p:nvPicPr>
        <p:blipFill>
          <a:blip r:embed="rId3" cstate="print"/>
          <a:stretch>
            <a:fillRect/>
          </a:stretch>
        </p:blipFill>
        <p:spPr>
          <a:xfrm>
            <a:off x="6372200" y="3933056"/>
            <a:ext cx="2007096" cy="1338064"/>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Keys to providing relevant advice</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280248"/>
          </a:xfrm>
        </p:spPr>
        <p:txBody>
          <a:bodyPr>
            <a:normAutofit/>
          </a:bodyPr>
          <a:lstStyle/>
          <a:p>
            <a:pPr lvl="0">
              <a:spcBef>
                <a:spcPts val="600"/>
              </a:spcBef>
              <a:spcAft>
                <a:spcPts val="1200"/>
              </a:spcAft>
            </a:pPr>
            <a:r>
              <a:rPr lang="en-AU" sz="2200" dirty="0" smtClean="0">
                <a:latin typeface="Helvetica" pitchFamily="34" charset="0"/>
              </a:rPr>
              <a:t>Identify needs, wants and preferences </a:t>
            </a:r>
          </a:p>
          <a:p>
            <a:pPr lvl="0">
              <a:spcBef>
                <a:spcPts val="600"/>
              </a:spcBef>
              <a:spcAft>
                <a:spcPts val="1200"/>
              </a:spcAft>
            </a:pPr>
            <a:r>
              <a:rPr lang="en-AU" sz="2200" dirty="0" smtClean="0">
                <a:latin typeface="Helvetica" pitchFamily="34" charset="0"/>
              </a:rPr>
              <a:t>Identify if the beverage is for a special occasion</a:t>
            </a:r>
          </a:p>
          <a:p>
            <a:pPr lvl="0">
              <a:spcBef>
                <a:spcPts val="600"/>
              </a:spcBef>
              <a:spcAft>
                <a:spcPts val="1200"/>
              </a:spcAft>
            </a:pPr>
            <a:r>
              <a:rPr lang="en-AU" sz="2200" dirty="0" smtClean="0">
                <a:latin typeface="Helvetica" pitchFamily="34" charset="0"/>
              </a:rPr>
              <a:t>Identify if the beverage is to accompany food </a:t>
            </a:r>
          </a:p>
          <a:p>
            <a:pPr lvl="0">
              <a:spcBef>
                <a:spcPts val="600"/>
              </a:spcBef>
              <a:spcAft>
                <a:spcPts val="1200"/>
              </a:spcAft>
            </a:pPr>
            <a:r>
              <a:rPr lang="en-AU" sz="2200" dirty="0" smtClean="0">
                <a:latin typeface="Helvetica" pitchFamily="34" charset="0"/>
              </a:rPr>
              <a:t>Determine how much the customer wants to spend</a:t>
            </a:r>
          </a:p>
          <a:p>
            <a:pPr lvl="0">
              <a:spcBef>
                <a:spcPts val="600"/>
              </a:spcBef>
              <a:spcAft>
                <a:spcPts val="1200"/>
              </a:spcAft>
            </a:pPr>
            <a:r>
              <a:rPr lang="en-AU" sz="2200" dirty="0" smtClean="0">
                <a:latin typeface="Helvetica" pitchFamily="34" charset="0"/>
              </a:rPr>
              <a:t>Focus on the customer</a:t>
            </a:r>
          </a:p>
          <a:p>
            <a:pPr>
              <a:spcBef>
                <a:spcPts val="600"/>
              </a:spcBef>
              <a:spcAft>
                <a:spcPts val="1200"/>
              </a:spcAft>
            </a:pPr>
            <a:r>
              <a:rPr lang="en-AU" sz="2200" dirty="0" smtClean="0">
                <a:latin typeface="Helvetica" pitchFamily="34" charset="0"/>
              </a:rPr>
              <a:t>Match products offered to their stated needs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6" name="Picture 5" descr="shutterstock_72818872.jpg"/>
          <p:cNvPicPr>
            <a:picLocks noChangeAspect="1"/>
          </p:cNvPicPr>
          <p:nvPr/>
        </p:nvPicPr>
        <p:blipFill>
          <a:blip r:embed="rId3" cstate="print"/>
          <a:stretch>
            <a:fillRect/>
          </a:stretch>
        </p:blipFill>
        <p:spPr>
          <a:xfrm>
            <a:off x="6732240" y="3717032"/>
            <a:ext cx="1668016" cy="1592955"/>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Process sales promptly</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352256"/>
          </a:xfrm>
        </p:spPr>
        <p:txBody>
          <a:bodyPr>
            <a:normAutofit/>
          </a:bodyPr>
          <a:lstStyle/>
          <a:p>
            <a:pPr>
              <a:spcBef>
                <a:spcPts val="600"/>
              </a:spcBef>
              <a:spcAft>
                <a:spcPts val="600"/>
              </a:spcAft>
              <a:buNone/>
            </a:pPr>
            <a:r>
              <a:rPr lang="en-AU" sz="2200" b="1" dirty="0" smtClean="0">
                <a:latin typeface="Helvetica" pitchFamily="34" charset="0"/>
              </a:rPr>
              <a:t>Customer sales and service</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Smile</a:t>
            </a:r>
          </a:p>
          <a:p>
            <a:pPr lvl="0">
              <a:spcBef>
                <a:spcPts val="600"/>
              </a:spcBef>
              <a:spcAft>
                <a:spcPts val="600"/>
              </a:spcAft>
            </a:pPr>
            <a:r>
              <a:rPr lang="en-AU" sz="2200" dirty="0" smtClean="0">
                <a:latin typeface="Helvetica" pitchFamily="34" charset="0"/>
              </a:rPr>
              <a:t>Make eye contact with each customer</a:t>
            </a:r>
          </a:p>
          <a:p>
            <a:pPr lvl="0">
              <a:spcBef>
                <a:spcPts val="600"/>
              </a:spcBef>
              <a:spcAft>
                <a:spcPts val="600"/>
              </a:spcAft>
            </a:pPr>
            <a:r>
              <a:rPr lang="en-AU" sz="2200" dirty="0" smtClean="0">
                <a:latin typeface="Helvetica" pitchFamily="34" charset="0"/>
              </a:rPr>
              <a:t>Use the customer’s name if known</a:t>
            </a:r>
          </a:p>
          <a:p>
            <a:pPr lvl="0">
              <a:spcBef>
                <a:spcPts val="600"/>
              </a:spcBef>
              <a:spcAft>
                <a:spcPts val="600"/>
              </a:spcAft>
            </a:pPr>
            <a:r>
              <a:rPr lang="en-AU" sz="2200" dirty="0" smtClean="0">
                <a:latin typeface="Helvetica" pitchFamily="34" charset="0"/>
              </a:rPr>
              <a:t>Follow house procedures for cash handling, sales processing, giving change. </a:t>
            </a:r>
          </a:p>
          <a:p>
            <a:pPr lvl="0">
              <a:spcBef>
                <a:spcPts val="600"/>
              </a:spcBef>
              <a:spcAft>
                <a:spcPts val="600"/>
              </a:spcAft>
            </a:pPr>
            <a:r>
              <a:rPr lang="en-AU" sz="2200" dirty="0" smtClean="0">
                <a:latin typeface="Helvetica" pitchFamily="34" charset="0"/>
              </a:rPr>
              <a:t>‘Please’ and ‘Thank you’ are mandatory</a:t>
            </a:r>
          </a:p>
          <a:p>
            <a:pPr lvl="0">
              <a:spcBef>
                <a:spcPts val="600"/>
              </a:spcBef>
              <a:spcAft>
                <a:spcPts val="600"/>
              </a:spcAft>
            </a:pPr>
            <a:r>
              <a:rPr lang="en-AU" sz="2200" dirty="0" smtClean="0">
                <a:latin typeface="Helvetica" pitchFamily="34" charset="0"/>
              </a:rPr>
              <a:t>Serve customers in the order they arrived                            at the service counter </a:t>
            </a:r>
          </a:p>
          <a:p>
            <a:pPr lvl="0">
              <a:spcBef>
                <a:spcPts val="600"/>
              </a:spcBef>
              <a:spcAft>
                <a:spcPts val="600"/>
              </a:spcAft>
            </a:pPr>
            <a:r>
              <a:rPr lang="en-AU" sz="2200" dirty="0" smtClean="0">
                <a:latin typeface="Helvetica" pitchFamily="34" charset="0"/>
              </a:rPr>
              <a:t>Make an offer of assistance </a:t>
            </a:r>
          </a:p>
          <a:p>
            <a:pPr lvl="0">
              <a:spcBef>
                <a:spcPts val="600"/>
              </a:spcBef>
              <a:spcAft>
                <a:spcPts val="600"/>
              </a:spcAft>
            </a:pPr>
            <a:r>
              <a:rPr lang="en-AU" sz="2200" dirty="0" smtClean="0">
                <a:latin typeface="Helvetica" pitchFamily="34" charset="0"/>
              </a:rPr>
              <a:t>Wish the customer ‘Goodbye’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7" name="Picture 6" descr="MP900409079[1].JPG"/>
          <p:cNvPicPr/>
          <p:nvPr/>
        </p:nvPicPr>
        <p:blipFill>
          <a:blip r:embed="rId3" cstate="print"/>
          <a:stretch>
            <a:fillRect/>
          </a:stretch>
        </p:blipFill>
        <p:spPr>
          <a:xfrm>
            <a:off x="6876256" y="3573016"/>
            <a:ext cx="1488237" cy="1704578"/>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pPr>
              <a:spcBef>
                <a:spcPts val="600"/>
              </a:spcBef>
              <a:spcAft>
                <a:spcPts val="600"/>
              </a:spcAft>
            </a:pPr>
            <a:r>
              <a:rPr lang="en-AU" sz="3400" b="1" dirty="0" smtClean="0">
                <a:solidFill>
                  <a:srgbClr val="FF6600"/>
                </a:solidFill>
                <a:latin typeface="Helvetica" pitchFamily="34" charset="0"/>
              </a:rPr>
              <a:t>Opportunities for optimising sales</a:t>
            </a:r>
          </a:p>
        </p:txBody>
      </p:sp>
      <p:sp>
        <p:nvSpPr>
          <p:cNvPr id="3" name="Content Placeholder 2"/>
          <p:cNvSpPr>
            <a:spLocks noGrp="1"/>
          </p:cNvSpPr>
          <p:nvPr>
            <p:ph idx="1"/>
          </p:nvPr>
        </p:nvSpPr>
        <p:spPr>
          <a:xfrm>
            <a:off x="611560" y="1268760"/>
            <a:ext cx="7467600" cy="5208240"/>
          </a:xfrm>
        </p:spPr>
        <p:txBody>
          <a:bodyPr>
            <a:normAutofit/>
          </a:bodyPr>
          <a:lstStyle/>
          <a:p>
            <a:pPr>
              <a:spcBef>
                <a:spcPts val="600"/>
              </a:spcBef>
              <a:spcAft>
                <a:spcPts val="1200"/>
              </a:spcAft>
              <a:buNone/>
            </a:pPr>
            <a:r>
              <a:rPr lang="en-AU" sz="2200" b="1" dirty="0" smtClean="0">
                <a:latin typeface="Helvetica" pitchFamily="34" charset="0"/>
              </a:rPr>
              <a:t>The ABC of Selling</a:t>
            </a:r>
          </a:p>
          <a:p>
            <a:pPr>
              <a:spcBef>
                <a:spcPts val="600"/>
              </a:spcBef>
              <a:spcAft>
                <a:spcPts val="1200"/>
              </a:spcAft>
            </a:pPr>
            <a:r>
              <a:rPr lang="en-AU" sz="2200" dirty="0" smtClean="0">
                <a:latin typeface="Helvetica" pitchFamily="34" charset="0"/>
              </a:rPr>
              <a:t>Automatic Sales</a:t>
            </a:r>
          </a:p>
          <a:p>
            <a:pPr>
              <a:spcBef>
                <a:spcPts val="600"/>
              </a:spcBef>
              <a:spcAft>
                <a:spcPts val="1200"/>
              </a:spcAft>
            </a:pPr>
            <a:r>
              <a:rPr lang="en-AU" sz="2200" dirty="0" smtClean="0">
                <a:latin typeface="Helvetica" pitchFamily="34" charset="0"/>
              </a:rPr>
              <a:t>Bettered sale</a:t>
            </a:r>
          </a:p>
          <a:p>
            <a:pPr>
              <a:spcBef>
                <a:spcPts val="600"/>
              </a:spcBef>
              <a:spcAft>
                <a:spcPts val="1200"/>
              </a:spcAft>
            </a:pPr>
            <a:r>
              <a:rPr lang="en-AU" sz="2200" dirty="0" smtClean="0">
                <a:latin typeface="Helvetica" pitchFamily="34" charset="0"/>
              </a:rPr>
              <a:t>Created sale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6" name="Picture 5" descr="MP900409324.JPG"/>
          <p:cNvPicPr/>
          <p:nvPr/>
        </p:nvPicPr>
        <p:blipFill>
          <a:blip r:embed="rId3" cstate="print"/>
          <a:stretch>
            <a:fillRect/>
          </a:stretch>
        </p:blipFill>
        <p:spPr>
          <a:xfrm>
            <a:off x="6948264" y="3356992"/>
            <a:ext cx="1407021" cy="1944216"/>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a:spcBef>
                <a:spcPts val="600"/>
              </a:spcBef>
              <a:spcAft>
                <a:spcPts val="600"/>
              </a:spcAft>
            </a:pPr>
            <a:r>
              <a:rPr lang="en-AU" sz="3400" b="1" dirty="0" smtClean="0">
                <a:solidFill>
                  <a:srgbClr val="FF6600"/>
                </a:solidFill>
                <a:latin typeface="Helvetica" pitchFamily="34" charset="0"/>
              </a:rPr>
              <a:t>Complete order forms, invoices and/or receipts</a:t>
            </a:r>
          </a:p>
        </p:txBody>
      </p:sp>
      <p:sp>
        <p:nvSpPr>
          <p:cNvPr id="3" name="Content Placeholder 2"/>
          <p:cNvSpPr>
            <a:spLocks noGrp="1"/>
          </p:cNvSpPr>
          <p:nvPr>
            <p:ph idx="1"/>
          </p:nvPr>
        </p:nvSpPr>
        <p:spPr>
          <a:xfrm>
            <a:off x="611560" y="1556792"/>
            <a:ext cx="7467600" cy="4920208"/>
          </a:xfrm>
        </p:spPr>
        <p:txBody>
          <a:bodyPr>
            <a:normAutofit/>
          </a:bodyPr>
          <a:lstStyle/>
          <a:p>
            <a:pPr marL="0">
              <a:spcBef>
                <a:spcPts val="600"/>
              </a:spcBef>
              <a:spcAft>
                <a:spcPts val="1200"/>
              </a:spcAft>
              <a:buNone/>
            </a:pPr>
            <a:r>
              <a:rPr lang="en-AU" sz="2000" dirty="0" smtClean="0">
                <a:latin typeface="Helvetica" pitchFamily="34" charset="0"/>
              </a:rPr>
              <a:t>Staff in liquor outlets will have to deal with various pieces of paperwork as part of their everyday practice.</a:t>
            </a:r>
          </a:p>
          <a:p>
            <a:pPr>
              <a:spcBef>
                <a:spcPts val="600"/>
              </a:spcBef>
              <a:spcAft>
                <a:spcPts val="1200"/>
              </a:spcAft>
              <a:buNone/>
            </a:pPr>
            <a:r>
              <a:rPr lang="en-AU" sz="2000" dirty="0" smtClean="0">
                <a:latin typeface="Helvetica" pitchFamily="34" charset="0"/>
              </a:rPr>
              <a:t>Examples of dealing with forms:</a:t>
            </a:r>
          </a:p>
          <a:p>
            <a:pPr lvl="0">
              <a:spcBef>
                <a:spcPts val="600"/>
              </a:spcBef>
              <a:spcAft>
                <a:spcPts val="1200"/>
              </a:spcAft>
            </a:pPr>
            <a:r>
              <a:rPr lang="en-AU" sz="2000" dirty="0" smtClean="0">
                <a:latin typeface="Helvetica" pitchFamily="34" charset="0"/>
              </a:rPr>
              <a:t>Completing an </a:t>
            </a:r>
            <a:r>
              <a:rPr lang="en-AU" sz="2000" u="sng" dirty="0" smtClean="0">
                <a:latin typeface="Helvetica" pitchFamily="34" charset="0"/>
              </a:rPr>
              <a:t>in-store order form </a:t>
            </a:r>
            <a:r>
              <a:rPr lang="en-AU" sz="2000" dirty="0" smtClean="0">
                <a:latin typeface="Helvetica" pitchFamily="34" charset="0"/>
              </a:rPr>
              <a:t>as the customer dictates their order to you either in person or over the phone</a:t>
            </a:r>
          </a:p>
          <a:p>
            <a:pPr lvl="0">
              <a:spcBef>
                <a:spcPts val="600"/>
              </a:spcBef>
              <a:spcAft>
                <a:spcPts val="1200"/>
              </a:spcAft>
            </a:pPr>
            <a:r>
              <a:rPr lang="en-AU" sz="2000" dirty="0" smtClean="0">
                <a:latin typeface="Helvetica" pitchFamily="34" charset="0"/>
              </a:rPr>
              <a:t>Completing an establishment </a:t>
            </a:r>
            <a:r>
              <a:rPr lang="en-AU" sz="2000" u="sng" dirty="0" smtClean="0">
                <a:latin typeface="Helvetica" pitchFamily="34" charset="0"/>
              </a:rPr>
              <a:t>invoice</a:t>
            </a:r>
            <a:r>
              <a:rPr lang="en-AU" sz="2000" dirty="0" smtClean="0">
                <a:latin typeface="Helvetica" pitchFamily="34" charset="0"/>
              </a:rPr>
              <a:t> that </a:t>
            </a:r>
            <a:br>
              <a:rPr lang="en-AU" sz="2000" dirty="0" smtClean="0">
                <a:latin typeface="Helvetica" pitchFamily="34" charset="0"/>
              </a:rPr>
            </a:br>
            <a:r>
              <a:rPr lang="en-AU" sz="2000" dirty="0" smtClean="0">
                <a:latin typeface="Helvetica" pitchFamily="34" charset="0"/>
              </a:rPr>
              <a:t>will accompany the supply of goods to a </a:t>
            </a:r>
            <a:br>
              <a:rPr lang="en-AU" sz="2000" dirty="0" smtClean="0">
                <a:latin typeface="Helvetica" pitchFamily="34" charset="0"/>
              </a:rPr>
            </a:br>
            <a:r>
              <a:rPr lang="en-AU" sz="2000" dirty="0" smtClean="0">
                <a:latin typeface="Helvetica" pitchFamily="34" charset="0"/>
              </a:rPr>
              <a:t>customer</a:t>
            </a:r>
          </a:p>
          <a:p>
            <a:pPr lvl="0">
              <a:spcBef>
                <a:spcPts val="600"/>
              </a:spcBef>
              <a:spcAft>
                <a:spcPts val="1200"/>
              </a:spcAft>
            </a:pPr>
            <a:r>
              <a:rPr lang="en-AU" sz="2000" dirty="0" smtClean="0">
                <a:latin typeface="Helvetica" pitchFamily="34" charset="0"/>
              </a:rPr>
              <a:t>Supplying a </a:t>
            </a:r>
            <a:r>
              <a:rPr lang="en-AU" sz="2000" u="sng" dirty="0" smtClean="0">
                <a:latin typeface="Helvetica" pitchFamily="34" charset="0"/>
              </a:rPr>
              <a:t>receipt</a:t>
            </a:r>
            <a:r>
              <a:rPr lang="en-AU" sz="2000" dirty="0" smtClean="0">
                <a:latin typeface="Helvetica" pitchFamily="34" charset="0"/>
              </a:rPr>
              <a:t> for goods bought </a:t>
            </a:r>
            <a:br>
              <a:rPr lang="en-AU" sz="2000" dirty="0" smtClean="0">
                <a:latin typeface="Helvetica" pitchFamily="34" charset="0"/>
              </a:rPr>
            </a:br>
            <a:r>
              <a:rPr lang="en-AU" sz="2000" dirty="0" smtClean="0">
                <a:latin typeface="Helvetica" pitchFamily="34" charset="0"/>
              </a:rPr>
              <a:t>and supplied</a:t>
            </a:r>
          </a:p>
          <a:p>
            <a:pPr>
              <a:spcBef>
                <a:spcPts val="600"/>
              </a:spcBef>
              <a:spcAft>
                <a:spcPts val="600"/>
              </a:spcAft>
              <a:buNone/>
            </a:pPr>
            <a:endParaRPr lang="en-AU" sz="2000" b="1" dirty="0" smtClean="0"/>
          </a:p>
          <a:p>
            <a:pPr>
              <a:spcBef>
                <a:spcPts val="600"/>
              </a:spcBef>
              <a:spcAft>
                <a:spcPts val="600"/>
              </a:spcAft>
              <a:buNone/>
            </a:pPr>
            <a:endParaRPr lang="en-AU" sz="2000" dirty="0" smtClean="0"/>
          </a:p>
          <a:p>
            <a:pPr>
              <a:spcBef>
                <a:spcPts val="600"/>
              </a:spcBef>
              <a:spcAft>
                <a:spcPts val="600"/>
              </a:spcAft>
              <a:buNone/>
            </a:pP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7" name="Picture 6" descr="00227474.jpg"/>
          <p:cNvPicPr/>
          <p:nvPr/>
        </p:nvPicPr>
        <p:blipFill>
          <a:blip r:embed="rId3" cstate="print"/>
          <a:stretch>
            <a:fillRect/>
          </a:stretch>
        </p:blipFill>
        <p:spPr>
          <a:xfrm>
            <a:off x="6804248" y="4221088"/>
            <a:ext cx="1598092" cy="1167755"/>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a:spcBef>
                <a:spcPts val="600"/>
              </a:spcBef>
              <a:spcAft>
                <a:spcPts val="600"/>
              </a:spcAft>
            </a:pPr>
            <a:r>
              <a:rPr lang="en-AU" sz="3400" b="1" dirty="0" smtClean="0">
                <a:solidFill>
                  <a:srgbClr val="FF6600"/>
                </a:solidFill>
                <a:latin typeface="Helvetica" pitchFamily="34" charset="0"/>
              </a:rPr>
              <a:t>Complete order forms, invoices and/or receipts</a:t>
            </a:r>
          </a:p>
        </p:txBody>
      </p:sp>
      <p:sp>
        <p:nvSpPr>
          <p:cNvPr id="3" name="Content Placeholder 2"/>
          <p:cNvSpPr>
            <a:spLocks noGrp="1"/>
          </p:cNvSpPr>
          <p:nvPr>
            <p:ph idx="1"/>
          </p:nvPr>
        </p:nvSpPr>
        <p:spPr>
          <a:xfrm>
            <a:off x="611560" y="1556792"/>
            <a:ext cx="7467600" cy="4920208"/>
          </a:xfrm>
        </p:spPr>
        <p:txBody>
          <a:bodyPr>
            <a:normAutofit/>
          </a:bodyPr>
          <a:lstStyle/>
          <a:p>
            <a:pPr marL="0">
              <a:spcBef>
                <a:spcPts val="600"/>
              </a:spcBef>
              <a:spcAft>
                <a:spcPts val="600"/>
              </a:spcAft>
              <a:buNone/>
            </a:pPr>
            <a:r>
              <a:rPr lang="en-AU" sz="2000" b="1" dirty="0" smtClean="0">
                <a:latin typeface="Helvetica" pitchFamily="34" charset="0"/>
              </a:rPr>
              <a:t>Order form information</a:t>
            </a:r>
          </a:p>
          <a:p>
            <a:pPr lvl="0">
              <a:spcBef>
                <a:spcPts val="600"/>
              </a:spcBef>
              <a:spcAft>
                <a:spcPts val="600"/>
              </a:spcAft>
            </a:pPr>
            <a:r>
              <a:rPr lang="en-AU" sz="2000" dirty="0" smtClean="0">
                <a:latin typeface="Helvetica" pitchFamily="34" charset="0"/>
              </a:rPr>
              <a:t>Customer details </a:t>
            </a:r>
          </a:p>
          <a:p>
            <a:pPr lvl="0">
              <a:spcBef>
                <a:spcPts val="600"/>
              </a:spcBef>
              <a:spcAft>
                <a:spcPts val="600"/>
              </a:spcAft>
            </a:pPr>
            <a:r>
              <a:rPr lang="en-AU" sz="2000" dirty="0" smtClean="0">
                <a:latin typeface="Helvetica" pitchFamily="34" charset="0"/>
              </a:rPr>
              <a:t>Delivery requirements </a:t>
            </a:r>
          </a:p>
          <a:p>
            <a:pPr lvl="0">
              <a:spcBef>
                <a:spcPts val="600"/>
              </a:spcBef>
              <a:spcAft>
                <a:spcPts val="600"/>
              </a:spcAft>
            </a:pPr>
            <a:r>
              <a:rPr lang="en-AU" sz="2000" dirty="0" smtClean="0">
                <a:latin typeface="Helvetica" pitchFamily="34" charset="0"/>
              </a:rPr>
              <a:t>Payment details </a:t>
            </a:r>
          </a:p>
          <a:p>
            <a:pPr lvl="0">
              <a:spcBef>
                <a:spcPts val="600"/>
              </a:spcBef>
              <a:spcAft>
                <a:spcPts val="600"/>
              </a:spcAft>
            </a:pPr>
            <a:r>
              <a:rPr lang="en-AU" sz="2000" dirty="0" smtClean="0">
                <a:latin typeface="Helvetica" pitchFamily="34" charset="0"/>
              </a:rPr>
              <a:t>Product description </a:t>
            </a:r>
          </a:p>
          <a:p>
            <a:pPr lvl="0">
              <a:spcBef>
                <a:spcPts val="600"/>
              </a:spcBef>
              <a:spcAft>
                <a:spcPts val="600"/>
              </a:spcAft>
            </a:pPr>
            <a:r>
              <a:rPr lang="en-AU" sz="2000" dirty="0" smtClean="0">
                <a:latin typeface="Helvetica" pitchFamily="34" charset="0"/>
              </a:rPr>
              <a:t>Quantities involved</a:t>
            </a:r>
          </a:p>
          <a:p>
            <a:pPr lvl="0">
              <a:spcBef>
                <a:spcPts val="600"/>
              </a:spcBef>
              <a:spcAft>
                <a:spcPts val="600"/>
              </a:spcAft>
            </a:pPr>
            <a:r>
              <a:rPr lang="en-AU" sz="2000" dirty="0" smtClean="0">
                <a:latin typeface="Helvetica" pitchFamily="34" charset="0"/>
              </a:rPr>
              <a:t>Any special requests </a:t>
            </a:r>
          </a:p>
          <a:p>
            <a:pPr lvl="0">
              <a:spcBef>
                <a:spcPts val="600"/>
              </a:spcBef>
              <a:spcAft>
                <a:spcPts val="600"/>
              </a:spcAft>
            </a:pPr>
            <a:r>
              <a:rPr lang="en-AU" sz="2000" dirty="0" smtClean="0">
                <a:latin typeface="Helvetica" pitchFamily="34" charset="0"/>
              </a:rPr>
              <a:t>Name of the person recording the order </a:t>
            </a:r>
          </a:p>
          <a:p>
            <a:pPr lvl="0">
              <a:spcBef>
                <a:spcPts val="600"/>
              </a:spcBef>
              <a:spcAft>
                <a:spcPts val="600"/>
              </a:spcAft>
            </a:pPr>
            <a:r>
              <a:rPr lang="en-AU" sz="2000" dirty="0" smtClean="0">
                <a:latin typeface="Helvetica" pitchFamily="34" charset="0"/>
              </a:rPr>
              <a:t>Declaration that purchaser is over 18 years of age</a:t>
            </a:r>
          </a:p>
          <a:p>
            <a:pPr marL="0">
              <a:spcBef>
                <a:spcPts val="600"/>
              </a:spcBef>
              <a:spcAft>
                <a:spcPts val="600"/>
              </a:spcAft>
              <a:buNone/>
            </a:pPr>
            <a:endParaRPr lang="en-AU" sz="2000" b="1" dirty="0" smtClean="0">
              <a:latin typeface="Helvetica" pitchFamily="34" charset="0"/>
            </a:endParaRPr>
          </a:p>
          <a:p>
            <a:pPr marL="0">
              <a:spcBef>
                <a:spcPts val="600"/>
              </a:spcBef>
              <a:spcAft>
                <a:spcPts val="600"/>
              </a:spcAft>
              <a:buNone/>
            </a:pPr>
            <a:endParaRPr lang="en-AU" sz="2000" dirty="0" smtClean="0">
              <a:latin typeface="Helvetica" pitchFamily="34" charset="0"/>
            </a:endParaRPr>
          </a:p>
          <a:p>
            <a:pPr>
              <a:spcBef>
                <a:spcPts val="600"/>
              </a:spcBef>
              <a:spcAft>
                <a:spcPts val="600"/>
              </a:spcAft>
              <a:buNone/>
            </a:pPr>
            <a:endParaRPr lang="en-AU" sz="2000" b="1" dirty="0" smtClean="0"/>
          </a:p>
          <a:p>
            <a:pPr>
              <a:spcBef>
                <a:spcPts val="600"/>
              </a:spcBef>
              <a:spcAft>
                <a:spcPts val="600"/>
              </a:spcAft>
              <a:buNone/>
            </a:pPr>
            <a:endParaRPr lang="en-AU" sz="2000" dirty="0" smtClean="0"/>
          </a:p>
          <a:p>
            <a:pPr>
              <a:spcBef>
                <a:spcPts val="600"/>
              </a:spcBef>
              <a:spcAft>
                <a:spcPts val="600"/>
              </a:spcAft>
              <a:buNone/>
            </a:pP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6" name="Picture 5" descr="MP900422389[1].JPG"/>
          <p:cNvPicPr/>
          <p:nvPr/>
        </p:nvPicPr>
        <p:blipFill>
          <a:blip r:embed="rId3" cstate="print"/>
          <a:stretch>
            <a:fillRect/>
          </a:stretch>
        </p:blipFill>
        <p:spPr>
          <a:xfrm>
            <a:off x="6990159" y="3470126"/>
            <a:ext cx="1398265" cy="1831082"/>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a:spcBef>
                <a:spcPts val="600"/>
              </a:spcBef>
              <a:spcAft>
                <a:spcPts val="600"/>
              </a:spcAft>
            </a:pPr>
            <a:r>
              <a:rPr lang="en-AU" sz="3400" b="1" dirty="0" smtClean="0">
                <a:solidFill>
                  <a:srgbClr val="FF6600"/>
                </a:solidFill>
                <a:latin typeface="Helvetica" pitchFamily="34" charset="0"/>
              </a:rPr>
              <a:t>Complete order forms, invoices and/or receipts</a:t>
            </a: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400"/>
              </a:spcBef>
              <a:spcAft>
                <a:spcPts val="600"/>
              </a:spcAft>
              <a:buNone/>
            </a:pPr>
            <a:r>
              <a:rPr lang="en-AU" sz="2000" b="1" dirty="0" smtClean="0">
                <a:latin typeface="Helvetica" pitchFamily="34" charset="0"/>
              </a:rPr>
              <a:t>Invoice information</a:t>
            </a:r>
          </a:p>
          <a:p>
            <a:pPr lvl="0">
              <a:spcBef>
                <a:spcPts val="400"/>
              </a:spcBef>
              <a:spcAft>
                <a:spcPts val="600"/>
              </a:spcAft>
            </a:pPr>
            <a:r>
              <a:rPr lang="en-AU" sz="2000" dirty="0" smtClean="0">
                <a:latin typeface="Helvetica" pitchFamily="34" charset="0"/>
              </a:rPr>
              <a:t>Information about the supplier </a:t>
            </a:r>
          </a:p>
          <a:p>
            <a:pPr lvl="0">
              <a:spcBef>
                <a:spcPts val="400"/>
              </a:spcBef>
              <a:spcAft>
                <a:spcPts val="600"/>
              </a:spcAft>
            </a:pPr>
            <a:r>
              <a:rPr lang="en-AU" sz="2000" dirty="0" smtClean="0">
                <a:latin typeface="Helvetica" pitchFamily="34" charset="0"/>
              </a:rPr>
              <a:t>Information about the customer</a:t>
            </a:r>
          </a:p>
          <a:p>
            <a:pPr lvl="0">
              <a:spcBef>
                <a:spcPts val="400"/>
              </a:spcBef>
              <a:spcAft>
                <a:spcPts val="600"/>
              </a:spcAft>
            </a:pPr>
            <a:r>
              <a:rPr lang="en-AU" sz="2000" dirty="0" smtClean="0">
                <a:latin typeface="Helvetica" pitchFamily="34" charset="0"/>
              </a:rPr>
              <a:t>A reference number</a:t>
            </a:r>
          </a:p>
          <a:p>
            <a:pPr lvl="0">
              <a:spcBef>
                <a:spcPts val="400"/>
              </a:spcBef>
              <a:spcAft>
                <a:spcPts val="600"/>
              </a:spcAft>
            </a:pPr>
            <a:r>
              <a:rPr lang="en-AU" sz="2000" dirty="0" smtClean="0">
                <a:latin typeface="Helvetica" pitchFamily="34" charset="0"/>
              </a:rPr>
              <a:t>Date</a:t>
            </a:r>
          </a:p>
          <a:p>
            <a:pPr lvl="0">
              <a:spcBef>
                <a:spcPts val="400"/>
              </a:spcBef>
              <a:spcAft>
                <a:spcPts val="600"/>
              </a:spcAft>
            </a:pPr>
            <a:r>
              <a:rPr lang="en-AU" sz="2000" dirty="0" smtClean="0">
                <a:latin typeface="Helvetica" pitchFamily="34" charset="0"/>
              </a:rPr>
              <a:t>Goods supplied </a:t>
            </a:r>
          </a:p>
          <a:p>
            <a:pPr lvl="0">
              <a:spcBef>
                <a:spcPts val="400"/>
              </a:spcBef>
              <a:spcAft>
                <a:spcPts val="600"/>
              </a:spcAft>
            </a:pPr>
            <a:r>
              <a:rPr lang="en-AU" sz="2000" dirty="0" smtClean="0">
                <a:latin typeface="Helvetica" pitchFamily="34" charset="0"/>
              </a:rPr>
              <a:t>Prices </a:t>
            </a:r>
          </a:p>
          <a:p>
            <a:pPr lvl="0">
              <a:spcBef>
                <a:spcPts val="400"/>
              </a:spcBef>
              <a:spcAft>
                <a:spcPts val="600"/>
              </a:spcAft>
            </a:pPr>
            <a:r>
              <a:rPr lang="en-AU" sz="2000" dirty="0" smtClean="0">
                <a:latin typeface="Helvetica" pitchFamily="34" charset="0"/>
              </a:rPr>
              <a:t>Terms of trade </a:t>
            </a:r>
          </a:p>
          <a:p>
            <a:pPr lvl="0">
              <a:spcBef>
                <a:spcPts val="400"/>
              </a:spcBef>
              <a:spcAft>
                <a:spcPts val="600"/>
              </a:spcAft>
            </a:pPr>
            <a:r>
              <a:rPr lang="en-AU" sz="2000" dirty="0" smtClean="0">
                <a:latin typeface="Helvetica" pitchFamily="34" charset="0"/>
              </a:rPr>
              <a:t>Additional charges </a:t>
            </a:r>
          </a:p>
          <a:p>
            <a:pPr>
              <a:spcBef>
                <a:spcPts val="400"/>
              </a:spcBef>
              <a:spcAft>
                <a:spcPts val="600"/>
              </a:spcAft>
            </a:pPr>
            <a:r>
              <a:rPr lang="en-AU" sz="2000" dirty="0" smtClean="0">
                <a:latin typeface="Helvetica" pitchFamily="34" charset="0"/>
              </a:rPr>
              <a:t>Service tax inclusions</a:t>
            </a:r>
          </a:p>
          <a:p>
            <a:pPr marL="0">
              <a:spcBef>
                <a:spcPts val="400"/>
              </a:spcBef>
              <a:spcAft>
                <a:spcPts val="600"/>
              </a:spcAft>
              <a:buNone/>
            </a:pPr>
            <a:endParaRPr lang="en-AU" sz="2000" b="1" dirty="0" smtClean="0">
              <a:latin typeface="Helvetica" pitchFamily="34" charset="0"/>
            </a:endParaRPr>
          </a:p>
          <a:p>
            <a:pPr marL="0">
              <a:spcBef>
                <a:spcPts val="400"/>
              </a:spcBef>
              <a:spcAft>
                <a:spcPts val="600"/>
              </a:spcAft>
              <a:buNone/>
            </a:pPr>
            <a:endParaRPr lang="en-AU" sz="2000" dirty="0" smtClean="0">
              <a:latin typeface="Helvetica" pitchFamily="34" charset="0"/>
            </a:endParaRPr>
          </a:p>
          <a:p>
            <a:pPr>
              <a:spcBef>
                <a:spcPts val="400"/>
              </a:spcBef>
              <a:spcAft>
                <a:spcPts val="600"/>
              </a:spcAft>
              <a:buNone/>
            </a:pPr>
            <a:endParaRPr lang="en-AU" sz="2000" b="1" dirty="0" smtClean="0"/>
          </a:p>
          <a:p>
            <a:pPr>
              <a:spcBef>
                <a:spcPts val="400"/>
              </a:spcBef>
              <a:spcAft>
                <a:spcPts val="600"/>
              </a:spcAft>
              <a:buNone/>
            </a:pPr>
            <a:endParaRPr lang="en-AU" sz="2000" dirty="0" smtClean="0"/>
          </a:p>
          <a:p>
            <a:pPr>
              <a:spcBef>
                <a:spcPts val="400"/>
              </a:spcBef>
              <a:spcAft>
                <a:spcPts val="600"/>
              </a:spcAft>
              <a:buNone/>
            </a:pP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7" name="Picture 6" descr="00409672.jpg"/>
          <p:cNvPicPr/>
          <p:nvPr/>
        </p:nvPicPr>
        <p:blipFill>
          <a:blip r:embed="rId3" cstate="print"/>
          <a:stretch>
            <a:fillRect/>
          </a:stretch>
        </p:blipFill>
        <p:spPr>
          <a:xfrm>
            <a:off x="6948264" y="3789040"/>
            <a:ext cx="1485900" cy="1485900"/>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a:spcBef>
                <a:spcPts val="600"/>
              </a:spcBef>
              <a:spcAft>
                <a:spcPts val="600"/>
              </a:spcAft>
            </a:pPr>
            <a:r>
              <a:rPr lang="en-AU" sz="3400" b="1" dirty="0" smtClean="0">
                <a:solidFill>
                  <a:srgbClr val="FF6600"/>
                </a:solidFill>
                <a:latin typeface="Helvetica" pitchFamily="34" charset="0"/>
              </a:rPr>
              <a:t>Complete order forms, invoices and/or receipts</a:t>
            </a:r>
          </a:p>
        </p:txBody>
      </p:sp>
      <p:sp>
        <p:nvSpPr>
          <p:cNvPr id="3" name="Content Placeholder 2"/>
          <p:cNvSpPr>
            <a:spLocks noGrp="1"/>
          </p:cNvSpPr>
          <p:nvPr>
            <p:ph idx="1"/>
          </p:nvPr>
        </p:nvSpPr>
        <p:spPr>
          <a:xfrm>
            <a:off x="611560" y="1556792"/>
            <a:ext cx="7560840" cy="5301208"/>
          </a:xfrm>
        </p:spPr>
        <p:txBody>
          <a:bodyPr>
            <a:normAutofit/>
          </a:bodyPr>
          <a:lstStyle/>
          <a:p>
            <a:pPr marL="0">
              <a:spcBef>
                <a:spcPts val="600"/>
              </a:spcBef>
              <a:spcAft>
                <a:spcPts val="1200"/>
              </a:spcAft>
              <a:buNone/>
            </a:pPr>
            <a:r>
              <a:rPr lang="en-AU" sz="2200" b="1" dirty="0" smtClean="0">
                <a:latin typeface="Helvetica" pitchFamily="34" charset="0"/>
              </a:rPr>
              <a:t>Receipts</a:t>
            </a:r>
          </a:p>
          <a:p>
            <a:pPr>
              <a:spcBef>
                <a:spcPts val="600"/>
              </a:spcBef>
              <a:spcAft>
                <a:spcPts val="1200"/>
              </a:spcAft>
            </a:pPr>
            <a:r>
              <a:rPr lang="en-AU" sz="2200" dirty="0" smtClean="0">
                <a:latin typeface="Helvetica" pitchFamily="34" charset="0"/>
              </a:rPr>
              <a:t>Customer may require a register receipt or written receipt </a:t>
            </a:r>
          </a:p>
          <a:p>
            <a:pPr>
              <a:spcBef>
                <a:spcPts val="600"/>
              </a:spcBef>
              <a:spcAft>
                <a:spcPts val="1200"/>
              </a:spcAft>
            </a:pPr>
            <a:r>
              <a:rPr lang="en-AU" sz="2200" dirty="0" smtClean="0">
                <a:latin typeface="Helvetica" pitchFamily="34" charset="0"/>
              </a:rPr>
              <a:t>Proof of purchase </a:t>
            </a:r>
          </a:p>
          <a:p>
            <a:pPr>
              <a:spcBef>
                <a:spcPts val="600"/>
              </a:spcBef>
              <a:spcAft>
                <a:spcPts val="1200"/>
              </a:spcAft>
            </a:pPr>
            <a:r>
              <a:rPr lang="en-AU" sz="2200" dirty="0" smtClean="0">
                <a:latin typeface="Helvetica" pitchFamily="34" charset="0"/>
              </a:rPr>
              <a:t>This written receipt details the goods </a:t>
            </a:r>
            <a:br>
              <a:rPr lang="en-AU" sz="2200" dirty="0" smtClean="0">
                <a:latin typeface="Helvetica" pitchFamily="34" charset="0"/>
              </a:rPr>
            </a:br>
            <a:r>
              <a:rPr lang="en-AU" sz="2200" dirty="0" smtClean="0">
                <a:latin typeface="Helvetica" pitchFamily="34" charset="0"/>
              </a:rPr>
              <a:t>bought and payment method</a:t>
            </a:r>
            <a:endParaRPr lang="en-AU" sz="2200" b="1"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600"/>
              </a:spcAft>
              <a:buNone/>
            </a:pPr>
            <a:endParaRPr lang="en-AU" sz="2200" b="1" dirty="0" smtClean="0"/>
          </a:p>
          <a:p>
            <a:pPr>
              <a:spcBef>
                <a:spcPts val="600"/>
              </a:spcBef>
              <a:spcAft>
                <a:spcPts val="600"/>
              </a:spcAft>
              <a:buNone/>
            </a:pPr>
            <a:endParaRPr lang="en-AU" sz="2200" dirty="0" smtClean="0"/>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6" name="Picture 5" descr="MP900309626.JPG"/>
          <p:cNvPicPr/>
          <p:nvPr/>
        </p:nvPicPr>
        <p:blipFill>
          <a:blip r:embed="rId3" cstate="print"/>
          <a:stretch>
            <a:fillRect/>
          </a:stretch>
        </p:blipFill>
        <p:spPr>
          <a:xfrm>
            <a:off x="7164288" y="3501008"/>
            <a:ext cx="1254755" cy="1761356"/>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pPr>
              <a:spcBef>
                <a:spcPts val="600"/>
              </a:spcBef>
              <a:spcAft>
                <a:spcPts val="600"/>
              </a:spcAft>
            </a:pPr>
            <a:r>
              <a:rPr lang="en-AU" sz="3400" b="1" dirty="0" smtClean="0">
                <a:solidFill>
                  <a:srgbClr val="FF6600"/>
                </a:solidFill>
                <a:latin typeface="Helvetica" pitchFamily="34" charset="0"/>
              </a:rPr>
              <a:t>Operate point of sale equipment</a:t>
            </a: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Types of POS equipment</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Commonly found items of equipment include:</a:t>
            </a:r>
          </a:p>
          <a:p>
            <a:pPr lvl="0">
              <a:spcBef>
                <a:spcPts val="600"/>
              </a:spcBef>
              <a:spcAft>
                <a:spcPts val="1200"/>
              </a:spcAft>
            </a:pPr>
            <a:r>
              <a:rPr lang="en-AU" sz="2200" dirty="0" smtClean="0">
                <a:latin typeface="Helvetica" pitchFamily="34" charset="0"/>
              </a:rPr>
              <a:t>Fixed or hand held bar-code reader or scanner</a:t>
            </a:r>
          </a:p>
          <a:p>
            <a:pPr lvl="0">
              <a:spcBef>
                <a:spcPts val="600"/>
              </a:spcBef>
              <a:spcAft>
                <a:spcPts val="1200"/>
              </a:spcAft>
            </a:pPr>
            <a:r>
              <a:rPr lang="en-AU" sz="2200" dirty="0" smtClean="0">
                <a:latin typeface="Helvetica" pitchFamily="34" charset="0"/>
              </a:rPr>
              <a:t>Cash register – also known as a POS terminal</a:t>
            </a:r>
          </a:p>
          <a:p>
            <a:pPr lvl="0">
              <a:spcBef>
                <a:spcPts val="600"/>
              </a:spcBef>
              <a:spcAft>
                <a:spcPts val="1200"/>
              </a:spcAft>
            </a:pPr>
            <a:r>
              <a:rPr lang="en-AU" sz="2200" dirty="0" smtClean="0">
                <a:latin typeface="Helvetica" pitchFamily="34" charset="0"/>
              </a:rPr>
              <a:t>EFTPOS terminals</a:t>
            </a:r>
          </a:p>
          <a:p>
            <a:pPr lvl="0">
              <a:spcBef>
                <a:spcPts val="600"/>
              </a:spcBef>
              <a:spcAft>
                <a:spcPts val="1200"/>
              </a:spcAft>
            </a:pPr>
            <a:r>
              <a:rPr lang="en-AU" sz="2200" dirty="0" smtClean="0">
                <a:latin typeface="Helvetica" pitchFamily="34" charset="0"/>
              </a:rPr>
              <a:t>Credit card processing equipment </a:t>
            </a:r>
          </a:p>
          <a:p>
            <a:pPr lvl="0">
              <a:spcBef>
                <a:spcPts val="600"/>
              </a:spcBef>
              <a:spcAft>
                <a:spcPts val="1200"/>
              </a:spcAft>
            </a:pPr>
            <a:r>
              <a:rPr lang="en-AU" sz="2200" dirty="0" smtClean="0">
                <a:latin typeface="Helvetica" pitchFamily="34" charset="0"/>
              </a:rPr>
              <a:t>Cash drawer</a:t>
            </a:r>
          </a:p>
          <a:p>
            <a:pPr marL="0">
              <a:spcBef>
                <a:spcPts val="600"/>
              </a:spcBef>
              <a:spcAft>
                <a:spcPts val="1200"/>
              </a:spcAft>
              <a:buNone/>
            </a:pPr>
            <a:endParaRPr lang="en-AU" sz="2200" b="1"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600"/>
              </a:spcAft>
              <a:buNone/>
            </a:pPr>
            <a:endParaRPr lang="en-AU" sz="2400" b="1" dirty="0" smtClean="0"/>
          </a:p>
          <a:p>
            <a:pPr>
              <a:spcBef>
                <a:spcPts val="600"/>
              </a:spcBef>
              <a:spcAft>
                <a:spcPts val="600"/>
              </a:spcAft>
              <a:buNone/>
            </a:pPr>
            <a:endParaRPr lang="en-AU" sz="2400" dirty="0" smtClean="0"/>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7" name="Picture 6" descr="RetailPhoto Shoot 2007[1].108.JPG"/>
          <p:cNvPicPr/>
          <p:nvPr/>
        </p:nvPicPr>
        <p:blipFill>
          <a:blip r:embed="rId3" cstate="print"/>
          <a:stretch>
            <a:fillRect/>
          </a:stretch>
        </p:blipFill>
        <p:spPr>
          <a:xfrm>
            <a:off x="6804248" y="3501008"/>
            <a:ext cx="1544186" cy="1850132"/>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pPr>
              <a:spcBef>
                <a:spcPts val="600"/>
              </a:spcBef>
              <a:spcAft>
                <a:spcPts val="600"/>
              </a:spcAft>
            </a:pPr>
            <a:r>
              <a:rPr lang="en-AU" sz="3400" b="1" dirty="0" smtClean="0">
                <a:solidFill>
                  <a:srgbClr val="FF6600"/>
                </a:solidFill>
                <a:latin typeface="Helvetica" pitchFamily="34" charset="0"/>
              </a:rPr>
              <a:t>Operate point of sale equipment</a:t>
            </a: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600"/>
              </a:spcAft>
              <a:buNone/>
            </a:pPr>
            <a:r>
              <a:rPr lang="en-AU" sz="2200" b="1" dirty="0" smtClean="0">
                <a:latin typeface="Helvetica" pitchFamily="34" charset="0"/>
              </a:rPr>
              <a:t>House rules and requirements</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Items must be registered to a specific department </a:t>
            </a:r>
          </a:p>
          <a:p>
            <a:pPr lvl="0">
              <a:spcBef>
                <a:spcPts val="600"/>
              </a:spcBef>
              <a:spcAft>
                <a:spcPts val="600"/>
              </a:spcAft>
            </a:pPr>
            <a:r>
              <a:rPr lang="en-AU" sz="2200" dirty="0" smtClean="0">
                <a:latin typeface="Helvetica" pitchFamily="34" charset="0"/>
              </a:rPr>
              <a:t>Only management may have access to the register security keys</a:t>
            </a:r>
          </a:p>
          <a:p>
            <a:pPr lvl="0">
              <a:spcBef>
                <a:spcPts val="600"/>
              </a:spcBef>
              <a:spcAft>
                <a:spcPts val="600"/>
              </a:spcAft>
            </a:pPr>
            <a:r>
              <a:rPr lang="en-AU" sz="2200" dirty="0" smtClean="0">
                <a:latin typeface="Helvetica" pitchFamily="34" charset="0"/>
              </a:rPr>
              <a:t>The cash register drawer must be kept locked when no-one is in attendance </a:t>
            </a:r>
          </a:p>
          <a:p>
            <a:pPr lvl="0">
              <a:spcBef>
                <a:spcPts val="600"/>
              </a:spcBef>
              <a:spcAft>
                <a:spcPts val="600"/>
              </a:spcAft>
            </a:pPr>
            <a:r>
              <a:rPr lang="en-AU" sz="2200" dirty="0" smtClean="0">
                <a:latin typeface="Helvetica" pitchFamily="34" charset="0"/>
              </a:rPr>
              <a:t>Each staff member may have their personal </a:t>
            </a:r>
            <a:br>
              <a:rPr lang="en-AU" sz="2200" dirty="0" smtClean="0">
                <a:latin typeface="Helvetica" pitchFamily="34" charset="0"/>
              </a:rPr>
            </a:br>
            <a:r>
              <a:rPr lang="en-AU" sz="2200" dirty="0" smtClean="0">
                <a:latin typeface="Helvetica" pitchFamily="34" charset="0"/>
              </a:rPr>
              <a:t>operator number, code or ‘swipe bands’</a:t>
            </a:r>
          </a:p>
          <a:p>
            <a:pPr lvl="0">
              <a:spcBef>
                <a:spcPts val="600"/>
              </a:spcBef>
              <a:spcAft>
                <a:spcPts val="600"/>
              </a:spcAft>
            </a:pPr>
            <a:r>
              <a:rPr lang="en-AU" sz="2200" dirty="0" smtClean="0">
                <a:latin typeface="Helvetica" pitchFamily="34" charset="0"/>
              </a:rPr>
              <a:t>No ‘No Sales’ are allowed to be rung </a:t>
            </a:r>
          </a:p>
          <a:p>
            <a:pPr lvl="0">
              <a:spcBef>
                <a:spcPts val="600"/>
              </a:spcBef>
              <a:spcAft>
                <a:spcPts val="600"/>
              </a:spcAft>
            </a:pPr>
            <a:r>
              <a:rPr lang="en-AU" sz="2200" dirty="0" smtClean="0">
                <a:latin typeface="Helvetica" pitchFamily="34" charset="0"/>
              </a:rPr>
              <a:t>No change is to be given out for any purposes</a:t>
            </a:r>
          </a:p>
          <a:p>
            <a:pPr>
              <a:spcBef>
                <a:spcPts val="600"/>
              </a:spcBef>
              <a:spcAft>
                <a:spcPts val="600"/>
              </a:spcAft>
            </a:pPr>
            <a:r>
              <a:rPr lang="en-AU" sz="2200" dirty="0" smtClean="0">
                <a:latin typeface="Helvetica" pitchFamily="34" charset="0"/>
              </a:rPr>
              <a:t>Established floor limit for credit cards </a:t>
            </a:r>
            <a:endParaRPr lang="en-AU" sz="2200" b="1"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600"/>
              </a:spcAft>
              <a:buNone/>
            </a:pPr>
            <a:endParaRPr lang="en-AU" sz="2400" b="1" dirty="0" smtClean="0"/>
          </a:p>
          <a:p>
            <a:pPr>
              <a:spcBef>
                <a:spcPts val="600"/>
              </a:spcBef>
              <a:spcAft>
                <a:spcPts val="600"/>
              </a:spcAft>
              <a:buNone/>
            </a:pPr>
            <a:endParaRPr lang="en-AU" sz="2400" dirty="0" smtClean="0"/>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6" name="Picture 5" descr="MP900401039.JPG"/>
          <p:cNvPicPr/>
          <p:nvPr/>
        </p:nvPicPr>
        <p:blipFill>
          <a:blip r:embed="rId3" cstate="print"/>
          <a:stretch>
            <a:fillRect/>
          </a:stretch>
        </p:blipFill>
        <p:spPr>
          <a:xfrm>
            <a:off x="7164288" y="3789040"/>
            <a:ext cx="1215951" cy="1464742"/>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pPr>
              <a:spcBef>
                <a:spcPts val="600"/>
              </a:spcBef>
              <a:spcAft>
                <a:spcPts val="600"/>
              </a:spcAft>
            </a:pPr>
            <a:r>
              <a:rPr lang="en-AU" sz="3400" b="1" dirty="0" smtClean="0">
                <a:solidFill>
                  <a:srgbClr val="FF6600"/>
                </a:solidFill>
                <a:latin typeface="Helvetica" pitchFamily="34" charset="0"/>
              </a:rPr>
              <a:t>POS materials and consumables</a:t>
            </a:r>
          </a:p>
        </p:txBody>
      </p:sp>
      <p:sp>
        <p:nvSpPr>
          <p:cNvPr id="3" name="Content Placeholder 2"/>
          <p:cNvSpPr>
            <a:spLocks noGrp="1"/>
          </p:cNvSpPr>
          <p:nvPr>
            <p:ph idx="1"/>
          </p:nvPr>
        </p:nvSpPr>
        <p:spPr>
          <a:xfrm>
            <a:off x="611560" y="1268760"/>
            <a:ext cx="7467600" cy="5589240"/>
          </a:xfrm>
        </p:spPr>
        <p:txBody>
          <a:bodyPr>
            <a:normAutofit/>
          </a:bodyPr>
          <a:lstStyle/>
          <a:p>
            <a:pPr marL="0">
              <a:spcBef>
                <a:spcPts val="600"/>
              </a:spcBef>
              <a:spcAft>
                <a:spcPts val="1200"/>
              </a:spcAft>
              <a:buNone/>
            </a:pPr>
            <a:r>
              <a:rPr lang="en-AU" sz="2200" b="1" dirty="0" smtClean="0">
                <a:latin typeface="Helvetica" pitchFamily="34" charset="0"/>
              </a:rPr>
              <a:t>Ensure all necessary material and consumables are available</a:t>
            </a:r>
          </a:p>
          <a:p>
            <a:pPr lvl="0">
              <a:spcBef>
                <a:spcPts val="600"/>
              </a:spcBef>
              <a:spcAft>
                <a:spcPts val="1200"/>
              </a:spcAft>
            </a:pPr>
            <a:r>
              <a:rPr lang="en-AU" sz="2200" dirty="0" smtClean="0">
                <a:latin typeface="Helvetica" pitchFamily="34" charset="0"/>
              </a:rPr>
              <a:t>What are the various types of materials and consumables that are required to ensure POS equipment can operate in an effective manner?</a:t>
            </a:r>
          </a:p>
          <a:p>
            <a:pPr lvl="0">
              <a:spcBef>
                <a:spcPts val="600"/>
              </a:spcBef>
              <a:spcAft>
                <a:spcPts val="600"/>
              </a:spcAft>
            </a:pPr>
            <a:endParaRPr lang="en-AU" sz="2200" b="1"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600"/>
              </a:spcAft>
              <a:buNone/>
            </a:pPr>
            <a:endParaRPr lang="en-AU" sz="2400" b="1" dirty="0" smtClean="0"/>
          </a:p>
          <a:p>
            <a:pPr>
              <a:spcBef>
                <a:spcPts val="600"/>
              </a:spcBef>
              <a:spcAft>
                <a:spcPts val="600"/>
              </a:spcAft>
              <a:buNone/>
            </a:pPr>
            <a:endParaRPr lang="en-AU" sz="2400" dirty="0" smtClean="0"/>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7" name="Picture 6" descr="IMG_2007.jpg"/>
          <p:cNvPicPr/>
          <p:nvPr/>
        </p:nvPicPr>
        <p:blipFill>
          <a:blip r:embed="rId3" cstate="print"/>
          <a:stretch>
            <a:fillRect/>
          </a:stretch>
        </p:blipFill>
        <p:spPr>
          <a:xfrm>
            <a:off x="6660232" y="3933800"/>
            <a:ext cx="1724025" cy="1295400"/>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pPr>
              <a:spcBef>
                <a:spcPts val="600"/>
              </a:spcBef>
              <a:spcAft>
                <a:spcPts val="600"/>
              </a:spcAft>
            </a:pPr>
            <a:r>
              <a:rPr lang="en-AU" sz="3400" b="1" dirty="0" smtClean="0">
                <a:solidFill>
                  <a:srgbClr val="FF6600"/>
                </a:solidFill>
                <a:latin typeface="Helvetica" pitchFamily="34" charset="0"/>
              </a:rPr>
              <a:t>Maintain cash float</a:t>
            </a: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A cash float</a:t>
            </a:r>
          </a:p>
          <a:p>
            <a:pPr marL="0">
              <a:spcBef>
                <a:spcPts val="600"/>
              </a:spcBef>
              <a:spcAft>
                <a:spcPts val="1200"/>
              </a:spcAft>
              <a:buNone/>
            </a:pPr>
            <a:r>
              <a:rPr lang="en-AU" sz="2200" dirty="0" smtClean="0">
                <a:latin typeface="Helvetica" pitchFamily="34" charset="0"/>
              </a:rPr>
              <a:t>A cash float, also known as ‘the float’ is the amount of money that an establishment has deemed appropriate to commence the day’s trading for a cash register/point-of-sale (POS) terminal. </a:t>
            </a:r>
          </a:p>
          <a:p>
            <a:pPr lvl="0">
              <a:spcBef>
                <a:spcPts val="600"/>
              </a:spcBef>
              <a:spcAft>
                <a:spcPts val="1200"/>
              </a:spcAft>
              <a:buNone/>
            </a:pPr>
            <a:r>
              <a:rPr lang="en-AU" sz="2200" dirty="0" smtClean="0">
                <a:latin typeface="Helvetica" pitchFamily="34" charset="0"/>
              </a:rPr>
              <a:t>What are the steps associated with:</a:t>
            </a:r>
          </a:p>
          <a:p>
            <a:pPr>
              <a:spcBef>
                <a:spcPts val="600"/>
              </a:spcBef>
              <a:spcAft>
                <a:spcPts val="1200"/>
              </a:spcAft>
            </a:pPr>
            <a:r>
              <a:rPr lang="en-AU" sz="2200" dirty="0" smtClean="0">
                <a:latin typeface="Helvetica" pitchFamily="34" charset="0"/>
              </a:rPr>
              <a:t>Receiving and accurately checking a cash float</a:t>
            </a:r>
          </a:p>
          <a:p>
            <a:pPr>
              <a:spcBef>
                <a:spcPts val="600"/>
              </a:spcBef>
              <a:spcAft>
                <a:spcPts val="1200"/>
              </a:spcAft>
            </a:pPr>
            <a:r>
              <a:rPr lang="en-AU" sz="2200" dirty="0" smtClean="0">
                <a:latin typeface="Helvetica" pitchFamily="34" charset="0"/>
              </a:rPr>
              <a:t>Counting a cash float</a:t>
            </a:r>
          </a:p>
          <a:p>
            <a:pPr>
              <a:spcBef>
                <a:spcPts val="600"/>
              </a:spcBef>
              <a:spcAft>
                <a:spcPts val="600"/>
              </a:spcAft>
              <a:buNone/>
            </a:pPr>
            <a:endParaRPr lang="en-AU" sz="2400" dirty="0" smtClean="0"/>
          </a:p>
          <a:p>
            <a:pPr lvl="0">
              <a:spcBef>
                <a:spcPts val="600"/>
              </a:spcBef>
              <a:spcAft>
                <a:spcPts val="600"/>
              </a:spcAft>
              <a:buNone/>
            </a:pPr>
            <a:endParaRPr lang="en-AU" sz="2200" b="1" dirty="0" smtClean="0">
              <a:latin typeface="Helvetica" pitchFamily="34" charset="0"/>
            </a:endParaRPr>
          </a:p>
          <a:p>
            <a:pPr lvl="0">
              <a:spcBef>
                <a:spcPts val="600"/>
              </a:spcBef>
              <a:spcAft>
                <a:spcPts val="600"/>
              </a:spcAft>
              <a:buNone/>
            </a:pPr>
            <a:endParaRPr lang="en-AU" sz="2200" b="1"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600"/>
              </a:spcAft>
              <a:buNone/>
            </a:pPr>
            <a:endParaRPr lang="en-AU" sz="2400" b="1" dirty="0" smtClean="0"/>
          </a:p>
          <a:p>
            <a:pPr>
              <a:spcBef>
                <a:spcPts val="600"/>
              </a:spcBef>
              <a:spcAft>
                <a:spcPts val="600"/>
              </a:spcAft>
              <a:buNone/>
            </a:pPr>
            <a:endParaRPr lang="en-AU" sz="2400" dirty="0" smtClean="0"/>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6" name="Picture 5" descr="How to Determine Float for Cash thumbnail"/>
          <p:cNvPicPr/>
          <p:nvPr/>
        </p:nvPicPr>
        <p:blipFill>
          <a:blip r:embed="rId3" cstate="print"/>
          <a:srcRect/>
          <a:stretch>
            <a:fillRect/>
          </a:stretch>
        </p:blipFill>
        <p:spPr bwMode="auto">
          <a:xfrm>
            <a:off x="7359724" y="3645024"/>
            <a:ext cx="1028700" cy="15525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pPr>
              <a:spcBef>
                <a:spcPts val="600"/>
              </a:spcBef>
              <a:spcAft>
                <a:spcPts val="600"/>
              </a:spcAft>
            </a:pPr>
            <a:r>
              <a:rPr lang="en-AU" sz="3400" b="1" dirty="0" smtClean="0">
                <a:solidFill>
                  <a:srgbClr val="FF6600"/>
                </a:solidFill>
                <a:latin typeface="Helvetica" pitchFamily="34" charset="0"/>
              </a:rPr>
              <a:t>Record transactions</a:t>
            </a: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Types of transactions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Cash</a:t>
            </a:r>
          </a:p>
          <a:p>
            <a:pPr lvl="0">
              <a:spcBef>
                <a:spcPts val="600"/>
              </a:spcBef>
              <a:spcAft>
                <a:spcPts val="1200"/>
              </a:spcAft>
            </a:pPr>
            <a:r>
              <a:rPr lang="en-AU" sz="2200" dirty="0" smtClean="0">
                <a:latin typeface="Helvetica" pitchFamily="34" charset="0"/>
              </a:rPr>
              <a:t>Cheque</a:t>
            </a:r>
          </a:p>
          <a:p>
            <a:pPr lvl="0">
              <a:spcBef>
                <a:spcPts val="600"/>
              </a:spcBef>
              <a:spcAft>
                <a:spcPts val="1200"/>
              </a:spcAft>
            </a:pPr>
            <a:r>
              <a:rPr lang="en-AU" sz="2200" dirty="0" smtClean="0">
                <a:latin typeface="Helvetica" pitchFamily="34" charset="0"/>
              </a:rPr>
              <a:t>Credit cards</a:t>
            </a:r>
          </a:p>
          <a:p>
            <a:pPr lvl="0">
              <a:spcBef>
                <a:spcPts val="600"/>
              </a:spcBef>
              <a:spcAft>
                <a:spcPts val="1200"/>
              </a:spcAft>
            </a:pPr>
            <a:r>
              <a:rPr lang="en-AU" sz="2200" dirty="0" smtClean="0">
                <a:latin typeface="Helvetica" pitchFamily="34" charset="0"/>
              </a:rPr>
              <a:t>EFTPOS</a:t>
            </a:r>
          </a:p>
          <a:p>
            <a:pPr lvl="0">
              <a:spcBef>
                <a:spcPts val="600"/>
              </a:spcBef>
              <a:spcAft>
                <a:spcPts val="1200"/>
              </a:spcAft>
            </a:pPr>
            <a:r>
              <a:rPr lang="en-AU" sz="2200" dirty="0" smtClean="0">
                <a:latin typeface="Helvetica" pitchFamily="34" charset="0"/>
              </a:rPr>
              <a:t>Refunds</a:t>
            </a:r>
          </a:p>
          <a:p>
            <a:pPr lvl="0">
              <a:spcBef>
                <a:spcPts val="600"/>
              </a:spcBef>
              <a:spcAft>
                <a:spcPts val="1200"/>
              </a:spcAft>
            </a:pPr>
            <a:r>
              <a:rPr lang="en-AU" sz="2200" dirty="0" smtClean="0">
                <a:latin typeface="Helvetica" pitchFamily="34" charset="0"/>
              </a:rPr>
              <a:t>Returned goods</a:t>
            </a:r>
          </a:p>
          <a:p>
            <a:pPr lvl="0">
              <a:spcBef>
                <a:spcPts val="600"/>
              </a:spcBef>
              <a:spcAft>
                <a:spcPts val="1200"/>
              </a:spcAft>
            </a:pPr>
            <a:r>
              <a:rPr lang="en-AU" sz="2200" dirty="0" smtClean="0">
                <a:latin typeface="Helvetica" pitchFamily="34" charset="0"/>
              </a:rPr>
              <a:t>Account payment</a:t>
            </a:r>
          </a:p>
          <a:p>
            <a:pPr>
              <a:spcBef>
                <a:spcPts val="600"/>
              </a:spcBef>
              <a:spcAft>
                <a:spcPts val="600"/>
              </a:spcAft>
              <a:buNone/>
            </a:pPr>
            <a:endParaRPr lang="en-AU" sz="2400" dirty="0" smtClean="0"/>
          </a:p>
          <a:p>
            <a:pPr lvl="0">
              <a:spcBef>
                <a:spcPts val="600"/>
              </a:spcBef>
              <a:spcAft>
                <a:spcPts val="600"/>
              </a:spcAft>
              <a:buNone/>
            </a:pPr>
            <a:endParaRPr lang="en-AU" sz="2200" b="1" dirty="0" smtClean="0">
              <a:latin typeface="Helvetica" pitchFamily="34" charset="0"/>
            </a:endParaRPr>
          </a:p>
          <a:p>
            <a:pPr lvl="0">
              <a:spcBef>
                <a:spcPts val="600"/>
              </a:spcBef>
              <a:spcAft>
                <a:spcPts val="600"/>
              </a:spcAft>
              <a:buNone/>
            </a:pPr>
            <a:endParaRPr lang="en-AU" sz="2200" b="1"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600"/>
              </a:spcAft>
              <a:buNone/>
            </a:pPr>
            <a:endParaRPr lang="en-AU" sz="2400" b="1" dirty="0" smtClean="0"/>
          </a:p>
          <a:p>
            <a:pPr>
              <a:spcBef>
                <a:spcPts val="600"/>
              </a:spcBef>
              <a:spcAft>
                <a:spcPts val="600"/>
              </a:spcAft>
              <a:buNone/>
            </a:pPr>
            <a:endParaRPr lang="en-AU" sz="2400" dirty="0" smtClean="0"/>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7" name="Picture 6" descr="MP900423734.JPG"/>
          <p:cNvPicPr/>
          <p:nvPr/>
        </p:nvPicPr>
        <p:blipFill>
          <a:blip r:embed="rId3" cstate="print"/>
          <a:stretch>
            <a:fillRect/>
          </a:stretch>
        </p:blipFill>
        <p:spPr>
          <a:xfrm>
            <a:off x="6516216" y="4005064"/>
            <a:ext cx="1872207" cy="1224136"/>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Identify and process customer delivery requirements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latin typeface="Helvetica" pitchFamily="34" charset="0"/>
              </a:rPr>
              <a:t>Pre-requisite requirements</a:t>
            </a:r>
            <a:endParaRPr lang="en-AU" sz="2000" dirty="0" smtClean="0">
              <a:latin typeface="Helvetica" pitchFamily="34" charset="0"/>
            </a:endParaRPr>
          </a:p>
          <a:p>
            <a:pPr marL="0">
              <a:spcBef>
                <a:spcPts val="600"/>
              </a:spcBef>
              <a:spcAft>
                <a:spcPts val="1200"/>
              </a:spcAft>
              <a:buNone/>
            </a:pPr>
            <a:r>
              <a:rPr lang="en-AU" sz="2000" dirty="0" smtClean="0">
                <a:latin typeface="Helvetica" pitchFamily="34" charset="0"/>
              </a:rPr>
              <a:t>Most liquor outlets will only deliver liquor under certain conditions:</a:t>
            </a:r>
          </a:p>
          <a:p>
            <a:pPr lvl="0">
              <a:spcBef>
                <a:spcPts val="600"/>
              </a:spcBef>
              <a:spcAft>
                <a:spcPts val="1200"/>
              </a:spcAft>
            </a:pPr>
            <a:r>
              <a:rPr lang="en-AU" sz="2000" dirty="0" smtClean="0">
                <a:latin typeface="Helvetica" pitchFamily="34" charset="0"/>
              </a:rPr>
              <a:t>Goods must be paid for prior to delivery </a:t>
            </a:r>
          </a:p>
          <a:p>
            <a:pPr lvl="0">
              <a:spcBef>
                <a:spcPts val="600"/>
              </a:spcBef>
              <a:spcAft>
                <a:spcPts val="1200"/>
              </a:spcAft>
            </a:pPr>
            <a:r>
              <a:rPr lang="en-AU" sz="2000" dirty="0" smtClean="0">
                <a:latin typeface="Helvetica" pitchFamily="34" charset="0"/>
              </a:rPr>
              <a:t>A minimum purchase quantity </a:t>
            </a:r>
          </a:p>
          <a:p>
            <a:pPr>
              <a:spcBef>
                <a:spcPts val="600"/>
              </a:spcBef>
              <a:spcAft>
                <a:spcPts val="1200"/>
              </a:spcAft>
            </a:pPr>
            <a:r>
              <a:rPr lang="en-AU" sz="2000" dirty="0" smtClean="0">
                <a:latin typeface="Helvetica" pitchFamily="34" charset="0"/>
              </a:rPr>
              <a:t>Items will not be left at addresses where there </a:t>
            </a:r>
            <a:br>
              <a:rPr lang="en-AU" sz="2000" dirty="0" smtClean="0">
                <a:latin typeface="Helvetica" pitchFamily="34" charset="0"/>
              </a:rPr>
            </a:br>
            <a:r>
              <a:rPr lang="en-AU" sz="2000" dirty="0" smtClean="0">
                <a:latin typeface="Helvetica" pitchFamily="34" charset="0"/>
              </a:rPr>
              <a:t>is no one to accept delivery</a:t>
            </a:r>
          </a:p>
          <a:p>
            <a:pPr lvl="0">
              <a:spcBef>
                <a:spcPts val="600"/>
              </a:spcBef>
              <a:spcAft>
                <a:spcPts val="1200"/>
              </a:spcAft>
            </a:pPr>
            <a:r>
              <a:rPr lang="en-AU" sz="2000" dirty="0" smtClean="0">
                <a:latin typeface="Helvetica" pitchFamily="34" charset="0"/>
              </a:rPr>
              <a:t>No liquor will be delivered to minors</a:t>
            </a:r>
          </a:p>
          <a:p>
            <a:pPr>
              <a:spcBef>
                <a:spcPts val="600"/>
              </a:spcBef>
              <a:spcAft>
                <a:spcPts val="1200"/>
              </a:spcAft>
            </a:pPr>
            <a:r>
              <a:rPr lang="en-AU" sz="2000" dirty="0" smtClean="0">
                <a:latin typeface="Helvetica" pitchFamily="34" charset="0"/>
              </a:rPr>
              <a:t>Deliveries may only be made within a </a:t>
            </a:r>
            <a:br>
              <a:rPr lang="en-AU" sz="2000" dirty="0" smtClean="0">
                <a:latin typeface="Helvetica" pitchFamily="34" charset="0"/>
              </a:rPr>
            </a:br>
            <a:r>
              <a:rPr lang="en-AU" sz="2000" dirty="0" smtClean="0">
                <a:latin typeface="Helvetica" pitchFamily="34" charset="0"/>
              </a:rPr>
              <a:t>prescribed geographic area </a:t>
            </a:r>
          </a:p>
          <a:p>
            <a:pPr lvl="0">
              <a:spcBef>
                <a:spcPts val="600"/>
              </a:spcBef>
              <a:spcAft>
                <a:spcPts val="600"/>
              </a:spcAft>
              <a:buNone/>
            </a:pPr>
            <a:endParaRPr lang="en-AU" sz="2000" b="1" dirty="0" smtClean="0">
              <a:latin typeface="Helvetica" pitchFamily="34" charset="0"/>
            </a:endParaRPr>
          </a:p>
          <a:p>
            <a:pPr lvl="0">
              <a:spcBef>
                <a:spcPts val="600"/>
              </a:spcBef>
              <a:spcAft>
                <a:spcPts val="600"/>
              </a:spcAft>
              <a:buNone/>
            </a:pPr>
            <a:endParaRPr lang="en-AU" sz="2000" b="1" dirty="0" smtClean="0">
              <a:latin typeface="Helvetica" pitchFamily="34" charset="0"/>
            </a:endParaRPr>
          </a:p>
          <a:p>
            <a:pPr marL="0">
              <a:spcBef>
                <a:spcPts val="600"/>
              </a:spcBef>
              <a:spcAft>
                <a:spcPts val="1200"/>
              </a:spcAft>
              <a:buNone/>
            </a:pPr>
            <a:endParaRPr lang="en-AU" sz="2000" dirty="0" smtClean="0">
              <a:latin typeface="Helvetica" pitchFamily="34" charset="0"/>
            </a:endParaRPr>
          </a:p>
          <a:p>
            <a:pPr>
              <a:spcBef>
                <a:spcPts val="600"/>
              </a:spcBef>
              <a:spcAft>
                <a:spcPts val="600"/>
              </a:spcAft>
              <a:buNone/>
            </a:pPr>
            <a:endParaRPr lang="en-AU" sz="2000" b="1" dirty="0" smtClean="0"/>
          </a:p>
          <a:p>
            <a:pPr>
              <a:spcBef>
                <a:spcPts val="600"/>
              </a:spcBef>
              <a:spcAft>
                <a:spcPts val="600"/>
              </a:spcAft>
              <a:buNone/>
            </a:pPr>
            <a:endParaRPr lang="en-AU" sz="2000" dirty="0" smtClean="0"/>
          </a:p>
          <a:p>
            <a:pPr>
              <a:spcBef>
                <a:spcPts val="600"/>
              </a:spcBef>
              <a:spcAft>
                <a:spcPts val="600"/>
              </a:spcAft>
              <a:buNone/>
            </a:pP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6" name="Picture 5" descr="MP900386347.JPG"/>
          <p:cNvPicPr/>
          <p:nvPr/>
        </p:nvPicPr>
        <p:blipFill>
          <a:blip r:embed="rId3" cstate="print"/>
          <a:stretch>
            <a:fillRect/>
          </a:stretch>
        </p:blipFill>
        <p:spPr>
          <a:xfrm>
            <a:off x="6588224" y="4221088"/>
            <a:ext cx="1800200" cy="1224136"/>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Identify and process customer delivery requirements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Details needed to provide a delivery service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Name of the customer and their contact details </a:t>
            </a:r>
          </a:p>
          <a:p>
            <a:pPr lvl="0">
              <a:spcBef>
                <a:spcPts val="600"/>
              </a:spcBef>
              <a:spcAft>
                <a:spcPts val="1200"/>
              </a:spcAft>
            </a:pPr>
            <a:r>
              <a:rPr lang="en-AU" sz="2200" dirty="0" smtClean="0">
                <a:latin typeface="Helvetica" pitchFamily="34" charset="0"/>
              </a:rPr>
              <a:t>The address to where the delivery is to go </a:t>
            </a:r>
          </a:p>
          <a:p>
            <a:pPr lvl="0">
              <a:spcBef>
                <a:spcPts val="600"/>
              </a:spcBef>
              <a:spcAft>
                <a:spcPts val="1200"/>
              </a:spcAft>
            </a:pPr>
            <a:r>
              <a:rPr lang="en-AU" sz="2200" dirty="0" smtClean="0">
                <a:latin typeface="Helvetica" pitchFamily="34" charset="0"/>
              </a:rPr>
              <a:t>Special instructions </a:t>
            </a:r>
          </a:p>
          <a:p>
            <a:pPr>
              <a:spcBef>
                <a:spcPts val="600"/>
              </a:spcBef>
              <a:spcAft>
                <a:spcPts val="1200"/>
              </a:spcAft>
            </a:pPr>
            <a:r>
              <a:rPr lang="en-AU" sz="2200" dirty="0" smtClean="0">
                <a:latin typeface="Helvetica" pitchFamily="34" charset="0"/>
              </a:rPr>
              <a:t>Precise nature of the goods to be delivered </a:t>
            </a:r>
            <a:endParaRPr lang="en-AU" sz="2200" b="1" dirty="0" smtClean="0">
              <a:latin typeface="Helvetica" pitchFamily="34" charset="0"/>
            </a:endParaRPr>
          </a:p>
          <a:p>
            <a:pPr lvl="0">
              <a:spcBef>
                <a:spcPts val="600"/>
              </a:spcBef>
              <a:spcAft>
                <a:spcPts val="600"/>
              </a:spcAft>
              <a:buNone/>
            </a:pPr>
            <a:endParaRPr lang="en-AU" sz="2200" b="1"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600"/>
              </a:spcAft>
              <a:buNone/>
            </a:pPr>
            <a:endParaRPr lang="en-AU" sz="2400" b="1" dirty="0" smtClean="0"/>
          </a:p>
          <a:p>
            <a:pPr>
              <a:spcBef>
                <a:spcPts val="600"/>
              </a:spcBef>
              <a:spcAft>
                <a:spcPts val="600"/>
              </a:spcAft>
              <a:buNone/>
            </a:pPr>
            <a:endParaRPr lang="en-AU" sz="2400" dirty="0" smtClean="0"/>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7" name="Picture 6" descr="MP900444013[1].JPG"/>
          <p:cNvPicPr/>
          <p:nvPr/>
        </p:nvPicPr>
        <p:blipFill>
          <a:blip r:embed="rId3" cstate="print"/>
          <a:stretch>
            <a:fillRect/>
          </a:stretch>
        </p:blipFill>
        <p:spPr>
          <a:xfrm>
            <a:off x="6588224" y="4005064"/>
            <a:ext cx="1808783" cy="1349871"/>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Processing sales requirements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Customer service standards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Honesty and integrity </a:t>
            </a:r>
          </a:p>
          <a:p>
            <a:pPr lvl="0">
              <a:spcBef>
                <a:spcPts val="600"/>
              </a:spcBef>
              <a:spcAft>
                <a:spcPts val="1200"/>
              </a:spcAft>
            </a:pPr>
            <a:r>
              <a:rPr lang="en-AU" sz="2200" dirty="0" smtClean="0">
                <a:latin typeface="Helvetica" pitchFamily="34" charset="0"/>
              </a:rPr>
              <a:t>Accuracy </a:t>
            </a:r>
          </a:p>
          <a:p>
            <a:pPr lvl="0">
              <a:spcBef>
                <a:spcPts val="600"/>
              </a:spcBef>
              <a:spcAft>
                <a:spcPts val="1200"/>
              </a:spcAft>
            </a:pPr>
            <a:r>
              <a:rPr lang="en-AU" sz="2200" dirty="0" smtClean="0">
                <a:latin typeface="Helvetica" pitchFamily="34" charset="0"/>
              </a:rPr>
              <a:t>Speed </a:t>
            </a:r>
          </a:p>
          <a:p>
            <a:pPr lvl="0">
              <a:spcBef>
                <a:spcPts val="600"/>
              </a:spcBef>
              <a:spcAft>
                <a:spcPts val="1200"/>
              </a:spcAft>
            </a:pPr>
            <a:r>
              <a:rPr lang="en-AU" sz="2200" dirty="0" smtClean="0">
                <a:latin typeface="Helvetica" pitchFamily="34" charset="0"/>
              </a:rPr>
              <a:t>Explanation and description of charges </a:t>
            </a:r>
          </a:p>
          <a:p>
            <a:pPr>
              <a:spcBef>
                <a:spcPts val="600"/>
              </a:spcBef>
              <a:spcAft>
                <a:spcPts val="1200"/>
              </a:spcAft>
            </a:pPr>
            <a:r>
              <a:rPr lang="en-AU" sz="2200" dirty="0" smtClean="0">
                <a:latin typeface="Helvetica" pitchFamily="34" charset="0"/>
              </a:rPr>
              <a:t>Customer service </a:t>
            </a:r>
            <a:endParaRPr lang="en-AU" sz="2200" b="1"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600"/>
              </a:spcAft>
              <a:buNone/>
            </a:pPr>
            <a:endParaRPr lang="en-AU" sz="2400" b="1" dirty="0" smtClean="0"/>
          </a:p>
          <a:p>
            <a:pPr>
              <a:spcBef>
                <a:spcPts val="600"/>
              </a:spcBef>
              <a:spcAft>
                <a:spcPts val="600"/>
              </a:spcAft>
              <a:buNone/>
            </a:pPr>
            <a:endParaRPr lang="en-AU" sz="2400" dirty="0" smtClean="0"/>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6" name="Picture 5" descr="MP900408951.JPG"/>
          <p:cNvPicPr/>
          <p:nvPr/>
        </p:nvPicPr>
        <p:blipFill>
          <a:blip r:embed="rId3" cstate="print"/>
          <a:stretch>
            <a:fillRect/>
          </a:stretch>
        </p:blipFill>
        <p:spPr>
          <a:xfrm>
            <a:off x="6804248" y="3717032"/>
            <a:ext cx="1564437" cy="1564754"/>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Follow security procedures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000" b="1" dirty="0" smtClean="0">
                <a:latin typeface="Helvetica" pitchFamily="34" charset="0"/>
              </a:rPr>
              <a:t>Use cash registers correctly</a:t>
            </a:r>
            <a:endParaRPr lang="en-AU" sz="2000" dirty="0" smtClean="0">
              <a:latin typeface="Helvetica" pitchFamily="34" charset="0"/>
            </a:endParaRPr>
          </a:p>
          <a:p>
            <a:pPr lvl="0">
              <a:spcBef>
                <a:spcPts val="600"/>
              </a:spcBef>
              <a:spcAft>
                <a:spcPts val="1200"/>
              </a:spcAft>
            </a:pPr>
            <a:r>
              <a:rPr lang="en-AU" sz="2000" dirty="0" smtClean="0">
                <a:latin typeface="Helvetica" pitchFamily="34" charset="0"/>
              </a:rPr>
              <a:t>Try not to share cash registers</a:t>
            </a:r>
          </a:p>
          <a:p>
            <a:pPr lvl="0">
              <a:spcBef>
                <a:spcPts val="600"/>
              </a:spcBef>
              <a:spcAft>
                <a:spcPts val="1200"/>
              </a:spcAft>
            </a:pPr>
            <a:r>
              <a:rPr lang="en-AU" sz="2000" dirty="0" smtClean="0">
                <a:latin typeface="Helvetica" pitchFamily="34" charset="0"/>
              </a:rPr>
              <a:t>Never leave a cash register open when unattended</a:t>
            </a:r>
          </a:p>
          <a:p>
            <a:pPr lvl="0">
              <a:spcBef>
                <a:spcPts val="600"/>
              </a:spcBef>
              <a:spcAft>
                <a:spcPts val="1200"/>
              </a:spcAft>
            </a:pPr>
            <a:r>
              <a:rPr lang="en-AU" sz="2000" dirty="0" smtClean="0">
                <a:latin typeface="Helvetica" pitchFamily="34" charset="0"/>
              </a:rPr>
              <a:t>Keep cash registers out of the reach of customers</a:t>
            </a:r>
          </a:p>
          <a:p>
            <a:pPr lvl="0">
              <a:spcBef>
                <a:spcPts val="600"/>
              </a:spcBef>
              <a:spcAft>
                <a:spcPts val="1200"/>
              </a:spcAft>
            </a:pPr>
            <a:r>
              <a:rPr lang="en-AU" sz="2000" dirty="0" smtClean="0">
                <a:latin typeface="Helvetica" pitchFamily="34" charset="0"/>
              </a:rPr>
              <a:t>Lock cash registers when not in use</a:t>
            </a:r>
          </a:p>
          <a:p>
            <a:pPr lvl="0">
              <a:spcBef>
                <a:spcPts val="600"/>
              </a:spcBef>
              <a:spcAft>
                <a:spcPts val="1200"/>
              </a:spcAft>
            </a:pPr>
            <a:r>
              <a:rPr lang="en-AU" sz="2000" dirty="0" smtClean="0">
                <a:latin typeface="Helvetica" pitchFamily="34" charset="0"/>
              </a:rPr>
              <a:t>Keep the original note on display whilst a transaction is taking place</a:t>
            </a:r>
          </a:p>
          <a:p>
            <a:pPr lvl="0">
              <a:spcBef>
                <a:spcPts val="600"/>
              </a:spcBef>
              <a:spcAft>
                <a:spcPts val="1200"/>
              </a:spcAft>
            </a:pPr>
            <a:r>
              <a:rPr lang="en-AU" sz="2000" dirty="0" smtClean="0">
                <a:latin typeface="Helvetica" pitchFamily="34" charset="0"/>
              </a:rPr>
              <a:t>Regularly store large notes under the cash till</a:t>
            </a:r>
          </a:p>
          <a:p>
            <a:pPr>
              <a:spcBef>
                <a:spcPts val="600"/>
              </a:spcBef>
              <a:spcAft>
                <a:spcPts val="1200"/>
              </a:spcAft>
            </a:pPr>
            <a:r>
              <a:rPr lang="en-AU" sz="2000" dirty="0" smtClean="0">
                <a:latin typeface="Helvetica" pitchFamily="34" charset="0"/>
              </a:rPr>
              <a:t>Regularly arrange for cash registers to be cleared</a:t>
            </a:r>
          </a:p>
          <a:p>
            <a:pPr>
              <a:spcBef>
                <a:spcPts val="600"/>
              </a:spcBef>
              <a:spcAft>
                <a:spcPts val="600"/>
              </a:spcAft>
              <a:buNone/>
            </a:pPr>
            <a:endParaRPr lang="en-AU" sz="2000" b="1" dirty="0" smtClean="0"/>
          </a:p>
          <a:p>
            <a:pPr>
              <a:spcBef>
                <a:spcPts val="600"/>
              </a:spcBef>
              <a:spcAft>
                <a:spcPts val="600"/>
              </a:spcAft>
              <a:buNone/>
            </a:pPr>
            <a:endParaRPr lang="en-AU" sz="2000" dirty="0" smtClean="0"/>
          </a:p>
          <a:p>
            <a:pPr>
              <a:spcBef>
                <a:spcPts val="600"/>
              </a:spcBef>
              <a:spcAft>
                <a:spcPts val="600"/>
              </a:spcAft>
              <a:buNone/>
            </a:pP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6" name="Picture 5" descr="MP900409439.JPG"/>
          <p:cNvPicPr/>
          <p:nvPr/>
        </p:nvPicPr>
        <p:blipFill>
          <a:blip r:embed="rId3" cstate="print"/>
          <a:stretch>
            <a:fillRect/>
          </a:stretch>
        </p:blipFill>
        <p:spPr>
          <a:xfrm>
            <a:off x="6876256" y="4221088"/>
            <a:ext cx="1512168" cy="1080120"/>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Follow security procedures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t>Remove payments received and transport </a:t>
            </a:r>
          </a:p>
          <a:p>
            <a:pPr>
              <a:spcBef>
                <a:spcPts val="600"/>
              </a:spcBef>
              <a:spcAft>
                <a:spcPts val="1200"/>
              </a:spcAft>
            </a:pPr>
            <a:r>
              <a:rPr lang="en-AU" sz="2200" dirty="0" smtClean="0">
                <a:latin typeface="Helvetica" pitchFamily="34" charset="0"/>
              </a:rPr>
              <a:t>Why is this important?</a:t>
            </a:r>
          </a:p>
          <a:p>
            <a:pPr>
              <a:spcBef>
                <a:spcPts val="600"/>
              </a:spcBef>
              <a:spcAft>
                <a:spcPts val="1200"/>
              </a:spcAft>
            </a:pPr>
            <a:r>
              <a:rPr lang="en-AU" sz="2200" dirty="0" smtClean="0">
                <a:latin typeface="Helvetica" pitchFamily="34" charset="0"/>
              </a:rPr>
              <a:t>When should payments be removed from cash registers?</a:t>
            </a:r>
          </a:p>
          <a:p>
            <a:pPr>
              <a:spcBef>
                <a:spcPts val="600"/>
              </a:spcBef>
              <a:spcAft>
                <a:spcPts val="1200"/>
              </a:spcAft>
            </a:pPr>
            <a:r>
              <a:rPr lang="en-AU" sz="2200" dirty="0" smtClean="0">
                <a:latin typeface="Helvetica" pitchFamily="34" charset="0"/>
              </a:rPr>
              <a:t>Who should do it?</a:t>
            </a:r>
          </a:p>
          <a:p>
            <a:pPr>
              <a:spcBef>
                <a:spcPts val="600"/>
              </a:spcBef>
              <a:spcAft>
                <a:spcPts val="1200"/>
              </a:spcAft>
            </a:pPr>
            <a:r>
              <a:rPr lang="en-AU" sz="2200" dirty="0" smtClean="0">
                <a:latin typeface="Helvetica" pitchFamily="34" charset="0"/>
              </a:rPr>
              <a:t>Where should taking be placed?</a:t>
            </a:r>
          </a:p>
          <a:p>
            <a:pPr>
              <a:spcBef>
                <a:spcPts val="600"/>
              </a:spcBef>
              <a:spcAft>
                <a:spcPts val="600"/>
              </a:spcAft>
              <a:buNone/>
            </a:pPr>
            <a:endParaRPr lang="en-AU" sz="2400" b="1" dirty="0" smtClean="0"/>
          </a:p>
          <a:p>
            <a:pPr>
              <a:spcBef>
                <a:spcPts val="600"/>
              </a:spcBef>
              <a:spcAft>
                <a:spcPts val="600"/>
              </a:spcAft>
              <a:buNone/>
            </a:pPr>
            <a:endParaRPr lang="en-AU" sz="2400" dirty="0" smtClean="0"/>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8" name="Picture 7" descr="MP900409039.JPG"/>
          <p:cNvPicPr/>
          <p:nvPr/>
        </p:nvPicPr>
        <p:blipFill>
          <a:blip r:embed="rId3" cstate="print"/>
          <a:stretch>
            <a:fillRect/>
          </a:stretch>
        </p:blipFill>
        <p:spPr>
          <a:xfrm>
            <a:off x="6876256" y="3573016"/>
            <a:ext cx="1516757" cy="1644774"/>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grpSp>
        <p:nvGrpSpPr>
          <p:cNvPr id="20" name="Group 19"/>
          <p:cNvGrpSpPr/>
          <p:nvPr/>
        </p:nvGrpSpPr>
        <p:grpSpPr>
          <a:xfrm>
            <a:off x="2483768" y="476672"/>
            <a:ext cx="2966566" cy="5105400"/>
            <a:chOff x="2483768" y="476672"/>
            <a:chExt cx="2966566" cy="5105400"/>
          </a:xfrm>
        </p:grpSpPr>
        <p:grpSp>
          <p:nvGrpSpPr>
            <p:cNvPr id="18" name="Group 17"/>
            <p:cNvGrpSpPr/>
            <p:nvPr/>
          </p:nvGrpSpPr>
          <p:grpSpPr>
            <a:xfrm>
              <a:off x="2483768" y="476672"/>
              <a:ext cx="2966566" cy="5105400"/>
              <a:chOff x="3549650" y="1752600"/>
              <a:chExt cx="2966566" cy="5105400"/>
            </a:xfrm>
          </p:grpSpPr>
          <p:grpSp>
            <p:nvGrpSpPr>
              <p:cNvPr id="17" name="Group 16"/>
              <p:cNvGrpSpPr/>
              <p:nvPr/>
            </p:nvGrpSpPr>
            <p:grpSpPr>
              <a:xfrm>
                <a:off x="3549650" y="3727450"/>
                <a:ext cx="2966566" cy="3130550"/>
                <a:chOff x="3549650" y="3727450"/>
                <a:chExt cx="2028825" cy="2184400"/>
              </a:xfrm>
            </p:grpSpPr>
            <p:sp>
              <p:nvSpPr>
                <p:cNvPr id="7" name="AutoShape 7"/>
                <p:cNvSpPr>
                  <a:spLocks noChangeArrowheads="1"/>
                </p:cNvSpPr>
                <p:nvPr/>
              </p:nvSpPr>
              <p:spPr bwMode="gray">
                <a:xfrm rot="5400000">
                  <a:off x="3473450" y="3806825"/>
                  <a:ext cx="2181225" cy="2028825"/>
                </a:xfrm>
                <a:prstGeom prst="roundRect">
                  <a:avLst>
                    <a:gd name="adj" fmla="val 19894"/>
                  </a:avLst>
                </a:prstGeom>
                <a:gradFill rotWithShape="1">
                  <a:gsLst>
                    <a:gs pos="0">
                      <a:srgbClr val="FEFFFF">
                        <a:gamma/>
                        <a:shade val="78824"/>
                        <a:invGamma/>
                        <a:alpha val="98000"/>
                      </a:srgbClr>
                    </a:gs>
                    <a:gs pos="50000">
                      <a:srgbClr val="FEFFFF"/>
                    </a:gs>
                    <a:gs pos="100000">
                      <a:srgbClr val="FEFFFF">
                        <a:gamma/>
                        <a:shade val="78824"/>
                        <a:invGamma/>
                        <a:alpha val="98000"/>
                      </a:srgbClr>
                    </a:gs>
                  </a:gsLst>
                  <a:lin ang="5400000" scaled="1"/>
                </a:gradFill>
                <a:ln w="38100" algn="ctr">
                  <a:solidFill>
                    <a:srgbClr val="DDDDDD"/>
                  </a:solidFill>
                  <a:round/>
                  <a:headEnd/>
                  <a:tailEnd/>
                </a:ln>
                <a:effectLst/>
              </p:spPr>
              <p:txBody>
                <a:bodyPr wrap="none" anchor="ctr"/>
                <a:lstStyle/>
                <a:p>
                  <a:pPr>
                    <a:defRPr/>
                  </a:pPr>
                  <a:endParaRPr lang="en-AU" dirty="0"/>
                </a:p>
              </p:txBody>
            </p:sp>
            <p:sp>
              <p:nvSpPr>
                <p:cNvPr id="8" name="Freeform 8"/>
                <p:cNvSpPr>
                  <a:spLocks/>
                </p:cNvSpPr>
                <p:nvPr/>
              </p:nvSpPr>
              <p:spPr bwMode="gray">
                <a:xfrm>
                  <a:off x="3565525" y="3727450"/>
                  <a:ext cx="2001838" cy="481013"/>
                </a:xfrm>
                <a:custGeom>
                  <a:avLst/>
                  <a:gdLst>
                    <a:gd name="T0" fmla="*/ 9525 w 1261"/>
                    <a:gd name="T1" fmla="*/ 471488 h 303"/>
                    <a:gd name="T2" fmla="*/ 28575 w 1261"/>
                    <a:gd name="T3" fmla="*/ 276225 h 303"/>
                    <a:gd name="T4" fmla="*/ 271463 w 1261"/>
                    <a:gd name="T5" fmla="*/ 47625 h 303"/>
                    <a:gd name="T6" fmla="*/ 558800 w 1261"/>
                    <a:gd name="T7" fmla="*/ 20638 h 303"/>
                    <a:gd name="T8" fmla="*/ 1463675 w 1261"/>
                    <a:gd name="T9" fmla="*/ 15875 h 303"/>
                    <a:gd name="T10" fmla="*/ 1684338 w 1261"/>
                    <a:gd name="T11" fmla="*/ 19050 h 303"/>
                    <a:gd name="T12" fmla="*/ 1985963 w 1261"/>
                    <a:gd name="T13" fmla="*/ 301625 h 303"/>
                    <a:gd name="T14" fmla="*/ 1995488 w 1261"/>
                    <a:gd name="T15" fmla="*/ 481013 h 303"/>
                    <a:gd name="T16" fmla="*/ 9525 w 1261"/>
                    <a:gd name="T17" fmla="*/ 471488 h 30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61"/>
                    <a:gd name="T28" fmla="*/ 0 h 303"/>
                    <a:gd name="T29" fmla="*/ 1261 w 1261"/>
                    <a:gd name="T30" fmla="*/ 303 h 30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61" h="303">
                      <a:moveTo>
                        <a:pt x="6" y="297"/>
                      </a:moveTo>
                      <a:cubicBezTo>
                        <a:pt x="6" y="297"/>
                        <a:pt x="0" y="225"/>
                        <a:pt x="18" y="174"/>
                      </a:cubicBezTo>
                      <a:cubicBezTo>
                        <a:pt x="36" y="123"/>
                        <a:pt x="105" y="45"/>
                        <a:pt x="171" y="30"/>
                      </a:cubicBezTo>
                      <a:cubicBezTo>
                        <a:pt x="237" y="15"/>
                        <a:pt x="227" y="16"/>
                        <a:pt x="352" y="13"/>
                      </a:cubicBezTo>
                      <a:cubicBezTo>
                        <a:pt x="477" y="10"/>
                        <a:pt x="804" y="10"/>
                        <a:pt x="922" y="10"/>
                      </a:cubicBezTo>
                      <a:cubicBezTo>
                        <a:pt x="1039" y="10"/>
                        <a:pt x="988" y="0"/>
                        <a:pt x="1061" y="12"/>
                      </a:cubicBezTo>
                      <a:cubicBezTo>
                        <a:pt x="1133" y="24"/>
                        <a:pt x="1206" y="83"/>
                        <a:pt x="1251" y="190"/>
                      </a:cubicBezTo>
                      <a:cubicBezTo>
                        <a:pt x="1261" y="263"/>
                        <a:pt x="1257" y="303"/>
                        <a:pt x="1257" y="303"/>
                      </a:cubicBezTo>
                      <a:lnTo>
                        <a:pt x="6" y="297"/>
                      </a:lnTo>
                      <a:close/>
                    </a:path>
                  </a:pathLst>
                </a:custGeom>
                <a:solidFill>
                  <a:schemeClr val="accent1">
                    <a:alpha val="50195"/>
                  </a:schemeClr>
                </a:solidFill>
                <a:ln w="38100" cap="flat" cmpd="sng">
                  <a:noFill/>
                  <a:prstDash val="solid"/>
                  <a:round/>
                  <a:headEnd/>
                  <a:tailEnd/>
                </a:ln>
              </p:spPr>
              <p:txBody>
                <a:bodyPr wrap="none" anchor="ctr"/>
                <a:lstStyle/>
                <a:p>
                  <a:endParaRPr lang="en-AU" dirty="0"/>
                </a:p>
              </p:txBody>
            </p:sp>
            <p:sp>
              <p:nvSpPr>
                <p:cNvPr id="9" name="Rectangle 9"/>
                <p:cNvSpPr>
                  <a:spLocks noChangeArrowheads="1"/>
                </p:cNvSpPr>
                <p:nvPr/>
              </p:nvSpPr>
              <p:spPr bwMode="gray">
                <a:xfrm>
                  <a:off x="4002602" y="3816350"/>
                  <a:ext cx="1103086" cy="279184"/>
                </a:xfrm>
                <a:prstGeom prst="rect">
                  <a:avLst/>
                </a:prstGeom>
                <a:noFill/>
                <a:ln w="9525" algn="ctr">
                  <a:noFill/>
                  <a:miter lim="800000"/>
                  <a:headEnd/>
                  <a:tailEnd/>
                </a:ln>
              </p:spPr>
              <p:txBody>
                <a:bodyPr wrap="none">
                  <a:spAutoFit/>
                </a:bodyPr>
                <a:lstStyle/>
                <a:p>
                  <a:pPr algn="ctr">
                    <a:spcBef>
                      <a:spcPts val="600"/>
                    </a:spcBef>
                    <a:spcAft>
                      <a:spcPts val="1200"/>
                    </a:spcAft>
                  </a:pPr>
                  <a:r>
                    <a:rPr lang="en-AU" sz="2000" b="1" dirty="0" smtClean="0">
                      <a:latin typeface="Helvetica" pitchFamily="34" charset="0"/>
                    </a:rPr>
                    <a:t>Pack goods</a:t>
                  </a:r>
                </a:p>
              </p:txBody>
            </p:sp>
          </p:grpSp>
          <p:grpSp>
            <p:nvGrpSpPr>
              <p:cNvPr id="16" name="Group 15"/>
              <p:cNvGrpSpPr/>
              <p:nvPr/>
            </p:nvGrpSpPr>
            <p:grpSpPr>
              <a:xfrm>
                <a:off x="3845347" y="1752600"/>
                <a:ext cx="2382837" cy="1946275"/>
                <a:chOff x="3367088" y="1752600"/>
                <a:chExt cx="2382837" cy="1946275"/>
              </a:xfrm>
            </p:grpSpPr>
            <p:grpSp>
              <p:nvGrpSpPr>
                <p:cNvPr id="11" name="Group 15"/>
                <p:cNvGrpSpPr>
                  <a:grpSpLocks/>
                </p:cNvGrpSpPr>
                <p:nvPr/>
              </p:nvGrpSpPr>
              <p:grpSpPr bwMode="auto">
                <a:xfrm>
                  <a:off x="3367088" y="1752600"/>
                  <a:ext cx="2382837" cy="538163"/>
                  <a:chOff x="2251" y="1126"/>
                  <a:chExt cx="1501" cy="339"/>
                </a:xfrm>
              </p:grpSpPr>
              <p:sp>
                <p:nvSpPr>
                  <p:cNvPr id="14" name="AutoShape 16"/>
                  <p:cNvSpPr>
                    <a:spLocks noChangeArrowheads="1"/>
                  </p:cNvSpPr>
                  <p:nvPr/>
                </p:nvSpPr>
                <p:spPr bwMode="gray">
                  <a:xfrm>
                    <a:off x="2251" y="1126"/>
                    <a:ext cx="1501" cy="339"/>
                  </a:xfrm>
                  <a:prstGeom prst="roundRect">
                    <a:avLst>
                      <a:gd name="adj" fmla="val 50000"/>
                    </a:avLst>
                  </a:prstGeom>
                  <a:gradFill rotWithShape="1">
                    <a:gsLst>
                      <a:gs pos="0">
                        <a:srgbClr val="EAEAEA">
                          <a:gamma/>
                          <a:shade val="36078"/>
                          <a:invGamma/>
                        </a:srgbClr>
                      </a:gs>
                      <a:gs pos="50000">
                        <a:srgbClr val="EAEAEA"/>
                      </a:gs>
                      <a:gs pos="100000">
                        <a:srgbClr val="EAEAEA">
                          <a:gamma/>
                          <a:shade val="36078"/>
                          <a:invGamma/>
                        </a:srgbClr>
                      </a:gs>
                    </a:gsLst>
                    <a:lin ang="5400000" scaled="1"/>
                  </a:gradFill>
                  <a:ln w="9525" algn="ctr">
                    <a:noFill/>
                    <a:round/>
                    <a:headEnd/>
                    <a:tailEnd/>
                  </a:ln>
                  <a:effectLst>
                    <a:outerShdw dist="40161" dir="4293903" algn="ctr" rotWithShape="0">
                      <a:srgbClr val="FFFFCC">
                        <a:alpha val="50000"/>
                      </a:srgbClr>
                    </a:outerShdw>
                  </a:effectLst>
                </p:spPr>
                <p:txBody>
                  <a:bodyPr wrap="none" anchor="ctr"/>
                  <a:lstStyle/>
                  <a:p>
                    <a:pPr>
                      <a:defRPr/>
                    </a:pPr>
                    <a:endParaRPr lang="en-AU" dirty="0"/>
                  </a:p>
                </p:txBody>
              </p:sp>
              <p:sp>
                <p:nvSpPr>
                  <p:cNvPr id="15" name="AutoShape 17"/>
                  <p:cNvSpPr>
                    <a:spLocks noChangeArrowheads="1"/>
                  </p:cNvSpPr>
                  <p:nvPr/>
                </p:nvSpPr>
                <p:spPr bwMode="gray">
                  <a:xfrm>
                    <a:off x="2269" y="1145"/>
                    <a:ext cx="1465" cy="303"/>
                  </a:xfrm>
                  <a:prstGeom prst="roundRect">
                    <a:avLst>
                      <a:gd name="adj" fmla="val 50000"/>
                    </a:avLst>
                  </a:prstGeom>
                  <a:gradFill rotWithShape="1">
                    <a:gsLst>
                      <a:gs pos="0">
                        <a:schemeClr val="accent1">
                          <a:alpha val="89999"/>
                        </a:schemeClr>
                      </a:gs>
                      <a:gs pos="50000">
                        <a:schemeClr val="accent1">
                          <a:gamma/>
                          <a:tint val="33725"/>
                          <a:invGamma/>
                        </a:schemeClr>
                      </a:gs>
                      <a:gs pos="100000">
                        <a:schemeClr val="accent1">
                          <a:alpha val="89999"/>
                        </a:schemeClr>
                      </a:gs>
                    </a:gsLst>
                    <a:lin ang="0" scaled="1"/>
                  </a:gradFill>
                  <a:ln w="9525" algn="ctr">
                    <a:noFill/>
                    <a:round/>
                    <a:headEnd/>
                    <a:tailEnd/>
                  </a:ln>
                  <a:effectLst/>
                </p:spPr>
                <p:txBody>
                  <a:bodyPr wrap="none" anchor="ctr"/>
                  <a:lstStyle/>
                  <a:p>
                    <a:pPr>
                      <a:defRPr/>
                    </a:pPr>
                    <a:endParaRPr lang="en-AU" dirty="0"/>
                  </a:p>
                </p:txBody>
              </p:sp>
            </p:grpSp>
            <p:sp>
              <p:nvSpPr>
                <p:cNvPr id="12" name="Rectangle 18"/>
                <p:cNvSpPr>
                  <a:spLocks noChangeArrowheads="1"/>
                </p:cNvSpPr>
                <p:nvPr/>
              </p:nvSpPr>
              <p:spPr bwMode="gray">
                <a:xfrm>
                  <a:off x="3750324" y="1822450"/>
                  <a:ext cx="1638590" cy="369332"/>
                </a:xfrm>
                <a:prstGeom prst="rect">
                  <a:avLst/>
                </a:prstGeom>
                <a:noFill/>
                <a:ln w="9525" algn="ctr">
                  <a:noFill/>
                  <a:miter lim="800000"/>
                  <a:headEnd/>
                  <a:tailEnd/>
                </a:ln>
              </p:spPr>
              <p:txBody>
                <a:bodyPr wrap="none" tIns="0" bIns="0">
                  <a:spAutoFit/>
                </a:bodyPr>
                <a:lstStyle/>
                <a:p>
                  <a:pPr algn="ctr"/>
                  <a:r>
                    <a:rPr lang="en-AU" sz="2400" b="1" dirty="0" smtClean="0">
                      <a:latin typeface="Helvetica" pitchFamily="34" charset="0"/>
                    </a:rPr>
                    <a:t>Element 2</a:t>
                  </a:r>
                  <a:endParaRPr lang="en-AU" sz="2400" dirty="0">
                    <a:latin typeface="Helvetica" pitchFamily="34" charset="0"/>
                  </a:endParaRPr>
                </a:p>
              </p:txBody>
            </p:sp>
            <p:sp>
              <p:nvSpPr>
                <p:cNvPr id="13" name="AutoShape 28"/>
                <p:cNvSpPr>
                  <a:spLocks noChangeArrowheads="1"/>
                </p:cNvSpPr>
                <p:nvPr/>
              </p:nvSpPr>
              <p:spPr bwMode="gray">
                <a:xfrm flipV="1">
                  <a:off x="3527425" y="2327275"/>
                  <a:ext cx="1981200" cy="1371600"/>
                </a:xfrm>
                <a:prstGeom prst="triangle">
                  <a:avLst>
                    <a:gd name="adj" fmla="val 50000"/>
                  </a:avLst>
                </a:prstGeom>
                <a:gradFill rotWithShape="1">
                  <a:gsLst>
                    <a:gs pos="0">
                      <a:schemeClr val="accent1"/>
                    </a:gs>
                    <a:gs pos="100000">
                      <a:schemeClr val="accent1">
                        <a:gamma/>
                        <a:tint val="0"/>
                        <a:invGamma/>
                      </a:schemeClr>
                    </a:gs>
                  </a:gsLst>
                  <a:lin ang="5400000" scaled="1"/>
                </a:gradFill>
                <a:ln w="9525">
                  <a:noFill/>
                  <a:miter lim="800000"/>
                  <a:headEnd/>
                  <a:tailEnd/>
                </a:ln>
                <a:effectLst/>
              </p:spPr>
              <p:txBody>
                <a:bodyPr wrap="none" anchor="ctr"/>
                <a:lstStyle/>
                <a:p>
                  <a:pPr>
                    <a:defRPr/>
                  </a:pPr>
                  <a:endParaRPr lang="en-AU" dirty="0"/>
                </a:p>
              </p:txBody>
            </p:sp>
          </p:grpSp>
        </p:grpSp>
        <p:pic>
          <p:nvPicPr>
            <p:cNvPr id="6" name="Picture 5" descr="323778022_816d95481a_m.jpg"/>
            <p:cNvPicPr>
              <a:picLocks noChangeAspect="1"/>
            </p:cNvPicPr>
            <p:nvPr/>
          </p:nvPicPr>
          <p:blipFill>
            <a:blip r:embed="rId3" cstate="print"/>
            <a:stretch>
              <a:fillRect/>
            </a:stretch>
          </p:blipFill>
          <p:spPr>
            <a:xfrm>
              <a:off x="2714030" y="3377208"/>
              <a:ext cx="2496277" cy="1872208"/>
            </a:xfrm>
            <a:prstGeom prst="rect">
              <a:avLst/>
            </a:prstGeom>
          </p:spPr>
        </p:pic>
      </p:gr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Pack goods</a:t>
            </a: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Maintain adequate supplies of wrapping materials</a:t>
            </a:r>
          </a:p>
          <a:p>
            <a:pPr>
              <a:spcBef>
                <a:spcPts val="600"/>
              </a:spcBef>
              <a:spcAft>
                <a:spcPts val="1200"/>
              </a:spcAft>
            </a:pPr>
            <a:r>
              <a:rPr lang="en-AU" sz="2200" dirty="0" smtClean="0">
                <a:latin typeface="Helvetica" pitchFamily="34" charset="0"/>
              </a:rPr>
              <a:t>Pack goods in a suitably sized bag or container that adequately protects the goods, or wrap goods neatly and effectively</a:t>
            </a:r>
          </a:p>
          <a:p>
            <a:pPr>
              <a:spcBef>
                <a:spcPts val="600"/>
              </a:spcBef>
              <a:spcAft>
                <a:spcPts val="1200"/>
              </a:spcAft>
            </a:pPr>
            <a:r>
              <a:rPr lang="en-AU" sz="2200" dirty="0" smtClean="0">
                <a:latin typeface="Helvetica" pitchFamily="34" charset="0"/>
              </a:rPr>
              <a:t>Follow safe work practices while packing </a:t>
            </a:r>
            <a:br>
              <a:rPr lang="en-AU" sz="2200" dirty="0" smtClean="0">
                <a:latin typeface="Helvetica" pitchFamily="34" charset="0"/>
              </a:rPr>
            </a:br>
            <a:r>
              <a:rPr lang="en-AU" sz="2200" dirty="0" smtClean="0">
                <a:latin typeface="Helvetica" pitchFamily="34" charset="0"/>
              </a:rPr>
              <a:t>goods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7" name="Picture 6" descr="535534245_d7bf7fdd0d_m.jpg"/>
          <p:cNvPicPr>
            <a:picLocks noChangeAspect="1"/>
          </p:cNvPicPr>
          <p:nvPr/>
        </p:nvPicPr>
        <p:blipFill>
          <a:blip r:embed="rId3" cstate="print"/>
          <a:stretch>
            <a:fillRect/>
          </a:stretch>
        </p:blipFill>
        <p:spPr>
          <a:xfrm>
            <a:off x="6444208" y="3861048"/>
            <a:ext cx="1956048" cy="1467036"/>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Maintain adequate supplies of wrapping materials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5229200"/>
          </a:xfrm>
        </p:spPr>
        <p:txBody>
          <a:bodyPr>
            <a:normAutofit/>
          </a:bodyPr>
          <a:lstStyle/>
          <a:p>
            <a:pPr>
              <a:spcBef>
                <a:spcPts val="600"/>
              </a:spcBef>
              <a:spcAft>
                <a:spcPts val="1200"/>
              </a:spcAft>
              <a:buNone/>
            </a:pPr>
            <a:r>
              <a:rPr lang="en-AU" sz="2200" b="1" dirty="0" smtClean="0">
                <a:latin typeface="Helvetica" pitchFamily="34" charset="0"/>
              </a:rPr>
              <a:t>Wrapping materials and bags</a:t>
            </a:r>
          </a:p>
          <a:p>
            <a:pPr lvl="0">
              <a:spcBef>
                <a:spcPts val="600"/>
              </a:spcBef>
              <a:spcAft>
                <a:spcPts val="1200"/>
              </a:spcAft>
            </a:pPr>
            <a:r>
              <a:rPr lang="en-AU" sz="2200" dirty="0" smtClean="0">
                <a:latin typeface="Helvetica" pitchFamily="34" charset="0"/>
              </a:rPr>
              <a:t>Single-bottle bags</a:t>
            </a:r>
          </a:p>
          <a:p>
            <a:pPr lvl="0">
              <a:spcBef>
                <a:spcPts val="600"/>
              </a:spcBef>
              <a:spcAft>
                <a:spcPts val="1200"/>
              </a:spcAft>
            </a:pPr>
            <a:r>
              <a:rPr lang="en-AU" sz="2200" dirty="0" smtClean="0">
                <a:latin typeface="Helvetica" pitchFamily="34" charset="0"/>
              </a:rPr>
              <a:t>Double-bottle bags</a:t>
            </a:r>
          </a:p>
          <a:p>
            <a:pPr lvl="0">
              <a:spcBef>
                <a:spcPts val="600"/>
              </a:spcBef>
              <a:spcAft>
                <a:spcPts val="1200"/>
              </a:spcAft>
            </a:pPr>
            <a:r>
              <a:rPr lang="en-AU" sz="2200" dirty="0" smtClean="0">
                <a:latin typeface="Helvetica" pitchFamily="34" charset="0"/>
              </a:rPr>
              <a:t>Three-bottle bags</a:t>
            </a:r>
          </a:p>
          <a:p>
            <a:pPr lvl="0">
              <a:spcBef>
                <a:spcPts val="600"/>
              </a:spcBef>
              <a:spcAft>
                <a:spcPts val="1200"/>
              </a:spcAft>
            </a:pPr>
            <a:r>
              <a:rPr lang="en-AU" sz="2200" dirty="0" smtClean="0">
                <a:latin typeface="Helvetica" pitchFamily="34" charset="0"/>
              </a:rPr>
              <a:t>Four-bottle bags</a:t>
            </a:r>
          </a:p>
          <a:p>
            <a:pPr lvl="0">
              <a:spcBef>
                <a:spcPts val="600"/>
              </a:spcBef>
              <a:spcAft>
                <a:spcPts val="1200"/>
              </a:spcAft>
            </a:pPr>
            <a:r>
              <a:rPr lang="en-AU" sz="2200" dirty="0" smtClean="0">
                <a:latin typeface="Helvetica" pitchFamily="34" charset="0"/>
              </a:rPr>
              <a:t>Six-bottle bags</a:t>
            </a:r>
          </a:p>
          <a:p>
            <a:pPr>
              <a:spcBef>
                <a:spcPts val="600"/>
              </a:spcBef>
              <a:spcAft>
                <a:spcPts val="1200"/>
              </a:spcAft>
            </a:pPr>
            <a:r>
              <a:rPr lang="en-AU" sz="2200" dirty="0" smtClean="0">
                <a:latin typeface="Helvetica" pitchFamily="34" charset="0"/>
              </a:rPr>
              <a:t>Long-neck bags</a:t>
            </a:r>
          </a:p>
          <a:p>
            <a:pPr>
              <a:spcBef>
                <a:spcPts val="600"/>
              </a:spcBef>
              <a:spcAft>
                <a:spcPts val="600"/>
              </a:spcAft>
              <a:buNone/>
            </a:pPr>
            <a:endParaRPr lang="en-AU" sz="2400" b="1" dirty="0" smtClean="0"/>
          </a:p>
          <a:p>
            <a:pPr>
              <a:spcBef>
                <a:spcPts val="600"/>
              </a:spcBef>
              <a:spcAft>
                <a:spcPts val="600"/>
              </a:spcAft>
              <a:buNone/>
            </a:pPr>
            <a:endParaRPr lang="en-AU" sz="2400" dirty="0" smtClean="0"/>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6" name="Picture 5" descr="8066436928_7f69aa090f_m.jpg"/>
          <p:cNvPicPr>
            <a:picLocks noChangeAspect="1"/>
          </p:cNvPicPr>
          <p:nvPr/>
        </p:nvPicPr>
        <p:blipFill>
          <a:blip r:embed="rId3" cstate="print"/>
          <a:stretch>
            <a:fillRect/>
          </a:stretch>
        </p:blipFill>
        <p:spPr>
          <a:xfrm>
            <a:off x="6948264" y="3068960"/>
            <a:ext cx="1448048" cy="2172072"/>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Maintain adequate supplies of wrapping materials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5229200"/>
          </a:xfrm>
        </p:spPr>
        <p:txBody>
          <a:bodyPr>
            <a:normAutofit/>
          </a:bodyPr>
          <a:lstStyle/>
          <a:p>
            <a:pPr>
              <a:spcBef>
                <a:spcPts val="600"/>
              </a:spcBef>
              <a:spcAft>
                <a:spcPts val="1200"/>
              </a:spcAft>
              <a:buNone/>
            </a:pPr>
            <a:r>
              <a:rPr lang="en-AU" sz="2000" b="1" dirty="0" smtClean="0">
                <a:latin typeface="Helvetica" pitchFamily="34" charset="0"/>
              </a:rPr>
              <a:t>Wrapping materials and bags</a:t>
            </a:r>
          </a:p>
          <a:p>
            <a:pPr lvl="0">
              <a:spcBef>
                <a:spcPts val="600"/>
              </a:spcBef>
              <a:spcAft>
                <a:spcPts val="1200"/>
              </a:spcAft>
            </a:pPr>
            <a:r>
              <a:rPr lang="en-AU" sz="2000" dirty="0" smtClean="0">
                <a:latin typeface="Helvetica" pitchFamily="34" charset="0"/>
              </a:rPr>
              <a:t>Half cartons </a:t>
            </a:r>
          </a:p>
          <a:p>
            <a:pPr lvl="0">
              <a:spcBef>
                <a:spcPts val="600"/>
              </a:spcBef>
              <a:spcAft>
                <a:spcPts val="1200"/>
              </a:spcAft>
            </a:pPr>
            <a:r>
              <a:rPr lang="en-AU" sz="2000" dirty="0" smtClean="0">
                <a:latin typeface="Helvetica" pitchFamily="34" charset="0"/>
              </a:rPr>
              <a:t>Full cartons </a:t>
            </a:r>
          </a:p>
          <a:p>
            <a:pPr lvl="0">
              <a:spcBef>
                <a:spcPts val="600"/>
              </a:spcBef>
              <a:spcAft>
                <a:spcPts val="1200"/>
              </a:spcAft>
            </a:pPr>
            <a:r>
              <a:rPr lang="en-AU" sz="2000" dirty="0" smtClean="0">
                <a:latin typeface="Helvetica" pitchFamily="34" charset="0"/>
              </a:rPr>
              <a:t>Special occasion bags </a:t>
            </a:r>
          </a:p>
          <a:p>
            <a:pPr lvl="0">
              <a:spcBef>
                <a:spcPts val="600"/>
              </a:spcBef>
              <a:spcAft>
                <a:spcPts val="1200"/>
              </a:spcAft>
            </a:pPr>
            <a:r>
              <a:rPr lang="en-AU" sz="2000" dirty="0" smtClean="0">
                <a:latin typeface="Helvetica" pitchFamily="34" charset="0"/>
              </a:rPr>
              <a:t>Gift wrapping paper</a:t>
            </a:r>
          </a:p>
          <a:p>
            <a:pPr lvl="0">
              <a:spcBef>
                <a:spcPts val="600"/>
              </a:spcBef>
              <a:spcAft>
                <a:spcPts val="1200"/>
              </a:spcAft>
            </a:pPr>
            <a:r>
              <a:rPr lang="en-AU" sz="2000" dirty="0" smtClean="0">
                <a:latin typeface="Helvetica" pitchFamily="34" charset="0"/>
              </a:rPr>
              <a:t>Sticky tape</a:t>
            </a:r>
          </a:p>
          <a:p>
            <a:pPr lvl="0">
              <a:spcBef>
                <a:spcPts val="600"/>
              </a:spcBef>
              <a:spcAft>
                <a:spcPts val="1200"/>
              </a:spcAft>
            </a:pPr>
            <a:r>
              <a:rPr lang="en-AU" sz="2000" dirty="0" smtClean="0">
                <a:latin typeface="Helvetica" pitchFamily="34" charset="0"/>
              </a:rPr>
              <a:t>Scissors</a:t>
            </a:r>
          </a:p>
          <a:p>
            <a:pPr lvl="0">
              <a:spcBef>
                <a:spcPts val="600"/>
              </a:spcBef>
              <a:spcAft>
                <a:spcPts val="1200"/>
              </a:spcAft>
            </a:pPr>
            <a:r>
              <a:rPr lang="en-AU" sz="2000" dirty="0" smtClean="0">
                <a:latin typeface="Helvetica" pitchFamily="34" charset="0"/>
              </a:rPr>
              <a:t>Ribbon and bows</a:t>
            </a:r>
          </a:p>
          <a:p>
            <a:pPr lvl="0">
              <a:spcBef>
                <a:spcPts val="600"/>
              </a:spcBef>
              <a:spcAft>
                <a:spcPts val="1200"/>
              </a:spcAft>
            </a:pPr>
            <a:r>
              <a:rPr lang="en-AU" sz="2000" dirty="0" smtClean="0">
                <a:latin typeface="Helvetica" pitchFamily="34" charset="0"/>
              </a:rPr>
              <a:t>Gift cards</a:t>
            </a:r>
          </a:p>
          <a:p>
            <a:pPr>
              <a:spcBef>
                <a:spcPts val="600"/>
              </a:spcBef>
              <a:spcAft>
                <a:spcPts val="600"/>
              </a:spcAft>
              <a:buNone/>
            </a:pPr>
            <a:endParaRPr lang="en-AU" sz="2000" b="1" dirty="0" smtClean="0"/>
          </a:p>
          <a:p>
            <a:pPr>
              <a:spcBef>
                <a:spcPts val="600"/>
              </a:spcBef>
              <a:spcAft>
                <a:spcPts val="600"/>
              </a:spcAft>
              <a:buNone/>
            </a:pPr>
            <a:endParaRPr lang="en-AU" sz="2000" dirty="0" smtClean="0"/>
          </a:p>
          <a:p>
            <a:pPr>
              <a:spcBef>
                <a:spcPts val="600"/>
              </a:spcBef>
              <a:spcAft>
                <a:spcPts val="600"/>
              </a:spcAft>
              <a:buNone/>
            </a:pP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7" name="Picture 6" descr="4399771236_a3c0a7dd9b_m.jpg"/>
          <p:cNvPicPr>
            <a:picLocks noChangeAspect="1"/>
          </p:cNvPicPr>
          <p:nvPr/>
        </p:nvPicPr>
        <p:blipFill>
          <a:blip r:embed="rId3" cstate="print"/>
          <a:stretch>
            <a:fillRect/>
          </a:stretch>
        </p:blipFill>
        <p:spPr>
          <a:xfrm>
            <a:off x="6156176" y="3645024"/>
            <a:ext cx="2243982" cy="1505338"/>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Pack goods in a suitably sized bag</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Care when packing</a:t>
            </a:r>
          </a:p>
          <a:p>
            <a:pPr marL="0">
              <a:spcBef>
                <a:spcPts val="600"/>
              </a:spcBef>
              <a:spcAft>
                <a:spcPts val="1200"/>
              </a:spcAft>
              <a:buNone/>
            </a:pPr>
            <a:r>
              <a:rPr lang="en-AU" sz="2200" dirty="0" smtClean="0">
                <a:latin typeface="Helvetica" pitchFamily="34" charset="0"/>
              </a:rPr>
              <a:t>When wrapping liquor products, care must be paid to ensure it is wrapped appropriately for the individual sale.</a:t>
            </a:r>
          </a:p>
          <a:p>
            <a:pPr>
              <a:spcBef>
                <a:spcPts val="600"/>
              </a:spcBef>
              <a:spcAft>
                <a:spcPts val="1200"/>
              </a:spcAft>
              <a:buNone/>
            </a:pPr>
            <a:r>
              <a:rPr lang="en-AU" sz="2200" dirty="0" smtClean="0">
                <a:latin typeface="Helvetica" pitchFamily="34" charset="0"/>
              </a:rPr>
              <a:t>This means special attention needs to be paid when:</a:t>
            </a:r>
          </a:p>
          <a:p>
            <a:pPr lvl="0">
              <a:spcBef>
                <a:spcPts val="600"/>
              </a:spcBef>
              <a:spcAft>
                <a:spcPts val="1200"/>
              </a:spcAft>
            </a:pPr>
            <a:r>
              <a:rPr lang="en-AU" sz="2200" dirty="0" smtClean="0">
                <a:latin typeface="Helvetica" pitchFamily="34" charset="0"/>
              </a:rPr>
              <a:t>Packing stock for home delivery </a:t>
            </a:r>
          </a:p>
          <a:p>
            <a:pPr lvl="0">
              <a:spcBef>
                <a:spcPts val="600"/>
              </a:spcBef>
              <a:spcAft>
                <a:spcPts val="1200"/>
              </a:spcAft>
            </a:pPr>
            <a:r>
              <a:rPr lang="en-AU" sz="2200" dirty="0" smtClean="0">
                <a:latin typeface="Helvetica" pitchFamily="34" charset="0"/>
              </a:rPr>
              <a:t>Gift wrapping</a:t>
            </a:r>
          </a:p>
          <a:p>
            <a:pPr lvl="0">
              <a:spcBef>
                <a:spcPts val="600"/>
              </a:spcBef>
              <a:spcAft>
                <a:spcPts val="1200"/>
              </a:spcAft>
            </a:pPr>
            <a:r>
              <a:rPr lang="en-AU" sz="2200" dirty="0" smtClean="0">
                <a:latin typeface="Helvetica" pitchFamily="34" charset="0"/>
              </a:rPr>
              <a:t>Meeting specifically stated customer </a:t>
            </a:r>
            <a:br>
              <a:rPr lang="en-AU" sz="2200" dirty="0" smtClean="0">
                <a:latin typeface="Helvetica" pitchFamily="34" charset="0"/>
              </a:rPr>
            </a:br>
            <a:r>
              <a:rPr lang="en-AU" sz="2200" dirty="0" smtClean="0">
                <a:latin typeface="Helvetica" pitchFamily="34" charset="0"/>
              </a:rPr>
              <a:t>requirements</a:t>
            </a:r>
          </a:p>
          <a:p>
            <a:pPr>
              <a:spcBef>
                <a:spcPts val="600"/>
              </a:spcBef>
              <a:spcAft>
                <a:spcPts val="600"/>
              </a:spcAft>
              <a:buNone/>
            </a:pPr>
            <a:endParaRPr lang="en-AU" sz="2400" b="1" dirty="0" smtClean="0"/>
          </a:p>
          <a:p>
            <a:pPr>
              <a:spcBef>
                <a:spcPts val="600"/>
              </a:spcBef>
              <a:spcAft>
                <a:spcPts val="600"/>
              </a:spcAft>
              <a:buNone/>
            </a:pPr>
            <a:endParaRPr lang="en-AU" sz="2400" dirty="0" smtClean="0"/>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6" name="Picture 5" descr="5006571528_cf9aa372ff_m.jpg"/>
          <p:cNvPicPr/>
          <p:nvPr/>
        </p:nvPicPr>
        <p:blipFill>
          <a:blip r:embed="rId3" cstate="print"/>
          <a:stretch>
            <a:fillRect/>
          </a:stretch>
        </p:blipFill>
        <p:spPr>
          <a:xfrm>
            <a:off x="6660232" y="3933056"/>
            <a:ext cx="1708200" cy="1243955"/>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Pack goods in a suitably sized bag</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Wrapping options</a:t>
            </a:r>
          </a:p>
          <a:p>
            <a:pPr lvl="0">
              <a:spcBef>
                <a:spcPts val="600"/>
              </a:spcBef>
              <a:spcAft>
                <a:spcPts val="1200"/>
              </a:spcAft>
            </a:pPr>
            <a:r>
              <a:rPr lang="en-AU" sz="2200" dirty="0" smtClean="0">
                <a:latin typeface="Helvetica" pitchFamily="34" charset="0"/>
              </a:rPr>
              <a:t>Gift wrapping</a:t>
            </a:r>
          </a:p>
          <a:p>
            <a:pPr>
              <a:spcBef>
                <a:spcPts val="600"/>
              </a:spcBef>
              <a:spcAft>
                <a:spcPts val="1200"/>
              </a:spcAft>
            </a:pPr>
            <a:r>
              <a:rPr lang="en-AU" sz="2200" dirty="0" smtClean="0">
                <a:latin typeface="Helvetica" pitchFamily="34" charset="0"/>
              </a:rPr>
              <a:t>To bag or to box</a:t>
            </a:r>
          </a:p>
          <a:p>
            <a:pPr>
              <a:spcBef>
                <a:spcPts val="600"/>
              </a:spcBef>
              <a:spcAft>
                <a:spcPts val="1200"/>
              </a:spcAft>
            </a:pPr>
            <a:r>
              <a:rPr lang="en-AU" sz="2200" dirty="0" smtClean="0">
                <a:latin typeface="Helvetica" pitchFamily="34" charset="0"/>
              </a:rPr>
              <a:t>Pre-bagging</a:t>
            </a:r>
          </a:p>
          <a:p>
            <a:pPr lvl="0">
              <a:spcBef>
                <a:spcPts val="600"/>
              </a:spcBef>
              <a:spcAft>
                <a:spcPts val="1200"/>
              </a:spcAft>
            </a:pPr>
            <a:endParaRPr lang="en-AU" sz="2200" dirty="0" smtClean="0">
              <a:latin typeface="Helvetica" pitchFamily="34" charset="0"/>
            </a:endParaRPr>
          </a:p>
          <a:p>
            <a:pPr>
              <a:spcBef>
                <a:spcPts val="600"/>
              </a:spcBef>
              <a:spcAft>
                <a:spcPts val="600"/>
              </a:spcAft>
              <a:buNone/>
            </a:pPr>
            <a:endParaRPr lang="en-AU" sz="2400" b="1" dirty="0" smtClean="0"/>
          </a:p>
          <a:p>
            <a:pPr>
              <a:spcBef>
                <a:spcPts val="600"/>
              </a:spcBef>
              <a:spcAft>
                <a:spcPts val="600"/>
              </a:spcAft>
              <a:buNone/>
            </a:pPr>
            <a:endParaRPr lang="en-AU" sz="2400" dirty="0" smtClean="0"/>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7" name="Picture 6" descr="4243515421_6f1ea10d7e_m.jpg"/>
          <p:cNvPicPr/>
          <p:nvPr/>
        </p:nvPicPr>
        <p:blipFill>
          <a:blip r:embed="rId3" cstate="print"/>
          <a:stretch>
            <a:fillRect/>
          </a:stretch>
        </p:blipFill>
        <p:spPr>
          <a:xfrm>
            <a:off x="6228184" y="3717032"/>
            <a:ext cx="2135113" cy="1504181"/>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Pack goods in a suitably sized bag</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Keys to effective packing </a:t>
            </a:r>
          </a:p>
          <a:p>
            <a:pPr lvl="0">
              <a:spcBef>
                <a:spcPts val="600"/>
              </a:spcBef>
              <a:spcAft>
                <a:spcPts val="1200"/>
              </a:spcAft>
            </a:pPr>
            <a:r>
              <a:rPr lang="en-AU" sz="2200" dirty="0" smtClean="0">
                <a:latin typeface="Helvetica" pitchFamily="34" charset="0"/>
              </a:rPr>
              <a:t>Select the appropriate wrapping paper or bag</a:t>
            </a:r>
          </a:p>
          <a:p>
            <a:pPr lvl="0">
              <a:spcBef>
                <a:spcPts val="600"/>
              </a:spcBef>
              <a:spcAft>
                <a:spcPts val="1200"/>
              </a:spcAft>
            </a:pPr>
            <a:r>
              <a:rPr lang="en-AU" sz="2200" dirty="0" smtClean="0">
                <a:latin typeface="Helvetica" pitchFamily="34" charset="0"/>
              </a:rPr>
              <a:t>Make sure the wrapper is sound, clean and tidy</a:t>
            </a:r>
          </a:p>
          <a:p>
            <a:pPr lvl="0">
              <a:spcBef>
                <a:spcPts val="600"/>
              </a:spcBef>
              <a:spcAft>
                <a:spcPts val="1200"/>
              </a:spcAft>
            </a:pPr>
            <a:r>
              <a:rPr lang="en-AU" sz="2200" dirty="0" smtClean="0">
                <a:latin typeface="Helvetica" pitchFamily="34" charset="0"/>
              </a:rPr>
              <a:t>Take a little time and trouble to bag or box the goods</a:t>
            </a:r>
          </a:p>
          <a:p>
            <a:pPr lvl="0">
              <a:spcBef>
                <a:spcPts val="600"/>
              </a:spcBef>
              <a:spcAft>
                <a:spcPts val="1200"/>
              </a:spcAft>
            </a:pPr>
            <a:r>
              <a:rPr lang="en-AU" sz="2200" dirty="0" smtClean="0">
                <a:latin typeface="Helvetica" pitchFamily="34" charset="0"/>
              </a:rPr>
              <a:t>Check the way the package looks </a:t>
            </a:r>
          </a:p>
          <a:p>
            <a:pPr lvl="0">
              <a:spcBef>
                <a:spcPts val="600"/>
              </a:spcBef>
              <a:spcAft>
                <a:spcPts val="1200"/>
              </a:spcAft>
            </a:pPr>
            <a:r>
              <a:rPr lang="en-AU" sz="2200" dirty="0" smtClean="0">
                <a:latin typeface="Helvetica" pitchFamily="34" charset="0"/>
              </a:rPr>
              <a:t>Don’t be afraid to re-do anything that </a:t>
            </a:r>
            <a:br>
              <a:rPr lang="en-AU" sz="2200" dirty="0" smtClean="0">
                <a:latin typeface="Helvetica" pitchFamily="34" charset="0"/>
              </a:rPr>
            </a:br>
            <a:r>
              <a:rPr lang="en-AU" sz="2200" dirty="0" smtClean="0">
                <a:latin typeface="Helvetica" pitchFamily="34" charset="0"/>
              </a:rPr>
              <a:t>needs attention’</a:t>
            </a:r>
          </a:p>
          <a:p>
            <a:pPr lvl="0">
              <a:spcBef>
                <a:spcPts val="600"/>
              </a:spcBef>
              <a:spcAft>
                <a:spcPts val="1200"/>
              </a:spcAft>
            </a:pPr>
            <a:r>
              <a:rPr lang="en-AU" sz="2200" dirty="0" smtClean="0">
                <a:latin typeface="Helvetica" pitchFamily="34" charset="0"/>
              </a:rPr>
              <a:t>Hand it over carefully, smile and thank </a:t>
            </a:r>
            <a:br>
              <a:rPr lang="en-AU" sz="2200" dirty="0" smtClean="0">
                <a:latin typeface="Helvetica" pitchFamily="34" charset="0"/>
              </a:rPr>
            </a:br>
            <a:r>
              <a:rPr lang="en-AU" sz="2200" dirty="0" smtClean="0">
                <a:latin typeface="Helvetica" pitchFamily="34" charset="0"/>
              </a:rPr>
              <a:t>the customer</a:t>
            </a:r>
          </a:p>
          <a:p>
            <a:pPr lvl="0">
              <a:spcBef>
                <a:spcPts val="600"/>
              </a:spcBef>
              <a:spcAft>
                <a:spcPts val="1200"/>
              </a:spcAft>
            </a:pPr>
            <a:endParaRPr lang="en-AU" sz="2200" dirty="0" smtClean="0">
              <a:latin typeface="Helvetica" pitchFamily="34" charset="0"/>
            </a:endParaRPr>
          </a:p>
          <a:p>
            <a:pPr>
              <a:spcBef>
                <a:spcPts val="600"/>
              </a:spcBef>
              <a:spcAft>
                <a:spcPts val="600"/>
              </a:spcAft>
              <a:buNone/>
            </a:pPr>
            <a:endParaRPr lang="en-AU" sz="2400" b="1" dirty="0" smtClean="0"/>
          </a:p>
          <a:p>
            <a:pPr>
              <a:spcBef>
                <a:spcPts val="600"/>
              </a:spcBef>
              <a:spcAft>
                <a:spcPts val="600"/>
              </a:spcAft>
              <a:buNone/>
            </a:pPr>
            <a:endParaRPr lang="en-AU" sz="2400" dirty="0" smtClean="0"/>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6" name="Picture 5" descr="7897560408_075e51243e_m.jpg"/>
          <p:cNvPicPr/>
          <p:nvPr/>
        </p:nvPicPr>
        <p:blipFill>
          <a:blip r:embed="rId3" cstate="print"/>
          <a:stretch>
            <a:fillRect/>
          </a:stretch>
        </p:blipFill>
        <p:spPr>
          <a:xfrm>
            <a:off x="6660232" y="4077072"/>
            <a:ext cx="1728192" cy="1296144"/>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Pack goods in a suitably sized bag</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Practical gift wrapping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Clear a space on which to work </a:t>
            </a:r>
          </a:p>
          <a:p>
            <a:pPr lvl="0">
              <a:spcBef>
                <a:spcPts val="600"/>
              </a:spcBef>
              <a:spcAft>
                <a:spcPts val="1200"/>
              </a:spcAft>
            </a:pPr>
            <a:r>
              <a:rPr lang="en-AU" sz="2200" dirty="0" smtClean="0">
                <a:latin typeface="Helvetica" pitchFamily="34" charset="0"/>
              </a:rPr>
              <a:t>Select the correct paper and cut the paper to size </a:t>
            </a:r>
          </a:p>
          <a:p>
            <a:pPr lvl="0">
              <a:spcBef>
                <a:spcPts val="600"/>
              </a:spcBef>
              <a:spcAft>
                <a:spcPts val="1200"/>
              </a:spcAft>
            </a:pPr>
            <a:r>
              <a:rPr lang="en-AU" sz="2200" dirty="0" smtClean="0">
                <a:latin typeface="Helvetica" pitchFamily="34" charset="0"/>
              </a:rPr>
              <a:t>Fold and wrap the product neatly tucking the tops and bottoms carefully and flat </a:t>
            </a:r>
          </a:p>
          <a:p>
            <a:pPr lvl="0">
              <a:spcBef>
                <a:spcPts val="600"/>
              </a:spcBef>
              <a:spcAft>
                <a:spcPts val="1200"/>
              </a:spcAft>
            </a:pPr>
            <a:r>
              <a:rPr lang="en-AU" sz="2200" dirty="0" smtClean="0">
                <a:latin typeface="Helvetica" pitchFamily="34" charset="0"/>
              </a:rPr>
              <a:t>Use sticky tape carefully</a:t>
            </a:r>
          </a:p>
          <a:p>
            <a:pPr lvl="0">
              <a:spcBef>
                <a:spcPts val="600"/>
              </a:spcBef>
              <a:spcAft>
                <a:spcPts val="1200"/>
              </a:spcAft>
            </a:pPr>
            <a:r>
              <a:rPr lang="en-AU" sz="2200" dirty="0" smtClean="0">
                <a:latin typeface="Helvetica" pitchFamily="34" charset="0"/>
              </a:rPr>
              <a:t>Add a bow and ribbons if required</a:t>
            </a:r>
          </a:p>
          <a:p>
            <a:pPr lvl="0">
              <a:spcBef>
                <a:spcPts val="600"/>
              </a:spcBef>
              <a:spcAft>
                <a:spcPts val="1200"/>
              </a:spcAft>
            </a:pPr>
            <a:r>
              <a:rPr lang="en-AU" sz="2200" dirty="0" smtClean="0">
                <a:latin typeface="Helvetica" pitchFamily="34" charset="0"/>
              </a:rPr>
              <a:t>Present the purchaser with a small gift card </a:t>
            </a:r>
          </a:p>
          <a:p>
            <a:pPr lvl="0">
              <a:spcBef>
                <a:spcPts val="600"/>
              </a:spcBef>
              <a:spcAft>
                <a:spcPts val="1200"/>
              </a:spcAft>
            </a:pPr>
            <a:r>
              <a:rPr lang="en-AU" sz="2200" dirty="0" smtClean="0">
                <a:latin typeface="Helvetica" pitchFamily="34" charset="0"/>
              </a:rPr>
              <a:t>Give the package carefully to the customer</a:t>
            </a:r>
          </a:p>
          <a:p>
            <a:pPr lvl="0">
              <a:spcBef>
                <a:spcPts val="600"/>
              </a:spcBef>
              <a:spcAft>
                <a:spcPts val="1200"/>
              </a:spcAft>
            </a:pPr>
            <a:endParaRPr lang="en-AU" sz="2200" dirty="0" smtClean="0">
              <a:latin typeface="Helvetica" pitchFamily="34" charset="0"/>
            </a:endParaRPr>
          </a:p>
          <a:p>
            <a:pPr>
              <a:spcBef>
                <a:spcPts val="600"/>
              </a:spcBef>
              <a:spcAft>
                <a:spcPts val="600"/>
              </a:spcAft>
              <a:buNone/>
            </a:pPr>
            <a:endParaRPr lang="en-AU" sz="2400" b="1" dirty="0" smtClean="0"/>
          </a:p>
          <a:p>
            <a:pPr>
              <a:spcBef>
                <a:spcPts val="600"/>
              </a:spcBef>
              <a:spcAft>
                <a:spcPts val="600"/>
              </a:spcAft>
              <a:buNone/>
            </a:pPr>
            <a:endParaRPr lang="en-AU" sz="2400" dirty="0" smtClean="0"/>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7" name="Picture 6" descr="8028005326_94f307d1fd_m.jpg"/>
          <p:cNvPicPr/>
          <p:nvPr/>
        </p:nvPicPr>
        <p:blipFill>
          <a:blip r:embed="rId3" cstate="print"/>
          <a:stretch>
            <a:fillRect/>
          </a:stretch>
        </p:blipFill>
        <p:spPr>
          <a:xfrm>
            <a:off x="6660232" y="4077072"/>
            <a:ext cx="1712590" cy="1183382"/>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Follow safe work practices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Pack items safely to prevent any damage in transit</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Transit or ‘transportation’ options from the liquor outlet are potentially threefold and they involve:</a:t>
            </a:r>
          </a:p>
          <a:p>
            <a:pPr lvl="0">
              <a:spcBef>
                <a:spcPts val="600"/>
              </a:spcBef>
              <a:spcAft>
                <a:spcPts val="1200"/>
              </a:spcAft>
            </a:pPr>
            <a:r>
              <a:rPr lang="en-AU" sz="2200" dirty="0" smtClean="0">
                <a:latin typeface="Helvetica" pitchFamily="34" charset="0"/>
              </a:rPr>
              <a:t>The customer taking their goods and getting them home</a:t>
            </a:r>
          </a:p>
          <a:p>
            <a:pPr lvl="0">
              <a:spcBef>
                <a:spcPts val="600"/>
              </a:spcBef>
              <a:spcAft>
                <a:spcPts val="1200"/>
              </a:spcAft>
            </a:pPr>
            <a:r>
              <a:rPr lang="en-AU" sz="2200" dirty="0" smtClean="0">
                <a:latin typeface="Helvetica" pitchFamily="34" charset="0"/>
              </a:rPr>
              <a:t>The outlet making a home delivery</a:t>
            </a:r>
          </a:p>
          <a:p>
            <a:pPr lvl="0">
              <a:spcBef>
                <a:spcPts val="600"/>
              </a:spcBef>
              <a:spcAft>
                <a:spcPts val="1200"/>
              </a:spcAft>
            </a:pPr>
            <a:r>
              <a:rPr lang="en-AU" sz="2200" dirty="0" smtClean="0">
                <a:latin typeface="Helvetica" pitchFamily="34" charset="0"/>
              </a:rPr>
              <a:t>The outlet mailing or couriering the items </a:t>
            </a:r>
            <a:br>
              <a:rPr lang="en-AU" sz="2200" dirty="0" smtClean="0">
                <a:latin typeface="Helvetica" pitchFamily="34" charset="0"/>
              </a:rPr>
            </a:br>
            <a:r>
              <a:rPr lang="en-AU" sz="2200" dirty="0" smtClean="0">
                <a:latin typeface="Helvetica" pitchFamily="34" charset="0"/>
              </a:rPr>
              <a:t>to their destination</a:t>
            </a:r>
          </a:p>
          <a:p>
            <a:pPr lvl="0">
              <a:spcBef>
                <a:spcPts val="600"/>
              </a:spcBef>
              <a:spcAft>
                <a:spcPts val="1200"/>
              </a:spcAft>
            </a:pPr>
            <a:endParaRPr lang="en-AU" sz="2200" dirty="0" smtClean="0">
              <a:latin typeface="Helvetica" pitchFamily="34" charset="0"/>
            </a:endParaRPr>
          </a:p>
          <a:p>
            <a:pPr>
              <a:spcBef>
                <a:spcPts val="600"/>
              </a:spcBef>
              <a:spcAft>
                <a:spcPts val="600"/>
              </a:spcAft>
              <a:buNone/>
            </a:pPr>
            <a:endParaRPr lang="en-AU" sz="2400" b="1" dirty="0" smtClean="0"/>
          </a:p>
          <a:p>
            <a:pPr>
              <a:spcBef>
                <a:spcPts val="600"/>
              </a:spcBef>
              <a:spcAft>
                <a:spcPts val="600"/>
              </a:spcAft>
              <a:buNone/>
            </a:pPr>
            <a:endParaRPr lang="en-AU" sz="2400" dirty="0" smtClean="0"/>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8" name="Picture 7" descr="6570790435_f4c5697067_m.jpg"/>
          <p:cNvPicPr/>
          <p:nvPr/>
        </p:nvPicPr>
        <p:blipFill>
          <a:blip r:embed="rId3" cstate="print"/>
          <a:stretch>
            <a:fillRect/>
          </a:stretch>
        </p:blipFill>
        <p:spPr>
          <a:xfrm>
            <a:off x="6804248" y="4005064"/>
            <a:ext cx="1584176" cy="1224136"/>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Follow safe work practices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Safe packing techniques for delivery</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Notify those handling the cartons that they are fragile </a:t>
            </a:r>
          </a:p>
          <a:p>
            <a:pPr lvl="0">
              <a:spcBef>
                <a:spcPts val="600"/>
              </a:spcBef>
              <a:spcAft>
                <a:spcPts val="1200"/>
              </a:spcAft>
            </a:pPr>
            <a:r>
              <a:rPr lang="en-AU" sz="2200" dirty="0" smtClean="0">
                <a:latin typeface="Helvetica" pitchFamily="34" charset="0"/>
              </a:rPr>
              <a:t>Handle the packs carefully at your end </a:t>
            </a:r>
          </a:p>
          <a:p>
            <a:pPr lvl="0">
              <a:spcBef>
                <a:spcPts val="600"/>
              </a:spcBef>
              <a:spcAft>
                <a:spcPts val="1200"/>
              </a:spcAft>
            </a:pPr>
            <a:r>
              <a:rPr lang="en-AU" sz="2200" dirty="0" smtClean="0">
                <a:latin typeface="Helvetica" pitchFamily="34" charset="0"/>
              </a:rPr>
              <a:t>Ensure a legible name and address for delivery are readily visible</a:t>
            </a:r>
          </a:p>
          <a:p>
            <a:pPr lvl="0">
              <a:spcBef>
                <a:spcPts val="600"/>
              </a:spcBef>
              <a:spcAft>
                <a:spcPts val="1200"/>
              </a:spcAft>
            </a:pPr>
            <a:r>
              <a:rPr lang="en-AU" sz="2200" dirty="0" smtClean="0">
                <a:latin typeface="Helvetica" pitchFamily="34" charset="0"/>
              </a:rPr>
              <a:t>Make sure your liquor outlet’s name, address and phone number (as the Sender) is readily visible </a:t>
            </a:r>
          </a:p>
          <a:p>
            <a:pPr lvl="0">
              <a:spcBef>
                <a:spcPts val="600"/>
              </a:spcBef>
              <a:spcAft>
                <a:spcPts val="1200"/>
              </a:spcAft>
            </a:pPr>
            <a:r>
              <a:rPr lang="en-AU" sz="2200" dirty="0" smtClean="0">
                <a:latin typeface="Helvetica" pitchFamily="34" charset="0"/>
              </a:rPr>
              <a:t>Only use recognised couriers with a </a:t>
            </a:r>
            <a:br>
              <a:rPr lang="en-AU" sz="2200" dirty="0" smtClean="0">
                <a:latin typeface="Helvetica" pitchFamily="34" charset="0"/>
              </a:rPr>
            </a:br>
            <a:r>
              <a:rPr lang="en-AU" sz="2200" dirty="0" smtClean="0">
                <a:latin typeface="Helvetica" pitchFamily="34" charset="0"/>
              </a:rPr>
              <a:t>good track record</a:t>
            </a:r>
          </a:p>
          <a:p>
            <a:pPr>
              <a:spcBef>
                <a:spcPts val="600"/>
              </a:spcBef>
              <a:spcAft>
                <a:spcPts val="1200"/>
              </a:spcAft>
            </a:pPr>
            <a:r>
              <a:rPr lang="en-AU" sz="2200" dirty="0" smtClean="0">
                <a:latin typeface="Helvetica" pitchFamily="34" charset="0"/>
              </a:rPr>
              <a:t>Tape finished boxes securely </a:t>
            </a:r>
          </a:p>
          <a:p>
            <a:pPr>
              <a:spcBef>
                <a:spcPts val="600"/>
              </a:spcBef>
              <a:spcAft>
                <a:spcPts val="600"/>
              </a:spcAft>
              <a:buNone/>
            </a:pPr>
            <a:endParaRPr lang="en-AU" sz="2400" b="1" dirty="0" smtClean="0"/>
          </a:p>
          <a:p>
            <a:pPr>
              <a:spcBef>
                <a:spcPts val="600"/>
              </a:spcBef>
              <a:spcAft>
                <a:spcPts val="600"/>
              </a:spcAft>
              <a:buNone/>
            </a:pPr>
            <a:endParaRPr lang="en-AU" sz="2400" dirty="0" smtClean="0"/>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6" name="Picture 5" descr="4183776449_f557ceec92_m.jpg"/>
          <p:cNvPicPr/>
          <p:nvPr/>
        </p:nvPicPr>
        <p:blipFill>
          <a:blip r:embed="rId3" cstate="print"/>
          <a:stretch>
            <a:fillRect/>
          </a:stretch>
        </p:blipFill>
        <p:spPr>
          <a:xfrm>
            <a:off x="6948264" y="4437112"/>
            <a:ext cx="1411982" cy="1111374"/>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grpSp>
        <p:nvGrpSpPr>
          <p:cNvPr id="22" name="Group 21"/>
          <p:cNvGrpSpPr/>
          <p:nvPr/>
        </p:nvGrpSpPr>
        <p:grpSpPr>
          <a:xfrm>
            <a:off x="2267744" y="692696"/>
            <a:ext cx="2744539" cy="4844752"/>
            <a:chOff x="3635896" y="1700808"/>
            <a:chExt cx="2744539" cy="4844752"/>
          </a:xfrm>
        </p:grpSpPr>
        <p:grpSp>
          <p:nvGrpSpPr>
            <p:cNvPr id="18" name="Group 17"/>
            <p:cNvGrpSpPr/>
            <p:nvPr/>
          </p:nvGrpSpPr>
          <p:grpSpPr>
            <a:xfrm>
              <a:off x="3635896" y="1700808"/>
              <a:ext cx="2744539" cy="4844752"/>
              <a:chOff x="6003925" y="1752600"/>
              <a:chExt cx="2744539" cy="4844752"/>
            </a:xfrm>
          </p:grpSpPr>
          <p:grpSp>
            <p:nvGrpSpPr>
              <p:cNvPr id="17" name="Group 16"/>
              <p:cNvGrpSpPr/>
              <p:nvPr/>
            </p:nvGrpSpPr>
            <p:grpSpPr>
              <a:xfrm>
                <a:off x="6156176" y="1752600"/>
                <a:ext cx="2384425" cy="1946275"/>
                <a:chOff x="5843588" y="1752600"/>
                <a:chExt cx="2384425" cy="1946275"/>
              </a:xfrm>
            </p:grpSpPr>
            <p:grpSp>
              <p:nvGrpSpPr>
                <p:cNvPr id="10" name="Group 19"/>
                <p:cNvGrpSpPr>
                  <a:grpSpLocks/>
                </p:cNvGrpSpPr>
                <p:nvPr/>
              </p:nvGrpSpPr>
              <p:grpSpPr bwMode="auto">
                <a:xfrm>
                  <a:off x="5843588" y="1752600"/>
                  <a:ext cx="2384425" cy="538163"/>
                  <a:chOff x="3969" y="1126"/>
                  <a:chExt cx="1502" cy="339"/>
                </a:xfrm>
              </p:grpSpPr>
              <p:sp>
                <p:nvSpPr>
                  <p:cNvPr id="14" name="AutoShape 20"/>
                  <p:cNvSpPr>
                    <a:spLocks noChangeArrowheads="1"/>
                  </p:cNvSpPr>
                  <p:nvPr/>
                </p:nvSpPr>
                <p:spPr bwMode="gray">
                  <a:xfrm>
                    <a:off x="3969" y="1126"/>
                    <a:ext cx="1502" cy="339"/>
                  </a:xfrm>
                  <a:prstGeom prst="roundRect">
                    <a:avLst>
                      <a:gd name="adj" fmla="val 50000"/>
                    </a:avLst>
                  </a:prstGeom>
                  <a:gradFill rotWithShape="1">
                    <a:gsLst>
                      <a:gs pos="0">
                        <a:srgbClr val="EAEAEA">
                          <a:gamma/>
                          <a:shade val="36078"/>
                          <a:invGamma/>
                        </a:srgbClr>
                      </a:gs>
                      <a:gs pos="50000">
                        <a:srgbClr val="EAEAEA"/>
                      </a:gs>
                      <a:gs pos="100000">
                        <a:srgbClr val="EAEAEA">
                          <a:gamma/>
                          <a:shade val="36078"/>
                          <a:invGamma/>
                        </a:srgbClr>
                      </a:gs>
                    </a:gsLst>
                    <a:lin ang="5400000" scaled="1"/>
                  </a:gradFill>
                  <a:ln w="9525" algn="ctr">
                    <a:noFill/>
                    <a:round/>
                    <a:headEnd/>
                    <a:tailEnd/>
                  </a:ln>
                  <a:effectLst>
                    <a:outerShdw dist="40161" dir="4293903" algn="ctr" rotWithShape="0">
                      <a:srgbClr val="FFFFCC">
                        <a:alpha val="50000"/>
                      </a:srgbClr>
                    </a:outerShdw>
                  </a:effectLst>
                </p:spPr>
                <p:txBody>
                  <a:bodyPr wrap="none" anchor="ctr"/>
                  <a:lstStyle/>
                  <a:p>
                    <a:pPr>
                      <a:defRPr/>
                    </a:pPr>
                    <a:endParaRPr lang="en-AU" dirty="0"/>
                  </a:p>
                </p:txBody>
              </p:sp>
              <p:sp>
                <p:nvSpPr>
                  <p:cNvPr id="15" name="AutoShape 21"/>
                  <p:cNvSpPr>
                    <a:spLocks noChangeArrowheads="1"/>
                  </p:cNvSpPr>
                  <p:nvPr/>
                </p:nvSpPr>
                <p:spPr bwMode="gray">
                  <a:xfrm>
                    <a:off x="3988" y="1145"/>
                    <a:ext cx="1464" cy="303"/>
                  </a:xfrm>
                  <a:prstGeom prst="roundRect">
                    <a:avLst>
                      <a:gd name="adj" fmla="val 50000"/>
                    </a:avLst>
                  </a:prstGeom>
                  <a:gradFill rotWithShape="1">
                    <a:gsLst>
                      <a:gs pos="0">
                        <a:schemeClr val="hlink">
                          <a:alpha val="89999"/>
                        </a:schemeClr>
                      </a:gs>
                      <a:gs pos="50000">
                        <a:schemeClr val="hlink">
                          <a:gamma/>
                          <a:tint val="33725"/>
                          <a:invGamma/>
                        </a:schemeClr>
                      </a:gs>
                      <a:gs pos="100000">
                        <a:schemeClr val="hlink">
                          <a:alpha val="89999"/>
                        </a:schemeClr>
                      </a:gs>
                    </a:gsLst>
                    <a:lin ang="0" scaled="1"/>
                  </a:gradFill>
                  <a:ln w="9525" algn="ctr">
                    <a:noFill/>
                    <a:round/>
                    <a:headEnd/>
                    <a:tailEnd/>
                  </a:ln>
                  <a:effectLst/>
                </p:spPr>
                <p:txBody>
                  <a:bodyPr wrap="none" anchor="ctr"/>
                  <a:lstStyle/>
                  <a:p>
                    <a:pPr>
                      <a:defRPr/>
                    </a:pPr>
                    <a:endParaRPr lang="en-AU" dirty="0"/>
                  </a:p>
                </p:txBody>
              </p:sp>
            </p:grpSp>
            <p:sp>
              <p:nvSpPr>
                <p:cNvPr id="11" name="Rectangle 22"/>
                <p:cNvSpPr>
                  <a:spLocks noChangeArrowheads="1"/>
                </p:cNvSpPr>
                <p:nvPr/>
              </p:nvSpPr>
              <p:spPr bwMode="gray">
                <a:xfrm>
                  <a:off x="6229205" y="1822450"/>
                  <a:ext cx="1638590" cy="369332"/>
                </a:xfrm>
                <a:prstGeom prst="rect">
                  <a:avLst/>
                </a:prstGeom>
                <a:noFill/>
                <a:ln w="9525" algn="ctr">
                  <a:noFill/>
                  <a:miter lim="800000"/>
                  <a:headEnd/>
                  <a:tailEnd/>
                </a:ln>
              </p:spPr>
              <p:txBody>
                <a:bodyPr wrap="none" tIns="0" bIns="0">
                  <a:spAutoFit/>
                </a:bodyPr>
                <a:lstStyle/>
                <a:p>
                  <a:pPr algn="ctr"/>
                  <a:r>
                    <a:rPr lang="en-AU" sz="2400" b="1" dirty="0" smtClean="0"/>
                    <a:t>Element 3</a:t>
                  </a:r>
                  <a:endParaRPr lang="en-AU" sz="2400" b="1" dirty="0"/>
                </a:p>
              </p:txBody>
            </p:sp>
            <p:sp>
              <p:nvSpPr>
                <p:cNvPr id="12" name="AutoShape 29"/>
                <p:cNvSpPr>
                  <a:spLocks noChangeArrowheads="1"/>
                </p:cNvSpPr>
                <p:nvPr/>
              </p:nvSpPr>
              <p:spPr bwMode="gray">
                <a:xfrm flipV="1">
                  <a:off x="6019800" y="2327275"/>
                  <a:ext cx="1981200" cy="1371600"/>
                </a:xfrm>
                <a:prstGeom prst="triangle">
                  <a:avLst>
                    <a:gd name="adj" fmla="val 50000"/>
                  </a:avLst>
                </a:prstGeom>
                <a:gradFill rotWithShape="1">
                  <a:gsLst>
                    <a:gs pos="0">
                      <a:schemeClr val="hlink"/>
                    </a:gs>
                    <a:gs pos="100000">
                      <a:schemeClr val="hlink">
                        <a:gamma/>
                        <a:tint val="0"/>
                        <a:invGamma/>
                      </a:schemeClr>
                    </a:gs>
                  </a:gsLst>
                  <a:lin ang="5400000" scaled="1"/>
                </a:gradFill>
                <a:ln w="9525">
                  <a:noFill/>
                  <a:miter lim="800000"/>
                  <a:headEnd/>
                  <a:tailEnd/>
                </a:ln>
                <a:effectLst/>
              </p:spPr>
              <p:txBody>
                <a:bodyPr wrap="none" anchor="ctr"/>
                <a:lstStyle/>
                <a:p>
                  <a:pPr>
                    <a:defRPr/>
                  </a:pPr>
                  <a:endParaRPr lang="en-AU" dirty="0"/>
                </a:p>
              </p:txBody>
            </p:sp>
          </p:grpSp>
          <p:grpSp>
            <p:nvGrpSpPr>
              <p:cNvPr id="16" name="Group 15"/>
              <p:cNvGrpSpPr/>
              <p:nvPr/>
            </p:nvGrpSpPr>
            <p:grpSpPr>
              <a:xfrm>
                <a:off x="6003925" y="3730625"/>
                <a:ext cx="2744539" cy="2866727"/>
                <a:chOff x="6003925" y="3730625"/>
                <a:chExt cx="2028825" cy="2181225"/>
              </a:xfrm>
            </p:grpSpPr>
            <p:sp>
              <p:nvSpPr>
                <p:cNvPr id="7" name="AutoShape 11"/>
                <p:cNvSpPr>
                  <a:spLocks noChangeArrowheads="1"/>
                </p:cNvSpPr>
                <p:nvPr/>
              </p:nvSpPr>
              <p:spPr bwMode="gray">
                <a:xfrm rot="5400000">
                  <a:off x="5927725" y="3806825"/>
                  <a:ext cx="2181225" cy="2028825"/>
                </a:xfrm>
                <a:prstGeom prst="roundRect">
                  <a:avLst>
                    <a:gd name="adj" fmla="val 19894"/>
                  </a:avLst>
                </a:prstGeom>
                <a:gradFill rotWithShape="1">
                  <a:gsLst>
                    <a:gs pos="0">
                      <a:srgbClr val="FEFFFF">
                        <a:gamma/>
                        <a:shade val="78824"/>
                        <a:invGamma/>
                        <a:alpha val="98000"/>
                      </a:srgbClr>
                    </a:gs>
                    <a:gs pos="50000">
                      <a:srgbClr val="FEFFFF"/>
                    </a:gs>
                    <a:gs pos="100000">
                      <a:srgbClr val="FEFFFF">
                        <a:gamma/>
                        <a:shade val="78824"/>
                        <a:invGamma/>
                        <a:alpha val="98000"/>
                      </a:srgbClr>
                    </a:gs>
                  </a:gsLst>
                  <a:lin ang="5400000" scaled="1"/>
                </a:gradFill>
                <a:ln w="38100" algn="ctr">
                  <a:solidFill>
                    <a:srgbClr val="DDDDDD"/>
                  </a:solidFill>
                  <a:round/>
                  <a:headEnd/>
                  <a:tailEnd/>
                </a:ln>
                <a:effectLst/>
              </p:spPr>
              <p:txBody>
                <a:bodyPr wrap="none" anchor="ctr"/>
                <a:lstStyle/>
                <a:p>
                  <a:pPr>
                    <a:defRPr/>
                  </a:pPr>
                  <a:endParaRPr lang="en-AU" dirty="0"/>
                </a:p>
              </p:txBody>
            </p:sp>
            <p:sp>
              <p:nvSpPr>
                <p:cNvPr id="13" name="Freeform 4"/>
                <p:cNvSpPr>
                  <a:spLocks/>
                </p:cNvSpPr>
                <p:nvPr/>
              </p:nvSpPr>
              <p:spPr bwMode="gray">
                <a:xfrm>
                  <a:off x="6012160" y="3740076"/>
                  <a:ext cx="2006600" cy="481012"/>
                </a:xfrm>
                <a:custGeom>
                  <a:avLst/>
                  <a:gdLst>
                    <a:gd name="T0" fmla="*/ 7900 w 1270"/>
                    <a:gd name="T1" fmla="*/ 481012 h 303"/>
                    <a:gd name="T2" fmla="*/ 33180 w 1270"/>
                    <a:gd name="T3" fmla="*/ 280987 h 303"/>
                    <a:gd name="T4" fmla="*/ 271760 w 1270"/>
                    <a:gd name="T5" fmla="*/ 34925 h 303"/>
                    <a:gd name="T6" fmla="*/ 570380 w 1270"/>
                    <a:gd name="T7" fmla="*/ 17462 h 303"/>
                    <a:gd name="T8" fmla="*/ 1472560 w 1270"/>
                    <a:gd name="T9" fmla="*/ 19050 h 303"/>
                    <a:gd name="T10" fmla="*/ 1690600 w 1270"/>
                    <a:gd name="T11" fmla="*/ 22225 h 303"/>
                    <a:gd name="T12" fmla="*/ 1990800 w 1270"/>
                    <a:gd name="T13" fmla="*/ 300037 h 303"/>
                    <a:gd name="T14" fmla="*/ 2000280 w 1270"/>
                    <a:gd name="T15" fmla="*/ 479425 h 303"/>
                    <a:gd name="T16" fmla="*/ 7900 w 1270"/>
                    <a:gd name="T17" fmla="*/ 481012 h 30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70"/>
                    <a:gd name="T28" fmla="*/ 0 h 303"/>
                    <a:gd name="T29" fmla="*/ 1270 w 1270"/>
                    <a:gd name="T30" fmla="*/ 303 h 30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70" h="303">
                      <a:moveTo>
                        <a:pt x="5" y="303"/>
                      </a:moveTo>
                      <a:cubicBezTo>
                        <a:pt x="5" y="303"/>
                        <a:pt x="0" y="253"/>
                        <a:pt x="21" y="177"/>
                      </a:cubicBezTo>
                      <a:cubicBezTo>
                        <a:pt x="48" y="130"/>
                        <a:pt x="69" y="44"/>
                        <a:pt x="172" y="22"/>
                      </a:cubicBezTo>
                      <a:cubicBezTo>
                        <a:pt x="275" y="0"/>
                        <a:pt x="235" y="13"/>
                        <a:pt x="361" y="11"/>
                      </a:cubicBezTo>
                      <a:cubicBezTo>
                        <a:pt x="487" y="9"/>
                        <a:pt x="813" y="12"/>
                        <a:pt x="932" y="12"/>
                      </a:cubicBezTo>
                      <a:cubicBezTo>
                        <a:pt x="1050" y="12"/>
                        <a:pt x="998" y="2"/>
                        <a:pt x="1070" y="14"/>
                      </a:cubicBezTo>
                      <a:cubicBezTo>
                        <a:pt x="1143" y="26"/>
                        <a:pt x="1215" y="84"/>
                        <a:pt x="1260" y="189"/>
                      </a:cubicBezTo>
                      <a:cubicBezTo>
                        <a:pt x="1270" y="262"/>
                        <a:pt x="1266" y="302"/>
                        <a:pt x="1266" y="302"/>
                      </a:cubicBezTo>
                      <a:lnTo>
                        <a:pt x="5" y="303"/>
                      </a:lnTo>
                      <a:close/>
                    </a:path>
                  </a:pathLst>
                </a:custGeom>
                <a:solidFill>
                  <a:schemeClr val="hlink"/>
                </a:solidFill>
                <a:ln w="9525" algn="ctr">
                  <a:noFill/>
                  <a:round/>
                  <a:headEnd/>
                  <a:tailEnd/>
                </a:ln>
              </p:spPr>
              <p:txBody>
                <a:bodyPr wrap="none" anchor="ctr"/>
                <a:lstStyle/>
                <a:p>
                  <a:endParaRPr lang="en-AU" dirty="0"/>
                </a:p>
              </p:txBody>
            </p:sp>
          </p:grpSp>
        </p:grpSp>
        <p:sp>
          <p:nvSpPr>
            <p:cNvPr id="19" name="Rectangle 9"/>
            <p:cNvSpPr>
              <a:spLocks noChangeArrowheads="1"/>
            </p:cNvSpPr>
            <p:nvPr/>
          </p:nvSpPr>
          <p:spPr bwMode="gray">
            <a:xfrm>
              <a:off x="4067944" y="3816350"/>
              <a:ext cx="1904689" cy="400110"/>
            </a:xfrm>
            <a:prstGeom prst="rect">
              <a:avLst/>
            </a:prstGeom>
            <a:noFill/>
            <a:ln w="9525" algn="ctr">
              <a:noFill/>
              <a:miter lim="800000"/>
              <a:headEnd/>
              <a:tailEnd/>
            </a:ln>
          </p:spPr>
          <p:txBody>
            <a:bodyPr wrap="none">
              <a:spAutoFit/>
            </a:bodyPr>
            <a:lstStyle/>
            <a:p>
              <a:pPr algn="ctr">
                <a:spcBef>
                  <a:spcPts val="600"/>
                </a:spcBef>
                <a:spcAft>
                  <a:spcPts val="1200"/>
                </a:spcAft>
              </a:pPr>
              <a:r>
                <a:rPr lang="en-AU" sz="2000" b="1" dirty="0" smtClean="0">
                  <a:latin typeface="Helvetica" pitchFamily="34" charset="0"/>
                </a:rPr>
                <a:t>Minimise theft</a:t>
              </a:r>
            </a:p>
          </p:txBody>
        </p:sp>
        <p:pic>
          <p:nvPicPr>
            <p:cNvPr id="5" name="Picture 4" descr="MP900178017.JPG"/>
            <p:cNvPicPr/>
            <p:nvPr/>
          </p:nvPicPr>
          <p:blipFill>
            <a:blip r:embed="rId3" cstate="print"/>
            <a:stretch>
              <a:fillRect/>
            </a:stretch>
          </p:blipFill>
          <p:spPr>
            <a:xfrm>
              <a:off x="3851920" y="4365104"/>
              <a:ext cx="2376264" cy="1872208"/>
            </a:xfrm>
            <a:prstGeom prst="rect">
              <a:avLst/>
            </a:prstGeom>
          </p:spPr>
        </p:pic>
      </p:gr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Minimise theft</a:t>
            </a: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Apply security procedures to minimise theft</a:t>
            </a:r>
          </a:p>
          <a:p>
            <a:pPr>
              <a:spcBef>
                <a:spcPts val="600"/>
              </a:spcBef>
              <a:spcAft>
                <a:spcPts val="1200"/>
              </a:spcAft>
            </a:pPr>
            <a:r>
              <a:rPr lang="en-AU" sz="2200" dirty="0" smtClean="0">
                <a:latin typeface="Helvetica" pitchFamily="34" charset="0"/>
              </a:rPr>
              <a:t>Maintain security of cash in accordance with enterprise procedures</a:t>
            </a:r>
          </a:p>
          <a:p>
            <a:pPr>
              <a:spcBef>
                <a:spcPts val="600"/>
              </a:spcBef>
              <a:spcAft>
                <a:spcPts val="1200"/>
              </a:spcAft>
            </a:pPr>
            <a:r>
              <a:rPr lang="en-AU" sz="2200" dirty="0" smtClean="0">
                <a:latin typeface="Helvetica" pitchFamily="34" charset="0"/>
              </a:rPr>
              <a:t>Deal with suspicious behaviour of customers and/or staff in accordance with enterprise procedures</a:t>
            </a:r>
          </a:p>
          <a:p>
            <a:pPr>
              <a:spcBef>
                <a:spcPts val="600"/>
              </a:spcBef>
              <a:spcAft>
                <a:spcPts val="1200"/>
              </a:spcAft>
            </a:pPr>
            <a:r>
              <a:rPr lang="en-AU" sz="2200" dirty="0" smtClean="0">
                <a:latin typeface="Helvetica" pitchFamily="34" charset="0"/>
              </a:rPr>
              <a:t>Keep storage areas secure from unauthorised               access in accordance with enterprise </a:t>
            </a:r>
            <a:br>
              <a:rPr lang="en-AU" sz="2200" dirty="0" smtClean="0">
                <a:latin typeface="Helvetica" pitchFamily="34" charset="0"/>
              </a:rPr>
            </a:br>
            <a:r>
              <a:rPr lang="en-AU" sz="2200" dirty="0" smtClean="0">
                <a:latin typeface="Helvetica" pitchFamily="34" charset="0"/>
              </a:rPr>
              <a:t>procedures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6" name="Picture 5" descr="3352100979_e406d87eab_m.jpg"/>
          <p:cNvPicPr>
            <a:picLocks noChangeAspect="1"/>
          </p:cNvPicPr>
          <p:nvPr/>
        </p:nvPicPr>
        <p:blipFill>
          <a:blip r:embed="rId3" cstate="print"/>
          <a:stretch>
            <a:fillRect/>
          </a:stretch>
        </p:blipFill>
        <p:spPr>
          <a:xfrm>
            <a:off x="7092280" y="3645024"/>
            <a:ext cx="1305018" cy="1740024"/>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Apply security procedures to minimise theft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5229200"/>
          </a:xfrm>
        </p:spPr>
        <p:txBody>
          <a:bodyPr>
            <a:normAutofit/>
          </a:bodyPr>
          <a:lstStyle/>
          <a:p>
            <a:pPr>
              <a:spcBef>
                <a:spcPts val="600"/>
              </a:spcBef>
              <a:spcAft>
                <a:spcPts val="1200"/>
              </a:spcAft>
              <a:buNone/>
            </a:pPr>
            <a:r>
              <a:rPr lang="en-AU" sz="2200" dirty="0" smtClean="0">
                <a:latin typeface="Helvetica" pitchFamily="34" charset="0"/>
              </a:rPr>
              <a:t>Two central requirements in minimising theft are:</a:t>
            </a:r>
          </a:p>
          <a:p>
            <a:pPr lvl="0">
              <a:spcBef>
                <a:spcPts val="600"/>
              </a:spcBef>
              <a:spcAft>
                <a:spcPts val="1200"/>
              </a:spcAft>
            </a:pPr>
            <a:r>
              <a:rPr lang="en-AU" sz="2200" dirty="0" smtClean="0">
                <a:latin typeface="Helvetica" pitchFamily="34" charset="0"/>
              </a:rPr>
              <a:t>Taking preventative action to eliminate the incidence of theft </a:t>
            </a:r>
          </a:p>
          <a:p>
            <a:pPr>
              <a:spcBef>
                <a:spcPts val="600"/>
              </a:spcBef>
              <a:spcAft>
                <a:spcPts val="1200"/>
              </a:spcAft>
            </a:pPr>
            <a:r>
              <a:rPr lang="en-AU" sz="2200" dirty="0" smtClean="0">
                <a:latin typeface="Helvetica" pitchFamily="34" charset="0"/>
              </a:rPr>
              <a:t>Maintaining ‘situational awareness’ of what is happening in the outlet at all times</a:t>
            </a:r>
            <a:endParaRPr lang="en-AU" sz="2200" b="1" dirty="0" smtClean="0">
              <a:latin typeface="Helvetica" pitchFamily="34" charset="0"/>
            </a:endParaRPr>
          </a:p>
          <a:p>
            <a:pPr>
              <a:spcBef>
                <a:spcPts val="600"/>
              </a:spcBef>
              <a:spcAft>
                <a:spcPts val="600"/>
              </a:spcAft>
              <a:buNone/>
            </a:pPr>
            <a:endParaRPr lang="en-AU" sz="2400" dirty="0" smtClean="0"/>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7" name="Picture 6" descr="MB900409313.JPG"/>
          <p:cNvPicPr>
            <a:picLocks noChangeAspect="1"/>
          </p:cNvPicPr>
          <p:nvPr/>
        </p:nvPicPr>
        <p:blipFill>
          <a:blip r:embed="rId3" cstate="print"/>
          <a:srcRect t="19687" b="17314"/>
          <a:stretch>
            <a:fillRect/>
          </a:stretch>
        </p:blipFill>
        <p:spPr>
          <a:xfrm>
            <a:off x="6516216" y="4077072"/>
            <a:ext cx="1828800" cy="1152128"/>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Apply security procedures to minimise theft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Security personnel or equipment</a:t>
            </a:r>
          </a:p>
          <a:p>
            <a:pPr>
              <a:spcBef>
                <a:spcPts val="600"/>
              </a:spcBef>
              <a:spcAft>
                <a:spcPts val="1200"/>
              </a:spcAft>
            </a:pPr>
            <a:r>
              <a:rPr lang="en-AU" sz="2200" dirty="0" smtClean="0">
                <a:latin typeface="Helvetica" pitchFamily="34" charset="0"/>
              </a:rPr>
              <a:t>Security firms</a:t>
            </a:r>
          </a:p>
          <a:p>
            <a:pPr>
              <a:spcBef>
                <a:spcPts val="600"/>
              </a:spcBef>
              <a:spcAft>
                <a:spcPts val="1200"/>
              </a:spcAft>
            </a:pPr>
            <a:r>
              <a:rPr lang="en-AU" sz="2200" dirty="0" smtClean="0">
                <a:latin typeface="Helvetica" pitchFamily="34" charset="0"/>
              </a:rPr>
              <a:t>Loss Prevention Officers</a:t>
            </a:r>
          </a:p>
          <a:p>
            <a:pPr>
              <a:spcBef>
                <a:spcPts val="600"/>
              </a:spcBef>
              <a:spcAft>
                <a:spcPts val="1200"/>
              </a:spcAft>
            </a:pPr>
            <a:r>
              <a:rPr lang="en-AU" sz="2200" dirty="0" smtClean="0">
                <a:latin typeface="Helvetica" pitchFamily="34" charset="0"/>
              </a:rPr>
              <a:t>Static guard services</a:t>
            </a:r>
          </a:p>
          <a:p>
            <a:pPr>
              <a:spcBef>
                <a:spcPts val="600"/>
              </a:spcBef>
              <a:spcAft>
                <a:spcPts val="1200"/>
              </a:spcAft>
            </a:pPr>
            <a:r>
              <a:rPr lang="en-AU" sz="2200" dirty="0" smtClean="0">
                <a:latin typeface="Helvetica" pitchFamily="34" charset="0"/>
              </a:rPr>
              <a:t>Security mirrors</a:t>
            </a:r>
          </a:p>
          <a:p>
            <a:pPr>
              <a:spcBef>
                <a:spcPts val="600"/>
              </a:spcBef>
              <a:spcAft>
                <a:spcPts val="1200"/>
              </a:spcAft>
            </a:pPr>
            <a:r>
              <a:rPr lang="en-AU" sz="2200" dirty="0" smtClean="0">
                <a:latin typeface="Helvetica" pitchFamily="34" charset="0"/>
              </a:rPr>
              <a:t>Electronic sensors with movement buzzer</a:t>
            </a:r>
          </a:p>
          <a:p>
            <a:pPr>
              <a:spcBef>
                <a:spcPts val="600"/>
              </a:spcBef>
              <a:spcAft>
                <a:spcPts val="1200"/>
              </a:spcAft>
            </a:pPr>
            <a:r>
              <a:rPr lang="en-AU" sz="2200" dirty="0" smtClean="0">
                <a:latin typeface="Helvetica" pitchFamily="34" charset="0"/>
              </a:rPr>
              <a:t>CCTV surveillance </a:t>
            </a:r>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b="1" dirty="0" smtClean="0">
              <a:latin typeface="Helvetica" pitchFamily="34" charset="0"/>
            </a:endParaRPr>
          </a:p>
          <a:p>
            <a:pPr>
              <a:spcBef>
                <a:spcPts val="600"/>
              </a:spcBef>
              <a:spcAft>
                <a:spcPts val="600"/>
              </a:spcAft>
              <a:buNone/>
            </a:pPr>
            <a:endParaRPr lang="en-AU" sz="2400" dirty="0" smtClean="0"/>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6" name="Picture 5" descr="MP900422699.JPG"/>
          <p:cNvPicPr/>
          <p:nvPr/>
        </p:nvPicPr>
        <p:blipFill>
          <a:blip r:embed="rId3" cstate="print"/>
          <a:stretch>
            <a:fillRect/>
          </a:stretch>
        </p:blipFill>
        <p:spPr>
          <a:xfrm>
            <a:off x="6948264" y="3356992"/>
            <a:ext cx="1440160" cy="1931665"/>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Apply security procedures to minimise theft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latin typeface="Helvetica" pitchFamily="34" charset="0"/>
              </a:rPr>
              <a:t>Internal security policies and practices</a:t>
            </a:r>
            <a:endParaRPr lang="en-AU" sz="2000" dirty="0" smtClean="0">
              <a:latin typeface="Helvetica" pitchFamily="34" charset="0"/>
            </a:endParaRPr>
          </a:p>
          <a:p>
            <a:pPr lvl="0">
              <a:spcBef>
                <a:spcPts val="600"/>
              </a:spcBef>
              <a:spcAft>
                <a:spcPts val="1200"/>
              </a:spcAft>
            </a:pPr>
            <a:r>
              <a:rPr lang="en-AU" sz="2000" dirty="0" smtClean="0">
                <a:latin typeface="Helvetica" pitchFamily="34" charset="0"/>
              </a:rPr>
              <a:t>Use prohibited access signs</a:t>
            </a:r>
          </a:p>
          <a:p>
            <a:pPr lvl="0">
              <a:spcBef>
                <a:spcPts val="600"/>
              </a:spcBef>
              <a:spcAft>
                <a:spcPts val="1200"/>
              </a:spcAft>
            </a:pPr>
            <a:r>
              <a:rPr lang="en-AU" sz="2000" dirty="0" smtClean="0">
                <a:latin typeface="Helvetica" pitchFamily="34" charset="0"/>
              </a:rPr>
              <a:t>All internal doors that are not used during normal trading activities should be locked and alarmed</a:t>
            </a:r>
          </a:p>
          <a:p>
            <a:pPr lvl="0">
              <a:spcBef>
                <a:spcPts val="600"/>
              </a:spcBef>
              <a:spcAft>
                <a:spcPts val="1200"/>
              </a:spcAft>
            </a:pPr>
            <a:r>
              <a:rPr lang="en-AU" sz="2000" dirty="0" smtClean="0">
                <a:latin typeface="Helvetica" pitchFamily="34" charset="0"/>
              </a:rPr>
              <a:t>Keeping cash register drawer locked</a:t>
            </a:r>
          </a:p>
          <a:p>
            <a:pPr lvl="0">
              <a:spcBef>
                <a:spcPts val="600"/>
              </a:spcBef>
              <a:spcAft>
                <a:spcPts val="1200"/>
              </a:spcAft>
            </a:pPr>
            <a:r>
              <a:rPr lang="en-AU" sz="2000" dirty="0" smtClean="0">
                <a:latin typeface="Helvetica" pitchFamily="34" charset="0"/>
              </a:rPr>
              <a:t>Preparing an armed robbery procedure </a:t>
            </a:r>
          </a:p>
          <a:p>
            <a:pPr lvl="0">
              <a:spcBef>
                <a:spcPts val="600"/>
              </a:spcBef>
              <a:spcAft>
                <a:spcPts val="1200"/>
              </a:spcAft>
            </a:pPr>
            <a:r>
              <a:rPr lang="en-AU" sz="2000" dirty="0" smtClean="0">
                <a:latin typeface="Helvetica" pitchFamily="34" charset="0"/>
              </a:rPr>
              <a:t>Ensuring appropriate insurance is in place</a:t>
            </a:r>
          </a:p>
          <a:p>
            <a:pPr lvl="0">
              <a:spcBef>
                <a:spcPts val="600"/>
              </a:spcBef>
              <a:spcAft>
                <a:spcPts val="1200"/>
              </a:spcAft>
            </a:pPr>
            <a:r>
              <a:rPr lang="en-AU" sz="2000" dirty="0" smtClean="0">
                <a:latin typeface="Helvetica" pitchFamily="34" charset="0"/>
              </a:rPr>
              <a:t>Placing only low cost items near entrances </a:t>
            </a:r>
          </a:p>
          <a:p>
            <a:pPr>
              <a:spcBef>
                <a:spcPts val="600"/>
              </a:spcBef>
              <a:spcAft>
                <a:spcPts val="1200"/>
              </a:spcAft>
            </a:pPr>
            <a:r>
              <a:rPr lang="en-AU" sz="2000" dirty="0" smtClean="0">
                <a:latin typeface="Helvetica" pitchFamily="34" charset="0"/>
              </a:rPr>
              <a:t>Never leaving the store floor unattended </a:t>
            </a:r>
            <a:endParaRPr lang="en-AU" sz="2000" b="1" dirty="0" smtClean="0">
              <a:latin typeface="Helvetica" pitchFamily="34" charset="0"/>
            </a:endParaRPr>
          </a:p>
          <a:p>
            <a:pPr>
              <a:spcBef>
                <a:spcPts val="600"/>
              </a:spcBef>
              <a:spcAft>
                <a:spcPts val="600"/>
              </a:spcAft>
              <a:buNone/>
            </a:pPr>
            <a:endParaRPr lang="en-AU" sz="2000" dirty="0" smtClean="0"/>
          </a:p>
          <a:p>
            <a:pPr>
              <a:spcBef>
                <a:spcPts val="600"/>
              </a:spcBef>
              <a:spcAft>
                <a:spcPts val="600"/>
              </a:spcAft>
              <a:buNone/>
            </a:pP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7" name="Picture 6" descr="4189169360_1842ffe274_m.jpg"/>
          <p:cNvPicPr/>
          <p:nvPr/>
        </p:nvPicPr>
        <p:blipFill>
          <a:blip r:embed="rId3" cstate="print"/>
          <a:stretch>
            <a:fillRect/>
          </a:stretch>
        </p:blipFill>
        <p:spPr>
          <a:xfrm>
            <a:off x="6588224" y="4005064"/>
            <a:ext cx="1828800" cy="1219200"/>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Apply security procedures to minimise theft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Maintaining surveillance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Using mirrors </a:t>
            </a:r>
          </a:p>
          <a:p>
            <a:pPr lvl="0">
              <a:spcBef>
                <a:spcPts val="600"/>
              </a:spcBef>
              <a:spcAft>
                <a:spcPts val="1200"/>
              </a:spcAft>
            </a:pPr>
            <a:r>
              <a:rPr lang="en-AU" sz="2200" dirty="0" smtClean="0">
                <a:latin typeface="Helvetica" pitchFamily="34" charset="0"/>
              </a:rPr>
              <a:t>Being alert for suspicious persons </a:t>
            </a:r>
          </a:p>
          <a:p>
            <a:pPr lvl="0">
              <a:spcBef>
                <a:spcPts val="600"/>
              </a:spcBef>
              <a:spcAft>
                <a:spcPts val="1200"/>
              </a:spcAft>
            </a:pPr>
            <a:r>
              <a:rPr lang="en-AU" sz="2200" dirty="0" smtClean="0">
                <a:latin typeface="Helvetica" pitchFamily="34" charset="0"/>
              </a:rPr>
              <a:t>Approaching customers and talking to them</a:t>
            </a:r>
          </a:p>
          <a:p>
            <a:pPr lvl="0">
              <a:spcBef>
                <a:spcPts val="600"/>
              </a:spcBef>
              <a:spcAft>
                <a:spcPts val="1200"/>
              </a:spcAft>
            </a:pPr>
            <a:r>
              <a:rPr lang="en-AU" sz="2200" dirty="0" smtClean="0">
                <a:latin typeface="Helvetica" pitchFamily="34" charset="0"/>
              </a:rPr>
              <a:t>Being alert to customers switching products </a:t>
            </a:r>
          </a:p>
          <a:p>
            <a:pPr lvl="0">
              <a:spcBef>
                <a:spcPts val="600"/>
              </a:spcBef>
              <a:spcAft>
                <a:spcPts val="1200"/>
              </a:spcAft>
            </a:pPr>
            <a:r>
              <a:rPr lang="en-AU" sz="2200" dirty="0" smtClean="0">
                <a:latin typeface="Helvetica" pitchFamily="34" charset="0"/>
              </a:rPr>
              <a:t>Checking customer trolleys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8" name="Picture 7" descr="MP900422227.JPG"/>
          <p:cNvPicPr/>
          <p:nvPr/>
        </p:nvPicPr>
        <p:blipFill>
          <a:blip r:embed="rId3" cstate="print"/>
          <a:stretch>
            <a:fillRect/>
          </a:stretch>
        </p:blipFill>
        <p:spPr>
          <a:xfrm>
            <a:off x="6300192" y="4221088"/>
            <a:ext cx="2072630" cy="1336923"/>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Apply security procedures to minimise theft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Monitor high risk pilferage areas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Experience has identified there are certain high-risk areas for theft in a liquor store:</a:t>
            </a:r>
          </a:p>
          <a:p>
            <a:pPr>
              <a:spcBef>
                <a:spcPts val="600"/>
              </a:spcBef>
              <a:spcAft>
                <a:spcPts val="1200"/>
              </a:spcAft>
            </a:pPr>
            <a:r>
              <a:rPr lang="en-AU" sz="2200" dirty="0" smtClean="0">
                <a:latin typeface="Helvetica" pitchFamily="34" charset="0"/>
              </a:rPr>
              <a:t>Certain product lines </a:t>
            </a:r>
          </a:p>
          <a:p>
            <a:pPr>
              <a:spcBef>
                <a:spcPts val="600"/>
              </a:spcBef>
              <a:spcAft>
                <a:spcPts val="1200"/>
              </a:spcAft>
            </a:pPr>
            <a:r>
              <a:rPr lang="en-AU" sz="2200" dirty="0" smtClean="0">
                <a:latin typeface="Helvetica" pitchFamily="34" charset="0"/>
              </a:rPr>
              <a:t>Near entry and exit doors </a:t>
            </a:r>
          </a:p>
          <a:p>
            <a:pPr>
              <a:spcBef>
                <a:spcPts val="600"/>
              </a:spcBef>
              <a:spcAft>
                <a:spcPts val="1200"/>
              </a:spcAft>
            </a:pPr>
            <a:r>
              <a:rPr lang="en-AU" sz="2200" dirty="0" smtClean="0">
                <a:latin typeface="Helvetica" pitchFamily="34" charset="0"/>
              </a:rPr>
              <a:t>Blind spots</a:t>
            </a:r>
          </a:p>
          <a:p>
            <a:pPr>
              <a:spcBef>
                <a:spcPts val="600"/>
              </a:spcBef>
              <a:spcAft>
                <a:spcPts val="1200"/>
              </a:spcAft>
            </a:pPr>
            <a:r>
              <a:rPr lang="en-AU" sz="2200" dirty="0" smtClean="0">
                <a:latin typeface="Helvetica" pitchFamily="34" charset="0"/>
              </a:rPr>
              <a:t>Corners</a:t>
            </a:r>
          </a:p>
          <a:p>
            <a:pPr>
              <a:spcBef>
                <a:spcPts val="600"/>
              </a:spcBef>
              <a:spcAft>
                <a:spcPts val="1200"/>
              </a:spcAft>
            </a:pPr>
            <a:r>
              <a:rPr lang="en-AU" sz="2200" dirty="0" smtClean="0">
                <a:latin typeface="Helvetica" pitchFamily="34" charset="0"/>
              </a:rPr>
              <a:t>Cool rooms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6" name="Picture 5" descr="1376428342_0e05bddeaa_m.jpg"/>
          <p:cNvPicPr/>
          <p:nvPr/>
        </p:nvPicPr>
        <p:blipFill>
          <a:blip r:embed="rId3" cstate="print"/>
          <a:stretch>
            <a:fillRect/>
          </a:stretch>
        </p:blipFill>
        <p:spPr>
          <a:xfrm>
            <a:off x="6804248" y="4149080"/>
            <a:ext cx="1580515" cy="1190625"/>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Deal with suspicious behaviour</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What is suspicious behaviour?</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People looking anxious </a:t>
            </a:r>
          </a:p>
          <a:p>
            <a:pPr lvl="0">
              <a:spcBef>
                <a:spcPts val="600"/>
              </a:spcBef>
              <a:spcAft>
                <a:spcPts val="1200"/>
              </a:spcAft>
            </a:pPr>
            <a:r>
              <a:rPr lang="en-AU" sz="2200" dirty="0" smtClean="0">
                <a:latin typeface="Helvetica" pitchFamily="34" charset="0"/>
              </a:rPr>
              <a:t>People spending a lot of time in the liquor outlet but not buying anything </a:t>
            </a:r>
          </a:p>
          <a:p>
            <a:pPr lvl="0">
              <a:spcBef>
                <a:spcPts val="600"/>
              </a:spcBef>
              <a:spcAft>
                <a:spcPts val="1200"/>
              </a:spcAft>
            </a:pPr>
            <a:r>
              <a:rPr lang="en-AU" sz="2200" dirty="0" smtClean="0">
                <a:latin typeface="Helvetica" pitchFamily="34" charset="0"/>
              </a:rPr>
              <a:t>People who look around furtively</a:t>
            </a:r>
          </a:p>
          <a:p>
            <a:pPr lvl="0">
              <a:spcBef>
                <a:spcPts val="600"/>
              </a:spcBef>
              <a:spcAft>
                <a:spcPts val="1200"/>
              </a:spcAft>
            </a:pPr>
            <a:r>
              <a:rPr lang="en-AU" sz="2200" dirty="0" smtClean="0">
                <a:latin typeface="Helvetica" pitchFamily="34" charset="0"/>
              </a:rPr>
              <a:t>People who become aggressive when you </a:t>
            </a:r>
            <a:br>
              <a:rPr lang="en-AU" sz="2200" dirty="0" smtClean="0">
                <a:latin typeface="Helvetica" pitchFamily="34" charset="0"/>
              </a:rPr>
            </a:br>
            <a:r>
              <a:rPr lang="en-AU" sz="2200" dirty="0" smtClean="0">
                <a:latin typeface="Helvetica" pitchFamily="34" charset="0"/>
              </a:rPr>
              <a:t>approach them with an offer of help</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7" name="Picture 6" descr="MC900048765.WMF"/>
          <p:cNvPicPr/>
          <p:nvPr/>
        </p:nvPicPr>
        <p:blipFill>
          <a:blip r:embed="rId3" cstate="print"/>
          <a:stretch>
            <a:fillRect/>
          </a:stretch>
        </p:blipFill>
        <p:spPr>
          <a:xfrm>
            <a:off x="7236296" y="3645024"/>
            <a:ext cx="1080120" cy="1368152"/>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Deal with suspicious behaviour</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What is suspicious behaviour?</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Anyone who enters the liquor outlet wearing a motorcycle helmet </a:t>
            </a:r>
          </a:p>
          <a:p>
            <a:pPr lvl="0">
              <a:spcBef>
                <a:spcPts val="600"/>
              </a:spcBef>
              <a:spcAft>
                <a:spcPts val="1200"/>
              </a:spcAft>
            </a:pPr>
            <a:r>
              <a:rPr lang="en-AU" sz="2200" dirty="0" smtClean="0">
                <a:latin typeface="Helvetica" pitchFamily="34" charset="0"/>
              </a:rPr>
              <a:t>People who come in with a large bag or a bulky overcoat</a:t>
            </a:r>
          </a:p>
          <a:p>
            <a:pPr>
              <a:spcBef>
                <a:spcPts val="600"/>
              </a:spcBef>
              <a:spcAft>
                <a:spcPts val="1200"/>
              </a:spcAft>
            </a:pPr>
            <a:r>
              <a:rPr lang="en-AU" sz="2200" dirty="0" smtClean="0">
                <a:latin typeface="Helvetica" pitchFamily="34" charset="0"/>
              </a:rPr>
              <a:t>Customers spending  a deal of time </a:t>
            </a:r>
            <a:br>
              <a:rPr lang="en-AU" sz="2200" dirty="0" smtClean="0">
                <a:latin typeface="Helvetica" pitchFamily="34" charset="0"/>
              </a:rPr>
            </a:br>
            <a:r>
              <a:rPr lang="en-AU" sz="2200" dirty="0" smtClean="0">
                <a:latin typeface="Helvetica" pitchFamily="34" charset="0"/>
              </a:rPr>
              <a:t>looking around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6" name="Picture 5" descr="MB900443084.JPG"/>
          <p:cNvPicPr>
            <a:picLocks noChangeAspect="1"/>
          </p:cNvPicPr>
          <p:nvPr/>
        </p:nvPicPr>
        <p:blipFill>
          <a:blip r:embed="rId3" cstate="print"/>
          <a:srcRect t="18750" b="18750"/>
          <a:stretch>
            <a:fillRect/>
          </a:stretch>
        </p:blipFill>
        <p:spPr>
          <a:xfrm>
            <a:off x="6084168" y="3789040"/>
            <a:ext cx="2304256" cy="1440160"/>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Deal with suspicious parcels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Suspicious parcels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What makes a parcel suspicious?</a:t>
            </a:r>
          </a:p>
          <a:p>
            <a:pPr lvl="0">
              <a:spcBef>
                <a:spcPts val="600"/>
              </a:spcBef>
              <a:spcAft>
                <a:spcPts val="1200"/>
              </a:spcAft>
            </a:pPr>
            <a:r>
              <a:rPr lang="en-AU" sz="2200" dirty="0" smtClean="0">
                <a:latin typeface="Helvetica" pitchFamily="34" charset="0"/>
              </a:rPr>
              <a:t>What do you do if you find one?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5" name="Picture 4" descr="MP900442939[1].JPG"/>
          <p:cNvPicPr/>
          <p:nvPr/>
        </p:nvPicPr>
        <p:blipFill>
          <a:blip r:embed="rId3" cstate="print"/>
          <a:stretch>
            <a:fillRect/>
          </a:stretch>
        </p:blipFill>
        <p:spPr>
          <a:xfrm>
            <a:off x="7020272" y="3501008"/>
            <a:ext cx="1375911" cy="1736973"/>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Keep storage areas secure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Storeroom controls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Restrict access and times to storerooms</a:t>
            </a:r>
          </a:p>
          <a:p>
            <a:pPr lvl="0">
              <a:spcBef>
                <a:spcPts val="600"/>
              </a:spcBef>
              <a:spcAft>
                <a:spcPts val="1200"/>
              </a:spcAft>
            </a:pPr>
            <a:r>
              <a:rPr lang="en-AU" sz="2200" dirty="0" smtClean="0">
                <a:latin typeface="Helvetica" pitchFamily="34" charset="0"/>
              </a:rPr>
              <a:t>Only move items with correct paperwork</a:t>
            </a:r>
          </a:p>
          <a:p>
            <a:pPr lvl="0">
              <a:spcBef>
                <a:spcPts val="600"/>
              </a:spcBef>
              <a:spcAft>
                <a:spcPts val="1200"/>
              </a:spcAft>
            </a:pPr>
            <a:r>
              <a:rPr lang="en-AU" sz="2200" dirty="0" smtClean="0">
                <a:latin typeface="Helvetica" pitchFamily="34" charset="0"/>
              </a:rPr>
              <a:t>Video surveillance </a:t>
            </a:r>
          </a:p>
          <a:p>
            <a:pPr lvl="0">
              <a:spcBef>
                <a:spcPts val="600"/>
              </a:spcBef>
              <a:spcAft>
                <a:spcPts val="1200"/>
              </a:spcAft>
            </a:pPr>
            <a:r>
              <a:rPr lang="en-AU" sz="2200" dirty="0" smtClean="0">
                <a:latin typeface="Helvetica" pitchFamily="34" charset="0"/>
              </a:rPr>
              <a:t>Regular internal security patrols </a:t>
            </a:r>
          </a:p>
          <a:p>
            <a:pPr lvl="0">
              <a:spcBef>
                <a:spcPts val="600"/>
              </a:spcBef>
              <a:spcAft>
                <a:spcPts val="1200"/>
              </a:spcAft>
            </a:pPr>
            <a:r>
              <a:rPr lang="en-AU" sz="2200" dirty="0" smtClean="0">
                <a:latin typeface="Helvetica" pitchFamily="34" charset="0"/>
              </a:rPr>
              <a:t>Locks should be used on doors and key </a:t>
            </a:r>
            <a:br>
              <a:rPr lang="en-AU" sz="2200" dirty="0" smtClean="0">
                <a:latin typeface="Helvetica" pitchFamily="34" charset="0"/>
              </a:rPr>
            </a:br>
            <a:r>
              <a:rPr lang="en-AU" sz="2200" dirty="0" smtClean="0">
                <a:latin typeface="Helvetica" pitchFamily="34" charset="0"/>
              </a:rPr>
              <a:t>access limited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6" name="Picture 5" descr="MB900431044.JPG"/>
          <p:cNvPicPr/>
          <p:nvPr/>
        </p:nvPicPr>
        <p:blipFill>
          <a:blip r:embed="rId3" cstate="print"/>
          <a:srcRect t="8696" b="13043"/>
          <a:stretch>
            <a:fillRect/>
          </a:stretch>
        </p:blipFill>
        <p:spPr>
          <a:xfrm>
            <a:off x="6804248" y="3933056"/>
            <a:ext cx="1656184" cy="1296144"/>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grpSp>
        <p:nvGrpSpPr>
          <p:cNvPr id="19" name="Group 18"/>
          <p:cNvGrpSpPr/>
          <p:nvPr/>
        </p:nvGrpSpPr>
        <p:grpSpPr>
          <a:xfrm>
            <a:off x="2380977" y="672480"/>
            <a:ext cx="2839095" cy="4988768"/>
            <a:chOff x="1012825" y="1752600"/>
            <a:chExt cx="2839095" cy="4988768"/>
          </a:xfrm>
        </p:grpSpPr>
        <p:grpSp>
          <p:nvGrpSpPr>
            <p:cNvPr id="18" name="Group 17"/>
            <p:cNvGrpSpPr/>
            <p:nvPr/>
          </p:nvGrpSpPr>
          <p:grpSpPr>
            <a:xfrm>
              <a:off x="1012825" y="1752600"/>
              <a:ext cx="2839095" cy="4988768"/>
              <a:chOff x="1012825" y="1752600"/>
              <a:chExt cx="2839095" cy="4988768"/>
            </a:xfrm>
          </p:grpSpPr>
          <p:grpSp>
            <p:nvGrpSpPr>
              <p:cNvPr id="16" name="Group 15"/>
              <p:cNvGrpSpPr/>
              <p:nvPr/>
            </p:nvGrpSpPr>
            <p:grpSpPr>
              <a:xfrm>
                <a:off x="1012825" y="3729036"/>
                <a:ext cx="2839095" cy="3012332"/>
                <a:chOff x="1012825" y="3729038"/>
                <a:chExt cx="2392984" cy="2548309"/>
              </a:xfrm>
            </p:grpSpPr>
            <p:sp>
              <p:nvSpPr>
                <p:cNvPr id="7" name="AutoShape 3"/>
                <p:cNvSpPr>
                  <a:spLocks noChangeArrowheads="1"/>
                </p:cNvSpPr>
                <p:nvPr/>
              </p:nvSpPr>
              <p:spPr bwMode="gray">
                <a:xfrm rot="5400000">
                  <a:off x="935956" y="3807495"/>
                  <a:ext cx="2546721" cy="2392984"/>
                </a:xfrm>
                <a:prstGeom prst="roundRect">
                  <a:avLst>
                    <a:gd name="adj" fmla="val 19894"/>
                  </a:avLst>
                </a:prstGeom>
                <a:gradFill rotWithShape="1">
                  <a:gsLst>
                    <a:gs pos="0">
                      <a:srgbClr val="FEFFFF">
                        <a:gamma/>
                        <a:shade val="78824"/>
                        <a:invGamma/>
                        <a:alpha val="98000"/>
                      </a:srgbClr>
                    </a:gs>
                    <a:gs pos="50000">
                      <a:srgbClr val="FEFFFF"/>
                    </a:gs>
                    <a:gs pos="100000">
                      <a:srgbClr val="FEFFFF">
                        <a:gamma/>
                        <a:shade val="78824"/>
                        <a:invGamma/>
                        <a:alpha val="98000"/>
                      </a:srgbClr>
                    </a:gs>
                  </a:gsLst>
                  <a:lin ang="5400000" scaled="1"/>
                </a:gradFill>
                <a:ln w="38100" algn="ctr">
                  <a:solidFill>
                    <a:srgbClr val="DDDDDD"/>
                  </a:solidFill>
                  <a:round/>
                  <a:headEnd/>
                  <a:tailEnd/>
                </a:ln>
                <a:effectLst/>
              </p:spPr>
              <p:txBody>
                <a:bodyPr wrap="none" anchor="ctr"/>
                <a:lstStyle/>
                <a:p>
                  <a:pPr>
                    <a:defRPr/>
                  </a:pPr>
                  <a:endParaRPr lang="en-AU" dirty="0"/>
                </a:p>
              </p:txBody>
            </p:sp>
            <p:sp>
              <p:nvSpPr>
                <p:cNvPr id="8" name="Freeform 4"/>
                <p:cNvSpPr>
                  <a:spLocks/>
                </p:cNvSpPr>
                <p:nvPr/>
              </p:nvSpPr>
              <p:spPr bwMode="gray">
                <a:xfrm>
                  <a:off x="1023938" y="3729038"/>
                  <a:ext cx="2381871" cy="599003"/>
                </a:xfrm>
                <a:custGeom>
                  <a:avLst/>
                  <a:gdLst>
                    <a:gd name="T0" fmla="*/ 7900 w 1270"/>
                    <a:gd name="T1" fmla="*/ 481012 h 303"/>
                    <a:gd name="T2" fmla="*/ 33180 w 1270"/>
                    <a:gd name="T3" fmla="*/ 280987 h 303"/>
                    <a:gd name="T4" fmla="*/ 271760 w 1270"/>
                    <a:gd name="T5" fmla="*/ 34925 h 303"/>
                    <a:gd name="T6" fmla="*/ 570380 w 1270"/>
                    <a:gd name="T7" fmla="*/ 17462 h 303"/>
                    <a:gd name="T8" fmla="*/ 1472560 w 1270"/>
                    <a:gd name="T9" fmla="*/ 19050 h 303"/>
                    <a:gd name="T10" fmla="*/ 1690600 w 1270"/>
                    <a:gd name="T11" fmla="*/ 22225 h 303"/>
                    <a:gd name="T12" fmla="*/ 1990800 w 1270"/>
                    <a:gd name="T13" fmla="*/ 300037 h 303"/>
                    <a:gd name="T14" fmla="*/ 2000280 w 1270"/>
                    <a:gd name="T15" fmla="*/ 479425 h 303"/>
                    <a:gd name="T16" fmla="*/ 7900 w 1270"/>
                    <a:gd name="T17" fmla="*/ 481012 h 30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70"/>
                    <a:gd name="T28" fmla="*/ 0 h 303"/>
                    <a:gd name="T29" fmla="*/ 1270 w 1270"/>
                    <a:gd name="T30" fmla="*/ 303 h 30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70" h="303">
                      <a:moveTo>
                        <a:pt x="5" y="303"/>
                      </a:moveTo>
                      <a:cubicBezTo>
                        <a:pt x="5" y="303"/>
                        <a:pt x="0" y="253"/>
                        <a:pt x="21" y="177"/>
                      </a:cubicBezTo>
                      <a:cubicBezTo>
                        <a:pt x="48" y="130"/>
                        <a:pt x="69" y="44"/>
                        <a:pt x="172" y="22"/>
                      </a:cubicBezTo>
                      <a:cubicBezTo>
                        <a:pt x="275" y="0"/>
                        <a:pt x="235" y="13"/>
                        <a:pt x="361" y="11"/>
                      </a:cubicBezTo>
                      <a:cubicBezTo>
                        <a:pt x="487" y="9"/>
                        <a:pt x="813" y="12"/>
                        <a:pt x="932" y="12"/>
                      </a:cubicBezTo>
                      <a:cubicBezTo>
                        <a:pt x="1050" y="12"/>
                        <a:pt x="998" y="2"/>
                        <a:pt x="1070" y="14"/>
                      </a:cubicBezTo>
                      <a:cubicBezTo>
                        <a:pt x="1143" y="26"/>
                        <a:pt x="1215" y="84"/>
                        <a:pt x="1260" y="189"/>
                      </a:cubicBezTo>
                      <a:cubicBezTo>
                        <a:pt x="1270" y="262"/>
                        <a:pt x="1266" y="302"/>
                        <a:pt x="1266" y="302"/>
                      </a:cubicBezTo>
                      <a:lnTo>
                        <a:pt x="5" y="303"/>
                      </a:lnTo>
                      <a:close/>
                    </a:path>
                  </a:pathLst>
                </a:custGeom>
                <a:solidFill>
                  <a:schemeClr val="accent2">
                    <a:alpha val="50195"/>
                  </a:schemeClr>
                </a:solidFill>
                <a:ln w="38100" cap="flat" cmpd="sng">
                  <a:noFill/>
                  <a:prstDash val="solid"/>
                  <a:round/>
                  <a:headEnd/>
                  <a:tailEnd/>
                </a:ln>
              </p:spPr>
              <p:txBody>
                <a:bodyPr wrap="none" anchor="ctr"/>
                <a:lstStyle/>
                <a:p>
                  <a:endParaRPr lang="en-AU" dirty="0"/>
                </a:p>
              </p:txBody>
            </p:sp>
            <p:sp>
              <p:nvSpPr>
                <p:cNvPr id="9" name="Rectangle 5"/>
                <p:cNvSpPr>
                  <a:spLocks noChangeArrowheads="1"/>
                </p:cNvSpPr>
                <p:nvPr/>
              </p:nvSpPr>
              <p:spPr bwMode="gray">
                <a:xfrm>
                  <a:off x="1165217" y="3893770"/>
                  <a:ext cx="2179898" cy="338477"/>
                </a:xfrm>
                <a:prstGeom prst="rect">
                  <a:avLst/>
                </a:prstGeom>
                <a:noFill/>
                <a:ln w="9525" algn="ctr">
                  <a:noFill/>
                  <a:miter lim="800000"/>
                  <a:headEnd/>
                  <a:tailEnd/>
                </a:ln>
              </p:spPr>
              <p:txBody>
                <a:bodyPr wrap="none">
                  <a:spAutoFit/>
                </a:bodyPr>
                <a:lstStyle/>
                <a:p>
                  <a:pPr>
                    <a:spcBef>
                      <a:spcPts val="600"/>
                    </a:spcBef>
                    <a:spcAft>
                      <a:spcPts val="1200"/>
                    </a:spcAft>
                  </a:pPr>
                  <a:r>
                    <a:rPr lang="en-AU" sz="2000" b="1" dirty="0" smtClean="0">
                      <a:latin typeface="Helvetica" pitchFamily="34" charset="0"/>
                    </a:rPr>
                    <a:t>Merchandise goods</a:t>
                  </a:r>
                </a:p>
              </p:txBody>
            </p:sp>
          </p:grpSp>
          <p:grpSp>
            <p:nvGrpSpPr>
              <p:cNvPr id="17" name="Group 16"/>
              <p:cNvGrpSpPr/>
              <p:nvPr/>
            </p:nvGrpSpPr>
            <p:grpSpPr>
              <a:xfrm>
                <a:off x="1187624" y="1752600"/>
                <a:ext cx="2384425" cy="1946275"/>
                <a:chOff x="881063" y="1752600"/>
                <a:chExt cx="2384425" cy="1946275"/>
              </a:xfrm>
            </p:grpSpPr>
            <p:grpSp>
              <p:nvGrpSpPr>
                <p:cNvPr id="11" name="Group 23"/>
                <p:cNvGrpSpPr>
                  <a:grpSpLocks/>
                </p:cNvGrpSpPr>
                <p:nvPr/>
              </p:nvGrpSpPr>
              <p:grpSpPr bwMode="auto">
                <a:xfrm>
                  <a:off x="881063" y="1752600"/>
                  <a:ext cx="2384425" cy="538163"/>
                  <a:chOff x="555" y="1126"/>
                  <a:chExt cx="1502" cy="339"/>
                </a:xfrm>
              </p:grpSpPr>
              <p:sp>
                <p:nvSpPr>
                  <p:cNvPr id="14" name="AutoShape 24"/>
                  <p:cNvSpPr>
                    <a:spLocks noChangeArrowheads="1"/>
                  </p:cNvSpPr>
                  <p:nvPr/>
                </p:nvSpPr>
                <p:spPr bwMode="gray">
                  <a:xfrm>
                    <a:off x="555" y="1126"/>
                    <a:ext cx="1502" cy="339"/>
                  </a:xfrm>
                  <a:prstGeom prst="roundRect">
                    <a:avLst>
                      <a:gd name="adj" fmla="val 50000"/>
                    </a:avLst>
                  </a:prstGeom>
                  <a:gradFill rotWithShape="1">
                    <a:gsLst>
                      <a:gs pos="0">
                        <a:schemeClr val="accent2">
                          <a:gamma/>
                          <a:shade val="36078"/>
                          <a:invGamma/>
                        </a:schemeClr>
                      </a:gs>
                      <a:gs pos="50000">
                        <a:schemeClr val="accent2"/>
                      </a:gs>
                      <a:gs pos="100000">
                        <a:schemeClr val="accent2">
                          <a:gamma/>
                          <a:shade val="36078"/>
                          <a:invGamma/>
                        </a:schemeClr>
                      </a:gs>
                    </a:gsLst>
                    <a:lin ang="5400000" scaled="1"/>
                  </a:gradFill>
                  <a:ln w="9525" algn="ctr">
                    <a:noFill/>
                    <a:round/>
                    <a:headEnd/>
                    <a:tailEnd/>
                  </a:ln>
                  <a:effectLst>
                    <a:outerShdw dist="40161" dir="4293903" algn="ctr" rotWithShape="0">
                      <a:srgbClr val="FFFFCC">
                        <a:alpha val="50000"/>
                      </a:srgbClr>
                    </a:outerShdw>
                  </a:effectLst>
                </p:spPr>
                <p:txBody>
                  <a:bodyPr wrap="none" anchor="ctr"/>
                  <a:lstStyle/>
                  <a:p>
                    <a:pPr>
                      <a:defRPr/>
                    </a:pPr>
                    <a:endParaRPr lang="en-AU" dirty="0"/>
                  </a:p>
                </p:txBody>
              </p:sp>
              <p:sp>
                <p:nvSpPr>
                  <p:cNvPr id="15" name="AutoShape 25"/>
                  <p:cNvSpPr>
                    <a:spLocks noChangeArrowheads="1"/>
                  </p:cNvSpPr>
                  <p:nvPr/>
                </p:nvSpPr>
                <p:spPr bwMode="gray">
                  <a:xfrm>
                    <a:off x="574" y="1145"/>
                    <a:ext cx="1464" cy="303"/>
                  </a:xfrm>
                  <a:prstGeom prst="roundRect">
                    <a:avLst>
                      <a:gd name="adj" fmla="val 50000"/>
                    </a:avLst>
                  </a:prstGeom>
                  <a:gradFill rotWithShape="1">
                    <a:gsLst>
                      <a:gs pos="0">
                        <a:schemeClr val="accent2">
                          <a:alpha val="89999"/>
                        </a:schemeClr>
                      </a:gs>
                      <a:gs pos="50000">
                        <a:schemeClr val="accent2">
                          <a:gamma/>
                          <a:tint val="33725"/>
                          <a:invGamma/>
                        </a:schemeClr>
                      </a:gs>
                      <a:gs pos="100000">
                        <a:schemeClr val="accent2">
                          <a:alpha val="89999"/>
                        </a:schemeClr>
                      </a:gs>
                    </a:gsLst>
                    <a:lin ang="0" scaled="1"/>
                  </a:gradFill>
                  <a:ln w="9525" algn="ctr">
                    <a:noFill/>
                    <a:round/>
                    <a:headEnd/>
                    <a:tailEnd/>
                  </a:ln>
                  <a:effectLst/>
                </p:spPr>
                <p:txBody>
                  <a:bodyPr wrap="none" anchor="ctr"/>
                  <a:lstStyle/>
                  <a:p>
                    <a:pPr>
                      <a:defRPr/>
                    </a:pPr>
                    <a:endParaRPr lang="en-AU" dirty="0"/>
                  </a:p>
                </p:txBody>
              </p:sp>
            </p:grpSp>
            <p:sp>
              <p:nvSpPr>
                <p:cNvPr id="12" name="Rectangle 26"/>
                <p:cNvSpPr>
                  <a:spLocks noChangeArrowheads="1"/>
                </p:cNvSpPr>
                <p:nvPr/>
              </p:nvSpPr>
              <p:spPr bwMode="gray">
                <a:xfrm>
                  <a:off x="1241103" y="1822450"/>
                  <a:ext cx="1638590" cy="369332"/>
                </a:xfrm>
                <a:prstGeom prst="rect">
                  <a:avLst/>
                </a:prstGeom>
                <a:noFill/>
                <a:ln w="9525" algn="ctr">
                  <a:noFill/>
                  <a:miter lim="800000"/>
                  <a:headEnd/>
                  <a:tailEnd/>
                </a:ln>
              </p:spPr>
              <p:txBody>
                <a:bodyPr wrap="none" tIns="0" bIns="0">
                  <a:spAutoFit/>
                </a:bodyPr>
                <a:lstStyle/>
                <a:p>
                  <a:r>
                    <a:rPr lang="en-AU" sz="2400" b="1" dirty="0" smtClean="0">
                      <a:latin typeface="Helvetica" pitchFamily="34" charset="0"/>
                    </a:rPr>
                    <a:t>Element 4</a:t>
                  </a:r>
                </a:p>
              </p:txBody>
            </p:sp>
            <p:sp>
              <p:nvSpPr>
                <p:cNvPr id="13" name="AutoShape 27"/>
                <p:cNvSpPr>
                  <a:spLocks noChangeArrowheads="1"/>
                </p:cNvSpPr>
                <p:nvPr/>
              </p:nvSpPr>
              <p:spPr bwMode="gray">
                <a:xfrm flipV="1">
                  <a:off x="1066800" y="2327275"/>
                  <a:ext cx="1981200" cy="1371600"/>
                </a:xfrm>
                <a:prstGeom prst="triangle">
                  <a:avLst>
                    <a:gd name="adj" fmla="val 50000"/>
                  </a:avLst>
                </a:prstGeom>
                <a:gradFill rotWithShape="1">
                  <a:gsLst>
                    <a:gs pos="0">
                      <a:schemeClr val="accent2"/>
                    </a:gs>
                    <a:gs pos="100000">
                      <a:schemeClr val="accent2">
                        <a:gamma/>
                        <a:tint val="0"/>
                        <a:invGamma/>
                      </a:schemeClr>
                    </a:gs>
                  </a:gsLst>
                  <a:lin ang="5400000" scaled="1"/>
                </a:gradFill>
                <a:ln w="9525">
                  <a:noFill/>
                  <a:miter lim="800000"/>
                  <a:headEnd/>
                  <a:tailEnd/>
                </a:ln>
                <a:effectLst/>
              </p:spPr>
              <p:txBody>
                <a:bodyPr wrap="none" anchor="ctr"/>
                <a:lstStyle/>
                <a:p>
                  <a:pPr>
                    <a:defRPr/>
                  </a:pPr>
                  <a:endParaRPr lang="en-AU" dirty="0"/>
                </a:p>
              </p:txBody>
            </p:sp>
          </p:grpSp>
        </p:grpSp>
        <p:pic>
          <p:nvPicPr>
            <p:cNvPr id="6" name="Picture 5" descr="3478341082_d6817bb147_m.jpg"/>
            <p:cNvPicPr>
              <a:picLocks noChangeAspect="1"/>
            </p:cNvPicPr>
            <p:nvPr/>
          </p:nvPicPr>
          <p:blipFill>
            <a:blip r:embed="rId3" cstate="print"/>
            <a:stretch>
              <a:fillRect/>
            </a:stretch>
          </p:blipFill>
          <p:spPr>
            <a:xfrm>
              <a:off x="1187624" y="4509120"/>
              <a:ext cx="2526597" cy="1800200"/>
            </a:xfrm>
            <a:prstGeom prst="rect">
              <a:avLst/>
            </a:prstGeom>
          </p:spPr>
        </p:pic>
      </p:gr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Merchandise goods</a:t>
            </a:r>
          </a:p>
        </p:txBody>
      </p:sp>
      <p:sp>
        <p:nvSpPr>
          <p:cNvPr id="3" name="Content Placeholder 2"/>
          <p:cNvSpPr>
            <a:spLocks noGrp="1"/>
          </p:cNvSpPr>
          <p:nvPr>
            <p:ph idx="1"/>
          </p:nvPr>
        </p:nvSpPr>
        <p:spPr>
          <a:xfrm>
            <a:off x="611560" y="1052736"/>
            <a:ext cx="7467600" cy="5030019"/>
          </a:xfrm>
        </p:spPr>
        <p:txBody>
          <a:bodyPr>
            <a:normAutofit/>
          </a:bodyPr>
          <a:lstStyle/>
          <a:p>
            <a:pPr marL="0" indent="0">
              <a:spcBef>
                <a:spcPts val="600"/>
              </a:spcBef>
              <a:spcAft>
                <a:spcPts val="600"/>
              </a:spcAft>
              <a:buNone/>
            </a:pPr>
            <a:r>
              <a:rPr lang="en-US" sz="2000" dirty="0" smtClean="0">
                <a:latin typeface="Helvetica" pitchFamily="34" charset="0"/>
              </a:rPr>
              <a:t>Performance Criteria for this Element are: </a:t>
            </a:r>
          </a:p>
          <a:p>
            <a:pPr>
              <a:spcBef>
                <a:spcPts val="600"/>
              </a:spcBef>
              <a:spcAft>
                <a:spcPts val="600"/>
              </a:spcAft>
            </a:pPr>
            <a:r>
              <a:rPr lang="en-AU" sz="2000" dirty="0" smtClean="0">
                <a:latin typeface="Helvetica" pitchFamily="34" charset="0"/>
              </a:rPr>
              <a:t>Receive, unpack and store goods in appropriate location</a:t>
            </a:r>
          </a:p>
          <a:p>
            <a:pPr>
              <a:spcBef>
                <a:spcPts val="600"/>
              </a:spcBef>
              <a:spcAft>
                <a:spcPts val="600"/>
              </a:spcAft>
            </a:pPr>
            <a:r>
              <a:rPr lang="en-AU" sz="2000" dirty="0" smtClean="0">
                <a:latin typeface="Helvetica" pitchFamily="34" charset="0"/>
              </a:rPr>
              <a:t>Display stock in accordance with enterprise procedures</a:t>
            </a:r>
          </a:p>
          <a:p>
            <a:pPr>
              <a:spcBef>
                <a:spcPts val="600"/>
              </a:spcBef>
              <a:spcAft>
                <a:spcPts val="600"/>
              </a:spcAft>
            </a:pPr>
            <a:r>
              <a:rPr lang="en-AU" sz="2000" dirty="0" smtClean="0">
                <a:latin typeface="Helvetica" pitchFamily="34" charset="0"/>
              </a:rPr>
              <a:t>Create and dismantle special promotional displays</a:t>
            </a:r>
          </a:p>
          <a:p>
            <a:pPr>
              <a:spcBef>
                <a:spcPts val="600"/>
              </a:spcBef>
              <a:spcAft>
                <a:spcPts val="600"/>
              </a:spcAft>
            </a:pPr>
            <a:r>
              <a:rPr lang="en-AU" sz="2000" dirty="0" smtClean="0">
                <a:latin typeface="Helvetica" pitchFamily="34" charset="0"/>
              </a:rPr>
              <a:t>Keep displays clean and tidy</a:t>
            </a:r>
          </a:p>
          <a:p>
            <a:pPr>
              <a:spcBef>
                <a:spcPts val="600"/>
              </a:spcBef>
              <a:spcAft>
                <a:spcPts val="600"/>
              </a:spcAft>
            </a:pPr>
            <a:r>
              <a:rPr lang="en-AU" sz="2000" dirty="0" smtClean="0">
                <a:latin typeface="Helvetica" pitchFamily="34" charset="0"/>
              </a:rPr>
              <a:t>Rotate stock in accordance with enterprise </a:t>
            </a:r>
            <a:br>
              <a:rPr lang="en-AU" sz="2000" dirty="0" smtClean="0">
                <a:latin typeface="Helvetica" pitchFamily="34" charset="0"/>
              </a:rPr>
            </a:br>
            <a:r>
              <a:rPr lang="en-AU" sz="2000" dirty="0" smtClean="0">
                <a:latin typeface="Helvetica" pitchFamily="34" charset="0"/>
              </a:rPr>
              <a:t>procedures</a:t>
            </a:r>
          </a:p>
          <a:p>
            <a:pPr>
              <a:spcBef>
                <a:spcPts val="600"/>
              </a:spcBef>
              <a:spcAft>
                <a:spcPts val="600"/>
              </a:spcAft>
            </a:pPr>
            <a:r>
              <a:rPr lang="en-AU" sz="2000" dirty="0" smtClean="0">
                <a:latin typeface="Helvetica" pitchFamily="34" charset="0"/>
              </a:rPr>
              <a:t>Prepare labels and tickets in accordance </a:t>
            </a:r>
            <a:br>
              <a:rPr lang="en-AU" sz="2000" dirty="0" smtClean="0">
                <a:latin typeface="Helvetica" pitchFamily="34" charset="0"/>
              </a:rPr>
            </a:br>
            <a:r>
              <a:rPr lang="en-AU" sz="2000" dirty="0" smtClean="0">
                <a:latin typeface="Helvetica" pitchFamily="34" charset="0"/>
              </a:rPr>
              <a:t>with enterprise procedures</a:t>
            </a:r>
          </a:p>
          <a:p>
            <a:pPr>
              <a:spcBef>
                <a:spcPts val="600"/>
              </a:spcBef>
              <a:spcAft>
                <a:spcPts val="600"/>
              </a:spcAft>
            </a:pPr>
            <a:r>
              <a:rPr lang="en-AU" sz="2000" dirty="0" smtClean="0">
                <a:latin typeface="Helvetica" pitchFamily="34" charset="0"/>
              </a:rPr>
              <a:t>Ensure stock is correctly priced</a:t>
            </a: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7" name="Picture 6" descr="5415989089_700f510288_m.jpg"/>
          <p:cNvPicPr>
            <a:picLocks noChangeAspect="1"/>
          </p:cNvPicPr>
          <p:nvPr/>
        </p:nvPicPr>
        <p:blipFill>
          <a:blip r:embed="rId3" cstate="print"/>
          <a:stretch>
            <a:fillRect/>
          </a:stretch>
        </p:blipFill>
        <p:spPr>
          <a:xfrm>
            <a:off x="6588224" y="3933056"/>
            <a:ext cx="1812032" cy="1351474"/>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648072"/>
          </a:xfrm>
        </p:spPr>
        <p:txBody>
          <a:bodyPr>
            <a:normAutofit/>
          </a:bodyPr>
          <a:lstStyle/>
          <a:p>
            <a:r>
              <a:rPr lang="en-AU" sz="3400" b="1" dirty="0" smtClean="0">
                <a:solidFill>
                  <a:srgbClr val="FF6600"/>
                </a:solidFill>
                <a:latin typeface="Helvetica" pitchFamily="34" charset="0"/>
              </a:rPr>
              <a:t>Receive, unpack and store goods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052736"/>
            <a:ext cx="7632848" cy="5805264"/>
          </a:xfrm>
        </p:spPr>
        <p:txBody>
          <a:bodyPr>
            <a:normAutofit/>
          </a:bodyPr>
          <a:lstStyle/>
          <a:p>
            <a:pPr>
              <a:spcBef>
                <a:spcPts val="600"/>
              </a:spcBef>
              <a:spcAft>
                <a:spcPts val="1200"/>
              </a:spcAft>
              <a:buNone/>
            </a:pPr>
            <a:r>
              <a:rPr lang="en-AU" sz="2200" b="1" dirty="0" smtClean="0">
                <a:latin typeface="Helvetica" pitchFamily="34" charset="0"/>
              </a:rPr>
              <a:t>Where might stock need to be placed?</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Stock delivered into the premises may be stored:</a:t>
            </a:r>
          </a:p>
          <a:p>
            <a:pPr lvl="0">
              <a:spcBef>
                <a:spcPts val="600"/>
              </a:spcBef>
              <a:spcAft>
                <a:spcPts val="1200"/>
              </a:spcAft>
            </a:pPr>
            <a:r>
              <a:rPr lang="en-AU" sz="2200" dirty="0" smtClean="0">
                <a:latin typeface="Helvetica" pitchFamily="34" charset="0"/>
              </a:rPr>
              <a:t>In the coolroom </a:t>
            </a:r>
          </a:p>
          <a:p>
            <a:pPr lvl="0">
              <a:spcBef>
                <a:spcPts val="600"/>
              </a:spcBef>
              <a:spcAft>
                <a:spcPts val="1200"/>
              </a:spcAft>
            </a:pPr>
            <a:r>
              <a:rPr lang="en-AU" sz="2200" dirty="0" smtClean="0">
                <a:latin typeface="Helvetica" pitchFamily="34" charset="0"/>
              </a:rPr>
              <a:t>On the floor </a:t>
            </a:r>
          </a:p>
          <a:p>
            <a:pPr lvl="0">
              <a:spcBef>
                <a:spcPts val="600"/>
              </a:spcBef>
              <a:spcAft>
                <a:spcPts val="1200"/>
              </a:spcAft>
            </a:pPr>
            <a:r>
              <a:rPr lang="en-AU" sz="2200" dirty="0" smtClean="0">
                <a:latin typeface="Helvetica" pitchFamily="34" charset="0"/>
              </a:rPr>
              <a:t>In fridges</a:t>
            </a:r>
          </a:p>
          <a:p>
            <a:pPr lvl="0">
              <a:spcBef>
                <a:spcPts val="600"/>
              </a:spcBef>
              <a:spcAft>
                <a:spcPts val="1200"/>
              </a:spcAft>
            </a:pPr>
            <a:r>
              <a:rPr lang="en-AU" sz="2200" dirty="0" smtClean="0">
                <a:latin typeface="Helvetica" pitchFamily="34" charset="0"/>
              </a:rPr>
              <a:t>In a store room </a:t>
            </a:r>
          </a:p>
          <a:p>
            <a:pPr>
              <a:spcBef>
                <a:spcPts val="600"/>
              </a:spcBef>
              <a:spcAft>
                <a:spcPts val="1200"/>
              </a:spcAft>
            </a:pPr>
            <a:r>
              <a:rPr lang="en-AU" sz="2200" dirty="0" smtClean="0">
                <a:latin typeface="Helvetica" pitchFamily="34" charset="0"/>
              </a:rPr>
              <a:t>By delivering stock directly to other </a:t>
            </a:r>
            <a:br>
              <a:rPr lang="en-AU" sz="2200" dirty="0" smtClean="0">
                <a:latin typeface="Helvetica" pitchFamily="34" charset="0"/>
              </a:rPr>
            </a:br>
            <a:r>
              <a:rPr lang="en-AU" sz="2200" dirty="0" smtClean="0">
                <a:latin typeface="Helvetica" pitchFamily="34" charset="0"/>
              </a:rPr>
              <a:t>departments </a:t>
            </a:r>
          </a:p>
          <a:p>
            <a:pPr>
              <a:spcBef>
                <a:spcPts val="600"/>
              </a:spcBef>
              <a:spcAft>
                <a:spcPts val="6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6" name="Picture 5" descr="149036060_e0f24d2305_m.jpg"/>
          <p:cNvPicPr/>
          <p:nvPr/>
        </p:nvPicPr>
        <p:blipFill>
          <a:blip r:embed="rId3" cstate="print"/>
          <a:stretch>
            <a:fillRect/>
          </a:stretch>
        </p:blipFill>
        <p:spPr>
          <a:xfrm>
            <a:off x="6300192" y="3717032"/>
            <a:ext cx="2061964" cy="1546473"/>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648072"/>
          </a:xfrm>
        </p:spPr>
        <p:txBody>
          <a:bodyPr>
            <a:normAutofit/>
          </a:bodyPr>
          <a:lstStyle/>
          <a:p>
            <a:r>
              <a:rPr lang="en-AU" sz="3400" b="1" dirty="0" smtClean="0">
                <a:solidFill>
                  <a:srgbClr val="FF6600"/>
                </a:solidFill>
                <a:latin typeface="Helvetica" pitchFamily="34" charset="0"/>
              </a:rPr>
              <a:t>Receive, unpack and store goods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Unpacking deliveries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Check the delivery against the accompanying documentation </a:t>
            </a:r>
          </a:p>
          <a:p>
            <a:pPr>
              <a:spcBef>
                <a:spcPts val="600"/>
              </a:spcBef>
              <a:spcAft>
                <a:spcPts val="1200"/>
              </a:spcAft>
            </a:pPr>
            <a:r>
              <a:rPr lang="en-AU" sz="2200" dirty="0" smtClean="0">
                <a:latin typeface="Helvetica" pitchFamily="34" charset="0"/>
              </a:rPr>
              <a:t>Ensure you sign for the delivery</a:t>
            </a:r>
          </a:p>
          <a:p>
            <a:pPr>
              <a:spcBef>
                <a:spcPts val="600"/>
              </a:spcBef>
              <a:spcAft>
                <a:spcPts val="1200"/>
              </a:spcAft>
            </a:pPr>
            <a:r>
              <a:rPr lang="en-AU" sz="2200" dirty="0" smtClean="0">
                <a:latin typeface="Helvetica" pitchFamily="34" charset="0"/>
              </a:rPr>
              <a:t>Check the condition of the product </a:t>
            </a:r>
          </a:p>
          <a:p>
            <a:pPr>
              <a:spcBef>
                <a:spcPts val="600"/>
              </a:spcBef>
              <a:spcAft>
                <a:spcPts val="1200"/>
              </a:spcAft>
            </a:pPr>
            <a:r>
              <a:rPr lang="en-AU" sz="2200" dirty="0" smtClean="0">
                <a:latin typeface="Helvetica" pitchFamily="34" charset="0"/>
              </a:rPr>
              <a:t>Ensure the presence of the stock on the </a:t>
            </a:r>
            <a:br>
              <a:rPr lang="en-AU" sz="2200" dirty="0" smtClean="0">
                <a:latin typeface="Helvetica" pitchFamily="34" charset="0"/>
              </a:rPr>
            </a:br>
            <a:r>
              <a:rPr lang="en-AU" sz="2200" dirty="0" smtClean="0">
                <a:latin typeface="Helvetica" pitchFamily="34" charset="0"/>
              </a:rPr>
              <a:t>floor does not present an OHS hazard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9" name="Picture 8" descr="114456018_dcdf3df28b_m.jpg"/>
          <p:cNvPicPr>
            <a:picLocks noChangeAspect="1"/>
          </p:cNvPicPr>
          <p:nvPr/>
        </p:nvPicPr>
        <p:blipFill>
          <a:blip r:embed="rId3" cstate="print"/>
          <a:stretch>
            <a:fillRect/>
          </a:stretch>
        </p:blipFill>
        <p:spPr>
          <a:xfrm>
            <a:off x="6732240" y="4149080"/>
            <a:ext cx="1637340" cy="1091560"/>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Receive, unpack and store goods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Unpacking deliveries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Do not leave stock unattended </a:t>
            </a:r>
          </a:p>
          <a:p>
            <a:pPr>
              <a:spcBef>
                <a:spcPts val="600"/>
              </a:spcBef>
              <a:spcAft>
                <a:spcPts val="1200"/>
              </a:spcAft>
            </a:pPr>
            <a:r>
              <a:rPr lang="en-AU" sz="2200" dirty="0" smtClean="0">
                <a:latin typeface="Helvetica" pitchFamily="34" charset="0"/>
              </a:rPr>
              <a:t>Dispose of cartons, dividers and packaging material properly </a:t>
            </a:r>
          </a:p>
          <a:p>
            <a:pPr>
              <a:spcBef>
                <a:spcPts val="600"/>
              </a:spcBef>
              <a:spcAft>
                <a:spcPts val="1200"/>
              </a:spcAft>
            </a:pPr>
            <a:r>
              <a:rPr lang="en-AU" sz="2200" dirty="0" smtClean="0">
                <a:latin typeface="Helvetica" pitchFamily="34" charset="0"/>
              </a:rPr>
              <a:t>Be careful </a:t>
            </a:r>
          </a:p>
          <a:p>
            <a:pPr>
              <a:spcBef>
                <a:spcPts val="600"/>
              </a:spcBef>
              <a:spcAft>
                <a:spcPts val="1200"/>
              </a:spcAft>
            </a:pPr>
            <a:r>
              <a:rPr lang="en-AU" sz="2200" dirty="0" smtClean="0">
                <a:latin typeface="Helvetica" pitchFamily="34" charset="0"/>
              </a:rPr>
              <a:t>Apply correct manual handling and </a:t>
            </a:r>
            <a:br>
              <a:rPr lang="en-AU" sz="2200" dirty="0" smtClean="0">
                <a:latin typeface="Helvetica" pitchFamily="34" charset="0"/>
              </a:rPr>
            </a:br>
            <a:r>
              <a:rPr lang="en-AU" sz="2200" dirty="0" smtClean="0">
                <a:latin typeface="Helvetica" pitchFamily="34" charset="0"/>
              </a:rPr>
              <a:t>safe lifting techniques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5" name="Picture 4" descr="3745935710_501429589b_m.jpg"/>
          <p:cNvPicPr>
            <a:picLocks noChangeAspect="1"/>
          </p:cNvPicPr>
          <p:nvPr/>
        </p:nvPicPr>
        <p:blipFill>
          <a:blip r:embed="rId3" cstate="print"/>
          <a:stretch>
            <a:fillRect/>
          </a:stretch>
        </p:blipFill>
        <p:spPr>
          <a:xfrm>
            <a:off x="6372200" y="3861048"/>
            <a:ext cx="2003884" cy="1335923"/>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648072"/>
          </a:xfrm>
        </p:spPr>
        <p:txBody>
          <a:bodyPr>
            <a:normAutofit/>
          </a:bodyPr>
          <a:lstStyle/>
          <a:p>
            <a:r>
              <a:rPr lang="en-AU" sz="3400" b="1" dirty="0" smtClean="0">
                <a:solidFill>
                  <a:srgbClr val="FF6600"/>
                </a:solidFill>
                <a:latin typeface="Helvetica" pitchFamily="34" charset="0"/>
              </a:rPr>
              <a:t>Receive, unpack and store goods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Practise safe lifting, shifting and handling procedures </a:t>
            </a:r>
          </a:p>
          <a:p>
            <a:pPr>
              <a:spcBef>
                <a:spcPts val="600"/>
              </a:spcBef>
              <a:spcAft>
                <a:spcPts val="1200"/>
              </a:spcAft>
              <a:buNone/>
            </a:pPr>
            <a:r>
              <a:rPr lang="en-AU" sz="2200" dirty="0" smtClean="0">
                <a:latin typeface="Helvetica" pitchFamily="34" charset="0"/>
              </a:rPr>
              <a:t>Considerations include:</a:t>
            </a:r>
          </a:p>
          <a:p>
            <a:pPr>
              <a:spcBef>
                <a:spcPts val="600"/>
              </a:spcBef>
              <a:spcAft>
                <a:spcPts val="1200"/>
              </a:spcAft>
            </a:pPr>
            <a:r>
              <a:rPr lang="en-AU" sz="2200" dirty="0" smtClean="0">
                <a:latin typeface="Helvetica" pitchFamily="34" charset="0"/>
              </a:rPr>
              <a:t>Safe manual handling procedures</a:t>
            </a:r>
          </a:p>
          <a:p>
            <a:pPr>
              <a:spcBef>
                <a:spcPts val="600"/>
              </a:spcBef>
              <a:spcAft>
                <a:spcPts val="1200"/>
              </a:spcAft>
            </a:pPr>
            <a:r>
              <a:rPr lang="en-AU" sz="2200" dirty="0" smtClean="0">
                <a:latin typeface="Helvetica" pitchFamily="34" charset="0"/>
              </a:rPr>
              <a:t>Using manual handling aids</a:t>
            </a:r>
          </a:p>
          <a:p>
            <a:pPr>
              <a:spcBef>
                <a:spcPts val="600"/>
              </a:spcBef>
              <a:spcAft>
                <a:spcPts val="1200"/>
              </a:spcAft>
            </a:pPr>
            <a:r>
              <a:rPr lang="en-AU" sz="2200" dirty="0" smtClean="0">
                <a:latin typeface="Helvetica" pitchFamily="34" charset="0"/>
              </a:rPr>
              <a:t>Workplace layout</a:t>
            </a:r>
          </a:p>
          <a:p>
            <a:pPr>
              <a:spcBef>
                <a:spcPts val="600"/>
              </a:spcBef>
              <a:spcAft>
                <a:spcPts val="1200"/>
              </a:spcAft>
            </a:pPr>
            <a:r>
              <a:rPr lang="en-AU" sz="2200" dirty="0" smtClean="0">
                <a:latin typeface="Helvetica" pitchFamily="34" charset="0"/>
              </a:rPr>
              <a:t>Work practices</a:t>
            </a:r>
          </a:p>
          <a:p>
            <a:pPr>
              <a:spcBef>
                <a:spcPts val="600"/>
              </a:spcBef>
              <a:spcAft>
                <a:spcPts val="1200"/>
              </a:spcAft>
            </a:pPr>
            <a:r>
              <a:rPr lang="en-AU" sz="2200" dirty="0" smtClean="0">
                <a:latin typeface="Helvetica" pitchFamily="34" charset="0"/>
              </a:rPr>
              <a:t>Training</a:t>
            </a:r>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6" name="Picture 5" descr="457370791_b98c18fa26_m.jpg"/>
          <p:cNvPicPr/>
          <p:nvPr/>
        </p:nvPicPr>
        <p:blipFill>
          <a:blip r:embed="rId3" cstate="print"/>
          <a:stretch>
            <a:fillRect/>
          </a:stretch>
        </p:blipFill>
        <p:spPr>
          <a:xfrm>
            <a:off x="6516216" y="3861048"/>
            <a:ext cx="1867272" cy="1346448"/>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Display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Display considerations</a:t>
            </a:r>
          </a:p>
          <a:p>
            <a:pPr>
              <a:spcBef>
                <a:spcPts val="600"/>
              </a:spcBef>
              <a:spcAft>
                <a:spcPts val="1200"/>
              </a:spcAft>
              <a:buNone/>
            </a:pPr>
            <a:r>
              <a:rPr lang="en-AU" sz="2200" dirty="0" smtClean="0">
                <a:latin typeface="Helvetica" pitchFamily="34" charset="0"/>
              </a:rPr>
              <a:t>Important keys for you are to:</a:t>
            </a:r>
          </a:p>
          <a:p>
            <a:pPr lvl="0">
              <a:spcBef>
                <a:spcPts val="600"/>
              </a:spcBef>
              <a:spcAft>
                <a:spcPts val="1200"/>
              </a:spcAft>
            </a:pPr>
            <a:r>
              <a:rPr lang="en-AU" sz="2200" dirty="0" smtClean="0">
                <a:latin typeface="Helvetica" pitchFamily="34" charset="0"/>
              </a:rPr>
              <a:t>Follow house requirements</a:t>
            </a:r>
          </a:p>
          <a:p>
            <a:pPr lvl="0">
              <a:spcBef>
                <a:spcPts val="600"/>
              </a:spcBef>
              <a:spcAft>
                <a:spcPts val="1200"/>
              </a:spcAft>
            </a:pPr>
            <a:r>
              <a:rPr lang="en-AU" sz="2200" dirty="0" smtClean="0">
                <a:latin typeface="Helvetica" pitchFamily="34" charset="0"/>
              </a:rPr>
              <a:t>Ensure safety of customers and staff</a:t>
            </a:r>
          </a:p>
          <a:p>
            <a:pPr lvl="0">
              <a:spcBef>
                <a:spcPts val="600"/>
              </a:spcBef>
              <a:spcAft>
                <a:spcPts val="1200"/>
              </a:spcAft>
            </a:pPr>
            <a:r>
              <a:rPr lang="en-AU" sz="2200" dirty="0" smtClean="0">
                <a:latin typeface="Helvetica" pitchFamily="34" charset="0"/>
              </a:rPr>
              <a:t>Optimise security of the items being displayed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7" name="Picture 6" descr="4356017785_1fe0800c33_m.jpg"/>
          <p:cNvPicPr/>
          <p:nvPr/>
        </p:nvPicPr>
        <p:blipFill>
          <a:blip r:embed="rId3" cstate="print"/>
          <a:stretch>
            <a:fillRect/>
          </a:stretch>
        </p:blipFill>
        <p:spPr>
          <a:xfrm>
            <a:off x="6516216" y="3861048"/>
            <a:ext cx="1833736" cy="1393304"/>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Display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Encourage impulse buying</a:t>
            </a:r>
          </a:p>
          <a:p>
            <a:pPr>
              <a:spcBef>
                <a:spcPts val="600"/>
              </a:spcBef>
              <a:spcAft>
                <a:spcPts val="1200"/>
              </a:spcAft>
            </a:pPr>
            <a:r>
              <a:rPr lang="en-AU" sz="2200" dirty="0" smtClean="0">
                <a:latin typeface="Helvetica" pitchFamily="34" charset="0"/>
              </a:rPr>
              <a:t>The hope is customers will notice displays and other stock as they walk through, and make an ‘impulse buy’</a:t>
            </a:r>
          </a:p>
          <a:p>
            <a:pPr>
              <a:spcBef>
                <a:spcPts val="600"/>
              </a:spcBef>
              <a:spcAft>
                <a:spcPts val="1200"/>
              </a:spcAft>
            </a:pPr>
            <a:r>
              <a:rPr lang="en-AU" sz="2200" dirty="0" smtClean="0">
                <a:latin typeface="Helvetica" pitchFamily="34" charset="0"/>
              </a:rPr>
              <a:t>An impulse buy is a purchase made on-the-spot, a purchase they had not intended to make on entering the store</a:t>
            </a:r>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6" name="Picture 5" descr="4126563489_28ffdc9847_m.jpg"/>
          <p:cNvPicPr>
            <a:picLocks noChangeAspect="1"/>
          </p:cNvPicPr>
          <p:nvPr/>
        </p:nvPicPr>
        <p:blipFill>
          <a:blip r:embed="rId3" cstate="print"/>
          <a:stretch>
            <a:fillRect/>
          </a:stretch>
        </p:blipFill>
        <p:spPr>
          <a:xfrm>
            <a:off x="7308304" y="3573016"/>
            <a:ext cx="1146043" cy="1719064"/>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Display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000" b="1" dirty="0" smtClean="0">
                <a:latin typeface="Helvetica" pitchFamily="34" charset="0"/>
              </a:rPr>
              <a:t>Purpose of displays</a:t>
            </a:r>
          </a:p>
          <a:p>
            <a:pPr lvl="0">
              <a:spcBef>
                <a:spcPts val="600"/>
              </a:spcBef>
              <a:spcAft>
                <a:spcPts val="1200"/>
              </a:spcAft>
            </a:pPr>
            <a:r>
              <a:rPr lang="en-AU" sz="2000" dirty="0" smtClean="0">
                <a:latin typeface="Helvetica" pitchFamily="34" charset="0"/>
              </a:rPr>
              <a:t>Increase sales</a:t>
            </a:r>
          </a:p>
          <a:p>
            <a:pPr lvl="0">
              <a:spcBef>
                <a:spcPts val="600"/>
              </a:spcBef>
              <a:spcAft>
                <a:spcPts val="1200"/>
              </a:spcAft>
            </a:pPr>
            <a:r>
              <a:rPr lang="en-AU" sz="2000" dirty="0" smtClean="0">
                <a:latin typeface="Helvetica" pitchFamily="34" charset="0"/>
              </a:rPr>
              <a:t>Make purchasing quicker and easier for the customers</a:t>
            </a:r>
          </a:p>
          <a:p>
            <a:pPr lvl="0">
              <a:spcBef>
                <a:spcPts val="600"/>
              </a:spcBef>
              <a:spcAft>
                <a:spcPts val="1200"/>
              </a:spcAft>
            </a:pPr>
            <a:r>
              <a:rPr lang="en-AU" sz="2000" dirty="0" smtClean="0">
                <a:latin typeface="Helvetica" pitchFamily="34" charset="0"/>
              </a:rPr>
              <a:t>Generate impulse sales</a:t>
            </a:r>
          </a:p>
          <a:p>
            <a:pPr lvl="0">
              <a:spcBef>
                <a:spcPts val="600"/>
              </a:spcBef>
              <a:spcAft>
                <a:spcPts val="1200"/>
              </a:spcAft>
            </a:pPr>
            <a:r>
              <a:rPr lang="en-AU" sz="2000" dirty="0" smtClean="0">
                <a:latin typeface="Helvetica" pitchFamily="34" charset="0"/>
              </a:rPr>
              <a:t>Create consumer interest</a:t>
            </a:r>
          </a:p>
          <a:p>
            <a:pPr lvl="0">
              <a:spcBef>
                <a:spcPts val="600"/>
              </a:spcBef>
              <a:spcAft>
                <a:spcPts val="1200"/>
              </a:spcAft>
            </a:pPr>
            <a:r>
              <a:rPr lang="en-AU" sz="2000" dirty="0" smtClean="0">
                <a:latin typeface="Helvetica" pitchFamily="34" charset="0"/>
              </a:rPr>
              <a:t>Capitalise on an up-coming special event </a:t>
            </a:r>
          </a:p>
          <a:p>
            <a:pPr lvl="0">
              <a:spcBef>
                <a:spcPts val="600"/>
              </a:spcBef>
              <a:spcAft>
                <a:spcPts val="1200"/>
              </a:spcAft>
            </a:pPr>
            <a:r>
              <a:rPr lang="en-AU" sz="2000" dirty="0" smtClean="0">
                <a:latin typeface="Helvetica" pitchFamily="34" charset="0"/>
              </a:rPr>
              <a:t>Highlight an individual product, or set of </a:t>
            </a:r>
            <a:br>
              <a:rPr lang="en-AU" sz="2000" dirty="0" smtClean="0">
                <a:latin typeface="Helvetica" pitchFamily="34" charset="0"/>
              </a:rPr>
            </a:br>
            <a:r>
              <a:rPr lang="en-AU" sz="2000" dirty="0" smtClean="0">
                <a:latin typeface="Helvetica" pitchFamily="34" charset="0"/>
              </a:rPr>
              <a:t>products</a:t>
            </a:r>
          </a:p>
          <a:p>
            <a:pPr lvl="0">
              <a:spcBef>
                <a:spcPts val="600"/>
              </a:spcBef>
              <a:spcAft>
                <a:spcPts val="1200"/>
              </a:spcAft>
            </a:pPr>
            <a:r>
              <a:rPr lang="en-AU" sz="2000" dirty="0" smtClean="0">
                <a:latin typeface="Helvetica" pitchFamily="34" charset="0"/>
              </a:rPr>
              <a:t>Provide a tasting opportunity and forum</a:t>
            </a:r>
          </a:p>
          <a:p>
            <a:pPr lvl="0">
              <a:spcBef>
                <a:spcPts val="600"/>
              </a:spcBef>
              <a:spcAft>
                <a:spcPts val="1200"/>
              </a:spcAft>
            </a:pPr>
            <a:r>
              <a:rPr lang="en-AU" sz="2000" dirty="0" smtClean="0">
                <a:latin typeface="Helvetica" pitchFamily="34" charset="0"/>
              </a:rPr>
              <a:t>Add interest to the store </a:t>
            </a:r>
          </a:p>
          <a:p>
            <a:pPr>
              <a:buNone/>
            </a:pPr>
            <a:endParaRPr lang="en-AU" sz="2000" dirty="0" smtClean="0"/>
          </a:p>
          <a:p>
            <a:endParaRPr lang="en-AU" sz="2000" dirty="0" smtClean="0"/>
          </a:p>
          <a:p>
            <a:endParaRPr lang="en-AU" sz="2000" b="1" dirty="0" smtClean="0"/>
          </a:p>
          <a:p>
            <a:endParaRPr lang="en-AU" sz="2000" dirty="0" smtClean="0"/>
          </a:p>
          <a:p>
            <a:endParaRPr lang="en-AU" sz="2000" dirty="0" smtClean="0"/>
          </a:p>
          <a:p>
            <a:endParaRPr lang="en-AU" sz="2000" b="1" dirty="0" smtClean="0"/>
          </a:p>
          <a:p>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7" name="Picture 6" descr="4270849959_8db84c7034_m.jpg"/>
          <p:cNvPicPr/>
          <p:nvPr/>
        </p:nvPicPr>
        <p:blipFill>
          <a:blip r:embed="rId3" cstate="print"/>
          <a:stretch>
            <a:fillRect/>
          </a:stretch>
        </p:blipFill>
        <p:spPr>
          <a:xfrm>
            <a:off x="6588224" y="3933056"/>
            <a:ext cx="1841748" cy="1368152"/>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Display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Merchandising – shelves and displays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Utilise prime positions</a:t>
            </a:r>
          </a:p>
          <a:p>
            <a:pPr>
              <a:spcBef>
                <a:spcPts val="600"/>
              </a:spcBef>
              <a:spcAft>
                <a:spcPts val="1200"/>
              </a:spcAft>
            </a:pPr>
            <a:r>
              <a:rPr lang="en-AU" sz="2200" dirty="0" smtClean="0">
                <a:latin typeface="Helvetica" pitchFamily="34" charset="0"/>
              </a:rPr>
              <a:t>Increase ‘facings’</a:t>
            </a:r>
          </a:p>
          <a:p>
            <a:pPr>
              <a:spcBef>
                <a:spcPts val="600"/>
              </a:spcBef>
              <a:spcAft>
                <a:spcPts val="1200"/>
              </a:spcAft>
            </a:pPr>
            <a:r>
              <a:rPr lang="en-AU" sz="2200" i="1" dirty="0" smtClean="0">
                <a:latin typeface="Helvetica" pitchFamily="34" charset="0"/>
              </a:rPr>
              <a:t>Where are the best places to promote items and why?</a:t>
            </a:r>
          </a:p>
          <a:p>
            <a:endParaRPr lang="en-AU" sz="2400" dirty="0" smtClean="0"/>
          </a:p>
          <a:p>
            <a:endParaRPr lang="en-AU" sz="2400" b="1" dirty="0" smtClean="0"/>
          </a:p>
          <a:p>
            <a:endParaRPr lang="en-AU" sz="2400" dirty="0" smtClean="0"/>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7" name="Picture 6" descr="4105987935_c32b0318d9_m.jpg"/>
          <p:cNvPicPr/>
          <p:nvPr/>
        </p:nvPicPr>
        <p:blipFill>
          <a:blip r:embed="rId3" cstate="print"/>
          <a:stretch>
            <a:fillRect/>
          </a:stretch>
        </p:blipFill>
        <p:spPr>
          <a:xfrm>
            <a:off x="6588224" y="3861048"/>
            <a:ext cx="1828800" cy="1371600"/>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Display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Groupings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Products can be grouped in a variety of ways.</a:t>
            </a:r>
          </a:p>
          <a:p>
            <a:pPr>
              <a:spcBef>
                <a:spcPts val="600"/>
              </a:spcBef>
              <a:spcAft>
                <a:spcPts val="1200"/>
              </a:spcAft>
              <a:buNone/>
            </a:pPr>
            <a:r>
              <a:rPr lang="en-AU" sz="2200" dirty="0" smtClean="0">
                <a:latin typeface="Helvetica" pitchFamily="34" charset="0"/>
              </a:rPr>
              <a:t>Traditionally, products are grouped by:</a:t>
            </a:r>
          </a:p>
          <a:p>
            <a:pPr lvl="0">
              <a:spcBef>
                <a:spcPts val="600"/>
              </a:spcBef>
              <a:spcAft>
                <a:spcPts val="1200"/>
              </a:spcAft>
            </a:pPr>
            <a:r>
              <a:rPr lang="en-AU" sz="2200" dirty="0" smtClean="0">
                <a:latin typeface="Helvetica" pitchFamily="34" charset="0"/>
              </a:rPr>
              <a:t>Product type</a:t>
            </a:r>
          </a:p>
          <a:p>
            <a:pPr lvl="0">
              <a:spcBef>
                <a:spcPts val="600"/>
              </a:spcBef>
              <a:spcAft>
                <a:spcPts val="1200"/>
              </a:spcAft>
            </a:pPr>
            <a:r>
              <a:rPr lang="en-AU" sz="2200" dirty="0" smtClean="0">
                <a:latin typeface="Helvetica" pitchFamily="34" charset="0"/>
              </a:rPr>
              <a:t>Specials</a:t>
            </a:r>
          </a:p>
          <a:p>
            <a:pPr lvl="0">
              <a:spcBef>
                <a:spcPts val="600"/>
              </a:spcBef>
              <a:spcAft>
                <a:spcPts val="1200"/>
              </a:spcAft>
            </a:pPr>
            <a:r>
              <a:rPr lang="en-AU" sz="2200" dirty="0" smtClean="0">
                <a:latin typeface="Helvetica" pitchFamily="34" charset="0"/>
              </a:rPr>
              <a:t>Size</a:t>
            </a:r>
          </a:p>
          <a:p>
            <a:pPr>
              <a:buNone/>
            </a:pPr>
            <a:endParaRPr lang="en-AU" sz="2400" dirty="0" smtClean="0"/>
          </a:p>
          <a:p>
            <a:endParaRPr lang="en-AU" sz="2400" dirty="0" smtClean="0"/>
          </a:p>
          <a:p>
            <a:endParaRPr lang="en-AU" sz="2400" b="1" dirty="0" smtClean="0"/>
          </a:p>
          <a:p>
            <a:endParaRPr lang="en-AU" sz="2400" dirty="0" smtClean="0"/>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6" name="Picture 5" descr="3155170767_c1c6f3e3be_m.jpg"/>
          <p:cNvPicPr/>
          <p:nvPr/>
        </p:nvPicPr>
        <p:blipFill>
          <a:blip r:embed="rId3" cstate="print"/>
          <a:stretch>
            <a:fillRect/>
          </a:stretch>
        </p:blipFill>
        <p:spPr>
          <a:xfrm>
            <a:off x="6300192" y="3933056"/>
            <a:ext cx="2077765" cy="1335584"/>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Display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buNone/>
            </a:pPr>
            <a:r>
              <a:rPr lang="en-AU" sz="2200" b="1" dirty="0" smtClean="0">
                <a:latin typeface="Helvetica" pitchFamily="34" charset="0"/>
              </a:rPr>
              <a:t>Merchandising requirements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Lighting</a:t>
            </a:r>
          </a:p>
          <a:p>
            <a:pPr>
              <a:spcBef>
                <a:spcPts val="600"/>
              </a:spcBef>
              <a:spcAft>
                <a:spcPts val="1200"/>
              </a:spcAft>
            </a:pPr>
            <a:r>
              <a:rPr lang="en-AU" sz="2200" dirty="0" smtClean="0">
                <a:latin typeface="Helvetica" pitchFamily="34" charset="0"/>
              </a:rPr>
              <a:t>Balance</a:t>
            </a:r>
          </a:p>
          <a:p>
            <a:pPr>
              <a:spcBef>
                <a:spcPts val="600"/>
              </a:spcBef>
              <a:spcAft>
                <a:spcPts val="1200"/>
              </a:spcAft>
            </a:pPr>
            <a:r>
              <a:rPr lang="en-AU" sz="2200" dirty="0" smtClean="0">
                <a:latin typeface="Helvetica" pitchFamily="34" charset="0"/>
              </a:rPr>
              <a:t>Triangles</a:t>
            </a:r>
          </a:p>
          <a:p>
            <a:pPr>
              <a:spcBef>
                <a:spcPts val="600"/>
              </a:spcBef>
              <a:spcAft>
                <a:spcPts val="1200"/>
              </a:spcAft>
              <a:buNone/>
            </a:pPr>
            <a:endParaRPr lang="en-AU" sz="2400" dirty="0" smtClean="0"/>
          </a:p>
          <a:p>
            <a:endParaRPr lang="en-AU" sz="2400" dirty="0" smtClean="0"/>
          </a:p>
          <a:p>
            <a:endParaRPr lang="en-AU" sz="2400" b="1" dirty="0" smtClean="0"/>
          </a:p>
          <a:p>
            <a:endParaRPr lang="en-AU" sz="2400" dirty="0" smtClean="0"/>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7" name="Picture 6" descr="5417540937_0cdc5d84e7_m.jpg"/>
          <p:cNvPicPr/>
          <p:nvPr/>
        </p:nvPicPr>
        <p:blipFill>
          <a:blip r:embed="rId3" cstate="print"/>
          <a:stretch>
            <a:fillRect/>
          </a:stretch>
        </p:blipFill>
        <p:spPr>
          <a:xfrm>
            <a:off x="7020272" y="3356992"/>
            <a:ext cx="1403400" cy="1886694"/>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An overview on displays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Shelf Stock</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Group all similar products together</a:t>
            </a:r>
          </a:p>
          <a:p>
            <a:pPr>
              <a:spcBef>
                <a:spcPts val="600"/>
              </a:spcBef>
              <a:spcAft>
                <a:spcPts val="1200"/>
              </a:spcAft>
            </a:pPr>
            <a:r>
              <a:rPr lang="en-AU" sz="2200" dirty="0" smtClean="0">
                <a:latin typeface="Helvetica" pitchFamily="34" charset="0"/>
              </a:rPr>
              <a:t>Increase facings for high demand items</a:t>
            </a:r>
          </a:p>
          <a:p>
            <a:pPr>
              <a:spcBef>
                <a:spcPts val="600"/>
              </a:spcBef>
              <a:spcAft>
                <a:spcPts val="1200"/>
              </a:spcAft>
            </a:pPr>
            <a:r>
              <a:rPr lang="en-AU" sz="2200" dirty="0" smtClean="0">
                <a:latin typeface="Helvetica" pitchFamily="34" charset="0"/>
              </a:rPr>
              <a:t>Use shelf tickets for new products and items</a:t>
            </a:r>
          </a:p>
          <a:p>
            <a:pPr>
              <a:spcBef>
                <a:spcPts val="600"/>
              </a:spcBef>
              <a:spcAft>
                <a:spcPts val="1200"/>
              </a:spcAft>
            </a:pPr>
            <a:r>
              <a:rPr lang="en-AU" sz="2200" dirty="0" smtClean="0">
                <a:latin typeface="Helvetica" pitchFamily="34" charset="0"/>
              </a:rPr>
              <a:t>Adjust stock facings to match differences in seasonal demand</a:t>
            </a:r>
          </a:p>
          <a:p>
            <a:pPr>
              <a:spcBef>
                <a:spcPts val="600"/>
              </a:spcBef>
              <a:spcAft>
                <a:spcPts val="1200"/>
              </a:spcAft>
            </a:pPr>
            <a:r>
              <a:rPr lang="en-AU" sz="2200" dirty="0" smtClean="0">
                <a:latin typeface="Helvetica" pitchFamily="34" charset="0"/>
              </a:rPr>
              <a:t>Maintain a ‘full shelf’ appearance </a:t>
            </a:r>
          </a:p>
          <a:p>
            <a:endParaRPr lang="en-AU" sz="2400" dirty="0" smtClean="0"/>
          </a:p>
          <a:p>
            <a:endParaRPr lang="en-AU" sz="2400" b="1" dirty="0" smtClean="0"/>
          </a:p>
          <a:p>
            <a:endParaRPr lang="en-AU" sz="2400" dirty="0" smtClean="0"/>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6" name="Picture 5" descr="4356017785_1fe0800c33_m.jpg"/>
          <p:cNvPicPr/>
          <p:nvPr/>
        </p:nvPicPr>
        <p:blipFill>
          <a:blip r:embed="rId3" cstate="print"/>
          <a:stretch>
            <a:fillRect/>
          </a:stretch>
        </p:blipFill>
        <p:spPr>
          <a:xfrm>
            <a:off x="6516216" y="3933056"/>
            <a:ext cx="1833736" cy="1393304"/>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An overview on displays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Floor Displays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Locate items you want to sell in hot spots</a:t>
            </a:r>
          </a:p>
          <a:p>
            <a:pPr>
              <a:spcBef>
                <a:spcPts val="600"/>
              </a:spcBef>
              <a:spcAft>
                <a:spcPts val="1200"/>
              </a:spcAft>
            </a:pPr>
            <a:r>
              <a:rPr lang="en-AU" sz="2200" dirty="0" smtClean="0">
                <a:latin typeface="Helvetica" pitchFamily="34" charset="0"/>
              </a:rPr>
              <a:t>If practical locate high demand products at the back of the store</a:t>
            </a:r>
          </a:p>
          <a:p>
            <a:pPr>
              <a:spcBef>
                <a:spcPts val="600"/>
              </a:spcBef>
              <a:spcAft>
                <a:spcPts val="1200"/>
              </a:spcAft>
            </a:pPr>
            <a:r>
              <a:rPr lang="en-AU" sz="2200" dirty="0" smtClean="0">
                <a:latin typeface="Helvetica" pitchFamily="34" charset="0"/>
              </a:rPr>
              <a:t>Maintain appearance</a:t>
            </a:r>
          </a:p>
          <a:p>
            <a:pPr>
              <a:spcBef>
                <a:spcPts val="600"/>
              </a:spcBef>
              <a:spcAft>
                <a:spcPts val="1200"/>
              </a:spcAft>
            </a:pPr>
            <a:r>
              <a:rPr lang="en-AU" sz="2200" dirty="0" smtClean="0">
                <a:latin typeface="Helvetica" pitchFamily="34" charset="0"/>
              </a:rPr>
              <a:t>Up-date displays one-at-a-time</a:t>
            </a:r>
          </a:p>
          <a:p>
            <a:pPr>
              <a:spcBef>
                <a:spcPts val="600"/>
              </a:spcBef>
              <a:spcAft>
                <a:spcPts val="1200"/>
              </a:spcAft>
            </a:pPr>
            <a:r>
              <a:rPr lang="en-AU" sz="2200" dirty="0" smtClean="0">
                <a:latin typeface="Helvetica" pitchFamily="34" charset="0"/>
              </a:rPr>
              <a:t>Group similar products</a:t>
            </a:r>
          </a:p>
          <a:p>
            <a:pPr>
              <a:spcBef>
                <a:spcPts val="600"/>
              </a:spcBef>
              <a:spcAft>
                <a:spcPts val="1200"/>
              </a:spcAft>
            </a:pPr>
            <a:r>
              <a:rPr lang="en-AU" sz="2200" dirty="0" smtClean="0">
                <a:latin typeface="Helvetica" pitchFamily="34" charset="0"/>
              </a:rPr>
              <a:t>Re-stock as required</a:t>
            </a:r>
          </a:p>
          <a:p>
            <a:endParaRPr lang="en-AU" sz="2400" dirty="0" smtClean="0"/>
          </a:p>
          <a:p>
            <a:endParaRPr lang="en-AU" sz="2400" b="1" dirty="0" smtClean="0"/>
          </a:p>
          <a:p>
            <a:endParaRPr lang="en-AU" sz="2400" dirty="0" smtClean="0"/>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7" name="Picture 6" descr="774816_60474641.jpg"/>
          <p:cNvPicPr/>
          <p:nvPr/>
        </p:nvPicPr>
        <p:blipFill>
          <a:blip r:embed="rId3" cstate="print"/>
          <a:stretch>
            <a:fillRect/>
          </a:stretch>
        </p:blipFill>
        <p:spPr>
          <a:xfrm>
            <a:off x="7164288" y="3573016"/>
            <a:ext cx="1194435" cy="1685925"/>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Create and dismantle special promotional displays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latin typeface="Helvetica" pitchFamily="34" charset="0"/>
              </a:rPr>
              <a:t>Re-setting a display</a:t>
            </a:r>
            <a:endParaRPr lang="en-AU" sz="2000" dirty="0" smtClean="0">
              <a:latin typeface="Helvetica" pitchFamily="34" charset="0"/>
            </a:endParaRPr>
          </a:p>
          <a:p>
            <a:pPr>
              <a:spcBef>
                <a:spcPts val="600"/>
              </a:spcBef>
              <a:spcAft>
                <a:spcPts val="1200"/>
              </a:spcAft>
              <a:buNone/>
            </a:pPr>
            <a:r>
              <a:rPr lang="en-AU" sz="2000" dirty="0" smtClean="0">
                <a:latin typeface="Helvetica" pitchFamily="34" charset="0"/>
              </a:rPr>
              <a:t>Resetting a display or sales promotion may involve:</a:t>
            </a:r>
          </a:p>
          <a:p>
            <a:pPr lvl="0">
              <a:spcBef>
                <a:spcPts val="600"/>
              </a:spcBef>
              <a:spcAft>
                <a:spcPts val="1200"/>
              </a:spcAft>
            </a:pPr>
            <a:r>
              <a:rPr lang="en-AU" sz="2000" dirty="0" smtClean="0">
                <a:latin typeface="Helvetica" pitchFamily="34" charset="0"/>
              </a:rPr>
              <a:t>Re-stocking it as customers buy the products</a:t>
            </a:r>
          </a:p>
          <a:p>
            <a:pPr lvl="0">
              <a:spcBef>
                <a:spcPts val="600"/>
              </a:spcBef>
              <a:spcAft>
                <a:spcPts val="1200"/>
              </a:spcAft>
            </a:pPr>
            <a:r>
              <a:rPr lang="en-AU" sz="2000" dirty="0" smtClean="0">
                <a:latin typeface="Helvetica" pitchFamily="34" charset="0"/>
              </a:rPr>
              <a:t>Moving it to a different physical location within the store</a:t>
            </a:r>
          </a:p>
          <a:p>
            <a:pPr lvl="0">
              <a:spcBef>
                <a:spcPts val="600"/>
              </a:spcBef>
              <a:spcAft>
                <a:spcPts val="1200"/>
              </a:spcAft>
            </a:pPr>
            <a:r>
              <a:rPr lang="en-AU" sz="2000" dirty="0" smtClean="0">
                <a:latin typeface="Helvetica" pitchFamily="34" charset="0"/>
              </a:rPr>
              <a:t>Replenishing promotional material that is part of the display</a:t>
            </a:r>
          </a:p>
          <a:p>
            <a:pPr lvl="0">
              <a:spcBef>
                <a:spcPts val="600"/>
              </a:spcBef>
              <a:spcAft>
                <a:spcPts val="1200"/>
              </a:spcAft>
            </a:pPr>
            <a:r>
              <a:rPr lang="en-AU" sz="2000" dirty="0" smtClean="0">
                <a:latin typeface="Helvetica" pitchFamily="34" charset="0"/>
              </a:rPr>
              <a:t>Changing the stock in the physical display </a:t>
            </a:r>
          </a:p>
          <a:p>
            <a:pPr>
              <a:spcBef>
                <a:spcPts val="600"/>
              </a:spcBef>
              <a:spcAft>
                <a:spcPts val="1200"/>
              </a:spcAft>
            </a:pPr>
            <a:r>
              <a:rPr lang="en-AU" sz="2000" dirty="0" smtClean="0">
                <a:latin typeface="Helvetica" pitchFamily="34" charset="0"/>
              </a:rPr>
              <a:t>Changing one or more aspects of </a:t>
            </a:r>
            <a:br>
              <a:rPr lang="en-AU" sz="2000" dirty="0" smtClean="0">
                <a:latin typeface="Helvetica" pitchFamily="34" charset="0"/>
              </a:rPr>
            </a:br>
            <a:r>
              <a:rPr lang="en-AU" sz="2000" dirty="0" smtClean="0">
                <a:latin typeface="Helvetica" pitchFamily="34" charset="0"/>
              </a:rPr>
              <a:t>the original display </a:t>
            </a:r>
          </a:p>
          <a:p>
            <a:endParaRPr lang="en-AU" sz="2000" b="1" dirty="0" smtClean="0"/>
          </a:p>
          <a:p>
            <a:endParaRPr lang="en-AU" sz="2000" dirty="0" smtClean="0"/>
          </a:p>
          <a:p>
            <a:endParaRPr lang="en-AU" sz="2000" dirty="0" smtClean="0"/>
          </a:p>
          <a:p>
            <a:endParaRPr lang="en-AU" sz="2000" b="1" dirty="0" smtClean="0"/>
          </a:p>
          <a:p>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6" name="Picture 5" descr="149036060_e0f24d2305_m.jpg"/>
          <p:cNvPicPr>
            <a:picLocks noChangeAspect="1"/>
          </p:cNvPicPr>
          <p:nvPr/>
        </p:nvPicPr>
        <p:blipFill>
          <a:blip r:embed="rId3" cstate="print"/>
          <a:stretch>
            <a:fillRect/>
          </a:stretch>
        </p:blipFill>
        <p:spPr>
          <a:xfrm>
            <a:off x="6588224" y="4293096"/>
            <a:ext cx="1812032" cy="1359024"/>
          </a:xfrm>
          <a:prstGeom prst="rect">
            <a:avLst/>
          </a:prstGeom>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Create and dismantle special promotional displays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latin typeface="Helvetica" pitchFamily="34" charset="0"/>
              </a:rPr>
              <a:t>Dismantling displays - considerations</a:t>
            </a:r>
            <a:endParaRPr lang="en-AU" sz="2000" dirty="0" smtClean="0">
              <a:latin typeface="Helvetica" pitchFamily="34" charset="0"/>
            </a:endParaRPr>
          </a:p>
          <a:p>
            <a:pPr lvl="0">
              <a:spcBef>
                <a:spcPts val="600"/>
              </a:spcBef>
              <a:spcAft>
                <a:spcPts val="1200"/>
              </a:spcAft>
            </a:pPr>
            <a:r>
              <a:rPr lang="en-AU" sz="2000" dirty="0" smtClean="0">
                <a:latin typeface="Helvetica" pitchFamily="34" charset="0"/>
              </a:rPr>
              <a:t>Minimising interruption to customers </a:t>
            </a:r>
          </a:p>
          <a:p>
            <a:pPr lvl="0">
              <a:spcBef>
                <a:spcPts val="600"/>
              </a:spcBef>
              <a:spcAft>
                <a:spcPts val="1200"/>
              </a:spcAft>
            </a:pPr>
            <a:r>
              <a:rPr lang="en-AU" sz="2000" dirty="0" smtClean="0">
                <a:latin typeface="Helvetica" pitchFamily="34" charset="0"/>
              </a:rPr>
              <a:t>Ensuring customer safety </a:t>
            </a:r>
          </a:p>
          <a:p>
            <a:pPr lvl="0">
              <a:spcBef>
                <a:spcPts val="600"/>
              </a:spcBef>
              <a:spcAft>
                <a:spcPts val="1200"/>
              </a:spcAft>
            </a:pPr>
            <a:r>
              <a:rPr lang="en-AU" sz="2000" dirty="0" smtClean="0">
                <a:latin typeface="Helvetica" pitchFamily="34" charset="0"/>
              </a:rPr>
              <a:t>Dismantling one display at a time </a:t>
            </a:r>
          </a:p>
          <a:p>
            <a:pPr lvl="0">
              <a:spcBef>
                <a:spcPts val="600"/>
              </a:spcBef>
              <a:spcAft>
                <a:spcPts val="1200"/>
              </a:spcAft>
            </a:pPr>
            <a:r>
              <a:rPr lang="en-AU" sz="2000" dirty="0" smtClean="0">
                <a:latin typeface="Helvetica" pitchFamily="34" charset="0"/>
              </a:rPr>
              <a:t>Working carefully</a:t>
            </a:r>
          </a:p>
          <a:p>
            <a:pPr lvl="0">
              <a:spcBef>
                <a:spcPts val="600"/>
              </a:spcBef>
              <a:spcAft>
                <a:spcPts val="1200"/>
              </a:spcAft>
            </a:pPr>
            <a:r>
              <a:rPr lang="en-AU" sz="2000" dirty="0" smtClean="0">
                <a:latin typeface="Helvetica" pitchFamily="34" charset="0"/>
              </a:rPr>
              <a:t>Returning stock to other appropriate locations</a:t>
            </a:r>
          </a:p>
          <a:p>
            <a:pPr lvl="0">
              <a:spcBef>
                <a:spcPts val="600"/>
              </a:spcBef>
              <a:spcAft>
                <a:spcPts val="1200"/>
              </a:spcAft>
            </a:pPr>
            <a:r>
              <a:rPr lang="en-AU" sz="2000" dirty="0" smtClean="0">
                <a:latin typeface="Helvetica" pitchFamily="34" charset="0"/>
              </a:rPr>
              <a:t>Retaining materials used in the display or </a:t>
            </a:r>
            <a:br>
              <a:rPr lang="en-AU" sz="2000" dirty="0" smtClean="0">
                <a:latin typeface="Helvetica" pitchFamily="34" charset="0"/>
              </a:rPr>
            </a:br>
            <a:r>
              <a:rPr lang="en-AU" sz="2000" dirty="0" smtClean="0">
                <a:latin typeface="Helvetica" pitchFamily="34" charset="0"/>
              </a:rPr>
              <a:t>promotion </a:t>
            </a:r>
          </a:p>
          <a:p>
            <a:pPr>
              <a:spcBef>
                <a:spcPts val="600"/>
              </a:spcBef>
              <a:spcAft>
                <a:spcPts val="1200"/>
              </a:spcAft>
            </a:pPr>
            <a:r>
              <a:rPr lang="en-AU" sz="2000" dirty="0" smtClean="0">
                <a:latin typeface="Helvetica" pitchFamily="34" charset="0"/>
              </a:rPr>
              <a:t>Maintaining a clean and tidy store appearance</a:t>
            </a:r>
            <a:endParaRPr lang="en-AU" sz="2000" b="1" dirty="0" smtClean="0">
              <a:latin typeface="Helvetica" pitchFamily="34" charset="0"/>
            </a:endParaRPr>
          </a:p>
          <a:p>
            <a:endParaRPr lang="en-AU" sz="2000" dirty="0" smtClean="0"/>
          </a:p>
          <a:p>
            <a:endParaRPr lang="en-AU" sz="2000" dirty="0" smtClean="0"/>
          </a:p>
          <a:p>
            <a:endParaRPr lang="en-AU" sz="2000" b="1" dirty="0" smtClean="0"/>
          </a:p>
          <a:p>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7" name="Picture 6" descr="214379_9960.jpg"/>
          <p:cNvPicPr/>
          <p:nvPr/>
        </p:nvPicPr>
        <p:blipFill>
          <a:blip r:embed="rId3" cstate="print"/>
          <a:stretch>
            <a:fillRect/>
          </a:stretch>
        </p:blipFill>
        <p:spPr>
          <a:xfrm>
            <a:off x="7236296" y="3717032"/>
            <a:ext cx="1152128" cy="1584176"/>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Keep displays clean and tidy</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a:spcBef>
                <a:spcPts val="600"/>
              </a:spcBef>
              <a:spcAft>
                <a:spcPts val="1200"/>
              </a:spcAft>
              <a:buNone/>
            </a:pPr>
            <a:r>
              <a:rPr lang="en-AU" sz="2200" dirty="0" smtClean="0">
                <a:latin typeface="Helvetica" pitchFamily="34" charset="0"/>
              </a:rPr>
              <a:t>All display areas must be kept clean and tidy so as to send a message to customers that we are caring professionals, who take pride in our work and value our customers.</a:t>
            </a:r>
          </a:p>
          <a:p>
            <a:pPr>
              <a:spcBef>
                <a:spcPts val="600"/>
              </a:spcBef>
              <a:spcAft>
                <a:spcPts val="1200"/>
              </a:spcAft>
            </a:pPr>
            <a:r>
              <a:rPr lang="en-AU" sz="2200" dirty="0" smtClean="0">
                <a:latin typeface="Helvetica" pitchFamily="34" charset="0"/>
              </a:rPr>
              <a:t>How can you do this?</a:t>
            </a:r>
          </a:p>
          <a:p>
            <a:pPr>
              <a:spcBef>
                <a:spcPts val="600"/>
              </a:spcBef>
              <a:spcAft>
                <a:spcPts val="1200"/>
              </a:spcAft>
            </a:pPr>
            <a:r>
              <a:rPr lang="en-AU" sz="2200" dirty="0" smtClean="0">
                <a:latin typeface="Helvetica" pitchFamily="34" charset="0"/>
              </a:rPr>
              <a:t>What tasks need to be performed?</a:t>
            </a:r>
          </a:p>
          <a:p>
            <a:endParaRPr lang="en-AU" sz="2400" dirty="0" smtClean="0"/>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6" name="Picture 5" descr="MP900383000[1].JPG"/>
          <p:cNvPicPr/>
          <p:nvPr/>
        </p:nvPicPr>
        <p:blipFill>
          <a:blip r:embed="rId3" cstate="print"/>
          <a:stretch>
            <a:fillRect/>
          </a:stretch>
        </p:blipFill>
        <p:spPr>
          <a:xfrm>
            <a:off x="6444208" y="3861048"/>
            <a:ext cx="1933947" cy="1418456"/>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Keep displays clean and tidy</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lvl="0">
              <a:spcBef>
                <a:spcPts val="600"/>
              </a:spcBef>
              <a:spcAft>
                <a:spcPts val="600"/>
              </a:spcAft>
            </a:pPr>
            <a:r>
              <a:rPr lang="en-AU" sz="2200" dirty="0" smtClean="0">
                <a:latin typeface="Helvetica" pitchFamily="34" charset="0"/>
              </a:rPr>
              <a:t>Performing routine dusting, polishing and vacuuming </a:t>
            </a:r>
          </a:p>
          <a:p>
            <a:pPr lvl="0">
              <a:spcBef>
                <a:spcPts val="600"/>
              </a:spcBef>
              <a:spcAft>
                <a:spcPts val="600"/>
              </a:spcAft>
            </a:pPr>
            <a:r>
              <a:rPr lang="en-AU" sz="2200" dirty="0" smtClean="0">
                <a:latin typeface="Helvetica" pitchFamily="34" charset="0"/>
              </a:rPr>
              <a:t>Performing spot cleaning </a:t>
            </a:r>
          </a:p>
          <a:p>
            <a:pPr lvl="0">
              <a:spcBef>
                <a:spcPts val="600"/>
              </a:spcBef>
              <a:spcAft>
                <a:spcPts val="600"/>
              </a:spcAft>
            </a:pPr>
            <a:r>
              <a:rPr lang="en-AU" sz="2200" dirty="0" smtClean="0">
                <a:latin typeface="Helvetica" pitchFamily="34" charset="0"/>
              </a:rPr>
              <a:t>Cleaning up spills and breakages </a:t>
            </a:r>
          </a:p>
          <a:p>
            <a:pPr lvl="0">
              <a:spcBef>
                <a:spcPts val="600"/>
              </a:spcBef>
              <a:spcAft>
                <a:spcPts val="600"/>
              </a:spcAft>
            </a:pPr>
            <a:r>
              <a:rPr lang="en-AU" sz="2200" dirty="0" smtClean="0">
                <a:latin typeface="Helvetica" pitchFamily="34" charset="0"/>
              </a:rPr>
              <a:t>Taking a walk outside and ensuring the exterior of the premises is clean and tidy</a:t>
            </a:r>
          </a:p>
          <a:p>
            <a:pPr lvl="0">
              <a:spcBef>
                <a:spcPts val="600"/>
              </a:spcBef>
              <a:spcAft>
                <a:spcPts val="600"/>
              </a:spcAft>
            </a:pPr>
            <a:r>
              <a:rPr lang="en-AU" sz="2200" dirty="0" smtClean="0">
                <a:latin typeface="Helvetica" pitchFamily="34" charset="0"/>
              </a:rPr>
              <a:t>Putting equipment away when you have </a:t>
            </a:r>
            <a:br>
              <a:rPr lang="en-AU" sz="2200" dirty="0" smtClean="0">
                <a:latin typeface="Helvetica" pitchFamily="34" charset="0"/>
              </a:rPr>
            </a:br>
            <a:r>
              <a:rPr lang="en-AU" sz="2200" dirty="0" smtClean="0">
                <a:latin typeface="Helvetica" pitchFamily="34" charset="0"/>
              </a:rPr>
              <a:t>finished using it</a:t>
            </a:r>
          </a:p>
          <a:p>
            <a:pPr lvl="0">
              <a:spcBef>
                <a:spcPts val="600"/>
              </a:spcBef>
              <a:spcAft>
                <a:spcPts val="600"/>
              </a:spcAft>
            </a:pPr>
            <a:r>
              <a:rPr lang="en-AU" sz="2200" dirty="0" smtClean="0">
                <a:latin typeface="Helvetica" pitchFamily="34" charset="0"/>
              </a:rPr>
              <a:t>Removing packaging and promotional signs </a:t>
            </a:r>
            <a:br>
              <a:rPr lang="en-AU" sz="2200" dirty="0" smtClean="0">
                <a:latin typeface="Helvetica" pitchFamily="34" charset="0"/>
              </a:rPr>
            </a:br>
            <a:r>
              <a:rPr lang="en-AU" sz="2200" dirty="0" smtClean="0">
                <a:latin typeface="Helvetica" pitchFamily="34" charset="0"/>
              </a:rPr>
              <a:t>that are no longer wanted </a:t>
            </a:r>
          </a:p>
          <a:p>
            <a:pPr lvl="0">
              <a:spcBef>
                <a:spcPts val="600"/>
              </a:spcBef>
              <a:spcAft>
                <a:spcPts val="600"/>
              </a:spcAft>
            </a:pPr>
            <a:r>
              <a:rPr lang="en-AU" sz="2200" dirty="0" smtClean="0">
                <a:latin typeface="Helvetica" pitchFamily="34" charset="0"/>
              </a:rPr>
              <a:t>Monitoring stock and displays </a:t>
            </a:r>
          </a:p>
          <a:p>
            <a:pPr>
              <a:spcBef>
                <a:spcPts val="600"/>
              </a:spcBef>
              <a:spcAft>
                <a:spcPts val="600"/>
              </a:spcAft>
            </a:pPr>
            <a:r>
              <a:rPr lang="en-AU" sz="2200" dirty="0" smtClean="0">
                <a:latin typeface="Helvetica" pitchFamily="34" charset="0"/>
              </a:rPr>
              <a:t>Replacing things that need replacing </a:t>
            </a:r>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7" name="Picture 6" descr="3243138506_81e5441b5f_m.jpg"/>
          <p:cNvPicPr/>
          <p:nvPr/>
        </p:nvPicPr>
        <p:blipFill>
          <a:blip r:embed="rId3" cstate="print"/>
          <a:stretch>
            <a:fillRect/>
          </a:stretch>
        </p:blipFill>
        <p:spPr>
          <a:xfrm>
            <a:off x="6732240" y="4149080"/>
            <a:ext cx="1666875" cy="1247775"/>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Keep displays clean and tidy</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848872" cy="5733256"/>
          </a:xfrm>
        </p:spPr>
        <p:txBody>
          <a:bodyPr>
            <a:normAutofit/>
          </a:bodyPr>
          <a:lstStyle/>
          <a:p>
            <a:pPr>
              <a:spcBef>
                <a:spcPts val="600"/>
              </a:spcBef>
              <a:spcAft>
                <a:spcPts val="1200"/>
              </a:spcAft>
              <a:buNone/>
            </a:pPr>
            <a:r>
              <a:rPr lang="en-AU" sz="2200" b="1" dirty="0" smtClean="0">
                <a:latin typeface="Helvetica" pitchFamily="34" charset="0"/>
              </a:rPr>
              <a:t>Ensure cleanliness of refrigerators and coolrooms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Why is this important?</a:t>
            </a:r>
          </a:p>
          <a:p>
            <a:pPr>
              <a:spcBef>
                <a:spcPts val="600"/>
              </a:spcBef>
              <a:spcAft>
                <a:spcPts val="1200"/>
              </a:spcAft>
            </a:pPr>
            <a:r>
              <a:rPr lang="en-AU" sz="2200" dirty="0" smtClean="0">
                <a:latin typeface="Helvetica" pitchFamily="34" charset="0"/>
              </a:rPr>
              <a:t>How can you do this?</a:t>
            </a:r>
          </a:p>
          <a:p>
            <a:pPr>
              <a:spcBef>
                <a:spcPts val="600"/>
              </a:spcBef>
              <a:spcAft>
                <a:spcPts val="1200"/>
              </a:spcAft>
            </a:pPr>
            <a:r>
              <a:rPr lang="en-AU" sz="2200" dirty="0" smtClean="0">
                <a:latin typeface="Helvetica" pitchFamily="34" charset="0"/>
              </a:rPr>
              <a:t>What tasks need to be performed?</a:t>
            </a:r>
          </a:p>
          <a:p>
            <a:endParaRPr lang="en-AU" sz="2400" dirty="0" smtClean="0"/>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7" name="Picture 6" descr="MP900385501[1].JPG"/>
          <p:cNvPicPr/>
          <p:nvPr/>
        </p:nvPicPr>
        <p:blipFill>
          <a:blip r:embed="rId3" cstate="print"/>
          <a:stretch>
            <a:fillRect/>
          </a:stretch>
        </p:blipFill>
        <p:spPr>
          <a:xfrm>
            <a:off x="6948264" y="3356992"/>
            <a:ext cx="1503040" cy="1888232"/>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Rotate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848872" cy="5733256"/>
          </a:xfrm>
        </p:spPr>
        <p:txBody>
          <a:bodyPr>
            <a:normAutofit/>
          </a:bodyPr>
          <a:lstStyle/>
          <a:p>
            <a:pPr>
              <a:spcBef>
                <a:spcPts val="600"/>
              </a:spcBef>
              <a:spcAft>
                <a:spcPts val="1200"/>
              </a:spcAft>
              <a:buNone/>
            </a:pPr>
            <a:r>
              <a:rPr lang="en-AU" sz="2200" b="1" dirty="0" smtClean="0">
                <a:latin typeface="Helvetica" pitchFamily="34" charset="0"/>
              </a:rPr>
              <a:t>Importance of stock rotation</a:t>
            </a:r>
          </a:p>
          <a:p>
            <a:pPr>
              <a:spcBef>
                <a:spcPts val="600"/>
              </a:spcBef>
              <a:spcAft>
                <a:spcPts val="1200"/>
              </a:spcAft>
            </a:pPr>
            <a:r>
              <a:rPr lang="en-AU" sz="2200" dirty="0" smtClean="0">
                <a:latin typeface="Helvetica" pitchFamily="34" charset="0"/>
              </a:rPr>
              <a:t>All stock in a liquor outlet must be rotated on a regular basis</a:t>
            </a:r>
          </a:p>
          <a:p>
            <a:pPr>
              <a:spcBef>
                <a:spcPts val="600"/>
              </a:spcBef>
              <a:spcAft>
                <a:spcPts val="1200"/>
              </a:spcAft>
            </a:pPr>
            <a:r>
              <a:rPr lang="en-AU" sz="2200" dirty="0" smtClean="0">
                <a:latin typeface="Helvetica" pitchFamily="34" charset="0"/>
              </a:rPr>
              <a:t>Stock rotation is necessary to sell stock before ‘best before’ dates are exceeded and so as to keep stock current</a:t>
            </a:r>
          </a:p>
          <a:p>
            <a:endParaRPr lang="en-AU" sz="2400" dirty="0" smtClean="0"/>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6" name="Picture 5" descr="IMG_2085.jpg"/>
          <p:cNvPicPr/>
          <p:nvPr/>
        </p:nvPicPr>
        <p:blipFill>
          <a:blip r:embed="rId3" cstate="print"/>
          <a:stretch>
            <a:fillRect/>
          </a:stretch>
        </p:blipFill>
        <p:spPr>
          <a:xfrm>
            <a:off x="7164288" y="3573016"/>
            <a:ext cx="1257300" cy="1676400"/>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Rotate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848872" cy="5733256"/>
          </a:xfrm>
        </p:spPr>
        <p:txBody>
          <a:bodyPr>
            <a:normAutofit/>
          </a:bodyPr>
          <a:lstStyle/>
          <a:p>
            <a:pPr>
              <a:spcBef>
                <a:spcPts val="600"/>
              </a:spcBef>
              <a:spcAft>
                <a:spcPts val="1200"/>
              </a:spcAft>
              <a:buNone/>
            </a:pPr>
            <a:r>
              <a:rPr lang="en-AU" sz="2200" b="1" dirty="0" smtClean="0">
                <a:latin typeface="Helvetica" pitchFamily="34" charset="0"/>
              </a:rPr>
              <a:t>Stock rotation principles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The vast majority of stock in a liquor store will be rotated on a First In, First Out basis</a:t>
            </a:r>
          </a:p>
          <a:p>
            <a:pPr>
              <a:spcBef>
                <a:spcPts val="600"/>
              </a:spcBef>
              <a:spcAft>
                <a:spcPts val="1200"/>
              </a:spcAft>
            </a:pPr>
            <a:r>
              <a:rPr lang="en-AU" sz="2200" dirty="0" smtClean="0">
                <a:latin typeface="Helvetica" pitchFamily="34" charset="0"/>
              </a:rPr>
              <a:t>This is also known as FIFO</a:t>
            </a:r>
          </a:p>
          <a:p>
            <a:endParaRPr lang="en-AU" sz="2400" dirty="0" smtClean="0"/>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7" name="Picture 6" descr="380804411_7141035d9f_m.jpg"/>
          <p:cNvPicPr>
            <a:picLocks noChangeAspect="1"/>
          </p:cNvPicPr>
          <p:nvPr/>
        </p:nvPicPr>
        <p:blipFill>
          <a:blip r:embed="rId3" cstate="print"/>
          <a:stretch>
            <a:fillRect/>
          </a:stretch>
        </p:blipFill>
        <p:spPr>
          <a:xfrm>
            <a:off x="6156176" y="3789040"/>
            <a:ext cx="2244080" cy="1496054"/>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Rotate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052736"/>
            <a:ext cx="7848872" cy="5805264"/>
          </a:xfrm>
        </p:spPr>
        <p:txBody>
          <a:bodyPr>
            <a:normAutofit/>
          </a:bodyPr>
          <a:lstStyle/>
          <a:p>
            <a:pPr>
              <a:buNone/>
            </a:pPr>
            <a:r>
              <a:rPr lang="en-AU" sz="2200" b="1" dirty="0" smtClean="0">
                <a:latin typeface="Helvetica" pitchFamily="34" charset="0"/>
              </a:rPr>
              <a:t>Practical considerations</a:t>
            </a:r>
            <a:endParaRPr lang="en-AU" sz="2200" dirty="0" smtClean="0">
              <a:latin typeface="Helvetica" pitchFamily="34" charset="0"/>
            </a:endParaRPr>
          </a:p>
          <a:p>
            <a:pPr lvl="0"/>
            <a:r>
              <a:rPr lang="en-AU" sz="2200" dirty="0" smtClean="0">
                <a:latin typeface="Helvetica" pitchFamily="34" charset="0"/>
              </a:rPr>
              <a:t>Rotate items using their ‘Best Before’ dates, or their filling date as the basis for rotation</a:t>
            </a:r>
          </a:p>
          <a:p>
            <a:pPr lvl="0"/>
            <a:r>
              <a:rPr lang="en-AU" sz="2200" dirty="0" smtClean="0">
                <a:latin typeface="Helvetica" pitchFamily="34" charset="0"/>
              </a:rPr>
              <a:t>Distribute any out-of-date (or close to ‘Best Before’ date) stock to bars (where possible) so it can be used for dispensing purposes</a:t>
            </a:r>
          </a:p>
          <a:p>
            <a:pPr lvl="0"/>
            <a:r>
              <a:rPr lang="en-AU" sz="2200" dirty="0" smtClean="0">
                <a:latin typeface="Helvetica" pitchFamily="34" charset="0"/>
              </a:rPr>
              <a:t>Sell all products with a dated label or ‘worn’ appearance before new stock is offered for sale</a:t>
            </a:r>
          </a:p>
          <a:p>
            <a:pPr lvl="0"/>
            <a:r>
              <a:rPr lang="en-AU" sz="2200" dirty="0" smtClean="0">
                <a:latin typeface="Helvetica" pitchFamily="34" charset="0"/>
              </a:rPr>
              <a:t>Rotate stock so as to present shelves and </a:t>
            </a:r>
            <a:br>
              <a:rPr lang="en-AU" sz="2200" dirty="0" smtClean="0">
                <a:latin typeface="Helvetica" pitchFamily="34" charset="0"/>
              </a:rPr>
            </a:br>
            <a:r>
              <a:rPr lang="en-AU" sz="2200" dirty="0" smtClean="0">
                <a:latin typeface="Helvetica" pitchFamily="34" charset="0"/>
              </a:rPr>
              <a:t>displays with a ‘fully stocked’ appearance</a:t>
            </a:r>
          </a:p>
          <a:p>
            <a:pPr lvl="0"/>
            <a:r>
              <a:rPr lang="en-AU" sz="2200" dirty="0" smtClean="0">
                <a:latin typeface="Helvetica" pitchFamily="34" charset="0"/>
              </a:rPr>
              <a:t>Check non-liquor items </a:t>
            </a:r>
          </a:p>
          <a:p>
            <a:pPr lvl="0"/>
            <a:r>
              <a:rPr lang="en-AU" sz="2200" dirty="0" smtClean="0">
                <a:latin typeface="Helvetica" pitchFamily="34" charset="0"/>
              </a:rPr>
              <a:t>Best Before dates and either promote </a:t>
            </a:r>
            <a:br>
              <a:rPr lang="en-AU" sz="2200" dirty="0" smtClean="0">
                <a:latin typeface="Helvetica" pitchFamily="34" charset="0"/>
              </a:rPr>
            </a:br>
            <a:r>
              <a:rPr lang="en-AU" sz="2200" dirty="0" smtClean="0">
                <a:latin typeface="Helvetica" pitchFamily="34" charset="0"/>
              </a:rPr>
              <a:t>them or return to suppliers </a:t>
            </a:r>
          </a:p>
          <a:p>
            <a:endParaRPr lang="en-AU" sz="2400" dirty="0" smtClean="0"/>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5" name="Picture 4" descr="5233545920_894a6cfa91_m.jpg"/>
          <p:cNvPicPr/>
          <p:nvPr/>
        </p:nvPicPr>
        <p:blipFill>
          <a:blip r:embed="rId3" cstate="print"/>
          <a:stretch>
            <a:fillRect/>
          </a:stretch>
        </p:blipFill>
        <p:spPr>
          <a:xfrm>
            <a:off x="6516216" y="4005064"/>
            <a:ext cx="1872208" cy="1296144"/>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Report defective and out of date stock promptly</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848872" cy="5229200"/>
          </a:xfrm>
        </p:spPr>
        <p:txBody>
          <a:bodyPr>
            <a:normAutofit/>
          </a:bodyPr>
          <a:lstStyle/>
          <a:p>
            <a:pPr lvl="0">
              <a:spcBef>
                <a:spcPts val="600"/>
              </a:spcBef>
              <a:spcAft>
                <a:spcPts val="1200"/>
              </a:spcAft>
            </a:pPr>
            <a:r>
              <a:rPr lang="en-AU" sz="2200" dirty="0" smtClean="0">
                <a:latin typeface="Helvetica" pitchFamily="34" charset="0"/>
              </a:rPr>
              <a:t>What is detective stock?</a:t>
            </a:r>
          </a:p>
          <a:p>
            <a:pPr lvl="0">
              <a:spcBef>
                <a:spcPts val="600"/>
              </a:spcBef>
              <a:spcAft>
                <a:spcPts val="1200"/>
              </a:spcAft>
            </a:pPr>
            <a:r>
              <a:rPr lang="en-AU" sz="2200" dirty="0" smtClean="0">
                <a:latin typeface="Helvetica" pitchFamily="34" charset="0"/>
              </a:rPr>
              <a:t>How can you monitor ‘use by date’ of stock?</a:t>
            </a:r>
          </a:p>
          <a:p>
            <a:pPr lvl="0">
              <a:spcBef>
                <a:spcPts val="600"/>
              </a:spcBef>
              <a:spcAft>
                <a:spcPts val="1200"/>
              </a:spcAft>
            </a:pPr>
            <a:r>
              <a:rPr lang="en-AU" sz="2200" dirty="0" smtClean="0">
                <a:latin typeface="Helvetica" pitchFamily="34" charset="0"/>
              </a:rPr>
              <a:t>What do you do when items are defective or ‘out of stock’?</a:t>
            </a:r>
          </a:p>
          <a:p>
            <a:pPr lvl="0">
              <a:spcBef>
                <a:spcPts val="600"/>
              </a:spcBef>
              <a:spcAft>
                <a:spcPts val="1200"/>
              </a:spcAft>
            </a:pPr>
            <a:r>
              <a:rPr lang="en-AU" sz="2200" dirty="0" smtClean="0">
                <a:latin typeface="Helvetica" pitchFamily="34" charset="0"/>
              </a:rPr>
              <a:t>How can you prevent these scenarios?</a:t>
            </a:r>
          </a:p>
          <a:p>
            <a:endParaRPr lang="en-AU" sz="2400" dirty="0" smtClean="0"/>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6" name="Picture 5" descr="370183066_ab3696e193_m.jpg"/>
          <p:cNvPicPr/>
          <p:nvPr/>
        </p:nvPicPr>
        <p:blipFill>
          <a:blip r:embed="rId3" cstate="print"/>
          <a:stretch>
            <a:fillRect/>
          </a:stretch>
        </p:blipFill>
        <p:spPr>
          <a:xfrm>
            <a:off x="6516216" y="3501008"/>
            <a:ext cx="1790303" cy="1484362"/>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Prepare labels and tickets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848872" cy="5661248"/>
          </a:xfrm>
        </p:spPr>
        <p:txBody>
          <a:bodyPr>
            <a:normAutofit/>
          </a:bodyPr>
          <a:lstStyle/>
          <a:p>
            <a:pPr>
              <a:spcBef>
                <a:spcPts val="600"/>
              </a:spcBef>
              <a:spcAft>
                <a:spcPts val="1200"/>
              </a:spcAft>
              <a:buNone/>
            </a:pPr>
            <a:r>
              <a:rPr lang="en-AU" sz="2000" b="1" dirty="0" smtClean="0">
                <a:latin typeface="Helvetica" pitchFamily="34" charset="0"/>
              </a:rPr>
              <a:t>Practical advice for preparing labels and tickets</a:t>
            </a:r>
            <a:endParaRPr lang="en-AU" sz="2000" dirty="0" smtClean="0">
              <a:latin typeface="Helvetica" pitchFamily="34" charset="0"/>
            </a:endParaRPr>
          </a:p>
          <a:p>
            <a:pPr lvl="0">
              <a:spcBef>
                <a:spcPts val="600"/>
              </a:spcBef>
              <a:spcAft>
                <a:spcPts val="1200"/>
              </a:spcAft>
            </a:pPr>
            <a:r>
              <a:rPr lang="en-AU" sz="2000" dirty="0" smtClean="0">
                <a:latin typeface="Helvetica" pitchFamily="34" charset="0"/>
              </a:rPr>
              <a:t>Be accurate and honest </a:t>
            </a:r>
          </a:p>
          <a:p>
            <a:pPr lvl="0">
              <a:spcBef>
                <a:spcPts val="600"/>
              </a:spcBef>
              <a:spcAft>
                <a:spcPts val="1200"/>
              </a:spcAft>
            </a:pPr>
            <a:r>
              <a:rPr lang="en-AU" sz="2000" dirty="0" smtClean="0">
                <a:latin typeface="Helvetica" pitchFamily="34" charset="0"/>
              </a:rPr>
              <a:t>Don’t try to cram too much in to a label or ticket </a:t>
            </a:r>
          </a:p>
          <a:p>
            <a:pPr lvl="0">
              <a:spcBef>
                <a:spcPts val="600"/>
              </a:spcBef>
              <a:spcAft>
                <a:spcPts val="1200"/>
              </a:spcAft>
            </a:pPr>
            <a:r>
              <a:rPr lang="en-AU" sz="2000" dirty="0" smtClean="0">
                <a:latin typeface="Helvetica" pitchFamily="34" charset="0"/>
              </a:rPr>
              <a:t>Be selective about what you put in and what you leave out </a:t>
            </a:r>
          </a:p>
          <a:p>
            <a:pPr lvl="0">
              <a:spcBef>
                <a:spcPts val="600"/>
              </a:spcBef>
              <a:spcAft>
                <a:spcPts val="1200"/>
              </a:spcAft>
            </a:pPr>
            <a:r>
              <a:rPr lang="en-AU" sz="2000" dirty="0" smtClean="0">
                <a:latin typeface="Helvetica" pitchFamily="34" charset="0"/>
              </a:rPr>
              <a:t>Make sure the label is clear, legible and readily understood </a:t>
            </a:r>
          </a:p>
          <a:p>
            <a:pPr lvl="0">
              <a:spcBef>
                <a:spcPts val="600"/>
              </a:spcBef>
              <a:spcAft>
                <a:spcPts val="1200"/>
              </a:spcAft>
            </a:pPr>
            <a:r>
              <a:rPr lang="en-AU" sz="2000" dirty="0" smtClean="0">
                <a:latin typeface="Helvetica" pitchFamily="34" charset="0"/>
              </a:rPr>
              <a:t>Ensure it is the ‘right’ size </a:t>
            </a:r>
          </a:p>
          <a:p>
            <a:pPr>
              <a:spcBef>
                <a:spcPts val="600"/>
              </a:spcBef>
              <a:spcAft>
                <a:spcPts val="1200"/>
              </a:spcAft>
            </a:pPr>
            <a:r>
              <a:rPr lang="en-AU" sz="2000" dirty="0" smtClean="0">
                <a:latin typeface="Helvetica" pitchFamily="34" charset="0"/>
              </a:rPr>
              <a:t>Construct it out of a suitable medium </a:t>
            </a:r>
          </a:p>
          <a:p>
            <a:pPr>
              <a:spcBef>
                <a:spcPts val="600"/>
              </a:spcBef>
              <a:spcAft>
                <a:spcPts val="1200"/>
              </a:spcAft>
            </a:pPr>
            <a:r>
              <a:rPr lang="en-AU" sz="2000" dirty="0" smtClean="0">
                <a:latin typeface="Helvetica" pitchFamily="34" charset="0"/>
              </a:rPr>
              <a:t>Make more than one of the same thing at the </a:t>
            </a:r>
            <a:br>
              <a:rPr lang="en-AU" sz="2000" dirty="0" smtClean="0">
                <a:latin typeface="Helvetica" pitchFamily="34" charset="0"/>
              </a:rPr>
            </a:br>
            <a:r>
              <a:rPr lang="en-AU" sz="2000" dirty="0" smtClean="0">
                <a:latin typeface="Helvetica" pitchFamily="34" charset="0"/>
              </a:rPr>
              <a:t>same time </a:t>
            </a:r>
          </a:p>
          <a:p>
            <a:pPr>
              <a:spcBef>
                <a:spcPts val="600"/>
              </a:spcBef>
              <a:spcAft>
                <a:spcPts val="1200"/>
              </a:spcAft>
            </a:pPr>
            <a:endParaRPr lang="en-AU" sz="2000" dirty="0" smtClean="0">
              <a:latin typeface="Helvetica" pitchFamily="34" charset="0"/>
            </a:endParaRPr>
          </a:p>
          <a:p>
            <a:endParaRPr lang="en-AU" sz="2000" dirty="0" smtClean="0"/>
          </a:p>
          <a:p>
            <a:endParaRPr lang="en-AU" sz="2000" b="1" dirty="0" smtClean="0"/>
          </a:p>
          <a:p>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7" name="Picture 6" descr="2850574627_f388374b1e_m.jpg"/>
          <p:cNvPicPr/>
          <p:nvPr/>
        </p:nvPicPr>
        <p:blipFill>
          <a:blip r:embed="rId3" cstate="print"/>
          <a:stretch>
            <a:fillRect/>
          </a:stretch>
        </p:blipFill>
        <p:spPr>
          <a:xfrm>
            <a:off x="7020272" y="3789040"/>
            <a:ext cx="1368152" cy="1584176"/>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Prepare labels and tickets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848872" cy="5661248"/>
          </a:xfrm>
        </p:spPr>
        <p:txBody>
          <a:bodyPr>
            <a:normAutofit/>
          </a:bodyPr>
          <a:lstStyle/>
          <a:p>
            <a:pPr>
              <a:spcBef>
                <a:spcPts val="600"/>
              </a:spcBef>
              <a:spcAft>
                <a:spcPts val="1200"/>
              </a:spcAft>
              <a:buNone/>
            </a:pPr>
            <a:r>
              <a:rPr lang="en-AU" sz="2200" b="1" dirty="0" smtClean="0">
                <a:latin typeface="Helvetica" pitchFamily="34" charset="0"/>
              </a:rPr>
              <a:t>What information might be included on display labels?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Product name</a:t>
            </a:r>
          </a:p>
          <a:p>
            <a:pPr lvl="0">
              <a:spcBef>
                <a:spcPts val="600"/>
              </a:spcBef>
              <a:spcAft>
                <a:spcPts val="1200"/>
              </a:spcAft>
            </a:pPr>
            <a:r>
              <a:rPr lang="en-AU" sz="2200" dirty="0" smtClean="0">
                <a:latin typeface="Helvetica" pitchFamily="34" charset="0"/>
              </a:rPr>
              <a:t>Supplier</a:t>
            </a:r>
          </a:p>
          <a:p>
            <a:pPr lvl="0">
              <a:spcBef>
                <a:spcPts val="600"/>
              </a:spcBef>
              <a:spcAft>
                <a:spcPts val="1200"/>
              </a:spcAft>
            </a:pPr>
            <a:r>
              <a:rPr lang="en-AU" sz="2200" dirty="0" smtClean="0">
                <a:latin typeface="Helvetica" pitchFamily="34" charset="0"/>
              </a:rPr>
              <a:t>Stock control details </a:t>
            </a:r>
          </a:p>
          <a:p>
            <a:pPr lvl="0">
              <a:spcBef>
                <a:spcPts val="600"/>
              </a:spcBef>
              <a:spcAft>
                <a:spcPts val="1200"/>
              </a:spcAft>
            </a:pPr>
            <a:r>
              <a:rPr lang="en-AU" sz="2200" dirty="0" smtClean="0">
                <a:latin typeface="Helvetica" pitchFamily="34" charset="0"/>
              </a:rPr>
              <a:t>Size</a:t>
            </a:r>
          </a:p>
          <a:p>
            <a:pPr lvl="0">
              <a:spcBef>
                <a:spcPts val="600"/>
              </a:spcBef>
              <a:spcAft>
                <a:spcPts val="1200"/>
              </a:spcAft>
            </a:pPr>
            <a:r>
              <a:rPr lang="en-AU" sz="2200" dirty="0" smtClean="0">
                <a:latin typeface="Helvetica" pitchFamily="34" charset="0"/>
              </a:rPr>
              <a:t>Selling price </a:t>
            </a:r>
          </a:p>
          <a:p>
            <a:pPr lvl="0">
              <a:spcBef>
                <a:spcPts val="600"/>
              </a:spcBef>
              <a:spcAft>
                <a:spcPts val="1200"/>
              </a:spcAft>
            </a:pPr>
            <a:r>
              <a:rPr lang="en-AU" sz="2200" dirty="0" smtClean="0">
                <a:latin typeface="Helvetica" pitchFamily="34" charset="0"/>
              </a:rPr>
              <a:t>Various coded information such as stock </a:t>
            </a:r>
            <a:br>
              <a:rPr lang="en-AU" sz="2200" dirty="0" smtClean="0">
                <a:latin typeface="Helvetica" pitchFamily="34" charset="0"/>
              </a:rPr>
            </a:br>
            <a:r>
              <a:rPr lang="en-AU" sz="2200" dirty="0" smtClean="0">
                <a:latin typeface="Helvetica" pitchFamily="34" charset="0"/>
              </a:rPr>
              <a:t>identification code, bar code and date code</a:t>
            </a:r>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8" name="Picture 7" descr="6808713156_06f170d93d_m.jpg"/>
          <p:cNvPicPr/>
          <p:nvPr/>
        </p:nvPicPr>
        <p:blipFill>
          <a:blip r:embed="rId3" cstate="print"/>
          <a:stretch>
            <a:fillRect/>
          </a:stretch>
        </p:blipFill>
        <p:spPr>
          <a:xfrm>
            <a:off x="6660232" y="4005064"/>
            <a:ext cx="1728192" cy="1368152"/>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Prepare labels and tickets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848872" cy="5589240"/>
          </a:xfrm>
        </p:spPr>
        <p:txBody>
          <a:bodyPr>
            <a:normAutofit/>
          </a:bodyPr>
          <a:lstStyle/>
          <a:p>
            <a:pPr>
              <a:spcBef>
                <a:spcPts val="600"/>
              </a:spcBef>
              <a:spcAft>
                <a:spcPts val="1200"/>
              </a:spcAft>
              <a:buNone/>
            </a:pPr>
            <a:r>
              <a:rPr lang="en-AU" sz="2200" b="1" dirty="0" smtClean="0">
                <a:latin typeface="Helvetica" pitchFamily="34" charset="0"/>
              </a:rPr>
              <a:t>Two categories of price-marking equipment</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Price-marking equipment falls into two broad categories:</a:t>
            </a:r>
          </a:p>
          <a:p>
            <a:pPr lvl="0">
              <a:spcBef>
                <a:spcPts val="600"/>
              </a:spcBef>
              <a:spcAft>
                <a:spcPts val="1200"/>
              </a:spcAft>
            </a:pPr>
            <a:r>
              <a:rPr lang="en-AU" sz="2200" dirty="0" smtClean="0">
                <a:latin typeface="Helvetica" pitchFamily="34" charset="0"/>
              </a:rPr>
              <a:t>Printers</a:t>
            </a:r>
          </a:p>
          <a:p>
            <a:pPr lvl="0">
              <a:spcBef>
                <a:spcPts val="600"/>
              </a:spcBef>
              <a:spcAft>
                <a:spcPts val="1200"/>
              </a:spcAft>
            </a:pPr>
            <a:r>
              <a:rPr lang="en-AU" sz="2200" dirty="0" smtClean="0">
                <a:latin typeface="Helvetica" pitchFamily="34" charset="0"/>
              </a:rPr>
              <a:t>Pricing guns</a:t>
            </a:r>
          </a:p>
          <a:p>
            <a:pPr>
              <a:spcBef>
                <a:spcPts val="600"/>
              </a:spcBef>
              <a:spcAft>
                <a:spcPts val="1200"/>
              </a:spcAft>
            </a:pPr>
            <a:endParaRPr lang="en-AU" sz="2200" dirty="0" smtClean="0">
              <a:latin typeface="Helvetica" pitchFamily="34" charset="0"/>
            </a:endParaRPr>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6" name="Picture 5" descr="6078324535_128807d7d2_m.jpg"/>
          <p:cNvPicPr>
            <a:picLocks noChangeAspect="1"/>
          </p:cNvPicPr>
          <p:nvPr/>
        </p:nvPicPr>
        <p:blipFill>
          <a:blip r:embed="rId3" cstate="print"/>
          <a:stretch>
            <a:fillRect/>
          </a:stretch>
        </p:blipFill>
        <p:spPr>
          <a:xfrm>
            <a:off x="6476939" y="3861048"/>
            <a:ext cx="1942956" cy="1335782"/>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Ensure stock is correctly priced</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848872" cy="5661248"/>
          </a:xfrm>
        </p:spPr>
        <p:txBody>
          <a:bodyPr>
            <a:normAutofit/>
          </a:bodyPr>
          <a:lstStyle/>
          <a:p>
            <a:pPr marL="0">
              <a:spcBef>
                <a:spcPts val="600"/>
              </a:spcBef>
              <a:spcAft>
                <a:spcPts val="1200"/>
              </a:spcAft>
              <a:buNone/>
            </a:pPr>
            <a:r>
              <a:rPr lang="en-AU" sz="2200" dirty="0" smtClean="0">
                <a:latin typeface="Helvetica" pitchFamily="34" charset="0"/>
              </a:rPr>
              <a:t>Keeping all stock priced at the correct and current price is a necessity in all sales situations:</a:t>
            </a:r>
          </a:p>
          <a:p>
            <a:pPr>
              <a:spcBef>
                <a:spcPts val="600"/>
              </a:spcBef>
              <a:spcAft>
                <a:spcPts val="1200"/>
              </a:spcAft>
            </a:pPr>
            <a:r>
              <a:rPr lang="en-AU" sz="2200" dirty="0" smtClean="0">
                <a:latin typeface="Helvetica" pitchFamily="34" charset="0"/>
              </a:rPr>
              <a:t>How can you do this in an environment where products are varied and ever-changing?</a:t>
            </a:r>
          </a:p>
          <a:p>
            <a:pPr>
              <a:spcBef>
                <a:spcPts val="600"/>
              </a:spcBef>
              <a:spcAft>
                <a:spcPts val="1200"/>
              </a:spcAft>
            </a:pPr>
            <a:endParaRPr lang="en-AU" sz="2200" dirty="0" smtClean="0">
              <a:latin typeface="Helvetica" pitchFamily="34" charset="0"/>
            </a:endParaRPr>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7" name="Picture 6" descr="4433318139_69f48ef1e6_m.jpg"/>
          <p:cNvPicPr>
            <a:picLocks noChangeAspect="1"/>
          </p:cNvPicPr>
          <p:nvPr/>
        </p:nvPicPr>
        <p:blipFill>
          <a:blip r:embed="rId3" cstate="print"/>
          <a:stretch>
            <a:fillRect/>
          </a:stretch>
        </p:blipFill>
        <p:spPr>
          <a:xfrm>
            <a:off x="6444208" y="3861048"/>
            <a:ext cx="1908043" cy="1431032"/>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r>
              <a:rPr lang="en-AU" sz="3400" b="1" dirty="0" smtClean="0">
                <a:solidFill>
                  <a:srgbClr val="FF6600"/>
                </a:solidFill>
                <a:latin typeface="Helvetica" pitchFamily="34" charset="0"/>
              </a:rPr>
              <a:t>Ensure stock is correctly priced</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848872" cy="5733256"/>
          </a:xfrm>
        </p:spPr>
        <p:txBody>
          <a:bodyPr>
            <a:normAutofit/>
          </a:bodyPr>
          <a:lstStyle/>
          <a:p>
            <a:pPr>
              <a:spcBef>
                <a:spcPts val="600"/>
              </a:spcBef>
              <a:spcAft>
                <a:spcPts val="1200"/>
              </a:spcAft>
              <a:buNone/>
            </a:pPr>
            <a:r>
              <a:rPr lang="en-AU" sz="2200" b="1" dirty="0" smtClean="0">
                <a:latin typeface="Helvetica" pitchFamily="34" charset="0"/>
              </a:rPr>
              <a:t>The need for correct base information</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Pricing information may be provided to you by:</a:t>
            </a:r>
          </a:p>
          <a:p>
            <a:pPr>
              <a:spcBef>
                <a:spcPts val="600"/>
              </a:spcBef>
              <a:spcAft>
                <a:spcPts val="1200"/>
              </a:spcAft>
            </a:pPr>
            <a:r>
              <a:rPr lang="en-AU" sz="2200" dirty="0" smtClean="0">
                <a:latin typeface="Helvetica" pitchFamily="34" charset="0"/>
              </a:rPr>
              <a:t>Suppliers</a:t>
            </a:r>
          </a:p>
          <a:p>
            <a:pPr>
              <a:spcBef>
                <a:spcPts val="600"/>
              </a:spcBef>
              <a:spcAft>
                <a:spcPts val="1200"/>
              </a:spcAft>
            </a:pPr>
            <a:r>
              <a:rPr lang="en-AU" sz="2200" dirty="0" smtClean="0">
                <a:latin typeface="Helvetica" pitchFamily="34" charset="0"/>
              </a:rPr>
              <a:t>Head office</a:t>
            </a:r>
          </a:p>
          <a:p>
            <a:pPr>
              <a:spcBef>
                <a:spcPts val="600"/>
              </a:spcBef>
              <a:spcAft>
                <a:spcPts val="1200"/>
              </a:spcAft>
            </a:pPr>
            <a:r>
              <a:rPr lang="en-AU" sz="2200" dirty="0" smtClean="0">
                <a:latin typeface="Helvetica" pitchFamily="34" charset="0"/>
              </a:rPr>
              <a:t>Management</a:t>
            </a:r>
          </a:p>
          <a:p>
            <a:pPr>
              <a:spcBef>
                <a:spcPts val="600"/>
              </a:spcBef>
              <a:spcAft>
                <a:spcPts val="1200"/>
              </a:spcAft>
            </a:pPr>
            <a:r>
              <a:rPr lang="en-AU" sz="2200" dirty="0" smtClean="0">
                <a:latin typeface="Helvetica" pitchFamily="34" charset="0"/>
              </a:rPr>
              <a:t>Buying groups</a:t>
            </a:r>
          </a:p>
          <a:p>
            <a:pPr>
              <a:spcBef>
                <a:spcPts val="600"/>
              </a:spcBef>
              <a:spcAft>
                <a:spcPts val="1200"/>
              </a:spcAft>
            </a:pPr>
            <a:r>
              <a:rPr lang="en-AU" sz="2200" dirty="0" smtClean="0">
                <a:latin typeface="Helvetica" pitchFamily="34" charset="0"/>
              </a:rPr>
              <a:t>Personal experience</a:t>
            </a: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6" name="Picture 5" descr="MC900078804.WMF"/>
          <p:cNvPicPr/>
          <p:nvPr/>
        </p:nvPicPr>
        <p:blipFill>
          <a:blip r:embed="rId3" cstate="print"/>
          <a:stretch>
            <a:fillRect/>
          </a:stretch>
        </p:blipFill>
        <p:spPr>
          <a:xfrm>
            <a:off x="6300192" y="3284984"/>
            <a:ext cx="2015480" cy="1656581"/>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r>
              <a:rPr lang="en-AU" sz="3400" b="1" dirty="0" smtClean="0">
                <a:solidFill>
                  <a:srgbClr val="FF6600"/>
                </a:solidFill>
                <a:latin typeface="Helvetica" pitchFamily="34" charset="0"/>
              </a:rPr>
              <a:t>Retaining pricing information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24744"/>
            <a:ext cx="7848872" cy="5733256"/>
          </a:xfrm>
        </p:spPr>
        <p:txBody>
          <a:bodyPr>
            <a:normAutofit/>
          </a:bodyPr>
          <a:lstStyle/>
          <a:p>
            <a:pPr>
              <a:spcBef>
                <a:spcPts val="600"/>
              </a:spcBef>
              <a:spcAft>
                <a:spcPts val="1200"/>
              </a:spcAft>
              <a:buNone/>
            </a:pPr>
            <a:r>
              <a:rPr lang="en-AU" sz="2200" b="1" dirty="0" smtClean="0">
                <a:latin typeface="Helvetica" pitchFamily="34" charset="0"/>
              </a:rPr>
              <a:t>Conducting in-house checks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It can be a useful practice to do random checks on selling prices within the store to ensure:</a:t>
            </a:r>
          </a:p>
          <a:p>
            <a:pPr lvl="0">
              <a:spcBef>
                <a:spcPts val="600"/>
              </a:spcBef>
              <a:spcAft>
                <a:spcPts val="1200"/>
              </a:spcAft>
            </a:pPr>
            <a:r>
              <a:rPr lang="en-AU" sz="2200" dirty="0" smtClean="0">
                <a:latin typeface="Helvetica" pitchFamily="34" charset="0"/>
              </a:rPr>
              <a:t>The required price is being shown on the label for the bottle</a:t>
            </a:r>
          </a:p>
          <a:p>
            <a:pPr lvl="0">
              <a:spcBef>
                <a:spcPts val="600"/>
              </a:spcBef>
              <a:spcAft>
                <a:spcPts val="1200"/>
              </a:spcAft>
            </a:pPr>
            <a:r>
              <a:rPr lang="en-AU" sz="2200" dirty="0" smtClean="0">
                <a:latin typeface="Helvetica" pitchFamily="34" charset="0"/>
              </a:rPr>
              <a:t>The same price is listed on the shelf label</a:t>
            </a:r>
          </a:p>
          <a:p>
            <a:pPr lvl="0">
              <a:spcBef>
                <a:spcPts val="600"/>
              </a:spcBef>
              <a:spcAft>
                <a:spcPts val="1200"/>
              </a:spcAft>
            </a:pPr>
            <a:r>
              <a:rPr lang="en-AU" sz="2200" dirty="0" smtClean="0">
                <a:latin typeface="Helvetica" pitchFamily="34" charset="0"/>
              </a:rPr>
              <a:t>The identical price is being shown on any other </a:t>
            </a:r>
            <a:br>
              <a:rPr lang="en-AU" sz="2200" dirty="0" smtClean="0">
                <a:latin typeface="Helvetica" pitchFamily="34" charset="0"/>
              </a:rPr>
            </a:br>
            <a:r>
              <a:rPr lang="en-AU" sz="2200" dirty="0" smtClean="0">
                <a:latin typeface="Helvetica" pitchFamily="34" charset="0"/>
              </a:rPr>
              <a:t>in-store advertising or promotional material</a:t>
            </a:r>
          </a:p>
          <a:p>
            <a:pPr lvl="0">
              <a:spcBef>
                <a:spcPts val="600"/>
              </a:spcBef>
              <a:spcAft>
                <a:spcPts val="1200"/>
              </a:spcAft>
            </a:pPr>
            <a:r>
              <a:rPr lang="en-AU" sz="2200" dirty="0" smtClean="0">
                <a:latin typeface="Helvetica" pitchFamily="34" charset="0"/>
              </a:rPr>
              <a:t>The product registers the correct price </a:t>
            </a:r>
            <a:br>
              <a:rPr lang="en-AU" sz="2200" dirty="0" smtClean="0">
                <a:latin typeface="Helvetica" pitchFamily="34" charset="0"/>
              </a:rPr>
            </a:br>
            <a:r>
              <a:rPr lang="en-AU" sz="2200" dirty="0" smtClean="0">
                <a:latin typeface="Helvetica" pitchFamily="34" charset="0"/>
              </a:rPr>
              <a:t>when it is scanned</a:t>
            </a:r>
          </a:p>
          <a:p>
            <a:pPr lvl="0">
              <a:buNone/>
            </a:pPr>
            <a:endParaRPr lang="en-AU" sz="2400" dirty="0" smtClean="0"/>
          </a:p>
          <a:p>
            <a:pPr>
              <a:spcBef>
                <a:spcPts val="600"/>
              </a:spcBef>
              <a:spcAft>
                <a:spcPts val="1200"/>
              </a:spcAft>
            </a:pPr>
            <a:endParaRPr lang="en-AU" sz="2200" dirty="0" smtClean="0">
              <a:latin typeface="Helvetica" pitchFamily="34" charset="0"/>
            </a:endParaRPr>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7" name="Picture 6" descr="3863621697_908f2308c0_m.jpg"/>
          <p:cNvPicPr>
            <a:picLocks noChangeAspect="1"/>
          </p:cNvPicPr>
          <p:nvPr/>
        </p:nvPicPr>
        <p:blipFill>
          <a:blip r:embed="rId3" cstate="print"/>
          <a:stretch>
            <a:fillRect/>
          </a:stretch>
        </p:blipFill>
        <p:spPr>
          <a:xfrm>
            <a:off x="6588224" y="4437112"/>
            <a:ext cx="1872208" cy="1404156"/>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648072"/>
          </a:xfrm>
        </p:spPr>
        <p:txBody>
          <a:bodyPr>
            <a:normAutofit/>
          </a:bodyPr>
          <a:lstStyle/>
          <a:p>
            <a:r>
              <a:rPr lang="en-AU" sz="3400" b="1" dirty="0" smtClean="0">
                <a:solidFill>
                  <a:srgbClr val="FF6600"/>
                </a:solidFill>
                <a:latin typeface="Helvetica" pitchFamily="34" charset="0"/>
              </a:rPr>
              <a:t>Retaining pricing information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052736"/>
            <a:ext cx="7848872" cy="5805264"/>
          </a:xfrm>
        </p:spPr>
        <p:txBody>
          <a:bodyPr>
            <a:normAutofit/>
          </a:bodyPr>
          <a:lstStyle/>
          <a:p>
            <a:pPr>
              <a:spcBef>
                <a:spcPts val="600"/>
              </a:spcBef>
              <a:spcAft>
                <a:spcPts val="1200"/>
              </a:spcAft>
              <a:buNone/>
            </a:pPr>
            <a:r>
              <a:rPr lang="en-AU" sz="2200" b="1" dirty="0" smtClean="0">
                <a:latin typeface="Helvetica" pitchFamily="34" charset="0"/>
              </a:rPr>
              <a:t>Conducting in-house checks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The right price is being shown in any media advertising or flyers</a:t>
            </a:r>
          </a:p>
          <a:p>
            <a:pPr lvl="0">
              <a:spcBef>
                <a:spcPts val="600"/>
              </a:spcBef>
              <a:spcAft>
                <a:spcPts val="1200"/>
              </a:spcAft>
            </a:pPr>
            <a:r>
              <a:rPr lang="en-AU" sz="2200" dirty="0" smtClean="0">
                <a:latin typeface="Helvetica" pitchFamily="34" charset="0"/>
              </a:rPr>
              <a:t>Where you have more than one outlet, that all outlets are displaying the same price</a:t>
            </a:r>
          </a:p>
          <a:p>
            <a:pPr lvl="0">
              <a:spcBef>
                <a:spcPts val="600"/>
              </a:spcBef>
              <a:spcAft>
                <a:spcPts val="1200"/>
              </a:spcAft>
            </a:pPr>
            <a:r>
              <a:rPr lang="en-AU" sz="2200" dirty="0" smtClean="0">
                <a:latin typeface="Helvetica" pitchFamily="34" charset="0"/>
              </a:rPr>
              <a:t>The stated selling price is returning the required percentage mark up</a:t>
            </a:r>
          </a:p>
          <a:p>
            <a:pPr lvl="0">
              <a:spcBef>
                <a:spcPts val="600"/>
              </a:spcBef>
              <a:spcAft>
                <a:spcPts val="1200"/>
              </a:spcAft>
            </a:pPr>
            <a:r>
              <a:rPr lang="en-AU" sz="2200" dirty="0" smtClean="0">
                <a:latin typeface="Helvetica" pitchFamily="34" charset="0"/>
              </a:rPr>
              <a:t>The stated selling price is in-line with head </a:t>
            </a:r>
            <a:br>
              <a:rPr lang="en-AU" sz="2200" dirty="0" smtClean="0">
                <a:latin typeface="Helvetica" pitchFamily="34" charset="0"/>
              </a:rPr>
            </a:br>
            <a:r>
              <a:rPr lang="en-AU" sz="2200" dirty="0" smtClean="0">
                <a:latin typeface="Helvetica" pitchFamily="34" charset="0"/>
              </a:rPr>
              <a:t>office requirements and buying group </a:t>
            </a:r>
            <a:br>
              <a:rPr lang="en-AU" sz="2200" dirty="0" smtClean="0">
                <a:latin typeface="Helvetica" pitchFamily="34" charset="0"/>
              </a:rPr>
            </a:br>
            <a:r>
              <a:rPr lang="en-AU" sz="2200" dirty="0" smtClean="0">
                <a:latin typeface="Helvetica" pitchFamily="34" charset="0"/>
              </a:rPr>
              <a:t>requirements</a:t>
            </a:r>
          </a:p>
          <a:p>
            <a:pPr>
              <a:spcBef>
                <a:spcPts val="600"/>
              </a:spcBef>
              <a:spcAft>
                <a:spcPts val="1200"/>
              </a:spcAft>
            </a:pPr>
            <a:endParaRPr lang="en-AU" sz="2200" dirty="0" smtClean="0">
              <a:latin typeface="Helvetica" pitchFamily="34" charset="0"/>
            </a:endParaRPr>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5" name="Picture 4" descr="4137752648_8e95889b70_m.jpg"/>
          <p:cNvPicPr>
            <a:picLocks noChangeAspect="1"/>
          </p:cNvPicPr>
          <p:nvPr/>
        </p:nvPicPr>
        <p:blipFill>
          <a:blip r:embed="rId3" cstate="print"/>
          <a:stretch>
            <a:fillRect/>
          </a:stretch>
        </p:blipFill>
        <p:spPr>
          <a:xfrm>
            <a:off x="6588224" y="4077072"/>
            <a:ext cx="1800200" cy="1200133"/>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Food_&amp;_Bev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PPT_Food_&amp;_Bev_template_250612</Template>
  <TotalTime>558</TotalTime>
  <Words>6969</Words>
  <Application>Microsoft Office PowerPoint</Application>
  <PresentationFormat>On-screen Show (4:3)</PresentationFormat>
  <Paragraphs>1815</Paragraphs>
  <Slides>129</Slides>
  <Notes>129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129</vt:i4>
      </vt:variant>
    </vt:vector>
  </HeadingPairs>
  <TitlesOfParts>
    <vt:vector size="136" baseType="lpstr">
      <vt:lpstr>黑体</vt:lpstr>
      <vt:lpstr>Arial</vt:lpstr>
      <vt:lpstr>Calibri</vt:lpstr>
      <vt:lpstr>Franklin Gothic Book</vt:lpstr>
      <vt:lpstr>Helvetica</vt:lpstr>
      <vt:lpstr>Wingdings 2</vt:lpstr>
      <vt:lpstr>PPT_Food_&amp;_Bev_template_250612</vt:lpstr>
      <vt:lpstr>PROCESS LIQUOR SALES AT A BAR Facility</vt:lpstr>
      <vt:lpstr>Subject Elements</vt:lpstr>
      <vt:lpstr>Assessment</vt:lpstr>
      <vt:lpstr>PowerPoint Presentation</vt:lpstr>
      <vt:lpstr>Complete liquor sales</vt:lpstr>
      <vt:lpstr>Complete liquor sales</vt:lpstr>
      <vt:lpstr>Provide information to customers</vt:lpstr>
      <vt:lpstr>Provide information to customers</vt:lpstr>
      <vt:lpstr>Provide information to customers</vt:lpstr>
      <vt:lpstr>Provide information to customers</vt:lpstr>
      <vt:lpstr>Provide information to customers</vt:lpstr>
      <vt:lpstr>Products in a liquor outlet</vt:lpstr>
      <vt:lpstr>Beer</vt:lpstr>
      <vt:lpstr>Beer</vt:lpstr>
      <vt:lpstr>Beer</vt:lpstr>
      <vt:lpstr>Beer</vt:lpstr>
      <vt:lpstr>Beer</vt:lpstr>
      <vt:lpstr>Beer</vt:lpstr>
      <vt:lpstr>Beer Variations</vt:lpstr>
      <vt:lpstr>Wine</vt:lpstr>
      <vt:lpstr>Types of wine</vt:lpstr>
      <vt:lpstr>Types of wine</vt:lpstr>
      <vt:lpstr>Varietal wines</vt:lpstr>
      <vt:lpstr>Varietal wines</vt:lpstr>
      <vt:lpstr>Varietal wines</vt:lpstr>
      <vt:lpstr>Generic wines</vt:lpstr>
      <vt:lpstr>Generic wines</vt:lpstr>
      <vt:lpstr>Generic wines</vt:lpstr>
      <vt:lpstr>Varietal and generic wines</vt:lpstr>
      <vt:lpstr>Champagne/sparking wines</vt:lpstr>
      <vt:lpstr>Champagne and sparking wines</vt:lpstr>
      <vt:lpstr>Champagne</vt:lpstr>
      <vt:lpstr>Fortified wines</vt:lpstr>
      <vt:lpstr>Fortified wines</vt:lpstr>
      <vt:lpstr>Wine growing countries</vt:lpstr>
      <vt:lpstr>Wine growing countries</vt:lpstr>
      <vt:lpstr>Wine growing countries</vt:lpstr>
      <vt:lpstr>Spirits</vt:lpstr>
      <vt:lpstr>Spirits</vt:lpstr>
      <vt:lpstr>Spirits</vt:lpstr>
      <vt:lpstr>Spirits</vt:lpstr>
      <vt:lpstr>Spirits</vt:lpstr>
      <vt:lpstr>Spirits</vt:lpstr>
      <vt:lpstr>Spirits</vt:lpstr>
      <vt:lpstr>Spirits</vt:lpstr>
      <vt:lpstr>Spirits</vt:lpstr>
      <vt:lpstr>Spirits</vt:lpstr>
      <vt:lpstr>Spirits</vt:lpstr>
      <vt:lpstr>Spirits</vt:lpstr>
      <vt:lpstr>Spirits</vt:lpstr>
      <vt:lpstr>Liqueurs</vt:lpstr>
      <vt:lpstr>Liqueurs</vt:lpstr>
      <vt:lpstr>Liqueurs</vt:lpstr>
      <vt:lpstr>Liqueurs</vt:lpstr>
      <vt:lpstr>Liqueurs</vt:lpstr>
      <vt:lpstr>Liqueurs</vt:lpstr>
      <vt:lpstr>Non-alcoholic drinks</vt:lpstr>
      <vt:lpstr>Non-alcoholic drinks</vt:lpstr>
      <vt:lpstr>Packaged snack foods</vt:lpstr>
      <vt:lpstr>Ancillary products</vt:lpstr>
      <vt:lpstr>Ancillary products</vt:lpstr>
      <vt:lpstr>Keys to providing relevant advice</vt:lpstr>
      <vt:lpstr>Process sales promptly</vt:lpstr>
      <vt:lpstr>Opportunities for optimising sales</vt:lpstr>
      <vt:lpstr>Complete order forms, invoices and/or receipts</vt:lpstr>
      <vt:lpstr>Complete order forms, invoices and/or receipts</vt:lpstr>
      <vt:lpstr>Complete order forms, invoices and/or receipts</vt:lpstr>
      <vt:lpstr>Complete order forms, invoices and/or receipts</vt:lpstr>
      <vt:lpstr>Operate point of sale equipment</vt:lpstr>
      <vt:lpstr>Operate point of sale equipment</vt:lpstr>
      <vt:lpstr>POS materials and consumables</vt:lpstr>
      <vt:lpstr>Maintain cash float</vt:lpstr>
      <vt:lpstr>Record transactions</vt:lpstr>
      <vt:lpstr>Identify and process customer delivery requirements</vt:lpstr>
      <vt:lpstr>Identify and process customer delivery requirements</vt:lpstr>
      <vt:lpstr>Processing sales requirements</vt:lpstr>
      <vt:lpstr>Follow security procedures</vt:lpstr>
      <vt:lpstr>Follow security procedures</vt:lpstr>
      <vt:lpstr>PowerPoint Presentation</vt:lpstr>
      <vt:lpstr>Pack goods</vt:lpstr>
      <vt:lpstr>Maintain adequate supplies of wrapping materials</vt:lpstr>
      <vt:lpstr>Maintain adequate supplies of wrapping materials</vt:lpstr>
      <vt:lpstr>Pack goods in a suitably sized bag</vt:lpstr>
      <vt:lpstr>Pack goods in a suitably sized bag</vt:lpstr>
      <vt:lpstr>Pack goods in a suitably sized bag</vt:lpstr>
      <vt:lpstr>Pack goods in a suitably sized bag</vt:lpstr>
      <vt:lpstr>Follow safe work practices</vt:lpstr>
      <vt:lpstr>Follow safe work practices</vt:lpstr>
      <vt:lpstr>PowerPoint Presentation</vt:lpstr>
      <vt:lpstr>Minimise theft</vt:lpstr>
      <vt:lpstr>Apply security procedures to minimise theft</vt:lpstr>
      <vt:lpstr>Apply security procedures to minimise theft</vt:lpstr>
      <vt:lpstr>Apply security procedures to minimise theft</vt:lpstr>
      <vt:lpstr>Apply security procedures to minimise theft</vt:lpstr>
      <vt:lpstr>Apply security procedures to minimise theft</vt:lpstr>
      <vt:lpstr>Deal with suspicious behaviour</vt:lpstr>
      <vt:lpstr>Deal with suspicious behaviour</vt:lpstr>
      <vt:lpstr>Deal with suspicious parcels</vt:lpstr>
      <vt:lpstr>Keep storage areas secure</vt:lpstr>
      <vt:lpstr>PowerPoint Presentation</vt:lpstr>
      <vt:lpstr>Merchandise goods</vt:lpstr>
      <vt:lpstr>Receive, unpack and store goods</vt:lpstr>
      <vt:lpstr>Receive, unpack and store goods</vt:lpstr>
      <vt:lpstr>Receive, unpack and store goods</vt:lpstr>
      <vt:lpstr>Receive, unpack and store goods</vt:lpstr>
      <vt:lpstr>Display stock</vt:lpstr>
      <vt:lpstr>Display stock</vt:lpstr>
      <vt:lpstr>Display stock</vt:lpstr>
      <vt:lpstr>Display stock</vt:lpstr>
      <vt:lpstr>Display stock</vt:lpstr>
      <vt:lpstr>Display stock</vt:lpstr>
      <vt:lpstr>An overview on displays</vt:lpstr>
      <vt:lpstr>An overview on displays</vt:lpstr>
      <vt:lpstr>Create and dismantle special promotional displays</vt:lpstr>
      <vt:lpstr>Create and dismantle special promotional displays</vt:lpstr>
      <vt:lpstr>Keep displays clean and tidy</vt:lpstr>
      <vt:lpstr>Keep displays clean and tidy</vt:lpstr>
      <vt:lpstr>Keep displays clean and tidy</vt:lpstr>
      <vt:lpstr>Rotate stock</vt:lpstr>
      <vt:lpstr>Rotate stock</vt:lpstr>
      <vt:lpstr>Rotate stock</vt:lpstr>
      <vt:lpstr>Report defective and out of date stock promptly</vt:lpstr>
      <vt:lpstr>Prepare labels and tickets</vt:lpstr>
      <vt:lpstr>Prepare labels and tickets</vt:lpstr>
      <vt:lpstr>Prepare labels and tickets</vt:lpstr>
      <vt:lpstr>Ensure stock is correctly priced</vt:lpstr>
      <vt:lpstr>Ensure stock is correctly priced</vt:lpstr>
      <vt:lpstr>Retaining pricing information</vt:lpstr>
      <vt:lpstr>Retaining pricing information</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LIQUOR SALES AT A BAR Facility</dc:title>
  <dc:creator>Administrator</dc:creator>
  <cp:lastModifiedBy>Carla Angelica Co</cp:lastModifiedBy>
  <cp:revision>91</cp:revision>
  <dcterms:created xsi:type="dcterms:W3CDTF">2013-02-04T01:00:48Z</dcterms:created>
  <dcterms:modified xsi:type="dcterms:W3CDTF">2015-04-06T07:05:33Z</dcterms:modified>
</cp:coreProperties>
</file>